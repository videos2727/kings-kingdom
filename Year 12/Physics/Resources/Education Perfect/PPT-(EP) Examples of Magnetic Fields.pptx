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30BCB-013B-4741-8330-6D6240D24503}" type="datetimeFigureOut">
              <a:rPr lang="en-AU" smtClean="0"/>
              <a:t>18/12/2020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76BEC-EF5B-42D6-B5B1-51786E23671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3647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30BCB-013B-4741-8330-6D6240D24503}" type="datetimeFigureOut">
              <a:rPr lang="en-AU" smtClean="0"/>
              <a:t>18/12/2020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76BEC-EF5B-42D6-B5B1-51786E23671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4268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30BCB-013B-4741-8330-6D6240D24503}" type="datetimeFigureOut">
              <a:rPr lang="en-AU" smtClean="0"/>
              <a:t>18/12/2020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76BEC-EF5B-42D6-B5B1-51786E23671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2393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30BCB-013B-4741-8330-6D6240D24503}" type="datetimeFigureOut">
              <a:rPr lang="en-AU" smtClean="0"/>
              <a:t>18/12/2020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76BEC-EF5B-42D6-B5B1-51786E23671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8568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30BCB-013B-4741-8330-6D6240D24503}" type="datetimeFigureOut">
              <a:rPr lang="en-AU" smtClean="0"/>
              <a:t>18/12/2020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76BEC-EF5B-42D6-B5B1-51786E23671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2023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30BCB-013B-4741-8330-6D6240D24503}" type="datetimeFigureOut">
              <a:rPr lang="en-AU" smtClean="0"/>
              <a:t>18/12/2020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76BEC-EF5B-42D6-B5B1-51786E23671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5116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30BCB-013B-4741-8330-6D6240D24503}" type="datetimeFigureOut">
              <a:rPr lang="en-AU" smtClean="0"/>
              <a:t>18/12/2020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76BEC-EF5B-42D6-B5B1-51786E23671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4912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30BCB-013B-4741-8330-6D6240D24503}" type="datetimeFigureOut">
              <a:rPr lang="en-AU" smtClean="0"/>
              <a:t>18/12/2020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76BEC-EF5B-42D6-B5B1-51786E23671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1788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30BCB-013B-4741-8330-6D6240D24503}" type="datetimeFigureOut">
              <a:rPr lang="en-AU" smtClean="0"/>
              <a:t>18/12/2020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76BEC-EF5B-42D6-B5B1-51786E23671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015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30BCB-013B-4741-8330-6D6240D24503}" type="datetimeFigureOut">
              <a:rPr lang="en-AU" smtClean="0"/>
              <a:t>18/12/2020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76BEC-EF5B-42D6-B5B1-51786E23671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20489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30BCB-013B-4741-8330-6D6240D24503}" type="datetimeFigureOut">
              <a:rPr lang="en-AU" smtClean="0"/>
              <a:t>18/12/2020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76BEC-EF5B-42D6-B5B1-51786E23671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55834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530BCB-013B-4741-8330-6D6240D24503}" type="datetimeFigureOut">
              <a:rPr lang="en-AU" smtClean="0"/>
              <a:t>18/12/2020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776BEC-EF5B-42D6-B5B1-51786E23671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5168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Examples of Magnetic Fields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8759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5300" y="360740"/>
            <a:ext cx="108331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By now you should be familiar with </a:t>
            </a:r>
            <a:r>
              <a:rPr lang="en-AU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magnetic fields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bar magnets.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particular, you should be able to draw the magnetic fields of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bar magnets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explain how these fields </a:t>
            </a:r>
            <a:r>
              <a:rPr lang="en-AU" b="1" i="0" dirty="0" smtClean="0">
                <a:solidFill>
                  <a:srgbClr val="732DA4"/>
                </a:solidFill>
                <a:effectLst/>
                <a:latin typeface="Arial" panose="020B0604020202020204" pitchFamily="34" charset="0"/>
              </a:rPr>
              <a:t>interact.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Now it's time to learn about some other </a:t>
            </a:r>
            <a:r>
              <a:rPr lang="en-AU" b="1" i="0" dirty="0" smtClean="0">
                <a:solidFill>
                  <a:srgbClr val="0BAD7C"/>
                </a:solidFill>
                <a:effectLst/>
                <a:latin typeface="Arial" panose="020B0604020202020204" pitchFamily="34" charset="0"/>
              </a:rPr>
              <a:t>examples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magnetic fields.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particular, we will look at the magnetic fields of </a:t>
            </a:r>
            <a:r>
              <a:rPr lang="en-AU" b="1" i="0" dirty="0" smtClean="0">
                <a:solidFill>
                  <a:srgbClr val="0BAD7C"/>
                </a:solidFill>
                <a:effectLst/>
                <a:latin typeface="Arial" panose="020B0604020202020204" pitchFamily="34" charset="0"/>
              </a:rPr>
              <a:t>current-carrying wires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0BAD7C"/>
                </a:solidFill>
                <a:effectLst/>
                <a:latin typeface="Arial" panose="020B0604020202020204" pitchFamily="34" charset="0"/>
              </a:rPr>
              <a:t>solenoids.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1523336476.7093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483100" y="2984500"/>
            <a:ext cx="3429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73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3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49300" y="574239"/>
            <a:ext cx="104775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By the end of this Smart Lesson, you should be able to: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00AE6A"/>
                </a:solidFill>
                <a:effectLst/>
                <a:latin typeface="Arial" panose="020B0604020202020204" pitchFamily="34" charset="0"/>
              </a:rPr>
              <a:t>Understand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current-carrying wires generate </a:t>
            </a:r>
            <a:r>
              <a:rPr lang="en-AU" b="1" i="0" dirty="0" smtClean="0">
                <a:solidFill>
                  <a:srgbClr val="900C3F"/>
                </a:solidFill>
                <a:effectLst/>
                <a:latin typeface="Arial" panose="020B0604020202020204" pitchFamily="34" charset="0"/>
              </a:rPr>
              <a:t>magnetic fields.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00AE6A"/>
                </a:solidFill>
                <a:effectLst/>
                <a:latin typeface="Arial" panose="020B0604020202020204" pitchFamily="34" charset="0"/>
              </a:rPr>
              <a:t>Describe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shape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magnetic field of a </a:t>
            </a:r>
            <a:r>
              <a:rPr lang="en-AU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current-carrying wire.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Apply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b="1" i="0" dirty="0" smtClean="0">
                <a:solidFill>
                  <a:srgbClr val="CEA07E"/>
                </a:solidFill>
                <a:effectLst/>
                <a:latin typeface="Arial" panose="020B0604020202020204" pitchFamily="34" charset="0"/>
              </a:rPr>
              <a:t>right-hand rule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find the direction of </a:t>
            </a:r>
            <a:r>
              <a:rPr lang="en-AU" b="1" i="0" dirty="0" smtClean="0">
                <a:solidFill>
                  <a:srgbClr val="900C3F"/>
                </a:solidFill>
                <a:effectLst/>
                <a:latin typeface="Arial" panose="020B0604020202020204" pitchFamily="34" charset="0"/>
              </a:rPr>
              <a:t>magnetic fields.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523493308.750291f/1523493304790-124343311536738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6412" y="2946400"/>
            <a:ext cx="3343275" cy="3343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2340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5600" y="636538"/>
            <a:ext cx="109728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Remember, a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magnetic field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 region where a </a:t>
            </a:r>
            <a:r>
              <a:rPr lang="en-AU" b="1" i="0" dirty="0" smtClean="0">
                <a:solidFill>
                  <a:srgbClr val="0BAD7C"/>
                </a:solidFill>
                <a:effectLst/>
                <a:latin typeface="Arial" panose="020B0604020202020204" pitchFamily="34" charset="0"/>
              </a:rPr>
              <a:t>magnetic force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can be felt.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use </a:t>
            </a:r>
            <a:r>
              <a:rPr lang="en-AU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magnetic flux lines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represent these fields.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Magnetic fields are generally produced by </a:t>
            </a:r>
            <a:r>
              <a:rPr lang="en-AU" b="1" i="0" dirty="0" smtClean="0">
                <a:solidFill>
                  <a:srgbClr val="21A0B1"/>
                </a:solidFill>
                <a:effectLst/>
                <a:latin typeface="Arial" panose="020B0604020202020204" pitchFamily="34" charset="0"/>
              </a:rPr>
              <a:t>permanent magnets.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However, they can also be produced by </a:t>
            </a:r>
            <a:r>
              <a:rPr lang="en-AU" b="1" i="0" dirty="0" smtClean="0">
                <a:solidFill>
                  <a:srgbClr val="21A0B1"/>
                </a:solidFill>
                <a:effectLst/>
                <a:latin typeface="Arial" panose="020B0604020202020204" pitchFamily="34" charset="0"/>
              </a:rPr>
              <a:t>moving charged particles.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Science/1484791755.410171g/1484791769138-3521761041610291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0775" y="2286000"/>
            <a:ext cx="7620000" cy="468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1278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5300" y="487740"/>
            <a:ext cx="111887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You may already know that charged particles produce </a:t>
            </a:r>
            <a:r>
              <a:rPr lang="en-AU" b="1" i="0" dirty="0" smtClean="0">
                <a:solidFill>
                  <a:srgbClr val="1D93D4"/>
                </a:solidFill>
                <a:effectLst/>
                <a:latin typeface="Arial" panose="020B0604020202020204" pitchFamily="34" charset="0"/>
              </a:rPr>
              <a:t>electric fields.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these particles </a:t>
            </a:r>
            <a:r>
              <a:rPr lang="en-AU" b="1" i="0" u="sng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move,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they also produce a </a:t>
            </a:r>
            <a:r>
              <a:rPr lang="en-AU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magnetic field.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You don't need to worry about </a:t>
            </a:r>
            <a:r>
              <a:rPr lang="en-AU" b="1" i="1" dirty="0" smtClean="0">
                <a:solidFill>
                  <a:srgbClr val="0BAD7C"/>
                </a:solidFill>
                <a:effectLst/>
                <a:latin typeface="Arial" panose="020B0604020202020204" pitchFamily="34" charset="0"/>
              </a:rPr>
              <a:t>why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happens. For now, just </a:t>
            </a:r>
            <a:r>
              <a:rPr lang="en-AU" b="1" i="0" dirty="0" smtClean="0">
                <a:solidFill>
                  <a:srgbClr val="0BAD7C"/>
                </a:solidFill>
                <a:effectLst/>
                <a:latin typeface="Arial" panose="020B0604020202020204" pitchFamily="34" charset="0"/>
              </a:rPr>
              <a:t>remember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rule below: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"Moving </a:t>
            </a:r>
            <a:r>
              <a:rPr lang="en-AU" b="1" i="0" dirty="0" smtClean="0">
                <a:solidFill>
                  <a:srgbClr val="732DA4"/>
                </a:solidFill>
                <a:effectLst/>
                <a:latin typeface="Arial" panose="020B0604020202020204" pitchFamily="34" charset="0"/>
              </a:rPr>
              <a:t>charged particles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produce </a:t>
            </a:r>
            <a:r>
              <a:rPr lang="en-AU" b="1" i="0" dirty="0" smtClean="0">
                <a:solidFill>
                  <a:srgbClr val="732DA4"/>
                </a:solidFill>
                <a:effectLst/>
                <a:latin typeface="Arial" panose="020B0604020202020204" pitchFamily="34" charset="0"/>
              </a:rPr>
              <a:t>magnetic fields."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10262208.08761 (1)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279775" y="3041650"/>
            <a:ext cx="5619750" cy="316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449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9900" y="582136"/>
            <a:ext cx="10998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 </a:t>
            </a:r>
            <a:r>
              <a:rPr lang="en-AU" b="1" i="0" dirty="0" smtClean="0">
                <a:solidFill>
                  <a:srgbClr val="4E4888"/>
                </a:solidFill>
                <a:effectLst/>
                <a:latin typeface="Arial" panose="020B0604020202020204" pitchFamily="34" charset="0"/>
              </a:rPr>
              <a:t>electric current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made up of many charged particles moving down a </a:t>
            </a:r>
            <a:r>
              <a:rPr lang="en-AU" b="1" i="0" dirty="0" smtClean="0">
                <a:solidFill>
                  <a:srgbClr val="4E4888"/>
                </a:solidFill>
                <a:effectLst/>
                <a:latin typeface="Arial" panose="020B0604020202020204" pitchFamily="34" charset="0"/>
              </a:rPr>
              <a:t>wire.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means that a </a:t>
            </a:r>
            <a:r>
              <a:rPr lang="en-AU" b="1" i="0" dirty="0" smtClean="0">
                <a:solidFill>
                  <a:srgbClr val="900C3F"/>
                </a:solidFill>
                <a:effectLst/>
                <a:latin typeface="Arial" panose="020B0604020202020204" pitchFamily="34" charset="0"/>
              </a:rPr>
              <a:t>magnetic field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will also form around a </a:t>
            </a:r>
            <a:r>
              <a:rPr lang="en-AU" b="1" i="0" dirty="0" smtClean="0">
                <a:solidFill>
                  <a:srgbClr val="900C3F"/>
                </a:solidFill>
                <a:effectLst/>
                <a:latin typeface="Arial" panose="020B0604020202020204" pitchFamily="34" charset="0"/>
              </a:rPr>
              <a:t>current carrying wire.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Science/1473899821.251981f/1473899822053-3357381162713328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00" y="21971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0780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1800" y="576640"/>
            <a:ext cx="111887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 current carrying wire produces a </a:t>
            </a:r>
            <a:r>
              <a:rPr lang="en-AU" b="1" i="0" dirty="0" smtClean="0">
                <a:solidFill>
                  <a:srgbClr val="900C3F"/>
                </a:solidFill>
                <a:effectLst/>
                <a:latin typeface="Arial" panose="020B0604020202020204" pitchFamily="34" charset="0"/>
              </a:rPr>
              <a:t>circular magnetic field.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magnetic flux lines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form a series of </a:t>
            </a:r>
            <a:r>
              <a:rPr lang="en-AU" b="1" i="0" dirty="0" smtClean="0">
                <a:solidFill>
                  <a:srgbClr val="900C3F"/>
                </a:solidFill>
                <a:effectLst/>
                <a:latin typeface="Arial" panose="020B0604020202020204" pitchFamily="34" charset="0"/>
              </a:rPr>
              <a:t>circles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 the wire at the </a:t>
            </a:r>
            <a:r>
              <a:rPr lang="en-AU" b="0" i="0" dirty="0" err="1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center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can use the </a:t>
            </a:r>
            <a:r>
              <a:rPr lang="en-AU" b="1" i="0" dirty="0" smtClean="0">
                <a:solidFill>
                  <a:srgbClr val="CEA073"/>
                </a:solidFill>
                <a:effectLst/>
                <a:latin typeface="Arial" panose="020B0604020202020204" pitchFamily="34" charset="0"/>
              </a:rPr>
              <a:t>right-hand rule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work out the </a:t>
            </a:r>
            <a:r>
              <a:rPr lang="en-AU" b="1" i="0" dirty="0" smtClean="0">
                <a:solidFill>
                  <a:srgbClr val="CEA07E"/>
                </a:solidFill>
                <a:effectLst/>
                <a:latin typeface="Arial" panose="020B0604020202020204" pitchFamily="34" charset="0"/>
              </a:rPr>
              <a:t>direction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magnetic field. To do this, you hold your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right hand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next to the wire and point your </a:t>
            </a:r>
            <a:r>
              <a:rPr lang="en-AU" b="1" i="0" dirty="0" smtClean="0">
                <a:solidFill>
                  <a:srgbClr val="73A1CE"/>
                </a:solidFill>
                <a:effectLst/>
                <a:latin typeface="Arial" panose="020B0604020202020204" pitchFamily="34" charset="0"/>
              </a:rPr>
              <a:t>thumb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direction of the </a:t>
            </a:r>
            <a:r>
              <a:rPr lang="en-AU" b="1" i="0" dirty="0" smtClean="0">
                <a:solidFill>
                  <a:srgbClr val="73A1CE"/>
                </a:solidFill>
                <a:effectLst/>
                <a:latin typeface="Arial" panose="020B0604020202020204" pitchFamily="34" charset="0"/>
              </a:rPr>
              <a:t>current.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Your </a:t>
            </a:r>
            <a:r>
              <a:rPr lang="en-AU" b="1" i="0" dirty="0" smtClean="0">
                <a:solidFill>
                  <a:srgbClr val="CE73CE"/>
                </a:solidFill>
                <a:effectLst/>
                <a:latin typeface="Arial" panose="020B0604020202020204" pitchFamily="34" charset="0"/>
              </a:rPr>
              <a:t>fingers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then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curl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direction of the </a:t>
            </a:r>
            <a:r>
              <a:rPr lang="en-AU" b="1" i="0" dirty="0" smtClean="0">
                <a:solidFill>
                  <a:srgbClr val="900C3F"/>
                </a:solidFill>
                <a:effectLst/>
                <a:latin typeface="Arial" panose="020B0604020202020204" pitchFamily="34" charset="0"/>
              </a:rPr>
              <a:t>magnetic field.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media/content/Science/1471576471.293111g/1471576482808-3901157418955016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6750" y="2789237"/>
            <a:ext cx="5638800" cy="3800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0413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" y="544036"/>
            <a:ext cx="109474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next magnetic field that we will look at is the one produced by a </a:t>
            </a:r>
            <a:r>
              <a:rPr lang="en-AU" b="1" i="0" dirty="0" smtClean="0">
                <a:solidFill>
                  <a:srgbClr val="E84C3D"/>
                </a:solidFill>
                <a:effectLst/>
                <a:latin typeface="Arial" panose="020B0604020202020204" pitchFamily="34" charset="0"/>
              </a:rPr>
              <a:t>solenoid.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solenoid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produced when a </a:t>
            </a:r>
            <a:r>
              <a:rPr lang="en-AU" b="1" i="0" dirty="0" smtClean="0">
                <a:solidFill>
                  <a:srgbClr val="1D93D4"/>
                </a:solidFill>
                <a:effectLst/>
                <a:latin typeface="Arial" panose="020B0604020202020204" pitchFamily="34" charset="0"/>
              </a:rPr>
              <a:t>current-carrying wire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twisted into a </a:t>
            </a:r>
            <a:r>
              <a:rPr lang="en-AU" b="1" i="0" dirty="0" smtClean="0">
                <a:solidFill>
                  <a:srgbClr val="1D93D4"/>
                </a:solidFill>
                <a:effectLst/>
                <a:latin typeface="Arial" panose="020B0604020202020204" pitchFamily="34" charset="0"/>
              </a:rPr>
              <a:t>coil.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https://www.educationperfect.com/media/content/Science/1418675558.356541g/1418675546380-1943003380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9175" y="2720975"/>
            <a:ext cx="4762500" cy="3152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82766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6400" y="325041"/>
            <a:ext cx="111252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 understand the magnetic field of a </a:t>
            </a:r>
            <a:r>
              <a:rPr lang="en-AU" b="1" i="0" dirty="0" smtClean="0">
                <a:solidFill>
                  <a:srgbClr val="E84C3D"/>
                </a:solidFill>
                <a:effectLst/>
                <a:latin typeface="Arial" panose="020B0604020202020204" pitchFamily="34" charset="0"/>
              </a:rPr>
              <a:t>solenoid,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need to look at the magnetic field of a single </a:t>
            </a:r>
            <a:r>
              <a:rPr lang="en-AU" b="1" i="0" dirty="0" smtClean="0">
                <a:solidFill>
                  <a:srgbClr val="E84C3D"/>
                </a:solidFill>
                <a:effectLst/>
                <a:latin typeface="Arial" panose="020B0604020202020204" pitchFamily="34" charset="0"/>
              </a:rPr>
              <a:t>loop of wire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first.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Look at the diagram below, which shows a loop of wire with a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counter clockwise current.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No matter which point you choose on the wire, when you use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right-hand rule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you will find that 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magnetic field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comes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out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screen in the middle of the loop and goes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into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screen on 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outside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loop.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creates a strong magnetic force going </a:t>
            </a:r>
            <a:r>
              <a:rPr lang="en-AU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straight through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loop of wire.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6" name="Picture 2" descr="https://www.educationperfect.com/media/content/Science/1440985534.096051g/1440985527272-938251853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8762" y="3894137"/>
            <a:ext cx="3800475" cy="2447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09381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0200" y="824637"/>
            <a:ext cx="10769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can think of a solenoid as many </a:t>
            </a:r>
            <a:r>
              <a:rPr lang="en-AU" b="1" i="0" dirty="0" smtClean="0">
                <a:solidFill>
                  <a:srgbClr val="E84C3D"/>
                </a:solidFill>
                <a:effectLst/>
                <a:latin typeface="Arial" panose="020B0604020202020204" pitchFamily="34" charset="0"/>
              </a:rPr>
              <a:t>loops of wire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are </a:t>
            </a:r>
            <a:r>
              <a:rPr lang="en-AU" b="1" i="0" dirty="0" smtClean="0">
                <a:solidFill>
                  <a:srgbClr val="E84C3D"/>
                </a:solidFill>
                <a:effectLst/>
                <a:latin typeface="Arial" panose="020B0604020202020204" pitchFamily="34" charset="0"/>
              </a:rPr>
              <a:t>tightly packed together.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1D93D4"/>
                </a:solidFill>
                <a:effectLst/>
                <a:latin typeface="Arial" panose="020B0604020202020204" pitchFamily="34" charset="0"/>
              </a:rPr>
              <a:t>principle of superposition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means that 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magnetic fields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each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loop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wire will </a:t>
            </a:r>
            <a:r>
              <a:rPr lang="en-AU" b="1" i="0" dirty="0" smtClean="0">
                <a:solidFill>
                  <a:srgbClr val="1D93D4"/>
                </a:solidFill>
                <a:effectLst/>
                <a:latin typeface="Arial" panose="020B0604020202020204" pitchFamily="34" charset="0"/>
              </a:rPr>
              <a:t>interact.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0699.2000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048000" y="2159000"/>
            <a:ext cx="6096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889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0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4700" y="617835"/>
            <a:ext cx="10845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we have a </a:t>
            </a:r>
            <a:r>
              <a:rPr lang="en-AU" b="1" i="0" dirty="0" smtClean="0">
                <a:solidFill>
                  <a:srgbClr val="E84C3D"/>
                </a:solidFill>
                <a:effectLst/>
                <a:latin typeface="Arial" panose="020B0604020202020204" pitchFamily="34" charset="0"/>
              </a:rPr>
              <a:t>long solenoid,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there is a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uniform magnetic field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inside the solenoid and a </a:t>
            </a:r>
            <a:r>
              <a:rPr lang="en-AU" b="1" i="0" dirty="0" smtClean="0">
                <a:solidFill>
                  <a:srgbClr val="2FCC71"/>
                </a:solidFill>
                <a:effectLst/>
                <a:latin typeface="Arial" panose="020B0604020202020204" pitchFamily="34" charset="0"/>
              </a:rPr>
              <a:t>very weak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magnetic field outside the solenoid.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16000" y="2249438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magnetic field inside the solenoid travels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parallel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axis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solenoid, and is 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same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at all points within the solenoid.</a:t>
            </a: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/>
            </a:r>
            <a:br>
              <a:rPr lang="en-AU" dirty="0" smtClean="0"/>
            </a:b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happens because the magnetic field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inside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each loop of wire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add together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while the magnetic fields on the </a:t>
            </a:r>
            <a:r>
              <a:rPr lang="en-AU" b="1" i="0" dirty="0" smtClean="0">
                <a:solidFill>
                  <a:srgbClr val="2FCC71"/>
                </a:solidFill>
                <a:effectLst/>
                <a:latin typeface="Arial" panose="020B0604020202020204" pitchFamily="34" charset="0"/>
              </a:rPr>
              <a:t>outside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mostly cancel each other out.</a:t>
            </a:r>
            <a:endParaRPr lang="en-AU" dirty="0"/>
          </a:p>
        </p:txBody>
      </p:sp>
      <p:pic>
        <p:nvPicPr>
          <p:cNvPr id="7170" name="Picture 2" descr="Solenoid with magnetic field labelled B, North and South poles labelled N and S respectively and the direction of the current labelled - and +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7175" y="1976437"/>
            <a:ext cx="3190875" cy="4600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08738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9400" y="367437"/>
            <a:ext cx="108839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magnetic field strength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 solenoid depends on three things: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number of </a:t>
            </a:r>
            <a:r>
              <a:rPr lang="en-AU" b="1" i="0" dirty="0" smtClean="0">
                <a:solidFill>
                  <a:srgbClr val="9F1B89"/>
                </a:solidFill>
                <a:effectLst/>
                <a:latin typeface="Arial" panose="020B0604020202020204" pitchFamily="34" charset="0"/>
              </a:rPr>
              <a:t>loops.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9F731B"/>
                </a:solidFill>
                <a:effectLst/>
                <a:latin typeface="Arial" panose="020B0604020202020204" pitchFamily="34" charset="0"/>
              </a:rPr>
              <a:t>length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solenoid.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1B9F31"/>
                </a:solidFill>
                <a:effectLst/>
                <a:latin typeface="Arial" panose="020B0604020202020204" pitchFamily="34" charset="0"/>
              </a:rPr>
              <a:t>material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inside the solenoid.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4" name="Picture 2" descr="https://www.educationperfect.com/media/content/Science/1440984645.142051g/1440984641536-938251853-2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6300" y="2736375"/>
            <a:ext cx="2740025" cy="372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83638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5600" y="467142"/>
            <a:ext cx="112395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use this </a:t>
            </a:r>
            <a:r>
              <a:rPr lang="en-AU" b="1" i="0" dirty="0" smtClean="0">
                <a:solidFill>
                  <a:srgbClr val="E84C3D"/>
                </a:solidFill>
                <a:effectLst/>
                <a:latin typeface="Arial" panose="020B0604020202020204" pitchFamily="34" charset="0"/>
              </a:rPr>
              <a:t>formula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find the magnetic field strength inside the </a:t>
            </a:r>
            <a:r>
              <a:rPr lang="en-AU" b="1" i="0" dirty="0" smtClean="0">
                <a:solidFill>
                  <a:srgbClr val="E84C3D"/>
                </a:solidFill>
                <a:effectLst/>
                <a:latin typeface="Arial" panose="020B0604020202020204" pitchFamily="34" charset="0"/>
              </a:rPr>
              <a:t>solenoid: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B=</a:t>
            </a:r>
            <a:r>
              <a:rPr lang="en-AU" b="0" i="1" dirty="0" err="1" smtClean="0">
                <a:solidFill>
                  <a:srgbClr val="444444"/>
                </a:solidFill>
                <a:effectLst/>
                <a:latin typeface="KaTeX_Math"/>
              </a:rPr>
              <a:t>μ</a:t>
            </a:r>
            <a:r>
              <a:rPr lang="en-AU" b="0" i="0" dirty="0" err="1" smtClean="0">
                <a:solidFill>
                  <a:srgbClr val="444444"/>
                </a:solidFill>
                <a:effectLst/>
                <a:latin typeface="KaTeX_Main"/>
              </a:rPr>
              <a:t>nI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formula,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 number of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turns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per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unit length.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is found by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dividing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total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number of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turns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solenoid by 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length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solenoid.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I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 </a:t>
            </a:r>
            <a:r>
              <a:rPr lang="en-AU" b="1" i="0" dirty="0" smtClean="0">
                <a:solidFill>
                  <a:srgbClr val="2FCC71"/>
                </a:solidFill>
                <a:effectLst/>
                <a:latin typeface="Arial" panose="020B0604020202020204" pitchFamily="34" charset="0"/>
              </a:rPr>
              <a:t>current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flowing through the solenoid and </a:t>
            </a:r>
            <a:r>
              <a:rPr lang="en-AU" b="0" i="1" dirty="0" smtClean="0">
                <a:solidFill>
                  <a:srgbClr val="444444"/>
                </a:solidFill>
                <a:effectLst/>
                <a:latin typeface="KaTeX_Math"/>
              </a:rPr>
              <a:t>μ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 </a:t>
            </a:r>
            <a:r>
              <a:rPr lang="en-AU" b="1" i="0" dirty="0" smtClean="0">
                <a:solidFill>
                  <a:srgbClr val="4C3DE8"/>
                </a:solidFill>
                <a:effectLst/>
                <a:latin typeface="Arial" panose="020B0604020202020204" pitchFamily="34" charset="0"/>
              </a:rPr>
              <a:t>magnetic permeability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material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inside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solenoid.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1" i="1" dirty="0" smtClean="0">
                <a:solidFill>
                  <a:srgbClr val="4C3DE8"/>
                </a:solidFill>
                <a:effectLst/>
                <a:latin typeface="Arial" panose="020B0604020202020204" pitchFamily="34" charset="0"/>
              </a:rPr>
              <a:t>Magnetic permeability</a:t>
            </a:r>
            <a:r>
              <a:rPr lang="en-AU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 measure of how </a:t>
            </a:r>
            <a:r>
              <a:rPr lang="en-AU" b="1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easily</a:t>
            </a:r>
            <a:r>
              <a:rPr lang="en-AU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magnetic fields can </a:t>
            </a:r>
            <a:r>
              <a:rPr lang="en-AU" b="1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form</a:t>
            </a:r>
            <a:r>
              <a:rPr lang="en-AU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inside </a:t>
            </a:r>
            <a:r>
              <a:rPr lang="en-AU" b="1" i="1" dirty="0" smtClean="0">
                <a:solidFill>
                  <a:srgbClr val="4C3DE8"/>
                </a:solidFill>
                <a:effectLst/>
                <a:latin typeface="Arial" panose="020B0604020202020204" pitchFamily="34" charset="0"/>
              </a:rPr>
              <a:t>materials.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23336409.17639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587750" y="3606463"/>
            <a:ext cx="5981700" cy="328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82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69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4700" y="375841"/>
            <a:ext cx="106426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means that there are </a:t>
            </a:r>
            <a:r>
              <a:rPr lang="en-AU" b="1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three ways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increase the </a:t>
            </a:r>
            <a:r>
              <a:rPr lang="en-AU" b="1" i="0" dirty="0" smtClean="0">
                <a:solidFill>
                  <a:srgbClr val="E84C3D"/>
                </a:solidFill>
                <a:effectLst/>
                <a:latin typeface="Arial" panose="020B0604020202020204" pitchFamily="34" charset="0"/>
              </a:rPr>
              <a:t>magnetic field strength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 solenoid.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first way is to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increase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number of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turns per unit length.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Another way is to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increase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b="1" i="0" dirty="0" smtClean="0">
                <a:solidFill>
                  <a:srgbClr val="2FCC71"/>
                </a:solidFill>
                <a:effectLst/>
                <a:latin typeface="Arial" panose="020B0604020202020204" pitchFamily="34" charset="0"/>
              </a:rPr>
              <a:t>current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flowing through the solenoid.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Finally, you can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increase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b="1" i="0" dirty="0" smtClean="0">
                <a:solidFill>
                  <a:srgbClr val="4C3DE8"/>
                </a:solidFill>
                <a:effectLst/>
                <a:latin typeface="Arial" panose="020B0604020202020204" pitchFamily="34" charset="0"/>
              </a:rPr>
              <a:t>magnetic permeability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material inside the solenoid. For example, </a:t>
            </a:r>
            <a:r>
              <a:rPr lang="en-AU" b="1" i="0" dirty="0" smtClean="0">
                <a:solidFill>
                  <a:srgbClr val="999999"/>
                </a:solidFill>
                <a:effectLst/>
                <a:latin typeface="Arial" panose="020B0604020202020204" pitchFamily="34" charset="0"/>
              </a:rPr>
              <a:t>iron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has a much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higher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magnetic permeability than </a:t>
            </a:r>
            <a:r>
              <a:rPr lang="en-AU" b="1" i="0" dirty="0" smtClean="0">
                <a:solidFill>
                  <a:srgbClr val="7FA7E3"/>
                </a:solidFill>
                <a:effectLst/>
                <a:latin typeface="Arial" panose="020B0604020202020204" pitchFamily="34" charset="0"/>
              </a:rPr>
              <a:t>air,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 most solenoids have an </a:t>
            </a:r>
            <a:r>
              <a:rPr lang="en-AU" b="1" i="0" dirty="0" smtClean="0">
                <a:solidFill>
                  <a:srgbClr val="999999"/>
                </a:solidFill>
                <a:effectLst/>
                <a:latin typeface="Arial" panose="020B0604020202020204" pitchFamily="34" charset="0"/>
              </a:rPr>
              <a:t>iron core.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18" name="Picture 2" descr="https://www.educationperfect.com/media/content/Science/1418675558.356541g/1418675546380-1943003380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5762" y="3813175"/>
            <a:ext cx="3800475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3131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93</Words>
  <Application>Microsoft Office PowerPoint</Application>
  <PresentationFormat>Widescreen</PresentationFormat>
  <Paragraphs>67</Paragraphs>
  <Slides>14</Slides>
  <Notes>0</Notes>
  <HiddenSlides>0</HiddenSlides>
  <MMClips>4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KaTeX_Main</vt:lpstr>
      <vt:lpstr>KaTeX_Math</vt:lpstr>
      <vt:lpstr>Office Theme</vt:lpstr>
      <vt:lpstr>Examples of Magnetic Fields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Examples of Magnetic Fields</dc:title>
  <dc:creator>Joseph D'cruz</dc:creator>
  <cp:lastModifiedBy>Joseph D'cruz</cp:lastModifiedBy>
  <cp:revision>1</cp:revision>
  <dcterms:created xsi:type="dcterms:W3CDTF">2020-12-18T00:47:27Z</dcterms:created>
  <dcterms:modified xsi:type="dcterms:W3CDTF">2020-12-18T00:53:30Z</dcterms:modified>
</cp:coreProperties>
</file>
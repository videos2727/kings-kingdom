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4" r:id="rId5"/>
    <p:sldId id="275" r:id="rId6"/>
    <p:sldId id="276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2904D-CE5C-4725-915D-EA2DC3752AF6}" type="datetimeFigureOut">
              <a:rPr lang="en-AU" smtClean="0"/>
              <a:t>30/09/2020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DD3F4-C309-4DC2-8960-B958B72D3A6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307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2904D-CE5C-4725-915D-EA2DC3752AF6}" type="datetimeFigureOut">
              <a:rPr lang="en-AU" smtClean="0"/>
              <a:t>30/09/2020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DD3F4-C309-4DC2-8960-B958B72D3A6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2740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2904D-CE5C-4725-915D-EA2DC3752AF6}" type="datetimeFigureOut">
              <a:rPr lang="en-AU" smtClean="0"/>
              <a:t>30/09/2020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DD3F4-C309-4DC2-8960-B958B72D3A6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1877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2904D-CE5C-4725-915D-EA2DC3752AF6}" type="datetimeFigureOut">
              <a:rPr lang="en-AU" smtClean="0"/>
              <a:t>30/09/2020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DD3F4-C309-4DC2-8960-B958B72D3A6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5795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2904D-CE5C-4725-915D-EA2DC3752AF6}" type="datetimeFigureOut">
              <a:rPr lang="en-AU" smtClean="0"/>
              <a:t>30/09/2020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DD3F4-C309-4DC2-8960-B958B72D3A6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7202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2904D-CE5C-4725-915D-EA2DC3752AF6}" type="datetimeFigureOut">
              <a:rPr lang="en-AU" smtClean="0"/>
              <a:t>30/09/2020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DD3F4-C309-4DC2-8960-B958B72D3A6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9673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2904D-CE5C-4725-915D-EA2DC3752AF6}" type="datetimeFigureOut">
              <a:rPr lang="en-AU" smtClean="0"/>
              <a:t>30/09/2020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DD3F4-C309-4DC2-8960-B958B72D3A6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80846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2904D-CE5C-4725-915D-EA2DC3752AF6}" type="datetimeFigureOut">
              <a:rPr lang="en-AU" smtClean="0"/>
              <a:t>30/09/2020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DD3F4-C309-4DC2-8960-B958B72D3A6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20636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2904D-CE5C-4725-915D-EA2DC3752AF6}" type="datetimeFigureOut">
              <a:rPr lang="en-AU" smtClean="0"/>
              <a:t>30/09/2020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DD3F4-C309-4DC2-8960-B958B72D3A6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9170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2904D-CE5C-4725-915D-EA2DC3752AF6}" type="datetimeFigureOut">
              <a:rPr lang="en-AU" smtClean="0"/>
              <a:t>30/09/2020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DD3F4-C309-4DC2-8960-B958B72D3A6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9858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2904D-CE5C-4725-915D-EA2DC3752AF6}" type="datetimeFigureOut">
              <a:rPr lang="en-AU" smtClean="0"/>
              <a:t>30/09/2020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DD3F4-C309-4DC2-8960-B958B72D3A6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85662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E2904D-CE5C-4725-915D-EA2DC3752AF6}" type="datetimeFigureOut">
              <a:rPr lang="en-AU" smtClean="0"/>
              <a:t>30/09/2020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8DD3F4-C309-4DC2-8960-B958B72D3A6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90921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6.mp4"/><Relationship Id="rId1" Type="http://schemas.microsoft.com/office/2007/relationships/media" Target="../media/media6.mp4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Projectile Motion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8474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52500" y="1407636"/>
            <a:ext cx="102743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After completing this Smart Lesson you will be able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Describe the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vertical motion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projectiles.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Perform calculations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vertical projectile motion.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Describe 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horizontal motion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projectiles.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Perform calculations of horizontal motion of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projectiles.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16206.9271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409950" y="3302000"/>
            <a:ext cx="4489450" cy="3367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659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33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8300" y="627440"/>
            <a:ext cx="113157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lesson we will be learning about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projectile motion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 context of a trebuchet.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trebuchet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 weapon of war that uses a </a:t>
            </a:r>
            <a:r>
              <a:rPr lang="en-AU" b="1" i="0" dirty="0" smtClean="0">
                <a:solidFill>
                  <a:srgbClr val="5F9FB9"/>
                </a:solidFill>
                <a:effectLst/>
                <a:latin typeface="Arial" panose="020B0604020202020204" pitchFamily="34" charset="0"/>
              </a:rPr>
              <a:t>swinging arm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throw a projectile. The </a:t>
            </a:r>
            <a:r>
              <a:rPr lang="en-AU" b="0" i="0" dirty="0" err="1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Warwolf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 is believed to be 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largest trebuchet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ever built. It was used to destroy the curtain wall of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Stirling Castle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during the Scottish Wars of Independence.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err="1" smtClean="0">
                <a:solidFill>
                  <a:srgbClr val="5F9FB9"/>
                </a:solidFill>
                <a:effectLst/>
                <a:latin typeface="Arial" panose="020B0604020202020204" pitchFamily="34" charset="0"/>
              </a:rPr>
              <a:t>Warwolf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intimidated the Scots so much they tried to surrender.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King Edward I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destroyed the castle anyway.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Science/1538952270.552891g/1538952270654-3012306317176863-optimis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3562" y="3717925"/>
            <a:ext cx="3305175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3645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s://www.educationperfect.com/media/content/Science/1537828898.726721f/1537828900176-815595096533939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251" y="190500"/>
            <a:ext cx="2908511" cy="6232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1323031"/>
              </p:ext>
            </p:extLst>
          </p:nvPr>
        </p:nvGraphicFramePr>
        <p:xfrm>
          <a:off x="5006975" y="1310164"/>
          <a:ext cx="4286250" cy="2308860"/>
        </p:xfrm>
        <a:graphic>
          <a:graphicData uri="http://schemas.openxmlformats.org/drawingml/2006/table">
            <a:tbl>
              <a:tblPr/>
              <a:tblGrid>
                <a:gridCol w="4286250">
                  <a:extLst>
                    <a:ext uri="{9D8B030D-6E8A-4147-A177-3AD203B41FA5}">
                      <a16:colId xmlns:a16="http://schemas.microsoft.com/office/drawing/2014/main" val="33311805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AU" b="0" dirty="0">
                          <a:effectLst/>
                          <a:latin typeface="Arial" panose="020B0604020202020204" pitchFamily="34" charset="0"/>
                        </a:rPr>
                        <a:t/>
                      </a:r>
                      <a:br>
                        <a:rPr lang="en-AU" b="0" dirty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AU" b="0" dirty="0">
                          <a:effectLst/>
                          <a:latin typeface="Arial" panose="020B0604020202020204" pitchFamily="34" charset="0"/>
                        </a:rPr>
                        <a:t>Vertical Projectile Motion</a:t>
                      </a:r>
                    </a:p>
                    <a:p>
                      <a:pPr algn="l" fontAlgn="t"/>
                      <a:r>
                        <a:rPr lang="en-AU" dirty="0">
                          <a:effectLst/>
                        </a:rPr>
                        <a:t/>
                      </a:r>
                      <a:br>
                        <a:rPr lang="en-AU" dirty="0">
                          <a:effectLst/>
                        </a:rPr>
                      </a:br>
                      <a:r>
                        <a:rPr lang="en-AU" dirty="0">
                          <a:effectLst/>
                        </a:rPr>
                        <a:t>An object that's </a:t>
                      </a:r>
                      <a:r>
                        <a:rPr lang="en-AU" b="1" dirty="0">
                          <a:solidFill>
                            <a:srgbClr val="0066CC"/>
                          </a:solidFill>
                          <a:effectLst/>
                        </a:rPr>
                        <a:t>thrown up</a:t>
                      </a:r>
                      <a:r>
                        <a:rPr lang="en-AU" dirty="0">
                          <a:effectLst/>
                        </a:rPr>
                        <a:t> slows down to a stop, then </a:t>
                      </a:r>
                      <a:r>
                        <a:rPr lang="en-AU" b="1" dirty="0">
                          <a:solidFill>
                            <a:srgbClr val="571A98"/>
                          </a:solidFill>
                          <a:effectLst/>
                        </a:rPr>
                        <a:t>falls back down.</a:t>
                      </a:r>
                      <a:r>
                        <a:rPr lang="en-AU" dirty="0">
                          <a:effectLst/>
                        </a:rPr>
                        <a:t/>
                      </a:r>
                      <a:br>
                        <a:rPr lang="en-AU" dirty="0">
                          <a:effectLst/>
                        </a:rPr>
                      </a:br>
                      <a:r>
                        <a:rPr lang="en-AU" dirty="0">
                          <a:effectLst/>
                        </a:rPr>
                        <a:t/>
                      </a:r>
                      <a:br>
                        <a:rPr lang="en-AU" dirty="0">
                          <a:effectLst/>
                        </a:rPr>
                      </a:br>
                      <a:r>
                        <a:rPr lang="en-AU" dirty="0">
                          <a:effectLst/>
                        </a:rPr>
                        <a:t>The </a:t>
                      </a:r>
                      <a:r>
                        <a:rPr lang="en-AU" b="1" dirty="0">
                          <a:solidFill>
                            <a:srgbClr val="00868B"/>
                          </a:solidFill>
                          <a:effectLst/>
                        </a:rPr>
                        <a:t>vertical acceleration</a:t>
                      </a:r>
                      <a:r>
                        <a:rPr lang="en-AU" dirty="0">
                          <a:effectLst/>
                        </a:rPr>
                        <a:t> of the object is always </a:t>
                      </a:r>
                      <a:r>
                        <a:rPr lang="en-AU" dirty="0">
                          <a:effectLst/>
                          <a:latin typeface="KaTeX_Main"/>
                        </a:rPr>
                        <a:t>9.8 ms</a:t>
                      </a:r>
                      <a:r>
                        <a:rPr lang="en-AU" baseline="30000" dirty="0">
                          <a:effectLst/>
                          <a:latin typeface="KaTeX_Main"/>
                        </a:rPr>
                        <a:t>−2</a:t>
                      </a:r>
                      <a:r>
                        <a:rPr lang="en-AU" dirty="0">
                          <a:effectLst/>
                        </a:rPr>
                        <a:t> downward due to </a:t>
                      </a:r>
                      <a:r>
                        <a:rPr lang="en-AU" b="1" dirty="0">
                          <a:solidFill>
                            <a:srgbClr val="0066CC"/>
                          </a:solidFill>
                          <a:effectLst/>
                        </a:rPr>
                        <a:t>gravity.</a:t>
                      </a:r>
                      <a:endParaRPr lang="en-AU" dirty="0">
                        <a:effectLst/>
                      </a:endParaRP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55933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8730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https://www.educationperfect.com/media/content/Science/1537936783.515911f/1537936783467-1990659629437377.gif"/>
          <p:cNvPicPr>
            <a:picLocks noChangeAspect="1" noChangeArrowheads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698" y="736600"/>
            <a:ext cx="2139851" cy="4891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8331071"/>
              </p:ext>
            </p:extLst>
          </p:nvPr>
        </p:nvGraphicFramePr>
        <p:xfrm>
          <a:off x="4092574" y="1879124"/>
          <a:ext cx="7146925" cy="2308860"/>
        </p:xfrm>
        <a:graphic>
          <a:graphicData uri="http://schemas.openxmlformats.org/drawingml/2006/table">
            <a:tbl>
              <a:tblPr/>
              <a:tblGrid>
                <a:gridCol w="7146925">
                  <a:extLst>
                    <a:ext uri="{9D8B030D-6E8A-4147-A177-3AD203B41FA5}">
                      <a16:colId xmlns:a16="http://schemas.microsoft.com/office/drawing/2014/main" val="39974603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AU" dirty="0">
                          <a:effectLst/>
                        </a:rPr>
                        <a:t/>
                      </a:r>
                      <a:br>
                        <a:rPr lang="en-AU" dirty="0">
                          <a:effectLst/>
                        </a:rPr>
                      </a:br>
                      <a:r>
                        <a:rPr lang="en-AU" dirty="0">
                          <a:effectLst/>
                        </a:rPr>
                        <a:t>The projectile </a:t>
                      </a:r>
                      <a:r>
                        <a:rPr lang="en-AU" b="1" dirty="0">
                          <a:solidFill>
                            <a:srgbClr val="00868B"/>
                          </a:solidFill>
                          <a:effectLst/>
                        </a:rPr>
                        <a:t>accelerates downward</a:t>
                      </a:r>
                      <a:r>
                        <a:rPr lang="en-AU" dirty="0">
                          <a:effectLst/>
                        </a:rPr>
                        <a:t> at </a:t>
                      </a:r>
                      <a:r>
                        <a:rPr lang="en-AU" dirty="0">
                          <a:effectLst/>
                          <a:latin typeface="KaTeX_Main"/>
                        </a:rPr>
                        <a:t>9.8 ms</a:t>
                      </a:r>
                      <a:r>
                        <a:rPr lang="en-AU" baseline="30000" dirty="0">
                          <a:effectLst/>
                          <a:latin typeface="KaTeX_Main"/>
                        </a:rPr>
                        <a:t>−2</a:t>
                      </a:r>
                      <a:r>
                        <a:rPr lang="en-AU" dirty="0">
                          <a:effectLst/>
                        </a:rPr>
                        <a:t>.</a:t>
                      </a:r>
                      <a:br>
                        <a:rPr lang="en-AU" dirty="0">
                          <a:effectLst/>
                        </a:rPr>
                      </a:br>
                      <a:r>
                        <a:rPr lang="en-AU" dirty="0">
                          <a:effectLst/>
                        </a:rPr>
                        <a:t/>
                      </a:r>
                      <a:br>
                        <a:rPr lang="en-AU" dirty="0">
                          <a:effectLst/>
                        </a:rPr>
                      </a:br>
                      <a:r>
                        <a:rPr lang="en-AU" dirty="0">
                          <a:effectLst/>
                        </a:rPr>
                        <a:t>The projectile is thrown into the air with some </a:t>
                      </a:r>
                      <a:r>
                        <a:rPr lang="en-AU" b="1" dirty="0">
                          <a:solidFill>
                            <a:srgbClr val="5F9FB9"/>
                          </a:solidFill>
                          <a:effectLst/>
                        </a:rPr>
                        <a:t>initial vertical velocity.</a:t>
                      </a:r>
                      <a:r>
                        <a:rPr lang="en-AU" dirty="0">
                          <a:effectLst/>
                        </a:rPr>
                        <a:t> The vertical velocity of the projectile </a:t>
                      </a:r>
                      <a:r>
                        <a:rPr lang="en-AU" b="1" dirty="0">
                          <a:solidFill>
                            <a:srgbClr val="6773B2"/>
                          </a:solidFill>
                          <a:effectLst/>
                        </a:rPr>
                        <a:t>decreases</a:t>
                      </a:r>
                      <a:r>
                        <a:rPr lang="en-AU" dirty="0">
                          <a:effectLst/>
                        </a:rPr>
                        <a:t> as it is slowed down by gravity.</a:t>
                      </a:r>
                      <a:br>
                        <a:rPr lang="en-AU" dirty="0">
                          <a:effectLst/>
                        </a:rPr>
                      </a:br>
                      <a:r>
                        <a:rPr lang="en-AU" dirty="0">
                          <a:effectLst/>
                        </a:rPr>
                        <a:t/>
                      </a:r>
                      <a:br>
                        <a:rPr lang="en-AU" dirty="0">
                          <a:effectLst/>
                        </a:rPr>
                      </a:br>
                      <a:r>
                        <a:rPr lang="en-AU" dirty="0">
                          <a:effectLst/>
                        </a:rPr>
                        <a:t>The projectile </a:t>
                      </a:r>
                      <a:r>
                        <a:rPr lang="en-AU" b="1" dirty="0">
                          <a:solidFill>
                            <a:srgbClr val="00868B"/>
                          </a:solidFill>
                          <a:effectLst/>
                        </a:rPr>
                        <a:t>stops in mid air,</a:t>
                      </a:r>
                      <a:r>
                        <a:rPr lang="en-AU" dirty="0">
                          <a:effectLst/>
                        </a:rPr>
                        <a:t> then speeds up in a </a:t>
                      </a:r>
                      <a:r>
                        <a:rPr lang="en-AU" b="1" dirty="0">
                          <a:solidFill>
                            <a:srgbClr val="5F9FB9"/>
                          </a:solidFill>
                          <a:effectLst/>
                        </a:rPr>
                        <a:t>downward direction</a:t>
                      </a:r>
                      <a:r>
                        <a:rPr lang="en-AU" dirty="0">
                          <a:effectLst/>
                        </a:rPr>
                        <a:t> as it falls back to the ground.</a:t>
                      </a: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8337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9403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0700" y="579735"/>
            <a:ext cx="11226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velocity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has the same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size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at the start and end of the motion, but the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object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travelling in the </a:t>
            </a:r>
            <a:r>
              <a:rPr lang="en-AU" b="1" i="0" dirty="0" smtClean="0">
                <a:solidFill>
                  <a:srgbClr val="5F9FB9"/>
                </a:solidFill>
                <a:effectLst/>
                <a:latin typeface="Arial" panose="020B0604020202020204" pitchFamily="34" charset="0"/>
              </a:rPr>
              <a:t>opposite direction.</a:t>
            </a:r>
            <a:endParaRPr lang="en-AU" dirty="0"/>
          </a:p>
        </p:txBody>
      </p:sp>
      <p:pic>
        <p:nvPicPr>
          <p:cNvPr id="5122" name="Picture 2" descr="https://www.educationperfect.com/media/content/Science/1537936783.515911f/1537936783467-1990659629437377.gif"/>
          <p:cNvPicPr>
            <a:picLocks noChangeAspect="1" noChangeArrowheads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694" y="1226066"/>
            <a:ext cx="2298785" cy="5254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27195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7700" y="681335"/>
            <a:ext cx="108585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time it takes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for the object to reach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maximum height,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 time it takes to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fall back down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the same.</a:t>
            </a:r>
            <a:endParaRPr lang="en-AU" dirty="0"/>
          </a:p>
        </p:txBody>
      </p:sp>
      <p:pic>
        <p:nvPicPr>
          <p:cNvPr id="2050" name="Picture 2" descr="https://www.educationperfect.com/media/content/Science/1537830951.669381f/1537830953147-815595096533939.gif"/>
          <p:cNvPicPr>
            <a:picLocks noChangeAspect="1" noChangeArrowheads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0211" y="1327666"/>
            <a:ext cx="2593477" cy="5557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9674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4" y="431800"/>
            <a:ext cx="10947567" cy="485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835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03300" y="377041"/>
            <a:ext cx="104267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Example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Trebuchets were often used to throw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flaming barrels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over the walls of castles. The barrels would </a:t>
            </a:r>
            <a:r>
              <a:rPr lang="en-AU" b="1" i="0" dirty="0" smtClean="0">
                <a:solidFill>
                  <a:srgbClr val="5F9FB9"/>
                </a:solidFill>
                <a:effectLst/>
                <a:latin typeface="Arial" panose="020B0604020202020204" pitchFamily="34" charset="0"/>
              </a:rPr>
              <a:t>break open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when they hit the ground and set fire to homes and stored food within the castle.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One barrel is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launched into the air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with an initial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vertical velocity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15 ms−1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How much time passes before the barrel </a:t>
            </a:r>
            <a:r>
              <a:rPr lang="en-AU" b="1" i="0" dirty="0" smtClean="0">
                <a:solidFill>
                  <a:srgbClr val="5F9FB9"/>
                </a:solidFill>
                <a:effectLst/>
                <a:latin typeface="Arial" panose="020B0604020202020204" pitchFamily="34" charset="0"/>
              </a:rPr>
              <a:t>lands inside the castle?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Of course, objects thrown by trebuchets </a:t>
            </a:r>
            <a:r>
              <a:rPr lang="en-AU" b="1" i="1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travel horizontally</a:t>
            </a:r>
            <a:r>
              <a:rPr lang="en-AU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well. This will be covered </a:t>
            </a:r>
            <a:r>
              <a:rPr lang="en-AU" b="1" i="1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later in this lesson.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6" name="Picture 2" descr="https://www.educationperfect.com/media/content/Science/1538689854.931091g/1538689854374-2980361289081969-optimis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7900" y="4597400"/>
            <a:ext cx="28575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4157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39800" y="132140"/>
            <a:ext cx="106172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Solution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Calculate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time it takes for the barrel to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reach the peak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its motion, then double it.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know the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initial velocity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(15 ms</a:t>
            </a:r>
            <a:r>
              <a:rPr lang="en-AU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−1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)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final velocity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(0 ms</a:t>
            </a:r>
            <a:r>
              <a:rPr lang="en-AU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−1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)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and acceleration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(−9.8 ms</a:t>
            </a:r>
            <a:r>
              <a:rPr lang="en-AU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−2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)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The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unknown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time.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final velocity is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zero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the barrel is at the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peak of its motion.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0350" y="2613025"/>
            <a:ext cx="6661150" cy="4097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5789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55700" y="466636"/>
            <a:ext cx="98171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Example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What is 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maximum height reached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by the barrel in the previous example?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70" name="Picture 2" descr="https://www.educationperfect.com/media/content/Science/1538690202.36391g/1538690201738-2980361289081969-optimis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4401" y="2783339"/>
            <a:ext cx="4781550" cy="3198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62977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950" y="179387"/>
            <a:ext cx="9302750" cy="6367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5117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16000" y="279738"/>
            <a:ext cx="104521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Horizontal Projectile Motion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an object is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fired at an angle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there are both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horizontal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smtClean="0">
                <a:solidFill>
                  <a:srgbClr val="5F9FB9"/>
                </a:solidFill>
                <a:effectLst/>
                <a:latin typeface="Arial" panose="020B0604020202020204" pitchFamily="34" charset="0"/>
              </a:rPr>
              <a:t>vertical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components to the velocity.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vertical component is affected by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gravity,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while the horizontal is not.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38095453.24696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440343" y="2603500"/>
            <a:ext cx="3603413" cy="386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645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67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11200" y="316637"/>
            <a:ext cx="11303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 object that is </a:t>
            </a:r>
            <a:r>
              <a:rPr lang="en-AU" b="1" i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thrown diagonally</a:t>
            </a:r>
            <a:r>
              <a:rPr lang="en-AU" b="0" i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instead of upward will </a:t>
            </a:r>
            <a:r>
              <a:rPr lang="en-AU" b="1" i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continue to move sideways</a:t>
            </a:r>
            <a:r>
              <a:rPr lang="en-AU" b="0" i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it reaches </a:t>
            </a:r>
            <a:r>
              <a:rPr lang="en-AU" b="1" i="0" smtClean="0">
                <a:solidFill>
                  <a:srgbClr val="5F9FB9"/>
                </a:solidFill>
                <a:effectLst/>
                <a:latin typeface="Arial" panose="020B0604020202020204" pitchFamily="34" charset="0"/>
              </a:rPr>
              <a:t>maximum height,</a:t>
            </a:r>
            <a:r>
              <a:rPr lang="en-AU" b="0" i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falls back to </a:t>
            </a:r>
            <a:r>
              <a:rPr lang="en-AU" b="1" i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the ground.</a:t>
            </a:r>
            <a:endParaRPr lang="en-AU" b="0" i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horizontal velocity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object stays constant, as there is no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horizontal acceleration.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37837372.45811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356100" y="2205264"/>
            <a:ext cx="3619500" cy="3878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079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67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49300" y="394038"/>
            <a:ext cx="110744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time it takes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for the object to reach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maximum height,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 time it takes to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fall back down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the same.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object has travelled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half of the horizontal distance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(d/2)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when at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maximum height.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38348799.05717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025052" y="2298700"/>
            <a:ext cx="3544147" cy="379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945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67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3662" y="152400"/>
            <a:ext cx="9164638" cy="5365569"/>
          </a:xfrm>
          <a:prstGeom prst="rect">
            <a:avLst/>
          </a:prstGeom>
        </p:spPr>
      </p:pic>
      <p:pic>
        <p:nvPicPr>
          <p:cNvPr id="8194" name="Picture 2" descr="https://www.educationperfect.com/media/content/Science/1538701728.195621g/1538701727573-2980361289081969-40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7442" y="3416300"/>
            <a:ext cx="2684558" cy="326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85289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237" y="295275"/>
            <a:ext cx="8729663" cy="6346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2606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5037" y="0"/>
            <a:ext cx="7396163" cy="682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9323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49400" y="178138"/>
            <a:ext cx="86106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Example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initial vertical velocity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flaming barrel is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30 ms</a:t>
            </a:r>
            <a:r>
              <a:rPr lang="en-AU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−1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initial horizontal velocity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barrel is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52 ms</a:t>
            </a:r>
            <a:r>
              <a:rPr lang="en-AU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−1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How long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 barrel in the air?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23566939.74221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263900" y="2647950"/>
            <a:ext cx="5791200" cy="325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272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06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762" y="152399"/>
            <a:ext cx="8656638" cy="6527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3262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70000" y="340836"/>
            <a:ext cx="9398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Example</a:t>
            </a:r>
            <a:endParaRPr lang="en-AU" b="0" i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What is 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horizontal distance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travelled by the flaming barrel?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31703216.7000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921000" y="2613025"/>
            <a:ext cx="6096000" cy="34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42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1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987" y="211137"/>
            <a:ext cx="10145713" cy="6196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8675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</Words>
  <Application>Microsoft Office PowerPoint</Application>
  <PresentationFormat>Widescreen</PresentationFormat>
  <Paragraphs>54</Paragraphs>
  <Slides>22</Slides>
  <Notes>0</Notes>
  <HiddenSlides>0</HiddenSlides>
  <MMClips>6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KaTeX_Main</vt:lpstr>
      <vt:lpstr>Office Theme</vt:lpstr>
      <vt:lpstr>Projectile Motion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Projectile Motion</dc:title>
  <dc:creator>Joseph D'cruz</dc:creator>
  <cp:lastModifiedBy>Joseph D'cruz</cp:lastModifiedBy>
  <cp:revision>2</cp:revision>
  <dcterms:created xsi:type="dcterms:W3CDTF">2020-09-30T05:45:11Z</dcterms:created>
  <dcterms:modified xsi:type="dcterms:W3CDTF">2020-09-30T05:46:27Z</dcterms:modified>
</cp:coreProperties>
</file>
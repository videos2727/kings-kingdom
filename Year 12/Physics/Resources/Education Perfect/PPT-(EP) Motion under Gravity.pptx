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247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420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63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83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5434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656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4728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1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84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20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894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77092-F50A-4ACD-BC38-CB3DF7D01A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643FD-C706-4A48-A5C3-712D82B933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19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Motion under Gravity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557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511939"/>
            <a:ext cx="10515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on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motion under gravity!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 Smart Lesson 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Describe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motion of objects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affected by gravity.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Perform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calculations of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objects that are affected by gravity.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Describe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horizontal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objects affected by gravity.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Perform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calculations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horizontal motion.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321017.7515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24300" y="2908300"/>
            <a:ext cx="47498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1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" y="636538"/>
            <a:ext cx="11734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be learning about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motion under 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context of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defending a castle.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Castle defences include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high walls, gates,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projectiles.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Rochester Castle,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was besieged and subsequently taken by King John in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1215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37325516.359961g/1537325518675-273950066257889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150" y="3835400"/>
            <a:ext cx="36957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577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educationperfect.com/media/content/Science/1537748412.936281f/1537748413796-1055860293713950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339" y="342900"/>
            <a:ext cx="1960034" cy="588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757426"/>
              </p:ext>
            </p:extLst>
          </p:nvPr>
        </p:nvGraphicFramePr>
        <p:xfrm>
          <a:off x="4965700" y="1297464"/>
          <a:ext cx="3810000" cy="368046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639915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b="0" dirty="0">
                          <a:effectLst/>
                          <a:latin typeface="Arial" panose="020B0604020202020204" pitchFamily="34" charset="0"/>
                        </a:rPr>
                        <a:t/>
                      </a:r>
                      <a:br>
                        <a:rPr lang="en-AU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AU" b="0" dirty="0">
                          <a:effectLst/>
                          <a:latin typeface="Arial" panose="020B0604020202020204" pitchFamily="34" charset="0"/>
                        </a:rPr>
                        <a:t>Vertical Acceleration</a:t>
                      </a:r>
                    </a:p>
                    <a:p>
                      <a:pPr algn="l" fontAlgn="t"/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A dropped object </a:t>
                      </a:r>
                      <a:r>
                        <a:rPr lang="en-AU" b="1" dirty="0">
                          <a:solidFill>
                            <a:srgbClr val="571A98"/>
                          </a:solidFill>
                          <a:effectLst/>
                        </a:rPr>
                        <a:t>moves in a straight line</a:t>
                      </a:r>
                      <a:r>
                        <a:rPr lang="en-AU" dirty="0">
                          <a:effectLst/>
                        </a:rPr>
                        <a:t> downward.</a:t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The </a:t>
                      </a:r>
                      <a:r>
                        <a:rPr lang="en-AU" b="1" dirty="0">
                          <a:solidFill>
                            <a:srgbClr val="00868B"/>
                          </a:solidFill>
                          <a:effectLst/>
                        </a:rPr>
                        <a:t>vertical acceleration</a:t>
                      </a:r>
                      <a:r>
                        <a:rPr lang="en-AU" dirty="0">
                          <a:effectLst/>
                        </a:rPr>
                        <a:t> of any object is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9.8 ms−2</a:t>
                      </a:r>
                      <a:r>
                        <a:rPr lang="en-AU" dirty="0">
                          <a:effectLst/>
                        </a:rPr>
                        <a:t> downward due to gravity.</a:t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Taking up to be </a:t>
                      </a:r>
                      <a:r>
                        <a:rPr lang="en-AU" b="1" dirty="0">
                          <a:solidFill>
                            <a:srgbClr val="6773B2"/>
                          </a:solidFill>
                          <a:effectLst/>
                        </a:rPr>
                        <a:t>positive,</a:t>
                      </a:r>
                      <a:r>
                        <a:rPr lang="en-AU" dirty="0">
                          <a:effectLst/>
                        </a:rPr>
                        <a:t> and down to be </a:t>
                      </a:r>
                      <a:r>
                        <a:rPr lang="en-AU" b="1" dirty="0">
                          <a:solidFill>
                            <a:srgbClr val="571A98"/>
                          </a:solidFill>
                          <a:effectLst/>
                        </a:rPr>
                        <a:t>negative,</a:t>
                      </a:r>
                      <a:r>
                        <a:rPr lang="en-AU" dirty="0">
                          <a:effectLst/>
                        </a:rPr>
                        <a:t> we can say that the </a:t>
                      </a:r>
                      <a:r>
                        <a:rPr lang="en-AU" b="1" dirty="0">
                          <a:solidFill>
                            <a:srgbClr val="00868B"/>
                          </a:solidFill>
                          <a:effectLst/>
                        </a:rPr>
                        <a:t>acceleration due to gravity</a:t>
                      </a:r>
                      <a:r>
                        <a:rPr lang="en-AU" dirty="0">
                          <a:effectLst/>
                        </a:rPr>
                        <a:t> is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−9.8 ms−2</a:t>
                      </a:r>
                      <a:r>
                        <a:rPr lang="en-AU" dirty="0">
                          <a:effectLst/>
                        </a:rPr>
                        <a:t>.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465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06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educationperfect.com/media/content/Science/1537746260.582881f/1537746261395-1055860293713950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45" y="203200"/>
            <a:ext cx="2045229" cy="613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756584"/>
              </p:ext>
            </p:extLst>
          </p:nvPr>
        </p:nvGraphicFramePr>
        <p:xfrm>
          <a:off x="4780116" y="1095375"/>
          <a:ext cx="6014883" cy="4351338"/>
        </p:xfrm>
        <a:graphic>
          <a:graphicData uri="http://schemas.openxmlformats.org/drawingml/2006/table">
            <a:tbl>
              <a:tblPr/>
              <a:tblGrid>
                <a:gridCol w="6014883">
                  <a:extLst>
                    <a:ext uri="{9D8B030D-6E8A-4147-A177-3AD203B41FA5}">
                      <a16:colId xmlns:a16="http://schemas.microsoft.com/office/drawing/2014/main" val="3347506576"/>
                    </a:ext>
                  </a:extLst>
                </a:gridCol>
              </a:tblGrid>
              <a:tr h="4351338">
                <a:tc>
                  <a:txBody>
                    <a:bodyPr/>
                    <a:lstStyle/>
                    <a:p>
                      <a:pPr algn="l" fontAlgn="ctr"/>
                      <a:r>
                        <a:rPr lang="en-AU" sz="1600" b="0" dirty="0">
                          <a:effectLst/>
                          <a:latin typeface="Arial" panose="020B0604020202020204" pitchFamily="34" charset="0"/>
                        </a:rPr>
                        <a:t/>
                      </a:r>
                      <a:br>
                        <a:rPr lang="en-AU" sz="16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AU" sz="1600" b="0" dirty="0">
                          <a:effectLst/>
                          <a:latin typeface="Arial" panose="020B0604020202020204" pitchFamily="34" charset="0"/>
                        </a:rPr>
                        <a:t>Vertical Velocity</a:t>
                      </a:r>
                    </a:p>
                    <a:p>
                      <a:pPr algn="l" fontAlgn="ctr"/>
                      <a:r>
                        <a:rPr lang="en-AU" sz="1600" dirty="0">
                          <a:effectLst/>
                        </a:rPr>
                        <a:t/>
                      </a:r>
                      <a:br>
                        <a:rPr lang="en-AU" sz="1600" dirty="0">
                          <a:effectLst/>
                        </a:rPr>
                      </a:br>
                      <a:r>
                        <a:rPr lang="en-AU" sz="1600" dirty="0">
                          <a:effectLst/>
                        </a:rPr>
                        <a:t>A dropped object begins moving from rest, so the </a:t>
                      </a:r>
                      <a:r>
                        <a:rPr lang="en-AU" sz="1600" b="1" dirty="0">
                          <a:solidFill>
                            <a:srgbClr val="00868B"/>
                          </a:solidFill>
                          <a:effectLst/>
                        </a:rPr>
                        <a:t>initial vertical velocity</a:t>
                      </a:r>
                      <a:r>
                        <a:rPr lang="en-AU" sz="1600" dirty="0">
                          <a:effectLst/>
                        </a:rPr>
                        <a:t> of a dropped object is </a:t>
                      </a:r>
                      <a:r>
                        <a:rPr lang="en-AU" sz="1600" dirty="0">
                          <a:effectLst/>
                          <a:latin typeface="KaTeX_Main"/>
                        </a:rPr>
                        <a:t>0 ms−1</a:t>
                      </a:r>
                      <a:r>
                        <a:rPr lang="en-AU" sz="1600" dirty="0">
                          <a:effectLst/>
                        </a:rPr>
                        <a:t>.</a:t>
                      </a:r>
                      <a:br>
                        <a:rPr lang="en-AU" sz="1600" dirty="0">
                          <a:effectLst/>
                        </a:rPr>
                      </a:br>
                      <a:r>
                        <a:rPr lang="en-AU" sz="1600" dirty="0">
                          <a:effectLst/>
                        </a:rPr>
                        <a:t/>
                      </a:r>
                      <a:br>
                        <a:rPr lang="en-AU" sz="1600" dirty="0">
                          <a:effectLst/>
                        </a:rPr>
                      </a:br>
                      <a:r>
                        <a:rPr lang="en-AU" sz="1600" dirty="0">
                          <a:effectLst/>
                        </a:rPr>
                        <a:t>The vertical velocity increases as the object </a:t>
                      </a:r>
                      <a:r>
                        <a:rPr lang="en-AU" sz="1600" b="1" dirty="0">
                          <a:solidFill>
                            <a:srgbClr val="32B57F"/>
                          </a:solidFill>
                          <a:effectLst/>
                        </a:rPr>
                        <a:t>accelerates downward,</a:t>
                      </a:r>
                      <a:r>
                        <a:rPr lang="en-AU" sz="1600" dirty="0">
                          <a:effectLst/>
                        </a:rPr>
                        <a:t> only stopping once it hits the ground.</a:t>
                      </a:r>
                      <a:br>
                        <a:rPr lang="en-AU" sz="1600" dirty="0">
                          <a:effectLst/>
                        </a:rPr>
                      </a:br>
                      <a:r>
                        <a:rPr lang="en-AU" sz="1600" dirty="0">
                          <a:effectLst/>
                        </a:rPr>
                        <a:t/>
                      </a:r>
                      <a:br>
                        <a:rPr lang="en-AU" sz="1600" dirty="0">
                          <a:effectLst/>
                        </a:rPr>
                      </a:br>
                      <a:r>
                        <a:rPr lang="en-AU" sz="1600" dirty="0">
                          <a:effectLst/>
                        </a:rPr>
                        <a:t>The </a:t>
                      </a:r>
                      <a:r>
                        <a:rPr lang="en-AU" sz="1600" b="1" dirty="0">
                          <a:solidFill>
                            <a:srgbClr val="5F9FB9"/>
                          </a:solidFill>
                          <a:effectLst/>
                        </a:rPr>
                        <a:t>final velocity</a:t>
                      </a:r>
                      <a:r>
                        <a:rPr lang="en-AU" sz="1600" dirty="0">
                          <a:effectLst/>
                        </a:rPr>
                        <a:t> of this object is </a:t>
                      </a:r>
                      <a:r>
                        <a:rPr lang="en-AU" sz="1600" dirty="0">
                          <a:effectLst/>
                          <a:latin typeface="KaTeX_Main"/>
                        </a:rPr>
                        <a:t>6 ms−1</a:t>
                      </a:r>
                      <a:r>
                        <a:rPr lang="en-AU" sz="1600" dirty="0">
                          <a:effectLst/>
                        </a:rPr>
                        <a:t> downward.</a:t>
                      </a:r>
                      <a:br>
                        <a:rPr lang="en-AU" sz="1600" dirty="0">
                          <a:effectLst/>
                        </a:rPr>
                      </a:br>
                      <a:r>
                        <a:rPr lang="en-AU" sz="1600" dirty="0">
                          <a:effectLst/>
                        </a:rPr>
                        <a:t/>
                      </a:r>
                      <a:br>
                        <a:rPr lang="en-AU" sz="1600" dirty="0">
                          <a:effectLst/>
                        </a:rPr>
                      </a:br>
                      <a:r>
                        <a:rPr lang="en-AU" sz="1600" dirty="0">
                          <a:effectLst/>
                        </a:rPr>
                        <a:t>Taking up to be </a:t>
                      </a:r>
                      <a:r>
                        <a:rPr lang="en-AU" sz="1600" b="1" dirty="0">
                          <a:solidFill>
                            <a:srgbClr val="00868B"/>
                          </a:solidFill>
                          <a:effectLst/>
                        </a:rPr>
                        <a:t>positive,</a:t>
                      </a:r>
                      <a:r>
                        <a:rPr lang="en-AU" sz="1600" dirty="0">
                          <a:effectLst/>
                        </a:rPr>
                        <a:t> and down to be </a:t>
                      </a:r>
                      <a:r>
                        <a:rPr lang="en-AU" sz="1600" b="1" dirty="0">
                          <a:solidFill>
                            <a:srgbClr val="32B57C"/>
                          </a:solidFill>
                          <a:effectLst/>
                        </a:rPr>
                        <a:t>negative,</a:t>
                      </a:r>
                      <a:r>
                        <a:rPr lang="en-AU" sz="1600" dirty="0">
                          <a:effectLst/>
                        </a:rPr>
                        <a:t> we can say that the </a:t>
                      </a:r>
                      <a:r>
                        <a:rPr lang="en-AU" sz="1600" b="1" dirty="0">
                          <a:solidFill>
                            <a:srgbClr val="5F9FB9"/>
                          </a:solidFill>
                          <a:effectLst/>
                        </a:rPr>
                        <a:t>final velocity</a:t>
                      </a:r>
                      <a:r>
                        <a:rPr lang="en-AU" sz="1600" dirty="0">
                          <a:effectLst/>
                        </a:rPr>
                        <a:t> of the object is </a:t>
                      </a:r>
                      <a:r>
                        <a:rPr lang="en-AU" sz="1600" dirty="0">
                          <a:effectLst/>
                          <a:latin typeface="KaTeX_Main"/>
                        </a:rPr>
                        <a:t>−6 ms−1</a:t>
                      </a:r>
                      <a:r>
                        <a:rPr lang="en-AU" sz="1600" dirty="0">
                          <a:effectLst/>
                        </a:rPr>
                        <a:t>.</a:t>
                      </a:r>
                    </a:p>
                  </a:txBody>
                  <a:tcPr marL="52049" marR="52049" marT="52049" marB="520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516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96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46062"/>
            <a:ext cx="10556316" cy="600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8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134937"/>
            <a:ext cx="10769286" cy="607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62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7900" y="860336"/>
            <a:ext cx="1016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How fast was the same rock moving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hit the invader?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English%20&amp;%20Literature/1537134213.82481g/1537134217010-1035184389054706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2751137"/>
            <a:ext cx="7610475" cy="276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773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4" y="479424"/>
            <a:ext cx="11334665" cy="58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3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343238"/>
            <a:ext cx="11290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Horizontal Motion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that is fired sideways instead of dropped will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continue to move sideways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falls to the ground.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horizontal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stays constant, as there is no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horizontal acceleration.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7758031.9691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32250" y="2190680"/>
            <a:ext cx="4114800" cy="440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7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660738"/>
            <a:ext cx="11645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only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any object that has been fired sideways is the force of gravity. This means that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vertical 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same as if the object was dropped.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fact, if we drop one object and fire another sideways, they'll hit the ground at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the same time!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7760835.7262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0" y="1861067"/>
            <a:ext cx="4457700" cy="477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1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99" y="307974"/>
            <a:ext cx="11131771" cy="60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71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659537"/>
            <a:ext cx="11150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 arrow that has been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fired sideways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off the top of a castle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45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castle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25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tall.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How long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the arrow take to hit the ground?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37329052.438021g/1537329052238-273950066257889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4089400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117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4" y="347662"/>
            <a:ext cx="9255125" cy="633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32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885736"/>
            <a:ext cx="1168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horizontal 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travelled by the arrow in the previous question?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7329503.503381g/1537329503441-273950066257889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283" y="3022600"/>
            <a:ext cx="4550833" cy="341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216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22335"/>
            <a:ext cx="11029950" cy="663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36</Paragraphs>
  <Slides>16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KaTeX_Main</vt:lpstr>
      <vt:lpstr>Office Theme</vt:lpstr>
      <vt:lpstr>Motion under Gravity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under Gravity</dc:title>
  <dc:creator>Joseph D'cruz</dc:creator>
  <cp:lastModifiedBy>Joseph D'cruz</cp:lastModifiedBy>
  <cp:revision>1</cp:revision>
  <dcterms:created xsi:type="dcterms:W3CDTF">2020-10-31T07:03:46Z</dcterms:created>
  <dcterms:modified xsi:type="dcterms:W3CDTF">2020-10-31T07:03:53Z</dcterms:modified>
</cp:coreProperties>
</file>
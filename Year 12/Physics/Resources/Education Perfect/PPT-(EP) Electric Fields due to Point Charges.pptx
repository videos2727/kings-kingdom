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747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1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0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52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49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566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197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82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64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567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12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708C3-FA34-491E-A5ED-D7AAB71AEB01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C29AE-F324-41A2-AACD-629986D264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97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Electric Fields due to Point Charges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15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535557"/>
              </p:ext>
            </p:extLst>
          </p:nvPr>
        </p:nvGraphicFramePr>
        <p:xfrm>
          <a:off x="822325" y="891064"/>
          <a:ext cx="5238750" cy="937260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9862822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Matter is made up of </a:t>
                      </a:r>
                      <a:r>
                        <a:rPr lang="en-AU" b="1" dirty="0">
                          <a:effectLst/>
                        </a:rPr>
                        <a:t>atoms</a:t>
                      </a:r>
                      <a:r>
                        <a:rPr lang="en-AU" dirty="0">
                          <a:effectLst/>
                        </a:rPr>
                        <a:t>, which were once thought to be indivisible. They were considered the smallest possible objects in the universe.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09119"/>
                  </a:ext>
                </a:extLst>
              </a:tr>
            </a:tbl>
          </a:graphicData>
        </a:graphic>
      </p:graphicFrame>
      <p:pic>
        <p:nvPicPr>
          <p:cNvPr id="1026" name="Picture 2" descr="https://www.educationperfect.com/media/content/Science/1418940920.320531g/1418940896085-49514480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900" y="71278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5800" y="2617788"/>
            <a:ext cx="10782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we know that atoms are made up of still smaller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protons, electrons and neutrons. The major difference between these three particles is that they all have a different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Protons have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electrons have an equal but opposite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while neutrons have no charge at all and are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  <p:pic>
        <p:nvPicPr>
          <p:cNvPr id="1028" name="Picture 4" descr="https://www.educationperfect.com/media/content/Science/1440130070.273911g/1440130066899-102673255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4139724"/>
            <a:ext cx="52387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9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482938"/>
            <a:ext cx="10274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space around a charged particle contains something called an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electric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We can't see this field or measure it directly. However, we can work out its properties by looking at how it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affects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 charged particles. Traditionally we draw it as a series of arrows (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which point from areas of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areas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  <p:pic>
        <p:nvPicPr>
          <p:cNvPr id="2050" name="Picture 2" descr="https://www.educationperfect.com/media/content/Science/1440132277.813161g/1440132273984-1026732552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2232025"/>
            <a:ext cx="18859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024952"/>
              </p:ext>
            </p:extLst>
          </p:nvPr>
        </p:nvGraphicFramePr>
        <p:xfrm>
          <a:off x="3390900" y="1952784"/>
          <a:ext cx="7886700" cy="148590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89765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This is how we draw the electric field around a </a:t>
                      </a:r>
                      <a:r>
                        <a:rPr lang="en-AU" b="1" dirty="0">
                          <a:effectLst/>
                        </a:rPr>
                        <a:t>proton</a:t>
                      </a:r>
                      <a:r>
                        <a:rPr lang="en-AU" dirty="0">
                          <a:effectLst/>
                        </a:rPr>
                        <a:t>. It looks like a series of </a:t>
                      </a:r>
                      <a:r>
                        <a:rPr lang="en-AU" b="1" dirty="0">
                          <a:effectLst/>
                        </a:rPr>
                        <a:t>vectors</a:t>
                      </a:r>
                      <a:r>
                        <a:rPr lang="en-AU" dirty="0">
                          <a:effectLst/>
                        </a:rPr>
                        <a:t> arranged like the spokes of a wheel, with the proton at the centre. All the vectors point </a:t>
                      </a:r>
                      <a:r>
                        <a:rPr lang="en-AU" b="1" dirty="0">
                          <a:effectLst/>
                        </a:rPr>
                        <a:t>away from</a:t>
                      </a:r>
                      <a:r>
                        <a:rPr lang="en-AU" dirty="0">
                          <a:effectLst/>
                        </a:rPr>
                        <a:t> the proton - this is how we know it's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positively</a:t>
                      </a:r>
                      <a:r>
                        <a:rPr lang="en-AU" b="1" dirty="0">
                          <a:effectLst/>
                        </a:rPr>
                        <a:t> charged</a:t>
                      </a:r>
                      <a:r>
                        <a:rPr lang="en-AU" dirty="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61892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69390"/>
              </p:ext>
            </p:extLst>
          </p:nvPr>
        </p:nvGraphicFramePr>
        <p:xfrm>
          <a:off x="914400" y="4396264"/>
          <a:ext cx="8280400" cy="662940"/>
        </p:xfrm>
        <a:graphic>
          <a:graphicData uri="http://schemas.openxmlformats.org/drawingml/2006/table">
            <a:tbl>
              <a:tblPr/>
              <a:tblGrid>
                <a:gridCol w="8280400">
                  <a:extLst>
                    <a:ext uri="{9D8B030D-6E8A-4147-A177-3AD203B41FA5}">
                      <a16:colId xmlns:a16="http://schemas.microsoft.com/office/drawing/2014/main" val="2128384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For an </a:t>
                      </a:r>
                      <a:r>
                        <a:rPr lang="en-AU" b="1" dirty="0">
                          <a:effectLst/>
                        </a:rPr>
                        <a:t>electron</a:t>
                      </a:r>
                      <a:r>
                        <a:rPr lang="en-AU" dirty="0">
                          <a:effectLst/>
                        </a:rPr>
                        <a:t>, the field vectors point the other way, </a:t>
                      </a:r>
                      <a:r>
                        <a:rPr lang="en-AU" b="1" dirty="0">
                          <a:effectLst/>
                        </a:rPr>
                        <a:t>toward</a:t>
                      </a:r>
                      <a:r>
                        <a:rPr lang="en-AU" dirty="0">
                          <a:effectLst/>
                        </a:rPr>
                        <a:t> the particle. This is because it has a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negative</a:t>
                      </a:r>
                      <a:r>
                        <a:rPr lang="en-AU" b="1" dirty="0">
                          <a:effectLst/>
                        </a:rPr>
                        <a:t> charge</a:t>
                      </a:r>
                      <a:r>
                        <a:rPr lang="en-AU" dirty="0">
                          <a:effectLst/>
                        </a:rPr>
                        <a:t>, opposite to that of the proton.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109"/>
                  </a:ext>
                </a:extLst>
              </a:tr>
            </a:tbl>
          </a:graphicData>
        </a:graphic>
      </p:graphicFrame>
      <p:pic>
        <p:nvPicPr>
          <p:cNvPr id="2052" name="Picture 4" descr="https://www.educationperfect.com/media/content/Science/1440132336.489191g/1440132332630-1026732552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8975" y="4116229"/>
            <a:ext cx="18954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3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educationperfect.com/media/content/Science/1440216144.271861g/1440216139911-106794918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4826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304322"/>
              </p:ext>
            </p:extLst>
          </p:nvPr>
        </p:nvGraphicFramePr>
        <p:xfrm>
          <a:off x="3505200" y="901700"/>
          <a:ext cx="7759700" cy="1211580"/>
        </p:xfrm>
        <a:graphic>
          <a:graphicData uri="http://schemas.openxmlformats.org/drawingml/2006/table">
            <a:tbl>
              <a:tblPr/>
              <a:tblGrid>
                <a:gridCol w="7759700">
                  <a:extLst>
                    <a:ext uri="{9D8B030D-6E8A-4147-A177-3AD203B41FA5}">
                      <a16:colId xmlns:a16="http://schemas.microsoft.com/office/drawing/2014/main" val="2787882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Let's see what happens when we throw a </a:t>
                      </a:r>
                      <a:r>
                        <a:rPr lang="en-AU" b="1" dirty="0">
                          <a:effectLst/>
                        </a:rPr>
                        <a:t>test charge</a:t>
                      </a:r>
                      <a:r>
                        <a:rPr lang="en-AU" dirty="0">
                          <a:effectLst/>
                        </a:rPr>
                        <a:t> into an electric field. A test charge is a charged particle that is so </a:t>
                      </a:r>
                      <a:r>
                        <a:rPr lang="en-AU" b="1" dirty="0">
                          <a:effectLst/>
                        </a:rPr>
                        <a:t>small</a:t>
                      </a:r>
                      <a:r>
                        <a:rPr lang="en-AU" dirty="0">
                          <a:effectLst/>
                        </a:rPr>
                        <a:t> it doesn't change the shape of the field. We will use a tiny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positive</a:t>
                      </a:r>
                      <a:r>
                        <a:rPr lang="en-AU" b="1" dirty="0">
                          <a:effectLst/>
                        </a:rPr>
                        <a:t> charge</a:t>
                      </a:r>
                      <a:r>
                        <a:rPr lang="en-AU" dirty="0">
                          <a:effectLst/>
                        </a:rPr>
                        <a:t>, a fraction of the size of a proton.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97118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16900"/>
              </p:ext>
            </p:extLst>
          </p:nvPr>
        </p:nvGraphicFramePr>
        <p:xfrm>
          <a:off x="419100" y="2940844"/>
          <a:ext cx="6731000" cy="937260"/>
        </p:xfrm>
        <a:graphic>
          <a:graphicData uri="http://schemas.openxmlformats.org/drawingml/2006/table">
            <a:tbl>
              <a:tblPr/>
              <a:tblGrid>
                <a:gridCol w="6731000">
                  <a:extLst>
                    <a:ext uri="{9D8B030D-6E8A-4147-A177-3AD203B41FA5}">
                      <a16:colId xmlns:a16="http://schemas.microsoft.com/office/drawing/2014/main" val="2437004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When this test charge is exposed to an </a:t>
                      </a:r>
                      <a:r>
                        <a:rPr lang="en-AU" b="1" dirty="0">
                          <a:effectLst/>
                        </a:rPr>
                        <a:t>electrostatic</a:t>
                      </a:r>
                      <a:r>
                        <a:rPr lang="en-AU" dirty="0">
                          <a:effectLst/>
                        </a:rPr>
                        <a:t> (non-moving) field, it experiences a </a:t>
                      </a:r>
                      <a:r>
                        <a:rPr lang="en-AU" b="1" dirty="0">
                          <a:effectLst/>
                        </a:rPr>
                        <a:t>force</a:t>
                      </a:r>
                      <a:r>
                        <a:rPr lang="en-AU" dirty="0">
                          <a:effectLst/>
                        </a:rPr>
                        <a:t>. The force causes it to </a:t>
                      </a:r>
                      <a:r>
                        <a:rPr lang="en-AU" b="1" dirty="0">
                          <a:effectLst/>
                        </a:rPr>
                        <a:t>accelerate</a:t>
                      </a:r>
                      <a:r>
                        <a:rPr lang="en-AU" dirty="0">
                          <a:effectLst/>
                        </a:rPr>
                        <a:t> along the lines of the field like this: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687563"/>
                  </a:ext>
                </a:extLst>
              </a:tr>
            </a:tbl>
          </a:graphicData>
        </a:graphic>
      </p:graphicFrame>
      <p:pic>
        <p:nvPicPr>
          <p:cNvPr id="3076" name="Picture 4" descr="https://www.educationperfect.com/media/content/Science/1440217048.564311g/1440217038315-106794918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75" y="2308353"/>
            <a:ext cx="2320925" cy="220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16132"/>
              </p:ext>
            </p:extLst>
          </p:nvPr>
        </p:nvGraphicFramePr>
        <p:xfrm>
          <a:off x="4813300" y="4941412"/>
          <a:ext cx="6578600" cy="1211580"/>
        </p:xfrm>
        <a:graphic>
          <a:graphicData uri="http://schemas.openxmlformats.org/drawingml/2006/table">
            <a:tbl>
              <a:tblPr/>
              <a:tblGrid>
                <a:gridCol w="6578600">
                  <a:extLst>
                    <a:ext uri="{9D8B030D-6E8A-4147-A177-3AD203B41FA5}">
                      <a16:colId xmlns:a16="http://schemas.microsoft.com/office/drawing/2014/main" val="2764826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However, if we replace the positive test charge with a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negative</a:t>
                      </a:r>
                      <a:r>
                        <a:rPr lang="en-AU" dirty="0">
                          <a:effectLst/>
                        </a:rPr>
                        <a:t> one, we see the opposite. It accelerates in the </a:t>
                      </a:r>
                      <a:r>
                        <a:rPr lang="en-AU" b="1" dirty="0">
                          <a:effectLst/>
                        </a:rPr>
                        <a:t>opposite</a:t>
                      </a:r>
                      <a:r>
                        <a:rPr lang="en-AU" dirty="0">
                          <a:effectLst/>
                        </a:rPr>
                        <a:t> direction to the electric field lines! As we will see later, this is the same motion electrons show in </a:t>
                      </a:r>
                      <a:r>
                        <a:rPr lang="en-AU" b="1" dirty="0">
                          <a:effectLst/>
                        </a:rPr>
                        <a:t>circuits</a:t>
                      </a:r>
                      <a:r>
                        <a:rPr lang="en-AU" dirty="0">
                          <a:effectLst/>
                        </a:rPr>
                        <a:t>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10460"/>
                  </a:ext>
                </a:extLst>
              </a:tr>
            </a:tbl>
          </a:graphicData>
        </a:graphic>
      </p:graphicFrame>
      <p:pic>
        <p:nvPicPr>
          <p:cNvPr id="3078" name="Picture 6" descr="https://www.educationperfect.com/media/content/Science/1440216992.658041g/1440216982190-1067949183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4399385"/>
            <a:ext cx="2419350" cy="229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33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648038"/>
            <a:ext cx="11518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does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test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 when you place it next to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proton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 According to our observations, it will move along the electric field lines that go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proton.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other words, the test charge moves away from the proton. This is called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repulsion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256691"/>
              </p:ext>
            </p:extLst>
          </p:nvPr>
        </p:nvGraphicFramePr>
        <p:xfrm>
          <a:off x="1336674" y="2956084"/>
          <a:ext cx="6067425" cy="937260"/>
        </p:xfrm>
        <a:graphic>
          <a:graphicData uri="http://schemas.openxmlformats.org/drawingml/2006/table">
            <a:tbl>
              <a:tblPr/>
              <a:tblGrid>
                <a:gridCol w="6067425">
                  <a:extLst>
                    <a:ext uri="{9D8B030D-6E8A-4147-A177-3AD203B41FA5}">
                      <a16:colId xmlns:a16="http://schemas.microsoft.com/office/drawing/2014/main" val="2726797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Any positive charge applies a </a:t>
                      </a:r>
                      <a:r>
                        <a:rPr lang="en-AU" b="1" dirty="0">
                          <a:effectLst/>
                        </a:rPr>
                        <a:t>repulsive force</a:t>
                      </a:r>
                      <a:r>
                        <a:rPr lang="en-AU" dirty="0">
                          <a:effectLst/>
                        </a:rPr>
                        <a:t> to any other positive charge. You may have heard the word 'repulsive' used to mean 'ugly', but in Physics it's really a beautiful idea.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442349"/>
                  </a:ext>
                </a:extLst>
              </a:tr>
            </a:tbl>
          </a:graphicData>
        </a:graphic>
      </p:graphicFrame>
      <p:pic>
        <p:nvPicPr>
          <p:cNvPr id="4098" name="Picture 2" descr="https://www.educationperfect.com/media/content/Science/1440363934.952021g/1440363920465-154043730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850" y="2384425"/>
            <a:ext cx="38004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936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480536"/>
            <a:ext cx="10045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also happens with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If you place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test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electric field created by an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it moves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field lines, which go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electron. This means the test charge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repelled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 electron.</a:t>
            </a:r>
            <a:endParaRPr lang="en-AU" dirty="0"/>
          </a:p>
        </p:txBody>
      </p:sp>
      <p:pic>
        <p:nvPicPr>
          <p:cNvPr id="5122" name="Picture 2" descr="https://www.educationperfect.com/media/content/Science/1440363917.070341g/1440363912446-154043730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50" y="1947863"/>
            <a:ext cx="3800475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74700" y="5015985"/>
            <a:ext cx="1019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summary, we can say that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like charges always repel each other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is one of the most fundamental ideas in the study of electrical physics!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8768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55638"/>
              </p:ext>
            </p:extLst>
          </p:nvPr>
        </p:nvGraphicFramePr>
        <p:xfrm>
          <a:off x="1682750" y="1160304"/>
          <a:ext cx="5187950" cy="1211580"/>
        </p:xfrm>
        <a:graphic>
          <a:graphicData uri="http://schemas.openxmlformats.org/drawingml/2006/table">
            <a:tbl>
              <a:tblPr/>
              <a:tblGrid>
                <a:gridCol w="5187950">
                  <a:extLst>
                    <a:ext uri="{9D8B030D-6E8A-4147-A177-3AD203B41FA5}">
                      <a16:colId xmlns:a16="http://schemas.microsoft.com/office/drawing/2014/main" val="844247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What happens when you place a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negatively</a:t>
                      </a:r>
                      <a:r>
                        <a:rPr lang="en-AU" b="1" dirty="0">
                          <a:effectLst/>
                        </a:rPr>
                        <a:t> charged</a:t>
                      </a:r>
                      <a:r>
                        <a:rPr lang="en-AU" dirty="0">
                          <a:effectLst/>
                        </a:rPr>
                        <a:t> particle, like an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electron</a:t>
                      </a:r>
                      <a:r>
                        <a:rPr lang="en-AU" dirty="0">
                          <a:effectLst/>
                        </a:rPr>
                        <a:t>, in the electric field of a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positively</a:t>
                      </a:r>
                      <a:r>
                        <a:rPr lang="en-AU" b="1" dirty="0">
                          <a:effectLst/>
                        </a:rPr>
                        <a:t> charged</a:t>
                      </a:r>
                      <a:r>
                        <a:rPr lang="en-AU" dirty="0">
                          <a:effectLst/>
                        </a:rPr>
                        <a:t> particle, like a </a:t>
                      </a:r>
                      <a:r>
                        <a:rPr lang="en-AU" b="1" dirty="0">
                          <a:solidFill>
                            <a:srgbClr val="E04E50"/>
                          </a:solidFill>
                          <a:effectLst/>
                        </a:rPr>
                        <a:t>proton</a:t>
                      </a:r>
                      <a:r>
                        <a:rPr lang="en-AU" dirty="0">
                          <a:effectLst/>
                        </a:rPr>
                        <a:t>?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03655"/>
                  </a:ext>
                </a:extLst>
              </a:tr>
            </a:tbl>
          </a:graphicData>
        </a:graphic>
      </p:graphicFrame>
      <p:pic>
        <p:nvPicPr>
          <p:cNvPr id="6146" name="Picture 2" descr="https://www.educationperfect.com/media/content/Science/1440132336.489191g/1440132332630-1026732552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225" y="973138"/>
            <a:ext cx="18954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ducationperfect.com/media/content/Science/1440132277.813161g/1440132273984-1026732552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925" y="973138"/>
            <a:ext cx="18859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28724" y="3426936"/>
            <a:ext cx="102774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case, we do not see repulsion!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 will move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field lines coming out of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charge. At the same time,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 accelerates along the field lines that go into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charge.</a:t>
            </a:r>
            <a:endParaRPr lang="en-AU" dirty="0"/>
          </a:p>
        </p:txBody>
      </p:sp>
      <p:pic>
        <p:nvPicPr>
          <p:cNvPr id="6150" name="Picture 6" descr="https://www.educationperfect.com/media/content/Science/1440363875.492691g/1440363869268-1540437304-4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4350266"/>
            <a:ext cx="379095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68300" y="5914936"/>
            <a:ext cx="1137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net result is that both particles feel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mutual </a:t>
            </a:r>
            <a:r>
              <a:rPr lang="en-AU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attractive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they move toward each other. This is where the phrase "opposites attract" comes from -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opposing charges always attract each other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7042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Electric Fields due to Point Charges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Fields due to Point Charges</dc:title>
  <dc:creator>Joseph D'cruz</dc:creator>
  <cp:lastModifiedBy>Joseph D'cruz</cp:lastModifiedBy>
  <cp:revision>2</cp:revision>
  <dcterms:created xsi:type="dcterms:W3CDTF">2020-10-31T07:18:39Z</dcterms:created>
  <dcterms:modified xsi:type="dcterms:W3CDTF">2020-10-31T07:37:16Z</dcterms:modified>
</cp:coreProperties>
</file>
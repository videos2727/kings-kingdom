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FC541-4BA5-47D0-A917-6E5E9B6D54F1}" type="datetimeFigureOut">
              <a:rPr lang="en-AU" smtClean="0"/>
              <a:t>30/10/2020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5191F-9CC3-4748-B4BE-22CCD78E14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15553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FC541-4BA5-47D0-A917-6E5E9B6D54F1}" type="datetimeFigureOut">
              <a:rPr lang="en-AU" smtClean="0"/>
              <a:t>30/10/2020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5191F-9CC3-4748-B4BE-22CCD78E14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14896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FC541-4BA5-47D0-A917-6E5E9B6D54F1}" type="datetimeFigureOut">
              <a:rPr lang="en-AU" smtClean="0"/>
              <a:t>30/10/2020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5191F-9CC3-4748-B4BE-22CCD78E14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2213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FC541-4BA5-47D0-A917-6E5E9B6D54F1}" type="datetimeFigureOut">
              <a:rPr lang="en-AU" smtClean="0"/>
              <a:t>30/10/2020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5191F-9CC3-4748-B4BE-22CCD78E14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05475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FC541-4BA5-47D0-A917-6E5E9B6D54F1}" type="datetimeFigureOut">
              <a:rPr lang="en-AU" smtClean="0"/>
              <a:t>30/10/2020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5191F-9CC3-4748-B4BE-22CCD78E14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333257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FC541-4BA5-47D0-A917-6E5E9B6D54F1}" type="datetimeFigureOut">
              <a:rPr lang="en-AU" smtClean="0"/>
              <a:t>30/10/2020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5191F-9CC3-4748-B4BE-22CCD78E14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02923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FC541-4BA5-47D0-A917-6E5E9B6D54F1}" type="datetimeFigureOut">
              <a:rPr lang="en-AU" smtClean="0"/>
              <a:t>30/10/2020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5191F-9CC3-4748-B4BE-22CCD78E14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25501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FC541-4BA5-47D0-A917-6E5E9B6D54F1}" type="datetimeFigureOut">
              <a:rPr lang="en-AU" smtClean="0"/>
              <a:t>30/10/2020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5191F-9CC3-4748-B4BE-22CCD78E14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181196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FC541-4BA5-47D0-A917-6E5E9B6D54F1}" type="datetimeFigureOut">
              <a:rPr lang="en-AU" smtClean="0"/>
              <a:t>30/10/2020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5191F-9CC3-4748-B4BE-22CCD78E14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69920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FC541-4BA5-47D0-A917-6E5E9B6D54F1}" type="datetimeFigureOut">
              <a:rPr lang="en-AU" smtClean="0"/>
              <a:t>30/10/2020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5191F-9CC3-4748-B4BE-22CCD78E14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37967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FC541-4BA5-47D0-A917-6E5E9B6D54F1}" type="datetimeFigureOut">
              <a:rPr lang="en-AU" smtClean="0"/>
              <a:t>30/10/2020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5191F-9CC3-4748-B4BE-22CCD78E14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0742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9FC541-4BA5-47D0-A917-6E5E9B6D54F1}" type="datetimeFigureOut">
              <a:rPr lang="en-AU" smtClean="0"/>
              <a:t>30/10/2020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95191F-9CC3-4748-B4BE-22CCD78E14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648248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Kinematics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36136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44500" y="432138"/>
            <a:ext cx="113157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Welcome to this Smart Lesson on </a:t>
            </a:r>
            <a:r>
              <a:rPr lang="en-AU" b="1" i="0" dirty="0" smtClean="0">
                <a:solidFill>
                  <a:srgbClr val="FF9505"/>
                </a:solidFill>
                <a:effectLst/>
                <a:latin typeface="Arial" panose="020B0604020202020204" pitchFamily="34" charset="0"/>
              </a:rPr>
              <a:t>kinematics.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After completing this </a:t>
            </a:r>
            <a:r>
              <a:rPr lang="en-AU" b="1" i="0" dirty="0" smtClean="0">
                <a:solidFill>
                  <a:srgbClr val="00A6D5"/>
                </a:solidFill>
                <a:effectLst/>
                <a:latin typeface="Arial" panose="020B0604020202020204" pitchFamily="34" charset="0"/>
              </a:rPr>
              <a:t>Smart Lesson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you will be able to: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Read kinematic problems and identify </a:t>
            </a:r>
            <a:r>
              <a:rPr lang="en-AU" b="1" i="0" dirty="0" smtClean="0">
                <a:solidFill>
                  <a:srgbClr val="00A6D5"/>
                </a:solidFill>
                <a:effectLst/>
                <a:latin typeface="Arial" panose="020B0604020202020204" pitchFamily="34" charset="0"/>
              </a:rPr>
              <a:t>known values.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Identify </a:t>
            </a:r>
            <a:r>
              <a:rPr lang="en-AU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unknown values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select </a:t>
            </a:r>
            <a:r>
              <a:rPr lang="en-AU" b="1" i="0" dirty="0" smtClean="0">
                <a:solidFill>
                  <a:srgbClr val="FB6611"/>
                </a:solidFill>
                <a:effectLst/>
                <a:latin typeface="Arial" panose="020B0604020202020204" pitchFamily="34" charset="0"/>
              </a:rPr>
              <a:t>kinematic equations.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Solve problems using the </a:t>
            </a:r>
            <a:r>
              <a:rPr lang="en-AU" b="1" i="0" dirty="0" smtClean="0">
                <a:solidFill>
                  <a:srgbClr val="FB6611"/>
                </a:solidFill>
                <a:effectLst/>
                <a:latin typeface="Arial" panose="020B0604020202020204" pitchFamily="34" charset="0"/>
              </a:rPr>
              <a:t>kinematic equations.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12424716.37126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586374" y="2717800"/>
            <a:ext cx="5031952" cy="3773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62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35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01700" y="371039"/>
            <a:ext cx="10541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this lesson, we will be learning about </a:t>
            </a:r>
            <a:r>
              <a:rPr lang="en-AU" b="1" i="0" dirty="0" smtClean="0">
                <a:solidFill>
                  <a:srgbClr val="FF9505"/>
                </a:solidFill>
                <a:effectLst/>
                <a:latin typeface="Arial" panose="020B0604020202020204" pitchFamily="34" charset="0"/>
              </a:rPr>
              <a:t>kinematics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the context of weapons of war in medieval times.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medieval period was a </a:t>
            </a:r>
            <a:r>
              <a:rPr lang="en-AU" b="1" i="0" dirty="0" smtClean="0">
                <a:solidFill>
                  <a:srgbClr val="C81F27"/>
                </a:solidFill>
                <a:effectLst/>
                <a:latin typeface="Arial" panose="020B0604020202020204" pitchFamily="34" charset="0"/>
              </a:rPr>
              <a:t>violent period of history,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many different weapons were used during this time.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simple bow and arrow was one of the most effective killing devices as it could be fired from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distance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on the battlefield or from the safety of a castle.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https://www.educationperfect.com/media/content/History/1534291216.922861g/1534291216908-1586966969844383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1975" y="3513137"/>
            <a:ext cx="3800475" cy="2686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7948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46100" y="591235"/>
            <a:ext cx="109347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we record the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motion of an object,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we are usually interested in these </a:t>
            </a:r>
            <a:r>
              <a:rPr lang="en-AU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five quantities of motion:</a:t>
            </a:r>
            <a:endParaRPr lang="en-AU" dirty="0"/>
          </a:p>
        </p:txBody>
      </p:sp>
      <p:sp>
        <p:nvSpPr>
          <p:cNvPr id="5" name="Rectangle 4"/>
          <p:cNvSpPr/>
          <p:nvPr/>
        </p:nvSpPr>
        <p:spPr>
          <a:xfrm>
            <a:off x="4406900" y="1446937"/>
            <a:ext cx="77851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t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•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Initial speed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(vi​)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/>
            </a:r>
            <a:b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</a:b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•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Distance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(d)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/>
            </a:r>
            <a:b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</a:b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• </a:t>
            </a:r>
            <a:r>
              <a:rPr lang="en-AU" b="1" i="0" dirty="0" smtClean="0">
                <a:solidFill>
                  <a:srgbClr val="FB6611"/>
                </a:solidFill>
                <a:effectLst/>
                <a:latin typeface="Arial" panose="020B0604020202020204" pitchFamily="34" charset="0"/>
              </a:rPr>
              <a:t>Acceleration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(a)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font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fontAlgn="t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•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Final speed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(</a:t>
            </a:r>
            <a:r>
              <a:rPr lang="en-AU" b="0" i="0" dirty="0" err="1" smtClean="0">
                <a:solidFill>
                  <a:srgbClr val="444444"/>
                </a:solidFill>
                <a:effectLst/>
                <a:latin typeface="KaTeX_Main"/>
              </a:rPr>
              <a:t>vf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​)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/>
            </a:r>
            <a:b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</a:b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• </a:t>
            </a:r>
            <a:r>
              <a:rPr lang="en-AU" b="1" i="0" dirty="0" smtClean="0">
                <a:solidFill>
                  <a:srgbClr val="FF9505"/>
                </a:solidFill>
                <a:effectLst/>
                <a:latin typeface="Arial" panose="020B0604020202020204" pitchFamily="34" charset="0"/>
              </a:rPr>
              <a:t>Time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(t)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60400" y="3830935"/>
            <a:ext cx="99187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great thing about these quantities is that if we know </a:t>
            </a:r>
            <a:r>
              <a:rPr lang="en-AU" b="1" i="0" dirty="0" smtClean="0">
                <a:solidFill>
                  <a:srgbClr val="00A6D5"/>
                </a:solidFill>
                <a:effectLst/>
                <a:latin typeface="Arial" panose="020B0604020202020204" pitchFamily="34" charset="0"/>
              </a:rPr>
              <a:t>three values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we can work out the values of either of the </a:t>
            </a:r>
            <a:r>
              <a:rPr lang="en-AU" b="1" i="0" dirty="0" smtClean="0">
                <a:solidFill>
                  <a:srgbClr val="FF9505"/>
                </a:solidFill>
                <a:effectLst/>
                <a:latin typeface="Arial" panose="020B0604020202020204" pitchFamily="34" charset="0"/>
              </a:rPr>
              <a:t>other two.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62925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440035"/>
            <a:ext cx="110363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To work out </a:t>
            </a:r>
            <a:r>
              <a:rPr lang="en-AU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unknown values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we use equations called the </a:t>
            </a:r>
            <a:r>
              <a:rPr lang="en-AU" b="1" i="0" dirty="0" smtClean="0">
                <a:solidFill>
                  <a:srgbClr val="FB6611"/>
                </a:solidFill>
                <a:effectLst/>
                <a:latin typeface="Arial" panose="020B0604020202020204" pitchFamily="34" charset="0"/>
              </a:rPr>
              <a:t>kinematic equations.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These equations will be provided to you in your exam.</a:t>
            </a:r>
            <a:endParaRPr lang="en-AU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4812" y="1287462"/>
            <a:ext cx="6186488" cy="5524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750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42900" y="200442"/>
            <a:ext cx="113157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first thing you need to do is list </a:t>
            </a:r>
            <a:r>
              <a:rPr lang="en-AU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known and unknown values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 </a:t>
            </a:r>
            <a:r>
              <a:rPr lang="en-AU" b="0" i="0" dirty="0" err="1" smtClean="0">
                <a:solidFill>
                  <a:srgbClr val="444444"/>
                </a:solidFill>
                <a:effectLst/>
                <a:latin typeface="KaTeX_Main"/>
              </a:rPr>
              <a:t>vf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​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vi​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a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and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Example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Have a look at </a:t>
            </a:r>
            <a:r>
              <a:rPr lang="en-AU" b="1" i="0" dirty="0" smtClean="0">
                <a:solidFill>
                  <a:srgbClr val="FF9505"/>
                </a:solidFill>
                <a:effectLst/>
                <a:latin typeface="Arial" panose="020B0604020202020204" pitchFamily="34" charset="0"/>
              </a:rPr>
              <a:t>the question below.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Read and interpret the question carefully to match up the </a:t>
            </a:r>
            <a:r>
              <a:rPr lang="en-AU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three known values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the list above.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Which </a:t>
            </a:r>
            <a:r>
              <a:rPr lang="en-AU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quantity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mentioned in the question, but not given as a value?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"An arrow being pushed by a bow string accelerates at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160 ms−2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over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0.11 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 The initial speed of the arrow is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0 ms−1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How far does the arrow travel during this time?"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4" name="Picture 2" descr="https://www.educationperfect.com/media/content/Maths/1502256313.972221g/1502256353650-4081888884900184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6975" y="4049712"/>
            <a:ext cx="1724025" cy="2019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62838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800" y="673100"/>
            <a:ext cx="10433496" cy="524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7365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500" y="424240"/>
            <a:ext cx="110871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next thing you need to do is find a </a:t>
            </a:r>
            <a:r>
              <a:rPr lang="en-AU" b="1" i="0" dirty="0" smtClean="0">
                <a:solidFill>
                  <a:srgbClr val="FB6611"/>
                </a:solidFill>
                <a:effectLst/>
                <a:latin typeface="Arial" panose="020B0604020202020204" pitchFamily="34" charset="0"/>
              </a:rPr>
              <a:t>kinematic equation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that contains these </a:t>
            </a:r>
            <a:r>
              <a:rPr lang="en-AU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four values.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Example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"An arrow being pushed by a bow string accelerates at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160 ms−2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over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0.11 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 The initial speed of the arrow is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0 ms−1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How far does the arrow travel during this time?"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Which </a:t>
            </a:r>
            <a:r>
              <a:rPr lang="en-AU" b="1" i="0" dirty="0" smtClean="0">
                <a:solidFill>
                  <a:srgbClr val="FB6611"/>
                </a:solidFill>
                <a:effectLst/>
                <a:latin typeface="Arial" panose="020B0604020202020204" pitchFamily="34" charset="0"/>
              </a:rPr>
              <a:t>equation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below contains all </a:t>
            </a:r>
            <a:r>
              <a:rPr lang="en-AU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four values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mentioned in the question above?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8449" y="3487737"/>
            <a:ext cx="7342469" cy="2836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4837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6587" y="301625"/>
            <a:ext cx="8901113" cy="5825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4514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76300" y="395238"/>
            <a:ext cx="107569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Let's take another look at our </a:t>
            </a:r>
            <a:r>
              <a:rPr lang="en-AU" b="1" i="0" dirty="0" smtClean="0">
                <a:solidFill>
                  <a:srgbClr val="FF9505"/>
                </a:solidFill>
                <a:effectLst/>
                <a:latin typeface="Arial" panose="020B0604020202020204" pitchFamily="34" charset="0"/>
              </a:rPr>
              <a:t>problem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 the previous section: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Example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"An arrow being pushed by a bow string accelerates at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160 ms−2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over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0.11 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 The initial speed of the arrow is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0 ms−1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How far does the arrow travel during this time?"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8231" y="2640012"/>
            <a:ext cx="7793038" cy="4016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1841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58800" y="290036"/>
            <a:ext cx="111252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Solution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"An arrow being pushed by a bow string accelerates at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160 ms−2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over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0.11 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 The initial speed of the arrow is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0 ms−1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How far does the arrow travel during this time?"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4062" y="2024062"/>
            <a:ext cx="8036200" cy="3373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775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3862" y="893762"/>
            <a:ext cx="8625511" cy="4516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83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03300" y="589340"/>
            <a:ext cx="107950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Let's figure out what happens when the arrow from the previous section hits its target.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Example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arrow flies through the air and hits a knight on horseback. The knight is wearing armour which </a:t>
            </a:r>
            <a:r>
              <a:rPr lang="en-AU" b="1" i="0" dirty="0" smtClean="0">
                <a:solidFill>
                  <a:srgbClr val="FB6611"/>
                </a:solidFill>
                <a:effectLst/>
                <a:latin typeface="Arial" panose="020B0604020202020204" pitchFamily="34" charset="0"/>
              </a:rPr>
              <a:t>slows the arrow down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at a rate of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2500 ms−2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 The arrow is travelling at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24 ms−1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when it hits the knight, and must penetrate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10 cm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into the armour to </a:t>
            </a:r>
            <a:r>
              <a:rPr lang="en-AU" b="1" i="0" dirty="0" smtClean="0">
                <a:solidFill>
                  <a:srgbClr val="C81F27"/>
                </a:solidFill>
                <a:effectLst/>
                <a:latin typeface="Arial" panose="020B0604020202020204" pitchFamily="34" charset="0"/>
              </a:rPr>
              <a:t>seriously injure the knight.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7628" y="2781300"/>
            <a:ext cx="3560822" cy="356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8880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" y="0"/>
            <a:ext cx="111252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Solution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arrow flies through the air and hits a knight on horseback. The knight is wearing armour which </a:t>
            </a:r>
            <a:r>
              <a:rPr lang="en-AU" b="1" i="0" dirty="0" smtClean="0">
                <a:solidFill>
                  <a:srgbClr val="FB6611"/>
                </a:solidFill>
                <a:effectLst/>
                <a:latin typeface="Arial" panose="020B0604020202020204" pitchFamily="34" charset="0"/>
              </a:rPr>
              <a:t>slows the arrow down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at a rate of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2500 ms−2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 The arrow is travelling at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24 ms−1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when it hits the knight, and must penetrate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10 cm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into the armour to </a:t>
            </a:r>
            <a:r>
              <a:rPr lang="en-AU" b="1" i="0" dirty="0" smtClean="0">
                <a:solidFill>
                  <a:srgbClr val="C81F27"/>
                </a:solidFill>
                <a:effectLst/>
                <a:latin typeface="Arial" panose="020B0604020202020204" pitchFamily="34" charset="0"/>
              </a:rPr>
              <a:t>seriously injure the knight.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Does the arrow injure the knight?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known values are </a:t>
            </a:r>
            <a:r>
              <a:rPr lang="en-AU" b="1" i="0" dirty="0" smtClean="0">
                <a:solidFill>
                  <a:srgbClr val="FB6611"/>
                </a:solidFill>
                <a:effectLst/>
                <a:latin typeface="Arial" panose="020B0604020202020204" pitchFamily="34" charset="0"/>
              </a:rPr>
              <a:t>acceleration,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initial speed,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final speed.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unknown value is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distance.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812" y="2973387"/>
            <a:ext cx="10112375" cy="3729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2848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</Words>
  <Application>Microsoft Office PowerPoint</Application>
  <PresentationFormat>Widescreen</PresentationFormat>
  <Paragraphs>55</Paragraphs>
  <Slides>14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KaTeX_Main</vt:lpstr>
      <vt:lpstr>Office Theme</vt:lpstr>
      <vt:lpstr>Kinematics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Kinematics</dc:title>
  <dc:creator>Joseph D'cruz</dc:creator>
  <cp:lastModifiedBy>Joseph D'cruz</cp:lastModifiedBy>
  <cp:revision>2</cp:revision>
  <dcterms:created xsi:type="dcterms:W3CDTF">2020-10-30T10:50:12Z</dcterms:created>
  <dcterms:modified xsi:type="dcterms:W3CDTF">2020-10-30T10:50:25Z</dcterms:modified>
</cp:coreProperties>
</file>
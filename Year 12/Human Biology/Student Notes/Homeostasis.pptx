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78" r:id="rId5"/>
    <p:sldId id="263" r:id="rId6"/>
    <p:sldId id="264" r:id="rId7"/>
    <p:sldId id="277" r:id="rId8"/>
    <p:sldId id="259" r:id="rId9"/>
    <p:sldId id="276" r:id="rId10"/>
    <p:sldId id="265" r:id="rId11"/>
    <p:sldId id="267" r:id="rId12"/>
    <p:sldId id="266" r:id="rId13"/>
    <p:sldId id="260" r:id="rId14"/>
    <p:sldId id="268" r:id="rId15"/>
    <p:sldId id="269" r:id="rId16"/>
    <p:sldId id="270" r:id="rId17"/>
    <p:sldId id="271" r:id="rId18"/>
    <p:sldId id="261" r:id="rId19"/>
    <p:sldId id="274" r:id="rId20"/>
    <p:sldId id="275" r:id="rId21"/>
    <p:sldId id="272" r:id="rId22"/>
    <p:sldId id="273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HOMEOSTASIS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Negative Feedback Loops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587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Negative vs Positive Loops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1060" y="1766831"/>
            <a:ext cx="5216325" cy="1594555"/>
          </a:xfrm>
        </p:spPr>
        <p:txBody>
          <a:bodyPr>
            <a:normAutofit/>
          </a:bodyPr>
          <a:lstStyle/>
          <a:p>
            <a:r>
              <a:rPr lang="en-AU" dirty="0" smtClean="0"/>
              <a:t>Positive </a:t>
            </a:r>
            <a:r>
              <a:rPr lang="en-AU" dirty="0"/>
              <a:t>feedback loop:  self-amplifying cycle where a physiological change leads to a greater change in the same </a:t>
            </a:r>
            <a:r>
              <a:rPr lang="en-AU" dirty="0" smtClean="0"/>
              <a:t>direction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39" t="30395" r="64247" b="16584"/>
          <a:stretch/>
        </p:blipFill>
        <p:spPr bwMode="auto">
          <a:xfrm>
            <a:off x="2107953" y="1712890"/>
            <a:ext cx="4180333" cy="351540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 descr="Image result for positive feedback loop steps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9595" y="3206839"/>
            <a:ext cx="4125018" cy="332275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Content Placeholder 2"/>
          <p:cNvSpPr txBox="1">
            <a:spLocks/>
          </p:cNvSpPr>
          <p:nvPr/>
        </p:nvSpPr>
        <p:spPr>
          <a:xfrm>
            <a:off x="1622983" y="5228298"/>
            <a:ext cx="4948077" cy="1301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Negative feedback: regulatory mechanism in which a stimulus causes an opposite output in order to maintain an ideal level of regulation 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242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THERMOREGULATION</a:t>
            </a:r>
            <a:endParaRPr lang="en-US" dirty="0"/>
          </a:p>
        </p:txBody>
      </p:sp>
      <p:pic>
        <p:nvPicPr>
          <p:cNvPr id="4" name="Picture 3" descr="biology humans homeostasis 43232.jp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8" t="23117" r="9332" b="3889"/>
          <a:stretch/>
        </p:blipFill>
        <p:spPr bwMode="auto">
          <a:xfrm>
            <a:off x="2592925" y="1429554"/>
            <a:ext cx="7366715" cy="477806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5323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HEAT LOSS &amp; HEAT GAIN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5938" y="2033789"/>
            <a:ext cx="9585660" cy="4391515"/>
          </a:xfrm>
        </p:spPr>
        <p:txBody>
          <a:bodyPr>
            <a:normAutofit lnSpcReduction="10000"/>
          </a:bodyPr>
          <a:lstStyle/>
          <a:p>
            <a:r>
              <a:rPr lang="en-AU" dirty="0" smtClean="0"/>
              <a:t>Heat loss: responded to by sympathetic nerves (autonomic)</a:t>
            </a:r>
          </a:p>
          <a:p>
            <a:pPr lvl="1"/>
            <a:r>
              <a:rPr lang="en-AU" dirty="0" smtClean="0"/>
              <a:t>Wind </a:t>
            </a:r>
          </a:p>
          <a:p>
            <a:pPr lvl="1"/>
            <a:r>
              <a:rPr lang="en-AU" dirty="0" smtClean="0"/>
              <a:t>Cold external temperatures </a:t>
            </a:r>
          </a:p>
          <a:p>
            <a:pPr lvl="1"/>
            <a:r>
              <a:rPr lang="en-AU" dirty="0" smtClean="0"/>
              <a:t>Not enough clothing </a:t>
            </a:r>
          </a:p>
          <a:p>
            <a:r>
              <a:rPr lang="en-AU" dirty="0" smtClean="0"/>
              <a:t>Heat gain: responded to by parasympathetic nerves </a:t>
            </a:r>
          </a:p>
          <a:p>
            <a:pPr lvl="1"/>
            <a:r>
              <a:rPr lang="en-AU" dirty="0" smtClean="0"/>
              <a:t>Warmer environment (humidity)</a:t>
            </a:r>
          </a:p>
          <a:p>
            <a:pPr lvl="1"/>
            <a:r>
              <a:rPr lang="en-AU" dirty="0" smtClean="0"/>
              <a:t>Excessive fat deposits (harder to lose heat)</a:t>
            </a:r>
          </a:p>
          <a:p>
            <a:pPr lvl="1"/>
            <a:r>
              <a:rPr lang="en-AU" dirty="0" smtClean="0"/>
              <a:t>Excessive clothing (traps heat) </a:t>
            </a:r>
          </a:p>
          <a:p>
            <a:r>
              <a:rPr lang="en-AU" dirty="0" smtClean="0"/>
              <a:t>Hyperthermia: body temperature above normal </a:t>
            </a:r>
          </a:p>
          <a:p>
            <a:r>
              <a:rPr lang="en-AU" dirty="0" smtClean="0"/>
              <a:t>Hypothermia: body temperature below normal </a:t>
            </a:r>
          </a:p>
          <a:p>
            <a:pPr lvl="1"/>
            <a:r>
              <a:rPr lang="en-AU" dirty="0" smtClean="0"/>
              <a:t>Mild – shivering, vasoconstriction, hypertension etc.</a:t>
            </a:r>
          </a:p>
          <a:p>
            <a:pPr lvl="1"/>
            <a:r>
              <a:rPr lang="en-AU" dirty="0" smtClean="0"/>
              <a:t>Severe – mental confusion, inability to speak, amnesia, death</a:t>
            </a:r>
            <a:endParaRPr lang="en-US" altLang="en-US" dirty="0">
              <a:solidFill>
                <a:srgbClr val="000000"/>
              </a:solidFill>
              <a:ea typeface="MS PGothic" pitchFamily="34" charset="-128"/>
              <a:sym typeface="Arial" pitchFamily="34" charset="0"/>
            </a:endParaRPr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59436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LOOP (NERVOUS)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Stimulus: Increase Body Temperature </a:t>
            </a:r>
          </a:p>
          <a:p>
            <a:r>
              <a:rPr lang="en-AU" dirty="0" smtClean="0"/>
              <a:t>Receptor: Thermoreceptors (hypothalamus) </a:t>
            </a:r>
          </a:p>
          <a:p>
            <a:r>
              <a:rPr lang="en-AU" dirty="0" smtClean="0"/>
              <a:t>Message: Nerve Impulse </a:t>
            </a:r>
          </a:p>
          <a:p>
            <a:r>
              <a:rPr lang="en-AU" dirty="0" smtClean="0"/>
              <a:t>Modulator:  Hypothalamus (interprets info + integrates response)</a:t>
            </a:r>
          </a:p>
          <a:p>
            <a:r>
              <a:rPr lang="en-AU" dirty="0" smtClean="0"/>
              <a:t>Message: Nerve Impulse </a:t>
            </a:r>
          </a:p>
          <a:p>
            <a:r>
              <a:rPr lang="en-AU" dirty="0" smtClean="0"/>
              <a:t>Effector: Sweat Glands, Blood Vessels </a:t>
            </a:r>
          </a:p>
          <a:p>
            <a:r>
              <a:rPr lang="en-AU" dirty="0" smtClean="0"/>
              <a:t>Response: More sweat secreted (evaporation of sweat = cooling), blood vessels dilate – vasodilation (more heat flow to surface of skin – heat lost via radiation, convection or conduction)</a:t>
            </a:r>
          </a:p>
          <a:p>
            <a:r>
              <a:rPr lang="en-AU" dirty="0" smtClean="0"/>
              <a:t>Feedback: Decrease Body Temperature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50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LOOP (HORMONES)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Stimulus: Increase Body Temperature </a:t>
            </a:r>
          </a:p>
          <a:p>
            <a:r>
              <a:rPr lang="en-AU" dirty="0"/>
              <a:t>Receptor: Thermoreceptors (hypothalamus) </a:t>
            </a:r>
          </a:p>
          <a:p>
            <a:r>
              <a:rPr lang="en-AU" dirty="0"/>
              <a:t>Message: </a:t>
            </a:r>
            <a:r>
              <a:rPr lang="en-AU" dirty="0" smtClean="0"/>
              <a:t>Nerve </a:t>
            </a:r>
            <a:r>
              <a:rPr lang="en-AU" dirty="0"/>
              <a:t>Impulse </a:t>
            </a:r>
          </a:p>
          <a:p>
            <a:r>
              <a:rPr lang="en-AU" dirty="0"/>
              <a:t>Modulator:  Hypothalamus (interprets info + integrates response)</a:t>
            </a:r>
          </a:p>
          <a:p>
            <a:r>
              <a:rPr lang="en-AU" dirty="0"/>
              <a:t>Message: </a:t>
            </a:r>
            <a:r>
              <a:rPr lang="en-AU" dirty="0" smtClean="0"/>
              <a:t>Sympathetic Nerve </a:t>
            </a:r>
            <a:r>
              <a:rPr lang="en-AU" dirty="0"/>
              <a:t>Impulse </a:t>
            </a:r>
          </a:p>
          <a:p>
            <a:r>
              <a:rPr lang="en-AU" dirty="0"/>
              <a:t>Effector</a:t>
            </a:r>
            <a:r>
              <a:rPr lang="en-AU" dirty="0" smtClean="0"/>
              <a:t>: Adrenal Medulla (inhibit secretion of Adrenaline/Noradrenaline), Anterior Pituitary [inhibit release TSH to Thyroid Gland (inhibit thyroxine release)]</a:t>
            </a:r>
            <a:endParaRPr lang="en-AU" dirty="0"/>
          </a:p>
          <a:p>
            <a:r>
              <a:rPr lang="en-AU" dirty="0"/>
              <a:t>Response</a:t>
            </a:r>
            <a:r>
              <a:rPr lang="en-AU" dirty="0" smtClean="0"/>
              <a:t>: Decrease metabolic rate </a:t>
            </a:r>
          </a:p>
          <a:p>
            <a:r>
              <a:rPr lang="en-AU" dirty="0" smtClean="0"/>
              <a:t>Feedback</a:t>
            </a:r>
            <a:r>
              <a:rPr lang="en-AU" dirty="0"/>
              <a:t>: Decrease Body Temperature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348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74" t="14310" r="58552" b="19086"/>
          <a:stretch/>
        </p:blipFill>
        <p:spPr bwMode="auto">
          <a:xfrm>
            <a:off x="2910624" y="624109"/>
            <a:ext cx="7237928" cy="6030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8535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353654"/>
            <a:ext cx="8911687" cy="959991"/>
          </a:xfrm>
        </p:spPr>
        <p:txBody>
          <a:bodyPr/>
          <a:lstStyle/>
          <a:p>
            <a:r>
              <a:rPr lang="en-AU" dirty="0" smtClean="0"/>
              <a:t>BODY FLUID CONCENTRATION</a:t>
            </a:r>
            <a:endParaRPr lang="en-US" dirty="0"/>
          </a:p>
        </p:txBody>
      </p:sp>
      <p:pic>
        <p:nvPicPr>
          <p:cNvPr id="4" name="Picture 3" descr="Image result for body fluid feedback loop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29"/>
          <a:stretch/>
        </p:blipFill>
        <p:spPr bwMode="auto">
          <a:xfrm>
            <a:off x="2592925" y="1313645"/>
            <a:ext cx="8583243" cy="50450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9077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FLUID BALANCE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Fluid gained through:</a:t>
            </a:r>
          </a:p>
          <a:p>
            <a:pPr lvl="1"/>
            <a:r>
              <a:rPr lang="en-AU" dirty="0" smtClean="0"/>
              <a:t>Food + water intake </a:t>
            </a:r>
          </a:p>
          <a:p>
            <a:r>
              <a:rPr lang="en-AU" dirty="0" smtClean="0"/>
              <a:t>Fluid loss through: </a:t>
            </a:r>
          </a:p>
          <a:p>
            <a:pPr lvl="1"/>
            <a:r>
              <a:rPr lang="en-AU" dirty="0" smtClean="0"/>
              <a:t>Breathing, sweating, urine </a:t>
            </a:r>
          </a:p>
          <a:p>
            <a:pPr>
              <a:tabLst>
                <a:tab pos="721047" algn="l"/>
                <a:tab pos="1045853" algn="l"/>
                <a:tab pos="1155238" algn="l"/>
              </a:tabLst>
            </a:pPr>
            <a:r>
              <a:rPr lang="en-US" altLang="en-US" dirty="0" smtClean="0">
                <a:solidFill>
                  <a:schemeClr val="tx1"/>
                </a:solidFill>
              </a:rPr>
              <a:t>Intracellular fluid: 60-66% of the water in the body (within body's cells)</a:t>
            </a:r>
          </a:p>
          <a:p>
            <a:pPr>
              <a:tabLst>
                <a:tab pos="721047" algn="l"/>
                <a:tab pos="1045853" algn="l"/>
                <a:tab pos="1155238" algn="l"/>
              </a:tabLst>
            </a:pPr>
            <a:r>
              <a:rPr lang="en-US" altLang="en-US" dirty="0" smtClean="0">
                <a:solidFill>
                  <a:schemeClr val="tx1"/>
                </a:solidFill>
              </a:rPr>
              <a:t>Extracellular fluid: rest of body's water (30-33%)</a:t>
            </a:r>
          </a:p>
          <a:p>
            <a:pPr lvl="1">
              <a:tabLst>
                <a:tab pos="721047" algn="l"/>
                <a:tab pos="1045853" algn="l"/>
                <a:tab pos="1155238" algn="l"/>
              </a:tabLst>
            </a:pPr>
            <a:r>
              <a:rPr lang="en-US" altLang="en-US" dirty="0" smtClean="0">
                <a:solidFill>
                  <a:schemeClr val="tx1"/>
                </a:solidFill>
              </a:rPr>
              <a:t>Plasma (20%)</a:t>
            </a:r>
          </a:p>
          <a:p>
            <a:pPr lvl="1">
              <a:tabLst>
                <a:tab pos="721047" algn="l"/>
                <a:tab pos="1045853" algn="l"/>
                <a:tab pos="1155238" algn="l"/>
              </a:tabLst>
            </a:pPr>
            <a:r>
              <a:rPr lang="en-US" altLang="en-US" dirty="0" smtClean="0">
                <a:solidFill>
                  <a:schemeClr val="tx1"/>
                </a:solidFill>
              </a:rPr>
              <a:t>Interstitial Fluid (80%)</a:t>
            </a:r>
            <a:endParaRPr lang="en-US" altLang="en-US" dirty="0">
              <a:solidFill>
                <a:schemeClr val="tx1"/>
              </a:solidFill>
            </a:endParaRPr>
          </a:p>
          <a:p>
            <a:endParaRPr lang="en-A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1980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LOOP (HORMONES)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Stimulus: Increase </a:t>
            </a:r>
            <a:r>
              <a:rPr lang="en-AU" dirty="0" smtClean="0"/>
              <a:t>Osmotic Pressure (decrease water concentration) </a:t>
            </a:r>
            <a:endParaRPr lang="en-AU" dirty="0"/>
          </a:p>
          <a:p>
            <a:r>
              <a:rPr lang="en-AU" dirty="0"/>
              <a:t>Receptor: </a:t>
            </a:r>
            <a:r>
              <a:rPr lang="en-AU" dirty="0" smtClean="0"/>
              <a:t>Osmoreceptors (hypothalamus)</a:t>
            </a:r>
            <a:endParaRPr lang="en-AU" dirty="0"/>
          </a:p>
          <a:p>
            <a:r>
              <a:rPr lang="en-AU" dirty="0" smtClean="0"/>
              <a:t>Modulator</a:t>
            </a:r>
            <a:r>
              <a:rPr lang="en-AU" dirty="0"/>
              <a:t>:  </a:t>
            </a:r>
            <a:r>
              <a:rPr lang="en-AU" dirty="0" smtClean="0"/>
              <a:t>Posterior Lobe (release ADH) </a:t>
            </a:r>
            <a:endParaRPr lang="en-AU" dirty="0"/>
          </a:p>
          <a:p>
            <a:r>
              <a:rPr lang="en-AU" dirty="0" smtClean="0"/>
              <a:t>Effector</a:t>
            </a:r>
            <a:r>
              <a:rPr lang="en-AU" dirty="0"/>
              <a:t>: </a:t>
            </a:r>
            <a:r>
              <a:rPr lang="en-AU" dirty="0" smtClean="0"/>
              <a:t>Distal </a:t>
            </a:r>
            <a:r>
              <a:rPr lang="en-AU" dirty="0"/>
              <a:t>C</a:t>
            </a:r>
            <a:r>
              <a:rPr lang="en-AU" dirty="0" smtClean="0"/>
              <a:t>onvoluted Tubule + Collecting Duct of nephron in kidney </a:t>
            </a:r>
            <a:endParaRPr lang="en-AU" dirty="0"/>
          </a:p>
          <a:p>
            <a:r>
              <a:rPr lang="en-AU" dirty="0"/>
              <a:t>Response: </a:t>
            </a:r>
            <a:r>
              <a:rPr lang="en-AU" dirty="0" smtClean="0"/>
              <a:t>Increase permeability, Increase reabsorption of water into blood</a:t>
            </a:r>
            <a:endParaRPr lang="en-AU" dirty="0"/>
          </a:p>
          <a:p>
            <a:r>
              <a:rPr lang="en-AU" dirty="0"/>
              <a:t>Feedback: Decrease </a:t>
            </a:r>
            <a:r>
              <a:rPr lang="en-AU" dirty="0" smtClean="0"/>
              <a:t>Osmotic Pressure (increase water concentration) </a:t>
            </a:r>
            <a:endParaRPr lang="en-A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352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LOOP (HORMONES)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Stimulus: </a:t>
            </a:r>
            <a:r>
              <a:rPr lang="en-AU" dirty="0" smtClean="0"/>
              <a:t>Decrease Osmotic </a:t>
            </a:r>
            <a:r>
              <a:rPr lang="en-AU" dirty="0"/>
              <a:t>Pressure </a:t>
            </a:r>
            <a:r>
              <a:rPr lang="en-AU" dirty="0" smtClean="0"/>
              <a:t>(increase water </a:t>
            </a:r>
            <a:r>
              <a:rPr lang="en-AU" dirty="0"/>
              <a:t>concentration) </a:t>
            </a:r>
          </a:p>
          <a:p>
            <a:r>
              <a:rPr lang="en-AU" dirty="0"/>
              <a:t>Receptor: Osmoreceptors (hypothalamus)</a:t>
            </a:r>
          </a:p>
          <a:p>
            <a:r>
              <a:rPr lang="en-AU" dirty="0"/>
              <a:t>Modulator:  Posterior Lobe </a:t>
            </a:r>
            <a:r>
              <a:rPr lang="en-AU" dirty="0" smtClean="0"/>
              <a:t>(inhibit release ADH</a:t>
            </a:r>
            <a:r>
              <a:rPr lang="en-AU" dirty="0"/>
              <a:t>) </a:t>
            </a:r>
          </a:p>
          <a:p>
            <a:r>
              <a:rPr lang="en-AU" dirty="0"/>
              <a:t>Effector: Distal Convoluted Tubule + Collecting Duct of nephron in kidney </a:t>
            </a:r>
          </a:p>
          <a:p>
            <a:r>
              <a:rPr lang="en-AU" dirty="0"/>
              <a:t>Response: </a:t>
            </a:r>
            <a:r>
              <a:rPr lang="en-AU" dirty="0" smtClean="0"/>
              <a:t>Decrease permeability</a:t>
            </a:r>
            <a:r>
              <a:rPr lang="en-AU" dirty="0"/>
              <a:t>, </a:t>
            </a:r>
            <a:r>
              <a:rPr lang="en-AU" dirty="0" smtClean="0"/>
              <a:t>Decrease reabsorption </a:t>
            </a:r>
            <a:r>
              <a:rPr lang="en-AU" dirty="0"/>
              <a:t>of water into blood</a:t>
            </a:r>
          </a:p>
          <a:p>
            <a:r>
              <a:rPr lang="en-AU" dirty="0"/>
              <a:t>Feedback: </a:t>
            </a:r>
            <a:r>
              <a:rPr lang="en-AU" dirty="0" smtClean="0"/>
              <a:t>Increase Osmotic </a:t>
            </a:r>
            <a:r>
              <a:rPr lang="en-AU" dirty="0"/>
              <a:t>Pressure </a:t>
            </a:r>
            <a:r>
              <a:rPr lang="en-AU" dirty="0" smtClean="0"/>
              <a:t>(decrease water </a:t>
            </a:r>
            <a:r>
              <a:rPr lang="en-AU" dirty="0"/>
              <a:t>concentration)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754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LOOP (CONSCIOUS)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Stimulus: Increase Osmotic Pressure (decrease water concentration) </a:t>
            </a:r>
          </a:p>
          <a:p>
            <a:r>
              <a:rPr lang="en-AU" dirty="0"/>
              <a:t>Receptor: Osmoreceptors </a:t>
            </a:r>
            <a:r>
              <a:rPr lang="en-AU" dirty="0" smtClean="0"/>
              <a:t>(thirst centre of hypothalamus</a:t>
            </a:r>
            <a:r>
              <a:rPr lang="en-AU" dirty="0"/>
              <a:t>)</a:t>
            </a:r>
          </a:p>
          <a:p>
            <a:r>
              <a:rPr lang="en-AU" dirty="0"/>
              <a:t>Modulator:  </a:t>
            </a:r>
            <a:r>
              <a:rPr lang="en-AU" dirty="0" smtClean="0"/>
              <a:t>Modulator</a:t>
            </a:r>
          </a:p>
          <a:p>
            <a:r>
              <a:rPr lang="en-AU" dirty="0" smtClean="0"/>
              <a:t>Message: Nerve Impulse </a:t>
            </a:r>
            <a:endParaRPr lang="en-AU" dirty="0"/>
          </a:p>
          <a:p>
            <a:r>
              <a:rPr lang="en-AU" dirty="0"/>
              <a:t>Effector: </a:t>
            </a:r>
            <a:r>
              <a:rPr lang="en-AU" dirty="0" smtClean="0"/>
              <a:t>Cerebrum – conscious thought (person feels thirsty) </a:t>
            </a:r>
            <a:endParaRPr lang="en-AU" dirty="0"/>
          </a:p>
          <a:p>
            <a:r>
              <a:rPr lang="en-AU" dirty="0"/>
              <a:t>Response: </a:t>
            </a:r>
            <a:r>
              <a:rPr lang="en-AU" dirty="0" smtClean="0"/>
              <a:t>Thirst Reflex – activates drinking, water absorbed into blood from Alimentary Canal </a:t>
            </a:r>
            <a:endParaRPr lang="en-AU" dirty="0"/>
          </a:p>
          <a:p>
            <a:r>
              <a:rPr lang="en-AU" dirty="0"/>
              <a:t>Feedback: Decrease Osmotic Pressure (increase water concentration)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135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BLOOD GLUCOSE CONCENTRATION </a:t>
            </a:r>
            <a:endParaRPr lang="en-US" dirty="0"/>
          </a:p>
        </p:txBody>
      </p:sp>
      <p:pic>
        <p:nvPicPr>
          <p:cNvPr id="3074" name="Picture 2" descr="Image result for blood glucose feedbac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1" t="1023" r="1385" b="3878"/>
          <a:stretch/>
        </p:blipFill>
        <p:spPr bwMode="auto">
          <a:xfrm>
            <a:off x="2592925" y="1421268"/>
            <a:ext cx="6452316" cy="5005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3435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LOOP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Stimulus: Increase </a:t>
            </a:r>
            <a:r>
              <a:rPr lang="en-AU" dirty="0" smtClean="0"/>
              <a:t>Glucose Level </a:t>
            </a:r>
            <a:endParaRPr lang="en-AU" dirty="0"/>
          </a:p>
          <a:p>
            <a:r>
              <a:rPr lang="en-AU" dirty="0"/>
              <a:t>Receptor</a:t>
            </a:r>
            <a:r>
              <a:rPr lang="en-AU" dirty="0" smtClean="0"/>
              <a:t>: B-cells (Islets of Langerhans in Pancreas) </a:t>
            </a:r>
            <a:endParaRPr lang="en-AU" dirty="0"/>
          </a:p>
          <a:p>
            <a:r>
              <a:rPr lang="en-AU" dirty="0"/>
              <a:t>Modulator:  </a:t>
            </a:r>
            <a:r>
              <a:rPr lang="en-AU" dirty="0" smtClean="0"/>
              <a:t>B-cells </a:t>
            </a:r>
          </a:p>
          <a:p>
            <a:r>
              <a:rPr lang="en-AU" dirty="0" smtClean="0"/>
              <a:t>Message: Insulin released </a:t>
            </a:r>
          </a:p>
          <a:p>
            <a:r>
              <a:rPr lang="en-AU" dirty="0" smtClean="0"/>
              <a:t>Effector: Liver, Body Cells, Fat Cells </a:t>
            </a:r>
          </a:p>
          <a:p>
            <a:r>
              <a:rPr lang="en-AU" dirty="0" smtClean="0"/>
              <a:t>Response</a:t>
            </a:r>
            <a:r>
              <a:rPr lang="en-AU" dirty="0"/>
              <a:t>: </a:t>
            </a:r>
            <a:r>
              <a:rPr lang="en-AU" dirty="0" smtClean="0"/>
              <a:t>Glycogenesis </a:t>
            </a:r>
            <a:r>
              <a:rPr lang="en-AU" dirty="0"/>
              <a:t>– glucose </a:t>
            </a:r>
            <a:r>
              <a:rPr lang="en-AU" dirty="0">
                <a:sym typeface="Wingdings" panose="05000000000000000000" pitchFamily="2" charset="2"/>
              </a:rPr>
              <a:t> </a:t>
            </a:r>
            <a:r>
              <a:rPr lang="en-AU" dirty="0" smtClean="0">
                <a:sym typeface="Wingdings" panose="05000000000000000000" pitchFamily="2" charset="2"/>
              </a:rPr>
              <a:t>glycogen</a:t>
            </a:r>
          </a:p>
          <a:p>
            <a:pPr marL="0" indent="0">
              <a:buNone/>
            </a:pPr>
            <a:r>
              <a:rPr lang="en-AU" dirty="0">
                <a:sym typeface="Wingdings" panose="05000000000000000000" pitchFamily="2" charset="2"/>
              </a:rPr>
              <a:t> </a:t>
            </a:r>
            <a:r>
              <a:rPr lang="en-AU" dirty="0" smtClean="0">
                <a:sym typeface="Wingdings" panose="05000000000000000000" pitchFamily="2" charset="2"/>
              </a:rPr>
              <a:t>                       Increase uptake of Glucose </a:t>
            </a:r>
          </a:p>
          <a:p>
            <a:pPr marL="0" indent="0">
              <a:buNone/>
            </a:pPr>
            <a:r>
              <a:rPr lang="en-AU" dirty="0">
                <a:sym typeface="Wingdings" panose="05000000000000000000" pitchFamily="2" charset="2"/>
              </a:rPr>
              <a:t> </a:t>
            </a:r>
            <a:r>
              <a:rPr lang="en-AU" dirty="0" smtClean="0">
                <a:sym typeface="Wingdings" panose="05000000000000000000" pitchFamily="2" charset="2"/>
              </a:rPr>
              <a:t>                       </a:t>
            </a:r>
            <a:r>
              <a:rPr lang="en-AU" dirty="0" err="1" smtClean="0">
                <a:sym typeface="Wingdings" panose="05000000000000000000" pitchFamily="2" charset="2"/>
              </a:rPr>
              <a:t>Lipogenesis</a:t>
            </a:r>
            <a:r>
              <a:rPr lang="en-AU" dirty="0" smtClean="0">
                <a:sym typeface="Wingdings" panose="05000000000000000000" pitchFamily="2" charset="2"/>
              </a:rPr>
              <a:t> ( glucose  fats)</a:t>
            </a:r>
            <a:endParaRPr lang="en-AU" dirty="0" smtClean="0"/>
          </a:p>
          <a:p>
            <a:r>
              <a:rPr lang="en-AU" dirty="0" smtClean="0"/>
              <a:t>Feedback: Decrease Glucose Level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221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LOOP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Stimulus: </a:t>
            </a:r>
            <a:r>
              <a:rPr lang="en-AU" dirty="0" smtClean="0"/>
              <a:t>Decrease Glucose </a:t>
            </a:r>
            <a:r>
              <a:rPr lang="en-AU" dirty="0"/>
              <a:t>Level </a:t>
            </a:r>
          </a:p>
          <a:p>
            <a:r>
              <a:rPr lang="en-AU" dirty="0"/>
              <a:t>Receptor: </a:t>
            </a:r>
            <a:r>
              <a:rPr lang="en-AU" dirty="0" smtClean="0"/>
              <a:t>A-cells </a:t>
            </a:r>
            <a:r>
              <a:rPr lang="en-AU" dirty="0"/>
              <a:t>(Islets of Langerhans in Pancreas) </a:t>
            </a:r>
          </a:p>
          <a:p>
            <a:r>
              <a:rPr lang="en-AU" dirty="0"/>
              <a:t>Modulator:  </a:t>
            </a:r>
            <a:r>
              <a:rPr lang="en-AU" dirty="0" smtClean="0"/>
              <a:t>A-cells </a:t>
            </a:r>
            <a:endParaRPr lang="en-AU" dirty="0"/>
          </a:p>
          <a:p>
            <a:r>
              <a:rPr lang="en-AU" dirty="0"/>
              <a:t>Message: </a:t>
            </a:r>
            <a:r>
              <a:rPr lang="en-AU" dirty="0" smtClean="0"/>
              <a:t>Glucagon released </a:t>
            </a:r>
            <a:endParaRPr lang="en-AU" dirty="0"/>
          </a:p>
          <a:p>
            <a:r>
              <a:rPr lang="en-AU" dirty="0"/>
              <a:t>Effector: Liver, </a:t>
            </a:r>
            <a:r>
              <a:rPr lang="en-AU" dirty="0" smtClean="0"/>
              <a:t>Fat </a:t>
            </a:r>
            <a:r>
              <a:rPr lang="en-AU" dirty="0"/>
              <a:t>Cells </a:t>
            </a:r>
          </a:p>
          <a:p>
            <a:r>
              <a:rPr lang="en-AU" dirty="0"/>
              <a:t>Response: </a:t>
            </a:r>
            <a:r>
              <a:rPr lang="en-AU" dirty="0" err="1" smtClean="0"/>
              <a:t>Glycogenolysis</a:t>
            </a:r>
            <a:r>
              <a:rPr lang="en-AU" dirty="0" smtClean="0"/>
              <a:t> (glycogen </a:t>
            </a:r>
            <a:r>
              <a:rPr lang="en-AU" dirty="0" smtClean="0">
                <a:sym typeface="Wingdings" panose="05000000000000000000" pitchFamily="2" charset="2"/>
              </a:rPr>
              <a:t> glucose)</a:t>
            </a:r>
            <a:endParaRPr lang="en-AU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AU" dirty="0">
                <a:sym typeface="Wingdings" panose="05000000000000000000" pitchFamily="2" charset="2"/>
              </a:rPr>
              <a:t>                        </a:t>
            </a:r>
            <a:r>
              <a:rPr lang="en-AU" dirty="0" smtClean="0">
                <a:sym typeface="Wingdings" panose="05000000000000000000" pitchFamily="2" charset="2"/>
              </a:rPr>
              <a:t>Gluconeogenesis (protein  glucose)</a:t>
            </a:r>
            <a:endParaRPr lang="en-AU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AU" dirty="0">
                <a:sym typeface="Wingdings" panose="05000000000000000000" pitchFamily="2" charset="2"/>
              </a:rPr>
              <a:t>                        </a:t>
            </a:r>
            <a:r>
              <a:rPr lang="en-AU" dirty="0" smtClean="0">
                <a:sym typeface="Wingdings" panose="05000000000000000000" pitchFamily="2" charset="2"/>
              </a:rPr>
              <a:t> Fats  glucose</a:t>
            </a:r>
            <a:endParaRPr lang="en-AU" dirty="0"/>
          </a:p>
          <a:p>
            <a:r>
              <a:rPr lang="en-AU" dirty="0"/>
              <a:t>Feedback: </a:t>
            </a:r>
            <a:r>
              <a:rPr lang="en-AU" dirty="0" smtClean="0"/>
              <a:t>Increase Glucose </a:t>
            </a:r>
            <a:r>
              <a:rPr lang="en-AU" dirty="0"/>
              <a:t>Level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641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LOOP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Stimulus: </a:t>
            </a:r>
            <a:r>
              <a:rPr lang="en-AU" dirty="0" smtClean="0"/>
              <a:t>Decrease Glucose </a:t>
            </a:r>
            <a:r>
              <a:rPr lang="en-AU" dirty="0"/>
              <a:t>Level </a:t>
            </a:r>
          </a:p>
          <a:p>
            <a:r>
              <a:rPr lang="en-AU" dirty="0"/>
              <a:t>Receptor: A</a:t>
            </a:r>
            <a:r>
              <a:rPr lang="en-AU" dirty="0" smtClean="0"/>
              <a:t>-cells </a:t>
            </a:r>
            <a:r>
              <a:rPr lang="en-AU" dirty="0"/>
              <a:t>(Islets of Langerhans in Pancreas) </a:t>
            </a:r>
          </a:p>
          <a:p>
            <a:r>
              <a:rPr lang="en-AU" dirty="0"/>
              <a:t>Modulator:  </a:t>
            </a:r>
            <a:r>
              <a:rPr lang="en-AU" dirty="0" smtClean="0"/>
              <a:t>Adrenal Cortex</a:t>
            </a:r>
            <a:endParaRPr lang="en-AU" dirty="0"/>
          </a:p>
          <a:p>
            <a:r>
              <a:rPr lang="en-AU" dirty="0"/>
              <a:t>Message: </a:t>
            </a:r>
            <a:r>
              <a:rPr lang="en-AU" dirty="0" smtClean="0"/>
              <a:t>Cortisol released </a:t>
            </a:r>
            <a:endParaRPr lang="en-AU" dirty="0"/>
          </a:p>
          <a:p>
            <a:r>
              <a:rPr lang="en-AU" dirty="0"/>
              <a:t>Effector: Liver, </a:t>
            </a:r>
            <a:r>
              <a:rPr lang="en-AU" dirty="0" smtClean="0"/>
              <a:t>Muscles </a:t>
            </a:r>
          </a:p>
          <a:p>
            <a:r>
              <a:rPr lang="en-AU" dirty="0" smtClean="0"/>
              <a:t>Response</a:t>
            </a:r>
            <a:r>
              <a:rPr lang="en-AU" dirty="0"/>
              <a:t>: </a:t>
            </a:r>
            <a:r>
              <a:rPr lang="en-AU" dirty="0" err="1" smtClean="0"/>
              <a:t>Glycogenolysis</a:t>
            </a:r>
            <a:r>
              <a:rPr lang="en-AU" dirty="0" smtClean="0"/>
              <a:t> (glycogen </a:t>
            </a:r>
            <a:r>
              <a:rPr lang="en-AU" dirty="0" smtClean="0">
                <a:sym typeface="Wingdings" panose="05000000000000000000" pitchFamily="2" charset="2"/>
              </a:rPr>
              <a:t> glucose) </a:t>
            </a:r>
          </a:p>
          <a:p>
            <a:pPr marL="0" indent="0">
              <a:buNone/>
            </a:pPr>
            <a:r>
              <a:rPr lang="en-AU" dirty="0">
                <a:sym typeface="Wingdings" panose="05000000000000000000" pitchFamily="2" charset="2"/>
              </a:rPr>
              <a:t> </a:t>
            </a:r>
            <a:r>
              <a:rPr lang="en-AU" dirty="0" smtClean="0">
                <a:sym typeface="Wingdings" panose="05000000000000000000" pitchFamily="2" charset="2"/>
              </a:rPr>
              <a:t>                       </a:t>
            </a:r>
            <a:r>
              <a:rPr lang="en-AU" dirty="0" err="1" smtClean="0">
                <a:sym typeface="Wingdings" panose="05000000000000000000" pitchFamily="2" charset="2"/>
              </a:rPr>
              <a:t>Glucogenolysis</a:t>
            </a:r>
            <a:r>
              <a:rPr lang="en-AU" dirty="0" smtClean="0">
                <a:sym typeface="Wingdings" panose="05000000000000000000" pitchFamily="2" charset="2"/>
              </a:rPr>
              <a:t> (protein </a:t>
            </a:r>
            <a:r>
              <a:rPr lang="en-AU" dirty="0" smtClean="0">
                <a:sym typeface="Wingdings" panose="05000000000000000000" pitchFamily="2" charset="2"/>
              </a:rPr>
              <a:t> </a:t>
            </a:r>
            <a:r>
              <a:rPr lang="en-AU" dirty="0" smtClean="0">
                <a:sym typeface="Wingdings" panose="05000000000000000000" pitchFamily="2" charset="2"/>
              </a:rPr>
              <a:t>glucose) </a:t>
            </a:r>
            <a:endParaRPr lang="en-AU" dirty="0" smtClean="0"/>
          </a:p>
          <a:p>
            <a:r>
              <a:rPr lang="en-AU" dirty="0" smtClean="0"/>
              <a:t>Feedback</a:t>
            </a:r>
            <a:r>
              <a:rPr lang="en-AU" dirty="0"/>
              <a:t>: </a:t>
            </a:r>
            <a:r>
              <a:rPr lang="en-AU" dirty="0" smtClean="0"/>
              <a:t>Increase Glucose </a:t>
            </a:r>
            <a:r>
              <a:rPr lang="en-AU" dirty="0"/>
              <a:t>Level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988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LOOP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Stimulus: </a:t>
            </a:r>
            <a:r>
              <a:rPr lang="en-AU" dirty="0" smtClean="0"/>
              <a:t>Decrease Glucose </a:t>
            </a:r>
            <a:r>
              <a:rPr lang="en-AU" dirty="0"/>
              <a:t>Level </a:t>
            </a:r>
          </a:p>
          <a:p>
            <a:r>
              <a:rPr lang="en-AU" dirty="0"/>
              <a:t>Receptor: A</a:t>
            </a:r>
            <a:r>
              <a:rPr lang="en-AU" dirty="0" smtClean="0"/>
              <a:t>-cells </a:t>
            </a:r>
            <a:r>
              <a:rPr lang="en-AU" dirty="0"/>
              <a:t>(Islets of Langerhans in Pancreas) </a:t>
            </a:r>
          </a:p>
          <a:p>
            <a:r>
              <a:rPr lang="en-AU" dirty="0"/>
              <a:t>Modulator:  </a:t>
            </a:r>
            <a:r>
              <a:rPr lang="en-AU" dirty="0" smtClean="0"/>
              <a:t>Medulla </a:t>
            </a:r>
            <a:endParaRPr lang="en-AU" dirty="0"/>
          </a:p>
          <a:p>
            <a:r>
              <a:rPr lang="en-AU" dirty="0"/>
              <a:t>Message: </a:t>
            </a:r>
            <a:r>
              <a:rPr lang="en-AU" dirty="0" smtClean="0"/>
              <a:t>Adrenaline + Noradrenaline </a:t>
            </a:r>
            <a:endParaRPr lang="en-AU" dirty="0"/>
          </a:p>
          <a:p>
            <a:r>
              <a:rPr lang="en-AU" dirty="0"/>
              <a:t>Effector: </a:t>
            </a:r>
            <a:r>
              <a:rPr lang="en-AU" dirty="0" smtClean="0"/>
              <a:t>Liver</a:t>
            </a:r>
            <a:endParaRPr lang="en-AU" dirty="0"/>
          </a:p>
          <a:p>
            <a:r>
              <a:rPr lang="en-AU" dirty="0"/>
              <a:t>Response: </a:t>
            </a:r>
            <a:r>
              <a:rPr lang="en-AU" dirty="0" err="1" smtClean="0">
                <a:sym typeface="Wingdings" panose="05000000000000000000" pitchFamily="2" charset="2"/>
              </a:rPr>
              <a:t>Glycogenolysis</a:t>
            </a:r>
            <a:r>
              <a:rPr lang="en-AU" dirty="0" smtClean="0">
                <a:sym typeface="Wingdings" panose="05000000000000000000" pitchFamily="2" charset="2"/>
              </a:rPr>
              <a:t> (glycogen  glucose) </a:t>
            </a:r>
            <a:endParaRPr lang="en-AU" dirty="0">
              <a:sym typeface="Wingdings" panose="05000000000000000000" pitchFamily="2" charset="2"/>
            </a:endParaRPr>
          </a:p>
          <a:p>
            <a:r>
              <a:rPr lang="en-AU" dirty="0" smtClean="0"/>
              <a:t>Feedback</a:t>
            </a:r>
            <a:r>
              <a:rPr lang="en-AU" dirty="0"/>
              <a:t>: Increase Glucose Level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584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GAS CONCENTRATION </a:t>
            </a:r>
            <a:endParaRPr lang="en-US" dirty="0"/>
          </a:p>
        </p:txBody>
      </p:sp>
      <p:pic>
        <p:nvPicPr>
          <p:cNvPr id="4098" name="Picture 2" descr="https://i.ytimg.com/vi/SRgHeHQ9ud0/hqdefaul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2925" y="1378040"/>
            <a:ext cx="6729949" cy="5047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5492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CONTROL OF BREATHING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Diaphragm: muscle causing air to move in/out of lungs </a:t>
            </a:r>
          </a:p>
          <a:p>
            <a:pPr lvl="1"/>
            <a:r>
              <a:rPr lang="en-AU" dirty="0" smtClean="0"/>
              <a:t>Stimulated by Phrenic Nerves </a:t>
            </a:r>
          </a:p>
          <a:p>
            <a:r>
              <a:rPr lang="en-AU" dirty="0" smtClean="0"/>
              <a:t>Intercostal muscle: skeletal muscles that require stimulation from nerve impulses to initiate contraction </a:t>
            </a:r>
          </a:p>
          <a:p>
            <a:pPr lvl="1"/>
            <a:r>
              <a:rPr lang="en-AU" dirty="0" smtClean="0"/>
              <a:t>Stimulated by Intercostal Nerves (origin in Spinal Cord) </a:t>
            </a:r>
          </a:p>
          <a:p>
            <a:pPr lvl="2"/>
            <a:r>
              <a:rPr lang="en-AU" dirty="0" smtClean="0"/>
              <a:t>If injured – complete paralysis of muscles ventilating lungs (death) </a:t>
            </a:r>
          </a:p>
          <a:p>
            <a:r>
              <a:rPr lang="en-AU" dirty="0" smtClean="0"/>
              <a:t>Oxygen + Carbon Dioxide concentrations affect breathing rate </a:t>
            </a:r>
          </a:p>
          <a:p>
            <a:pPr lvl="1"/>
            <a:r>
              <a:rPr lang="en-AU" dirty="0" smtClean="0"/>
              <a:t>CO2 concentration affects H+ ions concentrations </a:t>
            </a:r>
          </a:p>
          <a:p>
            <a:pPr lvl="1"/>
            <a:r>
              <a:rPr lang="en-AU" dirty="0" smtClean="0"/>
              <a:t>CO2 + H2O </a:t>
            </a:r>
            <a:r>
              <a:rPr lang="en-AU" dirty="0" smtClean="0">
                <a:sym typeface="Wingdings" panose="05000000000000000000" pitchFamily="2" charset="2"/>
              </a:rPr>
              <a:t> H2CO3  H+ + HCO3- </a:t>
            </a:r>
          </a:p>
          <a:p>
            <a:pPr lvl="1"/>
            <a:r>
              <a:rPr lang="en-AU" dirty="0" smtClean="0">
                <a:sym typeface="Symbol" panose="05050102010706020507" pitchFamily="18" charset="2"/>
              </a:rPr>
              <a:t> Increase CO2 = Increase H+ ions = Decrease pH = Increase breathing rate </a:t>
            </a:r>
            <a:endParaRPr lang="en-AU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989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VOLUNTARY CONTROL OF BREATHING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Comes via connections from cerebral cortex to descending tracts in spinal cord </a:t>
            </a:r>
          </a:p>
          <a:p>
            <a:pPr lvl="1"/>
            <a:r>
              <a:rPr lang="en-AU" dirty="0" smtClean="0"/>
              <a:t>Bypasses respiratory centre in Medulla Oblongata </a:t>
            </a:r>
          </a:p>
          <a:p>
            <a:r>
              <a:rPr lang="en-AU" dirty="0" smtClean="0"/>
              <a:t>Hyperventilation: extreme rapid/deep breathing; may result in dizziness/fainting due to loss of CO2 </a:t>
            </a:r>
          </a:p>
          <a:p>
            <a:pPr lvl="1"/>
            <a:r>
              <a:rPr lang="en-AU" dirty="0" smtClean="0"/>
              <a:t>Can be conscious </a:t>
            </a:r>
            <a:r>
              <a:rPr lang="en-AU" dirty="0"/>
              <a:t>(somatic</a:t>
            </a:r>
            <a:r>
              <a:rPr lang="en-AU" dirty="0" smtClean="0"/>
              <a:t>), </a:t>
            </a:r>
            <a:r>
              <a:rPr lang="en-AU" dirty="0"/>
              <a:t>or </a:t>
            </a:r>
            <a:r>
              <a:rPr lang="en-AU" dirty="0" smtClean="0"/>
              <a:t>times </a:t>
            </a:r>
            <a:r>
              <a:rPr lang="en-AU" dirty="0"/>
              <a:t>of physical stress (autonomic)</a:t>
            </a:r>
          </a:p>
          <a:p>
            <a:pPr lvl="1"/>
            <a:r>
              <a:rPr lang="en-AU" dirty="0">
                <a:solidFill>
                  <a:schemeClr val="tx1"/>
                </a:solidFill>
              </a:rPr>
              <a:t>Causes constriction of the small blood vessels that supply the </a:t>
            </a:r>
            <a:r>
              <a:rPr lang="en-AU" dirty="0" smtClean="0">
                <a:solidFill>
                  <a:schemeClr val="tx1"/>
                </a:solidFill>
              </a:rPr>
              <a:t>brain</a:t>
            </a:r>
          </a:p>
          <a:p>
            <a:pPr lvl="1"/>
            <a:r>
              <a:rPr lang="en-AU" dirty="0" smtClean="0"/>
              <a:t>Corrected by unstimulated chemoreceptors </a:t>
            </a:r>
            <a:r>
              <a:rPr lang="en-AU" dirty="0"/>
              <a:t>for </a:t>
            </a:r>
            <a:r>
              <a:rPr lang="en-AU" dirty="0" smtClean="0"/>
              <a:t>CO2</a:t>
            </a:r>
          </a:p>
          <a:p>
            <a:pPr lvl="1"/>
            <a:r>
              <a:rPr lang="en-AU" dirty="0" smtClean="0"/>
              <a:t>Breathing </a:t>
            </a:r>
            <a:r>
              <a:rPr lang="en-AU" dirty="0"/>
              <a:t>into a paper </a:t>
            </a:r>
            <a:r>
              <a:rPr lang="en-AU" dirty="0" smtClean="0"/>
              <a:t>bag – </a:t>
            </a:r>
            <a:r>
              <a:rPr lang="en-AU" dirty="0" smtClean="0"/>
              <a:t>allows inhalation of exhaled CO2 </a:t>
            </a:r>
          </a:p>
          <a:p>
            <a:pPr lvl="2"/>
            <a:r>
              <a:rPr lang="en-AU" dirty="0" smtClean="0">
                <a:solidFill>
                  <a:schemeClr val="tx1"/>
                </a:solidFill>
              </a:rPr>
              <a:t>Increased CO2 levels </a:t>
            </a:r>
            <a:r>
              <a:rPr lang="en-AU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increased H+ concentration  decreased O2</a:t>
            </a:r>
            <a:endParaRPr lang="en-AU" dirty="0">
              <a:solidFill>
                <a:schemeClr val="tx1"/>
              </a:solidFill>
            </a:endParaRPr>
          </a:p>
          <a:p>
            <a:pPr lvl="1"/>
            <a:endParaRPr lang="en-AU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101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LOOP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Stimulus: </a:t>
            </a:r>
            <a:r>
              <a:rPr lang="en-AU" dirty="0" smtClean="0"/>
              <a:t>Increase CO2 (Low pH, </a:t>
            </a:r>
            <a:r>
              <a:rPr lang="en-AU" dirty="0"/>
              <a:t>L</a:t>
            </a:r>
            <a:r>
              <a:rPr lang="en-AU" dirty="0" smtClean="0"/>
              <a:t>ow Blood Pressure)</a:t>
            </a:r>
            <a:endParaRPr lang="en-AU" dirty="0"/>
          </a:p>
          <a:p>
            <a:r>
              <a:rPr lang="en-AU" dirty="0"/>
              <a:t>Receptor: </a:t>
            </a:r>
            <a:r>
              <a:rPr lang="en-AU" dirty="0" smtClean="0"/>
              <a:t>Chemoreceptors (carotid artery, aorta – peripheral, medulla – central)</a:t>
            </a:r>
          </a:p>
          <a:p>
            <a:r>
              <a:rPr lang="en-AU" dirty="0" smtClean="0"/>
              <a:t>Modulator: Respiratory + Cardiac centre in Medulla</a:t>
            </a:r>
            <a:endParaRPr lang="en-AU" dirty="0"/>
          </a:p>
          <a:p>
            <a:r>
              <a:rPr lang="en-AU" dirty="0"/>
              <a:t>Message</a:t>
            </a:r>
            <a:r>
              <a:rPr lang="en-AU" dirty="0" smtClean="0"/>
              <a:t>: Sympathetic Nerves (heart), Phrenic + Intercostal Nerves </a:t>
            </a:r>
            <a:endParaRPr lang="en-AU" dirty="0"/>
          </a:p>
          <a:p>
            <a:r>
              <a:rPr lang="en-AU" dirty="0"/>
              <a:t>Effector</a:t>
            </a:r>
            <a:r>
              <a:rPr lang="en-AU" dirty="0" smtClean="0"/>
              <a:t>: SA node of heart, Diaphragm + Intercostal muscles </a:t>
            </a:r>
            <a:endParaRPr lang="en-AU" dirty="0"/>
          </a:p>
          <a:p>
            <a:r>
              <a:rPr lang="en-AU" dirty="0"/>
              <a:t>Response: </a:t>
            </a:r>
            <a:r>
              <a:rPr lang="en-AU" dirty="0" smtClean="0"/>
              <a:t>Increased heart rate + stroke volume, increased rate + depth of breathing </a:t>
            </a:r>
          </a:p>
          <a:p>
            <a:r>
              <a:rPr lang="en-AU" dirty="0" smtClean="0"/>
              <a:t>Feedback: Decrease CO2 (Increase pH, Increase Blood Pressure)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462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Stimulus: Decrease CO2 (Increase pH, Increase Blood Pressure)</a:t>
            </a:r>
            <a:endParaRPr lang="en-US" dirty="0"/>
          </a:p>
          <a:p>
            <a:r>
              <a:rPr lang="en-AU" dirty="0" smtClean="0"/>
              <a:t>Receptor</a:t>
            </a:r>
            <a:r>
              <a:rPr lang="en-AU" dirty="0"/>
              <a:t>: Chemoreceptors (carotid artery, aorta – peripheral, medulla – central)</a:t>
            </a:r>
          </a:p>
          <a:p>
            <a:r>
              <a:rPr lang="en-AU" dirty="0"/>
              <a:t>Modulator: Respiratory + Cardiac centre in Medulla</a:t>
            </a:r>
          </a:p>
          <a:p>
            <a:r>
              <a:rPr lang="en-AU" dirty="0"/>
              <a:t>Message: </a:t>
            </a:r>
            <a:r>
              <a:rPr lang="en-AU" dirty="0" smtClean="0"/>
              <a:t>Parasympathetic Nerves </a:t>
            </a:r>
            <a:r>
              <a:rPr lang="en-AU" dirty="0"/>
              <a:t>(heart), Phrenic + Intercostal Nerves </a:t>
            </a:r>
          </a:p>
          <a:p>
            <a:r>
              <a:rPr lang="en-AU" dirty="0"/>
              <a:t>Effector: SA node of heart, Diaphragm + Intercostal muscles </a:t>
            </a:r>
          </a:p>
          <a:p>
            <a:r>
              <a:rPr lang="en-AU" dirty="0"/>
              <a:t>Response: </a:t>
            </a:r>
            <a:r>
              <a:rPr lang="en-AU" dirty="0" smtClean="0"/>
              <a:t>Decreased heart </a:t>
            </a:r>
            <a:r>
              <a:rPr lang="en-AU" dirty="0"/>
              <a:t>rate + stroke volume, </a:t>
            </a:r>
            <a:r>
              <a:rPr lang="en-AU" dirty="0" smtClean="0"/>
              <a:t>Decreased rate </a:t>
            </a:r>
            <a:r>
              <a:rPr lang="en-AU" dirty="0"/>
              <a:t>+ depth of breathing </a:t>
            </a:r>
          </a:p>
          <a:p>
            <a:r>
              <a:rPr lang="en-AU" dirty="0"/>
              <a:t>Feedback: Increase CO2 (Low pH, Low Blood Pressure)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6717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SYNTHETIC HORMONES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202806"/>
          </a:xfrm>
        </p:spPr>
        <p:txBody>
          <a:bodyPr>
            <a:normAutofit/>
          </a:bodyPr>
          <a:lstStyle/>
          <a:p>
            <a:r>
              <a:rPr lang="en-AU" dirty="0"/>
              <a:t>Biosynthetic </a:t>
            </a:r>
            <a:r>
              <a:rPr lang="en-AU" dirty="0" smtClean="0"/>
              <a:t>insulin: </a:t>
            </a:r>
            <a:r>
              <a:rPr lang="en-AU" dirty="0"/>
              <a:t>inserting </a:t>
            </a:r>
            <a:r>
              <a:rPr lang="en-AU" dirty="0" smtClean="0"/>
              <a:t>gene </a:t>
            </a:r>
            <a:r>
              <a:rPr lang="en-AU" dirty="0"/>
              <a:t>for human insulin production into </a:t>
            </a:r>
            <a:r>
              <a:rPr lang="en-AU" dirty="0" smtClean="0"/>
              <a:t>bacteria/yeast cells, which are cultured. </a:t>
            </a:r>
            <a:r>
              <a:rPr lang="en-AU" dirty="0"/>
              <a:t>Because they have the gene for insulin production the cultured cells </a:t>
            </a:r>
            <a:r>
              <a:rPr lang="en-AU" dirty="0" smtClean="0"/>
              <a:t>produce </a:t>
            </a:r>
            <a:r>
              <a:rPr lang="en-AU" dirty="0"/>
              <a:t>human </a:t>
            </a:r>
            <a:r>
              <a:rPr lang="en-AU" dirty="0" smtClean="0"/>
              <a:t>insulin</a:t>
            </a:r>
          </a:p>
          <a:p>
            <a:r>
              <a:rPr lang="en-AU" dirty="0" smtClean="0"/>
              <a:t>Type 1</a:t>
            </a:r>
          </a:p>
          <a:p>
            <a:pPr lvl="1"/>
            <a:r>
              <a:rPr lang="en-AU" dirty="0" smtClean="0"/>
              <a:t>Onset: usually in childhood </a:t>
            </a:r>
          </a:p>
          <a:p>
            <a:pPr lvl="1"/>
            <a:r>
              <a:rPr lang="en-AU" dirty="0" smtClean="0"/>
              <a:t>Cause: destruction of Beta cells in Islets of Langerhans (insulin not produced) </a:t>
            </a:r>
          </a:p>
          <a:p>
            <a:pPr lvl="1"/>
            <a:r>
              <a:rPr lang="en-AU" dirty="0" smtClean="0"/>
              <a:t>Treatment: injection of insulin – cells respond normally to it </a:t>
            </a:r>
          </a:p>
          <a:p>
            <a:r>
              <a:rPr lang="en-AU" dirty="0" smtClean="0"/>
              <a:t>Type 2 </a:t>
            </a:r>
          </a:p>
          <a:p>
            <a:pPr lvl="1"/>
            <a:r>
              <a:rPr lang="en-AU" dirty="0" smtClean="0"/>
              <a:t>Onset: Usually </a:t>
            </a:r>
            <a:r>
              <a:rPr lang="en-AU" dirty="0"/>
              <a:t>over </a:t>
            </a:r>
            <a:r>
              <a:rPr lang="en-AU" dirty="0" smtClean="0"/>
              <a:t>45 (more young people are affected nowadays)</a:t>
            </a:r>
          </a:p>
          <a:p>
            <a:pPr lvl="1"/>
            <a:r>
              <a:rPr lang="en-AU" dirty="0" smtClean="0"/>
              <a:t>Cause: lack </a:t>
            </a:r>
            <a:r>
              <a:rPr lang="en-AU" dirty="0"/>
              <a:t>of physical activity and </a:t>
            </a:r>
            <a:r>
              <a:rPr lang="en-AU" dirty="0" smtClean="0"/>
              <a:t>overweight</a:t>
            </a:r>
          </a:p>
          <a:p>
            <a:pPr lvl="1"/>
            <a:r>
              <a:rPr lang="en-AU" dirty="0" smtClean="0"/>
              <a:t>Treatment: careful diet + regular physical activity (cells </a:t>
            </a:r>
            <a:r>
              <a:rPr lang="en-AU" dirty="0"/>
              <a:t>do not respond to </a:t>
            </a:r>
            <a:r>
              <a:rPr lang="en-AU" dirty="0" smtClean="0"/>
              <a:t>insulin)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8533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305837"/>
          </a:xfrm>
        </p:spPr>
        <p:txBody>
          <a:bodyPr>
            <a:normAutofit/>
          </a:bodyPr>
          <a:lstStyle/>
          <a:p>
            <a:r>
              <a:rPr lang="en-AU" dirty="0" smtClean="0"/>
              <a:t>Hyperthyroidism: too </a:t>
            </a:r>
            <a:r>
              <a:rPr lang="en-AU" dirty="0"/>
              <a:t>much </a:t>
            </a:r>
            <a:r>
              <a:rPr lang="en-AU" dirty="0" smtClean="0"/>
              <a:t>thyroxine</a:t>
            </a:r>
          </a:p>
          <a:p>
            <a:pPr lvl="1"/>
            <a:r>
              <a:rPr lang="en-AU" dirty="0" smtClean="0"/>
              <a:t>Thyroid produces </a:t>
            </a:r>
            <a:r>
              <a:rPr lang="en-AU" dirty="0"/>
              <a:t>too much </a:t>
            </a:r>
            <a:r>
              <a:rPr lang="en-AU" dirty="0" smtClean="0"/>
              <a:t>hormone</a:t>
            </a:r>
          </a:p>
          <a:p>
            <a:pPr lvl="1"/>
            <a:r>
              <a:rPr lang="en-AU" dirty="0" smtClean="0"/>
              <a:t>Most </a:t>
            </a:r>
            <a:r>
              <a:rPr lang="en-AU" dirty="0"/>
              <a:t>common type </a:t>
            </a:r>
            <a:r>
              <a:rPr lang="en-AU" dirty="0" smtClean="0"/>
              <a:t>is Graves</a:t>
            </a:r>
            <a:r>
              <a:rPr lang="en-AU" dirty="0"/>
              <a:t>’ disease</a:t>
            </a:r>
            <a:r>
              <a:rPr lang="en-AU" dirty="0" smtClean="0"/>
              <a:t>.</a:t>
            </a:r>
          </a:p>
          <a:p>
            <a:pPr lvl="2"/>
            <a:r>
              <a:rPr lang="en-AU" dirty="0" smtClean="0"/>
              <a:t>Enlargement </a:t>
            </a:r>
            <a:r>
              <a:rPr lang="en-AU" dirty="0"/>
              <a:t>of </a:t>
            </a:r>
            <a:r>
              <a:rPr lang="en-AU" dirty="0" smtClean="0"/>
              <a:t>thyroid due to immune </a:t>
            </a:r>
            <a:r>
              <a:rPr lang="en-AU" dirty="0"/>
              <a:t>system </a:t>
            </a:r>
            <a:r>
              <a:rPr lang="en-AU" dirty="0" smtClean="0"/>
              <a:t>reaction</a:t>
            </a:r>
            <a:endParaRPr lang="en-AU" dirty="0"/>
          </a:p>
          <a:p>
            <a:pPr lvl="1"/>
            <a:r>
              <a:rPr lang="en-AU" dirty="0" smtClean="0"/>
              <a:t> Symptoms: weight </a:t>
            </a:r>
            <a:r>
              <a:rPr lang="en-AU" dirty="0"/>
              <a:t>loss, increased appetite, increased heart rate, </a:t>
            </a:r>
            <a:r>
              <a:rPr lang="en-AU" dirty="0" smtClean="0"/>
              <a:t>fatigue</a:t>
            </a:r>
          </a:p>
          <a:p>
            <a:r>
              <a:rPr lang="en-AU" dirty="0" smtClean="0"/>
              <a:t>Hypothyroidism: too little thyroxine</a:t>
            </a:r>
          </a:p>
          <a:p>
            <a:pPr lvl="1"/>
            <a:r>
              <a:rPr lang="en-AU" dirty="0" smtClean="0"/>
              <a:t>Deficiency of iodine in the diet</a:t>
            </a:r>
          </a:p>
          <a:p>
            <a:pPr lvl="1"/>
            <a:r>
              <a:rPr lang="en-AU" dirty="0"/>
              <a:t>S</a:t>
            </a:r>
            <a:r>
              <a:rPr lang="en-AU" dirty="0" smtClean="0"/>
              <a:t>urgery (removal of thyroid), </a:t>
            </a:r>
          </a:p>
          <a:p>
            <a:pPr lvl="1"/>
            <a:r>
              <a:rPr lang="en-AU" dirty="0"/>
              <a:t>A</a:t>
            </a:r>
            <a:r>
              <a:rPr lang="en-AU" dirty="0" smtClean="0"/>
              <a:t>utoimmune response (Hashimoto’s disease), </a:t>
            </a:r>
          </a:p>
          <a:p>
            <a:pPr lvl="1"/>
            <a:r>
              <a:rPr lang="en-AU" dirty="0" smtClean="0"/>
              <a:t>Problems with the pituitary or hypothalamus.</a:t>
            </a:r>
          </a:p>
          <a:p>
            <a:pPr lvl="1"/>
            <a:r>
              <a:rPr lang="en-AU" dirty="0" smtClean="0"/>
              <a:t>Symptoms: slow heart rate, weight gain, fatigue, intolerance to cold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9512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Hyperthyroidism treatment</a:t>
            </a:r>
          </a:p>
          <a:p>
            <a:pPr lvl="1"/>
            <a:r>
              <a:rPr lang="en-AU" dirty="0" smtClean="0"/>
              <a:t>Radioactive iodine, surgery, anti-thyroid drug </a:t>
            </a:r>
          </a:p>
          <a:p>
            <a:pPr lvl="1"/>
            <a:r>
              <a:rPr lang="en-AU" dirty="0" smtClean="0"/>
              <a:t>Slows/stops production of thyroxine </a:t>
            </a:r>
          </a:p>
          <a:p>
            <a:pPr lvl="2"/>
            <a:r>
              <a:rPr lang="en-AU" dirty="0" smtClean="0"/>
              <a:t>Decreases metabolic rate + symptoms </a:t>
            </a:r>
          </a:p>
          <a:p>
            <a:r>
              <a:rPr lang="en-AU" dirty="0" smtClean="0"/>
              <a:t>Hypothyroidism treatment </a:t>
            </a:r>
          </a:p>
          <a:p>
            <a:pPr lvl="1"/>
            <a:r>
              <a:rPr lang="en-AU" dirty="0" smtClean="0"/>
              <a:t>Thyroid replacement hormone</a:t>
            </a:r>
          </a:p>
          <a:p>
            <a:pPr lvl="1"/>
            <a:r>
              <a:rPr lang="en-AU" dirty="0" smtClean="0"/>
              <a:t>Synthetic T4 works the same as natural T4 </a:t>
            </a:r>
          </a:p>
          <a:p>
            <a:pPr lvl="1"/>
            <a:r>
              <a:rPr lang="en-AU" dirty="0" smtClean="0"/>
              <a:t>T4 in the bloodstream loses an iodine </a:t>
            </a:r>
            <a:r>
              <a:rPr lang="en-AU" dirty="0"/>
              <a:t>a</a:t>
            </a:r>
            <a:r>
              <a:rPr lang="en-AU" dirty="0" smtClean="0"/>
              <a:t>tom </a:t>
            </a:r>
            <a:r>
              <a:rPr lang="en-AU" dirty="0" smtClean="0">
                <a:sym typeface="Wingdings" panose="05000000000000000000" pitchFamily="2" charset="2"/>
              </a:rPr>
              <a:t> T3 (conveys metabolic messages to cells)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82304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581</TotalTime>
  <Words>1274</Words>
  <Application>Microsoft Office PowerPoint</Application>
  <PresentationFormat>Widescreen</PresentationFormat>
  <Paragraphs>172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MS PGothic</vt:lpstr>
      <vt:lpstr>Arial</vt:lpstr>
      <vt:lpstr>Century Gothic</vt:lpstr>
      <vt:lpstr>Symbol</vt:lpstr>
      <vt:lpstr>Wingdings</vt:lpstr>
      <vt:lpstr>Wingdings 3</vt:lpstr>
      <vt:lpstr>Wisp</vt:lpstr>
      <vt:lpstr>HOMEOSTASIS </vt:lpstr>
      <vt:lpstr>Negative vs Positive Loops </vt:lpstr>
      <vt:lpstr>THERMOREGULATION</vt:lpstr>
      <vt:lpstr>HEAT LOSS &amp; HEAT GAIN </vt:lpstr>
      <vt:lpstr>LOOP (NERVOUS)</vt:lpstr>
      <vt:lpstr>LOOP (HORMONES)</vt:lpstr>
      <vt:lpstr>PowerPoint Presentation</vt:lpstr>
      <vt:lpstr>BODY FLUID CONCENTRATION</vt:lpstr>
      <vt:lpstr>FLUID BALANCE </vt:lpstr>
      <vt:lpstr>LOOP (HORMONES)</vt:lpstr>
      <vt:lpstr>LOOP (HORMONES)</vt:lpstr>
      <vt:lpstr>LOOP (CONSCIOUS)</vt:lpstr>
      <vt:lpstr>BLOOD GLUCOSE CONCENTRATION </vt:lpstr>
      <vt:lpstr>LOOP </vt:lpstr>
      <vt:lpstr>LOOP </vt:lpstr>
      <vt:lpstr>LOOP </vt:lpstr>
      <vt:lpstr>LOOP </vt:lpstr>
      <vt:lpstr>GAS CONCENTRATION </vt:lpstr>
      <vt:lpstr>CONTROL OF BREATHING </vt:lpstr>
      <vt:lpstr>VOLUNTARY CONTROL OF BREATHING </vt:lpstr>
      <vt:lpstr>LOOP </vt:lpstr>
      <vt:lpstr>LOOP</vt:lpstr>
      <vt:lpstr>SYNTHETIC HORMONES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HOMEOSTASIS</dc:title>
  <dc:creator>immelsha david</dc:creator>
  <cp:lastModifiedBy>immelsha david</cp:lastModifiedBy>
  <cp:revision>21</cp:revision>
  <dcterms:created xsi:type="dcterms:W3CDTF">2018-09-10T12:48:01Z</dcterms:created>
  <dcterms:modified xsi:type="dcterms:W3CDTF">2018-09-16T14:28:06Z</dcterms:modified>
</cp:coreProperties>
</file>
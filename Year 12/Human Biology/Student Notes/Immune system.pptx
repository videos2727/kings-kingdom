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854"/>
    <p:restoredTop sz="94580"/>
  </p:normalViewPr>
  <p:slideViewPr>
    <p:cSldViewPr snapToGrid="0" snapToObjects="1">
      <p:cViewPr>
        <p:scale>
          <a:sx n="94" d="100"/>
          <a:sy n="94" d="100"/>
        </p:scale>
        <p:origin x="-402" y="-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4079BD-F54C-9447-9C53-92AE8463AEC6}" type="datetimeFigureOut">
              <a:rPr lang="en-US" smtClean="0"/>
              <a:t>9/21/2018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BDAB2E-FA9A-5C45-B3B9-E9C79422C554}" type="slidenum">
              <a:rPr lang="en-US" smtClean="0"/>
              <a:t>‹#›</a:t>
            </a:fld>
            <a:endParaRPr lang="en-US"/>
          </a:p>
        </p:txBody>
      </p:sp>
    </p:spTree>
    <p:extLst>
      <p:ext uri="{BB962C8B-B14F-4D97-AF65-F5344CB8AC3E}">
        <p14:creationId xmlns:p14="http://schemas.microsoft.com/office/powerpoint/2010/main" val="19202075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DBDAB2E-FA9A-5C45-B3B9-E9C79422C554}" type="slidenum">
              <a:rPr lang="en-US" smtClean="0"/>
              <a:t>7</a:t>
            </a:fld>
            <a:endParaRPr lang="en-US"/>
          </a:p>
        </p:txBody>
      </p:sp>
    </p:spTree>
    <p:extLst>
      <p:ext uri="{BB962C8B-B14F-4D97-AF65-F5344CB8AC3E}">
        <p14:creationId xmlns:p14="http://schemas.microsoft.com/office/powerpoint/2010/main" val="38874242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6D209697-322A-324A-920A-ABEE03DAC6F9}" type="datetimeFigureOut">
              <a:rPr lang="en-US" smtClean="0"/>
              <a:t>9/21/2018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CB3005-D310-904F-9615-0A7E63FE83AD}" type="slidenum">
              <a:rPr lang="en-US" smtClean="0"/>
              <a:t>‹#›</a:t>
            </a:fld>
            <a:endParaRPr lang="en-US"/>
          </a:p>
        </p:txBody>
      </p:sp>
    </p:spTree>
    <p:extLst>
      <p:ext uri="{BB962C8B-B14F-4D97-AF65-F5344CB8AC3E}">
        <p14:creationId xmlns:p14="http://schemas.microsoft.com/office/powerpoint/2010/main" val="25062914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D209697-322A-324A-920A-ABEE03DAC6F9}" type="datetimeFigureOut">
              <a:rPr lang="en-US" smtClean="0"/>
              <a:t>9/21/2018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CB3005-D310-904F-9615-0A7E63FE83AD}" type="slidenum">
              <a:rPr lang="en-US" smtClean="0"/>
              <a:t>‹#›</a:t>
            </a:fld>
            <a:endParaRPr lang="en-US"/>
          </a:p>
        </p:txBody>
      </p:sp>
    </p:spTree>
    <p:extLst>
      <p:ext uri="{BB962C8B-B14F-4D97-AF65-F5344CB8AC3E}">
        <p14:creationId xmlns:p14="http://schemas.microsoft.com/office/powerpoint/2010/main" val="13561871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7" name="Date Placeholder 6"/>
          <p:cNvSpPr>
            <a:spLocks noGrp="1"/>
          </p:cNvSpPr>
          <p:nvPr>
            <p:ph type="dt" sz="half" idx="10"/>
          </p:nvPr>
        </p:nvSpPr>
        <p:spPr/>
        <p:txBody>
          <a:bodyPr/>
          <a:lstStyle/>
          <a:p>
            <a:fld id="{6D209697-322A-324A-920A-ABEE03DAC6F9}" type="datetimeFigureOut">
              <a:rPr lang="en-US" smtClean="0"/>
              <a:t>9/21/2018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CB3005-D310-904F-9615-0A7E63FE83AD}" type="slidenum">
              <a:rPr lang="en-US" smtClean="0"/>
              <a:t>‹#›</a:t>
            </a:fld>
            <a:endParaRPr lang="en-US"/>
          </a:p>
        </p:txBody>
      </p:sp>
    </p:spTree>
    <p:extLst>
      <p:ext uri="{BB962C8B-B14F-4D97-AF65-F5344CB8AC3E}">
        <p14:creationId xmlns:p14="http://schemas.microsoft.com/office/powerpoint/2010/main" val="3327512499"/>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6D209697-322A-324A-920A-ABEE03DAC6F9}" type="datetimeFigureOut">
              <a:rPr lang="en-US" smtClean="0"/>
              <a:t>9/21/2018</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B8CB3005-D310-904F-9615-0A7E63FE83AD}" type="slidenum">
              <a:rPr lang="en-US" smtClean="0"/>
              <a:t>‹#›</a:t>
            </a:fld>
            <a:endParaRPr lang="en-US"/>
          </a:p>
        </p:txBody>
      </p:sp>
    </p:spTree>
    <p:extLst>
      <p:ext uri="{BB962C8B-B14F-4D97-AF65-F5344CB8AC3E}">
        <p14:creationId xmlns:p14="http://schemas.microsoft.com/office/powerpoint/2010/main" val="14372793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7" name="Date Placeholder 6"/>
          <p:cNvSpPr>
            <a:spLocks noGrp="1"/>
          </p:cNvSpPr>
          <p:nvPr>
            <p:ph type="dt" sz="half" idx="10"/>
          </p:nvPr>
        </p:nvSpPr>
        <p:spPr/>
        <p:txBody>
          <a:bodyPr/>
          <a:lstStyle/>
          <a:p>
            <a:fld id="{6D209697-322A-324A-920A-ABEE03DAC6F9}" type="datetimeFigureOut">
              <a:rPr lang="en-US" smtClean="0"/>
              <a:t>9/21/2018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CB3005-D310-904F-9615-0A7E63FE83AD}"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8316262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D209697-322A-324A-920A-ABEE03DAC6F9}" type="datetimeFigureOut">
              <a:rPr lang="en-US" smtClean="0"/>
              <a:t>9/21/2018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CB3005-D310-904F-9615-0A7E63FE83AD}" type="slidenum">
              <a:rPr lang="en-US" smtClean="0"/>
              <a:t>‹#›</a:t>
            </a:fld>
            <a:endParaRPr lang="en-US"/>
          </a:p>
        </p:txBody>
      </p:sp>
    </p:spTree>
    <p:extLst>
      <p:ext uri="{BB962C8B-B14F-4D97-AF65-F5344CB8AC3E}">
        <p14:creationId xmlns:p14="http://schemas.microsoft.com/office/powerpoint/2010/main" val="12578148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209697-322A-324A-920A-ABEE03DAC6F9}" type="datetimeFigureOut">
              <a:rPr lang="en-US" smtClean="0"/>
              <a:t>9/21/2018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CB3005-D310-904F-9615-0A7E63FE83AD}" type="slidenum">
              <a:rPr lang="en-US" smtClean="0"/>
              <a:t>‹#›</a:t>
            </a:fld>
            <a:endParaRPr lang="en-US"/>
          </a:p>
        </p:txBody>
      </p:sp>
    </p:spTree>
    <p:extLst>
      <p:ext uri="{BB962C8B-B14F-4D97-AF65-F5344CB8AC3E}">
        <p14:creationId xmlns:p14="http://schemas.microsoft.com/office/powerpoint/2010/main" val="35185012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9" name="Date Placeholder 8"/>
          <p:cNvSpPr>
            <a:spLocks noGrp="1"/>
          </p:cNvSpPr>
          <p:nvPr>
            <p:ph type="dt" sz="half" idx="10"/>
          </p:nvPr>
        </p:nvSpPr>
        <p:spPr/>
        <p:txBody>
          <a:bodyPr/>
          <a:lstStyle/>
          <a:p>
            <a:fld id="{6D209697-322A-324A-920A-ABEE03DAC6F9}" type="datetimeFigureOut">
              <a:rPr lang="en-US" smtClean="0"/>
              <a:t>9/21/2018</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B8CB3005-D310-904F-9615-0A7E63FE83AD}" type="slidenum">
              <a:rPr lang="en-US" smtClean="0"/>
              <a:t>‹#›</a:t>
            </a:fld>
            <a:endParaRPr lang="en-US"/>
          </a:p>
        </p:txBody>
      </p:sp>
    </p:spTree>
    <p:extLst>
      <p:ext uri="{BB962C8B-B14F-4D97-AF65-F5344CB8AC3E}">
        <p14:creationId xmlns:p14="http://schemas.microsoft.com/office/powerpoint/2010/main" val="4823634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6D209697-322A-324A-920A-ABEE03DAC6F9}" type="datetimeFigureOut">
              <a:rPr lang="en-US" smtClean="0"/>
              <a:t>9/21/2018</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B8CB3005-D310-904F-9615-0A7E63FE83AD}" type="slidenum">
              <a:rPr lang="en-US" smtClean="0"/>
              <a:t>‹#›</a:t>
            </a:fld>
            <a:endParaRPr lang="en-US"/>
          </a:p>
        </p:txBody>
      </p:sp>
    </p:spTree>
    <p:extLst>
      <p:ext uri="{BB962C8B-B14F-4D97-AF65-F5344CB8AC3E}">
        <p14:creationId xmlns:p14="http://schemas.microsoft.com/office/powerpoint/2010/main" val="26621095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209697-322A-324A-920A-ABEE03DAC6F9}" type="datetimeFigureOut">
              <a:rPr lang="en-US" smtClean="0"/>
              <a:t>9/21/2018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CB3005-D310-904F-9615-0A7E63FE83AD}" type="slidenum">
              <a:rPr lang="en-US" smtClean="0"/>
              <a:t>‹#›</a:t>
            </a:fld>
            <a:endParaRPr lang="en-US"/>
          </a:p>
        </p:txBody>
      </p:sp>
    </p:spTree>
    <p:extLst>
      <p:ext uri="{BB962C8B-B14F-4D97-AF65-F5344CB8AC3E}">
        <p14:creationId xmlns:p14="http://schemas.microsoft.com/office/powerpoint/2010/main" val="26945680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209697-322A-324A-920A-ABEE03DAC6F9}" type="datetimeFigureOut">
              <a:rPr lang="en-US" smtClean="0"/>
              <a:t>9/21/2018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CB3005-D310-904F-9615-0A7E63FE83AD}" type="slidenum">
              <a:rPr lang="en-US" smtClean="0"/>
              <a:t>‹#›</a:t>
            </a:fld>
            <a:endParaRPr lang="en-US"/>
          </a:p>
        </p:txBody>
      </p:sp>
    </p:spTree>
    <p:extLst>
      <p:ext uri="{BB962C8B-B14F-4D97-AF65-F5344CB8AC3E}">
        <p14:creationId xmlns:p14="http://schemas.microsoft.com/office/powerpoint/2010/main" val="1381897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6D209697-322A-324A-920A-ABEE03DAC6F9}" type="datetimeFigureOut">
              <a:rPr lang="en-US" smtClean="0"/>
              <a:t>9/21/2018</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B8CB3005-D310-904F-9615-0A7E63FE83AD}" type="slidenum">
              <a:rPr lang="en-US" smtClean="0"/>
              <a:t>‹#›</a:t>
            </a:fld>
            <a:endParaRPr lang="en-US"/>
          </a:p>
        </p:txBody>
      </p:sp>
    </p:spTree>
    <p:extLst>
      <p:ext uri="{BB962C8B-B14F-4D97-AF65-F5344CB8AC3E}">
        <p14:creationId xmlns:p14="http://schemas.microsoft.com/office/powerpoint/2010/main" val="26648072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0AF28AC-C8C4-224E-8975-20EF875C486A}"/>
              </a:ext>
            </a:extLst>
          </p:cNvPr>
          <p:cNvSpPr>
            <a:spLocks noGrp="1"/>
          </p:cNvSpPr>
          <p:nvPr>
            <p:ph type="ctrTitle"/>
          </p:nvPr>
        </p:nvSpPr>
        <p:spPr/>
        <p:txBody>
          <a:bodyPr/>
          <a:lstStyle/>
          <a:p>
            <a:r>
              <a:rPr lang="en-US" dirty="0"/>
              <a:t>Immune system </a:t>
            </a:r>
          </a:p>
        </p:txBody>
      </p:sp>
      <p:sp>
        <p:nvSpPr>
          <p:cNvPr id="3" name="Subtitle 2">
            <a:extLst>
              <a:ext uri="{FF2B5EF4-FFF2-40B4-BE49-F238E27FC236}">
                <a16:creationId xmlns:a16="http://schemas.microsoft.com/office/drawing/2014/main" xmlns="" id="{B84CC1E5-F353-824D-AE6A-DF0D445906DB}"/>
              </a:ext>
            </a:extLst>
          </p:cNvPr>
          <p:cNvSpPr>
            <a:spLocks noGrp="1"/>
          </p:cNvSpPr>
          <p:nvPr>
            <p:ph type="subTitle" idx="1"/>
          </p:nvPr>
        </p:nvSpPr>
        <p:spPr/>
        <p:txBody>
          <a:bodyPr/>
          <a:lstStyle/>
          <a:p>
            <a:r>
              <a:rPr lang="en-US" dirty="0"/>
              <a:t>BY ABBEY </a:t>
            </a:r>
          </a:p>
        </p:txBody>
      </p:sp>
    </p:spTree>
    <p:extLst>
      <p:ext uri="{BB962C8B-B14F-4D97-AF65-F5344CB8AC3E}">
        <p14:creationId xmlns:p14="http://schemas.microsoft.com/office/powerpoint/2010/main" val="28293362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DFC000F-4E9B-5443-9532-8257F8A53BB9}"/>
              </a:ext>
            </a:extLst>
          </p:cNvPr>
          <p:cNvSpPr>
            <a:spLocks noGrp="1"/>
          </p:cNvSpPr>
          <p:nvPr>
            <p:ph type="title"/>
          </p:nvPr>
        </p:nvSpPr>
        <p:spPr>
          <a:xfrm>
            <a:off x="829781" y="2708804"/>
            <a:ext cx="3698803" cy="1440394"/>
          </a:xfrm>
          <a:noFill/>
          <a:ln>
            <a:solidFill>
              <a:schemeClr val="tx1"/>
            </a:solidFill>
          </a:ln>
        </p:spPr>
        <p:txBody>
          <a:bodyPr>
            <a:normAutofit/>
          </a:bodyPr>
          <a:lstStyle/>
          <a:p>
            <a:r>
              <a:rPr lang="en-US" sz="2400" dirty="0">
                <a:solidFill>
                  <a:schemeClr val="tx1"/>
                </a:solidFill>
              </a:rPr>
              <a:t>Immune system syllabus points </a:t>
            </a:r>
          </a:p>
        </p:txBody>
      </p:sp>
      <p:sp>
        <p:nvSpPr>
          <p:cNvPr id="10" name="Rectangle 7">
            <a:extLst>
              <a:ext uri="{FF2B5EF4-FFF2-40B4-BE49-F238E27FC236}">
                <a16:creationId xmlns:a16="http://schemas.microsoft.com/office/drawing/2014/main" xmlns="" id="{FB403EBD-907E-4D59-98D4-A72CD1063C6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315061" y="-2"/>
            <a:ext cx="6876939" cy="6858002"/>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xmlns="" id="{516DAD2D-3438-8B4C-8E94-A9609AF0B52F}"/>
              </a:ext>
            </a:extLst>
          </p:cNvPr>
          <p:cNvSpPr txBox="1"/>
          <p:nvPr/>
        </p:nvSpPr>
        <p:spPr>
          <a:xfrm>
            <a:off x="5315060" y="0"/>
            <a:ext cx="6876939" cy="6986528"/>
          </a:xfrm>
          <a:prstGeom prst="rect">
            <a:avLst/>
          </a:prstGeom>
          <a:noFill/>
        </p:spPr>
        <p:txBody>
          <a:bodyPr wrap="square" rtlCol="0">
            <a:spAutoFit/>
          </a:bodyPr>
          <a:lstStyle/>
          <a:p>
            <a:pPr marL="285750" indent="-285750">
              <a:buFont typeface="Wingdings" pitchFamily="2" charset="2"/>
              <a:buChar char="§"/>
            </a:pPr>
            <a:r>
              <a:rPr lang="en-US" sz="1600" b="1" dirty="0">
                <a:solidFill>
                  <a:schemeClr val="bg1"/>
                </a:solidFill>
              </a:rPr>
              <a:t>Describe how infectious diseases are caused by pathogens </a:t>
            </a:r>
          </a:p>
          <a:p>
            <a:pPr marL="285750" indent="-285750">
              <a:buFont typeface="Wingdings" pitchFamily="2" charset="2"/>
              <a:buChar char="§"/>
            </a:pPr>
            <a:r>
              <a:rPr lang="en-US" sz="1600" b="1" dirty="0">
                <a:solidFill>
                  <a:schemeClr val="bg1"/>
                </a:solidFill>
              </a:rPr>
              <a:t>Describe bacteria and viruses </a:t>
            </a:r>
          </a:p>
          <a:p>
            <a:pPr marL="285750" indent="-285750">
              <a:buFont typeface="Wingdings" pitchFamily="2" charset="2"/>
              <a:buChar char="§"/>
            </a:pPr>
            <a:r>
              <a:rPr lang="en-US" sz="1600" b="1" dirty="0">
                <a:solidFill>
                  <a:schemeClr val="bg1"/>
                </a:solidFill>
              </a:rPr>
              <a:t>Describe how pathogens are transmitted by: </a:t>
            </a:r>
          </a:p>
          <a:p>
            <a:pPr marL="285750" indent="-285750">
              <a:buFontTx/>
              <a:buChar char="-"/>
            </a:pPr>
            <a:r>
              <a:rPr lang="en-US" sz="1600" b="1" dirty="0">
                <a:solidFill>
                  <a:schemeClr val="bg1"/>
                </a:solidFill>
              </a:rPr>
              <a:t>Direct and indirect contact </a:t>
            </a:r>
          </a:p>
          <a:p>
            <a:pPr marL="285750" indent="-285750">
              <a:buFontTx/>
              <a:buChar char="-"/>
            </a:pPr>
            <a:r>
              <a:rPr lang="en-US" sz="1600" b="1" dirty="0">
                <a:solidFill>
                  <a:schemeClr val="bg1"/>
                </a:solidFill>
              </a:rPr>
              <a:t>Transfer of body fluids </a:t>
            </a:r>
          </a:p>
          <a:p>
            <a:pPr marL="285750" indent="-285750">
              <a:buFontTx/>
              <a:buChar char="-"/>
            </a:pPr>
            <a:r>
              <a:rPr lang="en-US" sz="1600" b="1" dirty="0">
                <a:solidFill>
                  <a:schemeClr val="bg1"/>
                </a:solidFill>
              </a:rPr>
              <a:t>Disease specific vectors </a:t>
            </a:r>
          </a:p>
          <a:p>
            <a:pPr marL="285750" indent="-285750">
              <a:buFontTx/>
              <a:buChar char="-"/>
            </a:pPr>
            <a:r>
              <a:rPr lang="en-US" sz="1600" b="1" dirty="0">
                <a:solidFill>
                  <a:schemeClr val="bg1"/>
                </a:solidFill>
              </a:rPr>
              <a:t>Contaminated food and water </a:t>
            </a:r>
          </a:p>
          <a:p>
            <a:pPr marL="285750" indent="-285750">
              <a:buFont typeface="Wingdings" pitchFamily="2" charset="2"/>
              <a:buChar char="§"/>
            </a:pPr>
            <a:r>
              <a:rPr lang="en-US" sz="1600" b="1" dirty="0">
                <a:solidFill>
                  <a:schemeClr val="bg1"/>
                </a:solidFill>
              </a:rPr>
              <a:t>Describe how the following stop pathogens from entering the body </a:t>
            </a:r>
          </a:p>
          <a:p>
            <a:pPr marL="285750" indent="-285750">
              <a:buFontTx/>
              <a:buChar char="-"/>
            </a:pPr>
            <a:r>
              <a:rPr lang="en-US" sz="1600" b="1" dirty="0">
                <a:solidFill>
                  <a:schemeClr val="bg1"/>
                </a:solidFill>
              </a:rPr>
              <a:t>Skin </a:t>
            </a:r>
          </a:p>
          <a:p>
            <a:pPr marL="285750" indent="-285750">
              <a:buFontTx/>
              <a:buChar char="-"/>
            </a:pPr>
            <a:r>
              <a:rPr lang="en-US" sz="1600" b="1" dirty="0">
                <a:solidFill>
                  <a:schemeClr val="bg1"/>
                </a:solidFill>
              </a:rPr>
              <a:t>Digestive tract </a:t>
            </a:r>
          </a:p>
          <a:p>
            <a:pPr marL="285750" indent="-285750">
              <a:buFontTx/>
              <a:buChar char="-"/>
            </a:pPr>
            <a:r>
              <a:rPr lang="en-US" sz="1600" b="1" dirty="0">
                <a:solidFill>
                  <a:schemeClr val="bg1"/>
                </a:solidFill>
              </a:rPr>
              <a:t>Urogenital tract </a:t>
            </a:r>
          </a:p>
          <a:p>
            <a:pPr marL="285750" indent="-285750">
              <a:buFontTx/>
              <a:buChar char="-"/>
            </a:pPr>
            <a:r>
              <a:rPr lang="en-US" sz="1600" b="1" dirty="0">
                <a:solidFill>
                  <a:schemeClr val="bg1"/>
                </a:solidFill>
              </a:rPr>
              <a:t>Respiratory system </a:t>
            </a:r>
          </a:p>
          <a:p>
            <a:pPr marL="285750" indent="-285750">
              <a:buFontTx/>
              <a:buChar char="-"/>
            </a:pPr>
            <a:r>
              <a:rPr lang="en-US" sz="1600" b="1" dirty="0">
                <a:solidFill>
                  <a:schemeClr val="bg1"/>
                </a:solidFill>
              </a:rPr>
              <a:t>The ear and the eye </a:t>
            </a:r>
          </a:p>
          <a:p>
            <a:pPr marL="285750" indent="-285750">
              <a:buFont typeface="Wingdings" pitchFamily="2" charset="2"/>
              <a:buChar char="§"/>
            </a:pPr>
            <a:r>
              <a:rPr lang="en-US" sz="1600" b="1" dirty="0">
                <a:solidFill>
                  <a:schemeClr val="bg1"/>
                </a:solidFill>
              </a:rPr>
              <a:t>Explain how fever, inflammation and other non-specific responses stop pathogens </a:t>
            </a:r>
          </a:p>
          <a:p>
            <a:pPr marL="285750" indent="-285750">
              <a:buFont typeface="Wingdings" pitchFamily="2" charset="2"/>
              <a:buChar char="§"/>
            </a:pPr>
            <a:r>
              <a:rPr lang="en-US" sz="1600" b="1" dirty="0">
                <a:solidFill>
                  <a:schemeClr val="bg1"/>
                </a:solidFill>
              </a:rPr>
              <a:t>Explain how antibody-mediated response (b-lymphocytes) stops pathogens </a:t>
            </a:r>
          </a:p>
          <a:p>
            <a:pPr marL="285750" indent="-285750">
              <a:buFont typeface="Wingdings" pitchFamily="2" charset="2"/>
              <a:buChar char="§"/>
            </a:pPr>
            <a:r>
              <a:rPr lang="en-US" sz="1600" b="1" dirty="0">
                <a:solidFill>
                  <a:schemeClr val="bg1"/>
                </a:solidFill>
              </a:rPr>
              <a:t>Explain how cell-mediated (T-lymphocytes) stops pathogens </a:t>
            </a:r>
          </a:p>
          <a:p>
            <a:pPr marL="285750" indent="-285750">
              <a:buFont typeface="Wingdings" pitchFamily="2" charset="2"/>
              <a:buChar char="§"/>
            </a:pPr>
            <a:r>
              <a:rPr lang="en-US" sz="1600" b="1" dirty="0">
                <a:solidFill>
                  <a:schemeClr val="bg1"/>
                </a:solidFill>
              </a:rPr>
              <a:t>Define passive immunity and describe how it can be acquired naturally through placenta or artificially through antibody injections </a:t>
            </a:r>
          </a:p>
          <a:p>
            <a:pPr marL="285750" indent="-285750">
              <a:buFont typeface="Wingdings" pitchFamily="2" charset="2"/>
              <a:buChar char="§"/>
            </a:pPr>
            <a:r>
              <a:rPr lang="en-US" sz="1600" b="1" dirty="0">
                <a:solidFill>
                  <a:schemeClr val="bg1"/>
                </a:solidFill>
              </a:rPr>
              <a:t>Define active immunity ad how it can be acquired naturally through exposure to pathogens and artificially through vaccines </a:t>
            </a:r>
          </a:p>
          <a:p>
            <a:pPr marL="285750" indent="-285750">
              <a:buFont typeface="Wingdings" pitchFamily="2" charset="2"/>
              <a:buChar char="§"/>
            </a:pPr>
            <a:r>
              <a:rPr lang="en-US" sz="1600" b="1" dirty="0">
                <a:solidFill>
                  <a:schemeClr val="bg1"/>
                </a:solidFill>
              </a:rPr>
              <a:t>Describe the action of antibiotics and antiviral drugs- give examples of use </a:t>
            </a:r>
          </a:p>
          <a:p>
            <a:pPr marL="285750" indent="-285750">
              <a:buFont typeface="Wingdings" pitchFamily="2" charset="2"/>
              <a:buChar char="§"/>
            </a:pPr>
            <a:r>
              <a:rPr lang="en-US" sz="1600" b="1" dirty="0">
                <a:solidFill>
                  <a:schemeClr val="bg1"/>
                </a:solidFill>
              </a:rPr>
              <a:t>Discuss ethics and issues of vaccines, discuss why this is a debated topic </a:t>
            </a:r>
          </a:p>
          <a:p>
            <a:pPr marL="285750" indent="-285750">
              <a:buFont typeface="Wingdings" pitchFamily="2" charset="2"/>
              <a:buChar char="§"/>
            </a:pPr>
            <a:endParaRPr lang="en-US" sz="1600" b="1" dirty="0">
              <a:solidFill>
                <a:schemeClr val="bg1"/>
              </a:solidFill>
            </a:endParaRPr>
          </a:p>
        </p:txBody>
      </p:sp>
    </p:spTree>
    <p:extLst>
      <p:ext uri="{BB962C8B-B14F-4D97-AF65-F5344CB8AC3E}">
        <p14:creationId xmlns:p14="http://schemas.microsoft.com/office/powerpoint/2010/main" val="303481256"/>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C9F08D7-0330-2640-944A-57504A26361F}"/>
              </a:ext>
            </a:extLst>
          </p:cNvPr>
          <p:cNvSpPr>
            <a:spLocks noGrp="1"/>
          </p:cNvSpPr>
          <p:nvPr>
            <p:ph type="title"/>
          </p:nvPr>
        </p:nvSpPr>
        <p:spPr>
          <a:xfrm>
            <a:off x="829781" y="2107769"/>
            <a:ext cx="3698803" cy="2123268"/>
          </a:xfrm>
          <a:noFill/>
          <a:ln>
            <a:solidFill>
              <a:schemeClr val="tx1"/>
            </a:solidFill>
          </a:ln>
        </p:spPr>
        <p:txBody>
          <a:bodyPr>
            <a:normAutofit/>
          </a:bodyPr>
          <a:lstStyle/>
          <a:p>
            <a:r>
              <a:rPr lang="en-US" sz="2400" b="1" dirty="0">
                <a:solidFill>
                  <a:schemeClr val="bg1"/>
                </a:solidFill>
              </a:rPr>
              <a:t>Describe how infectious diseases are caused by pathogens </a:t>
            </a:r>
            <a:endParaRPr lang="en-US" sz="2400" dirty="0">
              <a:solidFill>
                <a:schemeClr val="tx1"/>
              </a:solidFill>
            </a:endParaRPr>
          </a:p>
        </p:txBody>
      </p:sp>
      <p:sp>
        <p:nvSpPr>
          <p:cNvPr id="8" name="Rectangle 7">
            <a:extLst>
              <a:ext uri="{FF2B5EF4-FFF2-40B4-BE49-F238E27FC236}">
                <a16:creationId xmlns:a16="http://schemas.microsoft.com/office/drawing/2014/main" xmlns="" id="{FB403EBD-907E-4D59-98D4-A72CD1063C6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315061" y="-2"/>
            <a:ext cx="6876939" cy="6858002"/>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xmlns="" id="{8CD30B75-BF80-394D-8E7B-A81AB0309BCD}"/>
              </a:ext>
            </a:extLst>
          </p:cNvPr>
          <p:cNvSpPr txBox="1"/>
          <p:nvPr/>
        </p:nvSpPr>
        <p:spPr>
          <a:xfrm>
            <a:off x="5485542" y="1876741"/>
            <a:ext cx="6876939" cy="2585323"/>
          </a:xfrm>
          <a:prstGeom prst="rect">
            <a:avLst/>
          </a:prstGeom>
          <a:noFill/>
        </p:spPr>
        <p:txBody>
          <a:bodyPr wrap="square" rtlCol="0">
            <a:spAutoFit/>
          </a:bodyPr>
          <a:lstStyle/>
          <a:p>
            <a:r>
              <a:rPr lang="en-US" dirty="0">
                <a:solidFill>
                  <a:schemeClr val="bg1"/>
                </a:solidFill>
              </a:rPr>
              <a:t>The human body has a number of mechanisms in place to protect itself from invading organisms</a:t>
            </a:r>
          </a:p>
          <a:p>
            <a:r>
              <a:rPr lang="en-US" dirty="0">
                <a:solidFill>
                  <a:schemeClr val="bg1"/>
                </a:solidFill>
              </a:rPr>
              <a:t>If these defenses are overcome, the invaders will cause disease </a:t>
            </a:r>
          </a:p>
          <a:p>
            <a:r>
              <a:rPr lang="en-US" b="1" dirty="0">
                <a:solidFill>
                  <a:schemeClr val="bg1"/>
                </a:solidFill>
              </a:rPr>
              <a:t>communicable or infectious </a:t>
            </a:r>
            <a:r>
              <a:rPr lang="en-US" dirty="0">
                <a:solidFill>
                  <a:schemeClr val="bg1"/>
                </a:solidFill>
              </a:rPr>
              <a:t>diseases are caused by foreign organisms(pathogens)  multiplying within the body </a:t>
            </a:r>
          </a:p>
          <a:p>
            <a:r>
              <a:rPr lang="en-US" dirty="0">
                <a:solidFill>
                  <a:schemeClr val="bg1"/>
                </a:solidFill>
              </a:rPr>
              <a:t>Contagious diseases are those passed on by direct contact</a:t>
            </a:r>
          </a:p>
          <a:p>
            <a:r>
              <a:rPr lang="en-US" b="1" dirty="0">
                <a:solidFill>
                  <a:schemeClr val="bg1"/>
                </a:solidFill>
              </a:rPr>
              <a:t>Pathogens: </a:t>
            </a:r>
            <a:r>
              <a:rPr lang="en-US" dirty="0">
                <a:solidFill>
                  <a:schemeClr val="bg1"/>
                </a:solidFill>
              </a:rPr>
              <a:t>most common are bacteria and viruses although fungi and parasites can also affect the human body. </a:t>
            </a:r>
            <a:endParaRPr lang="en-US" b="1" dirty="0">
              <a:solidFill>
                <a:schemeClr val="bg1"/>
              </a:solidFill>
            </a:endParaRPr>
          </a:p>
          <a:p>
            <a:endParaRPr lang="en-US" b="1" dirty="0">
              <a:solidFill>
                <a:srgbClr val="0070C0"/>
              </a:solidFill>
            </a:endParaRPr>
          </a:p>
        </p:txBody>
      </p:sp>
    </p:spTree>
    <p:extLst>
      <p:ext uri="{BB962C8B-B14F-4D97-AF65-F5344CB8AC3E}">
        <p14:creationId xmlns:p14="http://schemas.microsoft.com/office/powerpoint/2010/main" val="642256398"/>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F0865E3-CC7D-1643-BE5F-4B90E923D1BE}"/>
              </a:ext>
            </a:extLst>
          </p:cNvPr>
          <p:cNvSpPr>
            <a:spLocks noGrp="1"/>
          </p:cNvSpPr>
          <p:nvPr>
            <p:ph type="title"/>
          </p:nvPr>
        </p:nvSpPr>
        <p:spPr>
          <a:xfrm>
            <a:off x="829781" y="2708804"/>
            <a:ext cx="3698803" cy="1440394"/>
          </a:xfrm>
          <a:noFill/>
          <a:ln>
            <a:solidFill>
              <a:schemeClr val="tx1"/>
            </a:solidFill>
          </a:ln>
        </p:spPr>
        <p:txBody>
          <a:bodyPr>
            <a:normAutofit/>
          </a:bodyPr>
          <a:lstStyle/>
          <a:p>
            <a:r>
              <a:rPr lang="en-US" sz="2400" b="1" dirty="0">
                <a:solidFill>
                  <a:schemeClr val="bg1"/>
                </a:solidFill>
              </a:rPr>
              <a:t>Describe bacteria and viruses </a:t>
            </a:r>
            <a:endParaRPr lang="en-US" sz="2400" dirty="0">
              <a:solidFill>
                <a:schemeClr val="tx1"/>
              </a:solidFill>
            </a:endParaRPr>
          </a:p>
        </p:txBody>
      </p:sp>
      <p:sp>
        <p:nvSpPr>
          <p:cNvPr id="8" name="Rectangle 7">
            <a:extLst>
              <a:ext uri="{FF2B5EF4-FFF2-40B4-BE49-F238E27FC236}">
                <a16:creationId xmlns:a16="http://schemas.microsoft.com/office/drawing/2014/main" xmlns="" id="{FB403EBD-907E-4D59-98D4-A72CD1063C6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315061" y="-2"/>
            <a:ext cx="6876939" cy="6858002"/>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xmlns="" id="{07353992-758A-2646-A89B-C63417E5DEE7}"/>
              </a:ext>
            </a:extLst>
          </p:cNvPr>
          <p:cNvSpPr txBox="1"/>
          <p:nvPr/>
        </p:nvSpPr>
        <p:spPr>
          <a:xfrm>
            <a:off x="5315060" y="335844"/>
            <a:ext cx="6876939" cy="6186309"/>
          </a:xfrm>
          <a:prstGeom prst="rect">
            <a:avLst/>
          </a:prstGeom>
          <a:noFill/>
        </p:spPr>
        <p:txBody>
          <a:bodyPr wrap="square" rtlCol="0">
            <a:spAutoFit/>
          </a:bodyPr>
          <a:lstStyle/>
          <a:p>
            <a:r>
              <a:rPr lang="en-US" sz="1400" b="1" dirty="0">
                <a:solidFill>
                  <a:schemeClr val="bg1"/>
                </a:solidFill>
              </a:rPr>
              <a:t>Bacteria: </a:t>
            </a:r>
          </a:p>
          <a:p>
            <a:pPr marL="285750" indent="-285750">
              <a:buFont typeface="Arial" panose="020B0604020202020204" pitchFamily="34" charset="0"/>
              <a:buChar char="•"/>
            </a:pPr>
            <a:r>
              <a:rPr lang="en-US" sz="1400" dirty="0">
                <a:solidFill>
                  <a:schemeClr val="bg1"/>
                </a:solidFill>
              </a:rPr>
              <a:t>Prokaryotic cells (have no membrane or bound nucleus </a:t>
            </a:r>
          </a:p>
          <a:p>
            <a:pPr marL="285750" indent="-285750">
              <a:buFont typeface="Arial" panose="020B0604020202020204" pitchFamily="34" charset="0"/>
              <a:buChar char="•"/>
            </a:pPr>
            <a:r>
              <a:rPr lang="en-US" sz="1400" dirty="0">
                <a:solidFill>
                  <a:schemeClr val="bg1"/>
                </a:solidFill>
              </a:rPr>
              <a:t>Found everywhere </a:t>
            </a:r>
          </a:p>
          <a:p>
            <a:pPr marL="285750" indent="-285750">
              <a:buFontTx/>
              <a:buChar char="-"/>
            </a:pPr>
            <a:r>
              <a:rPr lang="en-US" sz="1400" dirty="0">
                <a:solidFill>
                  <a:schemeClr val="bg1"/>
                </a:solidFill>
              </a:rPr>
              <a:t>Many are essential to human life whilst others can threaten it </a:t>
            </a:r>
          </a:p>
          <a:p>
            <a:pPr marL="285750" indent="-285750">
              <a:buFontTx/>
              <a:buChar char="-"/>
            </a:pPr>
            <a:r>
              <a:rPr lang="en-US" sz="1400" dirty="0">
                <a:solidFill>
                  <a:schemeClr val="bg1"/>
                </a:solidFill>
              </a:rPr>
              <a:t>Live on our skin and in the alimentary canal (help with the digestive process), also other parts of the body </a:t>
            </a:r>
          </a:p>
          <a:p>
            <a:pPr marL="285750" indent="-285750">
              <a:buFont typeface="Arial" panose="020B0604020202020204" pitchFamily="34" charset="0"/>
              <a:buChar char="•"/>
            </a:pPr>
            <a:r>
              <a:rPr lang="en-US" sz="1400" dirty="0">
                <a:solidFill>
                  <a:schemeClr val="bg1"/>
                </a:solidFill>
              </a:rPr>
              <a:t>Bacterial disease results from the destruction of the hosts cells and tissues by bacterial enzymes, waste products or toxins from the enzymes </a:t>
            </a:r>
          </a:p>
          <a:p>
            <a:r>
              <a:rPr lang="en-US" sz="1400" b="1" dirty="0">
                <a:solidFill>
                  <a:schemeClr val="bg1"/>
                </a:solidFill>
              </a:rPr>
              <a:t>Viruses: </a:t>
            </a:r>
          </a:p>
          <a:p>
            <a:pPr marL="285750" indent="-285750">
              <a:buFont typeface="Arial" panose="020B0604020202020204" pitchFamily="34" charset="0"/>
              <a:buChar char="•"/>
            </a:pPr>
            <a:r>
              <a:rPr lang="en-US" sz="1400" dirty="0">
                <a:solidFill>
                  <a:schemeClr val="bg1"/>
                </a:solidFill>
              </a:rPr>
              <a:t>Must have a host cell in which they live in and reproduce- they CANNOT function outside of a host cell, therefore they are tread the line of living to nonliving </a:t>
            </a:r>
          </a:p>
          <a:p>
            <a:pPr marL="285750" indent="-285750">
              <a:buFont typeface="Arial" panose="020B0604020202020204" pitchFamily="34" charset="0"/>
              <a:buChar char="•"/>
            </a:pPr>
            <a:r>
              <a:rPr lang="en-US" sz="1400" dirty="0">
                <a:solidFill>
                  <a:schemeClr val="bg1"/>
                </a:solidFill>
              </a:rPr>
              <a:t>Process which they infect: </a:t>
            </a:r>
          </a:p>
          <a:p>
            <a:pPr marL="285750" indent="-285750">
              <a:buFontTx/>
              <a:buChar char="-"/>
            </a:pPr>
            <a:r>
              <a:rPr lang="en-US" sz="1400" dirty="0">
                <a:solidFill>
                  <a:schemeClr val="bg1"/>
                </a:solidFill>
              </a:rPr>
              <a:t>Attaches to a host cell </a:t>
            </a:r>
          </a:p>
          <a:p>
            <a:pPr marL="285750" indent="-285750">
              <a:buFontTx/>
              <a:buChar char="-"/>
            </a:pPr>
            <a:r>
              <a:rPr lang="en-US" sz="1400" dirty="0">
                <a:solidFill>
                  <a:schemeClr val="bg1"/>
                </a:solidFill>
              </a:rPr>
              <a:t>Releases genetic instructions into the host cell </a:t>
            </a:r>
          </a:p>
          <a:p>
            <a:pPr marL="285750" indent="-285750">
              <a:buFontTx/>
              <a:buChar char="-"/>
            </a:pPr>
            <a:r>
              <a:rPr lang="en-US" sz="1400" dirty="0">
                <a:solidFill>
                  <a:schemeClr val="bg1"/>
                </a:solidFill>
              </a:rPr>
              <a:t>Injected material recruits the host cells enzymes and begins making parts for new virus particles </a:t>
            </a:r>
          </a:p>
          <a:p>
            <a:pPr marL="285750" indent="-285750">
              <a:buFontTx/>
              <a:buChar char="-"/>
            </a:pPr>
            <a:r>
              <a:rPr lang="en-US" sz="1400" dirty="0">
                <a:solidFill>
                  <a:schemeClr val="bg1"/>
                </a:solidFill>
              </a:rPr>
              <a:t>New particles break free from the host cell to infect more cells within the body. </a:t>
            </a:r>
          </a:p>
          <a:p>
            <a:pPr marL="285750" indent="-285750">
              <a:buFont typeface="Arial" panose="020B0604020202020204" pitchFamily="34" charset="0"/>
              <a:buChar char="•"/>
            </a:pPr>
            <a:r>
              <a:rPr lang="en-US" sz="1400" dirty="0">
                <a:solidFill>
                  <a:schemeClr val="bg1"/>
                </a:solidFill>
              </a:rPr>
              <a:t>Traditional vaccines are of 4 types: </a:t>
            </a:r>
          </a:p>
          <a:p>
            <a:pPr marL="285750" indent="-285750">
              <a:buFontTx/>
              <a:buChar char="-"/>
            </a:pPr>
            <a:r>
              <a:rPr lang="en-US" sz="1400" b="1" dirty="0">
                <a:solidFill>
                  <a:schemeClr val="bg1"/>
                </a:solidFill>
              </a:rPr>
              <a:t>attenuated: </a:t>
            </a:r>
            <a:r>
              <a:rPr lang="en-US" sz="1400" dirty="0">
                <a:solidFill>
                  <a:schemeClr val="bg1"/>
                </a:solidFill>
              </a:rPr>
              <a:t>contains living micro organisms with a reduced </a:t>
            </a:r>
            <a:r>
              <a:rPr lang="en-US" sz="1400" b="1" dirty="0">
                <a:solidFill>
                  <a:schemeClr val="bg1"/>
                </a:solidFill>
              </a:rPr>
              <a:t>virulence (</a:t>
            </a:r>
            <a:r>
              <a:rPr lang="en-US" sz="1400" dirty="0">
                <a:solidFill>
                  <a:schemeClr val="bg1"/>
                </a:solidFill>
              </a:rPr>
              <a:t>contains micro-organisms with a reduced ability to produce disease symptoms) examples include; polio and measles </a:t>
            </a:r>
          </a:p>
          <a:p>
            <a:pPr marL="285750" indent="-285750">
              <a:buFontTx/>
              <a:buChar char="-"/>
            </a:pPr>
            <a:r>
              <a:rPr lang="en-US" sz="1400" b="1" dirty="0">
                <a:solidFill>
                  <a:schemeClr val="bg1"/>
                </a:solidFill>
              </a:rPr>
              <a:t>Dead micro-organisms: </a:t>
            </a:r>
            <a:r>
              <a:rPr lang="en-US" sz="1400" dirty="0">
                <a:solidFill>
                  <a:schemeClr val="bg1"/>
                </a:solidFill>
              </a:rPr>
              <a:t>not usually as prolonged as when done with live organisms, examples of this type include; cholera and whooping cough vaccines </a:t>
            </a:r>
          </a:p>
          <a:p>
            <a:pPr marL="285750" indent="-285750">
              <a:buFontTx/>
              <a:buChar char="-"/>
            </a:pPr>
            <a:r>
              <a:rPr lang="en-US" sz="1400" b="1" dirty="0">
                <a:solidFill>
                  <a:schemeClr val="bg1"/>
                </a:solidFill>
              </a:rPr>
              <a:t>Toxins: </a:t>
            </a:r>
            <a:r>
              <a:rPr lang="en-US" sz="1400" dirty="0">
                <a:solidFill>
                  <a:schemeClr val="bg1"/>
                </a:solidFill>
              </a:rPr>
              <a:t>made from filtrates of bacterial cultures in the case where viruses produce there effects by releasing toxins. They injected into the body as toxoids ( inactivated toxins) </a:t>
            </a:r>
          </a:p>
          <a:p>
            <a:pPr marL="285750" indent="-285750">
              <a:buFontTx/>
              <a:buChar char="-"/>
            </a:pPr>
            <a:r>
              <a:rPr lang="en-US" sz="1400" b="1" dirty="0">
                <a:solidFill>
                  <a:schemeClr val="bg1"/>
                </a:solidFill>
              </a:rPr>
              <a:t>Sub-unit vaccine: </a:t>
            </a:r>
            <a:r>
              <a:rPr lang="en-US" sz="1400" dirty="0">
                <a:solidFill>
                  <a:schemeClr val="bg1"/>
                </a:solidFill>
              </a:rPr>
              <a:t>where a fragment of the the organism is used to provoke the immune response, they are used against diseases such as hepatitis B </a:t>
            </a:r>
            <a:endParaRPr lang="en-US" sz="1400" b="1" dirty="0">
              <a:solidFill>
                <a:schemeClr val="bg1"/>
              </a:solidFill>
            </a:endParaRPr>
          </a:p>
          <a:p>
            <a:pPr marL="285750" indent="-285750">
              <a:buFontTx/>
              <a:buChar char="-"/>
            </a:pPr>
            <a:endParaRPr lang="en-US" b="1" dirty="0">
              <a:solidFill>
                <a:schemeClr val="bg1"/>
              </a:solidFill>
            </a:endParaRPr>
          </a:p>
        </p:txBody>
      </p:sp>
    </p:spTree>
    <p:extLst>
      <p:ext uri="{BB962C8B-B14F-4D97-AF65-F5344CB8AC3E}">
        <p14:creationId xmlns:p14="http://schemas.microsoft.com/office/powerpoint/2010/main" val="193718711"/>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88A3501-9D3B-BB41-B290-8EA910773745}"/>
              </a:ext>
            </a:extLst>
          </p:cNvPr>
          <p:cNvSpPr>
            <a:spLocks noGrp="1"/>
          </p:cNvSpPr>
          <p:nvPr>
            <p:ph type="title"/>
          </p:nvPr>
        </p:nvSpPr>
        <p:spPr>
          <a:xfrm>
            <a:off x="201478" y="1410345"/>
            <a:ext cx="4912963" cy="3595607"/>
          </a:xfrm>
          <a:noFill/>
          <a:ln>
            <a:solidFill>
              <a:schemeClr val="tx1"/>
            </a:solidFill>
          </a:ln>
        </p:spPr>
        <p:txBody>
          <a:bodyPr>
            <a:normAutofit fontScale="90000"/>
          </a:bodyPr>
          <a:lstStyle/>
          <a:p>
            <a:pPr marL="285750" indent="-285750"/>
            <a:r>
              <a:rPr lang="en-US" sz="2400" b="1" dirty="0">
                <a:solidFill>
                  <a:schemeClr val="bg1"/>
                </a:solidFill>
              </a:rPr>
              <a:t>Describe how pathogens are transmitted by: </a:t>
            </a:r>
            <a:br>
              <a:rPr lang="en-US" sz="2400" b="1" dirty="0">
                <a:solidFill>
                  <a:schemeClr val="bg1"/>
                </a:solidFill>
              </a:rPr>
            </a:br>
            <a:r>
              <a:rPr lang="en-US" sz="2400" b="1" dirty="0">
                <a:solidFill>
                  <a:schemeClr val="bg1"/>
                </a:solidFill>
              </a:rPr>
              <a:t>-Direct and indirect contact </a:t>
            </a:r>
            <a:br>
              <a:rPr lang="en-US" sz="2400" b="1" dirty="0">
                <a:solidFill>
                  <a:schemeClr val="bg1"/>
                </a:solidFill>
              </a:rPr>
            </a:br>
            <a:r>
              <a:rPr lang="en-US" sz="2400" b="1" dirty="0">
                <a:solidFill>
                  <a:schemeClr val="bg1"/>
                </a:solidFill>
              </a:rPr>
              <a:t>-Transfer of body fluids </a:t>
            </a:r>
            <a:br>
              <a:rPr lang="en-US" sz="2400" b="1" dirty="0">
                <a:solidFill>
                  <a:schemeClr val="bg1"/>
                </a:solidFill>
              </a:rPr>
            </a:br>
            <a:r>
              <a:rPr lang="en-US" sz="2400" b="1" dirty="0">
                <a:solidFill>
                  <a:schemeClr val="bg1"/>
                </a:solidFill>
              </a:rPr>
              <a:t>-Disease specific vectors </a:t>
            </a:r>
            <a:br>
              <a:rPr lang="en-US" sz="2400" b="1" dirty="0">
                <a:solidFill>
                  <a:schemeClr val="bg1"/>
                </a:solidFill>
              </a:rPr>
            </a:br>
            <a:r>
              <a:rPr lang="en-US" sz="2400" b="1" dirty="0">
                <a:solidFill>
                  <a:schemeClr val="bg1"/>
                </a:solidFill>
              </a:rPr>
              <a:t>-Contaminated food and water </a:t>
            </a:r>
            <a:endParaRPr lang="en-US" sz="2400" dirty="0">
              <a:solidFill>
                <a:schemeClr val="tx1"/>
              </a:solidFill>
            </a:endParaRPr>
          </a:p>
        </p:txBody>
      </p:sp>
      <p:sp>
        <p:nvSpPr>
          <p:cNvPr id="8" name="Rectangle 7">
            <a:extLst>
              <a:ext uri="{FF2B5EF4-FFF2-40B4-BE49-F238E27FC236}">
                <a16:creationId xmlns:a16="http://schemas.microsoft.com/office/drawing/2014/main" xmlns="" id="{FB403EBD-907E-4D59-98D4-A72CD1063C6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315061" y="-2"/>
            <a:ext cx="6876939" cy="6858002"/>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xmlns="" id="{78F1F14B-81F7-7444-9D80-A0BB580FCC1C}"/>
              </a:ext>
            </a:extLst>
          </p:cNvPr>
          <p:cNvSpPr txBox="1"/>
          <p:nvPr/>
        </p:nvSpPr>
        <p:spPr>
          <a:xfrm>
            <a:off x="5315061" y="1582339"/>
            <a:ext cx="6727122" cy="3693319"/>
          </a:xfrm>
          <a:prstGeom prst="rect">
            <a:avLst/>
          </a:prstGeom>
          <a:noFill/>
        </p:spPr>
        <p:txBody>
          <a:bodyPr wrap="square" rtlCol="0">
            <a:spAutoFit/>
          </a:bodyPr>
          <a:lstStyle/>
          <a:p>
            <a:r>
              <a:rPr lang="en-US" b="1" dirty="0">
                <a:solidFill>
                  <a:schemeClr val="bg1"/>
                </a:solidFill>
              </a:rPr>
              <a:t>Contact: </a:t>
            </a:r>
            <a:endParaRPr lang="en-US" dirty="0">
              <a:solidFill>
                <a:schemeClr val="bg1"/>
              </a:solidFill>
            </a:endParaRPr>
          </a:p>
          <a:p>
            <a:r>
              <a:rPr lang="en-US" b="1" dirty="0">
                <a:solidFill>
                  <a:schemeClr val="bg1"/>
                </a:solidFill>
              </a:rPr>
              <a:t>Direct contact- </a:t>
            </a:r>
            <a:r>
              <a:rPr lang="en-US" dirty="0">
                <a:solidFill>
                  <a:schemeClr val="bg1"/>
                </a:solidFill>
              </a:rPr>
              <a:t>physically touching an infected person </a:t>
            </a:r>
          </a:p>
          <a:p>
            <a:r>
              <a:rPr lang="en-US" b="1" dirty="0">
                <a:solidFill>
                  <a:schemeClr val="bg1"/>
                </a:solidFill>
              </a:rPr>
              <a:t>Indirect contact- </a:t>
            </a:r>
            <a:r>
              <a:rPr lang="en-US" dirty="0">
                <a:solidFill>
                  <a:schemeClr val="bg1"/>
                </a:solidFill>
              </a:rPr>
              <a:t>touching an object which has been touched by an infected individual </a:t>
            </a:r>
          </a:p>
          <a:p>
            <a:r>
              <a:rPr lang="en-US" b="1" dirty="0">
                <a:solidFill>
                  <a:schemeClr val="bg1"/>
                </a:solidFill>
              </a:rPr>
              <a:t>Body fluids: </a:t>
            </a:r>
            <a:r>
              <a:rPr lang="en-US" dirty="0">
                <a:solidFill>
                  <a:schemeClr val="bg1"/>
                </a:solidFill>
              </a:rPr>
              <a:t>when blood or other body fluids from an infected person come into contact with the mucous membrane  or blood stream of an uninfected person </a:t>
            </a:r>
          </a:p>
          <a:p>
            <a:r>
              <a:rPr lang="en-US" b="1" dirty="0">
                <a:solidFill>
                  <a:schemeClr val="bg1"/>
                </a:solidFill>
              </a:rPr>
              <a:t>Droplets or airborne: </a:t>
            </a:r>
            <a:r>
              <a:rPr lang="en-US" dirty="0">
                <a:solidFill>
                  <a:schemeClr val="bg1"/>
                </a:solidFill>
              </a:rPr>
              <a:t>small droplets of moisture are emitted when sneezing, coughing, talking or breathing, they contain pathogens which can be breathed in or settle on food etc. </a:t>
            </a:r>
          </a:p>
          <a:p>
            <a:r>
              <a:rPr lang="en-US" b="1" dirty="0">
                <a:solidFill>
                  <a:schemeClr val="bg1"/>
                </a:solidFill>
              </a:rPr>
              <a:t>Ingestion: </a:t>
            </a:r>
            <a:r>
              <a:rPr lang="en-US" dirty="0">
                <a:solidFill>
                  <a:schemeClr val="bg1"/>
                </a:solidFill>
              </a:rPr>
              <a:t>when contaminated food or drink is ingested </a:t>
            </a:r>
          </a:p>
          <a:p>
            <a:r>
              <a:rPr lang="en-US" b="1" dirty="0">
                <a:solidFill>
                  <a:schemeClr val="bg1"/>
                </a:solidFill>
              </a:rPr>
              <a:t>Vectors: </a:t>
            </a:r>
            <a:r>
              <a:rPr lang="en-US" dirty="0">
                <a:solidFill>
                  <a:schemeClr val="bg1"/>
                </a:solidFill>
              </a:rPr>
              <a:t>pathogens can be transferred by other animals including insects. They can transfer directly or via food and drink. </a:t>
            </a:r>
            <a:endParaRPr lang="en-US" b="1" dirty="0">
              <a:solidFill>
                <a:schemeClr val="bg1"/>
              </a:solidFill>
            </a:endParaRPr>
          </a:p>
        </p:txBody>
      </p:sp>
    </p:spTree>
    <p:extLst>
      <p:ext uri="{BB962C8B-B14F-4D97-AF65-F5344CB8AC3E}">
        <p14:creationId xmlns:p14="http://schemas.microsoft.com/office/powerpoint/2010/main" val="1928130411"/>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413C135-3990-6044-BAF9-4D89E842B51C}"/>
              </a:ext>
            </a:extLst>
          </p:cNvPr>
          <p:cNvSpPr>
            <a:spLocks noGrp="1"/>
          </p:cNvSpPr>
          <p:nvPr>
            <p:ph type="title"/>
          </p:nvPr>
        </p:nvSpPr>
        <p:spPr>
          <a:xfrm>
            <a:off x="298507" y="1824924"/>
            <a:ext cx="4649493" cy="3208149"/>
          </a:xfrm>
          <a:noFill/>
          <a:ln>
            <a:solidFill>
              <a:schemeClr val="tx1"/>
            </a:solidFill>
          </a:ln>
        </p:spPr>
        <p:txBody>
          <a:bodyPr>
            <a:normAutofit fontScale="90000"/>
          </a:bodyPr>
          <a:lstStyle/>
          <a:p>
            <a:pPr marL="285750" indent="-285750"/>
            <a:r>
              <a:rPr lang="en-US" sz="2400" b="1" dirty="0">
                <a:solidFill>
                  <a:schemeClr val="bg1"/>
                </a:solidFill>
              </a:rPr>
              <a:t>Describe how the following stop pathogens from entering the body </a:t>
            </a:r>
            <a:br>
              <a:rPr lang="en-US" sz="2400" b="1" dirty="0">
                <a:solidFill>
                  <a:schemeClr val="bg1"/>
                </a:solidFill>
              </a:rPr>
            </a:br>
            <a:r>
              <a:rPr lang="en-US" sz="2400" b="1" dirty="0">
                <a:solidFill>
                  <a:schemeClr val="bg1"/>
                </a:solidFill>
              </a:rPr>
              <a:t>-Skin </a:t>
            </a:r>
            <a:br>
              <a:rPr lang="en-US" sz="2400" b="1" dirty="0">
                <a:solidFill>
                  <a:schemeClr val="bg1"/>
                </a:solidFill>
              </a:rPr>
            </a:br>
            <a:r>
              <a:rPr lang="en-US" sz="2400" b="1" dirty="0">
                <a:solidFill>
                  <a:schemeClr val="bg1"/>
                </a:solidFill>
              </a:rPr>
              <a:t>-Digestive tract </a:t>
            </a:r>
            <a:br>
              <a:rPr lang="en-US" sz="2400" b="1" dirty="0">
                <a:solidFill>
                  <a:schemeClr val="bg1"/>
                </a:solidFill>
              </a:rPr>
            </a:br>
            <a:r>
              <a:rPr lang="en-US" sz="2400" b="1" dirty="0">
                <a:solidFill>
                  <a:schemeClr val="bg1"/>
                </a:solidFill>
              </a:rPr>
              <a:t>-Urogenital tract </a:t>
            </a:r>
            <a:br>
              <a:rPr lang="en-US" sz="2400" b="1" dirty="0">
                <a:solidFill>
                  <a:schemeClr val="bg1"/>
                </a:solidFill>
              </a:rPr>
            </a:br>
            <a:r>
              <a:rPr lang="en-US" sz="2400" b="1" dirty="0">
                <a:solidFill>
                  <a:schemeClr val="bg1"/>
                </a:solidFill>
              </a:rPr>
              <a:t>-Respiratory system </a:t>
            </a:r>
            <a:br>
              <a:rPr lang="en-US" sz="2400" b="1" dirty="0">
                <a:solidFill>
                  <a:schemeClr val="bg1"/>
                </a:solidFill>
              </a:rPr>
            </a:br>
            <a:r>
              <a:rPr lang="en-US" sz="2400" b="1" dirty="0">
                <a:solidFill>
                  <a:schemeClr val="bg1"/>
                </a:solidFill>
              </a:rPr>
              <a:t>-The ear and the eye </a:t>
            </a:r>
            <a:endParaRPr lang="en-US" sz="2400" dirty="0">
              <a:solidFill>
                <a:schemeClr val="tx1"/>
              </a:solidFill>
            </a:endParaRPr>
          </a:p>
        </p:txBody>
      </p:sp>
      <p:sp>
        <p:nvSpPr>
          <p:cNvPr id="8" name="Rectangle 7">
            <a:extLst>
              <a:ext uri="{FF2B5EF4-FFF2-40B4-BE49-F238E27FC236}">
                <a16:creationId xmlns:a16="http://schemas.microsoft.com/office/drawing/2014/main" xmlns="" id="{FB403EBD-907E-4D59-98D4-A72CD1063C6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315061" y="-2"/>
            <a:ext cx="6876939" cy="6858002"/>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xmlns="" id="{7A01F980-8471-0E49-9457-8A3F38F15DBB}"/>
              </a:ext>
            </a:extLst>
          </p:cNvPr>
          <p:cNvSpPr txBox="1"/>
          <p:nvPr/>
        </p:nvSpPr>
        <p:spPr>
          <a:xfrm>
            <a:off x="5315061" y="181955"/>
            <a:ext cx="6876939" cy="6494085"/>
          </a:xfrm>
          <a:prstGeom prst="rect">
            <a:avLst/>
          </a:prstGeom>
          <a:noFill/>
        </p:spPr>
        <p:txBody>
          <a:bodyPr wrap="square" rtlCol="0">
            <a:spAutoFit/>
          </a:bodyPr>
          <a:lstStyle/>
          <a:p>
            <a:r>
              <a:rPr lang="en-US" sz="1600" b="1" dirty="0">
                <a:solidFill>
                  <a:schemeClr val="bg1"/>
                </a:solidFill>
              </a:rPr>
              <a:t>Skin: </a:t>
            </a:r>
          </a:p>
          <a:p>
            <a:pPr marL="285750" indent="-285750">
              <a:buFont typeface="Arial" panose="020B0604020202020204" pitchFamily="34" charset="0"/>
              <a:buChar char="•"/>
            </a:pPr>
            <a:r>
              <a:rPr lang="en-US" sz="1600" dirty="0">
                <a:solidFill>
                  <a:schemeClr val="bg1"/>
                </a:solidFill>
              </a:rPr>
              <a:t>Huge numbers of bacteria live on the skin which prevents potential pathogens being able to establish themselves on the skin </a:t>
            </a:r>
          </a:p>
          <a:p>
            <a:pPr marL="285750" indent="-285750">
              <a:buFont typeface="Arial" panose="020B0604020202020204" pitchFamily="34" charset="0"/>
              <a:buChar char="•"/>
            </a:pPr>
            <a:r>
              <a:rPr lang="en-US" sz="1600" dirty="0">
                <a:solidFill>
                  <a:schemeClr val="bg1"/>
                </a:solidFill>
              </a:rPr>
              <a:t>Sebum (an oily secretion) is produced by the oil glands in the skin, it contains substances which kill some pathogenic bacteria </a:t>
            </a:r>
          </a:p>
          <a:p>
            <a:pPr marL="285750" indent="-285750">
              <a:buFont typeface="Arial" panose="020B0604020202020204" pitchFamily="34" charset="0"/>
              <a:buChar char="•"/>
            </a:pPr>
            <a:r>
              <a:rPr lang="en-US" sz="1600" dirty="0">
                <a:solidFill>
                  <a:schemeClr val="bg1"/>
                </a:solidFill>
              </a:rPr>
              <a:t>Sweat contains salts and fatty acids which prevent the growth of micro-organisms </a:t>
            </a:r>
          </a:p>
          <a:p>
            <a:r>
              <a:rPr lang="en-US" sz="1600" b="1" dirty="0">
                <a:solidFill>
                  <a:schemeClr val="bg1"/>
                </a:solidFill>
              </a:rPr>
              <a:t>Mucous membranes: </a:t>
            </a:r>
            <a:endParaRPr lang="en-US" sz="1600" dirty="0">
              <a:solidFill>
                <a:schemeClr val="bg1"/>
              </a:solidFill>
            </a:endParaRPr>
          </a:p>
          <a:p>
            <a:pPr marL="285750" indent="-285750">
              <a:buFont typeface="Arial" panose="020B0604020202020204" pitchFamily="34" charset="0"/>
              <a:buChar char="•"/>
            </a:pPr>
            <a:r>
              <a:rPr lang="en-US" sz="1600" dirty="0">
                <a:solidFill>
                  <a:schemeClr val="bg1"/>
                </a:solidFill>
              </a:rPr>
              <a:t>Line body cavities which open to the exterior and secrete mucous which secretes mucus that inhibits the entry of micro-organisms to the organs of the body </a:t>
            </a:r>
          </a:p>
          <a:p>
            <a:pPr marL="285750" indent="-285750">
              <a:buFont typeface="Arial" panose="020B0604020202020204" pitchFamily="34" charset="0"/>
              <a:buChar char="•"/>
            </a:pPr>
            <a:r>
              <a:rPr lang="en-US" sz="1600" dirty="0">
                <a:solidFill>
                  <a:schemeClr val="bg1"/>
                </a:solidFill>
              </a:rPr>
              <a:t>Protects digestive and urinary tracts </a:t>
            </a:r>
          </a:p>
          <a:p>
            <a:r>
              <a:rPr lang="en-US" sz="1600" b="1" dirty="0">
                <a:solidFill>
                  <a:schemeClr val="bg1"/>
                </a:solidFill>
              </a:rPr>
              <a:t>Hairs: </a:t>
            </a:r>
          </a:p>
          <a:p>
            <a:pPr marL="285750" indent="-285750">
              <a:buFont typeface="Arial" panose="020B0604020202020204" pitchFamily="34" charset="0"/>
              <a:buChar char="•"/>
            </a:pPr>
            <a:r>
              <a:rPr lang="en-US" sz="1600" dirty="0">
                <a:solidFill>
                  <a:schemeClr val="bg1"/>
                </a:solidFill>
              </a:rPr>
              <a:t>Found in ear and nose; covered in a layer of mucus which traps particles </a:t>
            </a:r>
          </a:p>
          <a:p>
            <a:pPr marL="285750" indent="-285750">
              <a:buFont typeface="Arial" panose="020B0604020202020204" pitchFamily="34" charset="0"/>
              <a:buChar char="•"/>
            </a:pPr>
            <a:r>
              <a:rPr lang="en-US" sz="1600" dirty="0">
                <a:solidFill>
                  <a:schemeClr val="bg1"/>
                </a:solidFill>
              </a:rPr>
              <a:t>Cilia are tiny hair-like projections capable of beating motion- they line the mucous membranes of the nose cavity, trachea and other air passages</a:t>
            </a:r>
          </a:p>
          <a:p>
            <a:pPr marL="285750" indent="-285750">
              <a:buFont typeface="Arial" panose="020B0604020202020204" pitchFamily="34" charset="0"/>
              <a:buChar char="•"/>
            </a:pPr>
            <a:r>
              <a:rPr lang="en-US" sz="1600" dirty="0">
                <a:solidFill>
                  <a:schemeClr val="bg1"/>
                </a:solidFill>
              </a:rPr>
              <a:t>The beating of the cilia moves trapped particles towards the throat. </a:t>
            </a:r>
          </a:p>
          <a:p>
            <a:r>
              <a:rPr lang="en-US" sz="1600" b="1" dirty="0">
                <a:solidFill>
                  <a:schemeClr val="bg1"/>
                </a:solidFill>
              </a:rPr>
              <a:t>Acids: </a:t>
            </a:r>
          </a:p>
          <a:p>
            <a:pPr marL="285750" indent="-285750">
              <a:buFont typeface="Arial" panose="020B0604020202020204" pitchFamily="34" charset="0"/>
              <a:buChar char="•"/>
            </a:pPr>
            <a:r>
              <a:rPr lang="en-US" sz="1600" dirty="0">
                <a:solidFill>
                  <a:schemeClr val="bg1"/>
                </a:solidFill>
              </a:rPr>
              <a:t>Stomach juices are very acidic and kills majority of the bacteria ingested </a:t>
            </a:r>
          </a:p>
          <a:p>
            <a:pPr marL="285750" indent="-285750">
              <a:buFont typeface="Arial" panose="020B0604020202020204" pitchFamily="34" charset="0"/>
              <a:buChar char="•"/>
            </a:pPr>
            <a:r>
              <a:rPr lang="en-US" sz="1600" dirty="0">
                <a:solidFill>
                  <a:schemeClr val="bg1"/>
                </a:solidFill>
              </a:rPr>
              <a:t>The vagina also has acidic secretions to reduce growth of micro-organisms </a:t>
            </a:r>
          </a:p>
          <a:p>
            <a:pPr marL="285750" indent="-285750">
              <a:buFont typeface="Arial" panose="020B0604020202020204" pitchFamily="34" charset="0"/>
              <a:buChar char="•"/>
            </a:pPr>
            <a:r>
              <a:rPr lang="en-US" sz="1600" dirty="0">
                <a:solidFill>
                  <a:schemeClr val="bg1"/>
                </a:solidFill>
              </a:rPr>
              <a:t>Lysozyme: an enzyme which protects the eye from bacteria </a:t>
            </a:r>
          </a:p>
          <a:p>
            <a:pPr marL="285750" indent="-285750">
              <a:buFont typeface="Arial" panose="020B0604020202020204" pitchFamily="34" charset="0"/>
              <a:buChar char="•"/>
            </a:pPr>
            <a:r>
              <a:rPr lang="en-US" sz="1600" dirty="0">
                <a:solidFill>
                  <a:schemeClr val="bg1"/>
                </a:solidFill>
              </a:rPr>
              <a:t>Cerumen: earwax, protects the outer ear against infection. </a:t>
            </a:r>
          </a:p>
          <a:p>
            <a:r>
              <a:rPr lang="en-US" sz="1600" b="1" dirty="0">
                <a:solidFill>
                  <a:schemeClr val="bg1"/>
                </a:solidFill>
              </a:rPr>
              <a:t>Flushing action: </a:t>
            </a:r>
          </a:p>
          <a:p>
            <a:pPr marL="285750" indent="-285750">
              <a:buFont typeface="Arial" panose="020B0604020202020204" pitchFamily="34" charset="0"/>
              <a:buChar char="•"/>
            </a:pPr>
            <a:r>
              <a:rPr lang="en-US" sz="1600" dirty="0">
                <a:solidFill>
                  <a:schemeClr val="bg1"/>
                </a:solidFill>
              </a:rPr>
              <a:t>Flushing body fluids helps keep areas of the body free from pathogens </a:t>
            </a:r>
          </a:p>
          <a:p>
            <a:pPr marL="285750" indent="-285750">
              <a:buFont typeface="Arial" panose="020B0604020202020204" pitchFamily="34" charset="0"/>
              <a:buChar char="•"/>
            </a:pPr>
            <a:r>
              <a:rPr lang="en-US" sz="1600" dirty="0">
                <a:solidFill>
                  <a:schemeClr val="bg1"/>
                </a:solidFill>
              </a:rPr>
              <a:t>Urine flowing through the urethra has a cleansing action  which prevents bacterial growth </a:t>
            </a:r>
          </a:p>
        </p:txBody>
      </p:sp>
    </p:spTree>
    <p:extLst>
      <p:ext uri="{BB962C8B-B14F-4D97-AF65-F5344CB8AC3E}">
        <p14:creationId xmlns:p14="http://schemas.microsoft.com/office/powerpoint/2010/main" val="746234536"/>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E04286E-0228-ED4E-AE05-CE3F549EE01A}"/>
              </a:ext>
            </a:extLst>
          </p:cNvPr>
          <p:cNvSpPr>
            <a:spLocks noGrp="1"/>
          </p:cNvSpPr>
          <p:nvPr>
            <p:ph type="title"/>
          </p:nvPr>
        </p:nvSpPr>
        <p:spPr>
          <a:xfrm>
            <a:off x="829781" y="2123268"/>
            <a:ext cx="3447751" cy="2696705"/>
          </a:xfrm>
          <a:noFill/>
          <a:ln>
            <a:solidFill>
              <a:schemeClr val="tx1"/>
            </a:solidFill>
          </a:ln>
        </p:spPr>
        <p:txBody>
          <a:bodyPr>
            <a:normAutofit fontScale="90000"/>
          </a:bodyPr>
          <a:lstStyle/>
          <a:p>
            <a:r>
              <a:rPr lang="en-US" sz="2400" b="1" dirty="0">
                <a:solidFill>
                  <a:schemeClr val="bg1"/>
                </a:solidFill>
              </a:rPr>
              <a:t>Explain how fever, inflammation and other non-specific responses stop pathogens </a:t>
            </a:r>
            <a:endParaRPr lang="en-US" sz="2400" dirty="0">
              <a:solidFill>
                <a:schemeClr val="tx1"/>
              </a:solidFill>
            </a:endParaRPr>
          </a:p>
        </p:txBody>
      </p:sp>
      <p:sp>
        <p:nvSpPr>
          <p:cNvPr id="8" name="Rectangle 7">
            <a:extLst>
              <a:ext uri="{FF2B5EF4-FFF2-40B4-BE49-F238E27FC236}">
                <a16:creationId xmlns:a16="http://schemas.microsoft.com/office/drawing/2014/main" xmlns="" id="{FB403EBD-907E-4D59-98D4-A72CD1063C6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315061" y="-2"/>
            <a:ext cx="6876939" cy="6858002"/>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xmlns="" id="{6F3D352E-E8EF-3846-8528-643627D02BD0}"/>
              </a:ext>
            </a:extLst>
          </p:cNvPr>
          <p:cNvSpPr txBox="1"/>
          <p:nvPr/>
        </p:nvSpPr>
        <p:spPr>
          <a:xfrm>
            <a:off x="5315060" y="58845"/>
            <a:ext cx="6876939" cy="6740307"/>
          </a:xfrm>
          <a:prstGeom prst="rect">
            <a:avLst/>
          </a:prstGeom>
          <a:noFill/>
        </p:spPr>
        <p:txBody>
          <a:bodyPr wrap="square" rtlCol="0">
            <a:spAutoFit/>
          </a:bodyPr>
          <a:lstStyle/>
          <a:p>
            <a:r>
              <a:rPr lang="en-US" sz="1600" b="1" dirty="0">
                <a:solidFill>
                  <a:schemeClr val="bg1"/>
                </a:solidFill>
              </a:rPr>
              <a:t>Fever: </a:t>
            </a:r>
            <a:endParaRPr lang="en-US" sz="1600" dirty="0">
              <a:solidFill>
                <a:schemeClr val="bg1"/>
              </a:solidFill>
            </a:endParaRPr>
          </a:p>
          <a:p>
            <a:pPr marL="285750" indent="-285750">
              <a:buFont typeface="Arial" panose="020B0604020202020204" pitchFamily="34" charset="0"/>
              <a:buChar char="•"/>
            </a:pPr>
            <a:r>
              <a:rPr lang="en-US" sz="1600" dirty="0">
                <a:solidFill>
                  <a:schemeClr val="bg1"/>
                </a:solidFill>
              </a:rPr>
              <a:t>During the course of an infection individuals experience elevated body temperatures (fever) </a:t>
            </a:r>
          </a:p>
          <a:p>
            <a:pPr marL="285750" indent="-285750">
              <a:buFont typeface="Arial" panose="020B0604020202020204" pitchFamily="34" charset="0"/>
              <a:buChar char="•"/>
            </a:pPr>
            <a:r>
              <a:rPr lang="en-US" sz="1600" dirty="0">
                <a:solidFill>
                  <a:schemeClr val="bg1"/>
                </a:solidFill>
              </a:rPr>
              <a:t>Due to a resetting of the body’s thermostat to a higher temp </a:t>
            </a:r>
          </a:p>
          <a:p>
            <a:pPr marL="285750" indent="-285750">
              <a:buFont typeface="Arial" panose="020B0604020202020204" pitchFamily="34" charset="0"/>
              <a:buChar char="•"/>
            </a:pPr>
            <a:r>
              <a:rPr lang="en-US" sz="1600" dirty="0">
                <a:solidFill>
                  <a:schemeClr val="bg1"/>
                </a:solidFill>
              </a:rPr>
              <a:t>Macrophages initiate a counterattack to the virus and tell the brain to raise the body temperature which inhibits microbial growth </a:t>
            </a:r>
          </a:p>
          <a:p>
            <a:pPr marL="285750" indent="-285750">
              <a:buFont typeface="Arial" panose="020B0604020202020204" pitchFamily="34" charset="0"/>
              <a:buChar char="•"/>
            </a:pPr>
            <a:r>
              <a:rPr lang="en-US" sz="1600" dirty="0">
                <a:solidFill>
                  <a:schemeClr val="bg1"/>
                </a:solidFill>
              </a:rPr>
              <a:t>Macrophages initiate inflammatory response by releasing pyrogens that act on the hypothalamus- which them alter he body’s receptors making the body feels cold </a:t>
            </a:r>
          </a:p>
          <a:p>
            <a:pPr marL="285750" indent="-285750">
              <a:buFont typeface="Arial" panose="020B0604020202020204" pitchFamily="34" charset="0"/>
              <a:buChar char="•"/>
            </a:pPr>
            <a:r>
              <a:rPr lang="en-US" sz="1600" dirty="0">
                <a:solidFill>
                  <a:schemeClr val="bg1"/>
                </a:solidFill>
              </a:rPr>
              <a:t>The hypothalamus responds by shivering/vasoconstriction to raise body temperature </a:t>
            </a:r>
          </a:p>
          <a:p>
            <a:pPr marL="285750" indent="-285750">
              <a:buFont typeface="Arial" panose="020B0604020202020204" pitchFamily="34" charset="0"/>
              <a:buChar char="•"/>
            </a:pPr>
            <a:r>
              <a:rPr lang="en-US" sz="1600" dirty="0">
                <a:solidFill>
                  <a:schemeClr val="bg1"/>
                </a:solidFill>
              </a:rPr>
              <a:t>This increase in temp results in; increase metabolic rate (tissue repair), inhibits microbial growth, increased heart rate, increased speed of immune response </a:t>
            </a:r>
          </a:p>
          <a:p>
            <a:r>
              <a:rPr lang="en-US" sz="1600" b="1" dirty="0">
                <a:solidFill>
                  <a:schemeClr val="bg1"/>
                </a:solidFill>
              </a:rPr>
              <a:t>Inflammatory response: </a:t>
            </a:r>
          </a:p>
          <a:p>
            <a:pPr marL="285750" indent="-285750">
              <a:buFont typeface="Arial" panose="020B0604020202020204" pitchFamily="34" charset="0"/>
              <a:buChar char="•"/>
            </a:pPr>
            <a:r>
              <a:rPr lang="en-US" sz="1600" dirty="0">
                <a:solidFill>
                  <a:schemeClr val="bg1"/>
                </a:solidFill>
              </a:rPr>
              <a:t>Damaged tissue or change in local chemicals stimulates the mast cells to release histamine, heparin and other substances </a:t>
            </a:r>
          </a:p>
          <a:p>
            <a:pPr marL="285750" indent="-285750">
              <a:buFont typeface="Arial" panose="020B0604020202020204" pitchFamily="34" charset="0"/>
              <a:buChar char="•"/>
            </a:pPr>
            <a:r>
              <a:rPr lang="en-US" sz="1600" dirty="0">
                <a:solidFill>
                  <a:schemeClr val="bg1"/>
                </a:solidFill>
              </a:rPr>
              <a:t>Histamine increases blood flow through the area and causes the walls of blood capillaries to become more permeable- causes the heat and redness and swelling </a:t>
            </a:r>
          </a:p>
          <a:p>
            <a:pPr marL="285750" indent="-285750">
              <a:buFont typeface="Arial" panose="020B0604020202020204" pitchFamily="34" charset="0"/>
              <a:buChar char="•"/>
            </a:pPr>
            <a:r>
              <a:rPr lang="en-US" sz="1600" dirty="0">
                <a:solidFill>
                  <a:schemeClr val="bg1"/>
                </a:solidFill>
              </a:rPr>
              <a:t>Heparin prevents clotting in the immediate area of the injury which slows the spread of the pathogen </a:t>
            </a:r>
          </a:p>
          <a:p>
            <a:pPr marL="285750" indent="-285750">
              <a:buFont typeface="Arial" panose="020B0604020202020204" pitchFamily="34" charset="0"/>
              <a:buChar char="•"/>
            </a:pPr>
            <a:r>
              <a:rPr lang="en-US" sz="1600" dirty="0">
                <a:solidFill>
                  <a:schemeClr val="bg1"/>
                </a:solidFill>
              </a:rPr>
              <a:t>Other chemicals released attract phagocytes. Macrophages and leucocytes consume micro-organisms and debris by phagocytosis </a:t>
            </a:r>
          </a:p>
          <a:p>
            <a:pPr marL="285750" indent="-285750">
              <a:buFont typeface="Arial" panose="020B0604020202020204" pitchFamily="34" charset="0"/>
              <a:buChar char="•"/>
            </a:pPr>
            <a:r>
              <a:rPr lang="en-US" sz="1600" dirty="0">
                <a:solidFill>
                  <a:schemeClr val="bg1"/>
                </a:solidFill>
              </a:rPr>
              <a:t>Abnormal conditions in the tissue stimulate pain receptors </a:t>
            </a:r>
          </a:p>
          <a:p>
            <a:pPr marL="285750" indent="-285750">
              <a:buFont typeface="Arial" panose="020B0604020202020204" pitchFamily="34" charset="0"/>
              <a:buChar char="•"/>
            </a:pPr>
            <a:r>
              <a:rPr lang="en-US" sz="1600" dirty="0">
                <a:solidFill>
                  <a:schemeClr val="bg1"/>
                </a:solidFill>
              </a:rPr>
              <a:t>Phagocytes filled with bacteria begin to die and form pus </a:t>
            </a:r>
          </a:p>
          <a:p>
            <a:r>
              <a:rPr lang="en-US" sz="1600" dirty="0">
                <a:solidFill>
                  <a:schemeClr val="bg1"/>
                </a:solidFill>
              </a:rPr>
              <a:t>* Words ending in ”itis” indicate inflammation of specific organs or tissues </a:t>
            </a:r>
          </a:p>
        </p:txBody>
      </p:sp>
    </p:spTree>
    <p:extLst>
      <p:ext uri="{BB962C8B-B14F-4D97-AF65-F5344CB8AC3E}">
        <p14:creationId xmlns:p14="http://schemas.microsoft.com/office/powerpoint/2010/main" val="1302137551"/>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AA83B68-2AC4-1D4D-B42C-52611F47C429}"/>
              </a:ext>
            </a:extLst>
          </p:cNvPr>
          <p:cNvSpPr>
            <a:spLocks noGrp="1"/>
          </p:cNvSpPr>
          <p:nvPr>
            <p:ph type="title"/>
          </p:nvPr>
        </p:nvSpPr>
        <p:spPr>
          <a:xfrm>
            <a:off x="672126" y="2295076"/>
            <a:ext cx="3698803" cy="2267846"/>
          </a:xfrm>
          <a:noFill/>
          <a:ln>
            <a:solidFill>
              <a:schemeClr val="tx1"/>
            </a:solidFill>
          </a:ln>
        </p:spPr>
        <p:txBody>
          <a:bodyPr>
            <a:normAutofit fontScale="90000"/>
          </a:bodyPr>
          <a:lstStyle/>
          <a:p>
            <a:r>
              <a:rPr lang="en-US" sz="2400" b="1" dirty="0">
                <a:solidFill>
                  <a:schemeClr val="bg1"/>
                </a:solidFill>
              </a:rPr>
              <a:t>Explain how antibody-mediated response (b-lymphocytes) stops pathogens </a:t>
            </a:r>
            <a:endParaRPr lang="en-US" sz="2400" dirty="0">
              <a:solidFill>
                <a:schemeClr val="tx1"/>
              </a:solidFill>
            </a:endParaRPr>
          </a:p>
        </p:txBody>
      </p:sp>
      <p:sp>
        <p:nvSpPr>
          <p:cNvPr id="8" name="Rectangle 7">
            <a:extLst>
              <a:ext uri="{FF2B5EF4-FFF2-40B4-BE49-F238E27FC236}">
                <a16:creationId xmlns:a16="http://schemas.microsoft.com/office/drawing/2014/main" xmlns="" id="{FB403EBD-907E-4D59-98D4-A72CD1063C6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315061" y="-2"/>
            <a:ext cx="6876939" cy="6858002"/>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xmlns="" id="{AF49CDF2-DDB1-D24B-B523-4D577F58D349}"/>
              </a:ext>
            </a:extLst>
          </p:cNvPr>
          <p:cNvSpPr txBox="1"/>
          <p:nvPr/>
        </p:nvSpPr>
        <p:spPr>
          <a:xfrm>
            <a:off x="5315060" y="335844"/>
            <a:ext cx="6876939" cy="6186309"/>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bg1"/>
                </a:solidFill>
              </a:rPr>
              <a:t>Humoral response involves the production and release of antibodies into the blood and lymph- antibody mediated response </a:t>
            </a:r>
          </a:p>
          <a:p>
            <a:pPr marL="285750" indent="-285750">
              <a:buFont typeface="Arial" panose="020B0604020202020204" pitchFamily="34" charset="0"/>
              <a:buChar char="•"/>
            </a:pPr>
            <a:r>
              <a:rPr lang="en-US" dirty="0">
                <a:solidFill>
                  <a:schemeClr val="bg1"/>
                </a:solidFill>
              </a:rPr>
              <a:t>Provides resistance before the pathogens enter the bodies cells </a:t>
            </a:r>
          </a:p>
          <a:p>
            <a:pPr marL="285750" indent="-285750">
              <a:buFont typeface="Arial" panose="020B0604020202020204" pitchFamily="34" charset="0"/>
              <a:buChar char="•"/>
            </a:pPr>
            <a:r>
              <a:rPr lang="en-US" dirty="0">
                <a:solidFill>
                  <a:schemeClr val="bg1"/>
                </a:solidFill>
              </a:rPr>
              <a:t>Lymphoid tissues contains thousand of types of </a:t>
            </a:r>
            <a:r>
              <a:rPr lang="en-US" b="1" dirty="0">
                <a:solidFill>
                  <a:schemeClr val="bg1"/>
                </a:solidFill>
              </a:rPr>
              <a:t>B-Cells. </a:t>
            </a:r>
          </a:p>
          <a:p>
            <a:pPr marL="285750" indent="-285750">
              <a:buFont typeface="Arial" panose="020B0604020202020204" pitchFamily="34" charset="0"/>
              <a:buChar char="•"/>
            </a:pPr>
            <a:r>
              <a:rPr lang="en-US" dirty="0">
                <a:solidFill>
                  <a:schemeClr val="bg1"/>
                </a:solidFill>
              </a:rPr>
              <a:t>When an antigen activates a B-cell they enlarge and divide into a </a:t>
            </a:r>
            <a:r>
              <a:rPr lang="en-US" b="1" dirty="0">
                <a:solidFill>
                  <a:schemeClr val="bg1"/>
                </a:solidFill>
              </a:rPr>
              <a:t>clone- </a:t>
            </a:r>
            <a:r>
              <a:rPr lang="en-US" dirty="0">
                <a:solidFill>
                  <a:schemeClr val="bg1"/>
                </a:solidFill>
              </a:rPr>
              <a:t>most of which become </a:t>
            </a:r>
            <a:r>
              <a:rPr lang="en-US" b="1" dirty="0">
                <a:solidFill>
                  <a:schemeClr val="bg1"/>
                </a:solidFill>
              </a:rPr>
              <a:t>plasma cells</a:t>
            </a:r>
            <a:r>
              <a:rPr lang="en-US" dirty="0">
                <a:solidFill>
                  <a:schemeClr val="bg1"/>
                </a:solidFill>
              </a:rPr>
              <a:t> which secrete antibodies capable of attaching to the antigen </a:t>
            </a:r>
          </a:p>
          <a:p>
            <a:pPr marL="285750" indent="-285750">
              <a:buFontTx/>
              <a:buChar char="-"/>
            </a:pPr>
            <a:r>
              <a:rPr lang="en-US" dirty="0">
                <a:solidFill>
                  <a:schemeClr val="bg1"/>
                </a:solidFill>
              </a:rPr>
              <a:t>Antibodies form antibody-antigen complexes and destroy the antigen by: </a:t>
            </a:r>
          </a:p>
          <a:p>
            <a:pPr marL="285750" indent="-285750">
              <a:buFont typeface="Courier New" panose="02070309020205020404" pitchFamily="49" charset="0"/>
              <a:buChar char="o"/>
            </a:pPr>
            <a:r>
              <a:rPr lang="en-US" dirty="0">
                <a:solidFill>
                  <a:schemeClr val="bg1"/>
                </a:solidFill>
              </a:rPr>
              <a:t>Binding to surface of virus to prevent them from entering a cell </a:t>
            </a:r>
          </a:p>
          <a:p>
            <a:pPr marL="285750" indent="-285750">
              <a:buFont typeface="Courier New" panose="02070309020205020404" pitchFamily="49" charset="0"/>
              <a:buChar char="o"/>
            </a:pPr>
            <a:r>
              <a:rPr lang="en-US" dirty="0">
                <a:solidFill>
                  <a:schemeClr val="bg1"/>
                </a:solidFill>
              </a:rPr>
              <a:t>Inactivate them by inhibiting receptors </a:t>
            </a:r>
          </a:p>
          <a:p>
            <a:pPr marL="285750" indent="-285750">
              <a:buFont typeface="Courier New" panose="02070309020205020404" pitchFamily="49" charset="0"/>
              <a:buChar char="o"/>
            </a:pPr>
            <a:r>
              <a:rPr lang="en-US" dirty="0">
                <a:solidFill>
                  <a:schemeClr val="bg1"/>
                </a:solidFill>
              </a:rPr>
              <a:t>Coat bacteria so they are are easily consumed </a:t>
            </a:r>
          </a:p>
          <a:p>
            <a:pPr marL="285750" indent="-285750">
              <a:buFont typeface="Courier New" panose="02070309020205020404" pitchFamily="49" charset="0"/>
              <a:buChar char="o"/>
            </a:pPr>
            <a:r>
              <a:rPr lang="en-US" dirty="0">
                <a:solidFill>
                  <a:schemeClr val="bg1"/>
                </a:solidFill>
              </a:rPr>
              <a:t>Cause them to clump together or agglutinate </a:t>
            </a:r>
          </a:p>
          <a:p>
            <a:pPr marL="285750" indent="-285750">
              <a:buFont typeface="Courier New" panose="02070309020205020404" pitchFamily="49" charset="0"/>
              <a:buChar char="o"/>
            </a:pPr>
            <a:r>
              <a:rPr lang="en-US" dirty="0">
                <a:solidFill>
                  <a:schemeClr val="bg1"/>
                </a:solidFill>
              </a:rPr>
              <a:t>Dissolves them </a:t>
            </a:r>
          </a:p>
          <a:p>
            <a:pPr marL="285750" indent="-285750">
              <a:buFont typeface="Courier New" panose="02070309020205020404" pitchFamily="49" charset="0"/>
              <a:buChar char="o"/>
            </a:pPr>
            <a:r>
              <a:rPr lang="en-US" dirty="0">
                <a:solidFill>
                  <a:schemeClr val="bg1"/>
                </a:solidFill>
              </a:rPr>
              <a:t>Make soluble substances insoluble</a:t>
            </a:r>
          </a:p>
          <a:p>
            <a:pPr marL="285750" indent="-285750">
              <a:buFont typeface="Arial" panose="020B0604020202020204" pitchFamily="34" charset="0"/>
              <a:buChar char="•"/>
            </a:pPr>
            <a:r>
              <a:rPr lang="en-US" dirty="0">
                <a:solidFill>
                  <a:schemeClr val="bg1"/>
                </a:solidFill>
              </a:rPr>
              <a:t>These antibodies circulate in the lymph, blood and extracellular fluid to reach the site of invasion </a:t>
            </a:r>
          </a:p>
          <a:p>
            <a:pPr marL="285750" indent="-285750">
              <a:buFont typeface="Arial" panose="020B0604020202020204" pitchFamily="34" charset="0"/>
              <a:buChar char="•"/>
            </a:pPr>
            <a:r>
              <a:rPr lang="en-US" dirty="0">
                <a:solidFill>
                  <a:schemeClr val="bg1"/>
                </a:solidFill>
              </a:rPr>
              <a:t>What ever cells did not differentiate into plasma cells become </a:t>
            </a:r>
            <a:r>
              <a:rPr lang="en-US" b="1" dirty="0">
                <a:solidFill>
                  <a:schemeClr val="bg1"/>
                </a:solidFill>
              </a:rPr>
              <a:t>memory cells</a:t>
            </a:r>
            <a:r>
              <a:rPr lang="en-US" dirty="0">
                <a:solidFill>
                  <a:schemeClr val="bg1"/>
                </a:solidFill>
              </a:rPr>
              <a:t> which spread to all tissues of the body to ensure that on a secondary immune response the body can deal with it more rapidly </a:t>
            </a:r>
          </a:p>
          <a:p>
            <a:r>
              <a:rPr lang="en-US" dirty="0">
                <a:solidFill>
                  <a:schemeClr val="bg1"/>
                </a:solidFill>
              </a:rPr>
              <a:t>See page 147 in the textbook for a really good diagram. </a:t>
            </a:r>
          </a:p>
        </p:txBody>
      </p:sp>
    </p:spTree>
    <p:extLst>
      <p:ext uri="{BB962C8B-B14F-4D97-AF65-F5344CB8AC3E}">
        <p14:creationId xmlns:p14="http://schemas.microsoft.com/office/powerpoint/2010/main" val="3009941014"/>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FAC78B2-8746-2E46-A07E-9B24895FF03B}"/>
              </a:ext>
            </a:extLst>
          </p:cNvPr>
          <p:cNvSpPr>
            <a:spLocks noGrp="1"/>
          </p:cNvSpPr>
          <p:nvPr>
            <p:ph type="title"/>
          </p:nvPr>
        </p:nvSpPr>
        <p:spPr>
          <a:xfrm>
            <a:off x="882136" y="2530929"/>
            <a:ext cx="3698803" cy="1618267"/>
          </a:xfrm>
          <a:noFill/>
          <a:ln>
            <a:solidFill>
              <a:schemeClr val="tx1"/>
            </a:solidFill>
          </a:ln>
        </p:spPr>
        <p:txBody>
          <a:bodyPr>
            <a:normAutofit fontScale="90000"/>
          </a:bodyPr>
          <a:lstStyle/>
          <a:p>
            <a:r>
              <a:rPr lang="en-US" sz="2400" b="1" dirty="0">
                <a:solidFill>
                  <a:schemeClr val="bg1"/>
                </a:solidFill>
              </a:rPr>
              <a:t>Explain how cell-mediated (T-lymphocytes) stops </a:t>
            </a:r>
            <a:r>
              <a:rPr lang="en-US" sz="2400" b="1">
                <a:solidFill>
                  <a:schemeClr val="bg1"/>
                </a:solidFill>
              </a:rPr>
              <a:t>pathogens </a:t>
            </a:r>
            <a:endParaRPr lang="en-US" sz="2400" dirty="0">
              <a:solidFill>
                <a:schemeClr val="tx1"/>
              </a:solidFill>
            </a:endParaRPr>
          </a:p>
        </p:txBody>
      </p:sp>
      <p:sp>
        <p:nvSpPr>
          <p:cNvPr id="8" name="Rectangle 7">
            <a:extLst>
              <a:ext uri="{FF2B5EF4-FFF2-40B4-BE49-F238E27FC236}">
                <a16:creationId xmlns:a16="http://schemas.microsoft.com/office/drawing/2014/main" xmlns="" id="{FB403EBD-907E-4D59-98D4-A72CD1063C6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315061" y="-2"/>
            <a:ext cx="6876939" cy="6858002"/>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xmlns="" id="{42B4FF8C-DBCC-4E47-87E9-29907431FD52}"/>
              </a:ext>
            </a:extLst>
          </p:cNvPr>
          <p:cNvSpPr txBox="1"/>
          <p:nvPr/>
        </p:nvSpPr>
        <p:spPr>
          <a:xfrm>
            <a:off x="5315060" y="126124"/>
            <a:ext cx="6876939" cy="6740307"/>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bg1"/>
                </a:solidFill>
              </a:rPr>
              <a:t>Provide resistance to the intracellular phase of bacterial and viral infections </a:t>
            </a:r>
          </a:p>
          <a:p>
            <a:pPr marL="285750" indent="-285750">
              <a:buFont typeface="Arial" panose="020B0604020202020204" pitchFamily="34" charset="0"/>
              <a:buChar char="•"/>
            </a:pPr>
            <a:r>
              <a:rPr lang="en-US" dirty="0">
                <a:solidFill>
                  <a:schemeClr val="bg1"/>
                </a:solidFill>
              </a:rPr>
              <a:t>T-lymphocytes are responsible for this immunity</a:t>
            </a:r>
          </a:p>
          <a:p>
            <a:endParaRPr lang="en-US" dirty="0">
              <a:solidFill>
                <a:schemeClr val="bg1"/>
              </a:solidFill>
            </a:endParaRPr>
          </a:p>
          <a:p>
            <a:pPr marL="285750" indent="-285750">
              <a:buFont typeface="Arial" panose="020B0604020202020204" pitchFamily="34" charset="0"/>
              <a:buChar char="•"/>
            </a:pPr>
            <a:r>
              <a:rPr lang="en-US" dirty="0">
                <a:solidFill>
                  <a:schemeClr val="bg1"/>
                </a:solidFill>
              </a:rPr>
              <a:t>Occurs after a B-cell has presented a foreign antigen to the T-cell- Which then becomes sensitized or activated</a:t>
            </a:r>
          </a:p>
          <a:p>
            <a:pPr marL="285750" indent="-285750">
              <a:buFont typeface="Arial" panose="020B0604020202020204" pitchFamily="34" charset="0"/>
              <a:buChar char="•"/>
            </a:pPr>
            <a:r>
              <a:rPr lang="en-US" dirty="0">
                <a:solidFill>
                  <a:schemeClr val="bg1"/>
                </a:solidFill>
              </a:rPr>
              <a:t>T-cell then enlarged and divides creating a clone </a:t>
            </a:r>
          </a:p>
          <a:p>
            <a:pPr marL="285750" indent="-285750">
              <a:buFont typeface="Arial" panose="020B0604020202020204" pitchFamily="34" charset="0"/>
              <a:buChar char="•"/>
            </a:pPr>
            <a:r>
              <a:rPr lang="en-US" dirty="0">
                <a:solidFill>
                  <a:schemeClr val="bg1"/>
                </a:solidFill>
              </a:rPr>
              <a:t>Some of the clone will remain as </a:t>
            </a:r>
            <a:r>
              <a:rPr lang="en-US" b="1" dirty="0">
                <a:solidFill>
                  <a:schemeClr val="bg1"/>
                </a:solidFill>
              </a:rPr>
              <a:t>memory cells- </a:t>
            </a:r>
            <a:r>
              <a:rPr lang="en-US" dirty="0">
                <a:solidFill>
                  <a:schemeClr val="bg1"/>
                </a:solidFill>
              </a:rPr>
              <a:t>meaning on a second invasion the response will be much faster </a:t>
            </a:r>
          </a:p>
          <a:p>
            <a:pPr marL="285750" indent="-285750">
              <a:buFont typeface="Arial" panose="020B0604020202020204" pitchFamily="34" charset="0"/>
              <a:buChar char="•"/>
            </a:pPr>
            <a:r>
              <a:rPr lang="en-US" dirty="0">
                <a:solidFill>
                  <a:schemeClr val="bg1"/>
                </a:solidFill>
              </a:rPr>
              <a:t>Some of the clone also becomes </a:t>
            </a:r>
            <a:r>
              <a:rPr lang="en-US" b="1" dirty="0">
                <a:solidFill>
                  <a:schemeClr val="bg1"/>
                </a:solidFill>
              </a:rPr>
              <a:t>killer T-cells </a:t>
            </a:r>
            <a:r>
              <a:rPr lang="en-US" dirty="0">
                <a:solidFill>
                  <a:schemeClr val="bg1"/>
                </a:solidFill>
              </a:rPr>
              <a:t>which migrate to the site of infection and attach the the antigen which they then secrete a substance which destroys the antigen </a:t>
            </a:r>
          </a:p>
          <a:p>
            <a:pPr marL="285750" indent="-285750">
              <a:buFont typeface="Arial" panose="020B0604020202020204" pitchFamily="34" charset="0"/>
              <a:buChar char="•"/>
            </a:pPr>
            <a:r>
              <a:rPr lang="en-US" dirty="0">
                <a:solidFill>
                  <a:schemeClr val="bg1"/>
                </a:solidFill>
              </a:rPr>
              <a:t>Some of the clone will become </a:t>
            </a:r>
            <a:r>
              <a:rPr lang="en-US" b="1" dirty="0">
                <a:solidFill>
                  <a:schemeClr val="bg1"/>
                </a:solidFill>
              </a:rPr>
              <a:t>helper T-cells </a:t>
            </a:r>
            <a:r>
              <a:rPr lang="en-US" dirty="0">
                <a:solidFill>
                  <a:schemeClr val="bg1"/>
                </a:solidFill>
              </a:rPr>
              <a:t>which play a role in both types of immunity by secreting substances which: </a:t>
            </a:r>
          </a:p>
          <a:p>
            <a:pPr marL="285750" indent="-285750">
              <a:buFont typeface="Courier New" panose="02070309020205020404" pitchFamily="49" charset="0"/>
              <a:buChar char="o"/>
            </a:pPr>
            <a:r>
              <a:rPr lang="en-US" dirty="0">
                <a:solidFill>
                  <a:schemeClr val="bg1"/>
                </a:solidFill>
              </a:rPr>
              <a:t> cause lymphocytes to become sensitized- intensifying the response </a:t>
            </a:r>
          </a:p>
          <a:p>
            <a:pPr marL="285750" indent="-285750">
              <a:buFont typeface="Courier New" panose="02070309020205020404" pitchFamily="49" charset="0"/>
              <a:buChar char="o"/>
            </a:pPr>
            <a:r>
              <a:rPr lang="en-US" dirty="0">
                <a:solidFill>
                  <a:schemeClr val="bg1"/>
                </a:solidFill>
              </a:rPr>
              <a:t>Attract macrophages so they can destroy the antigens by phagocytosis </a:t>
            </a:r>
          </a:p>
          <a:p>
            <a:pPr marL="285750" indent="-285750">
              <a:buFont typeface="Courier New" panose="02070309020205020404" pitchFamily="49" charset="0"/>
              <a:buChar char="o"/>
            </a:pPr>
            <a:r>
              <a:rPr lang="en-US" dirty="0">
                <a:solidFill>
                  <a:schemeClr val="bg1"/>
                </a:solidFill>
              </a:rPr>
              <a:t>Intensify phagocytic activity of macrophages </a:t>
            </a:r>
          </a:p>
          <a:p>
            <a:pPr marL="285750" indent="-285750">
              <a:buFont typeface="Arial" panose="020B0604020202020204" pitchFamily="34" charset="0"/>
              <a:buChar char="•"/>
            </a:pPr>
            <a:r>
              <a:rPr lang="en-US" dirty="0">
                <a:solidFill>
                  <a:schemeClr val="bg1"/>
                </a:solidFill>
              </a:rPr>
              <a:t>A small portion of the clone will become </a:t>
            </a:r>
            <a:r>
              <a:rPr lang="en-US" b="1" dirty="0">
                <a:solidFill>
                  <a:schemeClr val="bg1"/>
                </a:solidFill>
              </a:rPr>
              <a:t>Suppressor T-cells </a:t>
            </a:r>
            <a:r>
              <a:rPr lang="en-US" dirty="0">
                <a:solidFill>
                  <a:schemeClr val="bg1"/>
                </a:solidFill>
              </a:rPr>
              <a:t>which act when the immune response becomes excessive or the infection has been dealt with by releasing substances that inhibit T and B-cell activity </a:t>
            </a:r>
          </a:p>
          <a:p>
            <a:endParaRPr lang="en-US" dirty="0">
              <a:solidFill>
                <a:schemeClr val="bg1"/>
              </a:solidFill>
            </a:endParaRPr>
          </a:p>
          <a:p>
            <a:r>
              <a:rPr lang="en-US" dirty="0">
                <a:solidFill>
                  <a:schemeClr val="bg1"/>
                </a:solidFill>
              </a:rPr>
              <a:t>See page 150 for a good diagram of this response </a:t>
            </a:r>
          </a:p>
        </p:txBody>
      </p:sp>
    </p:spTree>
    <p:extLst>
      <p:ext uri="{BB962C8B-B14F-4D97-AF65-F5344CB8AC3E}">
        <p14:creationId xmlns:p14="http://schemas.microsoft.com/office/powerpoint/2010/main" val="458581248"/>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9A8D9A-5988-7C4A-BD93-5E9775D1F1A0}"/>
              </a:ext>
            </a:extLst>
          </p:cNvPr>
          <p:cNvSpPr>
            <a:spLocks noGrp="1"/>
          </p:cNvSpPr>
          <p:nvPr>
            <p:ph type="title"/>
          </p:nvPr>
        </p:nvSpPr>
        <p:spPr>
          <a:xfrm>
            <a:off x="829781" y="1208690"/>
            <a:ext cx="3698803" cy="3857296"/>
          </a:xfrm>
          <a:noFill/>
          <a:ln>
            <a:solidFill>
              <a:schemeClr val="tx1"/>
            </a:solidFill>
          </a:ln>
        </p:spPr>
        <p:txBody>
          <a:bodyPr>
            <a:normAutofit fontScale="90000"/>
          </a:bodyPr>
          <a:lstStyle/>
          <a:p>
            <a:r>
              <a:rPr lang="en-US" sz="2400" b="1" dirty="0">
                <a:solidFill>
                  <a:schemeClr val="bg1"/>
                </a:solidFill>
              </a:rPr>
              <a:t>Define passive immunity and describe how it can be acquired naturally through placenta or artificially through antibody injections </a:t>
            </a:r>
            <a:endParaRPr lang="en-US" sz="2400" dirty="0">
              <a:solidFill>
                <a:schemeClr val="tx1"/>
              </a:solidFill>
            </a:endParaRPr>
          </a:p>
        </p:txBody>
      </p:sp>
      <p:sp>
        <p:nvSpPr>
          <p:cNvPr id="8" name="Rectangle 7">
            <a:extLst>
              <a:ext uri="{FF2B5EF4-FFF2-40B4-BE49-F238E27FC236}">
                <a16:creationId xmlns:a16="http://schemas.microsoft.com/office/drawing/2014/main" xmlns="" id="{FB403EBD-907E-4D59-98D4-A72CD1063C6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315061" y="-2"/>
            <a:ext cx="6876939" cy="6858002"/>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xmlns="" id="{8522D9CB-8419-0347-A5DC-BDF02AAE3954}"/>
              </a:ext>
            </a:extLst>
          </p:cNvPr>
          <p:cNvSpPr txBox="1"/>
          <p:nvPr/>
        </p:nvSpPr>
        <p:spPr>
          <a:xfrm>
            <a:off x="5315061" y="2293680"/>
            <a:ext cx="6876939" cy="2031325"/>
          </a:xfrm>
          <a:prstGeom prst="rect">
            <a:avLst/>
          </a:prstGeom>
          <a:noFill/>
        </p:spPr>
        <p:txBody>
          <a:bodyPr wrap="square" rtlCol="0">
            <a:spAutoFit/>
          </a:bodyPr>
          <a:lstStyle/>
          <a:p>
            <a:pPr marL="285750" indent="-285750">
              <a:buFont typeface="Arial" panose="020B0604020202020204" pitchFamily="34" charset="0"/>
              <a:buChar char="•"/>
            </a:pPr>
            <a:r>
              <a:rPr lang="en-US" b="1" dirty="0">
                <a:solidFill>
                  <a:schemeClr val="bg1"/>
                </a:solidFill>
              </a:rPr>
              <a:t>Passive immunity: </a:t>
            </a:r>
            <a:r>
              <a:rPr lang="en-US" dirty="0">
                <a:solidFill>
                  <a:schemeClr val="bg1"/>
                </a:solidFill>
              </a:rPr>
              <a:t>when a person is given antibodies produced by someone else- individuals body plays no part in the production of antibodies </a:t>
            </a:r>
          </a:p>
          <a:p>
            <a:pPr marL="285750" indent="-285750">
              <a:buFont typeface="Arial" panose="020B0604020202020204" pitchFamily="34" charset="0"/>
              <a:buChar char="•"/>
            </a:pPr>
            <a:r>
              <a:rPr lang="en-US" dirty="0">
                <a:solidFill>
                  <a:schemeClr val="bg1"/>
                </a:solidFill>
              </a:rPr>
              <a:t>Can occur naturally when antibodies from a mother pass through the placenta to a developing fetus or through breast milk </a:t>
            </a:r>
          </a:p>
          <a:p>
            <a:pPr marL="285750" indent="-285750">
              <a:buFont typeface="Arial" panose="020B0604020202020204" pitchFamily="34" charset="0"/>
              <a:buChar char="•"/>
            </a:pPr>
            <a:r>
              <a:rPr lang="en-US" dirty="0">
                <a:solidFill>
                  <a:schemeClr val="bg1"/>
                </a:solidFill>
              </a:rPr>
              <a:t>Can occur artificially through injection after a person has been exposed to a pathogen such as tetanus </a:t>
            </a:r>
          </a:p>
        </p:txBody>
      </p:sp>
    </p:spTree>
    <p:extLst>
      <p:ext uri="{BB962C8B-B14F-4D97-AF65-F5344CB8AC3E}">
        <p14:creationId xmlns:p14="http://schemas.microsoft.com/office/powerpoint/2010/main" val="680744153"/>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639ECCD-5657-B044-A877-783A4227D457}"/>
              </a:ext>
            </a:extLst>
          </p:cNvPr>
          <p:cNvSpPr>
            <a:spLocks noGrp="1"/>
          </p:cNvSpPr>
          <p:nvPr>
            <p:ph type="title"/>
          </p:nvPr>
        </p:nvSpPr>
        <p:spPr>
          <a:xfrm>
            <a:off x="781013" y="1683584"/>
            <a:ext cx="3698803" cy="3490830"/>
          </a:xfrm>
          <a:noFill/>
          <a:ln>
            <a:solidFill>
              <a:schemeClr val="tx1"/>
            </a:solidFill>
          </a:ln>
        </p:spPr>
        <p:txBody>
          <a:bodyPr>
            <a:normAutofit fontScale="90000"/>
          </a:bodyPr>
          <a:lstStyle/>
          <a:p>
            <a:r>
              <a:rPr lang="en-US" sz="2400" b="1" dirty="0">
                <a:solidFill>
                  <a:schemeClr val="bg1"/>
                </a:solidFill>
              </a:rPr>
              <a:t>Define active immunity and how it can be acquired naturally through exposure to pathogens and artificially through vaccines </a:t>
            </a:r>
            <a:endParaRPr lang="en-US" sz="2400" dirty="0">
              <a:solidFill>
                <a:schemeClr val="tx1"/>
              </a:solidFill>
            </a:endParaRPr>
          </a:p>
        </p:txBody>
      </p:sp>
      <p:sp>
        <p:nvSpPr>
          <p:cNvPr id="8" name="Rectangle 7">
            <a:extLst>
              <a:ext uri="{FF2B5EF4-FFF2-40B4-BE49-F238E27FC236}">
                <a16:creationId xmlns:a16="http://schemas.microsoft.com/office/drawing/2014/main" xmlns="" id="{FB403EBD-907E-4D59-98D4-A72CD1063C6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315061" y="-2"/>
            <a:ext cx="6876939" cy="6858002"/>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xmlns="" id="{AF8B384F-579F-064D-8304-5C236E48114D}"/>
              </a:ext>
            </a:extLst>
          </p:cNvPr>
          <p:cNvSpPr txBox="1"/>
          <p:nvPr/>
        </p:nvSpPr>
        <p:spPr>
          <a:xfrm>
            <a:off x="5315060" y="2144110"/>
            <a:ext cx="6876939" cy="1754326"/>
          </a:xfrm>
          <a:prstGeom prst="rect">
            <a:avLst/>
          </a:prstGeom>
          <a:noFill/>
        </p:spPr>
        <p:txBody>
          <a:bodyPr wrap="square" rtlCol="0">
            <a:spAutoFit/>
          </a:bodyPr>
          <a:lstStyle/>
          <a:p>
            <a:pPr marL="285750" indent="-285750">
              <a:buFont typeface="Arial" panose="020B0604020202020204" pitchFamily="34" charset="0"/>
              <a:buChar char="•"/>
            </a:pPr>
            <a:r>
              <a:rPr lang="en-US" b="1" dirty="0">
                <a:solidFill>
                  <a:schemeClr val="bg1"/>
                </a:solidFill>
              </a:rPr>
              <a:t>Active immunity: </a:t>
            </a:r>
            <a:r>
              <a:rPr lang="en-US" dirty="0">
                <a:solidFill>
                  <a:schemeClr val="bg1"/>
                </a:solidFill>
              </a:rPr>
              <a:t>results when the body is exposed to a foreign antigen and makes its own antibodies in response to an antigen </a:t>
            </a:r>
          </a:p>
          <a:p>
            <a:pPr marL="285750" indent="-285750">
              <a:buFont typeface="Arial" panose="020B0604020202020204" pitchFamily="34" charset="0"/>
              <a:buChar char="•"/>
            </a:pPr>
            <a:r>
              <a:rPr lang="en-US" dirty="0">
                <a:solidFill>
                  <a:schemeClr val="bg1"/>
                </a:solidFill>
              </a:rPr>
              <a:t>this type of immunity is prolonged because of memory cells </a:t>
            </a:r>
          </a:p>
          <a:p>
            <a:pPr marL="285750" indent="-285750">
              <a:buFont typeface="Arial" panose="020B0604020202020204" pitchFamily="34" charset="0"/>
              <a:buChar char="•"/>
            </a:pPr>
            <a:r>
              <a:rPr lang="en-US" dirty="0">
                <a:solidFill>
                  <a:schemeClr val="bg1"/>
                </a:solidFill>
              </a:rPr>
              <a:t>Occurs naturally though actual attack or exposure to the disease </a:t>
            </a:r>
          </a:p>
          <a:p>
            <a:pPr marL="285750" indent="-285750">
              <a:buFont typeface="Arial" panose="020B0604020202020204" pitchFamily="34" charset="0"/>
              <a:buChar char="•"/>
            </a:pPr>
            <a:r>
              <a:rPr lang="en-US" dirty="0">
                <a:solidFill>
                  <a:schemeClr val="bg1"/>
                </a:solidFill>
              </a:rPr>
              <a:t>Occurs artificially though injections of antigens associated with a disease (vaccine) </a:t>
            </a:r>
          </a:p>
        </p:txBody>
      </p:sp>
    </p:spTree>
    <p:extLst>
      <p:ext uri="{BB962C8B-B14F-4D97-AF65-F5344CB8AC3E}">
        <p14:creationId xmlns:p14="http://schemas.microsoft.com/office/powerpoint/2010/main" val="2040471500"/>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A555615-92D3-454B-B6BE-D5E0B9CC3FFE}"/>
              </a:ext>
            </a:extLst>
          </p:cNvPr>
          <p:cNvSpPr>
            <a:spLocks noGrp="1"/>
          </p:cNvSpPr>
          <p:nvPr>
            <p:ph type="title"/>
          </p:nvPr>
        </p:nvSpPr>
        <p:spPr>
          <a:xfrm>
            <a:off x="882136" y="2405434"/>
            <a:ext cx="3698803" cy="2047129"/>
          </a:xfrm>
          <a:noFill/>
          <a:ln>
            <a:solidFill>
              <a:schemeClr val="tx1"/>
            </a:solidFill>
          </a:ln>
        </p:spPr>
        <p:txBody>
          <a:bodyPr>
            <a:normAutofit fontScale="90000"/>
          </a:bodyPr>
          <a:lstStyle/>
          <a:p>
            <a:r>
              <a:rPr lang="en-US" sz="2400" b="1" dirty="0">
                <a:solidFill>
                  <a:schemeClr val="bg1"/>
                </a:solidFill>
              </a:rPr>
              <a:t>Describe the action of antibiotics and antiviral drugs- give examples of use </a:t>
            </a:r>
            <a:endParaRPr lang="en-US" sz="2400" dirty="0">
              <a:solidFill>
                <a:schemeClr val="tx1"/>
              </a:solidFill>
            </a:endParaRPr>
          </a:p>
        </p:txBody>
      </p:sp>
      <p:sp>
        <p:nvSpPr>
          <p:cNvPr id="8" name="Rectangle 7">
            <a:extLst>
              <a:ext uri="{FF2B5EF4-FFF2-40B4-BE49-F238E27FC236}">
                <a16:creationId xmlns:a16="http://schemas.microsoft.com/office/drawing/2014/main" xmlns="" id="{FB403EBD-907E-4D59-98D4-A72CD1063C6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315061" y="-2"/>
            <a:ext cx="6876939" cy="6858002"/>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xmlns="" id="{EDCBEBA3-731E-3C45-8D96-42097CEC1A2D}"/>
              </a:ext>
            </a:extLst>
          </p:cNvPr>
          <p:cNvSpPr txBox="1"/>
          <p:nvPr/>
        </p:nvSpPr>
        <p:spPr>
          <a:xfrm>
            <a:off x="5315061" y="451944"/>
            <a:ext cx="6876939" cy="5632311"/>
          </a:xfrm>
          <a:prstGeom prst="rect">
            <a:avLst/>
          </a:prstGeom>
          <a:noFill/>
        </p:spPr>
        <p:txBody>
          <a:bodyPr wrap="square" rtlCol="0">
            <a:spAutoFit/>
          </a:bodyPr>
          <a:lstStyle/>
          <a:p>
            <a:pPr marL="285750" indent="-285750">
              <a:buFont typeface="Arial" panose="020B0604020202020204" pitchFamily="34" charset="0"/>
              <a:buChar char="•"/>
            </a:pPr>
            <a:r>
              <a:rPr lang="en-US" b="1" dirty="0">
                <a:solidFill>
                  <a:schemeClr val="bg1"/>
                </a:solidFill>
              </a:rPr>
              <a:t>Antibiotics: </a:t>
            </a:r>
            <a:r>
              <a:rPr lang="en-US" dirty="0">
                <a:solidFill>
                  <a:schemeClr val="bg1"/>
                </a:solidFill>
              </a:rPr>
              <a:t>Drugs used to fight infections of micro-organisms, particularly bacteria </a:t>
            </a:r>
          </a:p>
          <a:p>
            <a:pPr marL="285750" indent="-285750">
              <a:buFont typeface="Arial" panose="020B0604020202020204" pitchFamily="34" charset="0"/>
              <a:buChar char="•"/>
            </a:pPr>
            <a:r>
              <a:rPr lang="en-US" b="1" dirty="0">
                <a:solidFill>
                  <a:schemeClr val="bg1"/>
                </a:solidFill>
              </a:rPr>
              <a:t>Example: </a:t>
            </a:r>
            <a:r>
              <a:rPr lang="en-US" dirty="0">
                <a:solidFill>
                  <a:schemeClr val="bg1"/>
                </a:solidFill>
              </a:rPr>
              <a:t>Penicillin, works by preventing the synthesis of the walls of bacterial cells – inhibiting the reproduction of bacteria </a:t>
            </a:r>
          </a:p>
          <a:p>
            <a:pPr marL="285750" indent="-285750">
              <a:buFont typeface="Arial" panose="020B0604020202020204" pitchFamily="34" charset="0"/>
              <a:buChar char="•"/>
            </a:pPr>
            <a:r>
              <a:rPr lang="en-US" dirty="0">
                <a:solidFill>
                  <a:schemeClr val="bg1"/>
                </a:solidFill>
              </a:rPr>
              <a:t>Each antibiotic is effective for only certain types of bacterial infections and cannot be used to treat viral infections </a:t>
            </a:r>
          </a:p>
          <a:p>
            <a:pPr marL="285750" indent="-285750">
              <a:buFont typeface="Arial" panose="020B0604020202020204" pitchFamily="34" charset="0"/>
              <a:buChar char="•"/>
            </a:pPr>
            <a:r>
              <a:rPr lang="en-US" dirty="0">
                <a:solidFill>
                  <a:schemeClr val="bg1"/>
                </a:solidFill>
              </a:rPr>
              <a:t>There are two types of antibiotics: </a:t>
            </a:r>
          </a:p>
          <a:p>
            <a:pPr marL="285750" indent="-285750">
              <a:buFontTx/>
              <a:buChar char="-"/>
            </a:pPr>
            <a:r>
              <a:rPr lang="en-US" b="1" dirty="0">
                <a:solidFill>
                  <a:schemeClr val="bg1"/>
                </a:solidFill>
              </a:rPr>
              <a:t>Bactericidal antibiotics: </a:t>
            </a:r>
            <a:r>
              <a:rPr lang="en-US" dirty="0">
                <a:solidFill>
                  <a:schemeClr val="bg1"/>
                </a:solidFill>
              </a:rPr>
              <a:t>which kill the bacteria by changing the structure of the cell wall or membrane/ disrupting the action of essential enzymes </a:t>
            </a:r>
          </a:p>
          <a:p>
            <a:pPr marL="285750" indent="-285750">
              <a:buFontTx/>
              <a:buChar char="-"/>
            </a:pPr>
            <a:r>
              <a:rPr lang="en-US" b="1" dirty="0">
                <a:solidFill>
                  <a:schemeClr val="bg1"/>
                </a:solidFill>
              </a:rPr>
              <a:t>Bacteriostatic antibiotics: </a:t>
            </a:r>
            <a:r>
              <a:rPr lang="en-US" dirty="0">
                <a:solidFill>
                  <a:schemeClr val="bg1"/>
                </a:solidFill>
              </a:rPr>
              <a:t>which stop bacteria from reproducing by disrupting protein synthesis </a:t>
            </a:r>
          </a:p>
          <a:p>
            <a:pPr marL="285750" indent="-285750">
              <a:buFont typeface="Arial" panose="020B0604020202020204" pitchFamily="34" charset="0"/>
              <a:buChar char="•"/>
            </a:pPr>
            <a:r>
              <a:rPr lang="en-US" b="1" dirty="0">
                <a:solidFill>
                  <a:schemeClr val="bg1"/>
                </a:solidFill>
              </a:rPr>
              <a:t>Broad-spectrum antibiotics: </a:t>
            </a:r>
            <a:r>
              <a:rPr lang="en-US" dirty="0">
                <a:solidFill>
                  <a:schemeClr val="bg1"/>
                </a:solidFill>
              </a:rPr>
              <a:t>affect a wide range of different types of bacteria </a:t>
            </a:r>
          </a:p>
          <a:p>
            <a:pPr marL="285750" indent="-285750">
              <a:buFont typeface="Arial" panose="020B0604020202020204" pitchFamily="34" charset="0"/>
              <a:buChar char="•"/>
            </a:pPr>
            <a:r>
              <a:rPr lang="en-US" b="1" dirty="0">
                <a:solidFill>
                  <a:schemeClr val="bg1"/>
                </a:solidFill>
              </a:rPr>
              <a:t>Narrow spectrum: </a:t>
            </a:r>
            <a:r>
              <a:rPr lang="en-US" dirty="0">
                <a:solidFill>
                  <a:schemeClr val="bg1"/>
                </a:solidFill>
              </a:rPr>
              <a:t>effective against only specific types of bacteria </a:t>
            </a:r>
          </a:p>
          <a:p>
            <a:pPr marL="285750" indent="-285750">
              <a:buFont typeface="Arial" panose="020B0604020202020204" pitchFamily="34" charset="0"/>
              <a:buChar char="•"/>
            </a:pPr>
            <a:r>
              <a:rPr lang="en-US" b="1" dirty="0">
                <a:solidFill>
                  <a:schemeClr val="bg1"/>
                </a:solidFill>
              </a:rPr>
              <a:t>Antivirals: </a:t>
            </a:r>
            <a:r>
              <a:rPr lang="en-US" dirty="0">
                <a:solidFill>
                  <a:schemeClr val="bg1"/>
                </a:solidFill>
              </a:rPr>
              <a:t>drugs used to treat viral infections by inhibiting the development of the virus </a:t>
            </a:r>
          </a:p>
          <a:p>
            <a:pPr marL="285750" indent="-285750">
              <a:buFont typeface="Arial" panose="020B0604020202020204" pitchFamily="34" charset="0"/>
              <a:buChar char="•"/>
            </a:pPr>
            <a:r>
              <a:rPr lang="en-US" dirty="0">
                <a:solidFill>
                  <a:schemeClr val="bg1"/>
                </a:solidFill>
              </a:rPr>
              <a:t>the way in which viruses replicate makes it difficult to find drugs to treat viral infections </a:t>
            </a:r>
          </a:p>
          <a:p>
            <a:pPr marL="285750" indent="-285750">
              <a:buFont typeface="Arial" panose="020B0604020202020204" pitchFamily="34" charset="0"/>
              <a:buChar char="•"/>
            </a:pPr>
            <a:r>
              <a:rPr lang="en-US" b="1" dirty="0">
                <a:solidFill>
                  <a:schemeClr val="bg1"/>
                </a:solidFill>
              </a:rPr>
              <a:t>Example: </a:t>
            </a:r>
            <a:r>
              <a:rPr lang="en-US" dirty="0">
                <a:solidFill>
                  <a:schemeClr val="bg1"/>
                </a:solidFill>
              </a:rPr>
              <a:t>Tamiflu is used to treat influenza </a:t>
            </a:r>
            <a:endParaRPr lang="en-US" b="1" dirty="0">
              <a:solidFill>
                <a:schemeClr val="bg1"/>
              </a:solidFill>
            </a:endParaRPr>
          </a:p>
        </p:txBody>
      </p:sp>
    </p:spTree>
    <p:extLst>
      <p:ext uri="{BB962C8B-B14F-4D97-AF65-F5344CB8AC3E}">
        <p14:creationId xmlns:p14="http://schemas.microsoft.com/office/powerpoint/2010/main" val="3982633384"/>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03005AC-711D-634C-83CC-17398E048380}"/>
              </a:ext>
            </a:extLst>
          </p:cNvPr>
          <p:cNvSpPr>
            <a:spLocks noGrp="1"/>
          </p:cNvSpPr>
          <p:nvPr>
            <p:ph type="title"/>
          </p:nvPr>
        </p:nvSpPr>
        <p:spPr>
          <a:xfrm>
            <a:off x="829781" y="2480441"/>
            <a:ext cx="3698803" cy="1668757"/>
          </a:xfrm>
          <a:noFill/>
          <a:ln>
            <a:solidFill>
              <a:schemeClr val="tx1"/>
            </a:solidFill>
          </a:ln>
        </p:spPr>
        <p:txBody>
          <a:bodyPr>
            <a:normAutofit fontScale="90000"/>
          </a:bodyPr>
          <a:lstStyle/>
          <a:p>
            <a:r>
              <a:rPr lang="en-US" sz="2400" b="1" dirty="0">
                <a:solidFill>
                  <a:schemeClr val="bg1"/>
                </a:solidFill>
              </a:rPr>
              <a:t>Discuss ethics and issues of vaccines, discuss why this is a debated topic </a:t>
            </a:r>
            <a:endParaRPr lang="en-US" sz="2400" dirty="0">
              <a:solidFill>
                <a:schemeClr val="tx1"/>
              </a:solidFill>
            </a:endParaRPr>
          </a:p>
        </p:txBody>
      </p:sp>
      <p:sp>
        <p:nvSpPr>
          <p:cNvPr id="8" name="Rectangle 7">
            <a:extLst>
              <a:ext uri="{FF2B5EF4-FFF2-40B4-BE49-F238E27FC236}">
                <a16:creationId xmlns:a16="http://schemas.microsoft.com/office/drawing/2014/main" xmlns="" id="{FB403EBD-907E-4D59-98D4-A72CD1063C6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315061" y="-2"/>
            <a:ext cx="6876939" cy="6858002"/>
          </a:xfrm>
          <a:prstGeom prst="rect">
            <a:avLst/>
          </a:prstGeom>
          <a:solidFill>
            <a:schemeClr val="tx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xmlns="" id="{9EBE6326-8C31-B542-974C-A7E33F8D6ED9}"/>
              </a:ext>
            </a:extLst>
          </p:cNvPr>
          <p:cNvSpPr txBox="1"/>
          <p:nvPr/>
        </p:nvSpPr>
        <p:spPr>
          <a:xfrm>
            <a:off x="5315061" y="0"/>
            <a:ext cx="6876939" cy="6740307"/>
          </a:xfrm>
          <a:prstGeom prst="rect">
            <a:avLst/>
          </a:prstGeom>
          <a:noFill/>
        </p:spPr>
        <p:txBody>
          <a:bodyPr wrap="square" rtlCol="0">
            <a:spAutoFit/>
          </a:bodyPr>
          <a:lstStyle/>
          <a:p>
            <a:pPr marL="285750" indent="-285750">
              <a:buFont typeface="Arial" panose="020B0604020202020204" pitchFamily="34" charset="0"/>
              <a:buChar char="•"/>
            </a:pPr>
            <a:r>
              <a:rPr lang="en-US" b="1" dirty="0">
                <a:solidFill>
                  <a:schemeClr val="bg1"/>
                </a:solidFill>
              </a:rPr>
              <a:t>Risks </a:t>
            </a:r>
          </a:p>
          <a:p>
            <a:pPr marL="285750" indent="-285750">
              <a:buFontTx/>
              <a:buChar char="-"/>
            </a:pPr>
            <a:r>
              <a:rPr lang="en-US" dirty="0">
                <a:solidFill>
                  <a:schemeClr val="bg1"/>
                </a:solidFill>
              </a:rPr>
              <a:t>There is always a risk during any medical procedure </a:t>
            </a:r>
          </a:p>
          <a:p>
            <a:pPr marL="285750" indent="-285750">
              <a:buFontTx/>
              <a:buChar char="-"/>
            </a:pPr>
            <a:r>
              <a:rPr lang="en-US" dirty="0">
                <a:solidFill>
                  <a:schemeClr val="bg1"/>
                </a:solidFill>
              </a:rPr>
              <a:t>Main risk is an allergic reaction- not necessarily from the vaccine itself but from the medium in which the vaccine was cultured </a:t>
            </a:r>
          </a:p>
          <a:p>
            <a:pPr marL="285750" indent="-285750">
              <a:buFontTx/>
              <a:buChar char="-"/>
            </a:pPr>
            <a:r>
              <a:rPr lang="en-US" dirty="0">
                <a:solidFill>
                  <a:schemeClr val="bg1"/>
                </a:solidFill>
              </a:rPr>
              <a:t>Another risk is that it is impossible to isolate one virus from others within the animal tissue that is being used a culture medium, posing a risk to cross species disease introduction </a:t>
            </a:r>
          </a:p>
          <a:p>
            <a:pPr marL="285750" indent="-285750">
              <a:buFontTx/>
              <a:buChar char="-"/>
            </a:pPr>
            <a:r>
              <a:rPr lang="en-US" dirty="0">
                <a:solidFill>
                  <a:schemeClr val="bg1"/>
                </a:solidFill>
              </a:rPr>
              <a:t>Preservatives are used in the production of vaccines, people claim they can affect the nervous system and lead to other health issues, although there is no conclusive evidence supporting this idea </a:t>
            </a:r>
          </a:p>
          <a:p>
            <a:pPr marL="285750" indent="-285750">
              <a:buFont typeface="Arial" panose="020B0604020202020204" pitchFamily="34" charset="0"/>
              <a:buChar char="•"/>
            </a:pPr>
            <a:r>
              <a:rPr lang="en-US" b="1" dirty="0">
                <a:solidFill>
                  <a:schemeClr val="bg1"/>
                </a:solidFill>
              </a:rPr>
              <a:t>Ethics </a:t>
            </a:r>
          </a:p>
          <a:p>
            <a:pPr marL="285750" indent="-285750">
              <a:buFontTx/>
              <a:buChar char="-"/>
            </a:pPr>
            <a:r>
              <a:rPr lang="en-US" dirty="0">
                <a:solidFill>
                  <a:schemeClr val="bg1"/>
                </a:solidFill>
              </a:rPr>
              <a:t>A virus can only reproduce in living cells (example, influenza virus is cultured in chicken embryos) and people are concerned about the treatment of animals during production </a:t>
            </a:r>
          </a:p>
          <a:p>
            <a:pPr marL="285750" indent="-285750">
              <a:buFontTx/>
              <a:buChar char="-"/>
            </a:pPr>
            <a:r>
              <a:rPr lang="en-US" dirty="0">
                <a:solidFill>
                  <a:schemeClr val="bg1"/>
                </a:solidFill>
              </a:rPr>
              <a:t>Some vaccines require human tissue for growth (this avoids the risk of cross-species infections), although the source of this tissue also creates concern (example, rubella vaccine is manufactured in cells obtained from fetuses </a:t>
            </a:r>
          </a:p>
          <a:p>
            <a:pPr marL="285750" indent="-285750">
              <a:buFontTx/>
              <a:buChar char="-"/>
            </a:pPr>
            <a:r>
              <a:rPr lang="en-US" dirty="0">
                <a:solidFill>
                  <a:schemeClr val="bg1"/>
                </a:solidFill>
              </a:rPr>
              <a:t>Some viruses are more common in developing countries where individuals are not educated about the risks of trialing vaccines (exploitation) </a:t>
            </a:r>
          </a:p>
          <a:p>
            <a:pPr marL="285750" indent="-285750">
              <a:buFontTx/>
              <a:buChar char="-"/>
            </a:pPr>
            <a:r>
              <a:rPr lang="en-US" dirty="0">
                <a:solidFill>
                  <a:schemeClr val="bg1"/>
                </a:solidFill>
              </a:rPr>
              <a:t>Vaccines are tested on animals before human trials </a:t>
            </a:r>
          </a:p>
          <a:p>
            <a:pPr marL="285750" indent="-285750">
              <a:buFontTx/>
              <a:buChar char="-"/>
            </a:pPr>
            <a:r>
              <a:rPr lang="en-US" dirty="0">
                <a:solidFill>
                  <a:schemeClr val="bg1"/>
                </a:solidFill>
              </a:rPr>
              <a:t>It is also up the parental belief as to whether a child is immunized or not </a:t>
            </a:r>
          </a:p>
        </p:txBody>
      </p:sp>
    </p:spTree>
    <p:extLst>
      <p:ext uri="{BB962C8B-B14F-4D97-AF65-F5344CB8AC3E}">
        <p14:creationId xmlns:p14="http://schemas.microsoft.com/office/powerpoint/2010/main" val="3075865793"/>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xmlns=""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{2AD40EC3-A9C5-4043-8CE6-7A3EAFFFD4CD}tf10001120</Template>
  <TotalTime>656</TotalTime>
  <Words>2004</Words>
  <Application>Microsoft Office PowerPoint</Application>
  <PresentationFormat>Custom</PresentationFormat>
  <Paragraphs>156</Paragraphs>
  <Slides>13</Slides>
  <Notes>1</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Parcel</vt:lpstr>
      <vt:lpstr>Immune system </vt:lpstr>
      <vt:lpstr>Immune system syllabus points </vt:lpstr>
      <vt:lpstr>Describe how infectious diseases are caused by pathogens </vt:lpstr>
      <vt:lpstr>Describe bacteria and viruses </vt:lpstr>
      <vt:lpstr>Describe how pathogens are transmitted by:  -Direct and indirect contact  -Transfer of body fluids  -Disease specific vectors  -Contaminated food and water </vt:lpstr>
      <vt:lpstr>Describe how the following stop pathogens from entering the body  -Skin  -Digestive tract  -Urogenital tract  -Respiratory system  -The ear and the eye </vt:lpstr>
      <vt:lpstr>Explain how fever, inflammation and other non-specific responses stop pathogens </vt:lpstr>
      <vt:lpstr>Explain how antibody-mediated response (b-lymphocytes) stops pathogens </vt:lpstr>
      <vt:lpstr>Explain how cell-mediated (T-lymphocytes) stops pathogens </vt:lpstr>
      <vt:lpstr>Define passive immunity and describe how it can be acquired naturally through placenta or artificially through antibody injections </vt:lpstr>
      <vt:lpstr>Define active immunity and how it can be acquired naturally through exposure to pathogens and artificially through vaccines </vt:lpstr>
      <vt:lpstr>Describe the action of antibiotics and antiviral drugs- give examples of use </vt:lpstr>
      <vt:lpstr>Discuss ethics and issues of vaccines, discuss why this is a debated topic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Immune system</dc:title>
  <dc:creator>abbeyleigh111@hotmail.com</dc:creator>
  <cp:lastModifiedBy>BRUNS Emma</cp:lastModifiedBy>
  <cp:revision>29</cp:revision>
  <dcterms:created xsi:type="dcterms:W3CDTF">2018-09-10T03:14:42Z</dcterms:created>
  <dcterms:modified xsi:type="dcterms:W3CDTF">2018-09-21T00:57:30Z</dcterms:modified>
</cp:coreProperties>
</file>
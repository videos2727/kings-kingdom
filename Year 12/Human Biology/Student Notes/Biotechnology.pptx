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3" r:id="rId4"/>
    <p:sldId id="258" r:id="rId5"/>
    <p:sldId id="264" r:id="rId6"/>
    <p:sldId id="265" r:id="rId7"/>
    <p:sldId id="259" r:id="rId8"/>
    <p:sldId id="260" r:id="rId9"/>
    <p:sldId id="266" r:id="rId10"/>
    <p:sldId id="268" r:id="rId11"/>
    <p:sldId id="261" r:id="rId12"/>
    <p:sldId id="267" r:id="rId13"/>
    <p:sldId id="262"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0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4660"/>
  </p:normalViewPr>
  <p:slideViewPr>
    <p:cSldViewPr snapToGrid="0">
      <p:cViewPr>
        <p:scale>
          <a:sx n="81" d="100"/>
          <a:sy n="81" d="100"/>
        </p:scale>
        <p:origin x="-78" y="-7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9/18/2018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9/18/2018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9/18/2018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9/18/2018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9/18/2018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9/18/2018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9/18/2018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9/18/2018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9/18/2018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9/18/2018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9/18/2018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0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9/18/2018</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Biotechnology</a:t>
            </a:r>
          </a:p>
        </p:txBody>
      </p:sp>
    </p:spTree>
    <p:extLst>
      <p:ext uri="{BB962C8B-B14F-4D97-AF65-F5344CB8AC3E}">
        <p14:creationId xmlns:p14="http://schemas.microsoft.com/office/powerpoint/2010/main" val="138375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DNA sequencing</a:t>
            </a:r>
          </a:p>
        </p:txBody>
      </p:sp>
      <p:sp>
        <p:nvSpPr>
          <p:cNvPr id="3" name="Content Placeholder 2"/>
          <p:cNvSpPr>
            <a:spLocks noGrp="1"/>
          </p:cNvSpPr>
          <p:nvPr>
            <p:ph idx="1"/>
          </p:nvPr>
        </p:nvSpPr>
        <p:spPr/>
        <p:txBody>
          <a:bodyPr/>
          <a:lstStyle/>
          <a:p>
            <a:r>
              <a:rPr lang="en-AU" dirty="0"/>
              <a:t>Syllabus points: The DNA sequencing of the genome using biological techniques.</a:t>
            </a:r>
          </a:p>
          <a:p>
            <a:pPr>
              <a:buFont typeface="Arial" panose="020B0604020202020204" pitchFamily="34" charset="0"/>
              <a:buChar char="•"/>
            </a:pPr>
            <a:r>
              <a:rPr lang="en-AU" dirty="0"/>
              <a:t>Describe how DNA is sequenced</a:t>
            </a:r>
          </a:p>
          <a:p>
            <a:pPr>
              <a:buFont typeface="Arial" panose="020B0604020202020204" pitchFamily="34" charset="0"/>
              <a:buChar char="•"/>
            </a:pPr>
            <a:r>
              <a:rPr lang="en-AU" dirty="0"/>
              <a:t>Identify uses of these techniques</a:t>
            </a:r>
          </a:p>
        </p:txBody>
      </p:sp>
    </p:spTree>
    <p:extLst>
      <p:ext uri="{BB962C8B-B14F-4D97-AF65-F5344CB8AC3E}">
        <p14:creationId xmlns:p14="http://schemas.microsoft.com/office/powerpoint/2010/main" val="1446712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1241" y="221456"/>
            <a:ext cx="8391335" cy="6415087"/>
          </a:xfrm>
        </p:spPr>
        <p:txBody>
          <a:bodyPr>
            <a:normAutofit lnSpcReduction="10000"/>
          </a:bodyPr>
          <a:lstStyle/>
          <a:p>
            <a:pPr>
              <a:buFont typeface="Arial" panose="020B0604020202020204" pitchFamily="34" charset="0"/>
              <a:buChar char="•"/>
            </a:pPr>
            <a:r>
              <a:rPr lang="en-AU" dirty="0"/>
              <a:t>DNA sequencing involves working out the precise order of nucleotides in a sample of DNA</a:t>
            </a:r>
          </a:p>
          <a:p>
            <a:pPr>
              <a:buFont typeface="Arial" panose="020B0604020202020204" pitchFamily="34" charset="0"/>
              <a:buChar char="•"/>
            </a:pPr>
            <a:r>
              <a:rPr lang="en-AU" dirty="0"/>
              <a:t>This sequence can  then be used to identify genetic diseases, establish maternity/paternity, trace ancestry and forensic science.</a:t>
            </a:r>
          </a:p>
          <a:p>
            <a:pPr>
              <a:buFont typeface="Arial" panose="020B0604020202020204" pitchFamily="34" charset="0"/>
              <a:buChar char="•"/>
            </a:pPr>
            <a:r>
              <a:rPr lang="en-AU" dirty="0"/>
              <a:t>Uses sangers method- the solution contains free nucleotides, the primer for the strand we want, DNA polymerase and synthetic nucleotides</a:t>
            </a:r>
          </a:p>
          <a:p>
            <a:pPr>
              <a:buFont typeface="Arial" panose="020B0604020202020204" pitchFamily="34" charset="0"/>
              <a:buChar char="•"/>
            </a:pPr>
            <a:r>
              <a:rPr lang="en-AU" dirty="0"/>
              <a:t>The solution is first heated to denature the DNA we want to sequence -&gt; the template</a:t>
            </a:r>
          </a:p>
          <a:p>
            <a:pPr>
              <a:buFont typeface="Arial" panose="020B0604020202020204" pitchFamily="34" charset="0"/>
              <a:buChar char="•"/>
            </a:pPr>
            <a:r>
              <a:rPr lang="en-AU" dirty="0"/>
              <a:t>Once the strands have separated, it is cooled again , which allows the primer to bind to the single stranded template</a:t>
            </a:r>
          </a:p>
          <a:p>
            <a:pPr>
              <a:buFont typeface="Arial" panose="020B0604020202020204" pitchFamily="34" charset="0"/>
              <a:buChar char="•"/>
            </a:pPr>
            <a:r>
              <a:rPr lang="en-AU" dirty="0"/>
              <a:t>The temperature is then increased again, which allows the DNA polymerase to work along the template and from a new strand from the free nucleotides and synthetic nucleotides in the solution</a:t>
            </a:r>
          </a:p>
          <a:p>
            <a:pPr>
              <a:buFont typeface="Arial" panose="020B0604020202020204" pitchFamily="34" charset="0"/>
              <a:buChar char="•"/>
            </a:pPr>
            <a:r>
              <a:rPr lang="en-AU" dirty="0"/>
              <a:t>Each time a synthetic nucleotide is used, the strand will be cut off and no more nucleotides will be added</a:t>
            </a:r>
          </a:p>
          <a:p>
            <a:pPr>
              <a:buFont typeface="Arial" panose="020B0604020202020204" pitchFamily="34" charset="0"/>
              <a:buChar char="•"/>
            </a:pPr>
            <a:r>
              <a:rPr lang="en-AU" dirty="0"/>
              <a:t>This process will continue until synthetic nucleotides have been added in all positions of the template  </a:t>
            </a:r>
          </a:p>
        </p:txBody>
      </p:sp>
      <p:pic>
        <p:nvPicPr>
          <p:cNvPr id="4" name="Picture 3">
            <a:extLst>
              <a:ext uri="{FF2B5EF4-FFF2-40B4-BE49-F238E27FC236}">
                <a16:creationId xmlns:a16="http://schemas.microsoft.com/office/drawing/2014/main" xmlns="" id="{EFFF52A6-AB15-4F64-81F9-BA7D02B9E5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09" r="53711" b="-1"/>
          <a:stretch/>
        </p:blipFill>
        <p:spPr bwMode="auto">
          <a:xfrm>
            <a:off x="9315451" y="1519069"/>
            <a:ext cx="2876550" cy="4568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7644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Polymerase chain reaction (</a:t>
            </a:r>
            <a:r>
              <a:rPr lang="en-AU" dirty="0" err="1"/>
              <a:t>PCr</a:t>
            </a:r>
            <a:r>
              <a:rPr lang="en-AU" dirty="0"/>
              <a:t>) &amp; Gel electrophoresis</a:t>
            </a:r>
          </a:p>
        </p:txBody>
      </p:sp>
      <p:sp>
        <p:nvSpPr>
          <p:cNvPr id="3" name="Content Placeholder 2"/>
          <p:cNvSpPr>
            <a:spLocks noGrp="1"/>
          </p:cNvSpPr>
          <p:nvPr>
            <p:ph idx="1"/>
          </p:nvPr>
        </p:nvSpPr>
        <p:spPr/>
        <p:txBody>
          <a:bodyPr/>
          <a:lstStyle/>
          <a:p>
            <a:pPr>
              <a:buFont typeface="Arial" panose="020B0604020202020204" pitchFamily="34" charset="0"/>
              <a:buChar char="•"/>
            </a:pPr>
            <a:r>
              <a:rPr lang="en-AU" dirty="0"/>
              <a:t>Biotechnological techniques provide evidence for evolution by using PCR (to amplify minute samples of DNA to testable amounts), bacterial enzymes and gel electrophoresis to facilitate DNA sequencing of genomes</a:t>
            </a:r>
          </a:p>
          <a:p>
            <a:pPr>
              <a:buFont typeface="Arial" panose="020B0604020202020204" pitchFamily="34" charset="0"/>
              <a:buChar char="•"/>
            </a:pPr>
            <a:r>
              <a:rPr lang="en-AU" dirty="0"/>
              <a:t>Describe the process of PCR</a:t>
            </a:r>
          </a:p>
          <a:p>
            <a:pPr>
              <a:buFont typeface="Arial" panose="020B0604020202020204" pitchFamily="34" charset="0"/>
              <a:buChar char="•"/>
            </a:pPr>
            <a:r>
              <a:rPr lang="en-AU" dirty="0"/>
              <a:t>Describe the process of gel electrophoresis</a:t>
            </a:r>
          </a:p>
          <a:p>
            <a:pPr>
              <a:buFont typeface="Arial" panose="020B0604020202020204" pitchFamily="34" charset="0"/>
              <a:buChar char="•"/>
            </a:pPr>
            <a:r>
              <a:rPr lang="en-AU" dirty="0"/>
              <a:t>Explain how these can be used for DNA sequencing</a:t>
            </a:r>
          </a:p>
          <a:p>
            <a:pPr>
              <a:buFont typeface="Arial" panose="020B0604020202020204" pitchFamily="34" charset="0"/>
              <a:buChar char="•"/>
            </a:pPr>
            <a:r>
              <a:rPr lang="en-AU" dirty="0"/>
              <a:t>Explain how they provide evidence for evolution</a:t>
            </a:r>
          </a:p>
          <a:p>
            <a:pPr>
              <a:buFont typeface="Arial" panose="020B0604020202020204" pitchFamily="34" charset="0"/>
              <a:buChar char="•"/>
            </a:pPr>
            <a:endParaRPr lang="en-AU" dirty="0"/>
          </a:p>
        </p:txBody>
      </p:sp>
    </p:spTree>
    <p:extLst>
      <p:ext uri="{BB962C8B-B14F-4D97-AF65-F5344CB8AC3E}">
        <p14:creationId xmlns:p14="http://schemas.microsoft.com/office/powerpoint/2010/main" val="490533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512064"/>
          </a:xfrm>
        </p:spPr>
        <p:txBody>
          <a:bodyPr>
            <a:normAutofit fontScale="90000"/>
          </a:bodyPr>
          <a:lstStyle/>
          <a:p>
            <a:r>
              <a:rPr lang="en-AU" dirty="0"/>
              <a:t>PCR</a:t>
            </a:r>
          </a:p>
        </p:txBody>
      </p:sp>
      <p:sp>
        <p:nvSpPr>
          <p:cNvPr id="3" name="Content Placeholder 2"/>
          <p:cNvSpPr>
            <a:spLocks noGrp="1"/>
          </p:cNvSpPr>
          <p:nvPr>
            <p:ph idx="1"/>
          </p:nvPr>
        </p:nvSpPr>
        <p:spPr>
          <a:xfrm>
            <a:off x="1024128" y="1097280"/>
            <a:ext cx="9720073" cy="5212080"/>
          </a:xfrm>
        </p:spPr>
        <p:txBody>
          <a:bodyPr>
            <a:normAutofit lnSpcReduction="10000"/>
          </a:bodyPr>
          <a:lstStyle/>
          <a:p>
            <a:r>
              <a:rPr lang="en-AU" dirty="0"/>
              <a:t>Polymerase chain reaction is used to amplify samples of DNA so there are many copies</a:t>
            </a:r>
          </a:p>
          <a:p>
            <a:pPr>
              <a:buFont typeface="Arial" panose="020B0604020202020204" pitchFamily="34" charset="0"/>
              <a:buChar char="•"/>
            </a:pPr>
            <a:r>
              <a:rPr lang="en-AU" dirty="0"/>
              <a:t>It uses two primers that will frame the sequence  of DNA we want to copy, the double stranded sample, free nucleotides and heat stable DNA polymerase</a:t>
            </a:r>
          </a:p>
          <a:p>
            <a:pPr>
              <a:buFont typeface="Arial" panose="020B0604020202020204" pitchFamily="34" charset="0"/>
              <a:buChar char="•"/>
            </a:pPr>
            <a:r>
              <a:rPr lang="en-AU" dirty="0"/>
              <a:t>Denaturation – first, the solution is heated to ~95 C, which causes the sample to denature and the strands to separate</a:t>
            </a:r>
          </a:p>
          <a:p>
            <a:pPr>
              <a:buFont typeface="Arial" panose="020B0604020202020204" pitchFamily="34" charset="0"/>
              <a:buChar char="•"/>
            </a:pPr>
            <a:r>
              <a:rPr lang="en-AU" dirty="0"/>
              <a:t>Annealing - the solution is then cooled again to ~ 55 C, which allows the primers to bind to each strand in the 5” to 3” direction</a:t>
            </a:r>
          </a:p>
          <a:p>
            <a:pPr>
              <a:buFont typeface="Arial" panose="020B0604020202020204" pitchFamily="34" charset="0"/>
              <a:buChar char="•"/>
            </a:pPr>
            <a:r>
              <a:rPr lang="en-AU" dirty="0"/>
              <a:t>Extension - the solution is now heated to 72 C, which allows the DNA  polymerase to attach and the primer and begin to synthesise the new complimentary strands of DNA from the free nucleotides in the solution</a:t>
            </a:r>
          </a:p>
          <a:p>
            <a:pPr>
              <a:buFont typeface="Arial" panose="020B0604020202020204" pitchFamily="34" charset="0"/>
              <a:buChar char="•"/>
            </a:pPr>
            <a:r>
              <a:rPr lang="en-AU" dirty="0"/>
              <a:t>After the strands have formed, the solution is heated again the separate the new strands from the template</a:t>
            </a:r>
          </a:p>
          <a:p>
            <a:pPr>
              <a:buFont typeface="Arial" panose="020B0604020202020204" pitchFamily="34" charset="0"/>
              <a:buChar char="•"/>
            </a:pPr>
            <a:r>
              <a:rPr lang="en-AU" dirty="0"/>
              <a:t>This process is allows very small amounts of DNA to be amplified, for example from a fossil, which can then be sequenced and compared to genomes of fossil ancestors.</a:t>
            </a:r>
          </a:p>
          <a:p>
            <a:pPr>
              <a:buFont typeface="Arial" panose="020B0604020202020204" pitchFamily="34" charset="0"/>
              <a:buChar char="•"/>
            </a:pPr>
            <a:endParaRPr lang="en-AU" dirty="0"/>
          </a:p>
        </p:txBody>
      </p:sp>
    </p:spTree>
    <p:extLst>
      <p:ext uri="{BB962C8B-B14F-4D97-AF65-F5344CB8AC3E}">
        <p14:creationId xmlns:p14="http://schemas.microsoft.com/office/powerpoint/2010/main" val="3501450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D445B3-A518-4856-8B7F-BCC86EF78366}"/>
              </a:ext>
            </a:extLst>
          </p:cNvPr>
          <p:cNvSpPr>
            <a:spLocks noGrp="1"/>
          </p:cNvSpPr>
          <p:nvPr>
            <p:ph type="title"/>
          </p:nvPr>
        </p:nvSpPr>
        <p:spPr>
          <a:xfrm>
            <a:off x="1024128" y="585216"/>
            <a:ext cx="9720072" cy="514922"/>
          </a:xfrm>
        </p:spPr>
        <p:txBody>
          <a:bodyPr>
            <a:normAutofit fontScale="90000"/>
          </a:bodyPr>
          <a:lstStyle/>
          <a:p>
            <a:r>
              <a:rPr lang="en-AU" dirty="0"/>
              <a:t>Gel Electrophoresis</a:t>
            </a:r>
          </a:p>
        </p:txBody>
      </p:sp>
      <p:sp>
        <p:nvSpPr>
          <p:cNvPr id="3" name="Content Placeholder 2">
            <a:extLst>
              <a:ext uri="{FF2B5EF4-FFF2-40B4-BE49-F238E27FC236}">
                <a16:creationId xmlns:a16="http://schemas.microsoft.com/office/drawing/2014/main" xmlns="" id="{3C155C26-9A42-4EFD-AAC0-A3EABB1F3C0B}"/>
              </a:ext>
            </a:extLst>
          </p:cNvPr>
          <p:cNvSpPr>
            <a:spLocks noGrp="1"/>
          </p:cNvSpPr>
          <p:nvPr>
            <p:ph idx="1"/>
          </p:nvPr>
        </p:nvSpPr>
        <p:spPr>
          <a:xfrm>
            <a:off x="614363" y="1100138"/>
            <a:ext cx="11129962" cy="5429250"/>
          </a:xfrm>
        </p:spPr>
        <p:txBody>
          <a:bodyPr>
            <a:normAutofit fontScale="92500"/>
          </a:bodyPr>
          <a:lstStyle/>
          <a:p>
            <a:r>
              <a:rPr lang="en-AU" dirty="0"/>
              <a:t>Gel electrophoresis is used to separate DNA fragments based on their lengths or molecular weights</a:t>
            </a:r>
          </a:p>
          <a:p>
            <a:r>
              <a:rPr lang="en-AU" dirty="0"/>
              <a:t>This can be used to identify maternity/paternity and determine similarities in DNA sequence that indicate relativity.</a:t>
            </a:r>
          </a:p>
          <a:p>
            <a:pPr>
              <a:buFont typeface="Arial" panose="020B0604020202020204" pitchFamily="34" charset="0"/>
              <a:buChar char="•"/>
            </a:pPr>
            <a:r>
              <a:rPr lang="en-AU" dirty="0"/>
              <a:t>The DNA fragments are mixed with a dye, that causes them to sink to the bottom of the wells </a:t>
            </a:r>
          </a:p>
          <a:p>
            <a:pPr>
              <a:buFont typeface="Arial" panose="020B0604020202020204" pitchFamily="34" charset="0"/>
              <a:buChar char="•"/>
            </a:pPr>
            <a:r>
              <a:rPr lang="en-AU" dirty="0"/>
              <a:t>The different samples of DNA are placed into wells in the agarose gel at the negative end</a:t>
            </a:r>
          </a:p>
          <a:p>
            <a:pPr>
              <a:buFont typeface="Arial" panose="020B0604020202020204" pitchFamily="34" charset="0"/>
              <a:buChar char="•"/>
            </a:pPr>
            <a:r>
              <a:rPr lang="en-AU" dirty="0"/>
              <a:t>A buffer solution is poured over the gel, which prevents the gel from drying out and contains ions that allow the solution to conduct electricity</a:t>
            </a:r>
          </a:p>
          <a:p>
            <a:pPr>
              <a:buFont typeface="Arial" panose="020B0604020202020204" pitchFamily="34" charset="0"/>
              <a:buChar char="•"/>
            </a:pPr>
            <a:r>
              <a:rPr lang="en-AU" dirty="0"/>
              <a:t>When the current is applied, the DNA migrates through the gel due to its porous nature</a:t>
            </a:r>
          </a:p>
          <a:p>
            <a:pPr>
              <a:buFont typeface="Arial" panose="020B0604020202020204" pitchFamily="34" charset="0"/>
              <a:buChar char="•"/>
            </a:pPr>
            <a:r>
              <a:rPr lang="en-AU" dirty="0"/>
              <a:t>The gel is then stained so that the progress of the DNA fragments can be seen a smear or bands</a:t>
            </a:r>
          </a:p>
          <a:p>
            <a:pPr>
              <a:buFont typeface="Arial" panose="020B0604020202020204" pitchFamily="34" charset="0"/>
              <a:buChar char="•"/>
            </a:pPr>
            <a:r>
              <a:rPr lang="en-AU" dirty="0"/>
              <a:t>The fragments that are shortest (have smallest molecular weight) will move faster through the gel, due to their reduced size, so will have travelled further from the wells, while the larger and heavier fragments will be closer to the wells</a:t>
            </a:r>
          </a:p>
          <a:p>
            <a:pPr>
              <a:buFont typeface="Arial" panose="020B0604020202020204" pitchFamily="34" charset="0"/>
              <a:buChar char="•"/>
            </a:pPr>
            <a:r>
              <a:rPr lang="en-AU" dirty="0"/>
              <a:t>The distances the fragments have travelled can then be compared to that of the ladder, which contains fragments of known lengths or molecular weights</a:t>
            </a:r>
          </a:p>
          <a:p>
            <a:pPr>
              <a:buFont typeface="Arial" panose="020B0604020202020204" pitchFamily="34" charset="0"/>
              <a:buChar char="•"/>
            </a:pPr>
            <a:endParaRPr lang="en-AU" dirty="0"/>
          </a:p>
        </p:txBody>
      </p:sp>
    </p:spTree>
    <p:extLst>
      <p:ext uri="{BB962C8B-B14F-4D97-AF65-F5344CB8AC3E}">
        <p14:creationId xmlns:p14="http://schemas.microsoft.com/office/powerpoint/2010/main" val="2123380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Conducting Investigations</a:t>
            </a:r>
          </a:p>
        </p:txBody>
      </p:sp>
      <p:sp>
        <p:nvSpPr>
          <p:cNvPr id="3" name="Content Placeholder 2"/>
          <p:cNvSpPr>
            <a:spLocks noGrp="1"/>
          </p:cNvSpPr>
          <p:nvPr>
            <p:ph idx="1"/>
          </p:nvPr>
        </p:nvSpPr>
        <p:spPr/>
        <p:txBody>
          <a:bodyPr/>
          <a:lstStyle/>
          <a:p>
            <a:r>
              <a:rPr lang="en-AU" dirty="0"/>
              <a:t>Conduct investigations, including the use of virtual or real biotechnological techniques of polymerase chain reaction (PCR), gel electrophoresis for deoxyribonucleic acid (DNA)sequencing, and techniques for relative and absolute dating, safely, competently and methodically for valid and reliable collection of data (SIS)</a:t>
            </a:r>
          </a:p>
          <a:p>
            <a:pPr>
              <a:buFont typeface="Arial" panose="020B0604020202020204" pitchFamily="34" charset="0"/>
              <a:buChar char="•"/>
            </a:pPr>
            <a:r>
              <a:rPr lang="en-AU" dirty="0"/>
              <a:t>Recall the procedure for conducting:</a:t>
            </a:r>
            <a:br>
              <a:rPr lang="en-AU" dirty="0"/>
            </a:br>
            <a:r>
              <a:rPr lang="en-AU" dirty="0"/>
              <a:t>-PCR</a:t>
            </a:r>
            <a:br>
              <a:rPr lang="en-AU" dirty="0"/>
            </a:br>
            <a:r>
              <a:rPr lang="en-AU" dirty="0"/>
              <a:t>-Gel electrophoresis</a:t>
            </a:r>
          </a:p>
        </p:txBody>
      </p:sp>
    </p:spTree>
    <p:extLst>
      <p:ext uri="{BB962C8B-B14F-4D97-AF65-F5344CB8AC3E}">
        <p14:creationId xmlns:p14="http://schemas.microsoft.com/office/powerpoint/2010/main" val="1711681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Recombinant </a:t>
            </a:r>
            <a:r>
              <a:rPr lang="en-AU" dirty="0" err="1"/>
              <a:t>dna</a:t>
            </a:r>
            <a:endParaRPr lang="en-AU" dirty="0"/>
          </a:p>
        </p:txBody>
      </p:sp>
      <p:sp>
        <p:nvSpPr>
          <p:cNvPr id="3" name="Content Placeholder 2"/>
          <p:cNvSpPr>
            <a:spLocks noGrp="1"/>
          </p:cNvSpPr>
          <p:nvPr>
            <p:ph idx="1"/>
          </p:nvPr>
        </p:nvSpPr>
        <p:spPr/>
        <p:txBody>
          <a:bodyPr/>
          <a:lstStyle/>
          <a:p>
            <a:r>
              <a:rPr lang="en-AU" dirty="0"/>
              <a:t>Hormones and vaccines are developed using recombinant DNA and associated biotechnological techniques (SHE)</a:t>
            </a:r>
          </a:p>
          <a:p>
            <a:pPr>
              <a:buFont typeface="Arial" panose="020B0604020202020204" pitchFamily="34" charset="0"/>
              <a:buChar char="•"/>
            </a:pPr>
            <a:r>
              <a:rPr lang="en-AU" dirty="0"/>
              <a:t>Describe the process of recombinant DNA</a:t>
            </a:r>
          </a:p>
          <a:p>
            <a:pPr>
              <a:buFont typeface="Arial" panose="020B0604020202020204" pitchFamily="34" charset="0"/>
              <a:buChar char="•"/>
            </a:pPr>
            <a:r>
              <a:rPr lang="en-AU" dirty="0"/>
              <a:t>Explain the uses of this technology</a:t>
            </a:r>
          </a:p>
        </p:txBody>
      </p:sp>
    </p:spTree>
    <p:extLst>
      <p:ext uri="{BB962C8B-B14F-4D97-AF65-F5344CB8AC3E}">
        <p14:creationId xmlns:p14="http://schemas.microsoft.com/office/powerpoint/2010/main" val="993276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2F1D84F-1A57-4D5D-AE3B-1A8AA3466051}"/>
              </a:ext>
            </a:extLst>
          </p:cNvPr>
          <p:cNvSpPr>
            <a:spLocks noGrp="1"/>
          </p:cNvSpPr>
          <p:nvPr>
            <p:ph idx="1"/>
          </p:nvPr>
        </p:nvSpPr>
        <p:spPr>
          <a:xfrm>
            <a:off x="1024128" y="528638"/>
            <a:ext cx="9720073" cy="5780722"/>
          </a:xfrm>
        </p:spPr>
        <p:txBody>
          <a:bodyPr>
            <a:normAutofit lnSpcReduction="10000"/>
          </a:bodyPr>
          <a:lstStyle/>
          <a:p>
            <a:r>
              <a:rPr lang="en-AU" dirty="0"/>
              <a:t>Recombinant DNA involves introducing DNA into cells, that is from a different organism or has been modified in some way.</a:t>
            </a:r>
          </a:p>
          <a:p>
            <a:r>
              <a:rPr lang="en-AU" dirty="0"/>
              <a:t>This would be useful in treating diabetes mellitus, to produce insulin, as well as vaccines, such as Hepatitis B and other hormone-related conditions.</a:t>
            </a:r>
          </a:p>
          <a:p>
            <a:pPr>
              <a:buFont typeface="Arial" panose="020B0604020202020204" pitchFamily="34" charset="0"/>
              <a:buChar char="•"/>
            </a:pPr>
            <a:r>
              <a:rPr lang="en-AU" dirty="0"/>
              <a:t>First the gene we want to manipulate is identify and isolated</a:t>
            </a:r>
          </a:p>
          <a:p>
            <a:pPr>
              <a:buFont typeface="Arial" panose="020B0604020202020204" pitchFamily="34" charset="0"/>
              <a:buChar char="•"/>
            </a:pPr>
            <a:r>
              <a:rPr lang="en-AU" dirty="0"/>
              <a:t>This gene is cut out using a restriction enzyme, which cleaves the DNA at the recognition site to create the sticky end</a:t>
            </a:r>
          </a:p>
          <a:p>
            <a:pPr>
              <a:buFont typeface="Arial" panose="020B0604020202020204" pitchFamily="34" charset="0"/>
              <a:buChar char="•"/>
            </a:pPr>
            <a:r>
              <a:rPr lang="en-AU" dirty="0"/>
              <a:t>A plasmid, which is a circular ring of DNA, is isolated from a bacterial cell</a:t>
            </a:r>
          </a:p>
          <a:p>
            <a:pPr>
              <a:buFont typeface="Arial" panose="020B0604020202020204" pitchFamily="34" charset="0"/>
              <a:buChar char="•"/>
            </a:pPr>
            <a:r>
              <a:rPr lang="en-AU" dirty="0"/>
              <a:t>The same restriction enzyme is used to cut the plasmid at the same recognition site</a:t>
            </a:r>
          </a:p>
          <a:p>
            <a:pPr>
              <a:buFont typeface="Arial" panose="020B0604020202020204" pitchFamily="34" charset="0"/>
              <a:buChar char="•"/>
            </a:pPr>
            <a:r>
              <a:rPr lang="en-AU" dirty="0"/>
              <a:t>The enzyme ligase is then used to insert the gene into the plasmid</a:t>
            </a:r>
          </a:p>
          <a:p>
            <a:pPr>
              <a:buFont typeface="Arial" panose="020B0604020202020204" pitchFamily="34" charset="0"/>
              <a:buChar char="•"/>
            </a:pPr>
            <a:r>
              <a:rPr lang="en-AU" dirty="0"/>
              <a:t>The plasmid is then reinserted into the bacterial cell</a:t>
            </a:r>
          </a:p>
          <a:p>
            <a:pPr>
              <a:buFont typeface="Arial" panose="020B0604020202020204" pitchFamily="34" charset="0"/>
              <a:buChar char="•"/>
            </a:pPr>
            <a:r>
              <a:rPr lang="en-AU" dirty="0"/>
              <a:t>The cell is then cloned rapidly to produce large quantities of the protein or hormone it codes for</a:t>
            </a:r>
          </a:p>
          <a:p>
            <a:pPr>
              <a:buFont typeface="Arial" panose="020B0604020202020204" pitchFamily="34" charset="0"/>
              <a:buChar char="•"/>
            </a:pPr>
            <a:r>
              <a:rPr lang="en-AU" dirty="0"/>
              <a:t>Because these proteins or hormones are produced from the patients own DNA, there will not be any of the same side effects as using synthetic hormones</a:t>
            </a:r>
          </a:p>
          <a:p>
            <a:endParaRPr lang="en-AU" dirty="0"/>
          </a:p>
        </p:txBody>
      </p:sp>
    </p:spTree>
    <p:extLst>
      <p:ext uri="{BB962C8B-B14F-4D97-AF65-F5344CB8AC3E}">
        <p14:creationId xmlns:p14="http://schemas.microsoft.com/office/powerpoint/2010/main" val="70108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xmlns="" id="{B05BFB19-669B-436A-9E38-5011D6F93B8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V="1">
            <a:off x="762000" y="826324"/>
            <a:ext cx="0" cy="5214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xmlns="" id="{9413DE7D-4710-463F-9A37-FC3DA82954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4127" y="826324"/>
            <a:ext cx="9813205" cy="5214280"/>
          </a:xfrm>
          <a:prstGeom prst="rect">
            <a:avLst/>
          </a:prstGeom>
          <a:solidFill>
            <a:srgbClr val="FFFFFF"/>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ell phone&#10;&#10;Description generated with very high confidence">
            <a:extLst>
              <a:ext uri="{FF2B5EF4-FFF2-40B4-BE49-F238E27FC236}">
                <a16:creationId xmlns:a16="http://schemas.microsoft.com/office/drawing/2014/main" xmlns="" id="{A0AFA813-C651-4978-A57D-F970C23036F7}"/>
              </a:ext>
            </a:extLst>
          </p:cNvPr>
          <p:cNvPicPr>
            <a:picLocks noChangeAspect="1"/>
          </p:cNvPicPr>
          <p:nvPr/>
        </p:nvPicPr>
        <p:blipFill>
          <a:blip r:embed="rId2"/>
          <a:stretch>
            <a:fillRect/>
          </a:stretch>
        </p:blipFill>
        <p:spPr>
          <a:xfrm>
            <a:off x="1345859" y="2080926"/>
            <a:ext cx="9169740" cy="2705073"/>
          </a:xfrm>
          <a:prstGeom prst="rect">
            <a:avLst/>
          </a:prstGeom>
        </p:spPr>
      </p:pic>
      <p:sp>
        <p:nvSpPr>
          <p:cNvPr id="5" name="TextBox 4">
            <a:extLst>
              <a:ext uri="{FF2B5EF4-FFF2-40B4-BE49-F238E27FC236}">
                <a16:creationId xmlns:a16="http://schemas.microsoft.com/office/drawing/2014/main" xmlns="" id="{F9BF0EA1-E3C0-49C6-B2D1-03027BC12607}"/>
              </a:ext>
            </a:extLst>
          </p:cNvPr>
          <p:cNvSpPr txBox="1"/>
          <p:nvPr/>
        </p:nvSpPr>
        <p:spPr>
          <a:xfrm>
            <a:off x="1345859" y="300038"/>
            <a:ext cx="8998289" cy="523220"/>
          </a:xfrm>
          <a:prstGeom prst="rect">
            <a:avLst/>
          </a:prstGeom>
          <a:noFill/>
        </p:spPr>
        <p:txBody>
          <a:bodyPr wrap="square" rtlCol="0">
            <a:spAutoFit/>
          </a:bodyPr>
          <a:lstStyle/>
          <a:p>
            <a:pPr algn="ctr"/>
            <a:r>
              <a:rPr lang="en-AU" sz="2800" dirty="0"/>
              <a:t>Recombinant DNA Technology To Produce Insulin</a:t>
            </a:r>
          </a:p>
        </p:txBody>
      </p:sp>
    </p:spTree>
    <p:extLst>
      <p:ext uri="{BB962C8B-B14F-4D97-AF65-F5344CB8AC3E}">
        <p14:creationId xmlns:p14="http://schemas.microsoft.com/office/powerpoint/2010/main" val="2862365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Gene therapy</a:t>
            </a:r>
          </a:p>
        </p:txBody>
      </p:sp>
      <p:sp>
        <p:nvSpPr>
          <p:cNvPr id="3" name="Content Placeholder 2"/>
          <p:cNvSpPr>
            <a:spLocks noGrp="1"/>
          </p:cNvSpPr>
          <p:nvPr>
            <p:ph idx="1"/>
          </p:nvPr>
        </p:nvSpPr>
        <p:spPr/>
        <p:txBody>
          <a:bodyPr/>
          <a:lstStyle/>
          <a:p>
            <a:r>
              <a:rPr lang="en-AU" dirty="0"/>
              <a:t>Gene therapy can be used to treat a range of diseases, including diabetes mellitus</a:t>
            </a:r>
          </a:p>
          <a:p>
            <a:pPr>
              <a:buFont typeface="Arial" panose="020B0604020202020204" pitchFamily="34" charset="0"/>
              <a:buChar char="•"/>
            </a:pPr>
            <a:r>
              <a:rPr lang="en-AU" dirty="0"/>
              <a:t>Describe the process of gene therapy</a:t>
            </a:r>
          </a:p>
          <a:p>
            <a:pPr>
              <a:buFont typeface="Arial" panose="020B0604020202020204" pitchFamily="34" charset="0"/>
              <a:buChar char="•"/>
            </a:pPr>
            <a:r>
              <a:rPr lang="en-AU" dirty="0"/>
              <a:t>Explain the uses of this technology (especially in regards to diabetes)</a:t>
            </a:r>
          </a:p>
        </p:txBody>
      </p:sp>
    </p:spTree>
    <p:extLst>
      <p:ext uri="{BB962C8B-B14F-4D97-AF65-F5344CB8AC3E}">
        <p14:creationId xmlns:p14="http://schemas.microsoft.com/office/powerpoint/2010/main" val="4290798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CE26839-EF38-47AB-B090-158A816FA6DC}"/>
              </a:ext>
            </a:extLst>
          </p:cNvPr>
          <p:cNvSpPr>
            <a:spLocks noGrp="1"/>
          </p:cNvSpPr>
          <p:nvPr>
            <p:ph idx="1"/>
          </p:nvPr>
        </p:nvSpPr>
        <p:spPr>
          <a:xfrm>
            <a:off x="1052703" y="542925"/>
            <a:ext cx="9720073" cy="5772150"/>
          </a:xfrm>
        </p:spPr>
        <p:txBody>
          <a:bodyPr>
            <a:normAutofit fontScale="92500" lnSpcReduction="10000"/>
          </a:bodyPr>
          <a:lstStyle/>
          <a:p>
            <a:r>
              <a:rPr lang="en-AU" sz="2800" dirty="0"/>
              <a:t>Gene therapy involves replacing faulty genes with healthy ones -&gt; this involves inserting sections of DNA to treat or prevent the disease</a:t>
            </a:r>
          </a:p>
          <a:p>
            <a:pPr>
              <a:buFont typeface="Arial" panose="020B0604020202020204" pitchFamily="34" charset="0"/>
              <a:buChar char="•"/>
            </a:pPr>
            <a:r>
              <a:rPr lang="en-AU" sz="2800" dirty="0"/>
              <a:t>Identify and isolate the healthy gene</a:t>
            </a:r>
          </a:p>
          <a:p>
            <a:pPr>
              <a:buFont typeface="Arial" panose="020B0604020202020204" pitchFamily="34" charset="0"/>
              <a:buChar char="•"/>
            </a:pPr>
            <a:r>
              <a:rPr lang="en-AU" sz="2800" dirty="0"/>
              <a:t>Cut it out using a restriction enzyme, at recognition site to produce sticky end</a:t>
            </a:r>
          </a:p>
          <a:p>
            <a:pPr>
              <a:buFont typeface="Arial" panose="020B0604020202020204" pitchFamily="34" charset="0"/>
              <a:buChar char="•"/>
            </a:pPr>
            <a:r>
              <a:rPr lang="en-AU" sz="2800" dirty="0"/>
              <a:t>Vector is identified to carry gene to required cells in patient</a:t>
            </a:r>
          </a:p>
          <a:p>
            <a:pPr>
              <a:buFont typeface="Arial" panose="020B0604020202020204" pitchFamily="34" charset="0"/>
              <a:buChar char="•"/>
            </a:pPr>
            <a:r>
              <a:rPr lang="en-AU" sz="2800" dirty="0"/>
              <a:t>Obtain deactivated virus </a:t>
            </a:r>
          </a:p>
          <a:p>
            <a:pPr>
              <a:buFont typeface="Arial" panose="020B0604020202020204" pitchFamily="34" charset="0"/>
              <a:buChar char="•"/>
            </a:pPr>
            <a:r>
              <a:rPr lang="en-AU" sz="2800" dirty="0"/>
              <a:t>Insert the gene into the viral DNA using ligase</a:t>
            </a:r>
          </a:p>
          <a:p>
            <a:pPr>
              <a:buFont typeface="Arial" panose="020B0604020202020204" pitchFamily="34" charset="0"/>
              <a:buChar char="•"/>
            </a:pPr>
            <a:r>
              <a:rPr lang="en-AU" sz="2800" dirty="0"/>
              <a:t>Allow virus to insert insulin gene into patient’s DNA</a:t>
            </a:r>
          </a:p>
          <a:p>
            <a:pPr>
              <a:buFont typeface="Arial" panose="020B0604020202020204" pitchFamily="34" charset="0"/>
              <a:buChar char="•"/>
            </a:pPr>
            <a:r>
              <a:rPr lang="en-AU" sz="2800" dirty="0"/>
              <a:t>Patient’s cells begin to produce required protein or hormone</a:t>
            </a:r>
          </a:p>
          <a:p>
            <a:pPr marL="0" indent="0">
              <a:buNone/>
            </a:pPr>
            <a:r>
              <a:rPr lang="en-AU" sz="2800" dirty="0"/>
              <a:t>Could be used to treat diabetes, by replacing the faulty insulin gene with a healthy one, so beta cells in pancreas can produce insulin again </a:t>
            </a:r>
          </a:p>
        </p:txBody>
      </p:sp>
    </p:spTree>
    <p:extLst>
      <p:ext uri="{BB962C8B-B14F-4D97-AF65-F5344CB8AC3E}">
        <p14:creationId xmlns:p14="http://schemas.microsoft.com/office/powerpoint/2010/main" val="307030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Cell replacement therapy</a:t>
            </a:r>
          </a:p>
        </p:txBody>
      </p:sp>
      <p:sp>
        <p:nvSpPr>
          <p:cNvPr id="3" name="Content Placeholder 2"/>
          <p:cNvSpPr>
            <a:spLocks noGrp="1"/>
          </p:cNvSpPr>
          <p:nvPr>
            <p:ph idx="1"/>
          </p:nvPr>
        </p:nvSpPr>
        <p:spPr/>
        <p:txBody>
          <a:bodyPr/>
          <a:lstStyle/>
          <a:p>
            <a:r>
              <a:rPr lang="en-AU" dirty="0"/>
              <a:t>Cell replacement therapy has the potential to treat nervous system disorders including Alzheimer’s and Parkinson’s diseases</a:t>
            </a:r>
          </a:p>
          <a:p>
            <a:pPr>
              <a:buFont typeface="Arial" panose="020B0604020202020204" pitchFamily="34" charset="0"/>
              <a:buChar char="•"/>
            </a:pPr>
            <a:r>
              <a:rPr lang="en-AU" dirty="0"/>
              <a:t>Describe the process of cell replacement therapy</a:t>
            </a:r>
          </a:p>
          <a:p>
            <a:pPr>
              <a:buFont typeface="Arial" panose="020B0604020202020204" pitchFamily="34" charset="0"/>
              <a:buChar char="•"/>
            </a:pPr>
            <a:r>
              <a:rPr lang="en-AU" dirty="0"/>
              <a:t>Explain the uses of this technology (especially in regards to Alzheimer’s and Parkinson’s)</a:t>
            </a:r>
          </a:p>
        </p:txBody>
      </p:sp>
    </p:spTree>
    <p:extLst>
      <p:ext uri="{BB962C8B-B14F-4D97-AF65-F5344CB8AC3E}">
        <p14:creationId xmlns:p14="http://schemas.microsoft.com/office/powerpoint/2010/main" val="3491716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3AC8413-E057-48A8-AD30-BA25B88E262A}"/>
              </a:ext>
            </a:extLst>
          </p:cNvPr>
          <p:cNvSpPr>
            <a:spLocks noGrp="1"/>
          </p:cNvSpPr>
          <p:nvPr>
            <p:ph idx="1"/>
          </p:nvPr>
        </p:nvSpPr>
        <p:spPr>
          <a:xfrm>
            <a:off x="1024128" y="800100"/>
            <a:ext cx="10605897" cy="5509260"/>
          </a:xfrm>
        </p:spPr>
        <p:txBody>
          <a:bodyPr/>
          <a:lstStyle/>
          <a:p>
            <a:r>
              <a:rPr lang="en-AU" dirty="0"/>
              <a:t>Cell replacement therapy involves using stem cells to regenerate without scarring, repair by stimulating the tissue or replace tissues and organs by creating one in the lab</a:t>
            </a:r>
          </a:p>
          <a:p>
            <a:pPr>
              <a:buFont typeface="Arial" panose="020B0604020202020204" pitchFamily="34" charset="0"/>
              <a:buChar char="•"/>
            </a:pPr>
            <a:r>
              <a:rPr lang="en-AU" dirty="0"/>
              <a:t>The stem cells are sourced from the patient (adult stem cells) or from embryonic stem cells</a:t>
            </a:r>
          </a:p>
          <a:p>
            <a:pPr>
              <a:buFont typeface="Arial" panose="020B0604020202020204" pitchFamily="34" charset="0"/>
              <a:buChar char="•"/>
            </a:pPr>
            <a:r>
              <a:rPr lang="en-AU" dirty="0"/>
              <a:t>In the lab, these are then differentiated into the required type</a:t>
            </a:r>
          </a:p>
          <a:p>
            <a:pPr>
              <a:buFont typeface="Arial" panose="020B0604020202020204" pitchFamily="34" charset="0"/>
              <a:buChar char="•"/>
            </a:pPr>
            <a:r>
              <a:rPr lang="en-AU" dirty="0"/>
              <a:t>A matrix is required -&gt; frameworks for the cells to develop on</a:t>
            </a:r>
          </a:p>
          <a:p>
            <a:pPr>
              <a:buFont typeface="Arial" panose="020B0604020202020204" pitchFamily="34" charset="0"/>
              <a:buChar char="•"/>
            </a:pPr>
            <a:r>
              <a:rPr lang="en-AU" dirty="0"/>
              <a:t>Chemical messengers the direct the growth of the cells to produce the tissue</a:t>
            </a:r>
          </a:p>
          <a:p>
            <a:pPr>
              <a:buFont typeface="Arial" panose="020B0604020202020204" pitchFamily="34" charset="0"/>
              <a:buChar char="•"/>
            </a:pPr>
            <a:r>
              <a:rPr lang="en-AU" dirty="0"/>
              <a:t>The cells are then re-inserted into patient, which integrate with cells already in the area</a:t>
            </a:r>
          </a:p>
          <a:p>
            <a:pPr marL="0" indent="0">
              <a:buNone/>
            </a:pPr>
            <a:r>
              <a:rPr lang="en-AU" dirty="0"/>
              <a:t>-this could be sued to treat Alzheimer's-&gt; replace dying neurons with healthy ones and restore patient brain function</a:t>
            </a:r>
          </a:p>
        </p:txBody>
      </p:sp>
      <p:pic>
        <p:nvPicPr>
          <p:cNvPr id="7" name="Picture 6">
            <a:extLst>
              <a:ext uri="{FF2B5EF4-FFF2-40B4-BE49-F238E27FC236}">
                <a16:creationId xmlns:a16="http://schemas.microsoft.com/office/drawing/2014/main" xmlns="" id="{7238DE2A-08D2-4D52-87ED-F09958D08392}"/>
              </a:ext>
            </a:extLst>
          </p:cNvPr>
          <p:cNvPicPr>
            <a:picLocks noChangeAspect="1"/>
          </p:cNvPicPr>
          <p:nvPr/>
        </p:nvPicPr>
        <p:blipFill>
          <a:blip r:embed="rId2"/>
          <a:stretch>
            <a:fillRect/>
          </a:stretch>
        </p:blipFill>
        <p:spPr>
          <a:xfrm>
            <a:off x="7462505" y="4468208"/>
            <a:ext cx="3267739" cy="1841152"/>
          </a:xfrm>
          <a:prstGeom prst="rect">
            <a:avLst/>
          </a:prstGeom>
        </p:spPr>
      </p:pic>
    </p:spTree>
    <p:extLst>
      <p:ext uri="{BB962C8B-B14F-4D97-AF65-F5344CB8AC3E}">
        <p14:creationId xmlns:p14="http://schemas.microsoft.com/office/powerpoint/2010/main" val="25936544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xmlns="" name="Integral" id="{3577F8C9-A904-41D8-97D2-FD898F53F20E}" vid="{29F68FFC-748B-4FC3-BF39-7F84A6D5840F}"/>
    </a:ext>
  </a:extLst>
</a:theme>
</file>

<file path=docProps/app.xml><?xml version="1.0" encoding="utf-8"?>
<Properties xmlns="http://schemas.openxmlformats.org/officeDocument/2006/extended-properties" xmlns:vt="http://schemas.openxmlformats.org/officeDocument/2006/docPropsVTypes">
  <Template>Integral</Template>
  <TotalTime>4512</TotalTime>
  <Words>1230</Words>
  <Application>Microsoft Office PowerPoint</Application>
  <PresentationFormat>Custom</PresentationFormat>
  <Paragraphs>79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Integral</vt:lpstr>
      <vt:lpstr>Biotechnology</vt:lpstr>
      <vt:lpstr>DNA sequencing</vt:lpstr>
      <vt:lpstr>PowerPoint Presentation</vt:lpstr>
      <vt:lpstr>Polymerase chain reaction (PCr) &amp; Gel electrophoresis</vt:lpstr>
      <vt:lpstr>PCR</vt:lpstr>
      <vt:lpstr>Gel Electrophoresis</vt:lpstr>
      <vt:lpstr>Conducting Investigations</vt:lpstr>
      <vt:lpstr>Recombinant dna</vt:lpstr>
      <vt:lpstr>PowerPoint Presentation</vt:lpstr>
      <vt:lpstr>PowerPoint Presentation</vt:lpstr>
      <vt:lpstr>Gene therapy</vt:lpstr>
      <vt:lpstr>PowerPoint Presentation</vt:lpstr>
      <vt:lpstr>Cell replacement therapy</vt:lpstr>
      <vt:lpstr>PowerPoint Presentation</vt:lpstr>
    </vt:vector>
  </TitlesOfParts>
  <Company>Department of Education Western Australia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Biotechnology</dc:title>
  <dc:creator>Jessica Little</dc:creator>
  <cp:lastModifiedBy>E4016892</cp:lastModifiedBy>
  <cp:revision>25</cp:revision>
  <dcterms:created xsi:type="dcterms:W3CDTF">2018-09-10T03:23:21Z</dcterms:created>
  <dcterms:modified xsi:type="dcterms:W3CDTF">2018-09-18T03:29:32Z</dcterms:modified>
</cp:coreProperties>
</file>
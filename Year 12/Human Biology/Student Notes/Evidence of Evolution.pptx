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854"/>
    <p:restoredTop sz="95878"/>
  </p:normalViewPr>
  <p:slideViewPr>
    <p:cSldViewPr snapToGrid="0" snapToObjects="1">
      <p:cViewPr>
        <p:scale>
          <a:sx n="106" d="100"/>
          <a:sy n="106" d="100"/>
        </p:scale>
        <p:origin x="534" y="-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3E608-0FB6-D449-979D-6F083F929ECF}" type="datetimeFigureOut">
              <a:rPr lang="en-US" smtClean="0"/>
              <a:t>9/18/2018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161A5-8CA7-6B42-9498-463F4DDB31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3E608-0FB6-D449-979D-6F083F929ECF}" type="datetimeFigureOut">
              <a:rPr lang="en-US" smtClean="0"/>
              <a:t>9/18/2018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161A5-8CA7-6B42-9498-463F4DDB31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3E608-0FB6-D449-979D-6F083F929ECF}" type="datetimeFigureOut">
              <a:rPr lang="en-US" smtClean="0"/>
              <a:t>9/18/2018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161A5-8CA7-6B42-9498-463F4DDB31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3E608-0FB6-D449-979D-6F083F929ECF}" type="datetimeFigureOut">
              <a:rPr lang="en-US" smtClean="0"/>
              <a:t>9/18/2018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161A5-8CA7-6B42-9498-463F4DDB31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3E608-0FB6-D449-979D-6F083F929ECF}" type="datetimeFigureOut">
              <a:rPr lang="en-US" smtClean="0"/>
              <a:t>9/18/2018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161A5-8CA7-6B42-9498-463F4DDB31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3E608-0FB6-D449-979D-6F083F929ECF}" type="datetimeFigureOut">
              <a:rPr lang="en-US" smtClean="0"/>
              <a:t>9/18/2018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161A5-8CA7-6B42-9498-463F4DDB31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3E608-0FB6-D449-979D-6F083F929ECF}" type="datetimeFigureOut">
              <a:rPr lang="en-US" smtClean="0"/>
              <a:t>9/18/2018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161A5-8CA7-6B42-9498-463F4DDB31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3E608-0FB6-D449-979D-6F083F929ECF}" type="datetimeFigureOut">
              <a:rPr lang="en-US" smtClean="0"/>
              <a:t>9/18/2018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161A5-8CA7-6B42-9498-463F4DDB31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3E608-0FB6-D449-979D-6F083F929ECF}" type="datetimeFigureOut">
              <a:rPr lang="en-US" smtClean="0"/>
              <a:t>9/18/2018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161A5-8CA7-6B42-9498-463F4DDB31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3E608-0FB6-D449-979D-6F083F929ECF}" type="datetimeFigureOut">
              <a:rPr lang="en-US" smtClean="0"/>
              <a:t>9/18/2018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161A5-8CA7-6B42-9498-463F4DDB31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3E608-0FB6-D449-979D-6F083F929ECF}" type="datetimeFigureOut">
              <a:rPr lang="en-US" smtClean="0"/>
              <a:t>9/18/2018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161A5-8CA7-6B42-9498-463F4DDB31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3E608-0FB6-D449-979D-6F083F929ECF}" type="datetimeFigureOut">
              <a:rPr lang="en-US" smtClean="0"/>
              <a:t>9/18/2018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161A5-8CA7-6B42-9498-463F4DDB31F1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3E608-0FB6-D449-979D-6F083F929ECF}" type="datetimeFigureOut">
              <a:rPr lang="en-US" smtClean="0"/>
              <a:t>9/18/2018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161A5-8CA7-6B42-9498-463F4DDB31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3E608-0FB6-D449-979D-6F083F929ECF}" type="datetimeFigureOut">
              <a:rPr lang="en-US" smtClean="0"/>
              <a:t>9/18/2018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161A5-8CA7-6B42-9498-463F4DDB31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3E608-0FB6-D449-979D-6F083F929ECF}" type="datetimeFigureOut">
              <a:rPr lang="en-US" smtClean="0"/>
              <a:t>9/18/2018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161A5-8CA7-6B42-9498-463F4DDB31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3E608-0FB6-D449-979D-6F083F929ECF}" type="datetimeFigureOut">
              <a:rPr lang="en-US" smtClean="0"/>
              <a:t>9/18/2018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161A5-8CA7-6B42-9498-463F4DDB31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3E608-0FB6-D449-979D-6F083F929ECF}" type="datetimeFigureOut">
              <a:rPr lang="en-US" smtClean="0"/>
              <a:t>9/18/2018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161A5-8CA7-6B42-9498-463F4DDB31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F6E3E608-0FB6-D449-979D-6F083F929ECF}" type="datetimeFigureOut">
              <a:rPr lang="en-US" smtClean="0"/>
              <a:t>9/18/2018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A161A5-8CA7-6B42-9498-463F4DDB31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97812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  <p:sldLayoutId id="2147483776" r:id="rId9"/>
    <p:sldLayoutId id="2147483777" r:id="rId10"/>
    <p:sldLayoutId id="2147483778" r:id="rId11"/>
    <p:sldLayoutId id="2147483779" r:id="rId12"/>
    <p:sldLayoutId id="2147483780" r:id="rId13"/>
    <p:sldLayoutId id="2147483781" r:id="rId14"/>
    <p:sldLayoutId id="2147483782" r:id="rId15"/>
    <p:sldLayoutId id="2147483783" r:id="rId16"/>
    <p:sldLayoutId id="2147483784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 xmlns="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Evidence of Evolution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Comparative Biochemistry and Anatomy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13063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Comparative Biochemistry 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DNA</a:t>
            </a:r>
          </a:p>
          <a:p>
            <a:r>
              <a:rPr lang="en-US" dirty="0" smtClean="0"/>
              <a:t>Protein Sequences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5747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41082"/>
          </a:xfrm>
        </p:spPr>
        <p:txBody>
          <a:bodyPr/>
          <a:lstStyle/>
          <a:p>
            <a:r>
              <a:rPr lang="en-US" dirty="0" smtClean="0"/>
              <a:t>DNA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1193800"/>
            <a:ext cx="9301929" cy="5054599"/>
          </a:xfrm>
        </p:spPr>
        <p:txBody>
          <a:bodyPr/>
          <a:lstStyle/>
          <a:p>
            <a:r>
              <a:rPr lang="en-US" dirty="0" smtClean="0"/>
              <a:t>Sequences of bases in DNA varies per species and per individual</a:t>
            </a:r>
          </a:p>
          <a:p>
            <a:pPr lvl="1">
              <a:buFont typeface="Wingdings" charset="2"/>
              <a:buChar char="§"/>
            </a:pPr>
            <a:r>
              <a:rPr lang="en-US" dirty="0" smtClean="0"/>
              <a:t>Sequences of the DNA phosphate bases are compared between two species</a:t>
            </a:r>
          </a:p>
          <a:p>
            <a:pPr lvl="1">
              <a:buFont typeface="Wingdings" charset="2"/>
              <a:buChar char="§"/>
            </a:pPr>
            <a:r>
              <a:rPr lang="en-US" dirty="0" smtClean="0"/>
              <a:t>The more similarities in the sequences they have, the more closely related they are. Meaning that they have a close common ancestor. </a:t>
            </a:r>
          </a:p>
          <a:p>
            <a:r>
              <a:rPr lang="en-US" dirty="0" smtClean="0"/>
              <a:t>After speciation occur, the new species would have very similar DNA and would gradually change trough the process of speciation</a:t>
            </a:r>
          </a:p>
          <a:p>
            <a:r>
              <a:rPr lang="en-US" dirty="0" smtClean="0"/>
              <a:t>Closely related species would have very similar DNA profiles- showing evidence of a common ancestor</a:t>
            </a:r>
          </a:p>
          <a:p>
            <a:r>
              <a:rPr lang="en-US" dirty="0" smtClean="0"/>
              <a:t>Example: Chimpanzees, human’s closest living relatives</a:t>
            </a:r>
            <a:endParaRPr lang="en-US" dirty="0"/>
          </a:p>
          <a:p>
            <a:pPr lvl="1">
              <a:buFont typeface="Wingdings" charset="2"/>
              <a:buChar char="§"/>
            </a:pPr>
            <a:r>
              <a:rPr lang="en-US" dirty="0" smtClean="0"/>
              <a:t>Humans share 98% of their DNA with Chimpanzee</a:t>
            </a:r>
          </a:p>
          <a:p>
            <a:pPr lvl="1">
              <a:buFont typeface="Wingdings" charset="2"/>
              <a:buChar char="§"/>
            </a:pPr>
            <a:r>
              <a:rPr lang="en-US" dirty="0" smtClean="0"/>
              <a:t>Evidence of a common ancestor</a:t>
            </a:r>
          </a:p>
        </p:txBody>
      </p:sp>
    </p:spTree>
    <p:extLst>
      <p:ext uri="{BB962C8B-B14F-4D97-AF65-F5344CB8AC3E}">
        <p14:creationId xmlns:p14="http://schemas.microsoft.com/office/powerpoint/2010/main" val="1241634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684104"/>
          </a:xfrm>
        </p:spPr>
        <p:txBody>
          <a:bodyPr/>
          <a:lstStyle/>
          <a:p>
            <a:r>
              <a:rPr lang="en-US" dirty="0" smtClean="0"/>
              <a:t>DNA: ‘Junk’ DNA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8598" y="1136822"/>
            <a:ext cx="9259888" cy="5111577"/>
          </a:xfrm>
        </p:spPr>
        <p:txBody>
          <a:bodyPr/>
          <a:lstStyle/>
          <a:p>
            <a:r>
              <a:rPr lang="en-US" dirty="0" smtClean="0"/>
              <a:t>DNA sequences that does not code for anything</a:t>
            </a:r>
          </a:p>
          <a:p>
            <a:r>
              <a:rPr lang="en-US" dirty="0" smtClean="0"/>
              <a:t>More closely related species share more junk sequences- evidence of these species evolving from a common ancestor</a:t>
            </a:r>
          </a:p>
          <a:p>
            <a:r>
              <a:rPr lang="en-US" dirty="0" smtClean="0"/>
              <a:t>The more ‘junk’ DNA two species have the more closely related they are</a:t>
            </a:r>
          </a:p>
          <a:p>
            <a:r>
              <a:rPr lang="en-US" dirty="0" smtClean="0"/>
              <a:t>Example: Endogenous Retrovirus</a:t>
            </a:r>
          </a:p>
          <a:p>
            <a:pPr lvl="1">
              <a:buFont typeface="Wingdings" charset="2"/>
              <a:buChar char="§"/>
            </a:pPr>
            <a:r>
              <a:rPr lang="en-US" dirty="0" smtClean="0"/>
              <a:t>A viral sequence that has become part of an organism’s genome</a:t>
            </a:r>
          </a:p>
          <a:p>
            <a:pPr lvl="1">
              <a:buFont typeface="Wingdings" charset="2"/>
              <a:buChar char="§"/>
            </a:pPr>
            <a:r>
              <a:rPr lang="en-US" dirty="0" smtClean="0"/>
              <a:t>A retrovirus inserts its RNA into a species DNA and has become part of the specie’s chromosomes. This will be inherited by the next generation</a:t>
            </a:r>
          </a:p>
          <a:p>
            <a:pPr lvl="1">
              <a:buFont typeface="Wingdings" charset="2"/>
              <a:buChar char="§"/>
            </a:pPr>
            <a:r>
              <a:rPr lang="en-US" dirty="0" smtClean="0"/>
              <a:t>Humans and Chimpanzees have the </a:t>
            </a:r>
            <a:r>
              <a:rPr lang="en-AU" dirty="0" smtClean="0"/>
              <a:t>same </a:t>
            </a:r>
            <a:r>
              <a:rPr lang="en-AU" dirty="0"/>
              <a:t>ERVs located in the short arm of chromosome 10 is also found in humans- evidence that chimpanzees and humans share a common </a:t>
            </a:r>
            <a:r>
              <a:rPr lang="en-AU" dirty="0" smtClean="0"/>
              <a:t>ancestor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3895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8167" y="543697"/>
            <a:ext cx="5492545" cy="5581135"/>
          </a:xfrm>
        </p:spPr>
      </p:pic>
    </p:spTree>
    <p:extLst>
      <p:ext uri="{BB962C8B-B14F-4D97-AF65-F5344CB8AC3E}">
        <p14:creationId xmlns:p14="http://schemas.microsoft.com/office/powerpoint/2010/main" val="10159623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82958"/>
          </a:xfrm>
        </p:spPr>
        <p:txBody>
          <a:bodyPr/>
          <a:lstStyle/>
          <a:p>
            <a:r>
              <a:rPr lang="en-US" dirty="0" smtClean="0"/>
              <a:t>DNA</a:t>
            </a:r>
            <a:r>
              <a:rPr lang="en-US" smtClean="0"/>
              <a:t>: Mitochondrial DNA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1235676"/>
            <a:ext cx="9276364" cy="5012723"/>
          </a:xfrm>
        </p:spPr>
        <p:txBody>
          <a:bodyPr>
            <a:normAutofit lnSpcReduction="10000"/>
          </a:bodyPr>
          <a:lstStyle/>
          <a:p>
            <a:pPr lvl="0"/>
            <a:r>
              <a:rPr lang="en-AU" dirty="0"/>
              <a:t>Mitochondria contains DNA in small amounts</a:t>
            </a:r>
            <a:endParaRPr lang="en-GB" dirty="0"/>
          </a:p>
          <a:p>
            <a:pPr lvl="0"/>
            <a:r>
              <a:rPr lang="en-AU" dirty="0" smtClean="0"/>
              <a:t>Advantages</a:t>
            </a:r>
            <a:r>
              <a:rPr lang="en-AU" dirty="0"/>
              <a:t>: easier to obtain and extract - most cells contains large numbers of </a:t>
            </a:r>
            <a:r>
              <a:rPr lang="en-AU" dirty="0" smtClean="0"/>
              <a:t>mitochondria</a:t>
            </a:r>
            <a:r>
              <a:rPr lang="en-GB" dirty="0"/>
              <a:t> </a:t>
            </a:r>
            <a:r>
              <a:rPr lang="en-GB" dirty="0" smtClean="0"/>
              <a:t>thus</a:t>
            </a:r>
            <a:r>
              <a:rPr lang="en-AU" dirty="0"/>
              <a:t> </a:t>
            </a:r>
            <a:r>
              <a:rPr lang="en-AU" dirty="0" smtClean="0"/>
              <a:t>smaller </a:t>
            </a:r>
            <a:r>
              <a:rPr lang="en-AU" dirty="0"/>
              <a:t>samples can be </a:t>
            </a:r>
            <a:r>
              <a:rPr lang="en-AU" dirty="0" smtClean="0"/>
              <a:t>used</a:t>
            </a:r>
            <a:endParaRPr lang="en-GB" dirty="0" smtClean="0"/>
          </a:p>
          <a:p>
            <a:pPr lvl="0"/>
            <a:r>
              <a:rPr lang="en-AU" dirty="0" smtClean="0"/>
              <a:t>Inherited from the mother- allows tracing of a direct genetic line</a:t>
            </a:r>
            <a:endParaRPr lang="en-GB" dirty="0" smtClean="0"/>
          </a:p>
          <a:p>
            <a:pPr lvl="1">
              <a:buFont typeface="Wingdings" charset="2"/>
              <a:buChar char="§"/>
            </a:pPr>
            <a:r>
              <a:rPr lang="en-AU" dirty="0" smtClean="0"/>
              <a:t>After </a:t>
            </a:r>
            <a:r>
              <a:rPr lang="en-AU" dirty="0"/>
              <a:t>fertilisation, the mitochondrial DNA of the sperm is destroyed</a:t>
            </a:r>
            <a:endParaRPr lang="en-GB" dirty="0"/>
          </a:p>
          <a:p>
            <a:pPr lvl="0"/>
            <a:r>
              <a:rPr lang="en-AU" dirty="0" smtClean="0"/>
              <a:t>Most useful when comparing individuals within a species and for closely related species</a:t>
            </a:r>
          </a:p>
          <a:p>
            <a:pPr lvl="0"/>
            <a:r>
              <a:rPr lang="en-AU" dirty="0" smtClean="0"/>
              <a:t>If </a:t>
            </a:r>
            <a:r>
              <a:rPr lang="en-AU" dirty="0"/>
              <a:t>mitochondrial DNA is identical- two individuals could be siblings</a:t>
            </a:r>
            <a:endParaRPr lang="en-GB" dirty="0"/>
          </a:p>
          <a:p>
            <a:pPr lvl="0"/>
            <a:r>
              <a:rPr lang="en-AU" dirty="0"/>
              <a:t>If mitochondrial is very different- last common ancestor lived a long time </a:t>
            </a:r>
            <a:r>
              <a:rPr lang="en-AU" dirty="0" smtClean="0"/>
              <a:t>ago</a:t>
            </a:r>
            <a:endParaRPr lang="en-GB" dirty="0"/>
          </a:p>
          <a:p>
            <a:pPr lvl="0"/>
            <a:r>
              <a:rPr lang="en-AU" dirty="0"/>
              <a:t>Example: Enabled to trace migration routes of ancient people</a:t>
            </a:r>
            <a:endParaRPr lang="en-GB" dirty="0"/>
          </a:p>
          <a:p>
            <a:pPr lvl="1">
              <a:buFont typeface="Wingdings" charset="2"/>
              <a:buChar char="§"/>
            </a:pPr>
            <a:r>
              <a:rPr lang="en-AU" dirty="0"/>
              <a:t>Showed that Europeans descended from hunter- gathers who migrated into Europe during the last Ice Age rather than coming from the middle east</a:t>
            </a:r>
            <a:endParaRPr lang="en-GB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71238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38129"/>
          </a:xfrm>
        </p:spPr>
        <p:txBody>
          <a:bodyPr/>
          <a:lstStyle/>
          <a:p>
            <a:r>
              <a:rPr lang="en-US" dirty="0" smtClean="0"/>
              <a:t>Protein Sequences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1190848"/>
            <a:ext cx="9252800" cy="5057552"/>
          </a:xfrm>
        </p:spPr>
        <p:txBody>
          <a:bodyPr>
            <a:normAutofit fontScale="85000" lnSpcReduction="20000"/>
          </a:bodyPr>
          <a:lstStyle/>
          <a:p>
            <a:pPr lvl="0"/>
            <a:r>
              <a:rPr lang="en-AU" dirty="0"/>
              <a:t>Proteins: </a:t>
            </a:r>
            <a:r>
              <a:rPr lang="en-AU" dirty="0" smtClean="0"/>
              <a:t>made up of long </a:t>
            </a:r>
            <a:r>
              <a:rPr lang="en-AU" dirty="0"/>
              <a:t>chains of amino </a:t>
            </a:r>
            <a:r>
              <a:rPr lang="en-AU" dirty="0" smtClean="0"/>
              <a:t>acids</a:t>
            </a:r>
            <a:endParaRPr lang="en-GB" dirty="0"/>
          </a:p>
          <a:p>
            <a:pPr lvl="0"/>
            <a:r>
              <a:rPr lang="en-AU" dirty="0" smtClean="0"/>
              <a:t>The more similar the sequence of amino acids for a protein in two species, shows how closely related theses species are. </a:t>
            </a:r>
          </a:p>
          <a:p>
            <a:pPr lvl="0"/>
            <a:r>
              <a:rPr lang="en-AU" dirty="0" smtClean="0"/>
              <a:t>Provide </a:t>
            </a:r>
            <a:r>
              <a:rPr lang="en-AU" dirty="0"/>
              <a:t>evidence that all organisms descended from a common ancestor</a:t>
            </a:r>
            <a:endParaRPr lang="en-GB" dirty="0"/>
          </a:p>
          <a:p>
            <a:pPr lvl="0"/>
            <a:r>
              <a:rPr lang="en-AU" dirty="0"/>
              <a:t>Degree of difference between proteins enables an estimate of the amount of evolution that has taken place since two species developed from a common ancestor: the greater the difference the longer the time involved</a:t>
            </a:r>
            <a:endParaRPr lang="en-GB" dirty="0"/>
          </a:p>
          <a:p>
            <a:pPr lvl="0"/>
            <a:r>
              <a:rPr lang="en-AU" b="1" dirty="0" smtClean="0"/>
              <a:t>Ubiquitous </a:t>
            </a:r>
            <a:r>
              <a:rPr lang="en-AU" b="1" dirty="0"/>
              <a:t>Proteins:</a:t>
            </a:r>
            <a:r>
              <a:rPr lang="en-AU" dirty="0"/>
              <a:t> proteins that appear in all organisms </a:t>
            </a:r>
            <a:r>
              <a:rPr lang="en-GB" dirty="0" smtClean="0"/>
              <a:t>- </a:t>
            </a:r>
            <a:r>
              <a:rPr lang="en-AU" dirty="0" smtClean="0"/>
              <a:t>Carry </a:t>
            </a:r>
            <a:r>
              <a:rPr lang="en-AU" dirty="0"/>
              <a:t>the same function wherever they are found</a:t>
            </a:r>
            <a:endParaRPr lang="en-GB" dirty="0"/>
          </a:p>
          <a:p>
            <a:pPr lvl="0"/>
            <a:r>
              <a:rPr lang="en-AU" dirty="0"/>
              <a:t>Example: Cytochrome C</a:t>
            </a:r>
            <a:endParaRPr lang="en-GB" dirty="0"/>
          </a:p>
          <a:p>
            <a:pPr lvl="1">
              <a:buFont typeface="Wingdings" charset="2"/>
              <a:buChar char="§"/>
            </a:pPr>
            <a:r>
              <a:rPr lang="en-AU" dirty="0"/>
              <a:t>performs an essential step in production of cellular </a:t>
            </a:r>
            <a:r>
              <a:rPr lang="en-AU" dirty="0" smtClean="0"/>
              <a:t>energy</a:t>
            </a:r>
            <a:endParaRPr lang="en-GB" dirty="0"/>
          </a:p>
          <a:p>
            <a:pPr lvl="1">
              <a:buFont typeface="Wingdings" charset="2"/>
              <a:buChar char="§"/>
            </a:pPr>
            <a:r>
              <a:rPr lang="en-AU" dirty="0" smtClean="0"/>
              <a:t>Human </a:t>
            </a:r>
            <a:r>
              <a:rPr lang="en-AU" dirty="0"/>
              <a:t>Cytochrome C contains 104 amino </a:t>
            </a:r>
            <a:r>
              <a:rPr lang="en-AU" dirty="0" smtClean="0"/>
              <a:t>acids</a:t>
            </a:r>
            <a:endParaRPr lang="en-GB" dirty="0"/>
          </a:p>
          <a:p>
            <a:pPr lvl="1">
              <a:buFont typeface="Wingdings" charset="2"/>
              <a:buChar char="§"/>
            </a:pPr>
            <a:r>
              <a:rPr lang="en-AU" dirty="0" smtClean="0"/>
              <a:t>Regardless </a:t>
            </a:r>
            <a:r>
              <a:rPr lang="en-AU" dirty="0"/>
              <a:t>of species, 37 of these amino acids are found at the same position in every sequenced cytochrome C </a:t>
            </a:r>
            <a:r>
              <a:rPr lang="en-AU" dirty="0" smtClean="0"/>
              <a:t>molecule</a:t>
            </a:r>
            <a:endParaRPr lang="en-GB" dirty="0"/>
          </a:p>
          <a:p>
            <a:pPr lvl="1">
              <a:buFont typeface="Wingdings" charset="2"/>
              <a:buChar char="§"/>
            </a:pPr>
            <a:r>
              <a:rPr lang="en-AU" dirty="0" smtClean="0"/>
              <a:t>Suggest </a:t>
            </a:r>
            <a:r>
              <a:rPr lang="en-AU" dirty="0"/>
              <a:t>that these proteins have descended from an ancestral cytochrome C molecule found in primitive microbe that existed more than 200 million years </a:t>
            </a:r>
            <a:r>
              <a:rPr lang="en-AU" dirty="0" smtClean="0"/>
              <a:t>ago</a:t>
            </a:r>
            <a:endParaRPr lang="en-GB" dirty="0"/>
          </a:p>
          <a:p>
            <a:pPr lvl="1">
              <a:buFont typeface="Wingdings" charset="2"/>
              <a:buChar char="§"/>
            </a:pPr>
            <a:r>
              <a:rPr lang="en-AU" dirty="0" smtClean="0"/>
              <a:t>Cytochrome </a:t>
            </a:r>
            <a:r>
              <a:rPr lang="en-AU" dirty="0"/>
              <a:t>C of chimpanzees and humans differs by only one amino acid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191898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Comparative Anatomy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0"/>
            <a:ext cx="8825658" cy="1045903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Embryology</a:t>
            </a:r>
          </a:p>
          <a:p>
            <a:r>
              <a:rPr lang="en-US" dirty="0" smtClean="0"/>
              <a:t>Homologous Structures</a:t>
            </a:r>
          </a:p>
          <a:p>
            <a:r>
              <a:rPr lang="en-US" dirty="0" smtClean="0"/>
              <a:t>Vestigial organs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33966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58862"/>
          </a:xfrm>
        </p:spPr>
        <p:txBody>
          <a:bodyPr/>
          <a:lstStyle/>
          <a:p>
            <a:r>
              <a:rPr lang="en-US" smtClean="0"/>
              <a:t>Embryology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1211580"/>
            <a:ext cx="9206548" cy="5036819"/>
          </a:xfrm>
        </p:spPr>
        <p:txBody>
          <a:bodyPr/>
          <a:lstStyle/>
          <a:p>
            <a:r>
              <a:rPr lang="en-AU" dirty="0"/>
              <a:t>Comparing the very early stages of the development of organisms</a:t>
            </a:r>
            <a:endParaRPr lang="en-GB" dirty="0"/>
          </a:p>
          <a:p>
            <a:pPr lvl="0"/>
            <a:r>
              <a:rPr lang="en-AU" dirty="0"/>
              <a:t>Embryos of related species are similar even when they develop into different looking </a:t>
            </a:r>
            <a:r>
              <a:rPr lang="en-AU" dirty="0" smtClean="0"/>
              <a:t>animals</a:t>
            </a:r>
            <a:r>
              <a:rPr lang="en-GB" dirty="0" smtClean="0"/>
              <a:t>- </a:t>
            </a:r>
            <a:r>
              <a:rPr lang="en-AU" dirty="0" smtClean="0"/>
              <a:t>Suggests </a:t>
            </a:r>
            <a:r>
              <a:rPr lang="en-AU" dirty="0"/>
              <a:t>that they are descended from a single common </a:t>
            </a:r>
            <a:r>
              <a:rPr lang="en-AU" dirty="0" smtClean="0"/>
              <a:t>ancestor</a:t>
            </a:r>
          </a:p>
          <a:p>
            <a:pPr lvl="0"/>
            <a:r>
              <a:rPr lang="en-AU" dirty="0" smtClean="0"/>
              <a:t>The more in common two species have in early stages of development- suggest that they are more closely related.</a:t>
            </a:r>
            <a:endParaRPr lang="en-GB" dirty="0"/>
          </a:p>
          <a:p>
            <a:pPr lvl="0"/>
            <a:r>
              <a:rPr lang="en-AU" dirty="0"/>
              <a:t>Example: The embryonic gill pouches and arches appear in all species</a:t>
            </a:r>
            <a:endParaRPr lang="en-GB" dirty="0"/>
          </a:p>
          <a:p>
            <a:pPr lvl="1">
              <a:buFont typeface="Wingdings" charset="2"/>
              <a:buChar char="§"/>
            </a:pPr>
            <a:r>
              <a:rPr lang="en-AU" dirty="0"/>
              <a:t>They do not provide function for species such as reptiles and birds that have lungs for breathing </a:t>
            </a:r>
            <a:r>
              <a:rPr lang="en-AU" dirty="0" smtClean="0"/>
              <a:t>air</a:t>
            </a:r>
            <a:endParaRPr lang="en-GB" dirty="0"/>
          </a:p>
          <a:p>
            <a:pPr lvl="1">
              <a:buFont typeface="Wingdings" charset="2"/>
              <a:buChar char="§"/>
            </a:pPr>
            <a:r>
              <a:rPr lang="en-AU" dirty="0" smtClean="0"/>
              <a:t>The </a:t>
            </a:r>
            <a:r>
              <a:rPr lang="en-AU" dirty="0"/>
              <a:t>presence of these structures are viewed as an evolutionary series that began with fish hundreds of million years ago</a:t>
            </a:r>
            <a:endParaRPr lang="en-GB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164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9428" y="411480"/>
            <a:ext cx="6612983" cy="5562600"/>
          </a:xfrm>
        </p:spPr>
      </p:pic>
    </p:spTree>
    <p:extLst>
      <p:ext uri="{BB962C8B-B14F-4D97-AF65-F5344CB8AC3E}">
        <p14:creationId xmlns:p14="http://schemas.microsoft.com/office/powerpoint/2010/main" val="8249464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58862"/>
          </a:xfrm>
        </p:spPr>
        <p:txBody>
          <a:bodyPr/>
          <a:lstStyle/>
          <a:p>
            <a:r>
              <a:rPr lang="en-US" dirty="0" smtClean="0"/>
              <a:t>Homologous Structures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1211580"/>
            <a:ext cx="9206548" cy="5036819"/>
          </a:xfrm>
        </p:spPr>
        <p:txBody>
          <a:bodyPr/>
          <a:lstStyle/>
          <a:p>
            <a:r>
              <a:rPr lang="en-AU" dirty="0" smtClean="0"/>
              <a:t>Structures </a:t>
            </a:r>
            <a:r>
              <a:rPr lang="en-AU" dirty="0"/>
              <a:t>that are similar in structure but are used in different ways</a:t>
            </a:r>
            <a:endParaRPr lang="en-GB" dirty="0"/>
          </a:p>
          <a:p>
            <a:pPr lvl="0"/>
            <a:r>
              <a:rPr lang="en-AU" dirty="0"/>
              <a:t>Same bones appear in various forms throughout the vertebrates</a:t>
            </a:r>
            <a:endParaRPr lang="en-GB" dirty="0"/>
          </a:p>
          <a:p>
            <a:pPr lvl="0"/>
            <a:r>
              <a:rPr lang="en-AU" dirty="0"/>
              <a:t>In every vertebrate, the bones are arranged in a similar way, even though some have developed different </a:t>
            </a:r>
            <a:r>
              <a:rPr lang="en-AU" dirty="0" smtClean="0"/>
              <a:t>functions</a:t>
            </a:r>
          </a:p>
          <a:p>
            <a:pPr lvl="0"/>
            <a:r>
              <a:rPr lang="en-AU" dirty="0" smtClean="0"/>
              <a:t>Organisms possessing structures/organs that are similar in structure are likely to have a common ancestor</a:t>
            </a:r>
          </a:p>
          <a:p>
            <a:pPr lvl="0"/>
            <a:r>
              <a:rPr lang="en-AU" dirty="0" smtClean="0"/>
              <a:t>The more common structures two species have the more closely related they are. </a:t>
            </a:r>
          </a:p>
          <a:p>
            <a:pPr lvl="0"/>
            <a:r>
              <a:rPr lang="en-AU" dirty="0" smtClean="0"/>
              <a:t>Example: The forelimb bone</a:t>
            </a:r>
            <a:endParaRPr lang="en-US" dirty="0" smtClean="0"/>
          </a:p>
          <a:p>
            <a:pPr lvl="1">
              <a:buFont typeface="Wingdings" charset="2"/>
              <a:buChar char="§"/>
            </a:pPr>
            <a:r>
              <a:rPr lang="en-US" dirty="0" smtClean="0"/>
              <a:t>Arrangement of the bones of the forelimb are similar in different species</a:t>
            </a:r>
            <a:endParaRPr lang="en-US" dirty="0"/>
          </a:p>
          <a:p>
            <a:pPr lvl="1">
              <a:buFont typeface="Wingdings" charset="2"/>
              <a:buChar char="§"/>
            </a:pPr>
            <a:r>
              <a:rPr lang="en-US" dirty="0" smtClean="0"/>
              <a:t>Provide evidence that they have all evolved from a common ancestor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34985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033" y="1635384"/>
            <a:ext cx="8947150" cy="3704390"/>
          </a:xfrm>
        </p:spPr>
      </p:pic>
    </p:spTree>
    <p:extLst>
      <p:ext uri="{BB962C8B-B14F-4D97-AF65-F5344CB8AC3E}">
        <p14:creationId xmlns:p14="http://schemas.microsoft.com/office/powerpoint/2010/main" val="14014916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81722"/>
          </a:xfrm>
        </p:spPr>
        <p:txBody>
          <a:bodyPr/>
          <a:lstStyle/>
          <a:p>
            <a:r>
              <a:rPr lang="en-US" smtClean="0"/>
              <a:t>Vestigial Organs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1234440"/>
            <a:ext cx="9206548" cy="5013959"/>
          </a:xfrm>
        </p:spPr>
        <p:txBody>
          <a:bodyPr>
            <a:normAutofit lnSpcReduction="10000"/>
          </a:bodyPr>
          <a:lstStyle/>
          <a:p>
            <a:r>
              <a:rPr lang="en-AU" dirty="0"/>
              <a:t>Structures reduced in size that appears to have no function</a:t>
            </a:r>
            <a:endParaRPr lang="en-GB" dirty="0"/>
          </a:p>
          <a:p>
            <a:pPr lvl="0"/>
            <a:r>
              <a:rPr lang="en-AU" dirty="0" smtClean="0"/>
              <a:t>They </a:t>
            </a:r>
            <a:r>
              <a:rPr lang="en-AU" dirty="0"/>
              <a:t>are what remains of organs that were functional in ancestral forms</a:t>
            </a:r>
            <a:endParaRPr lang="en-GB" dirty="0"/>
          </a:p>
          <a:p>
            <a:pPr lvl="0"/>
            <a:r>
              <a:rPr lang="en-AU" dirty="0"/>
              <a:t>Changing environmental conditions removed/changed the use of the organs</a:t>
            </a:r>
            <a:endParaRPr lang="en-GB" dirty="0"/>
          </a:p>
          <a:p>
            <a:pPr lvl="0"/>
            <a:r>
              <a:rPr lang="en-AU" dirty="0"/>
              <a:t>Remnants of those are now non-functional and would eventually disappear as it only waste the organisms energy and resources to maintain useless structures</a:t>
            </a:r>
            <a:endParaRPr lang="en-GB" dirty="0"/>
          </a:p>
          <a:p>
            <a:pPr lvl="0"/>
            <a:r>
              <a:rPr lang="en-AU" dirty="0"/>
              <a:t>Will eventually disappear as there is no selection pressure to retain them</a:t>
            </a:r>
            <a:endParaRPr lang="en-GB" dirty="0"/>
          </a:p>
          <a:p>
            <a:r>
              <a:rPr lang="en-AU" dirty="0"/>
              <a:t> </a:t>
            </a:r>
            <a:r>
              <a:rPr lang="en-AU" dirty="0" smtClean="0"/>
              <a:t>Shows how different species may be related to one another</a:t>
            </a:r>
            <a:endParaRPr lang="en-GB" dirty="0"/>
          </a:p>
          <a:p>
            <a:r>
              <a:rPr lang="en-GB" dirty="0" smtClean="0"/>
              <a:t>T</a:t>
            </a:r>
            <a:r>
              <a:rPr lang="en-US" dirty="0" smtClean="0"/>
              <a:t>he presence of these non-functional structures in humans and having similar structures being functional in other species provide evidence that we came from a common ancestor.</a:t>
            </a:r>
          </a:p>
        </p:txBody>
      </p:sp>
    </p:spTree>
    <p:extLst>
      <p:ext uri="{BB962C8B-B14F-4D97-AF65-F5344CB8AC3E}">
        <p14:creationId xmlns:p14="http://schemas.microsoft.com/office/powerpoint/2010/main" val="19469264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04582"/>
          </a:xfrm>
        </p:spPr>
        <p:txBody>
          <a:bodyPr/>
          <a:lstStyle/>
          <a:p>
            <a:r>
              <a:rPr lang="en-US" dirty="0" smtClean="0"/>
              <a:t>Examples of Vestigial Organs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1648" y="1257300"/>
            <a:ext cx="4333648" cy="5145389"/>
          </a:xfrm>
        </p:spPr>
      </p:pic>
    </p:spTree>
    <p:extLst>
      <p:ext uri="{BB962C8B-B14F-4D97-AF65-F5344CB8AC3E}">
        <p14:creationId xmlns:p14="http://schemas.microsoft.com/office/powerpoint/2010/main" val="185270772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139</TotalTime>
  <Words>816</Words>
  <Application>Microsoft Office PowerPoint</Application>
  <PresentationFormat>Custom</PresentationFormat>
  <Paragraphs>73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Ion</vt:lpstr>
      <vt:lpstr>Evidence of Evolution</vt:lpstr>
      <vt:lpstr>Comparative Biochemistry </vt:lpstr>
      <vt:lpstr>DNA </vt:lpstr>
      <vt:lpstr>DNA: ‘Junk’ DNA</vt:lpstr>
      <vt:lpstr>PowerPoint Presentation</vt:lpstr>
      <vt:lpstr>DNA: Mitochondrial DNA</vt:lpstr>
      <vt:lpstr>Protein Sequences</vt:lpstr>
      <vt:lpstr>Comparative Anatomy</vt:lpstr>
      <vt:lpstr>Embryology</vt:lpstr>
      <vt:lpstr>PowerPoint Presentation</vt:lpstr>
      <vt:lpstr>Homologous Structures</vt:lpstr>
      <vt:lpstr>PowerPoint Presentation</vt:lpstr>
      <vt:lpstr>Vestigial Organs</vt:lpstr>
      <vt:lpstr>Examples of Vestigial Organs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Evidence of Evolution</dc:title>
  <dc:creator>Jenine Bureros</dc:creator>
  <cp:lastModifiedBy>E4016892</cp:lastModifiedBy>
  <cp:revision>13</cp:revision>
  <dcterms:created xsi:type="dcterms:W3CDTF">2018-09-11T23:21:07Z</dcterms:created>
  <dcterms:modified xsi:type="dcterms:W3CDTF">2018-09-18T03:27:24Z</dcterms:modified>
</cp:coreProperties>
</file>
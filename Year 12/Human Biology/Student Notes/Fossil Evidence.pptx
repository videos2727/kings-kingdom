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17073"/>
    <p:restoredTop sz="94715"/>
  </p:normalViewPr>
  <p:slideViewPr>
    <p:cSldViewPr snapToGrid="0" snapToObjects="1">
      <p:cViewPr>
        <p:scale>
          <a:sx n="88" d="100"/>
          <a:sy n="88" d="100"/>
        </p:scale>
        <p:origin x="-264" y="-4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9/18/2018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9/18/2018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9/18/2018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9/18/2018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9/18/2018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9/18/2018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9/18/2018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9/18/2018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9/18/2018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9/18/2018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9/18/2018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9/18/2018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9/18/2018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9/18/2018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9/18/2018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9/18/2018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9/18/2018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9/18/2018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4" y="1447800"/>
            <a:ext cx="9152827" cy="3329581"/>
          </a:xfrm>
        </p:spPr>
        <p:txBody>
          <a:bodyPr/>
          <a:lstStyle/>
          <a:p>
            <a:r>
              <a:rPr lang="en-US" dirty="0" smtClean="0"/>
              <a:t>Fossil Evidence </a:t>
            </a:r>
            <a:r>
              <a:rPr lang="en-US" smtClean="0"/>
              <a:t>for Evolution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Absolute and relative Dating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4517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683355"/>
          </a:xfrm>
        </p:spPr>
        <p:txBody>
          <a:bodyPr/>
          <a:lstStyle/>
          <a:p>
            <a:r>
              <a:rPr lang="en-US" dirty="0" smtClean="0"/>
              <a:t>Fossil Formation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9249" y="1750779"/>
            <a:ext cx="9287597" cy="5112326"/>
          </a:xfrm>
        </p:spPr>
        <p:txBody>
          <a:bodyPr/>
          <a:lstStyle/>
          <a:p>
            <a:r>
              <a:rPr lang="en-US" dirty="0" smtClean="0"/>
              <a:t>Fossils: Any preserved trace left by an organism that lived a long time ago</a:t>
            </a:r>
          </a:p>
          <a:p>
            <a:r>
              <a:rPr lang="en-US" dirty="0" smtClean="0"/>
              <a:t>Fossil Formation:</a:t>
            </a:r>
          </a:p>
          <a:p>
            <a:pPr lvl="1">
              <a:buFont typeface="Wingdings" charset="2"/>
              <a:buChar char="§"/>
            </a:pPr>
            <a:r>
              <a:rPr lang="en-US" dirty="0" smtClean="0"/>
              <a:t>Absence of Oxygen: preserves due to lack of decay organism</a:t>
            </a:r>
          </a:p>
          <a:p>
            <a:pPr lvl="1">
              <a:buFont typeface="Wingdings" charset="2"/>
              <a:buChar char="§"/>
            </a:pPr>
            <a:r>
              <a:rPr lang="en-US" dirty="0" smtClean="0"/>
              <a:t>Alkaline Conditions: calcium will not dissolve from the bones</a:t>
            </a:r>
          </a:p>
          <a:p>
            <a:pPr lvl="1">
              <a:buFont typeface="Wingdings" charset="2"/>
              <a:buChar char="§"/>
            </a:pPr>
            <a:r>
              <a:rPr lang="en-US" dirty="0" smtClean="0"/>
              <a:t>Dry: stops bacterial decay</a:t>
            </a:r>
          </a:p>
          <a:p>
            <a:pPr lvl="1">
              <a:buFont typeface="Wingdings" charset="2"/>
              <a:buChar char="§"/>
            </a:pPr>
            <a:r>
              <a:rPr lang="en-US" dirty="0" smtClean="0"/>
              <a:t>Cold: stops bacterial decay</a:t>
            </a:r>
          </a:p>
          <a:p>
            <a:pPr lvl="1">
              <a:buFont typeface="Wingdings" charset="2"/>
              <a:buChar char="§"/>
            </a:pPr>
            <a:r>
              <a:rPr lang="en-US" dirty="0" smtClean="0"/>
              <a:t>High Salt: stops bacterial decay</a:t>
            </a:r>
          </a:p>
          <a:p>
            <a:pPr lvl="1">
              <a:buFont typeface="Wingdings" charset="2"/>
              <a:buChar char="§"/>
            </a:pPr>
            <a:r>
              <a:rPr lang="en-US" dirty="0" smtClean="0"/>
              <a:t>Lack of Movement: stops mechanical erosion</a:t>
            </a:r>
          </a:p>
          <a:p>
            <a:pPr lvl="1">
              <a:buFont typeface="Wingdings" charset="2"/>
              <a:buChar char="§"/>
            </a:pPr>
            <a:r>
              <a:rPr lang="en-US" dirty="0" smtClean="0"/>
              <a:t>Not exposed: not available to predators and scavengers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75896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15682"/>
          </a:xfrm>
        </p:spPr>
        <p:txBody>
          <a:bodyPr/>
          <a:lstStyle/>
          <a:p>
            <a:r>
              <a:rPr lang="en-US" dirty="0" smtClean="0"/>
              <a:t>Problems with </a:t>
            </a:r>
            <a:r>
              <a:rPr lang="en-US" smtClean="0"/>
              <a:t>Fossil Records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1168400"/>
            <a:ext cx="9259888" cy="5359400"/>
          </a:xfrm>
        </p:spPr>
        <p:txBody>
          <a:bodyPr>
            <a:normAutofit/>
          </a:bodyPr>
          <a:lstStyle/>
          <a:p>
            <a:r>
              <a:rPr lang="en-US" dirty="0" smtClean="0"/>
              <a:t>Fossil record is incomplete as conditions for fossilisation do not always  occur or occur at irregular period of time</a:t>
            </a:r>
          </a:p>
          <a:p>
            <a:pPr lvl="0"/>
            <a:r>
              <a:rPr lang="en-AU" dirty="0"/>
              <a:t>Gaps may occur as:</a:t>
            </a:r>
            <a:endParaRPr lang="en-GB" dirty="0"/>
          </a:p>
          <a:p>
            <a:pPr lvl="1">
              <a:buFont typeface="Wingdings" charset="2"/>
              <a:buChar char="§"/>
            </a:pPr>
            <a:r>
              <a:rPr lang="en-AU" dirty="0"/>
              <a:t>Only a few proportions of the fossils that exist have actually been </a:t>
            </a:r>
            <a:r>
              <a:rPr lang="en-AU" dirty="0" smtClean="0"/>
              <a:t>discovered</a:t>
            </a:r>
            <a:endParaRPr lang="en-GB" dirty="0"/>
          </a:p>
          <a:p>
            <a:pPr lvl="1">
              <a:buFont typeface="Wingdings" charset="2"/>
              <a:buChar char="§"/>
            </a:pPr>
            <a:r>
              <a:rPr lang="en-AU" dirty="0" smtClean="0"/>
              <a:t>Some </a:t>
            </a:r>
            <a:r>
              <a:rPr lang="en-AU" dirty="0"/>
              <a:t>are buried too deep in the group or are in inaccessible </a:t>
            </a:r>
            <a:r>
              <a:rPr lang="en-AU" dirty="0" smtClean="0"/>
              <a:t>place</a:t>
            </a:r>
            <a:endParaRPr lang="en-GB" dirty="0"/>
          </a:p>
          <a:p>
            <a:pPr lvl="1">
              <a:buFont typeface="Wingdings" charset="2"/>
              <a:buChar char="§"/>
            </a:pPr>
            <a:r>
              <a:rPr lang="en-AU" dirty="0" smtClean="0"/>
              <a:t>Other </a:t>
            </a:r>
            <a:r>
              <a:rPr lang="en-AU" dirty="0"/>
              <a:t>may been destroyed by human activity- agriculture/industry</a:t>
            </a:r>
            <a:endParaRPr lang="en-GB" dirty="0"/>
          </a:p>
          <a:p>
            <a:pPr lvl="0"/>
            <a:r>
              <a:rPr lang="en-AU" dirty="0"/>
              <a:t>Unusual to find a fossil of an entire organism or the whole skeleton of an organism</a:t>
            </a:r>
            <a:endParaRPr lang="en-GB" dirty="0"/>
          </a:p>
          <a:p>
            <a:pPr lvl="1">
              <a:buFont typeface="Wingdings" charset="2"/>
              <a:buChar char="§"/>
            </a:pPr>
            <a:r>
              <a:rPr lang="en-AU" dirty="0"/>
              <a:t>Often just fragments of </a:t>
            </a:r>
            <a:r>
              <a:rPr lang="en-AU" dirty="0" smtClean="0"/>
              <a:t>bone</a:t>
            </a:r>
            <a:endParaRPr lang="en-GB" dirty="0"/>
          </a:p>
          <a:p>
            <a:pPr lvl="1">
              <a:buFont typeface="Wingdings" charset="2"/>
              <a:buChar char="§"/>
            </a:pPr>
            <a:r>
              <a:rPr lang="en-AU" dirty="0" smtClean="0"/>
              <a:t>Experts </a:t>
            </a:r>
            <a:r>
              <a:rPr lang="en-AU" dirty="0"/>
              <a:t>estimate the shape of the face/entire bone to complete </a:t>
            </a:r>
            <a:r>
              <a:rPr lang="en-AU" dirty="0" smtClean="0"/>
              <a:t>reconstruction</a:t>
            </a:r>
            <a:endParaRPr lang="en-GB" dirty="0"/>
          </a:p>
          <a:p>
            <a:pPr lvl="1">
              <a:buFont typeface="Wingdings" charset="2"/>
              <a:buChar char="§"/>
            </a:pPr>
            <a:r>
              <a:rPr lang="en-AU" dirty="0" smtClean="0"/>
              <a:t>Only </a:t>
            </a:r>
            <a:r>
              <a:rPr lang="en-AU" dirty="0"/>
              <a:t>approximations based on the experience of the scientist </a:t>
            </a:r>
            <a:r>
              <a:rPr lang="en-AU" dirty="0" smtClean="0"/>
              <a:t>involved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532814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Absolute Dating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Potassium-argon  Dating</a:t>
            </a:r>
          </a:p>
          <a:p>
            <a:r>
              <a:rPr lang="en-US" dirty="0" smtClean="0"/>
              <a:t>Carbon dating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75915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Potassium-argon Dating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5185" y="1812759"/>
            <a:ext cx="9243846" cy="5045241"/>
          </a:xfrm>
        </p:spPr>
        <p:txBody>
          <a:bodyPr/>
          <a:lstStyle/>
          <a:p>
            <a:pPr lvl="0"/>
            <a:r>
              <a:rPr lang="en-AU" dirty="0"/>
              <a:t>Potassium-argon technique based on the decay of radioactive potassium to form calcium and argon</a:t>
            </a:r>
            <a:endParaRPr lang="en-GB" dirty="0"/>
          </a:p>
          <a:p>
            <a:pPr lvl="0"/>
            <a:r>
              <a:rPr lang="en-AU" dirty="0"/>
              <a:t>Potassium have three different isotopes</a:t>
            </a:r>
            <a:endParaRPr lang="en-GB" dirty="0"/>
          </a:p>
          <a:p>
            <a:pPr lvl="0"/>
            <a:r>
              <a:rPr lang="en-AU" dirty="0"/>
              <a:t>Potassium-40 is radioactive and decays to form calcium-40 and argon-40</a:t>
            </a:r>
            <a:endParaRPr lang="en-GB" dirty="0"/>
          </a:p>
          <a:p>
            <a:pPr lvl="0"/>
            <a:r>
              <a:rPr lang="en-AU" dirty="0"/>
              <a:t>Decay takes at extremely slow but constant rate- determining the amounts of potassium-40 and argon-40 in a rock sample enables the age of the rock to be calculated</a:t>
            </a:r>
            <a:endParaRPr lang="en-GB" dirty="0"/>
          </a:p>
          <a:p>
            <a:pPr lvl="0"/>
            <a:r>
              <a:rPr lang="en-AU" dirty="0"/>
              <a:t>Limitations: </a:t>
            </a:r>
            <a:endParaRPr lang="en-GB" dirty="0"/>
          </a:p>
          <a:p>
            <a:pPr lvl="1">
              <a:buFont typeface="Wingdings" charset="2"/>
              <a:buChar char="§"/>
            </a:pPr>
            <a:r>
              <a:rPr lang="en-AU" dirty="0"/>
              <a:t>Can only be used for rocks older than 100 000 to 200 000 years </a:t>
            </a:r>
            <a:endParaRPr lang="en-AU" dirty="0" smtClean="0"/>
          </a:p>
          <a:p>
            <a:pPr lvl="1">
              <a:buFont typeface="Wingdings" charset="2"/>
              <a:buChar char="§"/>
            </a:pPr>
            <a:r>
              <a:rPr lang="en-AU" dirty="0" smtClean="0"/>
              <a:t>Can only be used for igneous rocks (volcanic rocks)</a:t>
            </a:r>
            <a:endParaRPr lang="en-GB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31710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94820"/>
          </a:xfrm>
        </p:spPr>
        <p:txBody>
          <a:bodyPr/>
          <a:lstStyle/>
          <a:p>
            <a:r>
              <a:rPr lang="en-US" dirty="0" smtClean="0"/>
              <a:t>Carbon Dating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9248" y="1957138"/>
            <a:ext cx="9171656" cy="4900862"/>
          </a:xfrm>
        </p:spPr>
        <p:txBody>
          <a:bodyPr>
            <a:normAutofit/>
          </a:bodyPr>
          <a:lstStyle/>
          <a:p>
            <a:pPr lvl="0"/>
            <a:r>
              <a:rPr lang="en-AU" dirty="0"/>
              <a:t>Based on the decay of the radioactive isotope of carbon-14 to nitrogen</a:t>
            </a:r>
            <a:endParaRPr lang="en-GB" dirty="0"/>
          </a:p>
          <a:p>
            <a:pPr lvl="0"/>
            <a:r>
              <a:rPr lang="en-AU" dirty="0"/>
              <a:t>In the atmosphere, there is a ratio of one carbon-14 to every billion carbon-12</a:t>
            </a:r>
            <a:endParaRPr lang="en-GB" dirty="0"/>
          </a:p>
          <a:p>
            <a:pPr lvl="1">
              <a:buFont typeface="Wingdings" charset="2"/>
              <a:buChar char="§"/>
            </a:pPr>
            <a:r>
              <a:rPr lang="en-AU" dirty="0"/>
              <a:t>Ratio declines to half after 5730 years called the half-life of a radioactive carbon</a:t>
            </a:r>
            <a:endParaRPr lang="en-GB" dirty="0"/>
          </a:p>
          <a:p>
            <a:pPr lvl="0"/>
            <a:r>
              <a:rPr lang="en-AU" dirty="0" smtClean="0"/>
              <a:t>Limitations</a:t>
            </a:r>
            <a:r>
              <a:rPr lang="en-AU" dirty="0"/>
              <a:t>:</a:t>
            </a:r>
            <a:endParaRPr lang="en-GB" dirty="0"/>
          </a:p>
          <a:p>
            <a:pPr lvl="1">
              <a:buFont typeface="Wingdings" charset="2"/>
              <a:buChar char="§"/>
            </a:pPr>
            <a:r>
              <a:rPr lang="en-AU" dirty="0"/>
              <a:t>Can only be used to date back more than about 60 000 </a:t>
            </a:r>
            <a:r>
              <a:rPr lang="en-AU" dirty="0" smtClean="0"/>
              <a:t>years</a:t>
            </a:r>
            <a:endParaRPr lang="en-GB" dirty="0"/>
          </a:p>
          <a:p>
            <a:pPr lvl="1">
              <a:buFont typeface="Wingdings" charset="2"/>
              <a:buChar char="§"/>
            </a:pPr>
            <a:r>
              <a:rPr lang="en-AU" dirty="0" smtClean="0"/>
              <a:t>The </a:t>
            </a:r>
            <a:r>
              <a:rPr lang="en-AU" dirty="0"/>
              <a:t>material needs to contain organic compounds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44299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98566"/>
          </a:xfrm>
        </p:spPr>
        <p:txBody>
          <a:bodyPr/>
          <a:lstStyle/>
          <a:p>
            <a:r>
              <a:rPr lang="en-US" dirty="0" smtClean="0"/>
              <a:t>Dendrochronology</a:t>
            </a:r>
            <a:br>
              <a:rPr lang="en-US" dirty="0" smtClean="0"/>
            </a:br>
            <a:r>
              <a:rPr lang="en-US" sz="3200" dirty="0" smtClean="0"/>
              <a:t>(Tree-ring Dating)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AU" dirty="0"/>
              <a:t>Each tree ring represents one year’s growth and the rigs differ in width according to how favourable the growing season was</a:t>
            </a:r>
            <a:endParaRPr lang="en-GB" dirty="0"/>
          </a:p>
          <a:p>
            <a:pPr lvl="0"/>
            <a:r>
              <a:rPr lang="en-AU" dirty="0"/>
              <a:t>Living trees may be dated by drilling a small core out of the trunk wood and counting the rings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078528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Relative Dating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Stratigraphy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06615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654187"/>
          </a:xfrm>
        </p:spPr>
        <p:txBody>
          <a:bodyPr/>
          <a:lstStyle/>
          <a:p>
            <a:r>
              <a:rPr lang="en-US" smtClean="0"/>
              <a:t>Stratigraphy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9249" y="1716506"/>
            <a:ext cx="9243846" cy="5141494"/>
          </a:xfrm>
        </p:spPr>
        <p:txBody>
          <a:bodyPr/>
          <a:lstStyle/>
          <a:p>
            <a:r>
              <a:rPr lang="en-US" dirty="0" smtClean="0"/>
              <a:t>Study of layers</a:t>
            </a:r>
          </a:p>
          <a:p>
            <a:pPr lvl="0"/>
            <a:r>
              <a:rPr lang="en-AU" dirty="0"/>
              <a:t>Principle of Superposition</a:t>
            </a:r>
            <a:endParaRPr lang="en-GB" dirty="0"/>
          </a:p>
          <a:p>
            <a:pPr lvl="1">
              <a:buFont typeface="Wingdings" charset="2"/>
              <a:buChar char="§"/>
            </a:pPr>
            <a:r>
              <a:rPr lang="en-AU" dirty="0"/>
              <a:t>Assumes that in layers of sedimentary rock, the layers at the tops are younger than those beneath </a:t>
            </a:r>
            <a:r>
              <a:rPr lang="en-AU" dirty="0" smtClean="0"/>
              <a:t>them</a:t>
            </a:r>
            <a:endParaRPr lang="en-GB" dirty="0"/>
          </a:p>
          <a:p>
            <a:pPr lvl="1">
              <a:buFont typeface="Wingdings" charset="2"/>
              <a:buChar char="§"/>
            </a:pPr>
            <a:r>
              <a:rPr lang="en-AU" dirty="0" smtClean="0"/>
              <a:t>Any </a:t>
            </a:r>
            <a:r>
              <a:rPr lang="en-AU" dirty="0"/>
              <a:t>fossils or other material found in the top layer will be younger than material found lower </a:t>
            </a:r>
            <a:r>
              <a:rPr lang="en-AU" dirty="0" smtClean="0"/>
              <a:t>down</a:t>
            </a:r>
            <a:endParaRPr lang="en-GB" dirty="0"/>
          </a:p>
          <a:p>
            <a:pPr lvl="1">
              <a:buFont typeface="Wingdings" charset="2"/>
              <a:buChar char="§"/>
            </a:pPr>
            <a:r>
              <a:rPr lang="en-AU" dirty="0" smtClean="0"/>
              <a:t>This </a:t>
            </a:r>
            <a:r>
              <a:rPr lang="en-AU" dirty="0"/>
              <a:t>principle must be applied with car- distortions of Earth’s crust occur and a sequence of rock layers may be turned upside </a:t>
            </a:r>
            <a:r>
              <a:rPr lang="en-AU" dirty="0" smtClean="0"/>
              <a:t>down</a:t>
            </a:r>
            <a:endParaRPr lang="en-GB" dirty="0"/>
          </a:p>
          <a:p>
            <a:pPr lvl="1">
              <a:buFont typeface="Wingdings" charset="2"/>
              <a:buChar char="§"/>
            </a:pPr>
            <a:r>
              <a:rPr lang="en-AU" dirty="0" smtClean="0"/>
              <a:t>Some </a:t>
            </a:r>
            <a:r>
              <a:rPr lang="en-AU" dirty="0"/>
              <a:t>fossils or artefacts may be buried by animals or early human- in this case specimen may be younger than some of the layers above it</a:t>
            </a:r>
            <a:endParaRPr lang="en-GB" dirty="0"/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6694486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Stratigraphy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4293" y="1254633"/>
            <a:ext cx="9273421" cy="5015538"/>
          </a:xfrm>
        </p:spPr>
        <p:txBody>
          <a:bodyPr>
            <a:normAutofit/>
          </a:bodyPr>
          <a:lstStyle/>
          <a:p>
            <a:pPr lvl="0"/>
            <a:r>
              <a:rPr lang="en-AU" dirty="0"/>
              <a:t>Correlation of Rock Strata</a:t>
            </a:r>
            <a:endParaRPr lang="en-GB" dirty="0"/>
          </a:p>
          <a:p>
            <a:pPr lvl="1">
              <a:buFont typeface="Wingdings" charset="2"/>
              <a:buChar char="§"/>
            </a:pPr>
            <a:r>
              <a:rPr lang="en-AU" dirty="0"/>
              <a:t>Involves matching layers of rock from different </a:t>
            </a:r>
            <a:r>
              <a:rPr lang="en-AU" dirty="0" smtClean="0"/>
              <a:t>areas</a:t>
            </a:r>
            <a:endParaRPr lang="en-GB" dirty="0"/>
          </a:p>
          <a:p>
            <a:pPr lvl="1">
              <a:buFont typeface="Wingdings" charset="2"/>
              <a:buChar char="§"/>
            </a:pPr>
            <a:r>
              <a:rPr lang="en-AU" dirty="0" smtClean="0"/>
              <a:t>Can </a:t>
            </a:r>
            <a:r>
              <a:rPr lang="en-AU" dirty="0"/>
              <a:t>be done by examining the rock itself and by studying the fossils it </a:t>
            </a:r>
            <a:r>
              <a:rPr lang="en-AU" dirty="0" smtClean="0"/>
              <a:t>contains</a:t>
            </a:r>
            <a:endParaRPr lang="en-GB" dirty="0"/>
          </a:p>
          <a:p>
            <a:pPr lvl="1">
              <a:buFont typeface="Wingdings" charset="2"/>
              <a:buChar char="§"/>
            </a:pPr>
            <a:r>
              <a:rPr lang="en-AU" dirty="0" smtClean="0"/>
              <a:t>Rocks </a:t>
            </a:r>
            <a:r>
              <a:rPr lang="en-AU" dirty="0"/>
              <a:t>that contain the same fossils may be assumed to be of the same </a:t>
            </a:r>
            <a:r>
              <a:rPr lang="en-AU" dirty="0" smtClean="0"/>
              <a:t>age</a:t>
            </a:r>
            <a:endParaRPr lang="en-GB" dirty="0"/>
          </a:p>
          <a:p>
            <a:pPr lvl="1">
              <a:buFont typeface="Wingdings" charset="2"/>
              <a:buChar char="§"/>
            </a:pPr>
            <a:r>
              <a:rPr lang="en-AU" dirty="0" smtClean="0"/>
              <a:t>Index </a:t>
            </a:r>
            <a:r>
              <a:rPr lang="en-AU" dirty="0"/>
              <a:t>Fossils: fossils that are widely distributed and were present on Earth for only a limited period of time, making the relative dating of strata more precise </a:t>
            </a:r>
            <a:endParaRPr lang="en-AU" dirty="0" smtClean="0"/>
          </a:p>
          <a:p>
            <a:pPr lvl="2">
              <a:buFont typeface="Courier New" charset="0"/>
              <a:buChar char="o"/>
            </a:pPr>
            <a:r>
              <a:rPr lang="en-AU" dirty="0" smtClean="0"/>
              <a:t>The date of these fossils need to be known in order for it to be used as a relative technique.</a:t>
            </a:r>
          </a:p>
          <a:p>
            <a:pPr lvl="2">
              <a:buFont typeface="Courier New" charset="0"/>
              <a:buChar char="o"/>
            </a:pPr>
            <a:r>
              <a:rPr lang="en-AU" dirty="0" smtClean="0"/>
              <a:t>Any fossils under these index fossils are said to be older these fossils while fossils above it are said to be younger than the index fossils. </a:t>
            </a:r>
          </a:p>
        </p:txBody>
      </p:sp>
    </p:spTree>
    <p:extLst>
      <p:ext uri="{BB962C8B-B14F-4D97-AF65-F5344CB8AC3E}">
        <p14:creationId xmlns:p14="http://schemas.microsoft.com/office/powerpoint/2010/main" val="13287823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Phylogenetic Trees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1596572"/>
            <a:ext cx="8946541" cy="4651828"/>
          </a:xfrm>
        </p:spPr>
        <p:txBody>
          <a:bodyPr/>
          <a:lstStyle/>
          <a:p>
            <a:pPr lvl="0"/>
            <a:r>
              <a:rPr lang="en-AU" dirty="0"/>
              <a:t>Represents the evolutionary relationships between a number of organisms derived from a common ancestor</a:t>
            </a:r>
            <a:endParaRPr lang="en-GB" dirty="0"/>
          </a:p>
          <a:p>
            <a:pPr lvl="1">
              <a:buFont typeface="Wingdings" charset="2"/>
              <a:buChar char="§"/>
            </a:pPr>
            <a:r>
              <a:rPr lang="en-AU" dirty="0"/>
              <a:t>Relationship between organisms are shown by the distance on the ends of </a:t>
            </a:r>
            <a:r>
              <a:rPr lang="en-AU" dirty="0" smtClean="0"/>
              <a:t>‘branches’</a:t>
            </a:r>
            <a:endParaRPr lang="en-GB" dirty="0"/>
          </a:p>
          <a:p>
            <a:r>
              <a:rPr lang="en-AU" dirty="0"/>
              <a:t>Used to simply complex relationships in order to enable them to be more easily understood</a:t>
            </a:r>
            <a:r>
              <a:rPr lang="en-GB" dirty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30378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69</TotalTime>
  <Words>645</Words>
  <Application>Microsoft Office PowerPoint</Application>
  <PresentationFormat>Custom</PresentationFormat>
  <Paragraphs>64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Ion</vt:lpstr>
      <vt:lpstr>Fossil Evidence for Evolution</vt:lpstr>
      <vt:lpstr>Fossil Formation</vt:lpstr>
      <vt:lpstr>Problems with Fossil Records</vt:lpstr>
      <vt:lpstr>Absolute Dating</vt:lpstr>
      <vt:lpstr>Potassium-argon Dating</vt:lpstr>
      <vt:lpstr>Carbon Dating</vt:lpstr>
      <vt:lpstr>Dendrochronology (Tree-ring Dating)</vt:lpstr>
      <vt:lpstr>Relative Dating</vt:lpstr>
      <vt:lpstr>Stratigraphy</vt:lpstr>
      <vt:lpstr>Stratigraphy</vt:lpstr>
      <vt:lpstr>Phylogenetic Trees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Fossil Evidence for Evolution</dc:title>
  <dc:creator>Jenine Bureros</dc:creator>
  <cp:lastModifiedBy>E4016892</cp:lastModifiedBy>
  <cp:revision>8</cp:revision>
  <dcterms:created xsi:type="dcterms:W3CDTF">2018-09-12T02:52:30Z</dcterms:created>
  <dcterms:modified xsi:type="dcterms:W3CDTF">2018-09-18T03:28:47Z</dcterms:modified>
</cp:coreProperties>
</file>
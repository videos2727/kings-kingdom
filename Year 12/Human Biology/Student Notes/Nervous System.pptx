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9"/>
  </p:notesMasterIdLst>
  <p:handoutMasterIdLst>
    <p:handoutMasterId r:id="rId30"/>
  </p:handoutMasterIdLst>
  <p:sldIdLst>
    <p:sldId id="256" r:id="rId2"/>
    <p:sldId id="279" r:id="rId3"/>
    <p:sldId id="257" r:id="rId4"/>
    <p:sldId id="278" r:id="rId5"/>
    <p:sldId id="267" r:id="rId6"/>
    <p:sldId id="269" r:id="rId7"/>
    <p:sldId id="268" r:id="rId8"/>
    <p:sldId id="258" r:id="rId9"/>
    <p:sldId id="271" r:id="rId10"/>
    <p:sldId id="272" r:id="rId11"/>
    <p:sldId id="273" r:id="rId12"/>
    <p:sldId id="260" r:id="rId13"/>
    <p:sldId id="275" r:id="rId14"/>
    <p:sldId id="276" r:id="rId15"/>
    <p:sldId id="277" r:id="rId16"/>
    <p:sldId id="274" r:id="rId17"/>
    <p:sldId id="261" r:id="rId18"/>
    <p:sldId id="280" r:id="rId19"/>
    <p:sldId id="281" r:id="rId20"/>
    <p:sldId id="282" r:id="rId21"/>
    <p:sldId id="285" r:id="rId22"/>
    <p:sldId id="284" r:id="rId23"/>
    <p:sldId id="286" r:id="rId24"/>
    <p:sldId id="283" r:id="rId25"/>
    <p:sldId id="266" r:id="rId26"/>
    <p:sldId id="287" r:id="rId27"/>
    <p:sldId id="28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A8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4660" autoAdjust="0"/>
  </p:normalViewPr>
  <p:slideViewPr>
    <p:cSldViewPr snapToGrid="0">
      <p:cViewPr varScale="1">
        <p:scale>
          <a:sx n="76" d="100"/>
          <a:sy n="76" d="100"/>
        </p:scale>
        <p:origin x="294"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8" d="100"/>
          <a:sy n="58" d="100"/>
        </p:scale>
        <p:origin x="2706"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5398F8-78E9-4890-A210-E56734616B7F}" type="datetimeFigureOut">
              <a:rPr lang="en-GB" smtClean="0"/>
              <a:t>17/09/2018</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7892F0-DA2F-476D-9B18-9C2A16C1592C}" type="slidenum">
              <a:rPr lang="en-GB" smtClean="0"/>
              <a:t>‹#›</a:t>
            </a:fld>
            <a:endParaRPr lang="en-GB"/>
          </a:p>
        </p:txBody>
      </p:sp>
    </p:spTree>
    <p:extLst>
      <p:ext uri="{BB962C8B-B14F-4D97-AF65-F5344CB8AC3E}">
        <p14:creationId xmlns:p14="http://schemas.microsoft.com/office/powerpoint/2010/main" val="13766216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42525-48AC-40CB-B715-D085EBA577C5}" type="datetimeFigureOut">
              <a:rPr lang="en-GB" smtClean="0"/>
              <a:t>17/09/2018</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02ED39-9673-4731-98CC-CA509C24BEF8}" type="slidenum">
              <a:rPr lang="en-GB" smtClean="0"/>
              <a:t>‹#›</a:t>
            </a:fld>
            <a:endParaRPr lang="en-GB"/>
          </a:p>
        </p:txBody>
      </p:sp>
    </p:spTree>
    <p:extLst>
      <p:ext uri="{BB962C8B-B14F-4D97-AF65-F5344CB8AC3E}">
        <p14:creationId xmlns:p14="http://schemas.microsoft.com/office/powerpoint/2010/main" val="4159174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302ED39-9673-4731-98CC-CA509C24BEF8}" type="slidenum">
              <a:rPr lang="en-GB" smtClean="0"/>
              <a:t>1</a:t>
            </a:fld>
            <a:endParaRPr lang="en-GB"/>
          </a:p>
        </p:txBody>
      </p:sp>
    </p:spTree>
    <p:extLst>
      <p:ext uri="{BB962C8B-B14F-4D97-AF65-F5344CB8AC3E}">
        <p14:creationId xmlns:p14="http://schemas.microsoft.com/office/powerpoint/2010/main" val="1850947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8042FE9-3885-476B-AC9C-D5CB4E9E57B1}" type="datetimeFigureOut">
              <a:rPr lang="en-GB" smtClean="0"/>
              <a:t>17/09/2018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4069712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8042FE9-3885-476B-AC9C-D5CB4E9E57B1}" type="datetimeFigureOut">
              <a:rPr lang="en-GB" smtClean="0"/>
              <a:t>17/09/2018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1162992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042FE9-3885-476B-AC9C-D5CB4E9E57B1}" type="datetimeFigureOut">
              <a:rPr lang="en-GB" smtClean="0"/>
              <a:t>17/09/2018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332822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8042FE9-3885-476B-AC9C-D5CB4E9E57B1}" type="datetimeFigureOut">
              <a:rPr lang="en-GB" smtClean="0"/>
              <a:t>17/09/2018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169635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8042FE9-3885-476B-AC9C-D5CB4E9E57B1}" type="datetimeFigureOut">
              <a:rPr lang="en-GB" smtClean="0"/>
              <a:t>17/09/2018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105479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8042FE9-3885-476B-AC9C-D5CB4E9E57B1}" type="datetimeFigureOut">
              <a:rPr lang="en-GB" smtClean="0"/>
              <a:t>17/09/2018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3891417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042FE9-3885-476B-AC9C-D5CB4E9E57B1}" type="datetimeFigureOut">
              <a:rPr lang="en-GB" smtClean="0"/>
              <a:t>17/09/2018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824111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042FE9-3885-476B-AC9C-D5CB4E9E57B1}" type="datetimeFigureOut">
              <a:rPr lang="en-GB" smtClean="0"/>
              <a:t>17/09/2018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3874511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8042FE9-3885-476B-AC9C-D5CB4E9E57B1}" type="datetimeFigureOut">
              <a:rPr lang="en-GB" smtClean="0"/>
              <a:t>17/09/2018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335832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042FE9-3885-476B-AC9C-D5CB4E9E57B1}" type="datetimeFigureOut">
              <a:rPr lang="en-GB" smtClean="0"/>
              <a:t>17/09/2018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894289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042FE9-3885-476B-AC9C-D5CB4E9E57B1}" type="datetimeFigureOut">
              <a:rPr lang="en-GB" smtClean="0"/>
              <a:t>17/09/2018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FFCACC-4908-4E73-8475-D43AEC61C4E7}"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10659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042FE9-3885-476B-AC9C-D5CB4E9E57B1}" type="datetimeFigureOut">
              <a:rPr lang="en-GB" smtClean="0"/>
              <a:t>17/09/2018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572447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042FE9-3885-476B-AC9C-D5CB4E9E57B1}" type="datetimeFigureOut">
              <a:rPr lang="en-GB" smtClean="0"/>
              <a:t>17/09/2018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FFCACC-4908-4E73-8475-D43AEC61C4E7}"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224938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8042FE9-3885-476B-AC9C-D5CB4E9E57B1}" type="datetimeFigureOut">
              <a:rPr lang="en-GB" smtClean="0"/>
              <a:t>17/09/2018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2658180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8042FE9-3885-476B-AC9C-D5CB4E9E57B1}" type="datetimeFigureOut">
              <a:rPr lang="en-GB" smtClean="0"/>
              <a:t>17/09/2018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23820277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8042FE9-3885-476B-AC9C-D5CB4E9E57B1}" type="datetimeFigureOut">
              <a:rPr lang="en-GB" smtClean="0"/>
              <a:t>17/09/2018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FFCACC-4908-4E73-8475-D43AEC61C4E7}" type="slidenum">
              <a:rPr lang="en-GB" smtClean="0"/>
              <a:t>‹#›</a:t>
            </a:fld>
            <a:endParaRPr lang="en-GB"/>
          </a:p>
        </p:txBody>
      </p:sp>
    </p:spTree>
    <p:extLst>
      <p:ext uri="{BB962C8B-B14F-4D97-AF65-F5344CB8AC3E}">
        <p14:creationId xmlns:p14="http://schemas.microsoft.com/office/powerpoint/2010/main" val="1720739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8042FE9-3885-476B-AC9C-D5CB4E9E57B1}" type="datetimeFigureOut">
              <a:rPr lang="en-GB" smtClean="0"/>
              <a:t>17/09/2018</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6FFCACC-4908-4E73-8475-D43AEC61C4E7}" type="slidenum">
              <a:rPr lang="en-GB" smtClean="0"/>
              <a:t>‹#›</a:t>
            </a:fld>
            <a:endParaRPr lang="en-GB"/>
          </a:p>
        </p:txBody>
      </p:sp>
    </p:spTree>
    <p:extLst>
      <p:ext uri="{BB962C8B-B14F-4D97-AF65-F5344CB8AC3E}">
        <p14:creationId xmlns:p14="http://schemas.microsoft.com/office/powerpoint/2010/main" val="437716027"/>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Nervous System Review</a:t>
            </a:r>
            <a:endParaRPr lang="en-GB" dirty="0"/>
          </a:p>
        </p:txBody>
      </p:sp>
      <p:sp>
        <p:nvSpPr>
          <p:cNvPr id="3" name="Subtitle 2"/>
          <p:cNvSpPr>
            <a:spLocks noGrp="1"/>
          </p:cNvSpPr>
          <p:nvPr>
            <p:ph type="subTitle" idx="1"/>
          </p:nvPr>
        </p:nvSpPr>
        <p:spPr/>
        <p:txBody>
          <a:bodyPr/>
          <a:lstStyle/>
          <a:p>
            <a:r>
              <a:rPr lang="en-AU" dirty="0" smtClean="0"/>
              <a:t>Chapters 3/4/5 </a:t>
            </a:r>
            <a:r>
              <a:rPr lang="en-AU" sz="500" dirty="0" smtClean="0"/>
              <a:t>and a dash of Chapter 6</a:t>
            </a:r>
            <a:endParaRPr lang="en-GB" sz="500" dirty="0"/>
          </a:p>
        </p:txBody>
      </p:sp>
    </p:spTree>
    <p:extLst>
      <p:ext uri="{BB962C8B-B14F-4D97-AF65-F5344CB8AC3E}">
        <p14:creationId xmlns:p14="http://schemas.microsoft.com/office/powerpoint/2010/main" val="3495844250"/>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Just as a note…</a:t>
            </a:r>
            <a:endParaRPr lang="en-GB" dirty="0"/>
          </a:p>
        </p:txBody>
      </p:sp>
      <p:sp>
        <p:nvSpPr>
          <p:cNvPr id="3" name="Content Placeholder 2"/>
          <p:cNvSpPr>
            <a:spLocks noGrp="1"/>
          </p:cNvSpPr>
          <p:nvPr>
            <p:ph idx="1"/>
          </p:nvPr>
        </p:nvSpPr>
        <p:spPr/>
        <p:txBody>
          <a:bodyPr/>
          <a:lstStyle/>
          <a:p>
            <a:pPr marL="0" indent="0">
              <a:buNone/>
            </a:pPr>
            <a:r>
              <a:rPr lang="en-AU" dirty="0" smtClean="0"/>
              <a:t>This slide show is exceedingly long, because most of the wording is from the text book, with a few fun moments thrown in by </a:t>
            </a:r>
            <a:r>
              <a:rPr lang="en-AU" dirty="0" err="1" smtClean="0"/>
              <a:t>moi</a:t>
            </a:r>
            <a:r>
              <a:rPr lang="en-AU" dirty="0" smtClean="0"/>
              <a:t>. Yet, in saying that, there are slides where it is solely the info from the syllabus and what is stressed in prior Power Points. </a:t>
            </a:r>
          </a:p>
          <a:p>
            <a:pPr marL="0" indent="0">
              <a:buNone/>
            </a:pPr>
            <a:r>
              <a:rPr lang="en-AU" dirty="0" smtClean="0"/>
              <a:t>These slides are as follows</a:t>
            </a:r>
            <a:r>
              <a:rPr lang="en-AU" dirty="0" smtClean="0"/>
              <a:t>: 4</a:t>
            </a:r>
            <a:r>
              <a:rPr lang="en-AU" dirty="0" smtClean="0"/>
              <a:t>, 6, 7, 10, 11, 16, 19-22, </a:t>
            </a:r>
            <a:r>
              <a:rPr lang="en-AU" dirty="0" smtClean="0"/>
              <a:t>24, 26 and 27</a:t>
            </a:r>
            <a:endParaRPr lang="en-GB" dirty="0"/>
          </a:p>
        </p:txBody>
      </p:sp>
    </p:spTree>
    <p:extLst>
      <p:ext uri="{BB962C8B-B14F-4D97-AF65-F5344CB8AC3E}">
        <p14:creationId xmlns:p14="http://schemas.microsoft.com/office/powerpoint/2010/main" val="3175213904"/>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Divisions of the Nervous System</a:t>
            </a:r>
            <a:endParaRPr lang="en-GB" dirty="0"/>
          </a:p>
        </p:txBody>
      </p:sp>
      <p:sp>
        <p:nvSpPr>
          <p:cNvPr id="3" name="Content Placeholder 2"/>
          <p:cNvSpPr>
            <a:spLocks noGrp="1"/>
          </p:cNvSpPr>
          <p:nvPr>
            <p:ph idx="1"/>
          </p:nvPr>
        </p:nvSpPr>
        <p:spPr/>
        <p:txBody>
          <a:bodyPr/>
          <a:lstStyle/>
          <a:p>
            <a:pPr marL="0" indent="0">
              <a:buNone/>
            </a:pPr>
            <a:r>
              <a:rPr lang="en-AU" dirty="0" smtClean="0"/>
              <a:t>Peripheral Nervous system – follows the afferent and efferent division.</a:t>
            </a:r>
          </a:p>
          <a:p>
            <a:pPr marL="0" indent="0">
              <a:buNone/>
            </a:pPr>
            <a:r>
              <a:rPr lang="en-AU" dirty="0" smtClean="0"/>
              <a:t>Afferent – Carries information </a:t>
            </a:r>
            <a:r>
              <a:rPr lang="en-AU" i="1" dirty="0" smtClean="0"/>
              <a:t>into</a:t>
            </a:r>
            <a:r>
              <a:rPr lang="en-AU" dirty="0" smtClean="0"/>
              <a:t> the CNS</a:t>
            </a:r>
          </a:p>
          <a:p>
            <a:pPr marL="0" indent="0">
              <a:buNone/>
            </a:pPr>
            <a:r>
              <a:rPr lang="en-AU" dirty="0" smtClean="0"/>
              <a:t>Efferent – Carries information </a:t>
            </a:r>
            <a:r>
              <a:rPr lang="en-AU" i="1" dirty="0" smtClean="0"/>
              <a:t>away</a:t>
            </a:r>
            <a:r>
              <a:rPr lang="en-AU" dirty="0" smtClean="0"/>
              <a:t> from the CNS. This system splits into 2 more divisions, the Somatic and Automatic divisions.</a:t>
            </a:r>
          </a:p>
          <a:p>
            <a:pPr marL="0" indent="0">
              <a:buNone/>
            </a:pPr>
            <a:r>
              <a:rPr lang="en-AU" dirty="0" smtClean="0"/>
              <a:t>Somatic – Carries messages to the skeletal muscles. All to do with voluntary movements of the body.</a:t>
            </a:r>
          </a:p>
          <a:p>
            <a:pPr marL="0" indent="0">
              <a:buNone/>
            </a:pPr>
            <a:r>
              <a:rPr lang="en-AU" dirty="0" smtClean="0"/>
              <a:t>Automatic – Carries messages to heart and involuntary muscles and glands. Controls mechanisms such as breathing, heart beat, metabolism, immune system etc. This division further divides into two more divisions: the </a:t>
            </a:r>
            <a:r>
              <a:rPr lang="en-AU" b="1" dirty="0" smtClean="0"/>
              <a:t>Sympathetic</a:t>
            </a:r>
            <a:r>
              <a:rPr lang="en-AU" dirty="0" smtClean="0"/>
              <a:t> and the </a:t>
            </a:r>
            <a:r>
              <a:rPr lang="en-AU" b="1" dirty="0" smtClean="0"/>
              <a:t>Parasympathetic</a:t>
            </a:r>
            <a:r>
              <a:rPr lang="en-AU" dirty="0" smtClean="0"/>
              <a:t>.</a:t>
            </a:r>
          </a:p>
          <a:p>
            <a:pPr marL="0" indent="0">
              <a:buNone/>
            </a:pPr>
            <a:endParaRPr lang="en-GB" dirty="0"/>
          </a:p>
        </p:txBody>
      </p:sp>
    </p:spTree>
    <p:extLst>
      <p:ext uri="{BB962C8B-B14F-4D97-AF65-F5344CB8AC3E}">
        <p14:creationId xmlns:p14="http://schemas.microsoft.com/office/powerpoint/2010/main" val="3094763709"/>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76614" y="350639"/>
            <a:ext cx="6951945" cy="6154640"/>
          </a:xfrm>
          <a:prstGeom prst="rect">
            <a:avLst/>
          </a:prstGeom>
        </p:spPr>
      </p:pic>
    </p:spTree>
    <p:extLst>
      <p:ext uri="{BB962C8B-B14F-4D97-AF65-F5344CB8AC3E}">
        <p14:creationId xmlns:p14="http://schemas.microsoft.com/office/powerpoint/2010/main" val="253734246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Sympathetic and Parasympathetic</a:t>
            </a:r>
            <a:endParaRPr lang="en-GB" dirty="0"/>
          </a:p>
        </p:txBody>
      </p:sp>
      <p:sp>
        <p:nvSpPr>
          <p:cNvPr id="3" name="Content Placeholder 2"/>
          <p:cNvSpPr>
            <a:spLocks noGrp="1"/>
          </p:cNvSpPr>
          <p:nvPr>
            <p:ph idx="1"/>
          </p:nvPr>
        </p:nvSpPr>
        <p:spPr>
          <a:xfrm>
            <a:off x="677334" y="2160589"/>
            <a:ext cx="9010676" cy="3880773"/>
          </a:xfrm>
        </p:spPr>
        <p:txBody>
          <a:bodyPr>
            <a:normAutofit fontScale="92500" lnSpcReduction="20000"/>
          </a:bodyPr>
          <a:lstStyle/>
          <a:p>
            <a:pPr marL="0" indent="0">
              <a:buNone/>
            </a:pPr>
            <a:r>
              <a:rPr lang="en-AU" dirty="0" smtClean="0"/>
              <a:t>The para/sympathetic divisions of the nervous systems work in tandem to keep the body in a stable state. An example of this is when we are in a resting state, where the heart is not over exercising. The inbuilt rate of heart contractions is 100 per min, where the parasympathetic reduces this to an acceptable 70-80 beat per minute.</a:t>
            </a:r>
          </a:p>
          <a:p>
            <a:pPr marL="0" indent="0">
              <a:buNone/>
            </a:pPr>
            <a:r>
              <a:rPr lang="en-AU" dirty="0" smtClean="0"/>
              <a:t> This is achieved by maintaining a constant balance with one another. Although, in saying this, if a conflict occurs where the balance between the two is upset, the sympathetic becomes dominant.</a:t>
            </a:r>
          </a:p>
          <a:p>
            <a:endParaRPr lang="en-AU" dirty="0"/>
          </a:p>
          <a:p>
            <a:r>
              <a:rPr lang="en-AU" dirty="0" smtClean="0"/>
              <a:t>Sympathetic: This system throws the body metabolism out of whack. During times of stress, anger, fear, danger or competition the </a:t>
            </a:r>
            <a:r>
              <a:rPr lang="en-AU" b="1" dirty="0" smtClean="0"/>
              <a:t>fight-or-flight response </a:t>
            </a:r>
            <a:r>
              <a:rPr lang="en-AU" dirty="0" smtClean="0"/>
              <a:t>is evoked. The neurotransmitters present here are </a:t>
            </a:r>
            <a:r>
              <a:rPr lang="en-AU" b="1" dirty="0"/>
              <a:t>A</a:t>
            </a:r>
            <a:r>
              <a:rPr lang="en-AU" b="1" dirty="0" smtClean="0"/>
              <a:t>drenaline</a:t>
            </a:r>
            <a:r>
              <a:rPr lang="en-AU" dirty="0" smtClean="0"/>
              <a:t> and </a:t>
            </a:r>
            <a:r>
              <a:rPr lang="en-AU" b="1" dirty="0" smtClean="0"/>
              <a:t>Acetylcholine</a:t>
            </a:r>
            <a:r>
              <a:rPr lang="en-AU" dirty="0" smtClean="0"/>
              <a:t>.</a:t>
            </a:r>
          </a:p>
          <a:p>
            <a:endParaRPr lang="en-AU" dirty="0"/>
          </a:p>
          <a:p>
            <a:r>
              <a:rPr lang="en-AU" dirty="0" smtClean="0"/>
              <a:t>Parasympathetic: The parasympathetic system reduces and minimises the rate of the heart. It comes into effect once the fight-or-flight response has worn off, where the metabolism is returned to normal. The neurotransmitter used here is </a:t>
            </a:r>
            <a:r>
              <a:rPr lang="en-AU" b="1" dirty="0" smtClean="0"/>
              <a:t>noradrenaline</a:t>
            </a:r>
            <a:r>
              <a:rPr lang="en-AU" dirty="0" smtClean="0"/>
              <a:t>.</a:t>
            </a:r>
            <a:endParaRPr lang="en-GB" dirty="0"/>
          </a:p>
        </p:txBody>
      </p:sp>
    </p:spTree>
    <p:extLst>
      <p:ext uri="{BB962C8B-B14F-4D97-AF65-F5344CB8AC3E}">
        <p14:creationId xmlns:p14="http://schemas.microsoft.com/office/powerpoint/2010/main" val="390693053"/>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All of what I just said above made so much </a:t>
            </a:r>
            <a:r>
              <a:rPr lang="en-AU" dirty="0" smtClean="0"/>
              <a:t>simpler</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86569499"/>
              </p:ext>
            </p:extLst>
          </p:nvPr>
        </p:nvGraphicFramePr>
        <p:xfrm>
          <a:off x="677863" y="2160588"/>
          <a:ext cx="8596311" cy="4251960"/>
        </p:xfrm>
        <a:graphic>
          <a:graphicData uri="http://schemas.openxmlformats.org/drawingml/2006/table">
            <a:tbl>
              <a:tblPr firstRow="1" bandRow="1">
                <a:tableStyleId>{5C22544A-7EE6-4342-B048-85BDC9FD1C3A}</a:tableStyleId>
              </a:tblPr>
              <a:tblGrid>
                <a:gridCol w="2865437"/>
                <a:gridCol w="2865437"/>
                <a:gridCol w="2865437"/>
              </a:tblGrid>
              <a:tr h="370840">
                <a:tc>
                  <a:txBody>
                    <a:bodyPr/>
                    <a:lstStyle/>
                    <a:p>
                      <a:r>
                        <a:rPr lang="en-AU" dirty="0" smtClean="0"/>
                        <a:t>Characteristic</a:t>
                      </a:r>
                      <a:endParaRPr lang="en-GB" dirty="0"/>
                    </a:p>
                  </a:txBody>
                  <a:tcPr/>
                </a:tc>
                <a:tc>
                  <a:txBody>
                    <a:bodyPr/>
                    <a:lstStyle/>
                    <a:p>
                      <a:r>
                        <a:rPr lang="en-AU" dirty="0" smtClean="0"/>
                        <a:t>Autonomic Division</a:t>
                      </a:r>
                      <a:endParaRPr lang="en-GB" dirty="0"/>
                    </a:p>
                  </a:txBody>
                  <a:tcPr/>
                </a:tc>
                <a:tc>
                  <a:txBody>
                    <a:bodyPr/>
                    <a:lstStyle/>
                    <a:p>
                      <a:r>
                        <a:rPr lang="en-AU" dirty="0" smtClean="0"/>
                        <a:t>Somatic Division</a:t>
                      </a:r>
                      <a:endParaRPr lang="en-GB" dirty="0"/>
                    </a:p>
                  </a:txBody>
                  <a:tcPr/>
                </a:tc>
              </a:tr>
              <a:tr h="370840">
                <a:tc>
                  <a:txBody>
                    <a:bodyPr/>
                    <a:lstStyle/>
                    <a:p>
                      <a:r>
                        <a:rPr lang="en-AU" sz="1600" dirty="0" smtClean="0"/>
                        <a:t>Effectors</a:t>
                      </a:r>
                      <a:endParaRPr lang="en-GB" sz="1600" dirty="0"/>
                    </a:p>
                  </a:txBody>
                  <a:tcPr anchor="ctr"/>
                </a:tc>
                <a:tc>
                  <a:txBody>
                    <a:bodyPr/>
                    <a:lstStyle/>
                    <a:p>
                      <a:r>
                        <a:rPr lang="en-AU" sz="1600" dirty="0" smtClean="0"/>
                        <a:t>Heart Muscle, involuntary</a:t>
                      </a:r>
                      <a:r>
                        <a:rPr lang="en-AU" sz="1600" baseline="0" dirty="0" smtClean="0"/>
                        <a:t> muscle, glands</a:t>
                      </a:r>
                      <a:endParaRPr lang="en-GB" sz="1600" dirty="0"/>
                    </a:p>
                  </a:txBody>
                  <a:tcPr anchor="ctr"/>
                </a:tc>
                <a:tc>
                  <a:txBody>
                    <a:bodyPr/>
                    <a:lstStyle/>
                    <a:p>
                      <a:r>
                        <a:rPr lang="en-AU" sz="1600" dirty="0" smtClean="0"/>
                        <a:t>Skeletal muscles (voluntary)</a:t>
                      </a:r>
                      <a:endParaRPr lang="en-GB" sz="1600" dirty="0"/>
                    </a:p>
                  </a:txBody>
                  <a:tcPr anchor="ctr"/>
                </a:tc>
              </a:tr>
              <a:tr h="370840">
                <a:tc>
                  <a:txBody>
                    <a:bodyPr/>
                    <a:lstStyle/>
                    <a:p>
                      <a:r>
                        <a:rPr lang="en-AU" sz="1600" dirty="0" smtClean="0"/>
                        <a:t>General function</a:t>
                      </a:r>
                      <a:endParaRPr lang="en-GB" sz="1600" dirty="0"/>
                    </a:p>
                  </a:txBody>
                  <a:tcPr anchor="ctr"/>
                </a:tc>
                <a:tc>
                  <a:txBody>
                    <a:bodyPr/>
                    <a:lstStyle/>
                    <a:p>
                      <a:r>
                        <a:rPr lang="en-AU" sz="1600" dirty="0" smtClean="0"/>
                        <a:t>Adjustment of internal environment (homeostasis)</a:t>
                      </a:r>
                      <a:endParaRPr lang="en-GB" sz="1600" dirty="0"/>
                    </a:p>
                  </a:txBody>
                  <a:tcPr anchor="ctr"/>
                </a:tc>
                <a:tc>
                  <a:txBody>
                    <a:bodyPr/>
                    <a:lstStyle/>
                    <a:p>
                      <a:r>
                        <a:rPr lang="en-AU" sz="1600" dirty="0" smtClean="0"/>
                        <a:t>Response to the external environment</a:t>
                      </a:r>
                      <a:endParaRPr lang="en-GB" sz="1600" dirty="0"/>
                    </a:p>
                  </a:txBody>
                  <a:tcPr anchor="ctr"/>
                </a:tc>
              </a:tr>
              <a:tr h="370840">
                <a:tc>
                  <a:txBody>
                    <a:bodyPr/>
                    <a:lstStyle/>
                    <a:p>
                      <a:r>
                        <a:rPr lang="en-AU" sz="1600" dirty="0" smtClean="0"/>
                        <a:t>Efferent Pathways</a:t>
                      </a:r>
                      <a:r>
                        <a:rPr lang="en-AU" sz="1600" baseline="0" dirty="0" smtClean="0"/>
                        <a:t> (outward)</a:t>
                      </a:r>
                      <a:endParaRPr lang="en-GB" sz="1600" dirty="0"/>
                    </a:p>
                  </a:txBody>
                  <a:tcPr anchor="ctr"/>
                </a:tc>
                <a:tc>
                  <a:txBody>
                    <a:bodyPr/>
                    <a:lstStyle/>
                    <a:p>
                      <a:r>
                        <a:rPr lang="en-AU" sz="1600" dirty="0" smtClean="0"/>
                        <a:t>Two nerve fibres from the CNS to the effector with a synapse in a ganglion</a:t>
                      </a:r>
                      <a:endParaRPr lang="en-GB" sz="1600" dirty="0"/>
                    </a:p>
                  </a:txBody>
                  <a:tcPr anchor="ctr"/>
                </a:tc>
                <a:tc>
                  <a:txBody>
                    <a:bodyPr/>
                    <a:lstStyle/>
                    <a:p>
                      <a:r>
                        <a:rPr lang="en-AU" sz="1600" dirty="0" smtClean="0"/>
                        <a:t>One nerve fibre</a:t>
                      </a:r>
                      <a:r>
                        <a:rPr lang="en-AU" sz="1600" baseline="0" dirty="0" smtClean="0"/>
                        <a:t> from the CNS to the effector; no synapse and no ganglion</a:t>
                      </a:r>
                      <a:endParaRPr lang="en-GB" sz="1600" dirty="0"/>
                    </a:p>
                  </a:txBody>
                  <a:tcPr anchor="ctr"/>
                </a:tc>
              </a:tr>
              <a:tr h="370840">
                <a:tc>
                  <a:txBody>
                    <a:bodyPr/>
                    <a:lstStyle/>
                    <a:p>
                      <a:r>
                        <a:rPr lang="en-AU" sz="1600" b="1" dirty="0" smtClean="0"/>
                        <a:t>Neurotransmitter</a:t>
                      </a:r>
                      <a:r>
                        <a:rPr lang="en-AU" sz="1600" dirty="0" smtClean="0"/>
                        <a:t> at effector</a:t>
                      </a:r>
                      <a:endParaRPr lang="en-GB" sz="1600" dirty="0"/>
                    </a:p>
                  </a:txBody>
                  <a:tcPr anchor="ctr"/>
                </a:tc>
                <a:tc>
                  <a:txBody>
                    <a:bodyPr/>
                    <a:lstStyle/>
                    <a:p>
                      <a:r>
                        <a:rPr lang="en-AU" sz="1600" dirty="0" smtClean="0"/>
                        <a:t>Acetylcholine and noradrenaline</a:t>
                      </a:r>
                      <a:endParaRPr lang="en-GB" sz="1600" dirty="0"/>
                    </a:p>
                  </a:txBody>
                  <a:tcPr anchor="ctr"/>
                </a:tc>
                <a:tc>
                  <a:txBody>
                    <a:bodyPr/>
                    <a:lstStyle/>
                    <a:p>
                      <a:r>
                        <a:rPr lang="en-AU" sz="1600" dirty="0" smtClean="0"/>
                        <a:t>Acetylcholine</a:t>
                      </a:r>
                      <a:endParaRPr lang="en-GB" sz="1600" dirty="0"/>
                    </a:p>
                  </a:txBody>
                  <a:tcPr anchor="ctr"/>
                </a:tc>
              </a:tr>
              <a:tr h="370840">
                <a:tc>
                  <a:txBody>
                    <a:bodyPr/>
                    <a:lstStyle/>
                    <a:p>
                      <a:r>
                        <a:rPr lang="en-AU" sz="1600" dirty="0" smtClean="0"/>
                        <a:t>Control</a:t>
                      </a:r>
                      <a:endParaRPr lang="en-GB" sz="1600" dirty="0"/>
                    </a:p>
                  </a:txBody>
                  <a:tcPr anchor="ctr"/>
                </a:tc>
                <a:tc>
                  <a:txBody>
                    <a:bodyPr/>
                    <a:lstStyle/>
                    <a:p>
                      <a:r>
                        <a:rPr lang="en-AU" sz="1600" dirty="0" smtClean="0"/>
                        <a:t>Usually involuntary</a:t>
                      </a:r>
                      <a:endParaRPr lang="en-GB" sz="1600" dirty="0"/>
                    </a:p>
                  </a:txBody>
                  <a:tcPr anchor="ctr"/>
                </a:tc>
                <a:tc>
                  <a:txBody>
                    <a:bodyPr/>
                    <a:lstStyle/>
                    <a:p>
                      <a:r>
                        <a:rPr lang="en-AU" sz="1600" dirty="0" smtClean="0"/>
                        <a:t>Usually voluntary</a:t>
                      </a:r>
                      <a:endParaRPr lang="en-GB" sz="1600" dirty="0"/>
                    </a:p>
                  </a:txBody>
                  <a:tcPr anchor="ctr"/>
                </a:tc>
              </a:tr>
              <a:tr h="370840">
                <a:tc>
                  <a:txBody>
                    <a:bodyPr/>
                    <a:lstStyle/>
                    <a:p>
                      <a:r>
                        <a:rPr lang="en-AU" sz="1600" dirty="0" smtClean="0"/>
                        <a:t>Nerves to target</a:t>
                      </a:r>
                      <a:r>
                        <a:rPr lang="en-AU" sz="1600" baseline="0" dirty="0" smtClean="0"/>
                        <a:t> organ</a:t>
                      </a:r>
                      <a:endParaRPr lang="en-GB" sz="1600" dirty="0"/>
                    </a:p>
                  </a:txBody>
                  <a:tcPr anchor="ctr"/>
                </a:tc>
                <a:tc>
                  <a:txBody>
                    <a:bodyPr/>
                    <a:lstStyle/>
                    <a:p>
                      <a:r>
                        <a:rPr lang="en-AU" sz="1600" dirty="0" smtClean="0"/>
                        <a:t>Two sets: Sympathetic</a:t>
                      </a:r>
                      <a:r>
                        <a:rPr lang="en-AU" sz="1600" baseline="0" dirty="0" smtClean="0"/>
                        <a:t> and parasympathetic</a:t>
                      </a:r>
                      <a:endParaRPr lang="en-GB" sz="1600" dirty="0"/>
                    </a:p>
                  </a:txBody>
                  <a:tcPr anchor="ctr"/>
                </a:tc>
                <a:tc>
                  <a:txBody>
                    <a:bodyPr/>
                    <a:lstStyle/>
                    <a:p>
                      <a:r>
                        <a:rPr lang="en-AU" sz="1600" dirty="0" smtClean="0"/>
                        <a:t>One set</a:t>
                      </a:r>
                      <a:endParaRPr lang="en-GB" sz="1600" dirty="0"/>
                    </a:p>
                  </a:txBody>
                  <a:tcPr anchor="ctr"/>
                </a:tc>
              </a:tr>
              <a:tr h="370840">
                <a:tc>
                  <a:txBody>
                    <a:bodyPr/>
                    <a:lstStyle/>
                    <a:p>
                      <a:r>
                        <a:rPr lang="en-AU" sz="1600" dirty="0" smtClean="0"/>
                        <a:t>Effect</a:t>
                      </a:r>
                      <a:r>
                        <a:rPr lang="en-AU" sz="1600" baseline="0" dirty="0" smtClean="0"/>
                        <a:t> on target organ</a:t>
                      </a:r>
                      <a:endParaRPr lang="en-GB" sz="1600" dirty="0"/>
                    </a:p>
                  </a:txBody>
                  <a:tcPr anchor="ctr"/>
                </a:tc>
                <a:tc>
                  <a:txBody>
                    <a:bodyPr/>
                    <a:lstStyle/>
                    <a:p>
                      <a:r>
                        <a:rPr lang="en-AU" sz="1600" dirty="0" smtClean="0"/>
                        <a:t>Excitation or </a:t>
                      </a:r>
                      <a:r>
                        <a:rPr lang="en-AU" sz="1600" dirty="0" err="1" smtClean="0"/>
                        <a:t>inhibtion</a:t>
                      </a:r>
                      <a:endParaRPr lang="en-GB" sz="1600" dirty="0"/>
                    </a:p>
                  </a:txBody>
                  <a:tcPr anchor="ctr"/>
                </a:tc>
                <a:tc>
                  <a:txBody>
                    <a:bodyPr/>
                    <a:lstStyle/>
                    <a:p>
                      <a:r>
                        <a:rPr lang="en-AU" sz="1600" dirty="0" smtClean="0"/>
                        <a:t>Excitation only</a:t>
                      </a:r>
                      <a:endParaRPr lang="en-GB" sz="1600" dirty="0"/>
                    </a:p>
                  </a:txBody>
                  <a:tcPr anchor="ctr"/>
                </a:tc>
              </a:tr>
            </a:tbl>
          </a:graphicData>
        </a:graphic>
      </p:graphicFrame>
    </p:spTree>
    <p:extLst>
      <p:ext uri="{BB962C8B-B14F-4D97-AF65-F5344CB8AC3E}">
        <p14:creationId xmlns:p14="http://schemas.microsoft.com/office/powerpoint/2010/main" val="386679515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All of what I just said above made so much simpler (continued)</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24670024"/>
              </p:ext>
            </p:extLst>
          </p:nvPr>
        </p:nvGraphicFramePr>
        <p:xfrm>
          <a:off x="677863" y="2160588"/>
          <a:ext cx="8596312" cy="3114040"/>
        </p:xfrm>
        <a:graphic>
          <a:graphicData uri="http://schemas.openxmlformats.org/drawingml/2006/table">
            <a:tbl>
              <a:tblPr firstRow="1" bandRow="1">
                <a:tableStyleId>{5C22544A-7EE6-4342-B048-85BDC9FD1C3A}</a:tableStyleId>
              </a:tblPr>
              <a:tblGrid>
                <a:gridCol w="4298156"/>
                <a:gridCol w="4298156"/>
              </a:tblGrid>
              <a:tr h="370840">
                <a:tc>
                  <a:txBody>
                    <a:bodyPr/>
                    <a:lstStyle/>
                    <a:p>
                      <a:pPr algn="ctr"/>
                      <a:r>
                        <a:rPr lang="en-AU" dirty="0" smtClean="0"/>
                        <a:t>Sympathetic</a:t>
                      </a:r>
                      <a:endParaRPr lang="en-GB" dirty="0"/>
                    </a:p>
                  </a:txBody>
                  <a:tcPr anchor="ctr"/>
                </a:tc>
                <a:tc>
                  <a:txBody>
                    <a:bodyPr/>
                    <a:lstStyle/>
                    <a:p>
                      <a:pPr algn="ctr"/>
                      <a:r>
                        <a:rPr lang="en-AU" dirty="0" err="1" smtClean="0"/>
                        <a:t>Parasympatheitc</a:t>
                      </a:r>
                      <a:endParaRPr lang="en-GB" dirty="0"/>
                    </a:p>
                  </a:txBody>
                  <a:tcPr anchor="ctr"/>
                </a:tc>
              </a:tr>
              <a:tr h="370840">
                <a:tc>
                  <a:txBody>
                    <a:bodyPr/>
                    <a:lstStyle/>
                    <a:p>
                      <a:pPr algn="ctr"/>
                      <a:r>
                        <a:rPr lang="en-AU" dirty="0" smtClean="0"/>
                        <a:t>Induces fight-or-flight during times of stress, anger, fear etc.</a:t>
                      </a:r>
                      <a:endParaRPr lang="en-GB" dirty="0"/>
                    </a:p>
                  </a:txBody>
                  <a:tcPr anchor="ctr"/>
                </a:tc>
                <a:tc>
                  <a:txBody>
                    <a:bodyPr/>
                    <a:lstStyle/>
                    <a:p>
                      <a:pPr algn="ctr"/>
                      <a:r>
                        <a:rPr lang="en-AU" dirty="0" smtClean="0"/>
                        <a:t>Comes into play after the fight-or-flight response has worn off and the initial situation has resolved</a:t>
                      </a:r>
                      <a:endParaRPr lang="en-GB" dirty="0"/>
                    </a:p>
                  </a:txBody>
                  <a:tcPr anchor="ctr"/>
                </a:tc>
              </a:tr>
              <a:tr h="370840">
                <a:tc>
                  <a:txBody>
                    <a:bodyPr/>
                    <a:lstStyle/>
                    <a:p>
                      <a:pPr algn="ctr"/>
                      <a:r>
                        <a:rPr lang="en-AU" dirty="0" smtClean="0"/>
                        <a:t>Throws the rhythm of metabolism out of whack,</a:t>
                      </a:r>
                      <a:r>
                        <a:rPr lang="en-AU" baseline="0" dirty="0" smtClean="0"/>
                        <a:t> increasing heart rate to roughly 100 or so beats per min and other reactions </a:t>
                      </a:r>
                      <a:r>
                        <a:rPr lang="en-AU" sz="800" baseline="0" dirty="0" smtClean="0"/>
                        <a:t>(mentioned in Abbey’s and </a:t>
                      </a:r>
                      <a:r>
                        <a:rPr lang="en-AU" sz="800" baseline="0" dirty="0" err="1" smtClean="0"/>
                        <a:t>Immelsha’s</a:t>
                      </a:r>
                      <a:r>
                        <a:rPr lang="en-AU" sz="800" baseline="0" dirty="0" smtClean="0"/>
                        <a:t> PowerPoint’s)</a:t>
                      </a:r>
                      <a:endParaRPr lang="en-GB" sz="800" dirty="0"/>
                    </a:p>
                  </a:txBody>
                  <a:tcPr anchor="ctr"/>
                </a:tc>
                <a:tc>
                  <a:txBody>
                    <a:bodyPr/>
                    <a:lstStyle/>
                    <a:p>
                      <a:pPr algn="ctr"/>
                      <a:r>
                        <a:rPr lang="en-AU" dirty="0" smtClean="0"/>
                        <a:t>Returns</a:t>
                      </a:r>
                      <a:r>
                        <a:rPr lang="en-AU" baseline="0" dirty="0" smtClean="0"/>
                        <a:t> the rhythm of metabolism back to normal, reducing heart rate back to the regular rate of around 70-80 beats per min</a:t>
                      </a:r>
                      <a:endParaRPr lang="en-GB" dirty="0"/>
                    </a:p>
                  </a:txBody>
                  <a:tcPr anchor="ctr"/>
                </a:tc>
              </a:tr>
              <a:tr h="370840">
                <a:tc>
                  <a:txBody>
                    <a:bodyPr/>
                    <a:lstStyle/>
                    <a:p>
                      <a:pPr algn="ctr"/>
                      <a:r>
                        <a:rPr lang="en-AU" dirty="0" smtClean="0"/>
                        <a:t>Neurotransmitter:</a:t>
                      </a:r>
                      <a:r>
                        <a:rPr lang="en-AU" baseline="0" dirty="0" smtClean="0"/>
                        <a:t> Adrenaline and Acetylcholine</a:t>
                      </a:r>
                      <a:endParaRPr lang="en-GB" dirty="0"/>
                    </a:p>
                  </a:txBody>
                  <a:tcPr anchor="ctr"/>
                </a:tc>
                <a:tc>
                  <a:txBody>
                    <a:bodyPr/>
                    <a:lstStyle/>
                    <a:p>
                      <a:pPr algn="ctr"/>
                      <a:r>
                        <a:rPr lang="en-AU" dirty="0" smtClean="0"/>
                        <a:t>Neurotransmitter: Noradrenaline</a:t>
                      </a:r>
                      <a:endParaRPr lang="en-GB" dirty="0"/>
                    </a:p>
                  </a:txBody>
                  <a:tcPr anchor="ctr"/>
                </a:tc>
              </a:tr>
            </a:tbl>
          </a:graphicData>
        </a:graphic>
      </p:graphicFrame>
    </p:spTree>
    <p:extLst>
      <p:ext uri="{BB962C8B-B14F-4D97-AF65-F5344CB8AC3E}">
        <p14:creationId xmlns:p14="http://schemas.microsoft.com/office/powerpoint/2010/main" val="599955798"/>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34314"/>
            <a:ext cx="8596668" cy="1320800"/>
          </a:xfrm>
        </p:spPr>
        <p:txBody>
          <a:bodyPr/>
          <a:lstStyle/>
          <a:p>
            <a:r>
              <a:rPr lang="en-AU" dirty="0" smtClean="0"/>
              <a:t>Neuron – Structure</a:t>
            </a:r>
            <a:endParaRPr lang="en-GB" dirty="0"/>
          </a:p>
        </p:txBody>
      </p:sp>
      <p:sp>
        <p:nvSpPr>
          <p:cNvPr id="3" name="Content Placeholder 2"/>
          <p:cNvSpPr>
            <a:spLocks noGrp="1"/>
          </p:cNvSpPr>
          <p:nvPr>
            <p:ph idx="1"/>
          </p:nvPr>
        </p:nvSpPr>
        <p:spPr>
          <a:xfrm>
            <a:off x="677334" y="3350562"/>
            <a:ext cx="8596668" cy="2899926"/>
          </a:xfrm>
        </p:spPr>
        <p:txBody>
          <a:bodyPr>
            <a:normAutofit/>
          </a:bodyPr>
          <a:lstStyle/>
          <a:p>
            <a:r>
              <a:rPr lang="en-AU" b="1" dirty="0" smtClean="0"/>
              <a:t>Cell Body</a:t>
            </a:r>
            <a:r>
              <a:rPr lang="en-AU" dirty="0" smtClean="0"/>
              <a:t> – the part of the neuron that contains the nucleus. Around the nucleus is cytoplasm containing the organelles found in most cells: mitochondria, endoplasmic reticulum, ribosomes and Golgi apparatus.</a:t>
            </a:r>
          </a:p>
          <a:p>
            <a:r>
              <a:rPr lang="en-AU" b="1" dirty="0" smtClean="0"/>
              <a:t>Dendrites</a:t>
            </a:r>
            <a:r>
              <a:rPr lang="en-AU" dirty="0" smtClean="0"/>
              <a:t> - usually fairly short extensions of the cytoplasm of the cell body. They are often highly branched and the carry </a:t>
            </a:r>
            <a:r>
              <a:rPr lang="en-AU" b="1" dirty="0" smtClean="0"/>
              <a:t>nerve impulses</a:t>
            </a:r>
            <a:r>
              <a:rPr lang="en-AU" dirty="0" smtClean="0"/>
              <a:t> into the cell body.</a:t>
            </a:r>
          </a:p>
          <a:p>
            <a:r>
              <a:rPr lang="en-AU" b="1" dirty="0" smtClean="0"/>
              <a:t>Axon</a:t>
            </a:r>
            <a:r>
              <a:rPr lang="en-AU" dirty="0" smtClean="0"/>
              <a:t> – Often a single long extension of the cytoplasm. It carries nerve impulses away from the cell body. Although longer than dendrites, the length of axons varies enormously.</a:t>
            </a:r>
            <a:endParaRPr lang="en-GB" dirty="0"/>
          </a:p>
        </p:txBody>
      </p:sp>
      <p:pic>
        <p:nvPicPr>
          <p:cNvPr id="4" name="Picture 3"/>
          <p:cNvPicPr>
            <a:picLocks noChangeAspect="1"/>
          </p:cNvPicPr>
          <p:nvPr/>
        </p:nvPicPr>
        <p:blipFill>
          <a:blip r:embed="rId2"/>
          <a:stretch>
            <a:fillRect/>
          </a:stretch>
        </p:blipFill>
        <p:spPr>
          <a:xfrm>
            <a:off x="6864263" y="145354"/>
            <a:ext cx="5177946" cy="3009900"/>
          </a:xfrm>
          <a:prstGeom prst="rect">
            <a:avLst/>
          </a:prstGeom>
        </p:spPr>
      </p:pic>
      <p:sp>
        <p:nvSpPr>
          <p:cNvPr id="5" name="TextBox 4"/>
          <p:cNvSpPr txBox="1"/>
          <p:nvPr/>
        </p:nvSpPr>
        <p:spPr>
          <a:xfrm>
            <a:off x="677334" y="2314183"/>
            <a:ext cx="6086721" cy="1200329"/>
          </a:xfrm>
          <a:prstGeom prst="rect">
            <a:avLst/>
          </a:prstGeom>
          <a:noFill/>
        </p:spPr>
        <p:txBody>
          <a:bodyPr wrap="square" rtlCol="0">
            <a:spAutoFit/>
          </a:bodyPr>
          <a:lstStyle/>
          <a:p>
            <a:r>
              <a:rPr lang="en-AU" dirty="0"/>
              <a:t>Nerves are constructed from a cell body and two different types of extension from the cell – the dendrites and the axon.</a:t>
            </a:r>
          </a:p>
          <a:p>
            <a:endParaRPr lang="en-GB" dirty="0"/>
          </a:p>
        </p:txBody>
      </p:sp>
    </p:spTree>
    <p:extLst>
      <p:ext uri="{BB962C8B-B14F-4D97-AF65-F5344CB8AC3E}">
        <p14:creationId xmlns:p14="http://schemas.microsoft.com/office/powerpoint/2010/main" val="2314126716"/>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Neurons – Structure (continued)</a:t>
            </a:r>
            <a:endParaRPr lang="en-GB" dirty="0"/>
          </a:p>
        </p:txBody>
      </p:sp>
      <p:sp>
        <p:nvSpPr>
          <p:cNvPr id="3" name="Content Placeholder 2"/>
          <p:cNvSpPr>
            <a:spLocks noGrp="1"/>
          </p:cNvSpPr>
          <p:nvPr>
            <p:ph idx="1"/>
          </p:nvPr>
        </p:nvSpPr>
        <p:spPr/>
        <p:txBody>
          <a:bodyPr>
            <a:normAutofit fontScale="92500" lnSpcReduction="10000"/>
          </a:bodyPr>
          <a:lstStyle/>
          <a:p>
            <a:pPr marL="0" indent="0">
              <a:buNone/>
            </a:pPr>
            <a:r>
              <a:rPr lang="en-AU" dirty="0" smtClean="0"/>
              <a:t>Most axons are covered with a fatty material called the </a:t>
            </a:r>
            <a:r>
              <a:rPr lang="en-AU" b="1" dirty="0" smtClean="0"/>
              <a:t>myelin sheath</a:t>
            </a:r>
            <a:r>
              <a:rPr lang="en-AU" dirty="0" smtClean="0"/>
              <a:t>. The neurons with this material over it are called </a:t>
            </a:r>
            <a:r>
              <a:rPr lang="en-AU" b="1" dirty="0" smtClean="0"/>
              <a:t>myelinated</a:t>
            </a:r>
            <a:r>
              <a:rPr lang="en-AU" dirty="0" smtClean="0"/>
              <a:t> while those without are called </a:t>
            </a:r>
            <a:r>
              <a:rPr lang="en-AU" b="1" dirty="0" smtClean="0"/>
              <a:t>Unmyelinated</a:t>
            </a:r>
            <a:r>
              <a:rPr lang="en-AU" dirty="0" smtClean="0"/>
              <a:t>.</a:t>
            </a:r>
          </a:p>
          <a:p>
            <a:r>
              <a:rPr lang="en-AU" dirty="0" smtClean="0"/>
              <a:t>Myelinated fibres are usually termed as </a:t>
            </a:r>
            <a:r>
              <a:rPr lang="en-AU" b="1" dirty="0" smtClean="0"/>
              <a:t>white matter</a:t>
            </a:r>
            <a:r>
              <a:rPr lang="en-AU" dirty="0" smtClean="0"/>
              <a:t> and have a special cell, the S</a:t>
            </a:r>
            <a:r>
              <a:rPr lang="en-AU" b="1" dirty="0" smtClean="0"/>
              <a:t>chwann cell</a:t>
            </a:r>
            <a:r>
              <a:rPr lang="en-AU" dirty="0" smtClean="0"/>
              <a:t>, which wraps around the axon and produces the myelin sheath.</a:t>
            </a:r>
          </a:p>
          <a:p>
            <a:r>
              <a:rPr lang="en-AU" dirty="0" smtClean="0"/>
              <a:t>In the myelin sheath there are, in regular intervals, gaps known as the </a:t>
            </a:r>
            <a:r>
              <a:rPr lang="en-AU" b="1" dirty="0" smtClean="0"/>
              <a:t>nodes of Ranvier</a:t>
            </a:r>
            <a:r>
              <a:rPr lang="en-AU" dirty="0" smtClean="0"/>
              <a:t>.</a:t>
            </a:r>
          </a:p>
          <a:p>
            <a:r>
              <a:rPr lang="en-AU" dirty="0" smtClean="0"/>
              <a:t>The sheath does three things of major importance: It acts as an insulator, protects the axon from damage and speeds up the movement of nerve impulses along the axon.</a:t>
            </a:r>
          </a:p>
          <a:p>
            <a:r>
              <a:rPr lang="en-AU" dirty="0" smtClean="0"/>
              <a:t>Around the myelin sheath the outermost coil of the Schwann cells forms a structure called the </a:t>
            </a:r>
            <a:r>
              <a:rPr lang="en-AU" b="1" dirty="0" smtClean="0"/>
              <a:t>neurilemma</a:t>
            </a:r>
            <a:r>
              <a:rPr lang="en-AU" dirty="0" smtClean="0"/>
              <a:t>, which helps in the repair of injured fibres</a:t>
            </a:r>
          </a:p>
          <a:p>
            <a:r>
              <a:rPr lang="en-AU" dirty="0" smtClean="0"/>
              <a:t>Unmyelinated fibres are termed as </a:t>
            </a:r>
            <a:r>
              <a:rPr lang="en-AU" b="1" dirty="0" smtClean="0"/>
              <a:t>grey matter</a:t>
            </a:r>
            <a:r>
              <a:rPr lang="en-AU" dirty="0" smtClean="0"/>
              <a:t>.</a:t>
            </a:r>
            <a:endParaRPr lang="en-GB" dirty="0"/>
          </a:p>
        </p:txBody>
      </p:sp>
    </p:spTree>
    <p:extLst>
      <p:ext uri="{BB962C8B-B14F-4D97-AF65-F5344CB8AC3E}">
        <p14:creationId xmlns:p14="http://schemas.microsoft.com/office/powerpoint/2010/main" val="2652933098"/>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Simplified</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73205948"/>
              </p:ext>
            </p:extLst>
          </p:nvPr>
        </p:nvGraphicFramePr>
        <p:xfrm>
          <a:off x="677690" y="1500831"/>
          <a:ext cx="8596312" cy="5130800"/>
        </p:xfrm>
        <a:graphic>
          <a:graphicData uri="http://schemas.openxmlformats.org/drawingml/2006/table">
            <a:tbl>
              <a:tblPr firstRow="1" bandRow="1">
                <a:tableStyleId>{5C22544A-7EE6-4342-B048-85BDC9FD1C3A}</a:tableStyleId>
              </a:tblPr>
              <a:tblGrid>
                <a:gridCol w="2435727"/>
                <a:gridCol w="6160585"/>
              </a:tblGrid>
              <a:tr h="370840">
                <a:tc>
                  <a:txBody>
                    <a:bodyPr/>
                    <a:lstStyle/>
                    <a:p>
                      <a:pPr algn="ctr"/>
                      <a:r>
                        <a:rPr lang="en-AU" dirty="0" smtClean="0"/>
                        <a:t>Names of Structure</a:t>
                      </a:r>
                      <a:endParaRPr lang="en-GB" dirty="0"/>
                    </a:p>
                  </a:txBody>
                  <a:tcPr/>
                </a:tc>
                <a:tc>
                  <a:txBody>
                    <a:bodyPr/>
                    <a:lstStyle/>
                    <a:p>
                      <a:pPr algn="ctr"/>
                      <a:r>
                        <a:rPr lang="en-AU" dirty="0" smtClean="0"/>
                        <a:t>What</a:t>
                      </a:r>
                      <a:r>
                        <a:rPr lang="en-AU" baseline="0" dirty="0" smtClean="0"/>
                        <a:t> it does/basic explanation</a:t>
                      </a:r>
                      <a:endParaRPr lang="en-GB" dirty="0"/>
                    </a:p>
                  </a:txBody>
                  <a:tcPr/>
                </a:tc>
              </a:tr>
              <a:tr h="370840">
                <a:tc>
                  <a:txBody>
                    <a:bodyPr/>
                    <a:lstStyle/>
                    <a:p>
                      <a:pPr algn="ctr"/>
                      <a:r>
                        <a:rPr lang="en-AU" dirty="0" smtClean="0"/>
                        <a:t>Cell body</a:t>
                      </a:r>
                      <a:endParaRPr lang="en-GB" dirty="0"/>
                    </a:p>
                  </a:txBody>
                  <a:tcPr anchor="ctr"/>
                </a:tc>
                <a:tc>
                  <a:txBody>
                    <a:bodyPr/>
                    <a:lstStyle/>
                    <a:p>
                      <a:pPr algn="ctr"/>
                      <a:r>
                        <a:rPr lang="en-AU" dirty="0" smtClean="0"/>
                        <a:t>Contains the nucleus</a:t>
                      </a:r>
                      <a:r>
                        <a:rPr lang="en-AU" baseline="0" dirty="0" smtClean="0"/>
                        <a:t> and acts as the control centre for the neuron</a:t>
                      </a:r>
                      <a:endParaRPr lang="en-GB" dirty="0"/>
                    </a:p>
                  </a:txBody>
                  <a:tcPr/>
                </a:tc>
              </a:tr>
              <a:tr h="370840">
                <a:tc>
                  <a:txBody>
                    <a:bodyPr/>
                    <a:lstStyle/>
                    <a:p>
                      <a:pPr algn="ctr"/>
                      <a:r>
                        <a:rPr lang="en-AU" dirty="0" smtClean="0"/>
                        <a:t>Dendrite</a:t>
                      </a:r>
                      <a:endParaRPr lang="en-GB" dirty="0"/>
                    </a:p>
                  </a:txBody>
                  <a:tcPr anchor="ctr"/>
                </a:tc>
                <a:tc>
                  <a:txBody>
                    <a:bodyPr/>
                    <a:lstStyle/>
                    <a:p>
                      <a:pPr algn="ctr"/>
                      <a:r>
                        <a:rPr lang="en-AU" dirty="0" smtClean="0"/>
                        <a:t>Fairly short extensions of the cytoplasm of the cell body. highly branched and the carry </a:t>
                      </a:r>
                      <a:r>
                        <a:rPr lang="en-AU" b="0" dirty="0" smtClean="0"/>
                        <a:t>nerve impulses </a:t>
                      </a:r>
                      <a:r>
                        <a:rPr lang="en-AU" dirty="0" smtClean="0"/>
                        <a:t>into the cell body</a:t>
                      </a:r>
                      <a:endParaRPr lang="en-GB" dirty="0"/>
                    </a:p>
                  </a:txBody>
                  <a:tcPr/>
                </a:tc>
              </a:tr>
              <a:tr h="370840">
                <a:tc>
                  <a:txBody>
                    <a:bodyPr/>
                    <a:lstStyle/>
                    <a:p>
                      <a:pPr algn="ctr"/>
                      <a:r>
                        <a:rPr lang="en-AU" dirty="0" smtClean="0"/>
                        <a:t>Axon</a:t>
                      </a:r>
                      <a:endParaRPr lang="en-GB" dirty="0"/>
                    </a:p>
                  </a:txBody>
                  <a:tcPr anchor="ctr"/>
                </a:tc>
                <a:tc>
                  <a:txBody>
                    <a:bodyPr/>
                    <a:lstStyle/>
                    <a:p>
                      <a:pPr algn="ctr"/>
                      <a:r>
                        <a:rPr lang="en-AU" dirty="0" smtClean="0"/>
                        <a:t>A long extension of the cytoplasm. It carries nerve impulses away from the cell body</a:t>
                      </a:r>
                      <a:endParaRPr lang="en-GB" dirty="0"/>
                    </a:p>
                  </a:txBody>
                  <a:tcPr/>
                </a:tc>
              </a:tr>
              <a:tr h="370840">
                <a:tc>
                  <a:txBody>
                    <a:bodyPr/>
                    <a:lstStyle/>
                    <a:p>
                      <a:pPr algn="ctr"/>
                      <a:r>
                        <a:rPr lang="en-AU" dirty="0" smtClean="0"/>
                        <a:t>Myelin sheath</a:t>
                      </a:r>
                      <a:endParaRPr lang="en-GB" dirty="0"/>
                    </a:p>
                  </a:txBody>
                  <a:tcPr anchor="ctr"/>
                </a:tc>
                <a:tc>
                  <a:txBody>
                    <a:bodyPr/>
                    <a:lstStyle/>
                    <a:p>
                      <a:pPr algn="ctr"/>
                      <a:r>
                        <a:rPr lang="en-AU" dirty="0" smtClean="0"/>
                        <a:t>A fatty material. It acts as an insulator, protects the axon from damage and speeds up the movement of nerve impulses along the axon</a:t>
                      </a:r>
                      <a:endParaRPr lang="en-GB" dirty="0"/>
                    </a:p>
                  </a:txBody>
                  <a:tcPr/>
                </a:tc>
              </a:tr>
              <a:tr h="370840">
                <a:tc>
                  <a:txBody>
                    <a:bodyPr/>
                    <a:lstStyle/>
                    <a:p>
                      <a:pPr algn="ctr"/>
                      <a:r>
                        <a:rPr lang="en-AU" dirty="0" smtClean="0"/>
                        <a:t>Schwann cells</a:t>
                      </a:r>
                      <a:endParaRPr lang="en-GB" dirty="0"/>
                    </a:p>
                  </a:txBody>
                  <a:tcPr anchor="ctr"/>
                </a:tc>
                <a:tc>
                  <a:txBody>
                    <a:bodyPr/>
                    <a:lstStyle/>
                    <a:p>
                      <a:pPr algn="ctr"/>
                      <a:r>
                        <a:rPr lang="en-AU" dirty="0" smtClean="0"/>
                        <a:t>Wraps around the axon and produces the myelin sheath</a:t>
                      </a:r>
                      <a:endParaRPr lang="en-GB" dirty="0"/>
                    </a:p>
                  </a:txBody>
                  <a:tcPr/>
                </a:tc>
              </a:tr>
              <a:tr h="370840">
                <a:tc>
                  <a:txBody>
                    <a:bodyPr/>
                    <a:lstStyle/>
                    <a:p>
                      <a:pPr algn="ctr"/>
                      <a:r>
                        <a:rPr lang="en-AU" dirty="0" smtClean="0"/>
                        <a:t>Nodes of Ranvier</a:t>
                      </a:r>
                      <a:endParaRPr lang="en-GB" dirty="0"/>
                    </a:p>
                  </a:txBody>
                  <a:tcPr anchor="ctr"/>
                </a:tc>
                <a:tc>
                  <a:txBody>
                    <a:bodyPr/>
                    <a:lstStyle/>
                    <a:p>
                      <a:pPr algn="ctr"/>
                      <a:r>
                        <a:rPr lang="en-AU" dirty="0" smtClean="0"/>
                        <a:t>Gaps in the myelin sheath,</a:t>
                      </a:r>
                      <a:r>
                        <a:rPr lang="en-AU" baseline="0" dirty="0" smtClean="0"/>
                        <a:t> which helps increase the speed of nerve impulses</a:t>
                      </a:r>
                      <a:endParaRPr lang="en-GB" dirty="0"/>
                    </a:p>
                  </a:txBody>
                  <a:tcPr/>
                </a:tc>
              </a:tr>
              <a:tr h="370840">
                <a:tc>
                  <a:txBody>
                    <a:bodyPr/>
                    <a:lstStyle/>
                    <a:p>
                      <a:pPr algn="ctr"/>
                      <a:r>
                        <a:rPr lang="en-AU" dirty="0" smtClean="0"/>
                        <a:t>Neurilemma</a:t>
                      </a:r>
                      <a:endParaRPr lang="en-GB" dirty="0"/>
                    </a:p>
                  </a:txBody>
                  <a:tcPr anchor="ctr"/>
                </a:tc>
                <a:tc>
                  <a:txBody>
                    <a:bodyPr/>
                    <a:lstStyle/>
                    <a:p>
                      <a:pPr algn="ctr"/>
                      <a:r>
                        <a:rPr lang="en-AU" dirty="0" smtClean="0"/>
                        <a:t>Located around the myelin sheath the outermost coil of the Schwann cells. It helps in the repairs of injured fibres</a:t>
                      </a:r>
                      <a:endParaRPr lang="en-GB" dirty="0"/>
                    </a:p>
                  </a:txBody>
                  <a:tcPr/>
                </a:tc>
              </a:tr>
            </a:tbl>
          </a:graphicData>
        </a:graphic>
      </p:graphicFrame>
    </p:spTree>
    <p:extLst>
      <p:ext uri="{BB962C8B-B14F-4D97-AF65-F5344CB8AC3E}">
        <p14:creationId xmlns:p14="http://schemas.microsoft.com/office/powerpoint/2010/main" val="37023520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32597"/>
          </a:xfrm>
        </p:spPr>
        <p:txBody>
          <a:bodyPr/>
          <a:lstStyle/>
          <a:p>
            <a:r>
              <a:rPr lang="en-AU" dirty="0"/>
              <a:t>Differing types of neurons</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20277296"/>
              </p:ext>
            </p:extLst>
          </p:nvPr>
        </p:nvGraphicFramePr>
        <p:xfrm>
          <a:off x="677863" y="2160588"/>
          <a:ext cx="8596312" cy="2839720"/>
        </p:xfrm>
        <a:graphic>
          <a:graphicData uri="http://schemas.openxmlformats.org/drawingml/2006/table">
            <a:tbl>
              <a:tblPr firstRow="1" bandRow="1">
                <a:tableStyleId>{5C22544A-7EE6-4342-B048-85BDC9FD1C3A}</a:tableStyleId>
              </a:tblPr>
              <a:tblGrid>
                <a:gridCol w="2665838"/>
                <a:gridCol w="5930474"/>
              </a:tblGrid>
              <a:tr h="370840">
                <a:tc>
                  <a:txBody>
                    <a:bodyPr/>
                    <a:lstStyle/>
                    <a:p>
                      <a:r>
                        <a:rPr lang="en-AU" dirty="0" smtClean="0"/>
                        <a:t>Neuron Type</a:t>
                      </a:r>
                      <a:endParaRPr lang="en-GB" dirty="0"/>
                    </a:p>
                  </a:txBody>
                  <a:tcPr/>
                </a:tc>
                <a:tc>
                  <a:txBody>
                    <a:bodyPr/>
                    <a:lstStyle/>
                    <a:p>
                      <a:r>
                        <a:rPr lang="en-AU" dirty="0" smtClean="0"/>
                        <a:t>What it does</a:t>
                      </a:r>
                      <a:endParaRPr lang="en-GB" dirty="0"/>
                    </a:p>
                  </a:txBody>
                  <a:tcPr/>
                </a:tc>
              </a:tr>
              <a:tr h="370840">
                <a:tc>
                  <a:txBody>
                    <a:bodyPr/>
                    <a:lstStyle/>
                    <a:p>
                      <a:pPr algn="ctr"/>
                      <a:r>
                        <a:rPr lang="en-AU" b="1" dirty="0" smtClean="0"/>
                        <a:t>Sensory</a:t>
                      </a:r>
                      <a:r>
                        <a:rPr lang="en-AU" dirty="0" smtClean="0"/>
                        <a:t> (receptor)</a:t>
                      </a:r>
                      <a:endParaRPr lang="en-GB" dirty="0"/>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AU" dirty="0" smtClean="0"/>
                        <a:t>Carry messages from receptors in sense organs, or in the skin, to the CNS (brain and spinal cord)</a:t>
                      </a:r>
                      <a:endParaRPr lang="en-GB" dirty="0" smtClean="0"/>
                    </a:p>
                  </a:txBody>
                  <a:tcPr anchor="ctr"/>
                </a:tc>
              </a:tr>
              <a:tr h="370840">
                <a:tc>
                  <a:txBody>
                    <a:bodyPr/>
                    <a:lstStyle/>
                    <a:p>
                      <a:pPr algn="ctr"/>
                      <a:r>
                        <a:rPr lang="en-AU" b="1" dirty="0" smtClean="0"/>
                        <a:t>Motor</a:t>
                      </a:r>
                      <a:r>
                        <a:rPr lang="en-AU" dirty="0" smtClean="0"/>
                        <a:t> (effector)</a:t>
                      </a:r>
                      <a:endParaRPr lang="en-GB" dirty="0"/>
                    </a:p>
                  </a:txBody>
                  <a:tcPr anchor="ctr"/>
                </a:tc>
                <a:tc>
                  <a:txBody>
                    <a:bodyPr/>
                    <a:lstStyle/>
                    <a:p>
                      <a:pPr algn="ctr"/>
                      <a:r>
                        <a:rPr lang="en-AU" dirty="0" smtClean="0"/>
                        <a:t>Carry messages from CNS to the muscles and glands – the effectors</a:t>
                      </a:r>
                      <a:endParaRPr lang="en-GB" dirty="0"/>
                    </a:p>
                  </a:txBody>
                  <a:tcPr anchor="ctr"/>
                </a:tc>
              </a:tr>
              <a:tr h="370840">
                <a:tc>
                  <a:txBody>
                    <a:bodyPr/>
                    <a:lstStyle/>
                    <a:p>
                      <a:pPr algn="ctr"/>
                      <a:r>
                        <a:rPr lang="en-AU" b="1" dirty="0" smtClean="0"/>
                        <a:t>Relay neuron</a:t>
                      </a:r>
                      <a:r>
                        <a:rPr lang="en-AU" baseline="0" dirty="0" smtClean="0"/>
                        <a:t> (</a:t>
                      </a:r>
                      <a:r>
                        <a:rPr lang="en-AU" b="1" baseline="0" dirty="0" smtClean="0"/>
                        <a:t>Interneuron</a:t>
                      </a:r>
                      <a:r>
                        <a:rPr lang="en-AU" baseline="0" dirty="0" smtClean="0"/>
                        <a:t>, connector neuron or association neuron)</a:t>
                      </a:r>
                      <a:endParaRPr lang="en-GB" dirty="0"/>
                    </a:p>
                  </a:txBody>
                  <a:tcPr anchor="ctr"/>
                </a:tc>
                <a:tc>
                  <a:txBody>
                    <a:bodyPr/>
                    <a:lstStyle/>
                    <a:p>
                      <a:pPr algn="ctr"/>
                      <a:r>
                        <a:rPr lang="en-AU" dirty="0" smtClean="0"/>
                        <a:t>Located in the CNS and are the link between sensory and motor neurons</a:t>
                      </a:r>
                      <a:endParaRPr lang="en-GB" dirty="0"/>
                    </a:p>
                  </a:txBody>
                  <a:tcPr anchor="ctr"/>
                </a:tc>
              </a:tr>
            </a:tbl>
          </a:graphicData>
        </a:graphic>
      </p:graphicFrame>
    </p:spTree>
    <p:extLst>
      <p:ext uri="{BB962C8B-B14F-4D97-AF65-F5344CB8AC3E}">
        <p14:creationId xmlns:p14="http://schemas.microsoft.com/office/powerpoint/2010/main" val="29547534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Action Potential</a:t>
            </a:r>
            <a:endParaRPr lang="en-GB" dirty="0"/>
          </a:p>
        </p:txBody>
      </p:sp>
      <p:sp>
        <p:nvSpPr>
          <p:cNvPr id="3" name="Content Placeholder 2"/>
          <p:cNvSpPr>
            <a:spLocks noGrp="1"/>
          </p:cNvSpPr>
          <p:nvPr>
            <p:ph idx="1"/>
          </p:nvPr>
        </p:nvSpPr>
        <p:spPr>
          <a:xfrm>
            <a:off x="677334" y="1450906"/>
            <a:ext cx="8596668" cy="3880773"/>
          </a:xfrm>
        </p:spPr>
        <p:txBody>
          <a:bodyPr/>
          <a:lstStyle/>
          <a:p>
            <a:pPr marL="0" indent="0">
              <a:buNone/>
            </a:pPr>
            <a:r>
              <a:rPr lang="en-AU" dirty="0" smtClean="0"/>
              <a:t>Action potential is the change in the balance of potassium and sodium ions in the neuron. This process begins when the membrane is stimulated from its resting point. (</a:t>
            </a:r>
            <a:r>
              <a:rPr lang="en-AU" b="1" dirty="0" smtClean="0"/>
              <a:t>resting membrane potential</a:t>
            </a:r>
            <a:r>
              <a:rPr lang="en-AU" dirty="0" smtClean="0"/>
              <a:t> – at around </a:t>
            </a:r>
            <a:r>
              <a:rPr lang="en-AU" b="1" dirty="0" smtClean="0"/>
              <a:t>-70mV</a:t>
            </a:r>
            <a:r>
              <a:rPr lang="en-AU" dirty="0" smtClean="0"/>
              <a:t>.*)</a:t>
            </a:r>
          </a:p>
          <a:p>
            <a:pPr marL="0" indent="0">
              <a:buNone/>
            </a:pPr>
            <a:r>
              <a:rPr lang="en-AU" dirty="0" smtClean="0"/>
              <a:t>The reason for this resting potential is the difference in distribution of potassium ions (K</a:t>
            </a:r>
            <a:r>
              <a:rPr lang="en-AU" baseline="30000" dirty="0" smtClean="0"/>
              <a:t>+</a:t>
            </a:r>
            <a:r>
              <a:rPr lang="en-AU" dirty="0" smtClean="0"/>
              <a:t>) and sodium ions (Na</a:t>
            </a:r>
            <a:r>
              <a:rPr lang="en-AU" baseline="30000" dirty="0" smtClean="0"/>
              <a:t>+</a:t>
            </a:r>
            <a:r>
              <a:rPr lang="en-AU" dirty="0" smtClean="0"/>
              <a:t>) on either side of the cell membrane. The concentration of sodium is about 10 times greater than inside the neuron and, interestingly enough, the concentration of potassium is around 30 times greater that outside the neuron.</a:t>
            </a:r>
          </a:p>
          <a:p>
            <a:pPr marL="0" indent="0">
              <a:buNone/>
            </a:pPr>
            <a:r>
              <a:rPr lang="en-AU" dirty="0" smtClean="0"/>
              <a:t>The cell membrane itself is highly permeable to potassium and chloride ions, while only slightly permeable to sodium ions and impermeable to the large negatively charged organic ions.</a:t>
            </a:r>
            <a:endParaRPr lang="en-GB" dirty="0"/>
          </a:p>
        </p:txBody>
      </p:sp>
    </p:spTree>
    <p:extLst>
      <p:ext uri="{BB962C8B-B14F-4D97-AF65-F5344CB8AC3E}">
        <p14:creationId xmlns:p14="http://schemas.microsoft.com/office/powerpoint/2010/main" val="40943675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Action Potential (continued)</a:t>
            </a:r>
            <a:endParaRPr lang="en-GB" dirty="0"/>
          </a:p>
        </p:txBody>
      </p:sp>
      <p:sp>
        <p:nvSpPr>
          <p:cNvPr id="3" name="Content Placeholder 2"/>
          <p:cNvSpPr>
            <a:spLocks noGrp="1"/>
          </p:cNvSpPr>
          <p:nvPr>
            <p:ph idx="1"/>
          </p:nvPr>
        </p:nvSpPr>
        <p:spPr/>
        <p:txBody>
          <a:bodyPr/>
          <a:lstStyle/>
          <a:p>
            <a:pPr marL="0" indent="0">
              <a:buNone/>
            </a:pPr>
            <a:r>
              <a:rPr lang="en-AU" dirty="0" smtClean="0"/>
              <a:t>There is a tendency for potassium ions to diffuse out of the cell, resulting in the inside of the cell to become electrically negative. The cell membrane maintains this potential difference in two ways. Firstly, it uses an action known as the </a:t>
            </a:r>
            <a:r>
              <a:rPr lang="en-AU" b="1" dirty="0" smtClean="0"/>
              <a:t>sodium-potassium pump</a:t>
            </a:r>
            <a:r>
              <a:rPr lang="en-AU" dirty="0" smtClean="0"/>
              <a:t> and it transports Na</a:t>
            </a:r>
            <a:r>
              <a:rPr lang="en-AU" baseline="30000" dirty="0" smtClean="0"/>
              <a:t>+</a:t>
            </a:r>
            <a:r>
              <a:rPr lang="en-AU" dirty="0" smtClean="0"/>
              <a:t> out of the cell and K</a:t>
            </a:r>
            <a:r>
              <a:rPr lang="en-AU" baseline="30000" dirty="0" smtClean="0"/>
              <a:t>+</a:t>
            </a:r>
            <a:r>
              <a:rPr lang="en-AU" dirty="0" smtClean="0"/>
              <a:t> in. </a:t>
            </a:r>
          </a:p>
          <a:p>
            <a:pPr marL="0" indent="0">
              <a:buNone/>
            </a:pPr>
            <a:r>
              <a:rPr lang="en-AU" dirty="0" smtClean="0"/>
              <a:t>Second, the cell membrane is not equally permeable to all ions and there are a large number of negatively charged ions trapped in the cell. Although both sodium and potassium ions are positive there is not enough potassium in the cell to counteract the effect of the large number of negative ions. This means the membrane is now maintained so the inside is negative in relation to the outside. This is a membrane that is </a:t>
            </a:r>
            <a:r>
              <a:rPr lang="en-AU" b="1" dirty="0" smtClean="0"/>
              <a:t>polarised</a:t>
            </a:r>
            <a:r>
              <a:rPr lang="en-AU" dirty="0" smtClean="0"/>
              <a:t>.</a:t>
            </a:r>
            <a:endParaRPr lang="en-GB" b="1" dirty="0"/>
          </a:p>
        </p:txBody>
      </p:sp>
    </p:spTree>
    <p:extLst>
      <p:ext uri="{BB962C8B-B14F-4D97-AF65-F5344CB8AC3E}">
        <p14:creationId xmlns:p14="http://schemas.microsoft.com/office/powerpoint/2010/main" val="398574936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Action Potential (still going…)</a:t>
            </a:r>
            <a:endParaRPr lang="en-GB" dirty="0"/>
          </a:p>
        </p:txBody>
      </p:sp>
      <p:sp>
        <p:nvSpPr>
          <p:cNvPr id="3" name="Content Placeholder 2"/>
          <p:cNvSpPr>
            <a:spLocks noGrp="1"/>
          </p:cNvSpPr>
          <p:nvPr>
            <p:ph idx="1"/>
          </p:nvPr>
        </p:nvSpPr>
        <p:spPr/>
        <p:txBody>
          <a:bodyPr/>
          <a:lstStyle/>
          <a:p>
            <a:pPr marL="0" indent="0">
              <a:buNone/>
            </a:pPr>
            <a:r>
              <a:rPr lang="en-AU" dirty="0" smtClean="0"/>
              <a:t>If a stimulus of sufficient strength is applied to a nerve fibre, its membrane  becomes more permeable to sodium ions. So sodium ions can now move through the membrane, causing the cell to become depolarised. Depolarisation only occurs if the stimulation exceeds a certain threshold. If it can make a change of about 15mV then the sodium ions move independently of the stimulus. This means the size of the response is not related to the strength of the stimulus, which is also known as an </a:t>
            </a:r>
            <a:r>
              <a:rPr lang="en-AU" b="1" dirty="0" smtClean="0"/>
              <a:t>all-or-none response</a:t>
            </a:r>
            <a:r>
              <a:rPr lang="en-AU" dirty="0" smtClean="0"/>
              <a:t>. </a:t>
            </a:r>
          </a:p>
          <a:p>
            <a:pPr marL="0" indent="0">
              <a:buNone/>
            </a:pPr>
            <a:r>
              <a:rPr lang="en-AU" dirty="0" smtClean="0"/>
              <a:t>Because of this movement of sodium ions, the original polarity of the cell rapidly becomes 0 while the inside changes in an opposite form (becomes positive). Almost as rapidly, the membrane is restored to its original condition. This rapid de/repolarisation of the membrane is called an </a:t>
            </a:r>
            <a:r>
              <a:rPr lang="en-AU" b="1" dirty="0" smtClean="0"/>
              <a:t>action potential</a:t>
            </a:r>
            <a:r>
              <a:rPr lang="en-AU" dirty="0"/>
              <a:t> </a:t>
            </a:r>
            <a:r>
              <a:rPr lang="en-AU" dirty="0" smtClean="0"/>
              <a:t>and involves a change in the membrane voltage lasting 1 millisecond.</a:t>
            </a:r>
            <a:endParaRPr lang="en-GB" dirty="0"/>
          </a:p>
        </p:txBody>
      </p:sp>
    </p:spTree>
    <p:extLst>
      <p:ext uri="{BB962C8B-B14F-4D97-AF65-F5344CB8AC3E}">
        <p14:creationId xmlns:p14="http://schemas.microsoft.com/office/powerpoint/2010/main" val="33800287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Action Potential (seriously, how long should this be?)</a:t>
            </a:r>
            <a:endParaRPr lang="en-GB" dirty="0"/>
          </a:p>
        </p:txBody>
      </p:sp>
      <p:sp>
        <p:nvSpPr>
          <p:cNvPr id="3" name="Content Placeholder 2"/>
          <p:cNvSpPr>
            <a:spLocks noGrp="1"/>
          </p:cNvSpPr>
          <p:nvPr>
            <p:ph idx="1"/>
          </p:nvPr>
        </p:nvSpPr>
        <p:spPr>
          <a:xfrm>
            <a:off x="677334" y="2160589"/>
            <a:ext cx="8596668" cy="1998051"/>
          </a:xfrm>
        </p:spPr>
        <p:txBody>
          <a:bodyPr/>
          <a:lstStyle/>
          <a:p>
            <a:pPr marL="0" indent="0">
              <a:buNone/>
            </a:pPr>
            <a:r>
              <a:rPr lang="en-AU" dirty="0" smtClean="0"/>
              <a:t>During an action potential, and for a brief period afterwards, that part of the nerve fibre cannot be stimulated to respond again. This is called the </a:t>
            </a:r>
            <a:r>
              <a:rPr lang="en-AU" b="1" dirty="0" smtClean="0"/>
              <a:t>refractory period</a:t>
            </a:r>
            <a:r>
              <a:rPr lang="en-AU" dirty="0" smtClean="0"/>
              <a:t>. This is an important part to the transmission of an impulse along a fibre.</a:t>
            </a:r>
          </a:p>
          <a:p>
            <a:pPr marL="0" indent="0">
              <a:buNone/>
            </a:pPr>
            <a:endParaRPr lang="en-AU" dirty="0"/>
          </a:p>
          <a:p>
            <a:pPr marL="0" indent="0">
              <a:buNone/>
            </a:pPr>
            <a:r>
              <a:rPr lang="en-AU" dirty="0" smtClean="0"/>
              <a:t>Important note: The nerve impulse is also known as an electrochemical change, as the impulse is brought around by chemical stimuli in the body.</a:t>
            </a:r>
            <a:endParaRPr lang="en-GB" dirty="0"/>
          </a:p>
        </p:txBody>
      </p:sp>
    </p:spTree>
    <p:extLst>
      <p:ext uri="{BB962C8B-B14F-4D97-AF65-F5344CB8AC3E}">
        <p14:creationId xmlns:p14="http://schemas.microsoft.com/office/powerpoint/2010/main" val="6099481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result for action potential"/>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2012" y="2519971"/>
            <a:ext cx="4391895" cy="338951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p:cNvGraphicFramePr>
            <a:graphicFrameLocks noGrp="1"/>
          </p:cNvGraphicFramePr>
          <p:nvPr>
            <p:extLst>
              <p:ext uri="{D42A27DB-BD31-4B8C-83A1-F6EECF244321}">
                <p14:modId xmlns:p14="http://schemas.microsoft.com/office/powerpoint/2010/main" val="1223068604"/>
              </p:ext>
            </p:extLst>
          </p:nvPr>
        </p:nvGraphicFramePr>
        <p:xfrm>
          <a:off x="4966269" y="199852"/>
          <a:ext cx="6484203" cy="5704840"/>
        </p:xfrm>
        <a:graphic>
          <a:graphicData uri="http://schemas.openxmlformats.org/drawingml/2006/table">
            <a:tbl>
              <a:tblPr firstRow="1" bandRow="1">
                <a:tableStyleId>{5C22544A-7EE6-4342-B048-85BDC9FD1C3A}</a:tableStyleId>
              </a:tblPr>
              <a:tblGrid>
                <a:gridCol w="2253397"/>
                <a:gridCol w="4230806"/>
              </a:tblGrid>
              <a:tr h="370840">
                <a:tc>
                  <a:txBody>
                    <a:bodyPr/>
                    <a:lstStyle/>
                    <a:p>
                      <a:r>
                        <a:rPr lang="en-AU" dirty="0" smtClean="0"/>
                        <a:t>Stage</a:t>
                      </a:r>
                      <a:r>
                        <a:rPr lang="en-AU" baseline="0" dirty="0" smtClean="0"/>
                        <a:t> / term</a:t>
                      </a:r>
                      <a:endParaRPr lang="en-GB" dirty="0"/>
                    </a:p>
                  </a:txBody>
                  <a:tcPr/>
                </a:tc>
                <a:tc>
                  <a:txBody>
                    <a:bodyPr/>
                    <a:lstStyle/>
                    <a:p>
                      <a:r>
                        <a:rPr lang="en-AU" dirty="0" smtClean="0"/>
                        <a:t>Key details</a:t>
                      </a:r>
                      <a:endParaRPr lang="en-GB" dirty="0"/>
                    </a:p>
                  </a:txBody>
                  <a:tcPr/>
                </a:tc>
              </a:tr>
              <a:tr h="370840">
                <a:tc>
                  <a:txBody>
                    <a:bodyPr/>
                    <a:lstStyle/>
                    <a:p>
                      <a:pPr algn="ctr"/>
                      <a:r>
                        <a:rPr lang="en-AU" sz="1400" dirty="0" smtClean="0"/>
                        <a:t>Resting potential</a:t>
                      </a:r>
                      <a:endParaRPr lang="en-GB" sz="1400" dirty="0"/>
                    </a:p>
                  </a:txBody>
                  <a:tcPr anchor="ctr"/>
                </a:tc>
                <a:tc>
                  <a:txBody>
                    <a:bodyPr/>
                    <a:lstStyle/>
                    <a:p>
                      <a:pPr algn="ctr"/>
                      <a:r>
                        <a:rPr lang="en-AU" sz="1400" dirty="0" smtClean="0"/>
                        <a:t>The membrane to the neuron is roughly</a:t>
                      </a:r>
                      <a:r>
                        <a:rPr lang="en-AU" sz="1400" baseline="0" dirty="0" smtClean="0"/>
                        <a:t> -70mV and is undisturbed</a:t>
                      </a:r>
                      <a:endParaRPr lang="en-GB" sz="1400" dirty="0"/>
                    </a:p>
                  </a:txBody>
                  <a:tcPr anchor="ctr"/>
                </a:tc>
              </a:tr>
              <a:tr h="370840">
                <a:tc>
                  <a:txBody>
                    <a:bodyPr/>
                    <a:lstStyle/>
                    <a:p>
                      <a:pPr algn="ctr"/>
                      <a:r>
                        <a:rPr lang="en-AU" sz="1400" dirty="0" smtClean="0"/>
                        <a:t>Threshold potential</a:t>
                      </a:r>
                      <a:endParaRPr lang="en-GB" sz="1400" dirty="0"/>
                    </a:p>
                  </a:txBody>
                  <a:tcPr anchor="ctr"/>
                </a:tc>
                <a:tc>
                  <a:txBody>
                    <a:bodyPr/>
                    <a:lstStyle/>
                    <a:p>
                      <a:pPr algn="ctr"/>
                      <a:r>
                        <a:rPr lang="en-AU" sz="1400" dirty="0" smtClean="0"/>
                        <a:t>The membrane has been stimulated to the point where it reaches a “minimum stimulation” where action potential</a:t>
                      </a:r>
                      <a:r>
                        <a:rPr lang="en-AU" sz="1400" baseline="0" dirty="0" smtClean="0"/>
                        <a:t> can now occur</a:t>
                      </a:r>
                      <a:endParaRPr lang="en-GB" sz="1400" dirty="0"/>
                    </a:p>
                  </a:txBody>
                  <a:tcPr anchor="ctr"/>
                </a:tc>
              </a:tr>
              <a:tr h="370840">
                <a:tc>
                  <a:txBody>
                    <a:bodyPr/>
                    <a:lstStyle/>
                    <a:p>
                      <a:pPr algn="ctr"/>
                      <a:r>
                        <a:rPr lang="en-AU" sz="1400" dirty="0" smtClean="0"/>
                        <a:t>Action potential</a:t>
                      </a:r>
                      <a:endParaRPr lang="en-GB" sz="1400" dirty="0"/>
                    </a:p>
                  </a:txBody>
                  <a:tcPr anchor="ctr"/>
                </a:tc>
                <a:tc>
                  <a:txBody>
                    <a:bodyPr/>
                    <a:lstStyle/>
                    <a:p>
                      <a:pPr algn="ctr"/>
                      <a:r>
                        <a:rPr lang="en-AU" sz="1400" dirty="0" smtClean="0"/>
                        <a:t>Where a membrane of the neuron rapidly de/repolarises,</a:t>
                      </a:r>
                      <a:r>
                        <a:rPr lang="en-AU" sz="1400" baseline="0" dirty="0" smtClean="0"/>
                        <a:t> transmitting a message across the nerve fibre</a:t>
                      </a:r>
                      <a:endParaRPr lang="en-GB" sz="1400" dirty="0"/>
                    </a:p>
                  </a:txBody>
                  <a:tcPr anchor="ctr"/>
                </a:tc>
              </a:tr>
              <a:tr h="370840">
                <a:tc>
                  <a:txBody>
                    <a:bodyPr/>
                    <a:lstStyle/>
                    <a:p>
                      <a:pPr algn="ctr"/>
                      <a:r>
                        <a:rPr lang="en-AU" sz="1400" dirty="0" smtClean="0"/>
                        <a:t>De/repolarise</a:t>
                      </a:r>
                      <a:endParaRPr lang="en-GB" sz="1400" dirty="0"/>
                    </a:p>
                  </a:txBody>
                  <a:tcPr anchor="ctr"/>
                </a:tc>
                <a:tc>
                  <a:txBody>
                    <a:bodyPr/>
                    <a:lstStyle/>
                    <a:p>
                      <a:pPr algn="ctr"/>
                      <a:r>
                        <a:rPr lang="en-AU" sz="1400" dirty="0" smtClean="0"/>
                        <a:t>Depolarisation is where the cell is where the inward movement of Na</a:t>
                      </a:r>
                      <a:r>
                        <a:rPr lang="en-AU" sz="1400" baseline="30000" dirty="0" smtClean="0"/>
                        <a:t>+</a:t>
                      </a:r>
                      <a:r>
                        <a:rPr lang="en-AU" sz="1400" baseline="0" dirty="0" smtClean="0"/>
                        <a:t> ions is too great for the outward flow of K</a:t>
                      </a:r>
                      <a:r>
                        <a:rPr lang="en-AU" sz="1400" baseline="30000" dirty="0" smtClean="0"/>
                        <a:t>+ </a:t>
                      </a:r>
                      <a:r>
                        <a:rPr lang="en-AU" sz="1400" baseline="0" dirty="0" smtClean="0"/>
                        <a:t>ions. Repolarisation is the opposite, except the K</a:t>
                      </a:r>
                      <a:r>
                        <a:rPr lang="en-AU" sz="1400" baseline="30000" dirty="0" smtClean="0"/>
                        <a:t>+</a:t>
                      </a:r>
                      <a:r>
                        <a:rPr lang="en-AU" sz="1400" baseline="0" dirty="0" smtClean="0"/>
                        <a:t> ions balance out with the outer Na</a:t>
                      </a:r>
                      <a:r>
                        <a:rPr lang="en-AU" sz="1400" baseline="30000" dirty="0" smtClean="0"/>
                        <a:t>+</a:t>
                      </a:r>
                      <a:r>
                        <a:rPr lang="en-AU" sz="1400" baseline="0" dirty="0" smtClean="0"/>
                        <a:t> ions</a:t>
                      </a:r>
                      <a:endParaRPr lang="en-GB" sz="1400" dirty="0"/>
                    </a:p>
                  </a:txBody>
                  <a:tcPr anchor="ctr"/>
                </a:tc>
              </a:tr>
              <a:tr h="370840">
                <a:tc>
                  <a:txBody>
                    <a:bodyPr/>
                    <a:lstStyle/>
                    <a:p>
                      <a:pPr algn="ctr"/>
                      <a:r>
                        <a:rPr lang="en-AU" sz="1400" dirty="0" smtClean="0"/>
                        <a:t>Refractory period</a:t>
                      </a:r>
                      <a:endParaRPr lang="en-GB" sz="1400" dirty="0"/>
                    </a:p>
                  </a:txBody>
                  <a:tcPr anchor="ctr"/>
                </a:tc>
                <a:tc>
                  <a:txBody>
                    <a:bodyPr/>
                    <a:lstStyle/>
                    <a:p>
                      <a:pPr algn="ctr"/>
                      <a:r>
                        <a:rPr lang="en-AU" sz="1400" dirty="0" smtClean="0"/>
                        <a:t>A brief</a:t>
                      </a:r>
                      <a:r>
                        <a:rPr lang="en-AU" sz="1400" baseline="0" dirty="0" smtClean="0"/>
                        <a:t> period of time during and after depolarisation of the membrane where it cannot be stimulated to respond again</a:t>
                      </a:r>
                      <a:endParaRPr lang="en-GB" sz="1400" dirty="0"/>
                    </a:p>
                  </a:txBody>
                  <a:tcPr anchor="ctr"/>
                </a:tc>
              </a:tr>
              <a:tr h="370840">
                <a:tc>
                  <a:txBody>
                    <a:bodyPr/>
                    <a:lstStyle/>
                    <a:p>
                      <a:pPr algn="ctr"/>
                      <a:r>
                        <a:rPr lang="en-AU" sz="1400" dirty="0" smtClean="0"/>
                        <a:t>Sodium-Potassium</a:t>
                      </a:r>
                      <a:r>
                        <a:rPr lang="en-AU" sz="1400" baseline="0" dirty="0" smtClean="0"/>
                        <a:t> pump</a:t>
                      </a:r>
                      <a:endParaRPr lang="en-GB" sz="1400" dirty="0"/>
                    </a:p>
                  </a:txBody>
                  <a:tcPr anchor="ctr"/>
                </a:tc>
                <a:tc>
                  <a:txBody>
                    <a:bodyPr/>
                    <a:lstStyle/>
                    <a:p>
                      <a:pPr algn="ctr"/>
                      <a:r>
                        <a:rPr lang="en-AU" sz="1400" dirty="0" smtClean="0"/>
                        <a:t>Actively moves ions across the membrane by transporting Na</a:t>
                      </a:r>
                      <a:r>
                        <a:rPr lang="en-AU" sz="1400" baseline="30000" dirty="0" smtClean="0"/>
                        <a:t>+</a:t>
                      </a:r>
                      <a:r>
                        <a:rPr lang="en-AU" sz="1400" dirty="0" smtClean="0"/>
                        <a:t> out of the cell and K</a:t>
                      </a:r>
                      <a:r>
                        <a:rPr lang="en-AU" sz="1400" baseline="30000" dirty="0" smtClean="0"/>
                        <a:t>+</a:t>
                      </a:r>
                      <a:r>
                        <a:rPr lang="en-AU" sz="1400" dirty="0" smtClean="0"/>
                        <a:t> in</a:t>
                      </a:r>
                      <a:endParaRPr lang="en-GB" sz="1400" dirty="0"/>
                    </a:p>
                  </a:txBody>
                  <a:tcPr anchor="ctr"/>
                </a:tc>
              </a:tr>
              <a:tr h="370840">
                <a:tc>
                  <a:txBody>
                    <a:bodyPr/>
                    <a:lstStyle/>
                    <a:p>
                      <a:pPr algn="ctr"/>
                      <a:r>
                        <a:rPr lang="en-AU" sz="1400" dirty="0" smtClean="0"/>
                        <a:t>Electrochemical</a:t>
                      </a:r>
                      <a:r>
                        <a:rPr lang="en-AU" sz="1400" baseline="0" dirty="0" smtClean="0"/>
                        <a:t> change</a:t>
                      </a:r>
                      <a:endParaRPr lang="en-GB" sz="1400" dirty="0"/>
                    </a:p>
                  </a:txBody>
                  <a:tcPr anchor="ctr"/>
                </a:tc>
                <a:tc>
                  <a:txBody>
                    <a:bodyPr/>
                    <a:lstStyle/>
                    <a:p>
                      <a:pPr algn="ctr"/>
                      <a:r>
                        <a:rPr lang="en-AU" sz="1400" dirty="0" smtClean="0"/>
                        <a:t>Another </a:t>
                      </a:r>
                      <a:r>
                        <a:rPr lang="en-AU" sz="1400" baseline="0" dirty="0" smtClean="0"/>
                        <a:t>name for a nerve impulse. A change occurs in the electrical voltage is brought around by the changes in concentrations of ions inside the cell</a:t>
                      </a:r>
                      <a:endParaRPr lang="en-GB" sz="1400" dirty="0"/>
                    </a:p>
                  </a:txBody>
                  <a:tcPr anchor="ctr"/>
                </a:tc>
              </a:tr>
            </a:tbl>
          </a:graphicData>
        </a:graphic>
      </p:graphicFrame>
      <p:sp>
        <p:nvSpPr>
          <p:cNvPr id="10" name="Title 1"/>
          <p:cNvSpPr>
            <a:spLocks noGrp="1"/>
          </p:cNvSpPr>
          <p:nvPr>
            <p:ph type="title"/>
          </p:nvPr>
        </p:nvSpPr>
        <p:spPr>
          <a:xfrm>
            <a:off x="232012" y="295701"/>
            <a:ext cx="4667534" cy="2051713"/>
          </a:xfrm>
        </p:spPr>
        <p:txBody>
          <a:bodyPr/>
          <a:lstStyle/>
          <a:p>
            <a:r>
              <a:rPr lang="en-AU" dirty="0" smtClean="0"/>
              <a:t>Action Potential (finally, the end)</a:t>
            </a:r>
            <a:endParaRPr lang="en-GB" dirty="0"/>
          </a:p>
        </p:txBody>
      </p:sp>
    </p:spTree>
    <p:extLst>
      <p:ext uri="{BB962C8B-B14F-4D97-AF65-F5344CB8AC3E}">
        <p14:creationId xmlns:p14="http://schemas.microsoft.com/office/powerpoint/2010/main" val="29607129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CNS and the brain</a:t>
            </a:r>
            <a:endParaRPr lang="en-GB" dirty="0"/>
          </a:p>
        </p:txBody>
      </p:sp>
      <p:pic>
        <p:nvPicPr>
          <p:cNvPr id="1026" name="Picture 2" descr="Image result for functional areas of the cerebral corte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88490" y="346553"/>
            <a:ext cx="3595881" cy="38814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37995" y="1402915"/>
            <a:ext cx="7690980" cy="923330"/>
          </a:xfrm>
          <a:prstGeom prst="rect">
            <a:avLst/>
          </a:prstGeom>
          <a:noFill/>
        </p:spPr>
        <p:txBody>
          <a:bodyPr wrap="square" rtlCol="0">
            <a:spAutoFit/>
          </a:bodyPr>
          <a:lstStyle/>
          <a:p>
            <a:r>
              <a:rPr lang="en-AU" dirty="0" smtClean="0"/>
              <a:t>The CNS is comprised of the Brain and the Spinal Cord*. These two, being the main control for the body, have protective structures in place, which are as follows:</a:t>
            </a:r>
          </a:p>
        </p:txBody>
      </p:sp>
      <p:sp>
        <p:nvSpPr>
          <p:cNvPr id="6" name="TextBox 5"/>
          <p:cNvSpPr txBox="1"/>
          <p:nvPr/>
        </p:nvSpPr>
        <p:spPr>
          <a:xfrm>
            <a:off x="221673" y="2287271"/>
            <a:ext cx="7716982" cy="923330"/>
          </a:xfrm>
          <a:prstGeom prst="rect">
            <a:avLst/>
          </a:prstGeom>
          <a:noFill/>
        </p:spPr>
        <p:txBody>
          <a:bodyPr wrap="square" rtlCol="0">
            <a:spAutoFit/>
          </a:bodyPr>
          <a:lstStyle/>
          <a:p>
            <a:pPr marL="285750" indent="-285750">
              <a:buFont typeface="Arial" panose="020B0604020202020204" pitchFamily="34" charset="0"/>
              <a:buChar char="•"/>
            </a:pPr>
            <a:r>
              <a:rPr lang="en-AU" b="1" dirty="0" smtClean="0"/>
              <a:t>Bone</a:t>
            </a:r>
          </a:p>
          <a:p>
            <a:pPr marL="285750" indent="-285750">
              <a:buFont typeface="Arial" panose="020B0604020202020204" pitchFamily="34" charset="0"/>
              <a:buChar char="•"/>
            </a:pPr>
            <a:r>
              <a:rPr lang="en-AU" dirty="0" smtClean="0"/>
              <a:t>Membranes known as </a:t>
            </a:r>
            <a:r>
              <a:rPr lang="en-AU" b="1" dirty="0" smtClean="0"/>
              <a:t>meninges</a:t>
            </a:r>
          </a:p>
          <a:p>
            <a:pPr marL="285750" indent="-285750">
              <a:buFont typeface="Arial" panose="020B0604020202020204" pitchFamily="34" charset="0"/>
              <a:buChar char="•"/>
            </a:pPr>
            <a:r>
              <a:rPr lang="en-AU" dirty="0" smtClean="0"/>
              <a:t>A fluid called the </a:t>
            </a:r>
            <a:r>
              <a:rPr lang="en-AU" b="1" dirty="0" smtClean="0"/>
              <a:t>cerebrospinal fluid </a:t>
            </a:r>
            <a:r>
              <a:rPr lang="en-AU" dirty="0" smtClean="0"/>
              <a:t>(</a:t>
            </a:r>
            <a:r>
              <a:rPr lang="en-AU" b="1" dirty="0" smtClean="0"/>
              <a:t>CSF</a:t>
            </a:r>
            <a:r>
              <a:rPr lang="en-AU" dirty="0" smtClean="0"/>
              <a:t>)</a:t>
            </a:r>
            <a:endParaRPr lang="en-GB" dirty="0"/>
          </a:p>
        </p:txBody>
      </p:sp>
      <p:sp>
        <p:nvSpPr>
          <p:cNvPr id="7" name="TextBox 6"/>
          <p:cNvSpPr txBox="1"/>
          <p:nvPr/>
        </p:nvSpPr>
        <p:spPr>
          <a:xfrm>
            <a:off x="457200" y="3567472"/>
            <a:ext cx="7481455" cy="923330"/>
          </a:xfrm>
          <a:prstGeom prst="rect">
            <a:avLst/>
          </a:prstGeom>
          <a:noFill/>
        </p:spPr>
        <p:txBody>
          <a:bodyPr wrap="square" rtlCol="0">
            <a:spAutoFit/>
          </a:bodyPr>
          <a:lstStyle/>
          <a:p>
            <a:r>
              <a:rPr lang="en-AU" dirty="0" smtClean="0"/>
              <a:t>Bone is the outermost layer of protection. The brain is protected by the cranium of the skull and the spinal cord runs down through an opening in the vertebrae known as the vertebral canal.</a:t>
            </a:r>
          </a:p>
        </p:txBody>
      </p:sp>
      <p:sp>
        <p:nvSpPr>
          <p:cNvPr id="8" name="TextBox 7"/>
          <p:cNvSpPr txBox="1"/>
          <p:nvPr/>
        </p:nvSpPr>
        <p:spPr>
          <a:xfrm>
            <a:off x="457200" y="4679657"/>
            <a:ext cx="10751127" cy="1754326"/>
          </a:xfrm>
          <a:prstGeom prst="rect">
            <a:avLst/>
          </a:prstGeom>
          <a:noFill/>
        </p:spPr>
        <p:txBody>
          <a:bodyPr wrap="square" rtlCol="0">
            <a:spAutoFit/>
          </a:bodyPr>
          <a:lstStyle/>
          <a:p>
            <a:r>
              <a:rPr lang="en-AU" dirty="0"/>
              <a:t>Inside the bones, and covering the surface of the brain and spinal cord, are three layers of connective tissue forming the meninges. They cover the whole CNS. The outer later of the meninges is tough and fibrous. It sticks closely to the bones of the skull, but not so much on the vertebral canal</a:t>
            </a:r>
            <a:r>
              <a:rPr lang="en-AU" dirty="0" smtClean="0"/>
              <a:t>. The middle layer is a loose mesh of fibres, while the inner layer is far more delicate. It contains many blood vessels and sticks closely to the surface of the brain and the spinal cord.</a:t>
            </a:r>
            <a:endParaRPr lang="en-GB" dirty="0"/>
          </a:p>
          <a:p>
            <a:endParaRPr lang="en-GB" dirty="0"/>
          </a:p>
        </p:txBody>
      </p:sp>
      <p:sp>
        <p:nvSpPr>
          <p:cNvPr id="9" name="TextBox 8"/>
          <p:cNvSpPr txBox="1"/>
          <p:nvPr/>
        </p:nvSpPr>
        <p:spPr>
          <a:xfrm>
            <a:off x="9047018" y="5962320"/>
            <a:ext cx="2737353" cy="923330"/>
          </a:xfrm>
          <a:prstGeom prst="rect">
            <a:avLst/>
          </a:prstGeom>
          <a:noFill/>
        </p:spPr>
        <p:txBody>
          <a:bodyPr wrap="square" rtlCol="0">
            <a:spAutoFit/>
          </a:bodyPr>
          <a:lstStyle/>
          <a:p>
            <a:r>
              <a:rPr lang="en-AU" dirty="0" smtClean="0"/>
              <a:t>Brain and spinal cord will be done in a separate table</a:t>
            </a:r>
            <a:endParaRPr lang="en-GB" dirty="0"/>
          </a:p>
        </p:txBody>
      </p:sp>
      <p:sp>
        <p:nvSpPr>
          <p:cNvPr id="10" name="TextBox 9"/>
          <p:cNvSpPr txBox="1"/>
          <p:nvPr/>
        </p:nvSpPr>
        <p:spPr>
          <a:xfrm>
            <a:off x="8929254" y="5962320"/>
            <a:ext cx="235527" cy="369332"/>
          </a:xfrm>
          <a:prstGeom prst="rect">
            <a:avLst/>
          </a:prstGeom>
          <a:noFill/>
        </p:spPr>
        <p:txBody>
          <a:bodyPr wrap="square" rtlCol="0">
            <a:spAutoFit/>
          </a:bodyPr>
          <a:lstStyle/>
          <a:p>
            <a:r>
              <a:rPr lang="en-AU" dirty="0" smtClean="0"/>
              <a:t>*</a:t>
            </a:r>
            <a:endParaRPr lang="en-GB" dirty="0"/>
          </a:p>
        </p:txBody>
      </p:sp>
    </p:spTree>
    <p:extLst>
      <p:ext uri="{BB962C8B-B14F-4D97-AF65-F5344CB8AC3E}">
        <p14:creationId xmlns:p14="http://schemas.microsoft.com/office/powerpoint/2010/main" val="159673479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CSF – cerebrospinal fluid</a:t>
            </a:r>
            <a:endParaRPr lang="en-GB" dirty="0"/>
          </a:p>
        </p:txBody>
      </p:sp>
      <p:sp>
        <p:nvSpPr>
          <p:cNvPr id="3" name="Content Placeholder 2"/>
          <p:cNvSpPr>
            <a:spLocks noGrp="1"/>
          </p:cNvSpPr>
          <p:nvPr>
            <p:ph idx="1"/>
          </p:nvPr>
        </p:nvSpPr>
        <p:spPr/>
        <p:txBody>
          <a:bodyPr/>
          <a:lstStyle/>
          <a:p>
            <a:pPr marL="0" indent="0">
              <a:buNone/>
            </a:pPr>
            <a:r>
              <a:rPr lang="en-AU" dirty="0" smtClean="0"/>
              <a:t>The third protective structure occupies a space between the middle and inner layers of the meninges. It also circulates through the cavities in the brain and through a canal in the centre of the spinal cord. CSF is a clear watery fluid containing few cells and some glucose, protein, urea and salts. The protective role of the CSF is to act as a shock absorber, cushioning any blows or shocks the CNS may sustain. </a:t>
            </a:r>
          </a:p>
          <a:p>
            <a:pPr marL="0" indent="0">
              <a:buNone/>
            </a:pPr>
            <a:r>
              <a:rPr lang="en-AU" dirty="0" smtClean="0"/>
              <a:t>The CSF also supports the brain. The brain is suspended in the cranium and floats in the fluids that surrounds it. The CSF is formed from blood and it circulates around and through the CNS, eventually re-entering the blood capillaries. During the circulation it takes nutrients to the cells of the brain and spinal cord and carries away their waste. Therefore, the CNS has 3 functions: protect, support, transport.</a:t>
            </a:r>
            <a:endParaRPr lang="en-GB" dirty="0"/>
          </a:p>
        </p:txBody>
      </p:sp>
    </p:spTree>
    <p:extLst>
      <p:ext uri="{BB962C8B-B14F-4D97-AF65-F5344CB8AC3E}">
        <p14:creationId xmlns:p14="http://schemas.microsoft.com/office/powerpoint/2010/main" val="2218733493"/>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CNS and protection made simple</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45523867"/>
              </p:ext>
            </p:extLst>
          </p:nvPr>
        </p:nvGraphicFramePr>
        <p:xfrm>
          <a:off x="677334" y="1675679"/>
          <a:ext cx="8596312" cy="4759960"/>
        </p:xfrm>
        <a:graphic>
          <a:graphicData uri="http://schemas.openxmlformats.org/drawingml/2006/table">
            <a:tbl>
              <a:tblPr firstRow="1" bandRow="1">
                <a:tableStyleId>{5C22544A-7EE6-4342-B048-85BDC9FD1C3A}</a:tableStyleId>
              </a:tblPr>
              <a:tblGrid>
                <a:gridCol w="4298156"/>
                <a:gridCol w="4298156"/>
              </a:tblGrid>
              <a:tr h="370840">
                <a:tc>
                  <a:txBody>
                    <a:bodyPr/>
                    <a:lstStyle/>
                    <a:p>
                      <a:r>
                        <a:rPr lang="en-AU" dirty="0" smtClean="0"/>
                        <a:t>Protective structure</a:t>
                      </a:r>
                      <a:endParaRPr lang="en-GB" dirty="0"/>
                    </a:p>
                  </a:txBody>
                  <a:tcPr/>
                </a:tc>
                <a:tc>
                  <a:txBody>
                    <a:bodyPr/>
                    <a:lstStyle/>
                    <a:p>
                      <a:r>
                        <a:rPr lang="en-AU" dirty="0" smtClean="0"/>
                        <a:t>How it fulfils its role</a:t>
                      </a:r>
                      <a:endParaRPr lang="en-GB" dirty="0"/>
                    </a:p>
                  </a:txBody>
                  <a:tcPr/>
                </a:tc>
              </a:tr>
              <a:tr h="370840">
                <a:tc>
                  <a:txBody>
                    <a:bodyPr/>
                    <a:lstStyle/>
                    <a:p>
                      <a:pPr algn="ctr"/>
                      <a:r>
                        <a:rPr lang="en-AU" dirty="0" smtClean="0"/>
                        <a:t>Bone</a:t>
                      </a:r>
                      <a:endParaRPr lang="en-GB" dirty="0"/>
                    </a:p>
                  </a:txBody>
                  <a:tcPr anchor="ctr"/>
                </a:tc>
                <a:tc>
                  <a:txBody>
                    <a:bodyPr/>
                    <a:lstStyle/>
                    <a:p>
                      <a:pPr algn="l"/>
                      <a:r>
                        <a:rPr lang="en-AU" dirty="0" smtClean="0"/>
                        <a:t>Bone forms a hard protective casing,</a:t>
                      </a:r>
                      <a:r>
                        <a:rPr lang="en-AU" baseline="0" dirty="0" smtClean="0"/>
                        <a:t> where the brain is “safely” stored</a:t>
                      </a:r>
                      <a:r>
                        <a:rPr lang="en-AU" dirty="0" smtClean="0"/>
                        <a:t> </a:t>
                      </a:r>
                      <a:endParaRPr lang="en-GB" dirty="0"/>
                    </a:p>
                  </a:txBody>
                  <a:tcPr anchor="ctr"/>
                </a:tc>
              </a:tr>
              <a:tr h="370840">
                <a:tc>
                  <a:txBody>
                    <a:bodyPr/>
                    <a:lstStyle/>
                    <a:p>
                      <a:pPr algn="ctr"/>
                      <a:r>
                        <a:rPr lang="en-AU" dirty="0" smtClean="0"/>
                        <a:t>Meninges</a:t>
                      </a:r>
                      <a:endParaRPr lang="en-GB" dirty="0"/>
                    </a:p>
                  </a:txBody>
                  <a:tcPr anchor="ctr"/>
                </a:tc>
                <a:tc>
                  <a:txBody>
                    <a:bodyPr/>
                    <a:lstStyle/>
                    <a:p>
                      <a:pPr algn="l"/>
                      <a:r>
                        <a:rPr lang="en-AU" dirty="0" smtClean="0"/>
                        <a:t>Comprised of three</a:t>
                      </a:r>
                      <a:r>
                        <a:rPr lang="en-AU" baseline="0" dirty="0" smtClean="0"/>
                        <a:t> layers inside of the bone to the brain/spinal cord. The outer layer of this membrane is hard and fibrous. 2</a:t>
                      </a:r>
                      <a:r>
                        <a:rPr lang="en-AU" baseline="30000" dirty="0" smtClean="0"/>
                        <a:t>nd</a:t>
                      </a:r>
                      <a:r>
                        <a:rPr lang="en-AU" baseline="0" dirty="0" smtClean="0"/>
                        <a:t> layer is more like a loose mesh of fibres and the third layer is much more delicate, containing many blood vessels.</a:t>
                      </a:r>
                      <a:endParaRPr lang="en-GB" dirty="0"/>
                    </a:p>
                  </a:txBody>
                  <a:tcPr anchor="ctr"/>
                </a:tc>
              </a:tr>
              <a:tr h="370840">
                <a:tc>
                  <a:txBody>
                    <a:bodyPr/>
                    <a:lstStyle/>
                    <a:p>
                      <a:pPr algn="ctr"/>
                      <a:r>
                        <a:rPr lang="en-AU" dirty="0" smtClean="0"/>
                        <a:t>CSF</a:t>
                      </a:r>
                      <a:endParaRPr lang="en-GB" dirty="0"/>
                    </a:p>
                  </a:txBody>
                  <a:tcPr anchor="ctr"/>
                </a:tc>
                <a:tc>
                  <a:txBody>
                    <a:bodyPr/>
                    <a:lstStyle/>
                    <a:p>
                      <a:pPr algn="l"/>
                      <a:r>
                        <a:rPr lang="en-AU" dirty="0" smtClean="0"/>
                        <a:t>A</a:t>
                      </a:r>
                      <a:r>
                        <a:rPr lang="en-AU" baseline="0" dirty="0" smtClean="0"/>
                        <a:t> clear, watery fluid that occupies the space between the 2</a:t>
                      </a:r>
                      <a:r>
                        <a:rPr lang="en-AU" baseline="30000" dirty="0" smtClean="0"/>
                        <a:t>nd</a:t>
                      </a:r>
                      <a:r>
                        <a:rPr lang="en-AU" baseline="0" dirty="0" smtClean="0"/>
                        <a:t> and 3</a:t>
                      </a:r>
                      <a:r>
                        <a:rPr lang="en-AU" baseline="30000" dirty="0" smtClean="0"/>
                        <a:t>rd</a:t>
                      </a:r>
                      <a:r>
                        <a:rPr lang="en-AU" baseline="0" dirty="0" smtClean="0"/>
                        <a:t> layers of the meninges. It acts as a shock absorber, supportive fluid and a transport service for nutrients (unlike </a:t>
                      </a:r>
                      <a:r>
                        <a:rPr lang="en-AU" baseline="0" dirty="0" err="1" smtClean="0"/>
                        <a:t>uber</a:t>
                      </a:r>
                      <a:r>
                        <a:rPr lang="en-AU" baseline="0" dirty="0" smtClean="0"/>
                        <a:t> eats)</a:t>
                      </a:r>
                      <a:endParaRPr lang="en-GB" dirty="0"/>
                    </a:p>
                  </a:txBody>
                  <a:tcPr anchor="ctr"/>
                </a:tc>
              </a:tr>
            </a:tbl>
          </a:graphicData>
        </a:graphic>
      </p:graphicFrame>
    </p:spTree>
    <p:extLst>
      <p:ext uri="{BB962C8B-B14F-4D97-AF65-F5344CB8AC3E}">
        <p14:creationId xmlns:p14="http://schemas.microsoft.com/office/powerpoint/2010/main" val="1601564704"/>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Brains features</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91290342"/>
              </p:ext>
            </p:extLst>
          </p:nvPr>
        </p:nvGraphicFramePr>
        <p:xfrm>
          <a:off x="677690" y="1616890"/>
          <a:ext cx="8596312" cy="4394200"/>
        </p:xfrm>
        <a:graphic>
          <a:graphicData uri="http://schemas.openxmlformats.org/drawingml/2006/table">
            <a:tbl>
              <a:tblPr firstRow="1" bandRow="1">
                <a:tableStyleId>{5C22544A-7EE6-4342-B048-85BDC9FD1C3A}</a:tableStyleId>
              </a:tblPr>
              <a:tblGrid>
                <a:gridCol w="1557337"/>
                <a:gridCol w="7038975"/>
              </a:tblGrid>
              <a:tr h="370840">
                <a:tc>
                  <a:txBody>
                    <a:bodyPr/>
                    <a:lstStyle/>
                    <a:p>
                      <a:r>
                        <a:rPr lang="en-AU" dirty="0" smtClean="0"/>
                        <a:t>Area</a:t>
                      </a:r>
                      <a:endParaRPr lang="en-GB" dirty="0"/>
                    </a:p>
                  </a:txBody>
                  <a:tcPr/>
                </a:tc>
                <a:tc>
                  <a:txBody>
                    <a:bodyPr/>
                    <a:lstStyle/>
                    <a:p>
                      <a:r>
                        <a:rPr lang="en-AU" dirty="0" smtClean="0"/>
                        <a:t>Features</a:t>
                      </a:r>
                      <a:endParaRPr lang="en-GB" dirty="0"/>
                    </a:p>
                  </a:txBody>
                  <a:tcPr/>
                </a:tc>
              </a:tr>
              <a:tr h="370840">
                <a:tc>
                  <a:txBody>
                    <a:bodyPr/>
                    <a:lstStyle/>
                    <a:p>
                      <a:pPr algn="ctr"/>
                      <a:r>
                        <a:rPr lang="en-AU" b="1" dirty="0" smtClean="0"/>
                        <a:t>Cerebrum</a:t>
                      </a:r>
                      <a:endParaRPr lang="en-GB" b="1" dirty="0"/>
                    </a:p>
                  </a:txBody>
                  <a:tcPr anchor="ctr"/>
                </a:tc>
                <a:tc>
                  <a:txBody>
                    <a:bodyPr/>
                    <a:lstStyle/>
                    <a:p>
                      <a:pPr algn="l"/>
                      <a:r>
                        <a:rPr lang="en-AU" dirty="0" smtClean="0"/>
                        <a:t>Composed of grey matter 2-4mm thick (</a:t>
                      </a:r>
                      <a:r>
                        <a:rPr lang="en-AU" b="1" dirty="0" smtClean="0"/>
                        <a:t>cerebral cortex</a:t>
                      </a:r>
                      <a:r>
                        <a:rPr lang="en-AU" dirty="0" smtClean="0"/>
                        <a:t>) deep inside is the </a:t>
                      </a:r>
                      <a:r>
                        <a:rPr lang="en-AU" b="1" dirty="0" smtClean="0"/>
                        <a:t>basal</a:t>
                      </a:r>
                      <a:r>
                        <a:rPr lang="en-AU" b="1" baseline="0" dirty="0" smtClean="0"/>
                        <a:t> ganglia</a:t>
                      </a:r>
                      <a:endParaRPr lang="en-GB" b="1" dirty="0"/>
                    </a:p>
                  </a:txBody>
                  <a:tcPr anchor="ctr"/>
                </a:tc>
              </a:tr>
              <a:tr h="370840">
                <a:tc>
                  <a:txBody>
                    <a:bodyPr/>
                    <a:lstStyle/>
                    <a:p>
                      <a:pPr algn="ctr"/>
                      <a:r>
                        <a:rPr lang="en-AU" b="1" dirty="0" smtClean="0"/>
                        <a:t>Cerebral</a:t>
                      </a:r>
                      <a:r>
                        <a:rPr lang="en-AU" b="1" baseline="0" dirty="0" smtClean="0"/>
                        <a:t> Cortex</a:t>
                      </a:r>
                      <a:endParaRPr lang="en-GB" b="1" dirty="0"/>
                    </a:p>
                  </a:txBody>
                  <a:tcPr anchor="ctr"/>
                </a:tc>
                <a:tc>
                  <a:txBody>
                    <a:bodyPr/>
                    <a:lstStyle/>
                    <a:p>
                      <a:r>
                        <a:rPr lang="en-AU" dirty="0" smtClean="0"/>
                        <a:t>Folded</a:t>
                      </a:r>
                      <a:r>
                        <a:rPr lang="en-AU" baseline="0" dirty="0" smtClean="0"/>
                        <a:t> patterns that greatly increase its surface area. This creates </a:t>
                      </a:r>
                      <a:r>
                        <a:rPr lang="en-AU" b="1" baseline="0" dirty="0" smtClean="0"/>
                        <a:t>convolutions</a:t>
                      </a:r>
                      <a:r>
                        <a:rPr lang="en-AU" baseline="0" dirty="0" smtClean="0"/>
                        <a:t> (or </a:t>
                      </a:r>
                      <a:r>
                        <a:rPr lang="en-AU" b="1" baseline="0" dirty="0" err="1" smtClean="0"/>
                        <a:t>gyri</a:t>
                      </a:r>
                      <a:r>
                        <a:rPr lang="en-AU" baseline="0" dirty="0" smtClean="0"/>
                        <a:t>; singular </a:t>
                      </a:r>
                      <a:r>
                        <a:rPr lang="en-AU" b="1" baseline="0" dirty="0" err="1" smtClean="0"/>
                        <a:t>gyrus</a:t>
                      </a:r>
                      <a:r>
                        <a:rPr lang="en-AU" baseline="0" dirty="0" smtClean="0"/>
                        <a:t>) Convolutions separated by either </a:t>
                      </a:r>
                      <a:r>
                        <a:rPr lang="en-AU" b="1" baseline="0" dirty="0" smtClean="0"/>
                        <a:t>Sulci</a:t>
                      </a:r>
                      <a:r>
                        <a:rPr lang="en-AU" baseline="0" dirty="0" smtClean="0"/>
                        <a:t> (or ‘sulcus’) or </a:t>
                      </a:r>
                      <a:r>
                        <a:rPr lang="en-AU" b="1" baseline="0" dirty="0" smtClean="0"/>
                        <a:t>Fissures</a:t>
                      </a:r>
                      <a:endParaRPr lang="en-GB" b="1" dirty="0"/>
                    </a:p>
                  </a:txBody>
                  <a:tcPr/>
                </a:tc>
              </a:tr>
              <a:tr h="370840">
                <a:tc>
                  <a:txBody>
                    <a:bodyPr/>
                    <a:lstStyle/>
                    <a:p>
                      <a:pPr algn="ctr"/>
                      <a:r>
                        <a:rPr lang="en-AU" b="1" dirty="0" smtClean="0"/>
                        <a:t>Longitudinal fissure</a:t>
                      </a:r>
                      <a:endParaRPr lang="en-GB" b="1" dirty="0"/>
                    </a:p>
                  </a:txBody>
                  <a:tcPr anchor="ctr"/>
                </a:tc>
                <a:tc>
                  <a:txBody>
                    <a:bodyPr/>
                    <a:lstStyle/>
                    <a:p>
                      <a:r>
                        <a:rPr lang="en-AU" dirty="0" smtClean="0"/>
                        <a:t>Deepest fissure, almost separating the</a:t>
                      </a:r>
                      <a:r>
                        <a:rPr lang="en-AU" baseline="0" dirty="0" smtClean="0"/>
                        <a:t> cerebrum in two halves – the left and right </a:t>
                      </a:r>
                      <a:r>
                        <a:rPr lang="en-AU" b="1" baseline="0" dirty="0" smtClean="0"/>
                        <a:t>cerebral hemispheres</a:t>
                      </a:r>
                      <a:r>
                        <a:rPr lang="en-AU" b="0" baseline="0" dirty="0" smtClean="0"/>
                        <a:t>.</a:t>
                      </a:r>
                      <a:endParaRPr lang="en-GB" dirty="0"/>
                    </a:p>
                  </a:txBody>
                  <a:tcPr/>
                </a:tc>
              </a:tr>
              <a:tr h="370840">
                <a:tc>
                  <a:txBody>
                    <a:bodyPr/>
                    <a:lstStyle/>
                    <a:p>
                      <a:pPr algn="ctr"/>
                      <a:r>
                        <a:rPr lang="en-AU" b="1" dirty="0" smtClean="0"/>
                        <a:t>Corpus Callosum</a:t>
                      </a:r>
                      <a:endParaRPr lang="en-GB" b="1" dirty="0"/>
                    </a:p>
                  </a:txBody>
                  <a:tcPr anchor="ctr"/>
                </a:tc>
                <a:tc>
                  <a:txBody>
                    <a:bodyPr/>
                    <a:lstStyle/>
                    <a:p>
                      <a:r>
                        <a:rPr lang="en-AU" dirty="0" smtClean="0"/>
                        <a:t>Joins the two cerebral hemispheres. Is a large bundle of transverse fibres located</a:t>
                      </a:r>
                      <a:r>
                        <a:rPr lang="en-AU" baseline="0" dirty="0" smtClean="0"/>
                        <a:t> in white matter at the bottom of the longitudinal fissure.</a:t>
                      </a:r>
                      <a:endParaRPr lang="en-GB" dirty="0"/>
                    </a:p>
                  </a:txBody>
                  <a:tcPr/>
                </a:tc>
              </a:tr>
              <a:tr h="370840">
                <a:tc>
                  <a:txBody>
                    <a:bodyPr/>
                    <a:lstStyle/>
                    <a:p>
                      <a:pPr algn="ctr"/>
                      <a:r>
                        <a:rPr lang="en-AU" b="1" dirty="0" smtClean="0"/>
                        <a:t>Sulci</a:t>
                      </a:r>
                      <a:endParaRPr lang="en-GB" b="1" dirty="0"/>
                    </a:p>
                  </a:txBody>
                  <a:tcPr anchor="ctr"/>
                </a:tc>
                <a:tc>
                  <a:txBody>
                    <a:bodyPr/>
                    <a:lstStyle/>
                    <a:p>
                      <a:r>
                        <a:rPr lang="en-AU" dirty="0" smtClean="0"/>
                        <a:t>Further</a:t>
                      </a:r>
                      <a:r>
                        <a:rPr lang="en-AU" baseline="0" dirty="0" smtClean="0"/>
                        <a:t> divides the cerebral hemispheres into the four Lobes – </a:t>
                      </a:r>
                      <a:r>
                        <a:rPr lang="en-AU" b="1" baseline="0" dirty="0" smtClean="0"/>
                        <a:t>frontal</a:t>
                      </a:r>
                      <a:r>
                        <a:rPr lang="en-AU" baseline="0" dirty="0" smtClean="0"/>
                        <a:t>, </a:t>
                      </a:r>
                      <a:r>
                        <a:rPr lang="en-AU" b="1" baseline="0" dirty="0" smtClean="0"/>
                        <a:t>temporal</a:t>
                      </a:r>
                      <a:r>
                        <a:rPr lang="en-AU" baseline="0" dirty="0" smtClean="0"/>
                        <a:t>, </a:t>
                      </a:r>
                      <a:r>
                        <a:rPr lang="en-AU" b="1" baseline="0" dirty="0" smtClean="0"/>
                        <a:t>occipital</a:t>
                      </a:r>
                      <a:r>
                        <a:rPr lang="en-AU" baseline="0" dirty="0" smtClean="0"/>
                        <a:t> and </a:t>
                      </a:r>
                      <a:r>
                        <a:rPr lang="en-AU" b="1" baseline="0" dirty="0" smtClean="0"/>
                        <a:t>parietal</a:t>
                      </a:r>
                      <a:r>
                        <a:rPr lang="en-AU" baseline="0" dirty="0" smtClean="0"/>
                        <a:t>. The </a:t>
                      </a:r>
                      <a:r>
                        <a:rPr lang="en-AU" b="1" baseline="0" dirty="0" smtClean="0"/>
                        <a:t>insula</a:t>
                      </a:r>
                      <a:r>
                        <a:rPr lang="en-AU" baseline="0" dirty="0" smtClean="0"/>
                        <a:t> can also be considered the fifth lobe.</a:t>
                      </a:r>
                      <a:endParaRPr lang="en-GB" dirty="0"/>
                    </a:p>
                  </a:txBody>
                  <a:tcPr/>
                </a:tc>
              </a:tr>
            </a:tbl>
          </a:graphicData>
        </a:graphic>
      </p:graphicFrame>
    </p:spTree>
    <p:extLst>
      <p:ext uri="{BB962C8B-B14F-4D97-AF65-F5344CB8AC3E}">
        <p14:creationId xmlns:p14="http://schemas.microsoft.com/office/powerpoint/2010/main" val="149511498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Brains features</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59878885"/>
              </p:ext>
            </p:extLst>
          </p:nvPr>
        </p:nvGraphicFramePr>
        <p:xfrm>
          <a:off x="677863" y="2030902"/>
          <a:ext cx="8596312" cy="3855720"/>
        </p:xfrm>
        <a:graphic>
          <a:graphicData uri="http://schemas.openxmlformats.org/drawingml/2006/table">
            <a:tbl>
              <a:tblPr firstRow="1" bandRow="1">
                <a:tableStyleId>{5C22544A-7EE6-4342-B048-85BDC9FD1C3A}</a:tableStyleId>
              </a:tblPr>
              <a:tblGrid>
                <a:gridCol w="2065337"/>
                <a:gridCol w="6530975"/>
              </a:tblGrid>
              <a:tr h="370840">
                <a:tc>
                  <a:txBody>
                    <a:bodyPr/>
                    <a:lstStyle/>
                    <a:p>
                      <a:r>
                        <a:rPr lang="en-AU" dirty="0" smtClean="0"/>
                        <a:t>Area</a:t>
                      </a:r>
                      <a:endParaRPr lang="en-GB" dirty="0"/>
                    </a:p>
                  </a:txBody>
                  <a:tcPr/>
                </a:tc>
                <a:tc>
                  <a:txBody>
                    <a:bodyPr/>
                    <a:lstStyle/>
                    <a:p>
                      <a:r>
                        <a:rPr lang="en-AU" dirty="0" smtClean="0"/>
                        <a:t>Feature</a:t>
                      </a:r>
                      <a:endParaRPr lang="en-GB" dirty="0"/>
                    </a:p>
                  </a:txBody>
                  <a:tcPr/>
                </a:tc>
              </a:tr>
              <a:tr h="370840">
                <a:tc>
                  <a:txBody>
                    <a:bodyPr/>
                    <a:lstStyle/>
                    <a:p>
                      <a:pPr algn="ctr"/>
                      <a:r>
                        <a:rPr lang="en-AU" b="1" dirty="0" smtClean="0"/>
                        <a:t>Cerebellum</a:t>
                      </a:r>
                      <a:endParaRPr lang="en-GB" b="1" dirty="0"/>
                    </a:p>
                  </a:txBody>
                  <a:tcPr anchor="ctr"/>
                </a:tc>
                <a:tc>
                  <a:txBody>
                    <a:bodyPr/>
                    <a:lstStyle/>
                    <a:p>
                      <a:r>
                        <a:rPr lang="en-AU" dirty="0" smtClean="0"/>
                        <a:t>Known as </a:t>
                      </a:r>
                      <a:r>
                        <a:rPr lang="en-AU" i="1" dirty="0" smtClean="0"/>
                        <a:t>secretary</a:t>
                      </a:r>
                      <a:r>
                        <a:rPr lang="en-AU" i="1" baseline="0" dirty="0" smtClean="0"/>
                        <a:t> of brain</a:t>
                      </a:r>
                      <a:r>
                        <a:rPr lang="en-AU" i="0" baseline="0" dirty="0" smtClean="0"/>
                        <a:t>, coordinates fine, controlled motor movement / controls muscle tone / stores memory for habitual action</a:t>
                      </a:r>
                      <a:endParaRPr lang="en-GB" dirty="0"/>
                    </a:p>
                  </a:txBody>
                  <a:tcPr/>
                </a:tc>
              </a:tr>
              <a:tr h="370840">
                <a:tc>
                  <a:txBody>
                    <a:bodyPr/>
                    <a:lstStyle/>
                    <a:p>
                      <a:pPr algn="ctr"/>
                      <a:r>
                        <a:rPr lang="en-AU" b="1" dirty="0" smtClean="0"/>
                        <a:t>Medulla Oblongata</a:t>
                      </a:r>
                      <a:endParaRPr lang="en-GB" b="1" dirty="0"/>
                    </a:p>
                  </a:txBody>
                  <a:tcPr anchor="ctr"/>
                </a:tc>
                <a:tc>
                  <a:txBody>
                    <a:bodyPr/>
                    <a:lstStyle/>
                    <a:p>
                      <a:r>
                        <a:rPr lang="en-AU" dirty="0" smtClean="0"/>
                        <a:t>Forms lower region</a:t>
                      </a:r>
                      <a:r>
                        <a:rPr lang="en-AU" baseline="0" dirty="0" smtClean="0"/>
                        <a:t> of brainstem &amp; 4</a:t>
                      </a:r>
                      <a:r>
                        <a:rPr lang="en-AU" baseline="30000" dirty="0" smtClean="0"/>
                        <a:t>th</a:t>
                      </a:r>
                      <a:r>
                        <a:rPr lang="en-AU" baseline="0" dirty="0" smtClean="0"/>
                        <a:t> ventricle, Contains reflex centres for swallowing, choking etc. as well as the part for reticular formation (sensory filter &amp; arousal)</a:t>
                      </a:r>
                      <a:endParaRPr lang="en-GB" dirty="0"/>
                    </a:p>
                  </a:txBody>
                  <a:tcPr/>
                </a:tc>
              </a:tr>
              <a:tr h="370840">
                <a:tc>
                  <a:txBody>
                    <a:bodyPr/>
                    <a:lstStyle/>
                    <a:p>
                      <a:pPr algn="ctr"/>
                      <a:r>
                        <a:rPr lang="en-AU" b="1" dirty="0" smtClean="0"/>
                        <a:t>Hypothalamus</a:t>
                      </a:r>
                      <a:endParaRPr lang="en-GB" b="1" dirty="0"/>
                    </a:p>
                  </a:txBody>
                  <a:tcPr anchor="ctr"/>
                </a:tc>
                <a:tc>
                  <a:txBody>
                    <a:bodyPr/>
                    <a:lstStyle/>
                    <a:p>
                      <a:r>
                        <a:rPr lang="en-AU" dirty="0" smtClean="0"/>
                        <a:t>Forms</a:t>
                      </a:r>
                      <a:r>
                        <a:rPr lang="en-AU" baseline="0" dirty="0" smtClean="0"/>
                        <a:t> floor of 3</a:t>
                      </a:r>
                      <a:r>
                        <a:rPr lang="en-AU" baseline="30000" dirty="0" smtClean="0"/>
                        <a:t>rd</a:t>
                      </a:r>
                      <a:r>
                        <a:rPr lang="en-AU" baseline="0" dirty="0" smtClean="0"/>
                        <a:t> ventricle. Controls the ANS, regulates basic body functions (temp. thirst, hunger), produces hormones, controls pituitary gland, part of </a:t>
                      </a:r>
                      <a:r>
                        <a:rPr lang="en-AU" i="1" baseline="0" dirty="0" smtClean="0"/>
                        <a:t>emotional brain</a:t>
                      </a:r>
                      <a:endParaRPr lang="en-GB" dirty="0"/>
                    </a:p>
                  </a:txBody>
                  <a:tcPr/>
                </a:tc>
              </a:tr>
              <a:tr h="370840">
                <a:tc>
                  <a:txBody>
                    <a:bodyPr/>
                    <a:lstStyle/>
                    <a:p>
                      <a:pPr algn="ctr"/>
                      <a:r>
                        <a:rPr lang="en-AU" b="1" dirty="0" err="1" smtClean="0"/>
                        <a:t>Broca</a:t>
                      </a:r>
                      <a:r>
                        <a:rPr lang="en-AU" b="1" dirty="0" smtClean="0"/>
                        <a:t> area</a:t>
                      </a:r>
                      <a:endParaRPr lang="en-GB" b="1" dirty="0"/>
                    </a:p>
                  </a:txBody>
                  <a:tcPr anchor="ctr"/>
                </a:tc>
                <a:tc>
                  <a:txBody>
                    <a:bodyPr/>
                    <a:lstStyle/>
                    <a:p>
                      <a:r>
                        <a:rPr lang="en-AU" dirty="0" smtClean="0"/>
                        <a:t>The motor speech area of the brain.</a:t>
                      </a:r>
                      <a:endParaRPr lang="en-GB" dirty="0"/>
                    </a:p>
                  </a:txBody>
                  <a:tcPr/>
                </a:tc>
              </a:tr>
              <a:tr h="370840">
                <a:tc>
                  <a:txBody>
                    <a:bodyPr/>
                    <a:lstStyle/>
                    <a:p>
                      <a:pPr algn="ctr"/>
                      <a:r>
                        <a:rPr lang="en-AU" b="1" dirty="0" smtClean="0"/>
                        <a:t>Wernicke area</a:t>
                      </a:r>
                      <a:endParaRPr lang="en-GB" b="1" dirty="0"/>
                    </a:p>
                  </a:txBody>
                  <a:tcPr anchor="ctr"/>
                </a:tc>
                <a:tc>
                  <a:txBody>
                    <a:bodyPr/>
                    <a:lstStyle/>
                    <a:p>
                      <a:r>
                        <a:rPr lang="en-AU" dirty="0" smtClean="0"/>
                        <a:t>The sensory speech area</a:t>
                      </a:r>
                      <a:r>
                        <a:rPr lang="en-AU" baseline="0" dirty="0" smtClean="0"/>
                        <a:t> of the brain.</a:t>
                      </a:r>
                      <a:endParaRPr lang="en-GB" dirty="0"/>
                    </a:p>
                  </a:txBody>
                  <a:tcPr/>
                </a:tc>
              </a:tr>
            </a:tbl>
          </a:graphicData>
        </a:graphic>
      </p:graphicFrame>
    </p:spTree>
    <p:extLst>
      <p:ext uri="{BB962C8B-B14F-4D97-AF65-F5344CB8AC3E}">
        <p14:creationId xmlns:p14="http://schemas.microsoft.com/office/powerpoint/2010/main" val="414249223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4 Lobes (not including the Insula)</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56207703"/>
              </p:ext>
            </p:extLst>
          </p:nvPr>
        </p:nvGraphicFramePr>
        <p:xfrm>
          <a:off x="677690" y="1641604"/>
          <a:ext cx="8596312" cy="2936240"/>
        </p:xfrm>
        <a:graphic>
          <a:graphicData uri="http://schemas.openxmlformats.org/drawingml/2006/table">
            <a:tbl>
              <a:tblPr firstRow="1" bandRow="1">
                <a:tableStyleId>{5C22544A-7EE6-4342-B048-85BDC9FD1C3A}</a:tableStyleId>
              </a:tblPr>
              <a:tblGrid>
                <a:gridCol w="1542823"/>
                <a:gridCol w="7053489"/>
              </a:tblGrid>
              <a:tr h="370840">
                <a:tc>
                  <a:txBody>
                    <a:bodyPr/>
                    <a:lstStyle/>
                    <a:p>
                      <a:r>
                        <a:rPr lang="en-AU" dirty="0" smtClean="0"/>
                        <a:t>Name</a:t>
                      </a:r>
                      <a:endParaRPr lang="en-GB" dirty="0"/>
                    </a:p>
                  </a:txBody>
                  <a:tcPr/>
                </a:tc>
                <a:tc>
                  <a:txBody>
                    <a:bodyPr/>
                    <a:lstStyle/>
                    <a:p>
                      <a:r>
                        <a:rPr lang="en-AU" dirty="0" smtClean="0"/>
                        <a:t>Function/s</a:t>
                      </a:r>
                      <a:endParaRPr lang="en-GB" dirty="0"/>
                    </a:p>
                  </a:txBody>
                  <a:tcPr/>
                </a:tc>
              </a:tr>
              <a:tr h="370840">
                <a:tc>
                  <a:txBody>
                    <a:bodyPr/>
                    <a:lstStyle/>
                    <a:p>
                      <a:pPr algn="ctr"/>
                      <a:r>
                        <a:rPr lang="en-AU" dirty="0" smtClean="0"/>
                        <a:t>Frontal</a:t>
                      </a:r>
                      <a:endParaRPr lang="en-GB" dirty="0"/>
                    </a:p>
                  </a:txBody>
                  <a:tcPr anchor="ctr"/>
                </a:tc>
                <a:tc>
                  <a:txBody>
                    <a:bodyPr/>
                    <a:lstStyle/>
                    <a:p>
                      <a:r>
                        <a:rPr lang="en-AU" dirty="0" smtClean="0"/>
                        <a:t>Controls premotor</a:t>
                      </a:r>
                      <a:r>
                        <a:rPr lang="en-AU" baseline="0" dirty="0" smtClean="0"/>
                        <a:t> and primary motor cortex. Responsible for voluntary control of muscles. Responsible for judgement, emotions, motivation and memory</a:t>
                      </a:r>
                      <a:endParaRPr lang="en-GB" dirty="0"/>
                    </a:p>
                  </a:txBody>
                  <a:tcPr/>
                </a:tc>
              </a:tr>
              <a:tr h="370840">
                <a:tc>
                  <a:txBody>
                    <a:bodyPr/>
                    <a:lstStyle/>
                    <a:p>
                      <a:pPr algn="ctr"/>
                      <a:r>
                        <a:rPr lang="en-AU" dirty="0" smtClean="0"/>
                        <a:t>Parietal</a:t>
                      </a:r>
                      <a:endParaRPr lang="en-GB" dirty="0"/>
                    </a:p>
                  </a:txBody>
                  <a:tcPr anchor="ctr"/>
                </a:tc>
                <a:tc>
                  <a:txBody>
                    <a:bodyPr/>
                    <a:lstStyle/>
                    <a:p>
                      <a:r>
                        <a:rPr lang="en-AU" dirty="0" smtClean="0"/>
                        <a:t>Primary</a:t>
                      </a:r>
                      <a:r>
                        <a:rPr lang="en-AU" baseline="0" dirty="0" smtClean="0"/>
                        <a:t> sensor strip and sensory association areas. Damage to this causes difficulty in understanding sensory inputs from the skin</a:t>
                      </a:r>
                      <a:endParaRPr lang="en-GB" dirty="0"/>
                    </a:p>
                  </a:txBody>
                  <a:tcPr/>
                </a:tc>
              </a:tr>
              <a:tr h="370840">
                <a:tc>
                  <a:txBody>
                    <a:bodyPr/>
                    <a:lstStyle/>
                    <a:p>
                      <a:pPr algn="ctr"/>
                      <a:r>
                        <a:rPr lang="en-AU" dirty="0" smtClean="0"/>
                        <a:t>Temporal</a:t>
                      </a:r>
                      <a:endParaRPr lang="en-GB" dirty="0"/>
                    </a:p>
                  </a:txBody>
                  <a:tcPr anchor="ctr"/>
                </a:tc>
                <a:tc>
                  <a:txBody>
                    <a:bodyPr/>
                    <a:lstStyle/>
                    <a:p>
                      <a:r>
                        <a:rPr lang="en-AU" dirty="0" smtClean="0"/>
                        <a:t>Contains the olfactory (smell) and auditory (hearing) areas.</a:t>
                      </a:r>
                      <a:endParaRPr lang="en-GB" dirty="0"/>
                    </a:p>
                  </a:txBody>
                  <a:tcPr/>
                </a:tc>
              </a:tr>
              <a:tr h="370840">
                <a:tc>
                  <a:txBody>
                    <a:bodyPr/>
                    <a:lstStyle/>
                    <a:p>
                      <a:pPr algn="ctr"/>
                      <a:r>
                        <a:rPr lang="en-AU" dirty="0" smtClean="0"/>
                        <a:t>Occipital</a:t>
                      </a:r>
                      <a:endParaRPr lang="en-GB" dirty="0"/>
                    </a:p>
                  </a:txBody>
                  <a:tcPr anchor="ctr"/>
                </a:tc>
                <a:tc>
                  <a:txBody>
                    <a:bodyPr/>
                    <a:lstStyle/>
                    <a:p>
                      <a:r>
                        <a:rPr lang="en-AU" dirty="0" smtClean="0"/>
                        <a:t>Generally has to do with our visual sense. Damage may cause </a:t>
                      </a:r>
                      <a:r>
                        <a:rPr lang="en-AU" i="1" dirty="0" smtClean="0"/>
                        <a:t>cortical blindness.</a:t>
                      </a:r>
                      <a:endParaRPr lang="en-GB" dirty="0"/>
                    </a:p>
                  </a:txBody>
                  <a:tcPr/>
                </a:tc>
              </a:tr>
            </a:tbl>
          </a:graphicData>
        </a:graphic>
      </p:graphicFrame>
    </p:spTree>
    <p:extLst>
      <p:ext uri="{BB962C8B-B14F-4D97-AF65-F5344CB8AC3E}">
        <p14:creationId xmlns:p14="http://schemas.microsoft.com/office/powerpoint/2010/main" val="2561062777"/>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Spinal Cord</a:t>
            </a:r>
            <a:endParaRPr lang="en-GB" dirty="0"/>
          </a:p>
        </p:txBody>
      </p:sp>
      <p:sp>
        <p:nvSpPr>
          <p:cNvPr id="3" name="Content Placeholder 2"/>
          <p:cNvSpPr>
            <a:spLocks noGrp="1"/>
          </p:cNvSpPr>
          <p:nvPr>
            <p:ph idx="1"/>
          </p:nvPr>
        </p:nvSpPr>
        <p:spPr/>
        <p:txBody>
          <a:bodyPr/>
          <a:lstStyle/>
          <a:p>
            <a:pPr marL="0" indent="0">
              <a:buNone/>
            </a:pPr>
            <a:r>
              <a:rPr lang="en-AU" dirty="0" smtClean="0"/>
              <a:t>An </a:t>
            </a:r>
            <a:r>
              <a:rPr lang="en-AU" b="1" dirty="0" smtClean="0"/>
              <a:t>extension of the medulla oblongata </a:t>
            </a:r>
            <a:r>
              <a:rPr lang="en-AU" dirty="0" smtClean="0"/>
              <a:t>in the brain.</a:t>
            </a:r>
          </a:p>
          <a:p>
            <a:pPr marL="0" indent="0">
              <a:buNone/>
            </a:pPr>
            <a:r>
              <a:rPr lang="en-AU" dirty="0" smtClean="0"/>
              <a:t>Same thickness as the little finger and </a:t>
            </a:r>
            <a:r>
              <a:rPr lang="en-AU" b="1" dirty="0" smtClean="0"/>
              <a:t>passes through the vertebral foramen to the level of the second lumbar vertebra</a:t>
            </a:r>
            <a:r>
              <a:rPr lang="en-AU" dirty="0" smtClean="0"/>
              <a:t>.</a:t>
            </a:r>
          </a:p>
          <a:p>
            <a:pPr marL="0" indent="0">
              <a:buNone/>
            </a:pPr>
            <a:r>
              <a:rPr lang="en-AU" dirty="0" smtClean="0"/>
              <a:t>31 nerves arise from the spinal cord. Close to the spinal cord, the mixed nerves splits into a dorsal branch (root) and a ventral branch.</a:t>
            </a:r>
          </a:p>
          <a:p>
            <a:pPr marL="0" indent="0">
              <a:buNone/>
            </a:pPr>
            <a:r>
              <a:rPr lang="en-AU" dirty="0" smtClean="0"/>
              <a:t>The dorsal branch carries </a:t>
            </a:r>
            <a:r>
              <a:rPr lang="en-AU" b="1" dirty="0" smtClean="0"/>
              <a:t>afferent</a:t>
            </a:r>
            <a:r>
              <a:rPr lang="en-AU" dirty="0" smtClean="0"/>
              <a:t> (sensory) fibres. A swelling on the dorsal branch is the dorsal root ganglion, which contains the cell bodies of the sensory neurons.</a:t>
            </a:r>
          </a:p>
          <a:p>
            <a:pPr marL="0" indent="0">
              <a:buNone/>
            </a:pPr>
            <a:r>
              <a:rPr lang="en-AU" dirty="0" smtClean="0"/>
              <a:t>If the dorsal branch carries sensory neurons, its safe to say that the ventral branch carries </a:t>
            </a:r>
            <a:r>
              <a:rPr lang="en-AU" b="1" dirty="0" smtClean="0"/>
              <a:t>efferent</a:t>
            </a:r>
            <a:r>
              <a:rPr lang="en-AU" dirty="0" smtClean="0"/>
              <a:t> (motor) fibres.</a:t>
            </a:r>
            <a:endParaRPr lang="en-GB" dirty="0"/>
          </a:p>
        </p:txBody>
      </p:sp>
    </p:spTree>
    <p:extLst>
      <p:ext uri="{BB962C8B-B14F-4D97-AF65-F5344CB8AC3E}">
        <p14:creationId xmlns:p14="http://schemas.microsoft.com/office/powerpoint/2010/main" val="1965730642"/>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2048" y="387178"/>
            <a:ext cx="8596668" cy="1320800"/>
          </a:xfrm>
        </p:spPr>
        <p:txBody>
          <a:bodyPr>
            <a:normAutofit/>
          </a:bodyPr>
          <a:lstStyle/>
          <a:p>
            <a:r>
              <a:rPr lang="en-AU" dirty="0" smtClean="0"/>
              <a:t>Receptors and their stimuli </a:t>
            </a:r>
            <a:r>
              <a:rPr lang="en-AU" sz="1800" dirty="0" smtClean="0"/>
              <a:t>(You can tell I was slowly losing the will to write, can’t you?)</a:t>
            </a:r>
            <a:endParaRPr lang="en-GB" sz="1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87780587"/>
              </p:ext>
            </p:extLst>
          </p:nvPr>
        </p:nvGraphicFramePr>
        <p:xfrm>
          <a:off x="677690" y="1419182"/>
          <a:ext cx="9355996" cy="4973320"/>
        </p:xfrm>
        <a:graphic>
          <a:graphicData uri="http://schemas.openxmlformats.org/drawingml/2006/table">
            <a:tbl>
              <a:tblPr firstRow="1" bandRow="1">
                <a:tableStyleId>{5C22544A-7EE6-4342-B048-85BDC9FD1C3A}</a:tableStyleId>
              </a:tblPr>
              <a:tblGrid>
                <a:gridCol w="2938173"/>
                <a:gridCol w="6417823"/>
              </a:tblGrid>
              <a:tr h="370840">
                <a:tc>
                  <a:txBody>
                    <a:bodyPr/>
                    <a:lstStyle/>
                    <a:p>
                      <a:r>
                        <a:rPr lang="en-AU" dirty="0" smtClean="0"/>
                        <a:t>Receptors</a:t>
                      </a:r>
                      <a:endParaRPr lang="en-GB" dirty="0"/>
                    </a:p>
                  </a:txBody>
                  <a:tcPr/>
                </a:tc>
                <a:tc>
                  <a:txBody>
                    <a:bodyPr/>
                    <a:lstStyle/>
                    <a:p>
                      <a:r>
                        <a:rPr lang="en-AU" dirty="0" smtClean="0"/>
                        <a:t>Stimuli and how they’re activated</a:t>
                      </a:r>
                      <a:endParaRPr lang="en-GB" dirty="0"/>
                    </a:p>
                  </a:txBody>
                  <a:tcPr/>
                </a:tc>
              </a:tr>
              <a:tr h="370840">
                <a:tc>
                  <a:txBody>
                    <a:bodyPr/>
                    <a:lstStyle/>
                    <a:p>
                      <a:pPr algn="ctr"/>
                      <a:r>
                        <a:rPr lang="en-AU" sz="1600" b="1" dirty="0" smtClean="0"/>
                        <a:t>Touch</a:t>
                      </a:r>
                      <a:endParaRPr lang="en-GB" sz="1600" b="1" dirty="0"/>
                    </a:p>
                  </a:txBody>
                  <a:tcPr anchor="ctr"/>
                </a:tc>
                <a:tc>
                  <a:txBody>
                    <a:bodyPr/>
                    <a:lstStyle/>
                    <a:p>
                      <a:r>
                        <a:rPr lang="en-AU" sz="1600" dirty="0" smtClean="0"/>
                        <a:t>Respond to touch,</a:t>
                      </a:r>
                      <a:r>
                        <a:rPr lang="en-AU" sz="1600" baseline="0" dirty="0" smtClean="0"/>
                        <a:t> pressure, vibrations. Located near the surface of the skin (light) more sensitive contains nerve endings. Located deeper in the skin for detecting pressure/vibrations</a:t>
                      </a:r>
                      <a:endParaRPr lang="en-GB" sz="1600" dirty="0"/>
                    </a:p>
                  </a:txBody>
                  <a:tcPr/>
                </a:tc>
              </a:tr>
              <a:tr h="370840">
                <a:tc>
                  <a:txBody>
                    <a:bodyPr/>
                    <a:lstStyle/>
                    <a:p>
                      <a:pPr algn="ctr"/>
                      <a:r>
                        <a:rPr lang="en-AU" sz="1600" b="1" dirty="0" err="1" smtClean="0"/>
                        <a:t>Thermoreceptors</a:t>
                      </a:r>
                      <a:endParaRPr lang="en-GB" sz="1600" b="1" dirty="0"/>
                    </a:p>
                  </a:txBody>
                  <a:tcPr anchor="ctr"/>
                </a:tc>
                <a:tc>
                  <a:txBody>
                    <a:bodyPr/>
                    <a:lstStyle/>
                    <a:p>
                      <a:r>
                        <a:rPr lang="en-AU" sz="1600" dirty="0" smtClean="0"/>
                        <a:t>Respond to either hot or cold stimuli, not both. Located in skin. Impulses sent to</a:t>
                      </a:r>
                      <a:r>
                        <a:rPr lang="en-AU" sz="1600" baseline="0" dirty="0" smtClean="0"/>
                        <a:t> the hypothalamus and cerebrum. Also located in the hypothalamus for internal monitoring</a:t>
                      </a:r>
                      <a:endParaRPr lang="en-GB" sz="1600" dirty="0"/>
                    </a:p>
                  </a:txBody>
                  <a:tcPr/>
                </a:tc>
              </a:tr>
              <a:tr h="370840">
                <a:tc>
                  <a:txBody>
                    <a:bodyPr/>
                    <a:lstStyle/>
                    <a:p>
                      <a:pPr algn="ctr"/>
                      <a:r>
                        <a:rPr lang="en-AU" sz="1600" b="1" dirty="0" smtClean="0"/>
                        <a:t>Osmoreceptors</a:t>
                      </a:r>
                      <a:endParaRPr lang="en-GB" sz="1600" b="1" dirty="0"/>
                    </a:p>
                  </a:txBody>
                  <a:tcPr anchor="ctr"/>
                </a:tc>
                <a:tc>
                  <a:txBody>
                    <a:bodyPr/>
                    <a:lstStyle/>
                    <a:p>
                      <a:r>
                        <a:rPr lang="en-AU" sz="1600" dirty="0" smtClean="0"/>
                        <a:t>Respond to change in osmotic pressure by changes in concentrations</a:t>
                      </a:r>
                      <a:r>
                        <a:rPr lang="en-AU" sz="1600" baseline="0" dirty="0" smtClean="0"/>
                        <a:t> of dissolved substances in water. Located in the hypothalamus which also acts as a homeostatic response</a:t>
                      </a:r>
                      <a:endParaRPr lang="en-GB" sz="1600" dirty="0"/>
                    </a:p>
                  </a:txBody>
                  <a:tcPr/>
                </a:tc>
              </a:tr>
              <a:tr h="370840">
                <a:tc>
                  <a:txBody>
                    <a:bodyPr/>
                    <a:lstStyle/>
                    <a:p>
                      <a:pPr algn="ctr"/>
                      <a:r>
                        <a:rPr lang="en-AU" sz="1600" b="1" dirty="0" smtClean="0"/>
                        <a:t>Chemoreceptors</a:t>
                      </a:r>
                      <a:endParaRPr lang="en-GB" sz="1600" b="1" dirty="0"/>
                    </a:p>
                  </a:txBody>
                  <a:tcPr anchor="ctr"/>
                </a:tc>
                <a:tc>
                  <a:txBody>
                    <a:bodyPr/>
                    <a:lstStyle/>
                    <a:p>
                      <a:r>
                        <a:rPr lang="en-AU" sz="1600" dirty="0" smtClean="0"/>
                        <a:t>Respond to presence/absence</a:t>
                      </a:r>
                      <a:r>
                        <a:rPr lang="en-AU" sz="1600" baseline="0" dirty="0" smtClean="0"/>
                        <a:t> of particular chemicals. Located in nose, mouth, blood vessels (detect pH of blood an O</a:t>
                      </a:r>
                      <a:r>
                        <a:rPr lang="en-AU" sz="1600" baseline="-25000" dirty="0" smtClean="0"/>
                        <a:t>2</a:t>
                      </a:r>
                      <a:r>
                        <a:rPr lang="en-AU" sz="1600" baseline="0" dirty="0" smtClean="0"/>
                        <a:t> + CO</a:t>
                      </a:r>
                      <a:r>
                        <a:rPr lang="en-AU" sz="1600" baseline="30000" dirty="0" smtClean="0"/>
                        <a:t>2</a:t>
                      </a:r>
                      <a:r>
                        <a:rPr lang="en-AU" sz="1600" baseline="0" dirty="0" smtClean="0"/>
                        <a:t> levels) impulses sent to the hypothalamus (for homeostatic responses in regulating heart and breathing rates)</a:t>
                      </a:r>
                      <a:endParaRPr lang="en-GB" sz="1600" dirty="0"/>
                    </a:p>
                  </a:txBody>
                  <a:tcPr/>
                </a:tc>
              </a:tr>
              <a:tr h="370840">
                <a:tc>
                  <a:txBody>
                    <a:bodyPr/>
                    <a:lstStyle/>
                    <a:p>
                      <a:pPr algn="ctr"/>
                      <a:r>
                        <a:rPr lang="en-AU" sz="1600" b="1" dirty="0" smtClean="0"/>
                        <a:t>Pain</a:t>
                      </a:r>
                      <a:endParaRPr lang="en-GB" sz="1600" b="1" dirty="0"/>
                    </a:p>
                  </a:txBody>
                  <a:tcPr anchor="ctr"/>
                </a:tc>
                <a:tc>
                  <a:txBody>
                    <a:bodyPr/>
                    <a:lstStyle/>
                    <a:p>
                      <a:r>
                        <a:rPr lang="en-AU" sz="1600" dirty="0" smtClean="0"/>
                        <a:t>Respond to damaged tissue or excessive stimulation from heat/chemicals etc. Located in most organs, except the brain. Mostly in skin and mucous membranes. Receptors adapt very little so pain continues as long as stimulus continues.</a:t>
                      </a:r>
                      <a:endParaRPr lang="en-GB" sz="1600" dirty="0"/>
                    </a:p>
                  </a:txBody>
                  <a:tcPr/>
                </a:tc>
              </a:tr>
            </a:tbl>
          </a:graphicData>
        </a:graphic>
      </p:graphicFrame>
    </p:spTree>
    <p:extLst>
      <p:ext uri="{BB962C8B-B14F-4D97-AF65-F5344CB8AC3E}">
        <p14:creationId xmlns:p14="http://schemas.microsoft.com/office/powerpoint/2010/main" val="212918294"/>
      </p:ext>
    </p:extLst>
  </p:cSld>
  <p:clrMapOvr>
    <a:masterClrMapping/>
  </p:clrMapOvr>
  <mc:AlternateContent xmlns:mc="http://schemas.openxmlformats.org/markup-compatibility/2006">
    <mc:Choice xmlns:p14="http://schemas.microsoft.com/office/powerpoint/2010/main" Requires="p14">
      <p:transition spd="slow" p14:dur="4000">
        <p14:vortex dir="u"/>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14184"/>
            <a:ext cx="8596668" cy="1320800"/>
          </a:xfrm>
        </p:spPr>
        <p:txBody>
          <a:bodyPr/>
          <a:lstStyle/>
          <a:p>
            <a:r>
              <a:rPr lang="en-AU" dirty="0" smtClean="0"/>
              <a:t>Reflex Arc</a:t>
            </a:r>
            <a:endParaRPr lang="en-GB" dirty="0"/>
          </a:p>
        </p:txBody>
      </p:sp>
      <p:sp>
        <p:nvSpPr>
          <p:cNvPr id="3" name="Content Placeholder 2"/>
          <p:cNvSpPr>
            <a:spLocks noGrp="1"/>
          </p:cNvSpPr>
          <p:nvPr>
            <p:ph idx="1"/>
          </p:nvPr>
        </p:nvSpPr>
        <p:spPr>
          <a:xfrm>
            <a:off x="677334" y="874584"/>
            <a:ext cx="9282212" cy="5328508"/>
          </a:xfrm>
        </p:spPr>
        <p:txBody>
          <a:bodyPr>
            <a:noAutofit/>
          </a:bodyPr>
          <a:lstStyle/>
          <a:p>
            <a:pPr>
              <a:spcBef>
                <a:spcPts val="600"/>
              </a:spcBef>
            </a:pPr>
            <a:r>
              <a:rPr lang="en-AU" sz="1600" dirty="0" smtClean="0"/>
              <a:t>Reflexes are fast, involuntary responses to stimuli (does not involve the brain)</a:t>
            </a:r>
          </a:p>
          <a:p>
            <a:pPr>
              <a:spcBef>
                <a:spcPts val="600"/>
              </a:spcBef>
            </a:pPr>
            <a:r>
              <a:rPr lang="en-AU" sz="1600" dirty="0" smtClean="0"/>
              <a:t>A </a:t>
            </a:r>
            <a:r>
              <a:rPr lang="en-AU" sz="1600" dirty="0"/>
              <a:t>R</a:t>
            </a:r>
            <a:r>
              <a:rPr lang="en-AU" sz="1600" dirty="0" smtClean="0"/>
              <a:t>eflex Arc is referencing the nerve pathway taken by a reflex.</a:t>
            </a:r>
          </a:p>
          <a:p>
            <a:pPr>
              <a:spcBef>
                <a:spcPts val="600"/>
              </a:spcBef>
            </a:pPr>
            <a:r>
              <a:rPr lang="en-AU" sz="1600" dirty="0" smtClean="0"/>
              <a:t>Reflexes are always:</a:t>
            </a:r>
          </a:p>
          <a:p>
            <a:pPr marL="715963">
              <a:spcBef>
                <a:spcPts val="600"/>
              </a:spcBef>
              <a:buFont typeface="Wingdings" panose="05000000000000000000" pitchFamily="2" charset="2"/>
              <a:buChar char="§"/>
            </a:pPr>
            <a:r>
              <a:rPr lang="en-AU" sz="1600" dirty="0" smtClean="0"/>
              <a:t>Involuntary</a:t>
            </a:r>
          </a:p>
          <a:p>
            <a:pPr marL="715963">
              <a:spcBef>
                <a:spcPts val="600"/>
              </a:spcBef>
              <a:buFont typeface="Wingdings" panose="05000000000000000000" pitchFamily="2" charset="2"/>
              <a:buChar char="§"/>
            </a:pPr>
            <a:r>
              <a:rPr lang="en-AU" sz="1600" dirty="0" smtClean="0"/>
              <a:t>Rapid</a:t>
            </a:r>
          </a:p>
          <a:p>
            <a:pPr marL="715963">
              <a:spcBef>
                <a:spcPts val="600"/>
              </a:spcBef>
              <a:buFont typeface="Wingdings" panose="05000000000000000000" pitchFamily="2" charset="2"/>
              <a:buChar char="§"/>
            </a:pPr>
            <a:r>
              <a:rPr lang="en-AU" sz="1600" dirty="0" smtClean="0"/>
              <a:t>Stereotyped</a:t>
            </a:r>
          </a:p>
          <a:p>
            <a:pPr marL="715963">
              <a:spcBef>
                <a:spcPts val="600"/>
              </a:spcBef>
              <a:buFont typeface="Wingdings" panose="05000000000000000000" pitchFamily="2" charset="2"/>
              <a:buChar char="§"/>
            </a:pPr>
            <a:endParaRPr lang="en-AU" sz="1600" dirty="0" smtClean="0"/>
          </a:p>
          <a:p>
            <a:pPr>
              <a:spcBef>
                <a:spcPts val="600"/>
              </a:spcBef>
              <a:buFont typeface="Wingdings" panose="05000000000000000000" pitchFamily="2" charset="2"/>
              <a:buChar char="§"/>
            </a:pPr>
            <a:r>
              <a:rPr lang="en-AU" sz="1600" dirty="0" smtClean="0"/>
              <a:t>Cranial Reflexes – Involve the brain stem</a:t>
            </a:r>
          </a:p>
          <a:p>
            <a:pPr marL="715963">
              <a:spcBef>
                <a:spcPts val="600"/>
              </a:spcBef>
              <a:buFont typeface="Wingdings" panose="05000000000000000000" pitchFamily="2" charset="2"/>
              <a:buChar char="§"/>
            </a:pPr>
            <a:r>
              <a:rPr lang="en-AU" sz="1600" dirty="0" smtClean="0"/>
              <a:t>Are reflexes of the face and neck</a:t>
            </a:r>
          </a:p>
          <a:p>
            <a:pPr marL="715963">
              <a:spcBef>
                <a:spcPts val="600"/>
              </a:spcBef>
              <a:buFont typeface="Wingdings" panose="05000000000000000000" pitchFamily="2" charset="2"/>
              <a:buChar char="§"/>
            </a:pPr>
            <a:r>
              <a:rPr lang="en-AU" sz="1600" dirty="0" smtClean="0"/>
              <a:t>Vomiting, sneezing, swallowing, blinking</a:t>
            </a:r>
          </a:p>
          <a:p>
            <a:pPr marL="715963">
              <a:spcBef>
                <a:spcPts val="600"/>
              </a:spcBef>
              <a:buFont typeface="Wingdings" panose="05000000000000000000" pitchFamily="2" charset="2"/>
              <a:buChar char="§"/>
            </a:pPr>
            <a:endParaRPr lang="en-AU" sz="1600" dirty="0" smtClean="0"/>
          </a:p>
          <a:p>
            <a:pPr>
              <a:spcBef>
                <a:spcPts val="600"/>
              </a:spcBef>
              <a:buFont typeface="Wingdings" panose="05000000000000000000" pitchFamily="2" charset="2"/>
              <a:buChar char="§"/>
            </a:pPr>
            <a:r>
              <a:rPr lang="en-AU" sz="1600" dirty="0" smtClean="0"/>
              <a:t>Spinal reflexes – involve the spinal cord</a:t>
            </a:r>
          </a:p>
          <a:p>
            <a:pPr marL="715963">
              <a:spcBef>
                <a:spcPts val="600"/>
              </a:spcBef>
              <a:buFont typeface="Wingdings" panose="05000000000000000000" pitchFamily="2" charset="2"/>
              <a:buChar char="§"/>
            </a:pPr>
            <a:r>
              <a:rPr lang="en-AU" sz="1600" dirty="0" smtClean="0"/>
              <a:t>Reflexes of the body</a:t>
            </a:r>
          </a:p>
          <a:p>
            <a:pPr marL="715963">
              <a:spcBef>
                <a:spcPts val="600"/>
              </a:spcBef>
              <a:buFont typeface="Wingdings" panose="05000000000000000000" pitchFamily="2" charset="2"/>
              <a:buChar char="§"/>
            </a:pPr>
            <a:r>
              <a:rPr lang="en-AU" sz="1600" dirty="0" smtClean="0"/>
              <a:t>Pain reflex</a:t>
            </a:r>
          </a:p>
          <a:p>
            <a:pPr>
              <a:spcBef>
                <a:spcPts val="600"/>
              </a:spcBef>
              <a:buFont typeface="Wingdings" panose="05000000000000000000" pitchFamily="2" charset="2"/>
              <a:buChar char="§"/>
            </a:pPr>
            <a:endParaRPr lang="en-AU" sz="1600" dirty="0"/>
          </a:p>
          <a:p>
            <a:pPr>
              <a:spcBef>
                <a:spcPts val="600"/>
              </a:spcBef>
              <a:buFont typeface="Wingdings" panose="05000000000000000000" pitchFamily="2" charset="2"/>
              <a:buChar char="§"/>
            </a:pPr>
            <a:r>
              <a:rPr lang="en-AU" sz="1600" dirty="0" smtClean="0"/>
              <a:t>Acquired reflexes – learned reflexes usually of complex nature</a:t>
            </a:r>
          </a:p>
          <a:p>
            <a:pPr marL="715963">
              <a:spcBef>
                <a:spcPts val="600"/>
              </a:spcBef>
              <a:buFont typeface="Wingdings" panose="05000000000000000000" pitchFamily="2" charset="2"/>
              <a:buChar char="§"/>
            </a:pPr>
            <a:r>
              <a:rPr lang="en-AU" sz="1600" dirty="0" smtClean="0"/>
              <a:t>Driving, defensive movements</a:t>
            </a:r>
            <a:endParaRPr lang="en-GB" sz="1600" dirty="0"/>
          </a:p>
        </p:txBody>
      </p:sp>
    </p:spTree>
    <p:extLst>
      <p:ext uri="{BB962C8B-B14F-4D97-AF65-F5344CB8AC3E}">
        <p14:creationId xmlns:p14="http://schemas.microsoft.com/office/powerpoint/2010/main" val="426931923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invX="1"/>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Reflexes (last simplification)</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72911940"/>
              </p:ext>
            </p:extLst>
          </p:nvPr>
        </p:nvGraphicFramePr>
        <p:xfrm>
          <a:off x="677863" y="2160588"/>
          <a:ext cx="8596312" cy="2936240"/>
        </p:xfrm>
        <a:graphic>
          <a:graphicData uri="http://schemas.openxmlformats.org/drawingml/2006/table">
            <a:tbl>
              <a:tblPr firstRow="1" bandRow="1">
                <a:tableStyleId>{5C22544A-7EE6-4342-B048-85BDC9FD1C3A}</a:tableStyleId>
              </a:tblPr>
              <a:tblGrid>
                <a:gridCol w="2460753"/>
                <a:gridCol w="6135559"/>
              </a:tblGrid>
              <a:tr h="370840">
                <a:tc>
                  <a:txBody>
                    <a:bodyPr/>
                    <a:lstStyle/>
                    <a:p>
                      <a:r>
                        <a:rPr lang="en-AU" dirty="0" smtClean="0"/>
                        <a:t>Type</a:t>
                      </a:r>
                      <a:endParaRPr lang="en-GB" dirty="0"/>
                    </a:p>
                  </a:txBody>
                  <a:tcPr/>
                </a:tc>
                <a:tc>
                  <a:txBody>
                    <a:bodyPr/>
                    <a:lstStyle/>
                    <a:p>
                      <a:r>
                        <a:rPr lang="en-AU" dirty="0" smtClean="0"/>
                        <a:t>Effects/causes</a:t>
                      </a:r>
                      <a:endParaRPr lang="en-GB" dirty="0"/>
                    </a:p>
                  </a:txBody>
                  <a:tcPr/>
                </a:tc>
              </a:tr>
              <a:tr h="370840">
                <a:tc>
                  <a:txBody>
                    <a:bodyPr/>
                    <a:lstStyle/>
                    <a:p>
                      <a:pPr algn="ctr"/>
                      <a:r>
                        <a:rPr lang="en-AU" dirty="0" smtClean="0"/>
                        <a:t>Reflexes</a:t>
                      </a:r>
                      <a:r>
                        <a:rPr lang="en-AU" baseline="0" dirty="0" smtClean="0"/>
                        <a:t> (in general)</a:t>
                      </a:r>
                      <a:endParaRPr lang="en-GB" dirty="0"/>
                    </a:p>
                  </a:txBody>
                  <a:tcPr anchor="ctr"/>
                </a:tc>
                <a:tc>
                  <a:txBody>
                    <a:bodyPr/>
                    <a:lstStyle/>
                    <a:p>
                      <a:r>
                        <a:rPr lang="en-AU" dirty="0" smtClean="0"/>
                        <a:t>Involuntary</a:t>
                      </a:r>
                    </a:p>
                    <a:p>
                      <a:r>
                        <a:rPr lang="en-AU" dirty="0" smtClean="0"/>
                        <a:t>Rapid</a:t>
                      </a:r>
                    </a:p>
                    <a:p>
                      <a:r>
                        <a:rPr lang="en-AU" dirty="0" smtClean="0"/>
                        <a:t>Stereotyped – always the same</a:t>
                      </a:r>
                      <a:endParaRPr lang="en-GB" dirty="0"/>
                    </a:p>
                  </a:txBody>
                  <a:tcPr/>
                </a:tc>
              </a:tr>
              <a:tr h="370840">
                <a:tc>
                  <a:txBody>
                    <a:bodyPr/>
                    <a:lstStyle/>
                    <a:p>
                      <a:pPr algn="ctr"/>
                      <a:r>
                        <a:rPr lang="en-AU" dirty="0" smtClean="0"/>
                        <a:t>Cranial Reflex</a:t>
                      </a:r>
                      <a:endParaRPr lang="en-GB" dirty="0"/>
                    </a:p>
                  </a:txBody>
                  <a:tcPr anchor="ctr"/>
                </a:tc>
                <a:tc>
                  <a:txBody>
                    <a:bodyPr/>
                    <a:lstStyle/>
                    <a:p>
                      <a:r>
                        <a:rPr lang="en-AU" dirty="0" smtClean="0"/>
                        <a:t>Reflexes of Face and Neck: i.e. vomiting, sneezing, swallowing, blinking</a:t>
                      </a:r>
                      <a:endParaRPr lang="en-GB" dirty="0"/>
                    </a:p>
                  </a:txBody>
                  <a:tcPr/>
                </a:tc>
              </a:tr>
              <a:tr h="370840">
                <a:tc>
                  <a:txBody>
                    <a:bodyPr/>
                    <a:lstStyle/>
                    <a:p>
                      <a:pPr algn="ctr"/>
                      <a:r>
                        <a:rPr lang="en-AU" dirty="0" smtClean="0"/>
                        <a:t>Spinal Reflex</a:t>
                      </a:r>
                      <a:endParaRPr lang="en-GB" dirty="0"/>
                    </a:p>
                  </a:txBody>
                  <a:tcPr anchor="ctr"/>
                </a:tc>
                <a:tc>
                  <a:txBody>
                    <a:bodyPr/>
                    <a:lstStyle/>
                    <a:p>
                      <a:r>
                        <a:rPr lang="en-AU" dirty="0" smtClean="0"/>
                        <a:t>Reflexes</a:t>
                      </a:r>
                      <a:r>
                        <a:rPr lang="en-AU" baseline="0" dirty="0" smtClean="0"/>
                        <a:t> of the body, example: pain reflex or knee jerk</a:t>
                      </a:r>
                      <a:endParaRPr lang="en-GB" dirty="0"/>
                    </a:p>
                  </a:txBody>
                  <a:tcPr/>
                </a:tc>
              </a:tr>
              <a:tr h="370840">
                <a:tc>
                  <a:txBody>
                    <a:bodyPr/>
                    <a:lstStyle/>
                    <a:p>
                      <a:pPr algn="ctr"/>
                      <a:r>
                        <a:rPr lang="en-AU" dirty="0" smtClean="0"/>
                        <a:t>Acquired Reflex</a:t>
                      </a:r>
                      <a:endParaRPr lang="en-GB" dirty="0"/>
                    </a:p>
                  </a:txBody>
                  <a:tcPr anchor="ctr"/>
                </a:tc>
                <a:tc>
                  <a:txBody>
                    <a:bodyPr/>
                    <a:lstStyle/>
                    <a:p>
                      <a:r>
                        <a:rPr lang="en-AU" dirty="0" smtClean="0"/>
                        <a:t>Usually reflexes</a:t>
                      </a:r>
                      <a:r>
                        <a:rPr lang="en-AU" baseline="0" dirty="0" smtClean="0"/>
                        <a:t> of complex nature, i.e. driving, defensive movements</a:t>
                      </a:r>
                      <a:endParaRPr lang="en-GB" dirty="0"/>
                    </a:p>
                  </a:txBody>
                  <a:tcPr/>
                </a:tc>
              </a:tr>
            </a:tbl>
          </a:graphicData>
        </a:graphic>
      </p:graphicFrame>
    </p:spTree>
    <p:extLst>
      <p:ext uri="{BB962C8B-B14F-4D97-AF65-F5344CB8AC3E}">
        <p14:creationId xmlns:p14="http://schemas.microsoft.com/office/powerpoint/2010/main" val="237736601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b="3589"/>
          <a:stretch>
            <a:fillRect/>
          </a:stretch>
        </p:blipFill>
        <p:spPr bwMode="auto">
          <a:xfrm>
            <a:off x="513567" y="1352811"/>
            <a:ext cx="10191217" cy="5240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513567" y="288099"/>
            <a:ext cx="8555277" cy="769441"/>
          </a:xfrm>
          <a:prstGeom prst="rect">
            <a:avLst/>
          </a:prstGeom>
          <a:noFill/>
        </p:spPr>
        <p:txBody>
          <a:bodyPr wrap="square" rtlCol="0">
            <a:spAutoFit/>
          </a:bodyPr>
          <a:lstStyle/>
          <a:p>
            <a:r>
              <a:rPr lang="en-AU" sz="4400" u="sng" dirty="0" smtClean="0">
                <a:solidFill>
                  <a:srgbClr val="77A825"/>
                </a:solidFill>
              </a:rPr>
              <a:t>A Simple Spinal Reflex Arc</a:t>
            </a:r>
            <a:endParaRPr lang="en-GB" sz="4400" u="sng" dirty="0">
              <a:solidFill>
                <a:srgbClr val="77A825"/>
              </a:solidFill>
            </a:endParaRPr>
          </a:p>
        </p:txBody>
      </p:sp>
    </p:spTree>
    <p:extLst>
      <p:ext uri="{BB962C8B-B14F-4D97-AF65-F5344CB8AC3E}">
        <p14:creationId xmlns:p14="http://schemas.microsoft.com/office/powerpoint/2010/main" val="1264903995"/>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4499</TotalTime>
  <Words>3100</Words>
  <Application>Microsoft Office PowerPoint</Application>
  <PresentationFormat>Widescreen</PresentationFormat>
  <Paragraphs>231</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Trebuchet MS</vt:lpstr>
      <vt:lpstr>Wingdings</vt:lpstr>
      <vt:lpstr>Wingdings 3</vt:lpstr>
      <vt:lpstr>Facet</vt:lpstr>
      <vt:lpstr>Nervous System Review</vt:lpstr>
      <vt:lpstr>Just as a note…</vt:lpstr>
      <vt:lpstr>Divisions of the Nervous System</vt:lpstr>
      <vt:lpstr>PowerPoint Presentation</vt:lpstr>
      <vt:lpstr>Sympathetic and Parasympathetic</vt:lpstr>
      <vt:lpstr>All of what I just said above made so much simpler</vt:lpstr>
      <vt:lpstr>All of what I just said above made so much simpler (continued)</vt:lpstr>
      <vt:lpstr>Neuron – Structure</vt:lpstr>
      <vt:lpstr>Neurons – Structure (continued)</vt:lpstr>
      <vt:lpstr>Simplified</vt:lpstr>
      <vt:lpstr>Differing types of neurons</vt:lpstr>
      <vt:lpstr>Action Potential</vt:lpstr>
      <vt:lpstr>Action Potential (continued)</vt:lpstr>
      <vt:lpstr>Action Potential (still going…)</vt:lpstr>
      <vt:lpstr>Action Potential (seriously, how long should this be?)</vt:lpstr>
      <vt:lpstr>Action Potential (finally, the end)</vt:lpstr>
      <vt:lpstr>The CNS and the brain</vt:lpstr>
      <vt:lpstr>CSF – cerebrospinal fluid</vt:lpstr>
      <vt:lpstr>CNS and protection made simple</vt:lpstr>
      <vt:lpstr>The Brains features</vt:lpstr>
      <vt:lpstr>The Brains features</vt:lpstr>
      <vt:lpstr>The 4 Lobes (not including the Insula)</vt:lpstr>
      <vt:lpstr>Spinal Cord</vt:lpstr>
      <vt:lpstr>Receptors and their stimuli (You can tell I was slowly losing the will to write, can’t you?)</vt:lpstr>
      <vt:lpstr>Reflex Arc</vt:lpstr>
      <vt:lpstr>Reflexes (last simplification)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Nervous System Review</dc:title>
  <dc:creator>Max Needham</dc:creator>
  <cp:lastModifiedBy>Max Needham</cp:lastModifiedBy>
  <cp:revision>62</cp:revision>
  <dcterms:created xsi:type="dcterms:W3CDTF">2018-09-10T03:13:24Z</dcterms:created>
  <dcterms:modified xsi:type="dcterms:W3CDTF">2018-09-17T03:38:40Z</dcterms:modified>
</cp:coreProperties>
</file>
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6" r:id="rId16"/>
    <p:sldId id="277" r:id="rId17"/>
    <p:sldId id="281" r:id="rId18"/>
    <p:sldId id="282" r:id="rId19"/>
    <p:sldId id="283" r:id="rId20"/>
    <p:sldId id="289" r:id="rId21"/>
    <p:sldId id="290" r:id="rId22"/>
    <p:sldId id="291" r:id="rId23"/>
    <p:sldId id="292" r:id="rId24"/>
    <p:sldId id="293" r:id="rId25"/>
    <p:sldId id="294" r:id="rId26"/>
    <p:sldId id="298" r:id="rId27"/>
    <p:sldId id="299" r:id="rId28"/>
    <p:sldId id="300" r:id="rId29"/>
    <p:sldId id="301" r:id="rId30"/>
    <p:sldId id="302" r:id="rId31"/>
    <p:sldId id="303" r:id="rId32"/>
    <p:sldId id="304" r:id="rId33"/>
    <p:sldId id="305" r:id="rId34"/>
    <p:sldId id="306" r:id="rId35"/>
    <p:sldId id="311" r:id="rId36"/>
    <p:sldId id="312" r:id="rId37"/>
    <p:sldId id="313" r:id="rId38"/>
    <p:sldId id="314" r:id="rId39"/>
    <p:sldId id="315" r:id="rId40"/>
    <p:sldId id="316" r:id="rId41"/>
    <p:sldId id="317" r:id="rId42"/>
    <p:sldId id="318" r:id="rId43"/>
    <p:sldId id="319" r:id="rId44"/>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1pPr>
    <a:lvl2pPr marL="114300" marR="0" indent="3429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2pPr>
    <a:lvl3pPr marL="114300" marR="0" indent="6858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3pPr>
    <a:lvl4pPr marL="114300" marR="0" indent="10287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4pPr>
    <a:lvl5pPr marL="114300" marR="0" indent="13716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5pPr>
    <a:lvl6pPr marL="114300" marR="0" indent="17145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6pPr>
    <a:lvl7pPr marL="114300" marR="0" indent="20574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7pPr>
    <a:lvl8pPr marL="114300" marR="0" indent="24003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8pPr>
    <a:lvl9pPr marL="114300" marR="0" indent="27432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D51ADE6A-740E-44AE-83CC-AE7238B6C88D}"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1"/>
    <p:restoredTop sz="94635"/>
  </p:normalViewPr>
  <p:slideViewPr>
    <p:cSldViewPr snapToGrid="0" snapToObjects="1">
      <p:cViewPr varScale="1">
        <p:scale>
          <a:sx n="74" d="100"/>
          <a:sy n="74" d="100"/>
        </p:scale>
        <p:origin x="115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38.jpeg"/><Relationship Id="rId1" Type="http://schemas.openxmlformats.org/officeDocument/2006/relationships/image" Target="../media/image37.jpeg"/></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image" Target="../media/image38.jpeg"/><Relationship Id="rId1" Type="http://schemas.openxmlformats.org/officeDocument/2006/relationships/image" Target="../media/image37.jpeg"/></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18"/>
  <c:chart>
    <c:title>
      <c:tx>
        <c:rich>
          <a:bodyPr rot="0"/>
          <a:lstStyle/>
          <a:p>
            <a:pPr>
              <a:defRPr sz="2400" b="0" i="0" u="none" strike="noStrike">
                <a:solidFill>
                  <a:srgbClr val="000000"/>
                </a:solidFill>
                <a:latin typeface="Arial"/>
              </a:defRPr>
            </a:pPr>
            <a:r>
              <a:rPr lang="en-US" sz="2400" b="0" i="0" u="none" strike="noStrike">
                <a:solidFill>
                  <a:srgbClr val="000000"/>
                </a:solidFill>
                <a:latin typeface="Arial"/>
              </a:rPr>
              <a:t>Effect of UV light on folate</a:t>
            </a:r>
          </a:p>
        </c:rich>
      </c:tx>
      <c:layout>
        <c:manualLayout>
          <c:xMode val="edge"/>
          <c:yMode val="edge"/>
          <c:x val="0"/>
          <c:y val="0"/>
          <c:w val="1"/>
          <c:h val="0.22642300000000001"/>
        </c:manualLayout>
      </c:layout>
      <c:overlay val="1"/>
      <c:spPr>
        <a:noFill/>
        <a:effectLst/>
      </c:spPr>
    </c:title>
    <c:autoTitleDeleted val="0"/>
    <c:plotArea>
      <c:layout>
        <c:manualLayout>
          <c:layoutTarget val="inner"/>
          <c:xMode val="edge"/>
          <c:yMode val="edge"/>
          <c:x val="0.125863"/>
          <c:y val="0.22642300000000001"/>
          <c:w val="0.86913700000000005"/>
          <c:h val="0.59827300000000005"/>
        </c:manualLayout>
      </c:layout>
      <c:barChart>
        <c:barDir val="col"/>
        <c:grouping val="clustered"/>
        <c:varyColors val="0"/>
        <c:ser>
          <c:idx val="0"/>
          <c:order val="0"/>
          <c:tx>
            <c:v/>
          </c:tx>
          <c:spPr>
            <a:blipFill rotWithShape="1">
              <a:blip xmlns:r="http://schemas.openxmlformats.org/officeDocument/2006/relationships" r:embed="rId1"/>
              <a:srcRect/>
              <a:tile tx="0" ty="0" sx="100000" sy="100000" flip="none" algn="tl"/>
            </a:blipFill>
            <a:ln w="12700" cap="flat">
              <a:noFill/>
              <a:miter lim="400000"/>
            </a:ln>
            <a:effectLst/>
          </c:spPr>
          <c:invertIfNegative val="0"/>
          <c:dPt>
            <c:idx val="0"/>
            <c:invertIfNegative val="1"/>
            <c:bubble3D val="0"/>
            <c:extLst>
              <c:ext xmlns:c16="http://schemas.microsoft.com/office/drawing/2014/chart" uri="{C3380CC4-5D6E-409C-BE32-E72D297353CC}">
                <c16:uniqueId val="{00000000-D75F-462C-8B75-AF897C71723B}"/>
              </c:ext>
            </c:extLst>
          </c:dPt>
          <c:dPt>
            <c:idx val="1"/>
            <c:invertIfNegative val="1"/>
            <c:bubble3D val="0"/>
            <c:spPr>
              <a:blipFill rotWithShape="1">
                <a:blip xmlns:r="http://schemas.openxmlformats.org/officeDocument/2006/relationships" r:embed="rId2"/>
                <a:srcRect/>
                <a:tile tx="0" ty="0" sx="100000" sy="100000" flip="none" algn="tl"/>
              </a:blipFill>
              <a:ln w="12700" cap="flat">
                <a:noFill/>
                <a:miter lim="400000"/>
              </a:ln>
              <a:effectLst/>
            </c:spPr>
            <c:extLst>
              <c:ext xmlns:c16="http://schemas.microsoft.com/office/drawing/2014/chart" uri="{C3380CC4-5D6E-409C-BE32-E72D297353CC}">
                <c16:uniqueId val="{00000002-D75F-462C-8B75-AF897C71723B}"/>
              </c:ext>
            </c:extLst>
          </c:dPt>
          <c:cat>
            <c:strLit>
              <c:ptCount val="2"/>
              <c:pt idx="0">
                <c:v>Normal</c:v>
              </c:pt>
              <c:pt idx="1">
                <c:v>Treated</c:v>
              </c:pt>
            </c:strLit>
          </c:cat>
          <c:val>
            <c:numLit>
              <c:formatCode>General</c:formatCode>
              <c:ptCount val="2"/>
              <c:pt idx="0">
                <c:v>7.5</c:v>
              </c:pt>
              <c:pt idx="1">
                <c:v>4</c:v>
              </c:pt>
            </c:numLit>
          </c:val>
          <c:extLst>
            <c:ext xmlns:c16="http://schemas.microsoft.com/office/drawing/2014/chart" uri="{C3380CC4-5D6E-409C-BE32-E72D297353CC}">
              <c16:uniqueId val="{00000003-D75F-462C-8B75-AF897C71723B}"/>
            </c:ext>
          </c:extLst>
        </c:ser>
        <c:dLbls>
          <c:showLegendKey val="0"/>
          <c:showVal val="0"/>
          <c:showCatName val="0"/>
          <c:showSerName val="0"/>
          <c:showPercent val="0"/>
          <c:showBubbleSize val="0"/>
        </c:dLbls>
        <c:gapWidth val="20"/>
        <c:overlap val="-100"/>
        <c:axId val="-2048954800"/>
        <c:axId val="-2048001440"/>
      </c:barChart>
      <c:catAx>
        <c:axId val="-2048954800"/>
        <c:scaling>
          <c:orientation val="minMax"/>
        </c:scaling>
        <c:delete val="0"/>
        <c:axPos val="b"/>
        <c:numFmt formatCode="General" sourceLinked="0"/>
        <c:majorTickMark val="none"/>
        <c:minorTickMark val="none"/>
        <c:tickLblPos val="low"/>
        <c:spPr>
          <a:ln w="12700" cap="flat">
            <a:solidFill>
              <a:srgbClr val="000000"/>
            </a:solidFill>
            <a:prstDash val="solid"/>
            <a:miter lim="400000"/>
          </a:ln>
        </c:spPr>
        <c:txPr>
          <a:bodyPr rot="0"/>
          <a:lstStyle/>
          <a:p>
            <a:pPr>
              <a:defRPr sz="1800" b="0" i="0" u="none" strike="noStrike">
                <a:solidFill>
                  <a:srgbClr val="000000"/>
                </a:solidFill>
                <a:latin typeface="Arial"/>
              </a:defRPr>
            </a:pPr>
            <a:endParaRPr lang="en-US"/>
          </a:p>
        </c:txPr>
        <c:crossAx val="-2048001440"/>
        <c:crosses val="autoZero"/>
        <c:auto val="1"/>
        <c:lblAlgn val="ctr"/>
        <c:lblOffset val="100"/>
        <c:noMultiLvlLbl val="1"/>
      </c:catAx>
      <c:valAx>
        <c:axId val="-2048001440"/>
        <c:scaling>
          <c:orientation val="minMax"/>
        </c:scaling>
        <c:delete val="0"/>
        <c:axPos val="l"/>
        <c:majorGridlines>
          <c:spPr>
            <a:ln w="12700" cap="flat">
              <a:solidFill>
                <a:srgbClr val="444444"/>
              </a:solidFill>
              <a:prstDash val="solid"/>
              <a:miter lim="400000"/>
            </a:ln>
          </c:spPr>
        </c:majorGridlines>
        <c:numFmt formatCode="General" sourceLinked="0"/>
        <c:majorTickMark val="none"/>
        <c:minorTickMark val="none"/>
        <c:tickLblPos val="nextTo"/>
        <c:spPr>
          <a:ln w="12700" cap="flat">
            <a:solidFill>
              <a:srgbClr val="000000"/>
            </a:solidFill>
            <a:prstDash val="solid"/>
            <a:miter lim="400000"/>
          </a:ln>
        </c:spPr>
        <c:txPr>
          <a:bodyPr rot="0"/>
          <a:lstStyle/>
          <a:p>
            <a:pPr>
              <a:defRPr sz="1800" b="0" i="0" u="none" strike="noStrike">
                <a:solidFill>
                  <a:srgbClr val="000000"/>
                </a:solidFill>
                <a:latin typeface="Arial"/>
              </a:defRPr>
            </a:pPr>
            <a:endParaRPr lang="en-US"/>
          </a:p>
        </c:txPr>
        <c:crossAx val="-2048954800"/>
        <c:crosses val="autoZero"/>
        <c:crossBetween val="between"/>
        <c:majorUnit val="2"/>
        <c:minorUnit val="1"/>
      </c:valAx>
      <c:spPr>
        <a:noFill/>
        <a:ln w="12700" cap="flat">
          <a:solidFill>
            <a:srgbClr val="000000"/>
          </a:solidFill>
          <a:prstDash val="solid"/>
          <a:miter lim="400000"/>
        </a:ln>
        <a:effectLst/>
      </c:spPr>
    </c:plotArea>
    <c:plotVisOnly val="1"/>
    <c:dispBlanksAs val="gap"/>
    <c:showDLblsOverMax val="1"/>
  </c:chart>
  <c:spPr>
    <a:noFill/>
    <a:ln>
      <a:noFill/>
    </a:ln>
    <a:effectLst/>
  </c:sp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18"/>
  <c:chart>
    <c:title>
      <c:tx>
        <c:rich>
          <a:bodyPr rot="0"/>
          <a:lstStyle/>
          <a:p>
            <a:pPr>
              <a:defRPr sz="2400" b="0" i="0" u="none" strike="noStrike">
                <a:solidFill>
                  <a:srgbClr val="000000"/>
                </a:solidFill>
                <a:latin typeface="Arial"/>
              </a:defRPr>
            </a:pPr>
            <a:r>
              <a:rPr lang="en-US" sz="2400" b="0" i="0" u="none" strike="noStrike">
                <a:solidFill>
                  <a:srgbClr val="000000"/>
                </a:solidFill>
                <a:latin typeface="Arial"/>
              </a:rPr>
              <a:t>Effect of UV light on vitamin D</a:t>
            </a:r>
          </a:p>
        </c:rich>
      </c:tx>
      <c:layout>
        <c:manualLayout>
          <c:xMode val="edge"/>
          <c:yMode val="edge"/>
          <c:x val="0"/>
          <c:y val="0"/>
          <c:w val="1"/>
          <c:h val="0.22642300000000001"/>
        </c:manualLayout>
      </c:layout>
      <c:overlay val="1"/>
      <c:spPr>
        <a:noFill/>
        <a:effectLst/>
      </c:spPr>
    </c:title>
    <c:autoTitleDeleted val="0"/>
    <c:plotArea>
      <c:layout>
        <c:manualLayout>
          <c:layoutTarget val="inner"/>
          <c:xMode val="edge"/>
          <c:yMode val="edge"/>
          <c:x val="0.201599"/>
          <c:y val="0.22642300000000001"/>
          <c:w val="0.79340100000000002"/>
          <c:h val="0.59827300000000005"/>
        </c:manualLayout>
      </c:layout>
      <c:barChart>
        <c:barDir val="col"/>
        <c:grouping val="clustered"/>
        <c:varyColors val="0"/>
        <c:ser>
          <c:idx val="0"/>
          <c:order val="0"/>
          <c:tx>
            <c:v/>
          </c:tx>
          <c:spPr>
            <a:blipFill rotWithShape="1">
              <a:blip xmlns:r="http://schemas.openxmlformats.org/officeDocument/2006/relationships" r:embed="rId1"/>
              <a:srcRect/>
              <a:tile tx="0" ty="0" sx="100000" sy="100000" flip="none" algn="tl"/>
            </a:blipFill>
            <a:ln w="12700" cap="flat">
              <a:noFill/>
              <a:miter lim="400000"/>
            </a:ln>
            <a:effectLst/>
          </c:spPr>
          <c:invertIfNegative val="0"/>
          <c:dPt>
            <c:idx val="0"/>
            <c:invertIfNegative val="1"/>
            <c:bubble3D val="0"/>
            <c:extLst>
              <c:ext xmlns:c16="http://schemas.microsoft.com/office/drawing/2014/chart" uri="{C3380CC4-5D6E-409C-BE32-E72D297353CC}">
                <c16:uniqueId val="{00000000-EFD8-464E-96AA-4C678A5806AE}"/>
              </c:ext>
            </c:extLst>
          </c:dPt>
          <c:dPt>
            <c:idx val="1"/>
            <c:invertIfNegative val="1"/>
            <c:bubble3D val="0"/>
            <c:spPr>
              <a:blipFill rotWithShape="1">
                <a:blip xmlns:r="http://schemas.openxmlformats.org/officeDocument/2006/relationships" r:embed="rId2"/>
                <a:srcRect/>
                <a:tile tx="0" ty="0" sx="100000" sy="100000" flip="none" algn="tl"/>
              </a:blipFill>
              <a:ln w="12700" cap="flat">
                <a:noFill/>
                <a:miter lim="400000"/>
              </a:ln>
              <a:effectLst/>
            </c:spPr>
            <c:extLst>
              <c:ext xmlns:c16="http://schemas.microsoft.com/office/drawing/2014/chart" uri="{C3380CC4-5D6E-409C-BE32-E72D297353CC}">
                <c16:uniqueId val="{00000002-EFD8-464E-96AA-4C678A5806AE}"/>
              </c:ext>
            </c:extLst>
          </c:dPt>
          <c:cat>
            <c:strLit>
              <c:ptCount val="2"/>
              <c:pt idx="0">
                <c:v>Before</c:v>
              </c:pt>
              <c:pt idx="1">
                <c:v>After</c:v>
              </c:pt>
            </c:strLit>
          </c:cat>
          <c:val>
            <c:numLit>
              <c:formatCode>General</c:formatCode>
              <c:ptCount val="2"/>
              <c:pt idx="0">
                <c:v>60</c:v>
              </c:pt>
              <c:pt idx="1">
                <c:v>140</c:v>
              </c:pt>
            </c:numLit>
          </c:val>
          <c:extLst>
            <c:ext xmlns:c16="http://schemas.microsoft.com/office/drawing/2014/chart" uri="{C3380CC4-5D6E-409C-BE32-E72D297353CC}">
              <c16:uniqueId val="{00000003-EFD8-464E-96AA-4C678A5806AE}"/>
            </c:ext>
          </c:extLst>
        </c:ser>
        <c:dLbls>
          <c:showLegendKey val="0"/>
          <c:showVal val="0"/>
          <c:showCatName val="0"/>
          <c:showSerName val="0"/>
          <c:showPercent val="0"/>
          <c:showBubbleSize val="0"/>
        </c:dLbls>
        <c:gapWidth val="20"/>
        <c:overlap val="-100"/>
        <c:axId val="-2128190736"/>
        <c:axId val="-2128198192"/>
      </c:barChart>
      <c:catAx>
        <c:axId val="-2128190736"/>
        <c:scaling>
          <c:orientation val="minMax"/>
        </c:scaling>
        <c:delete val="0"/>
        <c:axPos val="b"/>
        <c:numFmt formatCode="General" sourceLinked="0"/>
        <c:majorTickMark val="none"/>
        <c:minorTickMark val="none"/>
        <c:tickLblPos val="low"/>
        <c:spPr>
          <a:ln w="12700" cap="flat">
            <a:solidFill>
              <a:srgbClr val="000000"/>
            </a:solidFill>
            <a:prstDash val="solid"/>
            <a:miter lim="400000"/>
          </a:ln>
        </c:spPr>
        <c:txPr>
          <a:bodyPr rot="0"/>
          <a:lstStyle/>
          <a:p>
            <a:pPr>
              <a:defRPr sz="1800" b="0" i="0" u="none" strike="noStrike">
                <a:solidFill>
                  <a:srgbClr val="000000"/>
                </a:solidFill>
                <a:latin typeface="Arial"/>
              </a:defRPr>
            </a:pPr>
            <a:endParaRPr lang="en-US"/>
          </a:p>
        </c:txPr>
        <c:crossAx val="-2128198192"/>
        <c:crosses val="autoZero"/>
        <c:auto val="1"/>
        <c:lblAlgn val="ctr"/>
        <c:lblOffset val="100"/>
        <c:noMultiLvlLbl val="1"/>
      </c:catAx>
      <c:valAx>
        <c:axId val="-2128198192"/>
        <c:scaling>
          <c:orientation val="minMax"/>
        </c:scaling>
        <c:delete val="0"/>
        <c:axPos val="l"/>
        <c:majorGridlines>
          <c:spPr>
            <a:ln w="12700" cap="flat">
              <a:solidFill>
                <a:srgbClr val="444444"/>
              </a:solidFill>
              <a:prstDash val="solid"/>
              <a:miter lim="400000"/>
            </a:ln>
          </c:spPr>
        </c:majorGridlines>
        <c:numFmt formatCode="General" sourceLinked="0"/>
        <c:majorTickMark val="none"/>
        <c:minorTickMark val="none"/>
        <c:tickLblPos val="nextTo"/>
        <c:spPr>
          <a:ln w="12700" cap="flat">
            <a:solidFill>
              <a:srgbClr val="000000"/>
            </a:solidFill>
            <a:prstDash val="solid"/>
            <a:miter lim="400000"/>
          </a:ln>
        </c:spPr>
        <c:txPr>
          <a:bodyPr rot="0"/>
          <a:lstStyle/>
          <a:p>
            <a:pPr>
              <a:defRPr sz="1800" b="0" i="0" u="none" strike="noStrike">
                <a:solidFill>
                  <a:srgbClr val="000000"/>
                </a:solidFill>
                <a:latin typeface="Arial"/>
              </a:defRPr>
            </a:pPr>
            <a:endParaRPr lang="en-US"/>
          </a:p>
        </c:txPr>
        <c:crossAx val="-2128190736"/>
        <c:crosses val="autoZero"/>
        <c:crossBetween val="between"/>
        <c:majorUnit val="35"/>
        <c:minorUnit val="17.5"/>
      </c:valAx>
      <c:spPr>
        <a:noFill/>
        <a:ln w="12700" cap="flat">
          <a:solidFill>
            <a:srgbClr val="000000"/>
          </a:solidFill>
          <a:prstDash val="solid"/>
          <a:miter lim="400000"/>
        </a:ln>
        <a:effectLst/>
      </c:spPr>
    </c:plotArea>
    <c:plotVisOnly val="1"/>
    <c:dispBlanksAs val="gap"/>
    <c:showDLblsOverMax val="1"/>
  </c:chart>
  <c:spPr>
    <a:noFill/>
    <a:ln>
      <a:noFill/>
    </a:ln>
    <a:effectLst/>
  </c:spPr>
  <c:externalData r:id="rId3">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1" name="Shape 71"/>
          <p:cNvSpPr>
            <a:spLocks noGrp="1" noRot="1" noChangeAspect="1"/>
          </p:cNvSpPr>
          <p:nvPr>
            <p:ph type="sldImg"/>
          </p:nvPr>
        </p:nvSpPr>
        <p:spPr>
          <a:xfrm>
            <a:off x="1143000" y="685800"/>
            <a:ext cx="4572000" cy="3429000"/>
          </a:xfrm>
          <a:prstGeom prst="rect">
            <a:avLst/>
          </a:prstGeom>
        </p:spPr>
        <p:txBody>
          <a:bodyPr/>
          <a:lstStyle/>
          <a:p>
            <a:endParaRPr/>
          </a:p>
        </p:txBody>
      </p:sp>
      <p:sp>
        <p:nvSpPr>
          <p:cNvPr id="72" name="Shape 72"/>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736844725"/>
      </p:ext>
    </p:extLst>
  </p:cSld>
  <p:clrMap bg1="lt1" tx1="dk1" bg2="lt2" tx2="dk2" accent1="accent1" accent2="accent2" accent3="accent3" accent4="accent4" accent5="accent5" accent6="accent6" hlink="hlink" folHlink="folHlink"/>
  <p:notesStyle>
    <a:lvl1pPr defTabSz="457200" latinLnBrk="0">
      <a:defRPr sz="1600">
        <a:latin typeface="Lucida Grande"/>
        <a:ea typeface="Lucida Grande"/>
        <a:cs typeface="Lucida Grande"/>
        <a:sym typeface="Lucida Grande"/>
      </a:defRPr>
    </a:lvl1pPr>
    <a:lvl2pPr indent="228600" defTabSz="457200" latinLnBrk="0">
      <a:defRPr sz="1600">
        <a:latin typeface="Lucida Grande"/>
        <a:ea typeface="Lucida Grande"/>
        <a:cs typeface="Lucida Grande"/>
        <a:sym typeface="Lucida Grande"/>
      </a:defRPr>
    </a:lvl2pPr>
    <a:lvl3pPr indent="457200" defTabSz="457200" latinLnBrk="0">
      <a:defRPr sz="1600">
        <a:latin typeface="Lucida Grande"/>
        <a:ea typeface="Lucida Grande"/>
        <a:cs typeface="Lucida Grande"/>
        <a:sym typeface="Lucida Grande"/>
      </a:defRPr>
    </a:lvl3pPr>
    <a:lvl4pPr indent="685800" defTabSz="457200" latinLnBrk="0">
      <a:defRPr sz="1600">
        <a:latin typeface="Lucida Grande"/>
        <a:ea typeface="Lucida Grande"/>
        <a:cs typeface="Lucida Grande"/>
        <a:sym typeface="Lucida Grande"/>
      </a:defRPr>
    </a:lvl4pPr>
    <a:lvl5pPr indent="914400" defTabSz="457200" latinLnBrk="0">
      <a:defRPr sz="1600">
        <a:latin typeface="Lucida Grande"/>
        <a:ea typeface="Lucida Grande"/>
        <a:cs typeface="Lucida Grande"/>
        <a:sym typeface="Lucida Grande"/>
      </a:defRPr>
    </a:lvl5pPr>
    <a:lvl6pPr indent="1143000" defTabSz="457200" latinLnBrk="0">
      <a:defRPr sz="1600">
        <a:latin typeface="Lucida Grande"/>
        <a:ea typeface="Lucida Grande"/>
        <a:cs typeface="Lucida Grande"/>
        <a:sym typeface="Lucida Grande"/>
      </a:defRPr>
    </a:lvl6pPr>
    <a:lvl7pPr indent="1371600" defTabSz="457200" latinLnBrk="0">
      <a:defRPr sz="1600">
        <a:latin typeface="Lucida Grande"/>
        <a:ea typeface="Lucida Grande"/>
        <a:cs typeface="Lucida Grande"/>
        <a:sym typeface="Lucida Grande"/>
      </a:defRPr>
    </a:lvl7pPr>
    <a:lvl8pPr indent="1600200" defTabSz="457200" latinLnBrk="0">
      <a:defRPr sz="1600">
        <a:latin typeface="Lucida Grande"/>
        <a:ea typeface="Lucida Grande"/>
        <a:cs typeface="Lucida Grande"/>
        <a:sym typeface="Lucida Grande"/>
      </a:defRPr>
    </a:lvl8pPr>
    <a:lvl9pPr indent="1828800" defTabSz="457200" latinLnBrk="0">
      <a:defRPr sz="16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biozone.com.au"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6" name="Shape 16"/>
          <p:cNvSpPr>
            <a:spLocks noGrp="1"/>
          </p:cNvSpPr>
          <p:nvPr>
            <p:ph type="title"/>
          </p:nvPr>
        </p:nvSpPr>
        <p:spPr>
          <a:xfrm>
            <a:off x="368300" y="368300"/>
            <a:ext cx="12192000" cy="916236"/>
          </a:xfrm>
          <a:prstGeom prst="rect">
            <a:avLst/>
          </a:prstGeom>
        </p:spPr>
        <p:txBody>
          <a:bodyPr lIns="0" tIns="0" rIns="0" bIns="0" anchor="b"/>
          <a:lstStyle>
            <a:lvl1pPr defTabSz="457200">
              <a:tabLst>
                <a:tab pos="952500" algn="l"/>
              </a:tabLst>
              <a:defRPr>
                <a:solidFill>
                  <a:srgbClr val="000000"/>
                </a:solidFill>
              </a:defRPr>
            </a:lvl1pPr>
          </a:lstStyle>
          <a:p>
            <a:r>
              <a:t>Title Text</a:t>
            </a:r>
          </a:p>
        </p:txBody>
      </p:sp>
      <p:sp>
        <p:nvSpPr>
          <p:cNvPr id="17" name="Shape 17"/>
          <p:cNvSpPr>
            <a:spLocks noGrp="1"/>
          </p:cNvSpPr>
          <p:nvPr>
            <p:ph type="body" sz="half" idx="1"/>
          </p:nvPr>
        </p:nvSpPr>
        <p:spPr>
          <a:xfrm>
            <a:off x="368300" y="1790700"/>
            <a:ext cx="5956300" cy="7543800"/>
          </a:xfrm>
          <a:prstGeom prst="rect">
            <a:avLst/>
          </a:prstGeom>
        </p:spPr>
        <p:txBody>
          <a:bodyPr numCol="1" spcCol="38100"/>
          <a:lstStyle>
            <a:lvl1pPr defTabSz="457200">
              <a:spcBef>
                <a:spcPts val="2000"/>
              </a:spcBef>
              <a:tabLst>
                <a:tab pos="1016000" algn="l"/>
              </a:tabLst>
              <a:defRPr b="0"/>
            </a:lvl1pPr>
            <a:lvl2pPr marL="648000" indent="-288000" defTabSz="457200">
              <a:spcBef>
                <a:spcPts val="1500"/>
              </a:spcBef>
              <a:buSzPct val="125000"/>
              <a:tabLst>
                <a:tab pos="1485900" algn="l"/>
              </a:tabLst>
              <a:defRPr sz="2000"/>
            </a:lvl2pPr>
            <a:lvl3pPr marL="936000" indent="-288000" defTabSz="457200">
              <a:spcBef>
                <a:spcPts val="400"/>
              </a:spcBef>
              <a:tabLst>
                <a:tab pos="1638300" algn="l"/>
              </a:tabLst>
              <a:defRPr sz="1800"/>
            </a:lvl3pPr>
            <a:lvl4pPr marL="1223999" indent="-288000" defTabSz="457200">
              <a:spcBef>
                <a:spcPts val="400"/>
              </a:spcBef>
              <a:tabLst>
                <a:tab pos="2235200" algn="l"/>
              </a:tabLst>
              <a:defRPr sz="1800"/>
            </a:lvl4pPr>
            <a:lvl5pPr marL="1512000" indent="-288000" defTabSz="457200">
              <a:spcBef>
                <a:spcPts val="400"/>
              </a:spcBef>
              <a:tabLst>
                <a:tab pos="2616200" algn="l"/>
              </a:tabLst>
              <a:defRPr sz="1800"/>
            </a:lvl5pPr>
          </a:lstStyle>
          <a:p>
            <a:r>
              <a:t>Body Level One</a:t>
            </a:r>
          </a:p>
          <a:p>
            <a:pPr lvl="1"/>
            <a:r>
              <a:t>Body Level Two</a:t>
            </a:r>
          </a:p>
          <a:p>
            <a:pPr lvl="2"/>
            <a:r>
              <a:t>Body Level Three</a:t>
            </a:r>
          </a:p>
          <a:p>
            <a:pPr lvl="3"/>
            <a:r>
              <a:t>Body Level Four</a:t>
            </a:r>
          </a:p>
          <a:p>
            <a:pPr lvl="4"/>
            <a:r>
              <a:t>Body Level Five</a:t>
            </a:r>
          </a:p>
        </p:txBody>
      </p:sp>
      <p:sp>
        <p:nvSpPr>
          <p:cNvPr id="18" name="Shape 18"/>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ontents">
    <p:spTree>
      <p:nvGrpSpPr>
        <p:cNvPr id="1" name=""/>
        <p:cNvGrpSpPr/>
        <p:nvPr/>
      </p:nvGrpSpPr>
      <p:grpSpPr>
        <a:xfrm>
          <a:off x="0" y="0"/>
          <a:ext cx="0" cy="0"/>
          <a:chOff x="0" y="0"/>
          <a:chExt cx="0" cy="0"/>
        </a:xfrm>
      </p:grpSpPr>
      <p:sp>
        <p:nvSpPr>
          <p:cNvPr id="25" name="Shape 25"/>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hape 2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Colour BG">
    <p:spTree>
      <p:nvGrpSpPr>
        <p:cNvPr id="1" name=""/>
        <p:cNvGrpSpPr/>
        <p:nvPr/>
      </p:nvGrpSpPr>
      <p:grpSpPr>
        <a:xfrm>
          <a:off x="0" y="0"/>
          <a:ext cx="0" cy="0"/>
          <a:chOff x="0" y="0"/>
          <a:chExt cx="0" cy="0"/>
        </a:xfrm>
      </p:grpSpPr>
      <p:sp>
        <p:nvSpPr>
          <p:cNvPr id="33" name="Shape 33"/>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34" name="Shape 34"/>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BIOZONE BRANDING">
    <p:bg>
      <p:bgPr>
        <a:solidFill>
          <a:srgbClr val="FFFFFF"/>
        </a:solidFill>
        <a:effectLst/>
      </p:bgPr>
    </p:bg>
    <p:spTree>
      <p:nvGrpSpPr>
        <p:cNvPr id="1" name=""/>
        <p:cNvGrpSpPr/>
        <p:nvPr/>
      </p:nvGrpSpPr>
      <p:grpSpPr>
        <a:xfrm>
          <a:off x="0" y="0"/>
          <a:ext cx="0" cy="0"/>
          <a:chOff x="0" y="0"/>
          <a:chExt cx="0" cy="0"/>
        </a:xfrm>
      </p:grpSpPr>
      <p:sp>
        <p:nvSpPr>
          <p:cNvPr id="41" name="Shape 41"/>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42" name="Shape 42"/>
          <p:cNvSpPr/>
          <p:nvPr/>
        </p:nvSpPr>
        <p:spPr>
          <a:xfrm>
            <a:off x="-12700" y="8001000"/>
            <a:ext cx="13035992" cy="1772920"/>
          </a:xfrm>
          <a:custGeom>
            <a:avLst/>
            <a:gdLst/>
            <a:ahLst/>
            <a:cxnLst>
              <a:cxn ang="0">
                <a:pos x="wd2" y="hd2"/>
              </a:cxn>
              <a:cxn ang="5400000">
                <a:pos x="wd2" y="hd2"/>
              </a:cxn>
              <a:cxn ang="10800000">
                <a:pos x="wd2" y="hd2"/>
              </a:cxn>
              <a:cxn ang="16200000">
                <a:pos x="wd2" y="hd2"/>
              </a:cxn>
            </a:cxnLst>
            <a:rect l="0" t="0" r="r" b="b"/>
            <a:pathLst>
              <a:path w="21600" h="20382" extrusionOk="0">
                <a:moveTo>
                  <a:pt x="3" y="4435"/>
                </a:moveTo>
                <a:cubicBezTo>
                  <a:pt x="3" y="4435"/>
                  <a:pt x="61" y="4261"/>
                  <a:pt x="79" y="4247"/>
                </a:cubicBezTo>
                <a:cubicBezTo>
                  <a:pt x="6196" y="-358"/>
                  <a:pt x="14555" y="-1218"/>
                  <a:pt x="21509" y="1666"/>
                </a:cubicBezTo>
                <a:cubicBezTo>
                  <a:pt x="21539" y="1679"/>
                  <a:pt x="21600" y="1704"/>
                  <a:pt x="21600" y="1704"/>
                </a:cubicBezTo>
                <a:lnTo>
                  <a:pt x="21590" y="20382"/>
                </a:lnTo>
                <a:lnTo>
                  <a:pt x="0" y="20382"/>
                </a:lnTo>
                <a:lnTo>
                  <a:pt x="3" y="4435"/>
                </a:lnTo>
                <a:close/>
              </a:path>
            </a:pathLst>
          </a:custGeom>
          <a:solidFill>
            <a:srgbClr val="000000"/>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43" name="BIOZONE_logo_horizontal_on_Black.png"/>
          <p:cNvPicPr>
            <a:picLocks noChangeAspect="1"/>
          </p:cNvPicPr>
          <p:nvPr/>
        </p:nvPicPr>
        <p:blipFill>
          <a:blip r:embed="rId2">
            <a:extLst/>
          </a:blip>
          <a:stretch>
            <a:fillRect/>
          </a:stretch>
        </p:blipFill>
        <p:spPr>
          <a:xfrm>
            <a:off x="1231900" y="8610081"/>
            <a:ext cx="3632200" cy="815393"/>
          </a:xfrm>
          <a:prstGeom prst="rect">
            <a:avLst/>
          </a:prstGeom>
          <a:ln w="12700">
            <a:miter lim="400000"/>
          </a:ln>
        </p:spPr>
      </p:pic>
      <p:sp>
        <p:nvSpPr>
          <p:cNvPr id="44" name="Shape 44"/>
          <p:cNvSpPr/>
          <p:nvPr/>
        </p:nvSpPr>
        <p:spPr>
          <a:xfrm>
            <a:off x="5791200" y="8775700"/>
            <a:ext cx="2641600" cy="6364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ct val="40000"/>
              </a:lnSpc>
              <a:spcBef>
                <a:spcPts val="1400"/>
              </a:spcBef>
              <a:tabLst>
                <a:tab pos="520700" algn="l"/>
              </a:tabLst>
              <a:defRPr sz="2200">
                <a:solidFill>
                  <a:srgbClr val="483F36"/>
                </a:solidFill>
              </a:defRPr>
            </a:pPr>
            <a:r>
              <a:rPr>
                <a:solidFill>
                  <a:srgbClr val="FFFFFF"/>
                </a:solidFill>
              </a:rPr>
              <a:t>Copyright © 2017</a:t>
            </a:r>
          </a:p>
          <a:p>
            <a:pPr>
              <a:lnSpc>
                <a:spcPct val="40000"/>
              </a:lnSpc>
              <a:spcBef>
                <a:spcPts val="1400"/>
              </a:spcBef>
              <a:tabLst>
                <a:tab pos="520700" algn="l"/>
              </a:tabLst>
              <a:defRPr sz="2200">
                <a:solidFill>
                  <a:srgbClr val="483F36"/>
                </a:solidFill>
              </a:defRPr>
            </a:pPr>
            <a:r>
              <a:rPr>
                <a:solidFill>
                  <a:srgbClr val="FFFFFF"/>
                </a:solidFill>
              </a:rPr>
              <a:t>All rights reserved</a:t>
            </a:r>
          </a:p>
        </p:txBody>
      </p:sp>
      <p:sp>
        <p:nvSpPr>
          <p:cNvPr id="45" name="Shape 45"/>
          <p:cNvSpPr/>
          <p:nvPr/>
        </p:nvSpPr>
        <p:spPr>
          <a:xfrm>
            <a:off x="8382000" y="8775700"/>
            <a:ext cx="4038600" cy="6364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ct val="40000"/>
              </a:lnSpc>
              <a:spcBef>
                <a:spcPts val="1400"/>
              </a:spcBef>
              <a:tabLst>
                <a:tab pos="520700" algn="l"/>
              </a:tabLst>
              <a:defRPr sz="2200">
                <a:solidFill>
                  <a:srgbClr val="483F36"/>
                </a:solidFill>
              </a:defRPr>
            </a:pPr>
            <a:r>
              <a:rPr b="1">
                <a:solidFill>
                  <a:srgbClr val="FFFFFF"/>
                </a:solidFill>
              </a:rPr>
              <a:t>BIOZONE International Ltd</a:t>
            </a:r>
            <a:endParaRPr>
              <a:solidFill>
                <a:srgbClr val="FFFFFF"/>
              </a:solidFill>
            </a:endParaRPr>
          </a:p>
          <a:p>
            <a:pPr>
              <a:lnSpc>
                <a:spcPct val="40000"/>
              </a:lnSpc>
              <a:spcBef>
                <a:spcPts val="1400"/>
              </a:spcBef>
              <a:tabLst>
                <a:tab pos="520700" algn="l"/>
              </a:tabLst>
              <a:defRPr sz="2200">
                <a:solidFill>
                  <a:srgbClr val="483F36"/>
                </a:solidFill>
              </a:defRPr>
            </a:pPr>
            <a:r>
              <a:rPr u="sng">
                <a:solidFill>
                  <a:srgbClr val="FFFFFF"/>
                </a:solidFill>
                <a:hlinkClick r:id="rId3"/>
              </a:rPr>
              <a:t>http://www.biozone.com.au</a:t>
            </a:r>
          </a:p>
        </p:txBody>
      </p:sp>
      <p:sp>
        <p:nvSpPr>
          <p:cNvPr id="46" name="Shape 46"/>
          <p:cNvSpPr>
            <a:spLocks noGrp="1"/>
          </p:cNvSpPr>
          <p:nvPr>
            <p:ph type="title"/>
          </p:nvPr>
        </p:nvSpPr>
        <p:spPr>
          <a:xfrm>
            <a:off x="719999" y="359999"/>
            <a:ext cx="11912601" cy="1943101"/>
          </a:xfrm>
          <a:prstGeom prst="rect">
            <a:avLst/>
          </a:prstGeom>
        </p:spPr>
        <p:txBody>
          <a:bodyPr lIns="0" tIns="0" rIns="0" bIns="0"/>
          <a:lstStyle>
            <a:lvl1pPr defTabSz="457200">
              <a:tabLst>
                <a:tab pos="952500" algn="l"/>
              </a:tabLst>
            </a:lvl1pPr>
          </a:lstStyle>
          <a:p>
            <a:r>
              <a:t>Title Text</a:t>
            </a:r>
          </a:p>
        </p:txBody>
      </p:sp>
      <p:sp>
        <p:nvSpPr>
          <p:cNvPr id="47" name="Shape 47"/>
          <p:cNvSpPr>
            <a:spLocks noGrp="1"/>
          </p:cNvSpPr>
          <p:nvPr>
            <p:ph type="body" idx="1"/>
          </p:nvPr>
        </p:nvSpPr>
        <p:spPr>
          <a:xfrm>
            <a:off x="728300" y="1800000"/>
            <a:ext cx="10566401" cy="6273801"/>
          </a:xfrm>
          <a:prstGeom prst="rect">
            <a:avLst/>
          </a:prstGeom>
        </p:spPr>
        <p:txBody>
          <a:bodyPr numCol="1" spcCol="38100"/>
          <a:lstStyle>
            <a:lvl1pPr marL="381000" indent="-381000" defTabSz="457200">
              <a:lnSpc>
                <a:spcPts val="1900"/>
              </a:lnSpc>
              <a:spcBef>
                <a:spcPts val="2000"/>
              </a:spcBef>
              <a:buClr>
                <a:srgbClr val="FFFFFF"/>
              </a:buClr>
              <a:buSzPct val="200000"/>
              <a:tabLst>
                <a:tab pos="1016000" algn="l"/>
              </a:tabLst>
              <a:defRPr sz="1600" b="0">
                <a:solidFill>
                  <a:srgbClr val="FFFFFF"/>
                </a:solidFill>
              </a:defRPr>
            </a:lvl1pPr>
            <a:lvl2pPr marL="633599" indent="-252000" defTabSz="457200">
              <a:lnSpc>
                <a:spcPts val="1400"/>
              </a:lnSpc>
              <a:spcBef>
                <a:spcPts val="600"/>
              </a:spcBef>
              <a:tabLst>
                <a:tab pos="1485900" algn="l"/>
              </a:tabLst>
              <a:defRPr sz="1200">
                <a:solidFill>
                  <a:srgbClr val="FFFFFF"/>
                </a:solidFill>
              </a:defRPr>
            </a:lvl2pPr>
            <a:lvl3pPr marL="900000" indent="-252000" defTabSz="457200">
              <a:lnSpc>
                <a:spcPts val="1400"/>
              </a:lnSpc>
              <a:spcBef>
                <a:spcPts val="600"/>
              </a:spcBef>
              <a:tabLst>
                <a:tab pos="1638300" algn="l"/>
              </a:tabLst>
              <a:defRPr sz="1200">
                <a:solidFill>
                  <a:srgbClr val="FFFFFF"/>
                </a:solidFill>
              </a:defRPr>
            </a:lvl3pPr>
            <a:lvl4pPr marL="1152000" indent="-252000" defTabSz="457200">
              <a:lnSpc>
                <a:spcPts val="1400"/>
              </a:lnSpc>
              <a:spcBef>
                <a:spcPts val="600"/>
              </a:spcBef>
              <a:buFont typeface="Gill Sans"/>
              <a:tabLst>
                <a:tab pos="2235200" algn="l"/>
              </a:tabLst>
              <a:defRPr sz="1200">
                <a:solidFill>
                  <a:srgbClr val="FFFFFF"/>
                </a:solidFill>
              </a:defRPr>
            </a:lvl4pPr>
            <a:lvl5pPr marL="1403999" indent="-252000" defTabSz="457200">
              <a:lnSpc>
                <a:spcPts val="1400"/>
              </a:lnSpc>
              <a:spcBef>
                <a:spcPts val="600"/>
              </a:spcBef>
              <a:buFont typeface="Gill Sans"/>
              <a:tabLst>
                <a:tab pos="2616200" algn="l"/>
              </a:tabLst>
              <a:defRPr sz="12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48" name="Shape 48"/>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lour BG">
    <p:spTree>
      <p:nvGrpSpPr>
        <p:cNvPr id="1" name=""/>
        <p:cNvGrpSpPr/>
        <p:nvPr/>
      </p:nvGrpSpPr>
      <p:grpSpPr>
        <a:xfrm>
          <a:off x="0" y="0"/>
          <a:ext cx="0" cy="0"/>
          <a:chOff x="0" y="0"/>
          <a:chExt cx="0" cy="0"/>
        </a:xfrm>
      </p:grpSpPr>
      <p:sp>
        <p:nvSpPr>
          <p:cNvPr id="55" name="Shape 55"/>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56" name="Shape 56"/>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7"/>
          <a:srcRect/>
          <a:stretch>
            <a:fillRect/>
          </a:stretch>
        </a:blipFill>
        <a:effectLst/>
      </p:bgPr>
    </p:bg>
    <p:spTree>
      <p:nvGrpSpPr>
        <p:cNvPr id="1" name=""/>
        <p:cNvGrpSpPr/>
        <p:nvPr/>
      </p:nvGrpSpPr>
      <p:grpSpPr>
        <a:xfrm>
          <a:off x="0" y="0"/>
          <a:ext cx="0" cy="0"/>
          <a:chOff x="0" y="0"/>
          <a:chExt cx="0" cy="0"/>
        </a:xfrm>
      </p:grpSpPr>
      <p:sp>
        <p:nvSpPr>
          <p:cNvPr id="2" name="Shape 2"/>
          <p:cNvSpPr/>
          <p:nvPr/>
        </p:nvSpPr>
        <p:spPr>
          <a:xfrm>
            <a:off x="0" y="0"/>
            <a:ext cx="13017500" cy="1511300"/>
          </a:xfrm>
          <a:prstGeom prst="rect">
            <a:avLst/>
          </a:prstGeom>
          <a:gradFill>
            <a:gsLst>
              <a:gs pos="0">
                <a:srgbClr val="006994">
                  <a:alpha val="50000"/>
                </a:srgbClr>
              </a:gs>
              <a:gs pos="100000">
                <a:srgbClr val="006994"/>
              </a:gs>
            </a:gsLst>
            <a:lin ang="10800000"/>
          </a:gradFill>
          <a:ln w="25400">
            <a:miter lim="400000"/>
          </a:ln>
        </p:spPr>
        <p:txBody>
          <a:bodyPr lIns="0" tIns="0" rIns="0" bIns="0" anchor="ctr"/>
          <a:lstStyle/>
          <a:p>
            <a:pPr marL="0" algn="ctr" defTabSz="584200">
              <a:tabLst/>
              <a:defRPr sz="7000">
                <a:solidFill>
                  <a:srgbClr val="FFFFFF"/>
                </a:solidFill>
                <a:effectLst>
                  <a:outerShdw blurRad="38100" dist="12700" dir="5400000" rotWithShape="0">
                    <a:srgbClr val="000000">
                      <a:alpha val="50000"/>
                    </a:srgbClr>
                  </a:outerShdw>
                </a:effectLst>
                <a:latin typeface="Savoye LET"/>
                <a:ea typeface="Savoye LET"/>
                <a:cs typeface="Savoye LET"/>
                <a:sym typeface="Savoye LET"/>
              </a:defRPr>
            </a:pPr>
            <a:endParaRPr/>
          </a:p>
        </p:txBody>
      </p:sp>
      <p:sp>
        <p:nvSpPr>
          <p:cNvPr id="3" name="Shape 3"/>
          <p:cNvSpPr/>
          <p:nvPr/>
        </p:nvSpPr>
        <p:spPr>
          <a:xfrm>
            <a:off x="1041400" y="317500"/>
            <a:ext cx="10680700" cy="12446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marL="0">
              <a:lnSpc>
                <a:spcPct val="90000"/>
              </a:lnSpc>
              <a:tabLst>
                <a:tab pos="952500" algn="l"/>
              </a:tabLst>
              <a:defRPr sz="6400" b="1">
                <a:solidFill>
                  <a:srgbClr val="FFFFFF"/>
                </a:solidFill>
              </a:defRPr>
            </a:lvl1pPr>
          </a:lstStyle>
          <a:p>
            <a:r>
              <a:t>Contents</a:t>
            </a:r>
          </a:p>
        </p:txBody>
      </p:sp>
      <p:sp>
        <p:nvSpPr>
          <p:cNvPr id="4" name="Shape 4"/>
          <p:cNvSpPr/>
          <p:nvPr/>
        </p:nvSpPr>
        <p:spPr>
          <a:xfrm>
            <a:off x="0" y="8978900"/>
            <a:ext cx="13004800" cy="774700"/>
          </a:xfrm>
          <a:prstGeom prst="rect">
            <a:avLst/>
          </a:prstGeom>
          <a:gradFill>
            <a:gsLst>
              <a:gs pos="0">
                <a:srgbClr val="006994">
                  <a:alpha val="50000"/>
                </a:srgbClr>
              </a:gs>
              <a:gs pos="100000">
                <a:srgbClr val="006994"/>
              </a:gs>
            </a:gsLst>
            <a:lin ang="10800000"/>
          </a:gradFill>
          <a:ln w="25400">
            <a:miter lim="400000"/>
          </a:ln>
        </p:spPr>
        <p:txBody>
          <a:bodyPr lIns="0" tIns="0" rIns="0" bIns="0" anchor="ctr"/>
          <a:lstStyle/>
          <a:p>
            <a:pPr marL="0" algn="ctr" defTabSz="584200">
              <a:tabLst/>
              <a:defRPr sz="7000">
                <a:solidFill>
                  <a:srgbClr val="FFFFFF"/>
                </a:solidFill>
                <a:effectLst>
                  <a:outerShdw blurRad="38100" dist="12700" dir="5400000" rotWithShape="0">
                    <a:srgbClr val="000000">
                      <a:alpha val="50000"/>
                    </a:srgbClr>
                  </a:outerShdw>
                </a:effectLst>
                <a:latin typeface="Savoye LET"/>
                <a:ea typeface="Savoye LET"/>
                <a:cs typeface="Savoye LET"/>
                <a:sym typeface="Savoye LET"/>
              </a:defRPr>
            </a:pPr>
            <a:endParaRPr/>
          </a:p>
        </p:txBody>
      </p:sp>
      <p:sp>
        <p:nvSpPr>
          <p:cNvPr id="5" name="Shape 5"/>
          <p:cNvSpPr/>
          <p:nvPr/>
        </p:nvSpPr>
        <p:spPr>
          <a:xfrm>
            <a:off x="1041400" y="9169400"/>
            <a:ext cx="5410200" cy="2837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sz="2000" b="1">
                <a:solidFill>
                  <a:srgbClr val="FFFFFF"/>
                </a:solidFill>
              </a:defRPr>
            </a:lvl1pPr>
          </a:lstStyle>
          <a:p>
            <a:r>
              <a:t>Click on the hyperlink title you wish to view</a:t>
            </a:r>
          </a:p>
        </p:txBody>
      </p:sp>
      <p:pic>
        <p:nvPicPr>
          <p:cNvPr id="6" name="Cursor.png"/>
          <p:cNvPicPr>
            <a:picLocks noChangeAspect="1"/>
          </p:cNvPicPr>
          <p:nvPr/>
        </p:nvPicPr>
        <p:blipFill>
          <a:blip r:embed="rId8">
            <a:extLst/>
          </a:blip>
          <a:stretch>
            <a:fillRect/>
          </a:stretch>
        </p:blipFill>
        <p:spPr>
          <a:xfrm>
            <a:off x="7404100" y="9218014"/>
            <a:ext cx="241300" cy="342901"/>
          </a:xfrm>
          <a:prstGeom prst="rect">
            <a:avLst/>
          </a:prstGeom>
          <a:ln w="12700">
            <a:miter lim="400000"/>
          </a:ln>
        </p:spPr>
      </p:pic>
      <p:sp>
        <p:nvSpPr>
          <p:cNvPr id="7" name="Shape 7"/>
          <p:cNvSpPr>
            <a:spLocks noGrp="1"/>
          </p:cNvSpPr>
          <p:nvPr>
            <p:ph type="body" idx="1"/>
          </p:nvPr>
        </p:nvSpPr>
        <p:spPr>
          <a:xfrm>
            <a:off x="1752600" y="2019300"/>
            <a:ext cx="10680700" cy="6731000"/>
          </a:xfrm>
          <a:prstGeom prst="rect">
            <a:avLst/>
          </a:prstGeom>
          <a:ln w="12700">
            <a:miter lim="400000"/>
          </a:ln>
          <a:extLst>
            <a:ext uri="{C572A759-6A51-4108-AA02-DFA0A04FC94B}">
              <ma14:wrappingTextBoxFlag xmlns:ma14="http://schemas.microsoft.com/office/mac/drawingml/2011/main" xmlns="" val="1"/>
            </a:ext>
          </a:extLst>
        </p:spPr>
        <p:txBody>
          <a:bodyPr lIns="0" tIns="0" rIns="0" bIns="0" numCol="2" spcCol="534034"/>
          <a:lstStyle>
            <a:lvl2pPr marL="720000" indent="-360000">
              <a:spcBef>
                <a:spcPts val="500"/>
              </a:spcBef>
              <a:buClrTx/>
              <a:buFontTx/>
              <a:buChar char="•"/>
              <a:defRPr sz="2200" b="0"/>
            </a:lvl2pPr>
            <a:lvl3pPr marL="1079999" indent="-360000">
              <a:spcBef>
                <a:spcPts val="500"/>
              </a:spcBef>
              <a:buClrTx/>
              <a:buSzPct val="100000"/>
              <a:buFontTx/>
              <a:buChar char="•"/>
              <a:defRPr sz="2200" b="0"/>
            </a:lvl3pPr>
            <a:lvl4pPr marL="1440000" indent="-360000">
              <a:spcBef>
                <a:spcPts val="500"/>
              </a:spcBef>
              <a:buClrTx/>
              <a:buSzPct val="100000"/>
              <a:buFontTx/>
              <a:buChar char="•"/>
              <a:defRPr sz="2200" b="0"/>
            </a:lvl4pPr>
            <a:lvl5pPr marL="1799999" indent="-360000">
              <a:spcBef>
                <a:spcPts val="500"/>
              </a:spcBef>
              <a:buClrTx/>
              <a:buSzPct val="100000"/>
              <a:buFontTx/>
              <a:buChar char="•"/>
              <a:defRPr sz="2200" b="0"/>
            </a:lvl5pPr>
          </a:lstStyle>
          <a:p>
            <a:r>
              <a:t>Body Level One</a:t>
            </a:r>
          </a:p>
          <a:p>
            <a:pPr lvl="1"/>
            <a:r>
              <a:t>Body Level Two</a:t>
            </a:r>
          </a:p>
          <a:p>
            <a:pPr lvl="2"/>
            <a:r>
              <a:t>Body Level Three</a:t>
            </a:r>
          </a:p>
          <a:p>
            <a:pPr lvl="3"/>
            <a:r>
              <a:t>Body Level Four</a:t>
            </a:r>
          </a:p>
          <a:p>
            <a:pPr lvl="4"/>
            <a:r>
              <a:t>Body Level Five</a:t>
            </a:r>
          </a:p>
        </p:txBody>
      </p:sp>
      <p:sp>
        <p:nvSpPr>
          <p:cNvPr id="8" name="Shape 8"/>
          <p:cNvSpPr>
            <a:spLocks noGrp="1"/>
          </p:cNvSpPr>
          <p:nvPr>
            <p:ph type="title"/>
          </p:nvPr>
        </p:nvSpPr>
        <p:spPr>
          <a:xfrm>
            <a:off x="889000" y="1790700"/>
            <a:ext cx="10464800" cy="11811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lstStyle/>
          <a:p>
            <a:r>
              <a:t>Title Text</a:t>
            </a:r>
          </a:p>
        </p:txBody>
      </p:sp>
      <p:sp>
        <p:nvSpPr>
          <p:cNvPr id="9" name="Shape 9"/>
          <p:cNvSpPr>
            <a:spLocks noGrp="1"/>
          </p:cNvSpPr>
          <p:nvPr>
            <p:ph type="sldNum" sz="quarter" idx="2"/>
          </p:nvPr>
        </p:nvSpPr>
        <p:spPr>
          <a:xfrm>
            <a:off x="6324600" y="9258300"/>
            <a:ext cx="342900" cy="368300"/>
          </a:xfrm>
          <a:prstGeom prst="rect">
            <a:avLst/>
          </a:prstGeom>
          <a:ln w="12700">
            <a:miter lim="400000"/>
          </a:ln>
        </p:spPr>
        <p:txBody>
          <a:bodyPr wrap="none" lIns="50800" tIns="50800" rIns="50800" bIns="50800">
            <a:spAutoFit/>
          </a:bodyPr>
          <a:lstStyle>
            <a:lvl1pPr marL="0" algn="ctr" defTabSz="584200">
              <a:tabLst/>
              <a:defRPr>
                <a:solidFill>
                  <a:srgbClr val="000000"/>
                </a:solidFill>
                <a:latin typeface="Gill Sans"/>
                <a:ea typeface="Gill Sans"/>
                <a:cs typeface="Gill Sans"/>
                <a:sym typeface="Gill Sans"/>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1pPr>
      <a:lvl2pPr marL="0" marR="0" indent="2286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2pPr>
      <a:lvl3pPr marL="0" marR="0" indent="4572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3pPr>
      <a:lvl4pPr marL="0" marR="0" indent="6858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4pPr>
      <a:lvl5pPr marL="0" marR="0" indent="9144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5pPr>
      <a:lvl6pPr marL="0" marR="0" indent="11430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6pPr>
      <a:lvl7pPr marL="0" marR="0" indent="13716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7pPr>
      <a:lvl8pPr marL="0" marR="0" indent="16002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8pPr>
      <a:lvl9pPr marL="0" marR="0" indent="18288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9pPr>
    </p:titleStyle>
    <p:bodyStyle>
      <a:lvl1pPr marL="360000" marR="0" indent="-360000"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1pPr>
      <a:lvl2pPr marL="75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2pPr>
      <a:lvl3pPr marL="111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3pPr>
      <a:lvl4pPr marL="147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4pPr>
      <a:lvl5pPr marL="183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5pPr>
      <a:lvl6pPr marL="219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6pPr>
      <a:lvl7pPr marL="2552726"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7pPr>
      <a:lvl8pPr marL="291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8pPr>
      <a:lvl9pPr marL="327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1pPr>
      <a:lvl2pPr marL="0" marR="0" indent="2286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2pPr>
      <a:lvl3pPr marL="0" marR="0" indent="4572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3pPr>
      <a:lvl4pPr marL="0" marR="0" indent="6858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4pPr>
      <a:lvl5pPr marL="0" marR="0" indent="9144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5pPr>
      <a:lvl6pPr marL="0" marR="0" indent="11430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6pPr>
      <a:lvl7pPr marL="0" marR="0" indent="13716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7pPr>
      <a:lvl8pPr marL="0" marR="0" indent="16002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8pPr>
      <a:lvl9pPr marL="0" marR="0" indent="18288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31.xml"/><Relationship Id="rId13" Type="http://schemas.openxmlformats.org/officeDocument/2006/relationships/slide" Target="slide28.xml"/><Relationship Id="rId3" Type="http://schemas.openxmlformats.org/officeDocument/2006/relationships/slide" Target="slide6.xml"/><Relationship Id="rId7" Type="http://schemas.openxmlformats.org/officeDocument/2006/relationships/slide" Target="slide29.xml"/><Relationship Id="rId12" Type="http://schemas.openxmlformats.org/officeDocument/2006/relationships/slide" Target="slide26.xml"/><Relationship Id="rId2" Type="http://schemas.openxmlformats.org/officeDocument/2006/relationships/slide" Target="slide3.xml"/><Relationship Id="rId16" Type="http://schemas.openxmlformats.org/officeDocument/2006/relationships/slide" Target="slide35.xml"/><Relationship Id="rId1" Type="http://schemas.openxmlformats.org/officeDocument/2006/relationships/slideLayout" Target="../slideLayouts/slideLayout2.xml"/><Relationship Id="rId6" Type="http://schemas.openxmlformats.org/officeDocument/2006/relationships/slide" Target="slide17.xml"/><Relationship Id="rId11" Type="http://schemas.openxmlformats.org/officeDocument/2006/relationships/slide" Target="slide40.xml"/><Relationship Id="rId5" Type="http://schemas.openxmlformats.org/officeDocument/2006/relationships/slide" Target="slide15.xml"/><Relationship Id="rId15" Type="http://schemas.openxmlformats.org/officeDocument/2006/relationships/slide" Target="slide32.xml"/><Relationship Id="rId10" Type="http://schemas.openxmlformats.org/officeDocument/2006/relationships/slide" Target="slide23.xml"/><Relationship Id="rId4" Type="http://schemas.openxmlformats.org/officeDocument/2006/relationships/slide" Target="slide14.xml"/><Relationship Id="rId9" Type="http://schemas.openxmlformats.org/officeDocument/2006/relationships/slide" Target="slide20.xml"/><Relationship Id="rId14" Type="http://schemas.openxmlformats.org/officeDocument/2006/relationships/slide" Target="slide30.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10.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5.png"/><Relationship Id="rId12"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14.png"/><Relationship Id="rId10" Type="http://schemas.openxmlformats.org/officeDocument/2006/relationships/image" Target="../media/image10.png"/><Relationship Id="rId4" Type="http://schemas.openxmlformats.org/officeDocument/2006/relationships/image" Target="../media/image12.png"/><Relationship Id="rId9" Type="http://schemas.openxmlformats.org/officeDocument/2006/relationships/image" Target="../media/image16.png"/><Relationship Id="rId1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1.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45.jpeg"/><Relationship Id="rId3" Type="http://schemas.openxmlformats.org/officeDocument/2006/relationships/image" Target="../media/image40.jpeg"/><Relationship Id="rId7" Type="http://schemas.openxmlformats.org/officeDocument/2006/relationships/image" Target="../media/image44.jpeg"/><Relationship Id="rId12" Type="http://schemas.openxmlformats.org/officeDocument/2006/relationships/image" Target="../media/image35.jpeg"/><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3.jpeg"/><Relationship Id="rId11" Type="http://schemas.openxmlformats.org/officeDocument/2006/relationships/image" Target="../media/image48.jpeg"/><Relationship Id="rId5" Type="http://schemas.openxmlformats.org/officeDocument/2006/relationships/image" Target="../media/image42.jpeg"/><Relationship Id="rId10" Type="http://schemas.openxmlformats.org/officeDocument/2006/relationships/image" Target="../media/image47.jpeg"/><Relationship Id="rId4" Type="http://schemas.openxmlformats.org/officeDocument/2006/relationships/image" Target="../media/image41.jpeg"/><Relationship Id="rId9" Type="http://schemas.openxmlformats.org/officeDocument/2006/relationships/image" Target="../media/image46.jpeg"/></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ti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75.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73.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1.xml"/><Relationship Id="rId4" Type="http://schemas.openxmlformats.org/officeDocument/2006/relationships/image" Target="../media/image79.jpeg"/></Relationships>
</file>

<file path=ppt/slides/_rels/slide3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81.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xml"/><Relationship Id="rId4" Type="http://schemas.openxmlformats.org/officeDocument/2006/relationships/image" Target="../media/image86.png"/></Relationships>
</file>

<file path=ppt/slides/_rels/slide40.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hyperlink" Target="http://www.biozone.com.au/faqconditionsofuse/" TargetMode="Externa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hyperlink" Target="http://creativecommons.org/licenses/by-sa/3.0/" TargetMode="External"/><Relationship Id="rId2" Type="http://schemas.openxmlformats.org/officeDocument/2006/relationships/hyperlink" Target="http://www.gnu.org/copyleft/fdl.html" TargetMode="Externa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hape 75"/>
          <p:cNvSpPr>
            <a:spLocks noGrp="1"/>
          </p:cNvSpPr>
          <p:nvPr>
            <p:ph type="body" sz="half" idx="1"/>
          </p:nvPr>
        </p:nvSpPr>
        <p:spPr>
          <a:xfrm>
            <a:off x="1016000" y="2006600"/>
            <a:ext cx="4984850" cy="5867400"/>
          </a:xfrm>
          <a:prstGeom prst="rect">
            <a:avLst/>
          </a:prstGeom>
        </p:spPr>
        <p:txBody>
          <a:bodyPr numCol="1" spcCol="38100"/>
          <a:lstStyle/>
          <a:p>
            <a:pPr marL="392727" indent="-392727"/>
            <a:r>
              <a:rPr>
                <a:hlinkClick r:id="rId2" action="ppaction://hlinksldjump"/>
              </a:rPr>
              <a:t>Gene pools</a:t>
            </a:r>
          </a:p>
          <a:p>
            <a:pPr marL="720045" lvl="1"/>
            <a:r>
              <a:rPr>
                <a:hlinkClick r:id="rId2" action="ppaction://hlinksldjump"/>
              </a:rPr>
              <a:t>Darwinism</a:t>
            </a:r>
          </a:p>
          <a:p>
            <a:pPr marL="720045" lvl="1"/>
            <a:r>
              <a:rPr>
                <a:hlinkClick r:id="rId3" action="ppaction://hlinksldjump"/>
              </a:rPr>
              <a:t>Gene pools</a:t>
            </a:r>
          </a:p>
          <a:p>
            <a:pPr marL="392727" indent="-392727"/>
            <a:r>
              <a:rPr>
                <a:hlinkClick r:id="rId4" action="ppaction://hlinksldjump"/>
              </a:rPr>
              <a:t>Natural selection</a:t>
            </a:r>
          </a:p>
          <a:p>
            <a:pPr marL="720045" lvl="1"/>
            <a:r>
              <a:rPr>
                <a:hlinkClick r:id="rId4" action="ppaction://hlinksldjump"/>
              </a:rPr>
              <a:t>Modes of natural selection</a:t>
            </a:r>
          </a:p>
          <a:p>
            <a:pPr marL="720045" lvl="1"/>
            <a:r>
              <a:rPr>
                <a:hlinkClick r:id="rId5" action="ppaction://hlinksldjump"/>
              </a:rPr>
              <a:t>Adaptations and fitness</a:t>
            </a:r>
          </a:p>
          <a:p>
            <a:pPr marL="720045" lvl="1"/>
            <a:r>
              <a:rPr>
                <a:hlinkClick r:id="rId6" action="ppaction://hlinksldjump"/>
              </a:rPr>
              <a:t>Selection for skin colour</a:t>
            </a:r>
          </a:p>
          <a:p>
            <a:pPr marL="720045" lvl="1"/>
            <a:r>
              <a:rPr>
                <a:hlinkClick r:id="rId7" action="ppaction://hlinksldjump"/>
              </a:rPr>
              <a:t>Darwin’s finches</a:t>
            </a:r>
          </a:p>
          <a:p>
            <a:pPr marL="720045" lvl="1"/>
            <a:r>
              <a:rPr>
                <a:hlinkClick r:id="rId8" action="ppaction://hlinksldjump"/>
              </a:rPr>
              <a:t>Peppered moths</a:t>
            </a:r>
          </a:p>
          <a:p>
            <a:pPr marL="720045" lvl="1"/>
            <a:r>
              <a:rPr>
                <a:hlinkClick r:id="rId9" action="ppaction://hlinksldjump"/>
              </a:rPr>
              <a:t>Heterozygote advantage</a:t>
            </a:r>
          </a:p>
          <a:p>
            <a:pPr marL="720045" lvl="1"/>
            <a:r>
              <a:rPr>
                <a:hlinkClick r:id="rId10" action="ppaction://hlinksldjump"/>
              </a:rPr>
              <a:t>Antibiotic resistance</a:t>
            </a:r>
          </a:p>
          <a:p>
            <a:pPr marL="720045" lvl="1"/>
            <a:r>
              <a:rPr>
                <a:hlinkClick r:id="rId11" action="ppaction://hlinksldjump"/>
              </a:rPr>
              <a:t>Pesticide resistance</a:t>
            </a:r>
          </a:p>
          <a:p>
            <a:pPr marL="720045" lvl="1"/>
            <a:r>
              <a:rPr>
                <a:hlinkClick r:id="rId12" action="ppaction://hlinksldjump"/>
              </a:rPr>
              <a:t>Influenzavirus</a:t>
            </a:r>
          </a:p>
        </p:txBody>
      </p:sp>
      <p:sp>
        <p:nvSpPr>
          <p:cNvPr id="76" name="Shape 76"/>
          <p:cNvSpPr/>
          <p:nvPr/>
        </p:nvSpPr>
        <p:spPr>
          <a:xfrm>
            <a:off x="6807200" y="2019300"/>
            <a:ext cx="4984850" cy="58674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392727" indent="-392727" defTabSz="584200">
              <a:spcBef>
                <a:spcPts val="2500"/>
              </a:spcBef>
              <a:buClr>
                <a:srgbClr val="006994"/>
              </a:buClr>
              <a:buSzPct val="150000"/>
              <a:buFont typeface="Lucida Grande"/>
              <a:buChar char="‣"/>
              <a:tabLst/>
              <a:defRPr sz="2400" b="1">
                <a:solidFill>
                  <a:srgbClr val="000000"/>
                </a:solidFill>
              </a:defRPr>
            </a:pPr>
            <a:r>
              <a:rPr>
                <a:hlinkClick r:id="rId13" action="ppaction://hlinksldjump"/>
              </a:rPr>
              <a:t>Population genetics</a:t>
            </a:r>
          </a:p>
          <a:p>
            <a:pPr marL="720045" lvl="1" indent="-360000" defTabSz="584200">
              <a:spcBef>
                <a:spcPts val="500"/>
              </a:spcBef>
              <a:buSzPct val="150000"/>
              <a:buChar char="•"/>
              <a:tabLst/>
              <a:defRPr sz="2200">
                <a:solidFill>
                  <a:srgbClr val="000000"/>
                </a:solidFill>
              </a:defRPr>
            </a:pPr>
            <a:r>
              <a:rPr>
                <a:hlinkClick r:id="rId13" action="ppaction://hlinksldjump"/>
              </a:rPr>
              <a:t>Gene flow</a:t>
            </a:r>
          </a:p>
          <a:p>
            <a:pPr marL="720045" lvl="1" indent="-360000" defTabSz="584200">
              <a:spcBef>
                <a:spcPts val="500"/>
              </a:spcBef>
              <a:buSzPct val="150000"/>
              <a:buChar char="•"/>
              <a:tabLst/>
              <a:defRPr sz="2200">
                <a:solidFill>
                  <a:srgbClr val="000000"/>
                </a:solidFill>
              </a:defRPr>
            </a:pPr>
            <a:r>
              <a:rPr>
                <a:hlinkClick r:id="rId14" action="ppaction://hlinksldjump"/>
              </a:rPr>
              <a:t>The founder effect</a:t>
            </a:r>
          </a:p>
          <a:p>
            <a:pPr marL="720045" lvl="1" indent="-360000" defTabSz="584200">
              <a:spcBef>
                <a:spcPts val="500"/>
              </a:spcBef>
              <a:buSzPct val="150000"/>
              <a:buChar char="•"/>
              <a:tabLst/>
              <a:defRPr sz="2200">
                <a:solidFill>
                  <a:srgbClr val="000000"/>
                </a:solidFill>
              </a:defRPr>
            </a:pPr>
            <a:r>
              <a:rPr>
                <a:hlinkClick r:id="rId15" action="ppaction://hlinksldjump"/>
              </a:rPr>
              <a:t>Population bottlenecks</a:t>
            </a:r>
          </a:p>
          <a:p>
            <a:pPr marL="720045" lvl="1" indent="-360000" defTabSz="584200">
              <a:spcBef>
                <a:spcPts val="500"/>
              </a:spcBef>
              <a:buSzPct val="150000"/>
              <a:buChar char="•"/>
              <a:tabLst/>
              <a:defRPr sz="2200">
                <a:solidFill>
                  <a:srgbClr val="000000"/>
                </a:solidFill>
              </a:defRPr>
            </a:pPr>
            <a:r>
              <a:rPr>
                <a:hlinkClick r:id="rId16" action="ppaction://hlinksldjump"/>
              </a:rPr>
              <a:t>Genetic drift</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hape 78"/>
          <p:cNvSpPr>
            <a:spLocks noGrp="1"/>
          </p:cNvSpPr>
          <p:nvPr>
            <p:ph type="title"/>
          </p:nvPr>
        </p:nvSpPr>
        <p:spPr>
          <a:prstGeom prst="rect">
            <a:avLst/>
          </a:prstGeom>
        </p:spPr>
        <p:txBody>
          <a:bodyPr/>
          <a:lstStyle>
            <a:lvl1pPr>
              <a:tabLst>
                <a:tab pos="952500" algn="l"/>
              </a:tabLst>
            </a:lvl1pPr>
          </a:lstStyle>
          <a:p>
            <a:r>
              <a:t>The Concepts of Darwinism</a:t>
            </a:r>
          </a:p>
        </p:txBody>
      </p:sp>
      <p:sp>
        <p:nvSpPr>
          <p:cNvPr id="79" name="Shape 79"/>
          <p:cNvSpPr>
            <a:spLocks noGrp="1"/>
          </p:cNvSpPr>
          <p:nvPr>
            <p:ph type="body" sz="half" idx="1"/>
          </p:nvPr>
        </p:nvSpPr>
        <p:spPr>
          <a:xfrm>
            <a:off x="368300" y="1790700"/>
            <a:ext cx="6317556" cy="5856387"/>
          </a:xfrm>
          <a:prstGeom prst="rect">
            <a:avLst/>
          </a:prstGeom>
        </p:spPr>
        <p:txBody>
          <a:bodyPr/>
          <a:lstStyle/>
          <a:p>
            <a:pPr>
              <a:tabLst>
                <a:tab pos="1016000" algn="l"/>
              </a:tabLst>
            </a:pPr>
            <a:r>
              <a:t>Darwin’s view of life was of ‘descent with modification’: </a:t>
            </a:r>
            <a:r>
              <a:rPr b="1" i="1">
                <a:solidFill>
                  <a:srgbClr val="006994"/>
                </a:solidFill>
              </a:rPr>
              <a:t>“descendants of ancestral forms adapted to different environments over a long period of time</a:t>
            </a:r>
            <a:r>
              <a:rPr>
                <a:solidFill>
                  <a:srgbClr val="006994"/>
                </a:solidFill>
              </a:rPr>
              <a:t>.”</a:t>
            </a:r>
            <a:endParaRPr>
              <a:solidFill>
                <a:srgbClr val="0433FF"/>
              </a:solidFill>
            </a:endParaRPr>
          </a:p>
          <a:p>
            <a:pPr>
              <a:tabLst>
                <a:tab pos="1016000" algn="l"/>
              </a:tabLst>
            </a:pPr>
            <a:r>
              <a:t>The mechanism for adaptation is called ‘</a:t>
            </a:r>
            <a:r>
              <a:rPr b="1" i="1">
                <a:solidFill>
                  <a:srgbClr val="006994"/>
                </a:solidFill>
              </a:rPr>
              <a:t>natural selection</a:t>
            </a:r>
            <a:r>
              <a:t>’ and is based on a number of principles:</a:t>
            </a:r>
          </a:p>
          <a:p>
            <a:pPr marL="720000" lvl="1" indent="-360000">
              <a:spcBef>
                <a:spcPts val="2000"/>
              </a:spcBef>
              <a:buClr>
                <a:srgbClr val="000000"/>
              </a:buClr>
              <a:buFont typeface="Arial"/>
              <a:tabLst>
                <a:tab pos="1384300" algn="l"/>
              </a:tabLst>
            </a:pPr>
            <a:r>
              <a:t>Overproduction</a:t>
            </a:r>
          </a:p>
          <a:p>
            <a:pPr marL="720000" lvl="1" indent="-360000">
              <a:spcBef>
                <a:spcPts val="2000"/>
              </a:spcBef>
              <a:buClr>
                <a:srgbClr val="000000"/>
              </a:buClr>
              <a:buFont typeface="Arial"/>
              <a:tabLst>
                <a:tab pos="1384300" algn="l"/>
              </a:tabLst>
            </a:pPr>
            <a:r>
              <a:t>Variation</a:t>
            </a:r>
          </a:p>
          <a:p>
            <a:pPr marL="720000" lvl="1" indent="-360000">
              <a:spcBef>
                <a:spcPts val="2000"/>
              </a:spcBef>
              <a:buClr>
                <a:srgbClr val="000000"/>
              </a:buClr>
              <a:buFont typeface="Arial"/>
              <a:tabLst>
                <a:tab pos="1384300" algn="l"/>
              </a:tabLst>
            </a:pPr>
            <a:r>
              <a:t>Competition</a:t>
            </a:r>
          </a:p>
          <a:p>
            <a:pPr marL="720000" lvl="1" indent="-360000">
              <a:spcBef>
                <a:spcPts val="2000"/>
              </a:spcBef>
              <a:buClr>
                <a:srgbClr val="000000"/>
              </a:buClr>
              <a:buFont typeface="Arial"/>
              <a:tabLst>
                <a:tab pos="1384300" algn="l"/>
              </a:tabLst>
            </a:pPr>
            <a:r>
              <a:t>Survival of the fittest phenotype</a:t>
            </a:r>
          </a:p>
          <a:p>
            <a:pPr marL="720000" lvl="1" indent="-360000">
              <a:spcBef>
                <a:spcPts val="2000"/>
              </a:spcBef>
              <a:buClr>
                <a:srgbClr val="000000"/>
              </a:buClr>
              <a:buFont typeface="Arial"/>
              <a:tabLst>
                <a:tab pos="1384300" algn="l"/>
              </a:tabLst>
            </a:pPr>
            <a:r>
              <a:t>Favourable combinations become </a:t>
            </a:r>
            <a:br/>
            <a:r>
              <a:t>more common</a:t>
            </a:r>
          </a:p>
        </p:txBody>
      </p:sp>
      <p:grpSp>
        <p:nvGrpSpPr>
          <p:cNvPr id="83" name="Group 83"/>
          <p:cNvGrpSpPr/>
          <p:nvPr/>
        </p:nvGrpSpPr>
        <p:grpSpPr>
          <a:xfrm>
            <a:off x="5793633" y="2711329"/>
            <a:ext cx="7210242" cy="6914014"/>
            <a:chOff x="0" y="-292100"/>
            <a:chExt cx="7210241" cy="6914012"/>
          </a:xfrm>
        </p:grpSpPr>
        <p:pic>
          <p:nvPicPr>
            <p:cNvPr id="80" name="Snail-light-4.png"/>
            <p:cNvPicPr>
              <a:picLocks noChangeAspect="1"/>
            </p:cNvPicPr>
            <p:nvPr/>
          </p:nvPicPr>
          <p:blipFill>
            <a:blip r:embed="rId2">
              <a:extLst/>
            </a:blip>
            <a:stretch>
              <a:fillRect/>
            </a:stretch>
          </p:blipFill>
          <p:spPr>
            <a:xfrm>
              <a:off x="0" y="4283830"/>
              <a:ext cx="3476222" cy="1407377"/>
            </a:xfrm>
            <a:prstGeom prst="rect">
              <a:avLst/>
            </a:prstGeom>
            <a:ln w="12700" cap="flat">
              <a:noFill/>
              <a:miter lim="400000"/>
            </a:ln>
            <a:effectLst/>
          </p:spPr>
        </p:pic>
        <p:pic>
          <p:nvPicPr>
            <p:cNvPr id="81" name="empty-shell-2.png"/>
            <p:cNvPicPr>
              <a:picLocks noChangeAspect="1"/>
            </p:cNvPicPr>
            <p:nvPr/>
          </p:nvPicPr>
          <p:blipFill>
            <a:blip r:embed="rId3">
              <a:extLst/>
            </a:blip>
            <a:stretch>
              <a:fillRect/>
            </a:stretch>
          </p:blipFill>
          <p:spPr>
            <a:xfrm rot="1551411">
              <a:off x="5338804" y="4588630"/>
              <a:ext cx="1560966" cy="1782102"/>
            </a:xfrm>
            <a:prstGeom prst="rect">
              <a:avLst/>
            </a:prstGeom>
            <a:ln w="12700" cap="flat">
              <a:noFill/>
              <a:miter lim="400000"/>
            </a:ln>
            <a:effectLst/>
          </p:spPr>
        </p:pic>
        <p:pic>
          <p:nvPicPr>
            <p:cNvPr id="82" name="DPC Snail variation many PM.png"/>
            <p:cNvPicPr>
              <a:picLocks noChangeAspect="1"/>
            </p:cNvPicPr>
            <p:nvPr/>
          </p:nvPicPr>
          <p:blipFill>
            <a:blip r:embed="rId4">
              <a:extLst/>
            </a:blip>
            <a:srcRect/>
            <a:stretch>
              <a:fillRect/>
            </a:stretch>
          </p:blipFill>
          <p:spPr>
            <a:xfrm>
              <a:off x="289666" y="-292100"/>
              <a:ext cx="6304175" cy="4189851"/>
            </a:xfrm>
            <a:prstGeom prst="rect">
              <a:avLst/>
            </a:prstGeom>
            <a:ln w="25400" cap="flat">
              <a:noFill/>
              <a:miter lim="400000"/>
            </a:ln>
            <a:effectLst>
              <a:outerShdw blurRad="25400" dist="12700" dir="5400000" rotWithShape="0">
                <a:srgbClr val="000000">
                  <a:alpha val="50000"/>
                </a:srgbClr>
              </a:outerShdw>
            </a:effectLst>
          </p:spPr>
        </p:pic>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7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7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7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7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7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79">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79">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iterate>
                                    <p:tmAbs val="0"/>
                                  </p:iterate>
                                  <p:childTnLst>
                                    <p:set>
                                      <p:cBhvr>
                                        <p:cTn id="32" fill="hold"/>
                                        <p:tgtEl>
                                          <p:spTgt spid="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1" build="p" bldLvl="5"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Shape 85"/>
          <p:cNvSpPr>
            <a:spLocks noGrp="1"/>
          </p:cNvSpPr>
          <p:nvPr>
            <p:ph type="title"/>
          </p:nvPr>
        </p:nvSpPr>
        <p:spPr>
          <a:prstGeom prst="rect">
            <a:avLst/>
          </a:prstGeom>
        </p:spPr>
        <p:txBody>
          <a:bodyPr/>
          <a:lstStyle>
            <a:lvl1pPr>
              <a:tabLst>
                <a:tab pos="952500" algn="l"/>
              </a:tabLst>
            </a:lvl1pPr>
          </a:lstStyle>
          <a:p>
            <a:r>
              <a:t>The Concepts of Darwinism</a:t>
            </a:r>
          </a:p>
        </p:txBody>
      </p:sp>
      <p:sp>
        <p:nvSpPr>
          <p:cNvPr id="86" name="Shape 86"/>
          <p:cNvSpPr>
            <a:spLocks noGrp="1"/>
          </p:cNvSpPr>
          <p:nvPr>
            <p:ph type="body" sz="half" idx="1"/>
          </p:nvPr>
        </p:nvSpPr>
        <p:spPr>
          <a:prstGeom prst="rect">
            <a:avLst/>
          </a:prstGeom>
        </p:spPr>
        <p:txBody>
          <a:bodyPr/>
          <a:lstStyle/>
          <a:p>
            <a:pPr>
              <a:tabLst>
                <a:tab pos="1016000" algn="l"/>
              </a:tabLst>
            </a:pPr>
            <a:r>
              <a:rPr dirty="0"/>
              <a:t>The mechanism for adaptation is called ‘</a:t>
            </a:r>
            <a:r>
              <a:rPr b="1" dirty="0">
                <a:solidFill>
                  <a:srgbClr val="006994"/>
                </a:solidFill>
              </a:rPr>
              <a:t>natural selection</a:t>
            </a:r>
            <a:r>
              <a:rPr dirty="0"/>
              <a:t>’ and is based on a number of principles:</a:t>
            </a:r>
          </a:p>
          <a:p>
            <a:pPr marL="720000" lvl="1" indent="-360000">
              <a:buClr>
                <a:schemeClr val="tx2">
                  <a:lumMod val="10000"/>
                </a:schemeClr>
              </a:buClr>
              <a:tabLst>
                <a:tab pos="1485900" algn="l"/>
              </a:tabLst>
            </a:pPr>
            <a:r>
              <a:rPr b="1" dirty="0">
                <a:solidFill>
                  <a:srgbClr val="006994"/>
                </a:solidFill>
              </a:rPr>
              <a:t>Overproduction</a:t>
            </a:r>
            <a:r>
              <a:rPr dirty="0"/>
              <a:t>:  Species produce more young than will survive to reproductive age (they die before they have offspring).</a:t>
            </a:r>
          </a:p>
          <a:p>
            <a:pPr marL="720000" lvl="1" indent="-360000">
              <a:buClr>
                <a:schemeClr val="tx2">
                  <a:lumMod val="10000"/>
                </a:schemeClr>
              </a:buClr>
              <a:tabLst>
                <a:tab pos="1485900" algn="l"/>
              </a:tabLst>
            </a:pPr>
            <a:r>
              <a:rPr b="1" dirty="0">
                <a:solidFill>
                  <a:srgbClr val="006994"/>
                </a:solidFill>
              </a:rPr>
              <a:t>Variation</a:t>
            </a:r>
            <a:r>
              <a:rPr dirty="0"/>
              <a:t>:  Individuals vary in many characteristics (even siblings differ). Some variations are better suited to the conditions of the time than others.</a:t>
            </a:r>
          </a:p>
          <a:p>
            <a:pPr marL="720000" lvl="1" indent="-360000">
              <a:buClr>
                <a:schemeClr val="tx2">
                  <a:lumMod val="10000"/>
                </a:schemeClr>
              </a:buClr>
              <a:tabLst>
                <a:tab pos="1485900" algn="l"/>
              </a:tabLst>
            </a:pPr>
            <a:r>
              <a:rPr b="1" dirty="0">
                <a:solidFill>
                  <a:srgbClr val="006994"/>
                </a:solidFill>
              </a:rPr>
              <a:t>Competition</a:t>
            </a:r>
            <a:r>
              <a:rPr dirty="0"/>
              <a:t>:  There is competition for limited resources (e.g. food).</a:t>
            </a:r>
          </a:p>
          <a:p>
            <a:pPr marL="720000" lvl="1" indent="-360000">
              <a:buClr>
                <a:schemeClr val="tx2">
                  <a:lumMod val="10000"/>
                </a:schemeClr>
              </a:buClr>
              <a:tabLst>
                <a:tab pos="1485900" algn="l"/>
              </a:tabLst>
            </a:pPr>
            <a:r>
              <a:rPr b="1" dirty="0">
                <a:solidFill>
                  <a:srgbClr val="006994"/>
                </a:solidFill>
              </a:rPr>
              <a:t>Survival of the fittest phenotypes</a:t>
            </a:r>
            <a:r>
              <a:rPr dirty="0"/>
              <a:t>:  </a:t>
            </a:r>
            <a:br>
              <a:rPr dirty="0"/>
            </a:br>
            <a:r>
              <a:rPr dirty="0"/>
              <a:t>The individuals with the most favourable combinations of characteristics will be most </a:t>
            </a:r>
            <a:br>
              <a:rPr dirty="0"/>
            </a:br>
            <a:r>
              <a:rPr dirty="0"/>
              <a:t>likely to survive and pass on their genes to the next generation.</a:t>
            </a:r>
          </a:p>
          <a:p>
            <a:pPr marL="720000" lvl="1" indent="-360000">
              <a:buClr>
                <a:schemeClr val="tx2">
                  <a:lumMod val="10000"/>
                </a:schemeClr>
              </a:buClr>
              <a:tabLst>
                <a:tab pos="1485900" algn="l"/>
              </a:tabLst>
            </a:pPr>
            <a:r>
              <a:rPr b="1" dirty="0">
                <a:solidFill>
                  <a:srgbClr val="006994"/>
                </a:solidFill>
              </a:rPr>
              <a:t>Favourable combinations become more common</a:t>
            </a:r>
            <a:r>
              <a:rPr dirty="0"/>
              <a:t>:  Each new generation will contain proportionally more descendants of individuals with favourable characteristics.</a:t>
            </a:r>
          </a:p>
        </p:txBody>
      </p:sp>
      <p:pic>
        <p:nvPicPr>
          <p:cNvPr id="87" name="Snail-light-2.png"/>
          <p:cNvPicPr>
            <a:picLocks noChangeAspect="1"/>
          </p:cNvPicPr>
          <p:nvPr/>
        </p:nvPicPr>
        <p:blipFill>
          <a:blip r:embed="rId2">
            <a:extLst/>
          </a:blip>
          <a:stretch>
            <a:fillRect/>
          </a:stretch>
        </p:blipFill>
        <p:spPr>
          <a:xfrm flipH="1">
            <a:off x="9532355" y="4361204"/>
            <a:ext cx="2062384" cy="1031192"/>
          </a:xfrm>
          <a:prstGeom prst="rect">
            <a:avLst/>
          </a:prstGeom>
          <a:ln w="12700">
            <a:miter lim="400000"/>
          </a:ln>
        </p:spPr>
      </p:pic>
      <p:pic>
        <p:nvPicPr>
          <p:cNvPr id="88" name="Snail-dark-1.png"/>
          <p:cNvPicPr>
            <a:picLocks noChangeAspect="1"/>
          </p:cNvPicPr>
          <p:nvPr/>
        </p:nvPicPr>
        <p:blipFill>
          <a:blip r:embed="rId3">
            <a:extLst/>
          </a:blip>
          <a:stretch>
            <a:fillRect/>
          </a:stretch>
        </p:blipFill>
        <p:spPr>
          <a:xfrm flipH="1">
            <a:off x="7386659" y="4702189"/>
            <a:ext cx="2162357" cy="1125209"/>
          </a:xfrm>
          <a:prstGeom prst="rect">
            <a:avLst/>
          </a:prstGeom>
          <a:ln w="12700">
            <a:miter lim="400000"/>
          </a:ln>
        </p:spPr>
      </p:pic>
      <p:pic>
        <p:nvPicPr>
          <p:cNvPr id="89" name="Snail-medium-2.png"/>
          <p:cNvPicPr>
            <a:picLocks noChangeAspect="1"/>
          </p:cNvPicPr>
          <p:nvPr/>
        </p:nvPicPr>
        <p:blipFill>
          <a:blip r:embed="rId4">
            <a:extLst/>
          </a:blip>
          <a:srcRect/>
          <a:stretch>
            <a:fillRect/>
          </a:stretch>
        </p:blipFill>
        <p:spPr>
          <a:xfrm>
            <a:off x="10566117" y="6934227"/>
            <a:ext cx="2327620" cy="1163811"/>
          </a:xfrm>
          <a:prstGeom prst="rect">
            <a:avLst/>
          </a:prstGeom>
          <a:ln w="12700">
            <a:miter lim="400000"/>
          </a:ln>
        </p:spPr>
      </p:pic>
      <p:pic>
        <p:nvPicPr>
          <p:cNvPr id="90" name="Snail-light-4.png"/>
          <p:cNvPicPr>
            <a:picLocks noChangeAspect="1"/>
          </p:cNvPicPr>
          <p:nvPr/>
        </p:nvPicPr>
        <p:blipFill>
          <a:blip r:embed="rId5">
            <a:extLst/>
          </a:blip>
          <a:stretch>
            <a:fillRect/>
          </a:stretch>
        </p:blipFill>
        <p:spPr>
          <a:xfrm flipH="1">
            <a:off x="10641471" y="5281047"/>
            <a:ext cx="2176963" cy="881362"/>
          </a:xfrm>
          <a:prstGeom prst="rect">
            <a:avLst/>
          </a:prstGeom>
          <a:ln w="12700">
            <a:miter lim="400000"/>
          </a:ln>
        </p:spPr>
      </p:pic>
      <p:pic>
        <p:nvPicPr>
          <p:cNvPr id="91" name="Snail-dark-4.png"/>
          <p:cNvPicPr>
            <a:picLocks noChangeAspect="1"/>
          </p:cNvPicPr>
          <p:nvPr/>
        </p:nvPicPr>
        <p:blipFill>
          <a:blip r:embed="rId6">
            <a:extLst/>
          </a:blip>
          <a:stretch>
            <a:fillRect/>
          </a:stretch>
        </p:blipFill>
        <p:spPr>
          <a:xfrm>
            <a:off x="7160821" y="7026826"/>
            <a:ext cx="2416751" cy="978442"/>
          </a:xfrm>
          <a:prstGeom prst="rect">
            <a:avLst/>
          </a:prstGeom>
          <a:ln w="12700">
            <a:miter lim="400000"/>
          </a:ln>
        </p:spPr>
      </p:pic>
      <p:pic>
        <p:nvPicPr>
          <p:cNvPr id="92" name="empty-shell-2.png"/>
          <p:cNvPicPr>
            <a:picLocks noChangeAspect="1"/>
          </p:cNvPicPr>
          <p:nvPr/>
        </p:nvPicPr>
        <p:blipFill>
          <a:blip r:embed="rId7">
            <a:extLst/>
          </a:blip>
          <a:stretch>
            <a:fillRect/>
          </a:stretch>
        </p:blipFill>
        <p:spPr>
          <a:xfrm flipH="1">
            <a:off x="14282428" y="7877805"/>
            <a:ext cx="1190278" cy="1358901"/>
          </a:xfrm>
          <a:prstGeom prst="rect">
            <a:avLst/>
          </a:prstGeom>
          <a:ln w="12700">
            <a:miter lim="400000"/>
          </a:ln>
        </p:spPr>
      </p:pic>
      <p:pic>
        <p:nvPicPr>
          <p:cNvPr id="93" name="Snail-light-3.png"/>
          <p:cNvPicPr>
            <a:picLocks noChangeAspect="1"/>
          </p:cNvPicPr>
          <p:nvPr/>
        </p:nvPicPr>
        <p:blipFill>
          <a:blip r:embed="rId8">
            <a:extLst/>
          </a:blip>
          <a:stretch>
            <a:fillRect/>
          </a:stretch>
        </p:blipFill>
        <p:spPr>
          <a:xfrm>
            <a:off x="8319018" y="5982313"/>
            <a:ext cx="2857432" cy="993075"/>
          </a:xfrm>
          <a:prstGeom prst="rect">
            <a:avLst/>
          </a:prstGeom>
          <a:ln w="12700">
            <a:miter lim="400000"/>
          </a:ln>
        </p:spPr>
      </p:pic>
      <p:pic>
        <p:nvPicPr>
          <p:cNvPr id="94" name="empty-shell-2.png"/>
          <p:cNvPicPr>
            <a:picLocks noChangeAspect="1"/>
          </p:cNvPicPr>
          <p:nvPr/>
        </p:nvPicPr>
        <p:blipFill>
          <a:blip r:embed="rId7">
            <a:extLst/>
          </a:blip>
          <a:stretch>
            <a:fillRect/>
          </a:stretch>
        </p:blipFill>
        <p:spPr>
          <a:xfrm rot="1551411">
            <a:off x="10159107" y="8226462"/>
            <a:ext cx="1204014" cy="1374583"/>
          </a:xfrm>
          <a:prstGeom prst="rect">
            <a:avLst/>
          </a:prstGeom>
          <a:ln w="12700">
            <a:miter lim="400000"/>
          </a:ln>
        </p:spPr>
      </p:pic>
      <p:pic>
        <p:nvPicPr>
          <p:cNvPr id="95" name="DPC Snail variation many PM.png"/>
          <p:cNvPicPr>
            <a:picLocks noChangeAspect="1"/>
          </p:cNvPicPr>
          <p:nvPr/>
        </p:nvPicPr>
        <p:blipFill>
          <a:blip r:embed="rId9">
            <a:extLst/>
          </a:blip>
          <a:stretch>
            <a:fillRect/>
          </a:stretch>
        </p:blipFill>
        <p:spPr>
          <a:xfrm flipH="1">
            <a:off x="7296672" y="1381078"/>
            <a:ext cx="4902124" cy="3258028"/>
          </a:xfrm>
          <a:prstGeom prst="rect">
            <a:avLst/>
          </a:prstGeom>
          <a:ln w="254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8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8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8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8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8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8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8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build="p" bldLvl="5"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 name="Snail-dark-3.png"/>
          <p:cNvPicPr>
            <a:picLocks noChangeAspect="1"/>
          </p:cNvPicPr>
          <p:nvPr/>
        </p:nvPicPr>
        <p:blipFill>
          <a:blip r:embed="rId2">
            <a:extLst/>
          </a:blip>
          <a:stretch>
            <a:fillRect/>
          </a:stretch>
        </p:blipFill>
        <p:spPr>
          <a:xfrm>
            <a:off x="413869" y="5270500"/>
            <a:ext cx="2278531" cy="791883"/>
          </a:xfrm>
          <a:prstGeom prst="rect">
            <a:avLst/>
          </a:prstGeom>
          <a:ln w="12700">
            <a:miter lim="400000"/>
          </a:ln>
        </p:spPr>
      </p:pic>
      <p:sp>
        <p:nvSpPr>
          <p:cNvPr id="98" name="Shape 98"/>
          <p:cNvSpPr>
            <a:spLocks noGrp="1"/>
          </p:cNvSpPr>
          <p:nvPr>
            <p:ph type="title"/>
          </p:nvPr>
        </p:nvSpPr>
        <p:spPr>
          <a:prstGeom prst="rect">
            <a:avLst/>
          </a:prstGeom>
        </p:spPr>
        <p:txBody>
          <a:bodyPr/>
          <a:lstStyle>
            <a:lvl1pPr>
              <a:tabLst>
                <a:tab pos="952500" algn="l"/>
              </a:tabLst>
            </a:lvl1pPr>
          </a:lstStyle>
          <a:p>
            <a:r>
              <a:t>Natural Selection</a:t>
            </a:r>
          </a:p>
        </p:txBody>
      </p:sp>
      <p:sp>
        <p:nvSpPr>
          <p:cNvPr id="99" name="Shape 99"/>
          <p:cNvSpPr/>
          <p:nvPr/>
        </p:nvSpPr>
        <p:spPr>
          <a:xfrm>
            <a:off x="5689600" y="7886700"/>
            <a:ext cx="2247900" cy="15875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800"/>
              </a:lnSpc>
              <a:tabLst>
                <a:tab pos="520700" algn="l"/>
              </a:tabLst>
              <a:defRPr sz="2400"/>
            </a:pPr>
            <a:r>
              <a:rPr b="1"/>
              <a:t>Inheritance</a:t>
            </a:r>
            <a:endParaRPr>
              <a:solidFill>
                <a:srgbClr val="201B17"/>
              </a:solidFill>
            </a:endParaRPr>
          </a:p>
          <a:p>
            <a:pPr algn="ctr">
              <a:lnSpc>
                <a:spcPts val="2400"/>
              </a:lnSpc>
              <a:tabLst>
                <a:tab pos="520700" algn="l"/>
              </a:tabLst>
              <a:defRPr>
                <a:solidFill>
                  <a:srgbClr val="483F36"/>
                </a:solidFill>
                <a:latin typeface="Helvetica"/>
                <a:ea typeface="Helvetica"/>
                <a:cs typeface="Helvetica"/>
                <a:sym typeface="Helvetica"/>
              </a:defRPr>
            </a:pPr>
            <a:r>
              <a:rPr>
                <a:solidFill>
                  <a:srgbClr val="201B17"/>
                </a:solidFill>
              </a:rPr>
              <a:t>Variations are inherited. The best suited variants leave more offspring.</a:t>
            </a:r>
          </a:p>
        </p:txBody>
      </p:sp>
      <p:sp>
        <p:nvSpPr>
          <p:cNvPr id="100" name="Shape 100"/>
          <p:cNvSpPr/>
          <p:nvPr/>
        </p:nvSpPr>
        <p:spPr>
          <a:xfrm flipV="1">
            <a:off x="6819900" y="6705521"/>
            <a:ext cx="0" cy="1033013"/>
          </a:xfrm>
          <a:prstGeom prst="line">
            <a:avLst/>
          </a:prstGeom>
          <a:ln w="1270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01" name="Shape 101"/>
          <p:cNvSpPr/>
          <p:nvPr/>
        </p:nvSpPr>
        <p:spPr>
          <a:xfrm flipV="1">
            <a:off x="12192000" y="7962900"/>
            <a:ext cx="0" cy="152400"/>
          </a:xfrm>
          <a:prstGeom prst="line">
            <a:avLst/>
          </a:prstGeom>
          <a:ln w="50800">
            <a:solidFill>
              <a:srgbClr val="006994"/>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grpSp>
        <p:nvGrpSpPr>
          <p:cNvPr id="109" name="Group 109"/>
          <p:cNvGrpSpPr/>
          <p:nvPr/>
        </p:nvGrpSpPr>
        <p:grpSpPr>
          <a:xfrm>
            <a:off x="7905700" y="6141816"/>
            <a:ext cx="5105963" cy="3052984"/>
            <a:chOff x="0" y="0"/>
            <a:chExt cx="5105961" cy="3052983"/>
          </a:xfrm>
        </p:grpSpPr>
        <p:sp>
          <p:nvSpPr>
            <p:cNvPr id="102" name="Shape 102"/>
            <p:cNvSpPr/>
            <p:nvPr/>
          </p:nvSpPr>
          <p:spPr>
            <a:xfrm>
              <a:off x="901749" y="1827433"/>
              <a:ext cx="3397251" cy="128"/>
            </a:xfrm>
            <a:prstGeom prst="line">
              <a:avLst/>
            </a:prstGeom>
            <a:noFill/>
            <a:ln w="508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03" name="Shape 103"/>
            <p:cNvSpPr/>
            <p:nvPr/>
          </p:nvSpPr>
          <p:spPr>
            <a:xfrm flipV="1">
              <a:off x="2584499" y="1668683"/>
              <a:ext cx="1" cy="304801"/>
            </a:xfrm>
            <a:prstGeom prst="line">
              <a:avLst/>
            </a:prstGeom>
            <a:noFill/>
            <a:ln w="508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04" name="Shape 104"/>
            <p:cNvSpPr/>
            <p:nvPr/>
          </p:nvSpPr>
          <p:spPr>
            <a:xfrm flipV="1">
              <a:off x="920799" y="1825316"/>
              <a:ext cx="1" cy="152401"/>
            </a:xfrm>
            <a:prstGeom prst="line">
              <a:avLst/>
            </a:prstGeom>
            <a:noFill/>
            <a:ln w="508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05" name="Snail-light-2.png"/>
            <p:cNvPicPr>
              <a:picLocks noChangeAspect="1"/>
            </p:cNvPicPr>
            <p:nvPr/>
          </p:nvPicPr>
          <p:blipFill>
            <a:blip r:embed="rId3">
              <a:extLst/>
            </a:blip>
            <a:stretch>
              <a:fillRect/>
            </a:stretch>
          </p:blipFill>
          <p:spPr>
            <a:xfrm>
              <a:off x="1949629" y="2265648"/>
              <a:ext cx="1574671" cy="787336"/>
            </a:xfrm>
            <a:prstGeom prst="rect">
              <a:avLst/>
            </a:prstGeom>
            <a:ln w="12700" cap="flat">
              <a:noFill/>
              <a:miter lim="400000"/>
            </a:ln>
            <a:effectLst/>
          </p:spPr>
        </p:pic>
        <p:pic>
          <p:nvPicPr>
            <p:cNvPr id="106" name="Snail-light-3.png"/>
            <p:cNvPicPr>
              <a:picLocks noChangeAspect="1"/>
            </p:cNvPicPr>
            <p:nvPr/>
          </p:nvPicPr>
          <p:blipFill>
            <a:blip r:embed="rId4">
              <a:extLst/>
            </a:blip>
            <a:stretch>
              <a:fillRect/>
            </a:stretch>
          </p:blipFill>
          <p:spPr>
            <a:xfrm>
              <a:off x="792280" y="0"/>
              <a:ext cx="3873501" cy="1346200"/>
            </a:xfrm>
            <a:prstGeom prst="rect">
              <a:avLst/>
            </a:prstGeom>
            <a:ln w="12700" cap="flat">
              <a:noFill/>
              <a:miter lim="400000"/>
            </a:ln>
            <a:effectLst/>
          </p:spPr>
        </p:pic>
        <p:pic>
          <p:nvPicPr>
            <p:cNvPr id="107" name="Snail-light-1.png"/>
            <p:cNvPicPr>
              <a:picLocks noChangeAspect="1"/>
            </p:cNvPicPr>
            <p:nvPr/>
          </p:nvPicPr>
          <p:blipFill>
            <a:blip r:embed="rId5">
              <a:extLst/>
            </a:blip>
            <a:stretch>
              <a:fillRect/>
            </a:stretch>
          </p:blipFill>
          <p:spPr>
            <a:xfrm flipH="1">
              <a:off x="-1" y="2163983"/>
              <a:ext cx="1487190" cy="773877"/>
            </a:xfrm>
            <a:prstGeom prst="rect">
              <a:avLst/>
            </a:prstGeom>
            <a:ln w="12700" cap="flat">
              <a:noFill/>
              <a:miter lim="400000"/>
            </a:ln>
            <a:effectLst/>
          </p:spPr>
        </p:pic>
        <p:pic>
          <p:nvPicPr>
            <p:cNvPr id="108" name="Snail-light-4.png"/>
            <p:cNvPicPr>
              <a:picLocks noChangeAspect="1"/>
            </p:cNvPicPr>
            <p:nvPr/>
          </p:nvPicPr>
          <p:blipFill>
            <a:blip r:embed="rId6">
              <a:extLst/>
            </a:blip>
            <a:stretch>
              <a:fillRect/>
            </a:stretch>
          </p:blipFill>
          <p:spPr>
            <a:xfrm>
              <a:off x="3443809" y="2321429"/>
              <a:ext cx="1662153" cy="672937"/>
            </a:xfrm>
            <a:prstGeom prst="rect">
              <a:avLst/>
            </a:prstGeom>
            <a:ln w="12700" cap="flat">
              <a:noFill/>
              <a:miter lim="400000"/>
            </a:ln>
            <a:effectLst/>
          </p:spPr>
        </p:pic>
      </p:grpSp>
      <p:grpSp>
        <p:nvGrpSpPr>
          <p:cNvPr id="132" name="Group 132"/>
          <p:cNvGrpSpPr/>
          <p:nvPr/>
        </p:nvGrpSpPr>
        <p:grpSpPr>
          <a:xfrm>
            <a:off x="4256548" y="2857500"/>
            <a:ext cx="5318552" cy="3708400"/>
            <a:chOff x="0" y="0"/>
            <a:chExt cx="5318550" cy="3708400"/>
          </a:xfrm>
        </p:grpSpPr>
        <p:sp>
          <p:nvSpPr>
            <p:cNvPr id="110" name="Shape 110"/>
            <p:cNvSpPr/>
            <p:nvPr/>
          </p:nvSpPr>
          <p:spPr>
            <a:xfrm>
              <a:off x="1128251" y="2755900"/>
              <a:ext cx="2844801" cy="9525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800"/>
                </a:lnSpc>
                <a:tabLst>
                  <a:tab pos="520700" algn="l"/>
                </a:tabLst>
                <a:defRPr sz="2400" b="1"/>
              </a:pPr>
              <a:r>
                <a:t>Natural selection</a:t>
              </a:r>
            </a:p>
            <a:p>
              <a:pPr algn="ctr">
                <a:lnSpc>
                  <a:spcPts val="2400"/>
                </a:lnSpc>
                <a:tabLst>
                  <a:tab pos="520700" algn="l"/>
                </a:tabLst>
                <a:defRPr>
                  <a:solidFill>
                    <a:srgbClr val="483F36"/>
                  </a:solidFill>
                  <a:latin typeface="Helvetica"/>
                  <a:ea typeface="Helvetica"/>
                  <a:cs typeface="Helvetica"/>
                  <a:sym typeface="Helvetica"/>
                </a:defRPr>
              </a:pPr>
              <a:r>
                <a:rPr>
                  <a:solidFill>
                    <a:srgbClr val="201B17"/>
                  </a:solidFill>
                </a:rPr>
                <a:t>Natural selection favours the best suited at the time</a:t>
              </a:r>
            </a:p>
          </p:txBody>
        </p:sp>
        <p:sp>
          <p:nvSpPr>
            <p:cNvPr id="111" name="Shape 111"/>
            <p:cNvSpPr/>
            <p:nvPr/>
          </p:nvSpPr>
          <p:spPr>
            <a:xfrm flipH="1" flipV="1">
              <a:off x="124951" y="0"/>
              <a:ext cx="1210734" cy="1011767"/>
            </a:xfrm>
            <a:prstGeom prst="line">
              <a:avLst/>
            </a:prstGeom>
            <a:noFill/>
            <a:ln w="1270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12" name="Shape 112"/>
            <p:cNvSpPr/>
            <p:nvPr/>
          </p:nvSpPr>
          <p:spPr>
            <a:xfrm flipV="1">
              <a:off x="3757151" y="0"/>
              <a:ext cx="1210734" cy="1011767"/>
            </a:xfrm>
            <a:prstGeom prst="line">
              <a:avLst/>
            </a:prstGeom>
            <a:noFill/>
            <a:ln w="1270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nvGrpSpPr>
            <p:cNvPr id="131" name="Group 131"/>
            <p:cNvGrpSpPr/>
            <p:nvPr/>
          </p:nvGrpSpPr>
          <p:grpSpPr>
            <a:xfrm>
              <a:off x="0" y="946964"/>
              <a:ext cx="5318551" cy="1631690"/>
              <a:chOff x="0" y="0"/>
              <a:chExt cx="5318550" cy="1631688"/>
            </a:xfrm>
          </p:grpSpPr>
          <p:pic>
            <p:nvPicPr>
              <p:cNvPr id="113" name="Snail-light-4.png"/>
              <p:cNvPicPr>
                <a:picLocks noChangeAspect="1"/>
              </p:cNvPicPr>
              <p:nvPr/>
            </p:nvPicPr>
            <p:blipFill>
              <a:blip r:embed="rId6">
                <a:extLst/>
              </a:blip>
              <a:stretch>
                <a:fillRect/>
              </a:stretch>
            </p:blipFill>
            <p:spPr>
              <a:xfrm>
                <a:off x="3170966" y="227674"/>
                <a:ext cx="1502364" cy="608244"/>
              </a:xfrm>
              <a:prstGeom prst="rect">
                <a:avLst/>
              </a:prstGeom>
              <a:ln w="12700" cap="flat">
                <a:noFill/>
                <a:miter lim="400000"/>
              </a:ln>
              <a:effectLst/>
            </p:spPr>
          </p:pic>
          <p:pic>
            <p:nvPicPr>
              <p:cNvPr id="114" name="Snail-dark-3.png"/>
              <p:cNvPicPr>
                <a:picLocks noChangeAspect="1"/>
              </p:cNvPicPr>
              <p:nvPr/>
            </p:nvPicPr>
            <p:blipFill>
              <a:blip r:embed="rId2">
                <a:extLst/>
              </a:blip>
              <a:stretch>
                <a:fillRect/>
              </a:stretch>
            </p:blipFill>
            <p:spPr>
              <a:xfrm>
                <a:off x="2266968" y="171556"/>
                <a:ext cx="2059487" cy="715757"/>
              </a:xfrm>
              <a:prstGeom prst="rect">
                <a:avLst/>
              </a:prstGeom>
              <a:ln w="12700" cap="flat">
                <a:noFill/>
                <a:miter lim="400000"/>
              </a:ln>
              <a:effectLst/>
            </p:spPr>
          </p:pic>
          <p:pic>
            <p:nvPicPr>
              <p:cNvPr id="115" name="Snail-medium-1.png"/>
              <p:cNvPicPr>
                <a:picLocks noChangeAspect="1"/>
              </p:cNvPicPr>
              <p:nvPr/>
            </p:nvPicPr>
            <p:blipFill>
              <a:blip r:embed="rId7">
                <a:extLst/>
              </a:blip>
              <a:stretch>
                <a:fillRect/>
              </a:stretch>
            </p:blipFill>
            <p:spPr>
              <a:xfrm>
                <a:off x="1576041" y="0"/>
                <a:ext cx="945404" cy="491952"/>
              </a:xfrm>
              <a:prstGeom prst="rect">
                <a:avLst/>
              </a:prstGeom>
              <a:ln w="12700" cap="flat">
                <a:noFill/>
                <a:miter lim="400000"/>
              </a:ln>
              <a:effectLst/>
            </p:spPr>
          </p:pic>
          <p:pic>
            <p:nvPicPr>
              <p:cNvPr id="116" name="Snail-light-2.png"/>
              <p:cNvPicPr>
                <a:picLocks noChangeAspect="1"/>
              </p:cNvPicPr>
              <p:nvPr/>
            </p:nvPicPr>
            <p:blipFill>
              <a:blip r:embed="rId3">
                <a:extLst/>
              </a:blip>
              <a:stretch>
                <a:fillRect/>
              </a:stretch>
            </p:blipFill>
            <p:spPr>
              <a:xfrm>
                <a:off x="0" y="175517"/>
                <a:ext cx="1423291" cy="711646"/>
              </a:xfrm>
              <a:prstGeom prst="rect">
                <a:avLst/>
              </a:prstGeom>
              <a:ln w="12700" cap="flat">
                <a:noFill/>
                <a:miter lim="400000"/>
              </a:ln>
              <a:effectLst/>
            </p:spPr>
          </p:pic>
          <p:pic>
            <p:nvPicPr>
              <p:cNvPr id="117" name="Snail-light-3.png"/>
              <p:cNvPicPr>
                <a:picLocks noChangeAspect="1"/>
              </p:cNvPicPr>
              <p:nvPr/>
            </p:nvPicPr>
            <p:blipFill>
              <a:blip r:embed="rId4">
                <a:extLst/>
              </a:blip>
              <a:stretch>
                <a:fillRect/>
              </a:stretch>
            </p:blipFill>
            <p:spPr>
              <a:xfrm>
                <a:off x="3463406" y="741677"/>
                <a:ext cx="1855145" cy="644740"/>
              </a:xfrm>
              <a:prstGeom prst="rect">
                <a:avLst/>
              </a:prstGeom>
              <a:ln w="12700" cap="flat">
                <a:noFill/>
                <a:miter lim="400000"/>
              </a:ln>
              <a:effectLst/>
            </p:spPr>
          </p:pic>
          <p:pic>
            <p:nvPicPr>
              <p:cNvPr id="118" name="Snail-dark-4.png"/>
              <p:cNvPicPr>
                <a:picLocks noChangeAspect="1"/>
              </p:cNvPicPr>
              <p:nvPr/>
            </p:nvPicPr>
            <p:blipFill>
              <a:blip r:embed="rId8">
                <a:extLst/>
              </a:blip>
              <a:stretch>
                <a:fillRect/>
              </a:stretch>
            </p:blipFill>
            <p:spPr>
              <a:xfrm flipH="1">
                <a:off x="661352" y="398293"/>
                <a:ext cx="1667847" cy="675242"/>
              </a:xfrm>
              <a:prstGeom prst="rect">
                <a:avLst/>
              </a:prstGeom>
              <a:ln w="12700" cap="flat">
                <a:noFill/>
                <a:miter lim="400000"/>
              </a:ln>
              <a:effectLst/>
            </p:spPr>
          </p:pic>
          <p:pic>
            <p:nvPicPr>
              <p:cNvPr id="119" name="Snail-dark-2.png"/>
              <p:cNvPicPr>
                <a:picLocks noChangeAspect="1"/>
              </p:cNvPicPr>
              <p:nvPr/>
            </p:nvPicPr>
            <p:blipFill>
              <a:blip r:embed="rId9">
                <a:extLst/>
              </a:blip>
              <a:stretch>
                <a:fillRect/>
              </a:stretch>
            </p:blipFill>
            <p:spPr>
              <a:xfrm flipH="1">
                <a:off x="1261310" y="544623"/>
                <a:ext cx="1580066" cy="790033"/>
              </a:xfrm>
              <a:prstGeom prst="rect">
                <a:avLst/>
              </a:prstGeom>
              <a:ln w="12700" cap="flat">
                <a:noFill/>
                <a:miter lim="400000"/>
              </a:ln>
              <a:effectLst/>
            </p:spPr>
          </p:pic>
          <p:pic>
            <p:nvPicPr>
              <p:cNvPr id="120" name="Snail-medium-2.png"/>
              <p:cNvPicPr>
                <a:picLocks noChangeAspect="1"/>
              </p:cNvPicPr>
              <p:nvPr/>
            </p:nvPicPr>
            <p:blipFill>
              <a:blip r:embed="rId10">
                <a:extLst/>
              </a:blip>
              <a:stretch>
                <a:fillRect/>
              </a:stretch>
            </p:blipFill>
            <p:spPr>
              <a:xfrm>
                <a:off x="690636" y="801840"/>
                <a:ext cx="1606335" cy="803168"/>
              </a:xfrm>
              <a:prstGeom prst="rect">
                <a:avLst/>
              </a:prstGeom>
              <a:ln w="12700" cap="flat">
                <a:noFill/>
                <a:miter lim="400000"/>
              </a:ln>
              <a:effectLst/>
            </p:spPr>
          </p:pic>
          <p:pic>
            <p:nvPicPr>
              <p:cNvPr id="121" name="Snail-light-1.png"/>
              <p:cNvPicPr>
                <a:picLocks noChangeAspect="1"/>
              </p:cNvPicPr>
              <p:nvPr/>
            </p:nvPicPr>
            <p:blipFill>
              <a:blip r:embed="rId5">
                <a:extLst/>
              </a:blip>
              <a:stretch>
                <a:fillRect/>
              </a:stretch>
            </p:blipFill>
            <p:spPr>
              <a:xfrm flipH="1">
                <a:off x="2037777" y="792396"/>
                <a:ext cx="1612902" cy="839293"/>
              </a:xfrm>
              <a:prstGeom prst="rect">
                <a:avLst/>
              </a:prstGeom>
              <a:ln w="12700" cap="flat">
                <a:noFill/>
                <a:miter lim="400000"/>
              </a:ln>
              <a:effectLst/>
            </p:spPr>
          </p:pic>
          <p:grpSp>
            <p:nvGrpSpPr>
              <p:cNvPr id="124" name="Group 124"/>
              <p:cNvGrpSpPr/>
              <p:nvPr/>
            </p:nvGrpSpPr>
            <p:grpSpPr>
              <a:xfrm>
                <a:off x="3795251" y="792935"/>
                <a:ext cx="558801" cy="558801"/>
                <a:chOff x="0" y="0"/>
                <a:chExt cx="558800" cy="558800"/>
              </a:xfrm>
            </p:grpSpPr>
            <p:sp>
              <p:nvSpPr>
                <p:cNvPr id="122" name="Shape 122"/>
                <p:cNvSpPr/>
                <p:nvPr/>
              </p:nvSpPr>
              <p:spPr>
                <a:xfrm>
                  <a:off x="0" y="0"/>
                  <a:ext cx="558801" cy="558801"/>
                </a:xfrm>
                <a:prstGeom prst="line">
                  <a:avLst/>
                </a:prstGeom>
                <a:noFill/>
                <a:ln w="762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3" name="Shape 123"/>
                <p:cNvSpPr/>
                <p:nvPr/>
              </p:nvSpPr>
              <p:spPr>
                <a:xfrm flipH="1">
                  <a:off x="0" y="0"/>
                  <a:ext cx="558801" cy="558800"/>
                </a:xfrm>
                <a:prstGeom prst="line">
                  <a:avLst/>
                </a:prstGeom>
                <a:noFill/>
                <a:ln w="762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27" name="Group 127"/>
              <p:cNvGrpSpPr/>
              <p:nvPr/>
            </p:nvGrpSpPr>
            <p:grpSpPr>
              <a:xfrm>
                <a:off x="2791951" y="932635"/>
                <a:ext cx="558801" cy="558801"/>
                <a:chOff x="0" y="0"/>
                <a:chExt cx="558800" cy="558800"/>
              </a:xfrm>
            </p:grpSpPr>
            <p:sp>
              <p:nvSpPr>
                <p:cNvPr id="125" name="Shape 125"/>
                <p:cNvSpPr/>
                <p:nvPr/>
              </p:nvSpPr>
              <p:spPr>
                <a:xfrm>
                  <a:off x="0" y="0"/>
                  <a:ext cx="558801" cy="558801"/>
                </a:xfrm>
                <a:prstGeom prst="line">
                  <a:avLst/>
                </a:prstGeom>
                <a:noFill/>
                <a:ln w="762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6" name="Shape 126"/>
                <p:cNvSpPr/>
                <p:nvPr/>
              </p:nvSpPr>
              <p:spPr>
                <a:xfrm flipH="1">
                  <a:off x="0" y="0"/>
                  <a:ext cx="558801" cy="558800"/>
                </a:xfrm>
                <a:prstGeom prst="line">
                  <a:avLst/>
                </a:prstGeom>
                <a:noFill/>
                <a:ln w="762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30" name="Group 130"/>
              <p:cNvGrpSpPr/>
              <p:nvPr/>
            </p:nvGrpSpPr>
            <p:grpSpPr>
              <a:xfrm>
                <a:off x="290051" y="246835"/>
                <a:ext cx="558801" cy="558801"/>
                <a:chOff x="0" y="0"/>
                <a:chExt cx="558800" cy="558800"/>
              </a:xfrm>
            </p:grpSpPr>
            <p:sp>
              <p:nvSpPr>
                <p:cNvPr id="128" name="Shape 128"/>
                <p:cNvSpPr/>
                <p:nvPr/>
              </p:nvSpPr>
              <p:spPr>
                <a:xfrm>
                  <a:off x="0" y="0"/>
                  <a:ext cx="558801" cy="558801"/>
                </a:xfrm>
                <a:prstGeom prst="line">
                  <a:avLst/>
                </a:prstGeom>
                <a:noFill/>
                <a:ln w="762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9" name="Shape 129"/>
                <p:cNvSpPr/>
                <p:nvPr/>
              </p:nvSpPr>
              <p:spPr>
                <a:xfrm flipH="1">
                  <a:off x="0" y="0"/>
                  <a:ext cx="558801" cy="558800"/>
                </a:xfrm>
                <a:prstGeom prst="line">
                  <a:avLst/>
                </a:prstGeom>
                <a:noFill/>
                <a:ln w="762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grpSp>
      <p:grpSp>
        <p:nvGrpSpPr>
          <p:cNvPr id="154" name="Group 154"/>
          <p:cNvGrpSpPr/>
          <p:nvPr/>
        </p:nvGrpSpPr>
        <p:grpSpPr>
          <a:xfrm>
            <a:off x="482599" y="1219265"/>
            <a:ext cx="12528437" cy="3568635"/>
            <a:chOff x="0" y="0"/>
            <a:chExt cx="12528436" cy="3568634"/>
          </a:xfrm>
        </p:grpSpPr>
        <p:sp>
          <p:nvSpPr>
            <p:cNvPr id="133" name="Shape 133"/>
            <p:cNvSpPr/>
            <p:nvPr/>
          </p:nvSpPr>
          <p:spPr>
            <a:xfrm>
              <a:off x="8902700" y="2298634"/>
              <a:ext cx="3454401" cy="12700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800"/>
                </a:lnSpc>
                <a:tabLst>
                  <a:tab pos="520700" algn="l"/>
                </a:tabLst>
                <a:defRPr sz="2800">
                  <a:latin typeface="Hoefler Text"/>
                  <a:ea typeface="Hoefler Text"/>
                  <a:cs typeface="Hoefler Text"/>
                  <a:sym typeface="Hoefler Text"/>
                </a:defRPr>
              </a:pPr>
              <a:r>
                <a:rPr sz="2400" b="1">
                  <a:latin typeface="+mn-lt"/>
                  <a:ea typeface="+mn-ea"/>
                  <a:cs typeface="+mn-cs"/>
                  <a:sym typeface="Arial"/>
                </a:rPr>
                <a:t>Variation</a:t>
              </a:r>
              <a:endParaRPr sz="1800">
                <a:solidFill>
                  <a:srgbClr val="201B17"/>
                </a:solidFill>
                <a:latin typeface="Helvetica"/>
                <a:ea typeface="Helvetica"/>
                <a:cs typeface="Helvetica"/>
                <a:sym typeface="Helvetica"/>
              </a:endParaRPr>
            </a:p>
            <a:p>
              <a:pPr algn="ctr">
                <a:lnSpc>
                  <a:spcPts val="2400"/>
                </a:lnSpc>
                <a:tabLst>
                  <a:tab pos="520700" algn="l"/>
                </a:tabLst>
                <a:defRPr>
                  <a:solidFill>
                    <a:srgbClr val="483F36"/>
                  </a:solidFill>
                  <a:latin typeface="Helvetica"/>
                  <a:ea typeface="Helvetica"/>
                  <a:cs typeface="Helvetica"/>
                  <a:sym typeface="Helvetica"/>
                </a:defRPr>
              </a:pPr>
              <a:r>
                <a:rPr>
                  <a:solidFill>
                    <a:srgbClr val="201B17"/>
                  </a:solidFill>
                </a:rPr>
                <a:t>Individuals show variation: some variations are more favourable than others</a:t>
              </a:r>
            </a:p>
          </p:txBody>
        </p:sp>
        <p:sp>
          <p:nvSpPr>
            <p:cNvPr id="134" name="Shape 134"/>
            <p:cNvSpPr/>
            <p:nvPr/>
          </p:nvSpPr>
          <p:spPr>
            <a:xfrm>
              <a:off x="254000" y="2235134"/>
              <a:ext cx="3136901" cy="9196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800"/>
                </a:lnSpc>
                <a:tabLst>
                  <a:tab pos="520700" algn="l"/>
                </a:tabLst>
                <a:defRPr sz="2800">
                  <a:latin typeface="Hoefler Text"/>
                  <a:ea typeface="Hoefler Text"/>
                  <a:cs typeface="Hoefler Text"/>
                  <a:sym typeface="Hoefler Text"/>
                </a:defRPr>
              </a:pPr>
              <a:r>
                <a:rPr sz="2400" b="1">
                  <a:latin typeface="+mn-lt"/>
                  <a:ea typeface="+mn-ea"/>
                  <a:cs typeface="+mn-cs"/>
                  <a:sym typeface="Arial"/>
                </a:rPr>
                <a:t>Overproduction</a:t>
              </a:r>
              <a:endParaRPr sz="1800">
                <a:solidFill>
                  <a:srgbClr val="201B17"/>
                </a:solidFill>
                <a:latin typeface="Helvetica"/>
                <a:ea typeface="Helvetica"/>
                <a:cs typeface="Helvetica"/>
                <a:sym typeface="Helvetica"/>
              </a:endParaRPr>
            </a:p>
            <a:p>
              <a:pPr algn="ctr">
                <a:lnSpc>
                  <a:spcPts val="2400"/>
                </a:lnSpc>
                <a:tabLst>
                  <a:tab pos="520700" algn="l"/>
                </a:tabLst>
                <a:defRPr>
                  <a:solidFill>
                    <a:srgbClr val="483F36"/>
                  </a:solidFill>
                </a:defRPr>
              </a:pPr>
              <a:r>
                <a:rPr>
                  <a:solidFill>
                    <a:srgbClr val="201B17"/>
                  </a:solidFill>
                </a:rPr>
                <a:t>Populations produce too many young: many must die</a:t>
              </a:r>
            </a:p>
          </p:txBody>
        </p:sp>
        <p:pic>
          <p:nvPicPr>
            <p:cNvPr id="135" name="Snail-light-2.png"/>
            <p:cNvPicPr>
              <a:picLocks noChangeAspect="1"/>
            </p:cNvPicPr>
            <p:nvPr/>
          </p:nvPicPr>
          <p:blipFill>
            <a:blip r:embed="rId3">
              <a:extLst/>
            </a:blip>
            <a:stretch>
              <a:fillRect/>
            </a:stretch>
          </p:blipFill>
          <p:spPr>
            <a:xfrm>
              <a:off x="10718930" y="0"/>
              <a:ext cx="1574671" cy="787335"/>
            </a:xfrm>
            <a:prstGeom prst="rect">
              <a:avLst/>
            </a:prstGeom>
            <a:ln w="12700" cap="flat">
              <a:noFill/>
              <a:miter lim="400000"/>
            </a:ln>
            <a:effectLst/>
          </p:spPr>
        </p:pic>
        <p:pic>
          <p:nvPicPr>
            <p:cNvPr id="136" name="Snail-dark-3.png"/>
            <p:cNvPicPr>
              <a:picLocks noChangeAspect="1"/>
            </p:cNvPicPr>
            <p:nvPr/>
          </p:nvPicPr>
          <p:blipFill>
            <a:blip r:embed="rId2">
              <a:extLst/>
            </a:blip>
            <a:stretch>
              <a:fillRect/>
            </a:stretch>
          </p:blipFill>
          <p:spPr>
            <a:xfrm>
              <a:off x="9672170" y="304734"/>
              <a:ext cx="2278531" cy="791884"/>
            </a:xfrm>
            <a:prstGeom prst="rect">
              <a:avLst/>
            </a:prstGeom>
            <a:ln w="12700" cap="flat">
              <a:noFill/>
              <a:miter lim="400000"/>
            </a:ln>
            <a:effectLst/>
          </p:spPr>
        </p:pic>
        <p:pic>
          <p:nvPicPr>
            <p:cNvPr id="137" name="Snail-light-3.png"/>
            <p:cNvPicPr>
              <a:picLocks noChangeAspect="1"/>
            </p:cNvPicPr>
            <p:nvPr/>
          </p:nvPicPr>
          <p:blipFill>
            <a:blip r:embed="rId4">
              <a:extLst/>
            </a:blip>
            <a:stretch>
              <a:fillRect/>
            </a:stretch>
          </p:blipFill>
          <p:spPr>
            <a:xfrm>
              <a:off x="10475981" y="780935"/>
              <a:ext cx="2052456" cy="713313"/>
            </a:xfrm>
            <a:prstGeom prst="rect">
              <a:avLst/>
            </a:prstGeom>
            <a:ln w="12700" cap="flat">
              <a:noFill/>
              <a:miter lim="400000"/>
            </a:ln>
            <a:effectLst/>
          </p:spPr>
        </p:pic>
        <p:pic>
          <p:nvPicPr>
            <p:cNvPr id="138" name="Snail-medium-1.png"/>
            <p:cNvPicPr>
              <a:picLocks noChangeAspect="1"/>
            </p:cNvPicPr>
            <p:nvPr/>
          </p:nvPicPr>
          <p:blipFill>
            <a:blip r:embed="rId7">
              <a:extLst/>
            </a:blip>
            <a:stretch>
              <a:fillRect/>
            </a:stretch>
          </p:blipFill>
          <p:spPr>
            <a:xfrm>
              <a:off x="8907756" y="114931"/>
              <a:ext cx="1045956" cy="544276"/>
            </a:xfrm>
            <a:prstGeom prst="rect">
              <a:avLst/>
            </a:prstGeom>
            <a:ln w="12700" cap="flat">
              <a:noFill/>
              <a:miter lim="400000"/>
            </a:ln>
            <a:effectLst/>
          </p:spPr>
        </p:pic>
        <p:pic>
          <p:nvPicPr>
            <p:cNvPr id="139" name="Snail-dark-1.png"/>
            <p:cNvPicPr>
              <a:picLocks noChangeAspect="1"/>
            </p:cNvPicPr>
            <p:nvPr/>
          </p:nvPicPr>
          <p:blipFill>
            <a:blip r:embed="rId11">
              <a:extLst/>
            </a:blip>
            <a:stretch>
              <a:fillRect/>
            </a:stretch>
          </p:blipFill>
          <p:spPr>
            <a:xfrm>
              <a:off x="7436224" y="271116"/>
              <a:ext cx="1651001" cy="859119"/>
            </a:xfrm>
            <a:prstGeom prst="rect">
              <a:avLst/>
            </a:prstGeom>
            <a:ln w="12700" cap="flat">
              <a:noFill/>
              <a:miter lim="400000"/>
            </a:ln>
            <a:effectLst/>
          </p:spPr>
        </p:pic>
        <p:pic>
          <p:nvPicPr>
            <p:cNvPr id="140" name="Snail-light-1.png"/>
            <p:cNvPicPr>
              <a:picLocks noChangeAspect="1"/>
            </p:cNvPicPr>
            <p:nvPr/>
          </p:nvPicPr>
          <p:blipFill>
            <a:blip r:embed="rId5">
              <a:extLst/>
            </a:blip>
            <a:stretch>
              <a:fillRect/>
            </a:stretch>
          </p:blipFill>
          <p:spPr>
            <a:xfrm flipH="1">
              <a:off x="8477201" y="584134"/>
              <a:ext cx="1487189" cy="773878"/>
            </a:xfrm>
            <a:prstGeom prst="rect">
              <a:avLst/>
            </a:prstGeom>
            <a:ln w="12700" cap="flat">
              <a:noFill/>
              <a:miter lim="400000"/>
            </a:ln>
            <a:effectLst/>
          </p:spPr>
        </p:pic>
        <p:pic>
          <p:nvPicPr>
            <p:cNvPr id="141" name="Snail-dark-2.png"/>
            <p:cNvPicPr>
              <a:picLocks noChangeAspect="1"/>
            </p:cNvPicPr>
            <p:nvPr/>
          </p:nvPicPr>
          <p:blipFill>
            <a:blip r:embed="rId9">
              <a:extLst/>
            </a:blip>
            <a:stretch>
              <a:fillRect/>
            </a:stretch>
          </p:blipFill>
          <p:spPr>
            <a:xfrm>
              <a:off x="9486900" y="900140"/>
              <a:ext cx="1748120" cy="874060"/>
            </a:xfrm>
            <a:prstGeom prst="rect">
              <a:avLst/>
            </a:prstGeom>
            <a:ln w="12700" cap="flat">
              <a:noFill/>
              <a:miter lim="400000"/>
            </a:ln>
            <a:effectLst/>
          </p:spPr>
        </p:pic>
        <p:pic>
          <p:nvPicPr>
            <p:cNvPr id="142" name="Snail-medium-2.png"/>
            <p:cNvPicPr>
              <a:picLocks noChangeAspect="1"/>
            </p:cNvPicPr>
            <p:nvPr/>
          </p:nvPicPr>
          <p:blipFill>
            <a:blip r:embed="rId10">
              <a:extLst/>
            </a:blip>
            <a:stretch>
              <a:fillRect/>
            </a:stretch>
          </p:blipFill>
          <p:spPr>
            <a:xfrm flipH="1">
              <a:off x="7450454" y="1002055"/>
              <a:ext cx="1777182" cy="888591"/>
            </a:xfrm>
            <a:prstGeom prst="rect">
              <a:avLst/>
            </a:prstGeom>
            <a:ln w="12700" cap="flat">
              <a:noFill/>
              <a:miter lim="400000"/>
            </a:ln>
            <a:effectLst/>
          </p:spPr>
        </p:pic>
        <p:pic>
          <p:nvPicPr>
            <p:cNvPr id="143" name="Snail-light-4.png"/>
            <p:cNvPicPr>
              <a:picLocks noChangeAspect="1"/>
            </p:cNvPicPr>
            <p:nvPr/>
          </p:nvPicPr>
          <p:blipFill>
            <a:blip r:embed="rId6">
              <a:extLst/>
            </a:blip>
            <a:stretch>
              <a:fillRect/>
            </a:stretch>
          </p:blipFill>
          <p:spPr>
            <a:xfrm>
              <a:off x="8733311" y="1490881"/>
              <a:ext cx="1662153" cy="672937"/>
            </a:xfrm>
            <a:prstGeom prst="rect">
              <a:avLst/>
            </a:prstGeom>
            <a:ln w="12700" cap="flat">
              <a:noFill/>
              <a:miter lim="400000"/>
            </a:ln>
            <a:effectLst/>
          </p:spPr>
        </p:pic>
        <p:pic>
          <p:nvPicPr>
            <p:cNvPr id="144" name="Snail-dark-4.png"/>
            <p:cNvPicPr>
              <a:picLocks noChangeAspect="1"/>
            </p:cNvPicPr>
            <p:nvPr/>
          </p:nvPicPr>
          <p:blipFill>
            <a:blip r:embed="rId8">
              <a:extLst/>
            </a:blip>
            <a:stretch>
              <a:fillRect/>
            </a:stretch>
          </p:blipFill>
          <p:spPr>
            <a:xfrm flipH="1">
              <a:off x="10396817" y="1272175"/>
              <a:ext cx="1845237" cy="747060"/>
            </a:xfrm>
            <a:prstGeom prst="rect">
              <a:avLst/>
            </a:prstGeom>
            <a:ln w="12700" cap="flat">
              <a:noFill/>
              <a:miter lim="400000"/>
            </a:ln>
            <a:effectLst/>
          </p:spPr>
        </p:pic>
        <p:pic>
          <p:nvPicPr>
            <p:cNvPr id="145" name="Snail-medium-2.png"/>
            <p:cNvPicPr>
              <a:picLocks noChangeAspect="1"/>
            </p:cNvPicPr>
            <p:nvPr/>
          </p:nvPicPr>
          <p:blipFill>
            <a:blip r:embed="rId10">
              <a:extLst/>
            </a:blip>
            <a:stretch>
              <a:fillRect/>
            </a:stretch>
          </p:blipFill>
          <p:spPr>
            <a:xfrm flipH="1">
              <a:off x="2698902" y="147046"/>
              <a:ext cx="880997" cy="440499"/>
            </a:xfrm>
            <a:prstGeom prst="rect">
              <a:avLst/>
            </a:prstGeom>
            <a:ln w="12700" cap="flat">
              <a:noFill/>
              <a:miter lim="400000"/>
            </a:ln>
            <a:effectLst/>
          </p:spPr>
        </p:pic>
        <p:pic>
          <p:nvPicPr>
            <p:cNvPr id="146" name="Snail-medium-1.png"/>
            <p:cNvPicPr>
              <a:picLocks noChangeAspect="1"/>
            </p:cNvPicPr>
            <p:nvPr/>
          </p:nvPicPr>
          <p:blipFill>
            <a:blip r:embed="rId7">
              <a:extLst/>
            </a:blip>
            <a:stretch>
              <a:fillRect/>
            </a:stretch>
          </p:blipFill>
          <p:spPr>
            <a:xfrm flipH="1">
              <a:off x="1656055" y="254631"/>
              <a:ext cx="1045956" cy="544276"/>
            </a:xfrm>
            <a:prstGeom prst="rect">
              <a:avLst/>
            </a:prstGeom>
            <a:ln w="12700" cap="flat">
              <a:noFill/>
              <a:miter lim="400000"/>
            </a:ln>
            <a:effectLst/>
          </p:spPr>
        </p:pic>
        <p:pic>
          <p:nvPicPr>
            <p:cNvPr id="147" name="Snail-medium-1.png"/>
            <p:cNvPicPr>
              <a:picLocks noChangeAspect="1"/>
            </p:cNvPicPr>
            <p:nvPr/>
          </p:nvPicPr>
          <p:blipFill>
            <a:blip r:embed="rId7">
              <a:extLst/>
            </a:blip>
            <a:stretch>
              <a:fillRect/>
            </a:stretch>
          </p:blipFill>
          <p:spPr>
            <a:xfrm>
              <a:off x="450267" y="204493"/>
              <a:ext cx="1879601" cy="978073"/>
            </a:xfrm>
            <a:prstGeom prst="rect">
              <a:avLst/>
            </a:prstGeom>
            <a:ln w="12700" cap="flat">
              <a:noFill/>
              <a:miter lim="400000"/>
            </a:ln>
            <a:effectLst/>
          </p:spPr>
        </p:pic>
        <p:pic>
          <p:nvPicPr>
            <p:cNvPr id="148" name="Snail-medium-2.png"/>
            <p:cNvPicPr>
              <a:picLocks noChangeAspect="1"/>
            </p:cNvPicPr>
            <p:nvPr/>
          </p:nvPicPr>
          <p:blipFill>
            <a:blip r:embed="rId10">
              <a:extLst/>
            </a:blip>
            <a:stretch>
              <a:fillRect/>
            </a:stretch>
          </p:blipFill>
          <p:spPr>
            <a:xfrm>
              <a:off x="2345054" y="366645"/>
              <a:ext cx="1981201" cy="990601"/>
            </a:xfrm>
            <a:prstGeom prst="rect">
              <a:avLst/>
            </a:prstGeom>
            <a:ln w="12700" cap="flat">
              <a:noFill/>
              <a:miter lim="400000"/>
            </a:ln>
            <a:effectLst/>
          </p:spPr>
        </p:pic>
        <p:pic>
          <p:nvPicPr>
            <p:cNvPr id="149" name="Snail-medium-4.png"/>
            <p:cNvPicPr>
              <a:picLocks noChangeAspect="1"/>
            </p:cNvPicPr>
            <p:nvPr/>
          </p:nvPicPr>
          <p:blipFill>
            <a:blip r:embed="rId12">
              <a:extLst/>
            </a:blip>
            <a:stretch>
              <a:fillRect/>
            </a:stretch>
          </p:blipFill>
          <p:spPr>
            <a:xfrm>
              <a:off x="3543083" y="397663"/>
              <a:ext cx="1169010" cy="473284"/>
            </a:xfrm>
            <a:prstGeom prst="rect">
              <a:avLst/>
            </a:prstGeom>
            <a:ln w="12700" cap="flat">
              <a:noFill/>
              <a:miter lim="400000"/>
            </a:ln>
            <a:effectLst/>
          </p:spPr>
        </p:pic>
        <p:pic>
          <p:nvPicPr>
            <p:cNvPr id="150" name="Snail-medium-3.png"/>
            <p:cNvPicPr>
              <a:picLocks noChangeAspect="1"/>
            </p:cNvPicPr>
            <p:nvPr/>
          </p:nvPicPr>
          <p:blipFill>
            <a:blip r:embed="rId13">
              <a:extLst/>
            </a:blip>
            <a:stretch>
              <a:fillRect/>
            </a:stretch>
          </p:blipFill>
          <p:spPr>
            <a:xfrm flipH="1">
              <a:off x="-1" y="1212898"/>
              <a:ext cx="1443515" cy="501681"/>
            </a:xfrm>
            <a:prstGeom prst="rect">
              <a:avLst/>
            </a:prstGeom>
            <a:ln w="12700" cap="flat">
              <a:noFill/>
              <a:miter lim="400000"/>
            </a:ln>
            <a:effectLst/>
          </p:spPr>
        </p:pic>
        <p:pic>
          <p:nvPicPr>
            <p:cNvPr id="151" name="Snail-medium-4.png"/>
            <p:cNvPicPr>
              <a:picLocks noChangeAspect="1"/>
            </p:cNvPicPr>
            <p:nvPr/>
          </p:nvPicPr>
          <p:blipFill>
            <a:blip r:embed="rId12">
              <a:extLst/>
            </a:blip>
            <a:stretch>
              <a:fillRect/>
            </a:stretch>
          </p:blipFill>
          <p:spPr>
            <a:xfrm>
              <a:off x="1253265" y="855358"/>
              <a:ext cx="1875914" cy="759481"/>
            </a:xfrm>
            <a:prstGeom prst="rect">
              <a:avLst/>
            </a:prstGeom>
            <a:ln w="12700" cap="flat">
              <a:noFill/>
              <a:miter lim="400000"/>
            </a:ln>
            <a:effectLst/>
          </p:spPr>
        </p:pic>
        <p:pic>
          <p:nvPicPr>
            <p:cNvPr id="152" name="Snail-medium-3.png"/>
            <p:cNvPicPr>
              <a:picLocks noChangeAspect="1"/>
            </p:cNvPicPr>
            <p:nvPr/>
          </p:nvPicPr>
          <p:blipFill>
            <a:blip r:embed="rId13">
              <a:extLst/>
            </a:blip>
            <a:stretch>
              <a:fillRect/>
            </a:stretch>
          </p:blipFill>
          <p:spPr>
            <a:xfrm flipH="1">
              <a:off x="2162148" y="1064968"/>
              <a:ext cx="2717801" cy="944547"/>
            </a:xfrm>
            <a:prstGeom prst="rect">
              <a:avLst/>
            </a:prstGeom>
            <a:ln w="12700" cap="flat">
              <a:noFill/>
              <a:miter lim="400000"/>
            </a:ln>
            <a:effectLst/>
          </p:spPr>
        </p:pic>
        <p:pic>
          <p:nvPicPr>
            <p:cNvPr id="153" name="empty-shell-2.png"/>
            <p:cNvPicPr>
              <a:picLocks noChangeAspect="1"/>
            </p:cNvPicPr>
            <p:nvPr/>
          </p:nvPicPr>
          <p:blipFill>
            <a:blip r:embed="rId14">
              <a:extLst/>
            </a:blip>
            <a:stretch>
              <a:fillRect/>
            </a:stretch>
          </p:blipFill>
          <p:spPr>
            <a:xfrm>
              <a:off x="1358900" y="1015194"/>
              <a:ext cx="901701" cy="1029441"/>
            </a:xfrm>
            <a:prstGeom prst="rect">
              <a:avLst/>
            </a:prstGeom>
            <a:ln w="12700" cap="flat">
              <a:noFill/>
              <a:miter lim="400000"/>
            </a:ln>
            <a:effectLst/>
          </p:spPr>
        </p:pic>
      </p:grpSp>
      <p:pic>
        <p:nvPicPr>
          <p:cNvPr id="155" name="Snail-dark-4.png"/>
          <p:cNvPicPr>
            <a:picLocks noChangeAspect="1"/>
          </p:cNvPicPr>
          <p:nvPr/>
        </p:nvPicPr>
        <p:blipFill>
          <a:blip r:embed="rId8">
            <a:extLst/>
          </a:blip>
          <a:stretch>
            <a:fillRect/>
          </a:stretch>
        </p:blipFill>
        <p:spPr>
          <a:xfrm flipH="1">
            <a:off x="770216" y="6301440"/>
            <a:ext cx="1845237" cy="747061"/>
          </a:xfrm>
          <a:prstGeom prst="rect">
            <a:avLst/>
          </a:prstGeom>
          <a:ln w="12700">
            <a:miter lim="400000"/>
          </a:ln>
        </p:spPr>
      </p:pic>
      <p:sp>
        <p:nvSpPr>
          <p:cNvPr id="156" name="Shape 156"/>
          <p:cNvSpPr/>
          <p:nvPr/>
        </p:nvSpPr>
        <p:spPr>
          <a:xfrm>
            <a:off x="387350" y="6178550"/>
            <a:ext cx="3397250" cy="127"/>
          </a:xfrm>
          <a:prstGeom prst="line">
            <a:avLst/>
          </a:prstGeom>
          <a:ln w="50800">
            <a:solidFill>
              <a:srgbClr val="006994"/>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57" name="Shape 157"/>
          <p:cNvSpPr/>
          <p:nvPr/>
        </p:nvSpPr>
        <p:spPr>
          <a:xfrm flipV="1">
            <a:off x="2070100" y="6019800"/>
            <a:ext cx="0" cy="304800"/>
          </a:xfrm>
          <a:prstGeom prst="line">
            <a:avLst/>
          </a:prstGeom>
          <a:ln w="50800">
            <a:solidFill>
              <a:srgbClr val="006994"/>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58" name="Shape 158"/>
          <p:cNvSpPr/>
          <p:nvPr/>
        </p:nvSpPr>
        <p:spPr>
          <a:xfrm flipV="1">
            <a:off x="3759200" y="6159500"/>
            <a:ext cx="0" cy="152400"/>
          </a:xfrm>
          <a:prstGeom prst="line">
            <a:avLst/>
          </a:prstGeom>
          <a:ln w="50800">
            <a:solidFill>
              <a:srgbClr val="006994"/>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59" name="Shape 159"/>
          <p:cNvSpPr/>
          <p:nvPr/>
        </p:nvSpPr>
        <p:spPr>
          <a:xfrm flipV="1">
            <a:off x="393826" y="6163733"/>
            <a:ext cx="1" cy="1035540"/>
          </a:xfrm>
          <a:prstGeom prst="line">
            <a:avLst/>
          </a:prstGeom>
          <a:ln w="50800">
            <a:solidFill>
              <a:srgbClr val="006994"/>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grpSp>
        <p:nvGrpSpPr>
          <p:cNvPr id="168" name="Group 168"/>
          <p:cNvGrpSpPr/>
          <p:nvPr/>
        </p:nvGrpSpPr>
        <p:grpSpPr>
          <a:xfrm>
            <a:off x="629769" y="6320864"/>
            <a:ext cx="5187481" cy="2869454"/>
            <a:chOff x="0" y="0"/>
            <a:chExt cx="5187479" cy="2869452"/>
          </a:xfrm>
        </p:grpSpPr>
        <p:sp>
          <p:nvSpPr>
            <p:cNvPr id="160" name="Shape 160"/>
            <p:cNvSpPr/>
            <p:nvPr/>
          </p:nvSpPr>
          <p:spPr>
            <a:xfrm>
              <a:off x="710080" y="1648385"/>
              <a:ext cx="3397251" cy="128"/>
            </a:xfrm>
            <a:prstGeom prst="line">
              <a:avLst/>
            </a:prstGeom>
            <a:noFill/>
            <a:ln w="508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61" name="Shape 161"/>
            <p:cNvSpPr/>
            <p:nvPr/>
          </p:nvSpPr>
          <p:spPr>
            <a:xfrm flipV="1">
              <a:off x="2392830" y="1489635"/>
              <a:ext cx="1" cy="304801"/>
            </a:xfrm>
            <a:prstGeom prst="line">
              <a:avLst/>
            </a:prstGeom>
            <a:noFill/>
            <a:ln w="508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62" name="Shape 162"/>
            <p:cNvSpPr/>
            <p:nvPr/>
          </p:nvSpPr>
          <p:spPr>
            <a:xfrm flipV="1">
              <a:off x="4094630" y="1642035"/>
              <a:ext cx="1" cy="152401"/>
            </a:xfrm>
            <a:prstGeom prst="line">
              <a:avLst/>
            </a:prstGeom>
            <a:noFill/>
            <a:ln w="508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63" name="Shape 163"/>
            <p:cNvSpPr/>
            <p:nvPr/>
          </p:nvSpPr>
          <p:spPr>
            <a:xfrm flipV="1">
              <a:off x="729130" y="1646268"/>
              <a:ext cx="1" cy="152401"/>
            </a:xfrm>
            <a:prstGeom prst="line">
              <a:avLst/>
            </a:prstGeom>
            <a:noFill/>
            <a:ln w="508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64" name="Snail-dark-4.png"/>
            <p:cNvPicPr>
              <a:picLocks noChangeAspect="1"/>
            </p:cNvPicPr>
            <p:nvPr/>
          </p:nvPicPr>
          <p:blipFill>
            <a:blip r:embed="rId8">
              <a:extLst/>
            </a:blip>
            <a:stretch>
              <a:fillRect/>
            </a:stretch>
          </p:blipFill>
          <p:spPr>
            <a:xfrm>
              <a:off x="1410446" y="1923676"/>
              <a:ext cx="2209801" cy="894656"/>
            </a:xfrm>
            <a:prstGeom prst="rect">
              <a:avLst/>
            </a:prstGeom>
            <a:ln w="12700" cap="flat">
              <a:noFill/>
              <a:miter lim="400000"/>
            </a:ln>
            <a:effectLst/>
          </p:spPr>
        </p:pic>
        <p:pic>
          <p:nvPicPr>
            <p:cNvPr id="165" name="Snail-dark-1.png"/>
            <p:cNvPicPr>
              <a:picLocks noChangeAspect="1"/>
            </p:cNvPicPr>
            <p:nvPr/>
          </p:nvPicPr>
          <p:blipFill>
            <a:blip r:embed="rId11">
              <a:extLst/>
            </a:blip>
            <a:stretch>
              <a:fillRect/>
            </a:stretch>
          </p:blipFill>
          <p:spPr>
            <a:xfrm>
              <a:off x="3479053" y="1938617"/>
              <a:ext cx="1708427" cy="889001"/>
            </a:xfrm>
            <a:prstGeom prst="rect">
              <a:avLst/>
            </a:prstGeom>
            <a:ln w="12700" cap="flat">
              <a:noFill/>
              <a:miter lim="400000"/>
            </a:ln>
            <a:effectLst/>
          </p:spPr>
        </p:pic>
        <p:pic>
          <p:nvPicPr>
            <p:cNvPr id="166" name="Snail-dark-3.png"/>
            <p:cNvPicPr>
              <a:picLocks noChangeAspect="1"/>
            </p:cNvPicPr>
            <p:nvPr/>
          </p:nvPicPr>
          <p:blipFill>
            <a:blip r:embed="rId2">
              <a:extLst/>
            </a:blip>
            <a:stretch>
              <a:fillRect/>
            </a:stretch>
          </p:blipFill>
          <p:spPr>
            <a:xfrm>
              <a:off x="0" y="2077570"/>
              <a:ext cx="2278531" cy="791883"/>
            </a:xfrm>
            <a:prstGeom prst="rect">
              <a:avLst/>
            </a:prstGeom>
            <a:ln w="12700" cap="flat">
              <a:noFill/>
              <a:miter lim="400000"/>
            </a:ln>
            <a:effectLst/>
          </p:spPr>
        </p:pic>
        <p:pic>
          <p:nvPicPr>
            <p:cNvPr id="167" name="Snail-dark-2.png"/>
            <p:cNvPicPr>
              <a:picLocks noChangeAspect="1"/>
            </p:cNvPicPr>
            <p:nvPr/>
          </p:nvPicPr>
          <p:blipFill>
            <a:blip r:embed="rId9">
              <a:extLst/>
            </a:blip>
            <a:stretch>
              <a:fillRect/>
            </a:stretch>
          </p:blipFill>
          <p:spPr>
            <a:xfrm>
              <a:off x="1414930" y="0"/>
              <a:ext cx="2971801" cy="1485900"/>
            </a:xfrm>
            <a:prstGeom prst="rect">
              <a:avLst/>
            </a:prstGeom>
            <a:ln w="12700" cap="flat">
              <a:noFill/>
              <a:miter lim="400000"/>
            </a:ln>
            <a:effectLst/>
          </p:spPr>
        </p:pic>
      </p:grpSp>
      <p:pic>
        <p:nvPicPr>
          <p:cNvPr id="169" name="Snail-medium-4.png"/>
          <p:cNvPicPr>
            <a:picLocks noChangeAspect="1"/>
          </p:cNvPicPr>
          <p:nvPr/>
        </p:nvPicPr>
        <p:blipFill>
          <a:blip r:embed="rId12">
            <a:extLst/>
          </a:blip>
          <a:stretch>
            <a:fillRect/>
          </a:stretch>
        </p:blipFill>
        <p:spPr>
          <a:xfrm>
            <a:off x="3568482" y="6023828"/>
            <a:ext cx="1169010" cy="473284"/>
          </a:xfrm>
          <a:prstGeom prst="rect">
            <a:avLst/>
          </a:prstGeom>
          <a:ln w="12700">
            <a:miter lim="400000"/>
          </a:ln>
        </p:spPr>
      </p:pic>
      <p:pic>
        <p:nvPicPr>
          <p:cNvPr id="170" name="Snail-dark-3.png"/>
          <p:cNvPicPr>
            <a:picLocks noChangeAspect="1"/>
          </p:cNvPicPr>
          <p:nvPr/>
        </p:nvPicPr>
        <p:blipFill>
          <a:blip r:embed="rId2">
            <a:extLst/>
          </a:blip>
          <a:stretch>
            <a:fillRect/>
          </a:stretch>
        </p:blipFill>
        <p:spPr>
          <a:xfrm>
            <a:off x="58269" y="6976034"/>
            <a:ext cx="2057401" cy="715032"/>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2" animBg="1" advAuto="0"/>
      <p:bldP spid="154" grpId="1"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Shape 172"/>
          <p:cNvSpPr/>
          <p:nvPr/>
        </p:nvSpPr>
        <p:spPr>
          <a:xfrm>
            <a:off x="6159500" y="-63500"/>
            <a:ext cx="6908800" cy="9880600"/>
          </a:xfrm>
          <a:prstGeom prst="rect">
            <a:avLst/>
          </a:prstGeom>
          <a:solidFill>
            <a:srgbClr val="C5E1ED"/>
          </a:solidFill>
          <a:ln w="25400">
            <a:solidFill>
              <a:srgbClr val="FFFFFF"/>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173" name="LB-orange1.png"/>
          <p:cNvPicPr>
            <a:picLocks noChangeAspect="1"/>
          </p:cNvPicPr>
          <p:nvPr/>
        </p:nvPicPr>
        <p:blipFill>
          <a:blip r:embed="rId2">
            <a:extLst/>
          </a:blip>
          <a:stretch>
            <a:fillRect/>
          </a:stretch>
        </p:blipFill>
        <p:spPr>
          <a:xfrm rot="6742809" flipH="1">
            <a:off x="9086968" y="830117"/>
            <a:ext cx="1663701" cy="1501503"/>
          </a:xfrm>
          <a:prstGeom prst="rect">
            <a:avLst/>
          </a:prstGeom>
          <a:ln w="12700">
            <a:miter lim="400000"/>
          </a:ln>
        </p:spPr>
      </p:pic>
      <p:pic>
        <p:nvPicPr>
          <p:cNvPr id="174" name="LB-orange1.png"/>
          <p:cNvPicPr>
            <a:picLocks noChangeAspect="1"/>
          </p:cNvPicPr>
          <p:nvPr/>
        </p:nvPicPr>
        <p:blipFill>
          <a:blip r:embed="rId2">
            <a:extLst/>
          </a:blip>
          <a:stretch>
            <a:fillRect/>
          </a:stretch>
        </p:blipFill>
        <p:spPr>
          <a:xfrm rot="12902963" flipH="1">
            <a:off x="9080351" y="2461671"/>
            <a:ext cx="1702702" cy="1536701"/>
          </a:xfrm>
          <a:prstGeom prst="rect">
            <a:avLst/>
          </a:prstGeom>
          <a:ln w="12700">
            <a:miter lim="400000"/>
          </a:ln>
        </p:spPr>
      </p:pic>
      <p:pic>
        <p:nvPicPr>
          <p:cNvPr id="175" name="LB-orange1.png"/>
          <p:cNvPicPr>
            <a:picLocks noChangeAspect="1"/>
          </p:cNvPicPr>
          <p:nvPr/>
        </p:nvPicPr>
        <p:blipFill>
          <a:blip r:embed="rId2">
            <a:extLst/>
          </a:blip>
          <a:stretch>
            <a:fillRect/>
          </a:stretch>
        </p:blipFill>
        <p:spPr>
          <a:xfrm rot="4416628" flipH="1">
            <a:off x="7012349" y="3647420"/>
            <a:ext cx="1689101" cy="1524426"/>
          </a:xfrm>
          <a:prstGeom prst="rect">
            <a:avLst/>
          </a:prstGeom>
          <a:ln w="12700">
            <a:miter lim="400000"/>
          </a:ln>
        </p:spPr>
      </p:pic>
      <p:pic>
        <p:nvPicPr>
          <p:cNvPr id="176" name="LB-red1.png"/>
          <p:cNvPicPr>
            <a:picLocks noChangeAspect="1"/>
          </p:cNvPicPr>
          <p:nvPr/>
        </p:nvPicPr>
        <p:blipFill>
          <a:blip r:embed="rId3">
            <a:extLst/>
          </a:blip>
          <a:stretch>
            <a:fillRect/>
          </a:stretch>
        </p:blipFill>
        <p:spPr>
          <a:xfrm rot="4799522">
            <a:off x="8473026" y="6792191"/>
            <a:ext cx="1535285" cy="1408160"/>
          </a:xfrm>
          <a:prstGeom prst="rect">
            <a:avLst/>
          </a:prstGeom>
          <a:ln w="12700">
            <a:miter lim="400000"/>
          </a:ln>
        </p:spPr>
      </p:pic>
      <p:pic>
        <p:nvPicPr>
          <p:cNvPr id="177" name="LB-drab1.png"/>
          <p:cNvPicPr>
            <a:picLocks noChangeAspect="1"/>
          </p:cNvPicPr>
          <p:nvPr/>
        </p:nvPicPr>
        <p:blipFill>
          <a:blip r:embed="rId4">
            <a:extLst/>
          </a:blip>
          <a:stretch>
            <a:fillRect/>
          </a:stretch>
        </p:blipFill>
        <p:spPr>
          <a:xfrm rot="10020324">
            <a:off x="6687491" y="6296948"/>
            <a:ext cx="1587501" cy="1454354"/>
          </a:xfrm>
          <a:prstGeom prst="rect">
            <a:avLst/>
          </a:prstGeom>
          <a:ln w="12700">
            <a:miter lim="400000"/>
          </a:ln>
        </p:spPr>
      </p:pic>
      <p:pic>
        <p:nvPicPr>
          <p:cNvPr id="178" name="LB-drab1.png"/>
          <p:cNvPicPr>
            <a:picLocks noChangeAspect="1"/>
          </p:cNvPicPr>
          <p:nvPr/>
        </p:nvPicPr>
        <p:blipFill>
          <a:blip r:embed="rId4">
            <a:extLst/>
          </a:blip>
          <a:stretch>
            <a:fillRect/>
          </a:stretch>
        </p:blipFill>
        <p:spPr>
          <a:xfrm rot="4416627">
            <a:off x="7817790" y="1724946"/>
            <a:ext cx="1587501" cy="1454355"/>
          </a:xfrm>
          <a:prstGeom prst="rect">
            <a:avLst/>
          </a:prstGeom>
          <a:ln w="12700">
            <a:miter lim="400000"/>
          </a:ln>
        </p:spPr>
      </p:pic>
      <p:pic>
        <p:nvPicPr>
          <p:cNvPr id="179" name="LB-red1.png"/>
          <p:cNvPicPr>
            <a:picLocks noChangeAspect="1"/>
          </p:cNvPicPr>
          <p:nvPr/>
        </p:nvPicPr>
        <p:blipFill>
          <a:blip r:embed="rId3">
            <a:extLst/>
          </a:blip>
          <a:stretch>
            <a:fillRect/>
          </a:stretch>
        </p:blipFill>
        <p:spPr>
          <a:xfrm rot="1213491">
            <a:off x="6390226" y="1928091"/>
            <a:ext cx="1535285" cy="1408160"/>
          </a:xfrm>
          <a:prstGeom prst="rect">
            <a:avLst/>
          </a:prstGeom>
          <a:ln w="12700">
            <a:miter lim="400000"/>
          </a:ln>
        </p:spPr>
      </p:pic>
      <p:sp>
        <p:nvSpPr>
          <p:cNvPr id="180" name="Shape 180"/>
          <p:cNvSpPr>
            <a:spLocks noGrp="1"/>
          </p:cNvSpPr>
          <p:nvPr>
            <p:ph type="title"/>
          </p:nvPr>
        </p:nvSpPr>
        <p:spPr>
          <a:prstGeom prst="rect">
            <a:avLst/>
          </a:prstGeom>
        </p:spPr>
        <p:txBody>
          <a:bodyPr/>
          <a:lstStyle>
            <a:lvl1pPr>
              <a:tabLst>
                <a:tab pos="952500" algn="l"/>
              </a:tabLst>
            </a:lvl1pPr>
          </a:lstStyle>
          <a:p>
            <a:r>
              <a:t>Gene Pool</a:t>
            </a:r>
          </a:p>
        </p:txBody>
      </p:sp>
      <p:sp>
        <p:nvSpPr>
          <p:cNvPr id="181" name="Shape 181"/>
          <p:cNvSpPr>
            <a:spLocks noGrp="1"/>
          </p:cNvSpPr>
          <p:nvPr>
            <p:ph type="body" sz="quarter" idx="1"/>
          </p:nvPr>
        </p:nvSpPr>
        <p:spPr>
          <a:xfrm>
            <a:off x="368300" y="1790700"/>
            <a:ext cx="5059165" cy="4497834"/>
          </a:xfrm>
          <a:prstGeom prst="rect">
            <a:avLst/>
          </a:prstGeom>
        </p:spPr>
        <p:txBody>
          <a:bodyPr/>
          <a:lstStyle/>
          <a:p>
            <a:pPr>
              <a:lnSpc>
                <a:spcPts val="3200"/>
              </a:lnSpc>
              <a:tabLst>
                <a:tab pos="1016000" algn="l"/>
              </a:tabLst>
            </a:pPr>
            <a:r>
              <a:t>A </a:t>
            </a:r>
            <a:r>
              <a:rPr b="1">
                <a:solidFill>
                  <a:srgbClr val="006994"/>
                </a:solidFill>
              </a:rPr>
              <a:t>gene pool</a:t>
            </a:r>
            <a:r>
              <a:t> is defined as </a:t>
            </a:r>
            <a:r>
              <a:rPr b="1">
                <a:solidFill>
                  <a:srgbClr val="006994"/>
                </a:solidFill>
              </a:rPr>
              <a:t>the sum total of all the genes present in a population at any one time.</a:t>
            </a:r>
            <a:endParaRPr b="1">
              <a:solidFill>
                <a:srgbClr val="0433FF"/>
              </a:solidFill>
            </a:endParaRPr>
          </a:p>
          <a:p>
            <a:pPr lvl="1">
              <a:spcBef>
                <a:spcPts val="2000"/>
              </a:spcBef>
              <a:tabLst>
                <a:tab pos="1384300" algn="l"/>
              </a:tabLst>
            </a:pPr>
            <a:r>
              <a:t>Not all the individuals will be breeding at a given time.</a:t>
            </a:r>
          </a:p>
          <a:p>
            <a:pPr lvl="1">
              <a:spcBef>
                <a:spcPts val="2000"/>
              </a:spcBef>
              <a:tabLst>
                <a:tab pos="1384300" algn="l"/>
              </a:tabLst>
            </a:pPr>
            <a:r>
              <a:t>The population may have a distinct geographical boundary.</a:t>
            </a:r>
          </a:p>
          <a:p>
            <a:pPr lvl="1">
              <a:spcBef>
                <a:spcPts val="2000"/>
              </a:spcBef>
              <a:tabLst>
                <a:tab pos="1384300" algn="l"/>
              </a:tabLst>
            </a:pPr>
            <a:r>
              <a:t>Each individual is a carrier of part of the total genetic complement of the population.</a:t>
            </a:r>
          </a:p>
        </p:txBody>
      </p:sp>
      <p:sp>
        <p:nvSpPr>
          <p:cNvPr id="182" name="Shape 182"/>
          <p:cNvSpPr/>
          <p:nvPr/>
        </p:nvSpPr>
        <p:spPr>
          <a:xfrm>
            <a:off x="9804400" y="289371"/>
            <a:ext cx="3225800" cy="739330"/>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gn="ctr">
              <a:lnSpc>
                <a:spcPts val="3100"/>
              </a:lnSpc>
              <a:tabLst>
                <a:tab pos="520700" algn="l"/>
              </a:tabLst>
              <a:defRPr sz="2400">
                <a:solidFill>
                  <a:srgbClr val="000000"/>
                </a:solidFill>
              </a:defRPr>
            </a:lvl1pPr>
          </a:lstStyle>
          <a:p>
            <a:r>
              <a:t>A gene pool made up of 16 individuals</a:t>
            </a:r>
          </a:p>
        </p:txBody>
      </p:sp>
      <p:pic>
        <p:nvPicPr>
          <p:cNvPr id="183" name="LB-red1.png"/>
          <p:cNvPicPr>
            <a:picLocks noChangeAspect="1"/>
          </p:cNvPicPr>
          <p:nvPr/>
        </p:nvPicPr>
        <p:blipFill>
          <a:blip r:embed="rId3">
            <a:extLst/>
          </a:blip>
          <a:stretch>
            <a:fillRect/>
          </a:stretch>
        </p:blipFill>
        <p:spPr>
          <a:xfrm rot="19234332" flipH="1">
            <a:off x="7850726" y="5014191"/>
            <a:ext cx="1535285" cy="1408159"/>
          </a:xfrm>
          <a:prstGeom prst="rect">
            <a:avLst/>
          </a:prstGeom>
          <a:ln w="12700">
            <a:miter lim="400000"/>
          </a:ln>
        </p:spPr>
      </p:pic>
      <p:pic>
        <p:nvPicPr>
          <p:cNvPr id="184" name="LB-red1.png"/>
          <p:cNvPicPr>
            <a:picLocks noChangeAspect="1"/>
          </p:cNvPicPr>
          <p:nvPr/>
        </p:nvPicPr>
        <p:blipFill>
          <a:blip r:embed="rId3">
            <a:extLst/>
          </a:blip>
          <a:stretch>
            <a:fillRect/>
          </a:stretch>
        </p:blipFill>
        <p:spPr>
          <a:xfrm>
            <a:off x="11114625" y="1343890"/>
            <a:ext cx="1535285" cy="1408160"/>
          </a:xfrm>
          <a:prstGeom prst="rect">
            <a:avLst/>
          </a:prstGeom>
          <a:ln w="12700">
            <a:miter lim="400000"/>
          </a:ln>
        </p:spPr>
      </p:pic>
      <p:pic>
        <p:nvPicPr>
          <p:cNvPr id="185" name="LB-orange1.png"/>
          <p:cNvPicPr>
            <a:picLocks noChangeAspect="1"/>
          </p:cNvPicPr>
          <p:nvPr/>
        </p:nvPicPr>
        <p:blipFill>
          <a:blip r:embed="rId2">
            <a:extLst/>
          </a:blip>
          <a:stretch>
            <a:fillRect/>
          </a:stretch>
        </p:blipFill>
        <p:spPr>
          <a:xfrm flipH="1">
            <a:off x="10776449" y="4669573"/>
            <a:ext cx="1755310" cy="1584180"/>
          </a:xfrm>
          <a:prstGeom prst="rect">
            <a:avLst/>
          </a:prstGeom>
          <a:ln w="12700">
            <a:miter lim="400000"/>
          </a:ln>
        </p:spPr>
      </p:pic>
      <p:pic>
        <p:nvPicPr>
          <p:cNvPr id="186" name="LB-drab1.png"/>
          <p:cNvPicPr>
            <a:picLocks noChangeAspect="1"/>
          </p:cNvPicPr>
          <p:nvPr/>
        </p:nvPicPr>
        <p:blipFill>
          <a:blip r:embed="rId4">
            <a:extLst/>
          </a:blip>
          <a:stretch>
            <a:fillRect/>
          </a:stretch>
        </p:blipFill>
        <p:spPr>
          <a:xfrm>
            <a:off x="10611790" y="3058446"/>
            <a:ext cx="1587501" cy="1454355"/>
          </a:xfrm>
          <a:prstGeom prst="rect">
            <a:avLst/>
          </a:prstGeom>
          <a:ln w="12700">
            <a:miter lim="400000"/>
          </a:ln>
        </p:spPr>
      </p:pic>
      <p:pic>
        <p:nvPicPr>
          <p:cNvPr id="187" name="LB-red1.png"/>
          <p:cNvPicPr>
            <a:picLocks noChangeAspect="1"/>
          </p:cNvPicPr>
          <p:nvPr/>
        </p:nvPicPr>
        <p:blipFill>
          <a:blip r:embed="rId3">
            <a:extLst/>
          </a:blip>
          <a:stretch>
            <a:fillRect/>
          </a:stretch>
        </p:blipFill>
        <p:spPr>
          <a:xfrm flipH="1">
            <a:off x="9641425" y="5560290"/>
            <a:ext cx="1535285" cy="1408160"/>
          </a:xfrm>
          <a:prstGeom prst="rect">
            <a:avLst/>
          </a:prstGeom>
          <a:ln w="12700">
            <a:miter lim="400000"/>
          </a:ln>
        </p:spPr>
      </p:pic>
      <p:pic>
        <p:nvPicPr>
          <p:cNvPr id="188" name="LB-red1.png"/>
          <p:cNvPicPr>
            <a:picLocks noChangeAspect="1"/>
          </p:cNvPicPr>
          <p:nvPr/>
        </p:nvPicPr>
        <p:blipFill>
          <a:blip r:embed="rId3">
            <a:extLst/>
          </a:blip>
          <a:stretch>
            <a:fillRect/>
          </a:stretch>
        </p:blipFill>
        <p:spPr>
          <a:xfrm rot="19777253">
            <a:off x="7507825" y="340591"/>
            <a:ext cx="1535285" cy="1408159"/>
          </a:xfrm>
          <a:prstGeom prst="rect">
            <a:avLst/>
          </a:prstGeom>
          <a:ln w="12700">
            <a:miter lim="400000"/>
          </a:ln>
        </p:spPr>
      </p:pic>
      <p:pic>
        <p:nvPicPr>
          <p:cNvPr id="189" name="LB-drab1.png"/>
          <p:cNvPicPr>
            <a:picLocks noChangeAspect="1"/>
          </p:cNvPicPr>
          <p:nvPr/>
        </p:nvPicPr>
        <p:blipFill>
          <a:blip r:embed="rId4">
            <a:extLst/>
          </a:blip>
          <a:stretch>
            <a:fillRect/>
          </a:stretch>
        </p:blipFill>
        <p:spPr>
          <a:xfrm rot="17477842">
            <a:off x="9316391" y="4290348"/>
            <a:ext cx="1587501" cy="1454354"/>
          </a:xfrm>
          <a:prstGeom prst="rect">
            <a:avLst/>
          </a:prstGeom>
          <a:ln w="12700">
            <a:miter lim="400000"/>
          </a:ln>
        </p:spPr>
      </p:pic>
      <p:pic>
        <p:nvPicPr>
          <p:cNvPr id="190" name="LB-orange1.png"/>
          <p:cNvPicPr>
            <a:picLocks noChangeAspect="1"/>
          </p:cNvPicPr>
          <p:nvPr/>
        </p:nvPicPr>
        <p:blipFill>
          <a:blip r:embed="rId2">
            <a:extLst/>
          </a:blip>
          <a:stretch>
            <a:fillRect/>
          </a:stretch>
        </p:blipFill>
        <p:spPr>
          <a:xfrm rot="4668682">
            <a:off x="11005049" y="7920767"/>
            <a:ext cx="1755311" cy="1584181"/>
          </a:xfrm>
          <a:prstGeom prst="rect">
            <a:avLst/>
          </a:prstGeom>
          <a:ln w="12700">
            <a:miter lim="400000"/>
          </a:ln>
        </p:spPr>
      </p:pic>
      <p:pic>
        <p:nvPicPr>
          <p:cNvPr id="191" name="LB-orange1.png"/>
          <p:cNvPicPr>
            <a:picLocks noChangeAspect="1"/>
          </p:cNvPicPr>
          <p:nvPr/>
        </p:nvPicPr>
        <p:blipFill>
          <a:blip r:embed="rId2">
            <a:extLst/>
          </a:blip>
          <a:stretch>
            <a:fillRect/>
          </a:stretch>
        </p:blipFill>
        <p:spPr>
          <a:xfrm>
            <a:off x="10154149" y="6511073"/>
            <a:ext cx="1755310" cy="1584180"/>
          </a:xfrm>
          <a:prstGeom prst="rect">
            <a:avLst/>
          </a:prstGeom>
          <a:ln w="12700">
            <a:miter lim="400000"/>
          </a:ln>
        </p:spPr>
      </p:pic>
      <p:grpSp>
        <p:nvGrpSpPr>
          <p:cNvPr id="194" name="Group 194"/>
          <p:cNvGrpSpPr/>
          <p:nvPr/>
        </p:nvGrpSpPr>
        <p:grpSpPr>
          <a:xfrm>
            <a:off x="11151989" y="3283058"/>
            <a:ext cx="520700" cy="490367"/>
            <a:chOff x="0" y="0"/>
            <a:chExt cx="520699" cy="490365"/>
          </a:xfrm>
        </p:grpSpPr>
        <p:sp>
          <p:nvSpPr>
            <p:cNvPr id="192" name="Shape 192"/>
            <p:cNvSpPr/>
            <p:nvPr/>
          </p:nvSpPr>
          <p:spPr>
            <a:xfrm>
              <a:off x="74675" y="4434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3" name="Shape 193"/>
            <p:cNvSpPr/>
            <p:nvPr/>
          </p:nvSpPr>
          <p:spPr>
            <a:xfrm>
              <a:off x="0" y="0"/>
              <a:ext cx="493813" cy="382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197" name="Group 197"/>
          <p:cNvGrpSpPr/>
          <p:nvPr/>
        </p:nvGrpSpPr>
        <p:grpSpPr>
          <a:xfrm>
            <a:off x="8154789" y="5155118"/>
            <a:ext cx="546101" cy="510607"/>
            <a:chOff x="0" y="0"/>
            <a:chExt cx="546100" cy="510605"/>
          </a:xfrm>
        </p:grpSpPr>
        <p:sp>
          <p:nvSpPr>
            <p:cNvPr id="195" name="Shape 195"/>
            <p:cNvSpPr/>
            <p:nvPr/>
          </p:nvSpPr>
          <p:spPr>
            <a:xfrm>
              <a:off x="87375" y="6458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6" name="Shape 196"/>
            <p:cNvSpPr/>
            <p:nvPr/>
          </p:nvSpPr>
          <p:spPr>
            <a:xfrm>
              <a:off x="0" y="0"/>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00" name="Group 200"/>
          <p:cNvGrpSpPr/>
          <p:nvPr/>
        </p:nvGrpSpPr>
        <p:grpSpPr>
          <a:xfrm>
            <a:off x="9526389" y="3105258"/>
            <a:ext cx="508000" cy="490367"/>
            <a:chOff x="0" y="0"/>
            <a:chExt cx="507999" cy="490365"/>
          </a:xfrm>
        </p:grpSpPr>
        <p:sp>
          <p:nvSpPr>
            <p:cNvPr id="198" name="Shape 198"/>
            <p:cNvSpPr/>
            <p:nvPr/>
          </p:nvSpPr>
          <p:spPr>
            <a:xfrm>
              <a:off x="61975" y="4434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9" name="Shape 199"/>
            <p:cNvSpPr/>
            <p:nvPr/>
          </p:nvSpPr>
          <p:spPr>
            <a:xfrm>
              <a:off x="0" y="0"/>
              <a:ext cx="493813" cy="382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03" name="Group 203"/>
          <p:cNvGrpSpPr/>
          <p:nvPr/>
        </p:nvGrpSpPr>
        <p:grpSpPr>
          <a:xfrm>
            <a:off x="9666089" y="4730858"/>
            <a:ext cx="520700" cy="503067"/>
            <a:chOff x="0" y="0"/>
            <a:chExt cx="520699" cy="503065"/>
          </a:xfrm>
        </p:grpSpPr>
        <p:sp>
          <p:nvSpPr>
            <p:cNvPr id="201" name="Shape 201"/>
            <p:cNvSpPr/>
            <p:nvPr/>
          </p:nvSpPr>
          <p:spPr>
            <a:xfrm>
              <a:off x="74675" y="5704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2" name="Shape 202"/>
            <p:cNvSpPr/>
            <p:nvPr/>
          </p:nvSpPr>
          <p:spPr>
            <a:xfrm>
              <a:off x="0" y="0"/>
              <a:ext cx="493813" cy="382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06" name="Group 206"/>
          <p:cNvGrpSpPr/>
          <p:nvPr/>
        </p:nvGrpSpPr>
        <p:grpSpPr>
          <a:xfrm>
            <a:off x="7214989" y="6902558"/>
            <a:ext cx="520700" cy="503067"/>
            <a:chOff x="0" y="0"/>
            <a:chExt cx="520699" cy="503065"/>
          </a:xfrm>
        </p:grpSpPr>
        <p:sp>
          <p:nvSpPr>
            <p:cNvPr id="204" name="Shape 204"/>
            <p:cNvSpPr/>
            <p:nvPr/>
          </p:nvSpPr>
          <p:spPr>
            <a:xfrm>
              <a:off x="74675" y="5704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5" name="Shape 205"/>
            <p:cNvSpPr/>
            <p:nvPr/>
          </p:nvSpPr>
          <p:spPr>
            <a:xfrm>
              <a:off x="0" y="0"/>
              <a:ext cx="493813" cy="382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09" name="Group 209"/>
          <p:cNvGrpSpPr/>
          <p:nvPr/>
        </p:nvGrpSpPr>
        <p:grpSpPr>
          <a:xfrm>
            <a:off x="8510389" y="2165458"/>
            <a:ext cx="520700" cy="503067"/>
            <a:chOff x="0" y="0"/>
            <a:chExt cx="520699" cy="503065"/>
          </a:xfrm>
        </p:grpSpPr>
        <p:sp>
          <p:nvSpPr>
            <p:cNvPr id="207" name="Shape 207"/>
            <p:cNvSpPr/>
            <p:nvPr/>
          </p:nvSpPr>
          <p:spPr>
            <a:xfrm>
              <a:off x="74675" y="5704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8" name="Shape 208"/>
            <p:cNvSpPr/>
            <p:nvPr/>
          </p:nvSpPr>
          <p:spPr>
            <a:xfrm>
              <a:off x="0" y="0"/>
              <a:ext cx="493813" cy="382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12" name="Group 212"/>
          <p:cNvGrpSpPr/>
          <p:nvPr/>
        </p:nvGrpSpPr>
        <p:grpSpPr>
          <a:xfrm>
            <a:off x="9843889" y="1339958"/>
            <a:ext cx="520700" cy="464967"/>
            <a:chOff x="0" y="0"/>
            <a:chExt cx="520699" cy="464965"/>
          </a:xfrm>
        </p:grpSpPr>
        <p:sp>
          <p:nvSpPr>
            <p:cNvPr id="210" name="Shape 210"/>
            <p:cNvSpPr/>
            <p:nvPr/>
          </p:nvSpPr>
          <p:spPr>
            <a:xfrm>
              <a:off x="74675" y="1894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1" name="Shape 211"/>
            <p:cNvSpPr/>
            <p:nvPr/>
          </p:nvSpPr>
          <p:spPr>
            <a:xfrm>
              <a:off x="0" y="0"/>
              <a:ext cx="493813" cy="382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15" name="Group 215"/>
          <p:cNvGrpSpPr/>
          <p:nvPr/>
        </p:nvGrpSpPr>
        <p:grpSpPr>
          <a:xfrm>
            <a:off x="11393289" y="4946758"/>
            <a:ext cx="520700" cy="477667"/>
            <a:chOff x="0" y="0"/>
            <a:chExt cx="520699" cy="477665"/>
          </a:xfrm>
        </p:grpSpPr>
        <p:sp>
          <p:nvSpPr>
            <p:cNvPr id="213" name="Shape 213"/>
            <p:cNvSpPr/>
            <p:nvPr/>
          </p:nvSpPr>
          <p:spPr>
            <a:xfrm>
              <a:off x="74675" y="3164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4" name="Shape 214"/>
            <p:cNvSpPr/>
            <p:nvPr/>
          </p:nvSpPr>
          <p:spPr>
            <a:xfrm>
              <a:off x="0" y="0"/>
              <a:ext cx="493813" cy="382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18" name="Group 218"/>
          <p:cNvGrpSpPr/>
          <p:nvPr/>
        </p:nvGrpSpPr>
        <p:grpSpPr>
          <a:xfrm>
            <a:off x="10758289" y="6915258"/>
            <a:ext cx="533400" cy="490367"/>
            <a:chOff x="0" y="0"/>
            <a:chExt cx="533399" cy="490365"/>
          </a:xfrm>
        </p:grpSpPr>
        <p:sp>
          <p:nvSpPr>
            <p:cNvPr id="216" name="Shape 216"/>
            <p:cNvSpPr/>
            <p:nvPr/>
          </p:nvSpPr>
          <p:spPr>
            <a:xfrm>
              <a:off x="87375" y="4434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7" name="Shape 217"/>
            <p:cNvSpPr/>
            <p:nvPr/>
          </p:nvSpPr>
          <p:spPr>
            <a:xfrm>
              <a:off x="0" y="0"/>
              <a:ext cx="493813" cy="382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21" name="Group 221"/>
          <p:cNvGrpSpPr/>
          <p:nvPr/>
        </p:nvGrpSpPr>
        <p:grpSpPr>
          <a:xfrm>
            <a:off x="11774289" y="8426558"/>
            <a:ext cx="533400" cy="503067"/>
            <a:chOff x="0" y="0"/>
            <a:chExt cx="533399" cy="503065"/>
          </a:xfrm>
        </p:grpSpPr>
        <p:sp>
          <p:nvSpPr>
            <p:cNvPr id="219" name="Shape 219"/>
            <p:cNvSpPr/>
            <p:nvPr/>
          </p:nvSpPr>
          <p:spPr>
            <a:xfrm>
              <a:off x="87375" y="5704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0" name="Shape 220"/>
            <p:cNvSpPr/>
            <p:nvPr/>
          </p:nvSpPr>
          <p:spPr>
            <a:xfrm>
              <a:off x="0" y="0"/>
              <a:ext cx="493813" cy="382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24" name="Group 224"/>
          <p:cNvGrpSpPr/>
          <p:nvPr/>
        </p:nvGrpSpPr>
        <p:grpSpPr>
          <a:xfrm>
            <a:off x="7799189" y="4146658"/>
            <a:ext cx="520700" cy="477667"/>
            <a:chOff x="0" y="0"/>
            <a:chExt cx="520699" cy="477665"/>
          </a:xfrm>
        </p:grpSpPr>
        <p:sp>
          <p:nvSpPr>
            <p:cNvPr id="222" name="Shape 222"/>
            <p:cNvSpPr/>
            <p:nvPr/>
          </p:nvSpPr>
          <p:spPr>
            <a:xfrm>
              <a:off x="74675" y="3164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3" name="Shape 223"/>
            <p:cNvSpPr/>
            <p:nvPr/>
          </p:nvSpPr>
          <p:spPr>
            <a:xfrm>
              <a:off x="0" y="0"/>
              <a:ext cx="493813" cy="382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27" name="Group 227"/>
          <p:cNvGrpSpPr/>
          <p:nvPr/>
        </p:nvGrpSpPr>
        <p:grpSpPr>
          <a:xfrm>
            <a:off x="6884789" y="2157918"/>
            <a:ext cx="546101" cy="510607"/>
            <a:chOff x="0" y="0"/>
            <a:chExt cx="546100" cy="510605"/>
          </a:xfrm>
        </p:grpSpPr>
        <p:sp>
          <p:nvSpPr>
            <p:cNvPr id="225" name="Shape 225"/>
            <p:cNvSpPr/>
            <p:nvPr/>
          </p:nvSpPr>
          <p:spPr>
            <a:xfrm>
              <a:off x="100075" y="6458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6" name="Shape 226"/>
            <p:cNvSpPr/>
            <p:nvPr/>
          </p:nvSpPr>
          <p:spPr>
            <a:xfrm>
              <a:off x="0" y="0"/>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30" name="Group 230"/>
          <p:cNvGrpSpPr/>
          <p:nvPr/>
        </p:nvGrpSpPr>
        <p:grpSpPr>
          <a:xfrm>
            <a:off x="7786489" y="519618"/>
            <a:ext cx="546101" cy="536007"/>
            <a:chOff x="0" y="0"/>
            <a:chExt cx="546100" cy="536005"/>
          </a:xfrm>
        </p:grpSpPr>
        <p:sp>
          <p:nvSpPr>
            <p:cNvPr id="228" name="Shape 228"/>
            <p:cNvSpPr/>
            <p:nvPr/>
          </p:nvSpPr>
          <p:spPr>
            <a:xfrm>
              <a:off x="100075" y="8998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9" name="Shape 229"/>
            <p:cNvSpPr/>
            <p:nvPr/>
          </p:nvSpPr>
          <p:spPr>
            <a:xfrm>
              <a:off x="0" y="0"/>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33" name="Group 233"/>
          <p:cNvGrpSpPr/>
          <p:nvPr/>
        </p:nvGrpSpPr>
        <p:grpSpPr>
          <a:xfrm>
            <a:off x="11571089" y="1587500"/>
            <a:ext cx="546101" cy="523306"/>
            <a:chOff x="0" y="0"/>
            <a:chExt cx="546100" cy="523305"/>
          </a:xfrm>
        </p:grpSpPr>
        <p:sp>
          <p:nvSpPr>
            <p:cNvPr id="231" name="Shape 231"/>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2" name="Shape 232"/>
            <p:cNvSpPr/>
            <p:nvPr/>
          </p:nvSpPr>
          <p:spPr>
            <a:xfrm>
              <a:off x="0" y="1005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grpSp>
        <p:nvGrpSpPr>
          <p:cNvPr id="236" name="Group 236"/>
          <p:cNvGrpSpPr/>
          <p:nvPr/>
        </p:nvGrpSpPr>
        <p:grpSpPr>
          <a:xfrm>
            <a:off x="10148689" y="5739318"/>
            <a:ext cx="546101" cy="523307"/>
            <a:chOff x="0" y="0"/>
            <a:chExt cx="546100" cy="523305"/>
          </a:xfrm>
        </p:grpSpPr>
        <p:sp>
          <p:nvSpPr>
            <p:cNvPr id="234" name="Shape 234"/>
            <p:cNvSpPr/>
            <p:nvPr/>
          </p:nvSpPr>
          <p:spPr>
            <a:xfrm>
              <a:off x="87375" y="7728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5" name="Shape 235"/>
            <p:cNvSpPr/>
            <p:nvPr/>
          </p:nvSpPr>
          <p:spPr>
            <a:xfrm>
              <a:off x="0" y="0"/>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39" name="Group 239"/>
          <p:cNvGrpSpPr/>
          <p:nvPr/>
        </p:nvGrpSpPr>
        <p:grpSpPr>
          <a:xfrm>
            <a:off x="9221589" y="7187118"/>
            <a:ext cx="546101" cy="497907"/>
            <a:chOff x="0" y="0"/>
            <a:chExt cx="546100" cy="497905"/>
          </a:xfrm>
        </p:grpSpPr>
        <p:sp>
          <p:nvSpPr>
            <p:cNvPr id="237" name="Shape 237"/>
            <p:cNvSpPr/>
            <p:nvPr/>
          </p:nvSpPr>
          <p:spPr>
            <a:xfrm>
              <a:off x="100075" y="5188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8" name="Shape 238"/>
            <p:cNvSpPr/>
            <p:nvPr/>
          </p:nvSpPr>
          <p:spPr>
            <a:xfrm>
              <a:off x="0" y="0"/>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sp>
        <p:nvSpPr>
          <p:cNvPr id="240" name="Shape 240"/>
          <p:cNvSpPr/>
          <p:nvPr/>
        </p:nvSpPr>
        <p:spPr>
          <a:xfrm>
            <a:off x="6362700" y="8718847"/>
            <a:ext cx="4241800" cy="704554"/>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nSpc>
                <a:spcPts val="2000"/>
              </a:lnSpc>
              <a:tabLst>
                <a:tab pos="520700" algn="l"/>
              </a:tabLst>
              <a:defRPr sz="1600" i="1">
                <a:solidFill>
                  <a:srgbClr val="000000"/>
                </a:solidFill>
              </a:defRPr>
            </a:lvl1pPr>
          </a:lstStyle>
          <a:p>
            <a:r>
              <a:t>For quick visual recognition, heterozygotes are shown as a different colour. In reality, they would have the same phenotype as AA.</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8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8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8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8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8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1" build="p" bldLvl="5"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Shape 242"/>
          <p:cNvSpPr/>
          <p:nvPr/>
        </p:nvSpPr>
        <p:spPr>
          <a:xfrm>
            <a:off x="2947760" y="1403548"/>
            <a:ext cx="8966129" cy="7096707"/>
          </a:xfrm>
          <a:custGeom>
            <a:avLst/>
            <a:gdLst/>
            <a:ahLst/>
            <a:cxnLst>
              <a:cxn ang="0">
                <a:pos x="wd2" y="hd2"/>
              </a:cxn>
              <a:cxn ang="5400000">
                <a:pos x="wd2" y="hd2"/>
              </a:cxn>
              <a:cxn ang="10800000">
                <a:pos x="wd2" y="hd2"/>
              </a:cxn>
              <a:cxn ang="16200000">
                <a:pos x="wd2" y="hd2"/>
              </a:cxn>
            </a:cxnLst>
            <a:rect l="0" t="0" r="r" b="b"/>
            <a:pathLst>
              <a:path w="21169" h="20991" extrusionOk="0">
                <a:moveTo>
                  <a:pt x="7613" y="2573"/>
                </a:moveTo>
                <a:cubicBezTo>
                  <a:pt x="7085" y="4588"/>
                  <a:pt x="5365" y="3926"/>
                  <a:pt x="3565" y="3324"/>
                </a:cubicBezTo>
                <a:cubicBezTo>
                  <a:pt x="2666" y="3024"/>
                  <a:pt x="1137" y="4376"/>
                  <a:pt x="507" y="6517"/>
                </a:cubicBezTo>
                <a:cubicBezTo>
                  <a:pt x="-123" y="8659"/>
                  <a:pt x="-214" y="11397"/>
                  <a:pt x="507" y="13354"/>
                </a:cubicBezTo>
                <a:cubicBezTo>
                  <a:pt x="1227" y="15308"/>
                  <a:pt x="837" y="15608"/>
                  <a:pt x="3236" y="17486"/>
                </a:cubicBezTo>
                <a:cubicBezTo>
                  <a:pt x="5634" y="19365"/>
                  <a:pt x="6174" y="19327"/>
                  <a:pt x="9472" y="19365"/>
                </a:cubicBezTo>
                <a:cubicBezTo>
                  <a:pt x="12195" y="19396"/>
                  <a:pt x="13041" y="21318"/>
                  <a:pt x="15109" y="20942"/>
                </a:cubicBezTo>
                <a:cubicBezTo>
                  <a:pt x="17178" y="20567"/>
                  <a:pt x="18138" y="20529"/>
                  <a:pt x="19697" y="19027"/>
                </a:cubicBezTo>
                <a:cubicBezTo>
                  <a:pt x="21256" y="17524"/>
                  <a:pt x="21386" y="16363"/>
                  <a:pt x="20956" y="14406"/>
                </a:cubicBezTo>
                <a:cubicBezTo>
                  <a:pt x="20627" y="12903"/>
                  <a:pt x="19697" y="12603"/>
                  <a:pt x="20027" y="10349"/>
                </a:cubicBezTo>
                <a:cubicBezTo>
                  <a:pt x="20357" y="8095"/>
                  <a:pt x="21316" y="7945"/>
                  <a:pt x="20956" y="5991"/>
                </a:cubicBezTo>
                <a:cubicBezTo>
                  <a:pt x="20686" y="4525"/>
                  <a:pt x="19897" y="2658"/>
                  <a:pt x="18558" y="3024"/>
                </a:cubicBezTo>
                <a:cubicBezTo>
                  <a:pt x="15529" y="3850"/>
                  <a:pt x="12951" y="620"/>
                  <a:pt x="11721" y="169"/>
                </a:cubicBezTo>
                <a:cubicBezTo>
                  <a:pt x="10492" y="-282"/>
                  <a:pt x="8273" y="56"/>
                  <a:pt x="7613" y="2573"/>
                </a:cubicBezTo>
                <a:close/>
              </a:path>
            </a:pathLst>
          </a:custGeom>
          <a:solidFill>
            <a:srgbClr val="C5E1ED"/>
          </a:solidFill>
          <a:ln w="50800">
            <a:solidFill>
              <a:srgbClr val="FFFFFF"/>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43" name="Shape 243"/>
          <p:cNvSpPr>
            <a:spLocks noGrp="1"/>
          </p:cNvSpPr>
          <p:nvPr>
            <p:ph type="title"/>
          </p:nvPr>
        </p:nvSpPr>
        <p:spPr>
          <a:prstGeom prst="rect">
            <a:avLst/>
          </a:prstGeom>
        </p:spPr>
        <p:txBody>
          <a:bodyPr/>
          <a:lstStyle>
            <a:lvl1pPr>
              <a:tabLst>
                <a:tab pos="952500" algn="l"/>
              </a:tabLst>
            </a:lvl1pPr>
          </a:lstStyle>
          <a:p>
            <a:r>
              <a:t>Gene Pool</a:t>
            </a:r>
          </a:p>
        </p:txBody>
      </p:sp>
      <p:sp>
        <p:nvSpPr>
          <p:cNvPr id="244" name="Shape 244"/>
          <p:cNvSpPr/>
          <p:nvPr/>
        </p:nvSpPr>
        <p:spPr>
          <a:xfrm>
            <a:off x="9385300" y="1228340"/>
            <a:ext cx="2844800" cy="65126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gn="ctr">
              <a:tabLst>
                <a:tab pos="520700" algn="l"/>
              </a:tabLst>
              <a:defRPr sz="2200">
                <a:solidFill>
                  <a:srgbClr val="000000"/>
                </a:solidFill>
              </a:defRPr>
            </a:lvl1pPr>
          </a:lstStyle>
          <a:p>
            <a:r>
              <a:t>Geographic boundary of the gene pool</a:t>
            </a:r>
          </a:p>
        </p:txBody>
      </p:sp>
      <p:sp>
        <p:nvSpPr>
          <p:cNvPr id="245" name="Shape 245"/>
          <p:cNvSpPr/>
          <p:nvPr/>
        </p:nvSpPr>
        <p:spPr>
          <a:xfrm>
            <a:off x="787400" y="1710940"/>
            <a:ext cx="3467100" cy="65126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p>
            <a:pPr algn="ctr">
              <a:tabLst>
                <a:tab pos="520700" algn="l"/>
              </a:tabLst>
              <a:defRPr sz="2200">
                <a:solidFill>
                  <a:srgbClr val="000000"/>
                </a:solidFill>
              </a:defRPr>
            </a:pPr>
            <a:r>
              <a:t>Individual is </a:t>
            </a:r>
            <a:r>
              <a:rPr b="1">
                <a:solidFill>
                  <a:srgbClr val="006994"/>
                </a:solidFill>
              </a:rPr>
              <a:t>homozygous recessive</a:t>
            </a:r>
            <a:r>
              <a:t> (aa)</a:t>
            </a:r>
          </a:p>
        </p:txBody>
      </p:sp>
      <p:sp>
        <p:nvSpPr>
          <p:cNvPr id="246" name="Shape 246"/>
          <p:cNvSpPr/>
          <p:nvPr/>
        </p:nvSpPr>
        <p:spPr>
          <a:xfrm>
            <a:off x="2260600" y="8035540"/>
            <a:ext cx="2616200" cy="65126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p>
            <a:pPr algn="ctr">
              <a:tabLst>
                <a:tab pos="520700" algn="l"/>
              </a:tabLst>
              <a:defRPr sz="2200">
                <a:solidFill>
                  <a:srgbClr val="000000"/>
                </a:solidFill>
              </a:defRPr>
            </a:pPr>
            <a:r>
              <a:t>Individual is </a:t>
            </a:r>
            <a:r>
              <a:rPr b="1">
                <a:solidFill>
                  <a:srgbClr val="006994"/>
                </a:solidFill>
              </a:rPr>
              <a:t>heterozygous</a:t>
            </a:r>
            <a:r>
              <a:t> (Aa)</a:t>
            </a:r>
          </a:p>
        </p:txBody>
      </p:sp>
      <p:sp>
        <p:nvSpPr>
          <p:cNvPr id="247" name="Shape 247"/>
          <p:cNvSpPr/>
          <p:nvPr/>
        </p:nvSpPr>
        <p:spPr>
          <a:xfrm>
            <a:off x="609600" y="4962140"/>
            <a:ext cx="2184400" cy="981460"/>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p>
            <a:pPr>
              <a:tabLst>
                <a:tab pos="520700" algn="l"/>
              </a:tabLst>
              <a:defRPr sz="2200">
                <a:solidFill>
                  <a:srgbClr val="000000"/>
                </a:solidFill>
              </a:defRPr>
            </a:pPr>
            <a:r>
              <a:t>Individual is </a:t>
            </a:r>
            <a:r>
              <a:rPr b="1">
                <a:solidFill>
                  <a:srgbClr val="006994"/>
                </a:solidFill>
              </a:rPr>
              <a:t>homozygous dominant</a:t>
            </a:r>
            <a:r>
              <a:rPr>
                <a:solidFill>
                  <a:srgbClr val="006994"/>
                </a:solidFill>
              </a:rPr>
              <a:t> </a:t>
            </a:r>
            <a:r>
              <a:t>(AA)</a:t>
            </a:r>
          </a:p>
        </p:txBody>
      </p:sp>
      <p:sp>
        <p:nvSpPr>
          <p:cNvPr id="248" name="Shape 248"/>
          <p:cNvSpPr/>
          <p:nvPr/>
        </p:nvSpPr>
        <p:spPr>
          <a:xfrm>
            <a:off x="4978400" y="8658671"/>
            <a:ext cx="6680200" cy="739330"/>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gn="ctr">
              <a:lnSpc>
                <a:spcPts val="3100"/>
              </a:lnSpc>
              <a:tabLst>
                <a:tab pos="520700" algn="l"/>
              </a:tabLst>
              <a:defRPr sz="2400">
                <a:solidFill>
                  <a:srgbClr val="000000"/>
                </a:solidFill>
              </a:defRPr>
            </a:lvl1pPr>
          </a:lstStyle>
          <a:p>
            <a:r>
              <a:t>A gene pool made up of 16 individual organisms with gene A, where gene A has two alleles</a:t>
            </a:r>
          </a:p>
        </p:txBody>
      </p:sp>
      <p:sp>
        <p:nvSpPr>
          <p:cNvPr id="249" name="Shape 249"/>
          <p:cNvSpPr/>
          <p:nvPr/>
        </p:nvSpPr>
        <p:spPr>
          <a:xfrm flipV="1">
            <a:off x="10896600" y="1943100"/>
            <a:ext cx="1" cy="440267"/>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50" name="Shape 250"/>
          <p:cNvSpPr/>
          <p:nvPr/>
        </p:nvSpPr>
        <p:spPr>
          <a:xfrm flipH="1" flipV="1">
            <a:off x="2823632" y="2561166"/>
            <a:ext cx="999068" cy="592668"/>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51" name="Shape 251"/>
          <p:cNvSpPr/>
          <p:nvPr/>
        </p:nvSpPr>
        <p:spPr>
          <a:xfrm flipH="1" flipV="1">
            <a:off x="2652964" y="5461000"/>
            <a:ext cx="781925" cy="127"/>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52" name="Shape 252"/>
          <p:cNvSpPr/>
          <p:nvPr/>
        </p:nvSpPr>
        <p:spPr>
          <a:xfrm flipH="1">
            <a:off x="3886200" y="7099300"/>
            <a:ext cx="1181100" cy="927100"/>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pic>
        <p:nvPicPr>
          <p:cNvPr id="253" name="LB-red1.png"/>
          <p:cNvPicPr>
            <a:picLocks noChangeAspect="1"/>
          </p:cNvPicPr>
          <p:nvPr/>
        </p:nvPicPr>
        <p:blipFill>
          <a:blip r:embed="rId2">
            <a:extLst/>
          </a:blip>
          <a:stretch>
            <a:fillRect/>
          </a:stretch>
        </p:blipFill>
        <p:spPr>
          <a:xfrm rot="4799522">
            <a:off x="3266026" y="4760191"/>
            <a:ext cx="1535285" cy="1408160"/>
          </a:xfrm>
          <a:prstGeom prst="rect">
            <a:avLst/>
          </a:prstGeom>
          <a:ln w="12700">
            <a:miter lim="400000"/>
          </a:ln>
        </p:spPr>
      </p:pic>
      <p:pic>
        <p:nvPicPr>
          <p:cNvPr id="254" name="LB-drab1.png"/>
          <p:cNvPicPr>
            <a:picLocks noChangeAspect="1"/>
          </p:cNvPicPr>
          <p:nvPr/>
        </p:nvPicPr>
        <p:blipFill>
          <a:blip r:embed="rId3">
            <a:extLst/>
          </a:blip>
          <a:stretch>
            <a:fillRect/>
          </a:stretch>
        </p:blipFill>
        <p:spPr>
          <a:xfrm rot="10020324">
            <a:off x="3131492" y="2880648"/>
            <a:ext cx="1587501" cy="1454354"/>
          </a:xfrm>
          <a:prstGeom prst="rect">
            <a:avLst/>
          </a:prstGeom>
          <a:ln w="12700">
            <a:miter lim="400000"/>
          </a:ln>
        </p:spPr>
      </p:pic>
      <p:pic>
        <p:nvPicPr>
          <p:cNvPr id="255" name="LB-orange1.png"/>
          <p:cNvPicPr>
            <a:picLocks noChangeAspect="1"/>
          </p:cNvPicPr>
          <p:nvPr/>
        </p:nvPicPr>
        <p:blipFill>
          <a:blip r:embed="rId4">
            <a:extLst/>
          </a:blip>
          <a:stretch>
            <a:fillRect/>
          </a:stretch>
        </p:blipFill>
        <p:spPr>
          <a:xfrm rot="4668682">
            <a:off x="9966152" y="5710903"/>
            <a:ext cx="1536702" cy="1386884"/>
          </a:xfrm>
          <a:prstGeom prst="rect">
            <a:avLst/>
          </a:prstGeom>
          <a:ln w="12700">
            <a:miter lim="400000"/>
          </a:ln>
        </p:spPr>
      </p:pic>
      <p:grpSp>
        <p:nvGrpSpPr>
          <p:cNvPr id="258" name="Group 258"/>
          <p:cNvGrpSpPr/>
          <p:nvPr/>
        </p:nvGrpSpPr>
        <p:grpSpPr>
          <a:xfrm>
            <a:off x="3658989" y="3486258"/>
            <a:ext cx="520700" cy="503067"/>
            <a:chOff x="0" y="0"/>
            <a:chExt cx="520699" cy="503065"/>
          </a:xfrm>
        </p:grpSpPr>
        <p:sp>
          <p:nvSpPr>
            <p:cNvPr id="256" name="Shape 256"/>
            <p:cNvSpPr/>
            <p:nvPr/>
          </p:nvSpPr>
          <p:spPr>
            <a:xfrm>
              <a:off x="74675" y="5704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57" name="Shape 257"/>
            <p:cNvSpPr/>
            <p:nvPr/>
          </p:nvSpPr>
          <p:spPr>
            <a:xfrm>
              <a:off x="0" y="0"/>
              <a:ext cx="493813" cy="382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grpSp>
        <p:nvGrpSpPr>
          <p:cNvPr id="261" name="Group 261"/>
          <p:cNvGrpSpPr/>
          <p:nvPr/>
        </p:nvGrpSpPr>
        <p:grpSpPr>
          <a:xfrm>
            <a:off x="10618589" y="6184900"/>
            <a:ext cx="533400" cy="490366"/>
            <a:chOff x="0" y="0"/>
            <a:chExt cx="533399" cy="490365"/>
          </a:xfrm>
        </p:grpSpPr>
        <p:sp>
          <p:nvSpPr>
            <p:cNvPr id="259" name="Shape 259"/>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60" name="Shape 260"/>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grpSp>
        <p:nvGrpSpPr>
          <p:cNvPr id="264" name="Group 264"/>
          <p:cNvGrpSpPr/>
          <p:nvPr/>
        </p:nvGrpSpPr>
        <p:grpSpPr>
          <a:xfrm>
            <a:off x="4014589" y="5207000"/>
            <a:ext cx="546101" cy="548706"/>
            <a:chOff x="0" y="0"/>
            <a:chExt cx="546100" cy="548705"/>
          </a:xfrm>
        </p:grpSpPr>
        <p:sp>
          <p:nvSpPr>
            <p:cNvPr id="262" name="Shape 262"/>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63" name="Shape 263"/>
            <p:cNvSpPr/>
            <p:nvPr/>
          </p:nvSpPr>
          <p:spPr>
            <a:xfrm>
              <a:off x="0" y="1259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265" name="LB-drab1.png"/>
          <p:cNvPicPr>
            <a:picLocks noChangeAspect="1"/>
          </p:cNvPicPr>
          <p:nvPr/>
        </p:nvPicPr>
        <p:blipFill>
          <a:blip r:embed="rId3">
            <a:extLst/>
          </a:blip>
          <a:stretch>
            <a:fillRect/>
          </a:stretch>
        </p:blipFill>
        <p:spPr>
          <a:xfrm rot="16511666">
            <a:off x="4934892" y="4506247"/>
            <a:ext cx="1587501" cy="1454355"/>
          </a:xfrm>
          <a:prstGeom prst="rect">
            <a:avLst/>
          </a:prstGeom>
          <a:ln w="12700">
            <a:miter lim="400000"/>
          </a:ln>
        </p:spPr>
      </p:pic>
      <p:grpSp>
        <p:nvGrpSpPr>
          <p:cNvPr id="268" name="Group 268"/>
          <p:cNvGrpSpPr/>
          <p:nvPr/>
        </p:nvGrpSpPr>
        <p:grpSpPr>
          <a:xfrm>
            <a:off x="5360789" y="5016500"/>
            <a:ext cx="520700" cy="477666"/>
            <a:chOff x="0" y="0"/>
            <a:chExt cx="520699" cy="477665"/>
          </a:xfrm>
        </p:grpSpPr>
        <p:sp>
          <p:nvSpPr>
            <p:cNvPr id="266" name="Shape 266"/>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67" name="Shape 267"/>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269" name="LB-drab1.png"/>
          <p:cNvPicPr>
            <a:picLocks noChangeAspect="1"/>
          </p:cNvPicPr>
          <p:nvPr/>
        </p:nvPicPr>
        <p:blipFill>
          <a:blip r:embed="rId3">
            <a:extLst/>
          </a:blip>
          <a:stretch>
            <a:fillRect/>
          </a:stretch>
        </p:blipFill>
        <p:spPr>
          <a:xfrm rot="10020324">
            <a:off x="8236891" y="5230148"/>
            <a:ext cx="1587501" cy="1454354"/>
          </a:xfrm>
          <a:prstGeom prst="rect">
            <a:avLst/>
          </a:prstGeom>
          <a:ln w="12700">
            <a:miter lim="400000"/>
          </a:ln>
        </p:spPr>
      </p:pic>
      <p:grpSp>
        <p:nvGrpSpPr>
          <p:cNvPr id="272" name="Group 272"/>
          <p:cNvGrpSpPr/>
          <p:nvPr/>
        </p:nvGrpSpPr>
        <p:grpSpPr>
          <a:xfrm>
            <a:off x="8764389" y="5892800"/>
            <a:ext cx="520700" cy="477666"/>
            <a:chOff x="0" y="0"/>
            <a:chExt cx="520699" cy="477665"/>
          </a:xfrm>
        </p:grpSpPr>
        <p:sp>
          <p:nvSpPr>
            <p:cNvPr id="270" name="Shape 270"/>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71" name="Shape 271"/>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273" name="LB-drab1.png"/>
          <p:cNvPicPr>
            <a:picLocks noChangeAspect="1"/>
          </p:cNvPicPr>
          <p:nvPr/>
        </p:nvPicPr>
        <p:blipFill>
          <a:blip r:embed="rId3">
            <a:extLst/>
          </a:blip>
          <a:stretch>
            <a:fillRect/>
          </a:stretch>
        </p:blipFill>
        <p:spPr>
          <a:xfrm rot="16511666">
            <a:off x="10040291" y="6855747"/>
            <a:ext cx="1587501" cy="1454355"/>
          </a:xfrm>
          <a:prstGeom prst="rect">
            <a:avLst/>
          </a:prstGeom>
          <a:ln w="12700">
            <a:miter lim="400000"/>
          </a:ln>
        </p:spPr>
      </p:pic>
      <p:grpSp>
        <p:nvGrpSpPr>
          <p:cNvPr id="276" name="Group 276"/>
          <p:cNvGrpSpPr/>
          <p:nvPr/>
        </p:nvGrpSpPr>
        <p:grpSpPr>
          <a:xfrm>
            <a:off x="10466189" y="7366000"/>
            <a:ext cx="520700" cy="477666"/>
            <a:chOff x="0" y="0"/>
            <a:chExt cx="520699" cy="477665"/>
          </a:xfrm>
        </p:grpSpPr>
        <p:sp>
          <p:nvSpPr>
            <p:cNvPr id="274" name="Shape 274"/>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75" name="Shape 275"/>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277" name="LB-drab1.png"/>
          <p:cNvPicPr>
            <a:picLocks noChangeAspect="1"/>
          </p:cNvPicPr>
          <p:nvPr/>
        </p:nvPicPr>
        <p:blipFill>
          <a:blip r:embed="rId3">
            <a:extLst/>
          </a:blip>
          <a:stretch>
            <a:fillRect/>
          </a:stretch>
        </p:blipFill>
        <p:spPr>
          <a:xfrm rot="13500000">
            <a:off x="9773591" y="4341146"/>
            <a:ext cx="1587501" cy="1454355"/>
          </a:xfrm>
          <a:prstGeom prst="rect">
            <a:avLst/>
          </a:prstGeom>
          <a:ln w="12700">
            <a:miter lim="400000"/>
          </a:ln>
        </p:spPr>
      </p:pic>
      <p:grpSp>
        <p:nvGrpSpPr>
          <p:cNvPr id="280" name="Group 280"/>
          <p:cNvGrpSpPr/>
          <p:nvPr/>
        </p:nvGrpSpPr>
        <p:grpSpPr>
          <a:xfrm>
            <a:off x="10199489" y="4851400"/>
            <a:ext cx="520700" cy="477666"/>
            <a:chOff x="0" y="0"/>
            <a:chExt cx="520699" cy="477665"/>
          </a:xfrm>
        </p:grpSpPr>
        <p:sp>
          <p:nvSpPr>
            <p:cNvPr id="278" name="Shape 278"/>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79" name="Shape 279"/>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281" name="LB-red1.png"/>
          <p:cNvPicPr>
            <a:picLocks noChangeAspect="1"/>
          </p:cNvPicPr>
          <p:nvPr/>
        </p:nvPicPr>
        <p:blipFill>
          <a:blip r:embed="rId2">
            <a:extLst/>
          </a:blip>
          <a:stretch>
            <a:fillRect/>
          </a:stretch>
        </p:blipFill>
        <p:spPr>
          <a:xfrm rot="4799522">
            <a:off x="10035126" y="2905991"/>
            <a:ext cx="1535285" cy="1408160"/>
          </a:xfrm>
          <a:prstGeom prst="rect">
            <a:avLst/>
          </a:prstGeom>
          <a:ln w="12700">
            <a:miter lim="400000"/>
          </a:ln>
        </p:spPr>
      </p:pic>
      <p:grpSp>
        <p:nvGrpSpPr>
          <p:cNvPr id="284" name="Group 284"/>
          <p:cNvGrpSpPr/>
          <p:nvPr/>
        </p:nvGrpSpPr>
        <p:grpSpPr>
          <a:xfrm>
            <a:off x="10783689" y="3352800"/>
            <a:ext cx="546101" cy="523306"/>
            <a:chOff x="0" y="0"/>
            <a:chExt cx="546100" cy="523305"/>
          </a:xfrm>
        </p:grpSpPr>
        <p:sp>
          <p:nvSpPr>
            <p:cNvPr id="282" name="Shape 282"/>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83" name="Shape 283"/>
            <p:cNvSpPr/>
            <p:nvPr/>
          </p:nvSpPr>
          <p:spPr>
            <a:xfrm>
              <a:off x="0" y="1005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285" name="LB-red1.png"/>
          <p:cNvPicPr>
            <a:picLocks noChangeAspect="1"/>
          </p:cNvPicPr>
          <p:nvPr/>
        </p:nvPicPr>
        <p:blipFill>
          <a:blip r:embed="rId2">
            <a:extLst/>
          </a:blip>
          <a:stretch>
            <a:fillRect/>
          </a:stretch>
        </p:blipFill>
        <p:spPr>
          <a:xfrm rot="9056721">
            <a:off x="6466428" y="1635992"/>
            <a:ext cx="1535285" cy="1408159"/>
          </a:xfrm>
          <a:prstGeom prst="rect">
            <a:avLst/>
          </a:prstGeom>
          <a:ln w="25400">
            <a:miter lim="400000"/>
          </a:ln>
          <a:effectLst>
            <a:outerShdw blurRad="127000" dist="190500" dir="2700000" rotWithShape="0">
              <a:srgbClr val="000000">
                <a:alpha val="50000"/>
              </a:srgbClr>
            </a:outerShdw>
          </a:effectLst>
        </p:spPr>
      </p:pic>
      <p:grpSp>
        <p:nvGrpSpPr>
          <p:cNvPr id="288" name="Group 288"/>
          <p:cNvGrpSpPr/>
          <p:nvPr/>
        </p:nvGrpSpPr>
        <p:grpSpPr>
          <a:xfrm>
            <a:off x="7100689" y="2196018"/>
            <a:ext cx="546101" cy="510607"/>
            <a:chOff x="0" y="0"/>
            <a:chExt cx="546100" cy="510605"/>
          </a:xfrm>
        </p:grpSpPr>
        <p:sp>
          <p:nvSpPr>
            <p:cNvPr id="286" name="Shape 286"/>
            <p:cNvSpPr/>
            <p:nvPr/>
          </p:nvSpPr>
          <p:spPr>
            <a:xfrm>
              <a:off x="87375" y="6458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87" name="Shape 287"/>
            <p:cNvSpPr/>
            <p:nvPr/>
          </p:nvSpPr>
          <p:spPr>
            <a:xfrm>
              <a:off x="0" y="0"/>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pic>
        <p:nvPicPr>
          <p:cNvPr id="289" name="LB-red1.png"/>
          <p:cNvPicPr>
            <a:picLocks noChangeAspect="1"/>
          </p:cNvPicPr>
          <p:nvPr/>
        </p:nvPicPr>
        <p:blipFill>
          <a:blip r:embed="rId2">
            <a:extLst/>
          </a:blip>
          <a:stretch>
            <a:fillRect/>
          </a:stretch>
        </p:blipFill>
        <p:spPr>
          <a:xfrm rot="12349260">
            <a:off x="4739228" y="2753592"/>
            <a:ext cx="1535285" cy="1408159"/>
          </a:xfrm>
          <a:prstGeom prst="rect">
            <a:avLst/>
          </a:prstGeom>
          <a:ln w="12700">
            <a:miter lim="400000"/>
          </a:ln>
        </p:spPr>
      </p:pic>
      <p:grpSp>
        <p:nvGrpSpPr>
          <p:cNvPr id="292" name="Group 292"/>
          <p:cNvGrpSpPr/>
          <p:nvPr/>
        </p:nvGrpSpPr>
        <p:grpSpPr>
          <a:xfrm>
            <a:off x="5094089" y="3300918"/>
            <a:ext cx="558800" cy="523307"/>
            <a:chOff x="0" y="0"/>
            <a:chExt cx="558799" cy="523305"/>
          </a:xfrm>
        </p:grpSpPr>
        <p:sp>
          <p:nvSpPr>
            <p:cNvPr id="290" name="Shape 290"/>
            <p:cNvSpPr/>
            <p:nvPr/>
          </p:nvSpPr>
          <p:spPr>
            <a:xfrm>
              <a:off x="112775" y="77281"/>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91" name="Shape 291"/>
            <p:cNvSpPr/>
            <p:nvPr/>
          </p:nvSpPr>
          <p:spPr>
            <a:xfrm>
              <a:off x="0" y="0"/>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pic>
        <p:nvPicPr>
          <p:cNvPr id="293" name="LB-red1.png"/>
          <p:cNvPicPr>
            <a:picLocks noChangeAspect="1"/>
          </p:cNvPicPr>
          <p:nvPr/>
        </p:nvPicPr>
        <p:blipFill>
          <a:blip r:embed="rId2">
            <a:extLst/>
          </a:blip>
          <a:stretch>
            <a:fillRect/>
          </a:stretch>
        </p:blipFill>
        <p:spPr>
          <a:xfrm rot="9056721">
            <a:off x="6885528" y="6284192"/>
            <a:ext cx="1535285" cy="1408159"/>
          </a:xfrm>
          <a:prstGeom prst="rect">
            <a:avLst/>
          </a:prstGeom>
          <a:ln w="12700">
            <a:miter lim="400000"/>
          </a:ln>
        </p:spPr>
      </p:pic>
      <p:grpSp>
        <p:nvGrpSpPr>
          <p:cNvPr id="296" name="Group 296"/>
          <p:cNvGrpSpPr/>
          <p:nvPr/>
        </p:nvGrpSpPr>
        <p:grpSpPr>
          <a:xfrm>
            <a:off x="7507089" y="6908800"/>
            <a:ext cx="546101" cy="536006"/>
            <a:chOff x="0" y="0"/>
            <a:chExt cx="546100" cy="536005"/>
          </a:xfrm>
        </p:grpSpPr>
        <p:sp>
          <p:nvSpPr>
            <p:cNvPr id="294" name="Shape 294"/>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95" name="Shape 295"/>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297" name="LB-red1.png"/>
          <p:cNvPicPr>
            <a:picLocks noChangeAspect="1"/>
          </p:cNvPicPr>
          <p:nvPr/>
        </p:nvPicPr>
        <p:blipFill>
          <a:blip r:embed="rId2">
            <a:extLst/>
          </a:blip>
          <a:stretch>
            <a:fillRect/>
          </a:stretch>
        </p:blipFill>
        <p:spPr>
          <a:xfrm rot="4799522">
            <a:off x="8320626" y="6893791"/>
            <a:ext cx="1535285" cy="1408160"/>
          </a:xfrm>
          <a:prstGeom prst="rect">
            <a:avLst/>
          </a:prstGeom>
          <a:ln w="12700">
            <a:miter lim="400000"/>
          </a:ln>
        </p:spPr>
      </p:pic>
      <p:grpSp>
        <p:nvGrpSpPr>
          <p:cNvPr id="300" name="Group 300"/>
          <p:cNvGrpSpPr/>
          <p:nvPr/>
        </p:nvGrpSpPr>
        <p:grpSpPr>
          <a:xfrm>
            <a:off x="9069189" y="7340600"/>
            <a:ext cx="546101" cy="523306"/>
            <a:chOff x="0" y="0"/>
            <a:chExt cx="546100" cy="523305"/>
          </a:xfrm>
        </p:grpSpPr>
        <p:sp>
          <p:nvSpPr>
            <p:cNvPr id="298" name="Shape 298"/>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99" name="Shape 299"/>
            <p:cNvSpPr/>
            <p:nvPr/>
          </p:nvSpPr>
          <p:spPr>
            <a:xfrm>
              <a:off x="0" y="1005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301" name="LB-orange1.png"/>
          <p:cNvPicPr>
            <a:picLocks noChangeAspect="1"/>
          </p:cNvPicPr>
          <p:nvPr/>
        </p:nvPicPr>
        <p:blipFill>
          <a:blip r:embed="rId4">
            <a:extLst/>
          </a:blip>
          <a:stretch>
            <a:fillRect/>
          </a:stretch>
        </p:blipFill>
        <p:spPr>
          <a:xfrm rot="678596">
            <a:off x="6600652" y="4860002"/>
            <a:ext cx="1536701" cy="1386884"/>
          </a:xfrm>
          <a:prstGeom prst="rect">
            <a:avLst/>
          </a:prstGeom>
          <a:ln w="12700">
            <a:miter lim="400000"/>
          </a:ln>
        </p:spPr>
      </p:pic>
      <p:grpSp>
        <p:nvGrpSpPr>
          <p:cNvPr id="304" name="Group 304"/>
          <p:cNvGrpSpPr/>
          <p:nvPr/>
        </p:nvGrpSpPr>
        <p:grpSpPr>
          <a:xfrm>
            <a:off x="7126089" y="5232400"/>
            <a:ext cx="533400" cy="490366"/>
            <a:chOff x="0" y="0"/>
            <a:chExt cx="533399" cy="490365"/>
          </a:xfrm>
        </p:grpSpPr>
        <p:sp>
          <p:nvSpPr>
            <p:cNvPr id="302" name="Shape 302"/>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03" name="Shape 303"/>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305" name="LB-orange1.png"/>
          <p:cNvPicPr>
            <a:picLocks noChangeAspect="1"/>
          </p:cNvPicPr>
          <p:nvPr/>
        </p:nvPicPr>
        <p:blipFill>
          <a:blip r:embed="rId4">
            <a:extLst/>
          </a:blip>
          <a:stretch>
            <a:fillRect/>
          </a:stretch>
        </p:blipFill>
        <p:spPr>
          <a:xfrm rot="4668682">
            <a:off x="6283152" y="3361403"/>
            <a:ext cx="1536701" cy="1386884"/>
          </a:xfrm>
          <a:prstGeom prst="rect">
            <a:avLst/>
          </a:prstGeom>
          <a:ln w="12700">
            <a:miter lim="400000"/>
          </a:ln>
        </p:spPr>
      </p:pic>
      <p:grpSp>
        <p:nvGrpSpPr>
          <p:cNvPr id="308" name="Group 308"/>
          <p:cNvGrpSpPr/>
          <p:nvPr/>
        </p:nvGrpSpPr>
        <p:grpSpPr>
          <a:xfrm>
            <a:off x="6935589" y="3835400"/>
            <a:ext cx="533400" cy="490366"/>
            <a:chOff x="0" y="0"/>
            <a:chExt cx="533399" cy="490365"/>
          </a:xfrm>
        </p:grpSpPr>
        <p:sp>
          <p:nvSpPr>
            <p:cNvPr id="306" name="Shape 306"/>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07" name="Shape 307"/>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309" name="LB-orange1.png"/>
          <p:cNvPicPr>
            <a:picLocks noChangeAspect="1"/>
          </p:cNvPicPr>
          <p:nvPr/>
        </p:nvPicPr>
        <p:blipFill>
          <a:blip r:embed="rId4">
            <a:extLst/>
          </a:blip>
          <a:stretch>
            <a:fillRect/>
          </a:stretch>
        </p:blipFill>
        <p:spPr>
          <a:xfrm rot="14917766">
            <a:off x="8340554" y="2396203"/>
            <a:ext cx="1536701" cy="1386884"/>
          </a:xfrm>
          <a:prstGeom prst="rect">
            <a:avLst/>
          </a:prstGeom>
          <a:ln w="12700">
            <a:miter lim="400000"/>
          </a:ln>
        </p:spPr>
      </p:pic>
      <p:grpSp>
        <p:nvGrpSpPr>
          <p:cNvPr id="312" name="Group 312"/>
          <p:cNvGrpSpPr/>
          <p:nvPr/>
        </p:nvGrpSpPr>
        <p:grpSpPr>
          <a:xfrm>
            <a:off x="8675489" y="2895600"/>
            <a:ext cx="533400" cy="490366"/>
            <a:chOff x="0" y="0"/>
            <a:chExt cx="533399" cy="490365"/>
          </a:xfrm>
        </p:grpSpPr>
        <p:sp>
          <p:nvSpPr>
            <p:cNvPr id="310" name="Shape 310"/>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11" name="Shape 311"/>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313" name="LB-orange1.png"/>
          <p:cNvPicPr>
            <a:picLocks noChangeAspect="1"/>
          </p:cNvPicPr>
          <p:nvPr/>
        </p:nvPicPr>
        <p:blipFill>
          <a:blip r:embed="rId4">
            <a:extLst/>
          </a:blip>
          <a:stretch>
            <a:fillRect/>
          </a:stretch>
        </p:blipFill>
        <p:spPr>
          <a:xfrm rot="5711666">
            <a:off x="4860752" y="6282402"/>
            <a:ext cx="1536701" cy="1386884"/>
          </a:xfrm>
          <a:prstGeom prst="rect">
            <a:avLst/>
          </a:prstGeom>
          <a:ln w="12700">
            <a:miter lim="400000"/>
          </a:ln>
        </p:spPr>
      </p:pic>
      <p:grpSp>
        <p:nvGrpSpPr>
          <p:cNvPr id="316" name="Group 316"/>
          <p:cNvGrpSpPr/>
          <p:nvPr/>
        </p:nvGrpSpPr>
        <p:grpSpPr>
          <a:xfrm>
            <a:off x="5563989" y="6743700"/>
            <a:ext cx="533400" cy="503066"/>
            <a:chOff x="0" y="0"/>
            <a:chExt cx="533399" cy="503065"/>
          </a:xfrm>
        </p:grpSpPr>
        <p:sp>
          <p:nvSpPr>
            <p:cNvPr id="314" name="Shape 314"/>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15" name="Shape 315"/>
            <p:cNvSpPr/>
            <p:nvPr/>
          </p:nvSpPr>
          <p:spPr>
            <a:xfrm>
              <a:off x="0" y="1207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317" name="LB-orange1.png"/>
          <p:cNvPicPr>
            <a:picLocks noChangeAspect="1"/>
          </p:cNvPicPr>
          <p:nvPr/>
        </p:nvPicPr>
        <p:blipFill>
          <a:blip r:embed="rId4">
            <a:extLst/>
          </a:blip>
          <a:stretch>
            <a:fillRect/>
          </a:stretch>
        </p:blipFill>
        <p:spPr>
          <a:xfrm rot="5136079">
            <a:off x="7997652" y="3907503"/>
            <a:ext cx="1536702" cy="1386884"/>
          </a:xfrm>
          <a:prstGeom prst="rect">
            <a:avLst/>
          </a:prstGeom>
          <a:ln w="12700">
            <a:miter lim="400000"/>
          </a:ln>
        </p:spPr>
      </p:pic>
      <p:grpSp>
        <p:nvGrpSpPr>
          <p:cNvPr id="320" name="Group 320"/>
          <p:cNvGrpSpPr/>
          <p:nvPr/>
        </p:nvGrpSpPr>
        <p:grpSpPr>
          <a:xfrm>
            <a:off x="8726289" y="4381500"/>
            <a:ext cx="533400" cy="503066"/>
            <a:chOff x="0" y="0"/>
            <a:chExt cx="533399" cy="503065"/>
          </a:xfrm>
        </p:grpSpPr>
        <p:sp>
          <p:nvSpPr>
            <p:cNvPr id="318" name="Shape 318"/>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19" name="Shape 319"/>
            <p:cNvSpPr/>
            <p:nvPr/>
          </p:nvSpPr>
          <p:spPr>
            <a:xfrm>
              <a:off x="0" y="1207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2" name="Gene Pool Changes OHT land-2.pdf"/>
          <p:cNvPicPr>
            <a:picLocks noChangeAspect="1"/>
          </p:cNvPicPr>
          <p:nvPr/>
        </p:nvPicPr>
        <p:blipFill>
          <a:blip r:embed="rId2">
            <a:extLst/>
          </a:blip>
          <a:stretch>
            <a:fillRect/>
          </a:stretch>
        </p:blipFill>
        <p:spPr>
          <a:xfrm>
            <a:off x="406400" y="4699000"/>
            <a:ext cx="11843743" cy="1752600"/>
          </a:xfrm>
          <a:prstGeom prst="rect">
            <a:avLst/>
          </a:prstGeom>
          <a:ln w="12700">
            <a:miter lim="400000"/>
          </a:ln>
        </p:spPr>
      </p:pic>
      <p:sp>
        <p:nvSpPr>
          <p:cNvPr id="323" name="Shape 323"/>
          <p:cNvSpPr/>
          <p:nvPr/>
        </p:nvSpPr>
        <p:spPr>
          <a:xfrm>
            <a:off x="88900" y="7251700"/>
            <a:ext cx="12052300" cy="2171700"/>
          </a:xfrm>
          <a:prstGeom prst="ellipse">
            <a:avLst/>
          </a:prstGeom>
          <a:solidFill>
            <a:srgbClr val="C5E0ED"/>
          </a:solidFill>
          <a:ln w="25400">
            <a:miter lim="400000"/>
          </a:ln>
        </p:spPr>
        <p:txBody>
          <a:bodyPr lIns="38100" tIns="38100" rIns="38100" bIns="38100" anchor="ctr"/>
          <a:lstStyle/>
          <a:p>
            <a:pPr>
              <a:lnSpc>
                <a:spcPts val="3400"/>
              </a:lnSpc>
              <a:tabLst>
                <a:tab pos="520700" algn="l"/>
              </a:tabLst>
              <a:defRPr sz="29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24" name="Shape 324"/>
          <p:cNvSpPr/>
          <p:nvPr/>
        </p:nvSpPr>
        <p:spPr>
          <a:xfrm rot="19800000">
            <a:off x="8636000" y="7835900"/>
            <a:ext cx="2882900" cy="1193800"/>
          </a:xfrm>
          <a:prstGeom prst="ellipse">
            <a:avLst/>
          </a:prstGeom>
          <a:ln w="50800">
            <a:solidFill>
              <a:srgbClr val="FF9300"/>
            </a:solidFill>
            <a:prstDash val="sysDot"/>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25" name="Shape 325"/>
          <p:cNvSpPr/>
          <p:nvPr/>
        </p:nvSpPr>
        <p:spPr>
          <a:xfrm flipH="1">
            <a:off x="469900" y="1612900"/>
            <a:ext cx="11633200" cy="2171700"/>
          </a:xfrm>
          <a:prstGeom prst="ellipse">
            <a:avLst/>
          </a:prstGeom>
          <a:solidFill>
            <a:srgbClr val="C5E0ED"/>
          </a:solidFill>
          <a:ln w="25400">
            <a:miter lim="400000"/>
          </a:ln>
        </p:spPr>
        <p:txBody>
          <a:bodyPr lIns="38100" tIns="38100" rIns="38100" bIns="38100" anchor="ctr"/>
          <a:lstStyle/>
          <a:p>
            <a:pPr>
              <a:lnSpc>
                <a:spcPts val="3400"/>
              </a:lnSpc>
              <a:tabLst>
                <a:tab pos="520700" algn="l"/>
              </a:tabLst>
              <a:defRPr sz="29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326" name="LB-mutant.png"/>
          <p:cNvPicPr>
            <a:picLocks noChangeAspect="1"/>
          </p:cNvPicPr>
          <p:nvPr/>
        </p:nvPicPr>
        <p:blipFill>
          <a:blip r:embed="rId3">
            <a:extLst/>
          </a:blip>
          <a:stretch>
            <a:fillRect/>
          </a:stretch>
        </p:blipFill>
        <p:spPr>
          <a:xfrm rot="8962885">
            <a:off x="7988300" y="2857499"/>
            <a:ext cx="635000" cy="827102"/>
          </a:xfrm>
          <a:prstGeom prst="rect">
            <a:avLst/>
          </a:prstGeom>
          <a:ln w="12700">
            <a:miter lim="400000"/>
          </a:ln>
        </p:spPr>
      </p:pic>
      <p:sp>
        <p:nvSpPr>
          <p:cNvPr id="327" name="Shape 327"/>
          <p:cNvSpPr/>
          <p:nvPr/>
        </p:nvSpPr>
        <p:spPr>
          <a:xfrm rot="20700000">
            <a:off x="2306366" y="2519602"/>
            <a:ext cx="800101" cy="952501"/>
          </a:xfrm>
          <a:prstGeom prst="ellipse">
            <a:avLst/>
          </a:prstGeom>
          <a:solidFill>
            <a:srgbClr val="84B2D4"/>
          </a:solidFill>
          <a:ln w="25400">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28" name="Shape 328"/>
          <p:cNvSpPr>
            <a:spLocks noGrp="1"/>
          </p:cNvSpPr>
          <p:nvPr>
            <p:ph type="title"/>
          </p:nvPr>
        </p:nvSpPr>
        <p:spPr>
          <a:prstGeom prst="rect">
            <a:avLst/>
          </a:prstGeom>
        </p:spPr>
        <p:txBody>
          <a:bodyPr/>
          <a:lstStyle>
            <a:lvl1pPr>
              <a:tabLst>
                <a:tab pos="952500" algn="l"/>
              </a:tabLst>
              <a:defRPr spc="-64"/>
            </a:lvl1pPr>
          </a:lstStyle>
          <a:p>
            <a:r>
              <a:t>Changing Allele Frequencies</a:t>
            </a:r>
          </a:p>
        </p:txBody>
      </p:sp>
      <p:sp>
        <p:nvSpPr>
          <p:cNvPr id="329" name="Shape 329"/>
          <p:cNvSpPr/>
          <p:nvPr/>
        </p:nvSpPr>
        <p:spPr>
          <a:xfrm>
            <a:off x="10985500" y="3614278"/>
            <a:ext cx="16002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gn="ctr">
              <a:tabLst>
                <a:tab pos="520700" algn="l"/>
              </a:tabLst>
              <a:defRPr>
                <a:solidFill>
                  <a:srgbClr val="000000"/>
                </a:solidFill>
              </a:defRPr>
            </a:lvl1pPr>
          </a:lstStyle>
          <a:p>
            <a:r>
              <a:t>Boundary of gene pool</a:t>
            </a:r>
          </a:p>
        </p:txBody>
      </p:sp>
      <p:sp>
        <p:nvSpPr>
          <p:cNvPr id="330" name="Shape 330"/>
          <p:cNvSpPr/>
          <p:nvPr/>
        </p:nvSpPr>
        <p:spPr>
          <a:xfrm>
            <a:off x="4254500" y="6763878"/>
            <a:ext cx="1156259"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a:solidFill>
                  <a:srgbClr val="000000"/>
                </a:solidFill>
              </a:defRPr>
            </a:lvl1pPr>
          </a:lstStyle>
          <a:p>
            <a:r>
              <a:t>Gene flow</a:t>
            </a:r>
          </a:p>
        </p:txBody>
      </p:sp>
      <p:sp>
        <p:nvSpPr>
          <p:cNvPr id="331" name="Shape 331"/>
          <p:cNvSpPr/>
          <p:nvPr/>
        </p:nvSpPr>
        <p:spPr>
          <a:xfrm>
            <a:off x="127000" y="1747378"/>
            <a:ext cx="1219659"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a:solidFill>
                  <a:srgbClr val="000000"/>
                </a:solidFill>
              </a:defRPr>
            </a:lvl1pPr>
          </a:lstStyle>
          <a:p>
            <a:r>
              <a:t>Emigration</a:t>
            </a:r>
          </a:p>
        </p:txBody>
      </p:sp>
      <p:sp>
        <p:nvSpPr>
          <p:cNvPr id="332" name="Shape 332"/>
          <p:cNvSpPr/>
          <p:nvPr/>
        </p:nvSpPr>
        <p:spPr>
          <a:xfrm>
            <a:off x="254000" y="6624178"/>
            <a:ext cx="23114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gn="ctr">
              <a:tabLst>
                <a:tab pos="520700" algn="l"/>
              </a:tabLst>
              <a:defRPr>
                <a:solidFill>
                  <a:srgbClr val="000000"/>
                </a:solidFill>
              </a:defRPr>
            </a:lvl1pPr>
          </a:lstStyle>
          <a:p>
            <a:r>
              <a:t>Mate selection (non-random mating)</a:t>
            </a:r>
          </a:p>
        </p:txBody>
      </p:sp>
      <p:sp>
        <p:nvSpPr>
          <p:cNvPr id="333" name="Shape 333"/>
          <p:cNvSpPr/>
          <p:nvPr/>
        </p:nvSpPr>
        <p:spPr>
          <a:xfrm>
            <a:off x="11430000" y="2344278"/>
            <a:ext cx="1321123"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a:solidFill>
                  <a:srgbClr val="000000"/>
                </a:solidFill>
              </a:defRPr>
            </a:lvl1pPr>
          </a:lstStyle>
          <a:p>
            <a:r>
              <a:t>Immigration</a:t>
            </a:r>
          </a:p>
        </p:txBody>
      </p:sp>
      <p:sp>
        <p:nvSpPr>
          <p:cNvPr id="334" name="Shape 334"/>
          <p:cNvSpPr/>
          <p:nvPr/>
        </p:nvSpPr>
        <p:spPr>
          <a:xfrm>
            <a:off x="1663700" y="3931778"/>
            <a:ext cx="19685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gn="ctr">
              <a:lnSpc>
                <a:spcPts val="2400"/>
              </a:lnSpc>
              <a:tabLst>
                <a:tab pos="520700" algn="l"/>
              </a:tabLst>
              <a:defRPr>
                <a:solidFill>
                  <a:srgbClr val="000000"/>
                </a:solidFill>
              </a:defRPr>
            </a:lvl1pPr>
          </a:lstStyle>
          <a:p>
            <a:r>
              <a:t>Natural selection</a:t>
            </a:r>
          </a:p>
        </p:txBody>
      </p:sp>
      <p:grpSp>
        <p:nvGrpSpPr>
          <p:cNvPr id="342" name="Group 342"/>
          <p:cNvGrpSpPr/>
          <p:nvPr/>
        </p:nvGrpSpPr>
        <p:grpSpPr>
          <a:xfrm>
            <a:off x="1943100" y="2273300"/>
            <a:ext cx="1337734" cy="1447800"/>
            <a:chOff x="0" y="0"/>
            <a:chExt cx="1337733" cy="1447800"/>
          </a:xfrm>
        </p:grpSpPr>
        <p:sp>
          <p:nvSpPr>
            <p:cNvPr id="335" name="Shape 335"/>
            <p:cNvSpPr/>
            <p:nvPr/>
          </p:nvSpPr>
          <p:spPr>
            <a:xfrm flipH="1">
              <a:off x="0" y="812800"/>
              <a:ext cx="355600" cy="63500"/>
            </a:xfrm>
            <a:prstGeom prst="line">
              <a:avLst/>
            </a:prstGeom>
            <a:noFill/>
            <a:ln w="381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36" name="Shape 336"/>
            <p:cNvSpPr/>
            <p:nvPr/>
          </p:nvSpPr>
          <p:spPr>
            <a:xfrm flipH="1" flipV="1">
              <a:off x="194733" y="304799"/>
              <a:ext cx="275167" cy="215901"/>
            </a:xfrm>
            <a:prstGeom prst="line">
              <a:avLst/>
            </a:prstGeom>
            <a:noFill/>
            <a:ln w="381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37" name="Shape 337"/>
            <p:cNvSpPr/>
            <p:nvPr/>
          </p:nvSpPr>
          <p:spPr>
            <a:xfrm flipH="1" flipV="1">
              <a:off x="609600" y="0"/>
              <a:ext cx="88900" cy="368300"/>
            </a:xfrm>
            <a:prstGeom prst="line">
              <a:avLst/>
            </a:prstGeom>
            <a:noFill/>
            <a:ln w="381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38" name="Shape 338"/>
            <p:cNvSpPr/>
            <p:nvPr/>
          </p:nvSpPr>
          <p:spPr>
            <a:xfrm flipV="1">
              <a:off x="1066800" y="317500"/>
              <a:ext cx="231140" cy="273050"/>
            </a:xfrm>
            <a:prstGeom prst="line">
              <a:avLst/>
            </a:prstGeom>
            <a:noFill/>
            <a:ln w="381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39" name="Shape 339"/>
            <p:cNvSpPr/>
            <p:nvPr/>
          </p:nvSpPr>
          <p:spPr>
            <a:xfrm>
              <a:off x="850900" y="1095375"/>
              <a:ext cx="93134" cy="352425"/>
            </a:xfrm>
            <a:prstGeom prst="line">
              <a:avLst/>
            </a:prstGeom>
            <a:noFill/>
            <a:ln w="381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40" name="Shape 340"/>
            <p:cNvSpPr/>
            <p:nvPr/>
          </p:nvSpPr>
          <p:spPr>
            <a:xfrm>
              <a:off x="1041400" y="977900"/>
              <a:ext cx="296334" cy="224367"/>
            </a:xfrm>
            <a:prstGeom prst="line">
              <a:avLst/>
            </a:prstGeom>
            <a:noFill/>
            <a:ln w="381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41" name="Shape 341"/>
            <p:cNvSpPr/>
            <p:nvPr/>
          </p:nvSpPr>
          <p:spPr>
            <a:xfrm flipH="1">
              <a:off x="330200" y="952500"/>
              <a:ext cx="215900" cy="279400"/>
            </a:xfrm>
            <a:prstGeom prst="line">
              <a:avLst/>
            </a:prstGeom>
            <a:noFill/>
            <a:ln w="381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343" name="Shape 343"/>
          <p:cNvSpPr/>
          <p:nvPr/>
        </p:nvSpPr>
        <p:spPr>
          <a:xfrm>
            <a:off x="2658533" y="3325893"/>
            <a:ext cx="1" cy="616783"/>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44" name="Shape 344"/>
          <p:cNvSpPr/>
          <p:nvPr/>
        </p:nvSpPr>
        <p:spPr>
          <a:xfrm>
            <a:off x="9364133" y="5240777"/>
            <a:ext cx="1" cy="1604837"/>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45" name="Shape 345"/>
          <p:cNvSpPr/>
          <p:nvPr/>
        </p:nvSpPr>
        <p:spPr>
          <a:xfrm>
            <a:off x="8407400" y="3576609"/>
            <a:ext cx="1" cy="969992"/>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46" name="Shape 346"/>
          <p:cNvSpPr/>
          <p:nvPr/>
        </p:nvSpPr>
        <p:spPr>
          <a:xfrm flipV="1">
            <a:off x="1155700" y="7179732"/>
            <a:ext cx="0" cy="897468"/>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47" name="Shape 347"/>
          <p:cNvSpPr/>
          <p:nvPr/>
        </p:nvSpPr>
        <p:spPr>
          <a:xfrm>
            <a:off x="11772900" y="3111500"/>
            <a:ext cx="4234" cy="452967"/>
          </a:xfrm>
          <a:prstGeom prst="line">
            <a:avLst/>
          </a:prstGeom>
          <a:ln w="381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48" name="Shape 348"/>
          <p:cNvSpPr/>
          <p:nvPr/>
        </p:nvSpPr>
        <p:spPr>
          <a:xfrm rot="5542220">
            <a:off x="4216754" y="5718817"/>
            <a:ext cx="4271265" cy="264633"/>
          </a:xfrm>
          <a:custGeom>
            <a:avLst/>
            <a:gdLst/>
            <a:ahLst/>
            <a:cxnLst>
              <a:cxn ang="0">
                <a:pos x="wd2" y="hd2"/>
              </a:cxn>
              <a:cxn ang="5400000">
                <a:pos x="wd2" y="hd2"/>
              </a:cxn>
              <a:cxn ang="10800000">
                <a:pos x="wd2" y="hd2"/>
              </a:cxn>
              <a:cxn ang="16200000">
                <a:pos x="wd2" y="hd2"/>
              </a:cxn>
            </a:cxnLst>
            <a:rect l="0" t="0" r="r" b="b"/>
            <a:pathLst>
              <a:path w="21600" h="14573" extrusionOk="0">
                <a:moveTo>
                  <a:pt x="0" y="4081"/>
                </a:moveTo>
                <a:cubicBezTo>
                  <a:pt x="8115" y="21600"/>
                  <a:pt x="15434" y="14603"/>
                  <a:pt x="20809" y="1847"/>
                </a:cubicBezTo>
                <a:lnTo>
                  <a:pt x="21600" y="0"/>
                </a:lnTo>
              </a:path>
            </a:pathLst>
          </a:custGeom>
          <a:ln w="50800">
            <a:solidFill>
              <a:srgbClr val="FF9300"/>
            </a:solidFill>
            <a:miter lim="400000"/>
            <a:tailEnd type="triangle"/>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49" name="Shape 349"/>
          <p:cNvSpPr/>
          <p:nvPr/>
        </p:nvSpPr>
        <p:spPr>
          <a:xfrm rot="5182073" flipH="1">
            <a:off x="11092821" y="1193686"/>
            <a:ext cx="1321590" cy="1465944"/>
          </a:xfrm>
          <a:custGeom>
            <a:avLst/>
            <a:gdLst/>
            <a:ahLst/>
            <a:cxnLst>
              <a:cxn ang="0">
                <a:pos x="wd2" y="hd2"/>
              </a:cxn>
              <a:cxn ang="5400000">
                <a:pos x="wd2" y="hd2"/>
              </a:cxn>
              <a:cxn ang="10800000">
                <a:pos x="wd2" y="hd2"/>
              </a:cxn>
              <a:cxn ang="16200000">
                <a:pos x="wd2" y="hd2"/>
              </a:cxn>
            </a:cxnLst>
            <a:rect l="0" t="0" r="r" b="b"/>
            <a:pathLst>
              <a:path w="12620" h="21145" extrusionOk="0">
                <a:moveTo>
                  <a:pt x="6159" y="0"/>
                </a:moveTo>
                <a:cubicBezTo>
                  <a:pt x="8829" y="72"/>
                  <a:pt x="21600" y="21600"/>
                  <a:pt x="1528" y="21138"/>
                </a:cubicBezTo>
                <a:lnTo>
                  <a:pt x="0" y="21136"/>
                </a:lnTo>
              </a:path>
            </a:pathLst>
          </a:custGeom>
          <a:ln w="50800">
            <a:solidFill>
              <a:srgbClr val="FF9300"/>
            </a:solidFill>
            <a:miter lim="400000"/>
            <a:tailEnd type="triangle"/>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50" name="Shape 350"/>
          <p:cNvSpPr/>
          <p:nvPr/>
        </p:nvSpPr>
        <p:spPr>
          <a:xfrm rot="15982073">
            <a:off x="9378249" y="1993480"/>
            <a:ext cx="786207" cy="1713047"/>
          </a:xfrm>
          <a:custGeom>
            <a:avLst/>
            <a:gdLst/>
            <a:ahLst/>
            <a:cxnLst>
              <a:cxn ang="0">
                <a:pos x="wd2" y="hd2"/>
              </a:cxn>
              <a:cxn ang="5400000">
                <a:pos x="wd2" y="hd2"/>
              </a:cxn>
              <a:cxn ang="10800000">
                <a:pos x="wd2" y="hd2"/>
              </a:cxn>
              <a:cxn ang="16200000">
                <a:pos x="wd2" y="hd2"/>
              </a:cxn>
            </a:cxnLst>
            <a:rect l="0" t="0" r="r" b="b"/>
            <a:pathLst>
              <a:path w="14610" h="21600" extrusionOk="0">
                <a:moveTo>
                  <a:pt x="0" y="0"/>
                </a:moveTo>
                <a:cubicBezTo>
                  <a:pt x="11545" y="4549"/>
                  <a:pt x="21600" y="13423"/>
                  <a:pt x="8243" y="20106"/>
                </a:cubicBezTo>
                <a:lnTo>
                  <a:pt x="5381" y="21600"/>
                </a:lnTo>
              </a:path>
            </a:pathLst>
          </a:custGeom>
          <a:ln w="63500">
            <a:solidFill>
              <a:srgbClr val="FF9300"/>
            </a:solidFill>
            <a:miter lim="400000"/>
            <a:tailEnd type="triangle"/>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51" name="Shape 351"/>
          <p:cNvSpPr/>
          <p:nvPr/>
        </p:nvSpPr>
        <p:spPr>
          <a:xfrm rot="15982073">
            <a:off x="2500088" y="7274631"/>
            <a:ext cx="1033389" cy="2952066"/>
          </a:xfrm>
          <a:custGeom>
            <a:avLst/>
            <a:gdLst/>
            <a:ahLst/>
            <a:cxnLst>
              <a:cxn ang="0">
                <a:pos x="wd2" y="hd2"/>
              </a:cxn>
              <a:cxn ang="5400000">
                <a:pos x="wd2" y="hd2"/>
              </a:cxn>
              <a:cxn ang="10800000">
                <a:pos x="wd2" y="hd2"/>
              </a:cxn>
              <a:cxn ang="16200000">
                <a:pos x="wd2" y="hd2"/>
              </a:cxn>
            </a:cxnLst>
            <a:rect l="0" t="0" r="r" b="b"/>
            <a:pathLst>
              <a:path w="18620" h="21600" extrusionOk="0">
                <a:moveTo>
                  <a:pt x="18161" y="0"/>
                </a:moveTo>
                <a:cubicBezTo>
                  <a:pt x="21600" y="13751"/>
                  <a:pt x="4694" y="4528"/>
                  <a:pt x="347" y="20438"/>
                </a:cubicBezTo>
                <a:lnTo>
                  <a:pt x="0" y="21600"/>
                </a:lnTo>
              </a:path>
            </a:pathLst>
          </a:custGeom>
          <a:ln w="50800">
            <a:solidFill>
              <a:srgbClr val="FF9300"/>
            </a:solidFill>
            <a:prstDash val="sysDot"/>
            <a:miter lim="400000"/>
            <a:tailEnd type="triangle"/>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52" name="Shape 352"/>
          <p:cNvSpPr/>
          <p:nvPr/>
        </p:nvSpPr>
        <p:spPr>
          <a:xfrm rot="5182073" flipH="1">
            <a:off x="778286" y="1451265"/>
            <a:ext cx="1059953" cy="1038339"/>
          </a:xfrm>
          <a:custGeom>
            <a:avLst/>
            <a:gdLst/>
            <a:ahLst/>
            <a:cxnLst>
              <a:cxn ang="0">
                <a:pos x="wd2" y="hd2"/>
              </a:cxn>
              <a:cxn ang="5400000">
                <a:pos x="wd2" y="hd2"/>
              </a:cxn>
              <a:cxn ang="10800000">
                <a:pos x="wd2" y="hd2"/>
              </a:cxn>
              <a:cxn ang="16200000">
                <a:pos x="wd2" y="hd2"/>
              </a:cxn>
            </a:cxnLst>
            <a:rect l="0" t="0" r="r" b="b"/>
            <a:pathLst>
              <a:path w="16677" h="14079" extrusionOk="0">
                <a:moveTo>
                  <a:pt x="0" y="2602"/>
                </a:moveTo>
                <a:cubicBezTo>
                  <a:pt x="3685" y="2670"/>
                  <a:pt x="21600" y="-7521"/>
                  <a:pt x="15375" y="11980"/>
                </a:cubicBezTo>
                <a:lnTo>
                  <a:pt x="14737" y="14079"/>
                </a:lnTo>
              </a:path>
            </a:pathLst>
          </a:custGeom>
          <a:ln w="50800">
            <a:solidFill>
              <a:srgbClr val="FF9300"/>
            </a:solidFill>
            <a:miter lim="400000"/>
            <a:tailEnd type="triangle"/>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353" name="LB-orange1.png"/>
          <p:cNvPicPr>
            <a:picLocks noChangeAspect="1"/>
          </p:cNvPicPr>
          <p:nvPr/>
        </p:nvPicPr>
        <p:blipFill>
          <a:blip r:embed="rId4">
            <a:extLst/>
          </a:blip>
          <a:stretch>
            <a:fillRect/>
          </a:stretch>
        </p:blipFill>
        <p:spPr>
          <a:xfrm rot="2373580">
            <a:off x="1724535" y="7459326"/>
            <a:ext cx="825501" cy="745020"/>
          </a:xfrm>
          <a:prstGeom prst="rect">
            <a:avLst/>
          </a:prstGeom>
          <a:ln w="12700">
            <a:miter lim="400000"/>
          </a:ln>
        </p:spPr>
      </p:pic>
      <p:pic>
        <p:nvPicPr>
          <p:cNvPr id="354" name="LB-drab1.png"/>
          <p:cNvPicPr>
            <a:picLocks noChangeAspect="1"/>
          </p:cNvPicPr>
          <p:nvPr/>
        </p:nvPicPr>
        <p:blipFill>
          <a:blip r:embed="rId5">
            <a:extLst/>
          </a:blip>
          <a:stretch>
            <a:fillRect/>
          </a:stretch>
        </p:blipFill>
        <p:spPr>
          <a:xfrm rot="20921404">
            <a:off x="10004638" y="2888905"/>
            <a:ext cx="825501" cy="756265"/>
          </a:xfrm>
          <a:prstGeom prst="rect">
            <a:avLst/>
          </a:prstGeom>
          <a:ln w="12700">
            <a:miter lim="400000"/>
          </a:ln>
        </p:spPr>
      </p:pic>
      <p:grpSp>
        <p:nvGrpSpPr>
          <p:cNvPr id="357" name="Group 357"/>
          <p:cNvGrpSpPr/>
          <p:nvPr/>
        </p:nvGrpSpPr>
        <p:grpSpPr>
          <a:xfrm>
            <a:off x="10186789" y="3035300"/>
            <a:ext cx="443111" cy="355600"/>
            <a:chOff x="0" y="0"/>
            <a:chExt cx="443110" cy="355600"/>
          </a:xfrm>
        </p:grpSpPr>
        <p:sp>
          <p:nvSpPr>
            <p:cNvPr id="355" name="Shape 355"/>
            <p:cNvSpPr/>
            <p:nvPr/>
          </p:nvSpPr>
          <p:spPr>
            <a:xfrm>
              <a:off x="875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56" name="Shape 356"/>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360" name="Group 360"/>
          <p:cNvGrpSpPr/>
          <p:nvPr/>
        </p:nvGrpSpPr>
        <p:grpSpPr>
          <a:xfrm>
            <a:off x="1969889" y="7556500"/>
            <a:ext cx="430411" cy="355600"/>
            <a:chOff x="0" y="0"/>
            <a:chExt cx="430410" cy="355600"/>
          </a:xfrm>
        </p:grpSpPr>
        <p:sp>
          <p:nvSpPr>
            <p:cNvPr id="358" name="Shape 358"/>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59" name="Shape 359"/>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361" name="LB-red1.png"/>
          <p:cNvPicPr>
            <a:picLocks noChangeAspect="1"/>
          </p:cNvPicPr>
          <p:nvPr/>
        </p:nvPicPr>
        <p:blipFill>
          <a:blip r:embed="rId6">
            <a:extLst/>
          </a:blip>
          <a:stretch>
            <a:fillRect/>
          </a:stretch>
        </p:blipFill>
        <p:spPr>
          <a:xfrm rot="1743276">
            <a:off x="3279609" y="1847503"/>
            <a:ext cx="825501" cy="757148"/>
          </a:xfrm>
          <a:prstGeom prst="rect">
            <a:avLst/>
          </a:prstGeom>
          <a:ln w="12700">
            <a:miter lim="400000"/>
          </a:ln>
        </p:spPr>
      </p:pic>
      <p:grpSp>
        <p:nvGrpSpPr>
          <p:cNvPr id="364" name="Group 364"/>
          <p:cNvGrpSpPr/>
          <p:nvPr/>
        </p:nvGrpSpPr>
        <p:grpSpPr>
          <a:xfrm>
            <a:off x="3417689" y="1955800"/>
            <a:ext cx="520701" cy="355600"/>
            <a:chOff x="0" y="0"/>
            <a:chExt cx="520700" cy="355600"/>
          </a:xfrm>
        </p:grpSpPr>
        <p:sp>
          <p:nvSpPr>
            <p:cNvPr id="362" name="Shape 362"/>
            <p:cNvSpPr/>
            <p:nvPr/>
          </p:nvSpPr>
          <p:spPr>
            <a:xfrm>
              <a:off x="1383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63" name="Shape 363"/>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365" name="LB-red1.png"/>
          <p:cNvPicPr>
            <a:picLocks noChangeAspect="1"/>
          </p:cNvPicPr>
          <p:nvPr/>
        </p:nvPicPr>
        <p:blipFill>
          <a:blip r:embed="rId6">
            <a:extLst/>
          </a:blip>
          <a:stretch>
            <a:fillRect/>
          </a:stretch>
        </p:blipFill>
        <p:spPr>
          <a:xfrm rot="6338535">
            <a:off x="4663910" y="1491903"/>
            <a:ext cx="825501" cy="757147"/>
          </a:xfrm>
          <a:prstGeom prst="rect">
            <a:avLst/>
          </a:prstGeom>
          <a:ln w="12700">
            <a:miter lim="400000"/>
          </a:ln>
        </p:spPr>
      </p:pic>
      <p:grpSp>
        <p:nvGrpSpPr>
          <p:cNvPr id="368" name="Group 368"/>
          <p:cNvGrpSpPr/>
          <p:nvPr/>
        </p:nvGrpSpPr>
        <p:grpSpPr>
          <a:xfrm>
            <a:off x="4865489" y="1752600"/>
            <a:ext cx="520701" cy="355600"/>
            <a:chOff x="0" y="0"/>
            <a:chExt cx="520700" cy="355600"/>
          </a:xfrm>
        </p:grpSpPr>
        <p:sp>
          <p:nvSpPr>
            <p:cNvPr id="366" name="Shape 366"/>
            <p:cNvSpPr/>
            <p:nvPr/>
          </p:nvSpPr>
          <p:spPr>
            <a:xfrm>
              <a:off x="1383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67" name="Shape 367"/>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369" name="LB-red1.png"/>
          <p:cNvPicPr>
            <a:picLocks noChangeAspect="1"/>
          </p:cNvPicPr>
          <p:nvPr/>
        </p:nvPicPr>
        <p:blipFill>
          <a:blip r:embed="rId6">
            <a:extLst/>
          </a:blip>
          <a:stretch>
            <a:fillRect/>
          </a:stretch>
        </p:blipFill>
        <p:spPr>
          <a:xfrm rot="5628845">
            <a:off x="3216108" y="2774603"/>
            <a:ext cx="825501" cy="757147"/>
          </a:xfrm>
          <a:prstGeom prst="rect">
            <a:avLst/>
          </a:prstGeom>
          <a:ln w="12700">
            <a:miter lim="400000"/>
          </a:ln>
        </p:spPr>
      </p:pic>
      <p:grpSp>
        <p:nvGrpSpPr>
          <p:cNvPr id="372" name="Group 372"/>
          <p:cNvGrpSpPr/>
          <p:nvPr/>
        </p:nvGrpSpPr>
        <p:grpSpPr>
          <a:xfrm>
            <a:off x="3417689" y="3035300"/>
            <a:ext cx="520701" cy="355600"/>
            <a:chOff x="0" y="0"/>
            <a:chExt cx="520700" cy="355600"/>
          </a:xfrm>
        </p:grpSpPr>
        <p:sp>
          <p:nvSpPr>
            <p:cNvPr id="370" name="Shape 370"/>
            <p:cNvSpPr/>
            <p:nvPr/>
          </p:nvSpPr>
          <p:spPr>
            <a:xfrm>
              <a:off x="1383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71" name="Shape 371"/>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373" name="LB-red1.png"/>
          <p:cNvPicPr>
            <a:picLocks noChangeAspect="1"/>
          </p:cNvPicPr>
          <p:nvPr/>
        </p:nvPicPr>
        <p:blipFill>
          <a:blip r:embed="rId6">
            <a:extLst/>
          </a:blip>
          <a:stretch>
            <a:fillRect/>
          </a:stretch>
        </p:blipFill>
        <p:spPr>
          <a:xfrm rot="9056721">
            <a:off x="4511509" y="3066703"/>
            <a:ext cx="825501" cy="757147"/>
          </a:xfrm>
          <a:prstGeom prst="rect">
            <a:avLst/>
          </a:prstGeom>
          <a:ln w="12700">
            <a:miter lim="400000"/>
          </a:ln>
        </p:spPr>
      </p:pic>
      <p:grpSp>
        <p:nvGrpSpPr>
          <p:cNvPr id="376" name="Group 376"/>
          <p:cNvGrpSpPr/>
          <p:nvPr/>
        </p:nvGrpSpPr>
        <p:grpSpPr>
          <a:xfrm>
            <a:off x="4713089" y="3327400"/>
            <a:ext cx="520701" cy="355600"/>
            <a:chOff x="0" y="0"/>
            <a:chExt cx="520700" cy="355600"/>
          </a:xfrm>
        </p:grpSpPr>
        <p:sp>
          <p:nvSpPr>
            <p:cNvPr id="374" name="Shape 374"/>
            <p:cNvSpPr/>
            <p:nvPr/>
          </p:nvSpPr>
          <p:spPr>
            <a:xfrm>
              <a:off x="1383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75" name="Shape 375"/>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377" name="LB-red1.png"/>
          <p:cNvPicPr>
            <a:picLocks noChangeAspect="1"/>
          </p:cNvPicPr>
          <p:nvPr/>
        </p:nvPicPr>
        <p:blipFill>
          <a:blip r:embed="rId6">
            <a:extLst/>
          </a:blip>
          <a:stretch>
            <a:fillRect/>
          </a:stretch>
        </p:blipFill>
        <p:spPr>
          <a:xfrm rot="9056721">
            <a:off x="6429209" y="2380903"/>
            <a:ext cx="825501" cy="757147"/>
          </a:xfrm>
          <a:prstGeom prst="rect">
            <a:avLst/>
          </a:prstGeom>
          <a:ln w="12700">
            <a:miter lim="400000"/>
          </a:ln>
        </p:spPr>
      </p:pic>
      <p:grpSp>
        <p:nvGrpSpPr>
          <p:cNvPr id="380" name="Group 380"/>
          <p:cNvGrpSpPr/>
          <p:nvPr/>
        </p:nvGrpSpPr>
        <p:grpSpPr>
          <a:xfrm>
            <a:off x="6618089" y="2641600"/>
            <a:ext cx="520701" cy="355600"/>
            <a:chOff x="0" y="0"/>
            <a:chExt cx="520700" cy="355600"/>
          </a:xfrm>
        </p:grpSpPr>
        <p:sp>
          <p:nvSpPr>
            <p:cNvPr id="378" name="Shape 378"/>
            <p:cNvSpPr/>
            <p:nvPr/>
          </p:nvSpPr>
          <p:spPr>
            <a:xfrm>
              <a:off x="1510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79" name="Shape 379"/>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381" name="LB-red1.png"/>
          <p:cNvPicPr>
            <a:picLocks noChangeAspect="1"/>
          </p:cNvPicPr>
          <p:nvPr/>
        </p:nvPicPr>
        <p:blipFill>
          <a:blip r:embed="rId6">
            <a:extLst/>
          </a:blip>
          <a:stretch>
            <a:fillRect/>
          </a:stretch>
        </p:blipFill>
        <p:spPr>
          <a:xfrm rot="915306">
            <a:off x="7305509" y="1834802"/>
            <a:ext cx="825501" cy="757148"/>
          </a:xfrm>
          <a:prstGeom prst="rect">
            <a:avLst/>
          </a:prstGeom>
          <a:ln w="12700">
            <a:miter lim="400000"/>
          </a:ln>
        </p:spPr>
      </p:pic>
      <p:grpSp>
        <p:nvGrpSpPr>
          <p:cNvPr id="384" name="Group 384"/>
          <p:cNvGrpSpPr/>
          <p:nvPr/>
        </p:nvGrpSpPr>
        <p:grpSpPr>
          <a:xfrm>
            <a:off x="7443589" y="1943100"/>
            <a:ext cx="520701" cy="355600"/>
            <a:chOff x="0" y="0"/>
            <a:chExt cx="520700" cy="355600"/>
          </a:xfrm>
        </p:grpSpPr>
        <p:sp>
          <p:nvSpPr>
            <p:cNvPr id="382" name="Shape 382"/>
            <p:cNvSpPr/>
            <p:nvPr/>
          </p:nvSpPr>
          <p:spPr>
            <a:xfrm>
              <a:off x="1383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83" name="Shape 383"/>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385" name="LB-red1.png"/>
          <p:cNvPicPr>
            <a:picLocks noChangeAspect="1"/>
          </p:cNvPicPr>
          <p:nvPr/>
        </p:nvPicPr>
        <p:blipFill>
          <a:blip r:embed="rId6">
            <a:extLst/>
          </a:blip>
          <a:stretch>
            <a:fillRect/>
          </a:stretch>
        </p:blipFill>
        <p:spPr>
          <a:xfrm rot="9056721">
            <a:off x="7038809" y="2901603"/>
            <a:ext cx="825501" cy="757147"/>
          </a:xfrm>
          <a:prstGeom prst="rect">
            <a:avLst/>
          </a:prstGeom>
          <a:ln w="12700">
            <a:miter lim="400000"/>
          </a:ln>
        </p:spPr>
      </p:pic>
      <p:grpSp>
        <p:nvGrpSpPr>
          <p:cNvPr id="388" name="Group 388"/>
          <p:cNvGrpSpPr/>
          <p:nvPr/>
        </p:nvGrpSpPr>
        <p:grpSpPr>
          <a:xfrm>
            <a:off x="7240389" y="3162300"/>
            <a:ext cx="520701" cy="355600"/>
            <a:chOff x="0" y="0"/>
            <a:chExt cx="520700" cy="355600"/>
          </a:xfrm>
        </p:grpSpPr>
        <p:sp>
          <p:nvSpPr>
            <p:cNvPr id="386" name="Shape 386"/>
            <p:cNvSpPr/>
            <p:nvPr/>
          </p:nvSpPr>
          <p:spPr>
            <a:xfrm>
              <a:off x="1383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87" name="Shape 387"/>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389" name="LB-orange1.png"/>
          <p:cNvPicPr>
            <a:picLocks noChangeAspect="1"/>
          </p:cNvPicPr>
          <p:nvPr/>
        </p:nvPicPr>
        <p:blipFill>
          <a:blip r:embed="rId4">
            <a:extLst/>
          </a:blip>
          <a:stretch>
            <a:fillRect/>
          </a:stretch>
        </p:blipFill>
        <p:spPr>
          <a:xfrm rot="19742175">
            <a:off x="8099936" y="1757026"/>
            <a:ext cx="825501" cy="745021"/>
          </a:xfrm>
          <a:prstGeom prst="rect">
            <a:avLst/>
          </a:prstGeom>
          <a:ln w="12700">
            <a:miter lim="400000"/>
          </a:ln>
        </p:spPr>
      </p:pic>
      <p:grpSp>
        <p:nvGrpSpPr>
          <p:cNvPr id="392" name="Group 392"/>
          <p:cNvGrpSpPr/>
          <p:nvPr/>
        </p:nvGrpSpPr>
        <p:grpSpPr>
          <a:xfrm>
            <a:off x="8281789" y="1930400"/>
            <a:ext cx="430411" cy="355600"/>
            <a:chOff x="0" y="0"/>
            <a:chExt cx="430410" cy="355600"/>
          </a:xfrm>
        </p:grpSpPr>
        <p:sp>
          <p:nvSpPr>
            <p:cNvPr id="390" name="Shape 390"/>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91" name="Shape 391"/>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393" name="LB-orange1.png"/>
          <p:cNvPicPr>
            <a:picLocks noChangeAspect="1"/>
          </p:cNvPicPr>
          <p:nvPr/>
        </p:nvPicPr>
        <p:blipFill>
          <a:blip r:embed="rId4">
            <a:extLst/>
          </a:blip>
          <a:stretch>
            <a:fillRect/>
          </a:stretch>
        </p:blipFill>
        <p:spPr>
          <a:xfrm rot="19742175">
            <a:off x="9027036" y="1693526"/>
            <a:ext cx="825501" cy="745021"/>
          </a:xfrm>
          <a:prstGeom prst="rect">
            <a:avLst/>
          </a:prstGeom>
          <a:ln w="12700">
            <a:miter lim="400000"/>
          </a:ln>
        </p:spPr>
      </p:pic>
      <p:grpSp>
        <p:nvGrpSpPr>
          <p:cNvPr id="396" name="Group 396"/>
          <p:cNvGrpSpPr/>
          <p:nvPr/>
        </p:nvGrpSpPr>
        <p:grpSpPr>
          <a:xfrm>
            <a:off x="9208889" y="1866900"/>
            <a:ext cx="430411" cy="355600"/>
            <a:chOff x="0" y="0"/>
            <a:chExt cx="430410" cy="355600"/>
          </a:xfrm>
        </p:grpSpPr>
        <p:sp>
          <p:nvSpPr>
            <p:cNvPr id="394" name="Shape 394"/>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95" name="Shape 395"/>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397" name="LB-orange1.png"/>
          <p:cNvPicPr>
            <a:picLocks noChangeAspect="1"/>
          </p:cNvPicPr>
          <p:nvPr/>
        </p:nvPicPr>
        <p:blipFill>
          <a:blip r:embed="rId4">
            <a:extLst/>
          </a:blip>
          <a:stretch>
            <a:fillRect/>
          </a:stretch>
        </p:blipFill>
        <p:spPr>
          <a:xfrm rot="19742175">
            <a:off x="10017636" y="1845926"/>
            <a:ext cx="825501" cy="745021"/>
          </a:xfrm>
          <a:prstGeom prst="rect">
            <a:avLst/>
          </a:prstGeom>
          <a:ln w="25400">
            <a:solidFill>
              <a:srgbClr val="FFFFFF"/>
            </a:solidFill>
            <a:miter lim="400000"/>
          </a:ln>
        </p:spPr>
      </p:pic>
      <p:grpSp>
        <p:nvGrpSpPr>
          <p:cNvPr id="400" name="Group 400"/>
          <p:cNvGrpSpPr/>
          <p:nvPr/>
        </p:nvGrpSpPr>
        <p:grpSpPr>
          <a:xfrm>
            <a:off x="10199489" y="2019300"/>
            <a:ext cx="430411" cy="355600"/>
            <a:chOff x="0" y="0"/>
            <a:chExt cx="430410" cy="355600"/>
          </a:xfrm>
        </p:grpSpPr>
        <p:sp>
          <p:nvSpPr>
            <p:cNvPr id="398" name="Shape 398"/>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99" name="Shape 399"/>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01" name="LB-orange1.png"/>
          <p:cNvPicPr>
            <a:picLocks noChangeAspect="1"/>
          </p:cNvPicPr>
          <p:nvPr/>
        </p:nvPicPr>
        <p:blipFill>
          <a:blip r:embed="rId4">
            <a:extLst/>
          </a:blip>
          <a:stretch>
            <a:fillRect/>
          </a:stretch>
        </p:blipFill>
        <p:spPr>
          <a:xfrm rot="19742175">
            <a:off x="8569836" y="2646026"/>
            <a:ext cx="825501" cy="745021"/>
          </a:xfrm>
          <a:prstGeom prst="rect">
            <a:avLst/>
          </a:prstGeom>
          <a:ln w="12700">
            <a:miter lim="400000"/>
          </a:ln>
        </p:spPr>
      </p:pic>
      <p:grpSp>
        <p:nvGrpSpPr>
          <p:cNvPr id="404" name="Group 404"/>
          <p:cNvGrpSpPr/>
          <p:nvPr/>
        </p:nvGrpSpPr>
        <p:grpSpPr>
          <a:xfrm>
            <a:off x="8751689" y="2819400"/>
            <a:ext cx="430411" cy="355600"/>
            <a:chOff x="0" y="0"/>
            <a:chExt cx="430410" cy="355600"/>
          </a:xfrm>
        </p:grpSpPr>
        <p:sp>
          <p:nvSpPr>
            <p:cNvPr id="402" name="Shape 402"/>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03" name="Shape 403"/>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05" name="LB-orange1.png"/>
          <p:cNvPicPr>
            <a:picLocks noChangeAspect="1"/>
          </p:cNvPicPr>
          <p:nvPr/>
        </p:nvPicPr>
        <p:blipFill>
          <a:blip r:embed="rId4">
            <a:extLst/>
          </a:blip>
          <a:stretch>
            <a:fillRect/>
          </a:stretch>
        </p:blipFill>
        <p:spPr>
          <a:xfrm rot="19742175">
            <a:off x="9496936" y="2582526"/>
            <a:ext cx="825501" cy="745021"/>
          </a:xfrm>
          <a:prstGeom prst="rect">
            <a:avLst/>
          </a:prstGeom>
          <a:ln w="12700">
            <a:miter lim="400000"/>
          </a:ln>
        </p:spPr>
      </p:pic>
      <p:grpSp>
        <p:nvGrpSpPr>
          <p:cNvPr id="408" name="Group 408"/>
          <p:cNvGrpSpPr/>
          <p:nvPr/>
        </p:nvGrpSpPr>
        <p:grpSpPr>
          <a:xfrm>
            <a:off x="9666089" y="2755900"/>
            <a:ext cx="443111" cy="355600"/>
            <a:chOff x="0" y="0"/>
            <a:chExt cx="443110" cy="355600"/>
          </a:xfrm>
        </p:grpSpPr>
        <p:sp>
          <p:nvSpPr>
            <p:cNvPr id="406" name="Shape 406"/>
            <p:cNvSpPr/>
            <p:nvPr/>
          </p:nvSpPr>
          <p:spPr>
            <a:xfrm>
              <a:off x="875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07" name="Shape 407"/>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09" name="LB-orange1.png"/>
          <p:cNvPicPr>
            <a:picLocks noChangeAspect="1"/>
          </p:cNvPicPr>
          <p:nvPr/>
        </p:nvPicPr>
        <p:blipFill>
          <a:blip r:embed="rId4">
            <a:extLst/>
          </a:blip>
          <a:stretch>
            <a:fillRect/>
          </a:stretch>
        </p:blipFill>
        <p:spPr>
          <a:xfrm rot="19742175">
            <a:off x="10487536" y="2506326"/>
            <a:ext cx="825501" cy="745021"/>
          </a:xfrm>
          <a:prstGeom prst="rect">
            <a:avLst/>
          </a:prstGeom>
          <a:ln w="12700">
            <a:miter lim="400000"/>
          </a:ln>
        </p:spPr>
      </p:pic>
      <p:grpSp>
        <p:nvGrpSpPr>
          <p:cNvPr id="412" name="Group 412"/>
          <p:cNvGrpSpPr/>
          <p:nvPr/>
        </p:nvGrpSpPr>
        <p:grpSpPr>
          <a:xfrm>
            <a:off x="10669389" y="2679700"/>
            <a:ext cx="430411" cy="355600"/>
            <a:chOff x="0" y="0"/>
            <a:chExt cx="430410" cy="355600"/>
          </a:xfrm>
        </p:grpSpPr>
        <p:sp>
          <p:nvSpPr>
            <p:cNvPr id="410" name="Shape 410"/>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11" name="Shape 411"/>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13" name="LB-drab1.png"/>
          <p:cNvPicPr>
            <a:picLocks noChangeAspect="1"/>
          </p:cNvPicPr>
          <p:nvPr/>
        </p:nvPicPr>
        <p:blipFill>
          <a:blip r:embed="rId5">
            <a:extLst/>
          </a:blip>
          <a:stretch>
            <a:fillRect/>
          </a:stretch>
        </p:blipFill>
        <p:spPr>
          <a:xfrm rot="4057192">
            <a:off x="6448638" y="1542705"/>
            <a:ext cx="825501" cy="756266"/>
          </a:xfrm>
          <a:prstGeom prst="rect">
            <a:avLst/>
          </a:prstGeom>
          <a:ln w="12700">
            <a:miter lim="400000"/>
          </a:ln>
        </p:spPr>
      </p:pic>
      <p:grpSp>
        <p:nvGrpSpPr>
          <p:cNvPr id="416" name="Group 416"/>
          <p:cNvGrpSpPr/>
          <p:nvPr/>
        </p:nvGrpSpPr>
        <p:grpSpPr>
          <a:xfrm>
            <a:off x="6719689" y="1739900"/>
            <a:ext cx="430411" cy="355600"/>
            <a:chOff x="0" y="0"/>
            <a:chExt cx="430410" cy="355600"/>
          </a:xfrm>
        </p:grpSpPr>
        <p:sp>
          <p:nvSpPr>
            <p:cNvPr id="414" name="Shape 414"/>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15" name="Shape 415"/>
            <p:cNvSpPr/>
            <p:nvPr/>
          </p:nvSpPr>
          <p:spPr>
            <a:xfrm>
              <a:off x="0" y="439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17" name="LB-orange1.png"/>
          <p:cNvPicPr>
            <a:picLocks noChangeAspect="1"/>
          </p:cNvPicPr>
          <p:nvPr/>
        </p:nvPicPr>
        <p:blipFill>
          <a:blip r:embed="rId4">
            <a:extLst/>
          </a:blip>
          <a:stretch>
            <a:fillRect/>
          </a:stretch>
        </p:blipFill>
        <p:spPr>
          <a:xfrm rot="19742175">
            <a:off x="6093336" y="3255626"/>
            <a:ext cx="825501" cy="745021"/>
          </a:xfrm>
          <a:prstGeom prst="rect">
            <a:avLst/>
          </a:prstGeom>
          <a:ln w="12700">
            <a:miter lim="400000"/>
          </a:ln>
        </p:spPr>
      </p:pic>
      <p:grpSp>
        <p:nvGrpSpPr>
          <p:cNvPr id="420" name="Group 420"/>
          <p:cNvGrpSpPr/>
          <p:nvPr/>
        </p:nvGrpSpPr>
        <p:grpSpPr>
          <a:xfrm>
            <a:off x="6275189" y="3429000"/>
            <a:ext cx="430411" cy="355600"/>
            <a:chOff x="0" y="0"/>
            <a:chExt cx="430410" cy="355600"/>
          </a:xfrm>
        </p:grpSpPr>
        <p:sp>
          <p:nvSpPr>
            <p:cNvPr id="418" name="Shape 418"/>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19" name="Shape 419"/>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21" name="LB-orange1.png"/>
          <p:cNvPicPr>
            <a:picLocks noChangeAspect="1"/>
          </p:cNvPicPr>
          <p:nvPr/>
        </p:nvPicPr>
        <p:blipFill>
          <a:blip r:embed="rId4">
            <a:extLst/>
          </a:blip>
          <a:stretch>
            <a:fillRect/>
          </a:stretch>
        </p:blipFill>
        <p:spPr>
          <a:xfrm rot="19742175">
            <a:off x="5699636" y="1820526"/>
            <a:ext cx="825501" cy="745021"/>
          </a:xfrm>
          <a:prstGeom prst="rect">
            <a:avLst/>
          </a:prstGeom>
          <a:ln w="12700">
            <a:miter lim="400000"/>
          </a:ln>
        </p:spPr>
      </p:pic>
      <p:grpSp>
        <p:nvGrpSpPr>
          <p:cNvPr id="424" name="Group 424"/>
          <p:cNvGrpSpPr/>
          <p:nvPr/>
        </p:nvGrpSpPr>
        <p:grpSpPr>
          <a:xfrm>
            <a:off x="5868789" y="1993900"/>
            <a:ext cx="443111" cy="355600"/>
            <a:chOff x="0" y="0"/>
            <a:chExt cx="443110" cy="355600"/>
          </a:xfrm>
        </p:grpSpPr>
        <p:sp>
          <p:nvSpPr>
            <p:cNvPr id="422" name="Shape 422"/>
            <p:cNvSpPr/>
            <p:nvPr/>
          </p:nvSpPr>
          <p:spPr>
            <a:xfrm>
              <a:off x="875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23" name="Shape 423"/>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25" name="LB-orange1.png"/>
          <p:cNvPicPr>
            <a:picLocks noChangeAspect="1"/>
          </p:cNvPicPr>
          <p:nvPr/>
        </p:nvPicPr>
        <p:blipFill>
          <a:blip r:embed="rId4">
            <a:extLst/>
          </a:blip>
          <a:stretch>
            <a:fillRect/>
          </a:stretch>
        </p:blipFill>
        <p:spPr>
          <a:xfrm rot="14475612">
            <a:off x="5356735" y="2671426"/>
            <a:ext cx="825501" cy="745021"/>
          </a:xfrm>
          <a:prstGeom prst="rect">
            <a:avLst/>
          </a:prstGeom>
          <a:ln w="12700">
            <a:miter lim="400000"/>
          </a:ln>
        </p:spPr>
      </p:pic>
      <p:grpSp>
        <p:nvGrpSpPr>
          <p:cNvPr id="428" name="Group 428"/>
          <p:cNvGrpSpPr/>
          <p:nvPr/>
        </p:nvGrpSpPr>
        <p:grpSpPr>
          <a:xfrm>
            <a:off x="5424289" y="2895600"/>
            <a:ext cx="443111" cy="355600"/>
            <a:chOff x="0" y="0"/>
            <a:chExt cx="443110" cy="355600"/>
          </a:xfrm>
        </p:grpSpPr>
        <p:sp>
          <p:nvSpPr>
            <p:cNvPr id="426" name="Shape 426"/>
            <p:cNvSpPr/>
            <p:nvPr/>
          </p:nvSpPr>
          <p:spPr>
            <a:xfrm>
              <a:off x="875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27" name="Shape 427"/>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29" name="LB-orange1.png"/>
          <p:cNvPicPr>
            <a:picLocks noChangeAspect="1"/>
          </p:cNvPicPr>
          <p:nvPr/>
        </p:nvPicPr>
        <p:blipFill>
          <a:blip r:embed="rId4">
            <a:extLst/>
          </a:blip>
          <a:stretch>
            <a:fillRect/>
          </a:stretch>
        </p:blipFill>
        <p:spPr>
          <a:xfrm rot="5949741">
            <a:off x="4112136" y="2226926"/>
            <a:ext cx="825501" cy="745021"/>
          </a:xfrm>
          <a:prstGeom prst="rect">
            <a:avLst/>
          </a:prstGeom>
          <a:ln w="12700">
            <a:miter lim="400000"/>
          </a:ln>
        </p:spPr>
      </p:pic>
      <p:grpSp>
        <p:nvGrpSpPr>
          <p:cNvPr id="432" name="Group 432"/>
          <p:cNvGrpSpPr/>
          <p:nvPr/>
        </p:nvGrpSpPr>
        <p:grpSpPr>
          <a:xfrm>
            <a:off x="4281289" y="2400300"/>
            <a:ext cx="443111" cy="355600"/>
            <a:chOff x="0" y="0"/>
            <a:chExt cx="443110" cy="355600"/>
          </a:xfrm>
        </p:grpSpPr>
        <p:sp>
          <p:nvSpPr>
            <p:cNvPr id="430" name="Shape 430"/>
            <p:cNvSpPr/>
            <p:nvPr/>
          </p:nvSpPr>
          <p:spPr>
            <a:xfrm>
              <a:off x="875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31" name="Shape 431"/>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33" name="LB-orange1.png"/>
          <p:cNvPicPr>
            <a:picLocks noChangeAspect="1"/>
          </p:cNvPicPr>
          <p:nvPr/>
        </p:nvPicPr>
        <p:blipFill>
          <a:blip r:embed="rId4">
            <a:extLst/>
          </a:blip>
          <a:stretch>
            <a:fillRect/>
          </a:stretch>
        </p:blipFill>
        <p:spPr>
          <a:xfrm rot="10876382">
            <a:off x="1026035" y="2239626"/>
            <a:ext cx="825501" cy="745021"/>
          </a:xfrm>
          <a:prstGeom prst="rect">
            <a:avLst/>
          </a:prstGeom>
          <a:ln w="12700">
            <a:miter lim="400000"/>
          </a:ln>
        </p:spPr>
      </p:pic>
      <p:grpSp>
        <p:nvGrpSpPr>
          <p:cNvPr id="436" name="Group 436"/>
          <p:cNvGrpSpPr/>
          <p:nvPr/>
        </p:nvGrpSpPr>
        <p:grpSpPr>
          <a:xfrm>
            <a:off x="1182489" y="2552700"/>
            <a:ext cx="430411" cy="355600"/>
            <a:chOff x="0" y="0"/>
            <a:chExt cx="430410" cy="355600"/>
          </a:xfrm>
        </p:grpSpPr>
        <p:sp>
          <p:nvSpPr>
            <p:cNvPr id="434" name="Shape 434"/>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35" name="Shape 435"/>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37" name="LB-drab1.png"/>
          <p:cNvPicPr>
            <a:picLocks noChangeAspect="1"/>
          </p:cNvPicPr>
          <p:nvPr/>
        </p:nvPicPr>
        <p:blipFill>
          <a:blip r:embed="rId5">
            <a:extLst/>
          </a:blip>
          <a:stretch>
            <a:fillRect/>
          </a:stretch>
        </p:blipFill>
        <p:spPr>
          <a:xfrm rot="20921404">
            <a:off x="2283038" y="2634905"/>
            <a:ext cx="825501" cy="756265"/>
          </a:xfrm>
          <a:prstGeom prst="rect">
            <a:avLst/>
          </a:prstGeom>
          <a:ln w="12700">
            <a:miter lim="400000"/>
          </a:ln>
        </p:spPr>
      </p:pic>
      <p:grpSp>
        <p:nvGrpSpPr>
          <p:cNvPr id="440" name="Group 440"/>
          <p:cNvGrpSpPr/>
          <p:nvPr/>
        </p:nvGrpSpPr>
        <p:grpSpPr>
          <a:xfrm>
            <a:off x="2477889" y="2781300"/>
            <a:ext cx="430411" cy="355600"/>
            <a:chOff x="0" y="0"/>
            <a:chExt cx="430410" cy="355600"/>
          </a:xfrm>
        </p:grpSpPr>
        <p:sp>
          <p:nvSpPr>
            <p:cNvPr id="438" name="Shape 438"/>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39" name="Shape 439"/>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41" name="LB-drab1.png"/>
          <p:cNvPicPr>
            <a:picLocks noChangeAspect="1"/>
          </p:cNvPicPr>
          <p:nvPr/>
        </p:nvPicPr>
        <p:blipFill>
          <a:blip r:embed="rId5">
            <a:extLst/>
          </a:blip>
          <a:stretch>
            <a:fillRect/>
          </a:stretch>
        </p:blipFill>
        <p:spPr>
          <a:xfrm rot="6315307">
            <a:off x="12036637" y="1542705"/>
            <a:ext cx="825501" cy="756265"/>
          </a:xfrm>
          <a:prstGeom prst="rect">
            <a:avLst/>
          </a:prstGeom>
          <a:ln w="12700">
            <a:miter lim="400000"/>
          </a:ln>
        </p:spPr>
      </p:pic>
      <p:grpSp>
        <p:nvGrpSpPr>
          <p:cNvPr id="444" name="Group 444"/>
          <p:cNvGrpSpPr/>
          <p:nvPr/>
        </p:nvGrpSpPr>
        <p:grpSpPr>
          <a:xfrm>
            <a:off x="12345789" y="1778000"/>
            <a:ext cx="430411" cy="355600"/>
            <a:chOff x="0" y="0"/>
            <a:chExt cx="430410" cy="355600"/>
          </a:xfrm>
        </p:grpSpPr>
        <p:sp>
          <p:nvSpPr>
            <p:cNvPr id="442" name="Shape 442"/>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43" name="Shape 443"/>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447" name="Group 447"/>
          <p:cNvGrpSpPr/>
          <p:nvPr/>
        </p:nvGrpSpPr>
        <p:grpSpPr>
          <a:xfrm>
            <a:off x="8040489" y="3213100"/>
            <a:ext cx="520701" cy="355600"/>
            <a:chOff x="0" y="0"/>
            <a:chExt cx="520700" cy="355600"/>
          </a:xfrm>
        </p:grpSpPr>
        <p:sp>
          <p:nvSpPr>
            <p:cNvPr id="445" name="Shape 445"/>
            <p:cNvSpPr/>
            <p:nvPr/>
          </p:nvSpPr>
          <p:spPr>
            <a:xfrm>
              <a:off x="1383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46" name="Shape 446"/>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48" name="LB-drab1.png"/>
          <p:cNvPicPr>
            <a:picLocks noChangeAspect="1"/>
          </p:cNvPicPr>
          <p:nvPr/>
        </p:nvPicPr>
        <p:blipFill>
          <a:blip r:embed="rId5">
            <a:extLst/>
          </a:blip>
          <a:stretch>
            <a:fillRect/>
          </a:stretch>
        </p:blipFill>
        <p:spPr>
          <a:xfrm rot="4186507">
            <a:off x="10411038" y="7600605"/>
            <a:ext cx="825501" cy="756265"/>
          </a:xfrm>
          <a:prstGeom prst="rect">
            <a:avLst/>
          </a:prstGeom>
          <a:ln w="12700">
            <a:miter lim="400000"/>
          </a:ln>
        </p:spPr>
      </p:pic>
      <p:grpSp>
        <p:nvGrpSpPr>
          <p:cNvPr id="451" name="Group 451"/>
          <p:cNvGrpSpPr/>
          <p:nvPr/>
        </p:nvGrpSpPr>
        <p:grpSpPr>
          <a:xfrm>
            <a:off x="10656689" y="7785100"/>
            <a:ext cx="430411" cy="355600"/>
            <a:chOff x="0" y="0"/>
            <a:chExt cx="430410" cy="355600"/>
          </a:xfrm>
        </p:grpSpPr>
        <p:sp>
          <p:nvSpPr>
            <p:cNvPr id="449" name="Shape 449"/>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50" name="Shape 450"/>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52" name="LB-drab1.png"/>
          <p:cNvPicPr>
            <a:picLocks noChangeAspect="1"/>
          </p:cNvPicPr>
          <p:nvPr/>
        </p:nvPicPr>
        <p:blipFill>
          <a:blip r:embed="rId5">
            <a:extLst/>
          </a:blip>
          <a:stretch>
            <a:fillRect/>
          </a:stretch>
        </p:blipFill>
        <p:spPr>
          <a:xfrm rot="20921404">
            <a:off x="9661738" y="8045105"/>
            <a:ext cx="825501" cy="756265"/>
          </a:xfrm>
          <a:prstGeom prst="rect">
            <a:avLst/>
          </a:prstGeom>
          <a:ln w="12700">
            <a:miter lim="400000"/>
          </a:ln>
        </p:spPr>
      </p:pic>
      <p:grpSp>
        <p:nvGrpSpPr>
          <p:cNvPr id="455" name="Group 455"/>
          <p:cNvGrpSpPr/>
          <p:nvPr/>
        </p:nvGrpSpPr>
        <p:grpSpPr>
          <a:xfrm>
            <a:off x="9818489" y="8102600"/>
            <a:ext cx="430411" cy="355600"/>
            <a:chOff x="0" y="0"/>
            <a:chExt cx="430410" cy="355600"/>
          </a:xfrm>
        </p:grpSpPr>
        <p:sp>
          <p:nvSpPr>
            <p:cNvPr id="453" name="Shape 453"/>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54" name="Shape 454"/>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56" name="LB-drab1.png"/>
          <p:cNvPicPr>
            <a:picLocks noChangeAspect="1"/>
          </p:cNvPicPr>
          <p:nvPr/>
        </p:nvPicPr>
        <p:blipFill>
          <a:blip r:embed="rId5">
            <a:extLst/>
          </a:blip>
          <a:stretch>
            <a:fillRect/>
          </a:stretch>
        </p:blipFill>
        <p:spPr>
          <a:xfrm rot="4212070">
            <a:off x="8887038" y="8375305"/>
            <a:ext cx="825501" cy="756265"/>
          </a:xfrm>
          <a:prstGeom prst="rect">
            <a:avLst/>
          </a:prstGeom>
          <a:ln w="12700">
            <a:miter lim="400000"/>
          </a:ln>
        </p:spPr>
      </p:pic>
      <p:grpSp>
        <p:nvGrpSpPr>
          <p:cNvPr id="459" name="Group 459"/>
          <p:cNvGrpSpPr/>
          <p:nvPr/>
        </p:nvGrpSpPr>
        <p:grpSpPr>
          <a:xfrm>
            <a:off x="9145389" y="8559800"/>
            <a:ext cx="430411" cy="355600"/>
            <a:chOff x="0" y="0"/>
            <a:chExt cx="430410" cy="355600"/>
          </a:xfrm>
        </p:grpSpPr>
        <p:sp>
          <p:nvSpPr>
            <p:cNvPr id="457" name="Shape 457"/>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58" name="Shape 458"/>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60" name="LB-drab1.png"/>
          <p:cNvPicPr>
            <a:picLocks noChangeAspect="1"/>
          </p:cNvPicPr>
          <p:nvPr/>
        </p:nvPicPr>
        <p:blipFill>
          <a:blip r:embed="rId5">
            <a:extLst/>
          </a:blip>
          <a:stretch>
            <a:fillRect/>
          </a:stretch>
        </p:blipFill>
        <p:spPr>
          <a:xfrm rot="11727674">
            <a:off x="5331037" y="7308507"/>
            <a:ext cx="825501" cy="756265"/>
          </a:xfrm>
          <a:prstGeom prst="rect">
            <a:avLst/>
          </a:prstGeom>
          <a:ln w="12700">
            <a:miter lim="400000"/>
          </a:ln>
        </p:spPr>
      </p:pic>
      <p:grpSp>
        <p:nvGrpSpPr>
          <p:cNvPr id="463" name="Group 463"/>
          <p:cNvGrpSpPr/>
          <p:nvPr/>
        </p:nvGrpSpPr>
        <p:grpSpPr>
          <a:xfrm>
            <a:off x="5449689" y="7658100"/>
            <a:ext cx="430411" cy="355600"/>
            <a:chOff x="0" y="0"/>
            <a:chExt cx="430410" cy="355600"/>
          </a:xfrm>
        </p:grpSpPr>
        <p:sp>
          <p:nvSpPr>
            <p:cNvPr id="461" name="Shape 461"/>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62" name="Shape 462"/>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64" name="LB-drab1.png"/>
          <p:cNvPicPr>
            <a:picLocks noChangeAspect="1"/>
          </p:cNvPicPr>
          <p:nvPr/>
        </p:nvPicPr>
        <p:blipFill>
          <a:blip r:embed="rId5">
            <a:extLst/>
          </a:blip>
          <a:stretch>
            <a:fillRect/>
          </a:stretch>
        </p:blipFill>
        <p:spPr>
          <a:xfrm rot="20921404">
            <a:off x="4416638" y="8680105"/>
            <a:ext cx="825501" cy="756265"/>
          </a:xfrm>
          <a:prstGeom prst="rect">
            <a:avLst/>
          </a:prstGeom>
          <a:ln w="12700">
            <a:miter lim="400000"/>
          </a:ln>
        </p:spPr>
      </p:pic>
      <p:grpSp>
        <p:nvGrpSpPr>
          <p:cNvPr id="467" name="Group 467"/>
          <p:cNvGrpSpPr/>
          <p:nvPr/>
        </p:nvGrpSpPr>
        <p:grpSpPr>
          <a:xfrm>
            <a:off x="4573389" y="8737600"/>
            <a:ext cx="430411" cy="355600"/>
            <a:chOff x="0" y="0"/>
            <a:chExt cx="430410" cy="355600"/>
          </a:xfrm>
        </p:grpSpPr>
        <p:sp>
          <p:nvSpPr>
            <p:cNvPr id="465" name="Shape 465"/>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66" name="Shape 466"/>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68" name="LB-drab1.png"/>
          <p:cNvPicPr>
            <a:picLocks noChangeAspect="1"/>
          </p:cNvPicPr>
          <p:nvPr/>
        </p:nvPicPr>
        <p:blipFill>
          <a:blip r:embed="rId5">
            <a:extLst/>
          </a:blip>
          <a:stretch>
            <a:fillRect/>
          </a:stretch>
        </p:blipFill>
        <p:spPr>
          <a:xfrm rot="17115308">
            <a:off x="733638" y="8007005"/>
            <a:ext cx="825501" cy="756265"/>
          </a:xfrm>
          <a:prstGeom prst="rect">
            <a:avLst/>
          </a:prstGeom>
          <a:ln w="12700">
            <a:miter lim="400000"/>
          </a:ln>
        </p:spPr>
      </p:pic>
      <p:grpSp>
        <p:nvGrpSpPr>
          <p:cNvPr id="471" name="Group 471"/>
          <p:cNvGrpSpPr/>
          <p:nvPr/>
        </p:nvGrpSpPr>
        <p:grpSpPr>
          <a:xfrm>
            <a:off x="788789" y="8166100"/>
            <a:ext cx="430411" cy="355600"/>
            <a:chOff x="0" y="0"/>
            <a:chExt cx="430410" cy="355600"/>
          </a:xfrm>
        </p:grpSpPr>
        <p:sp>
          <p:nvSpPr>
            <p:cNvPr id="469" name="Shape 469"/>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70" name="Shape 470"/>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72" name="LB-orange1.png"/>
          <p:cNvPicPr>
            <a:picLocks noChangeAspect="1"/>
          </p:cNvPicPr>
          <p:nvPr/>
        </p:nvPicPr>
        <p:blipFill>
          <a:blip r:embed="rId4">
            <a:extLst/>
          </a:blip>
          <a:stretch>
            <a:fillRect/>
          </a:stretch>
        </p:blipFill>
        <p:spPr>
          <a:xfrm rot="3451727">
            <a:off x="2626235" y="7484725"/>
            <a:ext cx="825501" cy="745021"/>
          </a:xfrm>
          <a:prstGeom prst="rect">
            <a:avLst/>
          </a:prstGeom>
          <a:ln w="12700">
            <a:miter lim="400000"/>
          </a:ln>
        </p:spPr>
      </p:pic>
      <p:grpSp>
        <p:nvGrpSpPr>
          <p:cNvPr id="475" name="Group 475"/>
          <p:cNvGrpSpPr/>
          <p:nvPr/>
        </p:nvGrpSpPr>
        <p:grpSpPr>
          <a:xfrm>
            <a:off x="2884289" y="7607300"/>
            <a:ext cx="443111" cy="355600"/>
            <a:chOff x="0" y="0"/>
            <a:chExt cx="443110" cy="355600"/>
          </a:xfrm>
        </p:grpSpPr>
        <p:sp>
          <p:nvSpPr>
            <p:cNvPr id="473" name="Shape 473"/>
            <p:cNvSpPr/>
            <p:nvPr/>
          </p:nvSpPr>
          <p:spPr>
            <a:xfrm>
              <a:off x="875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74" name="Shape 474"/>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76" name="LB-orange1.png"/>
          <p:cNvPicPr>
            <a:picLocks noChangeAspect="1"/>
          </p:cNvPicPr>
          <p:nvPr/>
        </p:nvPicPr>
        <p:blipFill>
          <a:blip r:embed="rId4">
            <a:extLst/>
          </a:blip>
          <a:stretch>
            <a:fillRect/>
          </a:stretch>
        </p:blipFill>
        <p:spPr>
          <a:xfrm rot="19742175">
            <a:off x="3718435" y="7256126"/>
            <a:ext cx="825501" cy="745020"/>
          </a:xfrm>
          <a:prstGeom prst="rect">
            <a:avLst/>
          </a:prstGeom>
          <a:ln w="12700">
            <a:miter lim="400000"/>
          </a:ln>
        </p:spPr>
      </p:pic>
      <p:grpSp>
        <p:nvGrpSpPr>
          <p:cNvPr id="479" name="Group 479"/>
          <p:cNvGrpSpPr/>
          <p:nvPr/>
        </p:nvGrpSpPr>
        <p:grpSpPr>
          <a:xfrm>
            <a:off x="3798689" y="7327900"/>
            <a:ext cx="443111" cy="355600"/>
            <a:chOff x="0" y="0"/>
            <a:chExt cx="443110" cy="355600"/>
          </a:xfrm>
        </p:grpSpPr>
        <p:sp>
          <p:nvSpPr>
            <p:cNvPr id="477" name="Shape 477"/>
            <p:cNvSpPr/>
            <p:nvPr/>
          </p:nvSpPr>
          <p:spPr>
            <a:xfrm>
              <a:off x="875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78" name="Shape 478"/>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80" name="LB-orange1.png"/>
          <p:cNvPicPr>
            <a:picLocks noChangeAspect="1"/>
          </p:cNvPicPr>
          <p:nvPr/>
        </p:nvPicPr>
        <p:blipFill>
          <a:blip r:embed="rId4">
            <a:extLst/>
          </a:blip>
          <a:stretch>
            <a:fillRect/>
          </a:stretch>
        </p:blipFill>
        <p:spPr>
          <a:xfrm rot="19742175">
            <a:off x="3273935" y="8170526"/>
            <a:ext cx="825501" cy="745020"/>
          </a:xfrm>
          <a:prstGeom prst="rect">
            <a:avLst/>
          </a:prstGeom>
          <a:ln w="12700">
            <a:miter lim="400000"/>
          </a:ln>
        </p:spPr>
      </p:pic>
      <p:grpSp>
        <p:nvGrpSpPr>
          <p:cNvPr id="483" name="Group 483"/>
          <p:cNvGrpSpPr/>
          <p:nvPr/>
        </p:nvGrpSpPr>
        <p:grpSpPr>
          <a:xfrm>
            <a:off x="3392289" y="8255000"/>
            <a:ext cx="430411" cy="355600"/>
            <a:chOff x="0" y="0"/>
            <a:chExt cx="430410" cy="355600"/>
          </a:xfrm>
        </p:grpSpPr>
        <p:sp>
          <p:nvSpPr>
            <p:cNvPr id="481" name="Shape 481"/>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82" name="Shape 482"/>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84" name="LB-orange1.png"/>
          <p:cNvPicPr>
            <a:picLocks noChangeAspect="1"/>
          </p:cNvPicPr>
          <p:nvPr/>
        </p:nvPicPr>
        <p:blipFill>
          <a:blip r:embed="rId4">
            <a:extLst/>
          </a:blip>
          <a:stretch>
            <a:fillRect/>
          </a:stretch>
        </p:blipFill>
        <p:spPr>
          <a:xfrm rot="678596">
            <a:off x="4416935" y="7726026"/>
            <a:ext cx="825501" cy="745020"/>
          </a:xfrm>
          <a:prstGeom prst="rect">
            <a:avLst/>
          </a:prstGeom>
          <a:ln w="12700">
            <a:miter lim="400000"/>
          </a:ln>
        </p:spPr>
      </p:pic>
      <p:grpSp>
        <p:nvGrpSpPr>
          <p:cNvPr id="487" name="Group 487"/>
          <p:cNvGrpSpPr/>
          <p:nvPr/>
        </p:nvGrpSpPr>
        <p:grpSpPr>
          <a:xfrm>
            <a:off x="4598789" y="7797800"/>
            <a:ext cx="430411" cy="355600"/>
            <a:chOff x="0" y="0"/>
            <a:chExt cx="430410" cy="355600"/>
          </a:xfrm>
        </p:grpSpPr>
        <p:sp>
          <p:nvSpPr>
            <p:cNvPr id="485" name="Shape 485"/>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86" name="Shape 486"/>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88" name="LB-orange1.png"/>
          <p:cNvPicPr>
            <a:picLocks noChangeAspect="1"/>
          </p:cNvPicPr>
          <p:nvPr/>
        </p:nvPicPr>
        <p:blipFill>
          <a:blip r:embed="rId4">
            <a:extLst/>
          </a:blip>
          <a:stretch>
            <a:fillRect/>
          </a:stretch>
        </p:blipFill>
        <p:spPr>
          <a:xfrm rot="4799522">
            <a:off x="6575936" y="7230726"/>
            <a:ext cx="825501" cy="745020"/>
          </a:xfrm>
          <a:prstGeom prst="rect">
            <a:avLst/>
          </a:prstGeom>
          <a:ln w="12700">
            <a:miter lim="400000"/>
          </a:ln>
        </p:spPr>
      </p:pic>
      <p:grpSp>
        <p:nvGrpSpPr>
          <p:cNvPr id="491" name="Group 491"/>
          <p:cNvGrpSpPr/>
          <p:nvPr/>
        </p:nvGrpSpPr>
        <p:grpSpPr>
          <a:xfrm>
            <a:off x="6884789" y="7429500"/>
            <a:ext cx="430411" cy="355600"/>
            <a:chOff x="0" y="0"/>
            <a:chExt cx="430410" cy="355600"/>
          </a:xfrm>
        </p:grpSpPr>
        <p:sp>
          <p:nvSpPr>
            <p:cNvPr id="489" name="Shape 489"/>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90" name="Shape 490"/>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92" name="LB-orange1.png"/>
          <p:cNvPicPr>
            <a:picLocks noChangeAspect="1"/>
          </p:cNvPicPr>
          <p:nvPr/>
        </p:nvPicPr>
        <p:blipFill>
          <a:blip r:embed="rId4">
            <a:extLst/>
          </a:blip>
          <a:stretch>
            <a:fillRect/>
          </a:stretch>
        </p:blipFill>
        <p:spPr>
          <a:xfrm rot="8712239">
            <a:off x="5864736" y="8538825"/>
            <a:ext cx="825501" cy="745021"/>
          </a:xfrm>
          <a:prstGeom prst="rect">
            <a:avLst/>
          </a:prstGeom>
          <a:ln w="12700">
            <a:miter lim="400000"/>
          </a:ln>
        </p:spPr>
      </p:pic>
      <p:grpSp>
        <p:nvGrpSpPr>
          <p:cNvPr id="495" name="Group 495"/>
          <p:cNvGrpSpPr/>
          <p:nvPr/>
        </p:nvGrpSpPr>
        <p:grpSpPr>
          <a:xfrm>
            <a:off x="6046589" y="8712200"/>
            <a:ext cx="430411" cy="355600"/>
            <a:chOff x="0" y="0"/>
            <a:chExt cx="430410" cy="355600"/>
          </a:xfrm>
        </p:grpSpPr>
        <p:sp>
          <p:nvSpPr>
            <p:cNvPr id="493" name="Shape 493"/>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94" name="Shape 494"/>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496" name="LB-orange1.png"/>
          <p:cNvPicPr>
            <a:picLocks noChangeAspect="1"/>
          </p:cNvPicPr>
          <p:nvPr/>
        </p:nvPicPr>
        <p:blipFill>
          <a:blip r:embed="rId4">
            <a:extLst/>
          </a:blip>
          <a:stretch>
            <a:fillRect/>
          </a:stretch>
        </p:blipFill>
        <p:spPr>
          <a:xfrm rot="19742175">
            <a:off x="6283836" y="8018126"/>
            <a:ext cx="825501" cy="745020"/>
          </a:xfrm>
          <a:prstGeom prst="rect">
            <a:avLst/>
          </a:prstGeom>
          <a:ln w="12700">
            <a:miter lim="400000"/>
          </a:ln>
        </p:spPr>
      </p:pic>
      <p:grpSp>
        <p:nvGrpSpPr>
          <p:cNvPr id="499" name="Group 499"/>
          <p:cNvGrpSpPr/>
          <p:nvPr/>
        </p:nvGrpSpPr>
        <p:grpSpPr>
          <a:xfrm>
            <a:off x="6465689" y="8191500"/>
            <a:ext cx="430411" cy="355600"/>
            <a:chOff x="0" y="0"/>
            <a:chExt cx="430410" cy="355600"/>
          </a:xfrm>
        </p:grpSpPr>
        <p:sp>
          <p:nvSpPr>
            <p:cNvPr id="497" name="Shape 497"/>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98" name="Shape 498"/>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500" name="LB-orange1.png"/>
          <p:cNvPicPr>
            <a:picLocks noChangeAspect="1"/>
          </p:cNvPicPr>
          <p:nvPr/>
        </p:nvPicPr>
        <p:blipFill>
          <a:blip r:embed="rId4">
            <a:extLst/>
          </a:blip>
          <a:stretch>
            <a:fillRect/>
          </a:stretch>
        </p:blipFill>
        <p:spPr>
          <a:xfrm rot="19742175">
            <a:off x="7896736" y="7497426"/>
            <a:ext cx="825501" cy="745020"/>
          </a:xfrm>
          <a:prstGeom prst="rect">
            <a:avLst/>
          </a:prstGeom>
          <a:ln w="12700">
            <a:miter lim="400000"/>
          </a:ln>
        </p:spPr>
      </p:pic>
      <p:grpSp>
        <p:nvGrpSpPr>
          <p:cNvPr id="503" name="Group 503"/>
          <p:cNvGrpSpPr/>
          <p:nvPr/>
        </p:nvGrpSpPr>
        <p:grpSpPr>
          <a:xfrm>
            <a:off x="8002389" y="7581900"/>
            <a:ext cx="430411" cy="355600"/>
            <a:chOff x="0" y="0"/>
            <a:chExt cx="430410" cy="355600"/>
          </a:xfrm>
        </p:grpSpPr>
        <p:sp>
          <p:nvSpPr>
            <p:cNvPr id="501" name="Shape 501"/>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02" name="Shape 502"/>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pic>
        <p:nvPicPr>
          <p:cNvPr id="504" name="LB-red1.png"/>
          <p:cNvPicPr>
            <a:picLocks noChangeAspect="1"/>
          </p:cNvPicPr>
          <p:nvPr/>
        </p:nvPicPr>
        <p:blipFill>
          <a:blip r:embed="rId6">
            <a:extLst/>
          </a:blip>
          <a:stretch>
            <a:fillRect/>
          </a:stretch>
        </p:blipFill>
        <p:spPr>
          <a:xfrm rot="9056721">
            <a:off x="8689809" y="7435503"/>
            <a:ext cx="825501" cy="757147"/>
          </a:xfrm>
          <a:prstGeom prst="rect">
            <a:avLst/>
          </a:prstGeom>
          <a:ln w="12700">
            <a:miter lim="400000"/>
          </a:ln>
        </p:spPr>
      </p:pic>
      <p:grpSp>
        <p:nvGrpSpPr>
          <p:cNvPr id="507" name="Group 507"/>
          <p:cNvGrpSpPr/>
          <p:nvPr/>
        </p:nvGrpSpPr>
        <p:grpSpPr>
          <a:xfrm>
            <a:off x="8891389" y="7696200"/>
            <a:ext cx="520701" cy="355600"/>
            <a:chOff x="0" y="0"/>
            <a:chExt cx="520700" cy="355600"/>
          </a:xfrm>
        </p:grpSpPr>
        <p:sp>
          <p:nvSpPr>
            <p:cNvPr id="505" name="Shape 505"/>
            <p:cNvSpPr/>
            <p:nvPr/>
          </p:nvSpPr>
          <p:spPr>
            <a:xfrm>
              <a:off x="1383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06" name="Shape 506"/>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sp>
        <p:nvSpPr>
          <p:cNvPr id="508" name="Shape 508"/>
          <p:cNvSpPr/>
          <p:nvPr/>
        </p:nvSpPr>
        <p:spPr>
          <a:xfrm>
            <a:off x="7899400" y="4604878"/>
            <a:ext cx="1003784"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a:solidFill>
                  <a:srgbClr val="000000"/>
                </a:solidFill>
              </a:defRPr>
            </a:lvl1pPr>
          </a:lstStyle>
          <a:p>
            <a:r>
              <a:t>Mutation</a:t>
            </a:r>
          </a:p>
        </p:txBody>
      </p:sp>
      <p:sp>
        <p:nvSpPr>
          <p:cNvPr id="509" name="Shape 509"/>
          <p:cNvSpPr/>
          <p:nvPr/>
        </p:nvSpPr>
        <p:spPr>
          <a:xfrm>
            <a:off x="8978900" y="6928978"/>
            <a:ext cx="23749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tabLst>
                <a:tab pos="520700" algn="l"/>
              </a:tabLst>
              <a:defRPr>
                <a:solidFill>
                  <a:srgbClr val="000000"/>
                </a:solidFill>
              </a:defRPr>
            </a:lvl1pPr>
          </a:lstStyle>
          <a:p>
            <a:r>
              <a:t>Geographical barrier</a:t>
            </a:r>
          </a:p>
        </p:txBody>
      </p:sp>
      <p:sp>
        <p:nvSpPr>
          <p:cNvPr id="510" name="Shape 510"/>
          <p:cNvSpPr/>
          <p:nvPr/>
        </p:nvSpPr>
        <p:spPr>
          <a:xfrm>
            <a:off x="10553700" y="9240378"/>
            <a:ext cx="14351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nSpc>
                <a:spcPts val="2400"/>
              </a:lnSpc>
              <a:tabLst>
                <a:tab pos="520700" algn="l"/>
              </a:tabLst>
              <a:defRPr>
                <a:solidFill>
                  <a:srgbClr val="000000"/>
                </a:solidFill>
              </a:defRPr>
            </a:lvl1pPr>
          </a:lstStyle>
          <a:p>
            <a:r>
              <a:t>Genetic drift</a:t>
            </a:r>
          </a:p>
        </p:txBody>
      </p:sp>
      <p:sp>
        <p:nvSpPr>
          <p:cNvPr id="511" name="Shape 511"/>
          <p:cNvSpPr/>
          <p:nvPr/>
        </p:nvSpPr>
        <p:spPr>
          <a:xfrm>
            <a:off x="11277599" y="8153400"/>
            <a:ext cx="1" cy="1066927"/>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12" name="Shape 512"/>
          <p:cNvSpPr/>
          <p:nvPr/>
        </p:nvSpPr>
        <p:spPr>
          <a:xfrm rot="15982073">
            <a:off x="3683319" y="5639154"/>
            <a:ext cx="4286639" cy="496406"/>
          </a:xfrm>
          <a:custGeom>
            <a:avLst/>
            <a:gdLst/>
            <a:ahLst/>
            <a:cxnLst>
              <a:cxn ang="0">
                <a:pos x="wd2" y="hd2"/>
              </a:cxn>
              <a:cxn ang="5400000">
                <a:pos x="wd2" y="hd2"/>
              </a:cxn>
              <a:cxn ang="10800000">
                <a:pos x="wd2" y="hd2"/>
              </a:cxn>
              <a:cxn ang="16200000">
                <a:pos x="wd2" y="hd2"/>
              </a:cxn>
            </a:cxnLst>
            <a:rect l="0" t="0" r="r" b="b"/>
            <a:pathLst>
              <a:path w="21600" h="14599" extrusionOk="0">
                <a:moveTo>
                  <a:pt x="0" y="3938"/>
                </a:moveTo>
                <a:cubicBezTo>
                  <a:pt x="7368" y="21600"/>
                  <a:pt x="15982" y="14757"/>
                  <a:pt x="20862" y="1897"/>
                </a:cubicBezTo>
                <a:lnTo>
                  <a:pt x="21600" y="0"/>
                </a:lnTo>
              </a:path>
            </a:pathLst>
          </a:custGeom>
          <a:ln w="50800">
            <a:solidFill>
              <a:srgbClr val="FF9300"/>
            </a:solidFill>
            <a:miter lim="400000"/>
            <a:tailEnd type="triangle"/>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13" name="Shape 513"/>
          <p:cNvSpPr/>
          <p:nvPr/>
        </p:nvSpPr>
        <p:spPr>
          <a:xfrm flipH="1" flipV="1">
            <a:off x="5435600" y="6900333"/>
            <a:ext cx="711251" cy="128"/>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 name="Shape 515"/>
          <p:cNvSpPr>
            <a:spLocks noGrp="1"/>
          </p:cNvSpPr>
          <p:nvPr>
            <p:ph type="title"/>
          </p:nvPr>
        </p:nvSpPr>
        <p:spPr>
          <a:xfrm>
            <a:off x="368300" y="368300"/>
            <a:ext cx="12207528" cy="1746945"/>
          </a:xfrm>
          <a:prstGeom prst="rect">
            <a:avLst/>
          </a:prstGeom>
        </p:spPr>
        <p:txBody>
          <a:bodyPr/>
          <a:lstStyle/>
          <a:p>
            <a:pPr>
              <a:tabLst>
                <a:tab pos="952500" algn="l"/>
              </a:tabLst>
            </a:pPr>
            <a:r>
              <a:t>Determining</a:t>
            </a:r>
          </a:p>
          <a:p>
            <a:pPr>
              <a:tabLst>
                <a:tab pos="952500" algn="l"/>
              </a:tabLst>
            </a:pPr>
            <a:r>
              <a:t>Allele Frequencies</a:t>
            </a:r>
          </a:p>
        </p:txBody>
      </p:sp>
      <p:sp>
        <p:nvSpPr>
          <p:cNvPr id="516" name="Shape 516"/>
          <p:cNvSpPr>
            <a:spLocks noGrp="1"/>
          </p:cNvSpPr>
          <p:nvPr>
            <p:ph type="body" sz="quarter" idx="1"/>
          </p:nvPr>
        </p:nvSpPr>
        <p:spPr>
          <a:xfrm>
            <a:off x="368300" y="2339677"/>
            <a:ext cx="5956300" cy="3017888"/>
          </a:xfrm>
          <a:prstGeom prst="rect">
            <a:avLst/>
          </a:prstGeom>
        </p:spPr>
        <p:txBody>
          <a:bodyPr/>
          <a:lstStyle/>
          <a:p>
            <a:pPr marL="345600" indent="-345600">
              <a:tabLst>
                <a:tab pos="1016000" algn="l"/>
              </a:tabLst>
            </a:pPr>
            <a:r>
              <a:t>To determine the frequencies of alleles in the population, count up the numbers of dominant and recessive alleles, regardless of the combinations in which they occur.</a:t>
            </a:r>
          </a:p>
          <a:p>
            <a:pPr marL="345600" indent="-345600">
              <a:tabLst>
                <a:tab pos="1016000" algn="l"/>
              </a:tabLst>
            </a:pPr>
            <a:r>
              <a:t>Convert these to percentages by a simple equation:</a:t>
            </a:r>
          </a:p>
        </p:txBody>
      </p:sp>
      <p:grpSp>
        <p:nvGrpSpPr>
          <p:cNvPr id="523" name="Group 523"/>
          <p:cNvGrpSpPr/>
          <p:nvPr/>
        </p:nvGrpSpPr>
        <p:grpSpPr>
          <a:xfrm>
            <a:off x="812800" y="6692900"/>
            <a:ext cx="5321300" cy="1676400"/>
            <a:chOff x="0" y="0"/>
            <a:chExt cx="5321300" cy="1676400"/>
          </a:xfrm>
        </p:grpSpPr>
        <p:sp>
          <p:nvSpPr>
            <p:cNvPr id="517" name="Shape 517"/>
            <p:cNvSpPr/>
            <p:nvPr/>
          </p:nvSpPr>
          <p:spPr>
            <a:xfrm>
              <a:off x="0" y="0"/>
              <a:ext cx="5321300" cy="1676400"/>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522" name="Group 522"/>
            <p:cNvGrpSpPr/>
            <p:nvPr/>
          </p:nvGrpSpPr>
          <p:grpSpPr>
            <a:xfrm>
              <a:off x="444500" y="340171"/>
              <a:ext cx="4428729" cy="980629"/>
              <a:chOff x="0" y="0"/>
              <a:chExt cx="4428728" cy="980628"/>
            </a:xfrm>
          </p:grpSpPr>
          <p:sp>
            <p:nvSpPr>
              <p:cNvPr id="518" name="Shape 518"/>
              <p:cNvSpPr/>
              <p:nvPr/>
            </p:nvSpPr>
            <p:spPr>
              <a:xfrm>
                <a:off x="0" y="0"/>
                <a:ext cx="3227537" cy="3456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b">
                <a:spAutoFit/>
              </a:bodyPr>
              <a:lstStyle>
                <a:lvl1pPr>
                  <a:lnSpc>
                    <a:spcPts val="3100"/>
                  </a:lnSpc>
                  <a:tabLst>
                    <a:tab pos="520700" algn="l"/>
                  </a:tabLst>
                  <a:defRPr sz="2400">
                    <a:solidFill>
                      <a:srgbClr val="201B17"/>
                    </a:solidFill>
                  </a:defRPr>
                </a:lvl1pPr>
              </a:lstStyle>
              <a:p>
                <a:pPr>
                  <a:defRPr>
                    <a:solidFill>
                      <a:srgbClr val="000000"/>
                    </a:solidFill>
                  </a:defRPr>
                </a:pPr>
                <a:r>
                  <a:rPr>
                    <a:solidFill>
                      <a:srgbClr val="201B17"/>
                    </a:solidFill>
                  </a:rPr>
                  <a:t>No. of dominant alleles</a:t>
                </a:r>
              </a:p>
            </p:txBody>
          </p:sp>
          <p:sp>
            <p:nvSpPr>
              <p:cNvPr id="519" name="Shape 519"/>
              <p:cNvSpPr/>
              <p:nvPr/>
            </p:nvSpPr>
            <p:spPr>
              <a:xfrm>
                <a:off x="330200" y="634999"/>
                <a:ext cx="2566889" cy="34563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b">
                <a:spAutoFit/>
              </a:bodyPr>
              <a:lstStyle>
                <a:lvl1pPr>
                  <a:lnSpc>
                    <a:spcPts val="3100"/>
                  </a:lnSpc>
                  <a:tabLst>
                    <a:tab pos="520700" algn="l"/>
                  </a:tabLst>
                  <a:defRPr sz="2400">
                    <a:solidFill>
                      <a:srgbClr val="201B17"/>
                    </a:solidFill>
                  </a:defRPr>
                </a:lvl1pPr>
              </a:lstStyle>
              <a:p>
                <a:pPr>
                  <a:defRPr>
                    <a:solidFill>
                      <a:srgbClr val="000000"/>
                    </a:solidFill>
                  </a:defRPr>
                </a:pPr>
                <a:r>
                  <a:rPr>
                    <a:solidFill>
                      <a:srgbClr val="201B17"/>
                    </a:solidFill>
                  </a:rPr>
                  <a:t>Total no. of alleles</a:t>
                </a:r>
              </a:p>
            </p:txBody>
          </p:sp>
          <p:sp>
            <p:nvSpPr>
              <p:cNvPr id="520" name="Shape 520"/>
              <p:cNvSpPr/>
              <p:nvPr/>
            </p:nvSpPr>
            <p:spPr>
              <a:xfrm>
                <a:off x="3505200" y="304799"/>
                <a:ext cx="923529" cy="34563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b">
                <a:spAutoFit/>
              </a:bodyPr>
              <a:lstStyle>
                <a:lvl1pPr>
                  <a:lnSpc>
                    <a:spcPts val="3100"/>
                  </a:lnSpc>
                  <a:tabLst>
                    <a:tab pos="520700" algn="l"/>
                  </a:tabLst>
                  <a:defRPr sz="2400">
                    <a:solidFill>
                      <a:srgbClr val="201B17"/>
                    </a:solidFill>
                  </a:defRPr>
                </a:lvl1pPr>
              </a:lstStyle>
              <a:p>
                <a:pPr>
                  <a:defRPr>
                    <a:solidFill>
                      <a:srgbClr val="000000"/>
                    </a:solidFill>
                  </a:defRPr>
                </a:pPr>
                <a:r>
                  <a:rPr>
                    <a:solidFill>
                      <a:srgbClr val="201B17"/>
                    </a:solidFill>
                  </a:rPr>
                  <a:t>X 100</a:t>
                </a:r>
              </a:p>
            </p:txBody>
          </p:sp>
          <p:sp>
            <p:nvSpPr>
              <p:cNvPr id="521" name="Shape 521"/>
              <p:cNvSpPr/>
              <p:nvPr/>
            </p:nvSpPr>
            <p:spPr>
              <a:xfrm>
                <a:off x="101600" y="485328"/>
                <a:ext cx="3183467" cy="128"/>
              </a:xfrm>
              <a:prstGeom prst="line">
                <a:avLst/>
              </a:prstGeom>
              <a:noFill/>
              <a:ln w="25400" cap="flat">
                <a:solidFill>
                  <a:srgbClr val="000000"/>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sp>
        <p:nvSpPr>
          <p:cNvPr id="524" name="Shape 524"/>
          <p:cNvSpPr/>
          <p:nvPr/>
        </p:nvSpPr>
        <p:spPr>
          <a:xfrm>
            <a:off x="6764650" y="2110575"/>
            <a:ext cx="6223835" cy="7561629"/>
          </a:xfrm>
          <a:custGeom>
            <a:avLst/>
            <a:gdLst/>
            <a:ahLst/>
            <a:cxnLst>
              <a:cxn ang="0">
                <a:pos x="wd2" y="hd2"/>
              </a:cxn>
              <a:cxn ang="5400000">
                <a:pos x="wd2" y="hd2"/>
              </a:cxn>
              <a:cxn ang="10800000">
                <a:pos x="wd2" y="hd2"/>
              </a:cxn>
              <a:cxn ang="16200000">
                <a:pos x="wd2" y="hd2"/>
              </a:cxn>
            </a:cxnLst>
            <a:rect l="0" t="0" r="r" b="b"/>
            <a:pathLst>
              <a:path w="19052" h="19705" extrusionOk="0">
                <a:moveTo>
                  <a:pt x="5489" y="385"/>
                </a:moveTo>
                <a:cubicBezTo>
                  <a:pt x="1219" y="-1591"/>
                  <a:pt x="-1932" y="4585"/>
                  <a:pt x="1385" y="6350"/>
                </a:cubicBezTo>
                <a:cubicBezTo>
                  <a:pt x="4701" y="8115"/>
                  <a:pt x="-1559" y="12633"/>
                  <a:pt x="2297" y="16091"/>
                </a:cubicBezTo>
                <a:cubicBezTo>
                  <a:pt x="4888" y="18416"/>
                  <a:pt x="6111" y="20009"/>
                  <a:pt x="8972" y="19656"/>
                </a:cubicBezTo>
                <a:cubicBezTo>
                  <a:pt x="11832" y="19303"/>
                  <a:pt x="15356" y="16833"/>
                  <a:pt x="17512" y="15421"/>
                </a:cubicBezTo>
                <a:cubicBezTo>
                  <a:pt x="19668" y="14009"/>
                  <a:pt x="19461" y="10409"/>
                  <a:pt x="17512" y="8397"/>
                </a:cubicBezTo>
                <a:cubicBezTo>
                  <a:pt x="16418" y="7268"/>
                  <a:pt x="18507" y="2962"/>
                  <a:pt x="14320" y="3456"/>
                </a:cubicBezTo>
                <a:cubicBezTo>
                  <a:pt x="10075" y="3957"/>
                  <a:pt x="8058" y="1574"/>
                  <a:pt x="5489" y="385"/>
                </a:cubicBezTo>
                <a:close/>
              </a:path>
            </a:pathLst>
          </a:custGeom>
          <a:solidFill>
            <a:srgbClr val="C5E1ED"/>
          </a:solidFill>
          <a:ln w="50800">
            <a:solidFill>
              <a:srgbClr val="FFFFFF"/>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525" name="LB-drab1.png"/>
          <p:cNvPicPr>
            <a:picLocks noChangeAspect="1"/>
          </p:cNvPicPr>
          <p:nvPr/>
        </p:nvPicPr>
        <p:blipFill>
          <a:blip r:embed="rId2">
            <a:extLst/>
          </a:blip>
          <a:stretch>
            <a:fillRect/>
          </a:stretch>
        </p:blipFill>
        <p:spPr>
          <a:xfrm rot="20921404">
            <a:off x="7424092" y="4430047"/>
            <a:ext cx="1587501" cy="1454355"/>
          </a:xfrm>
          <a:prstGeom prst="rect">
            <a:avLst/>
          </a:prstGeom>
          <a:ln w="12700">
            <a:miter lim="400000"/>
          </a:ln>
        </p:spPr>
      </p:pic>
      <p:grpSp>
        <p:nvGrpSpPr>
          <p:cNvPr id="528" name="Group 528"/>
          <p:cNvGrpSpPr/>
          <p:nvPr/>
        </p:nvGrpSpPr>
        <p:grpSpPr>
          <a:xfrm>
            <a:off x="7951589" y="4775200"/>
            <a:ext cx="533400" cy="477666"/>
            <a:chOff x="0" y="0"/>
            <a:chExt cx="533399" cy="477665"/>
          </a:xfrm>
        </p:grpSpPr>
        <p:sp>
          <p:nvSpPr>
            <p:cNvPr id="526" name="Shape 526"/>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27" name="Shape 527"/>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529" name="LB-orange1.png"/>
          <p:cNvPicPr>
            <a:picLocks noChangeAspect="1"/>
          </p:cNvPicPr>
          <p:nvPr/>
        </p:nvPicPr>
        <p:blipFill>
          <a:blip r:embed="rId3">
            <a:extLst/>
          </a:blip>
          <a:stretch>
            <a:fillRect/>
          </a:stretch>
        </p:blipFill>
        <p:spPr>
          <a:xfrm rot="14067737">
            <a:off x="7210252" y="2650202"/>
            <a:ext cx="1536702" cy="1386884"/>
          </a:xfrm>
          <a:prstGeom prst="rect">
            <a:avLst/>
          </a:prstGeom>
          <a:ln w="12700">
            <a:miter lim="400000"/>
          </a:ln>
        </p:spPr>
      </p:pic>
      <p:grpSp>
        <p:nvGrpSpPr>
          <p:cNvPr id="532" name="Group 532"/>
          <p:cNvGrpSpPr/>
          <p:nvPr/>
        </p:nvGrpSpPr>
        <p:grpSpPr>
          <a:xfrm>
            <a:off x="7570589" y="3238500"/>
            <a:ext cx="533400" cy="490366"/>
            <a:chOff x="0" y="0"/>
            <a:chExt cx="533399" cy="490365"/>
          </a:xfrm>
        </p:grpSpPr>
        <p:sp>
          <p:nvSpPr>
            <p:cNvPr id="530" name="Shape 530"/>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31" name="Shape 531"/>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533" name="LB-red1.png"/>
          <p:cNvPicPr>
            <a:picLocks noChangeAspect="1"/>
          </p:cNvPicPr>
          <p:nvPr/>
        </p:nvPicPr>
        <p:blipFill>
          <a:blip r:embed="rId4">
            <a:extLst/>
          </a:blip>
          <a:stretch>
            <a:fillRect/>
          </a:stretch>
        </p:blipFill>
        <p:spPr>
          <a:xfrm rot="9056721">
            <a:off x="10530428" y="3718792"/>
            <a:ext cx="1535285" cy="1408159"/>
          </a:xfrm>
          <a:prstGeom prst="rect">
            <a:avLst/>
          </a:prstGeom>
          <a:ln w="12700">
            <a:miter lim="400000"/>
          </a:ln>
        </p:spPr>
      </p:pic>
      <p:grpSp>
        <p:nvGrpSpPr>
          <p:cNvPr id="536" name="Group 536"/>
          <p:cNvGrpSpPr/>
          <p:nvPr/>
        </p:nvGrpSpPr>
        <p:grpSpPr>
          <a:xfrm>
            <a:off x="11151989" y="4343400"/>
            <a:ext cx="546101" cy="523306"/>
            <a:chOff x="0" y="0"/>
            <a:chExt cx="546100" cy="523305"/>
          </a:xfrm>
        </p:grpSpPr>
        <p:sp>
          <p:nvSpPr>
            <p:cNvPr id="534" name="Shape 534"/>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35" name="Shape 535"/>
            <p:cNvSpPr/>
            <p:nvPr/>
          </p:nvSpPr>
          <p:spPr>
            <a:xfrm>
              <a:off x="0" y="1005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537" name="LB-red1.png"/>
          <p:cNvPicPr>
            <a:picLocks noChangeAspect="1"/>
          </p:cNvPicPr>
          <p:nvPr/>
        </p:nvPicPr>
        <p:blipFill>
          <a:blip r:embed="rId4">
            <a:extLst/>
          </a:blip>
          <a:stretch>
            <a:fillRect/>
          </a:stretch>
        </p:blipFill>
        <p:spPr>
          <a:xfrm rot="14294431">
            <a:off x="11406728" y="5725390"/>
            <a:ext cx="1535285" cy="1408160"/>
          </a:xfrm>
          <a:prstGeom prst="rect">
            <a:avLst/>
          </a:prstGeom>
          <a:ln w="12700">
            <a:miter lim="400000"/>
          </a:ln>
        </p:spPr>
      </p:pic>
      <p:grpSp>
        <p:nvGrpSpPr>
          <p:cNvPr id="540" name="Group 540"/>
          <p:cNvGrpSpPr/>
          <p:nvPr/>
        </p:nvGrpSpPr>
        <p:grpSpPr>
          <a:xfrm>
            <a:off x="11723489" y="6362700"/>
            <a:ext cx="546101" cy="523306"/>
            <a:chOff x="0" y="0"/>
            <a:chExt cx="546100" cy="523305"/>
          </a:xfrm>
        </p:grpSpPr>
        <p:sp>
          <p:nvSpPr>
            <p:cNvPr id="538" name="Shape 538"/>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39" name="Shape 539"/>
            <p:cNvSpPr/>
            <p:nvPr/>
          </p:nvSpPr>
          <p:spPr>
            <a:xfrm>
              <a:off x="0" y="1005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541" name="LB-orange1.png"/>
          <p:cNvPicPr>
            <a:picLocks noChangeAspect="1"/>
          </p:cNvPicPr>
          <p:nvPr/>
        </p:nvPicPr>
        <p:blipFill>
          <a:blip r:embed="rId3">
            <a:extLst/>
          </a:blip>
          <a:stretch>
            <a:fillRect/>
          </a:stretch>
        </p:blipFill>
        <p:spPr>
          <a:xfrm rot="20999520">
            <a:off x="9115252" y="4898102"/>
            <a:ext cx="1536702" cy="1386884"/>
          </a:xfrm>
          <a:prstGeom prst="rect">
            <a:avLst/>
          </a:prstGeom>
          <a:ln w="12700">
            <a:miter lim="400000"/>
          </a:ln>
        </p:spPr>
      </p:pic>
      <p:grpSp>
        <p:nvGrpSpPr>
          <p:cNvPr id="544" name="Group 544"/>
          <p:cNvGrpSpPr/>
          <p:nvPr/>
        </p:nvGrpSpPr>
        <p:grpSpPr>
          <a:xfrm>
            <a:off x="9602589" y="5181600"/>
            <a:ext cx="533400" cy="446025"/>
            <a:chOff x="0" y="0"/>
            <a:chExt cx="533399" cy="446024"/>
          </a:xfrm>
        </p:grpSpPr>
        <p:sp>
          <p:nvSpPr>
            <p:cNvPr id="542" name="Shape 542"/>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43" name="Shape 543"/>
            <p:cNvSpPr/>
            <p:nvPr/>
          </p:nvSpPr>
          <p:spPr>
            <a:xfrm>
              <a:off x="0" y="572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pic>
        <p:nvPicPr>
          <p:cNvPr id="545" name="LB-orange1.png"/>
          <p:cNvPicPr>
            <a:picLocks noChangeAspect="1"/>
          </p:cNvPicPr>
          <p:nvPr/>
        </p:nvPicPr>
        <p:blipFill>
          <a:blip r:embed="rId3">
            <a:extLst/>
          </a:blip>
          <a:stretch>
            <a:fillRect/>
          </a:stretch>
        </p:blipFill>
        <p:spPr>
          <a:xfrm rot="20999520">
            <a:off x="7222952" y="6447501"/>
            <a:ext cx="1536702" cy="1386884"/>
          </a:xfrm>
          <a:prstGeom prst="rect">
            <a:avLst/>
          </a:prstGeom>
          <a:ln w="12700">
            <a:miter lim="400000"/>
          </a:ln>
        </p:spPr>
      </p:pic>
      <p:grpSp>
        <p:nvGrpSpPr>
          <p:cNvPr id="548" name="Group 548"/>
          <p:cNvGrpSpPr/>
          <p:nvPr/>
        </p:nvGrpSpPr>
        <p:grpSpPr>
          <a:xfrm>
            <a:off x="7710289" y="6731000"/>
            <a:ext cx="533400" cy="503066"/>
            <a:chOff x="0" y="0"/>
            <a:chExt cx="533399" cy="503065"/>
          </a:xfrm>
        </p:grpSpPr>
        <p:sp>
          <p:nvSpPr>
            <p:cNvPr id="546" name="Shape 546"/>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47" name="Shape 547"/>
            <p:cNvSpPr/>
            <p:nvPr/>
          </p:nvSpPr>
          <p:spPr>
            <a:xfrm>
              <a:off x="0" y="1207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grpSp>
        <p:nvGrpSpPr>
          <p:cNvPr id="551" name="Group 551"/>
          <p:cNvGrpSpPr/>
          <p:nvPr/>
        </p:nvGrpSpPr>
        <p:grpSpPr>
          <a:xfrm>
            <a:off x="9602589" y="5181600"/>
            <a:ext cx="533400" cy="490366"/>
            <a:chOff x="0" y="0"/>
            <a:chExt cx="533399" cy="490365"/>
          </a:xfrm>
        </p:grpSpPr>
        <p:sp>
          <p:nvSpPr>
            <p:cNvPr id="549" name="Shape 549"/>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50" name="Shape 550"/>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552" name="LB-orange1.png"/>
          <p:cNvPicPr>
            <a:picLocks noChangeAspect="1"/>
          </p:cNvPicPr>
          <p:nvPr/>
        </p:nvPicPr>
        <p:blipFill>
          <a:blip r:embed="rId3">
            <a:extLst/>
          </a:blip>
          <a:stretch>
            <a:fillRect/>
          </a:stretch>
        </p:blipFill>
        <p:spPr>
          <a:xfrm rot="5088334">
            <a:off x="8213552" y="7793702"/>
            <a:ext cx="1536702" cy="1386884"/>
          </a:xfrm>
          <a:prstGeom prst="rect">
            <a:avLst/>
          </a:prstGeom>
          <a:ln w="12700">
            <a:miter lim="400000"/>
          </a:ln>
        </p:spPr>
      </p:pic>
      <p:grpSp>
        <p:nvGrpSpPr>
          <p:cNvPr id="555" name="Group 555"/>
          <p:cNvGrpSpPr/>
          <p:nvPr/>
        </p:nvGrpSpPr>
        <p:grpSpPr>
          <a:xfrm>
            <a:off x="8954889" y="8255000"/>
            <a:ext cx="533400" cy="446025"/>
            <a:chOff x="0" y="0"/>
            <a:chExt cx="533399" cy="446024"/>
          </a:xfrm>
        </p:grpSpPr>
        <p:sp>
          <p:nvSpPr>
            <p:cNvPr id="553" name="Shape 553"/>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54" name="Shape 554"/>
            <p:cNvSpPr/>
            <p:nvPr/>
          </p:nvSpPr>
          <p:spPr>
            <a:xfrm>
              <a:off x="0" y="572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556" name="LB-orange1.png"/>
          <p:cNvPicPr>
            <a:picLocks noChangeAspect="1"/>
          </p:cNvPicPr>
          <p:nvPr/>
        </p:nvPicPr>
        <p:blipFill>
          <a:blip r:embed="rId3">
            <a:extLst/>
          </a:blip>
          <a:stretch>
            <a:fillRect/>
          </a:stretch>
        </p:blipFill>
        <p:spPr>
          <a:xfrm rot="11906097">
            <a:off x="9877251" y="6523701"/>
            <a:ext cx="1536701" cy="1386884"/>
          </a:xfrm>
          <a:prstGeom prst="rect">
            <a:avLst/>
          </a:prstGeom>
          <a:ln w="12700">
            <a:miter lim="400000"/>
          </a:ln>
        </p:spPr>
      </p:pic>
      <p:grpSp>
        <p:nvGrpSpPr>
          <p:cNvPr id="559" name="Group 559"/>
          <p:cNvGrpSpPr/>
          <p:nvPr/>
        </p:nvGrpSpPr>
        <p:grpSpPr>
          <a:xfrm>
            <a:off x="10377289" y="7099300"/>
            <a:ext cx="533400" cy="490366"/>
            <a:chOff x="0" y="0"/>
            <a:chExt cx="533399" cy="490365"/>
          </a:xfrm>
        </p:grpSpPr>
        <p:sp>
          <p:nvSpPr>
            <p:cNvPr id="557" name="Shape 557"/>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58" name="Shape 558"/>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1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1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51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2" nodeType="clickEffect">
                                  <p:stCondLst>
                                    <p:cond delay="0"/>
                                  </p:stCondLst>
                                  <p:iterate>
                                    <p:tmAbs val="0"/>
                                  </p:iterate>
                                  <p:childTnLst>
                                    <p:set>
                                      <p:cBhvr>
                                        <p:cTn id="16" fill="hold"/>
                                        <p:tgtEl>
                                          <p:spTgt spid="5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 grpId="1" build="p" bldLvl="5" animBg="1" advAuto="0"/>
      <p:bldP spid="523" grpId="2"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 name="Shape 561"/>
          <p:cNvSpPr>
            <a:spLocks noGrp="1"/>
          </p:cNvSpPr>
          <p:nvPr>
            <p:ph type="title"/>
          </p:nvPr>
        </p:nvSpPr>
        <p:spPr>
          <a:xfrm>
            <a:off x="368300" y="368300"/>
            <a:ext cx="9233992" cy="1754039"/>
          </a:xfrm>
          <a:prstGeom prst="rect">
            <a:avLst/>
          </a:prstGeom>
        </p:spPr>
        <p:txBody>
          <a:bodyPr/>
          <a:lstStyle/>
          <a:p>
            <a:pPr>
              <a:tabLst>
                <a:tab pos="952500" algn="l"/>
              </a:tabLst>
            </a:pPr>
            <a:r>
              <a:t>Determining</a:t>
            </a:r>
          </a:p>
          <a:p>
            <a:pPr>
              <a:tabLst>
                <a:tab pos="952500" algn="l"/>
              </a:tabLst>
            </a:pPr>
            <a:r>
              <a:t>Genotype Frequencies</a:t>
            </a:r>
          </a:p>
        </p:txBody>
      </p:sp>
      <p:sp>
        <p:nvSpPr>
          <p:cNvPr id="562" name="Shape 562"/>
          <p:cNvSpPr>
            <a:spLocks noGrp="1"/>
          </p:cNvSpPr>
          <p:nvPr>
            <p:ph type="body" sz="quarter" idx="1"/>
          </p:nvPr>
        </p:nvSpPr>
        <p:spPr>
          <a:xfrm>
            <a:off x="368300" y="2477988"/>
            <a:ext cx="5861745" cy="3302001"/>
          </a:xfrm>
          <a:prstGeom prst="rect">
            <a:avLst/>
          </a:prstGeom>
        </p:spPr>
        <p:txBody>
          <a:bodyPr/>
          <a:lstStyle/>
          <a:p>
            <a:pPr marL="345600" indent="-345600">
              <a:tabLst>
                <a:tab pos="1016000" algn="l"/>
              </a:tabLst>
            </a:pPr>
            <a:r>
              <a:t>To determine the frequencies of different genotypes in the population, count up the actual number of each genotype in the population:</a:t>
            </a:r>
          </a:p>
          <a:p>
            <a:pPr marL="680000" lvl="1" indent="-320000">
              <a:tabLst>
                <a:tab pos="1485900" algn="l"/>
              </a:tabLst>
            </a:pPr>
            <a:r>
              <a:t>homozygous dominant (AA)</a:t>
            </a:r>
          </a:p>
          <a:p>
            <a:pPr marL="680000" lvl="1" indent="-320000">
              <a:tabLst>
                <a:tab pos="1485900" algn="l"/>
              </a:tabLst>
            </a:pPr>
            <a:r>
              <a:t>heterozygous (Aa)</a:t>
            </a:r>
          </a:p>
          <a:p>
            <a:pPr marL="680000" lvl="1" indent="-320000">
              <a:tabLst>
                <a:tab pos="1485900" algn="l"/>
              </a:tabLst>
            </a:pPr>
            <a:r>
              <a:t>homozygous recessive (aa).</a:t>
            </a:r>
          </a:p>
        </p:txBody>
      </p:sp>
      <p:sp>
        <p:nvSpPr>
          <p:cNvPr id="563" name="Shape 563"/>
          <p:cNvSpPr/>
          <p:nvPr/>
        </p:nvSpPr>
        <p:spPr>
          <a:xfrm>
            <a:off x="6567800" y="2097875"/>
            <a:ext cx="6109518" cy="7422742"/>
          </a:xfrm>
          <a:custGeom>
            <a:avLst/>
            <a:gdLst/>
            <a:ahLst/>
            <a:cxnLst>
              <a:cxn ang="0">
                <a:pos x="wd2" y="hd2"/>
              </a:cxn>
              <a:cxn ang="5400000">
                <a:pos x="wd2" y="hd2"/>
              </a:cxn>
              <a:cxn ang="10800000">
                <a:pos x="wd2" y="hd2"/>
              </a:cxn>
              <a:cxn ang="16200000">
                <a:pos x="wd2" y="hd2"/>
              </a:cxn>
            </a:cxnLst>
            <a:rect l="0" t="0" r="r" b="b"/>
            <a:pathLst>
              <a:path w="19052" h="19705" extrusionOk="0">
                <a:moveTo>
                  <a:pt x="5489" y="385"/>
                </a:moveTo>
                <a:cubicBezTo>
                  <a:pt x="1219" y="-1591"/>
                  <a:pt x="-1932" y="4585"/>
                  <a:pt x="1385" y="6350"/>
                </a:cubicBezTo>
                <a:cubicBezTo>
                  <a:pt x="4701" y="8115"/>
                  <a:pt x="-1559" y="12633"/>
                  <a:pt x="2297" y="16091"/>
                </a:cubicBezTo>
                <a:cubicBezTo>
                  <a:pt x="4888" y="18416"/>
                  <a:pt x="6111" y="20009"/>
                  <a:pt x="8972" y="19656"/>
                </a:cubicBezTo>
                <a:cubicBezTo>
                  <a:pt x="11832" y="19303"/>
                  <a:pt x="15356" y="16833"/>
                  <a:pt x="17512" y="15421"/>
                </a:cubicBezTo>
                <a:cubicBezTo>
                  <a:pt x="19668" y="14009"/>
                  <a:pt x="19461" y="10409"/>
                  <a:pt x="17512" y="8397"/>
                </a:cubicBezTo>
                <a:cubicBezTo>
                  <a:pt x="16418" y="7268"/>
                  <a:pt x="18507" y="2962"/>
                  <a:pt x="14320" y="3456"/>
                </a:cubicBezTo>
                <a:cubicBezTo>
                  <a:pt x="10075" y="3957"/>
                  <a:pt x="8058" y="1574"/>
                  <a:pt x="5489" y="385"/>
                </a:cubicBezTo>
                <a:close/>
              </a:path>
            </a:pathLst>
          </a:custGeom>
          <a:solidFill>
            <a:srgbClr val="C5E1ED"/>
          </a:solidFill>
          <a:ln w="50800">
            <a:solidFill>
              <a:srgbClr val="FFFFFF"/>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564" name="LB-drab1.png"/>
          <p:cNvPicPr>
            <a:picLocks noChangeAspect="1"/>
          </p:cNvPicPr>
          <p:nvPr/>
        </p:nvPicPr>
        <p:blipFill>
          <a:blip r:embed="rId2">
            <a:extLst/>
          </a:blip>
          <a:stretch>
            <a:fillRect/>
          </a:stretch>
        </p:blipFill>
        <p:spPr>
          <a:xfrm rot="20921404">
            <a:off x="7170092" y="4417347"/>
            <a:ext cx="1587501" cy="1454355"/>
          </a:xfrm>
          <a:prstGeom prst="rect">
            <a:avLst/>
          </a:prstGeom>
          <a:ln w="12700">
            <a:miter lim="400000"/>
          </a:ln>
        </p:spPr>
      </p:pic>
      <p:grpSp>
        <p:nvGrpSpPr>
          <p:cNvPr id="567" name="Group 567"/>
          <p:cNvGrpSpPr/>
          <p:nvPr/>
        </p:nvGrpSpPr>
        <p:grpSpPr>
          <a:xfrm>
            <a:off x="7710289" y="4762500"/>
            <a:ext cx="520700" cy="477666"/>
            <a:chOff x="0" y="0"/>
            <a:chExt cx="520699" cy="477665"/>
          </a:xfrm>
        </p:grpSpPr>
        <p:sp>
          <p:nvSpPr>
            <p:cNvPr id="565" name="Shape 565"/>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66" name="Shape 566"/>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568" name="LB-orange1.png"/>
          <p:cNvPicPr>
            <a:picLocks noChangeAspect="1"/>
          </p:cNvPicPr>
          <p:nvPr/>
        </p:nvPicPr>
        <p:blipFill>
          <a:blip r:embed="rId3">
            <a:extLst/>
          </a:blip>
          <a:stretch>
            <a:fillRect/>
          </a:stretch>
        </p:blipFill>
        <p:spPr>
          <a:xfrm rot="14067737">
            <a:off x="6956252" y="2637502"/>
            <a:ext cx="1536702" cy="1386884"/>
          </a:xfrm>
          <a:prstGeom prst="rect">
            <a:avLst/>
          </a:prstGeom>
          <a:ln w="12700">
            <a:miter lim="400000"/>
          </a:ln>
        </p:spPr>
      </p:pic>
      <p:grpSp>
        <p:nvGrpSpPr>
          <p:cNvPr id="571" name="Group 571"/>
          <p:cNvGrpSpPr/>
          <p:nvPr/>
        </p:nvGrpSpPr>
        <p:grpSpPr>
          <a:xfrm>
            <a:off x="7316589" y="3225800"/>
            <a:ext cx="533400" cy="490366"/>
            <a:chOff x="0" y="0"/>
            <a:chExt cx="533399" cy="490365"/>
          </a:xfrm>
        </p:grpSpPr>
        <p:sp>
          <p:nvSpPr>
            <p:cNvPr id="569" name="Shape 569"/>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70" name="Shape 570"/>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572" name="LB-red1.png"/>
          <p:cNvPicPr>
            <a:picLocks noChangeAspect="1"/>
          </p:cNvPicPr>
          <p:nvPr/>
        </p:nvPicPr>
        <p:blipFill>
          <a:blip r:embed="rId4">
            <a:extLst/>
          </a:blip>
          <a:stretch>
            <a:fillRect/>
          </a:stretch>
        </p:blipFill>
        <p:spPr>
          <a:xfrm rot="9056721">
            <a:off x="10276428" y="3706092"/>
            <a:ext cx="1535285" cy="1408159"/>
          </a:xfrm>
          <a:prstGeom prst="rect">
            <a:avLst/>
          </a:prstGeom>
          <a:ln w="12700">
            <a:miter lim="400000"/>
          </a:ln>
        </p:spPr>
      </p:pic>
      <p:grpSp>
        <p:nvGrpSpPr>
          <p:cNvPr id="575" name="Group 575"/>
          <p:cNvGrpSpPr/>
          <p:nvPr/>
        </p:nvGrpSpPr>
        <p:grpSpPr>
          <a:xfrm>
            <a:off x="10897989" y="4330700"/>
            <a:ext cx="546101" cy="536006"/>
            <a:chOff x="0" y="0"/>
            <a:chExt cx="546100" cy="536005"/>
          </a:xfrm>
        </p:grpSpPr>
        <p:sp>
          <p:nvSpPr>
            <p:cNvPr id="573" name="Shape 573"/>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74" name="Shape 574"/>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576" name="LB-red1.png"/>
          <p:cNvPicPr>
            <a:picLocks noChangeAspect="1"/>
          </p:cNvPicPr>
          <p:nvPr/>
        </p:nvPicPr>
        <p:blipFill>
          <a:blip r:embed="rId4">
            <a:extLst/>
          </a:blip>
          <a:stretch>
            <a:fillRect/>
          </a:stretch>
        </p:blipFill>
        <p:spPr>
          <a:xfrm rot="14294431">
            <a:off x="11152728" y="5712690"/>
            <a:ext cx="1535285" cy="1408160"/>
          </a:xfrm>
          <a:prstGeom prst="rect">
            <a:avLst/>
          </a:prstGeom>
          <a:ln w="12700">
            <a:miter lim="400000"/>
          </a:ln>
        </p:spPr>
      </p:pic>
      <p:grpSp>
        <p:nvGrpSpPr>
          <p:cNvPr id="579" name="Group 579"/>
          <p:cNvGrpSpPr/>
          <p:nvPr/>
        </p:nvGrpSpPr>
        <p:grpSpPr>
          <a:xfrm>
            <a:off x="11469489" y="6350000"/>
            <a:ext cx="546101" cy="523306"/>
            <a:chOff x="0" y="0"/>
            <a:chExt cx="546100" cy="523305"/>
          </a:xfrm>
        </p:grpSpPr>
        <p:sp>
          <p:nvSpPr>
            <p:cNvPr id="577" name="Shape 577"/>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78" name="Shape 578"/>
            <p:cNvSpPr/>
            <p:nvPr/>
          </p:nvSpPr>
          <p:spPr>
            <a:xfrm>
              <a:off x="0" y="1005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580" name="LB-orange1.png"/>
          <p:cNvPicPr>
            <a:picLocks noChangeAspect="1"/>
          </p:cNvPicPr>
          <p:nvPr/>
        </p:nvPicPr>
        <p:blipFill>
          <a:blip r:embed="rId3">
            <a:extLst/>
          </a:blip>
          <a:stretch>
            <a:fillRect/>
          </a:stretch>
        </p:blipFill>
        <p:spPr>
          <a:xfrm rot="20999520">
            <a:off x="8861252" y="4885402"/>
            <a:ext cx="1536702" cy="1386884"/>
          </a:xfrm>
          <a:prstGeom prst="rect">
            <a:avLst/>
          </a:prstGeom>
          <a:ln w="12700">
            <a:miter lim="400000"/>
          </a:ln>
        </p:spPr>
      </p:pic>
      <p:grpSp>
        <p:nvGrpSpPr>
          <p:cNvPr id="583" name="Group 583"/>
          <p:cNvGrpSpPr/>
          <p:nvPr/>
        </p:nvGrpSpPr>
        <p:grpSpPr>
          <a:xfrm>
            <a:off x="9348589" y="5168900"/>
            <a:ext cx="533400" cy="446025"/>
            <a:chOff x="0" y="0"/>
            <a:chExt cx="533399" cy="446024"/>
          </a:xfrm>
        </p:grpSpPr>
        <p:sp>
          <p:nvSpPr>
            <p:cNvPr id="581" name="Shape 581"/>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82" name="Shape 582"/>
            <p:cNvSpPr/>
            <p:nvPr/>
          </p:nvSpPr>
          <p:spPr>
            <a:xfrm>
              <a:off x="0" y="572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lgn="ctr">
                <a:tabLst>
                  <a:tab pos="520700" algn="l"/>
                </a:tabLst>
                <a:defRPr sz="1600" b="1">
                  <a:solidFill>
                    <a:srgbClr val="000000"/>
                  </a:solidFill>
                </a:defRPr>
              </a:lvl1pPr>
            </a:lstStyle>
            <a:p>
              <a:r>
                <a:t>Aa</a:t>
              </a:r>
            </a:p>
          </p:txBody>
        </p:sp>
      </p:grpSp>
      <p:pic>
        <p:nvPicPr>
          <p:cNvPr id="584" name="LB-orange1.png"/>
          <p:cNvPicPr>
            <a:picLocks noChangeAspect="1"/>
          </p:cNvPicPr>
          <p:nvPr/>
        </p:nvPicPr>
        <p:blipFill>
          <a:blip r:embed="rId3">
            <a:extLst/>
          </a:blip>
          <a:stretch>
            <a:fillRect/>
          </a:stretch>
        </p:blipFill>
        <p:spPr>
          <a:xfrm rot="20999520">
            <a:off x="6968952" y="6434802"/>
            <a:ext cx="1536702" cy="1386884"/>
          </a:xfrm>
          <a:prstGeom prst="rect">
            <a:avLst/>
          </a:prstGeom>
          <a:ln w="12700">
            <a:miter lim="400000"/>
          </a:ln>
        </p:spPr>
      </p:pic>
      <p:grpSp>
        <p:nvGrpSpPr>
          <p:cNvPr id="587" name="Group 587"/>
          <p:cNvGrpSpPr/>
          <p:nvPr/>
        </p:nvGrpSpPr>
        <p:grpSpPr>
          <a:xfrm>
            <a:off x="7456289" y="6718300"/>
            <a:ext cx="533400" cy="490366"/>
            <a:chOff x="0" y="0"/>
            <a:chExt cx="533399" cy="490365"/>
          </a:xfrm>
        </p:grpSpPr>
        <p:sp>
          <p:nvSpPr>
            <p:cNvPr id="585" name="Shape 585"/>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86" name="Shape 586"/>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grpSp>
        <p:nvGrpSpPr>
          <p:cNvPr id="590" name="Group 590"/>
          <p:cNvGrpSpPr/>
          <p:nvPr/>
        </p:nvGrpSpPr>
        <p:grpSpPr>
          <a:xfrm>
            <a:off x="9348589" y="5168900"/>
            <a:ext cx="533400" cy="490366"/>
            <a:chOff x="0" y="0"/>
            <a:chExt cx="533399" cy="490365"/>
          </a:xfrm>
        </p:grpSpPr>
        <p:sp>
          <p:nvSpPr>
            <p:cNvPr id="588" name="Shape 588"/>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89" name="Shape 589"/>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591" name="LB-orange1.png"/>
          <p:cNvPicPr>
            <a:picLocks noChangeAspect="1"/>
          </p:cNvPicPr>
          <p:nvPr/>
        </p:nvPicPr>
        <p:blipFill>
          <a:blip r:embed="rId3">
            <a:extLst/>
          </a:blip>
          <a:stretch>
            <a:fillRect/>
          </a:stretch>
        </p:blipFill>
        <p:spPr>
          <a:xfrm rot="5088334">
            <a:off x="7959552" y="7781002"/>
            <a:ext cx="1536702" cy="1386884"/>
          </a:xfrm>
          <a:prstGeom prst="rect">
            <a:avLst/>
          </a:prstGeom>
          <a:ln w="12700">
            <a:miter lim="400000"/>
          </a:ln>
        </p:spPr>
      </p:pic>
      <p:grpSp>
        <p:nvGrpSpPr>
          <p:cNvPr id="594" name="Group 594"/>
          <p:cNvGrpSpPr/>
          <p:nvPr/>
        </p:nvGrpSpPr>
        <p:grpSpPr>
          <a:xfrm>
            <a:off x="8700889" y="8242300"/>
            <a:ext cx="533400" cy="503066"/>
            <a:chOff x="0" y="0"/>
            <a:chExt cx="533399" cy="503065"/>
          </a:xfrm>
        </p:grpSpPr>
        <p:sp>
          <p:nvSpPr>
            <p:cNvPr id="592" name="Shape 592"/>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93" name="Shape 593"/>
            <p:cNvSpPr/>
            <p:nvPr/>
          </p:nvSpPr>
          <p:spPr>
            <a:xfrm>
              <a:off x="0" y="1207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595" name="LB-orange1.png"/>
          <p:cNvPicPr>
            <a:picLocks noChangeAspect="1"/>
          </p:cNvPicPr>
          <p:nvPr/>
        </p:nvPicPr>
        <p:blipFill>
          <a:blip r:embed="rId3">
            <a:extLst/>
          </a:blip>
          <a:stretch>
            <a:fillRect/>
          </a:stretch>
        </p:blipFill>
        <p:spPr>
          <a:xfrm rot="11906097">
            <a:off x="9623251" y="6511001"/>
            <a:ext cx="1536701" cy="1386884"/>
          </a:xfrm>
          <a:prstGeom prst="rect">
            <a:avLst/>
          </a:prstGeom>
          <a:ln w="12700">
            <a:miter lim="400000"/>
          </a:ln>
        </p:spPr>
      </p:pic>
      <p:grpSp>
        <p:nvGrpSpPr>
          <p:cNvPr id="598" name="Group 598"/>
          <p:cNvGrpSpPr/>
          <p:nvPr/>
        </p:nvGrpSpPr>
        <p:grpSpPr>
          <a:xfrm>
            <a:off x="10123289" y="7086600"/>
            <a:ext cx="533400" cy="490366"/>
            <a:chOff x="0" y="0"/>
            <a:chExt cx="533399" cy="490365"/>
          </a:xfrm>
        </p:grpSpPr>
        <p:sp>
          <p:nvSpPr>
            <p:cNvPr id="596" name="Shape 596"/>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97" name="Shape 597"/>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6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6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56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56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56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 grpId="1" build="p" bldLvl="5"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 name="Shape 600"/>
          <p:cNvSpPr/>
          <p:nvPr/>
        </p:nvSpPr>
        <p:spPr>
          <a:xfrm flipH="1">
            <a:off x="685800" y="5346700"/>
            <a:ext cx="11861800" cy="3924300"/>
          </a:xfrm>
          <a:prstGeom prst="ellipse">
            <a:avLst/>
          </a:prstGeom>
          <a:solidFill>
            <a:srgbClr val="C5E1ED"/>
          </a:solidFill>
          <a:ln w="25400">
            <a:solidFill>
              <a:srgbClr val="FFFFFF"/>
            </a:solidFill>
            <a:miter lim="400000"/>
          </a:ln>
        </p:spPr>
        <p:txBody>
          <a:bodyPr lIns="38100" tIns="38100" rIns="38100" bIns="38100" anchor="ctr"/>
          <a:lstStyle/>
          <a:p>
            <a:pPr>
              <a:lnSpc>
                <a:spcPts val="3400"/>
              </a:lnSpc>
              <a:tabLst>
                <a:tab pos="520700" algn="l"/>
              </a:tabLst>
              <a:defRPr sz="29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01" name="Shape 601"/>
          <p:cNvSpPr>
            <a:spLocks noGrp="1"/>
          </p:cNvSpPr>
          <p:nvPr>
            <p:ph type="title"/>
          </p:nvPr>
        </p:nvSpPr>
        <p:spPr>
          <a:prstGeom prst="rect">
            <a:avLst/>
          </a:prstGeom>
        </p:spPr>
        <p:txBody>
          <a:bodyPr/>
          <a:lstStyle>
            <a:lvl1pPr>
              <a:tabLst>
                <a:tab pos="952500" algn="l"/>
              </a:tabLst>
            </a:lvl1pPr>
          </a:lstStyle>
          <a:p>
            <a:r>
              <a:t>Changes in a Gene Pool 1</a:t>
            </a:r>
          </a:p>
        </p:txBody>
      </p:sp>
      <p:sp>
        <p:nvSpPr>
          <p:cNvPr id="602" name="Shape 602"/>
          <p:cNvSpPr>
            <a:spLocks noGrp="1"/>
          </p:cNvSpPr>
          <p:nvPr>
            <p:ph type="body" sz="half" idx="1"/>
          </p:nvPr>
        </p:nvSpPr>
        <p:spPr>
          <a:prstGeom prst="rect">
            <a:avLst/>
          </a:prstGeom>
        </p:spPr>
        <p:txBody>
          <a:bodyPr/>
          <a:lstStyle/>
          <a:p>
            <a:pPr marL="345600" indent="-345600">
              <a:tabLst>
                <a:tab pos="1016000" algn="l"/>
              </a:tabLst>
              <a:defRPr b="1">
                <a:solidFill>
                  <a:srgbClr val="006994"/>
                </a:solidFill>
              </a:defRPr>
            </a:pPr>
            <a:r>
              <a:t>Phase 1:  Initial gene pool</a:t>
            </a:r>
          </a:p>
          <a:p>
            <a:pPr marL="680000" lvl="1" indent="-320000">
              <a:tabLst>
                <a:tab pos="1485900" algn="l"/>
              </a:tabLst>
            </a:pPr>
            <a:r>
              <a:t>In the gene pool below there are 25 individuals, each possessing two copies of a gene for a trait called A.</a:t>
            </a:r>
          </a:p>
          <a:p>
            <a:pPr marL="680000" lvl="1" indent="-320000">
              <a:tabLst>
                <a:tab pos="1485900" algn="l"/>
              </a:tabLst>
            </a:pPr>
            <a:r>
              <a:t>This is the gene pool before changes occur:</a:t>
            </a:r>
          </a:p>
        </p:txBody>
      </p:sp>
      <p:sp>
        <p:nvSpPr>
          <p:cNvPr id="603" name="Shape 603"/>
          <p:cNvSpPr/>
          <p:nvPr/>
        </p:nvSpPr>
        <p:spPr>
          <a:xfrm>
            <a:off x="7670800" y="4325478"/>
            <a:ext cx="129600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i="1">
                <a:solidFill>
                  <a:srgbClr val="201B17"/>
                </a:solidFill>
              </a:defRPr>
            </a:lvl1pPr>
          </a:lstStyle>
          <a:p>
            <a:pPr>
              <a:defRPr i="0">
                <a:solidFill>
                  <a:srgbClr val="000000"/>
                </a:solidFill>
              </a:defRPr>
            </a:pPr>
            <a:r>
              <a:rPr i="1">
                <a:solidFill>
                  <a:srgbClr val="201B17"/>
                </a:solidFill>
              </a:rPr>
              <a:t>Allele types</a:t>
            </a:r>
          </a:p>
        </p:txBody>
      </p:sp>
      <p:sp>
        <p:nvSpPr>
          <p:cNvPr id="604" name="Shape 604"/>
          <p:cNvSpPr/>
          <p:nvPr/>
        </p:nvSpPr>
        <p:spPr>
          <a:xfrm>
            <a:off x="9728200" y="4325478"/>
            <a:ext cx="2096555"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i="1">
                <a:solidFill>
                  <a:srgbClr val="201B17"/>
                </a:solidFill>
              </a:defRPr>
            </a:lvl1pPr>
          </a:lstStyle>
          <a:p>
            <a:pPr>
              <a:defRPr i="0">
                <a:solidFill>
                  <a:srgbClr val="000000"/>
                </a:solidFill>
              </a:defRPr>
            </a:pPr>
            <a:r>
              <a:rPr i="1">
                <a:solidFill>
                  <a:srgbClr val="201B17"/>
                </a:solidFill>
              </a:rPr>
              <a:t>Allele combinations</a:t>
            </a:r>
          </a:p>
        </p:txBody>
      </p:sp>
      <p:graphicFrame>
        <p:nvGraphicFramePr>
          <p:cNvPr id="605" name="Table 605"/>
          <p:cNvGraphicFramePr/>
          <p:nvPr/>
        </p:nvGraphicFramePr>
        <p:xfrm>
          <a:off x="7480300" y="1854200"/>
          <a:ext cx="4724396" cy="1892298"/>
        </p:xfrm>
        <a:graphic>
          <a:graphicData uri="http://schemas.openxmlformats.org/drawingml/2006/table">
            <a:tbl>
              <a:tblPr>
                <a:tableStyleId>{8F44A2F1-9E1F-4B54-A3A2-5F16C0AD49E2}</a:tableStyleId>
              </a:tblPr>
              <a:tblGrid>
                <a:gridCol w="944879">
                  <a:extLst>
                    <a:ext uri="{9D8B030D-6E8A-4147-A177-3AD203B41FA5}">
                      <a16:colId xmlns:a16="http://schemas.microsoft.com/office/drawing/2014/main" val="20000"/>
                    </a:ext>
                  </a:extLst>
                </a:gridCol>
                <a:gridCol w="944879">
                  <a:extLst>
                    <a:ext uri="{9D8B030D-6E8A-4147-A177-3AD203B41FA5}">
                      <a16:colId xmlns:a16="http://schemas.microsoft.com/office/drawing/2014/main" val="20001"/>
                    </a:ext>
                  </a:extLst>
                </a:gridCol>
                <a:gridCol w="944879">
                  <a:extLst>
                    <a:ext uri="{9D8B030D-6E8A-4147-A177-3AD203B41FA5}">
                      <a16:colId xmlns:a16="http://schemas.microsoft.com/office/drawing/2014/main" val="20002"/>
                    </a:ext>
                  </a:extLst>
                </a:gridCol>
                <a:gridCol w="944879">
                  <a:extLst>
                    <a:ext uri="{9D8B030D-6E8A-4147-A177-3AD203B41FA5}">
                      <a16:colId xmlns:a16="http://schemas.microsoft.com/office/drawing/2014/main" val="20003"/>
                    </a:ext>
                  </a:extLst>
                </a:gridCol>
                <a:gridCol w="944880">
                  <a:extLst>
                    <a:ext uri="{9D8B030D-6E8A-4147-A177-3AD203B41FA5}">
                      <a16:colId xmlns:a16="http://schemas.microsoft.com/office/drawing/2014/main" val="20004"/>
                    </a:ext>
                  </a:extLst>
                </a:gridCol>
              </a:tblGrid>
              <a:tr h="630766">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t>
                      </a:r>
                    </a:p>
                  </a:txBody>
                  <a:tcPr marL="0" marR="0" marT="0" marB="0" anchor="ctr" horzOverflow="overflow">
                    <a:lnR w="12700">
                      <a:solidFill>
                        <a:srgbClr val="000000"/>
                      </a:solidFill>
                      <a:miter lim="400000"/>
                    </a:lnR>
                    <a:lnB w="12700">
                      <a:solidFill>
                        <a:srgbClr val="000000"/>
                      </a:solidFill>
                      <a:miter lim="400000"/>
                    </a:lnB>
                    <a:solidFill>
                      <a:srgbClr val="006994"/>
                    </a:solidFill>
                  </a:tcPr>
                </a:tc>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t>
                      </a:r>
                    </a:p>
                  </a:txBody>
                  <a:tcPr marL="0" marR="0" marT="0" marB="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006994"/>
                    </a:solidFill>
                  </a:tcPr>
                </a:tc>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a:t>
                      </a:r>
                    </a:p>
                  </a:txBody>
                  <a:tcPr marL="0" marR="0" marT="0" marB="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994"/>
                    </a:solidFill>
                  </a:tcPr>
                </a:tc>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a:t>
                      </a:r>
                    </a:p>
                  </a:txBody>
                  <a:tcPr marL="0" marR="0" marT="0" marB="0" anchor="ctr" horzOverflow="overflow">
                    <a:lnL w="12700">
                      <a:solidFill>
                        <a:srgbClr val="000000"/>
                      </a:solidFill>
                      <a:miter lim="400000"/>
                    </a:lnL>
                    <a:lnR w="0">
                      <a:miter lim="400000"/>
                    </a:lnR>
                    <a:lnB w="12700">
                      <a:solidFill>
                        <a:srgbClr val="000000"/>
                      </a:solidFill>
                      <a:miter lim="400000"/>
                    </a:lnB>
                    <a:solidFill>
                      <a:srgbClr val="006994"/>
                    </a:solidFill>
                  </a:tcPr>
                </a:tc>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a:t>
                      </a:r>
                    </a:p>
                  </a:txBody>
                  <a:tcPr marL="0" marR="0" marT="0" marB="0" anchor="ctr" horzOverflow="overflow">
                    <a:lnL w="0">
                      <a:miter lim="400000"/>
                    </a:lnL>
                    <a:lnB w="12700">
                      <a:solidFill>
                        <a:srgbClr val="000000"/>
                      </a:solidFill>
                      <a:miter lim="400000"/>
                    </a:lnB>
                    <a:solidFill>
                      <a:srgbClr val="006994"/>
                    </a:solidFill>
                  </a:tcPr>
                </a:tc>
                <a:extLst>
                  <a:ext uri="{0D108BD9-81ED-4DB2-BD59-A6C34878D82A}">
                    <a16:rowId xmlns:a16="http://schemas.microsoft.com/office/drawing/2014/main" val="10000"/>
                  </a:ext>
                </a:extLst>
              </a:tr>
              <a:tr h="630766">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27</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23</a:t>
                      </a:r>
                    </a:p>
                  </a:txBody>
                  <a:tcPr marL="0" marR="0" marT="0" marB="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7</a:t>
                      </a:r>
                    </a:p>
                  </a:txBody>
                  <a:tcPr marL="0" marR="0" marT="0" marB="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13</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5</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1"/>
                  </a:ext>
                </a:extLst>
              </a:tr>
              <a:tr h="630766">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54</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46</a:t>
                      </a:r>
                    </a:p>
                  </a:txBody>
                  <a:tcPr marL="0" marR="0" marT="0" marB="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28</a:t>
                      </a:r>
                    </a:p>
                  </a:txBody>
                  <a:tcPr marL="0" marR="0" marT="0" marB="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52</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20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2"/>
                  </a:ext>
                </a:extLst>
              </a:tr>
            </a:tbl>
          </a:graphicData>
        </a:graphic>
      </p:graphicFrame>
      <p:sp>
        <p:nvSpPr>
          <p:cNvPr id="606" name="Shape 606"/>
          <p:cNvSpPr/>
          <p:nvPr/>
        </p:nvSpPr>
        <p:spPr>
          <a:xfrm>
            <a:off x="7509933" y="3941233"/>
            <a:ext cx="1803401" cy="176401"/>
          </a:xfrm>
          <a:custGeom>
            <a:avLst/>
            <a:gdLst/>
            <a:ahLst/>
            <a:cxnLst>
              <a:cxn ang="0">
                <a:pos x="wd2" y="hd2"/>
              </a:cxn>
              <a:cxn ang="5400000">
                <a:pos x="wd2" y="hd2"/>
              </a:cxn>
              <a:cxn ang="10800000">
                <a:pos x="wd2" y="hd2"/>
              </a:cxn>
              <a:cxn ang="16200000">
                <a:pos x="wd2" y="hd2"/>
              </a:cxn>
            </a:cxnLst>
            <a:rect l="0" t="0" r="r" b="b"/>
            <a:pathLst>
              <a:path w="21600" h="21600" extrusionOk="0">
                <a:moveTo>
                  <a:pt x="0" y="460"/>
                </a:moveTo>
                <a:lnTo>
                  <a:pt x="0" y="21600"/>
                </a:lnTo>
                <a:lnTo>
                  <a:pt x="21600" y="21370"/>
                </a:lnTo>
                <a:lnTo>
                  <a:pt x="21600" y="0"/>
                </a:lnTo>
              </a:path>
            </a:pathLst>
          </a:custGeom>
          <a:ln w="254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07" name="Shape 607"/>
          <p:cNvSpPr/>
          <p:nvPr/>
        </p:nvSpPr>
        <p:spPr>
          <a:xfrm>
            <a:off x="9414933" y="3941233"/>
            <a:ext cx="2781301" cy="177801"/>
          </a:xfrm>
          <a:custGeom>
            <a:avLst/>
            <a:gdLst/>
            <a:ahLst/>
            <a:cxnLst>
              <a:cxn ang="0">
                <a:pos x="wd2" y="hd2"/>
              </a:cxn>
              <a:cxn ang="5400000">
                <a:pos x="wd2" y="hd2"/>
              </a:cxn>
              <a:cxn ang="10800000">
                <a:pos x="wd2" y="hd2"/>
              </a:cxn>
              <a:cxn ang="16200000">
                <a:pos x="wd2" y="hd2"/>
              </a:cxn>
            </a:cxnLst>
            <a:rect l="0" t="0" r="r" b="b"/>
            <a:pathLst>
              <a:path w="21600" h="21600" extrusionOk="0">
                <a:moveTo>
                  <a:pt x="0" y="460"/>
                </a:moveTo>
                <a:lnTo>
                  <a:pt x="0" y="21600"/>
                </a:lnTo>
                <a:lnTo>
                  <a:pt x="21600" y="21370"/>
                </a:lnTo>
                <a:lnTo>
                  <a:pt x="21600" y="0"/>
                </a:lnTo>
              </a:path>
            </a:pathLst>
          </a:custGeom>
          <a:ln w="254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608" name="LB-red1.png"/>
          <p:cNvPicPr>
            <a:picLocks noChangeAspect="1"/>
          </p:cNvPicPr>
          <p:nvPr/>
        </p:nvPicPr>
        <p:blipFill>
          <a:blip r:embed="rId2">
            <a:extLst/>
          </a:blip>
          <a:stretch>
            <a:fillRect/>
          </a:stretch>
        </p:blipFill>
        <p:spPr>
          <a:xfrm rot="9056721">
            <a:off x="7033637" y="5498484"/>
            <a:ext cx="1270001" cy="1164842"/>
          </a:xfrm>
          <a:prstGeom prst="rect">
            <a:avLst/>
          </a:prstGeom>
          <a:ln w="12700">
            <a:miter lim="400000"/>
          </a:ln>
        </p:spPr>
      </p:pic>
      <p:grpSp>
        <p:nvGrpSpPr>
          <p:cNvPr id="611" name="Group 611"/>
          <p:cNvGrpSpPr/>
          <p:nvPr/>
        </p:nvGrpSpPr>
        <p:grpSpPr>
          <a:xfrm>
            <a:off x="7481689" y="5994400"/>
            <a:ext cx="546101" cy="536006"/>
            <a:chOff x="0" y="0"/>
            <a:chExt cx="546100" cy="536005"/>
          </a:xfrm>
        </p:grpSpPr>
        <p:sp>
          <p:nvSpPr>
            <p:cNvPr id="609" name="Shape 609"/>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10" name="Shape 610"/>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12" name="LB-orange1.png"/>
          <p:cNvPicPr>
            <a:picLocks noChangeAspect="1"/>
          </p:cNvPicPr>
          <p:nvPr/>
        </p:nvPicPr>
        <p:blipFill>
          <a:blip r:embed="rId3">
            <a:extLst/>
          </a:blip>
          <a:stretch>
            <a:fillRect/>
          </a:stretch>
        </p:blipFill>
        <p:spPr>
          <a:xfrm rot="14067737">
            <a:off x="1757962" y="6109988"/>
            <a:ext cx="1270001" cy="1146185"/>
          </a:xfrm>
          <a:prstGeom prst="rect">
            <a:avLst/>
          </a:prstGeom>
          <a:ln w="12700">
            <a:miter lim="400000"/>
          </a:ln>
        </p:spPr>
      </p:pic>
      <p:grpSp>
        <p:nvGrpSpPr>
          <p:cNvPr id="615" name="Group 615"/>
          <p:cNvGrpSpPr/>
          <p:nvPr/>
        </p:nvGrpSpPr>
        <p:grpSpPr>
          <a:xfrm>
            <a:off x="2007989" y="6578600"/>
            <a:ext cx="533400" cy="490366"/>
            <a:chOff x="0" y="0"/>
            <a:chExt cx="533399" cy="490365"/>
          </a:xfrm>
        </p:grpSpPr>
        <p:sp>
          <p:nvSpPr>
            <p:cNvPr id="613" name="Shape 613"/>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14" name="Shape 614"/>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16" name="LB-orange1.png"/>
          <p:cNvPicPr>
            <a:picLocks noChangeAspect="1"/>
          </p:cNvPicPr>
          <p:nvPr/>
        </p:nvPicPr>
        <p:blipFill>
          <a:blip r:embed="rId3">
            <a:extLst/>
          </a:blip>
          <a:stretch>
            <a:fillRect/>
          </a:stretch>
        </p:blipFill>
        <p:spPr>
          <a:xfrm rot="14067737">
            <a:off x="1364262" y="7303789"/>
            <a:ext cx="1270001" cy="1146185"/>
          </a:xfrm>
          <a:prstGeom prst="rect">
            <a:avLst/>
          </a:prstGeom>
          <a:ln w="12700">
            <a:miter lim="400000"/>
          </a:ln>
        </p:spPr>
      </p:pic>
      <p:grpSp>
        <p:nvGrpSpPr>
          <p:cNvPr id="619" name="Group 619"/>
          <p:cNvGrpSpPr/>
          <p:nvPr/>
        </p:nvGrpSpPr>
        <p:grpSpPr>
          <a:xfrm>
            <a:off x="1614289" y="7772400"/>
            <a:ext cx="533400" cy="490366"/>
            <a:chOff x="0" y="0"/>
            <a:chExt cx="533399" cy="490365"/>
          </a:xfrm>
        </p:grpSpPr>
        <p:sp>
          <p:nvSpPr>
            <p:cNvPr id="617" name="Shape 617"/>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18" name="Shape 618"/>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20" name="LB-drab1.png"/>
          <p:cNvPicPr>
            <a:picLocks noChangeAspect="1"/>
          </p:cNvPicPr>
          <p:nvPr/>
        </p:nvPicPr>
        <p:blipFill>
          <a:blip r:embed="rId4">
            <a:extLst/>
          </a:blip>
          <a:stretch>
            <a:fillRect/>
          </a:stretch>
        </p:blipFill>
        <p:spPr>
          <a:xfrm rot="20921404">
            <a:off x="2763153" y="5379638"/>
            <a:ext cx="1270001" cy="1163484"/>
          </a:xfrm>
          <a:prstGeom prst="rect">
            <a:avLst/>
          </a:prstGeom>
          <a:ln w="12700">
            <a:miter lim="400000"/>
          </a:ln>
        </p:spPr>
      </p:pic>
      <p:grpSp>
        <p:nvGrpSpPr>
          <p:cNvPr id="623" name="Group 623"/>
          <p:cNvGrpSpPr/>
          <p:nvPr/>
        </p:nvGrpSpPr>
        <p:grpSpPr>
          <a:xfrm>
            <a:off x="3125589" y="5524500"/>
            <a:ext cx="533400" cy="477666"/>
            <a:chOff x="0" y="0"/>
            <a:chExt cx="533399" cy="477665"/>
          </a:xfrm>
        </p:grpSpPr>
        <p:sp>
          <p:nvSpPr>
            <p:cNvPr id="621" name="Shape 621"/>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22" name="Shape 622"/>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24" name="LB-drab1.png"/>
          <p:cNvPicPr>
            <a:picLocks noChangeAspect="1"/>
          </p:cNvPicPr>
          <p:nvPr/>
        </p:nvPicPr>
        <p:blipFill>
          <a:blip r:embed="rId4">
            <a:extLst/>
          </a:blip>
          <a:stretch>
            <a:fillRect/>
          </a:stretch>
        </p:blipFill>
        <p:spPr>
          <a:xfrm rot="20921404">
            <a:off x="2763153" y="7691038"/>
            <a:ext cx="1270001" cy="1163484"/>
          </a:xfrm>
          <a:prstGeom prst="rect">
            <a:avLst/>
          </a:prstGeom>
          <a:ln w="12700">
            <a:miter lim="400000"/>
          </a:ln>
        </p:spPr>
      </p:pic>
      <p:grpSp>
        <p:nvGrpSpPr>
          <p:cNvPr id="627" name="Group 627"/>
          <p:cNvGrpSpPr/>
          <p:nvPr/>
        </p:nvGrpSpPr>
        <p:grpSpPr>
          <a:xfrm>
            <a:off x="3138289" y="7835900"/>
            <a:ext cx="520700" cy="477666"/>
            <a:chOff x="0" y="0"/>
            <a:chExt cx="520699" cy="477665"/>
          </a:xfrm>
        </p:grpSpPr>
        <p:sp>
          <p:nvSpPr>
            <p:cNvPr id="625" name="Shape 625"/>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26" name="Shape 626"/>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28" name="LB-orange1.png"/>
          <p:cNvPicPr>
            <a:picLocks noChangeAspect="1"/>
          </p:cNvPicPr>
          <p:nvPr/>
        </p:nvPicPr>
        <p:blipFill>
          <a:blip r:embed="rId3">
            <a:extLst/>
          </a:blip>
          <a:stretch>
            <a:fillRect/>
          </a:stretch>
        </p:blipFill>
        <p:spPr>
          <a:xfrm rot="14067737">
            <a:off x="5529862" y="5398788"/>
            <a:ext cx="1270001" cy="1146185"/>
          </a:xfrm>
          <a:prstGeom prst="rect">
            <a:avLst/>
          </a:prstGeom>
          <a:ln w="12700">
            <a:miter lim="400000"/>
          </a:ln>
        </p:spPr>
      </p:pic>
      <p:grpSp>
        <p:nvGrpSpPr>
          <p:cNvPr id="631" name="Group 631"/>
          <p:cNvGrpSpPr/>
          <p:nvPr/>
        </p:nvGrpSpPr>
        <p:grpSpPr>
          <a:xfrm>
            <a:off x="5779889" y="5867400"/>
            <a:ext cx="533400" cy="490366"/>
            <a:chOff x="0" y="0"/>
            <a:chExt cx="533399" cy="490365"/>
          </a:xfrm>
        </p:grpSpPr>
        <p:sp>
          <p:nvSpPr>
            <p:cNvPr id="629" name="Shape 629"/>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30" name="Shape 630"/>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32" name="LB-orange1.png"/>
          <p:cNvPicPr>
            <a:picLocks noChangeAspect="1"/>
          </p:cNvPicPr>
          <p:nvPr/>
        </p:nvPicPr>
        <p:blipFill>
          <a:blip r:embed="rId3">
            <a:extLst/>
          </a:blip>
          <a:stretch>
            <a:fillRect/>
          </a:stretch>
        </p:blipFill>
        <p:spPr>
          <a:xfrm rot="11783372">
            <a:off x="5136162" y="6592587"/>
            <a:ext cx="1270001" cy="1146185"/>
          </a:xfrm>
          <a:prstGeom prst="rect">
            <a:avLst/>
          </a:prstGeom>
          <a:ln w="12700">
            <a:miter lim="400000"/>
          </a:ln>
        </p:spPr>
      </p:pic>
      <p:grpSp>
        <p:nvGrpSpPr>
          <p:cNvPr id="635" name="Group 635"/>
          <p:cNvGrpSpPr/>
          <p:nvPr/>
        </p:nvGrpSpPr>
        <p:grpSpPr>
          <a:xfrm>
            <a:off x="5386189" y="7061200"/>
            <a:ext cx="533400" cy="490366"/>
            <a:chOff x="0" y="0"/>
            <a:chExt cx="533399" cy="490365"/>
          </a:xfrm>
        </p:grpSpPr>
        <p:sp>
          <p:nvSpPr>
            <p:cNvPr id="633" name="Shape 633"/>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34" name="Shape 634"/>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36" name="LB-orange1.png"/>
          <p:cNvPicPr>
            <a:picLocks noChangeAspect="1"/>
          </p:cNvPicPr>
          <p:nvPr/>
        </p:nvPicPr>
        <p:blipFill>
          <a:blip r:embed="rId3">
            <a:extLst/>
          </a:blip>
          <a:stretch>
            <a:fillRect/>
          </a:stretch>
        </p:blipFill>
        <p:spPr>
          <a:xfrm rot="18004116">
            <a:off x="4348762" y="5513088"/>
            <a:ext cx="1270001" cy="1146185"/>
          </a:xfrm>
          <a:prstGeom prst="rect">
            <a:avLst/>
          </a:prstGeom>
          <a:ln w="12700">
            <a:miter lim="400000"/>
          </a:ln>
        </p:spPr>
      </p:pic>
      <p:grpSp>
        <p:nvGrpSpPr>
          <p:cNvPr id="639" name="Group 639"/>
          <p:cNvGrpSpPr/>
          <p:nvPr/>
        </p:nvGrpSpPr>
        <p:grpSpPr>
          <a:xfrm>
            <a:off x="4598789" y="5765800"/>
            <a:ext cx="533400" cy="490366"/>
            <a:chOff x="0" y="0"/>
            <a:chExt cx="533399" cy="490365"/>
          </a:xfrm>
        </p:grpSpPr>
        <p:sp>
          <p:nvSpPr>
            <p:cNvPr id="637" name="Shape 637"/>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38" name="Shape 638"/>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40" name="LB-orange1.png"/>
          <p:cNvPicPr>
            <a:picLocks noChangeAspect="1"/>
          </p:cNvPicPr>
          <p:nvPr/>
        </p:nvPicPr>
        <p:blipFill>
          <a:blip r:embed="rId3">
            <a:extLst/>
          </a:blip>
          <a:stretch>
            <a:fillRect/>
          </a:stretch>
        </p:blipFill>
        <p:spPr>
          <a:xfrm rot="19742175">
            <a:off x="3967762" y="7926089"/>
            <a:ext cx="1270001" cy="1146185"/>
          </a:xfrm>
          <a:prstGeom prst="rect">
            <a:avLst/>
          </a:prstGeom>
          <a:ln w="12700">
            <a:miter lim="400000"/>
          </a:ln>
        </p:spPr>
      </p:pic>
      <p:grpSp>
        <p:nvGrpSpPr>
          <p:cNvPr id="643" name="Group 643"/>
          <p:cNvGrpSpPr/>
          <p:nvPr/>
        </p:nvGrpSpPr>
        <p:grpSpPr>
          <a:xfrm>
            <a:off x="4205089" y="8102600"/>
            <a:ext cx="533400" cy="490366"/>
            <a:chOff x="0" y="0"/>
            <a:chExt cx="533399" cy="490365"/>
          </a:xfrm>
        </p:grpSpPr>
        <p:sp>
          <p:nvSpPr>
            <p:cNvPr id="641" name="Shape 641"/>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42" name="Shape 642"/>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44" name="LB-red1.png"/>
          <p:cNvPicPr>
            <a:picLocks noChangeAspect="1"/>
          </p:cNvPicPr>
          <p:nvPr/>
        </p:nvPicPr>
        <p:blipFill>
          <a:blip r:embed="rId2">
            <a:extLst/>
          </a:blip>
          <a:stretch>
            <a:fillRect/>
          </a:stretch>
        </p:blipFill>
        <p:spPr>
          <a:xfrm rot="9056721">
            <a:off x="2931537" y="6438284"/>
            <a:ext cx="1270001" cy="1164842"/>
          </a:xfrm>
          <a:prstGeom prst="rect">
            <a:avLst/>
          </a:prstGeom>
          <a:ln w="12700">
            <a:miter lim="400000"/>
          </a:ln>
        </p:spPr>
      </p:pic>
      <p:grpSp>
        <p:nvGrpSpPr>
          <p:cNvPr id="647" name="Group 647"/>
          <p:cNvGrpSpPr/>
          <p:nvPr/>
        </p:nvGrpSpPr>
        <p:grpSpPr>
          <a:xfrm>
            <a:off x="3366889" y="6934200"/>
            <a:ext cx="558800" cy="536006"/>
            <a:chOff x="0" y="0"/>
            <a:chExt cx="558799" cy="536005"/>
          </a:xfrm>
        </p:grpSpPr>
        <p:sp>
          <p:nvSpPr>
            <p:cNvPr id="645" name="Shape 645"/>
            <p:cNvSpPr/>
            <p:nvPr/>
          </p:nvSpPr>
          <p:spPr>
            <a:xfrm>
              <a:off x="1127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46" name="Shape 646"/>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48" name="LB-red1.png"/>
          <p:cNvPicPr>
            <a:picLocks noChangeAspect="1"/>
          </p:cNvPicPr>
          <p:nvPr/>
        </p:nvPicPr>
        <p:blipFill>
          <a:blip r:embed="rId2">
            <a:extLst/>
          </a:blip>
          <a:stretch>
            <a:fillRect/>
          </a:stretch>
        </p:blipFill>
        <p:spPr>
          <a:xfrm rot="15093906">
            <a:off x="5649338" y="7924185"/>
            <a:ext cx="1270001" cy="1164842"/>
          </a:xfrm>
          <a:prstGeom prst="rect">
            <a:avLst/>
          </a:prstGeom>
          <a:ln w="12700">
            <a:miter lim="400000"/>
          </a:ln>
        </p:spPr>
      </p:pic>
      <p:grpSp>
        <p:nvGrpSpPr>
          <p:cNvPr id="651" name="Group 651"/>
          <p:cNvGrpSpPr/>
          <p:nvPr/>
        </p:nvGrpSpPr>
        <p:grpSpPr>
          <a:xfrm>
            <a:off x="5894189" y="8280400"/>
            <a:ext cx="546101" cy="536006"/>
            <a:chOff x="0" y="0"/>
            <a:chExt cx="546100" cy="536005"/>
          </a:xfrm>
        </p:grpSpPr>
        <p:sp>
          <p:nvSpPr>
            <p:cNvPr id="649" name="Shape 649"/>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50" name="Shape 650"/>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52" name="LB-red1.png"/>
          <p:cNvPicPr>
            <a:picLocks noChangeAspect="1"/>
          </p:cNvPicPr>
          <p:nvPr/>
        </p:nvPicPr>
        <p:blipFill>
          <a:blip r:embed="rId2">
            <a:extLst/>
          </a:blip>
          <a:stretch>
            <a:fillRect/>
          </a:stretch>
        </p:blipFill>
        <p:spPr>
          <a:xfrm rot="19467740">
            <a:off x="9472038" y="7924186"/>
            <a:ext cx="1270001" cy="1164842"/>
          </a:xfrm>
          <a:prstGeom prst="rect">
            <a:avLst/>
          </a:prstGeom>
          <a:ln w="12700">
            <a:miter lim="400000"/>
          </a:ln>
        </p:spPr>
      </p:pic>
      <p:grpSp>
        <p:nvGrpSpPr>
          <p:cNvPr id="655" name="Group 655"/>
          <p:cNvGrpSpPr/>
          <p:nvPr/>
        </p:nvGrpSpPr>
        <p:grpSpPr>
          <a:xfrm>
            <a:off x="9691489" y="8064500"/>
            <a:ext cx="546101" cy="536006"/>
            <a:chOff x="0" y="0"/>
            <a:chExt cx="546100" cy="536005"/>
          </a:xfrm>
        </p:grpSpPr>
        <p:sp>
          <p:nvSpPr>
            <p:cNvPr id="653" name="Shape 653"/>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54" name="Shape 654"/>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56" name="LB-red1.png"/>
          <p:cNvPicPr>
            <a:picLocks noChangeAspect="1"/>
          </p:cNvPicPr>
          <p:nvPr/>
        </p:nvPicPr>
        <p:blipFill>
          <a:blip r:embed="rId2">
            <a:extLst/>
          </a:blip>
          <a:stretch>
            <a:fillRect/>
          </a:stretch>
        </p:blipFill>
        <p:spPr>
          <a:xfrm rot="15093906">
            <a:off x="10589638" y="7289185"/>
            <a:ext cx="1270001" cy="1164842"/>
          </a:xfrm>
          <a:prstGeom prst="rect">
            <a:avLst/>
          </a:prstGeom>
          <a:ln w="12700">
            <a:miter lim="400000"/>
          </a:ln>
        </p:spPr>
      </p:pic>
      <p:grpSp>
        <p:nvGrpSpPr>
          <p:cNvPr id="659" name="Group 659"/>
          <p:cNvGrpSpPr/>
          <p:nvPr/>
        </p:nvGrpSpPr>
        <p:grpSpPr>
          <a:xfrm>
            <a:off x="10834489" y="7645400"/>
            <a:ext cx="546101" cy="548706"/>
            <a:chOff x="0" y="0"/>
            <a:chExt cx="546100" cy="548705"/>
          </a:xfrm>
        </p:grpSpPr>
        <p:sp>
          <p:nvSpPr>
            <p:cNvPr id="657" name="Shape 657"/>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58" name="Shape 658"/>
            <p:cNvSpPr/>
            <p:nvPr/>
          </p:nvSpPr>
          <p:spPr>
            <a:xfrm>
              <a:off x="0" y="1259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60" name="LB-drab1.png"/>
          <p:cNvPicPr>
            <a:picLocks noChangeAspect="1"/>
          </p:cNvPicPr>
          <p:nvPr/>
        </p:nvPicPr>
        <p:blipFill>
          <a:blip r:embed="rId4">
            <a:extLst/>
          </a:blip>
          <a:stretch>
            <a:fillRect/>
          </a:stretch>
        </p:blipFill>
        <p:spPr>
          <a:xfrm rot="20921404">
            <a:off x="6192153" y="6217838"/>
            <a:ext cx="1270001" cy="1163484"/>
          </a:xfrm>
          <a:prstGeom prst="rect">
            <a:avLst/>
          </a:prstGeom>
          <a:ln w="12700">
            <a:miter lim="400000"/>
          </a:ln>
        </p:spPr>
      </p:pic>
      <p:grpSp>
        <p:nvGrpSpPr>
          <p:cNvPr id="663" name="Group 663"/>
          <p:cNvGrpSpPr/>
          <p:nvPr/>
        </p:nvGrpSpPr>
        <p:grpSpPr>
          <a:xfrm>
            <a:off x="6554589" y="6362700"/>
            <a:ext cx="533400" cy="477666"/>
            <a:chOff x="0" y="0"/>
            <a:chExt cx="533399" cy="477665"/>
          </a:xfrm>
        </p:grpSpPr>
        <p:sp>
          <p:nvSpPr>
            <p:cNvPr id="661" name="Shape 661"/>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62" name="Shape 662"/>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64" name="LB-drab1.png"/>
          <p:cNvPicPr>
            <a:picLocks noChangeAspect="1"/>
          </p:cNvPicPr>
          <p:nvPr/>
        </p:nvPicPr>
        <p:blipFill>
          <a:blip r:embed="rId4">
            <a:extLst/>
          </a:blip>
          <a:stretch>
            <a:fillRect/>
          </a:stretch>
        </p:blipFill>
        <p:spPr>
          <a:xfrm rot="1342809">
            <a:off x="6662053" y="7284639"/>
            <a:ext cx="1270001" cy="1163484"/>
          </a:xfrm>
          <a:prstGeom prst="rect">
            <a:avLst/>
          </a:prstGeom>
          <a:ln w="12700">
            <a:miter lim="400000"/>
          </a:ln>
        </p:spPr>
      </p:pic>
      <p:grpSp>
        <p:nvGrpSpPr>
          <p:cNvPr id="667" name="Group 667"/>
          <p:cNvGrpSpPr/>
          <p:nvPr/>
        </p:nvGrpSpPr>
        <p:grpSpPr>
          <a:xfrm>
            <a:off x="7037189" y="7556500"/>
            <a:ext cx="520700" cy="477666"/>
            <a:chOff x="0" y="0"/>
            <a:chExt cx="520699" cy="477665"/>
          </a:xfrm>
        </p:grpSpPr>
        <p:sp>
          <p:nvSpPr>
            <p:cNvPr id="665" name="Shape 665"/>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66" name="Shape 666"/>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68" name="LB-drab1.png"/>
          <p:cNvPicPr>
            <a:picLocks noChangeAspect="1"/>
          </p:cNvPicPr>
          <p:nvPr/>
        </p:nvPicPr>
        <p:blipFill>
          <a:blip r:embed="rId4">
            <a:extLst/>
          </a:blip>
          <a:stretch>
            <a:fillRect/>
          </a:stretch>
        </p:blipFill>
        <p:spPr>
          <a:xfrm rot="19417306">
            <a:off x="8008255" y="7919638"/>
            <a:ext cx="1270001" cy="1163484"/>
          </a:xfrm>
          <a:prstGeom prst="rect">
            <a:avLst/>
          </a:prstGeom>
          <a:ln w="12700">
            <a:miter lim="400000"/>
          </a:ln>
        </p:spPr>
      </p:pic>
      <p:grpSp>
        <p:nvGrpSpPr>
          <p:cNvPr id="671" name="Group 671"/>
          <p:cNvGrpSpPr/>
          <p:nvPr/>
        </p:nvGrpSpPr>
        <p:grpSpPr>
          <a:xfrm>
            <a:off x="8269089" y="8064500"/>
            <a:ext cx="533400" cy="477666"/>
            <a:chOff x="0" y="0"/>
            <a:chExt cx="533399" cy="477665"/>
          </a:xfrm>
        </p:grpSpPr>
        <p:sp>
          <p:nvSpPr>
            <p:cNvPr id="669" name="Shape 669"/>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70" name="Shape 670"/>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72" name="LB-orange1.png"/>
          <p:cNvPicPr>
            <a:picLocks noChangeAspect="1"/>
          </p:cNvPicPr>
          <p:nvPr/>
        </p:nvPicPr>
        <p:blipFill>
          <a:blip r:embed="rId3">
            <a:extLst/>
          </a:blip>
          <a:stretch>
            <a:fillRect/>
          </a:stretch>
        </p:blipFill>
        <p:spPr>
          <a:xfrm rot="14067737">
            <a:off x="9555762" y="6452888"/>
            <a:ext cx="1270001" cy="1146185"/>
          </a:xfrm>
          <a:prstGeom prst="rect">
            <a:avLst/>
          </a:prstGeom>
          <a:ln w="12700">
            <a:miter lim="400000"/>
          </a:ln>
        </p:spPr>
      </p:pic>
      <p:grpSp>
        <p:nvGrpSpPr>
          <p:cNvPr id="675" name="Group 675"/>
          <p:cNvGrpSpPr/>
          <p:nvPr/>
        </p:nvGrpSpPr>
        <p:grpSpPr>
          <a:xfrm>
            <a:off x="9805789" y="6921500"/>
            <a:ext cx="533400" cy="490366"/>
            <a:chOff x="0" y="0"/>
            <a:chExt cx="533399" cy="490365"/>
          </a:xfrm>
        </p:grpSpPr>
        <p:sp>
          <p:nvSpPr>
            <p:cNvPr id="673" name="Shape 673"/>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74" name="Shape 674"/>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76" name="LB-orange1.png"/>
          <p:cNvPicPr>
            <a:picLocks noChangeAspect="1"/>
          </p:cNvPicPr>
          <p:nvPr/>
        </p:nvPicPr>
        <p:blipFill>
          <a:blip r:embed="rId3">
            <a:extLst/>
          </a:blip>
          <a:stretch>
            <a:fillRect/>
          </a:stretch>
        </p:blipFill>
        <p:spPr>
          <a:xfrm rot="9753169">
            <a:off x="7676163" y="6452886"/>
            <a:ext cx="1270001" cy="1146185"/>
          </a:xfrm>
          <a:prstGeom prst="rect">
            <a:avLst/>
          </a:prstGeom>
          <a:ln w="12700">
            <a:miter lim="400000"/>
          </a:ln>
        </p:spPr>
      </p:pic>
      <p:grpSp>
        <p:nvGrpSpPr>
          <p:cNvPr id="679" name="Group 679"/>
          <p:cNvGrpSpPr/>
          <p:nvPr/>
        </p:nvGrpSpPr>
        <p:grpSpPr>
          <a:xfrm>
            <a:off x="8040489" y="6883400"/>
            <a:ext cx="533400" cy="490366"/>
            <a:chOff x="0" y="0"/>
            <a:chExt cx="533399" cy="490365"/>
          </a:xfrm>
        </p:grpSpPr>
        <p:sp>
          <p:nvSpPr>
            <p:cNvPr id="677" name="Shape 677"/>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78" name="Shape 678"/>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80" name="LB-orange1.png"/>
          <p:cNvPicPr>
            <a:picLocks noChangeAspect="1"/>
          </p:cNvPicPr>
          <p:nvPr/>
        </p:nvPicPr>
        <p:blipFill>
          <a:blip r:embed="rId3">
            <a:extLst/>
          </a:blip>
          <a:stretch>
            <a:fillRect/>
          </a:stretch>
        </p:blipFill>
        <p:spPr>
          <a:xfrm rot="18004116">
            <a:off x="8755662" y="7037088"/>
            <a:ext cx="1270001" cy="1146185"/>
          </a:xfrm>
          <a:prstGeom prst="rect">
            <a:avLst/>
          </a:prstGeom>
          <a:ln w="12700">
            <a:miter lim="400000"/>
          </a:ln>
        </p:spPr>
      </p:pic>
      <p:grpSp>
        <p:nvGrpSpPr>
          <p:cNvPr id="683" name="Group 683"/>
          <p:cNvGrpSpPr/>
          <p:nvPr/>
        </p:nvGrpSpPr>
        <p:grpSpPr>
          <a:xfrm>
            <a:off x="9005689" y="7289800"/>
            <a:ext cx="533400" cy="490366"/>
            <a:chOff x="0" y="0"/>
            <a:chExt cx="533399" cy="490365"/>
          </a:xfrm>
        </p:grpSpPr>
        <p:sp>
          <p:nvSpPr>
            <p:cNvPr id="681" name="Shape 681"/>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82" name="Shape 682"/>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84" name="LB-orange1.png"/>
          <p:cNvPicPr>
            <a:picLocks noChangeAspect="1"/>
          </p:cNvPicPr>
          <p:nvPr/>
        </p:nvPicPr>
        <p:blipFill>
          <a:blip r:embed="rId3">
            <a:extLst/>
          </a:blip>
          <a:stretch>
            <a:fillRect/>
          </a:stretch>
        </p:blipFill>
        <p:spPr>
          <a:xfrm rot="19742175">
            <a:off x="7155462" y="8230889"/>
            <a:ext cx="1270001" cy="1146185"/>
          </a:xfrm>
          <a:prstGeom prst="rect">
            <a:avLst/>
          </a:prstGeom>
          <a:ln w="12700">
            <a:miter lim="400000"/>
          </a:ln>
        </p:spPr>
      </p:pic>
      <p:grpSp>
        <p:nvGrpSpPr>
          <p:cNvPr id="687" name="Group 687"/>
          <p:cNvGrpSpPr/>
          <p:nvPr/>
        </p:nvGrpSpPr>
        <p:grpSpPr>
          <a:xfrm>
            <a:off x="7392789" y="8407400"/>
            <a:ext cx="533400" cy="490366"/>
            <a:chOff x="0" y="0"/>
            <a:chExt cx="533399" cy="490365"/>
          </a:xfrm>
        </p:grpSpPr>
        <p:sp>
          <p:nvSpPr>
            <p:cNvPr id="685" name="Shape 685"/>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86" name="Shape 686"/>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88" name="LB-red1.png"/>
          <p:cNvPicPr>
            <a:picLocks noChangeAspect="1"/>
          </p:cNvPicPr>
          <p:nvPr/>
        </p:nvPicPr>
        <p:blipFill>
          <a:blip r:embed="rId2">
            <a:extLst/>
          </a:blip>
          <a:stretch>
            <a:fillRect/>
          </a:stretch>
        </p:blipFill>
        <p:spPr>
          <a:xfrm rot="5246173">
            <a:off x="7909937" y="5168285"/>
            <a:ext cx="1270001" cy="1164842"/>
          </a:xfrm>
          <a:prstGeom prst="rect">
            <a:avLst/>
          </a:prstGeom>
          <a:ln w="12700">
            <a:miter lim="400000"/>
          </a:ln>
        </p:spPr>
      </p:pic>
      <p:grpSp>
        <p:nvGrpSpPr>
          <p:cNvPr id="691" name="Group 691"/>
          <p:cNvGrpSpPr/>
          <p:nvPr/>
        </p:nvGrpSpPr>
        <p:grpSpPr>
          <a:xfrm>
            <a:off x="8484989" y="5524500"/>
            <a:ext cx="546101" cy="523306"/>
            <a:chOff x="0" y="0"/>
            <a:chExt cx="546100" cy="523305"/>
          </a:xfrm>
        </p:grpSpPr>
        <p:sp>
          <p:nvSpPr>
            <p:cNvPr id="689" name="Shape 689"/>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90" name="Shape 690"/>
            <p:cNvSpPr/>
            <p:nvPr/>
          </p:nvSpPr>
          <p:spPr>
            <a:xfrm>
              <a:off x="0" y="1005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92" name="LB-orange1.png"/>
          <p:cNvPicPr>
            <a:picLocks noChangeAspect="1"/>
          </p:cNvPicPr>
          <p:nvPr/>
        </p:nvPicPr>
        <p:blipFill>
          <a:blip r:embed="rId3">
            <a:extLst/>
          </a:blip>
          <a:stretch>
            <a:fillRect/>
          </a:stretch>
        </p:blipFill>
        <p:spPr>
          <a:xfrm rot="1262250">
            <a:off x="10584461" y="6021088"/>
            <a:ext cx="1270001" cy="1146185"/>
          </a:xfrm>
          <a:prstGeom prst="rect">
            <a:avLst/>
          </a:prstGeom>
          <a:ln w="12700">
            <a:miter lim="400000"/>
          </a:ln>
        </p:spPr>
      </p:pic>
      <p:grpSp>
        <p:nvGrpSpPr>
          <p:cNvPr id="695" name="Group 695"/>
          <p:cNvGrpSpPr/>
          <p:nvPr/>
        </p:nvGrpSpPr>
        <p:grpSpPr>
          <a:xfrm>
            <a:off x="10948789" y="6210300"/>
            <a:ext cx="533400" cy="477666"/>
            <a:chOff x="0" y="0"/>
            <a:chExt cx="533399" cy="477665"/>
          </a:xfrm>
        </p:grpSpPr>
        <p:sp>
          <p:nvSpPr>
            <p:cNvPr id="693" name="Shape 693"/>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94" name="Shape 694"/>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696" name="LB-orange1.png"/>
          <p:cNvPicPr>
            <a:picLocks noChangeAspect="1"/>
          </p:cNvPicPr>
          <p:nvPr/>
        </p:nvPicPr>
        <p:blipFill>
          <a:blip r:embed="rId3">
            <a:extLst/>
          </a:blip>
          <a:stretch>
            <a:fillRect/>
          </a:stretch>
        </p:blipFill>
        <p:spPr>
          <a:xfrm rot="9753169">
            <a:off x="9123963" y="5436886"/>
            <a:ext cx="1270001" cy="1146185"/>
          </a:xfrm>
          <a:prstGeom prst="rect">
            <a:avLst/>
          </a:prstGeom>
          <a:ln w="12700">
            <a:miter lim="400000"/>
          </a:ln>
        </p:spPr>
      </p:pic>
      <p:grpSp>
        <p:nvGrpSpPr>
          <p:cNvPr id="699" name="Group 699"/>
          <p:cNvGrpSpPr/>
          <p:nvPr/>
        </p:nvGrpSpPr>
        <p:grpSpPr>
          <a:xfrm>
            <a:off x="9488289" y="5867400"/>
            <a:ext cx="533400" cy="490366"/>
            <a:chOff x="0" y="0"/>
            <a:chExt cx="533399" cy="490365"/>
          </a:xfrm>
        </p:grpSpPr>
        <p:sp>
          <p:nvSpPr>
            <p:cNvPr id="697" name="Shape 697"/>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98" name="Shape 698"/>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00" name="LB-orange1.png"/>
          <p:cNvPicPr>
            <a:picLocks noChangeAspect="1"/>
          </p:cNvPicPr>
          <p:nvPr/>
        </p:nvPicPr>
        <p:blipFill>
          <a:blip r:embed="rId3">
            <a:extLst/>
          </a:blip>
          <a:stretch>
            <a:fillRect/>
          </a:stretch>
        </p:blipFill>
        <p:spPr>
          <a:xfrm rot="18004116">
            <a:off x="11397262" y="6719588"/>
            <a:ext cx="1270001" cy="1146185"/>
          </a:xfrm>
          <a:prstGeom prst="rect">
            <a:avLst/>
          </a:prstGeom>
          <a:ln w="12700">
            <a:miter lim="400000"/>
          </a:ln>
        </p:spPr>
      </p:pic>
      <p:grpSp>
        <p:nvGrpSpPr>
          <p:cNvPr id="703" name="Group 703"/>
          <p:cNvGrpSpPr/>
          <p:nvPr/>
        </p:nvGrpSpPr>
        <p:grpSpPr>
          <a:xfrm>
            <a:off x="11647289" y="6972300"/>
            <a:ext cx="533400" cy="490366"/>
            <a:chOff x="0" y="0"/>
            <a:chExt cx="533399" cy="490365"/>
          </a:xfrm>
        </p:grpSpPr>
        <p:sp>
          <p:nvSpPr>
            <p:cNvPr id="701" name="Shape 701"/>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02" name="Shape 702"/>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04" name="LB-red1.png"/>
          <p:cNvPicPr>
            <a:picLocks noChangeAspect="1"/>
          </p:cNvPicPr>
          <p:nvPr/>
        </p:nvPicPr>
        <p:blipFill>
          <a:blip r:embed="rId2">
            <a:extLst/>
          </a:blip>
          <a:stretch>
            <a:fillRect/>
          </a:stretch>
        </p:blipFill>
        <p:spPr>
          <a:xfrm rot="19467740">
            <a:off x="4239639" y="6704986"/>
            <a:ext cx="1270001" cy="1164842"/>
          </a:xfrm>
          <a:prstGeom prst="rect">
            <a:avLst/>
          </a:prstGeom>
          <a:ln w="12700">
            <a:miter lim="400000"/>
          </a:ln>
        </p:spPr>
      </p:pic>
      <p:grpSp>
        <p:nvGrpSpPr>
          <p:cNvPr id="707" name="Group 707"/>
          <p:cNvGrpSpPr/>
          <p:nvPr/>
        </p:nvGrpSpPr>
        <p:grpSpPr>
          <a:xfrm>
            <a:off x="4459089" y="6845300"/>
            <a:ext cx="546101" cy="536006"/>
            <a:chOff x="0" y="0"/>
            <a:chExt cx="546100" cy="536005"/>
          </a:xfrm>
        </p:grpSpPr>
        <p:sp>
          <p:nvSpPr>
            <p:cNvPr id="705" name="Shape 705"/>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06" name="Shape 706"/>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sp>
        <p:nvSpPr>
          <p:cNvPr id="708" name="Shape 708"/>
          <p:cNvSpPr/>
          <p:nvPr/>
        </p:nvSpPr>
        <p:spPr>
          <a:xfrm>
            <a:off x="6781800" y="2588071"/>
            <a:ext cx="601316"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gn="just">
              <a:lnSpc>
                <a:spcPts val="3100"/>
              </a:lnSpc>
              <a:tabLst>
                <a:tab pos="520700" algn="l"/>
              </a:tabLst>
              <a:defRPr sz="2400">
                <a:solidFill>
                  <a:srgbClr val="000000"/>
                </a:solidFill>
              </a:defRPr>
            </a:lvl1pPr>
          </a:lstStyle>
          <a:p>
            <a:r>
              <a:t>No.</a:t>
            </a:r>
          </a:p>
        </p:txBody>
      </p:sp>
      <p:sp>
        <p:nvSpPr>
          <p:cNvPr id="709" name="Shape 709"/>
          <p:cNvSpPr/>
          <p:nvPr/>
        </p:nvSpPr>
        <p:spPr>
          <a:xfrm>
            <a:off x="7073900" y="3360278"/>
            <a:ext cx="330263"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gn="just">
              <a:lnSpc>
                <a:spcPts val="2400"/>
              </a:lnSpc>
              <a:tabLst>
                <a:tab pos="520700" algn="l"/>
              </a:tabLst>
              <a:defRPr>
                <a:solidFill>
                  <a:srgbClr val="000000"/>
                </a:solidFill>
              </a:defRPr>
            </a:lvl1pPr>
          </a:lstStyle>
          <a:p>
            <a:r>
              <a:t>%</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0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0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60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60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2" grpId="1" build="p" bldLvl="5"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 name="Shape 711"/>
          <p:cNvSpPr/>
          <p:nvPr/>
        </p:nvSpPr>
        <p:spPr>
          <a:xfrm flipH="1">
            <a:off x="685800" y="5346700"/>
            <a:ext cx="11861800" cy="3924300"/>
          </a:xfrm>
          <a:prstGeom prst="ellipse">
            <a:avLst/>
          </a:prstGeom>
          <a:solidFill>
            <a:srgbClr val="C5E1ED"/>
          </a:solidFill>
          <a:ln w="25400">
            <a:solidFill>
              <a:srgbClr val="FFFFFF"/>
            </a:solidFill>
            <a:miter lim="400000"/>
          </a:ln>
        </p:spPr>
        <p:txBody>
          <a:bodyPr lIns="38100" tIns="38100" rIns="38100" bIns="38100" anchor="ctr"/>
          <a:lstStyle/>
          <a:p>
            <a:pPr>
              <a:lnSpc>
                <a:spcPts val="3400"/>
              </a:lnSpc>
              <a:tabLst>
                <a:tab pos="520700" algn="l"/>
              </a:tabLst>
              <a:defRPr sz="29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712" name="LB-drab1.png"/>
          <p:cNvPicPr>
            <a:picLocks noChangeAspect="1"/>
          </p:cNvPicPr>
          <p:nvPr/>
        </p:nvPicPr>
        <p:blipFill>
          <a:blip r:embed="rId2">
            <a:extLst/>
          </a:blip>
          <a:stretch>
            <a:fillRect/>
          </a:stretch>
        </p:blipFill>
        <p:spPr>
          <a:xfrm rot="20921404">
            <a:off x="2763153" y="7691038"/>
            <a:ext cx="1270001" cy="1163484"/>
          </a:xfrm>
          <a:prstGeom prst="rect">
            <a:avLst/>
          </a:prstGeom>
          <a:ln w="12700">
            <a:miter lim="400000"/>
          </a:ln>
        </p:spPr>
      </p:pic>
      <p:grpSp>
        <p:nvGrpSpPr>
          <p:cNvPr id="715" name="Group 715"/>
          <p:cNvGrpSpPr/>
          <p:nvPr/>
        </p:nvGrpSpPr>
        <p:grpSpPr>
          <a:xfrm>
            <a:off x="3138289" y="7912100"/>
            <a:ext cx="520700" cy="477666"/>
            <a:chOff x="0" y="0"/>
            <a:chExt cx="520699" cy="477665"/>
          </a:xfrm>
        </p:grpSpPr>
        <p:sp>
          <p:nvSpPr>
            <p:cNvPr id="713" name="Shape 713"/>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14" name="Shape 714"/>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16" name="LB-drab1.png"/>
          <p:cNvPicPr>
            <a:picLocks noChangeAspect="1"/>
          </p:cNvPicPr>
          <p:nvPr/>
        </p:nvPicPr>
        <p:blipFill>
          <a:blip r:embed="rId2">
            <a:extLst/>
          </a:blip>
          <a:stretch>
            <a:fillRect/>
          </a:stretch>
        </p:blipFill>
        <p:spPr>
          <a:xfrm rot="20921404">
            <a:off x="2534553" y="5379638"/>
            <a:ext cx="1270001" cy="1163484"/>
          </a:xfrm>
          <a:prstGeom prst="rect">
            <a:avLst/>
          </a:prstGeom>
          <a:ln w="12700">
            <a:miter lim="400000"/>
          </a:ln>
        </p:spPr>
      </p:pic>
      <p:grpSp>
        <p:nvGrpSpPr>
          <p:cNvPr id="719" name="Group 719"/>
          <p:cNvGrpSpPr/>
          <p:nvPr/>
        </p:nvGrpSpPr>
        <p:grpSpPr>
          <a:xfrm>
            <a:off x="2896989" y="5524500"/>
            <a:ext cx="533400" cy="477666"/>
            <a:chOff x="0" y="0"/>
            <a:chExt cx="533399" cy="477665"/>
          </a:xfrm>
        </p:grpSpPr>
        <p:sp>
          <p:nvSpPr>
            <p:cNvPr id="717" name="Shape 717"/>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18" name="Shape 718"/>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sp>
        <p:nvSpPr>
          <p:cNvPr id="720" name="Shape 720"/>
          <p:cNvSpPr>
            <a:spLocks noGrp="1"/>
          </p:cNvSpPr>
          <p:nvPr>
            <p:ph type="title"/>
          </p:nvPr>
        </p:nvSpPr>
        <p:spPr>
          <a:prstGeom prst="rect">
            <a:avLst/>
          </a:prstGeom>
        </p:spPr>
        <p:txBody>
          <a:bodyPr/>
          <a:lstStyle>
            <a:lvl1pPr>
              <a:tabLst>
                <a:tab pos="952500" algn="l"/>
              </a:tabLst>
            </a:lvl1pPr>
          </a:lstStyle>
          <a:p>
            <a:r>
              <a:t>Changes in a Gene Pool 2</a:t>
            </a:r>
          </a:p>
        </p:txBody>
      </p:sp>
      <p:sp>
        <p:nvSpPr>
          <p:cNvPr id="721" name="Shape 721"/>
          <p:cNvSpPr/>
          <p:nvPr/>
        </p:nvSpPr>
        <p:spPr>
          <a:xfrm>
            <a:off x="6667500" y="2562671"/>
            <a:ext cx="601316"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3100"/>
              </a:lnSpc>
              <a:tabLst>
                <a:tab pos="520700" algn="l"/>
              </a:tabLst>
              <a:defRPr sz="2400">
                <a:solidFill>
                  <a:srgbClr val="000000"/>
                </a:solidFill>
              </a:defRPr>
            </a:lvl1pPr>
          </a:lstStyle>
          <a:p>
            <a:r>
              <a:t>No.</a:t>
            </a:r>
          </a:p>
        </p:txBody>
      </p:sp>
      <p:sp>
        <p:nvSpPr>
          <p:cNvPr id="722" name="Shape 722"/>
          <p:cNvSpPr/>
          <p:nvPr/>
        </p:nvSpPr>
        <p:spPr>
          <a:xfrm>
            <a:off x="6972300" y="3334878"/>
            <a:ext cx="330263"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a:solidFill>
                  <a:srgbClr val="000000"/>
                </a:solidFill>
              </a:defRPr>
            </a:lvl1pPr>
          </a:lstStyle>
          <a:p>
            <a:r>
              <a:t>%</a:t>
            </a:r>
          </a:p>
        </p:txBody>
      </p:sp>
      <p:sp>
        <p:nvSpPr>
          <p:cNvPr id="723" name="Shape 723"/>
          <p:cNvSpPr/>
          <p:nvPr/>
        </p:nvSpPr>
        <p:spPr>
          <a:xfrm>
            <a:off x="7620000" y="4261978"/>
            <a:ext cx="129600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i="1">
                <a:solidFill>
                  <a:srgbClr val="201B17"/>
                </a:solidFill>
              </a:defRPr>
            </a:lvl1pPr>
          </a:lstStyle>
          <a:p>
            <a:pPr>
              <a:defRPr i="0">
                <a:solidFill>
                  <a:srgbClr val="000000"/>
                </a:solidFill>
              </a:defRPr>
            </a:pPr>
            <a:r>
              <a:rPr i="1">
                <a:solidFill>
                  <a:srgbClr val="201B17"/>
                </a:solidFill>
              </a:rPr>
              <a:t>Allele types</a:t>
            </a:r>
          </a:p>
        </p:txBody>
      </p:sp>
      <p:sp>
        <p:nvSpPr>
          <p:cNvPr id="724" name="Shape 724"/>
          <p:cNvSpPr/>
          <p:nvPr/>
        </p:nvSpPr>
        <p:spPr>
          <a:xfrm>
            <a:off x="9652000" y="4261978"/>
            <a:ext cx="2096555"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i="1">
                <a:solidFill>
                  <a:srgbClr val="201B17"/>
                </a:solidFill>
              </a:defRPr>
            </a:lvl1pPr>
          </a:lstStyle>
          <a:p>
            <a:pPr>
              <a:defRPr i="0">
                <a:solidFill>
                  <a:srgbClr val="000000"/>
                </a:solidFill>
              </a:defRPr>
            </a:pPr>
            <a:r>
              <a:rPr i="1">
                <a:solidFill>
                  <a:srgbClr val="201B17"/>
                </a:solidFill>
              </a:rPr>
              <a:t>Allele combinations</a:t>
            </a:r>
          </a:p>
        </p:txBody>
      </p:sp>
      <p:graphicFrame>
        <p:nvGraphicFramePr>
          <p:cNvPr id="725" name="Table 725"/>
          <p:cNvGraphicFramePr/>
          <p:nvPr/>
        </p:nvGraphicFramePr>
        <p:xfrm>
          <a:off x="7429500" y="1790700"/>
          <a:ext cx="4724396" cy="1892298"/>
        </p:xfrm>
        <a:graphic>
          <a:graphicData uri="http://schemas.openxmlformats.org/drawingml/2006/table">
            <a:tbl>
              <a:tblPr>
                <a:tableStyleId>{8F44A2F1-9E1F-4B54-A3A2-5F16C0AD49E2}</a:tableStyleId>
              </a:tblPr>
              <a:tblGrid>
                <a:gridCol w="944879">
                  <a:extLst>
                    <a:ext uri="{9D8B030D-6E8A-4147-A177-3AD203B41FA5}">
                      <a16:colId xmlns:a16="http://schemas.microsoft.com/office/drawing/2014/main" val="20000"/>
                    </a:ext>
                  </a:extLst>
                </a:gridCol>
                <a:gridCol w="944879">
                  <a:extLst>
                    <a:ext uri="{9D8B030D-6E8A-4147-A177-3AD203B41FA5}">
                      <a16:colId xmlns:a16="http://schemas.microsoft.com/office/drawing/2014/main" val="20001"/>
                    </a:ext>
                  </a:extLst>
                </a:gridCol>
                <a:gridCol w="944879">
                  <a:extLst>
                    <a:ext uri="{9D8B030D-6E8A-4147-A177-3AD203B41FA5}">
                      <a16:colId xmlns:a16="http://schemas.microsoft.com/office/drawing/2014/main" val="20002"/>
                    </a:ext>
                  </a:extLst>
                </a:gridCol>
                <a:gridCol w="944879">
                  <a:extLst>
                    <a:ext uri="{9D8B030D-6E8A-4147-A177-3AD203B41FA5}">
                      <a16:colId xmlns:a16="http://schemas.microsoft.com/office/drawing/2014/main" val="20003"/>
                    </a:ext>
                  </a:extLst>
                </a:gridCol>
                <a:gridCol w="944880">
                  <a:extLst>
                    <a:ext uri="{9D8B030D-6E8A-4147-A177-3AD203B41FA5}">
                      <a16:colId xmlns:a16="http://schemas.microsoft.com/office/drawing/2014/main" val="20004"/>
                    </a:ext>
                  </a:extLst>
                </a:gridCol>
              </a:tblGrid>
              <a:tr h="630766">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994"/>
                    </a:solidFill>
                  </a:tcPr>
                </a:tc>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t>
                      </a:r>
                    </a:p>
                  </a:txBody>
                  <a:tcPr marL="0" marR="0" marT="0" marB="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006994"/>
                    </a:solidFill>
                  </a:tcPr>
                </a:tc>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a:t>
                      </a:r>
                    </a:p>
                  </a:txBody>
                  <a:tcPr marL="0" marR="0" marT="0" marB="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994"/>
                    </a:solidFill>
                  </a:tcPr>
                </a:tc>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994"/>
                    </a:solidFill>
                  </a:tcPr>
                </a:tc>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994"/>
                    </a:solidFill>
                  </a:tcPr>
                </a:tc>
                <a:extLst>
                  <a:ext uri="{0D108BD9-81ED-4DB2-BD59-A6C34878D82A}">
                    <a16:rowId xmlns:a16="http://schemas.microsoft.com/office/drawing/2014/main" val="10000"/>
                  </a:ext>
                </a:extLst>
              </a:tr>
              <a:tr h="630766">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27</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19</a:t>
                      </a:r>
                    </a:p>
                  </a:txBody>
                  <a:tcPr marL="0" marR="0" marT="0" marB="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7</a:t>
                      </a:r>
                    </a:p>
                  </a:txBody>
                  <a:tcPr marL="0" marR="0" marT="0" marB="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13</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3</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1"/>
                  </a:ext>
                </a:extLst>
              </a:tr>
              <a:tr h="630766">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58.7</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41.3</a:t>
                      </a:r>
                    </a:p>
                  </a:txBody>
                  <a:tcPr marL="0" marR="0" marT="0" marB="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30.4</a:t>
                      </a:r>
                    </a:p>
                  </a:txBody>
                  <a:tcPr marL="0" marR="0" marT="0" marB="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56.5</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13</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2"/>
                  </a:ext>
                </a:extLst>
              </a:tr>
            </a:tbl>
          </a:graphicData>
        </a:graphic>
      </p:graphicFrame>
      <p:sp>
        <p:nvSpPr>
          <p:cNvPr id="726" name="Shape 726"/>
          <p:cNvSpPr/>
          <p:nvPr/>
        </p:nvSpPr>
        <p:spPr>
          <a:xfrm>
            <a:off x="7446433" y="3839633"/>
            <a:ext cx="1803401" cy="176401"/>
          </a:xfrm>
          <a:custGeom>
            <a:avLst/>
            <a:gdLst/>
            <a:ahLst/>
            <a:cxnLst>
              <a:cxn ang="0">
                <a:pos x="wd2" y="hd2"/>
              </a:cxn>
              <a:cxn ang="5400000">
                <a:pos x="wd2" y="hd2"/>
              </a:cxn>
              <a:cxn ang="10800000">
                <a:pos x="wd2" y="hd2"/>
              </a:cxn>
              <a:cxn ang="16200000">
                <a:pos x="wd2" y="hd2"/>
              </a:cxn>
            </a:cxnLst>
            <a:rect l="0" t="0" r="r" b="b"/>
            <a:pathLst>
              <a:path w="21600" h="21600" extrusionOk="0">
                <a:moveTo>
                  <a:pt x="0" y="460"/>
                </a:moveTo>
                <a:lnTo>
                  <a:pt x="0" y="21600"/>
                </a:lnTo>
                <a:lnTo>
                  <a:pt x="21600" y="21370"/>
                </a:lnTo>
                <a:lnTo>
                  <a:pt x="21600" y="0"/>
                </a:lnTo>
              </a:path>
            </a:pathLst>
          </a:custGeom>
          <a:ln w="254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27" name="Shape 727"/>
          <p:cNvSpPr/>
          <p:nvPr/>
        </p:nvSpPr>
        <p:spPr>
          <a:xfrm>
            <a:off x="9351433" y="3839633"/>
            <a:ext cx="2781301" cy="177801"/>
          </a:xfrm>
          <a:custGeom>
            <a:avLst/>
            <a:gdLst/>
            <a:ahLst/>
            <a:cxnLst>
              <a:cxn ang="0">
                <a:pos x="wd2" y="hd2"/>
              </a:cxn>
              <a:cxn ang="5400000">
                <a:pos x="wd2" y="hd2"/>
              </a:cxn>
              <a:cxn ang="10800000">
                <a:pos x="wd2" y="hd2"/>
              </a:cxn>
              <a:cxn ang="16200000">
                <a:pos x="wd2" y="hd2"/>
              </a:cxn>
            </a:cxnLst>
            <a:rect l="0" t="0" r="r" b="b"/>
            <a:pathLst>
              <a:path w="21600" h="21600" extrusionOk="0">
                <a:moveTo>
                  <a:pt x="0" y="460"/>
                </a:moveTo>
                <a:lnTo>
                  <a:pt x="0" y="21600"/>
                </a:lnTo>
                <a:lnTo>
                  <a:pt x="21600" y="21370"/>
                </a:lnTo>
                <a:lnTo>
                  <a:pt x="21600" y="0"/>
                </a:lnTo>
              </a:path>
            </a:pathLst>
          </a:custGeom>
          <a:ln w="254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735" name="Group 735"/>
          <p:cNvGrpSpPr/>
          <p:nvPr/>
        </p:nvGrpSpPr>
        <p:grpSpPr>
          <a:xfrm>
            <a:off x="2644775" y="7534275"/>
            <a:ext cx="1524001" cy="1516829"/>
            <a:chOff x="0" y="0"/>
            <a:chExt cx="1524000" cy="1516828"/>
          </a:xfrm>
        </p:grpSpPr>
        <p:sp>
          <p:nvSpPr>
            <p:cNvPr id="728" name="Shape 728"/>
            <p:cNvSpPr/>
            <p:nvPr/>
          </p:nvSpPr>
          <p:spPr>
            <a:xfrm flipH="1" flipV="1">
              <a:off x="132677" y="311971"/>
              <a:ext cx="301215" cy="207982"/>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729" name="Shape 729"/>
            <p:cNvSpPr/>
            <p:nvPr/>
          </p:nvSpPr>
          <p:spPr>
            <a:xfrm flipH="1">
              <a:off x="0" y="817581"/>
              <a:ext cx="372932" cy="64546"/>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730" name="Shape 730"/>
            <p:cNvSpPr/>
            <p:nvPr/>
          </p:nvSpPr>
          <p:spPr>
            <a:xfrm>
              <a:off x="824752" y="1151068"/>
              <a:ext cx="60961" cy="365761"/>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731" name="Shape 731"/>
            <p:cNvSpPr/>
            <p:nvPr/>
          </p:nvSpPr>
          <p:spPr>
            <a:xfrm>
              <a:off x="1054249" y="964602"/>
              <a:ext cx="301215" cy="215154"/>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732" name="Shape 732"/>
            <p:cNvSpPr/>
            <p:nvPr/>
          </p:nvSpPr>
          <p:spPr>
            <a:xfrm flipV="1">
              <a:off x="1151068" y="634701"/>
              <a:ext cx="372933" cy="57375"/>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733" name="Shape 733"/>
            <p:cNvSpPr/>
            <p:nvPr/>
          </p:nvSpPr>
          <p:spPr>
            <a:xfrm flipV="1">
              <a:off x="1004047" y="129091"/>
              <a:ext cx="215154" cy="290457"/>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734" name="Shape 734"/>
            <p:cNvSpPr/>
            <p:nvPr/>
          </p:nvSpPr>
          <p:spPr>
            <a:xfrm flipH="1" flipV="1">
              <a:off x="641873" y="0"/>
              <a:ext cx="60961" cy="362175"/>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736" name="Shape 736"/>
          <p:cNvSpPr/>
          <p:nvPr/>
        </p:nvSpPr>
        <p:spPr>
          <a:xfrm>
            <a:off x="1422400" y="4160378"/>
            <a:ext cx="4686300" cy="538623"/>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nSpc>
                <a:spcPts val="2200"/>
              </a:lnSpc>
              <a:tabLst>
                <a:tab pos="520700" algn="l"/>
              </a:tabLst>
              <a:defRPr>
                <a:solidFill>
                  <a:srgbClr val="000000"/>
                </a:solidFill>
              </a:defRPr>
            </a:lvl1pPr>
          </a:lstStyle>
          <a:p>
            <a:r>
              <a:t>Two pale individuals died and therefore their alleles are removed from the gene pool</a:t>
            </a:r>
          </a:p>
        </p:txBody>
      </p:sp>
      <p:sp>
        <p:nvSpPr>
          <p:cNvPr id="737" name="Shape 737"/>
          <p:cNvSpPr/>
          <p:nvPr/>
        </p:nvSpPr>
        <p:spPr>
          <a:xfrm>
            <a:off x="1981175" y="4852711"/>
            <a:ext cx="990601" cy="800101"/>
          </a:xfrm>
          <a:custGeom>
            <a:avLst/>
            <a:gdLst/>
            <a:ahLst/>
            <a:cxnLst>
              <a:cxn ang="0">
                <a:pos x="wd2" y="hd2"/>
              </a:cxn>
              <a:cxn ang="5400000">
                <a:pos x="wd2" y="hd2"/>
              </a:cxn>
              <a:cxn ang="10800000">
                <a:pos x="wd2" y="hd2"/>
              </a:cxn>
              <a:cxn ang="16200000">
                <a:pos x="wd2" y="hd2"/>
              </a:cxn>
            </a:cxnLst>
            <a:rect l="0" t="0" r="r" b="b"/>
            <a:pathLst>
              <a:path w="20216" h="21551" extrusionOk="0">
                <a:moveTo>
                  <a:pt x="146" y="0"/>
                </a:moveTo>
                <a:cubicBezTo>
                  <a:pt x="-1384" y="5951"/>
                  <a:pt x="9432" y="21600"/>
                  <a:pt x="17128" y="21476"/>
                </a:cubicBezTo>
                <a:lnTo>
                  <a:pt x="20216" y="21551"/>
                </a:lnTo>
              </a:path>
            </a:pathLst>
          </a:custGeom>
          <a:ln w="25400">
            <a:solidFill>
              <a:srgbClr val="006994"/>
            </a:solidFill>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38" name="Shape 738"/>
          <p:cNvSpPr/>
          <p:nvPr/>
        </p:nvSpPr>
        <p:spPr>
          <a:xfrm>
            <a:off x="1142778" y="4859866"/>
            <a:ext cx="2179353" cy="3052142"/>
          </a:xfrm>
          <a:custGeom>
            <a:avLst/>
            <a:gdLst/>
            <a:ahLst/>
            <a:cxnLst>
              <a:cxn ang="0">
                <a:pos x="wd2" y="hd2"/>
              </a:cxn>
              <a:cxn ang="5400000">
                <a:pos x="wd2" y="hd2"/>
              </a:cxn>
              <a:cxn ang="10800000">
                <a:pos x="wd2" y="hd2"/>
              </a:cxn>
              <a:cxn ang="16200000">
                <a:pos x="wd2" y="hd2"/>
              </a:cxn>
            </a:cxnLst>
            <a:rect l="0" t="0" r="r" b="b"/>
            <a:pathLst>
              <a:path w="13821" h="21600" extrusionOk="0">
                <a:moveTo>
                  <a:pt x="5346" y="0"/>
                </a:moveTo>
                <a:cubicBezTo>
                  <a:pt x="1709" y="3715"/>
                  <a:pt x="-7779" y="15076"/>
                  <a:pt x="12968" y="21331"/>
                </a:cubicBezTo>
                <a:lnTo>
                  <a:pt x="13821" y="21600"/>
                </a:lnTo>
              </a:path>
            </a:pathLst>
          </a:custGeom>
          <a:ln w="25400">
            <a:solidFill>
              <a:srgbClr val="006994"/>
            </a:solidFill>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746" name="Group 746"/>
          <p:cNvGrpSpPr/>
          <p:nvPr/>
        </p:nvGrpSpPr>
        <p:grpSpPr>
          <a:xfrm>
            <a:off x="2289175" y="4968875"/>
            <a:ext cx="1778000" cy="1769633"/>
            <a:chOff x="0" y="0"/>
            <a:chExt cx="1778000" cy="1769632"/>
          </a:xfrm>
        </p:grpSpPr>
        <p:sp>
          <p:nvSpPr>
            <p:cNvPr id="739" name="Shape 739"/>
            <p:cNvSpPr/>
            <p:nvPr/>
          </p:nvSpPr>
          <p:spPr>
            <a:xfrm flipH="1" flipV="1">
              <a:off x="154790" y="363967"/>
              <a:ext cx="351417" cy="242646"/>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740" name="Shape 740"/>
            <p:cNvSpPr/>
            <p:nvPr/>
          </p:nvSpPr>
          <p:spPr>
            <a:xfrm flipH="1">
              <a:off x="0" y="953844"/>
              <a:ext cx="435088" cy="75305"/>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741" name="Shape 741"/>
            <p:cNvSpPr/>
            <p:nvPr/>
          </p:nvSpPr>
          <p:spPr>
            <a:xfrm>
              <a:off x="962211" y="1342912"/>
              <a:ext cx="71121" cy="426721"/>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742" name="Shape 742"/>
            <p:cNvSpPr/>
            <p:nvPr/>
          </p:nvSpPr>
          <p:spPr>
            <a:xfrm>
              <a:off x="1229957" y="1125369"/>
              <a:ext cx="351417" cy="251013"/>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743" name="Shape 743"/>
            <p:cNvSpPr/>
            <p:nvPr/>
          </p:nvSpPr>
          <p:spPr>
            <a:xfrm flipV="1">
              <a:off x="1342912" y="740484"/>
              <a:ext cx="435088" cy="66938"/>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744" name="Shape 744"/>
            <p:cNvSpPr/>
            <p:nvPr/>
          </p:nvSpPr>
          <p:spPr>
            <a:xfrm flipV="1">
              <a:off x="1171388" y="150607"/>
              <a:ext cx="251012" cy="338867"/>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745" name="Shape 745"/>
            <p:cNvSpPr/>
            <p:nvPr/>
          </p:nvSpPr>
          <p:spPr>
            <a:xfrm flipH="1" flipV="1">
              <a:off x="748851" y="0"/>
              <a:ext cx="71121" cy="422537"/>
            </a:xfrm>
            <a:prstGeom prst="line">
              <a:avLst/>
            </a:prstGeom>
            <a:noFill/>
            <a:ln w="508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pic>
        <p:nvPicPr>
          <p:cNvPr id="747" name="LB-red1.png"/>
          <p:cNvPicPr>
            <a:picLocks noChangeAspect="1"/>
          </p:cNvPicPr>
          <p:nvPr/>
        </p:nvPicPr>
        <p:blipFill>
          <a:blip r:embed="rId3">
            <a:extLst/>
          </a:blip>
          <a:stretch>
            <a:fillRect/>
          </a:stretch>
        </p:blipFill>
        <p:spPr>
          <a:xfrm rot="9056721">
            <a:off x="7033637" y="5498484"/>
            <a:ext cx="1270001" cy="1164842"/>
          </a:xfrm>
          <a:prstGeom prst="rect">
            <a:avLst/>
          </a:prstGeom>
          <a:ln w="12700">
            <a:miter lim="400000"/>
          </a:ln>
        </p:spPr>
      </p:pic>
      <p:grpSp>
        <p:nvGrpSpPr>
          <p:cNvPr id="750" name="Group 750"/>
          <p:cNvGrpSpPr/>
          <p:nvPr/>
        </p:nvGrpSpPr>
        <p:grpSpPr>
          <a:xfrm>
            <a:off x="7481689" y="5994400"/>
            <a:ext cx="546101" cy="536006"/>
            <a:chOff x="0" y="0"/>
            <a:chExt cx="546100" cy="536005"/>
          </a:xfrm>
        </p:grpSpPr>
        <p:sp>
          <p:nvSpPr>
            <p:cNvPr id="748" name="Shape 748"/>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49" name="Shape 749"/>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51" name="LB-orange1.png"/>
          <p:cNvPicPr>
            <a:picLocks noChangeAspect="1"/>
          </p:cNvPicPr>
          <p:nvPr/>
        </p:nvPicPr>
        <p:blipFill>
          <a:blip r:embed="rId4">
            <a:extLst/>
          </a:blip>
          <a:stretch>
            <a:fillRect/>
          </a:stretch>
        </p:blipFill>
        <p:spPr>
          <a:xfrm rot="14067737">
            <a:off x="1757962" y="6109988"/>
            <a:ext cx="1270001" cy="1146185"/>
          </a:xfrm>
          <a:prstGeom prst="rect">
            <a:avLst/>
          </a:prstGeom>
          <a:ln w="12700">
            <a:miter lim="400000"/>
          </a:ln>
        </p:spPr>
      </p:pic>
      <p:grpSp>
        <p:nvGrpSpPr>
          <p:cNvPr id="754" name="Group 754"/>
          <p:cNvGrpSpPr/>
          <p:nvPr/>
        </p:nvGrpSpPr>
        <p:grpSpPr>
          <a:xfrm>
            <a:off x="2007989" y="6578600"/>
            <a:ext cx="533400" cy="490366"/>
            <a:chOff x="0" y="0"/>
            <a:chExt cx="533399" cy="490365"/>
          </a:xfrm>
        </p:grpSpPr>
        <p:sp>
          <p:nvSpPr>
            <p:cNvPr id="752" name="Shape 752"/>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53" name="Shape 753"/>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55" name="LB-orange1.png"/>
          <p:cNvPicPr>
            <a:picLocks noChangeAspect="1"/>
          </p:cNvPicPr>
          <p:nvPr/>
        </p:nvPicPr>
        <p:blipFill>
          <a:blip r:embed="rId4">
            <a:extLst/>
          </a:blip>
          <a:stretch>
            <a:fillRect/>
          </a:stretch>
        </p:blipFill>
        <p:spPr>
          <a:xfrm rot="14067737">
            <a:off x="1364262" y="7303789"/>
            <a:ext cx="1270001" cy="1146185"/>
          </a:xfrm>
          <a:prstGeom prst="rect">
            <a:avLst/>
          </a:prstGeom>
          <a:ln w="12700">
            <a:miter lim="400000"/>
          </a:ln>
        </p:spPr>
      </p:pic>
      <p:grpSp>
        <p:nvGrpSpPr>
          <p:cNvPr id="758" name="Group 758"/>
          <p:cNvGrpSpPr/>
          <p:nvPr/>
        </p:nvGrpSpPr>
        <p:grpSpPr>
          <a:xfrm>
            <a:off x="1614289" y="7772400"/>
            <a:ext cx="533400" cy="490366"/>
            <a:chOff x="0" y="0"/>
            <a:chExt cx="533399" cy="490365"/>
          </a:xfrm>
        </p:grpSpPr>
        <p:sp>
          <p:nvSpPr>
            <p:cNvPr id="756" name="Shape 756"/>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57" name="Shape 757"/>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59" name="LB-orange1.png"/>
          <p:cNvPicPr>
            <a:picLocks noChangeAspect="1"/>
          </p:cNvPicPr>
          <p:nvPr/>
        </p:nvPicPr>
        <p:blipFill>
          <a:blip r:embed="rId4">
            <a:extLst/>
          </a:blip>
          <a:stretch>
            <a:fillRect/>
          </a:stretch>
        </p:blipFill>
        <p:spPr>
          <a:xfrm rot="14067737">
            <a:off x="5529862" y="5398788"/>
            <a:ext cx="1270001" cy="1146185"/>
          </a:xfrm>
          <a:prstGeom prst="rect">
            <a:avLst/>
          </a:prstGeom>
          <a:ln w="12700">
            <a:miter lim="400000"/>
          </a:ln>
        </p:spPr>
      </p:pic>
      <p:grpSp>
        <p:nvGrpSpPr>
          <p:cNvPr id="762" name="Group 762"/>
          <p:cNvGrpSpPr/>
          <p:nvPr/>
        </p:nvGrpSpPr>
        <p:grpSpPr>
          <a:xfrm>
            <a:off x="5779889" y="5867400"/>
            <a:ext cx="533400" cy="490366"/>
            <a:chOff x="0" y="0"/>
            <a:chExt cx="533399" cy="490365"/>
          </a:xfrm>
        </p:grpSpPr>
        <p:sp>
          <p:nvSpPr>
            <p:cNvPr id="760" name="Shape 760"/>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61" name="Shape 761"/>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63" name="LB-orange1.png"/>
          <p:cNvPicPr>
            <a:picLocks noChangeAspect="1"/>
          </p:cNvPicPr>
          <p:nvPr/>
        </p:nvPicPr>
        <p:blipFill>
          <a:blip r:embed="rId4">
            <a:extLst/>
          </a:blip>
          <a:stretch>
            <a:fillRect/>
          </a:stretch>
        </p:blipFill>
        <p:spPr>
          <a:xfrm rot="11783372">
            <a:off x="5136162" y="6592587"/>
            <a:ext cx="1270001" cy="1146185"/>
          </a:xfrm>
          <a:prstGeom prst="rect">
            <a:avLst/>
          </a:prstGeom>
          <a:ln w="12700">
            <a:miter lim="400000"/>
          </a:ln>
        </p:spPr>
      </p:pic>
      <p:grpSp>
        <p:nvGrpSpPr>
          <p:cNvPr id="766" name="Group 766"/>
          <p:cNvGrpSpPr/>
          <p:nvPr/>
        </p:nvGrpSpPr>
        <p:grpSpPr>
          <a:xfrm>
            <a:off x="5386189" y="7061200"/>
            <a:ext cx="533400" cy="490366"/>
            <a:chOff x="0" y="0"/>
            <a:chExt cx="533399" cy="490365"/>
          </a:xfrm>
        </p:grpSpPr>
        <p:sp>
          <p:nvSpPr>
            <p:cNvPr id="764" name="Shape 764"/>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65" name="Shape 765"/>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67" name="LB-orange1.png"/>
          <p:cNvPicPr>
            <a:picLocks noChangeAspect="1"/>
          </p:cNvPicPr>
          <p:nvPr/>
        </p:nvPicPr>
        <p:blipFill>
          <a:blip r:embed="rId4">
            <a:extLst/>
          </a:blip>
          <a:stretch>
            <a:fillRect/>
          </a:stretch>
        </p:blipFill>
        <p:spPr>
          <a:xfrm rot="18004116">
            <a:off x="4348762" y="5513088"/>
            <a:ext cx="1270001" cy="1146185"/>
          </a:xfrm>
          <a:prstGeom prst="rect">
            <a:avLst/>
          </a:prstGeom>
          <a:ln w="12700">
            <a:miter lim="400000"/>
          </a:ln>
        </p:spPr>
      </p:pic>
      <p:grpSp>
        <p:nvGrpSpPr>
          <p:cNvPr id="770" name="Group 770"/>
          <p:cNvGrpSpPr/>
          <p:nvPr/>
        </p:nvGrpSpPr>
        <p:grpSpPr>
          <a:xfrm>
            <a:off x="4598789" y="5765800"/>
            <a:ext cx="533400" cy="490366"/>
            <a:chOff x="0" y="0"/>
            <a:chExt cx="533399" cy="490365"/>
          </a:xfrm>
        </p:grpSpPr>
        <p:sp>
          <p:nvSpPr>
            <p:cNvPr id="768" name="Shape 768"/>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69" name="Shape 769"/>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71" name="LB-orange1.png"/>
          <p:cNvPicPr>
            <a:picLocks noChangeAspect="1"/>
          </p:cNvPicPr>
          <p:nvPr/>
        </p:nvPicPr>
        <p:blipFill>
          <a:blip r:embed="rId4">
            <a:extLst/>
          </a:blip>
          <a:stretch>
            <a:fillRect/>
          </a:stretch>
        </p:blipFill>
        <p:spPr>
          <a:xfrm rot="19742175">
            <a:off x="3967762" y="7926089"/>
            <a:ext cx="1270001" cy="1146185"/>
          </a:xfrm>
          <a:prstGeom prst="rect">
            <a:avLst/>
          </a:prstGeom>
          <a:ln w="12700">
            <a:miter lim="400000"/>
          </a:ln>
        </p:spPr>
      </p:pic>
      <p:grpSp>
        <p:nvGrpSpPr>
          <p:cNvPr id="774" name="Group 774"/>
          <p:cNvGrpSpPr/>
          <p:nvPr/>
        </p:nvGrpSpPr>
        <p:grpSpPr>
          <a:xfrm>
            <a:off x="4205089" y="8102600"/>
            <a:ext cx="533400" cy="490366"/>
            <a:chOff x="0" y="0"/>
            <a:chExt cx="533399" cy="490365"/>
          </a:xfrm>
        </p:grpSpPr>
        <p:sp>
          <p:nvSpPr>
            <p:cNvPr id="772" name="Shape 772"/>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73" name="Shape 773"/>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75" name="LB-red1.png"/>
          <p:cNvPicPr>
            <a:picLocks noChangeAspect="1"/>
          </p:cNvPicPr>
          <p:nvPr/>
        </p:nvPicPr>
        <p:blipFill>
          <a:blip r:embed="rId3">
            <a:extLst/>
          </a:blip>
          <a:stretch>
            <a:fillRect/>
          </a:stretch>
        </p:blipFill>
        <p:spPr>
          <a:xfrm rot="9056721">
            <a:off x="2931537" y="6438284"/>
            <a:ext cx="1270001" cy="1164842"/>
          </a:xfrm>
          <a:prstGeom prst="rect">
            <a:avLst/>
          </a:prstGeom>
          <a:ln w="12700">
            <a:miter lim="400000"/>
          </a:ln>
        </p:spPr>
      </p:pic>
      <p:grpSp>
        <p:nvGrpSpPr>
          <p:cNvPr id="778" name="Group 778"/>
          <p:cNvGrpSpPr/>
          <p:nvPr/>
        </p:nvGrpSpPr>
        <p:grpSpPr>
          <a:xfrm>
            <a:off x="3366889" y="6934200"/>
            <a:ext cx="558800" cy="523306"/>
            <a:chOff x="0" y="0"/>
            <a:chExt cx="558799" cy="523305"/>
          </a:xfrm>
        </p:grpSpPr>
        <p:sp>
          <p:nvSpPr>
            <p:cNvPr id="776" name="Shape 776"/>
            <p:cNvSpPr/>
            <p:nvPr/>
          </p:nvSpPr>
          <p:spPr>
            <a:xfrm>
              <a:off x="1127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77" name="Shape 777"/>
            <p:cNvSpPr/>
            <p:nvPr/>
          </p:nvSpPr>
          <p:spPr>
            <a:xfrm>
              <a:off x="0" y="1005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79" name="LB-red1.png"/>
          <p:cNvPicPr>
            <a:picLocks noChangeAspect="1"/>
          </p:cNvPicPr>
          <p:nvPr/>
        </p:nvPicPr>
        <p:blipFill>
          <a:blip r:embed="rId3">
            <a:extLst/>
          </a:blip>
          <a:stretch>
            <a:fillRect/>
          </a:stretch>
        </p:blipFill>
        <p:spPr>
          <a:xfrm rot="15093906">
            <a:off x="5649338" y="7924185"/>
            <a:ext cx="1270001" cy="1164842"/>
          </a:xfrm>
          <a:prstGeom prst="rect">
            <a:avLst/>
          </a:prstGeom>
          <a:ln w="12700">
            <a:miter lim="400000"/>
          </a:ln>
        </p:spPr>
      </p:pic>
      <p:grpSp>
        <p:nvGrpSpPr>
          <p:cNvPr id="782" name="Group 782"/>
          <p:cNvGrpSpPr/>
          <p:nvPr/>
        </p:nvGrpSpPr>
        <p:grpSpPr>
          <a:xfrm>
            <a:off x="5894189" y="8280400"/>
            <a:ext cx="546101" cy="536006"/>
            <a:chOff x="0" y="0"/>
            <a:chExt cx="546100" cy="536005"/>
          </a:xfrm>
        </p:grpSpPr>
        <p:sp>
          <p:nvSpPr>
            <p:cNvPr id="780" name="Shape 780"/>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81" name="Shape 781"/>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83" name="LB-red1.png"/>
          <p:cNvPicPr>
            <a:picLocks noChangeAspect="1"/>
          </p:cNvPicPr>
          <p:nvPr/>
        </p:nvPicPr>
        <p:blipFill>
          <a:blip r:embed="rId3">
            <a:extLst/>
          </a:blip>
          <a:stretch>
            <a:fillRect/>
          </a:stretch>
        </p:blipFill>
        <p:spPr>
          <a:xfrm rot="19467740">
            <a:off x="9472038" y="7924186"/>
            <a:ext cx="1270001" cy="1164842"/>
          </a:xfrm>
          <a:prstGeom prst="rect">
            <a:avLst/>
          </a:prstGeom>
          <a:ln w="12700">
            <a:miter lim="400000"/>
          </a:ln>
        </p:spPr>
      </p:pic>
      <p:grpSp>
        <p:nvGrpSpPr>
          <p:cNvPr id="786" name="Group 786"/>
          <p:cNvGrpSpPr/>
          <p:nvPr/>
        </p:nvGrpSpPr>
        <p:grpSpPr>
          <a:xfrm>
            <a:off x="9691489" y="8064500"/>
            <a:ext cx="546101" cy="523306"/>
            <a:chOff x="0" y="0"/>
            <a:chExt cx="546100" cy="523305"/>
          </a:xfrm>
        </p:grpSpPr>
        <p:sp>
          <p:nvSpPr>
            <p:cNvPr id="784" name="Shape 784"/>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85" name="Shape 785"/>
            <p:cNvSpPr/>
            <p:nvPr/>
          </p:nvSpPr>
          <p:spPr>
            <a:xfrm>
              <a:off x="0" y="1005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87" name="LB-red1.png"/>
          <p:cNvPicPr>
            <a:picLocks noChangeAspect="1"/>
          </p:cNvPicPr>
          <p:nvPr/>
        </p:nvPicPr>
        <p:blipFill>
          <a:blip r:embed="rId3">
            <a:extLst/>
          </a:blip>
          <a:stretch>
            <a:fillRect/>
          </a:stretch>
        </p:blipFill>
        <p:spPr>
          <a:xfrm rot="15093906">
            <a:off x="10589638" y="7289185"/>
            <a:ext cx="1270001" cy="1164842"/>
          </a:xfrm>
          <a:prstGeom prst="rect">
            <a:avLst/>
          </a:prstGeom>
          <a:ln w="12700">
            <a:miter lim="400000"/>
          </a:ln>
        </p:spPr>
      </p:pic>
      <p:grpSp>
        <p:nvGrpSpPr>
          <p:cNvPr id="790" name="Group 790"/>
          <p:cNvGrpSpPr/>
          <p:nvPr/>
        </p:nvGrpSpPr>
        <p:grpSpPr>
          <a:xfrm>
            <a:off x="10834489" y="7645400"/>
            <a:ext cx="546101" cy="536006"/>
            <a:chOff x="0" y="0"/>
            <a:chExt cx="546100" cy="536005"/>
          </a:xfrm>
        </p:grpSpPr>
        <p:sp>
          <p:nvSpPr>
            <p:cNvPr id="788" name="Shape 788"/>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89" name="Shape 789"/>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91" name="LB-drab1.png"/>
          <p:cNvPicPr>
            <a:picLocks noChangeAspect="1"/>
          </p:cNvPicPr>
          <p:nvPr/>
        </p:nvPicPr>
        <p:blipFill>
          <a:blip r:embed="rId2">
            <a:extLst/>
          </a:blip>
          <a:stretch>
            <a:fillRect/>
          </a:stretch>
        </p:blipFill>
        <p:spPr>
          <a:xfrm rot="20921404">
            <a:off x="6192153" y="6217838"/>
            <a:ext cx="1270001" cy="1163484"/>
          </a:xfrm>
          <a:prstGeom prst="rect">
            <a:avLst/>
          </a:prstGeom>
          <a:ln w="12700">
            <a:miter lim="400000"/>
          </a:ln>
        </p:spPr>
      </p:pic>
      <p:grpSp>
        <p:nvGrpSpPr>
          <p:cNvPr id="794" name="Group 794"/>
          <p:cNvGrpSpPr/>
          <p:nvPr/>
        </p:nvGrpSpPr>
        <p:grpSpPr>
          <a:xfrm>
            <a:off x="6567289" y="6362700"/>
            <a:ext cx="520700" cy="477666"/>
            <a:chOff x="0" y="0"/>
            <a:chExt cx="520699" cy="477665"/>
          </a:xfrm>
        </p:grpSpPr>
        <p:sp>
          <p:nvSpPr>
            <p:cNvPr id="792" name="Shape 792"/>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93" name="Shape 793"/>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95" name="LB-drab1.png"/>
          <p:cNvPicPr>
            <a:picLocks noChangeAspect="1"/>
          </p:cNvPicPr>
          <p:nvPr/>
        </p:nvPicPr>
        <p:blipFill>
          <a:blip r:embed="rId2">
            <a:extLst/>
          </a:blip>
          <a:stretch>
            <a:fillRect/>
          </a:stretch>
        </p:blipFill>
        <p:spPr>
          <a:xfrm rot="1342809">
            <a:off x="6662053" y="7284639"/>
            <a:ext cx="1270001" cy="1163484"/>
          </a:xfrm>
          <a:prstGeom prst="rect">
            <a:avLst/>
          </a:prstGeom>
          <a:ln w="12700">
            <a:miter lim="400000"/>
          </a:ln>
        </p:spPr>
      </p:pic>
      <p:grpSp>
        <p:nvGrpSpPr>
          <p:cNvPr id="798" name="Group 798"/>
          <p:cNvGrpSpPr/>
          <p:nvPr/>
        </p:nvGrpSpPr>
        <p:grpSpPr>
          <a:xfrm>
            <a:off x="7037189" y="7556500"/>
            <a:ext cx="520700" cy="477666"/>
            <a:chOff x="0" y="0"/>
            <a:chExt cx="520699" cy="477665"/>
          </a:xfrm>
        </p:grpSpPr>
        <p:sp>
          <p:nvSpPr>
            <p:cNvPr id="796" name="Shape 796"/>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97" name="Shape 797"/>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799" name="LB-drab1.png"/>
          <p:cNvPicPr>
            <a:picLocks noChangeAspect="1"/>
          </p:cNvPicPr>
          <p:nvPr/>
        </p:nvPicPr>
        <p:blipFill>
          <a:blip r:embed="rId2">
            <a:extLst/>
          </a:blip>
          <a:stretch>
            <a:fillRect/>
          </a:stretch>
        </p:blipFill>
        <p:spPr>
          <a:xfrm rot="19417306">
            <a:off x="8008255" y="7919638"/>
            <a:ext cx="1270001" cy="1163484"/>
          </a:xfrm>
          <a:prstGeom prst="rect">
            <a:avLst/>
          </a:prstGeom>
          <a:ln w="12700">
            <a:miter lim="400000"/>
          </a:ln>
        </p:spPr>
      </p:pic>
      <p:grpSp>
        <p:nvGrpSpPr>
          <p:cNvPr id="802" name="Group 802"/>
          <p:cNvGrpSpPr/>
          <p:nvPr/>
        </p:nvGrpSpPr>
        <p:grpSpPr>
          <a:xfrm>
            <a:off x="8281789" y="8064500"/>
            <a:ext cx="520700" cy="477666"/>
            <a:chOff x="0" y="0"/>
            <a:chExt cx="520699" cy="477665"/>
          </a:xfrm>
        </p:grpSpPr>
        <p:sp>
          <p:nvSpPr>
            <p:cNvPr id="800" name="Shape 800"/>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01" name="Shape 801"/>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03" name="LB-orange1.png"/>
          <p:cNvPicPr>
            <a:picLocks noChangeAspect="1"/>
          </p:cNvPicPr>
          <p:nvPr/>
        </p:nvPicPr>
        <p:blipFill>
          <a:blip r:embed="rId4">
            <a:extLst/>
          </a:blip>
          <a:stretch>
            <a:fillRect/>
          </a:stretch>
        </p:blipFill>
        <p:spPr>
          <a:xfrm rot="14067737">
            <a:off x="9555762" y="6452888"/>
            <a:ext cx="1270001" cy="1146185"/>
          </a:xfrm>
          <a:prstGeom prst="rect">
            <a:avLst/>
          </a:prstGeom>
          <a:ln w="12700">
            <a:miter lim="400000"/>
          </a:ln>
        </p:spPr>
      </p:pic>
      <p:grpSp>
        <p:nvGrpSpPr>
          <p:cNvPr id="806" name="Group 806"/>
          <p:cNvGrpSpPr/>
          <p:nvPr/>
        </p:nvGrpSpPr>
        <p:grpSpPr>
          <a:xfrm>
            <a:off x="9805789" y="6921500"/>
            <a:ext cx="533400" cy="490366"/>
            <a:chOff x="0" y="0"/>
            <a:chExt cx="533399" cy="490365"/>
          </a:xfrm>
        </p:grpSpPr>
        <p:sp>
          <p:nvSpPr>
            <p:cNvPr id="804" name="Shape 804"/>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05" name="Shape 805"/>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07" name="LB-orange1.png"/>
          <p:cNvPicPr>
            <a:picLocks noChangeAspect="1"/>
          </p:cNvPicPr>
          <p:nvPr/>
        </p:nvPicPr>
        <p:blipFill>
          <a:blip r:embed="rId4">
            <a:extLst/>
          </a:blip>
          <a:stretch>
            <a:fillRect/>
          </a:stretch>
        </p:blipFill>
        <p:spPr>
          <a:xfrm rot="9753169">
            <a:off x="7676163" y="6452886"/>
            <a:ext cx="1270001" cy="1146185"/>
          </a:xfrm>
          <a:prstGeom prst="rect">
            <a:avLst/>
          </a:prstGeom>
          <a:ln w="12700">
            <a:miter lim="400000"/>
          </a:ln>
        </p:spPr>
      </p:pic>
      <p:grpSp>
        <p:nvGrpSpPr>
          <p:cNvPr id="810" name="Group 810"/>
          <p:cNvGrpSpPr/>
          <p:nvPr/>
        </p:nvGrpSpPr>
        <p:grpSpPr>
          <a:xfrm>
            <a:off x="8040489" y="6883400"/>
            <a:ext cx="533400" cy="490366"/>
            <a:chOff x="0" y="0"/>
            <a:chExt cx="533399" cy="490365"/>
          </a:xfrm>
        </p:grpSpPr>
        <p:sp>
          <p:nvSpPr>
            <p:cNvPr id="808" name="Shape 808"/>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09" name="Shape 809"/>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11" name="LB-orange1.png"/>
          <p:cNvPicPr>
            <a:picLocks noChangeAspect="1"/>
          </p:cNvPicPr>
          <p:nvPr/>
        </p:nvPicPr>
        <p:blipFill>
          <a:blip r:embed="rId4">
            <a:extLst/>
          </a:blip>
          <a:stretch>
            <a:fillRect/>
          </a:stretch>
        </p:blipFill>
        <p:spPr>
          <a:xfrm rot="18004116">
            <a:off x="8755662" y="7037088"/>
            <a:ext cx="1270001" cy="1146185"/>
          </a:xfrm>
          <a:prstGeom prst="rect">
            <a:avLst/>
          </a:prstGeom>
          <a:ln w="12700">
            <a:miter lim="400000"/>
          </a:ln>
        </p:spPr>
      </p:pic>
      <p:grpSp>
        <p:nvGrpSpPr>
          <p:cNvPr id="814" name="Group 814"/>
          <p:cNvGrpSpPr/>
          <p:nvPr/>
        </p:nvGrpSpPr>
        <p:grpSpPr>
          <a:xfrm>
            <a:off x="9005689" y="7289800"/>
            <a:ext cx="533400" cy="490366"/>
            <a:chOff x="0" y="0"/>
            <a:chExt cx="533399" cy="490365"/>
          </a:xfrm>
        </p:grpSpPr>
        <p:sp>
          <p:nvSpPr>
            <p:cNvPr id="812" name="Shape 812"/>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3" name="Shape 813"/>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15" name="LB-orange1.png"/>
          <p:cNvPicPr>
            <a:picLocks noChangeAspect="1"/>
          </p:cNvPicPr>
          <p:nvPr/>
        </p:nvPicPr>
        <p:blipFill>
          <a:blip r:embed="rId4">
            <a:extLst/>
          </a:blip>
          <a:stretch>
            <a:fillRect/>
          </a:stretch>
        </p:blipFill>
        <p:spPr>
          <a:xfrm rot="19742175">
            <a:off x="7155462" y="8230889"/>
            <a:ext cx="1270001" cy="1146185"/>
          </a:xfrm>
          <a:prstGeom prst="rect">
            <a:avLst/>
          </a:prstGeom>
          <a:ln w="12700">
            <a:miter lim="400000"/>
          </a:ln>
        </p:spPr>
      </p:pic>
      <p:grpSp>
        <p:nvGrpSpPr>
          <p:cNvPr id="818" name="Group 818"/>
          <p:cNvGrpSpPr/>
          <p:nvPr/>
        </p:nvGrpSpPr>
        <p:grpSpPr>
          <a:xfrm>
            <a:off x="7392789" y="8407400"/>
            <a:ext cx="533400" cy="490366"/>
            <a:chOff x="0" y="0"/>
            <a:chExt cx="533399" cy="490365"/>
          </a:xfrm>
        </p:grpSpPr>
        <p:sp>
          <p:nvSpPr>
            <p:cNvPr id="816" name="Shape 816"/>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7" name="Shape 817"/>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19" name="LB-red1.png"/>
          <p:cNvPicPr>
            <a:picLocks noChangeAspect="1"/>
          </p:cNvPicPr>
          <p:nvPr/>
        </p:nvPicPr>
        <p:blipFill>
          <a:blip r:embed="rId3">
            <a:extLst/>
          </a:blip>
          <a:stretch>
            <a:fillRect/>
          </a:stretch>
        </p:blipFill>
        <p:spPr>
          <a:xfrm rot="5246173">
            <a:off x="7909937" y="5168285"/>
            <a:ext cx="1270001" cy="1164842"/>
          </a:xfrm>
          <a:prstGeom prst="rect">
            <a:avLst/>
          </a:prstGeom>
          <a:ln w="12700">
            <a:miter lim="400000"/>
          </a:ln>
        </p:spPr>
      </p:pic>
      <p:grpSp>
        <p:nvGrpSpPr>
          <p:cNvPr id="822" name="Group 822"/>
          <p:cNvGrpSpPr/>
          <p:nvPr/>
        </p:nvGrpSpPr>
        <p:grpSpPr>
          <a:xfrm>
            <a:off x="8484989" y="5524500"/>
            <a:ext cx="546101" cy="523306"/>
            <a:chOff x="0" y="0"/>
            <a:chExt cx="546100" cy="523305"/>
          </a:xfrm>
        </p:grpSpPr>
        <p:sp>
          <p:nvSpPr>
            <p:cNvPr id="820" name="Shape 820"/>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21" name="Shape 821"/>
            <p:cNvSpPr/>
            <p:nvPr/>
          </p:nvSpPr>
          <p:spPr>
            <a:xfrm>
              <a:off x="0" y="1005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23" name="LB-orange1.png"/>
          <p:cNvPicPr>
            <a:picLocks noChangeAspect="1"/>
          </p:cNvPicPr>
          <p:nvPr/>
        </p:nvPicPr>
        <p:blipFill>
          <a:blip r:embed="rId4">
            <a:extLst/>
          </a:blip>
          <a:stretch>
            <a:fillRect/>
          </a:stretch>
        </p:blipFill>
        <p:spPr>
          <a:xfrm rot="1262250">
            <a:off x="10584461" y="6021088"/>
            <a:ext cx="1270001" cy="1146185"/>
          </a:xfrm>
          <a:prstGeom prst="rect">
            <a:avLst/>
          </a:prstGeom>
          <a:ln w="12700">
            <a:miter lim="400000"/>
          </a:ln>
        </p:spPr>
      </p:pic>
      <p:grpSp>
        <p:nvGrpSpPr>
          <p:cNvPr id="826" name="Group 826"/>
          <p:cNvGrpSpPr/>
          <p:nvPr/>
        </p:nvGrpSpPr>
        <p:grpSpPr>
          <a:xfrm>
            <a:off x="10948789" y="6210300"/>
            <a:ext cx="533400" cy="446025"/>
            <a:chOff x="0" y="0"/>
            <a:chExt cx="533399" cy="446024"/>
          </a:xfrm>
        </p:grpSpPr>
        <p:sp>
          <p:nvSpPr>
            <p:cNvPr id="824" name="Shape 824"/>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25" name="Shape 825"/>
            <p:cNvSpPr/>
            <p:nvPr/>
          </p:nvSpPr>
          <p:spPr>
            <a:xfrm>
              <a:off x="0" y="572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27" name="LB-orange1.png"/>
          <p:cNvPicPr>
            <a:picLocks noChangeAspect="1"/>
          </p:cNvPicPr>
          <p:nvPr/>
        </p:nvPicPr>
        <p:blipFill>
          <a:blip r:embed="rId4">
            <a:extLst/>
          </a:blip>
          <a:stretch>
            <a:fillRect/>
          </a:stretch>
        </p:blipFill>
        <p:spPr>
          <a:xfrm rot="9753169">
            <a:off x="9123963" y="5436886"/>
            <a:ext cx="1270001" cy="1146185"/>
          </a:xfrm>
          <a:prstGeom prst="rect">
            <a:avLst/>
          </a:prstGeom>
          <a:ln w="12700">
            <a:miter lim="400000"/>
          </a:ln>
        </p:spPr>
      </p:pic>
      <p:grpSp>
        <p:nvGrpSpPr>
          <p:cNvPr id="830" name="Group 830"/>
          <p:cNvGrpSpPr/>
          <p:nvPr/>
        </p:nvGrpSpPr>
        <p:grpSpPr>
          <a:xfrm>
            <a:off x="9488289" y="5867400"/>
            <a:ext cx="533400" cy="477666"/>
            <a:chOff x="0" y="0"/>
            <a:chExt cx="533399" cy="477665"/>
          </a:xfrm>
        </p:grpSpPr>
        <p:sp>
          <p:nvSpPr>
            <p:cNvPr id="828" name="Shape 828"/>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29" name="Shape 829"/>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31" name="LB-orange1.png"/>
          <p:cNvPicPr>
            <a:picLocks noChangeAspect="1"/>
          </p:cNvPicPr>
          <p:nvPr/>
        </p:nvPicPr>
        <p:blipFill>
          <a:blip r:embed="rId4">
            <a:extLst/>
          </a:blip>
          <a:stretch>
            <a:fillRect/>
          </a:stretch>
        </p:blipFill>
        <p:spPr>
          <a:xfrm rot="18004116">
            <a:off x="11397262" y="6719588"/>
            <a:ext cx="1270001" cy="1146185"/>
          </a:xfrm>
          <a:prstGeom prst="rect">
            <a:avLst/>
          </a:prstGeom>
          <a:ln w="12700">
            <a:miter lim="400000"/>
          </a:ln>
        </p:spPr>
      </p:pic>
      <p:grpSp>
        <p:nvGrpSpPr>
          <p:cNvPr id="834" name="Group 834"/>
          <p:cNvGrpSpPr/>
          <p:nvPr/>
        </p:nvGrpSpPr>
        <p:grpSpPr>
          <a:xfrm>
            <a:off x="11647289" y="6972300"/>
            <a:ext cx="533400" cy="503066"/>
            <a:chOff x="0" y="0"/>
            <a:chExt cx="533399" cy="503065"/>
          </a:xfrm>
        </p:grpSpPr>
        <p:sp>
          <p:nvSpPr>
            <p:cNvPr id="832" name="Shape 832"/>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33" name="Shape 833"/>
            <p:cNvSpPr/>
            <p:nvPr/>
          </p:nvSpPr>
          <p:spPr>
            <a:xfrm>
              <a:off x="0" y="1207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35" name="LB-red1.png"/>
          <p:cNvPicPr>
            <a:picLocks noChangeAspect="1"/>
          </p:cNvPicPr>
          <p:nvPr/>
        </p:nvPicPr>
        <p:blipFill>
          <a:blip r:embed="rId3">
            <a:extLst/>
          </a:blip>
          <a:stretch>
            <a:fillRect/>
          </a:stretch>
        </p:blipFill>
        <p:spPr>
          <a:xfrm rot="19467740">
            <a:off x="4239639" y="6704986"/>
            <a:ext cx="1270001" cy="1164842"/>
          </a:xfrm>
          <a:prstGeom prst="rect">
            <a:avLst/>
          </a:prstGeom>
          <a:ln w="12700">
            <a:miter lim="400000"/>
          </a:ln>
        </p:spPr>
      </p:pic>
      <p:grpSp>
        <p:nvGrpSpPr>
          <p:cNvPr id="838" name="Group 838"/>
          <p:cNvGrpSpPr/>
          <p:nvPr/>
        </p:nvGrpSpPr>
        <p:grpSpPr>
          <a:xfrm>
            <a:off x="4459089" y="6845300"/>
            <a:ext cx="546101" cy="523306"/>
            <a:chOff x="0" y="0"/>
            <a:chExt cx="546100" cy="523305"/>
          </a:xfrm>
        </p:grpSpPr>
        <p:sp>
          <p:nvSpPr>
            <p:cNvPr id="836" name="Shape 836"/>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37" name="Shape 837"/>
            <p:cNvSpPr/>
            <p:nvPr/>
          </p:nvSpPr>
          <p:spPr>
            <a:xfrm>
              <a:off x="0" y="1005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sp>
        <p:nvSpPr>
          <p:cNvPr id="839" name="Shape 839"/>
          <p:cNvSpPr/>
          <p:nvPr/>
        </p:nvSpPr>
        <p:spPr>
          <a:xfrm>
            <a:off x="368300" y="1828800"/>
            <a:ext cx="5623273" cy="17526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marL="360000" indent="-360000">
              <a:spcBef>
                <a:spcPts val="2000"/>
              </a:spcBef>
              <a:buClr>
                <a:srgbClr val="006994"/>
              </a:buClr>
              <a:buSzPct val="150000"/>
              <a:buFont typeface="Lucida Grande"/>
              <a:buChar char="‣"/>
              <a:tabLst>
                <a:tab pos="1016000" algn="l"/>
              </a:tabLst>
              <a:defRPr sz="2400" b="1"/>
            </a:lvl1pPr>
            <a:lvl2pPr marL="648000" indent="-288000">
              <a:spcBef>
                <a:spcPts val="1500"/>
              </a:spcBef>
              <a:buSzPct val="125000"/>
              <a:buChar char="•"/>
              <a:tabLst>
                <a:tab pos="1485900" algn="l"/>
              </a:tabLst>
              <a:defRPr sz="2000">
                <a:solidFill>
                  <a:srgbClr val="000000"/>
                </a:solidFill>
              </a:defRPr>
            </a:lvl2pPr>
          </a:lstStyle>
          <a:p>
            <a:r>
              <a:t>Phase 2: Natural selection</a:t>
            </a:r>
          </a:p>
          <a:p>
            <a:pPr lvl="1"/>
            <a:r>
              <a:t>In the same gene pool, at a later time, two pale individuals die due to the poor fitness of their phenotype.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83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83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8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 grpId="1" build="p" bldLvl="5"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 name="Shape 841"/>
          <p:cNvSpPr>
            <a:spLocks noGrp="1"/>
          </p:cNvSpPr>
          <p:nvPr>
            <p:ph type="title"/>
          </p:nvPr>
        </p:nvSpPr>
        <p:spPr>
          <a:prstGeom prst="rect">
            <a:avLst/>
          </a:prstGeom>
        </p:spPr>
        <p:txBody>
          <a:bodyPr/>
          <a:lstStyle>
            <a:lvl1pPr>
              <a:tabLst>
                <a:tab pos="952500" algn="l"/>
              </a:tabLst>
            </a:lvl1pPr>
          </a:lstStyle>
          <a:p>
            <a:r>
              <a:t>Changes in a Gene Pool 3</a:t>
            </a:r>
          </a:p>
        </p:txBody>
      </p:sp>
      <p:sp>
        <p:nvSpPr>
          <p:cNvPr id="842" name="Shape 842"/>
          <p:cNvSpPr/>
          <p:nvPr/>
        </p:nvSpPr>
        <p:spPr>
          <a:xfrm>
            <a:off x="7975600" y="4109578"/>
            <a:ext cx="129600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i="1">
                <a:solidFill>
                  <a:srgbClr val="201B17"/>
                </a:solidFill>
              </a:defRPr>
            </a:lvl1pPr>
          </a:lstStyle>
          <a:p>
            <a:pPr>
              <a:defRPr i="0">
                <a:solidFill>
                  <a:srgbClr val="000000"/>
                </a:solidFill>
              </a:defRPr>
            </a:pPr>
            <a:r>
              <a:rPr i="1">
                <a:solidFill>
                  <a:srgbClr val="201B17"/>
                </a:solidFill>
              </a:rPr>
              <a:t>Allele types</a:t>
            </a:r>
          </a:p>
        </p:txBody>
      </p:sp>
      <p:sp>
        <p:nvSpPr>
          <p:cNvPr id="843" name="Shape 843"/>
          <p:cNvSpPr/>
          <p:nvPr/>
        </p:nvSpPr>
        <p:spPr>
          <a:xfrm>
            <a:off x="10033000" y="4109578"/>
            <a:ext cx="2096555"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i="1">
                <a:solidFill>
                  <a:srgbClr val="201B17"/>
                </a:solidFill>
              </a:defRPr>
            </a:lvl1pPr>
          </a:lstStyle>
          <a:p>
            <a:pPr>
              <a:defRPr i="0">
                <a:solidFill>
                  <a:srgbClr val="000000"/>
                </a:solidFill>
              </a:defRPr>
            </a:pPr>
            <a:r>
              <a:rPr i="1">
                <a:solidFill>
                  <a:srgbClr val="201B17"/>
                </a:solidFill>
              </a:rPr>
              <a:t>Allele combinations</a:t>
            </a:r>
          </a:p>
        </p:txBody>
      </p:sp>
      <p:sp>
        <p:nvSpPr>
          <p:cNvPr id="844" name="Shape 844"/>
          <p:cNvSpPr/>
          <p:nvPr/>
        </p:nvSpPr>
        <p:spPr>
          <a:xfrm>
            <a:off x="7814733" y="3725333"/>
            <a:ext cx="1803401" cy="176401"/>
          </a:xfrm>
          <a:custGeom>
            <a:avLst/>
            <a:gdLst/>
            <a:ahLst/>
            <a:cxnLst>
              <a:cxn ang="0">
                <a:pos x="wd2" y="hd2"/>
              </a:cxn>
              <a:cxn ang="5400000">
                <a:pos x="wd2" y="hd2"/>
              </a:cxn>
              <a:cxn ang="10800000">
                <a:pos x="wd2" y="hd2"/>
              </a:cxn>
              <a:cxn ang="16200000">
                <a:pos x="wd2" y="hd2"/>
              </a:cxn>
            </a:cxnLst>
            <a:rect l="0" t="0" r="r" b="b"/>
            <a:pathLst>
              <a:path w="21600" h="21600" extrusionOk="0">
                <a:moveTo>
                  <a:pt x="0" y="460"/>
                </a:moveTo>
                <a:lnTo>
                  <a:pt x="0" y="21600"/>
                </a:lnTo>
                <a:lnTo>
                  <a:pt x="21600" y="21370"/>
                </a:lnTo>
                <a:lnTo>
                  <a:pt x="21600" y="0"/>
                </a:lnTo>
              </a:path>
            </a:pathLst>
          </a:custGeom>
          <a:ln w="254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45" name="Shape 845"/>
          <p:cNvSpPr/>
          <p:nvPr/>
        </p:nvSpPr>
        <p:spPr>
          <a:xfrm>
            <a:off x="9719733" y="3725333"/>
            <a:ext cx="2781301" cy="177801"/>
          </a:xfrm>
          <a:custGeom>
            <a:avLst/>
            <a:gdLst/>
            <a:ahLst/>
            <a:cxnLst>
              <a:cxn ang="0">
                <a:pos x="wd2" y="hd2"/>
              </a:cxn>
              <a:cxn ang="5400000">
                <a:pos x="wd2" y="hd2"/>
              </a:cxn>
              <a:cxn ang="10800000">
                <a:pos x="wd2" y="hd2"/>
              </a:cxn>
              <a:cxn ang="16200000">
                <a:pos x="wd2" y="hd2"/>
              </a:cxn>
            </a:cxnLst>
            <a:rect l="0" t="0" r="r" b="b"/>
            <a:pathLst>
              <a:path w="21600" h="21600" extrusionOk="0">
                <a:moveTo>
                  <a:pt x="0" y="460"/>
                </a:moveTo>
                <a:lnTo>
                  <a:pt x="0" y="21600"/>
                </a:lnTo>
                <a:lnTo>
                  <a:pt x="21600" y="21370"/>
                </a:lnTo>
                <a:lnTo>
                  <a:pt x="21600" y="0"/>
                </a:lnTo>
              </a:path>
            </a:pathLst>
          </a:custGeom>
          <a:ln w="254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aphicFrame>
        <p:nvGraphicFramePr>
          <p:cNvPr id="846" name="Table 846"/>
          <p:cNvGraphicFramePr/>
          <p:nvPr/>
        </p:nvGraphicFramePr>
        <p:xfrm>
          <a:off x="7696200" y="1536700"/>
          <a:ext cx="4724396" cy="1892298"/>
        </p:xfrm>
        <a:graphic>
          <a:graphicData uri="http://schemas.openxmlformats.org/drawingml/2006/table">
            <a:tbl>
              <a:tblPr>
                <a:tableStyleId>{8F44A2F1-9E1F-4B54-A3A2-5F16C0AD49E2}</a:tableStyleId>
              </a:tblPr>
              <a:tblGrid>
                <a:gridCol w="944879">
                  <a:extLst>
                    <a:ext uri="{9D8B030D-6E8A-4147-A177-3AD203B41FA5}">
                      <a16:colId xmlns:a16="http://schemas.microsoft.com/office/drawing/2014/main" val="20000"/>
                    </a:ext>
                  </a:extLst>
                </a:gridCol>
                <a:gridCol w="944879">
                  <a:extLst>
                    <a:ext uri="{9D8B030D-6E8A-4147-A177-3AD203B41FA5}">
                      <a16:colId xmlns:a16="http://schemas.microsoft.com/office/drawing/2014/main" val="20001"/>
                    </a:ext>
                  </a:extLst>
                </a:gridCol>
                <a:gridCol w="944879">
                  <a:extLst>
                    <a:ext uri="{9D8B030D-6E8A-4147-A177-3AD203B41FA5}">
                      <a16:colId xmlns:a16="http://schemas.microsoft.com/office/drawing/2014/main" val="20002"/>
                    </a:ext>
                  </a:extLst>
                </a:gridCol>
                <a:gridCol w="944879">
                  <a:extLst>
                    <a:ext uri="{9D8B030D-6E8A-4147-A177-3AD203B41FA5}">
                      <a16:colId xmlns:a16="http://schemas.microsoft.com/office/drawing/2014/main" val="20003"/>
                    </a:ext>
                  </a:extLst>
                </a:gridCol>
                <a:gridCol w="944880">
                  <a:extLst>
                    <a:ext uri="{9D8B030D-6E8A-4147-A177-3AD203B41FA5}">
                      <a16:colId xmlns:a16="http://schemas.microsoft.com/office/drawing/2014/main" val="20004"/>
                    </a:ext>
                  </a:extLst>
                </a:gridCol>
              </a:tblGrid>
              <a:tr h="630766">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994"/>
                    </a:solidFill>
                  </a:tcPr>
                </a:tc>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t>
                      </a:r>
                    </a:p>
                  </a:txBody>
                  <a:tcPr marL="0" marR="0" marT="0" marB="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006994"/>
                    </a:solidFill>
                  </a:tcPr>
                </a:tc>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a:t>
                      </a:r>
                    </a:p>
                  </a:txBody>
                  <a:tcPr marL="0" marR="0" marT="0" marB="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994"/>
                    </a:solidFill>
                  </a:tcPr>
                </a:tc>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994"/>
                    </a:solidFill>
                  </a:tcPr>
                </a:tc>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aa</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994"/>
                    </a:solidFill>
                  </a:tcPr>
                </a:tc>
                <a:extLst>
                  <a:ext uri="{0D108BD9-81ED-4DB2-BD59-A6C34878D82A}">
                    <a16:rowId xmlns:a16="http://schemas.microsoft.com/office/drawing/2014/main" val="10000"/>
                  </a:ext>
                </a:extLst>
              </a:tr>
              <a:tr h="630766">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29</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17</a:t>
                      </a:r>
                    </a:p>
                  </a:txBody>
                  <a:tcPr marL="0" marR="0" marT="0" marB="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8</a:t>
                      </a:r>
                    </a:p>
                  </a:txBody>
                  <a:tcPr marL="0" marR="0" marT="0" marB="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13</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2</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1"/>
                  </a:ext>
                </a:extLst>
              </a:tr>
              <a:tr h="630766">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63</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37</a:t>
                      </a:r>
                    </a:p>
                  </a:txBody>
                  <a:tcPr marL="0" marR="0" marT="0" marB="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34.8</a:t>
                      </a:r>
                    </a:p>
                  </a:txBody>
                  <a:tcPr marL="0" marR="0" marT="0" marB="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56.5</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defTabSz="457200">
                        <a:lnSpc>
                          <a:spcPts val="3100"/>
                        </a:lnSpc>
                        <a:tabLst>
                          <a:tab pos="520700" algn="l"/>
                        </a:tabLst>
                        <a:defRPr>
                          <a:solidFill>
                            <a:srgbClr val="000000"/>
                          </a:solidFill>
                        </a:defRPr>
                      </a:pPr>
                      <a:r>
                        <a:rPr sz="2400">
                          <a:latin typeface="+mn-lt"/>
                          <a:ea typeface="+mn-ea"/>
                          <a:cs typeface="+mn-cs"/>
                          <a:sym typeface="Arial"/>
                        </a:rPr>
                        <a:t>8.7</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2"/>
                  </a:ext>
                </a:extLst>
              </a:tr>
            </a:tbl>
          </a:graphicData>
        </a:graphic>
      </p:graphicFrame>
      <p:sp>
        <p:nvSpPr>
          <p:cNvPr id="847" name="Shape 847"/>
          <p:cNvSpPr/>
          <p:nvPr/>
        </p:nvSpPr>
        <p:spPr>
          <a:xfrm>
            <a:off x="1600200" y="3614278"/>
            <a:ext cx="2844800" cy="8180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nSpc>
                <a:spcPts val="2200"/>
              </a:lnSpc>
              <a:tabLst>
                <a:tab pos="520700" algn="l"/>
              </a:tabLst>
              <a:defRPr>
                <a:solidFill>
                  <a:srgbClr val="000000"/>
                </a:solidFill>
              </a:defRPr>
            </a:lvl1pPr>
          </a:lstStyle>
          <a:p>
            <a:r>
              <a:t>This individual is entering the population and will add its alleles to the gene pool</a:t>
            </a:r>
          </a:p>
        </p:txBody>
      </p:sp>
      <p:sp>
        <p:nvSpPr>
          <p:cNvPr id="848" name="Shape 848"/>
          <p:cNvSpPr/>
          <p:nvPr/>
        </p:nvSpPr>
        <p:spPr>
          <a:xfrm>
            <a:off x="4737100" y="3626978"/>
            <a:ext cx="2946400" cy="8180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nSpc>
                <a:spcPts val="2200"/>
              </a:lnSpc>
              <a:tabLst>
                <a:tab pos="520700" algn="l"/>
              </a:tabLst>
              <a:defRPr>
                <a:solidFill>
                  <a:srgbClr val="000000"/>
                </a:solidFill>
              </a:defRPr>
            </a:lvl1pPr>
          </a:lstStyle>
          <a:p>
            <a:r>
              <a:t>This individual is leaving the population, removing its alleles from the gene pool</a:t>
            </a:r>
          </a:p>
        </p:txBody>
      </p:sp>
      <p:sp>
        <p:nvSpPr>
          <p:cNvPr id="849" name="Shape 849"/>
          <p:cNvSpPr/>
          <p:nvPr/>
        </p:nvSpPr>
        <p:spPr>
          <a:xfrm flipV="1">
            <a:off x="1350433" y="4195233"/>
            <a:ext cx="304801" cy="186267"/>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50" name="Shape 850"/>
          <p:cNvSpPr/>
          <p:nvPr/>
        </p:nvSpPr>
        <p:spPr>
          <a:xfrm flipH="1">
            <a:off x="685800" y="5346700"/>
            <a:ext cx="11861800" cy="3924300"/>
          </a:xfrm>
          <a:prstGeom prst="ellipse">
            <a:avLst/>
          </a:prstGeom>
          <a:solidFill>
            <a:srgbClr val="C5E1ED"/>
          </a:solidFill>
          <a:ln w="25400">
            <a:solidFill>
              <a:srgbClr val="FFFFFF"/>
            </a:solidFill>
            <a:miter lim="400000"/>
          </a:ln>
        </p:spPr>
        <p:txBody>
          <a:bodyPr lIns="38100" tIns="38100" rIns="38100" bIns="38100" anchor="ctr"/>
          <a:lstStyle/>
          <a:p>
            <a:pPr>
              <a:lnSpc>
                <a:spcPts val="3400"/>
              </a:lnSpc>
              <a:tabLst>
                <a:tab pos="520700" algn="l"/>
              </a:tabLst>
              <a:defRPr sz="29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851" name="LB-red1.png"/>
          <p:cNvPicPr>
            <a:picLocks noChangeAspect="1"/>
          </p:cNvPicPr>
          <p:nvPr/>
        </p:nvPicPr>
        <p:blipFill>
          <a:blip r:embed="rId2">
            <a:extLst/>
          </a:blip>
          <a:stretch>
            <a:fillRect/>
          </a:stretch>
        </p:blipFill>
        <p:spPr>
          <a:xfrm rot="9056721">
            <a:off x="7033637" y="5498484"/>
            <a:ext cx="1270001" cy="1164842"/>
          </a:xfrm>
          <a:prstGeom prst="rect">
            <a:avLst/>
          </a:prstGeom>
          <a:ln w="12700">
            <a:miter lim="400000"/>
          </a:ln>
        </p:spPr>
      </p:pic>
      <p:grpSp>
        <p:nvGrpSpPr>
          <p:cNvPr id="854" name="Group 854"/>
          <p:cNvGrpSpPr/>
          <p:nvPr/>
        </p:nvGrpSpPr>
        <p:grpSpPr>
          <a:xfrm>
            <a:off x="7481689" y="5994400"/>
            <a:ext cx="546101" cy="536006"/>
            <a:chOff x="0" y="0"/>
            <a:chExt cx="546100" cy="536005"/>
          </a:xfrm>
        </p:grpSpPr>
        <p:sp>
          <p:nvSpPr>
            <p:cNvPr id="852" name="Shape 852"/>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53" name="Shape 853"/>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55" name="LB-orange1.png"/>
          <p:cNvPicPr>
            <a:picLocks noChangeAspect="1"/>
          </p:cNvPicPr>
          <p:nvPr/>
        </p:nvPicPr>
        <p:blipFill>
          <a:blip r:embed="rId3">
            <a:extLst/>
          </a:blip>
          <a:stretch>
            <a:fillRect/>
          </a:stretch>
        </p:blipFill>
        <p:spPr>
          <a:xfrm rot="14067737">
            <a:off x="1757962" y="6109988"/>
            <a:ext cx="1270001" cy="1146185"/>
          </a:xfrm>
          <a:prstGeom prst="rect">
            <a:avLst/>
          </a:prstGeom>
          <a:ln w="12700">
            <a:miter lim="400000"/>
          </a:ln>
        </p:spPr>
      </p:pic>
      <p:grpSp>
        <p:nvGrpSpPr>
          <p:cNvPr id="858" name="Group 858"/>
          <p:cNvGrpSpPr/>
          <p:nvPr/>
        </p:nvGrpSpPr>
        <p:grpSpPr>
          <a:xfrm>
            <a:off x="2007989" y="6578600"/>
            <a:ext cx="533400" cy="490366"/>
            <a:chOff x="0" y="0"/>
            <a:chExt cx="533399" cy="490365"/>
          </a:xfrm>
        </p:grpSpPr>
        <p:sp>
          <p:nvSpPr>
            <p:cNvPr id="856" name="Shape 856"/>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57" name="Shape 857"/>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59" name="LB-orange1.png"/>
          <p:cNvPicPr>
            <a:picLocks noChangeAspect="1"/>
          </p:cNvPicPr>
          <p:nvPr/>
        </p:nvPicPr>
        <p:blipFill>
          <a:blip r:embed="rId3">
            <a:extLst/>
          </a:blip>
          <a:stretch>
            <a:fillRect/>
          </a:stretch>
        </p:blipFill>
        <p:spPr>
          <a:xfrm rot="14067737">
            <a:off x="1364262" y="7303789"/>
            <a:ext cx="1270001" cy="1146185"/>
          </a:xfrm>
          <a:prstGeom prst="rect">
            <a:avLst/>
          </a:prstGeom>
          <a:ln w="25400">
            <a:miter lim="400000"/>
          </a:ln>
          <a:effectLst>
            <a:outerShdw blurRad="127000" dist="190500" dir="2700000" rotWithShape="0">
              <a:srgbClr val="000000">
                <a:alpha val="50000"/>
              </a:srgbClr>
            </a:outerShdw>
          </a:effectLst>
        </p:spPr>
      </p:pic>
      <p:grpSp>
        <p:nvGrpSpPr>
          <p:cNvPr id="862" name="Group 862"/>
          <p:cNvGrpSpPr/>
          <p:nvPr/>
        </p:nvGrpSpPr>
        <p:grpSpPr>
          <a:xfrm>
            <a:off x="1614289" y="7772400"/>
            <a:ext cx="533400" cy="490366"/>
            <a:chOff x="0" y="0"/>
            <a:chExt cx="533399" cy="490365"/>
          </a:xfrm>
        </p:grpSpPr>
        <p:sp>
          <p:nvSpPr>
            <p:cNvPr id="860" name="Shape 860"/>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61" name="Shape 861"/>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63" name="LB-orange1.png"/>
          <p:cNvPicPr>
            <a:picLocks noChangeAspect="1"/>
          </p:cNvPicPr>
          <p:nvPr/>
        </p:nvPicPr>
        <p:blipFill>
          <a:blip r:embed="rId3">
            <a:extLst/>
          </a:blip>
          <a:stretch>
            <a:fillRect/>
          </a:stretch>
        </p:blipFill>
        <p:spPr>
          <a:xfrm rot="14067737">
            <a:off x="5529862" y="5398788"/>
            <a:ext cx="1270001" cy="1146185"/>
          </a:xfrm>
          <a:prstGeom prst="rect">
            <a:avLst/>
          </a:prstGeom>
          <a:ln w="12700">
            <a:miter lim="400000"/>
          </a:ln>
        </p:spPr>
      </p:pic>
      <p:grpSp>
        <p:nvGrpSpPr>
          <p:cNvPr id="866" name="Group 866"/>
          <p:cNvGrpSpPr/>
          <p:nvPr/>
        </p:nvGrpSpPr>
        <p:grpSpPr>
          <a:xfrm>
            <a:off x="5779889" y="5867400"/>
            <a:ext cx="533400" cy="490366"/>
            <a:chOff x="0" y="0"/>
            <a:chExt cx="533399" cy="490365"/>
          </a:xfrm>
        </p:grpSpPr>
        <p:sp>
          <p:nvSpPr>
            <p:cNvPr id="864" name="Shape 864"/>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65" name="Shape 865"/>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67" name="LB-orange1.png"/>
          <p:cNvPicPr>
            <a:picLocks noChangeAspect="1"/>
          </p:cNvPicPr>
          <p:nvPr/>
        </p:nvPicPr>
        <p:blipFill>
          <a:blip r:embed="rId3">
            <a:extLst/>
          </a:blip>
          <a:stretch>
            <a:fillRect/>
          </a:stretch>
        </p:blipFill>
        <p:spPr>
          <a:xfrm rot="11783372">
            <a:off x="5136162" y="6592587"/>
            <a:ext cx="1270001" cy="1146185"/>
          </a:xfrm>
          <a:prstGeom prst="rect">
            <a:avLst/>
          </a:prstGeom>
          <a:ln w="12700">
            <a:miter lim="400000"/>
          </a:ln>
        </p:spPr>
      </p:pic>
      <p:grpSp>
        <p:nvGrpSpPr>
          <p:cNvPr id="870" name="Group 870"/>
          <p:cNvGrpSpPr/>
          <p:nvPr/>
        </p:nvGrpSpPr>
        <p:grpSpPr>
          <a:xfrm>
            <a:off x="5386189" y="7061200"/>
            <a:ext cx="533400" cy="490366"/>
            <a:chOff x="0" y="0"/>
            <a:chExt cx="533399" cy="490365"/>
          </a:xfrm>
        </p:grpSpPr>
        <p:sp>
          <p:nvSpPr>
            <p:cNvPr id="868" name="Shape 868"/>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69" name="Shape 869"/>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71" name="LB-orange1.png"/>
          <p:cNvPicPr>
            <a:picLocks noChangeAspect="1"/>
          </p:cNvPicPr>
          <p:nvPr/>
        </p:nvPicPr>
        <p:blipFill>
          <a:blip r:embed="rId3">
            <a:extLst/>
          </a:blip>
          <a:stretch>
            <a:fillRect/>
          </a:stretch>
        </p:blipFill>
        <p:spPr>
          <a:xfrm rot="18004116">
            <a:off x="4348762" y="5513088"/>
            <a:ext cx="1270001" cy="1146185"/>
          </a:xfrm>
          <a:prstGeom prst="rect">
            <a:avLst/>
          </a:prstGeom>
          <a:ln w="12700">
            <a:miter lim="400000"/>
          </a:ln>
        </p:spPr>
      </p:pic>
      <p:grpSp>
        <p:nvGrpSpPr>
          <p:cNvPr id="874" name="Group 874"/>
          <p:cNvGrpSpPr/>
          <p:nvPr/>
        </p:nvGrpSpPr>
        <p:grpSpPr>
          <a:xfrm>
            <a:off x="4598789" y="5765800"/>
            <a:ext cx="533400" cy="477666"/>
            <a:chOff x="0" y="0"/>
            <a:chExt cx="533399" cy="477665"/>
          </a:xfrm>
        </p:grpSpPr>
        <p:sp>
          <p:nvSpPr>
            <p:cNvPr id="872" name="Shape 872"/>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73" name="Shape 873"/>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75" name="LB-orange1.png"/>
          <p:cNvPicPr>
            <a:picLocks noChangeAspect="1"/>
          </p:cNvPicPr>
          <p:nvPr/>
        </p:nvPicPr>
        <p:blipFill>
          <a:blip r:embed="rId3">
            <a:extLst/>
          </a:blip>
          <a:stretch>
            <a:fillRect/>
          </a:stretch>
        </p:blipFill>
        <p:spPr>
          <a:xfrm rot="19742175">
            <a:off x="3967762" y="7926089"/>
            <a:ext cx="1270001" cy="1146185"/>
          </a:xfrm>
          <a:prstGeom prst="rect">
            <a:avLst/>
          </a:prstGeom>
          <a:ln w="12700">
            <a:miter lim="400000"/>
          </a:ln>
        </p:spPr>
      </p:pic>
      <p:grpSp>
        <p:nvGrpSpPr>
          <p:cNvPr id="878" name="Group 878"/>
          <p:cNvGrpSpPr/>
          <p:nvPr/>
        </p:nvGrpSpPr>
        <p:grpSpPr>
          <a:xfrm>
            <a:off x="4205089" y="8102600"/>
            <a:ext cx="533400" cy="490366"/>
            <a:chOff x="0" y="0"/>
            <a:chExt cx="533399" cy="490365"/>
          </a:xfrm>
        </p:grpSpPr>
        <p:sp>
          <p:nvSpPr>
            <p:cNvPr id="876" name="Shape 876"/>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77" name="Shape 877"/>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79" name="LB-red1.png"/>
          <p:cNvPicPr>
            <a:picLocks noChangeAspect="1"/>
          </p:cNvPicPr>
          <p:nvPr/>
        </p:nvPicPr>
        <p:blipFill>
          <a:blip r:embed="rId2">
            <a:extLst/>
          </a:blip>
          <a:stretch>
            <a:fillRect/>
          </a:stretch>
        </p:blipFill>
        <p:spPr>
          <a:xfrm rot="9056721">
            <a:off x="2931537" y="6438284"/>
            <a:ext cx="1270001" cy="1164842"/>
          </a:xfrm>
          <a:prstGeom prst="rect">
            <a:avLst/>
          </a:prstGeom>
          <a:ln w="12700">
            <a:miter lim="400000"/>
          </a:ln>
        </p:spPr>
      </p:pic>
      <p:grpSp>
        <p:nvGrpSpPr>
          <p:cNvPr id="882" name="Group 882"/>
          <p:cNvGrpSpPr/>
          <p:nvPr/>
        </p:nvGrpSpPr>
        <p:grpSpPr>
          <a:xfrm>
            <a:off x="3379589" y="6934200"/>
            <a:ext cx="546101" cy="536006"/>
            <a:chOff x="0" y="0"/>
            <a:chExt cx="546100" cy="536005"/>
          </a:xfrm>
        </p:grpSpPr>
        <p:sp>
          <p:nvSpPr>
            <p:cNvPr id="880" name="Shape 880"/>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81" name="Shape 881"/>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83" name="LB-red1.png"/>
          <p:cNvPicPr>
            <a:picLocks noChangeAspect="1"/>
          </p:cNvPicPr>
          <p:nvPr/>
        </p:nvPicPr>
        <p:blipFill>
          <a:blip r:embed="rId2">
            <a:extLst/>
          </a:blip>
          <a:stretch>
            <a:fillRect/>
          </a:stretch>
        </p:blipFill>
        <p:spPr>
          <a:xfrm rot="15093906">
            <a:off x="5649338" y="7924185"/>
            <a:ext cx="1270001" cy="1164842"/>
          </a:xfrm>
          <a:prstGeom prst="rect">
            <a:avLst/>
          </a:prstGeom>
          <a:ln w="12700">
            <a:miter lim="400000"/>
          </a:ln>
        </p:spPr>
      </p:pic>
      <p:grpSp>
        <p:nvGrpSpPr>
          <p:cNvPr id="886" name="Group 886"/>
          <p:cNvGrpSpPr/>
          <p:nvPr/>
        </p:nvGrpSpPr>
        <p:grpSpPr>
          <a:xfrm>
            <a:off x="5894189" y="8280400"/>
            <a:ext cx="546101" cy="536006"/>
            <a:chOff x="0" y="0"/>
            <a:chExt cx="546100" cy="536005"/>
          </a:xfrm>
        </p:grpSpPr>
        <p:sp>
          <p:nvSpPr>
            <p:cNvPr id="884" name="Shape 884"/>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85" name="Shape 885"/>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87" name="LB-red1.png"/>
          <p:cNvPicPr>
            <a:picLocks noChangeAspect="1"/>
          </p:cNvPicPr>
          <p:nvPr/>
        </p:nvPicPr>
        <p:blipFill>
          <a:blip r:embed="rId2">
            <a:extLst/>
          </a:blip>
          <a:stretch>
            <a:fillRect/>
          </a:stretch>
        </p:blipFill>
        <p:spPr>
          <a:xfrm rot="19467740">
            <a:off x="9472038" y="7924186"/>
            <a:ext cx="1270001" cy="1164842"/>
          </a:xfrm>
          <a:prstGeom prst="rect">
            <a:avLst/>
          </a:prstGeom>
          <a:ln w="12700">
            <a:miter lim="400000"/>
          </a:ln>
        </p:spPr>
      </p:pic>
      <p:grpSp>
        <p:nvGrpSpPr>
          <p:cNvPr id="890" name="Group 890"/>
          <p:cNvGrpSpPr/>
          <p:nvPr/>
        </p:nvGrpSpPr>
        <p:grpSpPr>
          <a:xfrm>
            <a:off x="9691489" y="8064500"/>
            <a:ext cx="546101" cy="536006"/>
            <a:chOff x="0" y="0"/>
            <a:chExt cx="546100" cy="536005"/>
          </a:xfrm>
        </p:grpSpPr>
        <p:sp>
          <p:nvSpPr>
            <p:cNvPr id="888" name="Shape 888"/>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89" name="Shape 889"/>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91" name="LB-red1.png"/>
          <p:cNvPicPr>
            <a:picLocks noChangeAspect="1"/>
          </p:cNvPicPr>
          <p:nvPr/>
        </p:nvPicPr>
        <p:blipFill>
          <a:blip r:embed="rId2">
            <a:extLst/>
          </a:blip>
          <a:stretch>
            <a:fillRect/>
          </a:stretch>
        </p:blipFill>
        <p:spPr>
          <a:xfrm rot="15093906">
            <a:off x="10589638" y="7289185"/>
            <a:ext cx="1270001" cy="1164842"/>
          </a:xfrm>
          <a:prstGeom prst="rect">
            <a:avLst/>
          </a:prstGeom>
          <a:ln w="12700">
            <a:miter lim="400000"/>
          </a:ln>
        </p:spPr>
      </p:pic>
      <p:grpSp>
        <p:nvGrpSpPr>
          <p:cNvPr id="894" name="Group 894"/>
          <p:cNvGrpSpPr/>
          <p:nvPr/>
        </p:nvGrpSpPr>
        <p:grpSpPr>
          <a:xfrm>
            <a:off x="10834489" y="7645400"/>
            <a:ext cx="546101" cy="536006"/>
            <a:chOff x="0" y="0"/>
            <a:chExt cx="546100" cy="536005"/>
          </a:xfrm>
        </p:grpSpPr>
        <p:sp>
          <p:nvSpPr>
            <p:cNvPr id="892" name="Shape 892"/>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93" name="Shape 893"/>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95" name="LB-drab1.png"/>
          <p:cNvPicPr>
            <a:picLocks noChangeAspect="1"/>
          </p:cNvPicPr>
          <p:nvPr/>
        </p:nvPicPr>
        <p:blipFill>
          <a:blip r:embed="rId4">
            <a:extLst/>
          </a:blip>
          <a:stretch>
            <a:fillRect/>
          </a:stretch>
        </p:blipFill>
        <p:spPr>
          <a:xfrm rot="20921404">
            <a:off x="6192153" y="6217838"/>
            <a:ext cx="1270001" cy="1163484"/>
          </a:xfrm>
          <a:prstGeom prst="rect">
            <a:avLst/>
          </a:prstGeom>
          <a:ln w="12700">
            <a:miter lim="400000"/>
          </a:ln>
        </p:spPr>
      </p:pic>
      <p:grpSp>
        <p:nvGrpSpPr>
          <p:cNvPr id="898" name="Group 898"/>
          <p:cNvGrpSpPr/>
          <p:nvPr/>
        </p:nvGrpSpPr>
        <p:grpSpPr>
          <a:xfrm>
            <a:off x="6567289" y="6362700"/>
            <a:ext cx="520700" cy="490366"/>
            <a:chOff x="0" y="0"/>
            <a:chExt cx="520699" cy="490365"/>
          </a:xfrm>
        </p:grpSpPr>
        <p:sp>
          <p:nvSpPr>
            <p:cNvPr id="896" name="Shape 896"/>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97" name="Shape 897"/>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899" name="LB-drab1.png"/>
          <p:cNvPicPr>
            <a:picLocks noChangeAspect="1"/>
          </p:cNvPicPr>
          <p:nvPr/>
        </p:nvPicPr>
        <p:blipFill>
          <a:blip r:embed="rId4">
            <a:extLst/>
          </a:blip>
          <a:stretch>
            <a:fillRect/>
          </a:stretch>
        </p:blipFill>
        <p:spPr>
          <a:xfrm rot="1342809">
            <a:off x="6662053" y="7284639"/>
            <a:ext cx="1270001" cy="1163484"/>
          </a:xfrm>
          <a:prstGeom prst="rect">
            <a:avLst/>
          </a:prstGeom>
          <a:ln w="12700">
            <a:miter lim="400000"/>
          </a:ln>
        </p:spPr>
      </p:pic>
      <p:grpSp>
        <p:nvGrpSpPr>
          <p:cNvPr id="902" name="Group 902"/>
          <p:cNvGrpSpPr/>
          <p:nvPr/>
        </p:nvGrpSpPr>
        <p:grpSpPr>
          <a:xfrm>
            <a:off x="7037189" y="7556500"/>
            <a:ext cx="520700" cy="477666"/>
            <a:chOff x="0" y="0"/>
            <a:chExt cx="520699" cy="477665"/>
          </a:xfrm>
        </p:grpSpPr>
        <p:sp>
          <p:nvSpPr>
            <p:cNvPr id="900" name="Shape 900"/>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01" name="Shape 901"/>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903" name="LB-drab1.png"/>
          <p:cNvPicPr>
            <a:picLocks noChangeAspect="1"/>
          </p:cNvPicPr>
          <p:nvPr/>
        </p:nvPicPr>
        <p:blipFill>
          <a:blip r:embed="rId4">
            <a:extLst/>
          </a:blip>
          <a:stretch>
            <a:fillRect/>
          </a:stretch>
        </p:blipFill>
        <p:spPr>
          <a:xfrm rot="19417306">
            <a:off x="8008255" y="7919638"/>
            <a:ext cx="1270001" cy="1163484"/>
          </a:xfrm>
          <a:prstGeom prst="rect">
            <a:avLst/>
          </a:prstGeom>
          <a:ln w="12700">
            <a:miter lim="400000"/>
          </a:ln>
        </p:spPr>
      </p:pic>
      <p:grpSp>
        <p:nvGrpSpPr>
          <p:cNvPr id="906" name="Group 906"/>
          <p:cNvGrpSpPr/>
          <p:nvPr/>
        </p:nvGrpSpPr>
        <p:grpSpPr>
          <a:xfrm>
            <a:off x="8281789" y="8064500"/>
            <a:ext cx="520700" cy="477666"/>
            <a:chOff x="0" y="0"/>
            <a:chExt cx="520699" cy="477665"/>
          </a:xfrm>
        </p:grpSpPr>
        <p:sp>
          <p:nvSpPr>
            <p:cNvPr id="904" name="Shape 904"/>
            <p:cNvSpPr/>
            <p:nvPr/>
          </p:nvSpPr>
          <p:spPr>
            <a:xfrm>
              <a:off x="746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05" name="Shape 905"/>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907" name="LB-orange1.png"/>
          <p:cNvPicPr>
            <a:picLocks noChangeAspect="1"/>
          </p:cNvPicPr>
          <p:nvPr/>
        </p:nvPicPr>
        <p:blipFill>
          <a:blip r:embed="rId3">
            <a:extLst/>
          </a:blip>
          <a:stretch>
            <a:fillRect/>
          </a:stretch>
        </p:blipFill>
        <p:spPr>
          <a:xfrm rot="14067737">
            <a:off x="9555762" y="6452888"/>
            <a:ext cx="1270001" cy="1146185"/>
          </a:xfrm>
          <a:prstGeom prst="rect">
            <a:avLst/>
          </a:prstGeom>
          <a:ln w="12700">
            <a:miter lim="400000"/>
          </a:ln>
        </p:spPr>
      </p:pic>
      <p:grpSp>
        <p:nvGrpSpPr>
          <p:cNvPr id="910" name="Group 910"/>
          <p:cNvGrpSpPr/>
          <p:nvPr/>
        </p:nvGrpSpPr>
        <p:grpSpPr>
          <a:xfrm>
            <a:off x="9805789" y="6921500"/>
            <a:ext cx="533400" cy="490366"/>
            <a:chOff x="0" y="0"/>
            <a:chExt cx="533399" cy="490365"/>
          </a:xfrm>
        </p:grpSpPr>
        <p:sp>
          <p:nvSpPr>
            <p:cNvPr id="908" name="Shape 908"/>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09" name="Shape 909"/>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911" name="LB-orange1.png"/>
          <p:cNvPicPr>
            <a:picLocks noChangeAspect="1"/>
          </p:cNvPicPr>
          <p:nvPr/>
        </p:nvPicPr>
        <p:blipFill>
          <a:blip r:embed="rId3">
            <a:extLst/>
          </a:blip>
          <a:stretch>
            <a:fillRect/>
          </a:stretch>
        </p:blipFill>
        <p:spPr>
          <a:xfrm rot="9753169">
            <a:off x="7676163" y="6452886"/>
            <a:ext cx="1270001" cy="1146185"/>
          </a:xfrm>
          <a:prstGeom prst="rect">
            <a:avLst/>
          </a:prstGeom>
          <a:ln w="12700">
            <a:miter lim="400000"/>
          </a:ln>
        </p:spPr>
      </p:pic>
      <p:grpSp>
        <p:nvGrpSpPr>
          <p:cNvPr id="914" name="Group 914"/>
          <p:cNvGrpSpPr/>
          <p:nvPr/>
        </p:nvGrpSpPr>
        <p:grpSpPr>
          <a:xfrm>
            <a:off x="8040489" y="6883400"/>
            <a:ext cx="533400" cy="477666"/>
            <a:chOff x="0" y="0"/>
            <a:chExt cx="533399" cy="477665"/>
          </a:xfrm>
        </p:grpSpPr>
        <p:sp>
          <p:nvSpPr>
            <p:cNvPr id="912" name="Shape 912"/>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13" name="Shape 913"/>
            <p:cNvSpPr/>
            <p:nvPr/>
          </p:nvSpPr>
          <p:spPr>
            <a:xfrm>
              <a:off x="0" y="953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915" name="LB-orange1.png"/>
          <p:cNvPicPr>
            <a:picLocks noChangeAspect="1"/>
          </p:cNvPicPr>
          <p:nvPr/>
        </p:nvPicPr>
        <p:blipFill>
          <a:blip r:embed="rId3">
            <a:extLst/>
          </a:blip>
          <a:stretch>
            <a:fillRect/>
          </a:stretch>
        </p:blipFill>
        <p:spPr>
          <a:xfrm rot="18004116">
            <a:off x="8755662" y="7037088"/>
            <a:ext cx="1270001" cy="1146185"/>
          </a:xfrm>
          <a:prstGeom prst="rect">
            <a:avLst/>
          </a:prstGeom>
          <a:ln w="12700">
            <a:miter lim="400000"/>
          </a:ln>
        </p:spPr>
      </p:pic>
      <p:grpSp>
        <p:nvGrpSpPr>
          <p:cNvPr id="918" name="Group 918"/>
          <p:cNvGrpSpPr/>
          <p:nvPr/>
        </p:nvGrpSpPr>
        <p:grpSpPr>
          <a:xfrm>
            <a:off x="9005689" y="7289800"/>
            <a:ext cx="533400" cy="490366"/>
            <a:chOff x="0" y="0"/>
            <a:chExt cx="533399" cy="490365"/>
          </a:xfrm>
        </p:grpSpPr>
        <p:sp>
          <p:nvSpPr>
            <p:cNvPr id="916" name="Shape 916"/>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17" name="Shape 917"/>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919" name="LB-orange1.png"/>
          <p:cNvPicPr>
            <a:picLocks noChangeAspect="1"/>
          </p:cNvPicPr>
          <p:nvPr/>
        </p:nvPicPr>
        <p:blipFill>
          <a:blip r:embed="rId3">
            <a:extLst/>
          </a:blip>
          <a:stretch>
            <a:fillRect/>
          </a:stretch>
        </p:blipFill>
        <p:spPr>
          <a:xfrm rot="19742175">
            <a:off x="7155462" y="8230889"/>
            <a:ext cx="1270001" cy="1146185"/>
          </a:xfrm>
          <a:prstGeom prst="rect">
            <a:avLst/>
          </a:prstGeom>
          <a:ln w="12700">
            <a:miter lim="400000"/>
          </a:ln>
        </p:spPr>
      </p:pic>
      <p:grpSp>
        <p:nvGrpSpPr>
          <p:cNvPr id="922" name="Group 922"/>
          <p:cNvGrpSpPr/>
          <p:nvPr/>
        </p:nvGrpSpPr>
        <p:grpSpPr>
          <a:xfrm>
            <a:off x="7392789" y="8407400"/>
            <a:ext cx="533400" cy="490366"/>
            <a:chOff x="0" y="0"/>
            <a:chExt cx="533399" cy="490365"/>
          </a:xfrm>
        </p:grpSpPr>
        <p:sp>
          <p:nvSpPr>
            <p:cNvPr id="920" name="Shape 920"/>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21" name="Shape 921"/>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923" name="LB-red1.png"/>
          <p:cNvPicPr>
            <a:picLocks noChangeAspect="1"/>
          </p:cNvPicPr>
          <p:nvPr/>
        </p:nvPicPr>
        <p:blipFill>
          <a:blip r:embed="rId2">
            <a:extLst/>
          </a:blip>
          <a:stretch>
            <a:fillRect/>
          </a:stretch>
        </p:blipFill>
        <p:spPr>
          <a:xfrm rot="5246173">
            <a:off x="7909937" y="5168285"/>
            <a:ext cx="1270001" cy="1164842"/>
          </a:xfrm>
          <a:prstGeom prst="rect">
            <a:avLst/>
          </a:prstGeom>
          <a:ln w="25400">
            <a:miter lim="400000"/>
          </a:ln>
          <a:effectLst>
            <a:outerShdw blurRad="127000" dist="190500" dir="2700000" rotWithShape="0">
              <a:srgbClr val="000000">
                <a:alpha val="50000"/>
              </a:srgbClr>
            </a:outerShdw>
          </a:effectLst>
        </p:spPr>
      </p:pic>
      <p:grpSp>
        <p:nvGrpSpPr>
          <p:cNvPr id="926" name="Group 926"/>
          <p:cNvGrpSpPr/>
          <p:nvPr/>
        </p:nvGrpSpPr>
        <p:grpSpPr>
          <a:xfrm>
            <a:off x="8484989" y="5524500"/>
            <a:ext cx="546101" cy="536006"/>
            <a:chOff x="0" y="0"/>
            <a:chExt cx="546100" cy="536005"/>
          </a:xfrm>
        </p:grpSpPr>
        <p:sp>
          <p:nvSpPr>
            <p:cNvPr id="924" name="Shape 924"/>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25" name="Shape 925"/>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927" name="LB-orange1.png"/>
          <p:cNvPicPr>
            <a:picLocks noChangeAspect="1"/>
          </p:cNvPicPr>
          <p:nvPr/>
        </p:nvPicPr>
        <p:blipFill>
          <a:blip r:embed="rId3">
            <a:extLst/>
          </a:blip>
          <a:stretch>
            <a:fillRect/>
          </a:stretch>
        </p:blipFill>
        <p:spPr>
          <a:xfrm rot="1262250">
            <a:off x="10584461" y="6021088"/>
            <a:ext cx="1270001" cy="1146185"/>
          </a:xfrm>
          <a:prstGeom prst="rect">
            <a:avLst/>
          </a:prstGeom>
          <a:ln w="12700">
            <a:miter lim="400000"/>
          </a:ln>
        </p:spPr>
      </p:pic>
      <p:grpSp>
        <p:nvGrpSpPr>
          <p:cNvPr id="930" name="Group 930"/>
          <p:cNvGrpSpPr/>
          <p:nvPr/>
        </p:nvGrpSpPr>
        <p:grpSpPr>
          <a:xfrm>
            <a:off x="10948789" y="6210300"/>
            <a:ext cx="533400" cy="490366"/>
            <a:chOff x="0" y="0"/>
            <a:chExt cx="533399" cy="490365"/>
          </a:xfrm>
        </p:grpSpPr>
        <p:sp>
          <p:nvSpPr>
            <p:cNvPr id="928" name="Shape 928"/>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29" name="Shape 929"/>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931" name="LB-orange1.png"/>
          <p:cNvPicPr>
            <a:picLocks noChangeAspect="1"/>
          </p:cNvPicPr>
          <p:nvPr/>
        </p:nvPicPr>
        <p:blipFill>
          <a:blip r:embed="rId3">
            <a:extLst/>
          </a:blip>
          <a:stretch>
            <a:fillRect/>
          </a:stretch>
        </p:blipFill>
        <p:spPr>
          <a:xfrm rot="9753169">
            <a:off x="9123963" y="5436886"/>
            <a:ext cx="1270001" cy="1146185"/>
          </a:xfrm>
          <a:prstGeom prst="rect">
            <a:avLst/>
          </a:prstGeom>
          <a:ln w="12700">
            <a:miter lim="400000"/>
          </a:ln>
        </p:spPr>
      </p:pic>
      <p:grpSp>
        <p:nvGrpSpPr>
          <p:cNvPr id="934" name="Group 934"/>
          <p:cNvGrpSpPr/>
          <p:nvPr/>
        </p:nvGrpSpPr>
        <p:grpSpPr>
          <a:xfrm>
            <a:off x="9488289" y="5867400"/>
            <a:ext cx="533400" cy="446025"/>
            <a:chOff x="0" y="0"/>
            <a:chExt cx="533399" cy="446024"/>
          </a:xfrm>
        </p:grpSpPr>
        <p:sp>
          <p:nvSpPr>
            <p:cNvPr id="932" name="Shape 932"/>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33" name="Shape 933"/>
            <p:cNvSpPr/>
            <p:nvPr/>
          </p:nvSpPr>
          <p:spPr>
            <a:xfrm>
              <a:off x="0" y="572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935" name="LB-orange1.png"/>
          <p:cNvPicPr>
            <a:picLocks noChangeAspect="1"/>
          </p:cNvPicPr>
          <p:nvPr/>
        </p:nvPicPr>
        <p:blipFill>
          <a:blip r:embed="rId3">
            <a:extLst/>
          </a:blip>
          <a:stretch>
            <a:fillRect/>
          </a:stretch>
        </p:blipFill>
        <p:spPr>
          <a:xfrm rot="18004116">
            <a:off x="11397262" y="6719588"/>
            <a:ext cx="1270001" cy="1146185"/>
          </a:xfrm>
          <a:prstGeom prst="rect">
            <a:avLst/>
          </a:prstGeom>
          <a:ln w="12700">
            <a:miter lim="400000"/>
          </a:ln>
        </p:spPr>
      </p:pic>
      <p:grpSp>
        <p:nvGrpSpPr>
          <p:cNvPr id="938" name="Group 938"/>
          <p:cNvGrpSpPr/>
          <p:nvPr/>
        </p:nvGrpSpPr>
        <p:grpSpPr>
          <a:xfrm>
            <a:off x="11647289" y="6972300"/>
            <a:ext cx="533400" cy="490366"/>
            <a:chOff x="0" y="0"/>
            <a:chExt cx="533399" cy="490365"/>
          </a:xfrm>
        </p:grpSpPr>
        <p:sp>
          <p:nvSpPr>
            <p:cNvPr id="936" name="Shape 936"/>
            <p:cNvSpPr/>
            <p:nvPr/>
          </p:nvSpPr>
          <p:spPr>
            <a:xfrm>
              <a:off x="873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37" name="Shape 937"/>
            <p:cNvSpPr/>
            <p:nvPr/>
          </p:nvSpPr>
          <p:spPr>
            <a:xfrm>
              <a:off x="0" y="108058"/>
              <a:ext cx="493813" cy="382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939" name="LB-red1.png"/>
          <p:cNvPicPr>
            <a:picLocks noChangeAspect="1"/>
          </p:cNvPicPr>
          <p:nvPr/>
        </p:nvPicPr>
        <p:blipFill>
          <a:blip r:embed="rId2">
            <a:extLst/>
          </a:blip>
          <a:stretch>
            <a:fillRect/>
          </a:stretch>
        </p:blipFill>
        <p:spPr>
          <a:xfrm rot="19467740">
            <a:off x="4239639" y="6704986"/>
            <a:ext cx="1270001" cy="1164842"/>
          </a:xfrm>
          <a:prstGeom prst="rect">
            <a:avLst/>
          </a:prstGeom>
          <a:ln w="12700">
            <a:miter lim="400000"/>
          </a:ln>
        </p:spPr>
      </p:pic>
      <p:grpSp>
        <p:nvGrpSpPr>
          <p:cNvPr id="942" name="Group 942"/>
          <p:cNvGrpSpPr/>
          <p:nvPr/>
        </p:nvGrpSpPr>
        <p:grpSpPr>
          <a:xfrm>
            <a:off x="4459089" y="6845300"/>
            <a:ext cx="546101" cy="536006"/>
            <a:chOff x="0" y="0"/>
            <a:chExt cx="546100" cy="536005"/>
          </a:xfrm>
        </p:grpSpPr>
        <p:sp>
          <p:nvSpPr>
            <p:cNvPr id="940" name="Shape 940"/>
            <p:cNvSpPr/>
            <p:nvPr/>
          </p:nvSpPr>
          <p:spPr>
            <a:xfrm>
              <a:off x="1000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41" name="Shape 941"/>
            <p:cNvSpPr/>
            <p:nvPr/>
          </p:nvSpPr>
          <p:spPr>
            <a:xfrm>
              <a:off x="0" y="1132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pic>
        <p:nvPicPr>
          <p:cNvPr id="943" name="LB-red1.png"/>
          <p:cNvPicPr>
            <a:picLocks noChangeAspect="1"/>
          </p:cNvPicPr>
          <p:nvPr/>
        </p:nvPicPr>
        <p:blipFill>
          <a:blip r:embed="rId2">
            <a:extLst/>
          </a:blip>
          <a:stretch>
            <a:fillRect/>
          </a:stretch>
        </p:blipFill>
        <p:spPr>
          <a:xfrm rot="17666638">
            <a:off x="645537" y="4291984"/>
            <a:ext cx="1270001" cy="1164842"/>
          </a:xfrm>
          <a:prstGeom prst="rect">
            <a:avLst/>
          </a:prstGeom>
          <a:ln w="12700">
            <a:miter lim="400000"/>
          </a:ln>
        </p:spPr>
      </p:pic>
      <p:grpSp>
        <p:nvGrpSpPr>
          <p:cNvPr id="946" name="Group 946"/>
          <p:cNvGrpSpPr/>
          <p:nvPr/>
        </p:nvGrpSpPr>
        <p:grpSpPr>
          <a:xfrm>
            <a:off x="737989" y="4533900"/>
            <a:ext cx="558800" cy="523306"/>
            <a:chOff x="0" y="0"/>
            <a:chExt cx="558799" cy="523305"/>
          </a:xfrm>
        </p:grpSpPr>
        <p:sp>
          <p:nvSpPr>
            <p:cNvPr id="944" name="Shape 944"/>
            <p:cNvSpPr/>
            <p:nvPr/>
          </p:nvSpPr>
          <p:spPr>
            <a:xfrm>
              <a:off x="112775" y="0"/>
              <a:ext cx="446025" cy="446025"/>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45" name="Shape 945"/>
            <p:cNvSpPr/>
            <p:nvPr/>
          </p:nvSpPr>
          <p:spPr>
            <a:xfrm>
              <a:off x="0" y="100518"/>
              <a:ext cx="546100" cy="42278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600" b="1">
                  <a:solidFill>
                    <a:srgbClr val="000000"/>
                  </a:solidFill>
                </a:defRPr>
              </a:lvl1pPr>
            </a:lstStyle>
            <a:p>
              <a:r>
                <a:t>AA</a:t>
              </a:r>
            </a:p>
          </p:txBody>
        </p:sp>
      </p:grpSp>
      <p:sp>
        <p:nvSpPr>
          <p:cNvPr id="947" name="Shape 947"/>
          <p:cNvSpPr/>
          <p:nvPr/>
        </p:nvSpPr>
        <p:spPr>
          <a:xfrm flipV="1">
            <a:off x="6807200" y="4495800"/>
            <a:ext cx="0" cy="1905434"/>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948" name="Shape 948"/>
          <p:cNvSpPr/>
          <p:nvPr/>
        </p:nvSpPr>
        <p:spPr>
          <a:xfrm>
            <a:off x="6985000" y="2168971"/>
            <a:ext cx="601316"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gn="just">
              <a:lnSpc>
                <a:spcPts val="3100"/>
              </a:lnSpc>
              <a:tabLst>
                <a:tab pos="520700" algn="l"/>
              </a:tabLst>
              <a:defRPr sz="2400">
                <a:solidFill>
                  <a:srgbClr val="000000"/>
                </a:solidFill>
              </a:defRPr>
            </a:lvl1pPr>
          </a:lstStyle>
          <a:p>
            <a:r>
              <a:t>No.</a:t>
            </a:r>
          </a:p>
        </p:txBody>
      </p:sp>
      <p:sp>
        <p:nvSpPr>
          <p:cNvPr id="949" name="Shape 949"/>
          <p:cNvSpPr/>
          <p:nvPr/>
        </p:nvSpPr>
        <p:spPr>
          <a:xfrm>
            <a:off x="7277100" y="2941178"/>
            <a:ext cx="330263"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gn="just">
              <a:lnSpc>
                <a:spcPts val="2400"/>
              </a:lnSpc>
              <a:tabLst>
                <a:tab pos="520700" algn="l"/>
              </a:tabLst>
              <a:defRPr>
                <a:solidFill>
                  <a:srgbClr val="000000"/>
                </a:solidFill>
              </a:defRPr>
            </a:lvl1pPr>
          </a:lstStyle>
          <a:p>
            <a:r>
              <a:t>%</a:t>
            </a:r>
          </a:p>
        </p:txBody>
      </p:sp>
      <p:sp>
        <p:nvSpPr>
          <p:cNvPr id="950" name="Shape 950"/>
          <p:cNvSpPr/>
          <p:nvPr/>
        </p:nvSpPr>
        <p:spPr>
          <a:xfrm>
            <a:off x="355600" y="1803400"/>
            <a:ext cx="5956300" cy="14097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marL="360000" indent="-360000">
              <a:spcBef>
                <a:spcPts val="2000"/>
              </a:spcBef>
              <a:buClr>
                <a:srgbClr val="006994"/>
              </a:buClr>
              <a:buSzPct val="150000"/>
              <a:buFont typeface="Lucida Grande"/>
              <a:buChar char="‣"/>
              <a:tabLst>
                <a:tab pos="1016000" algn="l"/>
              </a:tabLst>
              <a:defRPr sz="2400" b="1"/>
            </a:lvl1pPr>
            <a:lvl2pPr marL="648000" indent="-288000">
              <a:spcBef>
                <a:spcPts val="1500"/>
              </a:spcBef>
              <a:buSzPct val="125000"/>
              <a:buChar char="•"/>
              <a:tabLst>
                <a:tab pos="1485900" algn="l"/>
              </a:tabLst>
              <a:defRPr sz="2000">
                <a:solidFill>
                  <a:srgbClr val="000000"/>
                </a:solidFill>
              </a:defRPr>
            </a:lvl2pPr>
          </a:lstStyle>
          <a:p>
            <a:r>
              <a:t>Phase 3: Immigration/Emigration</a:t>
            </a:r>
          </a:p>
          <a:p>
            <a:pPr lvl="1"/>
            <a:r>
              <a:t>Later still, one beetle (AA) joins the gene pool, while another (aa) leaves.</a:t>
            </a:r>
          </a:p>
        </p:txBody>
      </p:sp>
      <p:sp>
        <p:nvSpPr>
          <p:cNvPr id="951" name="Shape 951"/>
          <p:cNvSpPr/>
          <p:nvPr/>
        </p:nvSpPr>
        <p:spPr>
          <a:xfrm>
            <a:off x="1549304" y="4622800"/>
            <a:ext cx="1086870" cy="1496891"/>
          </a:xfrm>
          <a:custGeom>
            <a:avLst/>
            <a:gdLst/>
            <a:ahLst/>
            <a:cxnLst>
              <a:cxn ang="0">
                <a:pos x="wd2" y="hd2"/>
              </a:cxn>
              <a:cxn ang="5400000">
                <a:pos x="wd2" y="hd2"/>
              </a:cxn>
              <a:cxn ang="10800000">
                <a:pos x="wd2" y="hd2"/>
              </a:cxn>
              <a:cxn ang="16200000">
                <a:pos x="wd2" y="hd2"/>
              </a:cxn>
            </a:cxnLst>
            <a:rect l="0" t="0" r="r" b="b"/>
            <a:pathLst>
              <a:path w="18735" h="17454" extrusionOk="0">
                <a:moveTo>
                  <a:pt x="2" y="0"/>
                </a:moveTo>
                <a:cubicBezTo>
                  <a:pt x="-217" y="1185"/>
                  <a:pt x="21383" y="-4146"/>
                  <a:pt x="18464" y="15993"/>
                </a:cubicBezTo>
                <a:lnTo>
                  <a:pt x="18283" y="17454"/>
                </a:lnTo>
              </a:path>
            </a:pathLst>
          </a:custGeom>
          <a:ln w="38100">
            <a:solidFill>
              <a:srgbClr val="FF9300"/>
            </a:solidFill>
            <a:miter lim="400000"/>
            <a:tailEnd type="triangle"/>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52" name="Shape 952"/>
          <p:cNvSpPr/>
          <p:nvPr/>
        </p:nvSpPr>
        <p:spPr>
          <a:xfrm flipH="1">
            <a:off x="6800897" y="4606577"/>
            <a:ext cx="1517624" cy="1723104"/>
          </a:xfrm>
          <a:custGeom>
            <a:avLst/>
            <a:gdLst/>
            <a:ahLst/>
            <a:cxnLst>
              <a:cxn ang="0">
                <a:pos x="wd2" y="hd2"/>
              </a:cxn>
              <a:cxn ang="5400000">
                <a:pos x="wd2" y="hd2"/>
              </a:cxn>
              <a:cxn ang="10800000">
                <a:pos x="wd2" y="hd2"/>
              </a:cxn>
              <a:cxn ang="16200000">
                <a:pos x="wd2" y="hd2"/>
              </a:cxn>
            </a:cxnLst>
            <a:rect l="0" t="0" r="r" b="b"/>
            <a:pathLst>
              <a:path w="20800" h="18225" extrusionOk="0">
                <a:moveTo>
                  <a:pt x="0" y="329"/>
                </a:moveTo>
                <a:lnTo>
                  <a:pt x="1722" y="279"/>
                </a:lnTo>
                <a:cubicBezTo>
                  <a:pt x="7536" y="171"/>
                  <a:pt x="21600" y="-3375"/>
                  <a:pt x="20765" y="18225"/>
                </a:cubicBezTo>
              </a:path>
            </a:pathLst>
          </a:custGeom>
          <a:ln w="38100">
            <a:solidFill>
              <a:srgbClr val="FF9300"/>
            </a:solidFill>
            <a:miter lim="400000"/>
            <a:headEnd type="triangle"/>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5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95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95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0" grpId="1" build="p" bldLvl="5"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4" name="Frosty scene.jpg"/>
          <p:cNvPicPr>
            <a:picLocks noChangeAspect="1"/>
          </p:cNvPicPr>
          <p:nvPr/>
        </p:nvPicPr>
        <p:blipFill>
          <a:blip r:embed="rId2">
            <a:extLst/>
          </a:blip>
          <a:stretch>
            <a:fillRect/>
          </a:stretch>
        </p:blipFill>
        <p:spPr>
          <a:xfrm>
            <a:off x="10071100" y="1651000"/>
            <a:ext cx="2933701" cy="4576573"/>
          </a:xfrm>
          <a:prstGeom prst="rect">
            <a:avLst/>
          </a:prstGeom>
          <a:ln w="25400">
            <a:solidFill>
              <a:srgbClr val="FFFFFF"/>
            </a:solidFill>
            <a:miter lim="400000"/>
          </a:ln>
        </p:spPr>
      </p:pic>
      <p:sp>
        <p:nvSpPr>
          <p:cNvPr id="955" name="Shape 955"/>
          <p:cNvSpPr>
            <a:spLocks noGrp="1"/>
          </p:cNvSpPr>
          <p:nvPr>
            <p:ph type="title"/>
          </p:nvPr>
        </p:nvSpPr>
        <p:spPr>
          <a:prstGeom prst="rect">
            <a:avLst/>
          </a:prstGeom>
        </p:spPr>
        <p:txBody>
          <a:bodyPr/>
          <a:lstStyle>
            <a:lvl1pPr>
              <a:tabLst>
                <a:tab pos="952500" algn="l"/>
              </a:tabLst>
            </a:lvl1pPr>
          </a:lstStyle>
          <a:p>
            <a:r>
              <a:t>Modes of Natural Selection</a:t>
            </a:r>
          </a:p>
        </p:txBody>
      </p:sp>
      <p:sp>
        <p:nvSpPr>
          <p:cNvPr id="956" name="Shape 956"/>
          <p:cNvSpPr>
            <a:spLocks noGrp="1"/>
          </p:cNvSpPr>
          <p:nvPr>
            <p:ph type="body" sz="half" idx="1"/>
          </p:nvPr>
        </p:nvSpPr>
        <p:spPr>
          <a:xfrm>
            <a:off x="368300" y="1790700"/>
            <a:ext cx="5711230" cy="7543800"/>
          </a:xfrm>
          <a:prstGeom prst="rect">
            <a:avLst/>
          </a:prstGeom>
        </p:spPr>
        <p:txBody>
          <a:bodyPr/>
          <a:lstStyle/>
          <a:p>
            <a:pPr>
              <a:tabLst>
                <a:tab pos="1016000" algn="l"/>
              </a:tabLst>
            </a:pPr>
            <a:r>
              <a:rPr b="1">
                <a:solidFill>
                  <a:srgbClr val="006994"/>
                </a:solidFill>
              </a:rPr>
              <a:t>Natural selection</a:t>
            </a:r>
            <a:r>
              <a:t> can result in changes in the allele frequencies in populations, but it does not produce the “perfect organism”.</a:t>
            </a:r>
          </a:p>
          <a:p>
            <a:pPr>
              <a:tabLst>
                <a:tab pos="1016000" algn="l"/>
              </a:tabLst>
            </a:pPr>
            <a:r>
              <a:t>Rather than producing new phenotypes, it reduces the frequency of phenotypes that are less suited to the prevailing conditions (e.g. increased frequency of heavy frosts).</a:t>
            </a:r>
          </a:p>
          <a:p>
            <a:pPr>
              <a:tabLst>
                <a:tab pos="1016000" algn="l"/>
              </a:tabLst>
            </a:pPr>
            <a:r>
              <a:t>Phenotypic characteristics (e.g. skin colour, height) that are under </a:t>
            </a:r>
            <a:r>
              <a:rPr b="1">
                <a:solidFill>
                  <a:srgbClr val="006994"/>
                </a:solidFill>
              </a:rPr>
              <a:t>polygenic</a:t>
            </a:r>
            <a:r>
              <a:t> control show </a:t>
            </a:r>
            <a:r>
              <a:rPr b="1">
                <a:solidFill>
                  <a:srgbClr val="006994"/>
                </a:solidFill>
              </a:rPr>
              <a:t>quantitative</a:t>
            </a:r>
            <a:r>
              <a:rPr>
                <a:solidFill>
                  <a:srgbClr val="006994"/>
                </a:solidFill>
              </a:rPr>
              <a:t> </a:t>
            </a:r>
            <a:r>
              <a:rPr b="1">
                <a:solidFill>
                  <a:srgbClr val="006994"/>
                </a:solidFill>
              </a:rPr>
              <a:t>variation</a:t>
            </a:r>
            <a:r>
              <a:t> in the phenotype.</a:t>
            </a:r>
          </a:p>
          <a:p>
            <a:pPr marL="600000" lvl="1" indent="-240000">
              <a:tabLst>
                <a:tab pos="1485900" algn="l"/>
              </a:tabLst>
            </a:pPr>
            <a:r>
              <a:t>Natural selection acts on this variation as well as the variation arising from differences at a single locus, e.g. AA, Aa, aa.</a:t>
            </a:r>
          </a:p>
        </p:txBody>
      </p:sp>
      <p:pic>
        <p:nvPicPr>
          <p:cNvPr id="957" name="Bfly-3.png"/>
          <p:cNvPicPr>
            <a:picLocks noChangeAspect="1"/>
          </p:cNvPicPr>
          <p:nvPr/>
        </p:nvPicPr>
        <p:blipFill>
          <a:blip r:embed="rId3">
            <a:extLst/>
          </a:blip>
          <a:stretch>
            <a:fillRect/>
          </a:stretch>
        </p:blipFill>
        <p:spPr>
          <a:xfrm>
            <a:off x="8115300" y="2844800"/>
            <a:ext cx="2286000" cy="1311405"/>
          </a:xfrm>
          <a:prstGeom prst="rect">
            <a:avLst/>
          </a:prstGeom>
          <a:ln w="12700">
            <a:miter lim="400000"/>
          </a:ln>
        </p:spPr>
      </p:pic>
      <p:pic>
        <p:nvPicPr>
          <p:cNvPr id="958" name="Bfly-4.png"/>
          <p:cNvPicPr>
            <a:picLocks noChangeAspect="1"/>
          </p:cNvPicPr>
          <p:nvPr/>
        </p:nvPicPr>
        <p:blipFill>
          <a:blip r:embed="rId4">
            <a:extLst/>
          </a:blip>
          <a:stretch>
            <a:fillRect/>
          </a:stretch>
        </p:blipFill>
        <p:spPr>
          <a:xfrm>
            <a:off x="8001000" y="1600200"/>
            <a:ext cx="2286000" cy="1516145"/>
          </a:xfrm>
          <a:prstGeom prst="rect">
            <a:avLst/>
          </a:prstGeom>
          <a:ln w="12700">
            <a:miter lim="400000"/>
          </a:ln>
        </p:spPr>
      </p:pic>
      <p:grpSp>
        <p:nvGrpSpPr>
          <p:cNvPr id="961" name="Group 961"/>
          <p:cNvGrpSpPr/>
          <p:nvPr/>
        </p:nvGrpSpPr>
        <p:grpSpPr>
          <a:xfrm>
            <a:off x="8929489" y="2489200"/>
            <a:ext cx="646311" cy="635000"/>
            <a:chOff x="0" y="0"/>
            <a:chExt cx="646310" cy="635000"/>
          </a:xfrm>
        </p:grpSpPr>
        <p:sp>
          <p:nvSpPr>
            <p:cNvPr id="959" name="Shape 959"/>
            <p:cNvSpPr/>
            <p:nvPr/>
          </p:nvSpPr>
          <p:spPr>
            <a:xfrm>
              <a:off x="11310" y="0"/>
              <a:ext cx="635001" cy="635000"/>
            </a:xfrm>
            <a:prstGeom prst="ellipse">
              <a:avLst/>
            </a:prstGeom>
            <a:solidFill>
              <a:srgbClr val="006994"/>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60" name="Shape 960"/>
            <p:cNvSpPr/>
            <p:nvPr/>
          </p:nvSpPr>
          <p:spPr>
            <a:xfrm>
              <a:off x="0" y="190500"/>
              <a:ext cx="546100"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100"/>
                </a:lnSpc>
                <a:tabLst>
                  <a:tab pos="520700" algn="l"/>
                </a:tabLst>
                <a:defRPr b="1">
                  <a:solidFill>
                    <a:srgbClr val="FFFFFF"/>
                  </a:solidFill>
                </a:defRPr>
              </a:lvl1pPr>
            </a:lstStyle>
            <a:p>
              <a:r>
                <a:t>AA</a:t>
              </a:r>
            </a:p>
          </p:txBody>
        </p:sp>
      </p:grpSp>
      <p:grpSp>
        <p:nvGrpSpPr>
          <p:cNvPr id="964" name="Group 964"/>
          <p:cNvGrpSpPr/>
          <p:nvPr/>
        </p:nvGrpSpPr>
        <p:grpSpPr>
          <a:xfrm>
            <a:off x="8928100" y="3517900"/>
            <a:ext cx="660400" cy="660400"/>
            <a:chOff x="0" y="0"/>
            <a:chExt cx="660400" cy="660400"/>
          </a:xfrm>
        </p:grpSpPr>
        <p:sp>
          <p:nvSpPr>
            <p:cNvPr id="962" name="Shape 962"/>
            <p:cNvSpPr/>
            <p:nvPr/>
          </p:nvSpPr>
          <p:spPr>
            <a:xfrm>
              <a:off x="0" y="0"/>
              <a:ext cx="660400" cy="660400"/>
            </a:xfrm>
            <a:prstGeom prst="ellipse">
              <a:avLst/>
            </a:prstGeom>
            <a:solidFill>
              <a:srgbClr val="84B2D4"/>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63" name="Shape 963"/>
            <p:cNvSpPr/>
            <p:nvPr/>
          </p:nvSpPr>
          <p:spPr>
            <a:xfrm>
              <a:off x="14089" y="203200"/>
              <a:ext cx="533401"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100"/>
                </a:lnSpc>
                <a:tabLst>
                  <a:tab pos="520700" algn="l"/>
                </a:tabLst>
                <a:defRPr b="1">
                  <a:solidFill>
                    <a:srgbClr val="FFFFFF"/>
                  </a:solidFill>
                </a:defRPr>
              </a:lvl1pPr>
            </a:lstStyle>
            <a:p>
              <a:r>
                <a:t>Aa</a:t>
              </a:r>
            </a:p>
          </p:txBody>
        </p:sp>
      </p:grpSp>
      <p:pic>
        <p:nvPicPr>
          <p:cNvPr id="965" name="Bfly-1.png"/>
          <p:cNvPicPr>
            <a:picLocks noChangeAspect="1"/>
          </p:cNvPicPr>
          <p:nvPr/>
        </p:nvPicPr>
        <p:blipFill>
          <a:blip r:embed="rId5">
            <a:extLst/>
          </a:blip>
          <a:stretch>
            <a:fillRect/>
          </a:stretch>
        </p:blipFill>
        <p:spPr>
          <a:xfrm>
            <a:off x="8115300" y="4038600"/>
            <a:ext cx="2286000" cy="1096974"/>
          </a:xfrm>
          <a:prstGeom prst="rect">
            <a:avLst/>
          </a:prstGeom>
          <a:ln w="12700">
            <a:miter lim="400000"/>
          </a:ln>
        </p:spPr>
      </p:pic>
      <p:grpSp>
        <p:nvGrpSpPr>
          <p:cNvPr id="968" name="Group 968"/>
          <p:cNvGrpSpPr/>
          <p:nvPr/>
        </p:nvGrpSpPr>
        <p:grpSpPr>
          <a:xfrm>
            <a:off x="8953500" y="4635500"/>
            <a:ext cx="660400" cy="660400"/>
            <a:chOff x="0" y="0"/>
            <a:chExt cx="660400" cy="660400"/>
          </a:xfrm>
        </p:grpSpPr>
        <p:sp>
          <p:nvSpPr>
            <p:cNvPr id="966" name="Shape 966"/>
            <p:cNvSpPr/>
            <p:nvPr/>
          </p:nvSpPr>
          <p:spPr>
            <a:xfrm>
              <a:off x="0" y="0"/>
              <a:ext cx="660400" cy="660400"/>
            </a:xfrm>
            <a:prstGeom prst="ellipse">
              <a:avLst/>
            </a:prstGeom>
            <a:solidFill>
              <a:srgbClr val="FFFFFF"/>
            </a:solidFill>
            <a:ln w="25400" cap="flat">
              <a:solidFill>
                <a:srgbClr val="006994"/>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67" name="Shape 967"/>
            <p:cNvSpPr/>
            <p:nvPr/>
          </p:nvSpPr>
          <p:spPr>
            <a:xfrm>
              <a:off x="26789" y="190500"/>
              <a:ext cx="508001"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100"/>
                </a:lnSpc>
                <a:tabLst>
                  <a:tab pos="520700" algn="l"/>
                </a:tabLst>
                <a:defRPr b="1"/>
              </a:lvl1pPr>
            </a:lstStyle>
            <a:p>
              <a:r>
                <a:t>aa</a:t>
              </a:r>
            </a:p>
          </p:txBody>
        </p:sp>
      </p:grpSp>
      <p:grpSp>
        <p:nvGrpSpPr>
          <p:cNvPr id="977" name="Group 977"/>
          <p:cNvGrpSpPr/>
          <p:nvPr/>
        </p:nvGrpSpPr>
        <p:grpSpPr>
          <a:xfrm>
            <a:off x="8585200" y="4279900"/>
            <a:ext cx="1308100" cy="1321357"/>
            <a:chOff x="0" y="0"/>
            <a:chExt cx="1308100" cy="1321356"/>
          </a:xfrm>
        </p:grpSpPr>
        <p:sp>
          <p:nvSpPr>
            <p:cNvPr id="969" name="Shape 969"/>
            <p:cNvSpPr/>
            <p:nvPr/>
          </p:nvSpPr>
          <p:spPr>
            <a:xfrm>
              <a:off x="951551" y="880959"/>
              <a:ext cx="204149" cy="185841"/>
            </a:xfrm>
            <a:prstGeom prst="line">
              <a:avLst/>
            </a:prstGeom>
            <a:noFill/>
            <a:ln w="38100" cap="flat">
              <a:solidFill>
                <a:srgbClr val="FF9300"/>
              </a:solidFill>
              <a:prstDash val="solid"/>
              <a:miter lim="400000"/>
              <a:headEnd type="triangle" w="med" len="med"/>
            </a:ln>
            <a:effectLst>
              <a:outerShdw blurRad="25400" dist="12700" dir="5400000" rotWithShape="0">
                <a:srgbClr val="000000">
                  <a:alpha val="20000"/>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970" name="Shape 970"/>
            <p:cNvSpPr/>
            <p:nvPr/>
          </p:nvSpPr>
          <p:spPr>
            <a:xfrm flipV="1">
              <a:off x="1032671" y="635000"/>
              <a:ext cx="275429" cy="28328"/>
            </a:xfrm>
            <a:prstGeom prst="line">
              <a:avLst/>
            </a:prstGeom>
            <a:noFill/>
            <a:ln w="38100" cap="flat">
              <a:solidFill>
                <a:srgbClr val="FF9300"/>
              </a:solidFill>
              <a:prstDash val="solid"/>
              <a:miter lim="400000"/>
              <a:headEnd type="triangle" w="med" len="med"/>
            </a:ln>
            <a:effectLst>
              <a:outerShdw blurRad="25400" dist="12700" dir="5400000" rotWithShape="0">
                <a:srgbClr val="000000">
                  <a:alpha val="20000"/>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971" name="Shape 971"/>
            <p:cNvSpPr/>
            <p:nvPr/>
          </p:nvSpPr>
          <p:spPr>
            <a:xfrm flipV="1">
              <a:off x="985225" y="177800"/>
              <a:ext cx="233975" cy="212753"/>
            </a:xfrm>
            <a:prstGeom prst="line">
              <a:avLst/>
            </a:prstGeom>
            <a:noFill/>
            <a:ln w="38100" cap="flat">
              <a:solidFill>
                <a:srgbClr val="FF9300"/>
              </a:solidFill>
              <a:prstDash val="solid"/>
              <a:miter lim="400000"/>
              <a:headEnd type="triangle" w="med" len="med"/>
            </a:ln>
            <a:effectLst>
              <a:outerShdw blurRad="25400" dist="12700" dir="5400000" rotWithShape="0">
                <a:srgbClr val="000000">
                  <a:alpha val="20000"/>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972" name="Shape 972"/>
            <p:cNvSpPr/>
            <p:nvPr/>
          </p:nvSpPr>
          <p:spPr>
            <a:xfrm flipH="1" flipV="1">
              <a:off x="698500" y="0"/>
              <a:ext cx="1251" cy="279772"/>
            </a:xfrm>
            <a:prstGeom prst="line">
              <a:avLst/>
            </a:prstGeom>
            <a:noFill/>
            <a:ln w="38100" cap="flat">
              <a:solidFill>
                <a:srgbClr val="FF9300"/>
              </a:solidFill>
              <a:prstDash val="solid"/>
              <a:miter lim="400000"/>
              <a:headEnd type="triangle" w="med" len="med"/>
            </a:ln>
            <a:effectLst>
              <a:outerShdw blurRad="25400" dist="12700" dir="5400000" rotWithShape="0">
                <a:srgbClr val="000000">
                  <a:alpha val="20000"/>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973" name="Shape 973"/>
            <p:cNvSpPr/>
            <p:nvPr/>
          </p:nvSpPr>
          <p:spPr>
            <a:xfrm flipH="1" flipV="1">
              <a:off x="203200" y="203200"/>
              <a:ext cx="185511" cy="217179"/>
            </a:xfrm>
            <a:prstGeom prst="line">
              <a:avLst/>
            </a:prstGeom>
            <a:noFill/>
            <a:ln w="38100" cap="flat">
              <a:solidFill>
                <a:srgbClr val="FF9300"/>
              </a:solidFill>
              <a:prstDash val="solid"/>
              <a:miter lim="400000"/>
              <a:headEnd type="triangle" w="med" len="med"/>
            </a:ln>
            <a:effectLst>
              <a:outerShdw blurRad="25400" dist="12700" dir="5400000" rotWithShape="0">
                <a:srgbClr val="000000">
                  <a:alpha val="20000"/>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974" name="Shape 974"/>
            <p:cNvSpPr/>
            <p:nvPr/>
          </p:nvSpPr>
          <p:spPr>
            <a:xfrm flipH="1" flipV="1">
              <a:off x="0" y="647700"/>
              <a:ext cx="269408" cy="28328"/>
            </a:xfrm>
            <a:prstGeom prst="line">
              <a:avLst/>
            </a:prstGeom>
            <a:noFill/>
            <a:ln w="38100" cap="flat">
              <a:solidFill>
                <a:srgbClr val="FF9300"/>
              </a:solidFill>
              <a:prstDash val="solid"/>
              <a:miter lim="400000"/>
              <a:headEnd type="triangle" w="med" len="med"/>
            </a:ln>
            <a:effectLst>
              <a:outerShdw blurRad="25400" dist="12700" dir="5400000" rotWithShape="0">
                <a:srgbClr val="000000">
                  <a:alpha val="20000"/>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975" name="Shape 975"/>
            <p:cNvSpPr/>
            <p:nvPr/>
          </p:nvSpPr>
          <p:spPr>
            <a:xfrm flipH="1">
              <a:off x="203200" y="961502"/>
              <a:ext cx="189772" cy="194198"/>
            </a:xfrm>
            <a:prstGeom prst="line">
              <a:avLst/>
            </a:prstGeom>
            <a:noFill/>
            <a:ln w="38100" cap="flat">
              <a:solidFill>
                <a:srgbClr val="FF9300"/>
              </a:solidFill>
              <a:prstDash val="solid"/>
              <a:miter lim="400000"/>
              <a:headEnd type="triangle" w="med" len="med"/>
            </a:ln>
            <a:effectLst>
              <a:outerShdw blurRad="25400" dist="12700" dir="5400000" rotWithShape="0">
                <a:srgbClr val="000000">
                  <a:alpha val="20000"/>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976" name="Shape 976"/>
            <p:cNvSpPr/>
            <p:nvPr/>
          </p:nvSpPr>
          <p:spPr>
            <a:xfrm flipH="1">
              <a:off x="665829" y="1025992"/>
              <a:ext cx="1" cy="295365"/>
            </a:xfrm>
            <a:prstGeom prst="line">
              <a:avLst/>
            </a:prstGeom>
            <a:noFill/>
            <a:ln w="38100" cap="flat">
              <a:solidFill>
                <a:srgbClr val="FF9300"/>
              </a:solidFill>
              <a:prstDash val="solid"/>
              <a:miter lim="400000"/>
              <a:headEnd type="triangle" w="med" len="med"/>
            </a:ln>
            <a:effectLst>
              <a:outerShdw blurRad="25400" dist="12700" dir="5400000" rotWithShape="0">
                <a:srgbClr val="000000">
                  <a:alpha val="20000"/>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pic>
        <p:nvPicPr>
          <p:cNvPr id="978" name="OS53080 copy.png"/>
          <p:cNvPicPr>
            <a:picLocks noChangeAspect="1"/>
          </p:cNvPicPr>
          <p:nvPr/>
        </p:nvPicPr>
        <p:blipFill>
          <a:blip r:embed="rId6">
            <a:extLst/>
          </a:blip>
          <a:stretch>
            <a:fillRect/>
          </a:stretch>
        </p:blipFill>
        <p:spPr>
          <a:xfrm>
            <a:off x="6578600" y="4813300"/>
            <a:ext cx="5207000" cy="52070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5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95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95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95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95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 grpId="1" build="p" bldLvl="5"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4" name="Shape 1154"/>
          <p:cNvSpPr/>
          <p:nvPr/>
        </p:nvSpPr>
        <p:spPr>
          <a:xfrm>
            <a:off x="6375400" y="0"/>
            <a:ext cx="6629400" cy="9766300"/>
          </a:xfrm>
          <a:prstGeom prst="rect">
            <a:avLst/>
          </a:prstGeom>
          <a:solidFill>
            <a:srgbClr val="FFFFFF">
              <a:alpha val="50000"/>
            </a:srgbClr>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155" name="Shape 1155"/>
          <p:cNvSpPr>
            <a:spLocks noGrp="1"/>
          </p:cNvSpPr>
          <p:nvPr>
            <p:ph type="title"/>
          </p:nvPr>
        </p:nvSpPr>
        <p:spPr>
          <a:xfrm>
            <a:off x="368300" y="368300"/>
            <a:ext cx="5504954" cy="1727697"/>
          </a:xfrm>
          <a:prstGeom prst="rect">
            <a:avLst/>
          </a:prstGeom>
        </p:spPr>
        <p:txBody>
          <a:bodyPr/>
          <a:lstStyle>
            <a:lvl1pPr>
              <a:tabLst>
                <a:tab pos="952500" algn="l"/>
              </a:tabLst>
            </a:lvl1pPr>
          </a:lstStyle>
          <a:p>
            <a:r>
              <a:t>Adaptations and Fitness</a:t>
            </a:r>
          </a:p>
        </p:txBody>
      </p:sp>
      <p:sp>
        <p:nvSpPr>
          <p:cNvPr id="1156" name="Shape 1156"/>
          <p:cNvSpPr>
            <a:spLocks noGrp="1"/>
          </p:cNvSpPr>
          <p:nvPr>
            <p:ph type="body" sz="half" idx="1"/>
          </p:nvPr>
        </p:nvSpPr>
        <p:spPr>
          <a:xfrm>
            <a:off x="368300" y="2681684"/>
            <a:ext cx="5240338" cy="6398816"/>
          </a:xfrm>
          <a:prstGeom prst="rect">
            <a:avLst/>
          </a:prstGeom>
        </p:spPr>
        <p:txBody>
          <a:bodyPr/>
          <a:lstStyle/>
          <a:p>
            <a:pPr>
              <a:buSzPct val="161000"/>
              <a:buFont typeface="Gill Sans"/>
              <a:tabLst>
                <a:tab pos="1016000" algn="l"/>
              </a:tabLst>
              <a:defRPr b="1"/>
            </a:pPr>
            <a:r>
              <a:rPr dirty="0">
                <a:solidFill>
                  <a:srgbClr val="006994"/>
                </a:solidFill>
              </a:rPr>
              <a:t>Fitness</a:t>
            </a:r>
            <a:r>
              <a:rPr b="0" dirty="0"/>
              <a:t> is a measure of how well suited an organism is to survive in its habitat and its ability to maximise the numbers of offspring surviving to reproductive age.</a:t>
            </a:r>
          </a:p>
          <a:p>
            <a:pPr>
              <a:lnSpc>
                <a:spcPts val="2900"/>
              </a:lnSpc>
              <a:tabLst>
                <a:tab pos="1016000" algn="l"/>
              </a:tabLst>
            </a:pPr>
            <a:r>
              <a:rPr b="1" dirty="0">
                <a:solidFill>
                  <a:srgbClr val="006994"/>
                </a:solidFill>
              </a:rPr>
              <a:t>Adaptations</a:t>
            </a:r>
            <a:r>
              <a:rPr dirty="0"/>
              <a:t> are distinct from </a:t>
            </a:r>
            <a:r>
              <a:rPr b="1" dirty="0">
                <a:solidFill>
                  <a:srgbClr val="006994"/>
                </a:solidFill>
              </a:rPr>
              <a:t>properties</a:t>
            </a:r>
            <a:r>
              <a:rPr dirty="0"/>
              <a:t> which, although they may be striking, cannot be described as adaptive unless they are shown to be functional in the organism’s natural habitat.</a:t>
            </a:r>
          </a:p>
        </p:txBody>
      </p:sp>
      <p:sp>
        <p:nvSpPr>
          <p:cNvPr id="1157" name="Shape 1157"/>
          <p:cNvSpPr/>
          <p:nvPr/>
        </p:nvSpPr>
        <p:spPr>
          <a:xfrm>
            <a:off x="6400800" y="9334500"/>
            <a:ext cx="54737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 pos="3048000" algn="l"/>
              </a:tabLst>
            </a:lvl1pPr>
          </a:lstStyle>
          <a:p>
            <a:r>
              <a:t>Mothering and play behaviours are adaptive</a:t>
            </a:r>
          </a:p>
        </p:txBody>
      </p:sp>
      <p:sp>
        <p:nvSpPr>
          <p:cNvPr id="1158" name="Shape 1158"/>
          <p:cNvSpPr/>
          <p:nvPr/>
        </p:nvSpPr>
        <p:spPr>
          <a:xfrm>
            <a:off x="6400800" y="4470400"/>
            <a:ext cx="51308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 pos="3048000" algn="l"/>
              </a:tabLst>
            </a:lvl1pPr>
          </a:lstStyle>
          <a:p>
            <a:r>
              <a:t>The fur of this cat is a striking property...</a:t>
            </a:r>
          </a:p>
        </p:txBody>
      </p:sp>
      <p:grpSp>
        <p:nvGrpSpPr>
          <p:cNvPr id="1161" name="Group 1161"/>
          <p:cNvGrpSpPr/>
          <p:nvPr/>
        </p:nvGrpSpPr>
        <p:grpSpPr>
          <a:xfrm>
            <a:off x="6381750" y="-12700"/>
            <a:ext cx="6629401" cy="4419600"/>
            <a:chOff x="0" y="0"/>
            <a:chExt cx="6629400" cy="4419600"/>
          </a:xfrm>
        </p:grpSpPr>
        <p:pic>
          <p:nvPicPr>
            <p:cNvPr id="1159" name="Pedigree cat.jpg"/>
            <p:cNvPicPr>
              <a:picLocks noChangeAspect="1"/>
            </p:cNvPicPr>
            <p:nvPr/>
          </p:nvPicPr>
          <p:blipFill>
            <a:blip r:embed="rId2">
              <a:extLst/>
            </a:blip>
            <a:stretch>
              <a:fillRect/>
            </a:stretch>
          </p:blipFill>
          <p:spPr>
            <a:xfrm>
              <a:off x="0" y="0"/>
              <a:ext cx="6629401" cy="4419600"/>
            </a:xfrm>
            <a:prstGeom prst="rect">
              <a:avLst/>
            </a:prstGeom>
            <a:ln w="25400" cap="flat">
              <a:solidFill>
                <a:srgbClr val="FFFFFF"/>
              </a:solidFill>
              <a:prstDash val="solid"/>
              <a:miter lim="400000"/>
            </a:ln>
            <a:effectLst/>
          </p:spPr>
        </p:pic>
        <p:sp>
          <p:nvSpPr>
            <p:cNvPr id="1160" name="Shape 1160"/>
            <p:cNvSpPr/>
            <p:nvPr/>
          </p:nvSpPr>
          <p:spPr>
            <a:xfrm>
              <a:off x="6203950" y="4191000"/>
              <a:ext cx="369708" cy="1757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50800" tIns="50800" rIns="50800" bIns="50800" numCol="1" anchor="t">
              <a:spAutoFit/>
            </a:bodyPr>
            <a:lstStyle>
              <a:lvl1pPr>
                <a:lnSpc>
                  <a:spcPts val="600"/>
                </a:lnSpc>
                <a:tabLst>
                  <a:tab pos="520700" algn="l"/>
                </a:tabLst>
                <a:defRPr sz="500">
                  <a:solidFill>
                    <a:srgbClr val="000000"/>
                  </a:solidFill>
                </a:defRPr>
              </a:lvl1pPr>
            </a:lstStyle>
            <a:p>
              <a:r>
                <a:t>COR</a:t>
              </a:r>
            </a:p>
          </p:txBody>
        </p:sp>
      </p:grpSp>
      <p:grpSp>
        <p:nvGrpSpPr>
          <p:cNvPr id="1164" name="Group 1164"/>
          <p:cNvGrpSpPr/>
          <p:nvPr/>
        </p:nvGrpSpPr>
        <p:grpSpPr>
          <a:xfrm>
            <a:off x="6397425" y="4864100"/>
            <a:ext cx="6607375" cy="4419600"/>
            <a:chOff x="0" y="0"/>
            <a:chExt cx="6607374" cy="4419600"/>
          </a:xfrm>
        </p:grpSpPr>
        <p:pic>
          <p:nvPicPr>
            <p:cNvPr id="1162" name="Play behaviour-1.jpg"/>
            <p:cNvPicPr>
              <a:picLocks noChangeAspect="1"/>
            </p:cNvPicPr>
            <p:nvPr/>
          </p:nvPicPr>
          <p:blipFill>
            <a:blip r:embed="rId3">
              <a:extLst/>
            </a:blip>
            <a:stretch>
              <a:fillRect/>
            </a:stretch>
          </p:blipFill>
          <p:spPr>
            <a:xfrm>
              <a:off x="0" y="0"/>
              <a:ext cx="6607375" cy="4419600"/>
            </a:xfrm>
            <a:prstGeom prst="rect">
              <a:avLst/>
            </a:prstGeom>
            <a:ln w="25400" cap="flat">
              <a:solidFill>
                <a:srgbClr val="FFFFFF"/>
              </a:solidFill>
              <a:prstDash val="solid"/>
              <a:miter lim="400000"/>
            </a:ln>
            <a:effectLst/>
          </p:spPr>
        </p:pic>
        <p:sp>
          <p:nvSpPr>
            <p:cNvPr id="1163" name="Shape 1163"/>
            <p:cNvSpPr/>
            <p:nvPr/>
          </p:nvSpPr>
          <p:spPr>
            <a:xfrm>
              <a:off x="6188274" y="4178300"/>
              <a:ext cx="369709" cy="1757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50800" tIns="50800" rIns="50800" bIns="50800" numCol="1" anchor="t">
              <a:spAutoFit/>
            </a:bodyPr>
            <a:lstStyle>
              <a:lvl1pPr>
                <a:lnSpc>
                  <a:spcPts val="600"/>
                </a:lnSpc>
                <a:tabLst>
                  <a:tab pos="520700" algn="l"/>
                </a:tabLst>
                <a:defRPr sz="500">
                  <a:solidFill>
                    <a:srgbClr val="000000"/>
                  </a:solidFill>
                </a:defRPr>
              </a:lvl1pPr>
            </a:lstStyle>
            <a:p>
              <a:r>
                <a:t>COR</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5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15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15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6" grpId="1" build="p" bldLvl="5"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6" name="Mountainering.jpg"/>
          <p:cNvPicPr>
            <a:picLocks noChangeAspect="1"/>
          </p:cNvPicPr>
          <p:nvPr/>
        </p:nvPicPr>
        <p:blipFill>
          <a:blip r:embed="rId2">
            <a:extLst/>
          </a:blip>
          <a:stretch>
            <a:fillRect/>
          </a:stretch>
        </p:blipFill>
        <p:spPr>
          <a:xfrm>
            <a:off x="6946900" y="-15372"/>
            <a:ext cx="6184900" cy="9768972"/>
          </a:xfrm>
          <a:prstGeom prst="rect">
            <a:avLst/>
          </a:prstGeom>
          <a:ln w="25400">
            <a:solidFill>
              <a:srgbClr val="FFFFFF"/>
            </a:solidFill>
            <a:miter lim="400000"/>
          </a:ln>
        </p:spPr>
      </p:pic>
      <p:sp>
        <p:nvSpPr>
          <p:cNvPr id="1167" name="Shape 1167"/>
          <p:cNvSpPr>
            <a:spLocks noGrp="1"/>
          </p:cNvSpPr>
          <p:nvPr>
            <p:ph type="title"/>
          </p:nvPr>
        </p:nvSpPr>
        <p:spPr>
          <a:prstGeom prst="rect">
            <a:avLst/>
          </a:prstGeom>
        </p:spPr>
        <p:txBody>
          <a:bodyPr/>
          <a:lstStyle>
            <a:lvl1pPr>
              <a:tabLst>
                <a:tab pos="952500" algn="l"/>
              </a:tabLst>
            </a:lvl1pPr>
          </a:lstStyle>
          <a:p>
            <a:r>
              <a:t>Acclimatisation</a:t>
            </a:r>
          </a:p>
        </p:txBody>
      </p:sp>
      <p:sp>
        <p:nvSpPr>
          <p:cNvPr id="1168" name="Shape 1168"/>
          <p:cNvSpPr>
            <a:spLocks noGrp="1"/>
          </p:cNvSpPr>
          <p:nvPr>
            <p:ph type="body" sz="half" idx="1"/>
          </p:nvPr>
        </p:nvSpPr>
        <p:spPr>
          <a:xfrm>
            <a:off x="368300" y="1790700"/>
            <a:ext cx="5956300" cy="4673303"/>
          </a:xfrm>
          <a:prstGeom prst="rect">
            <a:avLst/>
          </a:prstGeom>
        </p:spPr>
        <p:txBody>
          <a:bodyPr/>
          <a:lstStyle/>
          <a:p>
            <a:pPr marL="345600" indent="-345600">
              <a:tabLst>
                <a:tab pos="1016000" algn="l"/>
              </a:tabLst>
            </a:pPr>
            <a:r>
              <a:t>Acclimatisation (physiological adjustment) describes changes (usually physiological or behavioural) made during an individual’s lifetime to adjust to changing environmental conditions.</a:t>
            </a:r>
          </a:p>
          <a:p>
            <a:pPr marL="680000" lvl="1" indent="-320000">
              <a:tabLst>
                <a:tab pos="1485900" algn="l"/>
              </a:tabLst>
            </a:pPr>
            <a:r>
              <a:t>For example, when a person spends time at high altitude, physiological changes to the circulatory and respiratory systems improve efficiency in the thinner air.</a:t>
            </a:r>
          </a:p>
          <a:p>
            <a:pPr marL="680000" lvl="1" indent="-320000">
              <a:tabLst>
                <a:tab pos="1485900" algn="l"/>
              </a:tabLst>
            </a:pPr>
            <a:r>
              <a:t>These adjustments should not be confused with genetic adaptation.</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6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16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16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1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8" grpId="1" build="p" bldLvl="5"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 name="Shape 1201"/>
          <p:cNvSpPr>
            <a:spLocks noGrp="1"/>
          </p:cNvSpPr>
          <p:nvPr>
            <p:ph type="title"/>
          </p:nvPr>
        </p:nvSpPr>
        <p:spPr>
          <a:xfrm>
            <a:off x="368300" y="368300"/>
            <a:ext cx="6762850" cy="1684884"/>
          </a:xfrm>
          <a:prstGeom prst="rect">
            <a:avLst/>
          </a:prstGeom>
        </p:spPr>
        <p:txBody>
          <a:bodyPr/>
          <a:lstStyle>
            <a:lvl1pPr>
              <a:tabLst>
                <a:tab pos="952500" algn="l"/>
              </a:tabLst>
            </a:lvl1pPr>
          </a:lstStyle>
          <a:p>
            <a:r>
              <a:t>Selection for Skin Colour</a:t>
            </a:r>
          </a:p>
        </p:txBody>
      </p:sp>
      <p:sp>
        <p:nvSpPr>
          <p:cNvPr id="1202" name="Shape 1202"/>
          <p:cNvSpPr>
            <a:spLocks noGrp="1"/>
          </p:cNvSpPr>
          <p:nvPr>
            <p:ph type="body" sz="half" idx="1"/>
          </p:nvPr>
        </p:nvSpPr>
        <p:spPr>
          <a:xfrm>
            <a:off x="368300" y="2552352"/>
            <a:ext cx="6894811" cy="5573218"/>
          </a:xfrm>
          <a:prstGeom prst="rect">
            <a:avLst/>
          </a:prstGeom>
        </p:spPr>
        <p:txBody>
          <a:bodyPr/>
          <a:lstStyle/>
          <a:p>
            <a:pPr>
              <a:tabLst>
                <a:tab pos="1016000" algn="l"/>
              </a:tabLst>
            </a:pPr>
            <a:r>
              <a:t>The distribution of skin colour is not random. </a:t>
            </a:r>
          </a:p>
          <a:p>
            <a:pPr>
              <a:tabLst>
                <a:tab pos="1016000" algn="l"/>
              </a:tabLst>
            </a:pPr>
            <a:r>
              <a:t>People native to tropical and sub-tropical regions of the planet have darker skins than those of higher latitudes.</a:t>
            </a:r>
          </a:p>
          <a:p>
            <a:pPr lvl="1">
              <a:tabLst>
                <a:tab pos="1485900" algn="l"/>
              </a:tabLst>
            </a:pPr>
            <a:r>
              <a:t>It was originally postulated that this had evolved as a mechanism to protect against skin cancer.</a:t>
            </a:r>
          </a:p>
          <a:p>
            <a:pPr lvl="1">
              <a:tabLst>
                <a:tab pos="1485900" algn="l"/>
              </a:tabLst>
            </a:pPr>
            <a:r>
              <a:t>However skin cancer does not usually develop until well after reproductive age and therefore cannot influence fitness.</a:t>
            </a:r>
          </a:p>
          <a:p>
            <a:pPr lvl="1">
              <a:tabLst>
                <a:tab pos="1485900" algn="l"/>
              </a:tabLst>
            </a:pPr>
            <a:r>
              <a:t>Population data indicates that skin colour is the final result of a balance between the need for vitamin D and the need to protect folate stores.</a:t>
            </a:r>
          </a:p>
          <a:p>
            <a:pPr>
              <a:tabLst>
                <a:tab pos="1016000" algn="l"/>
              </a:tabLst>
            </a:pPr>
            <a:r>
              <a:t>Selection is stabilising within latitudinal regions.</a:t>
            </a:r>
          </a:p>
        </p:txBody>
      </p:sp>
      <p:grpSp>
        <p:nvGrpSpPr>
          <p:cNvPr id="1205" name="Group 1205"/>
          <p:cNvGrpSpPr/>
          <p:nvPr/>
        </p:nvGrpSpPr>
        <p:grpSpPr>
          <a:xfrm>
            <a:off x="7808743" y="-33152"/>
            <a:ext cx="5232407" cy="9798616"/>
            <a:chOff x="0" y="0"/>
            <a:chExt cx="5232406" cy="9798614"/>
          </a:xfrm>
        </p:grpSpPr>
        <p:pic>
          <p:nvPicPr>
            <p:cNvPr id="1203" name="Burundi Hutu-COR.jpg"/>
            <p:cNvPicPr>
              <a:picLocks noChangeAspect="1"/>
            </p:cNvPicPr>
            <p:nvPr/>
          </p:nvPicPr>
          <p:blipFill>
            <a:blip r:embed="rId2">
              <a:extLst/>
            </a:blip>
            <a:stretch>
              <a:fillRect/>
            </a:stretch>
          </p:blipFill>
          <p:spPr>
            <a:xfrm>
              <a:off x="2121" y="0"/>
              <a:ext cx="5230286" cy="5500394"/>
            </a:xfrm>
            <a:prstGeom prst="rect">
              <a:avLst/>
            </a:prstGeom>
            <a:ln w="25400" cap="flat">
              <a:solidFill>
                <a:srgbClr val="FFFFFF"/>
              </a:solidFill>
              <a:prstDash val="solid"/>
              <a:miter lim="400000"/>
            </a:ln>
            <a:effectLst/>
          </p:spPr>
        </p:pic>
        <p:pic>
          <p:nvPicPr>
            <p:cNvPr id="1204" name="European 2-COR.jpg"/>
            <p:cNvPicPr>
              <a:picLocks noChangeAspect="1"/>
            </p:cNvPicPr>
            <p:nvPr/>
          </p:nvPicPr>
          <p:blipFill>
            <a:blip r:embed="rId3">
              <a:extLst/>
            </a:blip>
            <a:stretch>
              <a:fillRect/>
            </a:stretch>
          </p:blipFill>
          <p:spPr>
            <a:xfrm>
              <a:off x="0" y="5484268"/>
              <a:ext cx="5230408" cy="4314347"/>
            </a:xfrm>
            <a:prstGeom prst="rect">
              <a:avLst/>
            </a:prstGeom>
            <a:ln w="25400" cap="flat">
              <a:solidFill>
                <a:srgbClr val="FFFFFF"/>
              </a:solidFill>
              <a:prstDash val="solid"/>
              <a:miter lim="400000"/>
            </a:ln>
            <a:effectLst/>
          </p:spPr>
        </p:pic>
      </p:grpSp>
      <p:sp>
        <p:nvSpPr>
          <p:cNvPr id="1206" name="Shape 1206"/>
          <p:cNvSpPr/>
          <p:nvPr/>
        </p:nvSpPr>
        <p:spPr>
          <a:xfrm>
            <a:off x="12636500" y="5245100"/>
            <a:ext cx="268108" cy="12700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tabLst>
                <a:tab pos="520700" algn="l"/>
              </a:tabLst>
              <a:defRPr sz="500">
                <a:solidFill>
                  <a:srgbClr val="000000"/>
                </a:solidFill>
              </a:defRPr>
            </a:lvl1pPr>
          </a:lstStyle>
          <a:p>
            <a:r>
              <a:t>COR</a:t>
            </a:r>
          </a:p>
        </p:txBody>
      </p:sp>
      <p:sp>
        <p:nvSpPr>
          <p:cNvPr id="1207" name="Shape 1207"/>
          <p:cNvSpPr/>
          <p:nvPr/>
        </p:nvSpPr>
        <p:spPr>
          <a:xfrm>
            <a:off x="12700000" y="9588500"/>
            <a:ext cx="268108" cy="12700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tabLst>
                <a:tab pos="520700" algn="l"/>
              </a:tabLst>
              <a:defRPr sz="500">
                <a:solidFill>
                  <a:srgbClr val="000000"/>
                </a:solidFill>
              </a:defRPr>
            </a:lvl1pPr>
          </a:lstStyle>
          <a:p>
            <a:r>
              <a:t>COR</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20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20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20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20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20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20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120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2" grpId="1" build="p" bldLvl="5"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9" name="Shape 1209"/>
          <p:cNvSpPr/>
          <p:nvPr/>
        </p:nvSpPr>
        <p:spPr>
          <a:xfrm>
            <a:off x="7886700" y="-50800"/>
            <a:ext cx="5118100" cy="9918700"/>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210" name="Shape 1210"/>
          <p:cNvSpPr>
            <a:spLocks noGrp="1"/>
          </p:cNvSpPr>
          <p:nvPr>
            <p:ph type="title"/>
          </p:nvPr>
        </p:nvSpPr>
        <p:spPr>
          <a:xfrm>
            <a:off x="368300" y="368300"/>
            <a:ext cx="5288062" cy="1653878"/>
          </a:xfrm>
          <a:prstGeom prst="rect">
            <a:avLst/>
          </a:prstGeom>
        </p:spPr>
        <p:txBody>
          <a:bodyPr/>
          <a:lstStyle>
            <a:lvl1pPr>
              <a:tabLst>
                <a:tab pos="952500" algn="l"/>
              </a:tabLst>
            </a:lvl1pPr>
          </a:lstStyle>
          <a:p>
            <a:r>
              <a:t>Vitamin D and Folate</a:t>
            </a:r>
          </a:p>
        </p:txBody>
      </p:sp>
      <p:sp>
        <p:nvSpPr>
          <p:cNvPr id="1211" name="Shape 1211"/>
          <p:cNvSpPr>
            <a:spLocks noGrp="1"/>
          </p:cNvSpPr>
          <p:nvPr>
            <p:ph type="body" sz="half" idx="1"/>
          </p:nvPr>
        </p:nvSpPr>
        <p:spPr>
          <a:xfrm>
            <a:off x="368300" y="2385317"/>
            <a:ext cx="5956300" cy="5677199"/>
          </a:xfrm>
          <a:prstGeom prst="rect">
            <a:avLst/>
          </a:prstGeom>
        </p:spPr>
        <p:txBody>
          <a:bodyPr/>
          <a:lstStyle/>
          <a:p>
            <a:pPr>
              <a:tabLst>
                <a:tab pos="1016000" algn="l"/>
              </a:tabLst>
            </a:pPr>
            <a:r>
              <a:t>The evolution of human skin colour is a result of two opposing selection pressures.</a:t>
            </a:r>
          </a:p>
          <a:p>
            <a:pPr lvl="1">
              <a:tabLst>
                <a:tab pos="1485900" algn="l"/>
              </a:tabLst>
            </a:pPr>
            <a:r>
              <a:t>Folate is essential for neural development in the fetus so the mother must have high levels in her body.</a:t>
            </a:r>
          </a:p>
          <a:p>
            <a:pPr lvl="1">
              <a:tabLst>
                <a:tab pos="1485900" algn="l"/>
              </a:tabLst>
            </a:pPr>
            <a:r>
              <a:t>Folate is broken down by ultraviolet light. A more pigmented (darker) skin protects folate from destruction by UV.</a:t>
            </a:r>
          </a:p>
          <a:p>
            <a:pPr lvl="1">
              <a:tabLst>
                <a:tab pos="1485900" algn="l"/>
              </a:tabLst>
            </a:pPr>
            <a:r>
              <a:t>Pregnant and lactating women have a high requirement for calcium, which is required for normal skeletal development. Vitamin D is needed to absorb calcium from the diet. </a:t>
            </a:r>
          </a:p>
          <a:p>
            <a:pPr lvl="1">
              <a:tabLst>
                <a:tab pos="1485900" algn="l"/>
              </a:tabLst>
            </a:pPr>
            <a:r>
              <a:t>Sunlight is needed for vitamin D synthesis, so the skin must be pale enough to enable this.</a:t>
            </a:r>
          </a:p>
        </p:txBody>
      </p:sp>
      <p:sp>
        <p:nvSpPr>
          <p:cNvPr id="1212" name="Shape 1212"/>
          <p:cNvSpPr/>
          <p:nvPr/>
        </p:nvSpPr>
        <p:spPr>
          <a:xfrm>
            <a:off x="8191500" y="5232400"/>
            <a:ext cx="4546800" cy="4173221"/>
          </a:xfrm>
          <a:prstGeom prst="rect">
            <a:avLst/>
          </a:prstGeom>
          <a:solidFill>
            <a:srgbClr val="FFFFFF"/>
          </a:solidFill>
          <a:ln w="254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213" name="Shape 1213"/>
          <p:cNvSpPr/>
          <p:nvPr/>
        </p:nvSpPr>
        <p:spPr>
          <a:xfrm>
            <a:off x="8229600" y="431800"/>
            <a:ext cx="4546600" cy="4229656"/>
          </a:xfrm>
          <a:prstGeom prst="rect">
            <a:avLst/>
          </a:prstGeom>
          <a:solidFill>
            <a:srgbClr val="FFFFFF"/>
          </a:solidFill>
          <a:ln w="254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aphicFrame>
        <p:nvGraphicFramePr>
          <p:cNvPr id="1214" name="Chart 1214"/>
          <p:cNvGraphicFramePr/>
          <p:nvPr/>
        </p:nvGraphicFramePr>
        <p:xfrm>
          <a:off x="9013628" y="574980"/>
          <a:ext cx="2680532" cy="42418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15" name="Chart 1215"/>
          <p:cNvGraphicFramePr/>
          <p:nvPr/>
        </p:nvGraphicFramePr>
        <p:xfrm>
          <a:off x="8777136" y="5345100"/>
          <a:ext cx="2934805" cy="4241838"/>
        </p:xfrm>
        <a:graphic>
          <a:graphicData uri="http://schemas.openxmlformats.org/drawingml/2006/chart">
            <c:chart xmlns:c="http://schemas.openxmlformats.org/drawingml/2006/chart" xmlns:r="http://schemas.openxmlformats.org/officeDocument/2006/relationships" r:id="rId3"/>
          </a:graphicData>
        </a:graphic>
      </p:graphicFrame>
      <p:sp>
        <p:nvSpPr>
          <p:cNvPr id="1216" name="Shape 1216"/>
          <p:cNvSpPr/>
          <p:nvPr/>
        </p:nvSpPr>
        <p:spPr>
          <a:xfrm rot="16200000">
            <a:off x="7477689" y="2384989"/>
            <a:ext cx="2472941"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p>
            <a:pPr>
              <a:tabLst>
                <a:tab pos="520700" algn="l"/>
              </a:tabLst>
              <a:defRPr>
                <a:solidFill>
                  <a:srgbClr val="000000"/>
                </a:solidFill>
              </a:defRPr>
            </a:pPr>
            <a:r>
              <a:t>Serum folate (mg mL</a:t>
            </a:r>
            <a:r>
              <a:rPr baseline="31999"/>
              <a:t>-1</a:t>
            </a:r>
            <a:r>
              <a:t>)</a:t>
            </a:r>
          </a:p>
        </p:txBody>
      </p:sp>
      <p:sp>
        <p:nvSpPr>
          <p:cNvPr id="1217" name="Shape 1217"/>
          <p:cNvSpPr/>
          <p:nvPr/>
        </p:nvSpPr>
        <p:spPr>
          <a:xfrm rot="16200000">
            <a:off x="7528489" y="7312589"/>
            <a:ext cx="215113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p>
            <a:pPr>
              <a:tabLst>
                <a:tab pos="520700" algn="l"/>
              </a:tabLst>
              <a:defRPr>
                <a:solidFill>
                  <a:srgbClr val="000000"/>
                </a:solidFill>
              </a:defRPr>
            </a:pPr>
            <a:r>
              <a:t>Vitamin D (nmol L</a:t>
            </a:r>
            <a:r>
              <a:rPr baseline="31999"/>
              <a:t>-1</a:t>
            </a:r>
            <a:r>
              <a:t>)</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21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2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21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21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21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2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1" grpId="1" build="p" bldLvl="5"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9" name="Shape 1219"/>
          <p:cNvSpPr>
            <a:spLocks noGrp="1"/>
          </p:cNvSpPr>
          <p:nvPr>
            <p:ph type="title"/>
          </p:nvPr>
        </p:nvSpPr>
        <p:spPr>
          <a:prstGeom prst="rect">
            <a:avLst/>
          </a:prstGeom>
        </p:spPr>
        <p:txBody>
          <a:bodyPr/>
          <a:lstStyle>
            <a:lvl1pPr>
              <a:tabLst>
                <a:tab pos="952500" algn="l"/>
              </a:tabLst>
            </a:lvl1pPr>
          </a:lstStyle>
          <a:p>
            <a:r>
              <a:t>Skin Colour and Latitude</a:t>
            </a:r>
          </a:p>
        </p:txBody>
      </p:sp>
      <p:pic>
        <p:nvPicPr>
          <p:cNvPr id="1220" name="skin color map.pdf"/>
          <p:cNvPicPr>
            <a:picLocks noChangeAspect="1"/>
          </p:cNvPicPr>
          <p:nvPr/>
        </p:nvPicPr>
        <p:blipFill>
          <a:blip r:embed="rId2">
            <a:extLst/>
          </a:blip>
          <a:stretch>
            <a:fillRect/>
          </a:stretch>
        </p:blipFill>
        <p:spPr>
          <a:xfrm>
            <a:off x="965200" y="3273702"/>
            <a:ext cx="9867900" cy="4426658"/>
          </a:xfrm>
          <a:prstGeom prst="rect">
            <a:avLst/>
          </a:prstGeom>
          <a:ln w="12700">
            <a:miter lim="400000"/>
          </a:ln>
        </p:spPr>
      </p:pic>
      <p:grpSp>
        <p:nvGrpSpPr>
          <p:cNvPr id="1232" name="Group 1232"/>
          <p:cNvGrpSpPr/>
          <p:nvPr/>
        </p:nvGrpSpPr>
        <p:grpSpPr>
          <a:xfrm>
            <a:off x="812799" y="1320800"/>
            <a:ext cx="11121802" cy="3406933"/>
            <a:chOff x="0" y="0"/>
            <a:chExt cx="11121800" cy="3406932"/>
          </a:xfrm>
        </p:grpSpPr>
        <p:sp>
          <p:nvSpPr>
            <p:cNvPr id="1221" name="Shape 1221"/>
            <p:cNvSpPr/>
            <p:nvPr/>
          </p:nvSpPr>
          <p:spPr>
            <a:xfrm flipH="1" flipV="1">
              <a:off x="751840" y="1678939"/>
              <a:ext cx="1387975" cy="757974"/>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22" name="Shape 1222"/>
            <p:cNvSpPr/>
            <p:nvPr/>
          </p:nvSpPr>
          <p:spPr>
            <a:xfrm flipH="1" flipV="1">
              <a:off x="3139440" y="1739899"/>
              <a:ext cx="2050472" cy="1343757"/>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23" name="Shape 1223"/>
            <p:cNvSpPr/>
            <p:nvPr/>
          </p:nvSpPr>
          <p:spPr>
            <a:xfrm flipV="1">
              <a:off x="5274515" y="1638299"/>
              <a:ext cx="313485" cy="1332312"/>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24" name="Shape 1224"/>
            <p:cNvSpPr/>
            <p:nvPr/>
          </p:nvSpPr>
          <p:spPr>
            <a:xfrm flipV="1">
              <a:off x="7598459" y="1638300"/>
              <a:ext cx="316181" cy="1768633"/>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25" name="Shape 1225"/>
            <p:cNvSpPr/>
            <p:nvPr/>
          </p:nvSpPr>
          <p:spPr>
            <a:xfrm flipV="1">
              <a:off x="8602003" y="1709420"/>
              <a:ext cx="1659598" cy="1550283"/>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nvGrpSpPr>
            <p:cNvPr id="1231" name="Group 1231"/>
            <p:cNvGrpSpPr/>
            <p:nvPr/>
          </p:nvGrpSpPr>
          <p:grpSpPr>
            <a:xfrm>
              <a:off x="0" y="0"/>
              <a:ext cx="11121801" cy="1812701"/>
              <a:chOff x="0" y="0"/>
              <a:chExt cx="11121800" cy="1812700"/>
            </a:xfrm>
          </p:grpSpPr>
          <p:pic>
            <p:nvPicPr>
              <p:cNvPr id="1226" name="Japanese CA.jpg"/>
              <p:cNvPicPr>
                <a:picLocks noChangeAspect="1"/>
              </p:cNvPicPr>
              <p:nvPr/>
            </p:nvPicPr>
            <p:blipFill>
              <a:blip r:embed="rId3">
                <a:extLst/>
              </a:blip>
              <a:srcRect l="23496" t="845" r="13668" b="4666"/>
              <a:stretch>
                <a:fillRect/>
              </a:stretch>
            </p:blipFill>
            <p:spPr>
              <a:xfrm>
                <a:off x="9321800" y="12700"/>
                <a:ext cx="1800001" cy="1800001"/>
              </a:xfrm>
              <a:prstGeom prst="rect">
                <a:avLst/>
              </a:prstGeom>
              <a:ln w="25400" cap="flat">
                <a:solidFill>
                  <a:srgbClr val="FFFFFF"/>
                </a:solidFill>
                <a:prstDash val="solid"/>
                <a:miter lim="400000"/>
              </a:ln>
              <a:effectLst/>
            </p:spPr>
          </p:pic>
          <p:pic>
            <p:nvPicPr>
              <p:cNvPr id="1227" name="239096.jpg"/>
              <p:cNvPicPr>
                <a:picLocks noChangeAspect="1"/>
              </p:cNvPicPr>
              <p:nvPr/>
            </p:nvPicPr>
            <p:blipFill>
              <a:blip r:embed="rId4">
                <a:extLst/>
              </a:blip>
              <a:srcRect l="5370" t="3559" r="10062" b="3848"/>
              <a:stretch>
                <a:fillRect/>
              </a:stretch>
            </p:blipFill>
            <p:spPr>
              <a:xfrm>
                <a:off x="4673600" y="0"/>
                <a:ext cx="1800001" cy="1800001"/>
              </a:xfrm>
              <a:prstGeom prst="rect">
                <a:avLst/>
              </a:prstGeom>
              <a:ln w="25400" cap="flat">
                <a:solidFill>
                  <a:srgbClr val="FFFFFF"/>
                </a:solidFill>
                <a:prstDash val="solid"/>
                <a:miter lim="400000"/>
              </a:ln>
              <a:effectLst/>
            </p:spPr>
          </p:pic>
          <p:pic>
            <p:nvPicPr>
              <p:cNvPr id="1228" name="Han Chinese-COR.jpg"/>
              <p:cNvPicPr>
                <a:picLocks noChangeAspect="1"/>
              </p:cNvPicPr>
              <p:nvPr/>
            </p:nvPicPr>
            <p:blipFill>
              <a:blip r:embed="rId5">
                <a:extLst/>
              </a:blip>
              <a:srcRect l="3144" t="5173" r="7715" b="3161"/>
              <a:stretch>
                <a:fillRect/>
              </a:stretch>
            </p:blipFill>
            <p:spPr>
              <a:xfrm>
                <a:off x="7023100" y="0"/>
                <a:ext cx="1800001" cy="1800001"/>
              </a:xfrm>
              <a:prstGeom prst="rect">
                <a:avLst/>
              </a:prstGeom>
              <a:ln w="25400" cap="flat">
                <a:solidFill>
                  <a:srgbClr val="FFFFFF"/>
                </a:solidFill>
                <a:prstDash val="solid"/>
                <a:miter lim="400000"/>
              </a:ln>
              <a:effectLst/>
            </p:spPr>
          </p:pic>
          <p:pic>
            <p:nvPicPr>
              <p:cNvPr id="1229" name="European-COR.jpg"/>
              <p:cNvPicPr>
                <a:picLocks noChangeAspect="1"/>
              </p:cNvPicPr>
              <p:nvPr/>
            </p:nvPicPr>
            <p:blipFill>
              <a:blip r:embed="rId6">
                <a:extLst/>
              </a:blip>
              <a:srcRect t="502" b="28290"/>
              <a:stretch>
                <a:fillRect/>
              </a:stretch>
            </p:blipFill>
            <p:spPr>
              <a:xfrm>
                <a:off x="2336800" y="0"/>
                <a:ext cx="1800001" cy="1800001"/>
              </a:xfrm>
              <a:prstGeom prst="rect">
                <a:avLst/>
              </a:prstGeom>
              <a:ln w="25400" cap="flat">
                <a:solidFill>
                  <a:srgbClr val="FFFFFF"/>
                </a:solidFill>
                <a:prstDash val="solid"/>
                <a:miter lim="400000"/>
              </a:ln>
              <a:effectLst/>
            </p:spPr>
          </p:pic>
          <p:pic>
            <p:nvPicPr>
              <p:cNvPr id="1230" name="Inuit-COR.jpg"/>
              <p:cNvPicPr>
                <a:picLocks noChangeAspect="1"/>
              </p:cNvPicPr>
              <p:nvPr/>
            </p:nvPicPr>
            <p:blipFill>
              <a:blip r:embed="rId7">
                <a:extLst/>
              </a:blip>
              <a:srcRect l="7032" t="5377" r="9904" b="9935"/>
              <a:stretch>
                <a:fillRect/>
              </a:stretch>
            </p:blipFill>
            <p:spPr>
              <a:xfrm>
                <a:off x="0" y="0"/>
                <a:ext cx="1800001" cy="1800001"/>
              </a:xfrm>
              <a:prstGeom prst="rect">
                <a:avLst/>
              </a:prstGeom>
              <a:ln w="25400" cap="flat">
                <a:solidFill>
                  <a:srgbClr val="FFFFFF"/>
                </a:solidFill>
                <a:prstDash val="solid"/>
                <a:miter lim="400000"/>
              </a:ln>
              <a:effectLst/>
            </p:spPr>
          </p:pic>
        </p:grpSp>
      </p:grpSp>
      <p:grpSp>
        <p:nvGrpSpPr>
          <p:cNvPr id="1244" name="Group 1244"/>
          <p:cNvGrpSpPr/>
          <p:nvPr/>
        </p:nvGrpSpPr>
        <p:grpSpPr>
          <a:xfrm>
            <a:off x="927099" y="5425215"/>
            <a:ext cx="11147202" cy="4185286"/>
            <a:chOff x="0" y="48035"/>
            <a:chExt cx="11147200" cy="4185284"/>
          </a:xfrm>
        </p:grpSpPr>
        <p:sp>
          <p:nvSpPr>
            <p:cNvPr id="1233" name="Shape 1233"/>
            <p:cNvSpPr/>
            <p:nvPr/>
          </p:nvSpPr>
          <p:spPr>
            <a:xfrm>
              <a:off x="7764756" y="325728"/>
              <a:ext cx="2484145" cy="2193953"/>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34" name="Shape 1234"/>
            <p:cNvSpPr/>
            <p:nvPr/>
          </p:nvSpPr>
          <p:spPr>
            <a:xfrm>
              <a:off x="7044710" y="48035"/>
              <a:ext cx="847071" cy="2461485"/>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35" name="Shape 1235"/>
            <p:cNvSpPr/>
            <p:nvPr/>
          </p:nvSpPr>
          <p:spPr>
            <a:xfrm flipH="1">
              <a:off x="5514340" y="1142897"/>
              <a:ext cx="88216" cy="1386943"/>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36" name="Shape 1236"/>
            <p:cNvSpPr/>
            <p:nvPr/>
          </p:nvSpPr>
          <p:spPr>
            <a:xfrm flipH="1">
              <a:off x="3228340" y="438323"/>
              <a:ext cx="2551284" cy="2061038"/>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37" name="Shape 1237"/>
            <p:cNvSpPr/>
            <p:nvPr/>
          </p:nvSpPr>
          <p:spPr>
            <a:xfrm flipH="1">
              <a:off x="891539" y="179252"/>
              <a:ext cx="3807518" cy="2370908"/>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nvGrpSpPr>
            <p:cNvPr id="1243" name="Group 1243"/>
            <p:cNvGrpSpPr/>
            <p:nvPr/>
          </p:nvGrpSpPr>
          <p:grpSpPr>
            <a:xfrm>
              <a:off x="0" y="2431620"/>
              <a:ext cx="11147201" cy="1801701"/>
              <a:chOff x="0" y="0"/>
              <a:chExt cx="11147200" cy="1801699"/>
            </a:xfrm>
          </p:grpSpPr>
          <p:pic>
            <p:nvPicPr>
              <p:cNvPr id="1238" name="iStock_Liberian.jpg"/>
              <p:cNvPicPr>
                <a:picLocks noChangeAspect="1"/>
              </p:cNvPicPr>
              <p:nvPr/>
            </p:nvPicPr>
            <p:blipFill>
              <a:blip r:embed="rId8">
                <a:extLst/>
              </a:blip>
              <a:srcRect l="23348" t="4192" r="14214" b="1985"/>
              <a:stretch>
                <a:fillRect/>
              </a:stretch>
            </p:blipFill>
            <p:spPr>
              <a:xfrm>
                <a:off x="0" y="1699"/>
                <a:ext cx="1800001" cy="1800001"/>
              </a:xfrm>
              <a:prstGeom prst="rect">
                <a:avLst/>
              </a:prstGeom>
              <a:ln w="25400" cap="flat">
                <a:solidFill>
                  <a:srgbClr val="FFFFFF"/>
                </a:solidFill>
                <a:prstDash val="solid"/>
                <a:miter lim="400000"/>
              </a:ln>
              <a:effectLst/>
            </p:spPr>
          </p:pic>
          <p:pic>
            <p:nvPicPr>
              <p:cNvPr id="1239" name="Khoisan Botswana Lisa Gray WP.jpg"/>
              <p:cNvPicPr>
                <a:picLocks noChangeAspect="1"/>
              </p:cNvPicPr>
              <p:nvPr/>
            </p:nvPicPr>
            <p:blipFill>
              <a:blip r:embed="rId9">
                <a:extLst/>
              </a:blip>
              <a:srcRect l="5087" t="2413" r="1668" b="1357"/>
              <a:stretch>
                <a:fillRect/>
              </a:stretch>
            </p:blipFill>
            <p:spPr>
              <a:xfrm>
                <a:off x="4673600" y="1699"/>
                <a:ext cx="1800001" cy="1800001"/>
              </a:xfrm>
              <a:prstGeom prst="rect">
                <a:avLst/>
              </a:prstGeom>
              <a:ln w="25400" cap="flat">
                <a:solidFill>
                  <a:srgbClr val="FFFFFF"/>
                </a:solidFill>
                <a:prstDash val="solid"/>
                <a:miter lim="400000"/>
              </a:ln>
              <a:effectLst/>
            </p:spPr>
          </p:pic>
          <p:pic>
            <p:nvPicPr>
              <p:cNvPr id="1240" name="South india.jpg"/>
              <p:cNvPicPr>
                <a:picLocks noChangeAspect="1"/>
              </p:cNvPicPr>
              <p:nvPr/>
            </p:nvPicPr>
            <p:blipFill>
              <a:blip r:embed="rId10">
                <a:extLst/>
              </a:blip>
              <a:srcRect l="2031" t="705" r="1804"/>
              <a:stretch>
                <a:fillRect/>
              </a:stretch>
            </p:blipFill>
            <p:spPr>
              <a:xfrm>
                <a:off x="7010400" y="1699"/>
                <a:ext cx="1800001" cy="1783932"/>
              </a:xfrm>
              <a:prstGeom prst="rect">
                <a:avLst/>
              </a:prstGeom>
              <a:ln w="25400" cap="flat">
                <a:solidFill>
                  <a:srgbClr val="FFFFFF"/>
                </a:solidFill>
                <a:prstDash val="solid"/>
                <a:miter lim="400000"/>
              </a:ln>
              <a:effectLst/>
            </p:spPr>
          </p:pic>
          <p:pic>
            <p:nvPicPr>
              <p:cNvPr id="1241" name="malay boy-COR.jpg"/>
              <p:cNvPicPr>
                <a:picLocks noChangeAspect="1"/>
              </p:cNvPicPr>
              <p:nvPr/>
            </p:nvPicPr>
            <p:blipFill>
              <a:blip r:embed="rId11">
                <a:extLst/>
              </a:blip>
              <a:srcRect l="2039" t="17319" r="1601" b="17365"/>
              <a:stretch>
                <a:fillRect/>
              </a:stretch>
            </p:blipFill>
            <p:spPr>
              <a:xfrm>
                <a:off x="9347200" y="0"/>
                <a:ext cx="1800001" cy="1800001"/>
              </a:xfrm>
              <a:prstGeom prst="rect">
                <a:avLst/>
              </a:prstGeom>
              <a:ln w="25400" cap="flat">
                <a:solidFill>
                  <a:srgbClr val="FFFFFF"/>
                </a:solidFill>
                <a:prstDash val="solid"/>
                <a:miter lim="400000"/>
              </a:ln>
              <a:effectLst/>
            </p:spPr>
          </p:pic>
          <p:pic>
            <p:nvPicPr>
              <p:cNvPr id="1242" name="Burundi Hutu-COR.jpg"/>
              <p:cNvPicPr>
                <a:picLocks noChangeAspect="1"/>
              </p:cNvPicPr>
              <p:nvPr/>
            </p:nvPicPr>
            <p:blipFill>
              <a:blip r:embed="rId12">
                <a:extLst/>
              </a:blip>
              <a:srcRect l="4919" t="1754" r="7915" b="15361"/>
              <a:stretch>
                <a:fillRect/>
              </a:stretch>
            </p:blipFill>
            <p:spPr>
              <a:xfrm>
                <a:off x="2336800" y="1699"/>
                <a:ext cx="1800001" cy="1800001"/>
              </a:xfrm>
              <a:prstGeom prst="rect">
                <a:avLst/>
              </a:prstGeom>
              <a:ln w="25400" cap="flat">
                <a:solidFill>
                  <a:srgbClr val="FFFFFF"/>
                </a:solidFill>
                <a:prstDash val="solid"/>
                <a:miter lim="400000"/>
              </a:ln>
              <a:effectLst/>
            </p:spPr>
          </p:pic>
        </p:gr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7" name="Shape 1317"/>
          <p:cNvSpPr/>
          <p:nvPr/>
        </p:nvSpPr>
        <p:spPr>
          <a:xfrm>
            <a:off x="6738064" y="1357193"/>
            <a:ext cx="6292137" cy="8383707"/>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318" name="Shape 1318"/>
          <p:cNvSpPr>
            <a:spLocks noGrp="1"/>
          </p:cNvSpPr>
          <p:nvPr>
            <p:ph type="title"/>
          </p:nvPr>
        </p:nvSpPr>
        <p:spPr>
          <a:prstGeom prst="rect">
            <a:avLst/>
          </a:prstGeom>
        </p:spPr>
        <p:txBody>
          <a:bodyPr/>
          <a:lstStyle>
            <a:lvl1pPr>
              <a:tabLst>
                <a:tab pos="952500" algn="l"/>
              </a:tabLst>
            </a:lvl1pPr>
          </a:lstStyle>
          <a:p>
            <a:r>
              <a:t>Heterozygote Advantage</a:t>
            </a:r>
          </a:p>
        </p:txBody>
      </p:sp>
      <p:sp>
        <p:nvSpPr>
          <p:cNvPr id="1319" name="Shape 1319"/>
          <p:cNvSpPr>
            <a:spLocks noGrp="1"/>
          </p:cNvSpPr>
          <p:nvPr>
            <p:ph type="body" sz="half" idx="1"/>
          </p:nvPr>
        </p:nvSpPr>
        <p:spPr>
          <a:prstGeom prst="rect">
            <a:avLst/>
          </a:prstGeom>
        </p:spPr>
        <p:txBody>
          <a:bodyPr/>
          <a:lstStyle/>
          <a:p>
            <a:pPr>
              <a:tabLst>
                <a:tab pos="1016000" algn="l"/>
              </a:tabLst>
            </a:pPr>
            <a:r>
              <a:t>Sometimes, individuals that are heterozygous for a gene (Aa) are more common in the population than would </a:t>
            </a:r>
            <a:br/>
            <a:r>
              <a:t>be expected.</a:t>
            </a:r>
          </a:p>
          <a:p>
            <a:pPr>
              <a:tabLst>
                <a:tab pos="1016000" algn="l"/>
              </a:tabLst>
            </a:pPr>
            <a:r>
              <a:t>This is because the heterozygous condition can have higher fitness than either homozygote (AA or aa).</a:t>
            </a:r>
          </a:p>
          <a:p>
            <a:pPr>
              <a:tabLst>
                <a:tab pos="1016000" algn="l"/>
              </a:tabLst>
            </a:pPr>
            <a:r>
              <a:t>This is termed heterozygote advantage.</a:t>
            </a:r>
          </a:p>
          <a:p>
            <a:pPr>
              <a:tabLst>
                <a:tab pos="1016000" algn="l"/>
              </a:tabLst>
            </a:pPr>
            <a:r>
              <a:t>Example: Individuals heterozygous for the  sickle cell mutation have higher fitness that either homozygous conditions.</a:t>
            </a:r>
          </a:p>
          <a:p>
            <a:pPr lvl="1">
              <a:tabLst>
                <a:tab pos="1485900" algn="l"/>
              </a:tabLst>
            </a:pPr>
            <a:r>
              <a:t>The sickle cell mutation produces haemoglobin differing by one amino acid in the beta chain. This causes red blood cells to deform and clump together, causing circulatory and organ function problems. </a:t>
            </a:r>
          </a:p>
        </p:txBody>
      </p:sp>
      <p:grpSp>
        <p:nvGrpSpPr>
          <p:cNvPr id="1322" name="Group 1322"/>
          <p:cNvGrpSpPr/>
          <p:nvPr/>
        </p:nvGrpSpPr>
        <p:grpSpPr>
          <a:xfrm>
            <a:off x="6946225" y="6946711"/>
            <a:ext cx="5484842" cy="2296596"/>
            <a:chOff x="-483274" y="28184"/>
            <a:chExt cx="5484840" cy="2296595"/>
          </a:xfrm>
        </p:grpSpPr>
        <p:sp>
          <p:nvSpPr>
            <p:cNvPr id="1320" name="Shape 1320"/>
            <p:cNvSpPr/>
            <p:nvPr/>
          </p:nvSpPr>
          <p:spPr>
            <a:xfrm>
              <a:off x="2334566" y="498272"/>
              <a:ext cx="2667001" cy="94419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700"/>
                </a:lnSpc>
                <a:tabLst>
                  <a:tab pos="520700" algn="l"/>
                </a:tabLst>
                <a:defRPr sz="2000">
                  <a:solidFill>
                    <a:srgbClr val="005B86"/>
                  </a:solidFill>
                  <a:latin typeface="Hoefler Text"/>
                  <a:ea typeface="Hoefler Text"/>
                  <a:cs typeface="Hoefler Text"/>
                  <a:sym typeface="Hoefler Text"/>
                </a:defRPr>
              </a:pPr>
              <a:r>
                <a:rPr b="1" i="1">
                  <a:latin typeface="+mn-lt"/>
                  <a:ea typeface="+mn-ea"/>
                  <a:cs typeface="+mn-cs"/>
                  <a:sym typeface="Arial"/>
                </a:rPr>
                <a:t>Hb</a:t>
              </a:r>
              <a:r>
                <a:rPr b="1" i="1" baseline="31999">
                  <a:latin typeface="+mn-lt"/>
                  <a:ea typeface="+mn-ea"/>
                  <a:cs typeface="+mn-cs"/>
                  <a:sym typeface="Arial"/>
                </a:rPr>
                <a:t>S</a:t>
              </a:r>
              <a:r>
                <a:rPr>
                  <a:latin typeface="+mn-lt"/>
                  <a:ea typeface="+mn-ea"/>
                  <a:cs typeface="+mn-cs"/>
                  <a:sym typeface="Arial"/>
                </a:rPr>
                <a:t>, </a:t>
              </a:r>
              <a:r>
                <a:rPr b="1" i="1">
                  <a:latin typeface="+mn-lt"/>
                  <a:ea typeface="+mn-ea"/>
                  <a:cs typeface="+mn-cs"/>
                  <a:sym typeface="Arial"/>
                </a:rPr>
                <a:t>Hb</a:t>
              </a:r>
              <a:r>
                <a:rPr b="1" i="1" baseline="31999">
                  <a:latin typeface="+mn-lt"/>
                  <a:ea typeface="+mn-ea"/>
                  <a:cs typeface="+mn-cs"/>
                  <a:sym typeface="Arial"/>
                </a:rPr>
                <a:t>S</a:t>
              </a:r>
              <a:endParaRPr>
                <a:latin typeface="+mn-lt"/>
                <a:ea typeface="+mn-ea"/>
                <a:cs typeface="+mn-cs"/>
                <a:sym typeface="Arial"/>
              </a:endParaRPr>
            </a:p>
            <a:p>
              <a:pPr algn="ctr">
                <a:lnSpc>
                  <a:spcPts val="2700"/>
                </a:lnSpc>
                <a:tabLst>
                  <a:tab pos="520700" algn="l"/>
                </a:tabLst>
                <a:defRPr sz="2000">
                  <a:solidFill>
                    <a:srgbClr val="005B86"/>
                  </a:solidFill>
                  <a:latin typeface="Hoefler Text"/>
                  <a:ea typeface="Hoefler Text"/>
                  <a:cs typeface="Hoefler Text"/>
                  <a:sym typeface="Hoefler Text"/>
                </a:defRPr>
              </a:pPr>
              <a:r>
                <a:rPr>
                  <a:latin typeface="+mn-lt"/>
                  <a:ea typeface="+mn-ea"/>
                  <a:cs typeface="+mn-cs"/>
                  <a:sym typeface="Arial"/>
                </a:rPr>
                <a:t>All red blood cells are sickle shaped</a:t>
              </a:r>
            </a:p>
          </p:txBody>
        </p:sp>
        <p:pic>
          <p:nvPicPr>
            <p:cNvPr id="1321" name="Sickle Blood Cells 3.png"/>
            <p:cNvPicPr>
              <a:picLocks noChangeAspect="1"/>
            </p:cNvPicPr>
            <p:nvPr/>
          </p:nvPicPr>
          <p:blipFill>
            <a:blip r:embed="rId2">
              <a:extLst/>
            </a:blip>
            <a:stretch>
              <a:fillRect/>
            </a:stretch>
          </p:blipFill>
          <p:spPr>
            <a:xfrm>
              <a:off x="-483275" y="28184"/>
              <a:ext cx="2786034" cy="2296596"/>
            </a:xfrm>
            <a:prstGeom prst="rect">
              <a:avLst/>
            </a:prstGeom>
            <a:ln w="12700" cap="flat">
              <a:noFill/>
              <a:miter lim="400000"/>
            </a:ln>
            <a:effectLst/>
          </p:spPr>
        </p:pic>
      </p:grpSp>
      <p:sp>
        <p:nvSpPr>
          <p:cNvPr id="1323" name="Shape 1323"/>
          <p:cNvSpPr/>
          <p:nvPr/>
        </p:nvSpPr>
        <p:spPr>
          <a:xfrm>
            <a:off x="9758326" y="1676400"/>
            <a:ext cx="2679701" cy="9441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700"/>
              </a:lnSpc>
              <a:tabLst>
                <a:tab pos="520700" algn="l"/>
              </a:tabLst>
              <a:defRPr sz="2000">
                <a:solidFill>
                  <a:srgbClr val="005B86"/>
                </a:solidFill>
                <a:latin typeface="Hoefler Text"/>
                <a:ea typeface="Hoefler Text"/>
                <a:cs typeface="Hoefler Text"/>
                <a:sym typeface="Hoefler Text"/>
              </a:defRPr>
            </a:pPr>
            <a:r>
              <a:rPr b="1" i="1">
                <a:latin typeface="+mn-lt"/>
                <a:ea typeface="+mn-ea"/>
                <a:cs typeface="+mn-cs"/>
                <a:sym typeface="Arial"/>
              </a:rPr>
              <a:t>Hb</a:t>
            </a:r>
            <a:r>
              <a:rPr>
                <a:latin typeface="+mn-lt"/>
                <a:ea typeface="+mn-ea"/>
                <a:cs typeface="+mn-cs"/>
                <a:sym typeface="Arial"/>
              </a:rPr>
              <a:t>, </a:t>
            </a:r>
            <a:r>
              <a:rPr b="1" i="1">
                <a:latin typeface="+mn-lt"/>
                <a:ea typeface="+mn-ea"/>
                <a:cs typeface="+mn-cs"/>
                <a:sym typeface="Arial"/>
              </a:rPr>
              <a:t>Hb</a:t>
            </a:r>
            <a:endParaRPr>
              <a:latin typeface="+mn-lt"/>
              <a:ea typeface="+mn-ea"/>
              <a:cs typeface="+mn-cs"/>
              <a:sym typeface="Arial"/>
            </a:endParaRPr>
          </a:p>
          <a:p>
            <a:pPr algn="ctr">
              <a:lnSpc>
                <a:spcPts val="2700"/>
              </a:lnSpc>
              <a:tabLst>
                <a:tab pos="520700" algn="l"/>
              </a:tabLst>
              <a:defRPr sz="2000">
                <a:solidFill>
                  <a:srgbClr val="005B86"/>
                </a:solidFill>
                <a:latin typeface="Hoefler Text"/>
                <a:ea typeface="Hoefler Text"/>
                <a:cs typeface="Hoefler Text"/>
                <a:sym typeface="Hoefler Text"/>
              </a:defRPr>
            </a:pPr>
            <a:r>
              <a:rPr>
                <a:latin typeface="+mn-lt"/>
                <a:ea typeface="+mn-ea"/>
                <a:cs typeface="+mn-cs"/>
                <a:sym typeface="Arial"/>
              </a:rPr>
              <a:t>All red blood cells are normal</a:t>
            </a:r>
          </a:p>
        </p:txBody>
      </p:sp>
      <p:sp>
        <p:nvSpPr>
          <p:cNvPr id="1324" name="Shape 1324"/>
          <p:cNvSpPr/>
          <p:nvPr/>
        </p:nvSpPr>
        <p:spPr>
          <a:xfrm>
            <a:off x="9602900" y="4254500"/>
            <a:ext cx="2997201" cy="9441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700"/>
              </a:lnSpc>
              <a:tabLst>
                <a:tab pos="520700" algn="l"/>
              </a:tabLst>
              <a:defRPr sz="2000">
                <a:solidFill>
                  <a:srgbClr val="005B86"/>
                </a:solidFill>
                <a:latin typeface="Hoefler Text"/>
                <a:ea typeface="Hoefler Text"/>
                <a:cs typeface="Hoefler Text"/>
                <a:sym typeface="Hoefler Text"/>
              </a:defRPr>
            </a:pPr>
            <a:r>
              <a:rPr b="1" i="1">
                <a:latin typeface="+mn-lt"/>
                <a:ea typeface="+mn-ea"/>
                <a:cs typeface="+mn-cs"/>
                <a:sym typeface="Arial"/>
              </a:rPr>
              <a:t>Hb</a:t>
            </a:r>
            <a:r>
              <a:rPr b="1" i="1" baseline="31999">
                <a:latin typeface="+mn-lt"/>
                <a:ea typeface="+mn-ea"/>
                <a:cs typeface="+mn-cs"/>
                <a:sym typeface="Arial"/>
              </a:rPr>
              <a:t>S</a:t>
            </a:r>
            <a:r>
              <a:rPr>
                <a:latin typeface="+mn-lt"/>
                <a:ea typeface="+mn-ea"/>
                <a:cs typeface="+mn-cs"/>
                <a:sym typeface="Arial"/>
              </a:rPr>
              <a:t>, </a:t>
            </a:r>
            <a:r>
              <a:rPr b="1" i="1">
                <a:latin typeface="+mn-lt"/>
                <a:ea typeface="+mn-ea"/>
                <a:cs typeface="+mn-cs"/>
                <a:sym typeface="Arial"/>
              </a:rPr>
              <a:t>Hb</a:t>
            </a:r>
            <a:endParaRPr>
              <a:latin typeface="+mn-lt"/>
              <a:ea typeface="+mn-ea"/>
              <a:cs typeface="+mn-cs"/>
              <a:sym typeface="Arial"/>
            </a:endParaRPr>
          </a:p>
          <a:p>
            <a:pPr algn="ctr">
              <a:lnSpc>
                <a:spcPts val="2700"/>
              </a:lnSpc>
              <a:tabLst>
                <a:tab pos="520700" algn="l"/>
              </a:tabLst>
              <a:defRPr sz="2000">
                <a:solidFill>
                  <a:srgbClr val="005B86"/>
                </a:solidFill>
                <a:latin typeface="Hoefler Text"/>
                <a:ea typeface="Hoefler Text"/>
                <a:cs typeface="Hoefler Text"/>
                <a:sym typeface="Hoefler Text"/>
              </a:defRPr>
            </a:pPr>
            <a:r>
              <a:rPr>
                <a:latin typeface="+mn-lt"/>
                <a:ea typeface="+mn-ea"/>
                <a:cs typeface="+mn-cs"/>
                <a:sym typeface="Arial"/>
              </a:rPr>
              <a:t>Mix of normal and sickle red blood cells</a:t>
            </a:r>
          </a:p>
        </p:txBody>
      </p:sp>
      <p:pic>
        <p:nvPicPr>
          <p:cNvPr id="1325" name="Sickle Blood Cells 1.png"/>
          <p:cNvPicPr>
            <a:picLocks noChangeAspect="1"/>
          </p:cNvPicPr>
          <p:nvPr/>
        </p:nvPicPr>
        <p:blipFill>
          <a:blip r:embed="rId3">
            <a:extLst/>
          </a:blip>
          <a:stretch>
            <a:fillRect/>
          </a:stretch>
        </p:blipFill>
        <p:spPr>
          <a:xfrm>
            <a:off x="6993096" y="1507331"/>
            <a:ext cx="2561807" cy="1864317"/>
          </a:xfrm>
          <a:prstGeom prst="rect">
            <a:avLst/>
          </a:prstGeom>
          <a:ln w="12700">
            <a:miter lim="400000"/>
          </a:ln>
        </p:spPr>
      </p:pic>
      <p:pic>
        <p:nvPicPr>
          <p:cNvPr id="1326" name="Sickle Blood Cells 2.png"/>
          <p:cNvPicPr>
            <a:picLocks noChangeAspect="1"/>
          </p:cNvPicPr>
          <p:nvPr/>
        </p:nvPicPr>
        <p:blipFill>
          <a:blip r:embed="rId4">
            <a:extLst/>
          </a:blip>
          <a:stretch>
            <a:fillRect/>
          </a:stretch>
        </p:blipFill>
        <p:spPr>
          <a:xfrm>
            <a:off x="6962735" y="3859560"/>
            <a:ext cx="2837371" cy="211198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1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31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31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31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31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3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9" grpId="1" build="p" bldLvl="5"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8" name="Shape 1328"/>
          <p:cNvSpPr/>
          <p:nvPr/>
        </p:nvSpPr>
        <p:spPr>
          <a:xfrm>
            <a:off x="8101886" y="-28100"/>
            <a:ext cx="4928315" cy="9769000"/>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329" name="Shape 1329"/>
          <p:cNvSpPr>
            <a:spLocks noGrp="1"/>
          </p:cNvSpPr>
          <p:nvPr>
            <p:ph type="title"/>
          </p:nvPr>
        </p:nvSpPr>
        <p:spPr>
          <a:prstGeom prst="rect">
            <a:avLst/>
          </a:prstGeom>
        </p:spPr>
        <p:txBody>
          <a:bodyPr/>
          <a:lstStyle>
            <a:lvl1pPr>
              <a:tabLst>
                <a:tab pos="952500" algn="l"/>
              </a:tabLst>
            </a:lvl1pPr>
          </a:lstStyle>
          <a:p>
            <a:r>
              <a:t>Sickle Cell Gene</a:t>
            </a:r>
          </a:p>
        </p:txBody>
      </p:sp>
      <p:sp>
        <p:nvSpPr>
          <p:cNvPr id="1330" name="Shape 1330"/>
          <p:cNvSpPr>
            <a:spLocks noGrp="1"/>
          </p:cNvSpPr>
          <p:nvPr>
            <p:ph type="body" sz="half" idx="1"/>
          </p:nvPr>
        </p:nvSpPr>
        <p:spPr>
          <a:xfrm>
            <a:off x="368300" y="1790700"/>
            <a:ext cx="6599337" cy="7098308"/>
          </a:xfrm>
          <a:prstGeom prst="rect">
            <a:avLst/>
          </a:prstGeom>
        </p:spPr>
        <p:txBody>
          <a:bodyPr/>
          <a:lstStyle/>
          <a:p>
            <a:pPr>
              <a:tabLst>
                <a:tab pos="1016000" algn="l"/>
              </a:tabLst>
            </a:pPr>
            <a:r>
              <a:t>The heterozygote advantage of the sickle cell mutation is apparent in regions where malaria is endemic. Why?</a:t>
            </a:r>
          </a:p>
          <a:p>
            <a:pPr lvl="1">
              <a:tabLst>
                <a:tab pos="1485900" algn="l"/>
              </a:tabLst>
            </a:pPr>
            <a:r>
              <a:t>Malaria is transmitted by certain species of </a:t>
            </a:r>
            <a:br/>
            <a:r>
              <a:t>mosquito which spreads the intracellular protozoan parasite, </a:t>
            </a:r>
            <a:r>
              <a:rPr i="1"/>
              <a:t>Plasmodium</a:t>
            </a:r>
            <a:r>
              <a:t>.</a:t>
            </a:r>
          </a:p>
          <a:p>
            <a:pPr lvl="1">
              <a:tabLst>
                <a:tab pos="1485900" algn="l"/>
              </a:tabLst>
            </a:pPr>
            <a:r>
              <a:t>Sickle cells have low potassium levels and the parasites infecting these cells die.</a:t>
            </a:r>
          </a:p>
          <a:p>
            <a:pPr lvl="1">
              <a:tabLst>
                <a:tab pos="1485900" algn="l"/>
              </a:tabLst>
            </a:pPr>
            <a:r>
              <a:t>Individuals with a normal phenotype (Hb,Hb) are very susceptible to malaria. Heterozygotes (HbS,Hb) are much less so. Sickle cell homozygotes (HbS, HbS) die from sickle cell disease.</a:t>
            </a:r>
          </a:p>
          <a:p>
            <a:pPr lvl="1">
              <a:tabLst>
                <a:tab pos="1485900" algn="l"/>
              </a:tabLst>
            </a:pPr>
            <a:r>
              <a:t>In regions where malaria is prevalent, the HbS allele is present in moderately high frequencies.</a:t>
            </a:r>
          </a:p>
          <a:p>
            <a:pPr>
              <a:tabLst>
                <a:tab pos="1016000" algn="l"/>
              </a:tabLst>
            </a:pPr>
            <a:r>
              <a:t>This is a balanced lethal system because neither of the homozygotes produces a phenotype with high fitness.</a:t>
            </a:r>
          </a:p>
        </p:txBody>
      </p:sp>
      <p:pic>
        <p:nvPicPr>
          <p:cNvPr id="1331" name="Anopheles gambiae CDC.png"/>
          <p:cNvPicPr>
            <a:picLocks noChangeAspect="1"/>
          </p:cNvPicPr>
          <p:nvPr/>
        </p:nvPicPr>
        <p:blipFill>
          <a:blip r:embed="rId2">
            <a:extLst/>
          </a:blip>
          <a:stretch>
            <a:fillRect/>
          </a:stretch>
        </p:blipFill>
        <p:spPr>
          <a:xfrm flipH="1">
            <a:off x="8008619" y="63500"/>
            <a:ext cx="5080001" cy="2298700"/>
          </a:xfrm>
          <a:prstGeom prst="rect">
            <a:avLst/>
          </a:prstGeom>
          <a:ln w="12700">
            <a:miter lim="400000"/>
          </a:ln>
        </p:spPr>
      </p:pic>
      <p:sp>
        <p:nvSpPr>
          <p:cNvPr id="1332" name="Shape 1332"/>
          <p:cNvSpPr/>
          <p:nvPr/>
        </p:nvSpPr>
        <p:spPr>
          <a:xfrm>
            <a:off x="9402608" y="2385060"/>
            <a:ext cx="2997201" cy="2837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400"/>
              </a:lnSpc>
              <a:tabLst>
                <a:tab pos="520700" algn="l"/>
              </a:tabLst>
              <a:defRPr sz="2000">
                <a:solidFill>
                  <a:srgbClr val="005B86"/>
                </a:solidFill>
              </a:defRPr>
            </a:pPr>
            <a:r>
              <a:rPr i="1"/>
              <a:t>Anopheles</a:t>
            </a:r>
            <a:r>
              <a:t> mosquito</a:t>
            </a:r>
          </a:p>
        </p:txBody>
      </p:sp>
      <p:pic>
        <p:nvPicPr>
          <p:cNvPr id="1333" name="SickleCell.jpg"/>
          <p:cNvPicPr>
            <a:picLocks noChangeAspect="1"/>
          </p:cNvPicPr>
          <p:nvPr/>
        </p:nvPicPr>
        <p:blipFill>
          <a:blip r:embed="rId3">
            <a:extLst/>
          </a:blip>
          <a:stretch>
            <a:fillRect/>
          </a:stretch>
        </p:blipFill>
        <p:spPr>
          <a:xfrm>
            <a:off x="8114227" y="2902133"/>
            <a:ext cx="4917142" cy="6406244"/>
          </a:xfrm>
          <a:prstGeom prst="rect">
            <a:avLst/>
          </a:prstGeom>
          <a:ln w="25400">
            <a:solidFill>
              <a:srgbClr val="FFFFFF"/>
            </a:solidFill>
            <a:miter lim="400000"/>
          </a:ln>
        </p:spPr>
      </p:pic>
      <p:sp>
        <p:nvSpPr>
          <p:cNvPr id="1334" name="Shape 1334"/>
          <p:cNvSpPr/>
          <p:nvPr/>
        </p:nvSpPr>
        <p:spPr>
          <a:xfrm>
            <a:off x="8867140" y="6626859"/>
            <a:ext cx="931913" cy="57589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nSpc>
                <a:spcPts val="2400"/>
              </a:lnSpc>
              <a:tabLst>
                <a:tab pos="520700" algn="l"/>
              </a:tabLst>
              <a:defRPr sz="2000" b="1">
                <a:solidFill>
                  <a:srgbClr val="FFFFFF"/>
                </a:solidFill>
              </a:defRPr>
            </a:pPr>
            <a:r>
              <a:t>Sickle</a:t>
            </a:r>
          </a:p>
          <a:p>
            <a:pPr>
              <a:lnSpc>
                <a:spcPts val="2400"/>
              </a:lnSpc>
              <a:tabLst>
                <a:tab pos="520700" algn="l"/>
              </a:tabLst>
              <a:defRPr sz="2000" b="1">
                <a:solidFill>
                  <a:srgbClr val="FFFFFF"/>
                </a:solidFill>
              </a:defRPr>
            </a:pPr>
            <a:r>
              <a:t>cell</a:t>
            </a:r>
          </a:p>
        </p:txBody>
      </p:sp>
      <p:sp>
        <p:nvSpPr>
          <p:cNvPr id="1335" name="Shape 1335"/>
          <p:cNvSpPr/>
          <p:nvPr/>
        </p:nvSpPr>
        <p:spPr>
          <a:xfrm rot="16200000">
            <a:off x="7754619" y="8557259"/>
            <a:ext cx="1171651" cy="13970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1200"/>
              </a:lnSpc>
              <a:tabLst>
                <a:tab pos="520700" algn="l"/>
              </a:tabLst>
              <a:defRPr sz="1000">
                <a:solidFill>
                  <a:srgbClr val="000000"/>
                </a:solidFill>
              </a:defRPr>
            </a:lvl1pPr>
          </a:lstStyle>
          <a:p>
            <a:pPr>
              <a:defRPr sz="2000"/>
            </a:pPr>
            <a:r>
              <a:rPr sz="1000"/>
              <a:t>Photo Defiers.com</a:t>
            </a:r>
          </a:p>
        </p:txBody>
      </p:sp>
      <p:sp>
        <p:nvSpPr>
          <p:cNvPr id="1336" name="Shape 1336"/>
          <p:cNvSpPr/>
          <p:nvPr/>
        </p:nvSpPr>
        <p:spPr>
          <a:xfrm>
            <a:off x="8211348" y="9372600"/>
            <a:ext cx="4802109" cy="2837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sz="2000">
                <a:solidFill>
                  <a:srgbClr val="005B86"/>
                </a:solidFill>
              </a:defRPr>
            </a:lvl1pPr>
          </a:lstStyle>
          <a:p>
            <a:r>
              <a:t>Sickle cell: note its pale appearance</a:t>
            </a:r>
          </a:p>
        </p:txBody>
      </p:sp>
      <p:sp>
        <p:nvSpPr>
          <p:cNvPr id="1337" name="Shape 1337"/>
          <p:cNvSpPr/>
          <p:nvPr/>
        </p:nvSpPr>
        <p:spPr>
          <a:xfrm>
            <a:off x="10647680" y="4925059"/>
            <a:ext cx="1637606" cy="28379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400"/>
              </a:lnSpc>
              <a:tabLst>
                <a:tab pos="520700" algn="l"/>
              </a:tabLst>
              <a:defRPr sz="2000" b="1">
                <a:solidFill>
                  <a:srgbClr val="FFFFFF"/>
                </a:solidFill>
              </a:defRPr>
            </a:lvl1pPr>
          </a:lstStyle>
          <a:p>
            <a:r>
              <a:t>Normal cells</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3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33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33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33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33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33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133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0" grpId="1" build="p" bldLvl="5"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9" name="Sickle Cell-Malaria Map 1.png"/>
          <p:cNvPicPr>
            <a:picLocks noChangeAspect="1"/>
          </p:cNvPicPr>
          <p:nvPr/>
        </p:nvPicPr>
        <p:blipFill>
          <a:blip r:embed="rId2">
            <a:extLst/>
          </a:blip>
          <a:stretch>
            <a:fillRect/>
          </a:stretch>
        </p:blipFill>
        <p:spPr>
          <a:xfrm>
            <a:off x="226919" y="1416259"/>
            <a:ext cx="6635537" cy="4857575"/>
          </a:xfrm>
          <a:prstGeom prst="rect">
            <a:avLst/>
          </a:prstGeom>
          <a:ln w="12700">
            <a:miter lim="400000"/>
          </a:ln>
        </p:spPr>
      </p:pic>
      <p:pic>
        <p:nvPicPr>
          <p:cNvPr id="1340" name="Sickle Cell-Malaria Map 2.png"/>
          <p:cNvPicPr>
            <a:picLocks noChangeAspect="1"/>
          </p:cNvPicPr>
          <p:nvPr/>
        </p:nvPicPr>
        <p:blipFill>
          <a:blip r:embed="rId3">
            <a:extLst/>
          </a:blip>
          <a:stretch>
            <a:fillRect/>
          </a:stretch>
        </p:blipFill>
        <p:spPr>
          <a:xfrm>
            <a:off x="5944410" y="3443353"/>
            <a:ext cx="6816749" cy="5000347"/>
          </a:xfrm>
          <a:prstGeom prst="rect">
            <a:avLst/>
          </a:prstGeom>
          <a:ln w="12700">
            <a:miter lim="400000"/>
          </a:ln>
        </p:spPr>
      </p:pic>
      <p:sp>
        <p:nvSpPr>
          <p:cNvPr id="1341" name="Shape 1341"/>
          <p:cNvSpPr>
            <a:spLocks noGrp="1"/>
          </p:cNvSpPr>
          <p:nvPr>
            <p:ph type="title"/>
          </p:nvPr>
        </p:nvSpPr>
        <p:spPr>
          <a:prstGeom prst="rect">
            <a:avLst/>
          </a:prstGeom>
        </p:spPr>
        <p:txBody>
          <a:bodyPr/>
          <a:lstStyle>
            <a:lvl1pPr>
              <a:tabLst>
                <a:tab pos="952500" algn="l"/>
              </a:tabLst>
            </a:lvl1pPr>
          </a:lstStyle>
          <a:p>
            <a:r>
              <a:t>Sickle Cell Disease &amp; Malaria</a:t>
            </a:r>
          </a:p>
        </p:txBody>
      </p:sp>
      <p:sp>
        <p:nvSpPr>
          <p:cNvPr id="1342" name="Shape 1342"/>
          <p:cNvSpPr/>
          <p:nvPr/>
        </p:nvSpPr>
        <p:spPr>
          <a:xfrm>
            <a:off x="7573904" y="3060700"/>
            <a:ext cx="4390142" cy="28379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700"/>
              </a:lnSpc>
              <a:tabLst>
                <a:tab pos="520700" algn="l"/>
              </a:tabLst>
              <a:defRPr sz="2000" b="1">
                <a:solidFill>
                  <a:srgbClr val="483F36"/>
                </a:solidFill>
              </a:defRPr>
            </a:pPr>
            <a:r>
              <a:rPr>
                <a:solidFill>
                  <a:srgbClr val="201B17"/>
                </a:solidFill>
              </a:rPr>
              <a:t>Frequency of sickle cell allele (Hb</a:t>
            </a:r>
            <a:r>
              <a:rPr baseline="31999">
                <a:solidFill>
                  <a:srgbClr val="201B17"/>
                </a:solidFill>
              </a:rPr>
              <a:t>S</a:t>
            </a:r>
            <a:r>
              <a:rPr>
                <a:solidFill>
                  <a:srgbClr val="201B17"/>
                </a:solidFill>
              </a:rPr>
              <a:t>)</a:t>
            </a:r>
          </a:p>
        </p:txBody>
      </p:sp>
      <p:sp>
        <p:nvSpPr>
          <p:cNvPr id="1343" name="Shape 1343"/>
          <p:cNvSpPr/>
          <p:nvPr/>
        </p:nvSpPr>
        <p:spPr>
          <a:xfrm>
            <a:off x="634083" y="6489700"/>
            <a:ext cx="4927601" cy="19347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700"/>
              </a:lnSpc>
              <a:tabLst>
                <a:tab pos="520700" algn="l"/>
              </a:tabLst>
              <a:defRPr sz="2000" b="1">
                <a:solidFill>
                  <a:srgbClr val="005B86"/>
                </a:solidFill>
              </a:defRPr>
            </a:pPr>
            <a:r>
              <a:t>Incidence of falciparum malaria</a:t>
            </a:r>
          </a:p>
          <a:p>
            <a:pPr algn="ctr">
              <a:lnSpc>
                <a:spcPts val="2700"/>
              </a:lnSpc>
              <a:tabLst>
                <a:tab pos="520700" algn="l"/>
              </a:tabLst>
              <a:defRPr sz="2000">
                <a:solidFill>
                  <a:srgbClr val="005B86"/>
                </a:solidFill>
              </a:defRPr>
            </a:pPr>
            <a:r>
              <a:t>Falciparum malaria is a particularly virulent form of malaria caused by </a:t>
            </a:r>
            <a:r>
              <a:rPr i="1"/>
              <a:t>Plasmodium falciparum</a:t>
            </a:r>
            <a:r>
              <a:t>. Falciparum malaria can be fatal within days of the first symptoms appearing.</a:t>
            </a:r>
          </a:p>
        </p:txBody>
      </p:sp>
      <p:sp>
        <p:nvSpPr>
          <p:cNvPr id="1344" name="Shape 1344"/>
          <p:cNvSpPr/>
          <p:nvPr/>
        </p:nvSpPr>
        <p:spPr>
          <a:xfrm>
            <a:off x="6628483" y="8521700"/>
            <a:ext cx="5702301" cy="9441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700"/>
              </a:lnSpc>
              <a:tabLst>
                <a:tab pos="520700" algn="l"/>
              </a:tabLst>
              <a:defRPr sz="2000">
                <a:solidFill>
                  <a:srgbClr val="005B86"/>
                </a:solidFill>
              </a:defRPr>
            </a:pPr>
            <a:r>
              <a:t>In large parts of the world, there is a good correlation between the incidence of falciparum malaria and the frequency of the Hb</a:t>
            </a:r>
            <a:r>
              <a:rPr baseline="31999"/>
              <a:t>S</a:t>
            </a:r>
            <a:r>
              <a:t> allele.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6" name="Shape 1346"/>
          <p:cNvSpPr>
            <a:spLocks noGrp="1"/>
          </p:cNvSpPr>
          <p:nvPr>
            <p:ph type="title"/>
          </p:nvPr>
        </p:nvSpPr>
        <p:spPr>
          <a:xfrm>
            <a:off x="368300" y="368300"/>
            <a:ext cx="6458943" cy="1693863"/>
          </a:xfrm>
          <a:prstGeom prst="rect">
            <a:avLst/>
          </a:prstGeom>
        </p:spPr>
        <p:txBody>
          <a:bodyPr/>
          <a:lstStyle>
            <a:lvl1pPr>
              <a:tabLst>
                <a:tab pos="952500" algn="l"/>
              </a:tabLst>
            </a:lvl1pPr>
          </a:lstStyle>
          <a:p>
            <a:r>
              <a:t>Antibiotic Resistance 1</a:t>
            </a:r>
          </a:p>
        </p:txBody>
      </p:sp>
      <p:sp>
        <p:nvSpPr>
          <p:cNvPr id="1347" name="Shape 1347"/>
          <p:cNvSpPr>
            <a:spLocks noGrp="1"/>
          </p:cNvSpPr>
          <p:nvPr>
            <p:ph type="body" sz="half" idx="1"/>
          </p:nvPr>
        </p:nvSpPr>
        <p:spPr>
          <a:xfrm>
            <a:off x="368300" y="2365523"/>
            <a:ext cx="5535762" cy="5955210"/>
          </a:xfrm>
          <a:prstGeom prst="rect">
            <a:avLst/>
          </a:prstGeom>
        </p:spPr>
        <p:txBody>
          <a:bodyPr/>
          <a:lstStyle/>
          <a:p>
            <a:pPr>
              <a:tabLst>
                <a:tab pos="1016000" algn="l"/>
              </a:tabLst>
            </a:pPr>
            <a:r>
              <a:t>The short generation time of bacteria (under 30 minutes in some species) allows for an enormous number of chances for mutation.</a:t>
            </a:r>
          </a:p>
          <a:p>
            <a:pPr lvl="1">
              <a:tabLst>
                <a:tab pos="1485900" algn="l"/>
              </a:tabLst>
            </a:pPr>
            <a:r>
              <a:t>A mutation could impart some useful property in the current selective environment, e.g. resistance to antibiotics.</a:t>
            </a:r>
          </a:p>
          <a:p>
            <a:pPr>
              <a:tabLst>
                <a:tab pos="1016000" algn="l"/>
              </a:tabLst>
            </a:pPr>
            <a:r>
              <a:t>Any mutation that provides an advantage in a particular selective environment may spread quickly through a bacterial population.</a:t>
            </a:r>
          </a:p>
          <a:p>
            <a:pPr lvl="1">
              <a:tabLst>
                <a:tab pos="1485900" algn="l"/>
              </a:tabLst>
            </a:pPr>
            <a:r>
              <a:t>The widespread use of antibiotics to treat infection has created the selective environment for increased frequency of antibiotic resistance genes in bacterial populations.</a:t>
            </a:r>
          </a:p>
        </p:txBody>
      </p:sp>
      <p:grpSp>
        <p:nvGrpSpPr>
          <p:cNvPr id="1352" name="Group 1352"/>
          <p:cNvGrpSpPr/>
          <p:nvPr/>
        </p:nvGrpSpPr>
        <p:grpSpPr>
          <a:xfrm>
            <a:off x="7314402" y="-7171"/>
            <a:ext cx="5689602" cy="9785982"/>
            <a:chOff x="0" y="0"/>
            <a:chExt cx="5689601" cy="9785980"/>
          </a:xfrm>
        </p:grpSpPr>
        <p:grpSp>
          <p:nvGrpSpPr>
            <p:cNvPr id="1350" name="Group 1350"/>
            <p:cNvGrpSpPr/>
            <p:nvPr/>
          </p:nvGrpSpPr>
          <p:grpSpPr>
            <a:xfrm>
              <a:off x="0" y="0"/>
              <a:ext cx="5689602" cy="9785981"/>
              <a:chOff x="0" y="0"/>
              <a:chExt cx="5689601" cy="9785980"/>
            </a:xfrm>
          </p:grpSpPr>
          <p:pic>
            <p:nvPicPr>
              <p:cNvPr id="1348" name="Antibiotic clearance.tif"/>
              <p:cNvPicPr>
                <a:picLocks noChangeAspect="1"/>
              </p:cNvPicPr>
              <p:nvPr/>
            </p:nvPicPr>
            <p:blipFill>
              <a:blip r:embed="rId2">
                <a:extLst/>
              </a:blip>
              <a:stretch>
                <a:fillRect/>
              </a:stretch>
            </p:blipFill>
            <p:spPr>
              <a:xfrm>
                <a:off x="3" y="0"/>
                <a:ext cx="5689599" cy="3820158"/>
              </a:xfrm>
              <a:prstGeom prst="rect">
                <a:avLst/>
              </a:prstGeom>
              <a:ln w="25400" cap="flat">
                <a:solidFill>
                  <a:srgbClr val="FFFFFF"/>
                </a:solidFill>
                <a:prstDash val="solid"/>
                <a:miter lim="400000"/>
              </a:ln>
              <a:effectLst/>
            </p:spPr>
          </p:pic>
          <p:pic>
            <p:nvPicPr>
              <p:cNvPr id="1349" name="pills AT.jpg"/>
              <p:cNvPicPr>
                <a:picLocks noChangeAspect="1"/>
              </p:cNvPicPr>
              <p:nvPr/>
            </p:nvPicPr>
            <p:blipFill>
              <a:blip r:embed="rId3">
                <a:extLst/>
              </a:blip>
              <a:srcRect l="243" t="4961" r="243" b="24690"/>
              <a:stretch>
                <a:fillRect/>
              </a:stretch>
            </p:blipFill>
            <p:spPr>
              <a:xfrm>
                <a:off x="0" y="3817966"/>
                <a:ext cx="5685321" cy="5968015"/>
              </a:xfrm>
              <a:prstGeom prst="rect">
                <a:avLst/>
              </a:prstGeom>
              <a:ln w="25400" cap="flat">
                <a:solidFill>
                  <a:srgbClr val="FFFFFF"/>
                </a:solidFill>
                <a:prstDash val="solid"/>
                <a:miter lim="400000"/>
              </a:ln>
              <a:effectLst/>
            </p:spPr>
          </p:pic>
        </p:grpSp>
        <p:sp>
          <p:nvSpPr>
            <p:cNvPr id="1351" name="Shape 1351"/>
            <p:cNvSpPr/>
            <p:nvPr/>
          </p:nvSpPr>
          <p:spPr>
            <a:xfrm>
              <a:off x="5181263" y="9578943"/>
              <a:ext cx="402052" cy="7637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nSpc>
                  <a:spcPts val="600"/>
                </a:lnSpc>
                <a:tabLst>
                  <a:tab pos="520700" algn="l"/>
                </a:tabLst>
                <a:defRPr sz="500">
                  <a:solidFill>
                    <a:srgbClr val="FFFFFF"/>
                  </a:solidFill>
                </a:defRPr>
              </a:lvl1pPr>
            </a:lstStyle>
            <a:p>
              <a:r>
                <a:t>Photo: AT</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4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34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34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34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3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7" grpId="1" build="p" bldLvl="5"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4" name="Shape 1354"/>
          <p:cNvSpPr>
            <a:spLocks noGrp="1"/>
          </p:cNvSpPr>
          <p:nvPr>
            <p:ph type="title"/>
          </p:nvPr>
        </p:nvSpPr>
        <p:spPr>
          <a:prstGeom prst="rect">
            <a:avLst/>
          </a:prstGeom>
        </p:spPr>
        <p:txBody>
          <a:bodyPr/>
          <a:lstStyle>
            <a:lvl1pPr>
              <a:tabLst>
                <a:tab pos="952500" algn="l"/>
              </a:tabLst>
            </a:lvl1pPr>
          </a:lstStyle>
          <a:p>
            <a:r>
              <a:t>Antibiotic Resistance 2</a:t>
            </a:r>
          </a:p>
        </p:txBody>
      </p:sp>
      <p:grpSp>
        <p:nvGrpSpPr>
          <p:cNvPr id="1368" name="Group 1368"/>
          <p:cNvGrpSpPr/>
          <p:nvPr/>
        </p:nvGrpSpPr>
        <p:grpSpPr>
          <a:xfrm>
            <a:off x="4203700" y="2387600"/>
            <a:ext cx="4419600" cy="5936122"/>
            <a:chOff x="0" y="0"/>
            <a:chExt cx="4419600" cy="5936121"/>
          </a:xfrm>
        </p:grpSpPr>
        <p:grpSp>
          <p:nvGrpSpPr>
            <p:cNvPr id="1366" name="Group 1366"/>
            <p:cNvGrpSpPr/>
            <p:nvPr/>
          </p:nvGrpSpPr>
          <p:grpSpPr>
            <a:xfrm>
              <a:off x="0" y="0"/>
              <a:ext cx="4419600" cy="5936122"/>
              <a:chOff x="0" y="0"/>
              <a:chExt cx="4419600" cy="5936121"/>
            </a:xfrm>
          </p:grpSpPr>
          <p:grpSp>
            <p:nvGrpSpPr>
              <p:cNvPr id="1361" name="Group 1361"/>
              <p:cNvGrpSpPr/>
              <p:nvPr/>
            </p:nvGrpSpPr>
            <p:grpSpPr>
              <a:xfrm>
                <a:off x="254000" y="838200"/>
                <a:ext cx="4165600" cy="2493767"/>
                <a:chOff x="0" y="0"/>
                <a:chExt cx="4165600" cy="2493766"/>
              </a:xfrm>
            </p:grpSpPr>
            <p:pic>
              <p:nvPicPr>
                <p:cNvPr id="1355" name="iStock_bacterial cells cc purple.png"/>
                <p:cNvPicPr>
                  <a:picLocks noChangeAspect="1"/>
                </p:cNvPicPr>
                <p:nvPr/>
              </p:nvPicPr>
              <p:blipFill>
                <a:blip r:embed="rId2">
                  <a:extLst/>
                </a:blip>
                <a:stretch>
                  <a:fillRect/>
                </a:stretch>
              </p:blipFill>
              <p:spPr>
                <a:xfrm>
                  <a:off x="407786" y="0"/>
                  <a:ext cx="2114674" cy="1186451"/>
                </a:xfrm>
                <a:prstGeom prst="rect">
                  <a:avLst/>
                </a:prstGeom>
                <a:ln w="12700" cap="flat">
                  <a:noFill/>
                  <a:miter lim="400000"/>
                </a:ln>
                <a:effectLst/>
              </p:spPr>
            </p:pic>
            <p:pic>
              <p:nvPicPr>
                <p:cNvPr id="1356" name="iStock_bacterial cells cc purple.png"/>
                <p:cNvPicPr>
                  <a:picLocks noChangeAspect="1"/>
                </p:cNvPicPr>
                <p:nvPr/>
              </p:nvPicPr>
              <p:blipFill>
                <a:blip r:embed="rId2">
                  <a:extLst/>
                </a:blip>
                <a:stretch>
                  <a:fillRect/>
                </a:stretch>
              </p:blipFill>
              <p:spPr>
                <a:xfrm>
                  <a:off x="1343297" y="323830"/>
                  <a:ext cx="2114674" cy="1186451"/>
                </a:xfrm>
                <a:prstGeom prst="rect">
                  <a:avLst/>
                </a:prstGeom>
                <a:ln w="12700" cap="flat">
                  <a:noFill/>
                  <a:miter lim="400000"/>
                </a:ln>
                <a:effectLst/>
              </p:spPr>
            </p:pic>
            <p:pic>
              <p:nvPicPr>
                <p:cNvPr id="1357" name="iStock_bacterial cells cc purple.png"/>
                <p:cNvPicPr>
                  <a:picLocks noChangeAspect="1"/>
                </p:cNvPicPr>
                <p:nvPr/>
              </p:nvPicPr>
              <p:blipFill>
                <a:blip r:embed="rId2">
                  <a:extLst/>
                </a:blip>
                <a:stretch>
                  <a:fillRect/>
                </a:stretch>
              </p:blipFill>
              <p:spPr>
                <a:xfrm>
                  <a:off x="0" y="635667"/>
                  <a:ext cx="2114674" cy="1186451"/>
                </a:xfrm>
                <a:prstGeom prst="rect">
                  <a:avLst/>
                </a:prstGeom>
                <a:ln w="12700" cap="flat">
                  <a:noFill/>
                  <a:miter lim="400000"/>
                </a:ln>
                <a:effectLst/>
              </p:spPr>
            </p:pic>
            <p:pic>
              <p:nvPicPr>
                <p:cNvPr id="1358" name="iStock_bacterial cells cc green.png"/>
                <p:cNvPicPr>
                  <a:picLocks noChangeAspect="1"/>
                </p:cNvPicPr>
                <p:nvPr/>
              </p:nvPicPr>
              <p:blipFill>
                <a:blip r:embed="rId3">
                  <a:extLst/>
                </a:blip>
                <a:stretch>
                  <a:fillRect/>
                </a:stretch>
              </p:blipFill>
              <p:spPr>
                <a:xfrm>
                  <a:off x="323830" y="1067441"/>
                  <a:ext cx="2114674" cy="1186451"/>
                </a:xfrm>
                <a:prstGeom prst="rect">
                  <a:avLst/>
                </a:prstGeom>
                <a:ln w="12700" cap="flat">
                  <a:noFill/>
                  <a:miter lim="400000"/>
                </a:ln>
                <a:effectLst/>
              </p:spPr>
            </p:pic>
            <p:pic>
              <p:nvPicPr>
                <p:cNvPr id="1359" name="iStock_bacterial cells cc purple.png"/>
                <p:cNvPicPr>
                  <a:picLocks noChangeAspect="1"/>
                </p:cNvPicPr>
                <p:nvPr/>
              </p:nvPicPr>
              <p:blipFill>
                <a:blip r:embed="rId2">
                  <a:extLst/>
                </a:blip>
                <a:stretch>
                  <a:fillRect/>
                </a:stretch>
              </p:blipFill>
              <p:spPr>
                <a:xfrm>
                  <a:off x="2050926" y="575698"/>
                  <a:ext cx="2114674" cy="1186452"/>
                </a:xfrm>
                <a:prstGeom prst="rect">
                  <a:avLst/>
                </a:prstGeom>
                <a:ln w="12700" cap="flat">
                  <a:noFill/>
                  <a:miter lim="400000"/>
                </a:ln>
                <a:effectLst/>
              </p:spPr>
            </p:pic>
            <p:pic>
              <p:nvPicPr>
                <p:cNvPr id="1360" name="iStock_bacterial cells cc purple.png"/>
                <p:cNvPicPr>
                  <a:picLocks noChangeAspect="1"/>
                </p:cNvPicPr>
                <p:nvPr/>
              </p:nvPicPr>
              <p:blipFill>
                <a:blip r:embed="rId2">
                  <a:extLst/>
                </a:blip>
                <a:stretch>
                  <a:fillRect/>
                </a:stretch>
              </p:blipFill>
              <p:spPr>
                <a:xfrm>
                  <a:off x="1259341" y="1307315"/>
                  <a:ext cx="2114674" cy="1186452"/>
                </a:xfrm>
                <a:prstGeom prst="rect">
                  <a:avLst/>
                </a:prstGeom>
                <a:ln w="12700" cap="flat">
                  <a:noFill/>
                  <a:miter lim="400000"/>
                </a:ln>
                <a:effectLst/>
              </p:spPr>
            </p:pic>
          </p:grpSp>
          <p:sp>
            <p:nvSpPr>
              <p:cNvPr id="1362" name="Shape 1362"/>
              <p:cNvSpPr/>
              <p:nvPr/>
            </p:nvSpPr>
            <p:spPr>
              <a:xfrm>
                <a:off x="0" y="4216400"/>
                <a:ext cx="3429000" cy="17197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300"/>
                  </a:lnSpc>
                  <a:tabLst>
                    <a:tab pos="520700" algn="l"/>
                  </a:tabLst>
                  <a:defRPr>
                    <a:solidFill>
                      <a:srgbClr val="000000"/>
                    </a:solidFill>
                  </a:defRPr>
                </a:lvl1pPr>
              </a:lstStyle>
              <a:p>
                <a:r>
                  <a:t>Under the selective environment provided by the antibiotic, any individual with resistance will have an advantage. They may survive a certain dose of antibiotic and proliferate.</a:t>
                </a:r>
              </a:p>
            </p:txBody>
          </p:sp>
          <p:sp>
            <p:nvSpPr>
              <p:cNvPr id="1363" name="Shape 1363"/>
              <p:cNvSpPr/>
              <p:nvPr/>
            </p:nvSpPr>
            <p:spPr>
              <a:xfrm>
                <a:off x="1828800" y="0"/>
                <a:ext cx="2336800" cy="5513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300"/>
                  </a:lnSpc>
                  <a:tabLst>
                    <a:tab pos="520700" algn="l"/>
                  </a:tabLst>
                </a:lvl1pPr>
              </a:lstStyle>
              <a:p>
                <a:r>
                  <a:t>The less susceptible bacterium survives </a:t>
                </a:r>
              </a:p>
            </p:txBody>
          </p:sp>
          <p:sp>
            <p:nvSpPr>
              <p:cNvPr id="1364" name="Shape 1364"/>
              <p:cNvSpPr/>
              <p:nvPr/>
            </p:nvSpPr>
            <p:spPr>
              <a:xfrm flipV="1">
                <a:off x="2397347" y="578363"/>
                <a:ext cx="440480" cy="1042621"/>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365" name="Shape 1365"/>
              <p:cNvSpPr/>
              <p:nvPr/>
            </p:nvSpPr>
            <p:spPr>
              <a:xfrm>
                <a:off x="12700" y="3086100"/>
                <a:ext cx="1943100" cy="8434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300"/>
                  </a:lnSpc>
                  <a:tabLst>
                    <a:tab pos="520700" algn="l"/>
                  </a:tabLst>
                </a:lvl1pPr>
              </a:lstStyle>
              <a:p>
                <a:r>
                  <a:t>Even less susceptible bacterium</a:t>
                </a:r>
              </a:p>
            </p:txBody>
          </p:sp>
        </p:grpSp>
        <p:sp>
          <p:nvSpPr>
            <p:cNvPr id="1367" name="Shape 1367"/>
            <p:cNvSpPr/>
            <p:nvPr/>
          </p:nvSpPr>
          <p:spPr>
            <a:xfrm flipH="1">
              <a:off x="685101" y="2544233"/>
              <a:ext cx="616726" cy="519769"/>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383" name="Group 1383"/>
          <p:cNvGrpSpPr/>
          <p:nvPr/>
        </p:nvGrpSpPr>
        <p:grpSpPr>
          <a:xfrm>
            <a:off x="8153400" y="2120900"/>
            <a:ext cx="5325300" cy="7079122"/>
            <a:chOff x="0" y="0"/>
            <a:chExt cx="5325299" cy="7079121"/>
          </a:xfrm>
        </p:grpSpPr>
        <p:grpSp>
          <p:nvGrpSpPr>
            <p:cNvPr id="1376" name="Group 1376"/>
            <p:cNvGrpSpPr/>
            <p:nvPr/>
          </p:nvGrpSpPr>
          <p:grpSpPr>
            <a:xfrm>
              <a:off x="0" y="2819400"/>
              <a:ext cx="4576000" cy="4259722"/>
              <a:chOff x="0" y="0"/>
              <a:chExt cx="4575999" cy="4259721"/>
            </a:xfrm>
          </p:grpSpPr>
          <p:pic>
            <p:nvPicPr>
              <p:cNvPr id="1369" name="iStock_bacterial cells cc green.png"/>
              <p:cNvPicPr>
                <a:picLocks noChangeAspect="1"/>
              </p:cNvPicPr>
              <p:nvPr/>
            </p:nvPicPr>
            <p:blipFill>
              <a:blip r:embed="rId3">
                <a:extLst/>
              </a:blip>
              <a:stretch>
                <a:fillRect/>
              </a:stretch>
            </p:blipFill>
            <p:spPr>
              <a:xfrm>
                <a:off x="304800" y="0"/>
                <a:ext cx="2239200" cy="1256317"/>
              </a:xfrm>
              <a:prstGeom prst="rect">
                <a:avLst/>
              </a:prstGeom>
              <a:ln w="12700" cap="flat">
                <a:noFill/>
                <a:miter lim="400000"/>
              </a:ln>
              <a:effectLst/>
            </p:spPr>
          </p:pic>
          <p:pic>
            <p:nvPicPr>
              <p:cNvPr id="1370" name="iStock_bacterial cells cc green.png"/>
              <p:cNvPicPr>
                <a:picLocks noChangeAspect="1"/>
              </p:cNvPicPr>
              <p:nvPr/>
            </p:nvPicPr>
            <p:blipFill>
              <a:blip r:embed="rId3">
                <a:extLst/>
              </a:blip>
              <a:stretch>
                <a:fillRect/>
              </a:stretch>
            </p:blipFill>
            <p:spPr>
              <a:xfrm>
                <a:off x="1384300" y="266700"/>
                <a:ext cx="2239200" cy="1256317"/>
              </a:xfrm>
              <a:prstGeom prst="rect">
                <a:avLst/>
              </a:prstGeom>
              <a:ln w="12700" cap="flat">
                <a:noFill/>
                <a:miter lim="400000"/>
              </a:ln>
              <a:effectLst/>
            </p:spPr>
          </p:pic>
          <p:pic>
            <p:nvPicPr>
              <p:cNvPr id="1371" name="iStock_bacterial cells cc green.png"/>
              <p:cNvPicPr>
                <a:picLocks noChangeAspect="1"/>
              </p:cNvPicPr>
              <p:nvPr/>
            </p:nvPicPr>
            <p:blipFill>
              <a:blip r:embed="rId3">
                <a:extLst/>
              </a:blip>
              <a:stretch>
                <a:fillRect/>
              </a:stretch>
            </p:blipFill>
            <p:spPr>
              <a:xfrm>
                <a:off x="0" y="736600"/>
                <a:ext cx="2239200" cy="1256317"/>
              </a:xfrm>
              <a:prstGeom prst="rect">
                <a:avLst/>
              </a:prstGeom>
              <a:ln w="12700" cap="flat">
                <a:noFill/>
                <a:miter lim="400000"/>
              </a:ln>
              <a:effectLst/>
            </p:spPr>
          </p:pic>
          <p:pic>
            <p:nvPicPr>
              <p:cNvPr id="1372" name="iStock_bacterial cells cc copy red.png"/>
              <p:cNvPicPr>
                <a:picLocks noChangeAspect="1"/>
              </p:cNvPicPr>
              <p:nvPr/>
            </p:nvPicPr>
            <p:blipFill>
              <a:blip r:embed="rId4">
                <a:extLst/>
              </a:blip>
              <a:stretch>
                <a:fillRect/>
              </a:stretch>
            </p:blipFill>
            <p:spPr>
              <a:xfrm>
                <a:off x="838200" y="1003300"/>
                <a:ext cx="2239200" cy="1256317"/>
              </a:xfrm>
              <a:prstGeom prst="rect">
                <a:avLst/>
              </a:prstGeom>
              <a:ln w="12700" cap="flat">
                <a:noFill/>
                <a:miter lim="400000"/>
              </a:ln>
              <a:effectLst/>
            </p:spPr>
          </p:pic>
          <p:pic>
            <p:nvPicPr>
              <p:cNvPr id="1373" name="iStock_bacterial cells cc green.png"/>
              <p:cNvPicPr>
                <a:picLocks noChangeAspect="1"/>
              </p:cNvPicPr>
              <p:nvPr/>
            </p:nvPicPr>
            <p:blipFill>
              <a:blip r:embed="rId3">
                <a:extLst/>
              </a:blip>
              <a:stretch>
                <a:fillRect/>
              </a:stretch>
            </p:blipFill>
            <p:spPr>
              <a:xfrm>
                <a:off x="2336800" y="660400"/>
                <a:ext cx="2239200" cy="1256317"/>
              </a:xfrm>
              <a:prstGeom prst="rect">
                <a:avLst/>
              </a:prstGeom>
              <a:ln w="12700" cap="flat">
                <a:noFill/>
                <a:miter lim="400000"/>
              </a:ln>
              <a:effectLst/>
            </p:spPr>
          </p:pic>
          <p:pic>
            <p:nvPicPr>
              <p:cNvPr id="1374" name="iStock_bacterial cells cc green.png"/>
              <p:cNvPicPr>
                <a:picLocks noChangeAspect="1"/>
              </p:cNvPicPr>
              <p:nvPr/>
            </p:nvPicPr>
            <p:blipFill>
              <a:blip r:embed="rId3">
                <a:extLst/>
              </a:blip>
              <a:stretch>
                <a:fillRect/>
              </a:stretch>
            </p:blipFill>
            <p:spPr>
              <a:xfrm>
                <a:off x="1651000" y="1549400"/>
                <a:ext cx="2239200" cy="1256317"/>
              </a:xfrm>
              <a:prstGeom prst="rect">
                <a:avLst/>
              </a:prstGeom>
              <a:ln w="12700" cap="flat">
                <a:noFill/>
                <a:miter lim="400000"/>
              </a:ln>
              <a:effectLst/>
            </p:spPr>
          </p:pic>
          <p:sp>
            <p:nvSpPr>
              <p:cNvPr id="1375" name="Shape 1375"/>
              <p:cNvSpPr/>
              <p:nvPr/>
            </p:nvSpPr>
            <p:spPr>
              <a:xfrm>
                <a:off x="50800" y="2832100"/>
                <a:ext cx="4165600" cy="1427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300"/>
                  </a:lnSpc>
                  <a:tabLst>
                    <a:tab pos="520700" algn="l"/>
                  </a:tabLst>
                  <a:defRPr>
                    <a:solidFill>
                      <a:srgbClr val="000000"/>
                    </a:solidFill>
                  </a:defRPr>
                </a:lvl1pPr>
              </a:lstStyle>
              <a:p>
                <a:r>
                  <a:t>Some of the individuals in the growing population may be able to resist an even higher dose of the antibiotic. Their descendants will be favoured as long as the selective environment continues. </a:t>
                </a:r>
              </a:p>
            </p:txBody>
          </p:sp>
        </p:grpSp>
        <p:pic>
          <p:nvPicPr>
            <p:cNvPr id="1377" name="iStock_bacterial cells cc orange .png"/>
            <p:cNvPicPr>
              <a:picLocks noChangeAspect="1"/>
            </p:cNvPicPr>
            <p:nvPr/>
          </p:nvPicPr>
          <p:blipFill>
            <a:blip r:embed="rId5">
              <a:extLst/>
            </a:blip>
            <a:stretch>
              <a:fillRect/>
            </a:stretch>
          </p:blipFill>
          <p:spPr>
            <a:xfrm>
              <a:off x="3086100" y="1866900"/>
              <a:ext cx="2239200" cy="1256317"/>
            </a:xfrm>
            <a:prstGeom prst="rect">
              <a:avLst/>
            </a:prstGeom>
            <a:ln w="12700" cap="flat">
              <a:noFill/>
              <a:miter lim="400000"/>
            </a:ln>
            <a:effectLst/>
          </p:spPr>
        </p:pic>
        <p:sp>
          <p:nvSpPr>
            <p:cNvPr id="1378" name="Shape 1378"/>
            <p:cNvSpPr/>
            <p:nvPr/>
          </p:nvSpPr>
          <p:spPr>
            <a:xfrm>
              <a:off x="1767843" y="2709295"/>
              <a:ext cx="1625601" cy="1585845"/>
            </a:xfrm>
            <a:custGeom>
              <a:avLst/>
              <a:gdLst/>
              <a:ahLst/>
              <a:cxnLst>
                <a:cxn ang="0">
                  <a:pos x="wd2" y="hd2"/>
                </a:cxn>
                <a:cxn ang="5400000">
                  <a:pos x="wd2" y="hd2"/>
                </a:cxn>
                <a:cxn ang="10800000">
                  <a:pos x="wd2" y="hd2"/>
                </a:cxn>
                <a:cxn ang="16200000">
                  <a:pos x="wd2" y="hd2"/>
                </a:cxn>
              </a:cxnLst>
              <a:rect l="0" t="0" r="r" b="b"/>
              <a:pathLst>
                <a:path w="21600" h="20433" extrusionOk="0">
                  <a:moveTo>
                    <a:pt x="21600" y="11"/>
                  </a:moveTo>
                  <a:cubicBezTo>
                    <a:pt x="21600" y="11"/>
                    <a:pt x="675" y="-1167"/>
                    <a:pt x="0" y="20433"/>
                  </a:cubicBezTo>
                </a:path>
              </a:pathLst>
            </a:custGeom>
            <a:noFill/>
            <a:ln w="50800" cap="flat">
              <a:solidFill>
                <a:srgbClr val="000000"/>
              </a:solidFill>
              <a:prstDash val="solid"/>
              <a:miter lim="400000"/>
              <a:headEnd type="stealth" w="med" len="med"/>
            </a:ln>
            <a:effectLst/>
          </p:spPr>
          <p:txBody>
            <a:bodyPr wrap="square" lIns="50800" tIns="50800" rIns="50800" bIns="50800" numCol="1" anchor="t">
              <a:noAutofit/>
            </a:bodyPr>
            <a:lstStyle/>
            <a:p>
              <a:pPr>
                <a:lnSpc>
                  <a:spcPts val="3300"/>
                </a:lnSpc>
                <a:tabLst>
                  <a:tab pos="520700" algn="l"/>
                </a:tabLst>
                <a:defRPr sz="2800">
                  <a:solidFill>
                    <a:srgbClr val="483F36"/>
                  </a:solidFill>
                  <a:latin typeface="Hoefler Text"/>
                  <a:ea typeface="Hoefler Text"/>
                  <a:cs typeface="Hoefler Text"/>
                  <a:sym typeface="Hoefler Text"/>
                </a:defRPr>
              </a:pPr>
              <a:endParaRPr/>
            </a:p>
          </p:txBody>
        </p:sp>
        <p:sp>
          <p:nvSpPr>
            <p:cNvPr id="1379" name="Shape 1379"/>
            <p:cNvSpPr/>
            <p:nvPr/>
          </p:nvSpPr>
          <p:spPr>
            <a:xfrm>
              <a:off x="1854200" y="0"/>
              <a:ext cx="2730500" cy="8434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300"/>
                </a:lnSpc>
                <a:tabLst>
                  <a:tab pos="520700" algn="l"/>
                </a:tabLst>
              </a:lvl1pPr>
            </a:lstStyle>
            <a:p>
              <a:r>
                <a:t>Antibiotic resistance genes can be transferred to non resistant strains</a:t>
              </a:r>
            </a:p>
          </p:txBody>
        </p:sp>
        <p:sp>
          <p:nvSpPr>
            <p:cNvPr id="1380" name="Shape 1380"/>
            <p:cNvSpPr/>
            <p:nvPr/>
          </p:nvSpPr>
          <p:spPr>
            <a:xfrm flipH="1" flipV="1">
              <a:off x="3332480" y="901700"/>
              <a:ext cx="606188" cy="1590000"/>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381" name="Shape 1381"/>
            <p:cNvSpPr/>
            <p:nvPr/>
          </p:nvSpPr>
          <p:spPr>
            <a:xfrm>
              <a:off x="723900" y="1879600"/>
              <a:ext cx="1600200" cy="5513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300"/>
                </a:lnSpc>
                <a:tabLst>
                  <a:tab pos="520700" algn="l"/>
                </a:tabLst>
              </a:lvl1pPr>
            </a:lstStyle>
            <a:p>
              <a:r>
                <a:t>Fully resistant bacterium</a:t>
              </a:r>
            </a:p>
          </p:txBody>
        </p:sp>
        <p:sp>
          <p:nvSpPr>
            <p:cNvPr id="1382" name="Shape 1382"/>
            <p:cNvSpPr/>
            <p:nvPr/>
          </p:nvSpPr>
          <p:spPr>
            <a:xfrm flipV="1">
              <a:off x="1555069" y="2486659"/>
              <a:ext cx="29891" cy="1932946"/>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399" name="Group 1399"/>
          <p:cNvGrpSpPr/>
          <p:nvPr/>
        </p:nvGrpSpPr>
        <p:grpSpPr>
          <a:xfrm>
            <a:off x="431800" y="1511300"/>
            <a:ext cx="5943600" cy="5682122"/>
            <a:chOff x="0" y="0"/>
            <a:chExt cx="5943600" cy="5682121"/>
          </a:xfrm>
        </p:grpSpPr>
        <p:grpSp>
          <p:nvGrpSpPr>
            <p:cNvPr id="1397" name="Group 1397"/>
            <p:cNvGrpSpPr/>
            <p:nvPr/>
          </p:nvGrpSpPr>
          <p:grpSpPr>
            <a:xfrm>
              <a:off x="0" y="0"/>
              <a:ext cx="5943600" cy="5682122"/>
              <a:chOff x="0" y="0"/>
              <a:chExt cx="5943600" cy="5682121"/>
            </a:xfrm>
          </p:grpSpPr>
          <p:grpSp>
            <p:nvGrpSpPr>
              <p:cNvPr id="1390" name="Group 1390"/>
              <p:cNvGrpSpPr/>
              <p:nvPr/>
            </p:nvGrpSpPr>
            <p:grpSpPr>
              <a:xfrm>
                <a:off x="0" y="622300"/>
                <a:ext cx="4012764" cy="2387601"/>
                <a:chOff x="0" y="0"/>
                <a:chExt cx="4012763" cy="2387600"/>
              </a:xfrm>
            </p:grpSpPr>
            <p:pic>
              <p:nvPicPr>
                <p:cNvPr id="1384" name="iStock_bacterial cells cc.png"/>
                <p:cNvPicPr>
                  <a:picLocks noChangeAspect="1"/>
                </p:cNvPicPr>
                <p:nvPr/>
              </p:nvPicPr>
              <p:blipFill>
                <a:blip r:embed="rId6">
                  <a:extLst/>
                </a:blip>
                <a:stretch>
                  <a:fillRect/>
                </a:stretch>
              </p:blipFill>
              <p:spPr>
                <a:xfrm>
                  <a:off x="0" y="0"/>
                  <a:ext cx="2117082" cy="1187802"/>
                </a:xfrm>
                <a:prstGeom prst="rect">
                  <a:avLst/>
                </a:prstGeom>
                <a:ln w="12700" cap="flat">
                  <a:noFill/>
                  <a:miter lim="400000"/>
                </a:ln>
                <a:effectLst/>
              </p:spPr>
            </p:pic>
            <p:pic>
              <p:nvPicPr>
                <p:cNvPr id="1385" name="iStock_bacterial cells cc.png"/>
                <p:cNvPicPr>
                  <a:picLocks noChangeAspect="1"/>
                </p:cNvPicPr>
                <p:nvPr/>
              </p:nvPicPr>
              <p:blipFill>
                <a:blip r:embed="rId6">
                  <a:extLst/>
                </a:blip>
                <a:stretch>
                  <a:fillRect/>
                </a:stretch>
              </p:blipFill>
              <p:spPr>
                <a:xfrm>
                  <a:off x="1223795" y="119979"/>
                  <a:ext cx="2117082" cy="1187802"/>
                </a:xfrm>
                <a:prstGeom prst="rect">
                  <a:avLst/>
                </a:prstGeom>
                <a:ln w="12700" cap="flat">
                  <a:noFill/>
                  <a:miter lim="400000"/>
                </a:ln>
                <a:effectLst/>
              </p:spPr>
            </p:pic>
            <p:pic>
              <p:nvPicPr>
                <p:cNvPr id="1386" name="iStock_bacterial cells cc.png"/>
                <p:cNvPicPr>
                  <a:picLocks noChangeAspect="1"/>
                </p:cNvPicPr>
                <p:nvPr/>
              </p:nvPicPr>
              <p:blipFill>
                <a:blip r:embed="rId6">
                  <a:extLst/>
                </a:blip>
                <a:stretch>
                  <a:fillRect/>
                </a:stretch>
              </p:blipFill>
              <p:spPr>
                <a:xfrm>
                  <a:off x="95983" y="623895"/>
                  <a:ext cx="2117082" cy="1187802"/>
                </a:xfrm>
                <a:prstGeom prst="rect">
                  <a:avLst/>
                </a:prstGeom>
                <a:ln w="12700" cap="flat">
                  <a:noFill/>
                  <a:miter lim="400000"/>
                </a:ln>
                <a:effectLst/>
              </p:spPr>
            </p:pic>
            <p:pic>
              <p:nvPicPr>
                <p:cNvPr id="1387" name="iStock_bacterial cells cc purple.png"/>
                <p:cNvPicPr>
                  <a:picLocks noChangeAspect="1"/>
                </p:cNvPicPr>
                <p:nvPr/>
              </p:nvPicPr>
              <p:blipFill>
                <a:blip r:embed="rId2">
                  <a:extLst/>
                </a:blip>
                <a:stretch>
                  <a:fillRect/>
                </a:stretch>
              </p:blipFill>
              <p:spPr>
                <a:xfrm>
                  <a:off x="395933" y="1043825"/>
                  <a:ext cx="2115427" cy="1186873"/>
                </a:xfrm>
                <a:prstGeom prst="rect">
                  <a:avLst/>
                </a:prstGeom>
                <a:ln w="12700" cap="flat">
                  <a:noFill/>
                  <a:miter lim="400000"/>
                </a:ln>
                <a:effectLst/>
              </p:spPr>
            </p:pic>
            <p:pic>
              <p:nvPicPr>
                <p:cNvPr id="1388" name="iStock_bacterial cells cc.png"/>
                <p:cNvPicPr>
                  <a:picLocks noChangeAspect="1"/>
                </p:cNvPicPr>
                <p:nvPr/>
              </p:nvPicPr>
              <p:blipFill>
                <a:blip r:embed="rId6">
                  <a:extLst/>
                </a:blip>
                <a:stretch>
                  <a:fillRect/>
                </a:stretch>
              </p:blipFill>
              <p:spPr>
                <a:xfrm>
                  <a:off x="1895682" y="539909"/>
                  <a:ext cx="2117082" cy="1187802"/>
                </a:xfrm>
                <a:prstGeom prst="rect">
                  <a:avLst/>
                </a:prstGeom>
                <a:ln w="12700" cap="flat">
                  <a:noFill/>
                  <a:miter lim="400000"/>
                </a:ln>
                <a:effectLst/>
              </p:spPr>
            </p:pic>
            <p:pic>
              <p:nvPicPr>
                <p:cNvPr id="1389" name="iStock_bacterial cells cc.png"/>
                <p:cNvPicPr>
                  <a:picLocks noChangeAspect="1"/>
                </p:cNvPicPr>
                <p:nvPr/>
              </p:nvPicPr>
              <p:blipFill>
                <a:blip r:embed="rId6">
                  <a:extLst/>
                </a:blip>
                <a:stretch>
                  <a:fillRect/>
                </a:stretch>
              </p:blipFill>
              <p:spPr>
                <a:xfrm>
                  <a:off x="1523744" y="1199799"/>
                  <a:ext cx="2117082" cy="1187802"/>
                </a:xfrm>
                <a:prstGeom prst="rect">
                  <a:avLst/>
                </a:prstGeom>
                <a:ln w="12700" cap="flat">
                  <a:noFill/>
                  <a:miter lim="400000"/>
                </a:ln>
                <a:effectLst/>
              </p:spPr>
            </p:pic>
          </p:grpSp>
          <p:sp>
            <p:nvSpPr>
              <p:cNvPr id="1391" name="Shape 1391"/>
              <p:cNvSpPr/>
              <p:nvPr/>
            </p:nvSpPr>
            <p:spPr>
              <a:xfrm>
                <a:off x="177800" y="3670300"/>
                <a:ext cx="2908300" cy="20118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300"/>
                  </a:lnSpc>
                  <a:tabLst>
                    <a:tab pos="520700" algn="l"/>
                  </a:tabLst>
                  <a:defRPr>
                    <a:solidFill>
                      <a:srgbClr val="000000"/>
                    </a:solidFill>
                  </a:defRPr>
                </a:lvl1pPr>
              </a:lstStyle>
              <a:p>
                <a:r>
                  <a:t>Any population of bacteria includes variants with unusual traits. Mutations may spontaneously produce unusual or useful traits, e.g. resistance to a particular antibiotic.</a:t>
                </a:r>
              </a:p>
            </p:txBody>
          </p:sp>
          <p:sp>
            <p:nvSpPr>
              <p:cNvPr id="1392" name="Shape 1392"/>
              <p:cNvSpPr/>
              <p:nvPr/>
            </p:nvSpPr>
            <p:spPr>
              <a:xfrm>
                <a:off x="152400" y="0"/>
                <a:ext cx="1333500" cy="5513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300"/>
                  </a:lnSpc>
                  <a:tabLst>
                    <a:tab pos="520700" algn="l"/>
                  </a:tabLst>
                </a:lvl1pPr>
              </a:lstStyle>
              <a:p>
                <a:r>
                  <a:t>Susceptible bacterium</a:t>
                </a:r>
              </a:p>
            </p:txBody>
          </p:sp>
          <p:sp>
            <p:nvSpPr>
              <p:cNvPr id="1393" name="Shape 1393"/>
              <p:cNvSpPr/>
              <p:nvPr/>
            </p:nvSpPr>
            <p:spPr>
              <a:xfrm>
                <a:off x="1651000" y="0"/>
                <a:ext cx="1854200" cy="5513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300"/>
                  </a:lnSpc>
                  <a:tabLst>
                    <a:tab pos="520700" algn="l"/>
                  </a:tabLst>
                </a:lvl1pPr>
              </a:lstStyle>
              <a:p>
                <a:r>
                  <a:t>Less susceptible bacterium</a:t>
                </a:r>
              </a:p>
            </p:txBody>
          </p:sp>
          <p:sp>
            <p:nvSpPr>
              <p:cNvPr id="1394" name="Shape 1394"/>
              <p:cNvSpPr/>
              <p:nvPr/>
            </p:nvSpPr>
            <p:spPr>
              <a:xfrm>
                <a:off x="3606800" y="0"/>
                <a:ext cx="2336800" cy="8434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300"/>
                  </a:lnSpc>
                  <a:tabLst>
                    <a:tab pos="520700" algn="l"/>
                  </a:tabLst>
                </a:pPr>
                <a:r>
                  <a:t>Mutations occur at a rate of one in every 10</a:t>
                </a:r>
                <a:r>
                  <a:rPr baseline="31999"/>
                  <a:t>8</a:t>
                </a:r>
                <a:r>
                  <a:t> replications</a:t>
                </a:r>
              </a:p>
            </p:txBody>
          </p:sp>
          <p:sp>
            <p:nvSpPr>
              <p:cNvPr id="1395" name="Shape 1395"/>
              <p:cNvSpPr/>
              <p:nvPr/>
            </p:nvSpPr>
            <p:spPr>
              <a:xfrm flipV="1">
                <a:off x="1514520" y="548878"/>
                <a:ext cx="702465" cy="1527249"/>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396" name="Shape 1396"/>
              <p:cNvSpPr/>
              <p:nvPr/>
            </p:nvSpPr>
            <p:spPr>
              <a:xfrm flipV="1">
                <a:off x="1456925" y="535940"/>
                <a:ext cx="2185436" cy="1794463"/>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1398" name="Shape 1398"/>
            <p:cNvSpPr/>
            <p:nvPr/>
          </p:nvSpPr>
          <p:spPr>
            <a:xfrm flipH="1" flipV="1">
              <a:off x="675640" y="566420"/>
              <a:ext cx="69218" cy="589540"/>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3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13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8" grpId="2" animBg="1" advAuto="0"/>
      <p:bldP spid="1383" grpId="3" animBg="1" advAuto="0"/>
      <p:bldP spid="1399" grpId="1"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1" name="Shape 1401"/>
          <p:cNvSpPr/>
          <p:nvPr/>
        </p:nvSpPr>
        <p:spPr>
          <a:xfrm>
            <a:off x="6590705" y="1482199"/>
            <a:ext cx="6401396" cy="8269526"/>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402" name="Shape 1402"/>
          <p:cNvSpPr>
            <a:spLocks noGrp="1"/>
          </p:cNvSpPr>
          <p:nvPr>
            <p:ph type="title"/>
          </p:nvPr>
        </p:nvSpPr>
        <p:spPr>
          <a:prstGeom prst="rect">
            <a:avLst/>
          </a:prstGeom>
        </p:spPr>
        <p:txBody>
          <a:bodyPr/>
          <a:lstStyle>
            <a:lvl1pPr>
              <a:tabLst>
                <a:tab pos="952500" algn="l"/>
              </a:tabLst>
            </a:lvl1pPr>
          </a:lstStyle>
          <a:p>
            <a:r>
              <a:t>Causes of Drug Resistance</a:t>
            </a:r>
          </a:p>
        </p:txBody>
      </p:sp>
      <p:sp>
        <p:nvSpPr>
          <p:cNvPr id="1403" name="Shape 1403"/>
          <p:cNvSpPr>
            <a:spLocks noGrp="1"/>
          </p:cNvSpPr>
          <p:nvPr>
            <p:ph type="body" sz="half" idx="1"/>
          </p:nvPr>
        </p:nvSpPr>
        <p:spPr>
          <a:xfrm>
            <a:off x="368300" y="1790700"/>
            <a:ext cx="5268516" cy="5796211"/>
          </a:xfrm>
          <a:prstGeom prst="rect">
            <a:avLst/>
          </a:prstGeom>
        </p:spPr>
        <p:txBody>
          <a:bodyPr/>
          <a:lstStyle/>
          <a:p>
            <a:pPr>
              <a:tabLst>
                <a:tab pos="1016000" algn="l"/>
              </a:tabLst>
            </a:pPr>
            <a:r>
              <a:rPr dirty="0"/>
              <a:t>Resistance to drugs in pathogens generally results from:</a:t>
            </a:r>
          </a:p>
          <a:p>
            <a:pPr lvl="1">
              <a:buClr>
                <a:schemeClr val="tx2">
                  <a:lumMod val="10000"/>
                </a:schemeClr>
              </a:buClr>
              <a:tabLst>
                <a:tab pos="1485900" algn="l"/>
              </a:tabLst>
            </a:pPr>
            <a:r>
              <a:rPr b="1" dirty="0">
                <a:solidFill>
                  <a:srgbClr val="006994"/>
                </a:solidFill>
              </a:rPr>
              <a:t>Poor drug compliance</a:t>
            </a:r>
            <a:r>
              <a:rPr dirty="0"/>
              <a:t>: patients stop taking their medication or do not follow the treatment as directed.</a:t>
            </a:r>
          </a:p>
          <a:p>
            <a:pPr lvl="1">
              <a:buClr>
                <a:schemeClr val="tx2">
                  <a:lumMod val="10000"/>
                </a:schemeClr>
              </a:buClr>
              <a:tabLst>
                <a:tab pos="1485900" algn="l"/>
              </a:tabLst>
            </a:pPr>
            <a:r>
              <a:rPr b="1" dirty="0">
                <a:solidFill>
                  <a:srgbClr val="006994"/>
                </a:solidFill>
              </a:rPr>
              <a:t>Low levels of drug absorption</a:t>
            </a:r>
            <a:r>
              <a:rPr dirty="0"/>
              <a:t>: drug absorption is reduced if a patient has diarrhoea, is vomiting, or has an intestinal infection.</a:t>
            </a:r>
          </a:p>
          <a:p>
            <a:pPr lvl="1">
              <a:buClr>
                <a:schemeClr val="tx2">
                  <a:lumMod val="10000"/>
                </a:schemeClr>
              </a:buClr>
              <a:tabLst>
                <a:tab pos="1485900" algn="l"/>
              </a:tabLst>
            </a:pPr>
            <a:r>
              <a:rPr b="1" dirty="0">
                <a:solidFill>
                  <a:srgbClr val="006994"/>
                </a:solidFill>
              </a:rPr>
              <a:t>Individual variation</a:t>
            </a:r>
            <a:r>
              <a:rPr dirty="0"/>
              <a:t>: the effectiveness of the body to absorb, distribute, metabolise, and eliminate a drug varies between patients.</a:t>
            </a:r>
          </a:p>
          <a:p>
            <a:pPr lvl="1">
              <a:buClr>
                <a:schemeClr val="tx2">
                  <a:lumMod val="10000"/>
                </a:schemeClr>
              </a:buClr>
              <a:tabLst>
                <a:tab pos="1485900" algn="l"/>
              </a:tabLst>
            </a:pPr>
            <a:r>
              <a:rPr b="1" dirty="0">
                <a:solidFill>
                  <a:srgbClr val="006994"/>
                </a:solidFill>
              </a:rPr>
              <a:t>Toxicity</a:t>
            </a:r>
            <a:r>
              <a:rPr dirty="0"/>
              <a:t>: the side effects of the medication may make the patient very sick, so they stop taking it.</a:t>
            </a:r>
          </a:p>
        </p:txBody>
      </p:sp>
      <p:pic>
        <p:nvPicPr>
          <p:cNvPr id="1404" name="bottpill hemera1.png"/>
          <p:cNvPicPr>
            <a:picLocks noChangeAspect="1"/>
          </p:cNvPicPr>
          <p:nvPr/>
        </p:nvPicPr>
        <p:blipFill>
          <a:blip r:embed="rId2">
            <a:extLst/>
          </a:blip>
          <a:stretch>
            <a:fillRect/>
          </a:stretch>
        </p:blipFill>
        <p:spPr>
          <a:xfrm>
            <a:off x="6858000" y="1638300"/>
            <a:ext cx="5671279" cy="3556000"/>
          </a:xfrm>
          <a:prstGeom prst="rect">
            <a:avLst/>
          </a:prstGeom>
          <a:ln w="12700">
            <a:miter lim="400000"/>
          </a:ln>
        </p:spPr>
      </p:pic>
      <p:pic>
        <p:nvPicPr>
          <p:cNvPr id="1405" name="pills in a jar CA 2.png"/>
          <p:cNvPicPr>
            <a:picLocks noChangeAspect="1"/>
          </p:cNvPicPr>
          <p:nvPr/>
        </p:nvPicPr>
        <p:blipFill>
          <a:blip r:embed="rId3">
            <a:extLst/>
          </a:blip>
          <a:stretch>
            <a:fillRect/>
          </a:stretch>
        </p:blipFill>
        <p:spPr>
          <a:xfrm flipH="1">
            <a:off x="7620000" y="5245100"/>
            <a:ext cx="4914900" cy="4078182"/>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40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40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40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40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40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4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3" grpId="1" build="p" bldLvl="5"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1" name="influenza virus2.png"/>
          <p:cNvPicPr>
            <a:picLocks noChangeAspect="1"/>
          </p:cNvPicPr>
          <p:nvPr/>
        </p:nvPicPr>
        <p:blipFill>
          <a:blip r:embed="rId2">
            <a:extLst/>
          </a:blip>
          <a:stretch>
            <a:fillRect/>
          </a:stretch>
        </p:blipFill>
        <p:spPr>
          <a:xfrm>
            <a:off x="7175795" y="2453639"/>
            <a:ext cx="3813908" cy="4876801"/>
          </a:xfrm>
          <a:prstGeom prst="rect">
            <a:avLst/>
          </a:prstGeom>
          <a:ln w="12700">
            <a:miter lim="400000"/>
          </a:ln>
        </p:spPr>
      </p:pic>
      <p:sp>
        <p:nvSpPr>
          <p:cNvPr id="1502" name="Shape 1502"/>
          <p:cNvSpPr>
            <a:spLocks noGrp="1"/>
          </p:cNvSpPr>
          <p:nvPr>
            <p:ph type="title"/>
          </p:nvPr>
        </p:nvSpPr>
        <p:spPr>
          <a:prstGeom prst="rect">
            <a:avLst/>
          </a:prstGeom>
        </p:spPr>
        <p:txBody>
          <a:bodyPr/>
          <a:lstStyle>
            <a:lvl1pPr>
              <a:tabLst>
                <a:tab pos="952500" algn="l"/>
              </a:tabLst>
            </a:lvl1pPr>
          </a:lstStyle>
          <a:p>
            <a:r>
              <a:t>Structure of Influenzavirus</a:t>
            </a:r>
          </a:p>
        </p:txBody>
      </p:sp>
      <p:sp>
        <p:nvSpPr>
          <p:cNvPr id="1503" name="Shape 1503"/>
          <p:cNvSpPr>
            <a:spLocks noGrp="1"/>
          </p:cNvSpPr>
          <p:nvPr>
            <p:ph type="body" sz="quarter" idx="1"/>
          </p:nvPr>
        </p:nvSpPr>
        <p:spPr>
          <a:xfrm>
            <a:off x="368300" y="1790700"/>
            <a:ext cx="3523258" cy="4344492"/>
          </a:xfrm>
          <a:prstGeom prst="rect">
            <a:avLst/>
          </a:prstGeom>
        </p:spPr>
        <p:txBody>
          <a:bodyPr/>
          <a:lstStyle>
            <a:lvl1pPr>
              <a:tabLst>
                <a:tab pos="1016000" algn="l"/>
              </a:tabLst>
            </a:lvl1pPr>
            <a:lvl2pPr>
              <a:tabLst>
                <a:tab pos="1485900" algn="l"/>
              </a:tabLst>
            </a:lvl2pPr>
          </a:lstStyle>
          <a:p>
            <a:r>
              <a:t>Influenza strains are identified by the variation in their H and N surface antigens.</a:t>
            </a:r>
          </a:p>
          <a:p>
            <a:pPr lvl="1"/>
            <a:r>
              <a:t>Influenza viruses are able combine and readily rearrange their RNA segments, which alters the protein composition of their H and N glycoprotein spikes.</a:t>
            </a:r>
          </a:p>
        </p:txBody>
      </p:sp>
      <p:sp>
        <p:nvSpPr>
          <p:cNvPr id="1504" name="Shape 1504"/>
          <p:cNvSpPr/>
          <p:nvPr/>
        </p:nvSpPr>
        <p:spPr>
          <a:xfrm>
            <a:off x="4389120" y="1739900"/>
            <a:ext cx="3124201" cy="8688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400"/>
              </a:lnSpc>
              <a:tabLst>
                <a:tab pos="520700" algn="l"/>
              </a:tabLst>
              <a:defRPr>
                <a:solidFill>
                  <a:srgbClr val="005B86"/>
                </a:solidFill>
              </a:defRPr>
            </a:pPr>
            <a:r>
              <a:rPr i="1"/>
              <a:t>Influenzavirus</a:t>
            </a:r>
            <a:r>
              <a:t> is surrounded by an </a:t>
            </a:r>
            <a:r>
              <a:rPr b="1"/>
              <a:t>envelope</a:t>
            </a:r>
            <a:r>
              <a:t> containing protein and lipids.</a:t>
            </a:r>
          </a:p>
        </p:txBody>
      </p:sp>
      <p:sp>
        <p:nvSpPr>
          <p:cNvPr id="1505" name="Shape 1505"/>
          <p:cNvSpPr/>
          <p:nvPr/>
        </p:nvSpPr>
        <p:spPr>
          <a:xfrm flipV="1">
            <a:off x="10628900" y="3097812"/>
            <a:ext cx="619209" cy="619208"/>
          </a:xfrm>
          <a:prstGeom prst="line">
            <a:avLst/>
          </a:prstGeom>
          <a:ln w="25400">
            <a:solidFill>
              <a:srgbClr val="005B86"/>
            </a:solidFill>
            <a:miter lim="400000"/>
            <a:headEnd type="oval"/>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506" name="Shape 1506"/>
          <p:cNvSpPr/>
          <p:nvPr/>
        </p:nvSpPr>
        <p:spPr>
          <a:xfrm>
            <a:off x="4312920" y="7632700"/>
            <a:ext cx="3162301" cy="1173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a:solidFill>
                  <a:srgbClr val="005B86"/>
                </a:solidFill>
              </a:defRPr>
            </a:lvl1pPr>
          </a:lstStyle>
          <a:p>
            <a:r>
              <a:t>The genetic material is actually closely surrounded by protein capsomeres (these have been omitted here).</a:t>
            </a:r>
          </a:p>
        </p:txBody>
      </p:sp>
      <p:sp>
        <p:nvSpPr>
          <p:cNvPr id="1507" name="Shape 1507"/>
          <p:cNvSpPr/>
          <p:nvPr/>
        </p:nvSpPr>
        <p:spPr>
          <a:xfrm>
            <a:off x="10452100" y="1511300"/>
            <a:ext cx="2475469" cy="1173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400"/>
              </a:lnSpc>
              <a:tabLst>
                <a:tab pos="520700" algn="l"/>
              </a:tabLst>
              <a:defRPr>
                <a:solidFill>
                  <a:srgbClr val="005B86"/>
                </a:solidFill>
              </a:defRPr>
            </a:pPr>
            <a:r>
              <a:t>The </a:t>
            </a:r>
            <a:r>
              <a:rPr b="1"/>
              <a:t>neuraminidase (N)</a:t>
            </a:r>
            <a:r>
              <a:t> spikes help the virus to detach from the cell after infection.</a:t>
            </a:r>
          </a:p>
        </p:txBody>
      </p:sp>
      <p:sp>
        <p:nvSpPr>
          <p:cNvPr id="1508" name="Shape 1508"/>
          <p:cNvSpPr/>
          <p:nvPr/>
        </p:nvSpPr>
        <p:spPr>
          <a:xfrm>
            <a:off x="10515600" y="7480300"/>
            <a:ext cx="2311400" cy="14784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400"/>
              </a:lnSpc>
              <a:tabLst>
                <a:tab pos="520700" algn="l"/>
              </a:tabLst>
              <a:defRPr>
                <a:solidFill>
                  <a:srgbClr val="005B86"/>
                </a:solidFill>
              </a:defRPr>
            </a:pPr>
            <a:r>
              <a:rPr b="1"/>
              <a:t>Hemagglutinin (H)</a:t>
            </a:r>
            <a:r>
              <a:t> spikes allow the virus to recognise and attach to cells before attacking them.</a:t>
            </a:r>
          </a:p>
        </p:txBody>
      </p:sp>
      <p:sp>
        <p:nvSpPr>
          <p:cNvPr id="1509" name="Shape 1509"/>
          <p:cNvSpPr/>
          <p:nvPr/>
        </p:nvSpPr>
        <p:spPr>
          <a:xfrm>
            <a:off x="4084320" y="4191000"/>
            <a:ext cx="2567583" cy="1783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400"/>
              </a:lnSpc>
              <a:tabLst>
                <a:tab pos="520700" algn="l"/>
              </a:tabLst>
              <a:defRPr>
                <a:solidFill>
                  <a:srgbClr val="005B86"/>
                </a:solidFill>
              </a:defRPr>
            </a:pPr>
            <a:r>
              <a:t>The viral genome is contained on </a:t>
            </a:r>
            <a:r>
              <a:rPr b="1"/>
              <a:t>eight RNA segments</a:t>
            </a:r>
            <a:r>
              <a:t>, which enables the exchange of genes between different viral strains.</a:t>
            </a:r>
          </a:p>
        </p:txBody>
      </p:sp>
      <p:sp>
        <p:nvSpPr>
          <p:cNvPr id="1510" name="Shape 1510"/>
          <p:cNvSpPr/>
          <p:nvPr/>
        </p:nvSpPr>
        <p:spPr>
          <a:xfrm>
            <a:off x="10338762" y="6437481"/>
            <a:ext cx="649279" cy="964079"/>
          </a:xfrm>
          <a:prstGeom prst="line">
            <a:avLst/>
          </a:prstGeom>
          <a:ln w="25400">
            <a:solidFill>
              <a:srgbClr val="005B86"/>
            </a:solidFill>
            <a:miter lim="400000"/>
            <a:headEnd type="oval"/>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511" name="Shape 1511"/>
          <p:cNvSpPr/>
          <p:nvPr/>
        </p:nvSpPr>
        <p:spPr>
          <a:xfrm flipH="1">
            <a:off x="6802120" y="5511888"/>
            <a:ext cx="1541899" cy="2072552"/>
          </a:xfrm>
          <a:prstGeom prst="line">
            <a:avLst/>
          </a:prstGeom>
          <a:ln w="25400">
            <a:solidFill>
              <a:srgbClr val="005B86"/>
            </a:solidFill>
            <a:miter lim="400000"/>
            <a:headEnd type="oval"/>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512" name="Shape 1512"/>
          <p:cNvSpPr/>
          <p:nvPr/>
        </p:nvSpPr>
        <p:spPr>
          <a:xfrm flipH="1">
            <a:off x="6705600" y="5196840"/>
            <a:ext cx="1045133" cy="1"/>
          </a:xfrm>
          <a:prstGeom prst="line">
            <a:avLst/>
          </a:prstGeom>
          <a:ln w="25400">
            <a:solidFill>
              <a:srgbClr val="005B86"/>
            </a:solidFill>
            <a:miter lim="400000"/>
            <a:headEnd type="oval"/>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513" name="Shape 1513"/>
          <p:cNvSpPr/>
          <p:nvPr/>
        </p:nvSpPr>
        <p:spPr>
          <a:xfrm flipH="1" flipV="1">
            <a:off x="6842759" y="2606040"/>
            <a:ext cx="1275892" cy="573657"/>
          </a:xfrm>
          <a:prstGeom prst="line">
            <a:avLst/>
          </a:prstGeom>
          <a:ln w="25400">
            <a:solidFill>
              <a:srgbClr val="005B86"/>
            </a:solidFill>
            <a:miter lim="400000"/>
            <a:headEnd type="oval"/>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0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50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5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3" grpId="1" build="p" bldLvl="5"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 name="Shape 1515"/>
          <p:cNvSpPr>
            <a:spLocks noGrp="1"/>
          </p:cNvSpPr>
          <p:nvPr>
            <p:ph type="title"/>
          </p:nvPr>
        </p:nvSpPr>
        <p:spPr>
          <a:xfrm>
            <a:off x="368300" y="368300"/>
            <a:ext cx="7873058" cy="1668463"/>
          </a:xfrm>
          <a:prstGeom prst="rect">
            <a:avLst/>
          </a:prstGeom>
        </p:spPr>
        <p:txBody>
          <a:bodyPr/>
          <a:lstStyle>
            <a:lvl1pPr>
              <a:tabLst>
                <a:tab pos="952500" algn="l"/>
              </a:tabLst>
            </a:lvl1pPr>
          </a:lstStyle>
          <a:p>
            <a:r>
              <a:t>Antigenic Shift in Influenzavirus</a:t>
            </a:r>
          </a:p>
        </p:txBody>
      </p:sp>
      <p:sp>
        <p:nvSpPr>
          <p:cNvPr id="1516" name="Shape 1516"/>
          <p:cNvSpPr>
            <a:spLocks noGrp="1"/>
          </p:cNvSpPr>
          <p:nvPr>
            <p:ph type="body" sz="half" idx="1"/>
          </p:nvPr>
        </p:nvSpPr>
        <p:spPr>
          <a:xfrm>
            <a:off x="368300" y="2371675"/>
            <a:ext cx="6244184" cy="5557193"/>
          </a:xfrm>
          <a:prstGeom prst="rect">
            <a:avLst/>
          </a:prstGeom>
        </p:spPr>
        <p:txBody>
          <a:bodyPr/>
          <a:lstStyle/>
          <a:p>
            <a:pPr>
              <a:tabLst>
                <a:tab pos="1016000" algn="l"/>
              </a:tabLst>
            </a:pPr>
            <a:r>
              <a:t>Antigenic drifts are the small changes in the virus that happen continually over time.</a:t>
            </a:r>
          </a:p>
          <a:p>
            <a:pPr>
              <a:tabLst>
                <a:tab pos="1016000" algn="l"/>
              </a:tabLst>
            </a:pPr>
            <a:r>
              <a:t>Antigenic shifts occur when two or more different viral strains combine to form a new subtype.</a:t>
            </a:r>
          </a:p>
          <a:p>
            <a:pPr lvl="1">
              <a:tabLst>
                <a:tab pos="1485900" algn="l"/>
              </a:tabLst>
            </a:pPr>
            <a:r>
              <a:t>H1N1, H1N2, and H3N2 are the known </a:t>
            </a:r>
            <a:br/>
            <a:r>
              <a:t>Influenza A viral subtypes currently circulating among humans.</a:t>
            </a:r>
          </a:p>
          <a:p>
            <a:pPr lvl="1">
              <a:tabLst>
                <a:tab pos="1485900" algn="l"/>
              </a:tabLst>
            </a:pPr>
            <a:r>
              <a:t>Even if the body carries antibodies to other flu strains, the new combination of N and H spikes is different enough to allow new viral strains to avoid detection by the immune system.</a:t>
            </a:r>
          </a:p>
          <a:p>
            <a:pPr lvl="1">
              <a:tabLst>
                <a:tab pos="1485900" algn="l"/>
              </a:tabLst>
            </a:pPr>
            <a:r>
              <a:t>Because of the constant changes in the virus, the flu vaccine must be updated every year.</a:t>
            </a:r>
          </a:p>
        </p:txBody>
      </p:sp>
      <p:grpSp>
        <p:nvGrpSpPr>
          <p:cNvPr id="1523" name="Group 1523"/>
          <p:cNvGrpSpPr/>
          <p:nvPr/>
        </p:nvGrpSpPr>
        <p:grpSpPr>
          <a:xfrm>
            <a:off x="8651927" y="536548"/>
            <a:ext cx="4105166" cy="8874025"/>
            <a:chOff x="0" y="0"/>
            <a:chExt cx="4105164" cy="8874023"/>
          </a:xfrm>
        </p:grpSpPr>
        <p:sp>
          <p:nvSpPr>
            <p:cNvPr id="1517" name="Shape 1517"/>
            <p:cNvSpPr/>
            <p:nvPr/>
          </p:nvSpPr>
          <p:spPr>
            <a:xfrm>
              <a:off x="2943125" y="1148142"/>
              <a:ext cx="1155825" cy="36135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nSpc>
                  <a:spcPts val="2700"/>
                </a:lnSpc>
                <a:tabLst>
                  <a:tab pos="520700" algn="l"/>
                </a:tabLst>
                <a:defRPr sz="2000" b="1">
                  <a:solidFill>
                    <a:srgbClr val="005B86"/>
                  </a:solidFill>
                </a:defRPr>
              </a:lvl1pPr>
            </a:lstStyle>
            <a:p>
              <a:pPr>
                <a:defRPr b="0"/>
              </a:pPr>
              <a:r>
                <a:rPr b="1"/>
                <a:t>H1N1</a:t>
              </a:r>
            </a:p>
          </p:txBody>
        </p:sp>
        <p:sp>
          <p:nvSpPr>
            <p:cNvPr id="1518" name="Shape 1518"/>
            <p:cNvSpPr/>
            <p:nvPr/>
          </p:nvSpPr>
          <p:spPr>
            <a:xfrm>
              <a:off x="2943125" y="4269149"/>
              <a:ext cx="1120350" cy="36135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nSpc>
                  <a:spcPts val="2700"/>
                </a:lnSpc>
                <a:tabLst>
                  <a:tab pos="520700" algn="l"/>
                </a:tabLst>
                <a:defRPr sz="2000" b="1">
                  <a:solidFill>
                    <a:srgbClr val="005B86"/>
                  </a:solidFill>
                </a:defRPr>
              </a:lvl1pPr>
            </a:lstStyle>
            <a:p>
              <a:pPr>
                <a:defRPr b="0"/>
              </a:pPr>
              <a:r>
                <a:rPr b="1"/>
                <a:t>H1N2</a:t>
              </a:r>
            </a:p>
          </p:txBody>
        </p:sp>
        <p:sp>
          <p:nvSpPr>
            <p:cNvPr id="1519" name="Shape 1519"/>
            <p:cNvSpPr/>
            <p:nvPr/>
          </p:nvSpPr>
          <p:spPr>
            <a:xfrm>
              <a:off x="2943125" y="7341643"/>
              <a:ext cx="1162040" cy="36135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nSpc>
                  <a:spcPts val="2700"/>
                </a:lnSpc>
                <a:tabLst>
                  <a:tab pos="520700" algn="l"/>
                </a:tabLst>
                <a:defRPr sz="2000" b="1">
                  <a:solidFill>
                    <a:srgbClr val="005B86"/>
                  </a:solidFill>
                </a:defRPr>
              </a:lvl1pPr>
            </a:lstStyle>
            <a:p>
              <a:pPr>
                <a:defRPr b="0"/>
              </a:pPr>
              <a:r>
                <a:rPr b="1"/>
                <a:t>H3N2</a:t>
              </a:r>
            </a:p>
          </p:txBody>
        </p:sp>
        <p:pic>
          <p:nvPicPr>
            <p:cNvPr id="1520" name="INV FLU1.png"/>
            <p:cNvPicPr>
              <a:picLocks noChangeAspect="1"/>
            </p:cNvPicPr>
            <p:nvPr/>
          </p:nvPicPr>
          <p:blipFill>
            <a:blip r:embed="rId2">
              <a:extLst/>
            </a:blip>
            <a:stretch>
              <a:fillRect/>
            </a:stretch>
          </p:blipFill>
          <p:spPr>
            <a:xfrm>
              <a:off x="0" y="3056322"/>
              <a:ext cx="2750347" cy="2761379"/>
            </a:xfrm>
            <a:prstGeom prst="rect">
              <a:avLst/>
            </a:prstGeom>
            <a:ln w="12700" cap="flat">
              <a:noFill/>
              <a:miter lim="400000"/>
            </a:ln>
            <a:effectLst/>
          </p:spPr>
        </p:pic>
        <p:pic>
          <p:nvPicPr>
            <p:cNvPr id="1521" name="INVFLU2.png"/>
            <p:cNvPicPr>
              <a:picLocks noChangeAspect="1"/>
            </p:cNvPicPr>
            <p:nvPr/>
          </p:nvPicPr>
          <p:blipFill>
            <a:blip r:embed="rId3">
              <a:extLst/>
            </a:blip>
            <a:stretch>
              <a:fillRect/>
            </a:stretch>
          </p:blipFill>
          <p:spPr>
            <a:xfrm>
              <a:off x="0" y="6112645"/>
              <a:ext cx="2750347" cy="2761379"/>
            </a:xfrm>
            <a:prstGeom prst="rect">
              <a:avLst/>
            </a:prstGeom>
            <a:ln w="12700" cap="flat">
              <a:noFill/>
              <a:miter lim="400000"/>
            </a:ln>
            <a:effectLst/>
          </p:spPr>
        </p:pic>
        <p:pic>
          <p:nvPicPr>
            <p:cNvPr id="1522" name="INVFLU3.png"/>
            <p:cNvPicPr>
              <a:picLocks noChangeAspect="1"/>
            </p:cNvPicPr>
            <p:nvPr/>
          </p:nvPicPr>
          <p:blipFill>
            <a:blip r:embed="rId4">
              <a:extLst/>
            </a:blip>
            <a:stretch>
              <a:fillRect/>
            </a:stretch>
          </p:blipFill>
          <p:spPr>
            <a:xfrm>
              <a:off x="0" y="0"/>
              <a:ext cx="2750347" cy="2761378"/>
            </a:xfrm>
            <a:prstGeom prst="rect">
              <a:avLst/>
            </a:prstGeom>
            <a:ln w="12700" cap="flat">
              <a:noFill/>
              <a:miter lim="400000"/>
            </a:ln>
            <a:effectLst/>
          </p:spPr>
        </p:pic>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1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51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51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51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51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5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6" grpId="1" build="p" bldLvl="5"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 name="Shape 1525"/>
          <p:cNvSpPr/>
          <p:nvPr/>
        </p:nvSpPr>
        <p:spPr>
          <a:xfrm rot="18625565" flipH="1">
            <a:off x="4785450" y="5900642"/>
            <a:ext cx="3073401" cy="1574801"/>
          </a:xfrm>
          <a:prstGeom prst="ellipse">
            <a:avLst/>
          </a:prstGeom>
          <a:gradFill>
            <a:gsLst>
              <a:gs pos="0">
                <a:srgbClr val="FFD479">
                  <a:alpha val="80000"/>
                </a:srgbClr>
              </a:gs>
              <a:gs pos="100000">
                <a:srgbClr val="FFFFFF"/>
              </a:gs>
            </a:gsLst>
            <a:lin ang="5400000"/>
          </a:gradFill>
          <a:ln w="25400">
            <a:miter lim="400000"/>
          </a:ln>
        </p:spPr>
        <p:txBody>
          <a:bodyPr lIns="38100" tIns="38100" rIns="38100" bIns="38100" anchor="ctr"/>
          <a:lstStyle/>
          <a:p>
            <a:pPr>
              <a:lnSpc>
                <a:spcPts val="3400"/>
              </a:lnSpc>
              <a:tabLst>
                <a:tab pos="520700" algn="l"/>
              </a:tabLst>
              <a:defRPr sz="29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1528" name="Group 1528"/>
          <p:cNvGrpSpPr/>
          <p:nvPr/>
        </p:nvGrpSpPr>
        <p:grpSpPr>
          <a:xfrm>
            <a:off x="6529189" y="5511800"/>
            <a:ext cx="520701" cy="355600"/>
            <a:chOff x="0" y="0"/>
            <a:chExt cx="520700" cy="355600"/>
          </a:xfrm>
        </p:grpSpPr>
        <p:sp>
          <p:nvSpPr>
            <p:cNvPr id="1526" name="Shape 1526"/>
            <p:cNvSpPr/>
            <p:nvPr/>
          </p:nvSpPr>
          <p:spPr>
            <a:xfrm>
              <a:off x="1256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27" name="Shape 1527"/>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31" name="Group 1531"/>
          <p:cNvGrpSpPr/>
          <p:nvPr/>
        </p:nvGrpSpPr>
        <p:grpSpPr>
          <a:xfrm>
            <a:off x="6910189" y="5930900"/>
            <a:ext cx="520701" cy="355600"/>
            <a:chOff x="0" y="0"/>
            <a:chExt cx="520700" cy="355600"/>
          </a:xfrm>
        </p:grpSpPr>
        <p:sp>
          <p:nvSpPr>
            <p:cNvPr id="1529" name="Shape 1529"/>
            <p:cNvSpPr/>
            <p:nvPr/>
          </p:nvSpPr>
          <p:spPr>
            <a:xfrm>
              <a:off x="1256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30" name="Shape 1530"/>
            <p:cNvSpPr/>
            <p:nvPr/>
          </p:nvSpPr>
          <p:spPr>
            <a:xfrm>
              <a:off x="0" y="1328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34" name="Group 1534"/>
          <p:cNvGrpSpPr/>
          <p:nvPr/>
        </p:nvGrpSpPr>
        <p:grpSpPr>
          <a:xfrm>
            <a:off x="5995789" y="5753100"/>
            <a:ext cx="520701" cy="355600"/>
            <a:chOff x="0" y="0"/>
            <a:chExt cx="520700" cy="355600"/>
          </a:xfrm>
        </p:grpSpPr>
        <p:sp>
          <p:nvSpPr>
            <p:cNvPr id="1532" name="Shape 1532"/>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33" name="Shape 1533"/>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37" name="Group 1537"/>
          <p:cNvGrpSpPr/>
          <p:nvPr/>
        </p:nvGrpSpPr>
        <p:grpSpPr>
          <a:xfrm>
            <a:off x="6897489" y="5930900"/>
            <a:ext cx="520701" cy="355600"/>
            <a:chOff x="0" y="0"/>
            <a:chExt cx="520700" cy="355600"/>
          </a:xfrm>
        </p:grpSpPr>
        <p:sp>
          <p:nvSpPr>
            <p:cNvPr id="1535" name="Shape 1535"/>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36" name="Shape 1536"/>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40" name="Group 1540"/>
          <p:cNvGrpSpPr/>
          <p:nvPr/>
        </p:nvGrpSpPr>
        <p:grpSpPr>
          <a:xfrm>
            <a:off x="5602089" y="7137400"/>
            <a:ext cx="520701" cy="355600"/>
            <a:chOff x="0" y="0"/>
            <a:chExt cx="520700" cy="355600"/>
          </a:xfrm>
        </p:grpSpPr>
        <p:sp>
          <p:nvSpPr>
            <p:cNvPr id="1538" name="Shape 1538"/>
            <p:cNvSpPr/>
            <p:nvPr/>
          </p:nvSpPr>
          <p:spPr>
            <a:xfrm>
              <a:off x="1256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39" name="Shape 1539"/>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43" name="Group 1543"/>
          <p:cNvGrpSpPr/>
          <p:nvPr/>
        </p:nvGrpSpPr>
        <p:grpSpPr>
          <a:xfrm>
            <a:off x="5068689" y="7315200"/>
            <a:ext cx="520701" cy="355600"/>
            <a:chOff x="0" y="0"/>
            <a:chExt cx="520700" cy="355600"/>
          </a:xfrm>
        </p:grpSpPr>
        <p:sp>
          <p:nvSpPr>
            <p:cNvPr id="1541" name="Shape 1541"/>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42" name="Shape 1542"/>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46" name="Group 1546"/>
          <p:cNvGrpSpPr/>
          <p:nvPr/>
        </p:nvGrpSpPr>
        <p:grpSpPr>
          <a:xfrm>
            <a:off x="6046589" y="7251700"/>
            <a:ext cx="520701" cy="355600"/>
            <a:chOff x="0" y="0"/>
            <a:chExt cx="520700" cy="355600"/>
          </a:xfrm>
        </p:grpSpPr>
        <p:sp>
          <p:nvSpPr>
            <p:cNvPr id="1544" name="Shape 1544"/>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45" name="Shape 1545"/>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49" name="Group 1549"/>
          <p:cNvGrpSpPr/>
          <p:nvPr/>
        </p:nvGrpSpPr>
        <p:grpSpPr>
          <a:xfrm>
            <a:off x="5436989" y="7531100"/>
            <a:ext cx="520701" cy="355600"/>
            <a:chOff x="0" y="0"/>
            <a:chExt cx="520700" cy="355600"/>
          </a:xfrm>
        </p:grpSpPr>
        <p:sp>
          <p:nvSpPr>
            <p:cNvPr id="1547" name="Shape 1547"/>
            <p:cNvSpPr/>
            <p:nvPr/>
          </p:nvSpPr>
          <p:spPr>
            <a:xfrm>
              <a:off x="1256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48" name="Shape 1548"/>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52" name="Group 1552"/>
          <p:cNvGrpSpPr/>
          <p:nvPr/>
        </p:nvGrpSpPr>
        <p:grpSpPr>
          <a:xfrm>
            <a:off x="6529189" y="6680200"/>
            <a:ext cx="520701" cy="355600"/>
            <a:chOff x="0" y="0"/>
            <a:chExt cx="520700" cy="355600"/>
          </a:xfrm>
        </p:grpSpPr>
        <p:sp>
          <p:nvSpPr>
            <p:cNvPr id="1550" name="Shape 1550"/>
            <p:cNvSpPr/>
            <p:nvPr/>
          </p:nvSpPr>
          <p:spPr>
            <a:xfrm>
              <a:off x="1256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51" name="Shape 1551"/>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55" name="Group 1555"/>
          <p:cNvGrpSpPr/>
          <p:nvPr/>
        </p:nvGrpSpPr>
        <p:grpSpPr>
          <a:xfrm>
            <a:off x="6478389" y="5930900"/>
            <a:ext cx="430411" cy="355600"/>
            <a:chOff x="0" y="0"/>
            <a:chExt cx="430410" cy="355600"/>
          </a:xfrm>
        </p:grpSpPr>
        <p:sp>
          <p:nvSpPr>
            <p:cNvPr id="1553" name="Shape 1553"/>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54" name="Shape 1554"/>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58" name="Group 1558"/>
          <p:cNvGrpSpPr/>
          <p:nvPr/>
        </p:nvGrpSpPr>
        <p:grpSpPr>
          <a:xfrm>
            <a:off x="5868789" y="6108700"/>
            <a:ext cx="430411" cy="355600"/>
            <a:chOff x="0" y="0"/>
            <a:chExt cx="430410" cy="355600"/>
          </a:xfrm>
        </p:grpSpPr>
        <p:sp>
          <p:nvSpPr>
            <p:cNvPr id="1556" name="Shape 1556"/>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57" name="Shape 1557"/>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61" name="Group 1561"/>
          <p:cNvGrpSpPr/>
          <p:nvPr/>
        </p:nvGrpSpPr>
        <p:grpSpPr>
          <a:xfrm>
            <a:off x="6084689" y="6400800"/>
            <a:ext cx="430411" cy="355600"/>
            <a:chOff x="0" y="0"/>
            <a:chExt cx="430410" cy="355600"/>
          </a:xfrm>
        </p:grpSpPr>
        <p:sp>
          <p:nvSpPr>
            <p:cNvPr id="1559" name="Shape 1559"/>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60" name="Shape 1560"/>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64" name="Group 1564"/>
          <p:cNvGrpSpPr/>
          <p:nvPr/>
        </p:nvGrpSpPr>
        <p:grpSpPr>
          <a:xfrm>
            <a:off x="6719689" y="6273800"/>
            <a:ext cx="443111" cy="355600"/>
            <a:chOff x="0" y="0"/>
            <a:chExt cx="443110" cy="355600"/>
          </a:xfrm>
        </p:grpSpPr>
        <p:sp>
          <p:nvSpPr>
            <p:cNvPr id="1562" name="Shape 1562"/>
            <p:cNvSpPr/>
            <p:nvPr/>
          </p:nvSpPr>
          <p:spPr>
            <a:xfrm>
              <a:off x="875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63" name="Shape 1563"/>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67" name="Group 1567"/>
          <p:cNvGrpSpPr/>
          <p:nvPr/>
        </p:nvGrpSpPr>
        <p:grpSpPr>
          <a:xfrm>
            <a:off x="5475089" y="6273800"/>
            <a:ext cx="417711" cy="355600"/>
            <a:chOff x="0" y="0"/>
            <a:chExt cx="417710" cy="355600"/>
          </a:xfrm>
        </p:grpSpPr>
        <p:sp>
          <p:nvSpPr>
            <p:cNvPr id="1565" name="Shape 1565"/>
            <p:cNvSpPr/>
            <p:nvPr/>
          </p:nvSpPr>
          <p:spPr>
            <a:xfrm>
              <a:off x="621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66" name="Shape 1566"/>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70" name="Group 1570"/>
          <p:cNvGrpSpPr/>
          <p:nvPr/>
        </p:nvGrpSpPr>
        <p:grpSpPr>
          <a:xfrm>
            <a:off x="5246489" y="6819900"/>
            <a:ext cx="430411" cy="355600"/>
            <a:chOff x="0" y="0"/>
            <a:chExt cx="430410" cy="355600"/>
          </a:xfrm>
        </p:grpSpPr>
        <p:sp>
          <p:nvSpPr>
            <p:cNvPr id="1568" name="Shape 1568"/>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69" name="Shape 1569"/>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73" name="Group 1573"/>
          <p:cNvGrpSpPr/>
          <p:nvPr/>
        </p:nvGrpSpPr>
        <p:grpSpPr>
          <a:xfrm>
            <a:off x="6071989" y="6819900"/>
            <a:ext cx="443111" cy="355600"/>
            <a:chOff x="0" y="0"/>
            <a:chExt cx="443110" cy="355600"/>
          </a:xfrm>
        </p:grpSpPr>
        <p:sp>
          <p:nvSpPr>
            <p:cNvPr id="1571" name="Shape 1571"/>
            <p:cNvSpPr/>
            <p:nvPr/>
          </p:nvSpPr>
          <p:spPr>
            <a:xfrm>
              <a:off x="875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72" name="Shape 1572"/>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76" name="Group 1576"/>
          <p:cNvGrpSpPr/>
          <p:nvPr/>
        </p:nvGrpSpPr>
        <p:grpSpPr>
          <a:xfrm>
            <a:off x="5690989" y="6667500"/>
            <a:ext cx="430411" cy="355600"/>
            <a:chOff x="0" y="0"/>
            <a:chExt cx="430410" cy="355600"/>
          </a:xfrm>
        </p:grpSpPr>
        <p:sp>
          <p:nvSpPr>
            <p:cNvPr id="1574" name="Shape 1574"/>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75" name="Shape 1575"/>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sp>
        <p:nvSpPr>
          <p:cNvPr id="1577" name="Shape 1577"/>
          <p:cNvSpPr/>
          <p:nvPr/>
        </p:nvSpPr>
        <p:spPr>
          <a:xfrm rot="18625565" flipH="1">
            <a:off x="7720508" y="6123597"/>
            <a:ext cx="2641601" cy="2527301"/>
          </a:xfrm>
          <a:prstGeom prst="ellipse">
            <a:avLst/>
          </a:prstGeom>
          <a:gradFill>
            <a:gsLst>
              <a:gs pos="0">
                <a:srgbClr val="FFD479">
                  <a:alpha val="80000"/>
                </a:srgbClr>
              </a:gs>
              <a:gs pos="100000">
                <a:srgbClr val="FFFFFF"/>
              </a:gs>
            </a:gsLst>
            <a:lin ang="5400000"/>
          </a:gradFill>
          <a:ln w="25400">
            <a:miter lim="400000"/>
          </a:ln>
        </p:spPr>
        <p:txBody>
          <a:bodyPr lIns="38100" tIns="38100" rIns="38100" bIns="38100" anchor="ctr"/>
          <a:lstStyle/>
          <a:p>
            <a:pPr>
              <a:lnSpc>
                <a:spcPts val="3400"/>
              </a:lnSpc>
              <a:tabLst>
                <a:tab pos="520700" algn="l"/>
              </a:tabLst>
              <a:defRPr sz="29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1580" name="Group 1580"/>
          <p:cNvGrpSpPr/>
          <p:nvPr/>
        </p:nvGrpSpPr>
        <p:grpSpPr>
          <a:xfrm>
            <a:off x="9043789" y="6172200"/>
            <a:ext cx="520701" cy="355600"/>
            <a:chOff x="0" y="0"/>
            <a:chExt cx="520700" cy="355600"/>
          </a:xfrm>
        </p:grpSpPr>
        <p:sp>
          <p:nvSpPr>
            <p:cNvPr id="1578" name="Shape 1578"/>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79" name="Shape 1579"/>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83" name="Group 1583"/>
          <p:cNvGrpSpPr/>
          <p:nvPr/>
        </p:nvGrpSpPr>
        <p:grpSpPr>
          <a:xfrm>
            <a:off x="8510389" y="6337300"/>
            <a:ext cx="520701" cy="355600"/>
            <a:chOff x="0" y="0"/>
            <a:chExt cx="520700" cy="355600"/>
          </a:xfrm>
        </p:grpSpPr>
        <p:sp>
          <p:nvSpPr>
            <p:cNvPr id="1581" name="Shape 1581"/>
            <p:cNvSpPr/>
            <p:nvPr/>
          </p:nvSpPr>
          <p:spPr>
            <a:xfrm>
              <a:off x="1510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82" name="Shape 1582"/>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86" name="Group 1586"/>
          <p:cNvGrpSpPr/>
          <p:nvPr/>
        </p:nvGrpSpPr>
        <p:grpSpPr>
          <a:xfrm>
            <a:off x="9424789" y="6654800"/>
            <a:ext cx="520701" cy="355600"/>
            <a:chOff x="0" y="0"/>
            <a:chExt cx="520700" cy="355600"/>
          </a:xfrm>
        </p:grpSpPr>
        <p:sp>
          <p:nvSpPr>
            <p:cNvPr id="1584" name="Shape 1584"/>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85" name="Shape 1585"/>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89" name="Group 1589"/>
          <p:cNvGrpSpPr/>
          <p:nvPr/>
        </p:nvGrpSpPr>
        <p:grpSpPr>
          <a:xfrm>
            <a:off x="8116689" y="7861300"/>
            <a:ext cx="520701" cy="355600"/>
            <a:chOff x="0" y="0"/>
            <a:chExt cx="520700" cy="355600"/>
          </a:xfrm>
        </p:grpSpPr>
        <p:sp>
          <p:nvSpPr>
            <p:cNvPr id="1587" name="Shape 1587"/>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88" name="Shape 1588"/>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92" name="Group 1592"/>
          <p:cNvGrpSpPr/>
          <p:nvPr/>
        </p:nvGrpSpPr>
        <p:grpSpPr>
          <a:xfrm>
            <a:off x="8573889" y="7975600"/>
            <a:ext cx="520701" cy="355600"/>
            <a:chOff x="0" y="0"/>
            <a:chExt cx="520700" cy="355600"/>
          </a:xfrm>
        </p:grpSpPr>
        <p:sp>
          <p:nvSpPr>
            <p:cNvPr id="1590" name="Shape 1590"/>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91" name="Shape 1591"/>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95" name="Group 1595"/>
          <p:cNvGrpSpPr/>
          <p:nvPr/>
        </p:nvGrpSpPr>
        <p:grpSpPr>
          <a:xfrm>
            <a:off x="9043789" y="7543800"/>
            <a:ext cx="520701" cy="355600"/>
            <a:chOff x="0" y="0"/>
            <a:chExt cx="520700" cy="355600"/>
          </a:xfrm>
        </p:grpSpPr>
        <p:sp>
          <p:nvSpPr>
            <p:cNvPr id="1593" name="Shape 1593"/>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94" name="Shape 1594"/>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598" name="Group 1598"/>
          <p:cNvGrpSpPr/>
          <p:nvPr/>
        </p:nvGrpSpPr>
        <p:grpSpPr>
          <a:xfrm>
            <a:off x="9450189" y="7099300"/>
            <a:ext cx="430411" cy="355600"/>
            <a:chOff x="0" y="0"/>
            <a:chExt cx="430410" cy="355600"/>
          </a:xfrm>
        </p:grpSpPr>
        <p:sp>
          <p:nvSpPr>
            <p:cNvPr id="1596" name="Shape 1596"/>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597" name="Shape 1597"/>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01" name="Group 1601"/>
          <p:cNvGrpSpPr/>
          <p:nvPr/>
        </p:nvGrpSpPr>
        <p:grpSpPr>
          <a:xfrm>
            <a:off x="8650089" y="6870700"/>
            <a:ext cx="417711" cy="368300"/>
            <a:chOff x="0" y="0"/>
            <a:chExt cx="417710" cy="368300"/>
          </a:xfrm>
        </p:grpSpPr>
        <p:sp>
          <p:nvSpPr>
            <p:cNvPr id="1599" name="Shape 1599"/>
            <p:cNvSpPr/>
            <p:nvPr/>
          </p:nvSpPr>
          <p:spPr>
            <a:xfrm>
              <a:off x="621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00" name="Shape 1600"/>
            <p:cNvSpPr/>
            <p:nvPr/>
          </p:nvSpPr>
          <p:spPr>
            <a:xfrm>
              <a:off x="0" y="63500"/>
              <a:ext cx="393700" cy="3048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400" b="1">
                  <a:solidFill>
                    <a:srgbClr val="000000"/>
                  </a:solidFill>
                </a:defRPr>
              </a:lvl1pPr>
            </a:lstStyle>
            <a:p>
              <a:r>
                <a:t>Aa</a:t>
              </a:r>
            </a:p>
          </p:txBody>
        </p:sp>
      </p:grpSp>
      <p:grpSp>
        <p:nvGrpSpPr>
          <p:cNvPr id="1604" name="Group 1604"/>
          <p:cNvGrpSpPr/>
          <p:nvPr/>
        </p:nvGrpSpPr>
        <p:grpSpPr>
          <a:xfrm>
            <a:off x="9462889" y="7861300"/>
            <a:ext cx="430411" cy="355600"/>
            <a:chOff x="0" y="0"/>
            <a:chExt cx="430410" cy="355600"/>
          </a:xfrm>
        </p:grpSpPr>
        <p:sp>
          <p:nvSpPr>
            <p:cNvPr id="1602" name="Shape 1602"/>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03" name="Shape 1603"/>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07" name="Group 1607"/>
          <p:cNvGrpSpPr/>
          <p:nvPr/>
        </p:nvGrpSpPr>
        <p:grpSpPr>
          <a:xfrm>
            <a:off x="9742289" y="7442200"/>
            <a:ext cx="393701" cy="355600"/>
            <a:chOff x="0" y="0"/>
            <a:chExt cx="393700" cy="355600"/>
          </a:xfrm>
        </p:grpSpPr>
        <p:sp>
          <p:nvSpPr>
            <p:cNvPr id="1605" name="Shape 1605"/>
            <p:cNvSpPr/>
            <p:nvPr/>
          </p:nvSpPr>
          <p:spPr>
            <a:xfrm>
              <a:off x="367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06" name="Shape 1606"/>
            <p:cNvSpPr/>
            <p:nvPr/>
          </p:nvSpPr>
          <p:spPr>
            <a:xfrm>
              <a:off x="0" y="1201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10" name="Group 1610"/>
          <p:cNvGrpSpPr/>
          <p:nvPr/>
        </p:nvGrpSpPr>
        <p:grpSpPr>
          <a:xfrm>
            <a:off x="8637389" y="7543800"/>
            <a:ext cx="430411" cy="355600"/>
            <a:chOff x="0" y="0"/>
            <a:chExt cx="430410" cy="355600"/>
          </a:xfrm>
        </p:grpSpPr>
        <p:sp>
          <p:nvSpPr>
            <p:cNvPr id="1608" name="Shape 1608"/>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09" name="Shape 1609"/>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13" name="Group 1613"/>
          <p:cNvGrpSpPr/>
          <p:nvPr/>
        </p:nvGrpSpPr>
        <p:grpSpPr>
          <a:xfrm>
            <a:off x="7722989" y="7543800"/>
            <a:ext cx="430411" cy="355600"/>
            <a:chOff x="0" y="0"/>
            <a:chExt cx="430410" cy="355600"/>
          </a:xfrm>
        </p:grpSpPr>
        <p:sp>
          <p:nvSpPr>
            <p:cNvPr id="1611" name="Shape 1611"/>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12" name="Shape 1612"/>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16" name="Group 1616"/>
          <p:cNvGrpSpPr/>
          <p:nvPr/>
        </p:nvGrpSpPr>
        <p:grpSpPr>
          <a:xfrm>
            <a:off x="9056489" y="7988300"/>
            <a:ext cx="430411" cy="355600"/>
            <a:chOff x="0" y="0"/>
            <a:chExt cx="430410" cy="355600"/>
          </a:xfrm>
        </p:grpSpPr>
        <p:sp>
          <p:nvSpPr>
            <p:cNvPr id="1614" name="Shape 1614"/>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15" name="Shape 1615"/>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19" name="Group 1619"/>
          <p:cNvGrpSpPr/>
          <p:nvPr/>
        </p:nvGrpSpPr>
        <p:grpSpPr>
          <a:xfrm>
            <a:off x="7976989" y="6502400"/>
            <a:ext cx="430411" cy="355600"/>
            <a:chOff x="0" y="0"/>
            <a:chExt cx="430410" cy="355600"/>
          </a:xfrm>
        </p:grpSpPr>
        <p:sp>
          <p:nvSpPr>
            <p:cNvPr id="1617" name="Shape 1617"/>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18" name="Shape 1618"/>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22" name="Group 1622"/>
          <p:cNvGrpSpPr/>
          <p:nvPr/>
        </p:nvGrpSpPr>
        <p:grpSpPr>
          <a:xfrm>
            <a:off x="8256389" y="7353300"/>
            <a:ext cx="430411" cy="355600"/>
            <a:chOff x="0" y="0"/>
            <a:chExt cx="430410" cy="355600"/>
          </a:xfrm>
        </p:grpSpPr>
        <p:sp>
          <p:nvSpPr>
            <p:cNvPr id="1620" name="Shape 1620"/>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21" name="Shape 1621"/>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25" name="Group 1625"/>
          <p:cNvGrpSpPr/>
          <p:nvPr/>
        </p:nvGrpSpPr>
        <p:grpSpPr>
          <a:xfrm>
            <a:off x="8243689" y="6870700"/>
            <a:ext cx="443111" cy="355600"/>
            <a:chOff x="0" y="0"/>
            <a:chExt cx="443110" cy="355600"/>
          </a:xfrm>
        </p:grpSpPr>
        <p:sp>
          <p:nvSpPr>
            <p:cNvPr id="1623" name="Shape 1623"/>
            <p:cNvSpPr/>
            <p:nvPr/>
          </p:nvSpPr>
          <p:spPr>
            <a:xfrm>
              <a:off x="875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24" name="Shape 1624"/>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28" name="Group 1628"/>
          <p:cNvGrpSpPr/>
          <p:nvPr/>
        </p:nvGrpSpPr>
        <p:grpSpPr>
          <a:xfrm>
            <a:off x="7734300" y="7099300"/>
            <a:ext cx="430411" cy="355600"/>
            <a:chOff x="0" y="0"/>
            <a:chExt cx="430410" cy="355600"/>
          </a:xfrm>
        </p:grpSpPr>
        <p:sp>
          <p:nvSpPr>
            <p:cNvPr id="1626" name="Shape 1626"/>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27" name="Shape 1627"/>
            <p:cNvSpPr/>
            <p:nvPr/>
          </p:nvSpPr>
          <p:spPr>
            <a:xfrm>
              <a:off x="0" y="439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31" name="Group 1631"/>
          <p:cNvGrpSpPr/>
          <p:nvPr/>
        </p:nvGrpSpPr>
        <p:grpSpPr>
          <a:xfrm>
            <a:off x="9055100" y="6642100"/>
            <a:ext cx="443111" cy="355600"/>
            <a:chOff x="0" y="0"/>
            <a:chExt cx="443110" cy="355600"/>
          </a:xfrm>
        </p:grpSpPr>
        <p:sp>
          <p:nvSpPr>
            <p:cNvPr id="1629" name="Shape 1629"/>
            <p:cNvSpPr/>
            <p:nvPr/>
          </p:nvSpPr>
          <p:spPr>
            <a:xfrm>
              <a:off x="875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30" name="Shape 1630"/>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34" name="Group 1634"/>
          <p:cNvGrpSpPr/>
          <p:nvPr/>
        </p:nvGrpSpPr>
        <p:grpSpPr>
          <a:xfrm>
            <a:off x="9893300" y="6870700"/>
            <a:ext cx="430411" cy="355600"/>
            <a:chOff x="0" y="0"/>
            <a:chExt cx="430410" cy="355600"/>
          </a:xfrm>
        </p:grpSpPr>
        <p:sp>
          <p:nvSpPr>
            <p:cNvPr id="1632" name="Shape 1632"/>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33" name="Shape 1633"/>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37" name="Group 1637"/>
          <p:cNvGrpSpPr/>
          <p:nvPr/>
        </p:nvGrpSpPr>
        <p:grpSpPr>
          <a:xfrm>
            <a:off x="8813800" y="8369300"/>
            <a:ext cx="430411" cy="355600"/>
            <a:chOff x="0" y="0"/>
            <a:chExt cx="430410" cy="355600"/>
          </a:xfrm>
        </p:grpSpPr>
        <p:sp>
          <p:nvSpPr>
            <p:cNvPr id="1635" name="Shape 1635"/>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36" name="Shape 1636"/>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40" name="Group 1640"/>
          <p:cNvGrpSpPr/>
          <p:nvPr/>
        </p:nvGrpSpPr>
        <p:grpSpPr>
          <a:xfrm>
            <a:off x="9067800" y="7099300"/>
            <a:ext cx="430411" cy="355600"/>
            <a:chOff x="0" y="0"/>
            <a:chExt cx="430410" cy="355600"/>
          </a:xfrm>
        </p:grpSpPr>
        <p:sp>
          <p:nvSpPr>
            <p:cNvPr id="1638" name="Shape 1638"/>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39" name="Shape 1639"/>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sp>
        <p:nvSpPr>
          <p:cNvPr id="1641" name="Shape 1641"/>
          <p:cNvSpPr/>
          <p:nvPr/>
        </p:nvSpPr>
        <p:spPr>
          <a:xfrm rot="5241447" flipH="1">
            <a:off x="10423998" y="6883927"/>
            <a:ext cx="2628901" cy="1917701"/>
          </a:xfrm>
          <a:prstGeom prst="ellipse">
            <a:avLst/>
          </a:prstGeom>
          <a:gradFill>
            <a:gsLst>
              <a:gs pos="0">
                <a:srgbClr val="FFD479">
                  <a:alpha val="80000"/>
                </a:srgbClr>
              </a:gs>
              <a:gs pos="100000">
                <a:srgbClr val="FFFFFF"/>
              </a:gs>
            </a:gsLst>
            <a:lin ang="11460000"/>
          </a:gradFill>
          <a:ln w="25400">
            <a:miter lim="400000"/>
          </a:ln>
        </p:spPr>
        <p:txBody>
          <a:bodyPr lIns="38100" tIns="38100" rIns="38100" bIns="38100" anchor="ctr"/>
          <a:lstStyle/>
          <a:p>
            <a:pPr>
              <a:lnSpc>
                <a:spcPts val="3400"/>
              </a:lnSpc>
              <a:tabLst>
                <a:tab pos="520700" algn="l"/>
              </a:tabLst>
              <a:defRPr sz="29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1644" name="Group 1644"/>
          <p:cNvGrpSpPr/>
          <p:nvPr/>
        </p:nvGrpSpPr>
        <p:grpSpPr>
          <a:xfrm>
            <a:off x="11659989" y="6845300"/>
            <a:ext cx="520701" cy="355600"/>
            <a:chOff x="0" y="0"/>
            <a:chExt cx="520700" cy="355600"/>
          </a:xfrm>
        </p:grpSpPr>
        <p:sp>
          <p:nvSpPr>
            <p:cNvPr id="1642" name="Shape 1642"/>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43" name="Shape 1643"/>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47" name="Group 1647"/>
          <p:cNvGrpSpPr/>
          <p:nvPr/>
        </p:nvGrpSpPr>
        <p:grpSpPr>
          <a:xfrm>
            <a:off x="12104489" y="7505700"/>
            <a:ext cx="520701" cy="355600"/>
            <a:chOff x="0" y="0"/>
            <a:chExt cx="520700" cy="355600"/>
          </a:xfrm>
        </p:grpSpPr>
        <p:sp>
          <p:nvSpPr>
            <p:cNvPr id="1645" name="Shape 1645"/>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46" name="Shape 1646"/>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50" name="Group 1650"/>
          <p:cNvGrpSpPr/>
          <p:nvPr/>
        </p:nvGrpSpPr>
        <p:grpSpPr>
          <a:xfrm>
            <a:off x="10961489" y="8356600"/>
            <a:ext cx="520701" cy="355600"/>
            <a:chOff x="0" y="0"/>
            <a:chExt cx="520700" cy="355600"/>
          </a:xfrm>
        </p:grpSpPr>
        <p:sp>
          <p:nvSpPr>
            <p:cNvPr id="1648" name="Shape 1648"/>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49" name="Shape 1649"/>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53" name="Group 1653"/>
          <p:cNvGrpSpPr/>
          <p:nvPr/>
        </p:nvGrpSpPr>
        <p:grpSpPr>
          <a:xfrm>
            <a:off x="11010900" y="7874000"/>
            <a:ext cx="430411" cy="355600"/>
            <a:chOff x="0" y="0"/>
            <a:chExt cx="430410" cy="355600"/>
          </a:xfrm>
        </p:grpSpPr>
        <p:sp>
          <p:nvSpPr>
            <p:cNvPr id="1651" name="Shape 1651"/>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52" name="Shape 1652"/>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56" name="Group 1656"/>
          <p:cNvGrpSpPr/>
          <p:nvPr/>
        </p:nvGrpSpPr>
        <p:grpSpPr>
          <a:xfrm>
            <a:off x="10769600" y="7327900"/>
            <a:ext cx="443111" cy="355600"/>
            <a:chOff x="0" y="0"/>
            <a:chExt cx="443110" cy="355600"/>
          </a:xfrm>
        </p:grpSpPr>
        <p:sp>
          <p:nvSpPr>
            <p:cNvPr id="1654" name="Shape 1654"/>
            <p:cNvSpPr/>
            <p:nvPr/>
          </p:nvSpPr>
          <p:spPr>
            <a:xfrm>
              <a:off x="875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55" name="Shape 1655"/>
            <p:cNvSpPr/>
            <p:nvPr/>
          </p:nvSpPr>
          <p:spPr>
            <a:xfrm>
              <a:off x="0" y="439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59" name="Group 1659"/>
          <p:cNvGrpSpPr/>
          <p:nvPr/>
        </p:nvGrpSpPr>
        <p:grpSpPr>
          <a:xfrm>
            <a:off x="11010900" y="6870700"/>
            <a:ext cx="430411" cy="355600"/>
            <a:chOff x="0" y="0"/>
            <a:chExt cx="430410" cy="355600"/>
          </a:xfrm>
        </p:grpSpPr>
        <p:sp>
          <p:nvSpPr>
            <p:cNvPr id="1657" name="Shape 1657"/>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58" name="Shape 1658"/>
            <p:cNvSpPr/>
            <p:nvPr/>
          </p:nvSpPr>
          <p:spPr>
            <a:xfrm>
              <a:off x="0" y="439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62" name="Group 1662"/>
          <p:cNvGrpSpPr/>
          <p:nvPr/>
        </p:nvGrpSpPr>
        <p:grpSpPr>
          <a:xfrm>
            <a:off x="11391900" y="7137400"/>
            <a:ext cx="430411" cy="355600"/>
            <a:chOff x="0" y="0"/>
            <a:chExt cx="430410" cy="355600"/>
          </a:xfrm>
        </p:grpSpPr>
        <p:sp>
          <p:nvSpPr>
            <p:cNvPr id="1660" name="Shape 1660"/>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61" name="Shape 1661"/>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65" name="Group 1665"/>
          <p:cNvGrpSpPr/>
          <p:nvPr/>
        </p:nvGrpSpPr>
        <p:grpSpPr>
          <a:xfrm>
            <a:off x="12103100" y="7086600"/>
            <a:ext cx="417711" cy="355600"/>
            <a:chOff x="0" y="0"/>
            <a:chExt cx="417710" cy="355600"/>
          </a:xfrm>
        </p:grpSpPr>
        <p:sp>
          <p:nvSpPr>
            <p:cNvPr id="1663" name="Shape 1663"/>
            <p:cNvSpPr/>
            <p:nvPr/>
          </p:nvSpPr>
          <p:spPr>
            <a:xfrm>
              <a:off x="621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64" name="Shape 1664"/>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68" name="Group 1668"/>
          <p:cNvGrpSpPr/>
          <p:nvPr/>
        </p:nvGrpSpPr>
        <p:grpSpPr>
          <a:xfrm>
            <a:off x="12268200" y="7912100"/>
            <a:ext cx="430411" cy="355600"/>
            <a:chOff x="0" y="0"/>
            <a:chExt cx="430410" cy="355600"/>
          </a:xfrm>
        </p:grpSpPr>
        <p:sp>
          <p:nvSpPr>
            <p:cNvPr id="1666" name="Shape 1666"/>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67" name="Shape 1667"/>
            <p:cNvSpPr/>
            <p:nvPr/>
          </p:nvSpPr>
          <p:spPr>
            <a:xfrm>
              <a:off x="0" y="439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71" name="Group 1671"/>
          <p:cNvGrpSpPr/>
          <p:nvPr/>
        </p:nvGrpSpPr>
        <p:grpSpPr>
          <a:xfrm>
            <a:off x="11391900" y="8661400"/>
            <a:ext cx="430411" cy="355600"/>
            <a:chOff x="0" y="0"/>
            <a:chExt cx="430410" cy="355600"/>
          </a:xfrm>
        </p:grpSpPr>
        <p:sp>
          <p:nvSpPr>
            <p:cNvPr id="1669" name="Shape 1669"/>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70" name="Shape 1670"/>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74" name="Group 1674"/>
          <p:cNvGrpSpPr/>
          <p:nvPr/>
        </p:nvGrpSpPr>
        <p:grpSpPr>
          <a:xfrm>
            <a:off x="11329789" y="7620000"/>
            <a:ext cx="443111" cy="355600"/>
            <a:chOff x="0" y="0"/>
            <a:chExt cx="443110" cy="355600"/>
          </a:xfrm>
        </p:grpSpPr>
        <p:sp>
          <p:nvSpPr>
            <p:cNvPr id="1672" name="Shape 1672"/>
            <p:cNvSpPr/>
            <p:nvPr/>
          </p:nvSpPr>
          <p:spPr>
            <a:xfrm>
              <a:off x="875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73" name="Shape 1673"/>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77" name="Group 1677"/>
          <p:cNvGrpSpPr/>
          <p:nvPr/>
        </p:nvGrpSpPr>
        <p:grpSpPr>
          <a:xfrm>
            <a:off x="11355189" y="6540500"/>
            <a:ext cx="430411" cy="355600"/>
            <a:chOff x="0" y="0"/>
            <a:chExt cx="430410" cy="355600"/>
          </a:xfrm>
        </p:grpSpPr>
        <p:sp>
          <p:nvSpPr>
            <p:cNvPr id="1675" name="Shape 1675"/>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76" name="Shape 1676"/>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80" name="Group 1680"/>
          <p:cNvGrpSpPr/>
          <p:nvPr/>
        </p:nvGrpSpPr>
        <p:grpSpPr>
          <a:xfrm>
            <a:off x="11774289" y="7632700"/>
            <a:ext cx="430411" cy="355600"/>
            <a:chOff x="0" y="0"/>
            <a:chExt cx="430410" cy="355600"/>
          </a:xfrm>
        </p:grpSpPr>
        <p:sp>
          <p:nvSpPr>
            <p:cNvPr id="1678" name="Shape 1678"/>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79" name="Shape 1679"/>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83" name="Group 1683"/>
          <p:cNvGrpSpPr/>
          <p:nvPr/>
        </p:nvGrpSpPr>
        <p:grpSpPr>
          <a:xfrm>
            <a:off x="11469489" y="8191500"/>
            <a:ext cx="430411" cy="355600"/>
            <a:chOff x="0" y="0"/>
            <a:chExt cx="430410" cy="355600"/>
          </a:xfrm>
        </p:grpSpPr>
        <p:sp>
          <p:nvSpPr>
            <p:cNvPr id="1681" name="Shape 1681"/>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82" name="Shape 1682"/>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86" name="Group 1686"/>
          <p:cNvGrpSpPr/>
          <p:nvPr/>
        </p:nvGrpSpPr>
        <p:grpSpPr>
          <a:xfrm>
            <a:off x="11888589" y="8559800"/>
            <a:ext cx="430411" cy="355600"/>
            <a:chOff x="0" y="0"/>
            <a:chExt cx="430410" cy="355600"/>
          </a:xfrm>
        </p:grpSpPr>
        <p:sp>
          <p:nvSpPr>
            <p:cNvPr id="1684" name="Shape 1684"/>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85" name="Shape 1685"/>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689" name="Group 1689"/>
          <p:cNvGrpSpPr/>
          <p:nvPr/>
        </p:nvGrpSpPr>
        <p:grpSpPr>
          <a:xfrm>
            <a:off x="11875889" y="8102600"/>
            <a:ext cx="443111" cy="355600"/>
            <a:chOff x="0" y="0"/>
            <a:chExt cx="443110" cy="355600"/>
          </a:xfrm>
        </p:grpSpPr>
        <p:sp>
          <p:nvSpPr>
            <p:cNvPr id="1687" name="Shape 1687"/>
            <p:cNvSpPr/>
            <p:nvPr/>
          </p:nvSpPr>
          <p:spPr>
            <a:xfrm>
              <a:off x="875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88" name="Shape 1688"/>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sp>
        <p:nvSpPr>
          <p:cNvPr id="1690" name="Shape 1690"/>
          <p:cNvSpPr>
            <a:spLocks noGrp="1"/>
          </p:cNvSpPr>
          <p:nvPr>
            <p:ph type="title"/>
          </p:nvPr>
        </p:nvSpPr>
        <p:spPr>
          <a:prstGeom prst="rect">
            <a:avLst/>
          </a:prstGeom>
        </p:spPr>
        <p:txBody>
          <a:bodyPr/>
          <a:lstStyle>
            <a:lvl1pPr>
              <a:tabLst>
                <a:tab pos="952500" algn="l"/>
              </a:tabLst>
            </a:lvl1pPr>
          </a:lstStyle>
          <a:p>
            <a:r>
              <a:t>Gene Flow</a:t>
            </a:r>
          </a:p>
        </p:txBody>
      </p:sp>
      <p:sp>
        <p:nvSpPr>
          <p:cNvPr id="1691" name="Shape 1691"/>
          <p:cNvSpPr>
            <a:spLocks noGrp="1"/>
          </p:cNvSpPr>
          <p:nvPr>
            <p:ph type="body" sz="half" idx="1"/>
          </p:nvPr>
        </p:nvSpPr>
        <p:spPr>
          <a:xfrm>
            <a:off x="368300" y="1790700"/>
            <a:ext cx="4347518" cy="7543800"/>
          </a:xfrm>
          <a:prstGeom prst="rect">
            <a:avLst/>
          </a:prstGeom>
        </p:spPr>
        <p:txBody>
          <a:bodyPr/>
          <a:lstStyle/>
          <a:p>
            <a:pPr>
              <a:lnSpc>
                <a:spcPts val="3200"/>
              </a:lnSpc>
              <a:tabLst>
                <a:tab pos="1016000" algn="l"/>
              </a:tabLst>
            </a:pPr>
            <a:r>
              <a:t>Gene flow is the movement of genes into or out of a population (immigration and emigration).</a:t>
            </a:r>
          </a:p>
          <a:p>
            <a:pPr>
              <a:lnSpc>
                <a:spcPts val="3200"/>
              </a:lnSpc>
              <a:tabLst>
                <a:tab pos="1016000" algn="l"/>
              </a:tabLst>
            </a:pPr>
            <a:r>
              <a:t>A population may gain or lose alleles through </a:t>
            </a:r>
            <a:br/>
            <a:r>
              <a:t>gene flow.</a:t>
            </a:r>
          </a:p>
          <a:p>
            <a:pPr>
              <a:lnSpc>
                <a:spcPts val="3200"/>
              </a:lnSpc>
              <a:tabLst>
                <a:tab pos="1016000" algn="l"/>
              </a:tabLst>
            </a:pPr>
            <a:r>
              <a:t>Gene flow tends to </a:t>
            </a:r>
            <a:r>
              <a:rPr b="1">
                <a:solidFill>
                  <a:srgbClr val="006994"/>
                </a:solidFill>
              </a:rPr>
              <a:t>reduce the differences between populations</a:t>
            </a:r>
            <a:r>
              <a:t> because the gene pools become </a:t>
            </a:r>
            <a:br/>
            <a:r>
              <a:t>more similar.</a:t>
            </a:r>
          </a:p>
        </p:txBody>
      </p:sp>
      <p:sp>
        <p:nvSpPr>
          <p:cNvPr id="1692" name="Shape 1692"/>
          <p:cNvSpPr/>
          <p:nvPr/>
        </p:nvSpPr>
        <p:spPr>
          <a:xfrm>
            <a:off x="8623300" y="1340978"/>
            <a:ext cx="222346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a:solidFill>
                  <a:srgbClr val="201B17"/>
                </a:solidFill>
              </a:defRPr>
            </a:lvl1pPr>
          </a:lstStyle>
          <a:p>
            <a:pPr>
              <a:defRPr>
                <a:solidFill>
                  <a:srgbClr val="000000"/>
                </a:solidFill>
              </a:defRPr>
            </a:pPr>
            <a:r>
              <a:rPr>
                <a:solidFill>
                  <a:srgbClr val="201B17"/>
                </a:solidFill>
              </a:rPr>
              <a:t>Barriers to gene flow</a:t>
            </a:r>
          </a:p>
        </p:txBody>
      </p:sp>
      <p:sp>
        <p:nvSpPr>
          <p:cNvPr id="1693" name="Shape 1693"/>
          <p:cNvSpPr/>
          <p:nvPr/>
        </p:nvSpPr>
        <p:spPr>
          <a:xfrm>
            <a:off x="7696200" y="5455778"/>
            <a:ext cx="27432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gn="ctr">
              <a:tabLst>
                <a:tab pos="520700" algn="l"/>
              </a:tabLst>
              <a:defRPr>
                <a:solidFill>
                  <a:srgbClr val="201B17"/>
                </a:solidFill>
              </a:defRPr>
            </a:lvl1pPr>
          </a:lstStyle>
          <a:p>
            <a:pPr>
              <a:defRPr>
                <a:solidFill>
                  <a:srgbClr val="000000"/>
                </a:solidFill>
              </a:defRPr>
            </a:pPr>
            <a:r>
              <a:rPr>
                <a:solidFill>
                  <a:srgbClr val="201B17"/>
                </a:solidFill>
              </a:rPr>
              <a:t>Migration into and out of population B</a:t>
            </a:r>
          </a:p>
        </p:txBody>
      </p:sp>
      <p:sp>
        <p:nvSpPr>
          <p:cNvPr id="1694" name="Shape 1694"/>
          <p:cNvSpPr/>
          <p:nvPr/>
        </p:nvSpPr>
        <p:spPr>
          <a:xfrm>
            <a:off x="11023600" y="5201778"/>
            <a:ext cx="1435981"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a:solidFill>
                  <a:srgbClr val="201B17"/>
                </a:solidFill>
              </a:defRPr>
            </a:lvl1pPr>
          </a:lstStyle>
          <a:p>
            <a:pPr>
              <a:defRPr>
                <a:solidFill>
                  <a:srgbClr val="000000"/>
                </a:solidFill>
              </a:defRPr>
            </a:pPr>
            <a:r>
              <a:rPr>
                <a:solidFill>
                  <a:srgbClr val="201B17"/>
                </a:solidFill>
              </a:rPr>
              <a:t>Population C</a:t>
            </a:r>
          </a:p>
        </p:txBody>
      </p:sp>
      <p:sp>
        <p:nvSpPr>
          <p:cNvPr id="1695" name="Shape 1695"/>
          <p:cNvSpPr/>
          <p:nvPr/>
        </p:nvSpPr>
        <p:spPr>
          <a:xfrm>
            <a:off x="7937500" y="4846178"/>
            <a:ext cx="142336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a:solidFill>
                  <a:srgbClr val="201B17"/>
                </a:solidFill>
              </a:defRPr>
            </a:lvl1pPr>
          </a:lstStyle>
          <a:p>
            <a:pPr>
              <a:defRPr>
                <a:solidFill>
                  <a:srgbClr val="000000"/>
                </a:solidFill>
              </a:defRPr>
            </a:pPr>
            <a:r>
              <a:rPr>
                <a:solidFill>
                  <a:srgbClr val="201B17"/>
                </a:solidFill>
              </a:rPr>
              <a:t>Population B</a:t>
            </a:r>
          </a:p>
        </p:txBody>
      </p:sp>
      <p:grpSp>
        <p:nvGrpSpPr>
          <p:cNvPr id="1698" name="Group 1698"/>
          <p:cNvGrpSpPr/>
          <p:nvPr/>
        </p:nvGrpSpPr>
        <p:grpSpPr>
          <a:xfrm>
            <a:off x="5321300" y="4483100"/>
            <a:ext cx="2349500" cy="533400"/>
            <a:chOff x="0" y="0"/>
            <a:chExt cx="2349500" cy="533400"/>
          </a:xfrm>
        </p:grpSpPr>
        <p:sp>
          <p:nvSpPr>
            <p:cNvPr id="1696" name="Shape 1696"/>
            <p:cNvSpPr/>
            <p:nvPr/>
          </p:nvSpPr>
          <p:spPr>
            <a:xfrm>
              <a:off x="0" y="0"/>
              <a:ext cx="2349500" cy="533400"/>
            </a:xfrm>
            <a:prstGeom prst="rect">
              <a:avLst/>
            </a:prstGeom>
            <a:solidFill>
              <a:srgbClr val="006994"/>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FFFFFF"/>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697" name="Shape 1697"/>
            <p:cNvSpPr/>
            <p:nvPr/>
          </p:nvSpPr>
          <p:spPr>
            <a:xfrm>
              <a:off x="165100" y="86171"/>
              <a:ext cx="2023517" cy="3456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b">
              <a:spAutoFit/>
            </a:bodyPr>
            <a:lstStyle>
              <a:lvl1pPr>
                <a:lnSpc>
                  <a:spcPts val="3100"/>
                </a:lnSpc>
                <a:tabLst>
                  <a:tab pos="520700" algn="l"/>
                </a:tabLst>
                <a:defRPr sz="2400" b="1">
                  <a:solidFill>
                    <a:srgbClr val="FFFFFF"/>
                  </a:solidFill>
                </a:defRPr>
              </a:lvl1pPr>
            </a:lstStyle>
            <a:p>
              <a:r>
                <a:t>No gene flow</a:t>
              </a:r>
            </a:p>
          </p:txBody>
        </p:sp>
      </p:grpSp>
      <p:sp>
        <p:nvSpPr>
          <p:cNvPr id="1699" name="Shape 1699"/>
          <p:cNvSpPr/>
          <p:nvPr/>
        </p:nvSpPr>
        <p:spPr>
          <a:xfrm>
            <a:off x="4927600" y="3982578"/>
            <a:ext cx="1410755"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a:solidFill>
                  <a:srgbClr val="201B17"/>
                </a:solidFill>
              </a:defRPr>
            </a:lvl1pPr>
          </a:lstStyle>
          <a:p>
            <a:pPr>
              <a:defRPr>
                <a:solidFill>
                  <a:srgbClr val="000000"/>
                </a:solidFill>
              </a:defRPr>
            </a:pPr>
            <a:r>
              <a:rPr>
                <a:solidFill>
                  <a:srgbClr val="201B17"/>
                </a:solidFill>
              </a:rPr>
              <a:t>Population A</a:t>
            </a:r>
          </a:p>
        </p:txBody>
      </p:sp>
      <p:sp>
        <p:nvSpPr>
          <p:cNvPr id="1700" name="Shape 1700"/>
          <p:cNvSpPr/>
          <p:nvPr/>
        </p:nvSpPr>
        <p:spPr>
          <a:xfrm>
            <a:off x="5168900" y="8173578"/>
            <a:ext cx="1410755"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a:solidFill>
                  <a:srgbClr val="201B17"/>
                </a:solidFill>
              </a:defRPr>
            </a:lvl1pPr>
          </a:lstStyle>
          <a:p>
            <a:pPr>
              <a:defRPr>
                <a:solidFill>
                  <a:srgbClr val="000000"/>
                </a:solidFill>
              </a:defRPr>
            </a:pPr>
            <a:r>
              <a:rPr>
                <a:solidFill>
                  <a:srgbClr val="201B17"/>
                </a:solidFill>
              </a:rPr>
              <a:t>Population A</a:t>
            </a:r>
          </a:p>
        </p:txBody>
      </p:sp>
      <p:sp>
        <p:nvSpPr>
          <p:cNvPr id="1701" name="Shape 1701"/>
          <p:cNvSpPr/>
          <p:nvPr/>
        </p:nvSpPr>
        <p:spPr>
          <a:xfrm>
            <a:off x="8077200" y="8935578"/>
            <a:ext cx="142336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a:solidFill>
                  <a:srgbClr val="201B17"/>
                </a:solidFill>
              </a:defRPr>
            </a:lvl1pPr>
          </a:lstStyle>
          <a:p>
            <a:pPr>
              <a:defRPr>
                <a:solidFill>
                  <a:srgbClr val="000000"/>
                </a:solidFill>
              </a:defRPr>
            </a:pPr>
            <a:r>
              <a:rPr>
                <a:solidFill>
                  <a:srgbClr val="201B17"/>
                </a:solidFill>
              </a:rPr>
              <a:t>Population B</a:t>
            </a:r>
          </a:p>
        </p:txBody>
      </p:sp>
      <p:sp>
        <p:nvSpPr>
          <p:cNvPr id="1702" name="Shape 1702"/>
          <p:cNvSpPr/>
          <p:nvPr/>
        </p:nvSpPr>
        <p:spPr>
          <a:xfrm>
            <a:off x="10312400" y="9265778"/>
            <a:ext cx="1435981"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b">
            <a:spAutoFit/>
          </a:bodyPr>
          <a:lstStyle>
            <a:lvl1pPr>
              <a:lnSpc>
                <a:spcPts val="2400"/>
              </a:lnSpc>
              <a:tabLst>
                <a:tab pos="520700" algn="l"/>
              </a:tabLst>
              <a:defRPr>
                <a:solidFill>
                  <a:srgbClr val="201B17"/>
                </a:solidFill>
              </a:defRPr>
            </a:lvl1pPr>
          </a:lstStyle>
          <a:p>
            <a:pPr>
              <a:defRPr>
                <a:solidFill>
                  <a:srgbClr val="000000"/>
                </a:solidFill>
              </a:defRPr>
            </a:pPr>
            <a:r>
              <a:rPr>
                <a:solidFill>
                  <a:srgbClr val="201B17"/>
                </a:solidFill>
              </a:rPr>
              <a:t>Population C</a:t>
            </a:r>
          </a:p>
        </p:txBody>
      </p:sp>
      <p:pic>
        <p:nvPicPr>
          <p:cNvPr id="1703" name="Gene Flow OHT barrier 1.pdf"/>
          <p:cNvPicPr>
            <a:picLocks noChangeAspect="1"/>
          </p:cNvPicPr>
          <p:nvPr/>
        </p:nvPicPr>
        <p:blipFill>
          <a:blip r:embed="rId2">
            <a:extLst/>
          </a:blip>
          <a:stretch>
            <a:fillRect/>
          </a:stretch>
        </p:blipFill>
        <p:spPr>
          <a:xfrm>
            <a:off x="10011254" y="2260600"/>
            <a:ext cx="881692" cy="2451100"/>
          </a:xfrm>
          <a:prstGeom prst="rect">
            <a:avLst/>
          </a:prstGeom>
          <a:ln w="12700">
            <a:miter lim="400000"/>
          </a:ln>
        </p:spPr>
      </p:pic>
      <p:pic>
        <p:nvPicPr>
          <p:cNvPr id="1704" name="Gene Flow OHT barrier 2.pdf"/>
          <p:cNvPicPr>
            <a:picLocks noChangeAspect="1"/>
          </p:cNvPicPr>
          <p:nvPr/>
        </p:nvPicPr>
        <p:blipFill>
          <a:blip r:embed="rId3">
            <a:extLst/>
          </a:blip>
          <a:stretch>
            <a:fillRect/>
          </a:stretch>
        </p:blipFill>
        <p:spPr>
          <a:xfrm>
            <a:off x="6580238" y="1676400"/>
            <a:ext cx="1496962" cy="2667000"/>
          </a:xfrm>
          <a:prstGeom prst="rect">
            <a:avLst/>
          </a:prstGeom>
          <a:ln w="12700">
            <a:miter lim="400000"/>
          </a:ln>
        </p:spPr>
      </p:pic>
      <p:sp>
        <p:nvSpPr>
          <p:cNvPr id="1705" name="Shape 1705"/>
          <p:cNvSpPr/>
          <p:nvPr/>
        </p:nvSpPr>
        <p:spPr>
          <a:xfrm>
            <a:off x="7708671" y="1710266"/>
            <a:ext cx="2948114" cy="902238"/>
          </a:xfrm>
          <a:custGeom>
            <a:avLst/>
            <a:gdLst/>
            <a:ahLst/>
            <a:cxnLst>
              <a:cxn ang="0">
                <a:pos x="wd2" y="hd2"/>
              </a:cxn>
              <a:cxn ang="5400000">
                <a:pos x="wd2" y="hd2"/>
              </a:cxn>
              <a:cxn ang="10800000">
                <a:pos x="wd2" y="hd2"/>
              </a:cxn>
              <a:cxn ang="16200000">
                <a:pos x="wd2" y="hd2"/>
              </a:cxn>
            </a:cxnLst>
            <a:rect l="0" t="0" r="r" b="b"/>
            <a:pathLst>
              <a:path w="21600" h="21600" extrusionOk="0">
                <a:moveTo>
                  <a:pt x="0" y="10930"/>
                </a:moveTo>
                <a:lnTo>
                  <a:pt x="13668" y="0"/>
                </a:lnTo>
                <a:lnTo>
                  <a:pt x="21600" y="21600"/>
                </a:lnTo>
              </a:path>
            </a:pathLst>
          </a:custGeom>
          <a:ln w="38100">
            <a:solidFill>
              <a:srgbClr val="006994"/>
            </a:solidFill>
            <a:miter lim="400000"/>
            <a:headEnd type="triangle"/>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1708" name="Group 1708"/>
          <p:cNvGrpSpPr/>
          <p:nvPr/>
        </p:nvGrpSpPr>
        <p:grpSpPr>
          <a:xfrm>
            <a:off x="6732389" y="1714500"/>
            <a:ext cx="520701" cy="355600"/>
            <a:chOff x="0" y="0"/>
            <a:chExt cx="520700" cy="355600"/>
          </a:xfrm>
        </p:grpSpPr>
        <p:sp>
          <p:nvSpPr>
            <p:cNvPr id="1706" name="Shape 1706"/>
            <p:cNvSpPr/>
            <p:nvPr/>
          </p:nvSpPr>
          <p:spPr>
            <a:xfrm>
              <a:off x="1256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07" name="Shape 1707"/>
            <p:cNvSpPr/>
            <p:nvPr/>
          </p:nvSpPr>
          <p:spPr>
            <a:xfrm>
              <a:off x="0" y="1328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42" name="Group 1742"/>
          <p:cNvGrpSpPr/>
          <p:nvPr/>
        </p:nvGrpSpPr>
        <p:grpSpPr>
          <a:xfrm>
            <a:off x="4548449" y="791237"/>
            <a:ext cx="3191803" cy="3360811"/>
            <a:chOff x="0" y="0"/>
            <a:chExt cx="3191802" cy="3360809"/>
          </a:xfrm>
        </p:grpSpPr>
        <p:sp>
          <p:nvSpPr>
            <p:cNvPr id="1709" name="Shape 1709"/>
            <p:cNvSpPr/>
            <p:nvPr/>
          </p:nvSpPr>
          <p:spPr>
            <a:xfrm rot="18625565" flipH="1">
              <a:off x="59201" y="893004"/>
              <a:ext cx="3073401" cy="1574801"/>
            </a:xfrm>
            <a:prstGeom prst="ellipse">
              <a:avLst/>
            </a:prstGeom>
            <a:gradFill flip="none" rotWithShape="1">
              <a:gsLst>
                <a:gs pos="0">
                  <a:srgbClr val="FFD479">
                    <a:alpha val="80000"/>
                  </a:srgbClr>
                </a:gs>
                <a:gs pos="100000">
                  <a:srgbClr val="FFFFFF"/>
                </a:gs>
              </a:gsLst>
              <a:lin ang="5400000" scaled="0"/>
            </a:gradFill>
            <a:ln w="25400" cap="flat">
              <a:noFill/>
              <a:miter lim="400000"/>
            </a:ln>
            <a:effectLst/>
          </p:spPr>
          <p:txBody>
            <a:bodyPr wrap="square" lIns="38100" tIns="38100" rIns="38100" bIns="38100" numCol="1" anchor="ctr">
              <a:noAutofit/>
            </a:bodyPr>
            <a:lstStyle/>
            <a:p>
              <a:pPr>
                <a:lnSpc>
                  <a:spcPts val="3400"/>
                </a:lnSpc>
                <a:tabLst>
                  <a:tab pos="520700" algn="l"/>
                </a:tabLst>
                <a:defRPr sz="29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10" name="Shape 1710"/>
            <p:cNvSpPr/>
            <p:nvPr/>
          </p:nvSpPr>
          <p:spPr>
            <a:xfrm>
              <a:off x="1928550" y="504162"/>
              <a:ext cx="355601" cy="355601"/>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11" name="Shape 1711"/>
            <p:cNvSpPr/>
            <p:nvPr/>
          </p:nvSpPr>
          <p:spPr>
            <a:xfrm>
              <a:off x="1790239" y="573478"/>
              <a:ext cx="520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12" name="Shape 1712"/>
            <p:cNvSpPr/>
            <p:nvPr/>
          </p:nvSpPr>
          <p:spPr>
            <a:xfrm>
              <a:off x="1407850" y="745462"/>
              <a:ext cx="355601" cy="355601"/>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13" name="Shape 1713"/>
            <p:cNvSpPr/>
            <p:nvPr/>
          </p:nvSpPr>
          <p:spPr>
            <a:xfrm>
              <a:off x="1269539" y="827478"/>
              <a:ext cx="520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14" name="Shape 1714"/>
            <p:cNvSpPr/>
            <p:nvPr/>
          </p:nvSpPr>
          <p:spPr>
            <a:xfrm>
              <a:off x="2309550" y="923262"/>
              <a:ext cx="355601" cy="355601"/>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15" name="Shape 1715"/>
            <p:cNvSpPr/>
            <p:nvPr/>
          </p:nvSpPr>
          <p:spPr>
            <a:xfrm>
              <a:off x="2171239" y="1005278"/>
              <a:ext cx="520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16" name="Shape 1716"/>
            <p:cNvSpPr/>
            <p:nvPr/>
          </p:nvSpPr>
          <p:spPr>
            <a:xfrm>
              <a:off x="1001450" y="2129762"/>
              <a:ext cx="355601" cy="355601"/>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17" name="Shape 1717"/>
            <p:cNvSpPr/>
            <p:nvPr/>
          </p:nvSpPr>
          <p:spPr>
            <a:xfrm>
              <a:off x="875839" y="2211778"/>
              <a:ext cx="520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18" name="Shape 1718"/>
            <p:cNvSpPr/>
            <p:nvPr/>
          </p:nvSpPr>
          <p:spPr>
            <a:xfrm>
              <a:off x="480750" y="2307562"/>
              <a:ext cx="355601" cy="355601"/>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19" name="Shape 1719"/>
            <p:cNvSpPr/>
            <p:nvPr/>
          </p:nvSpPr>
          <p:spPr>
            <a:xfrm>
              <a:off x="342439" y="2376878"/>
              <a:ext cx="520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20" name="Shape 1720"/>
            <p:cNvSpPr/>
            <p:nvPr/>
          </p:nvSpPr>
          <p:spPr>
            <a:xfrm>
              <a:off x="1458650" y="2244062"/>
              <a:ext cx="355601" cy="355601"/>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21" name="Shape 1721"/>
            <p:cNvSpPr/>
            <p:nvPr/>
          </p:nvSpPr>
          <p:spPr>
            <a:xfrm>
              <a:off x="1320339" y="2313378"/>
              <a:ext cx="520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22" name="Shape 1722"/>
            <p:cNvSpPr/>
            <p:nvPr/>
          </p:nvSpPr>
          <p:spPr>
            <a:xfrm>
              <a:off x="836350" y="2523462"/>
              <a:ext cx="355601" cy="355601"/>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23" name="Shape 1723"/>
            <p:cNvSpPr/>
            <p:nvPr/>
          </p:nvSpPr>
          <p:spPr>
            <a:xfrm>
              <a:off x="698039" y="2605478"/>
              <a:ext cx="520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24" name="Shape 1724"/>
            <p:cNvSpPr/>
            <p:nvPr/>
          </p:nvSpPr>
          <p:spPr>
            <a:xfrm>
              <a:off x="1928550" y="1672562"/>
              <a:ext cx="355601" cy="355601"/>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25" name="Shape 1725"/>
            <p:cNvSpPr/>
            <p:nvPr/>
          </p:nvSpPr>
          <p:spPr>
            <a:xfrm>
              <a:off x="1790239" y="1754578"/>
              <a:ext cx="520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26" name="Shape 1726"/>
            <p:cNvSpPr/>
            <p:nvPr/>
          </p:nvSpPr>
          <p:spPr>
            <a:xfrm>
              <a:off x="1826950" y="923262"/>
              <a:ext cx="355601" cy="355601"/>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27" name="Shape 1727"/>
            <p:cNvSpPr/>
            <p:nvPr/>
          </p:nvSpPr>
          <p:spPr>
            <a:xfrm>
              <a:off x="1739439" y="992578"/>
              <a:ext cx="393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28" name="Shape 1728"/>
            <p:cNvSpPr/>
            <p:nvPr/>
          </p:nvSpPr>
          <p:spPr>
            <a:xfrm>
              <a:off x="1217350" y="1101062"/>
              <a:ext cx="355601" cy="355601"/>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29" name="Shape 1729"/>
            <p:cNvSpPr/>
            <p:nvPr/>
          </p:nvSpPr>
          <p:spPr>
            <a:xfrm>
              <a:off x="1142539" y="1170378"/>
              <a:ext cx="393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30" name="Shape 1730"/>
            <p:cNvSpPr/>
            <p:nvPr/>
          </p:nvSpPr>
          <p:spPr>
            <a:xfrm>
              <a:off x="1433250" y="1393162"/>
              <a:ext cx="355601" cy="355601"/>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31" name="Shape 1731"/>
            <p:cNvSpPr/>
            <p:nvPr/>
          </p:nvSpPr>
          <p:spPr>
            <a:xfrm>
              <a:off x="1358439" y="1462478"/>
              <a:ext cx="393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32" name="Shape 1732"/>
            <p:cNvSpPr/>
            <p:nvPr/>
          </p:nvSpPr>
          <p:spPr>
            <a:xfrm>
              <a:off x="2080950" y="1266162"/>
              <a:ext cx="355601" cy="355601"/>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33" name="Shape 1733"/>
            <p:cNvSpPr/>
            <p:nvPr/>
          </p:nvSpPr>
          <p:spPr>
            <a:xfrm>
              <a:off x="2006139" y="1335478"/>
              <a:ext cx="393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34" name="Shape 1734"/>
            <p:cNvSpPr/>
            <p:nvPr/>
          </p:nvSpPr>
          <p:spPr>
            <a:xfrm>
              <a:off x="810950" y="1266162"/>
              <a:ext cx="355601" cy="355601"/>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35" name="Shape 1735"/>
            <p:cNvSpPr/>
            <p:nvPr/>
          </p:nvSpPr>
          <p:spPr>
            <a:xfrm>
              <a:off x="723439" y="1335478"/>
              <a:ext cx="393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36" name="Shape 1736"/>
            <p:cNvSpPr/>
            <p:nvPr/>
          </p:nvSpPr>
          <p:spPr>
            <a:xfrm>
              <a:off x="595050" y="1812262"/>
              <a:ext cx="355601" cy="355601"/>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37" name="Shape 1737"/>
            <p:cNvSpPr/>
            <p:nvPr/>
          </p:nvSpPr>
          <p:spPr>
            <a:xfrm>
              <a:off x="532939" y="1894278"/>
              <a:ext cx="393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38" name="Shape 1738"/>
            <p:cNvSpPr/>
            <p:nvPr/>
          </p:nvSpPr>
          <p:spPr>
            <a:xfrm>
              <a:off x="1433250" y="1812262"/>
              <a:ext cx="355601" cy="355601"/>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39" name="Shape 1739"/>
            <p:cNvSpPr/>
            <p:nvPr/>
          </p:nvSpPr>
          <p:spPr>
            <a:xfrm>
              <a:off x="1358439" y="1881578"/>
              <a:ext cx="393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sp>
          <p:nvSpPr>
            <p:cNvPr id="1740" name="Shape 1740"/>
            <p:cNvSpPr/>
            <p:nvPr/>
          </p:nvSpPr>
          <p:spPr>
            <a:xfrm>
              <a:off x="1039550" y="1659862"/>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41" name="Shape 1741"/>
            <p:cNvSpPr/>
            <p:nvPr/>
          </p:nvSpPr>
          <p:spPr>
            <a:xfrm>
              <a:off x="964739" y="1716478"/>
              <a:ext cx="393701" cy="19738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sp>
        <p:nvSpPr>
          <p:cNvPr id="1743" name="Shape 1743"/>
          <p:cNvSpPr/>
          <p:nvPr/>
        </p:nvSpPr>
        <p:spPr>
          <a:xfrm rot="18625565" flipH="1">
            <a:off x="7555408" y="2084997"/>
            <a:ext cx="2641601" cy="2527301"/>
          </a:xfrm>
          <a:prstGeom prst="ellipse">
            <a:avLst/>
          </a:prstGeom>
          <a:gradFill>
            <a:gsLst>
              <a:gs pos="0">
                <a:srgbClr val="FFD479">
                  <a:alpha val="80000"/>
                </a:srgbClr>
              </a:gs>
              <a:gs pos="100000">
                <a:srgbClr val="FFFFFF"/>
              </a:gs>
            </a:gsLst>
            <a:lin ang="5400000"/>
          </a:gradFill>
          <a:ln w="25400">
            <a:miter lim="400000"/>
          </a:ln>
        </p:spPr>
        <p:txBody>
          <a:bodyPr lIns="38100" tIns="38100" rIns="38100" bIns="38100" anchor="ctr"/>
          <a:lstStyle/>
          <a:p>
            <a:pPr>
              <a:lnSpc>
                <a:spcPts val="3400"/>
              </a:lnSpc>
              <a:tabLst>
                <a:tab pos="520700" algn="l"/>
              </a:tabLst>
              <a:defRPr sz="29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1746" name="Group 1746"/>
          <p:cNvGrpSpPr/>
          <p:nvPr/>
        </p:nvGrpSpPr>
        <p:grpSpPr>
          <a:xfrm>
            <a:off x="8878689" y="2133600"/>
            <a:ext cx="520701" cy="355600"/>
            <a:chOff x="0" y="0"/>
            <a:chExt cx="520700" cy="355600"/>
          </a:xfrm>
        </p:grpSpPr>
        <p:sp>
          <p:nvSpPr>
            <p:cNvPr id="1744" name="Shape 1744"/>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45" name="Shape 1745"/>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49" name="Group 1749"/>
          <p:cNvGrpSpPr/>
          <p:nvPr/>
        </p:nvGrpSpPr>
        <p:grpSpPr>
          <a:xfrm>
            <a:off x="8357989" y="2298700"/>
            <a:ext cx="520701" cy="355600"/>
            <a:chOff x="0" y="0"/>
            <a:chExt cx="520700" cy="355600"/>
          </a:xfrm>
        </p:grpSpPr>
        <p:sp>
          <p:nvSpPr>
            <p:cNvPr id="1747" name="Shape 1747"/>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48" name="Shape 1748"/>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52" name="Group 1752"/>
          <p:cNvGrpSpPr/>
          <p:nvPr/>
        </p:nvGrpSpPr>
        <p:grpSpPr>
          <a:xfrm>
            <a:off x="9259689" y="2616200"/>
            <a:ext cx="520701" cy="355600"/>
            <a:chOff x="0" y="0"/>
            <a:chExt cx="520700" cy="355600"/>
          </a:xfrm>
        </p:grpSpPr>
        <p:sp>
          <p:nvSpPr>
            <p:cNvPr id="1750" name="Shape 1750"/>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51" name="Shape 1751"/>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55" name="Group 1755"/>
          <p:cNvGrpSpPr/>
          <p:nvPr/>
        </p:nvGrpSpPr>
        <p:grpSpPr>
          <a:xfrm>
            <a:off x="7951589" y="3822700"/>
            <a:ext cx="520701" cy="355600"/>
            <a:chOff x="0" y="0"/>
            <a:chExt cx="520700" cy="355600"/>
          </a:xfrm>
        </p:grpSpPr>
        <p:sp>
          <p:nvSpPr>
            <p:cNvPr id="1753" name="Shape 1753"/>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54" name="Shape 1754"/>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58" name="Group 1758"/>
          <p:cNvGrpSpPr/>
          <p:nvPr/>
        </p:nvGrpSpPr>
        <p:grpSpPr>
          <a:xfrm>
            <a:off x="8421489" y="3937000"/>
            <a:ext cx="520701" cy="355600"/>
            <a:chOff x="0" y="0"/>
            <a:chExt cx="520700" cy="355600"/>
          </a:xfrm>
        </p:grpSpPr>
        <p:sp>
          <p:nvSpPr>
            <p:cNvPr id="1756" name="Shape 1756"/>
            <p:cNvSpPr/>
            <p:nvPr/>
          </p:nvSpPr>
          <p:spPr>
            <a:xfrm>
              <a:off x="1256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57" name="Shape 1757"/>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61" name="Group 1761"/>
          <p:cNvGrpSpPr/>
          <p:nvPr/>
        </p:nvGrpSpPr>
        <p:grpSpPr>
          <a:xfrm>
            <a:off x="8878689" y="3505200"/>
            <a:ext cx="520701" cy="355600"/>
            <a:chOff x="0" y="0"/>
            <a:chExt cx="520700" cy="355600"/>
          </a:xfrm>
        </p:grpSpPr>
        <p:sp>
          <p:nvSpPr>
            <p:cNvPr id="1759" name="Shape 1759"/>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60" name="Shape 1760"/>
            <p:cNvSpPr/>
            <p:nvPr/>
          </p:nvSpPr>
          <p:spPr>
            <a:xfrm>
              <a:off x="0" y="820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64" name="Group 1764"/>
          <p:cNvGrpSpPr/>
          <p:nvPr/>
        </p:nvGrpSpPr>
        <p:grpSpPr>
          <a:xfrm>
            <a:off x="9285089" y="3060700"/>
            <a:ext cx="430411" cy="355600"/>
            <a:chOff x="0" y="0"/>
            <a:chExt cx="430410" cy="355600"/>
          </a:xfrm>
        </p:grpSpPr>
        <p:sp>
          <p:nvSpPr>
            <p:cNvPr id="1762" name="Shape 1762"/>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63" name="Shape 1763"/>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67" name="Group 1767"/>
          <p:cNvGrpSpPr/>
          <p:nvPr/>
        </p:nvGrpSpPr>
        <p:grpSpPr>
          <a:xfrm>
            <a:off x="8472289" y="2832100"/>
            <a:ext cx="430411" cy="368300"/>
            <a:chOff x="0" y="0"/>
            <a:chExt cx="430410" cy="368300"/>
          </a:xfrm>
        </p:grpSpPr>
        <p:sp>
          <p:nvSpPr>
            <p:cNvPr id="1765" name="Shape 1765"/>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66" name="Shape 1766"/>
            <p:cNvSpPr/>
            <p:nvPr/>
          </p:nvSpPr>
          <p:spPr>
            <a:xfrm>
              <a:off x="0" y="63500"/>
              <a:ext cx="393700" cy="3048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tabLst>
                  <a:tab pos="520700" algn="l"/>
                </a:tabLst>
                <a:defRPr sz="1400" b="1">
                  <a:solidFill>
                    <a:srgbClr val="000000"/>
                  </a:solidFill>
                </a:defRPr>
              </a:lvl1pPr>
            </a:lstStyle>
            <a:p>
              <a:r>
                <a:t>Aa</a:t>
              </a:r>
            </a:p>
          </p:txBody>
        </p:sp>
      </p:grpSp>
      <p:grpSp>
        <p:nvGrpSpPr>
          <p:cNvPr id="1770" name="Group 1770"/>
          <p:cNvGrpSpPr/>
          <p:nvPr/>
        </p:nvGrpSpPr>
        <p:grpSpPr>
          <a:xfrm>
            <a:off x="9285089" y="3822700"/>
            <a:ext cx="443111" cy="355600"/>
            <a:chOff x="0" y="0"/>
            <a:chExt cx="443110" cy="355600"/>
          </a:xfrm>
        </p:grpSpPr>
        <p:sp>
          <p:nvSpPr>
            <p:cNvPr id="1768" name="Shape 1768"/>
            <p:cNvSpPr/>
            <p:nvPr/>
          </p:nvSpPr>
          <p:spPr>
            <a:xfrm>
              <a:off x="875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69" name="Shape 1769"/>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73" name="Group 1773"/>
          <p:cNvGrpSpPr/>
          <p:nvPr/>
        </p:nvGrpSpPr>
        <p:grpSpPr>
          <a:xfrm>
            <a:off x="9526389" y="3403600"/>
            <a:ext cx="443111" cy="355600"/>
            <a:chOff x="0" y="0"/>
            <a:chExt cx="443110" cy="355600"/>
          </a:xfrm>
        </p:grpSpPr>
        <p:sp>
          <p:nvSpPr>
            <p:cNvPr id="1771" name="Shape 1771"/>
            <p:cNvSpPr/>
            <p:nvPr/>
          </p:nvSpPr>
          <p:spPr>
            <a:xfrm>
              <a:off x="875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72" name="Shape 1772"/>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76" name="Group 1776"/>
          <p:cNvGrpSpPr/>
          <p:nvPr/>
        </p:nvGrpSpPr>
        <p:grpSpPr>
          <a:xfrm>
            <a:off x="8472289" y="3505200"/>
            <a:ext cx="430411" cy="355600"/>
            <a:chOff x="0" y="0"/>
            <a:chExt cx="430410" cy="355600"/>
          </a:xfrm>
        </p:grpSpPr>
        <p:sp>
          <p:nvSpPr>
            <p:cNvPr id="1774" name="Shape 1774"/>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75" name="Shape 1775"/>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79" name="Group 1779"/>
          <p:cNvGrpSpPr/>
          <p:nvPr/>
        </p:nvGrpSpPr>
        <p:grpSpPr>
          <a:xfrm>
            <a:off x="7532489" y="3505200"/>
            <a:ext cx="455811" cy="355600"/>
            <a:chOff x="0" y="0"/>
            <a:chExt cx="455810" cy="355600"/>
          </a:xfrm>
        </p:grpSpPr>
        <p:sp>
          <p:nvSpPr>
            <p:cNvPr id="1777" name="Shape 1777"/>
            <p:cNvSpPr/>
            <p:nvPr/>
          </p:nvSpPr>
          <p:spPr>
            <a:xfrm>
              <a:off x="1002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78" name="Shape 1778"/>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82" name="Group 1782"/>
          <p:cNvGrpSpPr/>
          <p:nvPr/>
        </p:nvGrpSpPr>
        <p:grpSpPr>
          <a:xfrm>
            <a:off x="8878689" y="3949700"/>
            <a:ext cx="443111" cy="355600"/>
            <a:chOff x="0" y="0"/>
            <a:chExt cx="443110" cy="355600"/>
          </a:xfrm>
        </p:grpSpPr>
        <p:sp>
          <p:nvSpPr>
            <p:cNvPr id="1780" name="Shape 1780"/>
            <p:cNvSpPr/>
            <p:nvPr/>
          </p:nvSpPr>
          <p:spPr>
            <a:xfrm>
              <a:off x="875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81" name="Shape 1781"/>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85" name="Group 1785"/>
          <p:cNvGrpSpPr/>
          <p:nvPr/>
        </p:nvGrpSpPr>
        <p:grpSpPr>
          <a:xfrm>
            <a:off x="7824589" y="2463800"/>
            <a:ext cx="417711" cy="355600"/>
            <a:chOff x="0" y="0"/>
            <a:chExt cx="417710" cy="355600"/>
          </a:xfrm>
        </p:grpSpPr>
        <p:sp>
          <p:nvSpPr>
            <p:cNvPr id="1783" name="Shape 1783"/>
            <p:cNvSpPr/>
            <p:nvPr/>
          </p:nvSpPr>
          <p:spPr>
            <a:xfrm>
              <a:off x="621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84" name="Shape 1784"/>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88" name="Group 1788"/>
          <p:cNvGrpSpPr/>
          <p:nvPr/>
        </p:nvGrpSpPr>
        <p:grpSpPr>
          <a:xfrm>
            <a:off x="8078589" y="3314700"/>
            <a:ext cx="443111" cy="355600"/>
            <a:chOff x="0" y="0"/>
            <a:chExt cx="443110" cy="355600"/>
          </a:xfrm>
        </p:grpSpPr>
        <p:sp>
          <p:nvSpPr>
            <p:cNvPr id="1786" name="Shape 1786"/>
            <p:cNvSpPr/>
            <p:nvPr/>
          </p:nvSpPr>
          <p:spPr>
            <a:xfrm>
              <a:off x="875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87" name="Shape 1787"/>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91" name="Group 1791"/>
          <p:cNvGrpSpPr/>
          <p:nvPr/>
        </p:nvGrpSpPr>
        <p:grpSpPr>
          <a:xfrm>
            <a:off x="8078589" y="2832100"/>
            <a:ext cx="443111" cy="355600"/>
            <a:chOff x="0" y="0"/>
            <a:chExt cx="443110" cy="355600"/>
          </a:xfrm>
        </p:grpSpPr>
        <p:sp>
          <p:nvSpPr>
            <p:cNvPr id="1789" name="Shape 1789"/>
            <p:cNvSpPr/>
            <p:nvPr/>
          </p:nvSpPr>
          <p:spPr>
            <a:xfrm>
              <a:off x="875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90" name="Shape 1790"/>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94" name="Group 1794"/>
          <p:cNvGrpSpPr/>
          <p:nvPr/>
        </p:nvGrpSpPr>
        <p:grpSpPr>
          <a:xfrm>
            <a:off x="7569200" y="3060700"/>
            <a:ext cx="430411" cy="355600"/>
            <a:chOff x="0" y="0"/>
            <a:chExt cx="430410" cy="355600"/>
          </a:xfrm>
        </p:grpSpPr>
        <p:sp>
          <p:nvSpPr>
            <p:cNvPr id="1792" name="Shape 1792"/>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93" name="Shape 1793"/>
            <p:cNvSpPr/>
            <p:nvPr/>
          </p:nvSpPr>
          <p:spPr>
            <a:xfrm>
              <a:off x="0" y="439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797" name="Group 1797"/>
          <p:cNvGrpSpPr/>
          <p:nvPr/>
        </p:nvGrpSpPr>
        <p:grpSpPr>
          <a:xfrm>
            <a:off x="8890000" y="2603500"/>
            <a:ext cx="443111" cy="355600"/>
            <a:chOff x="0" y="0"/>
            <a:chExt cx="443110" cy="355600"/>
          </a:xfrm>
        </p:grpSpPr>
        <p:sp>
          <p:nvSpPr>
            <p:cNvPr id="1795" name="Shape 1795"/>
            <p:cNvSpPr/>
            <p:nvPr/>
          </p:nvSpPr>
          <p:spPr>
            <a:xfrm>
              <a:off x="875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96" name="Shape 1796"/>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00" name="Group 1800"/>
          <p:cNvGrpSpPr/>
          <p:nvPr/>
        </p:nvGrpSpPr>
        <p:grpSpPr>
          <a:xfrm>
            <a:off x="9728200" y="2832100"/>
            <a:ext cx="430411" cy="355600"/>
            <a:chOff x="0" y="0"/>
            <a:chExt cx="430410" cy="355600"/>
          </a:xfrm>
        </p:grpSpPr>
        <p:sp>
          <p:nvSpPr>
            <p:cNvPr id="1798" name="Shape 1798"/>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99" name="Shape 1799"/>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03" name="Group 1803"/>
          <p:cNvGrpSpPr/>
          <p:nvPr/>
        </p:nvGrpSpPr>
        <p:grpSpPr>
          <a:xfrm>
            <a:off x="8648700" y="4368800"/>
            <a:ext cx="430411" cy="355600"/>
            <a:chOff x="0" y="0"/>
            <a:chExt cx="430410" cy="355600"/>
          </a:xfrm>
        </p:grpSpPr>
        <p:sp>
          <p:nvSpPr>
            <p:cNvPr id="1801" name="Shape 1801"/>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02" name="Shape 1802"/>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06" name="Group 1806"/>
          <p:cNvGrpSpPr/>
          <p:nvPr/>
        </p:nvGrpSpPr>
        <p:grpSpPr>
          <a:xfrm>
            <a:off x="8902700" y="3060700"/>
            <a:ext cx="430411" cy="355600"/>
            <a:chOff x="0" y="0"/>
            <a:chExt cx="430410" cy="355600"/>
          </a:xfrm>
        </p:grpSpPr>
        <p:sp>
          <p:nvSpPr>
            <p:cNvPr id="1804" name="Shape 1804"/>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05" name="Shape 1805"/>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sp>
        <p:nvSpPr>
          <p:cNvPr id="1807" name="Shape 1807"/>
          <p:cNvSpPr/>
          <p:nvPr/>
        </p:nvSpPr>
        <p:spPr>
          <a:xfrm rot="5241447" flipH="1">
            <a:off x="10601798" y="2819927"/>
            <a:ext cx="2628901" cy="1917701"/>
          </a:xfrm>
          <a:prstGeom prst="ellipse">
            <a:avLst/>
          </a:prstGeom>
          <a:gradFill>
            <a:gsLst>
              <a:gs pos="0">
                <a:srgbClr val="FFD479">
                  <a:alpha val="80000"/>
                </a:srgbClr>
              </a:gs>
              <a:gs pos="100000">
                <a:srgbClr val="FFFFFF"/>
              </a:gs>
            </a:gsLst>
            <a:lin ang="11460000"/>
          </a:gradFill>
          <a:ln w="25400">
            <a:miter lim="400000"/>
          </a:ln>
        </p:spPr>
        <p:txBody>
          <a:bodyPr lIns="38100" tIns="38100" rIns="38100" bIns="38100" anchor="ctr"/>
          <a:lstStyle/>
          <a:p>
            <a:pPr>
              <a:lnSpc>
                <a:spcPts val="3400"/>
              </a:lnSpc>
              <a:tabLst>
                <a:tab pos="520700" algn="l"/>
              </a:tabLst>
              <a:defRPr sz="29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1810" name="Group 1810"/>
          <p:cNvGrpSpPr/>
          <p:nvPr/>
        </p:nvGrpSpPr>
        <p:grpSpPr>
          <a:xfrm>
            <a:off x="11850489" y="2781300"/>
            <a:ext cx="520701" cy="355600"/>
            <a:chOff x="0" y="0"/>
            <a:chExt cx="520700" cy="355600"/>
          </a:xfrm>
        </p:grpSpPr>
        <p:sp>
          <p:nvSpPr>
            <p:cNvPr id="1808" name="Shape 1808"/>
            <p:cNvSpPr/>
            <p:nvPr/>
          </p:nvSpPr>
          <p:spPr>
            <a:xfrm>
              <a:off x="1256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09" name="Shape 1809"/>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13" name="Group 1813"/>
          <p:cNvGrpSpPr/>
          <p:nvPr/>
        </p:nvGrpSpPr>
        <p:grpSpPr>
          <a:xfrm>
            <a:off x="12282289" y="3441700"/>
            <a:ext cx="520701" cy="355600"/>
            <a:chOff x="0" y="0"/>
            <a:chExt cx="520700" cy="355600"/>
          </a:xfrm>
        </p:grpSpPr>
        <p:sp>
          <p:nvSpPr>
            <p:cNvPr id="1811" name="Shape 1811"/>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12" name="Shape 1812"/>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16" name="Group 1816"/>
          <p:cNvGrpSpPr/>
          <p:nvPr/>
        </p:nvGrpSpPr>
        <p:grpSpPr>
          <a:xfrm>
            <a:off x="11139289" y="4292600"/>
            <a:ext cx="520701" cy="355600"/>
            <a:chOff x="0" y="0"/>
            <a:chExt cx="520700" cy="355600"/>
          </a:xfrm>
        </p:grpSpPr>
        <p:sp>
          <p:nvSpPr>
            <p:cNvPr id="1814" name="Shape 1814"/>
            <p:cNvSpPr/>
            <p:nvPr/>
          </p:nvSpPr>
          <p:spPr>
            <a:xfrm>
              <a:off x="138310" y="0"/>
              <a:ext cx="355601" cy="355600"/>
            </a:xfrm>
            <a:prstGeom prst="ellipse">
              <a:avLst/>
            </a:prstGeom>
            <a:solidFill>
              <a:srgbClr val="FFFB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15" name="Shape 1815"/>
            <p:cNvSpPr/>
            <p:nvPr/>
          </p:nvSpPr>
          <p:spPr>
            <a:xfrm>
              <a:off x="0" y="69316"/>
              <a:ext cx="520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19" name="Group 1819"/>
          <p:cNvGrpSpPr/>
          <p:nvPr/>
        </p:nvGrpSpPr>
        <p:grpSpPr>
          <a:xfrm>
            <a:off x="11188700" y="3810000"/>
            <a:ext cx="430411" cy="355600"/>
            <a:chOff x="0" y="0"/>
            <a:chExt cx="430410" cy="355600"/>
          </a:xfrm>
        </p:grpSpPr>
        <p:sp>
          <p:nvSpPr>
            <p:cNvPr id="1817" name="Shape 1817"/>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18" name="Shape 1818"/>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22" name="Group 1822"/>
          <p:cNvGrpSpPr/>
          <p:nvPr/>
        </p:nvGrpSpPr>
        <p:grpSpPr>
          <a:xfrm>
            <a:off x="10960100" y="3263900"/>
            <a:ext cx="430411" cy="355600"/>
            <a:chOff x="0" y="0"/>
            <a:chExt cx="430410" cy="355600"/>
          </a:xfrm>
        </p:grpSpPr>
        <p:sp>
          <p:nvSpPr>
            <p:cNvPr id="1820" name="Shape 1820"/>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21" name="Shape 1821"/>
            <p:cNvSpPr/>
            <p:nvPr/>
          </p:nvSpPr>
          <p:spPr>
            <a:xfrm>
              <a:off x="0" y="439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25" name="Group 1825"/>
          <p:cNvGrpSpPr/>
          <p:nvPr/>
        </p:nvGrpSpPr>
        <p:grpSpPr>
          <a:xfrm>
            <a:off x="11188700" y="2806700"/>
            <a:ext cx="430411" cy="355600"/>
            <a:chOff x="0" y="0"/>
            <a:chExt cx="430410" cy="355600"/>
          </a:xfrm>
        </p:grpSpPr>
        <p:sp>
          <p:nvSpPr>
            <p:cNvPr id="1823" name="Shape 1823"/>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24" name="Shape 1824"/>
            <p:cNvSpPr/>
            <p:nvPr/>
          </p:nvSpPr>
          <p:spPr>
            <a:xfrm>
              <a:off x="0" y="439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28" name="Group 1828"/>
          <p:cNvGrpSpPr/>
          <p:nvPr/>
        </p:nvGrpSpPr>
        <p:grpSpPr>
          <a:xfrm>
            <a:off x="11569700" y="3073400"/>
            <a:ext cx="430411" cy="355600"/>
            <a:chOff x="0" y="0"/>
            <a:chExt cx="430410" cy="355600"/>
          </a:xfrm>
        </p:grpSpPr>
        <p:sp>
          <p:nvSpPr>
            <p:cNvPr id="1826" name="Shape 1826"/>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27" name="Shape 1827"/>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31" name="Group 1831"/>
          <p:cNvGrpSpPr/>
          <p:nvPr/>
        </p:nvGrpSpPr>
        <p:grpSpPr>
          <a:xfrm>
            <a:off x="12268200" y="3022600"/>
            <a:ext cx="430411" cy="355600"/>
            <a:chOff x="0" y="0"/>
            <a:chExt cx="430410" cy="355600"/>
          </a:xfrm>
        </p:grpSpPr>
        <p:sp>
          <p:nvSpPr>
            <p:cNvPr id="1829" name="Shape 1829"/>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30" name="Shape 1830"/>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34" name="Group 1834"/>
          <p:cNvGrpSpPr/>
          <p:nvPr/>
        </p:nvGrpSpPr>
        <p:grpSpPr>
          <a:xfrm>
            <a:off x="12446000" y="3848100"/>
            <a:ext cx="430411" cy="355600"/>
            <a:chOff x="0" y="0"/>
            <a:chExt cx="430410" cy="355600"/>
          </a:xfrm>
        </p:grpSpPr>
        <p:sp>
          <p:nvSpPr>
            <p:cNvPr id="1832" name="Shape 1832"/>
            <p:cNvSpPr/>
            <p:nvPr/>
          </p:nvSpPr>
          <p:spPr>
            <a:xfrm>
              <a:off x="748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33" name="Shape 1833"/>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37" name="Group 1837"/>
          <p:cNvGrpSpPr/>
          <p:nvPr/>
        </p:nvGrpSpPr>
        <p:grpSpPr>
          <a:xfrm>
            <a:off x="11557000" y="4597400"/>
            <a:ext cx="443111" cy="355600"/>
            <a:chOff x="0" y="0"/>
            <a:chExt cx="443110" cy="355600"/>
          </a:xfrm>
        </p:grpSpPr>
        <p:sp>
          <p:nvSpPr>
            <p:cNvPr id="1835" name="Shape 1835"/>
            <p:cNvSpPr/>
            <p:nvPr/>
          </p:nvSpPr>
          <p:spPr>
            <a:xfrm>
              <a:off x="87510" y="0"/>
              <a:ext cx="355601" cy="3556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36" name="Shape 1836"/>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40" name="Group 1840"/>
          <p:cNvGrpSpPr/>
          <p:nvPr/>
        </p:nvGrpSpPr>
        <p:grpSpPr>
          <a:xfrm>
            <a:off x="11507589" y="3556000"/>
            <a:ext cx="443111" cy="355600"/>
            <a:chOff x="0" y="0"/>
            <a:chExt cx="443110" cy="355600"/>
          </a:xfrm>
        </p:grpSpPr>
        <p:sp>
          <p:nvSpPr>
            <p:cNvPr id="1838" name="Shape 1838"/>
            <p:cNvSpPr/>
            <p:nvPr/>
          </p:nvSpPr>
          <p:spPr>
            <a:xfrm>
              <a:off x="875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39" name="Shape 1839"/>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43" name="Group 1843"/>
          <p:cNvGrpSpPr/>
          <p:nvPr/>
        </p:nvGrpSpPr>
        <p:grpSpPr>
          <a:xfrm>
            <a:off x="11532989" y="2476500"/>
            <a:ext cx="430411" cy="355600"/>
            <a:chOff x="0" y="0"/>
            <a:chExt cx="430410" cy="355600"/>
          </a:xfrm>
        </p:grpSpPr>
        <p:sp>
          <p:nvSpPr>
            <p:cNvPr id="1841" name="Shape 1841"/>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42" name="Shape 1842"/>
            <p:cNvSpPr/>
            <p:nvPr/>
          </p:nvSpPr>
          <p:spPr>
            <a:xfrm>
              <a:off x="0" y="566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46" name="Group 1846"/>
          <p:cNvGrpSpPr/>
          <p:nvPr/>
        </p:nvGrpSpPr>
        <p:grpSpPr>
          <a:xfrm>
            <a:off x="11964789" y="3568700"/>
            <a:ext cx="417711" cy="355600"/>
            <a:chOff x="0" y="0"/>
            <a:chExt cx="417710" cy="355600"/>
          </a:xfrm>
        </p:grpSpPr>
        <p:sp>
          <p:nvSpPr>
            <p:cNvPr id="1844" name="Shape 1844"/>
            <p:cNvSpPr/>
            <p:nvPr/>
          </p:nvSpPr>
          <p:spPr>
            <a:xfrm>
              <a:off x="621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45" name="Shape 1845"/>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49" name="Group 1849"/>
          <p:cNvGrpSpPr/>
          <p:nvPr/>
        </p:nvGrpSpPr>
        <p:grpSpPr>
          <a:xfrm>
            <a:off x="11647289" y="4127500"/>
            <a:ext cx="430411" cy="355600"/>
            <a:chOff x="0" y="0"/>
            <a:chExt cx="430410" cy="355600"/>
          </a:xfrm>
        </p:grpSpPr>
        <p:sp>
          <p:nvSpPr>
            <p:cNvPr id="1847" name="Shape 1847"/>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48" name="Shape 1848"/>
            <p:cNvSpPr/>
            <p:nvPr/>
          </p:nvSpPr>
          <p:spPr>
            <a:xfrm>
              <a:off x="0" y="820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52" name="Group 1852"/>
          <p:cNvGrpSpPr/>
          <p:nvPr/>
        </p:nvGrpSpPr>
        <p:grpSpPr>
          <a:xfrm>
            <a:off x="12066389" y="4495800"/>
            <a:ext cx="430411" cy="355600"/>
            <a:chOff x="0" y="0"/>
            <a:chExt cx="430410" cy="355600"/>
          </a:xfrm>
        </p:grpSpPr>
        <p:sp>
          <p:nvSpPr>
            <p:cNvPr id="1850" name="Shape 1850"/>
            <p:cNvSpPr/>
            <p:nvPr/>
          </p:nvSpPr>
          <p:spPr>
            <a:xfrm>
              <a:off x="748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51" name="Shape 1851"/>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grpSp>
        <p:nvGrpSpPr>
          <p:cNvPr id="1855" name="Group 1855"/>
          <p:cNvGrpSpPr/>
          <p:nvPr/>
        </p:nvGrpSpPr>
        <p:grpSpPr>
          <a:xfrm>
            <a:off x="12053689" y="4038600"/>
            <a:ext cx="443111" cy="355600"/>
            <a:chOff x="0" y="0"/>
            <a:chExt cx="443110" cy="355600"/>
          </a:xfrm>
        </p:grpSpPr>
        <p:sp>
          <p:nvSpPr>
            <p:cNvPr id="1853" name="Shape 1853"/>
            <p:cNvSpPr/>
            <p:nvPr/>
          </p:nvSpPr>
          <p:spPr>
            <a:xfrm>
              <a:off x="87510" y="0"/>
              <a:ext cx="355601" cy="355600"/>
            </a:xfrm>
            <a:prstGeom prst="ellipse">
              <a:avLst/>
            </a:prstGeom>
            <a:solidFill>
              <a:srgbClr val="FFFC79"/>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54" name="Shape 1854"/>
            <p:cNvSpPr/>
            <p:nvPr/>
          </p:nvSpPr>
          <p:spPr>
            <a:xfrm>
              <a:off x="0" y="69316"/>
              <a:ext cx="3937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spAutoFit/>
            </a:bodyPr>
            <a:lstStyle>
              <a:lvl1pPr algn="ctr">
                <a:tabLst>
                  <a:tab pos="520700" algn="l"/>
                </a:tabLst>
                <a:defRPr sz="1400" b="1">
                  <a:solidFill>
                    <a:srgbClr val="000000"/>
                  </a:solidFill>
                </a:defRPr>
              </a:lvl1pPr>
            </a:lstStyle>
            <a:p>
              <a:r>
                <a:t>Aa</a:t>
              </a:r>
            </a:p>
          </p:txBody>
        </p:sp>
      </p:grpSp>
      <p:sp>
        <p:nvSpPr>
          <p:cNvPr id="1856" name="Shape 1856"/>
          <p:cNvSpPr/>
          <p:nvPr/>
        </p:nvSpPr>
        <p:spPr>
          <a:xfrm rot="15982073">
            <a:off x="7447214" y="5761602"/>
            <a:ext cx="756598" cy="889229"/>
          </a:xfrm>
          <a:custGeom>
            <a:avLst/>
            <a:gdLst/>
            <a:ahLst/>
            <a:cxnLst>
              <a:cxn ang="0">
                <a:pos x="wd2" y="hd2"/>
              </a:cxn>
              <a:cxn ang="5400000">
                <a:pos x="wd2" y="hd2"/>
              </a:cxn>
              <a:cxn ang="10800000">
                <a:pos x="wd2" y="hd2"/>
              </a:cxn>
              <a:cxn ang="16200000">
                <a:pos x="wd2" y="hd2"/>
              </a:cxn>
            </a:cxnLst>
            <a:rect l="0" t="0" r="r" b="b"/>
            <a:pathLst>
              <a:path w="16532" h="20605" extrusionOk="0">
                <a:moveTo>
                  <a:pt x="13177" y="0"/>
                </a:moveTo>
                <a:cubicBezTo>
                  <a:pt x="21600" y="10007"/>
                  <a:pt x="12679" y="21600"/>
                  <a:pt x="2739" y="20537"/>
                </a:cubicBezTo>
                <a:lnTo>
                  <a:pt x="0" y="20313"/>
                </a:lnTo>
              </a:path>
            </a:pathLst>
          </a:custGeom>
          <a:ln w="38100">
            <a:solidFill>
              <a:srgbClr val="FF9300"/>
            </a:solidFill>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nvGrpSpPr>
          <p:cNvPr id="1859" name="Group 1859"/>
          <p:cNvGrpSpPr/>
          <p:nvPr/>
        </p:nvGrpSpPr>
        <p:grpSpPr>
          <a:xfrm>
            <a:off x="5321300" y="8801100"/>
            <a:ext cx="1930400" cy="533400"/>
            <a:chOff x="0" y="0"/>
            <a:chExt cx="1930400" cy="533400"/>
          </a:xfrm>
        </p:grpSpPr>
        <p:sp>
          <p:nvSpPr>
            <p:cNvPr id="1857" name="Shape 1857"/>
            <p:cNvSpPr/>
            <p:nvPr/>
          </p:nvSpPr>
          <p:spPr>
            <a:xfrm>
              <a:off x="0" y="0"/>
              <a:ext cx="1930400" cy="533400"/>
            </a:xfrm>
            <a:prstGeom prst="rect">
              <a:avLst/>
            </a:prstGeom>
            <a:solidFill>
              <a:srgbClr val="006994"/>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FFFFFF"/>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58" name="Shape 1858"/>
            <p:cNvSpPr/>
            <p:nvPr/>
          </p:nvSpPr>
          <p:spPr>
            <a:xfrm>
              <a:off x="165100" y="86171"/>
              <a:ext cx="1583433" cy="3456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b">
              <a:spAutoFit/>
            </a:bodyPr>
            <a:lstStyle>
              <a:lvl1pPr>
                <a:lnSpc>
                  <a:spcPts val="3100"/>
                </a:lnSpc>
                <a:tabLst>
                  <a:tab pos="520700" algn="l"/>
                </a:tabLst>
                <a:defRPr sz="2400" b="1">
                  <a:solidFill>
                    <a:srgbClr val="FFFFFF"/>
                  </a:solidFill>
                </a:defRPr>
              </a:lvl1pPr>
            </a:lstStyle>
            <a:p>
              <a:r>
                <a:t>Gene flow</a:t>
              </a:r>
            </a:p>
          </p:txBody>
        </p:sp>
      </p:grpSp>
      <p:sp>
        <p:nvSpPr>
          <p:cNvPr id="1860" name="Shape 1860"/>
          <p:cNvSpPr/>
          <p:nvPr/>
        </p:nvSpPr>
        <p:spPr>
          <a:xfrm rot="15982073">
            <a:off x="10025314" y="6460102"/>
            <a:ext cx="756598" cy="889229"/>
          </a:xfrm>
          <a:custGeom>
            <a:avLst/>
            <a:gdLst/>
            <a:ahLst/>
            <a:cxnLst>
              <a:cxn ang="0">
                <a:pos x="wd2" y="hd2"/>
              </a:cxn>
              <a:cxn ang="5400000">
                <a:pos x="wd2" y="hd2"/>
              </a:cxn>
              <a:cxn ang="10800000">
                <a:pos x="wd2" y="hd2"/>
              </a:cxn>
              <a:cxn ang="16200000">
                <a:pos x="wd2" y="hd2"/>
              </a:cxn>
            </a:cxnLst>
            <a:rect l="0" t="0" r="r" b="b"/>
            <a:pathLst>
              <a:path w="16532" h="20605" extrusionOk="0">
                <a:moveTo>
                  <a:pt x="13177" y="0"/>
                </a:moveTo>
                <a:cubicBezTo>
                  <a:pt x="21600" y="10007"/>
                  <a:pt x="12679" y="21600"/>
                  <a:pt x="2739" y="20537"/>
                </a:cubicBezTo>
                <a:lnTo>
                  <a:pt x="0" y="20313"/>
                </a:lnTo>
              </a:path>
            </a:pathLst>
          </a:custGeom>
          <a:ln w="38100">
            <a:solidFill>
              <a:srgbClr val="FF9300"/>
            </a:solidFill>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9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9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69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6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1" grpId="1" build="p" bldLvl="5"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2" name="Shape 1862"/>
          <p:cNvSpPr>
            <a:spLocks noGrp="1"/>
          </p:cNvSpPr>
          <p:nvPr>
            <p:ph type="title"/>
          </p:nvPr>
        </p:nvSpPr>
        <p:spPr>
          <a:xfrm>
            <a:off x="368300" y="368300"/>
            <a:ext cx="5662067" cy="1735237"/>
          </a:xfrm>
          <a:prstGeom prst="rect">
            <a:avLst/>
          </a:prstGeom>
        </p:spPr>
        <p:txBody>
          <a:bodyPr/>
          <a:lstStyle>
            <a:lvl1pPr>
              <a:tabLst>
                <a:tab pos="952500" algn="l"/>
              </a:tabLst>
            </a:lvl1pPr>
          </a:lstStyle>
          <a:p>
            <a:r>
              <a:t>Isolated Populations</a:t>
            </a:r>
          </a:p>
        </p:txBody>
      </p:sp>
      <p:sp>
        <p:nvSpPr>
          <p:cNvPr id="1863" name="Shape 1863"/>
          <p:cNvSpPr>
            <a:spLocks noGrp="1"/>
          </p:cNvSpPr>
          <p:nvPr>
            <p:ph type="body" sz="half" idx="1"/>
          </p:nvPr>
        </p:nvSpPr>
        <p:spPr>
          <a:xfrm>
            <a:off x="368300" y="2500560"/>
            <a:ext cx="5905997" cy="6833940"/>
          </a:xfrm>
          <a:prstGeom prst="rect">
            <a:avLst/>
          </a:prstGeom>
        </p:spPr>
        <p:txBody>
          <a:bodyPr/>
          <a:lstStyle/>
          <a:p>
            <a:pPr>
              <a:lnSpc>
                <a:spcPts val="3200"/>
              </a:lnSpc>
              <a:tabLst>
                <a:tab pos="1016000" algn="l"/>
              </a:tabLst>
            </a:pPr>
            <a:r>
              <a:t>Occasionally, a small number of individuals may migrate away or become </a:t>
            </a:r>
            <a:r>
              <a:rPr b="1">
                <a:solidFill>
                  <a:srgbClr val="006994"/>
                </a:solidFill>
              </a:rPr>
              <a:t>isolated</a:t>
            </a:r>
            <a:r>
              <a:t> from their original population.</a:t>
            </a:r>
          </a:p>
          <a:p>
            <a:pPr>
              <a:lnSpc>
                <a:spcPts val="3200"/>
              </a:lnSpc>
              <a:tabLst>
                <a:tab pos="1016000" algn="l"/>
              </a:tabLst>
            </a:pPr>
            <a:r>
              <a:t>This </a:t>
            </a:r>
            <a:r>
              <a:rPr b="1">
                <a:solidFill>
                  <a:srgbClr val="006994"/>
                </a:solidFill>
              </a:rPr>
              <a:t>colonising</a:t>
            </a:r>
            <a:r>
              <a:t> or </a:t>
            </a:r>
            <a:r>
              <a:rPr b="1">
                <a:solidFill>
                  <a:srgbClr val="006994"/>
                </a:solidFill>
              </a:rPr>
              <a:t>founder</a:t>
            </a:r>
            <a:r>
              <a:t> population will have a small and probably non-representative sample of alleles from the parent population’s gene pool.</a:t>
            </a:r>
          </a:p>
          <a:p>
            <a:pPr marL="288000" indent="-288000">
              <a:lnSpc>
                <a:spcPts val="3200"/>
              </a:lnSpc>
              <a:tabLst>
                <a:tab pos="1485900" algn="l"/>
              </a:tabLst>
            </a:pPr>
            <a:r>
              <a:t>As a consequence of this </a:t>
            </a:r>
            <a:r>
              <a:rPr b="1">
                <a:solidFill>
                  <a:srgbClr val="006994"/>
                </a:solidFill>
              </a:rPr>
              <a:t>founder effect</a:t>
            </a:r>
            <a:r>
              <a:t>, the colonising population may </a:t>
            </a:r>
            <a:r>
              <a:rPr b="1">
                <a:solidFill>
                  <a:srgbClr val="006994"/>
                </a:solidFill>
              </a:rPr>
              <a:t>evolve</a:t>
            </a:r>
            <a:r>
              <a:t> in a different direction than the parent population.</a:t>
            </a:r>
          </a:p>
        </p:txBody>
      </p:sp>
      <p:grpSp>
        <p:nvGrpSpPr>
          <p:cNvPr id="1869" name="Group 1869"/>
          <p:cNvGrpSpPr/>
          <p:nvPr/>
        </p:nvGrpSpPr>
        <p:grpSpPr>
          <a:xfrm>
            <a:off x="7019428" y="-40945"/>
            <a:ext cx="6010772" cy="9908845"/>
            <a:chOff x="0" y="0"/>
            <a:chExt cx="6010770" cy="9908844"/>
          </a:xfrm>
        </p:grpSpPr>
        <p:sp>
          <p:nvSpPr>
            <p:cNvPr id="1864" name="Shape 1864"/>
            <p:cNvSpPr/>
            <p:nvPr/>
          </p:nvSpPr>
          <p:spPr>
            <a:xfrm>
              <a:off x="0" y="2112696"/>
              <a:ext cx="5981015" cy="7796149"/>
            </a:xfrm>
            <a:prstGeom prst="rect">
              <a:avLst/>
            </a:prstGeom>
            <a:solidFill>
              <a:srgbClr val="FFFFFF">
                <a:alpha val="50000"/>
              </a:srgbClr>
            </a:solidFill>
            <a:ln w="25400" cap="flat">
              <a:noFill/>
              <a:miter lim="400000"/>
            </a:ln>
            <a:effectLst/>
          </p:spPr>
          <p:txBody>
            <a:bodyPr wrap="square" lIns="0" tIns="0" rIns="0" bIns="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1865" name="Marine diversity 2.png"/>
            <p:cNvPicPr>
              <a:picLocks noChangeAspect="1"/>
            </p:cNvPicPr>
            <p:nvPr/>
          </p:nvPicPr>
          <p:blipFill>
            <a:blip r:embed="rId2">
              <a:extLst/>
            </a:blip>
            <a:stretch>
              <a:fillRect/>
            </a:stretch>
          </p:blipFill>
          <p:spPr>
            <a:xfrm>
              <a:off x="29756" y="0"/>
              <a:ext cx="5951259" cy="3707852"/>
            </a:xfrm>
            <a:prstGeom prst="rect">
              <a:avLst/>
            </a:prstGeom>
            <a:ln w="25400" cap="flat">
              <a:solidFill>
                <a:srgbClr val="FFFFFF"/>
              </a:solidFill>
              <a:prstDash val="solid"/>
              <a:miter lim="400000"/>
            </a:ln>
            <a:effectLst/>
          </p:spPr>
        </p:pic>
        <p:sp>
          <p:nvSpPr>
            <p:cNvPr id="1866" name="Shape 1866"/>
            <p:cNvSpPr/>
            <p:nvPr/>
          </p:nvSpPr>
          <p:spPr>
            <a:xfrm>
              <a:off x="74390" y="9099308"/>
              <a:ext cx="5936381" cy="6161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lvl1pPr>
                <a:tabLst>
                  <a:tab pos="520700" algn="l"/>
                </a:tabLst>
              </a:lvl1pPr>
            </a:lstStyle>
            <a:p>
              <a:r>
                <a:t>The marine iguana of the Galápagos has evolved in an isolated island habitat</a:t>
              </a:r>
            </a:p>
          </p:txBody>
        </p:sp>
        <p:sp>
          <p:nvSpPr>
            <p:cNvPr id="1867" name="Shape 1867"/>
            <p:cNvSpPr/>
            <p:nvPr/>
          </p:nvSpPr>
          <p:spPr>
            <a:xfrm>
              <a:off x="89268" y="3817566"/>
              <a:ext cx="5921503" cy="92856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b">
              <a:noAutofit/>
            </a:bodyPr>
            <a:lstStyle/>
            <a:p>
              <a:pPr>
                <a:tabLst>
                  <a:tab pos="520700" algn="l"/>
                </a:tabLst>
                <a:defRPr>
                  <a:solidFill>
                    <a:srgbClr val="000000"/>
                  </a:solidFill>
                </a:defRPr>
              </a:pPr>
              <a:r>
                <a:rPr>
                  <a:solidFill>
                    <a:srgbClr val="006994"/>
                  </a:solidFill>
                </a:rPr>
                <a:t>Offshore islands can provide an environment in which founder populations can evolve in isolation from the parental population.</a:t>
              </a:r>
              <a:r>
                <a:t> </a:t>
              </a:r>
            </a:p>
          </p:txBody>
        </p:sp>
        <p:pic>
          <p:nvPicPr>
            <p:cNvPr id="1868" name="Marine iguana.jpg"/>
            <p:cNvPicPr>
              <a:picLocks noChangeAspect="1"/>
            </p:cNvPicPr>
            <p:nvPr/>
          </p:nvPicPr>
          <p:blipFill>
            <a:blip r:embed="rId3">
              <a:extLst/>
            </a:blip>
            <a:stretch>
              <a:fillRect/>
            </a:stretch>
          </p:blipFill>
          <p:spPr>
            <a:xfrm>
              <a:off x="29756" y="4969300"/>
              <a:ext cx="5951259" cy="3987344"/>
            </a:xfrm>
            <a:prstGeom prst="rect">
              <a:avLst/>
            </a:prstGeom>
            <a:ln w="25400" cap="flat">
              <a:solidFill>
                <a:srgbClr val="FFFFFF"/>
              </a:solidFill>
              <a:prstDash val="solid"/>
              <a:miter lim="400000"/>
            </a:ln>
            <a:effectLst/>
          </p:spPr>
        </p:pic>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86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86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86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8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 grpId="1" build="p" bldLvl="5" animBg="1" advAuto="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1" name="Shape 1871"/>
          <p:cNvSpPr>
            <a:spLocks noGrp="1"/>
          </p:cNvSpPr>
          <p:nvPr>
            <p:ph type="title"/>
          </p:nvPr>
        </p:nvSpPr>
        <p:spPr>
          <a:xfrm>
            <a:off x="368300" y="368300"/>
            <a:ext cx="5278736" cy="1660922"/>
          </a:xfrm>
          <a:prstGeom prst="rect">
            <a:avLst/>
          </a:prstGeom>
        </p:spPr>
        <p:txBody>
          <a:bodyPr/>
          <a:lstStyle>
            <a:lvl1pPr>
              <a:tabLst>
                <a:tab pos="952500" algn="l"/>
              </a:tabLst>
            </a:lvl1pPr>
          </a:lstStyle>
          <a:p>
            <a:r>
              <a:t>The Founder Effect</a:t>
            </a:r>
          </a:p>
        </p:txBody>
      </p:sp>
      <p:sp>
        <p:nvSpPr>
          <p:cNvPr id="1872" name="Shape 1872"/>
          <p:cNvSpPr>
            <a:spLocks noGrp="1"/>
          </p:cNvSpPr>
          <p:nvPr>
            <p:ph type="body" sz="half" idx="1"/>
          </p:nvPr>
        </p:nvSpPr>
        <p:spPr>
          <a:xfrm>
            <a:off x="368300" y="2406104"/>
            <a:ext cx="5568702" cy="6204496"/>
          </a:xfrm>
          <a:prstGeom prst="rect">
            <a:avLst/>
          </a:prstGeom>
        </p:spPr>
        <p:txBody>
          <a:bodyPr/>
          <a:lstStyle/>
          <a:p>
            <a:pPr>
              <a:lnSpc>
                <a:spcPts val="3200"/>
              </a:lnSpc>
              <a:tabLst>
                <a:tab pos="1016000" algn="l"/>
              </a:tabLst>
            </a:pPr>
            <a:r>
              <a:t>Small founder populations are subject to the effects of </a:t>
            </a:r>
            <a:r>
              <a:rPr b="1">
                <a:solidFill>
                  <a:srgbClr val="006994"/>
                </a:solidFill>
              </a:rPr>
              <a:t>random genetic drift</a:t>
            </a:r>
            <a:r>
              <a:rPr>
                <a:solidFill>
                  <a:srgbClr val="006994"/>
                </a:solidFill>
              </a:rPr>
              <a:t>.</a:t>
            </a:r>
          </a:p>
          <a:p>
            <a:pPr>
              <a:lnSpc>
                <a:spcPts val="3200"/>
              </a:lnSpc>
              <a:tabLst>
                <a:tab pos="1016000" algn="l"/>
              </a:tabLst>
            </a:pPr>
            <a:r>
              <a:t>The founder effect is typically seen in the populations of islands which are colonised by individuals from mainland populations.</a:t>
            </a:r>
          </a:p>
          <a:p>
            <a:pPr>
              <a:lnSpc>
                <a:spcPts val="3200"/>
              </a:lnSpc>
              <a:tabLst>
                <a:tab pos="1016000" algn="l"/>
              </a:tabLst>
            </a:pPr>
            <a:r>
              <a:t>Often these species have low or limited mobility. Their dispersal is often dependent on prevailing winds (e.g. butterflies and other insects, reptiles, and small birds).</a:t>
            </a:r>
          </a:p>
        </p:txBody>
      </p:sp>
      <p:pic>
        <p:nvPicPr>
          <p:cNvPr id="1873" name="Founder Effect 1 map.pdf"/>
          <p:cNvPicPr>
            <a:picLocks/>
          </p:cNvPicPr>
          <p:nvPr/>
        </p:nvPicPr>
        <p:blipFill>
          <a:blip r:embed="rId2">
            <a:extLst/>
          </a:blip>
          <a:stretch>
            <a:fillRect/>
          </a:stretch>
        </p:blipFill>
        <p:spPr>
          <a:xfrm rot="16200000">
            <a:off x="4984552" y="1679196"/>
            <a:ext cx="10020301" cy="6527801"/>
          </a:xfrm>
          <a:prstGeom prst="rect">
            <a:avLst/>
          </a:prstGeom>
          <a:ln w="12700">
            <a:miter lim="400000"/>
          </a:ln>
        </p:spPr>
      </p:pic>
      <p:sp>
        <p:nvSpPr>
          <p:cNvPr id="1874" name="Shape 1874"/>
          <p:cNvSpPr/>
          <p:nvPr/>
        </p:nvSpPr>
        <p:spPr>
          <a:xfrm>
            <a:off x="10654713" y="4365831"/>
            <a:ext cx="1462771" cy="624945"/>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lstStyle/>
          <a:p>
            <a:pPr algn="ctr">
              <a:tabLst>
                <a:tab pos="520700" algn="l"/>
              </a:tabLst>
              <a:defRPr>
                <a:solidFill>
                  <a:srgbClr val="000000"/>
                </a:solidFill>
              </a:defRPr>
            </a:pPr>
            <a:r>
              <a:rPr b="1">
                <a:solidFill>
                  <a:srgbClr val="201B17"/>
                </a:solidFill>
              </a:rPr>
              <a:t>Mainland</a:t>
            </a:r>
            <a:endParaRPr>
              <a:solidFill>
                <a:srgbClr val="201B17"/>
              </a:solidFill>
            </a:endParaRPr>
          </a:p>
          <a:p>
            <a:pPr algn="ctr">
              <a:tabLst>
                <a:tab pos="520700" algn="l"/>
              </a:tabLst>
              <a:defRPr>
                <a:solidFill>
                  <a:srgbClr val="000000"/>
                </a:solidFill>
              </a:defRPr>
            </a:pPr>
            <a:r>
              <a:rPr b="1">
                <a:solidFill>
                  <a:srgbClr val="201B17"/>
                </a:solidFill>
              </a:rPr>
              <a:t>population</a:t>
            </a:r>
          </a:p>
        </p:txBody>
      </p:sp>
      <p:sp>
        <p:nvSpPr>
          <p:cNvPr id="1875" name="Shape 1875"/>
          <p:cNvSpPr/>
          <p:nvPr/>
        </p:nvSpPr>
        <p:spPr>
          <a:xfrm rot="10582073">
            <a:off x="8802629" y="1467224"/>
            <a:ext cx="1109074" cy="3723183"/>
          </a:xfrm>
          <a:custGeom>
            <a:avLst/>
            <a:gdLst/>
            <a:ahLst/>
            <a:cxnLst>
              <a:cxn ang="0">
                <a:pos x="wd2" y="hd2"/>
              </a:cxn>
              <a:cxn ang="5400000">
                <a:pos x="wd2" y="hd2"/>
              </a:cxn>
              <a:cxn ang="10800000">
                <a:pos x="wd2" y="hd2"/>
              </a:cxn>
              <a:cxn ang="16200000">
                <a:pos x="wd2" y="hd2"/>
              </a:cxn>
            </a:cxnLst>
            <a:rect l="0" t="0" r="r" b="b"/>
            <a:pathLst>
              <a:path w="13595" h="21600" extrusionOk="0">
                <a:moveTo>
                  <a:pt x="0" y="0"/>
                </a:moveTo>
                <a:cubicBezTo>
                  <a:pt x="5284" y="2802"/>
                  <a:pt x="21600" y="11222"/>
                  <a:pt x="8810" y="20640"/>
                </a:cubicBezTo>
                <a:lnTo>
                  <a:pt x="7562" y="21600"/>
                </a:lnTo>
              </a:path>
            </a:pathLst>
          </a:custGeom>
          <a:ln w="63500">
            <a:solidFill>
              <a:srgbClr val="FF9300"/>
            </a:solidFill>
            <a:prstDash val="sysDot"/>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76" name="Shape 1876"/>
          <p:cNvSpPr/>
          <p:nvPr/>
        </p:nvSpPr>
        <p:spPr>
          <a:xfrm>
            <a:off x="9381654" y="2922593"/>
            <a:ext cx="1549030" cy="284066"/>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lstStyle>
            <a:lvl1pPr>
              <a:lnSpc>
                <a:spcPts val="2400"/>
              </a:lnSpc>
              <a:tabLst>
                <a:tab pos="520700" algn="l"/>
              </a:tabLst>
              <a:defRPr i="1">
                <a:solidFill>
                  <a:srgbClr val="201B17"/>
                </a:solidFill>
              </a:defRPr>
            </a:lvl1pPr>
          </a:lstStyle>
          <a:p>
            <a:pPr>
              <a:defRPr i="0">
                <a:solidFill>
                  <a:srgbClr val="000000"/>
                </a:solidFill>
              </a:defRPr>
            </a:pPr>
            <a:r>
              <a:rPr i="1">
                <a:solidFill>
                  <a:srgbClr val="201B17"/>
                </a:solidFill>
              </a:rPr>
              <a:t>Colonisation</a:t>
            </a:r>
          </a:p>
        </p:txBody>
      </p:sp>
      <p:sp>
        <p:nvSpPr>
          <p:cNvPr id="1877" name="Shape 1877"/>
          <p:cNvSpPr/>
          <p:nvPr/>
        </p:nvSpPr>
        <p:spPr>
          <a:xfrm>
            <a:off x="6890795" y="523226"/>
            <a:ext cx="1462770" cy="624945"/>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lstStyle/>
          <a:p>
            <a:pPr algn="ctr">
              <a:tabLst>
                <a:tab pos="520700" algn="l"/>
              </a:tabLst>
              <a:defRPr>
                <a:solidFill>
                  <a:srgbClr val="000000"/>
                </a:solidFill>
              </a:defRPr>
            </a:pPr>
            <a:r>
              <a:rPr b="1">
                <a:solidFill>
                  <a:srgbClr val="201B17"/>
                </a:solidFill>
              </a:rPr>
              <a:t>Island</a:t>
            </a:r>
            <a:endParaRPr>
              <a:solidFill>
                <a:srgbClr val="201B17"/>
              </a:solidFill>
            </a:endParaRPr>
          </a:p>
          <a:p>
            <a:pPr algn="ctr">
              <a:tabLst>
                <a:tab pos="520700" algn="l"/>
              </a:tabLst>
              <a:defRPr>
                <a:solidFill>
                  <a:srgbClr val="000000"/>
                </a:solidFill>
              </a:defRPr>
            </a:pPr>
            <a:r>
              <a:rPr b="1">
                <a:solidFill>
                  <a:srgbClr val="201B17"/>
                </a:solidFill>
              </a:rPr>
              <a:t>population</a:t>
            </a:r>
          </a:p>
        </p:txBody>
      </p:sp>
      <p:pic>
        <p:nvPicPr>
          <p:cNvPr id="1878" name="Bfly-1 small.png"/>
          <p:cNvPicPr>
            <a:picLocks noChangeAspect="1"/>
          </p:cNvPicPr>
          <p:nvPr/>
        </p:nvPicPr>
        <p:blipFill>
          <a:blip r:embed="rId3">
            <a:extLst/>
          </a:blip>
          <a:stretch>
            <a:fillRect/>
          </a:stretch>
        </p:blipFill>
        <p:spPr>
          <a:xfrm>
            <a:off x="9182100" y="825500"/>
            <a:ext cx="1143000" cy="548641"/>
          </a:xfrm>
          <a:prstGeom prst="rect">
            <a:avLst/>
          </a:prstGeom>
          <a:ln w="12700">
            <a:miter lim="400000"/>
          </a:ln>
        </p:spPr>
      </p:pic>
      <p:pic>
        <p:nvPicPr>
          <p:cNvPr id="1879" name="Bfly-4 small.png"/>
          <p:cNvPicPr>
            <a:picLocks noChangeAspect="1"/>
          </p:cNvPicPr>
          <p:nvPr/>
        </p:nvPicPr>
        <p:blipFill>
          <a:blip r:embed="rId4">
            <a:extLst/>
          </a:blip>
          <a:stretch>
            <a:fillRect/>
          </a:stretch>
        </p:blipFill>
        <p:spPr>
          <a:xfrm>
            <a:off x="6896100" y="5956300"/>
            <a:ext cx="1270000" cy="846667"/>
          </a:xfrm>
          <a:prstGeom prst="rect">
            <a:avLst/>
          </a:prstGeom>
          <a:ln w="12700">
            <a:miter lim="400000"/>
          </a:ln>
        </p:spPr>
      </p:pic>
      <p:pic>
        <p:nvPicPr>
          <p:cNvPr id="1880" name="Bfly-3 small.png"/>
          <p:cNvPicPr>
            <a:picLocks noChangeAspect="1"/>
          </p:cNvPicPr>
          <p:nvPr/>
        </p:nvPicPr>
        <p:blipFill>
          <a:blip r:embed="rId5">
            <a:extLst/>
          </a:blip>
          <a:stretch>
            <a:fillRect/>
          </a:stretch>
        </p:blipFill>
        <p:spPr>
          <a:xfrm>
            <a:off x="10706100" y="762000"/>
            <a:ext cx="1143000" cy="651510"/>
          </a:xfrm>
          <a:prstGeom prst="rect">
            <a:avLst/>
          </a:prstGeom>
          <a:ln w="12700">
            <a:miter lim="400000"/>
          </a:ln>
        </p:spPr>
      </p:pic>
      <p:pic>
        <p:nvPicPr>
          <p:cNvPr id="1881" name="Bfly-1 small.png"/>
          <p:cNvPicPr>
            <a:picLocks noChangeAspect="1"/>
          </p:cNvPicPr>
          <p:nvPr/>
        </p:nvPicPr>
        <p:blipFill>
          <a:blip r:embed="rId3">
            <a:extLst/>
          </a:blip>
          <a:stretch>
            <a:fillRect/>
          </a:stretch>
        </p:blipFill>
        <p:spPr>
          <a:xfrm>
            <a:off x="10706100" y="1701800"/>
            <a:ext cx="1143000" cy="548641"/>
          </a:xfrm>
          <a:prstGeom prst="rect">
            <a:avLst/>
          </a:prstGeom>
          <a:ln w="12700">
            <a:miter lim="400000"/>
          </a:ln>
        </p:spPr>
      </p:pic>
      <p:pic>
        <p:nvPicPr>
          <p:cNvPr id="1882" name="Bfly-1 small.png"/>
          <p:cNvPicPr>
            <a:picLocks noChangeAspect="1"/>
          </p:cNvPicPr>
          <p:nvPr/>
        </p:nvPicPr>
        <p:blipFill>
          <a:blip r:embed="rId3">
            <a:extLst/>
          </a:blip>
          <a:stretch>
            <a:fillRect/>
          </a:stretch>
        </p:blipFill>
        <p:spPr>
          <a:xfrm>
            <a:off x="9461500" y="1447800"/>
            <a:ext cx="1143000" cy="548641"/>
          </a:xfrm>
          <a:prstGeom prst="rect">
            <a:avLst/>
          </a:prstGeom>
          <a:ln w="12700">
            <a:miter lim="400000"/>
          </a:ln>
        </p:spPr>
      </p:pic>
      <p:pic>
        <p:nvPicPr>
          <p:cNvPr id="1883" name="Bfly-3 small.png"/>
          <p:cNvPicPr>
            <a:picLocks noChangeAspect="1"/>
          </p:cNvPicPr>
          <p:nvPr/>
        </p:nvPicPr>
        <p:blipFill>
          <a:blip r:embed="rId5">
            <a:extLst/>
          </a:blip>
          <a:stretch>
            <a:fillRect/>
          </a:stretch>
        </p:blipFill>
        <p:spPr>
          <a:xfrm>
            <a:off x="8407400" y="6362700"/>
            <a:ext cx="1143000" cy="651510"/>
          </a:xfrm>
          <a:prstGeom prst="rect">
            <a:avLst/>
          </a:prstGeom>
          <a:ln w="12700">
            <a:miter lim="400000"/>
          </a:ln>
        </p:spPr>
      </p:pic>
      <p:pic>
        <p:nvPicPr>
          <p:cNvPr id="1884" name="Bfly-1 small.png"/>
          <p:cNvPicPr>
            <a:picLocks noChangeAspect="1"/>
          </p:cNvPicPr>
          <p:nvPr/>
        </p:nvPicPr>
        <p:blipFill>
          <a:blip r:embed="rId3">
            <a:extLst/>
          </a:blip>
          <a:stretch>
            <a:fillRect/>
          </a:stretch>
        </p:blipFill>
        <p:spPr>
          <a:xfrm>
            <a:off x="7162800" y="7048500"/>
            <a:ext cx="1143000" cy="548641"/>
          </a:xfrm>
          <a:prstGeom prst="rect">
            <a:avLst/>
          </a:prstGeom>
          <a:ln w="12700">
            <a:miter lim="400000"/>
          </a:ln>
        </p:spPr>
      </p:pic>
      <p:pic>
        <p:nvPicPr>
          <p:cNvPr id="1885" name="Bfly-4 small.png"/>
          <p:cNvPicPr>
            <a:picLocks noChangeAspect="1"/>
          </p:cNvPicPr>
          <p:nvPr/>
        </p:nvPicPr>
        <p:blipFill>
          <a:blip r:embed="rId4">
            <a:extLst/>
          </a:blip>
          <a:stretch>
            <a:fillRect/>
          </a:stretch>
        </p:blipFill>
        <p:spPr>
          <a:xfrm>
            <a:off x="8699500" y="7124700"/>
            <a:ext cx="1270000" cy="846667"/>
          </a:xfrm>
          <a:prstGeom prst="rect">
            <a:avLst/>
          </a:prstGeom>
          <a:ln w="12700">
            <a:miter lim="400000"/>
          </a:ln>
        </p:spPr>
      </p:pic>
      <p:pic>
        <p:nvPicPr>
          <p:cNvPr id="1886" name="Bfly-3 small.png"/>
          <p:cNvPicPr>
            <a:picLocks noChangeAspect="1"/>
          </p:cNvPicPr>
          <p:nvPr/>
        </p:nvPicPr>
        <p:blipFill>
          <a:blip r:embed="rId5">
            <a:extLst/>
          </a:blip>
          <a:stretch>
            <a:fillRect/>
          </a:stretch>
        </p:blipFill>
        <p:spPr>
          <a:xfrm>
            <a:off x="10210800" y="7531100"/>
            <a:ext cx="1143000" cy="651510"/>
          </a:xfrm>
          <a:prstGeom prst="rect">
            <a:avLst/>
          </a:prstGeom>
          <a:ln w="12700">
            <a:miter lim="400000"/>
          </a:ln>
        </p:spPr>
      </p:pic>
      <p:pic>
        <p:nvPicPr>
          <p:cNvPr id="1887" name="Bfly-1 small.png"/>
          <p:cNvPicPr>
            <a:picLocks noChangeAspect="1"/>
          </p:cNvPicPr>
          <p:nvPr/>
        </p:nvPicPr>
        <p:blipFill>
          <a:blip r:embed="rId3">
            <a:extLst/>
          </a:blip>
          <a:stretch>
            <a:fillRect/>
          </a:stretch>
        </p:blipFill>
        <p:spPr>
          <a:xfrm>
            <a:off x="8966200" y="8216900"/>
            <a:ext cx="1143000" cy="548641"/>
          </a:xfrm>
          <a:prstGeom prst="rect">
            <a:avLst/>
          </a:prstGeom>
          <a:ln w="12700">
            <a:miter lim="400000"/>
          </a:ln>
        </p:spPr>
      </p:pic>
      <p:pic>
        <p:nvPicPr>
          <p:cNvPr id="1888" name="Bfly-3 small.png"/>
          <p:cNvPicPr>
            <a:picLocks noChangeAspect="1"/>
          </p:cNvPicPr>
          <p:nvPr/>
        </p:nvPicPr>
        <p:blipFill>
          <a:blip r:embed="rId5">
            <a:extLst/>
          </a:blip>
          <a:stretch>
            <a:fillRect/>
          </a:stretch>
        </p:blipFill>
        <p:spPr>
          <a:xfrm>
            <a:off x="11290300" y="6273800"/>
            <a:ext cx="1143000" cy="651510"/>
          </a:xfrm>
          <a:prstGeom prst="rect">
            <a:avLst/>
          </a:prstGeom>
          <a:ln w="12700">
            <a:miter lim="400000"/>
          </a:ln>
        </p:spPr>
      </p:pic>
      <p:pic>
        <p:nvPicPr>
          <p:cNvPr id="1889" name="Bfly-1 small.png"/>
          <p:cNvPicPr>
            <a:picLocks noChangeAspect="1"/>
          </p:cNvPicPr>
          <p:nvPr/>
        </p:nvPicPr>
        <p:blipFill>
          <a:blip r:embed="rId3">
            <a:extLst/>
          </a:blip>
          <a:stretch>
            <a:fillRect/>
          </a:stretch>
        </p:blipFill>
        <p:spPr>
          <a:xfrm>
            <a:off x="10045700" y="6959600"/>
            <a:ext cx="1143000" cy="548641"/>
          </a:xfrm>
          <a:prstGeom prst="rect">
            <a:avLst/>
          </a:prstGeom>
          <a:ln w="12700">
            <a:miter lim="400000"/>
          </a:ln>
        </p:spPr>
      </p:pic>
      <p:pic>
        <p:nvPicPr>
          <p:cNvPr id="1890" name="Bfly-1 small.png"/>
          <p:cNvPicPr>
            <a:picLocks noChangeAspect="1"/>
          </p:cNvPicPr>
          <p:nvPr/>
        </p:nvPicPr>
        <p:blipFill>
          <a:blip r:embed="rId3">
            <a:extLst/>
          </a:blip>
          <a:stretch>
            <a:fillRect/>
          </a:stretch>
        </p:blipFill>
        <p:spPr>
          <a:xfrm>
            <a:off x="7696200" y="7950200"/>
            <a:ext cx="1143000" cy="548641"/>
          </a:xfrm>
          <a:prstGeom prst="rect">
            <a:avLst/>
          </a:prstGeom>
          <a:ln w="12700">
            <a:miter lim="400000"/>
          </a:ln>
        </p:spPr>
      </p:pic>
      <p:pic>
        <p:nvPicPr>
          <p:cNvPr id="1891" name="Bfly-1 small.png"/>
          <p:cNvPicPr>
            <a:picLocks noChangeAspect="1"/>
          </p:cNvPicPr>
          <p:nvPr/>
        </p:nvPicPr>
        <p:blipFill>
          <a:blip r:embed="rId3">
            <a:extLst/>
          </a:blip>
          <a:stretch>
            <a:fillRect/>
          </a:stretch>
        </p:blipFill>
        <p:spPr>
          <a:xfrm>
            <a:off x="8775700" y="8928100"/>
            <a:ext cx="1143000" cy="548641"/>
          </a:xfrm>
          <a:prstGeom prst="rect">
            <a:avLst/>
          </a:prstGeom>
          <a:ln w="12700">
            <a:miter lim="400000"/>
          </a:ln>
        </p:spPr>
      </p:pic>
      <p:pic>
        <p:nvPicPr>
          <p:cNvPr id="1892" name="Bfly-3 small.png"/>
          <p:cNvPicPr>
            <a:picLocks noChangeAspect="1"/>
          </p:cNvPicPr>
          <p:nvPr/>
        </p:nvPicPr>
        <p:blipFill>
          <a:blip r:embed="rId5">
            <a:extLst/>
          </a:blip>
          <a:stretch>
            <a:fillRect/>
          </a:stretch>
        </p:blipFill>
        <p:spPr>
          <a:xfrm>
            <a:off x="11290300" y="7899400"/>
            <a:ext cx="1143000" cy="651510"/>
          </a:xfrm>
          <a:prstGeom prst="rect">
            <a:avLst/>
          </a:prstGeom>
          <a:ln w="12700">
            <a:miter lim="400000"/>
          </a:ln>
        </p:spPr>
      </p:pic>
      <p:pic>
        <p:nvPicPr>
          <p:cNvPr id="1893" name="Bfly-3 small.png"/>
          <p:cNvPicPr>
            <a:picLocks noChangeAspect="1"/>
          </p:cNvPicPr>
          <p:nvPr/>
        </p:nvPicPr>
        <p:blipFill>
          <a:blip r:embed="rId5">
            <a:extLst/>
          </a:blip>
          <a:stretch>
            <a:fillRect/>
          </a:stretch>
        </p:blipFill>
        <p:spPr>
          <a:xfrm>
            <a:off x="10045700" y="8394700"/>
            <a:ext cx="1143000" cy="651510"/>
          </a:xfrm>
          <a:prstGeom prst="rect">
            <a:avLst/>
          </a:prstGeom>
          <a:ln w="12700">
            <a:miter lim="400000"/>
          </a:ln>
        </p:spPr>
      </p:pic>
      <p:pic>
        <p:nvPicPr>
          <p:cNvPr id="1894" name="Bfly-4 small.png"/>
          <p:cNvPicPr>
            <a:picLocks noChangeAspect="1"/>
          </p:cNvPicPr>
          <p:nvPr/>
        </p:nvPicPr>
        <p:blipFill>
          <a:blip r:embed="rId4">
            <a:extLst/>
          </a:blip>
          <a:stretch>
            <a:fillRect/>
          </a:stretch>
        </p:blipFill>
        <p:spPr>
          <a:xfrm>
            <a:off x="11404600" y="6896100"/>
            <a:ext cx="1270000" cy="846667"/>
          </a:xfrm>
          <a:prstGeom prst="rect">
            <a:avLst/>
          </a:prstGeom>
          <a:ln w="12700">
            <a:miter lim="400000"/>
          </a:ln>
        </p:spPr>
      </p:pic>
      <p:pic>
        <p:nvPicPr>
          <p:cNvPr id="1895" name="Bfly-4 small.png"/>
          <p:cNvPicPr>
            <a:picLocks noChangeAspect="1"/>
          </p:cNvPicPr>
          <p:nvPr/>
        </p:nvPicPr>
        <p:blipFill>
          <a:blip r:embed="rId4">
            <a:extLst/>
          </a:blip>
          <a:stretch>
            <a:fillRect/>
          </a:stretch>
        </p:blipFill>
        <p:spPr>
          <a:xfrm>
            <a:off x="11722100" y="5410200"/>
            <a:ext cx="1270000" cy="846667"/>
          </a:xfrm>
          <a:prstGeom prst="rect">
            <a:avLst/>
          </a:prstGeom>
          <a:ln w="12700">
            <a:miter lim="400000"/>
          </a:ln>
        </p:spPr>
      </p:pic>
      <p:pic>
        <p:nvPicPr>
          <p:cNvPr id="1896" name="Bfly-4 small.png"/>
          <p:cNvPicPr>
            <a:picLocks noChangeAspect="1"/>
          </p:cNvPicPr>
          <p:nvPr/>
        </p:nvPicPr>
        <p:blipFill>
          <a:blip r:embed="rId4">
            <a:extLst/>
          </a:blip>
          <a:stretch>
            <a:fillRect/>
          </a:stretch>
        </p:blipFill>
        <p:spPr>
          <a:xfrm>
            <a:off x="6997700" y="8610600"/>
            <a:ext cx="1270000" cy="846667"/>
          </a:xfrm>
          <a:prstGeom prst="rect">
            <a:avLst/>
          </a:prstGeom>
          <a:ln w="12700">
            <a:miter lim="400000"/>
          </a:ln>
        </p:spPr>
      </p:pic>
      <p:pic>
        <p:nvPicPr>
          <p:cNvPr id="1897" name="Bfly-4 small.png"/>
          <p:cNvPicPr>
            <a:picLocks noChangeAspect="1"/>
          </p:cNvPicPr>
          <p:nvPr/>
        </p:nvPicPr>
        <p:blipFill>
          <a:blip r:embed="rId4">
            <a:extLst/>
          </a:blip>
          <a:stretch>
            <a:fillRect/>
          </a:stretch>
        </p:blipFill>
        <p:spPr>
          <a:xfrm>
            <a:off x="11404600" y="8763000"/>
            <a:ext cx="1270000" cy="846667"/>
          </a:xfrm>
          <a:prstGeom prst="rect">
            <a:avLst/>
          </a:prstGeom>
          <a:ln w="12700">
            <a:miter lim="400000"/>
          </a:ln>
        </p:spPr>
      </p:pic>
      <p:pic>
        <p:nvPicPr>
          <p:cNvPr id="1898" name="Bfly-3 small.png"/>
          <p:cNvPicPr>
            <a:picLocks noChangeAspect="1"/>
          </p:cNvPicPr>
          <p:nvPr/>
        </p:nvPicPr>
        <p:blipFill>
          <a:blip r:embed="rId5">
            <a:extLst/>
          </a:blip>
          <a:stretch>
            <a:fillRect/>
          </a:stretch>
        </p:blipFill>
        <p:spPr>
          <a:xfrm>
            <a:off x="9880600" y="5511800"/>
            <a:ext cx="1143000" cy="651510"/>
          </a:xfrm>
          <a:prstGeom prst="rect">
            <a:avLst/>
          </a:prstGeom>
          <a:ln w="12700">
            <a:miter lim="400000"/>
          </a:ln>
        </p:spPr>
      </p:pic>
      <p:pic>
        <p:nvPicPr>
          <p:cNvPr id="1899" name="Bfly-3 small.png"/>
          <p:cNvPicPr>
            <a:picLocks noChangeAspect="1"/>
          </p:cNvPicPr>
          <p:nvPr/>
        </p:nvPicPr>
        <p:blipFill>
          <a:blip r:embed="rId5">
            <a:extLst/>
          </a:blip>
          <a:stretch>
            <a:fillRect/>
          </a:stretch>
        </p:blipFill>
        <p:spPr>
          <a:xfrm>
            <a:off x="9880600" y="6273800"/>
            <a:ext cx="1143000" cy="65151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87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87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87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8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2" grpId="1" build="p" bldLvl="5"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1" name="Shape 1901"/>
          <p:cNvSpPr>
            <a:spLocks noGrp="1"/>
          </p:cNvSpPr>
          <p:nvPr>
            <p:ph type="title"/>
          </p:nvPr>
        </p:nvSpPr>
        <p:spPr>
          <a:xfrm>
            <a:off x="368300" y="368300"/>
            <a:ext cx="5066556" cy="1706067"/>
          </a:xfrm>
          <a:prstGeom prst="rect">
            <a:avLst/>
          </a:prstGeom>
        </p:spPr>
        <p:txBody>
          <a:bodyPr/>
          <a:lstStyle>
            <a:lvl1pPr>
              <a:tabLst>
                <a:tab pos="952500" algn="l"/>
              </a:tabLst>
            </a:lvl1pPr>
          </a:lstStyle>
          <a:p>
            <a:r>
              <a:t>The Founder Effect</a:t>
            </a:r>
          </a:p>
        </p:txBody>
      </p:sp>
      <p:sp>
        <p:nvSpPr>
          <p:cNvPr id="1902" name="Shape 1902"/>
          <p:cNvSpPr>
            <a:spLocks noGrp="1"/>
          </p:cNvSpPr>
          <p:nvPr>
            <p:ph type="body" sz="quarter" idx="1"/>
          </p:nvPr>
        </p:nvSpPr>
        <p:spPr>
          <a:xfrm>
            <a:off x="368300" y="2505819"/>
            <a:ext cx="5218708" cy="2120702"/>
          </a:xfrm>
          <a:prstGeom prst="rect">
            <a:avLst/>
          </a:prstGeom>
        </p:spPr>
        <p:txBody>
          <a:bodyPr/>
          <a:lstStyle>
            <a:lvl1pPr marL="326571" indent="-326571">
              <a:tabLst>
                <a:tab pos="1016000" algn="l"/>
              </a:tabLst>
            </a:lvl1pPr>
          </a:lstStyle>
          <a:p>
            <a:r>
              <a:t>In this hypothetical population of beetles, a small, randomly selected group is blown offshore to a neighbouring island where they establish a breeding population.</a:t>
            </a:r>
          </a:p>
        </p:txBody>
      </p:sp>
      <p:pic>
        <p:nvPicPr>
          <p:cNvPr id="1903" name="Founder Effect 1 map.pdf"/>
          <p:cNvPicPr>
            <a:picLocks/>
          </p:cNvPicPr>
          <p:nvPr/>
        </p:nvPicPr>
        <p:blipFill>
          <a:blip r:embed="rId2">
            <a:extLst/>
          </a:blip>
          <a:stretch>
            <a:fillRect/>
          </a:stretch>
        </p:blipFill>
        <p:spPr>
          <a:xfrm rot="16200000">
            <a:off x="4546402" y="1304547"/>
            <a:ext cx="10020301" cy="7200901"/>
          </a:xfrm>
          <a:prstGeom prst="rect">
            <a:avLst/>
          </a:prstGeom>
          <a:ln w="12700">
            <a:miter lim="400000"/>
          </a:ln>
        </p:spPr>
      </p:pic>
      <p:sp>
        <p:nvSpPr>
          <p:cNvPr id="1904" name="Shape 1904"/>
          <p:cNvSpPr/>
          <p:nvPr/>
        </p:nvSpPr>
        <p:spPr>
          <a:xfrm>
            <a:off x="10667413" y="4429331"/>
            <a:ext cx="1462771" cy="624945"/>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201B17"/>
                </a:solidFill>
                <a:latin typeface="+mn-lt"/>
                <a:ea typeface="+mn-ea"/>
                <a:cs typeface="+mn-cs"/>
                <a:sym typeface="Arial"/>
              </a:rPr>
              <a:t>Mainland</a:t>
            </a:r>
            <a:endParaRPr sz="1800">
              <a:solidFill>
                <a:srgbClr val="201B17"/>
              </a:solidFill>
              <a:latin typeface="+mn-lt"/>
              <a:ea typeface="+mn-ea"/>
              <a:cs typeface="+mn-cs"/>
              <a:sym typeface="Arial"/>
            </a:endParaRPr>
          </a:p>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201B17"/>
                </a:solidFill>
                <a:latin typeface="+mn-lt"/>
                <a:ea typeface="+mn-ea"/>
                <a:cs typeface="+mn-cs"/>
                <a:sym typeface="Arial"/>
              </a:rPr>
              <a:t>population</a:t>
            </a:r>
          </a:p>
        </p:txBody>
      </p:sp>
      <p:sp>
        <p:nvSpPr>
          <p:cNvPr id="1905" name="Shape 1905"/>
          <p:cNvSpPr/>
          <p:nvPr/>
        </p:nvSpPr>
        <p:spPr>
          <a:xfrm rot="10582073">
            <a:off x="8561329" y="1467224"/>
            <a:ext cx="1109074" cy="3723183"/>
          </a:xfrm>
          <a:custGeom>
            <a:avLst/>
            <a:gdLst/>
            <a:ahLst/>
            <a:cxnLst>
              <a:cxn ang="0">
                <a:pos x="wd2" y="hd2"/>
              </a:cxn>
              <a:cxn ang="5400000">
                <a:pos x="wd2" y="hd2"/>
              </a:cxn>
              <a:cxn ang="10800000">
                <a:pos x="wd2" y="hd2"/>
              </a:cxn>
              <a:cxn ang="16200000">
                <a:pos x="wd2" y="hd2"/>
              </a:cxn>
            </a:cxnLst>
            <a:rect l="0" t="0" r="r" b="b"/>
            <a:pathLst>
              <a:path w="13595" h="21600" extrusionOk="0">
                <a:moveTo>
                  <a:pt x="0" y="0"/>
                </a:moveTo>
                <a:cubicBezTo>
                  <a:pt x="5284" y="2802"/>
                  <a:pt x="21600" y="11222"/>
                  <a:pt x="8810" y="20640"/>
                </a:cubicBezTo>
                <a:lnTo>
                  <a:pt x="7562" y="21600"/>
                </a:lnTo>
              </a:path>
            </a:pathLst>
          </a:custGeom>
          <a:ln w="63500">
            <a:solidFill>
              <a:srgbClr val="FF2600"/>
            </a:solidFill>
            <a:prstDash val="sysDot"/>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06" name="Shape 1906"/>
          <p:cNvSpPr/>
          <p:nvPr/>
        </p:nvSpPr>
        <p:spPr>
          <a:xfrm>
            <a:off x="6700295" y="523226"/>
            <a:ext cx="1498601" cy="8890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201B17"/>
                </a:solidFill>
                <a:latin typeface="+mn-lt"/>
                <a:ea typeface="+mn-ea"/>
                <a:cs typeface="+mn-cs"/>
                <a:sym typeface="Arial"/>
              </a:rPr>
              <a:t>Colonising island</a:t>
            </a:r>
            <a:endParaRPr sz="1800">
              <a:solidFill>
                <a:srgbClr val="201B17"/>
              </a:solidFill>
              <a:latin typeface="+mn-lt"/>
              <a:ea typeface="+mn-ea"/>
              <a:cs typeface="+mn-cs"/>
              <a:sym typeface="Arial"/>
            </a:endParaRPr>
          </a:p>
          <a:p>
            <a:pPr algn="ct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201B17"/>
                </a:solidFill>
                <a:latin typeface="+mn-lt"/>
                <a:ea typeface="+mn-ea"/>
                <a:cs typeface="+mn-cs"/>
                <a:sym typeface="Arial"/>
              </a:rPr>
              <a:t>population</a:t>
            </a:r>
          </a:p>
        </p:txBody>
      </p:sp>
      <p:grpSp>
        <p:nvGrpSpPr>
          <p:cNvPr id="1909" name="Group 1909"/>
          <p:cNvGrpSpPr/>
          <p:nvPr/>
        </p:nvGrpSpPr>
        <p:grpSpPr>
          <a:xfrm>
            <a:off x="12193170" y="5198984"/>
            <a:ext cx="763666" cy="815852"/>
            <a:chOff x="0" y="0"/>
            <a:chExt cx="763665" cy="815851"/>
          </a:xfrm>
        </p:grpSpPr>
        <p:pic>
          <p:nvPicPr>
            <p:cNvPr id="1907" name="LB-orange1.png"/>
            <p:cNvPicPr>
              <a:picLocks noChangeAspect="1"/>
            </p:cNvPicPr>
            <p:nvPr/>
          </p:nvPicPr>
          <p:blipFill>
            <a:blip r:embed="rId3">
              <a:extLst/>
            </a:blip>
            <a:stretch>
              <a:fillRect/>
            </a:stretch>
          </p:blipFill>
          <p:spPr>
            <a:xfrm rot="4668682">
              <a:off x="32582" y="92725"/>
              <a:ext cx="698501" cy="630402"/>
            </a:xfrm>
            <a:prstGeom prst="rect">
              <a:avLst/>
            </a:prstGeom>
            <a:ln w="25400" cap="flat">
              <a:noFill/>
              <a:miter lim="400000"/>
            </a:ln>
            <a:effectLst>
              <a:outerShdw blurRad="127000" dist="190500" dir="2700000" rotWithShape="0">
                <a:srgbClr val="000000">
                  <a:alpha val="50000"/>
                </a:srgbClr>
              </a:outerShdw>
            </a:effectLst>
          </p:spPr>
        </p:pic>
        <p:sp>
          <p:nvSpPr>
            <p:cNvPr id="1908" name="Shape 1908"/>
            <p:cNvSpPr/>
            <p:nvPr/>
          </p:nvSpPr>
          <p:spPr>
            <a:xfrm>
              <a:off x="336348" y="269949"/>
              <a:ext cx="244552"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grpSp>
      <p:sp>
        <p:nvSpPr>
          <p:cNvPr id="1910" name="Shape 1910"/>
          <p:cNvSpPr/>
          <p:nvPr/>
        </p:nvSpPr>
        <p:spPr>
          <a:xfrm>
            <a:off x="9588500" y="2743200"/>
            <a:ext cx="2616200" cy="1173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a:solidFill>
                  <a:srgbClr val="201B17"/>
                </a:solidFill>
              </a:defRPr>
            </a:lvl1pPr>
          </a:lstStyle>
          <a:p>
            <a:pPr>
              <a:defRPr>
                <a:solidFill>
                  <a:srgbClr val="483F36"/>
                </a:solidFill>
              </a:defRPr>
            </a:pPr>
            <a:r>
              <a:rPr>
                <a:solidFill>
                  <a:srgbClr val="201B17"/>
                </a:solidFill>
              </a:rPr>
              <a:t>This population may not have the same allele frequencies as the mainland population</a:t>
            </a:r>
          </a:p>
        </p:txBody>
      </p:sp>
      <p:sp>
        <p:nvSpPr>
          <p:cNvPr id="1911" name="Shape 1911"/>
          <p:cNvSpPr/>
          <p:nvPr/>
        </p:nvSpPr>
        <p:spPr>
          <a:xfrm>
            <a:off x="6223000" y="2870200"/>
            <a:ext cx="2273300" cy="20880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a:solidFill>
                  <a:srgbClr val="201B17"/>
                </a:solidFill>
              </a:defRPr>
            </a:lvl1pPr>
          </a:lstStyle>
          <a:p>
            <a:pPr>
              <a:defRPr>
                <a:solidFill>
                  <a:srgbClr val="483F36"/>
                </a:solidFill>
              </a:defRPr>
            </a:pPr>
            <a:r>
              <a:rPr>
                <a:solidFill>
                  <a:srgbClr val="201B17"/>
                </a:solidFill>
              </a:rPr>
              <a:t>Some individuals from the mainland population are carried at random to the offshore island by natural forces such as strong winds</a:t>
            </a:r>
          </a:p>
        </p:txBody>
      </p:sp>
      <p:sp>
        <p:nvSpPr>
          <p:cNvPr id="1912" name="Shape 1912"/>
          <p:cNvSpPr/>
          <p:nvPr/>
        </p:nvSpPr>
        <p:spPr>
          <a:xfrm>
            <a:off x="10706100" y="5765800"/>
            <a:ext cx="310431" cy="1397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13" name="Shape 1913"/>
          <p:cNvSpPr/>
          <p:nvPr/>
        </p:nvSpPr>
        <p:spPr>
          <a:xfrm>
            <a:off x="12458700" y="5524500"/>
            <a:ext cx="289347" cy="1397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grpSp>
        <p:nvGrpSpPr>
          <p:cNvPr id="2006" name="Group 2006"/>
          <p:cNvGrpSpPr/>
          <p:nvPr/>
        </p:nvGrpSpPr>
        <p:grpSpPr>
          <a:xfrm>
            <a:off x="6741799" y="5370600"/>
            <a:ext cx="6148597" cy="4344881"/>
            <a:chOff x="0" y="0"/>
            <a:chExt cx="6148595" cy="4344879"/>
          </a:xfrm>
        </p:grpSpPr>
        <p:pic>
          <p:nvPicPr>
            <p:cNvPr id="1914" name="LB-red1.png"/>
            <p:cNvPicPr>
              <a:picLocks noChangeAspect="1"/>
            </p:cNvPicPr>
            <p:nvPr/>
          </p:nvPicPr>
          <p:blipFill>
            <a:blip r:embed="rId4">
              <a:extLst/>
            </a:blip>
            <a:stretch>
              <a:fillRect/>
            </a:stretch>
          </p:blipFill>
          <p:spPr>
            <a:xfrm rot="487806" flipH="1">
              <a:off x="2316697" y="1756742"/>
              <a:ext cx="687521" cy="630593"/>
            </a:xfrm>
            <a:prstGeom prst="rect">
              <a:avLst/>
            </a:prstGeom>
            <a:ln w="12700" cap="flat">
              <a:noFill/>
              <a:miter lim="400000"/>
            </a:ln>
            <a:effectLst/>
          </p:spPr>
        </p:pic>
        <p:sp>
          <p:nvSpPr>
            <p:cNvPr id="1915" name="Shape 1915"/>
            <p:cNvSpPr/>
            <p:nvPr/>
          </p:nvSpPr>
          <p:spPr>
            <a:xfrm>
              <a:off x="2573551" y="1931236"/>
              <a:ext cx="244551"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16" name="LB-red1.png"/>
            <p:cNvPicPr>
              <a:picLocks noChangeAspect="1"/>
            </p:cNvPicPr>
            <p:nvPr/>
          </p:nvPicPr>
          <p:blipFill>
            <a:blip r:embed="rId4">
              <a:extLst/>
            </a:blip>
            <a:stretch>
              <a:fillRect/>
            </a:stretch>
          </p:blipFill>
          <p:spPr>
            <a:xfrm>
              <a:off x="5244285" y="620580"/>
              <a:ext cx="687521" cy="630593"/>
            </a:xfrm>
            <a:prstGeom prst="rect">
              <a:avLst/>
            </a:prstGeom>
            <a:ln w="12700" cap="flat">
              <a:noFill/>
              <a:miter lim="400000"/>
            </a:ln>
            <a:effectLst/>
          </p:spPr>
        </p:pic>
        <p:sp>
          <p:nvSpPr>
            <p:cNvPr id="1917" name="Shape 1917"/>
            <p:cNvSpPr/>
            <p:nvPr/>
          </p:nvSpPr>
          <p:spPr>
            <a:xfrm>
              <a:off x="5473858" y="707115"/>
              <a:ext cx="244552"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18" name="LB-orange1.png"/>
            <p:cNvPicPr>
              <a:picLocks noChangeAspect="1"/>
            </p:cNvPicPr>
            <p:nvPr/>
          </p:nvPicPr>
          <p:blipFill>
            <a:blip r:embed="rId3">
              <a:extLst/>
            </a:blip>
            <a:stretch>
              <a:fillRect/>
            </a:stretch>
          </p:blipFill>
          <p:spPr>
            <a:xfrm flipH="1">
              <a:off x="5303273" y="1996118"/>
              <a:ext cx="698501" cy="630402"/>
            </a:xfrm>
            <a:prstGeom prst="rect">
              <a:avLst/>
            </a:prstGeom>
            <a:ln w="12700" cap="flat">
              <a:noFill/>
              <a:miter lim="400000"/>
            </a:ln>
            <a:effectLst/>
          </p:spPr>
        </p:pic>
        <p:sp>
          <p:nvSpPr>
            <p:cNvPr id="1919" name="Shape 1919"/>
            <p:cNvSpPr/>
            <p:nvPr/>
          </p:nvSpPr>
          <p:spPr>
            <a:xfrm>
              <a:off x="5533766" y="2093855"/>
              <a:ext cx="244552"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20" name="LB-drab1.png"/>
            <p:cNvPicPr>
              <a:picLocks noChangeAspect="1"/>
            </p:cNvPicPr>
            <p:nvPr/>
          </p:nvPicPr>
          <p:blipFill>
            <a:blip r:embed="rId5">
              <a:extLst/>
            </a:blip>
            <a:stretch>
              <a:fillRect/>
            </a:stretch>
          </p:blipFill>
          <p:spPr>
            <a:xfrm rot="16878594">
              <a:off x="1550640" y="1982288"/>
              <a:ext cx="710904" cy="651279"/>
            </a:xfrm>
            <a:prstGeom prst="rect">
              <a:avLst/>
            </a:prstGeom>
            <a:ln w="12700" cap="flat">
              <a:noFill/>
              <a:miter lim="400000"/>
            </a:ln>
            <a:effectLst/>
          </p:spPr>
        </p:pic>
        <p:sp>
          <p:nvSpPr>
            <p:cNvPr id="1921" name="Shape 1921"/>
            <p:cNvSpPr/>
            <p:nvPr/>
          </p:nvSpPr>
          <p:spPr>
            <a:xfrm>
              <a:off x="1710335" y="2156284"/>
              <a:ext cx="244552"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22" name="LB-drab1.png"/>
            <p:cNvPicPr>
              <a:picLocks noChangeAspect="1"/>
            </p:cNvPicPr>
            <p:nvPr/>
          </p:nvPicPr>
          <p:blipFill>
            <a:blip r:embed="rId5">
              <a:extLst/>
            </a:blip>
            <a:stretch>
              <a:fillRect/>
            </a:stretch>
          </p:blipFill>
          <p:spPr>
            <a:xfrm>
              <a:off x="5229536" y="1274635"/>
              <a:ext cx="710904" cy="651280"/>
            </a:xfrm>
            <a:prstGeom prst="rect">
              <a:avLst/>
            </a:prstGeom>
            <a:ln w="12700" cap="flat">
              <a:noFill/>
              <a:miter lim="400000"/>
            </a:ln>
            <a:effectLst/>
          </p:spPr>
        </p:pic>
        <p:sp>
          <p:nvSpPr>
            <p:cNvPr id="1923" name="Shape 1923"/>
            <p:cNvSpPr/>
            <p:nvPr/>
          </p:nvSpPr>
          <p:spPr>
            <a:xfrm>
              <a:off x="5465135" y="1363796"/>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24" name="LB-orange1.png"/>
            <p:cNvPicPr>
              <a:picLocks noChangeAspect="1"/>
            </p:cNvPicPr>
            <p:nvPr/>
          </p:nvPicPr>
          <p:blipFill>
            <a:blip r:embed="rId3">
              <a:extLst/>
            </a:blip>
            <a:stretch>
              <a:fillRect/>
            </a:stretch>
          </p:blipFill>
          <p:spPr>
            <a:xfrm rot="5861765" flipH="1">
              <a:off x="4579372" y="332418"/>
              <a:ext cx="698501" cy="630402"/>
            </a:xfrm>
            <a:prstGeom prst="rect">
              <a:avLst/>
            </a:prstGeom>
            <a:ln w="12700" cap="flat">
              <a:noFill/>
              <a:miter lim="400000"/>
            </a:ln>
            <a:effectLst/>
          </p:spPr>
        </p:pic>
        <p:sp>
          <p:nvSpPr>
            <p:cNvPr id="1925" name="Shape 1925"/>
            <p:cNvSpPr/>
            <p:nvPr/>
          </p:nvSpPr>
          <p:spPr>
            <a:xfrm>
              <a:off x="4882557" y="522087"/>
              <a:ext cx="244552"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26" name="LB-red1.png"/>
            <p:cNvPicPr>
              <a:picLocks noChangeAspect="1"/>
            </p:cNvPicPr>
            <p:nvPr/>
          </p:nvPicPr>
          <p:blipFill>
            <a:blip r:embed="rId4">
              <a:extLst/>
            </a:blip>
            <a:stretch>
              <a:fillRect/>
            </a:stretch>
          </p:blipFill>
          <p:spPr>
            <a:xfrm rot="10199520" flipH="1">
              <a:off x="3802597" y="54942"/>
              <a:ext cx="687521" cy="630593"/>
            </a:xfrm>
            <a:prstGeom prst="rect">
              <a:avLst/>
            </a:prstGeom>
            <a:ln w="12700" cap="flat">
              <a:noFill/>
              <a:miter lim="400000"/>
            </a:ln>
            <a:effectLst/>
          </p:spPr>
        </p:pic>
        <p:sp>
          <p:nvSpPr>
            <p:cNvPr id="1927" name="Shape 1927"/>
            <p:cNvSpPr/>
            <p:nvPr/>
          </p:nvSpPr>
          <p:spPr>
            <a:xfrm>
              <a:off x="4037643" y="338001"/>
              <a:ext cx="244552"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28" name="LB-drab1.png"/>
            <p:cNvPicPr>
              <a:picLocks noChangeAspect="1"/>
            </p:cNvPicPr>
            <p:nvPr/>
          </p:nvPicPr>
          <p:blipFill>
            <a:blip r:embed="rId5">
              <a:extLst/>
            </a:blip>
            <a:stretch>
              <a:fillRect/>
            </a:stretch>
          </p:blipFill>
          <p:spPr>
            <a:xfrm rot="17477840">
              <a:off x="4649441" y="1740988"/>
              <a:ext cx="710904" cy="651280"/>
            </a:xfrm>
            <a:prstGeom prst="rect">
              <a:avLst/>
            </a:prstGeom>
            <a:ln w="12700" cap="flat">
              <a:noFill/>
              <a:miter lim="400000"/>
            </a:ln>
            <a:effectLst/>
          </p:spPr>
        </p:pic>
        <p:sp>
          <p:nvSpPr>
            <p:cNvPr id="1929" name="Shape 1929"/>
            <p:cNvSpPr/>
            <p:nvPr/>
          </p:nvSpPr>
          <p:spPr>
            <a:xfrm>
              <a:off x="4782669" y="1915457"/>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30" name="LB-orange1.png"/>
            <p:cNvPicPr>
              <a:picLocks noChangeAspect="1"/>
            </p:cNvPicPr>
            <p:nvPr/>
          </p:nvPicPr>
          <p:blipFill>
            <a:blip r:embed="rId3">
              <a:extLst/>
            </a:blip>
            <a:stretch>
              <a:fillRect/>
            </a:stretch>
          </p:blipFill>
          <p:spPr>
            <a:xfrm rot="6506097" flipH="1">
              <a:off x="3296672" y="2720018"/>
              <a:ext cx="698501" cy="630403"/>
            </a:xfrm>
            <a:prstGeom prst="rect">
              <a:avLst/>
            </a:prstGeom>
            <a:ln w="12700" cap="flat">
              <a:noFill/>
              <a:miter lim="400000"/>
            </a:ln>
            <a:effectLst/>
          </p:spPr>
        </p:pic>
        <p:sp>
          <p:nvSpPr>
            <p:cNvPr id="1931" name="Shape 1931"/>
            <p:cNvSpPr/>
            <p:nvPr/>
          </p:nvSpPr>
          <p:spPr>
            <a:xfrm>
              <a:off x="3616019" y="2930433"/>
              <a:ext cx="244552"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32" name="LB-orange1.png"/>
            <p:cNvPicPr>
              <a:picLocks noChangeAspect="1"/>
            </p:cNvPicPr>
            <p:nvPr/>
          </p:nvPicPr>
          <p:blipFill>
            <a:blip r:embed="rId3">
              <a:extLst/>
            </a:blip>
            <a:stretch>
              <a:fillRect/>
            </a:stretch>
          </p:blipFill>
          <p:spPr>
            <a:xfrm rot="13745137" flipH="1">
              <a:off x="4515873" y="954718"/>
              <a:ext cx="698501" cy="630403"/>
            </a:xfrm>
            <a:prstGeom prst="rect">
              <a:avLst/>
            </a:prstGeom>
            <a:ln w="12700" cap="flat">
              <a:noFill/>
              <a:miter lim="400000"/>
            </a:ln>
            <a:effectLst/>
          </p:spPr>
        </p:pic>
        <p:sp>
          <p:nvSpPr>
            <p:cNvPr id="1933" name="Shape 1933"/>
            <p:cNvSpPr/>
            <p:nvPr/>
          </p:nvSpPr>
          <p:spPr>
            <a:xfrm>
              <a:off x="4688081" y="1173082"/>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34" name="LB-orange1.png"/>
            <p:cNvPicPr>
              <a:picLocks noChangeAspect="1"/>
            </p:cNvPicPr>
            <p:nvPr/>
          </p:nvPicPr>
          <p:blipFill>
            <a:blip r:embed="rId3">
              <a:extLst/>
            </a:blip>
            <a:stretch>
              <a:fillRect/>
            </a:stretch>
          </p:blipFill>
          <p:spPr>
            <a:xfrm rot="4484692" flipH="1">
              <a:off x="4624315" y="3354597"/>
              <a:ext cx="698501" cy="630403"/>
            </a:xfrm>
            <a:prstGeom prst="rect">
              <a:avLst/>
            </a:prstGeom>
            <a:ln w="12700" cap="flat">
              <a:noFill/>
              <a:miter lim="400000"/>
            </a:ln>
            <a:effectLst/>
          </p:spPr>
        </p:pic>
        <p:sp>
          <p:nvSpPr>
            <p:cNvPr id="1935" name="Shape 1935"/>
            <p:cNvSpPr/>
            <p:nvPr/>
          </p:nvSpPr>
          <p:spPr>
            <a:xfrm>
              <a:off x="4930537" y="3542387"/>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36" name="LB-orange1.png"/>
            <p:cNvPicPr>
              <a:picLocks noChangeAspect="1"/>
            </p:cNvPicPr>
            <p:nvPr/>
          </p:nvPicPr>
          <p:blipFill>
            <a:blip r:embed="rId3">
              <a:extLst/>
            </a:blip>
            <a:stretch>
              <a:fillRect/>
            </a:stretch>
          </p:blipFill>
          <p:spPr>
            <a:xfrm rot="7928255" flipH="1">
              <a:off x="3804673" y="1551617"/>
              <a:ext cx="698501" cy="630403"/>
            </a:xfrm>
            <a:prstGeom prst="rect">
              <a:avLst/>
            </a:prstGeom>
            <a:ln w="12700" cap="flat">
              <a:noFill/>
              <a:miter lim="400000"/>
            </a:ln>
            <a:effectLst/>
          </p:spPr>
        </p:pic>
        <p:sp>
          <p:nvSpPr>
            <p:cNvPr id="1937" name="Shape 1937"/>
            <p:cNvSpPr/>
            <p:nvPr/>
          </p:nvSpPr>
          <p:spPr>
            <a:xfrm>
              <a:off x="4095455" y="1780844"/>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38" name="LB-red1.png"/>
            <p:cNvPicPr>
              <a:picLocks noChangeAspect="1"/>
            </p:cNvPicPr>
            <p:nvPr/>
          </p:nvPicPr>
          <p:blipFill>
            <a:blip r:embed="rId4">
              <a:extLst/>
            </a:blip>
            <a:stretch>
              <a:fillRect/>
            </a:stretch>
          </p:blipFill>
          <p:spPr>
            <a:xfrm rot="19234330" flipH="1">
              <a:off x="335498" y="2188542"/>
              <a:ext cx="687520" cy="630593"/>
            </a:xfrm>
            <a:prstGeom prst="rect">
              <a:avLst/>
            </a:prstGeom>
            <a:ln w="12700" cap="flat">
              <a:noFill/>
              <a:miter lim="400000"/>
            </a:ln>
            <a:effectLst/>
          </p:spPr>
        </p:pic>
        <p:sp>
          <p:nvSpPr>
            <p:cNvPr id="1939" name="Shape 1939"/>
            <p:cNvSpPr/>
            <p:nvPr/>
          </p:nvSpPr>
          <p:spPr>
            <a:xfrm>
              <a:off x="503451" y="2324936"/>
              <a:ext cx="244551"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40" name="LB-red1.png"/>
            <p:cNvPicPr>
              <a:picLocks noChangeAspect="1"/>
            </p:cNvPicPr>
            <p:nvPr/>
          </p:nvPicPr>
          <p:blipFill>
            <a:blip r:embed="rId4">
              <a:extLst/>
            </a:blip>
            <a:stretch>
              <a:fillRect/>
            </a:stretch>
          </p:blipFill>
          <p:spPr>
            <a:xfrm rot="17666636" flipH="1">
              <a:off x="3294598" y="842342"/>
              <a:ext cx="687521" cy="630593"/>
            </a:xfrm>
            <a:prstGeom prst="rect">
              <a:avLst/>
            </a:prstGeom>
            <a:ln w="12700" cap="flat">
              <a:noFill/>
              <a:miter lim="400000"/>
            </a:ln>
            <a:effectLst/>
          </p:spPr>
        </p:pic>
        <p:sp>
          <p:nvSpPr>
            <p:cNvPr id="1941" name="Shape 1941"/>
            <p:cNvSpPr/>
            <p:nvPr/>
          </p:nvSpPr>
          <p:spPr>
            <a:xfrm>
              <a:off x="3398793" y="995067"/>
              <a:ext cx="244551"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42" name="LB-red1.png"/>
            <p:cNvPicPr>
              <a:picLocks noChangeAspect="1"/>
            </p:cNvPicPr>
            <p:nvPr/>
          </p:nvPicPr>
          <p:blipFill>
            <a:blip r:embed="rId4">
              <a:extLst/>
            </a:blip>
            <a:stretch>
              <a:fillRect/>
            </a:stretch>
          </p:blipFill>
          <p:spPr>
            <a:xfrm flipH="1">
              <a:off x="4667995" y="2483892"/>
              <a:ext cx="687521" cy="630592"/>
            </a:xfrm>
            <a:prstGeom prst="rect">
              <a:avLst/>
            </a:prstGeom>
            <a:ln w="12700" cap="flat">
              <a:noFill/>
              <a:miter lim="400000"/>
            </a:ln>
            <a:effectLst/>
          </p:spPr>
        </p:pic>
        <p:sp>
          <p:nvSpPr>
            <p:cNvPr id="1943" name="Shape 1943"/>
            <p:cNvSpPr/>
            <p:nvPr/>
          </p:nvSpPr>
          <p:spPr>
            <a:xfrm>
              <a:off x="4901159" y="2595827"/>
              <a:ext cx="244552"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483F36"/>
                  </a:solidFill>
                </a:defRPr>
              </a:pPr>
              <a:endParaRPr/>
            </a:p>
          </p:txBody>
        </p:sp>
        <p:pic>
          <p:nvPicPr>
            <p:cNvPr id="1944" name="LB-red1.png"/>
            <p:cNvPicPr>
              <a:picLocks noChangeAspect="1"/>
            </p:cNvPicPr>
            <p:nvPr/>
          </p:nvPicPr>
          <p:blipFill>
            <a:blip r:embed="rId4">
              <a:extLst/>
            </a:blip>
            <a:stretch>
              <a:fillRect/>
            </a:stretch>
          </p:blipFill>
          <p:spPr>
            <a:xfrm flipH="1">
              <a:off x="4109195" y="3042692"/>
              <a:ext cx="687521" cy="630592"/>
            </a:xfrm>
            <a:prstGeom prst="rect">
              <a:avLst/>
            </a:prstGeom>
            <a:ln w="12700" cap="flat">
              <a:noFill/>
              <a:miter lim="400000"/>
            </a:ln>
            <a:effectLst/>
          </p:spPr>
        </p:pic>
        <p:sp>
          <p:nvSpPr>
            <p:cNvPr id="1945" name="Shape 1945"/>
            <p:cNvSpPr/>
            <p:nvPr/>
          </p:nvSpPr>
          <p:spPr>
            <a:xfrm>
              <a:off x="4337184" y="3129486"/>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46" name="LB-red1.png"/>
            <p:cNvPicPr>
              <a:picLocks noChangeAspect="1"/>
            </p:cNvPicPr>
            <p:nvPr/>
          </p:nvPicPr>
          <p:blipFill>
            <a:blip r:embed="rId4">
              <a:extLst/>
            </a:blip>
            <a:stretch>
              <a:fillRect/>
            </a:stretch>
          </p:blipFill>
          <p:spPr>
            <a:xfrm rot="7143276" flipH="1">
              <a:off x="2469097" y="829642"/>
              <a:ext cx="687521" cy="630592"/>
            </a:xfrm>
            <a:prstGeom prst="rect">
              <a:avLst/>
            </a:prstGeom>
            <a:ln w="12700" cap="flat">
              <a:noFill/>
              <a:miter lim="400000"/>
            </a:ln>
            <a:effectLst/>
          </p:spPr>
        </p:pic>
        <p:sp>
          <p:nvSpPr>
            <p:cNvPr id="1947" name="Shape 1947"/>
            <p:cNvSpPr/>
            <p:nvPr/>
          </p:nvSpPr>
          <p:spPr>
            <a:xfrm>
              <a:off x="2756058" y="1050015"/>
              <a:ext cx="244552"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48" name="LB-red1.png"/>
            <p:cNvPicPr>
              <a:picLocks noChangeAspect="1"/>
            </p:cNvPicPr>
            <p:nvPr/>
          </p:nvPicPr>
          <p:blipFill>
            <a:blip r:embed="rId4">
              <a:extLst/>
            </a:blip>
            <a:stretch>
              <a:fillRect/>
            </a:stretch>
          </p:blipFill>
          <p:spPr>
            <a:xfrm rot="2147338" flipH="1">
              <a:off x="3791695" y="3537991"/>
              <a:ext cx="687521" cy="630593"/>
            </a:xfrm>
            <a:prstGeom prst="rect">
              <a:avLst/>
            </a:prstGeom>
            <a:ln w="12700" cap="flat">
              <a:noFill/>
              <a:miter lim="400000"/>
            </a:ln>
            <a:effectLst/>
          </p:spPr>
        </p:pic>
        <p:sp>
          <p:nvSpPr>
            <p:cNvPr id="1949" name="Shape 1949"/>
            <p:cNvSpPr/>
            <p:nvPr/>
          </p:nvSpPr>
          <p:spPr>
            <a:xfrm>
              <a:off x="4071893" y="3649368"/>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50" name="LB-orange1.png"/>
            <p:cNvPicPr>
              <a:picLocks noChangeAspect="1"/>
            </p:cNvPicPr>
            <p:nvPr/>
          </p:nvPicPr>
          <p:blipFill>
            <a:blip r:embed="rId3">
              <a:extLst/>
            </a:blip>
            <a:stretch>
              <a:fillRect/>
            </a:stretch>
          </p:blipFill>
          <p:spPr>
            <a:xfrm flipH="1">
              <a:off x="1099573" y="1335718"/>
              <a:ext cx="698501" cy="630402"/>
            </a:xfrm>
            <a:prstGeom prst="rect">
              <a:avLst/>
            </a:prstGeom>
            <a:ln w="12700" cap="flat">
              <a:noFill/>
              <a:miter lim="400000"/>
            </a:ln>
            <a:effectLst/>
          </p:spPr>
        </p:pic>
        <p:sp>
          <p:nvSpPr>
            <p:cNvPr id="1951" name="Shape 1951"/>
            <p:cNvSpPr/>
            <p:nvPr/>
          </p:nvSpPr>
          <p:spPr>
            <a:xfrm>
              <a:off x="1317366" y="1446155"/>
              <a:ext cx="244552"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52" name="LB-drab1.png"/>
            <p:cNvPicPr>
              <a:picLocks noChangeAspect="1"/>
            </p:cNvPicPr>
            <p:nvPr/>
          </p:nvPicPr>
          <p:blipFill>
            <a:blip r:embed="rId5">
              <a:extLst/>
            </a:blip>
            <a:stretch>
              <a:fillRect/>
            </a:stretch>
          </p:blipFill>
          <p:spPr>
            <a:xfrm rot="11727674">
              <a:off x="950927" y="462583"/>
              <a:ext cx="698501" cy="639917"/>
            </a:xfrm>
            <a:prstGeom prst="rect">
              <a:avLst/>
            </a:prstGeom>
            <a:ln w="12700" cap="flat">
              <a:noFill/>
              <a:miter lim="400000"/>
            </a:ln>
            <a:effectLst/>
          </p:spPr>
        </p:pic>
        <p:sp>
          <p:nvSpPr>
            <p:cNvPr id="1953" name="Shape 1953"/>
            <p:cNvSpPr/>
            <p:nvPr/>
          </p:nvSpPr>
          <p:spPr>
            <a:xfrm>
              <a:off x="1164235" y="810084"/>
              <a:ext cx="244552"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54" name="LB-drab1.png"/>
            <p:cNvPicPr>
              <a:picLocks noChangeAspect="1"/>
            </p:cNvPicPr>
            <p:nvPr/>
          </p:nvPicPr>
          <p:blipFill>
            <a:blip r:embed="rId5">
              <a:extLst/>
            </a:blip>
            <a:stretch>
              <a:fillRect/>
            </a:stretch>
          </p:blipFill>
          <p:spPr>
            <a:xfrm rot="2699998">
              <a:off x="3061940" y="1537788"/>
              <a:ext cx="710904" cy="651279"/>
            </a:xfrm>
            <a:prstGeom prst="rect">
              <a:avLst/>
            </a:prstGeom>
            <a:ln w="12700" cap="flat">
              <a:noFill/>
              <a:miter lim="400000"/>
            </a:ln>
            <a:effectLst/>
          </p:spPr>
        </p:pic>
        <p:sp>
          <p:nvSpPr>
            <p:cNvPr id="1955" name="Shape 1955"/>
            <p:cNvSpPr/>
            <p:nvPr/>
          </p:nvSpPr>
          <p:spPr>
            <a:xfrm>
              <a:off x="3369634" y="1693996"/>
              <a:ext cx="244552"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56" name="LB-orange1.png"/>
            <p:cNvPicPr>
              <a:picLocks noChangeAspect="1"/>
            </p:cNvPicPr>
            <p:nvPr/>
          </p:nvPicPr>
          <p:blipFill>
            <a:blip r:embed="rId3">
              <a:extLst/>
            </a:blip>
            <a:stretch>
              <a:fillRect/>
            </a:stretch>
          </p:blipFill>
          <p:spPr>
            <a:xfrm flipH="1">
              <a:off x="1836173" y="624518"/>
              <a:ext cx="698501" cy="630402"/>
            </a:xfrm>
            <a:prstGeom prst="rect">
              <a:avLst/>
            </a:prstGeom>
            <a:ln w="12700" cap="flat">
              <a:noFill/>
              <a:miter lim="400000"/>
            </a:ln>
            <a:effectLst/>
          </p:spPr>
        </p:pic>
        <p:sp>
          <p:nvSpPr>
            <p:cNvPr id="1957" name="Shape 1957"/>
            <p:cNvSpPr/>
            <p:nvPr/>
          </p:nvSpPr>
          <p:spPr>
            <a:xfrm>
              <a:off x="2063157" y="725287"/>
              <a:ext cx="244552"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58" name="LB-red1.png"/>
            <p:cNvPicPr>
              <a:picLocks noChangeAspect="1"/>
            </p:cNvPicPr>
            <p:nvPr/>
          </p:nvPicPr>
          <p:blipFill>
            <a:blip r:embed="rId4">
              <a:extLst/>
            </a:blip>
            <a:stretch>
              <a:fillRect/>
            </a:stretch>
          </p:blipFill>
          <p:spPr>
            <a:xfrm rot="487806" flipH="1">
              <a:off x="2062697" y="2518742"/>
              <a:ext cx="687521" cy="630593"/>
            </a:xfrm>
            <a:prstGeom prst="rect">
              <a:avLst/>
            </a:prstGeom>
            <a:ln w="12700" cap="flat">
              <a:noFill/>
              <a:miter lim="400000"/>
            </a:ln>
            <a:effectLst/>
          </p:spPr>
        </p:pic>
        <p:sp>
          <p:nvSpPr>
            <p:cNvPr id="1959" name="Shape 1959"/>
            <p:cNvSpPr/>
            <p:nvPr/>
          </p:nvSpPr>
          <p:spPr>
            <a:xfrm>
              <a:off x="2297659" y="2621227"/>
              <a:ext cx="244552"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60" name="LB-red1.png"/>
            <p:cNvPicPr>
              <a:picLocks noChangeAspect="1"/>
            </p:cNvPicPr>
            <p:nvPr/>
          </p:nvPicPr>
          <p:blipFill>
            <a:blip r:embed="rId4">
              <a:extLst/>
            </a:blip>
            <a:stretch>
              <a:fillRect/>
            </a:stretch>
          </p:blipFill>
          <p:spPr>
            <a:xfrm rot="9056721">
              <a:off x="111616" y="466594"/>
              <a:ext cx="698501" cy="640663"/>
            </a:xfrm>
            <a:prstGeom prst="rect">
              <a:avLst/>
            </a:prstGeom>
            <a:ln w="12700" cap="flat">
              <a:noFill/>
              <a:miter lim="400000"/>
            </a:ln>
            <a:effectLst/>
          </p:spPr>
        </p:pic>
        <p:sp>
          <p:nvSpPr>
            <p:cNvPr id="1961" name="Shape 1961"/>
            <p:cNvSpPr/>
            <p:nvPr/>
          </p:nvSpPr>
          <p:spPr>
            <a:xfrm>
              <a:off x="367343" y="693601"/>
              <a:ext cx="244552"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62" name="LB-drab1.png"/>
            <p:cNvPicPr>
              <a:picLocks noChangeAspect="1"/>
            </p:cNvPicPr>
            <p:nvPr/>
          </p:nvPicPr>
          <p:blipFill>
            <a:blip r:embed="rId5">
              <a:extLst/>
            </a:blip>
            <a:stretch>
              <a:fillRect/>
            </a:stretch>
          </p:blipFill>
          <p:spPr>
            <a:xfrm rot="17477840">
              <a:off x="648941" y="2947488"/>
              <a:ext cx="710904" cy="651280"/>
            </a:xfrm>
            <a:prstGeom prst="rect">
              <a:avLst/>
            </a:prstGeom>
            <a:ln w="12700" cap="flat">
              <a:noFill/>
              <a:miter lim="400000"/>
            </a:ln>
            <a:effectLst/>
          </p:spPr>
        </p:pic>
        <p:sp>
          <p:nvSpPr>
            <p:cNvPr id="1963" name="Shape 1963"/>
            <p:cNvSpPr/>
            <p:nvPr/>
          </p:nvSpPr>
          <p:spPr>
            <a:xfrm>
              <a:off x="782169" y="3121957"/>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64" name="LB-orange1.png"/>
            <p:cNvPicPr>
              <a:picLocks noChangeAspect="1"/>
            </p:cNvPicPr>
            <p:nvPr/>
          </p:nvPicPr>
          <p:blipFill>
            <a:blip r:embed="rId3">
              <a:extLst/>
            </a:blip>
            <a:stretch>
              <a:fillRect/>
            </a:stretch>
          </p:blipFill>
          <p:spPr>
            <a:xfrm rot="9861465" flipH="1">
              <a:off x="2572773" y="3037518"/>
              <a:ext cx="698501" cy="630402"/>
            </a:xfrm>
            <a:prstGeom prst="rect">
              <a:avLst/>
            </a:prstGeom>
            <a:ln w="12700" cap="flat">
              <a:noFill/>
              <a:miter lim="400000"/>
            </a:ln>
            <a:effectLst/>
          </p:spPr>
        </p:pic>
        <p:sp>
          <p:nvSpPr>
            <p:cNvPr id="1965" name="Shape 1965"/>
            <p:cNvSpPr/>
            <p:nvPr/>
          </p:nvSpPr>
          <p:spPr>
            <a:xfrm>
              <a:off x="2795781" y="3230482"/>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66" name="LB-orange1.png"/>
            <p:cNvPicPr>
              <a:picLocks noChangeAspect="1"/>
            </p:cNvPicPr>
            <p:nvPr/>
          </p:nvPicPr>
          <p:blipFill>
            <a:blip r:embed="rId3">
              <a:extLst/>
            </a:blip>
            <a:stretch>
              <a:fillRect/>
            </a:stretch>
          </p:blipFill>
          <p:spPr>
            <a:xfrm flipH="1">
              <a:off x="1251973" y="3609018"/>
              <a:ext cx="698501" cy="630402"/>
            </a:xfrm>
            <a:prstGeom prst="rect">
              <a:avLst/>
            </a:prstGeom>
            <a:ln w="12700" cap="flat">
              <a:noFill/>
              <a:miter lim="400000"/>
            </a:ln>
            <a:effectLst/>
          </p:spPr>
        </p:pic>
        <p:sp>
          <p:nvSpPr>
            <p:cNvPr id="1967" name="Shape 1967"/>
            <p:cNvSpPr/>
            <p:nvPr/>
          </p:nvSpPr>
          <p:spPr>
            <a:xfrm>
              <a:off x="1476137" y="3720187"/>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68" name="LB-orange1.png"/>
            <p:cNvPicPr>
              <a:picLocks noChangeAspect="1"/>
            </p:cNvPicPr>
            <p:nvPr/>
          </p:nvPicPr>
          <p:blipFill>
            <a:blip r:embed="rId3">
              <a:extLst/>
            </a:blip>
            <a:stretch>
              <a:fillRect/>
            </a:stretch>
          </p:blipFill>
          <p:spPr>
            <a:xfrm rot="17926789">
              <a:off x="194700" y="1276822"/>
              <a:ext cx="698501" cy="630402"/>
            </a:xfrm>
            <a:prstGeom prst="rect">
              <a:avLst/>
            </a:prstGeom>
            <a:ln w="12700" cap="flat">
              <a:noFill/>
              <a:miter lim="400000"/>
            </a:ln>
            <a:effectLst/>
          </p:spPr>
        </p:pic>
        <p:sp>
          <p:nvSpPr>
            <p:cNvPr id="1969" name="Shape 1969"/>
            <p:cNvSpPr/>
            <p:nvPr/>
          </p:nvSpPr>
          <p:spPr>
            <a:xfrm>
              <a:off x="336255" y="1463344"/>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70" name="LB-drab1.png"/>
            <p:cNvPicPr>
              <a:picLocks noChangeAspect="1"/>
            </p:cNvPicPr>
            <p:nvPr/>
          </p:nvPicPr>
          <p:blipFill>
            <a:blip r:embed="rId5">
              <a:extLst/>
            </a:blip>
            <a:stretch>
              <a:fillRect/>
            </a:stretch>
          </p:blipFill>
          <p:spPr>
            <a:xfrm rot="17477840">
              <a:off x="2058641" y="3569788"/>
              <a:ext cx="710904" cy="651280"/>
            </a:xfrm>
            <a:prstGeom prst="rect">
              <a:avLst/>
            </a:prstGeom>
            <a:ln w="12700" cap="flat">
              <a:noFill/>
              <a:miter lim="400000"/>
            </a:ln>
            <a:effectLst/>
          </p:spPr>
        </p:pic>
        <p:sp>
          <p:nvSpPr>
            <p:cNvPr id="1971" name="Shape 1971"/>
            <p:cNvSpPr/>
            <p:nvPr/>
          </p:nvSpPr>
          <p:spPr>
            <a:xfrm>
              <a:off x="2191869" y="3744257"/>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72" name="LB-red1.png"/>
            <p:cNvPicPr>
              <a:picLocks noChangeAspect="1"/>
            </p:cNvPicPr>
            <p:nvPr/>
          </p:nvPicPr>
          <p:blipFill>
            <a:blip r:embed="rId4">
              <a:extLst/>
            </a:blip>
            <a:stretch>
              <a:fillRect/>
            </a:stretch>
          </p:blipFill>
          <p:spPr>
            <a:xfrm rot="16687804" flipH="1">
              <a:off x="195797" y="3585542"/>
              <a:ext cx="687521" cy="630593"/>
            </a:xfrm>
            <a:prstGeom prst="rect">
              <a:avLst/>
            </a:prstGeom>
            <a:ln w="12700" cap="flat">
              <a:noFill/>
              <a:miter lim="400000"/>
            </a:ln>
            <a:effectLst/>
          </p:spPr>
        </p:pic>
        <p:sp>
          <p:nvSpPr>
            <p:cNvPr id="1973" name="Shape 1973"/>
            <p:cNvSpPr/>
            <p:nvPr/>
          </p:nvSpPr>
          <p:spPr>
            <a:xfrm>
              <a:off x="325651" y="3772736"/>
              <a:ext cx="244551"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1974" name="LB-drab1.png"/>
            <p:cNvPicPr>
              <a:picLocks noChangeAspect="1"/>
            </p:cNvPicPr>
            <p:nvPr/>
          </p:nvPicPr>
          <p:blipFill>
            <a:blip r:embed="rId5">
              <a:extLst/>
            </a:blip>
            <a:stretch>
              <a:fillRect/>
            </a:stretch>
          </p:blipFill>
          <p:spPr>
            <a:xfrm rot="17477840">
              <a:off x="5360641" y="3391988"/>
              <a:ext cx="710904" cy="651280"/>
            </a:xfrm>
            <a:prstGeom prst="rect">
              <a:avLst/>
            </a:prstGeom>
            <a:ln w="12700" cap="flat">
              <a:noFill/>
              <a:miter lim="400000"/>
            </a:ln>
            <a:effectLst/>
          </p:spPr>
        </p:pic>
        <p:sp>
          <p:nvSpPr>
            <p:cNvPr id="1975" name="Shape 1975"/>
            <p:cNvSpPr/>
            <p:nvPr/>
          </p:nvSpPr>
          <p:spPr>
            <a:xfrm>
              <a:off x="5493869" y="3566457"/>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sp>
          <p:nvSpPr>
            <p:cNvPr id="1976" name="Shape 1976"/>
            <p:cNvSpPr/>
            <p:nvPr/>
          </p:nvSpPr>
          <p:spPr>
            <a:xfrm>
              <a:off x="230500" y="750799"/>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77" name="Shape 1977"/>
            <p:cNvSpPr/>
            <p:nvPr/>
          </p:nvSpPr>
          <p:spPr>
            <a:xfrm>
              <a:off x="268600" y="1512799"/>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78" name="Shape 1978"/>
            <p:cNvSpPr/>
            <p:nvPr/>
          </p:nvSpPr>
          <p:spPr>
            <a:xfrm>
              <a:off x="1106800" y="865099"/>
              <a:ext cx="268264"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79" name="Shape 1979"/>
            <p:cNvSpPr/>
            <p:nvPr/>
          </p:nvSpPr>
          <p:spPr>
            <a:xfrm>
              <a:off x="408300" y="2376399"/>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80" name="Shape 1980"/>
            <p:cNvSpPr/>
            <p:nvPr/>
          </p:nvSpPr>
          <p:spPr>
            <a:xfrm>
              <a:off x="255900" y="3824199"/>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81" name="Shape 1981"/>
            <p:cNvSpPr/>
            <p:nvPr/>
          </p:nvSpPr>
          <p:spPr>
            <a:xfrm>
              <a:off x="2224400" y="2681199"/>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82" name="Shape 1982"/>
            <p:cNvSpPr/>
            <p:nvPr/>
          </p:nvSpPr>
          <p:spPr>
            <a:xfrm>
              <a:off x="2503800" y="1982699"/>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83" name="Shape 1983"/>
            <p:cNvSpPr/>
            <p:nvPr/>
          </p:nvSpPr>
          <p:spPr>
            <a:xfrm>
              <a:off x="2681600" y="1106399"/>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84" name="Shape 1984"/>
            <p:cNvSpPr/>
            <p:nvPr/>
          </p:nvSpPr>
          <p:spPr>
            <a:xfrm>
              <a:off x="3329300" y="1042899"/>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85" name="Shape 1985"/>
            <p:cNvSpPr/>
            <p:nvPr/>
          </p:nvSpPr>
          <p:spPr>
            <a:xfrm>
              <a:off x="5399400" y="763499"/>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86" name="Shape 1986"/>
            <p:cNvSpPr/>
            <p:nvPr/>
          </p:nvSpPr>
          <p:spPr>
            <a:xfrm>
              <a:off x="4827900" y="2655799"/>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87" name="Shape 1987"/>
            <p:cNvSpPr/>
            <p:nvPr/>
          </p:nvSpPr>
          <p:spPr>
            <a:xfrm>
              <a:off x="4269100" y="3189199"/>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88" name="Shape 1988"/>
            <p:cNvSpPr/>
            <p:nvPr/>
          </p:nvSpPr>
          <p:spPr>
            <a:xfrm>
              <a:off x="4002400" y="3697199"/>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89" name="Shape 1989"/>
            <p:cNvSpPr/>
            <p:nvPr/>
          </p:nvSpPr>
          <p:spPr>
            <a:xfrm>
              <a:off x="1246500" y="1500099"/>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90" name="Shape 1990"/>
            <p:cNvSpPr/>
            <p:nvPr/>
          </p:nvSpPr>
          <p:spPr>
            <a:xfrm>
              <a:off x="1995800" y="776199"/>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91" name="Shape 1991"/>
            <p:cNvSpPr/>
            <p:nvPr/>
          </p:nvSpPr>
          <p:spPr>
            <a:xfrm>
              <a:off x="1411600" y="3773399"/>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92" name="Shape 1992"/>
            <p:cNvSpPr/>
            <p:nvPr/>
          </p:nvSpPr>
          <p:spPr>
            <a:xfrm>
              <a:off x="2732400" y="3278099"/>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93" name="Shape 1993"/>
            <p:cNvSpPr/>
            <p:nvPr/>
          </p:nvSpPr>
          <p:spPr>
            <a:xfrm>
              <a:off x="3545200" y="2985999"/>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94" name="Shape 1994"/>
            <p:cNvSpPr/>
            <p:nvPr/>
          </p:nvSpPr>
          <p:spPr>
            <a:xfrm>
              <a:off x="4866000" y="3595599"/>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95" name="Shape 1995"/>
            <p:cNvSpPr/>
            <p:nvPr/>
          </p:nvSpPr>
          <p:spPr>
            <a:xfrm>
              <a:off x="5462900" y="2147799"/>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96" name="Shape 1996"/>
            <p:cNvSpPr/>
            <p:nvPr/>
          </p:nvSpPr>
          <p:spPr>
            <a:xfrm>
              <a:off x="4027800" y="1830299"/>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97" name="Shape 1997"/>
            <p:cNvSpPr/>
            <p:nvPr/>
          </p:nvSpPr>
          <p:spPr>
            <a:xfrm>
              <a:off x="4624700" y="1220699"/>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98" name="Shape 1998"/>
            <p:cNvSpPr/>
            <p:nvPr/>
          </p:nvSpPr>
          <p:spPr>
            <a:xfrm>
              <a:off x="4827900" y="572999"/>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1999" name="Shape 1999"/>
            <p:cNvSpPr/>
            <p:nvPr/>
          </p:nvSpPr>
          <p:spPr>
            <a:xfrm>
              <a:off x="1652900" y="2211299"/>
              <a:ext cx="268264"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00" name="Shape 2000"/>
            <p:cNvSpPr/>
            <p:nvPr/>
          </p:nvSpPr>
          <p:spPr>
            <a:xfrm>
              <a:off x="725800" y="3163799"/>
              <a:ext cx="268264"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01" name="Shape 2001"/>
            <p:cNvSpPr/>
            <p:nvPr/>
          </p:nvSpPr>
          <p:spPr>
            <a:xfrm>
              <a:off x="2135500" y="3798799"/>
              <a:ext cx="268264"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02" name="Shape 2002"/>
            <p:cNvSpPr/>
            <p:nvPr/>
          </p:nvSpPr>
          <p:spPr>
            <a:xfrm>
              <a:off x="3316600" y="1741399"/>
              <a:ext cx="268264"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03" name="Shape 2003"/>
            <p:cNvSpPr/>
            <p:nvPr/>
          </p:nvSpPr>
          <p:spPr>
            <a:xfrm>
              <a:off x="4726300" y="1969999"/>
              <a:ext cx="268264"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04" name="Shape 2004"/>
            <p:cNvSpPr/>
            <p:nvPr/>
          </p:nvSpPr>
          <p:spPr>
            <a:xfrm>
              <a:off x="5412100" y="1411199"/>
              <a:ext cx="268264"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05" name="Shape 2005"/>
            <p:cNvSpPr/>
            <p:nvPr/>
          </p:nvSpPr>
          <p:spPr>
            <a:xfrm>
              <a:off x="5437500" y="3620999"/>
              <a:ext cx="268264"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grpSp>
      <p:grpSp>
        <p:nvGrpSpPr>
          <p:cNvPr id="2031" name="Group 2031"/>
          <p:cNvGrpSpPr/>
          <p:nvPr/>
        </p:nvGrpSpPr>
        <p:grpSpPr>
          <a:xfrm>
            <a:off x="8717395" y="251865"/>
            <a:ext cx="2893949" cy="2166870"/>
            <a:chOff x="0" y="0"/>
            <a:chExt cx="2893948" cy="2166869"/>
          </a:xfrm>
        </p:grpSpPr>
        <p:pic>
          <p:nvPicPr>
            <p:cNvPr id="2007" name="LB-red1.png"/>
            <p:cNvPicPr>
              <a:picLocks noChangeAspect="1"/>
            </p:cNvPicPr>
            <p:nvPr/>
          </p:nvPicPr>
          <p:blipFill>
            <a:blip r:embed="rId4">
              <a:extLst/>
            </a:blip>
            <a:stretch>
              <a:fillRect/>
            </a:stretch>
          </p:blipFill>
          <p:spPr>
            <a:xfrm>
              <a:off x="1592289" y="1053015"/>
              <a:ext cx="687521" cy="630593"/>
            </a:xfrm>
            <a:prstGeom prst="rect">
              <a:avLst/>
            </a:prstGeom>
            <a:ln w="12700" cap="flat">
              <a:noFill/>
              <a:miter lim="400000"/>
            </a:ln>
            <a:effectLst/>
          </p:spPr>
        </p:pic>
        <p:sp>
          <p:nvSpPr>
            <p:cNvPr id="2008" name="Shape 2008"/>
            <p:cNvSpPr/>
            <p:nvPr/>
          </p:nvSpPr>
          <p:spPr>
            <a:xfrm>
              <a:off x="1821863" y="1139550"/>
              <a:ext cx="244551"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2009" name="LB-red1.png"/>
            <p:cNvPicPr>
              <a:picLocks noChangeAspect="1"/>
            </p:cNvPicPr>
            <p:nvPr/>
          </p:nvPicPr>
          <p:blipFill>
            <a:blip r:embed="rId4">
              <a:extLst/>
            </a:blip>
            <a:stretch>
              <a:fillRect/>
            </a:stretch>
          </p:blipFill>
          <p:spPr>
            <a:xfrm rot="10199520" flipH="1">
              <a:off x="1153900" y="423878"/>
              <a:ext cx="687521" cy="630592"/>
            </a:xfrm>
            <a:prstGeom prst="rect">
              <a:avLst/>
            </a:prstGeom>
            <a:ln w="12700" cap="flat">
              <a:noFill/>
              <a:miter lim="400000"/>
            </a:ln>
            <a:effectLst/>
          </p:spPr>
        </p:pic>
        <p:sp>
          <p:nvSpPr>
            <p:cNvPr id="2010" name="Shape 2010"/>
            <p:cNvSpPr/>
            <p:nvPr/>
          </p:nvSpPr>
          <p:spPr>
            <a:xfrm>
              <a:off x="1388947" y="706936"/>
              <a:ext cx="244552"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2011" name="LB-red1.png"/>
            <p:cNvPicPr>
              <a:picLocks noChangeAspect="1"/>
            </p:cNvPicPr>
            <p:nvPr/>
          </p:nvPicPr>
          <p:blipFill>
            <a:blip r:embed="rId4">
              <a:extLst/>
            </a:blip>
            <a:stretch>
              <a:fillRect/>
            </a:stretch>
          </p:blipFill>
          <p:spPr>
            <a:xfrm flipH="1">
              <a:off x="0" y="617627"/>
              <a:ext cx="687521" cy="630593"/>
            </a:xfrm>
            <a:prstGeom prst="rect">
              <a:avLst/>
            </a:prstGeom>
            <a:ln w="12700" cap="flat">
              <a:noFill/>
              <a:miter lim="400000"/>
            </a:ln>
            <a:effectLst/>
          </p:spPr>
        </p:pic>
        <p:sp>
          <p:nvSpPr>
            <p:cNvPr id="2012" name="Shape 2012"/>
            <p:cNvSpPr/>
            <p:nvPr/>
          </p:nvSpPr>
          <p:spPr>
            <a:xfrm>
              <a:off x="227988" y="704421"/>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2013" name="LB-red1.png"/>
            <p:cNvPicPr>
              <a:picLocks noChangeAspect="1"/>
            </p:cNvPicPr>
            <p:nvPr/>
          </p:nvPicPr>
          <p:blipFill>
            <a:blip r:embed="rId4">
              <a:extLst/>
            </a:blip>
            <a:stretch>
              <a:fillRect/>
            </a:stretch>
          </p:blipFill>
          <p:spPr>
            <a:xfrm rot="6901012" flipH="1">
              <a:off x="2119101" y="322278"/>
              <a:ext cx="687521" cy="630592"/>
            </a:xfrm>
            <a:prstGeom prst="rect">
              <a:avLst/>
            </a:prstGeom>
            <a:ln w="12700" cap="flat">
              <a:noFill/>
              <a:miter lim="400000"/>
            </a:ln>
            <a:effectLst/>
          </p:spPr>
        </p:pic>
        <p:sp>
          <p:nvSpPr>
            <p:cNvPr id="2014" name="Shape 2014"/>
            <p:cNvSpPr/>
            <p:nvPr/>
          </p:nvSpPr>
          <p:spPr>
            <a:xfrm>
              <a:off x="2430264" y="526363"/>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2015" name="LB-orange1.png"/>
            <p:cNvPicPr>
              <a:picLocks noChangeAspect="1"/>
            </p:cNvPicPr>
            <p:nvPr/>
          </p:nvPicPr>
          <p:blipFill>
            <a:blip r:embed="rId3">
              <a:extLst/>
            </a:blip>
            <a:stretch>
              <a:fillRect/>
            </a:stretch>
          </p:blipFill>
          <p:spPr>
            <a:xfrm rot="5861765" flipH="1">
              <a:off x="1117876" y="1463353"/>
              <a:ext cx="698501" cy="630402"/>
            </a:xfrm>
            <a:prstGeom prst="rect">
              <a:avLst/>
            </a:prstGeom>
            <a:ln w="12700" cap="flat">
              <a:noFill/>
              <a:miter lim="400000"/>
            </a:ln>
            <a:effectLst/>
          </p:spPr>
        </p:pic>
        <p:sp>
          <p:nvSpPr>
            <p:cNvPr id="2016" name="Shape 2016"/>
            <p:cNvSpPr/>
            <p:nvPr/>
          </p:nvSpPr>
          <p:spPr>
            <a:xfrm>
              <a:off x="1421062" y="1653023"/>
              <a:ext cx="244551"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2017" name="LB-orange1.png"/>
            <p:cNvPicPr>
              <a:picLocks noChangeAspect="1"/>
            </p:cNvPicPr>
            <p:nvPr/>
          </p:nvPicPr>
          <p:blipFill>
            <a:blip r:embed="rId3">
              <a:extLst/>
            </a:blip>
            <a:stretch>
              <a:fillRect/>
            </a:stretch>
          </p:blipFill>
          <p:spPr>
            <a:xfrm rot="13745137" flipH="1">
              <a:off x="533677" y="1056953"/>
              <a:ext cx="698501" cy="630403"/>
            </a:xfrm>
            <a:prstGeom prst="rect">
              <a:avLst/>
            </a:prstGeom>
            <a:ln w="12700" cap="flat">
              <a:noFill/>
              <a:miter lim="400000"/>
            </a:ln>
            <a:effectLst/>
          </p:spPr>
        </p:pic>
        <p:sp>
          <p:nvSpPr>
            <p:cNvPr id="2018" name="Shape 2018"/>
            <p:cNvSpPr/>
            <p:nvPr/>
          </p:nvSpPr>
          <p:spPr>
            <a:xfrm>
              <a:off x="705885" y="1275317"/>
              <a:ext cx="244552"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2019" name="LB-orange1.png"/>
            <p:cNvPicPr>
              <a:picLocks noChangeAspect="1"/>
            </p:cNvPicPr>
            <p:nvPr/>
          </p:nvPicPr>
          <p:blipFill>
            <a:blip r:embed="rId3">
              <a:extLst/>
            </a:blip>
            <a:stretch>
              <a:fillRect/>
            </a:stretch>
          </p:blipFill>
          <p:spPr>
            <a:xfrm rot="7928255" flipH="1">
              <a:off x="533677" y="155253"/>
              <a:ext cx="698501" cy="630402"/>
            </a:xfrm>
            <a:prstGeom prst="rect">
              <a:avLst/>
            </a:prstGeom>
            <a:ln w="12700" cap="flat">
              <a:noFill/>
              <a:miter lim="400000"/>
            </a:ln>
            <a:effectLst/>
          </p:spPr>
        </p:pic>
        <p:sp>
          <p:nvSpPr>
            <p:cNvPr id="2020" name="Shape 2020"/>
            <p:cNvSpPr/>
            <p:nvPr/>
          </p:nvSpPr>
          <p:spPr>
            <a:xfrm>
              <a:off x="824459" y="384479"/>
              <a:ext cx="244552" cy="244552"/>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pic>
          <p:nvPicPr>
            <p:cNvPr id="2021" name="LB-orange1.png"/>
            <p:cNvPicPr>
              <a:picLocks noChangeAspect="1"/>
            </p:cNvPicPr>
            <p:nvPr/>
          </p:nvPicPr>
          <p:blipFill>
            <a:blip r:embed="rId3">
              <a:extLst/>
            </a:blip>
            <a:stretch>
              <a:fillRect/>
            </a:stretch>
          </p:blipFill>
          <p:spPr>
            <a:xfrm rot="4668682">
              <a:off x="2111358" y="1306044"/>
              <a:ext cx="698501" cy="630402"/>
            </a:xfrm>
            <a:prstGeom prst="rect">
              <a:avLst/>
            </a:prstGeom>
            <a:ln w="12700" cap="flat">
              <a:noFill/>
              <a:miter lim="400000"/>
            </a:ln>
            <a:effectLst/>
          </p:spPr>
        </p:pic>
        <p:sp>
          <p:nvSpPr>
            <p:cNvPr id="2022" name="Shape 2022"/>
            <p:cNvSpPr/>
            <p:nvPr/>
          </p:nvSpPr>
          <p:spPr>
            <a:xfrm>
              <a:off x="2415123" y="1483268"/>
              <a:ext cx="244552" cy="244551"/>
            </a:xfrm>
            <a:prstGeom prst="ellipse">
              <a:avLst/>
            </a:prstGeom>
            <a:solidFill>
              <a:srgbClr val="FFFFFF"/>
            </a:solidFill>
            <a:ln w="25400" cap="flat">
              <a:noFill/>
              <a:miter lim="400000"/>
            </a:ln>
            <a:effectLst/>
          </p:spPr>
          <p:txBody>
            <a:bodyPr wrap="square" lIns="0" tIns="0" rIns="0" bIns="0" numCol="1" anchor="ctr">
              <a:noAutofit/>
            </a:bodyPr>
            <a:lstStyle/>
            <a:p>
              <a:pPr algn="ctr">
                <a:lnSpc>
                  <a:spcPts val="1200"/>
                </a:lnSpc>
                <a:tabLst>
                  <a:tab pos="520700" algn="l"/>
                </a:tabLst>
                <a:defRPr sz="1000" b="1">
                  <a:solidFill>
                    <a:srgbClr val="000000"/>
                  </a:solidFill>
                </a:defRPr>
              </a:pPr>
              <a:endParaRPr/>
            </a:p>
          </p:txBody>
        </p:sp>
        <p:sp>
          <p:nvSpPr>
            <p:cNvPr id="2023" name="Shape 2023"/>
            <p:cNvSpPr/>
            <p:nvPr/>
          </p:nvSpPr>
          <p:spPr>
            <a:xfrm>
              <a:off x="159904" y="751434"/>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24" name="Shape 2024"/>
            <p:cNvSpPr/>
            <p:nvPr/>
          </p:nvSpPr>
          <p:spPr>
            <a:xfrm>
              <a:off x="1315604" y="751434"/>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25" name="Shape 2025"/>
            <p:cNvSpPr/>
            <p:nvPr/>
          </p:nvSpPr>
          <p:spPr>
            <a:xfrm>
              <a:off x="1747404" y="1195934"/>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26" name="Shape 2026"/>
            <p:cNvSpPr/>
            <p:nvPr/>
          </p:nvSpPr>
          <p:spPr>
            <a:xfrm>
              <a:off x="2357004" y="586334"/>
              <a:ext cx="31043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27" name="Shape 2027"/>
            <p:cNvSpPr/>
            <p:nvPr/>
          </p:nvSpPr>
          <p:spPr>
            <a:xfrm>
              <a:off x="756804" y="433934"/>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28" name="Shape 2028"/>
            <p:cNvSpPr/>
            <p:nvPr/>
          </p:nvSpPr>
          <p:spPr>
            <a:xfrm>
              <a:off x="642504" y="1335634"/>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29" name="Shape 2029"/>
            <p:cNvSpPr/>
            <p:nvPr/>
          </p:nvSpPr>
          <p:spPr>
            <a:xfrm>
              <a:off x="1366404" y="1703934"/>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sp>
          <p:nvSpPr>
            <p:cNvPr id="2030" name="Shape 2030"/>
            <p:cNvSpPr/>
            <p:nvPr/>
          </p:nvSpPr>
          <p:spPr>
            <a:xfrm>
              <a:off x="2357004" y="1538834"/>
              <a:ext cx="289348"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b="1">
                  <a:solidFill>
                    <a:srgbClr val="000000"/>
                  </a:solidFill>
                </a:defRPr>
              </a:lvl1pPr>
            </a:lstStyle>
            <a:p>
              <a:pPr>
                <a:defRPr sz="2800" b="0">
                  <a:solidFill>
                    <a:srgbClr val="483F36"/>
                  </a:solidFill>
                  <a:latin typeface="Hoefler Text"/>
                  <a:ea typeface="Hoefler Text"/>
                  <a:cs typeface="Hoefler Text"/>
                  <a:sym typeface="Hoefler Text"/>
                </a:defRPr>
              </a:pPr>
              <a:r>
                <a:rPr sz="1000" b="1">
                  <a:solidFill>
                    <a:srgbClr val="000000"/>
                  </a:solidFill>
                  <a:latin typeface="+mn-lt"/>
                  <a:ea typeface="+mn-ea"/>
                  <a:cs typeface="+mn-cs"/>
                  <a:sym typeface="Arial"/>
                </a:rPr>
                <a:t>Aa</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90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90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2" grpId="1" build="p" bldLvl="5"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3" name="Shape 2033"/>
          <p:cNvSpPr>
            <a:spLocks noGrp="1"/>
          </p:cNvSpPr>
          <p:nvPr>
            <p:ph type="title"/>
          </p:nvPr>
        </p:nvSpPr>
        <p:spPr>
          <a:prstGeom prst="rect">
            <a:avLst/>
          </a:prstGeom>
        </p:spPr>
        <p:txBody>
          <a:bodyPr/>
          <a:lstStyle>
            <a:lvl1pPr>
              <a:tabLst>
                <a:tab pos="952500" algn="l"/>
              </a:tabLst>
            </a:lvl1pPr>
          </a:lstStyle>
          <a:p>
            <a:r>
              <a:t>Population Bottlenecks</a:t>
            </a:r>
          </a:p>
        </p:txBody>
      </p:sp>
      <p:sp>
        <p:nvSpPr>
          <p:cNvPr id="2034" name="Shape 2034"/>
          <p:cNvSpPr>
            <a:spLocks noGrp="1"/>
          </p:cNvSpPr>
          <p:nvPr>
            <p:ph type="body" idx="1"/>
          </p:nvPr>
        </p:nvSpPr>
        <p:spPr>
          <a:xfrm>
            <a:off x="368300" y="1790700"/>
            <a:ext cx="11646992" cy="7543800"/>
          </a:xfrm>
          <a:prstGeom prst="rect">
            <a:avLst/>
          </a:prstGeom>
        </p:spPr>
        <p:txBody>
          <a:bodyPr/>
          <a:lstStyle/>
          <a:p>
            <a:pPr marL="326571" indent="-326571">
              <a:tabLst>
                <a:tab pos="1016000" algn="l"/>
              </a:tabLst>
            </a:pPr>
            <a:r>
              <a:t>Populations may be reduced to low numbers through periods of:</a:t>
            </a:r>
            <a:br/>
            <a:r>
              <a:t/>
            </a:r>
            <a:br/>
            <a:r>
              <a:t/>
            </a:r>
            <a:br/>
            <a:r>
              <a:t/>
            </a:r>
            <a:br/>
            <a:r>
              <a:t/>
            </a:r>
            <a:br/>
            <a:r>
              <a:t/>
            </a:r>
            <a:br/>
            <a:endParaRPr/>
          </a:p>
          <a:p>
            <a:pPr marL="326571" indent="-326571">
              <a:tabLst>
                <a:tab pos="1016000" algn="l"/>
              </a:tabLst>
            </a:pPr>
            <a:endParaRPr/>
          </a:p>
          <a:p>
            <a:pPr marL="326571" indent="-326571">
              <a:tabLst>
                <a:tab pos="1016000" algn="l"/>
              </a:tabLst>
            </a:pPr>
            <a:endParaRPr/>
          </a:p>
          <a:p>
            <a:pPr marL="326571" indent="-326571">
              <a:tabLst>
                <a:tab pos="1016000" algn="l"/>
              </a:tabLst>
            </a:pPr>
            <a:r>
              <a:t>As a result, only a small number of individuals remain in the gene pool to contribute their genes to the next generation.</a:t>
            </a:r>
          </a:p>
          <a:p>
            <a:pPr marL="326571" indent="-326571">
              <a:tabLst>
                <a:tab pos="1016000" algn="l"/>
              </a:tabLst>
            </a:pPr>
            <a:r>
              <a:t>The small sample that survives will often not be representative of the original, larger gene pool, and the resulting allele frequencies may be severely altered.</a:t>
            </a:r>
          </a:p>
          <a:p>
            <a:pPr marL="326571" indent="-326571">
              <a:tabLst>
                <a:tab pos="1016000" algn="l"/>
              </a:tabLst>
            </a:pPr>
            <a:r>
              <a:t>In addition to this ‘</a:t>
            </a:r>
            <a:r>
              <a:rPr b="1">
                <a:solidFill>
                  <a:srgbClr val="005B86"/>
                </a:solidFill>
              </a:rPr>
              <a:t>bottleneck’ effect</a:t>
            </a:r>
            <a:r>
              <a:t>, the small surviving population is often affected by inbreeding and genetic drift.</a:t>
            </a:r>
          </a:p>
        </p:txBody>
      </p:sp>
      <p:grpSp>
        <p:nvGrpSpPr>
          <p:cNvPr id="2037" name="Group 2037"/>
          <p:cNvGrpSpPr/>
          <p:nvPr/>
        </p:nvGrpSpPr>
        <p:grpSpPr>
          <a:xfrm>
            <a:off x="683259" y="2479039"/>
            <a:ext cx="3951113" cy="2913523"/>
            <a:chOff x="0" y="0"/>
            <a:chExt cx="3951111" cy="2913521"/>
          </a:xfrm>
        </p:grpSpPr>
        <p:pic>
          <p:nvPicPr>
            <p:cNvPr id="2035" name="Seasonal change.jpg"/>
            <p:cNvPicPr>
              <a:picLocks noChangeAspect="1"/>
            </p:cNvPicPr>
            <p:nvPr/>
          </p:nvPicPr>
          <p:blipFill>
            <a:blip r:embed="rId2">
              <a:extLst/>
            </a:blip>
            <a:stretch>
              <a:fillRect/>
            </a:stretch>
          </p:blipFill>
          <p:spPr>
            <a:xfrm>
              <a:off x="0" y="0"/>
              <a:ext cx="3951112" cy="2540000"/>
            </a:xfrm>
            <a:prstGeom prst="rect">
              <a:avLst/>
            </a:prstGeom>
            <a:ln w="25400" cap="flat">
              <a:solidFill>
                <a:srgbClr val="FFFFFF"/>
              </a:solidFill>
              <a:prstDash val="solid"/>
              <a:miter lim="400000"/>
            </a:ln>
            <a:effectLst/>
          </p:spPr>
        </p:pic>
        <p:sp>
          <p:nvSpPr>
            <p:cNvPr id="2036" name="Shape 2036"/>
            <p:cNvSpPr/>
            <p:nvPr/>
          </p:nvSpPr>
          <p:spPr>
            <a:xfrm>
              <a:off x="419100" y="2654300"/>
              <a:ext cx="2719289"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5B86"/>
                  </a:solidFill>
                </a:defRPr>
              </a:lvl1pPr>
            </a:lstStyle>
            <a:p>
              <a:r>
                <a:t>Seasonal climatic change</a:t>
              </a:r>
            </a:p>
          </p:txBody>
        </p:sp>
      </p:grpSp>
      <p:pic>
        <p:nvPicPr>
          <p:cNvPr id="2038" name="Otter with catch.jpg"/>
          <p:cNvPicPr>
            <a:picLocks noChangeAspect="1"/>
          </p:cNvPicPr>
          <p:nvPr/>
        </p:nvPicPr>
        <p:blipFill>
          <a:blip r:embed="rId3">
            <a:extLst/>
          </a:blip>
          <a:stretch>
            <a:fillRect/>
          </a:stretch>
        </p:blipFill>
        <p:spPr>
          <a:xfrm>
            <a:off x="5013959" y="2479039"/>
            <a:ext cx="3556001" cy="2540001"/>
          </a:xfrm>
          <a:prstGeom prst="rect">
            <a:avLst/>
          </a:prstGeom>
          <a:ln w="25400">
            <a:solidFill>
              <a:srgbClr val="FFFFFF"/>
            </a:solidFill>
            <a:miter lim="400000"/>
          </a:ln>
        </p:spPr>
      </p:pic>
      <p:sp>
        <p:nvSpPr>
          <p:cNvPr id="2039" name="Shape 2039"/>
          <p:cNvSpPr/>
          <p:nvPr/>
        </p:nvSpPr>
        <p:spPr>
          <a:xfrm>
            <a:off x="5128259" y="5146040"/>
            <a:ext cx="3219154" cy="28379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400"/>
              </a:lnSpc>
              <a:tabLst>
                <a:tab pos="520700" algn="l"/>
              </a:tabLst>
              <a:defRPr sz="2000">
                <a:solidFill>
                  <a:srgbClr val="005B86"/>
                </a:solidFill>
              </a:defRPr>
            </a:lvl1pPr>
          </a:lstStyle>
          <a:p>
            <a:r>
              <a:t>Heavy predation or disease</a:t>
            </a:r>
          </a:p>
        </p:txBody>
      </p:sp>
      <p:grpSp>
        <p:nvGrpSpPr>
          <p:cNvPr id="2042" name="Group 2042"/>
          <p:cNvGrpSpPr/>
          <p:nvPr/>
        </p:nvGrpSpPr>
        <p:grpSpPr>
          <a:xfrm>
            <a:off x="8595359" y="2479039"/>
            <a:ext cx="3771901" cy="3230192"/>
            <a:chOff x="0" y="0"/>
            <a:chExt cx="3771900" cy="3230190"/>
          </a:xfrm>
        </p:grpSpPr>
        <p:sp>
          <p:nvSpPr>
            <p:cNvPr id="2040" name="Shape 2040"/>
            <p:cNvSpPr/>
            <p:nvPr/>
          </p:nvSpPr>
          <p:spPr>
            <a:xfrm>
              <a:off x="0" y="2654300"/>
              <a:ext cx="3771900" cy="57589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400"/>
                </a:lnSpc>
                <a:tabLst>
                  <a:tab pos="520700" algn="l"/>
                </a:tabLst>
                <a:defRPr sz="2000">
                  <a:solidFill>
                    <a:srgbClr val="005B86"/>
                  </a:solidFill>
                </a:defRPr>
              </a:lvl1pPr>
            </a:lstStyle>
            <a:p>
              <a:r>
                <a:t>Catastrophic events (e.g. flood, volcanic eruptions, landslide)</a:t>
              </a:r>
            </a:p>
          </p:txBody>
        </p:sp>
        <p:pic>
          <p:nvPicPr>
            <p:cNvPr id="2041" name="Dead antelope.jpg"/>
            <p:cNvPicPr>
              <a:picLocks noChangeAspect="1"/>
            </p:cNvPicPr>
            <p:nvPr/>
          </p:nvPicPr>
          <p:blipFill>
            <a:blip r:embed="rId4">
              <a:extLst/>
            </a:blip>
            <a:stretch>
              <a:fillRect/>
            </a:stretch>
          </p:blipFill>
          <p:spPr>
            <a:xfrm>
              <a:off x="355600" y="0"/>
              <a:ext cx="2982259" cy="2540000"/>
            </a:xfrm>
            <a:prstGeom prst="rect">
              <a:avLst/>
            </a:prstGeom>
            <a:ln w="25400" cap="flat">
              <a:solidFill>
                <a:srgbClr val="FFFFFF"/>
              </a:solidFill>
              <a:prstDash val="solid"/>
              <a:miter lim="400000"/>
            </a:ln>
            <a:effectLst/>
          </p:spPr>
        </p:pic>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03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03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03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03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03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203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203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4" grpId="1" build="p" bldLvl="5" animBg="1" advAuto="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4" name="Bottlenecks Explained diagr.png"/>
          <p:cNvPicPr>
            <a:picLocks noChangeAspect="1"/>
          </p:cNvPicPr>
          <p:nvPr/>
        </p:nvPicPr>
        <p:blipFill>
          <a:blip r:embed="rId2">
            <a:extLst/>
          </a:blip>
          <a:stretch>
            <a:fillRect/>
          </a:stretch>
        </p:blipFill>
        <p:spPr>
          <a:xfrm>
            <a:off x="1163980" y="2415166"/>
            <a:ext cx="10563051" cy="5756177"/>
          </a:xfrm>
          <a:prstGeom prst="rect">
            <a:avLst/>
          </a:prstGeom>
          <a:ln w="12700">
            <a:miter lim="400000"/>
          </a:ln>
        </p:spPr>
      </p:pic>
      <p:sp>
        <p:nvSpPr>
          <p:cNvPr id="2045" name="Shape 2045"/>
          <p:cNvSpPr>
            <a:spLocks noGrp="1"/>
          </p:cNvSpPr>
          <p:nvPr>
            <p:ph type="title"/>
          </p:nvPr>
        </p:nvSpPr>
        <p:spPr>
          <a:prstGeom prst="rect">
            <a:avLst/>
          </a:prstGeom>
        </p:spPr>
        <p:txBody>
          <a:bodyPr/>
          <a:lstStyle>
            <a:lvl1pPr>
              <a:tabLst>
                <a:tab pos="952500" algn="l"/>
              </a:tabLst>
            </a:lvl1pPr>
          </a:lstStyle>
          <a:p>
            <a:r>
              <a:t>Population Bottlenecks</a:t>
            </a:r>
          </a:p>
        </p:txBody>
      </p:sp>
      <p:sp>
        <p:nvSpPr>
          <p:cNvPr id="2046" name="Shape 2046"/>
          <p:cNvSpPr/>
          <p:nvPr/>
        </p:nvSpPr>
        <p:spPr>
          <a:xfrm>
            <a:off x="3352800" y="1689100"/>
            <a:ext cx="6311900" cy="6139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700"/>
              </a:lnSpc>
              <a:tabLst>
                <a:tab pos="520700" algn="l"/>
              </a:tabLst>
              <a:defRPr sz="2000">
                <a:solidFill>
                  <a:srgbClr val="005B86"/>
                </a:solidFill>
              </a:defRPr>
            </a:lvl1pPr>
          </a:lstStyle>
          <a:p>
            <a:r>
              <a:t>The original gene pool is made up of the offspring of many lineages (family groups and sub-populations)</a:t>
            </a:r>
          </a:p>
        </p:txBody>
      </p:sp>
      <p:sp>
        <p:nvSpPr>
          <p:cNvPr id="2047" name="Shape 2047"/>
          <p:cNvSpPr/>
          <p:nvPr/>
        </p:nvSpPr>
        <p:spPr>
          <a:xfrm>
            <a:off x="2873523" y="5422900"/>
            <a:ext cx="2882901" cy="8679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sz="2000">
                <a:solidFill>
                  <a:srgbClr val="005B86"/>
                </a:solidFill>
              </a:defRPr>
            </a:lvl1pPr>
          </a:lstStyle>
          <a:p>
            <a:r>
              <a:t>Only two descendants of lineage B survive the extinction event</a:t>
            </a:r>
          </a:p>
        </p:txBody>
      </p:sp>
      <p:sp>
        <p:nvSpPr>
          <p:cNvPr id="2048" name="Shape 2048"/>
          <p:cNvSpPr/>
          <p:nvPr/>
        </p:nvSpPr>
        <p:spPr>
          <a:xfrm>
            <a:off x="3556000" y="8140700"/>
            <a:ext cx="6743700" cy="9441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700"/>
              </a:lnSpc>
              <a:tabLst>
                <a:tab pos="520700" algn="l"/>
              </a:tabLst>
              <a:defRPr sz="2000">
                <a:solidFill>
                  <a:srgbClr val="005B86"/>
                </a:solidFill>
              </a:defRPr>
            </a:lvl1pPr>
          </a:lstStyle>
          <a:p>
            <a:r>
              <a:t>All present day descendants of the original gene pool trace their ancestry back to lineage B and therefore retain only a small sample of genes present in the original gene pool</a:t>
            </a:r>
          </a:p>
        </p:txBody>
      </p:sp>
      <p:sp>
        <p:nvSpPr>
          <p:cNvPr id="2049" name="Shape 2049"/>
          <p:cNvSpPr/>
          <p:nvPr/>
        </p:nvSpPr>
        <p:spPr>
          <a:xfrm>
            <a:off x="7137400" y="5384800"/>
            <a:ext cx="1739900" cy="73932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3100"/>
              </a:lnSpc>
              <a:tabLst>
                <a:tab pos="520700" algn="l"/>
              </a:tabLst>
              <a:defRPr sz="2400" b="1">
                <a:solidFill>
                  <a:srgbClr val="000000"/>
                </a:solidFill>
              </a:defRPr>
            </a:lvl1pPr>
          </a:lstStyle>
          <a:p>
            <a:r>
              <a:t>Genetic bottleneck</a:t>
            </a:r>
          </a:p>
        </p:txBody>
      </p:sp>
      <p:sp>
        <p:nvSpPr>
          <p:cNvPr id="2050" name="Shape 2050"/>
          <p:cNvSpPr/>
          <p:nvPr/>
        </p:nvSpPr>
        <p:spPr>
          <a:xfrm>
            <a:off x="8890000" y="5588000"/>
            <a:ext cx="2692400" cy="5758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sz="2000">
                <a:solidFill>
                  <a:srgbClr val="005B86"/>
                </a:solidFill>
              </a:defRPr>
            </a:lvl1pPr>
          </a:lstStyle>
          <a:p>
            <a:r>
              <a:t>Extinction event such as a volcanic eruption</a:t>
            </a:r>
          </a:p>
        </p:txBody>
      </p:sp>
      <p:sp>
        <p:nvSpPr>
          <p:cNvPr id="2051" name="Shape 2051"/>
          <p:cNvSpPr/>
          <p:nvPr/>
        </p:nvSpPr>
        <p:spPr>
          <a:xfrm flipH="1">
            <a:off x="5774266" y="5317066"/>
            <a:ext cx="677334" cy="372535"/>
          </a:xfrm>
          <a:prstGeom prst="line">
            <a:avLst/>
          </a:prstGeom>
          <a:ln w="38100">
            <a:solidFill>
              <a:srgbClr val="005B86"/>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052" name="Shape 2052"/>
          <p:cNvSpPr/>
          <p:nvPr/>
        </p:nvSpPr>
        <p:spPr>
          <a:xfrm>
            <a:off x="10244666" y="4995333"/>
            <a:ext cx="1" cy="508001"/>
          </a:xfrm>
          <a:prstGeom prst="line">
            <a:avLst/>
          </a:prstGeom>
          <a:ln w="25400">
            <a:solidFill>
              <a:srgbClr val="005B86"/>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opulation Bottleneck graph.pdf"/>
          <p:cNvPicPr>
            <a:picLocks noChangeAspect="1"/>
          </p:cNvPicPr>
          <p:nvPr/>
        </p:nvPicPr>
        <p:blipFill>
          <a:blip r:embed="rId2">
            <a:extLst/>
          </a:blip>
          <a:stretch>
            <a:fillRect/>
          </a:stretch>
        </p:blipFill>
        <p:spPr>
          <a:xfrm>
            <a:off x="1676400" y="5562600"/>
            <a:ext cx="10297221" cy="3327400"/>
          </a:xfrm>
          <a:prstGeom prst="rect">
            <a:avLst/>
          </a:prstGeom>
          <a:ln w="12700">
            <a:miter lim="400000"/>
          </a:ln>
        </p:spPr>
      </p:pic>
      <p:sp>
        <p:nvSpPr>
          <p:cNvPr id="2055" name="Shape 2055"/>
          <p:cNvSpPr>
            <a:spLocks noGrp="1"/>
          </p:cNvSpPr>
          <p:nvPr>
            <p:ph type="title"/>
          </p:nvPr>
        </p:nvSpPr>
        <p:spPr>
          <a:prstGeom prst="rect">
            <a:avLst/>
          </a:prstGeom>
        </p:spPr>
        <p:txBody>
          <a:bodyPr/>
          <a:lstStyle>
            <a:lvl1pPr>
              <a:tabLst>
                <a:tab pos="952500" algn="l"/>
              </a:tabLst>
            </a:lvl1pPr>
          </a:lstStyle>
          <a:p>
            <a:r>
              <a:t>Population Bottlenecks</a:t>
            </a:r>
          </a:p>
        </p:txBody>
      </p:sp>
      <p:sp>
        <p:nvSpPr>
          <p:cNvPr id="2056" name="Shape 2056"/>
          <p:cNvSpPr/>
          <p:nvPr/>
        </p:nvSpPr>
        <p:spPr>
          <a:xfrm>
            <a:off x="8534400" y="1549400"/>
            <a:ext cx="2997200" cy="8688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a:solidFill>
                  <a:srgbClr val="005B86"/>
                </a:solidFill>
              </a:defRPr>
            </a:lvl1pPr>
          </a:lstStyle>
          <a:p>
            <a:r>
              <a:t>Population grows to a large size again, but has lost much of its genetic diversity</a:t>
            </a:r>
          </a:p>
        </p:txBody>
      </p:sp>
      <p:sp>
        <p:nvSpPr>
          <p:cNvPr id="2057" name="Shape 2057"/>
          <p:cNvSpPr/>
          <p:nvPr/>
        </p:nvSpPr>
        <p:spPr>
          <a:xfrm>
            <a:off x="4775200" y="1549400"/>
            <a:ext cx="2946400" cy="8688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a:solidFill>
                  <a:srgbClr val="005B86"/>
                </a:solidFill>
              </a:defRPr>
            </a:lvl1pPr>
          </a:lstStyle>
          <a:p>
            <a:r>
              <a:t>Population reduced to a very low number with consequent loss of alleles</a:t>
            </a:r>
          </a:p>
        </p:txBody>
      </p:sp>
      <p:sp>
        <p:nvSpPr>
          <p:cNvPr id="2058" name="Shape 2058"/>
          <p:cNvSpPr/>
          <p:nvPr/>
        </p:nvSpPr>
        <p:spPr>
          <a:xfrm>
            <a:off x="1358900" y="1549400"/>
            <a:ext cx="2692400" cy="5640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a:solidFill>
                  <a:srgbClr val="005B86"/>
                </a:solidFill>
              </a:defRPr>
            </a:lvl1pPr>
          </a:lstStyle>
          <a:p>
            <a:r>
              <a:t>Large, genetically  diverse population</a:t>
            </a:r>
          </a:p>
        </p:txBody>
      </p:sp>
      <p:sp>
        <p:nvSpPr>
          <p:cNvPr id="2059" name="Shape 2059"/>
          <p:cNvSpPr/>
          <p:nvPr/>
        </p:nvSpPr>
        <p:spPr>
          <a:xfrm rot="16200000">
            <a:off x="-124111" y="7098940"/>
            <a:ext cx="2386212" cy="28379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700"/>
              </a:lnSpc>
              <a:tabLst>
                <a:tab pos="520700" algn="l"/>
              </a:tabLst>
              <a:defRPr sz="2000">
                <a:solidFill>
                  <a:srgbClr val="201B17"/>
                </a:solidFill>
              </a:defRPr>
            </a:lvl1pPr>
          </a:lstStyle>
          <a:p>
            <a:pPr>
              <a:defRPr>
                <a:solidFill>
                  <a:srgbClr val="483F36"/>
                </a:solidFill>
              </a:defRPr>
            </a:pPr>
            <a:r>
              <a:rPr>
                <a:solidFill>
                  <a:srgbClr val="201B17"/>
                </a:solidFill>
              </a:rPr>
              <a:t>Population numbers</a:t>
            </a:r>
          </a:p>
        </p:txBody>
      </p:sp>
      <p:sp>
        <p:nvSpPr>
          <p:cNvPr id="2060" name="Shape 2060"/>
          <p:cNvSpPr/>
          <p:nvPr/>
        </p:nvSpPr>
        <p:spPr>
          <a:xfrm>
            <a:off x="5219700" y="5981700"/>
            <a:ext cx="2781300" cy="10593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100"/>
              </a:lnSpc>
              <a:tabLst>
                <a:tab pos="520700" algn="l"/>
              </a:tabLst>
              <a:defRPr>
                <a:solidFill>
                  <a:srgbClr val="005B86"/>
                </a:solidFill>
              </a:defRPr>
            </a:pPr>
            <a:r>
              <a:rPr b="1"/>
              <a:t>Population bottleneck</a:t>
            </a:r>
            <a:r>
              <a:t>: the population nearly becomes extinct as numbers plummet</a:t>
            </a:r>
          </a:p>
        </p:txBody>
      </p:sp>
      <p:sp>
        <p:nvSpPr>
          <p:cNvPr id="2061" name="Shape 2061"/>
          <p:cNvSpPr/>
          <p:nvPr/>
        </p:nvSpPr>
        <p:spPr>
          <a:xfrm>
            <a:off x="6413500" y="9194800"/>
            <a:ext cx="682005" cy="28379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700"/>
              </a:lnSpc>
              <a:tabLst>
                <a:tab pos="520700" algn="l"/>
              </a:tabLst>
              <a:defRPr sz="2000">
                <a:solidFill>
                  <a:srgbClr val="201B17"/>
                </a:solidFill>
              </a:defRPr>
            </a:lvl1pPr>
          </a:lstStyle>
          <a:p>
            <a:pPr>
              <a:defRPr>
                <a:solidFill>
                  <a:srgbClr val="483F36"/>
                </a:solidFill>
              </a:defRPr>
            </a:pPr>
            <a:r>
              <a:rPr>
                <a:solidFill>
                  <a:srgbClr val="201B17"/>
                </a:solidFill>
              </a:rPr>
              <a:t>Time</a:t>
            </a:r>
          </a:p>
        </p:txBody>
      </p:sp>
      <p:sp>
        <p:nvSpPr>
          <p:cNvPr id="2062" name="Shape 2062"/>
          <p:cNvSpPr/>
          <p:nvPr/>
        </p:nvSpPr>
        <p:spPr>
          <a:xfrm flipH="1" flipV="1">
            <a:off x="3894666" y="9059333"/>
            <a:ext cx="5960534" cy="1"/>
          </a:xfrm>
          <a:prstGeom prst="line">
            <a:avLst/>
          </a:prstGeom>
          <a:ln w="635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063" name="Shape 2063"/>
          <p:cNvSpPr/>
          <p:nvPr/>
        </p:nvSpPr>
        <p:spPr>
          <a:xfrm flipH="1">
            <a:off x="1473199" y="5956300"/>
            <a:ext cx="1" cy="2489200"/>
          </a:xfrm>
          <a:prstGeom prst="line">
            <a:avLst/>
          </a:prstGeom>
          <a:ln w="635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064" name="Shape 2064"/>
          <p:cNvSpPr/>
          <p:nvPr/>
        </p:nvSpPr>
        <p:spPr>
          <a:xfrm flipV="1">
            <a:off x="6096000" y="7251700"/>
            <a:ext cx="393700" cy="1231900"/>
          </a:xfrm>
          <a:prstGeom prst="line">
            <a:avLst/>
          </a:prstGeom>
          <a:ln w="25400">
            <a:solidFill>
              <a:srgbClr val="005B86"/>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grpSp>
        <p:nvGrpSpPr>
          <p:cNvPr id="2110" name="Group 2110"/>
          <p:cNvGrpSpPr/>
          <p:nvPr/>
        </p:nvGrpSpPr>
        <p:grpSpPr>
          <a:xfrm>
            <a:off x="1038438" y="2495202"/>
            <a:ext cx="3632499" cy="2707690"/>
            <a:chOff x="0" y="0"/>
            <a:chExt cx="3632498" cy="2707688"/>
          </a:xfrm>
        </p:grpSpPr>
        <p:pic>
          <p:nvPicPr>
            <p:cNvPr id="2065" name="LB-red1.png"/>
            <p:cNvPicPr>
              <a:picLocks noChangeAspect="1"/>
            </p:cNvPicPr>
            <p:nvPr/>
          </p:nvPicPr>
          <p:blipFill>
            <a:blip r:embed="rId3">
              <a:extLst/>
            </a:blip>
            <a:stretch>
              <a:fillRect/>
            </a:stretch>
          </p:blipFill>
          <p:spPr>
            <a:xfrm rot="10800000">
              <a:off x="717172" y="0"/>
              <a:ext cx="889001" cy="815389"/>
            </a:xfrm>
            <a:prstGeom prst="rect">
              <a:avLst/>
            </a:prstGeom>
            <a:ln w="12700" cap="flat">
              <a:noFill/>
              <a:miter lim="400000"/>
            </a:ln>
            <a:effectLst/>
          </p:spPr>
        </p:pic>
        <p:sp>
          <p:nvSpPr>
            <p:cNvPr id="2066" name="Shape 2066"/>
            <p:cNvSpPr/>
            <p:nvPr/>
          </p:nvSpPr>
          <p:spPr>
            <a:xfrm>
              <a:off x="980861" y="3749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67" name="Shape 2067"/>
            <p:cNvSpPr/>
            <p:nvPr/>
          </p:nvSpPr>
          <p:spPr>
            <a:xfrm>
              <a:off x="842550" y="4384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068" name="LB-drab1.png"/>
            <p:cNvPicPr>
              <a:picLocks noChangeAspect="1"/>
            </p:cNvPicPr>
            <p:nvPr/>
          </p:nvPicPr>
          <p:blipFill>
            <a:blip r:embed="rId4">
              <a:extLst/>
            </a:blip>
            <a:stretch>
              <a:fillRect/>
            </a:stretch>
          </p:blipFill>
          <p:spPr>
            <a:xfrm rot="10800000">
              <a:off x="0" y="927102"/>
              <a:ext cx="889001" cy="814440"/>
            </a:xfrm>
            <a:prstGeom prst="rect">
              <a:avLst/>
            </a:prstGeom>
            <a:ln w="12700" cap="flat">
              <a:noFill/>
              <a:miter lim="400000"/>
            </a:ln>
            <a:effectLst/>
          </p:spPr>
        </p:pic>
        <p:sp>
          <p:nvSpPr>
            <p:cNvPr id="2069" name="Shape 2069"/>
            <p:cNvSpPr/>
            <p:nvPr/>
          </p:nvSpPr>
          <p:spPr>
            <a:xfrm>
              <a:off x="295061" y="12512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70" name="Shape 2070"/>
            <p:cNvSpPr/>
            <p:nvPr/>
          </p:nvSpPr>
          <p:spPr>
            <a:xfrm>
              <a:off x="220250" y="1289397"/>
              <a:ext cx="393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071" name="LB-orange1.png"/>
            <p:cNvPicPr>
              <a:picLocks noChangeAspect="1"/>
            </p:cNvPicPr>
            <p:nvPr/>
          </p:nvPicPr>
          <p:blipFill>
            <a:blip r:embed="rId5">
              <a:extLst/>
            </a:blip>
            <a:stretch>
              <a:fillRect/>
            </a:stretch>
          </p:blipFill>
          <p:spPr>
            <a:xfrm rot="10800000">
              <a:off x="2006898" y="11123"/>
              <a:ext cx="889001" cy="802330"/>
            </a:xfrm>
            <a:prstGeom prst="rect">
              <a:avLst/>
            </a:prstGeom>
            <a:ln w="12700" cap="flat">
              <a:noFill/>
              <a:miter lim="400000"/>
            </a:ln>
            <a:effectLst/>
          </p:spPr>
        </p:pic>
        <p:sp>
          <p:nvSpPr>
            <p:cNvPr id="2072" name="Shape 2072"/>
            <p:cNvSpPr/>
            <p:nvPr/>
          </p:nvSpPr>
          <p:spPr>
            <a:xfrm>
              <a:off x="2288961" y="3622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73" name="Shape 2073"/>
            <p:cNvSpPr/>
            <p:nvPr/>
          </p:nvSpPr>
          <p:spPr>
            <a:xfrm>
              <a:off x="2214150" y="425797"/>
              <a:ext cx="393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074" name="LB-red1.png"/>
            <p:cNvPicPr>
              <a:picLocks noChangeAspect="1"/>
            </p:cNvPicPr>
            <p:nvPr/>
          </p:nvPicPr>
          <p:blipFill>
            <a:blip r:embed="rId3">
              <a:extLst/>
            </a:blip>
            <a:stretch>
              <a:fillRect/>
            </a:stretch>
          </p:blipFill>
          <p:spPr>
            <a:xfrm rot="10800000">
              <a:off x="1364872" y="0"/>
              <a:ext cx="889001" cy="815389"/>
            </a:xfrm>
            <a:prstGeom prst="rect">
              <a:avLst/>
            </a:prstGeom>
            <a:ln w="12700" cap="flat">
              <a:noFill/>
              <a:miter lim="400000"/>
            </a:ln>
            <a:effectLst/>
          </p:spPr>
        </p:pic>
        <p:sp>
          <p:nvSpPr>
            <p:cNvPr id="2075" name="Shape 2075"/>
            <p:cNvSpPr/>
            <p:nvPr/>
          </p:nvSpPr>
          <p:spPr>
            <a:xfrm>
              <a:off x="1628561" y="3749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76" name="Shape 2076"/>
            <p:cNvSpPr/>
            <p:nvPr/>
          </p:nvSpPr>
          <p:spPr>
            <a:xfrm>
              <a:off x="1490250" y="4384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077" name="LB-red1.png"/>
            <p:cNvPicPr>
              <a:picLocks noChangeAspect="1"/>
            </p:cNvPicPr>
            <p:nvPr/>
          </p:nvPicPr>
          <p:blipFill>
            <a:blip r:embed="rId3">
              <a:extLst/>
            </a:blip>
            <a:stretch>
              <a:fillRect/>
            </a:stretch>
          </p:blipFill>
          <p:spPr>
            <a:xfrm rot="10800000">
              <a:off x="717172" y="927099"/>
              <a:ext cx="889001" cy="815390"/>
            </a:xfrm>
            <a:prstGeom prst="rect">
              <a:avLst/>
            </a:prstGeom>
            <a:ln w="12700" cap="flat">
              <a:noFill/>
              <a:miter lim="400000"/>
            </a:ln>
            <a:effectLst/>
          </p:spPr>
        </p:pic>
        <p:sp>
          <p:nvSpPr>
            <p:cNvPr id="2078" name="Shape 2078"/>
            <p:cNvSpPr/>
            <p:nvPr/>
          </p:nvSpPr>
          <p:spPr>
            <a:xfrm>
              <a:off x="980861" y="13020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79" name="Shape 2079"/>
            <p:cNvSpPr/>
            <p:nvPr/>
          </p:nvSpPr>
          <p:spPr>
            <a:xfrm>
              <a:off x="842550" y="13655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080" name="LB-red1.png"/>
            <p:cNvPicPr>
              <a:picLocks noChangeAspect="1"/>
            </p:cNvPicPr>
            <p:nvPr/>
          </p:nvPicPr>
          <p:blipFill>
            <a:blip r:embed="rId3">
              <a:extLst/>
            </a:blip>
            <a:stretch>
              <a:fillRect/>
            </a:stretch>
          </p:blipFill>
          <p:spPr>
            <a:xfrm rot="10800000">
              <a:off x="1364872" y="927099"/>
              <a:ext cx="889001" cy="815390"/>
            </a:xfrm>
            <a:prstGeom prst="rect">
              <a:avLst/>
            </a:prstGeom>
            <a:ln w="12700" cap="flat">
              <a:noFill/>
              <a:miter lim="400000"/>
            </a:ln>
            <a:effectLst/>
          </p:spPr>
        </p:pic>
        <p:sp>
          <p:nvSpPr>
            <p:cNvPr id="2081" name="Shape 2081"/>
            <p:cNvSpPr/>
            <p:nvPr/>
          </p:nvSpPr>
          <p:spPr>
            <a:xfrm>
              <a:off x="1628561" y="13020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82" name="Shape 2082"/>
            <p:cNvSpPr/>
            <p:nvPr/>
          </p:nvSpPr>
          <p:spPr>
            <a:xfrm>
              <a:off x="1490250" y="13655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083" name="LB-red1.png"/>
            <p:cNvPicPr>
              <a:picLocks noChangeAspect="1"/>
            </p:cNvPicPr>
            <p:nvPr/>
          </p:nvPicPr>
          <p:blipFill>
            <a:blip r:embed="rId3">
              <a:extLst/>
            </a:blip>
            <a:stretch>
              <a:fillRect/>
            </a:stretch>
          </p:blipFill>
          <p:spPr>
            <a:xfrm rot="10800000">
              <a:off x="717172" y="1892299"/>
              <a:ext cx="889001" cy="815390"/>
            </a:xfrm>
            <a:prstGeom prst="rect">
              <a:avLst/>
            </a:prstGeom>
            <a:ln w="12700" cap="flat">
              <a:noFill/>
              <a:miter lim="400000"/>
            </a:ln>
            <a:effectLst/>
          </p:spPr>
        </p:pic>
        <p:sp>
          <p:nvSpPr>
            <p:cNvPr id="2084" name="Shape 2084"/>
            <p:cNvSpPr/>
            <p:nvPr/>
          </p:nvSpPr>
          <p:spPr>
            <a:xfrm>
              <a:off x="980861" y="22672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85" name="Shape 2085"/>
            <p:cNvSpPr/>
            <p:nvPr/>
          </p:nvSpPr>
          <p:spPr>
            <a:xfrm>
              <a:off x="842550" y="23434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086" name="LB-red1.png"/>
            <p:cNvPicPr>
              <a:picLocks noChangeAspect="1"/>
            </p:cNvPicPr>
            <p:nvPr/>
          </p:nvPicPr>
          <p:blipFill>
            <a:blip r:embed="rId3">
              <a:extLst/>
            </a:blip>
            <a:stretch>
              <a:fillRect/>
            </a:stretch>
          </p:blipFill>
          <p:spPr>
            <a:xfrm rot="10800000">
              <a:off x="1364872" y="1892299"/>
              <a:ext cx="889001" cy="815390"/>
            </a:xfrm>
            <a:prstGeom prst="rect">
              <a:avLst/>
            </a:prstGeom>
            <a:ln w="12700" cap="flat">
              <a:noFill/>
              <a:miter lim="400000"/>
            </a:ln>
            <a:effectLst/>
          </p:spPr>
        </p:pic>
        <p:sp>
          <p:nvSpPr>
            <p:cNvPr id="2087" name="Shape 2087"/>
            <p:cNvSpPr/>
            <p:nvPr/>
          </p:nvSpPr>
          <p:spPr>
            <a:xfrm>
              <a:off x="1628561" y="22672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88" name="Shape 2088"/>
            <p:cNvSpPr/>
            <p:nvPr/>
          </p:nvSpPr>
          <p:spPr>
            <a:xfrm>
              <a:off x="1490250" y="23434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089" name="LB-red1.png"/>
            <p:cNvPicPr>
              <a:picLocks noChangeAspect="1"/>
            </p:cNvPicPr>
            <p:nvPr/>
          </p:nvPicPr>
          <p:blipFill>
            <a:blip r:embed="rId3">
              <a:extLst/>
            </a:blip>
            <a:stretch>
              <a:fillRect/>
            </a:stretch>
          </p:blipFill>
          <p:spPr>
            <a:xfrm rot="10800000">
              <a:off x="5972" y="1892299"/>
              <a:ext cx="889001" cy="815390"/>
            </a:xfrm>
            <a:prstGeom prst="rect">
              <a:avLst/>
            </a:prstGeom>
            <a:ln w="12700" cap="flat">
              <a:noFill/>
              <a:miter lim="400000"/>
            </a:ln>
            <a:effectLst/>
          </p:spPr>
        </p:pic>
        <p:sp>
          <p:nvSpPr>
            <p:cNvPr id="2090" name="Shape 2090"/>
            <p:cNvSpPr/>
            <p:nvPr/>
          </p:nvSpPr>
          <p:spPr>
            <a:xfrm>
              <a:off x="269661" y="22672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91" name="Shape 2091"/>
            <p:cNvSpPr/>
            <p:nvPr/>
          </p:nvSpPr>
          <p:spPr>
            <a:xfrm>
              <a:off x="131350" y="23434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092" name="LB-drab1.png"/>
            <p:cNvPicPr>
              <a:picLocks noChangeAspect="1"/>
            </p:cNvPicPr>
            <p:nvPr/>
          </p:nvPicPr>
          <p:blipFill>
            <a:blip r:embed="rId4">
              <a:extLst/>
            </a:blip>
            <a:stretch>
              <a:fillRect/>
            </a:stretch>
          </p:blipFill>
          <p:spPr>
            <a:xfrm rot="10800000">
              <a:off x="0" y="2"/>
              <a:ext cx="889001" cy="814440"/>
            </a:xfrm>
            <a:prstGeom prst="rect">
              <a:avLst/>
            </a:prstGeom>
            <a:ln w="12700" cap="flat">
              <a:noFill/>
              <a:miter lim="400000"/>
            </a:ln>
            <a:effectLst/>
          </p:spPr>
        </p:pic>
        <p:sp>
          <p:nvSpPr>
            <p:cNvPr id="2093" name="Shape 2093"/>
            <p:cNvSpPr/>
            <p:nvPr/>
          </p:nvSpPr>
          <p:spPr>
            <a:xfrm>
              <a:off x="295061" y="3241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94" name="Shape 2094"/>
            <p:cNvSpPr/>
            <p:nvPr/>
          </p:nvSpPr>
          <p:spPr>
            <a:xfrm>
              <a:off x="220250" y="362297"/>
              <a:ext cx="393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095" name="LB-orange1.png"/>
            <p:cNvPicPr>
              <a:picLocks noChangeAspect="1"/>
            </p:cNvPicPr>
            <p:nvPr/>
          </p:nvPicPr>
          <p:blipFill>
            <a:blip r:embed="rId5">
              <a:extLst/>
            </a:blip>
            <a:stretch>
              <a:fillRect/>
            </a:stretch>
          </p:blipFill>
          <p:spPr>
            <a:xfrm rot="10800000">
              <a:off x="2743498" y="11123"/>
              <a:ext cx="889001" cy="802330"/>
            </a:xfrm>
            <a:prstGeom prst="rect">
              <a:avLst/>
            </a:prstGeom>
            <a:ln w="12700" cap="flat">
              <a:noFill/>
              <a:miter lim="400000"/>
            </a:ln>
            <a:effectLst/>
          </p:spPr>
        </p:pic>
        <p:sp>
          <p:nvSpPr>
            <p:cNvPr id="2096" name="Shape 2096"/>
            <p:cNvSpPr/>
            <p:nvPr/>
          </p:nvSpPr>
          <p:spPr>
            <a:xfrm>
              <a:off x="3025561" y="3622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97" name="Shape 2097"/>
            <p:cNvSpPr/>
            <p:nvPr/>
          </p:nvSpPr>
          <p:spPr>
            <a:xfrm>
              <a:off x="2950750" y="425797"/>
              <a:ext cx="393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098" name="LB-orange1.png"/>
            <p:cNvPicPr>
              <a:picLocks noChangeAspect="1"/>
            </p:cNvPicPr>
            <p:nvPr/>
          </p:nvPicPr>
          <p:blipFill>
            <a:blip r:embed="rId5">
              <a:extLst/>
            </a:blip>
            <a:stretch>
              <a:fillRect/>
            </a:stretch>
          </p:blipFill>
          <p:spPr>
            <a:xfrm rot="10800000">
              <a:off x="2006898" y="938223"/>
              <a:ext cx="889001" cy="802330"/>
            </a:xfrm>
            <a:prstGeom prst="rect">
              <a:avLst/>
            </a:prstGeom>
            <a:ln w="12700" cap="flat">
              <a:noFill/>
              <a:miter lim="400000"/>
            </a:ln>
            <a:effectLst/>
          </p:spPr>
        </p:pic>
        <p:sp>
          <p:nvSpPr>
            <p:cNvPr id="2099" name="Shape 2099"/>
            <p:cNvSpPr/>
            <p:nvPr/>
          </p:nvSpPr>
          <p:spPr>
            <a:xfrm>
              <a:off x="2288961" y="12893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00" name="Shape 2100"/>
            <p:cNvSpPr/>
            <p:nvPr/>
          </p:nvSpPr>
          <p:spPr>
            <a:xfrm>
              <a:off x="2214150" y="1365597"/>
              <a:ext cx="393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01" name="LB-orange1.png"/>
            <p:cNvPicPr>
              <a:picLocks noChangeAspect="1"/>
            </p:cNvPicPr>
            <p:nvPr/>
          </p:nvPicPr>
          <p:blipFill>
            <a:blip r:embed="rId5">
              <a:extLst/>
            </a:blip>
            <a:stretch>
              <a:fillRect/>
            </a:stretch>
          </p:blipFill>
          <p:spPr>
            <a:xfrm rot="10800000">
              <a:off x="2743498" y="938223"/>
              <a:ext cx="889001" cy="802330"/>
            </a:xfrm>
            <a:prstGeom prst="rect">
              <a:avLst/>
            </a:prstGeom>
            <a:ln w="12700" cap="flat">
              <a:noFill/>
              <a:miter lim="400000"/>
            </a:ln>
            <a:effectLst/>
          </p:spPr>
        </p:pic>
        <p:sp>
          <p:nvSpPr>
            <p:cNvPr id="2102" name="Shape 2102"/>
            <p:cNvSpPr/>
            <p:nvPr/>
          </p:nvSpPr>
          <p:spPr>
            <a:xfrm>
              <a:off x="3025561" y="12893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03" name="Shape 2103"/>
            <p:cNvSpPr/>
            <p:nvPr/>
          </p:nvSpPr>
          <p:spPr>
            <a:xfrm>
              <a:off x="2938050" y="1365597"/>
              <a:ext cx="393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04" name="LB-orange1.png"/>
            <p:cNvPicPr>
              <a:picLocks noChangeAspect="1"/>
            </p:cNvPicPr>
            <p:nvPr/>
          </p:nvPicPr>
          <p:blipFill>
            <a:blip r:embed="rId5">
              <a:extLst/>
            </a:blip>
            <a:stretch>
              <a:fillRect/>
            </a:stretch>
          </p:blipFill>
          <p:spPr>
            <a:xfrm rot="10800000">
              <a:off x="2006898" y="1903423"/>
              <a:ext cx="889001" cy="802330"/>
            </a:xfrm>
            <a:prstGeom prst="rect">
              <a:avLst/>
            </a:prstGeom>
            <a:ln w="12700" cap="flat">
              <a:noFill/>
              <a:miter lim="400000"/>
            </a:ln>
            <a:effectLst/>
          </p:spPr>
        </p:pic>
        <p:sp>
          <p:nvSpPr>
            <p:cNvPr id="2105" name="Shape 2105"/>
            <p:cNvSpPr/>
            <p:nvPr/>
          </p:nvSpPr>
          <p:spPr>
            <a:xfrm>
              <a:off x="2288961" y="22545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06" name="Shape 2106"/>
            <p:cNvSpPr/>
            <p:nvPr/>
          </p:nvSpPr>
          <p:spPr>
            <a:xfrm>
              <a:off x="2201450" y="2318097"/>
              <a:ext cx="393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07" name="LB-orange1.png"/>
            <p:cNvPicPr>
              <a:picLocks noChangeAspect="1"/>
            </p:cNvPicPr>
            <p:nvPr/>
          </p:nvPicPr>
          <p:blipFill>
            <a:blip r:embed="rId5">
              <a:extLst/>
            </a:blip>
            <a:stretch>
              <a:fillRect/>
            </a:stretch>
          </p:blipFill>
          <p:spPr>
            <a:xfrm rot="10800000">
              <a:off x="2743498" y="1903423"/>
              <a:ext cx="889001" cy="802330"/>
            </a:xfrm>
            <a:prstGeom prst="rect">
              <a:avLst/>
            </a:prstGeom>
            <a:ln w="12700" cap="flat">
              <a:noFill/>
              <a:miter lim="400000"/>
            </a:ln>
            <a:effectLst/>
          </p:spPr>
        </p:pic>
        <p:sp>
          <p:nvSpPr>
            <p:cNvPr id="2108" name="Shape 2108"/>
            <p:cNvSpPr/>
            <p:nvPr/>
          </p:nvSpPr>
          <p:spPr>
            <a:xfrm>
              <a:off x="3025561" y="22545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09" name="Shape 2109"/>
            <p:cNvSpPr/>
            <p:nvPr/>
          </p:nvSpPr>
          <p:spPr>
            <a:xfrm>
              <a:off x="2950750" y="2318097"/>
              <a:ext cx="393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grpSp>
      <p:grpSp>
        <p:nvGrpSpPr>
          <p:cNvPr id="2123" name="Group 2123"/>
          <p:cNvGrpSpPr/>
          <p:nvPr/>
        </p:nvGrpSpPr>
        <p:grpSpPr>
          <a:xfrm>
            <a:off x="5514810" y="2952402"/>
            <a:ext cx="1638301" cy="1729790"/>
            <a:chOff x="0" y="0"/>
            <a:chExt cx="1638300" cy="1729788"/>
          </a:xfrm>
        </p:grpSpPr>
        <p:pic>
          <p:nvPicPr>
            <p:cNvPr id="2111" name="LB-red1.png"/>
            <p:cNvPicPr>
              <a:picLocks noChangeAspect="1"/>
            </p:cNvPicPr>
            <p:nvPr/>
          </p:nvPicPr>
          <p:blipFill>
            <a:blip r:embed="rId3">
              <a:extLst/>
            </a:blip>
            <a:stretch>
              <a:fillRect/>
            </a:stretch>
          </p:blipFill>
          <p:spPr>
            <a:xfrm rot="10800000">
              <a:off x="-1" y="0"/>
              <a:ext cx="889001" cy="815389"/>
            </a:xfrm>
            <a:prstGeom prst="rect">
              <a:avLst/>
            </a:prstGeom>
            <a:ln w="25400" cap="flat">
              <a:noFill/>
              <a:miter lim="400000"/>
            </a:ln>
            <a:effectLst/>
          </p:spPr>
        </p:pic>
        <p:sp>
          <p:nvSpPr>
            <p:cNvPr id="2112" name="Shape 2112"/>
            <p:cNvSpPr/>
            <p:nvPr/>
          </p:nvSpPr>
          <p:spPr>
            <a:xfrm>
              <a:off x="263689" y="3749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13" name="Shape 2113"/>
            <p:cNvSpPr/>
            <p:nvPr/>
          </p:nvSpPr>
          <p:spPr>
            <a:xfrm>
              <a:off x="125378" y="4511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14" name="LB-orange1.png"/>
            <p:cNvPicPr>
              <a:picLocks noChangeAspect="1"/>
            </p:cNvPicPr>
            <p:nvPr/>
          </p:nvPicPr>
          <p:blipFill>
            <a:blip r:embed="rId5">
              <a:extLst/>
            </a:blip>
            <a:stretch>
              <a:fillRect/>
            </a:stretch>
          </p:blipFill>
          <p:spPr>
            <a:xfrm rot="10800000">
              <a:off x="680126" y="11123"/>
              <a:ext cx="889001" cy="802330"/>
            </a:xfrm>
            <a:prstGeom prst="rect">
              <a:avLst/>
            </a:prstGeom>
            <a:ln w="25400" cap="flat">
              <a:noFill/>
              <a:miter lim="400000"/>
            </a:ln>
            <a:effectLst/>
          </p:spPr>
        </p:pic>
        <p:sp>
          <p:nvSpPr>
            <p:cNvPr id="2115" name="Shape 2115"/>
            <p:cNvSpPr/>
            <p:nvPr/>
          </p:nvSpPr>
          <p:spPr>
            <a:xfrm>
              <a:off x="962190" y="3622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16" name="Shape 2116"/>
            <p:cNvSpPr/>
            <p:nvPr/>
          </p:nvSpPr>
          <p:spPr>
            <a:xfrm>
              <a:off x="874679" y="438497"/>
              <a:ext cx="393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17" name="LB-red1.png"/>
            <p:cNvPicPr>
              <a:picLocks noChangeAspect="1"/>
            </p:cNvPicPr>
            <p:nvPr/>
          </p:nvPicPr>
          <p:blipFill>
            <a:blip r:embed="rId3">
              <a:extLst/>
            </a:blip>
            <a:stretch>
              <a:fillRect/>
            </a:stretch>
          </p:blipFill>
          <p:spPr>
            <a:xfrm rot="10800000">
              <a:off x="38099" y="914399"/>
              <a:ext cx="889001" cy="815390"/>
            </a:xfrm>
            <a:prstGeom prst="rect">
              <a:avLst/>
            </a:prstGeom>
            <a:ln w="25400" cap="flat">
              <a:noFill/>
              <a:miter lim="400000"/>
            </a:ln>
            <a:effectLst/>
          </p:spPr>
        </p:pic>
        <p:sp>
          <p:nvSpPr>
            <p:cNvPr id="2118" name="Shape 2118"/>
            <p:cNvSpPr/>
            <p:nvPr/>
          </p:nvSpPr>
          <p:spPr>
            <a:xfrm>
              <a:off x="301789" y="12893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19" name="Shape 2119"/>
            <p:cNvSpPr/>
            <p:nvPr/>
          </p:nvSpPr>
          <p:spPr>
            <a:xfrm>
              <a:off x="163478" y="13528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20" name="LB-red1.png"/>
            <p:cNvPicPr>
              <a:picLocks noChangeAspect="1"/>
            </p:cNvPicPr>
            <p:nvPr/>
          </p:nvPicPr>
          <p:blipFill>
            <a:blip r:embed="rId3">
              <a:extLst/>
            </a:blip>
            <a:stretch>
              <a:fillRect/>
            </a:stretch>
          </p:blipFill>
          <p:spPr>
            <a:xfrm rot="10800000">
              <a:off x="749300" y="914399"/>
              <a:ext cx="889001" cy="815390"/>
            </a:xfrm>
            <a:prstGeom prst="rect">
              <a:avLst/>
            </a:prstGeom>
            <a:ln w="25400" cap="flat">
              <a:noFill/>
              <a:miter lim="400000"/>
            </a:ln>
            <a:effectLst/>
          </p:spPr>
        </p:pic>
        <p:sp>
          <p:nvSpPr>
            <p:cNvPr id="2121" name="Shape 2121"/>
            <p:cNvSpPr/>
            <p:nvPr/>
          </p:nvSpPr>
          <p:spPr>
            <a:xfrm>
              <a:off x="1012989" y="12893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22" name="Shape 2122"/>
            <p:cNvSpPr/>
            <p:nvPr/>
          </p:nvSpPr>
          <p:spPr>
            <a:xfrm>
              <a:off x="874678" y="13528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grpSp>
      <p:grpSp>
        <p:nvGrpSpPr>
          <p:cNvPr id="2169" name="Group 2169"/>
          <p:cNvGrpSpPr/>
          <p:nvPr/>
        </p:nvGrpSpPr>
        <p:grpSpPr>
          <a:xfrm>
            <a:off x="8245310" y="2495202"/>
            <a:ext cx="3759201" cy="2705754"/>
            <a:chOff x="0" y="0"/>
            <a:chExt cx="3759200" cy="2705753"/>
          </a:xfrm>
        </p:grpSpPr>
        <p:pic>
          <p:nvPicPr>
            <p:cNvPr id="2124" name="LB-orange1.png"/>
            <p:cNvPicPr>
              <a:picLocks noChangeAspect="1"/>
            </p:cNvPicPr>
            <p:nvPr/>
          </p:nvPicPr>
          <p:blipFill>
            <a:blip r:embed="rId5">
              <a:extLst/>
            </a:blip>
            <a:stretch>
              <a:fillRect/>
            </a:stretch>
          </p:blipFill>
          <p:spPr>
            <a:xfrm rot="10800000">
              <a:off x="2864525" y="11123"/>
              <a:ext cx="889001" cy="802330"/>
            </a:xfrm>
            <a:prstGeom prst="rect">
              <a:avLst/>
            </a:prstGeom>
            <a:ln w="12700" cap="flat">
              <a:noFill/>
              <a:miter lim="400000"/>
            </a:ln>
            <a:effectLst/>
          </p:spPr>
        </p:pic>
        <p:sp>
          <p:nvSpPr>
            <p:cNvPr id="2125" name="Shape 2125"/>
            <p:cNvSpPr/>
            <p:nvPr/>
          </p:nvSpPr>
          <p:spPr>
            <a:xfrm>
              <a:off x="3146589" y="3622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26" name="Shape 2126"/>
            <p:cNvSpPr/>
            <p:nvPr/>
          </p:nvSpPr>
          <p:spPr>
            <a:xfrm>
              <a:off x="3059078" y="438497"/>
              <a:ext cx="393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27" name="LB-orange1.png"/>
            <p:cNvPicPr>
              <a:picLocks noChangeAspect="1"/>
            </p:cNvPicPr>
            <p:nvPr/>
          </p:nvPicPr>
          <p:blipFill>
            <a:blip r:embed="rId5">
              <a:extLst/>
            </a:blip>
            <a:stretch>
              <a:fillRect/>
            </a:stretch>
          </p:blipFill>
          <p:spPr>
            <a:xfrm rot="10800000">
              <a:off x="2166025" y="938223"/>
              <a:ext cx="889001" cy="802330"/>
            </a:xfrm>
            <a:prstGeom prst="rect">
              <a:avLst/>
            </a:prstGeom>
            <a:ln w="12700" cap="flat">
              <a:noFill/>
              <a:miter lim="400000"/>
            </a:ln>
            <a:effectLst/>
          </p:spPr>
        </p:pic>
        <p:sp>
          <p:nvSpPr>
            <p:cNvPr id="2128" name="Shape 2128"/>
            <p:cNvSpPr/>
            <p:nvPr/>
          </p:nvSpPr>
          <p:spPr>
            <a:xfrm>
              <a:off x="2448089" y="12893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29" name="Shape 2129"/>
            <p:cNvSpPr/>
            <p:nvPr/>
          </p:nvSpPr>
          <p:spPr>
            <a:xfrm>
              <a:off x="2373278" y="1365597"/>
              <a:ext cx="393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30" name="LB-orange1.png"/>
            <p:cNvPicPr>
              <a:picLocks noChangeAspect="1"/>
            </p:cNvPicPr>
            <p:nvPr/>
          </p:nvPicPr>
          <p:blipFill>
            <a:blip r:embed="rId5">
              <a:extLst/>
            </a:blip>
            <a:stretch>
              <a:fillRect/>
            </a:stretch>
          </p:blipFill>
          <p:spPr>
            <a:xfrm rot="10800000">
              <a:off x="2864525" y="1903423"/>
              <a:ext cx="889001" cy="802330"/>
            </a:xfrm>
            <a:prstGeom prst="rect">
              <a:avLst/>
            </a:prstGeom>
            <a:ln w="12700" cap="flat">
              <a:noFill/>
              <a:miter lim="400000"/>
            </a:ln>
            <a:effectLst/>
          </p:spPr>
        </p:pic>
        <p:sp>
          <p:nvSpPr>
            <p:cNvPr id="2131" name="Shape 2131"/>
            <p:cNvSpPr/>
            <p:nvPr/>
          </p:nvSpPr>
          <p:spPr>
            <a:xfrm>
              <a:off x="3146589" y="22545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32" name="Shape 2132"/>
            <p:cNvSpPr/>
            <p:nvPr/>
          </p:nvSpPr>
          <p:spPr>
            <a:xfrm>
              <a:off x="3059078" y="2330797"/>
              <a:ext cx="393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33" name="LB-red1.png"/>
            <p:cNvPicPr>
              <a:picLocks noChangeAspect="1"/>
            </p:cNvPicPr>
            <p:nvPr/>
          </p:nvPicPr>
          <p:blipFill>
            <a:blip r:embed="rId3">
              <a:extLst/>
            </a:blip>
            <a:stretch>
              <a:fillRect/>
            </a:stretch>
          </p:blipFill>
          <p:spPr>
            <a:xfrm rot="10800000">
              <a:off x="-1" y="0"/>
              <a:ext cx="889001" cy="815389"/>
            </a:xfrm>
            <a:prstGeom prst="rect">
              <a:avLst/>
            </a:prstGeom>
            <a:ln w="12700" cap="flat">
              <a:noFill/>
              <a:miter lim="400000"/>
            </a:ln>
            <a:effectLst/>
          </p:spPr>
        </p:pic>
        <p:sp>
          <p:nvSpPr>
            <p:cNvPr id="2134" name="Shape 2134"/>
            <p:cNvSpPr/>
            <p:nvPr/>
          </p:nvSpPr>
          <p:spPr>
            <a:xfrm>
              <a:off x="263689" y="3749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35" name="Shape 2135"/>
            <p:cNvSpPr/>
            <p:nvPr/>
          </p:nvSpPr>
          <p:spPr>
            <a:xfrm>
              <a:off x="125378" y="4384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36" name="LB-red1.png"/>
            <p:cNvPicPr>
              <a:picLocks noChangeAspect="1"/>
            </p:cNvPicPr>
            <p:nvPr/>
          </p:nvPicPr>
          <p:blipFill>
            <a:blip r:embed="rId3">
              <a:extLst/>
            </a:blip>
            <a:stretch>
              <a:fillRect/>
            </a:stretch>
          </p:blipFill>
          <p:spPr>
            <a:xfrm rot="10800000">
              <a:off x="711200" y="0"/>
              <a:ext cx="889000" cy="815389"/>
            </a:xfrm>
            <a:prstGeom prst="rect">
              <a:avLst/>
            </a:prstGeom>
            <a:ln w="12700" cap="flat">
              <a:noFill/>
              <a:miter lim="400000"/>
            </a:ln>
            <a:effectLst/>
          </p:spPr>
        </p:pic>
        <p:sp>
          <p:nvSpPr>
            <p:cNvPr id="2137" name="Shape 2137"/>
            <p:cNvSpPr/>
            <p:nvPr/>
          </p:nvSpPr>
          <p:spPr>
            <a:xfrm>
              <a:off x="974889" y="3749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38" name="Shape 2138"/>
            <p:cNvSpPr/>
            <p:nvPr/>
          </p:nvSpPr>
          <p:spPr>
            <a:xfrm>
              <a:off x="836578" y="4384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39" name="LB-red1.png"/>
            <p:cNvPicPr>
              <a:picLocks noChangeAspect="1"/>
            </p:cNvPicPr>
            <p:nvPr/>
          </p:nvPicPr>
          <p:blipFill>
            <a:blip r:embed="rId3">
              <a:extLst/>
            </a:blip>
            <a:stretch>
              <a:fillRect/>
            </a:stretch>
          </p:blipFill>
          <p:spPr>
            <a:xfrm rot="10800000">
              <a:off x="1511300" y="0"/>
              <a:ext cx="889000" cy="815389"/>
            </a:xfrm>
            <a:prstGeom prst="rect">
              <a:avLst/>
            </a:prstGeom>
            <a:ln w="12700" cap="flat">
              <a:noFill/>
              <a:miter lim="400000"/>
            </a:ln>
            <a:effectLst/>
          </p:spPr>
        </p:pic>
        <p:sp>
          <p:nvSpPr>
            <p:cNvPr id="2140" name="Shape 2140"/>
            <p:cNvSpPr/>
            <p:nvPr/>
          </p:nvSpPr>
          <p:spPr>
            <a:xfrm>
              <a:off x="1774989" y="3749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41" name="Shape 2141"/>
            <p:cNvSpPr/>
            <p:nvPr/>
          </p:nvSpPr>
          <p:spPr>
            <a:xfrm>
              <a:off x="1636678" y="4384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42" name="LB-red1.png"/>
            <p:cNvPicPr>
              <a:picLocks noChangeAspect="1"/>
            </p:cNvPicPr>
            <p:nvPr/>
          </p:nvPicPr>
          <p:blipFill>
            <a:blip r:embed="rId3">
              <a:extLst/>
            </a:blip>
            <a:stretch>
              <a:fillRect/>
            </a:stretch>
          </p:blipFill>
          <p:spPr>
            <a:xfrm rot="10800000">
              <a:off x="2222500" y="0"/>
              <a:ext cx="889000" cy="815389"/>
            </a:xfrm>
            <a:prstGeom prst="rect">
              <a:avLst/>
            </a:prstGeom>
            <a:ln w="12700" cap="flat">
              <a:noFill/>
              <a:miter lim="400000"/>
            </a:ln>
            <a:effectLst/>
          </p:spPr>
        </p:pic>
        <p:sp>
          <p:nvSpPr>
            <p:cNvPr id="2143" name="Shape 2143"/>
            <p:cNvSpPr/>
            <p:nvPr/>
          </p:nvSpPr>
          <p:spPr>
            <a:xfrm>
              <a:off x="2486189" y="3749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44" name="Shape 2144"/>
            <p:cNvSpPr/>
            <p:nvPr/>
          </p:nvSpPr>
          <p:spPr>
            <a:xfrm>
              <a:off x="2347878" y="4511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45" name="LB-red1.png"/>
            <p:cNvPicPr>
              <a:picLocks noChangeAspect="1"/>
            </p:cNvPicPr>
            <p:nvPr/>
          </p:nvPicPr>
          <p:blipFill>
            <a:blip r:embed="rId3">
              <a:extLst/>
            </a:blip>
            <a:stretch>
              <a:fillRect/>
            </a:stretch>
          </p:blipFill>
          <p:spPr>
            <a:xfrm rot="10800000">
              <a:off x="-1" y="927100"/>
              <a:ext cx="889001" cy="815389"/>
            </a:xfrm>
            <a:prstGeom prst="rect">
              <a:avLst/>
            </a:prstGeom>
            <a:ln w="12700" cap="flat">
              <a:noFill/>
              <a:miter lim="400000"/>
            </a:ln>
            <a:effectLst/>
          </p:spPr>
        </p:pic>
        <p:sp>
          <p:nvSpPr>
            <p:cNvPr id="2146" name="Shape 2146"/>
            <p:cNvSpPr/>
            <p:nvPr/>
          </p:nvSpPr>
          <p:spPr>
            <a:xfrm>
              <a:off x="263689" y="13020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47" name="Shape 2147"/>
            <p:cNvSpPr/>
            <p:nvPr/>
          </p:nvSpPr>
          <p:spPr>
            <a:xfrm>
              <a:off x="125378" y="13782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48" name="LB-red1.png"/>
            <p:cNvPicPr>
              <a:picLocks noChangeAspect="1"/>
            </p:cNvPicPr>
            <p:nvPr/>
          </p:nvPicPr>
          <p:blipFill>
            <a:blip r:embed="rId3">
              <a:extLst/>
            </a:blip>
            <a:stretch>
              <a:fillRect/>
            </a:stretch>
          </p:blipFill>
          <p:spPr>
            <a:xfrm rot="10800000">
              <a:off x="711200" y="927100"/>
              <a:ext cx="889000" cy="815389"/>
            </a:xfrm>
            <a:prstGeom prst="rect">
              <a:avLst/>
            </a:prstGeom>
            <a:ln w="12700" cap="flat">
              <a:noFill/>
              <a:miter lim="400000"/>
            </a:ln>
            <a:effectLst/>
          </p:spPr>
        </p:pic>
        <p:sp>
          <p:nvSpPr>
            <p:cNvPr id="2149" name="Shape 2149"/>
            <p:cNvSpPr/>
            <p:nvPr/>
          </p:nvSpPr>
          <p:spPr>
            <a:xfrm>
              <a:off x="974889" y="13020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50" name="Shape 2150"/>
            <p:cNvSpPr/>
            <p:nvPr/>
          </p:nvSpPr>
          <p:spPr>
            <a:xfrm>
              <a:off x="836578" y="13782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51" name="LB-red1.png"/>
            <p:cNvPicPr>
              <a:picLocks noChangeAspect="1"/>
            </p:cNvPicPr>
            <p:nvPr/>
          </p:nvPicPr>
          <p:blipFill>
            <a:blip r:embed="rId3">
              <a:extLst/>
            </a:blip>
            <a:stretch>
              <a:fillRect/>
            </a:stretch>
          </p:blipFill>
          <p:spPr>
            <a:xfrm rot="10800000">
              <a:off x="1511300" y="914400"/>
              <a:ext cx="889000" cy="815389"/>
            </a:xfrm>
            <a:prstGeom prst="rect">
              <a:avLst/>
            </a:prstGeom>
            <a:ln w="12700" cap="flat">
              <a:noFill/>
              <a:miter lim="400000"/>
            </a:ln>
            <a:effectLst/>
          </p:spPr>
        </p:pic>
        <p:sp>
          <p:nvSpPr>
            <p:cNvPr id="2152" name="Shape 2152"/>
            <p:cNvSpPr/>
            <p:nvPr/>
          </p:nvSpPr>
          <p:spPr>
            <a:xfrm>
              <a:off x="1774989" y="12893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53" name="Shape 2153"/>
            <p:cNvSpPr/>
            <p:nvPr/>
          </p:nvSpPr>
          <p:spPr>
            <a:xfrm>
              <a:off x="1636678" y="13655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54" name="LB-red1.png"/>
            <p:cNvPicPr>
              <a:picLocks noChangeAspect="1"/>
            </p:cNvPicPr>
            <p:nvPr/>
          </p:nvPicPr>
          <p:blipFill>
            <a:blip r:embed="rId3">
              <a:extLst/>
            </a:blip>
            <a:stretch>
              <a:fillRect/>
            </a:stretch>
          </p:blipFill>
          <p:spPr>
            <a:xfrm rot="10800000">
              <a:off x="-1" y="1879600"/>
              <a:ext cx="889001" cy="815389"/>
            </a:xfrm>
            <a:prstGeom prst="rect">
              <a:avLst/>
            </a:prstGeom>
            <a:ln w="12700" cap="flat">
              <a:noFill/>
              <a:miter lim="400000"/>
            </a:ln>
            <a:effectLst/>
          </p:spPr>
        </p:pic>
        <p:sp>
          <p:nvSpPr>
            <p:cNvPr id="2155" name="Shape 2155"/>
            <p:cNvSpPr/>
            <p:nvPr/>
          </p:nvSpPr>
          <p:spPr>
            <a:xfrm>
              <a:off x="263689" y="22545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56" name="Shape 2156"/>
            <p:cNvSpPr/>
            <p:nvPr/>
          </p:nvSpPr>
          <p:spPr>
            <a:xfrm>
              <a:off x="125378" y="23180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57" name="LB-red1.png"/>
            <p:cNvPicPr>
              <a:picLocks noChangeAspect="1"/>
            </p:cNvPicPr>
            <p:nvPr/>
          </p:nvPicPr>
          <p:blipFill>
            <a:blip r:embed="rId3">
              <a:extLst/>
            </a:blip>
            <a:stretch>
              <a:fillRect/>
            </a:stretch>
          </p:blipFill>
          <p:spPr>
            <a:xfrm rot="10800000">
              <a:off x="711200" y="1879600"/>
              <a:ext cx="889000" cy="815389"/>
            </a:xfrm>
            <a:prstGeom prst="rect">
              <a:avLst/>
            </a:prstGeom>
            <a:ln w="12700" cap="flat">
              <a:noFill/>
              <a:miter lim="400000"/>
            </a:ln>
            <a:effectLst/>
          </p:spPr>
        </p:pic>
        <p:sp>
          <p:nvSpPr>
            <p:cNvPr id="2158" name="Shape 2158"/>
            <p:cNvSpPr/>
            <p:nvPr/>
          </p:nvSpPr>
          <p:spPr>
            <a:xfrm>
              <a:off x="974889" y="22545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59" name="Shape 2159"/>
            <p:cNvSpPr/>
            <p:nvPr/>
          </p:nvSpPr>
          <p:spPr>
            <a:xfrm>
              <a:off x="836578" y="23180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60" name="LB-red1.png"/>
            <p:cNvPicPr>
              <a:picLocks noChangeAspect="1"/>
            </p:cNvPicPr>
            <p:nvPr/>
          </p:nvPicPr>
          <p:blipFill>
            <a:blip r:embed="rId3">
              <a:extLst/>
            </a:blip>
            <a:stretch>
              <a:fillRect/>
            </a:stretch>
          </p:blipFill>
          <p:spPr>
            <a:xfrm rot="10800000">
              <a:off x="1511300" y="1879600"/>
              <a:ext cx="889000" cy="815389"/>
            </a:xfrm>
            <a:prstGeom prst="rect">
              <a:avLst/>
            </a:prstGeom>
            <a:ln w="12700" cap="flat">
              <a:noFill/>
              <a:miter lim="400000"/>
            </a:ln>
            <a:effectLst/>
          </p:spPr>
        </p:pic>
        <p:sp>
          <p:nvSpPr>
            <p:cNvPr id="2161" name="Shape 2161"/>
            <p:cNvSpPr/>
            <p:nvPr/>
          </p:nvSpPr>
          <p:spPr>
            <a:xfrm>
              <a:off x="1774989" y="22545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62" name="Shape 2162"/>
            <p:cNvSpPr/>
            <p:nvPr/>
          </p:nvSpPr>
          <p:spPr>
            <a:xfrm>
              <a:off x="1636678" y="23180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63" name="LB-red1.png"/>
            <p:cNvPicPr>
              <a:picLocks noChangeAspect="1"/>
            </p:cNvPicPr>
            <p:nvPr/>
          </p:nvPicPr>
          <p:blipFill>
            <a:blip r:embed="rId3">
              <a:extLst/>
            </a:blip>
            <a:stretch>
              <a:fillRect/>
            </a:stretch>
          </p:blipFill>
          <p:spPr>
            <a:xfrm rot="10800000">
              <a:off x="2222500" y="1879600"/>
              <a:ext cx="889000" cy="815389"/>
            </a:xfrm>
            <a:prstGeom prst="rect">
              <a:avLst/>
            </a:prstGeom>
            <a:ln w="12700" cap="flat">
              <a:noFill/>
              <a:miter lim="400000"/>
            </a:ln>
            <a:effectLst/>
          </p:spPr>
        </p:pic>
        <p:sp>
          <p:nvSpPr>
            <p:cNvPr id="2164" name="Shape 2164"/>
            <p:cNvSpPr/>
            <p:nvPr/>
          </p:nvSpPr>
          <p:spPr>
            <a:xfrm>
              <a:off x="2486189" y="22545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65" name="Shape 2165"/>
            <p:cNvSpPr/>
            <p:nvPr/>
          </p:nvSpPr>
          <p:spPr>
            <a:xfrm>
              <a:off x="2347878" y="23434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pic>
          <p:nvPicPr>
            <p:cNvPr id="2166" name="LB-red1.png"/>
            <p:cNvPicPr>
              <a:picLocks noChangeAspect="1"/>
            </p:cNvPicPr>
            <p:nvPr/>
          </p:nvPicPr>
          <p:blipFill>
            <a:blip r:embed="rId3">
              <a:extLst/>
            </a:blip>
            <a:stretch>
              <a:fillRect/>
            </a:stretch>
          </p:blipFill>
          <p:spPr>
            <a:xfrm rot="10800000">
              <a:off x="2870200" y="914400"/>
              <a:ext cx="889000" cy="815389"/>
            </a:xfrm>
            <a:prstGeom prst="rect">
              <a:avLst/>
            </a:prstGeom>
            <a:ln w="12700" cap="flat">
              <a:noFill/>
              <a:miter lim="400000"/>
            </a:ln>
            <a:effectLst/>
          </p:spPr>
        </p:pic>
        <p:sp>
          <p:nvSpPr>
            <p:cNvPr id="2167" name="Shape 2167"/>
            <p:cNvSpPr/>
            <p:nvPr/>
          </p:nvSpPr>
          <p:spPr>
            <a:xfrm>
              <a:off x="3133889" y="1289397"/>
              <a:ext cx="355601" cy="355601"/>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68" name="Shape 2168"/>
            <p:cNvSpPr/>
            <p:nvPr/>
          </p:nvSpPr>
          <p:spPr>
            <a:xfrm>
              <a:off x="2995578" y="1365597"/>
              <a:ext cx="520701"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1600"/>
                </a:lnSpc>
                <a:tabLst>
                  <a:tab pos="520700" algn="l"/>
                </a:tabLst>
                <a:defRPr sz="1400" b="1">
                  <a:solidFill>
                    <a:srgbClr val="000000"/>
                  </a:solidFill>
                </a:defRPr>
              </a:lvl1pPr>
            </a:lstStyle>
            <a:p>
              <a:r>
                <a:t>AA</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 name="Shape 2191"/>
          <p:cNvSpPr/>
          <p:nvPr/>
        </p:nvSpPr>
        <p:spPr>
          <a:xfrm>
            <a:off x="8001666" y="-861291"/>
            <a:ext cx="5986912" cy="6671470"/>
          </a:xfrm>
          <a:custGeom>
            <a:avLst/>
            <a:gdLst/>
            <a:ahLst/>
            <a:cxnLst>
              <a:cxn ang="0">
                <a:pos x="wd2" y="hd2"/>
              </a:cxn>
              <a:cxn ang="5400000">
                <a:pos x="wd2" y="hd2"/>
              </a:cxn>
              <a:cxn ang="10800000">
                <a:pos x="wd2" y="hd2"/>
              </a:cxn>
              <a:cxn ang="16200000">
                <a:pos x="wd2" y="hd2"/>
              </a:cxn>
            </a:cxnLst>
            <a:rect l="0" t="0" r="r" b="b"/>
            <a:pathLst>
              <a:path w="19056" h="16844" extrusionOk="0">
                <a:moveTo>
                  <a:pt x="13470" y="960"/>
                </a:moveTo>
                <a:cubicBezTo>
                  <a:pt x="21079" y="5272"/>
                  <a:pt x="20112" y="12081"/>
                  <a:pt x="15357" y="12081"/>
                </a:cubicBezTo>
                <a:cubicBezTo>
                  <a:pt x="10602" y="12081"/>
                  <a:pt x="10930" y="19653"/>
                  <a:pt x="4364" y="15703"/>
                </a:cubicBezTo>
                <a:cubicBezTo>
                  <a:pt x="-486" y="12786"/>
                  <a:pt x="-521" y="12337"/>
                  <a:pt x="605" y="7273"/>
                </a:cubicBezTo>
                <a:cubicBezTo>
                  <a:pt x="1731" y="2209"/>
                  <a:pt x="8339" y="-1947"/>
                  <a:pt x="13470" y="960"/>
                </a:cubicBezTo>
                <a:close/>
              </a:path>
            </a:pathLst>
          </a:custGeom>
          <a:gradFill>
            <a:gsLst>
              <a:gs pos="0">
                <a:srgbClr val="FFD479"/>
              </a:gs>
              <a:gs pos="100000">
                <a:srgbClr val="FFFFFF"/>
              </a:gs>
            </a:gsLst>
            <a:lin ang="5400000"/>
          </a:gradFill>
          <a:ln w="25400">
            <a:solidFill>
              <a:srgbClr val="824828"/>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2192" name="Genetic drift bird 2.png"/>
          <p:cNvPicPr>
            <a:picLocks noChangeAspect="1"/>
          </p:cNvPicPr>
          <p:nvPr/>
        </p:nvPicPr>
        <p:blipFill>
          <a:blip r:embed="rId2">
            <a:extLst/>
          </a:blip>
          <a:stretch>
            <a:fillRect/>
          </a:stretch>
        </p:blipFill>
        <p:spPr>
          <a:xfrm flipH="1">
            <a:off x="10114341" y="3732172"/>
            <a:ext cx="1560888" cy="1186086"/>
          </a:xfrm>
          <a:prstGeom prst="rect">
            <a:avLst/>
          </a:prstGeom>
          <a:ln w="12700">
            <a:miter lim="400000"/>
          </a:ln>
        </p:spPr>
      </p:pic>
      <p:pic>
        <p:nvPicPr>
          <p:cNvPr id="2193" name="Genetic drift bird 3.png"/>
          <p:cNvPicPr>
            <a:picLocks noChangeAspect="1"/>
          </p:cNvPicPr>
          <p:nvPr/>
        </p:nvPicPr>
        <p:blipFill>
          <a:blip r:embed="rId3">
            <a:extLst/>
          </a:blip>
          <a:stretch>
            <a:fillRect/>
          </a:stretch>
        </p:blipFill>
        <p:spPr>
          <a:xfrm flipH="1">
            <a:off x="8281627" y="3069470"/>
            <a:ext cx="1766216" cy="1296588"/>
          </a:xfrm>
          <a:prstGeom prst="rect">
            <a:avLst/>
          </a:prstGeom>
          <a:ln w="12700">
            <a:miter lim="400000"/>
          </a:ln>
        </p:spPr>
      </p:pic>
      <p:pic>
        <p:nvPicPr>
          <p:cNvPr id="2194" name="Genetic drift bird 3.png"/>
          <p:cNvPicPr>
            <a:picLocks noChangeAspect="1"/>
          </p:cNvPicPr>
          <p:nvPr/>
        </p:nvPicPr>
        <p:blipFill>
          <a:blip r:embed="rId3">
            <a:extLst/>
          </a:blip>
          <a:stretch>
            <a:fillRect/>
          </a:stretch>
        </p:blipFill>
        <p:spPr>
          <a:xfrm flipH="1">
            <a:off x="9236667" y="4359790"/>
            <a:ext cx="1766217" cy="1296588"/>
          </a:xfrm>
          <a:prstGeom prst="rect">
            <a:avLst/>
          </a:prstGeom>
          <a:ln w="12700">
            <a:miter lim="400000"/>
          </a:ln>
        </p:spPr>
      </p:pic>
      <p:pic>
        <p:nvPicPr>
          <p:cNvPr id="2195" name="Genetic drift bird 3.png"/>
          <p:cNvPicPr>
            <a:picLocks noChangeAspect="1"/>
          </p:cNvPicPr>
          <p:nvPr/>
        </p:nvPicPr>
        <p:blipFill>
          <a:blip r:embed="rId3">
            <a:extLst/>
          </a:blip>
          <a:stretch>
            <a:fillRect/>
          </a:stretch>
        </p:blipFill>
        <p:spPr>
          <a:xfrm flipH="1">
            <a:off x="8291786" y="2033150"/>
            <a:ext cx="1766217" cy="1296588"/>
          </a:xfrm>
          <a:prstGeom prst="rect">
            <a:avLst/>
          </a:prstGeom>
          <a:ln w="12700">
            <a:miter lim="400000"/>
          </a:ln>
        </p:spPr>
      </p:pic>
      <p:pic>
        <p:nvPicPr>
          <p:cNvPr id="2196" name="Genetic drift bird 3.png"/>
          <p:cNvPicPr>
            <a:picLocks noChangeAspect="1"/>
          </p:cNvPicPr>
          <p:nvPr/>
        </p:nvPicPr>
        <p:blipFill>
          <a:blip r:embed="rId3">
            <a:extLst/>
          </a:blip>
          <a:stretch>
            <a:fillRect/>
          </a:stretch>
        </p:blipFill>
        <p:spPr>
          <a:xfrm flipH="1">
            <a:off x="11360107" y="133230"/>
            <a:ext cx="1766217" cy="1296588"/>
          </a:xfrm>
          <a:prstGeom prst="rect">
            <a:avLst/>
          </a:prstGeom>
          <a:ln w="12700">
            <a:miter lim="400000"/>
          </a:ln>
        </p:spPr>
      </p:pic>
      <p:pic>
        <p:nvPicPr>
          <p:cNvPr id="2197" name="Genetic drift bird 2.png"/>
          <p:cNvPicPr>
            <a:picLocks noChangeAspect="1"/>
          </p:cNvPicPr>
          <p:nvPr/>
        </p:nvPicPr>
        <p:blipFill>
          <a:blip r:embed="rId2">
            <a:extLst/>
          </a:blip>
          <a:stretch>
            <a:fillRect/>
          </a:stretch>
        </p:blipFill>
        <p:spPr>
          <a:xfrm flipH="1">
            <a:off x="11262421" y="2502812"/>
            <a:ext cx="1560889" cy="1186086"/>
          </a:xfrm>
          <a:prstGeom prst="rect">
            <a:avLst/>
          </a:prstGeom>
          <a:ln w="12700">
            <a:miter lim="400000"/>
          </a:ln>
        </p:spPr>
      </p:pic>
      <p:pic>
        <p:nvPicPr>
          <p:cNvPr id="2198" name="Genetic drift bird 2.png"/>
          <p:cNvPicPr>
            <a:picLocks noChangeAspect="1"/>
          </p:cNvPicPr>
          <p:nvPr/>
        </p:nvPicPr>
        <p:blipFill>
          <a:blip r:embed="rId2">
            <a:extLst/>
          </a:blip>
          <a:stretch>
            <a:fillRect/>
          </a:stretch>
        </p:blipFill>
        <p:spPr>
          <a:xfrm flipH="1">
            <a:off x="9575862" y="2330092"/>
            <a:ext cx="1560888" cy="1186086"/>
          </a:xfrm>
          <a:prstGeom prst="rect">
            <a:avLst/>
          </a:prstGeom>
          <a:ln w="12700">
            <a:miter lim="400000"/>
          </a:ln>
        </p:spPr>
      </p:pic>
      <p:pic>
        <p:nvPicPr>
          <p:cNvPr id="2199" name="Genetic drift bird 2.png"/>
          <p:cNvPicPr>
            <a:picLocks noChangeAspect="1"/>
          </p:cNvPicPr>
          <p:nvPr/>
        </p:nvPicPr>
        <p:blipFill>
          <a:blip r:embed="rId2">
            <a:extLst/>
          </a:blip>
          <a:stretch>
            <a:fillRect/>
          </a:stretch>
        </p:blipFill>
        <p:spPr>
          <a:xfrm flipH="1">
            <a:off x="10236262" y="1507132"/>
            <a:ext cx="1560888" cy="1186086"/>
          </a:xfrm>
          <a:prstGeom prst="rect">
            <a:avLst/>
          </a:prstGeom>
          <a:ln w="12700">
            <a:miter lim="400000"/>
          </a:ln>
        </p:spPr>
      </p:pic>
      <p:pic>
        <p:nvPicPr>
          <p:cNvPr id="2200" name="Genetic drift bird 2.png"/>
          <p:cNvPicPr>
            <a:picLocks noChangeAspect="1"/>
          </p:cNvPicPr>
          <p:nvPr/>
        </p:nvPicPr>
        <p:blipFill>
          <a:blip r:embed="rId2">
            <a:extLst/>
          </a:blip>
          <a:stretch>
            <a:fillRect/>
          </a:stretch>
        </p:blipFill>
        <p:spPr>
          <a:xfrm flipH="1">
            <a:off x="8458262" y="1182012"/>
            <a:ext cx="1560888" cy="1186086"/>
          </a:xfrm>
          <a:prstGeom prst="rect">
            <a:avLst/>
          </a:prstGeom>
          <a:ln w="12700">
            <a:miter lim="400000"/>
          </a:ln>
        </p:spPr>
      </p:pic>
      <p:pic>
        <p:nvPicPr>
          <p:cNvPr id="2201" name="Genetic drift bird 2.png"/>
          <p:cNvPicPr>
            <a:picLocks noChangeAspect="1"/>
          </p:cNvPicPr>
          <p:nvPr/>
        </p:nvPicPr>
        <p:blipFill>
          <a:blip r:embed="rId2">
            <a:extLst/>
          </a:blip>
          <a:stretch>
            <a:fillRect/>
          </a:stretch>
        </p:blipFill>
        <p:spPr>
          <a:xfrm flipH="1">
            <a:off x="9088181" y="155852"/>
            <a:ext cx="1560888" cy="1186086"/>
          </a:xfrm>
          <a:prstGeom prst="rect">
            <a:avLst/>
          </a:prstGeom>
          <a:ln w="12700">
            <a:miter lim="400000"/>
          </a:ln>
        </p:spPr>
      </p:pic>
      <p:pic>
        <p:nvPicPr>
          <p:cNvPr id="2202" name="Genetic drift bird 2.png"/>
          <p:cNvPicPr>
            <a:picLocks noChangeAspect="1"/>
          </p:cNvPicPr>
          <p:nvPr/>
        </p:nvPicPr>
        <p:blipFill>
          <a:blip r:embed="rId2">
            <a:extLst/>
          </a:blip>
          <a:stretch>
            <a:fillRect/>
          </a:stretch>
        </p:blipFill>
        <p:spPr>
          <a:xfrm flipH="1">
            <a:off x="11069381" y="1090572"/>
            <a:ext cx="1560888" cy="1186086"/>
          </a:xfrm>
          <a:prstGeom prst="rect">
            <a:avLst/>
          </a:prstGeom>
          <a:ln w="12700">
            <a:miter lim="400000"/>
          </a:ln>
        </p:spPr>
      </p:pic>
      <p:pic>
        <p:nvPicPr>
          <p:cNvPr id="2203" name="Genetic drift bird 2.png"/>
          <p:cNvPicPr>
            <a:picLocks noChangeAspect="1"/>
          </p:cNvPicPr>
          <p:nvPr/>
        </p:nvPicPr>
        <p:blipFill>
          <a:blip r:embed="rId2">
            <a:extLst/>
          </a:blip>
          <a:stretch>
            <a:fillRect/>
          </a:stretch>
        </p:blipFill>
        <p:spPr>
          <a:xfrm flipH="1">
            <a:off x="10144821" y="-67668"/>
            <a:ext cx="1560889" cy="1186086"/>
          </a:xfrm>
          <a:prstGeom prst="rect">
            <a:avLst/>
          </a:prstGeom>
          <a:ln w="12700">
            <a:miter lim="400000"/>
          </a:ln>
        </p:spPr>
      </p:pic>
      <p:sp>
        <p:nvSpPr>
          <p:cNvPr id="2204" name="Shape 2204"/>
          <p:cNvSpPr>
            <a:spLocks noGrp="1"/>
          </p:cNvSpPr>
          <p:nvPr>
            <p:ph type="title"/>
          </p:nvPr>
        </p:nvSpPr>
        <p:spPr>
          <a:prstGeom prst="rect">
            <a:avLst/>
          </a:prstGeom>
        </p:spPr>
        <p:txBody>
          <a:bodyPr/>
          <a:lstStyle>
            <a:lvl1pPr>
              <a:tabLst>
                <a:tab pos="952500" algn="l"/>
              </a:tabLst>
            </a:lvl1pPr>
          </a:lstStyle>
          <a:p>
            <a:r>
              <a:t>Genetic Drift</a:t>
            </a:r>
          </a:p>
        </p:txBody>
      </p:sp>
      <p:sp>
        <p:nvSpPr>
          <p:cNvPr id="2205" name="Shape 2205"/>
          <p:cNvSpPr>
            <a:spLocks noGrp="1"/>
          </p:cNvSpPr>
          <p:nvPr>
            <p:ph type="body" sz="half" idx="1"/>
          </p:nvPr>
        </p:nvSpPr>
        <p:spPr>
          <a:prstGeom prst="rect">
            <a:avLst/>
          </a:prstGeom>
        </p:spPr>
        <p:txBody>
          <a:bodyPr/>
          <a:lstStyle/>
          <a:p>
            <a:pPr>
              <a:tabLst>
                <a:tab pos="1016000" algn="l"/>
              </a:tabLst>
            </a:pPr>
            <a:r>
              <a:t>For various reasons, not all individuals will be able to contribute their genes to the next generation. As a result, random changes occur in allele frequencies in all populations.</a:t>
            </a:r>
          </a:p>
          <a:p>
            <a:pPr>
              <a:tabLst>
                <a:tab pos="1016000" algn="l"/>
              </a:tabLst>
            </a:pPr>
            <a:r>
              <a:t>These random changes are referred to as genetic drift. In small, inbreeding populations, genetic drift may have pronounced effects on allele frequencies. Alleles may become:</a:t>
            </a:r>
          </a:p>
          <a:p>
            <a:pPr lvl="1">
              <a:tabLst>
                <a:tab pos="1485900" algn="l"/>
              </a:tabLst>
            </a:pPr>
            <a:r>
              <a:t>Lost from the gene pool (frequency = 0%)</a:t>
            </a:r>
          </a:p>
          <a:p>
            <a:pPr lvl="1">
              <a:tabLst>
                <a:tab pos="1485900" algn="l"/>
              </a:tabLst>
            </a:pPr>
            <a:r>
              <a:t>Fixed as the only allele present in the gene pool (frequency = 100%)</a:t>
            </a:r>
          </a:p>
          <a:p>
            <a:pPr>
              <a:tabLst>
                <a:tab pos="1016000" algn="l"/>
              </a:tabLst>
            </a:pPr>
            <a:r>
              <a:t>Genetic drift is a significant factor in the genetic changes of small populations that become isolated from the larger population gene pool, as with island colonisers (right).</a:t>
            </a:r>
          </a:p>
        </p:txBody>
      </p:sp>
      <p:sp>
        <p:nvSpPr>
          <p:cNvPr id="2206" name="Shape 2206"/>
          <p:cNvSpPr/>
          <p:nvPr/>
        </p:nvSpPr>
        <p:spPr>
          <a:xfrm>
            <a:off x="9487566" y="6303494"/>
            <a:ext cx="3023724" cy="3368776"/>
          </a:xfrm>
          <a:custGeom>
            <a:avLst/>
            <a:gdLst/>
            <a:ahLst/>
            <a:cxnLst>
              <a:cxn ang="0">
                <a:pos x="wd2" y="hd2"/>
              </a:cxn>
              <a:cxn ang="5400000">
                <a:pos x="wd2" y="hd2"/>
              </a:cxn>
              <a:cxn ang="10800000">
                <a:pos x="wd2" y="hd2"/>
              </a:cxn>
              <a:cxn ang="16200000">
                <a:pos x="wd2" y="hd2"/>
              </a:cxn>
            </a:cxnLst>
            <a:rect l="0" t="0" r="r" b="b"/>
            <a:pathLst>
              <a:path w="19056" h="16844" extrusionOk="0">
                <a:moveTo>
                  <a:pt x="13470" y="960"/>
                </a:moveTo>
                <a:cubicBezTo>
                  <a:pt x="21079" y="5272"/>
                  <a:pt x="20112" y="12081"/>
                  <a:pt x="15357" y="12081"/>
                </a:cubicBezTo>
                <a:cubicBezTo>
                  <a:pt x="10602" y="12081"/>
                  <a:pt x="10930" y="19653"/>
                  <a:pt x="4364" y="15703"/>
                </a:cubicBezTo>
                <a:cubicBezTo>
                  <a:pt x="-486" y="12786"/>
                  <a:pt x="-521" y="12337"/>
                  <a:pt x="605" y="7273"/>
                </a:cubicBezTo>
                <a:cubicBezTo>
                  <a:pt x="1731" y="2209"/>
                  <a:pt x="8339" y="-1947"/>
                  <a:pt x="13470" y="960"/>
                </a:cubicBezTo>
                <a:close/>
              </a:path>
            </a:pathLst>
          </a:custGeom>
          <a:gradFill>
            <a:gsLst>
              <a:gs pos="0">
                <a:srgbClr val="FFD479"/>
              </a:gs>
              <a:gs pos="100000">
                <a:srgbClr val="FFFFFF"/>
              </a:gs>
            </a:gsLst>
            <a:lin ang="5400000"/>
          </a:gradFill>
          <a:ln w="25400">
            <a:solidFill>
              <a:srgbClr val="824828"/>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07" name="Shape 2207"/>
          <p:cNvSpPr/>
          <p:nvPr/>
        </p:nvSpPr>
        <p:spPr>
          <a:xfrm rot="5182073" flipH="1">
            <a:off x="5997891" y="5691649"/>
            <a:ext cx="4786604" cy="969723"/>
          </a:xfrm>
          <a:custGeom>
            <a:avLst/>
            <a:gdLst/>
            <a:ahLst/>
            <a:cxnLst>
              <a:cxn ang="0">
                <a:pos x="wd2" y="hd2"/>
              </a:cxn>
              <a:cxn ang="5400000">
                <a:pos x="wd2" y="hd2"/>
              </a:cxn>
              <a:cxn ang="10800000">
                <a:pos x="wd2" y="hd2"/>
              </a:cxn>
              <a:cxn ang="16200000">
                <a:pos x="wd2" y="hd2"/>
              </a:cxn>
            </a:cxnLst>
            <a:rect l="0" t="0" r="r" b="b"/>
            <a:pathLst>
              <a:path w="21600" h="15022" extrusionOk="0">
                <a:moveTo>
                  <a:pt x="21600" y="3471"/>
                </a:moveTo>
                <a:cubicBezTo>
                  <a:pt x="13530" y="21600"/>
                  <a:pt x="5929" y="15809"/>
                  <a:pt x="1425" y="3729"/>
                </a:cubicBezTo>
                <a:lnTo>
                  <a:pt x="0" y="0"/>
                </a:lnTo>
              </a:path>
            </a:pathLst>
          </a:custGeom>
          <a:ln w="101600">
            <a:solidFill>
              <a:schemeClr val="accent4">
                <a:hueOff val="384618"/>
                <a:satOff val="3869"/>
                <a:lumOff val="5802"/>
              </a:schemeClr>
            </a:solidFill>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2208" name="Genetic drift bird 3.png"/>
          <p:cNvPicPr>
            <a:picLocks noChangeAspect="1"/>
          </p:cNvPicPr>
          <p:nvPr/>
        </p:nvPicPr>
        <p:blipFill>
          <a:blip r:embed="rId3">
            <a:extLst/>
          </a:blip>
          <a:stretch>
            <a:fillRect/>
          </a:stretch>
        </p:blipFill>
        <p:spPr>
          <a:xfrm flipH="1">
            <a:off x="9714186" y="7231045"/>
            <a:ext cx="1766217" cy="1296587"/>
          </a:xfrm>
          <a:prstGeom prst="rect">
            <a:avLst/>
          </a:prstGeom>
          <a:ln w="12700">
            <a:miter lim="400000"/>
          </a:ln>
        </p:spPr>
      </p:pic>
      <p:pic>
        <p:nvPicPr>
          <p:cNvPr id="2209" name="Genetic drift bird 3.png"/>
          <p:cNvPicPr>
            <a:picLocks noChangeAspect="1"/>
          </p:cNvPicPr>
          <p:nvPr/>
        </p:nvPicPr>
        <p:blipFill>
          <a:blip r:embed="rId3">
            <a:extLst/>
          </a:blip>
          <a:stretch>
            <a:fillRect/>
          </a:stretch>
        </p:blipFill>
        <p:spPr>
          <a:xfrm flipH="1">
            <a:off x="10966717" y="7458591"/>
            <a:ext cx="1766217" cy="1296587"/>
          </a:xfrm>
          <a:prstGeom prst="rect">
            <a:avLst/>
          </a:prstGeom>
          <a:ln w="12700">
            <a:miter lim="400000"/>
          </a:ln>
        </p:spPr>
      </p:pic>
      <p:pic>
        <p:nvPicPr>
          <p:cNvPr id="2210" name="Genetic drift bird 3.png"/>
          <p:cNvPicPr>
            <a:picLocks noChangeAspect="1"/>
          </p:cNvPicPr>
          <p:nvPr/>
        </p:nvPicPr>
        <p:blipFill>
          <a:blip r:embed="rId3">
            <a:extLst/>
          </a:blip>
          <a:stretch>
            <a:fillRect/>
          </a:stretch>
        </p:blipFill>
        <p:spPr>
          <a:xfrm flipH="1">
            <a:off x="9358586" y="7854831"/>
            <a:ext cx="1766217" cy="1296587"/>
          </a:xfrm>
          <a:prstGeom prst="rect">
            <a:avLst/>
          </a:prstGeom>
          <a:ln w="12700">
            <a:miter lim="400000"/>
          </a:ln>
        </p:spPr>
      </p:pic>
      <p:pic>
        <p:nvPicPr>
          <p:cNvPr id="2211" name="Genetic drift bird 2.png"/>
          <p:cNvPicPr>
            <a:picLocks noChangeAspect="1"/>
          </p:cNvPicPr>
          <p:nvPr/>
        </p:nvPicPr>
        <p:blipFill>
          <a:blip r:embed="rId2">
            <a:extLst/>
          </a:blip>
          <a:stretch>
            <a:fillRect/>
          </a:stretch>
        </p:blipFill>
        <p:spPr>
          <a:xfrm flipH="1">
            <a:off x="10378501" y="6499990"/>
            <a:ext cx="1560888" cy="1186086"/>
          </a:xfrm>
          <a:prstGeom prst="rect">
            <a:avLst/>
          </a:prstGeom>
          <a:ln w="12700">
            <a:miter lim="400000"/>
          </a:ln>
        </p:spPr>
      </p:pic>
      <p:sp>
        <p:nvSpPr>
          <p:cNvPr id="2212" name="Shape 2212"/>
          <p:cNvSpPr/>
          <p:nvPr/>
        </p:nvSpPr>
        <p:spPr>
          <a:xfrm rot="5182073" flipH="1">
            <a:off x="10461862" y="5048934"/>
            <a:ext cx="2641816" cy="1040774"/>
          </a:xfrm>
          <a:custGeom>
            <a:avLst/>
            <a:gdLst/>
            <a:ahLst/>
            <a:cxnLst>
              <a:cxn ang="0">
                <a:pos x="wd2" y="hd2"/>
              </a:cxn>
              <a:cxn ang="5400000">
                <a:pos x="wd2" y="hd2"/>
              </a:cxn>
              <a:cxn ang="10800000">
                <a:pos x="wd2" y="hd2"/>
              </a:cxn>
              <a:cxn ang="16200000">
                <a:pos x="wd2" y="hd2"/>
              </a:cxn>
            </a:cxnLst>
            <a:rect l="0" t="0" r="r" b="b"/>
            <a:pathLst>
              <a:path w="21600" h="15022" extrusionOk="0">
                <a:moveTo>
                  <a:pt x="21600" y="11551"/>
                </a:moveTo>
                <a:cubicBezTo>
                  <a:pt x="13530" y="-6578"/>
                  <a:pt x="5929" y="-787"/>
                  <a:pt x="1425" y="11293"/>
                </a:cubicBezTo>
                <a:lnTo>
                  <a:pt x="0" y="15022"/>
                </a:lnTo>
              </a:path>
            </a:pathLst>
          </a:custGeom>
          <a:ln w="101600">
            <a:solidFill>
              <a:schemeClr val="accent4">
                <a:hueOff val="384618"/>
                <a:satOff val="3869"/>
                <a:lumOff val="5802"/>
              </a:schemeClr>
            </a:solidFill>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13" name="Shape 2213"/>
          <p:cNvSpPr/>
          <p:nvPr/>
        </p:nvSpPr>
        <p:spPr>
          <a:xfrm flipH="1" flipV="1">
            <a:off x="9716944" y="6385323"/>
            <a:ext cx="1020136" cy="474547"/>
          </a:xfrm>
          <a:prstGeom prst="line">
            <a:avLst/>
          </a:prstGeom>
          <a:ln w="25400">
            <a:solidFill>
              <a:srgbClr val="005B86"/>
            </a:solidFill>
            <a:miter lim="400000"/>
            <a:headEnd type="oval"/>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214" name="Shape 2214"/>
          <p:cNvSpPr/>
          <p:nvPr/>
        </p:nvSpPr>
        <p:spPr>
          <a:xfrm>
            <a:off x="8118290" y="5701331"/>
            <a:ext cx="2240832" cy="627523"/>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Killed in a storm soon after migrating</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20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20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20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20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20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220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5" grpId="1" build="p" bldLvl="5" animBg="1" advAuto="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6" name="Shape 2216"/>
          <p:cNvSpPr/>
          <p:nvPr/>
        </p:nvSpPr>
        <p:spPr>
          <a:xfrm>
            <a:off x="7239000" y="1727200"/>
            <a:ext cx="4483100" cy="711200"/>
          </a:xfrm>
          <a:prstGeom prst="rect">
            <a:avLst/>
          </a:prstGeom>
          <a:solidFill>
            <a:srgbClr val="006795"/>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17" name="Shape 2217"/>
          <p:cNvSpPr/>
          <p:nvPr/>
        </p:nvSpPr>
        <p:spPr>
          <a:xfrm>
            <a:off x="6362700" y="2692400"/>
            <a:ext cx="6527800" cy="4432300"/>
          </a:xfrm>
          <a:prstGeom prst="rect">
            <a:avLst/>
          </a:prstGeom>
          <a:solidFill>
            <a:srgbClr val="C5E0ED"/>
          </a:solidFill>
          <a:ln w="25400">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18" name="Shape 2218"/>
          <p:cNvSpPr>
            <a:spLocks noGrp="1"/>
          </p:cNvSpPr>
          <p:nvPr>
            <p:ph type="title"/>
          </p:nvPr>
        </p:nvSpPr>
        <p:spPr>
          <a:prstGeom prst="rect">
            <a:avLst/>
          </a:prstGeom>
        </p:spPr>
        <p:txBody>
          <a:bodyPr/>
          <a:lstStyle>
            <a:lvl1pPr>
              <a:tabLst>
                <a:tab pos="952500" algn="l"/>
              </a:tabLst>
            </a:lvl1pPr>
          </a:lstStyle>
          <a:p>
            <a:r>
              <a:t>Genetic Drift: Generation 1</a:t>
            </a:r>
          </a:p>
        </p:txBody>
      </p:sp>
      <p:sp>
        <p:nvSpPr>
          <p:cNvPr id="2219" name="Shape 2219"/>
          <p:cNvSpPr>
            <a:spLocks noGrp="1"/>
          </p:cNvSpPr>
          <p:nvPr>
            <p:ph type="body" sz="quarter" idx="1"/>
          </p:nvPr>
        </p:nvSpPr>
        <p:spPr>
          <a:xfrm>
            <a:off x="368300" y="1790700"/>
            <a:ext cx="5246390" cy="4078189"/>
          </a:xfrm>
          <a:prstGeom prst="rect">
            <a:avLst/>
          </a:prstGeom>
        </p:spPr>
        <p:txBody>
          <a:bodyPr/>
          <a:lstStyle/>
          <a:p>
            <a:pPr>
              <a:tabLst>
                <a:tab pos="1016000" algn="l"/>
              </a:tabLst>
            </a:pPr>
            <a:r>
              <a:rPr b="1">
                <a:solidFill>
                  <a:srgbClr val="006994"/>
                </a:solidFill>
              </a:rPr>
              <a:t>Generation 1</a:t>
            </a:r>
            <a:r>
              <a:t>:</a:t>
            </a:r>
            <a:br/>
            <a:r>
              <a:t>Two of the beetles fail to locate a mate due to the sparse distribution of the population.</a:t>
            </a:r>
          </a:p>
          <a:p>
            <a:pPr lvl="1">
              <a:tabLst>
                <a:tab pos="1485900" algn="l"/>
              </a:tabLst>
            </a:pPr>
            <a:r>
              <a:t>There was no other reason for them not to find a mate and this factor alone prevented them from contributing their genes to the next generation.</a:t>
            </a:r>
          </a:p>
          <a:p>
            <a:pPr lvl="1">
              <a:tabLst>
                <a:tab pos="1485900" algn="l"/>
              </a:tabLst>
            </a:pPr>
            <a:r>
              <a:t>An example may e the sparsely distributed individuals of the Siberian tiger population.</a:t>
            </a:r>
          </a:p>
        </p:txBody>
      </p:sp>
      <p:sp>
        <p:nvSpPr>
          <p:cNvPr id="2220" name="Shape 2220"/>
          <p:cNvSpPr/>
          <p:nvPr/>
        </p:nvSpPr>
        <p:spPr>
          <a:xfrm>
            <a:off x="7645400" y="1905000"/>
            <a:ext cx="3962400" cy="34562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3100"/>
              </a:lnSpc>
              <a:tabLst>
                <a:tab pos="520700" algn="l"/>
              </a:tabLst>
              <a:defRPr sz="2800">
                <a:solidFill>
                  <a:srgbClr val="FFFFFF"/>
                </a:solidFill>
                <a:latin typeface="Hoefler Text"/>
                <a:ea typeface="Hoefler Text"/>
                <a:cs typeface="Hoefler Text"/>
                <a:sym typeface="Hoefler Text"/>
              </a:defRPr>
            </a:pPr>
            <a:r>
              <a:rPr sz="2400" b="1">
                <a:latin typeface="+mn-lt"/>
                <a:ea typeface="+mn-ea"/>
                <a:cs typeface="+mn-cs"/>
                <a:sym typeface="Arial"/>
              </a:rPr>
              <a:t>A</a:t>
            </a:r>
            <a:r>
              <a:rPr sz="2400">
                <a:latin typeface="+mn-lt"/>
                <a:ea typeface="+mn-ea"/>
                <a:cs typeface="+mn-cs"/>
                <a:sym typeface="Arial"/>
              </a:rPr>
              <a:t> = 16 (53%)</a:t>
            </a:r>
            <a:r>
              <a:rPr sz="2400" b="1">
                <a:latin typeface="+mn-lt"/>
                <a:ea typeface="+mn-ea"/>
                <a:cs typeface="+mn-cs"/>
                <a:sym typeface="Arial"/>
              </a:rPr>
              <a:t>  a</a:t>
            </a:r>
            <a:r>
              <a:rPr sz="2400">
                <a:latin typeface="+mn-lt"/>
                <a:ea typeface="+mn-ea"/>
                <a:cs typeface="+mn-cs"/>
                <a:sym typeface="Arial"/>
              </a:rPr>
              <a:t> = 14 (47%)</a:t>
            </a:r>
          </a:p>
        </p:txBody>
      </p:sp>
      <p:grpSp>
        <p:nvGrpSpPr>
          <p:cNvPr id="2281" name="Group 2281"/>
          <p:cNvGrpSpPr/>
          <p:nvPr/>
        </p:nvGrpSpPr>
        <p:grpSpPr>
          <a:xfrm>
            <a:off x="6543509" y="2888904"/>
            <a:ext cx="6153530" cy="4049925"/>
            <a:chOff x="0" y="0"/>
            <a:chExt cx="6153529" cy="4049924"/>
          </a:xfrm>
        </p:grpSpPr>
        <p:pic>
          <p:nvPicPr>
            <p:cNvPr id="2221" name="LB-drab1.png"/>
            <p:cNvPicPr>
              <a:picLocks noChangeAspect="1"/>
            </p:cNvPicPr>
            <p:nvPr/>
          </p:nvPicPr>
          <p:blipFill>
            <a:blip r:embed="rId2">
              <a:extLst/>
            </a:blip>
            <a:stretch>
              <a:fillRect/>
            </a:stretch>
          </p:blipFill>
          <p:spPr>
            <a:xfrm rot="10800000">
              <a:off x="4756529" y="1"/>
              <a:ext cx="1397001" cy="1279833"/>
            </a:xfrm>
            <a:prstGeom prst="rect">
              <a:avLst/>
            </a:prstGeom>
            <a:ln w="12700" cap="flat">
              <a:noFill/>
              <a:miter lim="400000"/>
            </a:ln>
            <a:effectLst/>
          </p:spPr>
        </p:pic>
        <p:grpSp>
          <p:nvGrpSpPr>
            <p:cNvPr id="2224" name="Group 2224"/>
            <p:cNvGrpSpPr/>
            <p:nvPr/>
          </p:nvGrpSpPr>
          <p:grpSpPr>
            <a:xfrm>
              <a:off x="5167279" y="578195"/>
              <a:ext cx="564322" cy="520701"/>
              <a:chOff x="0" y="0"/>
              <a:chExt cx="564320" cy="520700"/>
            </a:xfrm>
          </p:grpSpPr>
          <p:sp>
            <p:nvSpPr>
              <p:cNvPr id="2222" name="Shape 2222"/>
              <p:cNvSpPr/>
              <p:nvPr/>
            </p:nvSpPr>
            <p:spPr>
              <a:xfrm>
                <a:off x="563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23" name="Shape 2223"/>
              <p:cNvSpPr/>
              <p:nvPr/>
            </p:nvSpPr>
            <p:spPr>
              <a:xfrm>
                <a:off x="0" y="1143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25" name="LB-red1.png"/>
            <p:cNvPicPr>
              <a:picLocks noChangeAspect="1"/>
            </p:cNvPicPr>
            <p:nvPr/>
          </p:nvPicPr>
          <p:blipFill>
            <a:blip r:embed="rId3">
              <a:extLst/>
            </a:blip>
            <a:stretch>
              <a:fillRect/>
            </a:stretch>
          </p:blipFill>
          <p:spPr>
            <a:xfrm rot="10800000">
              <a:off x="0" y="0"/>
              <a:ext cx="1397001" cy="1281325"/>
            </a:xfrm>
            <a:prstGeom prst="rect">
              <a:avLst/>
            </a:prstGeom>
            <a:ln w="12700" cap="flat">
              <a:noFill/>
              <a:miter lim="400000"/>
            </a:ln>
            <a:effectLst/>
          </p:spPr>
        </p:pic>
        <p:grpSp>
          <p:nvGrpSpPr>
            <p:cNvPr id="2228" name="Group 2228"/>
            <p:cNvGrpSpPr/>
            <p:nvPr/>
          </p:nvGrpSpPr>
          <p:grpSpPr>
            <a:xfrm>
              <a:off x="379379" y="565495"/>
              <a:ext cx="602422" cy="559211"/>
              <a:chOff x="0" y="0"/>
              <a:chExt cx="602420" cy="559209"/>
            </a:xfrm>
          </p:grpSpPr>
          <p:sp>
            <p:nvSpPr>
              <p:cNvPr id="2226" name="Shape 2226"/>
              <p:cNvSpPr/>
              <p:nvPr/>
            </p:nvSpPr>
            <p:spPr>
              <a:xfrm>
                <a:off x="944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27" name="Shape 2227"/>
              <p:cNvSpPr/>
              <p:nvPr/>
            </p:nvSpPr>
            <p:spPr>
              <a:xfrm>
                <a:off x="0" y="126589"/>
                <a:ext cx="558800" cy="4326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29" name="LB-orange1.png"/>
            <p:cNvPicPr>
              <a:picLocks noChangeAspect="1"/>
            </p:cNvPicPr>
            <p:nvPr/>
          </p:nvPicPr>
          <p:blipFill>
            <a:blip r:embed="rId4">
              <a:extLst/>
            </a:blip>
            <a:stretch>
              <a:fillRect/>
            </a:stretch>
          </p:blipFill>
          <p:spPr>
            <a:xfrm rot="10800000">
              <a:off x="1175426" y="11122"/>
              <a:ext cx="1397001" cy="1260804"/>
            </a:xfrm>
            <a:prstGeom prst="rect">
              <a:avLst/>
            </a:prstGeom>
            <a:ln w="12700" cap="flat">
              <a:noFill/>
              <a:miter lim="400000"/>
            </a:ln>
            <a:effectLst/>
          </p:spPr>
        </p:pic>
        <p:grpSp>
          <p:nvGrpSpPr>
            <p:cNvPr id="2232" name="Group 2232"/>
            <p:cNvGrpSpPr/>
            <p:nvPr/>
          </p:nvGrpSpPr>
          <p:grpSpPr>
            <a:xfrm>
              <a:off x="1573179" y="540095"/>
              <a:ext cx="577022" cy="533401"/>
              <a:chOff x="0" y="0"/>
              <a:chExt cx="577020" cy="533400"/>
            </a:xfrm>
          </p:grpSpPr>
          <p:sp>
            <p:nvSpPr>
              <p:cNvPr id="2230" name="Shape 2230"/>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31" name="Shape 2231"/>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33" name="LB-red1.png"/>
            <p:cNvPicPr>
              <a:picLocks noChangeAspect="1"/>
            </p:cNvPicPr>
            <p:nvPr/>
          </p:nvPicPr>
          <p:blipFill>
            <a:blip r:embed="rId3">
              <a:extLst/>
            </a:blip>
            <a:stretch>
              <a:fillRect/>
            </a:stretch>
          </p:blipFill>
          <p:spPr>
            <a:xfrm rot="10800000">
              <a:off x="0" y="1384300"/>
              <a:ext cx="1397001" cy="1281325"/>
            </a:xfrm>
            <a:prstGeom prst="rect">
              <a:avLst/>
            </a:prstGeom>
            <a:ln w="12700" cap="flat">
              <a:noFill/>
              <a:miter lim="400000"/>
            </a:ln>
            <a:effectLst/>
          </p:spPr>
        </p:pic>
        <p:grpSp>
          <p:nvGrpSpPr>
            <p:cNvPr id="2236" name="Group 2236"/>
            <p:cNvGrpSpPr/>
            <p:nvPr/>
          </p:nvGrpSpPr>
          <p:grpSpPr>
            <a:xfrm>
              <a:off x="392079" y="1949795"/>
              <a:ext cx="589722" cy="571911"/>
              <a:chOff x="0" y="0"/>
              <a:chExt cx="589720" cy="571909"/>
            </a:xfrm>
          </p:grpSpPr>
          <p:sp>
            <p:nvSpPr>
              <p:cNvPr id="2234" name="Shape 2234"/>
              <p:cNvSpPr/>
              <p:nvPr/>
            </p:nvSpPr>
            <p:spPr>
              <a:xfrm>
                <a:off x="817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35" name="Shape 2235"/>
              <p:cNvSpPr/>
              <p:nvPr/>
            </p:nvSpPr>
            <p:spPr>
              <a:xfrm>
                <a:off x="0" y="139289"/>
                <a:ext cx="558800" cy="4326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37" name="LB-red1.png"/>
            <p:cNvPicPr>
              <a:picLocks noChangeAspect="1"/>
            </p:cNvPicPr>
            <p:nvPr/>
          </p:nvPicPr>
          <p:blipFill>
            <a:blip r:embed="rId3">
              <a:extLst/>
            </a:blip>
            <a:stretch>
              <a:fillRect/>
            </a:stretch>
          </p:blipFill>
          <p:spPr>
            <a:xfrm rot="10800000">
              <a:off x="0" y="2768600"/>
              <a:ext cx="1397001" cy="1281325"/>
            </a:xfrm>
            <a:prstGeom prst="rect">
              <a:avLst/>
            </a:prstGeom>
            <a:ln w="12700" cap="flat">
              <a:noFill/>
              <a:miter lim="400000"/>
            </a:ln>
            <a:effectLst/>
          </p:spPr>
        </p:pic>
        <p:grpSp>
          <p:nvGrpSpPr>
            <p:cNvPr id="2240" name="Group 2240"/>
            <p:cNvGrpSpPr/>
            <p:nvPr/>
          </p:nvGrpSpPr>
          <p:grpSpPr>
            <a:xfrm>
              <a:off x="392079" y="3334095"/>
              <a:ext cx="589722" cy="571911"/>
              <a:chOff x="0" y="0"/>
              <a:chExt cx="589720" cy="571909"/>
            </a:xfrm>
          </p:grpSpPr>
          <p:sp>
            <p:nvSpPr>
              <p:cNvPr id="2238" name="Shape 2238"/>
              <p:cNvSpPr/>
              <p:nvPr/>
            </p:nvSpPr>
            <p:spPr>
              <a:xfrm>
                <a:off x="817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39" name="Shape 2239"/>
              <p:cNvSpPr/>
              <p:nvPr/>
            </p:nvSpPr>
            <p:spPr>
              <a:xfrm>
                <a:off x="0" y="139289"/>
                <a:ext cx="558800" cy="4326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41" name="LB-red1.png"/>
            <p:cNvPicPr>
              <a:picLocks noChangeAspect="1"/>
            </p:cNvPicPr>
            <p:nvPr/>
          </p:nvPicPr>
          <p:blipFill>
            <a:blip r:embed="rId3">
              <a:extLst/>
            </a:blip>
            <a:stretch>
              <a:fillRect/>
            </a:stretch>
          </p:blipFill>
          <p:spPr>
            <a:xfrm rot="10800000">
              <a:off x="1320800" y="2768600"/>
              <a:ext cx="1397000" cy="1281325"/>
            </a:xfrm>
            <a:prstGeom prst="rect">
              <a:avLst/>
            </a:prstGeom>
            <a:ln w="12700" cap="flat">
              <a:noFill/>
              <a:miter lim="400000"/>
            </a:ln>
            <a:effectLst/>
          </p:spPr>
        </p:pic>
        <p:grpSp>
          <p:nvGrpSpPr>
            <p:cNvPr id="2244" name="Group 2244"/>
            <p:cNvGrpSpPr/>
            <p:nvPr/>
          </p:nvGrpSpPr>
          <p:grpSpPr>
            <a:xfrm>
              <a:off x="1700179" y="3334095"/>
              <a:ext cx="602422" cy="559211"/>
              <a:chOff x="0" y="0"/>
              <a:chExt cx="602420" cy="559209"/>
            </a:xfrm>
          </p:grpSpPr>
          <p:sp>
            <p:nvSpPr>
              <p:cNvPr id="2242" name="Shape 2242"/>
              <p:cNvSpPr/>
              <p:nvPr/>
            </p:nvSpPr>
            <p:spPr>
              <a:xfrm>
                <a:off x="944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43" name="Shape 2243"/>
              <p:cNvSpPr/>
              <p:nvPr/>
            </p:nvSpPr>
            <p:spPr>
              <a:xfrm>
                <a:off x="0" y="126589"/>
                <a:ext cx="558800" cy="4326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45" name="LB-orange1.png"/>
            <p:cNvPicPr>
              <a:picLocks noChangeAspect="1"/>
            </p:cNvPicPr>
            <p:nvPr/>
          </p:nvPicPr>
          <p:blipFill>
            <a:blip r:embed="rId4">
              <a:extLst/>
            </a:blip>
            <a:stretch>
              <a:fillRect/>
            </a:stretch>
          </p:blipFill>
          <p:spPr>
            <a:xfrm rot="10800000">
              <a:off x="2420026" y="11122"/>
              <a:ext cx="1397001" cy="1260804"/>
            </a:xfrm>
            <a:prstGeom prst="rect">
              <a:avLst/>
            </a:prstGeom>
            <a:ln w="12700" cap="flat">
              <a:noFill/>
              <a:miter lim="400000"/>
            </a:ln>
            <a:effectLst/>
          </p:spPr>
        </p:pic>
        <p:grpSp>
          <p:nvGrpSpPr>
            <p:cNvPr id="2248" name="Group 2248"/>
            <p:cNvGrpSpPr/>
            <p:nvPr/>
          </p:nvGrpSpPr>
          <p:grpSpPr>
            <a:xfrm>
              <a:off x="2817779" y="540095"/>
              <a:ext cx="577022" cy="533401"/>
              <a:chOff x="0" y="0"/>
              <a:chExt cx="577020" cy="533400"/>
            </a:xfrm>
          </p:grpSpPr>
          <p:sp>
            <p:nvSpPr>
              <p:cNvPr id="2246" name="Shape 2246"/>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47" name="Shape 2247"/>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49" name="LB-orange1.png"/>
            <p:cNvPicPr>
              <a:picLocks noChangeAspect="1"/>
            </p:cNvPicPr>
            <p:nvPr/>
          </p:nvPicPr>
          <p:blipFill>
            <a:blip r:embed="rId4">
              <a:extLst/>
            </a:blip>
            <a:stretch>
              <a:fillRect/>
            </a:stretch>
          </p:blipFill>
          <p:spPr>
            <a:xfrm rot="10800000">
              <a:off x="1175426" y="1395422"/>
              <a:ext cx="1397001" cy="1260804"/>
            </a:xfrm>
            <a:prstGeom prst="rect">
              <a:avLst/>
            </a:prstGeom>
            <a:ln w="12700" cap="flat">
              <a:noFill/>
              <a:miter lim="400000"/>
            </a:ln>
            <a:effectLst/>
          </p:spPr>
        </p:pic>
        <p:grpSp>
          <p:nvGrpSpPr>
            <p:cNvPr id="2252" name="Group 2252"/>
            <p:cNvGrpSpPr/>
            <p:nvPr/>
          </p:nvGrpSpPr>
          <p:grpSpPr>
            <a:xfrm>
              <a:off x="1573179" y="1924395"/>
              <a:ext cx="577022" cy="533401"/>
              <a:chOff x="0" y="0"/>
              <a:chExt cx="577020" cy="533400"/>
            </a:xfrm>
          </p:grpSpPr>
          <p:sp>
            <p:nvSpPr>
              <p:cNvPr id="2250" name="Shape 2250"/>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51" name="Shape 2251"/>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53" name="LB-orange1.png"/>
            <p:cNvPicPr>
              <a:picLocks noChangeAspect="1"/>
            </p:cNvPicPr>
            <p:nvPr/>
          </p:nvPicPr>
          <p:blipFill>
            <a:blip r:embed="rId4">
              <a:extLst/>
            </a:blip>
            <a:stretch>
              <a:fillRect/>
            </a:stretch>
          </p:blipFill>
          <p:spPr>
            <a:xfrm rot="10800000">
              <a:off x="3601126" y="11122"/>
              <a:ext cx="1397001" cy="1260804"/>
            </a:xfrm>
            <a:prstGeom prst="rect">
              <a:avLst/>
            </a:prstGeom>
            <a:ln w="12700" cap="flat">
              <a:noFill/>
              <a:miter lim="400000"/>
            </a:ln>
            <a:effectLst/>
          </p:spPr>
        </p:pic>
        <p:grpSp>
          <p:nvGrpSpPr>
            <p:cNvPr id="2256" name="Group 2256"/>
            <p:cNvGrpSpPr/>
            <p:nvPr/>
          </p:nvGrpSpPr>
          <p:grpSpPr>
            <a:xfrm>
              <a:off x="3998879" y="540095"/>
              <a:ext cx="577022" cy="533401"/>
              <a:chOff x="0" y="0"/>
              <a:chExt cx="577020" cy="533400"/>
            </a:xfrm>
          </p:grpSpPr>
          <p:sp>
            <p:nvSpPr>
              <p:cNvPr id="2254" name="Shape 2254"/>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55" name="Shape 2255"/>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57" name="LB-orange1.png"/>
            <p:cNvPicPr>
              <a:picLocks noChangeAspect="1"/>
            </p:cNvPicPr>
            <p:nvPr/>
          </p:nvPicPr>
          <p:blipFill>
            <a:blip r:embed="rId4">
              <a:extLst/>
            </a:blip>
            <a:stretch>
              <a:fillRect/>
            </a:stretch>
          </p:blipFill>
          <p:spPr>
            <a:xfrm rot="10800000">
              <a:off x="2394626" y="1395422"/>
              <a:ext cx="1397001" cy="1260804"/>
            </a:xfrm>
            <a:prstGeom prst="rect">
              <a:avLst/>
            </a:prstGeom>
            <a:ln w="12700" cap="flat">
              <a:noFill/>
              <a:miter lim="400000"/>
            </a:ln>
            <a:effectLst/>
          </p:spPr>
        </p:pic>
        <p:grpSp>
          <p:nvGrpSpPr>
            <p:cNvPr id="2260" name="Group 2260"/>
            <p:cNvGrpSpPr/>
            <p:nvPr/>
          </p:nvGrpSpPr>
          <p:grpSpPr>
            <a:xfrm>
              <a:off x="2792379" y="1924395"/>
              <a:ext cx="577022" cy="533401"/>
              <a:chOff x="0" y="0"/>
              <a:chExt cx="577020" cy="533400"/>
            </a:xfrm>
          </p:grpSpPr>
          <p:sp>
            <p:nvSpPr>
              <p:cNvPr id="2258" name="Shape 2258"/>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59" name="Shape 2259"/>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61" name="LB-orange1.png"/>
            <p:cNvPicPr>
              <a:picLocks noChangeAspect="1"/>
            </p:cNvPicPr>
            <p:nvPr/>
          </p:nvPicPr>
          <p:blipFill>
            <a:blip r:embed="rId4">
              <a:extLst/>
            </a:blip>
            <a:stretch>
              <a:fillRect/>
            </a:stretch>
          </p:blipFill>
          <p:spPr>
            <a:xfrm rot="10800000">
              <a:off x="3575726" y="1395422"/>
              <a:ext cx="1397001" cy="1260804"/>
            </a:xfrm>
            <a:prstGeom prst="rect">
              <a:avLst/>
            </a:prstGeom>
            <a:ln w="12700" cap="flat">
              <a:noFill/>
              <a:miter lim="400000"/>
            </a:ln>
            <a:effectLst/>
          </p:spPr>
        </p:pic>
        <p:grpSp>
          <p:nvGrpSpPr>
            <p:cNvPr id="2264" name="Group 2264"/>
            <p:cNvGrpSpPr/>
            <p:nvPr/>
          </p:nvGrpSpPr>
          <p:grpSpPr>
            <a:xfrm>
              <a:off x="3973479" y="1924395"/>
              <a:ext cx="577022" cy="533401"/>
              <a:chOff x="0" y="0"/>
              <a:chExt cx="577020" cy="533400"/>
            </a:xfrm>
          </p:grpSpPr>
          <p:sp>
            <p:nvSpPr>
              <p:cNvPr id="2262" name="Shape 2262"/>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63" name="Shape 2263"/>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65" name="LB-orange1.png"/>
            <p:cNvPicPr>
              <a:picLocks noChangeAspect="1"/>
            </p:cNvPicPr>
            <p:nvPr/>
          </p:nvPicPr>
          <p:blipFill>
            <a:blip r:embed="rId4">
              <a:extLst/>
            </a:blip>
            <a:stretch>
              <a:fillRect/>
            </a:stretch>
          </p:blipFill>
          <p:spPr>
            <a:xfrm rot="10800000">
              <a:off x="2420026" y="2779722"/>
              <a:ext cx="1397001" cy="1260804"/>
            </a:xfrm>
            <a:prstGeom prst="rect">
              <a:avLst/>
            </a:prstGeom>
            <a:ln w="12700" cap="flat">
              <a:noFill/>
              <a:miter lim="400000"/>
            </a:ln>
            <a:effectLst/>
          </p:spPr>
        </p:pic>
        <p:grpSp>
          <p:nvGrpSpPr>
            <p:cNvPr id="2268" name="Group 2268"/>
            <p:cNvGrpSpPr/>
            <p:nvPr/>
          </p:nvGrpSpPr>
          <p:grpSpPr>
            <a:xfrm>
              <a:off x="2817779" y="3308695"/>
              <a:ext cx="577022" cy="533401"/>
              <a:chOff x="0" y="0"/>
              <a:chExt cx="577020" cy="533400"/>
            </a:xfrm>
          </p:grpSpPr>
          <p:sp>
            <p:nvSpPr>
              <p:cNvPr id="2266" name="Shape 2266"/>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67" name="Shape 2267"/>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69" name="LB-orange1.png"/>
            <p:cNvPicPr>
              <a:picLocks noChangeAspect="1"/>
            </p:cNvPicPr>
            <p:nvPr/>
          </p:nvPicPr>
          <p:blipFill>
            <a:blip r:embed="rId4">
              <a:extLst/>
            </a:blip>
            <a:stretch>
              <a:fillRect/>
            </a:stretch>
          </p:blipFill>
          <p:spPr>
            <a:xfrm rot="10800000">
              <a:off x="3601126" y="2779722"/>
              <a:ext cx="1397001" cy="1260804"/>
            </a:xfrm>
            <a:prstGeom prst="rect">
              <a:avLst/>
            </a:prstGeom>
            <a:ln w="12700" cap="flat">
              <a:noFill/>
              <a:miter lim="400000"/>
            </a:ln>
            <a:effectLst/>
          </p:spPr>
        </p:pic>
        <p:grpSp>
          <p:nvGrpSpPr>
            <p:cNvPr id="2272" name="Group 2272"/>
            <p:cNvGrpSpPr/>
            <p:nvPr/>
          </p:nvGrpSpPr>
          <p:grpSpPr>
            <a:xfrm>
              <a:off x="3998879" y="3308695"/>
              <a:ext cx="577022" cy="533401"/>
              <a:chOff x="0" y="0"/>
              <a:chExt cx="577020" cy="533400"/>
            </a:xfrm>
          </p:grpSpPr>
          <p:sp>
            <p:nvSpPr>
              <p:cNvPr id="2270" name="Shape 2270"/>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71" name="Shape 2271"/>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73" name="LB-drab1.png"/>
            <p:cNvPicPr>
              <a:picLocks noChangeAspect="1"/>
            </p:cNvPicPr>
            <p:nvPr/>
          </p:nvPicPr>
          <p:blipFill>
            <a:blip r:embed="rId2">
              <a:extLst/>
            </a:blip>
            <a:stretch>
              <a:fillRect/>
            </a:stretch>
          </p:blipFill>
          <p:spPr>
            <a:xfrm rot="10800000">
              <a:off x="4756529" y="1384301"/>
              <a:ext cx="1397001" cy="1279833"/>
            </a:xfrm>
            <a:prstGeom prst="rect">
              <a:avLst/>
            </a:prstGeom>
            <a:ln w="12700" cap="flat">
              <a:noFill/>
              <a:miter lim="400000"/>
            </a:ln>
            <a:effectLst/>
          </p:spPr>
        </p:pic>
        <p:grpSp>
          <p:nvGrpSpPr>
            <p:cNvPr id="2276" name="Group 2276"/>
            <p:cNvGrpSpPr/>
            <p:nvPr/>
          </p:nvGrpSpPr>
          <p:grpSpPr>
            <a:xfrm>
              <a:off x="5167279" y="1962495"/>
              <a:ext cx="564322" cy="508001"/>
              <a:chOff x="0" y="0"/>
              <a:chExt cx="564320" cy="508000"/>
            </a:xfrm>
          </p:grpSpPr>
          <p:sp>
            <p:nvSpPr>
              <p:cNvPr id="2274" name="Shape 2274"/>
              <p:cNvSpPr/>
              <p:nvPr/>
            </p:nvSpPr>
            <p:spPr>
              <a:xfrm>
                <a:off x="563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75" name="Shape 2275"/>
              <p:cNvSpPr/>
              <p:nvPr/>
            </p:nvSpPr>
            <p:spPr>
              <a:xfrm>
                <a:off x="0" y="1016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77" name="LB-drab1.png"/>
            <p:cNvPicPr>
              <a:picLocks noChangeAspect="1"/>
            </p:cNvPicPr>
            <p:nvPr/>
          </p:nvPicPr>
          <p:blipFill>
            <a:blip r:embed="rId2">
              <a:extLst/>
            </a:blip>
            <a:stretch>
              <a:fillRect/>
            </a:stretch>
          </p:blipFill>
          <p:spPr>
            <a:xfrm rot="10800000">
              <a:off x="4756529" y="2768601"/>
              <a:ext cx="1397001" cy="1279833"/>
            </a:xfrm>
            <a:prstGeom prst="rect">
              <a:avLst/>
            </a:prstGeom>
            <a:ln w="12700" cap="flat">
              <a:noFill/>
              <a:miter lim="400000"/>
            </a:ln>
            <a:effectLst/>
          </p:spPr>
        </p:pic>
        <p:grpSp>
          <p:nvGrpSpPr>
            <p:cNvPr id="2280" name="Group 2280"/>
            <p:cNvGrpSpPr/>
            <p:nvPr/>
          </p:nvGrpSpPr>
          <p:grpSpPr>
            <a:xfrm>
              <a:off x="5167279" y="3346795"/>
              <a:ext cx="564322" cy="508001"/>
              <a:chOff x="0" y="0"/>
              <a:chExt cx="564320" cy="507999"/>
            </a:xfrm>
          </p:grpSpPr>
          <p:sp>
            <p:nvSpPr>
              <p:cNvPr id="2278" name="Shape 2278"/>
              <p:cNvSpPr/>
              <p:nvPr/>
            </p:nvSpPr>
            <p:spPr>
              <a:xfrm>
                <a:off x="563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79" name="Shape 2279"/>
              <p:cNvSpPr/>
              <p:nvPr/>
            </p:nvSpPr>
            <p:spPr>
              <a:xfrm>
                <a:off x="0" y="889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grpSp>
      <p:sp>
        <p:nvSpPr>
          <p:cNvPr id="2282" name="Shape 2282"/>
          <p:cNvSpPr/>
          <p:nvPr/>
        </p:nvSpPr>
        <p:spPr>
          <a:xfrm>
            <a:off x="8026400" y="5588000"/>
            <a:ext cx="2235200" cy="1752600"/>
          </a:xfrm>
          <a:prstGeom prst="ellipse">
            <a:avLst/>
          </a:prstGeom>
          <a:solidFill>
            <a:srgbClr val="FF2600">
              <a:alpha val="25000"/>
            </a:srgbClr>
          </a:solidFill>
          <a:ln w="63500">
            <a:solidFill>
              <a:srgbClr val="FF2600"/>
            </a:solidFill>
            <a:prstDash val="sysDot"/>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83" name="Shape 2283"/>
          <p:cNvSpPr/>
          <p:nvPr/>
        </p:nvSpPr>
        <p:spPr>
          <a:xfrm>
            <a:off x="8041250" y="7416800"/>
            <a:ext cx="2197101"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Fail to locate a mate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21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21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21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2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9" grpId="1" build="p" bldLvl="5" animBg="1" advAuto="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5" name="Shape 2285"/>
          <p:cNvSpPr/>
          <p:nvPr/>
        </p:nvSpPr>
        <p:spPr>
          <a:xfrm>
            <a:off x="6388100" y="2717800"/>
            <a:ext cx="6527800" cy="4699000"/>
          </a:xfrm>
          <a:prstGeom prst="rect">
            <a:avLst/>
          </a:prstGeom>
          <a:solidFill>
            <a:srgbClr val="C5E0ED"/>
          </a:solidFill>
          <a:ln w="25400">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86" name="Shape 2286"/>
          <p:cNvSpPr>
            <a:spLocks noGrp="1"/>
          </p:cNvSpPr>
          <p:nvPr>
            <p:ph type="title"/>
          </p:nvPr>
        </p:nvSpPr>
        <p:spPr>
          <a:prstGeom prst="rect">
            <a:avLst/>
          </a:prstGeom>
        </p:spPr>
        <p:txBody>
          <a:bodyPr/>
          <a:lstStyle>
            <a:lvl1pPr>
              <a:tabLst>
                <a:tab pos="952500" algn="l"/>
              </a:tabLst>
            </a:lvl1pPr>
          </a:lstStyle>
          <a:p>
            <a:r>
              <a:t>Genetic Drift: Generation 2</a:t>
            </a:r>
          </a:p>
        </p:txBody>
      </p:sp>
      <p:sp>
        <p:nvSpPr>
          <p:cNvPr id="2287" name="Shape 2287"/>
          <p:cNvSpPr>
            <a:spLocks noGrp="1"/>
          </p:cNvSpPr>
          <p:nvPr>
            <p:ph type="body" sz="quarter" idx="1"/>
          </p:nvPr>
        </p:nvSpPr>
        <p:spPr>
          <a:xfrm>
            <a:off x="368300" y="1790700"/>
            <a:ext cx="5570588" cy="1925539"/>
          </a:xfrm>
          <a:prstGeom prst="rect">
            <a:avLst/>
          </a:prstGeom>
        </p:spPr>
        <p:txBody>
          <a:bodyPr/>
          <a:lstStyle/>
          <a:p>
            <a:pPr>
              <a:tabLst>
                <a:tab pos="1016000" algn="l"/>
              </a:tabLst>
            </a:pPr>
            <a:r>
              <a:rPr b="1">
                <a:solidFill>
                  <a:srgbClr val="006994"/>
                </a:solidFill>
              </a:rPr>
              <a:t>Generation 2</a:t>
            </a:r>
            <a:r>
              <a:t>:</a:t>
            </a:r>
            <a:br/>
            <a:r>
              <a:t>Another two beetles fail to breed because they could not find a mate due to low population density.</a:t>
            </a:r>
          </a:p>
        </p:txBody>
      </p:sp>
      <p:sp>
        <p:nvSpPr>
          <p:cNvPr id="2288" name="Shape 2288"/>
          <p:cNvSpPr/>
          <p:nvPr/>
        </p:nvSpPr>
        <p:spPr>
          <a:xfrm>
            <a:off x="7264400" y="1879600"/>
            <a:ext cx="4483100" cy="711200"/>
          </a:xfrm>
          <a:prstGeom prst="rect">
            <a:avLst/>
          </a:prstGeom>
          <a:solidFill>
            <a:srgbClr val="006795"/>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89" name="Shape 2289"/>
          <p:cNvSpPr/>
          <p:nvPr/>
        </p:nvSpPr>
        <p:spPr>
          <a:xfrm>
            <a:off x="7670800" y="2057400"/>
            <a:ext cx="3962400" cy="34562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3100"/>
              </a:lnSpc>
              <a:tabLst>
                <a:tab pos="520700" algn="l"/>
              </a:tabLst>
              <a:defRPr sz="2800">
                <a:solidFill>
                  <a:srgbClr val="FFFFFF"/>
                </a:solidFill>
                <a:latin typeface="Hoefler Text"/>
                <a:ea typeface="Hoefler Text"/>
                <a:cs typeface="Hoefler Text"/>
                <a:sym typeface="Hoefler Text"/>
              </a:defRPr>
            </a:pPr>
            <a:r>
              <a:rPr sz="2400" b="1">
                <a:latin typeface="+mn-lt"/>
                <a:ea typeface="+mn-ea"/>
                <a:cs typeface="+mn-cs"/>
                <a:sym typeface="Arial"/>
              </a:rPr>
              <a:t>A</a:t>
            </a:r>
            <a:r>
              <a:rPr sz="2400">
                <a:latin typeface="+mn-lt"/>
                <a:ea typeface="+mn-ea"/>
                <a:cs typeface="+mn-cs"/>
                <a:sym typeface="Arial"/>
              </a:rPr>
              <a:t> = 15 (50%)</a:t>
            </a:r>
            <a:r>
              <a:rPr sz="2400" b="1">
                <a:latin typeface="+mn-lt"/>
                <a:ea typeface="+mn-ea"/>
                <a:cs typeface="+mn-cs"/>
                <a:sym typeface="Arial"/>
              </a:rPr>
              <a:t>  a</a:t>
            </a:r>
            <a:r>
              <a:rPr sz="2400">
                <a:latin typeface="+mn-lt"/>
                <a:ea typeface="+mn-ea"/>
                <a:cs typeface="+mn-cs"/>
                <a:sym typeface="Arial"/>
              </a:rPr>
              <a:t> = 15 (50%)</a:t>
            </a:r>
          </a:p>
        </p:txBody>
      </p:sp>
      <p:sp>
        <p:nvSpPr>
          <p:cNvPr id="2290" name="Shape 2290"/>
          <p:cNvSpPr/>
          <p:nvPr/>
        </p:nvSpPr>
        <p:spPr>
          <a:xfrm>
            <a:off x="8904850" y="7874000"/>
            <a:ext cx="2755901"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Fail to locate a mate due to low population density</a:t>
            </a:r>
          </a:p>
        </p:txBody>
      </p:sp>
      <p:sp>
        <p:nvSpPr>
          <p:cNvPr id="2291" name="Shape 2291"/>
          <p:cNvSpPr/>
          <p:nvPr/>
        </p:nvSpPr>
        <p:spPr>
          <a:xfrm>
            <a:off x="6680200" y="7874000"/>
            <a:ext cx="12573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defRPr>
                <a:solidFill>
                  <a:srgbClr val="000000"/>
                </a:solidFill>
              </a:defRPr>
            </a:lvl1pPr>
          </a:lstStyle>
          <a:p>
            <a:r>
              <a:t>Killed</a:t>
            </a:r>
          </a:p>
        </p:txBody>
      </p:sp>
      <p:sp>
        <p:nvSpPr>
          <p:cNvPr id="2292" name="Shape 2292"/>
          <p:cNvSpPr/>
          <p:nvPr/>
        </p:nvSpPr>
        <p:spPr>
          <a:xfrm>
            <a:off x="7289800" y="7340413"/>
            <a:ext cx="1" cy="431988"/>
          </a:xfrm>
          <a:prstGeom prst="line">
            <a:avLst/>
          </a:prstGeom>
          <a:ln w="38100">
            <a:solidFill>
              <a:srgbClr val="FF2600"/>
            </a:solidFill>
            <a:miter lim="400000"/>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grpSp>
        <p:nvGrpSpPr>
          <p:cNvPr id="2353" name="Group 2353"/>
          <p:cNvGrpSpPr/>
          <p:nvPr/>
        </p:nvGrpSpPr>
        <p:grpSpPr>
          <a:xfrm>
            <a:off x="6568909" y="3041304"/>
            <a:ext cx="6153530" cy="4049925"/>
            <a:chOff x="0" y="0"/>
            <a:chExt cx="6153529" cy="4049924"/>
          </a:xfrm>
        </p:grpSpPr>
        <p:pic>
          <p:nvPicPr>
            <p:cNvPr id="2293" name="LB-drab1.png"/>
            <p:cNvPicPr>
              <a:picLocks noChangeAspect="1"/>
            </p:cNvPicPr>
            <p:nvPr/>
          </p:nvPicPr>
          <p:blipFill>
            <a:blip r:embed="rId2">
              <a:extLst/>
            </a:blip>
            <a:stretch>
              <a:fillRect/>
            </a:stretch>
          </p:blipFill>
          <p:spPr>
            <a:xfrm rot="10800000">
              <a:off x="4756529" y="1"/>
              <a:ext cx="1397001" cy="1279833"/>
            </a:xfrm>
            <a:prstGeom prst="rect">
              <a:avLst/>
            </a:prstGeom>
            <a:ln w="12700" cap="flat">
              <a:noFill/>
              <a:miter lim="400000"/>
            </a:ln>
            <a:effectLst/>
          </p:spPr>
        </p:pic>
        <p:grpSp>
          <p:nvGrpSpPr>
            <p:cNvPr id="2296" name="Group 2296"/>
            <p:cNvGrpSpPr/>
            <p:nvPr/>
          </p:nvGrpSpPr>
          <p:grpSpPr>
            <a:xfrm>
              <a:off x="5167279" y="578195"/>
              <a:ext cx="564322" cy="508001"/>
              <a:chOff x="0" y="0"/>
              <a:chExt cx="564320" cy="508000"/>
            </a:xfrm>
          </p:grpSpPr>
          <p:sp>
            <p:nvSpPr>
              <p:cNvPr id="2294" name="Shape 2294"/>
              <p:cNvSpPr/>
              <p:nvPr/>
            </p:nvSpPr>
            <p:spPr>
              <a:xfrm>
                <a:off x="563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95" name="Shape 2295"/>
              <p:cNvSpPr/>
              <p:nvPr/>
            </p:nvSpPr>
            <p:spPr>
              <a:xfrm>
                <a:off x="0" y="1016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297" name="LB-red1.png"/>
            <p:cNvPicPr>
              <a:picLocks noChangeAspect="1"/>
            </p:cNvPicPr>
            <p:nvPr/>
          </p:nvPicPr>
          <p:blipFill>
            <a:blip r:embed="rId3">
              <a:extLst/>
            </a:blip>
            <a:stretch>
              <a:fillRect/>
            </a:stretch>
          </p:blipFill>
          <p:spPr>
            <a:xfrm rot="10800000">
              <a:off x="0" y="0"/>
              <a:ext cx="1397001" cy="1281325"/>
            </a:xfrm>
            <a:prstGeom prst="rect">
              <a:avLst/>
            </a:prstGeom>
            <a:ln w="12700" cap="flat">
              <a:noFill/>
              <a:miter lim="400000"/>
            </a:ln>
            <a:effectLst/>
          </p:spPr>
        </p:pic>
        <p:grpSp>
          <p:nvGrpSpPr>
            <p:cNvPr id="2300" name="Group 2300"/>
            <p:cNvGrpSpPr/>
            <p:nvPr/>
          </p:nvGrpSpPr>
          <p:grpSpPr>
            <a:xfrm>
              <a:off x="379379" y="565495"/>
              <a:ext cx="602422" cy="559211"/>
              <a:chOff x="0" y="0"/>
              <a:chExt cx="602420" cy="559209"/>
            </a:xfrm>
          </p:grpSpPr>
          <p:sp>
            <p:nvSpPr>
              <p:cNvPr id="2298" name="Shape 2298"/>
              <p:cNvSpPr/>
              <p:nvPr/>
            </p:nvSpPr>
            <p:spPr>
              <a:xfrm>
                <a:off x="944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99" name="Shape 2299"/>
              <p:cNvSpPr/>
              <p:nvPr/>
            </p:nvSpPr>
            <p:spPr>
              <a:xfrm>
                <a:off x="0" y="126589"/>
                <a:ext cx="558800" cy="4326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01" name="LB-orange1.png"/>
            <p:cNvPicPr>
              <a:picLocks noChangeAspect="1"/>
            </p:cNvPicPr>
            <p:nvPr/>
          </p:nvPicPr>
          <p:blipFill>
            <a:blip r:embed="rId4">
              <a:extLst/>
            </a:blip>
            <a:stretch>
              <a:fillRect/>
            </a:stretch>
          </p:blipFill>
          <p:spPr>
            <a:xfrm rot="10800000">
              <a:off x="1175426" y="11122"/>
              <a:ext cx="1397001" cy="1260804"/>
            </a:xfrm>
            <a:prstGeom prst="rect">
              <a:avLst/>
            </a:prstGeom>
            <a:ln w="12700" cap="flat">
              <a:noFill/>
              <a:miter lim="400000"/>
            </a:ln>
            <a:effectLst/>
          </p:spPr>
        </p:pic>
        <p:grpSp>
          <p:nvGrpSpPr>
            <p:cNvPr id="2304" name="Group 2304"/>
            <p:cNvGrpSpPr/>
            <p:nvPr/>
          </p:nvGrpSpPr>
          <p:grpSpPr>
            <a:xfrm>
              <a:off x="1573179" y="540095"/>
              <a:ext cx="577022" cy="533401"/>
              <a:chOff x="0" y="0"/>
              <a:chExt cx="577020" cy="533400"/>
            </a:xfrm>
          </p:grpSpPr>
          <p:sp>
            <p:nvSpPr>
              <p:cNvPr id="2302" name="Shape 2302"/>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03" name="Shape 2303"/>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05" name="LB-red1.png"/>
            <p:cNvPicPr>
              <a:picLocks noChangeAspect="1"/>
            </p:cNvPicPr>
            <p:nvPr/>
          </p:nvPicPr>
          <p:blipFill>
            <a:blip r:embed="rId3">
              <a:extLst/>
            </a:blip>
            <a:stretch>
              <a:fillRect/>
            </a:stretch>
          </p:blipFill>
          <p:spPr>
            <a:xfrm rot="10800000">
              <a:off x="0" y="1384300"/>
              <a:ext cx="1397001" cy="1281325"/>
            </a:xfrm>
            <a:prstGeom prst="rect">
              <a:avLst/>
            </a:prstGeom>
            <a:ln w="12700" cap="flat">
              <a:noFill/>
              <a:miter lim="400000"/>
            </a:ln>
            <a:effectLst/>
          </p:spPr>
        </p:pic>
        <p:grpSp>
          <p:nvGrpSpPr>
            <p:cNvPr id="2308" name="Group 2308"/>
            <p:cNvGrpSpPr/>
            <p:nvPr/>
          </p:nvGrpSpPr>
          <p:grpSpPr>
            <a:xfrm>
              <a:off x="392079" y="1949795"/>
              <a:ext cx="589722" cy="559211"/>
              <a:chOff x="0" y="0"/>
              <a:chExt cx="589720" cy="559209"/>
            </a:xfrm>
          </p:grpSpPr>
          <p:sp>
            <p:nvSpPr>
              <p:cNvPr id="2306" name="Shape 2306"/>
              <p:cNvSpPr/>
              <p:nvPr/>
            </p:nvSpPr>
            <p:spPr>
              <a:xfrm>
                <a:off x="817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07" name="Shape 2307"/>
              <p:cNvSpPr/>
              <p:nvPr/>
            </p:nvSpPr>
            <p:spPr>
              <a:xfrm>
                <a:off x="0" y="126589"/>
                <a:ext cx="558800" cy="4326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09" name="LB-red1.png"/>
            <p:cNvPicPr>
              <a:picLocks noChangeAspect="1"/>
            </p:cNvPicPr>
            <p:nvPr/>
          </p:nvPicPr>
          <p:blipFill>
            <a:blip r:embed="rId3">
              <a:extLst/>
            </a:blip>
            <a:stretch>
              <a:fillRect/>
            </a:stretch>
          </p:blipFill>
          <p:spPr>
            <a:xfrm rot="10800000">
              <a:off x="0" y="2768600"/>
              <a:ext cx="1397001" cy="1281325"/>
            </a:xfrm>
            <a:prstGeom prst="rect">
              <a:avLst/>
            </a:prstGeom>
            <a:ln w="12700" cap="flat">
              <a:noFill/>
              <a:miter lim="400000"/>
            </a:ln>
            <a:effectLst/>
          </p:spPr>
        </p:pic>
        <p:grpSp>
          <p:nvGrpSpPr>
            <p:cNvPr id="2312" name="Group 2312"/>
            <p:cNvGrpSpPr/>
            <p:nvPr/>
          </p:nvGrpSpPr>
          <p:grpSpPr>
            <a:xfrm>
              <a:off x="392079" y="3334095"/>
              <a:ext cx="589722" cy="571911"/>
              <a:chOff x="0" y="0"/>
              <a:chExt cx="589720" cy="571909"/>
            </a:xfrm>
          </p:grpSpPr>
          <p:sp>
            <p:nvSpPr>
              <p:cNvPr id="2310" name="Shape 2310"/>
              <p:cNvSpPr/>
              <p:nvPr/>
            </p:nvSpPr>
            <p:spPr>
              <a:xfrm>
                <a:off x="817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11" name="Shape 2311"/>
              <p:cNvSpPr/>
              <p:nvPr/>
            </p:nvSpPr>
            <p:spPr>
              <a:xfrm>
                <a:off x="0" y="139289"/>
                <a:ext cx="558800" cy="4326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13" name="LB-orange1.png"/>
            <p:cNvPicPr>
              <a:picLocks noChangeAspect="1"/>
            </p:cNvPicPr>
            <p:nvPr/>
          </p:nvPicPr>
          <p:blipFill>
            <a:blip r:embed="rId4">
              <a:extLst/>
            </a:blip>
            <a:stretch>
              <a:fillRect/>
            </a:stretch>
          </p:blipFill>
          <p:spPr>
            <a:xfrm rot="10800000">
              <a:off x="2420026" y="11122"/>
              <a:ext cx="1397001" cy="1260804"/>
            </a:xfrm>
            <a:prstGeom prst="rect">
              <a:avLst/>
            </a:prstGeom>
            <a:ln w="12700" cap="flat">
              <a:noFill/>
              <a:miter lim="400000"/>
            </a:ln>
            <a:effectLst/>
          </p:spPr>
        </p:pic>
        <p:grpSp>
          <p:nvGrpSpPr>
            <p:cNvPr id="2316" name="Group 2316"/>
            <p:cNvGrpSpPr/>
            <p:nvPr/>
          </p:nvGrpSpPr>
          <p:grpSpPr>
            <a:xfrm>
              <a:off x="2817779" y="540095"/>
              <a:ext cx="577022" cy="533401"/>
              <a:chOff x="0" y="0"/>
              <a:chExt cx="577020" cy="533400"/>
            </a:xfrm>
          </p:grpSpPr>
          <p:sp>
            <p:nvSpPr>
              <p:cNvPr id="2314" name="Shape 2314"/>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15" name="Shape 2315"/>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17" name="LB-orange1.png"/>
            <p:cNvPicPr>
              <a:picLocks noChangeAspect="1"/>
            </p:cNvPicPr>
            <p:nvPr/>
          </p:nvPicPr>
          <p:blipFill>
            <a:blip r:embed="rId4">
              <a:extLst/>
            </a:blip>
            <a:stretch>
              <a:fillRect/>
            </a:stretch>
          </p:blipFill>
          <p:spPr>
            <a:xfrm rot="10800000">
              <a:off x="1175426" y="1395422"/>
              <a:ext cx="1397001" cy="1260804"/>
            </a:xfrm>
            <a:prstGeom prst="rect">
              <a:avLst/>
            </a:prstGeom>
            <a:ln w="12700" cap="flat">
              <a:noFill/>
              <a:miter lim="400000"/>
            </a:ln>
            <a:effectLst/>
          </p:spPr>
        </p:pic>
        <p:grpSp>
          <p:nvGrpSpPr>
            <p:cNvPr id="2320" name="Group 2320"/>
            <p:cNvGrpSpPr/>
            <p:nvPr/>
          </p:nvGrpSpPr>
          <p:grpSpPr>
            <a:xfrm>
              <a:off x="1573179" y="1924395"/>
              <a:ext cx="577022" cy="533401"/>
              <a:chOff x="0" y="0"/>
              <a:chExt cx="577020" cy="533400"/>
            </a:xfrm>
          </p:grpSpPr>
          <p:sp>
            <p:nvSpPr>
              <p:cNvPr id="2318" name="Shape 2318"/>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19" name="Shape 2319"/>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21" name="LB-orange1.png"/>
            <p:cNvPicPr>
              <a:picLocks noChangeAspect="1"/>
            </p:cNvPicPr>
            <p:nvPr/>
          </p:nvPicPr>
          <p:blipFill>
            <a:blip r:embed="rId4">
              <a:extLst/>
            </a:blip>
            <a:stretch>
              <a:fillRect/>
            </a:stretch>
          </p:blipFill>
          <p:spPr>
            <a:xfrm rot="10800000">
              <a:off x="3601126" y="11122"/>
              <a:ext cx="1397001" cy="1260804"/>
            </a:xfrm>
            <a:prstGeom prst="rect">
              <a:avLst/>
            </a:prstGeom>
            <a:ln w="12700" cap="flat">
              <a:noFill/>
              <a:miter lim="400000"/>
            </a:ln>
            <a:effectLst/>
          </p:spPr>
        </p:pic>
        <p:grpSp>
          <p:nvGrpSpPr>
            <p:cNvPr id="2324" name="Group 2324"/>
            <p:cNvGrpSpPr/>
            <p:nvPr/>
          </p:nvGrpSpPr>
          <p:grpSpPr>
            <a:xfrm>
              <a:off x="3998879" y="540095"/>
              <a:ext cx="577022" cy="533401"/>
              <a:chOff x="0" y="0"/>
              <a:chExt cx="577020" cy="533400"/>
            </a:xfrm>
          </p:grpSpPr>
          <p:sp>
            <p:nvSpPr>
              <p:cNvPr id="2322" name="Shape 2322"/>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23" name="Shape 2323"/>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25" name="LB-orange1.png"/>
            <p:cNvPicPr>
              <a:picLocks noChangeAspect="1"/>
            </p:cNvPicPr>
            <p:nvPr/>
          </p:nvPicPr>
          <p:blipFill>
            <a:blip r:embed="rId4">
              <a:extLst/>
            </a:blip>
            <a:stretch>
              <a:fillRect/>
            </a:stretch>
          </p:blipFill>
          <p:spPr>
            <a:xfrm rot="10800000">
              <a:off x="2394626" y="1395422"/>
              <a:ext cx="1397001" cy="1260804"/>
            </a:xfrm>
            <a:prstGeom prst="rect">
              <a:avLst/>
            </a:prstGeom>
            <a:ln w="12700" cap="flat">
              <a:noFill/>
              <a:miter lim="400000"/>
            </a:ln>
            <a:effectLst/>
          </p:spPr>
        </p:pic>
        <p:grpSp>
          <p:nvGrpSpPr>
            <p:cNvPr id="2328" name="Group 2328"/>
            <p:cNvGrpSpPr/>
            <p:nvPr/>
          </p:nvGrpSpPr>
          <p:grpSpPr>
            <a:xfrm>
              <a:off x="2792379" y="1924395"/>
              <a:ext cx="577022" cy="533401"/>
              <a:chOff x="0" y="0"/>
              <a:chExt cx="577020" cy="533400"/>
            </a:xfrm>
          </p:grpSpPr>
          <p:sp>
            <p:nvSpPr>
              <p:cNvPr id="2326" name="Shape 2326"/>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27" name="Shape 2327"/>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29" name="LB-orange1.png"/>
            <p:cNvPicPr>
              <a:picLocks noChangeAspect="1"/>
            </p:cNvPicPr>
            <p:nvPr/>
          </p:nvPicPr>
          <p:blipFill>
            <a:blip r:embed="rId4">
              <a:extLst/>
            </a:blip>
            <a:stretch>
              <a:fillRect/>
            </a:stretch>
          </p:blipFill>
          <p:spPr>
            <a:xfrm rot="10800000">
              <a:off x="3575726" y="1395422"/>
              <a:ext cx="1397001" cy="1260804"/>
            </a:xfrm>
            <a:prstGeom prst="rect">
              <a:avLst/>
            </a:prstGeom>
            <a:ln w="12700" cap="flat">
              <a:noFill/>
              <a:miter lim="400000"/>
            </a:ln>
            <a:effectLst/>
          </p:spPr>
        </p:pic>
        <p:grpSp>
          <p:nvGrpSpPr>
            <p:cNvPr id="2332" name="Group 2332"/>
            <p:cNvGrpSpPr/>
            <p:nvPr/>
          </p:nvGrpSpPr>
          <p:grpSpPr>
            <a:xfrm>
              <a:off x="3973479" y="1924395"/>
              <a:ext cx="577022" cy="533401"/>
              <a:chOff x="0" y="0"/>
              <a:chExt cx="577020" cy="533400"/>
            </a:xfrm>
          </p:grpSpPr>
          <p:sp>
            <p:nvSpPr>
              <p:cNvPr id="2330" name="Shape 2330"/>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31" name="Shape 2331"/>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33" name="LB-orange1.png"/>
            <p:cNvPicPr>
              <a:picLocks noChangeAspect="1"/>
            </p:cNvPicPr>
            <p:nvPr/>
          </p:nvPicPr>
          <p:blipFill>
            <a:blip r:embed="rId4">
              <a:extLst/>
            </a:blip>
            <a:stretch>
              <a:fillRect/>
            </a:stretch>
          </p:blipFill>
          <p:spPr>
            <a:xfrm rot="10800000">
              <a:off x="2420026" y="2779722"/>
              <a:ext cx="1397001" cy="1260804"/>
            </a:xfrm>
            <a:prstGeom prst="rect">
              <a:avLst/>
            </a:prstGeom>
            <a:ln w="12700" cap="flat">
              <a:noFill/>
              <a:miter lim="400000"/>
            </a:ln>
            <a:effectLst/>
          </p:spPr>
        </p:pic>
        <p:grpSp>
          <p:nvGrpSpPr>
            <p:cNvPr id="2336" name="Group 2336"/>
            <p:cNvGrpSpPr/>
            <p:nvPr/>
          </p:nvGrpSpPr>
          <p:grpSpPr>
            <a:xfrm>
              <a:off x="2817779" y="3308695"/>
              <a:ext cx="577022" cy="533401"/>
              <a:chOff x="0" y="0"/>
              <a:chExt cx="577020" cy="533400"/>
            </a:xfrm>
          </p:grpSpPr>
          <p:sp>
            <p:nvSpPr>
              <p:cNvPr id="2334" name="Shape 2334"/>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35" name="Shape 2335"/>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37" name="LB-orange1.png"/>
            <p:cNvPicPr>
              <a:picLocks noChangeAspect="1"/>
            </p:cNvPicPr>
            <p:nvPr/>
          </p:nvPicPr>
          <p:blipFill>
            <a:blip r:embed="rId4">
              <a:extLst/>
            </a:blip>
            <a:stretch>
              <a:fillRect/>
            </a:stretch>
          </p:blipFill>
          <p:spPr>
            <a:xfrm rot="10800000">
              <a:off x="3601126" y="2779722"/>
              <a:ext cx="1397001" cy="1260804"/>
            </a:xfrm>
            <a:prstGeom prst="rect">
              <a:avLst/>
            </a:prstGeom>
            <a:ln w="12700" cap="flat">
              <a:noFill/>
              <a:miter lim="400000"/>
            </a:ln>
            <a:effectLst/>
          </p:spPr>
        </p:pic>
        <p:grpSp>
          <p:nvGrpSpPr>
            <p:cNvPr id="2340" name="Group 2340"/>
            <p:cNvGrpSpPr/>
            <p:nvPr/>
          </p:nvGrpSpPr>
          <p:grpSpPr>
            <a:xfrm>
              <a:off x="3998879" y="3308695"/>
              <a:ext cx="577022" cy="520701"/>
              <a:chOff x="0" y="0"/>
              <a:chExt cx="577020" cy="520700"/>
            </a:xfrm>
          </p:grpSpPr>
          <p:sp>
            <p:nvSpPr>
              <p:cNvPr id="2338" name="Shape 2338"/>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39" name="Shape 2339"/>
              <p:cNvSpPr/>
              <p:nvPr/>
            </p:nvSpPr>
            <p:spPr>
              <a:xfrm>
                <a:off x="0" y="1143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41" name="LB-drab1.png"/>
            <p:cNvPicPr>
              <a:picLocks noChangeAspect="1"/>
            </p:cNvPicPr>
            <p:nvPr/>
          </p:nvPicPr>
          <p:blipFill>
            <a:blip r:embed="rId2">
              <a:extLst/>
            </a:blip>
            <a:stretch>
              <a:fillRect/>
            </a:stretch>
          </p:blipFill>
          <p:spPr>
            <a:xfrm rot="10800000">
              <a:off x="4756529" y="1384301"/>
              <a:ext cx="1397001" cy="1279833"/>
            </a:xfrm>
            <a:prstGeom prst="rect">
              <a:avLst/>
            </a:prstGeom>
            <a:ln w="12700" cap="flat">
              <a:noFill/>
              <a:miter lim="400000"/>
            </a:ln>
            <a:effectLst/>
          </p:spPr>
        </p:pic>
        <p:grpSp>
          <p:nvGrpSpPr>
            <p:cNvPr id="2344" name="Group 2344"/>
            <p:cNvGrpSpPr/>
            <p:nvPr/>
          </p:nvGrpSpPr>
          <p:grpSpPr>
            <a:xfrm>
              <a:off x="5167279" y="1962495"/>
              <a:ext cx="564322" cy="508001"/>
              <a:chOff x="0" y="0"/>
              <a:chExt cx="564320" cy="508000"/>
            </a:xfrm>
          </p:grpSpPr>
          <p:sp>
            <p:nvSpPr>
              <p:cNvPr id="2342" name="Shape 2342"/>
              <p:cNvSpPr/>
              <p:nvPr/>
            </p:nvSpPr>
            <p:spPr>
              <a:xfrm>
                <a:off x="563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43" name="Shape 2343"/>
              <p:cNvSpPr/>
              <p:nvPr/>
            </p:nvSpPr>
            <p:spPr>
              <a:xfrm>
                <a:off x="0" y="1016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45" name="LB-drab1.png"/>
            <p:cNvPicPr>
              <a:picLocks noChangeAspect="1"/>
            </p:cNvPicPr>
            <p:nvPr/>
          </p:nvPicPr>
          <p:blipFill>
            <a:blip r:embed="rId2">
              <a:extLst/>
            </a:blip>
            <a:stretch>
              <a:fillRect/>
            </a:stretch>
          </p:blipFill>
          <p:spPr>
            <a:xfrm rot="10800000">
              <a:off x="4756529" y="2768601"/>
              <a:ext cx="1397001" cy="1279833"/>
            </a:xfrm>
            <a:prstGeom prst="rect">
              <a:avLst/>
            </a:prstGeom>
            <a:ln w="12700" cap="flat">
              <a:noFill/>
              <a:miter lim="400000"/>
            </a:ln>
            <a:effectLst/>
          </p:spPr>
        </p:pic>
        <p:grpSp>
          <p:nvGrpSpPr>
            <p:cNvPr id="2348" name="Group 2348"/>
            <p:cNvGrpSpPr/>
            <p:nvPr/>
          </p:nvGrpSpPr>
          <p:grpSpPr>
            <a:xfrm>
              <a:off x="5167279" y="3346795"/>
              <a:ext cx="564322" cy="508001"/>
              <a:chOff x="0" y="0"/>
              <a:chExt cx="564320" cy="508000"/>
            </a:xfrm>
          </p:grpSpPr>
          <p:sp>
            <p:nvSpPr>
              <p:cNvPr id="2346" name="Shape 2346"/>
              <p:cNvSpPr/>
              <p:nvPr/>
            </p:nvSpPr>
            <p:spPr>
              <a:xfrm>
                <a:off x="563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47" name="Shape 2347"/>
              <p:cNvSpPr/>
              <p:nvPr/>
            </p:nvSpPr>
            <p:spPr>
              <a:xfrm>
                <a:off x="0" y="1016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49" name="LB-orange1.png"/>
            <p:cNvPicPr>
              <a:picLocks noChangeAspect="1"/>
            </p:cNvPicPr>
            <p:nvPr/>
          </p:nvPicPr>
          <p:blipFill>
            <a:blip r:embed="rId4">
              <a:extLst/>
            </a:blip>
            <a:stretch>
              <a:fillRect/>
            </a:stretch>
          </p:blipFill>
          <p:spPr>
            <a:xfrm rot="10800000">
              <a:off x="1175426" y="2779722"/>
              <a:ext cx="1397001" cy="1260804"/>
            </a:xfrm>
            <a:prstGeom prst="rect">
              <a:avLst/>
            </a:prstGeom>
            <a:ln w="12700" cap="flat">
              <a:noFill/>
              <a:miter lim="400000"/>
            </a:ln>
            <a:effectLst/>
          </p:spPr>
        </p:pic>
        <p:grpSp>
          <p:nvGrpSpPr>
            <p:cNvPr id="2352" name="Group 2352"/>
            <p:cNvGrpSpPr/>
            <p:nvPr/>
          </p:nvGrpSpPr>
          <p:grpSpPr>
            <a:xfrm>
              <a:off x="1573179" y="3308695"/>
              <a:ext cx="577022" cy="520701"/>
              <a:chOff x="0" y="0"/>
              <a:chExt cx="577020" cy="520700"/>
            </a:xfrm>
          </p:grpSpPr>
          <p:sp>
            <p:nvSpPr>
              <p:cNvPr id="2350" name="Shape 2350"/>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51" name="Shape 2351"/>
              <p:cNvSpPr/>
              <p:nvPr/>
            </p:nvSpPr>
            <p:spPr>
              <a:xfrm>
                <a:off x="0" y="1143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grpSp>
      <p:sp>
        <p:nvSpPr>
          <p:cNvPr id="2354" name="Shape 2354"/>
          <p:cNvSpPr/>
          <p:nvPr/>
        </p:nvSpPr>
        <p:spPr>
          <a:xfrm>
            <a:off x="10274300" y="7340413"/>
            <a:ext cx="1" cy="431988"/>
          </a:xfrm>
          <a:prstGeom prst="line">
            <a:avLst/>
          </a:prstGeom>
          <a:ln w="38100">
            <a:solidFill>
              <a:srgbClr val="FF2600"/>
            </a:solidFill>
            <a:miter lim="400000"/>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355" name="Shape 2355"/>
          <p:cNvSpPr/>
          <p:nvPr/>
        </p:nvSpPr>
        <p:spPr>
          <a:xfrm>
            <a:off x="9156700" y="5765800"/>
            <a:ext cx="2235200" cy="1587500"/>
          </a:xfrm>
          <a:prstGeom prst="ellipse">
            <a:avLst/>
          </a:prstGeom>
          <a:solidFill>
            <a:srgbClr val="FF2600">
              <a:alpha val="25000"/>
            </a:srgbClr>
          </a:solidFill>
          <a:ln w="63500">
            <a:solidFill>
              <a:srgbClr val="F38C1E"/>
            </a:solidFill>
            <a:prstDash val="sysDot"/>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56" name="Shape 2356"/>
          <p:cNvSpPr/>
          <p:nvPr/>
        </p:nvSpPr>
        <p:spPr>
          <a:xfrm>
            <a:off x="6426200" y="4381500"/>
            <a:ext cx="1600200" cy="2959100"/>
          </a:xfrm>
          <a:prstGeom prst="ellipse">
            <a:avLst/>
          </a:prstGeom>
          <a:solidFill>
            <a:srgbClr val="FF2600">
              <a:alpha val="25000"/>
            </a:srgbClr>
          </a:solidFill>
          <a:ln w="63500">
            <a:solidFill>
              <a:srgbClr val="F38C1E"/>
            </a:solidFill>
            <a:prstDash val="sysDot"/>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8" name="Shape 2358"/>
          <p:cNvSpPr/>
          <p:nvPr/>
        </p:nvSpPr>
        <p:spPr>
          <a:xfrm>
            <a:off x="6324600" y="2679700"/>
            <a:ext cx="6527800" cy="4699000"/>
          </a:xfrm>
          <a:prstGeom prst="rect">
            <a:avLst/>
          </a:prstGeom>
          <a:solidFill>
            <a:srgbClr val="C5E0ED"/>
          </a:solidFill>
          <a:ln w="25400">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59" name="Shape 2359"/>
          <p:cNvSpPr>
            <a:spLocks noGrp="1"/>
          </p:cNvSpPr>
          <p:nvPr>
            <p:ph type="title"/>
          </p:nvPr>
        </p:nvSpPr>
        <p:spPr>
          <a:prstGeom prst="rect">
            <a:avLst/>
          </a:prstGeom>
        </p:spPr>
        <p:txBody>
          <a:bodyPr/>
          <a:lstStyle>
            <a:lvl1pPr>
              <a:tabLst>
                <a:tab pos="952500" algn="l"/>
              </a:tabLst>
            </a:lvl1pPr>
          </a:lstStyle>
          <a:p>
            <a:r>
              <a:t>Genetic Drift: Generation 3</a:t>
            </a:r>
          </a:p>
        </p:txBody>
      </p:sp>
      <p:sp>
        <p:nvSpPr>
          <p:cNvPr id="2360" name="Shape 2360"/>
          <p:cNvSpPr>
            <a:spLocks noGrp="1"/>
          </p:cNvSpPr>
          <p:nvPr>
            <p:ph type="body" sz="quarter" idx="1"/>
          </p:nvPr>
        </p:nvSpPr>
        <p:spPr>
          <a:xfrm>
            <a:off x="368300" y="1790700"/>
            <a:ext cx="5096868" cy="3713609"/>
          </a:xfrm>
          <a:prstGeom prst="rect">
            <a:avLst/>
          </a:prstGeom>
        </p:spPr>
        <p:txBody>
          <a:bodyPr/>
          <a:lstStyle/>
          <a:p>
            <a:pPr>
              <a:tabLst>
                <a:tab pos="1016000" algn="l"/>
              </a:tabLst>
            </a:pPr>
            <a:r>
              <a:rPr b="1">
                <a:solidFill>
                  <a:srgbClr val="006994"/>
                </a:solidFill>
              </a:rPr>
              <a:t>Generation 3</a:t>
            </a:r>
            <a:r>
              <a:t>:</a:t>
            </a:r>
            <a:br/>
            <a:r>
              <a:t>A dark beetle was blown out to sea by very strong winds during a cyclone and died.</a:t>
            </a:r>
            <a:br/>
            <a:r>
              <a:t>Again this was not a true test of the ‘fitness’ of the phenotype but was due to chance.</a:t>
            </a:r>
          </a:p>
          <a:p>
            <a:pPr lvl="1">
              <a:tabLst>
                <a:tab pos="1485900" algn="l"/>
              </a:tabLst>
            </a:pPr>
            <a:r>
              <a:t>The effect on the gene pool was to further reduce the dominant allele frequency from 50% to 43%.</a:t>
            </a:r>
          </a:p>
        </p:txBody>
      </p:sp>
      <p:sp>
        <p:nvSpPr>
          <p:cNvPr id="2361" name="Shape 2361"/>
          <p:cNvSpPr/>
          <p:nvPr/>
        </p:nvSpPr>
        <p:spPr>
          <a:xfrm>
            <a:off x="7200900" y="1841500"/>
            <a:ext cx="4483100" cy="711200"/>
          </a:xfrm>
          <a:prstGeom prst="rect">
            <a:avLst/>
          </a:prstGeom>
          <a:solidFill>
            <a:srgbClr val="006795"/>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62" name="Shape 2362"/>
          <p:cNvSpPr/>
          <p:nvPr/>
        </p:nvSpPr>
        <p:spPr>
          <a:xfrm>
            <a:off x="7607300" y="2019300"/>
            <a:ext cx="3962400" cy="34562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3100"/>
              </a:lnSpc>
              <a:tabLst>
                <a:tab pos="520700" algn="l"/>
              </a:tabLst>
              <a:defRPr sz="2800">
                <a:solidFill>
                  <a:srgbClr val="FFFFFF"/>
                </a:solidFill>
                <a:latin typeface="Hoefler Text"/>
                <a:ea typeface="Hoefler Text"/>
                <a:cs typeface="Hoefler Text"/>
                <a:sym typeface="Hoefler Text"/>
              </a:defRPr>
            </a:pPr>
            <a:r>
              <a:rPr sz="2400" b="1">
                <a:latin typeface="+mn-lt"/>
                <a:ea typeface="+mn-ea"/>
                <a:cs typeface="+mn-cs"/>
                <a:sym typeface="Arial"/>
              </a:rPr>
              <a:t>A</a:t>
            </a:r>
            <a:r>
              <a:rPr sz="2400">
                <a:latin typeface="+mn-lt"/>
                <a:ea typeface="+mn-ea"/>
                <a:cs typeface="+mn-cs"/>
                <a:sym typeface="Arial"/>
              </a:rPr>
              <a:t> = 12 (41%)</a:t>
            </a:r>
            <a:r>
              <a:rPr sz="2400" b="1">
                <a:latin typeface="+mn-lt"/>
                <a:ea typeface="+mn-ea"/>
                <a:cs typeface="+mn-cs"/>
                <a:sym typeface="Arial"/>
              </a:rPr>
              <a:t>  a</a:t>
            </a:r>
            <a:r>
              <a:rPr sz="2400">
                <a:latin typeface="+mn-lt"/>
                <a:ea typeface="+mn-ea"/>
                <a:cs typeface="+mn-cs"/>
                <a:sym typeface="Arial"/>
              </a:rPr>
              <a:t> = 18 (57%)</a:t>
            </a:r>
          </a:p>
        </p:txBody>
      </p:sp>
      <p:grpSp>
        <p:nvGrpSpPr>
          <p:cNvPr id="2423" name="Group 2423"/>
          <p:cNvGrpSpPr/>
          <p:nvPr/>
        </p:nvGrpSpPr>
        <p:grpSpPr>
          <a:xfrm>
            <a:off x="6474335" y="3003204"/>
            <a:ext cx="6184604" cy="4065926"/>
            <a:chOff x="0" y="0"/>
            <a:chExt cx="6184602" cy="4065925"/>
          </a:xfrm>
        </p:grpSpPr>
        <p:pic>
          <p:nvPicPr>
            <p:cNvPr id="2363" name="LB-drab1.png"/>
            <p:cNvPicPr>
              <a:picLocks noChangeAspect="1"/>
            </p:cNvPicPr>
            <p:nvPr/>
          </p:nvPicPr>
          <p:blipFill>
            <a:blip r:embed="rId2">
              <a:extLst/>
            </a:blip>
            <a:stretch>
              <a:fillRect/>
            </a:stretch>
          </p:blipFill>
          <p:spPr>
            <a:xfrm rot="10800000">
              <a:off x="4787602" y="1"/>
              <a:ext cx="1397001" cy="1279833"/>
            </a:xfrm>
            <a:prstGeom prst="rect">
              <a:avLst/>
            </a:prstGeom>
            <a:ln w="12700" cap="flat">
              <a:noFill/>
              <a:miter lim="400000"/>
            </a:ln>
            <a:effectLst/>
          </p:spPr>
        </p:pic>
        <p:grpSp>
          <p:nvGrpSpPr>
            <p:cNvPr id="2366" name="Group 2366"/>
            <p:cNvGrpSpPr/>
            <p:nvPr/>
          </p:nvGrpSpPr>
          <p:grpSpPr>
            <a:xfrm>
              <a:off x="5198353" y="578195"/>
              <a:ext cx="564321" cy="508001"/>
              <a:chOff x="0" y="0"/>
              <a:chExt cx="564320" cy="508000"/>
            </a:xfrm>
          </p:grpSpPr>
          <p:sp>
            <p:nvSpPr>
              <p:cNvPr id="2364" name="Shape 2364"/>
              <p:cNvSpPr/>
              <p:nvPr/>
            </p:nvSpPr>
            <p:spPr>
              <a:xfrm>
                <a:off x="563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65" name="Shape 2365"/>
              <p:cNvSpPr/>
              <p:nvPr/>
            </p:nvSpPr>
            <p:spPr>
              <a:xfrm>
                <a:off x="0" y="1016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67" name="LB-red1.png"/>
            <p:cNvPicPr>
              <a:picLocks noChangeAspect="1"/>
            </p:cNvPicPr>
            <p:nvPr/>
          </p:nvPicPr>
          <p:blipFill>
            <a:blip r:embed="rId3">
              <a:extLst/>
            </a:blip>
            <a:stretch>
              <a:fillRect/>
            </a:stretch>
          </p:blipFill>
          <p:spPr>
            <a:xfrm rot="10800000">
              <a:off x="31073" y="0"/>
              <a:ext cx="1397001" cy="1281325"/>
            </a:xfrm>
            <a:prstGeom prst="rect">
              <a:avLst/>
            </a:prstGeom>
            <a:ln w="12700" cap="flat">
              <a:noFill/>
              <a:miter lim="400000"/>
            </a:ln>
            <a:effectLst/>
          </p:spPr>
        </p:pic>
        <p:grpSp>
          <p:nvGrpSpPr>
            <p:cNvPr id="2370" name="Group 2370"/>
            <p:cNvGrpSpPr/>
            <p:nvPr/>
          </p:nvGrpSpPr>
          <p:grpSpPr>
            <a:xfrm>
              <a:off x="423153" y="565495"/>
              <a:ext cx="589721" cy="559211"/>
              <a:chOff x="0" y="0"/>
              <a:chExt cx="589720" cy="559209"/>
            </a:xfrm>
          </p:grpSpPr>
          <p:sp>
            <p:nvSpPr>
              <p:cNvPr id="2368" name="Shape 2368"/>
              <p:cNvSpPr/>
              <p:nvPr/>
            </p:nvSpPr>
            <p:spPr>
              <a:xfrm>
                <a:off x="817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69" name="Shape 2369"/>
              <p:cNvSpPr/>
              <p:nvPr/>
            </p:nvSpPr>
            <p:spPr>
              <a:xfrm>
                <a:off x="0" y="126589"/>
                <a:ext cx="558800" cy="4326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71" name="LB-orange1.png"/>
            <p:cNvPicPr>
              <a:picLocks noChangeAspect="1"/>
            </p:cNvPicPr>
            <p:nvPr/>
          </p:nvPicPr>
          <p:blipFill>
            <a:blip r:embed="rId4">
              <a:extLst/>
            </a:blip>
            <a:stretch>
              <a:fillRect/>
            </a:stretch>
          </p:blipFill>
          <p:spPr>
            <a:xfrm rot="10800000">
              <a:off x="1206500" y="11122"/>
              <a:ext cx="1397000" cy="1260804"/>
            </a:xfrm>
            <a:prstGeom prst="rect">
              <a:avLst/>
            </a:prstGeom>
            <a:ln w="12700" cap="flat">
              <a:noFill/>
              <a:miter lim="400000"/>
            </a:ln>
            <a:effectLst/>
          </p:spPr>
        </p:pic>
        <p:grpSp>
          <p:nvGrpSpPr>
            <p:cNvPr id="2374" name="Group 2374"/>
            <p:cNvGrpSpPr/>
            <p:nvPr/>
          </p:nvGrpSpPr>
          <p:grpSpPr>
            <a:xfrm>
              <a:off x="1604253" y="540095"/>
              <a:ext cx="577021" cy="533401"/>
              <a:chOff x="0" y="0"/>
              <a:chExt cx="577020" cy="533400"/>
            </a:xfrm>
          </p:grpSpPr>
          <p:sp>
            <p:nvSpPr>
              <p:cNvPr id="2372" name="Shape 2372"/>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73" name="Shape 2373"/>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75" name="LB-red1.png"/>
            <p:cNvPicPr>
              <a:picLocks noChangeAspect="1"/>
            </p:cNvPicPr>
            <p:nvPr/>
          </p:nvPicPr>
          <p:blipFill>
            <a:blip r:embed="rId3">
              <a:extLst/>
            </a:blip>
            <a:stretch>
              <a:fillRect/>
            </a:stretch>
          </p:blipFill>
          <p:spPr>
            <a:xfrm rot="10800000">
              <a:off x="31073" y="1384300"/>
              <a:ext cx="1397001" cy="1281325"/>
            </a:xfrm>
            <a:prstGeom prst="rect">
              <a:avLst/>
            </a:prstGeom>
            <a:ln w="12700" cap="flat">
              <a:noFill/>
              <a:miter lim="400000"/>
            </a:ln>
            <a:effectLst/>
          </p:spPr>
        </p:pic>
        <p:grpSp>
          <p:nvGrpSpPr>
            <p:cNvPr id="2378" name="Group 2378"/>
            <p:cNvGrpSpPr/>
            <p:nvPr/>
          </p:nvGrpSpPr>
          <p:grpSpPr>
            <a:xfrm>
              <a:off x="410453" y="1949795"/>
              <a:ext cx="602421" cy="559211"/>
              <a:chOff x="0" y="0"/>
              <a:chExt cx="602420" cy="559209"/>
            </a:xfrm>
          </p:grpSpPr>
          <p:sp>
            <p:nvSpPr>
              <p:cNvPr id="2376" name="Shape 2376"/>
              <p:cNvSpPr/>
              <p:nvPr/>
            </p:nvSpPr>
            <p:spPr>
              <a:xfrm>
                <a:off x="944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77" name="Shape 2377"/>
              <p:cNvSpPr/>
              <p:nvPr/>
            </p:nvSpPr>
            <p:spPr>
              <a:xfrm>
                <a:off x="0" y="126589"/>
                <a:ext cx="558800" cy="4326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79" name="LB-orange1.png"/>
            <p:cNvPicPr>
              <a:picLocks noChangeAspect="1"/>
            </p:cNvPicPr>
            <p:nvPr/>
          </p:nvPicPr>
          <p:blipFill>
            <a:blip r:embed="rId4">
              <a:extLst/>
            </a:blip>
            <a:stretch>
              <a:fillRect/>
            </a:stretch>
          </p:blipFill>
          <p:spPr>
            <a:xfrm rot="10800000">
              <a:off x="2451100" y="11122"/>
              <a:ext cx="1397000" cy="1260804"/>
            </a:xfrm>
            <a:prstGeom prst="rect">
              <a:avLst/>
            </a:prstGeom>
            <a:ln w="12700" cap="flat">
              <a:noFill/>
              <a:miter lim="400000"/>
            </a:ln>
            <a:effectLst/>
          </p:spPr>
        </p:pic>
        <p:grpSp>
          <p:nvGrpSpPr>
            <p:cNvPr id="2382" name="Group 2382"/>
            <p:cNvGrpSpPr/>
            <p:nvPr/>
          </p:nvGrpSpPr>
          <p:grpSpPr>
            <a:xfrm>
              <a:off x="2848853" y="540095"/>
              <a:ext cx="577021" cy="533401"/>
              <a:chOff x="0" y="0"/>
              <a:chExt cx="577020" cy="533400"/>
            </a:xfrm>
          </p:grpSpPr>
          <p:sp>
            <p:nvSpPr>
              <p:cNvPr id="2380" name="Shape 2380"/>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81" name="Shape 2381"/>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83" name="LB-orange1.png"/>
            <p:cNvPicPr>
              <a:picLocks noChangeAspect="1"/>
            </p:cNvPicPr>
            <p:nvPr/>
          </p:nvPicPr>
          <p:blipFill>
            <a:blip r:embed="rId4">
              <a:extLst/>
            </a:blip>
            <a:stretch>
              <a:fillRect/>
            </a:stretch>
          </p:blipFill>
          <p:spPr>
            <a:xfrm rot="10800000">
              <a:off x="1206500" y="1395422"/>
              <a:ext cx="1397000" cy="1260804"/>
            </a:xfrm>
            <a:prstGeom prst="rect">
              <a:avLst/>
            </a:prstGeom>
            <a:ln w="12700" cap="flat">
              <a:noFill/>
              <a:miter lim="400000"/>
            </a:ln>
            <a:effectLst/>
          </p:spPr>
        </p:pic>
        <p:grpSp>
          <p:nvGrpSpPr>
            <p:cNvPr id="2386" name="Group 2386"/>
            <p:cNvGrpSpPr/>
            <p:nvPr/>
          </p:nvGrpSpPr>
          <p:grpSpPr>
            <a:xfrm>
              <a:off x="1604253" y="1924395"/>
              <a:ext cx="577021" cy="520701"/>
              <a:chOff x="0" y="0"/>
              <a:chExt cx="577020" cy="520700"/>
            </a:xfrm>
          </p:grpSpPr>
          <p:sp>
            <p:nvSpPr>
              <p:cNvPr id="2384" name="Shape 2384"/>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85" name="Shape 2385"/>
              <p:cNvSpPr/>
              <p:nvPr/>
            </p:nvSpPr>
            <p:spPr>
              <a:xfrm>
                <a:off x="0" y="1143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87" name="LB-orange1.png"/>
            <p:cNvPicPr>
              <a:picLocks noChangeAspect="1"/>
            </p:cNvPicPr>
            <p:nvPr/>
          </p:nvPicPr>
          <p:blipFill>
            <a:blip r:embed="rId4">
              <a:extLst/>
            </a:blip>
            <a:stretch>
              <a:fillRect/>
            </a:stretch>
          </p:blipFill>
          <p:spPr>
            <a:xfrm rot="10800000">
              <a:off x="2425700" y="1395422"/>
              <a:ext cx="1397000" cy="1260804"/>
            </a:xfrm>
            <a:prstGeom prst="rect">
              <a:avLst/>
            </a:prstGeom>
            <a:ln w="12700" cap="flat">
              <a:noFill/>
              <a:miter lim="400000"/>
            </a:ln>
            <a:effectLst/>
          </p:spPr>
        </p:pic>
        <p:grpSp>
          <p:nvGrpSpPr>
            <p:cNvPr id="2390" name="Group 2390"/>
            <p:cNvGrpSpPr/>
            <p:nvPr/>
          </p:nvGrpSpPr>
          <p:grpSpPr>
            <a:xfrm>
              <a:off x="2823453" y="1924395"/>
              <a:ext cx="577021" cy="533401"/>
              <a:chOff x="0" y="0"/>
              <a:chExt cx="577020" cy="533400"/>
            </a:xfrm>
          </p:grpSpPr>
          <p:sp>
            <p:nvSpPr>
              <p:cNvPr id="2388" name="Shape 2388"/>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89" name="Shape 2389"/>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91" name="LB-orange1.png"/>
            <p:cNvPicPr>
              <a:picLocks noChangeAspect="1"/>
            </p:cNvPicPr>
            <p:nvPr/>
          </p:nvPicPr>
          <p:blipFill>
            <a:blip r:embed="rId4">
              <a:extLst/>
            </a:blip>
            <a:stretch>
              <a:fillRect/>
            </a:stretch>
          </p:blipFill>
          <p:spPr>
            <a:xfrm rot="10800000">
              <a:off x="2451100" y="2779722"/>
              <a:ext cx="1397000" cy="1260804"/>
            </a:xfrm>
            <a:prstGeom prst="rect">
              <a:avLst/>
            </a:prstGeom>
            <a:ln w="12700" cap="flat">
              <a:noFill/>
              <a:miter lim="400000"/>
            </a:ln>
            <a:effectLst/>
          </p:spPr>
        </p:pic>
        <p:grpSp>
          <p:nvGrpSpPr>
            <p:cNvPr id="2394" name="Group 2394"/>
            <p:cNvGrpSpPr/>
            <p:nvPr/>
          </p:nvGrpSpPr>
          <p:grpSpPr>
            <a:xfrm>
              <a:off x="2848853" y="3308695"/>
              <a:ext cx="577021" cy="520701"/>
              <a:chOff x="0" y="0"/>
              <a:chExt cx="577020" cy="520700"/>
            </a:xfrm>
          </p:grpSpPr>
          <p:sp>
            <p:nvSpPr>
              <p:cNvPr id="2392" name="Shape 2392"/>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93" name="Shape 2393"/>
              <p:cNvSpPr/>
              <p:nvPr/>
            </p:nvSpPr>
            <p:spPr>
              <a:xfrm>
                <a:off x="0" y="1143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95" name="LB-orange1.png"/>
            <p:cNvPicPr>
              <a:picLocks noChangeAspect="1"/>
            </p:cNvPicPr>
            <p:nvPr/>
          </p:nvPicPr>
          <p:blipFill>
            <a:blip r:embed="rId4">
              <a:extLst/>
            </a:blip>
            <a:stretch>
              <a:fillRect/>
            </a:stretch>
          </p:blipFill>
          <p:spPr>
            <a:xfrm rot="10800000">
              <a:off x="3632200" y="2779722"/>
              <a:ext cx="1397000" cy="1260804"/>
            </a:xfrm>
            <a:prstGeom prst="rect">
              <a:avLst/>
            </a:prstGeom>
            <a:ln w="12700" cap="flat">
              <a:noFill/>
              <a:miter lim="400000"/>
            </a:ln>
            <a:effectLst/>
          </p:spPr>
        </p:pic>
        <p:grpSp>
          <p:nvGrpSpPr>
            <p:cNvPr id="2398" name="Group 2398"/>
            <p:cNvGrpSpPr/>
            <p:nvPr/>
          </p:nvGrpSpPr>
          <p:grpSpPr>
            <a:xfrm>
              <a:off x="4029953" y="3308695"/>
              <a:ext cx="577021" cy="533401"/>
              <a:chOff x="0" y="0"/>
              <a:chExt cx="577020" cy="533400"/>
            </a:xfrm>
          </p:grpSpPr>
          <p:sp>
            <p:nvSpPr>
              <p:cNvPr id="2396" name="Shape 2396"/>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397" name="Shape 2397"/>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399" name="LB-drab1.png"/>
            <p:cNvPicPr>
              <a:picLocks noChangeAspect="1"/>
            </p:cNvPicPr>
            <p:nvPr/>
          </p:nvPicPr>
          <p:blipFill>
            <a:blip r:embed="rId2">
              <a:extLst/>
            </a:blip>
            <a:stretch>
              <a:fillRect/>
            </a:stretch>
          </p:blipFill>
          <p:spPr>
            <a:xfrm rot="10800000">
              <a:off x="4787602" y="1384301"/>
              <a:ext cx="1397001" cy="1279833"/>
            </a:xfrm>
            <a:prstGeom prst="rect">
              <a:avLst/>
            </a:prstGeom>
            <a:ln w="12700" cap="flat">
              <a:noFill/>
              <a:miter lim="400000"/>
            </a:ln>
            <a:effectLst/>
          </p:spPr>
        </p:pic>
        <p:grpSp>
          <p:nvGrpSpPr>
            <p:cNvPr id="2402" name="Group 2402"/>
            <p:cNvGrpSpPr/>
            <p:nvPr/>
          </p:nvGrpSpPr>
          <p:grpSpPr>
            <a:xfrm>
              <a:off x="5198353" y="1962495"/>
              <a:ext cx="564321" cy="520701"/>
              <a:chOff x="0" y="0"/>
              <a:chExt cx="564320" cy="520700"/>
            </a:xfrm>
          </p:grpSpPr>
          <p:sp>
            <p:nvSpPr>
              <p:cNvPr id="2400" name="Shape 2400"/>
              <p:cNvSpPr/>
              <p:nvPr/>
            </p:nvSpPr>
            <p:spPr>
              <a:xfrm>
                <a:off x="563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401" name="Shape 2401"/>
              <p:cNvSpPr/>
              <p:nvPr/>
            </p:nvSpPr>
            <p:spPr>
              <a:xfrm>
                <a:off x="0" y="1143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403" name="LB-drab1.png"/>
            <p:cNvPicPr>
              <a:picLocks noChangeAspect="1"/>
            </p:cNvPicPr>
            <p:nvPr/>
          </p:nvPicPr>
          <p:blipFill>
            <a:blip r:embed="rId2">
              <a:extLst/>
            </a:blip>
            <a:stretch>
              <a:fillRect/>
            </a:stretch>
          </p:blipFill>
          <p:spPr>
            <a:xfrm rot="10800000">
              <a:off x="4787602" y="2768601"/>
              <a:ext cx="1397001" cy="1279833"/>
            </a:xfrm>
            <a:prstGeom prst="rect">
              <a:avLst/>
            </a:prstGeom>
            <a:ln w="12700" cap="flat">
              <a:noFill/>
              <a:miter lim="400000"/>
            </a:ln>
            <a:effectLst/>
          </p:spPr>
        </p:pic>
        <p:grpSp>
          <p:nvGrpSpPr>
            <p:cNvPr id="2406" name="Group 2406"/>
            <p:cNvGrpSpPr/>
            <p:nvPr/>
          </p:nvGrpSpPr>
          <p:grpSpPr>
            <a:xfrm>
              <a:off x="5185653" y="3346795"/>
              <a:ext cx="577021" cy="508001"/>
              <a:chOff x="0" y="0"/>
              <a:chExt cx="577020" cy="508000"/>
            </a:xfrm>
          </p:grpSpPr>
          <p:sp>
            <p:nvSpPr>
              <p:cNvPr id="2404" name="Shape 2404"/>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405" name="Shape 2405"/>
              <p:cNvSpPr/>
              <p:nvPr/>
            </p:nvSpPr>
            <p:spPr>
              <a:xfrm>
                <a:off x="0" y="1016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407" name="LB-orange1.png"/>
            <p:cNvPicPr>
              <a:picLocks noChangeAspect="1"/>
            </p:cNvPicPr>
            <p:nvPr/>
          </p:nvPicPr>
          <p:blipFill>
            <a:blip r:embed="rId4">
              <a:extLst/>
            </a:blip>
            <a:stretch>
              <a:fillRect/>
            </a:stretch>
          </p:blipFill>
          <p:spPr>
            <a:xfrm rot="10800000">
              <a:off x="1206500" y="2779722"/>
              <a:ext cx="1397000" cy="1260804"/>
            </a:xfrm>
            <a:prstGeom prst="rect">
              <a:avLst/>
            </a:prstGeom>
            <a:ln w="12700" cap="flat">
              <a:noFill/>
              <a:miter lim="400000"/>
            </a:ln>
            <a:effectLst/>
          </p:spPr>
        </p:pic>
        <p:grpSp>
          <p:nvGrpSpPr>
            <p:cNvPr id="2410" name="Group 2410"/>
            <p:cNvGrpSpPr/>
            <p:nvPr/>
          </p:nvGrpSpPr>
          <p:grpSpPr>
            <a:xfrm>
              <a:off x="1604253" y="3308695"/>
              <a:ext cx="577021" cy="533401"/>
              <a:chOff x="0" y="0"/>
              <a:chExt cx="577020" cy="533400"/>
            </a:xfrm>
          </p:grpSpPr>
          <p:sp>
            <p:nvSpPr>
              <p:cNvPr id="2408" name="Shape 2408"/>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409" name="Shape 2409"/>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411" name="LB-drab1.png"/>
            <p:cNvPicPr>
              <a:picLocks noChangeAspect="1"/>
            </p:cNvPicPr>
            <p:nvPr/>
          </p:nvPicPr>
          <p:blipFill>
            <a:blip r:embed="rId2">
              <a:extLst/>
            </a:blip>
            <a:stretch>
              <a:fillRect/>
            </a:stretch>
          </p:blipFill>
          <p:spPr>
            <a:xfrm rot="10800000">
              <a:off x="3631902" y="50801"/>
              <a:ext cx="1397001" cy="1279833"/>
            </a:xfrm>
            <a:prstGeom prst="rect">
              <a:avLst/>
            </a:prstGeom>
            <a:ln w="12700" cap="flat">
              <a:noFill/>
              <a:miter lim="400000"/>
            </a:ln>
            <a:effectLst/>
          </p:spPr>
        </p:pic>
        <p:grpSp>
          <p:nvGrpSpPr>
            <p:cNvPr id="2414" name="Group 2414"/>
            <p:cNvGrpSpPr/>
            <p:nvPr/>
          </p:nvGrpSpPr>
          <p:grpSpPr>
            <a:xfrm>
              <a:off x="4042653" y="628995"/>
              <a:ext cx="564321" cy="508001"/>
              <a:chOff x="0" y="0"/>
              <a:chExt cx="564320" cy="507999"/>
            </a:xfrm>
          </p:grpSpPr>
          <p:sp>
            <p:nvSpPr>
              <p:cNvPr id="2412" name="Shape 2412"/>
              <p:cNvSpPr/>
              <p:nvPr/>
            </p:nvSpPr>
            <p:spPr>
              <a:xfrm>
                <a:off x="563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413" name="Shape 2413"/>
              <p:cNvSpPr/>
              <p:nvPr/>
            </p:nvSpPr>
            <p:spPr>
              <a:xfrm>
                <a:off x="0" y="889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415" name="LB-drab1.png"/>
            <p:cNvPicPr>
              <a:picLocks noChangeAspect="1"/>
            </p:cNvPicPr>
            <p:nvPr/>
          </p:nvPicPr>
          <p:blipFill>
            <a:blip r:embed="rId2">
              <a:extLst/>
            </a:blip>
            <a:stretch>
              <a:fillRect/>
            </a:stretch>
          </p:blipFill>
          <p:spPr>
            <a:xfrm rot="10800000">
              <a:off x="3631902" y="1435101"/>
              <a:ext cx="1397001" cy="1279833"/>
            </a:xfrm>
            <a:prstGeom prst="rect">
              <a:avLst/>
            </a:prstGeom>
            <a:ln w="12700" cap="flat">
              <a:noFill/>
              <a:miter lim="400000"/>
            </a:ln>
            <a:effectLst/>
          </p:spPr>
        </p:pic>
        <p:grpSp>
          <p:nvGrpSpPr>
            <p:cNvPr id="2418" name="Group 2418"/>
            <p:cNvGrpSpPr/>
            <p:nvPr/>
          </p:nvGrpSpPr>
          <p:grpSpPr>
            <a:xfrm>
              <a:off x="4042653" y="2013295"/>
              <a:ext cx="564321" cy="508001"/>
              <a:chOff x="0" y="0"/>
              <a:chExt cx="564320" cy="507999"/>
            </a:xfrm>
          </p:grpSpPr>
          <p:sp>
            <p:nvSpPr>
              <p:cNvPr id="2416" name="Shape 2416"/>
              <p:cNvSpPr/>
              <p:nvPr/>
            </p:nvSpPr>
            <p:spPr>
              <a:xfrm>
                <a:off x="563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417" name="Shape 2417"/>
              <p:cNvSpPr/>
              <p:nvPr/>
            </p:nvSpPr>
            <p:spPr>
              <a:xfrm>
                <a:off x="0" y="889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pic>
          <p:nvPicPr>
            <p:cNvPr id="2419" name="LB-orange1.png"/>
            <p:cNvPicPr>
              <a:picLocks noChangeAspect="1"/>
            </p:cNvPicPr>
            <p:nvPr/>
          </p:nvPicPr>
          <p:blipFill>
            <a:blip r:embed="rId4">
              <a:extLst/>
            </a:blip>
            <a:stretch>
              <a:fillRect/>
            </a:stretch>
          </p:blipFill>
          <p:spPr>
            <a:xfrm rot="10800000">
              <a:off x="0" y="2805122"/>
              <a:ext cx="1397001" cy="1260804"/>
            </a:xfrm>
            <a:prstGeom prst="rect">
              <a:avLst/>
            </a:prstGeom>
            <a:ln w="12700" cap="flat">
              <a:noFill/>
              <a:miter lim="400000"/>
            </a:ln>
            <a:effectLst/>
          </p:spPr>
        </p:pic>
        <p:grpSp>
          <p:nvGrpSpPr>
            <p:cNvPr id="2422" name="Group 2422"/>
            <p:cNvGrpSpPr/>
            <p:nvPr/>
          </p:nvGrpSpPr>
          <p:grpSpPr>
            <a:xfrm>
              <a:off x="397753" y="3334095"/>
              <a:ext cx="577021" cy="533401"/>
              <a:chOff x="0" y="0"/>
              <a:chExt cx="577020" cy="533400"/>
            </a:xfrm>
          </p:grpSpPr>
          <p:sp>
            <p:nvSpPr>
              <p:cNvPr id="2420" name="Shape 2420"/>
              <p:cNvSpPr/>
              <p:nvPr/>
            </p:nvSpPr>
            <p:spPr>
              <a:xfrm>
                <a:off x="69020" y="0"/>
                <a:ext cx="508001" cy="508000"/>
              </a:xfrm>
              <a:prstGeom prst="ellipse">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421" name="Shape 2421"/>
              <p:cNvSpPr/>
              <p:nvPr/>
            </p:nvSpPr>
            <p:spPr>
              <a:xfrm>
                <a:off x="0" y="127000"/>
                <a:ext cx="524934" cy="4064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000000"/>
                    </a:solidFill>
                  </a:defRPr>
                </a:lvl1pPr>
              </a:lstStyle>
              <a:p>
                <a:r>
                  <a:t>Aa</a:t>
                </a:r>
              </a:p>
            </p:txBody>
          </p:sp>
        </p:gr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36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36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36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0" grpId="1" build="p" bldLvl="5" animBg="1" advAuto="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25" name="Genetic Drift Graphs graph1.png"/>
          <p:cNvPicPr>
            <a:picLocks noChangeAspect="1"/>
          </p:cNvPicPr>
          <p:nvPr/>
        </p:nvPicPr>
        <p:blipFill>
          <a:blip r:embed="rId2">
            <a:extLst/>
          </a:blip>
          <a:stretch>
            <a:fillRect/>
          </a:stretch>
        </p:blipFill>
        <p:spPr>
          <a:xfrm>
            <a:off x="4819026" y="1158705"/>
            <a:ext cx="4394229" cy="2888686"/>
          </a:xfrm>
          <a:prstGeom prst="rect">
            <a:avLst/>
          </a:prstGeom>
          <a:ln w="12700">
            <a:miter lim="400000"/>
          </a:ln>
        </p:spPr>
      </p:pic>
      <p:pic>
        <p:nvPicPr>
          <p:cNvPr id="2426" name="Genetic Drift Graphs graph3.png"/>
          <p:cNvPicPr>
            <a:picLocks noChangeAspect="1"/>
          </p:cNvPicPr>
          <p:nvPr/>
        </p:nvPicPr>
        <p:blipFill>
          <a:blip r:embed="rId3">
            <a:extLst/>
          </a:blip>
          <a:stretch>
            <a:fillRect/>
          </a:stretch>
        </p:blipFill>
        <p:spPr>
          <a:xfrm>
            <a:off x="4842668" y="6760764"/>
            <a:ext cx="4407056" cy="2939419"/>
          </a:xfrm>
          <a:prstGeom prst="rect">
            <a:avLst/>
          </a:prstGeom>
          <a:ln w="12700">
            <a:miter lim="400000"/>
          </a:ln>
        </p:spPr>
      </p:pic>
      <p:pic>
        <p:nvPicPr>
          <p:cNvPr id="2427" name="Genetic Drift Graphs graph2.png"/>
          <p:cNvPicPr>
            <a:picLocks noChangeAspect="1"/>
          </p:cNvPicPr>
          <p:nvPr/>
        </p:nvPicPr>
        <p:blipFill>
          <a:blip r:embed="rId4">
            <a:extLst/>
          </a:blip>
          <a:stretch>
            <a:fillRect/>
          </a:stretch>
        </p:blipFill>
        <p:spPr>
          <a:xfrm>
            <a:off x="4840049" y="4035425"/>
            <a:ext cx="4403825" cy="2772178"/>
          </a:xfrm>
          <a:prstGeom prst="rect">
            <a:avLst/>
          </a:prstGeom>
          <a:ln w="12700">
            <a:miter lim="400000"/>
          </a:ln>
        </p:spPr>
      </p:pic>
      <p:sp>
        <p:nvSpPr>
          <p:cNvPr id="2428" name="Shape 2428"/>
          <p:cNvSpPr>
            <a:spLocks noGrp="1"/>
          </p:cNvSpPr>
          <p:nvPr>
            <p:ph type="title"/>
          </p:nvPr>
        </p:nvSpPr>
        <p:spPr>
          <a:prstGeom prst="rect">
            <a:avLst/>
          </a:prstGeom>
        </p:spPr>
        <p:txBody>
          <a:bodyPr/>
          <a:lstStyle>
            <a:lvl1pPr>
              <a:tabLst>
                <a:tab pos="952500" algn="l"/>
              </a:tabLst>
            </a:lvl1pPr>
          </a:lstStyle>
          <a:p>
            <a:r>
              <a:t>Genetic Drift in Populations</a:t>
            </a:r>
          </a:p>
        </p:txBody>
      </p:sp>
      <p:sp>
        <p:nvSpPr>
          <p:cNvPr id="2429" name="Shape 2429"/>
          <p:cNvSpPr>
            <a:spLocks noGrp="1"/>
          </p:cNvSpPr>
          <p:nvPr>
            <p:ph type="body" sz="quarter" idx="1"/>
          </p:nvPr>
        </p:nvSpPr>
        <p:spPr>
          <a:xfrm>
            <a:off x="368300" y="1790700"/>
            <a:ext cx="4174332" cy="3604022"/>
          </a:xfrm>
          <a:prstGeom prst="rect">
            <a:avLst/>
          </a:prstGeom>
        </p:spPr>
        <p:txBody>
          <a:bodyPr/>
          <a:lstStyle/>
          <a:p>
            <a:pPr>
              <a:tabLst>
                <a:tab pos="1016000" algn="l"/>
              </a:tabLst>
            </a:pPr>
            <a:r>
              <a:t>The changes in allele frequencies as a result of random genetic drift can be modelled in a computer simulation.</a:t>
            </a:r>
          </a:p>
          <a:p>
            <a:pPr>
              <a:tabLst>
                <a:tab pos="1016000" algn="l"/>
              </a:tabLst>
            </a:pPr>
            <a:r>
              <a:t>The breeding populations vary from 2000 (top) to 20 (bottom). Each simulation runs for 140 generations.</a:t>
            </a:r>
          </a:p>
        </p:txBody>
      </p:sp>
      <p:sp>
        <p:nvSpPr>
          <p:cNvPr id="2430" name="Shape 2430"/>
          <p:cNvSpPr/>
          <p:nvPr/>
        </p:nvSpPr>
        <p:spPr>
          <a:xfrm>
            <a:off x="9347200" y="7175500"/>
            <a:ext cx="3517900" cy="15038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700"/>
              </a:lnSpc>
              <a:tabLst>
                <a:tab pos="520700" algn="l"/>
              </a:tabLst>
              <a:defRPr sz="2000">
                <a:solidFill>
                  <a:srgbClr val="006795"/>
                </a:solidFill>
                <a:latin typeface="Hoefler Text"/>
                <a:ea typeface="Hoefler Text"/>
                <a:cs typeface="Hoefler Text"/>
                <a:sym typeface="Hoefler Text"/>
              </a:defRPr>
            </a:pPr>
            <a:r>
              <a:rPr b="1">
                <a:latin typeface="+mn-lt"/>
                <a:ea typeface="+mn-ea"/>
                <a:cs typeface="+mn-cs"/>
                <a:sym typeface="Arial"/>
              </a:rPr>
              <a:t>Very small gene pool</a:t>
            </a:r>
            <a:endParaRPr>
              <a:latin typeface="+mn-lt"/>
              <a:ea typeface="+mn-ea"/>
              <a:cs typeface="+mn-cs"/>
              <a:sym typeface="Arial"/>
            </a:endParaRPr>
          </a:p>
          <a:p>
            <a:pPr>
              <a:lnSpc>
                <a:spcPts val="24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Breeding population =  </a:t>
            </a:r>
            <a:r>
              <a:rPr sz="1800" b="1">
                <a:latin typeface="+mn-lt"/>
                <a:ea typeface="+mn-ea"/>
                <a:cs typeface="+mn-cs"/>
                <a:sym typeface="Arial"/>
              </a:rPr>
              <a:t>20</a:t>
            </a:r>
            <a:endParaRPr sz="1800">
              <a:latin typeface="+mn-lt"/>
              <a:ea typeface="+mn-ea"/>
              <a:cs typeface="+mn-cs"/>
              <a:sym typeface="Arial"/>
            </a:endParaRPr>
          </a:p>
          <a:p>
            <a:pPr>
              <a:lnSpc>
                <a:spcPts val="24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Fluctuations are so extreme that the allele may become fixed (100%) or lost altogether (0%)</a:t>
            </a:r>
          </a:p>
        </p:txBody>
      </p:sp>
      <p:sp>
        <p:nvSpPr>
          <p:cNvPr id="2431" name="Shape 2431"/>
          <p:cNvSpPr/>
          <p:nvPr/>
        </p:nvSpPr>
        <p:spPr>
          <a:xfrm>
            <a:off x="9309100" y="4178300"/>
            <a:ext cx="3162300" cy="21134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700"/>
              </a:lnSpc>
              <a:tabLst>
                <a:tab pos="520700" algn="l"/>
              </a:tabLst>
              <a:defRPr sz="2000">
                <a:solidFill>
                  <a:srgbClr val="006795"/>
                </a:solidFill>
                <a:latin typeface="Hoefler Text"/>
                <a:ea typeface="Hoefler Text"/>
                <a:cs typeface="Hoefler Text"/>
                <a:sym typeface="Hoefler Text"/>
              </a:defRPr>
            </a:pPr>
            <a:r>
              <a:rPr b="1">
                <a:latin typeface="+mn-lt"/>
                <a:ea typeface="+mn-ea"/>
                <a:cs typeface="+mn-cs"/>
                <a:sym typeface="Arial"/>
              </a:rPr>
              <a:t>Small gene pool</a:t>
            </a:r>
            <a:endParaRPr>
              <a:latin typeface="+mn-lt"/>
              <a:ea typeface="+mn-ea"/>
              <a:cs typeface="+mn-cs"/>
              <a:sym typeface="Arial"/>
            </a:endParaRPr>
          </a:p>
          <a:p>
            <a:pPr>
              <a:lnSpc>
                <a:spcPts val="24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Breeding population =  </a:t>
            </a:r>
            <a:r>
              <a:rPr sz="1800" b="1">
                <a:latin typeface="+mn-lt"/>
                <a:ea typeface="+mn-ea"/>
                <a:cs typeface="+mn-cs"/>
                <a:sym typeface="Arial"/>
              </a:rPr>
              <a:t>200</a:t>
            </a:r>
            <a:endParaRPr sz="1800">
              <a:latin typeface="+mn-lt"/>
              <a:ea typeface="+mn-ea"/>
              <a:cs typeface="+mn-cs"/>
              <a:sym typeface="Arial"/>
            </a:endParaRPr>
          </a:p>
          <a:p>
            <a:pPr>
              <a:lnSpc>
                <a:spcPts val="24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Fluctuations are more severe because random changes in a few alleles cause a greater percentage change in allele frequencies.</a:t>
            </a:r>
          </a:p>
        </p:txBody>
      </p:sp>
      <p:sp>
        <p:nvSpPr>
          <p:cNvPr id="2432" name="Shape 2432"/>
          <p:cNvSpPr/>
          <p:nvPr/>
        </p:nvSpPr>
        <p:spPr>
          <a:xfrm>
            <a:off x="9321800" y="1346200"/>
            <a:ext cx="3136900" cy="21134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700"/>
              </a:lnSpc>
              <a:tabLst>
                <a:tab pos="520700" algn="l"/>
              </a:tabLst>
              <a:defRPr sz="2000">
                <a:solidFill>
                  <a:srgbClr val="006795"/>
                </a:solidFill>
                <a:latin typeface="Hoefler Text"/>
                <a:ea typeface="Hoefler Text"/>
                <a:cs typeface="Hoefler Text"/>
                <a:sym typeface="Hoefler Text"/>
              </a:defRPr>
            </a:pPr>
            <a:r>
              <a:rPr b="1">
                <a:latin typeface="+mn-lt"/>
                <a:ea typeface="+mn-ea"/>
                <a:cs typeface="+mn-cs"/>
                <a:sym typeface="Arial"/>
              </a:rPr>
              <a:t>Large gene pool</a:t>
            </a:r>
            <a:endParaRPr>
              <a:latin typeface="+mn-lt"/>
              <a:ea typeface="+mn-ea"/>
              <a:cs typeface="+mn-cs"/>
              <a:sym typeface="Arial"/>
            </a:endParaRPr>
          </a:p>
          <a:p>
            <a:pPr>
              <a:lnSpc>
                <a:spcPts val="24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Breeding population =  </a:t>
            </a:r>
            <a:r>
              <a:rPr sz="1800" b="1">
                <a:latin typeface="+mn-lt"/>
                <a:ea typeface="+mn-ea"/>
                <a:cs typeface="+mn-cs"/>
                <a:sym typeface="Arial"/>
              </a:rPr>
              <a:t>2000</a:t>
            </a:r>
            <a:endParaRPr sz="1800">
              <a:latin typeface="+mn-lt"/>
              <a:ea typeface="+mn-ea"/>
              <a:cs typeface="+mn-cs"/>
              <a:sym typeface="Arial"/>
            </a:endParaRPr>
          </a:p>
          <a:p>
            <a:pPr>
              <a:lnSpc>
                <a:spcPts val="24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Fluctuations are minimal because large numbers of individuals buffer the population against large changes in allele frequencies.</a:t>
            </a:r>
          </a:p>
        </p:txBody>
      </p:sp>
      <p:sp>
        <p:nvSpPr>
          <p:cNvPr id="2433" name="Shape 2433"/>
          <p:cNvSpPr/>
          <p:nvPr/>
        </p:nvSpPr>
        <p:spPr>
          <a:xfrm flipV="1">
            <a:off x="7361766" y="8497635"/>
            <a:ext cx="337530" cy="582865"/>
          </a:xfrm>
          <a:prstGeom prst="line">
            <a:avLst/>
          </a:prstGeom>
          <a:ln w="508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434" name="Shape 2434"/>
          <p:cNvSpPr/>
          <p:nvPr/>
        </p:nvSpPr>
        <p:spPr>
          <a:xfrm>
            <a:off x="7137400" y="7848600"/>
            <a:ext cx="1689100" cy="5969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a:solidFill>
                  <a:srgbClr val="006795"/>
                </a:solidFill>
                <a:latin typeface="Helvetica"/>
                <a:ea typeface="Helvetica"/>
                <a:cs typeface="Helvetica"/>
                <a:sym typeface="Helvetica"/>
              </a:defRPr>
            </a:lvl1pPr>
          </a:lstStyle>
          <a:p>
            <a:r>
              <a:t>Allele lost from the gene pool</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42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42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42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9" grpId="1" build="p" bldLvl="5" animBg="1" advAuto="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36" name="keynote logo image maybe3.jpg"/>
          <p:cNvPicPr>
            <a:picLocks noChangeAspect="1"/>
          </p:cNvPicPr>
          <p:nvPr/>
        </p:nvPicPr>
        <p:blipFill>
          <a:blip r:embed="rId2">
            <a:extLst/>
          </a:blip>
          <a:srcRect l="2854" r="2854"/>
          <a:stretch>
            <a:fillRect/>
          </a:stretch>
        </p:blipFill>
        <p:spPr>
          <a:xfrm>
            <a:off x="0" y="0"/>
            <a:ext cx="13004800" cy="9753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8" name="Shape 2438"/>
          <p:cNvSpPr>
            <a:spLocks noGrp="1"/>
          </p:cNvSpPr>
          <p:nvPr>
            <p:ph type="title"/>
          </p:nvPr>
        </p:nvSpPr>
        <p:spPr>
          <a:prstGeom prst="rect">
            <a:avLst/>
          </a:prstGeom>
        </p:spPr>
        <p:txBody>
          <a:bodyPr/>
          <a:lstStyle>
            <a:lvl1pPr>
              <a:tabLst>
                <a:tab pos="952500" algn="l"/>
              </a:tabLst>
            </a:lvl1pPr>
          </a:lstStyle>
          <a:p>
            <a:r>
              <a:t>Conditions of Use</a:t>
            </a:r>
          </a:p>
        </p:txBody>
      </p:sp>
      <p:sp>
        <p:nvSpPr>
          <p:cNvPr id="2439" name="Shape 2439"/>
          <p:cNvSpPr/>
          <p:nvPr/>
        </p:nvSpPr>
        <p:spPr>
          <a:xfrm>
            <a:off x="774700" y="2527300"/>
            <a:ext cx="5524500" cy="52832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0" lvl="1" indent="0">
              <a:spcBef>
                <a:spcPts val="900"/>
              </a:spcBef>
              <a:tabLst>
                <a:tab pos="901700" algn="l"/>
              </a:tabLst>
              <a:defRPr sz="2000" b="1">
                <a:solidFill>
                  <a:srgbClr val="FFDB1A"/>
                </a:solidFill>
              </a:defRPr>
            </a:pPr>
            <a:r>
              <a:t>You MAY:</a:t>
            </a:r>
          </a:p>
          <a:p>
            <a:pPr marL="288000" marR="457200" indent="-288000">
              <a:spcBef>
                <a:spcPts val="1500"/>
              </a:spcBef>
              <a:buSzPct val="100000"/>
              <a:buAutoNum type="alphaLcParenBoth"/>
              <a:tabLst/>
              <a:defRPr sz="1200" spc="5">
                <a:solidFill>
                  <a:srgbClr val="FFFFFF"/>
                </a:solidFill>
              </a:defRPr>
            </a:pPr>
            <a:r>
              <a:rPr spc="6"/>
              <a:t>Use the Presentation Media files for presentations in your classrooms using a data projector, interactive whiteboard or overhead projector.</a:t>
            </a:r>
          </a:p>
          <a:p>
            <a:pPr marL="288000" marR="457200" indent="-288000">
              <a:spcBef>
                <a:spcPts val="1500"/>
              </a:spcBef>
              <a:buSzPct val="100000"/>
              <a:buAutoNum type="alphaLcParenBoth"/>
              <a:tabLst/>
              <a:defRPr sz="1200" spc="5">
                <a:solidFill>
                  <a:srgbClr val="FFFFFF"/>
                </a:solidFill>
              </a:defRPr>
            </a:pPr>
            <a:r>
              <a:rPr spc="6"/>
              <a:t>Place the Presentation Media files on any staff computer within the school, including staff laptops, but not in contradiction to clause (g).</a:t>
            </a:r>
          </a:p>
          <a:p>
            <a:pPr marL="288000" marR="457200" indent="-288000">
              <a:buSzPct val="100000"/>
              <a:buAutoNum type="alphaLcParenBoth"/>
              <a:tabLst/>
              <a:defRPr sz="1200" spc="5">
                <a:solidFill>
                  <a:srgbClr val="FFFFFF"/>
                </a:solidFill>
              </a:defRPr>
            </a:pPr>
            <a:r>
              <a:rPr spc="6"/>
              <a:t>Place the Presentation Media files on:</a:t>
            </a:r>
          </a:p>
          <a:p>
            <a:pPr marL="468000" marR="457200" lvl="1" indent="-180000">
              <a:buSzPct val="125000"/>
              <a:buChar char="•"/>
              <a:tabLst/>
              <a:defRPr sz="1200" spc="5">
                <a:solidFill>
                  <a:srgbClr val="FFFFFF"/>
                </a:solidFill>
              </a:defRPr>
            </a:pPr>
            <a:r>
              <a:rPr spc="6"/>
              <a:t>The school’s intranet (school computer network)</a:t>
            </a:r>
          </a:p>
          <a:p>
            <a:pPr marL="468000" marR="457200" lvl="1" indent="-180000">
              <a:buSzPct val="125000"/>
              <a:buChar char="•"/>
              <a:tabLst/>
              <a:defRPr sz="1200" spc="5">
                <a:solidFill>
                  <a:srgbClr val="FFFFFF"/>
                </a:solidFill>
              </a:defRPr>
            </a:pPr>
            <a:r>
              <a:rPr spc="6"/>
              <a:t>VLE (Virtual Learning Environment)</a:t>
            </a:r>
          </a:p>
          <a:p>
            <a:pPr marL="468000" marR="457200" lvl="1" indent="-180000">
              <a:buSzPct val="125000"/>
              <a:buChar char="•"/>
              <a:tabLst/>
              <a:defRPr sz="1200" spc="5">
                <a:solidFill>
                  <a:srgbClr val="FFFFFF"/>
                </a:solidFill>
              </a:defRPr>
            </a:pPr>
            <a:r>
              <a:rPr spc="6"/>
              <a:t>A CMS (Content Management System). </a:t>
            </a:r>
          </a:p>
          <a:p>
            <a:pPr marL="0" marR="457200">
              <a:spcBef>
                <a:spcPts val="1500"/>
              </a:spcBef>
              <a:tabLst/>
              <a:defRPr sz="1200" spc="5">
                <a:solidFill>
                  <a:srgbClr val="FFFFFF"/>
                </a:solidFill>
              </a:defRPr>
            </a:pPr>
            <a:r>
              <a:rPr spc="6"/>
              <a:t>Student and staff access must be restricted to those who are enrolled/working on the campus of the registered purchaser. Student and staff access to a VLE or a CMS must be controlled by a user login and password protocol, but not in contradiction to clause (f). If students have access, they need to be made aware of the Conditions of Use and are only allowed to view the content.</a:t>
            </a:r>
          </a:p>
          <a:p>
            <a:pPr marL="288000" marR="457200" indent="-288000">
              <a:spcBef>
                <a:spcPts val="1500"/>
              </a:spcBef>
              <a:buSzPct val="100000"/>
              <a:buAutoNum type="alphaLcParenBoth" startAt="4"/>
              <a:tabLst/>
              <a:defRPr sz="1200" spc="5">
                <a:solidFill>
                  <a:srgbClr val="FFFFFF"/>
                </a:solidFill>
              </a:defRPr>
            </a:pPr>
            <a:r>
              <a:rPr spc="6"/>
              <a:t>Edit and customise the Presentation Media files by adding, deleting, and modifying information to better suit your needs, but not in contradiction to clauses 2 (c) - (d).</a:t>
            </a:r>
          </a:p>
          <a:p>
            <a:pPr marL="288000" marR="457200" indent="-288000">
              <a:spcBef>
                <a:spcPts val="1500"/>
              </a:spcBef>
              <a:buSzPct val="100000"/>
              <a:buAutoNum type="alphaLcParenBoth" startAt="4"/>
              <a:tabLst/>
              <a:defRPr sz="1200" spc="5">
                <a:solidFill>
                  <a:srgbClr val="FFFFFF"/>
                </a:solidFill>
              </a:defRPr>
            </a:pPr>
            <a:r>
              <a:rPr spc="6"/>
              <a:t>Print out the Presentation Media files in PowerPoint</a:t>
            </a:r>
            <a:r>
              <a:rPr spc="6" baseline="-8333"/>
              <a:t>®</a:t>
            </a:r>
            <a:r>
              <a:rPr spc="6"/>
              <a:t> or Keynote</a:t>
            </a:r>
            <a:r>
              <a:rPr spc="6" baseline="-8333"/>
              <a:t>®</a:t>
            </a:r>
            <a:r>
              <a:rPr spc="6"/>
              <a:t> </a:t>
            </a:r>
            <a:r>
              <a:rPr b="1" spc="6"/>
              <a:t>“Handouts”</a:t>
            </a:r>
            <a:r>
              <a:rPr spc="6"/>
              <a:t> mode for the express purpose of allowing students to make their own notes about the presentation, but not in contradiction to clause (e).</a:t>
            </a:r>
          </a:p>
        </p:txBody>
      </p:sp>
      <p:sp>
        <p:nvSpPr>
          <p:cNvPr id="2440" name="Shape 2440"/>
          <p:cNvSpPr/>
          <p:nvPr/>
        </p:nvSpPr>
        <p:spPr>
          <a:xfrm>
            <a:off x="774700" y="1447800"/>
            <a:ext cx="11277600" cy="8298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marL="0" lvl="1" indent="0">
              <a:spcBef>
                <a:spcPts val="600"/>
              </a:spcBef>
              <a:tabLst>
                <a:tab pos="901700" algn="l"/>
              </a:tabLst>
              <a:defRPr sz="1200">
                <a:solidFill>
                  <a:srgbClr val="FFFFFF"/>
                </a:solidFill>
              </a:defRPr>
            </a:pPr>
            <a:r>
              <a:rPr spc="6">
                <a:latin typeface="Myriad Pro"/>
                <a:ea typeface="Myriad Pro"/>
                <a:cs typeface="Myriad Pro"/>
                <a:sym typeface="Myriad Pro"/>
              </a:rPr>
              <a:t>NOTE: </a:t>
            </a:r>
            <a:r>
              <a:rPr spc="6">
                <a:latin typeface="Myriad Pro Semibold"/>
                <a:ea typeface="Myriad Pro Semibold"/>
                <a:cs typeface="Myriad Pro Semibold"/>
                <a:sym typeface="Myriad Pro Semibold"/>
              </a:rPr>
              <a:t>Presentation Media</a:t>
            </a:r>
            <a:r>
              <a:rPr spc="6">
                <a:latin typeface="Myriad Pro"/>
                <a:ea typeface="Myriad Pro"/>
                <a:cs typeface="Myriad Pro"/>
                <a:sym typeface="Myriad Pro"/>
              </a:rPr>
              <a:t> = presentations available on CD-ROM/DVD-ROM or as downloads</a:t>
            </a:r>
          </a:p>
          <a:p>
            <a:pPr marL="0" lvl="1" indent="0">
              <a:spcBef>
                <a:spcPts val="1000"/>
              </a:spcBef>
              <a:tabLst>
                <a:tab pos="901700" algn="l"/>
              </a:tabLst>
              <a:defRPr sz="2000">
                <a:solidFill>
                  <a:srgbClr val="FFFFFF"/>
                </a:solidFill>
              </a:defRPr>
            </a:pPr>
            <a:r>
              <a:rPr b="1" spc="11"/>
              <a:t>BIOZONE</a:t>
            </a:r>
            <a:r>
              <a:rPr spc="11"/>
              <a:t> retains copyright to the intellectual property included in the Presentation Media files, with acknowledgement that certain photos are used under license and are credited appropriately.</a:t>
            </a:r>
          </a:p>
        </p:txBody>
      </p:sp>
      <p:sp>
        <p:nvSpPr>
          <p:cNvPr id="2441" name="Shape 2441"/>
          <p:cNvSpPr/>
          <p:nvPr/>
        </p:nvSpPr>
        <p:spPr>
          <a:xfrm>
            <a:off x="6807200" y="2527300"/>
            <a:ext cx="5760000" cy="49911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0" indent="71999">
              <a:spcBef>
                <a:spcPts val="2000"/>
              </a:spcBef>
              <a:tabLst>
                <a:tab pos="901700" algn="l"/>
              </a:tabLst>
              <a:defRPr sz="2000">
                <a:solidFill>
                  <a:srgbClr val="FFDB1A"/>
                </a:solidFill>
              </a:defRPr>
            </a:pPr>
            <a:r>
              <a:rPr b="1"/>
              <a:t>You MAY NOT:</a:t>
            </a:r>
            <a:endParaRPr spc="11"/>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to the </a:t>
            </a:r>
            <a:r>
              <a:rPr b="1" spc="6"/>
              <a:t>Internet</a:t>
            </a:r>
            <a:r>
              <a:rPr spc="6"/>
              <a:t> or on a service that may be accessed </a:t>
            </a:r>
            <a:r>
              <a:rPr b="1" spc="6"/>
              <a:t>off-campus</a:t>
            </a:r>
            <a:r>
              <a:rPr spc="6"/>
              <a:t> unless access to the service is protected by a user login and password protocol, and is restricted to students and staff enrolled/working on the campus of the registered purchaser.</a:t>
            </a:r>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student laptop computers.</a:t>
            </a:r>
          </a:p>
          <a:p>
            <a:pPr marL="360000" marR="457200" indent="-288000">
              <a:spcBef>
                <a:spcPts val="1500"/>
              </a:spcBef>
              <a:buSzPct val="100000"/>
              <a:buAutoNum type="alphaLcParenBoth"/>
              <a:tabLst>
                <a:tab pos="1016000" algn="l"/>
              </a:tabLst>
              <a:defRPr sz="1200" spc="5">
                <a:solidFill>
                  <a:srgbClr val="FFFFFF"/>
                </a:solidFill>
              </a:defRPr>
            </a:pPr>
            <a:r>
              <a:rPr b="1" spc="6"/>
              <a:t>REMOVE</a:t>
            </a:r>
            <a:r>
              <a:rPr spc="6"/>
              <a:t> any of the references to BIOZONE, the </a:t>
            </a:r>
            <a:r>
              <a:rPr b="1" spc="6"/>
              <a:t>title slides</a:t>
            </a:r>
            <a:r>
              <a:rPr spc="6"/>
              <a:t>, </a:t>
            </a:r>
            <a:r>
              <a:rPr b="1" spc="6"/>
              <a:t>copyright notices</a:t>
            </a:r>
            <a:r>
              <a:rPr spc="6"/>
              <a:t>, </a:t>
            </a:r>
            <a:r>
              <a:rPr b="1" spc="6"/>
              <a:t>photo credits</a:t>
            </a:r>
            <a:r>
              <a:rPr spc="6"/>
              <a:t>, or </a:t>
            </a:r>
            <a:r>
              <a:rPr b="1" spc="6"/>
              <a:t>Conditions of Use</a:t>
            </a:r>
            <a:r>
              <a:rPr spc="6"/>
              <a:t> from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b="1" spc="6"/>
              <a:t>Create</a:t>
            </a:r>
            <a:r>
              <a:rPr spc="6"/>
              <a:t> a </a:t>
            </a:r>
            <a:r>
              <a:rPr b="1" spc="6"/>
              <a:t>NEW</a:t>
            </a:r>
            <a:r>
              <a:rPr spc="6"/>
              <a:t> document using any of the graphics/images in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spc="6"/>
              <a:t>Print the Presentation Media files on to </a:t>
            </a:r>
            <a:r>
              <a:rPr b="1" spc="6"/>
              <a:t>paper</a:t>
            </a:r>
            <a:r>
              <a:rPr spc="6"/>
              <a:t> to make your own </a:t>
            </a:r>
            <a:r>
              <a:rPr b="1" spc="6"/>
              <a:t>worksheets</a:t>
            </a:r>
            <a:r>
              <a:rPr spc="6"/>
              <a:t> for distribution to students.</a:t>
            </a:r>
          </a:p>
          <a:p>
            <a:pPr marL="360000" marR="457200" indent="-288000">
              <a:spcBef>
                <a:spcPts val="1500"/>
              </a:spcBef>
              <a:buSzPct val="100000"/>
              <a:buAutoNum type="alphaLcParenBoth"/>
              <a:tabLst>
                <a:tab pos="1016000" algn="l"/>
              </a:tabLst>
              <a:defRPr sz="1200" spc="5">
                <a:solidFill>
                  <a:srgbClr val="FFFFFF"/>
                </a:solidFill>
              </a:defRPr>
            </a:pPr>
            <a:r>
              <a:rPr spc="6"/>
              <a:t>Incorporate any part of the Presentation Media files for the production of another </a:t>
            </a:r>
            <a:r>
              <a:rPr b="1" spc="6"/>
              <a:t>commercial product</a:t>
            </a:r>
            <a:r>
              <a:rPr spc="6"/>
              <a:t>.</a:t>
            </a:r>
          </a:p>
          <a:p>
            <a:pPr marL="360000" marR="457200" indent="-288000">
              <a:spcBef>
                <a:spcPts val="1500"/>
              </a:spcBef>
              <a:buSzPct val="100000"/>
              <a:buAutoNum type="alphaLcParenBoth"/>
              <a:tabLst>
                <a:tab pos="1016000" algn="l"/>
              </a:tabLst>
              <a:defRPr sz="1200" spc="5">
                <a:solidFill>
                  <a:srgbClr val="FFFFFF"/>
                </a:solidFill>
              </a:defRPr>
            </a:pPr>
            <a:r>
              <a:rPr spc="6"/>
              <a:t>Share or give away any content </a:t>
            </a:r>
            <a:r>
              <a:rPr b="1" spc="6"/>
              <a:t>off-campus</a:t>
            </a:r>
            <a:r>
              <a:rPr spc="6"/>
              <a:t>. This prohibition apples to, but is not limited to, sharing via the Internet or any website, (examples: YouTube, slide sharing websites).</a:t>
            </a:r>
          </a:p>
        </p:txBody>
      </p:sp>
      <p:sp>
        <p:nvSpPr>
          <p:cNvPr id="2442" name="Shape 2442"/>
          <p:cNvSpPr/>
          <p:nvPr/>
        </p:nvSpPr>
        <p:spPr>
          <a:xfrm>
            <a:off x="711200" y="7518400"/>
            <a:ext cx="6350000" cy="292100"/>
          </a:xfrm>
          <a:prstGeom prst="rect">
            <a:avLst/>
          </a:prstGeom>
          <a:ln w="12700">
            <a:miter lim="400000"/>
          </a:ln>
          <a:extLst>
            <a:ext uri="{C572A759-6A51-4108-AA02-DFA0A04FC94B}">
              <ma14:wrappingTextBoxFlag xmlns:ma14="http://schemas.microsoft.com/office/mac/drawingml/2011/main" xmlns="" val="1"/>
            </a:ext>
          </a:extLst>
        </p:spPr>
        <p:txBody>
          <a:bodyPr lIns="38100" tIns="38100" rIns="38100" bIns="38100" anchor="b"/>
          <a:lstStyle/>
          <a:p>
            <a:pPr marL="0">
              <a:tabLst>
                <a:tab pos="1079500" algn="l"/>
              </a:tabLst>
              <a:defRPr sz="1000">
                <a:solidFill>
                  <a:srgbClr val="FFFFFF"/>
                </a:solidFill>
                <a:latin typeface="Myriad Pro"/>
                <a:ea typeface="Myriad Pro"/>
                <a:cs typeface="Myriad Pro"/>
                <a:sym typeface="Myriad Pro"/>
              </a:defRPr>
            </a:pPr>
            <a:r>
              <a:t>Conditions of Use are subject to change without notice. Visit </a:t>
            </a:r>
            <a:r>
              <a:rPr u="sng">
                <a:hlinkClick r:id="rId2"/>
              </a:rPr>
              <a:t>http://www.biozone.com.au/faqconditionsofuse/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4" name="Shape 2444"/>
          <p:cNvSpPr>
            <a:spLocks noGrp="1"/>
          </p:cNvSpPr>
          <p:nvPr>
            <p:ph type="title"/>
          </p:nvPr>
        </p:nvSpPr>
        <p:spPr>
          <a:prstGeom prst="rect">
            <a:avLst/>
          </a:prstGeom>
        </p:spPr>
        <p:txBody>
          <a:bodyPr/>
          <a:lstStyle>
            <a:lvl1pPr>
              <a:tabLst>
                <a:tab pos="952500" algn="l"/>
              </a:tabLst>
            </a:lvl1pPr>
          </a:lstStyle>
          <a:p>
            <a:r>
              <a:t>Photo Credits</a:t>
            </a:r>
          </a:p>
        </p:txBody>
      </p:sp>
      <p:sp>
        <p:nvSpPr>
          <p:cNvPr id="2445" name="Shape 2445"/>
          <p:cNvSpPr>
            <a:spLocks noGrp="1"/>
          </p:cNvSpPr>
          <p:nvPr>
            <p:ph type="body" sz="half" idx="1"/>
          </p:nvPr>
        </p:nvSpPr>
        <p:spPr>
          <a:xfrm>
            <a:off x="728300" y="1800000"/>
            <a:ext cx="5172591" cy="6273801"/>
          </a:xfrm>
          <a:prstGeom prst="rect">
            <a:avLst/>
          </a:prstGeom>
        </p:spPr>
        <p:txBody>
          <a:bodyPr/>
          <a:lstStyle/>
          <a:p>
            <a:pPr marL="336000" indent="-336000">
              <a:tabLst>
                <a:tab pos="1016000" algn="l"/>
              </a:tabLst>
            </a:pPr>
            <a:r>
              <a:t>Photographic images are used under license from the following commercial photo libraries:</a:t>
            </a:r>
          </a:p>
          <a:p>
            <a:pPr marL="611999" lvl="1">
              <a:tabLst>
                <a:tab pos="1485900" algn="l"/>
              </a:tabLst>
            </a:pPr>
            <a:r>
              <a:rPr b="1"/>
              <a:t>Corel Corporation</a:t>
            </a:r>
            <a:r>
              <a:t> Professional Photos (uncoded)</a:t>
            </a:r>
          </a:p>
          <a:p>
            <a:pPr marL="611999" lvl="1">
              <a:tabLst>
                <a:tab pos="1485900" algn="l"/>
              </a:tabLst>
            </a:pPr>
            <a:r>
              <a:rPr b="1"/>
              <a:t>ArtToday</a:t>
            </a:r>
            <a:r>
              <a:t>.com (coded</a:t>
            </a:r>
            <a:r>
              <a:rPr b="1"/>
              <a:t> AT</a:t>
            </a:r>
            <a:r>
              <a:t>)</a:t>
            </a:r>
          </a:p>
          <a:p>
            <a:pPr marL="611999" lvl="1">
              <a:tabLst>
                <a:tab pos="1485900" algn="l"/>
              </a:tabLst>
            </a:pPr>
            <a:r>
              <a:rPr b="1"/>
              <a:t>Clipart</a:t>
            </a:r>
            <a:r>
              <a:t>.com (coded </a:t>
            </a:r>
            <a:r>
              <a:rPr b="1"/>
              <a:t>CA</a:t>
            </a:r>
            <a:r>
              <a:t>)</a:t>
            </a:r>
          </a:p>
          <a:p>
            <a:pPr marL="611999" lvl="1">
              <a:tabLst>
                <a:tab pos="1485900" algn="l"/>
              </a:tabLst>
            </a:pPr>
            <a:r>
              <a:rPr b="1"/>
              <a:t>PhotoObjects</a:t>
            </a:r>
            <a:r>
              <a:t>.com (coded </a:t>
            </a:r>
            <a:r>
              <a:rPr b="1"/>
              <a:t>PO</a:t>
            </a:r>
            <a:r>
              <a:t>)</a:t>
            </a:r>
          </a:p>
          <a:p>
            <a:pPr marL="611999" lvl="1">
              <a:tabLst>
                <a:tab pos="1485900" algn="l"/>
              </a:tabLst>
            </a:pPr>
            <a:r>
              <a:rPr b="1"/>
              <a:t>iStock</a:t>
            </a:r>
            <a:r>
              <a:t>.com (coded </a:t>
            </a:r>
            <a:r>
              <a:rPr b="1"/>
              <a:t>iStock</a:t>
            </a:r>
            <a:r>
              <a:t>)</a:t>
            </a:r>
          </a:p>
          <a:p>
            <a:pPr marL="611999" lvl="1">
              <a:tabLst>
                <a:tab pos="1485900" algn="l"/>
              </a:tabLst>
            </a:pPr>
            <a:r>
              <a:rPr b="1"/>
              <a:t>Hemera</a:t>
            </a:r>
            <a:r>
              <a:t> Technologies Inc. (coded </a:t>
            </a:r>
            <a:r>
              <a:rPr b="1"/>
              <a:t>Hemera</a:t>
            </a:r>
            <a:r>
              <a:t>)</a:t>
            </a:r>
          </a:p>
          <a:p>
            <a:pPr marL="611999" lvl="1">
              <a:tabLst>
                <a:tab pos="1485900" algn="l"/>
              </a:tabLst>
            </a:pPr>
            <a:r>
              <a:rPr b="1"/>
              <a:t>Photos</a:t>
            </a:r>
            <a:r>
              <a:t>.com (coded </a:t>
            </a:r>
            <a:r>
              <a:rPr b="1"/>
              <a:t>PC</a:t>
            </a:r>
            <a:r>
              <a:t>)</a:t>
            </a:r>
          </a:p>
          <a:p>
            <a:pPr marL="611999" lvl="1">
              <a:tabLst>
                <a:tab pos="1485900" algn="l"/>
              </a:tabLst>
            </a:pPr>
            <a:r>
              <a:rPr b="1"/>
              <a:t>Education interactive</a:t>
            </a:r>
            <a:r>
              <a:t> (coded </a:t>
            </a:r>
            <a:r>
              <a:rPr b="1"/>
              <a:t>EII</a:t>
            </a:r>
            <a:r>
              <a:t>)</a:t>
            </a:r>
          </a:p>
          <a:p>
            <a:pPr marL="611999" lvl="1">
              <a:tabLst>
                <a:tab pos="1485900" algn="l"/>
              </a:tabLst>
            </a:pPr>
            <a:r>
              <a:rPr b="1"/>
              <a:t>Digital Stock</a:t>
            </a:r>
            <a:r>
              <a:t> (coded </a:t>
            </a:r>
            <a:r>
              <a:rPr b="1"/>
              <a:t>DS</a:t>
            </a:r>
            <a:r>
              <a:t>)</a:t>
            </a:r>
          </a:p>
          <a:p>
            <a:pPr marL="611999" lvl="1">
              <a:tabLst>
                <a:tab pos="1485900" algn="l"/>
              </a:tabLst>
            </a:pPr>
            <a:r>
              <a:rPr b="1"/>
              <a:t>LifeArt</a:t>
            </a:r>
            <a:r>
              <a:t> (coded </a:t>
            </a:r>
            <a:r>
              <a:rPr b="1"/>
              <a:t>LA</a:t>
            </a:r>
            <a:r>
              <a:t>)</a:t>
            </a:r>
          </a:p>
          <a:p>
            <a:pPr marL="611999" lvl="1">
              <a:tabLst>
                <a:tab pos="1485900" algn="l"/>
              </a:tabLst>
            </a:pPr>
            <a:r>
              <a:rPr b="1"/>
              <a:t>Dollar Photo Club</a:t>
            </a:r>
            <a:r>
              <a:t> (coded </a:t>
            </a:r>
            <a:r>
              <a:rPr b="1"/>
              <a:t>DPC</a:t>
            </a:r>
            <a:r>
              <a:t>)</a:t>
            </a:r>
          </a:p>
          <a:p>
            <a:pPr marL="336000" indent="-336000">
              <a:tabLst>
                <a:tab pos="1016000" algn="l"/>
              </a:tabLst>
            </a:pPr>
            <a:r>
              <a:t>3D models were created using </a:t>
            </a:r>
            <a:r>
              <a:rPr b="1"/>
              <a:t>Poser</a:t>
            </a:r>
          </a:p>
          <a:p>
            <a:pPr marL="336000" indent="-336000">
              <a:tabLst>
                <a:tab pos="1016000" algn="l"/>
              </a:tabLst>
            </a:pPr>
            <a:r>
              <a:t>Additional artwork and photographs are the property of </a:t>
            </a:r>
            <a:r>
              <a:rPr b="1"/>
              <a:t>BIOZONE</a:t>
            </a:r>
            <a:r>
              <a:t> International Ltd. All rights reserved.</a:t>
            </a:r>
          </a:p>
          <a:p>
            <a:pPr>
              <a:tabLst>
                <a:tab pos="1016000" algn="l"/>
              </a:tabLst>
            </a:pPr>
            <a:r>
              <a:t>Some 2D artwork has been adapted from TechPool STUDIOS LifeArt Collections, used under licence.</a:t>
            </a:r>
          </a:p>
        </p:txBody>
      </p:sp>
      <p:sp>
        <p:nvSpPr>
          <p:cNvPr id="2446" name="Shape 2446"/>
          <p:cNvSpPr/>
          <p:nvPr/>
        </p:nvSpPr>
        <p:spPr>
          <a:xfrm>
            <a:off x="6807200" y="1803400"/>
            <a:ext cx="5156200" cy="35687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381000" indent="-381000">
              <a:lnSpc>
                <a:spcPts val="1900"/>
              </a:lnSpc>
              <a:spcBef>
                <a:spcPts val="2000"/>
              </a:spcBef>
              <a:buClr>
                <a:srgbClr val="FFFFFF"/>
              </a:buClr>
              <a:buSzPct val="200000"/>
              <a:buFont typeface="Lucida Grande"/>
              <a:buChar char="‣"/>
              <a:tabLst>
                <a:tab pos="1016000" algn="l"/>
              </a:tabLst>
              <a:defRPr sz="1600">
                <a:solidFill>
                  <a:srgbClr val="FFFFFF"/>
                </a:solidFill>
              </a:defRPr>
            </a:pPr>
            <a:r>
              <a:t>Images from the Public Domain: Where these licenses have been used, authors and licenses have been acknowledged alongside their image.</a:t>
            </a:r>
          </a:p>
          <a:p>
            <a:pPr marL="633599" lvl="2" indent="-252000">
              <a:lnSpc>
                <a:spcPts val="1400"/>
              </a:lnSpc>
              <a:spcBef>
                <a:spcPts val="600"/>
              </a:spcBef>
              <a:buSzPct val="150000"/>
              <a:buChar char="•"/>
              <a:tabLst>
                <a:tab pos="1485900" algn="l"/>
              </a:tabLst>
              <a:defRPr sz="1200">
                <a:solidFill>
                  <a:srgbClr val="FFFFFF"/>
                </a:solidFill>
              </a:defRPr>
            </a:pPr>
            <a:r>
              <a:rPr b="1"/>
              <a:t>Centers for Disease Control</a:t>
            </a:r>
            <a:r>
              <a:t> (coded </a:t>
            </a:r>
            <a:r>
              <a:rPr b="1"/>
              <a:t>CDC</a:t>
            </a:r>
            <a:r>
              <a:t>)</a:t>
            </a:r>
          </a:p>
          <a:p>
            <a:pPr marL="633599" lvl="2" indent="-252000">
              <a:lnSpc>
                <a:spcPts val="1400"/>
              </a:lnSpc>
              <a:spcBef>
                <a:spcPts val="600"/>
              </a:spcBef>
              <a:buSzPct val="150000"/>
              <a:buChar char="•"/>
              <a:tabLst>
                <a:tab pos="1485900" algn="l"/>
              </a:tabLst>
              <a:defRPr sz="1200">
                <a:solidFill>
                  <a:srgbClr val="FFFFFF"/>
                </a:solidFill>
              </a:defRPr>
            </a:pPr>
            <a:r>
              <a:rPr b="1"/>
              <a:t>National Institutes of Health</a:t>
            </a:r>
            <a:r>
              <a:t> (coded </a:t>
            </a:r>
            <a:r>
              <a:rPr b="1"/>
              <a:t>NIH</a:t>
            </a:r>
            <a:r>
              <a:t>)</a:t>
            </a:r>
          </a:p>
          <a:p>
            <a:pPr marL="633599" lvl="2" indent="-252000">
              <a:lnSpc>
                <a:spcPts val="1400"/>
              </a:lnSpc>
              <a:spcBef>
                <a:spcPts val="600"/>
              </a:spcBef>
              <a:buSzPct val="150000"/>
              <a:buChar char="•"/>
              <a:tabLst>
                <a:tab pos="1638300" algn="l"/>
              </a:tabLst>
              <a:defRPr sz="1200">
                <a:solidFill>
                  <a:srgbClr val="FFFFFF"/>
                </a:solidFill>
              </a:defRPr>
            </a:pPr>
            <a:r>
              <a:rPr b="1"/>
              <a:t>National Aeronautics and Space Administration </a:t>
            </a:r>
            <a:r>
              <a:t>(</a:t>
            </a:r>
            <a:r>
              <a:rPr b="1"/>
              <a:t>NASA</a:t>
            </a:r>
            <a:r>
              <a:t>)</a:t>
            </a:r>
          </a:p>
          <a:p>
            <a:pPr marL="633599" lvl="2" indent="-252000">
              <a:lnSpc>
                <a:spcPts val="1400"/>
              </a:lnSpc>
              <a:spcBef>
                <a:spcPts val="600"/>
              </a:spcBef>
              <a:buSzPct val="150000"/>
              <a:buChar char="•"/>
              <a:tabLst>
                <a:tab pos="1638300" algn="l"/>
              </a:tabLst>
              <a:defRPr sz="1200">
                <a:solidFill>
                  <a:srgbClr val="FFFFFF"/>
                </a:solidFill>
              </a:defRPr>
            </a:pPr>
            <a:r>
              <a:t>Images from the public domain include limited copyright, </a:t>
            </a:r>
            <a:br/>
            <a:r>
              <a:t>copyright expired, uncopyrighted, or uncopyrightable material:</a:t>
            </a:r>
          </a:p>
          <a:p>
            <a:pPr marL="900000" lvl="3" indent="-252000">
              <a:lnSpc>
                <a:spcPts val="1400"/>
              </a:lnSpc>
              <a:spcBef>
                <a:spcPts val="600"/>
              </a:spcBef>
              <a:buSzPct val="100000"/>
              <a:buChar char="•"/>
              <a:tabLst>
                <a:tab pos="1638300" algn="l"/>
              </a:tabLst>
              <a:defRPr sz="1200">
                <a:solidFill>
                  <a:srgbClr val="FFFFFF"/>
                </a:solidFill>
              </a:defRPr>
            </a:pPr>
            <a:r>
              <a:rPr b="1"/>
              <a:t>Licenses including: GNU Free Documentation License</a:t>
            </a:r>
            <a:br>
              <a:rPr b="1"/>
            </a:br>
            <a:r>
              <a:rPr u="sng">
                <a:hlinkClick r:id="rId2"/>
              </a:rPr>
              <a:t>http://www.gnu.org/copyleft/fdl.html</a:t>
            </a:r>
          </a:p>
          <a:p>
            <a:pPr marL="900000" lvl="3" indent="-252000">
              <a:lnSpc>
                <a:spcPts val="1400"/>
              </a:lnSpc>
              <a:spcBef>
                <a:spcPts val="600"/>
              </a:spcBef>
              <a:buSzPct val="100000"/>
              <a:buChar char="•"/>
              <a:tabLst>
                <a:tab pos="1638300" algn="l"/>
              </a:tabLst>
              <a:defRPr sz="1200">
                <a:solidFill>
                  <a:srgbClr val="FFFFFF"/>
                </a:solidFill>
              </a:defRPr>
            </a:pPr>
            <a:r>
              <a:rPr b="1"/>
              <a:t>Creative Commons Attribution Share Alike</a:t>
            </a:r>
            <a:br>
              <a:rPr b="1"/>
            </a:br>
            <a:r>
              <a:rPr u="sng">
                <a:hlinkClick r:id="rId3"/>
              </a:rPr>
              <a:t>http://creativecommons.org/licenses/by-sa/3.0/</a:t>
            </a:r>
          </a:p>
          <a:p>
            <a:pPr marL="900000" lvl="3" indent="-252000">
              <a:lnSpc>
                <a:spcPts val="1400"/>
              </a:lnSpc>
              <a:spcBef>
                <a:spcPts val="600"/>
              </a:spcBef>
              <a:buSzPct val="100000"/>
              <a:buChar char="•"/>
              <a:tabLst>
                <a:tab pos="1638300" algn="l"/>
              </a:tabLst>
              <a:defRPr sz="1200" b="1">
                <a:solidFill>
                  <a:srgbClr val="FFFFFF"/>
                </a:solidFill>
              </a:defRPr>
            </a:pPr>
            <a:r>
              <a:t>Wikimedia Commons</a:t>
            </a:r>
          </a:p>
        </p:txBody>
      </p:sp>
      <p:grpSp>
        <p:nvGrpSpPr>
          <p:cNvPr id="2449" name="Group 2449"/>
          <p:cNvGrpSpPr/>
          <p:nvPr/>
        </p:nvGrpSpPr>
        <p:grpSpPr>
          <a:xfrm>
            <a:off x="6807200" y="5384800"/>
            <a:ext cx="5003800" cy="1841500"/>
            <a:chOff x="0" y="0"/>
            <a:chExt cx="5003800" cy="1841500"/>
          </a:xfrm>
        </p:grpSpPr>
        <p:sp>
          <p:nvSpPr>
            <p:cNvPr id="2447" name="Shape 2447"/>
            <p:cNvSpPr/>
            <p:nvPr/>
          </p:nvSpPr>
          <p:spPr>
            <a:xfrm>
              <a:off x="0" y="0"/>
              <a:ext cx="5003800" cy="1841500"/>
            </a:xfrm>
            <a:prstGeom prst="rect">
              <a:avLst/>
            </a:prstGeom>
            <a:solidFill>
              <a:srgbClr val="FFFFFF">
                <a:alpha val="80000"/>
              </a:srgbClr>
            </a:solidFill>
            <a:ln w="25400" cap="flat">
              <a:noFill/>
              <a:miter lim="400000"/>
            </a:ln>
            <a:effectLst/>
          </p:spPr>
          <p:txBody>
            <a:bodyPr wrap="square" lIns="0" tIns="0" rIns="0" bIns="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448" name="Shape 2448"/>
            <p:cNvSpPr/>
            <p:nvPr/>
          </p:nvSpPr>
          <p:spPr>
            <a:xfrm>
              <a:off x="246508" y="215900"/>
              <a:ext cx="4508501" cy="14124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marL="0">
                <a:spcBef>
                  <a:spcPts val="1200"/>
                </a:spcBef>
                <a:tabLst>
                  <a:tab pos="1016000" algn="l"/>
                </a:tabLst>
                <a:defRPr sz="2400" b="1"/>
              </a:lvl1pPr>
            </a:lstStyle>
            <a:p>
              <a:r>
                <a:t>NOTE: Where images are edited or moved from or within this file, the accompanying photo credit must be retained.</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1" name="PM Ad last slide.pdf"/>
          <p:cNvPicPr>
            <a:picLocks noChangeAspect="1"/>
          </p:cNvPicPr>
          <p:nvPr/>
        </p:nvPicPr>
        <p:blipFill>
          <a:blip r:embed="rId2">
            <a:extLst/>
          </a:blip>
          <a:stretch>
            <a:fillRect/>
          </a:stretch>
        </p:blipFill>
        <p:spPr>
          <a:xfrm>
            <a:off x="-12700" y="-12700"/>
            <a:ext cx="13004800" cy="10007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theme/theme1.xml><?xml version="1.0" encoding="utf-8"?>
<a:theme xmlns:a="http://schemas.openxmlformats.org/drawingml/2006/main" name="White">
  <a:themeElements>
    <a:clrScheme name="Custom 82">
      <a:dk1>
        <a:srgbClr val="949494"/>
      </a:dk1>
      <a:lt1>
        <a:srgbClr val="006994"/>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6695"/>
      </a:hlink>
      <a:folHlink>
        <a:srgbClr val="C4E0ED"/>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TotalTime>
  <Words>4264</Words>
  <Application>Microsoft Office PowerPoint</Application>
  <PresentationFormat>Custom</PresentationFormat>
  <Paragraphs>790</Paragraphs>
  <Slides>43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Gill Sans</vt:lpstr>
      <vt:lpstr>Helvetica</vt:lpstr>
      <vt:lpstr>Hoefler Text</vt:lpstr>
      <vt:lpstr>Lucida Grande</vt:lpstr>
      <vt:lpstr>Myriad Pro</vt:lpstr>
      <vt:lpstr>Myriad Pro Semibold</vt:lpstr>
      <vt:lpstr>Savoye LET</vt:lpstr>
      <vt:lpstr>White</vt:lpstr>
      <vt:lpstr>PowerPoint Presentation</vt:lpstr>
      <vt:lpstr>PowerPoint Presentation</vt:lpstr>
      <vt:lpstr>The Concepts of Darwinism</vt:lpstr>
      <vt:lpstr>The Concepts of Darwinism</vt:lpstr>
      <vt:lpstr>Natural Selection</vt:lpstr>
      <vt:lpstr>Gene Pool</vt:lpstr>
      <vt:lpstr>Gene Pool</vt:lpstr>
      <vt:lpstr>Changing Allele Frequencies</vt:lpstr>
      <vt:lpstr>Determining Allele Frequencies</vt:lpstr>
      <vt:lpstr>Determining Genotype Frequencies</vt:lpstr>
      <vt:lpstr>Changes in a Gene Pool 1</vt:lpstr>
      <vt:lpstr>Changes in a Gene Pool 2</vt:lpstr>
      <vt:lpstr>Changes in a Gene Pool 3</vt:lpstr>
      <vt:lpstr>Modes of Natural Selection</vt:lpstr>
      <vt:lpstr>Adaptations and Fitness</vt:lpstr>
      <vt:lpstr>Acclimatisation</vt:lpstr>
      <vt:lpstr>Selection for Skin Colour</vt:lpstr>
      <vt:lpstr>Vitamin D and Folate</vt:lpstr>
      <vt:lpstr>Skin Colour and Latitude</vt:lpstr>
      <vt:lpstr>Heterozygote Advantage</vt:lpstr>
      <vt:lpstr>Sickle Cell Gene</vt:lpstr>
      <vt:lpstr>Sickle Cell Disease &amp; Malaria</vt:lpstr>
      <vt:lpstr>Antibiotic Resistance 1</vt:lpstr>
      <vt:lpstr>Antibiotic Resistance 2</vt:lpstr>
      <vt:lpstr>Causes of Drug Resistance</vt:lpstr>
      <vt:lpstr>Structure of Influenzavirus</vt:lpstr>
      <vt:lpstr>Antigenic Shift in Influenzavirus</vt:lpstr>
      <vt:lpstr>Gene Flow</vt:lpstr>
      <vt:lpstr>Isolated Populations</vt:lpstr>
      <vt:lpstr>The Founder Effect</vt:lpstr>
      <vt:lpstr>The Founder Effect</vt:lpstr>
      <vt:lpstr>Population Bottlenecks</vt:lpstr>
      <vt:lpstr>Population Bottlenecks</vt:lpstr>
      <vt:lpstr>Population Bottlenecks</vt:lpstr>
      <vt:lpstr>Genetic Drift</vt:lpstr>
      <vt:lpstr>Genetic Drift: Generation 1</vt:lpstr>
      <vt:lpstr>Genetic Drift: Generation 2</vt:lpstr>
      <vt:lpstr>Genetic Drift: Generation 3</vt:lpstr>
      <vt:lpstr>Genetic Drift in Populations</vt:lpstr>
      <vt:lpstr>PowerPoint Presentation</vt:lpstr>
      <vt:lpstr>Conditions of Use</vt:lpstr>
      <vt:lpstr>Photo Credits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EDWARDS Natalie</dc:creator>
  <cp:lastModifiedBy>EDWARDS Natalie [Narrogin Senior High School]</cp:lastModifiedBy>
  <cp:revision>3</cp:revision>
  <dcterms:modified xsi:type="dcterms:W3CDTF">2021-06-03T03:59:16Z</dcterms:modified>
</cp:coreProperties>
</file>
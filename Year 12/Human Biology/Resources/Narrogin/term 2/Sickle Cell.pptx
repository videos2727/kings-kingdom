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76" r:id="rId3"/>
    <p:sldId id="277" r:id="rId4"/>
    <p:sldId id="278" r:id="rId5"/>
    <p:sldId id="368" r:id="rId6"/>
    <p:sldId id="369" r:id="rId7"/>
    <p:sldId id="370" r:id="rId8"/>
    <p:sldId id="364" r:id="rId9"/>
    <p:sldId id="365" r:id="rId10"/>
    <p:sldId id="366" r:id="rId11"/>
    <p:sldId id="367" r:id="rId1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5"/>
    <p:restoredTop sz="94635"/>
  </p:normalViewPr>
  <p:slideViewPr>
    <p:cSldViewPr snapToGrid="0" snapToObjects="1">
      <p:cViewPr varScale="1">
        <p:scale>
          <a:sx n="72" d="100"/>
          <a:sy n="72" d="100"/>
        </p:scale>
        <p:origin x="2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0" name="Shape 80"/>
          <p:cNvSpPr>
            <a:spLocks noGrp="1" noRot="1" noChangeAspect="1"/>
          </p:cNvSpPr>
          <p:nvPr>
            <p:ph type="sldImg"/>
          </p:nvPr>
        </p:nvSpPr>
        <p:spPr>
          <a:xfrm>
            <a:off x="1143000" y="685800"/>
            <a:ext cx="4572000" cy="3429000"/>
          </a:xfrm>
          <a:prstGeom prst="rect">
            <a:avLst/>
          </a:prstGeom>
        </p:spPr>
        <p:txBody>
          <a:bodyPr/>
          <a:lstStyle/>
          <a:p>
            <a:endParaRPr/>
          </a:p>
        </p:txBody>
      </p:sp>
      <p:sp>
        <p:nvSpPr>
          <p:cNvPr id="81" name="Shape 8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61414983"/>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www.biozone.com.au" TargetMode="Externa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 name="Shape 16"/>
          <p:cNvSpPr>
            <a:spLocks noGrp="1"/>
          </p:cNvSpPr>
          <p:nvPr>
            <p:ph type="title"/>
          </p:nvPr>
        </p:nvSpPr>
        <p:spPr>
          <a:xfrm>
            <a:off x="365759" y="368300"/>
            <a:ext cx="12192001" cy="906026"/>
          </a:xfrm>
          <a:prstGeom prst="rect">
            <a:avLst/>
          </a:prstGeom>
        </p:spPr>
        <p:txBody>
          <a:bodyPr lIns="0" tIns="0" rIns="0" bIns="0" anchor="b"/>
          <a:lstStyle>
            <a:lvl1pPr defTabSz="457200">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numCol="1" spcCol="38100"/>
          <a:lstStyle>
            <a:lvl1pPr defTabSz="457200">
              <a:spcBef>
                <a:spcPts val="2000"/>
              </a:spcBef>
              <a:tabLst>
                <a:tab pos="1016000" algn="l"/>
              </a:tabLst>
              <a:defRPr b="0"/>
            </a:lvl1pPr>
            <a:lvl2pPr marL="648000" indent="-288000" defTabSz="457200">
              <a:spcBef>
                <a:spcPts val="1500"/>
              </a:spcBef>
              <a:buSzPct val="125000"/>
              <a:tabLst>
                <a:tab pos="1485900" algn="l"/>
              </a:tabLst>
              <a:defRPr sz="2000"/>
            </a:lvl2pPr>
            <a:lvl3pPr marL="936000" indent="-288000" defTabSz="457200">
              <a:spcBef>
                <a:spcPts val="400"/>
              </a:spcBef>
              <a:tabLst>
                <a:tab pos="1638300" algn="l"/>
              </a:tabLst>
              <a:defRPr sz="1800"/>
            </a:lvl3pPr>
            <a:lvl4pPr marL="1223999" indent="-288000" defTabSz="457200">
              <a:spcBef>
                <a:spcPts val="400"/>
              </a:spcBef>
              <a:tabLst>
                <a:tab pos="2235200" algn="l"/>
              </a:tabLst>
              <a:defRPr sz="1800"/>
            </a:lvl4pPr>
            <a:lvl5pPr marL="1512000" indent="-288000" defTabSz="457200">
              <a:spcBef>
                <a:spcPts val="400"/>
              </a:spcBef>
              <a:tabLst>
                <a:tab pos="2616200" algn="l"/>
              </a:tabLst>
              <a:defRPr sz="1800"/>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33" name="Shape 33"/>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4" name="Shape 34"/>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BIOZONE BRANDING">
    <p:bg>
      <p:bgPr>
        <a:solidFill>
          <a:srgbClr val="FFFFFF"/>
        </a:solidFill>
        <a:effectLst/>
      </p:bgPr>
    </p:bg>
    <p:spTree>
      <p:nvGrpSpPr>
        <p:cNvPr id="1" name=""/>
        <p:cNvGrpSpPr/>
        <p:nvPr/>
      </p:nvGrpSpPr>
      <p:grpSpPr>
        <a:xfrm>
          <a:off x="0" y="0"/>
          <a:ext cx="0" cy="0"/>
          <a:chOff x="0" y="0"/>
          <a:chExt cx="0" cy="0"/>
        </a:xfrm>
      </p:grpSpPr>
      <p:sp>
        <p:nvSpPr>
          <p:cNvPr id="41" name="Shape 41"/>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2" name="Shape 42"/>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3" name="BIOZONE_logo_horizontal_on_Black.png"/>
          <p:cNvPicPr>
            <a:picLocks noChangeAspect="1"/>
          </p:cNvPicPr>
          <p:nvPr/>
        </p:nvPicPr>
        <p:blipFill>
          <a:blip r:embed="rId2">
            <a:extLst/>
          </a:blip>
          <a:stretch>
            <a:fillRect/>
          </a:stretch>
        </p:blipFill>
        <p:spPr>
          <a:xfrm>
            <a:off x="1231900" y="8610081"/>
            <a:ext cx="3632200" cy="815393"/>
          </a:xfrm>
          <a:prstGeom prst="rect">
            <a:avLst/>
          </a:prstGeom>
          <a:ln w="12700">
            <a:miter lim="400000"/>
          </a:ln>
        </p:spPr>
      </p:pic>
      <p:sp>
        <p:nvSpPr>
          <p:cNvPr id="44" name="Shape 44"/>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45" name="Shape 45"/>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3"/>
              </a:rPr>
              <a:t>http://www.biozone.com.au</a:t>
            </a:r>
          </a:p>
        </p:txBody>
      </p:sp>
      <p:sp>
        <p:nvSpPr>
          <p:cNvPr id="46" name="Shape 46"/>
          <p:cNvSpPr>
            <a:spLocks noGrp="1"/>
          </p:cNvSpPr>
          <p:nvPr>
            <p:ph type="title"/>
          </p:nvPr>
        </p:nvSpPr>
        <p:spPr>
          <a:xfrm>
            <a:off x="719999" y="359999"/>
            <a:ext cx="11912601" cy="1943101"/>
          </a:xfrm>
          <a:prstGeom prst="rect">
            <a:avLst/>
          </a:prstGeom>
        </p:spPr>
        <p:txBody>
          <a:bodyPr lIns="0" tIns="0" rIns="0" bIns="0"/>
          <a:lstStyle>
            <a:lvl1pPr defTabSz="457200">
              <a:tabLst>
                <a:tab pos="952500" algn="l"/>
              </a:tabLst>
            </a:lvl1pPr>
          </a:lstStyle>
          <a:p>
            <a:r>
              <a:t>Title Text</a:t>
            </a:r>
          </a:p>
        </p:txBody>
      </p:sp>
      <p:sp>
        <p:nvSpPr>
          <p:cNvPr id="47" name="Shape 47"/>
          <p:cNvSpPr>
            <a:spLocks noGrp="1"/>
          </p:cNvSpPr>
          <p:nvPr>
            <p:ph type="body" idx="1"/>
          </p:nvPr>
        </p:nvSpPr>
        <p:spPr>
          <a:xfrm>
            <a:off x="728300" y="1800000"/>
            <a:ext cx="10566401" cy="6273801"/>
          </a:xfrm>
          <a:prstGeom prst="rect">
            <a:avLst/>
          </a:prstGeom>
        </p:spPr>
        <p:txBody>
          <a:bodyPr numCol="1" spcCol="38100"/>
          <a:lstStyle>
            <a:lvl1pPr marL="381000" indent="-381000" defTabSz="457200">
              <a:lnSpc>
                <a:spcPts val="1900"/>
              </a:lnSpc>
              <a:spcBef>
                <a:spcPts val="2000"/>
              </a:spcBef>
              <a:buClr>
                <a:srgbClr val="FFFFFF"/>
              </a:buClr>
              <a:buSzPct val="200000"/>
              <a:tabLst>
                <a:tab pos="1016000" algn="l"/>
              </a:tabLst>
              <a:defRPr sz="1600" b="0">
                <a:solidFill>
                  <a:srgbClr val="FFFFFF"/>
                </a:solidFill>
              </a:defRPr>
            </a:lvl1pPr>
            <a:lvl2pPr marL="633599" indent="-252000" defTabSz="457200">
              <a:lnSpc>
                <a:spcPts val="1400"/>
              </a:lnSpc>
              <a:spcBef>
                <a:spcPts val="600"/>
              </a:spcBef>
              <a:tabLst>
                <a:tab pos="1485900" algn="l"/>
              </a:tabLst>
              <a:defRPr sz="1200">
                <a:solidFill>
                  <a:srgbClr val="FFFFFF"/>
                </a:solidFill>
              </a:defRPr>
            </a:lvl2pPr>
            <a:lvl3pPr marL="900000" indent="-252000" defTabSz="457200">
              <a:lnSpc>
                <a:spcPts val="1400"/>
              </a:lnSpc>
              <a:spcBef>
                <a:spcPts val="600"/>
              </a:spcBef>
              <a:tabLst>
                <a:tab pos="1638300" algn="l"/>
              </a:tabLst>
              <a:defRPr sz="1200">
                <a:solidFill>
                  <a:srgbClr val="FFFFFF"/>
                </a:solidFill>
              </a:defRPr>
            </a:lvl3pPr>
            <a:lvl4pPr marL="1152000" indent="-252000" defTabSz="457200">
              <a:lnSpc>
                <a:spcPts val="1400"/>
              </a:lnSpc>
              <a:spcBef>
                <a:spcPts val="600"/>
              </a:spcBef>
              <a:buFont typeface="Gill Sans"/>
              <a:tabLst>
                <a:tab pos="2235200" algn="l"/>
              </a:tabLst>
              <a:defRPr sz="1200">
                <a:solidFill>
                  <a:srgbClr val="FFFFFF"/>
                </a:solidFill>
              </a:defRPr>
            </a:lvl4pPr>
            <a:lvl5pPr marL="1403999" indent="-252000" defTabSz="457200">
              <a:lnSpc>
                <a:spcPts val="1400"/>
              </a:lnSpc>
              <a:spcBef>
                <a:spcPts val="600"/>
              </a:spcBef>
              <a:buFont typeface="Gill Sans"/>
              <a:tabLst>
                <a:tab pos="2616200" algn="l"/>
              </a:tabLst>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48" name="Shape 48"/>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lour BG">
    <p:spTree>
      <p:nvGrpSpPr>
        <p:cNvPr id="1" name=""/>
        <p:cNvGrpSpPr/>
        <p:nvPr/>
      </p:nvGrpSpPr>
      <p:grpSpPr>
        <a:xfrm>
          <a:off x="0" y="0"/>
          <a:ext cx="0" cy="0"/>
          <a:chOff x="0" y="0"/>
          <a:chExt cx="0" cy="0"/>
        </a:xfrm>
      </p:grpSpPr>
      <p:sp>
        <p:nvSpPr>
          <p:cNvPr id="55" name="Shape 5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56" name="Shape 56"/>
          <p:cNvSpPr>
            <a:spLocks noGrp="1"/>
          </p:cNvSpPr>
          <p:nvPr>
            <p:ph type="sldNum" sz="quarter" idx="2"/>
          </p:nvPr>
        </p:nvSpPr>
        <p:spPr>
          <a:xfrm>
            <a:off x="4967288" y="7245350"/>
            <a:ext cx="212726" cy="228600"/>
          </a:xfrm>
          <a:prstGeom prst="rect">
            <a:avLst/>
          </a:prstGeom>
        </p:spPr>
        <p:txBody>
          <a:bodyPr lIns="38100" tIns="38100" rIns="38100" bIns="38100"/>
          <a:lstStyle>
            <a:lvl1pPr defTabSz="457200">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6"/>
          <a:srcRect/>
          <a:stretch>
            <a:fillRect/>
          </a:stretch>
        </a:blipFill>
        <a:effectLst/>
      </p:bgPr>
    </p:bg>
    <p:spTree>
      <p:nvGrpSpPr>
        <p:cNvPr id="1" name=""/>
        <p:cNvGrpSpPr/>
        <p:nvPr/>
      </p:nvGrpSpPr>
      <p:grpSpPr>
        <a:xfrm>
          <a:off x="0" y="0"/>
          <a:ext cx="0" cy="0"/>
          <a:chOff x="0" y="0"/>
          <a:chExt cx="0" cy="0"/>
        </a:xfrm>
      </p:grpSpPr>
      <p:sp>
        <p:nvSpPr>
          <p:cNvPr id="2" name="Shape 2"/>
          <p:cNvSpPr/>
          <p:nvPr/>
        </p:nvSpPr>
        <p:spPr>
          <a:xfrm>
            <a:off x="0" y="0"/>
            <a:ext cx="13017500" cy="15113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3" name="Shape 3"/>
          <p:cNvSpPr/>
          <p:nvPr/>
        </p:nvSpPr>
        <p:spPr>
          <a:xfrm>
            <a:off x="1041400" y="317500"/>
            <a:ext cx="10680700" cy="12446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marL="0">
              <a:lnSpc>
                <a:spcPct val="90000"/>
              </a:lnSpc>
              <a:tabLst>
                <a:tab pos="952500" algn="l"/>
              </a:tabLst>
              <a:defRPr sz="6400" b="1">
                <a:solidFill>
                  <a:srgbClr val="FFFFFF"/>
                </a:solidFill>
              </a:defRPr>
            </a:lvl1pPr>
          </a:lstStyle>
          <a:p>
            <a:r>
              <a:t>Contents</a:t>
            </a:r>
          </a:p>
        </p:txBody>
      </p:sp>
      <p:sp>
        <p:nvSpPr>
          <p:cNvPr id="4" name="Shape 4"/>
          <p:cNvSpPr/>
          <p:nvPr/>
        </p:nvSpPr>
        <p:spPr>
          <a:xfrm>
            <a:off x="0" y="8978900"/>
            <a:ext cx="13004800" cy="774700"/>
          </a:xfrm>
          <a:prstGeom prst="rect">
            <a:avLst/>
          </a:prstGeom>
          <a:gradFill>
            <a:gsLst>
              <a:gs pos="0">
                <a:srgbClr val="006994">
                  <a:alpha val="50000"/>
                </a:srgbClr>
              </a:gs>
              <a:gs pos="100000">
                <a:srgbClr val="006994"/>
              </a:gs>
            </a:gsLst>
            <a:lin ang="10800000"/>
          </a:gradFill>
          <a:ln w="25400">
            <a:miter lim="400000"/>
          </a:ln>
        </p:spPr>
        <p:txBody>
          <a:bodyPr lIns="0" tIns="0" rIns="0" bIns="0" anchor="ctr"/>
          <a:lstStyle/>
          <a:p>
            <a:pPr marL="0" algn="ctr" defTabSz="584200">
              <a:tabLst/>
              <a:defRPr sz="7000">
                <a:solidFill>
                  <a:srgbClr val="FFFFFF"/>
                </a:solidFill>
                <a:effectLst>
                  <a:outerShdw blurRad="38100" dist="12700" dir="5400000" rotWithShape="0">
                    <a:srgbClr val="000000">
                      <a:alpha val="50000"/>
                    </a:srgbClr>
                  </a:outerShdw>
                </a:effectLst>
                <a:latin typeface="Savoye LET"/>
                <a:ea typeface="Savoye LET"/>
                <a:cs typeface="Savoye LET"/>
                <a:sym typeface="Savoye LET"/>
              </a:defRPr>
            </a:pPr>
            <a:endParaRPr/>
          </a:p>
        </p:txBody>
      </p:sp>
      <p:sp>
        <p:nvSpPr>
          <p:cNvPr id="5" name="Shape 5"/>
          <p:cNvSpPr/>
          <p:nvPr/>
        </p:nvSpPr>
        <p:spPr>
          <a:xfrm>
            <a:off x="1041400" y="9169400"/>
            <a:ext cx="5410200" cy="2837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400"/>
              </a:lnSpc>
              <a:tabLst>
                <a:tab pos="520700" algn="l"/>
              </a:tabLst>
              <a:defRPr sz="2000" b="1">
                <a:solidFill>
                  <a:srgbClr val="FFFFFF"/>
                </a:solidFill>
              </a:defRPr>
            </a:lvl1pPr>
          </a:lstStyle>
          <a:p>
            <a:r>
              <a:t>Click on the hyperlink title you wish to view</a:t>
            </a:r>
          </a:p>
        </p:txBody>
      </p:sp>
      <p:pic>
        <p:nvPicPr>
          <p:cNvPr id="6" name="Cursor.png"/>
          <p:cNvPicPr>
            <a:picLocks noChangeAspect="1"/>
          </p:cNvPicPr>
          <p:nvPr/>
        </p:nvPicPr>
        <p:blipFill>
          <a:blip r:embed="rId7">
            <a:extLst/>
          </a:blip>
          <a:stretch>
            <a:fillRect/>
          </a:stretch>
        </p:blipFill>
        <p:spPr>
          <a:xfrm>
            <a:off x="7404100" y="9218014"/>
            <a:ext cx="241300" cy="342901"/>
          </a:xfrm>
          <a:prstGeom prst="rect">
            <a:avLst/>
          </a:prstGeom>
          <a:ln w="12700">
            <a:miter lim="400000"/>
          </a:ln>
        </p:spPr>
      </p:pic>
      <p:sp>
        <p:nvSpPr>
          <p:cNvPr id="7" name="Shape 7"/>
          <p:cNvSpPr>
            <a:spLocks noGrp="1"/>
          </p:cNvSpPr>
          <p:nvPr>
            <p:ph type="body" idx="1"/>
          </p:nvPr>
        </p:nvSpPr>
        <p:spPr>
          <a:xfrm>
            <a:off x="1752600" y="2019300"/>
            <a:ext cx="10680700" cy="6731000"/>
          </a:xfrm>
          <a:prstGeom prst="rect">
            <a:avLst/>
          </a:prstGeom>
          <a:ln w="12700">
            <a:miter lim="400000"/>
          </a:ln>
          <a:extLst>
            <a:ext uri="{C572A759-6A51-4108-AA02-DFA0A04FC94B}">
              <ma14:wrappingTextBoxFlag xmlns:ma14="http://schemas.microsoft.com/office/mac/drawingml/2011/main" xmlns="" val="1"/>
            </a:ext>
          </a:extLst>
        </p:spPr>
        <p:txBody>
          <a:bodyPr lIns="0" tIns="0" rIns="0" bIns="0" numCol="2" spcCol="534034"/>
          <a:lstStyle>
            <a:lvl2pPr marL="720000" indent="-360000">
              <a:spcBef>
                <a:spcPts val="500"/>
              </a:spcBef>
              <a:buClrTx/>
              <a:buFontTx/>
              <a:buChar char="•"/>
              <a:defRPr sz="2200" b="0"/>
            </a:lvl2pPr>
            <a:lvl3pPr marL="1079999" indent="-360000">
              <a:spcBef>
                <a:spcPts val="500"/>
              </a:spcBef>
              <a:buClrTx/>
              <a:buSzPct val="100000"/>
              <a:buFontTx/>
              <a:buChar char="•"/>
              <a:defRPr sz="2200" b="0"/>
            </a:lvl3pPr>
            <a:lvl4pPr marL="1440000" indent="-360000">
              <a:spcBef>
                <a:spcPts val="500"/>
              </a:spcBef>
              <a:buClrTx/>
              <a:buSzPct val="100000"/>
              <a:buFontTx/>
              <a:buChar char="•"/>
              <a:defRPr sz="2200" b="0"/>
            </a:lvl4pPr>
            <a:lvl5pPr marL="1799999" indent="-360000">
              <a:spcBef>
                <a:spcPts val="500"/>
              </a:spcBef>
              <a:buClrTx/>
              <a:buSzPct val="100000"/>
              <a:buFontTx/>
              <a:buChar char="•"/>
              <a:defRPr sz="2200" b="0"/>
            </a:lvl5pPr>
          </a:lstStyle>
          <a:p>
            <a:r>
              <a:t>Body Level One</a:t>
            </a:r>
          </a:p>
          <a:p>
            <a:pPr lvl="1"/>
            <a:r>
              <a:t>Body Level Two</a:t>
            </a:r>
          </a:p>
          <a:p>
            <a:pPr lvl="2"/>
            <a:r>
              <a:t>Body Level Three</a:t>
            </a:r>
          </a:p>
          <a:p>
            <a:pPr lvl="3"/>
            <a:r>
              <a:t>Body Level Four</a:t>
            </a:r>
          </a:p>
          <a:p>
            <a:pPr lvl="4"/>
            <a:r>
              <a:t>Body Level Five</a:t>
            </a:r>
          </a:p>
        </p:txBody>
      </p:sp>
      <p:sp>
        <p:nvSpPr>
          <p:cNvPr id="8" name="Shape 8"/>
          <p:cNvSpPr>
            <a:spLocks noGrp="1"/>
          </p:cNvSpPr>
          <p:nvPr>
            <p:ph type="title"/>
          </p:nvPr>
        </p:nvSpPr>
        <p:spPr>
          <a:xfrm>
            <a:off x="889000" y="1790700"/>
            <a:ext cx="10464800" cy="11811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lstStyle/>
          <a:p>
            <a:r>
              <a:t>Title Text</a:t>
            </a:r>
          </a:p>
        </p:txBody>
      </p:sp>
      <p:sp>
        <p:nvSpPr>
          <p:cNvPr id="9" name="Shape 9"/>
          <p:cNvSpPr>
            <a:spLocks noGrp="1"/>
          </p:cNvSpPr>
          <p:nvPr>
            <p:ph type="sldNum" sz="quarter" idx="2"/>
          </p:nvPr>
        </p:nvSpPr>
        <p:spPr>
          <a:xfrm>
            <a:off x="6324600" y="9258300"/>
            <a:ext cx="342900" cy="368300"/>
          </a:xfrm>
          <a:prstGeom prst="rect">
            <a:avLst/>
          </a:prstGeom>
          <a:ln w="12700">
            <a:miter lim="400000"/>
          </a:ln>
        </p:spPr>
        <p:txBody>
          <a:bodyPr wrap="none" lIns="50800" tIns="50800" rIns="50800" bIns="50800">
            <a:spAutoFit/>
          </a:bodyPr>
          <a:lstStyle>
            <a:lvl1pPr marL="0" algn="ctr" defTabSz="584200">
              <a:tabLst/>
              <a:defRPr>
                <a:solidFill>
                  <a:srgbClr val="000000"/>
                </a:solidFill>
                <a:latin typeface="Gill Sans"/>
                <a:ea typeface="Gill Sans"/>
                <a:cs typeface="Gill Sans"/>
                <a:sym typeface="Gill Sans"/>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transition spd="med"/>
  <p:txStyles>
    <p:titleStyle>
      <a:lvl1pPr marL="0" marR="0" indent="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1pPr>
      <a:lvl2pPr marL="0" marR="0" indent="228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2pPr>
      <a:lvl3pPr marL="0" marR="0" indent="457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3pPr>
      <a:lvl4pPr marL="0" marR="0" indent="685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4pPr>
      <a:lvl5pPr marL="0" marR="0" indent="9144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5pPr>
      <a:lvl6pPr marL="0" marR="0" indent="11430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6pPr>
      <a:lvl7pPr marL="0" marR="0" indent="13716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7pPr>
      <a:lvl8pPr marL="0" marR="0" indent="16002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8pPr>
      <a:lvl9pPr marL="0" marR="0" indent="1828800" algn="l" defTabSz="584200" latinLnBrk="0">
        <a:lnSpc>
          <a:spcPct val="90000"/>
        </a:lnSpc>
        <a:spcBef>
          <a:spcPts val="0"/>
        </a:spcBef>
        <a:spcAft>
          <a:spcPts val="0"/>
        </a:spcAft>
        <a:buClrTx/>
        <a:buSzTx/>
        <a:buFontTx/>
        <a:buNone/>
        <a:tabLst/>
        <a:defRPr sz="6400" b="1" i="0" u="none" strike="noStrike" cap="none" spc="0" baseline="0">
          <a:ln>
            <a:noFill/>
          </a:ln>
          <a:solidFill>
            <a:srgbClr val="FFFFFF"/>
          </a:solidFill>
          <a:uFillTx/>
          <a:latin typeface="+mn-lt"/>
          <a:ea typeface="+mn-ea"/>
          <a:cs typeface="+mn-cs"/>
          <a:sym typeface="Arial"/>
        </a:defRPr>
      </a:lvl9pPr>
    </p:titleStyle>
    <p:bodyStyle>
      <a:lvl1pPr marL="360000" marR="0" indent="-360000"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1pPr>
      <a:lvl2pPr marL="75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2pPr>
      <a:lvl3pPr marL="11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3pPr>
      <a:lvl4pPr marL="14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4pPr>
      <a:lvl5pPr marL="183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5pPr>
      <a:lvl6pPr marL="219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6pPr>
      <a:lvl7pPr marL="2552726"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7pPr>
      <a:lvl8pPr marL="291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8pPr>
      <a:lvl9pPr marL="3272727" marR="0" indent="-392727" algn="l" defTabSz="584200" latinLnBrk="0">
        <a:lnSpc>
          <a:spcPct val="100000"/>
        </a:lnSpc>
        <a:spcBef>
          <a:spcPts val="2500"/>
        </a:spcBef>
        <a:spcAft>
          <a:spcPts val="0"/>
        </a:spcAft>
        <a:buClr>
          <a:srgbClr val="006994"/>
        </a:buClr>
        <a:buSzPct val="150000"/>
        <a:buFont typeface="Lucida Grande"/>
        <a:buChar char="‣"/>
        <a:tabLst/>
        <a:defRPr sz="2400" b="1" i="0" u="none" strike="noStrike" cap="none" spc="0" baseline="0">
          <a:ln>
            <a:noFill/>
          </a:ln>
          <a:solidFill>
            <a:srgbClr val="000000"/>
          </a:solidFill>
          <a:uFillTx/>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hape 326"/>
          <p:cNvSpPr/>
          <p:nvPr/>
        </p:nvSpPr>
        <p:spPr>
          <a:xfrm>
            <a:off x="6451600" y="1651000"/>
            <a:ext cx="6553200" cy="81280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327" name="Sickle Cell Disease chromos.pdf"/>
          <p:cNvPicPr>
            <a:picLocks noChangeAspect="1"/>
          </p:cNvPicPr>
          <p:nvPr/>
        </p:nvPicPr>
        <p:blipFill>
          <a:blip r:embed="rId2">
            <a:extLst/>
          </a:blip>
          <a:stretch>
            <a:fillRect/>
          </a:stretch>
        </p:blipFill>
        <p:spPr>
          <a:xfrm>
            <a:off x="6869411" y="2768600"/>
            <a:ext cx="5500389" cy="787400"/>
          </a:xfrm>
          <a:prstGeom prst="rect">
            <a:avLst/>
          </a:prstGeom>
          <a:ln w="12700">
            <a:miter lim="400000"/>
          </a:ln>
        </p:spPr>
      </p:pic>
      <p:pic>
        <p:nvPicPr>
          <p:cNvPr id="328" name="SickleCell.jpg"/>
          <p:cNvPicPr>
            <a:picLocks noChangeAspect="1"/>
          </p:cNvPicPr>
          <p:nvPr/>
        </p:nvPicPr>
        <p:blipFill>
          <a:blip r:embed="rId3">
            <a:extLst/>
          </a:blip>
          <a:stretch>
            <a:fillRect/>
          </a:stretch>
        </p:blipFill>
        <p:spPr>
          <a:xfrm>
            <a:off x="8991600" y="4165600"/>
            <a:ext cx="4025900" cy="5245100"/>
          </a:xfrm>
          <a:prstGeom prst="rect">
            <a:avLst/>
          </a:prstGeom>
          <a:ln w="25400">
            <a:solidFill>
              <a:srgbClr val="FFFFFF"/>
            </a:solidFill>
            <a:miter lim="400000"/>
          </a:ln>
        </p:spPr>
      </p:pic>
      <p:sp>
        <p:nvSpPr>
          <p:cNvPr id="329" name="Shape 329"/>
          <p:cNvSpPr>
            <a:spLocks noGrp="1"/>
          </p:cNvSpPr>
          <p:nvPr>
            <p:ph type="title"/>
          </p:nvPr>
        </p:nvSpPr>
        <p:spPr>
          <a:prstGeom prst="rect">
            <a:avLst/>
          </a:prstGeom>
        </p:spPr>
        <p:txBody>
          <a:bodyPr/>
          <a:lstStyle>
            <a:lvl1pPr>
              <a:tabLst>
                <a:tab pos="952500" algn="l"/>
              </a:tabLst>
            </a:lvl1pPr>
          </a:lstStyle>
          <a:p>
            <a:r>
              <a:t>Sickle Cell Anemia</a:t>
            </a:r>
          </a:p>
        </p:txBody>
      </p:sp>
      <p:sp>
        <p:nvSpPr>
          <p:cNvPr id="330" name="Shape 330"/>
          <p:cNvSpPr>
            <a:spLocks noGrp="1"/>
          </p:cNvSpPr>
          <p:nvPr>
            <p:ph type="body" sz="quarter" idx="1"/>
          </p:nvPr>
        </p:nvSpPr>
        <p:spPr>
          <a:xfrm>
            <a:off x="368300" y="1790700"/>
            <a:ext cx="5067697" cy="4755158"/>
          </a:xfrm>
          <a:prstGeom prst="rect">
            <a:avLst/>
          </a:prstGeom>
        </p:spPr>
        <p:txBody>
          <a:bodyPr/>
          <a:lstStyle/>
          <a:p>
            <a:pPr marL="345600" indent="-345600">
              <a:tabLst>
                <a:tab pos="1016000" algn="l"/>
              </a:tabLst>
            </a:pPr>
            <a:r>
              <a:t>Synonym: Sickle cell disease</a:t>
            </a:r>
          </a:p>
          <a:p>
            <a:pPr marL="345600" indent="-345600">
              <a:tabLst>
                <a:tab pos="1016000" algn="l"/>
              </a:tabLst>
            </a:pPr>
            <a:r>
              <a:t>Incidence: Most common in people of African ancestry.</a:t>
            </a:r>
          </a:p>
          <a:p>
            <a:pPr marL="680000" lvl="1" indent="-320000">
              <a:tabLst>
                <a:tab pos="1485900" algn="l"/>
              </a:tabLst>
            </a:pPr>
            <a:r>
              <a:t>West Africans: 1%</a:t>
            </a:r>
            <a:br/>
            <a:r>
              <a:t>(10-45% are carriers)</a:t>
            </a:r>
          </a:p>
          <a:p>
            <a:pPr marL="680000" lvl="1" indent="-320000">
              <a:tabLst>
                <a:tab pos="1485900" algn="l"/>
              </a:tabLst>
            </a:pPr>
            <a:r>
              <a:t>West Indians: 0.5%</a:t>
            </a:r>
          </a:p>
          <a:p>
            <a:pPr marL="680000" lvl="1" indent="-320000">
              <a:tabLst>
                <a:tab pos="1485900" algn="l"/>
              </a:tabLst>
            </a:pPr>
            <a:r>
              <a:t>Gene type:  Autosomal mutation (HBB) on chromosome 11 which results in the substitution of a single nucleotide in the HBB gene coding for the beta chain of haemoglobin. </a:t>
            </a:r>
          </a:p>
          <a:p>
            <a:pPr marL="680000" lvl="1" indent="-320000">
              <a:tabLst>
                <a:tab pos="1485900" algn="l"/>
              </a:tabLst>
            </a:pPr>
            <a:r>
              <a:t>The allele is codominant.</a:t>
            </a:r>
          </a:p>
        </p:txBody>
      </p:sp>
      <p:sp>
        <p:nvSpPr>
          <p:cNvPr id="331" name="Shape 331"/>
          <p:cNvSpPr/>
          <p:nvPr/>
        </p:nvSpPr>
        <p:spPr>
          <a:xfrm>
            <a:off x="7983154" y="1866900"/>
            <a:ext cx="3501976"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a:solidFill>
                  <a:srgbClr val="126A93"/>
                </a:solidFill>
              </a:defRPr>
            </a:pPr>
            <a:r>
              <a:rPr b="1"/>
              <a:t>Gene location</a:t>
            </a:r>
            <a:r>
              <a:t>:  Chromosome 11</a:t>
            </a:r>
          </a:p>
        </p:txBody>
      </p:sp>
      <p:sp>
        <p:nvSpPr>
          <p:cNvPr id="332" name="Shape 332"/>
          <p:cNvSpPr/>
          <p:nvPr/>
        </p:nvSpPr>
        <p:spPr>
          <a:xfrm>
            <a:off x="6903998" y="1955800"/>
            <a:ext cx="62226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126A93"/>
                </a:solidFill>
              </a:defRPr>
            </a:lvl1pPr>
          </a:lstStyle>
          <a:p>
            <a:r>
              <a:t>HBB</a:t>
            </a:r>
          </a:p>
        </p:txBody>
      </p:sp>
      <p:sp>
        <p:nvSpPr>
          <p:cNvPr id="333" name="Shape 333"/>
          <p:cNvSpPr/>
          <p:nvPr/>
        </p:nvSpPr>
        <p:spPr>
          <a:xfrm>
            <a:off x="8054943" y="2552700"/>
            <a:ext cx="2541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i="1">
                <a:solidFill>
                  <a:srgbClr val="126A93"/>
                </a:solidFill>
              </a:defRPr>
            </a:lvl1pPr>
          </a:lstStyle>
          <a:p>
            <a:r>
              <a:t>p</a:t>
            </a:r>
          </a:p>
        </p:txBody>
      </p:sp>
      <p:sp>
        <p:nvSpPr>
          <p:cNvPr id="334" name="Shape 334"/>
          <p:cNvSpPr/>
          <p:nvPr/>
        </p:nvSpPr>
        <p:spPr>
          <a:xfrm>
            <a:off x="10747343" y="2552700"/>
            <a:ext cx="2541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i="1">
                <a:solidFill>
                  <a:srgbClr val="126A93"/>
                </a:solidFill>
              </a:defRPr>
            </a:lvl1pPr>
          </a:lstStyle>
          <a:p>
            <a:r>
              <a:t>q</a:t>
            </a:r>
          </a:p>
        </p:txBody>
      </p:sp>
      <p:sp>
        <p:nvSpPr>
          <p:cNvPr id="335" name="Shape 335"/>
          <p:cNvSpPr/>
          <p:nvPr/>
        </p:nvSpPr>
        <p:spPr>
          <a:xfrm flipV="1">
            <a:off x="7251699" y="2260600"/>
            <a:ext cx="1" cy="571751"/>
          </a:xfrm>
          <a:prstGeom prst="line">
            <a:avLst/>
          </a:prstGeom>
          <a:ln w="508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36" name="Shape 336"/>
          <p:cNvSpPr/>
          <p:nvPr/>
        </p:nvSpPr>
        <p:spPr>
          <a:xfrm>
            <a:off x="6807200" y="4673600"/>
            <a:ext cx="1562100"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a:solidFill>
                  <a:srgbClr val="126A93"/>
                </a:solidFill>
              </a:defRPr>
            </a:lvl1pPr>
          </a:lstStyle>
          <a:p>
            <a:r>
              <a:t>Normal red blood cells</a:t>
            </a:r>
          </a:p>
        </p:txBody>
      </p:sp>
      <p:sp>
        <p:nvSpPr>
          <p:cNvPr id="337" name="Shape 337"/>
          <p:cNvSpPr/>
          <p:nvPr/>
        </p:nvSpPr>
        <p:spPr>
          <a:xfrm>
            <a:off x="6985000" y="8775700"/>
            <a:ext cx="1155924"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2100"/>
              </a:lnSpc>
              <a:tabLst>
                <a:tab pos="520700" algn="l"/>
              </a:tabLst>
              <a:defRPr>
                <a:solidFill>
                  <a:srgbClr val="126A93"/>
                </a:solidFill>
              </a:defRPr>
            </a:lvl1pPr>
          </a:lstStyle>
          <a:p>
            <a:r>
              <a:t>Sickle-cell</a:t>
            </a:r>
          </a:p>
        </p:txBody>
      </p:sp>
      <p:sp>
        <p:nvSpPr>
          <p:cNvPr id="338" name="Shape 338"/>
          <p:cNvSpPr/>
          <p:nvPr/>
        </p:nvSpPr>
        <p:spPr>
          <a:xfrm flipH="1">
            <a:off x="8216751" y="8466666"/>
            <a:ext cx="1820482" cy="438615"/>
          </a:xfrm>
          <a:prstGeom prst="line">
            <a:avLst/>
          </a:prstGeom>
          <a:ln w="254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39" name="Shape 339"/>
          <p:cNvSpPr/>
          <p:nvPr/>
        </p:nvSpPr>
        <p:spPr>
          <a:xfrm>
            <a:off x="12357100" y="9271000"/>
            <a:ext cx="649325" cy="1270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nSpc>
                <a:spcPts val="600"/>
              </a:lnSpc>
              <a:tabLst>
                <a:tab pos="520700" algn="l"/>
              </a:tabLst>
              <a:defRPr sz="500">
                <a:solidFill>
                  <a:srgbClr val="000000"/>
                </a:solidFill>
              </a:defRPr>
            </a:lvl1pPr>
          </a:lstStyle>
          <a:p>
            <a:r>
              <a:t>Photo Defiers.com</a:t>
            </a:r>
          </a:p>
        </p:txBody>
      </p:sp>
      <p:grpSp>
        <p:nvGrpSpPr>
          <p:cNvPr id="342" name="Group 342"/>
          <p:cNvGrpSpPr/>
          <p:nvPr/>
        </p:nvGrpSpPr>
        <p:grpSpPr>
          <a:xfrm>
            <a:off x="8345091" y="4719290"/>
            <a:ext cx="3073401" cy="1143001"/>
            <a:chOff x="0" y="0"/>
            <a:chExt cx="3073400" cy="1143000"/>
          </a:xfrm>
        </p:grpSpPr>
        <p:sp>
          <p:nvSpPr>
            <p:cNvPr id="340" name="Shape 340"/>
            <p:cNvSpPr/>
            <p:nvPr/>
          </p:nvSpPr>
          <p:spPr>
            <a:xfrm flipH="1">
              <a:off x="12502" y="0"/>
              <a:ext cx="1222262" cy="225243"/>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41" name="Shape 341"/>
            <p:cNvSpPr/>
            <p:nvPr/>
          </p:nvSpPr>
          <p:spPr>
            <a:xfrm flipH="1" flipV="1">
              <a:off x="0" y="215205"/>
              <a:ext cx="3073401" cy="927795"/>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3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3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3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1" build="p" bldLvl="5"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Shape 344"/>
          <p:cNvSpPr/>
          <p:nvPr/>
        </p:nvSpPr>
        <p:spPr>
          <a:xfrm>
            <a:off x="7239099" y="1651000"/>
            <a:ext cx="5765701" cy="547251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45" name="Shape 345"/>
          <p:cNvSpPr>
            <a:spLocks noGrp="1"/>
          </p:cNvSpPr>
          <p:nvPr>
            <p:ph type="title"/>
          </p:nvPr>
        </p:nvSpPr>
        <p:spPr>
          <a:prstGeom prst="rect">
            <a:avLst/>
          </a:prstGeom>
        </p:spPr>
        <p:txBody>
          <a:bodyPr/>
          <a:lstStyle>
            <a:lvl1pPr>
              <a:tabLst>
                <a:tab pos="952500" algn="l"/>
              </a:tabLst>
            </a:lvl1pPr>
          </a:lstStyle>
          <a:p>
            <a:r>
              <a:t>Sickle Cell Disease</a:t>
            </a:r>
          </a:p>
        </p:txBody>
      </p:sp>
      <p:sp>
        <p:nvSpPr>
          <p:cNvPr id="346" name="Shape 346"/>
          <p:cNvSpPr>
            <a:spLocks noGrp="1"/>
          </p:cNvSpPr>
          <p:nvPr>
            <p:ph type="body" sz="quarter" idx="1"/>
          </p:nvPr>
        </p:nvSpPr>
        <p:spPr>
          <a:xfrm>
            <a:off x="368300" y="1790700"/>
            <a:ext cx="5956300" cy="3767733"/>
          </a:xfrm>
          <a:prstGeom prst="rect">
            <a:avLst/>
          </a:prstGeom>
        </p:spPr>
        <p:txBody>
          <a:bodyPr/>
          <a:lstStyle/>
          <a:p>
            <a:pPr>
              <a:tabLst>
                <a:tab pos="1016000" algn="l"/>
              </a:tabLst>
            </a:pPr>
            <a:r>
              <a:t>Treatment and outlook:</a:t>
            </a:r>
          </a:p>
          <a:p>
            <a:pPr lvl="1">
              <a:tabLst>
                <a:tab pos="1485900" algn="l"/>
              </a:tabLst>
            </a:pPr>
            <a:r>
              <a:t>Patients are given folic acid.</a:t>
            </a:r>
          </a:p>
          <a:p>
            <a:pPr lvl="1">
              <a:tabLst>
                <a:tab pos="1485900" algn="l"/>
              </a:tabLst>
            </a:pPr>
            <a:r>
              <a:t>Acute episodes may require:</a:t>
            </a:r>
          </a:p>
          <a:p>
            <a:pPr lvl="2">
              <a:tabLst>
                <a:tab pos="1638300" algn="l"/>
              </a:tabLst>
            </a:pPr>
            <a:r>
              <a:t>oxygen therapy</a:t>
            </a:r>
          </a:p>
          <a:p>
            <a:pPr lvl="2">
              <a:tabLst>
                <a:tab pos="1638300" algn="l"/>
              </a:tabLst>
            </a:pPr>
            <a:r>
              <a:t>intravenous infusions of fluid</a:t>
            </a:r>
          </a:p>
          <a:p>
            <a:pPr lvl="2">
              <a:tabLst>
                <a:tab pos="1638300" algn="l"/>
              </a:tabLst>
            </a:pPr>
            <a:r>
              <a:t>antibiotics to treat infection</a:t>
            </a:r>
          </a:p>
          <a:p>
            <a:pPr lvl="1">
              <a:tabLst>
                <a:tab pos="1485900" algn="l"/>
              </a:tabLst>
            </a:pPr>
            <a:r>
              <a:t>Experimental therapies include bone marrow transplants and gene therapy.  </a:t>
            </a:r>
          </a:p>
        </p:txBody>
      </p:sp>
      <p:grpSp>
        <p:nvGrpSpPr>
          <p:cNvPr id="351" name="Group 351"/>
          <p:cNvGrpSpPr/>
          <p:nvPr/>
        </p:nvGrpSpPr>
        <p:grpSpPr>
          <a:xfrm>
            <a:off x="7251700" y="1663700"/>
            <a:ext cx="5740400" cy="5224922"/>
            <a:chOff x="0" y="0"/>
            <a:chExt cx="5740400" cy="5224921"/>
          </a:xfrm>
        </p:grpSpPr>
        <p:pic>
          <p:nvPicPr>
            <p:cNvPr id="347" name="Sickle cell lesion CCD.jpg"/>
            <p:cNvPicPr>
              <a:picLocks noChangeAspect="1"/>
            </p:cNvPicPr>
            <p:nvPr/>
          </p:nvPicPr>
          <p:blipFill>
            <a:blip r:embed="rId2">
              <a:extLst/>
            </a:blip>
            <a:stretch>
              <a:fillRect/>
            </a:stretch>
          </p:blipFill>
          <p:spPr>
            <a:xfrm>
              <a:off x="0" y="0"/>
              <a:ext cx="5740400" cy="4708036"/>
            </a:xfrm>
            <a:prstGeom prst="rect">
              <a:avLst/>
            </a:prstGeom>
            <a:ln w="25400" cap="flat">
              <a:solidFill>
                <a:srgbClr val="FFFFFF"/>
              </a:solidFill>
              <a:prstDash val="solid"/>
              <a:miter lim="400000"/>
            </a:ln>
            <a:effectLst/>
          </p:spPr>
        </p:pic>
        <p:sp>
          <p:nvSpPr>
            <p:cNvPr id="348" name="Shape 348"/>
            <p:cNvSpPr/>
            <p:nvPr/>
          </p:nvSpPr>
          <p:spPr>
            <a:xfrm>
              <a:off x="2311400" y="4965700"/>
              <a:ext cx="1867620"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Sickle cell lesion </a:t>
              </a:r>
            </a:p>
          </p:txBody>
        </p:sp>
        <p:sp>
          <p:nvSpPr>
            <p:cNvPr id="349" name="Shape 349"/>
            <p:cNvSpPr/>
            <p:nvPr/>
          </p:nvSpPr>
          <p:spPr>
            <a:xfrm>
              <a:off x="3632200" y="2476500"/>
              <a:ext cx="491067" cy="503767"/>
            </a:xfrm>
            <a:prstGeom prst="line">
              <a:avLst/>
            </a:prstGeom>
            <a:noFill/>
            <a:ln w="101600" cap="flat">
              <a:solidFill>
                <a:srgbClr val="006994"/>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50" name="Shape 350"/>
            <p:cNvSpPr/>
            <p:nvPr/>
          </p:nvSpPr>
          <p:spPr>
            <a:xfrm rot="16200000">
              <a:off x="5128722" y="4269277"/>
              <a:ext cx="853902" cy="135546"/>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1200"/>
                </a:lnSpc>
                <a:tabLst>
                  <a:tab pos="520700" algn="l"/>
                </a:tabLst>
                <a:defRPr sz="1000">
                  <a:solidFill>
                    <a:srgbClr val="000000"/>
                  </a:solidFill>
                </a:defRPr>
              </a:lvl1pPr>
            </a:lstStyle>
            <a:p>
              <a:pPr>
                <a:defRPr sz="2800">
                  <a:latin typeface="Hoefler Text"/>
                  <a:ea typeface="Hoefler Text"/>
                  <a:cs typeface="Hoefler Text"/>
                  <a:sym typeface="Hoefler Text"/>
                </a:defRPr>
              </a:pPr>
              <a:r>
                <a:rPr sz="1000">
                  <a:latin typeface="+mn-lt"/>
                  <a:ea typeface="+mn-ea"/>
                  <a:cs typeface="+mn-cs"/>
                  <a:sym typeface="Arial"/>
                </a:rPr>
                <a:t>(Photo CDC)</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4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4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4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34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34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34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iterate>
                                    <p:tmAbs val="0"/>
                                  </p:iterate>
                                  <p:childTnLst>
                                    <p:set>
                                      <p:cBhvr>
                                        <p:cTn id="32" fill="hold"/>
                                        <p:tgtEl>
                                          <p:spTgt spid="34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 grpId="1" build="p" bldLvl="5"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 name="Sickle Cell DNA.pdf"/>
          <p:cNvPicPr>
            <a:picLocks noChangeAspect="1"/>
          </p:cNvPicPr>
          <p:nvPr/>
        </p:nvPicPr>
        <p:blipFill>
          <a:blip r:embed="rId2">
            <a:extLst/>
          </a:blip>
          <a:stretch>
            <a:fillRect/>
          </a:stretch>
        </p:blipFill>
        <p:spPr>
          <a:xfrm>
            <a:off x="1506634" y="8032062"/>
            <a:ext cx="7035801" cy="718239"/>
          </a:xfrm>
          <a:prstGeom prst="rect">
            <a:avLst/>
          </a:prstGeom>
          <a:ln w="12700">
            <a:miter lim="400000"/>
          </a:ln>
        </p:spPr>
      </p:pic>
      <p:pic>
        <p:nvPicPr>
          <p:cNvPr id="354" name="Sickle Cell b chin.pdf"/>
          <p:cNvPicPr>
            <a:picLocks noChangeAspect="1"/>
          </p:cNvPicPr>
          <p:nvPr/>
        </p:nvPicPr>
        <p:blipFill>
          <a:blip r:embed="rId3">
            <a:extLst/>
          </a:blip>
          <a:stretch>
            <a:fillRect/>
          </a:stretch>
        </p:blipFill>
        <p:spPr>
          <a:xfrm>
            <a:off x="5543061" y="6011905"/>
            <a:ext cx="1518139" cy="1333501"/>
          </a:xfrm>
          <a:prstGeom prst="rect">
            <a:avLst/>
          </a:prstGeom>
          <a:ln w="12700">
            <a:miter lim="400000"/>
          </a:ln>
        </p:spPr>
      </p:pic>
      <p:pic>
        <p:nvPicPr>
          <p:cNvPr id="355" name="Sickle Cell haemoglobin.pdf"/>
          <p:cNvPicPr>
            <a:picLocks noChangeAspect="1"/>
          </p:cNvPicPr>
          <p:nvPr/>
        </p:nvPicPr>
        <p:blipFill>
          <a:blip r:embed="rId4">
            <a:extLst/>
          </a:blip>
          <a:stretch>
            <a:fillRect/>
          </a:stretch>
        </p:blipFill>
        <p:spPr>
          <a:xfrm>
            <a:off x="5194300" y="3543300"/>
            <a:ext cx="2277313" cy="1905000"/>
          </a:xfrm>
          <a:prstGeom prst="rect">
            <a:avLst/>
          </a:prstGeom>
          <a:ln w="12700">
            <a:miter lim="400000"/>
          </a:ln>
        </p:spPr>
      </p:pic>
      <p:grpSp>
        <p:nvGrpSpPr>
          <p:cNvPr id="358" name="Group 358"/>
          <p:cNvGrpSpPr/>
          <p:nvPr/>
        </p:nvGrpSpPr>
        <p:grpSpPr>
          <a:xfrm>
            <a:off x="9067800" y="2959100"/>
            <a:ext cx="3162300" cy="2616200"/>
            <a:chOff x="0" y="0"/>
            <a:chExt cx="3162300" cy="2616200"/>
          </a:xfrm>
        </p:grpSpPr>
        <p:sp>
          <p:nvSpPr>
            <p:cNvPr id="356" name="Shape 356"/>
            <p:cNvSpPr/>
            <p:nvPr/>
          </p:nvSpPr>
          <p:spPr>
            <a:xfrm>
              <a:off x="0" y="0"/>
              <a:ext cx="3162300" cy="2616200"/>
            </a:xfrm>
            <a:prstGeom prst="rect">
              <a:avLst/>
            </a:prstGeom>
            <a:solidFill>
              <a:srgbClr val="FFFFFF">
                <a:alpha val="72000"/>
              </a:srgbClr>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57" name="Shape 357"/>
            <p:cNvSpPr/>
            <p:nvPr/>
          </p:nvSpPr>
          <p:spPr>
            <a:xfrm>
              <a:off x="140830" y="203200"/>
              <a:ext cx="28956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t>Sickle cells</a:t>
              </a:r>
            </a:p>
            <a:p>
              <a:pPr>
                <a:lnSpc>
                  <a:spcPts val="2100"/>
                </a:lnSpc>
                <a:tabLst>
                  <a:tab pos="520700" algn="l"/>
                </a:tabLst>
              </a:pPr>
              <a:r>
                <a:t>containing mutant haemoglobin (less soluble)</a:t>
              </a:r>
            </a:p>
          </p:txBody>
        </p:sp>
      </p:grpSp>
      <p:grpSp>
        <p:nvGrpSpPr>
          <p:cNvPr id="361" name="Group 361"/>
          <p:cNvGrpSpPr/>
          <p:nvPr/>
        </p:nvGrpSpPr>
        <p:grpSpPr>
          <a:xfrm>
            <a:off x="749300" y="2959100"/>
            <a:ext cx="3162300" cy="2616200"/>
            <a:chOff x="0" y="0"/>
            <a:chExt cx="3162300" cy="2616200"/>
          </a:xfrm>
        </p:grpSpPr>
        <p:sp>
          <p:nvSpPr>
            <p:cNvPr id="359" name="Shape 359"/>
            <p:cNvSpPr/>
            <p:nvPr/>
          </p:nvSpPr>
          <p:spPr>
            <a:xfrm>
              <a:off x="0" y="0"/>
              <a:ext cx="3162300" cy="2616200"/>
            </a:xfrm>
            <a:prstGeom prst="rect">
              <a:avLst/>
            </a:prstGeom>
            <a:solidFill>
              <a:srgbClr val="FFFFFF">
                <a:alpha val="72000"/>
              </a:srgbClr>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60" name="Shape 360"/>
            <p:cNvSpPr/>
            <p:nvPr/>
          </p:nvSpPr>
          <p:spPr>
            <a:xfrm>
              <a:off x="215547" y="203200"/>
              <a:ext cx="2743201" cy="7926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100"/>
                </a:lnSpc>
                <a:tabLst>
                  <a:tab pos="520700" algn="l"/>
                </a:tabLst>
              </a:pPr>
              <a:r>
                <a:t>Normal red blood cells</a:t>
              </a:r>
            </a:p>
            <a:p>
              <a:pPr>
                <a:lnSpc>
                  <a:spcPts val="2100"/>
                </a:lnSpc>
                <a:tabLst>
                  <a:tab pos="520700" algn="l"/>
                </a:tabLst>
              </a:pPr>
              <a:r>
                <a:t>containing normal haemoglobin (soluble)</a:t>
              </a:r>
            </a:p>
          </p:txBody>
        </p:sp>
      </p:grpSp>
      <p:sp>
        <p:nvSpPr>
          <p:cNvPr id="362" name="Shape 362"/>
          <p:cNvSpPr>
            <a:spLocks noGrp="1"/>
          </p:cNvSpPr>
          <p:nvPr>
            <p:ph type="title"/>
          </p:nvPr>
        </p:nvSpPr>
        <p:spPr>
          <a:prstGeom prst="rect">
            <a:avLst/>
          </a:prstGeom>
        </p:spPr>
        <p:txBody>
          <a:bodyPr/>
          <a:lstStyle>
            <a:lvl1pPr>
              <a:tabLst>
                <a:tab pos="952500" algn="l"/>
              </a:tabLst>
            </a:lvl1pPr>
          </a:lstStyle>
          <a:p>
            <a:r>
              <a:t>Sickle Cell Mutation</a:t>
            </a:r>
          </a:p>
        </p:txBody>
      </p:sp>
      <p:sp>
        <p:nvSpPr>
          <p:cNvPr id="363" name="Shape 363"/>
          <p:cNvSpPr>
            <a:spLocks noGrp="1"/>
          </p:cNvSpPr>
          <p:nvPr>
            <p:ph type="body" sz="quarter" idx="1"/>
          </p:nvPr>
        </p:nvSpPr>
        <p:spPr>
          <a:xfrm>
            <a:off x="368300" y="1790700"/>
            <a:ext cx="11777266" cy="482799"/>
          </a:xfrm>
          <a:prstGeom prst="rect">
            <a:avLst/>
          </a:prstGeom>
        </p:spPr>
        <p:txBody>
          <a:bodyPr/>
          <a:lstStyle/>
          <a:p>
            <a:pPr marL="345600" indent="-345600">
              <a:tabLst>
                <a:tab pos="1016000" algn="l"/>
              </a:tabLst>
            </a:pPr>
            <a:r>
              <a:t>The mutation responsible for causing sickle cell disease is a </a:t>
            </a:r>
            <a:r>
              <a:rPr b="1">
                <a:solidFill>
                  <a:srgbClr val="006994"/>
                </a:solidFill>
              </a:rPr>
              <a:t>point substitution</a:t>
            </a:r>
            <a:r>
              <a:t>.</a:t>
            </a:r>
          </a:p>
        </p:txBody>
      </p:sp>
      <p:sp>
        <p:nvSpPr>
          <p:cNvPr id="364" name="Shape 364"/>
          <p:cNvSpPr/>
          <p:nvPr/>
        </p:nvSpPr>
        <p:spPr>
          <a:xfrm>
            <a:off x="4836769" y="2679700"/>
            <a:ext cx="33655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pPr>
            <a:r>
              <a:t>Hemoglobin molecules</a:t>
            </a:r>
          </a:p>
          <a:p>
            <a:pPr>
              <a:lnSpc>
                <a:spcPts val="2100"/>
              </a:lnSpc>
              <a:tabLst>
                <a:tab pos="520700" algn="l"/>
              </a:tabLst>
            </a:pPr>
            <a:r>
              <a:t>are made up of 2 α-chains and 2 β-chains linked together</a:t>
            </a:r>
          </a:p>
        </p:txBody>
      </p:sp>
      <p:sp>
        <p:nvSpPr>
          <p:cNvPr id="365" name="Shape 365"/>
          <p:cNvSpPr/>
          <p:nvPr/>
        </p:nvSpPr>
        <p:spPr>
          <a:xfrm>
            <a:off x="3979453" y="6426200"/>
            <a:ext cx="1308957"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pPr>
            <a:r>
              <a:t>β-Chain</a:t>
            </a:r>
          </a:p>
          <a:p>
            <a:pPr>
              <a:lnSpc>
                <a:spcPts val="2100"/>
              </a:lnSpc>
              <a:tabLst>
                <a:tab pos="520700" algn="l"/>
              </a:tabLst>
            </a:pPr>
            <a:r>
              <a:t>hemoglobin</a:t>
            </a:r>
          </a:p>
        </p:txBody>
      </p:sp>
      <p:sp>
        <p:nvSpPr>
          <p:cNvPr id="366" name="Shape 366"/>
          <p:cNvSpPr/>
          <p:nvPr/>
        </p:nvSpPr>
        <p:spPr>
          <a:xfrm>
            <a:off x="8951475" y="7747000"/>
            <a:ext cx="3670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The sickle cell mutation involves the substitution of one base for another in the HBB gene, causing a single amino acid to be altered.</a:t>
            </a:r>
          </a:p>
        </p:txBody>
      </p:sp>
      <p:sp>
        <p:nvSpPr>
          <p:cNvPr id="367" name="Shape 367"/>
          <p:cNvSpPr/>
          <p:nvPr/>
        </p:nvSpPr>
        <p:spPr>
          <a:xfrm>
            <a:off x="8958235" y="6032500"/>
            <a:ext cx="3670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When deprived of oxygen, haemoglobin precipitates to form fibres, which deform the red blood cells into a sickle shape.</a:t>
            </a:r>
          </a:p>
        </p:txBody>
      </p:sp>
      <p:grpSp>
        <p:nvGrpSpPr>
          <p:cNvPr id="372" name="Group 372"/>
          <p:cNvGrpSpPr/>
          <p:nvPr/>
        </p:nvGrpSpPr>
        <p:grpSpPr>
          <a:xfrm>
            <a:off x="4121391" y="4961466"/>
            <a:ext cx="4442477" cy="733356"/>
            <a:chOff x="0" y="0"/>
            <a:chExt cx="4442476" cy="733354"/>
          </a:xfrm>
        </p:grpSpPr>
        <p:sp>
          <p:nvSpPr>
            <p:cNvPr id="368" name="Shape 368"/>
            <p:cNvSpPr/>
            <p:nvPr/>
          </p:nvSpPr>
          <p:spPr>
            <a:xfrm>
              <a:off x="0" y="474133"/>
              <a:ext cx="1554523"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Beta (β) chain</a:t>
              </a:r>
            </a:p>
          </p:txBody>
        </p:sp>
        <p:sp>
          <p:nvSpPr>
            <p:cNvPr id="369" name="Shape 369"/>
            <p:cNvSpPr/>
            <p:nvPr/>
          </p:nvSpPr>
          <p:spPr>
            <a:xfrm>
              <a:off x="2772872" y="474133"/>
              <a:ext cx="166960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Alpha (α) chain</a:t>
              </a:r>
            </a:p>
          </p:txBody>
        </p:sp>
        <p:sp>
          <p:nvSpPr>
            <p:cNvPr id="370" name="Shape 370"/>
            <p:cNvSpPr/>
            <p:nvPr/>
          </p:nvSpPr>
          <p:spPr>
            <a:xfrm>
              <a:off x="3143008" y="0"/>
              <a:ext cx="215900" cy="410634"/>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71" name="Shape 371"/>
            <p:cNvSpPr/>
            <p:nvPr/>
          </p:nvSpPr>
          <p:spPr>
            <a:xfrm flipH="1">
              <a:off x="1106774" y="88900"/>
              <a:ext cx="237068" cy="321734"/>
            </a:xfrm>
            <a:prstGeom prst="line">
              <a:avLst/>
            </a:prstGeom>
            <a:noFill/>
            <a:ln w="25400" cap="flat">
              <a:solidFill>
                <a:srgbClr val="000000"/>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373" name="Shape 373"/>
          <p:cNvSpPr/>
          <p:nvPr/>
        </p:nvSpPr>
        <p:spPr>
          <a:xfrm>
            <a:off x="6299199" y="5384800"/>
            <a:ext cx="1" cy="1016010"/>
          </a:xfrm>
          <a:prstGeom prst="line">
            <a:avLst/>
          </a:prstGeom>
          <a:ln w="762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4" name="Shape 374"/>
          <p:cNvSpPr/>
          <p:nvPr/>
        </p:nvSpPr>
        <p:spPr>
          <a:xfrm flipH="1" flipV="1">
            <a:off x="7562704" y="4466147"/>
            <a:ext cx="1687130" cy="147"/>
          </a:xfrm>
          <a:prstGeom prst="line">
            <a:avLst/>
          </a:prstGeom>
          <a:ln w="1016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5" name="Shape 375"/>
          <p:cNvSpPr/>
          <p:nvPr/>
        </p:nvSpPr>
        <p:spPr>
          <a:xfrm>
            <a:off x="3733800" y="4470400"/>
            <a:ext cx="1477434" cy="127"/>
          </a:xfrm>
          <a:prstGeom prst="line">
            <a:avLst/>
          </a:prstGeom>
          <a:ln w="1016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376" name="Shape 376"/>
          <p:cNvSpPr/>
          <p:nvPr/>
        </p:nvSpPr>
        <p:spPr>
          <a:xfrm>
            <a:off x="6532451" y="7378700"/>
            <a:ext cx="2096890"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pPr>
            <a:r>
              <a:t>Normal base: T</a:t>
            </a:r>
          </a:p>
          <a:p>
            <a:pPr>
              <a:lnSpc>
                <a:spcPts val="2100"/>
              </a:lnSpc>
              <a:tabLst>
                <a:tab pos="520700" algn="l"/>
              </a:tabLst>
            </a:pPr>
            <a:r>
              <a:t>Substituted base: A</a:t>
            </a:r>
          </a:p>
        </p:txBody>
      </p:sp>
      <p:sp>
        <p:nvSpPr>
          <p:cNvPr id="377" name="Shape 377"/>
          <p:cNvSpPr/>
          <p:nvPr/>
        </p:nvSpPr>
        <p:spPr>
          <a:xfrm flipV="1">
            <a:off x="6972299" y="7899400"/>
            <a:ext cx="1" cy="237068"/>
          </a:xfrm>
          <a:prstGeom prst="line">
            <a:avLst/>
          </a:prstGeom>
          <a:ln w="25400">
            <a:solidFill>
              <a:srgbClr val="006994"/>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grpSp>
        <p:nvGrpSpPr>
          <p:cNvPr id="384" name="Group 384"/>
          <p:cNvGrpSpPr/>
          <p:nvPr/>
        </p:nvGrpSpPr>
        <p:grpSpPr>
          <a:xfrm>
            <a:off x="594080" y="7556500"/>
            <a:ext cx="3036851" cy="1910222"/>
            <a:chOff x="0" y="0"/>
            <a:chExt cx="3036850" cy="1910221"/>
          </a:xfrm>
        </p:grpSpPr>
        <p:sp>
          <p:nvSpPr>
            <p:cNvPr id="378" name="Shape 378"/>
            <p:cNvSpPr/>
            <p:nvPr/>
          </p:nvSpPr>
          <p:spPr>
            <a:xfrm>
              <a:off x="15487" y="825500"/>
              <a:ext cx="60965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DNA</a:t>
              </a:r>
            </a:p>
          </p:txBody>
        </p:sp>
        <p:sp>
          <p:nvSpPr>
            <p:cNvPr id="379" name="Shape 379"/>
            <p:cNvSpPr/>
            <p:nvPr/>
          </p:nvSpPr>
          <p:spPr>
            <a:xfrm>
              <a:off x="0" y="1651000"/>
              <a:ext cx="3036851"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Codes for the 1st amino acid</a:t>
              </a:r>
            </a:p>
          </p:txBody>
        </p:sp>
        <p:sp>
          <p:nvSpPr>
            <p:cNvPr id="380" name="Shape 380"/>
            <p:cNvSpPr/>
            <p:nvPr/>
          </p:nvSpPr>
          <p:spPr>
            <a:xfrm>
              <a:off x="664918" y="0"/>
              <a:ext cx="113058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100"/>
                </a:lnSpc>
                <a:tabLst>
                  <a:tab pos="520700" algn="l"/>
                </a:tabLst>
              </a:lvl1pPr>
            </a:lstStyle>
            <a:p>
              <a:r>
                <a:t>First base</a:t>
              </a:r>
            </a:p>
          </p:txBody>
        </p:sp>
        <p:sp>
          <p:nvSpPr>
            <p:cNvPr id="381" name="Shape 381"/>
            <p:cNvSpPr/>
            <p:nvPr/>
          </p:nvSpPr>
          <p:spPr>
            <a:xfrm flipV="1">
              <a:off x="1196619" y="255913"/>
              <a:ext cx="1" cy="324054"/>
            </a:xfrm>
            <a:prstGeom prst="line">
              <a:avLst/>
            </a:prstGeom>
            <a:noFill/>
            <a:ln w="25400" cap="flat">
              <a:solidFill>
                <a:srgbClr val="126A93"/>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82" name="Shape 382"/>
            <p:cNvSpPr/>
            <p:nvPr/>
          </p:nvSpPr>
          <p:spPr>
            <a:xfrm>
              <a:off x="1056919" y="1270000"/>
              <a:ext cx="877688" cy="127"/>
            </a:xfrm>
            <a:prstGeom prst="line">
              <a:avLst/>
            </a:prstGeom>
            <a:noFill/>
            <a:ln w="25400" cap="flat">
              <a:solidFill>
                <a:srgbClr val="126A93"/>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383" name="Shape 383"/>
            <p:cNvSpPr/>
            <p:nvPr/>
          </p:nvSpPr>
          <p:spPr>
            <a:xfrm>
              <a:off x="1514119" y="1270000"/>
              <a:ext cx="1" cy="334435"/>
            </a:xfrm>
            <a:prstGeom prst="line">
              <a:avLst/>
            </a:prstGeom>
            <a:noFill/>
            <a:ln w="25400" cap="flat">
              <a:solidFill>
                <a:srgbClr val="126A93"/>
              </a:solidFill>
              <a:prstDash val="solid"/>
              <a:miter lim="400000"/>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
        <p:nvSpPr>
          <p:cNvPr id="385" name="Shape 385"/>
          <p:cNvSpPr/>
          <p:nvPr/>
        </p:nvSpPr>
        <p:spPr>
          <a:xfrm>
            <a:off x="6294966" y="7086600"/>
            <a:ext cx="1" cy="812800"/>
          </a:xfrm>
          <a:prstGeom prst="line">
            <a:avLst/>
          </a:prstGeom>
          <a:ln w="76200">
            <a:solidFill>
              <a:srgbClr val="126A93"/>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386" name="Sickle Cell sickle cells.pdf"/>
          <p:cNvPicPr>
            <a:picLocks noChangeAspect="1"/>
          </p:cNvPicPr>
          <p:nvPr/>
        </p:nvPicPr>
        <p:blipFill>
          <a:blip r:embed="rId5">
            <a:extLst/>
          </a:blip>
          <a:stretch>
            <a:fillRect/>
          </a:stretch>
        </p:blipFill>
        <p:spPr>
          <a:xfrm>
            <a:off x="9557327" y="4038600"/>
            <a:ext cx="2200492" cy="1358900"/>
          </a:xfrm>
          <a:prstGeom prst="rect">
            <a:avLst/>
          </a:prstGeom>
          <a:ln w="12700">
            <a:miter lim="400000"/>
          </a:ln>
        </p:spPr>
      </p:pic>
      <p:sp>
        <p:nvSpPr>
          <p:cNvPr id="387" name="Shape 387"/>
          <p:cNvSpPr/>
          <p:nvPr/>
        </p:nvSpPr>
        <p:spPr>
          <a:xfrm>
            <a:off x="10909300" y="5168900"/>
            <a:ext cx="0" cy="812800"/>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388" name="Sickle Cell red cells.pdf"/>
          <p:cNvPicPr>
            <a:picLocks noChangeAspect="1"/>
          </p:cNvPicPr>
          <p:nvPr/>
        </p:nvPicPr>
        <p:blipFill>
          <a:blip r:embed="rId6">
            <a:extLst/>
          </a:blip>
          <a:stretch>
            <a:fillRect/>
          </a:stretch>
        </p:blipFill>
        <p:spPr>
          <a:xfrm>
            <a:off x="1193800" y="4165600"/>
            <a:ext cx="2083199" cy="1130300"/>
          </a:xfrm>
          <a:prstGeom prst="rect">
            <a:avLst/>
          </a:prstGeom>
          <a:ln w="12700">
            <a:miter lim="400000"/>
          </a:ln>
        </p:spPr>
      </p:pic>
      <p:sp>
        <p:nvSpPr>
          <p:cNvPr id="389" name="Shape 389"/>
          <p:cNvSpPr/>
          <p:nvPr/>
        </p:nvSpPr>
        <p:spPr>
          <a:xfrm>
            <a:off x="385735" y="6032500"/>
            <a:ext cx="3035301"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lvl1pPr>
          </a:lstStyle>
          <a:p>
            <a:r>
              <a:t>Red blood cells normally have a biconcave shape, which enables them to squeeze through capillaries.</a:t>
            </a:r>
          </a:p>
        </p:txBody>
      </p:sp>
      <p:sp>
        <p:nvSpPr>
          <p:cNvPr id="390" name="Shape 390"/>
          <p:cNvSpPr/>
          <p:nvPr/>
        </p:nvSpPr>
        <p:spPr>
          <a:xfrm flipH="1">
            <a:off x="2336799" y="4864424"/>
            <a:ext cx="1" cy="1117276"/>
          </a:xfrm>
          <a:prstGeom prst="line">
            <a:avLst/>
          </a:prstGeom>
          <a:ln w="25400">
            <a:solidFill>
              <a:srgbClr val="000000"/>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6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7" name="Shape 1317"/>
          <p:cNvSpPr/>
          <p:nvPr/>
        </p:nvSpPr>
        <p:spPr>
          <a:xfrm>
            <a:off x="6738064" y="1357193"/>
            <a:ext cx="6292137" cy="8383707"/>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18" name="Shape 1318"/>
          <p:cNvSpPr>
            <a:spLocks noGrp="1"/>
          </p:cNvSpPr>
          <p:nvPr>
            <p:ph type="title"/>
          </p:nvPr>
        </p:nvSpPr>
        <p:spPr>
          <a:prstGeom prst="rect">
            <a:avLst/>
          </a:prstGeom>
        </p:spPr>
        <p:txBody>
          <a:bodyPr/>
          <a:lstStyle>
            <a:lvl1pPr>
              <a:tabLst>
                <a:tab pos="952500" algn="l"/>
              </a:tabLst>
            </a:lvl1pPr>
          </a:lstStyle>
          <a:p>
            <a:r>
              <a:t>Heterozygote Advantage</a:t>
            </a:r>
          </a:p>
        </p:txBody>
      </p:sp>
      <p:sp>
        <p:nvSpPr>
          <p:cNvPr id="1319" name="Shape 1319"/>
          <p:cNvSpPr>
            <a:spLocks noGrp="1"/>
          </p:cNvSpPr>
          <p:nvPr>
            <p:ph type="body" sz="half" idx="1"/>
          </p:nvPr>
        </p:nvSpPr>
        <p:spPr>
          <a:prstGeom prst="rect">
            <a:avLst/>
          </a:prstGeom>
        </p:spPr>
        <p:txBody>
          <a:bodyPr/>
          <a:lstStyle/>
          <a:p>
            <a:pPr>
              <a:tabLst>
                <a:tab pos="1016000" algn="l"/>
              </a:tabLst>
            </a:pPr>
            <a:r>
              <a:t>Sometimes, individuals that are heterozygous for a gene (Aa) are more common in the population than would </a:t>
            </a:r>
            <a:br/>
            <a:r>
              <a:t>be expected.</a:t>
            </a:r>
          </a:p>
          <a:p>
            <a:pPr>
              <a:tabLst>
                <a:tab pos="1016000" algn="l"/>
              </a:tabLst>
            </a:pPr>
            <a:r>
              <a:t>This is because the heterozygous condition can have higher fitness than either homozygote (AA or aa).</a:t>
            </a:r>
          </a:p>
          <a:p>
            <a:pPr>
              <a:tabLst>
                <a:tab pos="1016000" algn="l"/>
              </a:tabLst>
            </a:pPr>
            <a:r>
              <a:t>This is termed heterozygote advantage.</a:t>
            </a:r>
          </a:p>
          <a:p>
            <a:pPr>
              <a:tabLst>
                <a:tab pos="1016000" algn="l"/>
              </a:tabLst>
            </a:pPr>
            <a:r>
              <a:t>Example: Individuals heterozygous for the  sickle cell mutation have higher fitness that either homozygous conditions.</a:t>
            </a:r>
          </a:p>
          <a:p>
            <a:pPr lvl="1">
              <a:tabLst>
                <a:tab pos="1485900" algn="l"/>
              </a:tabLst>
            </a:pPr>
            <a:r>
              <a:t>The sickle cell mutation produces haemoglobin differing by one amino acid in the beta chain. This causes red blood cells to deform and clump together, causing circulatory and organ function problems. </a:t>
            </a:r>
          </a:p>
        </p:txBody>
      </p:sp>
      <p:grpSp>
        <p:nvGrpSpPr>
          <p:cNvPr id="1322" name="Group 1322"/>
          <p:cNvGrpSpPr/>
          <p:nvPr/>
        </p:nvGrpSpPr>
        <p:grpSpPr>
          <a:xfrm>
            <a:off x="6946225" y="6946711"/>
            <a:ext cx="5484842" cy="2296596"/>
            <a:chOff x="-483274" y="28184"/>
            <a:chExt cx="5484840" cy="2296595"/>
          </a:xfrm>
        </p:grpSpPr>
        <p:sp>
          <p:nvSpPr>
            <p:cNvPr id="1320" name="Shape 1320"/>
            <p:cNvSpPr/>
            <p:nvPr/>
          </p:nvSpPr>
          <p:spPr>
            <a:xfrm>
              <a:off x="2334566" y="498272"/>
              <a:ext cx="2667001" cy="94419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t">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b="1" i="1" baseline="31999">
                  <a:latin typeface="+mn-lt"/>
                  <a:ea typeface="+mn-ea"/>
                  <a:cs typeface="+mn-cs"/>
                  <a:sym typeface="Arial"/>
                </a:rPr>
                <a:t>S</a:t>
              </a:r>
              <a:r>
                <a:rPr>
                  <a:latin typeface="+mn-lt"/>
                  <a:ea typeface="+mn-ea"/>
                  <a:cs typeface="+mn-cs"/>
                  <a:sym typeface="Arial"/>
                </a:rPr>
                <a:t>, </a:t>
              </a:r>
              <a:r>
                <a:rPr b="1" i="1">
                  <a:latin typeface="+mn-lt"/>
                  <a:ea typeface="+mn-ea"/>
                  <a:cs typeface="+mn-cs"/>
                  <a:sym typeface="Arial"/>
                </a:rPr>
                <a:t>Hb</a:t>
              </a:r>
              <a:r>
                <a:rPr b="1" i="1" baseline="31999">
                  <a:latin typeface="+mn-lt"/>
                  <a:ea typeface="+mn-ea"/>
                  <a:cs typeface="+mn-cs"/>
                  <a:sym typeface="Arial"/>
                </a:rPr>
                <a:t>S</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All red blood cells are sickle shaped</a:t>
              </a:r>
            </a:p>
          </p:txBody>
        </p:sp>
        <p:pic>
          <p:nvPicPr>
            <p:cNvPr id="1321" name="Sickle Blood Cells 3.png"/>
            <p:cNvPicPr>
              <a:picLocks noChangeAspect="1"/>
            </p:cNvPicPr>
            <p:nvPr/>
          </p:nvPicPr>
          <p:blipFill>
            <a:blip r:embed="rId2">
              <a:extLst/>
            </a:blip>
            <a:stretch>
              <a:fillRect/>
            </a:stretch>
          </p:blipFill>
          <p:spPr>
            <a:xfrm>
              <a:off x="-483275" y="28184"/>
              <a:ext cx="2786034" cy="2296596"/>
            </a:xfrm>
            <a:prstGeom prst="rect">
              <a:avLst/>
            </a:prstGeom>
            <a:ln w="12700" cap="flat">
              <a:noFill/>
              <a:miter lim="400000"/>
            </a:ln>
            <a:effectLst/>
          </p:spPr>
        </p:pic>
      </p:grpSp>
      <p:sp>
        <p:nvSpPr>
          <p:cNvPr id="1323" name="Shape 1323"/>
          <p:cNvSpPr/>
          <p:nvPr/>
        </p:nvSpPr>
        <p:spPr>
          <a:xfrm>
            <a:off x="9758326" y="1676400"/>
            <a:ext cx="2679701" cy="9441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a:latin typeface="+mn-lt"/>
                <a:ea typeface="+mn-ea"/>
                <a:cs typeface="+mn-cs"/>
                <a:sym typeface="Arial"/>
              </a:rPr>
              <a:t>, </a:t>
            </a:r>
            <a:r>
              <a:rPr b="1" i="1">
                <a:latin typeface="+mn-lt"/>
                <a:ea typeface="+mn-ea"/>
                <a:cs typeface="+mn-cs"/>
                <a:sym typeface="Arial"/>
              </a:rPr>
              <a:t>Hb</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All red blood cells are normal</a:t>
            </a:r>
          </a:p>
        </p:txBody>
      </p:sp>
      <p:sp>
        <p:nvSpPr>
          <p:cNvPr id="1324" name="Shape 1324"/>
          <p:cNvSpPr/>
          <p:nvPr/>
        </p:nvSpPr>
        <p:spPr>
          <a:xfrm>
            <a:off x="9602900" y="4254500"/>
            <a:ext cx="2997201" cy="9441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700"/>
              </a:lnSpc>
              <a:tabLst>
                <a:tab pos="520700" algn="l"/>
              </a:tabLst>
              <a:defRPr sz="2000">
                <a:solidFill>
                  <a:srgbClr val="005B86"/>
                </a:solidFill>
                <a:latin typeface="Hoefler Text"/>
                <a:ea typeface="Hoefler Text"/>
                <a:cs typeface="Hoefler Text"/>
                <a:sym typeface="Hoefler Text"/>
              </a:defRPr>
            </a:pPr>
            <a:r>
              <a:rPr b="1" i="1">
                <a:latin typeface="+mn-lt"/>
                <a:ea typeface="+mn-ea"/>
                <a:cs typeface="+mn-cs"/>
                <a:sym typeface="Arial"/>
              </a:rPr>
              <a:t>Hb</a:t>
            </a:r>
            <a:r>
              <a:rPr b="1" i="1" baseline="31999">
                <a:latin typeface="+mn-lt"/>
                <a:ea typeface="+mn-ea"/>
                <a:cs typeface="+mn-cs"/>
                <a:sym typeface="Arial"/>
              </a:rPr>
              <a:t>S</a:t>
            </a:r>
            <a:r>
              <a:rPr>
                <a:latin typeface="+mn-lt"/>
                <a:ea typeface="+mn-ea"/>
                <a:cs typeface="+mn-cs"/>
                <a:sym typeface="Arial"/>
              </a:rPr>
              <a:t>, </a:t>
            </a:r>
            <a:r>
              <a:rPr b="1" i="1">
                <a:latin typeface="+mn-lt"/>
                <a:ea typeface="+mn-ea"/>
                <a:cs typeface="+mn-cs"/>
                <a:sym typeface="Arial"/>
              </a:rPr>
              <a:t>Hb</a:t>
            </a:r>
            <a:endParaRPr>
              <a:latin typeface="+mn-lt"/>
              <a:ea typeface="+mn-ea"/>
              <a:cs typeface="+mn-cs"/>
              <a:sym typeface="Arial"/>
            </a:endParaRPr>
          </a:p>
          <a:p>
            <a:pPr algn="ctr">
              <a:lnSpc>
                <a:spcPts val="2700"/>
              </a:lnSpc>
              <a:tabLst>
                <a:tab pos="520700" algn="l"/>
              </a:tabLst>
              <a:defRPr sz="2000">
                <a:solidFill>
                  <a:srgbClr val="005B86"/>
                </a:solidFill>
                <a:latin typeface="Hoefler Text"/>
                <a:ea typeface="Hoefler Text"/>
                <a:cs typeface="Hoefler Text"/>
                <a:sym typeface="Hoefler Text"/>
              </a:defRPr>
            </a:pPr>
            <a:r>
              <a:rPr>
                <a:latin typeface="+mn-lt"/>
                <a:ea typeface="+mn-ea"/>
                <a:cs typeface="+mn-cs"/>
                <a:sym typeface="Arial"/>
              </a:rPr>
              <a:t>Mix of normal and sickle red blood cells</a:t>
            </a:r>
          </a:p>
        </p:txBody>
      </p:sp>
      <p:pic>
        <p:nvPicPr>
          <p:cNvPr id="1325" name="Sickle Blood Cells 1.png"/>
          <p:cNvPicPr>
            <a:picLocks noChangeAspect="1"/>
          </p:cNvPicPr>
          <p:nvPr/>
        </p:nvPicPr>
        <p:blipFill>
          <a:blip r:embed="rId3">
            <a:extLst/>
          </a:blip>
          <a:stretch>
            <a:fillRect/>
          </a:stretch>
        </p:blipFill>
        <p:spPr>
          <a:xfrm>
            <a:off x="6993096" y="1507331"/>
            <a:ext cx="2561807" cy="1864317"/>
          </a:xfrm>
          <a:prstGeom prst="rect">
            <a:avLst/>
          </a:prstGeom>
          <a:ln w="12700">
            <a:miter lim="400000"/>
          </a:ln>
        </p:spPr>
      </p:pic>
      <p:pic>
        <p:nvPicPr>
          <p:cNvPr id="1326" name="Sickle Blood Cells 2.png"/>
          <p:cNvPicPr>
            <a:picLocks noChangeAspect="1"/>
          </p:cNvPicPr>
          <p:nvPr/>
        </p:nvPicPr>
        <p:blipFill>
          <a:blip r:embed="rId4">
            <a:extLst/>
          </a:blip>
          <a:stretch>
            <a:fillRect/>
          </a:stretch>
        </p:blipFill>
        <p:spPr>
          <a:xfrm>
            <a:off x="6962735" y="3859560"/>
            <a:ext cx="2837371" cy="2111980"/>
          </a:xfrm>
          <a:prstGeom prst="rect">
            <a:avLst/>
          </a:prstGeom>
          <a:ln w="12700">
            <a:miter lim="400000"/>
          </a:ln>
        </p:spPr>
      </p:pic>
    </p:spTree>
    <p:extLst>
      <p:ext uri="{BB962C8B-B14F-4D97-AF65-F5344CB8AC3E}">
        <p14:creationId xmlns:p14="http://schemas.microsoft.com/office/powerpoint/2010/main" val="317373406"/>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1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31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31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31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31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3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9" grpId="0"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8" name="Shape 1328"/>
          <p:cNvSpPr/>
          <p:nvPr/>
        </p:nvSpPr>
        <p:spPr>
          <a:xfrm>
            <a:off x="8101886" y="-28100"/>
            <a:ext cx="4928315" cy="9769000"/>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329" name="Shape 1329"/>
          <p:cNvSpPr>
            <a:spLocks noGrp="1"/>
          </p:cNvSpPr>
          <p:nvPr>
            <p:ph type="title"/>
          </p:nvPr>
        </p:nvSpPr>
        <p:spPr>
          <a:prstGeom prst="rect">
            <a:avLst/>
          </a:prstGeom>
        </p:spPr>
        <p:txBody>
          <a:bodyPr/>
          <a:lstStyle>
            <a:lvl1pPr>
              <a:tabLst>
                <a:tab pos="952500" algn="l"/>
              </a:tabLst>
            </a:lvl1pPr>
          </a:lstStyle>
          <a:p>
            <a:r>
              <a:t>Sickle Cell Gene</a:t>
            </a:r>
          </a:p>
        </p:txBody>
      </p:sp>
      <p:sp>
        <p:nvSpPr>
          <p:cNvPr id="1330" name="Shape 1330"/>
          <p:cNvSpPr>
            <a:spLocks noGrp="1"/>
          </p:cNvSpPr>
          <p:nvPr>
            <p:ph type="body" sz="half" idx="1"/>
          </p:nvPr>
        </p:nvSpPr>
        <p:spPr>
          <a:xfrm>
            <a:off x="368300" y="1790700"/>
            <a:ext cx="6599337" cy="7098308"/>
          </a:xfrm>
          <a:prstGeom prst="rect">
            <a:avLst/>
          </a:prstGeom>
        </p:spPr>
        <p:txBody>
          <a:bodyPr/>
          <a:lstStyle/>
          <a:p>
            <a:pPr>
              <a:tabLst>
                <a:tab pos="1016000" algn="l"/>
              </a:tabLst>
            </a:pPr>
            <a:r>
              <a:t>The heterozygote advantage of the sickle cell mutation is apparent in regions where malaria is endemic. Why?</a:t>
            </a:r>
          </a:p>
          <a:p>
            <a:pPr lvl="1">
              <a:tabLst>
                <a:tab pos="1485900" algn="l"/>
              </a:tabLst>
            </a:pPr>
            <a:r>
              <a:t>Malaria is transmitted by certain species of </a:t>
            </a:r>
            <a:br/>
            <a:r>
              <a:t>mosquito which spreads the intracellular protozoan parasite, </a:t>
            </a:r>
            <a:r>
              <a:rPr i="1"/>
              <a:t>Plasmodium</a:t>
            </a:r>
            <a:r>
              <a:t>.</a:t>
            </a:r>
          </a:p>
          <a:p>
            <a:pPr lvl="1">
              <a:tabLst>
                <a:tab pos="1485900" algn="l"/>
              </a:tabLst>
            </a:pPr>
            <a:r>
              <a:t>Sickle cells have low potassium levels and the parasites infecting these cells die.</a:t>
            </a:r>
          </a:p>
          <a:p>
            <a:pPr lvl="1">
              <a:tabLst>
                <a:tab pos="1485900" algn="l"/>
              </a:tabLst>
            </a:pPr>
            <a:r>
              <a:t>Individuals with a normal phenotype (Hb,Hb) are very susceptible to malaria. Heterozygotes (HbS,Hb) are much less so. Sickle cell homozygotes (HbS, HbS) die from sickle cell disease.</a:t>
            </a:r>
          </a:p>
          <a:p>
            <a:pPr lvl="1">
              <a:tabLst>
                <a:tab pos="1485900" algn="l"/>
              </a:tabLst>
            </a:pPr>
            <a:r>
              <a:t>In regions where malaria is prevalent, the HbS allele is present in moderately high frequencies.</a:t>
            </a:r>
          </a:p>
          <a:p>
            <a:pPr>
              <a:tabLst>
                <a:tab pos="1016000" algn="l"/>
              </a:tabLst>
            </a:pPr>
            <a:r>
              <a:t>This is a balanced lethal system because neither of the homozygotes produces a phenotype with high fitness.</a:t>
            </a:r>
          </a:p>
        </p:txBody>
      </p:sp>
      <p:pic>
        <p:nvPicPr>
          <p:cNvPr id="1331" name="Anopheles gambiae CDC.png"/>
          <p:cNvPicPr>
            <a:picLocks noChangeAspect="1"/>
          </p:cNvPicPr>
          <p:nvPr/>
        </p:nvPicPr>
        <p:blipFill>
          <a:blip r:embed="rId2">
            <a:extLst/>
          </a:blip>
          <a:stretch>
            <a:fillRect/>
          </a:stretch>
        </p:blipFill>
        <p:spPr>
          <a:xfrm flipH="1">
            <a:off x="8008619" y="63500"/>
            <a:ext cx="5080001" cy="2298700"/>
          </a:xfrm>
          <a:prstGeom prst="rect">
            <a:avLst/>
          </a:prstGeom>
          <a:ln w="12700">
            <a:miter lim="400000"/>
          </a:ln>
        </p:spPr>
      </p:pic>
      <p:sp>
        <p:nvSpPr>
          <p:cNvPr id="1332" name="Shape 1332"/>
          <p:cNvSpPr/>
          <p:nvPr/>
        </p:nvSpPr>
        <p:spPr>
          <a:xfrm>
            <a:off x="9402608" y="2385060"/>
            <a:ext cx="2997201" cy="28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400"/>
              </a:lnSpc>
              <a:tabLst>
                <a:tab pos="520700" algn="l"/>
              </a:tabLst>
              <a:defRPr sz="2000">
                <a:solidFill>
                  <a:srgbClr val="005B86"/>
                </a:solidFill>
              </a:defRPr>
            </a:pPr>
            <a:r>
              <a:rPr i="1"/>
              <a:t>Anopheles</a:t>
            </a:r>
            <a:r>
              <a:t> mosquito</a:t>
            </a:r>
          </a:p>
        </p:txBody>
      </p:sp>
      <p:pic>
        <p:nvPicPr>
          <p:cNvPr id="1333" name="SickleCell.jpg"/>
          <p:cNvPicPr>
            <a:picLocks noChangeAspect="1"/>
          </p:cNvPicPr>
          <p:nvPr/>
        </p:nvPicPr>
        <p:blipFill>
          <a:blip r:embed="rId3">
            <a:extLst/>
          </a:blip>
          <a:stretch>
            <a:fillRect/>
          </a:stretch>
        </p:blipFill>
        <p:spPr>
          <a:xfrm>
            <a:off x="8114227" y="2902133"/>
            <a:ext cx="4917142" cy="6406244"/>
          </a:xfrm>
          <a:prstGeom prst="rect">
            <a:avLst/>
          </a:prstGeom>
          <a:ln w="25400">
            <a:solidFill>
              <a:srgbClr val="FFFFFF"/>
            </a:solidFill>
            <a:miter lim="400000"/>
          </a:ln>
        </p:spPr>
      </p:pic>
      <p:sp>
        <p:nvSpPr>
          <p:cNvPr id="1334" name="Shape 1334"/>
          <p:cNvSpPr/>
          <p:nvPr/>
        </p:nvSpPr>
        <p:spPr>
          <a:xfrm>
            <a:off x="8867140" y="6626859"/>
            <a:ext cx="931913" cy="5758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nSpc>
                <a:spcPts val="2400"/>
              </a:lnSpc>
              <a:tabLst>
                <a:tab pos="520700" algn="l"/>
              </a:tabLst>
              <a:defRPr sz="2000" b="1">
                <a:solidFill>
                  <a:srgbClr val="FFFFFF"/>
                </a:solidFill>
              </a:defRPr>
            </a:pPr>
            <a:r>
              <a:t>Sickle</a:t>
            </a:r>
          </a:p>
          <a:p>
            <a:pPr>
              <a:lnSpc>
                <a:spcPts val="2400"/>
              </a:lnSpc>
              <a:tabLst>
                <a:tab pos="520700" algn="l"/>
              </a:tabLst>
              <a:defRPr sz="2000" b="1">
                <a:solidFill>
                  <a:srgbClr val="FFFFFF"/>
                </a:solidFill>
              </a:defRPr>
            </a:pPr>
            <a:r>
              <a:t>cell</a:t>
            </a:r>
          </a:p>
        </p:txBody>
      </p:sp>
      <p:sp>
        <p:nvSpPr>
          <p:cNvPr id="1335" name="Shape 1335"/>
          <p:cNvSpPr/>
          <p:nvPr/>
        </p:nvSpPr>
        <p:spPr>
          <a:xfrm rot="16200000">
            <a:off x="7754619" y="8557259"/>
            <a:ext cx="1171651" cy="13970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1200"/>
              </a:lnSpc>
              <a:tabLst>
                <a:tab pos="520700" algn="l"/>
              </a:tabLst>
              <a:defRPr sz="1000">
                <a:solidFill>
                  <a:srgbClr val="000000"/>
                </a:solidFill>
              </a:defRPr>
            </a:lvl1pPr>
          </a:lstStyle>
          <a:p>
            <a:pPr>
              <a:defRPr sz="2000"/>
            </a:pPr>
            <a:r>
              <a:rPr sz="1000"/>
              <a:t>Photo Defiers.com</a:t>
            </a:r>
          </a:p>
        </p:txBody>
      </p:sp>
      <p:sp>
        <p:nvSpPr>
          <p:cNvPr id="1336" name="Shape 1336"/>
          <p:cNvSpPr/>
          <p:nvPr/>
        </p:nvSpPr>
        <p:spPr>
          <a:xfrm>
            <a:off x="8211348" y="9372600"/>
            <a:ext cx="4802109" cy="283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lvl1pPr algn="ctr">
              <a:lnSpc>
                <a:spcPts val="2400"/>
              </a:lnSpc>
              <a:tabLst>
                <a:tab pos="520700" algn="l"/>
              </a:tabLst>
              <a:defRPr sz="2000">
                <a:solidFill>
                  <a:srgbClr val="005B86"/>
                </a:solidFill>
              </a:defRPr>
            </a:lvl1pPr>
          </a:lstStyle>
          <a:p>
            <a:r>
              <a:t>Sickle cell: note its pale appearance</a:t>
            </a:r>
          </a:p>
        </p:txBody>
      </p:sp>
      <p:sp>
        <p:nvSpPr>
          <p:cNvPr id="1337" name="Shape 1337"/>
          <p:cNvSpPr/>
          <p:nvPr/>
        </p:nvSpPr>
        <p:spPr>
          <a:xfrm>
            <a:off x="10647680" y="4925059"/>
            <a:ext cx="1637606" cy="283792"/>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lvl1pPr>
              <a:lnSpc>
                <a:spcPts val="2400"/>
              </a:lnSpc>
              <a:tabLst>
                <a:tab pos="520700" algn="l"/>
              </a:tabLst>
              <a:defRPr sz="2000" b="1">
                <a:solidFill>
                  <a:srgbClr val="FFFFFF"/>
                </a:solidFill>
              </a:defRPr>
            </a:lvl1pPr>
          </a:lstStyle>
          <a:p>
            <a:r>
              <a:t>Normal cells</a:t>
            </a:r>
          </a:p>
        </p:txBody>
      </p:sp>
    </p:spTree>
    <p:extLst>
      <p:ext uri="{BB962C8B-B14F-4D97-AF65-F5344CB8AC3E}">
        <p14:creationId xmlns:p14="http://schemas.microsoft.com/office/powerpoint/2010/main" val="3238706970"/>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3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3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33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33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33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33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3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 grpId="0" build="p" bldLvl="5"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9" name="Sickle Cell-Malaria Map 1.png"/>
          <p:cNvPicPr>
            <a:picLocks noChangeAspect="1"/>
          </p:cNvPicPr>
          <p:nvPr/>
        </p:nvPicPr>
        <p:blipFill>
          <a:blip r:embed="rId2">
            <a:extLst/>
          </a:blip>
          <a:stretch>
            <a:fillRect/>
          </a:stretch>
        </p:blipFill>
        <p:spPr>
          <a:xfrm>
            <a:off x="226919" y="1416259"/>
            <a:ext cx="6635537" cy="4857575"/>
          </a:xfrm>
          <a:prstGeom prst="rect">
            <a:avLst/>
          </a:prstGeom>
          <a:ln w="12700">
            <a:miter lim="400000"/>
          </a:ln>
        </p:spPr>
      </p:pic>
      <p:pic>
        <p:nvPicPr>
          <p:cNvPr id="1340" name="Sickle Cell-Malaria Map 2.png"/>
          <p:cNvPicPr>
            <a:picLocks noChangeAspect="1"/>
          </p:cNvPicPr>
          <p:nvPr/>
        </p:nvPicPr>
        <p:blipFill>
          <a:blip r:embed="rId3">
            <a:extLst/>
          </a:blip>
          <a:stretch>
            <a:fillRect/>
          </a:stretch>
        </p:blipFill>
        <p:spPr>
          <a:xfrm>
            <a:off x="5944410" y="3443353"/>
            <a:ext cx="6816749" cy="5000347"/>
          </a:xfrm>
          <a:prstGeom prst="rect">
            <a:avLst/>
          </a:prstGeom>
          <a:ln w="12700">
            <a:miter lim="400000"/>
          </a:ln>
        </p:spPr>
      </p:pic>
      <p:sp>
        <p:nvSpPr>
          <p:cNvPr id="1341" name="Shape 1341"/>
          <p:cNvSpPr>
            <a:spLocks noGrp="1"/>
          </p:cNvSpPr>
          <p:nvPr>
            <p:ph type="title"/>
          </p:nvPr>
        </p:nvSpPr>
        <p:spPr>
          <a:prstGeom prst="rect">
            <a:avLst/>
          </a:prstGeom>
        </p:spPr>
        <p:txBody>
          <a:bodyPr/>
          <a:lstStyle>
            <a:lvl1pPr>
              <a:tabLst>
                <a:tab pos="952500" algn="l"/>
              </a:tabLst>
            </a:lvl1pPr>
          </a:lstStyle>
          <a:p>
            <a:r>
              <a:t>Sickle Cell Disease &amp; Malaria</a:t>
            </a:r>
          </a:p>
        </p:txBody>
      </p:sp>
      <p:sp>
        <p:nvSpPr>
          <p:cNvPr id="1342" name="Shape 1342"/>
          <p:cNvSpPr/>
          <p:nvPr/>
        </p:nvSpPr>
        <p:spPr>
          <a:xfrm>
            <a:off x="7573904" y="3060700"/>
            <a:ext cx="4390142" cy="28379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spAutoFit/>
          </a:bodyPr>
          <a:lstStyle/>
          <a:p>
            <a:pPr algn="ctr">
              <a:lnSpc>
                <a:spcPts val="2700"/>
              </a:lnSpc>
              <a:tabLst>
                <a:tab pos="520700" algn="l"/>
              </a:tabLst>
              <a:defRPr sz="2000" b="1">
                <a:solidFill>
                  <a:srgbClr val="483F36"/>
                </a:solidFill>
              </a:defRPr>
            </a:pPr>
            <a:r>
              <a:rPr>
                <a:solidFill>
                  <a:srgbClr val="201B17"/>
                </a:solidFill>
              </a:rPr>
              <a:t>Frequency of sickle cell allele (Hb</a:t>
            </a:r>
            <a:r>
              <a:rPr baseline="31999">
                <a:solidFill>
                  <a:srgbClr val="201B17"/>
                </a:solidFill>
              </a:rPr>
              <a:t>S</a:t>
            </a:r>
            <a:r>
              <a:rPr>
                <a:solidFill>
                  <a:srgbClr val="201B17"/>
                </a:solidFill>
              </a:rPr>
              <a:t>)</a:t>
            </a:r>
          </a:p>
        </p:txBody>
      </p:sp>
      <p:sp>
        <p:nvSpPr>
          <p:cNvPr id="1343" name="Shape 1343"/>
          <p:cNvSpPr/>
          <p:nvPr/>
        </p:nvSpPr>
        <p:spPr>
          <a:xfrm>
            <a:off x="634083" y="6489700"/>
            <a:ext cx="4927601" cy="19347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700"/>
              </a:lnSpc>
              <a:tabLst>
                <a:tab pos="520700" algn="l"/>
              </a:tabLst>
              <a:defRPr sz="2000" b="1">
                <a:solidFill>
                  <a:srgbClr val="005B86"/>
                </a:solidFill>
              </a:defRPr>
            </a:pPr>
            <a:r>
              <a:t>Incidence of falciparum malaria</a:t>
            </a:r>
          </a:p>
          <a:p>
            <a:pPr algn="ctr">
              <a:lnSpc>
                <a:spcPts val="2700"/>
              </a:lnSpc>
              <a:tabLst>
                <a:tab pos="520700" algn="l"/>
              </a:tabLst>
              <a:defRPr sz="2000">
                <a:solidFill>
                  <a:srgbClr val="005B86"/>
                </a:solidFill>
              </a:defRPr>
            </a:pPr>
            <a:r>
              <a:t>Falciparum malaria is a particularly virulent form of malaria caused by </a:t>
            </a:r>
            <a:r>
              <a:rPr i="1"/>
              <a:t>Plasmodium falciparum</a:t>
            </a:r>
            <a:r>
              <a:t>. Falciparum malaria can be fatal within days of the first symptoms appearing.</a:t>
            </a:r>
          </a:p>
        </p:txBody>
      </p:sp>
      <p:sp>
        <p:nvSpPr>
          <p:cNvPr id="1344" name="Shape 1344"/>
          <p:cNvSpPr/>
          <p:nvPr/>
        </p:nvSpPr>
        <p:spPr>
          <a:xfrm>
            <a:off x="6628483" y="8521700"/>
            <a:ext cx="5702301" cy="944191"/>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algn="ctr">
              <a:lnSpc>
                <a:spcPts val="2700"/>
              </a:lnSpc>
              <a:tabLst>
                <a:tab pos="520700" algn="l"/>
              </a:tabLst>
              <a:defRPr sz="2000">
                <a:solidFill>
                  <a:srgbClr val="005B86"/>
                </a:solidFill>
              </a:defRPr>
            </a:pPr>
            <a:r>
              <a:t>In large parts of the world, there is a good correlation between the incidence of falciparum malaria and the frequency of the Hb</a:t>
            </a:r>
            <a:r>
              <a:rPr baseline="31999"/>
              <a:t>S</a:t>
            </a:r>
            <a:r>
              <a:t> allele.</a:t>
            </a:r>
          </a:p>
        </p:txBody>
      </p:sp>
    </p:spTree>
    <p:extLst>
      <p:ext uri="{BB962C8B-B14F-4D97-AF65-F5344CB8AC3E}">
        <p14:creationId xmlns:p14="http://schemas.microsoft.com/office/powerpoint/2010/main" val="2734418176"/>
      </p:ext>
    </p:extLst>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63"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5" name="Shape 3365"/>
          <p:cNvSpPr>
            <a:spLocks noGrp="1"/>
          </p:cNvSpPr>
          <p:nvPr>
            <p:ph type="title"/>
          </p:nvPr>
        </p:nvSpPr>
        <p:spPr>
          <a:prstGeom prst="rect">
            <a:avLst/>
          </a:prstGeom>
        </p:spPr>
        <p:txBody>
          <a:bodyPr/>
          <a:lstStyle>
            <a:lvl1pPr>
              <a:tabLst>
                <a:tab pos="952500" algn="l"/>
              </a:tabLst>
            </a:lvl1pPr>
          </a:lstStyle>
          <a:p>
            <a:r>
              <a:t>Conditions of Use</a:t>
            </a:r>
          </a:p>
        </p:txBody>
      </p:sp>
      <p:sp>
        <p:nvSpPr>
          <p:cNvPr id="3366" name="Shape 3366"/>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3367" name="Shape 3367"/>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3368" name="Shape 3368"/>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3369" name="Shape 3369"/>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1" name="Shape 3371"/>
          <p:cNvSpPr>
            <a:spLocks noGrp="1"/>
          </p:cNvSpPr>
          <p:nvPr>
            <p:ph type="title"/>
          </p:nvPr>
        </p:nvSpPr>
        <p:spPr>
          <a:prstGeom prst="rect">
            <a:avLst/>
          </a:prstGeom>
        </p:spPr>
        <p:txBody>
          <a:bodyPr/>
          <a:lstStyle>
            <a:lvl1pPr>
              <a:tabLst>
                <a:tab pos="952500" algn="l"/>
              </a:tabLst>
            </a:lvl1pPr>
          </a:lstStyle>
          <a:p>
            <a:r>
              <a:t>Photo Credits</a:t>
            </a:r>
          </a:p>
        </p:txBody>
      </p:sp>
      <p:sp>
        <p:nvSpPr>
          <p:cNvPr id="3372" name="Shape 3372"/>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611999" lvl="1">
              <a:tabLst>
                <a:tab pos="1485900" algn="l"/>
              </a:tabLst>
              <a:defRPr b="1"/>
            </a:pPr>
            <a:r>
              <a:t>Adobestock</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3373" name="Shape 3373"/>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rPr b="1"/>
              <a:t>U.S. Department of Agriculture</a:t>
            </a:r>
            <a:r>
              <a:t> (coded </a:t>
            </a:r>
            <a:r>
              <a:rPr b="1"/>
              <a:t>USDA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3376" name="Group 3376"/>
          <p:cNvGrpSpPr/>
          <p:nvPr/>
        </p:nvGrpSpPr>
        <p:grpSpPr>
          <a:xfrm>
            <a:off x="6807200" y="5384800"/>
            <a:ext cx="5003800" cy="1841500"/>
            <a:chOff x="0" y="0"/>
            <a:chExt cx="5003800" cy="1841500"/>
          </a:xfrm>
        </p:grpSpPr>
        <p:sp>
          <p:nvSpPr>
            <p:cNvPr id="3374" name="Shape 3374"/>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3375" name="Shape 3375"/>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8"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1">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TotalTime>
  <Words>1317</Words>
  <Application>Microsoft Office PowerPoint</Application>
  <PresentationFormat>Custom</PresentationFormat>
  <Paragraphs>123</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Gill Sans</vt:lpstr>
      <vt:lpstr>Helvetica</vt:lpstr>
      <vt:lpstr>Hoefler Text</vt:lpstr>
      <vt:lpstr>Lucida Grande</vt:lpstr>
      <vt:lpstr>Myriad Pro</vt:lpstr>
      <vt:lpstr>Myriad Pro Semibold</vt:lpstr>
      <vt:lpstr>Savoye LET</vt:lpstr>
      <vt:lpstr>White</vt:lpstr>
      <vt:lpstr>PowerPoint Presentation</vt:lpstr>
      <vt:lpstr>Sickle Cell Anemia</vt:lpstr>
      <vt:lpstr>Sickle Cell Disease</vt:lpstr>
      <vt:lpstr>Sickle Cell Mutation</vt:lpstr>
      <vt:lpstr>Heterozygote Advantage</vt:lpstr>
      <vt:lpstr>Sickle Cell Gene</vt:lpstr>
      <vt:lpstr>Sickle Cell Disease &amp; Malaria</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3</cp:revision>
  <dcterms:modified xsi:type="dcterms:W3CDTF">2021-06-03T03:59:24Z</dcterms:modified>
</cp:coreProperties>
</file>
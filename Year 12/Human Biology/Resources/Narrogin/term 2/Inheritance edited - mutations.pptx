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4" r:id="rId34"/>
    <p:sldId id="295" r:id="rId35"/>
    <p:sldId id="296" r:id="rId36"/>
    <p:sldId id="297" r:id="rId37"/>
    <p:sldId id="298" r:id="rId38"/>
    <p:sldId id="299" r:id="rId39"/>
    <p:sldId id="301" r:id="rId40"/>
    <p:sldId id="302" r:id="rId41"/>
    <p:sldId id="303" r:id="rId42"/>
    <p:sldId id="313" r:id="rId43"/>
    <p:sldId id="314" r:id="rId44"/>
    <p:sldId id="315" r:id="rId45"/>
    <p:sldId id="351" r:id="rId46"/>
    <p:sldId id="352" r:id="rId47"/>
    <p:sldId id="364" r:id="rId48"/>
    <p:sldId id="365" r:id="rId49"/>
    <p:sldId id="366" r:id="rId50"/>
    <p:sldId id="367" r:id="rId5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5"/>
    <p:restoredTop sz="94635"/>
  </p:normalViewPr>
  <p:slideViewPr>
    <p:cSldViewPr snapToGrid="0" snapToObjects="1">
      <p:cViewPr varScale="1">
        <p:scale>
          <a:sx n="77" d="100"/>
          <a:sy n="77" d="100"/>
        </p:scale>
        <p:origin x="16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0" name="Shape 80"/>
          <p:cNvSpPr>
            <a:spLocks noGrp="1" noRot="1" noChangeAspect="1"/>
          </p:cNvSpPr>
          <p:nvPr>
            <p:ph type="sldImg"/>
          </p:nvPr>
        </p:nvSpPr>
        <p:spPr>
          <a:xfrm>
            <a:off x="1143000" y="685800"/>
            <a:ext cx="4572000" cy="3429000"/>
          </a:xfrm>
          <a:prstGeom prst="rect">
            <a:avLst/>
          </a:prstGeom>
        </p:spPr>
        <p:txBody>
          <a:bodyPr/>
          <a:lstStyle/>
          <a:p>
            <a:endParaRPr/>
          </a:p>
        </p:txBody>
      </p:sp>
      <p:sp>
        <p:nvSpPr>
          <p:cNvPr id="81" name="Shape 8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61414983"/>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biozone.com.au"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 name="Shape 16"/>
          <p:cNvSpPr>
            <a:spLocks noGrp="1"/>
          </p:cNvSpPr>
          <p:nvPr>
            <p:ph type="title"/>
          </p:nvPr>
        </p:nvSpPr>
        <p:spPr>
          <a:xfrm>
            <a:off x="365759" y="368300"/>
            <a:ext cx="12192001" cy="906026"/>
          </a:xfrm>
          <a:prstGeom prst="rect">
            <a:avLst/>
          </a:prstGeom>
        </p:spPr>
        <p:txBody>
          <a:bodyPr lIns="0" tIns="0" rIns="0" bIns="0" anchor="b"/>
          <a:lstStyle>
            <a:lvl1pPr defTabSz="457200">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s">
    <p:spTree>
      <p:nvGrpSpPr>
        <p:cNvPr id="1" name=""/>
        <p:cNvGrpSpPr/>
        <p:nvPr/>
      </p:nvGrpSpPr>
      <p:grpSpPr>
        <a:xfrm>
          <a:off x="0" y="0"/>
          <a:ext cx="0" cy="0"/>
          <a:chOff x="0" y="0"/>
          <a:chExt cx="0" cy="0"/>
        </a:xfrm>
      </p:grpSpPr>
      <p:sp>
        <p:nvSpPr>
          <p:cNvPr id="25" name="Shape 25"/>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33" name="Shape 33"/>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4" name="Shape 34"/>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IOZONE BRANDING">
    <p:bg>
      <p:bgPr>
        <a:solidFill>
          <a:srgbClr val="FFFFFF"/>
        </a:solidFill>
        <a:effectLst/>
      </p:bgPr>
    </p:bg>
    <p:spTree>
      <p:nvGrpSpPr>
        <p:cNvPr id="1" name=""/>
        <p:cNvGrpSpPr/>
        <p:nvPr/>
      </p:nvGrpSpPr>
      <p:grpSpPr>
        <a:xfrm>
          <a:off x="0" y="0"/>
          <a:ext cx="0" cy="0"/>
          <a:chOff x="0" y="0"/>
          <a:chExt cx="0" cy="0"/>
        </a:xfrm>
      </p:grpSpPr>
      <p:sp>
        <p:nvSpPr>
          <p:cNvPr id="41" name="Shape 41"/>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2" name="Shape 42"/>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3" name="BIOZONE_logo_horizontal_on_Black.png"/>
          <p:cNvPicPr>
            <a:picLocks noChangeAspect="1"/>
          </p:cNvPicPr>
          <p:nvPr/>
        </p:nvPicPr>
        <p:blipFill>
          <a:blip r:embed="rId2">
            <a:extLst/>
          </a:blip>
          <a:stretch>
            <a:fillRect/>
          </a:stretch>
        </p:blipFill>
        <p:spPr>
          <a:xfrm>
            <a:off x="1231900" y="8610081"/>
            <a:ext cx="3632200" cy="815393"/>
          </a:xfrm>
          <a:prstGeom prst="rect">
            <a:avLst/>
          </a:prstGeom>
          <a:ln w="12700">
            <a:miter lim="400000"/>
          </a:ln>
        </p:spPr>
      </p:pic>
      <p:sp>
        <p:nvSpPr>
          <p:cNvPr id="44" name="Shape 44"/>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45" name="Shape 45"/>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3"/>
              </a:rPr>
              <a:t>http://www.biozone.com.au</a:t>
            </a:r>
          </a:p>
        </p:txBody>
      </p:sp>
      <p:sp>
        <p:nvSpPr>
          <p:cNvPr id="46" name="Shape 46"/>
          <p:cNvSpPr>
            <a:spLocks noGrp="1"/>
          </p:cNvSpPr>
          <p:nvPr>
            <p:ph type="title"/>
          </p:nvPr>
        </p:nvSpPr>
        <p:spPr>
          <a:xfrm>
            <a:off x="719999" y="359999"/>
            <a:ext cx="11912601" cy="1943101"/>
          </a:xfrm>
          <a:prstGeom prst="rect">
            <a:avLst/>
          </a:prstGeom>
        </p:spPr>
        <p:txBody>
          <a:bodyPr lIns="0" tIns="0" rIns="0" bIns="0"/>
          <a:lstStyle>
            <a:lvl1pPr defTabSz="457200">
              <a:tabLst>
                <a:tab pos="952500" algn="l"/>
              </a:tabLst>
            </a:lvl1pPr>
          </a:lstStyle>
          <a:p>
            <a:r>
              <a:t>Title Text</a:t>
            </a:r>
          </a:p>
        </p:txBody>
      </p:sp>
      <p:sp>
        <p:nvSpPr>
          <p:cNvPr id="47" name="Shape 47"/>
          <p:cNvSpPr>
            <a:spLocks noGrp="1"/>
          </p:cNvSpPr>
          <p:nvPr>
            <p:ph type="body" idx="1"/>
          </p:nvPr>
        </p:nvSpPr>
        <p:spPr>
          <a:xfrm>
            <a:off x="728300" y="1800000"/>
            <a:ext cx="10566401" cy="6273801"/>
          </a:xfrm>
          <a:prstGeom prst="rect">
            <a:avLst/>
          </a:prstGeom>
        </p:spPr>
        <p:txBody>
          <a:bodyPr numCol="1" spcCol="38100"/>
          <a:lstStyle>
            <a:lvl1pPr marL="381000" indent="-381000" defTabSz="457200">
              <a:lnSpc>
                <a:spcPts val="1900"/>
              </a:lnSpc>
              <a:spcBef>
                <a:spcPts val="2000"/>
              </a:spcBef>
              <a:buClr>
                <a:srgbClr val="FFFFFF"/>
              </a:buClr>
              <a:buSzPct val="200000"/>
              <a:tabLst>
                <a:tab pos="1016000" algn="l"/>
              </a:tabLst>
              <a:defRPr sz="1600" b="0">
                <a:solidFill>
                  <a:srgbClr val="FFFFFF"/>
                </a:solidFill>
              </a:defRPr>
            </a:lvl1pPr>
            <a:lvl2pPr marL="633599" indent="-252000" defTabSz="457200">
              <a:lnSpc>
                <a:spcPts val="1400"/>
              </a:lnSpc>
              <a:spcBef>
                <a:spcPts val="600"/>
              </a:spcBef>
              <a:tabLst>
                <a:tab pos="1485900" algn="l"/>
              </a:tabLst>
              <a:defRPr sz="1200">
                <a:solidFill>
                  <a:srgbClr val="FFFFFF"/>
                </a:solidFill>
              </a:defRPr>
            </a:lvl2pPr>
            <a:lvl3pPr marL="900000" indent="-252000" defTabSz="457200">
              <a:lnSpc>
                <a:spcPts val="1400"/>
              </a:lnSpc>
              <a:spcBef>
                <a:spcPts val="600"/>
              </a:spcBef>
              <a:tabLst>
                <a:tab pos="1638300" algn="l"/>
              </a:tabLst>
              <a:defRPr sz="1200">
                <a:solidFill>
                  <a:srgbClr val="FFFFFF"/>
                </a:solidFill>
              </a:defRPr>
            </a:lvl3pPr>
            <a:lvl4pPr marL="1152000" indent="-252000" defTabSz="457200">
              <a:lnSpc>
                <a:spcPts val="1400"/>
              </a:lnSpc>
              <a:spcBef>
                <a:spcPts val="600"/>
              </a:spcBef>
              <a:buFont typeface="Gill Sans"/>
              <a:tabLst>
                <a:tab pos="2235200" algn="l"/>
              </a:tabLst>
              <a:defRPr sz="1200">
                <a:solidFill>
                  <a:srgbClr val="FFFFFF"/>
                </a:solidFill>
              </a:defRPr>
            </a:lvl4pPr>
            <a:lvl5pPr marL="1403999" indent="-252000" defTabSz="457200">
              <a:lnSpc>
                <a:spcPts val="1400"/>
              </a:lnSpc>
              <a:spcBef>
                <a:spcPts val="600"/>
              </a:spcBef>
              <a:buFont typeface="Gill Sans"/>
              <a:tabLst>
                <a:tab pos="2616200" algn="l"/>
              </a:tabLst>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55" name="Shape 5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6" name="Shape 56"/>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2" name="Shape 2"/>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3" name="Shape 3"/>
          <p:cNvSpPr/>
          <p:nvPr/>
        </p:nvSpPr>
        <p:spPr>
          <a:xfrm>
            <a:off x="1041400" y="317500"/>
            <a:ext cx="10680700" cy="1244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4" name="Shape 4"/>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 name="Shape 5"/>
          <p:cNvSpPr/>
          <p:nvPr/>
        </p:nvSpPr>
        <p:spPr>
          <a:xfrm>
            <a:off x="1041400" y="9169400"/>
            <a:ext cx="5410200"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6" name="Cursor.png"/>
          <p:cNvPicPr>
            <a:picLocks noChangeAspect="1"/>
          </p:cNvPicPr>
          <p:nvPr/>
        </p:nvPicPr>
        <p:blipFill>
          <a:blip r:embed="rId8">
            <a:extLst/>
          </a:blip>
          <a:stretch>
            <a:fillRect/>
          </a:stretch>
        </p:blipFill>
        <p:spPr>
          <a:xfrm>
            <a:off x="7404100" y="9218014"/>
            <a:ext cx="241300" cy="342901"/>
          </a:xfrm>
          <a:prstGeom prst="rect">
            <a:avLst/>
          </a:prstGeom>
          <a:ln w="12700">
            <a:miter lim="400000"/>
          </a:ln>
        </p:spPr>
      </p:pic>
      <p:sp>
        <p:nvSpPr>
          <p:cNvPr id="7" name="Shape 7"/>
          <p:cNvSpPr>
            <a:spLocks noGrp="1"/>
          </p:cNvSpPr>
          <p:nvPr>
            <p:ph type="body" idx="1"/>
          </p:nvPr>
        </p:nvSpPr>
        <p:spPr>
          <a:xfrm>
            <a:off x="1752600" y="2019300"/>
            <a:ext cx="10680700" cy="6731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numCol="2" spcCol="534034"/>
          <a:lstStyle>
            <a:lvl2pPr marL="720000" indent="-360000">
              <a:spcBef>
                <a:spcPts val="500"/>
              </a:spcBef>
              <a:buClrTx/>
              <a:buFontTx/>
              <a:buChar char="•"/>
              <a:defRPr sz="2200" b="0"/>
            </a:lvl2pPr>
            <a:lvl3pPr marL="1079999" indent="-360000">
              <a:spcBef>
                <a:spcPts val="500"/>
              </a:spcBef>
              <a:buClrTx/>
              <a:buSzPct val="100000"/>
              <a:buFontTx/>
              <a:buChar char="•"/>
              <a:defRPr sz="2200" b="0"/>
            </a:lvl3pPr>
            <a:lvl4pPr marL="1440000" indent="-360000">
              <a:spcBef>
                <a:spcPts val="500"/>
              </a:spcBef>
              <a:buClrTx/>
              <a:buSzPct val="100000"/>
              <a:buFontTx/>
              <a:buChar char="•"/>
              <a:defRPr sz="2200" b="0"/>
            </a:lvl4pPr>
            <a:lvl5pPr marL="1799999" indent="-360000">
              <a:spcBef>
                <a:spcPts val="500"/>
              </a:spcBef>
              <a:buClrTx/>
              <a:buSzPct val="100000"/>
              <a:buFontTx/>
              <a:buChar char="•"/>
              <a:defRPr sz="2200" b="0"/>
            </a:lvl5pPr>
          </a:lstStyle>
          <a:p>
            <a:r>
              <a:t>Body Level One</a:t>
            </a:r>
          </a:p>
          <a:p>
            <a:pPr lvl="1"/>
            <a:r>
              <a:t>Body Level Two</a:t>
            </a:r>
          </a:p>
          <a:p>
            <a:pPr lvl="2"/>
            <a:r>
              <a:t>Body Level Three</a:t>
            </a:r>
          </a:p>
          <a:p>
            <a:pPr lvl="3"/>
            <a:r>
              <a:t>Body Level Four</a:t>
            </a:r>
          </a:p>
          <a:p>
            <a:pPr lvl="4"/>
            <a:r>
              <a:t>Body Level Five</a:t>
            </a:r>
          </a:p>
        </p:txBody>
      </p:sp>
      <p:sp>
        <p:nvSpPr>
          <p:cNvPr id="8" name="Shape 8"/>
          <p:cNvSpPr>
            <a:spLocks noGrp="1"/>
          </p:cNvSpPr>
          <p:nvPr>
            <p:ph type="title"/>
          </p:nvPr>
        </p:nvSpPr>
        <p:spPr>
          <a:xfrm>
            <a:off x="889000" y="1790700"/>
            <a:ext cx="10464800" cy="11811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p>
            <a:r>
              <a:t>Title Text</a:t>
            </a:r>
          </a:p>
        </p:txBody>
      </p:sp>
      <p:sp>
        <p:nvSpPr>
          <p:cNvPr id="9" name="Shape 9"/>
          <p:cNvSpPr>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spAutoFit/>
          </a:bodyPr>
          <a:lstStyle>
            <a:lvl1pPr marL="0" algn="ctr" defTabSz="584200">
              <a:tabLst/>
              <a:defRPr>
                <a:solidFill>
                  <a:srgbClr val="000000"/>
                </a:solidFill>
                <a:latin typeface="Gill Sans"/>
                <a:ea typeface="Gill Sans"/>
                <a:cs typeface="Gill Sans"/>
                <a:sym typeface="Gill Sans"/>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1pPr>
      <a:lvl2pPr marL="0" marR="0" indent="228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2pPr>
      <a:lvl3pPr marL="0" marR="0" indent="457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3pPr>
      <a:lvl4pPr marL="0" marR="0" indent="685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4pPr>
      <a:lvl5pPr marL="0" marR="0" indent="9144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5pPr>
      <a:lvl6pPr marL="0" marR="0" indent="11430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6pPr>
      <a:lvl7pPr marL="0" marR="0" indent="1371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7pPr>
      <a:lvl8pPr marL="0" marR="0" indent="1600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8pPr>
      <a:lvl9pPr marL="0" marR="0" indent="1828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9pPr>
    </p:titleStyle>
    <p:bodyStyle>
      <a:lvl1pPr marL="360000" marR="0" indent="-360000"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1pPr>
      <a:lvl2pPr marL="75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2pPr>
      <a:lvl3pPr marL="11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3pPr>
      <a:lvl4pPr marL="14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4pPr>
      <a:lvl5pPr marL="183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5pPr>
      <a:lvl6pPr marL="219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6pPr>
      <a:lvl7pPr marL="2552726"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7pPr>
      <a:lvl8pPr marL="29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8pPr>
      <a:lvl9pPr marL="32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4.xml"/><Relationship Id="rId7" Type="http://schemas.openxmlformats.org/officeDocument/2006/relationships/slide" Target="slide38.xml"/><Relationship Id="rId12" Type="http://schemas.openxmlformats.org/officeDocument/2006/relationships/slide" Target="slide4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33.xml"/><Relationship Id="rId11" Type="http://schemas.openxmlformats.org/officeDocument/2006/relationships/slide" Target="slide42.xml"/><Relationship Id="rId5" Type="http://schemas.openxmlformats.org/officeDocument/2006/relationships/slide" Target="slide8.xml"/><Relationship Id="rId10" Type="http://schemas.openxmlformats.org/officeDocument/2006/relationships/slide" Target="slide46.xml"/><Relationship Id="rId4" Type="http://schemas.openxmlformats.org/officeDocument/2006/relationships/slide" Target="slide6.xml"/><Relationship Id="rId9" Type="http://schemas.openxmlformats.org/officeDocument/2006/relationships/slide" Target="slide5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68.png"/><Relationship Id="rId2"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image" Target="../media/image80.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82.png"/><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3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 Id="rId4" Type="http://schemas.openxmlformats.org/officeDocument/2006/relationships/image" Target="../media/image98.png"/></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xml"/><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 Id="rId4" Type="http://schemas.openxmlformats.org/officeDocument/2006/relationships/image" Target="../media/image104.png"/></Relationships>
</file>

<file path=ppt/slides/_rels/slide3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3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xml"/><Relationship Id="rId4" Type="http://schemas.openxmlformats.org/officeDocument/2006/relationships/image" Target="../media/image107.png"/></Relationships>
</file>

<file path=ppt/slides/_rels/slide3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image" Target="../media/image109.png"/><Relationship Id="rId4" Type="http://schemas.openxmlformats.org/officeDocument/2006/relationships/image" Target="../media/image108.png"/></Relationships>
</file>

<file path=ppt/slides/_rels/slide4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image" Target="../media/image121.png"/><Relationship Id="rId1" Type="http://schemas.openxmlformats.org/officeDocument/2006/relationships/slideLayout" Target="../slideLayouts/slideLayout1.xml"/><Relationship Id="rId6" Type="http://schemas.openxmlformats.org/officeDocument/2006/relationships/image" Target="../media/image125.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s>
</file>

<file path=ppt/slides/_rels/slide47.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body" sz="half" idx="1"/>
          </p:nvPr>
        </p:nvSpPr>
        <p:spPr>
          <a:xfrm>
            <a:off x="1028700" y="2019300"/>
            <a:ext cx="4984850" cy="5867400"/>
          </a:xfrm>
          <a:prstGeom prst="rect">
            <a:avLst/>
          </a:prstGeom>
        </p:spPr>
        <p:txBody>
          <a:bodyPr numCol="1" spcCol="38100"/>
          <a:lstStyle/>
          <a:p>
            <a:pPr marL="392727" indent="-392727"/>
            <a:r>
              <a:rPr>
                <a:hlinkClick r:id="rId2" action="ppaction://hlinksldjump"/>
              </a:rPr>
              <a:t>Variation</a:t>
            </a:r>
          </a:p>
          <a:p>
            <a:pPr marL="720045" lvl="1"/>
            <a:r>
              <a:rPr>
                <a:hlinkClick r:id="rId3" action="ppaction://hlinksldjump"/>
              </a:rPr>
              <a:t>Sources of variation</a:t>
            </a:r>
          </a:p>
          <a:p>
            <a:pPr marL="720045" lvl="1"/>
            <a:r>
              <a:rPr>
                <a:hlinkClick r:id="rId4" action="ppaction://hlinksldjump"/>
              </a:rPr>
              <a:t>Phenotypes</a:t>
            </a:r>
          </a:p>
          <a:p>
            <a:pPr marL="720045" lvl="1"/>
            <a:r>
              <a:rPr>
                <a:hlinkClick r:id="rId5" action="ppaction://hlinksldjump"/>
              </a:rPr>
              <a:t>Mutations</a:t>
            </a:r>
          </a:p>
          <a:p>
            <a:pPr marL="720045" lvl="1"/>
            <a:r>
              <a:rPr>
                <a:hlinkClick r:id="rId6" action="ppaction://hlinksldjump"/>
              </a:rPr>
              <a:t>Non-disjunction</a:t>
            </a:r>
          </a:p>
          <a:p>
            <a:pPr marL="720045" lvl="1"/>
            <a:r>
              <a:rPr>
                <a:hlinkClick r:id="rId7" action="ppaction://hlinksldjump"/>
              </a:rPr>
              <a:t>Aneuploidy</a:t>
            </a:r>
          </a:p>
          <a:p>
            <a:pPr marL="392727" indent="-392727"/>
            <a:r>
              <a:rPr>
                <a:hlinkClick r:id="rId8" action="ppaction://hlinksldjump"/>
              </a:rPr>
              <a:t>Mendelian Genetics</a:t>
            </a:r>
          </a:p>
          <a:p>
            <a:pPr marL="720045" lvl="1"/>
            <a:r>
              <a:rPr>
                <a:hlinkClick r:id="rId8" action="ppaction://hlinksldjump"/>
              </a:rPr>
              <a:t>Gregor Mendel</a:t>
            </a:r>
          </a:p>
          <a:p>
            <a:pPr marL="720045" lvl="1"/>
            <a:r>
              <a:rPr>
                <a:hlinkClick r:id="rId9" action="ppaction://hlinksldjump"/>
              </a:rPr>
              <a:t>Mendel’s pea experiments</a:t>
            </a:r>
          </a:p>
          <a:p>
            <a:pPr marL="720045" lvl="1"/>
            <a:r>
              <a:rPr>
                <a:hlinkClick r:id="rId10" action="ppaction://hlinksldjump"/>
              </a:rPr>
              <a:t>Mendel’s laws</a:t>
            </a:r>
          </a:p>
          <a:p>
            <a:pPr marL="720045" lvl="1"/>
            <a:r>
              <a:rPr>
                <a:hlinkClick r:id="rId11" action="ppaction://hlinksldjump"/>
              </a:rPr>
              <a:t>Alleles</a:t>
            </a:r>
          </a:p>
          <a:p>
            <a:pPr marL="720045" lvl="1"/>
            <a:r>
              <a:rPr>
                <a:hlinkClick r:id="" action="ppaction://noaction"/>
              </a:rPr>
              <a:t>Monohybrid crosses</a:t>
            </a:r>
          </a:p>
          <a:p>
            <a:pPr marL="720045" lvl="1"/>
            <a:r>
              <a:rPr>
                <a:hlinkClick r:id="" action="ppaction://noaction"/>
              </a:rPr>
              <a:t>Dihybrid crosses</a:t>
            </a:r>
          </a:p>
        </p:txBody>
      </p:sp>
      <p:sp>
        <p:nvSpPr>
          <p:cNvPr id="85" name="Shape 85"/>
          <p:cNvSpPr/>
          <p:nvPr/>
        </p:nvSpPr>
        <p:spPr>
          <a:xfrm>
            <a:off x="6807200" y="2019300"/>
            <a:ext cx="4984850" cy="58674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92727" indent="-392727" defTabSz="584200">
              <a:spcBef>
                <a:spcPts val="2500"/>
              </a:spcBef>
              <a:buClr>
                <a:srgbClr val="006994"/>
              </a:buClr>
              <a:buSzPct val="150000"/>
              <a:buFont typeface="Lucida Grande"/>
              <a:buChar char="‣"/>
              <a:tabLst/>
              <a:defRPr sz="2400" b="1">
                <a:solidFill>
                  <a:srgbClr val="000000"/>
                </a:solidFill>
              </a:defRPr>
            </a:pPr>
            <a:r>
              <a:rPr>
                <a:hlinkClick r:id="" action="ppaction://noaction"/>
              </a:rPr>
              <a:t>Non-Mendelian genetics</a:t>
            </a:r>
          </a:p>
          <a:p>
            <a:pPr marL="720045" lvl="1" indent="-360000" defTabSz="584200">
              <a:spcBef>
                <a:spcPts val="500"/>
              </a:spcBef>
              <a:buSzPct val="150000"/>
              <a:buChar char="•"/>
              <a:tabLst/>
              <a:defRPr sz="2200">
                <a:solidFill>
                  <a:srgbClr val="000000"/>
                </a:solidFill>
              </a:defRPr>
            </a:pPr>
            <a:r>
              <a:rPr>
                <a:hlinkClick r:id="" action="ppaction://noaction"/>
              </a:rPr>
              <a:t>Linked genes</a:t>
            </a:r>
          </a:p>
          <a:p>
            <a:pPr marL="720045" lvl="1" indent="-360000" defTabSz="584200">
              <a:spcBef>
                <a:spcPts val="500"/>
              </a:spcBef>
              <a:buSzPct val="150000"/>
              <a:buChar char="•"/>
              <a:tabLst/>
              <a:defRPr sz="2200">
                <a:solidFill>
                  <a:srgbClr val="000000"/>
                </a:solidFill>
              </a:defRPr>
            </a:pPr>
            <a:r>
              <a:rPr>
                <a:hlinkClick r:id="rId8" action="ppaction://hlinksldjump"/>
              </a:rPr>
              <a:t>Mitochondrial DNA</a:t>
            </a:r>
          </a:p>
          <a:p>
            <a:pPr marL="720045" lvl="1" indent="-360000" defTabSz="584200">
              <a:spcBef>
                <a:spcPts val="500"/>
              </a:spcBef>
              <a:buSzPct val="150000"/>
              <a:buChar char="•"/>
              <a:tabLst/>
              <a:defRPr sz="2200">
                <a:solidFill>
                  <a:srgbClr val="000000"/>
                </a:solidFill>
              </a:defRPr>
            </a:pPr>
            <a:r>
              <a:rPr>
                <a:hlinkClick r:id="" action="ppaction://noaction"/>
              </a:rPr>
              <a:t>DNA methylation</a:t>
            </a:r>
          </a:p>
          <a:p>
            <a:pPr marL="392727" indent="-392727" defTabSz="584200">
              <a:spcBef>
                <a:spcPts val="2500"/>
              </a:spcBef>
              <a:buClr>
                <a:srgbClr val="006994"/>
              </a:buClr>
              <a:buSzPct val="150000"/>
              <a:buFont typeface="Lucida Grande"/>
              <a:buChar char="‣"/>
              <a:tabLst/>
              <a:defRPr sz="2400" b="1">
                <a:solidFill>
                  <a:srgbClr val="000000"/>
                </a:solidFill>
              </a:defRPr>
            </a:pPr>
            <a:r>
              <a:rPr>
                <a:hlinkClick r:id="" action="ppaction://noaction"/>
              </a:rPr>
              <a:t>Sex chromosomes</a:t>
            </a:r>
          </a:p>
          <a:p>
            <a:pPr marL="720045" lvl="1" indent="-360000" defTabSz="584200">
              <a:spcBef>
                <a:spcPts val="500"/>
              </a:spcBef>
              <a:buSzPct val="150000"/>
              <a:buChar char="•"/>
              <a:tabLst/>
              <a:defRPr sz="2200">
                <a:solidFill>
                  <a:srgbClr val="000000"/>
                </a:solidFill>
              </a:defRPr>
            </a:pPr>
            <a:r>
              <a:rPr>
                <a:hlinkClick r:id="" action="ppaction://noaction"/>
              </a:rPr>
              <a:t>Sex determination</a:t>
            </a:r>
          </a:p>
          <a:p>
            <a:pPr marL="720045" lvl="1" indent="-360000" defTabSz="584200">
              <a:spcBef>
                <a:spcPts val="500"/>
              </a:spcBef>
              <a:buSzPct val="150000"/>
              <a:buChar char="•"/>
              <a:tabLst/>
              <a:defRPr sz="2200">
                <a:solidFill>
                  <a:srgbClr val="000000"/>
                </a:solidFill>
              </a:defRPr>
            </a:pPr>
            <a:r>
              <a:rPr>
                <a:hlinkClick r:id="rId12" action="ppaction://hlinksldjump"/>
              </a:rPr>
              <a:t>Sex linkage</a:t>
            </a:r>
          </a:p>
          <a:p>
            <a:pPr marL="392727" indent="-392727" defTabSz="584200">
              <a:spcBef>
                <a:spcPts val="2500"/>
              </a:spcBef>
              <a:buClr>
                <a:srgbClr val="006994"/>
              </a:buClr>
              <a:buSzPct val="150000"/>
              <a:buFont typeface="Lucida Grande"/>
              <a:buChar char="‣"/>
              <a:tabLst/>
              <a:defRPr sz="2400" b="1">
                <a:solidFill>
                  <a:srgbClr val="000000"/>
                </a:solidFill>
              </a:defRPr>
            </a:pPr>
            <a:r>
              <a:rPr>
                <a:hlinkClick r:id="" action="ppaction://noaction"/>
              </a:rPr>
              <a:t>Polygeny</a:t>
            </a:r>
          </a:p>
          <a:p>
            <a:pPr marL="392727" indent="-392727" defTabSz="584200">
              <a:spcBef>
                <a:spcPts val="2500"/>
              </a:spcBef>
              <a:buClr>
                <a:srgbClr val="006994"/>
              </a:buClr>
              <a:buSzPct val="150000"/>
              <a:buFont typeface="Lucida Grande"/>
              <a:buChar char="‣"/>
              <a:tabLst/>
              <a:defRPr sz="2400" b="1">
                <a:solidFill>
                  <a:srgbClr val="000000"/>
                </a:solidFill>
              </a:defRPr>
            </a:pPr>
            <a:r>
              <a:rPr>
                <a:hlinkClick r:id="" action="ppaction://noaction"/>
              </a:rPr>
              <a:t>Pedigree analysis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87"/>
          <p:cNvSpPr>
            <a:spLocks noGrp="1"/>
          </p:cNvSpPr>
          <p:nvPr>
            <p:ph type="title"/>
          </p:nvPr>
        </p:nvSpPr>
        <p:spPr>
          <a:prstGeom prst="rect">
            <a:avLst/>
          </a:prstGeom>
        </p:spPr>
        <p:txBody>
          <a:bodyPr/>
          <a:lstStyle>
            <a:lvl1pPr>
              <a:tabLst>
                <a:tab pos="952500" algn="l"/>
              </a:tabLst>
            </a:lvl1pPr>
          </a:lstStyle>
          <a:p>
            <a:r>
              <a:t>Sources of Variation</a:t>
            </a:r>
          </a:p>
        </p:txBody>
      </p:sp>
      <p:sp>
        <p:nvSpPr>
          <p:cNvPr id="88" name="Shape 88"/>
          <p:cNvSpPr>
            <a:spLocks noGrp="1"/>
          </p:cNvSpPr>
          <p:nvPr>
            <p:ph type="body" idx="1"/>
          </p:nvPr>
        </p:nvSpPr>
        <p:spPr>
          <a:xfrm>
            <a:off x="419100" y="1549400"/>
            <a:ext cx="7028012" cy="8015635"/>
          </a:xfrm>
          <a:prstGeom prst="rect">
            <a:avLst/>
          </a:prstGeom>
        </p:spPr>
        <p:txBody>
          <a:bodyPr/>
          <a:lstStyle/>
          <a:p>
            <a:pPr>
              <a:tabLst>
                <a:tab pos="1016000" algn="l"/>
              </a:tabLst>
            </a:pPr>
            <a:r>
              <a:t>Variation refers to the diversity of genetic and phenotypic traits within and between populations.</a:t>
            </a:r>
          </a:p>
          <a:p>
            <a:pPr lvl="1">
              <a:tabLst>
                <a:tab pos="1485900" algn="l"/>
              </a:tabLst>
            </a:pPr>
            <a:r>
              <a:t>Variation is a feature of sexually reproducing populations and it is the essential raw material for selection. Variation gives species greater opportunity to adapt to and survive in a dynamic environment. </a:t>
            </a:r>
          </a:p>
          <a:p>
            <a:pPr lvl="1">
              <a:tabLst>
                <a:tab pos="1485900" algn="l"/>
              </a:tabLst>
            </a:pPr>
            <a:r>
              <a:t>Populations of highly variable species will include individuals with different fitness in the prevailing environment. It is this variability that offers the chance of reproductive advantage if environments change. </a:t>
            </a:r>
          </a:p>
          <a:p>
            <a:pPr lvl="1">
              <a:tabLst>
                <a:tab pos="1485900" algn="l"/>
              </a:tabLst>
            </a:pPr>
            <a:r>
              <a:t>Species with low variability (such as populations of clones) can be highly successful in stable conditions,</a:t>
            </a:r>
            <a:br/>
            <a:r>
              <a:t>but will reproduce sexually when environments become unfavourable for just this reason. </a:t>
            </a:r>
          </a:p>
          <a:p>
            <a:pPr lvl="1">
              <a:tabLst>
                <a:tab pos="1485900" algn="l"/>
              </a:tabLst>
            </a:pPr>
            <a:r>
              <a:t>Phenotype is influenced by both genotype and the environment. Even organisms of fixed genotype may differ in how much their phenotype can change in response to environment (a phenomenon known as phenotypic plasticity).</a:t>
            </a:r>
          </a:p>
        </p:txBody>
      </p:sp>
      <p:pic>
        <p:nvPicPr>
          <p:cNvPr id="89" name="Aphids AT 3024350.jpg"/>
          <p:cNvPicPr>
            <a:picLocks noChangeAspect="1"/>
          </p:cNvPicPr>
          <p:nvPr/>
        </p:nvPicPr>
        <p:blipFill>
          <a:blip r:embed="rId2">
            <a:extLst/>
          </a:blip>
          <a:srcRect b="12593"/>
          <a:stretch>
            <a:fillRect/>
          </a:stretch>
        </p:blipFill>
        <p:spPr>
          <a:xfrm>
            <a:off x="9633339" y="123676"/>
            <a:ext cx="3267270" cy="4395838"/>
          </a:xfrm>
          <a:prstGeom prst="rect">
            <a:avLst/>
          </a:prstGeom>
          <a:ln w="12700">
            <a:miter lim="400000"/>
          </a:ln>
        </p:spPr>
      </p:pic>
      <p:pic>
        <p:nvPicPr>
          <p:cNvPr id="90" name="Mesembryanthemum crystallinum ice plant cc 2.5 Yummifruitbat.jpg"/>
          <p:cNvPicPr>
            <a:picLocks noChangeAspect="1"/>
          </p:cNvPicPr>
          <p:nvPr/>
        </p:nvPicPr>
        <p:blipFill>
          <a:blip r:embed="rId3">
            <a:extLst/>
          </a:blip>
          <a:stretch>
            <a:fillRect/>
          </a:stretch>
        </p:blipFill>
        <p:spPr>
          <a:xfrm>
            <a:off x="7607300" y="4999589"/>
            <a:ext cx="5322682" cy="3992011"/>
          </a:xfrm>
          <a:prstGeom prst="rect">
            <a:avLst/>
          </a:prstGeom>
          <a:ln w="12700">
            <a:miter lim="400000"/>
          </a:ln>
        </p:spPr>
      </p:pic>
      <p:sp>
        <p:nvSpPr>
          <p:cNvPr id="91" name="Shape 91"/>
          <p:cNvSpPr/>
          <p:nvPr/>
        </p:nvSpPr>
        <p:spPr>
          <a:xfrm>
            <a:off x="9613031" y="4549923"/>
            <a:ext cx="3307690" cy="32355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defRPr sz="1600"/>
            </a:lvl1pPr>
          </a:lstStyle>
          <a:p>
            <a:r>
              <a:t>These aphids are clones</a:t>
            </a:r>
          </a:p>
        </p:txBody>
      </p:sp>
      <p:sp>
        <p:nvSpPr>
          <p:cNvPr id="92" name="Shape 92"/>
          <p:cNvSpPr/>
          <p:nvPr/>
        </p:nvSpPr>
        <p:spPr>
          <a:xfrm>
            <a:off x="7607300" y="9079612"/>
            <a:ext cx="5322682" cy="55215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ctr">
              <a:tabLst>
                <a:tab pos="520700" algn="l"/>
              </a:tabLst>
              <a:defRPr sz="1600"/>
            </a:pPr>
            <a:r>
              <a:rPr i="1"/>
              <a:t>Mesembryanthemum</a:t>
            </a:r>
            <a:r>
              <a:t> (ice plants) show phenotypic plasticity nn their use of water</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8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8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1"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title"/>
          </p:nvPr>
        </p:nvSpPr>
        <p:spPr>
          <a:prstGeom prst="rect">
            <a:avLst/>
          </a:prstGeom>
        </p:spPr>
        <p:txBody>
          <a:bodyPr/>
          <a:lstStyle>
            <a:lvl1pPr>
              <a:tabLst>
                <a:tab pos="952500" algn="l"/>
              </a:tabLst>
            </a:lvl1pPr>
          </a:lstStyle>
          <a:p>
            <a:r>
              <a:t>Sources of Variation</a:t>
            </a:r>
          </a:p>
        </p:txBody>
      </p:sp>
      <p:grpSp>
        <p:nvGrpSpPr>
          <p:cNvPr id="97" name="Group 97"/>
          <p:cNvGrpSpPr/>
          <p:nvPr/>
        </p:nvGrpSpPr>
        <p:grpSpPr>
          <a:xfrm>
            <a:off x="486370" y="1317029"/>
            <a:ext cx="5529313" cy="2237533"/>
            <a:chOff x="0" y="0"/>
            <a:chExt cx="5529312" cy="2237531"/>
          </a:xfrm>
        </p:grpSpPr>
        <p:sp>
          <p:nvSpPr>
            <p:cNvPr id="95" name="Shape 95"/>
            <p:cNvSpPr/>
            <p:nvPr/>
          </p:nvSpPr>
          <p:spPr>
            <a:xfrm>
              <a:off x="0" y="0"/>
              <a:ext cx="5529313" cy="2237532"/>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6" name="Shape 96"/>
            <p:cNvSpPr/>
            <p:nvPr/>
          </p:nvSpPr>
          <p:spPr>
            <a:xfrm>
              <a:off x="37014" y="58309"/>
              <a:ext cx="5455284" cy="19991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p>
              <a:pPr algn="ctr">
                <a:tabLst>
                  <a:tab pos="520700" algn="l"/>
                </a:tabLst>
                <a:defRPr sz="2100" b="1"/>
              </a:pPr>
              <a:r>
                <a:t>Mutations</a:t>
              </a:r>
            </a:p>
            <a:p>
              <a:pPr>
                <a:tabLst>
                  <a:tab pos="520700" algn="l"/>
                </a:tabLst>
                <a:defRPr b="1"/>
              </a:pPr>
              <a:r>
                <a:t>gene mutations, chromosome mutations</a:t>
              </a:r>
            </a:p>
            <a:p>
              <a:pPr>
                <a:tabLst>
                  <a:tab pos="520700" algn="l"/>
                </a:tabLst>
              </a:pPr>
              <a:r>
                <a:t>Mutations are the source of all new alleles. Existing genes are modified by base substitutions and deletions, causing the formation of new alleles. Silent mutations may escape selection pressure until conditions change.</a:t>
              </a:r>
            </a:p>
          </p:txBody>
        </p:sp>
      </p:grpSp>
      <p:grpSp>
        <p:nvGrpSpPr>
          <p:cNvPr id="101" name="Group 101"/>
          <p:cNvGrpSpPr/>
          <p:nvPr/>
        </p:nvGrpSpPr>
        <p:grpSpPr>
          <a:xfrm>
            <a:off x="6019799" y="1317029"/>
            <a:ext cx="5973318" cy="2259460"/>
            <a:chOff x="0" y="0"/>
            <a:chExt cx="5973316" cy="2259458"/>
          </a:xfrm>
        </p:grpSpPr>
        <p:sp>
          <p:nvSpPr>
            <p:cNvPr id="98" name="Shape 98"/>
            <p:cNvSpPr/>
            <p:nvPr/>
          </p:nvSpPr>
          <p:spPr>
            <a:xfrm>
              <a:off x="1934170" y="0"/>
              <a:ext cx="4039147" cy="2259459"/>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9" name="Shape 99"/>
            <p:cNvSpPr/>
            <p:nvPr/>
          </p:nvSpPr>
          <p:spPr>
            <a:xfrm>
              <a:off x="2069231" y="130168"/>
              <a:ext cx="3720246" cy="19991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p>
              <a:pPr algn="ctr">
                <a:tabLst>
                  <a:tab pos="520700" algn="l"/>
                </a:tabLst>
                <a:defRPr sz="2100" b="1"/>
              </a:pPr>
              <a:r>
                <a:t>Sexual reproduction</a:t>
              </a:r>
            </a:p>
            <a:p>
              <a:pPr algn="ctr">
                <a:tabLst>
                  <a:tab pos="520700" algn="l"/>
                </a:tabLst>
                <a:defRPr b="1"/>
              </a:pPr>
              <a:r>
                <a:t>independent assortment, crossing over and recombination, mate selection</a:t>
              </a:r>
            </a:p>
            <a:p>
              <a:pPr>
                <a:tabLst>
                  <a:tab pos="520700" algn="l"/>
                </a:tabLst>
              </a:pPr>
              <a:r>
                <a:t>Sexual reproduction rearranges and reshuffles the genetic material into new combinations.</a:t>
              </a:r>
            </a:p>
          </p:txBody>
        </p:sp>
        <p:sp>
          <p:nvSpPr>
            <p:cNvPr id="100" name="Shape 100"/>
            <p:cNvSpPr/>
            <p:nvPr/>
          </p:nvSpPr>
          <p:spPr>
            <a:xfrm>
              <a:off x="0" y="932719"/>
              <a:ext cx="1783063" cy="1"/>
            </a:xfrm>
            <a:prstGeom prst="line">
              <a:avLst/>
            </a:prstGeom>
            <a:noFill/>
            <a:ln w="114300" cap="flat">
              <a:solidFill>
                <a:srgbClr val="006994"/>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05" name="Group 105"/>
          <p:cNvGrpSpPr/>
          <p:nvPr/>
        </p:nvGrpSpPr>
        <p:grpSpPr>
          <a:xfrm>
            <a:off x="519831" y="3704629"/>
            <a:ext cx="7412168" cy="2773463"/>
            <a:chOff x="0" y="0"/>
            <a:chExt cx="7412166" cy="2773461"/>
          </a:xfrm>
        </p:grpSpPr>
        <p:sp>
          <p:nvSpPr>
            <p:cNvPr id="102" name="Shape 102"/>
            <p:cNvSpPr/>
            <p:nvPr/>
          </p:nvSpPr>
          <p:spPr>
            <a:xfrm>
              <a:off x="4638" y="0"/>
              <a:ext cx="5486847" cy="2773462"/>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03" name="Shape 103"/>
            <p:cNvSpPr/>
            <p:nvPr/>
          </p:nvSpPr>
          <p:spPr>
            <a:xfrm>
              <a:off x="0" y="109109"/>
              <a:ext cx="5353137" cy="25325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p>
              <a:pPr algn="ctr">
                <a:tabLst>
                  <a:tab pos="520700" algn="l"/>
                </a:tabLst>
                <a:defRPr sz="2100" b="1"/>
              </a:pPr>
              <a:r>
                <a:t>Phenotype</a:t>
              </a:r>
            </a:p>
            <a:p>
              <a:pPr>
                <a:tabLst>
                  <a:tab pos="520700" algn="l"/>
                </a:tabLst>
              </a:pPr>
              <a:r>
                <a:t>An individual’s phenotype is the result of the interaction of genetic and environmental factors during its lifetime (including during development). The genetic instructions for creating the individual may be modified by the internal and external environment both during and after development. Phenotypic plasticity in response to environment can be adaptive if it increases fitness.</a:t>
              </a:r>
            </a:p>
          </p:txBody>
        </p:sp>
        <p:sp>
          <p:nvSpPr>
            <p:cNvPr id="104" name="Shape 104"/>
            <p:cNvSpPr/>
            <p:nvPr/>
          </p:nvSpPr>
          <p:spPr>
            <a:xfrm flipH="1" flipV="1">
              <a:off x="5660628" y="1652921"/>
              <a:ext cx="1751539" cy="1"/>
            </a:xfrm>
            <a:prstGeom prst="line">
              <a:avLst/>
            </a:prstGeom>
            <a:noFill/>
            <a:ln w="114300" cap="flat">
              <a:solidFill>
                <a:srgbClr val="006994"/>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09" name="Group 109"/>
          <p:cNvGrpSpPr/>
          <p:nvPr/>
        </p:nvGrpSpPr>
        <p:grpSpPr>
          <a:xfrm>
            <a:off x="7953970" y="3574669"/>
            <a:ext cx="4120208" cy="2604262"/>
            <a:chOff x="0" y="0"/>
            <a:chExt cx="4120207" cy="2604261"/>
          </a:xfrm>
        </p:grpSpPr>
        <p:sp>
          <p:nvSpPr>
            <p:cNvPr id="106" name="Shape 106"/>
            <p:cNvSpPr/>
            <p:nvPr/>
          </p:nvSpPr>
          <p:spPr>
            <a:xfrm>
              <a:off x="0" y="1325549"/>
              <a:ext cx="4120208" cy="1199010"/>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07" name="Shape 107"/>
            <p:cNvSpPr/>
            <p:nvPr/>
          </p:nvSpPr>
          <p:spPr>
            <a:xfrm>
              <a:off x="630361" y="1405240"/>
              <a:ext cx="2871181" cy="1199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p>
              <a:pPr algn="ctr">
                <a:tabLst>
                  <a:tab pos="520700" algn="l"/>
                </a:tabLst>
                <a:defRPr sz="2100" b="1"/>
              </a:pPr>
              <a:r>
                <a:t>Genotype</a:t>
              </a:r>
            </a:p>
            <a:p>
              <a:pPr algn="ctr">
                <a:tabLst>
                  <a:tab pos="520700" algn="l"/>
                </a:tabLst>
              </a:pPr>
              <a:r>
                <a:t>Determines the genetic potential of an individual</a:t>
              </a:r>
            </a:p>
          </p:txBody>
        </p:sp>
        <p:sp>
          <p:nvSpPr>
            <p:cNvPr id="108" name="Shape 108"/>
            <p:cNvSpPr/>
            <p:nvPr/>
          </p:nvSpPr>
          <p:spPr>
            <a:xfrm flipH="1">
              <a:off x="2434629" y="0"/>
              <a:ext cx="1" cy="1202476"/>
            </a:xfrm>
            <a:prstGeom prst="line">
              <a:avLst/>
            </a:prstGeom>
            <a:noFill/>
            <a:ln w="114300" cap="flat">
              <a:solidFill>
                <a:srgbClr val="006994"/>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13" name="Group 113"/>
          <p:cNvGrpSpPr/>
          <p:nvPr/>
        </p:nvGrpSpPr>
        <p:grpSpPr>
          <a:xfrm>
            <a:off x="6214831" y="5944723"/>
            <a:ext cx="5868525" cy="3459528"/>
            <a:chOff x="-121600" y="594553"/>
            <a:chExt cx="5868524" cy="3459527"/>
          </a:xfrm>
        </p:grpSpPr>
        <p:sp>
          <p:nvSpPr>
            <p:cNvPr id="110" name="Shape 110"/>
            <p:cNvSpPr/>
            <p:nvPr/>
          </p:nvSpPr>
          <p:spPr>
            <a:xfrm flipH="1" flipV="1">
              <a:off x="-121601" y="594553"/>
              <a:ext cx="2124290" cy="1037827"/>
            </a:xfrm>
            <a:prstGeom prst="line">
              <a:avLst/>
            </a:prstGeom>
            <a:noFill/>
            <a:ln w="114300" cap="flat">
              <a:solidFill>
                <a:srgbClr val="006994"/>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1" name="Shape 111"/>
            <p:cNvSpPr/>
            <p:nvPr/>
          </p:nvSpPr>
          <p:spPr>
            <a:xfrm>
              <a:off x="30038" y="1592959"/>
              <a:ext cx="5716886" cy="2461122"/>
            </a:xfrm>
            <a:prstGeom prst="rect">
              <a:avLst/>
            </a:prstGeom>
            <a:solidFill>
              <a:srgbClr val="FFFFFF"/>
            </a:solidFill>
            <a:ln w="25400" cap="flat">
              <a:solidFill>
                <a:srgbClr val="000000"/>
              </a:solidFill>
              <a:prstDash val="solid"/>
              <a:miter lim="400000"/>
            </a:ln>
            <a:effectLst/>
          </p:spPr>
          <p:txBody>
            <a:bodyPr wrap="square" lIns="50800" tIns="50800" rIns="50800" bIns="508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2" name="Shape 112"/>
            <p:cNvSpPr/>
            <p:nvPr/>
          </p:nvSpPr>
          <p:spPr>
            <a:xfrm>
              <a:off x="0" y="1702692"/>
              <a:ext cx="5695988" cy="230267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p>
              <a:pPr algn="ctr">
                <a:tabLst>
                  <a:tab pos="520700" algn="l"/>
                </a:tabLst>
                <a:defRPr sz="2100" b="1"/>
              </a:pPr>
              <a:r>
                <a:t>Environmental factors</a:t>
              </a:r>
            </a:p>
            <a:p>
              <a:pPr>
                <a:tabLst>
                  <a:tab pos="520700" algn="l"/>
                </a:tabLst>
                <a:defRPr sz="2100"/>
              </a:pPr>
              <a:r>
                <a:rPr sz="1800"/>
                <a:t>The external and internal environments can influence the expression of the genotype. The external environment may include physical factors such as temperature or light intensity, or biotic factors such as competition. The internal environment, e.g presence or absence of hormones or growth factors during development, may also affect genotypic expression.</a:t>
              </a:r>
              <a:r>
                <a:t> </a:t>
              </a:r>
            </a:p>
          </p:txBody>
        </p:sp>
      </p:grpSp>
      <p:pic>
        <p:nvPicPr>
          <p:cNvPr id="114" name="Butterfly 5-clear.png"/>
          <p:cNvPicPr>
            <a:picLocks noChangeAspect="1"/>
          </p:cNvPicPr>
          <p:nvPr/>
        </p:nvPicPr>
        <p:blipFill>
          <a:blip r:embed="rId2">
            <a:extLst/>
          </a:blip>
          <a:stretch>
            <a:fillRect/>
          </a:stretch>
        </p:blipFill>
        <p:spPr>
          <a:xfrm rot="20293412">
            <a:off x="2435459" y="6384603"/>
            <a:ext cx="3580912" cy="3168685"/>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1" animBg="1" advAuto="0"/>
      <p:bldP spid="101" grpId="2" animBg="1" advAuto="0"/>
      <p:bldP spid="105" grpId="4" animBg="1" advAuto="0"/>
      <p:bldP spid="109" grpId="3"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116"/>
          <p:cNvSpPr/>
          <p:nvPr/>
        </p:nvSpPr>
        <p:spPr>
          <a:xfrm>
            <a:off x="8062416" y="1246633"/>
            <a:ext cx="4942384" cy="8720933"/>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7" name="Shape 117"/>
          <p:cNvSpPr>
            <a:spLocks noGrp="1"/>
          </p:cNvSpPr>
          <p:nvPr>
            <p:ph type="title"/>
          </p:nvPr>
        </p:nvSpPr>
        <p:spPr>
          <a:prstGeom prst="rect">
            <a:avLst/>
          </a:prstGeom>
        </p:spPr>
        <p:txBody>
          <a:bodyPr/>
          <a:lstStyle>
            <a:lvl1pPr>
              <a:tabLst>
                <a:tab pos="952500" algn="l"/>
              </a:tabLst>
            </a:lvl1pPr>
          </a:lstStyle>
          <a:p>
            <a:r>
              <a:t>Qualitative and Quantitative</a:t>
            </a:r>
          </a:p>
        </p:txBody>
      </p:sp>
      <p:sp>
        <p:nvSpPr>
          <p:cNvPr id="118" name="Shape 118"/>
          <p:cNvSpPr>
            <a:spLocks noGrp="1"/>
          </p:cNvSpPr>
          <p:nvPr>
            <p:ph type="body" sz="half" idx="1"/>
          </p:nvPr>
        </p:nvSpPr>
        <p:spPr>
          <a:xfrm>
            <a:off x="368300" y="1790700"/>
            <a:ext cx="6351439" cy="7543800"/>
          </a:xfrm>
          <a:prstGeom prst="rect">
            <a:avLst/>
          </a:prstGeom>
        </p:spPr>
        <p:txBody>
          <a:bodyPr/>
          <a:lstStyle/>
          <a:p>
            <a:pPr>
              <a:tabLst>
                <a:tab pos="1016000" algn="l"/>
              </a:tabLst>
            </a:pPr>
            <a:r>
              <a:t>Comb shape in poultry is a </a:t>
            </a:r>
            <a:r>
              <a:rPr b="1">
                <a:solidFill>
                  <a:srgbClr val="006994"/>
                </a:solidFill>
              </a:rPr>
              <a:t>qualitative trait</a:t>
            </a:r>
            <a:r>
              <a:t> and birds have one of four phenotypes depending on which combination of four alleles they inherit.</a:t>
            </a:r>
          </a:p>
          <a:p>
            <a:pPr>
              <a:tabLst>
                <a:tab pos="1016000" algn="l"/>
              </a:tabLst>
            </a:pPr>
            <a:r>
              <a:rPr b="1">
                <a:solidFill>
                  <a:srgbClr val="006994"/>
                </a:solidFill>
              </a:rPr>
              <a:t>Quantitative traits</a:t>
            </a:r>
            <a:r>
              <a:t> are characterised by continuous variation, with individuals falling somewhere on a normal distribution curve of the phenotypic range. </a:t>
            </a:r>
          </a:p>
          <a:p>
            <a:pPr>
              <a:tabLst>
                <a:tab pos="1016000" algn="l"/>
              </a:tabLst>
            </a:pPr>
            <a:r>
              <a:t>Typical examples include skin colour and height in humans grain yield in corn growth in pigs and milk production in cattle. </a:t>
            </a:r>
          </a:p>
          <a:p>
            <a:pPr lvl="1">
              <a:tabLst>
                <a:tab pos="1485900" algn="l"/>
              </a:tabLst>
            </a:pPr>
            <a:r>
              <a:t>Quantitative traits are determined by genes at many loci (polygenic) but most are also influenced by environmental factors. </a:t>
            </a:r>
          </a:p>
        </p:txBody>
      </p:sp>
      <p:grpSp>
        <p:nvGrpSpPr>
          <p:cNvPr id="123" name="Group 123"/>
          <p:cNvGrpSpPr/>
          <p:nvPr/>
        </p:nvGrpSpPr>
        <p:grpSpPr>
          <a:xfrm>
            <a:off x="8153563" y="1487485"/>
            <a:ext cx="4826645" cy="1733576"/>
            <a:chOff x="912355" y="133549"/>
            <a:chExt cx="4826643" cy="1733575"/>
          </a:xfrm>
        </p:grpSpPr>
        <p:pic>
          <p:nvPicPr>
            <p:cNvPr id="119" name="Rose comb clear.png"/>
            <p:cNvPicPr>
              <a:picLocks noChangeAspect="1"/>
            </p:cNvPicPr>
            <p:nvPr/>
          </p:nvPicPr>
          <p:blipFill>
            <a:blip r:embed="rId2">
              <a:extLst/>
            </a:blip>
            <a:stretch>
              <a:fillRect/>
            </a:stretch>
          </p:blipFill>
          <p:spPr>
            <a:xfrm>
              <a:off x="4310389" y="133549"/>
              <a:ext cx="1428611" cy="1617830"/>
            </a:xfrm>
            <a:prstGeom prst="rect">
              <a:avLst/>
            </a:prstGeom>
            <a:ln w="12700" cap="flat">
              <a:noFill/>
              <a:miter lim="400000"/>
            </a:ln>
            <a:effectLst/>
          </p:spPr>
        </p:pic>
        <p:pic>
          <p:nvPicPr>
            <p:cNvPr id="120" name="Walnut comb side clear.png"/>
            <p:cNvPicPr>
              <a:picLocks noChangeAspect="1"/>
            </p:cNvPicPr>
            <p:nvPr/>
          </p:nvPicPr>
          <p:blipFill>
            <a:blip r:embed="rId3">
              <a:extLst/>
            </a:blip>
            <a:stretch>
              <a:fillRect/>
            </a:stretch>
          </p:blipFill>
          <p:spPr>
            <a:xfrm>
              <a:off x="3264265" y="172256"/>
              <a:ext cx="1349077" cy="1694869"/>
            </a:xfrm>
            <a:prstGeom prst="rect">
              <a:avLst/>
            </a:prstGeom>
            <a:ln w="12700" cap="flat">
              <a:noFill/>
              <a:miter lim="400000"/>
            </a:ln>
            <a:effectLst/>
          </p:spPr>
        </p:pic>
        <p:pic>
          <p:nvPicPr>
            <p:cNvPr id="121" name="Pea_Comb_Side clear.png"/>
            <p:cNvPicPr>
              <a:picLocks noChangeAspect="1"/>
            </p:cNvPicPr>
            <p:nvPr/>
          </p:nvPicPr>
          <p:blipFill>
            <a:blip r:embed="rId4">
              <a:extLst/>
            </a:blip>
            <a:stretch>
              <a:fillRect/>
            </a:stretch>
          </p:blipFill>
          <p:spPr>
            <a:xfrm flipH="1">
              <a:off x="1694007" y="228088"/>
              <a:ext cx="2227025" cy="1540791"/>
            </a:xfrm>
            <a:prstGeom prst="rect">
              <a:avLst/>
            </a:prstGeom>
            <a:ln w="12700" cap="flat">
              <a:noFill/>
              <a:miter lim="400000"/>
            </a:ln>
            <a:effectLst/>
          </p:spPr>
        </p:pic>
        <p:pic>
          <p:nvPicPr>
            <p:cNvPr id="122" name="Single comb clear.png"/>
            <p:cNvPicPr>
              <a:picLocks noChangeAspect="1"/>
            </p:cNvPicPr>
            <p:nvPr/>
          </p:nvPicPr>
          <p:blipFill>
            <a:blip r:embed="rId5">
              <a:extLst/>
            </a:blip>
            <a:stretch>
              <a:fillRect/>
            </a:stretch>
          </p:blipFill>
          <p:spPr>
            <a:xfrm>
              <a:off x="912355" y="178275"/>
              <a:ext cx="1612628" cy="1617830"/>
            </a:xfrm>
            <a:prstGeom prst="rect">
              <a:avLst/>
            </a:prstGeom>
            <a:ln w="12700" cap="flat">
              <a:noFill/>
              <a:miter lim="400000"/>
            </a:ln>
            <a:effectLst/>
          </p:spPr>
        </p:pic>
      </p:grpSp>
      <p:pic>
        <p:nvPicPr>
          <p:cNvPr id="124" name="iStock_skin colour group.jpg"/>
          <p:cNvPicPr>
            <a:picLocks noChangeAspect="1"/>
          </p:cNvPicPr>
          <p:nvPr/>
        </p:nvPicPr>
        <p:blipFill>
          <a:blip r:embed="rId6">
            <a:extLst/>
          </a:blip>
          <a:srcRect t="9710" r="513" b="214"/>
          <a:stretch>
            <a:fillRect/>
          </a:stretch>
        </p:blipFill>
        <p:spPr>
          <a:xfrm>
            <a:off x="8090406" y="3693271"/>
            <a:ext cx="4916382" cy="6115860"/>
          </a:xfrm>
          <a:prstGeom prst="rect">
            <a:avLst/>
          </a:prstGeom>
          <a:ln w="25400">
            <a:solidFill>
              <a:srgbClr val="FFFFFF"/>
            </a:solidFill>
            <a:miter lim="400000"/>
          </a:ln>
        </p:spPr>
      </p:pic>
      <p:sp>
        <p:nvSpPr>
          <p:cNvPr id="125" name="Shape 125"/>
          <p:cNvSpPr/>
          <p:nvPr/>
        </p:nvSpPr>
        <p:spPr>
          <a:xfrm>
            <a:off x="8654975" y="3210489"/>
            <a:ext cx="3913325"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Chicken combs are a qualitative trait</a:t>
            </a:r>
          </a:p>
        </p:txBody>
      </p:sp>
      <p:sp>
        <p:nvSpPr>
          <p:cNvPr id="126" name="Shape 126"/>
          <p:cNvSpPr/>
          <p:nvPr/>
        </p:nvSpPr>
        <p:spPr>
          <a:xfrm>
            <a:off x="8921675" y="9395389"/>
            <a:ext cx="3456013"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Skin colour is a quantitative trait</a:t>
            </a:r>
          </a:p>
        </p:txBody>
      </p:sp>
      <p:sp>
        <p:nvSpPr>
          <p:cNvPr id="127" name="Shape 127"/>
          <p:cNvSpPr/>
          <p:nvPr/>
        </p:nvSpPr>
        <p:spPr>
          <a:xfrm>
            <a:off x="8172375" y="9526038"/>
            <a:ext cx="401521"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iStock</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1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1"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p:cNvSpPr>
          <p:nvPr>
            <p:ph type="title"/>
          </p:nvPr>
        </p:nvSpPr>
        <p:spPr>
          <a:prstGeom prst="rect">
            <a:avLst/>
          </a:prstGeom>
        </p:spPr>
        <p:txBody>
          <a:bodyPr/>
          <a:lstStyle>
            <a:lvl1pPr>
              <a:tabLst>
                <a:tab pos="952500" algn="l"/>
              </a:tabLst>
            </a:lvl1pPr>
          </a:lstStyle>
          <a:p>
            <a:r>
              <a:t>Phenotype</a:t>
            </a:r>
          </a:p>
        </p:txBody>
      </p:sp>
      <p:sp>
        <p:nvSpPr>
          <p:cNvPr id="130" name="Shape 130"/>
          <p:cNvSpPr>
            <a:spLocks noGrp="1"/>
          </p:cNvSpPr>
          <p:nvPr>
            <p:ph type="body" sz="half" idx="1"/>
          </p:nvPr>
        </p:nvSpPr>
        <p:spPr>
          <a:xfrm>
            <a:off x="368300" y="1790700"/>
            <a:ext cx="12000756" cy="2628801"/>
          </a:xfrm>
          <a:prstGeom prst="rect">
            <a:avLst/>
          </a:prstGeom>
        </p:spPr>
        <p:txBody>
          <a:bodyPr/>
          <a:lstStyle/>
          <a:p>
            <a:pPr marL="345600" indent="-345600">
              <a:tabLst>
                <a:tab pos="1016000" algn="l"/>
              </a:tabLst>
            </a:pPr>
            <a:r>
              <a:t>The phenotype is a combination of:</a:t>
            </a:r>
          </a:p>
          <a:p>
            <a:pPr marL="680000" lvl="1" indent="-320000">
              <a:tabLst>
                <a:tab pos="1485900" algn="l"/>
              </a:tabLst>
            </a:pPr>
            <a:r>
              <a:t>The genes that are expressed.</a:t>
            </a:r>
          </a:p>
          <a:p>
            <a:pPr marL="680000" lvl="1" indent="-320000">
              <a:tabLst>
                <a:tab pos="1485900" algn="l"/>
              </a:tabLst>
            </a:pPr>
            <a:r>
              <a:t>All the environmental influences from the moment that the egg is fertilised.</a:t>
            </a:r>
          </a:p>
          <a:p>
            <a:pPr marL="345600" indent="-345600">
              <a:tabLst>
                <a:tab pos="1016000" algn="l"/>
              </a:tabLst>
            </a:pPr>
            <a:r>
              <a:t>Environment contributes most obviously to the phenotypic range of characteristics for which there is no rigidly defined phenotype associated with a particular genotype, e.g. skin colour.</a:t>
            </a:r>
          </a:p>
        </p:txBody>
      </p:sp>
      <p:grpSp>
        <p:nvGrpSpPr>
          <p:cNvPr id="142" name="Group 142"/>
          <p:cNvGrpSpPr/>
          <p:nvPr/>
        </p:nvGrpSpPr>
        <p:grpSpPr>
          <a:xfrm>
            <a:off x="-114070" y="4292600"/>
            <a:ext cx="13651911" cy="5722410"/>
            <a:chOff x="0" y="0"/>
            <a:chExt cx="13651909" cy="5722409"/>
          </a:xfrm>
        </p:grpSpPr>
        <p:pic>
          <p:nvPicPr>
            <p:cNvPr id="131" name="Man 4 colour PD.png"/>
            <p:cNvPicPr>
              <a:picLocks noChangeAspect="1"/>
            </p:cNvPicPr>
            <p:nvPr/>
          </p:nvPicPr>
          <p:blipFill>
            <a:blip r:embed="rId2">
              <a:extLst/>
            </a:blip>
            <a:stretch>
              <a:fillRect/>
            </a:stretch>
          </p:blipFill>
          <p:spPr>
            <a:xfrm>
              <a:off x="7649677" y="541468"/>
              <a:ext cx="1324870" cy="4385316"/>
            </a:xfrm>
            <a:prstGeom prst="rect">
              <a:avLst/>
            </a:prstGeom>
            <a:ln w="12700" cap="flat">
              <a:noFill/>
              <a:miter lim="400000"/>
            </a:ln>
            <a:effectLst/>
          </p:spPr>
        </p:pic>
        <p:pic>
          <p:nvPicPr>
            <p:cNvPr id="132" name="Color variation 4.png"/>
            <p:cNvPicPr>
              <a:picLocks noChangeAspect="1"/>
            </p:cNvPicPr>
            <p:nvPr/>
          </p:nvPicPr>
          <p:blipFill>
            <a:blip r:embed="rId3">
              <a:extLst/>
            </a:blip>
            <a:stretch>
              <a:fillRect/>
            </a:stretch>
          </p:blipFill>
          <p:spPr>
            <a:xfrm flipH="1">
              <a:off x="10276374" y="380179"/>
              <a:ext cx="3375536" cy="4798364"/>
            </a:xfrm>
            <a:prstGeom prst="rect">
              <a:avLst/>
            </a:prstGeom>
            <a:ln w="12700" cap="flat">
              <a:noFill/>
              <a:miter lim="400000"/>
            </a:ln>
            <a:effectLst/>
          </p:spPr>
        </p:pic>
        <p:pic>
          <p:nvPicPr>
            <p:cNvPr id="133" name="Woman 3 colour PD.png"/>
            <p:cNvPicPr>
              <a:picLocks noChangeAspect="1"/>
            </p:cNvPicPr>
            <p:nvPr/>
          </p:nvPicPr>
          <p:blipFill>
            <a:blip r:embed="rId4">
              <a:extLst/>
            </a:blip>
            <a:stretch>
              <a:fillRect/>
            </a:stretch>
          </p:blipFill>
          <p:spPr>
            <a:xfrm>
              <a:off x="9746426" y="898606"/>
              <a:ext cx="1036855" cy="4251102"/>
            </a:xfrm>
            <a:prstGeom prst="rect">
              <a:avLst/>
            </a:prstGeom>
            <a:ln w="12700" cap="flat">
              <a:noFill/>
              <a:miter lim="400000"/>
            </a:ln>
            <a:effectLst/>
          </p:spPr>
        </p:pic>
        <p:pic>
          <p:nvPicPr>
            <p:cNvPr id="134" name="Man 1 colour PD.png"/>
            <p:cNvPicPr>
              <a:picLocks noChangeAspect="1"/>
            </p:cNvPicPr>
            <p:nvPr/>
          </p:nvPicPr>
          <p:blipFill>
            <a:blip r:embed="rId5">
              <a:extLst/>
            </a:blip>
            <a:stretch>
              <a:fillRect/>
            </a:stretch>
          </p:blipFill>
          <p:spPr>
            <a:xfrm>
              <a:off x="6728029" y="483865"/>
              <a:ext cx="1728091" cy="4138775"/>
            </a:xfrm>
            <a:prstGeom prst="rect">
              <a:avLst/>
            </a:prstGeom>
            <a:ln w="12700" cap="flat">
              <a:noFill/>
              <a:miter lim="400000"/>
            </a:ln>
            <a:effectLst/>
          </p:spPr>
        </p:pic>
        <p:pic>
          <p:nvPicPr>
            <p:cNvPr id="135" name="Color variation 5.png"/>
            <p:cNvPicPr>
              <a:picLocks noChangeAspect="1"/>
            </p:cNvPicPr>
            <p:nvPr/>
          </p:nvPicPr>
          <p:blipFill>
            <a:blip r:embed="rId6">
              <a:extLst/>
            </a:blip>
            <a:stretch>
              <a:fillRect/>
            </a:stretch>
          </p:blipFill>
          <p:spPr>
            <a:xfrm>
              <a:off x="5863984" y="345617"/>
              <a:ext cx="4032211" cy="5153164"/>
            </a:xfrm>
            <a:prstGeom prst="rect">
              <a:avLst/>
            </a:prstGeom>
            <a:ln w="12700" cap="flat">
              <a:noFill/>
              <a:miter lim="400000"/>
            </a:ln>
            <a:effectLst/>
          </p:spPr>
        </p:pic>
        <p:pic>
          <p:nvPicPr>
            <p:cNvPr id="136" name="Woman 1 colour PD.png"/>
            <p:cNvPicPr>
              <a:picLocks noChangeAspect="1"/>
            </p:cNvPicPr>
            <p:nvPr/>
          </p:nvPicPr>
          <p:blipFill>
            <a:blip r:embed="rId7">
              <a:extLst/>
            </a:blip>
            <a:stretch>
              <a:fillRect/>
            </a:stretch>
          </p:blipFill>
          <p:spPr>
            <a:xfrm>
              <a:off x="1463116" y="460823"/>
              <a:ext cx="1152060" cy="4188772"/>
            </a:xfrm>
            <a:prstGeom prst="rect">
              <a:avLst/>
            </a:prstGeom>
            <a:ln w="12700" cap="flat">
              <a:noFill/>
              <a:miter lim="400000"/>
            </a:ln>
            <a:effectLst/>
          </p:spPr>
        </p:pic>
        <p:pic>
          <p:nvPicPr>
            <p:cNvPr id="137" name="Man 3 colour PD.png"/>
            <p:cNvPicPr>
              <a:picLocks noChangeAspect="1"/>
            </p:cNvPicPr>
            <p:nvPr/>
          </p:nvPicPr>
          <p:blipFill>
            <a:blip r:embed="rId8">
              <a:extLst/>
            </a:blip>
            <a:stretch>
              <a:fillRect/>
            </a:stretch>
          </p:blipFill>
          <p:spPr>
            <a:xfrm>
              <a:off x="3306411" y="345617"/>
              <a:ext cx="1958503" cy="4648179"/>
            </a:xfrm>
            <a:prstGeom prst="rect">
              <a:avLst/>
            </a:prstGeom>
            <a:ln w="12700" cap="flat">
              <a:noFill/>
              <a:miter lim="400000"/>
            </a:ln>
            <a:effectLst/>
          </p:spPr>
        </p:pic>
        <p:pic>
          <p:nvPicPr>
            <p:cNvPr id="138" name="Color variation 2.png"/>
            <p:cNvPicPr>
              <a:picLocks noChangeAspect="1"/>
            </p:cNvPicPr>
            <p:nvPr/>
          </p:nvPicPr>
          <p:blipFill>
            <a:blip r:embed="rId9">
              <a:extLst/>
            </a:blip>
            <a:stretch>
              <a:fillRect/>
            </a:stretch>
          </p:blipFill>
          <p:spPr>
            <a:xfrm>
              <a:off x="8870860" y="910127"/>
              <a:ext cx="3456181" cy="4812283"/>
            </a:xfrm>
            <a:prstGeom prst="rect">
              <a:avLst/>
            </a:prstGeom>
            <a:ln w="12700" cap="flat">
              <a:noFill/>
              <a:miter lim="400000"/>
            </a:ln>
            <a:effectLst/>
          </p:spPr>
        </p:pic>
        <p:pic>
          <p:nvPicPr>
            <p:cNvPr id="139" name="Color variation 3.png"/>
            <p:cNvPicPr>
              <a:picLocks noChangeAspect="1"/>
            </p:cNvPicPr>
            <p:nvPr/>
          </p:nvPicPr>
          <p:blipFill>
            <a:blip r:embed="rId10">
              <a:extLst/>
            </a:blip>
            <a:stretch>
              <a:fillRect/>
            </a:stretch>
          </p:blipFill>
          <p:spPr>
            <a:xfrm>
              <a:off x="2523011" y="0"/>
              <a:ext cx="4158937" cy="5334037"/>
            </a:xfrm>
            <a:prstGeom prst="rect">
              <a:avLst/>
            </a:prstGeom>
            <a:ln w="12700" cap="flat">
              <a:noFill/>
              <a:miter lim="400000"/>
            </a:ln>
            <a:effectLst/>
          </p:spPr>
        </p:pic>
        <p:pic>
          <p:nvPicPr>
            <p:cNvPr id="140" name="Woman and child.png"/>
            <p:cNvPicPr>
              <a:picLocks noChangeAspect="1"/>
            </p:cNvPicPr>
            <p:nvPr/>
          </p:nvPicPr>
          <p:blipFill>
            <a:blip r:embed="rId11">
              <a:extLst/>
            </a:blip>
            <a:stretch>
              <a:fillRect/>
            </a:stretch>
          </p:blipFill>
          <p:spPr>
            <a:xfrm>
              <a:off x="933168" y="656674"/>
              <a:ext cx="2995357" cy="4540959"/>
            </a:xfrm>
            <a:prstGeom prst="rect">
              <a:avLst/>
            </a:prstGeom>
            <a:ln w="12700" cap="flat">
              <a:noFill/>
              <a:miter lim="400000"/>
            </a:ln>
            <a:effectLst/>
          </p:spPr>
        </p:pic>
        <p:pic>
          <p:nvPicPr>
            <p:cNvPr id="141" name="Color variation 1.png"/>
            <p:cNvPicPr>
              <a:picLocks noChangeAspect="1"/>
            </p:cNvPicPr>
            <p:nvPr/>
          </p:nvPicPr>
          <p:blipFill>
            <a:blip r:embed="rId12">
              <a:extLst/>
            </a:blip>
            <a:stretch>
              <a:fillRect/>
            </a:stretch>
          </p:blipFill>
          <p:spPr>
            <a:xfrm>
              <a:off x="0" y="276494"/>
              <a:ext cx="1751131" cy="4788249"/>
            </a:xfrm>
            <a:prstGeom prst="rect">
              <a:avLst/>
            </a:prstGeom>
            <a:ln w="12700" cap="flat">
              <a:noFill/>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1"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 name="Group 146"/>
          <p:cNvGrpSpPr/>
          <p:nvPr/>
        </p:nvGrpSpPr>
        <p:grpSpPr>
          <a:xfrm>
            <a:off x="11047873" y="3806201"/>
            <a:ext cx="1833222" cy="1512559"/>
            <a:chOff x="453136" y="0"/>
            <a:chExt cx="1833220" cy="1512558"/>
          </a:xfrm>
        </p:grpSpPr>
        <p:sp>
          <p:nvSpPr>
            <p:cNvPr id="144" name="Shape 144"/>
            <p:cNvSpPr/>
            <p:nvPr/>
          </p:nvSpPr>
          <p:spPr>
            <a:xfrm flipV="1">
              <a:off x="453136" y="-1"/>
              <a:ext cx="270948" cy="1388268"/>
            </a:xfrm>
            <a:prstGeom prst="line">
              <a:avLst/>
            </a:prstGeom>
            <a:noFill/>
            <a:ln w="1143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45" name="Shape 145"/>
            <p:cNvSpPr/>
            <p:nvPr/>
          </p:nvSpPr>
          <p:spPr>
            <a:xfrm>
              <a:off x="771763" y="598158"/>
              <a:ext cx="1514595" cy="9144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Influenced </a:t>
              </a:r>
              <a:br>
                <a:rPr sz="1800">
                  <a:solidFill>
                    <a:srgbClr val="000000"/>
                  </a:solidFill>
                  <a:latin typeface="Helvetica"/>
                  <a:ea typeface="Helvetica"/>
                  <a:cs typeface="Helvetica"/>
                  <a:sym typeface="Helvetica"/>
                </a:rPr>
              </a:br>
              <a:r>
                <a:rPr sz="1800">
                  <a:solidFill>
                    <a:srgbClr val="000000"/>
                  </a:solidFill>
                  <a:latin typeface="Helvetica"/>
                  <a:ea typeface="Helvetica"/>
                  <a:cs typeface="Helvetica"/>
                  <a:sym typeface="Helvetica"/>
                </a:rPr>
                <a:t>by the environment</a:t>
              </a:r>
            </a:p>
          </p:txBody>
        </p:sp>
      </p:grpSp>
      <p:sp>
        <p:nvSpPr>
          <p:cNvPr id="147" name="Shape 147"/>
          <p:cNvSpPr/>
          <p:nvPr/>
        </p:nvSpPr>
        <p:spPr>
          <a:xfrm>
            <a:off x="7216140" y="1779190"/>
            <a:ext cx="3780671" cy="1552338"/>
          </a:xfrm>
          <a:prstGeom prst="rect">
            <a:avLst/>
          </a:prstGeom>
          <a:solidFill>
            <a:srgbClr val="FFFFFF"/>
          </a:solidFill>
          <a:ln w="25400">
            <a:solidFill>
              <a:srgbClr val="006994"/>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8" name="Shape 148"/>
          <p:cNvSpPr/>
          <p:nvPr/>
        </p:nvSpPr>
        <p:spPr>
          <a:xfrm>
            <a:off x="9199880" y="5491907"/>
            <a:ext cx="3483214" cy="3483213"/>
          </a:xfrm>
          <a:prstGeom prst="ellipse">
            <a:avLst/>
          </a:prstGeom>
          <a:solidFill>
            <a:srgbClr val="C5E1ED"/>
          </a:solidFill>
          <a:ln w="38100">
            <a:solidFill>
              <a:srgbClr val="000000"/>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49" name="Abies-Pardei-Pine.png"/>
          <p:cNvPicPr>
            <a:picLocks noChangeAspect="1"/>
          </p:cNvPicPr>
          <p:nvPr/>
        </p:nvPicPr>
        <p:blipFill>
          <a:blip r:embed="rId2">
            <a:extLst/>
          </a:blip>
          <a:stretch>
            <a:fillRect/>
          </a:stretch>
        </p:blipFill>
        <p:spPr>
          <a:xfrm>
            <a:off x="9814269" y="4598621"/>
            <a:ext cx="2201052" cy="3871195"/>
          </a:xfrm>
          <a:prstGeom prst="rect">
            <a:avLst/>
          </a:prstGeom>
          <a:ln w="12700">
            <a:miter lim="400000"/>
          </a:ln>
        </p:spPr>
      </p:pic>
      <p:sp>
        <p:nvSpPr>
          <p:cNvPr id="150" name="Shape 150"/>
          <p:cNvSpPr>
            <a:spLocks noGrp="1"/>
          </p:cNvSpPr>
          <p:nvPr>
            <p:ph type="title"/>
          </p:nvPr>
        </p:nvSpPr>
        <p:spPr>
          <a:prstGeom prst="rect">
            <a:avLst/>
          </a:prstGeom>
        </p:spPr>
        <p:txBody>
          <a:bodyPr/>
          <a:lstStyle>
            <a:lvl1pPr>
              <a:tabLst>
                <a:tab pos="952500" algn="l"/>
              </a:tabLst>
            </a:lvl1pPr>
          </a:lstStyle>
          <a:p>
            <a:r>
              <a:t>Influences on Phenotype</a:t>
            </a:r>
          </a:p>
        </p:txBody>
      </p:sp>
      <p:sp>
        <p:nvSpPr>
          <p:cNvPr id="151" name="Shape 151"/>
          <p:cNvSpPr/>
          <p:nvPr/>
        </p:nvSpPr>
        <p:spPr>
          <a:xfrm>
            <a:off x="8097519" y="9044940"/>
            <a:ext cx="4988680" cy="5969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000000"/>
                </a:solidFill>
                <a:latin typeface="Helvetica"/>
                <a:ea typeface="Helvetica"/>
                <a:cs typeface="Helvetica"/>
                <a:sym typeface="Helvetica"/>
              </a:defRPr>
            </a:lvl1pPr>
          </a:lstStyle>
          <a:p>
            <a:pPr>
              <a:defRPr>
                <a:latin typeface="Hoefler Text"/>
                <a:ea typeface="Hoefler Text"/>
                <a:cs typeface="Hoefler Text"/>
                <a:sym typeface="Hoefler Text"/>
              </a:defRPr>
            </a:pPr>
            <a:r>
              <a:rPr>
                <a:latin typeface="Helvetica"/>
                <a:ea typeface="Helvetica"/>
                <a:cs typeface="Helvetica"/>
                <a:sym typeface="Helvetica"/>
              </a:rPr>
              <a:t>The resulting phenotype is the product of the effects of the environment on genetic potential</a:t>
            </a:r>
          </a:p>
        </p:txBody>
      </p:sp>
      <p:grpSp>
        <p:nvGrpSpPr>
          <p:cNvPr id="154" name="Group 154"/>
          <p:cNvGrpSpPr/>
          <p:nvPr/>
        </p:nvGrpSpPr>
        <p:grpSpPr>
          <a:xfrm>
            <a:off x="6053666" y="4279900"/>
            <a:ext cx="2833081" cy="1841500"/>
            <a:chOff x="0" y="800100"/>
            <a:chExt cx="2833079" cy="1841499"/>
          </a:xfrm>
        </p:grpSpPr>
        <p:sp>
          <p:nvSpPr>
            <p:cNvPr id="152" name="Shape 152"/>
            <p:cNvSpPr/>
            <p:nvPr/>
          </p:nvSpPr>
          <p:spPr>
            <a:xfrm flipH="1" flipV="1">
              <a:off x="-1" y="800100"/>
              <a:ext cx="2833081" cy="1787512"/>
            </a:xfrm>
            <a:prstGeom prst="line">
              <a:avLst/>
            </a:prstGeom>
            <a:noFill/>
            <a:ln w="1143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3" name="Shape 153"/>
            <p:cNvSpPr/>
            <p:nvPr/>
          </p:nvSpPr>
          <p:spPr>
            <a:xfrm>
              <a:off x="242993" y="1727200"/>
              <a:ext cx="1100932" cy="914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Provides</a:t>
              </a:r>
            </a:p>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inherited variation</a:t>
              </a:r>
            </a:p>
          </p:txBody>
        </p:sp>
      </p:grpSp>
      <p:sp>
        <p:nvSpPr>
          <p:cNvPr id="155" name="Shape 155"/>
          <p:cNvSpPr/>
          <p:nvPr/>
        </p:nvSpPr>
        <p:spPr>
          <a:xfrm>
            <a:off x="8346440" y="4777740"/>
            <a:ext cx="1435101"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b="1">
                <a:solidFill>
                  <a:srgbClr val="000000"/>
                </a:solidFill>
              </a:defRPr>
            </a:lvl1pPr>
          </a:lstStyle>
          <a:p>
            <a:r>
              <a:t>Combine in their effects</a:t>
            </a:r>
          </a:p>
        </p:txBody>
      </p:sp>
      <p:grpSp>
        <p:nvGrpSpPr>
          <p:cNvPr id="158" name="Group 158"/>
          <p:cNvGrpSpPr/>
          <p:nvPr/>
        </p:nvGrpSpPr>
        <p:grpSpPr>
          <a:xfrm>
            <a:off x="6155266" y="7748281"/>
            <a:ext cx="2829944" cy="1394013"/>
            <a:chOff x="0" y="851096"/>
            <a:chExt cx="2829942" cy="1394012"/>
          </a:xfrm>
        </p:grpSpPr>
        <p:sp>
          <p:nvSpPr>
            <p:cNvPr id="156" name="Shape 156"/>
            <p:cNvSpPr/>
            <p:nvPr/>
          </p:nvSpPr>
          <p:spPr>
            <a:xfrm flipH="1" flipV="1">
              <a:off x="-1" y="851096"/>
              <a:ext cx="2829944" cy="1"/>
            </a:xfrm>
            <a:prstGeom prst="line">
              <a:avLst/>
            </a:prstGeom>
            <a:noFill/>
            <a:ln w="1143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7" name="Shape 157"/>
            <p:cNvSpPr/>
            <p:nvPr/>
          </p:nvSpPr>
          <p:spPr>
            <a:xfrm>
              <a:off x="319971" y="1263604"/>
              <a:ext cx="1539487" cy="9815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Provides</a:t>
              </a:r>
            </a:p>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non-inherited variation</a:t>
              </a:r>
            </a:p>
          </p:txBody>
        </p:sp>
      </p:grpSp>
      <p:sp>
        <p:nvSpPr>
          <p:cNvPr id="159" name="Shape 159"/>
          <p:cNvSpPr/>
          <p:nvPr/>
        </p:nvSpPr>
        <p:spPr>
          <a:xfrm>
            <a:off x="9931400" y="8470900"/>
            <a:ext cx="1685082" cy="3429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900"/>
              </a:lnSpc>
              <a:tabLst>
                <a:tab pos="520700" algn="l"/>
              </a:tabLst>
              <a:defRPr sz="2200" b="1">
                <a:solidFill>
                  <a:srgbClr val="000000"/>
                </a:solidFill>
              </a:defRPr>
            </a:lvl1pPr>
          </a:lstStyle>
          <a:p>
            <a:r>
              <a:t>Phenotype</a:t>
            </a:r>
          </a:p>
        </p:txBody>
      </p:sp>
      <p:sp>
        <p:nvSpPr>
          <p:cNvPr id="160" name="Shape 160"/>
          <p:cNvSpPr/>
          <p:nvPr/>
        </p:nvSpPr>
        <p:spPr>
          <a:xfrm>
            <a:off x="723900" y="6159500"/>
            <a:ext cx="4165600" cy="3328115"/>
          </a:xfrm>
          <a:prstGeom prst="rect">
            <a:avLst/>
          </a:prstGeom>
          <a:solidFill>
            <a:srgbClr val="FFFFFF"/>
          </a:solidFill>
          <a:ln w="25400">
            <a:solidFill>
              <a:srgbClr val="006994"/>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1" name="Shape 161"/>
          <p:cNvSpPr/>
          <p:nvPr/>
        </p:nvSpPr>
        <p:spPr>
          <a:xfrm>
            <a:off x="3289300" y="6167774"/>
            <a:ext cx="3310126" cy="3310127"/>
          </a:xfrm>
          <a:prstGeom prst="ellipse">
            <a:avLst/>
          </a:prstGeom>
          <a:solidFill>
            <a:srgbClr val="C5E1ED"/>
          </a:solidFill>
          <a:ln w="38100">
            <a:solidFill>
              <a:srgbClr val="000000"/>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2" name="Shape 162"/>
          <p:cNvSpPr/>
          <p:nvPr/>
        </p:nvSpPr>
        <p:spPr>
          <a:xfrm>
            <a:off x="1145477" y="7162800"/>
            <a:ext cx="1909925" cy="22606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Wind</a:t>
            </a:r>
            <a:br>
              <a:rPr sz="1800">
                <a:solidFill>
                  <a:srgbClr val="000000"/>
                </a:solidFill>
                <a:latin typeface="Helvetica"/>
                <a:ea typeface="Helvetica"/>
                <a:cs typeface="Helvetica"/>
                <a:sym typeface="Helvetica"/>
              </a:rPr>
            </a:br>
            <a:r>
              <a:rPr sz="1800">
                <a:solidFill>
                  <a:srgbClr val="000000"/>
                </a:solidFill>
                <a:latin typeface="Helvetica"/>
                <a:ea typeface="Helvetica"/>
                <a:cs typeface="Helvetica"/>
                <a:sym typeface="Helvetica"/>
              </a:rPr>
              <a:t>Water availability</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Acidity</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Temperature</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Soil type</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Light</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Predation</a:t>
            </a:r>
          </a:p>
        </p:txBody>
      </p:sp>
      <p:sp>
        <p:nvSpPr>
          <p:cNvPr id="163" name="Shape 163"/>
          <p:cNvSpPr/>
          <p:nvPr/>
        </p:nvSpPr>
        <p:spPr>
          <a:xfrm>
            <a:off x="977900" y="6273800"/>
            <a:ext cx="2293025" cy="8679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2000" b="1">
                <a:solidFill>
                  <a:srgbClr val="000000"/>
                </a:solidFill>
                <a:latin typeface="+mn-lt"/>
                <a:ea typeface="+mn-ea"/>
                <a:cs typeface="+mn-cs"/>
                <a:sym typeface="Arial"/>
              </a:rPr>
              <a:t>Source of</a:t>
            </a:r>
          </a:p>
          <a:p>
            <a:pPr algn="ctr">
              <a:lnSpc>
                <a:spcPts val="2400"/>
              </a:lnSpc>
              <a:tabLst>
                <a:tab pos="520700" algn="l"/>
              </a:tabLst>
              <a:defRPr sz="2800">
                <a:solidFill>
                  <a:srgbClr val="483F36"/>
                </a:solidFill>
                <a:latin typeface="Hoefler Text"/>
                <a:ea typeface="Hoefler Text"/>
                <a:cs typeface="Hoefler Text"/>
                <a:sym typeface="Hoefler Text"/>
              </a:defRPr>
            </a:pPr>
            <a:r>
              <a:rPr sz="2000" b="1">
                <a:solidFill>
                  <a:srgbClr val="000000"/>
                </a:solidFill>
                <a:latin typeface="+mn-lt"/>
                <a:ea typeface="+mn-ea"/>
                <a:cs typeface="+mn-cs"/>
                <a:sym typeface="Arial"/>
              </a:rPr>
              <a:t>environmentally induced variation</a:t>
            </a:r>
          </a:p>
        </p:txBody>
      </p:sp>
      <p:sp>
        <p:nvSpPr>
          <p:cNvPr id="164" name="Shape 164"/>
          <p:cNvSpPr/>
          <p:nvPr/>
        </p:nvSpPr>
        <p:spPr>
          <a:xfrm>
            <a:off x="4003040" y="8935719"/>
            <a:ext cx="1679402" cy="28379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700"/>
              </a:lnSpc>
              <a:tabLst>
                <a:tab pos="520700" algn="l"/>
              </a:tabLst>
              <a:defRPr sz="2000" b="1">
                <a:solidFill>
                  <a:srgbClr val="000000"/>
                </a:solidFill>
              </a:defRPr>
            </a:lvl1pPr>
          </a:lstStyle>
          <a:p>
            <a:r>
              <a:t>Environment</a:t>
            </a:r>
          </a:p>
        </p:txBody>
      </p:sp>
      <p:pic>
        <p:nvPicPr>
          <p:cNvPr id="165" name="cedar seedling 22744457.png"/>
          <p:cNvPicPr>
            <a:picLocks noChangeAspect="1"/>
          </p:cNvPicPr>
          <p:nvPr/>
        </p:nvPicPr>
        <p:blipFill>
          <a:blip r:embed="rId3">
            <a:extLst/>
          </a:blip>
          <a:stretch>
            <a:fillRect/>
          </a:stretch>
        </p:blipFill>
        <p:spPr>
          <a:xfrm>
            <a:off x="4178300" y="6210300"/>
            <a:ext cx="1653452" cy="2717800"/>
          </a:xfrm>
          <a:prstGeom prst="rect">
            <a:avLst/>
          </a:prstGeom>
          <a:ln w="25400">
            <a:miter lim="400000"/>
          </a:ln>
        </p:spPr>
      </p:pic>
      <p:grpSp>
        <p:nvGrpSpPr>
          <p:cNvPr id="171" name="Group 171"/>
          <p:cNvGrpSpPr/>
          <p:nvPr/>
        </p:nvGrpSpPr>
        <p:grpSpPr>
          <a:xfrm>
            <a:off x="723900" y="2223829"/>
            <a:ext cx="5857071" cy="3291672"/>
            <a:chOff x="0" y="128329"/>
            <a:chExt cx="5857070" cy="3291670"/>
          </a:xfrm>
        </p:grpSpPr>
        <p:sp>
          <p:nvSpPr>
            <p:cNvPr id="166" name="Shape 166"/>
            <p:cNvSpPr/>
            <p:nvPr/>
          </p:nvSpPr>
          <p:spPr>
            <a:xfrm>
              <a:off x="0" y="241300"/>
              <a:ext cx="3780671" cy="3111500"/>
            </a:xfrm>
            <a:prstGeom prst="rect">
              <a:avLst/>
            </a:prstGeom>
            <a:solidFill>
              <a:srgbClr val="FFFFFF"/>
            </a:solidFill>
            <a:ln w="25400" cap="flat">
              <a:solidFill>
                <a:srgbClr val="006994"/>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7" name="Shape 167"/>
            <p:cNvSpPr/>
            <p:nvPr/>
          </p:nvSpPr>
          <p:spPr>
            <a:xfrm>
              <a:off x="2565400" y="128329"/>
              <a:ext cx="3291671" cy="3291672"/>
            </a:xfrm>
            <a:prstGeom prst="ellipse">
              <a:avLst/>
            </a:prstGeom>
            <a:solidFill>
              <a:srgbClr val="C5E1ED"/>
            </a:solidFill>
            <a:ln w="381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8" name="Shape 168"/>
            <p:cNvSpPr/>
            <p:nvPr/>
          </p:nvSpPr>
          <p:spPr>
            <a:xfrm>
              <a:off x="308574" y="419100"/>
              <a:ext cx="2145482" cy="6139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gn="ctr">
                <a:lnSpc>
                  <a:spcPts val="2700"/>
                </a:lnSpc>
                <a:tabLst>
                  <a:tab pos="520700" algn="l"/>
                </a:tabLst>
                <a:defRPr sz="2800">
                  <a:solidFill>
                    <a:srgbClr val="483F36"/>
                  </a:solidFill>
                  <a:latin typeface="Hoefler Text"/>
                  <a:ea typeface="Hoefler Text"/>
                  <a:cs typeface="Hoefler Text"/>
                  <a:sym typeface="Hoefler Text"/>
                </a:defRPr>
              </a:pPr>
              <a:r>
                <a:rPr sz="2000" b="1">
                  <a:solidFill>
                    <a:srgbClr val="000000"/>
                  </a:solidFill>
                  <a:latin typeface="+mn-lt"/>
                  <a:ea typeface="+mn-ea"/>
                  <a:cs typeface="+mn-cs"/>
                  <a:sym typeface="Arial"/>
                </a:rPr>
                <a:t>Source of</a:t>
              </a:r>
            </a:p>
            <a:p>
              <a:pPr algn="ctr">
                <a:lnSpc>
                  <a:spcPts val="2700"/>
                </a:lnSpc>
                <a:tabLst>
                  <a:tab pos="520700" algn="l"/>
                </a:tabLst>
                <a:defRPr sz="2800">
                  <a:solidFill>
                    <a:srgbClr val="483F36"/>
                  </a:solidFill>
                  <a:latin typeface="Hoefler Text"/>
                  <a:ea typeface="Hoefler Text"/>
                  <a:cs typeface="Hoefler Text"/>
                  <a:sym typeface="Hoefler Text"/>
                </a:defRPr>
              </a:pPr>
              <a:r>
                <a:rPr sz="2000" b="1">
                  <a:solidFill>
                    <a:srgbClr val="000000"/>
                  </a:solidFill>
                  <a:latin typeface="+mn-lt"/>
                  <a:ea typeface="+mn-ea"/>
                  <a:cs typeface="+mn-cs"/>
                  <a:sym typeface="Arial"/>
                </a:rPr>
                <a:t>genetic variation</a:t>
              </a:r>
            </a:p>
          </p:txBody>
        </p:sp>
        <p:sp>
          <p:nvSpPr>
            <p:cNvPr id="169" name="Shape 169"/>
            <p:cNvSpPr/>
            <p:nvPr/>
          </p:nvSpPr>
          <p:spPr>
            <a:xfrm>
              <a:off x="55220" y="1206500"/>
              <a:ext cx="2656000" cy="19939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Dominant alleles</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Recessive alleles</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Mutations</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Crossing over</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Independent assortment</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Gene interactions</a:t>
              </a:r>
            </a:p>
          </p:txBody>
        </p:sp>
        <p:sp>
          <p:nvSpPr>
            <p:cNvPr id="170" name="Shape 170"/>
            <p:cNvSpPr/>
            <p:nvPr/>
          </p:nvSpPr>
          <p:spPr>
            <a:xfrm>
              <a:off x="3632200" y="355600"/>
              <a:ext cx="1298402" cy="2837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700"/>
                </a:lnSpc>
                <a:tabLst>
                  <a:tab pos="520700" algn="l"/>
                </a:tabLst>
                <a:defRPr sz="2000" b="1">
                  <a:solidFill>
                    <a:srgbClr val="201B17"/>
                  </a:solidFill>
                </a:defRPr>
              </a:lvl1pPr>
            </a:lstStyle>
            <a:p>
              <a:pPr>
                <a:defRPr>
                  <a:solidFill>
                    <a:srgbClr val="483F36"/>
                  </a:solidFill>
                </a:defRPr>
              </a:pPr>
              <a:r>
                <a:rPr>
                  <a:solidFill>
                    <a:srgbClr val="201B17"/>
                  </a:solidFill>
                </a:rPr>
                <a:t>Genotype</a:t>
              </a:r>
            </a:p>
          </p:txBody>
        </p:sp>
      </p:grpSp>
      <p:pic>
        <p:nvPicPr>
          <p:cNvPr id="172" name="Environment genotype.pdf"/>
          <p:cNvPicPr>
            <a:picLocks noChangeAspect="1"/>
          </p:cNvPicPr>
          <p:nvPr/>
        </p:nvPicPr>
        <p:blipFill>
          <a:blip r:embed="rId4">
            <a:extLst/>
          </a:blip>
          <a:stretch>
            <a:fillRect/>
          </a:stretch>
        </p:blipFill>
        <p:spPr>
          <a:xfrm>
            <a:off x="4076700" y="2773607"/>
            <a:ext cx="1689100" cy="2382593"/>
          </a:xfrm>
          <a:prstGeom prst="rect">
            <a:avLst/>
          </a:prstGeom>
          <a:ln w="25400">
            <a:miter lim="400000"/>
          </a:ln>
        </p:spPr>
      </p:pic>
      <p:sp>
        <p:nvSpPr>
          <p:cNvPr id="173" name="Shape 173"/>
          <p:cNvSpPr/>
          <p:nvPr/>
        </p:nvSpPr>
        <p:spPr>
          <a:xfrm>
            <a:off x="9598659" y="1106229"/>
            <a:ext cx="3291672" cy="3291672"/>
          </a:xfrm>
          <a:prstGeom prst="ellipse">
            <a:avLst/>
          </a:prstGeom>
          <a:solidFill>
            <a:srgbClr val="C5E1ED"/>
          </a:solidFill>
          <a:ln w="38100">
            <a:solidFill>
              <a:srgbClr val="000000"/>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4" name="Shape 174"/>
          <p:cNvSpPr/>
          <p:nvPr/>
        </p:nvSpPr>
        <p:spPr>
          <a:xfrm>
            <a:off x="7668730" y="1965960"/>
            <a:ext cx="1552650"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b="1">
                <a:solidFill>
                  <a:srgbClr val="000000"/>
                </a:solidFill>
              </a:defRPr>
            </a:lvl1pPr>
          </a:lstStyle>
          <a:p>
            <a:pPr>
              <a:defRPr sz="2800" b="0">
                <a:solidFill>
                  <a:srgbClr val="483F36"/>
                </a:solidFill>
                <a:latin typeface="Hoefler Text"/>
                <a:ea typeface="Hoefler Text"/>
                <a:cs typeface="Hoefler Text"/>
                <a:sym typeface="Hoefler Text"/>
              </a:defRPr>
            </a:pPr>
            <a:r>
              <a:rPr sz="2000" b="1">
                <a:solidFill>
                  <a:srgbClr val="000000"/>
                </a:solidFill>
                <a:latin typeface="+mn-lt"/>
                <a:ea typeface="+mn-ea"/>
                <a:cs typeface="+mn-cs"/>
                <a:sym typeface="Arial"/>
              </a:rPr>
              <a:t>Epigenetics</a:t>
            </a:r>
          </a:p>
        </p:txBody>
      </p:sp>
      <p:sp>
        <p:nvSpPr>
          <p:cNvPr id="175" name="Shape 175"/>
          <p:cNvSpPr/>
          <p:nvPr/>
        </p:nvSpPr>
        <p:spPr>
          <a:xfrm>
            <a:off x="7351705" y="2387600"/>
            <a:ext cx="2264290" cy="6223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Histone modification </a:t>
            </a:r>
          </a:p>
          <a:p>
            <a:pPr algn="ctr">
              <a:lnSpc>
                <a:spcPts val="26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Helvetica"/>
                <a:ea typeface="Helvetica"/>
                <a:cs typeface="Helvetica"/>
                <a:sym typeface="Helvetica"/>
              </a:rPr>
              <a:t>DNA methylation</a:t>
            </a:r>
          </a:p>
        </p:txBody>
      </p:sp>
      <p:pic>
        <p:nvPicPr>
          <p:cNvPr id="176" name="Histones and DNA colour.pdf"/>
          <p:cNvPicPr>
            <a:picLocks noChangeAspect="1"/>
          </p:cNvPicPr>
          <p:nvPr/>
        </p:nvPicPr>
        <p:blipFill>
          <a:blip r:embed="rId5">
            <a:extLst/>
          </a:blip>
          <a:stretch>
            <a:fillRect/>
          </a:stretch>
        </p:blipFill>
        <p:spPr>
          <a:xfrm>
            <a:off x="10320605" y="1623059"/>
            <a:ext cx="1875869" cy="2212366"/>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3" animBg="1" advAuto="0"/>
      <p:bldP spid="151" grpId="5" animBg="1" advAuto="0"/>
      <p:bldP spid="154" grpId="1" animBg="1" advAuto="0"/>
      <p:bldP spid="155" grpId="4" animBg="1" advAuto="0"/>
      <p:bldP spid="158" grpId="2"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Point Mutation 2.png"/>
          <p:cNvPicPr>
            <a:picLocks noChangeAspect="1"/>
          </p:cNvPicPr>
          <p:nvPr/>
        </p:nvPicPr>
        <p:blipFill>
          <a:blip r:embed="rId2">
            <a:extLst/>
          </a:blip>
          <a:stretch>
            <a:fillRect/>
          </a:stretch>
        </p:blipFill>
        <p:spPr>
          <a:xfrm>
            <a:off x="3289815" y="7540644"/>
            <a:ext cx="6932315" cy="1227516"/>
          </a:xfrm>
          <a:prstGeom prst="rect">
            <a:avLst/>
          </a:prstGeom>
          <a:ln w="12700">
            <a:miter lim="400000"/>
          </a:ln>
        </p:spPr>
      </p:pic>
      <p:pic>
        <p:nvPicPr>
          <p:cNvPr id="207" name="Point Mutation 1.png"/>
          <p:cNvPicPr>
            <a:picLocks noChangeAspect="1"/>
          </p:cNvPicPr>
          <p:nvPr/>
        </p:nvPicPr>
        <p:blipFill>
          <a:blip r:embed="rId3">
            <a:extLst/>
          </a:blip>
          <a:stretch>
            <a:fillRect/>
          </a:stretch>
        </p:blipFill>
        <p:spPr>
          <a:xfrm>
            <a:off x="3302956" y="5614163"/>
            <a:ext cx="6911203" cy="1223778"/>
          </a:xfrm>
          <a:prstGeom prst="rect">
            <a:avLst/>
          </a:prstGeom>
          <a:ln w="12700">
            <a:miter lim="400000"/>
          </a:ln>
        </p:spPr>
      </p:pic>
      <p:sp>
        <p:nvSpPr>
          <p:cNvPr id="208" name="Shape 208"/>
          <p:cNvSpPr>
            <a:spLocks noGrp="1"/>
          </p:cNvSpPr>
          <p:nvPr>
            <p:ph type="title"/>
          </p:nvPr>
        </p:nvSpPr>
        <p:spPr>
          <a:prstGeom prst="rect">
            <a:avLst/>
          </a:prstGeom>
        </p:spPr>
        <p:txBody>
          <a:bodyPr/>
          <a:lstStyle>
            <a:lvl1pPr>
              <a:tabLst>
                <a:tab pos="952500" algn="l"/>
              </a:tabLst>
            </a:lvl1pPr>
          </a:lstStyle>
          <a:p>
            <a:r>
              <a:t>Types of Mutation 1</a:t>
            </a:r>
          </a:p>
        </p:txBody>
      </p:sp>
      <p:sp>
        <p:nvSpPr>
          <p:cNvPr id="209" name="Shape 209"/>
          <p:cNvSpPr>
            <a:spLocks noGrp="1"/>
          </p:cNvSpPr>
          <p:nvPr>
            <p:ph type="body" sz="quarter" idx="1"/>
          </p:nvPr>
        </p:nvSpPr>
        <p:spPr>
          <a:xfrm>
            <a:off x="368300" y="1790700"/>
            <a:ext cx="10576322" cy="1590626"/>
          </a:xfrm>
          <a:prstGeom prst="rect">
            <a:avLst/>
          </a:prstGeom>
        </p:spPr>
        <p:txBody>
          <a:bodyPr/>
          <a:lstStyle/>
          <a:p>
            <a:pPr>
              <a:tabLst>
                <a:tab pos="1016000" algn="l"/>
              </a:tabLst>
            </a:pPr>
            <a:r>
              <a:t>Gene mutations</a:t>
            </a:r>
          </a:p>
          <a:p>
            <a:pPr lvl="1">
              <a:tabLst>
                <a:tab pos="1485900" algn="l"/>
              </a:tabLst>
            </a:pPr>
            <a:r>
              <a:t>Genetic change affecting the base sequence of a single gene.</a:t>
            </a:r>
          </a:p>
          <a:p>
            <a:pPr lvl="1">
              <a:tabLst>
                <a:tab pos="1485900" algn="l"/>
              </a:tabLst>
            </a:pPr>
            <a:r>
              <a:t>Gene mutations may result in the formation of a new allele.</a:t>
            </a:r>
          </a:p>
        </p:txBody>
      </p:sp>
      <p:sp>
        <p:nvSpPr>
          <p:cNvPr id="210" name="Shape 210"/>
          <p:cNvSpPr/>
          <p:nvPr/>
        </p:nvSpPr>
        <p:spPr>
          <a:xfrm>
            <a:off x="4555487" y="4546600"/>
            <a:ext cx="4887715"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3100"/>
              </a:lnSpc>
              <a:tabLst>
                <a:tab pos="520700" algn="l"/>
              </a:tabLst>
              <a:defRPr sz="2400">
                <a:solidFill>
                  <a:srgbClr val="006795"/>
                </a:solidFill>
              </a:defRPr>
            </a:pPr>
            <a:r>
              <a:t>Mutation:  Substitute </a:t>
            </a:r>
            <a:r>
              <a:rPr b="1"/>
              <a:t>T</a:t>
            </a:r>
            <a:r>
              <a:t> instead of </a:t>
            </a:r>
            <a:r>
              <a:rPr b="1"/>
              <a:t>C</a:t>
            </a:r>
          </a:p>
        </p:txBody>
      </p:sp>
      <p:sp>
        <p:nvSpPr>
          <p:cNvPr id="211" name="Shape 211"/>
          <p:cNvSpPr/>
          <p:nvPr/>
        </p:nvSpPr>
        <p:spPr>
          <a:xfrm>
            <a:off x="1768108" y="5740400"/>
            <a:ext cx="1363316" cy="7393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3100"/>
              </a:lnSpc>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Original</a:t>
            </a:r>
            <a:endParaRPr sz="2400">
              <a:solidFill>
                <a:srgbClr val="201B17"/>
              </a:solidFill>
              <a:latin typeface="+mn-lt"/>
              <a:ea typeface="+mn-ea"/>
              <a:cs typeface="+mn-cs"/>
              <a:sym typeface="Arial"/>
            </a:endParaRPr>
          </a:p>
          <a:p>
            <a:pPr algn="ctr">
              <a:lnSpc>
                <a:spcPts val="3100"/>
              </a:lnSpc>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DNA</a:t>
            </a:r>
          </a:p>
        </p:txBody>
      </p:sp>
      <p:sp>
        <p:nvSpPr>
          <p:cNvPr id="212" name="Shape 212"/>
          <p:cNvSpPr/>
          <p:nvPr/>
        </p:nvSpPr>
        <p:spPr>
          <a:xfrm>
            <a:off x="1862000" y="7556500"/>
            <a:ext cx="1155701" cy="7393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3100"/>
              </a:lnSpc>
              <a:tabLst>
                <a:tab pos="520700" algn="l"/>
              </a:tabLst>
              <a:defRPr sz="2400" b="1">
                <a:solidFill>
                  <a:srgbClr val="201B17"/>
                </a:solidFill>
              </a:defRPr>
            </a:lvl1pPr>
          </a:lstStyle>
          <a:p>
            <a:pPr>
              <a:defRPr b="0">
                <a:solidFill>
                  <a:srgbClr val="483F36"/>
                </a:solidFill>
              </a:defRPr>
            </a:pPr>
            <a:r>
              <a:rPr b="1">
                <a:solidFill>
                  <a:srgbClr val="201B17"/>
                </a:solidFill>
              </a:rPr>
              <a:t>Mutant DNA</a:t>
            </a:r>
          </a:p>
        </p:txBody>
      </p:sp>
      <p:sp>
        <p:nvSpPr>
          <p:cNvPr id="213" name="Shape 213"/>
          <p:cNvSpPr/>
          <p:nvPr/>
        </p:nvSpPr>
        <p:spPr>
          <a:xfrm flipV="1">
            <a:off x="7067973" y="4944533"/>
            <a:ext cx="1" cy="762001"/>
          </a:xfrm>
          <a:prstGeom prst="line">
            <a:avLst/>
          </a:prstGeom>
          <a:ln w="635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0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0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1"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 name="Block Mutation Example 1.png"/>
          <p:cNvPicPr>
            <a:picLocks noChangeAspect="1"/>
          </p:cNvPicPr>
          <p:nvPr/>
        </p:nvPicPr>
        <p:blipFill>
          <a:blip r:embed="rId2">
            <a:extLst/>
          </a:blip>
          <a:stretch>
            <a:fillRect/>
          </a:stretch>
        </p:blipFill>
        <p:spPr>
          <a:xfrm>
            <a:off x="8441015" y="4975740"/>
            <a:ext cx="2145270" cy="777028"/>
          </a:xfrm>
          <a:prstGeom prst="rect">
            <a:avLst/>
          </a:prstGeom>
          <a:ln w="12700">
            <a:miter lim="400000"/>
          </a:ln>
        </p:spPr>
      </p:pic>
      <p:pic>
        <p:nvPicPr>
          <p:cNvPr id="216" name="Block Mutation Example 2.png"/>
          <p:cNvPicPr>
            <a:picLocks noChangeAspect="1"/>
          </p:cNvPicPr>
          <p:nvPr/>
        </p:nvPicPr>
        <p:blipFill>
          <a:blip r:embed="rId3">
            <a:extLst/>
          </a:blip>
          <a:stretch>
            <a:fillRect/>
          </a:stretch>
        </p:blipFill>
        <p:spPr>
          <a:xfrm>
            <a:off x="2479188" y="7124311"/>
            <a:ext cx="8494208" cy="866410"/>
          </a:xfrm>
          <a:prstGeom prst="rect">
            <a:avLst/>
          </a:prstGeom>
          <a:ln w="12700">
            <a:miter lim="400000"/>
          </a:ln>
        </p:spPr>
      </p:pic>
      <p:sp>
        <p:nvSpPr>
          <p:cNvPr id="217" name="Shape 217"/>
          <p:cNvSpPr>
            <a:spLocks noGrp="1"/>
          </p:cNvSpPr>
          <p:nvPr>
            <p:ph type="title"/>
          </p:nvPr>
        </p:nvSpPr>
        <p:spPr>
          <a:prstGeom prst="rect">
            <a:avLst/>
          </a:prstGeom>
        </p:spPr>
        <p:txBody>
          <a:bodyPr/>
          <a:lstStyle>
            <a:lvl1pPr>
              <a:tabLst>
                <a:tab pos="952500" algn="l"/>
              </a:tabLst>
            </a:lvl1pPr>
          </a:lstStyle>
          <a:p>
            <a:r>
              <a:t>Types of Mutation 2</a:t>
            </a:r>
          </a:p>
        </p:txBody>
      </p:sp>
      <p:sp>
        <p:nvSpPr>
          <p:cNvPr id="218" name="Shape 218"/>
          <p:cNvSpPr>
            <a:spLocks noGrp="1"/>
          </p:cNvSpPr>
          <p:nvPr>
            <p:ph type="body" sz="quarter" idx="1"/>
          </p:nvPr>
        </p:nvSpPr>
        <p:spPr>
          <a:xfrm>
            <a:off x="368300" y="1790700"/>
            <a:ext cx="10415886" cy="1861146"/>
          </a:xfrm>
          <a:prstGeom prst="rect">
            <a:avLst/>
          </a:prstGeom>
        </p:spPr>
        <p:txBody>
          <a:bodyPr/>
          <a:lstStyle/>
          <a:p>
            <a:pPr>
              <a:tabLst>
                <a:tab pos="1016000" algn="l"/>
              </a:tabLst>
            </a:pPr>
            <a:r>
              <a:t>Chromosome mutations (also called block mutations)</a:t>
            </a:r>
          </a:p>
          <a:p>
            <a:pPr lvl="1">
              <a:tabLst>
                <a:tab pos="1485900" algn="l"/>
              </a:tabLst>
            </a:pPr>
            <a:r>
              <a:t>Changes in the structure of a chromosome</a:t>
            </a:r>
            <a:br/>
            <a:r>
              <a:t>involving large pieces being rearranged.  </a:t>
            </a:r>
          </a:p>
          <a:p>
            <a:pPr lvl="1">
              <a:tabLst>
                <a:tab pos="1485900" algn="l"/>
              </a:tabLst>
            </a:pPr>
            <a:r>
              <a:t>Whole groups of genes are affected.</a:t>
            </a:r>
          </a:p>
        </p:txBody>
      </p:sp>
      <p:sp>
        <p:nvSpPr>
          <p:cNvPr id="219" name="Shape 219"/>
          <p:cNvSpPr/>
          <p:nvPr/>
        </p:nvSpPr>
        <p:spPr>
          <a:xfrm>
            <a:off x="8633425" y="3581400"/>
            <a:ext cx="2298701" cy="7012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400">
                <a:solidFill>
                  <a:srgbClr val="006795"/>
                </a:solidFill>
              </a:defRPr>
            </a:lvl1pPr>
          </a:lstStyle>
          <a:p>
            <a:r>
              <a:t>Chromosome segment is lost</a:t>
            </a:r>
          </a:p>
        </p:txBody>
      </p:sp>
      <p:sp>
        <p:nvSpPr>
          <p:cNvPr id="220" name="Shape 220"/>
          <p:cNvSpPr/>
          <p:nvPr/>
        </p:nvSpPr>
        <p:spPr>
          <a:xfrm flipV="1">
            <a:off x="9825566" y="4364566"/>
            <a:ext cx="1" cy="5757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1" name="Shape 221"/>
          <p:cNvSpPr/>
          <p:nvPr/>
        </p:nvSpPr>
        <p:spPr>
          <a:xfrm>
            <a:off x="4758266" y="5372479"/>
            <a:ext cx="3970314" cy="1654855"/>
          </a:xfrm>
          <a:custGeom>
            <a:avLst/>
            <a:gdLst/>
            <a:ahLst/>
            <a:cxnLst>
              <a:cxn ang="0">
                <a:pos x="wd2" y="hd2"/>
              </a:cxn>
              <a:cxn ang="5400000">
                <a:pos x="wd2" y="hd2"/>
              </a:cxn>
              <a:cxn ang="10800000">
                <a:pos x="wd2" y="hd2"/>
              </a:cxn>
              <a:cxn ang="16200000">
                <a:pos x="wd2" y="hd2"/>
              </a:cxn>
            </a:cxnLst>
            <a:rect l="0" t="0" r="r" b="b"/>
            <a:pathLst>
              <a:path w="21600" h="20494" extrusionOk="0">
                <a:moveTo>
                  <a:pt x="0" y="20494"/>
                </a:moveTo>
                <a:cubicBezTo>
                  <a:pt x="461" y="5395"/>
                  <a:pt x="7186" y="-1106"/>
                  <a:pt x="20544" y="152"/>
                </a:cubicBezTo>
                <a:lnTo>
                  <a:pt x="21600" y="240"/>
                </a:lnTo>
              </a:path>
            </a:pathLst>
          </a:custGeom>
          <a:ln w="63500">
            <a:solidFill>
              <a:schemeClr val="accent4">
                <a:hueOff val="384618"/>
                <a:satOff val="3869"/>
                <a:lumOff val="5802"/>
              </a:schemeClr>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2" name="Shape 222"/>
          <p:cNvSpPr/>
          <p:nvPr/>
        </p:nvSpPr>
        <p:spPr>
          <a:xfrm>
            <a:off x="3174902" y="8458200"/>
            <a:ext cx="92323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a:solidFill>
                  <a:srgbClr val="006795"/>
                </a:solidFill>
              </a:defRPr>
            </a:lvl1pPr>
          </a:lstStyle>
          <a:p>
            <a:r>
              <a:t>Break</a:t>
            </a:r>
          </a:p>
        </p:txBody>
      </p:sp>
      <p:sp>
        <p:nvSpPr>
          <p:cNvPr id="223" name="Shape 223"/>
          <p:cNvSpPr/>
          <p:nvPr/>
        </p:nvSpPr>
        <p:spPr>
          <a:xfrm>
            <a:off x="4597302" y="8458200"/>
            <a:ext cx="92323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a:solidFill>
                  <a:srgbClr val="006795"/>
                </a:solidFill>
              </a:defRPr>
            </a:lvl1pPr>
          </a:lstStyle>
          <a:p>
            <a:r>
              <a:t>Break</a:t>
            </a:r>
          </a:p>
        </p:txBody>
      </p:sp>
      <p:sp>
        <p:nvSpPr>
          <p:cNvPr id="224" name="Shape 224"/>
          <p:cNvSpPr/>
          <p:nvPr/>
        </p:nvSpPr>
        <p:spPr>
          <a:xfrm>
            <a:off x="7607154" y="8813800"/>
            <a:ext cx="1025030"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a:solidFill>
                  <a:srgbClr val="006795"/>
                </a:solidFill>
              </a:defRPr>
            </a:lvl1pPr>
          </a:lstStyle>
          <a:p>
            <a:r>
              <a:t>Genes</a:t>
            </a:r>
          </a:p>
        </p:txBody>
      </p:sp>
      <p:sp>
        <p:nvSpPr>
          <p:cNvPr id="225" name="Shape 225"/>
          <p:cNvSpPr/>
          <p:nvPr/>
        </p:nvSpPr>
        <p:spPr>
          <a:xfrm>
            <a:off x="5092700" y="7912099"/>
            <a:ext cx="0" cy="474134"/>
          </a:xfrm>
          <a:prstGeom prst="line">
            <a:avLst/>
          </a:prstGeom>
          <a:ln w="635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6" name="Shape 226"/>
          <p:cNvSpPr/>
          <p:nvPr/>
        </p:nvSpPr>
        <p:spPr>
          <a:xfrm>
            <a:off x="3708400" y="7899399"/>
            <a:ext cx="0" cy="474134"/>
          </a:xfrm>
          <a:prstGeom prst="line">
            <a:avLst/>
          </a:prstGeom>
          <a:ln w="635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7" name="Shape 227"/>
          <p:cNvSpPr/>
          <p:nvPr/>
        </p:nvSpPr>
        <p:spPr>
          <a:xfrm>
            <a:off x="7552266" y="7738533"/>
            <a:ext cx="563034" cy="9525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8" name="Shape 228"/>
          <p:cNvSpPr/>
          <p:nvPr/>
        </p:nvSpPr>
        <p:spPr>
          <a:xfrm>
            <a:off x="8009466" y="7721600"/>
            <a:ext cx="122768" cy="9863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9" name="Shape 229"/>
          <p:cNvSpPr/>
          <p:nvPr/>
        </p:nvSpPr>
        <p:spPr>
          <a:xfrm flipH="1">
            <a:off x="8136466" y="7738533"/>
            <a:ext cx="347134" cy="9355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30" name="Shape 230"/>
          <p:cNvSpPr/>
          <p:nvPr/>
        </p:nvSpPr>
        <p:spPr>
          <a:xfrm flipH="1">
            <a:off x="8136466" y="7738533"/>
            <a:ext cx="956734" cy="9525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1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1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1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1"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232"/>
          <p:cNvSpPr>
            <a:spLocks noGrp="1"/>
          </p:cNvSpPr>
          <p:nvPr>
            <p:ph type="title"/>
          </p:nvPr>
        </p:nvSpPr>
        <p:spPr>
          <a:xfrm>
            <a:off x="365759" y="368300"/>
            <a:ext cx="12192001" cy="944126"/>
          </a:xfrm>
          <a:prstGeom prst="rect">
            <a:avLst/>
          </a:prstGeom>
        </p:spPr>
        <p:txBody>
          <a:bodyPr/>
          <a:lstStyle>
            <a:lvl1pPr>
              <a:tabLst>
                <a:tab pos="952500" algn="l"/>
              </a:tabLst>
            </a:lvl1pPr>
          </a:lstStyle>
          <a:p>
            <a:r>
              <a:t>Types of Mutation 3</a:t>
            </a:r>
          </a:p>
        </p:txBody>
      </p:sp>
      <p:sp>
        <p:nvSpPr>
          <p:cNvPr id="233" name="Shape 233"/>
          <p:cNvSpPr>
            <a:spLocks noGrp="1"/>
          </p:cNvSpPr>
          <p:nvPr>
            <p:ph type="body" sz="quarter" idx="1"/>
          </p:nvPr>
        </p:nvSpPr>
        <p:spPr>
          <a:xfrm>
            <a:off x="368300" y="1790700"/>
            <a:ext cx="10881122" cy="1605658"/>
          </a:xfrm>
          <a:prstGeom prst="rect">
            <a:avLst/>
          </a:prstGeom>
        </p:spPr>
        <p:txBody>
          <a:bodyPr/>
          <a:lstStyle/>
          <a:p>
            <a:pPr>
              <a:tabLst>
                <a:tab pos="1016000" algn="l"/>
              </a:tabLst>
            </a:pPr>
            <a:r>
              <a:t>Changes in chromosome number </a:t>
            </a:r>
          </a:p>
          <a:p>
            <a:pPr lvl="1">
              <a:tabLst>
                <a:tab pos="1485900" algn="l"/>
              </a:tabLst>
            </a:pPr>
            <a:r>
              <a:t>Aneuploidy:  The loss or gain of whole chromosomes. </a:t>
            </a:r>
          </a:p>
          <a:p>
            <a:pPr lvl="1">
              <a:tabLst>
                <a:tab pos="1485900" algn="l"/>
              </a:tabLst>
            </a:pPr>
            <a:r>
              <a:t>Polyploidy:  The loss or gain of complete sets of chromosomes.</a:t>
            </a:r>
          </a:p>
        </p:txBody>
      </p:sp>
      <p:grpSp>
        <p:nvGrpSpPr>
          <p:cNvPr id="239" name="Group 239"/>
          <p:cNvGrpSpPr/>
          <p:nvPr/>
        </p:nvGrpSpPr>
        <p:grpSpPr>
          <a:xfrm>
            <a:off x="2619533" y="4876562"/>
            <a:ext cx="7977588" cy="2834879"/>
            <a:chOff x="-5169" y="-28177"/>
            <a:chExt cx="7977587" cy="2834877"/>
          </a:xfrm>
        </p:grpSpPr>
        <p:pic>
          <p:nvPicPr>
            <p:cNvPr id="234" name="Trisomy Chromosomes 1.png"/>
            <p:cNvPicPr>
              <a:picLocks noChangeAspect="1"/>
            </p:cNvPicPr>
            <p:nvPr/>
          </p:nvPicPr>
          <p:blipFill>
            <a:blip r:embed="rId2">
              <a:extLst/>
            </a:blip>
            <a:srcRect t="444" b="444"/>
            <a:stretch>
              <a:fillRect/>
            </a:stretch>
          </p:blipFill>
          <p:spPr>
            <a:xfrm>
              <a:off x="4584700" y="12700"/>
              <a:ext cx="1984145" cy="2794000"/>
            </a:xfrm>
            <a:prstGeom prst="rect">
              <a:avLst/>
            </a:prstGeom>
            <a:ln w="12700" cap="flat">
              <a:noFill/>
              <a:miter lim="400000"/>
            </a:ln>
            <a:effectLst/>
          </p:spPr>
        </p:pic>
        <p:sp>
          <p:nvSpPr>
            <p:cNvPr id="235" name="Shape 235"/>
            <p:cNvSpPr/>
            <p:nvPr/>
          </p:nvSpPr>
          <p:spPr>
            <a:xfrm>
              <a:off x="6644684" y="1397000"/>
              <a:ext cx="1327734" cy="12092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10500"/>
                </a:lnSpc>
                <a:tabLst>
                  <a:tab pos="520700" algn="l"/>
                </a:tabLst>
                <a:defRPr sz="8500" b="1">
                  <a:solidFill>
                    <a:srgbClr val="201B17"/>
                  </a:solidFill>
                </a:defRPr>
              </a:lvl1pPr>
            </a:lstStyle>
            <a:p>
              <a:pPr>
                <a:defRPr>
                  <a:solidFill>
                    <a:srgbClr val="483F36"/>
                  </a:solidFill>
                </a:defRPr>
              </a:pPr>
              <a:r>
                <a:rPr>
                  <a:solidFill>
                    <a:srgbClr val="201B17"/>
                  </a:solidFill>
                </a:rPr>
                <a:t>21</a:t>
              </a:r>
            </a:p>
          </p:txBody>
        </p:sp>
        <p:pic>
          <p:nvPicPr>
            <p:cNvPr id="236" name="Trisomy Chromosomes 1.pdf"/>
            <p:cNvPicPr>
              <a:picLocks noChangeAspect="1"/>
            </p:cNvPicPr>
            <p:nvPr/>
          </p:nvPicPr>
          <p:blipFill>
            <a:blip r:embed="rId3">
              <a:extLst/>
            </a:blip>
            <a:stretch>
              <a:fillRect/>
            </a:stretch>
          </p:blipFill>
          <p:spPr>
            <a:xfrm>
              <a:off x="0" y="0"/>
              <a:ext cx="1984145" cy="2794000"/>
            </a:xfrm>
            <a:prstGeom prst="rect">
              <a:avLst/>
            </a:prstGeom>
            <a:ln w="12700" cap="flat">
              <a:noFill/>
              <a:miter lim="400000"/>
            </a:ln>
            <a:effectLst/>
          </p:spPr>
        </p:pic>
        <p:pic>
          <p:nvPicPr>
            <p:cNvPr id="237" name="Trisomy Chromosomes 1.png"/>
            <p:cNvPicPr>
              <a:picLocks noChangeAspect="1"/>
            </p:cNvPicPr>
            <p:nvPr/>
          </p:nvPicPr>
          <p:blipFill>
            <a:blip r:embed="rId2">
              <a:extLst/>
            </a:blip>
            <a:srcRect t="444" b="444"/>
            <a:stretch>
              <a:fillRect/>
            </a:stretch>
          </p:blipFill>
          <p:spPr>
            <a:xfrm>
              <a:off x="2260600" y="0"/>
              <a:ext cx="1984145" cy="2794000"/>
            </a:xfrm>
            <a:prstGeom prst="rect">
              <a:avLst/>
            </a:prstGeom>
            <a:ln w="12700" cap="flat">
              <a:noFill/>
              <a:miter lim="400000"/>
            </a:ln>
            <a:effectLst/>
          </p:spPr>
        </p:pic>
        <p:pic>
          <p:nvPicPr>
            <p:cNvPr id="238" name="Trisomy Chromosomes 1.png"/>
            <p:cNvPicPr>
              <a:picLocks noChangeAspect="1"/>
            </p:cNvPicPr>
            <p:nvPr/>
          </p:nvPicPr>
          <p:blipFill>
            <a:blip r:embed="rId2">
              <a:extLst/>
            </a:blip>
            <a:stretch>
              <a:fillRect/>
            </a:stretch>
          </p:blipFill>
          <p:spPr>
            <a:xfrm>
              <a:off x="-5170" y="-28178"/>
              <a:ext cx="1993912" cy="2832934"/>
            </a:xfrm>
            <a:prstGeom prst="rect">
              <a:avLst/>
            </a:prstGeom>
            <a:ln w="12700" cap="flat">
              <a:noFill/>
              <a:miter lim="400000"/>
            </a:ln>
            <a:effectLst/>
          </p:spPr>
        </p:pic>
      </p:grpSp>
      <p:sp>
        <p:nvSpPr>
          <p:cNvPr id="240" name="Shape 240"/>
          <p:cNvSpPr/>
          <p:nvPr/>
        </p:nvSpPr>
        <p:spPr>
          <a:xfrm>
            <a:off x="3033267" y="8026400"/>
            <a:ext cx="6616701" cy="7393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3100"/>
              </a:lnSpc>
              <a:tabLst>
                <a:tab pos="520700" algn="l"/>
              </a:tabLst>
              <a:defRPr sz="2400">
                <a:solidFill>
                  <a:srgbClr val="006795"/>
                </a:solidFill>
              </a:defRPr>
            </a:pPr>
            <a:r>
              <a:t>The example above illustrates </a:t>
            </a:r>
            <a:r>
              <a:rPr b="1"/>
              <a:t>trisomy 21</a:t>
            </a:r>
            <a:r>
              <a:t>, a condition that is responsible for Down syndrome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3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1"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 name="Missense Substitution 2.png"/>
          <p:cNvPicPr>
            <a:picLocks noChangeAspect="1"/>
          </p:cNvPicPr>
          <p:nvPr/>
        </p:nvPicPr>
        <p:blipFill>
          <a:blip r:embed="rId2">
            <a:extLst/>
          </a:blip>
          <a:stretch>
            <a:fillRect/>
          </a:stretch>
        </p:blipFill>
        <p:spPr>
          <a:xfrm>
            <a:off x="2563568" y="7589931"/>
            <a:ext cx="9103977" cy="1129484"/>
          </a:xfrm>
          <a:prstGeom prst="rect">
            <a:avLst/>
          </a:prstGeom>
          <a:ln w="12700">
            <a:miter lim="400000"/>
          </a:ln>
        </p:spPr>
      </p:pic>
      <p:sp>
        <p:nvSpPr>
          <p:cNvPr id="243" name="Shape 243"/>
          <p:cNvSpPr>
            <a:spLocks noGrp="1"/>
          </p:cNvSpPr>
          <p:nvPr>
            <p:ph type="title"/>
          </p:nvPr>
        </p:nvSpPr>
        <p:spPr>
          <a:xfrm>
            <a:off x="365759" y="342900"/>
            <a:ext cx="12192001" cy="906026"/>
          </a:xfrm>
          <a:prstGeom prst="rect">
            <a:avLst/>
          </a:prstGeom>
        </p:spPr>
        <p:txBody>
          <a:bodyPr/>
          <a:lstStyle>
            <a:lvl1pPr>
              <a:tabLst>
                <a:tab pos="952500" algn="l"/>
              </a:tabLst>
            </a:lvl1pPr>
          </a:lstStyle>
          <a:p>
            <a:r>
              <a:t>Point Mutations 1</a:t>
            </a:r>
          </a:p>
        </p:txBody>
      </p:sp>
      <p:sp>
        <p:nvSpPr>
          <p:cNvPr id="244" name="Shape 244"/>
          <p:cNvSpPr>
            <a:spLocks noGrp="1"/>
          </p:cNvSpPr>
          <p:nvPr>
            <p:ph type="body" sz="half" idx="1"/>
          </p:nvPr>
        </p:nvSpPr>
        <p:spPr>
          <a:xfrm>
            <a:off x="368300" y="1790700"/>
            <a:ext cx="10458699" cy="3930948"/>
          </a:xfrm>
          <a:prstGeom prst="rect">
            <a:avLst/>
          </a:prstGeom>
        </p:spPr>
        <p:txBody>
          <a:bodyPr/>
          <a:lstStyle/>
          <a:p>
            <a:pPr>
              <a:tabLst>
                <a:tab pos="1016000" algn="l"/>
              </a:tabLst>
            </a:pPr>
            <a:r>
              <a:t>Gene mutations change the sequence of bases in DNA for a single gene. They may produce a new allele of a gene.</a:t>
            </a:r>
          </a:p>
          <a:p>
            <a:pPr lvl="1">
              <a:tabLst>
                <a:tab pos="1485900" algn="l"/>
              </a:tabLst>
            </a:pPr>
            <a:r>
              <a:t>Gene mutations involving a single nucleotide are usually called point mutations.</a:t>
            </a:r>
          </a:p>
          <a:p>
            <a:pPr lvl="1">
              <a:tabLst>
                <a:tab pos="1485900" algn="l"/>
              </a:tabLst>
            </a:pPr>
            <a:r>
              <a:t>The new DNA sequence may result in a new sequence of the amino acids constituting a protein.</a:t>
            </a:r>
          </a:p>
          <a:p>
            <a:pPr lvl="1">
              <a:tabLst>
                <a:tab pos="1485900" algn="l"/>
              </a:tabLst>
            </a:pPr>
            <a:r>
              <a:t>Because of the degeneracy in the genetic code, not all changes in a DNA sequence will result in a new sequence of amino acids.</a:t>
            </a:r>
          </a:p>
          <a:p>
            <a:pPr lvl="1">
              <a:tabLst>
                <a:tab pos="1485900" algn="l"/>
              </a:tabLst>
            </a:pPr>
            <a:r>
              <a:t>Even with a change in amino acid sequence, protein function may be unaffected (the mutation is silent).</a:t>
            </a:r>
          </a:p>
        </p:txBody>
      </p:sp>
      <p:sp>
        <p:nvSpPr>
          <p:cNvPr id="245" name="Shape 245"/>
          <p:cNvSpPr/>
          <p:nvPr/>
        </p:nvSpPr>
        <p:spPr>
          <a:xfrm>
            <a:off x="557742" y="7823200"/>
            <a:ext cx="16637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Mutant DNA</a:t>
            </a:r>
          </a:p>
        </p:txBody>
      </p:sp>
      <p:sp>
        <p:nvSpPr>
          <p:cNvPr id="246" name="Shape 246"/>
          <p:cNvSpPr/>
          <p:nvPr/>
        </p:nvSpPr>
        <p:spPr>
          <a:xfrm flipH="1" flipV="1">
            <a:off x="5926666" y="6942666"/>
            <a:ext cx="4234" cy="757768"/>
          </a:xfrm>
          <a:prstGeom prst="line">
            <a:avLst/>
          </a:prstGeom>
          <a:ln w="1270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4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4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4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1" build="p" bldLvl="5"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 name="Point Mutation Original 3.png"/>
          <p:cNvPicPr>
            <a:picLocks noChangeAspect="1"/>
          </p:cNvPicPr>
          <p:nvPr/>
        </p:nvPicPr>
        <p:blipFill>
          <a:blip r:embed="rId2">
            <a:extLst/>
          </a:blip>
          <a:stretch>
            <a:fillRect/>
          </a:stretch>
        </p:blipFill>
        <p:spPr>
          <a:xfrm>
            <a:off x="3730337" y="7735521"/>
            <a:ext cx="7024708" cy="895253"/>
          </a:xfrm>
          <a:prstGeom prst="rect">
            <a:avLst/>
          </a:prstGeom>
          <a:ln w="12700">
            <a:miter lim="400000"/>
          </a:ln>
        </p:spPr>
      </p:pic>
      <p:pic>
        <p:nvPicPr>
          <p:cNvPr id="249" name="Point Mutation Original 2.png"/>
          <p:cNvPicPr>
            <a:picLocks noChangeAspect="1"/>
          </p:cNvPicPr>
          <p:nvPr/>
        </p:nvPicPr>
        <p:blipFill>
          <a:blip r:embed="rId3">
            <a:extLst/>
          </a:blip>
          <a:stretch>
            <a:fillRect/>
          </a:stretch>
        </p:blipFill>
        <p:spPr>
          <a:xfrm>
            <a:off x="3485937" y="5724626"/>
            <a:ext cx="7423922" cy="906571"/>
          </a:xfrm>
          <a:prstGeom prst="rect">
            <a:avLst/>
          </a:prstGeom>
          <a:ln w="12700">
            <a:miter lim="400000"/>
          </a:ln>
        </p:spPr>
      </p:pic>
      <p:pic>
        <p:nvPicPr>
          <p:cNvPr id="250" name="Point Mutation Original 1.png"/>
          <p:cNvPicPr>
            <a:picLocks noChangeAspect="1"/>
          </p:cNvPicPr>
          <p:nvPr/>
        </p:nvPicPr>
        <p:blipFill>
          <a:blip r:embed="rId4">
            <a:extLst/>
          </a:blip>
          <a:stretch>
            <a:fillRect/>
          </a:stretch>
        </p:blipFill>
        <p:spPr>
          <a:xfrm>
            <a:off x="3484359" y="3603819"/>
            <a:ext cx="7390257" cy="921042"/>
          </a:xfrm>
          <a:prstGeom prst="rect">
            <a:avLst/>
          </a:prstGeom>
          <a:ln w="12700">
            <a:miter lim="400000"/>
          </a:ln>
        </p:spPr>
      </p:pic>
      <p:sp>
        <p:nvSpPr>
          <p:cNvPr id="251" name="Shape 251"/>
          <p:cNvSpPr>
            <a:spLocks noGrp="1"/>
          </p:cNvSpPr>
          <p:nvPr>
            <p:ph type="title"/>
          </p:nvPr>
        </p:nvSpPr>
        <p:spPr>
          <a:prstGeom prst="rect">
            <a:avLst/>
          </a:prstGeom>
        </p:spPr>
        <p:txBody>
          <a:bodyPr/>
          <a:lstStyle>
            <a:lvl1pPr>
              <a:tabLst>
                <a:tab pos="952500" algn="l"/>
              </a:tabLst>
            </a:lvl1pPr>
          </a:lstStyle>
          <a:p>
            <a:r>
              <a:t>Point Mutations 2</a:t>
            </a:r>
          </a:p>
        </p:txBody>
      </p:sp>
      <p:sp>
        <p:nvSpPr>
          <p:cNvPr id="252" name="Shape 252"/>
          <p:cNvSpPr>
            <a:spLocks noGrp="1"/>
          </p:cNvSpPr>
          <p:nvPr>
            <p:ph type="body" sz="quarter" idx="1"/>
          </p:nvPr>
        </p:nvSpPr>
        <p:spPr>
          <a:xfrm>
            <a:off x="368300" y="1790700"/>
            <a:ext cx="11714262" cy="744340"/>
          </a:xfrm>
          <a:prstGeom prst="rect">
            <a:avLst/>
          </a:prstGeom>
        </p:spPr>
        <p:txBody>
          <a:bodyPr/>
          <a:lstStyle>
            <a:lvl1pPr>
              <a:tabLst>
                <a:tab pos="1016000" algn="l"/>
              </a:tabLst>
            </a:lvl1pPr>
          </a:lstStyle>
          <a:p>
            <a:r>
              <a:t>As a reference for the following screens, the diagram below illustrates the transcription and translation of DNA without a point mutation.</a:t>
            </a:r>
          </a:p>
        </p:txBody>
      </p:sp>
      <p:sp>
        <p:nvSpPr>
          <p:cNvPr id="253" name="Shape 253"/>
          <p:cNvSpPr/>
          <p:nvPr/>
        </p:nvSpPr>
        <p:spPr>
          <a:xfrm>
            <a:off x="5254249" y="3009900"/>
            <a:ext cx="3615830"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Original unaltered code</a:t>
            </a:r>
          </a:p>
        </p:txBody>
      </p:sp>
      <p:sp>
        <p:nvSpPr>
          <p:cNvPr id="254" name="Shape 254"/>
          <p:cNvSpPr/>
          <p:nvPr/>
        </p:nvSpPr>
        <p:spPr>
          <a:xfrm>
            <a:off x="7687265" y="4864100"/>
            <a:ext cx="164867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i="1">
                <a:solidFill>
                  <a:srgbClr val="006795"/>
                </a:solidFill>
              </a:defRPr>
            </a:lvl1pPr>
          </a:lstStyle>
          <a:p>
            <a:r>
              <a:t>Transcription</a:t>
            </a:r>
          </a:p>
        </p:txBody>
      </p:sp>
      <p:sp>
        <p:nvSpPr>
          <p:cNvPr id="255" name="Shape 255"/>
          <p:cNvSpPr/>
          <p:nvPr/>
        </p:nvSpPr>
        <p:spPr>
          <a:xfrm>
            <a:off x="3819459" y="8940800"/>
            <a:ext cx="667964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a:solidFill>
                  <a:srgbClr val="006795"/>
                </a:solidFill>
              </a:defRPr>
            </a:lvl1pPr>
          </a:lstStyle>
          <a:p>
            <a:r>
              <a:t>Amino acid sequence forms a normal polypeptide chain</a:t>
            </a:r>
          </a:p>
        </p:txBody>
      </p:sp>
      <p:sp>
        <p:nvSpPr>
          <p:cNvPr id="256" name="Shape 256"/>
          <p:cNvSpPr/>
          <p:nvPr/>
        </p:nvSpPr>
        <p:spPr>
          <a:xfrm>
            <a:off x="7791997" y="7150100"/>
            <a:ext cx="1426512"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i="1">
                <a:solidFill>
                  <a:srgbClr val="006795"/>
                </a:solidFill>
              </a:defRPr>
            </a:lvl1pPr>
          </a:lstStyle>
          <a:p>
            <a:r>
              <a:t>Translation</a:t>
            </a:r>
          </a:p>
        </p:txBody>
      </p:sp>
      <p:sp>
        <p:nvSpPr>
          <p:cNvPr id="257" name="Shape 257"/>
          <p:cNvSpPr/>
          <p:nvPr/>
        </p:nvSpPr>
        <p:spPr>
          <a:xfrm flipV="1">
            <a:off x="7188200" y="4508500"/>
            <a:ext cx="0" cy="1066800"/>
          </a:xfrm>
          <a:prstGeom prst="line">
            <a:avLst/>
          </a:prstGeom>
          <a:ln w="1016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58" name="Shape 258"/>
          <p:cNvSpPr/>
          <p:nvPr/>
        </p:nvSpPr>
        <p:spPr>
          <a:xfrm flipV="1">
            <a:off x="7162800" y="6794500"/>
            <a:ext cx="0" cy="1066800"/>
          </a:xfrm>
          <a:prstGeom prst="line">
            <a:avLst/>
          </a:prstGeom>
          <a:ln w="1016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59" name="Shape 259"/>
          <p:cNvSpPr/>
          <p:nvPr/>
        </p:nvSpPr>
        <p:spPr>
          <a:xfrm>
            <a:off x="1471261" y="3695700"/>
            <a:ext cx="18161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Original DNA</a:t>
            </a:r>
          </a:p>
        </p:txBody>
      </p:sp>
      <p:sp>
        <p:nvSpPr>
          <p:cNvPr id="260" name="Shape 260"/>
          <p:cNvSpPr/>
          <p:nvPr/>
        </p:nvSpPr>
        <p:spPr>
          <a:xfrm>
            <a:off x="2348395" y="6299200"/>
            <a:ext cx="94194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b="1">
                <a:solidFill>
                  <a:srgbClr val="000000"/>
                </a:solidFill>
              </a:defRPr>
            </a:lvl1pPr>
          </a:lstStyle>
          <a:p>
            <a:r>
              <a:t>mRNA</a:t>
            </a:r>
          </a:p>
        </p:txBody>
      </p:sp>
      <p:sp>
        <p:nvSpPr>
          <p:cNvPr id="261" name="Shape 261"/>
          <p:cNvSpPr/>
          <p:nvPr/>
        </p:nvSpPr>
        <p:spPr>
          <a:xfrm>
            <a:off x="1456278" y="8013700"/>
            <a:ext cx="18288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Amino acids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5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5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1"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Missense Substitution 4-2.png"/>
          <p:cNvPicPr>
            <a:picLocks noChangeAspect="1"/>
          </p:cNvPicPr>
          <p:nvPr/>
        </p:nvPicPr>
        <p:blipFill>
          <a:blip r:embed="rId2">
            <a:extLst/>
          </a:blip>
          <a:stretch>
            <a:fillRect/>
          </a:stretch>
        </p:blipFill>
        <p:spPr>
          <a:xfrm>
            <a:off x="4074647" y="7076670"/>
            <a:ext cx="5953135" cy="763426"/>
          </a:xfrm>
          <a:prstGeom prst="rect">
            <a:avLst/>
          </a:prstGeom>
          <a:ln w="12700">
            <a:miter lim="400000"/>
          </a:ln>
        </p:spPr>
      </p:pic>
      <p:pic>
        <p:nvPicPr>
          <p:cNvPr id="264" name="Missense Substitution 3.png"/>
          <p:cNvPicPr>
            <a:picLocks noChangeAspect="1"/>
          </p:cNvPicPr>
          <p:nvPr/>
        </p:nvPicPr>
        <p:blipFill>
          <a:blip r:embed="rId3">
            <a:extLst/>
          </a:blip>
          <a:stretch>
            <a:fillRect/>
          </a:stretch>
        </p:blipFill>
        <p:spPr>
          <a:xfrm>
            <a:off x="3844317" y="5891746"/>
            <a:ext cx="6373399" cy="818530"/>
          </a:xfrm>
          <a:prstGeom prst="rect">
            <a:avLst/>
          </a:prstGeom>
          <a:ln w="12700">
            <a:miter lim="400000"/>
          </a:ln>
        </p:spPr>
      </p:pic>
      <p:pic>
        <p:nvPicPr>
          <p:cNvPr id="265" name="Missense Substitution 2.png"/>
          <p:cNvPicPr>
            <a:picLocks noChangeAspect="1"/>
          </p:cNvPicPr>
          <p:nvPr/>
        </p:nvPicPr>
        <p:blipFill>
          <a:blip r:embed="rId4">
            <a:extLst/>
          </a:blip>
          <a:stretch>
            <a:fillRect/>
          </a:stretch>
        </p:blipFill>
        <p:spPr>
          <a:xfrm>
            <a:off x="3833568" y="5217710"/>
            <a:ext cx="6380655" cy="791616"/>
          </a:xfrm>
          <a:prstGeom prst="rect">
            <a:avLst/>
          </a:prstGeom>
          <a:ln w="12700">
            <a:miter lim="400000"/>
          </a:ln>
        </p:spPr>
      </p:pic>
      <p:pic>
        <p:nvPicPr>
          <p:cNvPr id="266" name="Point Mutation Original 1.png"/>
          <p:cNvPicPr>
            <a:picLocks noChangeAspect="1"/>
          </p:cNvPicPr>
          <p:nvPr/>
        </p:nvPicPr>
        <p:blipFill>
          <a:blip r:embed="rId5">
            <a:extLst/>
          </a:blip>
          <a:stretch>
            <a:fillRect/>
          </a:stretch>
        </p:blipFill>
        <p:spPr>
          <a:xfrm>
            <a:off x="3850119" y="4084537"/>
            <a:ext cx="6345575" cy="790844"/>
          </a:xfrm>
          <a:prstGeom prst="rect">
            <a:avLst/>
          </a:prstGeom>
          <a:ln w="12700">
            <a:miter lim="400000"/>
          </a:ln>
        </p:spPr>
      </p:pic>
      <p:sp>
        <p:nvSpPr>
          <p:cNvPr id="267" name="Shape 267"/>
          <p:cNvSpPr>
            <a:spLocks noGrp="1"/>
          </p:cNvSpPr>
          <p:nvPr>
            <p:ph type="title"/>
          </p:nvPr>
        </p:nvSpPr>
        <p:spPr>
          <a:prstGeom prst="rect">
            <a:avLst/>
          </a:prstGeom>
        </p:spPr>
        <p:txBody>
          <a:bodyPr/>
          <a:lstStyle>
            <a:lvl1pPr>
              <a:tabLst>
                <a:tab pos="952500" algn="l"/>
              </a:tabLst>
            </a:lvl1pPr>
          </a:lstStyle>
          <a:p>
            <a:r>
              <a:t>Missense Substitution</a:t>
            </a:r>
          </a:p>
        </p:txBody>
      </p:sp>
      <p:sp>
        <p:nvSpPr>
          <p:cNvPr id="268" name="Shape 268"/>
          <p:cNvSpPr>
            <a:spLocks noGrp="1"/>
          </p:cNvSpPr>
          <p:nvPr>
            <p:ph type="body" sz="quarter" idx="1"/>
          </p:nvPr>
        </p:nvSpPr>
        <p:spPr>
          <a:xfrm>
            <a:off x="368300" y="1790700"/>
            <a:ext cx="11475740" cy="903690"/>
          </a:xfrm>
          <a:prstGeom prst="rect">
            <a:avLst/>
          </a:prstGeom>
        </p:spPr>
        <p:txBody>
          <a:bodyPr/>
          <a:lstStyle>
            <a:lvl1pPr>
              <a:tabLst>
                <a:tab pos="1016000" algn="l"/>
              </a:tabLst>
            </a:lvl1pPr>
          </a:lstStyle>
          <a:p>
            <a:r>
              <a:t>A single base is substituted with another, resulting in a codon that codes for a different amino acid.</a:t>
            </a:r>
          </a:p>
        </p:txBody>
      </p:sp>
      <p:sp>
        <p:nvSpPr>
          <p:cNvPr id="269" name="Shape 269"/>
          <p:cNvSpPr/>
          <p:nvPr/>
        </p:nvSpPr>
        <p:spPr>
          <a:xfrm>
            <a:off x="4022057" y="3390900"/>
            <a:ext cx="4292626"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Mutation:  Substitute </a:t>
            </a:r>
            <a:r>
              <a:rPr b="1"/>
              <a:t>T</a:t>
            </a:r>
            <a:r>
              <a:t> instead of </a:t>
            </a:r>
            <a:r>
              <a:rPr b="1"/>
              <a:t>C</a:t>
            </a:r>
          </a:p>
        </p:txBody>
      </p:sp>
      <p:sp>
        <p:nvSpPr>
          <p:cNvPr id="270" name="Shape 270"/>
          <p:cNvSpPr/>
          <p:nvPr/>
        </p:nvSpPr>
        <p:spPr>
          <a:xfrm>
            <a:off x="4151531" y="8305800"/>
            <a:ext cx="4945182"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Polypeptide chain with wrong amino acid</a:t>
            </a:r>
          </a:p>
        </p:txBody>
      </p:sp>
      <p:sp>
        <p:nvSpPr>
          <p:cNvPr id="271" name="Shape 271"/>
          <p:cNvSpPr/>
          <p:nvPr/>
        </p:nvSpPr>
        <p:spPr>
          <a:xfrm flipV="1">
            <a:off x="6172199" y="3767666"/>
            <a:ext cx="1" cy="423334"/>
          </a:xfrm>
          <a:prstGeom prst="line">
            <a:avLst/>
          </a:prstGeom>
          <a:ln w="508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72" name="Shape 272"/>
          <p:cNvSpPr/>
          <p:nvPr/>
        </p:nvSpPr>
        <p:spPr>
          <a:xfrm>
            <a:off x="6540500" y="7759700"/>
            <a:ext cx="0" cy="423334"/>
          </a:xfrm>
          <a:prstGeom prst="line">
            <a:avLst/>
          </a:prstGeom>
          <a:ln w="508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73" name="Shape 273"/>
          <p:cNvSpPr/>
          <p:nvPr/>
        </p:nvSpPr>
        <p:spPr>
          <a:xfrm>
            <a:off x="1763361" y="4114800"/>
            <a:ext cx="1854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Original DNA</a:t>
            </a:r>
          </a:p>
        </p:txBody>
      </p:sp>
      <p:sp>
        <p:nvSpPr>
          <p:cNvPr id="274" name="Shape 274"/>
          <p:cNvSpPr/>
          <p:nvPr/>
        </p:nvSpPr>
        <p:spPr>
          <a:xfrm>
            <a:off x="1916642" y="5308600"/>
            <a:ext cx="17018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Mutant DNA</a:t>
            </a:r>
          </a:p>
        </p:txBody>
      </p:sp>
      <p:sp>
        <p:nvSpPr>
          <p:cNvPr id="275" name="Shape 275"/>
          <p:cNvSpPr/>
          <p:nvPr/>
        </p:nvSpPr>
        <p:spPr>
          <a:xfrm>
            <a:off x="2678595" y="6350000"/>
            <a:ext cx="94194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b="1">
                <a:solidFill>
                  <a:srgbClr val="000000"/>
                </a:solidFill>
              </a:defRPr>
            </a:lvl1pPr>
          </a:lstStyle>
          <a:p>
            <a:r>
              <a:t>mRNA</a:t>
            </a:r>
          </a:p>
        </p:txBody>
      </p:sp>
      <p:sp>
        <p:nvSpPr>
          <p:cNvPr id="276" name="Shape 276"/>
          <p:cNvSpPr/>
          <p:nvPr/>
        </p:nvSpPr>
        <p:spPr>
          <a:xfrm>
            <a:off x="1888078" y="7302500"/>
            <a:ext cx="1727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Amino acids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6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6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1"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 name="Nonsense Substitution 2.png"/>
          <p:cNvPicPr>
            <a:picLocks noChangeAspect="1"/>
          </p:cNvPicPr>
          <p:nvPr/>
        </p:nvPicPr>
        <p:blipFill>
          <a:blip r:embed="rId2">
            <a:extLst/>
          </a:blip>
          <a:stretch>
            <a:fillRect/>
          </a:stretch>
        </p:blipFill>
        <p:spPr>
          <a:xfrm>
            <a:off x="3649722" y="6114732"/>
            <a:ext cx="6927016" cy="902586"/>
          </a:xfrm>
          <a:prstGeom prst="rect">
            <a:avLst/>
          </a:prstGeom>
          <a:ln w="12700">
            <a:miter lim="400000"/>
          </a:ln>
        </p:spPr>
      </p:pic>
      <p:pic>
        <p:nvPicPr>
          <p:cNvPr id="279" name="Nonsense Substitution 3.png"/>
          <p:cNvPicPr>
            <a:picLocks noChangeAspect="1"/>
          </p:cNvPicPr>
          <p:nvPr/>
        </p:nvPicPr>
        <p:blipFill>
          <a:blip r:embed="rId3">
            <a:extLst/>
          </a:blip>
          <a:stretch>
            <a:fillRect/>
          </a:stretch>
        </p:blipFill>
        <p:spPr>
          <a:xfrm>
            <a:off x="3643328" y="6869140"/>
            <a:ext cx="6950055" cy="849259"/>
          </a:xfrm>
          <a:prstGeom prst="rect">
            <a:avLst/>
          </a:prstGeom>
          <a:ln w="12700">
            <a:miter lim="400000"/>
          </a:ln>
        </p:spPr>
      </p:pic>
      <p:pic>
        <p:nvPicPr>
          <p:cNvPr id="280" name="Nonsense Substitution 4.png"/>
          <p:cNvPicPr>
            <a:picLocks noChangeAspect="1"/>
          </p:cNvPicPr>
          <p:nvPr/>
        </p:nvPicPr>
        <p:blipFill>
          <a:blip r:embed="rId4">
            <a:extLst/>
          </a:blip>
          <a:stretch>
            <a:fillRect/>
          </a:stretch>
        </p:blipFill>
        <p:spPr>
          <a:xfrm>
            <a:off x="3799284" y="8258201"/>
            <a:ext cx="2162104" cy="872187"/>
          </a:xfrm>
          <a:prstGeom prst="rect">
            <a:avLst/>
          </a:prstGeom>
          <a:ln w="12700">
            <a:miter lim="400000"/>
          </a:ln>
        </p:spPr>
      </p:pic>
      <p:pic>
        <p:nvPicPr>
          <p:cNvPr id="281" name="Point Mutation Original 1.png"/>
          <p:cNvPicPr>
            <a:picLocks noChangeAspect="1"/>
          </p:cNvPicPr>
          <p:nvPr/>
        </p:nvPicPr>
        <p:blipFill>
          <a:blip r:embed="rId5">
            <a:extLst/>
          </a:blip>
          <a:stretch>
            <a:fillRect/>
          </a:stretch>
        </p:blipFill>
        <p:spPr>
          <a:xfrm>
            <a:off x="3636759" y="4729697"/>
            <a:ext cx="6968970" cy="868537"/>
          </a:xfrm>
          <a:prstGeom prst="rect">
            <a:avLst/>
          </a:prstGeom>
          <a:ln w="12700">
            <a:miter lim="400000"/>
          </a:ln>
        </p:spPr>
      </p:pic>
      <p:sp>
        <p:nvSpPr>
          <p:cNvPr id="282" name="Shape 282"/>
          <p:cNvSpPr>
            <a:spLocks noGrp="1"/>
          </p:cNvSpPr>
          <p:nvPr>
            <p:ph type="title"/>
          </p:nvPr>
        </p:nvSpPr>
        <p:spPr>
          <a:prstGeom prst="rect">
            <a:avLst/>
          </a:prstGeom>
        </p:spPr>
        <p:txBody>
          <a:bodyPr/>
          <a:lstStyle>
            <a:lvl1pPr>
              <a:tabLst>
                <a:tab pos="952500" algn="l"/>
              </a:tabLst>
            </a:lvl1pPr>
          </a:lstStyle>
          <a:p>
            <a:r>
              <a:t>Nonsense Substitution</a:t>
            </a:r>
          </a:p>
        </p:txBody>
      </p:sp>
      <p:sp>
        <p:nvSpPr>
          <p:cNvPr id="283" name="Shape 283"/>
          <p:cNvSpPr>
            <a:spLocks noGrp="1"/>
          </p:cNvSpPr>
          <p:nvPr>
            <p:ph type="body" sz="quarter" idx="1"/>
          </p:nvPr>
        </p:nvSpPr>
        <p:spPr>
          <a:xfrm>
            <a:off x="368300" y="1790700"/>
            <a:ext cx="11912303" cy="1543596"/>
          </a:xfrm>
          <a:prstGeom prst="rect">
            <a:avLst/>
          </a:prstGeom>
        </p:spPr>
        <p:txBody>
          <a:bodyPr/>
          <a:lstStyle/>
          <a:p>
            <a:pPr>
              <a:tabLst>
                <a:tab pos="1016000" algn="l"/>
              </a:tabLst>
            </a:pPr>
            <a:r>
              <a:t>A single base is substituted by another.</a:t>
            </a:r>
          </a:p>
          <a:p>
            <a:pPr lvl="1">
              <a:tabLst>
                <a:tab pos="1485900" algn="l"/>
              </a:tabLst>
            </a:pPr>
            <a:r>
              <a:t>This results in a new triplet that does not code for an amino acid.</a:t>
            </a:r>
          </a:p>
          <a:p>
            <a:pPr lvl="1">
              <a:tabLst>
                <a:tab pos="1485900" algn="l"/>
              </a:tabLst>
            </a:pPr>
            <a:r>
              <a:t>The resulting triplet may be an instruction to terminate the synthesis of the polypeptide chain.</a:t>
            </a:r>
          </a:p>
        </p:txBody>
      </p:sp>
      <p:sp>
        <p:nvSpPr>
          <p:cNvPr id="284" name="Shape 284"/>
          <p:cNvSpPr/>
          <p:nvPr/>
        </p:nvSpPr>
        <p:spPr>
          <a:xfrm>
            <a:off x="3863975" y="3987800"/>
            <a:ext cx="432231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Mutation:  Substitute </a:t>
            </a:r>
            <a:r>
              <a:rPr b="1"/>
              <a:t>A</a:t>
            </a:r>
            <a:r>
              <a:t> instead of </a:t>
            </a:r>
            <a:r>
              <a:rPr b="1"/>
              <a:t>C</a:t>
            </a:r>
          </a:p>
        </p:txBody>
      </p:sp>
      <p:sp>
        <p:nvSpPr>
          <p:cNvPr id="285" name="Shape 285"/>
          <p:cNvSpPr/>
          <p:nvPr/>
        </p:nvSpPr>
        <p:spPr>
          <a:xfrm>
            <a:off x="7413408" y="8432800"/>
            <a:ext cx="4445001" cy="9779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700"/>
              </a:lnSpc>
              <a:tabLst>
                <a:tab pos="520700" algn="l"/>
              </a:tabLst>
              <a:defRPr sz="2000">
                <a:solidFill>
                  <a:srgbClr val="006795"/>
                </a:solidFill>
              </a:defRPr>
            </a:pPr>
            <a:r>
              <a:t>Mutated DNA creates a </a:t>
            </a:r>
            <a:r>
              <a:rPr b="1"/>
              <a:t>STOP</a:t>
            </a:r>
            <a:r>
              <a:t> </a:t>
            </a:r>
            <a:r>
              <a:rPr b="1"/>
              <a:t>codon</a:t>
            </a:r>
            <a:r>
              <a:t> which prematurely ends synthesis of the polypeptide chain</a:t>
            </a:r>
          </a:p>
        </p:txBody>
      </p:sp>
      <p:sp>
        <p:nvSpPr>
          <p:cNvPr id="286" name="Shape 286"/>
          <p:cNvSpPr/>
          <p:nvPr/>
        </p:nvSpPr>
        <p:spPr>
          <a:xfrm>
            <a:off x="6688666" y="7967133"/>
            <a:ext cx="524934" cy="702734"/>
          </a:xfrm>
          <a:prstGeom prst="line">
            <a:avLst/>
          </a:prstGeom>
          <a:ln w="381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87" name="Shape 287"/>
          <p:cNvSpPr/>
          <p:nvPr/>
        </p:nvSpPr>
        <p:spPr>
          <a:xfrm flipV="1">
            <a:off x="6180666" y="4317999"/>
            <a:ext cx="1" cy="440268"/>
          </a:xfrm>
          <a:prstGeom prst="line">
            <a:avLst/>
          </a:prstGeom>
          <a:ln w="381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88" name="Shape 288"/>
          <p:cNvSpPr/>
          <p:nvPr/>
        </p:nvSpPr>
        <p:spPr>
          <a:xfrm>
            <a:off x="1496661" y="4838700"/>
            <a:ext cx="1854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Original DNA</a:t>
            </a:r>
          </a:p>
        </p:txBody>
      </p:sp>
      <p:sp>
        <p:nvSpPr>
          <p:cNvPr id="289" name="Shape 289"/>
          <p:cNvSpPr/>
          <p:nvPr/>
        </p:nvSpPr>
        <p:spPr>
          <a:xfrm>
            <a:off x="1649942" y="6108700"/>
            <a:ext cx="17018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Mutant DNA</a:t>
            </a:r>
          </a:p>
        </p:txBody>
      </p:sp>
      <p:sp>
        <p:nvSpPr>
          <p:cNvPr id="290" name="Shape 290"/>
          <p:cNvSpPr/>
          <p:nvPr/>
        </p:nvSpPr>
        <p:spPr>
          <a:xfrm>
            <a:off x="2411895" y="7366000"/>
            <a:ext cx="94194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b="1">
                <a:solidFill>
                  <a:srgbClr val="000000"/>
                </a:solidFill>
              </a:defRPr>
            </a:lvl1pPr>
          </a:lstStyle>
          <a:p>
            <a:r>
              <a:t>mRNA</a:t>
            </a:r>
          </a:p>
        </p:txBody>
      </p:sp>
      <p:sp>
        <p:nvSpPr>
          <p:cNvPr id="291" name="Shape 291"/>
          <p:cNvSpPr/>
          <p:nvPr/>
        </p:nvSpPr>
        <p:spPr>
          <a:xfrm>
            <a:off x="1621378" y="8610600"/>
            <a:ext cx="1727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000000"/>
                </a:solidFill>
              </a:defRPr>
            </a:lvl1pPr>
          </a:lstStyle>
          <a:p>
            <a:r>
              <a:t>Amino acids</a:t>
            </a:r>
          </a:p>
        </p:txBody>
      </p:sp>
      <p:sp>
        <p:nvSpPr>
          <p:cNvPr id="292" name="Shape 292"/>
          <p:cNvSpPr/>
          <p:nvPr/>
        </p:nvSpPr>
        <p:spPr>
          <a:xfrm>
            <a:off x="6019800" y="7518400"/>
            <a:ext cx="1079500" cy="3683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85" y="21600"/>
                </a:lnTo>
                <a:lnTo>
                  <a:pt x="21600" y="21600"/>
                </a:lnTo>
                <a:lnTo>
                  <a:pt x="21600" y="0"/>
                </a:lnTo>
              </a:path>
            </a:pathLst>
          </a:custGeom>
          <a:ln w="25400">
            <a:solidFill>
              <a:srgbClr val="F38C1E"/>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8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8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8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Reading Frame Shift Insert4.png"/>
          <p:cNvPicPr>
            <a:picLocks noChangeAspect="1"/>
          </p:cNvPicPr>
          <p:nvPr/>
        </p:nvPicPr>
        <p:blipFill>
          <a:blip r:embed="rId2">
            <a:extLst/>
          </a:blip>
          <a:stretch>
            <a:fillRect/>
          </a:stretch>
        </p:blipFill>
        <p:spPr>
          <a:xfrm>
            <a:off x="2690788" y="8159805"/>
            <a:ext cx="6069433" cy="776889"/>
          </a:xfrm>
          <a:prstGeom prst="rect">
            <a:avLst/>
          </a:prstGeom>
          <a:ln w="12700">
            <a:miter lim="400000"/>
          </a:ln>
        </p:spPr>
      </p:pic>
      <p:pic>
        <p:nvPicPr>
          <p:cNvPr id="295" name="Reading Frame Shift Insert3.png"/>
          <p:cNvPicPr>
            <a:picLocks noChangeAspect="1"/>
          </p:cNvPicPr>
          <p:nvPr/>
        </p:nvPicPr>
        <p:blipFill>
          <a:blip r:embed="rId3">
            <a:extLst/>
          </a:blip>
          <a:stretch>
            <a:fillRect/>
          </a:stretch>
        </p:blipFill>
        <p:spPr>
          <a:xfrm>
            <a:off x="2486564" y="7082942"/>
            <a:ext cx="6469840" cy="826882"/>
          </a:xfrm>
          <a:prstGeom prst="rect">
            <a:avLst/>
          </a:prstGeom>
          <a:ln w="12700">
            <a:miter lim="400000"/>
          </a:ln>
        </p:spPr>
      </p:pic>
      <p:pic>
        <p:nvPicPr>
          <p:cNvPr id="296" name="Reading Frame Shift Insert2.png"/>
          <p:cNvPicPr>
            <a:picLocks noChangeAspect="1"/>
          </p:cNvPicPr>
          <p:nvPr/>
        </p:nvPicPr>
        <p:blipFill>
          <a:blip r:embed="rId4">
            <a:extLst/>
          </a:blip>
          <a:stretch>
            <a:fillRect/>
          </a:stretch>
        </p:blipFill>
        <p:spPr>
          <a:xfrm>
            <a:off x="2471991" y="6417092"/>
            <a:ext cx="6489759" cy="805152"/>
          </a:xfrm>
          <a:prstGeom prst="rect">
            <a:avLst/>
          </a:prstGeom>
          <a:ln w="12700">
            <a:miter lim="400000"/>
          </a:ln>
        </p:spPr>
      </p:pic>
      <p:pic>
        <p:nvPicPr>
          <p:cNvPr id="297" name="Point Mutation Original 1.png"/>
          <p:cNvPicPr>
            <a:picLocks noChangeAspect="1"/>
          </p:cNvPicPr>
          <p:nvPr/>
        </p:nvPicPr>
        <p:blipFill>
          <a:blip r:embed="rId5">
            <a:extLst/>
          </a:blip>
          <a:stretch>
            <a:fillRect/>
          </a:stretch>
        </p:blipFill>
        <p:spPr>
          <a:xfrm>
            <a:off x="2488679" y="5237697"/>
            <a:ext cx="6468293" cy="806138"/>
          </a:xfrm>
          <a:prstGeom prst="rect">
            <a:avLst/>
          </a:prstGeom>
          <a:ln w="12700">
            <a:miter lim="400000"/>
          </a:ln>
        </p:spPr>
      </p:pic>
      <p:sp>
        <p:nvSpPr>
          <p:cNvPr id="298" name="Shape 298"/>
          <p:cNvSpPr/>
          <p:nvPr/>
        </p:nvSpPr>
        <p:spPr>
          <a:xfrm>
            <a:off x="4775200" y="8771466"/>
            <a:ext cx="4054688" cy="3598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path>
            </a:pathLst>
          </a:custGeom>
          <a:ln w="50800">
            <a:solidFill>
              <a:schemeClr val="accent4">
                <a:hueOff val="384618"/>
                <a:satOff val="3869"/>
                <a:lumOff val="5802"/>
              </a:schemeClr>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99" name="Shape 299"/>
          <p:cNvSpPr>
            <a:spLocks noGrp="1"/>
          </p:cNvSpPr>
          <p:nvPr>
            <p:ph type="title"/>
          </p:nvPr>
        </p:nvSpPr>
        <p:spPr>
          <a:prstGeom prst="rect">
            <a:avLst/>
          </a:prstGeom>
        </p:spPr>
        <p:txBody>
          <a:bodyPr/>
          <a:lstStyle>
            <a:lvl1pPr>
              <a:tabLst>
                <a:tab pos="952500" algn="l"/>
              </a:tabLst>
              <a:defRPr sz="5800" spc="-174"/>
            </a:lvl1pPr>
          </a:lstStyle>
          <a:p>
            <a:pPr>
              <a:defRPr spc="0"/>
            </a:pPr>
            <a:r>
              <a:rPr spc="-174"/>
              <a:t>Reading Frame Shift by Insertion</a:t>
            </a:r>
          </a:p>
        </p:txBody>
      </p:sp>
      <p:sp>
        <p:nvSpPr>
          <p:cNvPr id="300" name="Shape 300"/>
          <p:cNvSpPr>
            <a:spLocks noGrp="1"/>
          </p:cNvSpPr>
          <p:nvPr>
            <p:ph type="body" sz="quarter" idx="1"/>
          </p:nvPr>
        </p:nvSpPr>
        <p:spPr>
          <a:xfrm>
            <a:off x="368300" y="1790700"/>
            <a:ext cx="10906919" cy="2095352"/>
          </a:xfrm>
          <a:prstGeom prst="rect">
            <a:avLst/>
          </a:prstGeom>
        </p:spPr>
        <p:txBody>
          <a:bodyPr/>
          <a:lstStyle/>
          <a:p>
            <a:pPr>
              <a:tabLst>
                <a:tab pos="1016000" algn="l"/>
              </a:tabLst>
            </a:pPr>
            <a:r>
              <a:t>A single base is inserted, upsetting the reading sequence for all those after it.</a:t>
            </a:r>
          </a:p>
          <a:p>
            <a:pPr lvl="1">
              <a:tabLst>
                <a:tab pos="1485900" algn="l"/>
              </a:tabLst>
            </a:pPr>
            <a:r>
              <a:t>A reading frame shift results in new amino acids in the polypeptide chain from the point of insertion onwards.</a:t>
            </a:r>
          </a:p>
          <a:p>
            <a:pPr lvl="1">
              <a:tabLst>
                <a:tab pos="1485900" algn="l"/>
              </a:tabLst>
            </a:pPr>
            <a:r>
              <a:t>The resulting protein will be grossly different from the one originally encoded (it is most likely to be non-functional).</a:t>
            </a:r>
          </a:p>
        </p:txBody>
      </p:sp>
      <p:sp>
        <p:nvSpPr>
          <p:cNvPr id="301" name="Shape 301"/>
          <p:cNvSpPr/>
          <p:nvPr/>
        </p:nvSpPr>
        <p:spPr>
          <a:xfrm>
            <a:off x="3277603" y="4610100"/>
            <a:ext cx="2884246"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Mutation: Insertion of </a:t>
            </a:r>
            <a:r>
              <a:rPr b="1"/>
              <a:t>C</a:t>
            </a:r>
          </a:p>
        </p:txBody>
      </p:sp>
      <p:sp>
        <p:nvSpPr>
          <p:cNvPr id="302" name="Shape 302"/>
          <p:cNvSpPr/>
          <p:nvPr/>
        </p:nvSpPr>
        <p:spPr>
          <a:xfrm>
            <a:off x="9366375" y="7759700"/>
            <a:ext cx="3365501" cy="1663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700"/>
              </a:lnSpc>
              <a:tabLst>
                <a:tab pos="520700" algn="l"/>
              </a:tabLst>
              <a:defRPr sz="2000">
                <a:solidFill>
                  <a:srgbClr val="006795"/>
                </a:solidFill>
              </a:defRPr>
            </a:lvl1pPr>
          </a:lstStyle>
          <a:p>
            <a:r>
              <a:t>Large scale frame shift results in a new amino acid sequence. The resulting protein is unlikely to have any biological activity.</a:t>
            </a:r>
          </a:p>
        </p:txBody>
      </p:sp>
      <p:sp>
        <p:nvSpPr>
          <p:cNvPr id="303" name="Shape 303"/>
          <p:cNvSpPr/>
          <p:nvPr/>
        </p:nvSpPr>
        <p:spPr>
          <a:xfrm flipV="1">
            <a:off x="4876800" y="4914900"/>
            <a:ext cx="0" cy="558945"/>
          </a:xfrm>
          <a:prstGeom prst="line">
            <a:avLst/>
          </a:prstGeom>
          <a:ln w="76200">
            <a:solidFill>
              <a:schemeClr val="accent4">
                <a:hueOff val="384618"/>
                <a:satOff val="3869"/>
                <a:lumOff val="5802"/>
              </a:schemeClr>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04" name="Shape 304"/>
          <p:cNvSpPr/>
          <p:nvPr/>
        </p:nvSpPr>
        <p:spPr>
          <a:xfrm>
            <a:off x="480661" y="5270500"/>
            <a:ext cx="1854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Original DNA</a:t>
            </a:r>
          </a:p>
        </p:txBody>
      </p:sp>
      <p:sp>
        <p:nvSpPr>
          <p:cNvPr id="305" name="Shape 305"/>
          <p:cNvSpPr/>
          <p:nvPr/>
        </p:nvSpPr>
        <p:spPr>
          <a:xfrm>
            <a:off x="633942" y="6464300"/>
            <a:ext cx="17018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Mutant DNA</a:t>
            </a:r>
          </a:p>
        </p:txBody>
      </p:sp>
      <p:sp>
        <p:nvSpPr>
          <p:cNvPr id="306" name="Shape 306"/>
          <p:cNvSpPr/>
          <p:nvPr/>
        </p:nvSpPr>
        <p:spPr>
          <a:xfrm>
            <a:off x="1395895" y="7505700"/>
            <a:ext cx="94194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mRNA</a:t>
            </a:r>
          </a:p>
        </p:txBody>
      </p:sp>
      <p:sp>
        <p:nvSpPr>
          <p:cNvPr id="307" name="Shape 307"/>
          <p:cNvSpPr/>
          <p:nvPr/>
        </p:nvSpPr>
        <p:spPr>
          <a:xfrm>
            <a:off x="605378" y="8458200"/>
            <a:ext cx="1727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Amino acids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0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0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 grpId="1"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 name="Reading Frame Shift Part 2.png"/>
          <p:cNvPicPr>
            <a:picLocks noChangeAspect="1"/>
          </p:cNvPicPr>
          <p:nvPr/>
        </p:nvPicPr>
        <p:blipFill>
          <a:blip r:embed="rId2">
            <a:extLst/>
          </a:blip>
          <a:stretch>
            <a:fillRect/>
          </a:stretch>
        </p:blipFill>
        <p:spPr>
          <a:xfrm>
            <a:off x="2965912" y="6360562"/>
            <a:ext cx="6480900" cy="804053"/>
          </a:xfrm>
          <a:prstGeom prst="rect">
            <a:avLst/>
          </a:prstGeom>
          <a:ln w="12700">
            <a:miter lim="400000"/>
          </a:ln>
        </p:spPr>
      </p:pic>
      <p:pic>
        <p:nvPicPr>
          <p:cNvPr id="310" name="Reading Frame Shift Part 3.png"/>
          <p:cNvPicPr>
            <a:picLocks noChangeAspect="1"/>
          </p:cNvPicPr>
          <p:nvPr/>
        </p:nvPicPr>
        <p:blipFill>
          <a:blip r:embed="rId3">
            <a:extLst/>
          </a:blip>
          <a:stretch>
            <a:fillRect/>
          </a:stretch>
        </p:blipFill>
        <p:spPr>
          <a:xfrm>
            <a:off x="2966235" y="7044726"/>
            <a:ext cx="6497170" cy="834426"/>
          </a:xfrm>
          <a:prstGeom prst="rect">
            <a:avLst/>
          </a:prstGeom>
          <a:ln w="12700">
            <a:miter lim="400000"/>
          </a:ln>
        </p:spPr>
      </p:pic>
      <p:pic>
        <p:nvPicPr>
          <p:cNvPr id="311" name="Reading Frame Shift Part 4.png"/>
          <p:cNvPicPr>
            <a:picLocks noChangeAspect="1"/>
          </p:cNvPicPr>
          <p:nvPr/>
        </p:nvPicPr>
        <p:blipFill>
          <a:blip r:embed="rId4">
            <a:extLst/>
          </a:blip>
          <a:stretch>
            <a:fillRect/>
          </a:stretch>
        </p:blipFill>
        <p:spPr>
          <a:xfrm>
            <a:off x="3247901" y="8038615"/>
            <a:ext cx="6045128" cy="773777"/>
          </a:xfrm>
          <a:prstGeom prst="rect">
            <a:avLst/>
          </a:prstGeom>
          <a:ln w="12700">
            <a:miter lim="400000"/>
          </a:ln>
        </p:spPr>
      </p:pic>
      <p:pic>
        <p:nvPicPr>
          <p:cNvPr id="312" name="Point Mutation Original 1.png"/>
          <p:cNvPicPr>
            <a:picLocks noChangeAspect="1"/>
          </p:cNvPicPr>
          <p:nvPr/>
        </p:nvPicPr>
        <p:blipFill>
          <a:blip r:embed="rId5">
            <a:extLst/>
          </a:blip>
          <a:stretch>
            <a:fillRect/>
          </a:stretch>
        </p:blipFill>
        <p:spPr>
          <a:xfrm>
            <a:off x="2976359" y="5172996"/>
            <a:ext cx="6498306" cy="809879"/>
          </a:xfrm>
          <a:prstGeom prst="rect">
            <a:avLst/>
          </a:prstGeom>
          <a:ln w="12700">
            <a:miter lim="400000"/>
          </a:ln>
        </p:spPr>
      </p:pic>
      <p:sp>
        <p:nvSpPr>
          <p:cNvPr id="313" name="Shape 313"/>
          <p:cNvSpPr/>
          <p:nvPr/>
        </p:nvSpPr>
        <p:spPr>
          <a:xfrm>
            <a:off x="4203700" y="8674100"/>
            <a:ext cx="31242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85" y="21600"/>
                </a:lnTo>
                <a:lnTo>
                  <a:pt x="21600" y="21600"/>
                </a:lnTo>
                <a:lnTo>
                  <a:pt x="21600" y="0"/>
                </a:lnTo>
              </a:path>
            </a:pathLst>
          </a:custGeom>
          <a:ln w="38100">
            <a:solidFill>
              <a:srgbClr val="F38C1E"/>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14" name="Shape 314"/>
          <p:cNvSpPr>
            <a:spLocks noGrp="1"/>
          </p:cNvSpPr>
          <p:nvPr>
            <p:ph type="title"/>
          </p:nvPr>
        </p:nvSpPr>
        <p:spPr>
          <a:prstGeom prst="rect">
            <a:avLst/>
          </a:prstGeom>
        </p:spPr>
        <p:txBody>
          <a:bodyPr/>
          <a:lstStyle>
            <a:lvl1pPr>
              <a:tabLst>
                <a:tab pos="952500" algn="l"/>
              </a:tabLst>
            </a:lvl1pPr>
          </a:lstStyle>
          <a:p>
            <a:r>
              <a:t>Partial Reading Frame Shift</a:t>
            </a:r>
          </a:p>
        </p:txBody>
      </p:sp>
      <p:sp>
        <p:nvSpPr>
          <p:cNvPr id="315" name="Shape 315"/>
          <p:cNvSpPr>
            <a:spLocks noGrp="1"/>
          </p:cNvSpPr>
          <p:nvPr>
            <p:ph type="body" sz="quarter" idx="1"/>
          </p:nvPr>
        </p:nvSpPr>
        <p:spPr>
          <a:xfrm>
            <a:off x="368300" y="1790700"/>
            <a:ext cx="11580168" cy="1964581"/>
          </a:xfrm>
          <a:prstGeom prst="rect">
            <a:avLst/>
          </a:prstGeom>
        </p:spPr>
        <p:txBody>
          <a:bodyPr/>
          <a:lstStyle/>
          <a:p>
            <a:pPr>
              <a:tabLst>
                <a:tab pos="1016000" algn="l"/>
              </a:tabLst>
            </a:pPr>
            <a:r>
              <a:t>A single base is inserted and another is deleted at a different location. This causes a localised frame shift.</a:t>
            </a:r>
          </a:p>
          <a:p>
            <a:pPr lvl="1">
              <a:tabLst>
                <a:tab pos="1485900" algn="l"/>
              </a:tabLst>
            </a:pPr>
            <a:r>
              <a:t>The amino acid sequence between these points changes.</a:t>
            </a:r>
          </a:p>
          <a:p>
            <a:pPr lvl="1">
              <a:tabLst>
                <a:tab pos="1485900" algn="l"/>
              </a:tabLst>
            </a:pPr>
            <a:r>
              <a:t>Depending on how many amino acids are affected, the resulting protein may have some biological activity.</a:t>
            </a:r>
          </a:p>
        </p:txBody>
      </p:sp>
      <p:sp>
        <p:nvSpPr>
          <p:cNvPr id="316" name="Shape 316"/>
          <p:cNvSpPr/>
          <p:nvPr/>
        </p:nvSpPr>
        <p:spPr>
          <a:xfrm>
            <a:off x="2780016" y="4343400"/>
            <a:ext cx="288424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Mutation: Insertion of </a:t>
            </a:r>
            <a:r>
              <a:rPr b="1"/>
              <a:t>C</a:t>
            </a:r>
          </a:p>
        </p:txBody>
      </p:sp>
      <p:sp>
        <p:nvSpPr>
          <p:cNvPr id="317" name="Shape 317"/>
          <p:cNvSpPr/>
          <p:nvPr/>
        </p:nvSpPr>
        <p:spPr>
          <a:xfrm>
            <a:off x="6067859" y="4343400"/>
            <a:ext cx="2839840"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Mutation: Deletion of </a:t>
            </a:r>
            <a:r>
              <a:rPr b="1"/>
              <a:t>C</a:t>
            </a:r>
          </a:p>
        </p:txBody>
      </p:sp>
      <p:sp>
        <p:nvSpPr>
          <p:cNvPr id="318" name="Shape 318"/>
          <p:cNvSpPr/>
          <p:nvPr/>
        </p:nvSpPr>
        <p:spPr>
          <a:xfrm>
            <a:off x="9470877" y="8102600"/>
            <a:ext cx="3378201" cy="9779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700"/>
              </a:lnSpc>
              <a:tabLst>
                <a:tab pos="520700" algn="l"/>
              </a:tabLst>
              <a:defRPr sz="2000">
                <a:solidFill>
                  <a:srgbClr val="006795"/>
                </a:solidFill>
              </a:defRPr>
            </a:lvl1pPr>
          </a:lstStyle>
          <a:p>
            <a:r>
              <a:t>Altered chain which may or may not produce a protein with biological activity</a:t>
            </a:r>
          </a:p>
        </p:txBody>
      </p:sp>
      <p:sp>
        <p:nvSpPr>
          <p:cNvPr id="319" name="Shape 319"/>
          <p:cNvSpPr/>
          <p:nvPr/>
        </p:nvSpPr>
        <p:spPr>
          <a:xfrm>
            <a:off x="6438900" y="4724400"/>
            <a:ext cx="0" cy="508000"/>
          </a:xfrm>
          <a:prstGeom prst="line">
            <a:avLst/>
          </a:prstGeom>
          <a:ln w="38100">
            <a:solidFill>
              <a:srgbClr val="F38C1E"/>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20" name="Shape 320"/>
          <p:cNvSpPr/>
          <p:nvPr/>
        </p:nvSpPr>
        <p:spPr>
          <a:xfrm flipV="1">
            <a:off x="4152900" y="4724400"/>
            <a:ext cx="0" cy="508000"/>
          </a:xfrm>
          <a:prstGeom prst="line">
            <a:avLst/>
          </a:prstGeom>
          <a:ln w="38100">
            <a:solidFill>
              <a:srgbClr val="F38C1E"/>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21" name="Shape 321"/>
          <p:cNvSpPr/>
          <p:nvPr/>
        </p:nvSpPr>
        <p:spPr>
          <a:xfrm>
            <a:off x="975961" y="5232400"/>
            <a:ext cx="1854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Original DNA</a:t>
            </a:r>
          </a:p>
        </p:txBody>
      </p:sp>
      <p:sp>
        <p:nvSpPr>
          <p:cNvPr id="322" name="Shape 322"/>
          <p:cNvSpPr/>
          <p:nvPr/>
        </p:nvSpPr>
        <p:spPr>
          <a:xfrm>
            <a:off x="1129242" y="6426200"/>
            <a:ext cx="17018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Mutant DNA</a:t>
            </a:r>
          </a:p>
        </p:txBody>
      </p:sp>
      <p:sp>
        <p:nvSpPr>
          <p:cNvPr id="323" name="Shape 323"/>
          <p:cNvSpPr/>
          <p:nvPr/>
        </p:nvSpPr>
        <p:spPr>
          <a:xfrm>
            <a:off x="1891195" y="7531100"/>
            <a:ext cx="94194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mRNA</a:t>
            </a:r>
          </a:p>
        </p:txBody>
      </p:sp>
      <p:sp>
        <p:nvSpPr>
          <p:cNvPr id="324" name="Shape 324"/>
          <p:cNvSpPr/>
          <p:nvPr/>
        </p:nvSpPr>
        <p:spPr>
          <a:xfrm>
            <a:off x="1100678" y="8394700"/>
            <a:ext cx="17272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100" b="1">
                <a:solidFill>
                  <a:srgbClr val="201B17"/>
                </a:solidFill>
              </a:defRPr>
            </a:lvl1pPr>
          </a:lstStyle>
          <a:p>
            <a:pPr>
              <a:defRPr>
                <a:solidFill>
                  <a:srgbClr val="483F36"/>
                </a:solidFill>
              </a:defRPr>
            </a:pPr>
            <a:r>
              <a:rPr>
                <a:solidFill>
                  <a:srgbClr val="201B17"/>
                </a:solidFill>
              </a:rPr>
              <a:t>Amino acids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1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1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1"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hape 326"/>
          <p:cNvSpPr/>
          <p:nvPr/>
        </p:nvSpPr>
        <p:spPr>
          <a:xfrm>
            <a:off x="6451600" y="1651000"/>
            <a:ext cx="6553200" cy="81280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327" name="Sickle Cell Disease chromos.pdf"/>
          <p:cNvPicPr>
            <a:picLocks noChangeAspect="1"/>
          </p:cNvPicPr>
          <p:nvPr/>
        </p:nvPicPr>
        <p:blipFill>
          <a:blip r:embed="rId2">
            <a:extLst/>
          </a:blip>
          <a:stretch>
            <a:fillRect/>
          </a:stretch>
        </p:blipFill>
        <p:spPr>
          <a:xfrm>
            <a:off x="6869411" y="2768600"/>
            <a:ext cx="5500389" cy="787400"/>
          </a:xfrm>
          <a:prstGeom prst="rect">
            <a:avLst/>
          </a:prstGeom>
          <a:ln w="12700">
            <a:miter lim="400000"/>
          </a:ln>
        </p:spPr>
      </p:pic>
      <p:pic>
        <p:nvPicPr>
          <p:cNvPr id="328" name="SickleCell.jpg"/>
          <p:cNvPicPr>
            <a:picLocks noChangeAspect="1"/>
          </p:cNvPicPr>
          <p:nvPr/>
        </p:nvPicPr>
        <p:blipFill>
          <a:blip r:embed="rId3">
            <a:extLst/>
          </a:blip>
          <a:stretch>
            <a:fillRect/>
          </a:stretch>
        </p:blipFill>
        <p:spPr>
          <a:xfrm>
            <a:off x="8991600" y="4165600"/>
            <a:ext cx="4025900" cy="5245100"/>
          </a:xfrm>
          <a:prstGeom prst="rect">
            <a:avLst/>
          </a:prstGeom>
          <a:ln w="25400">
            <a:solidFill>
              <a:srgbClr val="FFFFFF"/>
            </a:solidFill>
            <a:miter lim="400000"/>
          </a:ln>
        </p:spPr>
      </p:pic>
      <p:sp>
        <p:nvSpPr>
          <p:cNvPr id="329" name="Shape 329"/>
          <p:cNvSpPr>
            <a:spLocks noGrp="1"/>
          </p:cNvSpPr>
          <p:nvPr>
            <p:ph type="title"/>
          </p:nvPr>
        </p:nvSpPr>
        <p:spPr>
          <a:prstGeom prst="rect">
            <a:avLst/>
          </a:prstGeom>
        </p:spPr>
        <p:txBody>
          <a:bodyPr/>
          <a:lstStyle>
            <a:lvl1pPr>
              <a:tabLst>
                <a:tab pos="952500" algn="l"/>
              </a:tabLst>
            </a:lvl1pPr>
          </a:lstStyle>
          <a:p>
            <a:r>
              <a:t>Sickle Cell Anemia</a:t>
            </a:r>
          </a:p>
        </p:txBody>
      </p:sp>
      <p:sp>
        <p:nvSpPr>
          <p:cNvPr id="330" name="Shape 330"/>
          <p:cNvSpPr>
            <a:spLocks noGrp="1"/>
          </p:cNvSpPr>
          <p:nvPr>
            <p:ph type="body" sz="quarter" idx="1"/>
          </p:nvPr>
        </p:nvSpPr>
        <p:spPr>
          <a:xfrm>
            <a:off x="368300" y="1790700"/>
            <a:ext cx="5067697" cy="4755158"/>
          </a:xfrm>
          <a:prstGeom prst="rect">
            <a:avLst/>
          </a:prstGeom>
        </p:spPr>
        <p:txBody>
          <a:bodyPr/>
          <a:lstStyle/>
          <a:p>
            <a:pPr marL="345600" indent="-345600">
              <a:tabLst>
                <a:tab pos="1016000" algn="l"/>
              </a:tabLst>
            </a:pPr>
            <a:r>
              <a:t>Synonym: Sickle cell disease</a:t>
            </a:r>
          </a:p>
          <a:p>
            <a:pPr marL="345600" indent="-345600">
              <a:tabLst>
                <a:tab pos="1016000" algn="l"/>
              </a:tabLst>
            </a:pPr>
            <a:r>
              <a:t>Incidence: Most common in people of African ancestry.</a:t>
            </a:r>
          </a:p>
          <a:p>
            <a:pPr marL="680000" lvl="1" indent="-320000">
              <a:tabLst>
                <a:tab pos="1485900" algn="l"/>
              </a:tabLst>
            </a:pPr>
            <a:r>
              <a:t>West Africans: 1%</a:t>
            </a:r>
            <a:br/>
            <a:r>
              <a:t>(10-45% are carriers)</a:t>
            </a:r>
          </a:p>
          <a:p>
            <a:pPr marL="680000" lvl="1" indent="-320000">
              <a:tabLst>
                <a:tab pos="1485900" algn="l"/>
              </a:tabLst>
            </a:pPr>
            <a:r>
              <a:t>West Indians: 0.5%</a:t>
            </a:r>
          </a:p>
          <a:p>
            <a:pPr marL="680000" lvl="1" indent="-320000">
              <a:tabLst>
                <a:tab pos="1485900" algn="l"/>
              </a:tabLst>
            </a:pPr>
            <a:r>
              <a:t>Gene type:  Autosomal mutation (HBB) on chromosome 11 which results in the substitution of a single nucleotide in the HBB gene coding for the beta chain of haemoglobin. </a:t>
            </a:r>
          </a:p>
          <a:p>
            <a:pPr marL="680000" lvl="1" indent="-320000">
              <a:tabLst>
                <a:tab pos="1485900" algn="l"/>
              </a:tabLst>
            </a:pPr>
            <a:r>
              <a:t>The allele is codominant.</a:t>
            </a:r>
          </a:p>
        </p:txBody>
      </p:sp>
      <p:sp>
        <p:nvSpPr>
          <p:cNvPr id="331" name="Shape 331"/>
          <p:cNvSpPr/>
          <p:nvPr/>
        </p:nvSpPr>
        <p:spPr>
          <a:xfrm>
            <a:off x="7983154" y="1866900"/>
            <a:ext cx="350197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a:solidFill>
                  <a:srgbClr val="126A93"/>
                </a:solidFill>
              </a:defRPr>
            </a:pPr>
            <a:r>
              <a:rPr b="1"/>
              <a:t>Gene location</a:t>
            </a:r>
            <a:r>
              <a:t>:  Chromosome 11</a:t>
            </a:r>
          </a:p>
        </p:txBody>
      </p:sp>
      <p:sp>
        <p:nvSpPr>
          <p:cNvPr id="332" name="Shape 332"/>
          <p:cNvSpPr/>
          <p:nvPr/>
        </p:nvSpPr>
        <p:spPr>
          <a:xfrm>
            <a:off x="6903998" y="1955800"/>
            <a:ext cx="62226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126A93"/>
                </a:solidFill>
              </a:defRPr>
            </a:lvl1pPr>
          </a:lstStyle>
          <a:p>
            <a:r>
              <a:t>HBB</a:t>
            </a:r>
          </a:p>
        </p:txBody>
      </p:sp>
      <p:sp>
        <p:nvSpPr>
          <p:cNvPr id="333" name="Shape 333"/>
          <p:cNvSpPr/>
          <p:nvPr/>
        </p:nvSpPr>
        <p:spPr>
          <a:xfrm>
            <a:off x="8054943" y="2552700"/>
            <a:ext cx="2541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i="1">
                <a:solidFill>
                  <a:srgbClr val="126A93"/>
                </a:solidFill>
              </a:defRPr>
            </a:lvl1pPr>
          </a:lstStyle>
          <a:p>
            <a:r>
              <a:t>p</a:t>
            </a:r>
          </a:p>
        </p:txBody>
      </p:sp>
      <p:sp>
        <p:nvSpPr>
          <p:cNvPr id="334" name="Shape 334"/>
          <p:cNvSpPr/>
          <p:nvPr/>
        </p:nvSpPr>
        <p:spPr>
          <a:xfrm>
            <a:off x="10747343" y="2552700"/>
            <a:ext cx="2541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i="1">
                <a:solidFill>
                  <a:srgbClr val="126A93"/>
                </a:solidFill>
              </a:defRPr>
            </a:lvl1pPr>
          </a:lstStyle>
          <a:p>
            <a:r>
              <a:t>q</a:t>
            </a:r>
          </a:p>
        </p:txBody>
      </p:sp>
      <p:sp>
        <p:nvSpPr>
          <p:cNvPr id="335" name="Shape 335"/>
          <p:cNvSpPr/>
          <p:nvPr/>
        </p:nvSpPr>
        <p:spPr>
          <a:xfrm flipV="1">
            <a:off x="7251699" y="2260600"/>
            <a:ext cx="1" cy="571751"/>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36" name="Shape 336"/>
          <p:cNvSpPr/>
          <p:nvPr/>
        </p:nvSpPr>
        <p:spPr>
          <a:xfrm>
            <a:off x="6807200" y="4673600"/>
            <a:ext cx="15621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a:solidFill>
                  <a:srgbClr val="126A93"/>
                </a:solidFill>
              </a:defRPr>
            </a:lvl1pPr>
          </a:lstStyle>
          <a:p>
            <a:r>
              <a:t>Normal red blood cells</a:t>
            </a:r>
          </a:p>
        </p:txBody>
      </p:sp>
      <p:sp>
        <p:nvSpPr>
          <p:cNvPr id="337" name="Shape 337"/>
          <p:cNvSpPr/>
          <p:nvPr/>
        </p:nvSpPr>
        <p:spPr>
          <a:xfrm>
            <a:off x="6985000" y="8775700"/>
            <a:ext cx="115592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defRPr>
                <a:solidFill>
                  <a:srgbClr val="126A93"/>
                </a:solidFill>
              </a:defRPr>
            </a:lvl1pPr>
          </a:lstStyle>
          <a:p>
            <a:r>
              <a:t>Sickle-cell</a:t>
            </a:r>
          </a:p>
        </p:txBody>
      </p:sp>
      <p:sp>
        <p:nvSpPr>
          <p:cNvPr id="338" name="Shape 338"/>
          <p:cNvSpPr/>
          <p:nvPr/>
        </p:nvSpPr>
        <p:spPr>
          <a:xfrm flipH="1">
            <a:off x="8216751" y="8466666"/>
            <a:ext cx="1820482" cy="438615"/>
          </a:xfrm>
          <a:prstGeom prst="line">
            <a:avLst/>
          </a:prstGeom>
          <a:ln w="254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39" name="Shape 339"/>
          <p:cNvSpPr/>
          <p:nvPr/>
        </p:nvSpPr>
        <p:spPr>
          <a:xfrm>
            <a:off x="12357100" y="9271000"/>
            <a:ext cx="649325" cy="127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600"/>
              </a:lnSpc>
              <a:tabLst>
                <a:tab pos="520700" algn="l"/>
              </a:tabLst>
              <a:defRPr sz="500">
                <a:solidFill>
                  <a:srgbClr val="000000"/>
                </a:solidFill>
              </a:defRPr>
            </a:lvl1pPr>
          </a:lstStyle>
          <a:p>
            <a:r>
              <a:t>Photo Defiers.com</a:t>
            </a:r>
          </a:p>
        </p:txBody>
      </p:sp>
      <p:grpSp>
        <p:nvGrpSpPr>
          <p:cNvPr id="342" name="Group 342"/>
          <p:cNvGrpSpPr/>
          <p:nvPr/>
        </p:nvGrpSpPr>
        <p:grpSpPr>
          <a:xfrm>
            <a:off x="8345091" y="4719290"/>
            <a:ext cx="3073401" cy="1143001"/>
            <a:chOff x="0" y="0"/>
            <a:chExt cx="3073400" cy="1143000"/>
          </a:xfrm>
        </p:grpSpPr>
        <p:sp>
          <p:nvSpPr>
            <p:cNvPr id="340" name="Shape 340"/>
            <p:cNvSpPr/>
            <p:nvPr/>
          </p:nvSpPr>
          <p:spPr>
            <a:xfrm flipH="1">
              <a:off x="12502" y="0"/>
              <a:ext cx="1222262" cy="225243"/>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41" name="Shape 341"/>
            <p:cNvSpPr/>
            <p:nvPr/>
          </p:nvSpPr>
          <p:spPr>
            <a:xfrm flipH="1" flipV="1">
              <a:off x="0" y="215205"/>
              <a:ext cx="3073401" cy="927795"/>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3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3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1"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Shape 344"/>
          <p:cNvSpPr/>
          <p:nvPr/>
        </p:nvSpPr>
        <p:spPr>
          <a:xfrm>
            <a:off x="7239099" y="1651000"/>
            <a:ext cx="5765701" cy="547251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45" name="Shape 345"/>
          <p:cNvSpPr>
            <a:spLocks noGrp="1"/>
          </p:cNvSpPr>
          <p:nvPr>
            <p:ph type="title"/>
          </p:nvPr>
        </p:nvSpPr>
        <p:spPr>
          <a:prstGeom prst="rect">
            <a:avLst/>
          </a:prstGeom>
        </p:spPr>
        <p:txBody>
          <a:bodyPr/>
          <a:lstStyle>
            <a:lvl1pPr>
              <a:tabLst>
                <a:tab pos="952500" algn="l"/>
              </a:tabLst>
            </a:lvl1pPr>
          </a:lstStyle>
          <a:p>
            <a:r>
              <a:t>Sickle Cell Disease</a:t>
            </a:r>
          </a:p>
        </p:txBody>
      </p:sp>
      <p:sp>
        <p:nvSpPr>
          <p:cNvPr id="346" name="Shape 346"/>
          <p:cNvSpPr>
            <a:spLocks noGrp="1"/>
          </p:cNvSpPr>
          <p:nvPr>
            <p:ph type="body" sz="quarter" idx="1"/>
          </p:nvPr>
        </p:nvSpPr>
        <p:spPr>
          <a:xfrm>
            <a:off x="368300" y="1790700"/>
            <a:ext cx="5956300" cy="3767733"/>
          </a:xfrm>
          <a:prstGeom prst="rect">
            <a:avLst/>
          </a:prstGeom>
        </p:spPr>
        <p:txBody>
          <a:bodyPr/>
          <a:lstStyle/>
          <a:p>
            <a:pPr>
              <a:tabLst>
                <a:tab pos="1016000" algn="l"/>
              </a:tabLst>
            </a:pPr>
            <a:r>
              <a:t>Treatment and outlook:</a:t>
            </a:r>
          </a:p>
          <a:p>
            <a:pPr lvl="1">
              <a:tabLst>
                <a:tab pos="1485900" algn="l"/>
              </a:tabLst>
            </a:pPr>
            <a:r>
              <a:t>Patients are given folic acid.</a:t>
            </a:r>
          </a:p>
          <a:p>
            <a:pPr lvl="1">
              <a:tabLst>
                <a:tab pos="1485900" algn="l"/>
              </a:tabLst>
            </a:pPr>
            <a:r>
              <a:t>Acute episodes may require:</a:t>
            </a:r>
          </a:p>
          <a:p>
            <a:pPr lvl="2">
              <a:tabLst>
                <a:tab pos="1638300" algn="l"/>
              </a:tabLst>
            </a:pPr>
            <a:r>
              <a:t>oxygen therapy</a:t>
            </a:r>
          </a:p>
          <a:p>
            <a:pPr lvl="2">
              <a:tabLst>
                <a:tab pos="1638300" algn="l"/>
              </a:tabLst>
            </a:pPr>
            <a:r>
              <a:t>intravenous infusions of fluid</a:t>
            </a:r>
          </a:p>
          <a:p>
            <a:pPr lvl="2">
              <a:tabLst>
                <a:tab pos="1638300" algn="l"/>
              </a:tabLst>
            </a:pPr>
            <a:r>
              <a:t>antibiotics to treat infection</a:t>
            </a:r>
          </a:p>
          <a:p>
            <a:pPr lvl="1">
              <a:tabLst>
                <a:tab pos="1485900" algn="l"/>
              </a:tabLst>
            </a:pPr>
            <a:r>
              <a:t>Experimental therapies include bone marrow transplants and gene therapy.  </a:t>
            </a:r>
          </a:p>
        </p:txBody>
      </p:sp>
      <p:grpSp>
        <p:nvGrpSpPr>
          <p:cNvPr id="351" name="Group 351"/>
          <p:cNvGrpSpPr/>
          <p:nvPr/>
        </p:nvGrpSpPr>
        <p:grpSpPr>
          <a:xfrm>
            <a:off x="7251700" y="1663700"/>
            <a:ext cx="5740400" cy="5224922"/>
            <a:chOff x="0" y="0"/>
            <a:chExt cx="5740400" cy="5224921"/>
          </a:xfrm>
        </p:grpSpPr>
        <p:pic>
          <p:nvPicPr>
            <p:cNvPr id="347" name="Sickle cell lesion CCD.jpg"/>
            <p:cNvPicPr>
              <a:picLocks noChangeAspect="1"/>
            </p:cNvPicPr>
            <p:nvPr/>
          </p:nvPicPr>
          <p:blipFill>
            <a:blip r:embed="rId2">
              <a:extLst/>
            </a:blip>
            <a:stretch>
              <a:fillRect/>
            </a:stretch>
          </p:blipFill>
          <p:spPr>
            <a:xfrm>
              <a:off x="0" y="0"/>
              <a:ext cx="5740400" cy="4708036"/>
            </a:xfrm>
            <a:prstGeom prst="rect">
              <a:avLst/>
            </a:prstGeom>
            <a:ln w="25400" cap="flat">
              <a:solidFill>
                <a:srgbClr val="FFFFFF"/>
              </a:solidFill>
              <a:prstDash val="solid"/>
              <a:miter lim="400000"/>
            </a:ln>
            <a:effectLst/>
          </p:spPr>
        </p:pic>
        <p:sp>
          <p:nvSpPr>
            <p:cNvPr id="348" name="Shape 348"/>
            <p:cNvSpPr/>
            <p:nvPr/>
          </p:nvSpPr>
          <p:spPr>
            <a:xfrm>
              <a:off x="2311400" y="4965700"/>
              <a:ext cx="1867620"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Sickle cell lesion </a:t>
              </a:r>
            </a:p>
          </p:txBody>
        </p:sp>
        <p:sp>
          <p:nvSpPr>
            <p:cNvPr id="349" name="Shape 349"/>
            <p:cNvSpPr/>
            <p:nvPr/>
          </p:nvSpPr>
          <p:spPr>
            <a:xfrm>
              <a:off x="3632200" y="2476500"/>
              <a:ext cx="491067" cy="503767"/>
            </a:xfrm>
            <a:prstGeom prst="line">
              <a:avLst/>
            </a:prstGeom>
            <a:noFill/>
            <a:ln w="1016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50" name="Shape 350"/>
            <p:cNvSpPr/>
            <p:nvPr/>
          </p:nvSpPr>
          <p:spPr>
            <a:xfrm rot="16200000">
              <a:off x="5128722" y="4269277"/>
              <a:ext cx="85390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a:solidFill>
                    <a:srgbClr val="000000"/>
                  </a:solidFill>
                </a:defRPr>
              </a:lvl1pPr>
            </a:lstStyle>
            <a:p>
              <a:pPr>
                <a:defRPr sz="2800">
                  <a:latin typeface="Hoefler Text"/>
                  <a:ea typeface="Hoefler Text"/>
                  <a:cs typeface="Hoefler Text"/>
                  <a:sym typeface="Hoefler Text"/>
                </a:defRPr>
              </a:pPr>
              <a:r>
                <a:rPr sz="1000">
                  <a:latin typeface="+mn-lt"/>
                  <a:ea typeface="+mn-ea"/>
                  <a:cs typeface="+mn-cs"/>
                  <a:sym typeface="Arial"/>
                </a:rPr>
                <a:t>(Photo CDC)</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4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4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4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4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4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4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34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 name="Sickle Cell DNA.pdf"/>
          <p:cNvPicPr>
            <a:picLocks noChangeAspect="1"/>
          </p:cNvPicPr>
          <p:nvPr/>
        </p:nvPicPr>
        <p:blipFill>
          <a:blip r:embed="rId2">
            <a:extLst/>
          </a:blip>
          <a:stretch>
            <a:fillRect/>
          </a:stretch>
        </p:blipFill>
        <p:spPr>
          <a:xfrm>
            <a:off x="1506634" y="8032062"/>
            <a:ext cx="7035801" cy="718239"/>
          </a:xfrm>
          <a:prstGeom prst="rect">
            <a:avLst/>
          </a:prstGeom>
          <a:ln w="12700">
            <a:miter lim="400000"/>
          </a:ln>
        </p:spPr>
      </p:pic>
      <p:pic>
        <p:nvPicPr>
          <p:cNvPr id="354" name="Sickle Cell b chin.pdf"/>
          <p:cNvPicPr>
            <a:picLocks noChangeAspect="1"/>
          </p:cNvPicPr>
          <p:nvPr/>
        </p:nvPicPr>
        <p:blipFill>
          <a:blip r:embed="rId3">
            <a:extLst/>
          </a:blip>
          <a:stretch>
            <a:fillRect/>
          </a:stretch>
        </p:blipFill>
        <p:spPr>
          <a:xfrm>
            <a:off x="5543061" y="6011905"/>
            <a:ext cx="1518139" cy="1333501"/>
          </a:xfrm>
          <a:prstGeom prst="rect">
            <a:avLst/>
          </a:prstGeom>
          <a:ln w="12700">
            <a:miter lim="400000"/>
          </a:ln>
        </p:spPr>
      </p:pic>
      <p:pic>
        <p:nvPicPr>
          <p:cNvPr id="355" name="Sickle Cell haemoglobin.pdf"/>
          <p:cNvPicPr>
            <a:picLocks noChangeAspect="1"/>
          </p:cNvPicPr>
          <p:nvPr/>
        </p:nvPicPr>
        <p:blipFill>
          <a:blip r:embed="rId4">
            <a:extLst/>
          </a:blip>
          <a:stretch>
            <a:fillRect/>
          </a:stretch>
        </p:blipFill>
        <p:spPr>
          <a:xfrm>
            <a:off x="5194300" y="3543300"/>
            <a:ext cx="2277313" cy="1905000"/>
          </a:xfrm>
          <a:prstGeom prst="rect">
            <a:avLst/>
          </a:prstGeom>
          <a:ln w="12700">
            <a:miter lim="400000"/>
          </a:ln>
        </p:spPr>
      </p:pic>
      <p:grpSp>
        <p:nvGrpSpPr>
          <p:cNvPr id="358" name="Group 358"/>
          <p:cNvGrpSpPr/>
          <p:nvPr/>
        </p:nvGrpSpPr>
        <p:grpSpPr>
          <a:xfrm>
            <a:off x="9067800" y="2959100"/>
            <a:ext cx="3162300" cy="2616200"/>
            <a:chOff x="0" y="0"/>
            <a:chExt cx="3162300" cy="2616200"/>
          </a:xfrm>
        </p:grpSpPr>
        <p:sp>
          <p:nvSpPr>
            <p:cNvPr id="356" name="Shape 356"/>
            <p:cNvSpPr/>
            <p:nvPr/>
          </p:nvSpPr>
          <p:spPr>
            <a:xfrm>
              <a:off x="0" y="0"/>
              <a:ext cx="3162300" cy="2616200"/>
            </a:xfrm>
            <a:prstGeom prst="rect">
              <a:avLst/>
            </a:prstGeom>
            <a:solidFill>
              <a:srgbClr val="FFFFFF">
                <a:alpha val="72000"/>
              </a:srgbClr>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7" name="Shape 357"/>
            <p:cNvSpPr/>
            <p:nvPr/>
          </p:nvSpPr>
          <p:spPr>
            <a:xfrm>
              <a:off x="140830" y="203200"/>
              <a:ext cx="28956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t>Sickle cells</a:t>
              </a:r>
            </a:p>
            <a:p>
              <a:pPr>
                <a:lnSpc>
                  <a:spcPts val="2100"/>
                </a:lnSpc>
                <a:tabLst>
                  <a:tab pos="520700" algn="l"/>
                </a:tabLst>
              </a:pPr>
              <a:r>
                <a:t>containing mutant haemoglobin (less soluble)</a:t>
              </a:r>
            </a:p>
          </p:txBody>
        </p:sp>
      </p:grpSp>
      <p:grpSp>
        <p:nvGrpSpPr>
          <p:cNvPr id="361" name="Group 361"/>
          <p:cNvGrpSpPr/>
          <p:nvPr/>
        </p:nvGrpSpPr>
        <p:grpSpPr>
          <a:xfrm>
            <a:off x="749300" y="2959100"/>
            <a:ext cx="3162300" cy="2616200"/>
            <a:chOff x="0" y="0"/>
            <a:chExt cx="3162300" cy="2616200"/>
          </a:xfrm>
        </p:grpSpPr>
        <p:sp>
          <p:nvSpPr>
            <p:cNvPr id="359" name="Shape 359"/>
            <p:cNvSpPr/>
            <p:nvPr/>
          </p:nvSpPr>
          <p:spPr>
            <a:xfrm>
              <a:off x="0" y="0"/>
              <a:ext cx="3162300" cy="2616200"/>
            </a:xfrm>
            <a:prstGeom prst="rect">
              <a:avLst/>
            </a:prstGeom>
            <a:solidFill>
              <a:srgbClr val="FFFFFF">
                <a:alpha val="72000"/>
              </a:srgbClr>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0" name="Shape 360"/>
            <p:cNvSpPr/>
            <p:nvPr/>
          </p:nvSpPr>
          <p:spPr>
            <a:xfrm>
              <a:off x="215547" y="203200"/>
              <a:ext cx="27432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t>Normal red blood cells</a:t>
              </a:r>
            </a:p>
            <a:p>
              <a:pPr>
                <a:lnSpc>
                  <a:spcPts val="2100"/>
                </a:lnSpc>
                <a:tabLst>
                  <a:tab pos="520700" algn="l"/>
                </a:tabLst>
              </a:pPr>
              <a:r>
                <a:t>containing normal haemoglobin (soluble)</a:t>
              </a:r>
            </a:p>
          </p:txBody>
        </p:sp>
      </p:grpSp>
      <p:sp>
        <p:nvSpPr>
          <p:cNvPr id="362" name="Shape 362"/>
          <p:cNvSpPr>
            <a:spLocks noGrp="1"/>
          </p:cNvSpPr>
          <p:nvPr>
            <p:ph type="title"/>
          </p:nvPr>
        </p:nvSpPr>
        <p:spPr>
          <a:prstGeom prst="rect">
            <a:avLst/>
          </a:prstGeom>
        </p:spPr>
        <p:txBody>
          <a:bodyPr/>
          <a:lstStyle>
            <a:lvl1pPr>
              <a:tabLst>
                <a:tab pos="952500" algn="l"/>
              </a:tabLst>
            </a:lvl1pPr>
          </a:lstStyle>
          <a:p>
            <a:r>
              <a:t>Sickle Cell Mutation</a:t>
            </a:r>
          </a:p>
        </p:txBody>
      </p:sp>
      <p:sp>
        <p:nvSpPr>
          <p:cNvPr id="363" name="Shape 363"/>
          <p:cNvSpPr>
            <a:spLocks noGrp="1"/>
          </p:cNvSpPr>
          <p:nvPr>
            <p:ph type="body" sz="quarter" idx="1"/>
          </p:nvPr>
        </p:nvSpPr>
        <p:spPr>
          <a:xfrm>
            <a:off x="368300" y="1790700"/>
            <a:ext cx="11777266" cy="482799"/>
          </a:xfrm>
          <a:prstGeom prst="rect">
            <a:avLst/>
          </a:prstGeom>
        </p:spPr>
        <p:txBody>
          <a:bodyPr/>
          <a:lstStyle/>
          <a:p>
            <a:pPr marL="345600" indent="-345600">
              <a:tabLst>
                <a:tab pos="1016000" algn="l"/>
              </a:tabLst>
            </a:pPr>
            <a:r>
              <a:t>The mutation responsible for causing sickle cell disease is a </a:t>
            </a:r>
            <a:r>
              <a:rPr b="1">
                <a:solidFill>
                  <a:srgbClr val="006994"/>
                </a:solidFill>
              </a:rPr>
              <a:t>point substitution</a:t>
            </a:r>
            <a:r>
              <a:t>.</a:t>
            </a:r>
          </a:p>
        </p:txBody>
      </p:sp>
      <p:sp>
        <p:nvSpPr>
          <p:cNvPr id="364" name="Shape 364"/>
          <p:cNvSpPr/>
          <p:nvPr/>
        </p:nvSpPr>
        <p:spPr>
          <a:xfrm>
            <a:off x="4836769" y="2679700"/>
            <a:ext cx="33655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pPr>
            <a:r>
              <a:t>Hemoglobin molecules</a:t>
            </a:r>
          </a:p>
          <a:p>
            <a:pPr>
              <a:lnSpc>
                <a:spcPts val="2100"/>
              </a:lnSpc>
              <a:tabLst>
                <a:tab pos="520700" algn="l"/>
              </a:tabLst>
            </a:pPr>
            <a:r>
              <a:t>are made up of 2 α-chains and 2 β-chains linked together</a:t>
            </a:r>
          </a:p>
        </p:txBody>
      </p:sp>
      <p:sp>
        <p:nvSpPr>
          <p:cNvPr id="365" name="Shape 365"/>
          <p:cNvSpPr/>
          <p:nvPr/>
        </p:nvSpPr>
        <p:spPr>
          <a:xfrm>
            <a:off x="3979453" y="6426200"/>
            <a:ext cx="1308957"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pPr>
            <a:r>
              <a:t>β-Chain</a:t>
            </a:r>
          </a:p>
          <a:p>
            <a:pPr>
              <a:lnSpc>
                <a:spcPts val="2100"/>
              </a:lnSpc>
              <a:tabLst>
                <a:tab pos="520700" algn="l"/>
              </a:tabLst>
            </a:pPr>
            <a:r>
              <a:t>hemoglobin</a:t>
            </a:r>
          </a:p>
        </p:txBody>
      </p:sp>
      <p:sp>
        <p:nvSpPr>
          <p:cNvPr id="366" name="Shape 366"/>
          <p:cNvSpPr/>
          <p:nvPr/>
        </p:nvSpPr>
        <p:spPr>
          <a:xfrm>
            <a:off x="8951475" y="7747000"/>
            <a:ext cx="3670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The sickle cell mutation involves the substitution of one base for another in the HBB gene, causing a single amino acid to be altered.</a:t>
            </a:r>
          </a:p>
        </p:txBody>
      </p:sp>
      <p:sp>
        <p:nvSpPr>
          <p:cNvPr id="367" name="Shape 367"/>
          <p:cNvSpPr/>
          <p:nvPr/>
        </p:nvSpPr>
        <p:spPr>
          <a:xfrm>
            <a:off x="8958235" y="6032500"/>
            <a:ext cx="3670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When deprived of oxygen, haemoglobin precipitates to form fibres, which deform the red blood cells into a sickle shape.</a:t>
            </a:r>
          </a:p>
        </p:txBody>
      </p:sp>
      <p:grpSp>
        <p:nvGrpSpPr>
          <p:cNvPr id="372" name="Group 372"/>
          <p:cNvGrpSpPr/>
          <p:nvPr/>
        </p:nvGrpSpPr>
        <p:grpSpPr>
          <a:xfrm>
            <a:off x="4121391" y="4961466"/>
            <a:ext cx="4442477" cy="733356"/>
            <a:chOff x="0" y="0"/>
            <a:chExt cx="4442476" cy="733354"/>
          </a:xfrm>
        </p:grpSpPr>
        <p:sp>
          <p:nvSpPr>
            <p:cNvPr id="368" name="Shape 368"/>
            <p:cNvSpPr/>
            <p:nvPr/>
          </p:nvSpPr>
          <p:spPr>
            <a:xfrm>
              <a:off x="0" y="474133"/>
              <a:ext cx="155452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Beta (β) chain</a:t>
              </a:r>
            </a:p>
          </p:txBody>
        </p:sp>
        <p:sp>
          <p:nvSpPr>
            <p:cNvPr id="369" name="Shape 369"/>
            <p:cNvSpPr/>
            <p:nvPr/>
          </p:nvSpPr>
          <p:spPr>
            <a:xfrm>
              <a:off x="2772872" y="474133"/>
              <a:ext cx="166960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Alpha (α) chain</a:t>
              </a:r>
            </a:p>
          </p:txBody>
        </p:sp>
        <p:sp>
          <p:nvSpPr>
            <p:cNvPr id="370" name="Shape 370"/>
            <p:cNvSpPr/>
            <p:nvPr/>
          </p:nvSpPr>
          <p:spPr>
            <a:xfrm>
              <a:off x="3143008" y="0"/>
              <a:ext cx="215900" cy="410634"/>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71" name="Shape 371"/>
            <p:cNvSpPr/>
            <p:nvPr/>
          </p:nvSpPr>
          <p:spPr>
            <a:xfrm flipH="1">
              <a:off x="1106774" y="88900"/>
              <a:ext cx="237068" cy="321734"/>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373" name="Shape 373"/>
          <p:cNvSpPr/>
          <p:nvPr/>
        </p:nvSpPr>
        <p:spPr>
          <a:xfrm>
            <a:off x="6299199" y="5384800"/>
            <a:ext cx="1" cy="1016010"/>
          </a:xfrm>
          <a:prstGeom prst="line">
            <a:avLst/>
          </a:prstGeom>
          <a:ln w="762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4" name="Shape 374"/>
          <p:cNvSpPr/>
          <p:nvPr/>
        </p:nvSpPr>
        <p:spPr>
          <a:xfrm flipH="1" flipV="1">
            <a:off x="7562704" y="4466147"/>
            <a:ext cx="1687130" cy="147"/>
          </a:xfrm>
          <a:prstGeom prst="line">
            <a:avLst/>
          </a:prstGeom>
          <a:ln w="1016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5" name="Shape 375"/>
          <p:cNvSpPr/>
          <p:nvPr/>
        </p:nvSpPr>
        <p:spPr>
          <a:xfrm>
            <a:off x="3733800" y="4470400"/>
            <a:ext cx="1477434" cy="127"/>
          </a:xfrm>
          <a:prstGeom prst="line">
            <a:avLst/>
          </a:prstGeom>
          <a:ln w="1016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6" name="Shape 376"/>
          <p:cNvSpPr/>
          <p:nvPr/>
        </p:nvSpPr>
        <p:spPr>
          <a:xfrm>
            <a:off x="6532451" y="7378700"/>
            <a:ext cx="2096890"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pPr>
            <a:r>
              <a:t>Normal base: T</a:t>
            </a:r>
          </a:p>
          <a:p>
            <a:pPr>
              <a:lnSpc>
                <a:spcPts val="2100"/>
              </a:lnSpc>
              <a:tabLst>
                <a:tab pos="520700" algn="l"/>
              </a:tabLst>
            </a:pPr>
            <a:r>
              <a:t>Substituted base: A</a:t>
            </a:r>
          </a:p>
        </p:txBody>
      </p:sp>
      <p:sp>
        <p:nvSpPr>
          <p:cNvPr id="377" name="Shape 377"/>
          <p:cNvSpPr/>
          <p:nvPr/>
        </p:nvSpPr>
        <p:spPr>
          <a:xfrm flipV="1">
            <a:off x="6972299" y="7899400"/>
            <a:ext cx="1" cy="23706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384" name="Group 384"/>
          <p:cNvGrpSpPr/>
          <p:nvPr/>
        </p:nvGrpSpPr>
        <p:grpSpPr>
          <a:xfrm>
            <a:off x="594080" y="7556500"/>
            <a:ext cx="3036851" cy="1910222"/>
            <a:chOff x="0" y="0"/>
            <a:chExt cx="3036850" cy="1910221"/>
          </a:xfrm>
        </p:grpSpPr>
        <p:sp>
          <p:nvSpPr>
            <p:cNvPr id="378" name="Shape 378"/>
            <p:cNvSpPr/>
            <p:nvPr/>
          </p:nvSpPr>
          <p:spPr>
            <a:xfrm>
              <a:off x="15487" y="825500"/>
              <a:ext cx="60965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DNA</a:t>
              </a:r>
            </a:p>
          </p:txBody>
        </p:sp>
        <p:sp>
          <p:nvSpPr>
            <p:cNvPr id="379" name="Shape 379"/>
            <p:cNvSpPr/>
            <p:nvPr/>
          </p:nvSpPr>
          <p:spPr>
            <a:xfrm>
              <a:off x="0" y="1651000"/>
              <a:ext cx="303685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Codes for the 1st amino acid</a:t>
              </a:r>
            </a:p>
          </p:txBody>
        </p:sp>
        <p:sp>
          <p:nvSpPr>
            <p:cNvPr id="380" name="Shape 380"/>
            <p:cNvSpPr/>
            <p:nvPr/>
          </p:nvSpPr>
          <p:spPr>
            <a:xfrm>
              <a:off x="664918" y="0"/>
              <a:ext cx="113058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First base</a:t>
              </a:r>
            </a:p>
          </p:txBody>
        </p:sp>
        <p:sp>
          <p:nvSpPr>
            <p:cNvPr id="381" name="Shape 381"/>
            <p:cNvSpPr/>
            <p:nvPr/>
          </p:nvSpPr>
          <p:spPr>
            <a:xfrm flipV="1">
              <a:off x="1196619" y="255913"/>
              <a:ext cx="1" cy="324054"/>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82" name="Shape 382"/>
            <p:cNvSpPr/>
            <p:nvPr/>
          </p:nvSpPr>
          <p:spPr>
            <a:xfrm>
              <a:off x="1056919" y="1270000"/>
              <a:ext cx="877688" cy="127"/>
            </a:xfrm>
            <a:prstGeom prst="line">
              <a:avLst/>
            </a:prstGeom>
            <a:noFill/>
            <a:ln w="25400" cap="flat">
              <a:solidFill>
                <a:srgbClr val="126A93"/>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83" name="Shape 383"/>
            <p:cNvSpPr/>
            <p:nvPr/>
          </p:nvSpPr>
          <p:spPr>
            <a:xfrm>
              <a:off x="1514119" y="1270000"/>
              <a:ext cx="1" cy="334435"/>
            </a:xfrm>
            <a:prstGeom prst="line">
              <a:avLst/>
            </a:prstGeom>
            <a:noFill/>
            <a:ln w="25400" cap="flat">
              <a:solidFill>
                <a:srgbClr val="126A93"/>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385" name="Shape 385"/>
          <p:cNvSpPr/>
          <p:nvPr/>
        </p:nvSpPr>
        <p:spPr>
          <a:xfrm>
            <a:off x="6294966" y="7086600"/>
            <a:ext cx="1" cy="812800"/>
          </a:xfrm>
          <a:prstGeom prst="line">
            <a:avLst/>
          </a:prstGeom>
          <a:ln w="762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386" name="Sickle Cell sickle cells.pdf"/>
          <p:cNvPicPr>
            <a:picLocks noChangeAspect="1"/>
          </p:cNvPicPr>
          <p:nvPr/>
        </p:nvPicPr>
        <p:blipFill>
          <a:blip r:embed="rId5">
            <a:extLst/>
          </a:blip>
          <a:stretch>
            <a:fillRect/>
          </a:stretch>
        </p:blipFill>
        <p:spPr>
          <a:xfrm>
            <a:off x="9557327" y="4038600"/>
            <a:ext cx="2200492" cy="1358900"/>
          </a:xfrm>
          <a:prstGeom prst="rect">
            <a:avLst/>
          </a:prstGeom>
          <a:ln w="12700">
            <a:miter lim="400000"/>
          </a:ln>
        </p:spPr>
      </p:pic>
      <p:sp>
        <p:nvSpPr>
          <p:cNvPr id="387" name="Shape 387"/>
          <p:cNvSpPr/>
          <p:nvPr/>
        </p:nvSpPr>
        <p:spPr>
          <a:xfrm>
            <a:off x="10909300" y="5168900"/>
            <a:ext cx="0" cy="812800"/>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388" name="Sickle Cell red cells.pdf"/>
          <p:cNvPicPr>
            <a:picLocks noChangeAspect="1"/>
          </p:cNvPicPr>
          <p:nvPr/>
        </p:nvPicPr>
        <p:blipFill>
          <a:blip r:embed="rId6">
            <a:extLst/>
          </a:blip>
          <a:stretch>
            <a:fillRect/>
          </a:stretch>
        </p:blipFill>
        <p:spPr>
          <a:xfrm>
            <a:off x="1193800" y="4165600"/>
            <a:ext cx="2083199" cy="1130300"/>
          </a:xfrm>
          <a:prstGeom prst="rect">
            <a:avLst/>
          </a:prstGeom>
          <a:ln w="12700">
            <a:miter lim="400000"/>
          </a:ln>
        </p:spPr>
      </p:pic>
      <p:sp>
        <p:nvSpPr>
          <p:cNvPr id="389" name="Shape 389"/>
          <p:cNvSpPr/>
          <p:nvPr/>
        </p:nvSpPr>
        <p:spPr>
          <a:xfrm>
            <a:off x="385735" y="6032500"/>
            <a:ext cx="3035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Red blood cells normally have a biconcave shape, which enables them to squeeze through capillaries.</a:t>
            </a:r>
          </a:p>
        </p:txBody>
      </p:sp>
      <p:sp>
        <p:nvSpPr>
          <p:cNvPr id="390" name="Shape 390"/>
          <p:cNvSpPr/>
          <p:nvPr/>
        </p:nvSpPr>
        <p:spPr>
          <a:xfrm flipH="1">
            <a:off x="2336799" y="4864424"/>
            <a:ext cx="1" cy="1117276"/>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 grpId="1"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2" name="Cystic Fibrosis 1 chromosom.pdf"/>
          <p:cNvPicPr>
            <a:picLocks noChangeAspect="1"/>
          </p:cNvPicPr>
          <p:nvPr/>
        </p:nvPicPr>
        <p:blipFill>
          <a:blip r:embed="rId2">
            <a:extLst/>
          </a:blip>
          <a:stretch>
            <a:fillRect/>
          </a:stretch>
        </p:blipFill>
        <p:spPr>
          <a:xfrm rot="5400000">
            <a:off x="6447958" y="4421748"/>
            <a:ext cx="5969001" cy="716618"/>
          </a:xfrm>
          <a:prstGeom prst="rect">
            <a:avLst/>
          </a:prstGeom>
          <a:ln w="12700">
            <a:miter lim="400000"/>
          </a:ln>
        </p:spPr>
      </p:pic>
      <p:sp>
        <p:nvSpPr>
          <p:cNvPr id="393" name="Shape 393"/>
          <p:cNvSpPr>
            <a:spLocks noGrp="1"/>
          </p:cNvSpPr>
          <p:nvPr>
            <p:ph type="title"/>
          </p:nvPr>
        </p:nvSpPr>
        <p:spPr>
          <a:prstGeom prst="rect">
            <a:avLst/>
          </a:prstGeom>
        </p:spPr>
        <p:txBody>
          <a:bodyPr/>
          <a:lstStyle>
            <a:lvl1pPr>
              <a:tabLst>
                <a:tab pos="952500" algn="l"/>
              </a:tabLst>
            </a:lvl1pPr>
          </a:lstStyle>
          <a:p>
            <a:r>
              <a:t>Cystic Fibrosis</a:t>
            </a:r>
          </a:p>
        </p:txBody>
      </p:sp>
      <p:sp>
        <p:nvSpPr>
          <p:cNvPr id="394" name="Shape 394"/>
          <p:cNvSpPr>
            <a:spLocks noGrp="1"/>
          </p:cNvSpPr>
          <p:nvPr>
            <p:ph type="body" sz="half" idx="1"/>
          </p:nvPr>
        </p:nvSpPr>
        <p:spPr>
          <a:xfrm>
            <a:off x="368300" y="1790700"/>
            <a:ext cx="6383437" cy="5222280"/>
          </a:xfrm>
          <a:prstGeom prst="rect">
            <a:avLst/>
          </a:prstGeom>
        </p:spPr>
        <p:txBody>
          <a:bodyPr/>
          <a:lstStyle/>
          <a:p>
            <a:pPr>
              <a:tabLst>
                <a:tab pos="1016000" algn="l"/>
              </a:tabLst>
            </a:pPr>
            <a:r>
              <a:rPr b="1" dirty="0">
                <a:solidFill>
                  <a:srgbClr val="006994"/>
                </a:solidFill>
              </a:rPr>
              <a:t>Cystic fibrosis </a:t>
            </a:r>
            <a:r>
              <a:rPr dirty="0"/>
              <a:t>(CF) is an example of a </a:t>
            </a:r>
            <a:br>
              <a:rPr dirty="0"/>
            </a:br>
            <a:r>
              <a:rPr dirty="0"/>
              <a:t>harmful mutation in humans.</a:t>
            </a:r>
            <a:endParaRPr b="1" dirty="0">
              <a:solidFill>
                <a:srgbClr val="006994"/>
              </a:solidFill>
            </a:endParaRPr>
          </a:p>
          <a:p>
            <a:pPr>
              <a:tabLst>
                <a:tab pos="1016000" algn="l"/>
              </a:tabLst>
            </a:pPr>
            <a:r>
              <a:rPr b="1" dirty="0">
                <a:solidFill>
                  <a:srgbClr val="006994"/>
                </a:solidFill>
              </a:rPr>
              <a:t>Synonyms</a:t>
            </a:r>
            <a:r>
              <a:rPr dirty="0"/>
              <a:t>: Mucoviscidosis, CF </a:t>
            </a:r>
          </a:p>
          <a:p>
            <a:pPr>
              <a:tabLst>
                <a:tab pos="1016000" algn="l"/>
              </a:tabLst>
            </a:pPr>
            <a:r>
              <a:rPr b="1" dirty="0">
                <a:solidFill>
                  <a:srgbClr val="006994"/>
                </a:solidFill>
              </a:rPr>
              <a:t>Incidence</a:t>
            </a:r>
            <a:r>
              <a:rPr dirty="0"/>
              <a:t>: Varies with populations: </a:t>
            </a:r>
          </a:p>
          <a:p>
            <a:pPr marL="720000" lvl="1" indent="-360000">
              <a:buClr>
                <a:schemeClr val="tx2">
                  <a:lumMod val="10000"/>
                </a:schemeClr>
              </a:buClr>
              <a:tabLst>
                <a:tab pos="1384300" algn="l"/>
              </a:tabLst>
            </a:pPr>
            <a:r>
              <a:rPr b="1" dirty="0">
                <a:solidFill>
                  <a:srgbClr val="006994"/>
                </a:solidFill>
              </a:rPr>
              <a:t>People of Asian ethnicity</a:t>
            </a:r>
            <a:r>
              <a:rPr dirty="0"/>
              <a:t>: 1 in 10,000</a:t>
            </a:r>
          </a:p>
          <a:p>
            <a:pPr marL="720000" lvl="1" indent="-360000">
              <a:buClr>
                <a:schemeClr val="tx2">
                  <a:lumMod val="10000"/>
                </a:schemeClr>
              </a:buClr>
              <a:tabLst>
                <a:tab pos="1384300" algn="l"/>
              </a:tabLst>
            </a:pPr>
            <a:r>
              <a:rPr b="1" dirty="0">
                <a:solidFill>
                  <a:srgbClr val="006994"/>
                </a:solidFill>
              </a:rPr>
              <a:t>People of European ethnicity</a:t>
            </a:r>
            <a:r>
              <a:rPr dirty="0"/>
              <a:t>: 1 in 20-28 are carriers</a:t>
            </a:r>
          </a:p>
          <a:p>
            <a:pPr>
              <a:tabLst>
                <a:tab pos="1016000" algn="l"/>
              </a:tabLst>
            </a:pPr>
            <a:r>
              <a:rPr b="1" dirty="0">
                <a:solidFill>
                  <a:srgbClr val="006994"/>
                </a:solidFill>
              </a:rPr>
              <a:t>Mutation type</a:t>
            </a:r>
            <a:r>
              <a:rPr dirty="0"/>
              <a:t>:  Autosomal recessive.</a:t>
            </a:r>
            <a:br>
              <a:rPr dirty="0"/>
            </a:br>
            <a:r>
              <a:rPr dirty="0"/>
              <a:t>Over 500 different recessive mutations </a:t>
            </a:r>
            <a:br>
              <a:rPr dirty="0"/>
            </a:br>
            <a:r>
              <a:rPr dirty="0"/>
              <a:t>of the CFTR gene have been identified:</a:t>
            </a:r>
          </a:p>
          <a:p>
            <a:pPr marL="720000" lvl="1" indent="-360000">
              <a:tabLst>
                <a:tab pos="1384300" algn="l"/>
              </a:tabLst>
            </a:pPr>
            <a:r>
              <a:rPr dirty="0"/>
              <a:t>deletions, missense, nonsense, terminator codon</a:t>
            </a:r>
          </a:p>
        </p:txBody>
      </p:sp>
      <p:sp>
        <p:nvSpPr>
          <p:cNvPr id="395" name="Shape 395"/>
          <p:cNvSpPr/>
          <p:nvPr/>
        </p:nvSpPr>
        <p:spPr>
          <a:xfrm>
            <a:off x="8444606" y="7937500"/>
            <a:ext cx="2227115" cy="7393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3100"/>
              </a:lnSpc>
              <a:tabLst>
                <a:tab pos="520700" algn="l"/>
              </a:tabLst>
              <a:defRPr sz="2400"/>
            </a:pPr>
            <a:r>
              <a:rPr b="1"/>
              <a:t>Gene location</a:t>
            </a:r>
          </a:p>
          <a:p>
            <a:pPr algn="ctr">
              <a:lnSpc>
                <a:spcPts val="3100"/>
              </a:lnSpc>
              <a:tabLst>
                <a:tab pos="520700" algn="l"/>
              </a:tabLst>
              <a:defRPr sz="2400"/>
            </a:pPr>
            <a:r>
              <a:t>Chromosome 7</a:t>
            </a:r>
          </a:p>
        </p:txBody>
      </p:sp>
      <p:sp>
        <p:nvSpPr>
          <p:cNvPr id="396" name="Shape 396"/>
          <p:cNvSpPr/>
          <p:nvPr/>
        </p:nvSpPr>
        <p:spPr>
          <a:xfrm>
            <a:off x="10356867" y="6324600"/>
            <a:ext cx="736452"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b="1">
                <a:solidFill>
                  <a:srgbClr val="201B17"/>
                </a:solidFill>
              </a:defRPr>
            </a:lvl1pPr>
          </a:lstStyle>
          <a:p>
            <a:pPr>
              <a:defRPr>
                <a:solidFill>
                  <a:srgbClr val="483F36"/>
                </a:solidFill>
              </a:defRPr>
            </a:pPr>
            <a:r>
              <a:rPr>
                <a:solidFill>
                  <a:srgbClr val="201B17"/>
                </a:solidFill>
              </a:rPr>
              <a:t>CFTR</a:t>
            </a:r>
          </a:p>
        </p:txBody>
      </p:sp>
      <p:sp>
        <p:nvSpPr>
          <p:cNvPr id="397" name="Shape 397"/>
          <p:cNvSpPr/>
          <p:nvPr/>
        </p:nvSpPr>
        <p:spPr>
          <a:xfrm>
            <a:off x="8810593" y="5397500"/>
            <a:ext cx="296517"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3100"/>
              </a:lnSpc>
              <a:tabLst>
                <a:tab pos="520700" algn="l"/>
              </a:tabLst>
              <a:defRPr sz="2400" i="1">
                <a:solidFill>
                  <a:srgbClr val="201B17"/>
                </a:solidFill>
              </a:defRPr>
            </a:lvl1pPr>
          </a:lstStyle>
          <a:p>
            <a:pPr>
              <a:defRPr i="0">
                <a:solidFill>
                  <a:srgbClr val="483F36"/>
                </a:solidFill>
              </a:defRPr>
            </a:pPr>
            <a:r>
              <a:rPr i="1">
                <a:solidFill>
                  <a:srgbClr val="201B17"/>
                </a:solidFill>
              </a:rPr>
              <a:t>q</a:t>
            </a:r>
          </a:p>
        </p:txBody>
      </p:sp>
      <p:sp>
        <p:nvSpPr>
          <p:cNvPr id="398" name="Shape 398"/>
          <p:cNvSpPr/>
          <p:nvPr/>
        </p:nvSpPr>
        <p:spPr>
          <a:xfrm>
            <a:off x="8810593" y="2743200"/>
            <a:ext cx="296517"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3100"/>
              </a:lnSpc>
              <a:tabLst>
                <a:tab pos="520700" algn="l"/>
              </a:tabLst>
              <a:defRPr sz="2400" i="1">
                <a:solidFill>
                  <a:srgbClr val="201B17"/>
                </a:solidFill>
              </a:defRPr>
            </a:lvl1pPr>
          </a:lstStyle>
          <a:p>
            <a:pPr>
              <a:defRPr i="0">
                <a:solidFill>
                  <a:srgbClr val="483F36"/>
                </a:solidFill>
              </a:defRPr>
            </a:pPr>
            <a:r>
              <a:rPr i="1">
                <a:solidFill>
                  <a:srgbClr val="201B17"/>
                </a:solidFill>
              </a:rPr>
              <a:t>p</a:t>
            </a:r>
          </a:p>
        </p:txBody>
      </p:sp>
      <p:sp>
        <p:nvSpPr>
          <p:cNvPr id="399" name="Shape 399"/>
          <p:cNvSpPr/>
          <p:nvPr/>
        </p:nvSpPr>
        <p:spPr>
          <a:xfrm>
            <a:off x="9829800" y="6464300"/>
            <a:ext cx="564623" cy="127"/>
          </a:xfrm>
          <a:prstGeom prst="line">
            <a:avLst/>
          </a:prstGeom>
          <a:ln w="381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9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9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9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9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9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9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9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3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1" name="Cystic Fibrosis base.pdf"/>
          <p:cNvPicPr>
            <a:picLocks noChangeAspect="1"/>
          </p:cNvPicPr>
          <p:nvPr/>
        </p:nvPicPr>
        <p:blipFill>
          <a:blip r:embed="rId2">
            <a:extLst/>
          </a:blip>
          <a:stretch>
            <a:fillRect/>
          </a:stretch>
        </p:blipFill>
        <p:spPr>
          <a:xfrm>
            <a:off x="7480300" y="6412424"/>
            <a:ext cx="3797300" cy="1232976"/>
          </a:xfrm>
          <a:prstGeom prst="rect">
            <a:avLst/>
          </a:prstGeom>
          <a:ln w="12700">
            <a:miter lim="400000"/>
          </a:ln>
        </p:spPr>
      </p:pic>
      <p:pic>
        <p:nvPicPr>
          <p:cNvPr id="402" name="Cystic Fibrosis base.pdf"/>
          <p:cNvPicPr>
            <a:picLocks noChangeAspect="1"/>
          </p:cNvPicPr>
          <p:nvPr/>
        </p:nvPicPr>
        <p:blipFill>
          <a:blip r:embed="rId2">
            <a:extLst/>
          </a:blip>
          <a:stretch>
            <a:fillRect/>
          </a:stretch>
        </p:blipFill>
        <p:spPr>
          <a:xfrm>
            <a:off x="1841500" y="6628324"/>
            <a:ext cx="3797300" cy="1232976"/>
          </a:xfrm>
          <a:prstGeom prst="rect">
            <a:avLst/>
          </a:prstGeom>
          <a:ln w="12700">
            <a:miter lim="400000"/>
          </a:ln>
        </p:spPr>
      </p:pic>
      <p:grpSp>
        <p:nvGrpSpPr>
          <p:cNvPr id="406" name="Group 406"/>
          <p:cNvGrpSpPr/>
          <p:nvPr/>
        </p:nvGrpSpPr>
        <p:grpSpPr>
          <a:xfrm>
            <a:off x="9944100" y="7594600"/>
            <a:ext cx="304800" cy="609600"/>
            <a:chOff x="0" y="0"/>
            <a:chExt cx="304800" cy="609600"/>
          </a:xfrm>
        </p:grpSpPr>
        <p:sp>
          <p:nvSpPr>
            <p:cNvPr id="403" name="Shape 403"/>
            <p:cNvSpPr/>
            <p:nvPr/>
          </p:nvSpPr>
          <p:spPr>
            <a:xfrm flipV="1">
              <a:off x="304800" y="25400"/>
              <a:ext cx="1" cy="584200"/>
            </a:xfrm>
            <a:prstGeom prst="line">
              <a:avLst/>
            </a:prstGeom>
            <a:noFill/>
            <a:ln w="25400" cap="flat">
              <a:solidFill>
                <a:srgbClr val="8DEAF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04" name="Shape 404"/>
            <p:cNvSpPr/>
            <p:nvPr/>
          </p:nvSpPr>
          <p:spPr>
            <a:xfrm flipV="1">
              <a:off x="139699" y="0"/>
              <a:ext cx="1" cy="508000"/>
            </a:xfrm>
            <a:prstGeom prst="line">
              <a:avLst/>
            </a:prstGeom>
            <a:noFill/>
            <a:ln w="25400" cap="flat">
              <a:solidFill>
                <a:srgbClr val="8DEAF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05" name="Shape 405"/>
            <p:cNvSpPr/>
            <p:nvPr/>
          </p:nvSpPr>
          <p:spPr>
            <a:xfrm flipV="1">
              <a:off x="-1" y="0"/>
              <a:ext cx="2" cy="393700"/>
            </a:xfrm>
            <a:prstGeom prst="line">
              <a:avLst/>
            </a:prstGeom>
            <a:noFill/>
            <a:ln w="25400" cap="flat">
              <a:solidFill>
                <a:srgbClr val="8DEAF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407" name="Shape 407"/>
          <p:cNvSpPr/>
          <p:nvPr/>
        </p:nvSpPr>
        <p:spPr>
          <a:xfrm>
            <a:off x="10782300" y="1143000"/>
            <a:ext cx="2120900" cy="2565400"/>
          </a:xfrm>
          <a:prstGeom prst="ellipse">
            <a:avLst/>
          </a:prstGeom>
          <a:solidFill>
            <a:srgbClr val="FFF770">
              <a:alpha val="61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411" name="Group 411"/>
          <p:cNvGrpSpPr/>
          <p:nvPr/>
        </p:nvGrpSpPr>
        <p:grpSpPr>
          <a:xfrm>
            <a:off x="9944100" y="5867400"/>
            <a:ext cx="304800" cy="1003300"/>
            <a:chOff x="0" y="0"/>
            <a:chExt cx="304800" cy="1003300"/>
          </a:xfrm>
        </p:grpSpPr>
        <p:sp>
          <p:nvSpPr>
            <p:cNvPr id="408" name="Shape 408"/>
            <p:cNvSpPr/>
            <p:nvPr/>
          </p:nvSpPr>
          <p:spPr>
            <a:xfrm flipH="1">
              <a:off x="304799" y="241300"/>
              <a:ext cx="2" cy="762000"/>
            </a:xfrm>
            <a:prstGeom prst="line">
              <a:avLst/>
            </a:prstGeom>
            <a:noFill/>
            <a:ln w="25400" cap="flat">
              <a:solidFill>
                <a:srgbClr val="8DEAF4"/>
              </a:solidFill>
              <a:prstDash val="solid"/>
              <a:miter lim="400000"/>
            </a:ln>
            <a:effectLst>
              <a:outerShdw blurRad="63500" dist="50800" dir="2700000" rotWithShape="0">
                <a:srgbClr val="000000">
                  <a:alpha val="69999"/>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09" name="Shape 409"/>
            <p:cNvSpPr/>
            <p:nvPr/>
          </p:nvSpPr>
          <p:spPr>
            <a:xfrm flipH="1">
              <a:off x="139699" y="88900"/>
              <a:ext cx="2" cy="762000"/>
            </a:xfrm>
            <a:prstGeom prst="line">
              <a:avLst/>
            </a:prstGeom>
            <a:noFill/>
            <a:ln w="25400" cap="flat">
              <a:solidFill>
                <a:srgbClr val="8DEAF4"/>
              </a:solidFill>
              <a:prstDash val="solid"/>
              <a:miter lim="400000"/>
            </a:ln>
            <a:effectLst>
              <a:outerShdw blurRad="63500" dist="50800" dir="2700000" rotWithShape="0">
                <a:srgbClr val="000000">
                  <a:alpha val="69999"/>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10" name="Shape 410"/>
            <p:cNvSpPr/>
            <p:nvPr/>
          </p:nvSpPr>
          <p:spPr>
            <a:xfrm flipH="1">
              <a:off x="-1" y="0"/>
              <a:ext cx="2" cy="762000"/>
            </a:xfrm>
            <a:prstGeom prst="line">
              <a:avLst/>
            </a:prstGeom>
            <a:noFill/>
            <a:ln w="25400" cap="flat">
              <a:solidFill>
                <a:srgbClr val="8DEAF4"/>
              </a:solidFill>
              <a:prstDash val="solid"/>
              <a:miter lim="400000"/>
            </a:ln>
            <a:effectLst>
              <a:outerShdw blurRad="63500" dist="50800" dir="2700000" rotWithShape="0">
                <a:srgbClr val="000000">
                  <a:alpha val="69999"/>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412" name="Shape 412"/>
          <p:cNvSpPr>
            <a:spLocks noGrp="1"/>
          </p:cNvSpPr>
          <p:nvPr>
            <p:ph type="title"/>
          </p:nvPr>
        </p:nvSpPr>
        <p:spPr>
          <a:prstGeom prst="rect">
            <a:avLst/>
          </a:prstGeom>
        </p:spPr>
        <p:txBody>
          <a:bodyPr/>
          <a:lstStyle>
            <a:lvl1pPr>
              <a:tabLst>
                <a:tab pos="952500" algn="l"/>
              </a:tabLst>
            </a:lvl1pPr>
          </a:lstStyle>
          <a:p>
            <a:r>
              <a:t>Cystic Fibrosis Mutation</a:t>
            </a:r>
          </a:p>
        </p:txBody>
      </p:sp>
      <p:sp>
        <p:nvSpPr>
          <p:cNvPr id="413" name="Shape 413"/>
          <p:cNvSpPr>
            <a:spLocks noGrp="1"/>
          </p:cNvSpPr>
          <p:nvPr>
            <p:ph type="body" sz="quarter" idx="1"/>
          </p:nvPr>
        </p:nvSpPr>
        <p:spPr>
          <a:xfrm>
            <a:off x="368300" y="1790700"/>
            <a:ext cx="9318377" cy="881708"/>
          </a:xfrm>
          <a:prstGeom prst="rect">
            <a:avLst/>
          </a:prstGeom>
        </p:spPr>
        <p:txBody>
          <a:bodyPr/>
          <a:lstStyle/>
          <a:p>
            <a:pPr>
              <a:tabLst>
                <a:tab pos="1016000" algn="l"/>
              </a:tabLst>
            </a:pPr>
            <a:r>
              <a:t>The mutation causing 70% of cystic fibrosis cases is a </a:t>
            </a:r>
            <a:r>
              <a:rPr b="1">
                <a:solidFill>
                  <a:srgbClr val="006994"/>
                </a:solidFill>
              </a:rPr>
              <a:t>gene mutation</a:t>
            </a:r>
            <a:r>
              <a:t> (delta F508) involving a net triplet deletion.</a:t>
            </a:r>
          </a:p>
        </p:txBody>
      </p:sp>
      <p:sp>
        <p:nvSpPr>
          <p:cNvPr id="414" name="Shape 414"/>
          <p:cNvSpPr/>
          <p:nvPr/>
        </p:nvSpPr>
        <p:spPr>
          <a:xfrm>
            <a:off x="2181350" y="2882900"/>
            <a:ext cx="122010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lvl1pPr>
          </a:lstStyle>
          <a:p>
            <a:r>
              <a:t>Base 1630</a:t>
            </a:r>
          </a:p>
        </p:txBody>
      </p:sp>
      <p:sp>
        <p:nvSpPr>
          <p:cNvPr id="415" name="Shape 415"/>
          <p:cNvSpPr/>
          <p:nvPr/>
        </p:nvSpPr>
        <p:spPr>
          <a:xfrm>
            <a:off x="241248" y="3327400"/>
            <a:ext cx="21082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defRPr>
                <a:solidFill>
                  <a:srgbClr val="000000"/>
                </a:solidFill>
              </a:defRPr>
            </a:pPr>
            <a:r>
              <a:t>Part of the DNA sequence in the </a:t>
            </a:r>
            <a:r>
              <a:rPr b="1">
                <a:solidFill>
                  <a:srgbClr val="006994"/>
                </a:solidFill>
              </a:rPr>
              <a:t>CFTR</a:t>
            </a:r>
            <a:r>
              <a:t> gene</a:t>
            </a:r>
          </a:p>
        </p:txBody>
      </p:sp>
      <p:sp>
        <p:nvSpPr>
          <p:cNvPr id="416" name="Shape 416"/>
          <p:cNvSpPr/>
          <p:nvPr/>
        </p:nvSpPr>
        <p:spPr>
          <a:xfrm>
            <a:off x="1846967" y="4432300"/>
            <a:ext cx="2654301"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lvl1pPr>
          </a:lstStyle>
          <a:p>
            <a:r>
              <a:t>This triplet codes for the 500th amino acid</a:t>
            </a:r>
          </a:p>
        </p:txBody>
      </p:sp>
      <p:sp>
        <p:nvSpPr>
          <p:cNvPr id="417" name="Shape 417"/>
          <p:cNvSpPr/>
          <p:nvPr/>
        </p:nvSpPr>
        <p:spPr>
          <a:xfrm>
            <a:off x="2042117" y="59944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18" name="Shape 418"/>
          <p:cNvSpPr/>
          <p:nvPr/>
        </p:nvSpPr>
        <p:spPr>
          <a:xfrm>
            <a:off x="4366217" y="53721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19" name="Shape 419"/>
          <p:cNvSpPr/>
          <p:nvPr/>
        </p:nvSpPr>
        <p:spPr>
          <a:xfrm>
            <a:off x="5458417" y="55753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20" name="Shape 420"/>
          <p:cNvSpPr/>
          <p:nvPr/>
        </p:nvSpPr>
        <p:spPr>
          <a:xfrm>
            <a:off x="1660409" y="6438900"/>
            <a:ext cx="1067235"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pPr>
            <a:r>
              <a:rPr i="1"/>
              <a:t>Outside</a:t>
            </a:r>
            <a:br>
              <a:rPr i="1"/>
            </a:br>
            <a:r>
              <a:rPr i="1"/>
              <a:t>the cell</a:t>
            </a:r>
          </a:p>
        </p:txBody>
      </p:sp>
      <p:sp>
        <p:nvSpPr>
          <p:cNvPr id="421" name="Shape 421"/>
          <p:cNvSpPr/>
          <p:nvPr/>
        </p:nvSpPr>
        <p:spPr>
          <a:xfrm>
            <a:off x="1615964" y="7785100"/>
            <a:ext cx="1156036"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pPr>
            <a:r>
              <a:rPr i="1"/>
              <a:t>Cell</a:t>
            </a:r>
            <a:br>
              <a:rPr i="1"/>
            </a:br>
            <a:r>
              <a:rPr i="1"/>
              <a:t>cytoplasm</a:t>
            </a:r>
          </a:p>
        </p:txBody>
      </p:sp>
      <p:sp>
        <p:nvSpPr>
          <p:cNvPr id="422" name="Shape 422"/>
          <p:cNvSpPr/>
          <p:nvPr/>
        </p:nvSpPr>
        <p:spPr>
          <a:xfrm>
            <a:off x="3705817" y="80010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23" name="Shape 423"/>
          <p:cNvSpPr/>
          <p:nvPr/>
        </p:nvSpPr>
        <p:spPr>
          <a:xfrm>
            <a:off x="1719628" y="8661400"/>
            <a:ext cx="33782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pPr>
            <a:r>
              <a:rPr b="1"/>
              <a:t>Normal CFTR protein</a:t>
            </a:r>
          </a:p>
          <a:p>
            <a:pPr algn="ctr">
              <a:lnSpc>
                <a:spcPts val="2100"/>
              </a:lnSpc>
              <a:tabLst>
                <a:tab pos="520700" algn="l"/>
              </a:tabLst>
            </a:pPr>
            <a:r>
              <a:rPr>
                <a:solidFill>
                  <a:srgbClr val="000000"/>
                </a:solidFill>
              </a:rPr>
              <a:t>regulates chloride transport across the membrane</a:t>
            </a:r>
          </a:p>
        </p:txBody>
      </p:sp>
      <p:sp>
        <p:nvSpPr>
          <p:cNvPr id="424" name="Shape 424"/>
          <p:cNvSpPr/>
          <p:nvPr/>
        </p:nvSpPr>
        <p:spPr>
          <a:xfrm>
            <a:off x="6264774" y="4419600"/>
            <a:ext cx="5067996"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lvl1pPr>
          </a:lstStyle>
          <a:p>
            <a:r>
              <a:t>These three bases are deleted from the 507/508th triplets in the DF508 mutation</a:t>
            </a:r>
          </a:p>
        </p:txBody>
      </p:sp>
      <p:sp>
        <p:nvSpPr>
          <p:cNvPr id="425" name="Shape 425"/>
          <p:cNvSpPr/>
          <p:nvPr/>
        </p:nvSpPr>
        <p:spPr>
          <a:xfrm>
            <a:off x="5816440" y="6769100"/>
            <a:ext cx="1283172"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pPr>
            <a:r>
              <a:rPr b="1"/>
              <a:t>Plasma</a:t>
            </a:r>
            <a:br>
              <a:rPr b="1"/>
            </a:br>
            <a:r>
              <a:rPr b="1"/>
              <a:t>membrane</a:t>
            </a:r>
          </a:p>
        </p:txBody>
      </p:sp>
      <p:sp>
        <p:nvSpPr>
          <p:cNvPr id="426" name="Shape 426"/>
          <p:cNvSpPr/>
          <p:nvPr/>
        </p:nvSpPr>
        <p:spPr>
          <a:xfrm>
            <a:off x="6856956" y="8661400"/>
            <a:ext cx="50419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pPr>
            <a:r>
              <a:rPr b="1"/>
              <a:t>Mutant CFTR protein</a:t>
            </a:r>
          </a:p>
          <a:p>
            <a:pPr algn="ctr">
              <a:lnSpc>
                <a:spcPts val="2100"/>
              </a:lnSpc>
              <a:tabLst>
                <a:tab pos="520700" algn="l"/>
              </a:tabLst>
            </a:pPr>
            <a:r>
              <a:rPr>
                <a:solidFill>
                  <a:srgbClr val="000000"/>
                </a:solidFill>
              </a:rPr>
              <a:t>cannot regulate chloride transport. Chloride ions remain in the cell and water enters the cell</a:t>
            </a:r>
          </a:p>
        </p:txBody>
      </p:sp>
      <p:sp>
        <p:nvSpPr>
          <p:cNvPr id="427" name="Shape 427"/>
          <p:cNvSpPr/>
          <p:nvPr/>
        </p:nvSpPr>
        <p:spPr>
          <a:xfrm>
            <a:off x="7254764" y="7683500"/>
            <a:ext cx="1156036"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pPr>
            <a:r>
              <a:rPr i="1"/>
              <a:t>Cell</a:t>
            </a:r>
            <a:br>
              <a:rPr i="1"/>
            </a:br>
            <a:r>
              <a:rPr i="1"/>
              <a:t>cytoplasm</a:t>
            </a:r>
          </a:p>
        </p:txBody>
      </p:sp>
      <p:sp>
        <p:nvSpPr>
          <p:cNvPr id="428" name="Shape 428"/>
          <p:cNvSpPr/>
          <p:nvPr/>
        </p:nvSpPr>
        <p:spPr>
          <a:xfrm>
            <a:off x="7146809" y="6223000"/>
            <a:ext cx="1067235"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pPr>
            <a:r>
              <a:rPr i="1"/>
              <a:t>Outside</a:t>
            </a:r>
            <a:br>
              <a:rPr i="1"/>
            </a:br>
            <a:r>
              <a:rPr i="1"/>
              <a:t>the cell</a:t>
            </a:r>
          </a:p>
        </p:txBody>
      </p:sp>
      <p:sp>
        <p:nvSpPr>
          <p:cNvPr id="429" name="Shape 429"/>
          <p:cNvSpPr/>
          <p:nvPr/>
        </p:nvSpPr>
        <p:spPr>
          <a:xfrm>
            <a:off x="9815678" y="5575300"/>
            <a:ext cx="753642"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Water</a:t>
            </a:r>
          </a:p>
        </p:txBody>
      </p:sp>
      <p:sp>
        <p:nvSpPr>
          <p:cNvPr id="430" name="Shape 430"/>
          <p:cNvSpPr/>
          <p:nvPr/>
        </p:nvSpPr>
        <p:spPr>
          <a:xfrm>
            <a:off x="11005018" y="3060700"/>
            <a:ext cx="157461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CFTR protein</a:t>
            </a:r>
          </a:p>
        </p:txBody>
      </p:sp>
      <p:sp>
        <p:nvSpPr>
          <p:cNvPr id="431" name="Shape 431"/>
          <p:cNvSpPr/>
          <p:nvPr/>
        </p:nvSpPr>
        <p:spPr>
          <a:xfrm>
            <a:off x="8760417" y="78867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2" name="Shape 432"/>
          <p:cNvSpPr/>
          <p:nvPr/>
        </p:nvSpPr>
        <p:spPr>
          <a:xfrm>
            <a:off x="9090617" y="80010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3" name="Shape 433"/>
          <p:cNvSpPr/>
          <p:nvPr/>
        </p:nvSpPr>
        <p:spPr>
          <a:xfrm>
            <a:off x="9484317" y="80010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4" name="Shape 434"/>
          <p:cNvSpPr/>
          <p:nvPr/>
        </p:nvSpPr>
        <p:spPr>
          <a:xfrm>
            <a:off x="9344617" y="76327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5" name="Shape 435"/>
          <p:cNvSpPr/>
          <p:nvPr/>
        </p:nvSpPr>
        <p:spPr>
          <a:xfrm>
            <a:off x="8976317" y="77089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6" name="Shape 436"/>
          <p:cNvSpPr/>
          <p:nvPr/>
        </p:nvSpPr>
        <p:spPr>
          <a:xfrm>
            <a:off x="8569917" y="76073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37" name="Shape 437"/>
          <p:cNvSpPr/>
          <p:nvPr/>
        </p:nvSpPr>
        <p:spPr>
          <a:xfrm flipV="1">
            <a:off x="2832100" y="3124200"/>
            <a:ext cx="0" cy="289388"/>
          </a:xfrm>
          <a:prstGeom prst="line">
            <a:avLst/>
          </a:prstGeom>
          <a:ln w="381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440" name="Group 440"/>
          <p:cNvGrpSpPr/>
          <p:nvPr/>
        </p:nvGrpSpPr>
        <p:grpSpPr>
          <a:xfrm>
            <a:off x="2667000" y="4089400"/>
            <a:ext cx="730151" cy="229778"/>
            <a:chOff x="0" y="0"/>
            <a:chExt cx="730150" cy="229777"/>
          </a:xfrm>
        </p:grpSpPr>
        <p:sp>
          <p:nvSpPr>
            <p:cNvPr id="438" name="Shape 438"/>
            <p:cNvSpPr/>
            <p:nvPr/>
          </p:nvSpPr>
          <p:spPr>
            <a:xfrm>
              <a:off x="0" y="0"/>
              <a:ext cx="730151" cy="127"/>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39" name="Shape 439"/>
            <p:cNvSpPr/>
            <p:nvPr/>
          </p:nvSpPr>
          <p:spPr>
            <a:xfrm flipH="1">
              <a:off x="380999" y="0"/>
              <a:ext cx="1" cy="229778"/>
            </a:xfrm>
            <a:prstGeom prst="line">
              <a:avLst/>
            </a:prstGeom>
            <a:noFill/>
            <a:ln w="381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441" name="Shape 441"/>
          <p:cNvSpPr/>
          <p:nvPr/>
        </p:nvSpPr>
        <p:spPr>
          <a:xfrm>
            <a:off x="8061917" y="5372100"/>
            <a:ext cx="43172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Cl-</a:t>
            </a:r>
          </a:p>
        </p:txBody>
      </p:sp>
      <p:sp>
        <p:nvSpPr>
          <p:cNvPr id="442" name="Shape 442"/>
          <p:cNvSpPr/>
          <p:nvPr/>
        </p:nvSpPr>
        <p:spPr>
          <a:xfrm>
            <a:off x="8778606" y="5555522"/>
            <a:ext cx="708295" cy="126437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493" y="699"/>
                </a:lnTo>
                <a:cubicBezTo>
                  <a:pt x="12563" y="3520"/>
                  <a:pt x="20567" y="5907"/>
                  <a:pt x="21600" y="21600"/>
                </a:cubicBezTo>
              </a:path>
            </a:pathLst>
          </a:custGeom>
          <a:ln w="25400">
            <a:solidFill>
              <a:srgbClr val="006994"/>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43" name="Shape 443"/>
          <p:cNvSpPr/>
          <p:nvPr/>
        </p:nvSpPr>
        <p:spPr>
          <a:xfrm>
            <a:off x="2587621" y="5904896"/>
            <a:ext cx="1374780" cy="1105505"/>
          </a:xfrm>
          <a:custGeom>
            <a:avLst/>
            <a:gdLst/>
            <a:ahLst/>
            <a:cxnLst>
              <a:cxn ang="0">
                <a:pos x="wd2" y="hd2"/>
              </a:cxn>
              <a:cxn ang="5400000">
                <a:pos x="wd2" y="hd2"/>
              </a:cxn>
              <a:cxn ang="10800000">
                <a:pos x="wd2" y="hd2"/>
              </a:cxn>
              <a:cxn ang="16200000">
                <a:pos x="wd2" y="hd2"/>
              </a:cxn>
            </a:cxnLst>
            <a:rect l="0" t="0" r="r" b="b"/>
            <a:pathLst>
              <a:path w="21600" h="19251" extrusionOk="0">
                <a:moveTo>
                  <a:pt x="0" y="2465"/>
                </a:moveTo>
                <a:lnTo>
                  <a:pt x="1181" y="1558"/>
                </a:lnTo>
                <a:cubicBezTo>
                  <a:pt x="5903" y="-2349"/>
                  <a:pt x="20336" y="231"/>
                  <a:pt x="21600" y="19251"/>
                </a:cubicBezTo>
              </a:path>
            </a:pathLst>
          </a:custGeom>
          <a:ln w="25400">
            <a:solidFill>
              <a:srgbClr val="006994"/>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44" name="Shape 444"/>
          <p:cNvSpPr/>
          <p:nvPr/>
        </p:nvSpPr>
        <p:spPr>
          <a:xfrm>
            <a:off x="3949699" y="5730136"/>
            <a:ext cx="380670" cy="128449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7535" y="956"/>
                </a:lnTo>
                <a:cubicBezTo>
                  <a:pt x="4324" y="4017"/>
                  <a:pt x="480" y="7078"/>
                  <a:pt x="0" y="21600"/>
                </a:cubicBezTo>
              </a:path>
            </a:pathLst>
          </a:custGeom>
          <a:ln w="25400">
            <a:solidFill>
              <a:srgbClr val="006994"/>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45" name="Shape 445"/>
          <p:cNvSpPr/>
          <p:nvPr/>
        </p:nvSpPr>
        <p:spPr>
          <a:xfrm>
            <a:off x="3949700" y="5700316"/>
            <a:ext cx="1462865" cy="1301618"/>
          </a:xfrm>
          <a:custGeom>
            <a:avLst/>
            <a:gdLst/>
            <a:ahLst/>
            <a:cxnLst>
              <a:cxn ang="0">
                <a:pos x="wd2" y="hd2"/>
              </a:cxn>
              <a:cxn ang="5400000">
                <a:pos x="wd2" y="hd2"/>
              </a:cxn>
              <a:cxn ang="10800000">
                <a:pos x="wd2" y="hd2"/>
              </a:cxn>
              <a:cxn ang="16200000">
                <a:pos x="wd2" y="hd2"/>
              </a:cxn>
            </a:cxnLst>
            <a:rect l="0" t="0" r="r" b="b"/>
            <a:pathLst>
              <a:path w="21600" h="21151" extrusionOk="0">
                <a:moveTo>
                  <a:pt x="21600" y="124"/>
                </a:moveTo>
                <a:lnTo>
                  <a:pt x="20252" y="33"/>
                </a:lnTo>
                <a:cubicBezTo>
                  <a:pt x="14939" y="-449"/>
                  <a:pt x="375" y="4366"/>
                  <a:pt x="0" y="21151"/>
                </a:cubicBezTo>
              </a:path>
            </a:pathLst>
          </a:custGeom>
          <a:ln w="25400">
            <a:solidFill>
              <a:srgbClr val="006994"/>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46" name="Cystic Fibrosis protein big.pdf"/>
          <p:cNvPicPr>
            <a:picLocks noChangeAspect="1"/>
          </p:cNvPicPr>
          <p:nvPr/>
        </p:nvPicPr>
        <p:blipFill>
          <a:blip r:embed="rId3">
            <a:extLst/>
          </a:blip>
          <a:stretch>
            <a:fillRect/>
          </a:stretch>
        </p:blipFill>
        <p:spPr>
          <a:xfrm>
            <a:off x="11137900" y="1371600"/>
            <a:ext cx="1295919" cy="1587500"/>
          </a:xfrm>
          <a:prstGeom prst="rect">
            <a:avLst/>
          </a:prstGeom>
          <a:ln w="12700">
            <a:miter lim="400000"/>
          </a:ln>
        </p:spPr>
      </p:pic>
      <p:pic>
        <p:nvPicPr>
          <p:cNvPr id="447" name="Cystic Fibrosis protein sma.pdf"/>
          <p:cNvPicPr>
            <a:picLocks noChangeAspect="1"/>
          </p:cNvPicPr>
          <p:nvPr/>
        </p:nvPicPr>
        <p:blipFill>
          <a:blip r:embed="rId4">
            <a:extLst/>
          </a:blip>
          <a:stretch>
            <a:fillRect/>
          </a:stretch>
        </p:blipFill>
        <p:spPr>
          <a:xfrm>
            <a:off x="8420100" y="6083300"/>
            <a:ext cx="524711" cy="635000"/>
          </a:xfrm>
          <a:prstGeom prst="rect">
            <a:avLst/>
          </a:prstGeom>
          <a:ln w="12700">
            <a:miter lim="400000"/>
          </a:ln>
        </p:spPr>
      </p:pic>
      <p:pic>
        <p:nvPicPr>
          <p:cNvPr id="448" name="Cystic Fibrosis protein sma.pdf"/>
          <p:cNvPicPr>
            <a:picLocks noChangeAspect="1"/>
          </p:cNvPicPr>
          <p:nvPr/>
        </p:nvPicPr>
        <p:blipFill>
          <a:blip r:embed="rId4">
            <a:extLst/>
          </a:blip>
          <a:stretch>
            <a:fillRect/>
          </a:stretch>
        </p:blipFill>
        <p:spPr>
          <a:xfrm>
            <a:off x="4508500" y="6159500"/>
            <a:ext cx="524711" cy="635000"/>
          </a:xfrm>
          <a:prstGeom prst="rect">
            <a:avLst/>
          </a:prstGeom>
          <a:ln w="12700">
            <a:miter lim="400000"/>
          </a:ln>
        </p:spPr>
      </p:pic>
      <p:pic>
        <p:nvPicPr>
          <p:cNvPr id="449" name="Cystic Fibrosis OHT-1.pdf"/>
          <p:cNvPicPr>
            <a:picLocks noChangeAspect="1"/>
          </p:cNvPicPr>
          <p:nvPr/>
        </p:nvPicPr>
        <p:blipFill>
          <a:blip r:embed="rId5">
            <a:extLst/>
          </a:blip>
          <a:stretch>
            <a:fillRect/>
          </a:stretch>
        </p:blipFill>
        <p:spPr>
          <a:xfrm>
            <a:off x="2587010" y="3421228"/>
            <a:ext cx="8496088" cy="609767"/>
          </a:xfrm>
          <a:prstGeom prst="rect">
            <a:avLst/>
          </a:prstGeom>
          <a:ln w="12700">
            <a:miter lim="400000"/>
          </a:ln>
        </p:spPr>
      </p:pic>
      <p:sp>
        <p:nvSpPr>
          <p:cNvPr id="450" name="Shape 450"/>
          <p:cNvSpPr/>
          <p:nvPr/>
        </p:nvSpPr>
        <p:spPr>
          <a:xfrm>
            <a:off x="8509000" y="3215481"/>
            <a:ext cx="754906" cy="863601"/>
          </a:xfrm>
          <a:prstGeom prst="rect">
            <a:avLst/>
          </a:prstGeom>
          <a:ln w="38100">
            <a:solidFill>
              <a:schemeClr val="accent5"/>
            </a:solidFill>
            <a:miter lim="400000"/>
          </a:ln>
        </p:spPr>
        <p:txBody>
          <a:bodyPr lIns="50800" tIns="50800" rIns="50800" bIns="508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51" name="Shape 451"/>
          <p:cNvSpPr/>
          <p:nvPr/>
        </p:nvSpPr>
        <p:spPr>
          <a:xfrm flipV="1">
            <a:off x="8902699" y="4089399"/>
            <a:ext cx="1" cy="310909"/>
          </a:xfrm>
          <a:prstGeom prst="line">
            <a:avLst/>
          </a:prstGeom>
          <a:ln w="38100">
            <a:solidFill>
              <a:schemeClr val="accent5"/>
            </a:solidFill>
            <a:miter lim="400000"/>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1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Shape 453"/>
          <p:cNvSpPr/>
          <p:nvPr/>
        </p:nvSpPr>
        <p:spPr>
          <a:xfrm>
            <a:off x="7518400" y="1562100"/>
            <a:ext cx="5549900" cy="60960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54" name="Shape 454"/>
          <p:cNvSpPr>
            <a:spLocks noGrp="1"/>
          </p:cNvSpPr>
          <p:nvPr>
            <p:ph type="title"/>
          </p:nvPr>
        </p:nvSpPr>
        <p:spPr>
          <a:prstGeom prst="rect">
            <a:avLst/>
          </a:prstGeom>
        </p:spPr>
        <p:txBody>
          <a:bodyPr/>
          <a:lstStyle>
            <a:lvl1pPr>
              <a:tabLst>
                <a:tab pos="952500" algn="l"/>
              </a:tabLst>
            </a:lvl1pPr>
          </a:lstStyle>
          <a:p>
            <a:r>
              <a:t>Cystic Fibrosis</a:t>
            </a:r>
          </a:p>
        </p:txBody>
      </p:sp>
      <p:sp>
        <p:nvSpPr>
          <p:cNvPr id="455" name="Shape 455"/>
          <p:cNvSpPr>
            <a:spLocks noGrp="1"/>
          </p:cNvSpPr>
          <p:nvPr>
            <p:ph type="body" sz="half" idx="1"/>
          </p:nvPr>
        </p:nvSpPr>
        <p:spPr>
          <a:xfrm>
            <a:off x="368300" y="1790700"/>
            <a:ext cx="6197402" cy="7265740"/>
          </a:xfrm>
          <a:prstGeom prst="rect">
            <a:avLst/>
          </a:prstGeom>
        </p:spPr>
        <p:txBody>
          <a:bodyPr/>
          <a:lstStyle/>
          <a:p>
            <a:pPr>
              <a:tabLst>
                <a:tab pos="1016000" algn="l"/>
              </a:tabLst>
            </a:pPr>
            <a:r>
              <a:rPr b="1" dirty="0">
                <a:solidFill>
                  <a:srgbClr val="006994"/>
                </a:solidFill>
              </a:rPr>
              <a:t>Symptoms</a:t>
            </a:r>
            <a:r>
              <a:rPr dirty="0"/>
              <a:t>:</a:t>
            </a:r>
          </a:p>
          <a:p>
            <a:pPr marL="720000" lvl="1" indent="-360000">
              <a:tabLst>
                <a:tab pos="1384300" algn="l"/>
              </a:tabLst>
            </a:pPr>
            <a:r>
              <a:rPr dirty="0"/>
              <a:t>Infertility occurs in males and females.  </a:t>
            </a:r>
          </a:p>
          <a:p>
            <a:pPr marL="720000" lvl="1" indent="-360000">
              <a:tabLst>
                <a:tab pos="1384300" algn="l"/>
              </a:tabLst>
            </a:pPr>
            <a:r>
              <a:rPr dirty="0"/>
              <a:t>Disruption of the following glands:</a:t>
            </a:r>
          </a:p>
          <a:p>
            <a:pPr lvl="2">
              <a:buSzPct val="125000"/>
              <a:tabLst>
                <a:tab pos="1638300" algn="l"/>
              </a:tabLst>
            </a:pPr>
            <a:r>
              <a:rPr dirty="0"/>
              <a:t>the pancreas</a:t>
            </a:r>
          </a:p>
          <a:p>
            <a:pPr lvl="2">
              <a:buSzPct val="125000"/>
              <a:tabLst>
                <a:tab pos="1638300" algn="l"/>
              </a:tabLst>
            </a:pPr>
            <a:r>
              <a:rPr dirty="0"/>
              <a:t>intestinal glands</a:t>
            </a:r>
          </a:p>
          <a:p>
            <a:pPr lvl="2">
              <a:buSzPct val="125000"/>
              <a:tabLst>
                <a:tab pos="1638300" algn="l"/>
              </a:tabLst>
            </a:pPr>
            <a:r>
              <a:rPr dirty="0"/>
              <a:t>biliary tree (biliary cirrhosis)</a:t>
            </a:r>
          </a:p>
          <a:p>
            <a:pPr lvl="2">
              <a:buSzPct val="125000"/>
              <a:tabLst>
                <a:tab pos="1638300" algn="l"/>
              </a:tabLst>
            </a:pPr>
            <a:r>
              <a:rPr dirty="0"/>
              <a:t>bronchial glands (chronic lung infections)</a:t>
            </a:r>
          </a:p>
          <a:p>
            <a:pPr lvl="2">
              <a:buSzPct val="125000"/>
              <a:tabLst>
                <a:tab pos="1638300" algn="l"/>
              </a:tabLst>
            </a:pPr>
            <a:r>
              <a:rPr dirty="0"/>
              <a:t>sweat glands (high salt content of which becomes depleted in hot environments)</a:t>
            </a:r>
          </a:p>
          <a:p>
            <a:pPr marL="345600" indent="-345600">
              <a:tabLst>
                <a:tab pos="1016000" algn="l"/>
              </a:tabLst>
              <a:defRPr>
                <a:solidFill>
                  <a:srgbClr val="006994"/>
                </a:solidFill>
              </a:defRPr>
            </a:pPr>
            <a:r>
              <a:rPr b="1" dirty="0"/>
              <a:t>Conventional treatment</a:t>
            </a:r>
          </a:p>
          <a:p>
            <a:pPr marL="720000" lvl="1" indent="-360000">
              <a:tabLst>
                <a:tab pos="1384300" algn="l"/>
              </a:tabLst>
            </a:pPr>
            <a:r>
              <a:rPr dirty="0"/>
              <a:t>Chest physiotherapy.</a:t>
            </a:r>
          </a:p>
          <a:p>
            <a:pPr marL="720000" lvl="1" indent="-360000">
              <a:tabLst>
                <a:tab pos="1384300" algn="l"/>
              </a:tabLst>
            </a:pPr>
            <a:r>
              <a:rPr dirty="0"/>
              <a:t>A modified diet.</a:t>
            </a:r>
          </a:p>
          <a:p>
            <a:pPr marL="720000" lvl="1" indent="-360000">
              <a:tabLst>
                <a:tab pos="1384300" algn="l"/>
              </a:tabLst>
            </a:pPr>
            <a:r>
              <a:rPr dirty="0"/>
              <a:t>Supplementary pancreatic enzymes.</a:t>
            </a:r>
          </a:p>
          <a:p>
            <a:pPr marL="720000" lvl="1" indent="-360000">
              <a:tabLst>
                <a:tab pos="1384300" algn="l"/>
              </a:tabLst>
            </a:pPr>
            <a:r>
              <a:rPr dirty="0"/>
              <a:t>The use of antibiotics to control lung infections.</a:t>
            </a:r>
          </a:p>
          <a:p>
            <a:pPr marL="345600" indent="-345600">
              <a:tabLst>
                <a:tab pos="1016000" algn="l"/>
              </a:tabLst>
            </a:pPr>
            <a:r>
              <a:rPr b="1" dirty="0">
                <a:solidFill>
                  <a:srgbClr val="006994"/>
                </a:solidFill>
              </a:rPr>
              <a:t>Future treatments?</a:t>
            </a:r>
          </a:p>
          <a:p>
            <a:pPr marL="720000" lvl="1" indent="-360000">
              <a:buClr>
                <a:schemeClr val="tx2">
                  <a:lumMod val="10000"/>
                </a:schemeClr>
              </a:buClr>
              <a:tabLst>
                <a:tab pos="1384300" algn="l"/>
              </a:tabLst>
            </a:pPr>
            <a:r>
              <a:rPr b="1" dirty="0">
                <a:solidFill>
                  <a:srgbClr val="006994"/>
                </a:solidFill>
              </a:rPr>
              <a:t>Gene therapy</a:t>
            </a:r>
            <a:r>
              <a:rPr dirty="0"/>
              <a:t> inserting normal CFTR gene using adenoviral vectors and liposomes. </a:t>
            </a:r>
          </a:p>
        </p:txBody>
      </p:sp>
      <p:sp>
        <p:nvSpPr>
          <p:cNvPr id="456" name="Shape 456"/>
          <p:cNvSpPr/>
          <p:nvPr/>
        </p:nvSpPr>
        <p:spPr>
          <a:xfrm>
            <a:off x="7590378" y="7010400"/>
            <a:ext cx="4800601"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lvl1pPr>
          </a:lstStyle>
          <a:p>
            <a:r>
              <a:t>A child with cystic fibrosis undergoing chest massage in order to expel mucus </a:t>
            </a:r>
          </a:p>
        </p:txBody>
      </p:sp>
      <p:grpSp>
        <p:nvGrpSpPr>
          <p:cNvPr id="459" name="Group 459"/>
          <p:cNvGrpSpPr/>
          <p:nvPr/>
        </p:nvGrpSpPr>
        <p:grpSpPr>
          <a:xfrm>
            <a:off x="7581900" y="1612900"/>
            <a:ext cx="5422900" cy="5321300"/>
            <a:chOff x="0" y="0"/>
            <a:chExt cx="5422900" cy="5321300"/>
          </a:xfrm>
        </p:grpSpPr>
        <p:pic>
          <p:nvPicPr>
            <p:cNvPr id="457" name="CF phyisio web small.jpg"/>
            <p:cNvPicPr>
              <a:picLocks noChangeAspect="1"/>
            </p:cNvPicPr>
            <p:nvPr/>
          </p:nvPicPr>
          <p:blipFill>
            <a:blip r:embed="rId2">
              <a:extLst/>
            </a:blip>
            <a:stretch>
              <a:fillRect/>
            </a:stretch>
          </p:blipFill>
          <p:spPr>
            <a:xfrm>
              <a:off x="0" y="0"/>
              <a:ext cx="5422900" cy="5321300"/>
            </a:xfrm>
            <a:prstGeom prst="rect">
              <a:avLst/>
            </a:prstGeom>
            <a:ln w="25400" cap="flat">
              <a:solidFill>
                <a:srgbClr val="FFFFFF"/>
              </a:solidFill>
              <a:prstDash val="solid"/>
              <a:miter lim="400000"/>
            </a:ln>
            <a:effectLst/>
          </p:spPr>
        </p:pic>
        <p:sp>
          <p:nvSpPr>
            <p:cNvPr id="458" name="Shape 458"/>
            <p:cNvSpPr/>
            <p:nvPr/>
          </p:nvSpPr>
          <p:spPr>
            <a:xfrm rot="16200000">
              <a:off x="4516291" y="4363891"/>
              <a:ext cx="1653885"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pPr>
                <a:defRPr>
                  <a:solidFill>
                    <a:srgbClr val="006994"/>
                  </a:solidFill>
                </a:defRPr>
              </a:pPr>
              <a:r>
                <a:rPr>
                  <a:solidFill>
                    <a:srgbClr val="000000"/>
                  </a:solidFill>
                </a:rPr>
                <a:t>(Photo: UK Cystic Fibrosis Gene Therapy Consortium)</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5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5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5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5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5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45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45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45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iterate>
                                    <p:tmAbs val="0"/>
                                  </p:iterate>
                                  <p:childTnLst>
                                    <p:set>
                                      <p:cBhvr>
                                        <p:cTn id="36" fill="hold"/>
                                        <p:tgtEl>
                                          <p:spTgt spid="45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iterate>
                                    <p:tmAbs val="0"/>
                                  </p:iterate>
                                  <p:childTnLst>
                                    <p:set>
                                      <p:cBhvr>
                                        <p:cTn id="40" fill="hold"/>
                                        <p:tgtEl>
                                          <p:spTgt spid="45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1" nodeType="clickEffect">
                                  <p:stCondLst>
                                    <p:cond delay="0"/>
                                  </p:stCondLst>
                                  <p:iterate>
                                    <p:tmAbs val="0"/>
                                  </p:iterate>
                                  <p:childTnLst>
                                    <p:set>
                                      <p:cBhvr>
                                        <p:cTn id="44" fill="hold"/>
                                        <p:tgtEl>
                                          <p:spTgt spid="455">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iterate>
                                    <p:tmAbs val="0"/>
                                  </p:iterate>
                                  <p:childTnLst>
                                    <p:set>
                                      <p:cBhvr>
                                        <p:cTn id="48" fill="hold"/>
                                        <p:tgtEl>
                                          <p:spTgt spid="455">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iterate>
                                    <p:tmAbs val="0"/>
                                  </p:iterate>
                                  <p:childTnLst>
                                    <p:set>
                                      <p:cBhvr>
                                        <p:cTn id="52" fill="hold"/>
                                        <p:tgtEl>
                                          <p:spTgt spid="455">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iterate>
                                    <p:tmAbs val="0"/>
                                  </p:iterate>
                                  <p:childTnLst>
                                    <p:set>
                                      <p:cBhvr>
                                        <p:cTn id="56" fill="hold"/>
                                        <p:tgtEl>
                                          <p:spTgt spid="455">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1" nodeType="clickEffect">
                                  <p:stCondLst>
                                    <p:cond delay="0"/>
                                  </p:stCondLst>
                                  <p:iterate>
                                    <p:tmAbs val="0"/>
                                  </p:iterate>
                                  <p:childTnLst>
                                    <p:set>
                                      <p:cBhvr>
                                        <p:cTn id="60" fill="hold"/>
                                        <p:tgtEl>
                                          <p:spTgt spid="455">
                                            <p:txEl>
                                              <p:pRg st="13" end="1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1" nodeType="clickEffect">
                                  <p:stCondLst>
                                    <p:cond delay="0"/>
                                  </p:stCondLst>
                                  <p:iterate>
                                    <p:tmAbs val="0"/>
                                  </p:iterate>
                                  <p:childTnLst>
                                    <p:set>
                                      <p:cBhvr>
                                        <p:cTn id="64" fill="hold"/>
                                        <p:tgtEl>
                                          <p:spTgt spid="45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 grpId="1" build="p" bldLvl="5"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Shape 461"/>
          <p:cNvSpPr>
            <a:spLocks noGrp="1"/>
          </p:cNvSpPr>
          <p:nvPr>
            <p:ph type="title"/>
          </p:nvPr>
        </p:nvSpPr>
        <p:spPr>
          <a:prstGeom prst="rect">
            <a:avLst/>
          </a:prstGeom>
        </p:spPr>
        <p:txBody>
          <a:bodyPr/>
          <a:lstStyle>
            <a:lvl1pPr>
              <a:tabLst>
                <a:tab pos="952500" algn="l"/>
              </a:tabLst>
            </a:lvl1pPr>
          </a:lstStyle>
          <a:p>
            <a:r>
              <a:t>Causes of Block Mutations</a:t>
            </a:r>
          </a:p>
        </p:txBody>
      </p:sp>
      <p:sp>
        <p:nvSpPr>
          <p:cNvPr id="462" name="Shape 462"/>
          <p:cNvSpPr>
            <a:spLocks noGrp="1"/>
          </p:cNvSpPr>
          <p:nvPr>
            <p:ph type="body" sz="half" idx="1"/>
          </p:nvPr>
        </p:nvSpPr>
        <p:spPr>
          <a:prstGeom prst="rect">
            <a:avLst/>
          </a:prstGeom>
        </p:spPr>
        <p:txBody>
          <a:bodyPr/>
          <a:lstStyle/>
          <a:p>
            <a:pPr>
              <a:tabLst>
                <a:tab pos="1016000" algn="l"/>
              </a:tabLst>
            </a:pPr>
            <a:r>
              <a:rPr dirty="0"/>
              <a:t>Some block (chromosome) mutations occur as a result of errors in crossing over during meiosis.</a:t>
            </a:r>
          </a:p>
          <a:p>
            <a:pPr>
              <a:tabLst>
                <a:tab pos="1016000" algn="l"/>
              </a:tabLst>
            </a:pPr>
            <a:r>
              <a:rPr dirty="0"/>
              <a:t>Mutagens also cause block mutations.</a:t>
            </a:r>
          </a:p>
          <a:p>
            <a:pPr>
              <a:tabLst>
                <a:tab pos="1016000" algn="l"/>
              </a:tabLst>
            </a:pPr>
            <a:r>
              <a:rPr dirty="0"/>
              <a:t>Block mutations cause genetic imbalances which usually disrupt development. They can be described as:</a:t>
            </a:r>
          </a:p>
          <a:p>
            <a:pPr lvl="1">
              <a:buClr>
                <a:schemeClr val="tx2">
                  <a:lumMod val="10000"/>
                </a:schemeClr>
              </a:buClr>
              <a:tabLst>
                <a:tab pos="1485900" algn="l"/>
              </a:tabLst>
            </a:pPr>
            <a:r>
              <a:rPr b="1" dirty="0">
                <a:solidFill>
                  <a:srgbClr val="006994"/>
                </a:solidFill>
              </a:rPr>
              <a:t>Inversion</a:t>
            </a:r>
            <a:r>
              <a:rPr dirty="0"/>
              <a:t>: Pieces of chromosome are flipped so the genes appear in reverse order.</a:t>
            </a:r>
          </a:p>
          <a:p>
            <a:pPr lvl="1">
              <a:buClr>
                <a:schemeClr val="tx2">
                  <a:lumMod val="10000"/>
                </a:schemeClr>
              </a:buClr>
              <a:tabLst>
                <a:tab pos="1485900" algn="l"/>
              </a:tabLst>
            </a:pPr>
            <a:r>
              <a:rPr b="1" dirty="0">
                <a:solidFill>
                  <a:srgbClr val="006994"/>
                </a:solidFill>
              </a:rPr>
              <a:t>Translocation</a:t>
            </a:r>
            <a:r>
              <a:rPr dirty="0"/>
              <a:t>: Pieces of chromosome are moved from one chromosome into another.</a:t>
            </a:r>
          </a:p>
          <a:p>
            <a:pPr lvl="1">
              <a:buClr>
                <a:schemeClr val="tx2">
                  <a:lumMod val="10000"/>
                </a:schemeClr>
              </a:buClr>
              <a:tabLst>
                <a:tab pos="1485900" algn="l"/>
              </a:tabLst>
            </a:pPr>
            <a:r>
              <a:rPr b="1" dirty="0">
                <a:solidFill>
                  <a:srgbClr val="006994"/>
                </a:solidFill>
              </a:rPr>
              <a:t>Duplication</a:t>
            </a:r>
            <a:r>
              <a:rPr dirty="0"/>
              <a:t>: Pieces of chromosome are repeated so there are duplicate segments.</a:t>
            </a:r>
          </a:p>
          <a:p>
            <a:pPr lvl="1">
              <a:buClr>
                <a:schemeClr val="tx2">
                  <a:lumMod val="10000"/>
                </a:schemeClr>
              </a:buClr>
              <a:tabLst>
                <a:tab pos="1485900" algn="l"/>
              </a:tabLst>
            </a:pPr>
            <a:r>
              <a:rPr b="1" dirty="0">
                <a:solidFill>
                  <a:srgbClr val="006994"/>
                </a:solidFill>
              </a:rPr>
              <a:t>Deletion</a:t>
            </a:r>
            <a:r>
              <a:rPr dirty="0"/>
              <a:t>: Pieces of chromosome are lost.</a:t>
            </a:r>
          </a:p>
        </p:txBody>
      </p:sp>
      <p:pic>
        <p:nvPicPr>
          <p:cNvPr id="463" name="Translocation mutation.png"/>
          <p:cNvPicPr>
            <a:picLocks noChangeAspect="1"/>
          </p:cNvPicPr>
          <p:nvPr/>
        </p:nvPicPr>
        <p:blipFill>
          <a:blip r:embed="rId2">
            <a:extLst/>
          </a:blip>
          <a:stretch>
            <a:fillRect/>
          </a:stretch>
        </p:blipFill>
        <p:spPr>
          <a:xfrm>
            <a:off x="9331959" y="1917700"/>
            <a:ext cx="3681713" cy="6121400"/>
          </a:xfrm>
          <a:prstGeom prst="rect">
            <a:avLst/>
          </a:prstGeom>
          <a:ln w="25400">
            <a:solidFill>
              <a:srgbClr val="FFFFFF"/>
            </a:solidFill>
            <a:miter lim="400000"/>
          </a:ln>
        </p:spPr>
      </p:pic>
      <p:sp>
        <p:nvSpPr>
          <p:cNvPr id="464" name="Shape 464"/>
          <p:cNvSpPr/>
          <p:nvPr/>
        </p:nvSpPr>
        <p:spPr>
          <a:xfrm>
            <a:off x="9331959" y="8166100"/>
            <a:ext cx="2550605" cy="139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a:solidFill>
                  <a:srgbClr val="483F36"/>
                </a:solidFill>
              </a:defRPr>
            </a:lvl1pPr>
          </a:lstStyle>
          <a:p>
            <a:pPr>
              <a:defRPr sz="2000"/>
            </a:pPr>
            <a:r>
              <a:rPr sz="1000"/>
              <a:t>Photo Cytogenetics Dept. Waikato Hospital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6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6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6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6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6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46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46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4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6" name="Deletion OHT 4.png"/>
          <p:cNvPicPr>
            <a:picLocks noChangeAspect="1"/>
          </p:cNvPicPr>
          <p:nvPr/>
        </p:nvPicPr>
        <p:blipFill>
          <a:blip r:embed="rId2">
            <a:extLst/>
          </a:blip>
          <a:stretch>
            <a:fillRect/>
          </a:stretch>
        </p:blipFill>
        <p:spPr>
          <a:xfrm>
            <a:off x="11344758" y="3136091"/>
            <a:ext cx="616003" cy="5525212"/>
          </a:xfrm>
          <a:prstGeom prst="rect">
            <a:avLst/>
          </a:prstGeom>
          <a:ln w="12700">
            <a:miter lim="400000"/>
          </a:ln>
        </p:spPr>
      </p:pic>
      <p:pic>
        <p:nvPicPr>
          <p:cNvPr id="467" name="Deletion OHT 3.png"/>
          <p:cNvPicPr>
            <a:picLocks noChangeAspect="1"/>
          </p:cNvPicPr>
          <p:nvPr/>
        </p:nvPicPr>
        <p:blipFill>
          <a:blip r:embed="rId3">
            <a:extLst/>
          </a:blip>
          <a:stretch>
            <a:fillRect/>
          </a:stretch>
        </p:blipFill>
        <p:spPr>
          <a:xfrm>
            <a:off x="9838967" y="5103039"/>
            <a:ext cx="623924" cy="1638393"/>
          </a:xfrm>
          <a:prstGeom prst="rect">
            <a:avLst/>
          </a:prstGeom>
          <a:ln w="12700">
            <a:miter lim="400000"/>
          </a:ln>
        </p:spPr>
      </p:pic>
      <p:pic>
        <p:nvPicPr>
          <p:cNvPr id="468" name="Deletion OHT 2.png"/>
          <p:cNvPicPr>
            <a:picLocks noChangeAspect="1"/>
          </p:cNvPicPr>
          <p:nvPr/>
        </p:nvPicPr>
        <p:blipFill>
          <a:blip r:embed="rId4">
            <a:extLst/>
          </a:blip>
          <a:stretch>
            <a:fillRect/>
          </a:stretch>
        </p:blipFill>
        <p:spPr>
          <a:xfrm>
            <a:off x="8569849" y="1681533"/>
            <a:ext cx="614309" cy="7019992"/>
          </a:xfrm>
          <a:prstGeom prst="rect">
            <a:avLst/>
          </a:prstGeom>
          <a:ln w="12700">
            <a:miter lim="400000"/>
          </a:ln>
        </p:spPr>
      </p:pic>
      <p:pic>
        <p:nvPicPr>
          <p:cNvPr id="469" name="Deletion OHT 1.png"/>
          <p:cNvPicPr>
            <a:picLocks noChangeAspect="1"/>
          </p:cNvPicPr>
          <p:nvPr/>
        </p:nvPicPr>
        <p:blipFill>
          <a:blip r:embed="rId5">
            <a:extLst/>
          </a:blip>
          <a:stretch>
            <a:fillRect/>
          </a:stretch>
        </p:blipFill>
        <p:spPr>
          <a:xfrm>
            <a:off x="6802093" y="1686450"/>
            <a:ext cx="613059" cy="7015075"/>
          </a:xfrm>
          <a:prstGeom prst="rect">
            <a:avLst/>
          </a:prstGeom>
          <a:ln w="12700">
            <a:miter lim="400000"/>
          </a:ln>
        </p:spPr>
      </p:pic>
      <p:sp>
        <p:nvSpPr>
          <p:cNvPr id="470" name="Shape 470"/>
          <p:cNvSpPr>
            <a:spLocks noGrp="1"/>
          </p:cNvSpPr>
          <p:nvPr>
            <p:ph type="title"/>
          </p:nvPr>
        </p:nvSpPr>
        <p:spPr>
          <a:prstGeom prst="rect">
            <a:avLst/>
          </a:prstGeom>
        </p:spPr>
        <p:txBody>
          <a:bodyPr/>
          <a:lstStyle>
            <a:lvl1pPr>
              <a:tabLst>
                <a:tab pos="952500" algn="l"/>
              </a:tabLst>
            </a:lvl1pPr>
          </a:lstStyle>
          <a:p>
            <a:r>
              <a:t>Block Mutations: Deletion</a:t>
            </a:r>
          </a:p>
        </p:txBody>
      </p:sp>
      <p:sp>
        <p:nvSpPr>
          <p:cNvPr id="471" name="Shape 471"/>
          <p:cNvSpPr>
            <a:spLocks noGrp="1"/>
          </p:cNvSpPr>
          <p:nvPr>
            <p:ph type="body" sz="quarter" idx="1"/>
          </p:nvPr>
        </p:nvSpPr>
        <p:spPr>
          <a:xfrm>
            <a:off x="368300" y="1790700"/>
            <a:ext cx="4468763" cy="3858518"/>
          </a:xfrm>
          <a:prstGeom prst="rect">
            <a:avLst/>
          </a:prstGeom>
        </p:spPr>
        <p:txBody>
          <a:bodyPr/>
          <a:lstStyle/>
          <a:p>
            <a:pPr>
              <a:tabLst>
                <a:tab pos="1016000" algn="l"/>
              </a:tabLst>
            </a:pPr>
            <a:r>
              <a:t>Break occurs at two points on the chromosome and the middle piece falls out.</a:t>
            </a:r>
          </a:p>
          <a:p>
            <a:pPr>
              <a:tabLst>
                <a:tab pos="1016000" algn="l"/>
              </a:tabLst>
            </a:pPr>
            <a:r>
              <a:t>The two ends rejoin to form a chromosome deficient in some genes.</a:t>
            </a:r>
          </a:p>
          <a:p>
            <a:pPr>
              <a:tabLst>
                <a:tab pos="1016000" algn="l"/>
              </a:tabLst>
            </a:pPr>
            <a:r>
              <a:t>Alternatively, the end of a chromosome may break off and be lost.</a:t>
            </a:r>
          </a:p>
        </p:txBody>
      </p:sp>
      <p:sp>
        <p:nvSpPr>
          <p:cNvPr id="472" name="Shape 472"/>
          <p:cNvSpPr/>
          <p:nvPr/>
        </p:nvSpPr>
        <p:spPr>
          <a:xfrm>
            <a:off x="10769462" y="1866900"/>
            <a:ext cx="1752601" cy="635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Chromosome</a:t>
            </a:r>
          </a:p>
          <a:p>
            <a:pPr algn="ctr">
              <a:lnSpc>
                <a:spcPts val="27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rejoins</a:t>
            </a:r>
          </a:p>
        </p:txBody>
      </p:sp>
      <p:sp>
        <p:nvSpPr>
          <p:cNvPr id="473" name="Shape 473"/>
          <p:cNvSpPr/>
          <p:nvPr/>
        </p:nvSpPr>
        <p:spPr>
          <a:xfrm>
            <a:off x="5349262" y="24511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474" name="Shape 474"/>
          <p:cNvSpPr/>
          <p:nvPr/>
        </p:nvSpPr>
        <p:spPr>
          <a:xfrm>
            <a:off x="5349262" y="39243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475" name="Shape 475"/>
          <p:cNvSpPr/>
          <p:nvPr/>
        </p:nvSpPr>
        <p:spPr>
          <a:xfrm>
            <a:off x="5346058" y="7556500"/>
            <a:ext cx="912776"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Genes</a:t>
            </a:r>
          </a:p>
        </p:txBody>
      </p:sp>
      <p:sp>
        <p:nvSpPr>
          <p:cNvPr id="476" name="Shape 476"/>
          <p:cNvSpPr/>
          <p:nvPr/>
        </p:nvSpPr>
        <p:spPr>
          <a:xfrm>
            <a:off x="6562652" y="89789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1</a:t>
            </a:r>
          </a:p>
        </p:txBody>
      </p:sp>
      <p:sp>
        <p:nvSpPr>
          <p:cNvPr id="477" name="Shape 477"/>
          <p:cNvSpPr/>
          <p:nvPr/>
        </p:nvSpPr>
        <p:spPr>
          <a:xfrm>
            <a:off x="8454952" y="89789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2</a:t>
            </a:r>
          </a:p>
        </p:txBody>
      </p:sp>
      <p:sp>
        <p:nvSpPr>
          <p:cNvPr id="478" name="Shape 478"/>
          <p:cNvSpPr/>
          <p:nvPr/>
        </p:nvSpPr>
        <p:spPr>
          <a:xfrm>
            <a:off x="11147352" y="89789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3</a:t>
            </a:r>
          </a:p>
        </p:txBody>
      </p:sp>
      <p:sp>
        <p:nvSpPr>
          <p:cNvPr id="479" name="Shape 479"/>
          <p:cNvSpPr/>
          <p:nvPr/>
        </p:nvSpPr>
        <p:spPr>
          <a:xfrm>
            <a:off x="9523317" y="6946900"/>
            <a:ext cx="1257301" cy="635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6795"/>
                </a:solidFill>
              </a:defRPr>
            </a:pPr>
            <a:r>
              <a:t>Segment</a:t>
            </a:r>
            <a:br/>
            <a:r>
              <a:t>is lost</a:t>
            </a:r>
          </a:p>
        </p:txBody>
      </p:sp>
      <p:sp>
        <p:nvSpPr>
          <p:cNvPr id="480" name="Shape 480"/>
          <p:cNvSpPr/>
          <p:nvPr/>
        </p:nvSpPr>
        <p:spPr>
          <a:xfrm flipH="1" flipV="1">
            <a:off x="6265333" y="2607733"/>
            <a:ext cx="524934" cy="128"/>
          </a:xfrm>
          <a:prstGeom prst="line">
            <a:avLst/>
          </a:prstGeom>
          <a:ln w="508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1" name="Shape 481"/>
          <p:cNvSpPr/>
          <p:nvPr/>
        </p:nvSpPr>
        <p:spPr>
          <a:xfrm flipH="1" flipV="1">
            <a:off x="6265333" y="4042833"/>
            <a:ext cx="524934" cy="128"/>
          </a:xfrm>
          <a:prstGeom prst="line">
            <a:avLst/>
          </a:prstGeom>
          <a:ln w="508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2" name="Shape 482"/>
          <p:cNvSpPr/>
          <p:nvPr/>
        </p:nvSpPr>
        <p:spPr>
          <a:xfrm flipH="1">
            <a:off x="6383866" y="7133166"/>
            <a:ext cx="558801" cy="6096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3" name="Shape 483"/>
          <p:cNvSpPr/>
          <p:nvPr/>
        </p:nvSpPr>
        <p:spPr>
          <a:xfrm flipH="1">
            <a:off x="6417733" y="7522633"/>
            <a:ext cx="541867" cy="2032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4" name="Shape 484"/>
          <p:cNvSpPr/>
          <p:nvPr/>
        </p:nvSpPr>
        <p:spPr>
          <a:xfrm flipH="1" flipV="1">
            <a:off x="6400800" y="7742766"/>
            <a:ext cx="558800" cy="1354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5" name="Shape 485"/>
          <p:cNvSpPr/>
          <p:nvPr/>
        </p:nvSpPr>
        <p:spPr>
          <a:xfrm flipH="1" flipV="1">
            <a:off x="6383866" y="7725833"/>
            <a:ext cx="558801" cy="5588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86" name="Shape 486"/>
          <p:cNvSpPr/>
          <p:nvPr/>
        </p:nvSpPr>
        <p:spPr>
          <a:xfrm>
            <a:off x="9122833" y="3280832"/>
            <a:ext cx="1053707" cy="1755590"/>
          </a:xfrm>
          <a:custGeom>
            <a:avLst/>
            <a:gdLst/>
            <a:ahLst/>
            <a:cxnLst>
              <a:cxn ang="0">
                <a:pos x="wd2" y="hd2"/>
              </a:cxn>
              <a:cxn ang="5400000">
                <a:pos x="wd2" y="hd2"/>
              </a:cxn>
              <a:cxn ang="10800000">
                <a:pos x="wd2" y="hd2"/>
              </a:cxn>
              <a:cxn ang="16200000">
                <a:pos x="wd2" y="hd2"/>
              </a:cxn>
            </a:cxnLst>
            <a:rect l="0" t="0" r="r" b="b"/>
            <a:pathLst>
              <a:path w="19409" h="20280" extrusionOk="0">
                <a:moveTo>
                  <a:pt x="18897" y="20280"/>
                </a:moveTo>
                <a:lnTo>
                  <a:pt x="19105" y="18436"/>
                </a:lnTo>
                <a:cubicBezTo>
                  <a:pt x="21600" y="-1320"/>
                  <a:pt x="8188" y="636"/>
                  <a:pt x="0" y="0"/>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87" name="Shape 487"/>
          <p:cNvSpPr/>
          <p:nvPr/>
        </p:nvSpPr>
        <p:spPr>
          <a:xfrm rot="3975031">
            <a:off x="11472764" y="2581757"/>
            <a:ext cx="1498110" cy="1189941"/>
          </a:xfrm>
          <a:custGeom>
            <a:avLst/>
            <a:gdLst/>
            <a:ahLst/>
            <a:cxnLst>
              <a:cxn ang="0">
                <a:pos x="wd2" y="hd2"/>
              </a:cxn>
              <a:cxn ang="5400000">
                <a:pos x="wd2" y="hd2"/>
              </a:cxn>
              <a:cxn ang="10800000">
                <a:pos x="wd2" y="hd2"/>
              </a:cxn>
              <a:cxn ang="16200000">
                <a:pos x="wd2" y="hd2"/>
              </a:cxn>
            </a:cxnLst>
            <a:rect l="0" t="0" r="r" b="b"/>
            <a:pathLst>
              <a:path w="19103" h="17049" extrusionOk="0">
                <a:moveTo>
                  <a:pt x="18510" y="17049"/>
                </a:moveTo>
                <a:lnTo>
                  <a:pt x="18799" y="14779"/>
                </a:lnTo>
                <a:cubicBezTo>
                  <a:pt x="21600" y="-4551"/>
                  <a:pt x="4231" y="645"/>
                  <a:pt x="0" y="608"/>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7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7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 grpId="1"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p:nvPr/>
        </p:nvSpPr>
        <p:spPr>
          <a:xfrm rot="3975031">
            <a:off x="7377475" y="6956319"/>
            <a:ext cx="1166184" cy="813784"/>
          </a:xfrm>
          <a:custGeom>
            <a:avLst/>
            <a:gdLst/>
            <a:ahLst/>
            <a:cxnLst>
              <a:cxn ang="0">
                <a:pos x="wd2" y="hd2"/>
              </a:cxn>
              <a:cxn ang="5400000">
                <a:pos x="wd2" y="hd2"/>
              </a:cxn>
              <a:cxn ang="10800000">
                <a:pos x="wd2" y="hd2"/>
              </a:cxn>
              <a:cxn ang="16200000">
                <a:pos x="wd2" y="hd2"/>
              </a:cxn>
            </a:cxnLst>
            <a:rect l="0" t="0" r="r" b="b"/>
            <a:pathLst>
              <a:path w="21600" h="18114" extrusionOk="0">
                <a:moveTo>
                  <a:pt x="21600" y="2589"/>
                </a:moveTo>
                <a:lnTo>
                  <a:pt x="18864" y="1220"/>
                </a:lnTo>
                <a:cubicBezTo>
                  <a:pt x="9964" y="-3486"/>
                  <a:pt x="4389" y="6126"/>
                  <a:pt x="0" y="18114"/>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90" name="Shape 490"/>
          <p:cNvSpPr/>
          <p:nvPr/>
        </p:nvSpPr>
        <p:spPr>
          <a:xfrm rot="3975031">
            <a:off x="9816235" y="7033564"/>
            <a:ext cx="1351537" cy="408267"/>
          </a:xfrm>
          <a:custGeom>
            <a:avLst/>
            <a:gdLst/>
            <a:ahLst/>
            <a:cxnLst>
              <a:cxn ang="0">
                <a:pos x="wd2" y="hd2"/>
              </a:cxn>
              <a:cxn ang="5400000">
                <a:pos x="wd2" y="hd2"/>
              </a:cxn>
              <a:cxn ang="10800000">
                <a:pos x="wd2" y="hd2"/>
              </a:cxn>
              <a:cxn ang="16200000">
                <a:pos x="wd2" y="hd2"/>
              </a:cxn>
            </a:cxnLst>
            <a:rect l="0" t="0" r="r" b="b"/>
            <a:pathLst>
              <a:path w="21600" h="16373" extrusionOk="0">
                <a:moveTo>
                  <a:pt x="21600" y="9028"/>
                </a:moveTo>
                <a:lnTo>
                  <a:pt x="19254" y="6471"/>
                </a:lnTo>
                <a:cubicBezTo>
                  <a:pt x="11575" y="-2007"/>
                  <a:pt x="3787" y="-5227"/>
                  <a:pt x="0" y="16373"/>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91" name="Deletion - Inter OHT 4.png"/>
          <p:cNvPicPr>
            <a:picLocks noChangeAspect="1"/>
          </p:cNvPicPr>
          <p:nvPr/>
        </p:nvPicPr>
        <p:blipFill>
          <a:blip r:embed="rId2">
            <a:extLst/>
          </a:blip>
          <a:stretch>
            <a:fillRect/>
          </a:stretch>
        </p:blipFill>
        <p:spPr>
          <a:xfrm>
            <a:off x="11064603" y="2811023"/>
            <a:ext cx="494315" cy="4171837"/>
          </a:xfrm>
          <a:prstGeom prst="rect">
            <a:avLst/>
          </a:prstGeom>
          <a:ln w="12700">
            <a:miter lim="400000"/>
          </a:ln>
        </p:spPr>
      </p:pic>
      <p:pic>
        <p:nvPicPr>
          <p:cNvPr id="492" name="Deletion - Inter OHT 3.png"/>
          <p:cNvPicPr>
            <a:picLocks noChangeAspect="1"/>
          </p:cNvPicPr>
          <p:nvPr/>
        </p:nvPicPr>
        <p:blipFill>
          <a:blip r:embed="rId3">
            <a:extLst/>
          </a:blip>
          <a:stretch>
            <a:fillRect/>
          </a:stretch>
        </p:blipFill>
        <p:spPr>
          <a:xfrm>
            <a:off x="9643264" y="2790239"/>
            <a:ext cx="609652" cy="5598485"/>
          </a:xfrm>
          <a:prstGeom prst="rect">
            <a:avLst/>
          </a:prstGeom>
          <a:ln w="12700">
            <a:miter lim="400000"/>
          </a:ln>
        </p:spPr>
      </p:pic>
      <p:sp>
        <p:nvSpPr>
          <p:cNvPr id="493" name="Shape 493"/>
          <p:cNvSpPr/>
          <p:nvPr/>
        </p:nvSpPr>
        <p:spPr>
          <a:xfrm>
            <a:off x="7150100" y="6362700"/>
            <a:ext cx="1083734" cy="127"/>
          </a:xfrm>
          <a:prstGeom prst="line">
            <a:avLst/>
          </a:prstGeom>
          <a:ln w="25400">
            <a:solidFill>
              <a:srgbClr val="000000"/>
            </a:solidFill>
            <a:prstDash val="sysDot"/>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494" name="Deletion - Inter OHT 2.png"/>
          <p:cNvPicPr>
            <a:picLocks noChangeAspect="1"/>
          </p:cNvPicPr>
          <p:nvPr/>
        </p:nvPicPr>
        <p:blipFill>
          <a:blip r:embed="rId4">
            <a:extLst/>
          </a:blip>
          <a:stretch>
            <a:fillRect/>
          </a:stretch>
        </p:blipFill>
        <p:spPr>
          <a:xfrm>
            <a:off x="8197701" y="2811084"/>
            <a:ext cx="495630" cy="3601861"/>
          </a:xfrm>
          <a:prstGeom prst="rect">
            <a:avLst/>
          </a:prstGeom>
          <a:ln w="12700">
            <a:miter lim="400000"/>
          </a:ln>
        </p:spPr>
      </p:pic>
      <p:pic>
        <p:nvPicPr>
          <p:cNvPr id="495" name="Deletion - Inter OHT 1.png"/>
          <p:cNvPicPr>
            <a:picLocks noChangeAspect="1"/>
          </p:cNvPicPr>
          <p:nvPr/>
        </p:nvPicPr>
        <p:blipFill>
          <a:blip r:embed="rId5">
            <a:extLst/>
          </a:blip>
          <a:stretch>
            <a:fillRect/>
          </a:stretch>
        </p:blipFill>
        <p:spPr>
          <a:xfrm>
            <a:off x="7005264" y="2781904"/>
            <a:ext cx="610620" cy="5607372"/>
          </a:xfrm>
          <a:prstGeom prst="rect">
            <a:avLst/>
          </a:prstGeom>
          <a:ln w="12700">
            <a:miter lim="400000"/>
          </a:ln>
        </p:spPr>
      </p:pic>
      <p:sp>
        <p:nvSpPr>
          <p:cNvPr id="496" name="Shape 496"/>
          <p:cNvSpPr>
            <a:spLocks noGrp="1"/>
          </p:cNvSpPr>
          <p:nvPr>
            <p:ph type="title"/>
          </p:nvPr>
        </p:nvSpPr>
        <p:spPr>
          <a:prstGeom prst="rect">
            <a:avLst/>
          </a:prstGeom>
        </p:spPr>
        <p:txBody>
          <a:bodyPr/>
          <a:lstStyle>
            <a:lvl1pPr>
              <a:tabLst>
                <a:tab pos="952500" algn="l"/>
              </a:tabLst>
            </a:lvl1pPr>
          </a:lstStyle>
          <a:p>
            <a:r>
              <a:t>Deletion Example</a:t>
            </a:r>
          </a:p>
        </p:txBody>
      </p:sp>
      <p:sp>
        <p:nvSpPr>
          <p:cNvPr id="497" name="Shape 497"/>
          <p:cNvSpPr>
            <a:spLocks noGrp="1"/>
          </p:cNvSpPr>
          <p:nvPr>
            <p:ph type="body" sz="half" idx="1"/>
          </p:nvPr>
        </p:nvSpPr>
        <p:spPr>
          <a:prstGeom prst="rect">
            <a:avLst/>
          </a:prstGeom>
        </p:spPr>
        <p:txBody>
          <a:bodyPr/>
          <a:lstStyle/>
          <a:p>
            <a:pPr>
              <a:tabLst>
                <a:tab pos="1016000" algn="l"/>
              </a:tabLst>
            </a:pPr>
            <a:r>
              <a:t>Human chromosome 1 shows two forms of deletion.</a:t>
            </a:r>
          </a:p>
          <a:p>
            <a:pPr lvl="1">
              <a:tabLst>
                <a:tab pos="1485900" algn="l"/>
              </a:tabLst>
            </a:pPr>
            <a:r>
              <a:t>These may involve deletion of either a chromosome tip (left) or a middle segment with the tip rejoined (right).</a:t>
            </a:r>
          </a:p>
          <a:p>
            <a:pPr>
              <a:tabLst>
                <a:tab pos="1016000" algn="l"/>
              </a:tabLst>
            </a:pPr>
            <a:r>
              <a:t>Deletions involving small amounts of chromosomal material underlie several disorders, including:</a:t>
            </a:r>
          </a:p>
          <a:p>
            <a:pPr lvl="1">
              <a:tabLst>
                <a:tab pos="1485900" algn="l"/>
              </a:tabLst>
            </a:pPr>
            <a:r>
              <a:t>Cri-du-chat syndrome</a:t>
            </a:r>
          </a:p>
          <a:p>
            <a:pPr lvl="1">
              <a:tabLst>
                <a:tab pos="1485900" algn="l"/>
              </a:tabLst>
            </a:pPr>
            <a:r>
              <a:t>Prader-Willi syndrome</a:t>
            </a:r>
          </a:p>
          <a:p>
            <a:pPr lvl="1">
              <a:tabLst>
                <a:tab pos="1485900" algn="l"/>
              </a:tabLst>
            </a:pPr>
            <a:r>
              <a:t>Angelman’s syndrome</a:t>
            </a:r>
          </a:p>
          <a:p>
            <a:pPr>
              <a:tabLst>
                <a:tab pos="1016000" algn="l"/>
              </a:tabLst>
            </a:pPr>
            <a:r>
              <a:t>Deletions of large amounts of chromosomal material are</a:t>
            </a:r>
            <a:br/>
            <a:r>
              <a:t>usually lethal. </a:t>
            </a:r>
          </a:p>
        </p:txBody>
      </p:sp>
      <p:sp>
        <p:nvSpPr>
          <p:cNvPr id="498" name="Shape 498"/>
          <p:cNvSpPr/>
          <p:nvPr/>
        </p:nvSpPr>
        <p:spPr>
          <a:xfrm>
            <a:off x="7136453" y="2006600"/>
            <a:ext cx="1547565"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b="1">
                <a:solidFill>
                  <a:srgbClr val="000000"/>
                </a:solidFill>
              </a:defRPr>
            </a:lvl1pPr>
          </a:lstStyle>
          <a:p>
            <a:r>
              <a:t>Tip deletion</a:t>
            </a:r>
          </a:p>
        </p:txBody>
      </p:sp>
      <p:sp>
        <p:nvSpPr>
          <p:cNvPr id="499" name="Shape 499"/>
          <p:cNvSpPr/>
          <p:nvPr/>
        </p:nvSpPr>
        <p:spPr>
          <a:xfrm>
            <a:off x="9361163" y="2019300"/>
            <a:ext cx="2737694"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b="1">
                <a:solidFill>
                  <a:srgbClr val="000000"/>
                </a:solidFill>
              </a:defRPr>
            </a:lvl1pPr>
          </a:lstStyle>
          <a:p>
            <a:r>
              <a:t>Mid-segment deletion</a:t>
            </a:r>
          </a:p>
        </p:txBody>
      </p:sp>
      <p:sp>
        <p:nvSpPr>
          <p:cNvPr id="500" name="Shape 500"/>
          <p:cNvSpPr/>
          <p:nvPr/>
        </p:nvSpPr>
        <p:spPr>
          <a:xfrm>
            <a:off x="6891577" y="2489200"/>
            <a:ext cx="91277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i="1">
                <a:solidFill>
                  <a:srgbClr val="006795"/>
                </a:solidFill>
              </a:defRPr>
            </a:lvl1pPr>
          </a:lstStyle>
          <a:p>
            <a:r>
              <a:t>Before</a:t>
            </a:r>
          </a:p>
        </p:txBody>
      </p:sp>
      <p:sp>
        <p:nvSpPr>
          <p:cNvPr id="501" name="Shape 501"/>
          <p:cNvSpPr/>
          <p:nvPr/>
        </p:nvSpPr>
        <p:spPr>
          <a:xfrm>
            <a:off x="8088451" y="2489200"/>
            <a:ext cx="690222"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i="1">
                <a:solidFill>
                  <a:srgbClr val="006795"/>
                </a:solidFill>
              </a:defRPr>
            </a:lvl1pPr>
          </a:lstStyle>
          <a:p>
            <a:r>
              <a:t>After</a:t>
            </a:r>
          </a:p>
        </p:txBody>
      </p:sp>
      <p:sp>
        <p:nvSpPr>
          <p:cNvPr id="502" name="Shape 502"/>
          <p:cNvSpPr/>
          <p:nvPr/>
        </p:nvSpPr>
        <p:spPr>
          <a:xfrm>
            <a:off x="9533177" y="2463800"/>
            <a:ext cx="91277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i="1">
                <a:solidFill>
                  <a:srgbClr val="006795"/>
                </a:solidFill>
              </a:defRPr>
            </a:lvl1pPr>
          </a:lstStyle>
          <a:p>
            <a:r>
              <a:t>Before</a:t>
            </a:r>
          </a:p>
        </p:txBody>
      </p:sp>
      <p:sp>
        <p:nvSpPr>
          <p:cNvPr id="503" name="Shape 503"/>
          <p:cNvSpPr/>
          <p:nvPr/>
        </p:nvSpPr>
        <p:spPr>
          <a:xfrm>
            <a:off x="10920551" y="2476500"/>
            <a:ext cx="690222"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i="1">
                <a:solidFill>
                  <a:srgbClr val="006795"/>
                </a:solidFill>
              </a:defRPr>
            </a:lvl1pPr>
          </a:lstStyle>
          <a:p>
            <a:r>
              <a:t>After</a:t>
            </a:r>
          </a:p>
        </p:txBody>
      </p:sp>
      <p:sp>
        <p:nvSpPr>
          <p:cNvPr id="504" name="Shape 504"/>
          <p:cNvSpPr/>
          <p:nvPr/>
        </p:nvSpPr>
        <p:spPr>
          <a:xfrm>
            <a:off x="11895552" y="5892800"/>
            <a:ext cx="912647" cy="635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7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Tip</a:t>
            </a:r>
          </a:p>
          <a:p>
            <a:pPr>
              <a:lnSpc>
                <a:spcPts val="27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rejoins</a:t>
            </a:r>
          </a:p>
        </p:txBody>
      </p:sp>
      <p:sp>
        <p:nvSpPr>
          <p:cNvPr id="505" name="Shape 505"/>
          <p:cNvSpPr/>
          <p:nvPr/>
        </p:nvSpPr>
        <p:spPr>
          <a:xfrm>
            <a:off x="11214100" y="7112000"/>
            <a:ext cx="224595" cy="41933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819140">
              <a:lnSpc>
                <a:spcPts val="4300"/>
              </a:lnSpc>
              <a:tabLst>
                <a:tab pos="520700" algn="l"/>
              </a:tabLst>
              <a:defRPr sz="3000" b="1">
                <a:solidFill>
                  <a:srgbClr val="201B17"/>
                </a:solidFill>
              </a:defRPr>
            </a:lvl1pPr>
          </a:lstStyle>
          <a:p>
            <a:pPr>
              <a:defRPr>
                <a:solidFill>
                  <a:srgbClr val="483F36"/>
                </a:solidFill>
              </a:defRPr>
            </a:pPr>
            <a:r>
              <a:rPr>
                <a:solidFill>
                  <a:srgbClr val="201B17"/>
                </a:solidFill>
              </a:rPr>
              <a:t>1</a:t>
            </a:r>
          </a:p>
        </p:txBody>
      </p:sp>
      <p:sp>
        <p:nvSpPr>
          <p:cNvPr id="506" name="Shape 506"/>
          <p:cNvSpPr/>
          <p:nvPr/>
        </p:nvSpPr>
        <p:spPr>
          <a:xfrm>
            <a:off x="10432967" y="7950200"/>
            <a:ext cx="631101"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Lost</a:t>
            </a:r>
          </a:p>
        </p:txBody>
      </p:sp>
      <p:sp>
        <p:nvSpPr>
          <p:cNvPr id="507" name="Shape 507"/>
          <p:cNvSpPr/>
          <p:nvPr/>
        </p:nvSpPr>
        <p:spPr>
          <a:xfrm>
            <a:off x="8121567" y="7950200"/>
            <a:ext cx="631101"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Lost</a:t>
            </a:r>
          </a:p>
        </p:txBody>
      </p:sp>
      <p:sp>
        <p:nvSpPr>
          <p:cNvPr id="508" name="Shape 508"/>
          <p:cNvSpPr/>
          <p:nvPr/>
        </p:nvSpPr>
        <p:spPr>
          <a:xfrm>
            <a:off x="9842500" y="8445500"/>
            <a:ext cx="224595" cy="41933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819140">
              <a:lnSpc>
                <a:spcPts val="4300"/>
              </a:lnSpc>
              <a:tabLst>
                <a:tab pos="520700" algn="l"/>
              </a:tabLst>
              <a:defRPr sz="3000" b="1">
                <a:solidFill>
                  <a:srgbClr val="201B17"/>
                </a:solidFill>
              </a:defRPr>
            </a:lvl1pPr>
          </a:lstStyle>
          <a:p>
            <a:pPr>
              <a:defRPr>
                <a:solidFill>
                  <a:srgbClr val="483F36"/>
                </a:solidFill>
              </a:defRPr>
            </a:pPr>
            <a:r>
              <a:rPr>
                <a:solidFill>
                  <a:srgbClr val="201B17"/>
                </a:solidFill>
              </a:rPr>
              <a:t>1</a:t>
            </a:r>
          </a:p>
        </p:txBody>
      </p:sp>
      <p:sp>
        <p:nvSpPr>
          <p:cNvPr id="509" name="Shape 509"/>
          <p:cNvSpPr/>
          <p:nvPr/>
        </p:nvSpPr>
        <p:spPr>
          <a:xfrm>
            <a:off x="7150100" y="8445500"/>
            <a:ext cx="224595" cy="41933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819140">
              <a:lnSpc>
                <a:spcPts val="4300"/>
              </a:lnSpc>
              <a:tabLst>
                <a:tab pos="520700" algn="l"/>
              </a:tabLst>
              <a:defRPr sz="3000" b="1">
                <a:solidFill>
                  <a:srgbClr val="201B17"/>
                </a:solidFill>
              </a:defRPr>
            </a:lvl1pPr>
          </a:lstStyle>
          <a:p>
            <a:pPr>
              <a:defRPr>
                <a:solidFill>
                  <a:srgbClr val="483F36"/>
                </a:solidFill>
              </a:defRPr>
            </a:pPr>
            <a:r>
              <a:rPr>
                <a:solidFill>
                  <a:srgbClr val="201B17"/>
                </a:solidFill>
              </a:rPr>
              <a:t>1</a:t>
            </a:r>
          </a:p>
        </p:txBody>
      </p:sp>
      <p:sp>
        <p:nvSpPr>
          <p:cNvPr id="510" name="Shape 510"/>
          <p:cNvSpPr/>
          <p:nvPr/>
        </p:nvSpPr>
        <p:spPr>
          <a:xfrm>
            <a:off x="8343900" y="6515100"/>
            <a:ext cx="224595" cy="41933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819140">
              <a:lnSpc>
                <a:spcPts val="4300"/>
              </a:lnSpc>
              <a:tabLst>
                <a:tab pos="520700" algn="l"/>
              </a:tabLst>
              <a:defRPr sz="3000" b="1">
                <a:solidFill>
                  <a:srgbClr val="201B17"/>
                </a:solidFill>
              </a:defRPr>
            </a:lvl1pPr>
          </a:lstStyle>
          <a:p>
            <a:pPr>
              <a:defRPr>
                <a:solidFill>
                  <a:srgbClr val="483F36"/>
                </a:solidFill>
              </a:defRPr>
            </a:pPr>
            <a:r>
              <a:rPr>
                <a:solidFill>
                  <a:srgbClr val="201B17"/>
                </a:solidFill>
              </a:rPr>
              <a:t>1</a:t>
            </a:r>
          </a:p>
        </p:txBody>
      </p:sp>
      <p:sp>
        <p:nvSpPr>
          <p:cNvPr id="511" name="Shape 511"/>
          <p:cNvSpPr/>
          <p:nvPr/>
        </p:nvSpPr>
        <p:spPr>
          <a:xfrm>
            <a:off x="11468100" y="6197600"/>
            <a:ext cx="457200" cy="127"/>
          </a:xfrm>
          <a:prstGeom prst="line">
            <a:avLst/>
          </a:prstGeom>
          <a:ln w="38100">
            <a:solidFill>
              <a:srgbClr val="F38C1E"/>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9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9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9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9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9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49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497">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49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 name="Translocation OHT 1.png"/>
          <p:cNvPicPr>
            <a:picLocks noChangeAspect="1"/>
          </p:cNvPicPr>
          <p:nvPr/>
        </p:nvPicPr>
        <p:blipFill>
          <a:blip r:embed="rId2">
            <a:extLst/>
          </a:blip>
          <a:stretch>
            <a:fillRect/>
          </a:stretch>
        </p:blipFill>
        <p:spPr>
          <a:xfrm>
            <a:off x="9258878" y="4253991"/>
            <a:ext cx="460180" cy="3756654"/>
          </a:xfrm>
          <a:prstGeom prst="rect">
            <a:avLst/>
          </a:prstGeom>
          <a:ln w="12700">
            <a:miter lim="400000"/>
          </a:ln>
        </p:spPr>
      </p:pic>
      <p:pic>
        <p:nvPicPr>
          <p:cNvPr id="514" name="Translocation OHT 2.png"/>
          <p:cNvPicPr>
            <a:picLocks noChangeAspect="1"/>
          </p:cNvPicPr>
          <p:nvPr/>
        </p:nvPicPr>
        <p:blipFill>
          <a:blip r:embed="rId3">
            <a:extLst/>
          </a:blip>
          <a:stretch>
            <a:fillRect/>
          </a:stretch>
        </p:blipFill>
        <p:spPr>
          <a:xfrm>
            <a:off x="8289371" y="2370515"/>
            <a:ext cx="565774" cy="6196985"/>
          </a:xfrm>
          <a:prstGeom prst="rect">
            <a:avLst/>
          </a:prstGeom>
          <a:ln w="12700">
            <a:miter lim="400000"/>
          </a:ln>
        </p:spPr>
      </p:pic>
      <p:pic>
        <p:nvPicPr>
          <p:cNvPr id="515" name="Translocation OHT 3.png"/>
          <p:cNvPicPr>
            <a:picLocks noChangeAspect="1"/>
          </p:cNvPicPr>
          <p:nvPr/>
        </p:nvPicPr>
        <p:blipFill>
          <a:blip r:embed="rId4">
            <a:extLst/>
          </a:blip>
          <a:stretch>
            <a:fillRect/>
          </a:stretch>
        </p:blipFill>
        <p:spPr>
          <a:xfrm>
            <a:off x="9183608" y="2029194"/>
            <a:ext cx="559370" cy="2242024"/>
          </a:xfrm>
          <a:prstGeom prst="rect">
            <a:avLst/>
          </a:prstGeom>
          <a:ln w="12700">
            <a:miter lim="400000"/>
          </a:ln>
        </p:spPr>
      </p:pic>
      <p:pic>
        <p:nvPicPr>
          <p:cNvPr id="516" name="Translocation OHT 4.png"/>
          <p:cNvPicPr>
            <a:picLocks noChangeAspect="1"/>
          </p:cNvPicPr>
          <p:nvPr/>
        </p:nvPicPr>
        <p:blipFill>
          <a:blip r:embed="rId5">
            <a:extLst/>
          </a:blip>
          <a:stretch>
            <a:fillRect/>
          </a:stretch>
        </p:blipFill>
        <p:spPr>
          <a:xfrm>
            <a:off x="10331119" y="4331323"/>
            <a:ext cx="567402" cy="4269232"/>
          </a:xfrm>
          <a:prstGeom prst="rect">
            <a:avLst/>
          </a:prstGeom>
          <a:ln w="12700">
            <a:miter lim="400000"/>
          </a:ln>
        </p:spPr>
      </p:pic>
      <p:pic>
        <p:nvPicPr>
          <p:cNvPr id="517" name="Translocation OHT 5.png"/>
          <p:cNvPicPr>
            <a:picLocks noChangeAspect="1"/>
          </p:cNvPicPr>
          <p:nvPr/>
        </p:nvPicPr>
        <p:blipFill>
          <a:blip r:embed="rId6">
            <a:extLst/>
          </a:blip>
          <a:stretch>
            <a:fillRect/>
          </a:stretch>
        </p:blipFill>
        <p:spPr>
          <a:xfrm>
            <a:off x="10922120" y="1925733"/>
            <a:ext cx="565857" cy="5746972"/>
          </a:xfrm>
          <a:prstGeom prst="rect">
            <a:avLst/>
          </a:prstGeom>
          <a:ln w="12700">
            <a:miter lim="400000"/>
          </a:ln>
        </p:spPr>
      </p:pic>
      <p:pic>
        <p:nvPicPr>
          <p:cNvPr id="518" name="Translocation OHT 1.png"/>
          <p:cNvPicPr>
            <a:picLocks noChangeAspect="1"/>
          </p:cNvPicPr>
          <p:nvPr/>
        </p:nvPicPr>
        <p:blipFill>
          <a:blip r:embed="rId2">
            <a:extLst/>
          </a:blip>
          <a:stretch>
            <a:fillRect/>
          </a:stretch>
        </p:blipFill>
        <p:spPr>
          <a:xfrm>
            <a:off x="7186238" y="3908551"/>
            <a:ext cx="460179" cy="3756654"/>
          </a:xfrm>
          <a:prstGeom prst="rect">
            <a:avLst/>
          </a:prstGeom>
          <a:ln w="12700">
            <a:miter lim="400000"/>
          </a:ln>
        </p:spPr>
      </p:pic>
      <p:pic>
        <p:nvPicPr>
          <p:cNvPr id="519" name="Deletion OHT 1.png"/>
          <p:cNvPicPr>
            <a:picLocks noChangeAspect="1"/>
          </p:cNvPicPr>
          <p:nvPr/>
        </p:nvPicPr>
        <p:blipFill>
          <a:blip r:embed="rId7">
            <a:extLst/>
          </a:blip>
          <a:stretch>
            <a:fillRect/>
          </a:stretch>
        </p:blipFill>
        <p:spPr>
          <a:xfrm>
            <a:off x="6456653" y="2323383"/>
            <a:ext cx="544966" cy="6235902"/>
          </a:xfrm>
          <a:prstGeom prst="rect">
            <a:avLst/>
          </a:prstGeom>
          <a:ln w="12700">
            <a:miter lim="400000"/>
          </a:ln>
        </p:spPr>
      </p:pic>
      <p:sp>
        <p:nvSpPr>
          <p:cNvPr id="520" name="Shape 520"/>
          <p:cNvSpPr>
            <a:spLocks noGrp="1"/>
          </p:cNvSpPr>
          <p:nvPr>
            <p:ph type="title"/>
          </p:nvPr>
        </p:nvSpPr>
        <p:spPr>
          <a:prstGeom prst="rect">
            <a:avLst/>
          </a:prstGeom>
        </p:spPr>
        <p:txBody>
          <a:bodyPr/>
          <a:lstStyle>
            <a:lvl1pPr>
              <a:tabLst>
                <a:tab pos="952500" algn="l"/>
              </a:tabLst>
              <a:defRPr sz="6000" spc="-180"/>
            </a:lvl1pPr>
          </a:lstStyle>
          <a:p>
            <a:r>
              <a:t>Block Mutations: Translocation</a:t>
            </a:r>
          </a:p>
        </p:txBody>
      </p:sp>
      <p:sp>
        <p:nvSpPr>
          <p:cNvPr id="521" name="Shape 521"/>
          <p:cNvSpPr>
            <a:spLocks noGrp="1"/>
          </p:cNvSpPr>
          <p:nvPr>
            <p:ph type="body" sz="quarter" idx="1"/>
          </p:nvPr>
        </p:nvSpPr>
        <p:spPr>
          <a:xfrm>
            <a:off x="368300" y="1790700"/>
            <a:ext cx="4877148" cy="4222155"/>
          </a:xfrm>
          <a:prstGeom prst="rect">
            <a:avLst/>
          </a:prstGeom>
        </p:spPr>
        <p:txBody>
          <a:bodyPr/>
          <a:lstStyle/>
          <a:p>
            <a:pPr>
              <a:tabLst>
                <a:tab pos="1016000" algn="l"/>
              </a:tabLst>
            </a:pPr>
            <a:r>
              <a:t>Translocation involves the movement of a group of genes between different chromosomes.</a:t>
            </a:r>
          </a:p>
          <a:p>
            <a:pPr>
              <a:tabLst>
                <a:tab pos="1016000" algn="l"/>
              </a:tabLst>
            </a:pPr>
            <a:r>
              <a:t>A piece of one chromosome breaks off and joins on to another chromosome.</a:t>
            </a:r>
          </a:p>
          <a:p>
            <a:pPr>
              <a:tabLst>
                <a:tab pos="1016000" algn="l"/>
              </a:tabLst>
            </a:pPr>
            <a:r>
              <a:t>The result is a chromosome deficient in genes and one with too many genes.</a:t>
            </a:r>
          </a:p>
        </p:txBody>
      </p:sp>
      <p:sp>
        <p:nvSpPr>
          <p:cNvPr id="522" name="Shape 522"/>
          <p:cNvSpPr/>
          <p:nvPr/>
        </p:nvSpPr>
        <p:spPr>
          <a:xfrm>
            <a:off x="7268300" y="1727200"/>
            <a:ext cx="1357450" cy="635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Segment</a:t>
            </a:r>
            <a:br/>
            <a:r>
              <a:t>removed</a:t>
            </a:r>
          </a:p>
        </p:txBody>
      </p:sp>
      <p:sp>
        <p:nvSpPr>
          <p:cNvPr id="523" name="Shape 523"/>
          <p:cNvSpPr/>
          <p:nvPr/>
        </p:nvSpPr>
        <p:spPr>
          <a:xfrm>
            <a:off x="11470413" y="2946400"/>
            <a:ext cx="1320801" cy="635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6795"/>
                </a:solidFill>
              </a:defRPr>
            </a:pPr>
            <a:r>
              <a:t>Segments</a:t>
            </a:r>
            <a:br/>
            <a:r>
              <a:t>join</a:t>
            </a:r>
          </a:p>
        </p:txBody>
      </p:sp>
      <p:sp>
        <p:nvSpPr>
          <p:cNvPr id="524" name="Shape 524"/>
          <p:cNvSpPr/>
          <p:nvPr/>
        </p:nvSpPr>
        <p:spPr>
          <a:xfrm>
            <a:off x="5180276" y="43434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525" name="Shape 525"/>
          <p:cNvSpPr/>
          <p:nvPr/>
        </p:nvSpPr>
        <p:spPr>
          <a:xfrm>
            <a:off x="5149550" y="7569200"/>
            <a:ext cx="91277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Genes</a:t>
            </a:r>
          </a:p>
        </p:txBody>
      </p:sp>
      <p:sp>
        <p:nvSpPr>
          <p:cNvPr id="526" name="Shape 526"/>
          <p:cNvSpPr/>
          <p:nvPr/>
        </p:nvSpPr>
        <p:spPr>
          <a:xfrm>
            <a:off x="6508143"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1</a:t>
            </a:r>
          </a:p>
        </p:txBody>
      </p:sp>
      <p:sp>
        <p:nvSpPr>
          <p:cNvPr id="527" name="Shape 527"/>
          <p:cNvSpPr/>
          <p:nvPr/>
        </p:nvSpPr>
        <p:spPr>
          <a:xfrm>
            <a:off x="8540143"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2</a:t>
            </a:r>
          </a:p>
        </p:txBody>
      </p:sp>
      <p:sp>
        <p:nvSpPr>
          <p:cNvPr id="528" name="Shape 528"/>
          <p:cNvSpPr/>
          <p:nvPr/>
        </p:nvSpPr>
        <p:spPr>
          <a:xfrm>
            <a:off x="10381643"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3</a:t>
            </a:r>
          </a:p>
        </p:txBody>
      </p:sp>
      <p:sp>
        <p:nvSpPr>
          <p:cNvPr id="529" name="Shape 529"/>
          <p:cNvSpPr/>
          <p:nvPr/>
        </p:nvSpPr>
        <p:spPr>
          <a:xfrm flipH="1" flipV="1">
            <a:off x="6083300" y="4495800"/>
            <a:ext cx="440267" cy="127"/>
          </a:xfrm>
          <a:prstGeom prst="line">
            <a:avLst/>
          </a:prstGeom>
          <a:ln w="508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30" name="Shape 530"/>
          <p:cNvSpPr/>
          <p:nvPr/>
        </p:nvSpPr>
        <p:spPr>
          <a:xfrm flipH="1">
            <a:off x="6176433" y="7217833"/>
            <a:ext cx="397934" cy="4995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31" name="Shape 531"/>
          <p:cNvSpPr/>
          <p:nvPr/>
        </p:nvSpPr>
        <p:spPr>
          <a:xfrm flipH="1">
            <a:off x="6177557" y="7514167"/>
            <a:ext cx="422210" cy="2216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32" name="Shape 532"/>
          <p:cNvSpPr/>
          <p:nvPr/>
        </p:nvSpPr>
        <p:spPr>
          <a:xfrm flipH="1" flipV="1">
            <a:off x="6176433" y="7717366"/>
            <a:ext cx="423334" cy="1693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33" name="Shape 533"/>
          <p:cNvSpPr/>
          <p:nvPr/>
        </p:nvSpPr>
        <p:spPr>
          <a:xfrm flipH="1" flipV="1">
            <a:off x="6159500" y="7717366"/>
            <a:ext cx="406400" cy="4910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34" name="Shape 534"/>
          <p:cNvSpPr/>
          <p:nvPr/>
        </p:nvSpPr>
        <p:spPr>
          <a:xfrm rot="3975031">
            <a:off x="8518149" y="1557237"/>
            <a:ext cx="783959" cy="1083987"/>
          </a:xfrm>
          <a:custGeom>
            <a:avLst/>
            <a:gdLst/>
            <a:ahLst/>
            <a:cxnLst>
              <a:cxn ang="0">
                <a:pos x="wd2" y="hd2"/>
              </a:cxn>
              <a:cxn ang="5400000">
                <a:pos x="wd2" y="hd2"/>
              </a:cxn>
              <a:cxn ang="10800000">
                <a:pos x="wd2" y="hd2"/>
              </a:cxn>
              <a:cxn ang="16200000">
                <a:pos x="wd2" y="hd2"/>
              </a:cxn>
            </a:cxnLst>
            <a:rect l="0" t="0" r="r" b="b"/>
            <a:pathLst>
              <a:path w="14287" h="20573" extrusionOk="0">
                <a:moveTo>
                  <a:pt x="13291" y="323"/>
                </a:moveTo>
                <a:lnTo>
                  <a:pt x="10383" y="88"/>
                </a:lnTo>
                <a:cubicBezTo>
                  <a:pt x="-862" y="-1027"/>
                  <a:pt x="-7313" y="8657"/>
                  <a:pt x="14287" y="20573"/>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35" name="Shape 535"/>
          <p:cNvSpPr/>
          <p:nvPr/>
        </p:nvSpPr>
        <p:spPr>
          <a:xfrm rot="3975031">
            <a:off x="11769992" y="3557480"/>
            <a:ext cx="268018" cy="802710"/>
          </a:xfrm>
          <a:custGeom>
            <a:avLst/>
            <a:gdLst/>
            <a:ahLst/>
            <a:cxnLst>
              <a:cxn ang="0">
                <a:pos x="wd2" y="hd2"/>
              </a:cxn>
              <a:cxn ang="5400000">
                <a:pos x="wd2" y="hd2"/>
              </a:cxn>
              <a:cxn ang="10800000">
                <a:pos x="wd2" y="hd2"/>
              </a:cxn>
              <a:cxn ang="16200000">
                <a:pos x="wd2" y="hd2"/>
              </a:cxn>
            </a:cxnLst>
            <a:rect l="0" t="0" r="r" b="b"/>
            <a:pathLst>
              <a:path w="14042" h="21600" extrusionOk="0">
                <a:moveTo>
                  <a:pt x="3213" y="21600"/>
                </a:moveTo>
                <a:lnTo>
                  <a:pt x="7065" y="17775"/>
                </a:lnTo>
                <a:cubicBezTo>
                  <a:pt x="21600" y="3637"/>
                  <a:pt x="10540" y="142"/>
                  <a:pt x="0" y="0"/>
                </a:cubicBezTo>
              </a:path>
            </a:pathLst>
          </a:custGeom>
          <a:ln w="508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2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2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2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 grpId="1"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7" name="Translocation Example 4.png"/>
          <p:cNvPicPr>
            <a:picLocks noChangeAspect="1"/>
          </p:cNvPicPr>
          <p:nvPr/>
        </p:nvPicPr>
        <p:blipFill>
          <a:blip r:embed="rId2">
            <a:extLst/>
          </a:blip>
          <a:stretch>
            <a:fillRect/>
          </a:stretch>
        </p:blipFill>
        <p:spPr>
          <a:xfrm>
            <a:off x="11938119" y="3575111"/>
            <a:ext cx="582323" cy="1184056"/>
          </a:xfrm>
          <a:prstGeom prst="rect">
            <a:avLst/>
          </a:prstGeom>
          <a:ln w="12700">
            <a:miter lim="400000"/>
          </a:ln>
        </p:spPr>
      </p:pic>
      <p:pic>
        <p:nvPicPr>
          <p:cNvPr id="538" name="Translocation Example 2.png"/>
          <p:cNvPicPr>
            <a:picLocks noChangeAspect="1"/>
          </p:cNvPicPr>
          <p:nvPr/>
        </p:nvPicPr>
        <p:blipFill>
          <a:blip r:embed="rId3">
            <a:extLst/>
          </a:blip>
          <a:stretch>
            <a:fillRect/>
          </a:stretch>
        </p:blipFill>
        <p:spPr>
          <a:xfrm>
            <a:off x="8021439" y="3580324"/>
            <a:ext cx="564295" cy="1768123"/>
          </a:xfrm>
          <a:prstGeom prst="rect">
            <a:avLst/>
          </a:prstGeom>
          <a:ln w="12700">
            <a:miter lim="400000"/>
          </a:ln>
        </p:spPr>
      </p:pic>
      <p:pic>
        <p:nvPicPr>
          <p:cNvPr id="539" name="Translocation Example 3.png"/>
          <p:cNvPicPr>
            <a:picLocks noChangeAspect="1"/>
          </p:cNvPicPr>
          <p:nvPr/>
        </p:nvPicPr>
        <p:blipFill>
          <a:blip r:embed="rId4">
            <a:extLst/>
          </a:blip>
          <a:stretch>
            <a:fillRect/>
          </a:stretch>
        </p:blipFill>
        <p:spPr>
          <a:xfrm>
            <a:off x="9976377" y="2919920"/>
            <a:ext cx="578189" cy="4264138"/>
          </a:xfrm>
          <a:prstGeom prst="rect">
            <a:avLst/>
          </a:prstGeom>
          <a:ln w="12700">
            <a:miter lim="400000"/>
          </a:ln>
        </p:spPr>
      </p:pic>
      <p:pic>
        <p:nvPicPr>
          <p:cNvPr id="540" name="Translocation Example 1.png"/>
          <p:cNvPicPr>
            <a:picLocks noChangeAspect="1"/>
          </p:cNvPicPr>
          <p:nvPr/>
        </p:nvPicPr>
        <p:blipFill>
          <a:blip r:embed="rId5">
            <a:extLst/>
          </a:blip>
          <a:stretch>
            <a:fillRect/>
          </a:stretch>
        </p:blipFill>
        <p:spPr>
          <a:xfrm>
            <a:off x="6069448" y="2926515"/>
            <a:ext cx="556799" cy="3612046"/>
          </a:xfrm>
          <a:prstGeom prst="rect">
            <a:avLst/>
          </a:prstGeom>
          <a:ln w="12700">
            <a:miter lim="400000"/>
          </a:ln>
        </p:spPr>
      </p:pic>
      <p:sp>
        <p:nvSpPr>
          <p:cNvPr id="541" name="Shape 541"/>
          <p:cNvSpPr>
            <a:spLocks noGrp="1"/>
          </p:cNvSpPr>
          <p:nvPr>
            <p:ph type="title"/>
          </p:nvPr>
        </p:nvSpPr>
        <p:spPr>
          <a:prstGeom prst="rect">
            <a:avLst/>
          </a:prstGeom>
        </p:spPr>
        <p:txBody>
          <a:bodyPr/>
          <a:lstStyle>
            <a:lvl1pPr>
              <a:tabLst>
                <a:tab pos="952500" algn="l"/>
              </a:tabLst>
              <a:defRPr spc="-64"/>
            </a:lvl1pPr>
          </a:lstStyle>
          <a:p>
            <a:pPr>
              <a:defRPr spc="0"/>
            </a:pPr>
            <a:r>
              <a:rPr spc="-64"/>
              <a:t>Translocation Example</a:t>
            </a:r>
          </a:p>
        </p:txBody>
      </p:sp>
      <p:sp>
        <p:nvSpPr>
          <p:cNvPr id="542" name="Shape 542"/>
          <p:cNvSpPr>
            <a:spLocks noGrp="1"/>
          </p:cNvSpPr>
          <p:nvPr>
            <p:ph type="body" sz="quarter" idx="1"/>
          </p:nvPr>
        </p:nvSpPr>
        <p:spPr>
          <a:xfrm>
            <a:off x="368300" y="1790700"/>
            <a:ext cx="4827290" cy="3424784"/>
          </a:xfrm>
          <a:prstGeom prst="rect">
            <a:avLst/>
          </a:prstGeom>
        </p:spPr>
        <p:txBody>
          <a:bodyPr/>
          <a:lstStyle/>
          <a:p>
            <a:pPr>
              <a:tabLst>
                <a:tab pos="1016000" algn="l"/>
              </a:tabLst>
            </a:pPr>
            <a:r>
              <a:t>Translocation can occur between human chromosomes 9 and 22.</a:t>
            </a:r>
          </a:p>
          <a:p>
            <a:pPr>
              <a:tabLst>
                <a:tab pos="1016000" algn="l"/>
              </a:tabLst>
            </a:pPr>
            <a:r>
              <a:t>The tips of the two chromosomes are exchanged.</a:t>
            </a:r>
          </a:p>
          <a:p>
            <a:pPr>
              <a:tabLst>
                <a:tab pos="1016000" algn="l"/>
              </a:tabLst>
            </a:pPr>
            <a:r>
              <a:t>This is the translocation observed in chronic myeloid leukaemia.</a:t>
            </a:r>
          </a:p>
        </p:txBody>
      </p:sp>
      <p:sp>
        <p:nvSpPr>
          <p:cNvPr id="543" name="Shape 543"/>
          <p:cNvSpPr/>
          <p:nvPr/>
        </p:nvSpPr>
        <p:spPr>
          <a:xfrm>
            <a:off x="5758491" y="2260600"/>
            <a:ext cx="3090913"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Before translocation</a:t>
            </a:r>
          </a:p>
        </p:txBody>
      </p:sp>
      <p:sp>
        <p:nvSpPr>
          <p:cNvPr id="544" name="Shape 544"/>
          <p:cNvSpPr/>
          <p:nvPr/>
        </p:nvSpPr>
        <p:spPr>
          <a:xfrm>
            <a:off x="9775625" y="2260600"/>
            <a:ext cx="2836714"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After translocation</a:t>
            </a:r>
          </a:p>
        </p:txBody>
      </p:sp>
      <p:sp>
        <p:nvSpPr>
          <p:cNvPr id="545" name="Shape 545"/>
          <p:cNvSpPr/>
          <p:nvPr/>
        </p:nvSpPr>
        <p:spPr>
          <a:xfrm>
            <a:off x="11855278" y="5003800"/>
            <a:ext cx="635547"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22</a:t>
            </a:r>
          </a:p>
        </p:txBody>
      </p:sp>
      <p:sp>
        <p:nvSpPr>
          <p:cNvPr id="546" name="Shape 546"/>
          <p:cNvSpPr/>
          <p:nvPr/>
        </p:nvSpPr>
        <p:spPr>
          <a:xfrm>
            <a:off x="10096414" y="7454900"/>
            <a:ext cx="381274"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9</a:t>
            </a:r>
          </a:p>
        </p:txBody>
      </p:sp>
      <p:sp>
        <p:nvSpPr>
          <p:cNvPr id="547" name="Shape 547"/>
          <p:cNvSpPr/>
          <p:nvPr/>
        </p:nvSpPr>
        <p:spPr>
          <a:xfrm>
            <a:off x="6759491" y="6578600"/>
            <a:ext cx="2527301" cy="635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700"/>
              </a:lnSpc>
              <a:tabLst>
                <a:tab pos="520700" algn="l"/>
              </a:tabLst>
              <a:defRPr sz="2000">
                <a:solidFill>
                  <a:srgbClr val="006795"/>
                </a:solidFill>
              </a:defRPr>
            </a:lvl1pPr>
          </a:lstStyle>
          <a:p>
            <a:r>
              <a:t>The tips of the chromosomes swap</a:t>
            </a:r>
          </a:p>
        </p:txBody>
      </p:sp>
      <p:sp>
        <p:nvSpPr>
          <p:cNvPr id="548" name="Shape 548"/>
          <p:cNvSpPr/>
          <p:nvPr/>
        </p:nvSpPr>
        <p:spPr>
          <a:xfrm>
            <a:off x="7981778" y="5435600"/>
            <a:ext cx="635547"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22</a:t>
            </a:r>
          </a:p>
        </p:txBody>
      </p:sp>
      <p:sp>
        <p:nvSpPr>
          <p:cNvPr id="549" name="Shape 549"/>
          <p:cNvSpPr/>
          <p:nvPr/>
        </p:nvSpPr>
        <p:spPr>
          <a:xfrm>
            <a:off x="6057814" y="6629400"/>
            <a:ext cx="381274"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9</a:t>
            </a:r>
          </a:p>
        </p:txBody>
      </p:sp>
      <p:sp>
        <p:nvSpPr>
          <p:cNvPr id="550" name="Shape 550"/>
          <p:cNvSpPr/>
          <p:nvPr/>
        </p:nvSpPr>
        <p:spPr>
          <a:xfrm>
            <a:off x="6613207" y="4820077"/>
            <a:ext cx="1421146" cy="157490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948" y="21448"/>
                </a:lnTo>
                <a:cubicBezTo>
                  <a:pt x="20450" y="20983"/>
                  <a:pt x="2948" y="81"/>
                  <a:pt x="18648" y="81"/>
                </a:cubicBezTo>
                <a:lnTo>
                  <a:pt x="21600" y="0"/>
                </a:lnTo>
              </a:path>
            </a:pathLst>
          </a:custGeom>
          <a:ln w="63500">
            <a:solidFill>
              <a:srgbClr val="F38C1E"/>
            </a:solidFill>
            <a:miter lim="400000"/>
            <a:headEnd type="triangle"/>
            <a:tailEnd type="triangle"/>
          </a:ln>
        </p:spPr>
        <p:txBody>
          <a:bodyPr lIns="38100" tIns="38100" rIns="38100" bIns="38100" anchor="ctr"/>
          <a:lstStyle/>
          <a:p>
            <a:pPr>
              <a:lnSpc>
                <a:spcPts val="3300"/>
              </a:lnSpc>
              <a:tabLst>
                <a:tab pos="520700" algn="l"/>
              </a:tabLst>
              <a:defRPr sz="2800">
                <a:solidFill>
                  <a:srgbClr val="F38C1E"/>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4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4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4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 grpId="1"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 name="Inversion OHT 2.png"/>
          <p:cNvPicPr>
            <a:picLocks noChangeAspect="1"/>
          </p:cNvPicPr>
          <p:nvPr/>
        </p:nvPicPr>
        <p:blipFill>
          <a:blip r:embed="rId2">
            <a:extLst/>
          </a:blip>
          <a:stretch>
            <a:fillRect/>
          </a:stretch>
        </p:blipFill>
        <p:spPr>
          <a:xfrm>
            <a:off x="10814556" y="1570327"/>
            <a:ext cx="592621" cy="6886657"/>
          </a:xfrm>
          <a:prstGeom prst="rect">
            <a:avLst/>
          </a:prstGeom>
          <a:ln w="12700">
            <a:miter lim="400000"/>
          </a:ln>
        </p:spPr>
      </p:pic>
      <p:pic>
        <p:nvPicPr>
          <p:cNvPr id="553" name="Deletion OHT 3.png"/>
          <p:cNvPicPr>
            <a:picLocks noChangeAspect="1"/>
          </p:cNvPicPr>
          <p:nvPr/>
        </p:nvPicPr>
        <p:blipFill>
          <a:blip r:embed="rId3">
            <a:extLst/>
          </a:blip>
          <a:stretch>
            <a:fillRect/>
          </a:stretch>
        </p:blipFill>
        <p:spPr>
          <a:xfrm>
            <a:off x="9463047" y="2420799"/>
            <a:ext cx="623924" cy="1638393"/>
          </a:xfrm>
          <a:prstGeom prst="rect">
            <a:avLst/>
          </a:prstGeom>
          <a:ln w="12700">
            <a:miter lim="400000"/>
          </a:ln>
        </p:spPr>
      </p:pic>
      <p:pic>
        <p:nvPicPr>
          <p:cNvPr id="554" name="Deletion OHT 2.png"/>
          <p:cNvPicPr>
            <a:picLocks noChangeAspect="1"/>
          </p:cNvPicPr>
          <p:nvPr/>
        </p:nvPicPr>
        <p:blipFill>
          <a:blip r:embed="rId4">
            <a:extLst/>
          </a:blip>
          <a:stretch>
            <a:fillRect/>
          </a:stretch>
        </p:blipFill>
        <p:spPr>
          <a:xfrm>
            <a:off x="8173609" y="1539293"/>
            <a:ext cx="614309" cy="7019992"/>
          </a:xfrm>
          <a:prstGeom prst="rect">
            <a:avLst/>
          </a:prstGeom>
          <a:ln w="12700">
            <a:miter lim="400000"/>
          </a:ln>
        </p:spPr>
      </p:pic>
      <p:pic>
        <p:nvPicPr>
          <p:cNvPr id="555" name="Deletion OHT 1.png"/>
          <p:cNvPicPr>
            <a:picLocks noChangeAspect="1"/>
          </p:cNvPicPr>
          <p:nvPr/>
        </p:nvPicPr>
        <p:blipFill>
          <a:blip r:embed="rId5">
            <a:extLst/>
          </a:blip>
          <a:stretch>
            <a:fillRect/>
          </a:stretch>
        </p:blipFill>
        <p:spPr>
          <a:xfrm>
            <a:off x="6263613" y="1509713"/>
            <a:ext cx="616074" cy="7049572"/>
          </a:xfrm>
          <a:prstGeom prst="rect">
            <a:avLst/>
          </a:prstGeom>
          <a:ln w="12700">
            <a:miter lim="400000"/>
          </a:ln>
        </p:spPr>
      </p:pic>
      <p:sp>
        <p:nvSpPr>
          <p:cNvPr id="556" name="Shape 556"/>
          <p:cNvSpPr>
            <a:spLocks noGrp="1"/>
          </p:cNvSpPr>
          <p:nvPr>
            <p:ph type="title"/>
          </p:nvPr>
        </p:nvSpPr>
        <p:spPr>
          <a:prstGeom prst="rect">
            <a:avLst/>
          </a:prstGeom>
        </p:spPr>
        <p:txBody>
          <a:bodyPr/>
          <a:lstStyle>
            <a:lvl1pPr>
              <a:tabLst>
                <a:tab pos="952500" algn="l"/>
              </a:tabLst>
            </a:lvl1pPr>
          </a:lstStyle>
          <a:p>
            <a:r>
              <a:t>Block Mutations: Inversion</a:t>
            </a:r>
          </a:p>
        </p:txBody>
      </p:sp>
      <p:sp>
        <p:nvSpPr>
          <p:cNvPr id="557" name="Shape 557"/>
          <p:cNvSpPr>
            <a:spLocks noGrp="1"/>
          </p:cNvSpPr>
          <p:nvPr>
            <p:ph type="body" sz="quarter" idx="1"/>
          </p:nvPr>
        </p:nvSpPr>
        <p:spPr>
          <a:xfrm>
            <a:off x="368300" y="1790700"/>
            <a:ext cx="3842247" cy="2976960"/>
          </a:xfrm>
          <a:prstGeom prst="rect">
            <a:avLst/>
          </a:prstGeom>
        </p:spPr>
        <p:txBody>
          <a:bodyPr/>
          <a:lstStyle/>
          <a:p>
            <a:pPr>
              <a:tabLst>
                <a:tab pos="1016000" algn="l"/>
              </a:tabLst>
            </a:pPr>
            <a:r>
              <a:t>The middle piece of the chromosome falls out, rotates through 180°, and then rejoins.</a:t>
            </a:r>
          </a:p>
          <a:p>
            <a:pPr>
              <a:tabLst>
                <a:tab pos="1016000" algn="l"/>
              </a:tabLst>
            </a:pPr>
            <a:r>
              <a:t>There is no loss of genetic material.</a:t>
            </a:r>
          </a:p>
        </p:txBody>
      </p:sp>
      <p:sp>
        <p:nvSpPr>
          <p:cNvPr id="558" name="Shape 558"/>
          <p:cNvSpPr/>
          <p:nvPr/>
        </p:nvSpPr>
        <p:spPr>
          <a:xfrm>
            <a:off x="4854483" y="23114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559" name="Shape 559"/>
          <p:cNvSpPr/>
          <p:nvPr/>
        </p:nvSpPr>
        <p:spPr>
          <a:xfrm>
            <a:off x="4854483" y="38354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560" name="Shape 560"/>
          <p:cNvSpPr/>
          <p:nvPr/>
        </p:nvSpPr>
        <p:spPr>
          <a:xfrm>
            <a:off x="4949697" y="6959600"/>
            <a:ext cx="912777"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Genes</a:t>
            </a:r>
          </a:p>
        </p:txBody>
      </p:sp>
      <p:sp>
        <p:nvSpPr>
          <p:cNvPr id="561" name="Shape 561"/>
          <p:cNvSpPr/>
          <p:nvPr/>
        </p:nvSpPr>
        <p:spPr>
          <a:xfrm>
            <a:off x="8909266" y="4152900"/>
            <a:ext cx="1568067" cy="635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Segment</a:t>
            </a:r>
            <a:br/>
            <a:r>
              <a:t>rotates 180°</a:t>
            </a:r>
          </a:p>
        </p:txBody>
      </p:sp>
      <p:sp>
        <p:nvSpPr>
          <p:cNvPr id="562" name="Shape 562"/>
          <p:cNvSpPr/>
          <p:nvPr/>
        </p:nvSpPr>
        <p:spPr>
          <a:xfrm>
            <a:off x="6034535"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Step 1</a:t>
            </a:r>
          </a:p>
        </p:txBody>
      </p:sp>
      <p:sp>
        <p:nvSpPr>
          <p:cNvPr id="563" name="Shape 563"/>
          <p:cNvSpPr/>
          <p:nvPr/>
        </p:nvSpPr>
        <p:spPr>
          <a:xfrm>
            <a:off x="8498335"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Step 2</a:t>
            </a:r>
          </a:p>
        </p:txBody>
      </p:sp>
      <p:sp>
        <p:nvSpPr>
          <p:cNvPr id="564" name="Shape 564"/>
          <p:cNvSpPr/>
          <p:nvPr/>
        </p:nvSpPr>
        <p:spPr>
          <a:xfrm>
            <a:off x="10568435" y="8636000"/>
            <a:ext cx="104169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Step 3</a:t>
            </a:r>
          </a:p>
        </p:txBody>
      </p:sp>
      <p:sp>
        <p:nvSpPr>
          <p:cNvPr id="565" name="Shape 565"/>
          <p:cNvSpPr/>
          <p:nvPr/>
        </p:nvSpPr>
        <p:spPr>
          <a:xfrm>
            <a:off x="11458411" y="2895600"/>
            <a:ext cx="1357450" cy="635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a:solidFill>
                  <a:srgbClr val="006795"/>
                </a:solidFill>
              </a:defRPr>
            </a:pPr>
            <a:r>
              <a:t>Segment</a:t>
            </a:r>
            <a:br/>
            <a:r>
              <a:t>rejoins</a:t>
            </a:r>
          </a:p>
        </p:txBody>
      </p:sp>
      <p:sp>
        <p:nvSpPr>
          <p:cNvPr id="566" name="Shape 566"/>
          <p:cNvSpPr/>
          <p:nvPr/>
        </p:nvSpPr>
        <p:spPr>
          <a:xfrm flipH="1" flipV="1">
            <a:off x="5791200" y="2438400"/>
            <a:ext cx="541867" cy="127"/>
          </a:xfrm>
          <a:prstGeom prst="line">
            <a:avLst/>
          </a:prstGeom>
          <a:ln w="508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67" name="Shape 567"/>
          <p:cNvSpPr/>
          <p:nvPr/>
        </p:nvSpPr>
        <p:spPr>
          <a:xfrm flipH="1" flipV="1">
            <a:off x="5791200" y="3962400"/>
            <a:ext cx="541867" cy="127"/>
          </a:xfrm>
          <a:prstGeom prst="line">
            <a:avLst/>
          </a:prstGeom>
          <a:ln w="508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68" name="Shape 568"/>
          <p:cNvSpPr/>
          <p:nvPr/>
        </p:nvSpPr>
        <p:spPr>
          <a:xfrm flipH="1">
            <a:off x="5943600" y="6536266"/>
            <a:ext cx="457200" cy="59266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69" name="Shape 569"/>
          <p:cNvSpPr/>
          <p:nvPr/>
        </p:nvSpPr>
        <p:spPr>
          <a:xfrm flipH="1">
            <a:off x="5943600" y="6891866"/>
            <a:ext cx="491067" cy="254001"/>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0" name="Shape 570"/>
          <p:cNvSpPr/>
          <p:nvPr/>
        </p:nvSpPr>
        <p:spPr>
          <a:xfrm flipH="1" flipV="1">
            <a:off x="5960533" y="7145866"/>
            <a:ext cx="440267" cy="13546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1" name="Shape 571"/>
          <p:cNvSpPr/>
          <p:nvPr/>
        </p:nvSpPr>
        <p:spPr>
          <a:xfrm flipH="1" flipV="1">
            <a:off x="5943600" y="7128933"/>
            <a:ext cx="440267" cy="508001"/>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2" name="Shape 572"/>
          <p:cNvSpPr/>
          <p:nvPr/>
        </p:nvSpPr>
        <p:spPr>
          <a:xfrm>
            <a:off x="11358880" y="2476500"/>
            <a:ext cx="845821" cy="41486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ln w="50800">
            <a:solidFill>
              <a:srgbClr val="F38C1E"/>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3" name="Shape 573"/>
          <p:cNvSpPr/>
          <p:nvPr/>
        </p:nvSpPr>
        <p:spPr>
          <a:xfrm rot="10800000" flipH="1">
            <a:off x="11358880" y="3556000"/>
            <a:ext cx="845821" cy="41486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ln w="50800">
            <a:solidFill>
              <a:srgbClr val="F38C1E"/>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4" name="Shape 574"/>
          <p:cNvSpPr/>
          <p:nvPr/>
        </p:nvSpPr>
        <p:spPr>
          <a:xfrm>
            <a:off x="8911990" y="2522912"/>
            <a:ext cx="438666" cy="1439489"/>
          </a:xfrm>
          <a:custGeom>
            <a:avLst/>
            <a:gdLst/>
            <a:ahLst/>
            <a:cxnLst>
              <a:cxn ang="0">
                <a:pos x="wd2" y="hd2"/>
              </a:cxn>
              <a:cxn ang="5400000">
                <a:pos x="wd2" y="hd2"/>
              </a:cxn>
              <a:cxn ang="10800000">
                <a:pos x="wd2" y="hd2"/>
              </a:cxn>
              <a:cxn ang="16200000">
                <a:pos x="wd2" y="hd2"/>
              </a:cxn>
            </a:cxnLst>
            <a:rect l="0" t="0" r="r" b="b"/>
            <a:pathLst>
              <a:path w="14647" h="21600" extrusionOk="0">
                <a:moveTo>
                  <a:pt x="14647" y="0"/>
                </a:moveTo>
                <a:lnTo>
                  <a:pt x="9867" y="1972"/>
                </a:lnTo>
                <a:cubicBezTo>
                  <a:pt x="-6953" y="8641"/>
                  <a:pt x="-168" y="19059"/>
                  <a:pt x="14532" y="21600"/>
                </a:cubicBezTo>
              </a:path>
            </a:pathLst>
          </a:custGeom>
          <a:ln w="635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5" name="Shape 575"/>
          <p:cNvSpPr/>
          <p:nvPr/>
        </p:nvSpPr>
        <p:spPr>
          <a:xfrm rot="10800000">
            <a:off x="10258190" y="2421312"/>
            <a:ext cx="438666" cy="1439489"/>
          </a:xfrm>
          <a:custGeom>
            <a:avLst/>
            <a:gdLst/>
            <a:ahLst/>
            <a:cxnLst>
              <a:cxn ang="0">
                <a:pos x="wd2" y="hd2"/>
              </a:cxn>
              <a:cxn ang="5400000">
                <a:pos x="wd2" y="hd2"/>
              </a:cxn>
              <a:cxn ang="10800000">
                <a:pos x="wd2" y="hd2"/>
              </a:cxn>
              <a:cxn ang="16200000">
                <a:pos x="wd2" y="hd2"/>
              </a:cxn>
            </a:cxnLst>
            <a:rect l="0" t="0" r="r" b="b"/>
            <a:pathLst>
              <a:path w="14647" h="21600" extrusionOk="0">
                <a:moveTo>
                  <a:pt x="14647" y="0"/>
                </a:moveTo>
                <a:lnTo>
                  <a:pt x="9867" y="1972"/>
                </a:lnTo>
                <a:cubicBezTo>
                  <a:pt x="-6953" y="8641"/>
                  <a:pt x="-168" y="19059"/>
                  <a:pt x="14532" y="21600"/>
                </a:cubicBezTo>
              </a:path>
            </a:pathLst>
          </a:custGeom>
          <a:ln w="635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5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5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5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 grpId="1"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7" name="Inversion Example OHT 2.png"/>
          <p:cNvPicPr>
            <a:picLocks noChangeAspect="1"/>
          </p:cNvPicPr>
          <p:nvPr/>
        </p:nvPicPr>
        <p:blipFill>
          <a:blip r:embed="rId2">
            <a:extLst/>
          </a:blip>
          <a:stretch>
            <a:fillRect/>
          </a:stretch>
        </p:blipFill>
        <p:spPr>
          <a:xfrm>
            <a:off x="9874404" y="2185127"/>
            <a:ext cx="590612" cy="6543463"/>
          </a:xfrm>
          <a:prstGeom prst="rect">
            <a:avLst/>
          </a:prstGeom>
          <a:ln w="12700">
            <a:miter lim="400000"/>
          </a:ln>
        </p:spPr>
      </p:pic>
      <p:pic>
        <p:nvPicPr>
          <p:cNvPr id="578" name="Inversion Example OHT 1.png"/>
          <p:cNvPicPr>
            <a:picLocks noChangeAspect="1"/>
          </p:cNvPicPr>
          <p:nvPr/>
        </p:nvPicPr>
        <p:blipFill>
          <a:blip r:embed="rId3">
            <a:extLst/>
          </a:blip>
          <a:stretch>
            <a:fillRect/>
          </a:stretch>
        </p:blipFill>
        <p:spPr>
          <a:xfrm>
            <a:off x="7294977" y="2202194"/>
            <a:ext cx="596263" cy="6546196"/>
          </a:xfrm>
          <a:prstGeom prst="rect">
            <a:avLst/>
          </a:prstGeom>
          <a:ln w="12700">
            <a:miter lim="400000"/>
          </a:ln>
        </p:spPr>
      </p:pic>
      <p:sp>
        <p:nvSpPr>
          <p:cNvPr id="579" name="Shape 579"/>
          <p:cNvSpPr/>
          <p:nvPr/>
        </p:nvSpPr>
        <p:spPr>
          <a:xfrm rot="10800000" flipH="1">
            <a:off x="7857069" y="2935323"/>
            <a:ext cx="1955254" cy="98897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455" y="149"/>
                </a:lnTo>
                <a:cubicBezTo>
                  <a:pt x="8044" y="519"/>
                  <a:pt x="12907" y="21230"/>
                  <a:pt x="0" y="21600"/>
                </a:cubicBezTo>
              </a:path>
            </a:pathLst>
          </a:custGeom>
          <a:ln w="635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80" name="Shape 580"/>
          <p:cNvSpPr>
            <a:spLocks noGrp="1"/>
          </p:cNvSpPr>
          <p:nvPr>
            <p:ph type="title"/>
          </p:nvPr>
        </p:nvSpPr>
        <p:spPr>
          <a:prstGeom prst="rect">
            <a:avLst/>
          </a:prstGeom>
        </p:spPr>
        <p:txBody>
          <a:bodyPr/>
          <a:lstStyle>
            <a:lvl1pPr>
              <a:tabLst>
                <a:tab pos="952500" algn="l"/>
              </a:tabLst>
            </a:lvl1pPr>
          </a:lstStyle>
          <a:p>
            <a:r>
              <a:t>Inversion Example</a:t>
            </a:r>
          </a:p>
        </p:txBody>
      </p:sp>
      <p:sp>
        <p:nvSpPr>
          <p:cNvPr id="581" name="Shape 581"/>
          <p:cNvSpPr>
            <a:spLocks noGrp="1"/>
          </p:cNvSpPr>
          <p:nvPr>
            <p:ph type="body" sz="half" idx="1"/>
          </p:nvPr>
        </p:nvSpPr>
        <p:spPr>
          <a:xfrm>
            <a:off x="368300" y="1790700"/>
            <a:ext cx="5171629" cy="7543800"/>
          </a:xfrm>
          <a:prstGeom prst="rect">
            <a:avLst/>
          </a:prstGeom>
        </p:spPr>
        <p:txBody>
          <a:bodyPr/>
          <a:lstStyle/>
          <a:p>
            <a:pPr>
              <a:tabLst>
                <a:tab pos="1016000" algn="l"/>
              </a:tabLst>
            </a:pPr>
            <a:r>
              <a:t>A segment of human chromosome 2 is inverted (caused by looping of the chromosome)</a:t>
            </a:r>
          </a:p>
          <a:p>
            <a:pPr>
              <a:tabLst>
                <a:tab pos="1016000" algn="l"/>
              </a:tabLst>
            </a:pPr>
            <a:r>
              <a:t>All inversions cause abnormalities during meiosis and affect the viability of the gametes produced.</a:t>
            </a:r>
          </a:p>
          <a:p>
            <a:pPr>
              <a:tabLst>
                <a:tab pos="1016000" algn="l"/>
              </a:tabLst>
            </a:pPr>
            <a:r>
              <a:t>However, if a combination of genes within an inversion is desirable, they can act as a supergene and can confer a selective advantage.</a:t>
            </a:r>
          </a:p>
        </p:txBody>
      </p:sp>
      <p:sp>
        <p:nvSpPr>
          <p:cNvPr id="582" name="Shape 582"/>
          <p:cNvSpPr/>
          <p:nvPr/>
        </p:nvSpPr>
        <p:spPr>
          <a:xfrm>
            <a:off x="6904497" y="1765300"/>
            <a:ext cx="1177133"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Normal</a:t>
            </a:r>
          </a:p>
        </p:txBody>
      </p:sp>
      <p:sp>
        <p:nvSpPr>
          <p:cNvPr id="583" name="Shape 583"/>
          <p:cNvSpPr/>
          <p:nvPr/>
        </p:nvSpPr>
        <p:spPr>
          <a:xfrm>
            <a:off x="9336651" y="1765300"/>
            <a:ext cx="1482081"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Inversion</a:t>
            </a:r>
          </a:p>
        </p:txBody>
      </p:sp>
      <p:sp>
        <p:nvSpPr>
          <p:cNvPr id="584" name="Shape 584"/>
          <p:cNvSpPr/>
          <p:nvPr/>
        </p:nvSpPr>
        <p:spPr>
          <a:xfrm>
            <a:off x="9184178" y="3314700"/>
            <a:ext cx="536279" cy="3048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201B17"/>
                </a:solidFill>
                <a:latin typeface="Helvetica"/>
                <a:ea typeface="Helvetica"/>
                <a:cs typeface="Helvetica"/>
                <a:sym typeface="Helvetica"/>
              </a:defRPr>
            </a:lvl1pPr>
          </a:lstStyle>
          <a:p>
            <a:pPr>
              <a:defRPr>
                <a:solidFill>
                  <a:srgbClr val="483F36"/>
                </a:solidFill>
                <a:latin typeface="Hoefler Text"/>
                <a:ea typeface="Hoefler Text"/>
                <a:cs typeface="Hoefler Text"/>
                <a:sym typeface="Hoefler Text"/>
              </a:defRPr>
            </a:pPr>
            <a:r>
              <a:rPr>
                <a:solidFill>
                  <a:srgbClr val="201B17"/>
                </a:solidFill>
                <a:latin typeface="Helvetica"/>
                <a:ea typeface="Helvetica"/>
                <a:cs typeface="Helvetica"/>
                <a:sym typeface="Helvetica"/>
              </a:rPr>
              <a:t>Flip</a:t>
            </a:r>
          </a:p>
        </p:txBody>
      </p:sp>
      <p:sp>
        <p:nvSpPr>
          <p:cNvPr id="585" name="Shape 585"/>
          <p:cNvSpPr/>
          <p:nvPr/>
        </p:nvSpPr>
        <p:spPr>
          <a:xfrm>
            <a:off x="9970951" y="8877300"/>
            <a:ext cx="381273"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2</a:t>
            </a:r>
          </a:p>
        </p:txBody>
      </p:sp>
      <p:sp>
        <p:nvSpPr>
          <p:cNvPr id="586" name="Shape 586"/>
          <p:cNvSpPr/>
          <p:nvPr/>
        </p:nvSpPr>
        <p:spPr>
          <a:xfrm>
            <a:off x="7405551" y="8877300"/>
            <a:ext cx="381273"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4600"/>
              </a:lnSpc>
              <a:tabLst>
                <a:tab pos="520700" algn="l"/>
              </a:tabLst>
              <a:defRPr sz="3600" b="1">
                <a:solidFill>
                  <a:srgbClr val="201B17"/>
                </a:solidFill>
              </a:defRPr>
            </a:lvl1pPr>
          </a:lstStyle>
          <a:p>
            <a:pPr>
              <a:defRPr>
                <a:solidFill>
                  <a:srgbClr val="483F36"/>
                </a:solidFill>
              </a:defRPr>
            </a:pPr>
            <a:r>
              <a:rPr>
                <a:solidFill>
                  <a:srgbClr val="201B17"/>
                </a:solidFill>
              </a:rPr>
              <a:t>2</a:t>
            </a:r>
          </a:p>
        </p:txBody>
      </p:sp>
      <p:sp>
        <p:nvSpPr>
          <p:cNvPr id="587" name="Shape 587"/>
          <p:cNvSpPr/>
          <p:nvPr/>
        </p:nvSpPr>
        <p:spPr>
          <a:xfrm>
            <a:off x="7349066" y="2777066"/>
            <a:ext cx="2556934" cy="16935"/>
          </a:xfrm>
          <a:prstGeom prst="line">
            <a:avLst/>
          </a:prstGeom>
          <a:ln w="25400">
            <a:solidFill>
              <a:srgbClr val="000000"/>
            </a:solidFill>
            <a:prstDash val="sysDot"/>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8" name="Shape 588"/>
          <p:cNvSpPr/>
          <p:nvPr/>
        </p:nvSpPr>
        <p:spPr>
          <a:xfrm>
            <a:off x="7349066" y="4085166"/>
            <a:ext cx="2556934" cy="16935"/>
          </a:xfrm>
          <a:prstGeom prst="line">
            <a:avLst/>
          </a:prstGeom>
          <a:ln w="25400">
            <a:solidFill>
              <a:srgbClr val="000000"/>
            </a:solidFill>
            <a:prstDash val="sysDot"/>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9" name="Shape 589"/>
          <p:cNvSpPr/>
          <p:nvPr/>
        </p:nvSpPr>
        <p:spPr>
          <a:xfrm>
            <a:off x="7857069" y="2935323"/>
            <a:ext cx="1955254" cy="98897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455" y="149"/>
                </a:lnTo>
                <a:cubicBezTo>
                  <a:pt x="8044" y="519"/>
                  <a:pt x="12907" y="21230"/>
                  <a:pt x="0" y="21600"/>
                </a:cubicBezTo>
              </a:path>
            </a:pathLst>
          </a:custGeom>
          <a:ln w="635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8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8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8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8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 grpId="1" build="p" bldLvl="5"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1" name="Duplication OHT 6.png"/>
          <p:cNvPicPr>
            <a:picLocks noChangeAspect="1"/>
          </p:cNvPicPr>
          <p:nvPr/>
        </p:nvPicPr>
        <p:blipFill>
          <a:blip r:embed="rId2">
            <a:extLst/>
          </a:blip>
          <a:stretch>
            <a:fillRect/>
          </a:stretch>
        </p:blipFill>
        <p:spPr>
          <a:xfrm>
            <a:off x="12063579" y="2143665"/>
            <a:ext cx="512148" cy="5821275"/>
          </a:xfrm>
          <a:prstGeom prst="rect">
            <a:avLst/>
          </a:prstGeom>
          <a:ln w="12700">
            <a:miter lim="400000"/>
          </a:ln>
        </p:spPr>
      </p:pic>
      <p:pic>
        <p:nvPicPr>
          <p:cNvPr id="592" name="Duplication OHT 5.png"/>
          <p:cNvPicPr>
            <a:picLocks noChangeAspect="1"/>
          </p:cNvPicPr>
          <p:nvPr/>
        </p:nvPicPr>
        <p:blipFill>
          <a:blip r:embed="rId3">
            <a:extLst/>
          </a:blip>
          <a:stretch>
            <a:fillRect/>
          </a:stretch>
        </p:blipFill>
        <p:spPr>
          <a:xfrm>
            <a:off x="11442937" y="5275826"/>
            <a:ext cx="526172" cy="2662506"/>
          </a:xfrm>
          <a:prstGeom prst="rect">
            <a:avLst/>
          </a:prstGeom>
          <a:ln w="12700">
            <a:miter lim="400000"/>
          </a:ln>
        </p:spPr>
      </p:pic>
      <p:pic>
        <p:nvPicPr>
          <p:cNvPr id="593" name="Duplication OHT 2-2.png"/>
          <p:cNvPicPr>
            <a:picLocks noChangeAspect="1"/>
          </p:cNvPicPr>
          <p:nvPr/>
        </p:nvPicPr>
        <p:blipFill>
          <a:blip r:embed="rId4">
            <a:extLst/>
          </a:blip>
          <a:stretch>
            <a:fillRect/>
          </a:stretch>
        </p:blipFill>
        <p:spPr>
          <a:xfrm>
            <a:off x="9640372" y="3643962"/>
            <a:ext cx="512720" cy="4242652"/>
          </a:xfrm>
          <a:prstGeom prst="rect">
            <a:avLst/>
          </a:prstGeom>
          <a:ln w="12700">
            <a:miter lim="400000"/>
          </a:ln>
        </p:spPr>
      </p:pic>
      <p:pic>
        <p:nvPicPr>
          <p:cNvPr id="594" name="Duplication OHT 4.png"/>
          <p:cNvPicPr>
            <a:picLocks noChangeAspect="1"/>
          </p:cNvPicPr>
          <p:nvPr/>
        </p:nvPicPr>
        <p:blipFill>
          <a:blip r:embed="rId5">
            <a:extLst/>
          </a:blip>
          <a:stretch>
            <a:fillRect/>
          </a:stretch>
        </p:blipFill>
        <p:spPr>
          <a:xfrm>
            <a:off x="9655849" y="1904074"/>
            <a:ext cx="512294" cy="1759786"/>
          </a:xfrm>
          <a:prstGeom prst="rect">
            <a:avLst/>
          </a:prstGeom>
          <a:ln w="12700">
            <a:miter lim="400000"/>
          </a:ln>
        </p:spPr>
      </p:pic>
      <p:pic>
        <p:nvPicPr>
          <p:cNvPr id="595" name="Duplication OHT 3.png"/>
          <p:cNvPicPr>
            <a:picLocks noChangeAspect="1"/>
          </p:cNvPicPr>
          <p:nvPr/>
        </p:nvPicPr>
        <p:blipFill>
          <a:blip r:embed="rId6">
            <a:extLst/>
          </a:blip>
          <a:stretch>
            <a:fillRect/>
          </a:stretch>
        </p:blipFill>
        <p:spPr>
          <a:xfrm>
            <a:off x="9046770" y="3612906"/>
            <a:ext cx="527459" cy="4270461"/>
          </a:xfrm>
          <a:prstGeom prst="rect">
            <a:avLst/>
          </a:prstGeom>
          <a:ln w="12700">
            <a:miter lim="400000"/>
          </a:ln>
        </p:spPr>
      </p:pic>
      <p:pic>
        <p:nvPicPr>
          <p:cNvPr id="596" name="Duplication OHT 1.png"/>
          <p:cNvPicPr>
            <a:picLocks noChangeAspect="1"/>
          </p:cNvPicPr>
          <p:nvPr/>
        </p:nvPicPr>
        <p:blipFill>
          <a:blip r:embed="rId7">
            <a:extLst/>
          </a:blip>
          <a:stretch>
            <a:fillRect/>
          </a:stretch>
        </p:blipFill>
        <p:spPr>
          <a:xfrm>
            <a:off x="6828218" y="3627299"/>
            <a:ext cx="515644" cy="4266843"/>
          </a:xfrm>
          <a:prstGeom prst="rect">
            <a:avLst/>
          </a:prstGeom>
          <a:ln w="12700">
            <a:miter lim="400000"/>
          </a:ln>
        </p:spPr>
      </p:pic>
      <p:pic>
        <p:nvPicPr>
          <p:cNvPr id="597" name="Duplication OHT 2-2.png"/>
          <p:cNvPicPr>
            <a:picLocks noChangeAspect="1"/>
          </p:cNvPicPr>
          <p:nvPr/>
        </p:nvPicPr>
        <p:blipFill>
          <a:blip r:embed="rId4">
            <a:extLst/>
          </a:blip>
          <a:stretch>
            <a:fillRect/>
          </a:stretch>
        </p:blipFill>
        <p:spPr>
          <a:xfrm>
            <a:off x="7420736" y="3597662"/>
            <a:ext cx="518392" cy="4289592"/>
          </a:xfrm>
          <a:prstGeom prst="rect">
            <a:avLst/>
          </a:prstGeom>
          <a:ln w="12700">
            <a:miter lim="400000"/>
          </a:ln>
        </p:spPr>
      </p:pic>
      <p:sp>
        <p:nvSpPr>
          <p:cNvPr id="598" name="Shape 598"/>
          <p:cNvSpPr/>
          <p:nvPr/>
        </p:nvSpPr>
        <p:spPr>
          <a:xfrm rot="10800000">
            <a:off x="10277735" y="3324927"/>
            <a:ext cx="769518" cy="349607"/>
          </a:xfrm>
          <a:custGeom>
            <a:avLst/>
            <a:gdLst/>
            <a:ahLst/>
            <a:cxnLst>
              <a:cxn ang="0">
                <a:pos x="wd2" y="hd2"/>
              </a:cxn>
              <a:cxn ang="5400000">
                <a:pos x="wd2" y="hd2"/>
              </a:cxn>
              <a:cxn ang="10800000">
                <a:pos x="wd2" y="hd2"/>
              </a:cxn>
              <a:cxn ang="16200000">
                <a:pos x="wd2" y="hd2"/>
              </a:cxn>
            </a:cxnLst>
            <a:rect l="0" t="0" r="r" b="b"/>
            <a:pathLst>
              <a:path w="21156" h="21600" extrusionOk="0">
                <a:moveTo>
                  <a:pt x="21156" y="0"/>
                </a:moveTo>
                <a:lnTo>
                  <a:pt x="17712" y="676"/>
                </a:lnTo>
                <a:cubicBezTo>
                  <a:pt x="6539" y="2768"/>
                  <a:pt x="-444" y="9046"/>
                  <a:pt x="22" y="21600"/>
                </a:cubicBezTo>
              </a:path>
            </a:pathLst>
          </a:custGeom>
          <a:ln w="381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99" name="Shape 599"/>
          <p:cNvSpPr/>
          <p:nvPr/>
        </p:nvSpPr>
        <p:spPr>
          <a:xfrm>
            <a:off x="8727159" y="2622950"/>
            <a:ext cx="751529" cy="1644250"/>
          </a:xfrm>
          <a:custGeom>
            <a:avLst/>
            <a:gdLst/>
            <a:ahLst/>
            <a:cxnLst>
              <a:cxn ang="0">
                <a:pos x="wd2" y="hd2"/>
              </a:cxn>
              <a:cxn ang="5400000">
                <a:pos x="wd2" y="hd2"/>
              </a:cxn>
              <a:cxn ang="10800000">
                <a:pos x="wd2" y="hd2"/>
              </a:cxn>
              <a:cxn ang="16200000">
                <a:pos x="wd2" y="hd2"/>
              </a:cxn>
            </a:cxnLst>
            <a:rect l="0" t="0" r="r" b="b"/>
            <a:pathLst>
              <a:path w="17191" h="21600" extrusionOk="0">
                <a:moveTo>
                  <a:pt x="17191" y="0"/>
                </a:moveTo>
                <a:lnTo>
                  <a:pt x="13312" y="1246"/>
                </a:lnTo>
                <a:cubicBezTo>
                  <a:pt x="-3247" y="6362"/>
                  <a:pt x="-4409" y="16706"/>
                  <a:pt x="10116" y="21600"/>
                </a:cubicBezTo>
              </a:path>
            </a:pathLst>
          </a:custGeom>
          <a:ln w="63500">
            <a:solidFill>
              <a:srgbClr val="F38C1E"/>
            </a:solidFill>
            <a:miter lim="400000"/>
            <a:head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00" name="Shape 600"/>
          <p:cNvSpPr>
            <a:spLocks noGrp="1"/>
          </p:cNvSpPr>
          <p:nvPr>
            <p:ph type="title"/>
          </p:nvPr>
        </p:nvSpPr>
        <p:spPr>
          <a:prstGeom prst="rect">
            <a:avLst/>
          </a:prstGeom>
        </p:spPr>
        <p:txBody>
          <a:bodyPr/>
          <a:lstStyle>
            <a:lvl1pPr>
              <a:tabLst>
                <a:tab pos="952500" algn="l"/>
              </a:tabLst>
            </a:lvl1pPr>
          </a:lstStyle>
          <a:p>
            <a:r>
              <a:t>Block Mutations: Duplication</a:t>
            </a:r>
          </a:p>
        </p:txBody>
      </p:sp>
      <p:sp>
        <p:nvSpPr>
          <p:cNvPr id="601" name="Shape 601"/>
          <p:cNvSpPr>
            <a:spLocks noGrp="1"/>
          </p:cNvSpPr>
          <p:nvPr>
            <p:ph type="body" sz="half" idx="1"/>
          </p:nvPr>
        </p:nvSpPr>
        <p:spPr>
          <a:xfrm>
            <a:off x="368300" y="1790700"/>
            <a:ext cx="4650433" cy="7543800"/>
          </a:xfrm>
          <a:prstGeom prst="rect">
            <a:avLst/>
          </a:prstGeom>
        </p:spPr>
        <p:txBody>
          <a:bodyPr/>
          <a:lstStyle/>
          <a:p>
            <a:pPr>
              <a:tabLst>
                <a:tab pos="1016000" algn="l"/>
              </a:tabLst>
            </a:pPr>
            <a:r>
              <a:t>A segment is lost from one chromosome and is added to its homologue.</a:t>
            </a:r>
          </a:p>
          <a:p>
            <a:pPr lvl="1">
              <a:tabLst>
                <a:tab pos="1485900" algn="l"/>
              </a:tabLst>
            </a:pPr>
            <a:r>
              <a:t>The chromosome on the left was the 'donor' of the duplicated piece of chromosome.</a:t>
            </a:r>
          </a:p>
          <a:p>
            <a:pPr lvl="1">
              <a:tabLst>
                <a:tab pos="1485900" algn="l"/>
              </a:tabLst>
            </a:pPr>
            <a:r>
              <a:t>The chromosome with the duplication will become incorporated into a gamete, which may later contribute to an embryo.</a:t>
            </a:r>
          </a:p>
        </p:txBody>
      </p:sp>
      <p:sp>
        <p:nvSpPr>
          <p:cNvPr id="602" name="Shape 602"/>
          <p:cNvSpPr/>
          <p:nvPr/>
        </p:nvSpPr>
        <p:spPr>
          <a:xfrm>
            <a:off x="10182612" y="2298700"/>
            <a:ext cx="1668470" cy="901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Joins on to</a:t>
            </a:r>
          </a:p>
          <a:p>
            <a:pPr algn="ctr">
              <a:lnSpc>
                <a:spcPts val="24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homologous</a:t>
            </a:r>
          </a:p>
          <a:p>
            <a:pPr algn="ctr">
              <a:lnSpc>
                <a:spcPts val="2400"/>
              </a:lnSpc>
              <a:tabLst>
                <a:tab pos="520700" algn="l"/>
              </a:tabLst>
              <a:defRPr sz="2000">
                <a:solidFill>
                  <a:srgbClr val="006795"/>
                </a:solidFill>
                <a:latin typeface="Hoefler Text"/>
                <a:ea typeface="Hoefler Text"/>
                <a:cs typeface="Hoefler Text"/>
                <a:sym typeface="Hoefler Text"/>
              </a:defRPr>
            </a:pPr>
            <a:r>
              <a:rPr>
                <a:latin typeface="+mn-lt"/>
                <a:ea typeface="+mn-ea"/>
                <a:cs typeface="+mn-cs"/>
                <a:sym typeface="Arial"/>
              </a:rPr>
              <a:t>chromosome</a:t>
            </a:r>
          </a:p>
        </p:txBody>
      </p:sp>
      <p:sp>
        <p:nvSpPr>
          <p:cNvPr id="603" name="Shape 603"/>
          <p:cNvSpPr/>
          <p:nvPr/>
        </p:nvSpPr>
        <p:spPr>
          <a:xfrm>
            <a:off x="7429844" y="2400300"/>
            <a:ext cx="1357450" cy="5969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sz="2000">
                <a:solidFill>
                  <a:srgbClr val="006795"/>
                </a:solidFill>
              </a:defRPr>
            </a:pPr>
            <a:r>
              <a:t>Segment</a:t>
            </a:r>
            <a:br/>
            <a:r>
              <a:t>removed</a:t>
            </a:r>
          </a:p>
        </p:txBody>
      </p:sp>
      <p:sp>
        <p:nvSpPr>
          <p:cNvPr id="604" name="Shape 604"/>
          <p:cNvSpPr/>
          <p:nvPr/>
        </p:nvSpPr>
        <p:spPr>
          <a:xfrm>
            <a:off x="5565162" y="5232400"/>
            <a:ext cx="823703"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Break</a:t>
            </a:r>
          </a:p>
        </p:txBody>
      </p:sp>
      <p:sp>
        <p:nvSpPr>
          <p:cNvPr id="605" name="Shape 605"/>
          <p:cNvSpPr/>
          <p:nvPr/>
        </p:nvSpPr>
        <p:spPr>
          <a:xfrm>
            <a:off x="5498458" y="6870700"/>
            <a:ext cx="912776" cy="2921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006795"/>
                </a:solidFill>
              </a:defRPr>
            </a:lvl1pPr>
          </a:lstStyle>
          <a:p>
            <a:r>
              <a:t>Genes</a:t>
            </a:r>
          </a:p>
        </p:txBody>
      </p:sp>
      <p:sp>
        <p:nvSpPr>
          <p:cNvPr id="606" name="Shape 606"/>
          <p:cNvSpPr/>
          <p:nvPr/>
        </p:nvSpPr>
        <p:spPr>
          <a:xfrm>
            <a:off x="6829352" y="80518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1</a:t>
            </a:r>
          </a:p>
        </p:txBody>
      </p:sp>
      <p:sp>
        <p:nvSpPr>
          <p:cNvPr id="607" name="Shape 607"/>
          <p:cNvSpPr/>
          <p:nvPr/>
        </p:nvSpPr>
        <p:spPr>
          <a:xfrm>
            <a:off x="9051852" y="80518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2</a:t>
            </a:r>
          </a:p>
        </p:txBody>
      </p:sp>
      <p:sp>
        <p:nvSpPr>
          <p:cNvPr id="608" name="Shape 608"/>
          <p:cNvSpPr/>
          <p:nvPr/>
        </p:nvSpPr>
        <p:spPr>
          <a:xfrm>
            <a:off x="11515652" y="8051800"/>
            <a:ext cx="1041698"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Step 3</a:t>
            </a:r>
          </a:p>
        </p:txBody>
      </p:sp>
      <p:sp>
        <p:nvSpPr>
          <p:cNvPr id="609" name="Shape 609"/>
          <p:cNvSpPr/>
          <p:nvPr/>
        </p:nvSpPr>
        <p:spPr>
          <a:xfrm flipH="1" flipV="1">
            <a:off x="6434666" y="5384800"/>
            <a:ext cx="440268" cy="16934"/>
          </a:xfrm>
          <a:prstGeom prst="line">
            <a:avLst/>
          </a:prstGeom>
          <a:ln w="381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0" name="Shape 610"/>
          <p:cNvSpPr/>
          <p:nvPr/>
        </p:nvSpPr>
        <p:spPr>
          <a:xfrm flipH="1">
            <a:off x="6548966" y="6519333"/>
            <a:ext cx="355601" cy="4910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1" name="Shape 611"/>
          <p:cNvSpPr/>
          <p:nvPr/>
        </p:nvSpPr>
        <p:spPr>
          <a:xfrm flipH="1">
            <a:off x="6532033" y="6841066"/>
            <a:ext cx="372535" cy="1778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2" name="Shape 612"/>
          <p:cNvSpPr/>
          <p:nvPr/>
        </p:nvSpPr>
        <p:spPr>
          <a:xfrm flipH="1" flipV="1">
            <a:off x="6548966" y="7010400"/>
            <a:ext cx="389467" cy="1524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3" name="Shape 613"/>
          <p:cNvSpPr/>
          <p:nvPr/>
        </p:nvSpPr>
        <p:spPr>
          <a:xfrm flipH="1" flipV="1">
            <a:off x="6548966" y="7027333"/>
            <a:ext cx="372534" cy="4741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0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0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0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1" build="p" bldLvl="5"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 name="Duplication Example OHT 2.png"/>
          <p:cNvPicPr>
            <a:picLocks noChangeAspect="1"/>
          </p:cNvPicPr>
          <p:nvPr/>
        </p:nvPicPr>
        <p:blipFill>
          <a:blip r:embed="rId2">
            <a:extLst/>
          </a:blip>
          <a:stretch>
            <a:fillRect/>
          </a:stretch>
        </p:blipFill>
        <p:spPr>
          <a:xfrm>
            <a:off x="10442374" y="2793715"/>
            <a:ext cx="611836" cy="4808572"/>
          </a:xfrm>
          <a:prstGeom prst="rect">
            <a:avLst/>
          </a:prstGeom>
          <a:ln w="12700">
            <a:miter lim="400000"/>
          </a:ln>
        </p:spPr>
      </p:pic>
      <p:pic>
        <p:nvPicPr>
          <p:cNvPr id="616" name="Duplication Example OHT 1.png"/>
          <p:cNvPicPr>
            <a:picLocks noChangeAspect="1"/>
          </p:cNvPicPr>
          <p:nvPr/>
        </p:nvPicPr>
        <p:blipFill>
          <a:blip r:embed="rId3">
            <a:extLst/>
          </a:blip>
          <a:stretch>
            <a:fillRect/>
          </a:stretch>
        </p:blipFill>
        <p:spPr>
          <a:xfrm>
            <a:off x="6773587" y="2794717"/>
            <a:ext cx="618870" cy="3972596"/>
          </a:xfrm>
          <a:prstGeom prst="rect">
            <a:avLst/>
          </a:prstGeom>
          <a:ln w="12700">
            <a:miter lim="400000"/>
          </a:ln>
        </p:spPr>
      </p:pic>
      <p:sp>
        <p:nvSpPr>
          <p:cNvPr id="617" name="Shape 617"/>
          <p:cNvSpPr>
            <a:spLocks noGrp="1"/>
          </p:cNvSpPr>
          <p:nvPr>
            <p:ph type="title"/>
          </p:nvPr>
        </p:nvSpPr>
        <p:spPr>
          <a:prstGeom prst="rect">
            <a:avLst/>
          </a:prstGeom>
        </p:spPr>
        <p:txBody>
          <a:bodyPr/>
          <a:lstStyle>
            <a:lvl1pPr>
              <a:tabLst>
                <a:tab pos="952500" algn="l"/>
              </a:tabLst>
            </a:lvl1pPr>
          </a:lstStyle>
          <a:p>
            <a:r>
              <a:t>Duplication Example</a:t>
            </a:r>
          </a:p>
        </p:txBody>
      </p:sp>
      <p:sp>
        <p:nvSpPr>
          <p:cNvPr id="618" name="Shape 618"/>
          <p:cNvSpPr>
            <a:spLocks noGrp="1"/>
          </p:cNvSpPr>
          <p:nvPr>
            <p:ph type="body" sz="quarter" idx="1"/>
          </p:nvPr>
        </p:nvSpPr>
        <p:spPr>
          <a:xfrm>
            <a:off x="368300" y="1790700"/>
            <a:ext cx="4726186" cy="4960740"/>
          </a:xfrm>
          <a:prstGeom prst="rect">
            <a:avLst/>
          </a:prstGeom>
        </p:spPr>
        <p:txBody>
          <a:bodyPr/>
          <a:lstStyle/>
          <a:p>
            <a:pPr>
              <a:tabLst>
                <a:tab pos="1016000" algn="l"/>
              </a:tabLst>
            </a:pPr>
            <a:r>
              <a:t>A segment of human chromosome 9 is duplicated.</a:t>
            </a:r>
          </a:p>
          <a:p>
            <a:pPr lvl="1">
              <a:tabLst>
                <a:tab pos="1485900" algn="l"/>
              </a:tabLst>
            </a:pPr>
            <a:r>
              <a:t>A segment is taken from its homologue and inserted to produce double copies of some genes.</a:t>
            </a:r>
          </a:p>
          <a:p>
            <a:pPr lvl="1">
              <a:tabLst>
                <a:tab pos="1485900" algn="l"/>
              </a:tabLst>
            </a:pPr>
            <a:r>
              <a:t>Some genes may be disrupted.</a:t>
            </a:r>
          </a:p>
          <a:p>
            <a:pPr>
              <a:tabLst>
                <a:tab pos="1016000" algn="l"/>
              </a:tabLst>
            </a:pPr>
            <a:r>
              <a:t>Gene duplications can have evolutionary significance.</a:t>
            </a:r>
          </a:p>
          <a:p>
            <a:pPr lvl="1">
              <a:tabLst>
                <a:tab pos="1485900" algn="l"/>
              </a:tabLst>
            </a:pPr>
            <a:r>
              <a:t>Example: The alpha and beta chains of haemoglobin arose following a duplication event 500 million years ago.</a:t>
            </a:r>
          </a:p>
        </p:txBody>
      </p:sp>
      <p:sp>
        <p:nvSpPr>
          <p:cNvPr id="619" name="Shape 619"/>
          <p:cNvSpPr/>
          <p:nvPr/>
        </p:nvSpPr>
        <p:spPr>
          <a:xfrm>
            <a:off x="6383734" y="2146300"/>
            <a:ext cx="117713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Normal</a:t>
            </a:r>
          </a:p>
        </p:txBody>
      </p:sp>
      <p:sp>
        <p:nvSpPr>
          <p:cNvPr id="620" name="Shape 620"/>
          <p:cNvSpPr/>
          <p:nvPr/>
        </p:nvSpPr>
        <p:spPr>
          <a:xfrm>
            <a:off x="9787521" y="2146300"/>
            <a:ext cx="1786434"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Duplication</a:t>
            </a:r>
          </a:p>
        </p:txBody>
      </p:sp>
      <p:sp>
        <p:nvSpPr>
          <p:cNvPr id="621" name="Shape 621"/>
          <p:cNvSpPr/>
          <p:nvPr/>
        </p:nvSpPr>
        <p:spPr>
          <a:xfrm>
            <a:off x="7796883" y="4216400"/>
            <a:ext cx="2197101" cy="15113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solidFill>
                  <a:srgbClr val="006795"/>
                </a:solidFill>
              </a:defRPr>
            </a:lvl1pPr>
          </a:lstStyle>
          <a:p>
            <a:r>
              <a:t>A segment is transferred from one chromosome into its homologue</a:t>
            </a:r>
          </a:p>
        </p:txBody>
      </p:sp>
      <p:sp>
        <p:nvSpPr>
          <p:cNvPr id="622" name="Shape 622"/>
          <p:cNvSpPr/>
          <p:nvPr/>
        </p:nvSpPr>
        <p:spPr>
          <a:xfrm>
            <a:off x="11437632" y="3175000"/>
            <a:ext cx="1270001" cy="5969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000">
                <a:solidFill>
                  <a:srgbClr val="006795"/>
                </a:solidFill>
              </a:defRPr>
            </a:pPr>
            <a:r>
              <a:t>Duplicate</a:t>
            </a:r>
            <a:br/>
            <a:r>
              <a:t>segment</a:t>
            </a:r>
          </a:p>
        </p:txBody>
      </p:sp>
      <p:sp>
        <p:nvSpPr>
          <p:cNvPr id="623" name="Shape 623"/>
          <p:cNvSpPr/>
          <p:nvPr/>
        </p:nvSpPr>
        <p:spPr>
          <a:xfrm>
            <a:off x="11474349" y="4203700"/>
            <a:ext cx="1231901" cy="5969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000">
                <a:solidFill>
                  <a:srgbClr val="006795"/>
                </a:solidFill>
              </a:defRPr>
            </a:pPr>
            <a:r>
              <a:t>Identical</a:t>
            </a:r>
            <a:br/>
            <a:r>
              <a:t>segment</a:t>
            </a:r>
          </a:p>
        </p:txBody>
      </p:sp>
      <p:sp>
        <p:nvSpPr>
          <p:cNvPr id="624" name="Shape 624"/>
          <p:cNvSpPr/>
          <p:nvPr/>
        </p:nvSpPr>
        <p:spPr>
          <a:xfrm>
            <a:off x="7340600" y="3073400"/>
            <a:ext cx="3132667" cy="127"/>
          </a:xfrm>
          <a:prstGeom prst="line">
            <a:avLst/>
          </a:prstGeom>
          <a:ln w="25400">
            <a:solidFill>
              <a:srgbClr val="000000"/>
            </a:solidFill>
            <a:prstDash val="sysDot"/>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25" name="Shape 625"/>
          <p:cNvSpPr/>
          <p:nvPr/>
        </p:nvSpPr>
        <p:spPr>
          <a:xfrm>
            <a:off x="6807200" y="3937000"/>
            <a:ext cx="3674534" cy="127"/>
          </a:xfrm>
          <a:prstGeom prst="line">
            <a:avLst/>
          </a:prstGeom>
          <a:ln w="25400">
            <a:solidFill>
              <a:srgbClr val="000000"/>
            </a:solidFill>
            <a:prstDash val="sysDot"/>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26" name="Shape 626"/>
          <p:cNvSpPr/>
          <p:nvPr/>
        </p:nvSpPr>
        <p:spPr>
          <a:xfrm>
            <a:off x="6883400" y="6845300"/>
            <a:ext cx="266973"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752465">
              <a:lnSpc>
                <a:spcPts val="5200"/>
              </a:lnSpc>
              <a:tabLst>
                <a:tab pos="520700" algn="l"/>
              </a:tabLst>
              <a:defRPr sz="3600" b="1">
                <a:solidFill>
                  <a:srgbClr val="201B17"/>
                </a:solidFill>
              </a:defRPr>
            </a:lvl1pPr>
          </a:lstStyle>
          <a:p>
            <a:pPr>
              <a:defRPr>
                <a:solidFill>
                  <a:srgbClr val="483F36"/>
                </a:solidFill>
              </a:defRPr>
            </a:pPr>
            <a:r>
              <a:rPr>
                <a:solidFill>
                  <a:srgbClr val="201B17"/>
                </a:solidFill>
              </a:rPr>
              <a:t>9</a:t>
            </a:r>
          </a:p>
        </p:txBody>
      </p:sp>
      <p:sp>
        <p:nvSpPr>
          <p:cNvPr id="627" name="Shape 627"/>
          <p:cNvSpPr/>
          <p:nvPr/>
        </p:nvSpPr>
        <p:spPr>
          <a:xfrm>
            <a:off x="10629900" y="7683500"/>
            <a:ext cx="266973" cy="520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marR="5752465">
              <a:lnSpc>
                <a:spcPts val="5200"/>
              </a:lnSpc>
              <a:tabLst>
                <a:tab pos="520700" algn="l"/>
              </a:tabLst>
              <a:defRPr sz="3600" b="1">
                <a:solidFill>
                  <a:srgbClr val="201B17"/>
                </a:solidFill>
              </a:defRPr>
            </a:lvl1pPr>
          </a:lstStyle>
          <a:p>
            <a:pPr>
              <a:defRPr>
                <a:solidFill>
                  <a:srgbClr val="483F36"/>
                </a:solidFill>
              </a:defRPr>
            </a:pPr>
            <a:r>
              <a:rPr>
                <a:solidFill>
                  <a:srgbClr val="201B17"/>
                </a:solidFill>
              </a:rPr>
              <a:t>9</a:t>
            </a:r>
          </a:p>
        </p:txBody>
      </p:sp>
      <p:sp>
        <p:nvSpPr>
          <p:cNvPr id="628" name="Shape 628"/>
          <p:cNvSpPr/>
          <p:nvPr/>
        </p:nvSpPr>
        <p:spPr>
          <a:xfrm flipH="1" flipV="1">
            <a:off x="7594600" y="3505200"/>
            <a:ext cx="2692400" cy="1"/>
          </a:xfrm>
          <a:prstGeom prst="line">
            <a:avLst/>
          </a:prstGeom>
          <a:ln w="1016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29" name="Shape 629"/>
          <p:cNvSpPr/>
          <p:nvPr/>
        </p:nvSpPr>
        <p:spPr>
          <a:xfrm>
            <a:off x="11099800" y="3479800"/>
            <a:ext cx="457200" cy="127"/>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30" name="Shape 630"/>
          <p:cNvSpPr/>
          <p:nvPr/>
        </p:nvSpPr>
        <p:spPr>
          <a:xfrm>
            <a:off x="11074400" y="4419600"/>
            <a:ext cx="457200" cy="127"/>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1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1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1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1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1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6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 grpId="1"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Shape 632"/>
          <p:cNvSpPr/>
          <p:nvPr/>
        </p:nvSpPr>
        <p:spPr>
          <a:xfrm>
            <a:off x="7192069" y="-5358"/>
            <a:ext cx="5812731" cy="9933038"/>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33" name="Shape 633"/>
          <p:cNvSpPr>
            <a:spLocks noGrp="1"/>
          </p:cNvSpPr>
          <p:nvPr>
            <p:ph type="title"/>
          </p:nvPr>
        </p:nvSpPr>
        <p:spPr>
          <a:prstGeom prst="rect">
            <a:avLst/>
          </a:prstGeom>
        </p:spPr>
        <p:txBody>
          <a:bodyPr/>
          <a:lstStyle>
            <a:lvl1pPr>
              <a:tabLst>
                <a:tab pos="952500" algn="l"/>
              </a:tabLst>
            </a:lvl1pPr>
          </a:lstStyle>
          <a:p>
            <a:r>
              <a:t>Gene Duplication</a:t>
            </a:r>
          </a:p>
        </p:txBody>
      </p:sp>
      <p:sp>
        <p:nvSpPr>
          <p:cNvPr id="634" name="Shape 634"/>
          <p:cNvSpPr>
            <a:spLocks noGrp="1"/>
          </p:cNvSpPr>
          <p:nvPr>
            <p:ph type="body" sz="half" idx="1"/>
          </p:nvPr>
        </p:nvSpPr>
        <p:spPr>
          <a:xfrm>
            <a:off x="368300" y="1790700"/>
            <a:ext cx="6057454" cy="7543800"/>
          </a:xfrm>
          <a:prstGeom prst="rect">
            <a:avLst/>
          </a:prstGeom>
        </p:spPr>
        <p:txBody>
          <a:bodyPr/>
          <a:lstStyle/>
          <a:p>
            <a:pPr>
              <a:tabLst>
                <a:tab pos="1016000" algn="l"/>
              </a:tabLst>
            </a:pPr>
            <a:r>
              <a:t>Studies have shown that gene duplication has occurred in virtually every species and often more than once. </a:t>
            </a:r>
          </a:p>
          <a:p>
            <a:pPr lvl="1">
              <a:tabLst>
                <a:tab pos="1485900" algn="l"/>
              </a:tabLst>
            </a:pPr>
            <a:r>
              <a:t>It is well known that many important crop plants (e.g. wheat) have duplicated not just one gene, but their entire genome. </a:t>
            </a:r>
          </a:p>
          <a:p>
            <a:pPr lvl="1">
              <a:tabLst>
                <a:tab pos="1485900" algn="l"/>
              </a:tabLst>
            </a:pPr>
            <a:r>
              <a:t>The duplication of a gene frees one of those genes to develop a new function, while the original continues as it was. </a:t>
            </a:r>
          </a:p>
          <a:p>
            <a:pPr lvl="1">
              <a:tabLst>
                <a:tab pos="1485900" algn="l"/>
              </a:tabLst>
            </a:pPr>
            <a:r>
              <a:t>In the case of genes that produce proteins with a tendency or ability to perform two functions, there may be </a:t>
            </a:r>
            <a:r>
              <a:rPr b="1">
                <a:solidFill>
                  <a:srgbClr val="006994"/>
                </a:solidFill>
              </a:rPr>
              <a:t>adaptive conflict</a:t>
            </a:r>
            <a:r>
              <a:t>, in which its ability to perform one function compromises its ability to perform another. </a:t>
            </a:r>
          </a:p>
          <a:p>
            <a:pPr lvl="1">
              <a:tabLst>
                <a:tab pos="1485900" algn="l"/>
              </a:tabLst>
            </a:pPr>
            <a:r>
              <a:t>Gene duplication solves this problem by allowing natural selection to act on the genes so that they follow different evolutionary paths.</a:t>
            </a:r>
          </a:p>
        </p:txBody>
      </p:sp>
      <p:pic>
        <p:nvPicPr>
          <p:cNvPr id="635" name="Cell division man 2.png"/>
          <p:cNvPicPr>
            <a:picLocks noChangeAspect="1"/>
          </p:cNvPicPr>
          <p:nvPr/>
        </p:nvPicPr>
        <p:blipFill>
          <a:blip r:embed="rId2">
            <a:extLst/>
          </a:blip>
          <a:stretch>
            <a:fillRect/>
          </a:stretch>
        </p:blipFill>
        <p:spPr>
          <a:xfrm>
            <a:off x="9054752" y="568301"/>
            <a:ext cx="3306468" cy="4103712"/>
          </a:xfrm>
          <a:prstGeom prst="rect">
            <a:avLst/>
          </a:prstGeom>
          <a:ln w="12700">
            <a:miter lim="400000"/>
          </a:ln>
        </p:spPr>
      </p:pic>
      <p:pic>
        <p:nvPicPr>
          <p:cNvPr id="636" name="Caenorhabditis elegans.png"/>
          <p:cNvPicPr>
            <a:picLocks noChangeAspect="1"/>
          </p:cNvPicPr>
          <p:nvPr/>
        </p:nvPicPr>
        <p:blipFill>
          <a:blip r:embed="rId3">
            <a:extLst/>
          </a:blip>
          <a:stretch>
            <a:fillRect/>
          </a:stretch>
        </p:blipFill>
        <p:spPr>
          <a:xfrm>
            <a:off x="9060457" y="7418104"/>
            <a:ext cx="2653149" cy="1570818"/>
          </a:xfrm>
          <a:prstGeom prst="rect">
            <a:avLst/>
          </a:prstGeom>
          <a:ln w="12700">
            <a:miter lim="400000"/>
          </a:ln>
        </p:spPr>
      </p:pic>
      <p:sp>
        <p:nvSpPr>
          <p:cNvPr id="637" name="Shape 637"/>
          <p:cNvSpPr/>
          <p:nvPr/>
        </p:nvSpPr>
        <p:spPr>
          <a:xfrm>
            <a:off x="7397675" y="8214289"/>
            <a:ext cx="2669196" cy="8942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tabLst>
                <a:tab pos="520700" algn="l"/>
              </a:tabLst>
              <a:defRPr i="1"/>
            </a:pPr>
            <a:r>
              <a:t>Caenorhabditis elegans</a:t>
            </a:r>
          </a:p>
          <a:p>
            <a:pPr>
              <a:tabLst>
                <a:tab pos="520700" algn="l"/>
              </a:tabLst>
            </a:pPr>
            <a:r>
              <a:t>(nematode): 49% genes duplicated</a:t>
            </a:r>
          </a:p>
        </p:txBody>
      </p:sp>
      <p:sp>
        <p:nvSpPr>
          <p:cNvPr id="638" name="Shape 638"/>
          <p:cNvSpPr/>
          <p:nvPr/>
        </p:nvSpPr>
        <p:spPr>
          <a:xfrm>
            <a:off x="7867575" y="5953689"/>
            <a:ext cx="2854537" cy="8942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tabLst>
                <a:tab pos="520700" algn="l"/>
              </a:tabLst>
              <a:defRPr i="1"/>
            </a:pPr>
            <a:r>
              <a:t>Drosophila melanogaster</a:t>
            </a:r>
          </a:p>
          <a:p>
            <a:pPr>
              <a:tabLst>
                <a:tab pos="520700" algn="l"/>
              </a:tabLst>
            </a:pPr>
            <a:r>
              <a:t>(fruit fly): 41% genes duplicated</a:t>
            </a:r>
          </a:p>
        </p:txBody>
      </p:sp>
      <p:sp>
        <p:nvSpPr>
          <p:cNvPr id="639" name="Shape 639"/>
          <p:cNvSpPr/>
          <p:nvPr/>
        </p:nvSpPr>
        <p:spPr>
          <a:xfrm>
            <a:off x="7842175" y="1629339"/>
            <a:ext cx="2669196"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tabLst>
                <a:tab pos="520700" algn="l"/>
              </a:tabLst>
            </a:pPr>
            <a:r>
              <a:rPr i="1"/>
              <a:t>Homo sapiens:</a:t>
            </a:r>
            <a:r>
              <a:t> 38% genes duplicated</a:t>
            </a:r>
          </a:p>
        </p:txBody>
      </p:sp>
      <p:pic>
        <p:nvPicPr>
          <p:cNvPr id="640" name="AdobeStock_91151528 drosophila fade.png"/>
          <p:cNvPicPr>
            <a:picLocks noChangeAspect="1"/>
          </p:cNvPicPr>
          <p:nvPr/>
        </p:nvPicPr>
        <p:blipFill>
          <a:blip r:embed="rId4">
            <a:extLst/>
          </a:blip>
          <a:stretch>
            <a:fillRect/>
          </a:stretch>
        </p:blipFill>
        <p:spPr>
          <a:xfrm>
            <a:off x="7397675" y="4429350"/>
            <a:ext cx="2669196" cy="161245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3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3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6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 grpId="1" build="p" bldLvl="5"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Shape 652"/>
          <p:cNvSpPr>
            <a:spLocks noGrp="1"/>
          </p:cNvSpPr>
          <p:nvPr>
            <p:ph type="title"/>
          </p:nvPr>
        </p:nvSpPr>
        <p:spPr>
          <a:prstGeom prst="rect">
            <a:avLst/>
          </a:prstGeom>
        </p:spPr>
        <p:txBody>
          <a:bodyPr/>
          <a:lstStyle>
            <a:lvl1pPr>
              <a:tabLst>
                <a:tab pos="952500" algn="l"/>
              </a:tabLst>
            </a:lvl1pPr>
          </a:lstStyle>
          <a:p>
            <a:r>
              <a:t>Non-disjunction in Meiosis</a:t>
            </a:r>
          </a:p>
        </p:txBody>
      </p:sp>
      <p:sp>
        <p:nvSpPr>
          <p:cNvPr id="653" name="Shape 653"/>
          <p:cNvSpPr>
            <a:spLocks noGrp="1"/>
          </p:cNvSpPr>
          <p:nvPr>
            <p:ph type="body" sz="half" idx="1"/>
          </p:nvPr>
        </p:nvSpPr>
        <p:spPr>
          <a:xfrm>
            <a:off x="368300" y="1790700"/>
            <a:ext cx="11140827" cy="3601244"/>
          </a:xfrm>
          <a:prstGeom prst="rect">
            <a:avLst/>
          </a:prstGeom>
        </p:spPr>
        <p:txBody>
          <a:bodyPr/>
          <a:lstStyle/>
          <a:p>
            <a:pPr>
              <a:tabLst>
                <a:tab pos="1016000" algn="l"/>
              </a:tabLst>
            </a:pPr>
            <a:r>
              <a:t>The meiotic spindle normally distributes chromosomes to daughter cells without error. However, mistakes can occur during meiosis in which the chromosomes, or sister chromatids, fail to separate properly at anaphase.</a:t>
            </a:r>
          </a:p>
          <a:p>
            <a:pPr lvl="1">
              <a:tabLst>
                <a:tab pos="1485900" algn="l"/>
              </a:tabLst>
            </a:pPr>
            <a:r>
              <a:t>This mishap is called non-disjunction. It can occur during meiosis I or meiosis II.</a:t>
            </a:r>
          </a:p>
          <a:p>
            <a:pPr lvl="1">
              <a:tabLst>
                <a:tab pos="1485900" algn="l"/>
              </a:tabLst>
            </a:pPr>
            <a:r>
              <a:t>Non-disjunction results in abnormal numbers of chromosomes passing to the gametes.</a:t>
            </a:r>
          </a:p>
          <a:p>
            <a:pPr lvl="1">
              <a:tabLst>
                <a:tab pos="1485900" algn="l"/>
              </a:tabLst>
            </a:pPr>
            <a:r>
              <a:t>If either of these aberrant gametes unites with a normal one at fertilisation, the offspring will have an abnormal chromosome number.</a:t>
            </a:r>
          </a:p>
          <a:p>
            <a:pPr lvl="1">
              <a:tabLst>
                <a:tab pos="1485900" algn="l"/>
              </a:tabLst>
            </a:pPr>
            <a:r>
              <a:t>This is known as an aneuploidy, e.g. trisomy.</a:t>
            </a:r>
          </a:p>
        </p:txBody>
      </p:sp>
      <p:pic>
        <p:nvPicPr>
          <p:cNvPr id="654" name="Trisomy 13.png"/>
          <p:cNvPicPr>
            <a:picLocks noChangeAspect="1"/>
          </p:cNvPicPr>
          <p:nvPr/>
        </p:nvPicPr>
        <p:blipFill>
          <a:blip r:embed="rId2">
            <a:extLst/>
          </a:blip>
          <a:stretch>
            <a:fillRect/>
          </a:stretch>
        </p:blipFill>
        <p:spPr>
          <a:xfrm>
            <a:off x="783911" y="5816600"/>
            <a:ext cx="2899092" cy="2626235"/>
          </a:xfrm>
          <a:prstGeom prst="rect">
            <a:avLst/>
          </a:prstGeom>
          <a:ln w="25400">
            <a:solidFill>
              <a:srgbClr val="FFFFFF"/>
            </a:solidFill>
            <a:miter lim="400000"/>
          </a:ln>
        </p:spPr>
      </p:pic>
      <p:pic>
        <p:nvPicPr>
          <p:cNvPr id="655" name="Trisomy 18.png"/>
          <p:cNvPicPr>
            <a:picLocks noChangeAspect="1"/>
          </p:cNvPicPr>
          <p:nvPr/>
        </p:nvPicPr>
        <p:blipFill>
          <a:blip r:embed="rId3">
            <a:extLst/>
          </a:blip>
          <a:stretch>
            <a:fillRect/>
          </a:stretch>
        </p:blipFill>
        <p:spPr>
          <a:xfrm>
            <a:off x="4708211" y="5815705"/>
            <a:ext cx="2899092" cy="2446751"/>
          </a:xfrm>
          <a:prstGeom prst="rect">
            <a:avLst/>
          </a:prstGeom>
          <a:ln w="25400">
            <a:solidFill>
              <a:srgbClr val="FFFFFF"/>
            </a:solidFill>
            <a:miter lim="400000"/>
          </a:ln>
        </p:spPr>
      </p:pic>
      <p:pic>
        <p:nvPicPr>
          <p:cNvPr id="656" name="Trisomy 21.png"/>
          <p:cNvPicPr>
            <a:picLocks noChangeAspect="1"/>
          </p:cNvPicPr>
          <p:nvPr/>
        </p:nvPicPr>
        <p:blipFill>
          <a:blip r:embed="rId4">
            <a:extLst/>
          </a:blip>
          <a:stretch>
            <a:fillRect/>
          </a:stretch>
        </p:blipFill>
        <p:spPr>
          <a:xfrm>
            <a:off x="8683311" y="6203124"/>
            <a:ext cx="2899092" cy="1696278"/>
          </a:xfrm>
          <a:prstGeom prst="rect">
            <a:avLst/>
          </a:prstGeom>
          <a:ln w="25400">
            <a:solidFill>
              <a:srgbClr val="FFFFFF"/>
            </a:solidFill>
            <a:miter lim="400000"/>
          </a:ln>
        </p:spPr>
      </p:pic>
      <p:sp>
        <p:nvSpPr>
          <p:cNvPr id="657" name="Shape 657"/>
          <p:cNvSpPr/>
          <p:nvPr/>
        </p:nvSpPr>
        <p:spPr>
          <a:xfrm>
            <a:off x="9220200" y="8534400"/>
            <a:ext cx="18161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lvl1pPr>
          </a:lstStyle>
          <a:p>
            <a:r>
              <a:t>Trisomy 21</a:t>
            </a:r>
          </a:p>
        </p:txBody>
      </p:sp>
      <p:sp>
        <p:nvSpPr>
          <p:cNvPr id="658" name="Shape 658"/>
          <p:cNvSpPr/>
          <p:nvPr/>
        </p:nvSpPr>
        <p:spPr>
          <a:xfrm>
            <a:off x="5245100" y="8534400"/>
            <a:ext cx="18161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lvl1pPr>
          </a:lstStyle>
          <a:p>
            <a:r>
              <a:t>Trisomy 18</a:t>
            </a:r>
          </a:p>
        </p:txBody>
      </p:sp>
      <p:sp>
        <p:nvSpPr>
          <p:cNvPr id="659" name="Shape 659"/>
          <p:cNvSpPr/>
          <p:nvPr/>
        </p:nvSpPr>
        <p:spPr>
          <a:xfrm>
            <a:off x="1320800" y="8534400"/>
            <a:ext cx="18161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lvl1pPr>
          </a:lstStyle>
          <a:p>
            <a:r>
              <a:t>Trisomy 13</a:t>
            </a:r>
          </a:p>
        </p:txBody>
      </p:sp>
      <p:sp>
        <p:nvSpPr>
          <p:cNvPr id="660" name="Shape 660"/>
          <p:cNvSpPr/>
          <p:nvPr/>
        </p:nvSpPr>
        <p:spPr>
          <a:xfrm rot="5400000">
            <a:off x="11880850" y="6800850"/>
            <a:ext cx="1714500" cy="2794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1200"/>
              </a:lnSpc>
              <a:tabLst>
                <a:tab pos="520700" algn="l"/>
              </a:tabLst>
              <a:defRPr sz="1000">
                <a:solidFill>
                  <a:srgbClr val="000000"/>
                </a:solidFill>
              </a:defRPr>
            </a:lvl1pPr>
          </a:lstStyle>
          <a:p>
            <a:pPr>
              <a:defRPr sz="2000"/>
            </a:pPr>
            <a:r>
              <a:rPr sz="1000"/>
              <a:t>Photos: Cytogenetics Dept. Waikato Hospital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5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5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5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5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6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 grpId="1" build="p" bldLvl="5"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 name="Shape 662"/>
          <p:cNvSpPr>
            <a:spLocks noGrp="1"/>
          </p:cNvSpPr>
          <p:nvPr>
            <p:ph type="title"/>
          </p:nvPr>
        </p:nvSpPr>
        <p:spPr>
          <a:prstGeom prst="rect">
            <a:avLst/>
          </a:prstGeom>
        </p:spPr>
        <p:txBody>
          <a:bodyPr/>
          <a:lstStyle>
            <a:lvl1pPr>
              <a:tabLst>
                <a:tab pos="952500" algn="l"/>
              </a:tabLst>
            </a:lvl1pPr>
          </a:lstStyle>
          <a:p>
            <a:r>
              <a:t>Non-Disjunction: Meiosis I</a:t>
            </a:r>
          </a:p>
        </p:txBody>
      </p:sp>
      <p:sp>
        <p:nvSpPr>
          <p:cNvPr id="663" name="Shape 663"/>
          <p:cNvSpPr>
            <a:spLocks noGrp="1"/>
          </p:cNvSpPr>
          <p:nvPr>
            <p:ph type="body" sz="half" idx="1"/>
          </p:nvPr>
        </p:nvSpPr>
        <p:spPr>
          <a:prstGeom prst="rect">
            <a:avLst/>
          </a:prstGeom>
        </p:spPr>
        <p:txBody>
          <a:bodyPr/>
          <a:lstStyle/>
          <a:p>
            <a:pPr marL="345600" indent="-345600">
              <a:tabLst>
                <a:tab pos="1016000" algn="l"/>
              </a:tabLst>
            </a:pPr>
            <a:r>
              <a:t>A non-disjunction in meiosis I occurs when </a:t>
            </a:r>
            <a:r>
              <a:rPr b="1">
                <a:solidFill>
                  <a:srgbClr val="126A93"/>
                </a:solidFill>
              </a:rPr>
              <a:t>homologous chromosomes </a:t>
            </a:r>
            <a:r>
              <a:t>fail to separate properly during </a:t>
            </a:r>
            <a:r>
              <a:rPr b="1">
                <a:solidFill>
                  <a:srgbClr val="126A93"/>
                </a:solidFill>
              </a:rPr>
              <a:t>anaphase I</a:t>
            </a:r>
            <a:r>
              <a:t>.</a:t>
            </a:r>
          </a:p>
          <a:p>
            <a:pPr marL="680000" lvl="1" indent="-320000">
              <a:tabLst>
                <a:tab pos="1485900" algn="l"/>
              </a:tabLst>
            </a:pPr>
            <a:r>
              <a:t>One gamete receives two of the same sort of chromosome and the other gamete receives no copy.</a:t>
            </a:r>
          </a:p>
        </p:txBody>
      </p:sp>
      <p:sp>
        <p:nvSpPr>
          <p:cNvPr id="664" name="Shape 664"/>
          <p:cNvSpPr/>
          <p:nvPr/>
        </p:nvSpPr>
        <p:spPr>
          <a:xfrm>
            <a:off x="6134100" y="8559800"/>
            <a:ext cx="59398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65" name="Shape 665"/>
          <p:cNvSpPr/>
          <p:nvPr/>
        </p:nvSpPr>
        <p:spPr>
          <a:xfrm>
            <a:off x="7645400" y="8559800"/>
            <a:ext cx="59398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66" name="Shape 666"/>
          <p:cNvSpPr/>
          <p:nvPr/>
        </p:nvSpPr>
        <p:spPr>
          <a:xfrm>
            <a:off x="9156700" y="8559800"/>
            <a:ext cx="58656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67" name="Shape 667"/>
          <p:cNvSpPr/>
          <p:nvPr/>
        </p:nvSpPr>
        <p:spPr>
          <a:xfrm>
            <a:off x="10668000" y="8559800"/>
            <a:ext cx="58656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68" name="Shape 668"/>
          <p:cNvSpPr/>
          <p:nvPr/>
        </p:nvSpPr>
        <p:spPr>
          <a:xfrm>
            <a:off x="8039100" y="8140700"/>
            <a:ext cx="1253704"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Gametes</a:t>
            </a:r>
          </a:p>
        </p:txBody>
      </p:sp>
      <p:sp>
        <p:nvSpPr>
          <p:cNvPr id="669" name="Shape 669"/>
          <p:cNvSpPr/>
          <p:nvPr/>
        </p:nvSpPr>
        <p:spPr>
          <a:xfrm>
            <a:off x="11214100" y="4953000"/>
            <a:ext cx="1327541"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Meiosis II</a:t>
            </a:r>
          </a:p>
        </p:txBody>
      </p:sp>
      <p:sp>
        <p:nvSpPr>
          <p:cNvPr id="670" name="Shape 670"/>
          <p:cNvSpPr/>
          <p:nvPr/>
        </p:nvSpPr>
        <p:spPr>
          <a:xfrm>
            <a:off x="10147300" y="2400300"/>
            <a:ext cx="125344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Meiosis I</a:t>
            </a:r>
          </a:p>
        </p:txBody>
      </p:sp>
      <p:pic>
        <p:nvPicPr>
          <p:cNvPr id="671" name="Non-disjunction meiosis I-2.pdf"/>
          <p:cNvPicPr>
            <a:picLocks noChangeAspect="1"/>
          </p:cNvPicPr>
          <p:nvPr/>
        </p:nvPicPr>
        <p:blipFill>
          <a:blip r:embed="rId2">
            <a:extLst/>
          </a:blip>
          <a:stretch>
            <a:fillRect/>
          </a:stretch>
        </p:blipFill>
        <p:spPr>
          <a:xfrm>
            <a:off x="6019800" y="3844274"/>
            <a:ext cx="5004417" cy="2070101"/>
          </a:xfrm>
          <a:prstGeom prst="rect">
            <a:avLst/>
          </a:prstGeom>
          <a:ln w="12700">
            <a:miter lim="400000"/>
          </a:ln>
        </p:spPr>
      </p:pic>
      <p:pic>
        <p:nvPicPr>
          <p:cNvPr id="672" name="Non-disjunction meiosis I-1.pdf"/>
          <p:cNvPicPr>
            <a:picLocks noChangeAspect="1"/>
          </p:cNvPicPr>
          <p:nvPr/>
        </p:nvPicPr>
        <p:blipFill>
          <a:blip r:embed="rId3">
            <a:extLst/>
          </a:blip>
          <a:stretch>
            <a:fillRect/>
          </a:stretch>
        </p:blipFill>
        <p:spPr>
          <a:xfrm>
            <a:off x="7124700" y="1686598"/>
            <a:ext cx="2406912" cy="1790701"/>
          </a:xfrm>
          <a:prstGeom prst="rect">
            <a:avLst/>
          </a:prstGeom>
          <a:ln w="12700">
            <a:miter lim="400000"/>
          </a:ln>
        </p:spPr>
      </p:pic>
      <p:pic>
        <p:nvPicPr>
          <p:cNvPr id="673" name="Non-disjunction meiosis I-3.pdf"/>
          <p:cNvPicPr>
            <a:picLocks noChangeAspect="1"/>
          </p:cNvPicPr>
          <p:nvPr/>
        </p:nvPicPr>
        <p:blipFill>
          <a:blip r:embed="rId4">
            <a:extLst/>
          </a:blip>
          <a:stretch>
            <a:fillRect/>
          </a:stretch>
        </p:blipFill>
        <p:spPr>
          <a:xfrm>
            <a:off x="6045200" y="6983666"/>
            <a:ext cx="5511800" cy="1157175"/>
          </a:xfrm>
          <a:prstGeom prst="rect">
            <a:avLst/>
          </a:prstGeom>
          <a:ln w="12700">
            <a:miter lim="400000"/>
          </a:ln>
        </p:spPr>
      </p:pic>
      <p:sp>
        <p:nvSpPr>
          <p:cNvPr id="674" name="Shape 674"/>
          <p:cNvSpPr/>
          <p:nvPr/>
        </p:nvSpPr>
        <p:spPr>
          <a:xfrm>
            <a:off x="5689600" y="1803400"/>
            <a:ext cx="170264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lvl1pPr>
          </a:lstStyle>
          <a:p>
            <a:r>
              <a:t>Non-disjunction</a:t>
            </a:r>
          </a:p>
        </p:txBody>
      </p:sp>
      <p:sp>
        <p:nvSpPr>
          <p:cNvPr id="675" name="Shape 675"/>
          <p:cNvSpPr/>
          <p:nvPr/>
        </p:nvSpPr>
        <p:spPr>
          <a:xfrm flipH="1" flipV="1">
            <a:off x="7522633" y="1998133"/>
            <a:ext cx="537634" cy="245534"/>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76" name="Shape 676"/>
          <p:cNvSpPr/>
          <p:nvPr/>
        </p:nvSpPr>
        <p:spPr>
          <a:xfrm flipH="1" flipV="1">
            <a:off x="9173633" y="3445933"/>
            <a:ext cx="609733" cy="78664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77" name="Shape 677"/>
          <p:cNvSpPr/>
          <p:nvPr/>
        </p:nvSpPr>
        <p:spPr>
          <a:xfrm flipV="1">
            <a:off x="7509933" y="3445933"/>
            <a:ext cx="609733" cy="78664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78" name="Shape 678"/>
          <p:cNvSpPr/>
          <p:nvPr/>
        </p:nvSpPr>
        <p:spPr>
          <a:xfrm flipH="1" flipV="1">
            <a:off x="7552878" y="60662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79" name="Shape 679"/>
          <p:cNvSpPr/>
          <p:nvPr/>
        </p:nvSpPr>
        <p:spPr>
          <a:xfrm flipV="1">
            <a:off x="6562278" y="60662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0" name="Shape 680"/>
          <p:cNvSpPr/>
          <p:nvPr/>
        </p:nvSpPr>
        <p:spPr>
          <a:xfrm flipH="1" flipV="1">
            <a:off x="10499278" y="60789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1" name="Shape 681"/>
          <p:cNvSpPr/>
          <p:nvPr/>
        </p:nvSpPr>
        <p:spPr>
          <a:xfrm flipV="1">
            <a:off x="9508678" y="60789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 grpId="1" build="p" bldLvl="5"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 name="Shape 683"/>
          <p:cNvSpPr>
            <a:spLocks noGrp="1"/>
          </p:cNvSpPr>
          <p:nvPr>
            <p:ph type="title"/>
          </p:nvPr>
        </p:nvSpPr>
        <p:spPr>
          <a:prstGeom prst="rect">
            <a:avLst/>
          </a:prstGeom>
        </p:spPr>
        <p:txBody>
          <a:bodyPr/>
          <a:lstStyle>
            <a:lvl1pPr>
              <a:tabLst>
                <a:tab pos="952500" algn="l"/>
              </a:tabLst>
            </a:lvl1pPr>
          </a:lstStyle>
          <a:p>
            <a:r>
              <a:t>Non-Disjunction: Meiosis II</a:t>
            </a:r>
          </a:p>
        </p:txBody>
      </p:sp>
      <p:sp>
        <p:nvSpPr>
          <p:cNvPr id="684" name="Shape 684"/>
          <p:cNvSpPr>
            <a:spLocks noGrp="1"/>
          </p:cNvSpPr>
          <p:nvPr>
            <p:ph type="body" sz="quarter" idx="1"/>
          </p:nvPr>
        </p:nvSpPr>
        <p:spPr>
          <a:xfrm>
            <a:off x="368300" y="1790700"/>
            <a:ext cx="5592217" cy="3111004"/>
          </a:xfrm>
          <a:prstGeom prst="rect">
            <a:avLst/>
          </a:prstGeom>
        </p:spPr>
        <p:txBody>
          <a:bodyPr/>
          <a:lstStyle/>
          <a:p>
            <a:pPr marL="345600" indent="-345600">
              <a:tabLst>
                <a:tab pos="1016000" algn="l"/>
              </a:tabLst>
            </a:pPr>
            <a:r>
              <a:t>A non-disjunction in meiosis II occurs when sister chromatids fail to separate properly during </a:t>
            </a:r>
            <a:r>
              <a:rPr b="1">
                <a:solidFill>
                  <a:srgbClr val="126A93"/>
                </a:solidFill>
              </a:rPr>
              <a:t>anaphase II</a:t>
            </a:r>
            <a:r>
              <a:t>.</a:t>
            </a:r>
          </a:p>
          <a:p>
            <a:pPr marL="680000" lvl="1" indent="-320000">
              <a:tabLst>
                <a:tab pos="1485900" algn="l"/>
              </a:tabLst>
            </a:pPr>
            <a:r>
              <a:t>One gamete receives two of the same sort of chromatid and the other gamete receives no copy.</a:t>
            </a:r>
          </a:p>
          <a:p>
            <a:pPr marL="680000" lvl="1" indent="-320000">
              <a:tabLst>
                <a:tab pos="1485900" algn="l"/>
              </a:tabLst>
            </a:pPr>
            <a:r>
              <a:t>Some gametes are unaffected.</a:t>
            </a:r>
          </a:p>
        </p:txBody>
      </p:sp>
      <p:sp>
        <p:nvSpPr>
          <p:cNvPr id="685" name="Shape 685"/>
          <p:cNvSpPr/>
          <p:nvPr/>
        </p:nvSpPr>
        <p:spPr>
          <a:xfrm>
            <a:off x="6108700" y="8559800"/>
            <a:ext cx="593986"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86" name="Shape 686"/>
          <p:cNvSpPr/>
          <p:nvPr/>
        </p:nvSpPr>
        <p:spPr>
          <a:xfrm>
            <a:off x="7620000" y="8559800"/>
            <a:ext cx="58656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n–1</a:t>
            </a:r>
          </a:p>
        </p:txBody>
      </p:sp>
      <p:sp>
        <p:nvSpPr>
          <p:cNvPr id="687" name="Shape 687"/>
          <p:cNvSpPr/>
          <p:nvPr/>
        </p:nvSpPr>
        <p:spPr>
          <a:xfrm>
            <a:off x="9205310" y="8559800"/>
            <a:ext cx="368301" cy="29607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500"/>
              </a:lnSpc>
              <a:tabLst>
                <a:tab pos="520700" algn="l"/>
              </a:tabLst>
              <a:defRPr sz="2100" b="1">
                <a:solidFill>
                  <a:srgbClr val="000000"/>
                </a:solidFill>
              </a:defRPr>
            </a:lvl1pPr>
          </a:lstStyle>
          <a:p>
            <a:r>
              <a:t>n</a:t>
            </a:r>
          </a:p>
        </p:txBody>
      </p:sp>
      <p:sp>
        <p:nvSpPr>
          <p:cNvPr id="688" name="Shape 688"/>
          <p:cNvSpPr/>
          <p:nvPr/>
        </p:nvSpPr>
        <p:spPr>
          <a:xfrm>
            <a:off x="10629900" y="8559800"/>
            <a:ext cx="289911"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n</a:t>
            </a:r>
          </a:p>
        </p:txBody>
      </p:sp>
      <p:sp>
        <p:nvSpPr>
          <p:cNvPr id="689" name="Shape 689"/>
          <p:cNvSpPr/>
          <p:nvPr/>
        </p:nvSpPr>
        <p:spPr>
          <a:xfrm>
            <a:off x="8013700" y="8140700"/>
            <a:ext cx="1253704"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Gametes</a:t>
            </a:r>
          </a:p>
        </p:txBody>
      </p:sp>
      <p:sp>
        <p:nvSpPr>
          <p:cNvPr id="690" name="Shape 690"/>
          <p:cNvSpPr/>
          <p:nvPr/>
        </p:nvSpPr>
        <p:spPr>
          <a:xfrm>
            <a:off x="11188700" y="4978400"/>
            <a:ext cx="1327541"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Meiosis II</a:t>
            </a:r>
          </a:p>
        </p:txBody>
      </p:sp>
      <p:sp>
        <p:nvSpPr>
          <p:cNvPr id="691" name="Shape 691"/>
          <p:cNvSpPr/>
          <p:nvPr/>
        </p:nvSpPr>
        <p:spPr>
          <a:xfrm>
            <a:off x="9994900" y="2552700"/>
            <a:ext cx="1253443" cy="2960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500"/>
              </a:lnSpc>
              <a:tabLst>
                <a:tab pos="520700" algn="l"/>
              </a:tabLst>
              <a:defRPr sz="2100" b="1">
                <a:solidFill>
                  <a:srgbClr val="000000"/>
                </a:solidFill>
              </a:defRPr>
            </a:lvl1pPr>
          </a:lstStyle>
          <a:p>
            <a:r>
              <a:t>Meiosis I</a:t>
            </a:r>
          </a:p>
        </p:txBody>
      </p:sp>
      <p:pic>
        <p:nvPicPr>
          <p:cNvPr id="692" name="Nondisjunction meiosis II-3.pdf"/>
          <p:cNvPicPr>
            <a:picLocks noChangeAspect="1"/>
          </p:cNvPicPr>
          <p:nvPr/>
        </p:nvPicPr>
        <p:blipFill>
          <a:blip r:embed="rId2">
            <a:extLst/>
          </a:blip>
          <a:stretch>
            <a:fillRect/>
          </a:stretch>
        </p:blipFill>
        <p:spPr>
          <a:xfrm>
            <a:off x="5849508" y="6950905"/>
            <a:ext cx="5524501" cy="1164395"/>
          </a:xfrm>
          <a:prstGeom prst="rect">
            <a:avLst/>
          </a:prstGeom>
          <a:ln w="12700">
            <a:miter lim="400000"/>
          </a:ln>
        </p:spPr>
      </p:pic>
      <p:pic>
        <p:nvPicPr>
          <p:cNvPr id="693" name="Nondisjunction meiosis II-1.pdf"/>
          <p:cNvPicPr>
            <a:picLocks noChangeAspect="1"/>
          </p:cNvPicPr>
          <p:nvPr/>
        </p:nvPicPr>
        <p:blipFill>
          <a:blip r:embed="rId3">
            <a:extLst/>
          </a:blip>
          <a:stretch>
            <a:fillRect/>
          </a:stretch>
        </p:blipFill>
        <p:spPr>
          <a:xfrm>
            <a:off x="6946900" y="1562100"/>
            <a:ext cx="2614669" cy="1955800"/>
          </a:xfrm>
          <a:prstGeom prst="rect">
            <a:avLst/>
          </a:prstGeom>
          <a:ln w="12700">
            <a:miter lim="400000"/>
          </a:ln>
        </p:spPr>
      </p:pic>
      <p:pic>
        <p:nvPicPr>
          <p:cNvPr id="694" name="Nondisjunction meiosis II-2.pdf"/>
          <p:cNvPicPr>
            <a:picLocks noChangeAspect="1"/>
          </p:cNvPicPr>
          <p:nvPr/>
        </p:nvPicPr>
        <p:blipFill>
          <a:blip r:embed="rId4">
            <a:extLst/>
          </a:blip>
          <a:stretch>
            <a:fillRect/>
          </a:stretch>
        </p:blipFill>
        <p:spPr>
          <a:xfrm>
            <a:off x="5930900" y="3870510"/>
            <a:ext cx="5095822" cy="2159001"/>
          </a:xfrm>
          <a:prstGeom prst="rect">
            <a:avLst/>
          </a:prstGeom>
          <a:ln w="12700">
            <a:miter lim="400000"/>
          </a:ln>
        </p:spPr>
      </p:pic>
      <p:sp>
        <p:nvSpPr>
          <p:cNvPr id="695" name="Shape 695"/>
          <p:cNvSpPr/>
          <p:nvPr/>
        </p:nvSpPr>
        <p:spPr>
          <a:xfrm>
            <a:off x="4318000" y="6057900"/>
            <a:ext cx="18542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Non-disjunction</a:t>
            </a:r>
          </a:p>
        </p:txBody>
      </p:sp>
      <p:sp>
        <p:nvSpPr>
          <p:cNvPr id="696" name="Shape 696"/>
          <p:cNvSpPr/>
          <p:nvPr/>
        </p:nvSpPr>
        <p:spPr>
          <a:xfrm flipH="1">
            <a:off x="6093717" y="5723466"/>
            <a:ext cx="556850" cy="363208"/>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97" name="Shape 697"/>
          <p:cNvSpPr/>
          <p:nvPr/>
        </p:nvSpPr>
        <p:spPr>
          <a:xfrm flipH="1" flipV="1">
            <a:off x="9148233" y="3445933"/>
            <a:ext cx="609733" cy="78664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98" name="Shape 698"/>
          <p:cNvSpPr/>
          <p:nvPr/>
        </p:nvSpPr>
        <p:spPr>
          <a:xfrm flipV="1">
            <a:off x="7484533" y="3445933"/>
            <a:ext cx="609733" cy="78664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99" name="Shape 699"/>
          <p:cNvSpPr/>
          <p:nvPr/>
        </p:nvSpPr>
        <p:spPr>
          <a:xfrm flipH="1" flipV="1">
            <a:off x="7527478" y="60662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00" name="Shape 700"/>
          <p:cNvSpPr/>
          <p:nvPr/>
        </p:nvSpPr>
        <p:spPr>
          <a:xfrm flipV="1">
            <a:off x="6536878" y="60662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01" name="Shape 701"/>
          <p:cNvSpPr/>
          <p:nvPr/>
        </p:nvSpPr>
        <p:spPr>
          <a:xfrm flipH="1" flipV="1">
            <a:off x="10473878" y="60789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02" name="Shape 702"/>
          <p:cNvSpPr/>
          <p:nvPr/>
        </p:nvSpPr>
        <p:spPr>
          <a:xfrm flipV="1">
            <a:off x="9483278" y="6078983"/>
            <a:ext cx="338188" cy="845990"/>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8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8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8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 grpId="1" build="p" bldLvl="5"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Shape 704"/>
          <p:cNvSpPr/>
          <p:nvPr/>
        </p:nvSpPr>
        <p:spPr>
          <a:xfrm>
            <a:off x="6946900" y="4203700"/>
            <a:ext cx="2565400" cy="31623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705" name="Man 1 colour PD.png"/>
          <p:cNvPicPr>
            <a:picLocks noChangeAspect="1"/>
          </p:cNvPicPr>
          <p:nvPr/>
        </p:nvPicPr>
        <p:blipFill>
          <a:blip r:embed="rId2">
            <a:extLst/>
          </a:blip>
          <a:stretch>
            <a:fillRect/>
          </a:stretch>
        </p:blipFill>
        <p:spPr>
          <a:xfrm>
            <a:off x="7034361" y="1259527"/>
            <a:ext cx="2542540" cy="6090070"/>
          </a:xfrm>
          <a:prstGeom prst="rect">
            <a:avLst/>
          </a:prstGeom>
          <a:ln w="12700">
            <a:miter lim="400000"/>
          </a:ln>
        </p:spPr>
      </p:pic>
      <p:sp>
        <p:nvSpPr>
          <p:cNvPr id="706" name="Shape 706"/>
          <p:cNvSpPr/>
          <p:nvPr/>
        </p:nvSpPr>
        <p:spPr>
          <a:xfrm>
            <a:off x="9804400" y="4203700"/>
            <a:ext cx="2565400" cy="31623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707" name=" middle aged woman Adobestock CC colour.png"/>
          <p:cNvPicPr>
            <a:picLocks noChangeAspect="1"/>
          </p:cNvPicPr>
          <p:nvPr/>
        </p:nvPicPr>
        <p:blipFill>
          <a:blip r:embed="rId3">
            <a:extLst/>
          </a:blip>
          <a:stretch>
            <a:fillRect/>
          </a:stretch>
        </p:blipFill>
        <p:spPr>
          <a:xfrm>
            <a:off x="9524603" y="1353548"/>
            <a:ext cx="2869749" cy="5993009"/>
          </a:xfrm>
          <a:prstGeom prst="rect">
            <a:avLst/>
          </a:prstGeom>
          <a:ln w="12700">
            <a:miter lim="400000"/>
          </a:ln>
        </p:spPr>
      </p:pic>
      <p:pic>
        <p:nvPicPr>
          <p:cNvPr id="708" name="Faulty Sperm OHT foetus.pdf"/>
          <p:cNvPicPr>
            <a:picLocks noChangeAspect="1"/>
          </p:cNvPicPr>
          <p:nvPr/>
        </p:nvPicPr>
        <p:blipFill>
          <a:blip r:embed="rId4">
            <a:extLst/>
          </a:blip>
          <a:stretch>
            <a:fillRect/>
          </a:stretch>
        </p:blipFill>
        <p:spPr>
          <a:xfrm>
            <a:off x="6426200" y="7378700"/>
            <a:ext cx="1644755" cy="1270000"/>
          </a:xfrm>
          <a:prstGeom prst="rect">
            <a:avLst/>
          </a:prstGeom>
          <a:ln w="12700">
            <a:miter lim="400000"/>
          </a:ln>
          <a:effectLst>
            <a:outerShdw blurRad="190500" dist="190500" dir="2700000" rotWithShape="0">
              <a:srgbClr val="000000">
                <a:alpha val="50000"/>
              </a:srgbClr>
            </a:outerShdw>
          </a:effectLst>
        </p:spPr>
      </p:pic>
      <p:pic>
        <p:nvPicPr>
          <p:cNvPr id="709" name="Faulty Sperm OHT foetus.pdf"/>
          <p:cNvPicPr>
            <a:picLocks noChangeAspect="1"/>
          </p:cNvPicPr>
          <p:nvPr/>
        </p:nvPicPr>
        <p:blipFill>
          <a:blip r:embed="rId4">
            <a:extLst/>
          </a:blip>
          <a:stretch>
            <a:fillRect/>
          </a:stretch>
        </p:blipFill>
        <p:spPr>
          <a:xfrm>
            <a:off x="7835900" y="7378700"/>
            <a:ext cx="1644755" cy="1270000"/>
          </a:xfrm>
          <a:prstGeom prst="rect">
            <a:avLst/>
          </a:prstGeom>
          <a:ln w="12700">
            <a:miter lim="400000"/>
          </a:ln>
          <a:effectLst>
            <a:outerShdw blurRad="190500" dist="190500" dir="2700000" rotWithShape="0">
              <a:srgbClr val="000000">
                <a:alpha val="50000"/>
              </a:srgbClr>
            </a:outerShdw>
          </a:effectLst>
        </p:spPr>
      </p:pic>
      <p:pic>
        <p:nvPicPr>
          <p:cNvPr id="710" name="Faulty Sperm OHT foetus.pdf"/>
          <p:cNvPicPr>
            <a:picLocks noChangeAspect="1"/>
          </p:cNvPicPr>
          <p:nvPr/>
        </p:nvPicPr>
        <p:blipFill>
          <a:blip r:embed="rId4">
            <a:extLst/>
          </a:blip>
          <a:stretch>
            <a:fillRect/>
          </a:stretch>
        </p:blipFill>
        <p:spPr>
          <a:xfrm>
            <a:off x="9321800" y="7378700"/>
            <a:ext cx="1644755" cy="1270000"/>
          </a:xfrm>
          <a:prstGeom prst="rect">
            <a:avLst/>
          </a:prstGeom>
          <a:ln w="12700">
            <a:miter lim="400000"/>
          </a:ln>
          <a:effectLst>
            <a:outerShdw blurRad="190500" dist="190500" dir="2700000" rotWithShape="0">
              <a:srgbClr val="000000">
                <a:alpha val="50000"/>
              </a:srgbClr>
            </a:outerShdw>
          </a:effectLst>
        </p:spPr>
      </p:pic>
      <p:pic>
        <p:nvPicPr>
          <p:cNvPr id="711" name="Faulty Sperm OHT foetus.pdf"/>
          <p:cNvPicPr>
            <a:picLocks noChangeAspect="1"/>
          </p:cNvPicPr>
          <p:nvPr/>
        </p:nvPicPr>
        <p:blipFill>
          <a:blip r:embed="rId4">
            <a:extLst/>
          </a:blip>
          <a:stretch>
            <a:fillRect/>
          </a:stretch>
        </p:blipFill>
        <p:spPr>
          <a:xfrm>
            <a:off x="10807700" y="7378700"/>
            <a:ext cx="1644755" cy="1270000"/>
          </a:xfrm>
          <a:prstGeom prst="rect">
            <a:avLst/>
          </a:prstGeom>
          <a:ln w="12700">
            <a:miter lim="400000"/>
          </a:ln>
          <a:effectLst>
            <a:outerShdw blurRad="190500" dist="190500" dir="2700000" rotWithShape="0">
              <a:srgbClr val="000000">
                <a:alpha val="50000"/>
              </a:srgbClr>
            </a:outerShdw>
          </a:effectLst>
        </p:spPr>
      </p:pic>
      <p:sp>
        <p:nvSpPr>
          <p:cNvPr id="712" name="Shape 712"/>
          <p:cNvSpPr>
            <a:spLocks noGrp="1"/>
          </p:cNvSpPr>
          <p:nvPr>
            <p:ph type="title"/>
          </p:nvPr>
        </p:nvSpPr>
        <p:spPr>
          <a:prstGeom prst="rect">
            <a:avLst/>
          </a:prstGeom>
        </p:spPr>
        <p:txBody>
          <a:bodyPr/>
          <a:lstStyle>
            <a:lvl1pPr>
              <a:tabLst>
                <a:tab pos="952500" algn="l"/>
              </a:tabLst>
            </a:lvl1pPr>
          </a:lstStyle>
          <a:p>
            <a:r>
              <a:t>Faulty Sperm Production</a:t>
            </a:r>
          </a:p>
        </p:txBody>
      </p:sp>
      <p:sp>
        <p:nvSpPr>
          <p:cNvPr id="713" name="Shape 713"/>
          <p:cNvSpPr>
            <a:spLocks noGrp="1"/>
          </p:cNvSpPr>
          <p:nvPr>
            <p:ph type="body" sz="quarter" idx="1"/>
          </p:nvPr>
        </p:nvSpPr>
        <p:spPr>
          <a:xfrm>
            <a:off x="368300" y="1790700"/>
            <a:ext cx="4346972" cy="2973636"/>
          </a:xfrm>
          <a:prstGeom prst="rect">
            <a:avLst/>
          </a:prstGeom>
        </p:spPr>
        <p:txBody>
          <a:bodyPr/>
          <a:lstStyle/>
          <a:p>
            <a:pPr>
              <a:tabLst>
                <a:tab pos="1016000" algn="l"/>
              </a:tabLst>
            </a:pPr>
            <a:r>
              <a:t>Aneuploidy in human sex chromosomes may result from faulty sperm production.</a:t>
            </a:r>
          </a:p>
          <a:p>
            <a:pPr>
              <a:tabLst>
                <a:tab pos="1016000" algn="l"/>
              </a:tabLst>
            </a:pPr>
            <a:r>
              <a:t>This results from failure of the X and Y chromosomes to separate during meiosis (non-disjunction).</a:t>
            </a:r>
          </a:p>
        </p:txBody>
      </p:sp>
      <p:sp>
        <p:nvSpPr>
          <p:cNvPr id="714" name="Shape 714"/>
          <p:cNvSpPr/>
          <p:nvPr/>
        </p:nvSpPr>
        <p:spPr>
          <a:xfrm>
            <a:off x="6728831" y="1574800"/>
            <a:ext cx="804615"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Male</a:t>
            </a:r>
          </a:p>
        </p:txBody>
      </p:sp>
      <p:sp>
        <p:nvSpPr>
          <p:cNvPr id="715" name="Shape 715"/>
          <p:cNvSpPr/>
          <p:nvPr/>
        </p:nvSpPr>
        <p:spPr>
          <a:xfrm>
            <a:off x="11388249" y="1574800"/>
            <a:ext cx="117742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Female</a:t>
            </a:r>
          </a:p>
        </p:txBody>
      </p:sp>
      <p:sp>
        <p:nvSpPr>
          <p:cNvPr id="716" name="Shape 716"/>
          <p:cNvSpPr/>
          <p:nvPr/>
        </p:nvSpPr>
        <p:spPr>
          <a:xfrm>
            <a:off x="5330728" y="2857500"/>
            <a:ext cx="1765301"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a:solidFill>
                  <a:srgbClr val="201B17"/>
                </a:solidFill>
              </a:defRPr>
            </a:lvl1pPr>
          </a:lstStyle>
          <a:p>
            <a:pPr>
              <a:defRPr>
                <a:solidFill>
                  <a:srgbClr val="483F36"/>
                </a:solidFill>
              </a:defRPr>
            </a:pPr>
            <a:r>
              <a:rPr>
                <a:solidFill>
                  <a:srgbClr val="201B17"/>
                </a:solidFill>
              </a:rPr>
              <a:t>Primary spermatocyte</a:t>
            </a:r>
          </a:p>
        </p:txBody>
      </p:sp>
      <p:sp>
        <p:nvSpPr>
          <p:cNvPr id="717" name="Shape 717"/>
          <p:cNvSpPr/>
          <p:nvPr/>
        </p:nvSpPr>
        <p:spPr>
          <a:xfrm>
            <a:off x="5523868" y="4381500"/>
            <a:ext cx="1117601" cy="8679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a:solidFill>
                  <a:srgbClr val="201B17"/>
                </a:solidFill>
              </a:defRPr>
            </a:lvl1pPr>
          </a:lstStyle>
          <a:p>
            <a:pPr>
              <a:defRPr>
                <a:solidFill>
                  <a:srgbClr val="483F36"/>
                </a:solidFill>
              </a:defRPr>
            </a:pPr>
            <a:r>
              <a:rPr>
                <a:solidFill>
                  <a:srgbClr val="201B17"/>
                </a:solidFill>
              </a:rPr>
              <a:t>Mistake during meiosis</a:t>
            </a:r>
          </a:p>
        </p:txBody>
      </p:sp>
      <p:sp>
        <p:nvSpPr>
          <p:cNvPr id="718" name="Shape 718"/>
          <p:cNvSpPr/>
          <p:nvPr/>
        </p:nvSpPr>
        <p:spPr>
          <a:xfrm>
            <a:off x="4811416" y="6477000"/>
            <a:ext cx="1863453"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700"/>
              </a:lnSpc>
              <a:tabLst>
                <a:tab pos="520700" algn="l"/>
              </a:tabLst>
              <a:defRPr sz="2000">
                <a:solidFill>
                  <a:srgbClr val="201B17"/>
                </a:solidFill>
              </a:defRPr>
            </a:lvl1pPr>
          </a:lstStyle>
          <a:p>
            <a:pPr>
              <a:defRPr>
                <a:solidFill>
                  <a:srgbClr val="483F36"/>
                </a:solidFill>
              </a:defRPr>
            </a:pPr>
            <a:r>
              <a:rPr>
                <a:solidFill>
                  <a:srgbClr val="201B17"/>
                </a:solidFill>
              </a:rPr>
              <a:t>Faulty gametes</a:t>
            </a:r>
          </a:p>
        </p:txBody>
      </p:sp>
      <p:sp>
        <p:nvSpPr>
          <p:cNvPr id="719" name="Shape 719"/>
          <p:cNvSpPr/>
          <p:nvPr/>
        </p:nvSpPr>
        <p:spPr>
          <a:xfrm>
            <a:off x="4737174" y="7886700"/>
            <a:ext cx="149845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Offspring</a:t>
            </a:r>
          </a:p>
        </p:txBody>
      </p:sp>
      <p:sp>
        <p:nvSpPr>
          <p:cNvPr id="720" name="Shape 720"/>
          <p:cNvSpPr/>
          <p:nvPr/>
        </p:nvSpPr>
        <p:spPr>
          <a:xfrm>
            <a:off x="6531968" y="8763000"/>
            <a:ext cx="1308399"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Klinefelter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sp>
        <p:nvSpPr>
          <p:cNvPr id="721" name="Shape 721"/>
          <p:cNvSpPr/>
          <p:nvPr/>
        </p:nvSpPr>
        <p:spPr>
          <a:xfrm>
            <a:off x="8055245" y="8763000"/>
            <a:ext cx="1219548"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Turner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sp>
        <p:nvSpPr>
          <p:cNvPr id="722" name="Shape 722"/>
          <p:cNvSpPr/>
          <p:nvPr/>
        </p:nvSpPr>
        <p:spPr>
          <a:xfrm>
            <a:off x="9491068" y="8763000"/>
            <a:ext cx="1308399"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Klinefelter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sp>
        <p:nvSpPr>
          <p:cNvPr id="723" name="Shape 723"/>
          <p:cNvSpPr/>
          <p:nvPr/>
        </p:nvSpPr>
        <p:spPr>
          <a:xfrm>
            <a:off x="11001645" y="8763000"/>
            <a:ext cx="1219548"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Turner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grpSp>
        <p:nvGrpSpPr>
          <p:cNvPr id="726" name="Group 726"/>
          <p:cNvGrpSpPr/>
          <p:nvPr/>
        </p:nvGrpSpPr>
        <p:grpSpPr>
          <a:xfrm>
            <a:off x="8343900" y="7848600"/>
            <a:ext cx="635000" cy="635000"/>
            <a:chOff x="0" y="0"/>
            <a:chExt cx="635000" cy="635000"/>
          </a:xfrm>
        </p:grpSpPr>
        <p:sp>
          <p:nvSpPr>
            <p:cNvPr id="724" name="Shape 724"/>
            <p:cNvSpPr/>
            <p:nvPr/>
          </p:nvSpPr>
          <p:spPr>
            <a:xfrm>
              <a:off x="0" y="0"/>
              <a:ext cx="635000"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25" name="Shape 725"/>
            <p:cNvSpPr/>
            <p:nvPr/>
          </p:nvSpPr>
          <p:spPr>
            <a:xfrm>
              <a:off x="48133" y="203200"/>
              <a:ext cx="457288"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XO</a:t>
              </a:r>
            </a:p>
          </p:txBody>
        </p:sp>
      </p:grpSp>
      <p:grpSp>
        <p:nvGrpSpPr>
          <p:cNvPr id="729" name="Group 729"/>
          <p:cNvGrpSpPr/>
          <p:nvPr/>
        </p:nvGrpSpPr>
        <p:grpSpPr>
          <a:xfrm>
            <a:off x="10147300" y="5295900"/>
            <a:ext cx="508000" cy="508000"/>
            <a:chOff x="0" y="0"/>
            <a:chExt cx="508000" cy="508000"/>
          </a:xfrm>
        </p:grpSpPr>
        <p:sp>
          <p:nvSpPr>
            <p:cNvPr id="727" name="Shape 727"/>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28" name="Shape 728"/>
            <p:cNvSpPr/>
            <p:nvPr/>
          </p:nvSpPr>
          <p:spPr>
            <a:xfrm>
              <a:off x="435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732" name="Group 732"/>
          <p:cNvGrpSpPr/>
          <p:nvPr/>
        </p:nvGrpSpPr>
        <p:grpSpPr>
          <a:xfrm>
            <a:off x="10788460" y="4152900"/>
            <a:ext cx="514540" cy="508000"/>
            <a:chOff x="0" y="0"/>
            <a:chExt cx="514539" cy="508000"/>
          </a:xfrm>
        </p:grpSpPr>
        <p:sp>
          <p:nvSpPr>
            <p:cNvPr id="730" name="Shape 730"/>
            <p:cNvSpPr/>
            <p:nvPr/>
          </p:nvSpPr>
          <p:spPr>
            <a:xfrm>
              <a:off x="6539" y="0"/>
              <a:ext cx="508001"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1" name="Shape 731"/>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XX</a:t>
              </a:r>
            </a:p>
          </p:txBody>
        </p:sp>
      </p:grpSp>
      <p:grpSp>
        <p:nvGrpSpPr>
          <p:cNvPr id="735" name="Group 735"/>
          <p:cNvGrpSpPr/>
          <p:nvPr/>
        </p:nvGrpSpPr>
        <p:grpSpPr>
          <a:xfrm>
            <a:off x="6852160" y="7848600"/>
            <a:ext cx="653540" cy="635000"/>
            <a:chOff x="0" y="0"/>
            <a:chExt cx="653539" cy="635000"/>
          </a:xfrm>
        </p:grpSpPr>
        <p:sp>
          <p:nvSpPr>
            <p:cNvPr id="733" name="Shape 733"/>
            <p:cNvSpPr/>
            <p:nvPr/>
          </p:nvSpPr>
          <p:spPr>
            <a:xfrm>
              <a:off x="18539" y="0"/>
              <a:ext cx="635001"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4" name="Shape 734"/>
            <p:cNvSpPr/>
            <p:nvPr/>
          </p:nvSpPr>
          <p:spPr>
            <a:xfrm>
              <a:off x="0" y="203200"/>
              <a:ext cx="58442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XXY</a:t>
              </a:r>
            </a:p>
          </p:txBody>
        </p:sp>
      </p:grpSp>
      <p:grpSp>
        <p:nvGrpSpPr>
          <p:cNvPr id="738" name="Group 738"/>
          <p:cNvGrpSpPr/>
          <p:nvPr/>
        </p:nvGrpSpPr>
        <p:grpSpPr>
          <a:xfrm>
            <a:off x="11277600" y="7848600"/>
            <a:ext cx="635000" cy="635000"/>
            <a:chOff x="0" y="0"/>
            <a:chExt cx="635000" cy="635000"/>
          </a:xfrm>
        </p:grpSpPr>
        <p:sp>
          <p:nvSpPr>
            <p:cNvPr id="736" name="Shape 736"/>
            <p:cNvSpPr/>
            <p:nvPr/>
          </p:nvSpPr>
          <p:spPr>
            <a:xfrm>
              <a:off x="0" y="0"/>
              <a:ext cx="635000"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7" name="Shape 737"/>
            <p:cNvSpPr/>
            <p:nvPr/>
          </p:nvSpPr>
          <p:spPr>
            <a:xfrm>
              <a:off x="48133" y="203200"/>
              <a:ext cx="457288"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XO</a:t>
              </a:r>
            </a:p>
          </p:txBody>
        </p:sp>
      </p:grpSp>
      <p:grpSp>
        <p:nvGrpSpPr>
          <p:cNvPr id="741" name="Group 741"/>
          <p:cNvGrpSpPr/>
          <p:nvPr/>
        </p:nvGrpSpPr>
        <p:grpSpPr>
          <a:xfrm>
            <a:off x="9811260" y="7848600"/>
            <a:ext cx="653540" cy="635000"/>
            <a:chOff x="0" y="0"/>
            <a:chExt cx="653539" cy="635000"/>
          </a:xfrm>
        </p:grpSpPr>
        <p:sp>
          <p:nvSpPr>
            <p:cNvPr id="739" name="Shape 739"/>
            <p:cNvSpPr/>
            <p:nvPr/>
          </p:nvSpPr>
          <p:spPr>
            <a:xfrm>
              <a:off x="18539" y="0"/>
              <a:ext cx="635001"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40" name="Shape 740"/>
            <p:cNvSpPr/>
            <p:nvPr/>
          </p:nvSpPr>
          <p:spPr>
            <a:xfrm>
              <a:off x="0" y="203200"/>
              <a:ext cx="58442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XXY</a:t>
              </a:r>
            </a:p>
          </p:txBody>
        </p:sp>
      </p:grpSp>
      <p:grpSp>
        <p:nvGrpSpPr>
          <p:cNvPr id="744" name="Group 744"/>
          <p:cNvGrpSpPr/>
          <p:nvPr/>
        </p:nvGrpSpPr>
        <p:grpSpPr>
          <a:xfrm>
            <a:off x="7626160" y="6299200"/>
            <a:ext cx="527240" cy="508000"/>
            <a:chOff x="0" y="0"/>
            <a:chExt cx="527239" cy="508000"/>
          </a:xfrm>
        </p:grpSpPr>
        <p:sp>
          <p:nvSpPr>
            <p:cNvPr id="742" name="Shape 742"/>
            <p:cNvSpPr/>
            <p:nvPr/>
          </p:nvSpPr>
          <p:spPr>
            <a:xfrm>
              <a:off x="192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43" name="Shape 743"/>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sp>
        <p:nvSpPr>
          <p:cNvPr id="745" name="Shape 745"/>
          <p:cNvSpPr/>
          <p:nvPr/>
        </p:nvSpPr>
        <p:spPr>
          <a:xfrm>
            <a:off x="8547100" y="52959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748" name="Group 748"/>
          <p:cNvGrpSpPr/>
          <p:nvPr/>
        </p:nvGrpSpPr>
        <p:grpSpPr>
          <a:xfrm>
            <a:off x="7029260" y="6286500"/>
            <a:ext cx="527240" cy="508000"/>
            <a:chOff x="0" y="0"/>
            <a:chExt cx="527239" cy="508000"/>
          </a:xfrm>
        </p:grpSpPr>
        <p:sp>
          <p:nvSpPr>
            <p:cNvPr id="746" name="Shape 746"/>
            <p:cNvSpPr/>
            <p:nvPr/>
          </p:nvSpPr>
          <p:spPr>
            <a:xfrm>
              <a:off x="192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47" name="Shape 747"/>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grpSp>
        <p:nvGrpSpPr>
          <p:cNvPr id="751" name="Group 751"/>
          <p:cNvGrpSpPr/>
          <p:nvPr/>
        </p:nvGrpSpPr>
        <p:grpSpPr>
          <a:xfrm>
            <a:off x="7308660" y="5270500"/>
            <a:ext cx="527240" cy="508000"/>
            <a:chOff x="0" y="0"/>
            <a:chExt cx="527239" cy="508000"/>
          </a:xfrm>
        </p:grpSpPr>
        <p:sp>
          <p:nvSpPr>
            <p:cNvPr id="749" name="Shape 749"/>
            <p:cNvSpPr/>
            <p:nvPr/>
          </p:nvSpPr>
          <p:spPr>
            <a:xfrm>
              <a:off x="192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0" name="Shape 750"/>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sp>
        <p:nvSpPr>
          <p:cNvPr id="752" name="Shape 752"/>
          <p:cNvSpPr/>
          <p:nvPr/>
        </p:nvSpPr>
        <p:spPr>
          <a:xfrm>
            <a:off x="8890000" y="62738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3" name="Shape 753"/>
          <p:cNvSpPr/>
          <p:nvPr/>
        </p:nvSpPr>
        <p:spPr>
          <a:xfrm>
            <a:off x="8331200" y="62992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756" name="Group 756"/>
          <p:cNvGrpSpPr/>
          <p:nvPr/>
        </p:nvGrpSpPr>
        <p:grpSpPr>
          <a:xfrm>
            <a:off x="9880600" y="6299200"/>
            <a:ext cx="508000" cy="508000"/>
            <a:chOff x="0" y="0"/>
            <a:chExt cx="508000" cy="508000"/>
          </a:xfrm>
        </p:grpSpPr>
        <p:sp>
          <p:nvSpPr>
            <p:cNvPr id="754" name="Shape 754"/>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5" name="Shape 755"/>
            <p:cNvSpPr/>
            <p:nvPr/>
          </p:nvSpPr>
          <p:spPr>
            <a:xfrm>
              <a:off x="562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759" name="Group 759"/>
          <p:cNvGrpSpPr/>
          <p:nvPr/>
        </p:nvGrpSpPr>
        <p:grpSpPr>
          <a:xfrm>
            <a:off x="10490200" y="6299200"/>
            <a:ext cx="508000" cy="508000"/>
            <a:chOff x="0" y="0"/>
            <a:chExt cx="508000" cy="508000"/>
          </a:xfrm>
        </p:grpSpPr>
        <p:sp>
          <p:nvSpPr>
            <p:cNvPr id="757" name="Shape 757"/>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8" name="Shape 758"/>
            <p:cNvSpPr/>
            <p:nvPr/>
          </p:nvSpPr>
          <p:spPr>
            <a:xfrm>
              <a:off x="689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762" name="Group 762"/>
          <p:cNvGrpSpPr/>
          <p:nvPr/>
        </p:nvGrpSpPr>
        <p:grpSpPr>
          <a:xfrm>
            <a:off x="11099800" y="6299200"/>
            <a:ext cx="508000" cy="508000"/>
            <a:chOff x="0" y="0"/>
            <a:chExt cx="508000" cy="508000"/>
          </a:xfrm>
        </p:grpSpPr>
        <p:sp>
          <p:nvSpPr>
            <p:cNvPr id="760" name="Shape 760"/>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1" name="Shape 761"/>
            <p:cNvSpPr/>
            <p:nvPr/>
          </p:nvSpPr>
          <p:spPr>
            <a:xfrm>
              <a:off x="816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765" name="Group 765"/>
          <p:cNvGrpSpPr/>
          <p:nvPr/>
        </p:nvGrpSpPr>
        <p:grpSpPr>
          <a:xfrm>
            <a:off x="11684000" y="6299200"/>
            <a:ext cx="508000" cy="508000"/>
            <a:chOff x="0" y="0"/>
            <a:chExt cx="508000" cy="508000"/>
          </a:xfrm>
        </p:grpSpPr>
        <p:sp>
          <p:nvSpPr>
            <p:cNvPr id="763" name="Shape 763"/>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4" name="Shape 764"/>
            <p:cNvSpPr/>
            <p:nvPr/>
          </p:nvSpPr>
          <p:spPr>
            <a:xfrm>
              <a:off x="562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768" name="Group 768"/>
          <p:cNvGrpSpPr/>
          <p:nvPr/>
        </p:nvGrpSpPr>
        <p:grpSpPr>
          <a:xfrm>
            <a:off x="11366500" y="5295900"/>
            <a:ext cx="508000" cy="508000"/>
            <a:chOff x="0" y="0"/>
            <a:chExt cx="508000" cy="508000"/>
          </a:xfrm>
        </p:grpSpPr>
        <p:sp>
          <p:nvSpPr>
            <p:cNvPr id="766" name="Shape 766"/>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7" name="Shape 767"/>
            <p:cNvSpPr/>
            <p:nvPr/>
          </p:nvSpPr>
          <p:spPr>
            <a:xfrm>
              <a:off x="816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sp>
        <p:nvSpPr>
          <p:cNvPr id="769" name="Shape 769"/>
          <p:cNvSpPr/>
          <p:nvPr/>
        </p:nvSpPr>
        <p:spPr>
          <a:xfrm flipV="1">
            <a:off x="11684000" y="6819900"/>
            <a:ext cx="186267" cy="1058334"/>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0" name="Shape 770"/>
          <p:cNvSpPr/>
          <p:nvPr/>
        </p:nvSpPr>
        <p:spPr>
          <a:xfrm flipV="1">
            <a:off x="10193866" y="6764866"/>
            <a:ext cx="1011768" cy="1075268"/>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1" name="Shape 771"/>
          <p:cNvSpPr/>
          <p:nvPr/>
        </p:nvSpPr>
        <p:spPr>
          <a:xfrm flipV="1">
            <a:off x="8724900" y="6692900"/>
            <a:ext cx="1807634" cy="1155700"/>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2" name="Shape 772"/>
          <p:cNvSpPr/>
          <p:nvPr/>
        </p:nvSpPr>
        <p:spPr>
          <a:xfrm flipV="1">
            <a:off x="7467600" y="6688666"/>
            <a:ext cx="2429934" cy="1274234"/>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3" name="Shape 773"/>
          <p:cNvSpPr/>
          <p:nvPr/>
        </p:nvSpPr>
        <p:spPr>
          <a:xfrm flipV="1">
            <a:off x="7179733" y="6811433"/>
            <a:ext cx="84667" cy="1016001"/>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4" name="Shape 774"/>
          <p:cNvSpPr/>
          <p:nvPr/>
        </p:nvSpPr>
        <p:spPr>
          <a:xfrm flipV="1">
            <a:off x="8597899" y="6807200"/>
            <a:ext cx="1" cy="1049868"/>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5" name="Shape 775"/>
          <p:cNvSpPr/>
          <p:nvPr/>
        </p:nvSpPr>
        <p:spPr>
          <a:xfrm flipH="1" flipV="1">
            <a:off x="8102600" y="6718300"/>
            <a:ext cx="1964267" cy="1113367"/>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76" name="Shape 776"/>
          <p:cNvSpPr/>
          <p:nvPr/>
        </p:nvSpPr>
        <p:spPr>
          <a:xfrm flipH="1" flipV="1">
            <a:off x="9355666" y="6671733"/>
            <a:ext cx="2133601" cy="1181101"/>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779" name="Group 779"/>
          <p:cNvGrpSpPr/>
          <p:nvPr/>
        </p:nvGrpSpPr>
        <p:grpSpPr>
          <a:xfrm>
            <a:off x="7880160" y="4178300"/>
            <a:ext cx="527240" cy="508000"/>
            <a:chOff x="0" y="0"/>
            <a:chExt cx="527239" cy="508000"/>
          </a:xfrm>
        </p:grpSpPr>
        <p:sp>
          <p:nvSpPr>
            <p:cNvPr id="777" name="Shape 777"/>
            <p:cNvSpPr/>
            <p:nvPr/>
          </p:nvSpPr>
          <p:spPr>
            <a:xfrm>
              <a:off x="19239" y="0"/>
              <a:ext cx="508001"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8" name="Shape 778"/>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sp>
        <p:nvSpPr>
          <p:cNvPr id="780" name="Shape 780"/>
          <p:cNvSpPr/>
          <p:nvPr/>
        </p:nvSpPr>
        <p:spPr>
          <a:xfrm flipV="1">
            <a:off x="7594600" y="4643966"/>
            <a:ext cx="423334" cy="630768"/>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1" name="Shape 781"/>
          <p:cNvSpPr/>
          <p:nvPr/>
        </p:nvSpPr>
        <p:spPr>
          <a:xfrm flipH="1" flipV="1">
            <a:off x="8301566" y="4643966"/>
            <a:ext cx="465668" cy="660401"/>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2" name="Shape 782"/>
          <p:cNvSpPr/>
          <p:nvPr/>
        </p:nvSpPr>
        <p:spPr>
          <a:xfrm flipH="1" flipV="1">
            <a:off x="8923866" y="5774266"/>
            <a:ext cx="152401" cy="495301"/>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3" name="Shape 783"/>
          <p:cNvSpPr/>
          <p:nvPr/>
        </p:nvSpPr>
        <p:spPr>
          <a:xfrm flipV="1">
            <a:off x="8589433" y="5795433"/>
            <a:ext cx="114301" cy="5122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4" name="Shape 784"/>
          <p:cNvSpPr/>
          <p:nvPr/>
        </p:nvSpPr>
        <p:spPr>
          <a:xfrm flipH="1" flipV="1">
            <a:off x="7670800" y="5765800"/>
            <a:ext cx="237067" cy="5291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5" name="Shape 785"/>
          <p:cNvSpPr/>
          <p:nvPr/>
        </p:nvSpPr>
        <p:spPr>
          <a:xfrm flipV="1">
            <a:off x="7319433" y="5765800"/>
            <a:ext cx="177801" cy="5249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6" name="Shape 786"/>
          <p:cNvSpPr/>
          <p:nvPr/>
        </p:nvSpPr>
        <p:spPr>
          <a:xfrm flipV="1">
            <a:off x="10160000" y="5786966"/>
            <a:ext cx="148167" cy="4995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7" name="Shape 787"/>
          <p:cNvSpPr/>
          <p:nvPr/>
        </p:nvSpPr>
        <p:spPr>
          <a:xfrm flipH="1" flipV="1">
            <a:off x="10519833" y="5778500"/>
            <a:ext cx="220134" cy="5122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8" name="Shape 788"/>
          <p:cNvSpPr/>
          <p:nvPr/>
        </p:nvSpPr>
        <p:spPr>
          <a:xfrm flipV="1">
            <a:off x="11379200" y="5795433"/>
            <a:ext cx="156634" cy="5164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89" name="Shape 789"/>
          <p:cNvSpPr/>
          <p:nvPr/>
        </p:nvSpPr>
        <p:spPr>
          <a:xfrm flipH="1" flipV="1">
            <a:off x="11739033" y="5782733"/>
            <a:ext cx="148167" cy="5376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0" name="Shape 790"/>
          <p:cNvSpPr/>
          <p:nvPr/>
        </p:nvSpPr>
        <p:spPr>
          <a:xfrm flipH="1" flipV="1">
            <a:off x="11150600" y="4643966"/>
            <a:ext cx="431800" cy="622301"/>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1" name="Shape 791"/>
          <p:cNvSpPr/>
          <p:nvPr/>
        </p:nvSpPr>
        <p:spPr>
          <a:xfrm flipV="1">
            <a:off x="10481733" y="4631266"/>
            <a:ext cx="444501" cy="656168"/>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2" name="Shape 792"/>
          <p:cNvSpPr/>
          <p:nvPr/>
        </p:nvSpPr>
        <p:spPr>
          <a:xfrm flipH="1" flipV="1">
            <a:off x="6807200" y="3458633"/>
            <a:ext cx="1134534" cy="914401"/>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3" name="Shape 793"/>
          <p:cNvSpPr/>
          <p:nvPr/>
        </p:nvSpPr>
        <p:spPr>
          <a:xfrm flipH="1" flipV="1">
            <a:off x="6519333" y="4745566"/>
            <a:ext cx="1947335" cy="101601"/>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4" name="Shape 794"/>
          <p:cNvSpPr/>
          <p:nvPr/>
        </p:nvSpPr>
        <p:spPr>
          <a:xfrm flipH="1" flipV="1">
            <a:off x="6536266" y="4762500"/>
            <a:ext cx="1236134" cy="296334"/>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5" name="Shape 795"/>
          <p:cNvSpPr/>
          <p:nvPr/>
        </p:nvSpPr>
        <p:spPr>
          <a:xfrm>
            <a:off x="12020475" y="7113038"/>
            <a:ext cx="560426"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Adobestock</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1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 grpId="1"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Shape 797"/>
          <p:cNvSpPr/>
          <p:nvPr/>
        </p:nvSpPr>
        <p:spPr>
          <a:xfrm>
            <a:off x="5892800" y="4203700"/>
            <a:ext cx="2565400" cy="31623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98" name="Shape 798"/>
          <p:cNvSpPr/>
          <p:nvPr/>
        </p:nvSpPr>
        <p:spPr>
          <a:xfrm>
            <a:off x="8750300" y="4203700"/>
            <a:ext cx="2565400" cy="31623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99" name="Shape 799"/>
          <p:cNvSpPr>
            <a:spLocks noGrp="1"/>
          </p:cNvSpPr>
          <p:nvPr>
            <p:ph type="body" sz="quarter" idx="1"/>
          </p:nvPr>
        </p:nvSpPr>
        <p:spPr>
          <a:xfrm>
            <a:off x="368300" y="1790700"/>
            <a:ext cx="4513511" cy="3177828"/>
          </a:xfrm>
          <a:prstGeom prst="rect">
            <a:avLst/>
          </a:prstGeom>
        </p:spPr>
        <p:txBody>
          <a:bodyPr/>
          <a:lstStyle/>
          <a:p>
            <a:pPr>
              <a:tabLst>
                <a:tab pos="1016000" algn="l"/>
              </a:tabLst>
            </a:pPr>
            <a:r>
              <a:t>Aneuploidy in human sex chromosomes may result from faulty egg production.</a:t>
            </a:r>
          </a:p>
          <a:p>
            <a:pPr>
              <a:tabLst>
                <a:tab pos="1016000" algn="l"/>
              </a:tabLst>
            </a:pPr>
            <a:r>
              <a:t>This results from failure of the two X chromosomes to separate during meiosis (non-disjunction).</a:t>
            </a:r>
          </a:p>
        </p:txBody>
      </p:sp>
      <p:pic>
        <p:nvPicPr>
          <p:cNvPr id="800" name="Man 1 colour PD.png"/>
          <p:cNvPicPr>
            <a:picLocks noChangeAspect="1"/>
          </p:cNvPicPr>
          <p:nvPr/>
        </p:nvPicPr>
        <p:blipFill>
          <a:blip r:embed="rId2">
            <a:extLst/>
          </a:blip>
          <a:stretch>
            <a:fillRect/>
          </a:stretch>
        </p:blipFill>
        <p:spPr>
          <a:xfrm>
            <a:off x="5967561" y="1310327"/>
            <a:ext cx="2542540" cy="6090070"/>
          </a:xfrm>
          <a:prstGeom prst="rect">
            <a:avLst/>
          </a:prstGeom>
          <a:ln w="12700">
            <a:miter lim="400000"/>
          </a:ln>
        </p:spPr>
      </p:pic>
      <p:pic>
        <p:nvPicPr>
          <p:cNvPr id="801" name=" middle aged woman Adobestock CC colour.png"/>
          <p:cNvPicPr>
            <a:picLocks noChangeAspect="1"/>
          </p:cNvPicPr>
          <p:nvPr/>
        </p:nvPicPr>
        <p:blipFill>
          <a:blip r:embed="rId3">
            <a:extLst/>
          </a:blip>
          <a:stretch>
            <a:fillRect/>
          </a:stretch>
        </p:blipFill>
        <p:spPr>
          <a:xfrm>
            <a:off x="8457803" y="1404348"/>
            <a:ext cx="2869749" cy="5993009"/>
          </a:xfrm>
          <a:prstGeom prst="rect">
            <a:avLst/>
          </a:prstGeom>
          <a:ln w="12700">
            <a:miter lim="400000"/>
          </a:ln>
        </p:spPr>
      </p:pic>
      <p:sp>
        <p:nvSpPr>
          <p:cNvPr id="802" name="Shape 802"/>
          <p:cNvSpPr/>
          <p:nvPr/>
        </p:nvSpPr>
        <p:spPr>
          <a:xfrm>
            <a:off x="10477500" y="63119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3" name="Shape 803"/>
          <p:cNvSpPr/>
          <p:nvPr/>
        </p:nvSpPr>
        <p:spPr>
          <a:xfrm>
            <a:off x="10185400" y="52959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804" name="Faulty Sperm OHT foetus.pdf"/>
          <p:cNvPicPr>
            <a:picLocks noChangeAspect="1"/>
          </p:cNvPicPr>
          <p:nvPr/>
        </p:nvPicPr>
        <p:blipFill>
          <a:blip r:embed="rId4">
            <a:extLst/>
          </a:blip>
          <a:stretch>
            <a:fillRect/>
          </a:stretch>
        </p:blipFill>
        <p:spPr>
          <a:xfrm>
            <a:off x="5575300" y="7378700"/>
            <a:ext cx="1644755" cy="1270000"/>
          </a:xfrm>
          <a:prstGeom prst="rect">
            <a:avLst/>
          </a:prstGeom>
          <a:ln w="12700">
            <a:miter lim="400000"/>
          </a:ln>
          <a:effectLst>
            <a:outerShdw blurRad="190500" dist="190500" dir="2700000" rotWithShape="0">
              <a:srgbClr val="000000">
                <a:alpha val="50000"/>
              </a:srgbClr>
            </a:outerShdw>
          </a:effectLst>
        </p:spPr>
      </p:pic>
      <p:pic>
        <p:nvPicPr>
          <p:cNvPr id="805" name="Faulty Sperm OHT foetus.pdf"/>
          <p:cNvPicPr>
            <a:picLocks noChangeAspect="1"/>
          </p:cNvPicPr>
          <p:nvPr/>
        </p:nvPicPr>
        <p:blipFill>
          <a:blip r:embed="rId4">
            <a:extLst/>
          </a:blip>
          <a:stretch>
            <a:fillRect/>
          </a:stretch>
        </p:blipFill>
        <p:spPr>
          <a:xfrm>
            <a:off x="7023100" y="7378700"/>
            <a:ext cx="1644755" cy="1270000"/>
          </a:xfrm>
          <a:prstGeom prst="rect">
            <a:avLst/>
          </a:prstGeom>
          <a:ln w="12700">
            <a:miter lim="400000"/>
          </a:ln>
          <a:effectLst>
            <a:outerShdw blurRad="190500" dist="190500" dir="2700000" rotWithShape="0">
              <a:srgbClr val="000000">
                <a:alpha val="50000"/>
              </a:srgbClr>
            </a:outerShdw>
          </a:effectLst>
        </p:spPr>
      </p:pic>
      <p:pic>
        <p:nvPicPr>
          <p:cNvPr id="806" name="Faulty Sperm OHT foetus.pdf"/>
          <p:cNvPicPr>
            <a:picLocks noChangeAspect="1"/>
          </p:cNvPicPr>
          <p:nvPr/>
        </p:nvPicPr>
        <p:blipFill>
          <a:blip r:embed="rId4">
            <a:extLst/>
          </a:blip>
          <a:stretch>
            <a:fillRect/>
          </a:stretch>
        </p:blipFill>
        <p:spPr>
          <a:xfrm>
            <a:off x="8559800" y="7378700"/>
            <a:ext cx="1644755" cy="1270000"/>
          </a:xfrm>
          <a:prstGeom prst="rect">
            <a:avLst/>
          </a:prstGeom>
          <a:ln w="12700">
            <a:miter lim="400000"/>
          </a:ln>
          <a:effectLst>
            <a:outerShdw blurRad="190500" dist="190500" dir="2700000" rotWithShape="0">
              <a:srgbClr val="000000">
                <a:alpha val="50000"/>
              </a:srgbClr>
            </a:outerShdw>
          </a:effectLst>
        </p:spPr>
      </p:pic>
      <p:sp>
        <p:nvSpPr>
          <p:cNvPr id="807" name="Shape 807"/>
          <p:cNvSpPr>
            <a:spLocks noGrp="1"/>
          </p:cNvSpPr>
          <p:nvPr>
            <p:ph type="title"/>
          </p:nvPr>
        </p:nvSpPr>
        <p:spPr>
          <a:prstGeom prst="rect">
            <a:avLst/>
          </a:prstGeom>
        </p:spPr>
        <p:txBody>
          <a:bodyPr/>
          <a:lstStyle>
            <a:lvl1pPr>
              <a:tabLst>
                <a:tab pos="952500" algn="l"/>
              </a:tabLst>
            </a:lvl1pPr>
          </a:lstStyle>
          <a:p>
            <a:r>
              <a:t>Faulty Egg Production</a:t>
            </a:r>
          </a:p>
        </p:txBody>
      </p:sp>
      <p:sp>
        <p:nvSpPr>
          <p:cNvPr id="808" name="Shape 808"/>
          <p:cNvSpPr/>
          <p:nvPr/>
        </p:nvSpPr>
        <p:spPr>
          <a:xfrm>
            <a:off x="9931400" y="6299200"/>
            <a:ext cx="508000" cy="508000"/>
          </a:xfrm>
          <a:prstGeom prst="ellipse">
            <a:avLst/>
          </a:prstGeom>
          <a:solidFill>
            <a:srgbClr val="FFF770">
              <a:alpha val="74000"/>
            </a:srgbClr>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811" name="Group 811"/>
          <p:cNvGrpSpPr/>
          <p:nvPr/>
        </p:nvGrpSpPr>
        <p:grpSpPr>
          <a:xfrm>
            <a:off x="6134100" y="5295900"/>
            <a:ext cx="508000" cy="508000"/>
            <a:chOff x="0" y="0"/>
            <a:chExt cx="508000" cy="508000"/>
          </a:xfrm>
        </p:grpSpPr>
        <p:sp>
          <p:nvSpPr>
            <p:cNvPr id="809" name="Shape 809"/>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0" name="Shape 810"/>
            <p:cNvSpPr/>
            <p:nvPr/>
          </p:nvSpPr>
          <p:spPr>
            <a:xfrm>
              <a:off x="689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814" name="Group 814"/>
          <p:cNvGrpSpPr/>
          <p:nvPr/>
        </p:nvGrpSpPr>
        <p:grpSpPr>
          <a:xfrm>
            <a:off x="5905500" y="6311900"/>
            <a:ext cx="508000" cy="508000"/>
            <a:chOff x="0" y="0"/>
            <a:chExt cx="508000" cy="508000"/>
          </a:xfrm>
        </p:grpSpPr>
        <p:sp>
          <p:nvSpPr>
            <p:cNvPr id="812" name="Shape 812"/>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3" name="Shape 813"/>
            <p:cNvSpPr/>
            <p:nvPr/>
          </p:nvSpPr>
          <p:spPr>
            <a:xfrm>
              <a:off x="562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817" name="Group 817"/>
          <p:cNvGrpSpPr/>
          <p:nvPr/>
        </p:nvGrpSpPr>
        <p:grpSpPr>
          <a:xfrm>
            <a:off x="6477000" y="6311900"/>
            <a:ext cx="508000" cy="508000"/>
            <a:chOff x="0" y="0"/>
            <a:chExt cx="508000" cy="508000"/>
          </a:xfrm>
        </p:grpSpPr>
        <p:sp>
          <p:nvSpPr>
            <p:cNvPr id="815" name="Shape 815"/>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6" name="Shape 816"/>
            <p:cNvSpPr/>
            <p:nvPr/>
          </p:nvSpPr>
          <p:spPr>
            <a:xfrm>
              <a:off x="68961" y="139700"/>
              <a:ext cx="27947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a:t>
              </a:r>
            </a:p>
          </p:txBody>
        </p:sp>
      </p:grpSp>
      <p:grpSp>
        <p:nvGrpSpPr>
          <p:cNvPr id="820" name="Group 820"/>
          <p:cNvGrpSpPr/>
          <p:nvPr/>
        </p:nvGrpSpPr>
        <p:grpSpPr>
          <a:xfrm>
            <a:off x="6711760" y="4203700"/>
            <a:ext cx="527240" cy="508000"/>
            <a:chOff x="0" y="0"/>
            <a:chExt cx="527239" cy="508000"/>
          </a:xfrm>
        </p:grpSpPr>
        <p:sp>
          <p:nvSpPr>
            <p:cNvPr id="818" name="Shape 818"/>
            <p:cNvSpPr/>
            <p:nvPr/>
          </p:nvSpPr>
          <p:spPr>
            <a:xfrm>
              <a:off x="19239" y="0"/>
              <a:ext cx="508001"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9" name="Shape 819"/>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grpSp>
        <p:nvGrpSpPr>
          <p:cNvPr id="823" name="Group 823"/>
          <p:cNvGrpSpPr/>
          <p:nvPr/>
        </p:nvGrpSpPr>
        <p:grpSpPr>
          <a:xfrm>
            <a:off x="9302560" y="6311900"/>
            <a:ext cx="514540" cy="508000"/>
            <a:chOff x="0" y="0"/>
            <a:chExt cx="514539" cy="508000"/>
          </a:xfrm>
        </p:grpSpPr>
        <p:sp>
          <p:nvSpPr>
            <p:cNvPr id="821" name="Shape 821"/>
            <p:cNvSpPr/>
            <p:nvPr/>
          </p:nvSpPr>
          <p:spPr>
            <a:xfrm>
              <a:off x="65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2" name="Shape 822"/>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XX</a:t>
              </a:r>
            </a:p>
          </p:txBody>
        </p:sp>
      </p:grpSp>
      <p:grpSp>
        <p:nvGrpSpPr>
          <p:cNvPr id="826" name="Group 826"/>
          <p:cNvGrpSpPr/>
          <p:nvPr/>
        </p:nvGrpSpPr>
        <p:grpSpPr>
          <a:xfrm>
            <a:off x="8718360" y="6311900"/>
            <a:ext cx="514540" cy="508000"/>
            <a:chOff x="0" y="0"/>
            <a:chExt cx="514539" cy="508000"/>
          </a:xfrm>
        </p:grpSpPr>
        <p:sp>
          <p:nvSpPr>
            <p:cNvPr id="824" name="Shape 824"/>
            <p:cNvSpPr/>
            <p:nvPr/>
          </p:nvSpPr>
          <p:spPr>
            <a:xfrm>
              <a:off x="65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5" name="Shape 825"/>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XX</a:t>
              </a:r>
            </a:p>
          </p:txBody>
        </p:sp>
      </p:grpSp>
      <p:grpSp>
        <p:nvGrpSpPr>
          <p:cNvPr id="829" name="Group 829"/>
          <p:cNvGrpSpPr/>
          <p:nvPr/>
        </p:nvGrpSpPr>
        <p:grpSpPr>
          <a:xfrm>
            <a:off x="8959660" y="5295900"/>
            <a:ext cx="514540" cy="508000"/>
            <a:chOff x="0" y="0"/>
            <a:chExt cx="514539" cy="508000"/>
          </a:xfrm>
        </p:grpSpPr>
        <p:sp>
          <p:nvSpPr>
            <p:cNvPr id="827" name="Shape 827"/>
            <p:cNvSpPr/>
            <p:nvPr/>
          </p:nvSpPr>
          <p:spPr>
            <a:xfrm>
              <a:off x="6539" y="0"/>
              <a:ext cx="508001" cy="508000"/>
            </a:xfrm>
            <a:prstGeom prst="ellipse">
              <a:avLst/>
            </a:prstGeom>
            <a:solidFill>
              <a:srgbClr val="FFF770">
                <a:alpha val="74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8" name="Shape 828"/>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XX</a:t>
              </a:r>
            </a:p>
          </p:txBody>
        </p:sp>
      </p:grpSp>
      <p:grpSp>
        <p:nvGrpSpPr>
          <p:cNvPr id="832" name="Group 832"/>
          <p:cNvGrpSpPr/>
          <p:nvPr/>
        </p:nvGrpSpPr>
        <p:grpSpPr>
          <a:xfrm>
            <a:off x="7366000" y="5295900"/>
            <a:ext cx="508000" cy="508000"/>
            <a:chOff x="0" y="0"/>
            <a:chExt cx="508000" cy="508000"/>
          </a:xfrm>
        </p:grpSpPr>
        <p:sp>
          <p:nvSpPr>
            <p:cNvPr id="830" name="Shape 830"/>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31" name="Shape 831"/>
            <p:cNvSpPr/>
            <p:nvPr/>
          </p:nvSpPr>
          <p:spPr>
            <a:xfrm>
              <a:off x="69698" y="139700"/>
              <a:ext cx="27947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Y</a:t>
              </a:r>
            </a:p>
          </p:txBody>
        </p:sp>
      </p:grpSp>
      <p:grpSp>
        <p:nvGrpSpPr>
          <p:cNvPr id="835" name="Group 835"/>
          <p:cNvGrpSpPr/>
          <p:nvPr/>
        </p:nvGrpSpPr>
        <p:grpSpPr>
          <a:xfrm>
            <a:off x="7734300" y="6311900"/>
            <a:ext cx="508000" cy="508000"/>
            <a:chOff x="0" y="0"/>
            <a:chExt cx="508000" cy="508000"/>
          </a:xfrm>
        </p:grpSpPr>
        <p:sp>
          <p:nvSpPr>
            <p:cNvPr id="833" name="Shape 833"/>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34" name="Shape 834"/>
            <p:cNvSpPr/>
            <p:nvPr/>
          </p:nvSpPr>
          <p:spPr>
            <a:xfrm>
              <a:off x="82398" y="139700"/>
              <a:ext cx="27947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Y</a:t>
              </a:r>
            </a:p>
          </p:txBody>
        </p:sp>
      </p:grpSp>
      <p:grpSp>
        <p:nvGrpSpPr>
          <p:cNvPr id="838" name="Group 838"/>
          <p:cNvGrpSpPr/>
          <p:nvPr/>
        </p:nvGrpSpPr>
        <p:grpSpPr>
          <a:xfrm>
            <a:off x="7150100" y="6311900"/>
            <a:ext cx="508000" cy="508000"/>
            <a:chOff x="0" y="0"/>
            <a:chExt cx="508000" cy="508000"/>
          </a:xfrm>
        </p:grpSpPr>
        <p:sp>
          <p:nvSpPr>
            <p:cNvPr id="836" name="Shape 836"/>
            <p:cNvSpPr/>
            <p:nvPr/>
          </p:nvSpPr>
          <p:spPr>
            <a:xfrm>
              <a:off x="0" y="0"/>
              <a:ext cx="508000"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37" name="Shape 837"/>
            <p:cNvSpPr/>
            <p:nvPr/>
          </p:nvSpPr>
          <p:spPr>
            <a:xfrm>
              <a:off x="69698" y="139700"/>
              <a:ext cx="27947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Y</a:t>
              </a:r>
            </a:p>
          </p:txBody>
        </p:sp>
      </p:grpSp>
      <p:grpSp>
        <p:nvGrpSpPr>
          <p:cNvPr id="841" name="Group 841"/>
          <p:cNvGrpSpPr/>
          <p:nvPr/>
        </p:nvGrpSpPr>
        <p:grpSpPr>
          <a:xfrm>
            <a:off x="10375900" y="7823200"/>
            <a:ext cx="635000" cy="635000"/>
            <a:chOff x="0" y="0"/>
            <a:chExt cx="635000" cy="635000"/>
          </a:xfrm>
        </p:grpSpPr>
        <p:sp>
          <p:nvSpPr>
            <p:cNvPr id="839" name="Shape 839"/>
            <p:cNvSpPr/>
            <p:nvPr/>
          </p:nvSpPr>
          <p:spPr>
            <a:xfrm>
              <a:off x="0" y="0"/>
              <a:ext cx="635000"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40" name="Shape 840"/>
            <p:cNvSpPr/>
            <p:nvPr/>
          </p:nvSpPr>
          <p:spPr>
            <a:xfrm>
              <a:off x="48133" y="203200"/>
              <a:ext cx="457288"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YO</a:t>
              </a:r>
            </a:p>
          </p:txBody>
        </p:sp>
      </p:grpSp>
      <p:grpSp>
        <p:nvGrpSpPr>
          <p:cNvPr id="844" name="Group 844"/>
          <p:cNvGrpSpPr/>
          <p:nvPr/>
        </p:nvGrpSpPr>
        <p:grpSpPr>
          <a:xfrm>
            <a:off x="5950460" y="7823200"/>
            <a:ext cx="653540" cy="635000"/>
            <a:chOff x="0" y="0"/>
            <a:chExt cx="653539" cy="635000"/>
          </a:xfrm>
        </p:grpSpPr>
        <p:sp>
          <p:nvSpPr>
            <p:cNvPr id="842" name="Shape 842"/>
            <p:cNvSpPr/>
            <p:nvPr/>
          </p:nvSpPr>
          <p:spPr>
            <a:xfrm>
              <a:off x="18539" y="0"/>
              <a:ext cx="635001"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43" name="Shape 843"/>
            <p:cNvSpPr/>
            <p:nvPr/>
          </p:nvSpPr>
          <p:spPr>
            <a:xfrm>
              <a:off x="0" y="203200"/>
              <a:ext cx="58442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XXX</a:t>
              </a:r>
            </a:p>
          </p:txBody>
        </p:sp>
      </p:grpSp>
      <p:grpSp>
        <p:nvGrpSpPr>
          <p:cNvPr id="847" name="Group 847"/>
          <p:cNvGrpSpPr/>
          <p:nvPr/>
        </p:nvGrpSpPr>
        <p:grpSpPr>
          <a:xfrm>
            <a:off x="8902700" y="7823200"/>
            <a:ext cx="635000" cy="635000"/>
            <a:chOff x="0" y="0"/>
            <a:chExt cx="635000" cy="635000"/>
          </a:xfrm>
        </p:grpSpPr>
        <p:sp>
          <p:nvSpPr>
            <p:cNvPr id="845" name="Shape 845"/>
            <p:cNvSpPr/>
            <p:nvPr/>
          </p:nvSpPr>
          <p:spPr>
            <a:xfrm>
              <a:off x="0" y="0"/>
              <a:ext cx="635000"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46" name="Shape 846"/>
            <p:cNvSpPr/>
            <p:nvPr/>
          </p:nvSpPr>
          <p:spPr>
            <a:xfrm>
              <a:off x="48133" y="203200"/>
              <a:ext cx="457288"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XO</a:t>
              </a:r>
            </a:p>
          </p:txBody>
        </p:sp>
      </p:grpSp>
      <p:sp>
        <p:nvSpPr>
          <p:cNvPr id="848" name="Shape 848"/>
          <p:cNvSpPr/>
          <p:nvPr/>
        </p:nvSpPr>
        <p:spPr>
          <a:xfrm flipV="1">
            <a:off x="6485466" y="4673600"/>
            <a:ext cx="338668" cy="6434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9" name="Shape 849"/>
          <p:cNvSpPr/>
          <p:nvPr/>
        </p:nvSpPr>
        <p:spPr>
          <a:xfrm flipH="1" flipV="1">
            <a:off x="7128933" y="4673600"/>
            <a:ext cx="440267" cy="660400"/>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0" name="Shape 850"/>
          <p:cNvSpPr/>
          <p:nvPr/>
        </p:nvSpPr>
        <p:spPr>
          <a:xfrm flipH="1" flipV="1">
            <a:off x="7725833" y="5791200"/>
            <a:ext cx="198967" cy="520700"/>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1" name="Shape 851"/>
          <p:cNvSpPr/>
          <p:nvPr/>
        </p:nvSpPr>
        <p:spPr>
          <a:xfrm flipV="1">
            <a:off x="7382933" y="5757333"/>
            <a:ext cx="135467" cy="5757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2" name="Shape 852"/>
          <p:cNvSpPr/>
          <p:nvPr/>
        </p:nvSpPr>
        <p:spPr>
          <a:xfrm flipV="1">
            <a:off x="6172200" y="5791200"/>
            <a:ext cx="110067" cy="520700"/>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3" name="Shape 853"/>
          <p:cNvSpPr/>
          <p:nvPr/>
        </p:nvSpPr>
        <p:spPr>
          <a:xfrm flipH="1" flipV="1">
            <a:off x="6519333" y="5791200"/>
            <a:ext cx="169334" cy="5418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4" name="Shape 854"/>
          <p:cNvSpPr/>
          <p:nvPr/>
        </p:nvSpPr>
        <p:spPr>
          <a:xfrm flipH="1" flipV="1">
            <a:off x="9300633" y="5791200"/>
            <a:ext cx="169334" cy="5418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5" name="Shape 855"/>
          <p:cNvSpPr/>
          <p:nvPr/>
        </p:nvSpPr>
        <p:spPr>
          <a:xfrm flipV="1">
            <a:off x="8936566" y="5774266"/>
            <a:ext cx="173568" cy="546101"/>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6" name="Shape 856"/>
          <p:cNvSpPr/>
          <p:nvPr/>
        </p:nvSpPr>
        <p:spPr>
          <a:xfrm flipH="1" flipV="1">
            <a:off x="10532533" y="5791200"/>
            <a:ext cx="169334" cy="508000"/>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7" name="Shape 857"/>
          <p:cNvSpPr/>
          <p:nvPr/>
        </p:nvSpPr>
        <p:spPr>
          <a:xfrm flipV="1">
            <a:off x="10168466" y="5774266"/>
            <a:ext cx="127001" cy="550334"/>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8" name="Shape 858"/>
          <p:cNvSpPr/>
          <p:nvPr/>
        </p:nvSpPr>
        <p:spPr>
          <a:xfrm flipV="1">
            <a:off x="9313333" y="4563533"/>
            <a:ext cx="359834" cy="7196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9" name="Shape 859"/>
          <p:cNvSpPr/>
          <p:nvPr/>
        </p:nvSpPr>
        <p:spPr>
          <a:xfrm flipH="1" flipV="1">
            <a:off x="10007600" y="4538133"/>
            <a:ext cx="338667" cy="745067"/>
          </a:xfrm>
          <a:prstGeom prst="line">
            <a:avLst/>
          </a:prstGeom>
          <a:ln w="50800">
            <a:solidFill>
              <a:srgbClr val="FF26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0" name="Shape 860"/>
          <p:cNvSpPr/>
          <p:nvPr/>
        </p:nvSpPr>
        <p:spPr>
          <a:xfrm flipV="1">
            <a:off x="10701866" y="6849533"/>
            <a:ext cx="38101" cy="990601"/>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1" name="Shape 861"/>
          <p:cNvSpPr/>
          <p:nvPr/>
        </p:nvSpPr>
        <p:spPr>
          <a:xfrm flipV="1">
            <a:off x="9313333" y="6773333"/>
            <a:ext cx="711201" cy="1032934"/>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2" name="Shape 862"/>
          <p:cNvSpPr/>
          <p:nvPr/>
        </p:nvSpPr>
        <p:spPr>
          <a:xfrm flipV="1">
            <a:off x="7958666" y="6705600"/>
            <a:ext cx="1388534" cy="1049867"/>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3" name="Shape 863"/>
          <p:cNvSpPr/>
          <p:nvPr/>
        </p:nvSpPr>
        <p:spPr>
          <a:xfrm flipV="1">
            <a:off x="6485466" y="6671733"/>
            <a:ext cx="2252134" cy="1151467"/>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4" name="Shape 864"/>
          <p:cNvSpPr/>
          <p:nvPr/>
        </p:nvSpPr>
        <p:spPr>
          <a:xfrm flipH="1" flipV="1">
            <a:off x="8229600" y="6739466"/>
            <a:ext cx="2319867" cy="1049868"/>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5" name="Shape 865"/>
          <p:cNvSpPr/>
          <p:nvPr/>
        </p:nvSpPr>
        <p:spPr>
          <a:xfrm flipH="1" flipV="1">
            <a:off x="7450666" y="6824133"/>
            <a:ext cx="304801" cy="965201"/>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6" name="Shape 866"/>
          <p:cNvSpPr/>
          <p:nvPr/>
        </p:nvSpPr>
        <p:spPr>
          <a:xfrm flipH="1" flipV="1">
            <a:off x="6925733" y="6739466"/>
            <a:ext cx="2235201" cy="1049868"/>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7" name="Shape 867"/>
          <p:cNvSpPr/>
          <p:nvPr/>
        </p:nvSpPr>
        <p:spPr>
          <a:xfrm flipH="1" flipV="1">
            <a:off x="6180666" y="6841066"/>
            <a:ext cx="118534" cy="982134"/>
          </a:xfrm>
          <a:prstGeom prst="line">
            <a:avLst/>
          </a:prstGeom>
          <a:ln w="25400">
            <a:solidFill>
              <a:srgbClr val="FF2600"/>
            </a:solidFill>
            <a:prstDash val="sysDot"/>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68" name="Shape 868"/>
          <p:cNvSpPr/>
          <p:nvPr/>
        </p:nvSpPr>
        <p:spPr>
          <a:xfrm>
            <a:off x="5725531" y="1562100"/>
            <a:ext cx="804615"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Male</a:t>
            </a:r>
          </a:p>
        </p:txBody>
      </p:sp>
      <p:sp>
        <p:nvSpPr>
          <p:cNvPr id="869" name="Shape 869"/>
          <p:cNvSpPr/>
          <p:nvPr/>
        </p:nvSpPr>
        <p:spPr>
          <a:xfrm>
            <a:off x="10207149" y="1562100"/>
            <a:ext cx="1177429"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Female</a:t>
            </a:r>
          </a:p>
        </p:txBody>
      </p:sp>
      <p:sp>
        <p:nvSpPr>
          <p:cNvPr id="870" name="Shape 870"/>
          <p:cNvSpPr/>
          <p:nvPr/>
        </p:nvSpPr>
        <p:spPr>
          <a:xfrm>
            <a:off x="11348752" y="4152900"/>
            <a:ext cx="1168401"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Primary </a:t>
            </a:r>
          </a:p>
          <a:p>
            <a:pPr>
              <a:lnSpc>
                <a:spcPts val="2400"/>
              </a:lnSpc>
              <a:tabLst>
                <a:tab pos="5207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oocyte</a:t>
            </a:r>
          </a:p>
        </p:txBody>
      </p:sp>
      <p:sp>
        <p:nvSpPr>
          <p:cNvPr id="871" name="Shape 871"/>
          <p:cNvSpPr/>
          <p:nvPr/>
        </p:nvSpPr>
        <p:spPr>
          <a:xfrm>
            <a:off x="11343763" y="5270500"/>
            <a:ext cx="1270001" cy="8679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Mistake </a:t>
            </a:r>
          </a:p>
          <a:p>
            <a:pPr>
              <a:lnSpc>
                <a:spcPts val="2400"/>
              </a:lnSpc>
              <a:tabLst>
                <a:tab pos="5207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during </a:t>
            </a:r>
          </a:p>
          <a:p>
            <a:pPr>
              <a:lnSpc>
                <a:spcPts val="2400"/>
              </a:lnSpc>
              <a:tabLst>
                <a:tab pos="5207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meiosis</a:t>
            </a:r>
          </a:p>
        </p:txBody>
      </p:sp>
      <p:sp>
        <p:nvSpPr>
          <p:cNvPr id="872" name="Shape 872"/>
          <p:cNvSpPr/>
          <p:nvPr/>
        </p:nvSpPr>
        <p:spPr>
          <a:xfrm>
            <a:off x="11343842" y="6413500"/>
            <a:ext cx="1193801"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a:solidFill>
                  <a:srgbClr val="000000"/>
                </a:solidFill>
              </a:defRPr>
            </a:lvl1pPr>
          </a:lstStyle>
          <a:p>
            <a:r>
              <a:t>Faulty gametes</a:t>
            </a:r>
          </a:p>
        </p:txBody>
      </p:sp>
      <p:sp>
        <p:nvSpPr>
          <p:cNvPr id="873" name="Shape 873"/>
          <p:cNvSpPr/>
          <p:nvPr/>
        </p:nvSpPr>
        <p:spPr>
          <a:xfrm>
            <a:off x="11226873" y="7950200"/>
            <a:ext cx="149845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201B17"/>
                </a:solidFill>
              </a:defRPr>
            </a:lvl1pPr>
          </a:lstStyle>
          <a:p>
            <a:pPr>
              <a:defRPr>
                <a:solidFill>
                  <a:srgbClr val="483F36"/>
                </a:solidFill>
              </a:defRPr>
            </a:pPr>
            <a:r>
              <a:rPr>
                <a:solidFill>
                  <a:srgbClr val="201B17"/>
                </a:solidFill>
              </a:rPr>
              <a:t>Offspring</a:t>
            </a:r>
          </a:p>
        </p:txBody>
      </p:sp>
      <p:sp>
        <p:nvSpPr>
          <p:cNvPr id="874" name="Shape 874"/>
          <p:cNvSpPr/>
          <p:nvPr/>
        </p:nvSpPr>
        <p:spPr>
          <a:xfrm>
            <a:off x="10092946" y="8826500"/>
            <a:ext cx="121943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0000"/>
                </a:solidFill>
              </a:defRPr>
            </a:lvl1pPr>
          </a:lstStyle>
          <a:p>
            <a:pPr>
              <a:defRPr b="0">
                <a:solidFill>
                  <a:srgbClr val="483F36"/>
                </a:solidFill>
              </a:defRPr>
            </a:pPr>
            <a:r>
              <a:rPr b="1">
                <a:solidFill>
                  <a:srgbClr val="000000"/>
                </a:solidFill>
              </a:rPr>
              <a:t>Not viable</a:t>
            </a:r>
          </a:p>
        </p:txBody>
      </p:sp>
      <p:sp>
        <p:nvSpPr>
          <p:cNvPr id="875" name="Shape 875"/>
          <p:cNvSpPr/>
          <p:nvPr/>
        </p:nvSpPr>
        <p:spPr>
          <a:xfrm>
            <a:off x="8614045" y="8801100"/>
            <a:ext cx="1219548"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Turner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sp>
        <p:nvSpPr>
          <p:cNvPr id="876" name="Shape 876"/>
          <p:cNvSpPr/>
          <p:nvPr/>
        </p:nvSpPr>
        <p:spPr>
          <a:xfrm>
            <a:off x="7166968" y="8801100"/>
            <a:ext cx="1308399"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Klinefelter</a:t>
            </a:r>
            <a:endParaRPr sz="1800">
              <a:solidFill>
                <a:srgbClr val="000000"/>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syndrome</a:t>
            </a:r>
          </a:p>
        </p:txBody>
      </p:sp>
      <p:sp>
        <p:nvSpPr>
          <p:cNvPr id="877" name="Shape 877"/>
          <p:cNvSpPr/>
          <p:nvPr/>
        </p:nvSpPr>
        <p:spPr>
          <a:xfrm>
            <a:off x="5595187" y="8801100"/>
            <a:ext cx="137213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0000"/>
                </a:solidFill>
              </a:defRPr>
            </a:lvl1pPr>
          </a:lstStyle>
          <a:p>
            <a:pPr>
              <a:defRPr sz="2800" b="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Metafemale</a:t>
            </a:r>
          </a:p>
        </p:txBody>
      </p:sp>
      <p:grpSp>
        <p:nvGrpSpPr>
          <p:cNvPr id="880" name="Group 880"/>
          <p:cNvGrpSpPr/>
          <p:nvPr/>
        </p:nvGrpSpPr>
        <p:grpSpPr>
          <a:xfrm>
            <a:off x="7512560" y="7823200"/>
            <a:ext cx="653540" cy="635000"/>
            <a:chOff x="0" y="0"/>
            <a:chExt cx="653539" cy="635000"/>
          </a:xfrm>
        </p:grpSpPr>
        <p:sp>
          <p:nvSpPr>
            <p:cNvPr id="878" name="Shape 878"/>
            <p:cNvSpPr/>
            <p:nvPr/>
          </p:nvSpPr>
          <p:spPr>
            <a:xfrm>
              <a:off x="18539" y="0"/>
              <a:ext cx="635001" cy="635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79" name="Shape 879"/>
            <p:cNvSpPr/>
            <p:nvPr/>
          </p:nvSpPr>
          <p:spPr>
            <a:xfrm>
              <a:off x="0" y="203200"/>
              <a:ext cx="58442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XXY</a:t>
              </a:r>
            </a:p>
          </p:txBody>
        </p:sp>
      </p:grpSp>
      <p:grpSp>
        <p:nvGrpSpPr>
          <p:cNvPr id="883" name="Group 883"/>
          <p:cNvGrpSpPr/>
          <p:nvPr/>
        </p:nvGrpSpPr>
        <p:grpSpPr>
          <a:xfrm>
            <a:off x="9581960" y="4102100"/>
            <a:ext cx="514540" cy="508000"/>
            <a:chOff x="0" y="0"/>
            <a:chExt cx="514539" cy="508000"/>
          </a:xfrm>
        </p:grpSpPr>
        <p:sp>
          <p:nvSpPr>
            <p:cNvPr id="881" name="Shape 881"/>
            <p:cNvSpPr/>
            <p:nvPr/>
          </p:nvSpPr>
          <p:spPr>
            <a:xfrm>
              <a:off x="6539" y="0"/>
              <a:ext cx="508001" cy="508000"/>
            </a:xfrm>
            <a:prstGeom prst="ellipse">
              <a:avLst/>
            </a:prstGeom>
            <a:solidFill>
              <a:srgbClr val="FFF9F5">
                <a:alpha val="75000"/>
              </a:srgbClr>
            </a:solidFill>
            <a:ln w="127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82" name="Shape 882"/>
            <p:cNvSpPr/>
            <p:nvPr/>
          </p:nvSpPr>
          <p:spPr>
            <a:xfrm>
              <a:off x="0" y="1397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a:solidFill>
                    <a:srgbClr val="483F36"/>
                  </a:solidFill>
                </a:defRPr>
              </a:pPr>
              <a:r>
                <a:rPr>
                  <a:solidFill>
                    <a:srgbClr val="201B17"/>
                  </a:solidFill>
                </a:rPr>
                <a:t>XX</a:t>
              </a:r>
            </a:p>
          </p:txBody>
        </p:sp>
      </p:grpSp>
      <p:sp>
        <p:nvSpPr>
          <p:cNvPr id="884" name="Shape 884"/>
          <p:cNvSpPr/>
          <p:nvPr/>
        </p:nvSpPr>
        <p:spPr>
          <a:xfrm>
            <a:off x="10041466" y="4419600"/>
            <a:ext cx="1354668"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85" name="Shape 885"/>
          <p:cNvSpPr/>
          <p:nvPr/>
        </p:nvSpPr>
        <p:spPr>
          <a:xfrm>
            <a:off x="10481733" y="5537200"/>
            <a:ext cx="914401"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86" name="Shape 886"/>
          <p:cNvSpPr/>
          <p:nvPr/>
        </p:nvSpPr>
        <p:spPr>
          <a:xfrm>
            <a:off x="10718800" y="6536266"/>
            <a:ext cx="643467" cy="12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87" name="Shape 887"/>
          <p:cNvSpPr/>
          <p:nvPr/>
        </p:nvSpPr>
        <p:spPr>
          <a:xfrm>
            <a:off x="10928275" y="7138438"/>
            <a:ext cx="560426"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Adobestock</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9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9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 grpId="1" build="p" bldLvl="5"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 name="Shape 889"/>
          <p:cNvSpPr>
            <a:spLocks noGrp="1"/>
          </p:cNvSpPr>
          <p:nvPr>
            <p:ph type="title"/>
          </p:nvPr>
        </p:nvSpPr>
        <p:spPr>
          <a:prstGeom prst="rect">
            <a:avLst/>
          </a:prstGeom>
        </p:spPr>
        <p:txBody>
          <a:bodyPr/>
          <a:lstStyle>
            <a:lvl1pPr>
              <a:tabLst>
                <a:tab pos="952500" algn="l"/>
              </a:tabLst>
              <a:defRPr sz="5800" spc="-174"/>
            </a:lvl1pPr>
          </a:lstStyle>
          <a:p>
            <a:pPr>
              <a:defRPr sz="6400" spc="0"/>
            </a:pPr>
            <a:r>
              <a:rPr sz="5800" spc="-174"/>
              <a:t>Aneuploidy in Sex Chromosomes</a:t>
            </a:r>
          </a:p>
        </p:txBody>
      </p:sp>
      <p:sp>
        <p:nvSpPr>
          <p:cNvPr id="890" name="Shape 890"/>
          <p:cNvSpPr>
            <a:spLocks noGrp="1"/>
          </p:cNvSpPr>
          <p:nvPr>
            <p:ph type="body" sz="quarter" idx="1"/>
          </p:nvPr>
        </p:nvSpPr>
        <p:spPr>
          <a:xfrm>
            <a:off x="368300" y="1397000"/>
            <a:ext cx="11902381" cy="1189832"/>
          </a:xfrm>
          <a:prstGeom prst="rect">
            <a:avLst/>
          </a:prstGeom>
        </p:spPr>
        <p:txBody>
          <a:bodyPr/>
          <a:lstStyle>
            <a:lvl1pPr>
              <a:tabLst>
                <a:tab pos="1016000" algn="l"/>
              </a:tabLst>
            </a:lvl1pPr>
          </a:lstStyle>
          <a:p>
            <a:r>
              <a:t>Unusual sex chromosome configurations can arise from mistakes made during gamete formation (failure of sex chromosomes to separate properly during meiosis).</a:t>
            </a:r>
          </a:p>
        </p:txBody>
      </p:sp>
      <p:graphicFrame>
        <p:nvGraphicFramePr>
          <p:cNvPr id="891" name="Table 891"/>
          <p:cNvGraphicFramePr/>
          <p:nvPr/>
        </p:nvGraphicFramePr>
        <p:xfrm>
          <a:off x="825500" y="2298700"/>
          <a:ext cx="10655300" cy="7099300"/>
        </p:xfrm>
        <a:graphic>
          <a:graphicData uri="http://schemas.openxmlformats.org/drawingml/2006/table">
            <a:tbl>
              <a:tblPr>
                <a:tableStyleId>{8F44A2F1-9E1F-4B54-A3A2-5F16C0AD49E2}</a:tableStyleId>
              </a:tblPr>
              <a:tblGrid>
                <a:gridCol w="35433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5549900">
                  <a:extLst>
                    <a:ext uri="{9D8B030D-6E8A-4147-A177-3AD203B41FA5}">
                      <a16:colId xmlns:a16="http://schemas.microsoft.com/office/drawing/2014/main" val="20002"/>
                    </a:ext>
                  </a:extLst>
                </a:gridCol>
              </a:tblGrid>
              <a:tr h="889000">
                <a:tc gridSpan="3">
                  <a:txBody>
                    <a:bodyPr/>
                    <a:lstStyle/>
                    <a:p>
                      <a:pPr defTabSz="914400">
                        <a:lnSpc>
                          <a:spcPts val="2400"/>
                        </a:lnSpc>
                        <a:tabLst>
                          <a:tab pos="520700" algn="l"/>
                        </a:tabLst>
                        <a:defRPr sz="2000">
                          <a:solidFill>
                            <a:srgbClr val="000000"/>
                          </a:solidFill>
                          <a:sym typeface="Hoefler Text"/>
                        </a:defRPr>
                      </a:pPr>
                      <a:endParaRP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69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XO</a:t>
                      </a:r>
                      <a:r>
                        <a:rPr b="0"/>
                        <a:t>, monosomic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Female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Turner syndrome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1"/>
                  </a:ext>
                </a:extLst>
              </a:tr>
              <a:tr h="6477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XX</a:t>
                      </a:r>
                      <a:r>
                        <a:rPr b="0"/>
                        <a:t>, disomic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Female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tc>
                  <a:txBody>
                    <a:bodyPr/>
                    <a:lstStyle/>
                    <a:p>
                      <a:pPr marL="114300" algn="l" defTabSz="457200">
                        <a:lnSpc>
                          <a:spcPts val="2400"/>
                        </a:lnSpc>
                        <a:tabLst>
                          <a:tab pos="520700" algn="l"/>
                        </a:tabLst>
                        <a:defRPr>
                          <a:solidFill>
                            <a:srgbClr val="000000"/>
                          </a:solidFill>
                        </a:defRPr>
                      </a:pPr>
                      <a:r>
                        <a:rPr sz="2000" b="1">
                          <a:latin typeface="+mn-lt"/>
                          <a:ea typeface="+mn-ea"/>
                          <a:cs typeface="+mn-cs"/>
                          <a:sym typeface="Arial"/>
                        </a:rPr>
                        <a:t>Normal female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extLst>
                  <a:ext uri="{0D108BD9-81ED-4DB2-BD59-A6C34878D82A}">
                    <a16:rowId xmlns:a16="http://schemas.microsoft.com/office/drawing/2014/main" val="10002"/>
                  </a:ext>
                </a:extLst>
              </a:tr>
              <a:tr h="9144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XXX</a:t>
                      </a:r>
                      <a:r>
                        <a:rPr b="0"/>
                        <a:t>, trisomic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Female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Metafemale. Most appear normal; they have a greater tendency to criminality</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3"/>
                  </a:ext>
                </a:extLst>
              </a:tr>
              <a:tr h="9271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XXXX</a:t>
                      </a:r>
                      <a:r>
                        <a:rPr b="0"/>
                        <a:t>, tetrasomic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Female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Rather like Down syndrome, with low fertility and intelligence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4"/>
                  </a:ext>
                </a:extLst>
              </a:tr>
              <a:tr h="6604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XY</a:t>
                      </a:r>
                      <a:r>
                        <a:rPr b="0"/>
                        <a:t>, disomic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tc>
                  <a:txBody>
                    <a:bodyPr/>
                    <a:lstStyle/>
                    <a:p>
                      <a:pPr marL="114300" algn="l" defTabSz="457200">
                        <a:lnSpc>
                          <a:spcPts val="2400"/>
                        </a:lnSpc>
                        <a:tabLst>
                          <a:tab pos="520700" algn="l"/>
                        </a:tabLst>
                        <a:defRPr>
                          <a:solidFill>
                            <a:srgbClr val="000000"/>
                          </a:solidFill>
                        </a:defRPr>
                      </a:pPr>
                      <a:r>
                        <a:rPr sz="2000" b="1">
                          <a:latin typeface="+mn-lt"/>
                          <a:ea typeface="+mn-ea"/>
                          <a:cs typeface="+mn-cs"/>
                          <a:sym typeface="Arial"/>
                        </a:rPr>
                        <a:t>Normal 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C5E0ED"/>
                    </a:solidFill>
                  </a:tcPr>
                </a:tc>
                <a:extLst>
                  <a:ext uri="{0D108BD9-81ED-4DB2-BD59-A6C34878D82A}">
                    <a16:rowId xmlns:a16="http://schemas.microsoft.com/office/drawing/2014/main" val="10005"/>
                  </a:ext>
                </a:extLst>
              </a:tr>
              <a:tr h="7874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XYY</a:t>
                      </a:r>
                      <a:r>
                        <a:rPr b="0"/>
                        <a:t>, trisomic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Jacob syndrome. Apparently normal male, tall, aggressive.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6"/>
                  </a:ext>
                </a:extLst>
              </a:tr>
              <a:tr h="9144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XXY</a:t>
                      </a:r>
                      <a:r>
                        <a:rPr b="0"/>
                        <a:t>, trisomic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Klinefelter syndrome. Incidence 1 in 10,000 live male births, with a maternal age effect.</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7"/>
                  </a:ext>
                </a:extLst>
              </a:tr>
              <a:tr h="762000">
                <a:tc>
                  <a:txBody>
                    <a:bodyPr/>
                    <a:lstStyle/>
                    <a:p>
                      <a:pPr marL="114300" algn="l" defTabSz="457200">
                        <a:lnSpc>
                          <a:spcPts val="2400"/>
                        </a:lnSpc>
                        <a:tabLst>
                          <a:tab pos="520700" algn="l"/>
                        </a:tabLst>
                        <a:defRPr sz="2000" b="1">
                          <a:solidFill>
                            <a:srgbClr val="000000"/>
                          </a:solidFill>
                          <a:latin typeface="+mn-lt"/>
                          <a:ea typeface="+mn-ea"/>
                          <a:cs typeface="+mn-cs"/>
                          <a:sym typeface="Arial"/>
                        </a:defRPr>
                      </a:pPr>
                      <a:r>
                        <a:t>XXXY</a:t>
                      </a:r>
                      <a:r>
                        <a:rPr b="0"/>
                        <a:t>, tetrasomic</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defTabSz="457200">
                        <a:lnSpc>
                          <a:spcPts val="2400"/>
                        </a:lnSpc>
                        <a:tabLst>
                          <a:tab pos="520700" algn="l"/>
                        </a:tabLst>
                        <a:defRPr>
                          <a:solidFill>
                            <a:srgbClr val="000000"/>
                          </a:solidFill>
                        </a:defRPr>
                      </a:pPr>
                      <a:r>
                        <a:rPr sz="2000">
                          <a:latin typeface="+mn-lt"/>
                          <a:ea typeface="+mn-ea"/>
                          <a:cs typeface="+mn-cs"/>
                          <a:sym typeface="Arial"/>
                        </a:rPr>
                        <a:t>Male</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tc>
                  <a:txBody>
                    <a:bodyPr/>
                    <a:lstStyle/>
                    <a:p>
                      <a:pPr marL="114300" algn="l" defTabSz="457200">
                        <a:lnSpc>
                          <a:spcPts val="2400"/>
                        </a:lnSpc>
                        <a:tabLst>
                          <a:tab pos="520700" algn="l"/>
                        </a:tabLst>
                        <a:defRPr>
                          <a:solidFill>
                            <a:srgbClr val="000000"/>
                          </a:solidFill>
                        </a:defRPr>
                      </a:pPr>
                      <a:r>
                        <a:rPr sz="2000">
                          <a:latin typeface="+mn-lt"/>
                          <a:ea typeface="+mn-ea"/>
                          <a:cs typeface="+mn-cs"/>
                          <a:sym typeface="Arial"/>
                        </a:rPr>
                        <a:t>Extreme Klinefelter, mentally retarded.</a:t>
                      </a:r>
                    </a:p>
                  </a:txBody>
                  <a:tcPr marL="38100" marR="38100" marT="38100" marB="381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8"/>
                  </a:ext>
                </a:extLst>
              </a:tr>
            </a:tbl>
          </a:graphicData>
        </a:graphic>
      </p:graphicFrame>
      <p:sp>
        <p:nvSpPr>
          <p:cNvPr id="892" name="Shape 892"/>
          <p:cNvSpPr/>
          <p:nvPr/>
        </p:nvSpPr>
        <p:spPr>
          <a:xfrm>
            <a:off x="1054100" y="2451100"/>
            <a:ext cx="3311494" cy="70247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p>
            <a:pPr>
              <a:lnSpc>
                <a:spcPts val="2500"/>
              </a:lnSpc>
              <a:tabLst>
                <a:tab pos="520700" algn="l"/>
              </a:tabLst>
              <a:defRPr sz="2100" b="1">
                <a:solidFill>
                  <a:srgbClr val="FFFFFF"/>
                </a:solidFill>
              </a:defRPr>
            </a:pPr>
            <a:r>
              <a:t>Sex chromosomes and</a:t>
            </a:r>
            <a:br/>
            <a:r>
              <a:t>chromosome condition</a:t>
            </a:r>
          </a:p>
        </p:txBody>
      </p:sp>
      <p:sp>
        <p:nvSpPr>
          <p:cNvPr id="893" name="Shape 893"/>
          <p:cNvSpPr/>
          <p:nvPr/>
        </p:nvSpPr>
        <p:spPr>
          <a:xfrm>
            <a:off x="4368800" y="2451100"/>
            <a:ext cx="1562187" cy="70247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p>
            <a:pPr algn="ctr">
              <a:lnSpc>
                <a:spcPts val="2500"/>
              </a:lnSpc>
              <a:tabLst>
                <a:tab pos="520700" algn="l"/>
              </a:tabLst>
              <a:defRPr sz="2100" b="1">
                <a:solidFill>
                  <a:srgbClr val="FFFFFF"/>
                </a:solidFill>
              </a:defRPr>
            </a:pPr>
            <a:r>
              <a:t>Apparent</a:t>
            </a:r>
            <a:br/>
            <a:r>
              <a:t>sex</a:t>
            </a:r>
          </a:p>
        </p:txBody>
      </p:sp>
      <p:sp>
        <p:nvSpPr>
          <p:cNvPr id="894" name="Shape 894"/>
          <p:cNvSpPr/>
          <p:nvPr/>
        </p:nvSpPr>
        <p:spPr>
          <a:xfrm>
            <a:off x="7694032" y="2603500"/>
            <a:ext cx="1591923" cy="39767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lvl1pPr algn="ctr">
              <a:lnSpc>
                <a:spcPts val="2500"/>
              </a:lnSpc>
              <a:tabLst>
                <a:tab pos="520700" algn="l"/>
              </a:tabLst>
              <a:defRPr sz="2100" b="1">
                <a:solidFill>
                  <a:srgbClr val="FFFFFF"/>
                </a:solidFill>
              </a:defRPr>
            </a:lvl1pPr>
          </a:lstStyle>
          <a:p>
            <a:r>
              <a:t>Phenotype</a:t>
            </a:r>
          </a:p>
        </p:txBody>
      </p:sp>
      <p:pic>
        <p:nvPicPr>
          <p:cNvPr id="895" name="Klinefelter's Phenotype.png"/>
          <p:cNvPicPr>
            <a:picLocks noChangeAspect="1"/>
          </p:cNvPicPr>
          <p:nvPr/>
        </p:nvPicPr>
        <p:blipFill>
          <a:blip r:embed="rId2">
            <a:extLst/>
          </a:blip>
          <a:stretch>
            <a:fillRect/>
          </a:stretch>
        </p:blipFill>
        <p:spPr>
          <a:xfrm>
            <a:off x="11620500" y="2694102"/>
            <a:ext cx="1219200" cy="4801386"/>
          </a:xfrm>
          <a:prstGeom prst="rect">
            <a:avLst/>
          </a:prstGeom>
          <a:ln w="12700">
            <a:miter lim="400000"/>
          </a:ln>
          <a:effectLst>
            <a:outerShdw blurRad="190500" dist="190500" dir="2700000" rotWithShape="0">
              <a:srgbClr val="000000">
                <a:alpha val="50000"/>
              </a:srgbClr>
            </a:outerShdw>
          </a:effectLst>
        </p:spPr>
      </p:pic>
      <p:pic>
        <p:nvPicPr>
          <p:cNvPr id="896" name="Turner's Phenotype.png"/>
          <p:cNvPicPr>
            <a:picLocks noChangeAspect="1"/>
          </p:cNvPicPr>
          <p:nvPr/>
        </p:nvPicPr>
        <p:blipFill>
          <a:blip r:embed="rId3">
            <a:extLst/>
          </a:blip>
          <a:stretch>
            <a:fillRect/>
          </a:stretch>
        </p:blipFill>
        <p:spPr>
          <a:xfrm>
            <a:off x="10845800" y="3431513"/>
            <a:ext cx="1143000" cy="4183265"/>
          </a:xfrm>
          <a:prstGeom prst="rect">
            <a:avLst/>
          </a:prstGeom>
          <a:ln w="12700">
            <a:miter lim="400000"/>
          </a:ln>
          <a:effectLst>
            <a:outerShdw blurRad="190500" dist="190500" dir="2700000"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9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9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 grpId="1" build="p" bldLvl="5"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Shape 910"/>
          <p:cNvSpPr>
            <a:spLocks noGrp="1"/>
          </p:cNvSpPr>
          <p:nvPr>
            <p:ph type="title"/>
          </p:nvPr>
        </p:nvSpPr>
        <p:spPr>
          <a:prstGeom prst="rect">
            <a:avLst/>
          </a:prstGeom>
        </p:spPr>
        <p:txBody>
          <a:bodyPr/>
          <a:lstStyle>
            <a:lvl1pPr>
              <a:tabLst>
                <a:tab pos="952500" algn="l"/>
              </a:tabLst>
            </a:lvl1pPr>
          </a:lstStyle>
          <a:p>
            <a:r>
              <a:t>Sex Aneuploidy Phenotypes</a:t>
            </a:r>
          </a:p>
        </p:txBody>
      </p:sp>
      <p:sp>
        <p:nvSpPr>
          <p:cNvPr id="911" name="Shape 911"/>
          <p:cNvSpPr>
            <a:spLocks noGrp="1"/>
          </p:cNvSpPr>
          <p:nvPr>
            <p:ph type="body" sz="quarter" idx="1"/>
          </p:nvPr>
        </p:nvSpPr>
        <p:spPr>
          <a:xfrm>
            <a:off x="368300" y="1790700"/>
            <a:ext cx="11705333" cy="702965"/>
          </a:xfrm>
          <a:prstGeom prst="rect">
            <a:avLst/>
          </a:prstGeom>
        </p:spPr>
        <p:txBody>
          <a:bodyPr/>
          <a:lstStyle>
            <a:lvl1pPr>
              <a:tabLst>
                <a:tab pos="1016000" algn="l"/>
              </a:tabLst>
            </a:lvl1pPr>
          </a:lstStyle>
          <a:p>
            <a:r>
              <a:t>Four phenotypes of people with abnormal numbers of sex chromosomes (together with the normal male and female phenotypes):</a:t>
            </a:r>
          </a:p>
        </p:txBody>
      </p:sp>
      <p:grpSp>
        <p:nvGrpSpPr>
          <p:cNvPr id="915" name="Group 915"/>
          <p:cNvGrpSpPr/>
          <p:nvPr/>
        </p:nvGrpSpPr>
        <p:grpSpPr>
          <a:xfrm>
            <a:off x="10922000" y="7772400"/>
            <a:ext cx="1460500" cy="1422400"/>
            <a:chOff x="0" y="0"/>
            <a:chExt cx="1460500" cy="1422400"/>
          </a:xfrm>
        </p:grpSpPr>
        <p:sp>
          <p:nvSpPr>
            <p:cNvPr id="912" name="Shape 912"/>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13" name="Shape 913"/>
            <p:cNvSpPr/>
            <p:nvPr/>
          </p:nvSpPr>
          <p:spPr>
            <a:xfrm>
              <a:off x="242954" y="101600"/>
              <a:ext cx="9779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Normal female</a:t>
              </a:r>
            </a:p>
          </p:txBody>
        </p:sp>
        <p:sp>
          <p:nvSpPr>
            <p:cNvPr id="914" name="Shape 914"/>
            <p:cNvSpPr/>
            <p:nvPr/>
          </p:nvSpPr>
          <p:spPr>
            <a:xfrm>
              <a:off x="531268" y="939800"/>
              <a:ext cx="431950"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a:t>
              </a:r>
            </a:p>
          </p:txBody>
        </p:sp>
      </p:grpSp>
      <p:grpSp>
        <p:nvGrpSpPr>
          <p:cNvPr id="919" name="Group 919"/>
          <p:cNvGrpSpPr/>
          <p:nvPr/>
        </p:nvGrpSpPr>
        <p:grpSpPr>
          <a:xfrm>
            <a:off x="8915400" y="7772400"/>
            <a:ext cx="1460500" cy="1422400"/>
            <a:chOff x="0" y="0"/>
            <a:chExt cx="1460500" cy="1422400"/>
          </a:xfrm>
        </p:grpSpPr>
        <p:sp>
          <p:nvSpPr>
            <p:cNvPr id="916" name="Shape 916"/>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17" name="Shape 917"/>
            <p:cNvSpPr/>
            <p:nvPr/>
          </p:nvSpPr>
          <p:spPr>
            <a:xfrm>
              <a:off x="53633" y="76200"/>
              <a:ext cx="132080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Metafemale</a:t>
              </a:r>
            </a:p>
          </p:txBody>
        </p:sp>
        <p:sp>
          <p:nvSpPr>
            <p:cNvPr id="918" name="Shape 918"/>
            <p:cNvSpPr/>
            <p:nvPr/>
          </p:nvSpPr>
          <p:spPr>
            <a:xfrm>
              <a:off x="72578" y="431800"/>
              <a:ext cx="1333501" cy="868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XXX, XXXX, XXXXX</a:t>
              </a:r>
            </a:p>
          </p:txBody>
        </p:sp>
      </p:grpSp>
      <p:grpSp>
        <p:nvGrpSpPr>
          <p:cNvPr id="923" name="Group 923"/>
          <p:cNvGrpSpPr/>
          <p:nvPr/>
        </p:nvGrpSpPr>
        <p:grpSpPr>
          <a:xfrm>
            <a:off x="6908800" y="7772400"/>
            <a:ext cx="1460500" cy="1422400"/>
            <a:chOff x="0" y="0"/>
            <a:chExt cx="1460500" cy="1422400"/>
          </a:xfrm>
        </p:grpSpPr>
        <p:sp>
          <p:nvSpPr>
            <p:cNvPr id="920" name="Shape 920"/>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1" name="Shape 921"/>
            <p:cNvSpPr/>
            <p:nvPr/>
          </p:nvSpPr>
          <p:spPr>
            <a:xfrm>
              <a:off x="79147" y="76200"/>
              <a:ext cx="12827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Turner syndrome</a:t>
              </a:r>
            </a:p>
          </p:txBody>
        </p:sp>
        <p:sp>
          <p:nvSpPr>
            <p:cNvPr id="922" name="Shape 922"/>
            <p:cNvSpPr/>
            <p:nvPr/>
          </p:nvSpPr>
          <p:spPr>
            <a:xfrm>
              <a:off x="528466" y="977900"/>
              <a:ext cx="457288"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XO</a:t>
              </a:r>
            </a:p>
          </p:txBody>
        </p:sp>
      </p:grpSp>
      <p:grpSp>
        <p:nvGrpSpPr>
          <p:cNvPr id="927" name="Group 927"/>
          <p:cNvGrpSpPr/>
          <p:nvPr/>
        </p:nvGrpSpPr>
        <p:grpSpPr>
          <a:xfrm>
            <a:off x="4902200" y="7772400"/>
            <a:ext cx="1460500" cy="1422400"/>
            <a:chOff x="0" y="0"/>
            <a:chExt cx="1460500" cy="1422400"/>
          </a:xfrm>
        </p:grpSpPr>
        <p:sp>
          <p:nvSpPr>
            <p:cNvPr id="924" name="Shape 924"/>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5" name="Shape 925"/>
            <p:cNvSpPr/>
            <p:nvPr/>
          </p:nvSpPr>
          <p:spPr>
            <a:xfrm>
              <a:off x="104329" y="76200"/>
              <a:ext cx="11938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Klinefelter syndrome</a:t>
              </a:r>
            </a:p>
          </p:txBody>
        </p:sp>
        <p:sp>
          <p:nvSpPr>
            <p:cNvPr id="926" name="Shape 926"/>
            <p:cNvSpPr/>
            <p:nvPr/>
          </p:nvSpPr>
          <p:spPr>
            <a:xfrm>
              <a:off x="67436" y="787400"/>
              <a:ext cx="13335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XXY, XXXY, XXXXY</a:t>
              </a:r>
            </a:p>
          </p:txBody>
        </p:sp>
      </p:grpSp>
      <p:grpSp>
        <p:nvGrpSpPr>
          <p:cNvPr id="931" name="Group 931"/>
          <p:cNvGrpSpPr/>
          <p:nvPr/>
        </p:nvGrpSpPr>
        <p:grpSpPr>
          <a:xfrm>
            <a:off x="2895600" y="7772400"/>
            <a:ext cx="1460500" cy="1422400"/>
            <a:chOff x="0" y="0"/>
            <a:chExt cx="1460500" cy="1422400"/>
          </a:xfrm>
        </p:grpSpPr>
        <p:sp>
          <p:nvSpPr>
            <p:cNvPr id="928" name="Shape 928"/>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9" name="Shape 929"/>
            <p:cNvSpPr/>
            <p:nvPr/>
          </p:nvSpPr>
          <p:spPr>
            <a:xfrm>
              <a:off x="106423" y="76200"/>
              <a:ext cx="11684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Jacob syndrome</a:t>
              </a:r>
            </a:p>
          </p:txBody>
        </p:sp>
        <p:sp>
          <p:nvSpPr>
            <p:cNvPr id="930" name="Shape 930"/>
            <p:cNvSpPr/>
            <p:nvPr/>
          </p:nvSpPr>
          <p:spPr>
            <a:xfrm>
              <a:off x="318402" y="787400"/>
              <a:ext cx="8509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XYY, XYYY</a:t>
              </a:r>
            </a:p>
          </p:txBody>
        </p:sp>
      </p:grpSp>
      <p:grpSp>
        <p:nvGrpSpPr>
          <p:cNvPr id="935" name="Group 935"/>
          <p:cNvGrpSpPr/>
          <p:nvPr/>
        </p:nvGrpSpPr>
        <p:grpSpPr>
          <a:xfrm>
            <a:off x="889000" y="7772400"/>
            <a:ext cx="1460500" cy="1422400"/>
            <a:chOff x="0" y="0"/>
            <a:chExt cx="1460500" cy="1422400"/>
          </a:xfrm>
        </p:grpSpPr>
        <p:sp>
          <p:nvSpPr>
            <p:cNvPr id="932" name="Shape 932"/>
            <p:cNvSpPr/>
            <p:nvPr/>
          </p:nvSpPr>
          <p:spPr>
            <a:xfrm>
              <a:off x="0" y="0"/>
              <a:ext cx="1460500" cy="1422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33" name="Shape 933"/>
            <p:cNvSpPr/>
            <p:nvPr/>
          </p:nvSpPr>
          <p:spPr>
            <a:xfrm>
              <a:off x="202542" y="101600"/>
              <a:ext cx="9652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Normal male</a:t>
              </a:r>
            </a:p>
          </p:txBody>
        </p:sp>
        <p:sp>
          <p:nvSpPr>
            <p:cNvPr id="934" name="Shape 934"/>
            <p:cNvSpPr/>
            <p:nvPr/>
          </p:nvSpPr>
          <p:spPr>
            <a:xfrm>
              <a:off x="493168" y="939800"/>
              <a:ext cx="43194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XY</a:t>
              </a:r>
            </a:p>
          </p:txBody>
        </p:sp>
      </p:grpSp>
      <p:pic>
        <p:nvPicPr>
          <p:cNvPr id="936" name="Normal Male Phenotype.png"/>
          <p:cNvPicPr>
            <a:picLocks noChangeAspect="1"/>
          </p:cNvPicPr>
          <p:nvPr/>
        </p:nvPicPr>
        <p:blipFill>
          <a:blip r:embed="rId2">
            <a:extLst/>
          </a:blip>
          <a:stretch>
            <a:fillRect/>
          </a:stretch>
        </p:blipFill>
        <p:spPr>
          <a:xfrm>
            <a:off x="976661" y="2920313"/>
            <a:ext cx="1221678" cy="4508501"/>
          </a:xfrm>
          <a:prstGeom prst="rect">
            <a:avLst/>
          </a:prstGeom>
          <a:ln w="12700">
            <a:miter lim="400000"/>
          </a:ln>
        </p:spPr>
      </p:pic>
      <p:pic>
        <p:nvPicPr>
          <p:cNvPr id="937" name="Normal Female Phenotype.png"/>
          <p:cNvPicPr>
            <a:picLocks noChangeAspect="1"/>
          </p:cNvPicPr>
          <p:nvPr/>
        </p:nvPicPr>
        <p:blipFill>
          <a:blip r:embed="rId3">
            <a:extLst/>
          </a:blip>
          <a:stretch>
            <a:fillRect/>
          </a:stretch>
        </p:blipFill>
        <p:spPr>
          <a:xfrm>
            <a:off x="11004550" y="3053348"/>
            <a:ext cx="1206500" cy="4377278"/>
          </a:xfrm>
          <a:prstGeom prst="rect">
            <a:avLst/>
          </a:prstGeom>
          <a:ln w="12700">
            <a:miter lim="400000"/>
          </a:ln>
        </p:spPr>
      </p:pic>
      <p:pic>
        <p:nvPicPr>
          <p:cNvPr id="938" name="Klinefelter's Phenotype.png"/>
          <p:cNvPicPr>
            <a:picLocks noChangeAspect="1"/>
          </p:cNvPicPr>
          <p:nvPr/>
        </p:nvPicPr>
        <p:blipFill>
          <a:blip r:embed="rId4">
            <a:extLst/>
          </a:blip>
          <a:stretch>
            <a:fillRect/>
          </a:stretch>
        </p:blipFill>
        <p:spPr>
          <a:xfrm>
            <a:off x="4991100" y="2630602"/>
            <a:ext cx="1219200" cy="4801386"/>
          </a:xfrm>
          <a:prstGeom prst="rect">
            <a:avLst/>
          </a:prstGeom>
          <a:ln w="12700">
            <a:miter lim="400000"/>
          </a:ln>
        </p:spPr>
      </p:pic>
      <p:pic>
        <p:nvPicPr>
          <p:cNvPr id="939" name="Turner's Phenotype.png"/>
          <p:cNvPicPr>
            <a:picLocks noChangeAspect="1"/>
          </p:cNvPicPr>
          <p:nvPr/>
        </p:nvPicPr>
        <p:blipFill>
          <a:blip r:embed="rId5">
            <a:extLst/>
          </a:blip>
          <a:stretch>
            <a:fillRect/>
          </a:stretch>
        </p:blipFill>
        <p:spPr>
          <a:xfrm>
            <a:off x="7035800" y="3253713"/>
            <a:ext cx="1143000" cy="4183265"/>
          </a:xfrm>
          <a:prstGeom prst="rect">
            <a:avLst/>
          </a:prstGeom>
          <a:ln w="12700">
            <a:miter lim="400000"/>
          </a:ln>
        </p:spPr>
      </p:pic>
      <p:pic>
        <p:nvPicPr>
          <p:cNvPr id="940" name="Superfemale Phenotype.png"/>
          <p:cNvPicPr>
            <a:picLocks noChangeAspect="1"/>
          </p:cNvPicPr>
          <p:nvPr/>
        </p:nvPicPr>
        <p:blipFill>
          <a:blip r:embed="rId6">
            <a:extLst/>
          </a:blip>
          <a:stretch>
            <a:fillRect/>
          </a:stretch>
        </p:blipFill>
        <p:spPr>
          <a:xfrm>
            <a:off x="8997950" y="3085735"/>
            <a:ext cx="1206500" cy="4341092"/>
          </a:xfrm>
          <a:prstGeom prst="rect">
            <a:avLst/>
          </a:prstGeom>
          <a:ln w="12700">
            <a:miter lim="400000"/>
          </a:ln>
        </p:spPr>
      </p:pic>
      <p:pic>
        <p:nvPicPr>
          <p:cNvPr id="941" name="Jacob's XYY Phenotype.png"/>
          <p:cNvPicPr>
            <a:picLocks noChangeAspect="1"/>
          </p:cNvPicPr>
          <p:nvPr/>
        </p:nvPicPr>
        <p:blipFill>
          <a:blip r:embed="rId7">
            <a:extLst/>
          </a:blip>
          <a:stretch>
            <a:fillRect/>
          </a:stretch>
        </p:blipFill>
        <p:spPr>
          <a:xfrm>
            <a:off x="2927350" y="2804010"/>
            <a:ext cx="1308100" cy="46254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1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 grpId="1" build="p" bldLvl="5"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 name="Shape 943"/>
          <p:cNvSpPr>
            <a:spLocks noGrp="1"/>
          </p:cNvSpPr>
          <p:nvPr>
            <p:ph type="title"/>
          </p:nvPr>
        </p:nvSpPr>
        <p:spPr>
          <a:prstGeom prst="rect">
            <a:avLst/>
          </a:prstGeom>
        </p:spPr>
        <p:txBody>
          <a:bodyPr/>
          <a:lstStyle>
            <a:lvl1pPr>
              <a:tabLst>
                <a:tab pos="952500" algn="l"/>
              </a:tabLst>
            </a:lvl1pPr>
          </a:lstStyle>
          <a:p>
            <a:r>
              <a:t>Klinefelter Syndrome</a:t>
            </a:r>
          </a:p>
        </p:txBody>
      </p:sp>
      <p:sp>
        <p:nvSpPr>
          <p:cNvPr id="944" name="Shape 944"/>
          <p:cNvSpPr>
            <a:spLocks noGrp="1"/>
          </p:cNvSpPr>
          <p:nvPr>
            <p:ph type="body" sz="quarter" idx="1"/>
          </p:nvPr>
        </p:nvSpPr>
        <p:spPr>
          <a:xfrm>
            <a:off x="368300" y="1790700"/>
            <a:ext cx="5956300" cy="1095276"/>
          </a:xfrm>
          <a:prstGeom prst="rect">
            <a:avLst/>
          </a:prstGeom>
        </p:spPr>
        <p:txBody>
          <a:bodyPr/>
          <a:lstStyle/>
          <a:p>
            <a:pPr>
              <a:tabLst>
                <a:tab pos="1016000" algn="l"/>
              </a:tabLst>
            </a:pPr>
            <a:r>
              <a:t>Chromosome complement:  47, XXY</a:t>
            </a:r>
          </a:p>
          <a:p>
            <a:pPr>
              <a:tabLst>
                <a:tab pos="1016000" algn="l"/>
              </a:tabLst>
            </a:pPr>
            <a:r>
              <a:t>Karyotype and phenotype:</a:t>
            </a:r>
          </a:p>
        </p:txBody>
      </p:sp>
      <p:pic>
        <p:nvPicPr>
          <p:cNvPr id="945" name="Karyotype-Klinefelter's.png"/>
          <p:cNvPicPr>
            <a:picLocks noChangeAspect="1"/>
          </p:cNvPicPr>
          <p:nvPr/>
        </p:nvPicPr>
        <p:blipFill>
          <a:blip r:embed="rId2">
            <a:extLst/>
          </a:blip>
          <a:stretch>
            <a:fillRect/>
          </a:stretch>
        </p:blipFill>
        <p:spPr>
          <a:xfrm>
            <a:off x="670780" y="3853567"/>
            <a:ext cx="5930901" cy="4515733"/>
          </a:xfrm>
          <a:prstGeom prst="rect">
            <a:avLst/>
          </a:prstGeom>
          <a:ln w="25400">
            <a:solidFill>
              <a:srgbClr val="FFFFFF"/>
            </a:solidFill>
            <a:miter lim="400000"/>
          </a:ln>
        </p:spPr>
      </p:pic>
      <p:pic>
        <p:nvPicPr>
          <p:cNvPr id="946" name="Klinefelter's Phenotype.png"/>
          <p:cNvPicPr>
            <a:picLocks noChangeAspect="1"/>
          </p:cNvPicPr>
          <p:nvPr/>
        </p:nvPicPr>
        <p:blipFill>
          <a:blip r:embed="rId3">
            <a:extLst/>
          </a:blip>
          <a:stretch>
            <a:fillRect/>
          </a:stretch>
        </p:blipFill>
        <p:spPr>
          <a:xfrm>
            <a:off x="8299101" y="1906702"/>
            <a:ext cx="1892999" cy="7454901"/>
          </a:xfrm>
          <a:prstGeom prst="rect">
            <a:avLst/>
          </a:prstGeom>
          <a:ln w="12700">
            <a:miter lim="400000"/>
          </a:ln>
        </p:spPr>
      </p:pic>
      <p:sp>
        <p:nvSpPr>
          <p:cNvPr id="947" name="Shape 947"/>
          <p:cNvSpPr/>
          <p:nvPr/>
        </p:nvSpPr>
        <p:spPr>
          <a:xfrm>
            <a:off x="10078541" y="1447800"/>
            <a:ext cx="20066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Mildly impaired IQ (intelligence)</a:t>
            </a:r>
          </a:p>
        </p:txBody>
      </p:sp>
      <p:sp>
        <p:nvSpPr>
          <p:cNvPr id="948" name="Shape 948"/>
          <p:cNvSpPr/>
          <p:nvPr/>
        </p:nvSpPr>
        <p:spPr>
          <a:xfrm>
            <a:off x="10877721" y="2489200"/>
            <a:ext cx="12954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Poor beard growth</a:t>
            </a:r>
          </a:p>
        </p:txBody>
      </p:sp>
      <p:sp>
        <p:nvSpPr>
          <p:cNvPr id="949" name="Shape 949"/>
          <p:cNvSpPr/>
          <p:nvPr/>
        </p:nvSpPr>
        <p:spPr>
          <a:xfrm>
            <a:off x="10540110" y="3594100"/>
            <a:ext cx="21971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Frequently some breast development (low levels of testosterone)</a:t>
            </a:r>
          </a:p>
        </p:txBody>
      </p:sp>
      <p:sp>
        <p:nvSpPr>
          <p:cNvPr id="950" name="Shape 950"/>
          <p:cNvSpPr/>
          <p:nvPr/>
        </p:nvSpPr>
        <p:spPr>
          <a:xfrm>
            <a:off x="6855710" y="3035300"/>
            <a:ext cx="11938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Chest hair is sparse</a:t>
            </a:r>
          </a:p>
        </p:txBody>
      </p:sp>
      <p:sp>
        <p:nvSpPr>
          <p:cNvPr id="951" name="Shape 951"/>
          <p:cNvSpPr/>
          <p:nvPr/>
        </p:nvSpPr>
        <p:spPr>
          <a:xfrm>
            <a:off x="10440131" y="6057900"/>
            <a:ext cx="24130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Penis and testes  underdeveloped, low levels of testosterone. Always infertile.</a:t>
            </a:r>
          </a:p>
        </p:txBody>
      </p:sp>
      <p:sp>
        <p:nvSpPr>
          <p:cNvPr id="952" name="Shape 952"/>
          <p:cNvSpPr/>
          <p:nvPr/>
        </p:nvSpPr>
        <p:spPr>
          <a:xfrm>
            <a:off x="7084764" y="6527800"/>
            <a:ext cx="13970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Female type pubic hair pattern</a:t>
            </a:r>
          </a:p>
        </p:txBody>
      </p:sp>
      <p:sp>
        <p:nvSpPr>
          <p:cNvPr id="953" name="Shape 953"/>
          <p:cNvSpPr/>
          <p:nvPr/>
        </p:nvSpPr>
        <p:spPr>
          <a:xfrm>
            <a:off x="10324692" y="7454900"/>
            <a:ext cx="14732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Limbs tend to be longer than average</a:t>
            </a:r>
          </a:p>
        </p:txBody>
      </p:sp>
      <p:sp>
        <p:nvSpPr>
          <p:cNvPr id="954" name="Shape 954"/>
          <p:cNvSpPr/>
          <p:nvPr/>
        </p:nvSpPr>
        <p:spPr>
          <a:xfrm>
            <a:off x="10867549" y="5372100"/>
            <a:ext cx="147382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100"/>
              </a:lnSpc>
              <a:tabLst>
                <a:tab pos="520700" algn="l"/>
              </a:tabLst>
              <a:defRPr>
                <a:solidFill>
                  <a:srgbClr val="000000"/>
                </a:solidFill>
              </a:defRPr>
            </a:lvl1pPr>
          </a:lstStyle>
          <a:p>
            <a:r>
              <a:t>Osteoporosis</a:t>
            </a:r>
          </a:p>
        </p:txBody>
      </p:sp>
      <p:sp>
        <p:nvSpPr>
          <p:cNvPr id="955" name="Shape 955"/>
          <p:cNvSpPr/>
          <p:nvPr/>
        </p:nvSpPr>
        <p:spPr>
          <a:xfrm>
            <a:off x="9740900" y="4093633"/>
            <a:ext cx="778934" cy="12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56" name="Shape 956"/>
          <p:cNvSpPr/>
          <p:nvPr/>
        </p:nvSpPr>
        <p:spPr>
          <a:xfrm flipV="1">
            <a:off x="9402233" y="1727200"/>
            <a:ext cx="723901" cy="372534"/>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57" name="Shape 957"/>
          <p:cNvSpPr/>
          <p:nvPr/>
        </p:nvSpPr>
        <p:spPr>
          <a:xfrm>
            <a:off x="9423400" y="2768600"/>
            <a:ext cx="1432276"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58" name="Shape 958"/>
          <p:cNvSpPr/>
          <p:nvPr/>
        </p:nvSpPr>
        <p:spPr>
          <a:xfrm flipH="1" flipV="1">
            <a:off x="8153400" y="3251200"/>
            <a:ext cx="1092200" cy="18626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59" name="Shape 959"/>
          <p:cNvSpPr/>
          <p:nvPr/>
        </p:nvSpPr>
        <p:spPr>
          <a:xfrm flipV="1">
            <a:off x="9817100" y="5499100"/>
            <a:ext cx="1058334" cy="4234"/>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60" name="Shape 960"/>
          <p:cNvSpPr/>
          <p:nvPr/>
        </p:nvSpPr>
        <p:spPr>
          <a:xfrm>
            <a:off x="9436100" y="7713133"/>
            <a:ext cx="842434" cy="1"/>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61" name="Shape 961"/>
          <p:cNvSpPr/>
          <p:nvPr/>
        </p:nvSpPr>
        <p:spPr>
          <a:xfrm>
            <a:off x="9275233" y="5753100"/>
            <a:ext cx="1138767" cy="66886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62" name="Shape 962"/>
          <p:cNvSpPr/>
          <p:nvPr/>
        </p:nvSpPr>
        <p:spPr>
          <a:xfrm flipH="1">
            <a:off x="8161866" y="5511800"/>
            <a:ext cx="931334" cy="956734"/>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63" name="Shape 963"/>
          <p:cNvSpPr/>
          <p:nvPr/>
        </p:nvSpPr>
        <p:spPr>
          <a:xfrm>
            <a:off x="4559300" y="7353300"/>
            <a:ext cx="1600200" cy="1079500"/>
          </a:xfrm>
          <a:prstGeom prst="ellipse">
            <a:avLst/>
          </a:prstGeom>
          <a:ln w="101600">
            <a:solidFill>
              <a:srgbClr val="006994"/>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64" name="Shape 964"/>
          <p:cNvSpPr/>
          <p:nvPr/>
        </p:nvSpPr>
        <p:spPr>
          <a:xfrm>
            <a:off x="5389033" y="8314266"/>
            <a:ext cx="16934" cy="664634"/>
          </a:xfrm>
          <a:prstGeom prst="line">
            <a:avLst/>
          </a:prstGeom>
          <a:ln w="889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65" name="Shape 965"/>
          <p:cNvSpPr/>
          <p:nvPr/>
        </p:nvSpPr>
        <p:spPr>
          <a:xfrm>
            <a:off x="1752600" y="8991600"/>
            <a:ext cx="4017492" cy="382898"/>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3400"/>
              </a:lnSpc>
              <a:tabLst>
                <a:tab pos="520700" algn="l"/>
              </a:tabLst>
              <a:defRPr sz="2600" b="1">
                <a:solidFill>
                  <a:srgbClr val="201B17"/>
                </a:solidFill>
              </a:defRPr>
            </a:lvl1pPr>
          </a:lstStyle>
          <a:p>
            <a:pPr>
              <a:defRPr>
                <a:solidFill>
                  <a:srgbClr val="483F36"/>
                </a:solidFill>
              </a:defRPr>
            </a:pPr>
            <a:r>
              <a:rPr>
                <a:solidFill>
                  <a:srgbClr val="201B17"/>
                </a:solidFill>
              </a:rPr>
              <a:t>Sex chromosomes:  XXY</a:t>
            </a:r>
          </a:p>
        </p:txBody>
      </p:sp>
      <p:sp>
        <p:nvSpPr>
          <p:cNvPr id="966" name="Shape 966"/>
          <p:cNvSpPr/>
          <p:nvPr/>
        </p:nvSpPr>
        <p:spPr>
          <a:xfrm rot="5400000">
            <a:off x="-740495" y="6887294"/>
            <a:ext cx="2585890" cy="13970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a:solidFill>
                  <a:srgbClr val="483F36"/>
                </a:solidFill>
              </a:defRPr>
            </a:lvl1pPr>
          </a:lstStyle>
          <a:p>
            <a:pPr>
              <a:defRPr sz="2000"/>
            </a:pPr>
            <a:r>
              <a:rPr sz="1000"/>
              <a:t>Photo: Cytogenetics Dept. Waikato Hospital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4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4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4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 grpId="1" build="p" bldLvl="5"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 name="Shape 968"/>
          <p:cNvSpPr>
            <a:spLocks noGrp="1"/>
          </p:cNvSpPr>
          <p:nvPr>
            <p:ph type="title"/>
          </p:nvPr>
        </p:nvSpPr>
        <p:spPr>
          <a:xfrm>
            <a:off x="365759" y="368300"/>
            <a:ext cx="12192001" cy="987882"/>
          </a:xfrm>
          <a:prstGeom prst="rect">
            <a:avLst/>
          </a:prstGeom>
        </p:spPr>
        <p:txBody>
          <a:bodyPr lIns="38100" tIns="38100" rIns="38100" bIns="38100"/>
          <a:lstStyle>
            <a:lvl1pPr>
              <a:tabLst>
                <a:tab pos="952500" algn="l"/>
              </a:tabLst>
            </a:lvl1pPr>
          </a:lstStyle>
          <a:p>
            <a:r>
              <a:t>Turner Syndrome</a:t>
            </a:r>
          </a:p>
        </p:txBody>
      </p:sp>
      <p:sp>
        <p:nvSpPr>
          <p:cNvPr id="969" name="Shape 969"/>
          <p:cNvSpPr>
            <a:spLocks noGrp="1"/>
          </p:cNvSpPr>
          <p:nvPr>
            <p:ph type="body" sz="quarter" idx="1"/>
          </p:nvPr>
        </p:nvSpPr>
        <p:spPr>
          <a:xfrm>
            <a:off x="368300" y="1790700"/>
            <a:ext cx="5956300" cy="1133327"/>
          </a:xfrm>
          <a:prstGeom prst="rect">
            <a:avLst/>
          </a:prstGeom>
        </p:spPr>
        <p:txBody>
          <a:bodyPr/>
          <a:lstStyle/>
          <a:p>
            <a:pPr>
              <a:tabLst>
                <a:tab pos="1016000" algn="l"/>
              </a:tabLst>
            </a:pPr>
            <a:r>
              <a:t>Chromosome complement:  45, X</a:t>
            </a:r>
          </a:p>
          <a:p>
            <a:pPr>
              <a:tabLst>
                <a:tab pos="1016000" algn="l"/>
              </a:tabLst>
            </a:pPr>
            <a:r>
              <a:t>Karyotype and phenotype:</a:t>
            </a:r>
          </a:p>
        </p:txBody>
      </p:sp>
      <p:pic>
        <p:nvPicPr>
          <p:cNvPr id="970" name="Karyotype-Turner's.png"/>
          <p:cNvPicPr>
            <a:picLocks noChangeAspect="1"/>
          </p:cNvPicPr>
          <p:nvPr/>
        </p:nvPicPr>
        <p:blipFill>
          <a:blip r:embed="rId2">
            <a:extLst/>
          </a:blip>
          <a:stretch>
            <a:fillRect/>
          </a:stretch>
        </p:blipFill>
        <p:spPr>
          <a:xfrm>
            <a:off x="665233" y="3954698"/>
            <a:ext cx="5842001" cy="4452702"/>
          </a:xfrm>
          <a:prstGeom prst="rect">
            <a:avLst/>
          </a:prstGeom>
          <a:ln w="12700">
            <a:miter lim="400000"/>
          </a:ln>
          <a:effectLst>
            <a:outerShdw blurRad="190500" dist="190500" dir="2700000" rotWithShape="0">
              <a:srgbClr val="000000">
                <a:alpha val="50000"/>
              </a:srgbClr>
            </a:outerShdw>
          </a:effectLst>
        </p:spPr>
      </p:pic>
      <p:pic>
        <p:nvPicPr>
          <p:cNvPr id="971" name="Turner's Phenotype.png"/>
          <p:cNvPicPr>
            <a:picLocks noChangeAspect="1"/>
          </p:cNvPicPr>
          <p:nvPr/>
        </p:nvPicPr>
        <p:blipFill>
          <a:blip r:embed="rId3">
            <a:extLst/>
          </a:blip>
          <a:stretch>
            <a:fillRect/>
          </a:stretch>
        </p:blipFill>
        <p:spPr>
          <a:xfrm>
            <a:off x="8572500" y="2720313"/>
            <a:ext cx="1841500" cy="6739704"/>
          </a:xfrm>
          <a:prstGeom prst="rect">
            <a:avLst/>
          </a:prstGeom>
          <a:ln w="12700">
            <a:miter lim="400000"/>
          </a:ln>
        </p:spPr>
      </p:pic>
      <p:sp>
        <p:nvSpPr>
          <p:cNvPr id="972" name="Shape 972"/>
          <p:cNvSpPr/>
          <p:nvPr/>
        </p:nvSpPr>
        <p:spPr>
          <a:xfrm>
            <a:off x="10382250" y="1803400"/>
            <a:ext cx="23622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Mental development normal. Difficulty with spatial memory.</a:t>
            </a:r>
          </a:p>
        </p:txBody>
      </p:sp>
      <p:sp>
        <p:nvSpPr>
          <p:cNvPr id="973" name="Shape 973"/>
          <p:cNvSpPr/>
          <p:nvPr/>
        </p:nvSpPr>
        <p:spPr>
          <a:xfrm>
            <a:off x="6864350" y="2794000"/>
            <a:ext cx="16383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Characteristic residual lateral web neck</a:t>
            </a:r>
          </a:p>
        </p:txBody>
      </p:sp>
      <p:sp>
        <p:nvSpPr>
          <p:cNvPr id="974" name="Shape 974"/>
          <p:cNvSpPr/>
          <p:nvPr/>
        </p:nvSpPr>
        <p:spPr>
          <a:xfrm>
            <a:off x="10585450" y="3429000"/>
            <a:ext cx="16002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Low posterior hair line</a:t>
            </a:r>
          </a:p>
        </p:txBody>
      </p:sp>
      <p:sp>
        <p:nvSpPr>
          <p:cNvPr id="975" name="Shape 975"/>
          <p:cNvSpPr/>
          <p:nvPr/>
        </p:nvSpPr>
        <p:spPr>
          <a:xfrm>
            <a:off x="6978650" y="3886200"/>
            <a:ext cx="14224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Constriction of aorta</a:t>
            </a:r>
          </a:p>
        </p:txBody>
      </p:sp>
      <p:sp>
        <p:nvSpPr>
          <p:cNvPr id="976" name="Shape 976"/>
          <p:cNvSpPr/>
          <p:nvPr/>
        </p:nvSpPr>
        <p:spPr>
          <a:xfrm>
            <a:off x="10598150" y="4610100"/>
            <a:ext cx="15621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Poor breast development</a:t>
            </a:r>
          </a:p>
        </p:txBody>
      </p:sp>
      <p:sp>
        <p:nvSpPr>
          <p:cNvPr id="977" name="Shape 977"/>
          <p:cNvSpPr/>
          <p:nvPr/>
        </p:nvSpPr>
        <p:spPr>
          <a:xfrm>
            <a:off x="10814050" y="5588000"/>
            <a:ext cx="18161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Degenerate ovaries (almost always infertile)</a:t>
            </a:r>
          </a:p>
        </p:txBody>
      </p:sp>
      <p:sp>
        <p:nvSpPr>
          <p:cNvPr id="978" name="Shape 978"/>
          <p:cNvSpPr/>
          <p:nvPr/>
        </p:nvSpPr>
        <p:spPr>
          <a:xfrm>
            <a:off x="10598150" y="7277100"/>
            <a:ext cx="19177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Reduced stature (body is typically short)</a:t>
            </a:r>
          </a:p>
        </p:txBody>
      </p:sp>
      <p:sp>
        <p:nvSpPr>
          <p:cNvPr id="979" name="Shape 979"/>
          <p:cNvSpPr/>
          <p:nvPr/>
        </p:nvSpPr>
        <p:spPr>
          <a:xfrm>
            <a:off x="7600950" y="8305800"/>
            <a:ext cx="13335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Brown spots (nevi)</a:t>
            </a:r>
          </a:p>
        </p:txBody>
      </p:sp>
      <p:sp>
        <p:nvSpPr>
          <p:cNvPr id="980" name="Shape 980"/>
          <p:cNvSpPr/>
          <p:nvPr/>
        </p:nvSpPr>
        <p:spPr>
          <a:xfrm>
            <a:off x="6864350" y="6870700"/>
            <a:ext cx="1638300"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Puffy fingers with deep set, hyperconvex fingernails</a:t>
            </a:r>
          </a:p>
        </p:txBody>
      </p:sp>
      <p:sp>
        <p:nvSpPr>
          <p:cNvPr id="981" name="Shape 981"/>
          <p:cNvSpPr/>
          <p:nvPr/>
        </p:nvSpPr>
        <p:spPr>
          <a:xfrm>
            <a:off x="6991350" y="5359400"/>
            <a:ext cx="10795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Elbow deformity</a:t>
            </a:r>
          </a:p>
        </p:txBody>
      </p:sp>
      <p:sp>
        <p:nvSpPr>
          <p:cNvPr id="982" name="Shape 982"/>
          <p:cNvSpPr/>
          <p:nvPr/>
        </p:nvSpPr>
        <p:spPr>
          <a:xfrm>
            <a:off x="9732433" y="5803900"/>
            <a:ext cx="1104901" cy="4234"/>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3" name="Shape 983"/>
          <p:cNvSpPr/>
          <p:nvPr/>
        </p:nvSpPr>
        <p:spPr>
          <a:xfrm>
            <a:off x="9961033" y="4876800"/>
            <a:ext cx="643467" cy="127"/>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4" name="Shape 984"/>
          <p:cNvSpPr/>
          <p:nvPr/>
        </p:nvSpPr>
        <p:spPr>
          <a:xfrm flipH="1" flipV="1">
            <a:off x="8398933" y="4064000"/>
            <a:ext cx="1236134" cy="254000"/>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5" name="Shape 985"/>
          <p:cNvSpPr/>
          <p:nvPr/>
        </p:nvSpPr>
        <p:spPr>
          <a:xfrm>
            <a:off x="9762066" y="3729566"/>
            <a:ext cx="795868" cy="128"/>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6" name="Shape 986"/>
          <p:cNvSpPr/>
          <p:nvPr/>
        </p:nvSpPr>
        <p:spPr>
          <a:xfrm flipH="1">
            <a:off x="8365066" y="6731000"/>
            <a:ext cx="406401" cy="330200"/>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7" name="Shape 987"/>
          <p:cNvSpPr/>
          <p:nvPr/>
        </p:nvSpPr>
        <p:spPr>
          <a:xfrm flipH="1">
            <a:off x="8644466" y="8199966"/>
            <a:ext cx="457201" cy="338668"/>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8" name="Shape 988"/>
          <p:cNvSpPr/>
          <p:nvPr/>
        </p:nvSpPr>
        <p:spPr>
          <a:xfrm>
            <a:off x="9817100" y="7243233"/>
            <a:ext cx="812800" cy="321734"/>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89" name="Shape 989"/>
          <p:cNvSpPr/>
          <p:nvPr/>
        </p:nvSpPr>
        <p:spPr>
          <a:xfrm flipH="1" flipV="1">
            <a:off x="7823200" y="5511800"/>
            <a:ext cx="897467" cy="127"/>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90" name="Shape 990"/>
          <p:cNvSpPr/>
          <p:nvPr/>
        </p:nvSpPr>
        <p:spPr>
          <a:xfrm flipH="1" flipV="1">
            <a:off x="8348133" y="3369733"/>
            <a:ext cx="1045634" cy="431801"/>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91" name="Shape 991"/>
          <p:cNvSpPr/>
          <p:nvPr/>
        </p:nvSpPr>
        <p:spPr>
          <a:xfrm flipV="1">
            <a:off x="9626600" y="2205566"/>
            <a:ext cx="800100" cy="791634"/>
          </a:xfrm>
          <a:prstGeom prst="line">
            <a:avLst/>
          </a:prstGeom>
          <a:ln w="254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92" name="Shape 992"/>
          <p:cNvSpPr/>
          <p:nvPr/>
        </p:nvSpPr>
        <p:spPr>
          <a:xfrm>
            <a:off x="4508500" y="7340600"/>
            <a:ext cx="1600200" cy="1016000"/>
          </a:xfrm>
          <a:prstGeom prst="ellipse">
            <a:avLst/>
          </a:prstGeom>
          <a:ln w="101600">
            <a:solidFill>
              <a:srgbClr val="006994"/>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93" name="Shape 993"/>
          <p:cNvSpPr/>
          <p:nvPr/>
        </p:nvSpPr>
        <p:spPr>
          <a:xfrm>
            <a:off x="5389033" y="8250766"/>
            <a:ext cx="16934" cy="664634"/>
          </a:xfrm>
          <a:prstGeom prst="line">
            <a:avLst/>
          </a:prstGeom>
          <a:ln w="88900">
            <a:solidFill>
              <a:schemeClr val="accent4">
                <a:hueOff val="384618"/>
                <a:satOff val="3869"/>
                <a:lumOff val="5802"/>
              </a:schemeClr>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94" name="Shape 994"/>
          <p:cNvSpPr/>
          <p:nvPr/>
        </p:nvSpPr>
        <p:spPr>
          <a:xfrm>
            <a:off x="1828800" y="8928100"/>
            <a:ext cx="3833850" cy="382898"/>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3400"/>
              </a:lnSpc>
              <a:tabLst>
                <a:tab pos="520700" algn="l"/>
              </a:tabLst>
              <a:defRPr sz="2600" b="1">
                <a:solidFill>
                  <a:srgbClr val="201B17"/>
                </a:solidFill>
              </a:defRPr>
            </a:lvl1pPr>
          </a:lstStyle>
          <a:p>
            <a:pPr>
              <a:defRPr>
                <a:solidFill>
                  <a:srgbClr val="483F36"/>
                </a:solidFill>
              </a:defRPr>
            </a:pPr>
            <a:r>
              <a:rPr>
                <a:solidFill>
                  <a:srgbClr val="201B17"/>
                </a:solidFill>
              </a:rPr>
              <a:t>Sex chromosomes:  XO</a:t>
            </a:r>
          </a:p>
        </p:txBody>
      </p:sp>
      <p:sp>
        <p:nvSpPr>
          <p:cNvPr id="995" name="Shape 995"/>
          <p:cNvSpPr/>
          <p:nvPr/>
        </p:nvSpPr>
        <p:spPr>
          <a:xfrm rot="5400000">
            <a:off x="-740495" y="6887294"/>
            <a:ext cx="2585890" cy="13970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a:solidFill>
                  <a:srgbClr val="483F36"/>
                </a:solidFill>
              </a:defRPr>
            </a:lvl1pPr>
          </a:lstStyle>
          <a:p>
            <a:pPr>
              <a:defRPr sz="2000"/>
            </a:pPr>
            <a:r>
              <a:rPr sz="1000"/>
              <a:t>Photo: Cytogenetics Dept. Waikato Hospital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6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6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6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 grpId="1" build="p" bldLvl="5"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 name="Shape 1163"/>
          <p:cNvSpPr/>
          <p:nvPr/>
        </p:nvSpPr>
        <p:spPr>
          <a:xfrm>
            <a:off x="7658100" y="4660900"/>
            <a:ext cx="4838700" cy="4610100"/>
          </a:xfrm>
          <a:prstGeom prst="ellipse">
            <a:avLst/>
          </a:prstGeom>
          <a:solidFill>
            <a:srgbClr val="FFF9F5"/>
          </a:solidFill>
          <a:ln w="12700">
            <a:solidFill>
              <a:srgbClr val="000000"/>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164" name="Homologous Chromosomes alle.pdf"/>
          <p:cNvPicPr>
            <a:picLocks noChangeAspect="1"/>
          </p:cNvPicPr>
          <p:nvPr/>
        </p:nvPicPr>
        <p:blipFill>
          <a:blip r:embed="rId2">
            <a:extLst/>
          </a:blip>
          <a:stretch>
            <a:fillRect/>
          </a:stretch>
        </p:blipFill>
        <p:spPr>
          <a:xfrm>
            <a:off x="8064500" y="4851858"/>
            <a:ext cx="3746500" cy="4307992"/>
          </a:xfrm>
          <a:prstGeom prst="rect">
            <a:avLst/>
          </a:prstGeom>
          <a:ln w="12700">
            <a:miter lim="400000"/>
          </a:ln>
        </p:spPr>
      </p:pic>
      <p:pic>
        <p:nvPicPr>
          <p:cNvPr id="1165" name="Homologous chromosomes.pdf"/>
          <p:cNvPicPr>
            <a:picLocks noChangeAspect="1"/>
          </p:cNvPicPr>
          <p:nvPr/>
        </p:nvPicPr>
        <p:blipFill>
          <a:blip r:embed="rId3">
            <a:extLst/>
          </a:blip>
          <a:stretch>
            <a:fillRect/>
          </a:stretch>
        </p:blipFill>
        <p:spPr>
          <a:xfrm>
            <a:off x="6172200" y="1587500"/>
            <a:ext cx="1168400" cy="5549900"/>
          </a:xfrm>
          <a:prstGeom prst="rect">
            <a:avLst/>
          </a:prstGeom>
          <a:ln w="12700">
            <a:miter lim="400000"/>
          </a:ln>
        </p:spPr>
      </p:pic>
      <p:sp>
        <p:nvSpPr>
          <p:cNvPr id="1166" name="Shape 1166"/>
          <p:cNvSpPr>
            <a:spLocks noGrp="1"/>
          </p:cNvSpPr>
          <p:nvPr>
            <p:ph type="title"/>
          </p:nvPr>
        </p:nvSpPr>
        <p:spPr>
          <a:xfrm>
            <a:off x="365759" y="368300"/>
            <a:ext cx="12192001" cy="944126"/>
          </a:xfrm>
          <a:prstGeom prst="rect">
            <a:avLst/>
          </a:prstGeom>
        </p:spPr>
        <p:txBody>
          <a:bodyPr/>
          <a:lstStyle>
            <a:lvl1pPr>
              <a:tabLst>
                <a:tab pos="952500" algn="l"/>
              </a:tabLst>
            </a:lvl1pPr>
          </a:lstStyle>
          <a:p>
            <a:r>
              <a:t>Homologous Chromosomes</a:t>
            </a:r>
          </a:p>
        </p:txBody>
      </p:sp>
      <p:sp>
        <p:nvSpPr>
          <p:cNvPr id="1167" name="Shape 1167"/>
          <p:cNvSpPr>
            <a:spLocks noGrp="1"/>
          </p:cNvSpPr>
          <p:nvPr>
            <p:ph type="body" sz="half" idx="1"/>
          </p:nvPr>
        </p:nvSpPr>
        <p:spPr>
          <a:prstGeom prst="rect">
            <a:avLst/>
          </a:prstGeom>
        </p:spPr>
        <p:txBody>
          <a:bodyPr/>
          <a:lstStyle/>
          <a:p>
            <a:pPr>
              <a:lnSpc>
                <a:spcPts val="3200"/>
              </a:lnSpc>
              <a:tabLst>
                <a:tab pos="1016000" algn="l"/>
              </a:tabLst>
            </a:pPr>
            <a:r>
              <a:t>This diagram illustrates the complete chromosome complement for a hypothetical organism.</a:t>
            </a:r>
          </a:p>
          <a:p>
            <a:pPr>
              <a:lnSpc>
                <a:spcPts val="3200"/>
              </a:lnSpc>
              <a:tabLst>
                <a:tab pos="1016000" algn="l"/>
              </a:tabLst>
            </a:pPr>
            <a:r>
              <a:t>It has a total of ten chromosomes, comprising five nearly identical pairs (each pair is numbered).</a:t>
            </a:r>
          </a:p>
        </p:txBody>
      </p:sp>
      <p:grpSp>
        <p:nvGrpSpPr>
          <p:cNvPr id="1171" name="Group 1171"/>
          <p:cNvGrpSpPr/>
          <p:nvPr/>
        </p:nvGrpSpPr>
        <p:grpSpPr>
          <a:xfrm>
            <a:off x="3949700" y="5544509"/>
            <a:ext cx="4697420" cy="3211013"/>
            <a:chOff x="0" y="0"/>
            <a:chExt cx="4697419" cy="3211012"/>
          </a:xfrm>
        </p:grpSpPr>
        <p:sp>
          <p:nvSpPr>
            <p:cNvPr id="1168" name="Shape 1168"/>
            <p:cNvSpPr/>
            <p:nvPr/>
          </p:nvSpPr>
          <p:spPr>
            <a:xfrm>
              <a:off x="0" y="2342190"/>
              <a:ext cx="2959100" cy="8688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400"/>
                </a:lnSpc>
                <a:tabLst>
                  <a:tab pos="520700" algn="l"/>
                </a:tabLst>
                <a:defRPr>
                  <a:solidFill>
                    <a:srgbClr val="006795"/>
                  </a:solidFill>
                </a:defRPr>
              </a:pPr>
              <a:r>
                <a:rPr b="1"/>
                <a:t>Maternal</a:t>
              </a:r>
              <a:r>
                <a:t> chromosome that originated from the egg of this individual's mother.</a:t>
              </a:r>
            </a:p>
          </p:txBody>
        </p:sp>
        <p:sp>
          <p:nvSpPr>
            <p:cNvPr id="1169" name="Shape 1169"/>
            <p:cNvSpPr/>
            <p:nvPr/>
          </p:nvSpPr>
          <p:spPr>
            <a:xfrm flipH="1">
              <a:off x="1508960" y="987523"/>
              <a:ext cx="929440" cy="1298213"/>
            </a:xfrm>
            <a:prstGeom prst="line">
              <a:avLst/>
            </a:prstGeom>
            <a:noFill/>
            <a:ln w="254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170" name="Shape 1170"/>
            <p:cNvSpPr/>
            <p:nvPr/>
          </p:nvSpPr>
          <p:spPr>
            <a:xfrm>
              <a:off x="1789119" y="0"/>
              <a:ext cx="2908301" cy="1943100"/>
            </a:xfrm>
            <a:custGeom>
              <a:avLst/>
              <a:gdLst/>
              <a:ahLst/>
              <a:cxnLst>
                <a:cxn ang="0">
                  <a:pos x="wd2" y="hd2"/>
                </a:cxn>
                <a:cxn ang="5400000">
                  <a:pos x="wd2" y="hd2"/>
                </a:cxn>
                <a:cxn ang="10800000">
                  <a:pos x="wd2" y="hd2"/>
                </a:cxn>
                <a:cxn ang="16200000">
                  <a:pos x="wd2" y="hd2"/>
                </a:cxn>
              </a:cxnLst>
              <a:rect l="0" t="0" r="r" b="b"/>
              <a:pathLst>
                <a:path w="16904" h="18061" extrusionOk="0">
                  <a:moveTo>
                    <a:pt x="2198" y="0"/>
                  </a:moveTo>
                  <a:lnTo>
                    <a:pt x="1793" y="1317"/>
                  </a:lnTo>
                  <a:cubicBezTo>
                    <a:pt x="-4696" y="21600"/>
                    <a:pt x="7911" y="19556"/>
                    <a:pt x="15976" y="15153"/>
                  </a:cubicBezTo>
                  <a:lnTo>
                    <a:pt x="16904" y="14658"/>
                  </a:lnTo>
                </a:path>
              </a:pathLst>
            </a:custGeom>
            <a:noFill/>
            <a:ln w="50800" cap="flat">
              <a:solidFill>
                <a:srgbClr val="006994"/>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175" name="Group 1175"/>
          <p:cNvGrpSpPr/>
          <p:nvPr/>
        </p:nvGrpSpPr>
        <p:grpSpPr>
          <a:xfrm>
            <a:off x="7090832" y="1790700"/>
            <a:ext cx="5183101" cy="4521619"/>
            <a:chOff x="0" y="0"/>
            <a:chExt cx="5183100" cy="4521618"/>
          </a:xfrm>
        </p:grpSpPr>
        <p:sp>
          <p:nvSpPr>
            <p:cNvPr id="1172" name="Shape 1172"/>
            <p:cNvSpPr/>
            <p:nvPr/>
          </p:nvSpPr>
          <p:spPr>
            <a:xfrm>
              <a:off x="884767" y="0"/>
              <a:ext cx="2959101" cy="868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400"/>
                </a:lnSpc>
                <a:tabLst>
                  <a:tab pos="520700" algn="l"/>
                </a:tabLst>
                <a:defRPr>
                  <a:solidFill>
                    <a:srgbClr val="006795"/>
                  </a:solidFill>
                </a:defRPr>
              </a:pPr>
              <a:r>
                <a:rPr b="1"/>
                <a:t>Paternal</a:t>
              </a:r>
              <a:r>
                <a:t> chromosome that originated from the sperm of this individual's father.</a:t>
              </a:r>
            </a:p>
          </p:txBody>
        </p:sp>
        <p:sp>
          <p:nvSpPr>
            <p:cNvPr id="1173" name="Shape 1173"/>
            <p:cNvSpPr/>
            <p:nvPr/>
          </p:nvSpPr>
          <p:spPr>
            <a:xfrm flipV="1">
              <a:off x="0" y="436403"/>
              <a:ext cx="887427" cy="35946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174" name="Shape 1174"/>
            <p:cNvSpPr/>
            <p:nvPr/>
          </p:nvSpPr>
          <p:spPr>
            <a:xfrm rot="15819587" flipH="1">
              <a:off x="1272973" y="521203"/>
              <a:ext cx="2984501" cy="4533900"/>
            </a:xfrm>
            <a:custGeom>
              <a:avLst/>
              <a:gdLst/>
              <a:ahLst/>
              <a:cxnLst>
                <a:cxn ang="0">
                  <a:pos x="wd2" y="hd2"/>
                </a:cxn>
                <a:cxn ang="5400000">
                  <a:pos x="wd2" y="hd2"/>
                </a:cxn>
                <a:cxn ang="10800000">
                  <a:pos x="wd2" y="hd2"/>
                </a:cxn>
                <a:cxn ang="16200000">
                  <a:pos x="wd2" y="hd2"/>
                </a:cxn>
              </a:cxnLst>
              <a:rect l="0" t="0" r="r" b="b"/>
              <a:pathLst>
                <a:path w="17795" h="17420" extrusionOk="0">
                  <a:moveTo>
                    <a:pt x="1274" y="0"/>
                  </a:moveTo>
                  <a:lnTo>
                    <a:pt x="1138" y="606"/>
                  </a:lnTo>
                  <a:cubicBezTo>
                    <a:pt x="-3805" y="21600"/>
                    <a:pt x="8437" y="18399"/>
                    <a:pt x="16975" y="14774"/>
                  </a:cubicBezTo>
                  <a:lnTo>
                    <a:pt x="17795" y="14430"/>
                  </a:lnTo>
                </a:path>
              </a:pathLst>
            </a:custGeom>
            <a:noFill/>
            <a:ln w="50800" cap="flat">
              <a:solidFill>
                <a:srgbClr val="006994"/>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6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6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6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iterate>
                                    <p:tmAbs val="0"/>
                                  </p:iterate>
                                  <p:childTnLst>
                                    <p:set>
                                      <p:cBhvr>
                                        <p:cTn id="16" fill="hold"/>
                                        <p:tgtEl>
                                          <p:spTgt spid="117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3" nodeType="clickEffect">
                                  <p:stCondLst>
                                    <p:cond delay="0"/>
                                  </p:stCondLst>
                                  <p:iterate>
                                    <p:tmAbs val="0"/>
                                  </p:iterate>
                                  <p:childTnLst>
                                    <p:set>
                                      <p:cBhvr>
                                        <p:cTn id="20" fill="hold"/>
                                        <p:tgtEl>
                                          <p:spTgt spid="1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 grpId="1" build="p" bldLvl="5" animBg="1" advAuto="0"/>
      <p:bldP spid="1171" grpId="3" animBg="1" advAuto="0"/>
      <p:bldP spid="1175" grpId="2"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 name="Shape 1177"/>
          <p:cNvSpPr/>
          <p:nvPr/>
        </p:nvSpPr>
        <p:spPr>
          <a:xfrm>
            <a:off x="6413500" y="-38100"/>
            <a:ext cx="6680200" cy="98298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178" name="Alleles OHT 1.pdf"/>
          <p:cNvPicPr>
            <a:picLocks noChangeAspect="1"/>
          </p:cNvPicPr>
          <p:nvPr/>
        </p:nvPicPr>
        <p:blipFill>
          <a:blip r:embed="rId2">
            <a:extLst/>
          </a:blip>
          <a:stretch>
            <a:fillRect/>
          </a:stretch>
        </p:blipFill>
        <p:spPr>
          <a:xfrm>
            <a:off x="9067800" y="127000"/>
            <a:ext cx="1193800" cy="5681442"/>
          </a:xfrm>
          <a:prstGeom prst="rect">
            <a:avLst/>
          </a:prstGeom>
          <a:ln w="12700">
            <a:miter lim="400000"/>
          </a:ln>
        </p:spPr>
      </p:pic>
      <p:sp>
        <p:nvSpPr>
          <p:cNvPr id="1179" name="Shape 1179"/>
          <p:cNvSpPr>
            <a:spLocks noGrp="1"/>
          </p:cNvSpPr>
          <p:nvPr>
            <p:ph type="title"/>
          </p:nvPr>
        </p:nvSpPr>
        <p:spPr>
          <a:prstGeom prst="rect">
            <a:avLst/>
          </a:prstGeom>
        </p:spPr>
        <p:txBody>
          <a:bodyPr/>
          <a:lstStyle>
            <a:lvl1pPr>
              <a:tabLst>
                <a:tab pos="952500" algn="l"/>
              </a:tabLst>
            </a:lvl1pPr>
          </a:lstStyle>
          <a:p>
            <a:r>
              <a:t>Alleles</a:t>
            </a:r>
          </a:p>
        </p:txBody>
      </p:sp>
      <p:sp>
        <p:nvSpPr>
          <p:cNvPr id="1180" name="Shape 1180"/>
          <p:cNvSpPr>
            <a:spLocks noGrp="1"/>
          </p:cNvSpPr>
          <p:nvPr>
            <p:ph type="body" sz="half" idx="1"/>
          </p:nvPr>
        </p:nvSpPr>
        <p:spPr>
          <a:xfrm>
            <a:off x="368300" y="1790700"/>
            <a:ext cx="5778500" cy="7543800"/>
          </a:xfrm>
          <a:prstGeom prst="rect">
            <a:avLst/>
          </a:prstGeom>
        </p:spPr>
        <p:txBody>
          <a:bodyPr/>
          <a:lstStyle/>
          <a:p>
            <a:pPr>
              <a:lnSpc>
                <a:spcPts val="3200"/>
              </a:lnSpc>
              <a:tabLst>
                <a:tab pos="1016000" algn="l"/>
              </a:tabLst>
            </a:pPr>
            <a:r>
              <a:t>Genes occupying the same position </a:t>
            </a:r>
            <a:r>
              <a:rPr>
                <a:solidFill>
                  <a:srgbClr val="006994"/>
                </a:solidFill>
              </a:rPr>
              <a:t>(</a:t>
            </a:r>
            <a:r>
              <a:rPr b="1">
                <a:solidFill>
                  <a:srgbClr val="006994"/>
                </a:solidFill>
              </a:rPr>
              <a:t>locus</a:t>
            </a:r>
            <a:r>
              <a:rPr>
                <a:solidFill>
                  <a:srgbClr val="006994"/>
                </a:solidFill>
              </a:rPr>
              <a:t>)</a:t>
            </a:r>
            <a:r>
              <a:t> on homologous chromosomes are called </a:t>
            </a:r>
            <a:r>
              <a:rPr b="1">
                <a:solidFill>
                  <a:srgbClr val="006994"/>
                </a:solidFill>
              </a:rPr>
              <a:t>alleles</a:t>
            </a:r>
            <a:r>
              <a:rPr>
                <a:solidFill>
                  <a:srgbClr val="006994"/>
                </a:solidFill>
              </a:rPr>
              <a:t>.</a:t>
            </a:r>
          </a:p>
          <a:p>
            <a:pPr lvl="1">
              <a:lnSpc>
                <a:spcPts val="2800"/>
              </a:lnSpc>
              <a:spcBef>
                <a:spcPts val="2000"/>
              </a:spcBef>
              <a:tabLst>
                <a:tab pos="1485900" algn="l"/>
              </a:tabLst>
            </a:pPr>
            <a:r>
              <a:t>Genes code for phenotypic characteristics. e.g. pod colour.</a:t>
            </a:r>
          </a:p>
          <a:p>
            <a:pPr lvl="1">
              <a:lnSpc>
                <a:spcPts val="2800"/>
              </a:lnSpc>
              <a:spcBef>
                <a:spcPts val="2000"/>
              </a:spcBef>
              <a:tabLst>
                <a:tab pos="1485900" algn="l"/>
              </a:tabLst>
            </a:pPr>
            <a:r>
              <a:t>Alleles are </a:t>
            </a:r>
            <a:r>
              <a:rPr b="1">
                <a:solidFill>
                  <a:srgbClr val="006994"/>
                </a:solidFill>
              </a:rPr>
              <a:t>versions</a:t>
            </a:r>
            <a:r>
              <a:t> of the same gene that code for a variant of that phenotypic characteristic (called a </a:t>
            </a:r>
            <a:r>
              <a:rPr b="1">
                <a:solidFill>
                  <a:srgbClr val="006994"/>
                </a:solidFill>
              </a:rPr>
              <a:t>trait</a:t>
            </a:r>
            <a:r>
              <a:t>), e.g. green pod. </a:t>
            </a:r>
          </a:p>
          <a:p>
            <a:pPr lvl="1">
              <a:lnSpc>
                <a:spcPts val="2800"/>
              </a:lnSpc>
              <a:spcBef>
                <a:spcPts val="2000"/>
              </a:spcBef>
              <a:tabLst>
                <a:tab pos="1485900" algn="l"/>
              </a:tabLst>
            </a:pPr>
            <a:r>
              <a:t>In a diploid organism, one individual can </a:t>
            </a:r>
            <a:br/>
            <a:r>
              <a:t>only have a maximum of two alleles for a given gene.</a:t>
            </a:r>
          </a:p>
          <a:p>
            <a:pPr lvl="1">
              <a:lnSpc>
                <a:spcPts val="2800"/>
              </a:lnSpc>
              <a:spcBef>
                <a:spcPts val="2000"/>
              </a:spcBef>
              <a:tabLst>
                <a:tab pos="1485900" algn="l"/>
              </a:tabLst>
            </a:pPr>
            <a:r>
              <a:t>However, there may be more than two alleles for a gene in a population, e.g. </a:t>
            </a:r>
            <a:r>
              <a:rPr b="1">
                <a:solidFill>
                  <a:srgbClr val="006994"/>
                </a:solidFill>
              </a:rPr>
              <a:t>blood groups A</a:t>
            </a:r>
            <a:r>
              <a:rPr>
                <a:solidFill>
                  <a:srgbClr val="006994"/>
                </a:solidFill>
              </a:rPr>
              <a:t>, </a:t>
            </a:r>
            <a:r>
              <a:rPr b="1">
                <a:solidFill>
                  <a:srgbClr val="006994"/>
                </a:solidFill>
              </a:rPr>
              <a:t>B</a:t>
            </a:r>
            <a:r>
              <a:rPr>
                <a:solidFill>
                  <a:srgbClr val="006994"/>
                </a:solidFill>
              </a:rPr>
              <a:t>, </a:t>
            </a:r>
            <a:r>
              <a:rPr b="1">
                <a:solidFill>
                  <a:srgbClr val="006994"/>
                </a:solidFill>
              </a:rPr>
              <a:t>O</a:t>
            </a:r>
            <a:r>
              <a:rPr>
                <a:solidFill>
                  <a:srgbClr val="006994"/>
                </a:solidFill>
              </a:rPr>
              <a:t>.</a:t>
            </a:r>
          </a:p>
          <a:p>
            <a:pPr lvl="1">
              <a:lnSpc>
                <a:spcPts val="2800"/>
              </a:lnSpc>
              <a:spcBef>
                <a:spcPts val="2000"/>
              </a:spcBef>
              <a:tabLst>
                <a:tab pos="1485900" algn="l"/>
              </a:tabLst>
            </a:pPr>
            <a:r>
              <a:t>Some traits (e.g. height) may be determined by alleles at many loci.</a:t>
            </a:r>
          </a:p>
        </p:txBody>
      </p:sp>
      <p:sp>
        <p:nvSpPr>
          <p:cNvPr id="1181" name="Shape 1181"/>
          <p:cNvSpPr/>
          <p:nvPr/>
        </p:nvSpPr>
        <p:spPr>
          <a:xfrm>
            <a:off x="7416800" y="1676400"/>
            <a:ext cx="9525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Gene A</a:t>
            </a:r>
          </a:p>
        </p:txBody>
      </p:sp>
      <p:sp>
        <p:nvSpPr>
          <p:cNvPr id="1182" name="Shape 1182"/>
          <p:cNvSpPr/>
          <p:nvPr/>
        </p:nvSpPr>
        <p:spPr>
          <a:xfrm flipH="1" flipV="1">
            <a:off x="8432800" y="1790700"/>
            <a:ext cx="660400" cy="127"/>
          </a:xfrm>
          <a:prstGeom prst="line">
            <a:avLst/>
          </a:prstGeom>
          <a:ln w="381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183" name="Shape 1183"/>
          <p:cNvSpPr/>
          <p:nvPr/>
        </p:nvSpPr>
        <p:spPr>
          <a:xfrm flipH="1" flipV="1">
            <a:off x="8382000" y="4686300"/>
            <a:ext cx="660400" cy="127"/>
          </a:xfrm>
          <a:prstGeom prst="line">
            <a:avLst/>
          </a:prstGeom>
          <a:ln w="381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184" name="Shape 1184"/>
          <p:cNvSpPr/>
          <p:nvPr/>
        </p:nvSpPr>
        <p:spPr>
          <a:xfrm>
            <a:off x="10054166" y="5549900"/>
            <a:ext cx="571235"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1187" name="Group 1187"/>
          <p:cNvGrpSpPr/>
          <p:nvPr/>
        </p:nvGrpSpPr>
        <p:grpSpPr>
          <a:xfrm>
            <a:off x="9342966" y="1816100"/>
            <a:ext cx="3230034" cy="1326022"/>
            <a:chOff x="0" y="0"/>
            <a:chExt cx="3230033" cy="1326021"/>
          </a:xfrm>
        </p:grpSpPr>
        <p:sp>
          <p:nvSpPr>
            <p:cNvPr id="1185" name="Shape 1185"/>
            <p:cNvSpPr/>
            <p:nvPr/>
          </p:nvSpPr>
          <p:spPr>
            <a:xfrm>
              <a:off x="1363133" y="0"/>
              <a:ext cx="1866901" cy="1326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lvl1pPr>
            </a:lstStyle>
            <a:p>
              <a:r>
                <a:t>Genes that occupy the same locus code for the same characteristic.</a:t>
              </a:r>
            </a:p>
          </p:txBody>
        </p:sp>
        <p:sp>
          <p:nvSpPr>
            <p:cNvPr id="1186" name="Shape 1186"/>
            <p:cNvSpPr/>
            <p:nvPr/>
          </p:nvSpPr>
          <p:spPr>
            <a:xfrm>
              <a:off x="0" y="122766"/>
              <a:ext cx="1244600" cy="3429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200" y="21600"/>
                  </a:lnTo>
                  <a:lnTo>
                    <a:pt x="21600" y="21600"/>
                  </a:lnTo>
                  <a:lnTo>
                    <a:pt x="11467" y="21600"/>
                  </a:lnTo>
                  <a:lnTo>
                    <a:pt x="11467" y="0"/>
                  </a:lnTo>
                </a:path>
              </a:pathLst>
            </a:custGeom>
            <a:noFill/>
            <a:ln w="25400" cap="flat">
              <a:solidFill>
                <a:srgbClr val="006994"/>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
        <p:nvSpPr>
          <p:cNvPr id="1188" name="Shape 1188"/>
          <p:cNvSpPr/>
          <p:nvPr/>
        </p:nvSpPr>
        <p:spPr>
          <a:xfrm>
            <a:off x="7366000" y="3721100"/>
            <a:ext cx="9525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Gene B</a:t>
            </a:r>
          </a:p>
        </p:txBody>
      </p:sp>
      <p:sp>
        <p:nvSpPr>
          <p:cNvPr id="1189" name="Shape 1189"/>
          <p:cNvSpPr/>
          <p:nvPr/>
        </p:nvSpPr>
        <p:spPr>
          <a:xfrm flipH="1" flipV="1">
            <a:off x="8382000" y="3835400"/>
            <a:ext cx="660400" cy="127"/>
          </a:xfrm>
          <a:prstGeom prst="line">
            <a:avLst/>
          </a:prstGeom>
          <a:ln w="381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190" name="Shape 1190"/>
          <p:cNvSpPr/>
          <p:nvPr/>
        </p:nvSpPr>
        <p:spPr>
          <a:xfrm>
            <a:off x="7366000" y="4572000"/>
            <a:ext cx="9525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Gene C</a:t>
            </a:r>
          </a:p>
        </p:txBody>
      </p:sp>
      <p:sp>
        <p:nvSpPr>
          <p:cNvPr id="1191" name="Shape 1191"/>
          <p:cNvSpPr/>
          <p:nvPr/>
        </p:nvSpPr>
        <p:spPr>
          <a:xfrm>
            <a:off x="10591800" y="5257800"/>
            <a:ext cx="17907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pPr>
            <a:r>
              <a:rPr b="1"/>
              <a:t>Paternal</a:t>
            </a:r>
            <a:r>
              <a:t> chromosome</a:t>
            </a:r>
          </a:p>
        </p:txBody>
      </p:sp>
      <p:sp>
        <p:nvSpPr>
          <p:cNvPr id="1192" name="Shape 1192"/>
          <p:cNvSpPr/>
          <p:nvPr/>
        </p:nvSpPr>
        <p:spPr>
          <a:xfrm>
            <a:off x="6629400" y="5359400"/>
            <a:ext cx="18796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r">
              <a:lnSpc>
                <a:spcPts val="2100"/>
              </a:lnSpc>
              <a:tabLst>
                <a:tab pos="520700" algn="l"/>
              </a:tabLst>
            </a:pPr>
            <a:r>
              <a:rPr b="1"/>
              <a:t>Maternal</a:t>
            </a:r>
            <a:r>
              <a:t> chromosome</a:t>
            </a:r>
          </a:p>
        </p:txBody>
      </p:sp>
      <p:grpSp>
        <p:nvGrpSpPr>
          <p:cNvPr id="1195" name="Group 1195"/>
          <p:cNvGrpSpPr/>
          <p:nvPr/>
        </p:nvGrpSpPr>
        <p:grpSpPr>
          <a:xfrm>
            <a:off x="6527800" y="6147239"/>
            <a:ext cx="6442301" cy="3459182"/>
            <a:chOff x="0" y="0"/>
            <a:chExt cx="6442300" cy="3459181"/>
          </a:xfrm>
        </p:grpSpPr>
        <p:sp>
          <p:nvSpPr>
            <p:cNvPr id="1193" name="Shape 1193"/>
            <p:cNvSpPr/>
            <p:nvPr/>
          </p:nvSpPr>
          <p:spPr>
            <a:xfrm>
              <a:off x="0" y="2666560"/>
              <a:ext cx="4921132"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defRPr>
                  <a:solidFill>
                    <a:srgbClr val="006795"/>
                  </a:solidFill>
                </a:defRPr>
              </a:lvl1pPr>
            </a:lstStyle>
            <a:p>
              <a:r>
                <a:t>Pod colour in peas is a characteristic controlled by a single gene. The allele for green pods is dominant over the allele for yellow pods.</a:t>
              </a:r>
            </a:p>
          </p:txBody>
        </p:sp>
        <p:pic>
          <p:nvPicPr>
            <p:cNvPr id="1194" name="pea pods.png"/>
            <p:cNvPicPr>
              <a:picLocks noChangeAspect="1"/>
            </p:cNvPicPr>
            <p:nvPr/>
          </p:nvPicPr>
          <p:blipFill>
            <a:blip r:embed="rId3">
              <a:extLst/>
            </a:blip>
            <a:stretch>
              <a:fillRect/>
            </a:stretch>
          </p:blipFill>
          <p:spPr>
            <a:xfrm rot="16941321">
              <a:off x="2844799" y="-698937"/>
              <a:ext cx="2247901" cy="4572001"/>
            </a:xfrm>
            <a:prstGeom prst="rect">
              <a:avLst/>
            </a:prstGeom>
            <a:ln w="12700" cap="flat">
              <a:noFill/>
              <a:miter lim="400000"/>
            </a:ln>
            <a:effectLst/>
          </p:spPr>
        </p:pic>
      </p:grpSp>
      <p:sp>
        <p:nvSpPr>
          <p:cNvPr id="1196" name="Shape 1196"/>
          <p:cNvSpPr/>
          <p:nvPr/>
        </p:nvSpPr>
        <p:spPr>
          <a:xfrm flipH="1" flipV="1">
            <a:off x="8638156" y="5549900"/>
            <a:ext cx="730211"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8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8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8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18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18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18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180">
                                            <p:txEl>
                                              <p:pRg st="5" end="5"/>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2" nodeType="afterEffect">
                                  <p:stCondLst>
                                    <p:cond delay="0"/>
                                  </p:stCondLst>
                                  <p:iterate>
                                    <p:tmAbs val="0"/>
                                  </p:iterate>
                                  <p:childTnLst>
                                    <p:set>
                                      <p:cBhvr>
                                        <p:cTn id="31" fill="hold"/>
                                        <p:tgtEl>
                                          <p:spTgt spid="1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 grpId="1" build="p" bldLvl="5" animBg="1" advAuto="0"/>
      <p:bldP spid="1187" grpId="2" animBg="1"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 name="Alleles OHT 1.pdf"/>
          <p:cNvPicPr>
            <a:picLocks noChangeAspect="1"/>
          </p:cNvPicPr>
          <p:nvPr/>
        </p:nvPicPr>
        <p:blipFill>
          <a:blip r:embed="rId2">
            <a:extLst/>
          </a:blip>
          <a:stretch>
            <a:fillRect/>
          </a:stretch>
        </p:blipFill>
        <p:spPr>
          <a:xfrm>
            <a:off x="5791200" y="1384300"/>
            <a:ext cx="1295400" cy="6164970"/>
          </a:xfrm>
          <a:prstGeom prst="rect">
            <a:avLst/>
          </a:prstGeom>
          <a:ln w="12700">
            <a:miter lim="400000"/>
          </a:ln>
        </p:spPr>
      </p:pic>
      <p:grpSp>
        <p:nvGrpSpPr>
          <p:cNvPr id="1201" name="Group 1201"/>
          <p:cNvGrpSpPr/>
          <p:nvPr/>
        </p:nvGrpSpPr>
        <p:grpSpPr>
          <a:xfrm>
            <a:off x="7049134" y="3009900"/>
            <a:ext cx="4994088" cy="2311400"/>
            <a:chOff x="0" y="0"/>
            <a:chExt cx="4994086" cy="2311400"/>
          </a:xfrm>
        </p:grpSpPr>
        <p:sp>
          <p:nvSpPr>
            <p:cNvPr id="1199" name="Shape 1199"/>
            <p:cNvSpPr/>
            <p:nvPr/>
          </p:nvSpPr>
          <p:spPr>
            <a:xfrm>
              <a:off x="0" y="1231900"/>
              <a:ext cx="1384300" cy="1079500"/>
            </a:xfrm>
            <a:custGeom>
              <a:avLst/>
              <a:gdLst/>
              <a:ahLst/>
              <a:cxnLst>
                <a:cxn ang="0">
                  <a:pos x="wd2" y="hd2"/>
                </a:cxn>
                <a:cxn ang="5400000">
                  <a:pos x="wd2" y="hd2"/>
                </a:cxn>
                <a:cxn ang="10800000">
                  <a:pos x="wd2" y="hd2"/>
                </a:cxn>
                <a:cxn ang="16200000">
                  <a:pos x="wd2" y="hd2"/>
                </a:cxn>
              </a:cxnLst>
              <a:rect l="0" t="0" r="r" b="b"/>
              <a:pathLst>
                <a:path w="21600" h="21600" extrusionOk="0">
                  <a:moveTo>
                    <a:pt x="21493" y="0"/>
                  </a:moveTo>
                  <a:lnTo>
                    <a:pt x="21600" y="21600"/>
                  </a:lnTo>
                  <a:lnTo>
                    <a:pt x="0" y="21600"/>
                  </a:lnTo>
                </a:path>
              </a:pathLst>
            </a:custGeom>
            <a:noFill/>
            <a:ln w="25400" cap="flat">
              <a:solidFill>
                <a:srgbClr val="006994"/>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00" name="Shape 1200"/>
            <p:cNvSpPr/>
            <p:nvPr/>
          </p:nvSpPr>
          <p:spPr>
            <a:xfrm>
              <a:off x="561786" y="0"/>
              <a:ext cx="4432301" cy="11355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300"/>
                </a:lnSpc>
                <a:tabLst>
                  <a:tab pos="520700" algn="l"/>
                </a:tabLst>
                <a:defRPr>
                  <a:solidFill>
                    <a:srgbClr val="006795"/>
                  </a:solidFill>
                </a:defRPr>
              </a:pPr>
              <a:r>
                <a:t>When both chromosomes have identical copies of the dominant allele for a </a:t>
              </a:r>
              <a:r>
                <a:rPr b="1"/>
                <a:t>gene</a:t>
              </a:r>
              <a:r>
                <a:rPr i="1"/>
                <a:t>,</a:t>
              </a:r>
              <a:r>
                <a:t> (in this case BB) the organism is said to be </a:t>
              </a:r>
              <a:r>
                <a:rPr b="1"/>
                <a:t>homozygous dominant</a:t>
              </a:r>
              <a:r>
                <a:t> for that gene.</a:t>
              </a:r>
            </a:p>
          </p:txBody>
        </p:sp>
      </p:grpSp>
      <p:sp>
        <p:nvSpPr>
          <p:cNvPr id="1202" name="Shape 1202"/>
          <p:cNvSpPr>
            <a:spLocks noGrp="1"/>
          </p:cNvSpPr>
          <p:nvPr>
            <p:ph type="title"/>
          </p:nvPr>
        </p:nvSpPr>
        <p:spPr>
          <a:prstGeom prst="rect">
            <a:avLst/>
          </a:prstGeom>
        </p:spPr>
        <p:txBody>
          <a:bodyPr/>
          <a:lstStyle>
            <a:lvl1pPr>
              <a:tabLst>
                <a:tab pos="952500" algn="l"/>
              </a:tabLst>
            </a:lvl1pPr>
          </a:lstStyle>
          <a:p>
            <a:r>
              <a:t>Alleles</a:t>
            </a:r>
          </a:p>
        </p:txBody>
      </p:sp>
      <p:grpSp>
        <p:nvGrpSpPr>
          <p:cNvPr id="1205" name="Group 1205"/>
          <p:cNvGrpSpPr/>
          <p:nvPr/>
        </p:nvGrpSpPr>
        <p:grpSpPr>
          <a:xfrm>
            <a:off x="1219200" y="2603500"/>
            <a:ext cx="4572000" cy="1135522"/>
            <a:chOff x="0" y="0"/>
            <a:chExt cx="4572000" cy="1135521"/>
          </a:xfrm>
        </p:grpSpPr>
        <p:sp>
          <p:nvSpPr>
            <p:cNvPr id="1203" name="Shape 1203"/>
            <p:cNvSpPr/>
            <p:nvPr/>
          </p:nvSpPr>
          <p:spPr>
            <a:xfrm>
              <a:off x="0" y="0"/>
              <a:ext cx="3886200" cy="11355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300"/>
                </a:lnSpc>
                <a:tabLst>
                  <a:tab pos="520700" algn="l"/>
                </a:tabLst>
                <a:defRPr>
                  <a:solidFill>
                    <a:srgbClr val="006795"/>
                  </a:solidFill>
                </a:defRPr>
              </a:pPr>
              <a:r>
                <a:t>These two different versions of gene A (Aa) create a condition known as </a:t>
              </a:r>
              <a:r>
                <a:rPr b="1"/>
                <a:t>heterozygous</a:t>
              </a:r>
              <a:r>
                <a:t>. Only the dominant allele (A) will be expressed.</a:t>
              </a:r>
            </a:p>
          </p:txBody>
        </p:sp>
        <p:sp>
          <p:nvSpPr>
            <p:cNvPr id="1204" name="Shape 1204"/>
            <p:cNvSpPr/>
            <p:nvPr/>
          </p:nvSpPr>
          <p:spPr>
            <a:xfrm flipH="1" flipV="1">
              <a:off x="3911600" y="482600"/>
              <a:ext cx="660400" cy="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208" name="Group 1208"/>
          <p:cNvGrpSpPr/>
          <p:nvPr/>
        </p:nvGrpSpPr>
        <p:grpSpPr>
          <a:xfrm>
            <a:off x="1612900" y="5270500"/>
            <a:ext cx="4178300" cy="1719722"/>
            <a:chOff x="0" y="0"/>
            <a:chExt cx="4178300" cy="1719721"/>
          </a:xfrm>
        </p:grpSpPr>
        <p:sp>
          <p:nvSpPr>
            <p:cNvPr id="1206" name="Shape 1206"/>
            <p:cNvSpPr/>
            <p:nvPr/>
          </p:nvSpPr>
          <p:spPr>
            <a:xfrm>
              <a:off x="0" y="0"/>
              <a:ext cx="3175000" cy="17197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300"/>
                </a:lnSpc>
                <a:tabLst>
                  <a:tab pos="520700" algn="l"/>
                </a:tabLst>
                <a:defRPr>
                  <a:solidFill>
                    <a:srgbClr val="006795"/>
                  </a:solidFill>
                </a:defRPr>
              </a:pPr>
              <a:r>
                <a:t>When both chromosomes have identical copies of the recessive allele for a gene, (in this case cc) the organism is said to be </a:t>
              </a:r>
              <a:r>
                <a:rPr b="1"/>
                <a:t>homozygous recessive</a:t>
              </a:r>
              <a:r>
                <a:t> for that gene. </a:t>
              </a:r>
            </a:p>
          </p:txBody>
        </p:sp>
        <p:sp>
          <p:nvSpPr>
            <p:cNvPr id="1207" name="Shape 1207"/>
            <p:cNvSpPr/>
            <p:nvPr/>
          </p:nvSpPr>
          <p:spPr>
            <a:xfrm flipH="1">
              <a:off x="3165777" y="939800"/>
              <a:ext cx="1012523" cy="4355"/>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211" name="Group 1211"/>
          <p:cNvGrpSpPr/>
          <p:nvPr/>
        </p:nvGrpSpPr>
        <p:grpSpPr>
          <a:xfrm>
            <a:off x="6066366" y="6147391"/>
            <a:ext cx="6076342" cy="1144499"/>
            <a:chOff x="0" y="78190"/>
            <a:chExt cx="6076341" cy="1144498"/>
          </a:xfrm>
        </p:grpSpPr>
        <p:sp>
          <p:nvSpPr>
            <p:cNvPr id="1209" name="Shape 1209"/>
            <p:cNvSpPr/>
            <p:nvPr/>
          </p:nvSpPr>
          <p:spPr>
            <a:xfrm>
              <a:off x="1544980" y="78190"/>
              <a:ext cx="4531362" cy="11444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p>
              <a:pPr>
                <a:lnSpc>
                  <a:spcPts val="2300"/>
                </a:lnSpc>
                <a:tabLst>
                  <a:tab pos="520700" algn="l"/>
                </a:tabLst>
                <a:defRPr>
                  <a:solidFill>
                    <a:srgbClr val="006795"/>
                  </a:solidFill>
                </a:defRPr>
              </a:pPr>
              <a:r>
                <a:t>Genes occupying the same </a:t>
              </a:r>
              <a:r>
                <a:rPr b="1"/>
                <a:t>locus</a:t>
              </a:r>
              <a:r>
                <a:t> or position on a chromosome code for the same characteristic and called </a:t>
              </a:r>
              <a:r>
                <a:rPr b="1"/>
                <a:t>alleles</a:t>
              </a:r>
              <a:r>
                <a:t>.</a:t>
              </a:r>
            </a:p>
          </p:txBody>
        </p:sp>
        <p:sp>
          <p:nvSpPr>
            <p:cNvPr id="1210" name="Shape 1210"/>
            <p:cNvSpPr/>
            <p:nvPr/>
          </p:nvSpPr>
          <p:spPr>
            <a:xfrm>
              <a:off x="0" y="264541"/>
              <a:ext cx="1446446" cy="3200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200" y="21600"/>
                  </a:lnTo>
                  <a:lnTo>
                    <a:pt x="21600" y="21600"/>
                  </a:lnTo>
                  <a:lnTo>
                    <a:pt x="11467" y="21600"/>
                  </a:lnTo>
                  <a:lnTo>
                    <a:pt x="11467" y="0"/>
                  </a:lnTo>
                </a:path>
              </a:pathLst>
            </a:custGeom>
            <a:noFill/>
            <a:ln w="25400" cap="flat">
              <a:solidFill>
                <a:srgbClr val="006994"/>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216" name="Group 1216"/>
          <p:cNvGrpSpPr/>
          <p:nvPr/>
        </p:nvGrpSpPr>
        <p:grpSpPr>
          <a:xfrm>
            <a:off x="2921000" y="7162800"/>
            <a:ext cx="6959600" cy="1986422"/>
            <a:chOff x="0" y="0"/>
            <a:chExt cx="6959600" cy="1986421"/>
          </a:xfrm>
        </p:grpSpPr>
        <p:sp>
          <p:nvSpPr>
            <p:cNvPr id="1212" name="Shape 1212"/>
            <p:cNvSpPr/>
            <p:nvPr/>
          </p:nvSpPr>
          <p:spPr>
            <a:xfrm>
              <a:off x="3869266" y="0"/>
              <a:ext cx="1" cy="1051096"/>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13" name="Shape 1213"/>
            <p:cNvSpPr/>
            <p:nvPr/>
          </p:nvSpPr>
          <p:spPr>
            <a:xfrm flipH="1">
              <a:off x="3119966" y="0"/>
              <a:ext cx="1" cy="1119915"/>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14" name="Shape 1214"/>
            <p:cNvSpPr/>
            <p:nvPr/>
          </p:nvSpPr>
          <p:spPr>
            <a:xfrm>
              <a:off x="3759200" y="1193800"/>
              <a:ext cx="3200400"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defRPr>
                  <a:solidFill>
                    <a:srgbClr val="006795"/>
                  </a:solidFill>
                </a:defRPr>
              </a:pPr>
              <a:r>
                <a:rPr b="1"/>
                <a:t>Paternal</a:t>
              </a:r>
              <a:r>
                <a:t> chromosome that originated from the sperm of this person's father.</a:t>
              </a:r>
            </a:p>
          </p:txBody>
        </p:sp>
        <p:sp>
          <p:nvSpPr>
            <p:cNvPr id="1215" name="Shape 1215"/>
            <p:cNvSpPr/>
            <p:nvPr/>
          </p:nvSpPr>
          <p:spPr>
            <a:xfrm>
              <a:off x="0" y="1193800"/>
              <a:ext cx="3213100"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defRPr>
                  <a:solidFill>
                    <a:srgbClr val="006795"/>
                  </a:solidFill>
                </a:defRPr>
              </a:pPr>
              <a:r>
                <a:rPr b="1"/>
                <a:t>Maternal</a:t>
              </a:r>
              <a:r>
                <a:t> chromosome that originated from the egg of this person's mother.</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2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2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2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1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1" grpId="4" animBg="1" advAuto="0"/>
      <p:bldP spid="1205" grpId="3" animBg="1" advAuto="0"/>
      <p:bldP spid="1208" grpId="5" animBg="1" advAuto="0"/>
      <p:bldP spid="1211" grpId="2" animBg="1" advAuto="0"/>
      <p:bldP spid="1216" grpId="1" animBg="1" advAuto="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6" name="Shape 3066"/>
          <p:cNvSpPr/>
          <p:nvPr/>
        </p:nvSpPr>
        <p:spPr>
          <a:xfrm>
            <a:off x="6974840" y="-87581"/>
            <a:ext cx="6096001" cy="9851104"/>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067" name="Shape 3067"/>
          <p:cNvSpPr>
            <a:spLocks noGrp="1"/>
          </p:cNvSpPr>
          <p:nvPr>
            <p:ph type="title"/>
          </p:nvPr>
        </p:nvSpPr>
        <p:spPr>
          <a:prstGeom prst="rect">
            <a:avLst/>
          </a:prstGeom>
        </p:spPr>
        <p:txBody>
          <a:bodyPr/>
          <a:lstStyle>
            <a:lvl1pPr>
              <a:tabLst>
                <a:tab pos="952500" algn="l"/>
              </a:tabLst>
            </a:lvl1pPr>
          </a:lstStyle>
          <a:p>
            <a:r>
              <a:t>Sex Linkage</a:t>
            </a:r>
          </a:p>
        </p:txBody>
      </p:sp>
      <p:sp>
        <p:nvSpPr>
          <p:cNvPr id="3068" name="Shape 3068"/>
          <p:cNvSpPr>
            <a:spLocks noGrp="1"/>
          </p:cNvSpPr>
          <p:nvPr>
            <p:ph type="body" sz="half" idx="1"/>
          </p:nvPr>
        </p:nvSpPr>
        <p:spPr>
          <a:prstGeom prst="rect">
            <a:avLst/>
          </a:prstGeom>
        </p:spPr>
        <p:txBody>
          <a:bodyPr/>
          <a:lstStyle/>
          <a:p>
            <a:pPr marL="345600" indent="-345600">
              <a:tabLst>
                <a:tab pos="1016000" algn="l"/>
              </a:tabLst>
            </a:pPr>
            <a:r>
              <a:t>Sex linkage refers to the phenotypic expression of an allele that is dependent on the sex of the individual and is directly tied to the sex chromosomes.</a:t>
            </a:r>
          </a:p>
          <a:p>
            <a:pPr marL="345600" indent="-345600">
              <a:tabLst>
                <a:tab pos="1016000" algn="l"/>
              </a:tabLst>
            </a:pPr>
            <a:r>
              <a:t>Most sex linked genes are present on the X chromosome (X-linkage) and have no corresponding allele on the smaller male chromosome.</a:t>
            </a:r>
          </a:p>
          <a:p>
            <a:pPr marL="345600" indent="-345600">
              <a:tabLst>
                <a:tab pos="1016000" algn="l"/>
              </a:tabLst>
            </a:pPr>
            <a:r>
              <a:t>In some cases, a phenotypic trait is determined by an allele on the Y chromosome. Because the Y chromosome is small and does not contain many genes, few traits are Y linked and Y-linked diseases are rare.</a:t>
            </a:r>
          </a:p>
        </p:txBody>
      </p:sp>
      <p:pic>
        <p:nvPicPr>
          <p:cNvPr id="3069" name="Chromosomes XY.png"/>
          <p:cNvPicPr>
            <a:picLocks noChangeAspect="1"/>
          </p:cNvPicPr>
          <p:nvPr/>
        </p:nvPicPr>
        <p:blipFill>
          <a:blip r:embed="rId2">
            <a:extLst/>
          </a:blip>
          <a:stretch>
            <a:fillRect/>
          </a:stretch>
        </p:blipFill>
        <p:spPr>
          <a:xfrm>
            <a:off x="6974840" y="1671320"/>
            <a:ext cx="5753439" cy="6197601"/>
          </a:xfrm>
          <a:prstGeom prst="rect">
            <a:avLst/>
          </a:prstGeom>
          <a:ln w="12700">
            <a:miter lim="400000"/>
          </a:ln>
        </p:spPr>
      </p:pic>
      <p:sp>
        <p:nvSpPr>
          <p:cNvPr id="3070" name="Shape 3070"/>
          <p:cNvSpPr/>
          <p:nvPr/>
        </p:nvSpPr>
        <p:spPr>
          <a:xfrm>
            <a:off x="7922774" y="8054491"/>
            <a:ext cx="4724401" cy="1016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tabLst>
                <a:tab pos="520700" algn="l"/>
              </a:tabLst>
            </a:lvl1pPr>
          </a:lstStyle>
          <a:p>
            <a:r>
              <a:t>Note the size differences between the X and Y chromosomes. The Y lacks alleles for many of the genes present on the X.</a:t>
            </a:r>
          </a:p>
        </p:txBody>
      </p:sp>
      <p:sp>
        <p:nvSpPr>
          <p:cNvPr id="3071" name="Shape 3071"/>
          <p:cNvSpPr/>
          <p:nvPr/>
        </p:nvSpPr>
        <p:spPr>
          <a:xfrm>
            <a:off x="12304274" y="3850791"/>
            <a:ext cx="508001" cy="508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tabLst>
                <a:tab pos="520700" algn="l"/>
              </a:tabLst>
            </a:lvl1pPr>
          </a:lstStyle>
          <a:p>
            <a:r>
              <a:t>X</a:t>
            </a:r>
          </a:p>
        </p:txBody>
      </p:sp>
      <p:sp>
        <p:nvSpPr>
          <p:cNvPr id="3072" name="Shape 3072"/>
          <p:cNvSpPr/>
          <p:nvPr/>
        </p:nvSpPr>
        <p:spPr>
          <a:xfrm>
            <a:off x="7884674" y="4511191"/>
            <a:ext cx="508001" cy="508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tabLst>
                <a:tab pos="520700" algn="l"/>
              </a:tabLst>
            </a:lvl1pPr>
          </a:lstStyle>
          <a:p>
            <a:r>
              <a:t>Y</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6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06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06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0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8" grpId="1" build="p" bldLvl="5"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hape 3074"/>
          <p:cNvSpPr/>
          <p:nvPr/>
        </p:nvSpPr>
        <p:spPr>
          <a:xfrm>
            <a:off x="6210300" y="-63500"/>
            <a:ext cx="6794500" cy="98298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075" name="Shape 3075"/>
          <p:cNvSpPr>
            <a:spLocks noGrp="1"/>
          </p:cNvSpPr>
          <p:nvPr>
            <p:ph type="title"/>
          </p:nvPr>
        </p:nvSpPr>
        <p:spPr>
          <a:prstGeom prst="rect">
            <a:avLst/>
          </a:prstGeom>
        </p:spPr>
        <p:txBody>
          <a:bodyPr/>
          <a:lstStyle>
            <a:lvl1pPr>
              <a:tabLst>
                <a:tab pos="952500" algn="l"/>
              </a:tabLst>
            </a:lvl1pPr>
          </a:lstStyle>
          <a:p>
            <a:r>
              <a:t>Sex Linkage</a:t>
            </a:r>
          </a:p>
        </p:txBody>
      </p:sp>
      <p:sp>
        <p:nvSpPr>
          <p:cNvPr id="3076" name="Shape 3076"/>
          <p:cNvSpPr>
            <a:spLocks noGrp="1"/>
          </p:cNvSpPr>
          <p:nvPr>
            <p:ph type="body" sz="half" idx="1"/>
          </p:nvPr>
        </p:nvSpPr>
        <p:spPr>
          <a:prstGeom prst="rect">
            <a:avLst/>
          </a:prstGeom>
        </p:spPr>
        <p:txBody>
          <a:bodyPr/>
          <a:lstStyle/>
          <a:p>
            <a:pPr marL="345600" indent="-345600">
              <a:tabLst>
                <a:tab pos="1016000" algn="l"/>
              </a:tabLst>
            </a:pPr>
            <a:r>
              <a:t>Sex-linked traits show a distinct pattern of inheritance.</a:t>
            </a:r>
          </a:p>
          <a:p>
            <a:pPr marL="680000" lvl="1" indent="-320000">
              <a:tabLst>
                <a:tab pos="1485900" algn="l"/>
              </a:tabLst>
            </a:pPr>
            <a:r>
              <a:t>Fathers pass sex-linked alleles to all their daughters but not to their sons.</a:t>
            </a:r>
          </a:p>
          <a:p>
            <a:pPr marL="680000" lvl="1" indent="-320000">
              <a:tabLst>
                <a:tab pos="1485900" algn="l"/>
              </a:tabLst>
            </a:pPr>
            <a:r>
              <a:t>Mothers can pass sex-linked alleles to both sons and daughters.</a:t>
            </a:r>
          </a:p>
          <a:p>
            <a:pPr marL="680000" lvl="1" indent="-320000">
              <a:tabLst>
                <a:tab pos="1485900" algn="l"/>
              </a:tabLst>
            </a:pPr>
            <a:r>
              <a:t>In females, sex-linked recessive traits will be expressed only in the homozygous condition.</a:t>
            </a:r>
          </a:p>
          <a:p>
            <a:pPr marL="680000" lvl="1" indent="-320000">
              <a:tabLst>
                <a:tab pos="1485900" algn="l"/>
              </a:tabLst>
            </a:pPr>
            <a:r>
              <a:t>In contrast, any male receiving the recessive allele from his mother will express the trait.</a:t>
            </a:r>
          </a:p>
        </p:txBody>
      </p:sp>
      <p:grpSp>
        <p:nvGrpSpPr>
          <p:cNvPr id="3088" name="Group 3088"/>
          <p:cNvGrpSpPr/>
          <p:nvPr/>
        </p:nvGrpSpPr>
        <p:grpSpPr>
          <a:xfrm>
            <a:off x="7785100" y="4704079"/>
            <a:ext cx="2862581" cy="4803293"/>
            <a:chOff x="0" y="0"/>
            <a:chExt cx="2862580" cy="4803291"/>
          </a:xfrm>
        </p:grpSpPr>
        <p:sp>
          <p:nvSpPr>
            <p:cNvPr id="3077" name="Shape 3077"/>
            <p:cNvSpPr/>
            <p:nvPr/>
          </p:nvSpPr>
          <p:spPr>
            <a:xfrm flipV="1">
              <a:off x="861059" y="0"/>
              <a:ext cx="2001522" cy="120904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3085" name="Group 3085"/>
            <p:cNvGrpSpPr/>
            <p:nvPr/>
          </p:nvGrpSpPr>
          <p:grpSpPr>
            <a:xfrm>
              <a:off x="0" y="2301391"/>
              <a:ext cx="1481335" cy="2501901"/>
              <a:chOff x="0" y="0"/>
              <a:chExt cx="1481334" cy="2501900"/>
            </a:xfrm>
          </p:grpSpPr>
          <p:sp>
            <p:nvSpPr>
              <p:cNvPr id="3078" name="Shape 3078"/>
              <p:cNvSpPr/>
              <p:nvPr/>
            </p:nvSpPr>
            <p:spPr>
              <a:xfrm>
                <a:off x="249434" y="1968500"/>
                <a:ext cx="1231901" cy="533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Unaffected daughter</a:t>
                </a:r>
              </a:p>
            </p:txBody>
          </p:sp>
          <p:grpSp>
            <p:nvGrpSpPr>
              <p:cNvPr id="3081" name="Group 3081"/>
              <p:cNvGrpSpPr/>
              <p:nvPr/>
            </p:nvGrpSpPr>
            <p:grpSpPr>
              <a:xfrm>
                <a:off x="0" y="195428"/>
                <a:ext cx="673100" cy="1608668"/>
                <a:chOff x="0" y="0"/>
                <a:chExt cx="673100" cy="1608666"/>
              </a:xfrm>
            </p:grpSpPr>
            <p:pic>
              <p:nvPicPr>
                <p:cNvPr id="3079" name="X normal.pdf"/>
                <p:cNvPicPr>
                  <a:picLocks noChangeAspect="1"/>
                </p:cNvPicPr>
                <p:nvPr/>
              </p:nvPicPr>
              <p:blipFill>
                <a:blip r:embed="rId2">
                  <a:extLst/>
                </a:blip>
                <a:stretch>
                  <a:fillRect/>
                </a:stretch>
              </p:blipFill>
              <p:spPr>
                <a:xfrm>
                  <a:off x="0" y="0"/>
                  <a:ext cx="508000" cy="1608667"/>
                </a:xfrm>
                <a:prstGeom prst="rect">
                  <a:avLst/>
                </a:prstGeom>
                <a:ln w="12700" cap="flat">
                  <a:noFill/>
                  <a:miter lim="400000"/>
                </a:ln>
                <a:effectLst/>
              </p:spPr>
            </p:pic>
            <p:pic>
              <p:nvPicPr>
                <p:cNvPr id="3080" name="X normal.pdf"/>
                <p:cNvPicPr>
                  <a:picLocks noChangeAspect="1"/>
                </p:cNvPicPr>
                <p:nvPr/>
              </p:nvPicPr>
              <p:blipFill>
                <a:blip r:embed="rId2">
                  <a:extLst/>
                </a:blip>
                <a:stretch>
                  <a:fillRect/>
                </a:stretch>
              </p:blipFill>
              <p:spPr>
                <a:xfrm>
                  <a:off x="165100" y="0"/>
                  <a:ext cx="508000" cy="1608667"/>
                </a:xfrm>
                <a:prstGeom prst="rect">
                  <a:avLst/>
                </a:prstGeom>
                <a:ln w="12700" cap="flat">
                  <a:noFill/>
                  <a:miter lim="400000"/>
                </a:ln>
                <a:effectLst/>
              </p:spPr>
            </p:pic>
          </p:grpSp>
          <p:grpSp>
            <p:nvGrpSpPr>
              <p:cNvPr id="3084" name="Group 3084"/>
              <p:cNvGrpSpPr/>
              <p:nvPr/>
            </p:nvGrpSpPr>
            <p:grpSpPr>
              <a:xfrm>
                <a:off x="109734" y="0"/>
                <a:ext cx="457201" cy="279400"/>
                <a:chOff x="0" y="0"/>
                <a:chExt cx="457200" cy="279400"/>
              </a:xfrm>
            </p:grpSpPr>
            <p:sp>
              <p:nvSpPr>
                <p:cNvPr id="3082" name="Shape 3082"/>
                <p:cNvSpPr/>
                <p:nvPr/>
              </p:nvSpPr>
              <p:spPr>
                <a:xfrm>
                  <a:off x="19050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sp>
              <p:nvSpPr>
                <p:cNvPr id="3083" name="Shape 3083"/>
                <p:cNvSpPr/>
                <p:nvPr/>
              </p:nvSpPr>
              <p:spPr>
                <a:xfrm>
                  <a:off x="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grpSp>
        </p:grpSp>
        <p:sp>
          <p:nvSpPr>
            <p:cNvPr id="3086" name="Shape 3086"/>
            <p:cNvSpPr/>
            <p:nvPr/>
          </p:nvSpPr>
          <p:spPr>
            <a:xfrm flipH="1" flipV="1">
              <a:off x="607059" y="101600"/>
              <a:ext cx="162561" cy="110744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3087" name="Shadow girl.png"/>
            <p:cNvPicPr>
              <a:picLocks noChangeAspect="1"/>
            </p:cNvPicPr>
            <p:nvPr/>
          </p:nvPicPr>
          <p:blipFill>
            <a:blip r:embed="rId3">
              <a:extLst/>
            </a:blip>
            <a:stretch>
              <a:fillRect/>
            </a:stretch>
          </p:blipFill>
          <p:spPr>
            <a:xfrm>
              <a:off x="558800" y="1366520"/>
              <a:ext cx="889000" cy="2963334"/>
            </a:xfrm>
            <a:prstGeom prst="rect">
              <a:avLst/>
            </a:prstGeom>
            <a:ln w="12700" cap="flat">
              <a:noFill/>
              <a:miter lim="400000"/>
            </a:ln>
            <a:effectLst/>
          </p:spPr>
        </p:pic>
      </p:grpSp>
      <p:grpSp>
        <p:nvGrpSpPr>
          <p:cNvPr id="3101" name="Group 3101"/>
          <p:cNvGrpSpPr/>
          <p:nvPr/>
        </p:nvGrpSpPr>
        <p:grpSpPr>
          <a:xfrm>
            <a:off x="6574034" y="1014850"/>
            <a:ext cx="5994713" cy="3625064"/>
            <a:chOff x="0" y="0"/>
            <a:chExt cx="5994711" cy="3625062"/>
          </a:xfrm>
        </p:grpSpPr>
        <p:grpSp>
          <p:nvGrpSpPr>
            <p:cNvPr id="3094" name="Group 3094"/>
            <p:cNvGrpSpPr/>
            <p:nvPr/>
          </p:nvGrpSpPr>
          <p:grpSpPr>
            <a:xfrm>
              <a:off x="4708836" y="5571"/>
              <a:ext cx="1285876" cy="3619492"/>
              <a:chOff x="0" y="0"/>
              <a:chExt cx="1285875" cy="3619490"/>
            </a:xfrm>
          </p:grpSpPr>
          <p:pic>
            <p:nvPicPr>
              <p:cNvPr id="3089" name="X recessive.pdf"/>
              <p:cNvPicPr>
                <a:picLocks noChangeAspect="1"/>
              </p:cNvPicPr>
              <p:nvPr/>
            </p:nvPicPr>
            <p:blipFill>
              <a:blip r:embed="rId4">
                <a:extLst/>
              </a:blip>
              <a:stretch>
                <a:fillRect/>
              </a:stretch>
            </p:blipFill>
            <p:spPr>
              <a:xfrm>
                <a:off x="476250" y="593534"/>
                <a:ext cx="809626" cy="2841627"/>
              </a:xfrm>
              <a:prstGeom prst="rect">
                <a:avLst/>
              </a:prstGeom>
              <a:ln w="12700" cap="flat">
                <a:noFill/>
                <a:miter lim="400000"/>
              </a:ln>
              <a:effectLst/>
            </p:spPr>
          </p:pic>
          <p:pic>
            <p:nvPicPr>
              <p:cNvPr id="3090" name="X normal.pdf"/>
              <p:cNvPicPr>
                <a:picLocks noChangeAspect="1"/>
              </p:cNvPicPr>
              <p:nvPr/>
            </p:nvPicPr>
            <p:blipFill>
              <a:blip r:embed="rId2">
                <a:extLst/>
              </a:blip>
              <a:stretch>
                <a:fillRect/>
              </a:stretch>
            </p:blipFill>
            <p:spPr>
              <a:xfrm>
                <a:off x="0" y="609409"/>
                <a:ext cx="857251" cy="2714626"/>
              </a:xfrm>
              <a:prstGeom prst="rect">
                <a:avLst/>
              </a:prstGeom>
              <a:ln w="12700" cap="flat">
                <a:noFill/>
                <a:miter lim="400000"/>
              </a:ln>
              <a:effectLst/>
            </p:spPr>
          </p:pic>
          <p:sp>
            <p:nvSpPr>
              <p:cNvPr id="3091" name="Shape 3091"/>
              <p:cNvSpPr/>
              <p:nvPr/>
            </p:nvSpPr>
            <p:spPr>
              <a:xfrm>
                <a:off x="73668" y="0"/>
                <a:ext cx="1143001" cy="66674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Carrier mother</a:t>
                </a:r>
              </a:p>
            </p:txBody>
          </p:sp>
          <p:sp>
            <p:nvSpPr>
              <p:cNvPr id="3092" name="Shape 3092"/>
              <p:cNvSpPr/>
              <p:nvPr/>
            </p:nvSpPr>
            <p:spPr>
              <a:xfrm>
                <a:off x="248293" y="3270241"/>
                <a:ext cx="333376" cy="34925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sp>
            <p:nvSpPr>
              <p:cNvPr id="3093" name="Shape 3093"/>
              <p:cNvSpPr/>
              <p:nvPr/>
            </p:nvSpPr>
            <p:spPr>
              <a:xfrm>
                <a:off x="708667" y="3270241"/>
                <a:ext cx="333376" cy="34925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grpSp>
        <p:grpSp>
          <p:nvGrpSpPr>
            <p:cNvPr id="3100" name="Group 3100"/>
            <p:cNvGrpSpPr/>
            <p:nvPr/>
          </p:nvGrpSpPr>
          <p:grpSpPr>
            <a:xfrm>
              <a:off x="0" y="0"/>
              <a:ext cx="1219200" cy="3593344"/>
              <a:chOff x="0" y="0"/>
              <a:chExt cx="1219200" cy="3593343"/>
            </a:xfrm>
          </p:grpSpPr>
          <p:sp>
            <p:nvSpPr>
              <p:cNvPr id="3095" name="Shape 3095"/>
              <p:cNvSpPr/>
              <p:nvPr/>
            </p:nvSpPr>
            <p:spPr>
              <a:xfrm>
                <a:off x="361904" y="3185197"/>
                <a:ext cx="324803" cy="3402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sp>
            <p:nvSpPr>
              <p:cNvPr id="3096" name="Shape 3096"/>
              <p:cNvSpPr/>
              <p:nvPr/>
            </p:nvSpPr>
            <p:spPr>
              <a:xfrm>
                <a:off x="810440" y="3185197"/>
                <a:ext cx="324803" cy="3402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Y</a:t>
                </a:r>
              </a:p>
            </p:txBody>
          </p:sp>
          <p:pic>
            <p:nvPicPr>
              <p:cNvPr id="3097" name="Y chromosome.pdf"/>
              <p:cNvPicPr>
                <a:picLocks noChangeAspect="1"/>
              </p:cNvPicPr>
              <p:nvPr/>
            </p:nvPicPr>
            <p:blipFill>
              <a:blip r:embed="rId5">
                <a:extLst/>
              </a:blip>
              <a:stretch>
                <a:fillRect/>
              </a:stretch>
            </p:blipFill>
            <p:spPr>
              <a:xfrm>
                <a:off x="336531" y="948523"/>
                <a:ext cx="835207" cy="2644821"/>
              </a:xfrm>
              <a:prstGeom prst="rect">
                <a:avLst/>
              </a:prstGeom>
              <a:ln w="12700" cap="flat">
                <a:noFill/>
                <a:miter lim="400000"/>
              </a:ln>
              <a:effectLst/>
            </p:spPr>
          </p:pic>
          <p:pic>
            <p:nvPicPr>
              <p:cNvPr id="3098" name="X normal.pdf"/>
              <p:cNvPicPr>
                <a:picLocks noChangeAspect="1"/>
              </p:cNvPicPr>
              <p:nvPr/>
            </p:nvPicPr>
            <p:blipFill>
              <a:blip r:embed="rId2">
                <a:extLst/>
              </a:blip>
              <a:stretch>
                <a:fillRect/>
              </a:stretch>
            </p:blipFill>
            <p:spPr>
              <a:xfrm>
                <a:off x="119996" y="592787"/>
                <a:ext cx="835207" cy="2644821"/>
              </a:xfrm>
              <a:prstGeom prst="rect">
                <a:avLst/>
              </a:prstGeom>
              <a:ln w="12700" cap="flat">
                <a:noFill/>
                <a:miter lim="400000"/>
              </a:ln>
              <a:effectLst/>
            </p:spPr>
          </p:pic>
          <p:sp>
            <p:nvSpPr>
              <p:cNvPr id="3099" name="Shape 3099"/>
              <p:cNvSpPr/>
              <p:nvPr/>
            </p:nvSpPr>
            <p:spPr>
              <a:xfrm>
                <a:off x="0" y="0"/>
                <a:ext cx="1219200" cy="558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Unaffected father</a:t>
                </a:r>
              </a:p>
            </p:txBody>
          </p:sp>
        </p:grpSp>
      </p:grpSp>
      <p:pic>
        <p:nvPicPr>
          <p:cNvPr id="3102" name="Shadow man.png"/>
          <p:cNvPicPr>
            <a:picLocks noChangeAspect="1"/>
          </p:cNvPicPr>
          <p:nvPr/>
        </p:nvPicPr>
        <p:blipFill>
          <a:blip r:embed="rId6">
            <a:extLst/>
          </a:blip>
          <a:stretch>
            <a:fillRect/>
          </a:stretch>
        </p:blipFill>
        <p:spPr>
          <a:xfrm>
            <a:off x="7792171" y="330201"/>
            <a:ext cx="1705430" cy="4775201"/>
          </a:xfrm>
          <a:prstGeom prst="rect">
            <a:avLst/>
          </a:prstGeom>
          <a:ln w="12700">
            <a:miter lim="400000"/>
          </a:ln>
        </p:spPr>
      </p:pic>
      <p:grpSp>
        <p:nvGrpSpPr>
          <p:cNvPr id="3114" name="Group 3114"/>
          <p:cNvGrpSpPr/>
          <p:nvPr/>
        </p:nvGrpSpPr>
        <p:grpSpPr>
          <a:xfrm>
            <a:off x="6108700" y="4673600"/>
            <a:ext cx="4549141" cy="4833772"/>
            <a:chOff x="0" y="0"/>
            <a:chExt cx="4549140" cy="4833771"/>
          </a:xfrm>
        </p:grpSpPr>
        <p:sp>
          <p:nvSpPr>
            <p:cNvPr id="3103" name="Shape 3103"/>
            <p:cNvSpPr/>
            <p:nvPr/>
          </p:nvSpPr>
          <p:spPr>
            <a:xfrm flipV="1">
              <a:off x="1176019" y="0"/>
              <a:ext cx="3373122" cy="136144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3111" name="Group 3111"/>
            <p:cNvGrpSpPr/>
            <p:nvPr/>
          </p:nvGrpSpPr>
          <p:grpSpPr>
            <a:xfrm>
              <a:off x="0" y="2331871"/>
              <a:ext cx="1671835" cy="2501901"/>
              <a:chOff x="0" y="0"/>
              <a:chExt cx="1671834" cy="2501900"/>
            </a:xfrm>
          </p:grpSpPr>
          <p:sp>
            <p:nvSpPr>
              <p:cNvPr id="3104" name="Shape 3104"/>
              <p:cNvSpPr/>
              <p:nvPr/>
            </p:nvSpPr>
            <p:spPr>
              <a:xfrm>
                <a:off x="439934" y="1968500"/>
                <a:ext cx="1231901" cy="533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Unaffected son</a:t>
                </a:r>
              </a:p>
            </p:txBody>
          </p:sp>
          <p:grpSp>
            <p:nvGrpSpPr>
              <p:cNvPr id="3107" name="Group 3107"/>
              <p:cNvGrpSpPr/>
              <p:nvPr/>
            </p:nvGrpSpPr>
            <p:grpSpPr>
              <a:xfrm>
                <a:off x="0" y="195428"/>
                <a:ext cx="584200" cy="1824568"/>
                <a:chOff x="0" y="0"/>
                <a:chExt cx="584200" cy="1824566"/>
              </a:xfrm>
            </p:grpSpPr>
            <p:pic>
              <p:nvPicPr>
                <p:cNvPr id="3105" name="Y chromosome.pdf"/>
                <p:cNvPicPr>
                  <a:picLocks noChangeAspect="1"/>
                </p:cNvPicPr>
                <p:nvPr/>
              </p:nvPicPr>
              <p:blipFill>
                <a:blip r:embed="rId5">
                  <a:extLst/>
                </a:blip>
                <a:stretch>
                  <a:fillRect/>
                </a:stretch>
              </p:blipFill>
              <p:spPr>
                <a:xfrm>
                  <a:off x="76200" y="215900"/>
                  <a:ext cx="508000" cy="1608667"/>
                </a:xfrm>
                <a:prstGeom prst="rect">
                  <a:avLst/>
                </a:prstGeom>
                <a:ln w="12700" cap="flat">
                  <a:noFill/>
                  <a:miter lim="400000"/>
                </a:ln>
                <a:effectLst/>
              </p:spPr>
            </p:pic>
            <p:pic>
              <p:nvPicPr>
                <p:cNvPr id="3106" name="X normal.pdf"/>
                <p:cNvPicPr>
                  <a:picLocks noChangeAspect="1"/>
                </p:cNvPicPr>
                <p:nvPr/>
              </p:nvPicPr>
              <p:blipFill>
                <a:blip r:embed="rId2">
                  <a:extLst/>
                </a:blip>
                <a:stretch>
                  <a:fillRect/>
                </a:stretch>
              </p:blipFill>
              <p:spPr>
                <a:xfrm>
                  <a:off x="0" y="0"/>
                  <a:ext cx="508000" cy="1608667"/>
                </a:xfrm>
                <a:prstGeom prst="rect">
                  <a:avLst/>
                </a:prstGeom>
                <a:ln w="12700" cap="flat">
                  <a:noFill/>
                  <a:miter lim="400000"/>
                </a:ln>
                <a:effectLst/>
              </p:spPr>
            </p:pic>
          </p:grpSp>
          <p:grpSp>
            <p:nvGrpSpPr>
              <p:cNvPr id="3110" name="Group 3110"/>
              <p:cNvGrpSpPr/>
              <p:nvPr/>
            </p:nvGrpSpPr>
            <p:grpSpPr>
              <a:xfrm>
                <a:off x="58934" y="0"/>
                <a:ext cx="457201" cy="279400"/>
                <a:chOff x="0" y="0"/>
                <a:chExt cx="457200" cy="279400"/>
              </a:xfrm>
            </p:grpSpPr>
            <p:sp>
              <p:nvSpPr>
                <p:cNvPr id="3108" name="Shape 3108"/>
                <p:cNvSpPr/>
                <p:nvPr/>
              </p:nvSpPr>
              <p:spPr>
                <a:xfrm>
                  <a:off x="19050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Y</a:t>
                  </a:r>
                </a:p>
              </p:txBody>
            </p:sp>
            <p:sp>
              <p:nvSpPr>
                <p:cNvPr id="3109" name="Shape 3109"/>
                <p:cNvSpPr/>
                <p:nvPr/>
              </p:nvSpPr>
              <p:spPr>
                <a:xfrm>
                  <a:off x="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grpSp>
        </p:grpSp>
        <p:sp>
          <p:nvSpPr>
            <p:cNvPr id="3112" name="Shape 3112"/>
            <p:cNvSpPr/>
            <p:nvPr/>
          </p:nvSpPr>
          <p:spPr>
            <a:xfrm flipV="1">
              <a:off x="1003300" y="223520"/>
              <a:ext cx="1066800" cy="1127760"/>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3113" name="colour-boy.png"/>
            <p:cNvPicPr>
              <a:picLocks noChangeAspect="1"/>
            </p:cNvPicPr>
            <p:nvPr/>
          </p:nvPicPr>
          <p:blipFill>
            <a:blip r:embed="rId7">
              <a:extLst/>
            </a:blip>
            <a:stretch>
              <a:fillRect/>
            </a:stretch>
          </p:blipFill>
          <p:spPr>
            <a:xfrm>
              <a:off x="444500" y="1422400"/>
              <a:ext cx="1016000" cy="2912534"/>
            </a:xfrm>
            <a:prstGeom prst="rect">
              <a:avLst/>
            </a:prstGeom>
            <a:ln w="12700" cap="flat">
              <a:noFill/>
              <a:miter lim="400000"/>
            </a:ln>
            <a:effectLst/>
          </p:spPr>
        </p:pic>
      </p:grpSp>
      <p:grpSp>
        <p:nvGrpSpPr>
          <p:cNvPr id="3125" name="Group 3125"/>
          <p:cNvGrpSpPr/>
          <p:nvPr/>
        </p:nvGrpSpPr>
        <p:grpSpPr>
          <a:xfrm>
            <a:off x="8525933" y="4653279"/>
            <a:ext cx="4296502" cy="4854093"/>
            <a:chOff x="0" y="0"/>
            <a:chExt cx="4296501" cy="4854091"/>
          </a:xfrm>
        </p:grpSpPr>
        <p:sp>
          <p:nvSpPr>
            <p:cNvPr id="3115" name="Shape 3115"/>
            <p:cNvSpPr/>
            <p:nvPr/>
          </p:nvSpPr>
          <p:spPr>
            <a:xfrm flipH="1" flipV="1">
              <a:off x="2243666" y="0"/>
              <a:ext cx="1097282" cy="1270000"/>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116" name="Shape 3116"/>
            <p:cNvSpPr/>
            <p:nvPr/>
          </p:nvSpPr>
          <p:spPr>
            <a:xfrm flipH="1" flipV="1">
              <a:off x="0" y="79586"/>
              <a:ext cx="3198707" cy="1241215"/>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3117" name="Shadow-boy.png"/>
            <p:cNvPicPr>
              <a:picLocks noChangeAspect="1"/>
            </p:cNvPicPr>
            <p:nvPr/>
          </p:nvPicPr>
          <p:blipFill>
            <a:blip r:embed="rId8">
              <a:extLst/>
            </a:blip>
            <a:stretch>
              <a:fillRect/>
            </a:stretch>
          </p:blipFill>
          <p:spPr>
            <a:xfrm>
              <a:off x="2777066" y="1404620"/>
              <a:ext cx="1016001" cy="2912534"/>
            </a:xfrm>
            <a:prstGeom prst="rect">
              <a:avLst/>
            </a:prstGeom>
            <a:ln w="12700" cap="flat">
              <a:noFill/>
              <a:miter lim="400000"/>
            </a:ln>
            <a:effectLst/>
          </p:spPr>
        </p:pic>
        <p:sp>
          <p:nvSpPr>
            <p:cNvPr id="3118" name="Shape 3118"/>
            <p:cNvSpPr/>
            <p:nvPr/>
          </p:nvSpPr>
          <p:spPr>
            <a:xfrm>
              <a:off x="2785201" y="4320691"/>
              <a:ext cx="1181101" cy="5334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Affected son</a:t>
              </a:r>
            </a:p>
          </p:txBody>
        </p:sp>
        <p:grpSp>
          <p:nvGrpSpPr>
            <p:cNvPr id="3121" name="Group 3121"/>
            <p:cNvGrpSpPr/>
            <p:nvPr/>
          </p:nvGrpSpPr>
          <p:grpSpPr>
            <a:xfrm>
              <a:off x="3729566" y="2547620"/>
              <a:ext cx="558801" cy="1824567"/>
              <a:chOff x="0" y="0"/>
              <a:chExt cx="558800" cy="1824566"/>
            </a:xfrm>
          </p:grpSpPr>
          <p:pic>
            <p:nvPicPr>
              <p:cNvPr id="3119" name="X recessive.pdf"/>
              <p:cNvPicPr>
                <a:picLocks noChangeAspect="1"/>
              </p:cNvPicPr>
              <p:nvPr/>
            </p:nvPicPr>
            <p:blipFill>
              <a:blip r:embed="rId4">
                <a:extLst/>
              </a:blip>
              <a:stretch>
                <a:fillRect/>
              </a:stretch>
            </p:blipFill>
            <p:spPr>
              <a:xfrm>
                <a:off x="0" y="0"/>
                <a:ext cx="482600" cy="1693832"/>
              </a:xfrm>
              <a:prstGeom prst="rect">
                <a:avLst/>
              </a:prstGeom>
              <a:ln w="12700" cap="flat">
                <a:noFill/>
                <a:miter lim="400000"/>
              </a:ln>
              <a:effectLst/>
            </p:spPr>
          </p:pic>
          <p:pic>
            <p:nvPicPr>
              <p:cNvPr id="3120" name="Y chromosome.pdf"/>
              <p:cNvPicPr>
                <a:picLocks noChangeAspect="1"/>
              </p:cNvPicPr>
              <p:nvPr/>
            </p:nvPicPr>
            <p:blipFill>
              <a:blip r:embed="rId5">
                <a:extLst/>
              </a:blip>
              <a:stretch>
                <a:fillRect/>
              </a:stretch>
            </p:blipFill>
            <p:spPr>
              <a:xfrm>
                <a:off x="50800" y="215900"/>
                <a:ext cx="508000" cy="1608667"/>
              </a:xfrm>
              <a:prstGeom prst="rect">
                <a:avLst/>
              </a:prstGeom>
              <a:ln w="12700" cap="flat">
                <a:noFill/>
                <a:miter lim="400000"/>
              </a:ln>
              <a:effectLst/>
            </p:spPr>
          </p:pic>
        </p:grpSp>
        <p:grpSp>
          <p:nvGrpSpPr>
            <p:cNvPr id="3124" name="Group 3124"/>
            <p:cNvGrpSpPr/>
            <p:nvPr/>
          </p:nvGrpSpPr>
          <p:grpSpPr>
            <a:xfrm>
              <a:off x="3864701" y="2352191"/>
              <a:ext cx="431801" cy="279401"/>
              <a:chOff x="0" y="0"/>
              <a:chExt cx="431800" cy="279400"/>
            </a:xfrm>
          </p:grpSpPr>
          <p:sp>
            <p:nvSpPr>
              <p:cNvPr id="3122" name="Shape 3122"/>
              <p:cNvSpPr/>
              <p:nvPr/>
            </p:nvSpPr>
            <p:spPr>
              <a:xfrm>
                <a:off x="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sp>
            <p:nvSpPr>
              <p:cNvPr id="3123" name="Shape 3123"/>
              <p:cNvSpPr/>
              <p:nvPr/>
            </p:nvSpPr>
            <p:spPr>
              <a:xfrm>
                <a:off x="16510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Y</a:t>
                </a:r>
              </a:p>
            </p:txBody>
          </p:sp>
        </p:grpSp>
      </p:grpSp>
      <p:grpSp>
        <p:nvGrpSpPr>
          <p:cNvPr id="3137" name="Group 3137"/>
          <p:cNvGrpSpPr/>
          <p:nvPr/>
        </p:nvGrpSpPr>
        <p:grpSpPr>
          <a:xfrm>
            <a:off x="8470900" y="4663440"/>
            <a:ext cx="2768600" cy="4843932"/>
            <a:chOff x="0" y="0"/>
            <a:chExt cx="2768600" cy="4843931"/>
          </a:xfrm>
        </p:grpSpPr>
        <p:sp>
          <p:nvSpPr>
            <p:cNvPr id="3126" name="Shape 3126"/>
            <p:cNvSpPr/>
            <p:nvPr/>
          </p:nvSpPr>
          <p:spPr>
            <a:xfrm flipH="1" flipV="1">
              <a:off x="0" y="77893"/>
              <a:ext cx="1719581" cy="1222587"/>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127" name="Shape 3127"/>
            <p:cNvSpPr/>
            <p:nvPr/>
          </p:nvSpPr>
          <p:spPr>
            <a:xfrm flipV="1">
              <a:off x="1790700" y="0"/>
              <a:ext cx="538481" cy="1290320"/>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3136" name="Group 3136"/>
            <p:cNvGrpSpPr/>
            <p:nvPr/>
          </p:nvGrpSpPr>
          <p:grpSpPr>
            <a:xfrm>
              <a:off x="1265434" y="1381759"/>
              <a:ext cx="1503166" cy="3462173"/>
              <a:chOff x="0" y="0"/>
              <a:chExt cx="1503165" cy="3462171"/>
            </a:xfrm>
          </p:grpSpPr>
          <p:pic>
            <p:nvPicPr>
              <p:cNvPr id="3128" name="Shadow-girl-half.png"/>
              <p:cNvPicPr>
                <a:picLocks noChangeAspect="1"/>
              </p:cNvPicPr>
              <p:nvPr/>
            </p:nvPicPr>
            <p:blipFill>
              <a:blip r:embed="rId9">
                <a:extLst/>
              </a:blip>
              <a:stretch>
                <a:fillRect/>
              </a:stretch>
            </p:blipFill>
            <p:spPr>
              <a:xfrm>
                <a:off x="4565" y="0"/>
                <a:ext cx="889001" cy="2963334"/>
              </a:xfrm>
              <a:prstGeom prst="rect">
                <a:avLst/>
              </a:prstGeom>
              <a:ln w="12700" cap="flat">
                <a:noFill/>
                <a:miter lim="400000"/>
              </a:ln>
              <a:effectLst/>
            </p:spPr>
          </p:pic>
          <p:sp>
            <p:nvSpPr>
              <p:cNvPr id="3129" name="Shape 3129"/>
              <p:cNvSpPr/>
              <p:nvPr/>
            </p:nvSpPr>
            <p:spPr>
              <a:xfrm>
                <a:off x="0" y="2928771"/>
                <a:ext cx="1231900" cy="5334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Carrier daughter</a:t>
                </a:r>
              </a:p>
            </p:txBody>
          </p:sp>
          <p:grpSp>
            <p:nvGrpSpPr>
              <p:cNvPr id="3132" name="Group 3132"/>
              <p:cNvGrpSpPr/>
              <p:nvPr/>
            </p:nvGrpSpPr>
            <p:grpSpPr>
              <a:xfrm>
                <a:off x="791965" y="1155700"/>
                <a:ext cx="711201" cy="1693832"/>
                <a:chOff x="0" y="0"/>
                <a:chExt cx="711200" cy="1693831"/>
              </a:xfrm>
            </p:grpSpPr>
            <p:pic>
              <p:nvPicPr>
                <p:cNvPr id="3130" name="X normal.pdf"/>
                <p:cNvPicPr>
                  <a:picLocks noChangeAspect="1"/>
                </p:cNvPicPr>
                <p:nvPr/>
              </p:nvPicPr>
              <p:blipFill>
                <a:blip r:embed="rId2">
                  <a:extLst/>
                </a:blip>
                <a:stretch>
                  <a:fillRect/>
                </a:stretch>
              </p:blipFill>
              <p:spPr>
                <a:xfrm>
                  <a:off x="0" y="12700"/>
                  <a:ext cx="508000" cy="1608667"/>
                </a:xfrm>
                <a:prstGeom prst="rect">
                  <a:avLst/>
                </a:prstGeom>
                <a:ln w="12700" cap="flat">
                  <a:noFill/>
                  <a:miter lim="400000"/>
                </a:ln>
                <a:effectLst/>
              </p:spPr>
            </p:pic>
            <p:pic>
              <p:nvPicPr>
                <p:cNvPr id="3131" name="X recessive.pdf"/>
                <p:cNvPicPr>
                  <a:picLocks noChangeAspect="1"/>
                </p:cNvPicPr>
                <p:nvPr/>
              </p:nvPicPr>
              <p:blipFill>
                <a:blip r:embed="rId4">
                  <a:extLst/>
                </a:blip>
                <a:stretch>
                  <a:fillRect/>
                </a:stretch>
              </p:blipFill>
              <p:spPr>
                <a:xfrm>
                  <a:off x="228600" y="0"/>
                  <a:ext cx="482600" cy="1693832"/>
                </a:xfrm>
                <a:prstGeom prst="rect">
                  <a:avLst/>
                </a:prstGeom>
                <a:ln w="12700" cap="flat">
                  <a:noFill/>
                  <a:miter lim="400000"/>
                </a:ln>
                <a:effectLst/>
              </p:spPr>
            </p:pic>
          </p:grpSp>
          <p:grpSp>
            <p:nvGrpSpPr>
              <p:cNvPr id="3135" name="Group 3135"/>
              <p:cNvGrpSpPr/>
              <p:nvPr/>
            </p:nvGrpSpPr>
            <p:grpSpPr>
              <a:xfrm>
                <a:off x="876300" y="960271"/>
                <a:ext cx="457200" cy="279401"/>
                <a:chOff x="0" y="0"/>
                <a:chExt cx="457200" cy="279400"/>
              </a:xfrm>
            </p:grpSpPr>
            <p:sp>
              <p:nvSpPr>
                <p:cNvPr id="3133" name="Shape 3133"/>
                <p:cNvSpPr/>
                <p:nvPr/>
              </p:nvSpPr>
              <p:spPr>
                <a:xfrm>
                  <a:off x="19050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sp>
              <p:nvSpPr>
                <p:cNvPr id="3134" name="Shape 3134"/>
                <p:cNvSpPr/>
                <p:nvPr/>
              </p:nvSpPr>
              <p:spPr>
                <a:xfrm>
                  <a:off x="0" y="0"/>
                  <a:ext cx="266700" cy="279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tabLst>
                      <a:tab pos="520700" algn="l"/>
                    </a:tabLst>
                  </a:lvl1pPr>
                </a:lstStyle>
                <a:p>
                  <a:r>
                    <a:t>X</a:t>
                  </a:r>
                </a:p>
              </p:txBody>
            </p:sp>
          </p:grpSp>
        </p:grpSp>
      </p:grpSp>
      <p:pic>
        <p:nvPicPr>
          <p:cNvPr id="3138" name="Shadow-woman-half.png"/>
          <p:cNvPicPr>
            <a:picLocks noChangeAspect="1"/>
          </p:cNvPicPr>
          <p:nvPr/>
        </p:nvPicPr>
        <p:blipFill>
          <a:blip r:embed="rId10">
            <a:extLst/>
          </a:blip>
          <a:stretch>
            <a:fillRect/>
          </a:stretch>
        </p:blipFill>
        <p:spPr>
          <a:xfrm>
            <a:off x="10090713" y="376766"/>
            <a:ext cx="1188984" cy="45974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7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07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07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07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07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07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iterate>
                                    <p:tmAbs val="0"/>
                                  </p:iterate>
                                  <p:childTnLst>
                                    <p:set>
                                      <p:cBhvr>
                                        <p:cTn id="28" fill="hold"/>
                                        <p:tgtEl>
                                          <p:spTgt spid="310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3" nodeType="clickEffect">
                                  <p:stCondLst>
                                    <p:cond delay="0"/>
                                  </p:stCondLst>
                                  <p:iterate>
                                    <p:tmAbs val="0"/>
                                  </p:iterate>
                                  <p:childTnLst>
                                    <p:set>
                                      <p:cBhvr>
                                        <p:cTn id="32" fill="hold"/>
                                        <p:tgtEl>
                                          <p:spTgt spid="31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4" nodeType="clickEffect">
                                  <p:stCondLst>
                                    <p:cond delay="0"/>
                                  </p:stCondLst>
                                  <p:iterate>
                                    <p:tmAbs val="0"/>
                                  </p:iterate>
                                  <p:childTnLst>
                                    <p:set>
                                      <p:cBhvr>
                                        <p:cTn id="36" fill="hold"/>
                                        <p:tgtEl>
                                          <p:spTgt spid="308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5" nodeType="clickEffect">
                                  <p:stCondLst>
                                    <p:cond delay="0"/>
                                  </p:stCondLst>
                                  <p:iterate>
                                    <p:tmAbs val="0"/>
                                  </p:iterate>
                                  <p:childTnLst>
                                    <p:set>
                                      <p:cBhvr>
                                        <p:cTn id="40" fill="hold"/>
                                        <p:tgtEl>
                                          <p:spTgt spid="31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6" nodeType="clickEffect">
                                  <p:stCondLst>
                                    <p:cond delay="0"/>
                                  </p:stCondLst>
                                  <p:iterate>
                                    <p:tmAbs val="0"/>
                                  </p:iterate>
                                  <p:childTnLst>
                                    <p:set>
                                      <p:cBhvr>
                                        <p:cTn id="44" fill="hold"/>
                                        <p:tgtEl>
                                          <p:spTgt spid="3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1" build="p" bldLvl="5" animBg="1" advAuto="0"/>
      <p:bldP spid="3088" grpId="4" animBg="1" advAuto="0"/>
      <p:bldP spid="3101" grpId="2" animBg="1" advAuto="0"/>
      <p:bldP spid="3114" grpId="3" animBg="1" advAuto="0"/>
      <p:bldP spid="3125" grpId="6" animBg="1" advAuto="0"/>
      <p:bldP spid="3137" grpId="5"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3"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5" name="Shape 3365"/>
          <p:cNvSpPr>
            <a:spLocks noGrp="1"/>
          </p:cNvSpPr>
          <p:nvPr>
            <p:ph type="title"/>
          </p:nvPr>
        </p:nvSpPr>
        <p:spPr>
          <a:prstGeom prst="rect">
            <a:avLst/>
          </a:prstGeom>
        </p:spPr>
        <p:txBody>
          <a:bodyPr/>
          <a:lstStyle>
            <a:lvl1pPr>
              <a:tabLst>
                <a:tab pos="952500" algn="l"/>
              </a:tabLst>
            </a:lvl1pPr>
          </a:lstStyle>
          <a:p>
            <a:r>
              <a:t>Conditions of Use</a:t>
            </a:r>
          </a:p>
        </p:txBody>
      </p:sp>
      <p:sp>
        <p:nvSpPr>
          <p:cNvPr id="3366" name="Shape 3366"/>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3367" name="Shape 3367"/>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3368" name="Shape 3368"/>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3369" name="Shape 3369"/>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1" name="Shape 3371"/>
          <p:cNvSpPr>
            <a:spLocks noGrp="1"/>
          </p:cNvSpPr>
          <p:nvPr>
            <p:ph type="title"/>
          </p:nvPr>
        </p:nvSpPr>
        <p:spPr>
          <a:prstGeom prst="rect">
            <a:avLst/>
          </a:prstGeom>
        </p:spPr>
        <p:txBody>
          <a:bodyPr/>
          <a:lstStyle>
            <a:lvl1pPr>
              <a:tabLst>
                <a:tab pos="952500" algn="l"/>
              </a:tabLst>
            </a:lvl1pPr>
          </a:lstStyle>
          <a:p>
            <a:r>
              <a:t>Photo Credits</a:t>
            </a:r>
          </a:p>
        </p:txBody>
      </p:sp>
      <p:sp>
        <p:nvSpPr>
          <p:cNvPr id="3372" name="Shape 3372"/>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611999" lvl="1">
              <a:tabLst>
                <a:tab pos="1485900" algn="l"/>
              </a:tabLst>
              <a:defRPr b="1"/>
            </a:pPr>
            <a:r>
              <a:t>Adobestock</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3373" name="Shape 3373"/>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rPr b="1"/>
              <a:t>U.S. Department of Agriculture</a:t>
            </a:r>
            <a:r>
              <a:t> (coded </a:t>
            </a:r>
            <a:r>
              <a:rPr b="1"/>
              <a:t>USDA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3376" name="Group 3376"/>
          <p:cNvGrpSpPr/>
          <p:nvPr/>
        </p:nvGrpSpPr>
        <p:grpSpPr>
          <a:xfrm>
            <a:off x="6807200" y="5384800"/>
            <a:ext cx="5003800" cy="1841500"/>
            <a:chOff x="0" y="0"/>
            <a:chExt cx="5003800" cy="1841500"/>
          </a:xfrm>
        </p:grpSpPr>
        <p:sp>
          <p:nvSpPr>
            <p:cNvPr id="3374" name="Shape 3374"/>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375" name="Shape 3375"/>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8"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1">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18</TotalTime>
  <Words>4498</Words>
  <Application>Microsoft Office PowerPoint</Application>
  <PresentationFormat>Custom</PresentationFormat>
  <Paragraphs>666</Paragraphs>
  <Slides>50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Gill Sans</vt:lpstr>
      <vt:lpstr>Helvetica</vt:lpstr>
      <vt:lpstr>Hoefler Text</vt:lpstr>
      <vt:lpstr>Lucida Grande</vt:lpstr>
      <vt:lpstr>Myriad Pro</vt:lpstr>
      <vt:lpstr>Myriad Pro Semibold</vt:lpstr>
      <vt:lpstr>Savoye LET</vt:lpstr>
      <vt:lpstr>White</vt:lpstr>
      <vt:lpstr>PowerPoint Presentation</vt:lpstr>
      <vt:lpstr>PowerPoint Presentation</vt:lpstr>
      <vt:lpstr>Sources of Variation</vt:lpstr>
      <vt:lpstr>Sources of Variation</vt:lpstr>
      <vt:lpstr>Qualitative and Quantitative</vt:lpstr>
      <vt:lpstr>Phenotype</vt:lpstr>
      <vt:lpstr>Influences on Phenotype</vt:lpstr>
      <vt:lpstr>Types of Mutation 1</vt:lpstr>
      <vt:lpstr>Types of Mutation 2</vt:lpstr>
      <vt:lpstr>Types of Mutation 3</vt:lpstr>
      <vt:lpstr>Point Mutations 1</vt:lpstr>
      <vt:lpstr>Point Mutations 2</vt:lpstr>
      <vt:lpstr>Missense Substitution</vt:lpstr>
      <vt:lpstr>Nonsense Substitution</vt:lpstr>
      <vt:lpstr>Reading Frame Shift by Insertion</vt:lpstr>
      <vt:lpstr>Partial Reading Frame Shift</vt:lpstr>
      <vt:lpstr>Sickle Cell Anemia</vt:lpstr>
      <vt:lpstr>Sickle Cell Disease</vt:lpstr>
      <vt:lpstr>Sickle Cell Mutation</vt:lpstr>
      <vt:lpstr>Cystic Fibrosis</vt:lpstr>
      <vt:lpstr>Cystic Fibrosis Mutation</vt:lpstr>
      <vt:lpstr>Cystic Fibrosis</vt:lpstr>
      <vt:lpstr>Causes of Block Mutations</vt:lpstr>
      <vt:lpstr>Block Mutations: Deletion</vt:lpstr>
      <vt:lpstr>Deletion Example</vt:lpstr>
      <vt:lpstr>Block Mutations: Translocation</vt:lpstr>
      <vt:lpstr>Translocation Example</vt:lpstr>
      <vt:lpstr>Block Mutations: Inversion</vt:lpstr>
      <vt:lpstr>Inversion Example</vt:lpstr>
      <vt:lpstr>Block Mutations: Duplication</vt:lpstr>
      <vt:lpstr>Duplication Example</vt:lpstr>
      <vt:lpstr>Gene Duplication</vt:lpstr>
      <vt:lpstr>Non-disjunction in Meiosis</vt:lpstr>
      <vt:lpstr>Non-Disjunction: Meiosis I</vt:lpstr>
      <vt:lpstr>Non-Disjunction: Meiosis II</vt:lpstr>
      <vt:lpstr>Faulty Sperm Production</vt:lpstr>
      <vt:lpstr>Faulty Egg Production</vt:lpstr>
      <vt:lpstr>Aneuploidy in Sex Chromosomes</vt:lpstr>
      <vt:lpstr>Sex Aneuploidy Phenotypes</vt:lpstr>
      <vt:lpstr>Klinefelter Syndrome</vt:lpstr>
      <vt:lpstr>Turner Syndrome</vt:lpstr>
      <vt:lpstr>Homologous Chromosomes</vt:lpstr>
      <vt:lpstr>Alleles</vt:lpstr>
      <vt:lpstr>Alleles</vt:lpstr>
      <vt:lpstr>Sex Linkage</vt:lpstr>
      <vt:lpstr>Sex Linkage</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4</cp:revision>
  <dcterms:modified xsi:type="dcterms:W3CDTF">2021-06-11T03:03:43Z</dcterms:modified>
</cp:coreProperties>
</file>
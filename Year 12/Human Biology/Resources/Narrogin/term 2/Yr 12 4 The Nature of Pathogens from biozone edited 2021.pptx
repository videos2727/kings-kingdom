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sldIdLst>
    <p:sldId id="256" r:id="rId5"/>
    <p:sldId id="257" r:id="rId6"/>
    <p:sldId id="258" r:id="rId7"/>
    <p:sldId id="259" r:id="rId8"/>
    <p:sldId id="260" r:id="rId9"/>
    <p:sldId id="261" r:id="rId10"/>
    <p:sldId id="262" r:id="rId11"/>
    <p:sldId id="263" r:id="rId12"/>
    <p:sldId id="264" r:id="rId13"/>
    <p:sldId id="285" r:id="rId14"/>
    <p:sldId id="286" r:id="rId15"/>
    <p:sldId id="287" r:id="rId16"/>
    <p:sldId id="288" r:id="rId17"/>
    <p:sldId id="289" r:id="rId18"/>
    <p:sldId id="290" r:id="rId19"/>
    <p:sldId id="291" r:id="rId20"/>
    <p:sldId id="292" r:id="rId21"/>
    <p:sldId id="293" r:id="rId22"/>
    <p:sldId id="294" r:id="rId23"/>
    <p:sldId id="295" r:id="rId24"/>
    <p:sldId id="297" r:id="rId25"/>
    <p:sldId id="305" r:id="rId26"/>
    <p:sldId id="306" r:id="rId27"/>
    <p:sldId id="307" r:id="rId28"/>
    <p:sldId id="308" r:id="rId29"/>
    <p:sldId id="309" r:id="rId30"/>
    <p:sldId id="310" r:id="rId31"/>
    <p:sldId id="311" r:id="rId32"/>
    <p:sldId id="312" r:id="rId33"/>
    <p:sldId id="313" r:id="rId34"/>
    <p:sldId id="314" r:id="rId35"/>
    <p:sldId id="315" r:id="rId3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4635"/>
  </p:normalViewPr>
  <p:slideViewPr>
    <p:cSldViewPr snapToGrid="0" snapToObjects="1">
      <p:cViewPr varScale="1">
        <p:scale>
          <a:sx n="72" d="100"/>
          <a:sy n="72" d="100"/>
        </p:scale>
        <p:origin x="2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 name="Shape 71"/>
          <p:cNvSpPr>
            <a:spLocks noGrp="1" noRot="1" noChangeAspect="1"/>
          </p:cNvSpPr>
          <p:nvPr>
            <p:ph type="sldImg"/>
          </p:nvPr>
        </p:nvSpPr>
        <p:spPr>
          <a:xfrm>
            <a:off x="1143000" y="685800"/>
            <a:ext cx="4572000" cy="3429000"/>
          </a:xfrm>
          <a:prstGeom prst="rect">
            <a:avLst/>
          </a:prstGeom>
        </p:spPr>
        <p:txBody>
          <a:bodyPr/>
          <a:lstStyle/>
          <a:p>
            <a:endParaRPr/>
          </a:p>
        </p:txBody>
      </p:sp>
      <p:sp>
        <p:nvSpPr>
          <p:cNvPr id="72" name="Shape 7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997374348"/>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biozone.com.au"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6" name="Shape 16"/>
          <p:cNvSpPr>
            <a:spLocks noGrp="1"/>
          </p:cNvSpPr>
          <p:nvPr>
            <p:ph type="title"/>
          </p:nvPr>
        </p:nvSpPr>
        <p:spPr>
          <a:xfrm>
            <a:off x="393700" y="368300"/>
            <a:ext cx="12192000" cy="905967"/>
          </a:xfrm>
          <a:prstGeom prst="rect">
            <a:avLst/>
          </a:prstGeom>
        </p:spPr>
        <p:txBody>
          <a:bodyPr lIns="0" tIns="0" rIns="0" bIns="0" anchor="b"/>
          <a:lstStyle>
            <a:lvl1pPr defTabSz="457200">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numCol="1" spcCol="38100"/>
          <a:lstStyle>
            <a:lvl1pPr defTabSz="457200">
              <a:spcBef>
                <a:spcPts val="2000"/>
              </a:spcBef>
              <a:tabLst>
                <a:tab pos="1016000" algn="l"/>
              </a:tabLst>
              <a:defRPr b="0"/>
            </a:lvl1pPr>
            <a:lvl2pPr marL="648000" indent="-288000" defTabSz="457200">
              <a:spcBef>
                <a:spcPts val="1500"/>
              </a:spcBef>
              <a:buSzPct val="125000"/>
              <a:tabLst>
                <a:tab pos="1485900" algn="l"/>
              </a:tabLst>
              <a:defRPr sz="2000"/>
            </a:lvl2pPr>
            <a:lvl3pPr marL="936000" indent="-288000" defTabSz="457200">
              <a:spcBef>
                <a:spcPts val="400"/>
              </a:spcBef>
              <a:tabLst>
                <a:tab pos="1638300" algn="l"/>
              </a:tabLst>
              <a:defRPr sz="1800"/>
            </a:lvl3pPr>
            <a:lvl4pPr marL="1223999" indent="-288000" defTabSz="457200">
              <a:spcBef>
                <a:spcPts val="400"/>
              </a:spcBef>
              <a:tabLst>
                <a:tab pos="2235200" algn="l"/>
              </a:tabLst>
              <a:defRPr sz="1800"/>
            </a:lvl4pPr>
            <a:lvl5pPr marL="1512000" indent="-288000" defTabSz="457200">
              <a:spcBef>
                <a:spcPts val="400"/>
              </a:spcBef>
              <a:tabLst>
                <a:tab pos="2616200" algn="l"/>
              </a:tabLst>
              <a:defRPr sz="1800"/>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ntents">
    <p:spTree>
      <p:nvGrpSpPr>
        <p:cNvPr id="1" name=""/>
        <p:cNvGrpSpPr/>
        <p:nvPr/>
      </p:nvGrpSpPr>
      <p:grpSpPr>
        <a:xfrm>
          <a:off x="0" y="0"/>
          <a:ext cx="0" cy="0"/>
          <a:chOff x="0" y="0"/>
          <a:chExt cx="0" cy="0"/>
        </a:xfrm>
      </p:grpSpPr>
      <p:sp>
        <p:nvSpPr>
          <p:cNvPr id="25" name="Shape 25"/>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hape 2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33" name="Shape 33"/>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4" name="Shape 34"/>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IOZONE BRANDING">
    <p:bg>
      <p:bgPr>
        <a:solidFill>
          <a:srgbClr val="FFFFFF"/>
        </a:solidFill>
        <a:effectLst/>
      </p:bgPr>
    </p:bg>
    <p:spTree>
      <p:nvGrpSpPr>
        <p:cNvPr id="1" name=""/>
        <p:cNvGrpSpPr/>
        <p:nvPr/>
      </p:nvGrpSpPr>
      <p:grpSpPr>
        <a:xfrm>
          <a:off x="0" y="0"/>
          <a:ext cx="0" cy="0"/>
          <a:chOff x="0" y="0"/>
          <a:chExt cx="0" cy="0"/>
        </a:xfrm>
      </p:grpSpPr>
      <p:sp>
        <p:nvSpPr>
          <p:cNvPr id="41" name="Shape 41"/>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2" name="Shape 42"/>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3" name="BIOZONE_logo_horizontal_on_Black.png"/>
          <p:cNvPicPr>
            <a:picLocks noChangeAspect="1"/>
          </p:cNvPicPr>
          <p:nvPr/>
        </p:nvPicPr>
        <p:blipFill>
          <a:blip r:embed="rId2"/>
          <a:stretch>
            <a:fillRect/>
          </a:stretch>
        </p:blipFill>
        <p:spPr>
          <a:xfrm>
            <a:off x="1231900" y="8610081"/>
            <a:ext cx="3632200" cy="815393"/>
          </a:xfrm>
          <a:prstGeom prst="rect">
            <a:avLst/>
          </a:prstGeom>
          <a:ln w="12700">
            <a:miter lim="400000"/>
          </a:ln>
        </p:spPr>
      </p:pic>
      <p:sp>
        <p:nvSpPr>
          <p:cNvPr id="44" name="Shape 44"/>
          <p:cNvSpPr/>
          <p:nvPr/>
        </p:nvSpPr>
        <p:spPr>
          <a:xfrm>
            <a:off x="5791200" y="8775700"/>
            <a:ext cx="2641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45" name="Shape 45"/>
          <p:cNvSpPr/>
          <p:nvPr/>
        </p:nvSpPr>
        <p:spPr>
          <a:xfrm>
            <a:off x="8382000" y="8775700"/>
            <a:ext cx="4038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3"/>
              </a:rPr>
              <a:t>http://www.biozone.com.au</a:t>
            </a:r>
          </a:p>
        </p:txBody>
      </p:sp>
      <p:sp>
        <p:nvSpPr>
          <p:cNvPr id="46" name="Shape 46"/>
          <p:cNvSpPr>
            <a:spLocks noGrp="1"/>
          </p:cNvSpPr>
          <p:nvPr>
            <p:ph type="title"/>
          </p:nvPr>
        </p:nvSpPr>
        <p:spPr>
          <a:xfrm>
            <a:off x="719999" y="359999"/>
            <a:ext cx="11912601" cy="1943101"/>
          </a:xfrm>
          <a:prstGeom prst="rect">
            <a:avLst/>
          </a:prstGeom>
        </p:spPr>
        <p:txBody>
          <a:bodyPr lIns="0" tIns="0" rIns="0" bIns="0"/>
          <a:lstStyle>
            <a:lvl1pPr defTabSz="457200">
              <a:tabLst>
                <a:tab pos="952500" algn="l"/>
              </a:tabLst>
            </a:lvl1pPr>
          </a:lstStyle>
          <a:p>
            <a:r>
              <a:t>Title Text</a:t>
            </a:r>
          </a:p>
        </p:txBody>
      </p:sp>
      <p:sp>
        <p:nvSpPr>
          <p:cNvPr id="47" name="Shape 47"/>
          <p:cNvSpPr>
            <a:spLocks noGrp="1"/>
          </p:cNvSpPr>
          <p:nvPr>
            <p:ph type="body" idx="1"/>
          </p:nvPr>
        </p:nvSpPr>
        <p:spPr>
          <a:xfrm>
            <a:off x="728300" y="1800000"/>
            <a:ext cx="10566401" cy="6273801"/>
          </a:xfrm>
          <a:prstGeom prst="rect">
            <a:avLst/>
          </a:prstGeom>
        </p:spPr>
        <p:txBody>
          <a:bodyPr numCol="1" spcCol="38100"/>
          <a:lstStyle>
            <a:lvl1pPr marL="381000" indent="-381000" defTabSz="457200">
              <a:lnSpc>
                <a:spcPts val="1900"/>
              </a:lnSpc>
              <a:spcBef>
                <a:spcPts val="2000"/>
              </a:spcBef>
              <a:buClr>
                <a:srgbClr val="FFFFFF"/>
              </a:buClr>
              <a:buSzPct val="200000"/>
              <a:tabLst>
                <a:tab pos="1016000" algn="l"/>
              </a:tabLst>
              <a:defRPr sz="1600" b="0">
                <a:solidFill>
                  <a:srgbClr val="FFFFFF"/>
                </a:solidFill>
              </a:defRPr>
            </a:lvl1pPr>
            <a:lvl2pPr marL="633599" indent="-252000" defTabSz="457200">
              <a:lnSpc>
                <a:spcPts val="1400"/>
              </a:lnSpc>
              <a:spcBef>
                <a:spcPts val="600"/>
              </a:spcBef>
              <a:tabLst>
                <a:tab pos="1485900" algn="l"/>
              </a:tabLst>
              <a:defRPr sz="1200">
                <a:solidFill>
                  <a:srgbClr val="FFFFFF"/>
                </a:solidFill>
              </a:defRPr>
            </a:lvl2pPr>
            <a:lvl3pPr marL="900000" indent="-252000" defTabSz="457200">
              <a:lnSpc>
                <a:spcPts val="1400"/>
              </a:lnSpc>
              <a:spcBef>
                <a:spcPts val="600"/>
              </a:spcBef>
              <a:tabLst>
                <a:tab pos="1638300" algn="l"/>
              </a:tabLst>
              <a:defRPr sz="1200">
                <a:solidFill>
                  <a:srgbClr val="FFFFFF"/>
                </a:solidFill>
              </a:defRPr>
            </a:lvl3pPr>
            <a:lvl4pPr marL="1152000" indent="-252000" defTabSz="457200">
              <a:lnSpc>
                <a:spcPts val="1400"/>
              </a:lnSpc>
              <a:spcBef>
                <a:spcPts val="600"/>
              </a:spcBef>
              <a:buFont typeface="Gill Sans"/>
              <a:tabLst>
                <a:tab pos="2235200" algn="l"/>
              </a:tabLst>
              <a:defRPr sz="1200">
                <a:solidFill>
                  <a:srgbClr val="FFFFFF"/>
                </a:solidFill>
              </a:defRPr>
            </a:lvl4pPr>
            <a:lvl5pPr marL="1403999" indent="-252000" defTabSz="457200">
              <a:lnSpc>
                <a:spcPts val="1400"/>
              </a:lnSpc>
              <a:spcBef>
                <a:spcPts val="600"/>
              </a:spcBef>
              <a:buFont typeface="Gill Sans"/>
              <a:tabLst>
                <a:tab pos="2616200" algn="l"/>
              </a:tabLst>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55" name="Shape 5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56" name="Shape 56"/>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amp; Bulle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3" name="Shape 63"/>
          <p:cNvSpPr>
            <a:spLocks noGrp="1"/>
          </p:cNvSpPr>
          <p:nvPr>
            <p:ph type="title"/>
          </p:nvPr>
        </p:nvSpPr>
        <p:spPr>
          <a:xfrm>
            <a:off x="381000" y="342900"/>
            <a:ext cx="12192000" cy="931317"/>
          </a:xfrm>
          <a:prstGeom prst="rect">
            <a:avLst/>
          </a:prstGeom>
        </p:spPr>
        <p:txBody>
          <a:bodyPr lIns="0" tIns="0" rIns="0" bIns="0" anchor="b"/>
          <a:lstStyle>
            <a:lvl1pPr defTabSz="457200">
              <a:tabLst>
                <a:tab pos="952500" algn="l"/>
              </a:tabLst>
              <a:defRPr>
                <a:solidFill>
                  <a:srgbClr val="000000"/>
                </a:solidFill>
              </a:defRPr>
            </a:lvl1pPr>
          </a:lstStyle>
          <a:p>
            <a:r>
              <a:t>Title Text</a:t>
            </a:r>
          </a:p>
        </p:txBody>
      </p:sp>
      <p:sp>
        <p:nvSpPr>
          <p:cNvPr id="64" name="Shape 64"/>
          <p:cNvSpPr>
            <a:spLocks noGrp="1"/>
          </p:cNvSpPr>
          <p:nvPr>
            <p:ph type="body" sz="half" idx="1"/>
          </p:nvPr>
        </p:nvSpPr>
        <p:spPr>
          <a:xfrm>
            <a:off x="368300" y="1790700"/>
            <a:ext cx="5956300" cy="7543800"/>
          </a:xfrm>
          <a:prstGeom prst="rect">
            <a:avLst/>
          </a:prstGeom>
        </p:spPr>
        <p:txBody>
          <a:bodyPr numCol="1" spcCol="38100"/>
          <a:lstStyle>
            <a:lvl1pPr defTabSz="457200">
              <a:spcBef>
                <a:spcPts val="2000"/>
              </a:spcBef>
              <a:tabLst>
                <a:tab pos="1016000" algn="l"/>
              </a:tabLst>
              <a:defRPr b="0"/>
            </a:lvl1pPr>
            <a:lvl2pPr marL="648000" indent="-288000" defTabSz="457200">
              <a:spcBef>
                <a:spcPts val="1500"/>
              </a:spcBef>
              <a:buSzPct val="125000"/>
              <a:tabLst>
                <a:tab pos="1485900" algn="l"/>
              </a:tabLst>
              <a:defRPr sz="2000"/>
            </a:lvl2pPr>
            <a:lvl3pPr marL="936000" indent="-288000" defTabSz="457200">
              <a:spcBef>
                <a:spcPts val="400"/>
              </a:spcBef>
              <a:tabLst>
                <a:tab pos="1638300" algn="l"/>
              </a:tabLst>
              <a:defRPr sz="1800"/>
            </a:lvl3pPr>
            <a:lvl4pPr marL="1223999" indent="-288000" defTabSz="457200">
              <a:spcBef>
                <a:spcPts val="400"/>
              </a:spcBef>
              <a:tabLst>
                <a:tab pos="2235200" algn="l"/>
              </a:tabLst>
              <a:defRPr sz="1800"/>
            </a:lvl4pPr>
            <a:lvl5pPr marL="1512000" indent="-288000" defTabSz="457200">
              <a:spcBef>
                <a:spcPts val="400"/>
              </a:spcBef>
              <a:tabLst>
                <a:tab pos="2616200" algn="l"/>
              </a:tabLst>
              <a:defRPr sz="1800"/>
            </a:lvl5pPr>
          </a:lstStyle>
          <a:p>
            <a:r>
              <a:t>Body Level One</a:t>
            </a:r>
          </a:p>
          <a:p>
            <a:pPr lvl="1"/>
            <a:r>
              <a:t>Body Level Two</a:t>
            </a:r>
          </a:p>
          <a:p>
            <a:pPr lvl="2"/>
            <a:r>
              <a:t>Body Level Three</a:t>
            </a:r>
          </a:p>
          <a:p>
            <a:pPr lvl="3"/>
            <a:r>
              <a:t>Body Level Four</a:t>
            </a:r>
          </a:p>
          <a:p>
            <a:pPr lvl="4"/>
            <a:r>
              <a:t>Body Level Five</a:t>
            </a:r>
          </a:p>
        </p:txBody>
      </p:sp>
      <p:sp>
        <p:nvSpPr>
          <p:cNvPr id="65" name="Shape 65"/>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8"/>
          <a:srcRect/>
          <a:stretch>
            <a:fillRect/>
          </a:stretch>
        </a:blipFill>
        <a:effectLst/>
      </p:bgPr>
    </p:bg>
    <p:spTree>
      <p:nvGrpSpPr>
        <p:cNvPr id="1" name=""/>
        <p:cNvGrpSpPr/>
        <p:nvPr/>
      </p:nvGrpSpPr>
      <p:grpSpPr>
        <a:xfrm>
          <a:off x="0" y="0"/>
          <a:ext cx="0" cy="0"/>
          <a:chOff x="0" y="0"/>
          <a:chExt cx="0" cy="0"/>
        </a:xfrm>
      </p:grpSpPr>
      <p:sp>
        <p:nvSpPr>
          <p:cNvPr id="2" name="Shape 2"/>
          <p:cNvSpPr/>
          <p:nvPr/>
        </p:nvSpPr>
        <p:spPr>
          <a:xfrm>
            <a:off x="0" y="0"/>
            <a:ext cx="13017500" cy="15113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3" name="Shape 3"/>
          <p:cNvSpPr/>
          <p:nvPr/>
        </p:nvSpPr>
        <p:spPr>
          <a:xfrm>
            <a:off x="1041400" y="317500"/>
            <a:ext cx="10680700" cy="12446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0">
              <a:lnSpc>
                <a:spcPct val="90000"/>
              </a:lnSpc>
              <a:tabLst>
                <a:tab pos="952500" algn="l"/>
              </a:tabLst>
              <a:defRPr sz="6400" b="1">
                <a:solidFill>
                  <a:srgbClr val="FFFFFF"/>
                </a:solidFill>
              </a:defRPr>
            </a:lvl1pPr>
          </a:lstStyle>
          <a:p>
            <a:r>
              <a:t>Contents</a:t>
            </a:r>
          </a:p>
        </p:txBody>
      </p:sp>
      <p:sp>
        <p:nvSpPr>
          <p:cNvPr id="4" name="Shape 4"/>
          <p:cNvSpPr/>
          <p:nvPr/>
        </p:nvSpPr>
        <p:spPr>
          <a:xfrm>
            <a:off x="0" y="8978900"/>
            <a:ext cx="13004800" cy="7747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 name="Shape 5"/>
          <p:cNvSpPr/>
          <p:nvPr/>
        </p:nvSpPr>
        <p:spPr>
          <a:xfrm>
            <a:off x="1041400" y="9169400"/>
            <a:ext cx="5410200"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b="1">
                <a:solidFill>
                  <a:srgbClr val="FFFFFF"/>
                </a:solidFill>
              </a:defRPr>
            </a:lvl1pPr>
          </a:lstStyle>
          <a:p>
            <a:r>
              <a:t>Click on the hyperlink title you wish to view</a:t>
            </a:r>
          </a:p>
        </p:txBody>
      </p:sp>
      <p:pic>
        <p:nvPicPr>
          <p:cNvPr id="6" name="Cursor.png"/>
          <p:cNvPicPr>
            <a:picLocks noChangeAspect="1"/>
          </p:cNvPicPr>
          <p:nvPr/>
        </p:nvPicPr>
        <p:blipFill>
          <a:blip r:embed="rId9"/>
          <a:stretch>
            <a:fillRect/>
          </a:stretch>
        </p:blipFill>
        <p:spPr>
          <a:xfrm>
            <a:off x="7404100" y="9218014"/>
            <a:ext cx="241300" cy="342901"/>
          </a:xfrm>
          <a:prstGeom prst="rect">
            <a:avLst/>
          </a:prstGeom>
          <a:ln w="12700">
            <a:miter lim="400000"/>
          </a:ln>
        </p:spPr>
      </p:pic>
      <p:sp>
        <p:nvSpPr>
          <p:cNvPr id="7" name="Shape 7"/>
          <p:cNvSpPr>
            <a:spLocks noGrp="1"/>
          </p:cNvSpPr>
          <p:nvPr>
            <p:ph type="body" idx="1"/>
          </p:nvPr>
        </p:nvSpPr>
        <p:spPr>
          <a:xfrm>
            <a:off x="1752600" y="2019300"/>
            <a:ext cx="10680700" cy="6731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numCol="2" spcCol="534034"/>
          <a:lstStyle>
            <a:lvl2pPr marL="720000" indent="-360000">
              <a:spcBef>
                <a:spcPts val="500"/>
              </a:spcBef>
              <a:buClrTx/>
              <a:buFontTx/>
              <a:buChar char="•"/>
              <a:defRPr sz="2200" b="0"/>
            </a:lvl2pPr>
            <a:lvl3pPr marL="1079999" indent="-360000">
              <a:spcBef>
                <a:spcPts val="500"/>
              </a:spcBef>
              <a:buClrTx/>
              <a:buSzPct val="100000"/>
              <a:buFontTx/>
              <a:buChar char="•"/>
              <a:defRPr sz="2200" b="0"/>
            </a:lvl3pPr>
            <a:lvl4pPr marL="1440000" indent="-360000">
              <a:spcBef>
                <a:spcPts val="500"/>
              </a:spcBef>
              <a:buClrTx/>
              <a:buSzPct val="100000"/>
              <a:buFontTx/>
              <a:buChar char="•"/>
              <a:defRPr sz="2200" b="0"/>
            </a:lvl4pPr>
            <a:lvl5pPr marL="1799999" indent="-360000">
              <a:spcBef>
                <a:spcPts val="500"/>
              </a:spcBef>
              <a:buClrTx/>
              <a:buSzPct val="100000"/>
              <a:buFontTx/>
              <a:buChar char="•"/>
              <a:defRPr sz="2200" b="0"/>
            </a:lvl5pPr>
          </a:lstStyle>
          <a:p>
            <a:r>
              <a:t>Body Level One</a:t>
            </a:r>
          </a:p>
          <a:p>
            <a:pPr lvl="1"/>
            <a:r>
              <a:t>Body Level Two</a:t>
            </a:r>
          </a:p>
          <a:p>
            <a:pPr lvl="2"/>
            <a:r>
              <a:t>Body Level Three</a:t>
            </a:r>
          </a:p>
          <a:p>
            <a:pPr lvl="3"/>
            <a:r>
              <a:t>Body Level Four</a:t>
            </a:r>
          </a:p>
          <a:p>
            <a:pPr lvl="4"/>
            <a:r>
              <a:t>Body Level Five</a:t>
            </a:r>
          </a:p>
        </p:txBody>
      </p:sp>
      <p:sp>
        <p:nvSpPr>
          <p:cNvPr id="8" name="Shape 8"/>
          <p:cNvSpPr>
            <a:spLocks noGrp="1"/>
          </p:cNvSpPr>
          <p:nvPr>
            <p:ph type="title"/>
          </p:nvPr>
        </p:nvSpPr>
        <p:spPr>
          <a:xfrm>
            <a:off x="889000" y="1790700"/>
            <a:ext cx="10464800" cy="11811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p>
            <a:r>
              <a:t>Title Text</a:t>
            </a:r>
          </a:p>
        </p:txBody>
      </p:sp>
      <p:sp>
        <p:nvSpPr>
          <p:cNvPr id="9" name="Shape 9"/>
          <p:cNvSpPr>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spAutoFit/>
          </a:bodyPr>
          <a:lstStyle>
            <a:lvl1pPr marL="0" algn="ctr" defTabSz="584200">
              <a:tabLst/>
              <a:defRPr>
                <a:solidFill>
                  <a:srgbClr val="000000"/>
                </a:solidFill>
                <a:latin typeface="Gill Sans"/>
                <a:ea typeface="Gill Sans"/>
                <a:cs typeface="Gill Sans"/>
                <a:sym typeface="Gill Sans"/>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1pPr>
      <a:lvl2pPr marL="0" marR="0" indent="228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2pPr>
      <a:lvl3pPr marL="0" marR="0" indent="457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3pPr>
      <a:lvl4pPr marL="0" marR="0" indent="685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4pPr>
      <a:lvl5pPr marL="0" marR="0" indent="9144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5pPr>
      <a:lvl6pPr marL="0" marR="0" indent="11430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6pPr>
      <a:lvl7pPr marL="0" marR="0" indent="1371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7pPr>
      <a:lvl8pPr marL="0" marR="0" indent="1600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8pPr>
      <a:lvl9pPr marL="0" marR="0" indent="1828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9pPr>
    </p:titleStyle>
    <p:bodyStyle>
      <a:lvl1pPr marL="360000" marR="0" indent="-360000"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1pPr>
      <a:lvl2pPr marL="75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2pPr>
      <a:lvl3pPr marL="11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3pPr>
      <a:lvl4pPr marL="14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4pPr>
      <a:lvl5pPr marL="183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5pPr>
      <a:lvl6pPr marL="219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6pPr>
      <a:lvl7pPr marL="2552726"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7pPr>
      <a:lvl8pPr marL="29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8pPr>
      <a:lvl9pPr marL="32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13.xml"/><Relationship Id="rId4" Type="http://schemas.openxmlformats.org/officeDocument/2006/relationships/slide" Target="slide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1.xml"/><Relationship Id="rId4" Type="http://schemas.openxmlformats.org/officeDocument/2006/relationships/hyperlink" Target="https://creativecommons.org/licenses/by/2.0/"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62.tif"/><Relationship Id="rId2" Type="http://schemas.openxmlformats.org/officeDocument/2006/relationships/image" Target="../media/image61.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body" sz="half" idx="1"/>
          </p:nvPr>
        </p:nvSpPr>
        <p:spPr>
          <a:xfrm>
            <a:off x="1028700" y="2019300"/>
            <a:ext cx="4984850" cy="5867400"/>
          </a:xfrm>
          <a:prstGeom prst="rect">
            <a:avLst/>
          </a:prstGeom>
        </p:spPr>
        <p:txBody>
          <a:bodyPr numCol="1" spcCol="38100"/>
          <a:lstStyle/>
          <a:p>
            <a:pPr marL="392727" indent="-392727"/>
            <a:r>
              <a:rPr>
                <a:hlinkClick r:id="rId2" action="ppaction://hlinksldjump"/>
              </a:rPr>
              <a:t>Infectious disease</a:t>
            </a:r>
          </a:p>
          <a:p>
            <a:pPr marL="720045" lvl="1"/>
            <a:r>
              <a:rPr>
                <a:hlinkClick r:id="rId2" action="ppaction://hlinksldjump"/>
              </a:rPr>
              <a:t>Infectious disease</a:t>
            </a:r>
          </a:p>
          <a:p>
            <a:pPr marL="720045" lvl="1"/>
            <a:r>
              <a:rPr>
                <a:hlinkClick r:id="rId3" action="ppaction://hlinksldjump"/>
              </a:rPr>
              <a:t>Pathogenic bacteria</a:t>
            </a:r>
          </a:p>
          <a:p>
            <a:pPr marL="720045" lvl="1"/>
            <a:r>
              <a:rPr>
                <a:hlinkClick r:id="rId4" action="ppaction://hlinksldjump"/>
              </a:rPr>
              <a:t>Fungi and disease</a:t>
            </a:r>
          </a:p>
          <a:p>
            <a:pPr marL="720045" lvl="1"/>
            <a:r>
              <a:rPr>
                <a:hlinkClick r:id="rId5" action="ppaction://hlinksldjump"/>
              </a:rPr>
              <a:t>Protozoa and disease</a:t>
            </a:r>
          </a:p>
          <a:p>
            <a:pPr marL="720045" lvl="1"/>
            <a:r>
              <a:rPr>
                <a:hlinkClick r:id="rId4" action="ppaction://hlinksldjump"/>
              </a:rPr>
              <a:t>Viral pathogens</a:t>
            </a:r>
          </a:p>
          <a:p>
            <a:pPr marL="720045" lvl="1"/>
            <a:r>
              <a:rPr>
                <a:hlinkClick r:id="" action="ppaction://noaction"/>
              </a:rPr>
              <a:t>Prions</a:t>
            </a:r>
          </a:p>
          <a:p>
            <a:pPr marL="720045" lvl="1"/>
            <a:r>
              <a:rPr>
                <a:hlinkClick r:id="rId6" action="ppaction://hlinksldjump"/>
              </a:rPr>
              <a:t>Preventing disease</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hape 77"/>
          <p:cNvSpPr>
            <a:spLocks noGrp="1"/>
          </p:cNvSpPr>
          <p:nvPr>
            <p:ph type="title"/>
          </p:nvPr>
        </p:nvSpPr>
        <p:spPr>
          <a:prstGeom prst="rect">
            <a:avLst/>
          </a:prstGeom>
        </p:spPr>
        <p:txBody>
          <a:bodyPr/>
          <a:lstStyle>
            <a:lvl1pPr>
              <a:tabLst>
                <a:tab pos="952500" algn="l"/>
              </a:tabLst>
            </a:lvl1pPr>
          </a:lstStyle>
          <a:p>
            <a:r>
              <a:t>Infectious Disease</a:t>
            </a:r>
          </a:p>
        </p:txBody>
      </p:sp>
      <p:sp>
        <p:nvSpPr>
          <p:cNvPr id="78" name="Shape 78"/>
          <p:cNvSpPr>
            <a:spLocks noGrp="1"/>
          </p:cNvSpPr>
          <p:nvPr>
            <p:ph type="body" sz="half" idx="1"/>
          </p:nvPr>
        </p:nvSpPr>
        <p:spPr>
          <a:xfrm>
            <a:off x="368300" y="1790700"/>
            <a:ext cx="6335931" cy="7543800"/>
          </a:xfrm>
          <a:prstGeom prst="rect">
            <a:avLst/>
          </a:prstGeom>
        </p:spPr>
        <p:txBody>
          <a:bodyPr/>
          <a:lstStyle/>
          <a:p>
            <a:pPr>
              <a:tabLst>
                <a:tab pos="1016000" algn="l"/>
              </a:tabLst>
            </a:pPr>
            <a:r>
              <a:t> An infectious disease is any illness </a:t>
            </a:r>
            <a:br/>
            <a:r>
              <a:t>caused by the invasion of the body by harmful organisms.</a:t>
            </a:r>
          </a:p>
          <a:p>
            <a:pPr>
              <a:tabLst>
                <a:tab pos="1016000" algn="l"/>
              </a:tabLst>
            </a:pPr>
            <a:r>
              <a:t>Pathogens are disease-causing organisms. They include bacteria, fungi, protozoa and viruses.</a:t>
            </a:r>
          </a:p>
          <a:p>
            <a:pPr>
              <a:tabLst>
                <a:tab pos="1016000" algn="l"/>
              </a:tabLst>
            </a:pPr>
            <a:r>
              <a:t>Every organism is susceptible to pathogens.</a:t>
            </a:r>
          </a:p>
          <a:p>
            <a:pPr>
              <a:tabLst>
                <a:tab pos="1016000" algn="l"/>
              </a:tabLst>
            </a:pPr>
            <a:r>
              <a:t>Infectious diseases are of concern because:</a:t>
            </a:r>
          </a:p>
          <a:p>
            <a:pPr lvl="1">
              <a:tabLst>
                <a:tab pos="1485900" algn="l"/>
              </a:tabLst>
            </a:pPr>
            <a:r>
              <a:t>They are responsible for almost 50% of human</a:t>
            </a:r>
            <a:br/>
            <a:r>
              <a:t>mortality in developing countries.</a:t>
            </a:r>
          </a:p>
          <a:p>
            <a:pPr lvl="1">
              <a:tabLst>
                <a:tab pos="1485900" algn="l"/>
              </a:tabLst>
            </a:pPr>
            <a:r>
              <a:t>They are debilitating, causing an estimated</a:t>
            </a:r>
            <a:br/>
            <a:r>
              <a:t>600 million illnesses in people each year.</a:t>
            </a:r>
          </a:p>
          <a:p>
            <a:pPr lvl="1">
              <a:tabLst>
                <a:tab pos="1485900" algn="l"/>
              </a:tabLst>
            </a:pPr>
            <a:r>
              <a:t>Patients require intensive, specialised and</a:t>
            </a:r>
            <a:br/>
            <a:r>
              <a:t>often expensive medical care.</a:t>
            </a:r>
          </a:p>
          <a:p>
            <a:pPr lvl="1">
              <a:tabLst>
                <a:tab pos="1485900" algn="l"/>
              </a:tabLst>
            </a:pPr>
            <a:r>
              <a:t>They infect livestock and crops, resulting</a:t>
            </a:r>
            <a:br/>
            <a:r>
              <a:t>in food shortages.</a:t>
            </a:r>
          </a:p>
        </p:txBody>
      </p:sp>
      <p:pic>
        <p:nvPicPr>
          <p:cNvPr id="79" name="Ebola Testing CDC.jpg"/>
          <p:cNvPicPr>
            <a:picLocks noChangeAspect="1"/>
          </p:cNvPicPr>
          <p:nvPr/>
        </p:nvPicPr>
        <p:blipFill>
          <a:blip r:embed="rId2"/>
          <a:stretch>
            <a:fillRect/>
          </a:stretch>
        </p:blipFill>
        <p:spPr>
          <a:xfrm>
            <a:off x="7260370" y="1807170"/>
            <a:ext cx="5744113" cy="3873173"/>
          </a:xfrm>
          <a:prstGeom prst="rect">
            <a:avLst/>
          </a:prstGeom>
          <a:ln w="25400">
            <a:solidFill>
              <a:srgbClr val="FFFFFF"/>
            </a:solidFill>
            <a:miter lim="400000"/>
          </a:ln>
        </p:spPr>
      </p:pic>
      <p:pic>
        <p:nvPicPr>
          <p:cNvPr id="80" name="Ringworm cdc.jpg"/>
          <p:cNvPicPr>
            <a:picLocks noChangeAspect="1"/>
          </p:cNvPicPr>
          <p:nvPr/>
        </p:nvPicPr>
        <p:blipFill>
          <a:blip r:embed="rId3"/>
          <a:stretch>
            <a:fillRect/>
          </a:stretch>
        </p:blipFill>
        <p:spPr>
          <a:xfrm>
            <a:off x="7264936" y="5663260"/>
            <a:ext cx="5786267" cy="4099984"/>
          </a:xfrm>
          <a:prstGeom prst="rect">
            <a:avLst/>
          </a:prstGeom>
          <a:ln w="25400">
            <a:solidFill>
              <a:srgbClr val="FFFFFF"/>
            </a:solidFill>
            <a:miter lim="400000"/>
          </a:ln>
        </p:spPr>
      </p:pic>
      <p:sp>
        <p:nvSpPr>
          <p:cNvPr id="81" name="Shape 81"/>
          <p:cNvSpPr/>
          <p:nvPr/>
        </p:nvSpPr>
        <p:spPr>
          <a:xfrm>
            <a:off x="7367195" y="5214549"/>
            <a:ext cx="1550306"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a:solidFill>
                  <a:srgbClr val="FFFFFF"/>
                </a:solidFill>
              </a:defRPr>
            </a:lvl1pPr>
          </a:lstStyle>
          <a:p>
            <a:r>
              <a:t>Ebola testing</a:t>
            </a:r>
          </a:p>
        </p:txBody>
      </p:sp>
      <p:sp>
        <p:nvSpPr>
          <p:cNvPr id="82" name="Shape 82"/>
          <p:cNvSpPr/>
          <p:nvPr/>
        </p:nvSpPr>
        <p:spPr>
          <a:xfrm>
            <a:off x="7265595" y="9329349"/>
            <a:ext cx="1257524"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a:solidFill>
                  <a:srgbClr val="FFFFFF"/>
                </a:solidFill>
              </a:defRPr>
            </a:lvl1pPr>
          </a:lstStyle>
          <a:p>
            <a:r>
              <a:t>Ringworm</a:t>
            </a:r>
          </a:p>
        </p:txBody>
      </p:sp>
      <p:sp>
        <p:nvSpPr>
          <p:cNvPr id="83" name="Shape 83"/>
          <p:cNvSpPr/>
          <p:nvPr/>
        </p:nvSpPr>
        <p:spPr>
          <a:xfrm>
            <a:off x="12508155" y="5378218"/>
            <a:ext cx="366174"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FFFFFF"/>
                </a:solidFill>
              </a:defRPr>
            </a:lvl1pPr>
          </a:lstStyle>
          <a:p>
            <a:r>
              <a:t>CDC</a:t>
            </a:r>
          </a:p>
        </p:txBody>
      </p:sp>
      <p:sp>
        <p:nvSpPr>
          <p:cNvPr id="84" name="Shape 84"/>
          <p:cNvSpPr/>
          <p:nvPr/>
        </p:nvSpPr>
        <p:spPr>
          <a:xfrm>
            <a:off x="12548795" y="9503178"/>
            <a:ext cx="366174"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FFFFFF"/>
                </a:solidFill>
              </a:defRPr>
            </a:lvl1pPr>
          </a:lstStyle>
          <a:p>
            <a:r>
              <a:t>CDC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7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7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7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7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78">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78">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hape 86"/>
          <p:cNvSpPr/>
          <p:nvPr/>
        </p:nvSpPr>
        <p:spPr>
          <a:xfrm>
            <a:off x="7072074" y="1752243"/>
            <a:ext cx="5998608" cy="5592525"/>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87" name="Shape 87"/>
          <p:cNvSpPr>
            <a:spLocks noGrp="1"/>
          </p:cNvSpPr>
          <p:nvPr>
            <p:ph type="title"/>
          </p:nvPr>
        </p:nvSpPr>
        <p:spPr>
          <a:prstGeom prst="rect">
            <a:avLst/>
          </a:prstGeom>
        </p:spPr>
        <p:txBody>
          <a:bodyPr/>
          <a:lstStyle>
            <a:lvl1pPr>
              <a:tabLst>
                <a:tab pos="952500" algn="l"/>
              </a:tabLst>
            </a:lvl1pPr>
          </a:lstStyle>
          <a:p>
            <a:r>
              <a:t>Pathogen Success or Failure</a:t>
            </a:r>
          </a:p>
        </p:txBody>
      </p:sp>
      <p:sp>
        <p:nvSpPr>
          <p:cNvPr id="88" name="Shape 88"/>
          <p:cNvSpPr>
            <a:spLocks noGrp="1"/>
          </p:cNvSpPr>
          <p:nvPr>
            <p:ph type="body" sz="half" idx="1"/>
          </p:nvPr>
        </p:nvSpPr>
        <p:spPr>
          <a:xfrm>
            <a:off x="368300" y="1752600"/>
            <a:ext cx="6202244" cy="7972783"/>
          </a:xfrm>
          <a:prstGeom prst="rect">
            <a:avLst/>
          </a:prstGeom>
        </p:spPr>
        <p:txBody>
          <a:bodyPr/>
          <a:lstStyle/>
          <a:p>
            <a:pPr>
              <a:tabLst>
                <a:tab pos="1016000" algn="l"/>
              </a:tabLst>
            </a:pPr>
            <a:r>
              <a:t>To be successful, a pathogen must avoid the host's immune system for long enough to infect a new host.</a:t>
            </a:r>
          </a:p>
          <a:p>
            <a:pPr>
              <a:tabLst>
                <a:tab pos="1016000" algn="l"/>
              </a:tabLst>
            </a:pPr>
            <a:r>
              <a:t>Different pathogens use different strategies to avoid detection and infect other hosts. </a:t>
            </a:r>
          </a:p>
          <a:p>
            <a:pPr lvl="1">
              <a:tabLst>
                <a:tab pos="1485900" algn="l"/>
              </a:tabLst>
            </a:pPr>
            <a:r>
              <a:t>They may multiply rapidly and spread before the immune system can react (e.g. common cold) or they may produce a slower chronic infection that is more difficult for the immune system to overcome (e.g. HIV/AIDS).</a:t>
            </a:r>
          </a:p>
          <a:p>
            <a:pPr lvl="1">
              <a:tabLst>
                <a:tab pos="1485900" algn="l"/>
              </a:tabLst>
            </a:pPr>
            <a:r>
              <a:t>Many pathogens are transmitted before the host has any symptoms of infection.</a:t>
            </a:r>
          </a:p>
          <a:p>
            <a:pPr>
              <a:tabLst>
                <a:tab pos="1016000" algn="l"/>
              </a:tabLst>
            </a:pPr>
            <a:r>
              <a:t>Pathogens that kill the host before being able to spread are not successful. </a:t>
            </a:r>
          </a:p>
          <a:p>
            <a:pPr lvl="1">
              <a:tabLst>
                <a:tab pos="1485900" algn="l"/>
              </a:tabLst>
            </a:pPr>
            <a:r>
              <a:t>In high density populations, diseases with a high mortality (death rate) such as Bubonic plague, Ebola, and smallpox, can spread successfully. </a:t>
            </a:r>
          </a:p>
          <a:p>
            <a:pPr lvl="1">
              <a:tabLst>
                <a:tab pos="1485900" algn="l"/>
              </a:tabLst>
            </a:pPr>
            <a:r>
              <a:t>In low density areas, pathogens that kill quickly have poor transmission, as too few hosts can be infected during the infectious period.</a:t>
            </a:r>
          </a:p>
        </p:txBody>
      </p:sp>
      <p:pic>
        <p:nvPicPr>
          <p:cNvPr id="89" name="Marburhg Virus CDC: Dr. Erskine Palmer, Russell Regnery, Ph.D..jpg"/>
          <p:cNvPicPr>
            <a:picLocks noChangeAspect="1"/>
          </p:cNvPicPr>
          <p:nvPr/>
        </p:nvPicPr>
        <p:blipFill>
          <a:blip r:embed="rId2"/>
          <a:stretch>
            <a:fillRect/>
          </a:stretch>
        </p:blipFill>
        <p:spPr>
          <a:xfrm>
            <a:off x="7091707" y="1770181"/>
            <a:ext cx="5940676" cy="4022686"/>
          </a:xfrm>
          <a:prstGeom prst="rect">
            <a:avLst/>
          </a:prstGeom>
          <a:ln w="25400">
            <a:solidFill>
              <a:srgbClr val="FFFFFF"/>
            </a:solidFill>
            <a:miter lim="400000"/>
          </a:ln>
        </p:spPr>
      </p:pic>
      <p:sp>
        <p:nvSpPr>
          <p:cNvPr id="90" name="Shape 90"/>
          <p:cNvSpPr/>
          <p:nvPr/>
        </p:nvSpPr>
        <p:spPr>
          <a:xfrm>
            <a:off x="7060848" y="5891459"/>
            <a:ext cx="5599989" cy="11609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tabLst>
                <a:tab pos="520700" algn="l"/>
              </a:tabLst>
            </a:lvl1pPr>
          </a:lstStyle>
          <a:p>
            <a:r>
              <a:t>The Marburg virus (above) causes a hemorrhagic fever (severe internal bleeding). It is highly contagious and spread by contact with infected body fluids. It is fatal in up to 88% of cases.</a:t>
            </a:r>
          </a:p>
        </p:txBody>
      </p:sp>
      <p:sp>
        <p:nvSpPr>
          <p:cNvPr id="91" name="Shape 91"/>
          <p:cNvSpPr/>
          <p:nvPr/>
        </p:nvSpPr>
        <p:spPr>
          <a:xfrm>
            <a:off x="7056220" y="5601738"/>
            <a:ext cx="1600145"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000000"/>
                </a:solidFill>
              </a:defRPr>
            </a:lvl1pPr>
          </a:lstStyle>
          <a:p>
            <a:r>
              <a:t>CDC/ Dr. Erskine Palmer, Russell Regnery, Ph.D</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8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8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8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8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8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88">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michael for disease standing with guts and stratch.png"/>
          <p:cNvPicPr>
            <a:picLocks noChangeAspect="1"/>
          </p:cNvPicPr>
          <p:nvPr/>
        </p:nvPicPr>
        <p:blipFill>
          <a:blip r:embed="rId2"/>
          <a:stretch>
            <a:fillRect/>
          </a:stretch>
        </p:blipFill>
        <p:spPr>
          <a:xfrm>
            <a:off x="4758636" y="1125455"/>
            <a:ext cx="3020396" cy="8742861"/>
          </a:xfrm>
          <a:prstGeom prst="rect">
            <a:avLst/>
          </a:prstGeom>
          <a:ln w="12700">
            <a:miter lim="400000"/>
          </a:ln>
        </p:spPr>
      </p:pic>
      <p:sp>
        <p:nvSpPr>
          <p:cNvPr id="94" name="Shape 94"/>
          <p:cNvSpPr>
            <a:spLocks noGrp="1"/>
          </p:cNvSpPr>
          <p:nvPr>
            <p:ph type="title"/>
          </p:nvPr>
        </p:nvSpPr>
        <p:spPr>
          <a:prstGeom prst="rect">
            <a:avLst/>
          </a:prstGeom>
        </p:spPr>
        <p:txBody>
          <a:bodyPr/>
          <a:lstStyle>
            <a:lvl1pPr>
              <a:tabLst>
                <a:tab pos="952500" algn="l"/>
              </a:tabLst>
            </a:lvl1pPr>
          </a:lstStyle>
          <a:p>
            <a:r>
              <a:t>Portals of Pathogen Entry</a:t>
            </a:r>
          </a:p>
        </p:txBody>
      </p:sp>
      <p:grpSp>
        <p:nvGrpSpPr>
          <p:cNvPr id="97" name="Group 97"/>
          <p:cNvGrpSpPr/>
          <p:nvPr/>
        </p:nvGrpSpPr>
        <p:grpSpPr>
          <a:xfrm>
            <a:off x="673100" y="1930400"/>
            <a:ext cx="5382631" cy="2467624"/>
            <a:chOff x="0" y="0"/>
            <a:chExt cx="5382630" cy="2467623"/>
          </a:xfrm>
        </p:grpSpPr>
        <p:sp>
          <p:nvSpPr>
            <p:cNvPr id="95" name="Shape 95"/>
            <p:cNvSpPr/>
            <p:nvPr/>
          </p:nvSpPr>
          <p:spPr>
            <a:xfrm>
              <a:off x="0" y="0"/>
              <a:ext cx="3810000" cy="2430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3100"/>
                </a:lnSpc>
                <a:spcBef>
                  <a:spcPts val="1000"/>
                </a:spcBef>
                <a:tabLst>
                  <a:tab pos="520700" algn="l"/>
                </a:tabLst>
                <a:defRPr sz="2400" b="1"/>
              </a:pPr>
              <a:r>
                <a:t>Gastrointestinal tract</a:t>
              </a:r>
            </a:p>
            <a:p>
              <a:pPr>
                <a:lnSpc>
                  <a:spcPts val="2400"/>
                </a:lnSpc>
                <a:spcBef>
                  <a:spcPts val="1000"/>
                </a:spcBef>
                <a:tabLst>
                  <a:tab pos="520700" algn="l"/>
                </a:tabLst>
                <a:defRPr sz="2800">
                  <a:latin typeface="Hoefler Text"/>
                  <a:ea typeface="Hoefler Text"/>
                  <a:cs typeface="Hoefler Text"/>
                  <a:sym typeface="Hoefler Text"/>
                </a:defRPr>
              </a:pPr>
              <a:r>
                <a:rPr sz="1800">
                  <a:latin typeface="+mn-lt"/>
                  <a:ea typeface="+mn-ea"/>
                  <a:cs typeface="+mn-cs"/>
                  <a:sym typeface="Arial"/>
                </a:rPr>
                <a:t>Food is often contaminated with microorganisms, but many of these are destroyed in the  stomach.</a:t>
              </a:r>
            </a:p>
            <a:p>
              <a:pPr>
                <a:lnSpc>
                  <a:spcPts val="2400"/>
                </a:lnSpc>
                <a:spcBef>
                  <a:spcPts val="1000"/>
                </a:spcBef>
                <a:tabLst>
                  <a:tab pos="520700" algn="l"/>
                </a:tabLst>
                <a:defRPr sz="2800">
                  <a:solidFill>
                    <a:srgbClr val="483F36"/>
                  </a:solidFill>
                  <a:latin typeface="Hoefler Text"/>
                  <a:ea typeface="Hoefler Text"/>
                  <a:cs typeface="Hoefler Text"/>
                  <a:sym typeface="Hoefler Text"/>
                </a:defRPr>
              </a:pPr>
              <a:r>
                <a:rPr sz="1800" b="1">
                  <a:solidFill>
                    <a:srgbClr val="006994"/>
                  </a:solidFill>
                  <a:latin typeface="+mn-lt"/>
                  <a:ea typeface="+mn-ea"/>
                  <a:cs typeface="+mn-cs"/>
                  <a:sym typeface="Arial"/>
                </a:rPr>
                <a:t>Examples: </a:t>
              </a:r>
              <a:r>
                <a:rPr sz="1800">
                  <a:solidFill>
                    <a:srgbClr val="006994"/>
                  </a:solidFill>
                  <a:latin typeface="+mn-lt"/>
                  <a:ea typeface="+mn-ea"/>
                  <a:cs typeface="+mn-cs"/>
                  <a:sym typeface="Arial"/>
                </a:rPr>
                <a:t>cholera, typhoid fever, mumps, hepatitis A, poliomyelitis, bacillary dysentery, salmonellosis. </a:t>
              </a:r>
              <a:r>
                <a:rPr sz="1800">
                  <a:latin typeface="+mn-lt"/>
                  <a:ea typeface="+mn-ea"/>
                  <a:cs typeface="+mn-cs"/>
                  <a:sym typeface="Arial"/>
                </a:rPr>
                <a:t>     </a:t>
              </a:r>
            </a:p>
          </p:txBody>
        </p:sp>
        <p:sp>
          <p:nvSpPr>
            <p:cNvPr id="96" name="Shape 96"/>
            <p:cNvSpPr/>
            <p:nvPr/>
          </p:nvSpPr>
          <p:spPr>
            <a:xfrm flipH="1" flipV="1">
              <a:off x="3357033" y="203200"/>
              <a:ext cx="2025598" cy="2264424"/>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00" name="Group 100"/>
          <p:cNvGrpSpPr/>
          <p:nvPr/>
        </p:nvGrpSpPr>
        <p:grpSpPr>
          <a:xfrm>
            <a:off x="6243875" y="1651000"/>
            <a:ext cx="6570425" cy="2430922"/>
            <a:chOff x="-258524" y="0"/>
            <a:chExt cx="6570424" cy="2430921"/>
          </a:xfrm>
        </p:grpSpPr>
        <p:sp>
          <p:nvSpPr>
            <p:cNvPr id="98" name="Shape 98"/>
            <p:cNvSpPr/>
            <p:nvPr/>
          </p:nvSpPr>
          <p:spPr>
            <a:xfrm flipV="1">
              <a:off x="-258525" y="194733"/>
              <a:ext cx="1867192" cy="768430"/>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99" name="Shape 99"/>
            <p:cNvSpPr/>
            <p:nvPr/>
          </p:nvSpPr>
          <p:spPr>
            <a:xfrm>
              <a:off x="1689100" y="0"/>
              <a:ext cx="4622800" cy="2430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3100"/>
                </a:lnSpc>
                <a:spcBef>
                  <a:spcPts val="1000"/>
                </a:spcBef>
                <a:tabLst>
                  <a:tab pos="520700" algn="l"/>
                </a:tabLst>
                <a:defRPr sz="2400" b="1"/>
              </a:pPr>
              <a:r>
                <a:t>Respiratory tract</a:t>
              </a:r>
            </a:p>
            <a:p>
              <a:pPr>
                <a:lnSpc>
                  <a:spcPts val="2400"/>
                </a:lnSpc>
                <a:spcBef>
                  <a:spcPts val="1000"/>
                </a:spcBef>
                <a:tabLst>
                  <a:tab pos="520700" algn="l"/>
                </a:tabLst>
                <a:defRPr sz="2800">
                  <a:latin typeface="Hoefler Text"/>
                  <a:ea typeface="Hoefler Text"/>
                  <a:cs typeface="Hoefler Text"/>
                  <a:sym typeface="Hoefler Text"/>
                </a:defRPr>
              </a:pPr>
              <a:r>
                <a:rPr sz="1800">
                  <a:latin typeface="+mn-lt"/>
                  <a:ea typeface="+mn-ea"/>
                  <a:cs typeface="+mn-cs"/>
                  <a:sym typeface="Arial"/>
                </a:rPr>
                <a:t>A major entry point for pathogens, particularly airborne viruses, which are inhaled from other people’s expelled mucus.</a:t>
              </a:r>
            </a:p>
            <a:p>
              <a:pPr>
                <a:lnSpc>
                  <a:spcPts val="2400"/>
                </a:lnSpc>
                <a:spcBef>
                  <a:spcPts val="1000"/>
                </a:spcBef>
                <a:tabLst>
                  <a:tab pos="520700" algn="l"/>
                </a:tabLst>
                <a:defRPr sz="2800">
                  <a:latin typeface="Hoefler Text"/>
                  <a:ea typeface="Hoefler Text"/>
                  <a:cs typeface="Hoefler Text"/>
                  <a:sym typeface="Hoefler Text"/>
                </a:defRPr>
              </a:pPr>
              <a:r>
                <a:rPr sz="1800" b="1">
                  <a:latin typeface="+mn-lt"/>
                  <a:ea typeface="+mn-ea"/>
                  <a:cs typeface="+mn-cs"/>
                  <a:sym typeface="Arial"/>
                </a:rPr>
                <a:t>Examples: </a:t>
              </a:r>
              <a:r>
                <a:rPr sz="1800">
                  <a:latin typeface="+mn-lt"/>
                  <a:ea typeface="+mn-ea"/>
                  <a:cs typeface="+mn-cs"/>
                  <a:sym typeface="Arial"/>
                </a:rPr>
                <a:t>diphtheria, meningococcal meningitis, tuberculosis, whooping cough, influenza, measles, chickenpox.</a:t>
              </a:r>
            </a:p>
          </p:txBody>
        </p:sp>
      </p:grpSp>
      <p:grpSp>
        <p:nvGrpSpPr>
          <p:cNvPr id="103" name="Group 103"/>
          <p:cNvGrpSpPr/>
          <p:nvPr/>
        </p:nvGrpSpPr>
        <p:grpSpPr>
          <a:xfrm>
            <a:off x="584200" y="5526246"/>
            <a:ext cx="5682258" cy="3648376"/>
            <a:chOff x="0" y="-366553"/>
            <a:chExt cx="5682257" cy="3648375"/>
          </a:xfrm>
        </p:grpSpPr>
        <p:sp>
          <p:nvSpPr>
            <p:cNvPr id="101" name="Shape 101"/>
            <p:cNvSpPr/>
            <p:nvPr/>
          </p:nvSpPr>
          <p:spPr>
            <a:xfrm flipH="1">
              <a:off x="3513666" y="-366554"/>
              <a:ext cx="2168592" cy="1382554"/>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02" name="Shape 102"/>
            <p:cNvSpPr/>
            <p:nvPr/>
          </p:nvSpPr>
          <p:spPr>
            <a:xfrm>
              <a:off x="0" y="850900"/>
              <a:ext cx="4584700" cy="2430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3100"/>
                </a:lnSpc>
                <a:spcBef>
                  <a:spcPts val="1000"/>
                </a:spcBef>
                <a:tabLst>
                  <a:tab pos="520700" algn="l"/>
                </a:tabLst>
                <a:defRPr sz="2400" b="1"/>
              </a:pPr>
              <a:r>
                <a:t>Urinogenital openings</a:t>
              </a:r>
            </a:p>
            <a:p>
              <a:pPr>
                <a:lnSpc>
                  <a:spcPts val="2400"/>
                </a:lnSpc>
                <a:spcBef>
                  <a:spcPts val="1000"/>
                </a:spcBef>
                <a:tabLst>
                  <a:tab pos="520700" algn="l"/>
                </a:tabLst>
                <a:defRPr sz="2800">
                  <a:latin typeface="Hoefler Text"/>
                  <a:ea typeface="Hoefler Text"/>
                  <a:cs typeface="Hoefler Text"/>
                  <a:sym typeface="Hoefler Text"/>
                </a:defRPr>
              </a:pPr>
              <a:r>
                <a:rPr sz="1800">
                  <a:latin typeface="+mn-lt"/>
                  <a:ea typeface="+mn-ea"/>
                  <a:cs typeface="+mn-cs"/>
                  <a:sym typeface="Arial"/>
                </a:rPr>
                <a:t>The urinogenital openings provide entry points for the pathogens responsible for sexually transmitted infections (STIs) and other opportunistic infections (e.g. thrush).</a:t>
              </a:r>
            </a:p>
            <a:p>
              <a:pPr>
                <a:lnSpc>
                  <a:spcPts val="2400"/>
                </a:lnSpc>
                <a:spcBef>
                  <a:spcPts val="1000"/>
                </a:spcBef>
                <a:tabLst>
                  <a:tab pos="520700" algn="l"/>
                </a:tabLst>
                <a:defRPr sz="2800">
                  <a:latin typeface="Hoefler Text"/>
                  <a:ea typeface="Hoefler Text"/>
                  <a:cs typeface="Hoefler Text"/>
                  <a:sym typeface="Hoefler Text"/>
                </a:defRPr>
              </a:pPr>
              <a:r>
                <a:rPr sz="1800" b="1">
                  <a:latin typeface="+mn-lt"/>
                  <a:ea typeface="+mn-ea"/>
                  <a:cs typeface="+mn-cs"/>
                  <a:sym typeface="Arial"/>
                </a:rPr>
                <a:t>Examples: </a:t>
              </a:r>
              <a:r>
                <a:rPr sz="1800">
                  <a:latin typeface="+mn-lt"/>
                  <a:ea typeface="+mn-ea"/>
                  <a:cs typeface="+mn-cs"/>
                  <a:sym typeface="Arial"/>
                </a:rPr>
                <a:t>gonorrhoea, syphilis, HIV/AIDS, and urinary tract infections (</a:t>
              </a:r>
              <a:r>
                <a:rPr sz="1800" i="1">
                  <a:latin typeface="+mn-lt"/>
                  <a:ea typeface="+mn-ea"/>
                  <a:cs typeface="+mn-cs"/>
                  <a:sym typeface="Arial"/>
                </a:rPr>
                <a:t>E. coli</a:t>
              </a:r>
              <a:r>
                <a:rPr sz="1800">
                  <a:latin typeface="+mn-lt"/>
                  <a:ea typeface="+mn-ea"/>
                  <a:cs typeface="+mn-cs"/>
                  <a:sym typeface="Arial"/>
                </a:rPr>
                <a:t>).</a:t>
              </a:r>
            </a:p>
          </p:txBody>
        </p:sp>
      </p:grpSp>
      <p:grpSp>
        <p:nvGrpSpPr>
          <p:cNvPr id="106" name="Group 106"/>
          <p:cNvGrpSpPr/>
          <p:nvPr/>
        </p:nvGrpSpPr>
        <p:grpSpPr>
          <a:xfrm>
            <a:off x="6890715" y="6413500"/>
            <a:ext cx="5821985" cy="2735722"/>
            <a:chOff x="-102750" y="-38100"/>
            <a:chExt cx="5821984" cy="2735721"/>
          </a:xfrm>
        </p:grpSpPr>
        <p:sp>
          <p:nvSpPr>
            <p:cNvPr id="104" name="Shape 104"/>
            <p:cNvSpPr/>
            <p:nvPr/>
          </p:nvSpPr>
          <p:spPr>
            <a:xfrm>
              <a:off x="1299633" y="-38100"/>
              <a:ext cx="4419601" cy="27357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3100"/>
                </a:lnSpc>
                <a:spcBef>
                  <a:spcPts val="1000"/>
                </a:spcBef>
                <a:tabLst>
                  <a:tab pos="520700" algn="l"/>
                </a:tabLst>
                <a:defRPr sz="2400" b="1"/>
              </a:pPr>
              <a:r>
                <a:t>Breaks in the skin surface</a:t>
              </a:r>
            </a:p>
            <a:p>
              <a:pPr>
                <a:lnSpc>
                  <a:spcPts val="2400"/>
                </a:lnSpc>
                <a:spcBef>
                  <a:spcPts val="1000"/>
                </a:spcBef>
                <a:tabLst>
                  <a:tab pos="520700" algn="l"/>
                </a:tabLst>
                <a:defRPr sz="2800">
                  <a:latin typeface="Hoefler Text"/>
                  <a:ea typeface="Hoefler Text"/>
                  <a:cs typeface="Hoefler Text"/>
                  <a:sym typeface="Hoefler Text"/>
                </a:defRPr>
              </a:pPr>
              <a:r>
                <a:rPr sz="1800">
                  <a:latin typeface="+mn-lt"/>
                  <a:ea typeface="+mn-ea"/>
                  <a:cs typeface="+mn-cs"/>
                  <a:sym typeface="Arial"/>
                </a:rPr>
                <a:t>A cut or abrasion allows easy entry of pathogens. Some parasites and pathogens have adaptive features that allow them to penetrate the skin surface.</a:t>
              </a:r>
            </a:p>
            <a:p>
              <a:pPr>
                <a:lnSpc>
                  <a:spcPts val="2400"/>
                </a:lnSpc>
                <a:spcBef>
                  <a:spcPts val="1000"/>
                </a:spcBef>
                <a:tabLst>
                  <a:tab pos="520700" algn="l"/>
                </a:tabLst>
                <a:defRPr sz="2800">
                  <a:latin typeface="Hoefler Text"/>
                  <a:ea typeface="Hoefler Text"/>
                  <a:cs typeface="Hoefler Text"/>
                  <a:sym typeface="Hoefler Text"/>
                </a:defRPr>
              </a:pPr>
              <a:r>
                <a:rPr sz="1800" b="1">
                  <a:latin typeface="+mn-lt"/>
                  <a:ea typeface="+mn-ea"/>
                  <a:cs typeface="+mn-cs"/>
                  <a:sym typeface="Arial"/>
                </a:rPr>
                <a:t>Examples: </a:t>
              </a:r>
              <a:r>
                <a:rPr sz="1800">
                  <a:latin typeface="+mn-lt"/>
                  <a:ea typeface="+mn-ea"/>
                  <a:cs typeface="+mn-cs"/>
                  <a:sym typeface="Arial"/>
                </a:rPr>
                <a:t>tetanus, gas gangrene, bubonic plague, hepatitis B, rabies, malaria, leptospirosis, HIV/AIDS.</a:t>
              </a:r>
            </a:p>
          </p:txBody>
        </p:sp>
        <p:sp>
          <p:nvSpPr>
            <p:cNvPr id="105" name="Shape 105"/>
            <p:cNvSpPr/>
            <p:nvPr/>
          </p:nvSpPr>
          <p:spPr>
            <a:xfrm>
              <a:off x="-102751" y="141142"/>
              <a:ext cx="1391756" cy="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advAuto="0"/>
      <p:bldP spid="100" grpId="0" animBg="1" advAuto="0"/>
      <p:bldP spid="103" grpId="0" animBg="1" advAuto="0"/>
      <p:bldP spid="106"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a:spLocks noGrp="1"/>
          </p:cNvSpPr>
          <p:nvPr>
            <p:ph type="title"/>
          </p:nvPr>
        </p:nvSpPr>
        <p:spPr>
          <a:xfrm>
            <a:off x="393700" y="368300"/>
            <a:ext cx="5593676" cy="1695550"/>
          </a:xfrm>
          <a:prstGeom prst="rect">
            <a:avLst/>
          </a:prstGeom>
        </p:spPr>
        <p:txBody>
          <a:bodyPr/>
          <a:lstStyle>
            <a:lvl1pPr>
              <a:tabLst>
                <a:tab pos="952500" algn="l"/>
              </a:tabLst>
            </a:lvl1pPr>
          </a:lstStyle>
          <a:p>
            <a:r>
              <a:t>Transmission of Disease</a:t>
            </a:r>
          </a:p>
        </p:txBody>
      </p:sp>
      <p:sp>
        <p:nvSpPr>
          <p:cNvPr id="109" name="Shape 109"/>
          <p:cNvSpPr>
            <a:spLocks noGrp="1"/>
          </p:cNvSpPr>
          <p:nvPr>
            <p:ph type="body" sz="half" idx="1"/>
          </p:nvPr>
        </p:nvSpPr>
        <p:spPr>
          <a:xfrm>
            <a:off x="368300" y="2268220"/>
            <a:ext cx="5956300" cy="4382175"/>
          </a:xfrm>
          <a:prstGeom prst="rect">
            <a:avLst/>
          </a:prstGeom>
        </p:spPr>
        <p:txBody>
          <a:bodyPr/>
          <a:lstStyle/>
          <a:p>
            <a:pPr>
              <a:tabLst>
                <a:tab pos="1016000" algn="l"/>
              </a:tabLst>
            </a:pPr>
            <a:r>
              <a:t>Diseases are generally transmitted in three different ways:</a:t>
            </a:r>
          </a:p>
          <a:p>
            <a:pPr lvl="1">
              <a:tabLst>
                <a:tab pos="1485900" algn="l"/>
              </a:tabLst>
            </a:pPr>
            <a:r>
              <a:t>Contact transmission</a:t>
            </a:r>
          </a:p>
          <a:p>
            <a:pPr lvl="2">
              <a:tabLst>
                <a:tab pos="1638300" algn="l"/>
              </a:tabLst>
            </a:pPr>
            <a:r>
              <a:t>airborne droplets</a:t>
            </a:r>
          </a:p>
          <a:p>
            <a:pPr lvl="2">
              <a:tabLst>
                <a:tab pos="1638300" algn="l"/>
              </a:tabLst>
            </a:pPr>
            <a:r>
              <a:t>sexual contact</a:t>
            </a:r>
          </a:p>
          <a:p>
            <a:pPr lvl="2">
              <a:tabLst>
                <a:tab pos="1638300" algn="l"/>
              </a:tabLst>
            </a:pPr>
            <a:r>
              <a:t>direct contact</a:t>
            </a:r>
          </a:p>
          <a:p>
            <a:pPr lvl="1">
              <a:tabLst>
                <a:tab pos="1485900" algn="l"/>
              </a:tabLst>
            </a:pPr>
            <a:r>
              <a:t>Vehicle transmission</a:t>
            </a:r>
          </a:p>
          <a:p>
            <a:pPr lvl="2">
              <a:tabLst>
                <a:tab pos="1638300" algn="l"/>
              </a:tabLst>
            </a:pPr>
            <a:r>
              <a:t>food and waterborne</a:t>
            </a:r>
          </a:p>
          <a:p>
            <a:pPr lvl="2">
              <a:tabLst>
                <a:tab pos="1638300" algn="l"/>
              </a:tabLst>
            </a:pPr>
            <a:r>
              <a:t>carried in blood</a:t>
            </a:r>
          </a:p>
          <a:p>
            <a:pPr lvl="1">
              <a:tabLst>
                <a:tab pos="1485900" algn="l"/>
              </a:tabLst>
            </a:pPr>
            <a:r>
              <a:t>Vector transmission</a:t>
            </a:r>
          </a:p>
          <a:p>
            <a:pPr lvl="2">
              <a:tabLst>
                <a:tab pos="1638300" algn="l"/>
              </a:tabLst>
            </a:pPr>
            <a:r>
              <a:t>arthropod borne</a:t>
            </a:r>
          </a:p>
        </p:txBody>
      </p:sp>
      <p:pic>
        <p:nvPicPr>
          <p:cNvPr id="110" name="Cough droplets - CDC James Gathany.jpeg"/>
          <p:cNvPicPr>
            <a:picLocks noChangeAspect="1"/>
          </p:cNvPicPr>
          <p:nvPr/>
        </p:nvPicPr>
        <p:blipFill>
          <a:blip r:embed="rId2"/>
          <a:srcRect t="4033"/>
          <a:stretch>
            <a:fillRect/>
          </a:stretch>
        </p:blipFill>
        <p:spPr>
          <a:xfrm>
            <a:off x="7643058" y="-42982"/>
            <a:ext cx="5422901" cy="3473491"/>
          </a:xfrm>
          <a:prstGeom prst="rect">
            <a:avLst/>
          </a:prstGeom>
          <a:ln w="25400">
            <a:solidFill>
              <a:srgbClr val="FFFFFF"/>
            </a:solidFill>
            <a:miter lim="400000"/>
          </a:ln>
        </p:spPr>
      </p:pic>
      <p:pic>
        <p:nvPicPr>
          <p:cNvPr id="111" name="ART infected water.jpg"/>
          <p:cNvPicPr>
            <a:picLocks noChangeAspect="1"/>
          </p:cNvPicPr>
          <p:nvPr/>
        </p:nvPicPr>
        <p:blipFill>
          <a:blip r:embed="rId3"/>
          <a:srcRect t="46702" b="10196"/>
          <a:stretch>
            <a:fillRect/>
          </a:stretch>
        </p:blipFill>
        <p:spPr>
          <a:xfrm>
            <a:off x="7643455" y="3423840"/>
            <a:ext cx="5448632" cy="3635243"/>
          </a:xfrm>
          <a:prstGeom prst="rect">
            <a:avLst/>
          </a:prstGeom>
          <a:ln w="25400">
            <a:solidFill>
              <a:srgbClr val="FFFFFF"/>
            </a:solidFill>
            <a:miter lim="400000"/>
          </a:ln>
        </p:spPr>
      </p:pic>
      <p:pic>
        <p:nvPicPr>
          <p:cNvPr id="112" name="AdobeStock_33226122 mosquito feeding close up-smaller.jpg"/>
          <p:cNvPicPr>
            <a:picLocks noChangeAspect="1"/>
          </p:cNvPicPr>
          <p:nvPr/>
        </p:nvPicPr>
        <p:blipFill>
          <a:blip r:embed="rId4"/>
          <a:srcRect b="12436"/>
          <a:stretch>
            <a:fillRect/>
          </a:stretch>
        </p:blipFill>
        <p:spPr>
          <a:xfrm>
            <a:off x="7643494" y="6772076"/>
            <a:ext cx="5423201" cy="3169202"/>
          </a:xfrm>
          <a:prstGeom prst="rect">
            <a:avLst/>
          </a:prstGeom>
          <a:ln w="25400">
            <a:solidFill>
              <a:srgbClr val="FFFFFF"/>
            </a:solidFill>
            <a:miter lim="400000"/>
          </a:ln>
        </p:spPr>
      </p:pic>
      <p:sp>
        <p:nvSpPr>
          <p:cNvPr id="113" name="Shape 113"/>
          <p:cNvSpPr/>
          <p:nvPr/>
        </p:nvSpPr>
        <p:spPr>
          <a:xfrm>
            <a:off x="10425355" y="2969189"/>
            <a:ext cx="2439257"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a:solidFill>
                  <a:srgbClr val="FFFFFF"/>
                </a:solidFill>
              </a:defRPr>
            </a:lvl1pPr>
          </a:lstStyle>
          <a:p>
            <a:r>
              <a:t>Airborne transmission</a:t>
            </a:r>
          </a:p>
        </p:txBody>
      </p:sp>
      <p:sp>
        <p:nvSpPr>
          <p:cNvPr id="114" name="Shape 114"/>
          <p:cNvSpPr/>
          <p:nvPr/>
        </p:nvSpPr>
        <p:spPr>
          <a:xfrm>
            <a:off x="10425355" y="6271189"/>
            <a:ext cx="2274393"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a:solidFill>
                  <a:srgbClr val="FFFFFF"/>
                </a:solidFill>
              </a:defRPr>
            </a:lvl1pPr>
          </a:lstStyle>
          <a:p>
            <a:r>
              <a:t>Contaminated water</a:t>
            </a:r>
          </a:p>
        </p:txBody>
      </p:sp>
      <p:sp>
        <p:nvSpPr>
          <p:cNvPr id="115" name="Shape 115"/>
          <p:cNvSpPr/>
          <p:nvPr/>
        </p:nvSpPr>
        <p:spPr>
          <a:xfrm>
            <a:off x="10425355" y="9288709"/>
            <a:ext cx="2223270"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a:solidFill>
                  <a:srgbClr val="FFFFFF"/>
                </a:solidFill>
              </a:defRPr>
            </a:lvl1pPr>
          </a:lstStyle>
          <a:p>
            <a:r>
              <a:t>Vector transmission</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0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0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0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0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0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09">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0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109">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109">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iterate>
                                    <p:tmAbs val="0"/>
                                  </p:iterate>
                                  <p:childTnLst>
                                    <p:set>
                                      <p:cBhvr>
                                        <p:cTn id="40" fill="hold"/>
                                        <p:tgtEl>
                                          <p:spTgt spid="109">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iterate>
                                    <p:tmAbs val="0"/>
                                  </p:iterate>
                                  <p:childTnLst>
                                    <p:set>
                                      <p:cBhvr>
                                        <p:cTn id="44" fill="hold"/>
                                        <p:tgtEl>
                                          <p:spTgt spid="10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p:nvPr/>
        </p:nvSpPr>
        <p:spPr>
          <a:xfrm>
            <a:off x="6800770" y="1658858"/>
            <a:ext cx="6204031" cy="5850891"/>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18" name="Shape 118"/>
          <p:cNvSpPr>
            <a:spLocks noGrp="1"/>
          </p:cNvSpPr>
          <p:nvPr>
            <p:ph type="title"/>
          </p:nvPr>
        </p:nvSpPr>
        <p:spPr>
          <a:prstGeom prst="rect">
            <a:avLst/>
          </a:prstGeom>
        </p:spPr>
        <p:txBody>
          <a:bodyPr/>
          <a:lstStyle>
            <a:lvl1pPr>
              <a:tabLst>
                <a:tab pos="952500" algn="l"/>
              </a:tabLst>
            </a:lvl1pPr>
          </a:lstStyle>
          <a:p>
            <a:r>
              <a:t>Bacteria and Disease</a:t>
            </a:r>
          </a:p>
        </p:txBody>
      </p:sp>
      <p:sp>
        <p:nvSpPr>
          <p:cNvPr id="119" name="Shape 119"/>
          <p:cNvSpPr>
            <a:spLocks noGrp="1"/>
          </p:cNvSpPr>
          <p:nvPr>
            <p:ph type="body" sz="half" idx="1"/>
          </p:nvPr>
        </p:nvSpPr>
        <p:spPr>
          <a:xfrm>
            <a:off x="368300" y="1790700"/>
            <a:ext cx="5438379" cy="7543800"/>
          </a:xfrm>
          <a:prstGeom prst="rect">
            <a:avLst/>
          </a:prstGeom>
        </p:spPr>
        <p:txBody>
          <a:bodyPr/>
          <a:lstStyle/>
          <a:p>
            <a:pPr marL="326571" indent="-326571">
              <a:tabLst>
                <a:tab pos="1016000" algn="l"/>
              </a:tabLst>
            </a:pPr>
            <a:r>
              <a:t>Of the many species of bacteria </a:t>
            </a:r>
            <a:br/>
            <a:r>
              <a:t>that exist in the world, relatively few are pathogenic.</a:t>
            </a:r>
          </a:p>
          <a:p>
            <a:pPr marL="326571" indent="-326571">
              <a:tabLst>
                <a:tab pos="1016000" algn="l"/>
              </a:tabLst>
            </a:pPr>
            <a:r>
              <a:t>Most bacteria form part of the normal microflora  found on healthy humans.</a:t>
            </a:r>
          </a:p>
          <a:p>
            <a:pPr marL="326571" indent="-326571">
              <a:tabLst>
                <a:tab pos="1016000" algn="l"/>
              </a:tabLst>
            </a:pPr>
            <a:r>
              <a:t>Bacteria infect a host in  order to exploit the food potential of the host’s body tissues. </a:t>
            </a:r>
          </a:p>
          <a:p>
            <a:pPr marL="326571" indent="-326571">
              <a:tabLst>
                <a:tab pos="1016000" algn="l"/>
              </a:tabLst>
            </a:pPr>
            <a:r>
              <a:t>The fact that this exploitation causes disease is not in the interest of the bacteria; a healthy host is better than a sick one.</a:t>
            </a:r>
          </a:p>
        </p:txBody>
      </p:sp>
      <p:grpSp>
        <p:nvGrpSpPr>
          <p:cNvPr id="129" name="Group 129"/>
          <p:cNvGrpSpPr/>
          <p:nvPr/>
        </p:nvGrpSpPr>
        <p:grpSpPr>
          <a:xfrm>
            <a:off x="6898640" y="1912620"/>
            <a:ext cx="6019801" cy="5059822"/>
            <a:chOff x="0" y="0"/>
            <a:chExt cx="6019800" cy="5059821"/>
          </a:xfrm>
        </p:grpSpPr>
        <p:sp>
          <p:nvSpPr>
            <p:cNvPr id="120" name="Shape 120"/>
            <p:cNvSpPr/>
            <p:nvPr/>
          </p:nvSpPr>
          <p:spPr>
            <a:xfrm rot="16200000">
              <a:off x="5210041" y="3123360"/>
              <a:ext cx="1492518"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1300"/>
                </a:lnSpc>
                <a:tabLst>
                  <a:tab pos="520700" algn="l"/>
                </a:tabLst>
                <a:defRPr sz="900">
                  <a:solidFill>
                    <a:srgbClr val="201B17"/>
                  </a:solidFill>
                </a:defRPr>
              </a:lvl1pPr>
            </a:lstStyle>
            <a:p>
              <a:pPr>
                <a:defRPr>
                  <a:solidFill>
                    <a:srgbClr val="483F36"/>
                  </a:solidFill>
                </a:defRPr>
              </a:pPr>
              <a:r>
                <a:rPr>
                  <a:solidFill>
                    <a:srgbClr val="201B17"/>
                  </a:solidFill>
                </a:rPr>
                <a:t>Photo: CDC/Dr Mike Miller.</a:t>
              </a:r>
            </a:p>
          </p:txBody>
        </p:sp>
        <p:grpSp>
          <p:nvGrpSpPr>
            <p:cNvPr id="128" name="Group 128"/>
            <p:cNvGrpSpPr/>
            <p:nvPr/>
          </p:nvGrpSpPr>
          <p:grpSpPr>
            <a:xfrm>
              <a:off x="0" y="0"/>
              <a:ext cx="5767986" cy="5059822"/>
              <a:chOff x="0" y="0"/>
              <a:chExt cx="5767985" cy="5059821"/>
            </a:xfrm>
          </p:grpSpPr>
          <p:pic>
            <p:nvPicPr>
              <p:cNvPr id="121" name="Lactobacillus clear cut CDC.png"/>
              <p:cNvPicPr>
                <a:picLocks noChangeAspect="1"/>
              </p:cNvPicPr>
              <p:nvPr/>
            </p:nvPicPr>
            <p:blipFill>
              <a:blip r:embed="rId2"/>
              <a:stretch>
                <a:fillRect/>
              </a:stretch>
            </p:blipFill>
            <p:spPr>
              <a:xfrm>
                <a:off x="0" y="1035050"/>
                <a:ext cx="5753100" cy="3526094"/>
              </a:xfrm>
              <a:prstGeom prst="rect">
                <a:avLst/>
              </a:prstGeom>
              <a:ln w="12700" cap="flat">
                <a:noFill/>
                <a:miter lim="400000"/>
              </a:ln>
              <a:effectLst/>
            </p:spPr>
          </p:pic>
          <p:sp>
            <p:nvSpPr>
              <p:cNvPr id="122" name="Shape 122"/>
              <p:cNvSpPr/>
              <p:nvPr/>
            </p:nvSpPr>
            <p:spPr>
              <a:xfrm>
                <a:off x="2501359" y="4800600"/>
                <a:ext cx="308610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400"/>
                  </a:lnSpc>
                  <a:tabLst>
                    <a:tab pos="520700" algn="l"/>
                  </a:tabLst>
                  <a:defRPr>
                    <a:solidFill>
                      <a:srgbClr val="006795"/>
                    </a:solidFill>
                  </a:defRPr>
                </a:lvl1pPr>
              </a:lstStyle>
              <a:p>
                <a:r>
                  <a:t>Human vaginal epithelial cell</a:t>
                </a:r>
              </a:p>
            </p:txBody>
          </p:sp>
          <p:grpSp>
            <p:nvGrpSpPr>
              <p:cNvPr id="127" name="Group 127"/>
              <p:cNvGrpSpPr/>
              <p:nvPr/>
            </p:nvGrpSpPr>
            <p:grpSpPr>
              <a:xfrm>
                <a:off x="19387" y="0"/>
                <a:ext cx="5748599" cy="4704222"/>
                <a:chOff x="0" y="0"/>
                <a:chExt cx="5748598" cy="4704221"/>
              </a:xfrm>
            </p:grpSpPr>
            <p:sp>
              <p:nvSpPr>
                <p:cNvPr id="123" name="Shape 123"/>
                <p:cNvSpPr/>
                <p:nvPr/>
              </p:nvSpPr>
              <p:spPr>
                <a:xfrm>
                  <a:off x="1748098" y="0"/>
                  <a:ext cx="4000501" cy="564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400"/>
                    </a:lnSpc>
                    <a:tabLst>
                      <a:tab pos="520700" algn="l"/>
                    </a:tabLst>
                    <a:defRPr>
                      <a:solidFill>
                        <a:srgbClr val="006795"/>
                      </a:solidFill>
                    </a:defRPr>
                  </a:pPr>
                  <a:r>
                    <a:rPr i="1"/>
                    <a:t>Lactobacillus</a:t>
                  </a:r>
                  <a:r>
                    <a:t> bacteria are part of the normal flora found on healthy humans</a:t>
                  </a:r>
                </a:p>
              </p:txBody>
            </p:sp>
            <p:sp>
              <p:nvSpPr>
                <p:cNvPr id="124" name="Shape 124"/>
                <p:cNvSpPr/>
                <p:nvPr/>
              </p:nvSpPr>
              <p:spPr>
                <a:xfrm>
                  <a:off x="-1" y="4445000"/>
                  <a:ext cx="137224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a:solidFill>
                        <a:srgbClr val="006795"/>
                      </a:solidFill>
                    </a:defRPr>
                  </a:lvl1pPr>
                </a:lstStyle>
                <a:p>
                  <a:r>
                    <a:t>Cell nucleus</a:t>
                  </a:r>
                </a:p>
              </p:txBody>
            </p:sp>
            <p:sp>
              <p:nvSpPr>
                <p:cNvPr id="125" name="Shape 125"/>
                <p:cNvSpPr/>
                <p:nvPr/>
              </p:nvSpPr>
              <p:spPr>
                <a:xfrm flipH="1">
                  <a:off x="945812" y="2939711"/>
                  <a:ext cx="1899985" cy="1433323"/>
                </a:xfrm>
                <a:prstGeom prst="line">
                  <a:avLst/>
                </a:prstGeom>
                <a:noFill/>
                <a:ln w="25400" cap="flat">
                  <a:solidFill>
                    <a:srgbClr val="006795"/>
                  </a:solidFill>
                  <a:prstDash val="solid"/>
                  <a:miter lim="400000"/>
                  <a:headEnd type="oval"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26" name="Shape 126"/>
                <p:cNvSpPr/>
                <p:nvPr/>
              </p:nvSpPr>
              <p:spPr>
                <a:xfrm>
                  <a:off x="2598256" y="664633"/>
                  <a:ext cx="727823" cy="761445"/>
                </a:xfrm>
                <a:custGeom>
                  <a:avLst/>
                  <a:gdLst/>
                  <a:ahLst/>
                  <a:cxnLst>
                    <a:cxn ang="0">
                      <a:pos x="wd2" y="hd2"/>
                    </a:cxn>
                    <a:cxn ang="5400000">
                      <a:pos x="wd2" y="hd2"/>
                    </a:cxn>
                    <a:cxn ang="10800000">
                      <a:pos x="wd2" y="hd2"/>
                    </a:cxn>
                    <a:cxn ang="16200000">
                      <a:pos x="wd2" y="hd2"/>
                    </a:cxn>
                  </a:cxnLst>
                  <a:rect l="0" t="0" r="r" b="b"/>
                  <a:pathLst>
                    <a:path w="21600" h="21600" extrusionOk="0">
                      <a:moveTo>
                        <a:pt x="0" y="17158"/>
                      </a:moveTo>
                      <a:lnTo>
                        <a:pt x="13274" y="0"/>
                      </a:lnTo>
                      <a:lnTo>
                        <a:pt x="21600" y="21600"/>
                      </a:lnTo>
                    </a:path>
                  </a:pathLst>
                </a:custGeom>
                <a:noFill/>
                <a:ln w="25400" cap="flat">
                  <a:solidFill>
                    <a:srgbClr val="006795"/>
                  </a:solidFill>
                  <a:prstDash val="solid"/>
                  <a:miter lim="400000"/>
                  <a:headEnd type="oval" w="med" len="med"/>
                  <a:tailEnd type="oval"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1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1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1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build="p" bldLvl="5"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 name="Dollarphotoclub_56449027 CC organs 2.png"/>
          <p:cNvPicPr>
            <a:picLocks noChangeAspect="1"/>
          </p:cNvPicPr>
          <p:nvPr/>
        </p:nvPicPr>
        <p:blipFill>
          <a:blip r:embed="rId2"/>
          <a:stretch>
            <a:fillRect/>
          </a:stretch>
        </p:blipFill>
        <p:spPr>
          <a:xfrm>
            <a:off x="5389685" y="1111830"/>
            <a:ext cx="2696352" cy="8645910"/>
          </a:xfrm>
          <a:prstGeom prst="rect">
            <a:avLst/>
          </a:prstGeom>
          <a:ln w="12700">
            <a:miter lim="400000"/>
          </a:ln>
        </p:spPr>
      </p:pic>
      <p:sp>
        <p:nvSpPr>
          <p:cNvPr id="132" name="Shape 132"/>
          <p:cNvSpPr>
            <a:spLocks noGrp="1"/>
          </p:cNvSpPr>
          <p:nvPr>
            <p:ph type="title"/>
          </p:nvPr>
        </p:nvSpPr>
        <p:spPr>
          <a:xfrm>
            <a:off x="393700" y="368300"/>
            <a:ext cx="12192000" cy="916127"/>
          </a:xfrm>
          <a:prstGeom prst="rect">
            <a:avLst/>
          </a:prstGeom>
        </p:spPr>
        <p:txBody>
          <a:bodyPr/>
          <a:lstStyle>
            <a:lvl1pPr>
              <a:tabLst>
                <a:tab pos="952500" algn="l"/>
              </a:tabLst>
            </a:lvl1pPr>
          </a:lstStyle>
          <a:p>
            <a:r>
              <a:t>Pathogenic Bacteria</a:t>
            </a:r>
          </a:p>
        </p:txBody>
      </p:sp>
      <p:grpSp>
        <p:nvGrpSpPr>
          <p:cNvPr id="136" name="Group 136"/>
          <p:cNvGrpSpPr/>
          <p:nvPr/>
        </p:nvGrpSpPr>
        <p:grpSpPr>
          <a:xfrm>
            <a:off x="6722533" y="1483825"/>
            <a:ext cx="5571067" cy="1391181"/>
            <a:chOff x="0" y="0"/>
            <a:chExt cx="5571066" cy="1391180"/>
          </a:xfrm>
        </p:grpSpPr>
        <p:sp>
          <p:nvSpPr>
            <p:cNvPr id="133" name="Shape 133"/>
            <p:cNvSpPr/>
            <p:nvPr/>
          </p:nvSpPr>
          <p:spPr>
            <a:xfrm flipH="1">
              <a:off x="0" y="497374"/>
              <a:ext cx="2053167" cy="808567"/>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34" name="Shape 134"/>
            <p:cNvSpPr/>
            <p:nvPr/>
          </p:nvSpPr>
          <p:spPr>
            <a:xfrm>
              <a:off x="2624666" y="2074"/>
              <a:ext cx="2946401" cy="13891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Hemophilus influenzae</a:t>
              </a:r>
            </a:p>
            <a:p>
              <a:pPr>
                <a:lnSpc>
                  <a:spcPts val="2200"/>
                </a:lnSpc>
                <a:tabLst>
                  <a:tab pos="520700" algn="l"/>
                </a:tabLst>
                <a:defRPr sz="1900">
                  <a:solidFill>
                    <a:srgbClr val="006795"/>
                  </a:solidFill>
                </a:defRPr>
              </a:pPr>
              <a:r>
                <a:t>Causes the most common form of meningitis. It can also cause epiglottitis, bronchitis and pneumonia.</a:t>
              </a:r>
            </a:p>
          </p:txBody>
        </p:sp>
        <p:pic>
          <p:nvPicPr>
            <p:cNvPr id="135" name="Bacteria bacillus yellow.png"/>
            <p:cNvPicPr>
              <a:picLocks noChangeAspect="1"/>
            </p:cNvPicPr>
            <p:nvPr/>
          </p:nvPicPr>
          <p:blipFill>
            <a:blip r:embed="rId3"/>
            <a:stretch>
              <a:fillRect/>
            </a:stretch>
          </p:blipFill>
          <p:spPr>
            <a:xfrm>
              <a:off x="2123175" y="0"/>
              <a:ext cx="304270" cy="981959"/>
            </a:xfrm>
            <a:prstGeom prst="rect">
              <a:avLst/>
            </a:prstGeom>
            <a:ln w="12700" cap="flat">
              <a:noFill/>
              <a:miter lim="400000"/>
            </a:ln>
            <a:effectLst/>
          </p:spPr>
        </p:pic>
      </p:grpSp>
      <p:grpSp>
        <p:nvGrpSpPr>
          <p:cNvPr id="140" name="Group 140"/>
          <p:cNvGrpSpPr/>
          <p:nvPr/>
        </p:nvGrpSpPr>
        <p:grpSpPr>
          <a:xfrm>
            <a:off x="7229003" y="3137159"/>
            <a:ext cx="5267797" cy="1492735"/>
            <a:chOff x="0" y="0"/>
            <a:chExt cx="5267796" cy="1492733"/>
          </a:xfrm>
        </p:grpSpPr>
        <p:sp>
          <p:nvSpPr>
            <p:cNvPr id="137" name="Shape 137"/>
            <p:cNvSpPr/>
            <p:nvPr/>
          </p:nvSpPr>
          <p:spPr>
            <a:xfrm flipH="1" flipV="1">
              <a:off x="0" y="571240"/>
              <a:ext cx="1953097" cy="1"/>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38" name="Shape 138"/>
            <p:cNvSpPr/>
            <p:nvPr/>
          </p:nvSpPr>
          <p:spPr>
            <a:xfrm>
              <a:off x="2727796" y="177540"/>
              <a:ext cx="2540001" cy="830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Yersinia pestis</a:t>
              </a:r>
            </a:p>
            <a:p>
              <a:pPr>
                <a:lnSpc>
                  <a:spcPts val="2200"/>
                </a:lnSpc>
                <a:tabLst>
                  <a:tab pos="520700" algn="l"/>
                </a:tabLst>
                <a:defRPr sz="1900">
                  <a:solidFill>
                    <a:srgbClr val="006795"/>
                  </a:solidFill>
                </a:defRPr>
              </a:pPr>
              <a:r>
                <a:t>This bacterium causes bubonic plague.</a:t>
              </a:r>
            </a:p>
          </p:txBody>
        </p:sp>
        <p:pic>
          <p:nvPicPr>
            <p:cNvPr id="139" name="Bacteria bacillus yersinia.png"/>
            <p:cNvPicPr>
              <a:picLocks noChangeAspect="1"/>
            </p:cNvPicPr>
            <p:nvPr/>
          </p:nvPicPr>
          <p:blipFill>
            <a:blip r:embed="rId4"/>
            <a:stretch>
              <a:fillRect/>
            </a:stretch>
          </p:blipFill>
          <p:spPr>
            <a:xfrm>
              <a:off x="1896620" y="0"/>
              <a:ext cx="920806" cy="1492734"/>
            </a:xfrm>
            <a:prstGeom prst="rect">
              <a:avLst/>
            </a:prstGeom>
            <a:ln w="12700" cap="flat">
              <a:noFill/>
              <a:miter lim="400000"/>
            </a:ln>
            <a:effectLst/>
          </p:spPr>
        </p:pic>
      </p:grpSp>
      <p:grpSp>
        <p:nvGrpSpPr>
          <p:cNvPr id="144" name="Group 144"/>
          <p:cNvGrpSpPr/>
          <p:nvPr/>
        </p:nvGrpSpPr>
        <p:grpSpPr>
          <a:xfrm>
            <a:off x="6720482" y="5667335"/>
            <a:ext cx="5573118" cy="3735472"/>
            <a:chOff x="187911" y="0"/>
            <a:chExt cx="5573116" cy="3735470"/>
          </a:xfrm>
        </p:grpSpPr>
        <p:sp>
          <p:nvSpPr>
            <p:cNvPr id="141" name="Shape 141"/>
            <p:cNvSpPr/>
            <p:nvPr/>
          </p:nvSpPr>
          <p:spPr>
            <a:xfrm flipH="1" flipV="1">
              <a:off x="187911" y="0"/>
              <a:ext cx="1991718" cy="2968665"/>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42" name="Shape 142"/>
            <p:cNvSpPr/>
            <p:nvPr/>
          </p:nvSpPr>
          <p:spPr>
            <a:xfrm>
              <a:off x="2916228" y="2625764"/>
              <a:ext cx="2844801" cy="11097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Enterobacter cloacae</a:t>
              </a:r>
            </a:p>
            <a:p>
              <a:pPr>
                <a:lnSpc>
                  <a:spcPts val="2200"/>
                </a:lnSpc>
                <a:tabLst>
                  <a:tab pos="520700" algn="l"/>
                </a:tabLst>
                <a:defRPr sz="1900">
                  <a:solidFill>
                    <a:srgbClr val="006795"/>
                  </a:solidFill>
                </a:defRPr>
              </a:pPr>
              <a:r>
                <a:t>This bacterium can cause urinary tract infections.</a:t>
              </a:r>
            </a:p>
          </p:txBody>
        </p:sp>
        <p:pic>
          <p:nvPicPr>
            <p:cNvPr id="143" name="Bacteria bacillus.png"/>
            <p:cNvPicPr>
              <a:picLocks noChangeAspect="1"/>
            </p:cNvPicPr>
            <p:nvPr/>
          </p:nvPicPr>
          <p:blipFill>
            <a:blip r:embed="rId5"/>
            <a:stretch>
              <a:fillRect/>
            </a:stretch>
          </p:blipFill>
          <p:spPr>
            <a:xfrm>
              <a:off x="2396641" y="2569646"/>
              <a:ext cx="348297" cy="1107083"/>
            </a:xfrm>
            <a:prstGeom prst="rect">
              <a:avLst/>
            </a:prstGeom>
            <a:ln w="12700" cap="flat">
              <a:noFill/>
              <a:miter lim="400000"/>
            </a:ln>
            <a:effectLst/>
          </p:spPr>
        </p:pic>
      </p:grpSp>
      <p:grpSp>
        <p:nvGrpSpPr>
          <p:cNvPr id="148" name="Group 148"/>
          <p:cNvGrpSpPr/>
          <p:nvPr/>
        </p:nvGrpSpPr>
        <p:grpSpPr>
          <a:xfrm>
            <a:off x="6825733" y="5592127"/>
            <a:ext cx="5569467" cy="2398789"/>
            <a:chOff x="109559" y="0"/>
            <a:chExt cx="5569465" cy="2398787"/>
          </a:xfrm>
        </p:grpSpPr>
        <p:sp>
          <p:nvSpPr>
            <p:cNvPr id="145" name="Shape 145"/>
            <p:cNvSpPr/>
            <p:nvPr/>
          </p:nvSpPr>
          <p:spPr>
            <a:xfrm flipH="1" flipV="1">
              <a:off x="109559" y="-1"/>
              <a:ext cx="1784867" cy="1278574"/>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46" name="Shape 146"/>
            <p:cNvSpPr/>
            <p:nvPr/>
          </p:nvSpPr>
          <p:spPr>
            <a:xfrm>
              <a:off x="2834225" y="1011872"/>
              <a:ext cx="2844801" cy="11097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Neisseria gonorrhoeae</a:t>
              </a:r>
            </a:p>
            <a:p>
              <a:pPr>
                <a:lnSpc>
                  <a:spcPts val="2200"/>
                </a:lnSpc>
                <a:tabLst>
                  <a:tab pos="520700" algn="l"/>
                </a:tabLst>
                <a:defRPr sz="1900">
                  <a:solidFill>
                    <a:srgbClr val="006795"/>
                  </a:solidFill>
                </a:defRPr>
              </a:pPr>
              <a:r>
                <a:t>Causes the sexually transmitted disease gonorrhoea.</a:t>
              </a:r>
            </a:p>
          </p:txBody>
        </p:sp>
        <p:pic>
          <p:nvPicPr>
            <p:cNvPr id="147" name="Bacteria diplococcus.png"/>
            <p:cNvPicPr>
              <a:picLocks noChangeAspect="1"/>
            </p:cNvPicPr>
            <p:nvPr/>
          </p:nvPicPr>
          <p:blipFill>
            <a:blip r:embed="rId6"/>
            <a:stretch>
              <a:fillRect/>
            </a:stretch>
          </p:blipFill>
          <p:spPr>
            <a:xfrm>
              <a:off x="1957687" y="947211"/>
              <a:ext cx="1083929" cy="1451577"/>
            </a:xfrm>
            <a:prstGeom prst="rect">
              <a:avLst/>
            </a:prstGeom>
            <a:ln w="12700" cap="flat">
              <a:noFill/>
              <a:miter lim="400000"/>
            </a:ln>
            <a:effectLst/>
          </p:spPr>
        </p:pic>
      </p:grpSp>
      <p:grpSp>
        <p:nvGrpSpPr>
          <p:cNvPr id="152" name="Group 152"/>
          <p:cNvGrpSpPr/>
          <p:nvPr/>
        </p:nvGrpSpPr>
        <p:grpSpPr>
          <a:xfrm>
            <a:off x="419100" y="4660900"/>
            <a:ext cx="6057900" cy="2725502"/>
            <a:chOff x="0" y="0"/>
            <a:chExt cx="6057900" cy="2725501"/>
          </a:xfrm>
        </p:grpSpPr>
        <p:sp>
          <p:nvSpPr>
            <p:cNvPr id="149" name="Shape 149"/>
            <p:cNvSpPr/>
            <p:nvPr/>
          </p:nvSpPr>
          <p:spPr>
            <a:xfrm>
              <a:off x="0" y="1244600"/>
              <a:ext cx="2768600" cy="11097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Salmonella </a:t>
              </a:r>
              <a:r>
                <a:rPr i="0"/>
                <a:t>bacteria</a:t>
              </a:r>
            </a:p>
            <a:p>
              <a:pPr>
                <a:lnSpc>
                  <a:spcPts val="2200"/>
                </a:lnSpc>
                <a:tabLst>
                  <a:tab pos="520700" algn="l"/>
                </a:tabLst>
                <a:defRPr sz="1900">
                  <a:solidFill>
                    <a:srgbClr val="006795"/>
                  </a:solidFill>
                </a:defRPr>
              </a:pPr>
              <a:r>
                <a:t>This group causes gastrointestinal diseases such as typhoid.</a:t>
              </a:r>
            </a:p>
          </p:txBody>
        </p:sp>
        <p:sp>
          <p:nvSpPr>
            <p:cNvPr id="150" name="Shape 150"/>
            <p:cNvSpPr/>
            <p:nvPr/>
          </p:nvSpPr>
          <p:spPr>
            <a:xfrm flipV="1">
              <a:off x="3860800" y="0"/>
              <a:ext cx="2197100" cy="1117600"/>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51" name="Bacteria Salmonella.png"/>
            <p:cNvPicPr>
              <a:picLocks noChangeAspect="1"/>
            </p:cNvPicPr>
            <p:nvPr/>
          </p:nvPicPr>
          <p:blipFill>
            <a:blip r:embed="rId7"/>
            <a:stretch>
              <a:fillRect/>
            </a:stretch>
          </p:blipFill>
          <p:spPr>
            <a:xfrm>
              <a:off x="2711943" y="1035089"/>
              <a:ext cx="1134991" cy="1690413"/>
            </a:xfrm>
            <a:prstGeom prst="rect">
              <a:avLst/>
            </a:prstGeom>
            <a:ln w="12700" cap="flat">
              <a:noFill/>
              <a:miter lim="400000"/>
            </a:ln>
            <a:effectLst/>
          </p:spPr>
        </p:pic>
      </p:grpSp>
      <p:grpSp>
        <p:nvGrpSpPr>
          <p:cNvPr id="156" name="Group 156"/>
          <p:cNvGrpSpPr/>
          <p:nvPr/>
        </p:nvGrpSpPr>
        <p:grpSpPr>
          <a:xfrm>
            <a:off x="6667500" y="4546718"/>
            <a:ext cx="5626100" cy="1803760"/>
            <a:chOff x="0" y="0"/>
            <a:chExt cx="5626100" cy="1803758"/>
          </a:xfrm>
        </p:grpSpPr>
        <p:sp>
          <p:nvSpPr>
            <p:cNvPr id="153" name="Shape 153"/>
            <p:cNvSpPr/>
            <p:nvPr/>
          </p:nvSpPr>
          <p:spPr>
            <a:xfrm flipH="1">
              <a:off x="0" y="711081"/>
              <a:ext cx="2146300" cy="304801"/>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54" name="Shape 154"/>
            <p:cNvSpPr/>
            <p:nvPr/>
          </p:nvSpPr>
          <p:spPr>
            <a:xfrm>
              <a:off x="2781300" y="431681"/>
              <a:ext cx="2844800" cy="11097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Treponema pallidum</a:t>
              </a:r>
            </a:p>
            <a:p>
              <a:pPr>
                <a:lnSpc>
                  <a:spcPts val="2200"/>
                </a:lnSpc>
                <a:tabLst>
                  <a:tab pos="520700" algn="l"/>
                </a:tabLst>
                <a:defRPr sz="1900">
                  <a:solidFill>
                    <a:srgbClr val="006795"/>
                  </a:solidFill>
                </a:defRPr>
              </a:pPr>
              <a:r>
                <a:t>This spirochete bacterium causes syphilis. </a:t>
              </a:r>
            </a:p>
          </p:txBody>
        </p:sp>
        <p:pic>
          <p:nvPicPr>
            <p:cNvPr id="155" name="Bacteria spirilla.png"/>
            <p:cNvPicPr>
              <a:picLocks noChangeAspect="1"/>
            </p:cNvPicPr>
            <p:nvPr/>
          </p:nvPicPr>
          <p:blipFill>
            <a:blip r:embed="rId8"/>
            <a:stretch>
              <a:fillRect/>
            </a:stretch>
          </p:blipFill>
          <p:spPr>
            <a:xfrm>
              <a:off x="2296794" y="0"/>
              <a:ext cx="287557" cy="1803759"/>
            </a:xfrm>
            <a:prstGeom prst="rect">
              <a:avLst/>
            </a:prstGeom>
            <a:ln w="12700" cap="flat">
              <a:noFill/>
              <a:miter lim="400000"/>
            </a:ln>
            <a:effectLst/>
          </p:spPr>
        </p:pic>
      </p:grpSp>
      <p:grpSp>
        <p:nvGrpSpPr>
          <p:cNvPr id="160" name="Group 160"/>
          <p:cNvGrpSpPr/>
          <p:nvPr/>
        </p:nvGrpSpPr>
        <p:grpSpPr>
          <a:xfrm>
            <a:off x="419100" y="4787900"/>
            <a:ext cx="6184900" cy="4272006"/>
            <a:chOff x="0" y="0"/>
            <a:chExt cx="6184900" cy="4272005"/>
          </a:xfrm>
        </p:grpSpPr>
        <p:sp>
          <p:nvSpPr>
            <p:cNvPr id="157" name="Shape 157"/>
            <p:cNvSpPr/>
            <p:nvPr/>
          </p:nvSpPr>
          <p:spPr>
            <a:xfrm>
              <a:off x="0" y="3162300"/>
              <a:ext cx="2844800" cy="11097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a:solidFill>
                    <a:srgbClr val="006795"/>
                  </a:solidFill>
                  <a:latin typeface="Hoefler Text"/>
                  <a:ea typeface="Hoefler Text"/>
                  <a:cs typeface="Hoefler Text"/>
                  <a:sym typeface="Hoefler Text"/>
                </a:defRPr>
              </a:pPr>
              <a:r>
                <a:rPr b="1" i="1">
                  <a:latin typeface="+mn-lt"/>
                  <a:ea typeface="+mn-ea"/>
                  <a:cs typeface="+mn-cs"/>
                  <a:sym typeface="Arial"/>
                </a:rPr>
                <a:t>Staphylococcus aureus</a:t>
              </a:r>
            </a:p>
            <a:p>
              <a:pPr>
                <a:lnSpc>
                  <a:spcPts val="2200"/>
                </a:lnSpc>
                <a:tabLst>
                  <a:tab pos="520700" algn="l"/>
                </a:tabLst>
                <a:defRPr sz="1900">
                  <a:solidFill>
                    <a:srgbClr val="006795"/>
                  </a:solidFill>
                </a:defRPr>
              </a:pPr>
              <a:r>
                <a:t>One of the common causes of bacterial food poisoning.</a:t>
              </a:r>
            </a:p>
          </p:txBody>
        </p:sp>
        <p:sp>
          <p:nvSpPr>
            <p:cNvPr id="158" name="Shape 158"/>
            <p:cNvSpPr/>
            <p:nvPr/>
          </p:nvSpPr>
          <p:spPr>
            <a:xfrm flipV="1">
              <a:off x="3606800" y="0"/>
              <a:ext cx="2578100" cy="3390900"/>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59" name="Bacteria Staphylococcus.png"/>
            <p:cNvPicPr>
              <a:picLocks noChangeAspect="1"/>
            </p:cNvPicPr>
            <p:nvPr/>
          </p:nvPicPr>
          <p:blipFill>
            <a:blip r:embed="rId9"/>
            <a:stretch>
              <a:fillRect/>
            </a:stretch>
          </p:blipFill>
          <p:spPr>
            <a:xfrm>
              <a:off x="2876668" y="3347193"/>
              <a:ext cx="925963" cy="861548"/>
            </a:xfrm>
            <a:prstGeom prst="rect">
              <a:avLst/>
            </a:prstGeom>
            <a:ln w="12700" cap="flat">
              <a:noFill/>
              <a:miter lim="400000"/>
            </a:ln>
            <a:effectLst/>
          </p:spPr>
        </p:pic>
      </p:grpSp>
      <p:grpSp>
        <p:nvGrpSpPr>
          <p:cNvPr id="164" name="Group 164"/>
          <p:cNvGrpSpPr/>
          <p:nvPr/>
        </p:nvGrpSpPr>
        <p:grpSpPr>
          <a:xfrm>
            <a:off x="419100" y="1571788"/>
            <a:ext cx="5791200" cy="1561501"/>
            <a:chOff x="0" y="0"/>
            <a:chExt cx="5791200" cy="1561499"/>
          </a:xfrm>
        </p:grpSpPr>
        <p:sp>
          <p:nvSpPr>
            <p:cNvPr id="161" name="Shape 161"/>
            <p:cNvSpPr/>
            <p:nvPr/>
          </p:nvSpPr>
          <p:spPr>
            <a:xfrm>
              <a:off x="0" y="41111"/>
              <a:ext cx="2844800" cy="13891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Streptococcus </a:t>
              </a:r>
              <a:r>
                <a:rPr i="0"/>
                <a:t>bacteria</a:t>
              </a:r>
            </a:p>
            <a:p>
              <a:pPr>
                <a:lnSpc>
                  <a:spcPts val="22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These bacteria can cause scarlet fever, sore throats (pharyngitis), and a form of pneumonia. </a:t>
              </a:r>
            </a:p>
          </p:txBody>
        </p:sp>
        <p:sp>
          <p:nvSpPr>
            <p:cNvPr id="162" name="Shape 162"/>
            <p:cNvSpPr/>
            <p:nvPr/>
          </p:nvSpPr>
          <p:spPr>
            <a:xfrm>
              <a:off x="3479800" y="714211"/>
              <a:ext cx="2311400" cy="812801"/>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63" name="Bacteria Streptococcus.png"/>
            <p:cNvPicPr>
              <a:picLocks noChangeAspect="1"/>
            </p:cNvPicPr>
            <p:nvPr/>
          </p:nvPicPr>
          <p:blipFill>
            <a:blip r:embed="rId10"/>
            <a:stretch>
              <a:fillRect/>
            </a:stretch>
          </p:blipFill>
          <p:spPr>
            <a:xfrm>
              <a:off x="2983865" y="0"/>
              <a:ext cx="650626" cy="1561500"/>
            </a:xfrm>
            <a:prstGeom prst="rect">
              <a:avLst/>
            </a:prstGeom>
            <a:ln w="12700" cap="flat">
              <a:noFill/>
              <a:miter lim="400000"/>
            </a:ln>
            <a:effectLst/>
          </p:spPr>
        </p:pic>
      </p:grpSp>
      <p:grpSp>
        <p:nvGrpSpPr>
          <p:cNvPr id="168" name="Group 168"/>
          <p:cNvGrpSpPr/>
          <p:nvPr/>
        </p:nvGrpSpPr>
        <p:grpSpPr>
          <a:xfrm>
            <a:off x="419100" y="3676114"/>
            <a:ext cx="5930900" cy="1596530"/>
            <a:chOff x="0" y="0"/>
            <a:chExt cx="5930900" cy="1596528"/>
          </a:xfrm>
        </p:grpSpPr>
        <p:sp>
          <p:nvSpPr>
            <p:cNvPr id="165" name="Shape 165"/>
            <p:cNvSpPr/>
            <p:nvPr/>
          </p:nvSpPr>
          <p:spPr>
            <a:xfrm>
              <a:off x="0" y="451385"/>
              <a:ext cx="1917700" cy="8303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b="1" i="1">
                  <a:solidFill>
                    <a:srgbClr val="006795"/>
                  </a:solidFill>
                </a:defRPr>
              </a:pPr>
              <a:r>
                <a:t>Vibrio cholerae</a:t>
              </a:r>
            </a:p>
            <a:p>
              <a:pPr>
                <a:lnSpc>
                  <a:spcPts val="22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These bacteria cause cholera</a:t>
              </a:r>
            </a:p>
          </p:txBody>
        </p:sp>
        <p:sp>
          <p:nvSpPr>
            <p:cNvPr id="166" name="Shape 166"/>
            <p:cNvSpPr/>
            <p:nvPr/>
          </p:nvSpPr>
          <p:spPr>
            <a:xfrm flipV="1">
              <a:off x="2984500" y="857785"/>
              <a:ext cx="2946400" cy="127001"/>
            </a:xfrm>
            <a:prstGeom prst="line">
              <a:avLst/>
            </a:prstGeom>
            <a:noFill/>
            <a:ln w="25400" cap="flat">
              <a:solidFill>
                <a:srgbClr val="006994"/>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67" name="Bacteria Vibrio.png"/>
            <p:cNvPicPr>
              <a:picLocks noChangeAspect="1"/>
            </p:cNvPicPr>
            <p:nvPr/>
          </p:nvPicPr>
          <p:blipFill>
            <a:blip r:embed="rId11"/>
            <a:stretch>
              <a:fillRect/>
            </a:stretch>
          </p:blipFill>
          <p:spPr>
            <a:xfrm>
              <a:off x="2101016" y="0"/>
              <a:ext cx="1127263" cy="1596529"/>
            </a:xfrm>
            <a:prstGeom prst="rect">
              <a:avLst/>
            </a:prstGeom>
            <a:ln w="12700" cap="flat">
              <a:noFill/>
              <a:miter lim="400000"/>
            </a:ln>
            <a:effectLst/>
          </p:spPr>
        </p:pic>
      </p:grpSp>
      <p:sp>
        <p:nvSpPr>
          <p:cNvPr id="169" name="Shape 169"/>
          <p:cNvSpPr/>
          <p:nvPr/>
        </p:nvSpPr>
        <p:spPr>
          <a:xfrm>
            <a:off x="7740575" y="9424438"/>
            <a:ext cx="362670"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000000"/>
                </a:solidFill>
              </a:defRPr>
            </a:lvl1pPr>
          </a:lstStyle>
          <a:p>
            <a:r>
              <a:t>DPC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advAuto="0"/>
      <p:bldP spid="140" grpId="0" animBg="1" advAuto="0"/>
      <p:bldP spid="144" grpId="0" animBg="1" advAuto="0"/>
      <p:bldP spid="148" grpId="0" animBg="1" advAuto="0"/>
      <p:bldP spid="152" grpId="0" animBg="1" advAuto="0"/>
      <p:bldP spid="156" grpId="0" animBg="1" advAuto="0"/>
      <p:bldP spid="160" grpId="0" animBg="1" advAuto="0"/>
      <p:bldP spid="164" grpId="0" animBg="1" advAuto="0"/>
      <p:bldP spid="168"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bacterial infection skin.pdf"/>
          <p:cNvPicPr>
            <a:picLocks noChangeAspect="1"/>
          </p:cNvPicPr>
          <p:nvPr/>
        </p:nvPicPr>
        <p:blipFill>
          <a:blip r:embed="rId2"/>
          <a:stretch>
            <a:fillRect/>
          </a:stretch>
        </p:blipFill>
        <p:spPr>
          <a:xfrm>
            <a:off x="-459547" y="1783772"/>
            <a:ext cx="14017911" cy="2195920"/>
          </a:xfrm>
          <a:prstGeom prst="rect">
            <a:avLst/>
          </a:prstGeom>
          <a:ln w="12700">
            <a:miter lim="400000"/>
          </a:ln>
        </p:spPr>
      </p:pic>
      <p:sp>
        <p:nvSpPr>
          <p:cNvPr id="172" name="Shape 172"/>
          <p:cNvSpPr>
            <a:spLocks noGrp="1"/>
          </p:cNvSpPr>
          <p:nvPr>
            <p:ph type="title"/>
          </p:nvPr>
        </p:nvSpPr>
        <p:spPr>
          <a:prstGeom prst="rect">
            <a:avLst/>
          </a:prstGeom>
        </p:spPr>
        <p:txBody>
          <a:bodyPr/>
          <a:lstStyle>
            <a:lvl1pPr>
              <a:tabLst>
                <a:tab pos="952500" algn="l"/>
              </a:tabLst>
            </a:lvl1pPr>
          </a:lstStyle>
          <a:p>
            <a:r>
              <a:t>Bacterial Infection</a:t>
            </a:r>
          </a:p>
        </p:txBody>
      </p:sp>
      <p:sp>
        <p:nvSpPr>
          <p:cNvPr id="173" name="Shape 173"/>
          <p:cNvSpPr/>
          <p:nvPr/>
        </p:nvSpPr>
        <p:spPr>
          <a:xfrm>
            <a:off x="8071863" y="3340100"/>
            <a:ext cx="142269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Body tissue</a:t>
            </a:r>
          </a:p>
        </p:txBody>
      </p:sp>
      <p:grpSp>
        <p:nvGrpSpPr>
          <p:cNvPr id="179" name="Group 179"/>
          <p:cNvGrpSpPr/>
          <p:nvPr/>
        </p:nvGrpSpPr>
        <p:grpSpPr>
          <a:xfrm>
            <a:off x="5352322" y="3855965"/>
            <a:ext cx="6737703" cy="1519932"/>
            <a:chOff x="0" y="0"/>
            <a:chExt cx="6737702" cy="1519930"/>
          </a:xfrm>
        </p:grpSpPr>
        <p:pic>
          <p:nvPicPr>
            <p:cNvPr id="174" name="bacterial infection bacteri.pdf"/>
            <p:cNvPicPr>
              <a:picLocks noChangeAspect="1"/>
            </p:cNvPicPr>
            <p:nvPr/>
          </p:nvPicPr>
          <p:blipFill>
            <a:blip r:embed="rId3"/>
            <a:stretch>
              <a:fillRect/>
            </a:stretch>
          </p:blipFill>
          <p:spPr>
            <a:xfrm>
              <a:off x="0" y="0"/>
              <a:ext cx="2821131" cy="1519931"/>
            </a:xfrm>
            <a:prstGeom prst="rect">
              <a:avLst/>
            </a:prstGeom>
            <a:ln w="12700" cap="flat">
              <a:noFill/>
              <a:miter lim="400000"/>
            </a:ln>
            <a:effectLst/>
          </p:spPr>
        </p:pic>
        <p:grpSp>
          <p:nvGrpSpPr>
            <p:cNvPr id="178" name="Group 178"/>
            <p:cNvGrpSpPr/>
            <p:nvPr/>
          </p:nvGrpSpPr>
          <p:grpSpPr>
            <a:xfrm>
              <a:off x="799295" y="436634"/>
              <a:ext cx="5938408" cy="792622"/>
              <a:chOff x="855717" y="451374"/>
              <a:chExt cx="5938407" cy="792621"/>
            </a:xfrm>
          </p:grpSpPr>
          <p:sp>
            <p:nvSpPr>
              <p:cNvPr id="175" name="Shape 175"/>
              <p:cNvSpPr/>
              <p:nvPr/>
            </p:nvSpPr>
            <p:spPr>
              <a:xfrm>
                <a:off x="3352424" y="451374"/>
                <a:ext cx="3441701" cy="7926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rPr b="1"/>
                  <a:t>Fimbriae:  </a:t>
                </a:r>
                <a:r>
                  <a:t>Short hair-like structure that</a:t>
                </a:r>
                <a:r>
                  <a:rPr b="1"/>
                  <a:t> </a:t>
                </a:r>
                <a:r>
                  <a:t>enable bacteria to attach to mucous membranes.</a:t>
                </a:r>
              </a:p>
            </p:txBody>
          </p:sp>
          <p:sp>
            <p:nvSpPr>
              <p:cNvPr id="176" name="Shape 176"/>
              <p:cNvSpPr/>
              <p:nvPr/>
            </p:nvSpPr>
            <p:spPr>
              <a:xfrm>
                <a:off x="855717" y="692674"/>
                <a:ext cx="1244998" cy="2592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400"/>
                  </a:lnSpc>
                  <a:tabLst>
                    <a:tab pos="520700" algn="l"/>
                  </a:tabLst>
                  <a:defRPr b="1">
                    <a:solidFill>
                      <a:srgbClr val="201B17"/>
                    </a:solidFill>
                  </a:defRPr>
                </a:lvl1pPr>
              </a:lstStyle>
              <a:p>
                <a:pPr>
                  <a:defRPr b="0">
                    <a:solidFill>
                      <a:srgbClr val="483F36"/>
                    </a:solidFill>
                  </a:defRPr>
                </a:pPr>
                <a:r>
                  <a:rPr b="1">
                    <a:solidFill>
                      <a:srgbClr val="201B17"/>
                    </a:solidFill>
                  </a:rPr>
                  <a:t>Bacterium</a:t>
                </a:r>
              </a:p>
            </p:txBody>
          </p:sp>
          <p:sp>
            <p:nvSpPr>
              <p:cNvPr id="177" name="Shape 177"/>
              <p:cNvSpPr/>
              <p:nvPr/>
            </p:nvSpPr>
            <p:spPr>
              <a:xfrm>
                <a:off x="2692400" y="476774"/>
                <a:ext cx="668867" cy="266701"/>
              </a:xfrm>
              <a:prstGeom prst="line">
                <a:avLst/>
              </a:prstGeom>
              <a:noFill/>
              <a:ln w="254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grpSp>
        <p:nvGrpSpPr>
          <p:cNvPr id="183" name="Group 183"/>
          <p:cNvGrpSpPr/>
          <p:nvPr/>
        </p:nvGrpSpPr>
        <p:grpSpPr>
          <a:xfrm>
            <a:off x="4333416" y="1955800"/>
            <a:ext cx="5207001" cy="1869149"/>
            <a:chOff x="0" y="0"/>
            <a:chExt cx="5207000" cy="1869148"/>
          </a:xfrm>
        </p:grpSpPr>
        <p:sp>
          <p:nvSpPr>
            <p:cNvPr id="180" name="Shape 180"/>
            <p:cNvSpPr/>
            <p:nvPr/>
          </p:nvSpPr>
          <p:spPr>
            <a:xfrm>
              <a:off x="0" y="0"/>
              <a:ext cx="5207000"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rPr b="1"/>
                <a:t>Enzymes</a:t>
              </a:r>
              <a:r>
                <a:t> are released that digest the connective tissue of the host, allowing the spread of infection.</a:t>
              </a:r>
            </a:p>
          </p:txBody>
        </p:sp>
        <p:pic>
          <p:nvPicPr>
            <p:cNvPr id="181" name="bacterial infection enzymes.pdf"/>
            <p:cNvPicPr>
              <a:picLocks noChangeAspect="1"/>
            </p:cNvPicPr>
            <p:nvPr/>
          </p:nvPicPr>
          <p:blipFill>
            <a:blip r:embed="rId4"/>
            <a:stretch>
              <a:fillRect/>
            </a:stretch>
          </p:blipFill>
          <p:spPr>
            <a:xfrm>
              <a:off x="1104929" y="891248"/>
              <a:ext cx="2537255" cy="977901"/>
            </a:xfrm>
            <a:prstGeom prst="rect">
              <a:avLst/>
            </a:prstGeom>
            <a:ln w="12700" cap="flat">
              <a:noFill/>
              <a:miter lim="400000"/>
            </a:ln>
            <a:effectLst/>
          </p:spPr>
        </p:pic>
        <p:sp>
          <p:nvSpPr>
            <p:cNvPr id="182" name="Shape 182"/>
            <p:cNvSpPr/>
            <p:nvPr/>
          </p:nvSpPr>
          <p:spPr>
            <a:xfrm flipV="1">
              <a:off x="2168983" y="546100"/>
              <a:ext cx="1" cy="525207"/>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90" name="Group 190"/>
          <p:cNvGrpSpPr/>
          <p:nvPr/>
        </p:nvGrpSpPr>
        <p:grpSpPr>
          <a:xfrm>
            <a:off x="434209" y="3699200"/>
            <a:ext cx="5999727" cy="3938722"/>
            <a:chOff x="0" y="0"/>
            <a:chExt cx="5999726" cy="3938721"/>
          </a:xfrm>
        </p:grpSpPr>
        <p:pic>
          <p:nvPicPr>
            <p:cNvPr id="184" name="bacterial infection fibrin.pdf"/>
            <p:cNvPicPr>
              <a:picLocks noChangeAspect="1"/>
            </p:cNvPicPr>
            <p:nvPr/>
          </p:nvPicPr>
          <p:blipFill>
            <a:blip r:embed="rId5"/>
            <a:stretch>
              <a:fillRect/>
            </a:stretch>
          </p:blipFill>
          <p:spPr>
            <a:xfrm>
              <a:off x="2316302" y="0"/>
              <a:ext cx="2492208" cy="2413188"/>
            </a:xfrm>
            <a:prstGeom prst="rect">
              <a:avLst/>
            </a:prstGeom>
            <a:ln w="12700" cap="flat">
              <a:noFill/>
              <a:miter lim="400000"/>
            </a:ln>
            <a:effectLst/>
          </p:spPr>
        </p:pic>
        <p:sp>
          <p:nvSpPr>
            <p:cNvPr id="185" name="Shape 185"/>
            <p:cNvSpPr/>
            <p:nvPr/>
          </p:nvSpPr>
          <p:spPr>
            <a:xfrm>
              <a:off x="0" y="2485699"/>
              <a:ext cx="2921000" cy="13260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rPr b="1"/>
                <a:t>Fibrin:  </a:t>
              </a:r>
              <a:r>
                <a:t>Fibrous threads of protein are deposited when blood clots. This limits movement of pathogens in infected areas.</a:t>
              </a:r>
            </a:p>
          </p:txBody>
        </p:sp>
        <p:sp>
          <p:nvSpPr>
            <p:cNvPr id="186" name="Shape 186"/>
            <p:cNvSpPr/>
            <p:nvPr/>
          </p:nvSpPr>
          <p:spPr>
            <a:xfrm>
              <a:off x="3434326" y="2612699"/>
              <a:ext cx="2565401" cy="13260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rPr b="1"/>
                <a:t>Enzymes</a:t>
              </a:r>
              <a:r>
                <a:t> are released that break down the fibrin, allowing the bacteria greater freedom of movement.</a:t>
              </a:r>
            </a:p>
          </p:txBody>
        </p:sp>
        <p:sp>
          <p:nvSpPr>
            <p:cNvPr id="187" name="Shape 187"/>
            <p:cNvSpPr/>
            <p:nvPr/>
          </p:nvSpPr>
          <p:spPr>
            <a:xfrm flipH="1">
              <a:off x="2325923" y="1668666"/>
              <a:ext cx="491068" cy="795868"/>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88" name="Shape 188"/>
            <p:cNvSpPr/>
            <p:nvPr/>
          </p:nvSpPr>
          <p:spPr>
            <a:xfrm>
              <a:off x="3811823" y="1368099"/>
              <a:ext cx="626534" cy="1185335"/>
            </a:xfrm>
            <a:prstGeom prst="line">
              <a:avLst/>
            </a:prstGeom>
            <a:noFill/>
            <a:ln w="25400" cap="flat">
              <a:solidFill>
                <a:schemeClr val="accent4">
                  <a:hueOff val="384618"/>
                  <a:satOff val="3869"/>
                  <a:lumOff val="5802"/>
                </a:schemeClr>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89" name="Shape 189"/>
            <p:cNvSpPr/>
            <p:nvPr/>
          </p:nvSpPr>
          <p:spPr>
            <a:xfrm>
              <a:off x="4308396" y="930185"/>
              <a:ext cx="900428" cy="159780"/>
            </a:xfrm>
            <a:custGeom>
              <a:avLst/>
              <a:gdLst/>
              <a:ahLst/>
              <a:cxnLst>
                <a:cxn ang="0">
                  <a:pos x="wd2" y="hd2"/>
                </a:cxn>
                <a:cxn ang="5400000">
                  <a:pos x="wd2" y="hd2"/>
                </a:cxn>
                <a:cxn ang="10800000">
                  <a:pos x="wd2" y="hd2"/>
                </a:cxn>
                <a:cxn ang="16200000">
                  <a:pos x="wd2" y="hd2"/>
                </a:cxn>
              </a:cxnLst>
              <a:rect l="0" t="0" r="r" b="b"/>
              <a:pathLst>
                <a:path w="21600" h="13984" extrusionOk="0">
                  <a:moveTo>
                    <a:pt x="21600" y="6093"/>
                  </a:moveTo>
                  <a:cubicBezTo>
                    <a:pt x="21600" y="6093"/>
                    <a:pt x="5352" y="-7616"/>
                    <a:pt x="2102" y="6093"/>
                  </a:cubicBezTo>
                  <a:lnTo>
                    <a:pt x="0" y="13984"/>
                  </a:lnTo>
                </a:path>
              </a:pathLst>
            </a:custGeom>
            <a:noFill/>
            <a:ln w="38100" cap="flat">
              <a:solidFill>
                <a:schemeClr val="accent4">
                  <a:hueOff val="384618"/>
                  <a:satOff val="3869"/>
                  <a:lumOff val="5802"/>
                </a:schemeClr>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chemeClr val="accent4">
                      <a:hueOff val="384618"/>
                      <a:satOff val="3869"/>
                      <a:lumOff val="5802"/>
                    </a:schemeClr>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99" name="Group 199"/>
          <p:cNvGrpSpPr/>
          <p:nvPr/>
        </p:nvGrpSpPr>
        <p:grpSpPr>
          <a:xfrm>
            <a:off x="5698232" y="4961466"/>
            <a:ext cx="7112225" cy="4365556"/>
            <a:chOff x="0" y="0"/>
            <a:chExt cx="7112224" cy="4365554"/>
          </a:xfrm>
        </p:grpSpPr>
        <p:pic>
          <p:nvPicPr>
            <p:cNvPr id="191" name="bacterial infection phagocy.pdf"/>
            <p:cNvPicPr>
              <a:picLocks noChangeAspect="1"/>
            </p:cNvPicPr>
            <p:nvPr/>
          </p:nvPicPr>
          <p:blipFill>
            <a:blip r:embed="rId6"/>
            <a:stretch>
              <a:fillRect/>
            </a:stretch>
          </p:blipFill>
          <p:spPr>
            <a:xfrm>
              <a:off x="1730443" y="279702"/>
              <a:ext cx="3451082" cy="3141444"/>
            </a:xfrm>
            <a:prstGeom prst="rect">
              <a:avLst/>
            </a:prstGeom>
            <a:ln w="12700" cap="flat">
              <a:noFill/>
              <a:miter lim="400000"/>
            </a:ln>
            <a:effectLst/>
          </p:spPr>
        </p:pic>
        <p:grpSp>
          <p:nvGrpSpPr>
            <p:cNvPr id="198" name="Group 198"/>
            <p:cNvGrpSpPr/>
            <p:nvPr/>
          </p:nvGrpSpPr>
          <p:grpSpPr>
            <a:xfrm>
              <a:off x="0" y="0"/>
              <a:ext cx="7112225" cy="4365555"/>
              <a:chOff x="0" y="0"/>
              <a:chExt cx="7112224" cy="4365554"/>
            </a:xfrm>
          </p:grpSpPr>
          <p:grpSp>
            <p:nvGrpSpPr>
              <p:cNvPr id="196" name="Group 196"/>
              <p:cNvGrpSpPr/>
              <p:nvPr/>
            </p:nvGrpSpPr>
            <p:grpSpPr>
              <a:xfrm>
                <a:off x="0" y="0"/>
                <a:ext cx="7112225" cy="4365555"/>
                <a:chOff x="0" y="0"/>
                <a:chExt cx="7112224" cy="4365554"/>
              </a:xfrm>
            </p:grpSpPr>
            <p:sp>
              <p:nvSpPr>
                <p:cNvPr id="192" name="Shape 192"/>
                <p:cNvSpPr/>
                <p:nvPr/>
              </p:nvSpPr>
              <p:spPr>
                <a:xfrm>
                  <a:off x="3822924" y="3572933"/>
                  <a:ext cx="3289301"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rPr b="1"/>
                    <a:t>Phagocyte:  </a:t>
                  </a:r>
                  <a:r>
                    <a:t>White blood cells are very effective in identifying and destroying pathogens.</a:t>
                  </a:r>
                </a:p>
              </p:txBody>
            </p:sp>
            <p:sp>
              <p:nvSpPr>
                <p:cNvPr id="193" name="Shape 193"/>
                <p:cNvSpPr/>
                <p:nvPr/>
              </p:nvSpPr>
              <p:spPr>
                <a:xfrm>
                  <a:off x="0" y="3191933"/>
                  <a:ext cx="2667000"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t>The bacteria can release </a:t>
                  </a:r>
                  <a:r>
                    <a:rPr b="1"/>
                    <a:t>metabolites</a:t>
                  </a:r>
                  <a:r>
                    <a:t> that destroy phagocytic cells</a:t>
                  </a:r>
                </a:p>
              </p:txBody>
            </p:sp>
            <p:sp>
              <p:nvSpPr>
                <p:cNvPr id="194" name="Shape 194"/>
                <p:cNvSpPr/>
                <p:nvPr/>
              </p:nvSpPr>
              <p:spPr>
                <a:xfrm flipH="1">
                  <a:off x="1362967" y="2277533"/>
                  <a:ext cx="571500" cy="83820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95" name="Shape 195"/>
                <p:cNvSpPr/>
                <p:nvPr/>
              </p:nvSpPr>
              <p:spPr>
                <a:xfrm>
                  <a:off x="897076" y="0"/>
                  <a:ext cx="1126161" cy="1670261"/>
                </a:xfrm>
                <a:custGeom>
                  <a:avLst/>
                  <a:gdLst/>
                  <a:ahLst/>
                  <a:cxnLst>
                    <a:cxn ang="0">
                      <a:pos x="wd2" y="hd2"/>
                    </a:cxn>
                    <a:cxn ang="5400000">
                      <a:pos x="wd2" y="hd2"/>
                    </a:cxn>
                    <a:cxn ang="10800000">
                      <a:pos x="wd2" y="hd2"/>
                    </a:cxn>
                    <a:cxn ang="16200000">
                      <a:pos x="wd2" y="hd2"/>
                    </a:cxn>
                  </a:cxnLst>
                  <a:rect l="0" t="0" r="r" b="b"/>
                  <a:pathLst>
                    <a:path w="17682" h="21600" extrusionOk="0">
                      <a:moveTo>
                        <a:pt x="402" y="0"/>
                      </a:moveTo>
                      <a:cubicBezTo>
                        <a:pt x="402" y="0"/>
                        <a:pt x="-3918" y="17957"/>
                        <a:pt x="15757" y="21241"/>
                      </a:cubicBezTo>
                      <a:lnTo>
                        <a:pt x="17682" y="21600"/>
                      </a:lnTo>
                    </a:path>
                  </a:pathLst>
                </a:custGeom>
                <a:noFill/>
                <a:ln w="38100" cap="flat">
                  <a:solidFill>
                    <a:schemeClr val="accent4">
                      <a:hueOff val="384618"/>
                      <a:satOff val="3869"/>
                      <a:lumOff val="5802"/>
                    </a:schemeClr>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sp>
            <p:nvSpPr>
              <p:cNvPr id="197" name="Shape 197"/>
              <p:cNvSpPr/>
              <p:nvPr/>
            </p:nvSpPr>
            <p:spPr>
              <a:xfrm>
                <a:off x="4283967" y="3153833"/>
                <a:ext cx="469901" cy="393701"/>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animBg="1" advAuto="0"/>
      <p:bldP spid="183" grpId="0" animBg="1" advAuto="0"/>
      <p:bldP spid="190" grpId="0" animBg="1" advAuto="0"/>
      <p:bldP spid="199"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7" name="Dollarphotoclub_58578938 man standing.png"/>
          <p:cNvPicPr>
            <a:picLocks noChangeAspect="1"/>
          </p:cNvPicPr>
          <p:nvPr/>
        </p:nvPicPr>
        <p:blipFill>
          <a:blip r:embed="rId2"/>
          <a:srcRect l="20028" r="20782"/>
          <a:stretch>
            <a:fillRect/>
          </a:stretch>
        </p:blipFill>
        <p:spPr>
          <a:xfrm>
            <a:off x="4973648" y="1096884"/>
            <a:ext cx="3468984" cy="8788082"/>
          </a:xfrm>
          <a:prstGeom prst="rect">
            <a:avLst/>
          </a:prstGeom>
          <a:ln w="12700">
            <a:miter lim="400000"/>
          </a:ln>
        </p:spPr>
      </p:pic>
      <p:sp>
        <p:nvSpPr>
          <p:cNvPr id="1848" name="Shape 1848"/>
          <p:cNvSpPr>
            <a:spLocks noGrp="1"/>
          </p:cNvSpPr>
          <p:nvPr>
            <p:ph type="title"/>
          </p:nvPr>
        </p:nvSpPr>
        <p:spPr>
          <a:prstGeom prst="rect">
            <a:avLst/>
          </a:prstGeom>
        </p:spPr>
        <p:txBody>
          <a:bodyPr/>
          <a:lstStyle>
            <a:lvl1pPr>
              <a:tabLst>
                <a:tab pos="952500" algn="l"/>
              </a:tabLst>
              <a:defRPr spc="-64"/>
            </a:lvl1pPr>
          </a:lstStyle>
          <a:p>
            <a:r>
              <a:t>Examples of Viral Pathogens</a:t>
            </a:r>
          </a:p>
        </p:txBody>
      </p:sp>
      <p:sp>
        <p:nvSpPr>
          <p:cNvPr id="1849" name="Shape 1849"/>
          <p:cNvSpPr/>
          <p:nvPr/>
        </p:nvSpPr>
        <p:spPr>
          <a:xfrm>
            <a:off x="9486900" y="7264400"/>
            <a:ext cx="2882900" cy="1541506"/>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5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Filovirus</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This newly emerged group of viruses, include the dangerous Marburg and Ebola.</a:t>
            </a:r>
          </a:p>
        </p:txBody>
      </p:sp>
      <p:sp>
        <p:nvSpPr>
          <p:cNvPr id="1850" name="Shape 1850"/>
          <p:cNvSpPr/>
          <p:nvPr/>
        </p:nvSpPr>
        <p:spPr>
          <a:xfrm>
            <a:off x="6626859" y="4810759"/>
            <a:ext cx="2375311" cy="2566923"/>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1851" name="Viral pathogens filovirus.png"/>
          <p:cNvPicPr>
            <a:picLocks noChangeAspect="1"/>
          </p:cNvPicPr>
          <p:nvPr/>
        </p:nvPicPr>
        <p:blipFill>
          <a:blip r:embed="rId3"/>
          <a:stretch>
            <a:fillRect/>
          </a:stretch>
        </p:blipFill>
        <p:spPr>
          <a:xfrm>
            <a:off x="8952547" y="6990146"/>
            <a:ext cx="515842" cy="2013845"/>
          </a:xfrm>
          <a:prstGeom prst="rect">
            <a:avLst/>
          </a:prstGeom>
          <a:ln w="12700">
            <a:miter lim="400000"/>
          </a:ln>
        </p:spPr>
      </p:pic>
      <p:grpSp>
        <p:nvGrpSpPr>
          <p:cNvPr id="1855" name="Group 1855"/>
          <p:cNvGrpSpPr/>
          <p:nvPr/>
        </p:nvGrpSpPr>
        <p:grpSpPr>
          <a:xfrm>
            <a:off x="6578600" y="4076700"/>
            <a:ext cx="5676900" cy="2633706"/>
            <a:chOff x="0" y="0"/>
            <a:chExt cx="5676900" cy="2633705"/>
          </a:xfrm>
        </p:grpSpPr>
        <p:sp>
          <p:nvSpPr>
            <p:cNvPr id="1852" name="Shape 1852"/>
            <p:cNvSpPr/>
            <p:nvPr/>
          </p:nvSpPr>
          <p:spPr>
            <a:xfrm>
              <a:off x="3022600" y="1409700"/>
              <a:ext cx="2654300" cy="12240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500"/>
                </a:lnSpc>
                <a:tabLst>
                  <a:tab pos="520700" algn="l"/>
                </a:tabLst>
                <a:defRPr sz="1900" b="1">
                  <a:solidFill>
                    <a:srgbClr val="006795"/>
                  </a:solidFill>
                  <a:latin typeface="Hoefler Text"/>
                  <a:ea typeface="Hoefler Text"/>
                  <a:cs typeface="Hoefler Text"/>
                  <a:sym typeface="Hoefler Text"/>
                </a:defRPr>
              </a:pPr>
              <a:r>
                <a:rPr i="1">
                  <a:latin typeface="+mn-lt"/>
                  <a:ea typeface="+mn-ea"/>
                  <a:cs typeface="+mn-cs"/>
                  <a:sym typeface="Arial"/>
                </a:rPr>
                <a:t>Hepatitis</a:t>
              </a:r>
              <a:r>
                <a:rPr>
                  <a:latin typeface="+mn-lt"/>
                  <a:ea typeface="+mn-ea"/>
                  <a:cs typeface="+mn-cs"/>
                  <a:sym typeface="Arial"/>
                </a:rPr>
                <a:t> viruses</a:t>
              </a: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The viruses responsible for hepatitis A, B and C.</a:t>
              </a:r>
            </a:p>
          </p:txBody>
        </p:sp>
        <p:sp>
          <p:nvSpPr>
            <p:cNvPr id="1853" name="Shape 1853"/>
            <p:cNvSpPr/>
            <p:nvPr/>
          </p:nvSpPr>
          <p:spPr>
            <a:xfrm>
              <a:off x="0" y="0"/>
              <a:ext cx="2074334" cy="1308100"/>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854" name="Viral pathogens hepatitis.png"/>
            <p:cNvPicPr>
              <a:picLocks noChangeAspect="1"/>
            </p:cNvPicPr>
            <p:nvPr/>
          </p:nvPicPr>
          <p:blipFill>
            <a:blip r:embed="rId4"/>
            <a:stretch>
              <a:fillRect/>
            </a:stretch>
          </p:blipFill>
          <p:spPr>
            <a:xfrm>
              <a:off x="1823640" y="871400"/>
              <a:ext cx="957129" cy="972402"/>
            </a:xfrm>
            <a:prstGeom prst="rect">
              <a:avLst/>
            </a:prstGeom>
            <a:ln w="12700" cap="flat">
              <a:noFill/>
              <a:miter lim="400000"/>
            </a:ln>
            <a:effectLst/>
          </p:spPr>
        </p:pic>
      </p:grpSp>
      <p:grpSp>
        <p:nvGrpSpPr>
          <p:cNvPr id="1859" name="Group 1859"/>
          <p:cNvGrpSpPr/>
          <p:nvPr/>
        </p:nvGrpSpPr>
        <p:grpSpPr>
          <a:xfrm>
            <a:off x="685800" y="5666541"/>
            <a:ext cx="5891848" cy="3647366"/>
            <a:chOff x="0" y="0"/>
            <a:chExt cx="5891847" cy="3647364"/>
          </a:xfrm>
        </p:grpSpPr>
        <p:sp>
          <p:nvSpPr>
            <p:cNvPr id="1856" name="Shape 1856"/>
            <p:cNvSpPr/>
            <p:nvPr/>
          </p:nvSpPr>
          <p:spPr>
            <a:xfrm>
              <a:off x="0" y="1470858"/>
              <a:ext cx="2876987" cy="21765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5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Herpesvirus</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Nearly 100 herpesviruses are known. Types found in humans include those that cause cold sores, chickenpox, shingles, and genital herpes.</a:t>
              </a:r>
            </a:p>
          </p:txBody>
        </p:sp>
        <p:sp>
          <p:nvSpPr>
            <p:cNvPr id="1857" name="Shape 1857"/>
            <p:cNvSpPr/>
            <p:nvPr/>
          </p:nvSpPr>
          <p:spPr>
            <a:xfrm flipH="1">
              <a:off x="3615266" y="-1"/>
              <a:ext cx="2276582" cy="1648660"/>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858" name="Viral pathogens herpesvirus.png"/>
            <p:cNvPicPr>
              <a:picLocks noChangeAspect="1"/>
            </p:cNvPicPr>
            <p:nvPr/>
          </p:nvPicPr>
          <p:blipFill>
            <a:blip r:embed="rId5"/>
            <a:stretch>
              <a:fillRect/>
            </a:stretch>
          </p:blipFill>
          <p:spPr>
            <a:xfrm>
              <a:off x="3088640" y="1010522"/>
              <a:ext cx="1085605" cy="1026391"/>
            </a:xfrm>
            <a:prstGeom prst="rect">
              <a:avLst/>
            </a:prstGeom>
            <a:ln w="12700" cap="flat">
              <a:noFill/>
              <a:miter lim="400000"/>
            </a:ln>
            <a:effectLst/>
          </p:spPr>
        </p:pic>
      </p:grpSp>
      <p:grpSp>
        <p:nvGrpSpPr>
          <p:cNvPr id="1864" name="Group 1864"/>
          <p:cNvGrpSpPr/>
          <p:nvPr/>
        </p:nvGrpSpPr>
        <p:grpSpPr>
          <a:xfrm>
            <a:off x="685799" y="3159349"/>
            <a:ext cx="5001883" cy="1849257"/>
            <a:chOff x="0" y="0"/>
            <a:chExt cx="5001881" cy="1849256"/>
          </a:xfrm>
        </p:grpSpPr>
        <p:grpSp>
          <p:nvGrpSpPr>
            <p:cNvPr id="1862" name="Group 1862"/>
            <p:cNvGrpSpPr/>
            <p:nvPr/>
          </p:nvGrpSpPr>
          <p:grpSpPr>
            <a:xfrm>
              <a:off x="0" y="0"/>
              <a:ext cx="5001882" cy="1849257"/>
              <a:chOff x="0" y="376462"/>
              <a:chExt cx="5001881" cy="1849256"/>
            </a:xfrm>
          </p:grpSpPr>
          <p:sp>
            <p:nvSpPr>
              <p:cNvPr id="1860" name="Shape 1860"/>
              <p:cNvSpPr/>
              <p:nvPr/>
            </p:nvSpPr>
            <p:spPr>
              <a:xfrm>
                <a:off x="0" y="1001712"/>
                <a:ext cx="2349500" cy="12240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5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HIV</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The human immuno- deficiency virus (HIV) causes AIDS.   </a:t>
                </a:r>
              </a:p>
            </p:txBody>
          </p:sp>
          <p:sp>
            <p:nvSpPr>
              <p:cNvPr id="1861" name="Shape 1861"/>
              <p:cNvSpPr/>
              <p:nvPr/>
            </p:nvSpPr>
            <p:spPr>
              <a:xfrm flipH="1">
                <a:off x="3530599" y="376462"/>
                <a:ext cx="1471283" cy="870784"/>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pic>
          <p:nvPicPr>
            <p:cNvPr id="1863" name="Viral pathogens HIV.png"/>
            <p:cNvPicPr>
              <a:picLocks noChangeAspect="1"/>
            </p:cNvPicPr>
            <p:nvPr/>
          </p:nvPicPr>
          <p:blipFill>
            <a:blip r:embed="rId6"/>
            <a:stretch>
              <a:fillRect/>
            </a:stretch>
          </p:blipFill>
          <p:spPr>
            <a:xfrm>
              <a:off x="2401134" y="324062"/>
              <a:ext cx="1483950" cy="1500316"/>
            </a:xfrm>
            <a:prstGeom prst="rect">
              <a:avLst/>
            </a:prstGeom>
            <a:ln w="12700" cap="flat">
              <a:noFill/>
              <a:miter lim="400000"/>
            </a:ln>
            <a:effectLst/>
          </p:spPr>
        </p:pic>
      </p:grpSp>
      <p:grpSp>
        <p:nvGrpSpPr>
          <p:cNvPr id="1868" name="Group 1868"/>
          <p:cNvGrpSpPr/>
          <p:nvPr/>
        </p:nvGrpSpPr>
        <p:grpSpPr>
          <a:xfrm>
            <a:off x="6756400" y="3151246"/>
            <a:ext cx="5816600" cy="1730360"/>
            <a:chOff x="0" y="0"/>
            <a:chExt cx="5816600" cy="1730358"/>
          </a:xfrm>
        </p:grpSpPr>
        <p:sp>
          <p:nvSpPr>
            <p:cNvPr id="1865" name="Shape 1865"/>
            <p:cNvSpPr/>
            <p:nvPr/>
          </p:nvSpPr>
          <p:spPr>
            <a:xfrm>
              <a:off x="2870200" y="188853"/>
              <a:ext cx="2946400" cy="15415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5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Influenzavirus</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This virus causes influenza in humans. Rapid mutation has resulted in many strains.</a:t>
              </a:r>
            </a:p>
          </p:txBody>
        </p:sp>
        <p:sp>
          <p:nvSpPr>
            <p:cNvPr id="1866" name="Shape 1866"/>
            <p:cNvSpPr/>
            <p:nvPr/>
          </p:nvSpPr>
          <p:spPr>
            <a:xfrm>
              <a:off x="0" y="218486"/>
              <a:ext cx="1744134" cy="3048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867" name="Viral pathogens influenza.png"/>
            <p:cNvPicPr>
              <a:picLocks noChangeAspect="1"/>
            </p:cNvPicPr>
            <p:nvPr/>
          </p:nvPicPr>
          <p:blipFill>
            <a:blip r:embed="rId7"/>
            <a:stretch>
              <a:fillRect/>
            </a:stretch>
          </p:blipFill>
          <p:spPr>
            <a:xfrm>
              <a:off x="1436528" y="0"/>
              <a:ext cx="1271033" cy="1271032"/>
            </a:xfrm>
            <a:prstGeom prst="rect">
              <a:avLst/>
            </a:prstGeom>
            <a:ln w="12700" cap="flat">
              <a:noFill/>
              <a:miter lim="400000"/>
            </a:ln>
            <a:effectLst/>
          </p:spPr>
        </p:pic>
      </p:grpSp>
      <p:grpSp>
        <p:nvGrpSpPr>
          <p:cNvPr id="1872" name="Group 1872"/>
          <p:cNvGrpSpPr/>
          <p:nvPr/>
        </p:nvGrpSpPr>
        <p:grpSpPr>
          <a:xfrm>
            <a:off x="6570133" y="1381045"/>
            <a:ext cx="5266267" cy="1468561"/>
            <a:chOff x="0" y="0"/>
            <a:chExt cx="5266266" cy="1468560"/>
          </a:xfrm>
        </p:grpSpPr>
        <p:sp>
          <p:nvSpPr>
            <p:cNvPr id="1869" name="Shape 1869"/>
            <p:cNvSpPr/>
            <p:nvPr/>
          </p:nvSpPr>
          <p:spPr>
            <a:xfrm>
              <a:off x="3031066" y="244554"/>
              <a:ext cx="2235201" cy="12240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5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Lyssavirus</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This bullet-shaped virus causes rabies.</a:t>
              </a:r>
            </a:p>
          </p:txBody>
        </p:sp>
        <p:sp>
          <p:nvSpPr>
            <p:cNvPr id="1870" name="Shape 1870"/>
            <p:cNvSpPr/>
            <p:nvPr/>
          </p:nvSpPr>
          <p:spPr>
            <a:xfrm>
              <a:off x="0" y="346154"/>
              <a:ext cx="1930400" cy="2032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871" name="Viral pathogens lyssavirus.png"/>
            <p:cNvPicPr>
              <a:picLocks noChangeAspect="1"/>
            </p:cNvPicPr>
            <p:nvPr/>
          </p:nvPicPr>
          <p:blipFill>
            <a:blip r:embed="rId8"/>
            <a:stretch>
              <a:fillRect/>
            </a:stretch>
          </p:blipFill>
          <p:spPr>
            <a:xfrm>
              <a:off x="1668515" y="0"/>
              <a:ext cx="1160036" cy="1199694"/>
            </a:xfrm>
            <a:prstGeom prst="rect">
              <a:avLst/>
            </a:prstGeom>
            <a:ln w="12700" cap="flat">
              <a:noFill/>
              <a:miter lim="400000"/>
            </a:ln>
            <a:effectLst/>
          </p:spPr>
        </p:pic>
      </p:grpSp>
      <p:grpSp>
        <p:nvGrpSpPr>
          <p:cNvPr id="1876" name="Group 1876"/>
          <p:cNvGrpSpPr/>
          <p:nvPr/>
        </p:nvGrpSpPr>
        <p:grpSpPr>
          <a:xfrm>
            <a:off x="647700" y="5417575"/>
            <a:ext cx="4960991" cy="1356331"/>
            <a:chOff x="0" y="0"/>
            <a:chExt cx="4960990" cy="1356330"/>
          </a:xfrm>
        </p:grpSpPr>
        <p:sp>
          <p:nvSpPr>
            <p:cNvPr id="1873" name="Shape 1873"/>
            <p:cNvSpPr/>
            <p:nvPr/>
          </p:nvSpPr>
          <p:spPr>
            <a:xfrm>
              <a:off x="0" y="132324"/>
              <a:ext cx="2425700" cy="122400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5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Papillomavirus</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This virus causes the formation of warts in humans.</a:t>
              </a:r>
            </a:p>
          </p:txBody>
        </p:sp>
        <p:sp>
          <p:nvSpPr>
            <p:cNvPr id="1874" name="Shape 1874"/>
            <p:cNvSpPr/>
            <p:nvPr/>
          </p:nvSpPr>
          <p:spPr>
            <a:xfrm flipH="1">
              <a:off x="3365500" y="111727"/>
              <a:ext cx="1595491" cy="448165"/>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875" name="Viral pathogens papilloma.png"/>
            <p:cNvPicPr>
              <a:picLocks noChangeAspect="1"/>
            </p:cNvPicPr>
            <p:nvPr/>
          </p:nvPicPr>
          <p:blipFill>
            <a:blip r:embed="rId9"/>
            <a:stretch>
              <a:fillRect/>
            </a:stretch>
          </p:blipFill>
          <p:spPr>
            <a:xfrm>
              <a:off x="2683748" y="0"/>
              <a:ext cx="900758" cy="918654"/>
            </a:xfrm>
            <a:prstGeom prst="rect">
              <a:avLst/>
            </a:prstGeom>
            <a:ln w="12700" cap="flat">
              <a:noFill/>
              <a:miter lim="400000"/>
            </a:ln>
            <a:effectLst/>
          </p:spPr>
        </p:pic>
      </p:grpSp>
      <p:grpSp>
        <p:nvGrpSpPr>
          <p:cNvPr id="1880" name="Group 1880"/>
          <p:cNvGrpSpPr/>
          <p:nvPr/>
        </p:nvGrpSpPr>
        <p:grpSpPr>
          <a:xfrm>
            <a:off x="622300" y="1625600"/>
            <a:ext cx="5924345" cy="1503406"/>
            <a:chOff x="0" y="0"/>
            <a:chExt cx="5924344" cy="1503405"/>
          </a:xfrm>
        </p:grpSpPr>
        <p:sp>
          <p:nvSpPr>
            <p:cNvPr id="1877" name="Shape 1877"/>
            <p:cNvSpPr/>
            <p:nvPr/>
          </p:nvSpPr>
          <p:spPr>
            <a:xfrm>
              <a:off x="0" y="0"/>
              <a:ext cx="3113009" cy="150340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1900">
                  <a:solidFill>
                    <a:srgbClr val="006795"/>
                  </a:solidFill>
                  <a:latin typeface="Hoefler Text"/>
                  <a:ea typeface="Hoefler Text"/>
                  <a:cs typeface="Hoefler Text"/>
                  <a:sym typeface="Hoefler Text"/>
                </a:defRPr>
              </a:pPr>
              <a:r>
                <a:rPr b="1">
                  <a:latin typeface="+mn-lt"/>
                  <a:ea typeface="+mn-ea"/>
                  <a:cs typeface="+mn-cs"/>
                  <a:sym typeface="Arial"/>
                </a:rPr>
                <a:t>Rhinovirus</a:t>
              </a:r>
              <a:endParaRPr>
                <a:latin typeface="+mn-lt"/>
                <a:ea typeface="+mn-ea"/>
                <a:cs typeface="+mn-cs"/>
                <a:sym typeface="Arial"/>
              </a:endParaRPr>
            </a:p>
            <a:p>
              <a:pPr>
                <a:lnSpc>
                  <a:spcPts val="2500"/>
                </a:lnSpc>
                <a:tabLst>
                  <a:tab pos="520700" algn="l"/>
                </a:tabLst>
                <a:defRPr sz="1900">
                  <a:solidFill>
                    <a:srgbClr val="006795"/>
                  </a:solidFill>
                  <a:latin typeface="Hoefler Text"/>
                  <a:ea typeface="Hoefler Text"/>
                  <a:cs typeface="Hoefler Text"/>
                  <a:sym typeface="Hoefler Text"/>
                </a:defRPr>
              </a:pPr>
              <a:r>
                <a:rPr>
                  <a:latin typeface="+mn-lt"/>
                  <a:ea typeface="+mn-ea"/>
                  <a:cs typeface="+mn-cs"/>
                  <a:sym typeface="Arial"/>
                </a:rPr>
                <a:t>More than 100 rhinoviruses have been identified. They are the most common cause of </a:t>
              </a:r>
              <a:r>
                <a:rPr b="1">
                  <a:latin typeface="+mn-lt"/>
                  <a:ea typeface="+mn-ea"/>
                  <a:cs typeface="+mn-cs"/>
                  <a:sym typeface="Arial"/>
                </a:rPr>
                <a:t>colds</a:t>
              </a:r>
              <a:r>
                <a:rPr>
                  <a:latin typeface="+mn-lt"/>
                  <a:ea typeface="+mn-ea"/>
                  <a:cs typeface="+mn-cs"/>
                  <a:sym typeface="Arial"/>
                </a:rPr>
                <a:t>.</a:t>
              </a:r>
            </a:p>
          </p:txBody>
        </p:sp>
        <p:sp>
          <p:nvSpPr>
            <p:cNvPr id="1878" name="Shape 1878"/>
            <p:cNvSpPr/>
            <p:nvPr/>
          </p:nvSpPr>
          <p:spPr>
            <a:xfrm flipH="1" flipV="1">
              <a:off x="3695699" y="592666"/>
              <a:ext cx="2228646" cy="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879" name="Viral pathogens rhinovirus.png"/>
            <p:cNvPicPr>
              <a:picLocks noChangeAspect="1"/>
            </p:cNvPicPr>
            <p:nvPr/>
          </p:nvPicPr>
          <p:blipFill>
            <a:blip r:embed="rId10"/>
            <a:stretch>
              <a:fillRect/>
            </a:stretch>
          </p:blipFill>
          <p:spPr>
            <a:xfrm>
              <a:off x="3213457" y="177169"/>
              <a:ext cx="918236" cy="838593"/>
            </a:xfrm>
            <a:prstGeom prst="rect">
              <a:avLst/>
            </a:prstGeom>
            <a:ln w="12700" cap="flat">
              <a:noFill/>
              <a:miter lim="400000"/>
            </a:ln>
            <a:effectLst/>
          </p:spPr>
        </p:pic>
      </p:grpSp>
      <p:sp>
        <p:nvSpPr>
          <p:cNvPr id="1881" name="Shape 1881"/>
          <p:cNvSpPr/>
          <p:nvPr/>
        </p:nvSpPr>
        <p:spPr>
          <a:xfrm>
            <a:off x="8108875" y="9373638"/>
            <a:ext cx="362670" cy="175724"/>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500">
                <a:solidFill>
                  <a:srgbClr val="000000"/>
                </a:solidFill>
              </a:defRPr>
            </a:lvl1pPr>
          </a:lstStyle>
          <a:p>
            <a:r>
              <a:t>DPC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8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8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8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87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18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p:tmAbs val="0"/>
                                  </p:iterate>
                                  <p:childTnLst>
                                    <p:set>
                                      <p:cBhvr>
                                        <p:cTn id="30" fill="hold"/>
                                        <p:tgtEl>
                                          <p:spTgt spid="18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p:tmAbs val="0"/>
                                  </p:iterate>
                                  <p:childTnLst>
                                    <p:set>
                                      <p:cBhvr>
                                        <p:cTn id="34" fill="hold"/>
                                        <p:tgtEl>
                                          <p:spTgt spid="18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18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1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9" grpId="0" animBg="1" advAuto="0"/>
      <p:bldP spid="1850" grpId="0" animBg="1" advAuto="0"/>
      <p:bldP spid="1851" grpId="0" animBg="1" advAuto="0"/>
      <p:bldP spid="1855" grpId="0" animBg="1" advAuto="0"/>
      <p:bldP spid="1859" grpId="0" animBg="1" advAuto="0"/>
      <p:bldP spid="1864" grpId="0" animBg="1" advAuto="0"/>
      <p:bldP spid="1868" grpId="0" animBg="1" advAuto="0"/>
      <p:bldP spid="1872" grpId="0" animBg="1" advAuto="0"/>
      <p:bldP spid="1876" grpId="0" animBg="1" advAuto="0"/>
      <p:bldP spid="1880"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43" y="2815389"/>
            <a:ext cx="13291153" cy="6670591"/>
          </a:xfrm>
          <a:prstGeom prst="rect">
            <a:avLst/>
          </a:prstGeom>
        </p:spPr>
      </p:pic>
      <p:grpSp>
        <p:nvGrpSpPr>
          <p:cNvPr id="1888" name="Group 1888"/>
          <p:cNvGrpSpPr/>
          <p:nvPr/>
        </p:nvGrpSpPr>
        <p:grpSpPr>
          <a:xfrm>
            <a:off x="3411405" y="6421120"/>
            <a:ext cx="3891095" cy="2231971"/>
            <a:chOff x="-618728" y="223520"/>
            <a:chExt cx="3891094" cy="2231970"/>
          </a:xfrm>
        </p:grpSpPr>
        <p:sp>
          <p:nvSpPr>
            <p:cNvPr id="1884" name="Shape 1884"/>
            <p:cNvSpPr/>
            <p:nvPr/>
          </p:nvSpPr>
          <p:spPr>
            <a:xfrm>
              <a:off x="-618729" y="994978"/>
              <a:ext cx="3123586" cy="859990"/>
            </a:xfrm>
            <a:custGeom>
              <a:avLst/>
              <a:gdLst/>
              <a:ahLst/>
              <a:cxnLst>
                <a:cxn ang="0">
                  <a:pos x="wd2" y="hd2"/>
                </a:cxn>
                <a:cxn ang="5400000">
                  <a:pos x="wd2" y="hd2"/>
                </a:cxn>
                <a:cxn ang="10800000">
                  <a:pos x="wd2" y="hd2"/>
                </a:cxn>
                <a:cxn ang="16200000">
                  <a:pos x="wd2" y="hd2"/>
                </a:cxn>
              </a:cxnLst>
              <a:rect l="0" t="0" r="r" b="b"/>
              <a:pathLst>
                <a:path w="21600" h="20444" extrusionOk="0">
                  <a:moveTo>
                    <a:pt x="21600" y="16377"/>
                  </a:moveTo>
                  <a:lnTo>
                    <a:pt x="21023" y="17183"/>
                  </a:lnTo>
                  <a:cubicBezTo>
                    <a:pt x="17969" y="20194"/>
                    <a:pt x="13858" y="21600"/>
                    <a:pt x="9659" y="19303"/>
                  </a:cubicBezTo>
                  <a:cubicBezTo>
                    <a:pt x="6107" y="17361"/>
                    <a:pt x="2172" y="12967"/>
                    <a:pt x="0" y="0"/>
                  </a:cubicBezTo>
                </a:path>
              </a:pathLst>
            </a:custGeom>
            <a:noFill/>
            <a:ln w="25400" cap="flat">
              <a:solidFill>
                <a:srgbClr val="000000"/>
              </a:solidFill>
              <a:prstDash val="solid"/>
              <a:miter lim="400000"/>
              <a:head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85" name="Shape 1885"/>
            <p:cNvSpPr/>
            <p:nvPr/>
          </p:nvSpPr>
          <p:spPr>
            <a:xfrm>
              <a:off x="1672166" y="2171700"/>
              <a:ext cx="1600201" cy="2837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700"/>
                </a:lnSpc>
                <a:tabLst>
                  <a:tab pos="520700" algn="l"/>
                </a:tabLst>
                <a:defRPr sz="2000" b="1"/>
              </a:lvl1pPr>
            </a:lstStyle>
            <a:p>
              <a:pPr>
                <a:defRPr sz="1800"/>
              </a:pPr>
              <a:r>
                <a:rPr sz="2000"/>
                <a:t>Penetration</a:t>
              </a:r>
            </a:p>
          </p:txBody>
        </p:sp>
        <p:sp>
          <p:nvSpPr>
            <p:cNvPr id="1886" name="Shape 1886"/>
            <p:cNvSpPr/>
            <p:nvPr/>
          </p:nvSpPr>
          <p:spPr>
            <a:xfrm>
              <a:off x="-67338" y="223520"/>
              <a:ext cx="1850669"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100"/>
                </a:lnSpc>
                <a:tabLst>
                  <a:tab pos="520700" algn="l"/>
                </a:tabLst>
                <a:defRPr>
                  <a:solidFill>
                    <a:srgbClr val="000000"/>
                  </a:solidFill>
                </a:defRPr>
              </a:lvl1pPr>
            </a:lstStyle>
            <a:p>
              <a:r>
                <a:t>Host plasma membrane engulfs capsid</a:t>
              </a:r>
            </a:p>
          </p:txBody>
        </p:sp>
        <p:sp>
          <p:nvSpPr>
            <p:cNvPr id="1887" name="Shape 1887"/>
            <p:cNvSpPr/>
            <p:nvPr/>
          </p:nvSpPr>
          <p:spPr>
            <a:xfrm flipH="1" flipV="1">
              <a:off x="1449561" y="430410"/>
              <a:ext cx="1303701" cy="407790"/>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1889" name="Shape 1889"/>
          <p:cNvSpPr>
            <a:spLocks noGrp="1"/>
          </p:cNvSpPr>
          <p:nvPr>
            <p:ph type="title"/>
          </p:nvPr>
        </p:nvSpPr>
        <p:spPr>
          <a:prstGeom prst="rect">
            <a:avLst/>
          </a:prstGeom>
        </p:spPr>
        <p:txBody>
          <a:bodyPr/>
          <a:lstStyle>
            <a:lvl1pPr>
              <a:tabLst>
                <a:tab pos="952500" algn="l"/>
              </a:tabLst>
            </a:lvl1pPr>
          </a:lstStyle>
          <a:p>
            <a:r>
              <a:t>Viral Infection</a:t>
            </a:r>
          </a:p>
        </p:txBody>
      </p:sp>
      <p:sp>
        <p:nvSpPr>
          <p:cNvPr id="1890" name="Shape 1890"/>
          <p:cNvSpPr>
            <a:spLocks noGrp="1"/>
          </p:cNvSpPr>
          <p:nvPr>
            <p:ph type="body" sz="quarter" idx="1"/>
          </p:nvPr>
        </p:nvSpPr>
        <p:spPr>
          <a:xfrm>
            <a:off x="368300" y="1790700"/>
            <a:ext cx="11383447" cy="799108"/>
          </a:xfrm>
          <a:prstGeom prst="rect">
            <a:avLst/>
          </a:prstGeom>
        </p:spPr>
        <p:txBody>
          <a:bodyPr/>
          <a:lstStyle>
            <a:lvl1pPr>
              <a:tabLst>
                <a:tab pos="1016000" algn="l"/>
              </a:tabLst>
            </a:lvl1pPr>
          </a:lstStyle>
          <a:p>
            <a:r>
              <a:rPr dirty="0"/>
              <a:t>Viral particles (virions) are engulfed by phagocytes (phagocytic white blood cells) as part of the host’s normal defence response.</a:t>
            </a:r>
          </a:p>
        </p:txBody>
      </p:sp>
      <p:grpSp>
        <p:nvGrpSpPr>
          <p:cNvPr id="1897" name="Group 1897"/>
          <p:cNvGrpSpPr/>
          <p:nvPr/>
        </p:nvGrpSpPr>
        <p:grpSpPr>
          <a:xfrm>
            <a:off x="243840" y="3101340"/>
            <a:ext cx="3451860" cy="5541591"/>
            <a:chOff x="-132079" y="-505459"/>
            <a:chExt cx="3451859" cy="5541590"/>
          </a:xfrm>
        </p:grpSpPr>
        <p:sp>
          <p:nvSpPr>
            <p:cNvPr id="1891" name="Shape 1891"/>
            <p:cNvSpPr/>
            <p:nvPr/>
          </p:nvSpPr>
          <p:spPr>
            <a:xfrm>
              <a:off x="1757679" y="4752340"/>
              <a:ext cx="1562101" cy="2837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700"/>
                </a:lnSpc>
                <a:tabLst>
                  <a:tab pos="520700" algn="l"/>
                </a:tabLst>
                <a:defRPr sz="2000" b="1"/>
              </a:lvl1pPr>
            </a:lstStyle>
            <a:p>
              <a:pPr>
                <a:defRPr sz="1800"/>
              </a:pPr>
              <a:r>
                <a:rPr sz="2000"/>
                <a:t>Attachment </a:t>
              </a:r>
            </a:p>
          </p:txBody>
        </p:sp>
        <p:grpSp>
          <p:nvGrpSpPr>
            <p:cNvPr id="1896" name="Group 1896"/>
            <p:cNvGrpSpPr/>
            <p:nvPr/>
          </p:nvGrpSpPr>
          <p:grpSpPr>
            <a:xfrm>
              <a:off x="-132080" y="-505460"/>
              <a:ext cx="3302874" cy="4649150"/>
              <a:chOff x="-132079" y="-505459"/>
              <a:chExt cx="3302873" cy="4649149"/>
            </a:xfrm>
          </p:grpSpPr>
          <p:sp>
            <p:nvSpPr>
              <p:cNvPr id="1892" name="Shape 1892"/>
              <p:cNvSpPr/>
              <p:nvPr/>
            </p:nvSpPr>
            <p:spPr>
              <a:xfrm>
                <a:off x="375920" y="2028612"/>
                <a:ext cx="1601770" cy="211507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0591" y="21481"/>
                    </a:lnTo>
                    <a:cubicBezTo>
                      <a:pt x="20591" y="21481"/>
                      <a:pt x="187" y="19180"/>
                      <a:pt x="0" y="0"/>
                    </a:cubicBezTo>
                  </a:path>
                </a:pathLst>
              </a:custGeom>
              <a:noFill/>
              <a:ln w="25400" cap="flat">
                <a:solidFill>
                  <a:srgbClr val="000000"/>
                </a:solidFill>
                <a:prstDash val="solid"/>
                <a:miter lim="400000"/>
                <a:head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893" name="Shape 1893"/>
              <p:cNvSpPr/>
              <p:nvPr/>
            </p:nvSpPr>
            <p:spPr>
              <a:xfrm>
                <a:off x="-132080" y="-505460"/>
                <a:ext cx="2438401" cy="8180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a:solidFill>
                      <a:srgbClr val="000000"/>
                    </a:solidFill>
                  </a:defRPr>
                </a:pPr>
                <a:r>
                  <a:t>Enveloped virion such as the herpes simplex virus or </a:t>
                </a:r>
                <a:r>
                  <a:rPr i="1"/>
                  <a:t>Influenzavirus</a:t>
                </a:r>
              </a:p>
            </p:txBody>
          </p:sp>
          <p:sp>
            <p:nvSpPr>
              <p:cNvPr id="1894" name="Shape 1894"/>
              <p:cNvSpPr/>
              <p:nvPr/>
            </p:nvSpPr>
            <p:spPr>
              <a:xfrm>
                <a:off x="-43181" y="1036319"/>
                <a:ext cx="1524001" cy="8180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200"/>
                  </a:lnSpc>
                  <a:tabLst>
                    <a:tab pos="520700" algn="l"/>
                  </a:tabLst>
                  <a:defRPr>
                    <a:solidFill>
                      <a:srgbClr val="000000"/>
                    </a:solidFill>
                  </a:defRPr>
                </a:lvl1pPr>
              </a:lstStyle>
              <a:p>
                <a:r>
                  <a:t>Protein in the cell’s plasma membrane</a:t>
                </a:r>
              </a:p>
            </p:txBody>
          </p:sp>
          <p:sp>
            <p:nvSpPr>
              <p:cNvPr id="1895" name="Shape 1895"/>
              <p:cNvSpPr/>
              <p:nvPr/>
            </p:nvSpPr>
            <p:spPr>
              <a:xfrm flipH="1" flipV="1">
                <a:off x="2362557" y="-294402"/>
                <a:ext cx="808237" cy="531416"/>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sp>
        <p:nvSpPr>
          <p:cNvPr id="1898" name="Shape 1898"/>
          <p:cNvSpPr/>
          <p:nvPr/>
        </p:nvSpPr>
        <p:spPr>
          <a:xfrm>
            <a:off x="1051560" y="8841740"/>
            <a:ext cx="107979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400"/>
              </a:lnSpc>
              <a:tabLst>
                <a:tab pos="520700" algn="l"/>
              </a:tabLst>
              <a:defRPr b="1">
                <a:solidFill>
                  <a:srgbClr val="201B17"/>
                </a:solidFill>
              </a:defRPr>
            </a:lvl1pPr>
          </a:lstStyle>
          <a:p>
            <a:pPr>
              <a:defRPr>
                <a:solidFill>
                  <a:srgbClr val="006994"/>
                </a:solidFill>
              </a:defRPr>
            </a:pPr>
            <a:r>
              <a:rPr>
                <a:solidFill>
                  <a:srgbClr val="201B17"/>
                </a:solidFill>
              </a:rPr>
              <a:t>Host cell</a:t>
            </a:r>
          </a:p>
        </p:txBody>
      </p:sp>
      <p:grpSp>
        <p:nvGrpSpPr>
          <p:cNvPr id="1907" name="Group 1907"/>
          <p:cNvGrpSpPr/>
          <p:nvPr/>
        </p:nvGrpSpPr>
        <p:grpSpPr>
          <a:xfrm>
            <a:off x="4331978" y="3400984"/>
            <a:ext cx="6856722" cy="2954905"/>
            <a:chOff x="-30480" y="505384"/>
            <a:chExt cx="6856721" cy="2954904"/>
          </a:xfrm>
        </p:grpSpPr>
        <p:sp>
          <p:nvSpPr>
            <p:cNvPr id="1899" name="Shape 1899"/>
            <p:cNvSpPr/>
            <p:nvPr/>
          </p:nvSpPr>
          <p:spPr>
            <a:xfrm flipH="1">
              <a:off x="2819927" y="1984150"/>
              <a:ext cx="493834" cy="1476139"/>
            </a:xfrm>
            <a:prstGeom prst="line">
              <a:avLst/>
            </a:prstGeom>
            <a:noFill/>
            <a:ln w="25400" cap="flat">
              <a:solidFill>
                <a:srgbClr val="000000"/>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00" name="Shape 1900"/>
            <p:cNvSpPr/>
            <p:nvPr/>
          </p:nvSpPr>
          <p:spPr>
            <a:xfrm>
              <a:off x="-30481" y="699705"/>
              <a:ext cx="785276" cy="56591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924"/>
                  </a:lnTo>
                  <a:lnTo>
                    <a:pt x="8680" y="21600"/>
                  </a:lnTo>
                </a:path>
              </a:pathLst>
            </a:custGeom>
            <a:noFill/>
            <a:ln w="25400" cap="flat">
              <a:solidFill>
                <a:srgbClr val="000000"/>
              </a:solidFill>
              <a:prstDash val="solid"/>
              <a:miter lim="400000"/>
              <a:headEnd type="triangle" w="med" len="med"/>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01" name="Shape 1901"/>
            <p:cNvSpPr/>
            <p:nvPr/>
          </p:nvSpPr>
          <p:spPr>
            <a:xfrm>
              <a:off x="712461" y="505384"/>
              <a:ext cx="2794001" cy="538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200"/>
                </a:lnSpc>
                <a:tabLst>
                  <a:tab pos="520700" algn="l"/>
                </a:tabLst>
                <a:defRPr>
                  <a:solidFill>
                    <a:srgbClr val="000000"/>
                  </a:solidFill>
                </a:defRPr>
              </a:lvl1pPr>
            </a:lstStyle>
            <a:p>
              <a:r>
                <a:t>Envelope with attachment spikes or fibres</a:t>
              </a:r>
            </a:p>
          </p:txBody>
        </p:sp>
        <p:sp>
          <p:nvSpPr>
            <p:cNvPr id="1902" name="Shape 1902"/>
            <p:cNvSpPr/>
            <p:nvPr/>
          </p:nvSpPr>
          <p:spPr>
            <a:xfrm>
              <a:off x="514341" y="1346200"/>
              <a:ext cx="1841501" cy="538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200"/>
                </a:lnSpc>
                <a:tabLst>
                  <a:tab pos="520700" algn="l"/>
                </a:tabLst>
                <a:defRPr>
                  <a:solidFill>
                    <a:srgbClr val="000000"/>
                  </a:solidFill>
                </a:defRPr>
              </a:lvl1pPr>
            </a:lstStyle>
            <a:p>
              <a:r>
                <a:t>Receptor portion of protein</a:t>
              </a:r>
            </a:p>
          </p:txBody>
        </p:sp>
        <p:sp>
          <p:nvSpPr>
            <p:cNvPr id="1903" name="Shape 1903"/>
            <p:cNvSpPr/>
            <p:nvPr/>
          </p:nvSpPr>
          <p:spPr>
            <a:xfrm>
              <a:off x="2819391" y="1346200"/>
              <a:ext cx="1625601" cy="538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200"/>
                </a:lnSpc>
                <a:tabLst>
                  <a:tab pos="520700" algn="l"/>
                </a:tabLst>
                <a:defRPr>
                  <a:solidFill>
                    <a:srgbClr val="000000"/>
                  </a:solidFill>
                </a:defRPr>
              </a:lvl1pPr>
            </a:lstStyle>
            <a:p>
              <a:r>
                <a:t>Viral envelope is discarded</a:t>
              </a:r>
            </a:p>
          </p:txBody>
        </p:sp>
        <p:sp>
          <p:nvSpPr>
            <p:cNvPr id="1904" name="Shape 1904"/>
            <p:cNvSpPr/>
            <p:nvPr/>
          </p:nvSpPr>
          <p:spPr>
            <a:xfrm>
              <a:off x="4908541" y="1524000"/>
              <a:ext cx="191770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200"/>
                </a:lnSpc>
                <a:tabLst>
                  <a:tab pos="520700" algn="l"/>
                </a:tabLst>
                <a:defRPr>
                  <a:solidFill>
                    <a:srgbClr val="000000"/>
                  </a:solidFill>
                </a:defRPr>
              </a:lvl1pPr>
            </a:lstStyle>
            <a:p>
              <a:r>
                <a:t>Host cell surface</a:t>
              </a:r>
            </a:p>
          </p:txBody>
        </p:sp>
        <p:sp>
          <p:nvSpPr>
            <p:cNvPr id="1905" name="Shape 1905"/>
            <p:cNvSpPr/>
            <p:nvPr/>
          </p:nvSpPr>
          <p:spPr>
            <a:xfrm flipV="1">
              <a:off x="5873741" y="1841500"/>
              <a:ext cx="1" cy="584200"/>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906" name="Shape 1906"/>
            <p:cNvSpPr/>
            <p:nvPr/>
          </p:nvSpPr>
          <p:spPr>
            <a:xfrm flipH="1">
              <a:off x="251637" y="1970653"/>
              <a:ext cx="638634" cy="977729"/>
            </a:xfrm>
            <a:prstGeom prst="line">
              <a:avLst/>
            </a:prstGeom>
            <a:noFill/>
            <a:ln w="25400" cap="flat">
              <a:solidFill>
                <a:srgbClr val="000000"/>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912" name="Group 1912"/>
          <p:cNvGrpSpPr/>
          <p:nvPr/>
        </p:nvGrpSpPr>
        <p:grpSpPr>
          <a:xfrm>
            <a:off x="7376159" y="7847065"/>
            <a:ext cx="4859021" cy="1396137"/>
            <a:chOff x="-243840" y="637698"/>
            <a:chExt cx="4859019" cy="1396135"/>
          </a:xfrm>
        </p:grpSpPr>
        <p:sp>
          <p:nvSpPr>
            <p:cNvPr id="1908" name="Shape 1908"/>
            <p:cNvSpPr/>
            <p:nvPr/>
          </p:nvSpPr>
          <p:spPr>
            <a:xfrm>
              <a:off x="3078479" y="1144693"/>
              <a:ext cx="1536701" cy="28379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700"/>
                </a:lnSpc>
                <a:tabLst>
                  <a:tab pos="520700" algn="l"/>
                </a:tabLst>
                <a:defRPr sz="2000" b="1"/>
              </a:lvl1pPr>
            </a:lstStyle>
            <a:p>
              <a:pPr>
                <a:defRPr sz="1800"/>
              </a:pPr>
              <a:r>
                <a:rPr sz="2000"/>
                <a:t>Uncoating</a:t>
              </a:r>
            </a:p>
          </p:txBody>
        </p:sp>
        <p:sp>
          <p:nvSpPr>
            <p:cNvPr id="1909" name="Shape 1909"/>
            <p:cNvSpPr/>
            <p:nvPr/>
          </p:nvSpPr>
          <p:spPr>
            <a:xfrm>
              <a:off x="-243841" y="1774612"/>
              <a:ext cx="3649823" cy="2592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200"/>
                </a:lnSpc>
                <a:tabLst>
                  <a:tab pos="520700" algn="l"/>
                </a:tabLst>
                <a:defRPr>
                  <a:solidFill>
                    <a:srgbClr val="000000"/>
                  </a:solidFill>
                </a:defRPr>
              </a:lvl1pPr>
            </a:lstStyle>
            <a:p>
              <a:r>
                <a:t>Virus is enclosed in a membrane</a:t>
              </a:r>
            </a:p>
          </p:txBody>
        </p:sp>
        <p:sp>
          <p:nvSpPr>
            <p:cNvPr id="1910" name="Shape 1910"/>
            <p:cNvSpPr/>
            <p:nvPr/>
          </p:nvSpPr>
          <p:spPr>
            <a:xfrm>
              <a:off x="81835" y="851274"/>
              <a:ext cx="844096" cy="214504"/>
            </a:xfrm>
            <a:custGeom>
              <a:avLst/>
              <a:gdLst/>
              <a:ahLst/>
              <a:cxnLst>
                <a:cxn ang="0">
                  <a:pos x="wd2" y="hd2"/>
                </a:cxn>
                <a:cxn ang="5400000">
                  <a:pos x="wd2" y="hd2"/>
                </a:cxn>
                <a:cxn ang="10800000">
                  <a:pos x="wd2" y="hd2"/>
                </a:cxn>
                <a:cxn ang="16200000">
                  <a:pos x="wd2" y="hd2"/>
                </a:cxn>
              </a:cxnLst>
              <a:rect l="0" t="0" r="r" b="b"/>
              <a:pathLst>
                <a:path w="21600" h="13824" extrusionOk="0">
                  <a:moveTo>
                    <a:pt x="0" y="0"/>
                  </a:moveTo>
                  <a:cubicBezTo>
                    <a:pt x="7204" y="21600"/>
                    <a:pt x="16734" y="13540"/>
                    <a:pt x="21600" y="4933"/>
                  </a:cubicBezTo>
                </a:path>
              </a:pathLst>
            </a:custGeom>
            <a:noFill/>
            <a:ln w="25400" cap="flat">
              <a:solidFill>
                <a:srgbClr val="000000"/>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11" name="Shape 1911"/>
            <p:cNvSpPr/>
            <p:nvPr/>
          </p:nvSpPr>
          <p:spPr>
            <a:xfrm rot="10800000" flipH="1">
              <a:off x="2321679" y="637698"/>
              <a:ext cx="642700" cy="245828"/>
            </a:xfrm>
            <a:custGeom>
              <a:avLst/>
              <a:gdLst/>
              <a:ahLst/>
              <a:cxnLst>
                <a:cxn ang="0">
                  <a:pos x="wd2" y="hd2"/>
                </a:cxn>
                <a:cxn ang="5400000">
                  <a:pos x="wd2" y="hd2"/>
                </a:cxn>
                <a:cxn ang="10800000">
                  <a:pos x="wd2" y="hd2"/>
                </a:cxn>
                <a:cxn ang="16200000">
                  <a:pos x="wd2" y="hd2"/>
                </a:cxn>
              </a:cxnLst>
              <a:rect l="0" t="0" r="r" b="b"/>
              <a:pathLst>
                <a:path w="21600" h="18314" extrusionOk="0">
                  <a:moveTo>
                    <a:pt x="0" y="2584"/>
                  </a:moveTo>
                  <a:cubicBezTo>
                    <a:pt x="7710" y="-1599"/>
                    <a:pt x="15419" y="-3286"/>
                    <a:pt x="21600" y="18314"/>
                  </a:cubicBezTo>
                </a:path>
              </a:pathLst>
            </a:custGeom>
            <a:noFill/>
            <a:ln w="25400" cap="flat">
              <a:solidFill>
                <a:srgbClr val="000000"/>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grpSp>
      <p:grpSp>
        <p:nvGrpSpPr>
          <p:cNvPr id="1915" name="Group 1915"/>
          <p:cNvGrpSpPr/>
          <p:nvPr/>
        </p:nvGrpSpPr>
        <p:grpSpPr>
          <a:xfrm>
            <a:off x="1668780" y="8161020"/>
            <a:ext cx="508001" cy="508001"/>
            <a:chOff x="-129539" y="325120"/>
            <a:chExt cx="508000" cy="508000"/>
          </a:xfrm>
        </p:grpSpPr>
        <p:sp>
          <p:nvSpPr>
            <p:cNvPr id="1913" name="Shape 1913"/>
            <p:cNvSpPr/>
            <p:nvPr/>
          </p:nvSpPr>
          <p:spPr>
            <a:xfrm>
              <a:off x="-129540" y="325120"/>
              <a:ext cx="508001" cy="508001"/>
            </a:xfrm>
            <a:prstGeom prst="ellipse">
              <a:avLst/>
            </a:prstGeom>
            <a:solidFill>
              <a:srgbClr val="006994"/>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14" name="Shape 1914"/>
            <p:cNvSpPr/>
            <p:nvPr/>
          </p:nvSpPr>
          <p:spPr>
            <a:xfrm>
              <a:off x="-78740" y="401320"/>
              <a:ext cx="296516"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800"/>
                </a:lnSpc>
                <a:tabLst>
                  <a:tab pos="520700" algn="l"/>
                </a:tabLst>
                <a:defRPr sz="2400" b="1">
                  <a:solidFill>
                    <a:srgbClr val="FFFFFF"/>
                  </a:solidFill>
                </a:defRPr>
              </a:lvl1pPr>
            </a:lstStyle>
            <a:p>
              <a:r>
                <a:t>1</a:t>
              </a:r>
            </a:p>
          </p:txBody>
        </p:sp>
      </p:grpSp>
      <p:grpSp>
        <p:nvGrpSpPr>
          <p:cNvPr id="1918" name="Group 1918"/>
          <p:cNvGrpSpPr/>
          <p:nvPr/>
        </p:nvGrpSpPr>
        <p:grpSpPr>
          <a:xfrm>
            <a:off x="5234940" y="8167247"/>
            <a:ext cx="508001" cy="508001"/>
            <a:chOff x="0" y="0"/>
            <a:chExt cx="508000" cy="508000"/>
          </a:xfrm>
        </p:grpSpPr>
        <p:sp>
          <p:nvSpPr>
            <p:cNvPr id="1916" name="Shape 1916"/>
            <p:cNvSpPr/>
            <p:nvPr/>
          </p:nvSpPr>
          <p:spPr>
            <a:xfrm>
              <a:off x="0" y="0"/>
              <a:ext cx="508000" cy="508000"/>
            </a:xfrm>
            <a:prstGeom prst="ellipse">
              <a:avLst/>
            </a:prstGeom>
            <a:solidFill>
              <a:srgbClr val="006994"/>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17" name="Shape 1917"/>
            <p:cNvSpPr/>
            <p:nvPr/>
          </p:nvSpPr>
          <p:spPr>
            <a:xfrm>
              <a:off x="50800" y="63500"/>
              <a:ext cx="296516"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800"/>
                </a:lnSpc>
                <a:tabLst>
                  <a:tab pos="520700" algn="l"/>
                </a:tabLst>
                <a:defRPr sz="2400" b="1">
                  <a:solidFill>
                    <a:srgbClr val="FFFFFF"/>
                  </a:solidFill>
                </a:defRPr>
              </a:lvl1pPr>
            </a:lstStyle>
            <a:p>
              <a:r>
                <a:t>2</a:t>
              </a:r>
            </a:p>
          </p:txBody>
        </p:sp>
      </p:grpSp>
      <p:grpSp>
        <p:nvGrpSpPr>
          <p:cNvPr id="1921" name="Group 1921"/>
          <p:cNvGrpSpPr/>
          <p:nvPr/>
        </p:nvGrpSpPr>
        <p:grpSpPr>
          <a:xfrm>
            <a:off x="10325100" y="8167247"/>
            <a:ext cx="508000" cy="508001"/>
            <a:chOff x="0" y="0"/>
            <a:chExt cx="508000" cy="508000"/>
          </a:xfrm>
        </p:grpSpPr>
        <p:sp>
          <p:nvSpPr>
            <p:cNvPr id="1919" name="Shape 1919"/>
            <p:cNvSpPr/>
            <p:nvPr/>
          </p:nvSpPr>
          <p:spPr>
            <a:xfrm>
              <a:off x="0" y="0"/>
              <a:ext cx="508000" cy="508000"/>
            </a:xfrm>
            <a:prstGeom prst="ellipse">
              <a:avLst/>
            </a:prstGeom>
            <a:solidFill>
              <a:srgbClr val="006994"/>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20" name="Shape 1920"/>
            <p:cNvSpPr/>
            <p:nvPr/>
          </p:nvSpPr>
          <p:spPr>
            <a:xfrm>
              <a:off x="63500" y="76200"/>
              <a:ext cx="296516"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800"/>
                </a:lnSpc>
                <a:tabLst>
                  <a:tab pos="520700" algn="l"/>
                </a:tabLst>
                <a:defRPr sz="2400" b="1">
                  <a:solidFill>
                    <a:srgbClr val="FFFFFF"/>
                  </a:solidFill>
                </a:defRPr>
              </a:lvl1pPr>
            </a:lstStyle>
            <a:p>
              <a:r>
                <a:t>3</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89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8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89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88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9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8" grpId="0" animBg="1" advAuto="0"/>
      <p:bldP spid="1890" grpId="0" build="p" bldLvl="5" animBg="1" advAuto="0"/>
      <p:bldP spid="1897" grpId="0" animBg="1" advAuto="0"/>
      <p:bldP spid="1907" grpId="0" animBg="1" advAuto="0"/>
      <p:bldP spid="1912"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3" name="Shape 1923"/>
          <p:cNvSpPr/>
          <p:nvPr/>
        </p:nvSpPr>
        <p:spPr>
          <a:xfrm>
            <a:off x="7928212" y="1918414"/>
            <a:ext cx="5076588" cy="7835186"/>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24" name="Shape 1924"/>
          <p:cNvSpPr>
            <a:spLocks noGrp="1"/>
          </p:cNvSpPr>
          <p:nvPr>
            <p:ph type="title"/>
          </p:nvPr>
        </p:nvSpPr>
        <p:spPr>
          <a:prstGeom prst="rect">
            <a:avLst/>
          </a:prstGeom>
        </p:spPr>
        <p:txBody>
          <a:bodyPr/>
          <a:lstStyle>
            <a:lvl1pPr>
              <a:tabLst>
                <a:tab pos="952500" algn="l"/>
              </a:tabLst>
            </a:lvl1pPr>
          </a:lstStyle>
          <a:p>
            <a:r>
              <a:t>Immune Deficiency Disease</a:t>
            </a:r>
          </a:p>
        </p:txBody>
      </p:sp>
      <p:sp>
        <p:nvSpPr>
          <p:cNvPr id="1925" name="Shape 1925"/>
          <p:cNvSpPr>
            <a:spLocks noGrp="1"/>
          </p:cNvSpPr>
          <p:nvPr>
            <p:ph type="body" sz="half" idx="1"/>
          </p:nvPr>
        </p:nvSpPr>
        <p:spPr>
          <a:prstGeom prst="rect">
            <a:avLst/>
          </a:prstGeom>
        </p:spPr>
        <p:txBody>
          <a:bodyPr/>
          <a:lstStyle/>
          <a:p>
            <a:pPr>
              <a:tabLst>
                <a:tab pos="1016000" algn="l"/>
              </a:tabLst>
            </a:pPr>
            <a:r>
              <a:rPr b="1">
                <a:solidFill>
                  <a:srgbClr val="006994"/>
                </a:solidFill>
              </a:rPr>
              <a:t>Immune deficiency</a:t>
            </a:r>
            <a:r>
              <a:t> occurs when the body's immune system has limited (or no) ability to fight infectious disease.</a:t>
            </a:r>
          </a:p>
          <a:p>
            <a:pPr>
              <a:tabLst>
                <a:tab pos="1016000" algn="l"/>
              </a:tabLst>
            </a:pPr>
            <a:r>
              <a:t>People with immune deficiency diseases become sick more often and for longer periods than a healthy individual. </a:t>
            </a:r>
          </a:p>
          <a:p>
            <a:pPr>
              <a:tabLst>
                <a:tab pos="1016000" algn="l"/>
              </a:tabLst>
            </a:pPr>
            <a:r>
              <a:t>Some types of immune deficiency are inherited, but others develop as a result of another factor (e.g. chemotherapy, malnutrition, or infectious disease). </a:t>
            </a:r>
          </a:p>
          <a:p>
            <a:pPr>
              <a:tabLst>
                <a:tab pos="1016000" algn="l"/>
              </a:tabLst>
            </a:pPr>
            <a:r>
              <a:t>Infection with </a:t>
            </a:r>
            <a:r>
              <a:rPr b="1">
                <a:solidFill>
                  <a:srgbClr val="006994"/>
                </a:solidFill>
              </a:rPr>
              <a:t>HIV</a:t>
            </a:r>
            <a:r>
              <a:t> (human immunodeficiency virus) results in a type of immune deficiency disease called </a:t>
            </a:r>
            <a:r>
              <a:rPr b="1">
                <a:solidFill>
                  <a:srgbClr val="006994"/>
                </a:solidFill>
              </a:rPr>
              <a:t>AIDS</a:t>
            </a:r>
            <a:r>
              <a:t> (acquired immunodeficiency syndrome).</a:t>
            </a:r>
          </a:p>
        </p:txBody>
      </p:sp>
      <p:pic>
        <p:nvPicPr>
          <p:cNvPr id="1926" name="Dollarphotoclub_57532580.jpg"/>
          <p:cNvPicPr>
            <a:picLocks noChangeAspect="1"/>
          </p:cNvPicPr>
          <p:nvPr/>
        </p:nvPicPr>
        <p:blipFill>
          <a:blip r:embed="rId2"/>
          <a:srcRect l="35759" t="14171"/>
          <a:stretch>
            <a:fillRect/>
          </a:stretch>
        </p:blipFill>
        <p:spPr>
          <a:xfrm>
            <a:off x="7212885" y="1946305"/>
            <a:ext cx="5801120" cy="5167715"/>
          </a:xfrm>
          <a:prstGeom prst="rect">
            <a:avLst/>
          </a:prstGeom>
          <a:ln w="25400">
            <a:solidFill>
              <a:srgbClr val="FFFFFF"/>
            </a:solidFill>
            <a:miter lim="400000"/>
          </a:ln>
        </p:spPr>
      </p:pic>
      <p:sp>
        <p:nvSpPr>
          <p:cNvPr id="1927" name="Shape 1927"/>
          <p:cNvSpPr/>
          <p:nvPr/>
        </p:nvSpPr>
        <p:spPr>
          <a:xfrm>
            <a:off x="12652419" y="2058433"/>
            <a:ext cx="471369" cy="1270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800"/>
              </a:lnSpc>
              <a:tabLst>
                <a:tab pos="520700" algn="l"/>
              </a:tabLst>
              <a:defRPr sz="700">
                <a:solidFill>
                  <a:srgbClr val="000000"/>
                </a:solidFill>
              </a:defRPr>
            </a:lvl1pPr>
          </a:lstStyle>
          <a:p>
            <a:r>
              <a:t>DPC</a:t>
            </a:r>
          </a:p>
        </p:txBody>
      </p:sp>
      <p:sp>
        <p:nvSpPr>
          <p:cNvPr id="1928" name="Shape 1928"/>
          <p:cNvSpPr/>
          <p:nvPr/>
        </p:nvSpPr>
        <p:spPr>
          <a:xfrm>
            <a:off x="9507298" y="7463363"/>
            <a:ext cx="2240559" cy="7926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127000">
              <a:lnSpc>
                <a:spcPts val="2100"/>
              </a:lnSpc>
              <a:spcBef>
                <a:spcPts val="2000"/>
              </a:spcBef>
              <a:tabLst>
                <a:tab pos="533400" algn="l"/>
              </a:tabLst>
            </a:pPr>
            <a:r>
              <a:t>The Human Immunodeficiency Virus (HIV)</a:t>
            </a:r>
          </a:p>
        </p:txBody>
      </p:sp>
      <p:grpSp>
        <p:nvGrpSpPr>
          <p:cNvPr id="1931" name="Group 1931"/>
          <p:cNvGrpSpPr/>
          <p:nvPr/>
        </p:nvGrpSpPr>
        <p:grpSpPr>
          <a:xfrm>
            <a:off x="5934094" y="5995462"/>
            <a:ext cx="3389935" cy="3415046"/>
            <a:chOff x="0" y="0"/>
            <a:chExt cx="3389934" cy="3415045"/>
          </a:xfrm>
        </p:grpSpPr>
        <p:pic>
          <p:nvPicPr>
            <p:cNvPr id="1929" name="Istock HIV 3D.png"/>
            <p:cNvPicPr>
              <a:picLocks noChangeAspect="1"/>
            </p:cNvPicPr>
            <p:nvPr/>
          </p:nvPicPr>
          <p:blipFill>
            <a:blip r:embed="rId3"/>
            <a:stretch>
              <a:fillRect/>
            </a:stretch>
          </p:blipFill>
          <p:spPr>
            <a:xfrm>
              <a:off x="0" y="0"/>
              <a:ext cx="3389935" cy="3415046"/>
            </a:xfrm>
            <a:prstGeom prst="rect">
              <a:avLst/>
            </a:prstGeom>
            <a:ln w="12700" cap="flat">
              <a:noFill/>
              <a:miter lim="400000"/>
            </a:ln>
            <a:effectLst/>
          </p:spPr>
        </p:pic>
        <p:sp>
          <p:nvSpPr>
            <p:cNvPr id="1930" name="Shape 1930"/>
            <p:cNvSpPr/>
            <p:nvPr/>
          </p:nvSpPr>
          <p:spPr>
            <a:xfrm>
              <a:off x="2697621" y="2965145"/>
              <a:ext cx="381965" cy="7162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700"/>
                </a:lnSpc>
                <a:tabLst>
                  <a:tab pos="520700" algn="l"/>
                </a:tabLst>
                <a:defRPr sz="600">
                  <a:solidFill>
                    <a:srgbClr val="000000"/>
                  </a:solidFill>
                </a:defRPr>
              </a:lvl1pPr>
            </a:lstStyle>
            <a:p>
              <a:r>
                <a:t>iStock</a:t>
              </a:r>
            </a:p>
          </p:txBody>
        </p:sp>
      </p:grpSp>
      <p:sp>
        <p:nvSpPr>
          <p:cNvPr id="1932" name="Shape 1932"/>
          <p:cNvSpPr/>
          <p:nvPr/>
        </p:nvSpPr>
        <p:spPr>
          <a:xfrm>
            <a:off x="9886875" y="6478199"/>
            <a:ext cx="3224893" cy="627522"/>
          </a:xfrm>
          <a:prstGeom prst="rect">
            <a:avLst/>
          </a:prstGeom>
          <a:solidFill>
            <a:srgbClr val="FFFFFE">
              <a:alpha val="45000"/>
            </a:srgbClr>
          </a:solidFill>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defRPr>
                <a:solidFill>
                  <a:srgbClr val="000000"/>
                </a:solidFill>
              </a:defRPr>
            </a:lvl1pPr>
          </a:lstStyle>
          <a:p>
            <a:r>
              <a:t>Chemotherapy can result in immune deficiency.</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2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2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2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2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9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 grpId="0"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4" name="Shape 1934"/>
          <p:cNvSpPr/>
          <p:nvPr/>
        </p:nvSpPr>
        <p:spPr>
          <a:xfrm>
            <a:off x="7239860" y="2147808"/>
            <a:ext cx="5789415" cy="7291348"/>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35" name="Shape 1935"/>
          <p:cNvSpPr>
            <a:spLocks noGrp="1"/>
          </p:cNvSpPr>
          <p:nvPr>
            <p:ph type="title"/>
          </p:nvPr>
        </p:nvSpPr>
        <p:spPr>
          <a:xfrm>
            <a:off x="292100" y="368300"/>
            <a:ext cx="11739473" cy="1763515"/>
          </a:xfrm>
          <a:prstGeom prst="rect">
            <a:avLst/>
          </a:prstGeom>
        </p:spPr>
        <p:txBody>
          <a:bodyPr/>
          <a:lstStyle>
            <a:lvl1pPr>
              <a:tabLst>
                <a:tab pos="952500" algn="l"/>
              </a:tabLst>
            </a:lvl1pPr>
          </a:lstStyle>
          <a:p>
            <a:r>
              <a:t>HIV/AIDS: An Immune Deficiency Disease</a:t>
            </a:r>
          </a:p>
        </p:txBody>
      </p:sp>
      <p:sp>
        <p:nvSpPr>
          <p:cNvPr id="1936" name="Shape 1936"/>
          <p:cNvSpPr>
            <a:spLocks noGrp="1"/>
          </p:cNvSpPr>
          <p:nvPr>
            <p:ph type="body" sz="half" idx="1"/>
          </p:nvPr>
        </p:nvSpPr>
        <p:spPr>
          <a:xfrm>
            <a:off x="368300" y="2509887"/>
            <a:ext cx="5692428" cy="6824613"/>
          </a:xfrm>
          <a:prstGeom prst="rect">
            <a:avLst/>
          </a:prstGeom>
        </p:spPr>
        <p:txBody>
          <a:bodyPr/>
          <a:lstStyle/>
          <a:p>
            <a:pPr>
              <a:tabLst>
                <a:tab pos="1016000" algn="l"/>
              </a:tabLst>
            </a:pPr>
            <a:r>
              <a:t>The human immunodeficiency virus (HIV) infects lymphocyte cells, eventually causing AIDS, a fatal disease, which acts by impairing immune system function.</a:t>
            </a:r>
          </a:p>
          <a:p>
            <a:pPr>
              <a:tabLst>
                <a:tab pos="1016000" algn="l"/>
              </a:tabLst>
            </a:pPr>
            <a:r>
              <a:t>HIV causes immune deficiency by destroying T helper cells, which are central to cellular immunity. </a:t>
            </a:r>
          </a:p>
          <a:p>
            <a:pPr>
              <a:tabLst>
                <a:tab pos="1016000" algn="l"/>
              </a:tabLst>
            </a:pPr>
            <a:r>
              <a:t>Over time, a disease called AIDS (acquired immunodeficiency syndrome) develops and the immune system loses its ability to fight off infections as more T helper cells are destroyed. </a:t>
            </a:r>
          </a:p>
          <a:p>
            <a:pPr>
              <a:tabLst>
                <a:tab pos="1016000" algn="l"/>
              </a:tabLst>
            </a:pPr>
            <a:r>
              <a:t>There is no cure or vaccine for HIV, but some drugs can slow the progress of the disease. </a:t>
            </a:r>
          </a:p>
        </p:txBody>
      </p:sp>
      <p:pic>
        <p:nvPicPr>
          <p:cNvPr id="1937" name="HIV Infection 2.png"/>
          <p:cNvPicPr>
            <a:picLocks noChangeAspect="1"/>
          </p:cNvPicPr>
          <p:nvPr/>
        </p:nvPicPr>
        <p:blipFill>
          <a:blip r:embed="rId2"/>
          <a:srcRect r="1827" b="6174"/>
          <a:stretch>
            <a:fillRect/>
          </a:stretch>
        </p:blipFill>
        <p:spPr>
          <a:xfrm>
            <a:off x="7164157" y="5569041"/>
            <a:ext cx="5832303" cy="4177245"/>
          </a:xfrm>
          <a:prstGeom prst="rect">
            <a:avLst/>
          </a:prstGeom>
          <a:ln w="12700">
            <a:solidFill>
              <a:srgbClr val="FFFFFF"/>
            </a:solidFill>
            <a:miter lim="400000"/>
          </a:ln>
        </p:spPr>
      </p:pic>
      <p:sp>
        <p:nvSpPr>
          <p:cNvPr id="1938" name="Shape 1938"/>
          <p:cNvSpPr/>
          <p:nvPr/>
        </p:nvSpPr>
        <p:spPr>
          <a:xfrm>
            <a:off x="9559067" y="3294309"/>
            <a:ext cx="2418637" cy="3608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Healthy T helper cell</a:t>
            </a:r>
          </a:p>
        </p:txBody>
      </p:sp>
      <p:sp>
        <p:nvSpPr>
          <p:cNvPr id="1939" name="Shape 1939"/>
          <p:cNvSpPr/>
          <p:nvPr/>
        </p:nvSpPr>
        <p:spPr>
          <a:xfrm>
            <a:off x="11509788" y="6811516"/>
            <a:ext cx="611069" cy="3608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HIV</a:t>
            </a:r>
          </a:p>
        </p:txBody>
      </p:sp>
      <p:sp>
        <p:nvSpPr>
          <p:cNvPr id="1940" name="Shape 1940"/>
          <p:cNvSpPr/>
          <p:nvPr/>
        </p:nvSpPr>
        <p:spPr>
          <a:xfrm>
            <a:off x="7172959" y="9240519"/>
            <a:ext cx="3323790" cy="508001"/>
          </a:xfrm>
          <a:prstGeom prst="rect">
            <a:avLst/>
          </a:prstGeom>
          <a:solidFill>
            <a:srgbClr val="FFFFFF">
              <a:alpha val="80000"/>
            </a:srgbClr>
          </a:solidFill>
          <a:ln w="25400">
            <a:miter lim="400000"/>
          </a:ln>
          <a:extLst>
            <a:ext uri="{C572A759-6A51-4108-AA02-DFA0A04FC94B}">
              <ma14:wrappingTextBoxFlag xmlns:ma14="http://schemas.microsoft.com/office/mac/drawingml/2011/main" xmlns="" val="1"/>
            </a:ext>
          </a:extLst>
        </p:spPr>
        <p:txBody>
          <a:bodyPr lIns="0" tIns="0" rIns="0" bIns="0" anchor="ctr"/>
          <a:lstStyle>
            <a:lvl1pPr>
              <a:tabLst>
                <a:tab pos="520700" algn="l"/>
              </a:tabLst>
              <a:defRPr sz="1400">
                <a:solidFill>
                  <a:srgbClr val="000000"/>
                </a:solidFill>
              </a:defRPr>
            </a:lvl1pPr>
          </a:lstStyle>
          <a:p>
            <a:r>
              <a:t>HIV buds from an infected T helper cell</a:t>
            </a:r>
          </a:p>
        </p:txBody>
      </p:sp>
      <p:sp>
        <p:nvSpPr>
          <p:cNvPr id="1941" name="Shape 1941"/>
          <p:cNvSpPr/>
          <p:nvPr/>
        </p:nvSpPr>
        <p:spPr>
          <a:xfrm flipH="1">
            <a:off x="11316919" y="6986847"/>
            <a:ext cx="261315" cy="502395"/>
          </a:xfrm>
          <a:prstGeom prst="line">
            <a:avLst/>
          </a:prstGeom>
          <a:ln w="25400">
            <a:solidFill>
              <a:srgbClr val="006994"/>
            </a:solidFill>
            <a:miter lim="400000"/>
            <a:tailEnd type="stealth"/>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42" name="Shape 1942"/>
          <p:cNvSpPr/>
          <p:nvPr/>
        </p:nvSpPr>
        <p:spPr>
          <a:xfrm flipH="1">
            <a:off x="10884855" y="6991927"/>
            <a:ext cx="698459" cy="1"/>
          </a:xfrm>
          <a:prstGeom prst="line">
            <a:avLst/>
          </a:prstGeom>
          <a:ln w="25400">
            <a:solidFill>
              <a:srgbClr val="006994"/>
            </a:solidFill>
            <a:miter lim="400000"/>
            <a:tailEnd type="stealth"/>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43" name="Shape 1943"/>
          <p:cNvSpPr/>
          <p:nvPr/>
        </p:nvSpPr>
        <p:spPr>
          <a:xfrm>
            <a:off x="12473289" y="9584300"/>
            <a:ext cx="492463" cy="21718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nSpc>
                <a:spcPts val="800"/>
              </a:lnSpc>
              <a:tabLst>
                <a:tab pos="520700" algn="l"/>
              </a:tabLst>
              <a:defRPr sz="700">
                <a:solidFill>
                  <a:srgbClr val="000000"/>
                </a:solidFill>
              </a:defRPr>
            </a:lvl1pPr>
          </a:lstStyle>
          <a:p>
            <a:r>
              <a:t>CDC</a:t>
            </a:r>
          </a:p>
        </p:txBody>
      </p:sp>
      <p:pic>
        <p:nvPicPr>
          <p:cNvPr id="1944" name="Healthy T lymphocyte NOH PD smaller.png"/>
          <p:cNvPicPr>
            <a:picLocks noChangeAspect="1"/>
          </p:cNvPicPr>
          <p:nvPr/>
        </p:nvPicPr>
        <p:blipFill>
          <a:blip r:embed="rId3"/>
          <a:stretch>
            <a:fillRect/>
          </a:stretch>
        </p:blipFill>
        <p:spPr>
          <a:xfrm>
            <a:off x="6046271" y="2447223"/>
            <a:ext cx="3542960" cy="3697871"/>
          </a:xfrm>
          <a:prstGeom prst="rect">
            <a:avLst/>
          </a:prstGeom>
          <a:ln w="12700">
            <a:miter lim="400000"/>
          </a:ln>
        </p:spPr>
      </p:pic>
      <p:sp>
        <p:nvSpPr>
          <p:cNvPr id="1945" name="Shape 1945"/>
          <p:cNvSpPr/>
          <p:nvPr/>
        </p:nvSpPr>
        <p:spPr>
          <a:xfrm>
            <a:off x="8931835" y="5250364"/>
            <a:ext cx="426152" cy="18759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700">
                <a:solidFill>
                  <a:srgbClr val="000000"/>
                </a:solidFill>
              </a:defRPr>
            </a:lvl1pPr>
          </a:lstStyle>
          <a:p>
            <a:r>
              <a:t>NOH</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3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3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3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3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9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6" grpId="0"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 name="Shape 1947"/>
          <p:cNvSpPr/>
          <p:nvPr/>
        </p:nvSpPr>
        <p:spPr>
          <a:xfrm>
            <a:off x="7467600" y="0"/>
            <a:ext cx="5537200" cy="9753600"/>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948" name="HIV CDC C. Goldsmith, P. Feorino, E. L. Palmer, W. R. McManus.jpg"/>
          <p:cNvPicPr>
            <a:picLocks noChangeAspect="1"/>
          </p:cNvPicPr>
          <p:nvPr/>
        </p:nvPicPr>
        <p:blipFill>
          <a:blip r:embed="rId2"/>
          <a:stretch>
            <a:fillRect/>
          </a:stretch>
        </p:blipFill>
        <p:spPr>
          <a:xfrm>
            <a:off x="7636619" y="588369"/>
            <a:ext cx="5387492" cy="4254501"/>
          </a:xfrm>
          <a:prstGeom prst="rect">
            <a:avLst/>
          </a:prstGeom>
          <a:ln w="25400">
            <a:solidFill>
              <a:srgbClr val="FFFFFF"/>
            </a:solidFill>
            <a:miter lim="400000"/>
          </a:ln>
        </p:spPr>
      </p:pic>
      <p:sp>
        <p:nvSpPr>
          <p:cNvPr id="1949" name="Shape 1949"/>
          <p:cNvSpPr>
            <a:spLocks noGrp="1"/>
          </p:cNvSpPr>
          <p:nvPr>
            <p:ph type="title"/>
          </p:nvPr>
        </p:nvSpPr>
        <p:spPr>
          <a:prstGeom prst="rect">
            <a:avLst/>
          </a:prstGeom>
        </p:spPr>
        <p:txBody>
          <a:bodyPr/>
          <a:lstStyle>
            <a:lvl1pPr>
              <a:tabLst>
                <a:tab pos="952500" algn="l"/>
              </a:tabLst>
            </a:lvl1pPr>
          </a:lstStyle>
          <a:p>
            <a:r>
              <a:t>HIV and AIDS</a:t>
            </a:r>
          </a:p>
        </p:txBody>
      </p:sp>
      <p:sp>
        <p:nvSpPr>
          <p:cNvPr id="1950" name="Shape 1950"/>
          <p:cNvSpPr/>
          <p:nvPr/>
        </p:nvSpPr>
        <p:spPr>
          <a:xfrm>
            <a:off x="10566400" y="8712200"/>
            <a:ext cx="24130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127000">
              <a:lnSpc>
                <a:spcPts val="2100"/>
              </a:lnSpc>
              <a:spcBef>
                <a:spcPts val="2000"/>
              </a:spcBef>
              <a:tabLst>
                <a:tab pos="533400" algn="l"/>
              </a:tabLst>
            </a:pPr>
            <a:r>
              <a:rPr b="1"/>
              <a:t>The Human Immunodeficiency Virus</a:t>
            </a:r>
            <a:r>
              <a:t> (HIV)</a:t>
            </a:r>
          </a:p>
        </p:txBody>
      </p:sp>
      <p:sp>
        <p:nvSpPr>
          <p:cNvPr id="1951" name="Shape 1951"/>
          <p:cNvSpPr/>
          <p:nvPr/>
        </p:nvSpPr>
        <p:spPr>
          <a:xfrm>
            <a:off x="10414000" y="1041400"/>
            <a:ext cx="15875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solidFill>
                  <a:srgbClr val="FFFFFF"/>
                </a:solidFill>
              </a:defRPr>
            </a:lvl1pPr>
          </a:lstStyle>
          <a:p>
            <a:r>
              <a:t>HIV budding from cell</a:t>
            </a:r>
          </a:p>
        </p:txBody>
      </p:sp>
      <p:grpSp>
        <p:nvGrpSpPr>
          <p:cNvPr id="1955" name="Group 1955"/>
          <p:cNvGrpSpPr/>
          <p:nvPr/>
        </p:nvGrpSpPr>
        <p:grpSpPr>
          <a:xfrm>
            <a:off x="9783233" y="1659466"/>
            <a:ext cx="1536698" cy="1447800"/>
            <a:chOff x="0" y="0"/>
            <a:chExt cx="1536697" cy="1447799"/>
          </a:xfrm>
        </p:grpSpPr>
        <p:sp>
          <p:nvSpPr>
            <p:cNvPr id="1952" name="Shape 1952"/>
            <p:cNvSpPr/>
            <p:nvPr/>
          </p:nvSpPr>
          <p:spPr>
            <a:xfrm flipV="1">
              <a:off x="1227296" y="41365"/>
              <a:ext cx="113449" cy="1406435"/>
            </a:xfrm>
            <a:prstGeom prst="line">
              <a:avLst/>
            </a:prstGeom>
            <a:noFill/>
            <a:ln w="25400" cap="flat">
              <a:solidFill>
                <a:srgbClr val="FFFFFF"/>
              </a:solidFill>
              <a:prstDash val="solid"/>
              <a:miter lim="400000"/>
              <a:headEnd type="stealth"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953" name="Shape 1953"/>
            <p:cNvSpPr/>
            <p:nvPr/>
          </p:nvSpPr>
          <p:spPr>
            <a:xfrm flipH="1" flipV="1">
              <a:off x="1351056" y="10341"/>
              <a:ext cx="185642" cy="1421946"/>
            </a:xfrm>
            <a:prstGeom prst="line">
              <a:avLst/>
            </a:prstGeom>
            <a:noFill/>
            <a:ln w="25400" cap="flat">
              <a:solidFill>
                <a:srgbClr val="FFFFFF"/>
              </a:solidFill>
              <a:prstDash val="solid"/>
              <a:miter lim="400000"/>
              <a:headEnd type="stealth"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954" name="Shape 1954"/>
            <p:cNvSpPr/>
            <p:nvPr/>
          </p:nvSpPr>
          <p:spPr>
            <a:xfrm flipV="1">
              <a:off x="0" y="0"/>
              <a:ext cx="1361372" cy="1085850"/>
            </a:xfrm>
            <a:prstGeom prst="line">
              <a:avLst/>
            </a:prstGeom>
            <a:noFill/>
            <a:ln w="25400" cap="flat">
              <a:solidFill>
                <a:srgbClr val="FFFFFF"/>
              </a:solidFill>
              <a:prstDash val="solid"/>
              <a:miter lim="400000"/>
              <a:headEnd type="stealth"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1956" name="Shape 1956"/>
          <p:cNvSpPr/>
          <p:nvPr/>
        </p:nvSpPr>
        <p:spPr>
          <a:xfrm>
            <a:off x="12585700" y="4673600"/>
            <a:ext cx="406400" cy="127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700"/>
              </a:lnSpc>
              <a:tabLst>
                <a:tab pos="520700" algn="l"/>
              </a:tabLst>
              <a:defRPr sz="600">
                <a:solidFill>
                  <a:srgbClr val="000000"/>
                </a:solidFill>
              </a:defRPr>
            </a:lvl1pPr>
          </a:lstStyle>
          <a:p>
            <a:r>
              <a:t>CDC</a:t>
            </a:r>
          </a:p>
        </p:txBody>
      </p:sp>
      <p:sp>
        <p:nvSpPr>
          <p:cNvPr id="1957" name="Shape 1957"/>
          <p:cNvSpPr/>
          <p:nvPr/>
        </p:nvSpPr>
        <p:spPr>
          <a:xfrm>
            <a:off x="7861300" y="774700"/>
            <a:ext cx="453033" cy="221953"/>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marL="0">
              <a:lnSpc>
                <a:spcPts val="2300"/>
              </a:lnSpc>
              <a:spcBef>
                <a:spcPts val="2000"/>
              </a:spcBef>
              <a:tabLst>
                <a:tab pos="1384300" algn="l"/>
              </a:tabLst>
              <a:defRPr sz="1600" b="1">
                <a:solidFill>
                  <a:srgbClr val="FFFFFF"/>
                </a:solidFill>
              </a:defRPr>
            </a:lvl1pPr>
          </a:lstStyle>
          <a:p>
            <a:r>
              <a:t>SEM</a:t>
            </a:r>
          </a:p>
        </p:txBody>
      </p:sp>
      <p:grpSp>
        <p:nvGrpSpPr>
          <p:cNvPr id="1960" name="Group 1960"/>
          <p:cNvGrpSpPr/>
          <p:nvPr/>
        </p:nvGrpSpPr>
        <p:grpSpPr>
          <a:xfrm>
            <a:off x="7137400" y="4490560"/>
            <a:ext cx="4584706" cy="4618667"/>
            <a:chOff x="0" y="0"/>
            <a:chExt cx="4584705" cy="4618666"/>
          </a:xfrm>
        </p:grpSpPr>
        <p:pic>
          <p:nvPicPr>
            <p:cNvPr id="1958" name="Istock HIV 3D.png"/>
            <p:cNvPicPr>
              <a:picLocks noChangeAspect="1"/>
            </p:cNvPicPr>
            <p:nvPr/>
          </p:nvPicPr>
          <p:blipFill>
            <a:blip r:embed="rId3"/>
            <a:stretch>
              <a:fillRect/>
            </a:stretch>
          </p:blipFill>
          <p:spPr>
            <a:xfrm>
              <a:off x="0" y="0"/>
              <a:ext cx="4584706" cy="4618667"/>
            </a:xfrm>
            <a:prstGeom prst="rect">
              <a:avLst/>
            </a:prstGeom>
            <a:ln w="12700" cap="flat">
              <a:noFill/>
              <a:miter lim="400000"/>
            </a:ln>
            <a:effectLst/>
          </p:spPr>
        </p:pic>
        <p:sp>
          <p:nvSpPr>
            <p:cNvPr id="1959" name="Shape 1959"/>
            <p:cNvSpPr/>
            <p:nvPr/>
          </p:nvSpPr>
          <p:spPr>
            <a:xfrm>
              <a:off x="3648388" y="4010200"/>
              <a:ext cx="516587" cy="968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700"/>
                </a:lnSpc>
                <a:tabLst>
                  <a:tab pos="520700" algn="l"/>
                </a:tabLst>
                <a:defRPr sz="600">
                  <a:solidFill>
                    <a:srgbClr val="000000"/>
                  </a:solidFill>
                </a:defRPr>
              </a:lvl1pPr>
            </a:lstStyle>
            <a:p>
              <a:r>
                <a:t>iStock</a:t>
              </a:r>
            </a:p>
          </p:txBody>
        </p:sp>
      </p:grpSp>
      <p:sp>
        <p:nvSpPr>
          <p:cNvPr id="1961" name="Shape 1961"/>
          <p:cNvSpPr>
            <a:spLocks noGrp="1"/>
          </p:cNvSpPr>
          <p:nvPr>
            <p:ph type="body" sz="half" idx="1"/>
          </p:nvPr>
        </p:nvSpPr>
        <p:spPr>
          <a:xfrm>
            <a:off x="368300" y="1790700"/>
            <a:ext cx="6420595" cy="7543800"/>
          </a:xfrm>
          <a:prstGeom prst="rect">
            <a:avLst/>
          </a:prstGeom>
        </p:spPr>
        <p:txBody>
          <a:bodyPr/>
          <a:lstStyle/>
          <a:p>
            <a:pPr>
              <a:tabLst>
                <a:tab pos="1016000" algn="l"/>
              </a:tabLst>
            </a:pPr>
            <a:r>
              <a:rPr b="1">
                <a:solidFill>
                  <a:srgbClr val="006994"/>
                </a:solidFill>
              </a:rPr>
              <a:t>AIDS</a:t>
            </a:r>
            <a:r>
              <a:rPr>
                <a:solidFill>
                  <a:srgbClr val="0433FF"/>
                </a:solidFill>
              </a:rPr>
              <a:t> </a:t>
            </a:r>
            <a:r>
              <a:t>(</a:t>
            </a:r>
            <a:r>
              <a:rPr b="1">
                <a:solidFill>
                  <a:srgbClr val="006994"/>
                </a:solidFill>
              </a:rPr>
              <a:t>Acquired Immune Deficiency Syndrome</a:t>
            </a:r>
            <a:r>
              <a:t>) was an emerging disease when it first appeared in the human population.</a:t>
            </a:r>
          </a:p>
          <a:p>
            <a:pPr marL="741599" lvl="1" indent="-381599">
              <a:buSzPct val="150000"/>
              <a:tabLst>
                <a:tab pos="1384300" algn="l"/>
              </a:tabLst>
            </a:pPr>
            <a:r>
              <a:t>The AIDS epidemic officially began in </a:t>
            </a:r>
            <a:r>
              <a:rPr b="1">
                <a:solidFill>
                  <a:srgbClr val="006994"/>
                </a:solidFill>
              </a:rPr>
              <a:t>1981</a:t>
            </a:r>
            <a:r>
              <a:t> when it was detected in Los Angeles, USA.</a:t>
            </a:r>
          </a:p>
          <a:p>
            <a:pPr marL="741599" lvl="1" indent="-381599">
              <a:buSzPct val="150000"/>
              <a:tabLst>
                <a:tab pos="1384300" algn="l"/>
              </a:tabLst>
            </a:pPr>
            <a:r>
              <a:t>By </a:t>
            </a:r>
            <a:r>
              <a:rPr b="1">
                <a:solidFill>
                  <a:srgbClr val="006994"/>
                </a:solidFill>
              </a:rPr>
              <a:t>1983</a:t>
            </a:r>
            <a:r>
              <a:t> the pathogen causing the disease (shown right) had been identified as a </a:t>
            </a:r>
            <a:r>
              <a:rPr b="1">
                <a:solidFill>
                  <a:srgbClr val="006994"/>
                </a:solidFill>
              </a:rPr>
              <a:t>retrovirus</a:t>
            </a:r>
            <a:r>
              <a:t>, which selectively infects </a:t>
            </a:r>
            <a:r>
              <a:rPr b="1">
                <a:solidFill>
                  <a:srgbClr val="006994"/>
                </a:solidFill>
              </a:rPr>
              <a:t>helper T cells</a:t>
            </a:r>
            <a:r>
              <a:t> and results in low T cell numbers.</a:t>
            </a:r>
          </a:p>
          <a:p>
            <a:pPr marL="741599" lvl="1" indent="-381599">
              <a:buSzPct val="150000"/>
              <a:tabLst>
                <a:tab pos="1384300" algn="l"/>
              </a:tabLst>
            </a:pPr>
            <a:r>
              <a:t>The virus, which eventually causes a collapse of the immune system, was given the name </a:t>
            </a:r>
            <a:r>
              <a:rPr b="1">
                <a:solidFill>
                  <a:srgbClr val="006994"/>
                </a:solidFill>
              </a:rPr>
              <a:t>Human Immunodeficiency Virus</a:t>
            </a:r>
            <a:r>
              <a:t> (HIV).</a:t>
            </a:r>
          </a:p>
          <a:p>
            <a:pPr marL="741599" lvl="1" indent="-381599">
              <a:buSzPct val="150000"/>
              <a:tabLst>
                <a:tab pos="1384300" algn="l"/>
              </a:tabLst>
            </a:pPr>
            <a:r>
              <a:t>In 1986, a second type of HIV, called HIV-2, was isolated from AIDS patients in West Africa, where it may have been present decades earlier. </a:t>
            </a:r>
          </a:p>
          <a:p>
            <a:pPr marL="741599" lvl="1" indent="-381599">
              <a:buSzPct val="150000"/>
              <a:tabLst>
                <a:tab pos="1384300" algn="l"/>
              </a:tabLst>
            </a:pPr>
            <a:r>
              <a:t>As yet, there is no cure for AIDS. The disease is now a global pandemic.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6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6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6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6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96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96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96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1" grpId="0"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 name="Shape 1963"/>
          <p:cNvSpPr>
            <a:spLocks noGrp="1"/>
          </p:cNvSpPr>
          <p:nvPr>
            <p:ph type="title"/>
          </p:nvPr>
        </p:nvSpPr>
        <p:spPr>
          <a:prstGeom prst="rect">
            <a:avLst/>
          </a:prstGeom>
        </p:spPr>
        <p:txBody>
          <a:bodyPr/>
          <a:lstStyle>
            <a:lvl1pPr>
              <a:tabLst>
                <a:tab pos="952500" algn="l"/>
              </a:tabLst>
            </a:lvl1pPr>
          </a:lstStyle>
          <a:p>
            <a:r>
              <a:t>HIV Infects T Helper Cells</a:t>
            </a:r>
          </a:p>
        </p:txBody>
      </p:sp>
      <p:sp>
        <p:nvSpPr>
          <p:cNvPr id="1964" name="Shape 1964"/>
          <p:cNvSpPr>
            <a:spLocks noGrp="1"/>
          </p:cNvSpPr>
          <p:nvPr>
            <p:ph type="body" sz="half" idx="1"/>
          </p:nvPr>
        </p:nvSpPr>
        <p:spPr>
          <a:xfrm>
            <a:off x="368300" y="1790700"/>
            <a:ext cx="5424925" cy="5455881"/>
          </a:xfrm>
          <a:prstGeom prst="rect">
            <a:avLst/>
          </a:prstGeom>
        </p:spPr>
        <p:txBody>
          <a:bodyPr/>
          <a:lstStyle/>
          <a:p>
            <a:pPr>
              <a:tabLst>
                <a:tab pos="1016000" algn="l"/>
              </a:tabLst>
            </a:pPr>
            <a:r>
              <a:rPr b="1">
                <a:solidFill>
                  <a:srgbClr val="006994"/>
                </a:solidFill>
              </a:rPr>
              <a:t>HIV infects T helper cells</a:t>
            </a:r>
            <a:r>
              <a:t>. It uses the cells to replicate itself in great numbers, then the newly formed viral particles exit the cell to infect more T helper cells. Many T helper cells are destroyed by the viral replication. Because of their role in cellular immunity, T helper cell destruction recruits more T cells, accelerating the infection of new cells.</a:t>
            </a:r>
          </a:p>
          <a:p>
            <a:pPr>
              <a:tabLst>
                <a:tab pos="1016000" algn="l"/>
              </a:tabLst>
            </a:pPr>
            <a:r>
              <a:t>Once the T helper cell population becomes depleted, the immune system's ability to fight infection is severely compromised. </a:t>
            </a:r>
          </a:p>
        </p:txBody>
      </p:sp>
      <p:grpSp>
        <p:nvGrpSpPr>
          <p:cNvPr id="1973" name="Group 1973"/>
          <p:cNvGrpSpPr/>
          <p:nvPr/>
        </p:nvGrpSpPr>
        <p:grpSpPr>
          <a:xfrm>
            <a:off x="6069736" y="1899009"/>
            <a:ext cx="6930065" cy="5472670"/>
            <a:chOff x="0" y="0"/>
            <a:chExt cx="6930064" cy="5472669"/>
          </a:xfrm>
        </p:grpSpPr>
        <p:pic>
          <p:nvPicPr>
            <p:cNvPr id="1965" name="HIV CDC C. Goldsmith, P. Feorino, E. L. Palmer, W. R. McManus.jpg"/>
            <p:cNvPicPr>
              <a:picLocks noChangeAspect="1"/>
            </p:cNvPicPr>
            <p:nvPr/>
          </p:nvPicPr>
          <p:blipFill>
            <a:blip r:embed="rId2"/>
            <a:stretch>
              <a:fillRect/>
            </a:stretch>
          </p:blipFill>
          <p:spPr>
            <a:xfrm>
              <a:off x="0" y="0"/>
              <a:ext cx="6930065" cy="5472670"/>
            </a:xfrm>
            <a:prstGeom prst="rect">
              <a:avLst/>
            </a:prstGeom>
            <a:ln w="25400" cap="flat">
              <a:solidFill>
                <a:srgbClr val="FFFFFF"/>
              </a:solidFill>
              <a:prstDash val="solid"/>
              <a:miter lim="400000"/>
            </a:ln>
            <a:effectLst/>
          </p:spPr>
        </p:pic>
        <p:sp>
          <p:nvSpPr>
            <p:cNvPr id="1966" name="Shape 1966"/>
            <p:cNvSpPr/>
            <p:nvPr/>
          </p:nvSpPr>
          <p:spPr>
            <a:xfrm>
              <a:off x="3873202" y="558149"/>
              <a:ext cx="2042042" cy="807197"/>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noAutofit/>
            </a:bodyPr>
            <a:lstStyle>
              <a:lvl1pPr>
                <a:tabLst>
                  <a:tab pos="520700" algn="l"/>
                </a:tabLst>
                <a:defRPr>
                  <a:solidFill>
                    <a:srgbClr val="FFFFFF"/>
                  </a:solidFill>
                </a:defRPr>
              </a:lvl1pPr>
            </a:lstStyle>
            <a:p>
              <a:r>
                <a:t>HIV budding from cell</a:t>
              </a:r>
            </a:p>
          </p:txBody>
        </p:sp>
        <p:grpSp>
          <p:nvGrpSpPr>
            <p:cNvPr id="1970" name="Group 1970"/>
            <p:cNvGrpSpPr/>
            <p:nvPr/>
          </p:nvGrpSpPr>
          <p:grpSpPr>
            <a:xfrm>
              <a:off x="2761242" y="1377778"/>
              <a:ext cx="1976694" cy="1862341"/>
              <a:chOff x="0" y="0"/>
              <a:chExt cx="1976692" cy="1862340"/>
            </a:xfrm>
          </p:grpSpPr>
          <p:sp>
            <p:nvSpPr>
              <p:cNvPr id="1967" name="Shape 1967"/>
              <p:cNvSpPr/>
              <p:nvPr/>
            </p:nvSpPr>
            <p:spPr>
              <a:xfrm flipV="1">
                <a:off x="1578702" y="53209"/>
                <a:ext cx="145931" cy="1809132"/>
              </a:xfrm>
              <a:prstGeom prst="line">
                <a:avLst/>
              </a:prstGeom>
              <a:noFill/>
              <a:ln w="25400" cap="flat">
                <a:solidFill>
                  <a:srgbClr val="FFFFFF"/>
                </a:solidFill>
                <a:prstDash val="solid"/>
                <a:miter lim="400000"/>
                <a:headEnd type="stealth"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968" name="Shape 1968"/>
              <p:cNvSpPr/>
              <p:nvPr/>
            </p:nvSpPr>
            <p:spPr>
              <a:xfrm flipH="1" flipV="1">
                <a:off x="1737897" y="13302"/>
                <a:ext cx="238796" cy="1829084"/>
              </a:xfrm>
              <a:prstGeom prst="line">
                <a:avLst/>
              </a:prstGeom>
              <a:noFill/>
              <a:ln w="25400" cap="flat">
                <a:solidFill>
                  <a:srgbClr val="FFFFFF"/>
                </a:solidFill>
                <a:prstDash val="solid"/>
                <a:miter lim="400000"/>
                <a:headEnd type="stealth"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969" name="Shape 1969"/>
              <p:cNvSpPr/>
              <p:nvPr/>
            </p:nvSpPr>
            <p:spPr>
              <a:xfrm flipV="1">
                <a:off x="0" y="0"/>
                <a:ext cx="1751167" cy="1396756"/>
              </a:xfrm>
              <a:prstGeom prst="line">
                <a:avLst/>
              </a:prstGeom>
              <a:noFill/>
              <a:ln w="25400" cap="flat">
                <a:solidFill>
                  <a:srgbClr val="FFFFFF"/>
                </a:solidFill>
                <a:prstDash val="solid"/>
                <a:miter lim="400000"/>
                <a:headEnd type="stealth"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1971" name="Shape 1971"/>
            <p:cNvSpPr/>
            <p:nvPr/>
          </p:nvSpPr>
          <p:spPr>
            <a:xfrm>
              <a:off x="7355" y="5175657"/>
              <a:ext cx="931267" cy="28924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noAutofit/>
            </a:bodyPr>
            <a:lstStyle>
              <a:lvl1pPr>
                <a:tabLst>
                  <a:tab pos="520700" algn="l"/>
                </a:tabLst>
                <a:defRPr sz="700">
                  <a:solidFill>
                    <a:srgbClr val="FFFFFF"/>
                  </a:solidFill>
                </a:defRPr>
              </a:lvl1pPr>
            </a:lstStyle>
            <a:p>
              <a:r>
                <a:t>CDC</a:t>
              </a:r>
            </a:p>
          </p:txBody>
        </p:sp>
        <p:sp>
          <p:nvSpPr>
            <p:cNvPr id="1972" name="Shape 1972"/>
            <p:cNvSpPr/>
            <p:nvPr/>
          </p:nvSpPr>
          <p:spPr>
            <a:xfrm>
              <a:off x="87289" y="26545"/>
              <a:ext cx="931267" cy="46413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noAutofit/>
            </a:bodyPr>
            <a:lstStyle>
              <a:lvl1pPr>
                <a:tabLst>
                  <a:tab pos="520700" algn="l"/>
                </a:tabLst>
                <a:defRPr>
                  <a:solidFill>
                    <a:srgbClr val="FFFFFF"/>
                  </a:solidFill>
                </a:defRPr>
              </a:lvl1pPr>
            </a:lstStyle>
            <a:p>
              <a:r>
                <a:t>SEM</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64">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6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6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4" grpId="0"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5" name="HIV - structure.png"/>
          <p:cNvPicPr>
            <a:picLocks noChangeAspect="1"/>
          </p:cNvPicPr>
          <p:nvPr/>
        </p:nvPicPr>
        <p:blipFill>
          <a:blip r:embed="rId2"/>
          <a:stretch>
            <a:fillRect/>
          </a:stretch>
        </p:blipFill>
        <p:spPr>
          <a:xfrm>
            <a:off x="4000500" y="3241968"/>
            <a:ext cx="5432236" cy="5372101"/>
          </a:xfrm>
          <a:prstGeom prst="rect">
            <a:avLst/>
          </a:prstGeom>
          <a:ln w="12700">
            <a:miter lim="400000"/>
          </a:ln>
        </p:spPr>
      </p:pic>
      <p:sp>
        <p:nvSpPr>
          <p:cNvPr id="1976" name="Shape 1976"/>
          <p:cNvSpPr>
            <a:spLocks noGrp="1"/>
          </p:cNvSpPr>
          <p:nvPr>
            <p:ph type="title"/>
          </p:nvPr>
        </p:nvSpPr>
        <p:spPr>
          <a:prstGeom prst="rect">
            <a:avLst/>
          </a:prstGeom>
        </p:spPr>
        <p:txBody>
          <a:bodyPr/>
          <a:lstStyle>
            <a:lvl1pPr>
              <a:tabLst>
                <a:tab pos="952500" algn="l"/>
              </a:tabLst>
            </a:lvl1pPr>
          </a:lstStyle>
          <a:p>
            <a:r>
              <a:t>Structure of the HIV Virus</a:t>
            </a:r>
          </a:p>
        </p:txBody>
      </p:sp>
      <p:grpSp>
        <p:nvGrpSpPr>
          <p:cNvPr id="1979" name="Group 1979"/>
          <p:cNvGrpSpPr/>
          <p:nvPr/>
        </p:nvGrpSpPr>
        <p:grpSpPr>
          <a:xfrm>
            <a:off x="8140700" y="2349500"/>
            <a:ext cx="3937000" cy="1981200"/>
            <a:chOff x="0" y="0"/>
            <a:chExt cx="3937000" cy="1981200"/>
          </a:xfrm>
        </p:grpSpPr>
        <p:sp>
          <p:nvSpPr>
            <p:cNvPr id="1977" name="Shape 1977"/>
            <p:cNvSpPr/>
            <p:nvPr/>
          </p:nvSpPr>
          <p:spPr>
            <a:xfrm>
              <a:off x="1041400" y="0"/>
              <a:ext cx="2895600" cy="19720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pPr>
              <a:r>
                <a:rPr sz="2200" b="1"/>
                <a:t>Viral envelope</a:t>
              </a:r>
            </a:p>
            <a:p>
              <a:pPr>
                <a:tabLst>
                  <a:tab pos="520700" algn="l"/>
                </a:tabLst>
                <a:defRPr>
                  <a:solidFill>
                    <a:srgbClr val="000000"/>
                  </a:solidFill>
                </a:defRPr>
              </a:pPr>
              <a:r>
                <a:rPr sz="2200"/>
                <a:t>A piece of the plasma membrane taken from the host when a new viral particle buds from the cell.</a:t>
              </a:r>
            </a:p>
          </p:txBody>
        </p:sp>
        <p:sp>
          <p:nvSpPr>
            <p:cNvPr id="1978" name="Shape 1978"/>
            <p:cNvSpPr/>
            <p:nvPr/>
          </p:nvSpPr>
          <p:spPr>
            <a:xfrm flipV="1">
              <a:off x="0" y="1121833"/>
              <a:ext cx="952500" cy="859367"/>
            </a:xfrm>
            <a:prstGeom prst="line">
              <a:avLst/>
            </a:prstGeom>
            <a:noFill/>
            <a:ln w="381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982" name="Group 1982"/>
          <p:cNvGrpSpPr/>
          <p:nvPr/>
        </p:nvGrpSpPr>
        <p:grpSpPr>
          <a:xfrm>
            <a:off x="6680200" y="6705600"/>
            <a:ext cx="5613400" cy="2175260"/>
            <a:chOff x="0" y="0"/>
            <a:chExt cx="5613400" cy="2175259"/>
          </a:xfrm>
        </p:grpSpPr>
        <p:sp>
          <p:nvSpPr>
            <p:cNvPr id="1980" name="Shape 1980"/>
            <p:cNvSpPr/>
            <p:nvPr/>
          </p:nvSpPr>
          <p:spPr>
            <a:xfrm>
              <a:off x="2933700" y="203200"/>
              <a:ext cx="2679700" cy="19720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pPr>
              <a:r>
                <a:rPr sz="2200" b="1"/>
                <a:t>Nucleic acid</a:t>
              </a:r>
            </a:p>
            <a:p>
              <a:pPr>
                <a:tabLst>
                  <a:tab pos="520700" algn="l"/>
                </a:tabLst>
                <a:defRPr>
                  <a:solidFill>
                    <a:srgbClr val="000000"/>
                  </a:solidFill>
                </a:defRPr>
              </a:pPr>
              <a:r>
                <a:rPr sz="2200"/>
                <a:t>Two identical strands of RNA contain the genetic blueprint for making more HIV particles.</a:t>
              </a:r>
            </a:p>
          </p:txBody>
        </p:sp>
        <p:sp>
          <p:nvSpPr>
            <p:cNvPr id="1981" name="Shape 1981"/>
            <p:cNvSpPr/>
            <p:nvPr/>
          </p:nvSpPr>
          <p:spPr>
            <a:xfrm>
              <a:off x="0" y="0"/>
              <a:ext cx="2921000" cy="1168402"/>
            </a:xfrm>
            <a:prstGeom prst="line">
              <a:avLst/>
            </a:prstGeom>
            <a:noFill/>
            <a:ln w="381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985" name="Group 1985"/>
          <p:cNvGrpSpPr/>
          <p:nvPr/>
        </p:nvGrpSpPr>
        <p:grpSpPr>
          <a:xfrm>
            <a:off x="774700" y="2565400"/>
            <a:ext cx="4389967" cy="1311660"/>
            <a:chOff x="0" y="0"/>
            <a:chExt cx="4389966" cy="1311659"/>
          </a:xfrm>
        </p:grpSpPr>
        <p:sp>
          <p:nvSpPr>
            <p:cNvPr id="1983" name="Shape 1983"/>
            <p:cNvSpPr/>
            <p:nvPr/>
          </p:nvSpPr>
          <p:spPr>
            <a:xfrm>
              <a:off x="0" y="0"/>
              <a:ext cx="3454400" cy="13116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pPr>
              <a:r>
                <a:rPr sz="2200" b="1"/>
                <a:t>Surface proteins</a:t>
              </a:r>
            </a:p>
            <a:p>
              <a:pPr>
                <a:tabLst>
                  <a:tab pos="520700" algn="l"/>
                </a:tabLst>
                <a:defRPr>
                  <a:solidFill>
                    <a:srgbClr val="000000"/>
                  </a:solidFill>
                </a:defRPr>
              </a:pPr>
              <a:r>
                <a:rPr sz="2200"/>
                <a:t>These spikes allow HIV to attach to receptors on the T cells and macrophages.</a:t>
              </a:r>
            </a:p>
          </p:txBody>
        </p:sp>
        <p:sp>
          <p:nvSpPr>
            <p:cNvPr id="1984" name="Shape 1984"/>
            <p:cNvSpPr/>
            <p:nvPr/>
          </p:nvSpPr>
          <p:spPr>
            <a:xfrm flipH="1" flipV="1">
              <a:off x="3414499" y="793001"/>
              <a:ext cx="975468" cy="282266"/>
            </a:xfrm>
            <a:prstGeom prst="line">
              <a:avLst/>
            </a:prstGeom>
            <a:noFill/>
            <a:ln w="381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988" name="Group 1988"/>
          <p:cNvGrpSpPr/>
          <p:nvPr/>
        </p:nvGrpSpPr>
        <p:grpSpPr>
          <a:xfrm>
            <a:off x="4826000" y="1600200"/>
            <a:ext cx="3759200" cy="2561167"/>
            <a:chOff x="0" y="0"/>
            <a:chExt cx="3759200" cy="2561166"/>
          </a:xfrm>
        </p:grpSpPr>
        <p:sp>
          <p:nvSpPr>
            <p:cNvPr id="1986" name="Shape 1986"/>
            <p:cNvSpPr/>
            <p:nvPr/>
          </p:nvSpPr>
          <p:spPr>
            <a:xfrm>
              <a:off x="0" y="0"/>
              <a:ext cx="3759200" cy="98146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pPr>
              <a:r>
                <a:rPr sz="2200" b="1"/>
                <a:t>Capsid</a:t>
              </a:r>
            </a:p>
            <a:p>
              <a:pPr>
                <a:tabLst>
                  <a:tab pos="520700" algn="l"/>
                </a:tabLst>
                <a:defRPr>
                  <a:solidFill>
                    <a:srgbClr val="000000"/>
                  </a:solidFill>
                </a:defRPr>
              </a:pPr>
              <a:r>
                <a:rPr sz="2200"/>
                <a:t>Protein coat that protects the nucleic acid (RNA) within.</a:t>
              </a:r>
            </a:p>
          </p:txBody>
        </p:sp>
        <p:sp>
          <p:nvSpPr>
            <p:cNvPr id="1987" name="Shape 1987"/>
            <p:cNvSpPr/>
            <p:nvPr/>
          </p:nvSpPr>
          <p:spPr>
            <a:xfrm flipH="1" flipV="1">
              <a:off x="829733" y="1058333"/>
              <a:ext cx="715434" cy="1502834"/>
            </a:xfrm>
            <a:prstGeom prst="line">
              <a:avLst/>
            </a:prstGeom>
            <a:noFill/>
            <a:ln w="381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991" name="Group 1991"/>
          <p:cNvGrpSpPr/>
          <p:nvPr/>
        </p:nvGrpSpPr>
        <p:grpSpPr>
          <a:xfrm>
            <a:off x="635000" y="5363940"/>
            <a:ext cx="6224710" cy="3224820"/>
            <a:chOff x="0" y="0"/>
            <a:chExt cx="6224709" cy="3224819"/>
          </a:xfrm>
        </p:grpSpPr>
        <p:sp>
          <p:nvSpPr>
            <p:cNvPr id="1989" name="Shape 1989"/>
            <p:cNvSpPr/>
            <p:nvPr/>
          </p:nvSpPr>
          <p:spPr>
            <a:xfrm>
              <a:off x="3191933" y="0"/>
              <a:ext cx="3032777" cy="210366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19141" y="8529"/>
                  </a:lnTo>
                </a:path>
              </a:pathLst>
            </a:custGeom>
            <a:noFill/>
            <a:ln w="38100" cap="flat">
              <a:solidFill>
                <a:srgbClr val="006994"/>
              </a:solidFill>
              <a:prstDash val="solid"/>
              <a:miter lim="400000"/>
              <a:headEnd type="triangle" w="med" len="med"/>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990" name="Shape 1990"/>
            <p:cNvSpPr/>
            <p:nvPr/>
          </p:nvSpPr>
          <p:spPr>
            <a:xfrm>
              <a:off x="0" y="1913159"/>
              <a:ext cx="3644900" cy="13116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tabLst>
                  <a:tab pos="520700" algn="l"/>
                </a:tabLst>
              </a:pPr>
              <a:r>
                <a:rPr sz="2200" b="1"/>
                <a:t>Reverse transcriptase</a:t>
              </a:r>
            </a:p>
            <a:p>
              <a:pPr>
                <a:tabLst>
                  <a:tab pos="520700" algn="l"/>
                </a:tabLst>
                <a:defRPr>
                  <a:solidFill>
                    <a:srgbClr val="000000"/>
                  </a:solidFill>
                </a:defRPr>
              </a:pPr>
              <a:r>
                <a:rPr sz="2200"/>
                <a:t>Two copies of this enzyme transcribe the </a:t>
              </a:r>
              <a:r>
                <a:rPr sz="2200" b="1">
                  <a:solidFill>
                    <a:srgbClr val="006994"/>
                  </a:solidFill>
                </a:rPr>
                <a:t>RNA</a:t>
              </a:r>
              <a:r>
                <a:rPr sz="2200"/>
                <a:t> into </a:t>
              </a:r>
              <a:r>
                <a:rPr sz="2200" b="1">
                  <a:solidFill>
                    <a:srgbClr val="006994"/>
                  </a:solidFill>
                </a:rPr>
                <a:t>DNA</a:t>
              </a:r>
              <a:r>
                <a:rPr sz="2200" i="1">
                  <a:solidFill>
                    <a:srgbClr val="006994"/>
                  </a:solidFill>
                </a:rPr>
                <a:t> </a:t>
              </a:r>
              <a:r>
                <a:rPr sz="2200"/>
                <a:t>once inside a host cell.</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9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9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9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9" grpId="0" animBg="1" advAuto="0"/>
      <p:bldP spid="1982" grpId="0" animBg="1" advAuto="0"/>
      <p:bldP spid="1985" grpId="0" animBg="1" advAuto="0"/>
      <p:bldP spid="1988" grpId="0" animBg="1" advAuto="0"/>
      <p:bldP spid="1991" grpId="0"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3" name="HIV - stage of infectn tabl.pdf"/>
          <p:cNvPicPr>
            <a:picLocks noChangeAspect="1"/>
          </p:cNvPicPr>
          <p:nvPr/>
        </p:nvPicPr>
        <p:blipFill>
          <a:blip r:embed="rId2"/>
          <a:stretch>
            <a:fillRect/>
          </a:stretch>
        </p:blipFill>
        <p:spPr>
          <a:xfrm>
            <a:off x="3009900" y="4120195"/>
            <a:ext cx="7302500" cy="5121528"/>
          </a:xfrm>
          <a:prstGeom prst="rect">
            <a:avLst/>
          </a:prstGeom>
          <a:ln w="12700">
            <a:miter lim="400000"/>
          </a:ln>
        </p:spPr>
      </p:pic>
      <p:sp>
        <p:nvSpPr>
          <p:cNvPr id="1994" name="Shape 1994"/>
          <p:cNvSpPr>
            <a:spLocks noGrp="1"/>
          </p:cNvSpPr>
          <p:nvPr>
            <p:ph type="title"/>
          </p:nvPr>
        </p:nvSpPr>
        <p:spPr>
          <a:xfrm>
            <a:off x="393700" y="368300"/>
            <a:ext cx="12192000" cy="916127"/>
          </a:xfrm>
          <a:prstGeom prst="rect">
            <a:avLst/>
          </a:prstGeom>
        </p:spPr>
        <p:txBody>
          <a:bodyPr/>
          <a:lstStyle>
            <a:lvl1pPr>
              <a:tabLst>
                <a:tab pos="952500" algn="l"/>
              </a:tabLst>
            </a:lvl1pPr>
          </a:lstStyle>
          <a:p>
            <a:r>
              <a:t>Stages of HIV Infection</a:t>
            </a:r>
          </a:p>
        </p:txBody>
      </p:sp>
      <p:sp>
        <p:nvSpPr>
          <p:cNvPr id="1995" name="Shape 1995"/>
          <p:cNvSpPr/>
          <p:nvPr/>
        </p:nvSpPr>
        <p:spPr>
          <a:xfrm>
            <a:off x="7872707" y="3206750"/>
            <a:ext cx="1968501"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800">
                <a:latin typeface="Hoefler Text"/>
                <a:ea typeface="Hoefler Text"/>
                <a:cs typeface="Hoefler Text"/>
                <a:sym typeface="Hoefler Text"/>
              </a:defRPr>
            </a:pPr>
            <a:r>
              <a:rPr sz="1800" b="1">
                <a:latin typeface="+mn-lt"/>
                <a:ea typeface="+mn-ea"/>
                <a:cs typeface="+mn-cs"/>
                <a:sym typeface="Arial"/>
              </a:rPr>
              <a:t>Category C:</a:t>
            </a:r>
            <a:endParaRPr sz="1800">
              <a:latin typeface="+mn-lt"/>
              <a:ea typeface="+mn-ea"/>
              <a:cs typeface="+mn-cs"/>
              <a:sym typeface="Arial"/>
            </a:endParaRPr>
          </a:p>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Clinical AIDS symptoms appear</a:t>
            </a:r>
          </a:p>
        </p:txBody>
      </p:sp>
      <p:sp>
        <p:nvSpPr>
          <p:cNvPr id="1996" name="Shape 1996"/>
          <p:cNvSpPr/>
          <p:nvPr/>
        </p:nvSpPr>
        <p:spPr>
          <a:xfrm>
            <a:off x="5484965" y="3206750"/>
            <a:ext cx="2438401"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800">
                <a:latin typeface="Hoefler Text"/>
                <a:ea typeface="Hoefler Text"/>
                <a:cs typeface="Hoefler Text"/>
                <a:sym typeface="Hoefler Text"/>
              </a:defRPr>
            </a:pPr>
            <a:r>
              <a:rPr sz="1800" b="1">
                <a:latin typeface="+mn-lt"/>
                <a:ea typeface="+mn-ea"/>
                <a:cs typeface="+mn-cs"/>
                <a:sym typeface="Arial"/>
              </a:rPr>
              <a:t>Category B:</a:t>
            </a:r>
            <a:endParaRPr sz="1800">
              <a:latin typeface="+mn-lt"/>
              <a:ea typeface="+mn-ea"/>
              <a:cs typeface="+mn-cs"/>
              <a:sym typeface="Arial"/>
            </a:endParaRPr>
          </a:p>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Some symptoms, low helper T cell count</a:t>
            </a:r>
          </a:p>
        </p:txBody>
      </p:sp>
      <p:sp>
        <p:nvSpPr>
          <p:cNvPr id="1997" name="Shape 1997"/>
          <p:cNvSpPr/>
          <p:nvPr/>
        </p:nvSpPr>
        <p:spPr>
          <a:xfrm>
            <a:off x="3383760" y="3206750"/>
            <a:ext cx="2222501"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800">
                <a:latin typeface="Hoefler Text"/>
                <a:ea typeface="Hoefler Text"/>
                <a:cs typeface="Hoefler Text"/>
                <a:sym typeface="Hoefler Text"/>
              </a:defRPr>
            </a:pPr>
            <a:r>
              <a:rPr sz="1800" b="1">
                <a:latin typeface="+mn-lt"/>
                <a:ea typeface="+mn-ea"/>
                <a:cs typeface="+mn-cs"/>
                <a:sym typeface="Arial"/>
              </a:rPr>
              <a:t>Category A:</a:t>
            </a:r>
            <a:endParaRPr sz="1800">
              <a:latin typeface="+mn-lt"/>
              <a:ea typeface="+mn-ea"/>
              <a:cs typeface="+mn-cs"/>
              <a:sym typeface="Arial"/>
            </a:endParaRPr>
          </a:p>
          <a:p>
            <a:pPr algn="ctr">
              <a:lnSpc>
                <a:spcPts val="24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HIV positive with little or no symptoms</a:t>
            </a:r>
          </a:p>
        </p:txBody>
      </p:sp>
      <p:sp>
        <p:nvSpPr>
          <p:cNvPr id="1998" name="Shape 1998"/>
          <p:cNvSpPr/>
          <p:nvPr/>
        </p:nvSpPr>
        <p:spPr>
          <a:xfrm>
            <a:off x="6331726" y="9258300"/>
            <a:ext cx="703189"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Years</a:t>
            </a:r>
          </a:p>
        </p:txBody>
      </p:sp>
      <p:sp>
        <p:nvSpPr>
          <p:cNvPr id="1999" name="Shape 1999"/>
          <p:cNvSpPr/>
          <p:nvPr/>
        </p:nvSpPr>
        <p:spPr>
          <a:xfrm>
            <a:off x="7945573" y="6140450"/>
            <a:ext cx="1282701"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HIV population</a:t>
            </a:r>
          </a:p>
        </p:txBody>
      </p:sp>
      <p:sp>
        <p:nvSpPr>
          <p:cNvPr id="2000" name="Shape 2000"/>
          <p:cNvSpPr/>
          <p:nvPr/>
        </p:nvSpPr>
        <p:spPr>
          <a:xfrm>
            <a:off x="5135024" y="5619750"/>
            <a:ext cx="1524001"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a:solidFill>
                  <a:srgbClr val="201B17"/>
                </a:solidFill>
              </a:defRPr>
            </a:lvl1pPr>
          </a:lstStyle>
          <a:p>
            <a:pPr>
              <a:defRPr>
                <a:solidFill>
                  <a:srgbClr val="483F36"/>
                </a:solidFill>
              </a:defRPr>
            </a:pPr>
            <a:r>
              <a:rPr>
                <a:solidFill>
                  <a:srgbClr val="201B17"/>
                </a:solidFill>
              </a:rPr>
              <a:t>Helper T cell population</a:t>
            </a:r>
          </a:p>
        </p:txBody>
      </p:sp>
      <p:sp>
        <p:nvSpPr>
          <p:cNvPr id="2001" name="Shape 2001"/>
          <p:cNvSpPr/>
          <p:nvPr/>
        </p:nvSpPr>
        <p:spPr>
          <a:xfrm rot="16200000">
            <a:off x="882650" y="6381973"/>
            <a:ext cx="3073400" cy="5969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Helper T cell concentration in blood </a:t>
            </a:r>
            <a:r>
              <a:rPr sz="1800">
                <a:solidFill>
                  <a:srgbClr val="201B17"/>
                </a:solidFill>
                <a:latin typeface="+mn-lt"/>
                <a:ea typeface="+mn-ea"/>
                <a:cs typeface="+mn-cs"/>
                <a:sym typeface="Arial"/>
              </a:rPr>
              <a:t>(cells per </a:t>
            </a:r>
            <a:r>
              <a:rPr sz="1800">
                <a:solidFill>
                  <a:srgbClr val="201B17"/>
                </a:solidFill>
                <a:latin typeface="Symbol"/>
                <a:ea typeface="Symbol"/>
                <a:cs typeface="Symbol"/>
                <a:sym typeface="Symbol"/>
              </a:rPr>
              <a:t>μ</a:t>
            </a:r>
            <a:r>
              <a:rPr sz="1800">
                <a:solidFill>
                  <a:srgbClr val="201B17"/>
                </a:solidFill>
                <a:latin typeface="+mn-lt"/>
                <a:ea typeface="+mn-ea"/>
                <a:cs typeface="+mn-cs"/>
                <a:sym typeface="Arial"/>
              </a:rPr>
              <a:t>L)</a:t>
            </a:r>
          </a:p>
        </p:txBody>
      </p:sp>
      <p:sp>
        <p:nvSpPr>
          <p:cNvPr id="2002" name="Shape 2002"/>
          <p:cNvSpPr/>
          <p:nvPr/>
        </p:nvSpPr>
        <p:spPr>
          <a:xfrm>
            <a:off x="3422650" y="3206750"/>
            <a:ext cx="0" cy="631825"/>
          </a:xfrm>
          <a:prstGeom prst="line">
            <a:avLst/>
          </a:prstGeom>
          <a:ln w="12700">
            <a:solidFill>
              <a:srgbClr val="000000"/>
            </a:solidFill>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03" name="Shape 2003"/>
          <p:cNvSpPr/>
          <p:nvPr/>
        </p:nvSpPr>
        <p:spPr>
          <a:xfrm>
            <a:off x="5607050" y="3206750"/>
            <a:ext cx="0" cy="631825"/>
          </a:xfrm>
          <a:prstGeom prst="line">
            <a:avLst/>
          </a:prstGeom>
          <a:ln w="12700">
            <a:solidFill>
              <a:srgbClr val="000000"/>
            </a:solidFill>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04" name="Shape 2004"/>
          <p:cNvSpPr/>
          <p:nvPr/>
        </p:nvSpPr>
        <p:spPr>
          <a:xfrm>
            <a:off x="7867650" y="3206750"/>
            <a:ext cx="0" cy="631825"/>
          </a:xfrm>
          <a:prstGeom prst="line">
            <a:avLst/>
          </a:prstGeom>
          <a:ln w="12700">
            <a:solidFill>
              <a:srgbClr val="000000"/>
            </a:solidFill>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05" name="Shape 2005"/>
          <p:cNvSpPr/>
          <p:nvPr/>
        </p:nvSpPr>
        <p:spPr>
          <a:xfrm>
            <a:off x="9886950" y="3206750"/>
            <a:ext cx="0" cy="631825"/>
          </a:xfrm>
          <a:prstGeom prst="line">
            <a:avLst/>
          </a:prstGeom>
          <a:ln w="12700">
            <a:solidFill>
              <a:srgbClr val="000000"/>
            </a:solidFill>
            <a:miter lim="400000"/>
          </a:ln>
          <a:effectLst>
            <a:outerShdw blurRad="25400" dist="12700" dir="5400000" rotWithShape="0">
              <a:srgbClr val="000000">
                <a:alpha val="20000"/>
              </a:srgbClr>
            </a:outerShdw>
          </a:effectLst>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2006" name="Shape 2006"/>
          <p:cNvSpPr/>
          <p:nvPr/>
        </p:nvSpPr>
        <p:spPr>
          <a:xfrm rot="5400000">
            <a:off x="9344136" y="6588914"/>
            <a:ext cx="282030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400"/>
              </a:lnSpc>
              <a:tabLst>
                <a:tab pos="520700" algn="l"/>
              </a:tabLst>
              <a:defRPr sz="2800">
                <a:solidFill>
                  <a:srgbClr val="483F36"/>
                </a:solidFill>
                <a:latin typeface="Hoefler Text"/>
                <a:ea typeface="Hoefler Text"/>
                <a:cs typeface="Hoefler Text"/>
                <a:sym typeface="Hoefler Text"/>
              </a:defRPr>
            </a:pPr>
            <a:r>
              <a:rPr sz="1800" b="1">
                <a:solidFill>
                  <a:srgbClr val="201B17"/>
                </a:solidFill>
                <a:latin typeface="+mn-lt"/>
                <a:ea typeface="+mn-ea"/>
                <a:cs typeface="+mn-cs"/>
                <a:sym typeface="Arial"/>
              </a:rPr>
              <a:t>Viral RNA </a:t>
            </a:r>
            <a:r>
              <a:rPr sz="1800">
                <a:solidFill>
                  <a:srgbClr val="201B17"/>
                </a:solidFill>
                <a:latin typeface="+mn-lt"/>
                <a:ea typeface="+mn-ea"/>
                <a:cs typeface="+mn-cs"/>
                <a:sym typeface="Arial"/>
              </a:rPr>
              <a:t>(copies per mL)</a:t>
            </a:r>
          </a:p>
        </p:txBody>
      </p:sp>
      <p:grpSp>
        <p:nvGrpSpPr>
          <p:cNvPr id="2009" name="Group 2009"/>
          <p:cNvGrpSpPr/>
          <p:nvPr/>
        </p:nvGrpSpPr>
        <p:grpSpPr>
          <a:xfrm>
            <a:off x="8026400" y="4512902"/>
            <a:ext cx="1447800" cy="1458526"/>
            <a:chOff x="0" y="0"/>
            <a:chExt cx="1447800" cy="1458524"/>
          </a:xfrm>
        </p:grpSpPr>
        <p:pic>
          <p:nvPicPr>
            <p:cNvPr id="2007" name="Istock HIV 3D.png"/>
            <p:cNvPicPr>
              <a:picLocks noChangeAspect="1"/>
            </p:cNvPicPr>
            <p:nvPr/>
          </p:nvPicPr>
          <p:blipFill>
            <a:blip r:embed="rId3"/>
            <a:stretch>
              <a:fillRect/>
            </a:stretch>
          </p:blipFill>
          <p:spPr>
            <a:xfrm>
              <a:off x="0" y="0"/>
              <a:ext cx="1447800" cy="1458525"/>
            </a:xfrm>
            <a:prstGeom prst="rect">
              <a:avLst/>
            </a:prstGeom>
            <a:ln w="12700" cap="flat">
              <a:noFill/>
              <a:miter lim="400000"/>
            </a:ln>
            <a:effectLst/>
          </p:spPr>
        </p:pic>
        <p:sp>
          <p:nvSpPr>
            <p:cNvPr id="2008" name="Shape 2008"/>
            <p:cNvSpPr/>
            <p:nvPr/>
          </p:nvSpPr>
          <p:spPr>
            <a:xfrm rot="5400000">
              <a:off x="1129394" y="1084845"/>
              <a:ext cx="436105" cy="17530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50800" tIns="50800" rIns="50800" bIns="50800" numCol="1" anchor="t">
              <a:spAutoFit/>
            </a:bodyPr>
            <a:lstStyle>
              <a:lvl1pPr>
                <a:lnSpc>
                  <a:spcPts val="700"/>
                </a:lnSpc>
                <a:tabLst>
                  <a:tab pos="520700" algn="l"/>
                </a:tabLst>
                <a:defRPr sz="600">
                  <a:solidFill>
                    <a:srgbClr val="483F36"/>
                  </a:solidFill>
                </a:defRPr>
              </a:lvl1pPr>
            </a:lstStyle>
            <a:p>
              <a:r>
                <a:t>iStock</a:t>
              </a:r>
            </a:p>
          </p:txBody>
        </p:sp>
      </p:grpSp>
      <p:sp>
        <p:nvSpPr>
          <p:cNvPr id="2010" name="Shape 2010"/>
          <p:cNvSpPr>
            <a:spLocks noGrp="1"/>
          </p:cNvSpPr>
          <p:nvPr>
            <p:ph type="body" sz="quarter" idx="1"/>
          </p:nvPr>
        </p:nvSpPr>
        <p:spPr>
          <a:xfrm>
            <a:off x="368300" y="1790700"/>
            <a:ext cx="11631851" cy="1323698"/>
          </a:xfrm>
          <a:prstGeom prst="rect">
            <a:avLst/>
          </a:prstGeom>
        </p:spPr>
        <p:txBody>
          <a:bodyPr/>
          <a:lstStyle/>
          <a:p>
            <a:pPr marL="381000" indent="-381000">
              <a:tabLst>
                <a:tab pos="1016000" algn="l"/>
              </a:tabLst>
            </a:pPr>
            <a:r>
              <a:t>AIDS is only the end stage of an HIV infection. </a:t>
            </a:r>
          </a:p>
          <a:p>
            <a:pPr marL="763199" lvl="1" indent="-381599">
              <a:spcBef>
                <a:spcPts val="800"/>
              </a:spcBef>
              <a:buSzPct val="150000"/>
              <a:tabLst>
                <a:tab pos="1384300" algn="l"/>
              </a:tabLst>
            </a:pPr>
            <a:r>
              <a:t>Shortly after the initial infection, </a:t>
            </a:r>
            <a:r>
              <a:rPr b="1">
                <a:solidFill>
                  <a:srgbClr val="006994"/>
                </a:solidFill>
              </a:rPr>
              <a:t>HIV antibodies</a:t>
            </a:r>
            <a:r>
              <a:t> appear within the blood. </a:t>
            </a:r>
          </a:p>
          <a:p>
            <a:pPr marL="763199" lvl="1" indent="-381599">
              <a:spcBef>
                <a:spcPts val="800"/>
              </a:spcBef>
              <a:buSzPct val="150000"/>
              <a:tabLst>
                <a:tab pos="1384300" algn="l"/>
              </a:tabLst>
            </a:pPr>
            <a:r>
              <a:t>The progress of infection has </a:t>
            </a:r>
            <a:r>
              <a:rPr b="1">
                <a:solidFill>
                  <a:srgbClr val="006994"/>
                </a:solidFill>
              </a:rPr>
              <a:t>three</a:t>
            </a:r>
            <a:r>
              <a:rPr>
                <a:solidFill>
                  <a:srgbClr val="006994"/>
                </a:solidFill>
              </a:rPr>
              <a:t> </a:t>
            </a:r>
            <a:r>
              <a:rPr b="1">
                <a:solidFill>
                  <a:srgbClr val="006994"/>
                </a:solidFill>
              </a:rPr>
              <a:t>clinical</a:t>
            </a:r>
            <a:r>
              <a:rPr>
                <a:solidFill>
                  <a:srgbClr val="006994"/>
                </a:solidFill>
              </a:rPr>
              <a:t> </a:t>
            </a:r>
            <a:r>
              <a:rPr b="1">
                <a:solidFill>
                  <a:srgbClr val="006994"/>
                </a:solidFill>
              </a:rPr>
              <a:t>categories</a:t>
            </a:r>
            <a:r>
              <a:t>, shown on the graph below.</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1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0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0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0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0" grpId="0"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2" name="HIV life cycle simple colour.png"/>
          <p:cNvPicPr>
            <a:picLocks noChangeAspect="1"/>
          </p:cNvPicPr>
          <p:nvPr/>
        </p:nvPicPr>
        <p:blipFill>
          <a:blip r:embed="rId2"/>
          <a:stretch>
            <a:fillRect/>
          </a:stretch>
        </p:blipFill>
        <p:spPr>
          <a:xfrm>
            <a:off x="907299" y="3849977"/>
            <a:ext cx="11661455" cy="4116813"/>
          </a:xfrm>
          <a:prstGeom prst="rect">
            <a:avLst/>
          </a:prstGeom>
          <a:ln w="12700">
            <a:miter lim="400000"/>
          </a:ln>
        </p:spPr>
      </p:pic>
      <p:sp>
        <p:nvSpPr>
          <p:cNvPr id="2013" name="Shape 2013"/>
          <p:cNvSpPr>
            <a:spLocks noGrp="1"/>
          </p:cNvSpPr>
          <p:nvPr>
            <p:ph type="title"/>
          </p:nvPr>
        </p:nvSpPr>
        <p:spPr>
          <a:prstGeom prst="rect">
            <a:avLst/>
          </a:prstGeom>
        </p:spPr>
        <p:txBody>
          <a:bodyPr/>
          <a:lstStyle>
            <a:lvl1pPr>
              <a:tabLst>
                <a:tab pos="952500" algn="l"/>
              </a:tabLst>
            </a:lvl1pPr>
          </a:lstStyle>
          <a:p>
            <a:r>
              <a:t>HIV Replication</a:t>
            </a:r>
          </a:p>
        </p:txBody>
      </p:sp>
      <p:sp>
        <p:nvSpPr>
          <p:cNvPr id="2014" name="Shape 2014"/>
          <p:cNvSpPr/>
          <p:nvPr/>
        </p:nvSpPr>
        <p:spPr>
          <a:xfrm>
            <a:off x="387275" y="1932960"/>
            <a:ext cx="2335144" cy="8942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The genetic material of HIV is a single strand of RNA.</a:t>
            </a:r>
          </a:p>
        </p:txBody>
      </p:sp>
      <p:sp>
        <p:nvSpPr>
          <p:cNvPr id="2015" name="Shape 2015"/>
          <p:cNvSpPr/>
          <p:nvPr/>
        </p:nvSpPr>
        <p:spPr>
          <a:xfrm>
            <a:off x="3339558" y="1882160"/>
            <a:ext cx="3176819" cy="22277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HIV hijacks the T helper cells' machinery to replicate itself. Reverse transcriptase produces double stranded DNA (dsDNA) from the viral RNA. The host cell transcribes the viral genes to produce new viruses.</a:t>
            </a:r>
          </a:p>
        </p:txBody>
      </p:sp>
      <p:sp>
        <p:nvSpPr>
          <p:cNvPr id="2016" name="Shape 2016"/>
          <p:cNvSpPr/>
          <p:nvPr/>
        </p:nvSpPr>
        <p:spPr>
          <a:xfrm>
            <a:off x="7133515" y="1882160"/>
            <a:ext cx="2335144" cy="22277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The new HIV particles bud from the T helper cell. Between 1000 and 3000 new HIV particles can be released from a single infected cell.</a:t>
            </a:r>
          </a:p>
        </p:txBody>
      </p:sp>
      <p:sp>
        <p:nvSpPr>
          <p:cNvPr id="2017" name="Shape 2017"/>
          <p:cNvSpPr/>
          <p:nvPr/>
        </p:nvSpPr>
        <p:spPr>
          <a:xfrm>
            <a:off x="9908743" y="1882160"/>
            <a:ext cx="2508300" cy="19610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The HIV particles mature and infect more T helper cells. As more T helper cells become infected, the body's immune response weakens.</a:t>
            </a:r>
          </a:p>
        </p:txBody>
      </p:sp>
      <p:sp>
        <p:nvSpPr>
          <p:cNvPr id="2018" name="Shape 2018"/>
          <p:cNvSpPr/>
          <p:nvPr/>
        </p:nvSpPr>
        <p:spPr>
          <a:xfrm>
            <a:off x="133275" y="7153510"/>
            <a:ext cx="3052843" cy="14276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HIV binds to specific CD4 receptors on T helper cells. HIV fuses with the plasma membrane of the T helper cell. Its RNA enters the cell.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0" name="Kaposi sarcoma on nose sand etal CC2.0.jpg"/>
          <p:cNvPicPr>
            <a:picLocks noChangeAspect="1"/>
          </p:cNvPicPr>
          <p:nvPr/>
        </p:nvPicPr>
        <p:blipFill>
          <a:blip r:embed="rId2"/>
          <a:srcRect l="4487" t="16723" r="2704" b="193"/>
          <a:stretch>
            <a:fillRect/>
          </a:stretch>
        </p:blipFill>
        <p:spPr>
          <a:xfrm>
            <a:off x="7627225" y="6490006"/>
            <a:ext cx="5369632" cy="3240672"/>
          </a:xfrm>
          <a:prstGeom prst="rect">
            <a:avLst/>
          </a:prstGeom>
          <a:ln w="25400">
            <a:solidFill>
              <a:srgbClr val="FFFFFF"/>
            </a:solidFill>
            <a:miter lim="400000"/>
          </a:ln>
        </p:spPr>
      </p:pic>
      <p:sp>
        <p:nvSpPr>
          <p:cNvPr id="2021" name="Shape 2021"/>
          <p:cNvSpPr>
            <a:spLocks noGrp="1"/>
          </p:cNvSpPr>
          <p:nvPr>
            <p:ph type="title"/>
          </p:nvPr>
        </p:nvSpPr>
        <p:spPr>
          <a:prstGeom prst="rect">
            <a:avLst/>
          </a:prstGeom>
        </p:spPr>
        <p:txBody>
          <a:bodyPr/>
          <a:lstStyle>
            <a:lvl1pPr>
              <a:tabLst>
                <a:tab pos="952500" algn="l"/>
              </a:tabLst>
            </a:lvl1pPr>
          </a:lstStyle>
          <a:p>
            <a:r>
              <a:t>HIV Infection</a:t>
            </a:r>
          </a:p>
        </p:txBody>
      </p:sp>
      <p:grpSp>
        <p:nvGrpSpPr>
          <p:cNvPr id="2026" name="Group 2026"/>
          <p:cNvGrpSpPr/>
          <p:nvPr/>
        </p:nvGrpSpPr>
        <p:grpSpPr>
          <a:xfrm>
            <a:off x="7624685" y="-2759"/>
            <a:ext cx="5360422" cy="6495826"/>
            <a:chOff x="0" y="0"/>
            <a:chExt cx="5360420" cy="6495824"/>
          </a:xfrm>
        </p:grpSpPr>
        <p:pic>
          <p:nvPicPr>
            <p:cNvPr id="2022" name="PCPxray-NIH.jpg"/>
            <p:cNvPicPr>
              <a:picLocks noChangeAspect="1"/>
            </p:cNvPicPr>
            <p:nvPr/>
          </p:nvPicPr>
          <p:blipFill>
            <a:blip r:embed="rId3"/>
            <a:stretch>
              <a:fillRect/>
            </a:stretch>
          </p:blipFill>
          <p:spPr>
            <a:xfrm>
              <a:off x="0" y="0"/>
              <a:ext cx="5360421" cy="6495825"/>
            </a:xfrm>
            <a:prstGeom prst="rect">
              <a:avLst/>
            </a:prstGeom>
            <a:ln w="25400" cap="flat">
              <a:solidFill>
                <a:srgbClr val="FFFFFF"/>
              </a:solidFill>
              <a:prstDash val="solid"/>
              <a:miter lim="400000"/>
            </a:ln>
            <a:effectLst/>
          </p:spPr>
        </p:pic>
        <p:sp>
          <p:nvSpPr>
            <p:cNvPr id="2023" name="Shape 2023"/>
            <p:cNvSpPr/>
            <p:nvPr/>
          </p:nvSpPr>
          <p:spPr>
            <a:xfrm flipH="1">
              <a:off x="596678" y="5044087"/>
              <a:ext cx="344475" cy="332173"/>
            </a:xfrm>
            <a:prstGeom prst="line">
              <a:avLst/>
            </a:prstGeom>
            <a:noFill/>
            <a:ln w="25400" cap="flat">
              <a:solidFill>
                <a:srgbClr val="000000"/>
              </a:solidFill>
              <a:prstDash val="solid"/>
              <a:miter lim="400000"/>
              <a:headEnd type="stealth"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2024" name="Shape 2024"/>
            <p:cNvSpPr/>
            <p:nvPr/>
          </p:nvSpPr>
          <p:spPr>
            <a:xfrm>
              <a:off x="4521222" y="5191719"/>
              <a:ext cx="529015" cy="319870"/>
            </a:xfrm>
            <a:prstGeom prst="line">
              <a:avLst/>
            </a:prstGeom>
            <a:noFill/>
            <a:ln w="25400" cap="flat">
              <a:solidFill>
                <a:srgbClr val="000000"/>
              </a:solidFill>
              <a:prstDash val="solid"/>
              <a:miter lim="400000"/>
              <a:headEnd type="stealth" w="med" len="med"/>
            </a:ln>
            <a:effectLst>
              <a:outerShdw blurRad="25400" dist="12700" dir="5400000" rotWithShape="0">
                <a:srgbClr val="000000">
                  <a:alpha val="20000"/>
                </a:srgbClr>
              </a:outerShdw>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2025" name="Shape 2025"/>
            <p:cNvSpPr/>
            <p:nvPr/>
          </p:nvSpPr>
          <p:spPr>
            <a:xfrm rot="5400000">
              <a:off x="4874753" y="6145590"/>
              <a:ext cx="478701" cy="20743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nSpc>
                  <a:spcPts val="800"/>
                </a:lnSpc>
                <a:tabLst>
                  <a:tab pos="520700" algn="l"/>
                </a:tabLst>
                <a:defRPr sz="700">
                  <a:solidFill>
                    <a:srgbClr val="000000"/>
                  </a:solidFill>
                </a:defRPr>
              </a:lvl1pPr>
            </a:lstStyle>
            <a:p>
              <a:r>
                <a:t>NIH</a:t>
              </a:r>
            </a:p>
          </p:txBody>
        </p:sp>
      </p:grpSp>
      <p:sp>
        <p:nvSpPr>
          <p:cNvPr id="2027" name="Shape 2027"/>
          <p:cNvSpPr>
            <a:spLocks noGrp="1"/>
          </p:cNvSpPr>
          <p:nvPr>
            <p:ph type="body" sz="half" idx="1"/>
          </p:nvPr>
        </p:nvSpPr>
        <p:spPr>
          <a:xfrm>
            <a:off x="368300" y="1790700"/>
            <a:ext cx="6526054" cy="7543800"/>
          </a:xfrm>
          <a:prstGeom prst="rect">
            <a:avLst/>
          </a:prstGeom>
        </p:spPr>
        <p:txBody>
          <a:bodyPr/>
          <a:lstStyle/>
          <a:p>
            <a:pPr marL="381000" indent="-381000">
              <a:tabLst>
                <a:tab pos="1016000" algn="l"/>
              </a:tabLst>
            </a:pPr>
            <a:r>
              <a:t>HIV/AIDS is a spectrum of disorders (right) arising as a consequence of impaired immune function, which prevents the body detecting and destroying pathogens or damaged cells.   </a:t>
            </a:r>
          </a:p>
          <a:p>
            <a:pPr marL="763199" lvl="1" indent="-381599">
              <a:buSzPct val="150000"/>
              <a:tabLst>
                <a:tab pos="1384300" algn="l"/>
              </a:tabLst>
            </a:pPr>
            <a:r>
              <a:t>People with healthy immune systems can resist pathogens and are able to detect and destroy damaged (pre-cancerous) cells. However, people with HIV are susceptible to all pathogens because their resistance to disease is so low. </a:t>
            </a:r>
          </a:p>
          <a:p>
            <a:pPr marL="763199" lvl="1" indent="-381599">
              <a:buSzPct val="150000"/>
              <a:tabLst>
                <a:tab pos="1384300" algn="l"/>
              </a:tabLst>
            </a:pPr>
            <a:r>
              <a:t>Moreover, loss of the T cell population compromises the ability of HIV-infected people to detect and destroy pre-cancerous cells. Rare cancers are a common symptom of HIV/AIDS.</a:t>
            </a:r>
          </a:p>
          <a:p>
            <a:pPr marL="763199" lvl="1" indent="-381599">
              <a:buSzPct val="150000"/>
              <a:tabLst>
                <a:tab pos="1384300" algn="l"/>
              </a:tabLst>
            </a:pPr>
            <a:r>
              <a:t>Antibiotics can be used to treat some of the infections contracted due to the reduced immune system (e.g. tuberculosis), but they cannot be used to treat the HIV infection itself.</a:t>
            </a:r>
          </a:p>
          <a:p>
            <a:pPr marL="763199" lvl="1" indent="-381599">
              <a:buSzPct val="150000"/>
              <a:tabLst>
                <a:tab pos="1384300" algn="l"/>
              </a:tabLst>
            </a:pPr>
            <a:r>
              <a:t>Although there is currently no cure of HIV/AIDS, some drugs can slow the progress of the disease by interfering with the replication of HIV and slowing the advance of the disease.</a:t>
            </a:r>
          </a:p>
        </p:txBody>
      </p:sp>
      <p:sp>
        <p:nvSpPr>
          <p:cNvPr id="2028" name="Shape 2028"/>
          <p:cNvSpPr/>
          <p:nvPr/>
        </p:nvSpPr>
        <p:spPr>
          <a:xfrm>
            <a:off x="7609840" y="9199879"/>
            <a:ext cx="4418251" cy="508001"/>
          </a:xfrm>
          <a:prstGeom prst="rect">
            <a:avLst/>
          </a:prstGeom>
          <a:solidFill>
            <a:srgbClr val="FFFFFF">
              <a:alpha val="80000"/>
            </a:srgbClr>
          </a:solidFill>
          <a:ln w="25400">
            <a:miter lim="400000"/>
          </a:ln>
          <a:extLst>
            <a:ext uri="{C572A759-6A51-4108-AA02-DFA0A04FC94B}">
              <ma14:wrappingTextBoxFlag xmlns:ma14="http://schemas.microsoft.com/office/mac/drawingml/2011/main" xmlns="" val="1"/>
            </a:ext>
          </a:extLst>
        </p:spPr>
        <p:txBody>
          <a:bodyPr lIns="0" tIns="0" rIns="0" bIns="0" anchor="ctr"/>
          <a:lstStyle>
            <a:lvl1pPr>
              <a:tabLst>
                <a:tab pos="520700" algn="l"/>
              </a:tabLst>
              <a:defRPr sz="1400">
                <a:solidFill>
                  <a:srgbClr val="000000"/>
                </a:solidFill>
              </a:defRPr>
            </a:lvl1pPr>
          </a:lstStyle>
          <a:p>
            <a:r>
              <a:t>Kaposi's sarcoma is caused by a viral infection and is commonly seen in patients with AIDS. </a:t>
            </a:r>
          </a:p>
        </p:txBody>
      </p:sp>
      <p:sp>
        <p:nvSpPr>
          <p:cNvPr id="2029" name="Shape 2029"/>
          <p:cNvSpPr/>
          <p:nvPr/>
        </p:nvSpPr>
        <p:spPr>
          <a:xfrm>
            <a:off x="7620000" y="5554979"/>
            <a:ext cx="4584700" cy="939801"/>
          </a:xfrm>
          <a:prstGeom prst="rect">
            <a:avLst/>
          </a:prstGeom>
          <a:solidFill>
            <a:srgbClr val="FFFFFF">
              <a:alpha val="80000"/>
            </a:srgbClr>
          </a:solidFill>
          <a:ln w="25400">
            <a:miter lim="400000"/>
          </a:ln>
          <a:extLst>
            <a:ext uri="{C572A759-6A51-4108-AA02-DFA0A04FC94B}">
              <ma14:wrappingTextBoxFlag xmlns:ma14="http://schemas.microsoft.com/office/mac/drawingml/2011/main" xmlns="" val="1"/>
            </a:ext>
          </a:extLst>
        </p:spPr>
        <p:txBody>
          <a:bodyPr lIns="0" tIns="0" rIns="0" bIns="0" anchor="ctr"/>
          <a:lstStyle>
            <a:lvl1pPr>
              <a:tabLst>
                <a:tab pos="520700" algn="l"/>
              </a:tabLst>
              <a:defRPr sz="1400">
                <a:solidFill>
                  <a:srgbClr val="000000"/>
                </a:solidFill>
              </a:defRPr>
            </a:lvl1pPr>
          </a:lstStyle>
          <a:p>
            <a:r>
              <a:t>Pneumocystis pneumonia is caused by a rare yeast-like fungus. It is rare in healthy immunocompetent people but common in AIDS patients. The increased opacity in the lower lungs on both sides is diagnostic.</a:t>
            </a:r>
          </a:p>
        </p:txBody>
      </p:sp>
      <p:sp>
        <p:nvSpPr>
          <p:cNvPr id="2030" name="Shape 2030"/>
          <p:cNvSpPr/>
          <p:nvPr/>
        </p:nvSpPr>
        <p:spPr>
          <a:xfrm rot="5400000">
            <a:off x="12415559" y="9350161"/>
            <a:ext cx="737900" cy="207437"/>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lnSpc>
                <a:spcPts val="800"/>
              </a:lnSpc>
              <a:tabLst>
                <a:tab pos="520700" algn="l"/>
              </a:tabLst>
              <a:defRPr sz="700" u="sng">
                <a:solidFill>
                  <a:srgbClr val="FFFFFF"/>
                </a:solidFill>
                <a:hlinkClick r:id="rId4"/>
              </a:defRPr>
            </a:lvl1pPr>
          </a:lstStyle>
          <a:p>
            <a:pPr>
              <a:defRPr u="none"/>
            </a:pPr>
            <a:r>
              <a:rPr u="sng">
                <a:hlinkClick r:id="rId4"/>
              </a:rPr>
              <a:t>Sand et. al</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2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02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02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02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02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0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 grpId="0" build="p" bldLvl="5"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2" name="ryan sitting unhealthy.png"/>
          <p:cNvPicPr>
            <a:picLocks noChangeAspect="1"/>
          </p:cNvPicPr>
          <p:nvPr/>
        </p:nvPicPr>
        <p:blipFill>
          <a:blip r:embed="rId2"/>
          <a:stretch>
            <a:fillRect/>
          </a:stretch>
        </p:blipFill>
        <p:spPr>
          <a:xfrm>
            <a:off x="2389786" y="1680484"/>
            <a:ext cx="7026971" cy="7862495"/>
          </a:xfrm>
          <a:prstGeom prst="rect">
            <a:avLst/>
          </a:prstGeom>
          <a:ln w="12700">
            <a:miter lim="400000"/>
          </a:ln>
        </p:spPr>
      </p:pic>
      <p:sp>
        <p:nvSpPr>
          <p:cNvPr id="2033" name="Shape 2033"/>
          <p:cNvSpPr>
            <a:spLocks noGrp="1"/>
          </p:cNvSpPr>
          <p:nvPr>
            <p:ph type="title"/>
          </p:nvPr>
        </p:nvSpPr>
        <p:spPr>
          <a:xfrm>
            <a:off x="393700" y="368300"/>
            <a:ext cx="12192000" cy="909737"/>
          </a:xfrm>
          <a:prstGeom prst="rect">
            <a:avLst/>
          </a:prstGeom>
        </p:spPr>
        <p:txBody>
          <a:bodyPr/>
          <a:lstStyle>
            <a:lvl1pPr>
              <a:tabLst>
                <a:tab pos="952500" algn="l"/>
              </a:tabLst>
            </a:lvl1pPr>
          </a:lstStyle>
          <a:p>
            <a:r>
              <a:t>Symptoms of AIDS</a:t>
            </a:r>
          </a:p>
        </p:txBody>
      </p:sp>
      <p:sp>
        <p:nvSpPr>
          <p:cNvPr id="2034" name="Shape 2034"/>
          <p:cNvSpPr/>
          <p:nvPr/>
        </p:nvSpPr>
        <p:spPr>
          <a:xfrm>
            <a:off x="942781" y="2155119"/>
            <a:ext cx="3192610"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Fever, cancer, toxoplasmosis of the brain, and dementia.</a:t>
            </a:r>
          </a:p>
        </p:txBody>
      </p:sp>
      <p:sp>
        <p:nvSpPr>
          <p:cNvPr id="2035" name="Shape 2035"/>
          <p:cNvSpPr/>
          <p:nvPr/>
        </p:nvSpPr>
        <p:spPr>
          <a:xfrm>
            <a:off x="942781" y="3291769"/>
            <a:ext cx="3408817" cy="8942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tabLst>
                <a:tab pos="520700" algn="l"/>
              </a:tabLst>
            </a:pPr>
            <a:r>
              <a:t>A variety of opportunistic infections, including </a:t>
            </a:r>
            <a:r>
              <a:rPr i="1"/>
              <a:t>Herpes</a:t>
            </a:r>
            <a:r>
              <a:t> and tuberculosis.</a:t>
            </a:r>
          </a:p>
        </p:txBody>
      </p:sp>
      <p:sp>
        <p:nvSpPr>
          <p:cNvPr id="2036" name="Shape 2036"/>
          <p:cNvSpPr/>
          <p:nvPr/>
        </p:nvSpPr>
        <p:spPr>
          <a:xfrm>
            <a:off x="942781" y="4658193"/>
            <a:ext cx="3063377"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Oral thrush affecting respiratory tract.</a:t>
            </a:r>
          </a:p>
        </p:txBody>
      </p:sp>
      <p:sp>
        <p:nvSpPr>
          <p:cNvPr id="2037" name="Shape 2037"/>
          <p:cNvSpPr/>
          <p:nvPr/>
        </p:nvSpPr>
        <p:spPr>
          <a:xfrm>
            <a:off x="878165" y="5757917"/>
            <a:ext cx="3192610" cy="1427623"/>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Kaposi's sarcoma: a highly aggressive malignant skin tumour. Usually starts at the feet and ankles, spreading throughout the body.</a:t>
            </a:r>
          </a:p>
        </p:txBody>
      </p:sp>
      <p:sp>
        <p:nvSpPr>
          <p:cNvPr id="2038" name="Shape 2038"/>
          <p:cNvSpPr/>
          <p:nvPr/>
        </p:nvSpPr>
        <p:spPr>
          <a:xfrm>
            <a:off x="7336715" y="1593030"/>
            <a:ext cx="2921207"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tabLst>
                <a:tab pos="520700" algn="l"/>
              </a:tabLst>
            </a:pPr>
            <a:r>
              <a:t>Eye infections (</a:t>
            </a:r>
            <a:r>
              <a:rPr i="1"/>
              <a:t>Cytomegalovirus</a:t>
            </a:r>
            <a:r>
              <a:t>)</a:t>
            </a:r>
          </a:p>
        </p:txBody>
      </p:sp>
      <p:sp>
        <p:nvSpPr>
          <p:cNvPr id="2039" name="Shape 2039"/>
          <p:cNvSpPr/>
          <p:nvPr/>
        </p:nvSpPr>
        <p:spPr>
          <a:xfrm>
            <a:off x="8748955" y="2744399"/>
            <a:ext cx="2428418"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Dermatitis, especially on the face.</a:t>
            </a:r>
          </a:p>
        </p:txBody>
      </p:sp>
      <p:sp>
        <p:nvSpPr>
          <p:cNvPr id="2040" name="Shape 2040"/>
          <p:cNvSpPr/>
          <p:nvPr/>
        </p:nvSpPr>
        <p:spPr>
          <a:xfrm>
            <a:off x="9653195" y="5314947"/>
            <a:ext cx="2635377"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Marked weight loss and infectious diarrhoea.</a:t>
            </a:r>
          </a:p>
        </p:txBody>
      </p:sp>
      <p:sp>
        <p:nvSpPr>
          <p:cNvPr id="2041" name="Shape 2041"/>
          <p:cNvSpPr/>
          <p:nvPr/>
        </p:nvSpPr>
        <p:spPr>
          <a:xfrm>
            <a:off x="9226475" y="8371769"/>
            <a:ext cx="2921207" cy="8942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A number of autoimmune diseases, especially destruction of platelets.</a:t>
            </a:r>
          </a:p>
        </p:txBody>
      </p:sp>
      <p:sp>
        <p:nvSpPr>
          <p:cNvPr id="2042" name="Shape 2042"/>
          <p:cNvSpPr/>
          <p:nvPr/>
        </p:nvSpPr>
        <p:spPr>
          <a:xfrm>
            <a:off x="4130039" y="2392679"/>
            <a:ext cx="1994924" cy="353868"/>
          </a:xfrm>
          <a:prstGeom prst="line">
            <a:avLst/>
          </a:prstGeom>
          <a:ln w="25400">
            <a:solidFill>
              <a:srgbClr val="006994"/>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3" name="Shape 2043"/>
          <p:cNvSpPr/>
          <p:nvPr/>
        </p:nvSpPr>
        <p:spPr>
          <a:xfrm>
            <a:off x="3863812" y="3592267"/>
            <a:ext cx="2804443" cy="1"/>
          </a:xfrm>
          <a:prstGeom prst="line">
            <a:avLst/>
          </a:prstGeom>
          <a:ln w="25400">
            <a:solidFill>
              <a:srgbClr val="006994"/>
            </a:solidFill>
            <a:miter lim="400000"/>
            <a:tailEnd type="stealth"/>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4" name="Shape 2044"/>
          <p:cNvSpPr/>
          <p:nvPr/>
        </p:nvSpPr>
        <p:spPr>
          <a:xfrm rot="20452181">
            <a:off x="3298988" y="4324564"/>
            <a:ext cx="4101788" cy="499424"/>
          </a:xfrm>
          <a:custGeom>
            <a:avLst/>
            <a:gdLst/>
            <a:ahLst/>
            <a:cxnLst>
              <a:cxn ang="0">
                <a:pos x="wd2" y="hd2"/>
              </a:cxn>
              <a:cxn ang="5400000">
                <a:pos x="wd2" y="hd2"/>
              </a:cxn>
              <a:cxn ang="10800000">
                <a:pos x="wd2" y="hd2"/>
              </a:cxn>
              <a:cxn ang="16200000">
                <a:pos x="wd2" y="hd2"/>
              </a:cxn>
            </a:cxnLst>
            <a:rect l="0" t="0" r="r" b="b"/>
            <a:pathLst>
              <a:path w="21600" h="19295" extrusionOk="0">
                <a:moveTo>
                  <a:pt x="0" y="0"/>
                </a:moveTo>
                <a:cubicBezTo>
                  <a:pt x="3997" y="15159"/>
                  <a:pt x="8502" y="21600"/>
                  <a:pt x="12982" y="18561"/>
                </a:cubicBezTo>
                <a:cubicBezTo>
                  <a:pt x="15991" y="16520"/>
                  <a:pt x="18918" y="10216"/>
                  <a:pt x="21600" y="0"/>
                </a:cubicBezTo>
              </a:path>
            </a:pathLst>
          </a:custGeom>
          <a:ln w="25400">
            <a:solidFill>
              <a:srgbClr val="006994"/>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5" name="Shape 2045"/>
          <p:cNvSpPr/>
          <p:nvPr/>
        </p:nvSpPr>
        <p:spPr>
          <a:xfrm>
            <a:off x="3520440" y="6974839"/>
            <a:ext cx="1" cy="1716251"/>
          </a:xfrm>
          <a:prstGeom prst="line">
            <a:avLst/>
          </a:prstGeom>
          <a:ln w="25400">
            <a:solidFill>
              <a:srgbClr val="006994"/>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6" name="Shape 2046"/>
          <p:cNvSpPr/>
          <p:nvPr/>
        </p:nvSpPr>
        <p:spPr>
          <a:xfrm rot="7238046">
            <a:off x="6043210" y="2273377"/>
            <a:ext cx="1647240" cy="268344"/>
          </a:xfrm>
          <a:custGeom>
            <a:avLst/>
            <a:gdLst/>
            <a:ahLst/>
            <a:cxnLst>
              <a:cxn ang="0">
                <a:pos x="wd2" y="hd2"/>
              </a:cxn>
              <a:cxn ang="5400000">
                <a:pos x="wd2" y="hd2"/>
              </a:cxn>
              <a:cxn ang="10800000">
                <a:pos x="wd2" y="hd2"/>
              </a:cxn>
              <a:cxn ang="16200000">
                <a:pos x="wd2" y="hd2"/>
              </a:cxn>
            </a:cxnLst>
            <a:rect l="0" t="0" r="r" b="b"/>
            <a:pathLst>
              <a:path w="21600" h="20238" extrusionOk="0">
                <a:moveTo>
                  <a:pt x="0" y="0"/>
                </a:moveTo>
                <a:cubicBezTo>
                  <a:pt x="3063" y="11434"/>
                  <a:pt x="6576" y="18265"/>
                  <a:pt x="10217" y="19870"/>
                </a:cubicBezTo>
                <a:cubicBezTo>
                  <a:pt x="14141" y="21600"/>
                  <a:pt x="18074" y="17207"/>
                  <a:pt x="21600" y="7156"/>
                </a:cubicBezTo>
              </a:path>
            </a:pathLst>
          </a:custGeom>
          <a:ln w="25400">
            <a:solidFill>
              <a:srgbClr val="006994"/>
            </a:solidFill>
            <a:miter lim="400000"/>
            <a:tailEnd type="stealth"/>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7" name="Shape 2047"/>
          <p:cNvSpPr/>
          <p:nvPr/>
        </p:nvSpPr>
        <p:spPr>
          <a:xfrm flipH="1" flipV="1">
            <a:off x="7114540" y="2936239"/>
            <a:ext cx="1727715" cy="1"/>
          </a:xfrm>
          <a:prstGeom prst="line">
            <a:avLst/>
          </a:prstGeom>
          <a:ln w="25400">
            <a:solidFill>
              <a:srgbClr val="006994"/>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8" name="Shape 2048"/>
          <p:cNvSpPr/>
          <p:nvPr/>
        </p:nvSpPr>
        <p:spPr>
          <a:xfrm flipH="1">
            <a:off x="8328659" y="5450839"/>
            <a:ext cx="1280218" cy="1"/>
          </a:xfrm>
          <a:prstGeom prst="line">
            <a:avLst/>
          </a:prstGeom>
          <a:ln w="25400">
            <a:solidFill>
              <a:srgbClr val="006994"/>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49" name="Shape 2049"/>
          <p:cNvSpPr/>
          <p:nvPr/>
        </p:nvSpPr>
        <p:spPr>
          <a:xfrm flipH="1" flipV="1">
            <a:off x="5736212" y="6153179"/>
            <a:ext cx="3527446" cy="2430791"/>
          </a:xfrm>
          <a:prstGeom prst="line">
            <a:avLst/>
          </a:prstGeom>
          <a:ln w="25400">
            <a:solidFill>
              <a:srgbClr val="006994"/>
            </a:solidFill>
            <a:miter lim="400000"/>
            <a:tailEnd type="oval"/>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Shape 2058"/>
          <p:cNvSpPr/>
          <p:nvPr/>
        </p:nvSpPr>
        <p:spPr>
          <a:xfrm>
            <a:off x="7191017" y="-115571"/>
            <a:ext cx="5803623" cy="9931997"/>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059" name="Shape 2059"/>
          <p:cNvSpPr>
            <a:spLocks noGrp="1"/>
          </p:cNvSpPr>
          <p:nvPr>
            <p:ph type="title"/>
          </p:nvPr>
        </p:nvSpPr>
        <p:spPr>
          <a:prstGeom prst="rect">
            <a:avLst/>
          </a:prstGeom>
        </p:spPr>
        <p:txBody>
          <a:bodyPr/>
          <a:lstStyle>
            <a:lvl1pPr>
              <a:tabLst>
                <a:tab pos="952500" algn="l"/>
              </a:tabLst>
            </a:lvl1pPr>
          </a:lstStyle>
          <a:p>
            <a:r>
              <a:t>Influenza</a:t>
            </a:r>
          </a:p>
        </p:txBody>
      </p:sp>
      <p:sp>
        <p:nvSpPr>
          <p:cNvPr id="2060" name="Shape 2060"/>
          <p:cNvSpPr>
            <a:spLocks noGrp="1"/>
          </p:cNvSpPr>
          <p:nvPr>
            <p:ph type="body" sz="half" idx="1"/>
          </p:nvPr>
        </p:nvSpPr>
        <p:spPr>
          <a:xfrm>
            <a:off x="368300" y="1790700"/>
            <a:ext cx="6681114" cy="7543800"/>
          </a:xfrm>
          <a:prstGeom prst="rect">
            <a:avLst/>
          </a:prstGeom>
        </p:spPr>
        <p:txBody>
          <a:bodyPr/>
          <a:lstStyle/>
          <a:p>
            <a:pPr>
              <a:tabLst>
                <a:tab pos="1016000" algn="l"/>
              </a:tabLst>
            </a:pPr>
            <a:r>
              <a:t>Although it is often looked upon as simply a bad cold, influenza (commonly called "the flu") has arguably caused more human deaths than any other disease throughout history. </a:t>
            </a:r>
          </a:p>
          <a:p>
            <a:pPr lvl="1">
              <a:tabLst>
                <a:tab pos="1485900" algn="l"/>
              </a:tabLst>
            </a:pPr>
            <a:r>
              <a:t>Influenza occurs in seasonal epidemics, usually infecting around five million people globally, and causing the death of between 250,000 and 500,000 people annually. </a:t>
            </a:r>
          </a:p>
          <a:p>
            <a:pPr lvl="1">
              <a:tabLst>
                <a:tab pos="1485900" algn="l"/>
              </a:tabLst>
            </a:pPr>
            <a:r>
              <a:t>The influenza virus continually changes in two ways. </a:t>
            </a:r>
            <a:r>
              <a:rPr b="1">
                <a:solidFill>
                  <a:srgbClr val="006994"/>
                </a:solidFill>
              </a:rPr>
              <a:t>Antigenic drift</a:t>
            </a:r>
            <a:r>
              <a:t> involves small cumulative genetic changes over time. </a:t>
            </a:r>
          </a:p>
          <a:p>
            <a:pPr lvl="1">
              <a:tabLst>
                <a:tab pos="1485900" algn="l"/>
              </a:tabLst>
            </a:pPr>
            <a:r>
              <a:t>Occasionally the virus will also undergo </a:t>
            </a:r>
            <a:r>
              <a:rPr b="1">
                <a:solidFill>
                  <a:srgbClr val="006994"/>
                </a:solidFill>
              </a:rPr>
              <a:t>antigenic shift</a:t>
            </a:r>
            <a:r>
              <a:t> producing an entirely new strain that causes </a:t>
            </a:r>
            <a:br/>
            <a:r>
              <a:t>a pandemic. </a:t>
            </a:r>
          </a:p>
          <a:p>
            <a:pPr lvl="1">
              <a:tabLst>
                <a:tab pos="1485900" algn="l"/>
              </a:tabLst>
            </a:pPr>
            <a:r>
              <a:t>The latest of these is the H1N1/09 strain, commonly referred to as</a:t>
            </a:r>
            <a:r>
              <a:rPr>
                <a:solidFill>
                  <a:srgbClr val="006994"/>
                </a:solidFill>
              </a:rPr>
              <a:t> </a:t>
            </a:r>
            <a:r>
              <a:rPr b="1">
                <a:solidFill>
                  <a:srgbClr val="006994"/>
                </a:solidFill>
              </a:rPr>
              <a:t>swine flu</a:t>
            </a:r>
            <a:r>
              <a:t>. </a:t>
            </a:r>
          </a:p>
          <a:p>
            <a:pPr lvl="1">
              <a:tabLst>
                <a:tab pos="1485900" algn="l"/>
              </a:tabLst>
            </a:pPr>
            <a:r>
              <a:t>This strain caused around 14,000 deaths globally. Compare this the Spanish flu pandemic of 1918-1920, during which possibly up to 100 million people died globally.</a:t>
            </a:r>
          </a:p>
        </p:txBody>
      </p:sp>
      <p:pic>
        <p:nvPicPr>
          <p:cNvPr id="2061" name="influenza virus2.png"/>
          <p:cNvPicPr>
            <a:picLocks noChangeAspect="1"/>
          </p:cNvPicPr>
          <p:nvPr/>
        </p:nvPicPr>
        <p:blipFill>
          <a:blip r:embed="rId2"/>
          <a:stretch>
            <a:fillRect/>
          </a:stretch>
        </p:blipFill>
        <p:spPr>
          <a:xfrm>
            <a:off x="8457705" y="550230"/>
            <a:ext cx="3389494" cy="4333642"/>
          </a:xfrm>
          <a:prstGeom prst="rect">
            <a:avLst/>
          </a:prstGeom>
          <a:ln w="12700">
            <a:miter lim="400000"/>
          </a:ln>
        </p:spPr>
      </p:pic>
      <p:pic>
        <p:nvPicPr>
          <p:cNvPr id="2062" name="Influenza Australia.pdf"/>
          <p:cNvPicPr>
            <a:picLocks noChangeAspect="1"/>
          </p:cNvPicPr>
          <p:nvPr/>
        </p:nvPicPr>
        <p:blipFill>
          <a:blip r:embed="rId3"/>
          <a:stretch>
            <a:fillRect/>
          </a:stretch>
        </p:blipFill>
        <p:spPr>
          <a:xfrm>
            <a:off x="7649028" y="5326695"/>
            <a:ext cx="5058348" cy="3294157"/>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6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06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06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06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06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06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0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0" grpId="0"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4" name="Shape 2144"/>
          <p:cNvSpPr/>
          <p:nvPr/>
        </p:nvSpPr>
        <p:spPr>
          <a:xfrm>
            <a:off x="8429902" y="1877338"/>
            <a:ext cx="4620459" cy="4801711"/>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45" name="Shape 2145"/>
          <p:cNvSpPr>
            <a:spLocks noGrp="1"/>
          </p:cNvSpPr>
          <p:nvPr>
            <p:ph type="title"/>
          </p:nvPr>
        </p:nvSpPr>
        <p:spPr>
          <a:prstGeom prst="rect">
            <a:avLst/>
          </a:prstGeom>
        </p:spPr>
        <p:txBody>
          <a:bodyPr/>
          <a:lstStyle>
            <a:lvl1pPr>
              <a:tabLst>
                <a:tab pos="952500" algn="l"/>
              </a:tabLst>
            </a:lvl1pPr>
          </a:lstStyle>
          <a:p>
            <a:r>
              <a:t>Antimicrobial Drugs</a:t>
            </a:r>
          </a:p>
        </p:txBody>
      </p:sp>
      <p:sp>
        <p:nvSpPr>
          <p:cNvPr id="2146" name="Shape 2146"/>
          <p:cNvSpPr>
            <a:spLocks noGrp="1"/>
          </p:cNvSpPr>
          <p:nvPr>
            <p:ph type="body" idx="1"/>
          </p:nvPr>
        </p:nvSpPr>
        <p:spPr>
          <a:xfrm>
            <a:off x="368300" y="1790700"/>
            <a:ext cx="6943805" cy="7543800"/>
          </a:xfrm>
          <a:prstGeom prst="rect">
            <a:avLst/>
          </a:prstGeom>
        </p:spPr>
        <p:txBody>
          <a:bodyPr/>
          <a:lstStyle/>
          <a:p>
            <a:pPr>
              <a:tabLst>
                <a:tab pos="1016000" algn="l"/>
              </a:tabLst>
            </a:pPr>
            <a:r>
              <a:t>Antimicrobial drugs kill microorganisms or inhibit their growth. They include synthetic (manufactured) drugs as well as drugs produced by bacteria and fungi, called antibiotics.</a:t>
            </a:r>
          </a:p>
          <a:p>
            <a:pPr>
              <a:tabLst>
                <a:tab pos="1016000" algn="l"/>
              </a:tabLst>
            </a:pPr>
            <a:r>
              <a:t>Antibiotics are produced naturally by microorganisms as a means of inhibiting competitor microbes around them (a form of antibiosis, hence the name applied to the drugs). </a:t>
            </a:r>
          </a:p>
          <a:p>
            <a:pPr>
              <a:tabLst>
                <a:tab pos="1016000" algn="l"/>
              </a:tabLst>
            </a:pPr>
            <a:r>
              <a:t>The first antibiotic, called penicillin, was discovered in 1928 by Alexander Fleming.</a:t>
            </a:r>
          </a:p>
          <a:p>
            <a:pPr lvl="1">
              <a:tabLst>
                <a:tab pos="1485900" algn="l"/>
              </a:tabLst>
            </a:pPr>
            <a:r>
              <a:t>Since then, similar inhibitory reactions between colonies growing on solid media have been </a:t>
            </a:r>
            <a:br/>
            <a:r>
              <a:t>commonly observed. </a:t>
            </a:r>
          </a:p>
          <a:p>
            <a:pPr lvl="1">
              <a:tabLst>
                <a:tab pos="1485900" algn="l"/>
              </a:tabLst>
            </a:pPr>
            <a:r>
              <a:t>Antibiotics are actually rather easy to discover, but few of them are of any medical or commercial value. </a:t>
            </a:r>
          </a:p>
        </p:txBody>
      </p:sp>
      <p:pic>
        <p:nvPicPr>
          <p:cNvPr id="2147" name="Antibiotic discs.jpg"/>
          <p:cNvPicPr>
            <a:picLocks noChangeAspect="1"/>
          </p:cNvPicPr>
          <p:nvPr/>
        </p:nvPicPr>
        <p:blipFill>
          <a:blip r:embed="rId2"/>
          <a:stretch>
            <a:fillRect/>
          </a:stretch>
        </p:blipFill>
        <p:spPr>
          <a:xfrm>
            <a:off x="8465819" y="1906786"/>
            <a:ext cx="4540063" cy="3728829"/>
          </a:xfrm>
          <a:prstGeom prst="rect">
            <a:avLst/>
          </a:prstGeom>
          <a:ln w="25400">
            <a:solidFill>
              <a:srgbClr val="FFFFFF"/>
            </a:solidFill>
            <a:miter lim="400000"/>
          </a:ln>
        </p:spPr>
      </p:pic>
      <p:sp>
        <p:nvSpPr>
          <p:cNvPr id="2148" name="Shape 2148"/>
          <p:cNvSpPr/>
          <p:nvPr/>
        </p:nvSpPr>
        <p:spPr>
          <a:xfrm>
            <a:off x="8887459" y="5815259"/>
            <a:ext cx="3845800"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Agar plate with bacterial colonies and antibiotic discs</a:t>
            </a:r>
          </a:p>
        </p:txBody>
      </p:sp>
      <p:sp>
        <p:nvSpPr>
          <p:cNvPr id="2149" name="Shape 2149"/>
          <p:cNvSpPr/>
          <p:nvPr/>
        </p:nvSpPr>
        <p:spPr>
          <a:xfrm rot="16200000">
            <a:off x="7926069" y="5139690"/>
            <a:ext cx="850901" cy="228601"/>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spAutoFit/>
          </a:bodyPr>
          <a:lstStyle>
            <a:lvl1pPr>
              <a:lnSpc>
                <a:spcPts val="600"/>
              </a:lnSpc>
              <a:tabLst>
                <a:tab pos="520700" algn="l"/>
              </a:tabLst>
              <a:defRPr sz="500">
                <a:solidFill>
                  <a:srgbClr val="000000"/>
                </a:solidFill>
              </a:defRPr>
            </a:lvl1pPr>
          </a:lstStyle>
          <a:p>
            <a:r>
              <a:t>Photo: CDC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4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4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4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4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14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14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6" grpId="0" build="p" bldLvl="5"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 name="Antimicrobial - wk cellwall.pdf"/>
          <p:cNvPicPr>
            <a:picLocks noChangeAspect="1"/>
          </p:cNvPicPr>
          <p:nvPr/>
        </p:nvPicPr>
        <p:blipFill>
          <a:blip r:embed="rId2"/>
          <a:stretch>
            <a:fillRect/>
          </a:stretch>
        </p:blipFill>
        <p:spPr>
          <a:xfrm>
            <a:off x="3312100" y="3183265"/>
            <a:ext cx="8237500" cy="4517341"/>
          </a:xfrm>
          <a:prstGeom prst="rect">
            <a:avLst/>
          </a:prstGeom>
          <a:ln w="12700">
            <a:miter lim="400000"/>
          </a:ln>
        </p:spPr>
      </p:pic>
      <p:sp>
        <p:nvSpPr>
          <p:cNvPr id="2152" name="Shape 2152"/>
          <p:cNvSpPr>
            <a:spLocks noGrp="1"/>
          </p:cNvSpPr>
          <p:nvPr>
            <p:ph type="title"/>
          </p:nvPr>
        </p:nvSpPr>
        <p:spPr>
          <a:prstGeom prst="rect">
            <a:avLst/>
          </a:prstGeom>
        </p:spPr>
        <p:txBody>
          <a:bodyPr/>
          <a:lstStyle>
            <a:lvl1pPr>
              <a:lnSpc>
                <a:spcPct val="100000"/>
              </a:lnSpc>
              <a:tabLst>
                <a:tab pos="952500" algn="l"/>
              </a:tabLst>
              <a:defRPr spc="-192"/>
            </a:lvl1pPr>
          </a:lstStyle>
          <a:p>
            <a:r>
              <a:t>How Antibacterial Drugs Work</a:t>
            </a:r>
          </a:p>
        </p:txBody>
      </p:sp>
      <p:sp>
        <p:nvSpPr>
          <p:cNvPr id="2153" name="Shape 2153"/>
          <p:cNvSpPr>
            <a:spLocks noGrp="1"/>
          </p:cNvSpPr>
          <p:nvPr>
            <p:ph type="body" sz="quarter" idx="1"/>
          </p:nvPr>
        </p:nvSpPr>
        <p:spPr>
          <a:xfrm>
            <a:off x="368300" y="1790700"/>
            <a:ext cx="11822629" cy="510421"/>
          </a:xfrm>
          <a:prstGeom prst="rect">
            <a:avLst/>
          </a:prstGeom>
        </p:spPr>
        <p:txBody>
          <a:bodyPr/>
          <a:lstStyle>
            <a:lvl1pPr marL="381000" indent="-381000">
              <a:tabLst>
                <a:tab pos="1016000" algn="l"/>
              </a:tabLst>
            </a:lvl1pPr>
          </a:lstStyle>
          <a:p>
            <a:r>
              <a:t>Antimicrobial drugs can disrupt the functioning of a bacterial cell in several ways:</a:t>
            </a:r>
          </a:p>
        </p:txBody>
      </p:sp>
      <p:grpSp>
        <p:nvGrpSpPr>
          <p:cNvPr id="2156" name="Group 2156"/>
          <p:cNvGrpSpPr/>
          <p:nvPr/>
        </p:nvGrpSpPr>
        <p:grpSpPr>
          <a:xfrm>
            <a:off x="8191500" y="2374900"/>
            <a:ext cx="3378200" cy="2565400"/>
            <a:chOff x="0" y="0"/>
            <a:chExt cx="3378200" cy="2565400"/>
          </a:xfrm>
        </p:grpSpPr>
        <p:sp>
          <p:nvSpPr>
            <p:cNvPr id="2154" name="Shape 2154"/>
            <p:cNvSpPr/>
            <p:nvPr/>
          </p:nvSpPr>
          <p:spPr>
            <a:xfrm>
              <a:off x="0" y="0"/>
              <a:ext cx="3378200" cy="13768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2800">
                  <a:latin typeface="Hoefler Text"/>
                  <a:ea typeface="Hoefler Text"/>
                  <a:cs typeface="Hoefler Text"/>
                  <a:sym typeface="Hoefler Text"/>
                </a:defRPr>
              </a:pPr>
              <a:r>
                <a:rPr sz="1800" b="1">
                  <a:latin typeface="+mn-lt"/>
                  <a:ea typeface="+mn-ea"/>
                  <a:cs typeface="+mn-cs"/>
                  <a:sym typeface="Arial"/>
                </a:rPr>
                <a:t>Inhibit protein synthesis</a:t>
              </a:r>
              <a:endParaRPr sz="1800">
                <a:solidFill>
                  <a:srgbClr val="201B17"/>
                </a:solidFill>
                <a:latin typeface="+mn-lt"/>
                <a:ea typeface="+mn-ea"/>
                <a:cs typeface="+mn-cs"/>
                <a:sym typeface="Arial"/>
              </a:endParaRPr>
            </a:p>
            <a:p>
              <a:pPr>
                <a:lnSpc>
                  <a:spcPts val="22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Translation is disrupted. </a:t>
              </a:r>
            </a:p>
            <a:p>
              <a:pPr>
                <a:lnSpc>
                  <a:spcPts val="2200"/>
                </a:lnSpc>
                <a:tabLst>
                  <a:tab pos="520700" algn="l"/>
                </a:tabLst>
                <a:defRPr sz="2800">
                  <a:solidFill>
                    <a:srgbClr val="483F36"/>
                  </a:solidFill>
                  <a:latin typeface="Hoefler Text"/>
                  <a:ea typeface="Hoefler Text"/>
                  <a:cs typeface="Hoefler Text"/>
                  <a:sym typeface="Hoefler Text"/>
                </a:defRPr>
              </a:pPr>
              <a:r>
                <a:rPr sz="1800" b="1">
                  <a:solidFill>
                    <a:srgbClr val="006994"/>
                  </a:solidFill>
                  <a:latin typeface="+mn-lt"/>
                  <a:ea typeface="+mn-ea"/>
                  <a:cs typeface="+mn-cs"/>
                  <a:sym typeface="Arial"/>
                </a:rPr>
                <a:t>Examples:</a:t>
              </a:r>
              <a:r>
                <a:rPr sz="1800">
                  <a:solidFill>
                    <a:srgbClr val="201B17"/>
                  </a:solidFill>
                  <a:latin typeface="+mn-lt"/>
                  <a:ea typeface="+mn-ea"/>
                  <a:cs typeface="+mn-cs"/>
                  <a:sym typeface="Arial"/>
                </a:rPr>
                <a:t> erythromycin, tetracyclines, chloramphenicol, streptomycin </a:t>
              </a:r>
            </a:p>
          </p:txBody>
        </p:sp>
        <p:sp>
          <p:nvSpPr>
            <p:cNvPr id="2155" name="Shape 2155"/>
            <p:cNvSpPr/>
            <p:nvPr/>
          </p:nvSpPr>
          <p:spPr>
            <a:xfrm flipV="1">
              <a:off x="109219" y="1443566"/>
              <a:ext cx="690881" cy="1121834"/>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2159" name="Group 2159"/>
          <p:cNvGrpSpPr/>
          <p:nvPr/>
        </p:nvGrpSpPr>
        <p:grpSpPr>
          <a:xfrm>
            <a:off x="2161539" y="2374900"/>
            <a:ext cx="4584701" cy="1833034"/>
            <a:chOff x="0" y="0"/>
            <a:chExt cx="4584700" cy="1833033"/>
          </a:xfrm>
        </p:grpSpPr>
        <p:sp>
          <p:nvSpPr>
            <p:cNvPr id="2157" name="Shape 2157"/>
            <p:cNvSpPr/>
            <p:nvPr/>
          </p:nvSpPr>
          <p:spPr>
            <a:xfrm>
              <a:off x="0" y="0"/>
              <a:ext cx="3784600" cy="13768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2800">
                  <a:latin typeface="Hoefler Text"/>
                  <a:ea typeface="Hoefler Text"/>
                  <a:cs typeface="Hoefler Text"/>
                  <a:sym typeface="Hoefler Text"/>
                </a:defRPr>
              </a:pPr>
              <a:r>
                <a:rPr sz="1800" b="1">
                  <a:latin typeface="+mn-lt"/>
                  <a:ea typeface="+mn-ea"/>
                  <a:cs typeface="+mn-cs"/>
                  <a:sym typeface="Arial"/>
                </a:rPr>
                <a:t>Damaged cell walls</a:t>
              </a:r>
              <a:endParaRPr sz="1800">
                <a:solidFill>
                  <a:srgbClr val="201B17"/>
                </a:solidFill>
                <a:latin typeface="+mn-lt"/>
                <a:ea typeface="+mn-ea"/>
                <a:cs typeface="+mn-cs"/>
                <a:sym typeface="Arial"/>
              </a:endParaRPr>
            </a:p>
            <a:p>
              <a:pPr>
                <a:lnSpc>
                  <a:spcPts val="22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The synthesis of new cell walls during cell division is inhibited.</a:t>
              </a:r>
            </a:p>
            <a:p>
              <a:pPr>
                <a:lnSpc>
                  <a:spcPts val="2200"/>
                </a:lnSpc>
                <a:tabLst>
                  <a:tab pos="520700" algn="l"/>
                </a:tabLst>
                <a:defRPr sz="2800">
                  <a:solidFill>
                    <a:srgbClr val="483F36"/>
                  </a:solidFill>
                  <a:latin typeface="Hoefler Text"/>
                  <a:ea typeface="Hoefler Text"/>
                  <a:cs typeface="Hoefler Text"/>
                  <a:sym typeface="Hoefler Text"/>
                </a:defRPr>
              </a:pPr>
              <a:r>
                <a:rPr sz="1800" b="1">
                  <a:solidFill>
                    <a:srgbClr val="006994"/>
                  </a:solidFill>
                  <a:latin typeface="+mn-lt"/>
                  <a:ea typeface="+mn-ea"/>
                  <a:cs typeface="+mn-cs"/>
                  <a:sym typeface="Arial"/>
                </a:rPr>
                <a:t>Examples:</a:t>
              </a:r>
              <a:r>
                <a:rPr sz="1800">
                  <a:solidFill>
                    <a:srgbClr val="201B17"/>
                  </a:solidFill>
                  <a:latin typeface="+mn-lt"/>
                  <a:ea typeface="+mn-ea"/>
                  <a:cs typeface="+mn-cs"/>
                  <a:sym typeface="Arial"/>
                </a:rPr>
                <a:t> penicillin, vancomycin, cephalosporins, bacitracin</a:t>
              </a:r>
            </a:p>
          </p:txBody>
        </p:sp>
        <p:sp>
          <p:nvSpPr>
            <p:cNvPr id="2158" name="Shape 2158"/>
            <p:cNvSpPr/>
            <p:nvPr/>
          </p:nvSpPr>
          <p:spPr>
            <a:xfrm flipH="1" flipV="1">
              <a:off x="3060700" y="1193800"/>
              <a:ext cx="1524000" cy="639234"/>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2162" name="Group 2162"/>
          <p:cNvGrpSpPr/>
          <p:nvPr/>
        </p:nvGrpSpPr>
        <p:grpSpPr>
          <a:xfrm>
            <a:off x="685800" y="7357533"/>
            <a:ext cx="4411134" cy="1601189"/>
            <a:chOff x="0" y="0"/>
            <a:chExt cx="4411133" cy="1601188"/>
          </a:xfrm>
        </p:grpSpPr>
        <p:sp>
          <p:nvSpPr>
            <p:cNvPr id="2160" name="Shape 2160"/>
            <p:cNvSpPr/>
            <p:nvPr/>
          </p:nvSpPr>
          <p:spPr>
            <a:xfrm>
              <a:off x="0" y="224366"/>
              <a:ext cx="3505200" cy="13768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2800">
                  <a:latin typeface="Hoefler Text"/>
                  <a:ea typeface="Hoefler Text"/>
                  <a:cs typeface="Hoefler Text"/>
                  <a:sym typeface="Hoefler Text"/>
                </a:defRPr>
              </a:pPr>
              <a:r>
                <a:rPr sz="1800" b="1">
                  <a:latin typeface="+mn-lt"/>
                  <a:ea typeface="+mn-ea"/>
                  <a:cs typeface="+mn-cs"/>
                  <a:sym typeface="Arial"/>
                </a:rPr>
                <a:t>Damaged plasma membrane</a:t>
              </a:r>
              <a:endParaRPr sz="1800">
                <a:solidFill>
                  <a:srgbClr val="201B17"/>
                </a:solidFill>
                <a:latin typeface="+mn-lt"/>
                <a:ea typeface="+mn-ea"/>
                <a:cs typeface="+mn-cs"/>
                <a:sym typeface="Arial"/>
              </a:endParaRPr>
            </a:p>
            <a:p>
              <a:pPr>
                <a:lnSpc>
                  <a:spcPts val="22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The plasma membrane may be ruptured. </a:t>
              </a:r>
              <a:r>
                <a:rPr sz="1800" b="1">
                  <a:solidFill>
                    <a:srgbClr val="006994"/>
                  </a:solidFill>
                  <a:latin typeface="+mn-lt"/>
                  <a:ea typeface="+mn-ea"/>
                  <a:cs typeface="+mn-cs"/>
                  <a:sym typeface="Arial"/>
                </a:rPr>
                <a:t>Examples: </a:t>
              </a:r>
              <a:r>
                <a:rPr sz="1800">
                  <a:solidFill>
                    <a:srgbClr val="201B17"/>
                  </a:solidFill>
                  <a:latin typeface="+mn-lt"/>
                  <a:ea typeface="+mn-ea"/>
                  <a:cs typeface="+mn-cs"/>
                  <a:sym typeface="Arial"/>
                </a:rPr>
                <a:t>nystatin, miconazole, polymyxin B, amphotericin B</a:t>
              </a:r>
            </a:p>
          </p:txBody>
        </p:sp>
        <p:sp>
          <p:nvSpPr>
            <p:cNvPr id="2161" name="Shape 2161"/>
            <p:cNvSpPr/>
            <p:nvPr/>
          </p:nvSpPr>
          <p:spPr>
            <a:xfrm flipH="1">
              <a:off x="3344333" y="0"/>
              <a:ext cx="1066801" cy="423334"/>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2165" name="Group 2165"/>
          <p:cNvGrpSpPr/>
          <p:nvPr/>
        </p:nvGrpSpPr>
        <p:grpSpPr>
          <a:xfrm>
            <a:off x="8694419" y="6901180"/>
            <a:ext cx="3827781" cy="2057542"/>
            <a:chOff x="0" y="0"/>
            <a:chExt cx="3827780" cy="2057541"/>
          </a:xfrm>
        </p:grpSpPr>
        <p:sp>
          <p:nvSpPr>
            <p:cNvPr id="2163" name="Shape 2163"/>
            <p:cNvSpPr/>
            <p:nvPr/>
          </p:nvSpPr>
          <p:spPr>
            <a:xfrm>
              <a:off x="474980" y="680719"/>
              <a:ext cx="3352801" cy="13768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2800">
                  <a:latin typeface="Hoefler Text"/>
                  <a:ea typeface="Hoefler Text"/>
                  <a:cs typeface="Hoefler Text"/>
                  <a:sym typeface="Hoefler Text"/>
                </a:defRPr>
              </a:pPr>
              <a:r>
                <a:rPr sz="1800" b="1">
                  <a:latin typeface="+mn-lt"/>
                  <a:ea typeface="+mn-ea"/>
                  <a:cs typeface="+mn-cs"/>
                  <a:sym typeface="Arial"/>
                </a:rPr>
                <a:t>Inhibition of enzyme activity</a:t>
              </a:r>
              <a:endParaRPr sz="1800">
                <a:solidFill>
                  <a:srgbClr val="201B17"/>
                </a:solidFill>
                <a:latin typeface="+mn-lt"/>
                <a:ea typeface="+mn-ea"/>
                <a:cs typeface="+mn-cs"/>
                <a:sym typeface="Arial"/>
              </a:endParaRPr>
            </a:p>
            <a:p>
              <a:pPr>
                <a:lnSpc>
                  <a:spcPts val="22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The synthesis of essential metabolites is inhibited. </a:t>
              </a:r>
              <a:r>
                <a:rPr sz="1800" b="1">
                  <a:solidFill>
                    <a:srgbClr val="006994"/>
                  </a:solidFill>
                  <a:latin typeface="+mn-lt"/>
                  <a:ea typeface="+mn-ea"/>
                  <a:cs typeface="+mn-cs"/>
                  <a:sym typeface="Arial"/>
                </a:rPr>
                <a:t>Examples</a:t>
              </a:r>
              <a:r>
                <a:rPr sz="1800">
                  <a:solidFill>
                    <a:srgbClr val="201B17"/>
                  </a:solidFill>
                  <a:latin typeface="+mn-lt"/>
                  <a:ea typeface="+mn-ea"/>
                  <a:cs typeface="+mn-cs"/>
                  <a:sym typeface="Arial"/>
                </a:rPr>
                <a:t>: sulfanilamide, trimethoprim</a:t>
              </a:r>
            </a:p>
          </p:txBody>
        </p:sp>
        <p:sp>
          <p:nvSpPr>
            <p:cNvPr id="2164" name="Shape 2164"/>
            <p:cNvSpPr/>
            <p:nvPr/>
          </p:nvSpPr>
          <p:spPr>
            <a:xfrm>
              <a:off x="0" y="0"/>
              <a:ext cx="1025314" cy="574887"/>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2169" name="Group 2169"/>
          <p:cNvGrpSpPr/>
          <p:nvPr/>
        </p:nvGrpSpPr>
        <p:grpSpPr>
          <a:xfrm>
            <a:off x="4639733" y="4859020"/>
            <a:ext cx="3996267" cy="4099702"/>
            <a:chOff x="0" y="0"/>
            <a:chExt cx="3996266" cy="4099701"/>
          </a:xfrm>
        </p:grpSpPr>
        <p:sp>
          <p:nvSpPr>
            <p:cNvPr id="2166" name="Shape 2166"/>
            <p:cNvSpPr/>
            <p:nvPr/>
          </p:nvSpPr>
          <p:spPr>
            <a:xfrm>
              <a:off x="0" y="716279"/>
              <a:ext cx="1316567" cy="209550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noFill/>
            <a:ln w="25400" cap="flat">
              <a:solidFill>
                <a:srgbClr val="006994"/>
              </a:solidFill>
              <a:prstDash val="solid"/>
              <a:miter lim="400000"/>
              <a:tailEnd type="triangle" w="med" len="med"/>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67" name="Shape 2167"/>
            <p:cNvSpPr/>
            <p:nvPr/>
          </p:nvSpPr>
          <p:spPr>
            <a:xfrm>
              <a:off x="503766" y="3002279"/>
              <a:ext cx="3492501" cy="10974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200"/>
                </a:lnSpc>
                <a:tabLst>
                  <a:tab pos="520700" algn="l"/>
                </a:tabLst>
                <a:defRPr sz="2800">
                  <a:latin typeface="Hoefler Text"/>
                  <a:ea typeface="Hoefler Text"/>
                  <a:cs typeface="Hoefler Text"/>
                  <a:sym typeface="Hoefler Text"/>
                </a:defRPr>
              </a:pPr>
              <a:r>
                <a:rPr sz="1800" b="1">
                  <a:latin typeface="+mn-lt"/>
                  <a:ea typeface="+mn-ea"/>
                  <a:cs typeface="+mn-cs"/>
                  <a:sym typeface="Arial"/>
                </a:rPr>
                <a:t>Inhibit gene copying</a:t>
              </a:r>
              <a:endParaRPr sz="1800">
                <a:solidFill>
                  <a:srgbClr val="201B17"/>
                </a:solidFill>
                <a:latin typeface="+mn-lt"/>
                <a:ea typeface="+mn-ea"/>
                <a:cs typeface="+mn-cs"/>
                <a:sym typeface="Arial"/>
              </a:endParaRPr>
            </a:p>
            <a:p>
              <a:pPr>
                <a:lnSpc>
                  <a:spcPts val="2200"/>
                </a:lnSpc>
                <a:tabLst>
                  <a:tab pos="520700" algn="l"/>
                </a:tabLst>
                <a:defRPr sz="2800">
                  <a:solidFill>
                    <a:srgbClr val="483F36"/>
                  </a:solidFill>
                  <a:latin typeface="Hoefler Text"/>
                  <a:ea typeface="Hoefler Text"/>
                  <a:cs typeface="Hoefler Text"/>
                  <a:sym typeface="Hoefler Text"/>
                </a:defRPr>
              </a:pPr>
              <a:r>
                <a:rPr sz="1800">
                  <a:solidFill>
                    <a:srgbClr val="201B17"/>
                  </a:solidFill>
                  <a:latin typeface="+mn-lt"/>
                  <a:ea typeface="+mn-ea"/>
                  <a:cs typeface="+mn-cs"/>
                  <a:sym typeface="Arial"/>
                </a:rPr>
                <a:t>DNA replication and transcription are interfered with. </a:t>
              </a:r>
              <a:r>
                <a:rPr sz="1800" b="1">
                  <a:solidFill>
                    <a:srgbClr val="006994"/>
                  </a:solidFill>
                  <a:latin typeface="+mn-lt"/>
                  <a:ea typeface="+mn-ea"/>
                  <a:cs typeface="+mn-cs"/>
                  <a:sym typeface="Arial"/>
                </a:rPr>
                <a:t>Examples:</a:t>
              </a:r>
              <a:r>
                <a:rPr sz="1800">
                  <a:solidFill>
                    <a:srgbClr val="201B17"/>
                  </a:solidFill>
                  <a:latin typeface="+mn-lt"/>
                  <a:ea typeface="+mn-ea"/>
                  <a:cs typeface="+mn-cs"/>
                  <a:sym typeface="Arial"/>
                </a:rPr>
                <a:t>  Rifampin, Quinolones</a:t>
              </a:r>
            </a:p>
          </p:txBody>
        </p:sp>
        <p:sp>
          <p:nvSpPr>
            <p:cNvPr id="2168" name="Shape 2168"/>
            <p:cNvSpPr/>
            <p:nvPr/>
          </p:nvSpPr>
          <p:spPr>
            <a:xfrm flipH="1">
              <a:off x="1858432" y="0"/>
              <a:ext cx="6774" cy="2803313"/>
            </a:xfrm>
            <a:prstGeom prst="line">
              <a:avLst/>
            </a:prstGeom>
            <a:noFill/>
            <a:ln w="254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2170" name="Shape 2170"/>
          <p:cNvSpPr/>
          <p:nvPr/>
        </p:nvSpPr>
        <p:spPr>
          <a:xfrm>
            <a:off x="1474395" y="5712389"/>
            <a:ext cx="1257636" cy="36082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lvl1pPr>
          </a:lstStyle>
          <a:p>
            <a:r>
              <a:t>Bacterium</a:t>
            </a:r>
          </a:p>
        </p:txBody>
      </p:sp>
      <p:sp>
        <p:nvSpPr>
          <p:cNvPr id="2171" name="Shape 2171"/>
          <p:cNvSpPr/>
          <p:nvPr/>
        </p:nvSpPr>
        <p:spPr>
          <a:xfrm>
            <a:off x="2768600" y="5897879"/>
            <a:ext cx="559834" cy="1"/>
          </a:xfrm>
          <a:prstGeom prst="line">
            <a:avLst/>
          </a:prstGeom>
          <a:ln w="25400">
            <a:solidFill>
              <a:srgbClr val="006994"/>
            </a:solidFill>
            <a:miter lim="400000"/>
            <a:tailEnd type="stealth"/>
          </a:ln>
        </p:spPr>
        <p:txBody>
          <a:bodyPr lIns="0" tIns="0" rIns="0" bIns="0"/>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5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5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1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16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3" grpId="0" build="p" bldLvl="5" animBg="1" advAuto="0"/>
      <p:bldP spid="2156" grpId="0" animBg="1" advAuto="0"/>
      <p:bldP spid="2159" grpId="0" animBg="1" advAuto="0"/>
      <p:bldP spid="2162" grpId="0" animBg="1" advAuto="0"/>
      <p:bldP spid="2165" grpId="0" animBg="1" advAuto="0"/>
      <p:bldP spid="2169" grpId="0"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3" name="Shape 2173"/>
          <p:cNvSpPr/>
          <p:nvPr/>
        </p:nvSpPr>
        <p:spPr>
          <a:xfrm>
            <a:off x="5231010" y="1806615"/>
            <a:ext cx="7819351" cy="5951776"/>
          </a:xfrm>
          <a:prstGeom prst="rect">
            <a:avLst/>
          </a:prstGeom>
          <a:solidFill>
            <a:srgbClr val="FFFFFE">
              <a:alpha val="45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74" name="Shape 2174"/>
          <p:cNvSpPr>
            <a:spLocks noGrp="1"/>
          </p:cNvSpPr>
          <p:nvPr>
            <p:ph type="title"/>
          </p:nvPr>
        </p:nvSpPr>
        <p:spPr>
          <a:prstGeom prst="rect">
            <a:avLst/>
          </a:prstGeom>
        </p:spPr>
        <p:txBody>
          <a:bodyPr/>
          <a:lstStyle>
            <a:lvl1pPr>
              <a:tabLst>
                <a:tab pos="952500" algn="l"/>
              </a:tabLst>
            </a:lvl1pPr>
          </a:lstStyle>
          <a:p>
            <a:r>
              <a:t>Antiviral Drugs</a:t>
            </a:r>
          </a:p>
        </p:txBody>
      </p:sp>
      <p:sp>
        <p:nvSpPr>
          <p:cNvPr id="2175" name="Shape 2175"/>
          <p:cNvSpPr>
            <a:spLocks noGrp="1"/>
          </p:cNvSpPr>
          <p:nvPr>
            <p:ph type="body" sz="quarter" idx="1"/>
          </p:nvPr>
        </p:nvSpPr>
        <p:spPr>
          <a:xfrm>
            <a:off x="368300" y="1790700"/>
            <a:ext cx="4224735" cy="5724208"/>
          </a:xfrm>
          <a:prstGeom prst="rect">
            <a:avLst/>
          </a:prstGeom>
        </p:spPr>
        <p:txBody>
          <a:bodyPr/>
          <a:lstStyle/>
          <a:p>
            <a:pPr>
              <a:tabLst>
                <a:tab pos="1016000" algn="l"/>
              </a:tabLst>
            </a:pPr>
            <a:r>
              <a:t>Currently, antiviral drugs are available for use against HIV, hepatitis, influenza, and the herpes virus. </a:t>
            </a:r>
          </a:p>
          <a:p>
            <a:pPr>
              <a:tabLst>
                <a:tab pos="1016000" algn="l"/>
              </a:tabLst>
            </a:pPr>
            <a:r>
              <a:t>Most antiviral drugs work </a:t>
            </a:r>
            <a:br/>
            <a:r>
              <a:t>by inhibiting replication of the virus. </a:t>
            </a:r>
          </a:p>
          <a:p>
            <a:pPr lvl="1">
              <a:tabLst>
                <a:tab pos="1485900" algn="l"/>
              </a:tabLst>
            </a:pPr>
            <a:r>
              <a:t>The drug stops the virus replicating giving the immune system time to destroy the virus. Antiviral drugs work on several parts of virus's </a:t>
            </a:r>
            <a:br/>
            <a:r>
              <a:t>life cycle.</a:t>
            </a:r>
          </a:p>
        </p:txBody>
      </p:sp>
      <p:pic>
        <p:nvPicPr>
          <p:cNvPr id="2176" name="Antiviral drug actions full colour.pdf"/>
          <p:cNvPicPr>
            <a:picLocks noChangeAspect="1"/>
          </p:cNvPicPr>
          <p:nvPr/>
        </p:nvPicPr>
        <p:blipFill>
          <a:blip r:embed="rId2"/>
          <a:stretch>
            <a:fillRect/>
          </a:stretch>
        </p:blipFill>
        <p:spPr>
          <a:xfrm>
            <a:off x="5663905" y="1970484"/>
            <a:ext cx="7127116" cy="5410677"/>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7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7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7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5" grpId="0" build="p" bldLvl="5"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8" name="Shape 2178"/>
          <p:cNvSpPr/>
          <p:nvPr/>
        </p:nvSpPr>
        <p:spPr>
          <a:xfrm>
            <a:off x="-45740" y="4496196"/>
            <a:ext cx="13045480" cy="536079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179" name="Shape 2179"/>
          <p:cNvSpPr>
            <a:spLocks noGrp="1"/>
          </p:cNvSpPr>
          <p:nvPr>
            <p:ph type="title"/>
          </p:nvPr>
        </p:nvSpPr>
        <p:spPr>
          <a:xfrm>
            <a:off x="381000" y="342900"/>
            <a:ext cx="12242800" cy="1874937"/>
          </a:xfrm>
          <a:prstGeom prst="rect">
            <a:avLst/>
          </a:prstGeom>
        </p:spPr>
        <p:txBody>
          <a:bodyPr/>
          <a:lstStyle/>
          <a:p>
            <a:pPr>
              <a:tabLst>
                <a:tab pos="952500" algn="l"/>
              </a:tabLst>
            </a:pPr>
            <a:r>
              <a:t>Preventing the</a:t>
            </a:r>
            <a:br/>
            <a:r>
              <a:t>Spread of Disease</a:t>
            </a:r>
          </a:p>
        </p:txBody>
      </p:sp>
      <p:sp>
        <p:nvSpPr>
          <p:cNvPr id="2180" name="Shape 2180"/>
          <p:cNvSpPr>
            <a:spLocks noGrp="1"/>
          </p:cNvSpPr>
          <p:nvPr>
            <p:ph type="body" sz="quarter" idx="1"/>
          </p:nvPr>
        </p:nvSpPr>
        <p:spPr>
          <a:xfrm>
            <a:off x="263326" y="2616200"/>
            <a:ext cx="12614227" cy="1481634"/>
          </a:xfrm>
          <a:prstGeom prst="rect">
            <a:avLst/>
          </a:prstGeom>
        </p:spPr>
        <p:txBody>
          <a:bodyPr/>
          <a:lstStyle/>
          <a:p>
            <a:pPr marL="326571" indent="-326571">
              <a:tabLst>
                <a:tab pos="1016000" algn="l"/>
              </a:tabLst>
            </a:pPr>
            <a:r>
              <a:t>The best method of disease control is to </a:t>
            </a:r>
            <a:r>
              <a:rPr b="1">
                <a:solidFill>
                  <a:srgbClr val="006994"/>
                </a:solidFill>
              </a:rPr>
              <a:t>prevent</a:t>
            </a:r>
            <a:r>
              <a:t> the disease spreading in the first place.</a:t>
            </a:r>
          </a:p>
          <a:p>
            <a:pPr marL="326571" indent="-326571">
              <a:tabLst>
                <a:tab pos="1016000" algn="l"/>
              </a:tabLst>
            </a:pPr>
            <a:r>
              <a:t>The four main methods by which the spread of infectious disease is controlled are through:</a:t>
            </a:r>
          </a:p>
        </p:txBody>
      </p:sp>
      <p:grpSp>
        <p:nvGrpSpPr>
          <p:cNvPr id="2184" name="Group 2184"/>
          <p:cNvGrpSpPr/>
          <p:nvPr/>
        </p:nvGrpSpPr>
        <p:grpSpPr>
          <a:xfrm>
            <a:off x="88900" y="4986320"/>
            <a:ext cx="4033124" cy="4010849"/>
            <a:chOff x="0" y="0"/>
            <a:chExt cx="4033123" cy="4010848"/>
          </a:xfrm>
        </p:grpSpPr>
        <p:pic>
          <p:nvPicPr>
            <p:cNvPr id="2181" name="Condom PO 22711828.png"/>
            <p:cNvPicPr>
              <a:picLocks noChangeAspect="1"/>
            </p:cNvPicPr>
            <p:nvPr/>
          </p:nvPicPr>
          <p:blipFill>
            <a:blip r:embed="rId2"/>
            <a:stretch>
              <a:fillRect/>
            </a:stretch>
          </p:blipFill>
          <p:spPr>
            <a:xfrm>
              <a:off x="0" y="1445801"/>
              <a:ext cx="4033124" cy="1187418"/>
            </a:xfrm>
            <a:prstGeom prst="rect">
              <a:avLst/>
            </a:prstGeom>
            <a:ln w="12700" cap="flat">
              <a:noFill/>
              <a:miter lim="400000"/>
            </a:ln>
            <a:effectLst/>
          </p:spPr>
        </p:pic>
        <p:pic>
          <p:nvPicPr>
            <p:cNvPr id="2182" name="Condom PO 22711840.png"/>
            <p:cNvPicPr>
              <a:picLocks noChangeAspect="1"/>
            </p:cNvPicPr>
            <p:nvPr/>
          </p:nvPicPr>
          <p:blipFill>
            <a:blip r:embed="rId3"/>
            <a:stretch>
              <a:fillRect/>
            </a:stretch>
          </p:blipFill>
          <p:spPr>
            <a:xfrm>
              <a:off x="317500" y="0"/>
              <a:ext cx="2480876" cy="2997200"/>
            </a:xfrm>
            <a:prstGeom prst="rect">
              <a:avLst/>
            </a:prstGeom>
            <a:ln w="12700" cap="flat">
              <a:noFill/>
              <a:miter lim="400000"/>
            </a:ln>
            <a:effectLst/>
          </p:spPr>
        </p:pic>
        <p:sp>
          <p:nvSpPr>
            <p:cNvPr id="2183" name="Shape 2183"/>
            <p:cNvSpPr/>
            <p:nvPr/>
          </p:nvSpPr>
          <p:spPr>
            <a:xfrm>
              <a:off x="342900" y="3309619"/>
              <a:ext cx="2997200" cy="70123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400" b="1">
                  <a:solidFill>
                    <a:srgbClr val="000000"/>
                  </a:solidFill>
                </a:defRPr>
              </a:pPr>
              <a:r>
                <a:t>Behavioural control</a:t>
              </a:r>
            </a:p>
            <a:p>
              <a:pPr algn="ctr">
                <a:lnSpc>
                  <a:spcPts val="2800"/>
                </a:lnSpc>
                <a:tabLst>
                  <a:tab pos="520700" algn="l"/>
                </a:tabLst>
                <a:defRPr sz="2400">
                  <a:solidFill>
                    <a:srgbClr val="000000"/>
                  </a:solidFill>
                </a:defRPr>
              </a:pPr>
              <a:r>
                <a:t>e.g. condoms</a:t>
              </a:r>
            </a:p>
          </p:txBody>
        </p:sp>
      </p:grpSp>
      <p:grpSp>
        <p:nvGrpSpPr>
          <p:cNvPr id="2187" name="Group 2187"/>
          <p:cNvGrpSpPr/>
          <p:nvPr/>
        </p:nvGrpSpPr>
        <p:grpSpPr>
          <a:xfrm>
            <a:off x="4178300" y="4970479"/>
            <a:ext cx="2433638" cy="4361970"/>
            <a:chOff x="0" y="0"/>
            <a:chExt cx="2433637" cy="4361969"/>
          </a:xfrm>
        </p:grpSpPr>
        <p:sp>
          <p:nvSpPr>
            <p:cNvPr id="2185" name="Shape 2185"/>
            <p:cNvSpPr/>
            <p:nvPr/>
          </p:nvSpPr>
          <p:spPr>
            <a:xfrm>
              <a:off x="0" y="3305140"/>
              <a:ext cx="2433638" cy="105683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400" b="1">
                  <a:solidFill>
                    <a:srgbClr val="000000"/>
                  </a:solidFill>
                </a:defRPr>
              </a:pPr>
              <a:r>
                <a:t>Modifying the environment</a:t>
              </a:r>
              <a:r>
                <a:rPr b="0"/>
                <a:t> e.g. sanitation</a:t>
              </a:r>
            </a:p>
          </p:txBody>
        </p:sp>
        <p:pic>
          <p:nvPicPr>
            <p:cNvPr id="2186" name="Toilet PO 23203252.png"/>
            <p:cNvPicPr>
              <a:picLocks noChangeAspect="1"/>
            </p:cNvPicPr>
            <p:nvPr/>
          </p:nvPicPr>
          <p:blipFill>
            <a:blip r:embed="rId4"/>
            <a:srcRect/>
            <a:stretch>
              <a:fillRect/>
            </a:stretch>
          </p:blipFill>
          <p:spPr>
            <a:xfrm>
              <a:off x="165100" y="0"/>
              <a:ext cx="2133600" cy="3013041"/>
            </a:xfrm>
            <a:prstGeom prst="rect">
              <a:avLst/>
            </a:prstGeom>
            <a:ln w="12700" cap="flat">
              <a:noFill/>
              <a:miter lim="400000"/>
            </a:ln>
            <a:effectLst/>
          </p:spPr>
        </p:pic>
      </p:grpSp>
      <p:grpSp>
        <p:nvGrpSpPr>
          <p:cNvPr id="2190" name="Group 2190"/>
          <p:cNvGrpSpPr/>
          <p:nvPr/>
        </p:nvGrpSpPr>
        <p:grpSpPr>
          <a:xfrm>
            <a:off x="7048500" y="5253680"/>
            <a:ext cx="2832100" cy="3710169"/>
            <a:chOff x="0" y="0"/>
            <a:chExt cx="2832100" cy="3710168"/>
          </a:xfrm>
        </p:grpSpPr>
        <p:sp>
          <p:nvSpPr>
            <p:cNvPr id="2188" name="Shape 2188"/>
            <p:cNvSpPr/>
            <p:nvPr/>
          </p:nvSpPr>
          <p:spPr>
            <a:xfrm>
              <a:off x="170507" y="3008939"/>
              <a:ext cx="2491086" cy="70123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400" b="1">
                  <a:solidFill>
                    <a:srgbClr val="000000"/>
                  </a:solidFill>
                </a:defRPr>
              </a:pPr>
              <a:r>
                <a:t>Treatment </a:t>
              </a:r>
              <a:r>
                <a:rPr b="0"/>
                <a:t>with therapeutic drugs</a:t>
              </a:r>
            </a:p>
          </p:txBody>
        </p:sp>
        <p:pic>
          <p:nvPicPr>
            <p:cNvPr id="2189" name="Drugs 22903041.png"/>
            <p:cNvPicPr>
              <a:picLocks noChangeAspect="1"/>
            </p:cNvPicPr>
            <p:nvPr/>
          </p:nvPicPr>
          <p:blipFill>
            <a:blip r:embed="rId5"/>
            <a:stretch>
              <a:fillRect/>
            </a:stretch>
          </p:blipFill>
          <p:spPr>
            <a:xfrm>
              <a:off x="0" y="0"/>
              <a:ext cx="2832100" cy="2391721"/>
            </a:xfrm>
            <a:prstGeom prst="rect">
              <a:avLst/>
            </a:prstGeom>
            <a:ln w="12700" cap="flat">
              <a:noFill/>
              <a:miter lim="400000"/>
            </a:ln>
            <a:effectLst/>
          </p:spPr>
        </p:pic>
      </p:grpSp>
      <p:grpSp>
        <p:nvGrpSpPr>
          <p:cNvPr id="2195" name="Group 2195"/>
          <p:cNvGrpSpPr/>
          <p:nvPr/>
        </p:nvGrpSpPr>
        <p:grpSpPr>
          <a:xfrm>
            <a:off x="9996876" y="5003800"/>
            <a:ext cx="2754462" cy="4315649"/>
            <a:chOff x="0" y="0"/>
            <a:chExt cx="2754461" cy="4315648"/>
          </a:xfrm>
        </p:grpSpPr>
        <p:sp>
          <p:nvSpPr>
            <p:cNvPr id="2191" name="Shape 2191"/>
            <p:cNvSpPr/>
            <p:nvPr/>
          </p:nvSpPr>
          <p:spPr>
            <a:xfrm>
              <a:off x="0" y="3258819"/>
              <a:ext cx="2754462" cy="105683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2800"/>
                </a:lnSpc>
                <a:tabLst>
                  <a:tab pos="520700" algn="l"/>
                </a:tabLst>
                <a:defRPr sz="2400" b="1">
                  <a:solidFill>
                    <a:srgbClr val="000000"/>
                  </a:solidFill>
                </a:defRPr>
              </a:pPr>
              <a:r>
                <a:t>Immunisation </a:t>
              </a:r>
              <a:r>
                <a:rPr b="0"/>
                <a:t>by vaccinating susceptible people</a:t>
              </a:r>
            </a:p>
          </p:txBody>
        </p:sp>
        <p:grpSp>
          <p:nvGrpSpPr>
            <p:cNvPr id="2194" name="Group 2194"/>
            <p:cNvGrpSpPr/>
            <p:nvPr/>
          </p:nvGrpSpPr>
          <p:grpSpPr>
            <a:xfrm>
              <a:off x="658423" y="0"/>
              <a:ext cx="1676401" cy="2832100"/>
              <a:chOff x="0" y="0"/>
              <a:chExt cx="1676400" cy="2832100"/>
            </a:xfrm>
          </p:grpSpPr>
          <p:pic>
            <p:nvPicPr>
              <p:cNvPr id="2192" name="Vial Influenza Vaccine Fluzone.png"/>
              <p:cNvPicPr>
                <a:picLocks noChangeAspect="1"/>
              </p:cNvPicPr>
              <p:nvPr/>
            </p:nvPicPr>
            <p:blipFill>
              <a:blip r:embed="rId6"/>
              <a:stretch>
                <a:fillRect/>
              </a:stretch>
            </p:blipFill>
            <p:spPr>
              <a:xfrm>
                <a:off x="0" y="0"/>
                <a:ext cx="1437615" cy="2832100"/>
              </a:xfrm>
              <a:prstGeom prst="rect">
                <a:avLst/>
              </a:prstGeom>
              <a:ln w="12700" cap="flat">
                <a:noFill/>
                <a:miter lim="400000"/>
              </a:ln>
              <a:effectLst/>
            </p:spPr>
          </p:pic>
          <p:sp>
            <p:nvSpPr>
              <p:cNvPr id="2193" name="Shape 2193"/>
              <p:cNvSpPr/>
              <p:nvPr/>
            </p:nvSpPr>
            <p:spPr>
              <a:xfrm rot="16200000">
                <a:off x="1244479" y="2142545"/>
                <a:ext cx="736842" cy="1270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300"/>
                  </a:lnSpc>
                  <a:tabLst>
                    <a:tab pos="520700" algn="l"/>
                  </a:tabLst>
                  <a:defRPr sz="900">
                    <a:solidFill>
                      <a:srgbClr val="201B17"/>
                    </a:solidFill>
                  </a:defRPr>
                </a:lvl1pPr>
              </a:lstStyle>
              <a:p>
                <a:pPr>
                  <a:defRPr>
                    <a:solidFill>
                      <a:srgbClr val="483F36"/>
                    </a:solidFill>
                  </a:defRPr>
                </a:pPr>
                <a:r>
                  <a:rPr>
                    <a:solidFill>
                      <a:srgbClr val="201B17"/>
                    </a:solidFill>
                  </a:rPr>
                  <a:t>Photo: CDC</a:t>
                </a:r>
              </a:p>
            </p:txBody>
          </p:sp>
        </p:gr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8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8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8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0" grpId="0"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7" name="CDC Spraying ditch.png"/>
          <p:cNvPicPr>
            <a:picLocks noChangeAspect="1"/>
          </p:cNvPicPr>
          <p:nvPr/>
        </p:nvPicPr>
        <p:blipFill>
          <a:blip r:embed="rId2"/>
          <a:stretch>
            <a:fillRect/>
          </a:stretch>
        </p:blipFill>
        <p:spPr>
          <a:xfrm>
            <a:off x="4241800" y="3835400"/>
            <a:ext cx="8826500" cy="5969000"/>
          </a:xfrm>
          <a:prstGeom prst="rect">
            <a:avLst/>
          </a:prstGeom>
          <a:ln w="12700">
            <a:miter lim="400000"/>
          </a:ln>
        </p:spPr>
      </p:pic>
      <p:sp>
        <p:nvSpPr>
          <p:cNvPr id="2198" name="Shape 2198"/>
          <p:cNvSpPr>
            <a:spLocks noGrp="1"/>
          </p:cNvSpPr>
          <p:nvPr>
            <p:ph type="title"/>
          </p:nvPr>
        </p:nvSpPr>
        <p:spPr>
          <a:prstGeom prst="rect">
            <a:avLst/>
          </a:prstGeom>
        </p:spPr>
        <p:txBody>
          <a:bodyPr/>
          <a:lstStyle>
            <a:lvl1pPr>
              <a:tabLst>
                <a:tab pos="952500" algn="l"/>
              </a:tabLst>
            </a:lvl1pPr>
          </a:lstStyle>
          <a:p>
            <a:r>
              <a:t>Modifying the Environment</a:t>
            </a:r>
          </a:p>
        </p:txBody>
      </p:sp>
      <p:sp>
        <p:nvSpPr>
          <p:cNvPr id="2199" name="Shape 2199"/>
          <p:cNvSpPr>
            <a:spLocks noGrp="1"/>
          </p:cNvSpPr>
          <p:nvPr>
            <p:ph type="body" sz="half" idx="1"/>
          </p:nvPr>
        </p:nvSpPr>
        <p:spPr>
          <a:xfrm>
            <a:off x="368300" y="1790700"/>
            <a:ext cx="9649202" cy="4090234"/>
          </a:xfrm>
          <a:prstGeom prst="rect">
            <a:avLst/>
          </a:prstGeom>
        </p:spPr>
        <p:txBody>
          <a:bodyPr/>
          <a:lstStyle/>
          <a:p>
            <a:pPr>
              <a:tabLst>
                <a:tab pos="1016000" algn="l"/>
              </a:tabLst>
            </a:pPr>
            <a:r>
              <a:t>All pathogens require certain conditions for growth, reproduction, and transmission.</a:t>
            </a:r>
          </a:p>
          <a:p>
            <a:pPr>
              <a:tabLst>
                <a:tab pos="1016000" algn="l"/>
              </a:tabLst>
            </a:pPr>
            <a:r>
              <a:t>By modifying the environment to make it less suitable for pathogens, most infectious diseases can be controlled.</a:t>
            </a:r>
          </a:p>
          <a:p>
            <a:pPr>
              <a:tabLst>
                <a:tab pos="1016000" algn="l"/>
              </a:tabLst>
            </a:pPr>
            <a:r>
              <a:t>Examples include</a:t>
            </a:r>
          </a:p>
          <a:p>
            <a:pPr lvl="1">
              <a:tabLst>
                <a:tab pos="1485900" algn="l"/>
              </a:tabLst>
            </a:pPr>
            <a:r>
              <a:t>Draining swampy ground to eliminate breeding sites for mosquitoes carrying malaria and dengue fever.</a:t>
            </a:r>
          </a:p>
          <a:p>
            <a:pPr lvl="1">
              <a:tabLst>
                <a:tab pos="1485900" algn="l"/>
              </a:tabLst>
            </a:pPr>
            <a:r>
              <a:t>Spraying disinfectants to sterilise potentially contaminated surfaces.</a:t>
            </a:r>
          </a:p>
        </p:txBody>
      </p:sp>
      <p:sp>
        <p:nvSpPr>
          <p:cNvPr id="2200" name="Shape 2200"/>
          <p:cNvSpPr/>
          <p:nvPr/>
        </p:nvSpPr>
        <p:spPr>
          <a:xfrm rot="5400000">
            <a:off x="12395200" y="4563039"/>
            <a:ext cx="939800" cy="6275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Photo: CDC</a:t>
            </a:r>
          </a:p>
        </p:txBody>
      </p:sp>
      <p:sp>
        <p:nvSpPr>
          <p:cNvPr id="2201" name="Shape 2201"/>
          <p:cNvSpPr/>
          <p:nvPr/>
        </p:nvSpPr>
        <p:spPr>
          <a:xfrm>
            <a:off x="304800" y="8128000"/>
            <a:ext cx="3644900" cy="9652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Workers spray drainage ditches with insecticide to kill mosquitoes that may spread disease</a:t>
            </a:r>
          </a:p>
        </p:txBody>
      </p:sp>
      <p:sp>
        <p:nvSpPr>
          <p:cNvPr id="2202" name="Shape 2202"/>
          <p:cNvSpPr/>
          <p:nvPr/>
        </p:nvSpPr>
        <p:spPr>
          <a:xfrm>
            <a:off x="12541175" y="9431204"/>
            <a:ext cx="421203" cy="18759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700" b="1">
                <a:solidFill>
                  <a:srgbClr val="FFFFFF"/>
                </a:solidFill>
              </a:defRPr>
            </a:lvl1pPr>
          </a:lstStyle>
          <a:p>
            <a:r>
              <a:t>CDC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9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9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9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9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19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1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9" grpId="0" build="p" bldLvl="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4" name="Water gathering DV.jpg"/>
          <p:cNvPicPr>
            <a:picLocks noChangeAspect="1"/>
          </p:cNvPicPr>
          <p:nvPr/>
        </p:nvPicPr>
        <p:blipFill>
          <a:blip r:embed="rId2"/>
          <a:stretch>
            <a:fillRect/>
          </a:stretch>
        </p:blipFill>
        <p:spPr>
          <a:xfrm>
            <a:off x="368300" y="5016500"/>
            <a:ext cx="6997700" cy="4267200"/>
          </a:xfrm>
          <a:prstGeom prst="rect">
            <a:avLst/>
          </a:prstGeom>
          <a:ln w="25400">
            <a:solidFill>
              <a:srgbClr val="FFFFFF"/>
            </a:solidFill>
            <a:miter lim="400000"/>
          </a:ln>
        </p:spPr>
      </p:pic>
      <p:sp>
        <p:nvSpPr>
          <p:cNvPr id="2205" name="Shape 2205"/>
          <p:cNvSpPr>
            <a:spLocks noGrp="1"/>
          </p:cNvSpPr>
          <p:nvPr>
            <p:ph type="title"/>
          </p:nvPr>
        </p:nvSpPr>
        <p:spPr>
          <a:prstGeom prst="rect">
            <a:avLst/>
          </a:prstGeom>
        </p:spPr>
        <p:txBody>
          <a:bodyPr/>
          <a:lstStyle>
            <a:lvl1pPr>
              <a:tabLst>
                <a:tab pos="952500" algn="l"/>
              </a:tabLst>
            </a:lvl1pPr>
          </a:lstStyle>
          <a:p>
            <a:r>
              <a:t>Effective Sanitation</a:t>
            </a:r>
          </a:p>
        </p:txBody>
      </p:sp>
      <p:sp>
        <p:nvSpPr>
          <p:cNvPr id="2206" name="Shape 2206"/>
          <p:cNvSpPr>
            <a:spLocks noGrp="1"/>
          </p:cNvSpPr>
          <p:nvPr>
            <p:ph type="body" sz="quarter" idx="1"/>
          </p:nvPr>
        </p:nvSpPr>
        <p:spPr>
          <a:xfrm>
            <a:off x="368300" y="1790700"/>
            <a:ext cx="11654036" cy="2151361"/>
          </a:xfrm>
          <a:prstGeom prst="rect">
            <a:avLst/>
          </a:prstGeom>
        </p:spPr>
        <p:txBody>
          <a:bodyPr/>
          <a:lstStyle/>
          <a:p>
            <a:pPr marL="326571" indent="-326571">
              <a:tabLst>
                <a:tab pos="1016000" algn="l"/>
              </a:tabLst>
            </a:pPr>
            <a:r>
              <a:t>The development of effective sanitation, </a:t>
            </a:r>
            <a:r>
              <a:rPr b="1">
                <a:solidFill>
                  <a:srgbClr val="006994"/>
                </a:solidFill>
              </a:rPr>
              <a:t>sewage treatment</a:t>
            </a:r>
            <a:r>
              <a:t>, and the treatment of </a:t>
            </a:r>
            <a:r>
              <a:rPr b="1">
                <a:solidFill>
                  <a:srgbClr val="006994"/>
                </a:solidFill>
              </a:rPr>
              <a:t>drinking</a:t>
            </a:r>
            <a:r>
              <a:rPr>
                <a:solidFill>
                  <a:srgbClr val="006994"/>
                </a:solidFill>
              </a:rPr>
              <a:t> </a:t>
            </a:r>
            <a:r>
              <a:rPr b="1">
                <a:solidFill>
                  <a:srgbClr val="006994"/>
                </a:solidFill>
              </a:rPr>
              <a:t>water</a:t>
            </a:r>
            <a:r>
              <a:rPr>
                <a:solidFill>
                  <a:srgbClr val="006994"/>
                </a:solidFill>
              </a:rPr>
              <a:t> </a:t>
            </a:r>
            <a:r>
              <a:t>has virtually eliminated dangerous waterborne diseases from developed countries.</a:t>
            </a:r>
          </a:p>
          <a:p>
            <a:pPr marL="326571" indent="-326571">
              <a:tabLst>
                <a:tab pos="1016000" algn="l"/>
              </a:tabLst>
            </a:pPr>
            <a:r>
              <a:t>These practices disrupt the normal infection cycle of pathogens transmitted through the fecal-oral route, such as those causing typhoid fever and cholera.</a:t>
            </a:r>
          </a:p>
        </p:txBody>
      </p:sp>
      <p:pic>
        <p:nvPicPr>
          <p:cNvPr id="2207" name="Sewage (AT).tif"/>
          <p:cNvPicPr>
            <a:picLocks noChangeAspect="1"/>
          </p:cNvPicPr>
          <p:nvPr/>
        </p:nvPicPr>
        <p:blipFill>
          <a:blip r:embed="rId3"/>
          <a:stretch>
            <a:fillRect/>
          </a:stretch>
        </p:blipFill>
        <p:spPr>
          <a:xfrm>
            <a:off x="7739124" y="5041900"/>
            <a:ext cx="4879851" cy="4216400"/>
          </a:xfrm>
          <a:prstGeom prst="rect">
            <a:avLst/>
          </a:prstGeom>
          <a:ln w="25400">
            <a:solidFill>
              <a:srgbClr val="FFFFFF"/>
            </a:solidFill>
            <a:miter lim="400000"/>
          </a:ln>
        </p:spPr>
      </p:pic>
      <p:sp>
        <p:nvSpPr>
          <p:cNvPr id="2208" name="Shape 2208"/>
          <p:cNvSpPr/>
          <p:nvPr/>
        </p:nvSpPr>
        <p:spPr>
          <a:xfrm>
            <a:off x="6178475" y="4783004"/>
            <a:ext cx="352097" cy="187592"/>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700">
                <a:solidFill>
                  <a:srgbClr val="FFFFFF"/>
                </a:solidFill>
              </a:defRPr>
            </a:lvl1pPr>
          </a:lstStyle>
          <a:p>
            <a:r>
              <a:t>DV</a:t>
            </a:r>
          </a:p>
        </p:txBody>
      </p:sp>
      <p:sp>
        <p:nvSpPr>
          <p:cNvPr id="2209" name="Shape 2209"/>
          <p:cNvSpPr/>
          <p:nvPr/>
        </p:nvSpPr>
        <p:spPr>
          <a:xfrm>
            <a:off x="6984271" y="9108941"/>
            <a:ext cx="352097" cy="187593"/>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700">
                <a:solidFill>
                  <a:srgbClr val="000000"/>
                </a:solidFill>
              </a:defRPr>
            </a:lvl1pPr>
          </a:lstStyle>
          <a:p>
            <a:r>
              <a:t>DV</a:t>
            </a:r>
          </a:p>
        </p:txBody>
      </p:sp>
      <p:sp>
        <p:nvSpPr>
          <p:cNvPr id="2210" name="Shape 2210"/>
          <p:cNvSpPr/>
          <p:nvPr/>
        </p:nvSpPr>
        <p:spPr>
          <a:xfrm>
            <a:off x="12191271" y="9020041"/>
            <a:ext cx="335602" cy="187593"/>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tabLst>
                <a:tab pos="520700" algn="l"/>
              </a:tabLst>
              <a:defRPr sz="700">
                <a:solidFill>
                  <a:srgbClr val="FFFFFF"/>
                </a:solidFill>
              </a:defRPr>
            </a:lvl1pPr>
          </a:lstStyle>
          <a:p>
            <a:r>
              <a:t>AT</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0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0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0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6" grpId="0"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2" name="Shape 2212"/>
          <p:cNvSpPr>
            <a:spLocks noGrp="1"/>
          </p:cNvSpPr>
          <p:nvPr>
            <p:ph type="title"/>
          </p:nvPr>
        </p:nvSpPr>
        <p:spPr>
          <a:prstGeom prst="rect">
            <a:avLst/>
          </a:prstGeom>
        </p:spPr>
        <p:txBody>
          <a:bodyPr/>
          <a:lstStyle>
            <a:lvl1pPr>
              <a:tabLst>
                <a:tab pos="952500" algn="l"/>
              </a:tabLst>
            </a:lvl1pPr>
          </a:lstStyle>
          <a:p>
            <a:r>
              <a:t>Behavioural Control</a:t>
            </a:r>
          </a:p>
        </p:txBody>
      </p:sp>
      <p:sp>
        <p:nvSpPr>
          <p:cNvPr id="2213" name="Shape 2213"/>
          <p:cNvSpPr>
            <a:spLocks noGrp="1"/>
          </p:cNvSpPr>
          <p:nvPr>
            <p:ph type="body" sz="half" idx="1"/>
          </p:nvPr>
        </p:nvSpPr>
        <p:spPr>
          <a:xfrm>
            <a:off x="368300" y="1790700"/>
            <a:ext cx="5956300" cy="5097562"/>
          </a:xfrm>
          <a:prstGeom prst="rect">
            <a:avLst/>
          </a:prstGeom>
        </p:spPr>
        <p:txBody>
          <a:bodyPr/>
          <a:lstStyle/>
          <a:p>
            <a:pPr>
              <a:tabLst>
                <a:tab pos="1016000" algn="l"/>
              </a:tabLst>
            </a:pPr>
            <a:r>
              <a:t>Transmission of disease can be prevented or significantly reduced by adopting ‘safe’ behaviours.</a:t>
            </a:r>
          </a:p>
          <a:p>
            <a:pPr>
              <a:tabLst>
                <a:tab pos="1016000" algn="l"/>
              </a:tabLst>
            </a:pPr>
            <a:r>
              <a:t>Examples include:</a:t>
            </a:r>
          </a:p>
          <a:p>
            <a:pPr lvl="1">
              <a:tabLst>
                <a:tab pos="1485900" algn="l"/>
              </a:tabLst>
            </a:pPr>
            <a:r>
              <a:t>Using condoms to reduce the spread of sexually transmitted diseases.</a:t>
            </a:r>
          </a:p>
          <a:p>
            <a:pPr lvl="1">
              <a:tabLst>
                <a:tab pos="1485900" algn="l"/>
              </a:tabLst>
            </a:pPr>
            <a:r>
              <a:t>Establishing quarantine and isolation procedures to prevent the spread of disease from other countries.</a:t>
            </a:r>
          </a:p>
          <a:p>
            <a:pPr lvl="1">
              <a:tabLst>
                <a:tab pos="1485900" algn="l"/>
              </a:tabLst>
            </a:pPr>
            <a:r>
              <a:t>Adopting appropriate personal hygiene practices, such as washing your hands after going to the toilet and before handling food.</a:t>
            </a:r>
          </a:p>
        </p:txBody>
      </p:sp>
      <p:pic>
        <p:nvPicPr>
          <p:cNvPr id="2214" name="Condoms in packets.png"/>
          <p:cNvPicPr>
            <a:picLocks noChangeAspect="1"/>
          </p:cNvPicPr>
          <p:nvPr/>
        </p:nvPicPr>
        <p:blipFill>
          <a:blip r:embed="rId2"/>
          <a:stretch>
            <a:fillRect/>
          </a:stretch>
        </p:blipFill>
        <p:spPr>
          <a:xfrm rot="5400000">
            <a:off x="6847723" y="1932822"/>
            <a:ext cx="5570455" cy="4279901"/>
          </a:xfrm>
          <a:prstGeom prst="rect">
            <a:avLst/>
          </a:prstGeom>
          <a:ln w="12700">
            <a:miter lim="400000"/>
          </a:ln>
        </p:spPr>
      </p:pic>
      <p:pic>
        <p:nvPicPr>
          <p:cNvPr id="2215" name="Wash Your Hands Sign PO 22589932.jpg"/>
          <p:cNvPicPr>
            <a:picLocks noChangeAspect="1"/>
          </p:cNvPicPr>
          <p:nvPr/>
        </p:nvPicPr>
        <p:blipFill>
          <a:blip r:embed="rId3"/>
          <a:stretch>
            <a:fillRect/>
          </a:stretch>
        </p:blipFill>
        <p:spPr>
          <a:xfrm>
            <a:off x="7354644" y="5791200"/>
            <a:ext cx="5180257" cy="34798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1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1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1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1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213">
                                            <p:txEl>
                                              <p:pRg st="4" end="4"/>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1000"/>
                                  </p:stCondLst>
                                  <p:iterate>
                                    <p:tmAbs val="0"/>
                                  </p:iterate>
                                  <p:childTnLst>
                                    <p:set>
                                      <p:cBhvr>
                                        <p:cTn id="27" fill="hold"/>
                                        <p:tgtEl>
                                          <p:spTgt spid="2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3" grpId="0" build="p" bldLvl="5" animBg="1" advAuto="0"/>
      <p:bldP spid="2215" grpId="0"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7" name="keynote logo image maybe3.jpg"/>
          <p:cNvPicPr>
            <a:picLocks noChangeAspect="1"/>
          </p:cNvPicPr>
          <p:nvPr/>
        </p:nvPicPr>
        <p:blipFill>
          <a:blip r:embed="rId2"/>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9" name="Shape 2219"/>
          <p:cNvSpPr>
            <a:spLocks noGrp="1"/>
          </p:cNvSpPr>
          <p:nvPr>
            <p:ph type="title"/>
          </p:nvPr>
        </p:nvSpPr>
        <p:spPr>
          <a:prstGeom prst="rect">
            <a:avLst/>
          </a:prstGeom>
        </p:spPr>
        <p:txBody>
          <a:bodyPr/>
          <a:lstStyle>
            <a:lvl1pPr>
              <a:tabLst>
                <a:tab pos="952500" algn="l"/>
              </a:tabLst>
            </a:lvl1pPr>
          </a:lstStyle>
          <a:p>
            <a:r>
              <a:t>Conditions of Use</a:t>
            </a:r>
          </a:p>
        </p:txBody>
      </p:sp>
      <p:sp>
        <p:nvSpPr>
          <p:cNvPr id="2220" name="Shape 2220"/>
          <p:cNvSpPr/>
          <p:nvPr/>
        </p:nvSpPr>
        <p:spPr>
          <a:xfrm>
            <a:off x="774700" y="2527300"/>
            <a:ext cx="5524500" cy="5283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2221" name="Shape 2221"/>
          <p:cNvSpPr/>
          <p:nvPr/>
        </p:nvSpPr>
        <p:spPr>
          <a:xfrm>
            <a:off x="774700" y="1447800"/>
            <a:ext cx="11277600" cy="829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2222" name="Shape 2222"/>
          <p:cNvSpPr/>
          <p:nvPr/>
        </p:nvSpPr>
        <p:spPr>
          <a:xfrm>
            <a:off x="6807200" y="2527300"/>
            <a:ext cx="5760000" cy="49911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2223" name="Shape 2223"/>
          <p:cNvSpPr/>
          <p:nvPr/>
        </p:nvSpPr>
        <p:spPr>
          <a:xfrm>
            <a:off x="711200" y="7518400"/>
            <a:ext cx="6350000" cy="29210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5" name="Shape 2225"/>
          <p:cNvSpPr>
            <a:spLocks noGrp="1"/>
          </p:cNvSpPr>
          <p:nvPr>
            <p:ph type="title"/>
          </p:nvPr>
        </p:nvSpPr>
        <p:spPr>
          <a:prstGeom prst="rect">
            <a:avLst/>
          </a:prstGeom>
        </p:spPr>
        <p:txBody>
          <a:bodyPr/>
          <a:lstStyle>
            <a:lvl1pPr>
              <a:tabLst>
                <a:tab pos="952500" algn="l"/>
              </a:tabLst>
            </a:lvl1pPr>
          </a:lstStyle>
          <a:p>
            <a:r>
              <a:t>Photo Credits</a:t>
            </a:r>
          </a:p>
        </p:txBody>
      </p:sp>
      <p:sp>
        <p:nvSpPr>
          <p:cNvPr id="2226" name="Shape 2226"/>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611999" lvl="1">
              <a:tabLst>
                <a:tab pos="1485900" algn="l"/>
              </a:tabLst>
              <a:defRPr b="1"/>
            </a:pPr>
            <a:r>
              <a:t>Adobestock</a:t>
            </a:r>
          </a:p>
          <a:p>
            <a:pPr marL="611999" lvl="1">
              <a:tabLst>
                <a:tab pos="1485900" algn="l"/>
              </a:tabLst>
              <a:defRPr b="1"/>
            </a:pPr>
            <a:r>
              <a:t>Digital Vision (</a:t>
            </a:r>
            <a:r>
              <a:rPr b="0"/>
              <a:t>coded </a:t>
            </a:r>
            <a:r>
              <a:t>DV)</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2227" name="Shape 2227"/>
          <p:cNvSpPr/>
          <p:nvPr/>
        </p:nvSpPr>
        <p:spPr>
          <a:xfrm>
            <a:off x="6807200" y="1803400"/>
            <a:ext cx="5156200" cy="3568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2230" name="Group 2230"/>
          <p:cNvGrpSpPr/>
          <p:nvPr/>
        </p:nvGrpSpPr>
        <p:grpSpPr>
          <a:xfrm>
            <a:off x="6807200" y="5384800"/>
            <a:ext cx="5003800" cy="1841500"/>
            <a:chOff x="0" y="0"/>
            <a:chExt cx="5003800" cy="1841500"/>
          </a:xfrm>
        </p:grpSpPr>
        <p:sp>
          <p:nvSpPr>
            <p:cNvPr id="2228" name="Shape 2228"/>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2229" name="Shape 2229"/>
            <p:cNvSpPr/>
            <p:nvPr/>
          </p:nvSpPr>
          <p:spPr>
            <a:xfrm>
              <a:off x="246508" y="215900"/>
              <a:ext cx="4508501" cy="14124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2" name="PM Ad last slide.pdf"/>
          <p:cNvPicPr>
            <a:picLocks noChangeAspect="1"/>
          </p:cNvPicPr>
          <p:nvPr/>
        </p:nvPicPr>
        <p:blipFill>
          <a:blip r:embed="rId2"/>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75">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AACDC1855FE44A9D8FEA7F2214B342" ma:contentTypeVersion="12" ma:contentTypeDescription="Create a new document." ma:contentTypeScope="" ma:versionID="26fac4aed9e678e8ed3bea7492240f73">
  <xsd:schema xmlns:xsd="http://www.w3.org/2001/XMLSchema" xmlns:xs="http://www.w3.org/2001/XMLSchema" xmlns:p="http://schemas.microsoft.com/office/2006/metadata/properties" xmlns:ns3="98a6ea60-bed7-4c71-b6cd-44c919fba4d3" xmlns:ns4="65f91482-14a5-4ee3-aa0b-c35ad90bd337" targetNamespace="http://schemas.microsoft.com/office/2006/metadata/properties" ma:root="true" ma:fieldsID="8e1b5644c772dfad26f62664d2d05839" ns3:_="" ns4:_="">
    <xsd:import namespace="98a6ea60-bed7-4c71-b6cd-44c919fba4d3"/>
    <xsd:import namespace="65f91482-14a5-4ee3-aa0b-c35ad90bd337"/>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a6ea60-bed7-4c71-b6cd-44c919fba4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f91482-14a5-4ee3-aa0b-c35ad90bd33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89ECE1-39C7-4039-B9E1-9ABA75C91E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a6ea60-bed7-4c71-b6cd-44c919fba4d3"/>
    <ds:schemaRef ds:uri="65f91482-14a5-4ee3-aa0b-c35ad90bd3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9F906B-86FB-4E97-9753-8108011BEA5E}">
  <ds:schemaRefs>
    <ds:schemaRef ds:uri="http://schemas.microsoft.com/office/2006/documentManagement/types"/>
    <ds:schemaRef ds:uri="http://schemas.microsoft.com/office/2006/metadata/properties"/>
    <ds:schemaRef ds:uri="65f91482-14a5-4ee3-aa0b-c35ad90bd337"/>
    <ds:schemaRef ds:uri="http://www.w3.org/XML/1998/namespace"/>
    <ds:schemaRef ds:uri="http://purl.org/dc/elements/1.1/"/>
    <ds:schemaRef ds:uri="http://schemas.microsoft.com/office/infopath/2007/PartnerControls"/>
    <ds:schemaRef ds:uri="http://schemas.openxmlformats.org/package/2006/metadata/core-properties"/>
    <ds:schemaRef ds:uri="98a6ea60-bed7-4c71-b6cd-44c919fba4d3"/>
    <ds:schemaRef ds:uri="http://purl.org/dc/dcmitype/"/>
    <ds:schemaRef ds:uri="http://purl.org/dc/terms/"/>
  </ds:schemaRefs>
</ds:datastoreItem>
</file>

<file path=customXml/itemProps3.xml><?xml version="1.0" encoding="utf-8"?>
<ds:datastoreItem xmlns:ds="http://schemas.openxmlformats.org/officeDocument/2006/customXml" ds:itemID="{6601570A-0E8C-4D70-BF75-1212F998B41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TotalTime>
  <Words>3575</Words>
  <Application>Microsoft Office PowerPoint</Application>
  <PresentationFormat>Custom</PresentationFormat>
  <Paragraphs>333</Paragraphs>
  <Slides>32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Gill Sans</vt:lpstr>
      <vt:lpstr>Helvetica</vt:lpstr>
      <vt:lpstr>Hoefler Text</vt:lpstr>
      <vt:lpstr>Lucida Grande</vt:lpstr>
      <vt:lpstr>Myriad Pro</vt:lpstr>
      <vt:lpstr>Myriad Pro Semibold</vt:lpstr>
      <vt:lpstr>Savoye LET</vt:lpstr>
      <vt:lpstr>Symbol</vt:lpstr>
      <vt:lpstr>White</vt:lpstr>
      <vt:lpstr>PowerPoint Presentation</vt:lpstr>
      <vt:lpstr>PowerPoint Presentation</vt:lpstr>
      <vt:lpstr>Infectious Disease</vt:lpstr>
      <vt:lpstr>Pathogen Success or Failure</vt:lpstr>
      <vt:lpstr>Portals of Pathogen Entry</vt:lpstr>
      <vt:lpstr>Transmission of Disease</vt:lpstr>
      <vt:lpstr>Bacteria and Disease</vt:lpstr>
      <vt:lpstr>Pathogenic Bacteria</vt:lpstr>
      <vt:lpstr>Bacterial Infection</vt:lpstr>
      <vt:lpstr>Examples of Viral Pathogens</vt:lpstr>
      <vt:lpstr>Viral Infection</vt:lpstr>
      <vt:lpstr>Immune Deficiency Disease</vt:lpstr>
      <vt:lpstr>HIV/AIDS: An Immune Deficiency Disease</vt:lpstr>
      <vt:lpstr>HIV and AIDS</vt:lpstr>
      <vt:lpstr>HIV Infects T Helper Cells</vt:lpstr>
      <vt:lpstr>Structure of the HIV Virus</vt:lpstr>
      <vt:lpstr>Stages of HIV Infection</vt:lpstr>
      <vt:lpstr>HIV Replication</vt:lpstr>
      <vt:lpstr>HIV Infection</vt:lpstr>
      <vt:lpstr>Symptoms of AIDS</vt:lpstr>
      <vt:lpstr>Influenza</vt:lpstr>
      <vt:lpstr>Antimicrobial Drugs</vt:lpstr>
      <vt:lpstr>How Antibacterial Drugs Work</vt:lpstr>
      <vt:lpstr>Antiviral Drugs</vt:lpstr>
      <vt:lpstr>Preventing the Spread of Disease</vt:lpstr>
      <vt:lpstr>Modifying the Environment</vt:lpstr>
      <vt:lpstr>Effective Sanitation</vt:lpstr>
      <vt:lpstr>Behavioural Control</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EDWARDS Natalie [Narrogin Senior High School]</cp:lastModifiedBy>
  <cp:revision>4</cp:revision>
  <dcterms:modified xsi:type="dcterms:W3CDTF">2021-04-22T04:20:39Z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0x010100E8AACDC1855FE44A9D8FEA7F2214B342</vt:lpwstr>
  </property>
</Properties>
</file>
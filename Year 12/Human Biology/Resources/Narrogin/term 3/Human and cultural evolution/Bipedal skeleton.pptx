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3A50B4-34D4-4E55-9CF9-67392E2CB496}">
  <a:tblStyle styleId="{FF3A50B4-34D4-4E55-9CF9-67392E2CB496}"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
        <p:nvSpPr>
          <p:cNvPr id="25" name="Google Shape;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f7e25f18_0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 name="Google Shape;31;gf7e25f18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f7e25f18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f7e25f18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1613a5bc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1613a5bc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f7e25f18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f7e25f18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f7e25f18_0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f7e25f18_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f7e25f18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f7e25f18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f7e25f18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f7e25f18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f7e25f18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f7e25f18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f7e25f18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f7e25f18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f7e25f18_0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f7e25f18_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f7e25f18_1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f7e25f18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a:off x="685800" y="3786738"/>
            <a:ext cx="7772400" cy="1046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1pPr>
            <a:lvl2pPr lvl="1"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sp>
        <p:nvSpPr>
          <p:cNvPr id="10" name="Google Shape;10;p2"/>
          <p:cNvSpPr txBox="1"/>
          <p:nvPr>
            <p:ph type="ctrTitle"/>
          </p:nvPr>
        </p:nvSpPr>
        <p:spPr>
          <a:xfrm>
            <a:off x="685800" y="2111123"/>
            <a:ext cx="7772400" cy="1546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2pPr>
            <a:lvl3pPr lvl="2"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3pPr>
            <a:lvl4pPr lvl="3"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4pPr>
            <a:lvl5pPr lvl="4"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5pPr>
            <a:lvl6pPr lvl="5"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6pPr>
            <a:lvl7pPr lvl="6"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7pPr>
            <a:lvl8pPr lvl="7"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8pPr>
            <a:lvl9pPr lvl="8"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13" name="Google Shape;13;p3"/>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4"/>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16" name="Google Shape;16;p4"/>
          <p:cNvSpPr txBox="1"/>
          <p:nvPr>
            <p:ph idx="1" type="body"/>
          </p:nvPr>
        </p:nvSpPr>
        <p:spPr>
          <a:xfrm>
            <a:off x="457200"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17" name="Google Shape;17;p4"/>
          <p:cNvSpPr txBox="1"/>
          <p:nvPr>
            <p:ph idx="2" type="body"/>
          </p:nvPr>
        </p:nvSpPr>
        <p:spPr>
          <a:xfrm>
            <a:off x="4692274"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5"/>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 name="Shape 20"/>
        <p:cNvGrpSpPr/>
        <p:nvPr/>
      </p:nvGrpSpPr>
      <p:grpSpPr>
        <a:xfrm>
          <a:off x="0" y="0"/>
          <a:ext cx="0" cy="0"/>
          <a:chOff x="0" y="0"/>
          <a:chExt cx="0" cy="0"/>
        </a:xfrm>
      </p:grpSpPr>
      <p:sp>
        <p:nvSpPr>
          <p:cNvPr id="21" name="Google Shape;21;p6"/>
          <p:cNvSpPr txBox="1"/>
          <p:nvPr>
            <p:ph idx="1" type="body"/>
          </p:nvPr>
        </p:nvSpPr>
        <p:spPr>
          <a:xfrm>
            <a:off x="457200" y="5875079"/>
            <a:ext cx="8229600" cy="6927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30000">
              <a:schemeClr val="lt1"/>
            </a:gs>
            <a:gs pos="100000">
              <a:schemeClr val="lt2"/>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rgbClr val="000000"/>
              </a:buClr>
              <a:buSzPts val="3000"/>
              <a:buFont typeface="Arial"/>
              <a:buChar char="●"/>
              <a:defRPr b="0" i="0" sz="3000" u="none" cap="none" strike="noStrike">
                <a:solidFill>
                  <a:srgbClr val="000000"/>
                </a:solidFill>
                <a:latin typeface="Arial"/>
                <a:ea typeface="Arial"/>
                <a:cs typeface="Arial"/>
                <a:sym typeface="Arial"/>
              </a:defRPr>
            </a:lvl1pPr>
            <a:lvl2pPr indent="-381000" lvl="1" marL="914400" rtl="0" algn="l">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2pPr>
            <a:lvl3pPr indent="-381000" lvl="2" marL="1371600" rtl="0" algn="l">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3pPr>
            <a:lvl4pPr indent="-342900" lvl="3" marL="18288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4pPr>
            <a:lvl5pPr indent="-342900" lvl="4" marL="22860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5pPr>
            <a:lvl6pPr indent="-342900" lvl="5" marL="27432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6pPr>
            <a:lvl7pPr indent="-342900" lvl="6" marL="32004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7pPr>
            <a:lvl8pPr indent="-342900" lvl="7" marL="36576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8pPr>
            <a:lvl9pPr indent="-342900" lvl="8" marL="4114800" rtl="0" algn="l">
              <a:spcBef>
                <a:spcPts val="0"/>
              </a:spcBef>
              <a:spcAft>
                <a:spcPts val="0"/>
              </a:spcAft>
              <a:buClr>
                <a:srgbClr val="000000"/>
              </a:buClr>
              <a:buSzPts val="1800"/>
              <a:buFont typeface="Arial"/>
              <a:buChar char="■"/>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8"/>
          <p:cNvSpPr txBox="1"/>
          <p:nvPr>
            <p:ph type="ctrTitle"/>
          </p:nvPr>
        </p:nvSpPr>
        <p:spPr>
          <a:xfrm>
            <a:off x="685800" y="2111123"/>
            <a:ext cx="7772400" cy="1546475"/>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The bipedal skeleton</a:t>
            </a:r>
            <a:endParaRPr/>
          </a:p>
        </p:txBody>
      </p:sp>
      <p:sp>
        <p:nvSpPr>
          <p:cNvPr id="28" name="Google Shape;28;p8"/>
          <p:cNvSpPr txBox="1"/>
          <p:nvPr>
            <p:ph idx="1" type="subTitle"/>
          </p:nvPr>
        </p:nvSpPr>
        <p:spPr>
          <a:xfrm>
            <a:off x="685800" y="3786738"/>
            <a:ext cx="7772400" cy="1046317"/>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2400"/>
              <a:t>Why was bipedalism selected for in early hominins and what are the physical differences of our bipedal skeleton compared with quadrupedal apes</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Selection for bipedalism</a:t>
            </a:r>
            <a:endParaRPr/>
          </a:p>
        </p:txBody>
      </p:sp>
      <p:sp>
        <p:nvSpPr>
          <p:cNvPr id="34" name="Google Shape;34;p9"/>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The most significant feature of early hominin evolution was almost certainly walking bipedally.</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rPr lang="en-GB" sz="2400"/>
              <a:t>Bipedalism is not common in nature.  </a:t>
            </a:r>
            <a:endParaRPr sz="2400"/>
          </a:p>
          <a:p>
            <a:pPr indent="0" lvl="0" marL="0" rtl="0" algn="l">
              <a:spcBef>
                <a:spcPts val="600"/>
              </a:spcBef>
              <a:spcAft>
                <a:spcPts val="0"/>
              </a:spcAft>
              <a:buNone/>
            </a:pPr>
            <a:r>
              <a:rPr i="1" lang="en-GB" sz="2400"/>
              <a:t>Can we think of examples?</a:t>
            </a:r>
            <a:endParaRPr i="1" sz="2400"/>
          </a:p>
          <a:p>
            <a:pPr indent="0" lvl="0" marL="0" rtl="0" algn="l">
              <a:spcBef>
                <a:spcPts val="600"/>
              </a:spcBef>
              <a:spcAft>
                <a:spcPts val="0"/>
              </a:spcAft>
              <a:buNone/>
            </a:pPr>
            <a:r>
              <a:t/>
            </a:r>
            <a:endParaRPr sz="2400"/>
          </a:p>
          <a:p>
            <a:pPr indent="0" lvl="0" marL="0" rtl="0" algn="l">
              <a:spcBef>
                <a:spcPts val="600"/>
              </a:spcBef>
              <a:spcAft>
                <a:spcPts val="0"/>
              </a:spcAft>
              <a:buNone/>
            </a:pPr>
            <a:r>
              <a:rPr lang="en-GB" sz="2400"/>
              <a:t>Humans have only two small points of contact with the ground...our feet.  They allow us to balance, but are not very efficient on slippery surfaces.</a:t>
            </a:r>
            <a:endParaRPr sz="2400"/>
          </a:p>
          <a:p>
            <a:pPr indent="0" lvl="0" marL="0" rtl="0" algn="l">
              <a:spcBef>
                <a:spcPts val="600"/>
              </a:spcBef>
              <a:spcAft>
                <a:spcPts val="0"/>
              </a:spcAft>
              <a:buNone/>
            </a:pPr>
            <a:r>
              <a:rPr lang="en-GB" sz="2400"/>
              <a:t>Why then was bipedalism selcted for in Africa all those years ago?...</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1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Selection for bipedalism</a:t>
            </a:r>
            <a:endParaRPr/>
          </a:p>
        </p:txBody>
      </p:sp>
      <p:sp>
        <p:nvSpPr>
          <p:cNvPr id="40" name="Google Shape;40;p10"/>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2400"/>
              <a:t>What is it about this landscape that caused natural selection of those early hominids that were more bipedal than others, thus changing the genotype over time.</a:t>
            </a:r>
            <a:endParaRPr b="1" sz="2400"/>
          </a:p>
        </p:txBody>
      </p:sp>
      <p:sp>
        <p:nvSpPr>
          <p:cNvPr id="41" name="Google Shape;41;p10"/>
          <p:cNvSpPr txBox="1"/>
          <p:nvPr>
            <p:ph idx="1" type="body"/>
          </p:nvPr>
        </p:nvSpPr>
        <p:spPr>
          <a:xfrm>
            <a:off x="2282700" y="3259150"/>
            <a:ext cx="6404100" cy="3023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They never “chose” to be bipedal, they never deliberately developed their pelvic bones to better suit walking on two legs, but some of them would have had minor differences in phenotype (and therefore genotype) that would have been a small advantage (energy saving/vigilance) for walking between the trees which were, by this stage, further apart.</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1000"/>
                                        <p:tgtEl>
                                          <p:spTgt spid="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push to evolve</a:t>
            </a:r>
            <a:endParaRPr sz="1100"/>
          </a:p>
        </p:txBody>
      </p:sp>
      <p:sp>
        <p:nvSpPr>
          <p:cNvPr id="47" name="Google Shape;47;p11"/>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Around 5 million years ago the African climate changed.  Cooler and drier climate meant areas of dense forest changed to open savaanah (grassland with scattered trees experiencing seasonally dry, hot conditions.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The divergence of hominins from their ape-like, arboreal (living in trees) ancestors took place as major adaptations to the changing environment occurred within the hominid groups.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It is thought bipedalism (habitually walking on two legs) evolved first, followed by changes in teeth and jaws, and finally the development of the brain which allowed for the more complex cultural evolution of humans compared to other present day apes.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The evolution of humans has occurred through natural selection, where the best adapted individuals survived or outcompeted others for breeding partners, thus passing on their successful alleles to their offspring.  Theses successful alleles then increased in frequency in the gene pool.</a:t>
            </a:r>
            <a:endParaRPr sz="1800">
              <a:solidFill>
                <a:schemeClr val="dk1"/>
              </a:solidFill>
            </a:endParaRPr>
          </a:p>
          <a:p>
            <a:pPr indent="0" lvl="0" marL="0" rtl="0" algn="l">
              <a:spcBef>
                <a:spcPts val="600"/>
              </a:spcBef>
              <a:spcAft>
                <a:spcPts val="0"/>
              </a:spcAft>
              <a:buNone/>
            </a:pPr>
            <a:r>
              <a:t/>
            </a:r>
            <a:endParaRPr sz="3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id="52" name="Google Shape;52;p12"/>
          <p:cNvPicPr preferRelativeResize="0"/>
          <p:nvPr/>
        </p:nvPicPr>
        <p:blipFill>
          <a:blip r:embed="rId3">
            <a:alphaModFix/>
          </a:blip>
          <a:stretch>
            <a:fillRect/>
          </a:stretch>
        </p:blipFill>
        <p:spPr>
          <a:xfrm>
            <a:off x="0" y="0"/>
            <a:ext cx="9318624" cy="6858000"/>
          </a:xfrm>
          <a:prstGeom prst="rect">
            <a:avLst/>
          </a:prstGeom>
          <a:noFill/>
          <a:ln>
            <a:noFill/>
          </a:ln>
        </p:spPr>
      </p:pic>
      <p:sp>
        <p:nvSpPr>
          <p:cNvPr id="53" name="Google Shape;53;p1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advantages of bipedalism</a:t>
            </a:r>
            <a:endParaRPr/>
          </a:p>
        </p:txBody>
      </p:sp>
      <p:sp>
        <p:nvSpPr>
          <p:cNvPr id="54" name="Google Shape;54;p12"/>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How could being bipedal in these environments offer a selective advantage?</a:t>
            </a:r>
            <a:endParaRPr/>
          </a:p>
          <a:p>
            <a:pPr indent="0" lvl="0" marL="0" rtl="0" algn="l">
              <a:spcBef>
                <a:spcPts val="600"/>
              </a:spcBef>
              <a:spcAft>
                <a:spcPts val="0"/>
              </a:spcAft>
              <a:buNone/>
            </a:pPr>
            <a:r>
              <a:rPr i="1" lang="en-GB" sz="2400"/>
              <a:t>Make a list of factors that are advantages of our bipedal nature and why they are advantageous.</a:t>
            </a:r>
            <a:endParaRPr i="1" sz="2400"/>
          </a:p>
        </p:txBody>
      </p:sp>
      <p:sp>
        <p:nvSpPr>
          <p:cNvPr id="55" name="Google Shape;55;p12"/>
          <p:cNvSpPr txBox="1"/>
          <p:nvPr>
            <p:ph idx="1" type="body"/>
          </p:nvPr>
        </p:nvSpPr>
        <p:spPr>
          <a:xfrm>
            <a:off x="457200" y="3509875"/>
            <a:ext cx="8386800" cy="3023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1800"/>
              <a:t>Carrying things</a:t>
            </a:r>
            <a:r>
              <a:rPr lang="en-GB" sz="1800"/>
              <a:t> - Can gather food and bring back to a group, can carry children while carrying out tasks...</a:t>
            </a:r>
            <a:endParaRPr sz="1800"/>
          </a:p>
          <a:p>
            <a:pPr indent="0" lvl="0" marL="0" rtl="0" algn="l">
              <a:spcBef>
                <a:spcPts val="600"/>
              </a:spcBef>
              <a:spcAft>
                <a:spcPts val="0"/>
              </a:spcAft>
              <a:buNone/>
            </a:pPr>
            <a:r>
              <a:rPr b="1" lang="en-GB" sz="1800"/>
              <a:t>Keeping cool</a:t>
            </a:r>
            <a:r>
              <a:rPr lang="en-GB" sz="1800"/>
              <a:t> - Less exposure to the sun...</a:t>
            </a:r>
            <a:endParaRPr sz="1800"/>
          </a:p>
          <a:p>
            <a:pPr indent="0" lvl="0" marL="0" rtl="0" algn="l">
              <a:spcBef>
                <a:spcPts val="600"/>
              </a:spcBef>
              <a:spcAft>
                <a:spcPts val="0"/>
              </a:spcAft>
              <a:buNone/>
            </a:pPr>
            <a:r>
              <a:rPr b="1" lang="en-GB" sz="1800"/>
              <a:t>Displaying to others</a:t>
            </a:r>
            <a:r>
              <a:rPr lang="en-GB" sz="1800"/>
              <a:t> - Erect posture and forward facing eyes allows for social communication</a:t>
            </a:r>
            <a:endParaRPr sz="1800"/>
          </a:p>
          <a:p>
            <a:pPr indent="0" lvl="0" marL="0" rtl="0" algn="l">
              <a:spcBef>
                <a:spcPts val="600"/>
              </a:spcBef>
              <a:spcAft>
                <a:spcPts val="0"/>
              </a:spcAft>
              <a:buNone/>
            </a:pPr>
            <a:r>
              <a:rPr b="1" lang="en-GB" sz="1800"/>
              <a:t>Being vigilant </a:t>
            </a:r>
            <a:r>
              <a:rPr lang="en-GB" sz="1800"/>
              <a:t>- Extra height means predators can be seen from further away...</a:t>
            </a:r>
            <a:endParaRPr sz="1800"/>
          </a:p>
          <a:p>
            <a:pPr indent="0" lvl="0" marL="0" rtl="0" algn="l">
              <a:spcBef>
                <a:spcPts val="600"/>
              </a:spcBef>
              <a:spcAft>
                <a:spcPts val="0"/>
              </a:spcAft>
              <a:buNone/>
            </a:pPr>
            <a:r>
              <a:rPr b="1" lang="en-GB" sz="1800"/>
              <a:t>Energy efficiency</a:t>
            </a:r>
            <a:r>
              <a:rPr lang="en-GB" sz="1800"/>
              <a:t> - For walking bipedal is more efficient (note: running quadrupedal is still better)...</a:t>
            </a:r>
            <a:endParaRPr sz="1800"/>
          </a:p>
          <a:p>
            <a:pPr indent="0" lvl="0" marL="0" rtl="0" algn="l">
              <a:spcBef>
                <a:spcPts val="600"/>
              </a:spcBef>
              <a:spcAft>
                <a:spcPts val="0"/>
              </a:spcAft>
              <a:buNone/>
            </a:pPr>
            <a:r>
              <a:rPr b="1" lang="en-GB" sz="1800"/>
              <a:t>Foraging and harvesting</a:t>
            </a:r>
            <a:r>
              <a:rPr lang="en-GB" sz="1800"/>
              <a:t> - Can reach higher and use balance to reach food...</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10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title"/>
          </p:nvPr>
        </p:nvSpPr>
        <p:spPr>
          <a:xfrm>
            <a:off x="457200" y="274650"/>
            <a:ext cx="39243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Spot the difference</a:t>
            </a:r>
            <a:endParaRPr/>
          </a:p>
        </p:txBody>
      </p:sp>
      <p:sp>
        <p:nvSpPr>
          <p:cNvPr id="61" name="Google Shape;61;p13"/>
          <p:cNvSpPr txBox="1"/>
          <p:nvPr>
            <p:ph idx="1" type="body"/>
          </p:nvPr>
        </p:nvSpPr>
        <p:spPr>
          <a:xfrm>
            <a:off x="457200" y="1306525"/>
            <a:ext cx="3924300" cy="526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How does our bipedal skeleton differ to the gorillas quadrupedal skeleton?</a:t>
            </a:r>
            <a:endParaRPr/>
          </a:p>
        </p:txBody>
      </p:sp>
      <p:pic>
        <p:nvPicPr>
          <p:cNvPr id="62" name="Google Shape;62;p13"/>
          <p:cNvPicPr preferRelativeResize="0"/>
          <p:nvPr/>
        </p:nvPicPr>
        <p:blipFill>
          <a:blip r:embed="rId3">
            <a:alphaModFix/>
          </a:blip>
          <a:stretch>
            <a:fillRect/>
          </a:stretch>
        </p:blipFill>
        <p:spPr>
          <a:xfrm>
            <a:off x="4381500" y="0"/>
            <a:ext cx="47625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69" name="Google Shape;69;p14"/>
          <p:cNvPicPr preferRelativeResize="0"/>
          <p:nvPr/>
        </p:nvPicPr>
        <p:blipFill>
          <a:blip r:embed="rId3">
            <a:alphaModFix/>
          </a:blip>
          <a:stretch>
            <a:fillRect/>
          </a:stretch>
        </p:blipFill>
        <p:spPr>
          <a:xfrm>
            <a:off x="79375" y="681125"/>
            <a:ext cx="9064627" cy="61768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76" name="Google Shape;76;p15"/>
          <p:cNvPicPr preferRelativeResize="0"/>
          <p:nvPr/>
        </p:nvPicPr>
        <p:blipFill>
          <a:blip r:embed="rId3">
            <a:alphaModFix/>
          </a:blip>
          <a:stretch>
            <a:fillRect/>
          </a:stretch>
        </p:blipFill>
        <p:spPr>
          <a:xfrm>
            <a:off x="991525" y="0"/>
            <a:ext cx="728255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83" name="Google Shape;83;p16"/>
          <p:cNvPicPr preferRelativeResize="0"/>
          <p:nvPr/>
        </p:nvPicPr>
        <p:blipFill>
          <a:blip r:embed="rId3">
            <a:alphaModFix/>
          </a:blip>
          <a:stretch>
            <a:fillRect/>
          </a:stretch>
        </p:blipFill>
        <p:spPr>
          <a:xfrm>
            <a:off x="0" y="13"/>
            <a:ext cx="6684625" cy="6858000"/>
          </a:xfrm>
          <a:prstGeom prst="rect">
            <a:avLst/>
          </a:prstGeom>
          <a:noFill/>
          <a:ln>
            <a:noFill/>
          </a:ln>
        </p:spPr>
      </p:pic>
      <p:pic>
        <p:nvPicPr>
          <p:cNvPr id="84" name="Google Shape;84;p16"/>
          <p:cNvPicPr preferRelativeResize="0"/>
          <p:nvPr/>
        </p:nvPicPr>
        <p:blipFill>
          <a:blip r:embed="rId4">
            <a:alphaModFix/>
          </a:blip>
          <a:stretch>
            <a:fillRect/>
          </a:stretch>
        </p:blipFill>
        <p:spPr>
          <a:xfrm>
            <a:off x="3975825" y="4176875"/>
            <a:ext cx="5168175" cy="2771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457200" y="274650"/>
            <a:ext cx="39243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Spot the difference</a:t>
            </a:r>
            <a:endParaRPr/>
          </a:p>
        </p:txBody>
      </p:sp>
      <p:sp>
        <p:nvSpPr>
          <p:cNvPr id="90" name="Google Shape;90;p17"/>
          <p:cNvSpPr txBox="1"/>
          <p:nvPr>
            <p:ph idx="1" type="body"/>
          </p:nvPr>
        </p:nvSpPr>
        <p:spPr>
          <a:xfrm>
            <a:off x="457200" y="1306525"/>
            <a:ext cx="3770100" cy="526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How does our skull differ to the gorillas skull?</a:t>
            </a:r>
            <a:endParaRPr sz="2400"/>
          </a:p>
        </p:txBody>
      </p:sp>
      <p:graphicFrame>
        <p:nvGraphicFramePr>
          <p:cNvPr id="91" name="Google Shape;91;p17"/>
          <p:cNvGraphicFramePr/>
          <p:nvPr/>
        </p:nvGraphicFramePr>
        <p:xfrm>
          <a:off x="76200" y="2310700"/>
          <a:ext cx="3000000" cy="3000000"/>
        </p:xfrm>
        <a:graphic>
          <a:graphicData uri="http://schemas.openxmlformats.org/drawingml/2006/table">
            <a:tbl>
              <a:tblPr>
                <a:noFill/>
                <a:tableStyleId>{FF3A50B4-34D4-4E55-9CF9-67392E2CB496}</a:tableStyleId>
              </a:tblPr>
              <a:tblGrid>
                <a:gridCol w="3258350"/>
                <a:gridCol w="4433100"/>
              </a:tblGrid>
              <a:tr h="405850">
                <a:tc>
                  <a:txBody>
                    <a:bodyPr/>
                    <a:lstStyle/>
                    <a:p>
                      <a:pPr indent="0" lvl="0" marL="0" rtl="0" algn="l">
                        <a:spcBef>
                          <a:spcPts val="0"/>
                        </a:spcBef>
                        <a:spcAft>
                          <a:spcPts val="0"/>
                        </a:spcAft>
                        <a:buNone/>
                      </a:pPr>
                      <a:r>
                        <a:rPr b="1" lang="en-GB"/>
                        <a:t>Features of a homosapiens skull</a:t>
                      </a:r>
                      <a:endParaRPr b="1"/>
                    </a:p>
                  </a:txBody>
                  <a:tcPr marT="91425" marB="91425" marR="91425" marL="91425"/>
                </a:tc>
                <a:tc>
                  <a:txBody>
                    <a:bodyPr/>
                    <a:lstStyle/>
                    <a:p>
                      <a:pPr indent="0" lvl="0" marL="0" rtl="0" algn="l">
                        <a:spcBef>
                          <a:spcPts val="0"/>
                        </a:spcBef>
                        <a:spcAft>
                          <a:spcPts val="0"/>
                        </a:spcAft>
                        <a:buNone/>
                      </a:pPr>
                      <a:r>
                        <a:rPr b="1" lang="en-GB"/>
                        <a:t>Features of a gorilla skull</a:t>
                      </a:r>
                      <a:endParaRPr b="1"/>
                    </a:p>
                  </a:txBody>
                  <a:tcPr marT="91425" marB="91425" marR="91425" marL="91425"/>
                </a:tc>
              </a:tr>
              <a:tr h="622600">
                <a:tc>
                  <a:txBody>
                    <a:bodyPr/>
                    <a:lstStyle/>
                    <a:p>
                      <a:pPr indent="0" lvl="0" marL="0" rtl="0" algn="l">
                        <a:spcBef>
                          <a:spcPts val="0"/>
                        </a:spcBef>
                        <a:spcAft>
                          <a:spcPts val="0"/>
                        </a:spcAft>
                        <a:buNone/>
                      </a:pPr>
                      <a:r>
                        <a:rPr lang="en-GB"/>
                        <a:t>Lack of sagittal crest </a:t>
                      </a:r>
                      <a:endParaRPr/>
                    </a:p>
                  </a:txBody>
                  <a:tcPr marT="91425" marB="91425" marR="91425" marL="91425"/>
                </a:tc>
                <a:tc>
                  <a:txBody>
                    <a:bodyPr/>
                    <a:lstStyle/>
                    <a:p>
                      <a:pPr indent="0" lvl="0" marL="0" rtl="0" algn="l">
                        <a:spcBef>
                          <a:spcPts val="0"/>
                        </a:spcBef>
                        <a:spcAft>
                          <a:spcPts val="0"/>
                        </a:spcAft>
                        <a:buNone/>
                      </a:pPr>
                      <a:r>
                        <a:rPr lang="en-GB"/>
                        <a:t>Large sagittal crest </a:t>
                      </a:r>
                      <a:endParaRPr/>
                    </a:p>
                    <a:p>
                      <a:pPr indent="0" lvl="0" marL="0" rtl="0" algn="l">
                        <a:spcBef>
                          <a:spcPts val="0"/>
                        </a:spcBef>
                        <a:spcAft>
                          <a:spcPts val="0"/>
                        </a:spcAft>
                        <a:buNone/>
                      </a:pPr>
                      <a:r>
                        <a:rPr lang="en-GB"/>
                        <a:t>(for attachment of jaw muscles)</a:t>
                      </a:r>
                      <a:endParaRPr/>
                    </a:p>
                  </a:txBody>
                  <a:tcPr marT="91425" marB="91425" marR="91425" marL="91425"/>
                </a:tc>
              </a:tr>
              <a:tr h="622600">
                <a:tc>
                  <a:txBody>
                    <a:bodyPr/>
                    <a:lstStyle/>
                    <a:p>
                      <a:pPr indent="0" lvl="0" marL="0" rtl="0" algn="l">
                        <a:spcBef>
                          <a:spcPts val="0"/>
                        </a:spcBef>
                        <a:spcAft>
                          <a:spcPts val="0"/>
                        </a:spcAft>
                        <a:buNone/>
                      </a:pPr>
                      <a:r>
                        <a:rPr lang="en-GB"/>
                        <a:t>Lack of nuchal crest</a:t>
                      </a:r>
                      <a:endParaRPr/>
                    </a:p>
                  </a:txBody>
                  <a:tcPr marT="91425" marB="91425" marR="91425" marL="91425"/>
                </a:tc>
                <a:tc>
                  <a:txBody>
                    <a:bodyPr/>
                    <a:lstStyle/>
                    <a:p>
                      <a:pPr indent="0" lvl="0" marL="0" rtl="0" algn="l">
                        <a:spcBef>
                          <a:spcPts val="0"/>
                        </a:spcBef>
                        <a:spcAft>
                          <a:spcPts val="0"/>
                        </a:spcAft>
                        <a:buNone/>
                      </a:pPr>
                      <a:r>
                        <a:rPr lang="en-GB"/>
                        <a:t>Nuchal crest (for attachment of jaw muscles)</a:t>
                      </a:r>
                      <a:endParaRPr/>
                    </a:p>
                  </a:txBody>
                  <a:tcPr marT="91425" marB="91425" marR="91425" marL="91425"/>
                </a:tc>
              </a:tr>
              <a:tr h="622600">
                <a:tc>
                  <a:txBody>
                    <a:bodyPr/>
                    <a:lstStyle/>
                    <a:p>
                      <a:pPr indent="0" lvl="0" marL="0" rtl="0" algn="l">
                        <a:spcBef>
                          <a:spcPts val="0"/>
                        </a:spcBef>
                        <a:spcAft>
                          <a:spcPts val="0"/>
                        </a:spcAft>
                        <a:buNone/>
                      </a:pPr>
                      <a:r>
                        <a:rPr lang="en-GB"/>
                        <a:t>Reduced zygomatic arch </a:t>
                      </a:r>
                      <a:endParaRPr/>
                    </a:p>
                  </a:txBody>
                  <a:tcPr marT="91425" marB="91425" marR="91425" marL="91425"/>
                </a:tc>
                <a:tc>
                  <a:txBody>
                    <a:bodyPr/>
                    <a:lstStyle/>
                    <a:p>
                      <a:pPr indent="0" lvl="0" marL="0" rtl="0" algn="l">
                        <a:spcBef>
                          <a:spcPts val="0"/>
                        </a:spcBef>
                        <a:spcAft>
                          <a:spcPts val="0"/>
                        </a:spcAft>
                        <a:buNone/>
                      </a:pPr>
                      <a:r>
                        <a:rPr lang="en-GB"/>
                        <a:t>Large zygomatic arch (for strong chewing in predominantly herbivorous animals)</a:t>
                      </a:r>
                      <a:endParaRPr/>
                    </a:p>
                  </a:txBody>
                  <a:tcPr marT="91425" marB="91425" marR="91425" marL="91425"/>
                </a:tc>
              </a:tr>
              <a:tr h="622600">
                <a:tc>
                  <a:txBody>
                    <a:bodyPr/>
                    <a:lstStyle/>
                    <a:p>
                      <a:pPr indent="0" lvl="0" marL="0" rtl="0" algn="l">
                        <a:spcBef>
                          <a:spcPts val="0"/>
                        </a:spcBef>
                        <a:spcAft>
                          <a:spcPts val="0"/>
                        </a:spcAft>
                        <a:buNone/>
                      </a:pPr>
                      <a:r>
                        <a:rPr lang="en-GB"/>
                        <a:t>Limited brow ridge</a:t>
                      </a:r>
                      <a:endParaRPr/>
                    </a:p>
                  </a:txBody>
                  <a:tcPr marT="91425" marB="91425" marR="91425" marL="91425"/>
                </a:tc>
                <a:tc>
                  <a:txBody>
                    <a:bodyPr/>
                    <a:lstStyle/>
                    <a:p>
                      <a:pPr indent="0" lvl="0" marL="0" rtl="0" algn="l">
                        <a:spcBef>
                          <a:spcPts val="0"/>
                        </a:spcBef>
                        <a:spcAft>
                          <a:spcPts val="0"/>
                        </a:spcAft>
                        <a:buNone/>
                      </a:pPr>
                      <a:r>
                        <a:rPr lang="en-GB"/>
                        <a:t>Strong brow ridge (for support when forces of eating are applied)</a:t>
                      </a:r>
                      <a:endParaRPr/>
                    </a:p>
                  </a:txBody>
                  <a:tcPr marT="91425" marB="91425" marR="91425" marL="91425"/>
                </a:tc>
              </a:tr>
              <a:tr h="405850">
                <a:tc>
                  <a:txBody>
                    <a:bodyPr/>
                    <a:lstStyle/>
                    <a:p>
                      <a:pPr indent="0" lvl="0" marL="0" rtl="0" algn="l">
                        <a:spcBef>
                          <a:spcPts val="0"/>
                        </a:spcBef>
                        <a:spcAft>
                          <a:spcPts val="0"/>
                        </a:spcAft>
                        <a:buNone/>
                      </a:pPr>
                      <a:r>
                        <a:rPr lang="en-GB"/>
                        <a:t>Reduced canines</a:t>
                      </a:r>
                      <a:endParaRPr/>
                    </a:p>
                  </a:txBody>
                  <a:tcPr marT="91425" marB="91425" marR="91425" marL="91425"/>
                </a:tc>
                <a:tc>
                  <a:txBody>
                    <a:bodyPr/>
                    <a:lstStyle/>
                    <a:p>
                      <a:pPr indent="0" lvl="0" marL="0" rtl="0" algn="l">
                        <a:spcBef>
                          <a:spcPts val="0"/>
                        </a:spcBef>
                        <a:spcAft>
                          <a:spcPts val="0"/>
                        </a:spcAft>
                        <a:buNone/>
                      </a:pPr>
                      <a:r>
                        <a:rPr lang="en-GB"/>
                        <a:t>Canines (often used for display)</a:t>
                      </a:r>
                      <a:endParaRPr/>
                    </a:p>
                  </a:txBody>
                  <a:tcPr marT="91425" marB="91425" marR="91425" marL="91425"/>
                </a:tc>
              </a:tr>
              <a:tr h="622600">
                <a:tc>
                  <a:txBody>
                    <a:bodyPr/>
                    <a:lstStyle/>
                    <a:p>
                      <a:pPr indent="0" lvl="0" marL="0" rtl="0" algn="l">
                        <a:spcBef>
                          <a:spcPts val="0"/>
                        </a:spcBef>
                        <a:spcAft>
                          <a:spcPts val="0"/>
                        </a:spcAft>
                        <a:buNone/>
                      </a:pPr>
                      <a:r>
                        <a:rPr lang="en-GB"/>
                        <a:t>Foramen magnum is in the centre of the skull base</a:t>
                      </a:r>
                      <a:endParaRPr/>
                    </a:p>
                  </a:txBody>
                  <a:tcPr marT="91425" marB="91425" marR="91425" marL="91425"/>
                </a:tc>
                <a:tc>
                  <a:txBody>
                    <a:bodyPr/>
                    <a:lstStyle/>
                    <a:p>
                      <a:pPr indent="0" lvl="0" marL="0" rtl="0" algn="l">
                        <a:spcBef>
                          <a:spcPts val="0"/>
                        </a:spcBef>
                        <a:spcAft>
                          <a:spcPts val="0"/>
                        </a:spcAft>
                        <a:buNone/>
                      </a:pPr>
                      <a:r>
                        <a:rPr lang="en-GB"/>
                        <a:t>Foramen magnum is near the rear</a:t>
                      </a:r>
                      <a:endParaRPr/>
                    </a:p>
                  </a:txBody>
                  <a:tcPr marT="91425" marB="91425" marR="91425" marL="91425"/>
                </a:tc>
              </a:tr>
              <a:tr h="622600">
                <a:tc>
                  <a:txBody>
                    <a:bodyPr/>
                    <a:lstStyle/>
                    <a:p>
                      <a:pPr indent="0" lvl="0" marL="0" rtl="0" algn="l">
                        <a:spcBef>
                          <a:spcPts val="0"/>
                        </a:spcBef>
                        <a:spcAft>
                          <a:spcPts val="0"/>
                        </a:spcAft>
                        <a:buNone/>
                      </a:pPr>
                      <a:r>
                        <a:rPr lang="en-GB"/>
                        <a:t>Small mandible</a:t>
                      </a:r>
                      <a:endParaRPr/>
                    </a:p>
                  </a:txBody>
                  <a:tcPr marT="91425" marB="91425" marR="91425" marL="91425"/>
                </a:tc>
                <a:tc>
                  <a:txBody>
                    <a:bodyPr/>
                    <a:lstStyle/>
                    <a:p>
                      <a:pPr indent="0" lvl="0" marL="0" rtl="0" algn="l">
                        <a:spcBef>
                          <a:spcPts val="0"/>
                        </a:spcBef>
                        <a:spcAft>
                          <a:spcPts val="0"/>
                        </a:spcAft>
                        <a:buNone/>
                      </a:pPr>
                      <a:r>
                        <a:rPr lang="en-GB"/>
                        <a:t>Large mandible (for chewing tough plant material)</a:t>
                      </a:r>
                      <a:endParaRPr/>
                    </a:p>
                  </a:txBody>
                  <a:tcPr marT="91425" marB="91425" marR="91425" marL="91425"/>
                </a:tc>
              </a:tr>
            </a:tbl>
          </a:graphicData>
        </a:graphic>
      </p:graphicFrame>
      <p:grpSp>
        <p:nvGrpSpPr>
          <p:cNvPr id="92" name="Google Shape;92;p17"/>
          <p:cNvGrpSpPr/>
          <p:nvPr/>
        </p:nvGrpSpPr>
        <p:grpSpPr>
          <a:xfrm>
            <a:off x="5373700" y="0"/>
            <a:ext cx="3770176" cy="3262351"/>
            <a:chOff x="2111400" y="0"/>
            <a:chExt cx="7032599" cy="6858000"/>
          </a:xfrm>
        </p:grpSpPr>
        <p:pic>
          <p:nvPicPr>
            <p:cNvPr id="93" name="Google Shape;93;p17"/>
            <p:cNvPicPr preferRelativeResize="0"/>
            <p:nvPr/>
          </p:nvPicPr>
          <p:blipFill>
            <a:blip r:embed="rId3">
              <a:alphaModFix/>
            </a:blip>
            <a:stretch>
              <a:fillRect/>
            </a:stretch>
          </p:blipFill>
          <p:spPr>
            <a:xfrm>
              <a:off x="3918500" y="0"/>
              <a:ext cx="5225499" cy="6858000"/>
            </a:xfrm>
            <a:prstGeom prst="rect">
              <a:avLst/>
            </a:prstGeom>
            <a:noFill/>
            <a:ln>
              <a:noFill/>
            </a:ln>
          </p:spPr>
        </p:pic>
        <p:sp>
          <p:nvSpPr>
            <p:cNvPr id="94" name="Google Shape;94;p17"/>
            <p:cNvSpPr txBox="1"/>
            <p:nvPr/>
          </p:nvSpPr>
          <p:spPr>
            <a:xfrm>
              <a:off x="3135425" y="2677225"/>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Sagittal crest</a:t>
              </a:r>
              <a:endParaRPr sz="1000"/>
            </a:p>
          </p:txBody>
        </p:sp>
        <p:cxnSp>
          <p:nvCxnSpPr>
            <p:cNvPr id="95" name="Google Shape;95;p17"/>
            <p:cNvCxnSpPr/>
            <p:nvPr/>
          </p:nvCxnSpPr>
          <p:spPr>
            <a:xfrm flipH="1" rot="10800000">
              <a:off x="5238750" y="4826000"/>
              <a:ext cx="1127100" cy="571500"/>
            </a:xfrm>
            <a:prstGeom prst="straightConnector1">
              <a:avLst/>
            </a:prstGeom>
            <a:noFill/>
            <a:ln cap="flat" cmpd="sng" w="19050">
              <a:solidFill>
                <a:srgbClr val="000000"/>
              </a:solidFill>
              <a:prstDash val="solid"/>
              <a:round/>
              <a:headEnd len="med" w="med" type="none"/>
              <a:tailEnd len="med" w="med" type="triangle"/>
            </a:ln>
          </p:spPr>
        </p:cxnSp>
        <p:sp>
          <p:nvSpPr>
            <p:cNvPr id="96" name="Google Shape;96;p17"/>
            <p:cNvSpPr txBox="1"/>
            <p:nvPr/>
          </p:nvSpPr>
          <p:spPr>
            <a:xfrm>
              <a:off x="2733600" y="3363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Nuchal crest</a:t>
              </a:r>
              <a:endParaRPr sz="1000"/>
            </a:p>
          </p:txBody>
        </p:sp>
        <p:cxnSp>
          <p:nvCxnSpPr>
            <p:cNvPr id="97" name="Google Shape;97;p17"/>
            <p:cNvCxnSpPr/>
            <p:nvPr/>
          </p:nvCxnSpPr>
          <p:spPr>
            <a:xfrm>
              <a:off x="4302150" y="3050263"/>
              <a:ext cx="539700" cy="285900"/>
            </a:xfrm>
            <a:prstGeom prst="straightConnector1">
              <a:avLst/>
            </a:prstGeom>
            <a:noFill/>
            <a:ln cap="flat" cmpd="sng" w="19050">
              <a:solidFill>
                <a:srgbClr val="000000"/>
              </a:solidFill>
              <a:prstDash val="solid"/>
              <a:round/>
              <a:headEnd len="med" w="med" type="none"/>
              <a:tailEnd len="med" w="med" type="triangle"/>
            </a:ln>
          </p:spPr>
        </p:cxnSp>
        <p:cxnSp>
          <p:nvCxnSpPr>
            <p:cNvPr id="98" name="Google Shape;98;p17"/>
            <p:cNvCxnSpPr/>
            <p:nvPr/>
          </p:nvCxnSpPr>
          <p:spPr>
            <a:xfrm rot="10800000">
              <a:off x="7353225" y="3683075"/>
              <a:ext cx="314400" cy="142800"/>
            </a:xfrm>
            <a:prstGeom prst="straightConnector1">
              <a:avLst/>
            </a:prstGeom>
            <a:noFill/>
            <a:ln cap="flat" cmpd="sng" w="19050">
              <a:solidFill>
                <a:srgbClr val="000000"/>
              </a:solidFill>
              <a:prstDash val="solid"/>
              <a:round/>
              <a:headEnd len="med" w="med" type="none"/>
              <a:tailEnd len="med" w="med" type="triangle"/>
            </a:ln>
          </p:spPr>
        </p:cxnSp>
        <p:sp>
          <p:nvSpPr>
            <p:cNvPr id="99" name="Google Shape;99;p17"/>
            <p:cNvSpPr txBox="1"/>
            <p:nvPr/>
          </p:nvSpPr>
          <p:spPr>
            <a:xfrm>
              <a:off x="7510475" y="3825875"/>
              <a:ext cx="14445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Brow ridge</a:t>
              </a:r>
              <a:endParaRPr sz="1000"/>
            </a:p>
          </p:txBody>
        </p:sp>
        <p:sp>
          <p:nvSpPr>
            <p:cNvPr id="100" name="Google Shape;100;p17"/>
            <p:cNvSpPr txBox="1"/>
            <p:nvPr/>
          </p:nvSpPr>
          <p:spPr>
            <a:xfrm>
              <a:off x="7115175" y="6305550"/>
              <a:ext cx="12987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Canines</a:t>
              </a:r>
              <a:endParaRPr sz="1000"/>
            </a:p>
          </p:txBody>
        </p:sp>
        <p:cxnSp>
          <p:nvCxnSpPr>
            <p:cNvPr id="101" name="Google Shape;101;p17"/>
            <p:cNvCxnSpPr/>
            <p:nvPr/>
          </p:nvCxnSpPr>
          <p:spPr>
            <a:xfrm flipH="1" rot="10800000">
              <a:off x="8050175" y="5826075"/>
              <a:ext cx="365100" cy="603300"/>
            </a:xfrm>
            <a:prstGeom prst="straightConnector1">
              <a:avLst/>
            </a:prstGeom>
            <a:noFill/>
            <a:ln cap="flat" cmpd="sng" w="19050">
              <a:solidFill>
                <a:srgbClr val="000000"/>
              </a:solidFill>
              <a:prstDash val="solid"/>
              <a:round/>
              <a:headEnd len="med" w="med" type="none"/>
              <a:tailEnd len="med" w="med" type="triangle"/>
            </a:ln>
          </p:spPr>
        </p:cxnSp>
        <p:sp>
          <p:nvSpPr>
            <p:cNvPr id="102" name="Google Shape;102;p17"/>
            <p:cNvSpPr txBox="1"/>
            <p:nvPr/>
          </p:nvSpPr>
          <p:spPr>
            <a:xfrm>
              <a:off x="2111400" y="4381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Foramen magnum near the rear</a:t>
              </a:r>
              <a:endParaRPr sz="1000"/>
            </a:p>
          </p:txBody>
        </p:sp>
        <p:cxnSp>
          <p:nvCxnSpPr>
            <p:cNvPr id="103" name="Google Shape;103;p17"/>
            <p:cNvCxnSpPr/>
            <p:nvPr/>
          </p:nvCxnSpPr>
          <p:spPr>
            <a:xfrm>
              <a:off x="3603725" y="4968775"/>
              <a:ext cx="1333500" cy="143100"/>
            </a:xfrm>
            <a:prstGeom prst="straightConnector1">
              <a:avLst/>
            </a:prstGeom>
            <a:noFill/>
            <a:ln cap="flat" cmpd="sng" w="19050">
              <a:solidFill>
                <a:srgbClr val="000000"/>
              </a:solidFill>
              <a:prstDash val="solid"/>
              <a:round/>
              <a:headEnd len="med" w="med" type="none"/>
              <a:tailEnd len="med" w="med" type="triangle"/>
            </a:ln>
          </p:spPr>
        </p:cxnSp>
        <p:sp>
          <p:nvSpPr>
            <p:cNvPr id="104" name="Google Shape;104;p17"/>
            <p:cNvSpPr txBox="1"/>
            <p:nvPr/>
          </p:nvSpPr>
          <p:spPr>
            <a:xfrm>
              <a:off x="4256838" y="53975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zygomatic arch</a:t>
              </a:r>
              <a:endParaRPr sz="1000"/>
            </a:p>
          </p:txBody>
        </p:sp>
        <p:cxnSp>
          <p:nvCxnSpPr>
            <p:cNvPr id="105" name="Google Shape;105;p17"/>
            <p:cNvCxnSpPr/>
            <p:nvPr/>
          </p:nvCxnSpPr>
          <p:spPr>
            <a:xfrm>
              <a:off x="3587850" y="3778300"/>
              <a:ext cx="507900" cy="158700"/>
            </a:xfrm>
            <a:prstGeom prst="straightConnector1">
              <a:avLst/>
            </a:prstGeom>
            <a:noFill/>
            <a:ln cap="flat" cmpd="sng" w="19050">
              <a:solidFill>
                <a:srgbClr val="000000"/>
              </a:solidFill>
              <a:prstDash val="solid"/>
              <a:round/>
              <a:headEnd len="med" w="med" type="none"/>
              <a:tailEnd len="med" w="med" type="triangle"/>
            </a:ln>
          </p:spPr>
        </p:cxnSp>
        <p:cxnSp>
          <p:nvCxnSpPr>
            <p:cNvPr id="106" name="Google Shape;106;p17"/>
            <p:cNvCxnSpPr>
              <a:stCxn id="107" idx="1"/>
            </p:cNvCxnSpPr>
            <p:nvPr/>
          </p:nvCxnSpPr>
          <p:spPr>
            <a:xfrm rot="10800000">
              <a:off x="5794275" y="2714525"/>
              <a:ext cx="349500" cy="470100"/>
            </a:xfrm>
            <a:prstGeom prst="straightConnector1">
              <a:avLst/>
            </a:prstGeom>
            <a:noFill/>
            <a:ln cap="flat" cmpd="sng" w="19050">
              <a:solidFill>
                <a:srgbClr val="000000"/>
              </a:solidFill>
              <a:prstDash val="solid"/>
              <a:round/>
              <a:headEnd len="med" w="med" type="none"/>
              <a:tailEnd len="med" w="med" type="triangle"/>
            </a:ln>
          </p:spPr>
        </p:cxnSp>
        <p:sp>
          <p:nvSpPr>
            <p:cNvPr id="107" name="Google Shape;107;p17"/>
            <p:cNvSpPr txBox="1"/>
            <p:nvPr/>
          </p:nvSpPr>
          <p:spPr>
            <a:xfrm>
              <a:off x="6143775" y="2898875"/>
              <a:ext cx="2738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Foramen magnum in the centre of the skull</a:t>
              </a:r>
              <a:endParaRPr sz="1000"/>
            </a:p>
          </p:txBody>
        </p:sp>
      </p:grpSp>
      <p:grpSp>
        <p:nvGrpSpPr>
          <p:cNvPr id="108" name="Google Shape;108;p17"/>
          <p:cNvGrpSpPr/>
          <p:nvPr/>
        </p:nvGrpSpPr>
        <p:grpSpPr>
          <a:xfrm>
            <a:off x="2111275" y="84150"/>
            <a:ext cx="7032599" cy="6858000"/>
            <a:chOff x="2111275" y="84150"/>
            <a:chExt cx="7032599" cy="6858000"/>
          </a:xfrm>
        </p:grpSpPr>
        <p:grpSp>
          <p:nvGrpSpPr>
            <p:cNvPr id="109" name="Google Shape;109;p17"/>
            <p:cNvGrpSpPr/>
            <p:nvPr/>
          </p:nvGrpSpPr>
          <p:grpSpPr>
            <a:xfrm>
              <a:off x="2111275" y="84150"/>
              <a:ext cx="7032599" cy="6858000"/>
              <a:chOff x="2111400" y="0"/>
              <a:chExt cx="7032599" cy="6858000"/>
            </a:xfrm>
          </p:grpSpPr>
          <p:pic>
            <p:nvPicPr>
              <p:cNvPr id="110" name="Google Shape;110;p17"/>
              <p:cNvPicPr preferRelativeResize="0"/>
              <p:nvPr/>
            </p:nvPicPr>
            <p:blipFill>
              <a:blip r:embed="rId3">
                <a:alphaModFix/>
              </a:blip>
              <a:stretch>
                <a:fillRect/>
              </a:stretch>
            </p:blipFill>
            <p:spPr>
              <a:xfrm>
                <a:off x="3918500" y="0"/>
                <a:ext cx="5225499" cy="6858000"/>
              </a:xfrm>
              <a:prstGeom prst="rect">
                <a:avLst/>
              </a:prstGeom>
              <a:noFill/>
              <a:ln>
                <a:noFill/>
              </a:ln>
            </p:spPr>
          </p:pic>
          <p:sp>
            <p:nvSpPr>
              <p:cNvPr id="111" name="Google Shape;111;p17"/>
              <p:cNvSpPr txBox="1"/>
              <p:nvPr/>
            </p:nvSpPr>
            <p:spPr>
              <a:xfrm>
                <a:off x="3135425" y="2677225"/>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Sagittal crest</a:t>
                </a:r>
                <a:endParaRPr sz="1800"/>
              </a:p>
            </p:txBody>
          </p:sp>
          <p:cxnSp>
            <p:nvCxnSpPr>
              <p:cNvPr id="112" name="Google Shape;112;p17"/>
              <p:cNvCxnSpPr/>
              <p:nvPr/>
            </p:nvCxnSpPr>
            <p:spPr>
              <a:xfrm flipH="1" rot="10800000">
                <a:off x="5238750" y="4826000"/>
                <a:ext cx="1127100" cy="571500"/>
              </a:xfrm>
              <a:prstGeom prst="straightConnector1">
                <a:avLst/>
              </a:prstGeom>
              <a:noFill/>
              <a:ln cap="flat" cmpd="sng" w="19050">
                <a:solidFill>
                  <a:srgbClr val="000000"/>
                </a:solidFill>
                <a:prstDash val="solid"/>
                <a:round/>
                <a:headEnd len="med" w="med" type="none"/>
                <a:tailEnd len="med" w="med" type="triangle"/>
              </a:ln>
            </p:spPr>
          </p:cxnSp>
          <p:sp>
            <p:nvSpPr>
              <p:cNvPr id="113" name="Google Shape;113;p17"/>
              <p:cNvSpPr txBox="1"/>
              <p:nvPr/>
            </p:nvSpPr>
            <p:spPr>
              <a:xfrm>
                <a:off x="2733600" y="3363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Nuchal crest</a:t>
                </a:r>
                <a:endParaRPr sz="1800"/>
              </a:p>
            </p:txBody>
          </p:sp>
          <p:cxnSp>
            <p:nvCxnSpPr>
              <p:cNvPr id="114" name="Google Shape;114;p17"/>
              <p:cNvCxnSpPr/>
              <p:nvPr/>
            </p:nvCxnSpPr>
            <p:spPr>
              <a:xfrm>
                <a:off x="4302150" y="3050263"/>
                <a:ext cx="539700" cy="285900"/>
              </a:xfrm>
              <a:prstGeom prst="straightConnector1">
                <a:avLst/>
              </a:prstGeom>
              <a:noFill/>
              <a:ln cap="flat" cmpd="sng" w="19050">
                <a:solidFill>
                  <a:srgbClr val="000000"/>
                </a:solidFill>
                <a:prstDash val="solid"/>
                <a:round/>
                <a:headEnd len="med" w="med" type="none"/>
                <a:tailEnd len="med" w="med" type="triangle"/>
              </a:ln>
            </p:spPr>
          </p:cxnSp>
          <p:cxnSp>
            <p:nvCxnSpPr>
              <p:cNvPr id="115" name="Google Shape;115;p17"/>
              <p:cNvCxnSpPr/>
              <p:nvPr/>
            </p:nvCxnSpPr>
            <p:spPr>
              <a:xfrm rot="10800000">
                <a:off x="7353225" y="3683075"/>
                <a:ext cx="314400" cy="142800"/>
              </a:xfrm>
              <a:prstGeom prst="straightConnector1">
                <a:avLst/>
              </a:prstGeom>
              <a:noFill/>
              <a:ln cap="flat" cmpd="sng" w="19050">
                <a:solidFill>
                  <a:srgbClr val="000000"/>
                </a:solidFill>
                <a:prstDash val="solid"/>
                <a:round/>
                <a:headEnd len="med" w="med" type="none"/>
                <a:tailEnd len="med" w="med" type="triangle"/>
              </a:ln>
            </p:spPr>
          </p:cxnSp>
          <p:sp>
            <p:nvSpPr>
              <p:cNvPr id="116" name="Google Shape;116;p17"/>
              <p:cNvSpPr txBox="1"/>
              <p:nvPr/>
            </p:nvSpPr>
            <p:spPr>
              <a:xfrm>
                <a:off x="7510475" y="3825875"/>
                <a:ext cx="14445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Brow ridge</a:t>
                </a:r>
                <a:endParaRPr sz="1800"/>
              </a:p>
            </p:txBody>
          </p:sp>
          <p:sp>
            <p:nvSpPr>
              <p:cNvPr id="117" name="Google Shape;117;p17"/>
              <p:cNvSpPr txBox="1"/>
              <p:nvPr/>
            </p:nvSpPr>
            <p:spPr>
              <a:xfrm>
                <a:off x="7115175" y="6305550"/>
                <a:ext cx="12987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Canines</a:t>
                </a:r>
                <a:endParaRPr sz="1800"/>
              </a:p>
            </p:txBody>
          </p:sp>
          <p:cxnSp>
            <p:nvCxnSpPr>
              <p:cNvPr id="118" name="Google Shape;118;p17"/>
              <p:cNvCxnSpPr/>
              <p:nvPr/>
            </p:nvCxnSpPr>
            <p:spPr>
              <a:xfrm flipH="1" rot="10800000">
                <a:off x="8050175" y="5826075"/>
                <a:ext cx="365100" cy="603300"/>
              </a:xfrm>
              <a:prstGeom prst="straightConnector1">
                <a:avLst/>
              </a:prstGeom>
              <a:noFill/>
              <a:ln cap="flat" cmpd="sng" w="19050">
                <a:solidFill>
                  <a:srgbClr val="000000"/>
                </a:solidFill>
                <a:prstDash val="solid"/>
                <a:round/>
                <a:headEnd len="med" w="med" type="none"/>
                <a:tailEnd len="med" w="med" type="triangle"/>
              </a:ln>
            </p:spPr>
          </p:cxnSp>
          <p:sp>
            <p:nvSpPr>
              <p:cNvPr id="119" name="Google Shape;119;p17"/>
              <p:cNvSpPr txBox="1"/>
              <p:nvPr/>
            </p:nvSpPr>
            <p:spPr>
              <a:xfrm>
                <a:off x="2111400" y="4381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Foramen magnum near the rear</a:t>
                </a:r>
                <a:endParaRPr sz="1800"/>
              </a:p>
            </p:txBody>
          </p:sp>
          <p:cxnSp>
            <p:nvCxnSpPr>
              <p:cNvPr id="120" name="Google Shape;120;p17"/>
              <p:cNvCxnSpPr/>
              <p:nvPr/>
            </p:nvCxnSpPr>
            <p:spPr>
              <a:xfrm>
                <a:off x="3603725" y="4968775"/>
                <a:ext cx="1333500" cy="143100"/>
              </a:xfrm>
              <a:prstGeom prst="straightConnector1">
                <a:avLst/>
              </a:prstGeom>
              <a:noFill/>
              <a:ln cap="flat" cmpd="sng" w="19050">
                <a:solidFill>
                  <a:srgbClr val="000000"/>
                </a:solidFill>
                <a:prstDash val="solid"/>
                <a:round/>
                <a:headEnd len="med" w="med" type="none"/>
                <a:tailEnd len="med" w="med" type="triangle"/>
              </a:ln>
            </p:spPr>
          </p:cxnSp>
          <p:sp>
            <p:nvSpPr>
              <p:cNvPr id="121" name="Google Shape;121;p17"/>
              <p:cNvSpPr txBox="1"/>
              <p:nvPr/>
            </p:nvSpPr>
            <p:spPr>
              <a:xfrm>
                <a:off x="6143775" y="2898875"/>
                <a:ext cx="2738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Foramen magnum in the centre of the skull</a:t>
                </a:r>
                <a:endParaRPr sz="1800"/>
              </a:p>
            </p:txBody>
          </p:sp>
          <p:cxnSp>
            <p:nvCxnSpPr>
              <p:cNvPr id="122" name="Google Shape;122;p17"/>
              <p:cNvCxnSpPr>
                <a:stCxn id="121" idx="1"/>
              </p:cNvCxnSpPr>
              <p:nvPr/>
            </p:nvCxnSpPr>
            <p:spPr>
              <a:xfrm rot="10800000">
                <a:off x="5794275" y="2714525"/>
                <a:ext cx="349500" cy="470100"/>
              </a:xfrm>
              <a:prstGeom prst="straightConnector1">
                <a:avLst/>
              </a:prstGeom>
              <a:noFill/>
              <a:ln cap="flat" cmpd="sng" w="19050">
                <a:solidFill>
                  <a:srgbClr val="000000"/>
                </a:solidFill>
                <a:prstDash val="solid"/>
                <a:round/>
                <a:headEnd len="med" w="med" type="none"/>
                <a:tailEnd len="med" w="med" type="triangle"/>
              </a:ln>
            </p:spPr>
          </p:cxnSp>
          <p:sp>
            <p:nvSpPr>
              <p:cNvPr id="123" name="Google Shape;123;p17"/>
              <p:cNvSpPr txBox="1"/>
              <p:nvPr/>
            </p:nvSpPr>
            <p:spPr>
              <a:xfrm>
                <a:off x="4256838" y="53975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zygomatic arch</a:t>
                </a:r>
                <a:endParaRPr sz="1800"/>
              </a:p>
            </p:txBody>
          </p:sp>
          <p:cxnSp>
            <p:nvCxnSpPr>
              <p:cNvPr id="124" name="Google Shape;124;p17"/>
              <p:cNvCxnSpPr/>
              <p:nvPr/>
            </p:nvCxnSpPr>
            <p:spPr>
              <a:xfrm>
                <a:off x="3587850" y="3778300"/>
                <a:ext cx="507900" cy="158700"/>
              </a:xfrm>
              <a:prstGeom prst="straightConnector1">
                <a:avLst/>
              </a:prstGeom>
              <a:noFill/>
              <a:ln cap="flat" cmpd="sng" w="19050">
                <a:solidFill>
                  <a:srgbClr val="000000"/>
                </a:solidFill>
                <a:prstDash val="solid"/>
                <a:round/>
                <a:headEnd len="med" w="med" type="none"/>
                <a:tailEnd len="med" w="med" type="triangle"/>
              </a:ln>
            </p:spPr>
          </p:cxnSp>
        </p:grpSp>
        <p:sp>
          <p:nvSpPr>
            <p:cNvPr id="125" name="Google Shape;125;p17"/>
            <p:cNvSpPr txBox="1"/>
            <p:nvPr/>
          </p:nvSpPr>
          <p:spPr>
            <a:xfrm>
              <a:off x="4381488" y="6270525"/>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Mandible (jaw)</a:t>
              </a:r>
              <a:endParaRPr sz="1800"/>
            </a:p>
          </p:txBody>
        </p:sp>
        <p:cxnSp>
          <p:nvCxnSpPr>
            <p:cNvPr id="126" name="Google Shape;126;p17"/>
            <p:cNvCxnSpPr>
              <a:stCxn id="125" idx="0"/>
            </p:cNvCxnSpPr>
            <p:nvPr/>
          </p:nvCxnSpPr>
          <p:spPr>
            <a:xfrm flipH="1" rot="10800000">
              <a:off x="5516537" y="6191325"/>
              <a:ext cx="976200" cy="79200"/>
            </a:xfrm>
            <a:prstGeom prst="straightConnector1">
              <a:avLst/>
            </a:prstGeom>
            <a:noFill/>
            <a:ln cap="flat" cmpd="sng" w="19050">
              <a:solidFill>
                <a:srgbClr val="0000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08"/>
                                        </p:tgtEl>
                                      </p:cBhvr>
                                    </p:animEffect>
                                    <p:set>
                                      <p:cBhvr>
                                        <p:cTn dur="1" fill="hold">
                                          <p:stCondLst>
                                            <p:cond delay="1000"/>
                                          </p:stCondLst>
                                        </p:cTn>
                                        <p:tgtEl>
                                          <p:spTgt spid="1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skulls</a:t>
            </a:r>
            <a:endParaRPr/>
          </a:p>
        </p:txBody>
      </p:sp>
      <p:sp>
        <p:nvSpPr>
          <p:cNvPr id="132" name="Google Shape;132;p18"/>
          <p:cNvSpPr txBox="1"/>
          <p:nvPr>
            <p:ph idx="1" type="body"/>
          </p:nvPr>
        </p:nvSpPr>
        <p:spPr>
          <a:xfrm>
            <a:off x="457200" y="4681575"/>
            <a:ext cx="8229600" cy="188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800"/>
          </a:p>
          <a:p>
            <a:pPr indent="0" lvl="0" marL="0" rtl="0" algn="l">
              <a:spcBef>
                <a:spcPts val="600"/>
              </a:spcBef>
              <a:spcAft>
                <a:spcPts val="0"/>
              </a:spcAft>
              <a:buClr>
                <a:srgbClr val="000000"/>
              </a:buClr>
              <a:buSzPts val="1100"/>
              <a:buFont typeface="Arial"/>
              <a:buNone/>
            </a:pPr>
            <a:r>
              <a:rPr i="1" lang="en-GB" sz="1800"/>
              <a:t>Interesting fact: The physical features listed above are, however, also found in baby chimpanzees and other immature apes, which suggests that human evolution has involved the retention of juvenile features within adults. This evolutionary process is called neoteny.</a:t>
            </a:r>
            <a:endParaRPr i="1" sz="1800"/>
          </a:p>
          <a:p>
            <a:pPr indent="0" lvl="0" marL="0" rtl="0" algn="l">
              <a:spcBef>
                <a:spcPts val="600"/>
              </a:spcBef>
              <a:spcAft>
                <a:spcPts val="0"/>
              </a:spcAft>
              <a:buNone/>
            </a:pPr>
            <a:r>
              <a:t/>
            </a:r>
            <a:endParaRPr i="1" sz="1800"/>
          </a:p>
        </p:txBody>
      </p:sp>
      <p:grpSp>
        <p:nvGrpSpPr>
          <p:cNvPr id="133" name="Google Shape;133;p18"/>
          <p:cNvGrpSpPr/>
          <p:nvPr/>
        </p:nvGrpSpPr>
        <p:grpSpPr>
          <a:xfrm>
            <a:off x="5373700" y="0"/>
            <a:ext cx="3770176" cy="3262351"/>
            <a:chOff x="2111400" y="0"/>
            <a:chExt cx="7032599" cy="6858000"/>
          </a:xfrm>
        </p:grpSpPr>
        <p:pic>
          <p:nvPicPr>
            <p:cNvPr id="134" name="Google Shape;134;p18"/>
            <p:cNvPicPr preferRelativeResize="0"/>
            <p:nvPr/>
          </p:nvPicPr>
          <p:blipFill>
            <a:blip r:embed="rId3">
              <a:alphaModFix/>
            </a:blip>
            <a:stretch>
              <a:fillRect/>
            </a:stretch>
          </p:blipFill>
          <p:spPr>
            <a:xfrm>
              <a:off x="3918500" y="0"/>
              <a:ext cx="5225499" cy="6858000"/>
            </a:xfrm>
            <a:prstGeom prst="rect">
              <a:avLst/>
            </a:prstGeom>
            <a:noFill/>
            <a:ln>
              <a:noFill/>
            </a:ln>
          </p:spPr>
        </p:pic>
        <p:sp>
          <p:nvSpPr>
            <p:cNvPr id="135" name="Google Shape;135;p18"/>
            <p:cNvSpPr txBox="1"/>
            <p:nvPr/>
          </p:nvSpPr>
          <p:spPr>
            <a:xfrm>
              <a:off x="3135425" y="2677225"/>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Sagittal crest</a:t>
              </a:r>
              <a:endParaRPr sz="1000"/>
            </a:p>
          </p:txBody>
        </p:sp>
        <p:cxnSp>
          <p:nvCxnSpPr>
            <p:cNvPr id="136" name="Google Shape;136;p18"/>
            <p:cNvCxnSpPr/>
            <p:nvPr/>
          </p:nvCxnSpPr>
          <p:spPr>
            <a:xfrm flipH="1" rot="10800000">
              <a:off x="5238750" y="4826000"/>
              <a:ext cx="1127100" cy="571500"/>
            </a:xfrm>
            <a:prstGeom prst="straightConnector1">
              <a:avLst/>
            </a:prstGeom>
            <a:noFill/>
            <a:ln cap="flat" cmpd="sng" w="19050">
              <a:solidFill>
                <a:srgbClr val="000000"/>
              </a:solidFill>
              <a:prstDash val="solid"/>
              <a:round/>
              <a:headEnd len="med" w="med" type="none"/>
              <a:tailEnd len="med" w="med" type="triangle"/>
            </a:ln>
          </p:spPr>
        </p:cxnSp>
        <p:sp>
          <p:nvSpPr>
            <p:cNvPr id="137" name="Google Shape;137;p18"/>
            <p:cNvSpPr txBox="1"/>
            <p:nvPr/>
          </p:nvSpPr>
          <p:spPr>
            <a:xfrm>
              <a:off x="2733600" y="3363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Nuchal crest</a:t>
              </a:r>
              <a:endParaRPr sz="1000"/>
            </a:p>
          </p:txBody>
        </p:sp>
        <p:cxnSp>
          <p:nvCxnSpPr>
            <p:cNvPr id="138" name="Google Shape;138;p18"/>
            <p:cNvCxnSpPr/>
            <p:nvPr/>
          </p:nvCxnSpPr>
          <p:spPr>
            <a:xfrm>
              <a:off x="4302150" y="3050263"/>
              <a:ext cx="539700" cy="285900"/>
            </a:xfrm>
            <a:prstGeom prst="straightConnector1">
              <a:avLst/>
            </a:prstGeom>
            <a:noFill/>
            <a:ln cap="flat" cmpd="sng" w="19050">
              <a:solidFill>
                <a:srgbClr val="000000"/>
              </a:solidFill>
              <a:prstDash val="solid"/>
              <a:round/>
              <a:headEnd len="med" w="med" type="none"/>
              <a:tailEnd len="med" w="med" type="triangle"/>
            </a:ln>
          </p:spPr>
        </p:cxnSp>
        <p:cxnSp>
          <p:nvCxnSpPr>
            <p:cNvPr id="139" name="Google Shape;139;p18"/>
            <p:cNvCxnSpPr/>
            <p:nvPr/>
          </p:nvCxnSpPr>
          <p:spPr>
            <a:xfrm rot="10800000">
              <a:off x="7353225" y="3683075"/>
              <a:ext cx="314400" cy="142800"/>
            </a:xfrm>
            <a:prstGeom prst="straightConnector1">
              <a:avLst/>
            </a:prstGeom>
            <a:noFill/>
            <a:ln cap="flat" cmpd="sng" w="19050">
              <a:solidFill>
                <a:srgbClr val="000000"/>
              </a:solidFill>
              <a:prstDash val="solid"/>
              <a:round/>
              <a:headEnd len="med" w="med" type="none"/>
              <a:tailEnd len="med" w="med" type="triangle"/>
            </a:ln>
          </p:spPr>
        </p:cxnSp>
        <p:sp>
          <p:nvSpPr>
            <p:cNvPr id="140" name="Google Shape;140;p18"/>
            <p:cNvSpPr txBox="1"/>
            <p:nvPr/>
          </p:nvSpPr>
          <p:spPr>
            <a:xfrm>
              <a:off x="7510475" y="3825875"/>
              <a:ext cx="14445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Brow ridge</a:t>
              </a:r>
              <a:endParaRPr sz="1000"/>
            </a:p>
          </p:txBody>
        </p:sp>
        <p:sp>
          <p:nvSpPr>
            <p:cNvPr id="141" name="Google Shape;141;p18"/>
            <p:cNvSpPr txBox="1"/>
            <p:nvPr/>
          </p:nvSpPr>
          <p:spPr>
            <a:xfrm>
              <a:off x="7115175" y="6305550"/>
              <a:ext cx="12987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Canines</a:t>
              </a:r>
              <a:endParaRPr sz="1000"/>
            </a:p>
          </p:txBody>
        </p:sp>
        <p:cxnSp>
          <p:nvCxnSpPr>
            <p:cNvPr id="142" name="Google Shape;142;p18"/>
            <p:cNvCxnSpPr/>
            <p:nvPr/>
          </p:nvCxnSpPr>
          <p:spPr>
            <a:xfrm flipH="1" rot="10800000">
              <a:off x="8050175" y="5826075"/>
              <a:ext cx="365100" cy="603300"/>
            </a:xfrm>
            <a:prstGeom prst="straightConnector1">
              <a:avLst/>
            </a:prstGeom>
            <a:noFill/>
            <a:ln cap="flat" cmpd="sng" w="19050">
              <a:solidFill>
                <a:srgbClr val="000000"/>
              </a:solidFill>
              <a:prstDash val="solid"/>
              <a:round/>
              <a:headEnd len="med" w="med" type="none"/>
              <a:tailEnd len="med" w="med" type="triangle"/>
            </a:ln>
          </p:spPr>
        </p:cxnSp>
        <p:sp>
          <p:nvSpPr>
            <p:cNvPr id="143" name="Google Shape;143;p18"/>
            <p:cNvSpPr txBox="1"/>
            <p:nvPr/>
          </p:nvSpPr>
          <p:spPr>
            <a:xfrm>
              <a:off x="2111400" y="43814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Foramen magnum near the rear</a:t>
              </a:r>
              <a:endParaRPr sz="1000"/>
            </a:p>
          </p:txBody>
        </p:sp>
        <p:cxnSp>
          <p:nvCxnSpPr>
            <p:cNvPr id="144" name="Google Shape;144;p18"/>
            <p:cNvCxnSpPr/>
            <p:nvPr/>
          </p:nvCxnSpPr>
          <p:spPr>
            <a:xfrm>
              <a:off x="3603725" y="4968775"/>
              <a:ext cx="1333500" cy="143100"/>
            </a:xfrm>
            <a:prstGeom prst="straightConnector1">
              <a:avLst/>
            </a:prstGeom>
            <a:noFill/>
            <a:ln cap="flat" cmpd="sng" w="19050">
              <a:solidFill>
                <a:srgbClr val="000000"/>
              </a:solidFill>
              <a:prstDash val="solid"/>
              <a:round/>
              <a:headEnd len="med" w="med" type="none"/>
              <a:tailEnd len="med" w="med" type="triangle"/>
            </a:ln>
          </p:spPr>
        </p:cxnSp>
        <p:sp>
          <p:nvSpPr>
            <p:cNvPr id="145" name="Google Shape;145;p18"/>
            <p:cNvSpPr txBox="1"/>
            <p:nvPr/>
          </p:nvSpPr>
          <p:spPr>
            <a:xfrm>
              <a:off x="4256838" y="5397500"/>
              <a:ext cx="227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zygomatic arch</a:t>
              </a:r>
              <a:endParaRPr sz="1000"/>
            </a:p>
          </p:txBody>
        </p:sp>
        <p:cxnSp>
          <p:nvCxnSpPr>
            <p:cNvPr id="146" name="Google Shape;146;p18"/>
            <p:cNvCxnSpPr/>
            <p:nvPr/>
          </p:nvCxnSpPr>
          <p:spPr>
            <a:xfrm>
              <a:off x="3587850" y="3778300"/>
              <a:ext cx="507900" cy="158700"/>
            </a:xfrm>
            <a:prstGeom prst="straightConnector1">
              <a:avLst/>
            </a:prstGeom>
            <a:noFill/>
            <a:ln cap="flat" cmpd="sng" w="19050">
              <a:solidFill>
                <a:srgbClr val="000000"/>
              </a:solidFill>
              <a:prstDash val="solid"/>
              <a:round/>
              <a:headEnd len="med" w="med" type="none"/>
              <a:tailEnd len="med" w="med" type="triangle"/>
            </a:ln>
          </p:spPr>
        </p:cxnSp>
        <p:cxnSp>
          <p:nvCxnSpPr>
            <p:cNvPr id="147" name="Google Shape;147;p18"/>
            <p:cNvCxnSpPr>
              <a:stCxn id="148" idx="1"/>
            </p:cNvCxnSpPr>
            <p:nvPr/>
          </p:nvCxnSpPr>
          <p:spPr>
            <a:xfrm rot="10800000">
              <a:off x="5794275" y="2714525"/>
              <a:ext cx="349500" cy="470100"/>
            </a:xfrm>
            <a:prstGeom prst="straightConnector1">
              <a:avLst/>
            </a:prstGeom>
            <a:noFill/>
            <a:ln cap="flat" cmpd="sng" w="19050">
              <a:solidFill>
                <a:srgbClr val="000000"/>
              </a:solidFill>
              <a:prstDash val="solid"/>
              <a:round/>
              <a:headEnd len="med" w="med" type="none"/>
              <a:tailEnd len="med" w="med" type="triangle"/>
            </a:ln>
          </p:spPr>
        </p:cxnSp>
        <p:sp>
          <p:nvSpPr>
            <p:cNvPr id="148" name="Google Shape;148;p18"/>
            <p:cNvSpPr txBox="1"/>
            <p:nvPr/>
          </p:nvSpPr>
          <p:spPr>
            <a:xfrm>
              <a:off x="6143775" y="2898875"/>
              <a:ext cx="2738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Foramen magnum in the centre of the skull</a:t>
              </a:r>
              <a:endParaRPr sz="1000"/>
            </a:p>
          </p:txBody>
        </p:sp>
      </p:grpSp>
      <p:sp>
        <p:nvSpPr>
          <p:cNvPr id="149" name="Google Shape;149;p18"/>
          <p:cNvSpPr txBox="1"/>
          <p:nvPr/>
        </p:nvSpPr>
        <p:spPr>
          <a:xfrm>
            <a:off x="457200" y="1681575"/>
            <a:ext cx="5031900" cy="30000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GB" sz="1800"/>
              <a:t>Other physical features of the skull that are commonly used to separate humans from our closest ape relatives include:</a:t>
            </a:r>
            <a:endParaRPr sz="1800"/>
          </a:p>
          <a:p>
            <a:pPr indent="-342900" lvl="0" marL="457200" rtl="0" algn="l">
              <a:spcBef>
                <a:spcPts val="600"/>
              </a:spcBef>
              <a:spcAft>
                <a:spcPts val="0"/>
              </a:spcAft>
              <a:buSzPts val="1800"/>
              <a:buChar char="●"/>
            </a:pPr>
            <a:r>
              <a:rPr lang="en-GB" sz="1800"/>
              <a:t>rounded braincase with thin skull bones</a:t>
            </a:r>
            <a:endParaRPr sz="1800"/>
          </a:p>
          <a:p>
            <a:pPr indent="-342900" lvl="0" marL="457200" rtl="0" algn="l">
              <a:spcBef>
                <a:spcPts val="0"/>
              </a:spcBef>
              <a:spcAft>
                <a:spcPts val="0"/>
              </a:spcAft>
              <a:buSzPts val="1800"/>
              <a:buChar char="●"/>
            </a:pPr>
            <a:r>
              <a:rPr lang="en-GB" sz="1800"/>
              <a:t>high, vertical forehead</a:t>
            </a:r>
            <a:endParaRPr sz="1800"/>
          </a:p>
          <a:p>
            <a:pPr indent="-342900" lvl="0" marL="457200" rtl="0" algn="l">
              <a:spcBef>
                <a:spcPts val="0"/>
              </a:spcBef>
              <a:spcAft>
                <a:spcPts val="0"/>
              </a:spcAft>
              <a:buSzPts val="1800"/>
              <a:buChar char="●"/>
            </a:pPr>
            <a:r>
              <a:rPr lang="en-GB" sz="1800"/>
              <a:t>vertical face</a:t>
            </a:r>
            <a:endParaRPr sz="1800"/>
          </a:p>
          <a:p>
            <a:pPr indent="-342900" lvl="0" marL="457200" rtl="0" algn="l">
              <a:spcBef>
                <a:spcPts val="0"/>
              </a:spcBef>
              <a:spcAft>
                <a:spcPts val="0"/>
              </a:spcAft>
              <a:buSzPts val="1800"/>
              <a:buChar char="●"/>
            </a:pPr>
            <a:r>
              <a:rPr lang="en-GB" sz="1800"/>
              <a:t>small brow ridges</a:t>
            </a:r>
            <a:endParaRPr sz="1800"/>
          </a:p>
          <a:p>
            <a:pPr indent="-342900" lvl="0" marL="457200" rtl="0" algn="l">
              <a:spcBef>
                <a:spcPts val="0"/>
              </a:spcBef>
              <a:spcAft>
                <a:spcPts val="0"/>
              </a:spcAft>
              <a:buSzPts val="1800"/>
              <a:buChar char="●"/>
            </a:pPr>
            <a:r>
              <a:rPr lang="en-GB" sz="1800"/>
              <a:t>short jaws</a:t>
            </a:r>
            <a:endParaRPr sz="1800"/>
          </a:p>
          <a:p>
            <a:pPr indent="-342900" lvl="0" marL="457200" rtl="0" algn="l">
              <a:spcBef>
                <a:spcPts val="0"/>
              </a:spcBef>
              <a:spcAft>
                <a:spcPts val="0"/>
              </a:spcAft>
              <a:buSzPts val="1800"/>
              <a:buChar char="●"/>
            </a:pPr>
            <a:r>
              <a:rPr lang="en-GB" sz="1800"/>
              <a:t>centrally located foramen magnum (the hole in the base of the skull through which the spinal cord runs)</a:t>
            </a:r>
            <a:endParaRPr sz="1800"/>
          </a:p>
          <a:p>
            <a:pPr indent="-342900" lvl="0" marL="457200" rtl="0" algn="l">
              <a:spcBef>
                <a:spcPts val="0"/>
              </a:spcBef>
              <a:spcAft>
                <a:spcPts val="0"/>
              </a:spcAft>
              <a:buSzPts val="1800"/>
              <a:buChar char="●"/>
            </a:pPr>
            <a:r>
              <a:rPr lang="en-GB" sz="1800"/>
              <a:t>skull balanced on a vertical backbone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Workbook pages</a:t>
            </a:r>
            <a:endParaRPr/>
          </a:p>
        </p:txBody>
      </p:sp>
      <p:sp>
        <p:nvSpPr>
          <p:cNvPr id="155" name="Google Shape;155;p19"/>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Read and complete page 204-212 “Level 3 Biology learning workbook” for more in depth detail and questions to check understanding.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ight Gradien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
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tif" ContentType="image/t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6" r:id="rId2"/>
    <p:sldId id="257" r:id="rId3"/>
    <p:sldId id="274" r:id="rId4"/>
    <p:sldId id="280" r:id="rId5"/>
    <p:sldId id="281" r:id="rId6"/>
    <p:sldId id="282" r:id="rId7"/>
    <p:sldId id="283" r:id="rId8"/>
    <p:sldId id="284" r:id="rId9"/>
    <p:sldId id="285" r:id="rId10"/>
    <p:sldId id="286" r:id="rId11"/>
    <p:sldId id="287" r:id="rId12"/>
    <p:sldId id="288" r:id="rId13"/>
    <p:sldId id="289" r:id="rId14"/>
    <p:sldId id="290" r:id="rId15"/>
    <p:sldId id="291" r:id="rId16"/>
    <p:sldId id="292" r:id="rId17"/>
    <p:sldId id="293" r:id="rId18"/>
    <p:sldId id="294" r:id="rId19"/>
    <p:sldId id="295" r:id="rId20"/>
    <p:sldId id="296" r:id="rId21"/>
    <p:sldId id="297" r:id="rId22"/>
    <p:sldId id="298" r:id="rId23"/>
    <p:sldId id="299" r:id="rId24"/>
    <p:sldId id="300" r:id="rId25"/>
    <p:sldId id="301" r:id="rId26"/>
    <p:sldId id="302" r:id="rId27"/>
    <p:sldId id="303" r:id="rId28"/>
    <p:sldId id="304" r:id="rId29"/>
    <p:sldId id="305" r:id="rId30"/>
    <p:sldId id="306" r:id="rId31"/>
    <p:sldId id="314" r:id="rId32"/>
    <p:sldId id="319" r:id="rId33"/>
    <p:sldId id="315" r:id="rId34"/>
    <p:sldId id="316" r:id="rId35"/>
    <p:sldId id="317" r:id="rId36"/>
    <p:sldId id="318" r:id="rId37"/>
    <p:sldId id="275" r:id="rId38"/>
    <p:sldId id="276" r:id="rId39"/>
    <p:sldId id="277" r:id="rId40"/>
    <p:sldId id="325" r:id="rId41"/>
    <p:sldId id="331" r:id="rId42"/>
    <p:sldId id="332" r:id="rId43"/>
    <p:sldId id="333" r:id="rId44"/>
    <p:sldId id="334" r:id="rId45"/>
    <p:sldId id="335" r:id="rId46"/>
    <p:sldId id="336" r:id="rId47"/>
    <p:sldId id="341" r:id="rId48"/>
    <p:sldId id="366" r:id="rId49"/>
    <p:sldId id="367" r:id="rId50"/>
    <p:sldId id="368" r:id="rId51"/>
    <p:sldId id="369" r:id="rId52"/>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114300" marR="0" indent="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1pPr>
    <a:lvl2pPr marL="114300" marR="0" indent="3429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2pPr>
    <a:lvl3pPr marL="114300" marR="0" indent="6858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3pPr>
    <a:lvl4pPr marL="114300" marR="0" indent="10287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4pPr>
    <a:lvl5pPr marL="114300" marR="0" indent="13716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5pPr>
    <a:lvl6pPr marL="114300" marR="0" indent="17145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6pPr>
    <a:lvl7pPr marL="114300" marR="0" indent="20574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7pPr>
    <a:lvl8pPr marL="114300" marR="0" indent="24003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8pPr>
    <a:lvl9pPr marL="114300" marR="0" indent="27432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8F44A2F1-9E1F-4B54-A3A2-5F16C0AD49E2}" styleName="">
    <a:tblBg/>
    <a:wholeTbl>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wholeTbl>
    <a:band2H>
      <a:tcTxStyle/>
      <a:tcStyle>
        <a:tcBdr/>
        <a:fill>
          <a:solidFill>
            <a:srgbClr val="EFF1F3"/>
          </a:solidFill>
        </a:fill>
      </a:tcStyle>
    </a:band2H>
    <a:firstCol>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firstCol>
    <a:lastRow>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lastRow>
    <a:firstRow>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firstRow>
  </a:tblStyle>
  <a:tblStyle styleId="{D51ADE6A-740E-44AE-83CC-AE7238B6C88D}" styleName="">
    <a:tblBg/>
    <a:wholeTbl>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wholeTbl>
    <a:band2H>
      <a:tcTxStyle/>
      <a:tcStyle>
        <a:tcBdr/>
        <a:fill>
          <a:solidFill>
            <a:srgbClr val="EFF1F3"/>
          </a:solidFill>
        </a:fill>
      </a:tcStyle>
    </a:band2H>
    <a:firstCol>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firstCol>
    <a:lastRow>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lastRow>
    <a:firstRow>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firstRow>
  </a:tblStyle>
  <a:tblStyle styleId="{EEE7283C-3CF3-47DC-8721-378D4A62B228}" styleName="">
    <a:tblBg/>
    <a:wholeTbl>
      <a:tcTxStyle>
        <a:font>
          <a:latin typeface="Helvetica Light"/>
          <a:ea typeface="Helvetica Light"/>
          <a:cs typeface="Helvetica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a:font>
          <a:latin typeface="Helvetica Light"/>
          <a:ea typeface="Helvetica Light"/>
          <a:cs typeface="Helvetica 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a:font>
          <a:latin typeface="Helvetica Light"/>
          <a:ea typeface="Helvetica Light"/>
          <a:cs typeface="Helvetica Light"/>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a:font>
          <a:latin typeface="Helvetica Light"/>
          <a:ea typeface="Helvetica Light"/>
          <a:cs typeface="Helvetica Light"/>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4C3C2611-4C71-4FC5-86AE-919BDF0F9419}" styleName="">
    <a:tblBg/>
    <a:wholeTbl>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0"/>
    <p:restoredTop sz="94714"/>
  </p:normalViewPr>
  <p:slideViewPr>
    <p:cSldViewPr snapToGrid="0" snapToObjects="1">
      <p:cViewPr varScale="1">
        <p:scale>
          <a:sx n="72" d="100"/>
          <a:sy n="72" d="100"/>
        </p:scale>
        <p:origin x="23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image" Target="../media/image64.jpeg"/><Relationship Id="rId1" Type="http://schemas.openxmlformats.org/officeDocument/2006/relationships/image" Target="../media/image63.jpeg"/></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18"/>
  <c:chart>
    <c:autoTitleDeleted val="1"/>
    <c:plotArea>
      <c:layout>
        <c:manualLayout>
          <c:layoutTarget val="inner"/>
          <c:xMode val="edge"/>
          <c:yMode val="edge"/>
          <c:x val="0.130883"/>
          <c:y val="4.1161700000000002E-2"/>
          <c:w val="0.86411700000000002"/>
          <c:h val="0.86876699999999996"/>
        </c:manualLayout>
      </c:layout>
      <c:barChart>
        <c:barDir val="col"/>
        <c:grouping val="clustered"/>
        <c:varyColors val="0"/>
        <c:ser>
          <c:idx val="0"/>
          <c:order val="0"/>
          <c:tx>
            <c:strRef>
              <c:f>Sheet1!$A$2</c:f>
              <c:strCache>
                <c:ptCount val="1"/>
                <c:pt idx="0">
                  <c:v>Region 1</c:v>
                </c:pt>
              </c:strCache>
            </c:strRef>
          </c:tx>
          <c:spPr>
            <a:blipFill rotWithShape="1">
              <a:blip xmlns:r="http://schemas.openxmlformats.org/officeDocument/2006/relationships" r:embed="rId1"/>
              <a:srcRect/>
              <a:tile tx="0" ty="0" sx="100000" sy="100000" flip="none" algn="tl"/>
            </a:blipFill>
            <a:ln w="12700" cap="flat">
              <a:noFill/>
              <a:miter lim="400000"/>
            </a:ln>
            <a:effectLst/>
          </c:spPr>
          <c:invertIfNegative val="0"/>
          <c:cat>
            <c:strRef>
              <c:f>Sheet1!$B$1:$F$1</c:f>
              <c:strCache>
                <c:ptCount val="5"/>
                <c:pt idx="0">
                  <c:v>1.00</c:v>
                </c:pt>
                <c:pt idx="1">
                  <c:v>1.25</c:v>
                </c:pt>
                <c:pt idx="2">
                  <c:v>1.50</c:v>
                </c:pt>
                <c:pt idx="3">
                  <c:v>1.75</c:v>
                </c:pt>
                <c:pt idx="4">
                  <c:v>2.00</c:v>
                </c:pt>
              </c:strCache>
            </c:strRef>
          </c:cat>
          <c:val>
            <c:numRef>
              <c:f>Sheet1!$B$2:$F$2</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0-E21D-4BCC-AF8D-9373DC73F462}"/>
            </c:ext>
          </c:extLst>
        </c:ser>
        <c:ser>
          <c:idx val="1"/>
          <c:order val="1"/>
          <c:tx>
            <c:strRef>
              <c:f>Sheet1!$A$3</c:f>
              <c:strCache>
                <c:ptCount val="1"/>
                <c:pt idx="0">
                  <c:v>Region 2</c:v>
                </c:pt>
              </c:strCache>
            </c:strRef>
          </c:tx>
          <c:spPr>
            <a:blipFill rotWithShape="1">
              <a:blip xmlns:r="http://schemas.openxmlformats.org/officeDocument/2006/relationships" r:embed="rId2"/>
              <a:srcRect/>
              <a:tile tx="0" ty="0" sx="100000" sy="100000" flip="none" algn="tl"/>
            </a:blipFill>
            <a:ln w="12700" cap="flat">
              <a:noFill/>
              <a:miter lim="400000"/>
            </a:ln>
            <a:effectLst/>
          </c:spPr>
          <c:invertIfNegative val="0"/>
          <c:cat>
            <c:strRef>
              <c:f>Sheet1!$B$1:$F$1</c:f>
              <c:strCache>
                <c:ptCount val="5"/>
                <c:pt idx="0">
                  <c:v>1.00</c:v>
                </c:pt>
                <c:pt idx="1">
                  <c:v>1.25</c:v>
                </c:pt>
                <c:pt idx="2">
                  <c:v>1.50</c:v>
                </c:pt>
                <c:pt idx="3">
                  <c:v>1.75</c:v>
                </c:pt>
                <c:pt idx="4">
                  <c:v>2.00</c:v>
                </c:pt>
              </c:strCache>
            </c:strRef>
          </c:cat>
          <c:val>
            <c:numRef>
              <c:f>Sheet1!$B$3:$F$3</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1-E21D-4BCC-AF8D-9373DC73F462}"/>
            </c:ext>
          </c:extLst>
        </c:ser>
        <c:dLbls>
          <c:showLegendKey val="0"/>
          <c:showVal val="0"/>
          <c:showCatName val="0"/>
          <c:showSerName val="0"/>
          <c:showPercent val="0"/>
          <c:showBubbleSize val="0"/>
        </c:dLbls>
        <c:gapWidth val="100"/>
        <c:axId val="-1999820048"/>
        <c:axId val="-1999782256"/>
      </c:barChart>
      <c:catAx>
        <c:axId val="-1999820048"/>
        <c:scaling>
          <c:orientation val="minMax"/>
        </c:scaling>
        <c:delete val="0"/>
        <c:axPos val="b"/>
        <c:numFmt formatCode="General" sourceLinked="0"/>
        <c:majorTickMark val="in"/>
        <c:minorTickMark val="none"/>
        <c:tickLblPos val="low"/>
        <c:spPr>
          <a:ln w="50800" cap="flat">
            <a:solidFill>
              <a:srgbClr val="000000"/>
            </a:solidFill>
            <a:prstDash val="solid"/>
            <a:miter lim="400000"/>
          </a:ln>
        </c:spPr>
        <c:txPr>
          <a:bodyPr rot="0"/>
          <a:lstStyle/>
          <a:p>
            <a:pPr>
              <a:defRPr sz="1800" b="1" i="0" u="none" strike="noStrike">
                <a:solidFill>
                  <a:srgbClr val="483F36"/>
                </a:solidFill>
                <a:latin typeface="Arial"/>
              </a:defRPr>
            </a:pPr>
            <a:endParaRPr lang="en-US"/>
          </a:p>
        </c:txPr>
        <c:crossAx val="-1999782256"/>
        <c:crosses val="autoZero"/>
        <c:auto val="1"/>
        <c:lblAlgn val="ctr"/>
        <c:lblOffset val="100"/>
        <c:noMultiLvlLbl val="1"/>
      </c:catAx>
      <c:valAx>
        <c:axId val="-1999782256"/>
        <c:scaling>
          <c:orientation val="minMax"/>
          <c:max val="2000"/>
        </c:scaling>
        <c:delete val="0"/>
        <c:axPos val="l"/>
        <c:majorGridlines>
          <c:spPr>
            <a:ln w="25400" cap="flat">
              <a:solidFill>
                <a:srgbClr val="000000"/>
              </a:solidFill>
              <a:prstDash val="solid"/>
              <a:miter lim="400000"/>
            </a:ln>
          </c:spPr>
        </c:majorGridlines>
        <c:numFmt formatCode="#,##0" sourceLinked="0"/>
        <c:majorTickMark val="none"/>
        <c:minorTickMark val="none"/>
        <c:tickLblPos val="nextTo"/>
        <c:spPr>
          <a:ln w="50800" cap="flat">
            <a:solidFill>
              <a:srgbClr val="000000"/>
            </a:solidFill>
            <a:prstDash val="solid"/>
            <a:miter lim="400000"/>
          </a:ln>
        </c:spPr>
        <c:txPr>
          <a:bodyPr rot="0"/>
          <a:lstStyle/>
          <a:p>
            <a:pPr>
              <a:defRPr sz="1800" b="1" i="0" u="none" strike="noStrike">
                <a:solidFill>
                  <a:srgbClr val="483F36"/>
                </a:solidFill>
                <a:latin typeface="Arial"/>
              </a:defRPr>
            </a:pPr>
            <a:endParaRPr lang="en-US"/>
          </a:p>
        </c:txPr>
        <c:crossAx val="-1999820048"/>
        <c:crosses val="autoZero"/>
        <c:crossBetween val="between"/>
        <c:majorUnit val="500"/>
        <c:minorUnit val="250"/>
      </c:valAx>
      <c:spPr>
        <a:noFill/>
        <a:ln w="50800" cap="flat">
          <a:solidFill>
            <a:srgbClr val="000000"/>
          </a:solidFill>
          <a:prstDash val="solid"/>
          <a:miter lim="400000"/>
        </a:ln>
        <a:effectLst/>
      </c:spPr>
    </c:plotArea>
    <c:plotVisOnly val="1"/>
    <c:dispBlanksAs val="gap"/>
    <c:showDLblsOverMax val="1"/>
  </c:chart>
  <c:spPr>
    <a:noFill/>
    <a:ln>
      <a:noFill/>
    </a:ln>
    <a:effectLst/>
  </c:spPr>
  <c:externalData r:id="rId3">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2" name="Shape 62"/>
          <p:cNvSpPr>
            <a:spLocks noGrp="1" noRot="1" noChangeAspect="1"/>
          </p:cNvSpPr>
          <p:nvPr>
            <p:ph type="sldImg"/>
          </p:nvPr>
        </p:nvSpPr>
        <p:spPr>
          <a:xfrm>
            <a:off x="1143000" y="685800"/>
            <a:ext cx="4572000" cy="3429000"/>
          </a:xfrm>
          <a:prstGeom prst="rect">
            <a:avLst/>
          </a:prstGeom>
        </p:spPr>
        <p:txBody>
          <a:bodyPr/>
          <a:lstStyle/>
          <a:p>
            <a:endParaRPr/>
          </a:p>
        </p:txBody>
      </p:sp>
      <p:sp>
        <p:nvSpPr>
          <p:cNvPr id="63" name="Shape 63"/>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85305547"/>
      </p:ext>
    </p:extLst>
  </p:cSld>
  <p:clrMap bg1="lt1" tx1="dk1" bg2="lt2" tx2="dk2" accent1="accent1" accent2="accent2" accent3="accent3" accent4="accent4" accent5="accent5" accent6="accent6" hlink="hlink" folHlink="folHlink"/>
  <p:notesStyle>
    <a:lvl1pPr defTabSz="457200" latinLnBrk="0">
      <a:defRPr sz="1600">
        <a:latin typeface="Lucida Grande"/>
        <a:ea typeface="Lucida Grande"/>
        <a:cs typeface="Lucida Grande"/>
        <a:sym typeface="Lucida Grande"/>
      </a:defRPr>
    </a:lvl1pPr>
    <a:lvl2pPr indent="228600" defTabSz="457200" latinLnBrk="0">
      <a:defRPr sz="1600">
        <a:latin typeface="Lucida Grande"/>
        <a:ea typeface="Lucida Grande"/>
        <a:cs typeface="Lucida Grande"/>
        <a:sym typeface="Lucida Grande"/>
      </a:defRPr>
    </a:lvl2pPr>
    <a:lvl3pPr indent="457200" defTabSz="457200" latinLnBrk="0">
      <a:defRPr sz="1600">
        <a:latin typeface="Lucida Grande"/>
        <a:ea typeface="Lucida Grande"/>
        <a:cs typeface="Lucida Grande"/>
        <a:sym typeface="Lucida Grande"/>
      </a:defRPr>
    </a:lvl3pPr>
    <a:lvl4pPr indent="685800" defTabSz="457200" latinLnBrk="0">
      <a:defRPr sz="1600">
        <a:latin typeface="Lucida Grande"/>
        <a:ea typeface="Lucida Grande"/>
        <a:cs typeface="Lucida Grande"/>
        <a:sym typeface="Lucida Grande"/>
      </a:defRPr>
    </a:lvl4pPr>
    <a:lvl5pPr indent="914400" defTabSz="457200" latinLnBrk="0">
      <a:defRPr sz="1600">
        <a:latin typeface="Lucida Grande"/>
        <a:ea typeface="Lucida Grande"/>
        <a:cs typeface="Lucida Grande"/>
        <a:sym typeface="Lucida Grande"/>
      </a:defRPr>
    </a:lvl5pPr>
    <a:lvl6pPr indent="1143000" defTabSz="457200" latinLnBrk="0">
      <a:defRPr sz="1600">
        <a:latin typeface="Lucida Grande"/>
        <a:ea typeface="Lucida Grande"/>
        <a:cs typeface="Lucida Grande"/>
        <a:sym typeface="Lucida Grande"/>
      </a:defRPr>
    </a:lvl6pPr>
    <a:lvl7pPr indent="1371600" defTabSz="457200" latinLnBrk="0">
      <a:defRPr sz="1600">
        <a:latin typeface="Lucida Grande"/>
        <a:ea typeface="Lucida Grande"/>
        <a:cs typeface="Lucida Grande"/>
        <a:sym typeface="Lucida Grande"/>
      </a:defRPr>
    </a:lvl7pPr>
    <a:lvl8pPr indent="1600200" defTabSz="457200" latinLnBrk="0">
      <a:defRPr sz="1600">
        <a:latin typeface="Lucida Grande"/>
        <a:ea typeface="Lucida Grande"/>
        <a:cs typeface="Lucida Grande"/>
        <a:sym typeface="Lucida Grande"/>
      </a:defRPr>
    </a:lvl8pPr>
    <a:lvl9pPr indent="1828800" defTabSz="457200" latinLnBrk="0">
      <a:defRPr sz="1600">
        <a:latin typeface="Lucida Grande"/>
        <a:ea typeface="Lucida Grande"/>
        <a:cs typeface="Lucida Grande"/>
        <a:sym typeface="Lucida Grande"/>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Title &amp; Bullets">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6" name="Shape 16"/>
          <p:cNvSpPr>
            <a:spLocks noGrp="1"/>
          </p:cNvSpPr>
          <p:nvPr>
            <p:ph type="title"/>
          </p:nvPr>
        </p:nvSpPr>
        <p:spPr>
          <a:xfrm>
            <a:off x="386079" y="368300"/>
            <a:ext cx="12192001" cy="900351"/>
          </a:xfrm>
          <a:prstGeom prst="rect">
            <a:avLst/>
          </a:prstGeom>
        </p:spPr>
        <p:txBody>
          <a:bodyPr anchor="b"/>
          <a:lstStyle>
            <a:lvl1pPr>
              <a:tabLst>
                <a:tab pos="952500" algn="l"/>
              </a:tabLst>
              <a:defRPr>
                <a:solidFill>
                  <a:srgbClr val="000000"/>
                </a:solidFill>
              </a:defRPr>
            </a:lvl1pPr>
          </a:lstStyle>
          <a:p>
            <a:r>
              <a:t>Title Text</a:t>
            </a:r>
          </a:p>
        </p:txBody>
      </p:sp>
      <p:sp>
        <p:nvSpPr>
          <p:cNvPr id="17" name="Shape 17"/>
          <p:cNvSpPr>
            <a:spLocks noGrp="1"/>
          </p:cNvSpPr>
          <p:nvPr>
            <p:ph type="body" sz="half" idx="1"/>
          </p:nvPr>
        </p:nvSpPr>
        <p:spPr>
          <a:xfrm>
            <a:off x="368300" y="1790700"/>
            <a:ext cx="5956300" cy="7543800"/>
          </a:xfrm>
          <a:prstGeom prst="rect">
            <a:avLst/>
          </a:prstGeom>
        </p:spPr>
        <p:txBody>
          <a:bodyPr/>
          <a:lstStyle>
            <a:lvl1pPr marL="360000" indent="-360000">
              <a:lnSpc>
                <a:spcPct val="100000"/>
              </a:lnSpc>
              <a:buClr>
                <a:srgbClr val="006994"/>
              </a:buClr>
              <a:buSzPct val="150000"/>
              <a:tabLst>
                <a:tab pos="1016000" algn="l"/>
              </a:tabLst>
              <a:defRPr sz="2400">
                <a:solidFill>
                  <a:srgbClr val="000000"/>
                </a:solidFill>
              </a:defRPr>
            </a:lvl1pPr>
            <a:lvl2pPr marL="648000" indent="-288000">
              <a:lnSpc>
                <a:spcPct val="100000"/>
              </a:lnSpc>
              <a:spcBef>
                <a:spcPts val="1500"/>
              </a:spcBef>
              <a:buSzPct val="125000"/>
              <a:tabLst>
                <a:tab pos="1485900" algn="l"/>
              </a:tabLst>
              <a:defRPr sz="2000">
                <a:solidFill>
                  <a:srgbClr val="000000"/>
                </a:solidFill>
              </a:defRPr>
            </a:lvl2pPr>
            <a:lvl3pPr marL="936000" indent="-288000">
              <a:lnSpc>
                <a:spcPct val="100000"/>
              </a:lnSpc>
              <a:spcBef>
                <a:spcPts val="400"/>
              </a:spcBef>
              <a:tabLst>
                <a:tab pos="1638300" algn="l"/>
              </a:tabLst>
              <a:defRPr sz="1800">
                <a:solidFill>
                  <a:srgbClr val="000000"/>
                </a:solidFill>
              </a:defRPr>
            </a:lvl3pPr>
            <a:lvl4pPr marL="1223999" indent="-288000">
              <a:lnSpc>
                <a:spcPct val="100000"/>
              </a:lnSpc>
              <a:spcBef>
                <a:spcPts val="400"/>
              </a:spcBef>
              <a:buFontTx/>
              <a:tabLst>
                <a:tab pos="2235200" algn="l"/>
              </a:tabLst>
              <a:defRPr sz="1800">
                <a:solidFill>
                  <a:srgbClr val="000000"/>
                </a:solidFill>
              </a:defRPr>
            </a:lvl4pPr>
            <a:lvl5pPr marL="1512000" indent="-288000">
              <a:lnSpc>
                <a:spcPct val="100000"/>
              </a:lnSpc>
              <a:spcBef>
                <a:spcPts val="400"/>
              </a:spcBef>
              <a:buFontTx/>
              <a:tabLst>
                <a:tab pos="2616200" algn="l"/>
              </a:tabLst>
              <a:defRPr sz="18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18" name="Shape 18"/>
          <p:cNvSpPr>
            <a:spLocks noGrp="1"/>
          </p:cNvSpPr>
          <p:nvPr>
            <p:ph type="sldNum" sz="quarter" idx="2"/>
          </p:nvPr>
        </p:nvSpPr>
        <p:spPr>
          <a:prstGeom prst="rect">
            <a:avLst/>
          </a:prstGeom>
        </p:spPr>
        <p:txBody>
          <a:bodyPr/>
          <a:lstStyle>
            <a:lvl1pPr>
              <a:tabLst>
                <a:tab pos="838200" algn="l"/>
              </a:tabLst>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Colour BG">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5" name="Shape 25"/>
          <p:cNvSpPr/>
          <p:nvPr/>
        </p:nvSpPr>
        <p:spPr>
          <a:xfrm>
            <a:off x="0" y="0"/>
            <a:ext cx="13017500" cy="9753600"/>
          </a:xfrm>
          <a:prstGeom prst="rect">
            <a:avLst/>
          </a:prstGeom>
          <a:gradFill>
            <a:gsLst>
              <a:gs pos="0">
                <a:srgbClr val="006994"/>
              </a:gs>
              <a:gs pos="62694">
                <a:srgbClr val="3EA2CC"/>
              </a:gs>
              <a:gs pos="100000">
                <a:srgbClr val="76D6FF"/>
              </a:gs>
            </a:gsLst>
            <a:lin ang="1620000"/>
          </a:gradFill>
          <a:ln w="25400">
            <a:miter lim="400000"/>
          </a:ln>
        </p:spPr>
        <p:txBody>
          <a:bodyPr lIns="0" tIns="0" rIns="0" bIns="0" anchor="ctr"/>
          <a:lstStyle/>
          <a:p>
            <a:pPr marL="0" defTabSz="584200">
              <a:tabLst/>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26" name="Shape 26"/>
          <p:cNvSpPr>
            <a:spLocks noGrp="1"/>
          </p:cNvSpPr>
          <p:nvPr>
            <p:ph type="sldNum" sz="quarter" idx="2"/>
          </p:nvPr>
        </p:nvSpPr>
        <p:spPr>
          <a:prstGeom prst="rect">
            <a:avLst/>
          </a:prstGeom>
        </p:spPr>
        <p:txBody>
          <a:bodyPr/>
          <a:lstStyle>
            <a:lvl1pPr>
              <a:tabLst>
                <a:tab pos="838200" algn="l"/>
              </a:tabLst>
            </a:lvl1p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BIOZONE BRANDING">
    <p:spTree>
      <p:nvGrpSpPr>
        <p:cNvPr id="1" name=""/>
        <p:cNvGrpSpPr/>
        <p:nvPr/>
      </p:nvGrpSpPr>
      <p:grpSpPr>
        <a:xfrm>
          <a:off x="0" y="0"/>
          <a:ext cx="0" cy="0"/>
          <a:chOff x="0" y="0"/>
          <a:chExt cx="0" cy="0"/>
        </a:xfrm>
      </p:grpSpPr>
      <p:sp>
        <p:nvSpPr>
          <p:cNvPr id="33" name="Shape 33"/>
          <p:cNvSpPr>
            <a:spLocks noGrp="1"/>
          </p:cNvSpPr>
          <p:nvPr>
            <p:ph type="title"/>
          </p:nvPr>
        </p:nvSpPr>
        <p:spPr>
          <a:prstGeom prst="rect">
            <a:avLst/>
          </a:prstGeom>
        </p:spPr>
        <p:txBody>
          <a:bodyPr/>
          <a:lstStyle>
            <a:lvl1pPr>
              <a:tabLst>
                <a:tab pos="952500" algn="l"/>
              </a:tabLst>
            </a:lvl1pPr>
          </a:lstStyle>
          <a:p>
            <a:r>
              <a:t>Title Text</a:t>
            </a:r>
          </a:p>
        </p:txBody>
      </p:sp>
      <p:sp>
        <p:nvSpPr>
          <p:cNvPr id="34" name="Shape 34"/>
          <p:cNvSpPr>
            <a:spLocks noGrp="1"/>
          </p:cNvSpPr>
          <p:nvPr>
            <p:ph type="body" idx="1"/>
          </p:nvPr>
        </p:nvSpPr>
        <p:spPr>
          <a:prstGeom prst="rect">
            <a:avLst/>
          </a:prstGeom>
        </p:spPr>
        <p:txBody>
          <a:bodyPr/>
          <a:lstStyle>
            <a:lvl1pPr>
              <a:tabLst>
                <a:tab pos="1016000" algn="l"/>
              </a:tabLst>
            </a:lvl1pPr>
            <a:lvl2pPr>
              <a:tabLst>
                <a:tab pos="1485900" algn="l"/>
              </a:tabLst>
            </a:lvl2pPr>
            <a:lvl3pPr>
              <a:tabLst>
                <a:tab pos="1638300" algn="l"/>
              </a:tabLst>
            </a:lvl3pPr>
            <a:lvl4pPr>
              <a:tabLst>
                <a:tab pos="2235200" algn="l"/>
              </a:tabLst>
            </a:lvl4pPr>
            <a:lvl5pPr>
              <a:tabLst>
                <a:tab pos="2616200" algn="l"/>
              </a:tabLst>
            </a:lvl5pPr>
          </a:lstStyle>
          <a:p>
            <a:r>
              <a:t>Body Level One</a:t>
            </a:r>
          </a:p>
          <a:p>
            <a:pPr lvl="1"/>
            <a:r>
              <a:t>Body Level Two</a:t>
            </a:r>
          </a:p>
          <a:p>
            <a:pPr lvl="2"/>
            <a:r>
              <a:t>Body Level Three</a:t>
            </a:r>
          </a:p>
          <a:p>
            <a:pPr lvl="3"/>
            <a:r>
              <a:t>Body Level Four</a:t>
            </a:r>
          </a:p>
          <a:p>
            <a:pPr lvl="4"/>
            <a:r>
              <a:t>Body Level Five</a:t>
            </a:r>
          </a:p>
        </p:txBody>
      </p:sp>
      <p:sp>
        <p:nvSpPr>
          <p:cNvPr id="35" name="Shape 35"/>
          <p:cNvSpPr>
            <a:spLocks noGrp="1"/>
          </p:cNvSpPr>
          <p:nvPr>
            <p:ph type="sldNum" sz="quarter" idx="2"/>
          </p:nvPr>
        </p:nvSpPr>
        <p:spPr>
          <a:prstGeom prst="rect">
            <a:avLst/>
          </a:prstGeom>
        </p:spPr>
        <p:txBody>
          <a:bodyPr/>
          <a:lstStyle>
            <a:lvl1pPr>
              <a:tabLst>
                <a:tab pos="838200" algn="l"/>
              </a:tabLst>
            </a:lvl1p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Colour BG">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42" name="Shape 42"/>
          <p:cNvSpPr/>
          <p:nvPr/>
        </p:nvSpPr>
        <p:spPr>
          <a:xfrm>
            <a:off x="0" y="0"/>
            <a:ext cx="13017500" cy="9753600"/>
          </a:xfrm>
          <a:prstGeom prst="rect">
            <a:avLst/>
          </a:prstGeom>
          <a:gradFill>
            <a:gsLst>
              <a:gs pos="0">
                <a:srgbClr val="006994"/>
              </a:gs>
              <a:gs pos="62694">
                <a:srgbClr val="3EA2CC"/>
              </a:gs>
              <a:gs pos="100000">
                <a:srgbClr val="76D6FF"/>
              </a:gs>
            </a:gsLst>
            <a:lin ang="1620000"/>
          </a:gradFill>
          <a:ln w="25400">
            <a:miter lim="400000"/>
          </a:ln>
        </p:spPr>
        <p:txBody>
          <a:bodyPr lIns="0" tIns="0" rIns="0" bIns="0" anchor="ctr"/>
          <a:lstStyle/>
          <a:p>
            <a:pPr marL="0" defTabSz="584200">
              <a:tabLst/>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43" name="Shape 43"/>
          <p:cNvSpPr>
            <a:spLocks noGrp="1"/>
          </p:cNvSpPr>
          <p:nvPr>
            <p:ph type="sldNum" sz="quarter" idx="2"/>
          </p:nvPr>
        </p:nvSpPr>
        <p:spPr>
          <a:prstGeom prst="rect">
            <a:avLst/>
          </a:prstGeom>
        </p:spPr>
        <p:txBody>
          <a:bodyPr/>
          <a:lstStyle>
            <a:lvl1pPr>
              <a:tabLst>
                <a:tab pos="838200" algn="l"/>
              </a:tabLst>
            </a:lvl1p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Contents">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50" name="Shape 50"/>
          <p:cNvSpPr/>
          <p:nvPr/>
        </p:nvSpPr>
        <p:spPr>
          <a:xfrm>
            <a:off x="0" y="0"/>
            <a:ext cx="13017500" cy="1511300"/>
          </a:xfrm>
          <a:prstGeom prst="rect">
            <a:avLst/>
          </a:prstGeom>
          <a:gradFill>
            <a:gsLst>
              <a:gs pos="0">
                <a:srgbClr val="006994">
                  <a:alpha val="50000"/>
                </a:srgbClr>
              </a:gs>
              <a:gs pos="100000">
                <a:srgbClr val="006994"/>
              </a:gs>
            </a:gsLst>
            <a:lin ang="10800000"/>
          </a:gradFill>
          <a:ln w="25400">
            <a:miter lim="400000"/>
          </a:ln>
        </p:spPr>
        <p:txBody>
          <a:bodyPr lIns="0" tIns="0" rIns="0" bIns="0" anchor="ctr"/>
          <a:lstStyle/>
          <a:p>
            <a:pPr marL="0" algn="ctr" defTabSz="584200">
              <a:tabLst/>
              <a:defRPr sz="7000">
                <a:solidFill>
                  <a:srgbClr val="FFFFFF"/>
                </a:solidFill>
                <a:effectLst>
                  <a:outerShdw blurRad="38100" dist="12700" dir="5400000" rotWithShape="0">
                    <a:srgbClr val="000000">
                      <a:alpha val="50000"/>
                    </a:srgbClr>
                  </a:outerShdw>
                </a:effectLst>
                <a:latin typeface="Savoye LET"/>
                <a:ea typeface="Savoye LET"/>
                <a:cs typeface="Savoye LET"/>
                <a:sym typeface="Savoye LET"/>
              </a:defRPr>
            </a:pPr>
            <a:endParaRPr/>
          </a:p>
        </p:txBody>
      </p:sp>
      <p:sp>
        <p:nvSpPr>
          <p:cNvPr id="51" name="Shape 51"/>
          <p:cNvSpPr/>
          <p:nvPr/>
        </p:nvSpPr>
        <p:spPr>
          <a:xfrm>
            <a:off x="1041400" y="317500"/>
            <a:ext cx="10680700" cy="12446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lstStyle>
            <a:lvl1pPr marL="0">
              <a:lnSpc>
                <a:spcPct val="90000"/>
              </a:lnSpc>
              <a:tabLst>
                <a:tab pos="952500" algn="l"/>
              </a:tabLst>
              <a:defRPr sz="6400" b="1">
                <a:solidFill>
                  <a:srgbClr val="FFFFFF"/>
                </a:solidFill>
              </a:defRPr>
            </a:lvl1pPr>
          </a:lstStyle>
          <a:p>
            <a:r>
              <a:t>Contents</a:t>
            </a:r>
          </a:p>
        </p:txBody>
      </p:sp>
      <p:sp>
        <p:nvSpPr>
          <p:cNvPr id="52" name="Shape 52"/>
          <p:cNvSpPr/>
          <p:nvPr/>
        </p:nvSpPr>
        <p:spPr>
          <a:xfrm>
            <a:off x="0" y="8978900"/>
            <a:ext cx="13004800" cy="774700"/>
          </a:xfrm>
          <a:prstGeom prst="rect">
            <a:avLst/>
          </a:prstGeom>
          <a:gradFill>
            <a:gsLst>
              <a:gs pos="0">
                <a:srgbClr val="006994">
                  <a:alpha val="50000"/>
                </a:srgbClr>
              </a:gs>
              <a:gs pos="100000">
                <a:srgbClr val="006994"/>
              </a:gs>
            </a:gsLst>
            <a:lin ang="10800000"/>
          </a:gradFill>
          <a:ln w="25400">
            <a:miter lim="400000"/>
          </a:ln>
        </p:spPr>
        <p:txBody>
          <a:bodyPr lIns="0" tIns="0" rIns="0" bIns="0" anchor="ctr"/>
          <a:lstStyle/>
          <a:p>
            <a:pPr marL="0" algn="ctr" defTabSz="584200">
              <a:tabLst/>
              <a:defRPr sz="7000">
                <a:solidFill>
                  <a:srgbClr val="FFFFFF"/>
                </a:solidFill>
                <a:effectLst>
                  <a:outerShdw blurRad="38100" dist="12700" dir="5400000" rotWithShape="0">
                    <a:srgbClr val="000000">
                      <a:alpha val="50000"/>
                    </a:srgbClr>
                  </a:outerShdw>
                </a:effectLst>
                <a:latin typeface="Savoye LET"/>
                <a:ea typeface="Savoye LET"/>
                <a:cs typeface="Savoye LET"/>
                <a:sym typeface="Savoye LET"/>
              </a:defRPr>
            </a:pPr>
            <a:endParaRPr/>
          </a:p>
        </p:txBody>
      </p:sp>
      <p:sp>
        <p:nvSpPr>
          <p:cNvPr id="53" name="Shape 53"/>
          <p:cNvSpPr/>
          <p:nvPr/>
        </p:nvSpPr>
        <p:spPr>
          <a:xfrm>
            <a:off x="1041400" y="9169400"/>
            <a:ext cx="5410200" cy="2837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400"/>
              </a:lnSpc>
              <a:tabLst>
                <a:tab pos="520700" algn="l"/>
              </a:tabLst>
              <a:defRPr sz="2000" b="1">
                <a:solidFill>
                  <a:srgbClr val="FFFFFF"/>
                </a:solidFill>
              </a:defRPr>
            </a:lvl1pPr>
          </a:lstStyle>
          <a:p>
            <a:r>
              <a:t>Click on the hyperlink title you wish to view</a:t>
            </a:r>
          </a:p>
        </p:txBody>
      </p:sp>
      <p:pic>
        <p:nvPicPr>
          <p:cNvPr id="54" name="Cursor.png"/>
          <p:cNvPicPr>
            <a:picLocks noChangeAspect="1"/>
          </p:cNvPicPr>
          <p:nvPr/>
        </p:nvPicPr>
        <p:blipFill>
          <a:blip r:embed="rId3">
            <a:extLst/>
          </a:blip>
          <a:stretch>
            <a:fillRect/>
          </a:stretch>
        </p:blipFill>
        <p:spPr>
          <a:xfrm>
            <a:off x="7404100" y="9218014"/>
            <a:ext cx="241300" cy="342901"/>
          </a:xfrm>
          <a:prstGeom prst="rect">
            <a:avLst/>
          </a:prstGeom>
          <a:ln w="12700">
            <a:miter lim="400000"/>
          </a:ln>
        </p:spPr>
      </p:pic>
      <p:sp>
        <p:nvSpPr>
          <p:cNvPr id="55" name="Shape 55"/>
          <p:cNvSpPr>
            <a:spLocks noGrp="1"/>
          </p:cNvSpPr>
          <p:nvPr>
            <p:ph type="body" idx="1"/>
          </p:nvPr>
        </p:nvSpPr>
        <p:spPr>
          <a:xfrm>
            <a:off x="1752600" y="2019300"/>
            <a:ext cx="10680700" cy="6731000"/>
          </a:xfrm>
          <a:prstGeom prst="rect">
            <a:avLst/>
          </a:prstGeom>
        </p:spPr>
        <p:txBody>
          <a:bodyPr numCol="2" spcCol="534034"/>
          <a:lstStyle>
            <a:lvl1pPr marL="360000" indent="-360000" defTabSz="584200">
              <a:lnSpc>
                <a:spcPct val="100000"/>
              </a:lnSpc>
              <a:spcBef>
                <a:spcPts val="2500"/>
              </a:spcBef>
              <a:buClr>
                <a:srgbClr val="006994"/>
              </a:buClr>
              <a:buSzPct val="150000"/>
              <a:tabLst/>
              <a:defRPr sz="2400" b="1">
                <a:solidFill>
                  <a:srgbClr val="000000"/>
                </a:solidFill>
              </a:defRPr>
            </a:lvl1pPr>
            <a:lvl2pPr marL="720000" indent="-360000" defTabSz="584200">
              <a:lnSpc>
                <a:spcPct val="100000"/>
              </a:lnSpc>
              <a:spcBef>
                <a:spcPts val="500"/>
              </a:spcBef>
              <a:tabLst/>
              <a:defRPr sz="2200">
                <a:solidFill>
                  <a:srgbClr val="000000"/>
                </a:solidFill>
              </a:defRPr>
            </a:lvl2pPr>
            <a:lvl3pPr marL="1079999" indent="-360000" defTabSz="584200">
              <a:lnSpc>
                <a:spcPct val="100000"/>
              </a:lnSpc>
              <a:spcBef>
                <a:spcPts val="500"/>
              </a:spcBef>
              <a:tabLst/>
              <a:defRPr sz="2200">
                <a:solidFill>
                  <a:srgbClr val="000000"/>
                </a:solidFill>
              </a:defRPr>
            </a:lvl3pPr>
            <a:lvl4pPr marL="1440000" indent="-360000" defTabSz="584200">
              <a:lnSpc>
                <a:spcPct val="100000"/>
              </a:lnSpc>
              <a:spcBef>
                <a:spcPts val="500"/>
              </a:spcBef>
              <a:buFontTx/>
              <a:tabLst/>
              <a:defRPr sz="2200">
                <a:solidFill>
                  <a:srgbClr val="000000"/>
                </a:solidFill>
              </a:defRPr>
            </a:lvl4pPr>
            <a:lvl5pPr marL="1799999" indent="-360000" defTabSz="584200">
              <a:lnSpc>
                <a:spcPct val="100000"/>
              </a:lnSpc>
              <a:spcBef>
                <a:spcPts val="500"/>
              </a:spcBef>
              <a:buFontTx/>
              <a:tabLst/>
              <a:defRPr sz="22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56" name="Shape 56"/>
          <p:cNvSpPr>
            <a:spLocks noGrp="1"/>
          </p:cNvSpPr>
          <p:nvPr>
            <p:ph type="sldNum" sz="quarter" idx="2"/>
          </p:nvPr>
        </p:nvSpPr>
        <p:spPr>
          <a:xfrm>
            <a:off x="6324600" y="9258300"/>
            <a:ext cx="342900" cy="368300"/>
          </a:xfrm>
          <a:prstGeom prst="rect">
            <a:avLst/>
          </a:prstGeom>
        </p:spPr>
        <p:txBody>
          <a:bodyPr lIns="50800" tIns="50800" rIns="50800" bIns="50800"/>
          <a:lstStyle>
            <a:lvl1pPr defTabSz="584200">
              <a:lnSpc>
                <a:spcPct val="100000"/>
              </a:lnSpc>
              <a:tabLst/>
              <a:defRPr sz="1800">
                <a:solidFill>
                  <a:srgbClr val="000000"/>
                </a:solidFill>
                <a:latin typeface="Gill Sans"/>
                <a:ea typeface="Gill Sans"/>
                <a:cs typeface="Gill Sans"/>
                <a:sym typeface="Gill Sans"/>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hyperlink" Target="http://www.biozone.com.au" TargetMode="External"/><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0" y="0"/>
            <a:ext cx="13017500" cy="9753600"/>
          </a:xfrm>
          <a:prstGeom prst="rect">
            <a:avLst/>
          </a:prstGeom>
          <a:gradFill>
            <a:gsLst>
              <a:gs pos="0">
                <a:srgbClr val="006994"/>
              </a:gs>
              <a:gs pos="62694">
                <a:srgbClr val="3EA2CC"/>
              </a:gs>
              <a:gs pos="100000">
                <a:srgbClr val="76D6FF"/>
              </a:gs>
            </a:gsLst>
            <a:lin ang="1620000"/>
          </a:gradFill>
          <a:ln w="25400">
            <a:miter lim="400000"/>
          </a:ln>
        </p:spPr>
        <p:txBody>
          <a:bodyPr lIns="0" tIns="0" rIns="0" bIns="0" anchor="ctr"/>
          <a:lstStyle/>
          <a:p>
            <a:pPr marL="0" defTabSz="584200">
              <a:tabLst/>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3" name="Shape 3"/>
          <p:cNvSpPr/>
          <p:nvPr/>
        </p:nvSpPr>
        <p:spPr>
          <a:xfrm>
            <a:off x="-12700" y="8001000"/>
            <a:ext cx="13035992" cy="1772920"/>
          </a:xfrm>
          <a:custGeom>
            <a:avLst/>
            <a:gdLst/>
            <a:ahLst/>
            <a:cxnLst>
              <a:cxn ang="0">
                <a:pos x="wd2" y="hd2"/>
              </a:cxn>
              <a:cxn ang="5400000">
                <a:pos x="wd2" y="hd2"/>
              </a:cxn>
              <a:cxn ang="10800000">
                <a:pos x="wd2" y="hd2"/>
              </a:cxn>
              <a:cxn ang="16200000">
                <a:pos x="wd2" y="hd2"/>
              </a:cxn>
            </a:cxnLst>
            <a:rect l="0" t="0" r="r" b="b"/>
            <a:pathLst>
              <a:path w="21600" h="20382" extrusionOk="0">
                <a:moveTo>
                  <a:pt x="3" y="4435"/>
                </a:moveTo>
                <a:cubicBezTo>
                  <a:pt x="3" y="4435"/>
                  <a:pt x="61" y="4261"/>
                  <a:pt x="79" y="4247"/>
                </a:cubicBezTo>
                <a:cubicBezTo>
                  <a:pt x="6196" y="-358"/>
                  <a:pt x="14555" y="-1218"/>
                  <a:pt x="21509" y="1666"/>
                </a:cubicBezTo>
                <a:cubicBezTo>
                  <a:pt x="21539" y="1679"/>
                  <a:pt x="21600" y="1704"/>
                  <a:pt x="21600" y="1704"/>
                </a:cubicBezTo>
                <a:lnTo>
                  <a:pt x="21590" y="20382"/>
                </a:lnTo>
                <a:lnTo>
                  <a:pt x="0" y="20382"/>
                </a:lnTo>
                <a:lnTo>
                  <a:pt x="3" y="4435"/>
                </a:lnTo>
                <a:close/>
              </a:path>
            </a:pathLst>
          </a:custGeom>
          <a:solidFill>
            <a:srgbClr val="000000"/>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4" name="BIOZONE_logo_horizontal_on_Black.png"/>
          <p:cNvPicPr>
            <a:picLocks noChangeAspect="1"/>
          </p:cNvPicPr>
          <p:nvPr/>
        </p:nvPicPr>
        <p:blipFill>
          <a:blip r:embed="rId7">
            <a:extLst/>
          </a:blip>
          <a:stretch>
            <a:fillRect/>
          </a:stretch>
        </p:blipFill>
        <p:spPr>
          <a:xfrm>
            <a:off x="1231900" y="8610081"/>
            <a:ext cx="3632200" cy="815393"/>
          </a:xfrm>
          <a:prstGeom prst="rect">
            <a:avLst/>
          </a:prstGeom>
          <a:ln w="12700">
            <a:miter lim="400000"/>
          </a:ln>
        </p:spPr>
      </p:pic>
      <p:sp>
        <p:nvSpPr>
          <p:cNvPr id="5" name="Shape 5"/>
          <p:cNvSpPr/>
          <p:nvPr/>
        </p:nvSpPr>
        <p:spPr>
          <a:xfrm>
            <a:off x="5791200" y="8775700"/>
            <a:ext cx="2641600" cy="636424"/>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a:lnSpc>
                <a:spcPct val="40000"/>
              </a:lnSpc>
              <a:spcBef>
                <a:spcPts val="1400"/>
              </a:spcBef>
              <a:tabLst>
                <a:tab pos="520700" algn="l"/>
              </a:tabLst>
              <a:defRPr sz="2200">
                <a:solidFill>
                  <a:srgbClr val="483F36"/>
                </a:solidFill>
              </a:defRPr>
            </a:pPr>
            <a:r>
              <a:rPr>
                <a:solidFill>
                  <a:srgbClr val="FFFFFF"/>
                </a:solidFill>
              </a:rPr>
              <a:t>Copyright © 2017</a:t>
            </a:r>
          </a:p>
          <a:p>
            <a:pPr>
              <a:lnSpc>
                <a:spcPct val="40000"/>
              </a:lnSpc>
              <a:spcBef>
                <a:spcPts val="1400"/>
              </a:spcBef>
              <a:tabLst>
                <a:tab pos="520700" algn="l"/>
              </a:tabLst>
              <a:defRPr sz="2200">
                <a:solidFill>
                  <a:srgbClr val="483F36"/>
                </a:solidFill>
              </a:defRPr>
            </a:pPr>
            <a:r>
              <a:rPr>
                <a:solidFill>
                  <a:srgbClr val="FFFFFF"/>
                </a:solidFill>
              </a:rPr>
              <a:t>All rights reserved</a:t>
            </a:r>
          </a:p>
        </p:txBody>
      </p:sp>
      <p:sp>
        <p:nvSpPr>
          <p:cNvPr id="6" name="Shape 6"/>
          <p:cNvSpPr/>
          <p:nvPr/>
        </p:nvSpPr>
        <p:spPr>
          <a:xfrm>
            <a:off x="8382000" y="8775700"/>
            <a:ext cx="4038600" cy="636424"/>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a:lnSpc>
                <a:spcPct val="40000"/>
              </a:lnSpc>
              <a:spcBef>
                <a:spcPts val="1400"/>
              </a:spcBef>
              <a:tabLst>
                <a:tab pos="520700" algn="l"/>
              </a:tabLst>
              <a:defRPr sz="2200">
                <a:solidFill>
                  <a:srgbClr val="483F36"/>
                </a:solidFill>
              </a:defRPr>
            </a:pPr>
            <a:r>
              <a:rPr b="1">
                <a:solidFill>
                  <a:srgbClr val="FFFFFF"/>
                </a:solidFill>
              </a:rPr>
              <a:t>BIOZONE International Ltd</a:t>
            </a:r>
            <a:endParaRPr>
              <a:solidFill>
                <a:srgbClr val="FFFFFF"/>
              </a:solidFill>
            </a:endParaRPr>
          </a:p>
          <a:p>
            <a:pPr>
              <a:lnSpc>
                <a:spcPct val="40000"/>
              </a:lnSpc>
              <a:spcBef>
                <a:spcPts val="1400"/>
              </a:spcBef>
              <a:tabLst>
                <a:tab pos="520700" algn="l"/>
              </a:tabLst>
              <a:defRPr sz="2200">
                <a:solidFill>
                  <a:srgbClr val="483F36"/>
                </a:solidFill>
              </a:defRPr>
            </a:pPr>
            <a:r>
              <a:rPr u="sng">
                <a:solidFill>
                  <a:srgbClr val="FFFFFF"/>
                </a:solidFill>
                <a:hlinkClick r:id="rId8"/>
              </a:rPr>
              <a:t>http://www.biozone.com.au</a:t>
            </a:r>
          </a:p>
        </p:txBody>
      </p:sp>
      <p:sp>
        <p:nvSpPr>
          <p:cNvPr id="7" name="Shape 7"/>
          <p:cNvSpPr>
            <a:spLocks noGrp="1"/>
          </p:cNvSpPr>
          <p:nvPr>
            <p:ph type="title"/>
          </p:nvPr>
        </p:nvSpPr>
        <p:spPr>
          <a:xfrm>
            <a:off x="719999" y="359999"/>
            <a:ext cx="11912601" cy="1943101"/>
          </a:xfrm>
          <a:prstGeom prst="rect">
            <a:avLst/>
          </a:prstGeom>
          <a:ln w="12700">
            <a:miter lim="400000"/>
          </a:ln>
          <a:extLst>
            <a:ext uri="{C572A759-6A51-4108-AA02-DFA0A04FC94B}">
              <ma14:wrappingTextBoxFlag xmlns="" xmlns:ma14="http://schemas.microsoft.com/office/mac/drawingml/2011/main" val="1"/>
            </a:ext>
          </a:extLst>
        </p:spPr>
        <p:txBody>
          <a:bodyPr lIns="0" tIns="0" rIns="0" bIns="0"/>
          <a:lstStyle>
            <a:lvl1pPr>
              <a:tabLst>
                <a:tab pos="952500" algn="l"/>
              </a:tabLst>
            </a:lvl1pPr>
          </a:lstStyle>
          <a:p>
            <a:r>
              <a:t>Title Text</a:t>
            </a:r>
          </a:p>
        </p:txBody>
      </p:sp>
      <p:sp>
        <p:nvSpPr>
          <p:cNvPr id="8" name="Shape 8"/>
          <p:cNvSpPr>
            <a:spLocks noGrp="1"/>
          </p:cNvSpPr>
          <p:nvPr>
            <p:ph type="body" idx="1"/>
          </p:nvPr>
        </p:nvSpPr>
        <p:spPr>
          <a:xfrm>
            <a:off x="728300" y="1800000"/>
            <a:ext cx="10566401" cy="6273801"/>
          </a:xfrm>
          <a:prstGeom prst="rect">
            <a:avLst/>
          </a:prstGeom>
          <a:ln w="12700">
            <a:miter lim="400000"/>
          </a:ln>
          <a:extLst>
            <a:ext uri="{C572A759-6A51-4108-AA02-DFA0A04FC94B}">
              <ma14:wrappingTextBoxFlag xmlns="" xmlns:ma14="http://schemas.microsoft.com/office/mac/drawingml/2011/main" val="1"/>
            </a:ext>
          </a:extLst>
        </p:spPr>
        <p:txBody>
          <a:bodyPr lIns="0" tIns="0" rIns="0" bIns="0"/>
          <a:lstStyle>
            <a:lvl1pPr>
              <a:tabLst>
                <a:tab pos="1016000" algn="l"/>
              </a:tabLst>
            </a:lvl1pPr>
            <a:lvl2pPr marL="633599" indent="-252000">
              <a:lnSpc>
                <a:spcPts val="1400"/>
              </a:lnSpc>
              <a:spcBef>
                <a:spcPts val="600"/>
              </a:spcBef>
              <a:buClrTx/>
              <a:buSzPct val="150000"/>
              <a:buFontTx/>
              <a:buChar char="•"/>
              <a:tabLst>
                <a:tab pos="1485900" algn="l"/>
              </a:tabLst>
              <a:defRPr sz="1200"/>
            </a:lvl2pPr>
            <a:lvl3pPr marL="900000" indent="-252000">
              <a:lnSpc>
                <a:spcPts val="1400"/>
              </a:lnSpc>
              <a:spcBef>
                <a:spcPts val="600"/>
              </a:spcBef>
              <a:buClrTx/>
              <a:buSzPct val="100000"/>
              <a:buFontTx/>
              <a:buChar char="•"/>
              <a:tabLst>
                <a:tab pos="1638300" algn="l"/>
              </a:tabLst>
              <a:defRPr sz="1200"/>
            </a:lvl3pPr>
            <a:lvl4pPr marL="1152000" indent="-252000">
              <a:lnSpc>
                <a:spcPts val="1400"/>
              </a:lnSpc>
              <a:spcBef>
                <a:spcPts val="600"/>
              </a:spcBef>
              <a:buClrTx/>
              <a:buSzPct val="100000"/>
              <a:buFont typeface="Gill Sans"/>
              <a:buChar char="•"/>
              <a:tabLst>
                <a:tab pos="2235200" algn="l"/>
              </a:tabLst>
              <a:defRPr sz="1200"/>
            </a:lvl4pPr>
            <a:lvl5pPr marL="1403999" indent="-252000">
              <a:lnSpc>
                <a:spcPts val="1400"/>
              </a:lnSpc>
              <a:spcBef>
                <a:spcPts val="600"/>
              </a:spcBef>
              <a:buClrTx/>
              <a:buSzPct val="100000"/>
              <a:buFont typeface="Gill Sans"/>
              <a:buChar char="•"/>
              <a:tabLst>
                <a:tab pos="2616200" algn="l"/>
              </a:tabLst>
              <a:defRPr sz="1200"/>
            </a:lvl5pPr>
          </a:lstStyle>
          <a:p>
            <a:r>
              <a:t>Body Level One</a:t>
            </a:r>
          </a:p>
          <a:p>
            <a:pPr lvl="1"/>
            <a:r>
              <a:t>Body Level Two</a:t>
            </a:r>
          </a:p>
          <a:p>
            <a:pPr lvl="2"/>
            <a:r>
              <a:t>Body Level Three</a:t>
            </a:r>
          </a:p>
          <a:p>
            <a:pPr lvl="3"/>
            <a:r>
              <a:t>Body Level Four</a:t>
            </a:r>
          </a:p>
          <a:p>
            <a:pPr lvl="4"/>
            <a:r>
              <a:t>Body Level Five</a:t>
            </a:r>
          </a:p>
        </p:txBody>
      </p:sp>
      <p:sp>
        <p:nvSpPr>
          <p:cNvPr id="9" name="Shape 9"/>
          <p:cNvSpPr>
            <a:spLocks noGrp="1"/>
          </p:cNvSpPr>
          <p:nvPr>
            <p:ph type="sldNum" sz="quarter" idx="2"/>
          </p:nvPr>
        </p:nvSpPr>
        <p:spPr>
          <a:xfrm>
            <a:off x="4967288" y="7245350"/>
            <a:ext cx="212726" cy="228600"/>
          </a:xfrm>
          <a:prstGeom prst="rect">
            <a:avLst/>
          </a:prstGeom>
          <a:ln w="12700">
            <a:miter lim="400000"/>
          </a:ln>
        </p:spPr>
        <p:txBody>
          <a:bodyPr wrap="none" lIns="38100" tIns="38100" rIns="38100" bIns="38100">
            <a:spAutoFit/>
          </a:bodyPr>
          <a:lstStyle>
            <a:lvl1pPr marL="0" algn="ctr">
              <a:lnSpc>
                <a:spcPts val="1200"/>
              </a:lnSpc>
              <a:tabLst>
                <a:tab pos="838200" algn="l"/>
              </a:tabLst>
              <a:defRPr sz="1000">
                <a:solidFill>
                  <a:srgbClr val="483F36"/>
                </a:solidFill>
                <a:latin typeface="Hoefler Text"/>
                <a:ea typeface="Hoefler Text"/>
                <a:cs typeface="Hoefler Text"/>
                <a:sym typeface="Hoefler Text"/>
              </a:defRPr>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spd="med"/>
  <p:txStyles>
    <p:titleStyle>
      <a:lvl1pPr marL="0" marR="0" indent="0" algn="l" defTabSz="457200" latinLnBrk="0">
        <a:lnSpc>
          <a:spcPct val="90000"/>
        </a:lnSpc>
        <a:spcBef>
          <a:spcPts val="0"/>
        </a:spcBef>
        <a:spcAft>
          <a:spcPts val="0"/>
        </a:spcAft>
        <a:buClrTx/>
        <a:buSzTx/>
        <a:buFontTx/>
        <a:buNone/>
        <a:tabLst>
          <a:tab pos="952500" algn="l"/>
        </a:tabLst>
        <a:defRPr sz="6400" b="1" i="0" u="none" strike="noStrike" cap="none" spc="0" baseline="0">
          <a:ln>
            <a:noFill/>
          </a:ln>
          <a:solidFill>
            <a:srgbClr val="FFFFFF"/>
          </a:solidFill>
          <a:uFillTx/>
          <a:latin typeface="+mn-lt"/>
          <a:ea typeface="+mn-ea"/>
          <a:cs typeface="+mn-cs"/>
          <a:sym typeface="Arial"/>
        </a:defRPr>
      </a:lvl1pPr>
      <a:lvl2pPr marL="0" marR="0" indent="228600" algn="l" defTabSz="457200" latinLnBrk="0">
        <a:lnSpc>
          <a:spcPct val="90000"/>
        </a:lnSpc>
        <a:spcBef>
          <a:spcPts val="0"/>
        </a:spcBef>
        <a:spcAft>
          <a:spcPts val="0"/>
        </a:spcAft>
        <a:buClrTx/>
        <a:buSzTx/>
        <a:buFontTx/>
        <a:buNone/>
        <a:tabLst>
          <a:tab pos="952500" algn="l"/>
        </a:tabLst>
        <a:defRPr sz="6400" b="1" i="0" u="none" strike="noStrike" cap="none" spc="0" baseline="0">
          <a:ln>
            <a:noFill/>
          </a:ln>
          <a:solidFill>
            <a:srgbClr val="FFFFFF"/>
          </a:solidFill>
          <a:uFillTx/>
          <a:latin typeface="+mn-lt"/>
          <a:ea typeface="+mn-ea"/>
          <a:cs typeface="+mn-cs"/>
          <a:sym typeface="Arial"/>
        </a:defRPr>
      </a:lvl2pPr>
      <a:lvl3pPr marL="0" marR="0" indent="457200" algn="l" defTabSz="457200" latinLnBrk="0">
        <a:lnSpc>
          <a:spcPct val="90000"/>
        </a:lnSpc>
        <a:spcBef>
          <a:spcPts val="0"/>
        </a:spcBef>
        <a:spcAft>
          <a:spcPts val="0"/>
        </a:spcAft>
        <a:buClrTx/>
        <a:buSzTx/>
        <a:buFontTx/>
        <a:buNone/>
        <a:tabLst>
          <a:tab pos="952500" algn="l"/>
        </a:tabLst>
        <a:defRPr sz="6400" b="1" i="0" u="none" strike="noStrike" cap="none" spc="0" baseline="0">
          <a:ln>
            <a:noFill/>
          </a:ln>
          <a:solidFill>
            <a:srgbClr val="FFFFFF"/>
          </a:solidFill>
          <a:uFillTx/>
          <a:latin typeface="+mn-lt"/>
          <a:ea typeface="+mn-ea"/>
          <a:cs typeface="+mn-cs"/>
          <a:sym typeface="Arial"/>
        </a:defRPr>
      </a:lvl3pPr>
      <a:lvl4pPr marL="0" marR="0" indent="685800" algn="l" defTabSz="457200" latinLnBrk="0">
        <a:lnSpc>
          <a:spcPct val="90000"/>
        </a:lnSpc>
        <a:spcBef>
          <a:spcPts val="0"/>
        </a:spcBef>
        <a:spcAft>
          <a:spcPts val="0"/>
        </a:spcAft>
        <a:buClrTx/>
        <a:buSzTx/>
        <a:buFontTx/>
        <a:buNone/>
        <a:tabLst>
          <a:tab pos="952500" algn="l"/>
        </a:tabLst>
        <a:defRPr sz="6400" b="1" i="0" u="none" strike="noStrike" cap="none" spc="0" baseline="0">
          <a:ln>
            <a:noFill/>
          </a:ln>
          <a:solidFill>
            <a:srgbClr val="FFFFFF"/>
          </a:solidFill>
          <a:uFillTx/>
          <a:latin typeface="+mn-lt"/>
          <a:ea typeface="+mn-ea"/>
          <a:cs typeface="+mn-cs"/>
          <a:sym typeface="Arial"/>
        </a:defRPr>
      </a:lvl4pPr>
      <a:lvl5pPr marL="0" marR="0" indent="914400" algn="l" defTabSz="457200" latinLnBrk="0">
        <a:lnSpc>
          <a:spcPct val="90000"/>
        </a:lnSpc>
        <a:spcBef>
          <a:spcPts val="0"/>
        </a:spcBef>
        <a:spcAft>
          <a:spcPts val="0"/>
        </a:spcAft>
        <a:buClrTx/>
        <a:buSzTx/>
        <a:buFontTx/>
        <a:buNone/>
        <a:tabLst>
          <a:tab pos="952500" algn="l"/>
        </a:tabLst>
        <a:defRPr sz="6400" b="1" i="0" u="none" strike="noStrike" cap="none" spc="0" baseline="0">
          <a:ln>
            <a:noFill/>
          </a:ln>
          <a:solidFill>
            <a:srgbClr val="FFFFFF"/>
          </a:solidFill>
          <a:uFillTx/>
          <a:latin typeface="+mn-lt"/>
          <a:ea typeface="+mn-ea"/>
          <a:cs typeface="+mn-cs"/>
          <a:sym typeface="Arial"/>
        </a:defRPr>
      </a:lvl5pPr>
      <a:lvl6pPr marL="0" marR="0" indent="1143000" algn="l" defTabSz="457200" latinLnBrk="0">
        <a:lnSpc>
          <a:spcPct val="90000"/>
        </a:lnSpc>
        <a:spcBef>
          <a:spcPts val="0"/>
        </a:spcBef>
        <a:spcAft>
          <a:spcPts val="0"/>
        </a:spcAft>
        <a:buClrTx/>
        <a:buSzTx/>
        <a:buFontTx/>
        <a:buNone/>
        <a:tabLst>
          <a:tab pos="952500" algn="l"/>
        </a:tabLst>
        <a:defRPr sz="6400" b="1" i="0" u="none" strike="noStrike" cap="none" spc="0" baseline="0">
          <a:ln>
            <a:noFill/>
          </a:ln>
          <a:solidFill>
            <a:srgbClr val="FFFFFF"/>
          </a:solidFill>
          <a:uFillTx/>
          <a:latin typeface="+mn-lt"/>
          <a:ea typeface="+mn-ea"/>
          <a:cs typeface="+mn-cs"/>
          <a:sym typeface="Arial"/>
        </a:defRPr>
      </a:lvl6pPr>
      <a:lvl7pPr marL="0" marR="0" indent="1371600" algn="l" defTabSz="457200" latinLnBrk="0">
        <a:lnSpc>
          <a:spcPct val="90000"/>
        </a:lnSpc>
        <a:spcBef>
          <a:spcPts val="0"/>
        </a:spcBef>
        <a:spcAft>
          <a:spcPts val="0"/>
        </a:spcAft>
        <a:buClrTx/>
        <a:buSzTx/>
        <a:buFontTx/>
        <a:buNone/>
        <a:tabLst>
          <a:tab pos="952500" algn="l"/>
        </a:tabLst>
        <a:defRPr sz="6400" b="1" i="0" u="none" strike="noStrike" cap="none" spc="0" baseline="0">
          <a:ln>
            <a:noFill/>
          </a:ln>
          <a:solidFill>
            <a:srgbClr val="FFFFFF"/>
          </a:solidFill>
          <a:uFillTx/>
          <a:latin typeface="+mn-lt"/>
          <a:ea typeface="+mn-ea"/>
          <a:cs typeface="+mn-cs"/>
          <a:sym typeface="Arial"/>
        </a:defRPr>
      </a:lvl7pPr>
      <a:lvl8pPr marL="0" marR="0" indent="1600200" algn="l" defTabSz="457200" latinLnBrk="0">
        <a:lnSpc>
          <a:spcPct val="90000"/>
        </a:lnSpc>
        <a:spcBef>
          <a:spcPts val="0"/>
        </a:spcBef>
        <a:spcAft>
          <a:spcPts val="0"/>
        </a:spcAft>
        <a:buClrTx/>
        <a:buSzTx/>
        <a:buFontTx/>
        <a:buNone/>
        <a:tabLst>
          <a:tab pos="952500" algn="l"/>
        </a:tabLst>
        <a:defRPr sz="6400" b="1" i="0" u="none" strike="noStrike" cap="none" spc="0" baseline="0">
          <a:ln>
            <a:noFill/>
          </a:ln>
          <a:solidFill>
            <a:srgbClr val="FFFFFF"/>
          </a:solidFill>
          <a:uFillTx/>
          <a:latin typeface="+mn-lt"/>
          <a:ea typeface="+mn-ea"/>
          <a:cs typeface="+mn-cs"/>
          <a:sym typeface="Arial"/>
        </a:defRPr>
      </a:lvl8pPr>
      <a:lvl9pPr marL="0" marR="0" indent="1828800" algn="l" defTabSz="457200" latinLnBrk="0">
        <a:lnSpc>
          <a:spcPct val="90000"/>
        </a:lnSpc>
        <a:spcBef>
          <a:spcPts val="0"/>
        </a:spcBef>
        <a:spcAft>
          <a:spcPts val="0"/>
        </a:spcAft>
        <a:buClrTx/>
        <a:buSzTx/>
        <a:buFontTx/>
        <a:buNone/>
        <a:tabLst>
          <a:tab pos="952500" algn="l"/>
        </a:tabLst>
        <a:defRPr sz="6400" b="1" i="0" u="none" strike="noStrike" cap="none" spc="0" baseline="0">
          <a:ln>
            <a:noFill/>
          </a:ln>
          <a:solidFill>
            <a:srgbClr val="FFFFFF"/>
          </a:solidFill>
          <a:uFillTx/>
          <a:latin typeface="+mn-lt"/>
          <a:ea typeface="+mn-ea"/>
          <a:cs typeface="+mn-cs"/>
          <a:sym typeface="Arial"/>
        </a:defRPr>
      </a:lvl9pPr>
    </p:titleStyle>
    <p:bodyStyle>
      <a:lvl1pPr marL="381000" marR="0" indent="-381000" algn="l" defTabSz="457200" latinLnBrk="0">
        <a:lnSpc>
          <a:spcPts val="1900"/>
        </a:lnSpc>
        <a:spcBef>
          <a:spcPts val="2000"/>
        </a:spcBef>
        <a:spcAft>
          <a:spcPts val="0"/>
        </a:spcAft>
        <a:buClr>
          <a:srgbClr val="FFFFFF"/>
        </a:buClr>
        <a:buSzPct val="200000"/>
        <a:buFont typeface="Lucida Grande"/>
        <a:buChar char="‣"/>
        <a:tabLst>
          <a:tab pos="1016000" algn="l"/>
        </a:tabLst>
        <a:defRPr sz="1600" b="0" i="0" u="none" strike="noStrike" cap="none" spc="0" baseline="0">
          <a:ln>
            <a:noFill/>
          </a:ln>
          <a:solidFill>
            <a:srgbClr val="FFFFFF"/>
          </a:solidFill>
          <a:uFillTx/>
          <a:latin typeface="+mn-lt"/>
          <a:ea typeface="+mn-ea"/>
          <a:cs typeface="+mn-cs"/>
          <a:sym typeface="Arial"/>
        </a:defRPr>
      </a:lvl1pPr>
      <a:lvl2pPr marL="717599" marR="0" indent="-336000" algn="l" defTabSz="457200" latinLnBrk="0">
        <a:lnSpc>
          <a:spcPts val="1900"/>
        </a:lnSpc>
        <a:spcBef>
          <a:spcPts val="2000"/>
        </a:spcBef>
        <a:spcAft>
          <a:spcPts val="0"/>
        </a:spcAft>
        <a:buClr>
          <a:srgbClr val="FFFFFF"/>
        </a:buClr>
        <a:buSzPct val="200000"/>
        <a:buFont typeface="Lucida Grande"/>
        <a:buChar char="‣"/>
        <a:tabLst>
          <a:tab pos="1016000" algn="l"/>
        </a:tabLst>
        <a:defRPr sz="1600" b="0" i="0" u="none" strike="noStrike" cap="none" spc="0" baseline="0">
          <a:ln>
            <a:noFill/>
          </a:ln>
          <a:solidFill>
            <a:srgbClr val="FFFFFF"/>
          </a:solidFill>
          <a:uFillTx/>
          <a:latin typeface="+mn-lt"/>
          <a:ea typeface="+mn-ea"/>
          <a:cs typeface="+mn-cs"/>
          <a:sym typeface="Arial"/>
        </a:defRPr>
      </a:lvl2pPr>
      <a:lvl3pPr marL="984000" marR="0" indent="-336000" algn="l" defTabSz="457200" latinLnBrk="0">
        <a:lnSpc>
          <a:spcPts val="1900"/>
        </a:lnSpc>
        <a:spcBef>
          <a:spcPts val="2000"/>
        </a:spcBef>
        <a:spcAft>
          <a:spcPts val="0"/>
        </a:spcAft>
        <a:buClr>
          <a:srgbClr val="FFFFFF"/>
        </a:buClr>
        <a:buSzPct val="200000"/>
        <a:buFont typeface="Lucida Grande"/>
        <a:buChar char="‣"/>
        <a:tabLst>
          <a:tab pos="1016000" algn="l"/>
        </a:tabLst>
        <a:defRPr sz="1600" b="0" i="0" u="none" strike="noStrike" cap="none" spc="0" baseline="0">
          <a:ln>
            <a:noFill/>
          </a:ln>
          <a:solidFill>
            <a:srgbClr val="FFFFFF"/>
          </a:solidFill>
          <a:uFillTx/>
          <a:latin typeface="+mn-lt"/>
          <a:ea typeface="+mn-ea"/>
          <a:cs typeface="+mn-cs"/>
          <a:sym typeface="Arial"/>
        </a:defRPr>
      </a:lvl3pPr>
      <a:lvl4pPr marL="1236000" marR="0" indent="-336000" algn="l" defTabSz="457200" latinLnBrk="0">
        <a:lnSpc>
          <a:spcPts val="1900"/>
        </a:lnSpc>
        <a:spcBef>
          <a:spcPts val="2000"/>
        </a:spcBef>
        <a:spcAft>
          <a:spcPts val="0"/>
        </a:spcAft>
        <a:buClr>
          <a:srgbClr val="FFFFFF"/>
        </a:buClr>
        <a:buSzPct val="200000"/>
        <a:buFont typeface="Lucida Grande"/>
        <a:buChar char="‣"/>
        <a:tabLst>
          <a:tab pos="1016000" algn="l"/>
        </a:tabLst>
        <a:defRPr sz="1600" b="0" i="0" u="none" strike="noStrike" cap="none" spc="0" baseline="0">
          <a:ln>
            <a:noFill/>
          </a:ln>
          <a:solidFill>
            <a:srgbClr val="FFFFFF"/>
          </a:solidFill>
          <a:uFillTx/>
          <a:latin typeface="+mn-lt"/>
          <a:ea typeface="+mn-ea"/>
          <a:cs typeface="+mn-cs"/>
          <a:sym typeface="Arial"/>
        </a:defRPr>
      </a:lvl4pPr>
      <a:lvl5pPr marL="1487999" marR="0" indent="-336000" algn="l" defTabSz="457200" latinLnBrk="0">
        <a:lnSpc>
          <a:spcPts val="1900"/>
        </a:lnSpc>
        <a:spcBef>
          <a:spcPts val="2000"/>
        </a:spcBef>
        <a:spcAft>
          <a:spcPts val="0"/>
        </a:spcAft>
        <a:buClr>
          <a:srgbClr val="FFFFFF"/>
        </a:buClr>
        <a:buSzPct val="200000"/>
        <a:buFont typeface="Lucida Grande"/>
        <a:buChar char="‣"/>
        <a:tabLst>
          <a:tab pos="1016000" algn="l"/>
        </a:tabLst>
        <a:defRPr sz="1600" b="0" i="0" u="none" strike="noStrike" cap="none" spc="0" baseline="0">
          <a:ln>
            <a:noFill/>
          </a:ln>
          <a:solidFill>
            <a:srgbClr val="FFFFFF"/>
          </a:solidFill>
          <a:uFillTx/>
          <a:latin typeface="+mn-lt"/>
          <a:ea typeface="+mn-ea"/>
          <a:cs typeface="+mn-cs"/>
          <a:sym typeface="Arial"/>
        </a:defRPr>
      </a:lvl5pPr>
      <a:lvl6pPr marL="1740000" marR="0" indent="-335999" algn="l" defTabSz="457200" latinLnBrk="0">
        <a:lnSpc>
          <a:spcPts val="1900"/>
        </a:lnSpc>
        <a:spcBef>
          <a:spcPts val="2000"/>
        </a:spcBef>
        <a:spcAft>
          <a:spcPts val="0"/>
        </a:spcAft>
        <a:buClr>
          <a:srgbClr val="FFFFFF"/>
        </a:buClr>
        <a:buSzPct val="200000"/>
        <a:buFont typeface="Lucida Grande"/>
        <a:buChar char="‣"/>
        <a:tabLst>
          <a:tab pos="1016000" algn="l"/>
        </a:tabLst>
        <a:defRPr sz="1600" b="0" i="0" u="none" strike="noStrike" cap="none" spc="0" baseline="0">
          <a:ln>
            <a:noFill/>
          </a:ln>
          <a:solidFill>
            <a:srgbClr val="FFFFFF"/>
          </a:solidFill>
          <a:uFillTx/>
          <a:latin typeface="+mn-lt"/>
          <a:ea typeface="+mn-ea"/>
          <a:cs typeface="+mn-cs"/>
          <a:sym typeface="Arial"/>
        </a:defRPr>
      </a:lvl6pPr>
      <a:lvl7pPr marL="1992000" marR="0" indent="-336000" algn="l" defTabSz="457200" latinLnBrk="0">
        <a:lnSpc>
          <a:spcPts val="1900"/>
        </a:lnSpc>
        <a:spcBef>
          <a:spcPts val="2000"/>
        </a:spcBef>
        <a:spcAft>
          <a:spcPts val="0"/>
        </a:spcAft>
        <a:buClr>
          <a:srgbClr val="FFFFFF"/>
        </a:buClr>
        <a:buSzPct val="200000"/>
        <a:buFont typeface="Lucida Grande"/>
        <a:buChar char="‣"/>
        <a:tabLst>
          <a:tab pos="1016000" algn="l"/>
        </a:tabLst>
        <a:defRPr sz="1600" b="0" i="0" u="none" strike="noStrike" cap="none" spc="0" baseline="0">
          <a:ln>
            <a:noFill/>
          </a:ln>
          <a:solidFill>
            <a:srgbClr val="FFFFFF"/>
          </a:solidFill>
          <a:uFillTx/>
          <a:latin typeface="+mn-lt"/>
          <a:ea typeface="+mn-ea"/>
          <a:cs typeface="+mn-cs"/>
          <a:sym typeface="Arial"/>
        </a:defRPr>
      </a:lvl7pPr>
      <a:lvl8pPr marL="2243999" marR="0" indent="-336000" algn="l" defTabSz="457200" latinLnBrk="0">
        <a:lnSpc>
          <a:spcPts val="1900"/>
        </a:lnSpc>
        <a:spcBef>
          <a:spcPts val="2000"/>
        </a:spcBef>
        <a:spcAft>
          <a:spcPts val="0"/>
        </a:spcAft>
        <a:buClr>
          <a:srgbClr val="FFFFFF"/>
        </a:buClr>
        <a:buSzPct val="200000"/>
        <a:buFont typeface="Lucida Grande"/>
        <a:buChar char="‣"/>
        <a:tabLst>
          <a:tab pos="1016000" algn="l"/>
        </a:tabLst>
        <a:defRPr sz="1600" b="0" i="0" u="none" strike="noStrike" cap="none" spc="0" baseline="0">
          <a:ln>
            <a:noFill/>
          </a:ln>
          <a:solidFill>
            <a:srgbClr val="FFFFFF"/>
          </a:solidFill>
          <a:uFillTx/>
          <a:latin typeface="+mn-lt"/>
          <a:ea typeface="+mn-ea"/>
          <a:cs typeface="+mn-cs"/>
          <a:sym typeface="Arial"/>
        </a:defRPr>
      </a:lvl8pPr>
      <a:lvl9pPr marL="2495999" marR="0" indent="-336000" algn="l" defTabSz="457200" latinLnBrk="0">
        <a:lnSpc>
          <a:spcPts val="1900"/>
        </a:lnSpc>
        <a:spcBef>
          <a:spcPts val="2000"/>
        </a:spcBef>
        <a:spcAft>
          <a:spcPts val="0"/>
        </a:spcAft>
        <a:buClr>
          <a:srgbClr val="FFFFFF"/>
        </a:buClr>
        <a:buSzPct val="200000"/>
        <a:buFont typeface="Lucida Grande"/>
        <a:buChar char="‣"/>
        <a:tabLst>
          <a:tab pos="1016000" algn="l"/>
        </a:tabLst>
        <a:defRPr sz="1600" b="0" i="0" u="none" strike="noStrike" cap="none" spc="0" baseline="0">
          <a:ln>
            <a:noFill/>
          </a:ln>
          <a:solidFill>
            <a:srgbClr val="FFFFFF"/>
          </a:solidFill>
          <a:uFillTx/>
          <a:latin typeface="+mn-lt"/>
          <a:ea typeface="+mn-ea"/>
          <a:cs typeface="+mn-cs"/>
          <a:sym typeface="Arial"/>
        </a:defRPr>
      </a:lvl9pPr>
    </p:bodyStyle>
    <p:otherStyle>
      <a:lvl1pPr marL="0" marR="0" indent="0" algn="ctr" defTabSz="457200" latinLnBrk="0">
        <a:lnSpc>
          <a:spcPts val="1200"/>
        </a:lnSpc>
        <a:spcBef>
          <a:spcPts val="0"/>
        </a:spcBef>
        <a:spcAft>
          <a:spcPts val="0"/>
        </a:spcAft>
        <a:buClrTx/>
        <a:buSzTx/>
        <a:buFontTx/>
        <a:buNone/>
        <a:tabLst>
          <a:tab pos="838200" algn="l"/>
        </a:tabLst>
        <a:defRPr sz="1000" b="0" i="0" u="none" strike="noStrike" cap="none" spc="0" baseline="0">
          <a:ln>
            <a:noFill/>
          </a:ln>
          <a:solidFill>
            <a:schemeClr val="tx1"/>
          </a:solidFill>
          <a:uFillTx/>
          <a:latin typeface="+mn-lt"/>
          <a:ea typeface="+mn-ea"/>
          <a:cs typeface="+mn-cs"/>
          <a:sym typeface="Hoefler Text"/>
        </a:defRPr>
      </a:lvl1pPr>
      <a:lvl2pPr marL="0" marR="0" indent="228600" algn="ctr" defTabSz="457200" latinLnBrk="0">
        <a:lnSpc>
          <a:spcPts val="1200"/>
        </a:lnSpc>
        <a:spcBef>
          <a:spcPts val="0"/>
        </a:spcBef>
        <a:spcAft>
          <a:spcPts val="0"/>
        </a:spcAft>
        <a:buClrTx/>
        <a:buSzTx/>
        <a:buFontTx/>
        <a:buNone/>
        <a:tabLst>
          <a:tab pos="838200" algn="l"/>
        </a:tabLst>
        <a:defRPr sz="1000" b="0" i="0" u="none" strike="noStrike" cap="none" spc="0" baseline="0">
          <a:ln>
            <a:noFill/>
          </a:ln>
          <a:solidFill>
            <a:schemeClr val="tx1"/>
          </a:solidFill>
          <a:uFillTx/>
          <a:latin typeface="+mn-lt"/>
          <a:ea typeface="+mn-ea"/>
          <a:cs typeface="+mn-cs"/>
          <a:sym typeface="Hoefler Text"/>
        </a:defRPr>
      </a:lvl2pPr>
      <a:lvl3pPr marL="0" marR="0" indent="457200" algn="ctr" defTabSz="457200" latinLnBrk="0">
        <a:lnSpc>
          <a:spcPts val="1200"/>
        </a:lnSpc>
        <a:spcBef>
          <a:spcPts val="0"/>
        </a:spcBef>
        <a:spcAft>
          <a:spcPts val="0"/>
        </a:spcAft>
        <a:buClrTx/>
        <a:buSzTx/>
        <a:buFontTx/>
        <a:buNone/>
        <a:tabLst>
          <a:tab pos="838200" algn="l"/>
        </a:tabLst>
        <a:defRPr sz="1000" b="0" i="0" u="none" strike="noStrike" cap="none" spc="0" baseline="0">
          <a:ln>
            <a:noFill/>
          </a:ln>
          <a:solidFill>
            <a:schemeClr val="tx1"/>
          </a:solidFill>
          <a:uFillTx/>
          <a:latin typeface="+mn-lt"/>
          <a:ea typeface="+mn-ea"/>
          <a:cs typeface="+mn-cs"/>
          <a:sym typeface="Hoefler Text"/>
        </a:defRPr>
      </a:lvl3pPr>
      <a:lvl4pPr marL="0" marR="0" indent="685800" algn="ctr" defTabSz="457200" latinLnBrk="0">
        <a:lnSpc>
          <a:spcPts val="1200"/>
        </a:lnSpc>
        <a:spcBef>
          <a:spcPts val="0"/>
        </a:spcBef>
        <a:spcAft>
          <a:spcPts val="0"/>
        </a:spcAft>
        <a:buClrTx/>
        <a:buSzTx/>
        <a:buFontTx/>
        <a:buNone/>
        <a:tabLst>
          <a:tab pos="838200" algn="l"/>
        </a:tabLst>
        <a:defRPr sz="1000" b="0" i="0" u="none" strike="noStrike" cap="none" spc="0" baseline="0">
          <a:ln>
            <a:noFill/>
          </a:ln>
          <a:solidFill>
            <a:schemeClr val="tx1"/>
          </a:solidFill>
          <a:uFillTx/>
          <a:latin typeface="+mn-lt"/>
          <a:ea typeface="+mn-ea"/>
          <a:cs typeface="+mn-cs"/>
          <a:sym typeface="Hoefler Text"/>
        </a:defRPr>
      </a:lvl4pPr>
      <a:lvl5pPr marL="0" marR="0" indent="914400" algn="ctr" defTabSz="457200" latinLnBrk="0">
        <a:lnSpc>
          <a:spcPts val="1200"/>
        </a:lnSpc>
        <a:spcBef>
          <a:spcPts val="0"/>
        </a:spcBef>
        <a:spcAft>
          <a:spcPts val="0"/>
        </a:spcAft>
        <a:buClrTx/>
        <a:buSzTx/>
        <a:buFontTx/>
        <a:buNone/>
        <a:tabLst>
          <a:tab pos="838200" algn="l"/>
        </a:tabLst>
        <a:defRPr sz="1000" b="0" i="0" u="none" strike="noStrike" cap="none" spc="0" baseline="0">
          <a:ln>
            <a:noFill/>
          </a:ln>
          <a:solidFill>
            <a:schemeClr val="tx1"/>
          </a:solidFill>
          <a:uFillTx/>
          <a:latin typeface="+mn-lt"/>
          <a:ea typeface="+mn-ea"/>
          <a:cs typeface="+mn-cs"/>
          <a:sym typeface="Hoefler Text"/>
        </a:defRPr>
      </a:lvl5pPr>
      <a:lvl6pPr marL="0" marR="0" indent="1143000" algn="ctr" defTabSz="457200" latinLnBrk="0">
        <a:lnSpc>
          <a:spcPts val="1200"/>
        </a:lnSpc>
        <a:spcBef>
          <a:spcPts val="0"/>
        </a:spcBef>
        <a:spcAft>
          <a:spcPts val="0"/>
        </a:spcAft>
        <a:buClrTx/>
        <a:buSzTx/>
        <a:buFontTx/>
        <a:buNone/>
        <a:tabLst>
          <a:tab pos="838200" algn="l"/>
        </a:tabLst>
        <a:defRPr sz="1000" b="0" i="0" u="none" strike="noStrike" cap="none" spc="0" baseline="0">
          <a:ln>
            <a:noFill/>
          </a:ln>
          <a:solidFill>
            <a:schemeClr val="tx1"/>
          </a:solidFill>
          <a:uFillTx/>
          <a:latin typeface="+mn-lt"/>
          <a:ea typeface="+mn-ea"/>
          <a:cs typeface="+mn-cs"/>
          <a:sym typeface="Hoefler Text"/>
        </a:defRPr>
      </a:lvl6pPr>
      <a:lvl7pPr marL="0" marR="0" indent="1371600" algn="ctr" defTabSz="457200" latinLnBrk="0">
        <a:lnSpc>
          <a:spcPts val="1200"/>
        </a:lnSpc>
        <a:spcBef>
          <a:spcPts val="0"/>
        </a:spcBef>
        <a:spcAft>
          <a:spcPts val="0"/>
        </a:spcAft>
        <a:buClrTx/>
        <a:buSzTx/>
        <a:buFontTx/>
        <a:buNone/>
        <a:tabLst>
          <a:tab pos="838200" algn="l"/>
        </a:tabLst>
        <a:defRPr sz="1000" b="0" i="0" u="none" strike="noStrike" cap="none" spc="0" baseline="0">
          <a:ln>
            <a:noFill/>
          </a:ln>
          <a:solidFill>
            <a:schemeClr val="tx1"/>
          </a:solidFill>
          <a:uFillTx/>
          <a:latin typeface="+mn-lt"/>
          <a:ea typeface="+mn-ea"/>
          <a:cs typeface="+mn-cs"/>
          <a:sym typeface="Hoefler Text"/>
        </a:defRPr>
      </a:lvl7pPr>
      <a:lvl8pPr marL="0" marR="0" indent="1600200" algn="ctr" defTabSz="457200" latinLnBrk="0">
        <a:lnSpc>
          <a:spcPts val="1200"/>
        </a:lnSpc>
        <a:spcBef>
          <a:spcPts val="0"/>
        </a:spcBef>
        <a:spcAft>
          <a:spcPts val="0"/>
        </a:spcAft>
        <a:buClrTx/>
        <a:buSzTx/>
        <a:buFontTx/>
        <a:buNone/>
        <a:tabLst>
          <a:tab pos="838200" algn="l"/>
        </a:tabLst>
        <a:defRPr sz="1000" b="0" i="0" u="none" strike="noStrike" cap="none" spc="0" baseline="0">
          <a:ln>
            <a:noFill/>
          </a:ln>
          <a:solidFill>
            <a:schemeClr val="tx1"/>
          </a:solidFill>
          <a:uFillTx/>
          <a:latin typeface="+mn-lt"/>
          <a:ea typeface="+mn-ea"/>
          <a:cs typeface="+mn-cs"/>
          <a:sym typeface="Hoefler Text"/>
        </a:defRPr>
      </a:lvl8pPr>
      <a:lvl9pPr marL="0" marR="0" indent="1828800" algn="ctr" defTabSz="457200" latinLnBrk="0">
        <a:lnSpc>
          <a:spcPts val="1200"/>
        </a:lnSpc>
        <a:spcBef>
          <a:spcPts val="0"/>
        </a:spcBef>
        <a:spcAft>
          <a:spcPts val="0"/>
        </a:spcAft>
        <a:buClrTx/>
        <a:buSzTx/>
        <a:buFontTx/>
        <a:buNone/>
        <a:tabLst>
          <a:tab pos="838200" algn="l"/>
        </a:tabLst>
        <a:defRPr sz="1000" b="0" i="0" u="none" strike="noStrike" cap="none" spc="0" baseline="0">
          <a:ln>
            <a:noFill/>
          </a:ln>
          <a:solidFill>
            <a:schemeClr val="tx1"/>
          </a:solidFill>
          <a:uFillTx/>
          <a:latin typeface="+mn-lt"/>
          <a:ea typeface="+mn-ea"/>
          <a:cs typeface="+mn-cs"/>
          <a:sym typeface="Hoefler Tex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30.xml"/><Relationship Id="rId3" Type="http://schemas.openxmlformats.org/officeDocument/2006/relationships/slide" Target="slide7.xml"/><Relationship Id="rId7" Type="http://schemas.openxmlformats.org/officeDocument/2006/relationships/slide" Target="slide4.xml"/><Relationship Id="rId2" Type="http://schemas.openxmlformats.org/officeDocument/2006/relationships/slide" Target="slide3.xml"/><Relationship Id="rId1" Type="http://schemas.openxmlformats.org/officeDocument/2006/relationships/slideLayout" Target="../slideLayouts/slideLayout5.xml"/><Relationship Id="rId6" Type="http://schemas.openxmlformats.org/officeDocument/2006/relationships/slide" Target="slide23.xml"/><Relationship Id="rId11" Type="http://schemas.openxmlformats.org/officeDocument/2006/relationships/slide" Target="slide42.xml"/><Relationship Id="rId5" Type="http://schemas.openxmlformats.org/officeDocument/2006/relationships/slide" Target="slide37.xml"/><Relationship Id="rId10" Type="http://schemas.openxmlformats.org/officeDocument/2006/relationships/slide" Target="slide40.xml"/><Relationship Id="rId4" Type="http://schemas.openxmlformats.org/officeDocument/2006/relationships/slide" Target="slide17.xml"/><Relationship Id="rId9" Type="http://schemas.openxmlformats.org/officeDocument/2006/relationships/slide" Target="slide31.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3.png"/><Relationship Id="rId2"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jpeg"/><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jpeg"/><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9.png"/><Relationship Id="rId4" Type="http://schemas.openxmlformats.org/officeDocument/2006/relationships/image" Target="../media/image28.emf"/></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34.png"/><Relationship Id="rId4" Type="http://schemas.openxmlformats.org/officeDocument/2006/relationships/image" Target="../media/image33.emf"/></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jpeg"/><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jpeg"/><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jpeg"/><Relationship Id="rId1" Type="http://schemas.openxmlformats.org/officeDocument/2006/relationships/slideLayout" Target="../slideLayouts/slideLayout1.xml"/><Relationship Id="rId5" Type="http://schemas.openxmlformats.org/officeDocument/2006/relationships/image" Target="../media/image46.tif"/><Relationship Id="rId4" Type="http://schemas.openxmlformats.org/officeDocument/2006/relationships/image" Target="../media/image45.png"/></Relationships>
</file>

<file path=ppt/slides/_rels/slide33.xml.rels><?xml version="1.0" encoding="UTF-8" standalone="yes"?>
<Relationships xmlns="http://schemas.openxmlformats.org/package/2006/relationships"><Relationship Id="rId3" Type="http://schemas.openxmlformats.org/officeDocument/2006/relationships/image" Target="../media/image47.tif"/><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46.tif"/></Relationships>
</file>

<file path=ppt/slides/_rels/slide3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54.png"/></Relationships>
</file>

<file path=ppt/slides/_rels/slide4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4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59.tif"/><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65.png"/></Relationships>
</file>

<file path=ppt/slides/_rels/slide48.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www.biozone.com.au/faqconditionsofuse/" TargetMode="Externa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hyperlink" Target="http://creativecommons.org/licenses/by-sa/3.0/" TargetMode="External"/><Relationship Id="rId2" Type="http://schemas.openxmlformats.org/officeDocument/2006/relationships/hyperlink" Target="http://www.gnu.org/copyleft/fdl.html" TargetMode="Externa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Shape 66"/>
          <p:cNvSpPr>
            <a:spLocks noGrp="1"/>
          </p:cNvSpPr>
          <p:nvPr>
            <p:ph type="body" sz="half" idx="1"/>
          </p:nvPr>
        </p:nvSpPr>
        <p:spPr>
          <a:xfrm>
            <a:off x="1028700" y="2019300"/>
            <a:ext cx="4984850" cy="5867400"/>
          </a:xfrm>
          <a:prstGeom prst="rect">
            <a:avLst/>
          </a:prstGeom>
        </p:spPr>
        <p:txBody>
          <a:bodyPr numCol="1" spcCol="38100"/>
          <a:lstStyle/>
          <a:p>
            <a:pPr marL="392727" indent="-392727"/>
            <a:r>
              <a:rPr>
                <a:hlinkClick r:id="rId2" action="ppaction://hlinksldjump"/>
              </a:rPr>
              <a:t>Primates</a:t>
            </a:r>
          </a:p>
          <a:p>
            <a:pPr marL="720045" lvl="1"/>
            <a:r>
              <a:rPr>
                <a:hlinkClick r:id="rId2" action="ppaction://hlinksldjump"/>
              </a:rPr>
              <a:t>Primate classification</a:t>
            </a:r>
          </a:p>
          <a:p>
            <a:pPr marL="720045" lvl="1"/>
            <a:r>
              <a:rPr>
                <a:hlinkClick r:id="rId3" action="ppaction://hlinksldjump"/>
              </a:rPr>
              <a:t>Primate characteristics</a:t>
            </a:r>
          </a:p>
          <a:p>
            <a:pPr marL="392727" indent="-392727"/>
            <a:r>
              <a:rPr>
                <a:hlinkClick r:id="rId4" action="ppaction://hlinksldjump"/>
              </a:rPr>
              <a:t>Human evolution</a:t>
            </a:r>
          </a:p>
          <a:p>
            <a:pPr marL="720045" lvl="1"/>
            <a:r>
              <a:rPr>
                <a:hlinkClick r:id="rId4" action="ppaction://hlinksldjump"/>
              </a:rPr>
              <a:t>Dating fossils</a:t>
            </a:r>
          </a:p>
          <a:p>
            <a:pPr marL="720045" lvl="1"/>
            <a:r>
              <a:rPr>
                <a:hlinkClick r:id="rId2" action="ppaction://hlinksldjump"/>
              </a:rPr>
              <a:t>Human characteristics</a:t>
            </a:r>
          </a:p>
          <a:p>
            <a:pPr marL="720045" lvl="1"/>
            <a:r>
              <a:rPr>
                <a:hlinkClick r:id="rId5" action="ppaction://hlinksldjump"/>
              </a:rPr>
              <a:t>Analysing DNA</a:t>
            </a:r>
          </a:p>
          <a:p>
            <a:pPr marL="720045" lvl="1"/>
            <a:r>
              <a:rPr>
                <a:hlinkClick r:id="rId6" action="ppaction://hlinksldjump"/>
              </a:rPr>
              <a:t>The changing environment</a:t>
            </a:r>
          </a:p>
          <a:p>
            <a:pPr marL="720045" lvl="1"/>
            <a:r>
              <a:rPr>
                <a:hlinkClick r:id="rId7" action="ppaction://hlinksldjump"/>
              </a:rPr>
              <a:t>Human evolution timeline</a:t>
            </a:r>
          </a:p>
        </p:txBody>
      </p:sp>
      <p:sp>
        <p:nvSpPr>
          <p:cNvPr id="67" name="Shape 67"/>
          <p:cNvSpPr/>
          <p:nvPr/>
        </p:nvSpPr>
        <p:spPr>
          <a:xfrm>
            <a:off x="6807200" y="2019300"/>
            <a:ext cx="4984850" cy="6715076"/>
          </a:xfrm>
          <a:prstGeom prst="rect">
            <a:avLst/>
          </a:prstGeom>
          <a:ln w="12700">
            <a:miter lim="400000"/>
          </a:ln>
          <a:extLst>
            <a:ext uri="{C572A759-6A51-4108-AA02-DFA0A04FC94B}">
              <ma14:wrappingTextBoxFlag xmlns="" xmlns:ma14="http://schemas.microsoft.com/office/mac/drawingml/2011/main" val="1"/>
            </a:ext>
          </a:extLst>
        </p:spPr>
        <p:txBody>
          <a:bodyPr lIns="0" tIns="0" rIns="0" bIns="0"/>
          <a:lstStyle/>
          <a:p>
            <a:pPr marL="392727" indent="-392727" defTabSz="584200">
              <a:spcBef>
                <a:spcPts val="2500"/>
              </a:spcBef>
              <a:buClr>
                <a:srgbClr val="006994"/>
              </a:buClr>
              <a:buSzPct val="150000"/>
              <a:buFont typeface="Lucida Grande"/>
              <a:buChar char="‣"/>
              <a:tabLst/>
              <a:defRPr sz="2400" b="1">
                <a:solidFill>
                  <a:srgbClr val="000000"/>
                </a:solidFill>
              </a:defRPr>
            </a:pPr>
            <a:r>
              <a:rPr>
                <a:hlinkClick r:id="rId8" action="ppaction://hlinksldjump"/>
              </a:rPr>
              <a:t>Human origins</a:t>
            </a:r>
          </a:p>
          <a:p>
            <a:pPr marL="720045" lvl="1" indent="-360000" defTabSz="584200">
              <a:spcBef>
                <a:spcPts val="500"/>
              </a:spcBef>
              <a:buSzPct val="150000"/>
              <a:buChar char="•"/>
              <a:tabLst/>
              <a:defRPr sz="2200">
                <a:solidFill>
                  <a:srgbClr val="000000"/>
                </a:solidFill>
              </a:defRPr>
            </a:pPr>
            <a:r>
              <a:rPr>
                <a:hlinkClick r:id="" action="ppaction://noaction"/>
              </a:rPr>
              <a:t>Origin of modern humans</a:t>
            </a:r>
          </a:p>
          <a:p>
            <a:pPr marL="720045" lvl="1" indent="-360000" defTabSz="584200">
              <a:spcBef>
                <a:spcPts val="500"/>
              </a:spcBef>
              <a:buSzPct val="150000"/>
              <a:buChar char="•"/>
              <a:tabLst/>
              <a:defRPr sz="2200">
                <a:solidFill>
                  <a:srgbClr val="000000"/>
                </a:solidFill>
              </a:defRPr>
            </a:pPr>
            <a:r>
              <a:rPr>
                <a:hlinkClick r:id="" action="ppaction://noaction"/>
              </a:rPr>
              <a:t>Dispersal out of Africa</a:t>
            </a:r>
          </a:p>
          <a:p>
            <a:pPr marL="720045" lvl="1" indent="-360000" defTabSz="584200">
              <a:spcBef>
                <a:spcPts val="500"/>
              </a:spcBef>
              <a:buSzPct val="150000"/>
              <a:buChar char="•"/>
              <a:tabLst/>
              <a:defRPr sz="2200" i="1">
                <a:solidFill>
                  <a:srgbClr val="000000"/>
                </a:solidFill>
              </a:defRPr>
            </a:pPr>
            <a:r>
              <a:rPr>
                <a:hlinkClick r:id="rId9" action="ppaction://hlinksldjump"/>
              </a:rPr>
              <a:t>Ardipithecus</a:t>
            </a:r>
          </a:p>
          <a:p>
            <a:pPr marL="720045" lvl="1" indent="-360000" defTabSz="584200">
              <a:spcBef>
                <a:spcPts val="500"/>
              </a:spcBef>
              <a:buSzPct val="150000"/>
              <a:buChar char="•"/>
              <a:tabLst/>
              <a:defRPr sz="2200">
                <a:solidFill>
                  <a:srgbClr val="000000"/>
                </a:solidFill>
              </a:defRPr>
            </a:pPr>
            <a:r>
              <a:rPr>
                <a:hlinkClick r:id="" action="ppaction://noaction"/>
              </a:rPr>
              <a:t>Nakedness and bipedalism</a:t>
            </a:r>
          </a:p>
          <a:p>
            <a:pPr marL="720045" lvl="1" indent="-360000" defTabSz="584200">
              <a:spcBef>
                <a:spcPts val="500"/>
              </a:spcBef>
              <a:buSzPct val="150000"/>
              <a:buChar char="•"/>
              <a:tabLst/>
              <a:defRPr sz="2200">
                <a:solidFill>
                  <a:srgbClr val="000000"/>
                </a:solidFill>
              </a:defRPr>
            </a:pPr>
            <a:r>
              <a:rPr>
                <a:hlinkClick r:id="" action="ppaction://noaction"/>
              </a:rPr>
              <a:t>Dentition</a:t>
            </a:r>
          </a:p>
          <a:p>
            <a:pPr marL="720045" lvl="1" indent="-360000" defTabSz="584200">
              <a:spcBef>
                <a:spcPts val="500"/>
              </a:spcBef>
              <a:buSzPct val="150000"/>
              <a:buChar char="•"/>
              <a:tabLst/>
              <a:defRPr sz="2200">
                <a:solidFill>
                  <a:srgbClr val="000000"/>
                </a:solidFill>
              </a:defRPr>
            </a:pPr>
            <a:r>
              <a:rPr>
                <a:hlinkClick r:id="rId10" action="ppaction://hlinksldjump"/>
              </a:rPr>
              <a:t>“Lucy”</a:t>
            </a:r>
          </a:p>
          <a:p>
            <a:pPr marL="720045" lvl="1" indent="-360000" defTabSz="584200">
              <a:spcBef>
                <a:spcPts val="500"/>
              </a:spcBef>
              <a:buSzPct val="150000"/>
              <a:buChar char="•"/>
              <a:tabLst/>
              <a:defRPr sz="2200" i="1">
                <a:solidFill>
                  <a:srgbClr val="000000"/>
                </a:solidFill>
              </a:defRPr>
            </a:pPr>
            <a:r>
              <a:rPr>
                <a:hlinkClick r:id="rId11" action="ppaction://hlinksldjump"/>
              </a:rPr>
              <a:t>Homo floresiensis</a:t>
            </a:r>
          </a:p>
          <a:p>
            <a:pPr marL="720045" lvl="1" indent="-360000" defTabSz="584200">
              <a:spcBef>
                <a:spcPts val="500"/>
              </a:spcBef>
              <a:buSzPct val="150000"/>
              <a:buChar char="•"/>
              <a:tabLst/>
              <a:defRPr sz="2200">
                <a:solidFill>
                  <a:srgbClr val="000000"/>
                </a:solidFill>
              </a:defRPr>
            </a:pPr>
            <a:r>
              <a:rPr>
                <a:hlinkClick r:id="" action="ppaction://noaction"/>
              </a:rPr>
              <a:t>The human brain</a:t>
            </a:r>
          </a:p>
          <a:p>
            <a:pPr marL="392727" indent="-392727" defTabSz="584200">
              <a:spcBef>
                <a:spcPts val="2500"/>
              </a:spcBef>
              <a:buClr>
                <a:srgbClr val="006994"/>
              </a:buClr>
              <a:buSzPct val="150000"/>
              <a:buFont typeface="Lucida Grande"/>
              <a:buChar char="‣"/>
              <a:tabLst/>
              <a:defRPr sz="2400" b="1">
                <a:solidFill>
                  <a:srgbClr val="000000"/>
                </a:solidFill>
              </a:defRPr>
            </a:pPr>
            <a:r>
              <a:rPr>
                <a:hlinkClick r:id="" action="ppaction://noaction"/>
              </a:rPr>
              <a:t>Cultural evolution</a:t>
            </a:r>
          </a:p>
          <a:p>
            <a:pPr marL="720045" lvl="1" indent="-360000" defTabSz="584200">
              <a:spcBef>
                <a:spcPts val="500"/>
              </a:spcBef>
              <a:buSzPct val="150000"/>
              <a:buChar char="•"/>
              <a:tabLst/>
              <a:defRPr sz="2200">
                <a:solidFill>
                  <a:srgbClr val="000000"/>
                </a:solidFill>
              </a:defRPr>
            </a:pPr>
            <a:r>
              <a:rPr>
                <a:hlinkClick r:id="" action="ppaction://noaction"/>
              </a:rPr>
              <a:t>Tool cultures</a:t>
            </a:r>
          </a:p>
          <a:p>
            <a:pPr marL="720045" lvl="1" indent="-360000" defTabSz="584200">
              <a:spcBef>
                <a:spcPts val="500"/>
              </a:spcBef>
              <a:buSzPct val="150000"/>
              <a:buChar char="•"/>
              <a:tabLst/>
              <a:defRPr sz="2200">
                <a:solidFill>
                  <a:srgbClr val="000000"/>
                </a:solidFill>
              </a:defRPr>
            </a:pPr>
            <a:r>
              <a:rPr>
                <a:hlinkClick r:id="" action="ppaction://noaction"/>
              </a:rPr>
              <a:t>Fire</a:t>
            </a:r>
          </a:p>
          <a:p>
            <a:pPr marL="720045" lvl="1" indent="-360000" defTabSz="584200">
              <a:spcBef>
                <a:spcPts val="500"/>
              </a:spcBef>
              <a:buSzPct val="150000"/>
              <a:buChar char="•"/>
              <a:tabLst/>
              <a:defRPr sz="2200">
                <a:solidFill>
                  <a:srgbClr val="000000"/>
                </a:solidFill>
              </a:defRPr>
            </a:pPr>
            <a:r>
              <a:rPr>
                <a:hlinkClick r:id="" action="ppaction://noaction"/>
              </a:rPr>
              <a:t>Clothing</a:t>
            </a:r>
          </a:p>
          <a:p>
            <a:pPr marL="720045" lvl="1" indent="-360000" defTabSz="584200">
              <a:spcBef>
                <a:spcPts val="500"/>
              </a:spcBef>
              <a:buSzPct val="150000"/>
              <a:buChar char="•"/>
              <a:tabLst/>
              <a:defRPr sz="2200">
                <a:solidFill>
                  <a:srgbClr val="000000"/>
                </a:solidFill>
              </a:defRPr>
            </a:pPr>
            <a:r>
              <a:rPr>
                <a:hlinkClick r:id="" action="ppaction://noaction"/>
              </a:rPr>
              <a:t>Shelter</a:t>
            </a:r>
          </a:p>
          <a:p>
            <a:pPr marL="720045" lvl="1" indent="-360000" defTabSz="584200">
              <a:spcBef>
                <a:spcPts val="500"/>
              </a:spcBef>
              <a:buSzPct val="150000"/>
              <a:buChar char="•"/>
              <a:tabLst/>
              <a:defRPr sz="2200">
                <a:solidFill>
                  <a:srgbClr val="000000"/>
                </a:solidFill>
              </a:defRPr>
            </a:pPr>
            <a:r>
              <a:rPr>
                <a:hlinkClick r:id="" action="ppaction://noaction"/>
              </a:rPr>
              <a:t>Art and culture</a:t>
            </a:r>
          </a:p>
        </p:txBody>
      </p:sp>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395" name="Untitled-1.jpg"/>
          <p:cNvPicPr>
            <a:picLocks noChangeAspect="1"/>
          </p:cNvPicPr>
          <p:nvPr/>
        </p:nvPicPr>
        <p:blipFill>
          <a:blip r:embed="rId3">
            <a:extLst/>
          </a:blip>
          <a:stretch>
            <a:fillRect/>
          </a:stretch>
        </p:blipFill>
        <p:spPr>
          <a:xfrm>
            <a:off x="0" y="0"/>
            <a:ext cx="13004790" cy="9753607"/>
          </a:xfrm>
          <a:prstGeom prst="rect">
            <a:avLst/>
          </a:prstGeom>
          <a:ln w="12700">
            <a:miter lim="400000"/>
          </a:ln>
        </p:spPr>
      </p:pic>
      <p:sp>
        <p:nvSpPr>
          <p:cNvPr id="396" name="Shape 396"/>
          <p:cNvSpPr>
            <a:spLocks noGrp="1"/>
          </p:cNvSpPr>
          <p:nvPr>
            <p:ph type="title"/>
          </p:nvPr>
        </p:nvSpPr>
        <p:spPr>
          <a:prstGeom prst="rect">
            <a:avLst/>
          </a:prstGeom>
        </p:spPr>
        <p:txBody>
          <a:bodyPr/>
          <a:lstStyle>
            <a:lvl1pPr>
              <a:tabLst>
                <a:tab pos="952500" algn="l"/>
              </a:tabLst>
              <a:defRPr>
                <a:solidFill>
                  <a:srgbClr val="FFFFFF"/>
                </a:solidFill>
              </a:defRPr>
            </a:lvl1pPr>
          </a:lstStyle>
          <a:p>
            <a:r>
              <a:t>Human Characteristics</a:t>
            </a:r>
          </a:p>
        </p:txBody>
      </p:sp>
      <p:sp>
        <p:nvSpPr>
          <p:cNvPr id="397" name="Shape 397"/>
          <p:cNvSpPr/>
          <p:nvPr/>
        </p:nvSpPr>
        <p:spPr>
          <a:xfrm>
            <a:off x="7683500" y="1498600"/>
            <a:ext cx="2124963" cy="838200"/>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100"/>
              </a:lnSpc>
              <a:tabLst>
                <a:tab pos="520700" algn="l"/>
              </a:tabLst>
              <a:defRPr sz="2800">
                <a:solidFill>
                  <a:srgbClr val="483F36"/>
                </a:solidFill>
                <a:latin typeface="Hoefler Text"/>
                <a:ea typeface="Hoefler Text"/>
                <a:cs typeface="Hoefler Text"/>
                <a:sym typeface="Hoefler Text"/>
              </a:defRPr>
            </a:pPr>
            <a:r>
              <a:rPr sz="1800">
                <a:solidFill>
                  <a:srgbClr val="FFFFFF"/>
                </a:solidFill>
                <a:latin typeface="Helvetica"/>
                <a:ea typeface="Helvetica"/>
                <a:cs typeface="Helvetica"/>
                <a:sym typeface="Helvetica"/>
              </a:rPr>
              <a:t>Enlarged brain</a:t>
            </a:r>
          </a:p>
          <a:p>
            <a:pPr>
              <a:lnSpc>
                <a:spcPts val="2100"/>
              </a:lnSpc>
              <a:tabLst>
                <a:tab pos="520700" algn="l"/>
              </a:tabLst>
              <a:defRPr sz="2800">
                <a:solidFill>
                  <a:srgbClr val="483F36"/>
                </a:solidFill>
                <a:latin typeface="Hoefler Text"/>
                <a:ea typeface="Hoefler Text"/>
                <a:cs typeface="Hoefler Text"/>
                <a:sym typeface="Hoefler Text"/>
              </a:defRPr>
            </a:pPr>
            <a:r>
              <a:rPr sz="1800">
                <a:solidFill>
                  <a:srgbClr val="FFFFFF"/>
                </a:solidFill>
                <a:latin typeface="Helvetica"/>
                <a:ea typeface="Helvetica"/>
                <a:cs typeface="Helvetica"/>
                <a:sym typeface="Helvetica"/>
              </a:rPr>
              <a:t>High forehead</a:t>
            </a:r>
          </a:p>
          <a:p>
            <a:pPr>
              <a:lnSpc>
                <a:spcPts val="2100"/>
              </a:lnSpc>
              <a:tabLst>
                <a:tab pos="520700" algn="l"/>
              </a:tabLst>
              <a:defRPr sz="2800">
                <a:solidFill>
                  <a:srgbClr val="483F36"/>
                </a:solidFill>
                <a:latin typeface="Hoefler Text"/>
                <a:ea typeface="Hoefler Text"/>
                <a:cs typeface="Hoefler Text"/>
                <a:sym typeface="Hoefler Text"/>
              </a:defRPr>
            </a:pPr>
            <a:r>
              <a:rPr sz="1800">
                <a:solidFill>
                  <a:srgbClr val="FFFFFF"/>
                </a:solidFill>
                <a:latin typeface="Helvetica"/>
                <a:ea typeface="Helvetica"/>
                <a:cs typeface="Helvetica"/>
                <a:sym typeface="Helvetica"/>
              </a:rPr>
              <a:t>Head held vertically</a:t>
            </a:r>
          </a:p>
        </p:txBody>
      </p:sp>
      <p:sp>
        <p:nvSpPr>
          <p:cNvPr id="398" name="Shape 398"/>
          <p:cNvSpPr/>
          <p:nvPr/>
        </p:nvSpPr>
        <p:spPr>
          <a:xfrm>
            <a:off x="2044700" y="2870200"/>
            <a:ext cx="2490354" cy="279400"/>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nSpc>
                <a:spcPts val="2100"/>
              </a:lnSpc>
              <a:tabLst>
                <a:tab pos="520700" algn="l"/>
              </a:tabLst>
              <a:defRPr>
                <a:solidFill>
                  <a:srgbClr val="FFFFFF"/>
                </a:solidFill>
                <a:latin typeface="Helvetica"/>
                <a:ea typeface="Helvetica"/>
                <a:cs typeface="Helvetica"/>
                <a:sym typeface="Helvetica"/>
              </a:defRPr>
            </a:lvl1pPr>
          </a:lstStyle>
          <a:p>
            <a:r>
              <a:t>Reduced neck muscles</a:t>
            </a:r>
          </a:p>
        </p:txBody>
      </p:sp>
      <p:sp>
        <p:nvSpPr>
          <p:cNvPr id="399" name="Shape 399"/>
          <p:cNvSpPr/>
          <p:nvPr/>
        </p:nvSpPr>
        <p:spPr>
          <a:xfrm>
            <a:off x="7391400" y="4140200"/>
            <a:ext cx="2489200" cy="8382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100"/>
              </a:lnSpc>
              <a:tabLst>
                <a:tab pos="520700" algn="l"/>
              </a:tabLst>
              <a:defRPr>
                <a:solidFill>
                  <a:srgbClr val="FFFFFF"/>
                </a:solidFill>
                <a:latin typeface="Helvetica"/>
                <a:ea typeface="Helvetica"/>
                <a:cs typeface="Helvetica"/>
                <a:sym typeface="Helvetica"/>
              </a:defRPr>
            </a:lvl1pPr>
          </a:lstStyle>
          <a:p>
            <a:r>
              <a:t>Short, wide pelvis for attachment of gluteal muscles for walking</a:t>
            </a:r>
          </a:p>
        </p:txBody>
      </p:sp>
      <p:sp>
        <p:nvSpPr>
          <p:cNvPr id="400" name="Shape 400"/>
          <p:cNvSpPr/>
          <p:nvPr/>
        </p:nvSpPr>
        <p:spPr>
          <a:xfrm>
            <a:off x="7416800" y="6096000"/>
            <a:ext cx="2324100" cy="5588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100"/>
              </a:lnSpc>
              <a:tabLst>
                <a:tab pos="520700" algn="l"/>
              </a:tabLst>
              <a:defRPr>
                <a:solidFill>
                  <a:srgbClr val="FFFFFF"/>
                </a:solidFill>
                <a:latin typeface="Helvetica"/>
                <a:ea typeface="Helvetica"/>
                <a:cs typeface="Helvetica"/>
                <a:sym typeface="Helvetica"/>
              </a:defRPr>
            </a:lvl1pPr>
          </a:lstStyle>
          <a:p>
            <a:r>
              <a:t>Femoral head angled and strengthened</a:t>
            </a:r>
          </a:p>
        </p:txBody>
      </p:sp>
      <p:sp>
        <p:nvSpPr>
          <p:cNvPr id="401" name="Shape 401"/>
          <p:cNvSpPr/>
          <p:nvPr/>
        </p:nvSpPr>
        <p:spPr>
          <a:xfrm>
            <a:off x="7302500" y="5130800"/>
            <a:ext cx="2427065" cy="279400"/>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nSpc>
                <a:spcPts val="2100"/>
              </a:lnSpc>
              <a:tabLst>
                <a:tab pos="520700" algn="l"/>
              </a:tabLst>
              <a:defRPr>
                <a:solidFill>
                  <a:srgbClr val="FFFFFF"/>
                </a:solidFill>
                <a:latin typeface="Helvetica"/>
                <a:ea typeface="Helvetica"/>
                <a:cs typeface="Helvetica"/>
                <a:sym typeface="Helvetica"/>
              </a:defRPr>
            </a:lvl1pPr>
          </a:lstStyle>
          <a:p>
            <a:r>
              <a:t>Fully opposable thumb</a:t>
            </a:r>
          </a:p>
        </p:txBody>
      </p:sp>
      <p:sp>
        <p:nvSpPr>
          <p:cNvPr id="402" name="Shape 402"/>
          <p:cNvSpPr/>
          <p:nvPr/>
        </p:nvSpPr>
        <p:spPr>
          <a:xfrm>
            <a:off x="7594600" y="7112000"/>
            <a:ext cx="2616200" cy="5588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100"/>
              </a:lnSpc>
              <a:tabLst>
                <a:tab pos="520700" algn="l"/>
              </a:tabLst>
              <a:defRPr>
                <a:solidFill>
                  <a:srgbClr val="FFFFFF"/>
                </a:solidFill>
                <a:latin typeface="Helvetica"/>
                <a:ea typeface="Helvetica"/>
                <a:cs typeface="Helvetica"/>
                <a:sym typeface="Helvetica"/>
              </a:defRPr>
            </a:lvl1pPr>
          </a:lstStyle>
          <a:p>
            <a:r>
              <a:t>Buttress at knee-joint to allow bipedal walking</a:t>
            </a:r>
          </a:p>
        </p:txBody>
      </p:sp>
      <p:sp>
        <p:nvSpPr>
          <p:cNvPr id="403" name="Shape 403"/>
          <p:cNvSpPr/>
          <p:nvPr/>
        </p:nvSpPr>
        <p:spPr>
          <a:xfrm>
            <a:off x="7696200" y="8293100"/>
            <a:ext cx="2095500" cy="7926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100"/>
              </a:lnSpc>
              <a:tabLst>
                <a:tab pos="520700" algn="l"/>
              </a:tabLst>
              <a:defRPr>
                <a:solidFill>
                  <a:srgbClr val="FFFFFF"/>
                </a:solidFill>
              </a:defRPr>
            </a:lvl1pPr>
          </a:lstStyle>
          <a:p>
            <a:r>
              <a:t>Foot has an arch with weight-bearing heel and ball</a:t>
            </a:r>
          </a:p>
        </p:txBody>
      </p:sp>
      <p:sp>
        <p:nvSpPr>
          <p:cNvPr id="404" name="Shape 404"/>
          <p:cNvSpPr/>
          <p:nvPr/>
        </p:nvSpPr>
        <p:spPr>
          <a:xfrm>
            <a:off x="6117894" y="1534426"/>
            <a:ext cx="1" cy="381820"/>
          </a:xfrm>
          <a:prstGeom prst="line">
            <a:avLst/>
          </a:prstGeom>
          <a:ln w="25400">
            <a:solidFill>
              <a:srgbClr val="FF2600"/>
            </a:solidFill>
            <a:miter lim="400000"/>
            <a:tail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405" name="Shape 405"/>
          <p:cNvSpPr/>
          <p:nvPr/>
        </p:nvSpPr>
        <p:spPr>
          <a:xfrm>
            <a:off x="2413000" y="1625600"/>
            <a:ext cx="2628900" cy="7926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100"/>
              </a:lnSpc>
              <a:tabLst>
                <a:tab pos="520700" algn="l"/>
              </a:tabLst>
              <a:defRPr>
                <a:solidFill>
                  <a:srgbClr val="FFFFFF"/>
                </a:solidFill>
              </a:defRPr>
            </a:lvl1pPr>
          </a:lstStyle>
          <a:p>
            <a:r>
              <a:t>Teeth covered with thick ename. Reduced molars, small canines</a:t>
            </a:r>
          </a:p>
        </p:txBody>
      </p:sp>
      <p:sp>
        <p:nvSpPr>
          <p:cNvPr id="406" name="Shape 406"/>
          <p:cNvSpPr/>
          <p:nvPr/>
        </p:nvSpPr>
        <p:spPr>
          <a:xfrm>
            <a:off x="7467600" y="3124200"/>
            <a:ext cx="1295400" cy="5259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100"/>
              </a:lnSpc>
              <a:tabLst>
                <a:tab pos="520700" algn="l"/>
              </a:tabLst>
              <a:defRPr>
                <a:solidFill>
                  <a:srgbClr val="FFFFFF"/>
                </a:solidFill>
              </a:defRPr>
            </a:lvl1pPr>
          </a:lstStyle>
          <a:p>
            <a:r>
              <a:t>Shortened forelimb</a:t>
            </a:r>
          </a:p>
        </p:txBody>
      </p:sp>
      <p:sp>
        <p:nvSpPr>
          <p:cNvPr id="407" name="Shape 407"/>
          <p:cNvSpPr/>
          <p:nvPr/>
        </p:nvSpPr>
        <p:spPr>
          <a:xfrm>
            <a:off x="2222500" y="4013200"/>
            <a:ext cx="2120900" cy="7926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100"/>
              </a:lnSpc>
              <a:tabLst>
                <a:tab pos="520700" algn="l"/>
              </a:tabLst>
              <a:defRPr>
                <a:solidFill>
                  <a:srgbClr val="FFFFFF"/>
                </a:solidFill>
              </a:defRPr>
            </a:lvl1pPr>
          </a:lstStyle>
          <a:p>
            <a:r>
              <a:t>Reduced lower back with S-shaped curvature</a:t>
            </a:r>
          </a:p>
        </p:txBody>
      </p:sp>
      <p:sp>
        <p:nvSpPr>
          <p:cNvPr id="408" name="Shape 408"/>
          <p:cNvSpPr/>
          <p:nvPr/>
        </p:nvSpPr>
        <p:spPr>
          <a:xfrm>
            <a:off x="2108200" y="5397500"/>
            <a:ext cx="2362200" cy="5259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100"/>
              </a:lnSpc>
              <a:tabLst>
                <a:tab pos="520700" algn="l"/>
              </a:tabLst>
              <a:defRPr>
                <a:solidFill>
                  <a:srgbClr val="FFFFFF"/>
                </a:solidFill>
              </a:defRPr>
            </a:lvl1pPr>
          </a:lstStyle>
          <a:p>
            <a:r>
              <a:t>Leg bones are thickened and longer </a:t>
            </a:r>
          </a:p>
        </p:txBody>
      </p:sp>
      <p:sp>
        <p:nvSpPr>
          <p:cNvPr id="409" name="Shape 409"/>
          <p:cNvSpPr/>
          <p:nvPr/>
        </p:nvSpPr>
        <p:spPr>
          <a:xfrm>
            <a:off x="1689100" y="6565900"/>
            <a:ext cx="2159000" cy="7926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100"/>
              </a:lnSpc>
              <a:tabLst>
                <a:tab pos="520700" algn="l"/>
              </a:tabLst>
              <a:defRPr>
                <a:solidFill>
                  <a:srgbClr val="FFFFFF"/>
                </a:solidFill>
              </a:defRPr>
            </a:lvl1pPr>
          </a:lstStyle>
          <a:p>
            <a:r>
              <a:t>Reduction in body hair to increase evaporative cooling</a:t>
            </a:r>
          </a:p>
        </p:txBody>
      </p:sp>
      <p:sp>
        <p:nvSpPr>
          <p:cNvPr id="410" name="Shape 410"/>
          <p:cNvSpPr/>
          <p:nvPr/>
        </p:nvSpPr>
        <p:spPr>
          <a:xfrm>
            <a:off x="2197100" y="8521700"/>
            <a:ext cx="1841500" cy="8382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100"/>
              </a:lnSpc>
              <a:tabLst>
                <a:tab pos="520700" algn="l"/>
              </a:tabLst>
              <a:defRPr>
                <a:solidFill>
                  <a:srgbClr val="FFFFFF"/>
                </a:solidFill>
                <a:latin typeface="Helvetica"/>
                <a:ea typeface="Helvetica"/>
                <a:cs typeface="Helvetica"/>
                <a:sym typeface="Helvetica"/>
              </a:defRPr>
            </a:lvl1pPr>
          </a:lstStyle>
          <a:p>
            <a:r>
              <a:t>Non-opposable and forward thrusting big toe</a:t>
            </a:r>
          </a:p>
        </p:txBody>
      </p:sp>
      <p:pic>
        <p:nvPicPr>
          <p:cNvPr id="411" name="Ryan see through.png"/>
          <p:cNvPicPr>
            <a:picLocks noChangeAspect="1"/>
          </p:cNvPicPr>
          <p:nvPr/>
        </p:nvPicPr>
        <p:blipFill>
          <a:blip r:embed="rId4">
            <a:extLst/>
          </a:blip>
          <a:stretch>
            <a:fillRect/>
          </a:stretch>
        </p:blipFill>
        <p:spPr>
          <a:xfrm>
            <a:off x="4699000" y="1312187"/>
            <a:ext cx="2159000" cy="8246826"/>
          </a:xfrm>
          <a:prstGeom prst="rect">
            <a:avLst/>
          </a:prstGeom>
          <a:ln w="12700">
            <a:miter lim="400000"/>
          </a:ln>
        </p:spPr>
      </p:pic>
      <p:sp>
        <p:nvSpPr>
          <p:cNvPr id="412" name="Shape 412"/>
          <p:cNvSpPr/>
          <p:nvPr/>
        </p:nvSpPr>
        <p:spPr>
          <a:xfrm flipH="1">
            <a:off x="5367019" y="8639109"/>
            <a:ext cx="2269448" cy="596330"/>
          </a:xfrm>
          <a:prstGeom prst="line">
            <a:avLst/>
          </a:prstGeom>
          <a:ln w="25400">
            <a:solidFill>
              <a:schemeClr val="accent4">
                <a:hueOff val="384618"/>
                <a:satOff val="3869"/>
                <a:lumOff val="5802"/>
              </a:schemeClr>
            </a:solidFill>
            <a:miter lim="400000"/>
            <a:tail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413" name="Shape 413"/>
          <p:cNvSpPr/>
          <p:nvPr/>
        </p:nvSpPr>
        <p:spPr>
          <a:xfrm flipH="1" flipV="1">
            <a:off x="6464300" y="6969759"/>
            <a:ext cx="1135658" cy="381822"/>
          </a:xfrm>
          <a:prstGeom prst="line">
            <a:avLst/>
          </a:prstGeom>
          <a:ln w="25400">
            <a:solidFill>
              <a:schemeClr val="accent4">
                <a:hueOff val="384618"/>
                <a:satOff val="3869"/>
                <a:lumOff val="5802"/>
              </a:schemeClr>
            </a:solidFill>
            <a:miter lim="400000"/>
            <a:tail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414" name="Shape 414"/>
          <p:cNvSpPr/>
          <p:nvPr/>
        </p:nvSpPr>
        <p:spPr>
          <a:xfrm flipH="1">
            <a:off x="6047740" y="4429759"/>
            <a:ext cx="1381760" cy="457201"/>
          </a:xfrm>
          <a:prstGeom prst="line">
            <a:avLst/>
          </a:prstGeom>
          <a:ln w="25400">
            <a:solidFill>
              <a:schemeClr val="accent4">
                <a:hueOff val="384618"/>
                <a:satOff val="3869"/>
                <a:lumOff val="5802"/>
              </a:schemeClr>
            </a:solidFill>
            <a:miter lim="400000"/>
            <a:tail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415" name="Shape 415"/>
          <p:cNvSpPr/>
          <p:nvPr/>
        </p:nvSpPr>
        <p:spPr>
          <a:xfrm flipH="1" flipV="1">
            <a:off x="5427980" y="5140959"/>
            <a:ext cx="1988820" cy="1107441"/>
          </a:xfrm>
          <a:prstGeom prst="line">
            <a:avLst/>
          </a:prstGeom>
          <a:ln w="25400">
            <a:solidFill>
              <a:schemeClr val="accent4">
                <a:hueOff val="384618"/>
                <a:satOff val="3869"/>
                <a:lumOff val="5802"/>
              </a:schemeClr>
            </a:solidFill>
            <a:miter lim="400000"/>
            <a:tail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416" name="Shape 416"/>
          <p:cNvSpPr/>
          <p:nvPr/>
        </p:nvSpPr>
        <p:spPr>
          <a:xfrm flipH="1">
            <a:off x="6179819" y="5223531"/>
            <a:ext cx="1072006" cy="161270"/>
          </a:xfrm>
          <a:prstGeom prst="line">
            <a:avLst/>
          </a:prstGeom>
          <a:ln w="25400">
            <a:solidFill>
              <a:schemeClr val="accent4">
                <a:hueOff val="384618"/>
                <a:satOff val="3869"/>
                <a:lumOff val="5802"/>
              </a:schemeClr>
            </a:solidFill>
            <a:miter lim="400000"/>
            <a:tail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417" name="Shape 417"/>
          <p:cNvSpPr/>
          <p:nvPr/>
        </p:nvSpPr>
        <p:spPr>
          <a:xfrm flipV="1">
            <a:off x="4610100" y="2600960"/>
            <a:ext cx="939801" cy="358140"/>
          </a:xfrm>
          <a:prstGeom prst="line">
            <a:avLst/>
          </a:prstGeom>
          <a:ln w="25400">
            <a:solidFill>
              <a:schemeClr val="accent4">
                <a:hueOff val="384618"/>
                <a:satOff val="3869"/>
                <a:lumOff val="5802"/>
              </a:schemeClr>
            </a:solidFill>
            <a:miter lim="400000"/>
            <a:tail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418" name="Shape 418"/>
          <p:cNvSpPr/>
          <p:nvPr/>
        </p:nvSpPr>
        <p:spPr>
          <a:xfrm flipH="1">
            <a:off x="5783580" y="1701800"/>
            <a:ext cx="1874520" cy="15220"/>
          </a:xfrm>
          <a:prstGeom prst="line">
            <a:avLst/>
          </a:prstGeom>
          <a:ln w="25400">
            <a:solidFill>
              <a:schemeClr val="accent4">
                <a:hueOff val="384618"/>
                <a:satOff val="3869"/>
                <a:lumOff val="5802"/>
              </a:schemeClr>
            </a:solidFill>
            <a:miter lim="400000"/>
            <a:tail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419" name="Shape 419"/>
          <p:cNvSpPr/>
          <p:nvPr/>
        </p:nvSpPr>
        <p:spPr>
          <a:xfrm flipV="1">
            <a:off x="4394200" y="4348477"/>
            <a:ext cx="1440181" cy="83824"/>
          </a:xfrm>
          <a:prstGeom prst="line">
            <a:avLst/>
          </a:prstGeom>
          <a:ln w="25400">
            <a:solidFill>
              <a:schemeClr val="accent4">
                <a:hueOff val="384618"/>
                <a:satOff val="3869"/>
                <a:lumOff val="5802"/>
              </a:schemeClr>
            </a:solidFill>
            <a:miter lim="400000"/>
            <a:tail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420" name="Shape 420"/>
          <p:cNvSpPr/>
          <p:nvPr/>
        </p:nvSpPr>
        <p:spPr>
          <a:xfrm>
            <a:off x="4343400" y="5994400"/>
            <a:ext cx="1033781" cy="294641"/>
          </a:xfrm>
          <a:prstGeom prst="line">
            <a:avLst/>
          </a:prstGeom>
          <a:ln w="25400">
            <a:solidFill>
              <a:schemeClr val="accent4">
                <a:hueOff val="384618"/>
                <a:satOff val="3869"/>
                <a:lumOff val="5802"/>
              </a:schemeClr>
            </a:solidFill>
            <a:miter lim="400000"/>
            <a:tail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421" name="Shape 421"/>
          <p:cNvSpPr/>
          <p:nvPr/>
        </p:nvSpPr>
        <p:spPr>
          <a:xfrm flipV="1">
            <a:off x="3721100" y="6675135"/>
            <a:ext cx="1351281" cy="5066"/>
          </a:xfrm>
          <a:prstGeom prst="line">
            <a:avLst/>
          </a:prstGeom>
          <a:ln w="25400">
            <a:solidFill>
              <a:schemeClr val="accent4">
                <a:hueOff val="384618"/>
                <a:satOff val="3869"/>
                <a:lumOff val="5802"/>
              </a:schemeClr>
            </a:solidFill>
            <a:miter lim="400000"/>
            <a:tail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422" name="Shape 422"/>
          <p:cNvSpPr/>
          <p:nvPr/>
        </p:nvSpPr>
        <p:spPr>
          <a:xfrm>
            <a:off x="3877931" y="8866915"/>
            <a:ext cx="1103010" cy="561566"/>
          </a:xfrm>
          <a:prstGeom prst="line">
            <a:avLst/>
          </a:prstGeom>
          <a:ln w="25400">
            <a:solidFill>
              <a:schemeClr val="accent4">
                <a:hueOff val="384618"/>
                <a:satOff val="3869"/>
                <a:lumOff val="5802"/>
              </a:schemeClr>
            </a:solidFill>
            <a:miter lim="400000"/>
            <a:tail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423" name="Shape 423"/>
          <p:cNvSpPr/>
          <p:nvPr/>
        </p:nvSpPr>
        <p:spPr>
          <a:xfrm>
            <a:off x="4597400" y="1968500"/>
            <a:ext cx="1064260" cy="347980"/>
          </a:xfrm>
          <a:prstGeom prst="line">
            <a:avLst/>
          </a:prstGeom>
          <a:ln w="25400">
            <a:solidFill>
              <a:schemeClr val="accent4">
                <a:hueOff val="384618"/>
                <a:satOff val="3869"/>
                <a:lumOff val="5802"/>
              </a:schemeClr>
            </a:solidFill>
            <a:miter lim="400000"/>
            <a:tail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424" name="Shape 424"/>
          <p:cNvSpPr/>
          <p:nvPr/>
        </p:nvSpPr>
        <p:spPr>
          <a:xfrm flipH="1">
            <a:off x="6626859" y="3403600"/>
            <a:ext cx="878841" cy="1056641"/>
          </a:xfrm>
          <a:prstGeom prst="line">
            <a:avLst/>
          </a:prstGeom>
          <a:ln w="25400">
            <a:solidFill>
              <a:schemeClr val="accent4">
                <a:hueOff val="384618"/>
                <a:satOff val="3869"/>
                <a:lumOff val="5802"/>
              </a:schemeClr>
            </a:solidFill>
            <a:miter lim="400000"/>
            <a:tail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484" name="Hominid Evolution3a.png"/>
          <p:cNvPicPr>
            <a:picLocks noChangeAspect="1"/>
          </p:cNvPicPr>
          <p:nvPr/>
        </p:nvPicPr>
        <p:blipFill>
          <a:blip r:embed="rId3">
            <a:extLst/>
          </a:blip>
          <a:srcRect r="29521"/>
          <a:stretch>
            <a:fillRect/>
          </a:stretch>
        </p:blipFill>
        <p:spPr>
          <a:xfrm>
            <a:off x="243710" y="2990282"/>
            <a:ext cx="12909663" cy="6175793"/>
          </a:xfrm>
          <a:prstGeom prst="rect">
            <a:avLst/>
          </a:prstGeom>
          <a:ln w="12700">
            <a:miter lim="400000"/>
          </a:ln>
        </p:spPr>
      </p:pic>
      <p:sp>
        <p:nvSpPr>
          <p:cNvPr id="485" name="Shape 485"/>
          <p:cNvSpPr>
            <a:spLocks noGrp="1"/>
          </p:cNvSpPr>
          <p:nvPr>
            <p:ph type="title"/>
          </p:nvPr>
        </p:nvSpPr>
        <p:spPr>
          <a:prstGeom prst="rect">
            <a:avLst/>
          </a:prstGeom>
        </p:spPr>
        <p:txBody>
          <a:bodyPr/>
          <a:lstStyle>
            <a:lvl1pPr>
              <a:tabLst>
                <a:tab pos="952500" algn="l"/>
              </a:tabLst>
            </a:lvl1pPr>
          </a:lstStyle>
          <a:p>
            <a:r>
              <a:t>Human Evolution Timeline</a:t>
            </a:r>
          </a:p>
        </p:txBody>
      </p:sp>
      <p:sp>
        <p:nvSpPr>
          <p:cNvPr id="486" name="Shape 486"/>
          <p:cNvSpPr>
            <a:spLocks noGrp="1"/>
          </p:cNvSpPr>
          <p:nvPr>
            <p:ph type="body" sz="half" idx="1"/>
          </p:nvPr>
        </p:nvSpPr>
        <p:spPr>
          <a:xfrm>
            <a:off x="368300" y="1790700"/>
            <a:ext cx="11075393" cy="3446909"/>
          </a:xfrm>
          <a:prstGeom prst="rect">
            <a:avLst/>
          </a:prstGeom>
        </p:spPr>
        <p:txBody>
          <a:bodyPr/>
          <a:lstStyle/>
          <a:p>
            <a:pPr>
              <a:tabLst>
                <a:tab pos="1016000" algn="l"/>
              </a:tabLst>
            </a:pPr>
            <a:r>
              <a:t>A number of fossil hominin species from the period 3.5 to 6.5 million years ago have been discovered in recent years.</a:t>
            </a:r>
          </a:p>
          <a:p>
            <a:pPr>
              <a:tabLst>
                <a:tab pos="1016000" algn="l"/>
              </a:tabLst>
            </a:pPr>
            <a:r>
              <a:t>They have been assigned to the following genera:</a:t>
            </a:r>
          </a:p>
          <a:p>
            <a:pPr lvl="1">
              <a:tabLst>
                <a:tab pos="1485900" algn="l"/>
              </a:tabLst>
              <a:defRPr i="1"/>
            </a:pPr>
            <a:r>
              <a:t>Sahelanthropus</a:t>
            </a:r>
          </a:p>
          <a:p>
            <a:pPr lvl="1">
              <a:tabLst>
                <a:tab pos="1485900" algn="l"/>
              </a:tabLst>
              <a:defRPr i="1"/>
            </a:pPr>
            <a:r>
              <a:t>Orrorin</a:t>
            </a:r>
          </a:p>
          <a:p>
            <a:pPr lvl="1">
              <a:tabLst>
                <a:tab pos="1485900" algn="l"/>
              </a:tabLst>
              <a:defRPr i="1"/>
            </a:pPr>
            <a:r>
              <a:t>Ardipithecus</a:t>
            </a:r>
          </a:p>
          <a:p>
            <a:pPr lvl="1">
              <a:tabLst>
                <a:tab pos="1485900" algn="l"/>
              </a:tabLst>
              <a:defRPr i="1"/>
            </a:pPr>
            <a:r>
              <a:t>Australopithecus</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486">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48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48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48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486">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486">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48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6" grpId="1" build="p" bldLvl="5"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488" name="Hominid Evolution3a.png"/>
          <p:cNvPicPr>
            <a:picLocks noChangeAspect="1"/>
          </p:cNvPicPr>
          <p:nvPr/>
        </p:nvPicPr>
        <p:blipFill>
          <a:blip r:embed="rId3">
            <a:extLst/>
          </a:blip>
          <a:srcRect r="29521"/>
          <a:stretch>
            <a:fillRect/>
          </a:stretch>
        </p:blipFill>
        <p:spPr>
          <a:xfrm>
            <a:off x="243710" y="2990282"/>
            <a:ext cx="12909663" cy="6175793"/>
          </a:xfrm>
          <a:prstGeom prst="rect">
            <a:avLst/>
          </a:prstGeom>
          <a:ln w="12700">
            <a:miter lim="400000"/>
          </a:ln>
        </p:spPr>
      </p:pic>
      <p:sp>
        <p:nvSpPr>
          <p:cNvPr id="489" name="Shape 489"/>
          <p:cNvSpPr>
            <a:spLocks noGrp="1"/>
          </p:cNvSpPr>
          <p:nvPr>
            <p:ph type="title"/>
          </p:nvPr>
        </p:nvSpPr>
        <p:spPr>
          <a:prstGeom prst="rect">
            <a:avLst/>
          </a:prstGeom>
        </p:spPr>
        <p:txBody>
          <a:bodyPr/>
          <a:lstStyle>
            <a:lvl1pPr>
              <a:tabLst>
                <a:tab pos="952500" algn="l"/>
              </a:tabLst>
            </a:lvl1pPr>
          </a:lstStyle>
          <a:p>
            <a:r>
              <a:t>Human Evolution Timeline</a:t>
            </a:r>
          </a:p>
        </p:txBody>
      </p:sp>
      <p:sp>
        <p:nvSpPr>
          <p:cNvPr id="490" name="Shape 490"/>
          <p:cNvSpPr/>
          <p:nvPr/>
        </p:nvSpPr>
        <p:spPr>
          <a:xfrm flipV="1">
            <a:off x="2383366" y="5961821"/>
            <a:ext cx="1" cy="1446513"/>
          </a:xfrm>
          <a:prstGeom prst="line">
            <a:avLst/>
          </a:prstGeom>
          <a:ln w="76200">
            <a:solidFill>
              <a:schemeClr val="accent4">
                <a:hueOff val="384618"/>
                <a:satOff val="3869"/>
                <a:lumOff val="5802"/>
              </a:schemeClr>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pic>
        <p:nvPicPr>
          <p:cNvPr id="491" name="skull_web-lg.png"/>
          <p:cNvPicPr>
            <a:picLocks noChangeAspect="1"/>
          </p:cNvPicPr>
          <p:nvPr/>
        </p:nvPicPr>
        <p:blipFill>
          <a:blip r:embed="rId4">
            <a:extLst/>
          </a:blip>
          <a:stretch>
            <a:fillRect/>
          </a:stretch>
        </p:blipFill>
        <p:spPr>
          <a:xfrm>
            <a:off x="7289800" y="1790700"/>
            <a:ext cx="4991100" cy="4039094"/>
          </a:xfrm>
          <a:prstGeom prst="rect">
            <a:avLst/>
          </a:prstGeom>
          <a:ln w="12700">
            <a:miter lim="400000"/>
          </a:ln>
        </p:spPr>
      </p:pic>
      <p:sp>
        <p:nvSpPr>
          <p:cNvPr id="492" name="Shape 492"/>
          <p:cNvSpPr/>
          <p:nvPr/>
        </p:nvSpPr>
        <p:spPr>
          <a:xfrm>
            <a:off x="10337800" y="9486900"/>
            <a:ext cx="2565400" cy="1397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a:lnSpc>
                <a:spcPts val="1200"/>
              </a:lnSpc>
              <a:tabLst>
                <a:tab pos="520700" algn="l"/>
              </a:tabLst>
              <a:defRPr sz="1000">
                <a:solidFill>
                  <a:srgbClr val="483F36"/>
                </a:solidFill>
              </a:defRPr>
            </a:pPr>
            <a:r>
              <a:t>Photos courtesy of: </a:t>
            </a:r>
            <a:r>
              <a:rPr b="1"/>
              <a:t>SkullsUnlimited.com</a:t>
            </a:r>
          </a:p>
        </p:txBody>
      </p:sp>
      <p:sp>
        <p:nvSpPr>
          <p:cNvPr id="493" name="Shape 493"/>
          <p:cNvSpPr/>
          <p:nvPr/>
        </p:nvSpPr>
        <p:spPr>
          <a:xfrm>
            <a:off x="704974" y="3572439"/>
            <a:ext cx="5460827" cy="2227722"/>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p>
            <a:pPr>
              <a:tabLst>
                <a:tab pos="520700" algn="l"/>
              </a:tabLst>
            </a:pPr>
            <a:r>
              <a:t>In 2001, the 6-7 my old remains of a nearly complete skull with gorilla-like features was unearthed in Chad. </a:t>
            </a:r>
          </a:p>
          <a:p>
            <a:pPr>
              <a:tabLst>
                <a:tab pos="520700" algn="l"/>
              </a:tabLst>
            </a:pPr>
            <a:endParaRPr/>
          </a:p>
          <a:p>
            <a:pPr>
              <a:tabLst>
                <a:tab pos="520700" algn="l"/>
              </a:tabLst>
            </a:pPr>
            <a:r>
              <a:t>The find was nicknamed “Toumai” and assigned to a new genus, </a:t>
            </a:r>
            <a:r>
              <a:rPr i="1"/>
              <a:t>Sahelanthropus</a:t>
            </a:r>
            <a:r>
              <a:t>. Analysis of the cast of the interior of the braincase provides support for it being classified as a hominin.</a:t>
            </a:r>
          </a:p>
        </p:txBody>
      </p:sp>
    </p:spTree>
  </p:cSld>
  <p:clrMapOvr>
    <a:masterClrMapping/>
  </p:clrMapOvr>
  <mc:AlternateContent xmlns:mc="http://schemas.openxmlformats.org/markup-compatibility/2006" xmlns:p14="http://schemas.microsoft.com/office/powerpoint/2010/main">
    <mc:Choice Requires="p14">
      <p:transition>
        <p:dissolve/>
      </p:transition>
    </mc:Choice>
    <mc:Fallback xmlns="">
      <p:transition spd="fast">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9" presetClass="entr" fill="hold" grpId="1" nodeType="afterEffect">
                                  <p:stCondLst>
                                    <p:cond delay="0"/>
                                  </p:stCondLst>
                                  <p:iterate>
                                    <p:tmAbs val="0"/>
                                  </p:iterate>
                                  <p:childTnLst>
                                    <p:set>
                                      <p:cBhvr>
                                        <p:cTn id="6" fill="hold"/>
                                        <p:tgtEl>
                                          <p:spTgt spid="490"/>
                                        </p:tgtEl>
                                        <p:attrNameLst>
                                          <p:attrName>style.visibility</p:attrName>
                                        </p:attrNameLst>
                                      </p:cBhvr>
                                      <p:to>
                                        <p:strVal val="visible"/>
                                      </p:to>
                                    </p:set>
                                    <p:animEffect transition="in" filter="dissolve">
                                      <p:cBhvr>
                                        <p:cTn id="7" dur="1000"/>
                                        <p:tgtEl>
                                          <p:spTgt spid="4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0" grpId="1"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495" name="Hominid Evolution3a.png"/>
          <p:cNvPicPr>
            <a:picLocks noChangeAspect="1"/>
          </p:cNvPicPr>
          <p:nvPr/>
        </p:nvPicPr>
        <p:blipFill>
          <a:blip r:embed="rId3">
            <a:extLst/>
          </a:blip>
          <a:srcRect r="29521"/>
          <a:stretch>
            <a:fillRect/>
          </a:stretch>
        </p:blipFill>
        <p:spPr>
          <a:xfrm>
            <a:off x="243710" y="2990282"/>
            <a:ext cx="12909663" cy="6175793"/>
          </a:xfrm>
          <a:prstGeom prst="rect">
            <a:avLst/>
          </a:prstGeom>
          <a:ln w="12700">
            <a:miter lim="400000"/>
          </a:ln>
        </p:spPr>
      </p:pic>
      <p:sp>
        <p:nvSpPr>
          <p:cNvPr id="496" name="Shape 496"/>
          <p:cNvSpPr>
            <a:spLocks noGrp="1"/>
          </p:cNvSpPr>
          <p:nvPr>
            <p:ph type="title"/>
          </p:nvPr>
        </p:nvSpPr>
        <p:spPr>
          <a:prstGeom prst="rect">
            <a:avLst/>
          </a:prstGeom>
        </p:spPr>
        <p:txBody>
          <a:bodyPr/>
          <a:lstStyle>
            <a:lvl1pPr>
              <a:tabLst>
                <a:tab pos="952500" algn="l"/>
              </a:tabLst>
            </a:lvl1pPr>
          </a:lstStyle>
          <a:p>
            <a:r>
              <a:t>Human Evolution Timeline</a:t>
            </a:r>
          </a:p>
        </p:txBody>
      </p:sp>
      <p:sp>
        <p:nvSpPr>
          <p:cNvPr id="497" name="Shape 497"/>
          <p:cNvSpPr/>
          <p:nvPr/>
        </p:nvSpPr>
        <p:spPr>
          <a:xfrm>
            <a:off x="2324100" y="4584700"/>
            <a:ext cx="4331048" cy="1071191"/>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spAutoFit/>
          </a:bodyPr>
          <a:lstStyle/>
          <a:p>
            <a:pPr marL="0" lvl="1">
              <a:lnSpc>
                <a:spcPts val="2800"/>
              </a:lnSpc>
              <a:spcBef>
                <a:spcPts val="2000"/>
              </a:spcBef>
              <a:tabLst>
                <a:tab pos="1016000" algn="l"/>
              </a:tabLst>
              <a:defRPr sz="2000"/>
            </a:pPr>
            <a:r>
              <a:rPr b="1" i="1"/>
              <a:t>Orrorin tugenensis</a:t>
            </a:r>
            <a:r>
              <a:t>, or ‘</a:t>
            </a:r>
            <a:r>
              <a:rPr b="1"/>
              <a:t>Millennium man</a:t>
            </a:r>
            <a:r>
              <a:t>’ was discovered in late 2000 at a site in Kenya.</a:t>
            </a:r>
          </a:p>
        </p:txBody>
      </p:sp>
      <p:sp>
        <p:nvSpPr>
          <p:cNvPr id="498" name="Shape 498"/>
          <p:cNvSpPr/>
          <p:nvPr/>
        </p:nvSpPr>
        <p:spPr>
          <a:xfrm flipV="1">
            <a:off x="4402666" y="5733221"/>
            <a:ext cx="1" cy="1446513"/>
          </a:xfrm>
          <a:prstGeom prst="line">
            <a:avLst/>
          </a:prstGeom>
          <a:ln w="76200">
            <a:solidFill>
              <a:schemeClr val="accent4">
                <a:hueOff val="384618"/>
                <a:satOff val="3869"/>
                <a:lumOff val="5802"/>
              </a:schemeClr>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499" name="Shape 499"/>
          <p:cNvSpPr/>
          <p:nvPr/>
        </p:nvSpPr>
        <p:spPr>
          <a:xfrm>
            <a:off x="10337800" y="9486900"/>
            <a:ext cx="2565400" cy="1397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a:lnSpc>
                <a:spcPts val="1200"/>
              </a:lnSpc>
              <a:tabLst>
                <a:tab pos="520700" algn="l"/>
              </a:tabLst>
              <a:defRPr sz="1000">
                <a:solidFill>
                  <a:srgbClr val="483F36"/>
                </a:solidFill>
              </a:defRPr>
            </a:pPr>
            <a:r>
              <a:t>Photos courtesy of: </a:t>
            </a:r>
            <a:r>
              <a:rPr b="1"/>
              <a:t>SkullsUnlimited.com</a:t>
            </a:r>
          </a:p>
        </p:txBody>
      </p:sp>
      <p:grpSp>
        <p:nvGrpSpPr>
          <p:cNvPr id="505" name="Group 505"/>
          <p:cNvGrpSpPr/>
          <p:nvPr/>
        </p:nvGrpSpPr>
        <p:grpSpPr>
          <a:xfrm>
            <a:off x="6892361" y="1534419"/>
            <a:ext cx="4611931" cy="3924304"/>
            <a:chOff x="0" y="0"/>
            <a:chExt cx="4611929" cy="3924302"/>
          </a:xfrm>
        </p:grpSpPr>
        <p:pic>
          <p:nvPicPr>
            <p:cNvPr id="500" name="Orrorin-bone3.png"/>
            <p:cNvPicPr>
              <a:picLocks noChangeAspect="1"/>
            </p:cNvPicPr>
            <p:nvPr/>
          </p:nvPicPr>
          <p:blipFill>
            <a:blip r:embed="rId4">
              <a:extLst/>
            </a:blip>
            <a:stretch>
              <a:fillRect/>
            </a:stretch>
          </p:blipFill>
          <p:spPr>
            <a:xfrm rot="16046175">
              <a:off x="1648571" y="648932"/>
              <a:ext cx="1356509" cy="4092913"/>
            </a:xfrm>
            <a:prstGeom prst="rect">
              <a:avLst/>
            </a:prstGeom>
            <a:ln w="12700" cap="flat">
              <a:noFill/>
              <a:miter lim="400000"/>
            </a:ln>
            <a:effectLst/>
          </p:spPr>
        </p:pic>
        <p:pic>
          <p:nvPicPr>
            <p:cNvPr id="501" name="Orrorin-bone1.png"/>
            <p:cNvPicPr>
              <a:picLocks noChangeAspect="1"/>
            </p:cNvPicPr>
            <p:nvPr/>
          </p:nvPicPr>
          <p:blipFill>
            <a:blip r:embed="rId5">
              <a:extLst/>
            </a:blip>
            <a:stretch>
              <a:fillRect/>
            </a:stretch>
          </p:blipFill>
          <p:spPr>
            <a:xfrm rot="16090554">
              <a:off x="2640644" y="2148036"/>
              <a:ext cx="779487" cy="2687884"/>
            </a:xfrm>
            <a:prstGeom prst="rect">
              <a:avLst/>
            </a:prstGeom>
            <a:ln w="12700" cap="flat">
              <a:noFill/>
              <a:miter lim="400000"/>
            </a:ln>
            <a:effectLst/>
          </p:spPr>
        </p:pic>
        <p:pic>
          <p:nvPicPr>
            <p:cNvPr id="502" name="Orrorin-bone2.png"/>
            <p:cNvPicPr>
              <a:picLocks noChangeAspect="1"/>
            </p:cNvPicPr>
            <p:nvPr/>
          </p:nvPicPr>
          <p:blipFill>
            <a:blip r:embed="rId6">
              <a:extLst/>
            </a:blip>
            <a:stretch>
              <a:fillRect/>
            </a:stretch>
          </p:blipFill>
          <p:spPr>
            <a:xfrm rot="16310856">
              <a:off x="1008072" y="-351774"/>
              <a:ext cx="1022445" cy="3007188"/>
            </a:xfrm>
            <a:prstGeom prst="rect">
              <a:avLst/>
            </a:prstGeom>
            <a:ln w="12700" cap="flat">
              <a:noFill/>
              <a:miter lim="400000"/>
            </a:ln>
            <a:effectLst/>
          </p:spPr>
        </p:pic>
        <p:pic>
          <p:nvPicPr>
            <p:cNvPr id="503" name="Orrorin-teeth.png"/>
            <p:cNvPicPr>
              <a:picLocks noChangeAspect="1"/>
            </p:cNvPicPr>
            <p:nvPr/>
          </p:nvPicPr>
          <p:blipFill>
            <a:blip r:embed="rId7">
              <a:extLst/>
            </a:blip>
            <a:stretch>
              <a:fillRect/>
            </a:stretch>
          </p:blipFill>
          <p:spPr>
            <a:xfrm>
              <a:off x="3427515" y="0"/>
              <a:ext cx="1184416" cy="1572232"/>
            </a:xfrm>
            <a:prstGeom prst="rect">
              <a:avLst/>
            </a:prstGeom>
            <a:ln w="12700" cap="flat">
              <a:noFill/>
              <a:miter lim="400000"/>
            </a:ln>
            <a:effectLst/>
          </p:spPr>
        </p:pic>
        <p:pic>
          <p:nvPicPr>
            <p:cNvPr id="504" name="Orrorin-stone.png"/>
            <p:cNvPicPr>
              <a:picLocks noChangeAspect="1"/>
            </p:cNvPicPr>
            <p:nvPr/>
          </p:nvPicPr>
          <p:blipFill>
            <a:blip r:embed="rId8">
              <a:extLst/>
            </a:blip>
            <a:stretch>
              <a:fillRect/>
            </a:stretch>
          </p:blipFill>
          <p:spPr>
            <a:xfrm>
              <a:off x="2060883" y="392979"/>
              <a:ext cx="1275524" cy="784448"/>
            </a:xfrm>
            <a:prstGeom prst="rect">
              <a:avLst/>
            </a:prstGeom>
            <a:ln w="12700" cap="flat">
              <a:noFill/>
              <a:miter lim="400000"/>
            </a:ln>
            <a:effectLst/>
          </p:spPr>
        </p:pic>
      </p:grpSp>
    </p:spTree>
  </p:cSld>
  <p:clrMapOvr>
    <a:masterClrMapping/>
  </p:clrMapOvr>
  <mc:AlternateContent xmlns:mc="http://schemas.openxmlformats.org/markup-compatibility/2006" xmlns:p14="http://schemas.microsoft.com/office/powerpoint/2010/main">
    <mc:Choice Requires="p14">
      <p:transition>
        <p:dissolve/>
      </p:transition>
    </mc:Choice>
    <mc:Fallback xmlns="">
      <p:transition spd="fast">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9" presetClass="entr" fill="hold" grpId="1" nodeType="afterEffect">
                                  <p:stCondLst>
                                    <p:cond delay="0"/>
                                  </p:stCondLst>
                                  <p:iterate>
                                    <p:tmAbs val="0"/>
                                  </p:iterate>
                                  <p:childTnLst>
                                    <p:set>
                                      <p:cBhvr>
                                        <p:cTn id="6" fill="hold"/>
                                        <p:tgtEl>
                                          <p:spTgt spid="497"/>
                                        </p:tgtEl>
                                        <p:attrNameLst>
                                          <p:attrName>style.visibility</p:attrName>
                                        </p:attrNameLst>
                                      </p:cBhvr>
                                      <p:to>
                                        <p:strVal val="visible"/>
                                      </p:to>
                                    </p:set>
                                    <p:animEffect transition="in" filter="dissolve">
                                      <p:cBhvr>
                                        <p:cTn id="7" dur="1000"/>
                                        <p:tgtEl>
                                          <p:spTgt spid="497"/>
                                        </p:tgtEl>
                                      </p:cBhvr>
                                    </p:animEffect>
                                  </p:childTnLst>
                                </p:cTn>
                              </p:par>
                            </p:childTnLst>
                          </p:cTn>
                        </p:par>
                        <p:par>
                          <p:cTn id="8" fill="hold">
                            <p:stCondLst>
                              <p:cond delay="1000"/>
                            </p:stCondLst>
                            <p:childTnLst>
                              <p:par>
                                <p:cTn id="9" presetID="9" presetClass="entr" fill="hold" grpId="2" nodeType="afterEffect">
                                  <p:stCondLst>
                                    <p:cond delay="0"/>
                                  </p:stCondLst>
                                  <p:iterate>
                                    <p:tmAbs val="0"/>
                                  </p:iterate>
                                  <p:childTnLst>
                                    <p:set>
                                      <p:cBhvr>
                                        <p:cTn id="10" fill="hold"/>
                                        <p:tgtEl>
                                          <p:spTgt spid="498"/>
                                        </p:tgtEl>
                                        <p:attrNameLst>
                                          <p:attrName>style.visibility</p:attrName>
                                        </p:attrNameLst>
                                      </p:cBhvr>
                                      <p:to>
                                        <p:strVal val="visible"/>
                                      </p:to>
                                    </p:set>
                                    <p:animEffect transition="in" filter="dissolve">
                                      <p:cBhvr>
                                        <p:cTn id="11" dur="1000"/>
                                        <p:tgtEl>
                                          <p:spTgt spid="4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7" grpId="1" animBg="1" advAuto="0"/>
      <p:bldP spid="498" grpId="2" animBg="1" advAuto="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507" name="Hominid Evolution3a.png"/>
          <p:cNvPicPr>
            <a:picLocks noChangeAspect="1"/>
          </p:cNvPicPr>
          <p:nvPr/>
        </p:nvPicPr>
        <p:blipFill>
          <a:blip r:embed="rId3">
            <a:extLst/>
          </a:blip>
          <a:srcRect r="29521"/>
          <a:stretch>
            <a:fillRect/>
          </a:stretch>
        </p:blipFill>
        <p:spPr>
          <a:xfrm>
            <a:off x="243710" y="2990282"/>
            <a:ext cx="12909663" cy="6175793"/>
          </a:xfrm>
          <a:prstGeom prst="rect">
            <a:avLst/>
          </a:prstGeom>
          <a:ln w="12700">
            <a:miter lim="400000"/>
          </a:ln>
        </p:spPr>
      </p:pic>
      <p:sp>
        <p:nvSpPr>
          <p:cNvPr id="508" name="Shape 508"/>
          <p:cNvSpPr>
            <a:spLocks noGrp="1"/>
          </p:cNvSpPr>
          <p:nvPr>
            <p:ph type="title"/>
          </p:nvPr>
        </p:nvSpPr>
        <p:spPr>
          <a:prstGeom prst="rect">
            <a:avLst/>
          </a:prstGeom>
        </p:spPr>
        <p:txBody>
          <a:bodyPr/>
          <a:lstStyle>
            <a:lvl1pPr>
              <a:tabLst>
                <a:tab pos="952500" algn="l"/>
              </a:tabLst>
            </a:lvl1pPr>
          </a:lstStyle>
          <a:p>
            <a:r>
              <a:t>Human Evolution Timeline</a:t>
            </a:r>
          </a:p>
        </p:txBody>
      </p:sp>
      <p:sp>
        <p:nvSpPr>
          <p:cNvPr id="509" name="Shape 509"/>
          <p:cNvSpPr/>
          <p:nvPr/>
        </p:nvSpPr>
        <p:spPr>
          <a:xfrm>
            <a:off x="5321300" y="2032000"/>
            <a:ext cx="7188200" cy="32555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marL="0">
              <a:lnSpc>
                <a:spcPts val="2500"/>
              </a:lnSpc>
              <a:spcBef>
                <a:spcPts val="2200"/>
              </a:spcBef>
              <a:tabLst>
                <a:tab pos="1016000" algn="l"/>
              </a:tabLst>
              <a:defRPr sz="2000"/>
            </a:pPr>
            <a:r>
              <a:rPr b="1" i="1"/>
              <a:t>Ardipithecus ramidus</a:t>
            </a:r>
            <a:r>
              <a:t>:</a:t>
            </a:r>
            <a:br/>
            <a:r>
              <a:t>Originally given the name </a:t>
            </a:r>
            <a:r>
              <a:rPr i="1"/>
              <a:t>Australopithecus ramidus</a:t>
            </a:r>
            <a:r>
              <a:t>, it was reclassified under a new genus, </a:t>
            </a:r>
            <a:r>
              <a:rPr b="1" i="1"/>
              <a:t>Ardipithecus</a:t>
            </a:r>
            <a:r>
              <a:t>.</a:t>
            </a:r>
          </a:p>
          <a:p>
            <a:pPr marL="0">
              <a:lnSpc>
                <a:spcPts val="2200"/>
              </a:lnSpc>
              <a:spcBef>
                <a:spcPts val="1500"/>
              </a:spcBef>
              <a:tabLst>
                <a:tab pos="1016000" algn="l"/>
              </a:tabLst>
              <a:defRPr sz="2000"/>
            </a:pPr>
            <a:r>
              <a:t>Two subspecies have been identified:</a:t>
            </a:r>
          </a:p>
          <a:p>
            <a:pPr marL="0" lvl="1">
              <a:lnSpc>
                <a:spcPts val="2200"/>
              </a:lnSpc>
              <a:spcBef>
                <a:spcPts val="1500"/>
              </a:spcBef>
              <a:tabLst>
                <a:tab pos="1358900" algn="l"/>
              </a:tabLst>
              <a:defRPr sz="2000"/>
            </a:pPr>
            <a:r>
              <a:rPr b="1" i="1"/>
              <a:t>A. ramidus ramidus</a:t>
            </a:r>
            <a:r>
              <a:t> (4.4 my old)</a:t>
            </a:r>
          </a:p>
          <a:p>
            <a:pPr marL="0" lvl="1">
              <a:lnSpc>
                <a:spcPts val="2200"/>
              </a:lnSpc>
              <a:spcBef>
                <a:spcPts val="2000"/>
              </a:spcBef>
              <a:tabLst>
                <a:tab pos="1358900" algn="l"/>
              </a:tabLst>
              <a:defRPr sz="2000"/>
            </a:pPr>
            <a:r>
              <a:rPr b="1" i="1"/>
              <a:t>A. ramidus kadabba</a:t>
            </a:r>
            <a:r>
              <a:t> (5.8 my old)</a:t>
            </a:r>
          </a:p>
          <a:p>
            <a:pPr marL="0">
              <a:lnSpc>
                <a:spcPts val="2800"/>
              </a:lnSpc>
              <a:spcBef>
                <a:spcPts val="2000"/>
              </a:spcBef>
              <a:tabLst>
                <a:tab pos="1016000" algn="l"/>
              </a:tabLst>
              <a:defRPr sz="2000"/>
            </a:pPr>
            <a:r>
              <a:t>Regarded by some researchers as ‘simply an ape with some unusual characteristics’.</a:t>
            </a:r>
          </a:p>
        </p:txBody>
      </p:sp>
      <p:sp>
        <p:nvSpPr>
          <p:cNvPr id="510" name="Shape 510"/>
          <p:cNvSpPr/>
          <p:nvPr/>
        </p:nvSpPr>
        <p:spPr>
          <a:xfrm flipV="1">
            <a:off x="6117166" y="5618921"/>
            <a:ext cx="1" cy="1446513"/>
          </a:xfrm>
          <a:prstGeom prst="line">
            <a:avLst/>
          </a:prstGeom>
          <a:ln w="76200">
            <a:solidFill>
              <a:schemeClr val="accent4">
                <a:hueOff val="384618"/>
                <a:satOff val="3869"/>
                <a:lumOff val="5802"/>
              </a:schemeClr>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511" name="Shape 511"/>
          <p:cNvSpPr/>
          <p:nvPr/>
        </p:nvSpPr>
        <p:spPr>
          <a:xfrm flipV="1">
            <a:off x="9647766" y="5618921"/>
            <a:ext cx="1" cy="1446513"/>
          </a:xfrm>
          <a:prstGeom prst="line">
            <a:avLst/>
          </a:prstGeom>
          <a:ln w="76200">
            <a:solidFill>
              <a:schemeClr val="accent4">
                <a:hueOff val="384618"/>
                <a:satOff val="3869"/>
                <a:lumOff val="5802"/>
              </a:schemeClr>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p:dissolve/>
      </p:transition>
    </mc:Choice>
    <mc:Fallback xmlns="">
      <p:transition spd="fast">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9" presetClass="entr" fill="hold" grpId="1" nodeType="afterEffect">
                                  <p:stCondLst>
                                    <p:cond delay="0"/>
                                  </p:stCondLst>
                                  <p:iterate>
                                    <p:tmAbs val="0"/>
                                  </p:iterate>
                                  <p:childTnLst>
                                    <p:set>
                                      <p:cBhvr>
                                        <p:cTn id="6" fill="hold"/>
                                        <p:tgtEl>
                                          <p:spTgt spid="509"/>
                                        </p:tgtEl>
                                        <p:attrNameLst>
                                          <p:attrName>style.visibility</p:attrName>
                                        </p:attrNameLst>
                                      </p:cBhvr>
                                      <p:to>
                                        <p:strVal val="visible"/>
                                      </p:to>
                                    </p:set>
                                    <p:animEffect transition="in" filter="dissolve">
                                      <p:cBhvr>
                                        <p:cTn id="7" dur="1000"/>
                                        <p:tgtEl>
                                          <p:spTgt spid="509"/>
                                        </p:tgtEl>
                                      </p:cBhvr>
                                    </p:animEffect>
                                  </p:childTnLst>
                                </p:cTn>
                              </p:par>
                            </p:childTnLst>
                          </p:cTn>
                        </p:par>
                        <p:par>
                          <p:cTn id="8" fill="hold">
                            <p:stCondLst>
                              <p:cond delay="1000"/>
                            </p:stCondLst>
                            <p:childTnLst>
                              <p:par>
                                <p:cTn id="9" presetID="9" presetClass="entr" fill="hold" grpId="2" nodeType="afterEffect">
                                  <p:stCondLst>
                                    <p:cond delay="0"/>
                                  </p:stCondLst>
                                  <p:iterate>
                                    <p:tmAbs val="0"/>
                                  </p:iterate>
                                  <p:childTnLst>
                                    <p:set>
                                      <p:cBhvr>
                                        <p:cTn id="10" fill="hold"/>
                                        <p:tgtEl>
                                          <p:spTgt spid="510"/>
                                        </p:tgtEl>
                                        <p:attrNameLst>
                                          <p:attrName>style.visibility</p:attrName>
                                        </p:attrNameLst>
                                      </p:cBhvr>
                                      <p:to>
                                        <p:strVal val="visible"/>
                                      </p:to>
                                    </p:set>
                                    <p:animEffect transition="in" filter="dissolve">
                                      <p:cBhvr>
                                        <p:cTn id="11" dur="1000"/>
                                        <p:tgtEl>
                                          <p:spTgt spid="510"/>
                                        </p:tgtEl>
                                      </p:cBhvr>
                                    </p:animEffect>
                                  </p:childTnLst>
                                </p:cTn>
                              </p:par>
                            </p:childTnLst>
                          </p:cTn>
                        </p:par>
                        <p:par>
                          <p:cTn id="12" fill="hold">
                            <p:stCondLst>
                              <p:cond delay="2000"/>
                            </p:stCondLst>
                            <p:childTnLst>
                              <p:par>
                                <p:cTn id="13" presetID="9" presetClass="entr" fill="hold" grpId="3" nodeType="afterEffect">
                                  <p:stCondLst>
                                    <p:cond delay="0"/>
                                  </p:stCondLst>
                                  <p:iterate>
                                    <p:tmAbs val="0"/>
                                  </p:iterate>
                                  <p:childTnLst>
                                    <p:set>
                                      <p:cBhvr>
                                        <p:cTn id="14" fill="hold"/>
                                        <p:tgtEl>
                                          <p:spTgt spid="511"/>
                                        </p:tgtEl>
                                        <p:attrNameLst>
                                          <p:attrName>style.visibility</p:attrName>
                                        </p:attrNameLst>
                                      </p:cBhvr>
                                      <p:to>
                                        <p:strVal val="visible"/>
                                      </p:to>
                                    </p:set>
                                    <p:animEffect transition="in" filter="dissolve">
                                      <p:cBhvr>
                                        <p:cTn id="15" dur="1000"/>
                                        <p:tgtEl>
                                          <p:spTgt spid="5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9" grpId="1" animBg="1" advAuto="0"/>
      <p:bldP spid="510" grpId="2" animBg="1" advAuto="0"/>
      <p:bldP spid="511" grpId="3" animBg="1" advAuto="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513" name="Hominid Evolution3a.png"/>
          <p:cNvPicPr>
            <a:picLocks noChangeAspect="1"/>
          </p:cNvPicPr>
          <p:nvPr/>
        </p:nvPicPr>
        <p:blipFill>
          <a:blip r:embed="rId3">
            <a:extLst/>
          </a:blip>
          <a:srcRect r="29521"/>
          <a:stretch>
            <a:fillRect/>
          </a:stretch>
        </p:blipFill>
        <p:spPr>
          <a:xfrm>
            <a:off x="243710" y="2990282"/>
            <a:ext cx="12909663" cy="6175793"/>
          </a:xfrm>
          <a:prstGeom prst="rect">
            <a:avLst/>
          </a:prstGeom>
          <a:ln w="12700">
            <a:miter lim="400000"/>
          </a:ln>
        </p:spPr>
      </p:pic>
      <p:sp>
        <p:nvSpPr>
          <p:cNvPr id="514" name="Shape 514"/>
          <p:cNvSpPr>
            <a:spLocks noGrp="1"/>
          </p:cNvSpPr>
          <p:nvPr>
            <p:ph type="title"/>
          </p:nvPr>
        </p:nvSpPr>
        <p:spPr>
          <a:prstGeom prst="rect">
            <a:avLst/>
          </a:prstGeom>
        </p:spPr>
        <p:txBody>
          <a:bodyPr/>
          <a:lstStyle>
            <a:lvl1pPr>
              <a:tabLst>
                <a:tab pos="952500" algn="l"/>
              </a:tabLst>
            </a:lvl1pPr>
          </a:lstStyle>
          <a:p>
            <a:r>
              <a:t>Human Evolution Timeline</a:t>
            </a:r>
          </a:p>
        </p:txBody>
      </p:sp>
      <p:sp>
        <p:nvSpPr>
          <p:cNvPr id="515" name="Shape 515"/>
          <p:cNvSpPr/>
          <p:nvPr/>
        </p:nvSpPr>
        <p:spPr>
          <a:xfrm>
            <a:off x="7023100" y="3759200"/>
            <a:ext cx="5369273" cy="16553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a:lnSpc>
                <a:spcPts val="2800"/>
              </a:lnSpc>
              <a:spcBef>
                <a:spcPts val="2000"/>
              </a:spcBef>
              <a:tabLst>
                <a:tab pos="520700" algn="l"/>
              </a:tabLst>
              <a:defRPr sz="2000"/>
            </a:pPr>
            <a:r>
              <a:rPr b="1" i="1"/>
              <a:t>Australopithecus anamensis</a:t>
            </a:r>
            <a:r>
              <a:t>: Discovered at Kanapoi, Kenya in 1994, this earliest known species of the genus </a:t>
            </a:r>
            <a:r>
              <a:rPr b="1" i="1"/>
              <a:t>Australopithecus</a:t>
            </a:r>
            <a:r>
              <a:t> had a mixture of primitive, ape-like features and advanced, human-like features.</a:t>
            </a:r>
          </a:p>
        </p:txBody>
      </p:sp>
      <p:sp>
        <p:nvSpPr>
          <p:cNvPr id="516" name="Shape 516"/>
          <p:cNvSpPr/>
          <p:nvPr/>
        </p:nvSpPr>
        <p:spPr>
          <a:xfrm flipV="1">
            <a:off x="10549466" y="5745921"/>
            <a:ext cx="1" cy="1446513"/>
          </a:xfrm>
          <a:prstGeom prst="line">
            <a:avLst/>
          </a:prstGeom>
          <a:ln w="76200">
            <a:solidFill>
              <a:schemeClr val="accent4">
                <a:hueOff val="384618"/>
                <a:satOff val="3869"/>
                <a:lumOff val="5802"/>
              </a:schemeClr>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p:dissolve/>
      </p:transition>
    </mc:Choice>
    <mc:Fallback xmlns="">
      <p:transition spd="fast">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9" presetClass="entr" fill="hold" grpId="1" nodeType="afterEffect">
                                  <p:stCondLst>
                                    <p:cond delay="0"/>
                                  </p:stCondLst>
                                  <p:iterate>
                                    <p:tmAbs val="0"/>
                                  </p:iterate>
                                  <p:childTnLst>
                                    <p:set>
                                      <p:cBhvr>
                                        <p:cTn id="6" fill="hold"/>
                                        <p:tgtEl>
                                          <p:spTgt spid="515"/>
                                        </p:tgtEl>
                                        <p:attrNameLst>
                                          <p:attrName>style.visibility</p:attrName>
                                        </p:attrNameLst>
                                      </p:cBhvr>
                                      <p:to>
                                        <p:strVal val="visible"/>
                                      </p:to>
                                    </p:set>
                                    <p:animEffect transition="in" filter="dissolve">
                                      <p:cBhvr>
                                        <p:cTn id="7" dur="1000"/>
                                        <p:tgtEl>
                                          <p:spTgt spid="515"/>
                                        </p:tgtEl>
                                      </p:cBhvr>
                                    </p:animEffect>
                                  </p:childTnLst>
                                </p:cTn>
                              </p:par>
                            </p:childTnLst>
                          </p:cTn>
                        </p:par>
                        <p:par>
                          <p:cTn id="8" fill="hold">
                            <p:stCondLst>
                              <p:cond delay="1000"/>
                            </p:stCondLst>
                            <p:childTnLst>
                              <p:par>
                                <p:cTn id="9" presetID="9" presetClass="entr" fill="hold" grpId="2" nodeType="afterEffect">
                                  <p:stCondLst>
                                    <p:cond delay="0"/>
                                  </p:stCondLst>
                                  <p:iterate>
                                    <p:tmAbs val="0"/>
                                  </p:iterate>
                                  <p:childTnLst>
                                    <p:set>
                                      <p:cBhvr>
                                        <p:cTn id="10" fill="hold"/>
                                        <p:tgtEl>
                                          <p:spTgt spid="516"/>
                                        </p:tgtEl>
                                        <p:attrNameLst>
                                          <p:attrName>style.visibility</p:attrName>
                                        </p:attrNameLst>
                                      </p:cBhvr>
                                      <p:to>
                                        <p:strVal val="visible"/>
                                      </p:to>
                                    </p:set>
                                    <p:animEffect transition="in" filter="dissolve">
                                      <p:cBhvr>
                                        <p:cTn id="11" dur="1000"/>
                                        <p:tgtEl>
                                          <p:spTgt spid="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 grpId="1" animBg="1" advAuto="0"/>
      <p:bldP spid="516" grpId="2"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518" name="Hominid Evolution3b.png"/>
          <p:cNvPicPr>
            <a:picLocks noChangeAspect="1"/>
          </p:cNvPicPr>
          <p:nvPr/>
        </p:nvPicPr>
        <p:blipFill>
          <a:blip r:embed="rId3">
            <a:extLst/>
          </a:blip>
          <a:srcRect l="20664"/>
          <a:stretch>
            <a:fillRect/>
          </a:stretch>
        </p:blipFill>
        <p:spPr>
          <a:xfrm>
            <a:off x="-218771" y="2658045"/>
            <a:ext cx="13257305" cy="6401082"/>
          </a:xfrm>
          <a:prstGeom prst="rect">
            <a:avLst/>
          </a:prstGeom>
          <a:ln w="12700">
            <a:miter lim="400000"/>
          </a:ln>
        </p:spPr>
      </p:pic>
      <p:sp>
        <p:nvSpPr>
          <p:cNvPr id="519" name="Shape 519"/>
          <p:cNvSpPr>
            <a:spLocks noGrp="1"/>
          </p:cNvSpPr>
          <p:nvPr>
            <p:ph type="title"/>
          </p:nvPr>
        </p:nvSpPr>
        <p:spPr>
          <a:prstGeom prst="rect">
            <a:avLst/>
          </a:prstGeom>
        </p:spPr>
        <p:txBody>
          <a:bodyPr/>
          <a:lstStyle>
            <a:lvl1pPr>
              <a:tabLst>
                <a:tab pos="952500" algn="l"/>
              </a:tabLst>
            </a:lvl1pPr>
          </a:lstStyle>
          <a:p>
            <a:r>
              <a:t>Human Evolution Timeline</a:t>
            </a:r>
          </a:p>
        </p:txBody>
      </p:sp>
      <p:sp>
        <p:nvSpPr>
          <p:cNvPr id="520" name="Shape 520"/>
          <p:cNvSpPr>
            <a:spLocks noGrp="1"/>
          </p:cNvSpPr>
          <p:nvPr>
            <p:ph type="body" sz="quarter" idx="1"/>
          </p:nvPr>
        </p:nvSpPr>
        <p:spPr>
          <a:xfrm>
            <a:off x="368300" y="1790700"/>
            <a:ext cx="8044954" cy="831354"/>
          </a:xfrm>
          <a:prstGeom prst="rect">
            <a:avLst/>
          </a:prstGeom>
        </p:spPr>
        <p:txBody>
          <a:bodyPr/>
          <a:lstStyle>
            <a:lvl1pPr>
              <a:tabLst>
                <a:tab pos="1016000" algn="l"/>
              </a:tabLst>
            </a:lvl1pPr>
          </a:lstStyle>
          <a:p>
            <a:r>
              <a:t>The last 3 million years have seen a series of adaptive radiations among the more recent hominin groups:</a:t>
            </a:r>
          </a:p>
        </p:txBody>
      </p:sp>
    </p:spTree>
  </p:cSld>
  <p:clrMapOvr>
    <a:masterClrMapping/>
  </p:clrMapOvr>
  <mc:AlternateContent xmlns:mc="http://schemas.openxmlformats.org/markup-compatibility/2006" xmlns:p14="http://schemas.microsoft.com/office/powerpoint/2010/main">
    <mc:Choice Requires="p14">
      <p:transition spd="slow">
        <p:push/>
      </p:transition>
    </mc:Choice>
    <mc:Fallback xmlns="">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afterEffect">
                                  <p:stCondLst>
                                    <p:cond delay="0"/>
                                  </p:stCondLst>
                                  <p:iterate>
                                    <p:tmAbs val="0"/>
                                  </p:iterate>
                                  <p:childTnLst>
                                    <p:set>
                                      <p:cBhvr>
                                        <p:cTn id="6" fill="hold"/>
                                        <p:tgtEl>
                                          <p:spTgt spid="5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0" grpId="1"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522" name="Hominid Evolution3b.png"/>
          <p:cNvPicPr>
            <a:picLocks noChangeAspect="1"/>
          </p:cNvPicPr>
          <p:nvPr/>
        </p:nvPicPr>
        <p:blipFill>
          <a:blip r:embed="rId3">
            <a:extLst/>
          </a:blip>
          <a:srcRect l="20664"/>
          <a:stretch>
            <a:fillRect/>
          </a:stretch>
        </p:blipFill>
        <p:spPr>
          <a:xfrm>
            <a:off x="-218771" y="2658045"/>
            <a:ext cx="13257305" cy="6401082"/>
          </a:xfrm>
          <a:prstGeom prst="rect">
            <a:avLst/>
          </a:prstGeom>
          <a:ln w="12700">
            <a:miter lim="400000"/>
          </a:ln>
        </p:spPr>
      </p:pic>
      <p:sp>
        <p:nvSpPr>
          <p:cNvPr id="523" name="Shape 523"/>
          <p:cNvSpPr>
            <a:spLocks noGrp="1"/>
          </p:cNvSpPr>
          <p:nvPr>
            <p:ph type="title"/>
          </p:nvPr>
        </p:nvSpPr>
        <p:spPr>
          <a:prstGeom prst="rect">
            <a:avLst/>
          </a:prstGeom>
        </p:spPr>
        <p:txBody>
          <a:bodyPr/>
          <a:lstStyle>
            <a:lvl1pPr>
              <a:tabLst>
                <a:tab pos="952500" algn="l"/>
              </a:tabLst>
            </a:lvl1pPr>
          </a:lstStyle>
          <a:p>
            <a:r>
              <a:t>Human Evolution Timeline</a:t>
            </a:r>
          </a:p>
        </p:txBody>
      </p:sp>
      <p:grpSp>
        <p:nvGrpSpPr>
          <p:cNvPr id="527" name="Group 527"/>
          <p:cNvGrpSpPr/>
          <p:nvPr/>
        </p:nvGrpSpPr>
        <p:grpSpPr>
          <a:xfrm>
            <a:off x="571500" y="1243647"/>
            <a:ext cx="6315179" cy="5770986"/>
            <a:chOff x="254000" y="25400"/>
            <a:chExt cx="6315178" cy="5770985"/>
          </a:xfrm>
        </p:grpSpPr>
        <p:sp>
          <p:nvSpPr>
            <p:cNvPr id="524" name="Shape 524"/>
            <p:cNvSpPr/>
            <p:nvPr/>
          </p:nvSpPr>
          <p:spPr>
            <a:xfrm>
              <a:off x="254000" y="2121852"/>
              <a:ext cx="3685283" cy="1312492"/>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p>
              <a:pPr>
                <a:lnSpc>
                  <a:spcPts val="2800"/>
                </a:lnSpc>
                <a:spcBef>
                  <a:spcPts val="2000"/>
                </a:spcBef>
                <a:tabLst>
                  <a:tab pos="520700" algn="l"/>
                </a:tabLst>
                <a:defRPr sz="2000"/>
              </a:pPr>
              <a:r>
                <a:t>Discovered in Kenya, a new genus </a:t>
              </a:r>
              <a:r>
                <a:rPr b="1" i="1"/>
                <a:t>Kenyanthropus</a:t>
              </a:r>
              <a:r>
                <a:t> appears to be an offshoot from the main evolutionary branches</a:t>
              </a:r>
            </a:p>
          </p:txBody>
        </p:sp>
        <p:sp>
          <p:nvSpPr>
            <p:cNvPr id="525" name="Shape 525"/>
            <p:cNvSpPr/>
            <p:nvPr/>
          </p:nvSpPr>
          <p:spPr>
            <a:xfrm flipV="1">
              <a:off x="973666" y="3866037"/>
              <a:ext cx="1" cy="1930349"/>
            </a:xfrm>
            <a:prstGeom prst="line">
              <a:avLst/>
            </a:prstGeom>
            <a:noFill/>
            <a:ln w="76200" cap="flat">
              <a:solidFill>
                <a:schemeClr val="accent4">
                  <a:hueOff val="384618"/>
                  <a:satOff val="3869"/>
                  <a:lumOff val="5802"/>
                </a:schemeClr>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pic>
          <p:nvPicPr>
            <p:cNvPr id="526" name="BH-20 Kenyanthropus platyops 3D skull.png"/>
            <p:cNvPicPr>
              <a:picLocks noChangeAspect="1"/>
            </p:cNvPicPr>
            <p:nvPr/>
          </p:nvPicPr>
          <p:blipFill>
            <a:blip r:embed="rId4">
              <a:extLst/>
            </a:blip>
            <a:stretch>
              <a:fillRect/>
            </a:stretch>
          </p:blipFill>
          <p:spPr>
            <a:xfrm>
              <a:off x="3504791" y="25400"/>
              <a:ext cx="3064388" cy="2374900"/>
            </a:xfrm>
            <a:prstGeom prst="rect">
              <a:avLst/>
            </a:prstGeom>
            <a:ln w="12700" cap="flat">
              <a:noFill/>
              <a:miter lim="400000"/>
            </a:ln>
            <a:effectLst/>
          </p:spPr>
        </p:pic>
      </p:grpSp>
      <p:sp>
        <p:nvSpPr>
          <p:cNvPr id="528" name="Shape 528"/>
          <p:cNvSpPr/>
          <p:nvPr/>
        </p:nvSpPr>
        <p:spPr>
          <a:xfrm>
            <a:off x="10337800" y="9486900"/>
            <a:ext cx="2565400" cy="1397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a:lnSpc>
                <a:spcPts val="1200"/>
              </a:lnSpc>
              <a:tabLst>
                <a:tab pos="520700" algn="l"/>
              </a:tabLst>
              <a:defRPr sz="1000">
                <a:solidFill>
                  <a:srgbClr val="483F36"/>
                </a:solidFill>
              </a:defRPr>
            </a:pPr>
            <a:r>
              <a:t>Photos courtesy of: </a:t>
            </a:r>
            <a:r>
              <a:rPr b="1"/>
              <a:t>SkullsUnlimited.com</a:t>
            </a:r>
          </a:p>
        </p:txBody>
      </p:sp>
    </p:spTree>
  </p:cSld>
  <p:clrMapOvr>
    <a:masterClrMapping/>
  </p:clrMapOvr>
  <mc:AlternateContent xmlns:mc="http://schemas.openxmlformats.org/markup-compatibility/2006" xmlns:p14="http://schemas.microsoft.com/office/powerpoint/2010/main">
    <mc:Choice Requires="p14">
      <p:transition>
        <p:dissolve/>
      </p:transition>
    </mc:Choice>
    <mc:Fallback xmlns="">
      <p:transition spd="fast">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530" name="Hominid Evolution3b.png"/>
          <p:cNvPicPr>
            <a:picLocks noChangeAspect="1"/>
          </p:cNvPicPr>
          <p:nvPr/>
        </p:nvPicPr>
        <p:blipFill>
          <a:blip r:embed="rId3">
            <a:extLst/>
          </a:blip>
          <a:srcRect l="20664"/>
          <a:stretch>
            <a:fillRect/>
          </a:stretch>
        </p:blipFill>
        <p:spPr>
          <a:xfrm>
            <a:off x="-218771" y="2658045"/>
            <a:ext cx="13257305" cy="6401082"/>
          </a:xfrm>
          <a:prstGeom prst="rect">
            <a:avLst/>
          </a:prstGeom>
          <a:ln w="12700">
            <a:miter lim="400000"/>
          </a:ln>
        </p:spPr>
      </p:pic>
      <p:sp>
        <p:nvSpPr>
          <p:cNvPr id="531" name="Shape 531"/>
          <p:cNvSpPr>
            <a:spLocks noGrp="1"/>
          </p:cNvSpPr>
          <p:nvPr>
            <p:ph type="title"/>
          </p:nvPr>
        </p:nvSpPr>
        <p:spPr>
          <a:prstGeom prst="rect">
            <a:avLst/>
          </a:prstGeom>
        </p:spPr>
        <p:txBody>
          <a:bodyPr/>
          <a:lstStyle>
            <a:lvl1pPr>
              <a:tabLst>
                <a:tab pos="952500" algn="l"/>
              </a:tabLst>
            </a:lvl1pPr>
          </a:lstStyle>
          <a:p>
            <a:r>
              <a:t>Human Evolution Timeline</a:t>
            </a:r>
          </a:p>
        </p:txBody>
      </p:sp>
      <p:grpSp>
        <p:nvGrpSpPr>
          <p:cNvPr id="537" name="Group 537"/>
          <p:cNvGrpSpPr/>
          <p:nvPr/>
        </p:nvGrpSpPr>
        <p:grpSpPr>
          <a:xfrm>
            <a:off x="635000" y="1409700"/>
            <a:ext cx="4474568" cy="5325533"/>
            <a:chOff x="0" y="0"/>
            <a:chExt cx="4474567" cy="5325532"/>
          </a:xfrm>
        </p:grpSpPr>
        <p:sp>
          <p:nvSpPr>
            <p:cNvPr id="532" name="Shape 532"/>
            <p:cNvSpPr/>
            <p:nvPr/>
          </p:nvSpPr>
          <p:spPr>
            <a:xfrm>
              <a:off x="0" y="0"/>
              <a:ext cx="4474568" cy="165539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p>
              <a:pPr>
                <a:lnSpc>
                  <a:spcPts val="2800"/>
                </a:lnSpc>
                <a:spcBef>
                  <a:spcPts val="2000"/>
                </a:spcBef>
                <a:tabLst>
                  <a:tab pos="520700" algn="l"/>
                </a:tabLst>
                <a:defRPr sz="2000"/>
              </a:pPr>
              <a:r>
                <a:t>As many as four species from the genus </a:t>
              </a:r>
              <a:r>
                <a:rPr b="1" i="1"/>
                <a:t>Australopithecus</a:t>
              </a:r>
              <a:r>
                <a:t> emerge, with a wide geographic distribution, ranging from southern Africa, through East Africa, to Chad in the north.</a:t>
              </a:r>
            </a:p>
          </p:txBody>
        </p:sp>
        <p:sp>
          <p:nvSpPr>
            <p:cNvPr id="533" name="Shape 533"/>
            <p:cNvSpPr/>
            <p:nvPr/>
          </p:nvSpPr>
          <p:spPr>
            <a:xfrm flipV="1">
              <a:off x="948266" y="2120888"/>
              <a:ext cx="1" cy="3204645"/>
            </a:xfrm>
            <a:prstGeom prst="line">
              <a:avLst/>
            </a:prstGeom>
            <a:noFill/>
            <a:ln w="76200" cap="flat">
              <a:solidFill>
                <a:schemeClr val="accent4">
                  <a:hueOff val="384618"/>
                  <a:satOff val="3869"/>
                  <a:lumOff val="5802"/>
                </a:schemeClr>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534" name="Shape 534"/>
            <p:cNvSpPr/>
            <p:nvPr/>
          </p:nvSpPr>
          <p:spPr>
            <a:xfrm flipV="1">
              <a:off x="1710266" y="2120888"/>
              <a:ext cx="1" cy="2705166"/>
            </a:xfrm>
            <a:prstGeom prst="line">
              <a:avLst/>
            </a:prstGeom>
            <a:noFill/>
            <a:ln w="76200" cap="flat">
              <a:solidFill>
                <a:schemeClr val="accent4">
                  <a:hueOff val="384618"/>
                  <a:satOff val="3869"/>
                  <a:lumOff val="5802"/>
                </a:schemeClr>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535" name="Shape 535"/>
            <p:cNvSpPr/>
            <p:nvPr/>
          </p:nvSpPr>
          <p:spPr>
            <a:xfrm flipV="1">
              <a:off x="2967566" y="2120888"/>
              <a:ext cx="1" cy="1969281"/>
            </a:xfrm>
            <a:prstGeom prst="line">
              <a:avLst/>
            </a:prstGeom>
            <a:noFill/>
            <a:ln w="76200" cap="flat">
              <a:solidFill>
                <a:schemeClr val="accent4">
                  <a:hueOff val="384618"/>
                  <a:satOff val="3869"/>
                  <a:lumOff val="5802"/>
                </a:schemeClr>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536" name="Shape 536"/>
            <p:cNvSpPr/>
            <p:nvPr/>
          </p:nvSpPr>
          <p:spPr>
            <a:xfrm>
              <a:off x="2540000" y="2133600"/>
              <a:ext cx="553255" cy="293794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2816"/>
                  </a:lnTo>
                  <a:lnTo>
                    <a:pt x="21600" y="21600"/>
                  </a:lnTo>
                </a:path>
              </a:pathLst>
            </a:custGeom>
            <a:solidFill>
              <a:srgbClr val="E0B464">
                <a:alpha val="15000"/>
              </a:srgbClr>
            </a:solidFill>
            <a:ln w="76200" cap="flat">
              <a:solidFill>
                <a:schemeClr val="accent4">
                  <a:hueOff val="384618"/>
                  <a:satOff val="3869"/>
                  <a:lumOff val="5802"/>
                </a:schemeClr>
              </a:solidFill>
              <a:prstDash val="solid"/>
              <a:miter lim="400000"/>
              <a:tailEnd type="triangle" w="med" len="med"/>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spTree>
  </p:cSld>
  <p:clrMapOvr>
    <a:masterClrMapping/>
  </p:clrMapOvr>
  <mc:AlternateContent xmlns:mc="http://schemas.openxmlformats.org/markup-compatibility/2006" xmlns:p14="http://schemas.microsoft.com/office/powerpoint/2010/main">
    <mc:Choice Requires="p14">
      <p:transition>
        <p:dissolve/>
      </p:transition>
    </mc:Choice>
    <mc:Fallback xmlns="">
      <p:transition spd="fast">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9" name="Hominid Evolution3b.png"/>
          <p:cNvPicPr>
            <a:picLocks noChangeAspect="1"/>
          </p:cNvPicPr>
          <p:nvPr/>
        </p:nvPicPr>
        <p:blipFill>
          <a:blip r:embed="rId3">
            <a:extLst/>
          </a:blip>
          <a:srcRect l="20664"/>
          <a:stretch>
            <a:fillRect/>
          </a:stretch>
        </p:blipFill>
        <p:spPr>
          <a:xfrm>
            <a:off x="-218771" y="2658045"/>
            <a:ext cx="13257305" cy="6401082"/>
          </a:xfrm>
          <a:prstGeom prst="rect">
            <a:avLst/>
          </a:prstGeom>
          <a:ln w="12700">
            <a:miter lim="400000"/>
          </a:ln>
        </p:spPr>
      </p:pic>
      <p:sp>
        <p:nvSpPr>
          <p:cNvPr id="540" name="Shape 540"/>
          <p:cNvSpPr>
            <a:spLocks noGrp="1"/>
          </p:cNvSpPr>
          <p:nvPr>
            <p:ph type="title"/>
          </p:nvPr>
        </p:nvSpPr>
        <p:spPr>
          <a:prstGeom prst="rect">
            <a:avLst/>
          </a:prstGeom>
        </p:spPr>
        <p:txBody>
          <a:bodyPr/>
          <a:lstStyle>
            <a:lvl1pPr>
              <a:tabLst>
                <a:tab pos="952500" algn="l"/>
              </a:tabLst>
            </a:lvl1pPr>
          </a:lstStyle>
          <a:p>
            <a:r>
              <a:t>Human Evolution Timeline</a:t>
            </a:r>
          </a:p>
        </p:txBody>
      </p:sp>
      <p:grpSp>
        <p:nvGrpSpPr>
          <p:cNvPr id="545" name="Group 545"/>
          <p:cNvGrpSpPr/>
          <p:nvPr/>
        </p:nvGrpSpPr>
        <p:grpSpPr>
          <a:xfrm>
            <a:off x="444500" y="1714499"/>
            <a:ext cx="6762949" cy="7852992"/>
            <a:chOff x="0" y="165099"/>
            <a:chExt cx="6762948" cy="7852990"/>
          </a:xfrm>
        </p:grpSpPr>
        <p:grpSp>
          <p:nvGrpSpPr>
            <p:cNvPr id="543" name="Group 543"/>
            <p:cNvGrpSpPr/>
            <p:nvPr/>
          </p:nvGrpSpPr>
          <p:grpSpPr>
            <a:xfrm>
              <a:off x="1473200" y="165100"/>
              <a:ext cx="5289749" cy="5325534"/>
              <a:chOff x="1295400" y="165100"/>
              <a:chExt cx="5289748" cy="5325533"/>
            </a:xfrm>
          </p:grpSpPr>
          <p:sp>
            <p:nvSpPr>
              <p:cNvPr id="541" name="Shape 541"/>
              <p:cNvSpPr/>
              <p:nvPr/>
            </p:nvSpPr>
            <p:spPr>
              <a:xfrm>
                <a:off x="1295400" y="165100"/>
                <a:ext cx="5289749" cy="165539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p>
                <a:pPr>
                  <a:lnSpc>
                    <a:spcPts val="2800"/>
                  </a:lnSpc>
                  <a:spcBef>
                    <a:spcPts val="2000"/>
                  </a:spcBef>
                  <a:tabLst>
                    <a:tab pos="520700" algn="l"/>
                  </a:tabLst>
                  <a:defRPr sz="2000"/>
                </a:pPr>
                <a:r>
                  <a:t>A group of species from the genus </a:t>
                </a:r>
                <a:r>
                  <a:rPr b="1" i="1"/>
                  <a:t>Paranthropus*</a:t>
                </a:r>
                <a:r>
                  <a:t> emerge in southern and eastern Africa. They coexisted with the emerging genus </a:t>
                </a:r>
                <a:r>
                  <a:rPr b="1" i="1"/>
                  <a:t>Homo</a:t>
                </a:r>
                <a:r>
                  <a:t> and were superbly adapted to exploit low grade vegetarian diet.</a:t>
                </a:r>
              </a:p>
            </p:txBody>
          </p:sp>
          <p:sp>
            <p:nvSpPr>
              <p:cNvPr id="542" name="Shape 542"/>
              <p:cNvSpPr/>
              <p:nvPr/>
            </p:nvSpPr>
            <p:spPr>
              <a:xfrm flipV="1">
                <a:off x="4034366" y="1987088"/>
                <a:ext cx="1" cy="3503546"/>
              </a:xfrm>
              <a:prstGeom prst="line">
                <a:avLst/>
              </a:prstGeom>
              <a:noFill/>
              <a:ln w="76200" cap="flat">
                <a:solidFill>
                  <a:schemeClr val="accent4">
                    <a:hueOff val="384618"/>
                    <a:satOff val="3869"/>
                    <a:lumOff val="5802"/>
                  </a:schemeClr>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
          <p:nvSpPr>
            <p:cNvPr id="544" name="Shape 544"/>
            <p:cNvSpPr/>
            <p:nvPr/>
          </p:nvSpPr>
          <p:spPr>
            <a:xfrm>
              <a:off x="0" y="7632700"/>
              <a:ext cx="5551314" cy="38539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800" tIns="50800" rIns="50800" bIns="50800" numCol="1" anchor="t">
              <a:spAutoFit/>
            </a:bodyPr>
            <a:lstStyle/>
            <a:p>
              <a:pPr>
                <a:lnSpc>
                  <a:spcPts val="2800"/>
                </a:lnSpc>
                <a:spcBef>
                  <a:spcPts val="2000"/>
                </a:spcBef>
                <a:tabLst>
                  <a:tab pos="520700" algn="l"/>
                </a:tabLst>
                <a:defRPr sz="2000"/>
              </a:pPr>
              <a:r>
                <a:rPr b="1" i="1"/>
                <a:t>* </a:t>
              </a:r>
              <a:r>
                <a:t>Designated </a:t>
              </a:r>
              <a:r>
                <a:rPr i="1"/>
                <a:t>Australopithecus</a:t>
              </a:r>
              <a:r>
                <a:t> in some sources</a:t>
              </a:r>
            </a:p>
          </p:txBody>
        </p:sp>
      </p:grpSp>
    </p:spTree>
  </p:cSld>
  <p:clrMapOvr>
    <a:masterClrMapping/>
  </p:clrMapOvr>
  <mc:AlternateContent xmlns:mc="http://schemas.openxmlformats.org/markup-compatibility/2006" xmlns:p14="http://schemas.microsoft.com/office/powerpoint/2010/main">
    <mc:Choice Requires="p14">
      <p:transition>
        <p:dissolve/>
      </p:transition>
    </mc:Choice>
    <mc:Fallback xmlns="">
      <p:transition spd="fast">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547" name="Hominid Evolution3b.png"/>
          <p:cNvPicPr>
            <a:picLocks noChangeAspect="1"/>
          </p:cNvPicPr>
          <p:nvPr/>
        </p:nvPicPr>
        <p:blipFill>
          <a:blip r:embed="rId3">
            <a:extLst/>
          </a:blip>
          <a:srcRect l="20664"/>
          <a:stretch>
            <a:fillRect/>
          </a:stretch>
        </p:blipFill>
        <p:spPr>
          <a:xfrm>
            <a:off x="-218771" y="2658045"/>
            <a:ext cx="13257305" cy="6401082"/>
          </a:xfrm>
          <a:prstGeom prst="rect">
            <a:avLst/>
          </a:prstGeom>
          <a:ln w="12700">
            <a:miter lim="400000"/>
          </a:ln>
        </p:spPr>
      </p:pic>
      <p:sp>
        <p:nvSpPr>
          <p:cNvPr id="548" name="Shape 548"/>
          <p:cNvSpPr>
            <a:spLocks noGrp="1"/>
          </p:cNvSpPr>
          <p:nvPr>
            <p:ph type="title"/>
          </p:nvPr>
        </p:nvSpPr>
        <p:spPr>
          <a:prstGeom prst="rect">
            <a:avLst/>
          </a:prstGeom>
        </p:spPr>
        <p:txBody>
          <a:bodyPr/>
          <a:lstStyle>
            <a:lvl1pPr>
              <a:tabLst>
                <a:tab pos="952500" algn="l"/>
              </a:tabLst>
            </a:lvl1pPr>
          </a:lstStyle>
          <a:p>
            <a:r>
              <a:t>Human Evolution Timeline</a:t>
            </a:r>
          </a:p>
        </p:txBody>
      </p:sp>
      <p:grpSp>
        <p:nvGrpSpPr>
          <p:cNvPr id="551" name="Group 551"/>
          <p:cNvGrpSpPr/>
          <p:nvPr/>
        </p:nvGrpSpPr>
        <p:grpSpPr>
          <a:xfrm>
            <a:off x="1066800" y="1574800"/>
            <a:ext cx="7175500" cy="3611880"/>
            <a:chOff x="0" y="406400"/>
            <a:chExt cx="7175500" cy="3611879"/>
          </a:xfrm>
        </p:grpSpPr>
        <p:sp>
          <p:nvSpPr>
            <p:cNvPr id="549" name="Shape 549"/>
            <p:cNvSpPr/>
            <p:nvPr/>
          </p:nvSpPr>
          <p:spPr>
            <a:xfrm>
              <a:off x="0" y="406400"/>
              <a:ext cx="7175500" cy="131249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p>
              <a:pPr>
                <a:lnSpc>
                  <a:spcPts val="2800"/>
                </a:lnSpc>
                <a:spcBef>
                  <a:spcPts val="2000"/>
                </a:spcBef>
                <a:tabLst>
                  <a:tab pos="520700" algn="l"/>
                </a:tabLst>
                <a:defRPr sz="2000"/>
              </a:pPr>
              <a:r>
                <a:t>The first species of genus </a:t>
              </a:r>
              <a:r>
                <a:rPr b="1" i="1"/>
                <a:t>Homo</a:t>
              </a:r>
              <a:r>
                <a:t> emerges from a probable Australopithecine ancestor. A small-brained species with fully developed bipedal locomotion, it has a talent for shaping tools from stone. This hominin does not venture out of Africa.</a:t>
              </a:r>
            </a:p>
          </p:txBody>
        </p:sp>
        <p:sp>
          <p:nvSpPr>
            <p:cNvPr id="550" name="Shape 550"/>
            <p:cNvSpPr/>
            <p:nvPr/>
          </p:nvSpPr>
          <p:spPr>
            <a:xfrm flipH="1" flipV="1">
              <a:off x="3615394" y="2069917"/>
              <a:ext cx="11727" cy="1948363"/>
            </a:xfrm>
            <a:prstGeom prst="line">
              <a:avLst/>
            </a:prstGeom>
            <a:noFill/>
            <a:ln w="76200" cap="flat">
              <a:solidFill>
                <a:schemeClr val="accent4">
                  <a:hueOff val="384618"/>
                  <a:satOff val="3869"/>
                  <a:lumOff val="5802"/>
                </a:schemeClr>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Tree>
  </p:cSld>
  <p:clrMapOvr>
    <a:masterClrMapping/>
  </p:clrMapOvr>
  <mc:AlternateContent xmlns:mc="http://schemas.openxmlformats.org/markup-compatibility/2006" xmlns:p14="http://schemas.microsoft.com/office/powerpoint/2010/main">
    <mc:Choice Requires="p14">
      <p:transition>
        <p:dissolve/>
      </p:transition>
    </mc:Choice>
    <mc:Fallback xmlns="">
      <p:transition spd="fast">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553" name="Hominid Evolution3b.png"/>
          <p:cNvPicPr>
            <a:picLocks noChangeAspect="1"/>
          </p:cNvPicPr>
          <p:nvPr/>
        </p:nvPicPr>
        <p:blipFill>
          <a:blip r:embed="rId3">
            <a:extLst/>
          </a:blip>
          <a:srcRect l="20664"/>
          <a:stretch>
            <a:fillRect/>
          </a:stretch>
        </p:blipFill>
        <p:spPr>
          <a:xfrm>
            <a:off x="-218771" y="2658045"/>
            <a:ext cx="13257305" cy="6401082"/>
          </a:xfrm>
          <a:prstGeom prst="rect">
            <a:avLst/>
          </a:prstGeom>
          <a:ln w="12700">
            <a:miter lim="400000"/>
          </a:ln>
        </p:spPr>
      </p:pic>
      <p:sp>
        <p:nvSpPr>
          <p:cNvPr id="554" name="Shape 554"/>
          <p:cNvSpPr>
            <a:spLocks noGrp="1"/>
          </p:cNvSpPr>
          <p:nvPr>
            <p:ph type="title"/>
          </p:nvPr>
        </p:nvSpPr>
        <p:spPr>
          <a:prstGeom prst="rect">
            <a:avLst/>
          </a:prstGeom>
        </p:spPr>
        <p:txBody>
          <a:bodyPr/>
          <a:lstStyle>
            <a:lvl1pPr>
              <a:tabLst>
                <a:tab pos="952500" algn="l"/>
              </a:tabLst>
            </a:lvl1pPr>
          </a:lstStyle>
          <a:p>
            <a:r>
              <a:t>Human Evolution Timeline</a:t>
            </a:r>
          </a:p>
        </p:txBody>
      </p:sp>
      <p:grpSp>
        <p:nvGrpSpPr>
          <p:cNvPr id="568" name="Group 568"/>
          <p:cNvGrpSpPr/>
          <p:nvPr/>
        </p:nvGrpSpPr>
        <p:grpSpPr>
          <a:xfrm>
            <a:off x="1752600" y="1701800"/>
            <a:ext cx="10605348" cy="4216666"/>
            <a:chOff x="0" y="0"/>
            <a:chExt cx="10605347" cy="4216665"/>
          </a:xfrm>
        </p:grpSpPr>
        <p:grpSp>
          <p:nvGrpSpPr>
            <p:cNvPr id="566" name="Group 566"/>
            <p:cNvGrpSpPr/>
            <p:nvPr/>
          </p:nvGrpSpPr>
          <p:grpSpPr>
            <a:xfrm>
              <a:off x="0" y="0"/>
              <a:ext cx="10605348" cy="4216667"/>
              <a:chOff x="0" y="0"/>
              <a:chExt cx="10605347" cy="4216666"/>
            </a:xfrm>
          </p:grpSpPr>
          <p:sp>
            <p:nvSpPr>
              <p:cNvPr id="555" name="Shape 555"/>
              <p:cNvSpPr/>
              <p:nvPr/>
            </p:nvSpPr>
            <p:spPr>
              <a:xfrm>
                <a:off x="0" y="0"/>
                <a:ext cx="6214865" cy="131249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p>
                <a:pPr>
                  <a:lnSpc>
                    <a:spcPts val="2800"/>
                  </a:lnSpc>
                  <a:spcBef>
                    <a:spcPts val="2000"/>
                  </a:spcBef>
                  <a:tabLst>
                    <a:tab pos="520700" algn="l"/>
                  </a:tabLst>
                  <a:defRPr sz="2000"/>
                </a:pPr>
                <a:r>
                  <a:t>What followed was an </a:t>
                </a:r>
                <a:r>
                  <a:rPr b="1"/>
                  <a:t>adaptive radiation</a:t>
                </a:r>
                <a:r>
                  <a:t> of the genus </a:t>
                </a:r>
                <a:r>
                  <a:rPr b="1" i="1"/>
                  <a:t>Homo</a:t>
                </a:r>
                <a:r>
                  <a:t>, leading to increased body height, brain capacity, complex social behaviour, and a geographic distribution that extended well beyond Africa.</a:t>
                </a:r>
              </a:p>
            </p:txBody>
          </p:sp>
          <p:sp>
            <p:nvSpPr>
              <p:cNvPr id="556" name="Shape 556"/>
              <p:cNvSpPr/>
              <p:nvPr/>
            </p:nvSpPr>
            <p:spPr>
              <a:xfrm flipV="1">
                <a:off x="4491567" y="2400237"/>
                <a:ext cx="1" cy="577591"/>
              </a:xfrm>
              <a:prstGeom prst="line">
                <a:avLst/>
              </a:prstGeom>
              <a:noFill/>
              <a:ln w="76200" cap="flat">
                <a:solidFill>
                  <a:schemeClr val="accent4">
                    <a:hueOff val="384618"/>
                    <a:satOff val="3869"/>
                    <a:lumOff val="5802"/>
                  </a:schemeClr>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557" name="Shape 557"/>
              <p:cNvSpPr/>
              <p:nvPr/>
            </p:nvSpPr>
            <p:spPr>
              <a:xfrm flipV="1">
                <a:off x="4974167" y="2768584"/>
                <a:ext cx="1" cy="577544"/>
              </a:xfrm>
              <a:prstGeom prst="line">
                <a:avLst/>
              </a:prstGeom>
              <a:noFill/>
              <a:ln w="76200" cap="flat">
                <a:solidFill>
                  <a:schemeClr val="accent4">
                    <a:hueOff val="384618"/>
                    <a:satOff val="3869"/>
                    <a:lumOff val="5802"/>
                  </a:schemeClr>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558" name="Shape 558"/>
              <p:cNvSpPr/>
              <p:nvPr/>
            </p:nvSpPr>
            <p:spPr>
              <a:xfrm flipV="1">
                <a:off x="6523567" y="2971412"/>
                <a:ext cx="1" cy="577916"/>
              </a:xfrm>
              <a:prstGeom prst="line">
                <a:avLst/>
              </a:prstGeom>
              <a:noFill/>
              <a:ln w="76200" cap="flat">
                <a:solidFill>
                  <a:schemeClr val="accent4">
                    <a:hueOff val="384618"/>
                    <a:satOff val="3869"/>
                    <a:lumOff val="5802"/>
                  </a:schemeClr>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559" name="Shape 559"/>
              <p:cNvSpPr/>
              <p:nvPr/>
            </p:nvSpPr>
            <p:spPr>
              <a:xfrm flipV="1">
                <a:off x="7539567" y="3352740"/>
                <a:ext cx="1" cy="597227"/>
              </a:xfrm>
              <a:prstGeom prst="line">
                <a:avLst/>
              </a:prstGeom>
              <a:noFill/>
              <a:ln w="76200" cap="flat">
                <a:solidFill>
                  <a:schemeClr val="accent4">
                    <a:hueOff val="384618"/>
                    <a:satOff val="3869"/>
                    <a:lumOff val="5802"/>
                  </a:schemeClr>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560" name="Shape 560"/>
              <p:cNvSpPr/>
              <p:nvPr/>
            </p:nvSpPr>
            <p:spPr>
              <a:xfrm flipV="1">
                <a:off x="8771467" y="3682983"/>
                <a:ext cx="1" cy="533684"/>
              </a:xfrm>
              <a:prstGeom prst="line">
                <a:avLst/>
              </a:prstGeom>
              <a:noFill/>
              <a:ln w="76200" cap="flat">
                <a:solidFill>
                  <a:schemeClr val="accent4">
                    <a:hueOff val="384618"/>
                    <a:satOff val="3869"/>
                    <a:lumOff val="5802"/>
                  </a:schemeClr>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561" name="Shape 561"/>
              <p:cNvSpPr/>
              <p:nvPr/>
            </p:nvSpPr>
            <p:spPr>
              <a:xfrm flipV="1">
                <a:off x="9850966" y="2339050"/>
                <a:ext cx="1" cy="495856"/>
              </a:xfrm>
              <a:prstGeom prst="line">
                <a:avLst/>
              </a:prstGeom>
              <a:noFill/>
              <a:ln w="76200" cap="flat">
                <a:solidFill>
                  <a:schemeClr val="accent4">
                    <a:hueOff val="384618"/>
                    <a:satOff val="3869"/>
                    <a:lumOff val="5802"/>
                  </a:schemeClr>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562" name="Shape 562"/>
              <p:cNvSpPr/>
              <p:nvPr/>
            </p:nvSpPr>
            <p:spPr>
              <a:xfrm flipV="1">
                <a:off x="10140526" y="1541712"/>
                <a:ext cx="1" cy="533734"/>
              </a:xfrm>
              <a:prstGeom prst="line">
                <a:avLst/>
              </a:prstGeom>
              <a:noFill/>
              <a:ln w="76200" cap="flat">
                <a:solidFill>
                  <a:schemeClr val="accent4">
                    <a:hueOff val="384618"/>
                    <a:satOff val="3869"/>
                    <a:lumOff val="5802"/>
                  </a:schemeClr>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563" name="Shape 563"/>
              <p:cNvSpPr/>
              <p:nvPr/>
            </p:nvSpPr>
            <p:spPr>
              <a:xfrm flipV="1">
                <a:off x="10193866" y="2908300"/>
                <a:ext cx="1" cy="508000"/>
              </a:xfrm>
              <a:prstGeom prst="line">
                <a:avLst/>
              </a:prstGeom>
              <a:noFill/>
              <a:ln w="76200" cap="flat">
                <a:solidFill>
                  <a:schemeClr val="accent4">
                    <a:hueOff val="384618"/>
                    <a:satOff val="3869"/>
                    <a:lumOff val="5802"/>
                  </a:schemeClr>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564" name="Shape 564"/>
              <p:cNvSpPr/>
              <p:nvPr/>
            </p:nvSpPr>
            <p:spPr>
              <a:xfrm flipV="1">
                <a:off x="4859867" y="2082737"/>
                <a:ext cx="1" cy="577591"/>
              </a:xfrm>
              <a:prstGeom prst="line">
                <a:avLst/>
              </a:prstGeom>
              <a:noFill/>
              <a:ln w="76200" cap="flat">
                <a:solidFill>
                  <a:schemeClr val="accent4">
                    <a:hueOff val="384618"/>
                    <a:satOff val="3869"/>
                    <a:lumOff val="5802"/>
                  </a:schemeClr>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565" name="Shape 565"/>
              <p:cNvSpPr/>
              <p:nvPr/>
            </p:nvSpPr>
            <p:spPr>
              <a:xfrm flipV="1">
                <a:off x="10605347" y="1968500"/>
                <a:ext cx="1" cy="508000"/>
              </a:xfrm>
              <a:prstGeom prst="line">
                <a:avLst/>
              </a:prstGeom>
              <a:noFill/>
              <a:ln w="76200" cap="flat">
                <a:solidFill>
                  <a:schemeClr val="accent4">
                    <a:hueOff val="384618"/>
                    <a:satOff val="3869"/>
                    <a:lumOff val="5802"/>
                  </a:schemeClr>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
          <p:nvSpPr>
            <p:cNvPr id="567" name="Shape 567"/>
            <p:cNvSpPr/>
            <p:nvPr/>
          </p:nvSpPr>
          <p:spPr>
            <a:xfrm flipV="1">
              <a:off x="9472507" y="2715259"/>
              <a:ext cx="1" cy="508001"/>
            </a:xfrm>
            <a:prstGeom prst="line">
              <a:avLst/>
            </a:prstGeom>
            <a:noFill/>
            <a:ln w="76200" cap="flat">
              <a:solidFill>
                <a:schemeClr val="accent4">
                  <a:hueOff val="384618"/>
                  <a:satOff val="3869"/>
                  <a:lumOff val="5802"/>
                </a:schemeClr>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Tree>
  </p:cSld>
  <p:clrMapOvr>
    <a:masterClrMapping/>
  </p:clrMapOvr>
  <mc:AlternateContent xmlns:mc="http://schemas.openxmlformats.org/markup-compatibility/2006" xmlns:p14="http://schemas.microsoft.com/office/powerpoint/2010/main">
    <mc:Choice Requires="p14">
      <p:transition>
        <p:dissolve/>
      </p:transition>
    </mc:Choice>
    <mc:Fallback xmlns="">
      <p:transition spd="fast">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570" name="Hominid Evolution3b.png"/>
          <p:cNvPicPr>
            <a:picLocks noChangeAspect="1"/>
          </p:cNvPicPr>
          <p:nvPr/>
        </p:nvPicPr>
        <p:blipFill>
          <a:blip r:embed="rId3">
            <a:extLst/>
          </a:blip>
          <a:srcRect l="20664"/>
          <a:stretch>
            <a:fillRect/>
          </a:stretch>
        </p:blipFill>
        <p:spPr>
          <a:xfrm>
            <a:off x="-218771" y="2658045"/>
            <a:ext cx="13257305" cy="6401082"/>
          </a:xfrm>
          <a:prstGeom prst="rect">
            <a:avLst/>
          </a:prstGeom>
          <a:ln w="12700">
            <a:miter lim="400000"/>
          </a:ln>
        </p:spPr>
      </p:pic>
      <p:sp>
        <p:nvSpPr>
          <p:cNvPr id="571" name="Shape 571"/>
          <p:cNvSpPr>
            <a:spLocks noGrp="1"/>
          </p:cNvSpPr>
          <p:nvPr>
            <p:ph type="title"/>
          </p:nvPr>
        </p:nvSpPr>
        <p:spPr>
          <a:prstGeom prst="rect">
            <a:avLst/>
          </a:prstGeom>
        </p:spPr>
        <p:txBody>
          <a:bodyPr/>
          <a:lstStyle>
            <a:lvl1pPr>
              <a:tabLst>
                <a:tab pos="952500" algn="l"/>
              </a:tabLst>
            </a:lvl1pPr>
          </a:lstStyle>
          <a:p>
            <a:r>
              <a:t>Human Evolution Timeline</a:t>
            </a:r>
          </a:p>
        </p:txBody>
      </p:sp>
      <p:grpSp>
        <p:nvGrpSpPr>
          <p:cNvPr id="574" name="Group 574"/>
          <p:cNvGrpSpPr/>
          <p:nvPr/>
        </p:nvGrpSpPr>
        <p:grpSpPr>
          <a:xfrm>
            <a:off x="4927600" y="1473199"/>
            <a:ext cx="6978399" cy="3740416"/>
            <a:chOff x="1473200" y="0"/>
            <a:chExt cx="6978398" cy="3740414"/>
          </a:xfrm>
        </p:grpSpPr>
        <p:sp>
          <p:nvSpPr>
            <p:cNvPr id="572" name="Shape 572"/>
            <p:cNvSpPr/>
            <p:nvPr/>
          </p:nvSpPr>
          <p:spPr>
            <a:xfrm>
              <a:off x="1473200" y="0"/>
              <a:ext cx="6863954" cy="131249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p>
              <a:pPr>
                <a:lnSpc>
                  <a:spcPts val="2800"/>
                </a:lnSpc>
                <a:spcBef>
                  <a:spcPts val="2000"/>
                </a:spcBef>
                <a:tabLst>
                  <a:tab pos="520700" algn="l"/>
                </a:tabLst>
                <a:defRPr sz="2000"/>
              </a:pPr>
              <a:r>
                <a:t>A recent, and perhaps quite perplexing part of this emerging story, is the discovery in 2003 of what appears to be a ‘pygmy’ species of human that lived on the Indonesian island of </a:t>
              </a:r>
              <a:r>
                <a:rPr b="1"/>
                <a:t>Flores</a:t>
              </a:r>
              <a:r>
                <a:t> between </a:t>
              </a:r>
              <a:r>
                <a:rPr b="1"/>
                <a:t>190,000 - 50,000 </a:t>
              </a:r>
              <a:r>
                <a:t>years ago.</a:t>
              </a:r>
            </a:p>
          </p:txBody>
        </p:sp>
        <p:sp>
          <p:nvSpPr>
            <p:cNvPr id="573" name="Shape 573"/>
            <p:cNvSpPr/>
            <p:nvPr/>
          </p:nvSpPr>
          <p:spPr>
            <a:xfrm flipH="1" flipV="1">
              <a:off x="6565899" y="1600199"/>
              <a:ext cx="1885700" cy="2140216"/>
            </a:xfrm>
            <a:prstGeom prst="line">
              <a:avLst/>
            </a:prstGeom>
            <a:noFill/>
            <a:ln w="76200" cap="flat">
              <a:solidFill>
                <a:schemeClr val="accent4">
                  <a:hueOff val="384618"/>
                  <a:satOff val="3869"/>
                  <a:lumOff val="5802"/>
                </a:schemeClr>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pic>
        <p:nvPicPr>
          <p:cNvPr id="575" name="SU-Floresiensis.png"/>
          <p:cNvPicPr>
            <a:picLocks noChangeAspect="1"/>
          </p:cNvPicPr>
          <p:nvPr/>
        </p:nvPicPr>
        <p:blipFill>
          <a:blip r:embed="rId4">
            <a:extLst/>
          </a:blip>
          <a:stretch>
            <a:fillRect/>
          </a:stretch>
        </p:blipFill>
        <p:spPr>
          <a:xfrm rot="21154114" flipH="1">
            <a:off x="393700" y="1523999"/>
            <a:ext cx="2565401" cy="3191601"/>
          </a:xfrm>
          <a:prstGeom prst="rect">
            <a:avLst/>
          </a:prstGeom>
          <a:ln w="12700">
            <a:miter lim="400000"/>
          </a:ln>
          <a:effectLst>
            <a:outerShdw blurRad="190500" dist="190500" dir="2700000" rotWithShape="0">
              <a:srgbClr val="000000">
                <a:alpha val="50000"/>
              </a:srgbClr>
            </a:outerShdw>
          </a:effectLst>
        </p:spPr>
      </p:pic>
      <p:sp>
        <p:nvSpPr>
          <p:cNvPr id="576" name="Shape 576"/>
          <p:cNvSpPr/>
          <p:nvPr/>
        </p:nvSpPr>
        <p:spPr>
          <a:xfrm>
            <a:off x="10337800" y="9486900"/>
            <a:ext cx="2565400" cy="1397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a:lnSpc>
                <a:spcPts val="1200"/>
              </a:lnSpc>
              <a:tabLst>
                <a:tab pos="520700" algn="l"/>
              </a:tabLst>
              <a:defRPr sz="1000">
                <a:solidFill>
                  <a:srgbClr val="483F36"/>
                </a:solidFill>
              </a:defRPr>
            </a:pPr>
            <a:r>
              <a:t>Photos courtesy of: </a:t>
            </a:r>
            <a:r>
              <a:rPr b="1"/>
              <a:t>SkullsUnlimited.com</a:t>
            </a:r>
          </a:p>
        </p:txBody>
      </p:sp>
    </p:spTree>
  </p:cSld>
  <p:clrMapOvr>
    <a:masterClrMapping/>
  </p:clrMapOvr>
  <mc:AlternateContent xmlns:mc="http://schemas.openxmlformats.org/markup-compatibility/2006" xmlns:p14="http://schemas.microsoft.com/office/powerpoint/2010/main">
    <mc:Choice Requires="p14">
      <p:transition>
        <p:dissolve/>
      </p:transition>
    </mc:Choice>
    <mc:Fallback xmlns="">
      <p:transition spd="fast">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578" name="Hominid Evolution3b.png"/>
          <p:cNvPicPr>
            <a:picLocks noChangeAspect="1"/>
          </p:cNvPicPr>
          <p:nvPr/>
        </p:nvPicPr>
        <p:blipFill>
          <a:blip r:embed="rId3">
            <a:extLst/>
          </a:blip>
          <a:srcRect l="20664"/>
          <a:stretch>
            <a:fillRect/>
          </a:stretch>
        </p:blipFill>
        <p:spPr>
          <a:xfrm>
            <a:off x="-218771" y="2658045"/>
            <a:ext cx="13257305" cy="6401082"/>
          </a:xfrm>
          <a:prstGeom prst="rect">
            <a:avLst/>
          </a:prstGeom>
          <a:ln w="12700">
            <a:miter lim="400000"/>
          </a:ln>
        </p:spPr>
      </p:pic>
      <p:sp>
        <p:nvSpPr>
          <p:cNvPr id="579" name="Shape 579"/>
          <p:cNvSpPr>
            <a:spLocks noGrp="1"/>
          </p:cNvSpPr>
          <p:nvPr>
            <p:ph type="title"/>
          </p:nvPr>
        </p:nvSpPr>
        <p:spPr>
          <a:prstGeom prst="rect">
            <a:avLst/>
          </a:prstGeom>
        </p:spPr>
        <p:txBody>
          <a:bodyPr/>
          <a:lstStyle>
            <a:lvl1pPr>
              <a:tabLst>
                <a:tab pos="952500" algn="l"/>
              </a:tabLst>
            </a:lvl1pPr>
          </a:lstStyle>
          <a:p>
            <a:r>
              <a:t>Human Evolution Timeline</a:t>
            </a:r>
          </a:p>
        </p:txBody>
      </p:sp>
      <p:grpSp>
        <p:nvGrpSpPr>
          <p:cNvPr id="582" name="Group 582"/>
          <p:cNvGrpSpPr/>
          <p:nvPr/>
        </p:nvGrpSpPr>
        <p:grpSpPr>
          <a:xfrm>
            <a:off x="4938563" y="1473200"/>
            <a:ext cx="7378347" cy="2745026"/>
            <a:chOff x="1484163" y="0"/>
            <a:chExt cx="7378346" cy="2745025"/>
          </a:xfrm>
        </p:grpSpPr>
        <p:sp>
          <p:nvSpPr>
            <p:cNvPr id="580" name="Shape 580"/>
            <p:cNvSpPr/>
            <p:nvPr/>
          </p:nvSpPr>
          <p:spPr>
            <a:xfrm>
              <a:off x="1484163" y="0"/>
              <a:ext cx="6656537" cy="96959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lnSpc>
                  <a:spcPts val="2800"/>
                </a:lnSpc>
                <a:spcBef>
                  <a:spcPts val="2000"/>
                </a:spcBef>
                <a:tabLst>
                  <a:tab pos="520700" algn="l"/>
                </a:tabLst>
                <a:defRPr sz="2000"/>
              </a:lvl1pPr>
            </a:lstStyle>
            <a:p>
              <a:r>
                <a:t>Recent DNA evidence suggests that fossils found in the Denisovan caves are from a previously unknown hominin that may have been related to the Neanderthals.</a:t>
              </a:r>
            </a:p>
          </p:txBody>
        </p:sp>
        <p:sp>
          <p:nvSpPr>
            <p:cNvPr id="581" name="Shape 581"/>
            <p:cNvSpPr/>
            <p:nvPr/>
          </p:nvSpPr>
          <p:spPr>
            <a:xfrm flipH="1" flipV="1">
              <a:off x="6930717" y="1059755"/>
              <a:ext cx="1931793" cy="1685271"/>
            </a:xfrm>
            <a:prstGeom prst="line">
              <a:avLst/>
            </a:prstGeom>
            <a:noFill/>
            <a:ln w="76200" cap="flat">
              <a:solidFill>
                <a:schemeClr val="accent4">
                  <a:hueOff val="384618"/>
                  <a:satOff val="3869"/>
                  <a:lumOff val="5802"/>
                </a:schemeClr>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
        <p:nvSpPr>
          <p:cNvPr id="583" name="Shape 583"/>
          <p:cNvSpPr/>
          <p:nvPr/>
        </p:nvSpPr>
        <p:spPr>
          <a:xfrm>
            <a:off x="10337800" y="9486900"/>
            <a:ext cx="2565400" cy="1397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a:lnSpc>
                <a:spcPts val="1200"/>
              </a:lnSpc>
              <a:tabLst>
                <a:tab pos="520700" algn="l"/>
              </a:tabLst>
              <a:defRPr sz="1000">
                <a:solidFill>
                  <a:srgbClr val="483F36"/>
                </a:solidFill>
              </a:defRPr>
            </a:pPr>
            <a:r>
              <a:t>Photos courtesy of: </a:t>
            </a:r>
            <a:r>
              <a:rPr b="1"/>
              <a:t>SkullsUnlimited.com</a:t>
            </a:r>
          </a:p>
        </p:txBody>
      </p:sp>
    </p:spTree>
  </p:cSld>
  <p:clrMapOvr>
    <a:masterClrMapping/>
  </p:clrMapOvr>
  <mc:AlternateContent xmlns:mc="http://schemas.openxmlformats.org/markup-compatibility/2006" xmlns:p14="http://schemas.microsoft.com/office/powerpoint/2010/main">
    <mc:Choice Requires="p14">
      <p:transition>
        <p:dissolve/>
      </p:transition>
    </mc:Choice>
    <mc:Fallback xmlns="">
      <p:transition spd="fast">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585" name="Shape 585"/>
          <p:cNvSpPr>
            <a:spLocks noGrp="1"/>
          </p:cNvSpPr>
          <p:nvPr>
            <p:ph type="title"/>
          </p:nvPr>
        </p:nvSpPr>
        <p:spPr>
          <a:prstGeom prst="rect">
            <a:avLst/>
          </a:prstGeom>
        </p:spPr>
        <p:txBody>
          <a:bodyPr/>
          <a:lstStyle>
            <a:lvl1pPr>
              <a:tabLst>
                <a:tab pos="952500" algn="l"/>
              </a:tabLst>
              <a:defRPr i="1"/>
            </a:lvl1pPr>
          </a:lstStyle>
          <a:p>
            <a:r>
              <a:t>Australopithecus afarensis</a:t>
            </a:r>
          </a:p>
        </p:txBody>
      </p:sp>
      <p:sp>
        <p:nvSpPr>
          <p:cNvPr id="586" name="Shape 586"/>
          <p:cNvSpPr>
            <a:spLocks noGrp="1"/>
          </p:cNvSpPr>
          <p:nvPr>
            <p:ph type="body" sz="half" idx="1"/>
          </p:nvPr>
        </p:nvSpPr>
        <p:spPr>
          <a:prstGeom prst="rect">
            <a:avLst/>
          </a:prstGeom>
        </p:spPr>
        <p:txBody>
          <a:bodyPr/>
          <a:lstStyle/>
          <a:p>
            <a:pPr>
              <a:tabLst>
                <a:tab pos="1016000" algn="l"/>
              </a:tabLst>
            </a:pPr>
            <a:r>
              <a:t>Lucy, the First Family, and the Laetoli footprints are assigned to </a:t>
            </a:r>
            <a:r>
              <a:rPr i="1"/>
              <a:t>A. afarensis</a:t>
            </a:r>
            <a:r>
              <a:t>.</a:t>
            </a:r>
          </a:p>
          <a:p>
            <a:pPr lvl="1">
              <a:tabLst>
                <a:tab pos="1485900" algn="l"/>
              </a:tabLst>
            </a:pPr>
            <a:r>
              <a:t>A small, gracile,biped. Brain volume  estimated at between 375-550 cc, but generally &lt;500 cc. Lived 3.9-3.0 MYA.</a:t>
            </a:r>
          </a:p>
          <a:p>
            <a:pPr lvl="1">
              <a:tabLst>
                <a:tab pos="1485900" algn="l"/>
              </a:tabLst>
            </a:pPr>
            <a:r>
              <a:t>The skull is similar to that of a chimpanzee, except for more human-like teeth.</a:t>
            </a:r>
          </a:p>
          <a:p>
            <a:pPr lvl="1">
              <a:tabLst>
                <a:tab pos="1485900" algn="l"/>
              </a:tabLst>
            </a:pPr>
            <a:r>
              <a:t>The human-like pelvis and leg bones confirm they were bipedal.</a:t>
            </a:r>
          </a:p>
          <a:p>
            <a:pPr lvl="1">
              <a:tabLst>
                <a:tab pos="1485900" algn="l"/>
              </a:tabLst>
            </a:pPr>
            <a:r>
              <a:t>Height ranges from 1.0 to 1.5 m (sexual dimorphism*).</a:t>
            </a:r>
          </a:p>
        </p:txBody>
      </p:sp>
      <p:grpSp>
        <p:nvGrpSpPr>
          <p:cNvPr id="592" name="Group 592"/>
          <p:cNvGrpSpPr/>
          <p:nvPr/>
        </p:nvGrpSpPr>
        <p:grpSpPr>
          <a:xfrm>
            <a:off x="6324600" y="1346200"/>
            <a:ext cx="6451600" cy="7498222"/>
            <a:chOff x="0" y="0"/>
            <a:chExt cx="6451599" cy="7498221"/>
          </a:xfrm>
        </p:grpSpPr>
        <p:pic>
          <p:nvPicPr>
            <p:cNvPr id="587" name="Africa Map.png"/>
            <p:cNvPicPr>
              <a:picLocks noChangeAspect="1"/>
            </p:cNvPicPr>
            <p:nvPr/>
          </p:nvPicPr>
          <p:blipFill>
            <a:blip r:embed="rId3">
              <a:extLst/>
            </a:blip>
            <a:stretch>
              <a:fillRect/>
            </a:stretch>
          </p:blipFill>
          <p:spPr>
            <a:xfrm>
              <a:off x="380663" y="0"/>
              <a:ext cx="6070937" cy="6362700"/>
            </a:xfrm>
            <a:prstGeom prst="rect">
              <a:avLst/>
            </a:prstGeom>
            <a:ln w="12700" cap="flat">
              <a:noFill/>
              <a:miter lim="400000"/>
            </a:ln>
            <a:effectLst/>
          </p:spPr>
        </p:pic>
        <p:pic>
          <p:nvPicPr>
            <p:cNvPr id="588" name="A. afarensis.png"/>
            <p:cNvPicPr>
              <a:picLocks noChangeAspect="1"/>
            </p:cNvPicPr>
            <p:nvPr/>
          </p:nvPicPr>
          <p:blipFill>
            <a:blip r:embed="rId4">
              <a:extLst/>
            </a:blip>
            <a:stretch>
              <a:fillRect/>
            </a:stretch>
          </p:blipFill>
          <p:spPr>
            <a:xfrm>
              <a:off x="0" y="2705100"/>
              <a:ext cx="3994434" cy="3911600"/>
            </a:xfrm>
            <a:prstGeom prst="rect">
              <a:avLst/>
            </a:prstGeom>
            <a:ln w="12700" cap="flat">
              <a:noFill/>
              <a:miter lim="400000"/>
            </a:ln>
            <a:effectLst/>
          </p:spPr>
        </p:pic>
        <p:sp>
          <p:nvSpPr>
            <p:cNvPr id="589" name="Shape 589"/>
            <p:cNvSpPr/>
            <p:nvPr/>
          </p:nvSpPr>
          <p:spPr>
            <a:xfrm>
              <a:off x="482600" y="6921500"/>
              <a:ext cx="5600700" cy="576722"/>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marL="0">
                <a:lnSpc>
                  <a:spcPts val="2500"/>
                </a:lnSpc>
                <a:spcBef>
                  <a:spcPts val="200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rgbClr val="006795"/>
                  </a:solidFill>
                </a:defRPr>
              </a:lvl1pPr>
            </a:lstStyle>
            <a:p>
              <a:r>
                <a:t>* Some researchers claim such differences in height suggest two separate species, not sexual dimorphism.</a:t>
              </a:r>
            </a:p>
          </p:txBody>
        </p:sp>
        <p:sp>
          <p:nvSpPr>
            <p:cNvPr id="590" name="Shape 590"/>
            <p:cNvSpPr/>
            <p:nvPr/>
          </p:nvSpPr>
          <p:spPr>
            <a:xfrm>
              <a:off x="5283200" y="2286000"/>
              <a:ext cx="228600" cy="1905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91" name="Shape 591"/>
            <p:cNvSpPr/>
            <p:nvPr/>
          </p:nvSpPr>
          <p:spPr>
            <a:xfrm>
              <a:off x="5105400" y="2578100"/>
              <a:ext cx="228600" cy="1905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586">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58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58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58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586">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58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6" grpId="1" build="p" bldLvl="5" animBg="1" advAuto="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594" name="Shape 594"/>
          <p:cNvSpPr/>
          <p:nvPr/>
        </p:nvSpPr>
        <p:spPr>
          <a:xfrm>
            <a:off x="9118596" y="4127191"/>
            <a:ext cx="1358903" cy="1791009"/>
          </a:xfrm>
          <a:custGeom>
            <a:avLst/>
            <a:gdLst/>
            <a:ahLst/>
            <a:cxnLst>
              <a:cxn ang="0">
                <a:pos x="wd2" y="hd2"/>
              </a:cxn>
              <a:cxn ang="5400000">
                <a:pos x="wd2" y="hd2"/>
              </a:cxn>
              <a:cxn ang="10800000">
                <a:pos x="wd2" y="hd2"/>
              </a:cxn>
              <a:cxn ang="16200000">
                <a:pos x="wd2" y="hd2"/>
              </a:cxn>
            </a:cxnLst>
            <a:rect l="0" t="0" r="r" b="b"/>
            <a:pathLst>
              <a:path w="18472" h="21302" extrusionOk="0">
                <a:moveTo>
                  <a:pt x="18472" y="21302"/>
                </a:moveTo>
                <a:cubicBezTo>
                  <a:pt x="-3128" y="18152"/>
                  <a:pt x="863" y="-298"/>
                  <a:pt x="0" y="4"/>
                </a:cubicBezTo>
              </a:path>
            </a:pathLst>
          </a:custGeom>
          <a:ln w="38100">
            <a:solidFill>
              <a:srgbClr val="F38C1E"/>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595" name="Shape 595"/>
          <p:cNvSpPr/>
          <p:nvPr/>
        </p:nvSpPr>
        <p:spPr>
          <a:xfrm>
            <a:off x="7340600" y="2463800"/>
            <a:ext cx="1666255" cy="2837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nSpc>
                <a:spcPts val="2700"/>
              </a:lnSpc>
              <a:tabLst>
                <a:tab pos="520700" algn="l"/>
              </a:tabLst>
              <a:defRPr sz="2000">
                <a:solidFill>
                  <a:srgbClr val="006795"/>
                </a:solidFill>
              </a:defRPr>
            </a:lvl1pPr>
          </a:lstStyle>
          <a:p>
            <a:r>
              <a:t>Low forehead</a:t>
            </a:r>
          </a:p>
        </p:txBody>
      </p:sp>
      <p:pic>
        <p:nvPicPr>
          <p:cNvPr id="596" name="Skull Afarensis 72 Cut.png"/>
          <p:cNvPicPr>
            <a:picLocks noChangeAspect="1"/>
          </p:cNvPicPr>
          <p:nvPr/>
        </p:nvPicPr>
        <p:blipFill>
          <a:blip r:embed="rId3">
            <a:extLst/>
          </a:blip>
          <a:stretch>
            <a:fillRect/>
          </a:stretch>
        </p:blipFill>
        <p:spPr>
          <a:xfrm>
            <a:off x="3289300" y="2616200"/>
            <a:ext cx="7112000" cy="4813300"/>
          </a:xfrm>
          <a:prstGeom prst="rect">
            <a:avLst/>
          </a:prstGeom>
          <a:ln w="12700">
            <a:miter lim="400000"/>
          </a:ln>
        </p:spPr>
      </p:pic>
      <p:sp>
        <p:nvSpPr>
          <p:cNvPr id="597" name="Shape 597"/>
          <p:cNvSpPr>
            <a:spLocks noGrp="1"/>
          </p:cNvSpPr>
          <p:nvPr>
            <p:ph type="title"/>
          </p:nvPr>
        </p:nvSpPr>
        <p:spPr>
          <a:prstGeom prst="rect">
            <a:avLst/>
          </a:prstGeom>
        </p:spPr>
        <p:txBody>
          <a:bodyPr/>
          <a:lstStyle>
            <a:lvl1pPr>
              <a:tabLst>
                <a:tab pos="952500" algn="l"/>
              </a:tabLst>
              <a:defRPr i="1"/>
            </a:lvl1pPr>
          </a:lstStyle>
          <a:p>
            <a:r>
              <a:t>Australopithecus afarensis</a:t>
            </a:r>
          </a:p>
        </p:txBody>
      </p:sp>
      <p:pic>
        <p:nvPicPr>
          <p:cNvPr id="598" name="Modern Human Skull.pdf"/>
          <p:cNvPicPr>
            <a:picLocks noChangeAspect="1"/>
          </p:cNvPicPr>
          <p:nvPr/>
        </p:nvPicPr>
        <p:blipFill>
          <a:blip r:embed="rId4">
            <a:extLst/>
          </a:blip>
          <a:stretch>
            <a:fillRect/>
          </a:stretch>
        </p:blipFill>
        <p:spPr>
          <a:xfrm>
            <a:off x="622300" y="6859858"/>
            <a:ext cx="2006600" cy="2045489"/>
          </a:xfrm>
          <a:prstGeom prst="rect">
            <a:avLst/>
          </a:prstGeom>
          <a:ln w="12700">
            <a:miter lim="400000"/>
          </a:ln>
        </p:spPr>
      </p:pic>
      <p:sp>
        <p:nvSpPr>
          <p:cNvPr id="599" name="Shape 599"/>
          <p:cNvSpPr/>
          <p:nvPr/>
        </p:nvSpPr>
        <p:spPr>
          <a:xfrm>
            <a:off x="2628900" y="8974028"/>
            <a:ext cx="2251969" cy="450553"/>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marL="0" marR="4275454" algn="ctr">
              <a:lnSpc>
                <a:spcPts val="3100"/>
              </a:lnSpc>
              <a:tabLst>
                <a:tab pos="520700" algn="l"/>
              </a:tabLst>
              <a:defRPr sz="2800">
                <a:solidFill>
                  <a:srgbClr val="483F36"/>
                </a:solidFill>
                <a:latin typeface="Hoefler Text"/>
                <a:ea typeface="Hoefler Text"/>
                <a:cs typeface="Hoefler Text"/>
                <a:sym typeface="Hoefler Text"/>
              </a:defRPr>
            </a:pPr>
            <a:r>
              <a:rPr sz="1600" b="1">
                <a:solidFill>
                  <a:srgbClr val="000000"/>
                </a:solidFill>
                <a:latin typeface="+mn-lt"/>
                <a:ea typeface="+mn-ea"/>
                <a:cs typeface="+mn-cs"/>
                <a:sym typeface="Arial"/>
              </a:rPr>
              <a:t>A modern human skull</a:t>
            </a:r>
            <a:endParaRPr sz="1600">
              <a:solidFill>
                <a:srgbClr val="000000"/>
              </a:solidFill>
              <a:latin typeface="+mn-lt"/>
              <a:ea typeface="+mn-ea"/>
              <a:cs typeface="+mn-cs"/>
              <a:sym typeface="Arial"/>
            </a:endParaRPr>
          </a:p>
          <a:p>
            <a:pPr marL="0" marR="4275454" algn="ctr">
              <a:lnSpc>
                <a:spcPts val="3100"/>
              </a:lnSpc>
              <a:tabLst>
                <a:tab pos="520700" algn="l"/>
              </a:tabLst>
              <a:defRPr sz="2800">
                <a:solidFill>
                  <a:srgbClr val="483F36"/>
                </a:solidFill>
                <a:latin typeface="Hoefler Text"/>
                <a:ea typeface="Hoefler Text"/>
                <a:cs typeface="Hoefler Text"/>
                <a:sym typeface="Hoefler Text"/>
              </a:defRPr>
            </a:pPr>
            <a:r>
              <a:rPr sz="1600" dirty="0">
                <a:solidFill>
                  <a:srgbClr val="000000"/>
                </a:solidFill>
                <a:latin typeface="+mn-lt"/>
                <a:ea typeface="+mn-ea"/>
                <a:cs typeface="+mn-cs"/>
                <a:sym typeface="Arial"/>
              </a:rPr>
              <a:t>(for comparison)</a:t>
            </a:r>
          </a:p>
        </p:txBody>
      </p:sp>
      <p:pic>
        <p:nvPicPr>
          <p:cNvPr id="600" name="Data A. afarensis OHT Skull.pdf"/>
          <p:cNvPicPr>
            <a:picLocks noChangeAspect="1"/>
          </p:cNvPicPr>
          <p:nvPr/>
        </p:nvPicPr>
        <p:blipFill>
          <a:blip r:embed="rId5">
            <a:extLst/>
          </a:blip>
          <a:stretch>
            <a:fillRect/>
          </a:stretch>
        </p:blipFill>
        <p:spPr>
          <a:xfrm>
            <a:off x="406400" y="4737100"/>
            <a:ext cx="1994053" cy="1828800"/>
          </a:xfrm>
          <a:prstGeom prst="rect">
            <a:avLst/>
          </a:prstGeom>
          <a:ln w="12700">
            <a:miter lim="400000"/>
          </a:ln>
        </p:spPr>
      </p:pic>
      <p:sp>
        <p:nvSpPr>
          <p:cNvPr id="601" name="Shape 601"/>
          <p:cNvSpPr/>
          <p:nvPr/>
        </p:nvSpPr>
        <p:spPr>
          <a:xfrm>
            <a:off x="9334500" y="3606800"/>
            <a:ext cx="1341066" cy="2837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nSpc>
                <a:spcPts val="2700"/>
              </a:lnSpc>
              <a:tabLst>
                <a:tab pos="520700" algn="l"/>
              </a:tabLst>
              <a:defRPr sz="2000">
                <a:solidFill>
                  <a:srgbClr val="006795"/>
                </a:solidFill>
              </a:defRPr>
            </a:lvl1pPr>
          </a:lstStyle>
          <a:p>
            <a:r>
              <a:t>Brow ridge</a:t>
            </a:r>
          </a:p>
        </p:txBody>
      </p:sp>
      <p:sp>
        <p:nvSpPr>
          <p:cNvPr id="602" name="Shape 602"/>
          <p:cNvSpPr/>
          <p:nvPr/>
        </p:nvSpPr>
        <p:spPr>
          <a:xfrm>
            <a:off x="9512300" y="4254500"/>
            <a:ext cx="1538883" cy="6139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Large, dish-</a:t>
            </a:r>
          </a:p>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shaped face</a:t>
            </a:r>
          </a:p>
        </p:txBody>
      </p:sp>
      <p:sp>
        <p:nvSpPr>
          <p:cNvPr id="603" name="Shape 603"/>
          <p:cNvSpPr/>
          <p:nvPr/>
        </p:nvSpPr>
        <p:spPr>
          <a:xfrm>
            <a:off x="10706100" y="5067300"/>
            <a:ext cx="1665635" cy="2837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nSpc>
                <a:spcPts val="2700"/>
              </a:lnSpc>
              <a:tabLst>
                <a:tab pos="520700" algn="l"/>
              </a:tabLst>
              <a:defRPr sz="2000">
                <a:solidFill>
                  <a:srgbClr val="006795"/>
                </a:solidFill>
              </a:defRPr>
            </a:lvl1pPr>
          </a:lstStyle>
          <a:p>
            <a:r>
              <a:t>Wide midface</a:t>
            </a:r>
          </a:p>
        </p:txBody>
      </p:sp>
      <p:sp>
        <p:nvSpPr>
          <p:cNvPr id="604" name="Shape 604"/>
          <p:cNvSpPr/>
          <p:nvPr/>
        </p:nvSpPr>
        <p:spPr>
          <a:xfrm>
            <a:off x="10617200" y="5918200"/>
            <a:ext cx="1171774" cy="2837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nSpc>
                <a:spcPts val="2700"/>
              </a:lnSpc>
              <a:tabLst>
                <a:tab pos="520700" algn="l"/>
              </a:tabLst>
              <a:defRPr sz="2000">
                <a:solidFill>
                  <a:srgbClr val="006795"/>
                </a:solidFill>
              </a:defRPr>
            </a:lvl1pPr>
          </a:lstStyle>
          <a:p>
            <a:r>
              <a:t>Flat nose</a:t>
            </a:r>
          </a:p>
        </p:txBody>
      </p:sp>
      <p:sp>
        <p:nvSpPr>
          <p:cNvPr id="605" name="Shape 605"/>
          <p:cNvSpPr/>
          <p:nvPr/>
        </p:nvSpPr>
        <p:spPr>
          <a:xfrm>
            <a:off x="10769600" y="6565900"/>
            <a:ext cx="2146300" cy="6139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700"/>
              </a:lnSpc>
              <a:tabLst>
                <a:tab pos="520700" algn="l"/>
              </a:tabLst>
              <a:defRPr sz="2000">
                <a:solidFill>
                  <a:srgbClr val="006795"/>
                </a:solidFill>
              </a:defRPr>
            </a:lvl1pPr>
          </a:lstStyle>
          <a:p>
            <a:r>
              <a:t>Big, ape-like incisor</a:t>
            </a:r>
          </a:p>
        </p:txBody>
      </p:sp>
      <p:sp>
        <p:nvSpPr>
          <p:cNvPr id="606" name="Shape 606"/>
          <p:cNvSpPr/>
          <p:nvPr/>
        </p:nvSpPr>
        <p:spPr>
          <a:xfrm>
            <a:off x="10718800" y="7302500"/>
            <a:ext cx="1270000" cy="6139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700"/>
              </a:lnSpc>
              <a:tabLst>
                <a:tab pos="520700" algn="l"/>
              </a:tabLst>
              <a:defRPr sz="2000">
                <a:solidFill>
                  <a:srgbClr val="006795"/>
                </a:solidFill>
              </a:defRPr>
            </a:lvl1pPr>
          </a:lstStyle>
          <a:p>
            <a:r>
              <a:t>Diastema (gap)</a:t>
            </a:r>
          </a:p>
        </p:txBody>
      </p:sp>
      <p:sp>
        <p:nvSpPr>
          <p:cNvPr id="607" name="Shape 607"/>
          <p:cNvSpPr/>
          <p:nvPr/>
        </p:nvSpPr>
        <p:spPr>
          <a:xfrm>
            <a:off x="8940800" y="8077200"/>
            <a:ext cx="1863825" cy="6139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Canines larger</a:t>
            </a:r>
          </a:p>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than in humans</a:t>
            </a:r>
          </a:p>
        </p:txBody>
      </p:sp>
      <p:sp>
        <p:nvSpPr>
          <p:cNvPr id="608" name="Shape 608"/>
          <p:cNvSpPr/>
          <p:nvPr/>
        </p:nvSpPr>
        <p:spPr>
          <a:xfrm>
            <a:off x="6438900" y="8077200"/>
            <a:ext cx="2131715" cy="6139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Large, thickly</a:t>
            </a:r>
          </a:p>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enamelled molars</a:t>
            </a:r>
          </a:p>
        </p:txBody>
      </p:sp>
      <p:sp>
        <p:nvSpPr>
          <p:cNvPr id="609" name="Shape 609"/>
          <p:cNvSpPr/>
          <p:nvPr/>
        </p:nvSpPr>
        <p:spPr>
          <a:xfrm>
            <a:off x="3225800" y="6985000"/>
            <a:ext cx="2387600" cy="9441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700"/>
              </a:lnSpc>
              <a:tabLst>
                <a:tab pos="520700" algn="l"/>
              </a:tabLst>
              <a:defRPr sz="2000">
                <a:solidFill>
                  <a:srgbClr val="006795"/>
                </a:solidFill>
              </a:defRPr>
            </a:lvl1pPr>
          </a:lstStyle>
          <a:p>
            <a:r>
              <a:t>Little of the skull is behind the foramen magnum</a:t>
            </a:r>
          </a:p>
        </p:txBody>
      </p:sp>
      <p:sp>
        <p:nvSpPr>
          <p:cNvPr id="610" name="Shape 610"/>
          <p:cNvSpPr/>
          <p:nvPr/>
        </p:nvSpPr>
        <p:spPr>
          <a:xfrm>
            <a:off x="3167149" y="1854200"/>
            <a:ext cx="1552898" cy="6139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gn="ct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Small brain</a:t>
            </a:r>
          </a:p>
          <a:p>
            <a:pPr algn="ct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(375-550 cc)</a:t>
            </a:r>
          </a:p>
        </p:txBody>
      </p:sp>
      <p:sp>
        <p:nvSpPr>
          <p:cNvPr id="611" name="Shape 611"/>
          <p:cNvSpPr/>
          <p:nvPr/>
        </p:nvSpPr>
        <p:spPr>
          <a:xfrm>
            <a:off x="6261100" y="2387600"/>
            <a:ext cx="2099734" cy="863600"/>
          </a:xfrm>
          <a:prstGeom prst="line">
            <a:avLst/>
          </a:prstGeom>
          <a:ln w="101600">
            <a:solidFill>
              <a:srgbClr val="F38C1E"/>
            </a:solidFill>
            <a:miter lim="400000"/>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12" name="Shape 612"/>
          <p:cNvSpPr/>
          <p:nvPr/>
        </p:nvSpPr>
        <p:spPr>
          <a:xfrm>
            <a:off x="3572933" y="6790266"/>
            <a:ext cx="1371601" cy="128"/>
          </a:xfrm>
          <a:prstGeom prst="line">
            <a:avLst/>
          </a:prstGeom>
          <a:ln w="101600">
            <a:solidFill>
              <a:srgbClr val="F38C1E"/>
            </a:solidFill>
            <a:miter lim="400000"/>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13" name="Shape 613"/>
          <p:cNvSpPr/>
          <p:nvPr/>
        </p:nvSpPr>
        <p:spPr>
          <a:xfrm flipH="1">
            <a:off x="7552266" y="7044266"/>
            <a:ext cx="474134" cy="999068"/>
          </a:xfrm>
          <a:prstGeom prst="line">
            <a:avLst/>
          </a:prstGeom>
          <a:ln w="25400">
            <a:solidFill>
              <a:srgbClr val="006795"/>
            </a:solidFill>
            <a:miter lim="400000"/>
            <a:headEnd type="triangle"/>
          </a:ln>
          <a:effectLst>
            <a:outerShdw blurRad="25400" dist="12700" dir="5400000" rotWithShape="0">
              <a:srgbClr val="000000">
                <a:alpha val="20000"/>
              </a:srgbClr>
            </a:outerShdw>
          </a:effectLst>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14" name="Shape 614"/>
          <p:cNvSpPr/>
          <p:nvPr/>
        </p:nvSpPr>
        <p:spPr>
          <a:xfrm>
            <a:off x="9990667" y="7027332"/>
            <a:ext cx="1" cy="999068"/>
          </a:xfrm>
          <a:prstGeom prst="line">
            <a:avLst/>
          </a:prstGeom>
          <a:ln w="25400">
            <a:solidFill>
              <a:srgbClr val="006795"/>
            </a:solidFill>
            <a:miter lim="400000"/>
            <a:headEnd type="triangle"/>
          </a:ln>
          <a:effectLst>
            <a:outerShdw blurRad="25400" dist="12700" dir="5400000" rotWithShape="0">
              <a:srgbClr val="000000">
                <a:alpha val="20000"/>
              </a:srgbClr>
            </a:outerShdw>
          </a:effectLst>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15" name="Shape 615"/>
          <p:cNvSpPr/>
          <p:nvPr/>
        </p:nvSpPr>
        <p:spPr>
          <a:xfrm>
            <a:off x="10160000" y="6993466"/>
            <a:ext cx="541867" cy="491068"/>
          </a:xfrm>
          <a:prstGeom prst="line">
            <a:avLst/>
          </a:prstGeom>
          <a:ln w="25400">
            <a:solidFill>
              <a:srgbClr val="006795"/>
            </a:solidFill>
            <a:miter lim="400000"/>
            <a:headEnd type="triangle"/>
          </a:ln>
          <a:effectLst>
            <a:outerShdw blurRad="25400" dist="12700" dir="5400000" rotWithShape="0">
              <a:srgbClr val="000000">
                <a:alpha val="20000"/>
              </a:srgbClr>
            </a:outerShdw>
          </a:effectLst>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16" name="Shape 616"/>
          <p:cNvSpPr/>
          <p:nvPr/>
        </p:nvSpPr>
        <p:spPr>
          <a:xfrm>
            <a:off x="10198100" y="6819900"/>
            <a:ext cx="474134" cy="127"/>
          </a:xfrm>
          <a:prstGeom prst="line">
            <a:avLst/>
          </a:prstGeom>
          <a:ln w="25400">
            <a:solidFill>
              <a:srgbClr val="006795"/>
            </a:solidFill>
            <a:miter lim="400000"/>
            <a:headEnd type="triangle"/>
          </a:ln>
          <a:effectLst>
            <a:outerShdw blurRad="25400" dist="12700" dir="5400000" rotWithShape="0">
              <a:srgbClr val="000000">
                <a:alpha val="20000"/>
              </a:srgbClr>
            </a:outerShdw>
          </a:effectLst>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17" name="Shape 617"/>
          <p:cNvSpPr/>
          <p:nvPr/>
        </p:nvSpPr>
        <p:spPr>
          <a:xfrm>
            <a:off x="9567333" y="6028266"/>
            <a:ext cx="1117601" cy="128"/>
          </a:xfrm>
          <a:prstGeom prst="line">
            <a:avLst/>
          </a:prstGeom>
          <a:ln w="25400">
            <a:solidFill>
              <a:srgbClr val="006795"/>
            </a:solidFill>
            <a:miter lim="400000"/>
            <a:headEnd type="triangle"/>
          </a:ln>
          <a:effectLst>
            <a:outerShdw blurRad="25400" dist="12700" dir="5400000" rotWithShape="0">
              <a:srgbClr val="000000">
                <a:alpha val="20000"/>
              </a:srgbClr>
            </a:outerShdw>
          </a:effectLst>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18" name="Shape 618"/>
          <p:cNvSpPr/>
          <p:nvPr/>
        </p:nvSpPr>
        <p:spPr>
          <a:xfrm>
            <a:off x="8953500" y="5194300"/>
            <a:ext cx="1676400" cy="127"/>
          </a:xfrm>
          <a:prstGeom prst="line">
            <a:avLst/>
          </a:prstGeom>
          <a:ln w="25400">
            <a:solidFill>
              <a:srgbClr val="006795"/>
            </a:solidFill>
            <a:miter lim="400000"/>
            <a:headEnd type="triangle"/>
          </a:ln>
          <a:effectLst>
            <a:outerShdw blurRad="25400" dist="12700" dir="5400000" rotWithShape="0">
              <a:srgbClr val="000000">
                <a:alpha val="20000"/>
              </a:srgbClr>
            </a:outerShdw>
          </a:effectLst>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19" name="Shape 619"/>
          <p:cNvSpPr/>
          <p:nvPr/>
        </p:nvSpPr>
        <p:spPr>
          <a:xfrm>
            <a:off x="8754533" y="3742266"/>
            <a:ext cx="592667" cy="128"/>
          </a:xfrm>
          <a:prstGeom prst="line">
            <a:avLst/>
          </a:prstGeom>
          <a:ln w="25400">
            <a:solidFill>
              <a:srgbClr val="006795"/>
            </a:solidFill>
            <a:miter lim="400000"/>
            <a:headEnd type="triangle"/>
          </a:ln>
          <a:effectLst>
            <a:outerShdw blurRad="25400" dist="12700" dir="5400000" rotWithShape="0">
              <a:srgbClr val="000000">
                <a:alpha val="20000"/>
              </a:srgbClr>
            </a:outerShdw>
          </a:effectLst>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20" name="Shape 620"/>
          <p:cNvSpPr/>
          <p:nvPr/>
        </p:nvSpPr>
        <p:spPr>
          <a:xfrm flipH="1" flipV="1">
            <a:off x="4148666" y="2590800"/>
            <a:ext cx="694268" cy="711200"/>
          </a:xfrm>
          <a:prstGeom prst="line">
            <a:avLst/>
          </a:prstGeom>
          <a:ln w="25400">
            <a:solidFill>
              <a:srgbClr val="006795"/>
            </a:solidFill>
            <a:miter lim="400000"/>
            <a:headEnd type="triangle"/>
          </a:ln>
          <a:effectLst>
            <a:outerShdw blurRad="25400" dist="12700" dir="5400000" rotWithShape="0">
              <a:srgbClr val="000000">
                <a:alpha val="20000"/>
              </a:srgbClr>
            </a:outerShdw>
          </a:effectLst>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622" name="Shape 622"/>
          <p:cNvSpPr>
            <a:spLocks noGrp="1"/>
          </p:cNvSpPr>
          <p:nvPr>
            <p:ph type="title"/>
          </p:nvPr>
        </p:nvSpPr>
        <p:spPr>
          <a:prstGeom prst="rect">
            <a:avLst/>
          </a:prstGeom>
        </p:spPr>
        <p:txBody>
          <a:bodyPr/>
          <a:lstStyle>
            <a:lvl1pPr>
              <a:tabLst>
                <a:tab pos="952500" algn="l"/>
              </a:tabLst>
              <a:defRPr i="1"/>
            </a:lvl1pPr>
          </a:lstStyle>
          <a:p>
            <a:r>
              <a:t>Australopithecus africanus</a:t>
            </a:r>
          </a:p>
        </p:txBody>
      </p:sp>
      <p:sp>
        <p:nvSpPr>
          <p:cNvPr id="623" name="Shape 623"/>
          <p:cNvSpPr>
            <a:spLocks noGrp="1"/>
          </p:cNvSpPr>
          <p:nvPr>
            <p:ph type="body" sz="half" idx="1"/>
          </p:nvPr>
        </p:nvSpPr>
        <p:spPr>
          <a:xfrm>
            <a:off x="368300" y="1790700"/>
            <a:ext cx="5412979" cy="7543800"/>
          </a:xfrm>
          <a:prstGeom prst="rect">
            <a:avLst/>
          </a:prstGeom>
        </p:spPr>
        <p:txBody>
          <a:bodyPr/>
          <a:lstStyle/>
          <a:p>
            <a:pPr>
              <a:tabLst>
                <a:tab pos="1016000" algn="l"/>
              </a:tabLst>
            </a:pPr>
            <a:r>
              <a:rPr i="1"/>
              <a:t>A. africanus</a:t>
            </a:r>
            <a:r>
              <a:t> existed between 3.9 and 3.0 MYA.</a:t>
            </a:r>
          </a:p>
          <a:p>
            <a:pPr>
              <a:tabLst>
                <a:tab pos="1016000" algn="l"/>
              </a:tabLst>
            </a:pPr>
            <a:r>
              <a:t>Similar to</a:t>
            </a:r>
            <a:r>
              <a:rPr i="1"/>
              <a:t> A. afarensis</a:t>
            </a:r>
            <a:r>
              <a:t>, it was also small, gracile, and bipedal, but slightly larger in size.</a:t>
            </a:r>
          </a:p>
          <a:p>
            <a:pPr>
              <a:tabLst>
                <a:tab pos="1016000" algn="l"/>
              </a:tabLst>
            </a:pPr>
            <a:r>
              <a:t>Brain size may also have been slightly larger on average, ranging from 420 to 500 cc.</a:t>
            </a:r>
          </a:p>
          <a:p>
            <a:pPr>
              <a:tabLst>
                <a:tab pos="1016000" algn="l"/>
              </a:tabLst>
            </a:pPr>
            <a:r>
              <a:t>Generally considered to be specific to South Africa.</a:t>
            </a:r>
          </a:p>
          <a:p>
            <a:pPr>
              <a:tabLst>
                <a:tab pos="1016000" algn="l"/>
              </a:tabLst>
            </a:pPr>
            <a:r>
              <a:t>Differs from the early australopithecines in east Africa by having larger back teeth and smaller canines. The jaw shape is fully human-like.</a:t>
            </a:r>
          </a:p>
        </p:txBody>
      </p:sp>
      <p:grpSp>
        <p:nvGrpSpPr>
          <p:cNvPr id="628" name="Group 628"/>
          <p:cNvGrpSpPr/>
          <p:nvPr/>
        </p:nvGrpSpPr>
        <p:grpSpPr>
          <a:xfrm>
            <a:off x="6534452" y="1270000"/>
            <a:ext cx="6216348" cy="7035800"/>
            <a:chOff x="0" y="0"/>
            <a:chExt cx="6216347" cy="7035799"/>
          </a:xfrm>
        </p:grpSpPr>
        <p:pic>
          <p:nvPicPr>
            <p:cNvPr id="624" name="Africa Map.png"/>
            <p:cNvPicPr>
              <a:picLocks noChangeAspect="1"/>
            </p:cNvPicPr>
            <p:nvPr/>
          </p:nvPicPr>
          <p:blipFill>
            <a:blip r:embed="rId3">
              <a:extLst/>
            </a:blip>
            <a:stretch>
              <a:fillRect/>
            </a:stretch>
          </p:blipFill>
          <p:spPr>
            <a:xfrm>
              <a:off x="0" y="0"/>
              <a:ext cx="6216348" cy="6515100"/>
            </a:xfrm>
            <a:prstGeom prst="rect">
              <a:avLst/>
            </a:prstGeom>
            <a:ln w="12700" cap="flat">
              <a:noFill/>
              <a:miter lim="400000"/>
            </a:ln>
            <a:effectLst/>
          </p:spPr>
        </p:pic>
        <p:pic>
          <p:nvPicPr>
            <p:cNvPr id="625" name="A. africanus.png"/>
            <p:cNvPicPr>
              <a:picLocks noChangeAspect="1"/>
            </p:cNvPicPr>
            <p:nvPr/>
          </p:nvPicPr>
          <p:blipFill>
            <a:blip r:embed="rId4">
              <a:extLst/>
            </a:blip>
            <a:stretch>
              <a:fillRect/>
            </a:stretch>
          </p:blipFill>
          <p:spPr>
            <a:xfrm>
              <a:off x="6047" y="3174999"/>
              <a:ext cx="3406589" cy="3860801"/>
            </a:xfrm>
            <a:prstGeom prst="rect">
              <a:avLst/>
            </a:prstGeom>
            <a:ln w="12700" cap="flat">
              <a:noFill/>
              <a:miter lim="400000"/>
            </a:ln>
            <a:effectLst/>
          </p:spPr>
        </p:pic>
        <p:sp>
          <p:nvSpPr>
            <p:cNvPr id="626" name="Shape 626"/>
            <p:cNvSpPr/>
            <p:nvPr/>
          </p:nvSpPr>
          <p:spPr>
            <a:xfrm>
              <a:off x="3663647" y="5943600"/>
              <a:ext cx="228601" cy="1905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27" name="Shape 627"/>
            <p:cNvSpPr/>
            <p:nvPr/>
          </p:nvSpPr>
          <p:spPr>
            <a:xfrm>
              <a:off x="3993847" y="5765800"/>
              <a:ext cx="228601" cy="1905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623">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62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62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62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62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6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3" grpId="1" build="p" bldLvl="5" animBg="1" advAuto="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630" name="Shape 630"/>
          <p:cNvSpPr/>
          <p:nvPr/>
        </p:nvSpPr>
        <p:spPr>
          <a:xfrm>
            <a:off x="9855200" y="6858000"/>
            <a:ext cx="431800" cy="17272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0" y="21600"/>
                </a:lnTo>
              </a:path>
            </a:pathLst>
          </a:custGeom>
          <a:ln w="38100">
            <a:solidFill>
              <a:srgbClr val="F38C1E"/>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631" name="Skull Africanus PM Cut.png"/>
          <p:cNvPicPr>
            <a:picLocks noChangeAspect="1"/>
          </p:cNvPicPr>
          <p:nvPr/>
        </p:nvPicPr>
        <p:blipFill>
          <a:blip r:embed="rId3">
            <a:extLst/>
          </a:blip>
          <a:stretch>
            <a:fillRect/>
          </a:stretch>
        </p:blipFill>
        <p:spPr>
          <a:xfrm>
            <a:off x="3759200" y="2867500"/>
            <a:ext cx="5994400" cy="4894900"/>
          </a:xfrm>
          <a:prstGeom prst="rect">
            <a:avLst/>
          </a:prstGeom>
          <a:ln w="12700">
            <a:miter lim="400000"/>
          </a:ln>
        </p:spPr>
      </p:pic>
      <p:sp>
        <p:nvSpPr>
          <p:cNvPr id="632" name="Shape 632"/>
          <p:cNvSpPr>
            <a:spLocks noGrp="1"/>
          </p:cNvSpPr>
          <p:nvPr>
            <p:ph type="title"/>
          </p:nvPr>
        </p:nvSpPr>
        <p:spPr>
          <a:prstGeom prst="rect">
            <a:avLst/>
          </a:prstGeom>
        </p:spPr>
        <p:txBody>
          <a:bodyPr/>
          <a:lstStyle>
            <a:lvl1pPr>
              <a:tabLst>
                <a:tab pos="952500" algn="l"/>
              </a:tabLst>
              <a:defRPr i="1"/>
            </a:lvl1pPr>
          </a:lstStyle>
          <a:p>
            <a:r>
              <a:t>Australopithecus africanus</a:t>
            </a:r>
          </a:p>
        </p:txBody>
      </p:sp>
      <p:pic>
        <p:nvPicPr>
          <p:cNvPr id="633" name="Modern Human Skull.pdf"/>
          <p:cNvPicPr>
            <a:picLocks noChangeAspect="1"/>
          </p:cNvPicPr>
          <p:nvPr/>
        </p:nvPicPr>
        <p:blipFill>
          <a:blip r:embed="rId4">
            <a:extLst/>
          </a:blip>
          <a:stretch>
            <a:fillRect/>
          </a:stretch>
        </p:blipFill>
        <p:spPr>
          <a:xfrm>
            <a:off x="622300" y="6364558"/>
            <a:ext cx="2006600" cy="2045489"/>
          </a:xfrm>
          <a:prstGeom prst="rect">
            <a:avLst/>
          </a:prstGeom>
          <a:ln w="12700">
            <a:miter lim="400000"/>
          </a:ln>
        </p:spPr>
      </p:pic>
      <p:sp>
        <p:nvSpPr>
          <p:cNvPr id="634" name="Shape 634"/>
          <p:cNvSpPr/>
          <p:nvPr/>
        </p:nvSpPr>
        <p:spPr>
          <a:xfrm>
            <a:off x="2717800" y="8540021"/>
            <a:ext cx="2251969" cy="450553"/>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marL="0" marR="4275454" algn="ctr">
              <a:lnSpc>
                <a:spcPts val="3100"/>
              </a:lnSpc>
              <a:tabLst>
                <a:tab pos="520700" algn="l"/>
              </a:tabLst>
              <a:defRPr sz="2800">
                <a:solidFill>
                  <a:srgbClr val="483F36"/>
                </a:solidFill>
                <a:latin typeface="Hoefler Text"/>
                <a:ea typeface="Hoefler Text"/>
                <a:cs typeface="Hoefler Text"/>
                <a:sym typeface="Hoefler Text"/>
              </a:defRPr>
            </a:pPr>
            <a:r>
              <a:rPr sz="1600" b="1">
                <a:solidFill>
                  <a:srgbClr val="000000"/>
                </a:solidFill>
                <a:latin typeface="+mn-lt"/>
                <a:ea typeface="+mn-ea"/>
                <a:cs typeface="+mn-cs"/>
                <a:sym typeface="Arial"/>
              </a:rPr>
              <a:t>A modern human skull</a:t>
            </a:r>
          </a:p>
          <a:p>
            <a:pPr marL="0" marR="4275454" algn="ctr">
              <a:lnSpc>
                <a:spcPts val="3100"/>
              </a:lnSpc>
              <a:tabLst>
                <a:tab pos="520700" algn="l"/>
              </a:tabLst>
              <a:defRPr sz="1600">
                <a:solidFill>
                  <a:srgbClr val="483F36"/>
                </a:solidFill>
              </a:defRPr>
            </a:pPr>
            <a:r>
              <a:rPr dirty="0">
                <a:solidFill>
                  <a:srgbClr val="000000"/>
                </a:solidFill>
              </a:rPr>
              <a:t>(for comparison)</a:t>
            </a:r>
          </a:p>
        </p:txBody>
      </p:sp>
      <p:pic>
        <p:nvPicPr>
          <p:cNvPr id="635" name="Data A. africanus OHT Skull.pdf"/>
          <p:cNvPicPr>
            <a:picLocks noChangeAspect="1"/>
          </p:cNvPicPr>
          <p:nvPr/>
        </p:nvPicPr>
        <p:blipFill>
          <a:blip r:embed="rId5">
            <a:extLst/>
          </a:blip>
          <a:stretch>
            <a:fillRect/>
          </a:stretch>
        </p:blipFill>
        <p:spPr>
          <a:xfrm>
            <a:off x="742950" y="4369934"/>
            <a:ext cx="1752600" cy="1846490"/>
          </a:xfrm>
          <a:prstGeom prst="rect">
            <a:avLst/>
          </a:prstGeom>
          <a:ln w="12700">
            <a:miter lim="400000"/>
          </a:ln>
        </p:spPr>
      </p:pic>
      <p:sp>
        <p:nvSpPr>
          <p:cNvPr id="636" name="Shape 636"/>
          <p:cNvSpPr/>
          <p:nvPr/>
        </p:nvSpPr>
        <p:spPr>
          <a:xfrm>
            <a:off x="10350500" y="7302500"/>
            <a:ext cx="1982031" cy="1059322"/>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100"/>
              </a:lnSpc>
              <a:tabLst>
                <a:tab pos="520700" algn="l"/>
              </a:tabLst>
              <a:defRPr sz="2800">
                <a:solidFill>
                  <a:srgbClr val="006795"/>
                </a:solidFill>
                <a:latin typeface="Hoefler Text"/>
                <a:ea typeface="Hoefler Text"/>
                <a:cs typeface="Hoefler Text"/>
                <a:sym typeface="Hoefler Text"/>
              </a:defRPr>
            </a:pPr>
            <a:r>
              <a:rPr sz="1800">
                <a:latin typeface="+mn-lt"/>
                <a:ea typeface="+mn-ea"/>
                <a:cs typeface="+mn-cs"/>
                <a:sym typeface="Arial"/>
              </a:rPr>
              <a:t>Lower face</a:t>
            </a:r>
          </a:p>
          <a:p>
            <a:pPr>
              <a:lnSpc>
                <a:spcPts val="2100"/>
              </a:lnSpc>
              <a:tabLst>
                <a:tab pos="520700" algn="l"/>
              </a:tabLst>
              <a:defRPr sz="2800">
                <a:solidFill>
                  <a:srgbClr val="006795"/>
                </a:solidFill>
                <a:latin typeface="Hoefler Text"/>
                <a:ea typeface="Hoefler Text"/>
                <a:cs typeface="Hoefler Text"/>
                <a:sym typeface="Hoefler Text"/>
              </a:defRPr>
            </a:pPr>
            <a:r>
              <a:rPr sz="1800">
                <a:latin typeface="+mn-lt"/>
                <a:ea typeface="+mn-ea"/>
                <a:cs typeface="+mn-cs"/>
                <a:sym typeface="Arial"/>
              </a:rPr>
              <a:t>protrudes forward</a:t>
            </a:r>
          </a:p>
          <a:p>
            <a:pPr>
              <a:lnSpc>
                <a:spcPts val="2100"/>
              </a:lnSpc>
              <a:tabLst>
                <a:tab pos="520700" algn="l"/>
              </a:tabLst>
              <a:defRPr sz="2800">
                <a:solidFill>
                  <a:srgbClr val="006795"/>
                </a:solidFill>
                <a:latin typeface="Hoefler Text"/>
                <a:ea typeface="Hoefler Text"/>
                <a:cs typeface="Hoefler Text"/>
                <a:sym typeface="Hoefler Text"/>
              </a:defRPr>
            </a:pPr>
            <a:r>
              <a:rPr sz="1800">
                <a:latin typeface="+mn-lt"/>
                <a:ea typeface="+mn-ea"/>
                <a:cs typeface="+mn-cs"/>
                <a:sym typeface="Arial"/>
              </a:rPr>
              <a:t>into a snout</a:t>
            </a:r>
          </a:p>
          <a:p>
            <a:pPr>
              <a:lnSpc>
                <a:spcPts val="2100"/>
              </a:lnSpc>
              <a:tabLst>
                <a:tab pos="520700" algn="l"/>
              </a:tabLst>
              <a:defRPr sz="2800">
                <a:solidFill>
                  <a:srgbClr val="006795"/>
                </a:solidFill>
                <a:latin typeface="Hoefler Text"/>
                <a:ea typeface="Hoefler Text"/>
                <a:cs typeface="Hoefler Text"/>
                <a:sym typeface="Hoefler Text"/>
              </a:defRPr>
            </a:pPr>
            <a:r>
              <a:rPr sz="1800">
                <a:latin typeface="+mn-lt"/>
                <a:ea typeface="+mn-ea"/>
                <a:cs typeface="+mn-cs"/>
                <a:sym typeface="Arial"/>
              </a:rPr>
              <a:t>(prognathism)</a:t>
            </a:r>
          </a:p>
        </p:txBody>
      </p:sp>
      <p:sp>
        <p:nvSpPr>
          <p:cNvPr id="637" name="Shape 637"/>
          <p:cNvSpPr/>
          <p:nvPr/>
        </p:nvSpPr>
        <p:spPr>
          <a:xfrm>
            <a:off x="9753600" y="5435600"/>
            <a:ext cx="1766380" cy="259222"/>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nSpc>
                <a:spcPts val="2100"/>
              </a:lnSpc>
              <a:tabLst>
                <a:tab pos="520700" algn="l"/>
              </a:tabLst>
              <a:defRPr>
                <a:solidFill>
                  <a:srgbClr val="006795"/>
                </a:solidFill>
              </a:defRPr>
            </a:lvl1pPr>
          </a:lstStyle>
          <a:p>
            <a:r>
              <a:t>Low facial angle</a:t>
            </a:r>
          </a:p>
        </p:txBody>
      </p:sp>
      <p:sp>
        <p:nvSpPr>
          <p:cNvPr id="638" name="Shape 638"/>
          <p:cNvSpPr/>
          <p:nvPr/>
        </p:nvSpPr>
        <p:spPr>
          <a:xfrm>
            <a:off x="9601200" y="4305300"/>
            <a:ext cx="1219659" cy="259222"/>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nSpc>
                <a:spcPts val="2100"/>
              </a:lnSpc>
              <a:tabLst>
                <a:tab pos="520700" algn="l"/>
              </a:tabLst>
              <a:defRPr>
                <a:solidFill>
                  <a:srgbClr val="006795"/>
                </a:solidFill>
              </a:defRPr>
            </a:lvl1pPr>
          </a:lstStyle>
          <a:p>
            <a:r>
              <a:t>Brow ridge</a:t>
            </a:r>
          </a:p>
        </p:txBody>
      </p:sp>
      <p:sp>
        <p:nvSpPr>
          <p:cNvPr id="639" name="Shape 639"/>
          <p:cNvSpPr/>
          <p:nvPr/>
        </p:nvSpPr>
        <p:spPr>
          <a:xfrm>
            <a:off x="5867400" y="2273300"/>
            <a:ext cx="1765933" cy="259222"/>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nSpc>
                <a:spcPts val="2100"/>
              </a:lnSpc>
              <a:tabLst>
                <a:tab pos="520700" algn="l"/>
              </a:tabLst>
              <a:defRPr>
                <a:solidFill>
                  <a:srgbClr val="006795"/>
                </a:solidFill>
              </a:defRPr>
            </a:lvl1pPr>
          </a:lstStyle>
          <a:p>
            <a:r>
              <a:t>No sagittal crest</a:t>
            </a:r>
          </a:p>
        </p:txBody>
      </p:sp>
      <p:sp>
        <p:nvSpPr>
          <p:cNvPr id="640" name="Shape 640"/>
          <p:cNvSpPr/>
          <p:nvPr/>
        </p:nvSpPr>
        <p:spPr>
          <a:xfrm>
            <a:off x="2717800" y="1689100"/>
            <a:ext cx="2680780" cy="1059322"/>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100"/>
              </a:lnSpc>
              <a:tabLst>
                <a:tab pos="520700" algn="l"/>
              </a:tabLst>
              <a:defRPr sz="2800">
                <a:solidFill>
                  <a:srgbClr val="006795"/>
                </a:solidFill>
                <a:latin typeface="Hoefler Text"/>
                <a:ea typeface="Hoefler Text"/>
                <a:cs typeface="Hoefler Text"/>
                <a:sym typeface="Hoefler Text"/>
              </a:defRPr>
            </a:pPr>
            <a:r>
              <a:rPr sz="1800">
                <a:latin typeface="+mn-lt"/>
                <a:ea typeface="+mn-ea"/>
                <a:cs typeface="+mn-cs"/>
                <a:sym typeface="Arial"/>
              </a:rPr>
              <a:t>Small brain (420-500 cc)</a:t>
            </a:r>
          </a:p>
          <a:p>
            <a:pPr>
              <a:lnSpc>
                <a:spcPts val="2100"/>
              </a:lnSpc>
              <a:tabLst>
                <a:tab pos="520700" algn="l"/>
              </a:tabLst>
              <a:defRPr sz="2800">
                <a:solidFill>
                  <a:srgbClr val="006795"/>
                </a:solidFill>
                <a:latin typeface="Hoefler Text"/>
                <a:ea typeface="Hoefler Text"/>
                <a:cs typeface="Hoefler Text"/>
                <a:sym typeface="Hoefler Text"/>
              </a:defRPr>
            </a:pPr>
            <a:r>
              <a:rPr sz="1800">
                <a:latin typeface="+mn-lt"/>
                <a:ea typeface="+mn-ea"/>
                <a:cs typeface="+mn-cs"/>
                <a:sym typeface="Arial"/>
              </a:rPr>
              <a:t>same size as gorilla's</a:t>
            </a:r>
          </a:p>
          <a:p>
            <a:pPr>
              <a:lnSpc>
                <a:spcPts val="2100"/>
              </a:lnSpc>
              <a:tabLst>
                <a:tab pos="520700" algn="l"/>
              </a:tabLst>
              <a:defRPr sz="2800">
                <a:solidFill>
                  <a:srgbClr val="006795"/>
                </a:solidFill>
                <a:latin typeface="Hoefler Text"/>
                <a:ea typeface="Hoefler Text"/>
                <a:cs typeface="Hoefler Text"/>
                <a:sym typeface="Hoefler Text"/>
              </a:defRPr>
            </a:pPr>
            <a:r>
              <a:rPr sz="1800">
                <a:latin typeface="+mn-lt"/>
                <a:ea typeface="+mn-ea"/>
                <a:cs typeface="+mn-cs"/>
                <a:sym typeface="Arial"/>
              </a:rPr>
              <a:t>but organisation is</a:t>
            </a:r>
          </a:p>
          <a:p>
            <a:pPr>
              <a:lnSpc>
                <a:spcPts val="2100"/>
              </a:lnSpc>
              <a:tabLst>
                <a:tab pos="520700" algn="l"/>
              </a:tabLst>
              <a:defRPr sz="2800">
                <a:solidFill>
                  <a:srgbClr val="006795"/>
                </a:solidFill>
                <a:latin typeface="Hoefler Text"/>
                <a:ea typeface="Hoefler Text"/>
                <a:cs typeface="Hoefler Text"/>
                <a:sym typeface="Hoefler Text"/>
              </a:defRPr>
            </a:pPr>
            <a:r>
              <a:rPr sz="1800">
                <a:latin typeface="+mn-lt"/>
                <a:ea typeface="+mn-ea"/>
                <a:cs typeface="+mn-cs"/>
                <a:sym typeface="Arial"/>
              </a:rPr>
              <a:t>different from an ape's</a:t>
            </a:r>
          </a:p>
        </p:txBody>
      </p:sp>
      <p:sp>
        <p:nvSpPr>
          <p:cNvPr id="641" name="Shape 641"/>
          <p:cNvSpPr/>
          <p:nvPr/>
        </p:nvSpPr>
        <p:spPr>
          <a:xfrm>
            <a:off x="3937000" y="8140700"/>
            <a:ext cx="3556000" cy="5259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marL="0">
              <a:lnSpc>
                <a:spcPts val="2100"/>
              </a:lnSpc>
              <a:spcBef>
                <a:spcPts val="200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rgbClr val="006795"/>
                </a:solidFill>
              </a:defRPr>
            </a:lvl1pPr>
          </a:lstStyle>
          <a:p>
            <a:pPr>
              <a:defRPr sz="2800">
                <a:latin typeface="Hoefler Text"/>
                <a:ea typeface="Hoefler Text"/>
                <a:cs typeface="Hoefler Text"/>
                <a:sym typeface="Hoefler Text"/>
              </a:defRPr>
            </a:pPr>
            <a:r>
              <a:rPr sz="1800">
                <a:latin typeface="+mn-lt"/>
                <a:ea typeface="+mn-ea"/>
                <a:cs typeface="+mn-cs"/>
                <a:sym typeface="Arial"/>
              </a:rPr>
              <a:t>Very large molars compared with modern humans (not shown here)</a:t>
            </a:r>
          </a:p>
        </p:txBody>
      </p:sp>
      <p:sp>
        <p:nvSpPr>
          <p:cNvPr id="642" name="Shape 642"/>
          <p:cNvSpPr/>
          <p:nvPr/>
        </p:nvSpPr>
        <p:spPr>
          <a:xfrm>
            <a:off x="9042400" y="4927600"/>
            <a:ext cx="897467" cy="1473200"/>
          </a:xfrm>
          <a:prstGeom prst="line">
            <a:avLst/>
          </a:prstGeom>
          <a:ln w="76200">
            <a:solidFill>
              <a:srgbClr val="F38C1E"/>
            </a:solidFill>
            <a:miter lim="400000"/>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43" name="Shape 643"/>
          <p:cNvSpPr/>
          <p:nvPr/>
        </p:nvSpPr>
        <p:spPr>
          <a:xfrm flipH="1" flipV="1">
            <a:off x="4262966" y="3048000"/>
            <a:ext cx="880534" cy="846667"/>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44" name="Shape 644"/>
          <p:cNvSpPr/>
          <p:nvPr/>
        </p:nvSpPr>
        <p:spPr>
          <a:xfrm flipV="1">
            <a:off x="6870700" y="2679700"/>
            <a:ext cx="0" cy="609600"/>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45" name="Shape 645"/>
          <p:cNvSpPr/>
          <p:nvPr/>
        </p:nvSpPr>
        <p:spPr>
          <a:xfrm>
            <a:off x="8568266" y="4436533"/>
            <a:ext cx="1066801" cy="128"/>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46" name="Shape 646"/>
          <p:cNvSpPr/>
          <p:nvPr/>
        </p:nvSpPr>
        <p:spPr>
          <a:xfrm flipH="1">
            <a:off x="7391400" y="7725833"/>
            <a:ext cx="859367" cy="541867"/>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648" name="Shape 648"/>
          <p:cNvSpPr>
            <a:spLocks noGrp="1"/>
          </p:cNvSpPr>
          <p:nvPr>
            <p:ph type="title"/>
          </p:nvPr>
        </p:nvSpPr>
        <p:spPr>
          <a:prstGeom prst="rect">
            <a:avLst/>
          </a:prstGeom>
        </p:spPr>
        <p:txBody>
          <a:bodyPr/>
          <a:lstStyle>
            <a:lvl1pPr>
              <a:tabLst>
                <a:tab pos="952500" algn="l"/>
              </a:tabLst>
              <a:defRPr i="1"/>
            </a:lvl1pPr>
          </a:lstStyle>
          <a:p>
            <a:r>
              <a:t>Homo habilis</a:t>
            </a:r>
          </a:p>
        </p:txBody>
      </p:sp>
      <p:sp>
        <p:nvSpPr>
          <p:cNvPr id="649" name="Shape 649"/>
          <p:cNvSpPr>
            <a:spLocks noGrp="1"/>
          </p:cNvSpPr>
          <p:nvPr>
            <p:ph type="body" sz="half" idx="1"/>
          </p:nvPr>
        </p:nvSpPr>
        <p:spPr>
          <a:prstGeom prst="rect">
            <a:avLst/>
          </a:prstGeom>
        </p:spPr>
        <p:txBody>
          <a:bodyPr/>
          <a:lstStyle/>
          <a:p>
            <a:pPr>
              <a:tabLst>
                <a:tab pos="1016000" algn="l"/>
              </a:tabLst>
            </a:pPr>
            <a:r>
              <a:t>Existed between 2.4 and 1.5 MYA.</a:t>
            </a:r>
          </a:p>
          <a:p>
            <a:pPr>
              <a:tabLst>
                <a:tab pos="1016000" algn="l"/>
              </a:tabLst>
            </a:pPr>
            <a:r>
              <a:t>Although similar to australopithecines in many ways, their brain size was considerably larger.</a:t>
            </a:r>
          </a:p>
          <a:p>
            <a:pPr>
              <a:tabLst>
                <a:tab pos="1016000" algn="l"/>
              </a:tabLst>
            </a:pPr>
            <a:r>
              <a:t>Some researchers argue that this species is too variable in its present classification. Instead, they propose that it be split into two species:</a:t>
            </a:r>
          </a:p>
          <a:p>
            <a:pPr lvl="1">
              <a:tabLst>
                <a:tab pos="1485900" algn="l"/>
              </a:tabLst>
            </a:pPr>
            <a:r>
              <a:rPr i="1"/>
              <a:t>Homo habilis</a:t>
            </a:r>
            <a:r>
              <a:t> (ER-1813)</a:t>
            </a:r>
          </a:p>
          <a:p>
            <a:pPr lvl="1">
              <a:tabLst>
                <a:tab pos="1485900" algn="l"/>
              </a:tabLst>
            </a:pPr>
            <a:r>
              <a:rPr i="1"/>
              <a:t>Homo rudolfensis</a:t>
            </a:r>
            <a:r>
              <a:t> (ER-1470)</a:t>
            </a:r>
          </a:p>
          <a:p>
            <a:pPr>
              <a:tabLst>
                <a:tab pos="1016000" algn="l"/>
              </a:tabLst>
            </a:pPr>
            <a:r>
              <a:t>One </a:t>
            </a:r>
            <a:r>
              <a:rPr i="1"/>
              <a:t>habilis</a:t>
            </a:r>
            <a:r>
              <a:t> brain cast shows </a:t>
            </a:r>
            <a:br/>
            <a:r>
              <a:t>a bulge of the Broca’s area, suggesting rudimentary speech.</a:t>
            </a:r>
          </a:p>
        </p:txBody>
      </p:sp>
      <p:grpSp>
        <p:nvGrpSpPr>
          <p:cNvPr id="654" name="Group 654"/>
          <p:cNvGrpSpPr/>
          <p:nvPr/>
        </p:nvGrpSpPr>
        <p:grpSpPr>
          <a:xfrm>
            <a:off x="6400800" y="1597383"/>
            <a:ext cx="6400800" cy="7660917"/>
            <a:chOff x="0" y="0"/>
            <a:chExt cx="6400800" cy="7660916"/>
          </a:xfrm>
        </p:grpSpPr>
        <p:pic>
          <p:nvPicPr>
            <p:cNvPr id="650" name="Africa Map.png"/>
            <p:cNvPicPr>
              <a:picLocks noChangeAspect="1"/>
            </p:cNvPicPr>
            <p:nvPr/>
          </p:nvPicPr>
          <p:blipFill>
            <a:blip r:embed="rId3">
              <a:extLst/>
            </a:blip>
            <a:stretch>
              <a:fillRect/>
            </a:stretch>
          </p:blipFill>
          <p:spPr>
            <a:xfrm>
              <a:off x="0" y="0"/>
              <a:ext cx="6400800" cy="6708417"/>
            </a:xfrm>
            <a:prstGeom prst="rect">
              <a:avLst/>
            </a:prstGeom>
            <a:ln w="12700" cap="flat">
              <a:noFill/>
              <a:miter lim="400000"/>
            </a:ln>
            <a:effectLst/>
          </p:spPr>
        </p:pic>
        <p:pic>
          <p:nvPicPr>
            <p:cNvPr id="651" name="H. habilis.png"/>
            <p:cNvPicPr>
              <a:picLocks noChangeAspect="1"/>
            </p:cNvPicPr>
            <p:nvPr/>
          </p:nvPicPr>
          <p:blipFill>
            <a:blip r:embed="rId4">
              <a:extLst/>
            </a:blip>
            <a:stretch>
              <a:fillRect/>
            </a:stretch>
          </p:blipFill>
          <p:spPr>
            <a:xfrm>
              <a:off x="139700" y="3368316"/>
              <a:ext cx="3423980" cy="4292601"/>
            </a:xfrm>
            <a:prstGeom prst="rect">
              <a:avLst/>
            </a:prstGeom>
            <a:ln w="12700" cap="flat">
              <a:noFill/>
              <a:miter lim="400000"/>
            </a:ln>
            <a:effectLst/>
          </p:spPr>
        </p:pic>
        <p:sp>
          <p:nvSpPr>
            <p:cNvPr id="652" name="Shape 652"/>
            <p:cNvSpPr/>
            <p:nvPr/>
          </p:nvSpPr>
          <p:spPr>
            <a:xfrm>
              <a:off x="4635500" y="3622316"/>
              <a:ext cx="228600" cy="1905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53" name="Shape 653"/>
            <p:cNvSpPr/>
            <p:nvPr/>
          </p:nvSpPr>
          <p:spPr>
            <a:xfrm>
              <a:off x="4635500" y="3254016"/>
              <a:ext cx="228600" cy="1905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649">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64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64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649">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649">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649">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64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9" grpId="1" build="p" bldLvl="5" animBg="1" advAuto="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667" y="1727037"/>
            <a:ext cx="2243666" cy="2278723"/>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5300" y="4718899"/>
            <a:ext cx="1849913" cy="1483120"/>
          </a:xfrm>
          <a:prstGeom prst="rect">
            <a:avLst/>
          </a:prstGeom>
        </p:spPr>
      </p:pic>
      <p:pic>
        <p:nvPicPr>
          <p:cNvPr id="656" name="Skull Homo habilis PM cut.png"/>
          <p:cNvPicPr>
            <a:picLocks noChangeAspect="1"/>
          </p:cNvPicPr>
          <p:nvPr/>
        </p:nvPicPr>
        <p:blipFill>
          <a:blip r:embed="rId5">
            <a:extLst/>
          </a:blip>
          <a:stretch>
            <a:fillRect/>
          </a:stretch>
        </p:blipFill>
        <p:spPr>
          <a:xfrm>
            <a:off x="4368800" y="2564962"/>
            <a:ext cx="6248401" cy="4870888"/>
          </a:xfrm>
          <a:prstGeom prst="rect">
            <a:avLst/>
          </a:prstGeom>
          <a:ln w="12700">
            <a:miter lim="400000"/>
          </a:ln>
        </p:spPr>
      </p:pic>
      <p:sp>
        <p:nvSpPr>
          <p:cNvPr id="657" name="Shape 657"/>
          <p:cNvSpPr/>
          <p:nvPr/>
        </p:nvSpPr>
        <p:spPr>
          <a:xfrm>
            <a:off x="7467600" y="3771900"/>
            <a:ext cx="558800" cy="685800"/>
          </a:xfrm>
          <a:prstGeom prst="ellipse">
            <a:avLst/>
          </a:prstGeom>
          <a:solidFill>
            <a:srgbClr val="45D0DF">
              <a:alpha val="61000"/>
            </a:srgbClr>
          </a:solidFill>
          <a:ln w="38100">
            <a:solidFill>
              <a:srgbClr val="FFF9F5"/>
            </a:solidFill>
            <a:miter lim="400000"/>
          </a:ln>
        </p:spPr>
        <p:txBody>
          <a:bodyPr lIns="38100" tIns="38100" rIns="38100" bIns="38100" anchor="ct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58" name="Shape 658"/>
          <p:cNvSpPr>
            <a:spLocks noGrp="1"/>
          </p:cNvSpPr>
          <p:nvPr>
            <p:ph type="title"/>
          </p:nvPr>
        </p:nvSpPr>
        <p:spPr>
          <a:prstGeom prst="rect">
            <a:avLst/>
          </a:prstGeom>
        </p:spPr>
        <p:txBody>
          <a:bodyPr/>
          <a:lstStyle>
            <a:lvl1pPr>
              <a:tabLst>
                <a:tab pos="952500" algn="l"/>
              </a:tabLst>
              <a:defRPr i="1"/>
            </a:lvl1pPr>
          </a:lstStyle>
          <a:p>
            <a:r>
              <a:t>Homo habilis</a:t>
            </a:r>
          </a:p>
        </p:txBody>
      </p:sp>
      <p:pic>
        <p:nvPicPr>
          <p:cNvPr id="659" name="Modern Human Skull.pdf"/>
          <p:cNvPicPr>
            <a:picLocks noChangeAspect="1"/>
          </p:cNvPicPr>
          <p:nvPr/>
        </p:nvPicPr>
        <p:blipFill>
          <a:blip r:embed="rId6">
            <a:extLst/>
          </a:blip>
          <a:stretch>
            <a:fillRect/>
          </a:stretch>
        </p:blipFill>
        <p:spPr>
          <a:xfrm>
            <a:off x="431800" y="6872558"/>
            <a:ext cx="2006600" cy="2045489"/>
          </a:xfrm>
          <a:prstGeom prst="rect">
            <a:avLst/>
          </a:prstGeom>
          <a:ln w="12700">
            <a:miter lim="400000"/>
          </a:ln>
        </p:spPr>
      </p:pic>
      <p:sp>
        <p:nvSpPr>
          <p:cNvPr id="660" name="Shape 660"/>
          <p:cNvSpPr/>
          <p:nvPr/>
        </p:nvSpPr>
        <p:spPr>
          <a:xfrm>
            <a:off x="2576065" y="8917783"/>
            <a:ext cx="2251969" cy="450553"/>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marL="0" marR="4275454" algn="ctr">
              <a:lnSpc>
                <a:spcPts val="3100"/>
              </a:lnSpc>
              <a:tabLst>
                <a:tab pos="520700" algn="l"/>
              </a:tabLst>
              <a:defRPr sz="1600" b="1">
                <a:solidFill>
                  <a:srgbClr val="483F36"/>
                </a:solidFill>
              </a:defRPr>
            </a:pPr>
            <a:r>
              <a:rPr>
                <a:solidFill>
                  <a:srgbClr val="000000"/>
                </a:solidFill>
              </a:rPr>
              <a:t>A modern human skull</a:t>
            </a:r>
          </a:p>
          <a:p>
            <a:pPr marL="0" marR="4275454" algn="ctr">
              <a:lnSpc>
                <a:spcPts val="3100"/>
              </a:lnSpc>
              <a:tabLst>
                <a:tab pos="520700" algn="l"/>
              </a:tabLst>
              <a:defRPr sz="2800">
                <a:solidFill>
                  <a:srgbClr val="483F36"/>
                </a:solidFill>
                <a:latin typeface="Hoefler Text"/>
                <a:ea typeface="Hoefler Text"/>
                <a:cs typeface="Hoefler Text"/>
                <a:sym typeface="Hoefler Text"/>
              </a:defRPr>
            </a:pPr>
            <a:r>
              <a:rPr sz="1600" dirty="0">
                <a:solidFill>
                  <a:srgbClr val="000000"/>
                </a:solidFill>
                <a:latin typeface="+mn-lt"/>
                <a:ea typeface="+mn-ea"/>
                <a:cs typeface="+mn-cs"/>
                <a:sym typeface="Arial"/>
              </a:rPr>
              <a:t>(for comparison)</a:t>
            </a:r>
          </a:p>
        </p:txBody>
      </p:sp>
      <p:sp>
        <p:nvSpPr>
          <p:cNvPr id="661" name="Shape 661"/>
          <p:cNvSpPr/>
          <p:nvPr/>
        </p:nvSpPr>
        <p:spPr>
          <a:xfrm>
            <a:off x="660400" y="6299200"/>
            <a:ext cx="1550058" cy="259222"/>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nSpc>
                <a:spcPts val="2400"/>
              </a:lnSpc>
              <a:tabLst>
                <a:tab pos="520700" algn="l"/>
              </a:tabLst>
              <a:defRPr b="1">
                <a:solidFill>
                  <a:srgbClr val="000000"/>
                </a:solidFill>
              </a:defRPr>
            </a:lvl1pPr>
          </a:lstStyle>
          <a:p>
            <a:r>
              <a:t>Small variant</a:t>
            </a:r>
          </a:p>
        </p:txBody>
      </p:sp>
      <p:sp>
        <p:nvSpPr>
          <p:cNvPr id="662" name="Shape 662"/>
          <p:cNvSpPr/>
          <p:nvPr/>
        </p:nvSpPr>
        <p:spPr>
          <a:xfrm>
            <a:off x="647700" y="4000500"/>
            <a:ext cx="1562671" cy="259222"/>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nSpc>
                <a:spcPts val="2400"/>
              </a:lnSpc>
              <a:tabLst>
                <a:tab pos="520700" algn="l"/>
              </a:tabLst>
              <a:defRPr b="1">
                <a:solidFill>
                  <a:srgbClr val="000000"/>
                </a:solidFill>
              </a:defRPr>
            </a:lvl1pPr>
          </a:lstStyle>
          <a:p>
            <a:r>
              <a:t>Large variant</a:t>
            </a:r>
          </a:p>
        </p:txBody>
      </p:sp>
      <p:sp>
        <p:nvSpPr>
          <p:cNvPr id="665" name="Shape 665"/>
          <p:cNvSpPr/>
          <p:nvPr/>
        </p:nvSpPr>
        <p:spPr>
          <a:xfrm>
            <a:off x="11010900" y="6705600"/>
            <a:ext cx="1778745" cy="6012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6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Projecting jaw</a:t>
            </a:r>
          </a:p>
          <a:p>
            <a:pPr>
              <a:lnSpc>
                <a:spcPts val="26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(prognathism)</a:t>
            </a:r>
          </a:p>
        </p:txBody>
      </p:sp>
      <p:sp>
        <p:nvSpPr>
          <p:cNvPr id="666" name="Shape 666"/>
          <p:cNvSpPr/>
          <p:nvPr/>
        </p:nvSpPr>
        <p:spPr>
          <a:xfrm>
            <a:off x="10604500" y="5562600"/>
            <a:ext cx="1171774" cy="2837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nSpc>
                <a:spcPts val="2600"/>
              </a:lnSpc>
              <a:tabLst>
                <a:tab pos="520700" algn="l"/>
              </a:tabLst>
              <a:defRPr sz="2000">
                <a:solidFill>
                  <a:srgbClr val="006795"/>
                </a:solidFill>
              </a:defRPr>
            </a:lvl1pPr>
          </a:lstStyle>
          <a:p>
            <a:r>
              <a:t>Flat nose</a:t>
            </a:r>
          </a:p>
        </p:txBody>
      </p:sp>
      <p:sp>
        <p:nvSpPr>
          <p:cNvPr id="667" name="Shape 667"/>
          <p:cNvSpPr/>
          <p:nvPr/>
        </p:nvSpPr>
        <p:spPr>
          <a:xfrm>
            <a:off x="10363200" y="4203700"/>
            <a:ext cx="2565400" cy="9187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600"/>
              </a:lnSpc>
              <a:tabLst>
                <a:tab pos="520700" algn="l"/>
              </a:tabLst>
              <a:defRPr sz="2000">
                <a:solidFill>
                  <a:srgbClr val="006795"/>
                </a:solidFill>
              </a:defRPr>
            </a:lvl1pPr>
          </a:lstStyle>
          <a:p>
            <a:r>
              <a:t>Smaller, narrower face than the  australopithecines</a:t>
            </a:r>
          </a:p>
        </p:txBody>
      </p:sp>
      <p:sp>
        <p:nvSpPr>
          <p:cNvPr id="668" name="Shape 668"/>
          <p:cNvSpPr/>
          <p:nvPr/>
        </p:nvSpPr>
        <p:spPr>
          <a:xfrm>
            <a:off x="10515600" y="3314700"/>
            <a:ext cx="1341066" cy="2837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nSpc>
                <a:spcPts val="2600"/>
              </a:lnSpc>
              <a:tabLst>
                <a:tab pos="520700" algn="l"/>
              </a:tabLst>
              <a:defRPr sz="2000">
                <a:solidFill>
                  <a:srgbClr val="006795"/>
                </a:solidFill>
              </a:defRPr>
            </a:lvl1pPr>
          </a:lstStyle>
          <a:p>
            <a:r>
              <a:t>Brow ridge</a:t>
            </a:r>
          </a:p>
        </p:txBody>
      </p:sp>
      <p:sp>
        <p:nvSpPr>
          <p:cNvPr id="669" name="Shape 669"/>
          <p:cNvSpPr/>
          <p:nvPr/>
        </p:nvSpPr>
        <p:spPr>
          <a:xfrm>
            <a:off x="6261100" y="1790700"/>
            <a:ext cx="4503664" cy="2837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nSpc>
                <a:spcPts val="2600"/>
              </a:lnSpc>
              <a:tabLst>
                <a:tab pos="520700" algn="l"/>
              </a:tabLst>
              <a:defRPr sz="2000">
                <a:solidFill>
                  <a:srgbClr val="006795"/>
                </a:solidFill>
              </a:defRPr>
            </a:lvl1pPr>
          </a:lstStyle>
          <a:p>
            <a:r>
              <a:t>Rounded cranium with no sagittal crest</a:t>
            </a:r>
          </a:p>
        </p:txBody>
      </p:sp>
      <p:sp>
        <p:nvSpPr>
          <p:cNvPr id="670" name="Shape 670"/>
          <p:cNvSpPr/>
          <p:nvPr/>
        </p:nvSpPr>
        <p:spPr>
          <a:xfrm>
            <a:off x="8407400" y="7874000"/>
            <a:ext cx="2603500" cy="9187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600"/>
              </a:lnSpc>
              <a:tabLst>
                <a:tab pos="520700" algn="l"/>
              </a:tabLst>
              <a:defRPr sz="2000">
                <a:solidFill>
                  <a:srgbClr val="006795"/>
                </a:solidFill>
              </a:defRPr>
            </a:lvl1pPr>
          </a:lstStyle>
          <a:p>
            <a:r>
              <a:t>Tooth row displays a modern curve, with narrow molars</a:t>
            </a:r>
          </a:p>
        </p:txBody>
      </p:sp>
      <p:sp>
        <p:nvSpPr>
          <p:cNvPr id="671" name="Shape 671"/>
          <p:cNvSpPr/>
          <p:nvPr/>
        </p:nvSpPr>
        <p:spPr>
          <a:xfrm>
            <a:off x="2514600" y="1498600"/>
            <a:ext cx="3416102" cy="6012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gn="ctr">
              <a:lnSpc>
                <a:spcPts val="26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Bigger brain</a:t>
            </a:r>
          </a:p>
          <a:p>
            <a:pPr algn="ctr">
              <a:lnSpc>
                <a:spcPts val="26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(500-650 cc for small variant)</a:t>
            </a:r>
          </a:p>
        </p:txBody>
      </p:sp>
      <p:sp>
        <p:nvSpPr>
          <p:cNvPr id="672" name="Shape 672"/>
          <p:cNvSpPr/>
          <p:nvPr/>
        </p:nvSpPr>
        <p:spPr>
          <a:xfrm>
            <a:off x="2921000" y="2794000"/>
            <a:ext cx="1600200" cy="15537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600"/>
              </a:lnSpc>
              <a:tabLst>
                <a:tab pos="520700" algn="l"/>
              </a:tabLst>
              <a:defRPr sz="2000">
                <a:solidFill>
                  <a:srgbClr val="006795"/>
                </a:solidFill>
              </a:defRPr>
            </a:lvl1pPr>
          </a:lstStyle>
          <a:p>
            <a:r>
              <a:t>Bulge in the Broca's area of the brain for speech production</a:t>
            </a:r>
          </a:p>
        </p:txBody>
      </p:sp>
      <p:sp>
        <p:nvSpPr>
          <p:cNvPr id="673" name="Shape 673"/>
          <p:cNvSpPr/>
          <p:nvPr/>
        </p:nvSpPr>
        <p:spPr>
          <a:xfrm>
            <a:off x="4368800" y="6972300"/>
            <a:ext cx="3149600" cy="6012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600"/>
              </a:lnSpc>
              <a:tabLst>
                <a:tab pos="520700" algn="l"/>
              </a:tabLst>
              <a:defRPr sz="2000">
                <a:solidFill>
                  <a:srgbClr val="006795"/>
                </a:solidFill>
              </a:defRPr>
            </a:lvl1pPr>
          </a:lstStyle>
          <a:p>
            <a:r>
              <a:t>More of the skull is behind the foramen magnum</a:t>
            </a:r>
          </a:p>
        </p:txBody>
      </p:sp>
      <p:sp>
        <p:nvSpPr>
          <p:cNvPr id="674" name="Shape 674"/>
          <p:cNvSpPr/>
          <p:nvPr/>
        </p:nvSpPr>
        <p:spPr>
          <a:xfrm>
            <a:off x="4965700" y="8039100"/>
            <a:ext cx="3022600" cy="6012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600"/>
              </a:lnSpc>
              <a:tabLst>
                <a:tab pos="520700" algn="l"/>
              </a:tabLst>
              <a:defRPr sz="2000">
                <a:solidFill>
                  <a:srgbClr val="006795"/>
                </a:solidFill>
              </a:defRPr>
            </a:lvl1pPr>
          </a:lstStyle>
          <a:p>
            <a:r>
              <a:t>Jaw is less massive than in the australopithecines</a:t>
            </a:r>
          </a:p>
        </p:txBody>
      </p:sp>
      <p:sp>
        <p:nvSpPr>
          <p:cNvPr id="675" name="Shape 675"/>
          <p:cNvSpPr/>
          <p:nvPr/>
        </p:nvSpPr>
        <p:spPr>
          <a:xfrm>
            <a:off x="4381500" y="6743700"/>
            <a:ext cx="1930400" cy="127"/>
          </a:xfrm>
          <a:prstGeom prst="line">
            <a:avLst/>
          </a:prstGeom>
          <a:ln w="88900">
            <a:solidFill>
              <a:srgbClr val="F38C1E"/>
            </a:solidFill>
            <a:miter lim="400000"/>
          </a:ln>
        </p:spPr>
        <p:txBody>
          <a:bodyPr lIns="0" tIns="0" rIns="0" bIns="0"/>
          <a:lstStyle/>
          <a:p>
            <a:pPr marL="0">
              <a:tabLst/>
              <a:defRPr sz="1200">
                <a:solidFill>
                  <a:srgbClr val="000000"/>
                </a:solidFill>
                <a:latin typeface="Helvetica"/>
                <a:ea typeface="Helvetica"/>
                <a:cs typeface="Helvetica"/>
                <a:sym typeface="Helvetica"/>
              </a:defRPr>
            </a:pPr>
            <a:endParaRPr/>
          </a:p>
        </p:txBody>
      </p:sp>
      <p:grpSp>
        <p:nvGrpSpPr>
          <p:cNvPr id="679" name="Group 679"/>
          <p:cNvGrpSpPr/>
          <p:nvPr/>
        </p:nvGrpSpPr>
        <p:grpSpPr>
          <a:xfrm>
            <a:off x="10579100" y="6413500"/>
            <a:ext cx="338667" cy="1206500"/>
            <a:chOff x="0" y="0"/>
            <a:chExt cx="338666" cy="1206500"/>
          </a:xfrm>
        </p:grpSpPr>
        <p:sp>
          <p:nvSpPr>
            <p:cNvPr id="676" name="Shape 676"/>
            <p:cNvSpPr/>
            <p:nvPr/>
          </p:nvSpPr>
          <p:spPr>
            <a:xfrm>
              <a:off x="0" y="0"/>
              <a:ext cx="338667" cy="127"/>
            </a:xfrm>
            <a:prstGeom prst="line">
              <a:avLst/>
            </a:prstGeom>
            <a:noFill/>
            <a:ln w="50800" cap="flat">
              <a:solidFill>
                <a:srgbClr val="F38C1E"/>
              </a:solidFill>
              <a:prstDash val="solid"/>
              <a:miter lim="400000"/>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677" name="Shape 677"/>
            <p:cNvSpPr/>
            <p:nvPr/>
          </p:nvSpPr>
          <p:spPr>
            <a:xfrm>
              <a:off x="0" y="1181100"/>
              <a:ext cx="338667" cy="127"/>
            </a:xfrm>
            <a:prstGeom prst="line">
              <a:avLst/>
            </a:prstGeom>
            <a:noFill/>
            <a:ln w="50800" cap="flat">
              <a:solidFill>
                <a:srgbClr val="F38C1E"/>
              </a:solidFill>
              <a:prstDash val="solid"/>
              <a:miter lim="400000"/>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678" name="Shape 678"/>
            <p:cNvSpPr/>
            <p:nvPr/>
          </p:nvSpPr>
          <p:spPr>
            <a:xfrm flipV="1">
              <a:off x="325966" y="21166"/>
              <a:ext cx="1" cy="1185334"/>
            </a:xfrm>
            <a:prstGeom prst="line">
              <a:avLst/>
            </a:prstGeom>
            <a:noFill/>
            <a:ln w="50800" cap="flat">
              <a:solidFill>
                <a:srgbClr val="F38C1E"/>
              </a:solidFill>
              <a:prstDash val="solid"/>
              <a:miter lim="400000"/>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
        <p:nvSpPr>
          <p:cNvPr id="680" name="Shape 680"/>
          <p:cNvSpPr/>
          <p:nvPr/>
        </p:nvSpPr>
        <p:spPr>
          <a:xfrm flipH="1" flipV="1">
            <a:off x="5029200" y="2150533"/>
            <a:ext cx="1456267" cy="1354667"/>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81" name="Shape 681"/>
          <p:cNvSpPr/>
          <p:nvPr/>
        </p:nvSpPr>
        <p:spPr>
          <a:xfrm flipV="1">
            <a:off x="6976533" y="2116666"/>
            <a:ext cx="1" cy="457201"/>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82" name="Shape 682"/>
          <p:cNvSpPr/>
          <p:nvPr/>
        </p:nvSpPr>
        <p:spPr>
          <a:xfrm flipV="1">
            <a:off x="9736666" y="3505200"/>
            <a:ext cx="846668" cy="355600"/>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83" name="Shape 683"/>
          <p:cNvSpPr/>
          <p:nvPr/>
        </p:nvSpPr>
        <p:spPr>
          <a:xfrm flipV="1">
            <a:off x="10041466" y="5689600"/>
            <a:ext cx="524934" cy="16934"/>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84" name="Shape 684"/>
          <p:cNvSpPr/>
          <p:nvPr/>
        </p:nvSpPr>
        <p:spPr>
          <a:xfrm>
            <a:off x="9618133" y="7230533"/>
            <a:ext cx="1" cy="575734"/>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685" name="Shape 685"/>
          <p:cNvSpPr/>
          <p:nvPr/>
        </p:nvSpPr>
        <p:spPr>
          <a:xfrm flipH="1" flipV="1">
            <a:off x="4343400" y="3441700"/>
            <a:ext cx="3344334" cy="690034"/>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687" name="Shape 687"/>
          <p:cNvSpPr>
            <a:spLocks noGrp="1"/>
          </p:cNvSpPr>
          <p:nvPr>
            <p:ph type="title"/>
          </p:nvPr>
        </p:nvSpPr>
        <p:spPr>
          <a:prstGeom prst="rect">
            <a:avLst/>
          </a:prstGeom>
        </p:spPr>
        <p:txBody>
          <a:bodyPr/>
          <a:lstStyle>
            <a:lvl1pPr>
              <a:tabLst>
                <a:tab pos="952500" algn="l"/>
              </a:tabLst>
              <a:defRPr i="1"/>
            </a:lvl1pPr>
          </a:lstStyle>
          <a:p>
            <a:r>
              <a:t>Homo erectus</a:t>
            </a:r>
          </a:p>
        </p:txBody>
      </p:sp>
      <p:sp>
        <p:nvSpPr>
          <p:cNvPr id="688" name="Shape 688"/>
          <p:cNvSpPr>
            <a:spLocks noGrp="1"/>
          </p:cNvSpPr>
          <p:nvPr>
            <p:ph type="body" sz="half" idx="1"/>
          </p:nvPr>
        </p:nvSpPr>
        <p:spPr>
          <a:xfrm>
            <a:off x="368300" y="1790700"/>
            <a:ext cx="5579517" cy="7543800"/>
          </a:xfrm>
          <a:prstGeom prst="rect">
            <a:avLst/>
          </a:prstGeom>
        </p:spPr>
        <p:txBody>
          <a:bodyPr/>
          <a:lstStyle/>
          <a:p>
            <a:pPr>
              <a:tabLst>
                <a:tab pos="1016000" algn="l"/>
              </a:tabLst>
            </a:pPr>
            <a:r>
              <a:rPr i="1"/>
              <a:t>Homo erectus</a:t>
            </a:r>
            <a:r>
              <a:t> is reserved for the later Asian forms (shown here), with dates ranging from 1 million to 300,000 years ago.</a:t>
            </a:r>
          </a:p>
          <a:p>
            <a:pPr>
              <a:tabLst>
                <a:tab pos="1016000" algn="l"/>
              </a:tabLst>
            </a:pPr>
            <a:r>
              <a:t>Thought to be the first humans </a:t>
            </a:r>
            <a:br/>
            <a:r>
              <a:t>to venture out of Africa.</a:t>
            </a:r>
          </a:p>
          <a:p>
            <a:pPr>
              <a:tabLst>
                <a:tab pos="1016000" algn="l"/>
              </a:tabLst>
            </a:pPr>
            <a:r>
              <a:t>They differ from</a:t>
            </a:r>
            <a:r>
              <a:rPr i="1"/>
              <a:t> H. ergaster</a:t>
            </a:r>
            <a:r>
              <a:t> by having skulls that were strongly buttressed with ridges of bone, skull walls greatly thickened, and larger brain volumes.</a:t>
            </a:r>
          </a:p>
          <a:p>
            <a:pPr>
              <a:tabLst>
                <a:tab pos="1016000" algn="l"/>
              </a:tabLst>
            </a:pPr>
            <a:r>
              <a:t>These simple hunter-gatherers used stone tools and fire. Nicknames: Java Man, Peking Man, Solo Man. </a:t>
            </a:r>
          </a:p>
        </p:txBody>
      </p:sp>
      <p:grpSp>
        <p:nvGrpSpPr>
          <p:cNvPr id="698" name="Group 698"/>
          <p:cNvGrpSpPr/>
          <p:nvPr/>
        </p:nvGrpSpPr>
        <p:grpSpPr>
          <a:xfrm>
            <a:off x="5994400" y="1285630"/>
            <a:ext cx="6794500" cy="4724401"/>
            <a:chOff x="0" y="0"/>
            <a:chExt cx="6794500" cy="4724400"/>
          </a:xfrm>
        </p:grpSpPr>
        <p:pic>
          <p:nvPicPr>
            <p:cNvPr id="689" name="World Map.pdf"/>
            <p:cNvPicPr>
              <a:picLocks/>
            </p:cNvPicPr>
            <p:nvPr/>
          </p:nvPicPr>
          <p:blipFill>
            <a:blip r:embed="rId3">
              <a:extLst/>
            </a:blip>
            <a:stretch>
              <a:fillRect/>
            </a:stretch>
          </p:blipFill>
          <p:spPr>
            <a:xfrm>
              <a:off x="0" y="0"/>
              <a:ext cx="6794500" cy="4724400"/>
            </a:xfrm>
            <a:prstGeom prst="rect">
              <a:avLst/>
            </a:prstGeom>
            <a:ln w="12700" cap="flat">
              <a:noFill/>
              <a:miter lim="400000"/>
            </a:ln>
            <a:effectLst/>
          </p:spPr>
        </p:pic>
        <p:sp>
          <p:nvSpPr>
            <p:cNvPr id="690" name="Shape 690"/>
            <p:cNvSpPr/>
            <p:nvPr/>
          </p:nvSpPr>
          <p:spPr>
            <a:xfrm>
              <a:off x="1511300" y="3387969"/>
              <a:ext cx="228600" cy="1905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91" name="Shape 691"/>
            <p:cNvSpPr/>
            <p:nvPr/>
          </p:nvSpPr>
          <p:spPr>
            <a:xfrm>
              <a:off x="1828800" y="2600569"/>
              <a:ext cx="228600" cy="1905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92" name="Shape 692"/>
            <p:cNvSpPr/>
            <p:nvPr/>
          </p:nvSpPr>
          <p:spPr>
            <a:xfrm>
              <a:off x="2044700" y="2384669"/>
              <a:ext cx="228600" cy="1905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93" name="Shape 693"/>
            <p:cNvSpPr/>
            <p:nvPr/>
          </p:nvSpPr>
          <p:spPr>
            <a:xfrm>
              <a:off x="685800" y="1495669"/>
              <a:ext cx="228600" cy="1905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94" name="Shape 694"/>
            <p:cNvSpPr/>
            <p:nvPr/>
          </p:nvSpPr>
          <p:spPr>
            <a:xfrm>
              <a:off x="2044700" y="1152769"/>
              <a:ext cx="228600" cy="1905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95" name="Shape 695"/>
            <p:cNvSpPr/>
            <p:nvPr/>
          </p:nvSpPr>
          <p:spPr>
            <a:xfrm>
              <a:off x="4356100" y="1711569"/>
              <a:ext cx="228600" cy="1905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96" name="Shape 696"/>
            <p:cNvSpPr/>
            <p:nvPr/>
          </p:nvSpPr>
          <p:spPr>
            <a:xfrm>
              <a:off x="4457700" y="1152769"/>
              <a:ext cx="228600" cy="1905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697" name="Shape 697"/>
            <p:cNvSpPr/>
            <p:nvPr/>
          </p:nvSpPr>
          <p:spPr>
            <a:xfrm>
              <a:off x="4686300" y="2892669"/>
              <a:ext cx="228600" cy="1905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pic>
        <p:nvPicPr>
          <p:cNvPr id="699" name="Erectus Head.png"/>
          <p:cNvPicPr>
            <a:picLocks noChangeAspect="1"/>
          </p:cNvPicPr>
          <p:nvPr/>
        </p:nvPicPr>
        <p:blipFill>
          <a:blip r:embed="rId4">
            <a:extLst/>
          </a:blip>
          <a:stretch>
            <a:fillRect/>
          </a:stretch>
        </p:blipFill>
        <p:spPr>
          <a:xfrm flipH="1">
            <a:off x="6692900" y="5581650"/>
            <a:ext cx="5207000" cy="4230688"/>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688">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68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68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68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68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8" grpId="1" build="p" bldLvl="5" animBg="1" advAuto="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9873" y="4311404"/>
            <a:ext cx="2085094" cy="1698343"/>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5500" y="1075094"/>
            <a:ext cx="2269888" cy="2119675"/>
          </a:xfrm>
          <a:prstGeom prst="rect">
            <a:avLst/>
          </a:prstGeom>
        </p:spPr>
      </p:pic>
      <p:sp>
        <p:nvSpPr>
          <p:cNvPr id="701" name="Shape 701"/>
          <p:cNvSpPr/>
          <p:nvPr/>
        </p:nvSpPr>
        <p:spPr>
          <a:xfrm>
            <a:off x="10490200" y="2667000"/>
            <a:ext cx="2641600" cy="2837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700"/>
              </a:lnSpc>
              <a:tabLst>
                <a:tab pos="520700" algn="l"/>
              </a:tabLst>
              <a:defRPr sz="2000">
                <a:solidFill>
                  <a:srgbClr val="006795"/>
                </a:solidFill>
              </a:defRPr>
            </a:lvl1pPr>
          </a:lstStyle>
          <a:p>
            <a:r>
              <a:t>Shelving forehead</a:t>
            </a:r>
          </a:p>
        </p:txBody>
      </p:sp>
      <p:pic>
        <p:nvPicPr>
          <p:cNvPr id="702" name="Skull Homo erectus PM cut.png"/>
          <p:cNvPicPr>
            <a:picLocks noChangeAspect="1"/>
          </p:cNvPicPr>
          <p:nvPr/>
        </p:nvPicPr>
        <p:blipFill>
          <a:blip r:embed="rId5">
            <a:extLst/>
          </a:blip>
          <a:stretch>
            <a:fillRect/>
          </a:stretch>
        </p:blipFill>
        <p:spPr>
          <a:xfrm>
            <a:off x="4470400" y="2628900"/>
            <a:ext cx="6541057" cy="5791200"/>
          </a:xfrm>
          <a:prstGeom prst="rect">
            <a:avLst/>
          </a:prstGeom>
          <a:ln w="12700">
            <a:miter lim="400000"/>
          </a:ln>
        </p:spPr>
      </p:pic>
      <p:sp>
        <p:nvSpPr>
          <p:cNvPr id="703" name="Shape 703"/>
          <p:cNvSpPr>
            <a:spLocks noGrp="1"/>
          </p:cNvSpPr>
          <p:nvPr>
            <p:ph type="title"/>
          </p:nvPr>
        </p:nvSpPr>
        <p:spPr>
          <a:prstGeom prst="rect">
            <a:avLst/>
          </a:prstGeom>
        </p:spPr>
        <p:txBody>
          <a:bodyPr/>
          <a:lstStyle>
            <a:lvl1pPr>
              <a:tabLst>
                <a:tab pos="952500" algn="l"/>
              </a:tabLst>
              <a:defRPr i="1"/>
            </a:lvl1pPr>
          </a:lstStyle>
          <a:p>
            <a:r>
              <a:t>Homo erectus</a:t>
            </a:r>
          </a:p>
        </p:txBody>
      </p:sp>
      <p:pic>
        <p:nvPicPr>
          <p:cNvPr id="704" name="Modern Human Skull.pdf"/>
          <p:cNvPicPr>
            <a:picLocks noChangeAspect="1"/>
          </p:cNvPicPr>
          <p:nvPr/>
        </p:nvPicPr>
        <p:blipFill>
          <a:blip r:embed="rId6">
            <a:extLst/>
          </a:blip>
          <a:stretch>
            <a:fillRect/>
          </a:stretch>
        </p:blipFill>
        <p:spPr>
          <a:xfrm>
            <a:off x="622300" y="6859858"/>
            <a:ext cx="2006600" cy="2045489"/>
          </a:xfrm>
          <a:prstGeom prst="rect">
            <a:avLst/>
          </a:prstGeom>
          <a:ln w="12700">
            <a:miter lim="400000"/>
          </a:ln>
        </p:spPr>
      </p:pic>
      <p:sp>
        <p:nvSpPr>
          <p:cNvPr id="705" name="Shape 705"/>
          <p:cNvSpPr/>
          <p:nvPr/>
        </p:nvSpPr>
        <p:spPr>
          <a:xfrm>
            <a:off x="2806162" y="8905347"/>
            <a:ext cx="2251969" cy="450553"/>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marL="0" marR="4275454" algn="ctr">
              <a:lnSpc>
                <a:spcPts val="3100"/>
              </a:lnSpc>
              <a:tabLst>
                <a:tab pos="520700" algn="l"/>
              </a:tabLst>
              <a:defRPr sz="1600" b="1">
                <a:solidFill>
                  <a:srgbClr val="483F36"/>
                </a:solidFill>
              </a:defRPr>
            </a:pPr>
            <a:r>
              <a:rPr dirty="0">
                <a:solidFill>
                  <a:srgbClr val="000000"/>
                </a:solidFill>
              </a:rPr>
              <a:t>A modern human skull</a:t>
            </a:r>
          </a:p>
          <a:p>
            <a:pPr marL="0" marR="4275454" algn="ctr">
              <a:lnSpc>
                <a:spcPts val="3100"/>
              </a:lnSpc>
              <a:tabLst>
                <a:tab pos="520700" algn="l"/>
              </a:tabLst>
              <a:defRPr sz="2800">
                <a:solidFill>
                  <a:srgbClr val="483F36"/>
                </a:solidFill>
                <a:latin typeface="Hoefler Text"/>
                <a:ea typeface="Hoefler Text"/>
                <a:cs typeface="Hoefler Text"/>
                <a:sym typeface="Hoefler Text"/>
              </a:defRPr>
            </a:pPr>
            <a:r>
              <a:rPr sz="1600" dirty="0">
                <a:solidFill>
                  <a:srgbClr val="000000"/>
                </a:solidFill>
                <a:latin typeface="+mn-lt"/>
                <a:ea typeface="+mn-ea"/>
                <a:cs typeface="+mn-cs"/>
                <a:sym typeface="Arial"/>
              </a:rPr>
              <a:t>(for comparison)</a:t>
            </a:r>
          </a:p>
        </p:txBody>
      </p:sp>
      <p:sp>
        <p:nvSpPr>
          <p:cNvPr id="706" name="Shape 706"/>
          <p:cNvSpPr/>
          <p:nvPr/>
        </p:nvSpPr>
        <p:spPr>
          <a:xfrm>
            <a:off x="723900" y="6159500"/>
            <a:ext cx="1790700" cy="5640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algn="ctr">
              <a:lnSpc>
                <a:spcPts val="2400"/>
              </a:lnSpc>
              <a:tabLst>
                <a:tab pos="520700" algn="l"/>
              </a:tabLst>
              <a:defRPr sz="2800">
                <a:solidFill>
                  <a:srgbClr val="483F36"/>
                </a:solidFill>
                <a:latin typeface="Hoefler Text"/>
                <a:ea typeface="Hoefler Text"/>
                <a:cs typeface="Hoefler Text"/>
                <a:sym typeface="Hoefler Text"/>
              </a:defRPr>
            </a:pPr>
            <a:r>
              <a:rPr sz="1800" b="1" dirty="0">
                <a:solidFill>
                  <a:srgbClr val="000000"/>
                </a:solidFill>
                <a:latin typeface="+mn-lt"/>
                <a:ea typeface="+mn-ea"/>
                <a:cs typeface="+mn-cs"/>
                <a:sym typeface="Arial"/>
              </a:rPr>
              <a:t>Older</a:t>
            </a:r>
            <a:endParaRPr sz="1800" dirty="0">
              <a:solidFill>
                <a:srgbClr val="000000"/>
              </a:solidFill>
              <a:latin typeface="+mn-lt"/>
              <a:ea typeface="+mn-ea"/>
              <a:cs typeface="+mn-cs"/>
              <a:sym typeface="Arial"/>
            </a:endParaRPr>
          </a:p>
          <a:p>
            <a:pPr algn="ctr">
              <a:lnSpc>
                <a:spcPts val="2400"/>
              </a:lnSpc>
              <a:tabLst>
                <a:tab pos="520700" algn="l"/>
              </a:tabLst>
              <a:defRPr sz="2800">
                <a:solidFill>
                  <a:srgbClr val="483F36"/>
                </a:solidFill>
                <a:latin typeface="Hoefler Text"/>
                <a:ea typeface="Hoefler Text"/>
                <a:cs typeface="Hoefler Text"/>
                <a:sym typeface="Hoefler Text"/>
              </a:defRPr>
            </a:pPr>
            <a:r>
              <a:rPr sz="1800" b="1" dirty="0">
                <a:solidFill>
                  <a:srgbClr val="000000"/>
                </a:solidFill>
                <a:latin typeface="+mn-lt"/>
                <a:ea typeface="+mn-ea"/>
                <a:cs typeface="+mn-cs"/>
                <a:sym typeface="Arial"/>
              </a:rPr>
              <a:t>African forms</a:t>
            </a:r>
          </a:p>
        </p:txBody>
      </p:sp>
      <p:sp>
        <p:nvSpPr>
          <p:cNvPr id="707" name="Shape 707"/>
          <p:cNvSpPr/>
          <p:nvPr/>
        </p:nvSpPr>
        <p:spPr>
          <a:xfrm>
            <a:off x="838200" y="3581400"/>
            <a:ext cx="1562100" cy="5640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400"/>
              </a:lnSpc>
              <a:tabLst>
                <a:tab pos="520700" algn="l"/>
              </a:tabLst>
              <a:defRPr b="1">
                <a:solidFill>
                  <a:srgbClr val="000000"/>
                </a:solidFill>
              </a:defRPr>
            </a:lvl1pPr>
          </a:lstStyle>
          <a:p>
            <a:pPr>
              <a:defRPr b="0"/>
            </a:pPr>
            <a:r>
              <a:rPr b="1"/>
              <a:t>More recent Asian forms</a:t>
            </a:r>
          </a:p>
        </p:txBody>
      </p:sp>
      <p:sp>
        <p:nvSpPr>
          <p:cNvPr id="710" name="Shape 710"/>
          <p:cNvSpPr/>
          <p:nvPr/>
        </p:nvSpPr>
        <p:spPr>
          <a:xfrm>
            <a:off x="11366500" y="6680200"/>
            <a:ext cx="1327051" cy="6139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Projecting</a:t>
            </a:r>
          </a:p>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jaw</a:t>
            </a:r>
          </a:p>
        </p:txBody>
      </p:sp>
      <p:sp>
        <p:nvSpPr>
          <p:cNvPr id="711" name="Shape 711"/>
          <p:cNvSpPr/>
          <p:nvPr/>
        </p:nvSpPr>
        <p:spPr>
          <a:xfrm>
            <a:off x="10871200" y="8801100"/>
            <a:ext cx="988219" cy="2837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nSpc>
                <a:spcPts val="2700"/>
              </a:lnSpc>
              <a:tabLst>
                <a:tab pos="520700" algn="l"/>
              </a:tabLst>
              <a:defRPr sz="2000">
                <a:solidFill>
                  <a:srgbClr val="006795"/>
                </a:solidFill>
              </a:defRPr>
            </a:lvl1pPr>
          </a:lstStyle>
          <a:p>
            <a:r>
              <a:t>No chin</a:t>
            </a:r>
          </a:p>
        </p:txBody>
      </p:sp>
      <p:sp>
        <p:nvSpPr>
          <p:cNvPr id="712" name="Shape 712"/>
          <p:cNvSpPr/>
          <p:nvPr/>
        </p:nvSpPr>
        <p:spPr>
          <a:xfrm>
            <a:off x="7759700" y="8470900"/>
            <a:ext cx="2710657" cy="9441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Teeth are smaller than</a:t>
            </a:r>
          </a:p>
          <a:p>
            <a:pPr>
              <a:lnSpc>
                <a:spcPts val="2700"/>
              </a:lnSpc>
              <a:tabLst>
                <a:tab pos="520700" algn="l"/>
              </a:tabLst>
              <a:defRPr sz="2800">
                <a:solidFill>
                  <a:srgbClr val="006795"/>
                </a:solidFill>
                <a:latin typeface="Hoefler Text"/>
                <a:ea typeface="Hoefler Text"/>
                <a:cs typeface="Hoefler Text"/>
                <a:sym typeface="Hoefler Text"/>
              </a:defRPr>
            </a:pPr>
            <a:r>
              <a:rPr sz="2000" i="1">
                <a:latin typeface="+mn-lt"/>
                <a:ea typeface="+mn-ea"/>
                <a:cs typeface="+mn-cs"/>
                <a:sym typeface="Arial"/>
              </a:rPr>
              <a:t>H. habilis</a:t>
            </a:r>
            <a:r>
              <a:rPr sz="2000">
                <a:latin typeface="+mn-lt"/>
                <a:ea typeface="+mn-ea"/>
                <a:cs typeface="+mn-cs"/>
                <a:sym typeface="Arial"/>
              </a:rPr>
              <a:t>, but more</a:t>
            </a:r>
          </a:p>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massive than our own</a:t>
            </a:r>
          </a:p>
        </p:txBody>
      </p:sp>
      <p:sp>
        <p:nvSpPr>
          <p:cNvPr id="713" name="Shape 713"/>
          <p:cNvSpPr/>
          <p:nvPr/>
        </p:nvSpPr>
        <p:spPr>
          <a:xfrm>
            <a:off x="10807700" y="4572000"/>
            <a:ext cx="1101081" cy="2837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nSpc>
                <a:spcPts val="2700"/>
              </a:lnSpc>
              <a:tabLst>
                <a:tab pos="520700" algn="l"/>
              </a:tabLst>
              <a:defRPr sz="2000">
                <a:solidFill>
                  <a:srgbClr val="006795"/>
                </a:solidFill>
              </a:defRPr>
            </a:lvl1pPr>
          </a:lstStyle>
          <a:p>
            <a:r>
              <a:t>Flat face</a:t>
            </a:r>
          </a:p>
        </p:txBody>
      </p:sp>
      <p:sp>
        <p:nvSpPr>
          <p:cNvPr id="714" name="Shape 714"/>
          <p:cNvSpPr/>
          <p:nvPr/>
        </p:nvSpPr>
        <p:spPr>
          <a:xfrm>
            <a:off x="10922000" y="3454400"/>
            <a:ext cx="1405057" cy="6139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700"/>
              </a:lnSpc>
              <a:tabLst>
                <a:tab pos="520700" algn="l"/>
              </a:tabLst>
              <a:defRPr sz="2000">
                <a:solidFill>
                  <a:srgbClr val="006795"/>
                </a:solidFill>
              </a:defRPr>
            </a:lvl1pPr>
          </a:lstStyle>
          <a:p>
            <a:r>
              <a:t>Thick brow ridge</a:t>
            </a:r>
          </a:p>
        </p:txBody>
      </p:sp>
      <p:sp>
        <p:nvSpPr>
          <p:cNvPr id="715" name="Shape 715"/>
          <p:cNvSpPr/>
          <p:nvPr/>
        </p:nvSpPr>
        <p:spPr>
          <a:xfrm>
            <a:off x="9067800" y="1866900"/>
            <a:ext cx="3594100" cy="6139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700"/>
              </a:lnSpc>
              <a:tabLst>
                <a:tab pos="520700" algn="l"/>
              </a:tabLst>
              <a:defRPr sz="2000">
                <a:solidFill>
                  <a:srgbClr val="006795"/>
                </a:solidFill>
              </a:defRPr>
            </a:lvl1pPr>
          </a:lstStyle>
          <a:p>
            <a:r>
              <a:t>Long, flattened cranium with a distinctive keel along the top</a:t>
            </a:r>
          </a:p>
        </p:txBody>
      </p:sp>
      <p:sp>
        <p:nvSpPr>
          <p:cNvPr id="716" name="Shape 716"/>
          <p:cNvSpPr/>
          <p:nvPr/>
        </p:nvSpPr>
        <p:spPr>
          <a:xfrm>
            <a:off x="6032500" y="1130300"/>
            <a:ext cx="3251200" cy="12743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Bigger brain with increase over time, although body size was also increasing</a:t>
            </a:r>
          </a:p>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1000-1250 cc</a:t>
            </a:r>
          </a:p>
        </p:txBody>
      </p:sp>
      <p:sp>
        <p:nvSpPr>
          <p:cNvPr id="717" name="Shape 717"/>
          <p:cNvSpPr/>
          <p:nvPr/>
        </p:nvSpPr>
        <p:spPr>
          <a:xfrm>
            <a:off x="3289300" y="1447800"/>
            <a:ext cx="2448719" cy="9441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Bulge in the Broca's</a:t>
            </a:r>
          </a:p>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area of the brain for</a:t>
            </a:r>
          </a:p>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speech production</a:t>
            </a:r>
          </a:p>
        </p:txBody>
      </p:sp>
      <p:sp>
        <p:nvSpPr>
          <p:cNvPr id="718" name="Shape 718"/>
          <p:cNvSpPr/>
          <p:nvPr/>
        </p:nvSpPr>
        <p:spPr>
          <a:xfrm>
            <a:off x="2844800" y="2578100"/>
            <a:ext cx="2463800" cy="9441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700"/>
              </a:lnSpc>
              <a:tabLst>
                <a:tab pos="520700" algn="l"/>
              </a:tabLst>
              <a:defRPr sz="2000">
                <a:solidFill>
                  <a:srgbClr val="006795"/>
                </a:solidFill>
              </a:defRPr>
            </a:lvl1pPr>
          </a:lstStyle>
          <a:p>
            <a:r>
              <a:t>Bulge in Wernicke's area of the brain for speech recognition</a:t>
            </a:r>
          </a:p>
        </p:txBody>
      </p:sp>
      <p:sp>
        <p:nvSpPr>
          <p:cNvPr id="719" name="Shape 719"/>
          <p:cNvSpPr/>
          <p:nvPr/>
        </p:nvSpPr>
        <p:spPr>
          <a:xfrm>
            <a:off x="3149600" y="6489700"/>
            <a:ext cx="2159745" cy="6139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Occipital bun</a:t>
            </a:r>
          </a:p>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(bun-like swelling)</a:t>
            </a:r>
          </a:p>
        </p:txBody>
      </p:sp>
      <p:sp>
        <p:nvSpPr>
          <p:cNvPr id="720" name="Shape 720"/>
          <p:cNvSpPr/>
          <p:nvPr/>
        </p:nvSpPr>
        <p:spPr>
          <a:xfrm>
            <a:off x="4508500" y="7708900"/>
            <a:ext cx="3232919" cy="9441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Attachment for strong neck</a:t>
            </a:r>
          </a:p>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muscles to stop the head</a:t>
            </a:r>
          </a:p>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from sagging forward</a:t>
            </a:r>
          </a:p>
        </p:txBody>
      </p:sp>
      <p:sp>
        <p:nvSpPr>
          <p:cNvPr id="721" name="Shape 721"/>
          <p:cNvSpPr/>
          <p:nvPr/>
        </p:nvSpPr>
        <p:spPr>
          <a:xfrm flipV="1">
            <a:off x="9635066" y="2810933"/>
            <a:ext cx="762001" cy="694267"/>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22" name="Shape 722"/>
          <p:cNvSpPr/>
          <p:nvPr/>
        </p:nvSpPr>
        <p:spPr>
          <a:xfrm>
            <a:off x="10007600" y="3691466"/>
            <a:ext cx="863600" cy="128"/>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23" name="Shape 723"/>
          <p:cNvSpPr/>
          <p:nvPr/>
        </p:nvSpPr>
        <p:spPr>
          <a:xfrm>
            <a:off x="10668000" y="8297333"/>
            <a:ext cx="406400" cy="491067"/>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24" name="Shape 724"/>
          <p:cNvSpPr/>
          <p:nvPr/>
        </p:nvSpPr>
        <p:spPr>
          <a:xfrm flipH="1">
            <a:off x="9127066" y="7044266"/>
            <a:ext cx="406401" cy="1405468"/>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25" name="Shape 725"/>
          <p:cNvSpPr/>
          <p:nvPr/>
        </p:nvSpPr>
        <p:spPr>
          <a:xfrm flipH="1">
            <a:off x="6112933" y="6269566"/>
            <a:ext cx="702734" cy="1401234"/>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26" name="Shape 726"/>
          <p:cNvSpPr/>
          <p:nvPr/>
        </p:nvSpPr>
        <p:spPr>
          <a:xfrm>
            <a:off x="5113866" y="6028266"/>
            <a:ext cx="982135" cy="1642534"/>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27" name="Shape 727"/>
          <p:cNvSpPr/>
          <p:nvPr/>
        </p:nvSpPr>
        <p:spPr>
          <a:xfrm flipH="1">
            <a:off x="4521200" y="5892800"/>
            <a:ext cx="338667" cy="575734"/>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28" name="Shape 728"/>
          <p:cNvSpPr/>
          <p:nvPr/>
        </p:nvSpPr>
        <p:spPr>
          <a:xfrm flipH="1" flipV="1">
            <a:off x="7010400" y="2404533"/>
            <a:ext cx="436034" cy="613834"/>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29" name="Shape 729"/>
          <p:cNvSpPr/>
          <p:nvPr/>
        </p:nvSpPr>
        <p:spPr>
          <a:xfrm flipV="1">
            <a:off x="8411633" y="2222499"/>
            <a:ext cx="681567" cy="732368"/>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30" name="Shape 730"/>
          <p:cNvSpPr/>
          <p:nvPr/>
        </p:nvSpPr>
        <p:spPr>
          <a:xfrm>
            <a:off x="7734300" y="3644900"/>
            <a:ext cx="558800" cy="685800"/>
          </a:xfrm>
          <a:prstGeom prst="ellipse">
            <a:avLst/>
          </a:prstGeom>
          <a:solidFill>
            <a:srgbClr val="93FEFF">
              <a:alpha val="61000"/>
            </a:srgbClr>
          </a:solidFill>
          <a:ln w="38100">
            <a:solidFill>
              <a:srgbClr val="FFF9F5"/>
            </a:solidFill>
            <a:miter lim="400000"/>
          </a:ln>
        </p:spPr>
        <p:txBody>
          <a:bodyPr lIns="38100" tIns="38100" rIns="38100" bIns="38100" anchor="ct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31" name="Shape 731"/>
          <p:cNvSpPr/>
          <p:nvPr/>
        </p:nvSpPr>
        <p:spPr>
          <a:xfrm>
            <a:off x="6070600" y="4521200"/>
            <a:ext cx="558800" cy="685800"/>
          </a:xfrm>
          <a:prstGeom prst="ellipse">
            <a:avLst/>
          </a:prstGeom>
          <a:solidFill>
            <a:srgbClr val="FFF770">
              <a:alpha val="62000"/>
            </a:srgbClr>
          </a:solidFill>
          <a:ln w="38100">
            <a:solidFill>
              <a:srgbClr val="FFF9F5"/>
            </a:solidFill>
            <a:miter lim="400000"/>
          </a:ln>
        </p:spPr>
        <p:txBody>
          <a:bodyPr lIns="38100" tIns="38100" rIns="38100" bIns="38100" anchor="ct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32" name="Shape 732"/>
          <p:cNvSpPr/>
          <p:nvPr/>
        </p:nvSpPr>
        <p:spPr>
          <a:xfrm flipH="1" flipV="1">
            <a:off x="5689600" y="2286000"/>
            <a:ext cx="2328334" cy="1735667"/>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33" name="Shape 733"/>
          <p:cNvSpPr/>
          <p:nvPr/>
        </p:nvSpPr>
        <p:spPr>
          <a:xfrm flipH="1" flipV="1">
            <a:off x="4876800" y="3623733"/>
            <a:ext cx="1490134" cy="1286934"/>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34" name="Shape 734"/>
          <p:cNvSpPr/>
          <p:nvPr/>
        </p:nvSpPr>
        <p:spPr>
          <a:xfrm>
            <a:off x="10883900" y="6045200"/>
            <a:ext cx="381000" cy="20828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0" y="21600"/>
                </a:lnTo>
              </a:path>
            </a:pathLst>
          </a:custGeom>
          <a:ln w="50800">
            <a:solidFill>
              <a:srgbClr val="F38C1E"/>
            </a:solidFill>
            <a:miter lim="400000"/>
          </a:ln>
        </p:spPr>
        <p:txBody>
          <a:bodyPr lIns="38100" tIns="38100" rIns="38100" bIns="38100" anchor="ct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736" name="World Mercator-Europe-11.png"/>
          <p:cNvPicPr>
            <a:picLocks noChangeAspect="1"/>
          </p:cNvPicPr>
          <p:nvPr/>
        </p:nvPicPr>
        <p:blipFill>
          <a:blip r:embed="rId3">
            <a:extLst/>
          </a:blip>
          <a:srcRect l="44507" t="15885" r="115" b="8676"/>
          <a:stretch>
            <a:fillRect/>
          </a:stretch>
        </p:blipFill>
        <p:spPr>
          <a:xfrm>
            <a:off x="6083299" y="1468119"/>
            <a:ext cx="6617077" cy="5295901"/>
          </a:xfrm>
          <a:prstGeom prst="rect">
            <a:avLst/>
          </a:prstGeom>
          <a:ln w="12700">
            <a:miter lim="400000"/>
          </a:ln>
        </p:spPr>
      </p:pic>
      <p:sp>
        <p:nvSpPr>
          <p:cNvPr id="737" name="Shape 737"/>
          <p:cNvSpPr>
            <a:spLocks noGrp="1"/>
          </p:cNvSpPr>
          <p:nvPr>
            <p:ph type="title"/>
          </p:nvPr>
        </p:nvSpPr>
        <p:spPr>
          <a:prstGeom prst="rect">
            <a:avLst/>
          </a:prstGeom>
        </p:spPr>
        <p:txBody>
          <a:bodyPr/>
          <a:lstStyle>
            <a:lvl1pPr>
              <a:tabLst>
                <a:tab pos="952500" algn="l"/>
              </a:tabLst>
              <a:defRPr i="1"/>
            </a:lvl1pPr>
          </a:lstStyle>
          <a:p>
            <a:r>
              <a:t>Homo heidelbergensis</a:t>
            </a:r>
          </a:p>
        </p:txBody>
      </p:sp>
      <p:sp>
        <p:nvSpPr>
          <p:cNvPr id="738" name="Shape 738"/>
          <p:cNvSpPr>
            <a:spLocks noGrp="1"/>
          </p:cNvSpPr>
          <p:nvPr>
            <p:ph type="body" sz="half" idx="1"/>
          </p:nvPr>
        </p:nvSpPr>
        <p:spPr>
          <a:prstGeom prst="rect">
            <a:avLst/>
          </a:prstGeom>
        </p:spPr>
        <p:txBody>
          <a:bodyPr/>
          <a:lstStyle/>
          <a:p>
            <a:pPr>
              <a:tabLst>
                <a:tab pos="1016000" algn="l"/>
              </a:tabLst>
            </a:pPr>
            <a:r>
              <a:t>About 300,000 years ago transitional archaic forms appear in increasing variation and numbers.</a:t>
            </a:r>
          </a:p>
          <a:p>
            <a:pPr>
              <a:tabLst>
                <a:tab pos="1016000" algn="l"/>
              </a:tabLst>
            </a:pPr>
            <a:r>
              <a:t>Possessing both modern and </a:t>
            </a:r>
            <a:r>
              <a:rPr i="1"/>
              <a:t>Homo erectus</a:t>
            </a:r>
            <a:r>
              <a:t>-like features, they were probably 'experimental prototypes' responding to diverse regional selection pressures.</a:t>
            </a:r>
          </a:p>
          <a:p>
            <a:pPr>
              <a:tabLst>
                <a:tab pos="1016000" algn="l"/>
              </a:tabLst>
            </a:pPr>
            <a:r>
              <a:t>Most researchers refer to this variable collection of early (archaic) </a:t>
            </a:r>
            <a:r>
              <a:rPr i="1"/>
              <a:t>Homo sapiens</a:t>
            </a:r>
            <a:r>
              <a:t> as a separate species:</a:t>
            </a:r>
            <a:br/>
            <a:r>
              <a:rPr i="1"/>
              <a:t>Homo heidelbergensis</a:t>
            </a:r>
            <a:r>
              <a:t>.</a:t>
            </a:r>
          </a:p>
        </p:txBody>
      </p:sp>
      <p:pic>
        <p:nvPicPr>
          <p:cNvPr id="739" name="Rodesia Skull 3D.png"/>
          <p:cNvPicPr>
            <a:picLocks noChangeAspect="1"/>
          </p:cNvPicPr>
          <p:nvPr/>
        </p:nvPicPr>
        <p:blipFill>
          <a:blip r:embed="rId4">
            <a:extLst/>
          </a:blip>
          <a:stretch>
            <a:fillRect/>
          </a:stretch>
        </p:blipFill>
        <p:spPr>
          <a:xfrm>
            <a:off x="7226300" y="5994400"/>
            <a:ext cx="3568700" cy="3193048"/>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738">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73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73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73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8" grpId="1" build="p" bldLvl="5" animBg="1" advAuto="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741" name="Shape 741"/>
          <p:cNvSpPr/>
          <p:nvPr/>
        </p:nvSpPr>
        <p:spPr>
          <a:xfrm>
            <a:off x="3035300" y="7162800"/>
            <a:ext cx="1976190" cy="8679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4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Occipital 'bun'</a:t>
            </a:r>
          </a:p>
          <a:p>
            <a:pPr>
              <a:lnSpc>
                <a:spcPts val="24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for neck muscle</a:t>
            </a:r>
          </a:p>
          <a:p>
            <a:pPr>
              <a:lnSpc>
                <a:spcPts val="24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attachment</a:t>
            </a:r>
          </a:p>
        </p:txBody>
      </p:sp>
      <p:sp>
        <p:nvSpPr>
          <p:cNvPr id="742" name="Shape 742"/>
          <p:cNvSpPr/>
          <p:nvPr/>
        </p:nvSpPr>
        <p:spPr>
          <a:xfrm>
            <a:off x="10566400" y="5092700"/>
            <a:ext cx="1793131" cy="5758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4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Broad, upright</a:t>
            </a:r>
          </a:p>
          <a:p>
            <a:pPr>
              <a:lnSpc>
                <a:spcPts val="24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face</a:t>
            </a:r>
          </a:p>
        </p:txBody>
      </p:sp>
      <p:pic>
        <p:nvPicPr>
          <p:cNvPr id="743" name="Skull Arch H. sapiens PM Cut.png"/>
          <p:cNvPicPr>
            <a:picLocks noChangeAspect="1"/>
          </p:cNvPicPr>
          <p:nvPr/>
        </p:nvPicPr>
        <p:blipFill>
          <a:blip r:embed="rId3">
            <a:extLst/>
          </a:blip>
          <a:stretch>
            <a:fillRect/>
          </a:stretch>
        </p:blipFill>
        <p:spPr>
          <a:xfrm>
            <a:off x="3378200" y="2641600"/>
            <a:ext cx="7200900" cy="5499100"/>
          </a:xfrm>
          <a:prstGeom prst="rect">
            <a:avLst/>
          </a:prstGeom>
          <a:ln w="12700">
            <a:miter lim="400000"/>
          </a:ln>
        </p:spPr>
      </p:pic>
      <p:sp>
        <p:nvSpPr>
          <p:cNvPr id="744" name="Shape 744"/>
          <p:cNvSpPr>
            <a:spLocks noGrp="1"/>
          </p:cNvSpPr>
          <p:nvPr>
            <p:ph type="title"/>
          </p:nvPr>
        </p:nvSpPr>
        <p:spPr>
          <a:prstGeom prst="rect">
            <a:avLst/>
          </a:prstGeom>
        </p:spPr>
        <p:txBody>
          <a:bodyPr/>
          <a:lstStyle>
            <a:lvl1pPr>
              <a:tabLst>
                <a:tab pos="952500" algn="l"/>
              </a:tabLst>
              <a:defRPr i="1"/>
            </a:lvl1pPr>
          </a:lstStyle>
          <a:p>
            <a:r>
              <a:t>Homo heidelbergensis</a:t>
            </a:r>
          </a:p>
        </p:txBody>
      </p:sp>
      <p:grpSp>
        <p:nvGrpSpPr>
          <p:cNvPr id="747" name="Group 747"/>
          <p:cNvGrpSpPr/>
          <p:nvPr/>
        </p:nvGrpSpPr>
        <p:grpSpPr>
          <a:xfrm>
            <a:off x="596899" y="6694758"/>
            <a:ext cx="4339086" cy="2550566"/>
            <a:chOff x="126799" y="0"/>
            <a:chExt cx="4339082" cy="2550564"/>
          </a:xfrm>
        </p:grpSpPr>
        <p:pic>
          <p:nvPicPr>
            <p:cNvPr id="745" name="Modern Human Skull.pdf"/>
            <p:cNvPicPr>
              <a:picLocks noChangeAspect="1"/>
            </p:cNvPicPr>
            <p:nvPr/>
          </p:nvPicPr>
          <p:blipFill>
            <a:blip r:embed="rId4">
              <a:extLst/>
            </a:blip>
            <a:stretch>
              <a:fillRect/>
            </a:stretch>
          </p:blipFill>
          <p:spPr>
            <a:xfrm>
              <a:off x="126799" y="0"/>
              <a:ext cx="2006601" cy="2045488"/>
            </a:xfrm>
            <a:prstGeom prst="rect">
              <a:avLst/>
            </a:prstGeom>
            <a:ln w="12700" cap="flat">
              <a:noFill/>
              <a:miter lim="400000"/>
            </a:ln>
            <a:effectLst/>
          </p:spPr>
        </p:pic>
        <p:sp>
          <p:nvSpPr>
            <p:cNvPr id="746" name="Shape 746"/>
            <p:cNvSpPr/>
            <p:nvPr/>
          </p:nvSpPr>
          <p:spPr>
            <a:xfrm>
              <a:off x="2213912" y="2100011"/>
              <a:ext cx="2251969" cy="450553"/>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p>
              <a:pPr marL="0" marR="4275454" algn="ctr">
                <a:lnSpc>
                  <a:spcPts val="3100"/>
                </a:lnSpc>
                <a:tabLst>
                  <a:tab pos="520700" algn="l"/>
                </a:tabLst>
                <a:defRPr sz="1600" b="1">
                  <a:solidFill>
                    <a:srgbClr val="483F36"/>
                  </a:solidFill>
                </a:defRPr>
              </a:pPr>
              <a:r>
                <a:rPr>
                  <a:solidFill>
                    <a:srgbClr val="000000"/>
                  </a:solidFill>
                </a:rPr>
                <a:t>A modern human skull</a:t>
              </a:r>
            </a:p>
            <a:p>
              <a:pPr marL="0" marR="4275454" algn="ctr">
                <a:lnSpc>
                  <a:spcPts val="3100"/>
                </a:lnSpc>
                <a:tabLst>
                  <a:tab pos="520700" algn="l"/>
                </a:tabLst>
                <a:defRPr sz="2800">
                  <a:solidFill>
                    <a:srgbClr val="483F36"/>
                  </a:solidFill>
                  <a:latin typeface="Hoefler Text"/>
                  <a:ea typeface="Hoefler Text"/>
                  <a:cs typeface="Hoefler Text"/>
                  <a:sym typeface="Hoefler Text"/>
                </a:defRPr>
              </a:pPr>
              <a:r>
                <a:rPr sz="1600" dirty="0">
                  <a:solidFill>
                    <a:srgbClr val="000000"/>
                  </a:solidFill>
                  <a:latin typeface="+mn-lt"/>
                  <a:ea typeface="+mn-ea"/>
                  <a:cs typeface="+mn-cs"/>
                  <a:sym typeface="Arial"/>
                </a:rPr>
                <a:t>(for comparison)</a:t>
              </a:r>
            </a:p>
          </p:txBody>
        </p:sp>
      </p:grpSp>
      <p:sp>
        <p:nvSpPr>
          <p:cNvPr id="748" name="Shape 748"/>
          <p:cNvSpPr/>
          <p:nvPr/>
        </p:nvSpPr>
        <p:spPr>
          <a:xfrm>
            <a:off x="7962900" y="8382000"/>
            <a:ext cx="2357934" cy="5758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4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Teeth are generally</a:t>
            </a:r>
          </a:p>
          <a:p>
            <a:pPr>
              <a:lnSpc>
                <a:spcPts val="24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modern in form</a:t>
            </a:r>
          </a:p>
        </p:txBody>
      </p:sp>
      <p:sp>
        <p:nvSpPr>
          <p:cNvPr id="749" name="Shape 749"/>
          <p:cNvSpPr/>
          <p:nvPr/>
        </p:nvSpPr>
        <p:spPr>
          <a:xfrm>
            <a:off x="10718800" y="7505700"/>
            <a:ext cx="1917700" cy="5758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400"/>
              </a:lnSpc>
              <a:tabLst>
                <a:tab pos="520700" algn="l"/>
              </a:tabLst>
              <a:defRPr sz="2000">
                <a:solidFill>
                  <a:srgbClr val="006795"/>
                </a:solidFill>
              </a:defRPr>
            </a:lvl1pPr>
          </a:lstStyle>
          <a:p>
            <a:r>
              <a:t>No muzzle (no prognathism)</a:t>
            </a:r>
          </a:p>
        </p:txBody>
      </p:sp>
      <p:sp>
        <p:nvSpPr>
          <p:cNvPr id="750" name="Shape 750"/>
          <p:cNvSpPr/>
          <p:nvPr/>
        </p:nvSpPr>
        <p:spPr>
          <a:xfrm>
            <a:off x="11163300" y="6070600"/>
            <a:ext cx="1574800" cy="5758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400"/>
              </a:lnSpc>
              <a:tabLst>
                <a:tab pos="520700" algn="l"/>
              </a:tabLst>
              <a:defRPr sz="2000">
                <a:solidFill>
                  <a:srgbClr val="006795"/>
                </a:solidFill>
              </a:defRPr>
            </a:lvl1pPr>
          </a:lstStyle>
          <a:p>
            <a:r>
              <a:t>Broad nasal opening</a:t>
            </a:r>
          </a:p>
        </p:txBody>
      </p:sp>
      <p:sp>
        <p:nvSpPr>
          <p:cNvPr id="751" name="Shape 751"/>
          <p:cNvSpPr/>
          <p:nvPr/>
        </p:nvSpPr>
        <p:spPr>
          <a:xfrm>
            <a:off x="10731500" y="3975100"/>
            <a:ext cx="1468314" cy="5758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4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Large brow</a:t>
            </a:r>
          </a:p>
          <a:p>
            <a:pPr>
              <a:lnSpc>
                <a:spcPts val="24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ridge</a:t>
            </a:r>
          </a:p>
        </p:txBody>
      </p:sp>
      <p:sp>
        <p:nvSpPr>
          <p:cNvPr id="752" name="Shape 752"/>
          <p:cNvSpPr/>
          <p:nvPr/>
        </p:nvSpPr>
        <p:spPr>
          <a:xfrm>
            <a:off x="8928100" y="2451100"/>
            <a:ext cx="1181100" cy="6139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700"/>
              </a:lnSpc>
              <a:tabLst>
                <a:tab pos="520700" algn="l"/>
              </a:tabLst>
              <a:defRPr sz="2000">
                <a:solidFill>
                  <a:srgbClr val="006795"/>
                </a:solidFill>
              </a:defRPr>
            </a:lvl1pPr>
          </a:lstStyle>
          <a:p>
            <a:r>
              <a:t>Sloping forehead</a:t>
            </a:r>
          </a:p>
        </p:txBody>
      </p:sp>
      <p:sp>
        <p:nvSpPr>
          <p:cNvPr id="753" name="Shape 753"/>
          <p:cNvSpPr/>
          <p:nvPr/>
        </p:nvSpPr>
        <p:spPr>
          <a:xfrm>
            <a:off x="4673141" y="1612900"/>
            <a:ext cx="1957711" cy="5758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gn="ctr">
              <a:lnSpc>
                <a:spcPts val="24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Large brain</a:t>
            </a:r>
          </a:p>
          <a:p>
            <a:pPr algn="ctr">
              <a:lnSpc>
                <a:spcPts val="24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(1100 - 1400 cc)</a:t>
            </a:r>
          </a:p>
        </p:txBody>
      </p:sp>
      <p:sp>
        <p:nvSpPr>
          <p:cNvPr id="754" name="Shape 754"/>
          <p:cNvSpPr/>
          <p:nvPr/>
        </p:nvSpPr>
        <p:spPr>
          <a:xfrm>
            <a:off x="2273300" y="2438400"/>
            <a:ext cx="2209800" cy="5758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400"/>
              </a:lnSpc>
              <a:tabLst>
                <a:tab pos="520700" algn="l"/>
              </a:tabLst>
              <a:defRPr sz="2000">
                <a:solidFill>
                  <a:srgbClr val="006795"/>
                </a:solidFill>
              </a:defRPr>
            </a:lvl1pPr>
          </a:lstStyle>
          <a:p>
            <a:r>
              <a:t>Flat, oblong shape to the cranium</a:t>
            </a:r>
          </a:p>
        </p:txBody>
      </p:sp>
      <p:sp>
        <p:nvSpPr>
          <p:cNvPr id="755" name="Shape 755"/>
          <p:cNvSpPr/>
          <p:nvPr/>
        </p:nvSpPr>
        <p:spPr>
          <a:xfrm>
            <a:off x="8178800" y="2573866"/>
            <a:ext cx="1964267" cy="1388535"/>
          </a:xfrm>
          <a:prstGeom prst="line">
            <a:avLst/>
          </a:prstGeom>
          <a:ln w="76200">
            <a:solidFill>
              <a:srgbClr val="F38C1E"/>
            </a:solidFill>
            <a:miter lim="400000"/>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56" name="Shape 756"/>
          <p:cNvSpPr/>
          <p:nvPr/>
        </p:nvSpPr>
        <p:spPr>
          <a:xfrm>
            <a:off x="10414000" y="4453466"/>
            <a:ext cx="118534" cy="2421468"/>
          </a:xfrm>
          <a:prstGeom prst="line">
            <a:avLst/>
          </a:prstGeom>
          <a:ln w="50800">
            <a:solidFill>
              <a:srgbClr val="F38C1E"/>
            </a:solidFill>
            <a:miter lim="400000"/>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57" name="Shape 757"/>
          <p:cNvSpPr/>
          <p:nvPr/>
        </p:nvSpPr>
        <p:spPr>
          <a:xfrm flipH="1" flipV="1">
            <a:off x="5757333" y="2277533"/>
            <a:ext cx="541867" cy="1223434"/>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58" name="Shape 758"/>
          <p:cNvSpPr/>
          <p:nvPr/>
        </p:nvSpPr>
        <p:spPr>
          <a:xfrm flipH="1" flipV="1">
            <a:off x="4102100" y="2794000"/>
            <a:ext cx="808567" cy="728134"/>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59" name="Shape 759"/>
          <p:cNvSpPr/>
          <p:nvPr/>
        </p:nvSpPr>
        <p:spPr>
          <a:xfrm>
            <a:off x="9821333" y="4233333"/>
            <a:ext cx="948504" cy="128"/>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60" name="Shape 760"/>
          <p:cNvSpPr/>
          <p:nvPr/>
        </p:nvSpPr>
        <p:spPr>
          <a:xfrm>
            <a:off x="10113433" y="6189133"/>
            <a:ext cx="1088791" cy="128"/>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61" name="Shape 761"/>
          <p:cNvSpPr/>
          <p:nvPr/>
        </p:nvSpPr>
        <p:spPr>
          <a:xfrm>
            <a:off x="9072033" y="7886700"/>
            <a:ext cx="1" cy="498834"/>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62" name="Shape 762"/>
          <p:cNvSpPr/>
          <p:nvPr/>
        </p:nvSpPr>
        <p:spPr>
          <a:xfrm flipH="1">
            <a:off x="3810000" y="6608233"/>
            <a:ext cx="224367" cy="486834"/>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764" name="Head 2.png"/>
          <p:cNvPicPr>
            <a:picLocks noChangeAspect="1"/>
          </p:cNvPicPr>
          <p:nvPr/>
        </p:nvPicPr>
        <p:blipFill>
          <a:blip r:embed="rId3">
            <a:extLst/>
          </a:blip>
          <a:stretch>
            <a:fillRect/>
          </a:stretch>
        </p:blipFill>
        <p:spPr>
          <a:xfrm>
            <a:off x="6883470" y="5670550"/>
            <a:ext cx="4387605" cy="4114800"/>
          </a:xfrm>
          <a:prstGeom prst="rect">
            <a:avLst/>
          </a:prstGeom>
          <a:ln w="12700">
            <a:miter lim="400000"/>
          </a:ln>
        </p:spPr>
      </p:pic>
      <p:sp>
        <p:nvSpPr>
          <p:cNvPr id="765" name="Shape 765"/>
          <p:cNvSpPr>
            <a:spLocks noGrp="1"/>
          </p:cNvSpPr>
          <p:nvPr>
            <p:ph type="title"/>
          </p:nvPr>
        </p:nvSpPr>
        <p:spPr>
          <a:prstGeom prst="rect">
            <a:avLst/>
          </a:prstGeom>
        </p:spPr>
        <p:txBody>
          <a:bodyPr/>
          <a:lstStyle>
            <a:lvl1pPr>
              <a:tabLst>
                <a:tab pos="952500" algn="l"/>
              </a:tabLst>
              <a:defRPr i="1"/>
            </a:lvl1pPr>
          </a:lstStyle>
          <a:p>
            <a:r>
              <a:t>Homo neanderthalensis</a:t>
            </a:r>
          </a:p>
        </p:txBody>
      </p:sp>
      <p:sp>
        <p:nvSpPr>
          <p:cNvPr id="766" name="Shape 766"/>
          <p:cNvSpPr>
            <a:spLocks noGrp="1"/>
          </p:cNvSpPr>
          <p:nvPr>
            <p:ph type="body" sz="half" idx="1"/>
          </p:nvPr>
        </p:nvSpPr>
        <p:spPr>
          <a:xfrm>
            <a:off x="368300" y="1790700"/>
            <a:ext cx="5447804" cy="7543800"/>
          </a:xfrm>
          <a:prstGeom prst="rect">
            <a:avLst/>
          </a:prstGeom>
        </p:spPr>
        <p:txBody>
          <a:bodyPr/>
          <a:lstStyle/>
          <a:p>
            <a:pPr>
              <a:tabLst>
                <a:tab pos="1016000" algn="l"/>
              </a:tabLst>
            </a:pPr>
            <a:r>
              <a:t>Neanderthals existed between:</a:t>
            </a:r>
            <a:br/>
            <a:r>
              <a:t>230,000 and 28,000 years ago.</a:t>
            </a:r>
          </a:p>
          <a:p>
            <a:pPr>
              <a:tabLst>
                <a:tab pos="1016000" algn="l"/>
              </a:tabLst>
            </a:pPr>
            <a:r>
              <a:t>They had short, squat, cold-adapted bodies with thick and heavy bones.</a:t>
            </a:r>
          </a:p>
          <a:p>
            <a:pPr>
              <a:tabLst>
                <a:tab pos="1016000" algn="l"/>
              </a:tabLst>
            </a:pPr>
            <a:r>
              <a:t>Recent research suggests that the Neanderthals split off from the line to modern humans nearly 600,000 years ago.</a:t>
            </a:r>
          </a:p>
        </p:txBody>
      </p:sp>
      <p:grpSp>
        <p:nvGrpSpPr>
          <p:cNvPr id="773" name="Group 773"/>
          <p:cNvGrpSpPr/>
          <p:nvPr/>
        </p:nvGrpSpPr>
        <p:grpSpPr>
          <a:xfrm>
            <a:off x="6311900" y="1239519"/>
            <a:ext cx="6692900" cy="5356586"/>
            <a:chOff x="0" y="0"/>
            <a:chExt cx="6692900" cy="5356585"/>
          </a:xfrm>
        </p:grpSpPr>
        <p:pic>
          <p:nvPicPr>
            <p:cNvPr id="767" name="World Mercator-Europe-11.png"/>
            <p:cNvPicPr>
              <a:picLocks noChangeAspect="1"/>
            </p:cNvPicPr>
            <p:nvPr/>
          </p:nvPicPr>
          <p:blipFill>
            <a:blip r:embed="rId4">
              <a:extLst/>
            </a:blip>
            <a:srcRect l="44507" t="15885" r="115" b="8676"/>
            <a:stretch>
              <a:fillRect/>
            </a:stretch>
          </p:blipFill>
          <p:spPr>
            <a:xfrm>
              <a:off x="0" y="0"/>
              <a:ext cx="6692900" cy="5356586"/>
            </a:xfrm>
            <a:prstGeom prst="rect">
              <a:avLst/>
            </a:prstGeom>
            <a:ln w="12700" cap="flat">
              <a:noFill/>
              <a:miter lim="400000"/>
            </a:ln>
            <a:effectLst/>
          </p:spPr>
        </p:pic>
        <p:sp>
          <p:nvSpPr>
            <p:cNvPr id="768" name="Shape 768"/>
            <p:cNvSpPr/>
            <p:nvPr/>
          </p:nvSpPr>
          <p:spPr>
            <a:xfrm>
              <a:off x="457200" y="1948180"/>
              <a:ext cx="228600" cy="1905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69" name="Shape 769"/>
            <p:cNvSpPr/>
            <p:nvPr/>
          </p:nvSpPr>
          <p:spPr>
            <a:xfrm>
              <a:off x="673100" y="1656080"/>
              <a:ext cx="228600" cy="1905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70" name="Shape 770"/>
            <p:cNvSpPr/>
            <p:nvPr/>
          </p:nvSpPr>
          <p:spPr>
            <a:xfrm>
              <a:off x="1257300" y="1821180"/>
              <a:ext cx="228600" cy="1905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71" name="Shape 771"/>
            <p:cNvSpPr/>
            <p:nvPr/>
          </p:nvSpPr>
          <p:spPr>
            <a:xfrm>
              <a:off x="1828800" y="2138680"/>
              <a:ext cx="228600" cy="1905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772" name="Shape 772"/>
            <p:cNvSpPr/>
            <p:nvPr/>
          </p:nvSpPr>
          <p:spPr>
            <a:xfrm>
              <a:off x="2616200" y="1821180"/>
              <a:ext cx="228600" cy="1905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766">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76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76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76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6" grpId="1" build="p" bldLvl="5" animBg="1" advAuto="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775" name="Neanderthal Skull PM Cut.png"/>
          <p:cNvPicPr>
            <a:picLocks noChangeAspect="1"/>
          </p:cNvPicPr>
          <p:nvPr/>
        </p:nvPicPr>
        <p:blipFill>
          <a:blip r:embed="rId3">
            <a:extLst/>
          </a:blip>
          <a:stretch>
            <a:fillRect/>
          </a:stretch>
        </p:blipFill>
        <p:spPr>
          <a:xfrm>
            <a:off x="4425060" y="2451100"/>
            <a:ext cx="5817527" cy="5740400"/>
          </a:xfrm>
          <a:prstGeom prst="rect">
            <a:avLst/>
          </a:prstGeom>
          <a:ln w="12700">
            <a:miter lim="400000"/>
          </a:ln>
        </p:spPr>
      </p:pic>
      <p:sp>
        <p:nvSpPr>
          <p:cNvPr id="776" name="Shape 776"/>
          <p:cNvSpPr>
            <a:spLocks noGrp="1"/>
          </p:cNvSpPr>
          <p:nvPr>
            <p:ph type="title"/>
          </p:nvPr>
        </p:nvSpPr>
        <p:spPr>
          <a:prstGeom prst="rect">
            <a:avLst/>
          </a:prstGeom>
        </p:spPr>
        <p:txBody>
          <a:bodyPr/>
          <a:lstStyle>
            <a:lvl1pPr>
              <a:tabLst>
                <a:tab pos="952500" algn="l"/>
              </a:tabLst>
              <a:defRPr i="1"/>
            </a:lvl1pPr>
          </a:lstStyle>
          <a:p>
            <a:r>
              <a:t>Homo neanderthalensis</a:t>
            </a:r>
          </a:p>
        </p:txBody>
      </p:sp>
      <p:grpSp>
        <p:nvGrpSpPr>
          <p:cNvPr id="779" name="Group 779"/>
          <p:cNvGrpSpPr/>
          <p:nvPr/>
        </p:nvGrpSpPr>
        <p:grpSpPr>
          <a:xfrm>
            <a:off x="622299" y="6859858"/>
            <a:ext cx="4325621" cy="2526903"/>
            <a:chOff x="126799" y="0"/>
            <a:chExt cx="4325617" cy="2526901"/>
          </a:xfrm>
        </p:grpSpPr>
        <p:pic>
          <p:nvPicPr>
            <p:cNvPr id="777" name="Modern Human Skull.pdf"/>
            <p:cNvPicPr>
              <a:picLocks noChangeAspect="1"/>
            </p:cNvPicPr>
            <p:nvPr/>
          </p:nvPicPr>
          <p:blipFill>
            <a:blip r:embed="rId4">
              <a:extLst/>
            </a:blip>
            <a:stretch>
              <a:fillRect/>
            </a:stretch>
          </p:blipFill>
          <p:spPr>
            <a:xfrm>
              <a:off x="126799" y="0"/>
              <a:ext cx="2006601" cy="2045488"/>
            </a:xfrm>
            <a:prstGeom prst="rect">
              <a:avLst/>
            </a:prstGeom>
            <a:ln w="12700" cap="flat">
              <a:noFill/>
              <a:miter lim="400000"/>
            </a:ln>
            <a:effectLst/>
          </p:spPr>
        </p:pic>
        <p:sp>
          <p:nvSpPr>
            <p:cNvPr id="778" name="Shape 778"/>
            <p:cNvSpPr/>
            <p:nvPr/>
          </p:nvSpPr>
          <p:spPr>
            <a:xfrm>
              <a:off x="2200447" y="2076348"/>
              <a:ext cx="2251969" cy="450553"/>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p>
              <a:pPr marL="0" marR="4275454" algn="ctr">
                <a:lnSpc>
                  <a:spcPts val="3100"/>
                </a:lnSpc>
                <a:tabLst>
                  <a:tab pos="520700" algn="l"/>
                </a:tabLst>
                <a:defRPr sz="1600" b="1">
                  <a:solidFill>
                    <a:srgbClr val="483F36"/>
                  </a:solidFill>
                </a:defRPr>
              </a:pPr>
              <a:r>
                <a:rPr>
                  <a:solidFill>
                    <a:srgbClr val="000000"/>
                  </a:solidFill>
                </a:rPr>
                <a:t>A modern human skull</a:t>
              </a:r>
            </a:p>
            <a:p>
              <a:pPr marL="0" marR="4275454" algn="ctr">
                <a:lnSpc>
                  <a:spcPts val="3100"/>
                </a:lnSpc>
                <a:tabLst>
                  <a:tab pos="520700" algn="l"/>
                </a:tabLst>
                <a:defRPr sz="2800">
                  <a:solidFill>
                    <a:srgbClr val="483F36"/>
                  </a:solidFill>
                  <a:latin typeface="Hoefler Text"/>
                  <a:ea typeface="Hoefler Text"/>
                  <a:cs typeface="Hoefler Text"/>
                  <a:sym typeface="Hoefler Text"/>
                </a:defRPr>
              </a:pPr>
              <a:r>
                <a:rPr sz="1600" dirty="0">
                  <a:solidFill>
                    <a:srgbClr val="000000"/>
                  </a:solidFill>
                  <a:latin typeface="+mn-lt"/>
                  <a:ea typeface="+mn-ea"/>
                  <a:cs typeface="+mn-cs"/>
                  <a:sym typeface="Arial"/>
                </a:rPr>
                <a:t>(for comparison)</a:t>
              </a:r>
            </a:p>
          </p:txBody>
        </p:sp>
      </p:grpSp>
      <p:pic>
        <p:nvPicPr>
          <p:cNvPr id="780" name="Data H. neander OHT Skull.pdf"/>
          <p:cNvPicPr>
            <a:picLocks noChangeAspect="1"/>
          </p:cNvPicPr>
          <p:nvPr/>
        </p:nvPicPr>
        <p:blipFill>
          <a:blip r:embed="rId5">
            <a:extLst/>
          </a:blip>
          <a:stretch>
            <a:fillRect/>
          </a:stretch>
        </p:blipFill>
        <p:spPr>
          <a:xfrm>
            <a:off x="374033" y="4450940"/>
            <a:ext cx="2247901" cy="2114961"/>
          </a:xfrm>
          <a:prstGeom prst="rect">
            <a:avLst/>
          </a:prstGeom>
          <a:ln w="12700">
            <a:miter lim="400000"/>
          </a:ln>
        </p:spPr>
      </p:pic>
      <p:sp>
        <p:nvSpPr>
          <p:cNvPr id="781" name="Shape 781"/>
          <p:cNvSpPr/>
          <p:nvPr/>
        </p:nvSpPr>
        <p:spPr>
          <a:xfrm>
            <a:off x="10650219" y="7767319"/>
            <a:ext cx="1308200" cy="283792"/>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nSpc>
                <a:spcPts val="2400"/>
              </a:lnSpc>
              <a:tabLst>
                <a:tab pos="520700" algn="l"/>
              </a:tabLst>
              <a:defRPr sz="2000">
                <a:solidFill>
                  <a:srgbClr val="006795"/>
                </a:solidFill>
              </a:defRPr>
            </a:lvl1pPr>
          </a:lstStyle>
          <a:p>
            <a:r>
              <a:t>Weak chin</a:t>
            </a:r>
          </a:p>
        </p:txBody>
      </p:sp>
      <p:sp>
        <p:nvSpPr>
          <p:cNvPr id="782" name="Shape 782"/>
          <p:cNvSpPr/>
          <p:nvPr/>
        </p:nvSpPr>
        <p:spPr>
          <a:xfrm>
            <a:off x="10408919" y="6055359"/>
            <a:ext cx="1581176" cy="867992"/>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4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Swept back,</a:t>
            </a:r>
          </a:p>
          <a:p>
            <a:pPr>
              <a:lnSpc>
                <a:spcPts val="24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lightly built</a:t>
            </a:r>
          </a:p>
          <a:p>
            <a:pPr>
              <a:lnSpc>
                <a:spcPts val="24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cheek bones</a:t>
            </a:r>
          </a:p>
        </p:txBody>
      </p:sp>
      <p:sp>
        <p:nvSpPr>
          <p:cNvPr id="783" name="Shape 783"/>
          <p:cNvSpPr/>
          <p:nvPr/>
        </p:nvSpPr>
        <p:spPr>
          <a:xfrm>
            <a:off x="10421619" y="4838700"/>
            <a:ext cx="2349501" cy="8679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400"/>
              </a:lnSpc>
              <a:tabLst>
                <a:tab pos="520700" algn="l"/>
              </a:tabLst>
              <a:defRPr sz="2000">
                <a:solidFill>
                  <a:srgbClr val="006795"/>
                </a:solidFill>
              </a:defRPr>
            </a:lvl1pPr>
          </a:lstStyle>
          <a:p>
            <a:pPr>
              <a:defRPr sz="2800">
                <a:latin typeface="Hoefler Text"/>
                <a:ea typeface="Hoefler Text"/>
                <a:cs typeface="Hoefler Text"/>
                <a:sym typeface="Hoefler Text"/>
              </a:defRPr>
            </a:pPr>
            <a:r>
              <a:rPr sz="2000">
                <a:latin typeface="+mn-lt"/>
                <a:ea typeface="+mn-ea"/>
                <a:cs typeface="+mn-cs"/>
                <a:sym typeface="Arial"/>
              </a:rPr>
              <a:t>Large prominent nose and mid-facial projection</a:t>
            </a:r>
          </a:p>
        </p:txBody>
      </p:sp>
      <p:sp>
        <p:nvSpPr>
          <p:cNvPr id="784" name="Shape 784"/>
          <p:cNvSpPr/>
          <p:nvPr/>
        </p:nvSpPr>
        <p:spPr>
          <a:xfrm>
            <a:off x="10500359" y="3098800"/>
            <a:ext cx="1863702" cy="5758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4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Double-arched</a:t>
            </a:r>
          </a:p>
          <a:p>
            <a:pPr>
              <a:lnSpc>
                <a:spcPts val="24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brow ridge</a:t>
            </a:r>
          </a:p>
        </p:txBody>
      </p:sp>
      <p:sp>
        <p:nvSpPr>
          <p:cNvPr id="785" name="Shape 785"/>
          <p:cNvSpPr/>
          <p:nvPr/>
        </p:nvSpPr>
        <p:spPr>
          <a:xfrm>
            <a:off x="8991600" y="2527300"/>
            <a:ext cx="2047627" cy="2837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nSpc>
                <a:spcPts val="2400"/>
              </a:lnSpc>
              <a:tabLst>
                <a:tab pos="520700" algn="l"/>
              </a:tabLst>
              <a:defRPr sz="2000">
                <a:solidFill>
                  <a:srgbClr val="006795"/>
                </a:solidFill>
              </a:defRPr>
            </a:lvl1pPr>
          </a:lstStyle>
          <a:p>
            <a:r>
              <a:t>Sloping forehead</a:t>
            </a:r>
          </a:p>
        </p:txBody>
      </p:sp>
      <p:sp>
        <p:nvSpPr>
          <p:cNvPr id="786" name="Shape 786"/>
          <p:cNvSpPr/>
          <p:nvPr/>
        </p:nvSpPr>
        <p:spPr>
          <a:xfrm>
            <a:off x="6400800" y="1818639"/>
            <a:ext cx="2174255" cy="283792"/>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nSpc>
                <a:spcPts val="2400"/>
              </a:lnSpc>
              <a:tabLst>
                <a:tab pos="520700" algn="l"/>
              </a:tabLst>
              <a:defRPr sz="2000">
                <a:solidFill>
                  <a:srgbClr val="006795"/>
                </a:solidFill>
              </a:defRPr>
            </a:lvl1pPr>
          </a:lstStyle>
          <a:p>
            <a:r>
              <a:t>Low, long cranium</a:t>
            </a:r>
          </a:p>
        </p:txBody>
      </p:sp>
      <p:sp>
        <p:nvSpPr>
          <p:cNvPr id="787" name="Shape 787"/>
          <p:cNvSpPr/>
          <p:nvPr/>
        </p:nvSpPr>
        <p:spPr>
          <a:xfrm>
            <a:off x="7815580" y="8234680"/>
            <a:ext cx="2414241" cy="8679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4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Teeth are smaller</a:t>
            </a:r>
          </a:p>
          <a:p>
            <a:pPr>
              <a:lnSpc>
                <a:spcPts val="24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than </a:t>
            </a:r>
            <a:r>
              <a:rPr sz="2000" i="1">
                <a:latin typeface="+mn-lt"/>
                <a:ea typeface="+mn-ea"/>
                <a:cs typeface="+mn-cs"/>
                <a:sym typeface="Arial"/>
              </a:rPr>
              <a:t>H. erectus</a:t>
            </a:r>
            <a:r>
              <a:rPr sz="2000">
                <a:latin typeface="+mn-lt"/>
                <a:ea typeface="+mn-ea"/>
                <a:cs typeface="+mn-cs"/>
                <a:sym typeface="Arial"/>
              </a:rPr>
              <a:t>, but</a:t>
            </a:r>
          </a:p>
          <a:p>
            <a:pPr>
              <a:lnSpc>
                <a:spcPts val="24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bigger than our own</a:t>
            </a:r>
          </a:p>
        </p:txBody>
      </p:sp>
      <p:sp>
        <p:nvSpPr>
          <p:cNvPr id="788" name="Shape 788"/>
          <p:cNvSpPr/>
          <p:nvPr/>
        </p:nvSpPr>
        <p:spPr>
          <a:xfrm>
            <a:off x="5440679" y="7840980"/>
            <a:ext cx="2315519" cy="8679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4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Powerful jaw but</a:t>
            </a:r>
          </a:p>
          <a:p>
            <a:pPr>
              <a:lnSpc>
                <a:spcPts val="24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reduced compared</a:t>
            </a:r>
          </a:p>
          <a:p>
            <a:pPr>
              <a:lnSpc>
                <a:spcPts val="24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to </a:t>
            </a:r>
            <a:r>
              <a:rPr sz="2000" i="1">
                <a:latin typeface="+mn-lt"/>
                <a:ea typeface="+mn-ea"/>
                <a:cs typeface="+mn-cs"/>
                <a:sym typeface="Arial"/>
              </a:rPr>
              <a:t>H. erectus</a:t>
            </a:r>
          </a:p>
        </p:txBody>
      </p:sp>
      <p:sp>
        <p:nvSpPr>
          <p:cNvPr id="789" name="Shape 789"/>
          <p:cNvSpPr/>
          <p:nvPr/>
        </p:nvSpPr>
        <p:spPr>
          <a:xfrm>
            <a:off x="3774440" y="6657340"/>
            <a:ext cx="3276601" cy="8679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400"/>
              </a:lnSpc>
              <a:tabLst>
                <a:tab pos="520700" algn="l"/>
              </a:tabLst>
              <a:defRPr sz="2000">
                <a:solidFill>
                  <a:srgbClr val="006795"/>
                </a:solidFill>
              </a:defRPr>
            </a:lvl1pPr>
          </a:lstStyle>
          <a:p>
            <a:r>
              <a:t>Skull widest at the base (unlike modern skulls which are widest near the top)</a:t>
            </a:r>
          </a:p>
        </p:txBody>
      </p:sp>
      <p:sp>
        <p:nvSpPr>
          <p:cNvPr id="790" name="Shape 790"/>
          <p:cNvSpPr/>
          <p:nvPr/>
        </p:nvSpPr>
        <p:spPr>
          <a:xfrm>
            <a:off x="2695949" y="4287520"/>
            <a:ext cx="1655095" cy="2837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400"/>
              </a:lnSpc>
              <a:tabLst>
                <a:tab pos="520700" algn="l"/>
              </a:tabLst>
              <a:defRPr sz="2000">
                <a:solidFill>
                  <a:srgbClr val="006795"/>
                </a:solidFill>
              </a:defRPr>
            </a:lvl1pPr>
          </a:lstStyle>
          <a:p>
            <a:pPr>
              <a:defRPr sz="2800">
                <a:latin typeface="Hoefler Text"/>
                <a:ea typeface="Hoefler Text"/>
                <a:cs typeface="Hoefler Text"/>
                <a:sym typeface="Hoefler Text"/>
              </a:defRPr>
            </a:pPr>
            <a:r>
              <a:rPr sz="2000">
                <a:latin typeface="+mn-lt"/>
                <a:ea typeface="+mn-ea"/>
                <a:cs typeface="+mn-cs"/>
                <a:sym typeface="Arial"/>
              </a:rPr>
              <a:t>Occipital bun</a:t>
            </a:r>
          </a:p>
        </p:txBody>
      </p:sp>
      <p:sp>
        <p:nvSpPr>
          <p:cNvPr id="791" name="Shape 791"/>
          <p:cNvSpPr/>
          <p:nvPr/>
        </p:nvSpPr>
        <p:spPr>
          <a:xfrm>
            <a:off x="2298700" y="1755139"/>
            <a:ext cx="3468812" cy="867992"/>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4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Large brain (1200-1750 cc)</a:t>
            </a:r>
          </a:p>
          <a:p>
            <a:pPr>
              <a:lnSpc>
                <a:spcPts val="24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Larger than a modern</a:t>
            </a:r>
          </a:p>
          <a:p>
            <a:pPr>
              <a:lnSpc>
                <a:spcPts val="24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brain but organised differently</a:t>
            </a:r>
          </a:p>
        </p:txBody>
      </p:sp>
      <p:sp>
        <p:nvSpPr>
          <p:cNvPr id="792" name="Shape 792"/>
          <p:cNvSpPr/>
          <p:nvPr/>
        </p:nvSpPr>
        <p:spPr>
          <a:xfrm flipH="1" flipV="1">
            <a:off x="5232400" y="2726266"/>
            <a:ext cx="1016000" cy="1066801"/>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93" name="Shape 793"/>
          <p:cNvSpPr/>
          <p:nvPr/>
        </p:nvSpPr>
        <p:spPr>
          <a:xfrm flipV="1">
            <a:off x="7433733" y="2235200"/>
            <a:ext cx="1" cy="592667"/>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94" name="Shape 794"/>
          <p:cNvSpPr/>
          <p:nvPr/>
        </p:nvSpPr>
        <p:spPr>
          <a:xfrm flipV="1">
            <a:off x="9791700" y="3416300"/>
            <a:ext cx="711200" cy="647700"/>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95" name="Shape 795"/>
          <p:cNvSpPr/>
          <p:nvPr/>
        </p:nvSpPr>
        <p:spPr>
          <a:xfrm>
            <a:off x="9986433" y="5325533"/>
            <a:ext cx="492234" cy="128"/>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96" name="Shape 796"/>
          <p:cNvSpPr/>
          <p:nvPr/>
        </p:nvSpPr>
        <p:spPr>
          <a:xfrm>
            <a:off x="8263466" y="5554133"/>
            <a:ext cx="2214034" cy="732367"/>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97" name="Shape 797"/>
          <p:cNvSpPr/>
          <p:nvPr/>
        </p:nvSpPr>
        <p:spPr>
          <a:xfrm>
            <a:off x="10143066" y="7840133"/>
            <a:ext cx="558801" cy="84667"/>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98" name="Shape 798"/>
          <p:cNvSpPr/>
          <p:nvPr/>
        </p:nvSpPr>
        <p:spPr>
          <a:xfrm flipH="1">
            <a:off x="9347200" y="6959600"/>
            <a:ext cx="50800" cy="1219200"/>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799" name="Shape 799"/>
          <p:cNvSpPr/>
          <p:nvPr/>
        </p:nvSpPr>
        <p:spPr>
          <a:xfrm flipH="1">
            <a:off x="7382933" y="6891866"/>
            <a:ext cx="762001" cy="914401"/>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00" name="Shape 800"/>
          <p:cNvSpPr/>
          <p:nvPr/>
        </p:nvSpPr>
        <p:spPr>
          <a:xfrm flipH="1">
            <a:off x="5537200" y="5786966"/>
            <a:ext cx="918634" cy="833968"/>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01" name="Shape 801"/>
          <p:cNvSpPr/>
          <p:nvPr/>
        </p:nvSpPr>
        <p:spPr>
          <a:xfrm flipH="1" flipV="1">
            <a:off x="3784600" y="4622800"/>
            <a:ext cx="825500" cy="579967"/>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02" name="Shape 802"/>
          <p:cNvSpPr/>
          <p:nvPr/>
        </p:nvSpPr>
        <p:spPr>
          <a:xfrm>
            <a:off x="8805333" y="2794000"/>
            <a:ext cx="999067" cy="846667"/>
          </a:xfrm>
          <a:prstGeom prst="line">
            <a:avLst/>
          </a:prstGeom>
          <a:ln w="76200">
            <a:solidFill>
              <a:srgbClr val="F38C1E"/>
            </a:solidFill>
            <a:miter lim="400000"/>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804" name="Shape 804"/>
          <p:cNvSpPr>
            <a:spLocks noGrp="1"/>
          </p:cNvSpPr>
          <p:nvPr>
            <p:ph type="title"/>
          </p:nvPr>
        </p:nvSpPr>
        <p:spPr>
          <a:prstGeom prst="rect">
            <a:avLst/>
          </a:prstGeom>
        </p:spPr>
        <p:txBody>
          <a:bodyPr/>
          <a:lstStyle>
            <a:lvl1pPr>
              <a:tabLst>
                <a:tab pos="952500" algn="l"/>
              </a:tabLst>
              <a:defRPr i="1"/>
            </a:lvl1pPr>
          </a:lstStyle>
          <a:p>
            <a:r>
              <a:t>Homo sapiens</a:t>
            </a:r>
          </a:p>
        </p:txBody>
      </p:sp>
      <p:sp>
        <p:nvSpPr>
          <p:cNvPr id="805" name="Shape 805"/>
          <p:cNvSpPr>
            <a:spLocks noGrp="1"/>
          </p:cNvSpPr>
          <p:nvPr>
            <p:ph type="body" sz="half" idx="1"/>
          </p:nvPr>
        </p:nvSpPr>
        <p:spPr>
          <a:prstGeom prst="rect">
            <a:avLst/>
          </a:prstGeom>
        </p:spPr>
        <p:txBody>
          <a:bodyPr/>
          <a:lstStyle/>
          <a:p>
            <a:pPr>
              <a:tabLst>
                <a:tab pos="1016000" algn="l"/>
              </a:tabLst>
            </a:pPr>
            <a:r>
              <a:t>The first anatomically modern humans appear about 200,000 years ago in southern African and the Middle East.</a:t>
            </a:r>
          </a:p>
          <a:p>
            <a:pPr>
              <a:tabLst>
                <a:tab pos="1016000" algn="l"/>
              </a:tabLst>
            </a:pPr>
            <a:r>
              <a:t>They underwent a sudden cultural revolution about 40,000 years ago, with the appearance of Cro-Magnon culture.</a:t>
            </a:r>
          </a:p>
          <a:p>
            <a:pPr>
              <a:tabLst>
                <a:tab pos="1016000" algn="l"/>
              </a:tabLst>
            </a:pPr>
            <a:r>
              <a:t>Using a wider range of materials, their tools kits became markedly more sophisticated. </a:t>
            </a:r>
          </a:p>
          <a:p>
            <a:pPr>
              <a:tabLst>
                <a:tab pos="1016000" algn="l"/>
              </a:tabLst>
            </a:pPr>
            <a:r>
              <a:t>They were (and are) skilled hunters, tool-makers and artists (cave art and music).</a:t>
            </a:r>
          </a:p>
        </p:txBody>
      </p:sp>
      <p:grpSp>
        <p:nvGrpSpPr>
          <p:cNvPr id="817" name="Group 817"/>
          <p:cNvGrpSpPr/>
          <p:nvPr/>
        </p:nvGrpSpPr>
        <p:grpSpPr>
          <a:xfrm>
            <a:off x="6324600" y="1226819"/>
            <a:ext cx="6692900" cy="5356586"/>
            <a:chOff x="0" y="0"/>
            <a:chExt cx="6692900" cy="5356585"/>
          </a:xfrm>
        </p:grpSpPr>
        <p:pic>
          <p:nvPicPr>
            <p:cNvPr id="806" name="World Mercator-Europe-11.png"/>
            <p:cNvPicPr>
              <a:picLocks noChangeAspect="1"/>
            </p:cNvPicPr>
            <p:nvPr/>
          </p:nvPicPr>
          <p:blipFill>
            <a:blip r:embed="rId3">
              <a:extLst/>
            </a:blip>
            <a:srcRect l="44507" t="15885" r="115" b="8676"/>
            <a:stretch>
              <a:fillRect/>
            </a:stretch>
          </p:blipFill>
          <p:spPr>
            <a:xfrm>
              <a:off x="0" y="0"/>
              <a:ext cx="6692900" cy="5356586"/>
            </a:xfrm>
            <a:prstGeom prst="rect">
              <a:avLst/>
            </a:prstGeom>
            <a:ln w="12700" cap="flat">
              <a:noFill/>
              <a:miter lim="400000"/>
            </a:ln>
            <a:effectLst/>
          </p:spPr>
        </p:pic>
        <p:sp>
          <p:nvSpPr>
            <p:cNvPr id="807" name="Shape 807"/>
            <p:cNvSpPr/>
            <p:nvPr/>
          </p:nvSpPr>
          <p:spPr>
            <a:xfrm>
              <a:off x="457200" y="1363980"/>
              <a:ext cx="228600" cy="1905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08" name="Shape 808"/>
            <p:cNvSpPr/>
            <p:nvPr/>
          </p:nvSpPr>
          <p:spPr>
            <a:xfrm>
              <a:off x="368300" y="1960880"/>
              <a:ext cx="228600" cy="1905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09" name="Shape 809"/>
            <p:cNvSpPr/>
            <p:nvPr/>
          </p:nvSpPr>
          <p:spPr>
            <a:xfrm>
              <a:off x="749300" y="1681480"/>
              <a:ext cx="228600" cy="1905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10" name="Shape 810"/>
            <p:cNvSpPr/>
            <p:nvPr/>
          </p:nvSpPr>
          <p:spPr>
            <a:xfrm>
              <a:off x="1790700" y="2176780"/>
              <a:ext cx="228600" cy="1905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11" name="Shape 811"/>
            <p:cNvSpPr/>
            <p:nvPr/>
          </p:nvSpPr>
          <p:spPr>
            <a:xfrm>
              <a:off x="1816100" y="3040380"/>
              <a:ext cx="228600" cy="1905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12" name="Shape 812"/>
            <p:cNvSpPr/>
            <p:nvPr/>
          </p:nvSpPr>
          <p:spPr>
            <a:xfrm>
              <a:off x="1676400" y="3307080"/>
              <a:ext cx="228600" cy="1905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13" name="Shape 813"/>
            <p:cNvSpPr/>
            <p:nvPr/>
          </p:nvSpPr>
          <p:spPr>
            <a:xfrm>
              <a:off x="1574800" y="4196080"/>
              <a:ext cx="228600" cy="1905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14" name="Shape 814"/>
            <p:cNvSpPr/>
            <p:nvPr/>
          </p:nvSpPr>
          <p:spPr>
            <a:xfrm>
              <a:off x="1282700" y="4462780"/>
              <a:ext cx="228600" cy="1905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15" name="Shape 815"/>
            <p:cNvSpPr/>
            <p:nvPr/>
          </p:nvSpPr>
          <p:spPr>
            <a:xfrm>
              <a:off x="4216400" y="1960880"/>
              <a:ext cx="228600" cy="1905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16" name="Shape 816"/>
            <p:cNvSpPr/>
            <p:nvPr/>
          </p:nvSpPr>
          <p:spPr>
            <a:xfrm>
              <a:off x="4876800" y="4043680"/>
              <a:ext cx="228600" cy="1905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FF2600"/>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pic>
        <p:nvPicPr>
          <p:cNvPr id="818" name="human evol 2.png"/>
          <p:cNvPicPr>
            <a:picLocks noChangeAspect="1"/>
          </p:cNvPicPr>
          <p:nvPr/>
        </p:nvPicPr>
        <p:blipFill>
          <a:blip r:embed="rId4">
            <a:extLst/>
          </a:blip>
          <a:srcRect t="488" b="9933"/>
          <a:stretch>
            <a:fillRect/>
          </a:stretch>
        </p:blipFill>
        <p:spPr>
          <a:xfrm flipH="1">
            <a:off x="7772400" y="5156200"/>
            <a:ext cx="3175000" cy="466090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805">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80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80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80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80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5" grpId="1" build="p" bldLvl="5" animBg="1" advAuto="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820" name="Shape 820"/>
          <p:cNvSpPr/>
          <p:nvPr/>
        </p:nvSpPr>
        <p:spPr>
          <a:xfrm>
            <a:off x="10378440" y="3878579"/>
            <a:ext cx="2313861" cy="94419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700"/>
              </a:lnSpc>
              <a:tabLst>
                <a:tab pos="520700" algn="l"/>
              </a:tabLst>
              <a:defRPr sz="2000">
                <a:solidFill>
                  <a:srgbClr val="006795"/>
                </a:solidFill>
              </a:defRPr>
            </a:lvl1pPr>
          </a:lstStyle>
          <a:p>
            <a:r>
              <a:t>No brow ridge, just a slight swelling of the glabella</a:t>
            </a:r>
          </a:p>
        </p:txBody>
      </p:sp>
      <p:pic>
        <p:nvPicPr>
          <p:cNvPr id="821" name="Skull Cro Magnon PM Cut.png"/>
          <p:cNvPicPr>
            <a:picLocks noChangeAspect="1"/>
          </p:cNvPicPr>
          <p:nvPr/>
        </p:nvPicPr>
        <p:blipFill>
          <a:blip r:embed="rId3">
            <a:extLst/>
          </a:blip>
          <a:stretch>
            <a:fillRect/>
          </a:stretch>
        </p:blipFill>
        <p:spPr>
          <a:xfrm>
            <a:off x="4152900" y="2242120"/>
            <a:ext cx="5956300" cy="5462569"/>
          </a:xfrm>
          <a:prstGeom prst="rect">
            <a:avLst/>
          </a:prstGeom>
          <a:ln w="12700">
            <a:miter lim="400000"/>
          </a:ln>
        </p:spPr>
      </p:pic>
      <p:sp>
        <p:nvSpPr>
          <p:cNvPr id="822" name="Shape 822"/>
          <p:cNvSpPr>
            <a:spLocks noGrp="1"/>
          </p:cNvSpPr>
          <p:nvPr>
            <p:ph type="title"/>
          </p:nvPr>
        </p:nvSpPr>
        <p:spPr>
          <a:prstGeom prst="rect">
            <a:avLst/>
          </a:prstGeom>
        </p:spPr>
        <p:txBody>
          <a:bodyPr/>
          <a:lstStyle>
            <a:lvl1pPr>
              <a:tabLst>
                <a:tab pos="952500" algn="l"/>
              </a:tabLst>
              <a:defRPr i="1"/>
            </a:lvl1pPr>
          </a:lstStyle>
          <a:p>
            <a:r>
              <a:t>Homo sapiens</a:t>
            </a:r>
          </a:p>
        </p:txBody>
      </p:sp>
      <p:pic>
        <p:nvPicPr>
          <p:cNvPr id="823" name="Modern Human Skull.pdf"/>
          <p:cNvPicPr>
            <a:picLocks noChangeAspect="1"/>
          </p:cNvPicPr>
          <p:nvPr/>
        </p:nvPicPr>
        <p:blipFill>
          <a:blip r:embed="rId4">
            <a:extLst/>
          </a:blip>
          <a:stretch>
            <a:fillRect/>
          </a:stretch>
        </p:blipFill>
        <p:spPr>
          <a:xfrm>
            <a:off x="431800" y="6859858"/>
            <a:ext cx="2006600" cy="2045489"/>
          </a:xfrm>
          <a:prstGeom prst="rect">
            <a:avLst/>
          </a:prstGeom>
          <a:ln w="12700">
            <a:miter lim="400000"/>
          </a:ln>
        </p:spPr>
      </p:pic>
      <p:sp>
        <p:nvSpPr>
          <p:cNvPr id="824" name="Shape 824"/>
          <p:cNvSpPr/>
          <p:nvPr/>
        </p:nvSpPr>
        <p:spPr>
          <a:xfrm>
            <a:off x="2734815" y="8945191"/>
            <a:ext cx="2251969" cy="450553"/>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marL="0" marR="4275454" algn="ctr">
              <a:lnSpc>
                <a:spcPts val="3100"/>
              </a:lnSpc>
              <a:tabLst>
                <a:tab pos="520700" algn="l"/>
              </a:tabLst>
              <a:defRPr sz="1600" b="1">
                <a:solidFill>
                  <a:srgbClr val="483F36"/>
                </a:solidFill>
              </a:defRPr>
            </a:pPr>
            <a:r>
              <a:rPr>
                <a:solidFill>
                  <a:srgbClr val="000000"/>
                </a:solidFill>
              </a:rPr>
              <a:t>A modern human skull</a:t>
            </a:r>
          </a:p>
          <a:p>
            <a:pPr marL="0" marR="4275454" algn="ctr">
              <a:lnSpc>
                <a:spcPts val="3100"/>
              </a:lnSpc>
              <a:tabLst>
                <a:tab pos="520700" algn="l"/>
              </a:tabLst>
              <a:defRPr sz="2800">
                <a:solidFill>
                  <a:srgbClr val="483F36"/>
                </a:solidFill>
                <a:latin typeface="Hoefler Text"/>
                <a:ea typeface="Hoefler Text"/>
                <a:cs typeface="Hoefler Text"/>
                <a:sym typeface="Hoefler Text"/>
              </a:defRPr>
            </a:pPr>
            <a:r>
              <a:rPr sz="1600" dirty="0">
                <a:solidFill>
                  <a:srgbClr val="000000"/>
                </a:solidFill>
                <a:latin typeface="+mn-lt"/>
                <a:ea typeface="+mn-ea"/>
                <a:cs typeface="+mn-cs"/>
                <a:sym typeface="Arial"/>
              </a:rPr>
              <a:t>(for comparison)</a:t>
            </a:r>
          </a:p>
        </p:txBody>
      </p:sp>
      <p:pic>
        <p:nvPicPr>
          <p:cNvPr id="825" name="Data H. sapiens OHT Skull.pdf"/>
          <p:cNvPicPr>
            <a:picLocks noChangeAspect="1"/>
          </p:cNvPicPr>
          <p:nvPr/>
        </p:nvPicPr>
        <p:blipFill>
          <a:blip r:embed="rId5">
            <a:extLst/>
          </a:blip>
          <a:stretch>
            <a:fillRect/>
          </a:stretch>
        </p:blipFill>
        <p:spPr>
          <a:xfrm>
            <a:off x="219144" y="4419600"/>
            <a:ext cx="2197659" cy="2209800"/>
          </a:xfrm>
          <a:prstGeom prst="rect">
            <a:avLst/>
          </a:prstGeom>
          <a:ln w="12700">
            <a:miter lim="400000"/>
          </a:ln>
        </p:spPr>
      </p:pic>
      <p:sp>
        <p:nvSpPr>
          <p:cNvPr id="826" name="Shape 826"/>
          <p:cNvSpPr/>
          <p:nvPr/>
        </p:nvSpPr>
        <p:spPr>
          <a:xfrm>
            <a:off x="9410700" y="8331200"/>
            <a:ext cx="2145854" cy="6139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Sizeable jaw with</a:t>
            </a:r>
          </a:p>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projecting chin</a:t>
            </a:r>
          </a:p>
        </p:txBody>
      </p:sp>
      <p:sp>
        <p:nvSpPr>
          <p:cNvPr id="827" name="Shape 827"/>
          <p:cNvSpPr/>
          <p:nvPr/>
        </p:nvSpPr>
        <p:spPr>
          <a:xfrm>
            <a:off x="10350500" y="6756400"/>
            <a:ext cx="2047007" cy="6139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No muzzle</a:t>
            </a:r>
          </a:p>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(no prognathism)</a:t>
            </a:r>
          </a:p>
        </p:txBody>
      </p:sp>
      <p:sp>
        <p:nvSpPr>
          <p:cNvPr id="828" name="Shape 828"/>
          <p:cNvSpPr/>
          <p:nvPr/>
        </p:nvSpPr>
        <p:spPr>
          <a:xfrm>
            <a:off x="10350500" y="5435600"/>
            <a:ext cx="1030511" cy="6139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Vertical</a:t>
            </a:r>
          </a:p>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face</a:t>
            </a:r>
          </a:p>
        </p:txBody>
      </p:sp>
      <p:sp>
        <p:nvSpPr>
          <p:cNvPr id="829" name="Shape 829"/>
          <p:cNvSpPr/>
          <p:nvPr/>
        </p:nvSpPr>
        <p:spPr>
          <a:xfrm>
            <a:off x="9931400" y="2844800"/>
            <a:ext cx="1665635" cy="6139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High, vertical</a:t>
            </a:r>
          </a:p>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forehead</a:t>
            </a:r>
          </a:p>
        </p:txBody>
      </p:sp>
      <p:sp>
        <p:nvSpPr>
          <p:cNvPr id="830" name="Shape 830"/>
          <p:cNvSpPr/>
          <p:nvPr/>
        </p:nvSpPr>
        <p:spPr>
          <a:xfrm>
            <a:off x="6350000" y="1473200"/>
            <a:ext cx="2414117" cy="2837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nSpc>
                <a:spcPts val="2700"/>
              </a:lnSpc>
              <a:tabLst>
                <a:tab pos="520700" algn="l"/>
              </a:tabLst>
              <a:defRPr sz="2000">
                <a:solidFill>
                  <a:srgbClr val="006795"/>
                </a:solidFill>
              </a:defRPr>
            </a:lvl1pPr>
          </a:lstStyle>
          <a:p>
            <a:r>
              <a:t>Convex cranial vault</a:t>
            </a:r>
          </a:p>
        </p:txBody>
      </p:sp>
      <p:sp>
        <p:nvSpPr>
          <p:cNvPr id="831" name="Shape 831"/>
          <p:cNvSpPr/>
          <p:nvPr/>
        </p:nvSpPr>
        <p:spPr>
          <a:xfrm>
            <a:off x="6362700" y="8331200"/>
            <a:ext cx="2372073" cy="6139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Reduced tooth size</a:t>
            </a:r>
          </a:p>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with thinner enamel</a:t>
            </a:r>
          </a:p>
        </p:txBody>
      </p:sp>
      <p:sp>
        <p:nvSpPr>
          <p:cNvPr id="832" name="Shape 832"/>
          <p:cNvSpPr/>
          <p:nvPr/>
        </p:nvSpPr>
        <p:spPr>
          <a:xfrm>
            <a:off x="5156200" y="7289800"/>
            <a:ext cx="2131839" cy="6139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Sizeable mastoid</a:t>
            </a:r>
          </a:p>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process</a:t>
            </a:r>
          </a:p>
        </p:txBody>
      </p:sp>
      <p:sp>
        <p:nvSpPr>
          <p:cNvPr id="833" name="Shape 833"/>
          <p:cNvSpPr/>
          <p:nvPr/>
        </p:nvSpPr>
        <p:spPr>
          <a:xfrm>
            <a:off x="2921000" y="5816600"/>
            <a:ext cx="1722810" cy="6139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Low, rounded</a:t>
            </a:r>
          </a:p>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occipital area</a:t>
            </a:r>
          </a:p>
        </p:txBody>
      </p:sp>
      <p:sp>
        <p:nvSpPr>
          <p:cNvPr id="834" name="Shape 834"/>
          <p:cNvSpPr/>
          <p:nvPr/>
        </p:nvSpPr>
        <p:spPr>
          <a:xfrm>
            <a:off x="2743200" y="3111500"/>
            <a:ext cx="1538635" cy="6139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Skull widest</a:t>
            </a:r>
          </a:p>
          <a:p>
            <a:pP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high up</a:t>
            </a:r>
          </a:p>
        </p:txBody>
      </p:sp>
      <p:sp>
        <p:nvSpPr>
          <p:cNvPr id="835" name="Shape 835"/>
          <p:cNvSpPr/>
          <p:nvPr/>
        </p:nvSpPr>
        <p:spPr>
          <a:xfrm>
            <a:off x="4229757" y="1422400"/>
            <a:ext cx="1905993" cy="6139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gn="ct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Large brain</a:t>
            </a:r>
          </a:p>
          <a:p>
            <a:pPr algn="ctr">
              <a:lnSpc>
                <a:spcPts val="2700"/>
              </a:lnSpc>
              <a:tabLst>
                <a:tab pos="520700" algn="l"/>
              </a:tabLst>
              <a:defRPr sz="2800">
                <a:solidFill>
                  <a:srgbClr val="006795"/>
                </a:solidFill>
                <a:latin typeface="Hoefler Text"/>
                <a:ea typeface="Hoefler Text"/>
                <a:cs typeface="Hoefler Text"/>
                <a:sym typeface="Hoefler Text"/>
              </a:defRPr>
            </a:pPr>
            <a:r>
              <a:rPr sz="2000">
                <a:latin typeface="+mn-lt"/>
                <a:ea typeface="+mn-ea"/>
                <a:cs typeface="+mn-cs"/>
                <a:sym typeface="Arial"/>
              </a:rPr>
              <a:t>(1200-1700 cc) </a:t>
            </a:r>
          </a:p>
        </p:txBody>
      </p:sp>
      <p:sp>
        <p:nvSpPr>
          <p:cNvPr id="836" name="Shape 836"/>
          <p:cNvSpPr/>
          <p:nvPr/>
        </p:nvSpPr>
        <p:spPr>
          <a:xfrm>
            <a:off x="9719733" y="3098800"/>
            <a:ext cx="203201" cy="1083734"/>
          </a:xfrm>
          <a:prstGeom prst="line">
            <a:avLst/>
          </a:prstGeom>
          <a:ln w="38100">
            <a:solidFill>
              <a:srgbClr val="F38C1E"/>
            </a:solidFill>
            <a:miter lim="400000"/>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37" name="Shape 837"/>
          <p:cNvSpPr/>
          <p:nvPr/>
        </p:nvSpPr>
        <p:spPr>
          <a:xfrm flipH="1">
            <a:off x="10244666" y="4978400"/>
            <a:ext cx="8468" cy="1405467"/>
          </a:xfrm>
          <a:prstGeom prst="line">
            <a:avLst/>
          </a:prstGeom>
          <a:ln w="38100">
            <a:solidFill>
              <a:srgbClr val="F38C1E"/>
            </a:solidFill>
            <a:miter lim="400000"/>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38" name="Shape 838"/>
          <p:cNvSpPr/>
          <p:nvPr/>
        </p:nvSpPr>
        <p:spPr>
          <a:xfrm flipH="1" flipV="1">
            <a:off x="4406900" y="3263900"/>
            <a:ext cx="1947334" cy="127"/>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39" name="Shape 839"/>
          <p:cNvSpPr/>
          <p:nvPr/>
        </p:nvSpPr>
        <p:spPr>
          <a:xfrm flipH="1" flipV="1">
            <a:off x="5469466" y="2032000"/>
            <a:ext cx="778934" cy="762000"/>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40" name="Shape 840"/>
          <p:cNvSpPr/>
          <p:nvPr/>
        </p:nvSpPr>
        <p:spPr>
          <a:xfrm flipV="1">
            <a:off x="7378700" y="1913466"/>
            <a:ext cx="21167" cy="436034"/>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41" name="Shape 841"/>
          <p:cNvSpPr/>
          <p:nvPr/>
        </p:nvSpPr>
        <p:spPr>
          <a:xfrm>
            <a:off x="9664700" y="4381500"/>
            <a:ext cx="660400" cy="127"/>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42" name="Shape 842"/>
          <p:cNvSpPr/>
          <p:nvPr/>
        </p:nvSpPr>
        <p:spPr>
          <a:xfrm>
            <a:off x="9804400" y="7687733"/>
            <a:ext cx="491067" cy="558801"/>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43" name="Shape 843"/>
          <p:cNvSpPr/>
          <p:nvPr/>
        </p:nvSpPr>
        <p:spPr>
          <a:xfrm flipH="1">
            <a:off x="7721600" y="6790266"/>
            <a:ext cx="1100667" cy="1473201"/>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44" name="Shape 844"/>
          <p:cNvSpPr/>
          <p:nvPr/>
        </p:nvSpPr>
        <p:spPr>
          <a:xfrm flipH="1">
            <a:off x="6197600" y="6320366"/>
            <a:ext cx="211668" cy="859368"/>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845" name="Shape 845"/>
          <p:cNvSpPr/>
          <p:nvPr/>
        </p:nvSpPr>
        <p:spPr>
          <a:xfrm flipH="1">
            <a:off x="3860800" y="4656666"/>
            <a:ext cx="452967" cy="999068"/>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027" name="Shape 1027"/>
          <p:cNvSpPr>
            <a:spLocks noGrp="1"/>
          </p:cNvSpPr>
          <p:nvPr>
            <p:ph type="title"/>
          </p:nvPr>
        </p:nvSpPr>
        <p:spPr>
          <a:prstGeom prst="rect">
            <a:avLst/>
          </a:prstGeom>
        </p:spPr>
        <p:txBody>
          <a:bodyPr/>
          <a:lstStyle>
            <a:lvl1pPr>
              <a:tabLst>
                <a:tab pos="952500" algn="l"/>
              </a:tabLst>
              <a:defRPr i="1"/>
            </a:lvl1pPr>
          </a:lstStyle>
          <a:p>
            <a:r>
              <a:t>Ardipithecus ramidus</a:t>
            </a:r>
          </a:p>
        </p:txBody>
      </p:sp>
      <p:sp>
        <p:nvSpPr>
          <p:cNvPr id="1028" name="Shape 1028"/>
          <p:cNvSpPr>
            <a:spLocks noGrp="1"/>
          </p:cNvSpPr>
          <p:nvPr>
            <p:ph type="body" sz="quarter" idx="1"/>
          </p:nvPr>
        </p:nvSpPr>
        <p:spPr>
          <a:xfrm>
            <a:off x="368300" y="1790700"/>
            <a:ext cx="6159947" cy="3818037"/>
          </a:xfrm>
          <a:prstGeom prst="rect">
            <a:avLst/>
          </a:prstGeom>
        </p:spPr>
        <p:txBody>
          <a:bodyPr/>
          <a:lstStyle/>
          <a:p>
            <a:pPr>
              <a:tabLst>
                <a:tab pos="1016000" algn="l"/>
              </a:tabLst>
            </a:pPr>
            <a:r>
              <a:t>First discovered in 1994 in the Middle Awash region of Ethiopia, the </a:t>
            </a:r>
            <a:r>
              <a:rPr i="1"/>
              <a:t>Ardipithecus ramidus</a:t>
            </a:r>
            <a:r>
              <a:t> fossils have changed our view of </a:t>
            </a:r>
            <a:br/>
            <a:r>
              <a:t>human origins.</a:t>
            </a:r>
          </a:p>
          <a:p>
            <a:pPr>
              <a:tabLst>
                <a:tab pos="1016000" algn="l"/>
              </a:tabLst>
            </a:pPr>
            <a:r>
              <a:t>The partial skeleton of </a:t>
            </a:r>
            <a:r>
              <a:rPr i="1"/>
              <a:t>Ar. ramidus</a:t>
            </a:r>
            <a:r>
              <a:t> has provided information the origins of bipedalism, and the evolution of the human hand.</a:t>
            </a:r>
          </a:p>
        </p:txBody>
      </p:sp>
      <p:graphicFrame>
        <p:nvGraphicFramePr>
          <p:cNvPr id="1029" name="Table 1029"/>
          <p:cNvGraphicFramePr/>
          <p:nvPr/>
        </p:nvGraphicFramePr>
        <p:xfrm>
          <a:off x="7353300" y="1752600"/>
          <a:ext cx="5029202" cy="7040726"/>
        </p:xfrm>
        <a:graphic>
          <a:graphicData uri="http://schemas.openxmlformats.org/drawingml/2006/table">
            <a:tbl>
              <a:tblPr>
                <a:tableStyleId>{8F44A2F1-9E1F-4B54-A3A2-5F16C0AD49E2}</a:tableStyleId>
              </a:tblPr>
              <a:tblGrid>
                <a:gridCol w="1676401">
                  <a:extLst>
                    <a:ext uri="{9D8B030D-6E8A-4147-A177-3AD203B41FA5}">
                      <a16:colId xmlns:a16="http://schemas.microsoft.com/office/drawing/2014/main" val="20000"/>
                    </a:ext>
                  </a:extLst>
                </a:gridCol>
                <a:gridCol w="3352801">
                  <a:extLst>
                    <a:ext uri="{9D8B030D-6E8A-4147-A177-3AD203B41FA5}">
                      <a16:colId xmlns:a16="http://schemas.microsoft.com/office/drawing/2014/main" val="20001"/>
                    </a:ext>
                  </a:extLst>
                </a:gridCol>
              </a:tblGrid>
              <a:tr h="1155700">
                <a:tc>
                  <a:txBody>
                    <a:bodyPr/>
                    <a:lstStyle/>
                    <a:p>
                      <a:pPr defTabSz="914400">
                        <a:lnSpc>
                          <a:spcPts val="2100"/>
                        </a:lnSpc>
                        <a:tabLst>
                          <a:tab pos="520700" algn="l"/>
                        </a:tabLst>
                        <a:defRPr sz="1800">
                          <a:solidFill>
                            <a:srgbClr val="000000"/>
                          </a:solidFill>
                        </a:defRPr>
                      </a:pPr>
                      <a:r>
                        <a:rPr b="1">
                          <a:solidFill>
                            <a:srgbClr val="FFFFFF"/>
                          </a:solidFill>
                          <a:latin typeface="+mn-lt"/>
                          <a:ea typeface="+mn-ea"/>
                          <a:cs typeface="+mn-cs"/>
                          <a:sym typeface="Arial"/>
                        </a:rPr>
                        <a:t>Other name</a:t>
                      </a:r>
                    </a:p>
                  </a:txBody>
                  <a:tcPr marL="38100" marR="38100" marT="38100" marB="38100" anchor="ctr" horzOverflow="overflow">
                    <a:lnL w="25400">
                      <a:solidFill>
                        <a:srgbClr val="000000"/>
                      </a:solidFill>
                      <a:miter lim="400000"/>
                    </a:lnL>
                    <a:lnR w="12700">
                      <a:solidFill>
                        <a:srgbClr val="000000"/>
                      </a:solidFill>
                      <a:miter lim="400000"/>
                    </a:lnR>
                    <a:lnT w="25400">
                      <a:solidFill>
                        <a:srgbClr val="000000"/>
                      </a:solidFill>
                      <a:miter lim="400000"/>
                    </a:lnT>
                    <a:lnB w="12700">
                      <a:solidFill>
                        <a:srgbClr val="000000"/>
                      </a:solidFill>
                      <a:miter lim="400000"/>
                    </a:lnB>
                    <a:solidFill>
                      <a:srgbClr val="006795"/>
                    </a:solidFill>
                  </a:tcPr>
                </a:tc>
                <a:tc>
                  <a:txBody>
                    <a:bodyPr/>
                    <a:lstStyle/>
                    <a:p>
                      <a:pPr marL="114300" algn="l">
                        <a:lnSpc>
                          <a:spcPts val="2100"/>
                        </a:lnSpc>
                        <a:tabLst>
                          <a:tab pos="520700" algn="l"/>
                        </a:tabLst>
                        <a:defRPr sz="1800">
                          <a:latin typeface="+mn-lt"/>
                          <a:ea typeface="+mn-ea"/>
                          <a:cs typeface="+mn-cs"/>
                          <a:sym typeface="Arial"/>
                        </a:defRPr>
                      </a:pPr>
                      <a:r>
                        <a:rPr>
                          <a:solidFill>
                            <a:srgbClr val="000000"/>
                          </a:solidFill>
                        </a:rPr>
                        <a:t>Two subspecies:</a:t>
                      </a:r>
                    </a:p>
                    <a:p>
                      <a:pPr marL="114300" algn="l">
                        <a:lnSpc>
                          <a:spcPts val="2100"/>
                        </a:lnSpc>
                        <a:tabLst>
                          <a:tab pos="520700" algn="l"/>
                        </a:tabLst>
                        <a:defRPr sz="1800" i="1">
                          <a:latin typeface="+mn-lt"/>
                          <a:ea typeface="+mn-ea"/>
                          <a:cs typeface="+mn-cs"/>
                          <a:sym typeface="Arial"/>
                        </a:defRPr>
                      </a:pPr>
                      <a:r>
                        <a:rPr>
                          <a:solidFill>
                            <a:srgbClr val="000000"/>
                          </a:solidFill>
                        </a:rPr>
                        <a:t>      A. ramidus ramidus</a:t>
                      </a:r>
                    </a:p>
                    <a:p>
                      <a:pPr marL="114300" algn="l">
                        <a:lnSpc>
                          <a:spcPts val="2100"/>
                        </a:lnSpc>
                        <a:tabLst>
                          <a:tab pos="520700" algn="l"/>
                        </a:tabLst>
                        <a:defRPr sz="1800" i="1">
                          <a:latin typeface="+mn-lt"/>
                          <a:ea typeface="+mn-ea"/>
                          <a:cs typeface="+mn-cs"/>
                          <a:sym typeface="Arial"/>
                        </a:defRPr>
                      </a:pPr>
                      <a:r>
                        <a:rPr>
                          <a:solidFill>
                            <a:srgbClr val="000000"/>
                          </a:solidFill>
                        </a:rPr>
                        <a:t>     A. ramidus kadabba</a:t>
                      </a:r>
                    </a:p>
                  </a:txBody>
                  <a:tcPr marL="38100" marR="38100" marT="38100" marB="38100" anchor="ctr" horzOverflow="overflow">
                    <a:lnL w="12700">
                      <a:solidFill>
                        <a:srgbClr val="000000"/>
                      </a:solidFill>
                      <a:miter lim="400000"/>
                    </a:lnL>
                    <a:lnR w="25400">
                      <a:solidFill>
                        <a:srgbClr val="000000"/>
                      </a:solidFill>
                      <a:miter lim="400000"/>
                    </a:lnR>
                    <a:lnT w="254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0"/>
                  </a:ext>
                </a:extLst>
              </a:tr>
              <a:tr h="692904">
                <a:tc>
                  <a:txBody>
                    <a:bodyPr/>
                    <a:lstStyle/>
                    <a:p>
                      <a:pPr defTabSz="914400">
                        <a:lnSpc>
                          <a:spcPts val="2100"/>
                        </a:lnSpc>
                        <a:tabLst>
                          <a:tab pos="520700" algn="l"/>
                        </a:tabLst>
                        <a:defRPr sz="1800">
                          <a:solidFill>
                            <a:srgbClr val="000000"/>
                          </a:solidFill>
                        </a:defRPr>
                      </a:pPr>
                      <a:r>
                        <a:rPr b="1">
                          <a:solidFill>
                            <a:srgbClr val="FFFFFF"/>
                          </a:solidFill>
                          <a:latin typeface="+mn-lt"/>
                          <a:ea typeface="+mn-ea"/>
                          <a:cs typeface="+mn-cs"/>
                          <a:sym typeface="Arial"/>
                        </a:rPr>
                        <a:t>Known date</a:t>
                      </a:r>
                    </a:p>
                  </a:txBody>
                  <a:tcPr marL="38100" marR="38100" marT="38100" marB="38100" anchor="ctr" horzOverflow="overflow">
                    <a:lnL w="254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006795"/>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4.4 - 5.8 million years ago</a:t>
                      </a:r>
                    </a:p>
                  </a:txBody>
                  <a:tcPr marL="38100" marR="38100" marT="38100" marB="38100" anchor="ctr" horzOverflow="overflow">
                    <a:lnL w="12700">
                      <a:solidFill>
                        <a:srgbClr val="000000"/>
                      </a:solidFill>
                      <a:miter lim="400000"/>
                    </a:lnL>
                    <a:lnR w="254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1"/>
                  </a:ext>
                </a:extLst>
              </a:tr>
              <a:tr h="636186">
                <a:tc>
                  <a:txBody>
                    <a:bodyPr/>
                    <a:lstStyle/>
                    <a:p>
                      <a:pPr defTabSz="914400">
                        <a:lnSpc>
                          <a:spcPts val="2100"/>
                        </a:lnSpc>
                        <a:tabLst>
                          <a:tab pos="520700" algn="l"/>
                        </a:tabLst>
                        <a:defRPr sz="1800">
                          <a:solidFill>
                            <a:srgbClr val="000000"/>
                          </a:solidFill>
                        </a:defRPr>
                      </a:pPr>
                      <a:r>
                        <a:rPr b="1">
                          <a:solidFill>
                            <a:srgbClr val="FFFFFF"/>
                          </a:solidFill>
                          <a:latin typeface="+mn-lt"/>
                          <a:ea typeface="+mn-ea"/>
                          <a:cs typeface="+mn-cs"/>
                          <a:sym typeface="Arial"/>
                        </a:rPr>
                        <a:t>Brain size</a:t>
                      </a:r>
                    </a:p>
                  </a:txBody>
                  <a:tcPr marL="38100" marR="38100" marT="38100" marB="38100" anchor="ctr" horzOverflow="overflow">
                    <a:lnL w="254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006795"/>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300-350 cc</a:t>
                      </a:r>
                    </a:p>
                  </a:txBody>
                  <a:tcPr marL="38100" marR="38100" marT="38100" marB="38100" anchor="ctr" horzOverflow="overflow">
                    <a:lnL w="12700">
                      <a:solidFill>
                        <a:srgbClr val="000000"/>
                      </a:solidFill>
                      <a:miter lim="400000"/>
                    </a:lnL>
                    <a:lnR w="254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2"/>
                  </a:ext>
                </a:extLst>
              </a:tr>
              <a:tr h="664808">
                <a:tc>
                  <a:txBody>
                    <a:bodyPr/>
                    <a:lstStyle/>
                    <a:p>
                      <a:pPr defTabSz="914400">
                        <a:lnSpc>
                          <a:spcPts val="2100"/>
                        </a:lnSpc>
                        <a:tabLst>
                          <a:tab pos="520700" algn="l"/>
                        </a:tabLst>
                        <a:defRPr sz="1800">
                          <a:solidFill>
                            <a:srgbClr val="000000"/>
                          </a:solidFill>
                        </a:defRPr>
                      </a:pPr>
                      <a:r>
                        <a:rPr b="1">
                          <a:solidFill>
                            <a:srgbClr val="FFFFFF"/>
                          </a:solidFill>
                          <a:latin typeface="+mn-lt"/>
                          <a:ea typeface="+mn-ea"/>
                          <a:cs typeface="+mn-cs"/>
                          <a:sym typeface="Arial"/>
                        </a:rPr>
                        <a:t>Height</a:t>
                      </a:r>
                    </a:p>
                  </a:txBody>
                  <a:tcPr marL="38100" marR="38100" marT="38100" marB="38100" anchor="ctr" horzOverflow="overflow">
                    <a:lnL w="254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006795"/>
                    </a:solidFill>
                  </a:tcPr>
                </a:tc>
                <a:tc>
                  <a:txBody>
                    <a:bodyPr/>
                    <a:lstStyle/>
                    <a:p>
                      <a:pPr marL="114300" algn="l">
                        <a:lnSpc>
                          <a:spcPts val="2100"/>
                        </a:lnSpc>
                        <a:tabLst>
                          <a:tab pos="520700" algn="l"/>
                        </a:tabLst>
                        <a:defRPr sz="2800">
                          <a:solidFill>
                            <a:srgbClr val="000000"/>
                          </a:solidFill>
                        </a:defRPr>
                      </a:pPr>
                      <a:r>
                        <a:rPr sz="1800">
                          <a:latin typeface="+mn-lt"/>
                          <a:ea typeface="+mn-ea"/>
                          <a:cs typeface="+mn-cs"/>
                          <a:sym typeface="Arial"/>
                        </a:rPr>
                        <a:t>c. 1.2 m</a:t>
                      </a:r>
                    </a:p>
                  </a:txBody>
                  <a:tcPr marL="38100" marR="38100" marT="38100" marB="38100" anchor="ctr" horzOverflow="overflow">
                    <a:lnL w="12700">
                      <a:solidFill>
                        <a:srgbClr val="000000"/>
                      </a:solidFill>
                      <a:miter lim="400000"/>
                    </a:lnL>
                    <a:lnR w="254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3"/>
                  </a:ext>
                </a:extLst>
              </a:tr>
              <a:tr h="1096450">
                <a:tc>
                  <a:txBody>
                    <a:bodyPr/>
                    <a:lstStyle/>
                    <a:p>
                      <a:pPr defTabSz="914400">
                        <a:lnSpc>
                          <a:spcPts val="2100"/>
                        </a:lnSpc>
                        <a:tabLst>
                          <a:tab pos="520700" algn="l"/>
                        </a:tabLst>
                        <a:defRPr sz="1800">
                          <a:solidFill>
                            <a:srgbClr val="000000"/>
                          </a:solidFill>
                        </a:defRPr>
                      </a:pPr>
                      <a:r>
                        <a:rPr b="1">
                          <a:solidFill>
                            <a:srgbClr val="FFFFFF"/>
                          </a:solidFill>
                          <a:latin typeface="+mn-lt"/>
                          <a:ea typeface="+mn-ea"/>
                          <a:cs typeface="+mn-cs"/>
                          <a:sym typeface="Arial"/>
                        </a:rPr>
                        <a:t>Physique</a:t>
                      </a:r>
                    </a:p>
                  </a:txBody>
                  <a:tcPr marL="38100" marR="38100" marT="38100" marB="38100" anchor="ctr" horzOverflow="overflow">
                    <a:lnL w="254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006795"/>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Bipedal forest dweller. </a:t>
                      </a:r>
                    </a:p>
                  </a:txBody>
                  <a:tcPr marL="38100" marR="38100" marT="38100" marB="38100" anchor="ctr" horzOverflow="overflow">
                    <a:lnL w="12700">
                      <a:solidFill>
                        <a:srgbClr val="000000"/>
                      </a:solidFill>
                      <a:miter lim="400000"/>
                    </a:lnL>
                    <a:lnR w="254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4"/>
                  </a:ext>
                </a:extLst>
              </a:tr>
              <a:tr h="1102422">
                <a:tc>
                  <a:txBody>
                    <a:bodyPr/>
                    <a:lstStyle/>
                    <a:p>
                      <a:pPr defTabSz="914400">
                        <a:lnSpc>
                          <a:spcPts val="2100"/>
                        </a:lnSpc>
                        <a:tabLst>
                          <a:tab pos="520700" algn="l"/>
                        </a:tabLst>
                        <a:defRPr sz="1800">
                          <a:solidFill>
                            <a:srgbClr val="000000"/>
                          </a:solidFill>
                        </a:defRPr>
                      </a:pPr>
                      <a:r>
                        <a:rPr b="1">
                          <a:solidFill>
                            <a:srgbClr val="FFFFFF"/>
                          </a:solidFill>
                          <a:latin typeface="+mn-lt"/>
                          <a:ea typeface="+mn-ea"/>
                          <a:cs typeface="+mn-cs"/>
                          <a:sym typeface="Arial"/>
                        </a:rPr>
                        <a:t>Skull shape</a:t>
                      </a:r>
                    </a:p>
                  </a:txBody>
                  <a:tcPr marL="38100" marR="38100" marT="38100" marB="38100" anchor="ctr" horzOverflow="overflow">
                    <a:lnL w="254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006795"/>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Foramen magnum more forward than apes.</a:t>
                      </a:r>
                    </a:p>
                  </a:txBody>
                  <a:tcPr marL="38100" marR="38100" marT="38100" marB="38100" anchor="ctr" horzOverflow="overflow">
                    <a:lnL w="12700">
                      <a:solidFill>
                        <a:srgbClr val="000000"/>
                      </a:solidFill>
                      <a:miter lim="400000"/>
                    </a:lnL>
                    <a:lnR w="254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5"/>
                  </a:ext>
                </a:extLst>
              </a:tr>
              <a:tr h="846083">
                <a:tc>
                  <a:txBody>
                    <a:bodyPr/>
                    <a:lstStyle/>
                    <a:p>
                      <a:pPr defTabSz="914400">
                        <a:lnSpc>
                          <a:spcPts val="2100"/>
                        </a:lnSpc>
                        <a:tabLst>
                          <a:tab pos="520700" algn="l"/>
                        </a:tabLst>
                        <a:defRPr sz="1800">
                          <a:solidFill>
                            <a:srgbClr val="000000"/>
                          </a:solidFill>
                        </a:defRPr>
                      </a:pPr>
                      <a:r>
                        <a:rPr b="1">
                          <a:solidFill>
                            <a:srgbClr val="FFFFFF"/>
                          </a:solidFill>
                          <a:latin typeface="+mn-lt"/>
                          <a:ea typeface="+mn-ea"/>
                          <a:cs typeface="+mn-cs"/>
                          <a:sym typeface="Arial"/>
                        </a:rPr>
                        <a:t>Teeth and jaws</a:t>
                      </a:r>
                    </a:p>
                  </a:txBody>
                  <a:tcPr marL="38100" marR="38100" marT="38100" marB="38100" anchor="ctr" horzOverflow="overflow">
                    <a:lnL w="254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006795"/>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Smaller, narrow molars; thinner jaw</a:t>
                      </a:r>
                    </a:p>
                  </a:txBody>
                  <a:tcPr marL="38100" marR="38100" marT="38100" marB="38100" anchor="ctr" horzOverflow="overflow">
                    <a:lnL w="12700">
                      <a:solidFill>
                        <a:srgbClr val="000000"/>
                      </a:solidFill>
                      <a:miter lim="400000"/>
                    </a:lnL>
                    <a:lnR w="254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6"/>
                  </a:ext>
                </a:extLst>
              </a:tr>
              <a:tr h="846173">
                <a:tc>
                  <a:txBody>
                    <a:bodyPr/>
                    <a:lstStyle/>
                    <a:p>
                      <a:pPr defTabSz="914400">
                        <a:lnSpc>
                          <a:spcPts val="2100"/>
                        </a:lnSpc>
                        <a:tabLst>
                          <a:tab pos="520700" algn="l"/>
                        </a:tabLst>
                        <a:defRPr sz="1800">
                          <a:solidFill>
                            <a:srgbClr val="000000"/>
                          </a:solidFill>
                        </a:defRPr>
                      </a:pPr>
                      <a:r>
                        <a:rPr b="1">
                          <a:solidFill>
                            <a:srgbClr val="FFFFFF"/>
                          </a:solidFill>
                          <a:latin typeface="+mn-lt"/>
                          <a:ea typeface="+mn-ea"/>
                          <a:cs typeface="+mn-cs"/>
                          <a:sym typeface="Arial"/>
                        </a:rPr>
                        <a:t>Geographical distribution</a:t>
                      </a:r>
                    </a:p>
                  </a:txBody>
                  <a:tcPr marL="38100" marR="38100" marT="38100" marB="38100" anchor="ctr" horzOverflow="overflow">
                    <a:lnL w="25400">
                      <a:solidFill>
                        <a:srgbClr val="000000"/>
                      </a:solidFill>
                      <a:miter lim="400000"/>
                    </a:lnL>
                    <a:lnR w="12700">
                      <a:solidFill>
                        <a:srgbClr val="000000"/>
                      </a:solidFill>
                      <a:miter lim="400000"/>
                    </a:lnR>
                    <a:lnT w="12700">
                      <a:solidFill>
                        <a:srgbClr val="000000"/>
                      </a:solidFill>
                      <a:miter lim="400000"/>
                    </a:lnT>
                    <a:lnB w="25400">
                      <a:solidFill>
                        <a:srgbClr val="000000"/>
                      </a:solidFill>
                      <a:miter lim="400000"/>
                    </a:lnB>
                    <a:solidFill>
                      <a:srgbClr val="006795"/>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Eastern Africa</a:t>
                      </a:r>
                    </a:p>
                  </a:txBody>
                  <a:tcPr marL="38100" marR="38100" marT="38100" marB="38100" anchor="ctr" horzOverflow="overflow">
                    <a:lnL w="12700">
                      <a:solidFill>
                        <a:srgbClr val="000000"/>
                      </a:solidFill>
                      <a:miter lim="400000"/>
                    </a:lnL>
                    <a:lnR w="25400">
                      <a:solidFill>
                        <a:srgbClr val="000000"/>
                      </a:solidFill>
                      <a:miter lim="400000"/>
                    </a:lnR>
                    <a:lnT w="12700">
                      <a:solidFill>
                        <a:srgbClr val="000000"/>
                      </a:solidFill>
                      <a:miter lim="400000"/>
                    </a:lnT>
                    <a:lnB w="25400">
                      <a:solidFill>
                        <a:srgbClr val="000000"/>
                      </a:solidFill>
                      <a:miter lim="400000"/>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028">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02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02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8" grpId="1" build="p" bldLvl="5" animBg="1" advAuto="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085" name="Shape 1085"/>
          <p:cNvSpPr>
            <a:spLocks noGrp="1"/>
          </p:cNvSpPr>
          <p:nvPr>
            <p:ph type="title"/>
          </p:nvPr>
        </p:nvSpPr>
        <p:spPr>
          <a:prstGeom prst="rect">
            <a:avLst/>
          </a:prstGeom>
        </p:spPr>
        <p:txBody>
          <a:bodyPr/>
          <a:lstStyle>
            <a:lvl1pPr>
              <a:tabLst>
                <a:tab pos="952500" algn="l"/>
              </a:tabLst>
            </a:lvl1pPr>
          </a:lstStyle>
          <a:p>
            <a:r>
              <a:t>The Split from CLCA</a:t>
            </a:r>
          </a:p>
        </p:txBody>
      </p:sp>
      <p:grpSp>
        <p:nvGrpSpPr>
          <p:cNvPr id="1107" name="Group 1107"/>
          <p:cNvGrpSpPr/>
          <p:nvPr/>
        </p:nvGrpSpPr>
        <p:grpSpPr>
          <a:xfrm>
            <a:off x="146050" y="2044700"/>
            <a:ext cx="12725400" cy="7729264"/>
            <a:chOff x="0" y="0"/>
            <a:chExt cx="12725400" cy="7729263"/>
          </a:xfrm>
        </p:grpSpPr>
        <p:grpSp>
          <p:nvGrpSpPr>
            <p:cNvPr id="1103" name="Group 1103"/>
            <p:cNvGrpSpPr/>
            <p:nvPr/>
          </p:nvGrpSpPr>
          <p:grpSpPr>
            <a:xfrm>
              <a:off x="0" y="0"/>
              <a:ext cx="12725400" cy="7729264"/>
              <a:chOff x="0" y="0"/>
              <a:chExt cx="12725400" cy="7729263"/>
            </a:xfrm>
          </p:grpSpPr>
          <p:grpSp>
            <p:nvGrpSpPr>
              <p:cNvPr id="1089" name="Group 1089"/>
              <p:cNvGrpSpPr/>
              <p:nvPr/>
            </p:nvGrpSpPr>
            <p:grpSpPr>
              <a:xfrm>
                <a:off x="289559" y="688339"/>
                <a:ext cx="10285038" cy="7040925"/>
                <a:chOff x="0" y="0"/>
                <a:chExt cx="10285036" cy="7040923"/>
              </a:xfrm>
            </p:grpSpPr>
            <p:sp>
              <p:nvSpPr>
                <p:cNvPr id="1086" name="Shape 1086"/>
                <p:cNvSpPr/>
                <p:nvPr/>
              </p:nvSpPr>
              <p:spPr>
                <a:xfrm>
                  <a:off x="0" y="0"/>
                  <a:ext cx="4606842" cy="63754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14266"/>
                      </a:lnTo>
                      <a:lnTo>
                        <a:pt x="12394" y="14266"/>
                      </a:lnTo>
                      <a:lnTo>
                        <a:pt x="12439" y="10086"/>
                      </a:lnTo>
                    </a:path>
                  </a:pathLst>
                </a:custGeom>
                <a:noFill/>
                <a:ln w="50800" cap="flat">
                  <a:solidFill>
                    <a:srgbClr val="000000"/>
                  </a:solidFill>
                  <a:prstDash val="solid"/>
                  <a:miter lim="400000"/>
                  <a:headEnd type="stealth" w="med" len="med"/>
                  <a:tailEnd type="stealth" w="med" len="med"/>
                </a:ln>
                <a:effectLst/>
              </p:spPr>
              <p:txBody>
                <a:bodyPr wrap="square" lIns="50800" tIns="50800" rIns="50800" bIns="50800" numCol="1" anchor="t">
                  <a:noAutofit/>
                </a:bodyPr>
                <a:lstStyle/>
                <a:p>
                  <a:pPr>
                    <a:lnSpc>
                      <a:spcPts val="3300"/>
                    </a:lnSpc>
                    <a:tabLst>
                      <a:tab pos="520700" algn="l"/>
                    </a:tabLst>
                    <a:defRPr sz="2800">
                      <a:solidFill>
                        <a:srgbClr val="483F36"/>
                      </a:solidFill>
                      <a:latin typeface="Hoefler Text"/>
                      <a:ea typeface="Hoefler Text"/>
                      <a:cs typeface="Hoefler Text"/>
                      <a:sym typeface="Hoefler Text"/>
                    </a:defRPr>
                  </a:pPr>
                  <a:endParaRPr/>
                </a:p>
              </p:txBody>
            </p:sp>
            <p:sp>
              <p:nvSpPr>
                <p:cNvPr id="1087" name="Shape 1087"/>
                <p:cNvSpPr/>
                <p:nvPr/>
              </p:nvSpPr>
              <p:spPr>
                <a:xfrm>
                  <a:off x="4595436" y="1442403"/>
                  <a:ext cx="5689601" cy="27686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3529"/>
                      </a:lnTo>
                      <a:lnTo>
                        <a:pt x="21600" y="0"/>
                      </a:lnTo>
                    </a:path>
                  </a:pathLst>
                </a:custGeom>
                <a:noFill/>
                <a:ln w="50800" cap="flat">
                  <a:solidFill>
                    <a:srgbClr val="000000"/>
                  </a:solidFill>
                  <a:prstDash val="solid"/>
                  <a:miter lim="400000"/>
                  <a:tailEnd type="stealth" w="med" len="med"/>
                </a:ln>
                <a:effectLst/>
              </p:spPr>
              <p:txBody>
                <a:bodyPr wrap="square" lIns="50800" tIns="50800" rIns="50800" bIns="50800" numCol="1" anchor="t">
                  <a:noAutofit/>
                </a:bodyPr>
                <a:lstStyle/>
                <a:p>
                  <a:pPr>
                    <a:lnSpc>
                      <a:spcPts val="3300"/>
                    </a:lnSpc>
                    <a:tabLst>
                      <a:tab pos="520700" algn="l"/>
                    </a:tabLst>
                    <a:defRPr sz="2800">
                      <a:solidFill>
                        <a:srgbClr val="483F36"/>
                      </a:solidFill>
                      <a:latin typeface="Hoefler Text"/>
                      <a:ea typeface="Hoefler Text"/>
                      <a:cs typeface="Hoefler Text"/>
                      <a:sym typeface="Hoefler Text"/>
                    </a:defRPr>
                  </a:pPr>
                  <a:endParaRPr/>
                </a:p>
              </p:txBody>
            </p:sp>
            <p:sp>
              <p:nvSpPr>
                <p:cNvPr id="1088" name="Shape 1088"/>
                <p:cNvSpPr/>
                <p:nvPr/>
              </p:nvSpPr>
              <p:spPr>
                <a:xfrm>
                  <a:off x="2142490" y="6385559"/>
                  <a:ext cx="1" cy="655365"/>
                </a:xfrm>
                <a:prstGeom prst="line">
                  <a:avLst/>
                </a:prstGeom>
                <a:noFill/>
                <a:ln w="50800" cap="flat">
                  <a:solidFill>
                    <a:srgbClr val="000000"/>
                  </a:solidFill>
                  <a:prstDash val="solid"/>
                  <a:miter lim="400000"/>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nvGrpSpPr>
              <p:cNvPr id="1092" name="Group 1092"/>
              <p:cNvGrpSpPr/>
              <p:nvPr/>
            </p:nvGrpSpPr>
            <p:grpSpPr>
              <a:xfrm>
                <a:off x="1136650" y="0"/>
                <a:ext cx="4038600" cy="3644900"/>
                <a:chOff x="0" y="0"/>
                <a:chExt cx="4038600" cy="3644900"/>
              </a:xfrm>
            </p:grpSpPr>
            <p:sp>
              <p:nvSpPr>
                <p:cNvPr id="1090" name="Shape 1090"/>
                <p:cNvSpPr/>
                <p:nvPr/>
              </p:nvSpPr>
              <p:spPr>
                <a:xfrm>
                  <a:off x="0" y="0"/>
                  <a:ext cx="4038600" cy="3644900"/>
                </a:xfrm>
                <a:prstGeom prst="rect">
                  <a:avLst/>
                </a:prstGeom>
                <a:solidFill>
                  <a:srgbClr val="CAF0FE"/>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091" name="Shape 1091"/>
                <p:cNvSpPr/>
                <p:nvPr/>
              </p:nvSpPr>
              <p:spPr>
                <a:xfrm>
                  <a:off x="107950" y="88900"/>
                  <a:ext cx="3822700" cy="3446922"/>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p>
                  <a:pPr marL="181102" indent="-181102">
                    <a:lnSpc>
                      <a:spcPts val="2100"/>
                    </a:lnSpc>
                    <a:spcBef>
                      <a:spcPts val="500"/>
                    </a:spcBef>
                    <a:tabLst>
                      <a:tab pos="1485900" algn="l"/>
                    </a:tabLst>
                    <a:defRPr>
                      <a:solidFill>
                        <a:srgbClr val="000000"/>
                      </a:solidFill>
                    </a:defRPr>
                  </a:pPr>
                  <a:r>
                    <a:rPr b="1" i="1"/>
                    <a:t>Pan</a:t>
                  </a:r>
                  <a:r>
                    <a:t> (chimpanzee)</a:t>
                  </a:r>
                </a:p>
                <a:p>
                  <a:pPr marL="181102" indent="-181102">
                    <a:lnSpc>
                      <a:spcPts val="2500"/>
                    </a:lnSpc>
                    <a:tabLst>
                      <a:tab pos="1485900" algn="l"/>
                    </a:tabLst>
                    <a:defRPr>
                      <a:solidFill>
                        <a:srgbClr val="000000"/>
                      </a:solidFill>
                    </a:defRPr>
                  </a:pPr>
                  <a:r>
                    <a:t>- Knuckle walker</a:t>
                  </a:r>
                </a:p>
                <a:p>
                  <a:pPr marL="181102" indent="-181102">
                    <a:lnSpc>
                      <a:spcPts val="2500"/>
                    </a:lnSpc>
                    <a:tabLst>
                      <a:tab pos="1485900" algn="l"/>
                    </a:tabLst>
                    <a:defRPr>
                      <a:solidFill>
                        <a:srgbClr val="000000"/>
                      </a:solidFill>
                    </a:defRPr>
                  </a:pPr>
                  <a:r>
                    <a:t>- Skilled climber</a:t>
                  </a:r>
                </a:p>
                <a:p>
                  <a:pPr marL="181102" indent="-181102">
                    <a:lnSpc>
                      <a:spcPts val="2500"/>
                    </a:lnSpc>
                    <a:tabLst>
                      <a:tab pos="1485900" algn="l"/>
                    </a:tabLst>
                    <a:defRPr>
                      <a:solidFill>
                        <a:srgbClr val="000000"/>
                      </a:solidFill>
                    </a:defRPr>
                  </a:pPr>
                  <a:r>
                    <a:t>- Short stiff back</a:t>
                  </a:r>
                </a:p>
                <a:p>
                  <a:pPr marL="181102" indent="-181102">
                    <a:lnSpc>
                      <a:spcPts val="2500"/>
                    </a:lnSpc>
                    <a:tabLst>
                      <a:tab pos="1485900" algn="l"/>
                    </a:tabLst>
                    <a:defRPr>
                      <a:solidFill>
                        <a:srgbClr val="000000"/>
                      </a:solidFill>
                    </a:defRPr>
                  </a:pPr>
                  <a:r>
                    <a:t>- Grasping feet</a:t>
                  </a:r>
                </a:p>
                <a:p>
                  <a:pPr marL="181102" lvl="5" indent="-181102">
                    <a:lnSpc>
                      <a:spcPts val="2500"/>
                    </a:lnSpc>
                    <a:tabLst>
                      <a:tab pos="1485900" algn="l"/>
                    </a:tabLst>
                    <a:defRPr>
                      <a:solidFill>
                        <a:srgbClr val="000000"/>
                      </a:solidFill>
                    </a:defRPr>
                  </a:pPr>
                  <a:r>
                    <a:t>- Strengthened wrist</a:t>
                  </a:r>
                  <a:br/>
                  <a:r>
                    <a:t>and elongated palm</a:t>
                  </a:r>
                </a:p>
                <a:p>
                  <a:pPr marL="181102" indent="-181102">
                    <a:lnSpc>
                      <a:spcPts val="2500"/>
                    </a:lnSpc>
                    <a:tabLst>
                      <a:tab pos="1485900" algn="l"/>
                    </a:tabLst>
                    <a:defRPr>
                      <a:solidFill>
                        <a:srgbClr val="000000"/>
                      </a:solidFill>
                    </a:defRPr>
                  </a:pPr>
                  <a:r>
                    <a:t>- Large incisors for eating fruit</a:t>
                  </a:r>
                </a:p>
                <a:p>
                  <a:pPr marL="181102" indent="-181102">
                    <a:lnSpc>
                      <a:spcPts val="2500"/>
                    </a:lnSpc>
                    <a:tabLst>
                      <a:tab pos="1485900" algn="l"/>
                    </a:tabLst>
                    <a:defRPr>
                      <a:solidFill>
                        <a:srgbClr val="000000"/>
                      </a:solidFill>
                    </a:defRPr>
                  </a:pPr>
                  <a:r>
                    <a:t>- Similar size in male and females</a:t>
                  </a:r>
                </a:p>
                <a:p>
                  <a:pPr marL="181102" indent="-181102">
                    <a:lnSpc>
                      <a:spcPts val="2500"/>
                    </a:lnSpc>
                    <a:tabLst>
                      <a:tab pos="1485900" algn="l"/>
                    </a:tabLst>
                    <a:defRPr>
                      <a:solidFill>
                        <a:srgbClr val="000000"/>
                      </a:solidFill>
                    </a:defRPr>
                  </a:pPr>
                  <a:r>
                    <a:t>- Canine teeth in males larger than</a:t>
                  </a:r>
                  <a:br/>
                  <a:r>
                    <a:t>in females</a:t>
                  </a:r>
                </a:p>
              </p:txBody>
            </p:sp>
          </p:grpSp>
          <p:sp>
            <p:nvSpPr>
              <p:cNvPr id="1093" name="Shape 1093"/>
              <p:cNvSpPr/>
              <p:nvPr/>
            </p:nvSpPr>
            <p:spPr>
              <a:xfrm>
                <a:off x="0" y="355600"/>
                <a:ext cx="736600" cy="259222"/>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marL="0">
                  <a:lnSpc>
                    <a:spcPts val="2500"/>
                  </a:lnSpc>
                  <a:tabLst>
                    <a:tab pos="1485900" algn="l"/>
                  </a:tabLst>
                  <a:defRPr>
                    <a:solidFill>
                      <a:srgbClr val="000000"/>
                    </a:solidFill>
                  </a:defRPr>
                </a:lvl1pPr>
              </a:lstStyle>
              <a:p>
                <a:r>
                  <a:t>Gorilla</a:t>
                </a:r>
              </a:p>
            </p:txBody>
          </p:sp>
          <p:sp>
            <p:nvSpPr>
              <p:cNvPr id="1094" name="Shape 1094"/>
              <p:cNvSpPr/>
              <p:nvPr/>
            </p:nvSpPr>
            <p:spPr>
              <a:xfrm>
                <a:off x="5765800" y="5448300"/>
                <a:ext cx="6959600" cy="1948322"/>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t">
                <a:spAutoFit/>
              </a:bodyPr>
              <a:lstStyle/>
              <a:p>
                <a:pPr marL="0">
                  <a:lnSpc>
                    <a:spcPts val="2500"/>
                  </a:lnSpc>
                  <a:spcBef>
                    <a:spcPts val="1500"/>
                  </a:spcBef>
                  <a:tabLst>
                    <a:tab pos="1485900" algn="l"/>
                  </a:tabLst>
                  <a:defRPr>
                    <a:solidFill>
                      <a:srgbClr val="000000"/>
                    </a:solidFill>
                  </a:defRPr>
                </a:pPr>
                <a:r>
                  <a:t>The simplified evolutionary tree of hominids below shows that chimpanzees continued to evolve into a specialised tree climber and are not simple modifications of the </a:t>
                </a:r>
                <a:r>
                  <a:rPr b="1" i="1"/>
                  <a:t>Chimpanzee-human Last Common Ancestor</a:t>
                </a:r>
                <a:r>
                  <a:t> (</a:t>
                </a:r>
                <a:r>
                  <a:rPr b="1"/>
                  <a:t>CLCA</a:t>
                </a:r>
                <a:r>
                  <a:t>). Indeed the CLCA was an ape-like creature with many generalised features that have undergone further modification in both humans and chimps alike.</a:t>
                </a:r>
              </a:p>
            </p:txBody>
          </p:sp>
          <p:grpSp>
            <p:nvGrpSpPr>
              <p:cNvPr id="1097" name="Group 1097"/>
              <p:cNvGrpSpPr/>
              <p:nvPr/>
            </p:nvGrpSpPr>
            <p:grpSpPr>
              <a:xfrm>
                <a:off x="5543550" y="2654300"/>
                <a:ext cx="3746500" cy="2374900"/>
                <a:chOff x="0" y="0"/>
                <a:chExt cx="3746500" cy="2374900"/>
              </a:xfrm>
            </p:grpSpPr>
            <p:sp>
              <p:nvSpPr>
                <p:cNvPr id="1095" name="Shape 1095"/>
                <p:cNvSpPr/>
                <p:nvPr/>
              </p:nvSpPr>
              <p:spPr>
                <a:xfrm>
                  <a:off x="0" y="0"/>
                  <a:ext cx="3746500" cy="2374900"/>
                </a:xfrm>
                <a:prstGeom prst="rect">
                  <a:avLst/>
                </a:prstGeom>
                <a:solidFill>
                  <a:srgbClr val="FFFF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096" name="Shape 1096"/>
                <p:cNvSpPr/>
                <p:nvPr/>
              </p:nvSpPr>
              <p:spPr>
                <a:xfrm>
                  <a:off x="133350" y="101600"/>
                  <a:ext cx="3505200" cy="217170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noAutofit/>
                </a:bodyPr>
                <a:lstStyle/>
                <a:p>
                  <a:pPr marL="0">
                    <a:lnSpc>
                      <a:spcPts val="2100"/>
                    </a:lnSpc>
                    <a:spcBef>
                      <a:spcPts val="500"/>
                    </a:spcBef>
                    <a:tabLst>
                      <a:tab pos="1485900" algn="l"/>
                    </a:tabLst>
                    <a:defRPr b="1" i="1">
                      <a:solidFill>
                        <a:srgbClr val="000000"/>
                      </a:solidFill>
                    </a:defRPr>
                  </a:pPr>
                  <a:r>
                    <a:t>Ardipthecus</a:t>
                  </a:r>
                </a:p>
                <a:p>
                  <a:pPr marL="0">
                    <a:lnSpc>
                      <a:spcPts val="2500"/>
                    </a:lnSpc>
                    <a:tabLst>
                      <a:tab pos="1485900" algn="l"/>
                    </a:tabLst>
                    <a:defRPr>
                      <a:solidFill>
                        <a:srgbClr val="000000"/>
                      </a:solidFill>
                    </a:defRPr>
                  </a:pPr>
                  <a:r>
                    <a:t>- Facultative upright walker</a:t>
                  </a:r>
                </a:p>
                <a:p>
                  <a:pPr marL="0">
                    <a:lnSpc>
                      <a:spcPts val="2500"/>
                    </a:lnSpc>
                    <a:tabLst>
                      <a:tab pos="1485900" algn="l"/>
                    </a:tabLst>
                    <a:defRPr>
                      <a:solidFill>
                        <a:srgbClr val="000000"/>
                      </a:solidFill>
                    </a:defRPr>
                  </a:pPr>
                  <a:r>
                    <a:t>- Able tree climber</a:t>
                  </a:r>
                </a:p>
                <a:p>
                  <a:pPr marL="0">
                    <a:lnSpc>
                      <a:spcPts val="2500"/>
                    </a:lnSpc>
                    <a:tabLst>
                      <a:tab pos="1485900" algn="l"/>
                    </a:tabLst>
                    <a:defRPr>
                      <a:solidFill>
                        <a:srgbClr val="000000"/>
                      </a:solidFill>
                    </a:defRPr>
                  </a:pPr>
                  <a:r>
                    <a:t>- Retained long flexible lower back</a:t>
                  </a:r>
                </a:p>
                <a:p>
                  <a:pPr marL="0">
                    <a:lnSpc>
                      <a:spcPts val="2500"/>
                    </a:lnSpc>
                    <a:tabLst>
                      <a:tab pos="1485900" algn="l"/>
                    </a:tabLst>
                    <a:defRPr>
                      <a:solidFill>
                        <a:srgbClr val="000000"/>
                      </a:solidFill>
                    </a:defRPr>
                  </a:pPr>
                  <a:r>
                    <a:t>- Woodland and forest omnivore</a:t>
                  </a:r>
                </a:p>
                <a:p>
                  <a:pPr marL="0">
                    <a:lnSpc>
                      <a:spcPts val="2500"/>
                    </a:lnSpc>
                    <a:tabLst>
                      <a:tab pos="1485900" algn="l"/>
                    </a:tabLst>
                    <a:defRPr>
                      <a:solidFill>
                        <a:srgbClr val="000000"/>
                      </a:solidFill>
                    </a:defRPr>
                  </a:pPr>
                  <a:r>
                    <a:t>- Similar body size in both sexes</a:t>
                  </a:r>
                </a:p>
                <a:p>
                  <a:pPr marL="0">
                    <a:lnSpc>
                      <a:spcPts val="2500"/>
                    </a:lnSpc>
                    <a:tabLst>
                      <a:tab pos="1485900" algn="l"/>
                    </a:tabLst>
                    <a:defRPr>
                      <a:solidFill>
                        <a:srgbClr val="000000"/>
                      </a:solidFill>
                    </a:defRPr>
                  </a:pPr>
                  <a:r>
                    <a:t>- Small canine in males</a:t>
                  </a:r>
                </a:p>
              </p:txBody>
            </p:sp>
          </p:grpSp>
          <p:grpSp>
            <p:nvGrpSpPr>
              <p:cNvPr id="1100" name="Group 1100"/>
              <p:cNvGrpSpPr/>
              <p:nvPr/>
            </p:nvGrpSpPr>
            <p:grpSpPr>
              <a:xfrm>
                <a:off x="7740634" y="25400"/>
                <a:ext cx="3997341" cy="2095500"/>
                <a:chOff x="0" y="0"/>
                <a:chExt cx="3997340" cy="2095500"/>
              </a:xfrm>
            </p:grpSpPr>
            <p:sp>
              <p:nvSpPr>
                <p:cNvPr id="1098" name="Shape 1098"/>
                <p:cNvSpPr/>
                <p:nvPr/>
              </p:nvSpPr>
              <p:spPr>
                <a:xfrm>
                  <a:off x="0" y="0"/>
                  <a:ext cx="3975100" cy="2095500"/>
                </a:xfrm>
                <a:prstGeom prst="rect">
                  <a:avLst/>
                </a:prstGeom>
                <a:solidFill>
                  <a:srgbClr val="CAF0FE"/>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099" name="Shape 1099"/>
                <p:cNvSpPr/>
                <p:nvPr/>
              </p:nvSpPr>
              <p:spPr>
                <a:xfrm>
                  <a:off x="117682" y="116293"/>
                  <a:ext cx="3879659" cy="188654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noAutofit/>
                </a:bodyPr>
                <a:lstStyle/>
                <a:p>
                  <a:pPr marL="0">
                    <a:lnSpc>
                      <a:spcPts val="2100"/>
                    </a:lnSpc>
                    <a:spcBef>
                      <a:spcPts val="500"/>
                    </a:spcBef>
                    <a:tabLst>
                      <a:tab pos="1485900" algn="l"/>
                    </a:tabLst>
                    <a:defRPr b="1" i="1">
                      <a:solidFill>
                        <a:srgbClr val="000000"/>
                      </a:solidFill>
                    </a:defRPr>
                  </a:pPr>
                  <a:r>
                    <a:t>Homo</a:t>
                  </a:r>
                </a:p>
                <a:p>
                  <a:pPr marL="0">
                    <a:lnSpc>
                      <a:spcPts val="2500"/>
                    </a:lnSpc>
                    <a:tabLst>
                      <a:tab pos="1485900" algn="l"/>
                    </a:tabLst>
                    <a:defRPr>
                      <a:solidFill>
                        <a:srgbClr val="000000"/>
                      </a:solidFill>
                    </a:defRPr>
                  </a:pPr>
                  <a:r>
                    <a:t>- Habitual upright walker/biped</a:t>
                  </a:r>
                </a:p>
                <a:p>
                  <a:pPr marL="0">
                    <a:lnSpc>
                      <a:spcPts val="2500"/>
                    </a:lnSpc>
                    <a:tabLst>
                      <a:tab pos="1485900" algn="l"/>
                    </a:tabLst>
                    <a:defRPr>
                      <a:solidFill>
                        <a:srgbClr val="000000"/>
                      </a:solidFill>
                    </a:defRPr>
                  </a:pPr>
                  <a:r>
                    <a:t>- ‘S’ shaped flexible lower back</a:t>
                  </a:r>
                </a:p>
                <a:p>
                  <a:pPr marL="0">
                    <a:lnSpc>
                      <a:spcPts val="2500"/>
                    </a:lnSpc>
                    <a:tabLst>
                      <a:tab pos="1485900" algn="l"/>
                    </a:tabLst>
                    <a:defRPr>
                      <a:solidFill>
                        <a:srgbClr val="000000"/>
                      </a:solidFill>
                    </a:defRPr>
                  </a:pPr>
                  <a:r>
                    <a:t>- Multiple environment omnivore</a:t>
                  </a:r>
                </a:p>
                <a:p>
                  <a:pPr marL="0">
                    <a:lnSpc>
                      <a:spcPts val="2500"/>
                    </a:lnSpc>
                    <a:tabLst>
                      <a:tab pos="1485900" algn="l"/>
                    </a:tabLst>
                    <a:defRPr>
                      <a:solidFill>
                        <a:srgbClr val="000000"/>
                      </a:solidFill>
                    </a:defRPr>
                  </a:pPr>
                  <a:r>
                    <a:t>- Similar size in males and females</a:t>
                  </a:r>
                </a:p>
                <a:p>
                  <a:pPr marL="0">
                    <a:lnSpc>
                      <a:spcPts val="2500"/>
                    </a:lnSpc>
                    <a:tabLst>
                      <a:tab pos="1485900" algn="l"/>
                    </a:tabLst>
                    <a:defRPr>
                      <a:solidFill>
                        <a:srgbClr val="000000"/>
                      </a:solidFill>
                    </a:defRPr>
                  </a:pPr>
                  <a:r>
                    <a:t>- Small canines in males and females</a:t>
                  </a:r>
                </a:p>
              </p:txBody>
            </p:sp>
          </p:grpSp>
          <p:sp>
            <p:nvSpPr>
              <p:cNvPr id="1101" name="Shape 1101"/>
              <p:cNvSpPr/>
              <p:nvPr/>
            </p:nvSpPr>
            <p:spPr>
              <a:xfrm>
                <a:off x="4540250" y="4597400"/>
                <a:ext cx="660400" cy="660400"/>
              </a:xfrm>
              <a:prstGeom prst="ellipse">
                <a:avLst/>
              </a:prstGeom>
              <a:noFill/>
              <a:ln w="50800" cap="flat">
                <a:solidFill>
                  <a:srgbClr val="FF26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102" name="Shape 1102"/>
              <p:cNvSpPr/>
              <p:nvPr/>
            </p:nvSpPr>
            <p:spPr>
              <a:xfrm>
                <a:off x="3810000" y="5130800"/>
                <a:ext cx="736600" cy="360822"/>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50800" tIns="50800" rIns="50800" bIns="50800" numCol="1" anchor="t">
                <a:spAutoFit/>
              </a:bodyPr>
              <a:lstStyle>
                <a:lvl1pPr marL="0">
                  <a:lnSpc>
                    <a:spcPts val="2500"/>
                  </a:lnSpc>
                  <a:spcBef>
                    <a:spcPts val="1500"/>
                  </a:spcBef>
                  <a:tabLst>
                    <a:tab pos="1485900" algn="l"/>
                  </a:tabLst>
                  <a:defRPr b="1">
                    <a:solidFill>
                      <a:srgbClr val="000000"/>
                    </a:solidFill>
                  </a:defRPr>
                </a:lvl1pPr>
              </a:lstStyle>
              <a:p>
                <a:r>
                  <a:t>CLCA</a:t>
                </a:r>
              </a:p>
            </p:txBody>
          </p:sp>
        </p:grpSp>
        <p:pic>
          <p:nvPicPr>
            <p:cNvPr id="1104" name="Chimpanzee skull.png"/>
            <p:cNvPicPr>
              <a:picLocks noChangeAspect="1"/>
            </p:cNvPicPr>
            <p:nvPr/>
          </p:nvPicPr>
          <p:blipFill>
            <a:blip r:embed="rId3">
              <a:extLst/>
            </a:blip>
            <a:stretch>
              <a:fillRect/>
            </a:stretch>
          </p:blipFill>
          <p:spPr>
            <a:xfrm>
              <a:off x="3295650" y="149342"/>
              <a:ext cx="1511300" cy="1819158"/>
            </a:xfrm>
            <a:prstGeom prst="rect">
              <a:avLst/>
            </a:prstGeom>
            <a:ln w="12700" cap="flat">
              <a:noFill/>
              <a:miter lim="400000"/>
            </a:ln>
            <a:effectLst>
              <a:outerShdw blurRad="190500" dist="190500" dir="2700000" rotWithShape="0">
                <a:srgbClr val="000000">
                  <a:alpha val="50000"/>
                </a:srgbClr>
              </a:outerShdw>
            </a:effectLst>
          </p:spPr>
        </p:pic>
        <p:pic>
          <p:nvPicPr>
            <p:cNvPr id="1105" name="Human skull side GS CC.png"/>
            <p:cNvPicPr>
              <a:picLocks noChangeAspect="1"/>
            </p:cNvPicPr>
            <p:nvPr/>
          </p:nvPicPr>
          <p:blipFill>
            <a:blip r:embed="rId4">
              <a:extLst/>
            </a:blip>
            <a:stretch>
              <a:fillRect/>
            </a:stretch>
          </p:blipFill>
          <p:spPr>
            <a:xfrm flipH="1">
              <a:off x="11004550" y="5809"/>
              <a:ext cx="1579298" cy="1612901"/>
            </a:xfrm>
            <a:prstGeom prst="rect">
              <a:avLst/>
            </a:prstGeom>
            <a:ln w="12700" cap="flat">
              <a:noFill/>
              <a:miter lim="400000"/>
            </a:ln>
            <a:effectLst>
              <a:outerShdw blurRad="190500" dist="190500" dir="2700000" rotWithShape="0">
                <a:srgbClr val="000000">
                  <a:alpha val="50000"/>
                </a:srgbClr>
              </a:outerShdw>
            </a:effectLst>
          </p:spPr>
        </p:pic>
        <p:pic>
          <p:nvPicPr>
            <p:cNvPr id="1106" name="Ardi-sideview.tiff"/>
            <p:cNvPicPr>
              <a:picLocks noChangeAspect="1"/>
            </p:cNvPicPr>
            <p:nvPr/>
          </p:nvPicPr>
          <p:blipFill>
            <a:blip r:embed="rId5">
              <a:extLst/>
            </a:blip>
            <a:stretch>
              <a:fillRect/>
            </a:stretch>
          </p:blipFill>
          <p:spPr>
            <a:xfrm>
              <a:off x="6254750" y="1738123"/>
              <a:ext cx="1816309" cy="1219201"/>
            </a:xfrm>
            <a:prstGeom prst="rect">
              <a:avLst/>
            </a:prstGeom>
            <a:ln w="12700" cap="flat">
              <a:noFill/>
              <a:miter lim="400000"/>
            </a:ln>
            <a:effectLst>
              <a:outerShdw blurRad="190500" dist="190500" dir="2700000" rotWithShape="0">
                <a:srgbClr val="000000">
                  <a:alpha val="50000"/>
                </a:srgbClr>
              </a:outerShdw>
            </a:effectLst>
          </p:spPr>
        </p:pic>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7" grpId="1" animBg="1" advAuto="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031" name="Shape 1031"/>
          <p:cNvSpPr>
            <a:spLocks noGrp="1"/>
          </p:cNvSpPr>
          <p:nvPr>
            <p:ph type="title"/>
          </p:nvPr>
        </p:nvSpPr>
        <p:spPr>
          <a:prstGeom prst="rect">
            <a:avLst/>
          </a:prstGeom>
        </p:spPr>
        <p:txBody>
          <a:bodyPr/>
          <a:lstStyle>
            <a:lvl1pPr>
              <a:tabLst>
                <a:tab pos="952500" algn="l"/>
              </a:tabLst>
            </a:lvl1pPr>
          </a:lstStyle>
          <a:p>
            <a:r>
              <a:t>Ardi’s Skull</a:t>
            </a:r>
          </a:p>
        </p:txBody>
      </p:sp>
      <p:sp>
        <p:nvSpPr>
          <p:cNvPr id="1032" name="Shape 1032"/>
          <p:cNvSpPr>
            <a:spLocks noGrp="1"/>
          </p:cNvSpPr>
          <p:nvPr>
            <p:ph type="body" sz="quarter" idx="1"/>
          </p:nvPr>
        </p:nvSpPr>
        <p:spPr>
          <a:xfrm>
            <a:off x="368300" y="1790700"/>
            <a:ext cx="5956300" cy="3920629"/>
          </a:xfrm>
          <a:prstGeom prst="rect">
            <a:avLst/>
          </a:prstGeom>
        </p:spPr>
        <p:txBody>
          <a:bodyPr/>
          <a:lstStyle/>
          <a:p>
            <a:pPr>
              <a:tabLst>
                <a:tab pos="1016000" algn="l"/>
              </a:tabLst>
            </a:pPr>
            <a:r>
              <a:t>The skull of </a:t>
            </a:r>
            <a:r>
              <a:rPr i="1"/>
              <a:t>Ar. ramidus</a:t>
            </a:r>
            <a:r>
              <a:t> shares certain features with </a:t>
            </a:r>
            <a:r>
              <a:rPr i="1"/>
              <a:t>Australopithecus</a:t>
            </a:r>
            <a:r>
              <a:t>.</a:t>
            </a:r>
          </a:p>
          <a:p>
            <a:pPr lvl="1">
              <a:tabLst>
                <a:tab pos="1485900" algn="l"/>
              </a:tabLst>
            </a:pPr>
            <a:r>
              <a:t>There is a reduction of the canine teeth in male and females.</a:t>
            </a:r>
          </a:p>
          <a:p>
            <a:pPr lvl="2">
              <a:tabLst>
                <a:tab pos="1638300" algn="l"/>
              </a:tabLst>
            </a:pPr>
            <a:r>
              <a:t>This implies a reduction in aggression </a:t>
            </a:r>
            <a:br/>
            <a:r>
              <a:t>between males.</a:t>
            </a:r>
          </a:p>
          <a:p>
            <a:pPr lvl="1">
              <a:tabLst>
                <a:tab pos="1485900" algn="l"/>
              </a:tabLst>
            </a:pPr>
            <a:r>
              <a:t>The orientation of the base of the skull on which the brain stem rests suggests that the parts of the brain involved in visual and spatial perception were already beginning to develop.</a:t>
            </a:r>
          </a:p>
        </p:txBody>
      </p:sp>
      <p:pic>
        <p:nvPicPr>
          <p:cNvPr id="1033" name="Ardi-frontview.tiff"/>
          <p:cNvPicPr>
            <a:picLocks noChangeAspect="1"/>
          </p:cNvPicPr>
          <p:nvPr/>
        </p:nvPicPr>
        <p:blipFill>
          <a:blip r:embed="rId3">
            <a:extLst/>
          </a:blip>
          <a:stretch>
            <a:fillRect/>
          </a:stretch>
        </p:blipFill>
        <p:spPr>
          <a:xfrm>
            <a:off x="7531251" y="1085850"/>
            <a:ext cx="4090470" cy="3556000"/>
          </a:xfrm>
          <a:prstGeom prst="rect">
            <a:avLst/>
          </a:prstGeom>
          <a:ln w="12700">
            <a:miter lim="400000"/>
          </a:ln>
        </p:spPr>
      </p:pic>
      <p:pic>
        <p:nvPicPr>
          <p:cNvPr id="1034" name="Ardi-sideview.tiff"/>
          <p:cNvPicPr>
            <a:picLocks noChangeAspect="1"/>
          </p:cNvPicPr>
          <p:nvPr/>
        </p:nvPicPr>
        <p:blipFill>
          <a:blip r:embed="rId4">
            <a:extLst/>
          </a:blip>
          <a:stretch>
            <a:fillRect/>
          </a:stretch>
        </p:blipFill>
        <p:spPr>
          <a:xfrm>
            <a:off x="6451600" y="5599884"/>
            <a:ext cx="5562600" cy="3733906"/>
          </a:xfrm>
          <a:prstGeom prst="rect">
            <a:avLst/>
          </a:prstGeom>
          <a:ln w="12700">
            <a:miter lim="400000"/>
          </a:ln>
        </p:spPr>
      </p:pic>
      <p:sp>
        <p:nvSpPr>
          <p:cNvPr id="1035" name="Shape 1035"/>
          <p:cNvSpPr/>
          <p:nvPr/>
        </p:nvSpPr>
        <p:spPr>
          <a:xfrm>
            <a:off x="10922000" y="5829300"/>
            <a:ext cx="1231900" cy="2592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100"/>
              </a:lnSpc>
              <a:tabLst>
                <a:tab pos="520700" algn="l"/>
              </a:tabLst>
              <a:defRPr>
                <a:solidFill>
                  <a:srgbClr val="006795"/>
                </a:solidFill>
              </a:defRPr>
            </a:lvl1pPr>
          </a:lstStyle>
          <a:p>
            <a:r>
              <a:t>Brow ridge</a:t>
            </a:r>
          </a:p>
        </p:txBody>
      </p:sp>
      <p:sp>
        <p:nvSpPr>
          <p:cNvPr id="1036" name="Shape 1036"/>
          <p:cNvSpPr/>
          <p:nvPr/>
        </p:nvSpPr>
        <p:spPr>
          <a:xfrm>
            <a:off x="11252200" y="7188200"/>
            <a:ext cx="1231900" cy="5259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100"/>
              </a:lnSpc>
              <a:tabLst>
                <a:tab pos="520700" algn="l"/>
              </a:tabLst>
              <a:defRPr>
                <a:solidFill>
                  <a:srgbClr val="006795"/>
                </a:solidFill>
              </a:defRPr>
            </a:lvl1pPr>
          </a:lstStyle>
          <a:p>
            <a:r>
              <a:t>Prognathic muzzle</a:t>
            </a:r>
          </a:p>
        </p:txBody>
      </p:sp>
      <p:sp>
        <p:nvSpPr>
          <p:cNvPr id="1037" name="Shape 1037"/>
          <p:cNvSpPr/>
          <p:nvPr/>
        </p:nvSpPr>
        <p:spPr>
          <a:xfrm>
            <a:off x="10452100" y="4965700"/>
            <a:ext cx="1511300" cy="5259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100"/>
              </a:lnSpc>
              <a:tabLst>
                <a:tab pos="520700" algn="l"/>
              </a:tabLst>
              <a:defRPr>
                <a:solidFill>
                  <a:srgbClr val="006795"/>
                </a:solidFill>
              </a:defRPr>
            </a:lvl1pPr>
          </a:lstStyle>
          <a:p>
            <a:r>
              <a:t>Reduced canine teeth</a:t>
            </a:r>
          </a:p>
        </p:txBody>
      </p:sp>
      <p:sp>
        <p:nvSpPr>
          <p:cNvPr id="1038" name="Shape 1038"/>
          <p:cNvSpPr/>
          <p:nvPr/>
        </p:nvSpPr>
        <p:spPr>
          <a:xfrm>
            <a:off x="11445240" y="3408679"/>
            <a:ext cx="353061" cy="591821"/>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039" name="Shape 1039"/>
          <p:cNvSpPr/>
          <p:nvPr/>
        </p:nvSpPr>
        <p:spPr>
          <a:xfrm>
            <a:off x="11061700" y="4064000"/>
            <a:ext cx="1739900" cy="5259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100"/>
              </a:lnSpc>
              <a:tabLst>
                <a:tab pos="520700" algn="l"/>
              </a:tabLst>
              <a:defRPr>
                <a:solidFill>
                  <a:srgbClr val="006795"/>
                </a:solidFill>
              </a:defRPr>
            </a:lvl1pPr>
          </a:lstStyle>
          <a:p>
            <a:r>
              <a:t>Relatively small cheek bones</a:t>
            </a:r>
          </a:p>
        </p:txBody>
      </p:sp>
      <p:sp>
        <p:nvSpPr>
          <p:cNvPr id="1040" name="Shape 1040"/>
          <p:cNvSpPr/>
          <p:nvPr/>
        </p:nvSpPr>
        <p:spPr>
          <a:xfrm>
            <a:off x="10332719" y="4460240"/>
            <a:ext cx="609601" cy="426720"/>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041" name="Shape 1041"/>
          <p:cNvSpPr/>
          <p:nvPr/>
        </p:nvSpPr>
        <p:spPr>
          <a:xfrm flipV="1">
            <a:off x="10510519" y="5991859"/>
            <a:ext cx="482601" cy="637542"/>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042" name="Shape 1042"/>
          <p:cNvSpPr/>
          <p:nvPr/>
        </p:nvSpPr>
        <p:spPr>
          <a:xfrm rot="2700000">
            <a:off x="10658477" y="7890521"/>
            <a:ext cx="1587501" cy="139701"/>
          </a:xfrm>
          <a:custGeom>
            <a:avLst/>
            <a:gdLst/>
            <a:ahLst/>
            <a:cxnLst>
              <a:cxn ang="0">
                <a:pos x="wd2" y="hd2"/>
              </a:cxn>
              <a:cxn ang="5400000">
                <a:pos x="wd2" y="hd2"/>
              </a:cxn>
              <a:cxn ang="10800000">
                <a:pos x="wd2" y="hd2"/>
              </a:cxn>
              <a:cxn ang="16200000">
                <a:pos x="wd2" y="hd2"/>
              </a:cxn>
            </a:cxnLst>
            <a:rect l="0" t="0" r="r" b="b"/>
            <a:pathLst>
              <a:path w="21600" h="21600" extrusionOk="0">
                <a:moveTo>
                  <a:pt x="0" y="20807"/>
                </a:moveTo>
                <a:lnTo>
                  <a:pt x="0" y="0"/>
                </a:lnTo>
                <a:lnTo>
                  <a:pt x="21600" y="0"/>
                </a:lnTo>
                <a:lnTo>
                  <a:pt x="21600" y="21600"/>
                </a:lnTo>
              </a:path>
            </a:pathLst>
          </a:custGeom>
          <a:ln w="25400">
            <a:solidFill>
              <a:srgbClr val="006795"/>
            </a:solidFill>
            <a:miter lim="400000"/>
          </a:ln>
        </p:spPr>
        <p:txBody>
          <a:bodyPr lIns="50800" tIns="50800" rIns="50800" bIns="50800"/>
          <a:lstStyle/>
          <a:p>
            <a:pPr>
              <a:lnSpc>
                <a:spcPts val="3300"/>
              </a:lnSpc>
              <a:tabLst>
                <a:tab pos="520700" algn="l"/>
              </a:tabLst>
              <a:defRPr sz="2800">
                <a:solidFill>
                  <a:srgbClr val="483F36"/>
                </a:solidFill>
                <a:latin typeface="Hoefler Text"/>
                <a:ea typeface="Hoefler Text"/>
                <a:cs typeface="Hoefler Text"/>
                <a:sym typeface="Hoefler Text"/>
              </a:defRPr>
            </a:pPr>
            <a:endParaRPr/>
          </a:p>
        </p:txBody>
      </p:sp>
      <p:sp>
        <p:nvSpPr>
          <p:cNvPr id="1043" name="Shape 1043"/>
          <p:cNvSpPr/>
          <p:nvPr/>
        </p:nvSpPr>
        <p:spPr>
          <a:xfrm>
            <a:off x="7823200" y="9385300"/>
            <a:ext cx="2565400" cy="2794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1200"/>
              </a:lnSpc>
              <a:tabLst>
                <a:tab pos="520700" algn="l"/>
              </a:tabLst>
              <a:defRPr sz="1000">
                <a:solidFill>
                  <a:srgbClr val="483F36"/>
                </a:solidFill>
              </a:defRPr>
            </a:lvl1pPr>
          </a:lstStyle>
          <a:p>
            <a:r>
              <a:t>Diagrams redrawn from C. Owen Lovejoy, et al, Science Vol 329 2009</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032">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03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03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03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03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2" grpId="1" build="p" bldLvl="5" animBg="1" advAuto="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5" name="Shape 1045"/>
          <p:cNvSpPr>
            <a:spLocks noGrp="1"/>
          </p:cNvSpPr>
          <p:nvPr>
            <p:ph type="title"/>
          </p:nvPr>
        </p:nvSpPr>
        <p:spPr>
          <a:prstGeom prst="rect">
            <a:avLst/>
          </a:prstGeom>
        </p:spPr>
        <p:txBody>
          <a:bodyPr/>
          <a:lstStyle>
            <a:lvl1pPr>
              <a:tabLst>
                <a:tab pos="952500" algn="l"/>
              </a:tabLst>
            </a:lvl1pPr>
          </a:lstStyle>
          <a:p>
            <a:r>
              <a:t>Ardi’s Hand</a:t>
            </a:r>
          </a:p>
        </p:txBody>
      </p:sp>
      <p:sp>
        <p:nvSpPr>
          <p:cNvPr id="1046" name="Shape 1046"/>
          <p:cNvSpPr>
            <a:spLocks noGrp="1"/>
          </p:cNvSpPr>
          <p:nvPr>
            <p:ph type="body" sz="quarter" idx="1"/>
          </p:nvPr>
        </p:nvSpPr>
        <p:spPr>
          <a:xfrm>
            <a:off x="368300" y="1790700"/>
            <a:ext cx="5956300" cy="3535363"/>
          </a:xfrm>
          <a:prstGeom prst="rect">
            <a:avLst/>
          </a:prstGeom>
        </p:spPr>
        <p:txBody>
          <a:bodyPr/>
          <a:lstStyle/>
          <a:p>
            <a:pPr>
              <a:tabLst>
                <a:tab pos="1016000" algn="l"/>
              </a:tabLst>
            </a:pPr>
            <a:r>
              <a:t>Analysis of the hand of </a:t>
            </a:r>
            <a:r>
              <a:rPr i="1"/>
              <a:t>Ar. ramidus</a:t>
            </a:r>
            <a:r>
              <a:t> shows that it is similar to our own.</a:t>
            </a:r>
          </a:p>
          <a:p>
            <a:pPr lvl="1">
              <a:tabLst>
                <a:tab pos="1485900" algn="l"/>
              </a:tabLst>
            </a:pPr>
            <a:r>
              <a:t>This means human hands are closer to the primitive form (i.e. to the last common ancestor of apes and humans) than once thought, and that the knuckle walking hand of chimpanzees and gorillas is the modified form.</a:t>
            </a:r>
          </a:p>
          <a:p>
            <a:pPr lvl="1">
              <a:tabLst>
                <a:tab pos="1485900" algn="l"/>
              </a:tabLst>
            </a:pPr>
            <a:r>
              <a:rPr i="1"/>
              <a:t>Ar. ramidus</a:t>
            </a:r>
            <a:r>
              <a:t> had a flexible wrist and well developed opposable thumb.</a:t>
            </a:r>
          </a:p>
        </p:txBody>
      </p:sp>
      <p:sp>
        <p:nvSpPr>
          <p:cNvPr id="1047" name="Shape 1047"/>
          <p:cNvSpPr/>
          <p:nvPr/>
        </p:nvSpPr>
        <p:spPr>
          <a:xfrm>
            <a:off x="9309100" y="9372600"/>
            <a:ext cx="2565400" cy="2794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1200"/>
              </a:lnSpc>
              <a:tabLst>
                <a:tab pos="520700" algn="l"/>
              </a:tabLst>
              <a:defRPr sz="1000">
                <a:solidFill>
                  <a:srgbClr val="483F36"/>
                </a:solidFill>
              </a:defRPr>
            </a:lvl1pPr>
          </a:lstStyle>
          <a:p>
            <a:r>
              <a:t>Diagrams redrawn from C. Owen Lovejoy, et al, Science Vol 329 2009</a:t>
            </a:r>
          </a:p>
        </p:txBody>
      </p:sp>
      <p:pic>
        <p:nvPicPr>
          <p:cNvPr id="1048" name="Ardipithecus_Hand.png"/>
          <p:cNvPicPr>
            <a:picLocks noChangeAspect="1"/>
          </p:cNvPicPr>
          <p:nvPr/>
        </p:nvPicPr>
        <p:blipFill>
          <a:blip r:embed="rId2">
            <a:extLst/>
          </a:blip>
          <a:stretch>
            <a:fillRect/>
          </a:stretch>
        </p:blipFill>
        <p:spPr>
          <a:xfrm>
            <a:off x="7057126" y="1028700"/>
            <a:ext cx="5058674" cy="7480300"/>
          </a:xfrm>
          <a:prstGeom prst="rect">
            <a:avLst/>
          </a:prstGeom>
          <a:ln w="12700">
            <a:miter lim="400000"/>
          </a:ln>
        </p:spPr>
      </p:pic>
      <p:sp>
        <p:nvSpPr>
          <p:cNvPr id="1049" name="Shape 1049"/>
          <p:cNvSpPr/>
          <p:nvPr/>
        </p:nvSpPr>
        <p:spPr>
          <a:xfrm>
            <a:off x="11226800" y="3289300"/>
            <a:ext cx="1511300" cy="5259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gn="ctr">
              <a:lnSpc>
                <a:spcPts val="2100"/>
              </a:lnSpc>
              <a:tabLst>
                <a:tab pos="520700" algn="l"/>
              </a:tabLst>
              <a:defRPr>
                <a:solidFill>
                  <a:srgbClr val="006795"/>
                </a:solidFill>
              </a:defRPr>
            </a:lvl1pPr>
          </a:lstStyle>
          <a:p>
            <a:r>
              <a:t>Short metacarpals</a:t>
            </a:r>
          </a:p>
        </p:txBody>
      </p:sp>
      <p:sp>
        <p:nvSpPr>
          <p:cNvPr id="1050" name="Shape 1050"/>
          <p:cNvSpPr/>
          <p:nvPr/>
        </p:nvSpPr>
        <p:spPr>
          <a:xfrm flipH="1">
            <a:off x="8392159" y="7482840"/>
            <a:ext cx="1318261" cy="523241"/>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051" name="Shape 1051"/>
          <p:cNvSpPr/>
          <p:nvPr/>
        </p:nvSpPr>
        <p:spPr>
          <a:xfrm>
            <a:off x="6311900" y="6692900"/>
            <a:ext cx="2070100" cy="7926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gn="ctr">
              <a:lnSpc>
                <a:spcPts val="2100"/>
              </a:lnSpc>
              <a:tabLst>
                <a:tab pos="520700" algn="l"/>
              </a:tabLst>
              <a:defRPr>
                <a:solidFill>
                  <a:srgbClr val="006795"/>
                </a:solidFill>
              </a:defRPr>
            </a:lvl1pPr>
          </a:lstStyle>
          <a:p>
            <a:r>
              <a:t>Lack of strengthened knuckles</a:t>
            </a:r>
          </a:p>
        </p:txBody>
      </p:sp>
      <p:sp>
        <p:nvSpPr>
          <p:cNvPr id="1052" name="Shape 1052"/>
          <p:cNvSpPr/>
          <p:nvPr/>
        </p:nvSpPr>
        <p:spPr>
          <a:xfrm>
            <a:off x="11049000" y="7302500"/>
            <a:ext cx="1816100" cy="5259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gn="ctr">
              <a:lnSpc>
                <a:spcPts val="2100"/>
              </a:lnSpc>
              <a:tabLst>
                <a:tab pos="520700" algn="l"/>
              </a:tabLst>
              <a:defRPr>
                <a:solidFill>
                  <a:srgbClr val="006795"/>
                </a:solidFill>
              </a:defRPr>
            </a:lvl1pPr>
          </a:lstStyle>
          <a:p>
            <a:r>
              <a:t>Well developed thumb</a:t>
            </a:r>
          </a:p>
        </p:txBody>
      </p:sp>
      <p:sp>
        <p:nvSpPr>
          <p:cNvPr id="1053" name="Shape 1053"/>
          <p:cNvSpPr/>
          <p:nvPr/>
        </p:nvSpPr>
        <p:spPr>
          <a:xfrm>
            <a:off x="6896100" y="7886700"/>
            <a:ext cx="1473200" cy="5259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gn="ctr">
              <a:lnSpc>
                <a:spcPts val="2100"/>
              </a:lnSpc>
              <a:tabLst>
                <a:tab pos="520700" algn="l"/>
              </a:tabLst>
              <a:defRPr>
                <a:solidFill>
                  <a:srgbClr val="006795"/>
                </a:solidFill>
              </a:defRPr>
            </a:lvl1pPr>
          </a:lstStyle>
          <a:p>
            <a:r>
              <a:t>Short flexible palm</a:t>
            </a:r>
          </a:p>
        </p:txBody>
      </p:sp>
      <p:sp>
        <p:nvSpPr>
          <p:cNvPr id="1054" name="Shape 1054"/>
          <p:cNvSpPr/>
          <p:nvPr/>
        </p:nvSpPr>
        <p:spPr>
          <a:xfrm>
            <a:off x="8547100" y="8585200"/>
            <a:ext cx="3556000" cy="5259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algn="ctr">
              <a:lnSpc>
                <a:spcPts val="2100"/>
              </a:lnSpc>
              <a:tabLst>
                <a:tab pos="520700" algn="l"/>
              </a:tabLst>
              <a:defRPr b="1">
                <a:solidFill>
                  <a:srgbClr val="006795"/>
                </a:solidFill>
              </a:defRPr>
            </a:pPr>
            <a:r>
              <a:t>Primitive hand features shared by </a:t>
            </a:r>
            <a:r>
              <a:rPr i="1"/>
              <a:t>Ardipithecus</a:t>
            </a:r>
            <a:r>
              <a:t> and </a:t>
            </a:r>
            <a:r>
              <a:rPr i="1"/>
              <a:t>Homo</a:t>
            </a:r>
          </a:p>
        </p:txBody>
      </p:sp>
      <p:sp>
        <p:nvSpPr>
          <p:cNvPr id="1055" name="Shape 1055"/>
          <p:cNvSpPr/>
          <p:nvPr/>
        </p:nvSpPr>
        <p:spPr>
          <a:xfrm flipH="1">
            <a:off x="7406640" y="4653279"/>
            <a:ext cx="345441" cy="1981202"/>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056" name="Shape 1056"/>
          <p:cNvSpPr/>
          <p:nvPr/>
        </p:nvSpPr>
        <p:spPr>
          <a:xfrm>
            <a:off x="11765280" y="6055359"/>
            <a:ext cx="238761" cy="1239522"/>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057" name="Shape 1057"/>
          <p:cNvSpPr/>
          <p:nvPr/>
        </p:nvSpPr>
        <p:spPr>
          <a:xfrm flipV="1">
            <a:off x="10769600" y="3510280"/>
            <a:ext cx="878840" cy="289561"/>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046">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04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04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04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6" grpId="1" build="p" bldLvl="5" animBg="1" advAuto="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 name="Shape 1059"/>
          <p:cNvSpPr>
            <a:spLocks noGrp="1"/>
          </p:cNvSpPr>
          <p:nvPr>
            <p:ph type="title"/>
          </p:nvPr>
        </p:nvSpPr>
        <p:spPr>
          <a:prstGeom prst="rect">
            <a:avLst/>
          </a:prstGeom>
        </p:spPr>
        <p:txBody>
          <a:bodyPr/>
          <a:lstStyle>
            <a:lvl1pPr>
              <a:tabLst>
                <a:tab pos="952500" algn="l"/>
              </a:tabLst>
            </a:lvl1pPr>
          </a:lstStyle>
          <a:p>
            <a:r>
              <a:t>Ardi’s Pelvis</a:t>
            </a:r>
          </a:p>
        </p:txBody>
      </p:sp>
      <p:sp>
        <p:nvSpPr>
          <p:cNvPr id="1060" name="Shape 1060"/>
          <p:cNvSpPr>
            <a:spLocks noGrp="1"/>
          </p:cNvSpPr>
          <p:nvPr>
            <p:ph type="body" sz="half" idx="1"/>
          </p:nvPr>
        </p:nvSpPr>
        <p:spPr>
          <a:xfrm>
            <a:off x="368300" y="1790700"/>
            <a:ext cx="5956300" cy="5391647"/>
          </a:xfrm>
          <a:prstGeom prst="rect">
            <a:avLst/>
          </a:prstGeom>
        </p:spPr>
        <p:txBody>
          <a:bodyPr/>
          <a:lstStyle/>
          <a:p>
            <a:pPr>
              <a:tabLst>
                <a:tab pos="1016000" algn="l"/>
              </a:tabLst>
            </a:pPr>
            <a:r>
              <a:t>The pelvis of </a:t>
            </a:r>
            <a:r>
              <a:rPr i="1"/>
              <a:t>Ar. ramidus</a:t>
            </a:r>
            <a:r>
              <a:t> indicates that the modern pelvis, adapted for bipedal locomotion, began its evolution in the trees.</a:t>
            </a:r>
          </a:p>
          <a:p>
            <a:pPr lvl="1">
              <a:tabLst>
                <a:tab pos="1485900" algn="l"/>
              </a:tabLst>
            </a:pPr>
            <a:r>
              <a:t>Several features of the upper pelvis (short and broad ilium) indicate bipedalism.</a:t>
            </a:r>
          </a:p>
          <a:p>
            <a:pPr lvl="1">
              <a:tabLst>
                <a:tab pos="1485900" algn="l"/>
              </a:tabLst>
            </a:pPr>
            <a:r>
              <a:t>However, several other features in the lower pelvis show that there were well developed tree climbing muscles.</a:t>
            </a:r>
          </a:p>
          <a:p>
            <a:pPr>
              <a:tabLst>
                <a:tab pos="1016000" algn="l"/>
              </a:tabLst>
            </a:pPr>
            <a:r>
              <a:rPr i="1"/>
              <a:t>Ar. ramidus </a:t>
            </a:r>
            <a:r>
              <a:t>exploited both the arboreal and terrestrial environment. A suite of adaptations must have been important in reproductive success.</a:t>
            </a:r>
          </a:p>
        </p:txBody>
      </p:sp>
      <p:sp>
        <p:nvSpPr>
          <p:cNvPr id="1061" name="Shape 1061"/>
          <p:cNvSpPr/>
          <p:nvPr/>
        </p:nvSpPr>
        <p:spPr>
          <a:xfrm>
            <a:off x="7696200" y="8458200"/>
            <a:ext cx="2565400" cy="2794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1200"/>
              </a:lnSpc>
              <a:tabLst>
                <a:tab pos="520700" algn="l"/>
              </a:tabLst>
              <a:defRPr sz="1000">
                <a:solidFill>
                  <a:srgbClr val="483F36"/>
                </a:solidFill>
              </a:defRPr>
            </a:lvl1pPr>
          </a:lstStyle>
          <a:p>
            <a:r>
              <a:t>Diagrams redrawn from C. Owen Lovejoy, et al, Science Vol 329 2009</a:t>
            </a:r>
          </a:p>
        </p:txBody>
      </p:sp>
      <p:pic>
        <p:nvPicPr>
          <p:cNvPr id="1062" name="Ardipithecus_Bone.png"/>
          <p:cNvPicPr>
            <a:picLocks noChangeAspect="1"/>
          </p:cNvPicPr>
          <p:nvPr/>
        </p:nvPicPr>
        <p:blipFill>
          <a:blip r:embed="rId2">
            <a:extLst/>
          </a:blip>
          <a:stretch>
            <a:fillRect/>
          </a:stretch>
        </p:blipFill>
        <p:spPr>
          <a:xfrm>
            <a:off x="7759700" y="1355065"/>
            <a:ext cx="3517900" cy="6632415"/>
          </a:xfrm>
          <a:prstGeom prst="rect">
            <a:avLst/>
          </a:prstGeom>
          <a:ln w="12700">
            <a:miter lim="400000"/>
          </a:ln>
        </p:spPr>
      </p:pic>
      <p:sp>
        <p:nvSpPr>
          <p:cNvPr id="1063" name="Shape 1063"/>
          <p:cNvSpPr/>
          <p:nvPr/>
        </p:nvSpPr>
        <p:spPr>
          <a:xfrm>
            <a:off x="10998200" y="4076700"/>
            <a:ext cx="1739900" cy="15927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a:lnSpc>
                <a:spcPts val="2100"/>
              </a:lnSpc>
              <a:tabLst>
                <a:tab pos="520700" algn="l"/>
              </a:tabLst>
              <a:defRPr>
                <a:solidFill>
                  <a:srgbClr val="006795"/>
                </a:solidFill>
              </a:defRPr>
            </a:pPr>
            <a:r>
              <a:t>Features associated with bipedalism that are shared by </a:t>
            </a:r>
            <a:r>
              <a:rPr i="1"/>
              <a:t>Ardipithecus</a:t>
            </a:r>
            <a:r>
              <a:t> and </a:t>
            </a:r>
            <a:r>
              <a:rPr i="1"/>
              <a:t>Homo</a:t>
            </a:r>
          </a:p>
        </p:txBody>
      </p:sp>
      <p:sp>
        <p:nvSpPr>
          <p:cNvPr id="1064" name="Shape 1064"/>
          <p:cNvSpPr/>
          <p:nvPr/>
        </p:nvSpPr>
        <p:spPr>
          <a:xfrm>
            <a:off x="10571480" y="7927340"/>
            <a:ext cx="2289851" cy="10593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a:lnSpc>
                <a:spcPts val="2100"/>
              </a:lnSpc>
              <a:tabLst>
                <a:tab pos="520700" algn="l"/>
              </a:tabLst>
              <a:defRPr>
                <a:solidFill>
                  <a:srgbClr val="006795"/>
                </a:solidFill>
              </a:defRPr>
            </a:pPr>
            <a:r>
              <a:t>Feature associated with tree climbing that is shared by </a:t>
            </a:r>
            <a:r>
              <a:rPr i="1"/>
              <a:t>Ardipithecus</a:t>
            </a:r>
            <a:r>
              <a:t> and</a:t>
            </a:r>
            <a:r>
              <a:rPr i="1"/>
              <a:t> Pan</a:t>
            </a:r>
          </a:p>
        </p:txBody>
      </p:sp>
      <p:grpSp>
        <p:nvGrpSpPr>
          <p:cNvPr id="1067" name="Group 1067"/>
          <p:cNvGrpSpPr/>
          <p:nvPr/>
        </p:nvGrpSpPr>
        <p:grpSpPr>
          <a:xfrm>
            <a:off x="8473283" y="4226206"/>
            <a:ext cx="2527458" cy="528673"/>
            <a:chOff x="50642" y="30126"/>
            <a:chExt cx="2527457" cy="528672"/>
          </a:xfrm>
        </p:grpSpPr>
        <p:sp>
          <p:nvSpPr>
            <p:cNvPr id="1065" name="Shape 1065"/>
            <p:cNvSpPr/>
            <p:nvPr/>
          </p:nvSpPr>
          <p:spPr>
            <a:xfrm>
              <a:off x="50642" y="359591"/>
              <a:ext cx="2527459" cy="199208"/>
            </a:xfrm>
            <a:prstGeom prst="line">
              <a:avLst/>
            </a:prstGeom>
            <a:noFill/>
            <a:ln w="25400" cap="flat">
              <a:solidFill>
                <a:srgbClr val="006795"/>
              </a:solidFill>
              <a:prstDash val="solid"/>
              <a:miter lim="400000"/>
              <a:headEnd type="oval"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066" name="Shape 1066"/>
            <p:cNvSpPr/>
            <p:nvPr/>
          </p:nvSpPr>
          <p:spPr>
            <a:xfrm>
              <a:off x="1882402" y="30126"/>
              <a:ext cx="693637" cy="510894"/>
            </a:xfrm>
            <a:prstGeom prst="line">
              <a:avLst/>
            </a:prstGeom>
            <a:noFill/>
            <a:ln w="25400" cap="flat">
              <a:solidFill>
                <a:srgbClr val="006795"/>
              </a:solidFill>
              <a:prstDash val="solid"/>
              <a:miter lim="400000"/>
              <a:headEnd type="oval"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
        <p:nvSpPr>
          <p:cNvPr id="1068" name="Shape 1068"/>
          <p:cNvSpPr/>
          <p:nvPr/>
        </p:nvSpPr>
        <p:spPr>
          <a:xfrm>
            <a:off x="11090604" y="6830303"/>
            <a:ext cx="621337" cy="1023378"/>
          </a:xfrm>
          <a:prstGeom prst="line">
            <a:avLst/>
          </a:prstGeom>
          <a:ln w="25400">
            <a:solidFill>
              <a:srgbClr val="006795"/>
            </a:solidFill>
            <a:miter lim="400000"/>
            <a:headEnd type="oval"/>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060">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06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06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060">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06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0" grpId="1" build="p" bldLvl="5" animBg="1" advAuto="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0" name="Foot skeleton.png"/>
          <p:cNvPicPr>
            <a:picLocks noChangeAspect="1"/>
          </p:cNvPicPr>
          <p:nvPr/>
        </p:nvPicPr>
        <p:blipFill>
          <a:blip r:embed="rId2">
            <a:extLst/>
          </a:blip>
          <a:stretch>
            <a:fillRect/>
          </a:stretch>
        </p:blipFill>
        <p:spPr>
          <a:xfrm>
            <a:off x="8151958" y="5229912"/>
            <a:ext cx="1437985" cy="4055323"/>
          </a:xfrm>
          <a:prstGeom prst="rect">
            <a:avLst/>
          </a:prstGeom>
          <a:ln w="12700">
            <a:miter lim="400000"/>
          </a:ln>
        </p:spPr>
      </p:pic>
      <p:sp>
        <p:nvSpPr>
          <p:cNvPr id="1071" name="Shape 1071"/>
          <p:cNvSpPr>
            <a:spLocks noGrp="1"/>
          </p:cNvSpPr>
          <p:nvPr>
            <p:ph type="title"/>
          </p:nvPr>
        </p:nvSpPr>
        <p:spPr>
          <a:prstGeom prst="rect">
            <a:avLst/>
          </a:prstGeom>
        </p:spPr>
        <p:txBody>
          <a:bodyPr/>
          <a:lstStyle>
            <a:lvl1pPr>
              <a:tabLst>
                <a:tab pos="952500" algn="l"/>
              </a:tabLst>
            </a:lvl1pPr>
          </a:lstStyle>
          <a:p>
            <a:r>
              <a:t>Ardi’s Foot</a:t>
            </a:r>
          </a:p>
        </p:txBody>
      </p:sp>
      <p:sp>
        <p:nvSpPr>
          <p:cNvPr id="1072" name="Shape 1072"/>
          <p:cNvSpPr>
            <a:spLocks noGrp="1"/>
          </p:cNvSpPr>
          <p:nvPr>
            <p:ph type="body" sz="quarter" idx="1"/>
          </p:nvPr>
        </p:nvSpPr>
        <p:spPr>
          <a:xfrm>
            <a:off x="368300" y="1790700"/>
            <a:ext cx="5956300" cy="3234234"/>
          </a:xfrm>
          <a:prstGeom prst="rect">
            <a:avLst/>
          </a:prstGeom>
        </p:spPr>
        <p:txBody>
          <a:bodyPr/>
          <a:lstStyle/>
          <a:p>
            <a:pPr>
              <a:tabLst>
                <a:tab pos="1016000" algn="l"/>
              </a:tabLst>
            </a:pPr>
            <a:r>
              <a:t>The foot of </a:t>
            </a:r>
            <a:r>
              <a:rPr i="1"/>
              <a:t>Ar. ramidus</a:t>
            </a:r>
            <a:r>
              <a:t> is generalised with some human-like features, such as a rigid central foot bones.</a:t>
            </a:r>
          </a:p>
          <a:p>
            <a:pPr>
              <a:tabLst>
                <a:tab pos="1016000" algn="l"/>
              </a:tabLst>
            </a:pPr>
            <a:r>
              <a:t>It also shows some features of modern apes such as an opposable big toe.</a:t>
            </a:r>
          </a:p>
          <a:p>
            <a:pPr lvl="1">
              <a:tabLst>
                <a:tab pos="1485900" algn="l"/>
              </a:tabLst>
            </a:pPr>
            <a:r>
              <a:t>These features show </a:t>
            </a:r>
            <a:r>
              <a:rPr i="1"/>
              <a:t>Ar. ramidus</a:t>
            </a:r>
            <a:r>
              <a:t> spent considerable time climbing trees.</a:t>
            </a:r>
          </a:p>
        </p:txBody>
      </p:sp>
      <p:sp>
        <p:nvSpPr>
          <p:cNvPr id="1073" name="Shape 1073"/>
          <p:cNvSpPr/>
          <p:nvPr/>
        </p:nvSpPr>
        <p:spPr>
          <a:xfrm>
            <a:off x="7823200" y="9385300"/>
            <a:ext cx="2565400" cy="2794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1200"/>
              </a:lnSpc>
              <a:tabLst>
                <a:tab pos="520700" algn="l"/>
              </a:tabLst>
              <a:defRPr sz="1000">
                <a:solidFill>
                  <a:srgbClr val="483F36"/>
                </a:solidFill>
              </a:defRPr>
            </a:lvl1pPr>
          </a:lstStyle>
          <a:p>
            <a:r>
              <a:t>Diagrams redrawn from C. Owen Lovejoy, et al, Science Vol 329 2009</a:t>
            </a:r>
          </a:p>
        </p:txBody>
      </p:sp>
      <p:pic>
        <p:nvPicPr>
          <p:cNvPr id="1074" name="ardipithecud foot small.png"/>
          <p:cNvPicPr>
            <a:picLocks noChangeAspect="1"/>
          </p:cNvPicPr>
          <p:nvPr/>
        </p:nvPicPr>
        <p:blipFill>
          <a:blip r:embed="rId3">
            <a:extLst/>
          </a:blip>
          <a:stretch>
            <a:fillRect/>
          </a:stretch>
        </p:blipFill>
        <p:spPr>
          <a:xfrm>
            <a:off x="6883400" y="1064026"/>
            <a:ext cx="5892800" cy="5733248"/>
          </a:xfrm>
          <a:prstGeom prst="rect">
            <a:avLst/>
          </a:prstGeom>
          <a:ln w="12700">
            <a:miter lim="400000"/>
          </a:ln>
        </p:spPr>
      </p:pic>
      <p:sp>
        <p:nvSpPr>
          <p:cNvPr id="1075" name="Shape 1075"/>
          <p:cNvSpPr/>
          <p:nvPr/>
        </p:nvSpPr>
        <p:spPr>
          <a:xfrm>
            <a:off x="10208259" y="7035800"/>
            <a:ext cx="2705101" cy="7926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a:lnSpc>
                <a:spcPts val="2100"/>
              </a:lnSpc>
              <a:tabLst>
                <a:tab pos="520700" algn="l"/>
              </a:tabLst>
              <a:defRPr>
                <a:solidFill>
                  <a:srgbClr val="006795"/>
                </a:solidFill>
              </a:defRPr>
            </a:pPr>
            <a:r>
              <a:t>The central foot bones are rigid in both </a:t>
            </a:r>
            <a:r>
              <a:rPr i="1"/>
              <a:t>Ardipithecus</a:t>
            </a:r>
            <a:r>
              <a:t> and</a:t>
            </a:r>
            <a:r>
              <a:rPr i="1"/>
              <a:t> Homo</a:t>
            </a:r>
            <a:r>
              <a:t>.</a:t>
            </a:r>
          </a:p>
        </p:txBody>
      </p:sp>
      <p:sp>
        <p:nvSpPr>
          <p:cNvPr id="1076" name="Shape 1076"/>
          <p:cNvSpPr/>
          <p:nvPr/>
        </p:nvSpPr>
        <p:spPr>
          <a:xfrm flipV="1">
            <a:off x="8950958" y="7416803"/>
            <a:ext cx="1270002" cy="9766"/>
          </a:xfrm>
          <a:prstGeom prst="line">
            <a:avLst/>
          </a:prstGeom>
          <a:ln w="25400">
            <a:solidFill>
              <a:srgbClr val="006795"/>
            </a:solidFill>
            <a:miter lim="400000"/>
            <a:headEnd type="oval"/>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077" name="Shape 1077"/>
          <p:cNvSpPr/>
          <p:nvPr/>
        </p:nvSpPr>
        <p:spPr>
          <a:xfrm>
            <a:off x="5943600" y="2844800"/>
            <a:ext cx="1714500" cy="5259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gn="ctr">
              <a:lnSpc>
                <a:spcPts val="2100"/>
              </a:lnSpc>
              <a:tabLst>
                <a:tab pos="520700" algn="l"/>
              </a:tabLst>
              <a:defRPr>
                <a:solidFill>
                  <a:srgbClr val="006795"/>
                </a:solidFill>
              </a:defRPr>
            </a:lvl1pPr>
          </a:lstStyle>
          <a:p>
            <a:r>
              <a:t>Big toe points to the side</a:t>
            </a:r>
          </a:p>
        </p:txBody>
      </p:sp>
      <p:sp>
        <p:nvSpPr>
          <p:cNvPr id="1078" name="Shape 1078"/>
          <p:cNvSpPr/>
          <p:nvPr/>
        </p:nvSpPr>
        <p:spPr>
          <a:xfrm>
            <a:off x="6096000" y="6540500"/>
            <a:ext cx="1739900" cy="5259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gn="ctr">
              <a:lnSpc>
                <a:spcPts val="2100"/>
              </a:lnSpc>
              <a:tabLst>
                <a:tab pos="520700" algn="l"/>
              </a:tabLst>
              <a:defRPr>
                <a:solidFill>
                  <a:srgbClr val="006795"/>
                </a:solidFill>
              </a:defRPr>
            </a:lvl1pPr>
          </a:lstStyle>
          <a:p>
            <a:r>
              <a:t>Big toe points forward</a:t>
            </a:r>
          </a:p>
        </p:txBody>
      </p:sp>
      <p:sp>
        <p:nvSpPr>
          <p:cNvPr id="1079" name="Shape 1079"/>
          <p:cNvSpPr/>
          <p:nvPr/>
        </p:nvSpPr>
        <p:spPr>
          <a:xfrm>
            <a:off x="9309100" y="8851900"/>
            <a:ext cx="2146300" cy="2592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a:lnSpc>
                <a:spcPts val="2100"/>
              </a:lnSpc>
              <a:tabLst>
                <a:tab pos="520700" algn="l"/>
              </a:tabLst>
              <a:defRPr>
                <a:solidFill>
                  <a:srgbClr val="006795"/>
                </a:solidFill>
              </a:defRPr>
            </a:pPr>
            <a:r>
              <a:rPr i="1"/>
              <a:t>Homo sapiens</a:t>
            </a:r>
            <a:r>
              <a:t> foot</a:t>
            </a:r>
          </a:p>
        </p:txBody>
      </p:sp>
      <p:sp>
        <p:nvSpPr>
          <p:cNvPr id="1080" name="Shape 1080"/>
          <p:cNvSpPr/>
          <p:nvPr/>
        </p:nvSpPr>
        <p:spPr>
          <a:xfrm>
            <a:off x="10020300" y="1727200"/>
            <a:ext cx="2146300" cy="5259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a:lnSpc>
                <a:spcPts val="2100"/>
              </a:lnSpc>
              <a:tabLst>
                <a:tab pos="520700" algn="l"/>
              </a:tabLst>
              <a:defRPr>
                <a:solidFill>
                  <a:srgbClr val="006795"/>
                </a:solidFill>
              </a:defRPr>
            </a:pPr>
            <a:r>
              <a:rPr i="1"/>
              <a:t>Ardipithecus ramidus</a:t>
            </a:r>
            <a:r>
              <a:t> foot</a:t>
            </a:r>
          </a:p>
        </p:txBody>
      </p:sp>
      <p:sp>
        <p:nvSpPr>
          <p:cNvPr id="1081" name="Shape 1081"/>
          <p:cNvSpPr/>
          <p:nvPr/>
        </p:nvSpPr>
        <p:spPr>
          <a:xfrm flipH="1" flipV="1">
            <a:off x="6959600" y="3423920"/>
            <a:ext cx="585838" cy="653066"/>
          </a:xfrm>
          <a:prstGeom prst="line">
            <a:avLst/>
          </a:prstGeom>
          <a:ln w="25400">
            <a:solidFill>
              <a:srgbClr val="006795"/>
            </a:solidFill>
            <a:miter lim="400000"/>
            <a:headEnd type="oval"/>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082" name="Shape 1082"/>
          <p:cNvSpPr/>
          <p:nvPr/>
        </p:nvSpPr>
        <p:spPr>
          <a:xfrm flipH="1">
            <a:off x="7447280" y="5979759"/>
            <a:ext cx="911398" cy="542961"/>
          </a:xfrm>
          <a:prstGeom prst="line">
            <a:avLst/>
          </a:prstGeom>
          <a:ln w="25400">
            <a:solidFill>
              <a:srgbClr val="006795"/>
            </a:solidFill>
            <a:miter lim="400000"/>
            <a:headEnd type="oval"/>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083" name="Shape 1083"/>
          <p:cNvSpPr/>
          <p:nvPr/>
        </p:nvSpPr>
        <p:spPr>
          <a:xfrm>
            <a:off x="9305600" y="2780006"/>
            <a:ext cx="1728160" cy="4192298"/>
          </a:xfrm>
          <a:prstGeom prst="line">
            <a:avLst/>
          </a:prstGeom>
          <a:ln w="25400">
            <a:solidFill>
              <a:srgbClr val="006795"/>
            </a:solidFill>
            <a:miter lim="400000"/>
            <a:headEnd type="oval"/>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072">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07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07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07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2" grpId="1" build="p" bldLvl="5" animBg="1" advAuto="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426" name="Shape 426"/>
          <p:cNvSpPr>
            <a:spLocks noGrp="1"/>
          </p:cNvSpPr>
          <p:nvPr>
            <p:ph type="title"/>
          </p:nvPr>
        </p:nvSpPr>
        <p:spPr>
          <a:xfrm>
            <a:off x="386079" y="368300"/>
            <a:ext cx="5750075" cy="1656299"/>
          </a:xfrm>
          <a:prstGeom prst="rect">
            <a:avLst/>
          </a:prstGeom>
        </p:spPr>
        <p:txBody>
          <a:bodyPr/>
          <a:lstStyle>
            <a:lvl1pPr>
              <a:tabLst>
                <a:tab pos="952500" algn="l"/>
              </a:tabLst>
            </a:lvl1pPr>
          </a:lstStyle>
          <a:p>
            <a:r>
              <a:t>The Denisova Cave Find</a:t>
            </a:r>
          </a:p>
        </p:txBody>
      </p:sp>
      <p:sp>
        <p:nvSpPr>
          <p:cNvPr id="427" name="Shape 427"/>
          <p:cNvSpPr>
            <a:spLocks noGrp="1"/>
          </p:cNvSpPr>
          <p:nvPr>
            <p:ph type="body" sz="half" idx="1"/>
          </p:nvPr>
        </p:nvSpPr>
        <p:spPr>
          <a:xfrm>
            <a:off x="368300" y="2414984"/>
            <a:ext cx="5956300" cy="4780509"/>
          </a:xfrm>
          <a:prstGeom prst="rect">
            <a:avLst/>
          </a:prstGeom>
        </p:spPr>
        <p:txBody>
          <a:bodyPr/>
          <a:lstStyle/>
          <a:p>
            <a:pPr>
              <a:tabLst>
                <a:tab pos="1016000" algn="l"/>
              </a:tabLst>
            </a:pPr>
            <a:r>
              <a:t>In 2008 archeologists discovered a fragment of finger bone in the Denisova cave, in Siberia. The bone fragment belonged to a juvenile female.</a:t>
            </a:r>
          </a:p>
          <a:p>
            <a:pPr lvl="1">
              <a:tabLst>
                <a:tab pos="1485900" algn="l"/>
              </a:tabLst>
            </a:pPr>
            <a:r>
              <a:t>A molar was found in 2010 and a toe bone in 2011, both from different individuals.</a:t>
            </a:r>
          </a:p>
          <a:p>
            <a:pPr lvl="1">
              <a:tabLst>
                <a:tab pos="1485900" algn="l"/>
              </a:tabLst>
            </a:pPr>
            <a:r>
              <a:t>The characteristics of the molar indicated it may have been from an previously unknown human species.</a:t>
            </a:r>
          </a:p>
          <a:p>
            <a:pPr lvl="1">
              <a:tabLst>
                <a:tab pos="1485900" algn="l"/>
              </a:tabLst>
            </a:pPr>
            <a:r>
              <a:t>The cool temperatures in the cave preserved the DNA in the fossil fragments, allowing some DNA to be extracted.</a:t>
            </a:r>
          </a:p>
        </p:txBody>
      </p:sp>
      <p:pic>
        <p:nvPicPr>
          <p:cNvPr id="428" name="Denisova cave-Obersachse.jpg"/>
          <p:cNvPicPr>
            <a:picLocks noChangeAspect="1"/>
          </p:cNvPicPr>
          <p:nvPr/>
        </p:nvPicPr>
        <p:blipFill>
          <a:blip r:embed="rId3">
            <a:extLst/>
          </a:blip>
          <a:srcRect l="30748" t="72" r="24377" b="35"/>
          <a:stretch>
            <a:fillRect/>
          </a:stretch>
        </p:blipFill>
        <p:spPr>
          <a:xfrm>
            <a:off x="7130212" y="-56847"/>
            <a:ext cx="5959362" cy="9853054"/>
          </a:xfrm>
          <a:prstGeom prst="rect">
            <a:avLst/>
          </a:prstGeom>
          <a:ln w="25400">
            <a:solidFill>
              <a:srgbClr val="FFFFFF"/>
            </a:solidFill>
            <a:miter lim="400000"/>
          </a:ln>
        </p:spPr>
      </p:pic>
      <p:sp>
        <p:nvSpPr>
          <p:cNvPr id="429" name="Shape 429"/>
          <p:cNvSpPr/>
          <p:nvPr/>
        </p:nvSpPr>
        <p:spPr>
          <a:xfrm rot="5400000">
            <a:off x="12261850" y="8959850"/>
            <a:ext cx="1117600" cy="1270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1000"/>
              </a:lnSpc>
              <a:tabLst>
                <a:tab pos="520700" algn="l"/>
              </a:tabLst>
              <a:defRPr sz="900">
                <a:solidFill>
                  <a:srgbClr val="000000"/>
                </a:solidFill>
              </a:defRPr>
            </a:lvl1pPr>
          </a:lstStyle>
          <a:p>
            <a:r>
              <a:t>Photo: Obersachse</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427">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42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42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427">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4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 grpId="1" build="p" bldLvl="5" animBg="1" advAuto="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431" name="Shape 431"/>
          <p:cNvSpPr>
            <a:spLocks noGrp="1"/>
          </p:cNvSpPr>
          <p:nvPr>
            <p:ph type="title"/>
          </p:nvPr>
        </p:nvSpPr>
        <p:spPr>
          <a:prstGeom prst="rect">
            <a:avLst/>
          </a:prstGeom>
        </p:spPr>
        <p:txBody>
          <a:bodyPr/>
          <a:lstStyle>
            <a:lvl1pPr>
              <a:tabLst>
                <a:tab pos="952500" algn="l"/>
              </a:tabLst>
            </a:lvl1pPr>
          </a:lstStyle>
          <a:p>
            <a:r>
              <a:t>Analysis of the DNA</a:t>
            </a:r>
          </a:p>
        </p:txBody>
      </p:sp>
      <p:sp>
        <p:nvSpPr>
          <p:cNvPr id="432" name="Shape 432"/>
          <p:cNvSpPr>
            <a:spLocks noGrp="1"/>
          </p:cNvSpPr>
          <p:nvPr>
            <p:ph type="body" sz="half" idx="1"/>
          </p:nvPr>
        </p:nvSpPr>
        <p:spPr>
          <a:xfrm>
            <a:off x="368300" y="1790700"/>
            <a:ext cx="11031240" cy="2308523"/>
          </a:xfrm>
          <a:prstGeom prst="rect">
            <a:avLst/>
          </a:prstGeom>
        </p:spPr>
        <p:txBody>
          <a:bodyPr/>
          <a:lstStyle/>
          <a:p>
            <a:pPr>
              <a:tabLst>
                <a:tab pos="1016000" algn="l"/>
              </a:tabLst>
            </a:pPr>
            <a:r>
              <a:t>Analysis of the Denisova specimen’s DNA suggests it belongs to a new species of human. </a:t>
            </a:r>
          </a:p>
          <a:p>
            <a:pPr lvl="1">
              <a:tabLst>
                <a:tab pos="1485900" algn="l"/>
              </a:tabLst>
            </a:pPr>
            <a:r>
              <a:t>The Denisovans may a been a sister group to the Neanderthals and probably shared a recent common ancestor.</a:t>
            </a:r>
          </a:p>
          <a:p>
            <a:pPr lvl="1">
              <a:tabLst>
                <a:tab pos="1485900" algn="l"/>
              </a:tabLst>
            </a:pPr>
            <a:r>
              <a:t>The Denisovans may have interbred with the ancestors of present day Melanesians, and appear to share 4%-6% of their DNA with them.</a:t>
            </a:r>
          </a:p>
        </p:txBody>
      </p:sp>
      <p:grpSp>
        <p:nvGrpSpPr>
          <p:cNvPr id="459" name="Group 459"/>
          <p:cNvGrpSpPr/>
          <p:nvPr/>
        </p:nvGrpSpPr>
        <p:grpSpPr>
          <a:xfrm>
            <a:off x="381000" y="4483100"/>
            <a:ext cx="12065972" cy="5123322"/>
            <a:chOff x="0" y="0"/>
            <a:chExt cx="12065971" cy="5123321"/>
          </a:xfrm>
        </p:grpSpPr>
        <p:sp>
          <p:nvSpPr>
            <p:cNvPr id="433" name="Shape 433"/>
            <p:cNvSpPr/>
            <p:nvPr/>
          </p:nvSpPr>
          <p:spPr>
            <a:xfrm>
              <a:off x="0" y="3962400"/>
              <a:ext cx="1295400" cy="525922"/>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lnSpc>
                  <a:spcPts val="2100"/>
                </a:lnSpc>
                <a:tabLst>
                  <a:tab pos="520700" algn="l"/>
                </a:tabLst>
                <a:defRPr>
                  <a:solidFill>
                    <a:srgbClr val="000000"/>
                  </a:solidFill>
                </a:defRPr>
              </a:lvl1pPr>
            </a:lstStyle>
            <a:p>
              <a:r>
                <a:t>~ 400,000 years ago</a:t>
              </a:r>
            </a:p>
          </p:txBody>
        </p:sp>
        <p:sp>
          <p:nvSpPr>
            <p:cNvPr id="434" name="Shape 434"/>
            <p:cNvSpPr/>
            <p:nvPr/>
          </p:nvSpPr>
          <p:spPr>
            <a:xfrm>
              <a:off x="914400" y="4597400"/>
              <a:ext cx="1295400" cy="525922"/>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lnSpc>
                  <a:spcPts val="2100"/>
                </a:lnSpc>
                <a:tabLst>
                  <a:tab pos="520700" algn="l"/>
                </a:tabLst>
                <a:defRPr>
                  <a:solidFill>
                    <a:srgbClr val="000000"/>
                  </a:solidFill>
                </a:defRPr>
              </a:lvl1pPr>
            </a:lstStyle>
            <a:p>
              <a:r>
                <a:t>~ 300,000 years ago</a:t>
              </a:r>
            </a:p>
          </p:txBody>
        </p:sp>
        <p:grpSp>
          <p:nvGrpSpPr>
            <p:cNvPr id="441" name="Group 441"/>
            <p:cNvGrpSpPr/>
            <p:nvPr/>
          </p:nvGrpSpPr>
          <p:grpSpPr>
            <a:xfrm>
              <a:off x="90169" y="123404"/>
              <a:ext cx="10301180" cy="4320935"/>
              <a:chOff x="0" y="0"/>
              <a:chExt cx="10301178" cy="4320933"/>
            </a:xfrm>
          </p:grpSpPr>
          <p:sp>
            <p:nvSpPr>
              <p:cNvPr id="435" name="Shape 435"/>
              <p:cNvSpPr/>
              <p:nvPr/>
            </p:nvSpPr>
            <p:spPr>
              <a:xfrm>
                <a:off x="0" y="0"/>
                <a:ext cx="10301179" cy="277928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407" y="21600"/>
                    </a:lnTo>
                    <a:lnTo>
                      <a:pt x="6703" y="0"/>
                    </a:lnTo>
                    <a:lnTo>
                      <a:pt x="21600" y="0"/>
                    </a:lnTo>
                  </a:path>
                </a:pathLst>
              </a:custGeom>
              <a:noFill/>
              <a:ln w="152400" cap="flat">
                <a:solidFill>
                  <a:srgbClr val="006994"/>
                </a:solidFill>
                <a:prstDash val="solid"/>
                <a:miter lim="400000"/>
              </a:ln>
              <a:effectLst/>
            </p:spPr>
            <p:txBody>
              <a:bodyPr wrap="square" lIns="50800" tIns="50800" rIns="50800" bIns="50800" numCol="1" anchor="t">
                <a:noAutofit/>
              </a:bodyPr>
              <a:lstStyle/>
              <a:p>
                <a:pPr>
                  <a:lnSpc>
                    <a:spcPts val="3300"/>
                  </a:lnSpc>
                  <a:tabLst>
                    <a:tab pos="520700" algn="l"/>
                  </a:tabLst>
                  <a:defRPr sz="2800">
                    <a:solidFill>
                      <a:srgbClr val="483F36"/>
                    </a:solidFill>
                    <a:latin typeface="Hoefler Text"/>
                    <a:ea typeface="Hoefler Text"/>
                    <a:cs typeface="Hoefler Text"/>
                    <a:sym typeface="Hoefler Text"/>
                  </a:defRPr>
                </a:pPr>
                <a:endParaRPr/>
              </a:p>
            </p:txBody>
          </p:sp>
          <p:sp>
            <p:nvSpPr>
              <p:cNvPr id="436" name="Shape 436"/>
              <p:cNvSpPr/>
              <p:nvPr/>
            </p:nvSpPr>
            <p:spPr>
              <a:xfrm>
                <a:off x="663514" y="2796933"/>
                <a:ext cx="7289801" cy="15240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3778" y="21600"/>
                    </a:lnTo>
                    <a:lnTo>
                      <a:pt x="21600" y="21600"/>
                    </a:lnTo>
                  </a:path>
                </a:pathLst>
              </a:custGeom>
              <a:noFill/>
              <a:ln w="152400" cap="flat">
                <a:solidFill>
                  <a:srgbClr val="006994"/>
                </a:solidFill>
                <a:prstDash val="solid"/>
                <a:miter lim="400000"/>
              </a:ln>
              <a:effectLst/>
            </p:spPr>
            <p:txBody>
              <a:bodyPr wrap="square" lIns="50800" tIns="50800" rIns="50800" bIns="50800" numCol="1" anchor="t">
                <a:noAutofit/>
              </a:bodyPr>
              <a:lstStyle/>
              <a:p>
                <a:pPr>
                  <a:lnSpc>
                    <a:spcPts val="3300"/>
                  </a:lnSpc>
                  <a:tabLst>
                    <a:tab pos="520700" algn="l"/>
                  </a:tabLst>
                  <a:defRPr sz="2800">
                    <a:solidFill>
                      <a:srgbClr val="483F36"/>
                    </a:solidFill>
                    <a:latin typeface="Hoefler Text"/>
                    <a:ea typeface="Hoefler Text"/>
                    <a:cs typeface="Hoefler Text"/>
                    <a:sym typeface="Hoefler Text"/>
                  </a:defRPr>
                </a:pPr>
                <a:endParaRPr/>
              </a:p>
            </p:txBody>
          </p:sp>
          <p:sp>
            <p:nvSpPr>
              <p:cNvPr id="437" name="Shape 437"/>
              <p:cNvSpPr/>
              <p:nvPr/>
            </p:nvSpPr>
            <p:spPr>
              <a:xfrm>
                <a:off x="1432402" y="3373778"/>
                <a:ext cx="6477001" cy="393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319" y="0"/>
                    </a:lnTo>
                    <a:lnTo>
                      <a:pt x="21600" y="0"/>
                    </a:lnTo>
                  </a:path>
                </a:pathLst>
              </a:custGeom>
              <a:noFill/>
              <a:ln w="152400" cap="flat">
                <a:solidFill>
                  <a:srgbClr val="006994"/>
                </a:solidFill>
                <a:prstDash val="solid"/>
                <a:miter lim="400000"/>
              </a:ln>
              <a:effectLst/>
            </p:spPr>
            <p:txBody>
              <a:bodyPr wrap="square" lIns="50800" tIns="50800" rIns="50800" bIns="50800" numCol="1" anchor="t">
                <a:noAutofit/>
              </a:bodyPr>
              <a:lstStyle/>
              <a:p>
                <a:pPr>
                  <a:lnSpc>
                    <a:spcPts val="3300"/>
                  </a:lnSpc>
                  <a:tabLst>
                    <a:tab pos="520700" algn="l"/>
                  </a:tabLst>
                  <a:defRPr sz="2800">
                    <a:solidFill>
                      <a:srgbClr val="483F36"/>
                    </a:solidFill>
                    <a:latin typeface="Hoefler Text"/>
                    <a:ea typeface="Hoefler Text"/>
                    <a:cs typeface="Hoefler Text"/>
                    <a:sym typeface="Hoefler Text"/>
                  </a:defRPr>
                </a:pPr>
                <a:endParaRPr/>
              </a:p>
            </p:txBody>
          </p:sp>
          <p:sp>
            <p:nvSpPr>
              <p:cNvPr id="438" name="Shape 438"/>
              <p:cNvSpPr/>
              <p:nvPr/>
            </p:nvSpPr>
            <p:spPr>
              <a:xfrm>
                <a:off x="1995564" y="1341117"/>
                <a:ext cx="8296376" cy="3"/>
              </a:xfrm>
              <a:prstGeom prst="line">
                <a:avLst/>
              </a:prstGeom>
              <a:noFill/>
              <a:ln w="152400" cap="flat">
                <a:solidFill>
                  <a:srgbClr val="006994"/>
                </a:solidFill>
                <a:prstDash val="solid"/>
                <a:miter lim="400000"/>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439" name="Shape 439"/>
              <p:cNvSpPr/>
              <p:nvPr/>
            </p:nvSpPr>
            <p:spPr>
              <a:xfrm>
                <a:off x="5145971" y="723497"/>
                <a:ext cx="5150591" cy="61762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951" y="926"/>
                    </a:lnTo>
                    <a:lnTo>
                      <a:pt x="21600" y="0"/>
                    </a:lnTo>
                  </a:path>
                </a:pathLst>
              </a:custGeom>
              <a:noFill/>
              <a:ln w="152400" cap="flat">
                <a:solidFill>
                  <a:srgbClr val="006994"/>
                </a:solidFill>
                <a:prstDash val="solid"/>
                <a:miter lim="400000"/>
              </a:ln>
              <a:effectLst/>
            </p:spPr>
            <p:txBody>
              <a:bodyPr wrap="square" lIns="50800" tIns="50800" rIns="50800" bIns="50800" numCol="1" anchor="t">
                <a:noAutofit/>
              </a:bodyPr>
              <a:lstStyle/>
              <a:p>
                <a:pPr>
                  <a:lnSpc>
                    <a:spcPts val="3300"/>
                  </a:lnSpc>
                  <a:tabLst>
                    <a:tab pos="520700" algn="l"/>
                  </a:tabLst>
                  <a:defRPr sz="2800">
                    <a:solidFill>
                      <a:srgbClr val="483F36"/>
                    </a:solidFill>
                    <a:latin typeface="Hoefler Text"/>
                    <a:ea typeface="Hoefler Text"/>
                    <a:cs typeface="Hoefler Text"/>
                    <a:sym typeface="Hoefler Text"/>
                  </a:defRPr>
                </a:pPr>
                <a:endParaRPr/>
              </a:p>
            </p:txBody>
          </p:sp>
          <p:sp>
            <p:nvSpPr>
              <p:cNvPr id="440" name="Shape 440"/>
              <p:cNvSpPr/>
              <p:nvPr/>
            </p:nvSpPr>
            <p:spPr>
              <a:xfrm>
                <a:off x="5031642" y="1352145"/>
                <a:ext cx="5266076" cy="68379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951" y="20674"/>
                    </a:lnTo>
                    <a:lnTo>
                      <a:pt x="21600" y="21600"/>
                    </a:lnTo>
                  </a:path>
                </a:pathLst>
              </a:custGeom>
              <a:noFill/>
              <a:ln w="152400" cap="flat">
                <a:solidFill>
                  <a:srgbClr val="006994"/>
                </a:solidFill>
                <a:prstDash val="solid"/>
                <a:miter lim="400000"/>
              </a:ln>
              <a:effectLst/>
            </p:spPr>
            <p:txBody>
              <a:bodyPr wrap="square" lIns="50800" tIns="50800" rIns="50800" bIns="50800" numCol="1" anchor="t">
                <a:noAutofit/>
              </a:bodyPr>
              <a:lstStyle/>
              <a:p>
                <a:pPr>
                  <a:lnSpc>
                    <a:spcPts val="3300"/>
                  </a:lnSpc>
                  <a:tabLst>
                    <a:tab pos="520700" algn="l"/>
                  </a:tabLst>
                  <a:defRPr sz="2800">
                    <a:solidFill>
                      <a:srgbClr val="483F36"/>
                    </a:solidFill>
                    <a:latin typeface="Hoefler Text"/>
                    <a:ea typeface="Hoefler Text"/>
                    <a:cs typeface="Hoefler Text"/>
                    <a:sym typeface="Hoefler Text"/>
                  </a:defRPr>
                </a:pPr>
                <a:endParaRPr/>
              </a:p>
            </p:txBody>
          </p:sp>
        </p:grpSp>
        <p:sp>
          <p:nvSpPr>
            <p:cNvPr id="442" name="Shape 442"/>
            <p:cNvSpPr/>
            <p:nvPr/>
          </p:nvSpPr>
          <p:spPr>
            <a:xfrm>
              <a:off x="2666440" y="2228878"/>
              <a:ext cx="2044701" cy="60960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noAutofit/>
            </a:bodyPr>
            <a:lstStyle>
              <a:lvl1pPr algn="ctr">
                <a:lnSpc>
                  <a:spcPts val="2100"/>
                </a:lnSpc>
                <a:tabLst>
                  <a:tab pos="520700" algn="l"/>
                </a:tabLst>
                <a:defRPr>
                  <a:solidFill>
                    <a:srgbClr val="000000"/>
                  </a:solidFill>
                </a:defRPr>
              </a:lvl1pPr>
            </a:lstStyle>
            <a:p>
              <a:r>
                <a:t>Interbreeding ~80,000 years ago</a:t>
              </a:r>
            </a:p>
          </p:txBody>
        </p:sp>
        <p:sp>
          <p:nvSpPr>
            <p:cNvPr id="443" name="Shape 443"/>
            <p:cNvSpPr/>
            <p:nvPr/>
          </p:nvSpPr>
          <p:spPr>
            <a:xfrm>
              <a:off x="6032858" y="2472846"/>
              <a:ext cx="2667001" cy="55880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noAutofit/>
            </a:bodyPr>
            <a:lstStyle>
              <a:lvl1pPr algn="ctr">
                <a:lnSpc>
                  <a:spcPts val="2100"/>
                </a:lnSpc>
                <a:tabLst>
                  <a:tab pos="520700" algn="l"/>
                </a:tabLst>
                <a:defRPr>
                  <a:solidFill>
                    <a:srgbClr val="000000"/>
                  </a:solidFill>
                </a:defRPr>
              </a:lvl1pPr>
            </a:lstStyle>
            <a:p>
              <a:r>
                <a:t>Interbreeding ~40,000 years ago</a:t>
              </a:r>
            </a:p>
          </p:txBody>
        </p:sp>
        <p:sp>
          <p:nvSpPr>
            <p:cNvPr id="444" name="Shape 444"/>
            <p:cNvSpPr/>
            <p:nvPr/>
          </p:nvSpPr>
          <p:spPr>
            <a:xfrm>
              <a:off x="10453060" y="0"/>
              <a:ext cx="1016220" cy="22036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noAutofit/>
            </a:bodyPr>
            <a:lstStyle>
              <a:lvl1pPr>
                <a:lnSpc>
                  <a:spcPts val="2100"/>
                </a:lnSpc>
                <a:tabLst>
                  <a:tab pos="520700" algn="l"/>
                </a:tabLst>
                <a:defRPr>
                  <a:solidFill>
                    <a:srgbClr val="000000"/>
                  </a:solidFill>
                </a:defRPr>
              </a:lvl1pPr>
            </a:lstStyle>
            <a:p>
              <a:r>
                <a:t>African</a:t>
              </a:r>
            </a:p>
          </p:txBody>
        </p:sp>
        <p:sp>
          <p:nvSpPr>
            <p:cNvPr id="445" name="Shape 445"/>
            <p:cNvSpPr/>
            <p:nvPr/>
          </p:nvSpPr>
          <p:spPr>
            <a:xfrm>
              <a:off x="10453073" y="705168"/>
              <a:ext cx="1016220" cy="220367"/>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noAutofit/>
            </a:bodyPr>
            <a:lstStyle>
              <a:lvl1pPr>
                <a:lnSpc>
                  <a:spcPts val="2100"/>
                </a:lnSpc>
                <a:tabLst>
                  <a:tab pos="520700" algn="l"/>
                </a:tabLst>
                <a:defRPr>
                  <a:solidFill>
                    <a:srgbClr val="000000"/>
                  </a:solidFill>
                </a:defRPr>
              </a:lvl1pPr>
            </a:lstStyle>
            <a:p>
              <a:r>
                <a:t>French</a:t>
              </a:r>
            </a:p>
          </p:txBody>
        </p:sp>
        <p:sp>
          <p:nvSpPr>
            <p:cNvPr id="446" name="Shape 446"/>
            <p:cNvSpPr/>
            <p:nvPr/>
          </p:nvSpPr>
          <p:spPr>
            <a:xfrm>
              <a:off x="10453071" y="1341502"/>
              <a:ext cx="1612901" cy="30480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noAutofit/>
            </a:bodyPr>
            <a:lstStyle>
              <a:lvl1pPr>
                <a:lnSpc>
                  <a:spcPts val="2100"/>
                </a:lnSpc>
                <a:tabLst>
                  <a:tab pos="520700" algn="l"/>
                </a:tabLst>
                <a:defRPr>
                  <a:solidFill>
                    <a:srgbClr val="000000"/>
                  </a:solidFill>
                </a:defRPr>
              </a:lvl1pPr>
            </a:lstStyle>
            <a:p>
              <a:r>
                <a:t>Han Chinese</a:t>
              </a:r>
            </a:p>
          </p:txBody>
        </p:sp>
        <p:sp>
          <p:nvSpPr>
            <p:cNvPr id="447" name="Shape 447"/>
            <p:cNvSpPr/>
            <p:nvPr/>
          </p:nvSpPr>
          <p:spPr>
            <a:xfrm>
              <a:off x="10453076" y="2033333"/>
              <a:ext cx="1359194" cy="22036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noAutofit/>
            </a:bodyPr>
            <a:lstStyle>
              <a:lvl1pPr>
                <a:lnSpc>
                  <a:spcPts val="2100"/>
                </a:lnSpc>
                <a:tabLst>
                  <a:tab pos="520700" algn="l"/>
                </a:tabLst>
                <a:defRPr>
                  <a:solidFill>
                    <a:srgbClr val="000000"/>
                  </a:solidFill>
                </a:defRPr>
              </a:lvl1pPr>
            </a:lstStyle>
            <a:p>
              <a:r>
                <a:t>Melanesian</a:t>
              </a:r>
            </a:p>
          </p:txBody>
        </p:sp>
        <p:sp>
          <p:nvSpPr>
            <p:cNvPr id="448" name="Shape 448"/>
            <p:cNvSpPr/>
            <p:nvPr/>
          </p:nvSpPr>
          <p:spPr>
            <a:xfrm>
              <a:off x="8077686" y="3384869"/>
              <a:ext cx="1308383" cy="22036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noAutofit/>
            </a:bodyPr>
            <a:lstStyle>
              <a:lvl1pPr>
                <a:lnSpc>
                  <a:spcPts val="2100"/>
                </a:lnSpc>
                <a:tabLst>
                  <a:tab pos="520700" algn="l"/>
                </a:tabLst>
                <a:defRPr>
                  <a:solidFill>
                    <a:srgbClr val="000000"/>
                  </a:solidFill>
                </a:defRPr>
              </a:lvl1pPr>
            </a:lstStyle>
            <a:p>
              <a:r>
                <a:t>Denisova</a:t>
              </a:r>
            </a:p>
          </p:txBody>
        </p:sp>
        <p:sp>
          <p:nvSpPr>
            <p:cNvPr id="449" name="Shape 449"/>
            <p:cNvSpPr/>
            <p:nvPr/>
          </p:nvSpPr>
          <p:spPr>
            <a:xfrm>
              <a:off x="8077900" y="4313534"/>
              <a:ext cx="2159001" cy="33020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noAutofit/>
            </a:bodyPr>
            <a:lstStyle>
              <a:lvl1pPr>
                <a:lnSpc>
                  <a:spcPts val="2100"/>
                </a:lnSpc>
                <a:tabLst>
                  <a:tab pos="520700" algn="l"/>
                </a:tabLst>
                <a:defRPr>
                  <a:solidFill>
                    <a:srgbClr val="000000"/>
                  </a:solidFill>
                </a:defRPr>
              </a:lvl1pPr>
            </a:lstStyle>
            <a:p>
              <a:r>
                <a:t>Vindija Neanderthal</a:t>
              </a:r>
            </a:p>
          </p:txBody>
        </p:sp>
        <p:sp>
          <p:nvSpPr>
            <p:cNvPr id="450" name="Shape 450"/>
            <p:cNvSpPr/>
            <p:nvPr/>
          </p:nvSpPr>
          <p:spPr>
            <a:xfrm flipH="1">
              <a:off x="723899" y="2971799"/>
              <a:ext cx="2" cy="957662"/>
            </a:xfrm>
            <a:prstGeom prst="line">
              <a:avLst/>
            </a:prstGeom>
            <a:noFill/>
            <a:ln w="25400" cap="flat">
              <a:solidFill>
                <a:srgbClr val="000000"/>
              </a:solidFill>
              <a:prstDash val="solid"/>
              <a:miter lim="400000"/>
              <a:headEnd type="oval"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451" name="Shape 451"/>
            <p:cNvSpPr/>
            <p:nvPr/>
          </p:nvSpPr>
          <p:spPr>
            <a:xfrm flipH="1">
              <a:off x="1562099" y="3860800"/>
              <a:ext cx="1" cy="708699"/>
            </a:xfrm>
            <a:prstGeom prst="line">
              <a:avLst/>
            </a:prstGeom>
            <a:noFill/>
            <a:ln w="25400" cap="flat">
              <a:solidFill>
                <a:srgbClr val="000000"/>
              </a:solidFill>
              <a:prstDash val="solid"/>
              <a:miter lim="400000"/>
              <a:headEnd type="oval"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452" name="Shape 452"/>
            <p:cNvSpPr/>
            <p:nvPr/>
          </p:nvSpPr>
          <p:spPr>
            <a:xfrm>
              <a:off x="3683000" y="1473200"/>
              <a:ext cx="0" cy="695999"/>
            </a:xfrm>
            <a:prstGeom prst="line">
              <a:avLst/>
            </a:prstGeom>
            <a:noFill/>
            <a:ln w="25400" cap="flat">
              <a:solidFill>
                <a:srgbClr val="000000"/>
              </a:solidFill>
              <a:prstDash val="solid"/>
              <a:miter lim="400000"/>
              <a:headEnd type="oval"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453" name="Shape 453"/>
            <p:cNvSpPr/>
            <p:nvPr/>
          </p:nvSpPr>
          <p:spPr>
            <a:xfrm flipV="1">
              <a:off x="3695700" y="2867698"/>
              <a:ext cx="0" cy="1583496"/>
            </a:xfrm>
            <a:prstGeom prst="line">
              <a:avLst/>
            </a:prstGeom>
            <a:noFill/>
            <a:ln w="25400" cap="flat">
              <a:solidFill>
                <a:srgbClr val="000000"/>
              </a:solidFill>
              <a:prstDash val="solid"/>
              <a:miter lim="400000"/>
              <a:headEnd type="oval"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454" name="Shape 454"/>
            <p:cNvSpPr/>
            <p:nvPr/>
          </p:nvSpPr>
          <p:spPr>
            <a:xfrm flipV="1">
              <a:off x="7378700" y="3105513"/>
              <a:ext cx="1" cy="380481"/>
            </a:xfrm>
            <a:prstGeom prst="line">
              <a:avLst/>
            </a:prstGeom>
            <a:noFill/>
            <a:ln w="25400" cap="flat">
              <a:solidFill>
                <a:srgbClr val="000000"/>
              </a:solidFill>
              <a:prstDash val="solid"/>
              <a:miter lim="400000"/>
              <a:headEnd type="oval"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455" name="Shape 455"/>
            <p:cNvSpPr/>
            <p:nvPr/>
          </p:nvSpPr>
          <p:spPr>
            <a:xfrm>
              <a:off x="7365999" y="2131050"/>
              <a:ext cx="1" cy="345849"/>
            </a:xfrm>
            <a:prstGeom prst="line">
              <a:avLst/>
            </a:prstGeom>
            <a:noFill/>
            <a:ln w="25400" cap="flat">
              <a:solidFill>
                <a:srgbClr val="000000"/>
              </a:solidFill>
              <a:prstDash val="solid"/>
              <a:miter lim="400000"/>
              <a:headEnd type="oval"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456" name="Shape 456"/>
            <p:cNvSpPr/>
            <p:nvPr/>
          </p:nvSpPr>
          <p:spPr>
            <a:xfrm>
              <a:off x="6692900" y="3477250"/>
              <a:ext cx="1" cy="345849"/>
            </a:xfrm>
            <a:prstGeom prst="line">
              <a:avLst/>
            </a:prstGeom>
            <a:noFill/>
            <a:ln w="25400" cap="flat">
              <a:solidFill>
                <a:srgbClr val="000000"/>
              </a:solidFill>
              <a:prstDash val="solid"/>
              <a:miter lim="400000"/>
              <a:headEnd type="oval"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457" name="Shape 457"/>
            <p:cNvSpPr/>
            <p:nvPr/>
          </p:nvSpPr>
          <p:spPr>
            <a:xfrm flipV="1">
              <a:off x="6692899" y="4096150"/>
              <a:ext cx="1" cy="320901"/>
            </a:xfrm>
            <a:prstGeom prst="line">
              <a:avLst/>
            </a:prstGeom>
            <a:noFill/>
            <a:ln w="25400" cap="flat">
              <a:solidFill>
                <a:srgbClr val="000000"/>
              </a:solidFill>
              <a:prstDash val="solid"/>
              <a:miter lim="400000"/>
              <a:headEnd type="oval"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458" name="Shape 458"/>
            <p:cNvSpPr/>
            <p:nvPr/>
          </p:nvSpPr>
          <p:spPr>
            <a:xfrm>
              <a:off x="6515586" y="3818901"/>
              <a:ext cx="342901" cy="21590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noAutofit/>
            </a:bodyPr>
            <a:lstStyle>
              <a:lvl1pPr>
                <a:lnSpc>
                  <a:spcPts val="2100"/>
                </a:lnSpc>
                <a:tabLst>
                  <a:tab pos="520700" algn="l"/>
                </a:tabLst>
                <a:defRPr>
                  <a:solidFill>
                    <a:srgbClr val="000000"/>
                  </a:solidFill>
                </a:defRPr>
              </a:lvl1pPr>
            </a:lstStyle>
            <a:p>
              <a:r>
                <a:t>?</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432">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43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43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43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2" nodeType="clickEffect">
                                  <p:stCondLst>
                                    <p:cond delay="0"/>
                                  </p:stCondLst>
                                  <p:iterate>
                                    <p:tmAbs val="0"/>
                                  </p:iterate>
                                  <p:childTnLst>
                                    <p:set>
                                      <p:cBhvr>
                                        <p:cTn id="20" fill="hold"/>
                                        <p:tgtEl>
                                          <p:spTgt spid="4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2" grpId="1" build="p" bldLvl="5" animBg="1" advAuto="0"/>
      <p:bldP spid="459" grpId="2" animBg="1" advAuto="0"/>
    </p:bldLst>
  </p:timing>
</p:sld>
</file>

<file path=ppt/slides/slide39.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461" name="DNA render 2.png"/>
          <p:cNvPicPr>
            <a:picLocks noChangeAspect="1"/>
          </p:cNvPicPr>
          <p:nvPr/>
        </p:nvPicPr>
        <p:blipFill>
          <a:blip r:embed="rId3">
            <a:extLst/>
          </a:blip>
          <a:srcRect l="3" t="14189" r="2" b="22743"/>
          <a:stretch>
            <a:fillRect/>
          </a:stretch>
        </p:blipFill>
        <p:spPr>
          <a:xfrm rot="3026420">
            <a:off x="8650537" y="3138164"/>
            <a:ext cx="3052532" cy="8243644"/>
          </a:xfrm>
          <a:custGeom>
            <a:avLst/>
            <a:gdLst/>
            <a:ahLst/>
            <a:cxnLst>
              <a:cxn ang="0">
                <a:pos x="wd2" y="hd2"/>
              </a:cxn>
              <a:cxn ang="5400000">
                <a:pos x="wd2" y="hd2"/>
              </a:cxn>
              <a:cxn ang="10800000">
                <a:pos x="wd2" y="hd2"/>
              </a:cxn>
              <a:cxn ang="16200000">
                <a:pos x="wd2" y="hd2"/>
              </a:cxn>
            </a:cxnLst>
            <a:rect l="0" t="0" r="r" b="b"/>
            <a:pathLst>
              <a:path w="21600" h="21600" extrusionOk="0">
                <a:moveTo>
                  <a:pt x="0" y="4725"/>
                </a:moveTo>
                <a:lnTo>
                  <a:pt x="0" y="18638"/>
                </a:lnTo>
                <a:lnTo>
                  <a:pt x="9685" y="21600"/>
                </a:lnTo>
                <a:lnTo>
                  <a:pt x="21600" y="16259"/>
                </a:lnTo>
                <a:lnTo>
                  <a:pt x="21600" y="3383"/>
                </a:lnTo>
                <a:lnTo>
                  <a:pt x="10540" y="0"/>
                </a:lnTo>
                <a:lnTo>
                  <a:pt x="0" y="4725"/>
                </a:lnTo>
                <a:close/>
              </a:path>
            </a:pathLst>
          </a:custGeom>
          <a:ln w="12700">
            <a:miter lim="400000"/>
          </a:ln>
        </p:spPr>
      </p:pic>
      <p:sp>
        <p:nvSpPr>
          <p:cNvPr id="462" name="Shape 462"/>
          <p:cNvSpPr>
            <a:spLocks noGrp="1"/>
          </p:cNvSpPr>
          <p:nvPr>
            <p:ph type="title"/>
          </p:nvPr>
        </p:nvSpPr>
        <p:spPr>
          <a:prstGeom prst="rect">
            <a:avLst/>
          </a:prstGeom>
        </p:spPr>
        <p:txBody>
          <a:bodyPr/>
          <a:lstStyle>
            <a:lvl1pPr>
              <a:tabLst>
                <a:tab pos="952500" algn="l"/>
              </a:tabLst>
            </a:lvl1pPr>
          </a:lstStyle>
          <a:p>
            <a:r>
              <a:t>Analysing Neanderthal DNA</a:t>
            </a:r>
          </a:p>
        </p:txBody>
      </p:sp>
      <p:sp>
        <p:nvSpPr>
          <p:cNvPr id="463" name="Shape 463"/>
          <p:cNvSpPr>
            <a:spLocks noGrp="1"/>
          </p:cNvSpPr>
          <p:nvPr>
            <p:ph type="body" sz="half" idx="1"/>
          </p:nvPr>
        </p:nvSpPr>
        <p:spPr>
          <a:prstGeom prst="rect">
            <a:avLst/>
          </a:prstGeom>
        </p:spPr>
        <p:txBody>
          <a:bodyPr/>
          <a:lstStyle/>
          <a:p>
            <a:pPr>
              <a:tabLst>
                <a:tab pos="1016000" algn="l"/>
              </a:tabLst>
            </a:pPr>
            <a:r>
              <a:t>The DNA in ancient bone fragments is often degraded and fragmented.</a:t>
            </a:r>
          </a:p>
          <a:p>
            <a:pPr lvl="1">
              <a:tabLst>
                <a:tab pos="1485900" algn="l"/>
              </a:tabLst>
            </a:pPr>
            <a:r>
              <a:t>Between 95%-99% of the DNA extracted from Neanderthal fossil is from microbes that colonised the bone after the Neanderthal died.</a:t>
            </a:r>
          </a:p>
          <a:p>
            <a:pPr>
              <a:tabLst>
                <a:tab pos="1016000" algn="l"/>
              </a:tabLst>
            </a:pPr>
            <a:r>
              <a:t>Findings suggest the Neanderthal DNA is 4 billion base pairs long.</a:t>
            </a:r>
          </a:p>
          <a:p>
            <a:pPr lvl="1">
              <a:tabLst>
                <a:tab pos="1485900" algn="l"/>
              </a:tabLst>
            </a:pPr>
            <a:r>
              <a:t>The genomes of modern humans and Neanderthals is 99.7% the same.</a:t>
            </a:r>
          </a:p>
          <a:p>
            <a:pPr lvl="1">
              <a:tabLst>
                <a:tab pos="1485900" algn="l"/>
              </a:tabLst>
            </a:pPr>
            <a:r>
              <a:t>Interbreeding may have occurred 80,000-50,000 years ago, resulting in 1%-4% of Eurasian DNA being derived from Neanderthals.</a:t>
            </a:r>
          </a:p>
          <a:p>
            <a:pPr lvl="1">
              <a:tabLst>
                <a:tab pos="1485900" algn="l"/>
              </a:tabLst>
            </a:pPr>
            <a:r>
              <a:t>Neanderthals are more closely related to present day non-Africans than to Africans.</a:t>
            </a:r>
          </a:p>
        </p:txBody>
      </p:sp>
      <p:pic>
        <p:nvPicPr>
          <p:cNvPr id="464" name="DNA render 2.png"/>
          <p:cNvPicPr>
            <a:picLocks noChangeAspect="1"/>
          </p:cNvPicPr>
          <p:nvPr/>
        </p:nvPicPr>
        <p:blipFill>
          <a:blip r:embed="rId3">
            <a:extLst/>
          </a:blip>
          <a:srcRect t="10275" b="19202"/>
          <a:stretch>
            <a:fillRect/>
          </a:stretch>
        </p:blipFill>
        <p:spPr>
          <a:xfrm rot="3026420">
            <a:off x="8133842" y="-1099125"/>
            <a:ext cx="3038600" cy="9175393"/>
          </a:xfrm>
          <a:custGeom>
            <a:avLst/>
            <a:gdLst/>
            <a:ahLst/>
            <a:cxnLst>
              <a:cxn ang="0">
                <a:pos x="wd2" y="hd2"/>
              </a:cxn>
              <a:cxn ang="5400000">
                <a:pos x="wd2" y="hd2"/>
              </a:cxn>
              <a:cxn ang="10800000">
                <a:pos x="wd2" y="hd2"/>
              </a:cxn>
              <a:cxn ang="16200000">
                <a:pos x="wd2" y="hd2"/>
              </a:cxn>
            </a:cxnLst>
            <a:rect l="0" t="0" r="r" b="b"/>
            <a:pathLst>
              <a:path w="21600" h="21600" extrusionOk="0">
                <a:moveTo>
                  <a:pt x="0" y="5883"/>
                </a:moveTo>
                <a:lnTo>
                  <a:pt x="0" y="16210"/>
                </a:lnTo>
                <a:lnTo>
                  <a:pt x="19702" y="21600"/>
                </a:lnTo>
                <a:lnTo>
                  <a:pt x="21600" y="20839"/>
                </a:lnTo>
                <a:lnTo>
                  <a:pt x="21600" y="1895"/>
                </a:lnTo>
                <a:lnTo>
                  <a:pt x="14675" y="0"/>
                </a:lnTo>
                <a:lnTo>
                  <a:pt x="0" y="5883"/>
                </a:lnTo>
                <a:close/>
              </a:path>
            </a:pathLst>
          </a:custGeom>
          <a:ln w="12700">
            <a:miter lim="400000"/>
          </a:ln>
        </p:spPr>
      </p:pic>
      <p:pic>
        <p:nvPicPr>
          <p:cNvPr id="465" name="Neanderthal skull front.png"/>
          <p:cNvPicPr>
            <a:picLocks noChangeAspect="1"/>
          </p:cNvPicPr>
          <p:nvPr/>
        </p:nvPicPr>
        <p:blipFill>
          <a:blip r:embed="rId4">
            <a:extLst/>
          </a:blip>
          <a:stretch>
            <a:fillRect/>
          </a:stretch>
        </p:blipFill>
        <p:spPr>
          <a:xfrm>
            <a:off x="8069864" y="2115879"/>
            <a:ext cx="3898901" cy="5397501"/>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463">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46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46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46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46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46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46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 grpId="1" build="p" bldLvl="5" animBg="1" advAuto="0"/>
    </p:bldLst>
  </p:timing>
</p:sld>
</file>

<file path=ppt/slides/slide40.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pic>
        <p:nvPicPr>
          <p:cNvPr id="1196" name="IMG_1108.jpeg"/>
          <p:cNvPicPr>
            <a:picLocks noChangeAspect="1"/>
          </p:cNvPicPr>
          <p:nvPr/>
        </p:nvPicPr>
        <p:blipFill>
          <a:blip r:embed="rId3">
            <a:extLst/>
          </a:blip>
          <a:srcRect l="10" t="1012" r="44530" b="11"/>
          <a:stretch>
            <a:fillRect/>
          </a:stretch>
        </p:blipFill>
        <p:spPr>
          <a:xfrm>
            <a:off x="5676900" y="-50800"/>
            <a:ext cx="7340600" cy="9817100"/>
          </a:xfrm>
          <a:prstGeom prst="rect">
            <a:avLst/>
          </a:prstGeom>
          <a:ln w="25400">
            <a:solidFill>
              <a:srgbClr val="FFFFFF"/>
            </a:solidFill>
            <a:miter lim="400000"/>
          </a:ln>
        </p:spPr>
      </p:pic>
      <p:pic>
        <p:nvPicPr>
          <p:cNvPr id="1197" name="Lucy Skeleton Features skel.png"/>
          <p:cNvPicPr>
            <a:picLocks noChangeAspect="1"/>
          </p:cNvPicPr>
          <p:nvPr/>
        </p:nvPicPr>
        <p:blipFill>
          <a:blip r:embed="rId4">
            <a:extLst/>
          </a:blip>
          <a:stretch>
            <a:fillRect/>
          </a:stretch>
        </p:blipFill>
        <p:spPr>
          <a:xfrm>
            <a:off x="8185631" y="2295192"/>
            <a:ext cx="2557901" cy="7258185"/>
          </a:xfrm>
          <a:prstGeom prst="rect">
            <a:avLst/>
          </a:prstGeom>
          <a:ln w="12700">
            <a:miter lim="400000"/>
          </a:ln>
        </p:spPr>
      </p:pic>
      <p:sp>
        <p:nvSpPr>
          <p:cNvPr id="1198" name="Shape 1198"/>
          <p:cNvSpPr>
            <a:spLocks noGrp="1"/>
          </p:cNvSpPr>
          <p:nvPr>
            <p:ph type="title"/>
          </p:nvPr>
        </p:nvSpPr>
        <p:spPr>
          <a:xfrm>
            <a:off x="386079" y="368300"/>
            <a:ext cx="5272585" cy="2672845"/>
          </a:xfrm>
          <a:prstGeom prst="rect">
            <a:avLst/>
          </a:prstGeom>
        </p:spPr>
        <p:txBody>
          <a:bodyPr/>
          <a:lstStyle>
            <a:lvl1pPr>
              <a:tabLst>
                <a:tab pos="952500" algn="l"/>
              </a:tabLst>
            </a:lvl1pPr>
          </a:lstStyle>
          <a:p>
            <a:r>
              <a:t>The Primitive Features of 'Lucy'</a:t>
            </a:r>
          </a:p>
        </p:txBody>
      </p:sp>
      <p:sp>
        <p:nvSpPr>
          <p:cNvPr id="1199" name="Shape 1199"/>
          <p:cNvSpPr>
            <a:spLocks noGrp="1"/>
          </p:cNvSpPr>
          <p:nvPr>
            <p:ph type="body" sz="quarter" idx="1"/>
          </p:nvPr>
        </p:nvSpPr>
        <p:spPr>
          <a:xfrm>
            <a:off x="368300" y="3318619"/>
            <a:ext cx="4929833" cy="3835500"/>
          </a:xfrm>
          <a:prstGeom prst="rect">
            <a:avLst/>
          </a:prstGeom>
        </p:spPr>
        <p:txBody>
          <a:bodyPr/>
          <a:lstStyle/>
          <a:p>
            <a:pPr>
              <a:tabLst>
                <a:tab pos="1016000" algn="l"/>
              </a:tabLst>
            </a:pPr>
            <a:r>
              <a:t>This is a reconstructed skeleton of ‘Lucy’ </a:t>
            </a:r>
            <a:r>
              <a:rPr i="1"/>
              <a:t>Australopithecus afarensis</a:t>
            </a:r>
            <a:r>
              <a:t> – one of the earliest known bipedal hominins.</a:t>
            </a:r>
          </a:p>
          <a:p>
            <a:pPr lvl="1">
              <a:tabLst>
                <a:tab pos="1485900" algn="l"/>
              </a:tabLst>
            </a:pPr>
            <a:r>
              <a:t>The skeleton exhibits features consistent with a species adapted for walking bipedally ....</a:t>
            </a:r>
          </a:p>
          <a:p>
            <a:pPr lvl="1">
              <a:tabLst>
                <a:tab pos="1485900" algn="l"/>
              </a:tabLst>
            </a:pPr>
            <a:r>
              <a:t>But it also possesses many ‘primitive’ features normally associated with an arboreal existence.</a:t>
            </a:r>
          </a:p>
        </p:txBody>
      </p:sp>
      <p:sp>
        <p:nvSpPr>
          <p:cNvPr id="1200" name="Shape 1200"/>
          <p:cNvSpPr/>
          <p:nvPr/>
        </p:nvSpPr>
        <p:spPr>
          <a:xfrm>
            <a:off x="10223500" y="2209800"/>
            <a:ext cx="2159000" cy="7926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100"/>
              </a:lnSpc>
              <a:tabLst>
                <a:tab pos="520700" algn="l"/>
              </a:tabLst>
              <a:defRPr>
                <a:solidFill>
                  <a:srgbClr val="FFFFFF"/>
                </a:solidFill>
              </a:defRPr>
            </a:lvl1pPr>
          </a:lstStyle>
          <a:p>
            <a:r>
              <a:t>Sexual dimorphism in the canine teeth (a primitive trait)</a:t>
            </a:r>
          </a:p>
        </p:txBody>
      </p:sp>
      <p:sp>
        <p:nvSpPr>
          <p:cNvPr id="1201" name="Shape 1201"/>
          <p:cNvSpPr/>
          <p:nvPr/>
        </p:nvSpPr>
        <p:spPr>
          <a:xfrm>
            <a:off x="10464800" y="3365500"/>
            <a:ext cx="2006600" cy="7926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100"/>
              </a:lnSpc>
              <a:tabLst>
                <a:tab pos="520700" algn="l"/>
              </a:tabLst>
              <a:defRPr>
                <a:solidFill>
                  <a:srgbClr val="FFFFFF"/>
                </a:solidFill>
              </a:defRPr>
            </a:lvl1pPr>
          </a:lstStyle>
          <a:p>
            <a:r>
              <a:t>Shoulder joint that is orientated towards the head</a:t>
            </a:r>
          </a:p>
        </p:txBody>
      </p:sp>
      <p:sp>
        <p:nvSpPr>
          <p:cNvPr id="1202" name="Shape 1202"/>
          <p:cNvSpPr/>
          <p:nvPr/>
        </p:nvSpPr>
        <p:spPr>
          <a:xfrm>
            <a:off x="10617200" y="4584700"/>
            <a:ext cx="1816100" cy="7926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100"/>
              </a:lnSpc>
              <a:tabLst>
                <a:tab pos="520700" algn="l"/>
              </a:tabLst>
              <a:defRPr>
                <a:solidFill>
                  <a:srgbClr val="FFFFFF"/>
                </a:solidFill>
              </a:defRPr>
            </a:lvl1pPr>
          </a:lstStyle>
          <a:p>
            <a:r>
              <a:t>Relatively long arms compared to legs</a:t>
            </a:r>
          </a:p>
        </p:txBody>
      </p:sp>
      <p:sp>
        <p:nvSpPr>
          <p:cNvPr id="1203" name="Shape 1203"/>
          <p:cNvSpPr/>
          <p:nvPr/>
        </p:nvSpPr>
        <p:spPr>
          <a:xfrm>
            <a:off x="10807700" y="6921500"/>
            <a:ext cx="1536700" cy="5259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100"/>
              </a:lnSpc>
              <a:tabLst>
                <a:tab pos="520700" algn="l"/>
              </a:tabLst>
              <a:defRPr>
                <a:solidFill>
                  <a:srgbClr val="FFFFFF"/>
                </a:solidFill>
              </a:defRPr>
            </a:lvl1pPr>
          </a:lstStyle>
          <a:p>
            <a:r>
              <a:t>Finger bones are curved</a:t>
            </a:r>
          </a:p>
        </p:txBody>
      </p:sp>
      <p:sp>
        <p:nvSpPr>
          <p:cNvPr id="1204" name="Shape 1204"/>
          <p:cNvSpPr/>
          <p:nvPr/>
        </p:nvSpPr>
        <p:spPr>
          <a:xfrm>
            <a:off x="10236200" y="8305800"/>
            <a:ext cx="1536700" cy="5259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100"/>
              </a:lnSpc>
              <a:tabLst>
                <a:tab pos="520700" algn="l"/>
              </a:tabLst>
              <a:defRPr>
                <a:solidFill>
                  <a:srgbClr val="FFFFFF"/>
                </a:solidFill>
              </a:defRPr>
            </a:lvl1pPr>
          </a:lstStyle>
          <a:p>
            <a:r>
              <a:t>Toes are long and curved</a:t>
            </a:r>
          </a:p>
        </p:txBody>
      </p:sp>
      <p:sp>
        <p:nvSpPr>
          <p:cNvPr id="1205" name="Shape 1205"/>
          <p:cNvSpPr/>
          <p:nvPr/>
        </p:nvSpPr>
        <p:spPr>
          <a:xfrm>
            <a:off x="6464300" y="2082800"/>
            <a:ext cx="2209800" cy="10593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100"/>
              </a:lnSpc>
              <a:tabLst>
                <a:tab pos="520700" algn="l"/>
              </a:tabLst>
              <a:defRPr>
                <a:solidFill>
                  <a:srgbClr val="FFFFFF"/>
                </a:solidFill>
              </a:defRPr>
            </a:lvl1pPr>
          </a:lstStyle>
          <a:p>
            <a:r>
              <a:t>Jaw shape half way between V-shape of ape's and U-shape of human jaw</a:t>
            </a:r>
          </a:p>
        </p:txBody>
      </p:sp>
      <p:sp>
        <p:nvSpPr>
          <p:cNvPr id="1206" name="Shape 1206"/>
          <p:cNvSpPr/>
          <p:nvPr/>
        </p:nvSpPr>
        <p:spPr>
          <a:xfrm>
            <a:off x="6489700" y="3898900"/>
            <a:ext cx="1816100" cy="5259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100"/>
              </a:lnSpc>
              <a:tabLst>
                <a:tab pos="520700" algn="l"/>
              </a:tabLst>
              <a:defRPr>
                <a:solidFill>
                  <a:srgbClr val="FFFFFF"/>
                </a:solidFill>
              </a:defRPr>
            </a:lvl1pPr>
          </a:lstStyle>
          <a:p>
            <a:r>
              <a:t>Chest (thorax) is funnel-shaped</a:t>
            </a:r>
          </a:p>
        </p:txBody>
      </p:sp>
      <p:sp>
        <p:nvSpPr>
          <p:cNvPr id="1207" name="Shape 1207"/>
          <p:cNvSpPr/>
          <p:nvPr/>
        </p:nvSpPr>
        <p:spPr>
          <a:xfrm>
            <a:off x="6172200" y="6464300"/>
            <a:ext cx="1460500" cy="5259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100"/>
              </a:lnSpc>
              <a:tabLst>
                <a:tab pos="520700" algn="l"/>
              </a:tabLst>
              <a:defRPr>
                <a:solidFill>
                  <a:srgbClr val="FFFFFF"/>
                </a:solidFill>
              </a:defRPr>
            </a:lvl1pPr>
          </a:lstStyle>
          <a:p>
            <a:r>
              <a:t>Wrist has high mobility</a:t>
            </a:r>
          </a:p>
        </p:txBody>
      </p:sp>
      <p:sp>
        <p:nvSpPr>
          <p:cNvPr id="1208" name="Shape 1208"/>
          <p:cNvSpPr/>
          <p:nvPr/>
        </p:nvSpPr>
        <p:spPr>
          <a:xfrm>
            <a:off x="7340600" y="7277100"/>
            <a:ext cx="1206500" cy="5259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100"/>
              </a:lnSpc>
              <a:tabLst>
                <a:tab pos="520700" algn="l"/>
              </a:tabLst>
              <a:defRPr>
                <a:solidFill>
                  <a:srgbClr val="FFFFFF"/>
                </a:solidFill>
              </a:defRPr>
            </a:lvl1pPr>
          </a:lstStyle>
          <a:p>
            <a:r>
              <a:t>Relatively short legs</a:t>
            </a:r>
          </a:p>
        </p:txBody>
      </p:sp>
      <p:sp>
        <p:nvSpPr>
          <p:cNvPr id="1209" name="Shape 1209"/>
          <p:cNvSpPr/>
          <p:nvPr/>
        </p:nvSpPr>
        <p:spPr>
          <a:xfrm>
            <a:off x="6629400" y="8305800"/>
            <a:ext cx="1536700" cy="5259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100"/>
              </a:lnSpc>
              <a:tabLst>
                <a:tab pos="520700" algn="l"/>
              </a:tabLst>
              <a:defRPr>
                <a:solidFill>
                  <a:srgbClr val="FFFFFF"/>
                </a:solidFill>
              </a:defRPr>
            </a:lvl1pPr>
          </a:lstStyle>
          <a:p>
            <a:r>
              <a:t>Ankle joint is highly mobile</a:t>
            </a:r>
          </a:p>
        </p:txBody>
      </p:sp>
      <p:sp>
        <p:nvSpPr>
          <p:cNvPr id="1210" name="Shape 1210"/>
          <p:cNvSpPr/>
          <p:nvPr/>
        </p:nvSpPr>
        <p:spPr>
          <a:xfrm>
            <a:off x="11061700" y="9232900"/>
            <a:ext cx="1752600" cy="3175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1500"/>
              </a:lnSpc>
              <a:tabLst>
                <a:tab pos="520700" algn="l"/>
              </a:tabLst>
              <a:defRPr sz="1000">
                <a:solidFill>
                  <a:srgbClr val="000000"/>
                </a:solidFill>
              </a:defRPr>
            </a:lvl1pPr>
          </a:lstStyle>
          <a:p>
            <a:r>
              <a:t>Redrawn from a photograph by © David L. Brill 1985</a:t>
            </a:r>
          </a:p>
        </p:txBody>
      </p:sp>
      <p:sp>
        <p:nvSpPr>
          <p:cNvPr id="1211" name="Shape 1211"/>
          <p:cNvSpPr/>
          <p:nvPr/>
        </p:nvSpPr>
        <p:spPr>
          <a:xfrm>
            <a:off x="10587566" y="6819900"/>
            <a:ext cx="270934" cy="355600"/>
          </a:xfrm>
          <a:prstGeom prst="line">
            <a:avLst/>
          </a:prstGeom>
          <a:ln w="25400">
            <a:solidFill>
              <a:srgbClr val="F38C1E"/>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212" name="Shape 1212"/>
          <p:cNvSpPr/>
          <p:nvPr/>
        </p:nvSpPr>
        <p:spPr>
          <a:xfrm flipH="1" flipV="1">
            <a:off x="8559800" y="2696633"/>
            <a:ext cx="711200" cy="296334"/>
          </a:xfrm>
          <a:prstGeom prst="line">
            <a:avLst/>
          </a:prstGeom>
          <a:ln w="25400">
            <a:solidFill>
              <a:srgbClr val="F38C1E"/>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213" name="Shape 1213"/>
          <p:cNvSpPr/>
          <p:nvPr/>
        </p:nvSpPr>
        <p:spPr>
          <a:xfrm flipV="1">
            <a:off x="9795933" y="2755900"/>
            <a:ext cx="491067" cy="203200"/>
          </a:xfrm>
          <a:prstGeom prst="line">
            <a:avLst/>
          </a:prstGeom>
          <a:ln w="25400">
            <a:solidFill>
              <a:srgbClr val="F38C1E"/>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214" name="Shape 1214"/>
          <p:cNvSpPr/>
          <p:nvPr/>
        </p:nvSpPr>
        <p:spPr>
          <a:xfrm flipV="1">
            <a:off x="10088033" y="3492500"/>
            <a:ext cx="397934" cy="152400"/>
          </a:xfrm>
          <a:prstGeom prst="line">
            <a:avLst/>
          </a:prstGeom>
          <a:ln w="25400">
            <a:solidFill>
              <a:srgbClr val="F38C1E"/>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215" name="Shape 1215"/>
          <p:cNvSpPr/>
          <p:nvPr/>
        </p:nvSpPr>
        <p:spPr>
          <a:xfrm flipV="1">
            <a:off x="10100733" y="4906433"/>
            <a:ext cx="601134" cy="8467"/>
          </a:xfrm>
          <a:prstGeom prst="line">
            <a:avLst/>
          </a:prstGeom>
          <a:ln w="25400">
            <a:solidFill>
              <a:srgbClr val="F38C1E"/>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216" name="Shape 1216"/>
          <p:cNvSpPr/>
          <p:nvPr/>
        </p:nvSpPr>
        <p:spPr>
          <a:xfrm flipH="1" flipV="1">
            <a:off x="8377766" y="4042833"/>
            <a:ext cx="918634" cy="93134"/>
          </a:xfrm>
          <a:prstGeom prst="line">
            <a:avLst/>
          </a:prstGeom>
          <a:ln w="25400">
            <a:solidFill>
              <a:srgbClr val="F38C1E"/>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217" name="Shape 1217"/>
          <p:cNvSpPr/>
          <p:nvPr/>
        </p:nvSpPr>
        <p:spPr>
          <a:xfrm flipV="1">
            <a:off x="10287000" y="8877300"/>
            <a:ext cx="241300" cy="397934"/>
          </a:xfrm>
          <a:prstGeom prst="line">
            <a:avLst/>
          </a:prstGeom>
          <a:ln w="25400">
            <a:solidFill>
              <a:srgbClr val="F38C1E"/>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218" name="Shape 1218"/>
          <p:cNvSpPr/>
          <p:nvPr/>
        </p:nvSpPr>
        <p:spPr>
          <a:xfrm flipH="1" flipV="1">
            <a:off x="8153400" y="8614833"/>
            <a:ext cx="440267" cy="135467"/>
          </a:xfrm>
          <a:prstGeom prst="line">
            <a:avLst/>
          </a:prstGeom>
          <a:ln w="25400">
            <a:solidFill>
              <a:srgbClr val="F38C1E"/>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219" name="Shape 1219"/>
          <p:cNvSpPr/>
          <p:nvPr/>
        </p:nvSpPr>
        <p:spPr>
          <a:xfrm flipH="1">
            <a:off x="8542866" y="6955366"/>
            <a:ext cx="626534" cy="474134"/>
          </a:xfrm>
          <a:prstGeom prst="line">
            <a:avLst/>
          </a:prstGeom>
          <a:ln w="25400">
            <a:solidFill>
              <a:srgbClr val="F38C1E"/>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220" name="Shape 1220"/>
          <p:cNvSpPr/>
          <p:nvPr/>
        </p:nvSpPr>
        <p:spPr>
          <a:xfrm flipH="1">
            <a:off x="7366000" y="6548966"/>
            <a:ext cx="901700" cy="118534"/>
          </a:xfrm>
          <a:prstGeom prst="line">
            <a:avLst/>
          </a:prstGeom>
          <a:ln w="25400">
            <a:solidFill>
              <a:srgbClr val="F38C1E"/>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199">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19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19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1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9" grpId="1" build="p" bldLvl="5" animBg="1" advAuto="0"/>
    </p:bldLst>
  </p:timing>
</p:sld>
</file>

<file path=ppt/slides/slide41.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333" name="Shape 1333"/>
          <p:cNvSpPr/>
          <p:nvPr/>
        </p:nvSpPr>
        <p:spPr>
          <a:xfrm>
            <a:off x="6253677" y="1183282"/>
            <a:ext cx="6796725" cy="8630287"/>
          </a:xfrm>
          <a:prstGeom prst="rect">
            <a:avLst/>
          </a:prstGeom>
          <a:solidFill>
            <a:srgbClr val="FFFFFF">
              <a:alpha val="50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334" name="Shape 1334"/>
          <p:cNvSpPr>
            <a:spLocks noGrp="1"/>
          </p:cNvSpPr>
          <p:nvPr>
            <p:ph type="title"/>
          </p:nvPr>
        </p:nvSpPr>
        <p:spPr>
          <a:prstGeom prst="rect">
            <a:avLst/>
          </a:prstGeom>
        </p:spPr>
        <p:txBody>
          <a:bodyPr/>
          <a:lstStyle>
            <a:lvl1pPr>
              <a:tabLst>
                <a:tab pos="952500" algn="l"/>
              </a:tabLst>
              <a:defRPr i="1"/>
            </a:lvl1pPr>
          </a:lstStyle>
          <a:p>
            <a:r>
              <a:t>Homo floresiensis</a:t>
            </a:r>
          </a:p>
        </p:txBody>
      </p:sp>
      <p:sp>
        <p:nvSpPr>
          <p:cNvPr id="1335" name="Shape 1335"/>
          <p:cNvSpPr>
            <a:spLocks noGrp="1"/>
          </p:cNvSpPr>
          <p:nvPr>
            <p:ph type="body" sz="half" idx="1"/>
          </p:nvPr>
        </p:nvSpPr>
        <p:spPr>
          <a:xfrm>
            <a:off x="368300" y="1790700"/>
            <a:ext cx="5279896" cy="7543800"/>
          </a:xfrm>
          <a:prstGeom prst="rect">
            <a:avLst/>
          </a:prstGeom>
        </p:spPr>
        <p:txBody>
          <a:bodyPr/>
          <a:lstStyle/>
          <a:p>
            <a:pPr>
              <a:tabLst>
                <a:tab pos="1016000" algn="l"/>
              </a:tabLst>
            </a:pPr>
            <a:r>
              <a:t>Discovered in 2003 on the Indonesian island of Flores, nicknamed ‘the hobbit’, these hominins lived 190,000 - 50,000 years ago.</a:t>
            </a:r>
          </a:p>
          <a:p>
            <a:pPr lvl="1">
              <a:tabLst>
                <a:tab pos="1485900" algn="l"/>
              </a:tabLst>
            </a:pPr>
            <a:r>
              <a:t>The dimensions of the skull and skeleton of </a:t>
            </a:r>
            <a:r>
              <a:rPr i="1"/>
              <a:t>H. floresiensis</a:t>
            </a:r>
            <a:r>
              <a:t> fall well outside the extremes seen in </a:t>
            </a:r>
            <a:r>
              <a:rPr i="1"/>
              <a:t>H. sapiens</a:t>
            </a:r>
            <a:r>
              <a:t>.</a:t>
            </a:r>
          </a:p>
          <a:p>
            <a:pPr lvl="1">
              <a:tabLst>
                <a:tab pos="1485900" algn="l"/>
              </a:tabLst>
            </a:pPr>
            <a:r>
              <a:t>It is equal to the smallest known australopithecines, and approaches that of modern chimpanzees (which have a brain size of 400 cc).</a:t>
            </a:r>
          </a:p>
        </p:txBody>
      </p:sp>
      <p:sp>
        <p:nvSpPr>
          <p:cNvPr id="1336" name="Shape 1336"/>
          <p:cNvSpPr/>
          <p:nvPr/>
        </p:nvSpPr>
        <p:spPr>
          <a:xfrm>
            <a:off x="8016240" y="8572500"/>
            <a:ext cx="3949701" cy="5259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marL="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rgbClr val="006795"/>
                </a:solidFill>
              </a:defRPr>
            </a:pPr>
            <a:r>
              <a:rPr i="1"/>
              <a:t>H. floresiensis</a:t>
            </a:r>
            <a:r>
              <a:t> skull shown next to a modern human skull to show its size.</a:t>
            </a:r>
          </a:p>
        </p:txBody>
      </p:sp>
      <p:pic>
        <p:nvPicPr>
          <p:cNvPr id="1337" name="SU-Floresiensis-compared.png"/>
          <p:cNvPicPr>
            <a:picLocks noChangeAspect="1"/>
          </p:cNvPicPr>
          <p:nvPr/>
        </p:nvPicPr>
        <p:blipFill>
          <a:blip r:embed="rId3">
            <a:extLst/>
          </a:blip>
          <a:stretch>
            <a:fillRect/>
          </a:stretch>
        </p:blipFill>
        <p:spPr>
          <a:xfrm>
            <a:off x="6832600" y="4495800"/>
            <a:ext cx="4972364" cy="3898900"/>
          </a:xfrm>
          <a:prstGeom prst="rect">
            <a:avLst/>
          </a:prstGeom>
          <a:ln w="12700">
            <a:miter lim="400000"/>
          </a:ln>
        </p:spPr>
      </p:pic>
      <p:pic>
        <p:nvPicPr>
          <p:cNvPr id="1338" name="SouthEast Asia.png"/>
          <p:cNvPicPr>
            <a:picLocks noChangeAspect="1"/>
          </p:cNvPicPr>
          <p:nvPr/>
        </p:nvPicPr>
        <p:blipFill>
          <a:blip r:embed="rId4">
            <a:extLst/>
          </a:blip>
          <a:srcRect l="423" r="24635" b="64896"/>
          <a:stretch>
            <a:fillRect/>
          </a:stretch>
        </p:blipFill>
        <p:spPr>
          <a:xfrm>
            <a:off x="6261100" y="1185712"/>
            <a:ext cx="6747907" cy="3183088"/>
          </a:xfrm>
          <a:prstGeom prst="rect">
            <a:avLst/>
          </a:prstGeom>
          <a:ln w="12700">
            <a:miter lim="400000"/>
          </a:ln>
        </p:spPr>
      </p:pic>
      <p:sp>
        <p:nvSpPr>
          <p:cNvPr id="1339" name="Shape 1339"/>
          <p:cNvSpPr/>
          <p:nvPr/>
        </p:nvSpPr>
        <p:spPr>
          <a:xfrm>
            <a:off x="10160000" y="4127500"/>
            <a:ext cx="757883" cy="259222"/>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nSpc>
                <a:spcPts val="2100"/>
              </a:lnSpc>
              <a:tabLst>
                <a:tab pos="520700" algn="l"/>
              </a:tabLst>
              <a:defRPr b="1">
                <a:solidFill>
                  <a:srgbClr val="000000"/>
                </a:solidFill>
              </a:defRPr>
            </a:lvl1pPr>
          </a:lstStyle>
          <a:p>
            <a:r>
              <a:t>Timor</a:t>
            </a:r>
          </a:p>
        </p:txBody>
      </p:sp>
      <p:sp>
        <p:nvSpPr>
          <p:cNvPr id="1340" name="Shape 1340"/>
          <p:cNvSpPr/>
          <p:nvPr/>
        </p:nvSpPr>
        <p:spPr>
          <a:xfrm>
            <a:off x="9855200" y="3492500"/>
            <a:ext cx="813024" cy="259222"/>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nSpc>
                <a:spcPts val="2100"/>
              </a:lnSpc>
              <a:tabLst>
                <a:tab pos="520700" algn="l"/>
              </a:tabLst>
              <a:defRPr b="1">
                <a:solidFill>
                  <a:srgbClr val="006795"/>
                </a:solidFill>
              </a:defRPr>
            </a:lvl1pPr>
          </a:lstStyle>
          <a:p>
            <a:r>
              <a:t>Flores</a:t>
            </a:r>
          </a:p>
        </p:txBody>
      </p:sp>
      <p:sp>
        <p:nvSpPr>
          <p:cNvPr id="1341" name="Shape 1341"/>
          <p:cNvSpPr/>
          <p:nvPr/>
        </p:nvSpPr>
        <p:spPr>
          <a:xfrm flipV="1">
            <a:off x="9525000" y="3708400"/>
            <a:ext cx="355600" cy="266700"/>
          </a:xfrm>
          <a:prstGeom prst="line">
            <a:avLst/>
          </a:prstGeom>
          <a:ln w="508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342" name="Shape 1342"/>
          <p:cNvSpPr/>
          <p:nvPr/>
        </p:nvSpPr>
        <p:spPr>
          <a:xfrm>
            <a:off x="6883400" y="4000500"/>
            <a:ext cx="635546" cy="259222"/>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nSpc>
                <a:spcPts val="2100"/>
              </a:lnSpc>
              <a:tabLst>
                <a:tab pos="520700" algn="l"/>
              </a:tabLst>
              <a:defRPr b="1">
                <a:solidFill>
                  <a:srgbClr val="000000"/>
                </a:solidFill>
              </a:defRPr>
            </a:lvl1pPr>
          </a:lstStyle>
          <a:p>
            <a:r>
              <a:t>Java</a:t>
            </a:r>
          </a:p>
        </p:txBody>
      </p:sp>
      <p:sp>
        <p:nvSpPr>
          <p:cNvPr id="1343" name="Shape 1343"/>
          <p:cNvSpPr/>
          <p:nvPr/>
        </p:nvSpPr>
        <p:spPr>
          <a:xfrm>
            <a:off x="9156700" y="2438400"/>
            <a:ext cx="1105359" cy="259222"/>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nSpc>
                <a:spcPts val="2100"/>
              </a:lnSpc>
              <a:tabLst>
                <a:tab pos="520700" algn="l"/>
              </a:tabLst>
              <a:defRPr b="1">
                <a:solidFill>
                  <a:srgbClr val="000000"/>
                </a:solidFill>
              </a:defRPr>
            </a:lvl1pPr>
          </a:lstStyle>
          <a:p>
            <a:r>
              <a:t>Sulawesi</a:t>
            </a:r>
          </a:p>
        </p:txBody>
      </p:sp>
      <p:sp>
        <p:nvSpPr>
          <p:cNvPr id="1344" name="Shape 1344"/>
          <p:cNvSpPr/>
          <p:nvPr/>
        </p:nvSpPr>
        <p:spPr>
          <a:xfrm>
            <a:off x="7277100" y="1333500"/>
            <a:ext cx="927100" cy="259222"/>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nSpc>
                <a:spcPts val="2100"/>
              </a:lnSpc>
              <a:tabLst>
                <a:tab pos="520700" algn="l"/>
              </a:tabLst>
              <a:defRPr b="1">
                <a:solidFill>
                  <a:srgbClr val="000000"/>
                </a:solidFill>
              </a:defRPr>
            </a:lvl1pPr>
          </a:lstStyle>
          <a:p>
            <a:r>
              <a:t>Borneo</a:t>
            </a:r>
          </a:p>
        </p:txBody>
      </p:sp>
      <p:sp>
        <p:nvSpPr>
          <p:cNvPr id="1345" name="Shape 1345"/>
          <p:cNvSpPr/>
          <p:nvPr/>
        </p:nvSpPr>
        <p:spPr>
          <a:xfrm>
            <a:off x="6261100" y="3035300"/>
            <a:ext cx="1041735" cy="259222"/>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nSpc>
                <a:spcPts val="2100"/>
              </a:lnSpc>
              <a:tabLst>
                <a:tab pos="520700" algn="l"/>
              </a:tabLst>
              <a:defRPr b="1">
                <a:solidFill>
                  <a:srgbClr val="000000"/>
                </a:solidFill>
              </a:defRPr>
            </a:lvl1pPr>
          </a:lstStyle>
          <a:p>
            <a:r>
              <a:t>Sumatra</a:t>
            </a:r>
          </a:p>
        </p:txBody>
      </p:sp>
      <p:sp>
        <p:nvSpPr>
          <p:cNvPr id="1346" name="Shape 1346"/>
          <p:cNvSpPr/>
          <p:nvPr/>
        </p:nvSpPr>
        <p:spPr>
          <a:xfrm>
            <a:off x="11493500" y="2171700"/>
            <a:ext cx="1485900" cy="2592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nSpc>
                <a:spcPts val="2100"/>
              </a:lnSpc>
              <a:tabLst>
                <a:tab pos="520700" algn="l"/>
              </a:tabLst>
              <a:defRPr b="1">
                <a:solidFill>
                  <a:srgbClr val="000000"/>
                </a:solidFill>
              </a:defRPr>
            </a:lvl1pPr>
          </a:lstStyle>
          <a:p>
            <a:r>
              <a:t>New Guinea</a:t>
            </a:r>
          </a:p>
        </p:txBody>
      </p:sp>
      <p:sp>
        <p:nvSpPr>
          <p:cNvPr id="1347" name="Shape 1347"/>
          <p:cNvSpPr/>
          <p:nvPr/>
        </p:nvSpPr>
        <p:spPr>
          <a:xfrm>
            <a:off x="10337800" y="9486900"/>
            <a:ext cx="2565400" cy="1397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a:lnSpc>
                <a:spcPts val="1200"/>
              </a:lnSpc>
              <a:tabLst>
                <a:tab pos="520700" algn="l"/>
              </a:tabLst>
              <a:defRPr sz="1000">
                <a:solidFill>
                  <a:srgbClr val="483F36"/>
                </a:solidFill>
              </a:defRPr>
            </a:pPr>
            <a:r>
              <a:t>Photo courtesy of: </a:t>
            </a:r>
            <a:r>
              <a:rPr b="1"/>
              <a:t>SkullsUnlimited.com</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335">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33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33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3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5" grpId="1" build="p" bldLvl="5" animBg="1" advAuto="0"/>
    </p:bldLst>
  </p:timing>
</p:sld>
</file>

<file path=ppt/slides/slide42.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349" name="Shape 1349"/>
          <p:cNvSpPr/>
          <p:nvPr/>
        </p:nvSpPr>
        <p:spPr>
          <a:xfrm>
            <a:off x="7201018" y="1469667"/>
            <a:ext cx="5849384" cy="8343902"/>
          </a:xfrm>
          <a:prstGeom prst="rect">
            <a:avLst/>
          </a:prstGeom>
          <a:solidFill>
            <a:srgbClr val="FFFFFF">
              <a:alpha val="50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350" name="Shape 1350"/>
          <p:cNvSpPr>
            <a:spLocks noGrp="1"/>
          </p:cNvSpPr>
          <p:nvPr>
            <p:ph type="title"/>
          </p:nvPr>
        </p:nvSpPr>
        <p:spPr>
          <a:xfrm>
            <a:off x="386079" y="368300"/>
            <a:ext cx="11884324" cy="915879"/>
          </a:xfrm>
          <a:prstGeom prst="rect">
            <a:avLst/>
          </a:prstGeom>
        </p:spPr>
        <p:txBody>
          <a:bodyPr/>
          <a:lstStyle>
            <a:lvl1pPr>
              <a:tabLst>
                <a:tab pos="952500" algn="l"/>
              </a:tabLst>
              <a:defRPr i="1"/>
            </a:lvl1pPr>
          </a:lstStyle>
          <a:p>
            <a:r>
              <a:t>Homo floresiensis</a:t>
            </a:r>
          </a:p>
        </p:txBody>
      </p:sp>
      <p:sp>
        <p:nvSpPr>
          <p:cNvPr id="1351" name="Shape 1351"/>
          <p:cNvSpPr>
            <a:spLocks noGrp="1"/>
          </p:cNvSpPr>
          <p:nvPr>
            <p:ph type="body" sz="half" idx="1"/>
          </p:nvPr>
        </p:nvSpPr>
        <p:spPr>
          <a:xfrm>
            <a:off x="368300" y="1790700"/>
            <a:ext cx="6191945" cy="7543800"/>
          </a:xfrm>
          <a:prstGeom prst="rect">
            <a:avLst/>
          </a:prstGeom>
        </p:spPr>
        <p:txBody>
          <a:bodyPr/>
          <a:lstStyle/>
          <a:p>
            <a:pPr>
              <a:tabLst>
                <a:tab pos="1016000" algn="l"/>
              </a:tabLst>
            </a:pPr>
            <a:r>
              <a:t>Fossils from a number of individuals include a 30 year old female with a brain size of 380 cc and standing just 1.0 m tall.</a:t>
            </a:r>
          </a:p>
          <a:p>
            <a:pPr>
              <a:tabLst>
                <a:tab pos="1016000" algn="l"/>
              </a:tabLst>
            </a:pPr>
            <a:r>
              <a:t>One theory was that the species resulted from long-term isolation, with subsequent endemic dwarfing, of an ancestral </a:t>
            </a:r>
            <a:r>
              <a:rPr i="1"/>
              <a:t>Homo erectus</a:t>
            </a:r>
            <a:r>
              <a:t> population (dwarf forms of large mainland mammal species are not uncommon on islands).</a:t>
            </a:r>
          </a:p>
          <a:p>
            <a:pPr lvl="1">
              <a:tabLst>
                <a:tab pos="1485900" algn="l"/>
              </a:tabLst>
            </a:pPr>
            <a:r>
              <a:t>The fossils astounded scientists by showing clear signs that (despite their very small brain size) the species used stone tools and fire, and hunted dwarf elephants, also found on the island.</a:t>
            </a:r>
          </a:p>
          <a:p>
            <a:pPr marL="660000" lvl="1" indent="-300000">
              <a:buClr>
                <a:srgbClr val="000000"/>
              </a:buClr>
              <a:buSzPct val="100000"/>
              <a:buFont typeface="Lucida Grande"/>
              <a:tabLst>
                <a:tab pos="1485900" algn="l"/>
              </a:tabLst>
            </a:pPr>
            <a:r>
              <a:t>However, latest analyses support the theory that </a:t>
            </a:r>
            <a:r>
              <a:rPr i="1"/>
              <a:t>Homo floresiensis</a:t>
            </a:r>
            <a:r>
              <a:t> evolved in Africa and then migrated and probably shared a common ancestor with</a:t>
            </a:r>
            <a:r>
              <a:rPr i="1"/>
              <a:t> Homo habilis</a:t>
            </a:r>
            <a:r>
              <a:t>. It is far more primitive than </a:t>
            </a:r>
            <a:r>
              <a:rPr i="1"/>
              <a:t>Homo erectus</a:t>
            </a:r>
            <a:r>
              <a:t> and now not thought to have evolved from them as was originally thought.</a:t>
            </a:r>
          </a:p>
        </p:txBody>
      </p:sp>
      <p:sp>
        <p:nvSpPr>
          <p:cNvPr id="1352" name="Shape 1352"/>
          <p:cNvSpPr/>
          <p:nvPr/>
        </p:nvSpPr>
        <p:spPr>
          <a:xfrm>
            <a:off x="8100059" y="8145780"/>
            <a:ext cx="4051301" cy="8688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marL="0">
              <a:lnSpc>
                <a:spcPts val="24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rgbClr val="006795"/>
                </a:solidFill>
              </a:defRPr>
            </a:pPr>
            <a:r>
              <a:rPr i="1"/>
              <a:t>H. floresiensis</a:t>
            </a:r>
            <a:r>
              <a:t> may have been part of the Asian dispersals of the descendants of </a:t>
            </a:r>
            <a:r>
              <a:rPr i="1"/>
              <a:t>H. ergaster</a:t>
            </a:r>
            <a:r>
              <a:t> and </a:t>
            </a:r>
            <a:r>
              <a:rPr i="1"/>
              <a:t>H. erectus</a:t>
            </a:r>
            <a:r>
              <a:t>.</a:t>
            </a:r>
          </a:p>
        </p:txBody>
      </p:sp>
      <p:pic>
        <p:nvPicPr>
          <p:cNvPr id="1353" name="SU-Floresiensis.png"/>
          <p:cNvPicPr>
            <a:picLocks noChangeAspect="1"/>
          </p:cNvPicPr>
          <p:nvPr/>
        </p:nvPicPr>
        <p:blipFill>
          <a:blip r:embed="rId3">
            <a:extLst/>
          </a:blip>
          <a:stretch>
            <a:fillRect/>
          </a:stretch>
        </p:blipFill>
        <p:spPr>
          <a:xfrm>
            <a:off x="7696200" y="1689100"/>
            <a:ext cx="4838700" cy="6019800"/>
          </a:xfrm>
          <a:prstGeom prst="rect">
            <a:avLst/>
          </a:prstGeom>
          <a:ln w="12700">
            <a:miter lim="400000"/>
          </a:ln>
        </p:spPr>
      </p:pic>
      <p:sp>
        <p:nvSpPr>
          <p:cNvPr id="1354" name="Shape 1354"/>
          <p:cNvSpPr/>
          <p:nvPr/>
        </p:nvSpPr>
        <p:spPr>
          <a:xfrm>
            <a:off x="10337800" y="9486900"/>
            <a:ext cx="2565400" cy="1397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a:lnSpc>
                <a:spcPts val="1200"/>
              </a:lnSpc>
              <a:tabLst>
                <a:tab pos="520700" algn="l"/>
              </a:tabLst>
              <a:defRPr sz="1000">
                <a:solidFill>
                  <a:srgbClr val="483F36"/>
                </a:solidFill>
              </a:defRPr>
            </a:pPr>
            <a:r>
              <a:t>Photo courtesy of: </a:t>
            </a:r>
            <a:r>
              <a:rPr b="1"/>
              <a:t>SkullsUnlimited.com</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351">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35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35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351">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3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 grpId="1" build="p" bldLvl="5" animBg="1" advAuto="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356" name="Shape 1356"/>
          <p:cNvSpPr>
            <a:spLocks noGrp="1"/>
          </p:cNvSpPr>
          <p:nvPr>
            <p:ph type="title"/>
          </p:nvPr>
        </p:nvSpPr>
        <p:spPr>
          <a:xfrm>
            <a:off x="2943294" y="368300"/>
            <a:ext cx="9634786" cy="900351"/>
          </a:xfrm>
          <a:prstGeom prst="rect">
            <a:avLst/>
          </a:prstGeom>
        </p:spPr>
        <p:txBody>
          <a:bodyPr/>
          <a:lstStyle>
            <a:lvl1pPr>
              <a:tabLst>
                <a:tab pos="952500" algn="l"/>
              </a:tabLst>
              <a:defRPr i="1"/>
            </a:lvl1pPr>
          </a:lstStyle>
          <a:p>
            <a:r>
              <a:t>Homo floresiensis</a:t>
            </a:r>
          </a:p>
        </p:txBody>
      </p:sp>
      <p:graphicFrame>
        <p:nvGraphicFramePr>
          <p:cNvPr id="1357" name="Table 1357"/>
          <p:cNvGraphicFramePr/>
          <p:nvPr/>
        </p:nvGraphicFramePr>
        <p:xfrm>
          <a:off x="7239000" y="1917700"/>
          <a:ext cx="5156204" cy="6512121"/>
        </p:xfrm>
        <a:graphic>
          <a:graphicData uri="http://schemas.openxmlformats.org/drawingml/2006/table">
            <a:tbl>
              <a:tblPr>
                <a:tableStyleId>{8F44A2F1-9E1F-4B54-A3A2-5F16C0AD49E2}</a:tableStyleId>
              </a:tblPr>
              <a:tblGrid>
                <a:gridCol w="1718734">
                  <a:extLst>
                    <a:ext uri="{9D8B030D-6E8A-4147-A177-3AD203B41FA5}">
                      <a16:colId xmlns:a16="http://schemas.microsoft.com/office/drawing/2014/main" val="20000"/>
                    </a:ext>
                  </a:extLst>
                </a:gridCol>
                <a:gridCol w="3437470">
                  <a:extLst>
                    <a:ext uri="{9D8B030D-6E8A-4147-A177-3AD203B41FA5}">
                      <a16:colId xmlns:a16="http://schemas.microsoft.com/office/drawing/2014/main" val="20001"/>
                    </a:ext>
                  </a:extLst>
                </a:gridCol>
              </a:tblGrid>
              <a:tr h="762000">
                <a:tc>
                  <a:txBody>
                    <a:bodyPr/>
                    <a:lstStyle/>
                    <a:p>
                      <a:pPr defTabSz="914400">
                        <a:lnSpc>
                          <a:spcPts val="2100"/>
                        </a:lnSpc>
                        <a:tabLst>
                          <a:tab pos="520700" algn="l"/>
                        </a:tabLst>
                        <a:defRPr sz="1800">
                          <a:solidFill>
                            <a:srgbClr val="000000"/>
                          </a:solidFill>
                        </a:defRPr>
                      </a:pPr>
                      <a:r>
                        <a:rPr b="1">
                          <a:solidFill>
                            <a:srgbClr val="FFFFFF"/>
                          </a:solidFill>
                          <a:latin typeface="+mn-lt"/>
                          <a:ea typeface="+mn-ea"/>
                          <a:cs typeface="+mn-cs"/>
                          <a:sym typeface="Arial"/>
                        </a:rPr>
                        <a:t>Other name</a:t>
                      </a:r>
                    </a:p>
                  </a:txBody>
                  <a:tcPr marL="38100" marR="38100" marT="38100" marB="38100" anchor="ctr" horzOverflow="overflow">
                    <a:lnL w="25400">
                      <a:solidFill>
                        <a:srgbClr val="000000"/>
                      </a:solidFill>
                      <a:miter lim="400000"/>
                    </a:lnL>
                    <a:lnR w="12700">
                      <a:solidFill>
                        <a:srgbClr val="000000"/>
                      </a:solidFill>
                      <a:miter lim="400000"/>
                    </a:lnR>
                    <a:lnT w="25400">
                      <a:solidFill>
                        <a:srgbClr val="000000"/>
                      </a:solidFill>
                      <a:miter lim="400000"/>
                    </a:lnT>
                    <a:lnB w="12700">
                      <a:solidFill>
                        <a:srgbClr val="000000"/>
                      </a:solidFill>
                      <a:miter lim="400000"/>
                    </a:lnB>
                    <a:solidFill>
                      <a:srgbClr val="006795"/>
                    </a:solidFill>
                  </a:tcPr>
                </a:tc>
                <a:tc>
                  <a:txBody>
                    <a:bodyPr/>
                    <a:lstStyle/>
                    <a:p>
                      <a:pPr marL="114300" algn="l">
                        <a:lnSpc>
                          <a:spcPts val="2100"/>
                        </a:lnSpc>
                        <a:tabLst>
                          <a:tab pos="520700" algn="l"/>
                        </a:tabLst>
                        <a:defRPr sz="1800">
                          <a:latin typeface="+mn-lt"/>
                          <a:ea typeface="+mn-ea"/>
                          <a:cs typeface="+mn-cs"/>
                          <a:sym typeface="Arial"/>
                        </a:defRPr>
                      </a:pPr>
                      <a:r>
                        <a:rPr>
                          <a:solidFill>
                            <a:srgbClr val="000000"/>
                          </a:solidFill>
                        </a:rPr>
                        <a:t>The Hobbit</a:t>
                      </a:r>
                    </a:p>
                  </a:txBody>
                  <a:tcPr marL="38100" marR="38100" marT="38100" marB="38100" anchor="ctr" horzOverflow="overflow">
                    <a:lnL w="12700">
                      <a:solidFill>
                        <a:srgbClr val="000000"/>
                      </a:solidFill>
                      <a:miter lim="400000"/>
                    </a:lnL>
                    <a:lnR w="25400">
                      <a:solidFill>
                        <a:srgbClr val="000000"/>
                      </a:solidFill>
                      <a:miter lim="400000"/>
                    </a:lnR>
                    <a:lnT w="254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0"/>
                  </a:ext>
                </a:extLst>
              </a:tr>
              <a:tr h="762000">
                <a:tc>
                  <a:txBody>
                    <a:bodyPr/>
                    <a:lstStyle/>
                    <a:p>
                      <a:pPr defTabSz="914400">
                        <a:lnSpc>
                          <a:spcPts val="2100"/>
                        </a:lnSpc>
                        <a:tabLst>
                          <a:tab pos="520700" algn="l"/>
                        </a:tabLst>
                        <a:defRPr sz="1800">
                          <a:solidFill>
                            <a:srgbClr val="000000"/>
                          </a:solidFill>
                        </a:defRPr>
                      </a:pPr>
                      <a:r>
                        <a:rPr b="1">
                          <a:solidFill>
                            <a:srgbClr val="FFFFFF"/>
                          </a:solidFill>
                          <a:latin typeface="+mn-lt"/>
                          <a:ea typeface="+mn-ea"/>
                          <a:cs typeface="+mn-cs"/>
                          <a:sym typeface="Arial"/>
                        </a:rPr>
                        <a:t>Known date</a:t>
                      </a:r>
                    </a:p>
                  </a:txBody>
                  <a:tcPr marL="38100" marR="38100" marT="38100" marB="38100" anchor="ctr" horzOverflow="overflow">
                    <a:lnL w="254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006795"/>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190,000 - 50,000 years ago</a:t>
                      </a:r>
                    </a:p>
                  </a:txBody>
                  <a:tcPr marL="38100" marR="38100" marT="38100" marB="38100" anchor="ctr" horzOverflow="overflow">
                    <a:lnL w="12700">
                      <a:solidFill>
                        <a:srgbClr val="000000"/>
                      </a:solidFill>
                      <a:miter lim="400000"/>
                    </a:lnL>
                    <a:lnR w="254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1"/>
                  </a:ext>
                </a:extLst>
              </a:tr>
              <a:tr h="762000">
                <a:tc>
                  <a:txBody>
                    <a:bodyPr/>
                    <a:lstStyle/>
                    <a:p>
                      <a:pPr defTabSz="914400">
                        <a:lnSpc>
                          <a:spcPts val="2100"/>
                        </a:lnSpc>
                        <a:tabLst>
                          <a:tab pos="520700" algn="l"/>
                        </a:tabLst>
                        <a:defRPr sz="1800">
                          <a:solidFill>
                            <a:srgbClr val="000000"/>
                          </a:solidFill>
                        </a:defRPr>
                      </a:pPr>
                      <a:r>
                        <a:rPr b="1">
                          <a:solidFill>
                            <a:srgbClr val="FFFFFF"/>
                          </a:solidFill>
                          <a:latin typeface="+mn-lt"/>
                          <a:ea typeface="+mn-ea"/>
                          <a:cs typeface="+mn-cs"/>
                          <a:sym typeface="Arial"/>
                        </a:rPr>
                        <a:t>Brain size</a:t>
                      </a:r>
                    </a:p>
                  </a:txBody>
                  <a:tcPr marL="38100" marR="38100" marT="38100" marB="38100" anchor="ctr" horzOverflow="overflow">
                    <a:lnL w="254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006795"/>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380 cc</a:t>
                      </a:r>
                    </a:p>
                  </a:txBody>
                  <a:tcPr marL="38100" marR="38100" marT="38100" marB="38100" anchor="ctr" horzOverflow="overflow">
                    <a:lnL w="12700">
                      <a:solidFill>
                        <a:srgbClr val="000000"/>
                      </a:solidFill>
                      <a:miter lim="400000"/>
                    </a:lnL>
                    <a:lnR w="254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2"/>
                  </a:ext>
                </a:extLst>
              </a:tr>
              <a:tr h="762000">
                <a:tc>
                  <a:txBody>
                    <a:bodyPr/>
                    <a:lstStyle/>
                    <a:p>
                      <a:pPr defTabSz="914400">
                        <a:lnSpc>
                          <a:spcPts val="2100"/>
                        </a:lnSpc>
                        <a:tabLst>
                          <a:tab pos="520700" algn="l"/>
                        </a:tabLst>
                        <a:defRPr sz="1800">
                          <a:solidFill>
                            <a:srgbClr val="000000"/>
                          </a:solidFill>
                        </a:defRPr>
                      </a:pPr>
                      <a:r>
                        <a:rPr b="1">
                          <a:solidFill>
                            <a:srgbClr val="FFFFFF"/>
                          </a:solidFill>
                          <a:latin typeface="+mn-lt"/>
                          <a:ea typeface="+mn-ea"/>
                          <a:cs typeface="+mn-cs"/>
                          <a:sym typeface="Arial"/>
                        </a:rPr>
                        <a:t>Height</a:t>
                      </a:r>
                    </a:p>
                  </a:txBody>
                  <a:tcPr marL="38100" marR="38100" marT="38100" marB="38100" anchor="ctr" horzOverflow="overflow">
                    <a:lnL w="254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006795"/>
                    </a:solidFill>
                  </a:tcPr>
                </a:tc>
                <a:tc>
                  <a:txBody>
                    <a:bodyPr/>
                    <a:lstStyle/>
                    <a:p>
                      <a:pPr marL="114300" algn="l">
                        <a:lnSpc>
                          <a:spcPts val="2100"/>
                        </a:lnSpc>
                        <a:tabLst>
                          <a:tab pos="520700" algn="l"/>
                        </a:tabLst>
                        <a:defRPr sz="2800">
                          <a:solidFill>
                            <a:srgbClr val="000000"/>
                          </a:solidFill>
                        </a:defRPr>
                      </a:pPr>
                      <a:r>
                        <a:rPr sz="1800">
                          <a:latin typeface="+mn-lt"/>
                          <a:ea typeface="+mn-ea"/>
                          <a:cs typeface="+mn-cs"/>
                          <a:sym typeface="Arial"/>
                        </a:rPr>
                        <a:t>1.1 m</a:t>
                      </a:r>
                    </a:p>
                  </a:txBody>
                  <a:tcPr marL="38100" marR="38100" marT="38100" marB="38100" anchor="ctr" horzOverflow="overflow">
                    <a:lnL w="12700">
                      <a:solidFill>
                        <a:srgbClr val="000000"/>
                      </a:solidFill>
                      <a:miter lim="400000"/>
                    </a:lnL>
                    <a:lnR w="254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3"/>
                  </a:ext>
                </a:extLst>
              </a:tr>
              <a:tr h="1160779">
                <a:tc>
                  <a:txBody>
                    <a:bodyPr/>
                    <a:lstStyle/>
                    <a:p>
                      <a:pPr defTabSz="914400">
                        <a:lnSpc>
                          <a:spcPts val="2100"/>
                        </a:lnSpc>
                        <a:tabLst>
                          <a:tab pos="520700" algn="l"/>
                        </a:tabLst>
                        <a:defRPr sz="1800">
                          <a:solidFill>
                            <a:srgbClr val="000000"/>
                          </a:solidFill>
                        </a:defRPr>
                      </a:pPr>
                      <a:r>
                        <a:rPr b="1">
                          <a:solidFill>
                            <a:srgbClr val="FFFFFF"/>
                          </a:solidFill>
                          <a:latin typeface="+mn-lt"/>
                          <a:ea typeface="+mn-ea"/>
                          <a:cs typeface="+mn-cs"/>
                          <a:sym typeface="Arial"/>
                        </a:rPr>
                        <a:t>Physique</a:t>
                      </a:r>
                    </a:p>
                  </a:txBody>
                  <a:tcPr marL="38100" marR="38100" marT="38100" marB="38100" anchor="ctr" horzOverflow="overflow">
                    <a:lnL w="254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006795"/>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Small. Weight 25-30 kg. Arms relatively long compared to body and legs relatively short.</a:t>
                      </a:r>
                    </a:p>
                  </a:txBody>
                  <a:tcPr marL="38100" marR="38100" marT="38100" marB="38100" anchor="ctr" horzOverflow="overflow">
                    <a:lnL w="12700">
                      <a:solidFill>
                        <a:srgbClr val="000000"/>
                      </a:solidFill>
                      <a:miter lim="400000"/>
                    </a:lnL>
                    <a:lnR w="254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4"/>
                  </a:ext>
                </a:extLst>
              </a:tr>
              <a:tr h="782319">
                <a:tc>
                  <a:txBody>
                    <a:bodyPr/>
                    <a:lstStyle/>
                    <a:p>
                      <a:pPr defTabSz="914400">
                        <a:lnSpc>
                          <a:spcPts val="2100"/>
                        </a:lnSpc>
                        <a:tabLst>
                          <a:tab pos="520700" algn="l"/>
                        </a:tabLst>
                        <a:defRPr sz="1800">
                          <a:solidFill>
                            <a:srgbClr val="000000"/>
                          </a:solidFill>
                        </a:defRPr>
                      </a:pPr>
                      <a:r>
                        <a:rPr b="1">
                          <a:solidFill>
                            <a:srgbClr val="FFFFFF"/>
                          </a:solidFill>
                          <a:latin typeface="+mn-lt"/>
                          <a:ea typeface="+mn-ea"/>
                          <a:cs typeface="+mn-cs"/>
                          <a:sym typeface="Arial"/>
                        </a:rPr>
                        <a:t>Skull shape</a:t>
                      </a:r>
                    </a:p>
                  </a:txBody>
                  <a:tcPr marL="38100" marR="38100" marT="38100" marB="38100" anchor="ctr" horzOverflow="overflow">
                    <a:lnL w="254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006795"/>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Relatively flat face, no chin. forehead small and sloping.</a:t>
                      </a:r>
                    </a:p>
                  </a:txBody>
                  <a:tcPr marL="38100" marR="38100" marT="38100" marB="38100" anchor="ctr" horzOverflow="overflow">
                    <a:lnL w="12700">
                      <a:solidFill>
                        <a:srgbClr val="000000"/>
                      </a:solidFill>
                      <a:miter lim="400000"/>
                    </a:lnL>
                    <a:lnR w="254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5"/>
                  </a:ext>
                </a:extLst>
              </a:tr>
              <a:tr h="760512">
                <a:tc>
                  <a:txBody>
                    <a:bodyPr/>
                    <a:lstStyle/>
                    <a:p>
                      <a:pPr defTabSz="914400">
                        <a:lnSpc>
                          <a:spcPts val="2100"/>
                        </a:lnSpc>
                        <a:tabLst>
                          <a:tab pos="520700" algn="l"/>
                        </a:tabLst>
                        <a:defRPr sz="1800">
                          <a:solidFill>
                            <a:srgbClr val="000000"/>
                          </a:solidFill>
                        </a:defRPr>
                      </a:pPr>
                      <a:r>
                        <a:rPr b="1">
                          <a:solidFill>
                            <a:srgbClr val="FFFFFF"/>
                          </a:solidFill>
                          <a:latin typeface="+mn-lt"/>
                          <a:ea typeface="+mn-ea"/>
                          <a:cs typeface="+mn-cs"/>
                          <a:sym typeface="Arial"/>
                        </a:rPr>
                        <a:t>Teeth and jaws</a:t>
                      </a:r>
                    </a:p>
                  </a:txBody>
                  <a:tcPr marL="38100" marR="38100" marT="38100" marB="38100" anchor="ctr" horzOverflow="overflow">
                    <a:lnL w="254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006795"/>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Large compared to skull. Relatively modern dentition.</a:t>
                      </a:r>
                    </a:p>
                  </a:txBody>
                  <a:tcPr marL="38100" marR="38100" marT="38100" marB="38100" anchor="ctr" horzOverflow="overflow">
                    <a:lnL w="12700">
                      <a:solidFill>
                        <a:srgbClr val="000000"/>
                      </a:solidFill>
                      <a:miter lim="400000"/>
                    </a:lnL>
                    <a:lnR w="254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6"/>
                  </a:ext>
                </a:extLst>
              </a:tr>
              <a:tr h="760511">
                <a:tc>
                  <a:txBody>
                    <a:bodyPr/>
                    <a:lstStyle/>
                    <a:p>
                      <a:pPr defTabSz="914400">
                        <a:lnSpc>
                          <a:spcPts val="2100"/>
                        </a:lnSpc>
                        <a:tabLst>
                          <a:tab pos="520700" algn="l"/>
                        </a:tabLst>
                        <a:defRPr sz="1800">
                          <a:solidFill>
                            <a:srgbClr val="000000"/>
                          </a:solidFill>
                        </a:defRPr>
                      </a:pPr>
                      <a:r>
                        <a:rPr b="1">
                          <a:solidFill>
                            <a:srgbClr val="FFFFFF"/>
                          </a:solidFill>
                          <a:latin typeface="+mn-lt"/>
                          <a:ea typeface="+mn-ea"/>
                          <a:cs typeface="+mn-cs"/>
                          <a:sym typeface="Arial"/>
                        </a:rPr>
                        <a:t>Geographical distribution</a:t>
                      </a:r>
                    </a:p>
                  </a:txBody>
                  <a:tcPr marL="38100" marR="38100" marT="38100" marB="38100" anchor="ctr" horzOverflow="overflow">
                    <a:lnL w="25400">
                      <a:solidFill>
                        <a:srgbClr val="000000"/>
                      </a:solidFill>
                      <a:miter lim="400000"/>
                    </a:lnL>
                    <a:lnR w="12700">
                      <a:solidFill>
                        <a:srgbClr val="000000"/>
                      </a:solidFill>
                      <a:miter lim="400000"/>
                    </a:lnR>
                    <a:lnT w="12700">
                      <a:solidFill>
                        <a:srgbClr val="000000"/>
                      </a:solidFill>
                      <a:miter lim="400000"/>
                    </a:lnT>
                    <a:lnB w="25400">
                      <a:solidFill>
                        <a:srgbClr val="000000"/>
                      </a:solidFill>
                      <a:miter lim="400000"/>
                    </a:lnB>
                    <a:solidFill>
                      <a:srgbClr val="006795"/>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Flores island, Indonesia.</a:t>
                      </a:r>
                    </a:p>
                  </a:txBody>
                  <a:tcPr marL="38100" marR="38100" marT="38100" marB="38100" anchor="ctr" horzOverflow="overflow">
                    <a:lnL w="12700">
                      <a:solidFill>
                        <a:srgbClr val="000000"/>
                      </a:solidFill>
                      <a:miter lim="400000"/>
                    </a:lnL>
                    <a:lnR w="25400">
                      <a:solidFill>
                        <a:srgbClr val="000000"/>
                      </a:solidFill>
                      <a:miter lim="400000"/>
                    </a:lnR>
                    <a:lnT w="12700">
                      <a:solidFill>
                        <a:srgbClr val="000000"/>
                      </a:solidFill>
                      <a:miter lim="400000"/>
                    </a:lnT>
                    <a:lnB w="25400">
                      <a:solidFill>
                        <a:srgbClr val="000000"/>
                      </a:solidFill>
                      <a:miter lim="400000"/>
                    </a:lnB>
                    <a:solidFill>
                      <a:srgbClr val="FFFFFF"/>
                    </a:solidFill>
                  </a:tcPr>
                </a:tc>
                <a:extLst>
                  <a:ext uri="{0D108BD9-81ED-4DB2-BD59-A6C34878D82A}">
                    <a16:rowId xmlns:a16="http://schemas.microsoft.com/office/drawing/2014/main" val="10007"/>
                  </a:ext>
                </a:extLst>
              </a:tr>
            </a:tbl>
          </a:graphicData>
        </a:graphic>
      </p:graphicFrame>
      <p:pic>
        <p:nvPicPr>
          <p:cNvPr id="1358" name="hobbit.tiff"/>
          <p:cNvPicPr>
            <a:picLocks noChangeAspect="1"/>
          </p:cNvPicPr>
          <p:nvPr/>
        </p:nvPicPr>
        <p:blipFill>
          <a:blip r:embed="rId3">
            <a:extLst/>
          </a:blip>
          <a:stretch>
            <a:fillRect/>
          </a:stretch>
        </p:blipFill>
        <p:spPr>
          <a:xfrm>
            <a:off x="571500" y="218635"/>
            <a:ext cx="3111500" cy="9296786"/>
          </a:xfrm>
          <a:prstGeom prst="rect">
            <a:avLst/>
          </a:prstGeom>
          <a:ln w="12700">
            <a:miter lim="400000"/>
          </a:ln>
        </p:spPr>
      </p:pic>
      <p:sp>
        <p:nvSpPr>
          <p:cNvPr id="1359" name="Shape 1359"/>
          <p:cNvSpPr/>
          <p:nvPr/>
        </p:nvSpPr>
        <p:spPr>
          <a:xfrm rot="5400000">
            <a:off x="-927100" y="7899400"/>
            <a:ext cx="2489200" cy="3175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marL="0">
              <a:lnSpc>
                <a:spcPts val="15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000">
                <a:solidFill>
                  <a:srgbClr val="000000"/>
                </a:solidFill>
              </a:defRPr>
            </a:lvl1pPr>
          </a:lstStyle>
          <a:p>
            <a:r>
              <a:t>Artists’s reconstruction of the LB1 skeleton, after William Junger, Stony Brook University</a:t>
            </a:r>
          </a:p>
        </p:txBody>
      </p:sp>
      <p:sp>
        <p:nvSpPr>
          <p:cNvPr id="1360" name="Shape 1360"/>
          <p:cNvSpPr/>
          <p:nvPr/>
        </p:nvSpPr>
        <p:spPr>
          <a:xfrm>
            <a:off x="3710940" y="3014979"/>
            <a:ext cx="2222501" cy="564023"/>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marL="0">
              <a:lnSpc>
                <a:spcPts val="24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rgbClr val="006795"/>
                </a:solidFill>
              </a:defRPr>
            </a:pPr>
            <a:r>
              <a:rPr b="1"/>
              <a:t>Arms</a:t>
            </a:r>
            <a:r>
              <a:t>: Long relative to the rest of the body</a:t>
            </a:r>
          </a:p>
        </p:txBody>
      </p:sp>
      <p:sp>
        <p:nvSpPr>
          <p:cNvPr id="1361" name="Shape 1361"/>
          <p:cNvSpPr/>
          <p:nvPr/>
        </p:nvSpPr>
        <p:spPr>
          <a:xfrm>
            <a:off x="4025900" y="4752340"/>
            <a:ext cx="2222500" cy="8688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marL="0">
              <a:lnSpc>
                <a:spcPts val="24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rgbClr val="006795"/>
                </a:solidFill>
              </a:defRPr>
            </a:pPr>
            <a:r>
              <a:rPr b="1"/>
              <a:t>Wrist joints</a:t>
            </a:r>
            <a:r>
              <a:t>: Quite primitive as seen in early hominins</a:t>
            </a:r>
          </a:p>
        </p:txBody>
      </p:sp>
      <p:sp>
        <p:nvSpPr>
          <p:cNvPr id="1362" name="Shape 1362"/>
          <p:cNvSpPr/>
          <p:nvPr/>
        </p:nvSpPr>
        <p:spPr>
          <a:xfrm>
            <a:off x="3619500" y="7139940"/>
            <a:ext cx="2222500" cy="178322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marL="0">
              <a:lnSpc>
                <a:spcPts val="24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rgbClr val="006795"/>
                </a:solidFill>
              </a:defRPr>
            </a:pPr>
            <a:r>
              <a:rPr b="1"/>
              <a:t>Legs and feet</a:t>
            </a:r>
            <a:r>
              <a:t>: Legs are very short relative to the rest of the body. The feet are large relative to the rest of the body.</a:t>
            </a:r>
          </a:p>
        </p:txBody>
      </p:sp>
      <p:sp>
        <p:nvSpPr>
          <p:cNvPr id="1363" name="Shape 1363"/>
          <p:cNvSpPr/>
          <p:nvPr/>
        </p:nvSpPr>
        <p:spPr>
          <a:xfrm flipV="1">
            <a:off x="3266440" y="3342640"/>
            <a:ext cx="441961" cy="810260"/>
          </a:xfrm>
          <a:prstGeom prst="line">
            <a:avLst/>
          </a:prstGeom>
          <a:ln w="25400">
            <a:solidFill>
              <a:srgbClr val="006795"/>
            </a:solidFill>
            <a:miter lim="400000"/>
            <a:headEnd type="stealth"/>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364" name="Shape 1364"/>
          <p:cNvSpPr/>
          <p:nvPr/>
        </p:nvSpPr>
        <p:spPr>
          <a:xfrm flipV="1">
            <a:off x="3418840" y="4897120"/>
            <a:ext cx="553721" cy="93981"/>
          </a:xfrm>
          <a:prstGeom prst="line">
            <a:avLst/>
          </a:prstGeom>
          <a:ln w="25400">
            <a:solidFill>
              <a:srgbClr val="006795"/>
            </a:solidFill>
            <a:miter lim="400000"/>
            <a:headEnd type="stealth"/>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365" name="Shape 1365"/>
          <p:cNvSpPr/>
          <p:nvPr/>
        </p:nvSpPr>
        <p:spPr>
          <a:xfrm flipV="1">
            <a:off x="2682239" y="7274559"/>
            <a:ext cx="873761" cy="320041"/>
          </a:xfrm>
          <a:prstGeom prst="line">
            <a:avLst/>
          </a:prstGeom>
          <a:ln w="25400">
            <a:solidFill>
              <a:srgbClr val="006795"/>
            </a:solidFill>
            <a:miter lim="400000"/>
            <a:headEnd type="stealth"/>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7" name="Shape 1367"/>
          <p:cNvSpPr>
            <a:spLocks noGrp="1"/>
          </p:cNvSpPr>
          <p:nvPr>
            <p:ph type="title"/>
          </p:nvPr>
        </p:nvSpPr>
        <p:spPr>
          <a:prstGeom prst="rect">
            <a:avLst/>
          </a:prstGeom>
        </p:spPr>
        <p:txBody>
          <a:bodyPr/>
          <a:lstStyle>
            <a:lvl1pPr>
              <a:tabLst>
                <a:tab pos="952500" algn="l"/>
              </a:tabLst>
              <a:defRPr i="1"/>
            </a:lvl1pPr>
          </a:lstStyle>
          <a:p>
            <a:r>
              <a:t>Homo naledi</a:t>
            </a:r>
          </a:p>
        </p:txBody>
      </p:sp>
      <p:sp>
        <p:nvSpPr>
          <p:cNvPr id="1368" name="Shape 1368"/>
          <p:cNvSpPr>
            <a:spLocks noGrp="1"/>
          </p:cNvSpPr>
          <p:nvPr>
            <p:ph type="body" sz="half" idx="1"/>
          </p:nvPr>
        </p:nvSpPr>
        <p:spPr>
          <a:xfrm>
            <a:off x="368300" y="1790700"/>
            <a:ext cx="5739458" cy="7543800"/>
          </a:xfrm>
          <a:prstGeom prst="rect">
            <a:avLst/>
          </a:prstGeom>
        </p:spPr>
        <p:txBody>
          <a:bodyPr/>
          <a:lstStyle/>
          <a:p>
            <a:pPr>
              <a:tabLst>
                <a:tab pos="1016000" algn="l"/>
              </a:tabLst>
            </a:pPr>
            <a:r>
              <a:t>In 2013 two cavers exploring the Rising Star cave system near Johannesburg in South Africa found a passage that led to a chamber containing the bones of a new hominin species. </a:t>
            </a:r>
          </a:p>
          <a:p>
            <a:pPr>
              <a:tabLst>
                <a:tab pos="1016000" algn="l"/>
              </a:tabLst>
            </a:pPr>
            <a:r>
              <a:t>Excavation has found more than 1500 specimens from at least 15 individuals including ribs, skulls, jaws, and dozens of teeth. </a:t>
            </a:r>
          </a:p>
          <a:p>
            <a:pPr>
              <a:tabLst>
                <a:tab pos="1016000" algn="l"/>
              </a:tabLst>
            </a:pPr>
            <a:r>
              <a:t>Interestingly, no other types of animal or plant have been found in the cave and there is no indication of water flowing in the past. </a:t>
            </a:r>
          </a:p>
          <a:p>
            <a:pPr>
              <a:tabLst>
                <a:tab pos="1016000" algn="l"/>
              </a:tabLst>
            </a:pPr>
            <a:r>
              <a:t>This has led the investigators to hypothesise that the bodies were deliberately placed there by other </a:t>
            </a:r>
            <a:r>
              <a:rPr i="1"/>
              <a:t>Homo naledi</a:t>
            </a:r>
            <a:r>
              <a:t>. </a:t>
            </a:r>
          </a:p>
        </p:txBody>
      </p:sp>
      <p:grpSp>
        <p:nvGrpSpPr>
          <p:cNvPr id="1371" name="Group 1371"/>
          <p:cNvGrpSpPr/>
          <p:nvPr/>
        </p:nvGrpSpPr>
        <p:grpSpPr>
          <a:xfrm>
            <a:off x="6348404" y="1041836"/>
            <a:ext cx="6787934" cy="8163275"/>
            <a:chOff x="-46166" y="-1164708"/>
            <a:chExt cx="6787932" cy="8163273"/>
          </a:xfrm>
        </p:grpSpPr>
        <p:pic>
          <p:nvPicPr>
            <p:cNvPr id="1369" name="Homo naledi bones Lee R Berger CC 4.0 small.jpg"/>
            <p:cNvPicPr>
              <a:picLocks noChangeAspect="1"/>
            </p:cNvPicPr>
            <p:nvPr/>
          </p:nvPicPr>
          <p:blipFill>
            <a:blip r:embed="rId2">
              <a:extLst/>
            </a:blip>
            <a:srcRect l="6497"/>
            <a:stretch>
              <a:fillRect/>
            </a:stretch>
          </p:blipFill>
          <p:spPr>
            <a:xfrm>
              <a:off x="-46167" y="-1164709"/>
              <a:ext cx="6787934" cy="8163275"/>
            </a:xfrm>
            <a:prstGeom prst="rect">
              <a:avLst/>
            </a:prstGeom>
            <a:ln w="25400" cap="flat">
              <a:solidFill>
                <a:srgbClr val="FFFFFF"/>
              </a:solidFill>
              <a:prstDash val="solid"/>
              <a:miter lim="400000"/>
            </a:ln>
            <a:effectLst/>
          </p:spPr>
        </p:pic>
        <p:sp>
          <p:nvSpPr>
            <p:cNvPr id="1370" name="Shape 1370"/>
            <p:cNvSpPr/>
            <p:nvPr/>
          </p:nvSpPr>
          <p:spPr>
            <a:xfrm>
              <a:off x="5039164" y="6656321"/>
              <a:ext cx="983966" cy="23714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800" tIns="50800" rIns="50800" bIns="50800" numCol="1" anchor="ctr">
              <a:spAutoFit/>
            </a:bodyPr>
            <a:lstStyle>
              <a:lvl1pPr>
                <a:tabLst>
                  <a:tab pos="520700" algn="l"/>
                </a:tabLst>
                <a:defRPr sz="1000">
                  <a:solidFill>
                    <a:srgbClr val="FFFFFF"/>
                  </a:solidFill>
                </a:defRPr>
              </a:lvl1pPr>
            </a:lstStyle>
            <a:p>
              <a:r>
                <a:t>Lee R Berger</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368">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36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36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36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36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8" grpId="1" build="p" bldLvl="5" animBg="1" advAuto="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3" name="Shape 1373"/>
          <p:cNvSpPr>
            <a:spLocks noGrp="1"/>
          </p:cNvSpPr>
          <p:nvPr>
            <p:ph type="title"/>
          </p:nvPr>
        </p:nvSpPr>
        <p:spPr>
          <a:prstGeom prst="rect">
            <a:avLst/>
          </a:prstGeom>
        </p:spPr>
        <p:txBody>
          <a:bodyPr/>
          <a:lstStyle>
            <a:lvl1pPr>
              <a:tabLst>
                <a:tab pos="952500" algn="l"/>
              </a:tabLst>
            </a:lvl1pPr>
          </a:lstStyle>
          <a:p>
            <a:r>
              <a:t>Rising Star Cave System</a:t>
            </a:r>
          </a:p>
        </p:txBody>
      </p:sp>
      <p:sp>
        <p:nvSpPr>
          <p:cNvPr id="1374" name="Shape 1374"/>
          <p:cNvSpPr>
            <a:spLocks noGrp="1"/>
          </p:cNvSpPr>
          <p:nvPr>
            <p:ph type="body" sz="quarter" idx="1"/>
          </p:nvPr>
        </p:nvSpPr>
        <p:spPr>
          <a:xfrm>
            <a:off x="368300" y="1790700"/>
            <a:ext cx="11968758" cy="508695"/>
          </a:xfrm>
          <a:prstGeom prst="rect">
            <a:avLst/>
          </a:prstGeom>
        </p:spPr>
        <p:txBody>
          <a:bodyPr/>
          <a:lstStyle>
            <a:lvl1pPr>
              <a:tabLst>
                <a:tab pos="1016000" algn="l"/>
              </a:tabLst>
            </a:lvl1pPr>
          </a:lstStyle>
          <a:p>
            <a:r>
              <a:t>The region of the cave system in which the bones were found is difficult to access.</a:t>
            </a:r>
          </a:p>
        </p:txBody>
      </p:sp>
      <p:pic>
        <p:nvPicPr>
          <p:cNvPr id="1375" name="Homo naledi cave system.pdf"/>
          <p:cNvPicPr>
            <a:picLocks noChangeAspect="1"/>
          </p:cNvPicPr>
          <p:nvPr/>
        </p:nvPicPr>
        <p:blipFill>
          <a:blip r:embed="rId2">
            <a:extLst/>
          </a:blip>
          <a:stretch>
            <a:fillRect/>
          </a:stretch>
        </p:blipFill>
        <p:spPr>
          <a:xfrm>
            <a:off x="390943" y="3697882"/>
            <a:ext cx="12173422" cy="4392699"/>
          </a:xfrm>
          <a:prstGeom prst="rect">
            <a:avLst/>
          </a:prstGeom>
          <a:ln w="12700">
            <a:miter lim="400000"/>
          </a:ln>
        </p:spPr>
      </p:pic>
      <p:sp>
        <p:nvSpPr>
          <p:cNvPr id="1376" name="Shape 1376"/>
          <p:cNvSpPr/>
          <p:nvPr/>
        </p:nvSpPr>
        <p:spPr>
          <a:xfrm>
            <a:off x="4817035" y="3840409"/>
            <a:ext cx="3109564" cy="894222"/>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tabLst>
                <a:tab pos="520700" algn="l"/>
              </a:tabLst>
            </a:lvl1pPr>
          </a:lstStyle>
          <a:p>
            <a:r>
              <a:t>Superman's crawl may have been higher in the past, allowing easier access.</a:t>
            </a:r>
          </a:p>
        </p:txBody>
      </p:sp>
      <p:sp>
        <p:nvSpPr>
          <p:cNvPr id="1377" name="Shape 1377"/>
          <p:cNvSpPr/>
          <p:nvPr/>
        </p:nvSpPr>
        <p:spPr>
          <a:xfrm>
            <a:off x="4949115" y="7316399"/>
            <a:ext cx="2619582" cy="627522"/>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tabLst>
                <a:tab pos="520700" algn="l"/>
              </a:tabLst>
            </a:lvl1pPr>
          </a:lstStyle>
          <a:p>
            <a:r>
              <a:t>Superman's crawl  (less than 30 cm high)</a:t>
            </a:r>
          </a:p>
        </p:txBody>
      </p:sp>
      <p:sp>
        <p:nvSpPr>
          <p:cNvPr id="1378" name="Shape 1378"/>
          <p:cNvSpPr/>
          <p:nvPr/>
        </p:nvSpPr>
        <p:spPr>
          <a:xfrm>
            <a:off x="9013115" y="6534078"/>
            <a:ext cx="1225440" cy="627523"/>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tabLst>
                <a:tab pos="520700" algn="l"/>
              </a:tabLst>
            </a:lvl1pPr>
          </a:lstStyle>
          <a:p>
            <a:r>
              <a:t>Dragon’s back</a:t>
            </a:r>
          </a:p>
        </p:txBody>
      </p:sp>
      <p:sp>
        <p:nvSpPr>
          <p:cNvPr id="1379" name="Shape 1379"/>
          <p:cNvSpPr/>
          <p:nvPr/>
        </p:nvSpPr>
        <p:spPr>
          <a:xfrm>
            <a:off x="9541435" y="3849298"/>
            <a:ext cx="2824846" cy="1160923"/>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tabLst>
                <a:tab pos="520700" algn="l"/>
              </a:tabLst>
            </a:lvl1pPr>
          </a:lstStyle>
          <a:p>
            <a:r>
              <a:t>Bodies were probably dropped down the shaft over a long period of time (maybe centuries)</a:t>
            </a:r>
          </a:p>
        </p:txBody>
      </p:sp>
      <p:sp>
        <p:nvSpPr>
          <p:cNvPr id="1380" name="Shape 1380"/>
          <p:cNvSpPr/>
          <p:nvPr/>
        </p:nvSpPr>
        <p:spPr>
          <a:xfrm>
            <a:off x="11227996" y="5507918"/>
            <a:ext cx="1225439" cy="627523"/>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tabLst>
                <a:tab pos="520700" algn="l"/>
              </a:tabLst>
            </a:lvl1pPr>
          </a:lstStyle>
          <a:p>
            <a:r>
              <a:t>Dinaledi chamber</a:t>
            </a:r>
          </a:p>
        </p:txBody>
      </p:sp>
      <p:sp>
        <p:nvSpPr>
          <p:cNvPr id="1381" name="Shape 1381"/>
          <p:cNvSpPr/>
          <p:nvPr/>
        </p:nvSpPr>
        <p:spPr>
          <a:xfrm>
            <a:off x="10648875" y="8343828"/>
            <a:ext cx="1544209" cy="360823"/>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tabLst>
                <a:tab pos="520700" algn="l"/>
              </a:tabLst>
            </a:lvl1pPr>
          </a:lstStyle>
          <a:p>
            <a:r>
              <a:t>Fossil find</a:t>
            </a:r>
          </a:p>
        </p:txBody>
      </p:sp>
      <p:sp>
        <p:nvSpPr>
          <p:cNvPr id="1382" name="Shape 1382"/>
          <p:cNvSpPr/>
          <p:nvPr/>
        </p:nvSpPr>
        <p:spPr>
          <a:xfrm flipH="1">
            <a:off x="6422350" y="4753451"/>
            <a:ext cx="1" cy="2055694"/>
          </a:xfrm>
          <a:prstGeom prst="line">
            <a:avLst/>
          </a:prstGeom>
          <a:ln w="25400">
            <a:solidFill>
              <a:srgbClr val="006795"/>
            </a:solidFill>
            <a:miter lim="400000"/>
            <a:tail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383" name="Shape 1383"/>
          <p:cNvSpPr/>
          <p:nvPr/>
        </p:nvSpPr>
        <p:spPr>
          <a:xfrm>
            <a:off x="956235" y="3467029"/>
            <a:ext cx="1836428" cy="360822"/>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lvl1pPr>
              <a:tabLst>
                <a:tab pos="520700" algn="l"/>
              </a:tabLst>
            </a:lvl1pPr>
          </a:lstStyle>
          <a:p>
            <a:r>
              <a:t>Cave entrance</a:t>
            </a:r>
          </a:p>
        </p:txBody>
      </p:sp>
      <p:sp>
        <p:nvSpPr>
          <p:cNvPr id="1384" name="Shape 1384"/>
          <p:cNvSpPr/>
          <p:nvPr/>
        </p:nvSpPr>
        <p:spPr>
          <a:xfrm flipH="1">
            <a:off x="10283150" y="4960143"/>
            <a:ext cx="411679" cy="1076842"/>
          </a:xfrm>
          <a:prstGeom prst="line">
            <a:avLst/>
          </a:prstGeom>
          <a:ln w="25400">
            <a:solidFill>
              <a:srgbClr val="006795"/>
            </a:solidFill>
            <a:miter lim="400000"/>
            <a:tail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385" name="Shape 1385"/>
          <p:cNvSpPr/>
          <p:nvPr/>
        </p:nvSpPr>
        <p:spPr>
          <a:xfrm flipH="1">
            <a:off x="11492586" y="6098063"/>
            <a:ext cx="228403" cy="509708"/>
          </a:xfrm>
          <a:prstGeom prst="line">
            <a:avLst/>
          </a:prstGeom>
          <a:ln w="25400">
            <a:solidFill>
              <a:srgbClr val="006795"/>
            </a:solidFill>
            <a:miter lim="400000"/>
            <a:tail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386" name="Shape 1386"/>
          <p:cNvSpPr/>
          <p:nvPr/>
        </p:nvSpPr>
        <p:spPr>
          <a:xfrm flipV="1">
            <a:off x="11416188" y="7703423"/>
            <a:ext cx="293569" cy="640001"/>
          </a:xfrm>
          <a:prstGeom prst="line">
            <a:avLst/>
          </a:prstGeom>
          <a:ln w="25400">
            <a:solidFill>
              <a:srgbClr val="006795"/>
            </a:solidFill>
            <a:miter lim="400000"/>
            <a:tail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387" name="Shape 1387"/>
          <p:cNvSpPr/>
          <p:nvPr/>
        </p:nvSpPr>
        <p:spPr>
          <a:xfrm flipH="1" flipV="1">
            <a:off x="8777612" y="6466848"/>
            <a:ext cx="372897" cy="372896"/>
          </a:xfrm>
          <a:prstGeom prst="line">
            <a:avLst/>
          </a:prstGeom>
          <a:ln w="25400">
            <a:solidFill>
              <a:srgbClr val="006795"/>
            </a:solidFill>
            <a:miter lim="400000"/>
            <a:tail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388" name="Shape 1388"/>
          <p:cNvSpPr/>
          <p:nvPr/>
        </p:nvSpPr>
        <p:spPr>
          <a:xfrm flipV="1">
            <a:off x="6349372" y="7086608"/>
            <a:ext cx="1" cy="315363"/>
          </a:xfrm>
          <a:prstGeom prst="line">
            <a:avLst/>
          </a:prstGeom>
          <a:ln w="25400">
            <a:solidFill>
              <a:srgbClr val="006795"/>
            </a:solidFill>
            <a:miter lim="400000"/>
            <a:tail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374">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37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4" grpId="1" build="p" bldLvl="5" animBg="1" advAuto="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0" name="Shape 1390"/>
          <p:cNvSpPr>
            <a:spLocks noGrp="1"/>
          </p:cNvSpPr>
          <p:nvPr>
            <p:ph type="title"/>
          </p:nvPr>
        </p:nvSpPr>
        <p:spPr>
          <a:prstGeom prst="rect">
            <a:avLst/>
          </a:prstGeom>
        </p:spPr>
        <p:txBody>
          <a:bodyPr/>
          <a:lstStyle/>
          <a:p>
            <a:pPr>
              <a:tabLst>
                <a:tab pos="952500" algn="l"/>
              </a:tabLst>
            </a:pPr>
            <a:r>
              <a:t>Dating </a:t>
            </a:r>
            <a:r>
              <a:rPr i="1"/>
              <a:t>H. naledi</a:t>
            </a:r>
          </a:p>
        </p:txBody>
      </p:sp>
      <p:sp>
        <p:nvSpPr>
          <p:cNvPr id="1391" name="Shape 1391"/>
          <p:cNvSpPr>
            <a:spLocks noGrp="1"/>
          </p:cNvSpPr>
          <p:nvPr>
            <p:ph type="body" sz="half" idx="1"/>
          </p:nvPr>
        </p:nvSpPr>
        <p:spPr>
          <a:xfrm>
            <a:off x="368300" y="1790700"/>
            <a:ext cx="6362135" cy="6552070"/>
          </a:xfrm>
          <a:prstGeom prst="rect">
            <a:avLst/>
          </a:prstGeom>
        </p:spPr>
        <p:txBody>
          <a:bodyPr/>
          <a:lstStyle/>
          <a:p>
            <a:pPr>
              <a:tabLst>
                <a:tab pos="1016000" algn="l"/>
              </a:tabLst>
            </a:pPr>
            <a:r>
              <a:t>Dating the </a:t>
            </a:r>
            <a:r>
              <a:rPr i="1"/>
              <a:t>Homo naledi</a:t>
            </a:r>
            <a:r>
              <a:t> bones is problematic because they were found deep in the cave. </a:t>
            </a:r>
          </a:p>
          <a:p>
            <a:pPr lvl="1">
              <a:tabLst>
                <a:tab pos="1485900" algn="l"/>
              </a:tabLst>
            </a:pPr>
            <a:r>
              <a:t>Ordinarily, fossils can be dated by relative dating. </a:t>
            </a:r>
          </a:p>
          <a:p>
            <a:pPr lvl="1">
              <a:tabLst>
                <a:tab pos="1485900" algn="l"/>
              </a:tabLst>
            </a:pPr>
            <a:r>
              <a:t>Other fossils in the sediment can be used to date the unknown fossils. For example, if the bones of a predator species of a known age had been found in the cave, then it may imply that</a:t>
            </a:r>
            <a:r>
              <a:rPr i="1"/>
              <a:t> H. naledi</a:t>
            </a:r>
            <a:r>
              <a:t> lived at the same time. </a:t>
            </a:r>
          </a:p>
          <a:p>
            <a:pPr lvl="1">
              <a:tabLst>
                <a:tab pos="1485900" algn="l"/>
              </a:tabLst>
            </a:pPr>
            <a:r>
              <a:t>However, only </a:t>
            </a:r>
            <a:r>
              <a:rPr i="1"/>
              <a:t>H. naledi</a:t>
            </a:r>
            <a:r>
              <a:t> bones have been found, expect for a few small birds on the surface. </a:t>
            </a:r>
          </a:p>
          <a:p>
            <a:pPr>
              <a:tabLst>
                <a:tab pos="1016000" algn="l"/>
              </a:tabLst>
            </a:pPr>
            <a:r>
              <a:t>Various anatomical ways of dating the fossils were tried, initially providing a date of ~1-3 my. However, more recent radiometric dating of specimens and the overlying flowstones has provided a much more recent date of 335,000- 236,000 years.</a:t>
            </a:r>
          </a:p>
        </p:txBody>
      </p:sp>
      <p:grpSp>
        <p:nvGrpSpPr>
          <p:cNvPr id="1394" name="Group 1394"/>
          <p:cNvGrpSpPr/>
          <p:nvPr/>
        </p:nvGrpSpPr>
        <p:grpSpPr>
          <a:xfrm>
            <a:off x="6928234" y="1797713"/>
            <a:ext cx="6117603" cy="4661031"/>
            <a:chOff x="0" y="0"/>
            <a:chExt cx="6117602" cy="4661030"/>
          </a:xfrm>
        </p:grpSpPr>
        <p:pic>
          <p:nvPicPr>
            <p:cNvPr id="1392" name="H naledi skull.jpg"/>
            <p:cNvPicPr>
              <a:picLocks noChangeAspect="1"/>
            </p:cNvPicPr>
            <p:nvPr/>
          </p:nvPicPr>
          <p:blipFill>
            <a:blip r:embed="rId2">
              <a:extLst/>
            </a:blip>
            <a:stretch>
              <a:fillRect/>
            </a:stretch>
          </p:blipFill>
          <p:spPr>
            <a:xfrm>
              <a:off x="0" y="0"/>
              <a:ext cx="6117603" cy="4661031"/>
            </a:xfrm>
            <a:prstGeom prst="rect">
              <a:avLst/>
            </a:prstGeom>
            <a:ln w="25400" cap="flat">
              <a:solidFill>
                <a:srgbClr val="FFFFFF"/>
              </a:solidFill>
              <a:prstDash val="solid"/>
              <a:miter lim="400000"/>
            </a:ln>
            <a:effectLst/>
          </p:spPr>
        </p:pic>
        <p:sp>
          <p:nvSpPr>
            <p:cNvPr id="1393" name="Shape 1393"/>
            <p:cNvSpPr/>
            <p:nvPr/>
          </p:nvSpPr>
          <p:spPr>
            <a:xfrm>
              <a:off x="5122720" y="4413393"/>
              <a:ext cx="983966" cy="237147"/>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800" tIns="50800" rIns="50800" bIns="50800" numCol="1" anchor="ctr">
              <a:spAutoFit/>
            </a:bodyPr>
            <a:lstStyle>
              <a:lvl1pPr>
                <a:tabLst>
                  <a:tab pos="520700" algn="l"/>
                </a:tabLst>
                <a:defRPr sz="1000">
                  <a:solidFill>
                    <a:srgbClr val="FFFFFF"/>
                  </a:solidFill>
                </a:defRPr>
              </a:lvl1pPr>
            </a:lstStyle>
            <a:p>
              <a:r>
                <a:t>Lee R Berger</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391">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39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39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391">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391">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13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1" grpId="1" build="p" bldLvl="5" animBg="1" advAuto="0"/>
    </p:bldLst>
  </p:timing>
</p:sld>
</file>

<file path=ppt/slides/slide47.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grpSp>
        <p:nvGrpSpPr>
          <p:cNvPr id="1452" name="Group 1452"/>
          <p:cNvGrpSpPr/>
          <p:nvPr/>
        </p:nvGrpSpPr>
        <p:grpSpPr>
          <a:xfrm>
            <a:off x="5994399" y="2809430"/>
            <a:ext cx="6604002" cy="6669471"/>
            <a:chOff x="0" y="-259221"/>
            <a:chExt cx="6604000" cy="6669470"/>
          </a:xfrm>
        </p:grpSpPr>
        <p:sp>
          <p:nvSpPr>
            <p:cNvPr id="1449" name="Shape 1449"/>
            <p:cNvSpPr/>
            <p:nvPr/>
          </p:nvSpPr>
          <p:spPr>
            <a:xfrm rot="16200000">
              <a:off x="-1525275" y="2704421"/>
              <a:ext cx="3393455" cy="34290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noAutofit/>
            </a:bodyPr>
            <a:lstStyle>
              <a:lvl1pPr>
                <a:lnSpc>
                  <a:spcPts val="3100"/>
                </a:lnSpc>
                <a:tabLst>
                  <a:tab pos="520700" algn="l"/>
                </a:tabLst>
                <a:defRPr sz="2400" b="1">
                  <a:solidFill>
                    <a:srgbClr val="000000"/>
                  </a:solidFill>
                </a:defRPr>
              </a:lvl1pPr>
            </a:lstStyle>
            <a:p>
              <a:pPr>
                <a:defRPr>
                  <a:solidFill>
                    <a:srgbClr val="483F36"/>
                  </a:solidFill>
                </a:defRPr>
              </a:pPr>
              <a:r>
                <a:rPr>
                  <a:solidFill>
                    <a:srgbClr val="000000"/>
                  </a:solidFill>
                </a:rPr>
                <a:t>Brain volume (mL)</a:t>
              </a:r>
            </a:p>
          </p:txBody>
        </p:sp>
        <p:graphicFrame>
          <p:nvGraphicFramePr>
            <p:cNvPr id="1450" name="Chart 1450"/>
            <p:cNvGraphicFramePr/>
            <p:nvPr/>
          </p:nvGraphicFramePr>
          <p:xfrm>
            <a:off x="481347" y="-259222"/>
            <a:ext cx="6122654" cy="6297638"/>
          </p:xfrm>
          <a:graphic>
            <a:graphicData uri="http://schemas.openxmlformats.org/drawingml/2006/chart">
              <c:chart xmlns:c="http://schemas.openxmlformats.org/drawingml/2006/chart" xmlns:r="http://schemas.openxmlformats.org/officeDocument/2006/relationships" r:id="rId3"/>
            </a:graphicData>
          </a:graphic>
        </p:graphicFrame>
        <p:sp>
          <p:nvSpPr>
            <p:cNvPr id="1451" name="Shape 1451"/>
            <p:cNvSpPr/>
            <p:nvPr/>
          </p:nvSpPr>
          <p:spPr>
            <a:xfrm>
              <a:off x="3056359" y="5981257"/>
              <a:ext cx="1633886" cy="428993"/>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noAutofit/>
            </a:bodyPr>
            <a:lstStyle>
              <a:lvl1pPr>
                <a:lnSpc>
                  <a:spcPts val="3100"/>
                </a:lnSpc>
                <a:tabLst>
                  <a:tab pos="520700" algn="l"/>
                </a:tabLst>
                <a:defRPr sz="2400" b="1">
                  <a:solidFill>
                    <a:srgbClr val="000000"/>
                  </a:solidFill>
                </a:defRPr>
              </a:lvl1pPr>
            </a:lstStyle>
            <a:p>
              <a:pPr>
                <a:defRPr>
                  <a:solidFill>
                    <a:srgbClr val="483F36"/>
                  </a:solidFill>
                </a:defRPr>
              </a:pPr>
              <a:r>
                <a:rPr>
                  <a:solidFill>
                    <a:srgbClr val="000000"/>
                  </a:solidFill>
                </a:rPr>
                <a:t>Height (m)</a:t>
              </a:r>
            </a:p>
          </p:txBody>
        </p:sp>
      </p:grpSp>
      <p:sp>
        <p:nvSpPr>
          <p:cNvPr id="1453" name="Shape 1453"/>
          <p:cNvSpPr>
            <a:spLocks noGrp="1"/>
          </p:cNvSpPr>
          <p:nvPr>
            <p:ph type="title"/>
          </p:nvPr>
        </p:nvSpPr>
        <p:spPr>
          <a:xfrm>
            <a:off x="386079" y="368300"/>
            <a:ext cx="5861548" cy="2525654"/>
          </a:xfrm>
          <a:prstGeom prst="rect">
            <a:avLst/>
          </a:prstGeom>
        </p:spPr>
        <p:txBody>
          <a:bodyPr/>
          <a:lstStyle>
            <a:lvl1pPr>
              <a:tabLst>
                <a:tab pos="952500" algn="l"/>
              </a:tabLst>
            </a:lvl1pPr>
          </a:lstStyle>
          <a:p>
            <a:r>
              <a:t>Brain Size Compared to Body Height</a:t>
            </a:r>
          </a:p>
        </p:txBody>
      </p:sp>
      <p:grpSp>
        <p:nvGrpSpPr>
          <p:cNvPr id="1462" name="Group 1462"/>
          <p:cNvGrpSpPr/>
          <p:nvPr/>
        </p:nvGrpSpPr>
        <p:grpSpPr>
          <a:xfrm>
            <a:off x="7528566" y="2818128"/>
            <a:ext cx="4903384" cy="5253508"/>
            <a:chOff x="0" y="0"/>
            <a:chExt cx="4903383" cy="5253506"/>
          </a:xfrm>
        </p:grpSpPr>
        <p:sp>
          <p:nvSpPr>
            <p:cNvPr id="1454" name="Shape 1454"/>
            <p:cNvSpPr/>
            <p:nvPr/>
          </p:nvSpPr>
          <p:spPr>
            <a:xfrm rot="3000000">
              <a:off x="2151771" y="382949"/>
              <a:ext cx="2174871" cy="2519926"/>
            </a:xfrm>
            <a:custGeom>
              <a:avLst/>
              <a:gdLst/>
              <a:ahLst/>
              <a:cxnLst>
                <a:cxn ang="0">
                  <a:pos x="wd2" y="hd2"/>
                </a:cxn>
                <a:cxn ang="5400000">
                  <a:pos x="wd2" y="hd2"/>
                </a:cxn>
                <a:cxn ang="10800000">
                  <a:pos x="wd2" y="hd2"/>
                </a:cxn>
                <a:cxn ang="16200000">
                  <a:pos x="wd2" y="hd2"/>
                </a:cxn>
              </a:cxnLst>
              <a:rect l="0" t="0" r="r" b="b"/>
              <a:pathLst>
                <a:path w="19127" h="19249" extrusionOk="0">
                  <a:moveTo>
                    <a:pt x="15396" y="3476"/>
                  </a:moveTo>
                  <a:cubicBezTo>
                    <a:pt x="19582" y="7565"/>
                    <a:pt x="20364" y="13633"/>
                    <a:pt x="17143" y="17029"/>
                  </a:cubicBezTo>
                  <a:cubicBezTo>
                    <a:pt x="13923" y="20425"/>
                    <a:pt x="7918" y="19863"/>
                    <a:pt x="3732" y="15774"/>
                  </a:cubicBezTo>
                  <a:cubicBezTo>
                    <a:pt x="-454" y="11685"/>
                    <a:pt x="-1236" y="5617"/>
                    <a:pt x="1985" y="2221"/>
                  </a:cubicBezTo>
                  <a:cubicBezTo>
                    <a:pt x="5205" y="-1175"/>
                    <a:pt x="11210" y="-613"/>
                    <a:pt x="15396" y="3476"/>
                  </a:cubicBezTo>
                </a:path>
              </a:pathLst>
            </a:custGeom>
            <a:solidFill>
              <a:srgbClr val="8EFA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455" name="Shape 1455"/>
            <p:cNvSpPr/>
            <p:nvPr/>
          </p:nvSpPr>
          <p:spPr>
            <a:xfrm rot="3000000">
              <a:off x="2392565" y="2537180"/>
              <a:ext cx="1063067" cy="1532105"/>
            </a:xfrm>
            <a:custGeom>
              <a:avLst/>
              <a:gdLst/>
              <a:ahLst/>
              <a:cxnLst>
                <a:cxn ang="0">
                  <a:pos x="wd2" y="hd2"/>
                </a:cxn>
                <a:cxn ang="5400000">
                  <a:pos x="wd2" y="hd2"/>
                </a:cxn>
                <a:cxn ang="10800000">
                  <a:pos x="wd2" y="hd2"/>
                </a:cxn>
                <a:cxn ang="16200000">
                  <a:pos x="wd2" y="hd2"/>
                </a:cxn>
              </a:cxnLst>
              <a:rect l="0" t="0" r="r" b="b"/>
              <a:pathLst>
                <a:path w="19044" h="19321" extrusionOk="0">
                  <a:moveTo>
                    <a:pt x="15083" y="3352"/>
                  </a:moveTo>
                  <a:cubicBezTo>
                    <a:pt x="19351" y="7393"/>
                    <a:pt x="20322" y="13492"/>
                    <a:pt x="17251" y="16976"/>
                  </a:cubicBezTo>
                  <a:cubicBezTo>
                    <a:pt x="14180" y="20460"/>
                    <a:pt x="8230" y="20009"/>
                    <a:pt x="3961" y="15968"/>
                  </a:cubicBezTo>
                  <a:cubicBezTo>
                    <a:pt x="-307" y="11927"/>
                    <a:pt x="-1278" y="5828"/>
                    <a:pt x="1793" y="2344"/>
                  </a:cubicBezTo>
                  <a:cubicBezTo>
                    <a:pt x="4864" y="-1140"/>
                    <a:pt x="10814" y="-689"/>
                    <a:pt x="15083" y="3352"/>
                  </a:cubicBezTo>
                </a:path>
              </a:pathLst>
            </a:custGeom>
            <a:solidFill>
              <a:srgbClr val="FF93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456" name="Shape 1456"/>
            <p:cNvSpPr/>
            <p:nvPr/>
          </p:nvSpPr>
          <p:spPr>
            <a:xfrm rot="5160000">
              <a:off x="1260924" y="3398872"/>
              <a:ext cx="271819" cy="1869185"/>
            </a:xfrm>
            <a:custGeom>
              <a:avLst/>
              <a:gdLst/>
              <a:ahLst/>
              <a:cxnLst>
                <a:cxn ang="0">
                  <a:pos x="wd2" y="hd2"/>
                </a:cxn>
                <a:cxn ang="5400000">
                  <a:pos x="wd2" y="hd2"/>
                </a:cxn>
                <a:cxn ang="10800000">
                  <a:pos x="wd2" y="hd2"/>
                </a:cxn>
                <a:cxn ang="16200000">
                  <a:pos x="wd2" y="hd2"/>
                </a:cxn>
              </a:cxnLst>
              <a:rect l="0" t="0" r="r" b="b"/>
              <a:pathLst>
                <a:path w="19155" h="19667" extrusionOk="0">
                  <a:moveTo>
                    <a:pt x="15487" y="2895"/>
                  </a:moveTo>
                  <a:cubicBezTo>
                    <a:pt x="19649" y="6743"/>
                    <a:pt x="20377" y="12969"/>
                    <a:pt x="17113" y="16801"/>
                  </a:cubicBezTo>
                  <a:cubicBezTo>
                    <a:pt x="13849" y="20634"/>
                    <a:pt x="7829" y="20621"/>
                    <a:pt x="3667" y="16773"/>
                  </a:cubicBezTo>
                  <a:cubicBezTo>
                    <a:pt x="-495" y="12925"/>
                    <a:pt x="-1223" y="6699"/>
                    <a:pt x="2041" y="2867"/>
                  </a:cubicBezTo>
                  <a:cubicBezTo>
                    <a:pt x="5305" y="-966"/>
                    <a:pt x="11325" y="-953"/>
                    <a:pt x="15487" y="2895"/>
                  </a:cubicBezTo>
                </a:path>
              </a:pathLst>
            </a:custGeom>
            <a:solidFill>
              <a:srgbClr val="0096FF"/>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457" name="Shape 1457"/>
            <p:cNvSpPr/>
            <p:nvPr/>
          </p:nvSpPr>
          <p:spPr>
            <a:xfrm>
              <a:off x="53333" y="4637040"/>
              <a:ext cx="180001" cy="180001"/>
            </a:xfrm>
            <a:prstGeom prst="ellipse">
              <a:avLst/>
            </a:prstGeom>
            <a:solidFill>
              <a:srgbClr val="FF2600"/>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458" name="Shape 1458"/>
            <p:cNvSpPr/>
            <p:nvPr/>
          </p:nvSpPr>
          <p:spPr>
            <a:xfrm>
              <a:off x="1856739" y="4431028"/>
              <a:ext cx="2413498" cy="34955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noAutofit/>
            </a:bodyPr>
            <a:lstStyle>
              <a:lvl1pPr>
                <a:lnSpc>
                  <a:spcPts val="2700"/>
                </a:lnSpc>
                <a:tabLst>
                  <a:tab pos="520700" algn="l"/>
                </a:tabLst>
                <a:defRPr sz="2000" b="1">
                  <a:solidFill>
                    <a:srgbClr val="000000"/>
                  </a:solidFill>
                </a:defRPr>
              </a:lvl1pPr>
            </a:lstStyle>
            <a:p>
              <a:pPr>
                <a:defRPr>
                  <a:solidFill>
                    <a:srgbClr val="483F36"/>
                  </a:solidFill>
                </a:defRPr>
              </a:pPr>
              <a:r>
                <a:rPr>
                  <a:solidFill>
                    <a:srgbClr val="000000"/>
                  </a:solidFill>
                </a:rPr>
                <a:t>Australopithecines</a:t>
              </a:r>
            </a:p>
          </p:txBody>
        </p:sp>
        <p:sp>
          <p:nvSpPr>
            <p:cNvPr id="1459" name="Shape 1459"/>
            <p:cNvSpPr/>
            <p:nvPr/>
          </p:nvSpPr>
          <p:spPr>
            <a:xfrm>
              <a:off x="990600" y="3254732"/>
              <a:ext cx="1270621" cy="34955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noAutofit/>
            </a:bodyPr>
            <a:lstStyle>
              <a:lvl1pPr>
                <a:lnSpc>
                  <a:spcPts val="2700"/>
                </a:lnSpc>
                <a:tabLst>
                  <a:tab pos="520700" algn="l"/>
                </a:tabLst>
                <a:defRPr sz="2000" b="1">
                  <a:solidFill>
                    <a:srgbClr val="000000"/>
                  </a:solidFill>
                </a:defRPr>
              </a:lvl1pPr>
            </a:lstStyle>
            <a:p>
              <a:pPr>
                <a:defRPr>
                  <a:solidFill>
                    <a:srgbClr val="483F36"/>
                  </a:solidFill>
                </a:defRPr>
              </a:pPr>
              <a:r>
                <a:rPr>
                  <a:solidFill>
                    <a:srgbClr val="000000"/>
                  </a:solidFill>
                </a:rPr>
                <a:t>Erectines</a:t>
              </a:r>
            </a:p>
          </p:txBody>
        </p:sp>
        <p:sp>
          <p:nvSpPr>
            <p:cNvPr id="1460" name="Shape 1460"/>
            <p:cNvSpPr/>
            <p:nvPr/>
          </p:nvSpPr>
          <p:spPr>
            <a:xfrm>
              <a:off x="469900" y="712558"/>
              <a:ext cx="1863081" cy="34955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noAutofit/>
            </a:bodyPr>
            <a:lstStyle>
              <a:lvl1pPr>
                <a:lnSpc>
                  <a:spcPts val="2700"/>
                </a:lnSpc>
                <a:tabLst>
                  <a:tab pos="520700" algn="l"/>
                </a:tabLst>
                <a:defRPr sz="2000" b="1" i="1">
                  <a:solidFill>
                    <a:srgbClr val="000000"/>
                  </a:solidFill>
                </a:defRPr>
              </a:lvl1pPr>
            </a:lstStyle>
            <a:p>
              <a:pPr>
                <a:defRPr>
                  <a:solidFill>
                    <a:srgbClr val="483F36"/>
                  </a:solidFill>
                </a:defRPr>
              </a:pPr>
              <a:r>
                <a:rPr>
                  <a:solidFill>
                    <a:srgbClr val="000000"/>
                  </a:solidFill>
                </a:rPr>
                <a:t>Homo sapiens</a:t>
              </a:r>
            </a:p>
          </p:txBody>
        </p:sp>
        <p:sp>
          <p:nvSpPr>
            <p:cNvPr id="1461" name="Shape 1461"/>
            <p:cNvSpPr/>
            <p:nvPr/>
          </p:nvSpPr>
          <p:spPr>
            <a:xfrm>
              <a:off x="0" y="4903957"/>
              <a:ext cx="2328913" cy="34955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noAutofit/>
            </a:bodyPr>
            <a:lstStyle>
              <a:lvl1pPr>
                <a:lnSpc>
                  <a:spcPts val="2400"/>
                </a:lnSpc>
                <a:tabLst>
                  <a:tab pos="520700" algn="l"/>
                </a:tabLst>
                <a:defRPr sz="2000" b="1" i="1">
                  <a:solidFill>
                    <a:srgbClr val="000000"/>
                  </a:solidFill>
                </a:defRPr>
              </a:lvl1pPr>
            </a:lstStyle>
            <a:p>
              <a:pPr>
                <a:defRPr>
                  <a:solidFill>
                    <a:srgbClr val="483F36"/>
                  </a:solidFill>
                </a:defRPr>
              </a:pPr>
              <a:r>
                <a:rPr>
                  <a:solidFill>
                    <a:srgbClr val="000000"/>
                  </a:solidFill>
                </a:rPr>
                <a:t>Homo floresiensis</a:t>
              </a:r>
            </a:p>
          </p:txBody>
        </p:sp>
      </p:grpSp>
      <p:pic>
        <p:nvPicPr>
          <p:cNvPr id="1463" name="brain.png"/>
          <p:cNvPicPr>
            <a:picLocks noChangeAspect="1"/>
          </p:cNvPicPr>
          <p:nvPr/>
        </p:nvPicPr>
        <p:blipFill>
          <a:blip r:embed="rId4">
            <a:extLst/>
          </a:blip>
          <a:stretch>
            <a:fillRect/>
          </a:stretch>
        </p:blipFill>
        <p:spPr>
          <a:xfrm>
            <a:off x="9420311" y="203200"/>
            <a:ext cx="3418703" cy="3048000"/>
          </a:xfrm>
          <a:prstGeom prst="rect">
            <a:avLst/>
          </a:prstGeom>
          <a:ln w="12700">
            <a:miter lim="400000"/>
          </a:ln>
        </p:spPr>
      </p:pic>
      <p:sp>
        <p:nvSpPr>
          <p:cNvPr id="1464" name="Shape 1464"/>
          <p:cNvSpPr/>
          <p:nvPr/>
        </p:nvSpPr>
        <p:spPr>
          <a:xfrm>
            <a:off x="4326016" y="7434642"/>
            <a:ext cx="3236485" cy="821107"/>
          </a:xfrm>
          <a:custGeom>
            <a:avLst/>
            <a:gdLst/>
            <a:ahLst/>
            <a:cxnLst>
              <a:cxn ang="0">
                <a:pos x="wd2" y="hd2"/>
              </a:cxn>
              <a:cxn ang="5400000">
                <a:pos x="wd2" y="hd2"/>
              </a:cxn>
              <a:cxn ang="10800000">
                <a:pos x="wd2" y="hd2"/>
              </a:cxn>
              <a:cxn ang="16200000">
                <a:pos x="wd2" y="hd2"/>
              </a:cxn>
            </a:cxnLst>
            <a:rect l="0" t="0" r="r" b="b"/>
            <a:pathLst>
              <a:path w="21600" h="19690" extrusionOk="0">
                <a:moveTo>
                  <a:pt x="0" y="0"/>
                </a:moveTo>
                <a:cubicBezTo>
                  <a:pt x="1607" y="7695"/>
                  <a:pt x="4341" y="15406"/>
                  <a:pt x="7832" y="18409"/>
                </a:cubicBezTo>
                <a:cubicBezTo>
                  <a:pt x="11543" y="21600"/>
                  <a:pt x="15938" y="19064"/>
                  <a:pt x="20628" y="8130"/>
                </a:cubicBezTo>
                <a:lnTo>
                  <a:pt x="21600" y="5047"/>
                </a:lnTo>
              </a:path>
            </a:pathLst>
          </a:custGeom>
          <a:ln w="63500">
            <a:solidFill>
              <a:srgbClr val="006795"/>
            </a:solidFill>
            <a:miter lim="400000"/>
            <a:tailEnd type="triangle"/>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465" name="Shape 1465"/>
          <p:cNvSpPr>
            <a:spLocks noGrp="1"/>
          </p:cNvSpPr>
          <p:nvPr>
            <p:ph type="body" sz="half" idx="1"/>
          </p:nvPr>
        </p:nvSpPr>
        <p:spPr>
          <a:xfrm>
            <a:off x="368300" y="3036391"/>
            <a:ext cx="5956300" cy="4579194"/>
          </a:xfrm>
          <a:prstGeom prst="rect">
            <a:avLst/>
          </a:prstGeom>
        </p:spPr>
        <p:txBody>
          <a:bodyPr/>
          <a:lstStyle/>
          <a:p>
            <a:pPr>
              <a:tabLst>
                <a:tab pos="1016000" algn="l"/>
              </a:tabLst>
            </a:pPr>
            <a:r>
              <a:t>Brain size can be correlated to the body height of hominins.</a:t>
            </a:r>
          </a:p>
          <a:p>
            <a:pPr>
              <a:tabLst>
                <a:tab pos="1016000" algn="l"/>
              </a:tabLst>
            </a:pPr>
            <a:r>
              <a:t>A clear pattern emerges that indicates three distinct clusters of evolutionary development:</a:t>
            </a:r>
          </a:p>
          <a:p>
            <a:pPr lvl="1">
              <a:tabLst>
                <a:tab pos="1016000" algn="l"/>
              </a:tabLst>
            </a:pPr>
            <a:r>
              <a:t>Australopithecines</a:t>
            </a:r>
          </a:p>
          <a:p>
            <a:pPr lvl="1">
              <a:tabLst>
                <a:tab pos="1016000" algn="l"/>
              </a:tabLst>
            </a:pPr>
            <a:r>
              <a:t>Erectines</a:t>
            </a:r>
          </a:p>
          <a:p>
            <a:pPr lvl="1">
              <a:tabLst>
                <a:tab pos="1016000" algn="l"/>
              </a:tabLst>
            </a:pPr>
            <a:r>
              <a:t>Homo</a:t>
            </a:r>
          </a:p>
          <a:p>
            <a:pPr>
              <a:tabLst>
                <a:tab pos="1016000" algn="l"/>
              </a:tabLst>
            </a:pPr>
            <a:r>
              <a:rPr i="1"/>
              <a:t>Homo floresiensis</a:t>
            </a:r>
            <a:r>
              <a:t> clearly falls outside these clusters.</a:t>
            </a:r>
          </a:p>
        </p:txBody>
      </p:sp>
      <p:sp>
        <p:nvSpPr>
          <p:cNvPr id="1466" name="Shape 1466"/>
          <p:cNvSpPr/>
          <p:nvPr/>
        </p:nvSpPr>
        <p:spPr>
          <a:xfrm>
            <a:off x="9989819" y="6876049"/>
            <a:ext cx="180001" cy="180001"/>
          </a:xfrm>
          <a:prstGeom prst="ellipse">
            <a:avLst/>
          </a:prstGeom>
          <a:solidFill>
            <a:schemeClr val="accent2"/>
          </a:solidFill>
          <a:ln w="25400">
            <a:solidFill>
              <a:srgbClr val="000000"/>
            </a:solidFill>
            <a:miter lim="400000"/>
          </a:ln>
        </p:spPr>
        <p:txBody>
          <a:bodyPr lIns="38100" tIns="38100" rIns="38100" bIns="3810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467" name="Shape 1467"/>
          <p:cNvSpPr/>
          <p:nvPr/>
        </p:nvSpPr>
        <p:spPr>
          <a:xfrm>
            <a:off x="10231125" y="6858486"/>
            <a:ext cx="1730942" cy="349550"/>
          </a:xfrm>
          <a:prstGeom prst="rect">
            <a:avLst/>
          </a:prstGeom>
          <a:ln w="12700">
            <a:miter lim="400000"/>
          </a:ln>
          <a:extLst>
            <a:ext uri="{C572A759-6A51-4108-AA02-DFA0A04FC94B}">
              <ma14:wrappingTextBoxFlag xmlns="" xmlns:ma14="http://schemas.microsoft.com/office/mac/drawingml/2011/main" val="1"/>
            </a:ext>
          </a:extLst>
        </p:spPr>
        <p:txBody>
          <a:bodyPr lIns="0" tIns="0" rIns="0" bIns="0"/>
          <a:lstStyle>
            <a:lvl1pPr>
              <a:lnSpc>
                <a:spcPts val="2400"/>
              </a:lnSpc>
              <a:tabLst>
                <a:tab pos="520700" algn="l"/>
              </a:tabLst>
              <a:defRPr sz="2000" b="1" i="1">
                <a:solidFill>
                  <a:srgbClr val="000000"/>
                </a:solidFill>
              </a:defRPr>
            </a:lvl1pPr>
          </a:lstStyle>
          <a:p>
            <a:pPr>
              <a:defRPr>
                <a:solidFill>
                  <a:srgbClr val="483F36"/>
                </a:solidFill>
              </a:defRPr>
            </a:pPr>
            <a:r>
              <a:rPr>
                <a:solidFill>
                  <a:srgbClr val="000000"/>
                </a:solidFill>
              </a:rPr>
              <a:t>Homo naledi</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465">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46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46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46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465">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1465">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1465">
                                            <p:txEl>
                                              <p:pRg st="5" end="5"/>
                                            </p:txEl>
                                          </p:spTgt>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2" nodeType="afterEffect">
                                  <p:stCondLst>
                                    <p:cond delay="0"/>
                                  </p:stCondLst>
                                  <p:iterate>
                                    <p:tmAbs val="0"/>
                                  </p:iterate>
                                  <p:childTnLst>
                                    <p:set>
                                      <p:cBhvr>
                                        <p:cTn id="31" fill="hold"/>
                                        <p:tgtEl>
                                          <p:spTgt spid="14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 grpId="2" animBg="1" advAuto="0"/>
      <p:bldP spid="1465" grpId="1" build="p" bldLvl="5" animBg="1" advAuto="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8" name="keynote logo image maybe3.jpg"/>
          <p:cNvPicPr>
            <a:picLocks noChangeAspect="1"/>
          </p:cNvPicPr>
          <p:nvPr/>
        </p:nvPicPr>
        <p:blipFill>
          <a:blip r:embed="rId2">
            <a:extLst/>
          </a:blip>
          <a:srcRect l="2854" r="2854"/>
          <a:stretch>
            <a:fillRect/>
          </a:stretch>
        </p:blipFill>
        <p:spPr>
          <a:xfrm>
            <a:off x="0" y="0"/>
            <a:ext cx="13004800" cy="975360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0" name="Shape 1760"/>
          <p:cNvSpPr>
            <a:spLocks noGrp="1"/>
          </p:cNvSpPr>
          <p:nvPr>
            <p:ph type="title"/>
          </p:nvPr>
        </p:nvSpPr>
        <p:spPr>
          <a:prstGeom prst="rect">
            <a:avLst/>
          </a:prstGeom>
        </p:spPr>
        <p:txBody>
          <a:bodyPr/>
          <a:lstStyle>
            <a:lvl1pPr>
              <a:tabLst>
                <a:tab pos="952500" algn="l"/>
              </a:tabLst>
            </a:lvl1pPr>
          </a:lstStyle>
          <a:p>
            <a:r>
              <a:t>Conditions of Use</a:t>
            </a:r>
          </a:p>
        </p:txBody>
      </p:sp>
      <p:sp>
        <p:nvSpPr>
          <p:cNvPr id="1761" name="Shape 1761"/>
          <p:cNvSpPr/>
          <p:nvPr/>
        </p:nvSpPr>
        <p:spPr>
          <a:xfrm>
            <a:off x="774700" y="2527300"/>
            <a:ext cx="5524500" cy="52832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lstStyle/>
          <a:p>
            <a:pPr marL="0" lvl="1" indent="0">
              <a:spcBef>
                <a:spcPts val="900"/>
              </a:spcBef>
              <a:tabLst>
                <a:tab pos="901700" algn="l"/>
              </a:tabLst>
              <a:defRPr sz="2000" b="1">
                <a:solidFill>
                  <a:srgbClr val="FFDB1A"/>
                </a:solidFill>
              </a:defRPr>
            </a:pPr>
            <a:r>
              <a:t>You MAY:</a:t>
            </a:r>
          </a:p>
          <a:p>
            <a:pPr marL="288000" marR="457200" indent="-288000">
              <a:spcBef>
                <a:spcPts val="1500"/>
              </a:spcBef>
              <a:buSzPct val="100000"/>
              <a:buAutoNum type="alphaLcParenBoth"/>
              <a:tabLst/>
              <a:defRPr sz="1200" spc="5">
                <a:solidFill>
                  <a:srgbClr val="FFFFFF"/>
                </a:solidFill>
              </a:defRPr>
            </a:pPr>
            <a:r>
              <a:rPr spc="6"/>
              <a:t>Use the Presentation Media files for presentations in your classrooms using a data projector, interactive whiteboard or overhead projector.</a:t>
            </a:r>
          </a:p>
          <a:p>
            <a:pPr marL="288000" marR="457200" indent="-288000">
              <a:spcBef>
                <a:spcPts val="1500"/>
              </a:spcBef>
              <a:buSzPct val="100000"/>
              <a:buAutoNum type="alphaLcParenBoth"/>
              <a:tabLst/>
              <a:defRPr sz="1200" spc="5">
                <a:solidFill>
                  <a:srgbClr val="FFFFFF"/>
                </a:solidFill>
              </a:defRPr>
            </a:pPr>
            <a:r>
              <a:rPr spc="6"/>
              <a:t>Place the Presentation Media files on any staff computer within the school, including staff laptops, but not in contradiction to clause (g).</a:t>
            </a:r>
          </a:p>
          <a:p>
            <a:pPr marL="288000" marR="457200" indent="-288000">
              <a:buSzPct val="100000"/>
              <a:buAutoNum type="alphaLcParenBoth"/>
              <a:tabLst/>
              <a:defRPr sz="1200" spc="5">
                <a:solidFill>
                  <a:srgbClr val="FFFFFF"/>
                </a:solidFill>
              </a:defRPr>
            </a:pPr>
            <a:r>
              <a:rPr spc="6"/>
              <a:t>Place the Presentation Media files on:</a:t>
            </a:r>
          </a:p>
          <a:p>
            <a:pPr marL="468000" marR="457200" lvl="1" indent="-180000">
              <a:buSzPct val="125000"/>
              <a:buChar char="•"/>
              <a:tabLst/>
              <a:defRPr sz="1200" spc="5">
                <a:solidFill>
                  <a:srgbClr val="FFFFFF"/>
                </a:solidFill>
              </a:defRPr>
            </a:pPr>
            <a:r>
              <a:rPr spc="6"/>
              <a:t>The school’s intranet (school computer network)</a:t>
            </a:r>
          </a:p>
          <a:p>
            <a:pPr marL="468000" marR="457200" lvl="1" indent="-180000">
              <a:buSzPct val="125000"/>
              <a:buChar char="•"/>
              <a:tabLst/>
              <a:defRPr sz="1200" spc="5">
                <a:solidFill>
                  <a:srgbClr val="FFFFFF"/>
                </a:solidFill>
              </a:defRPr>
            </a:pPr>
            <a:r>
              <a:rPr spc="6"/>
              <a:t>VLE (Virtual Learning Environment)</a:t>
            </a:r>
          </a:p>
          <a:p>
            <a:pPr marL="468000" marR="457200" lvl="1" indent="-180000">
              <a:buSzPct val="125000"/>
              <a:buChar char="•"/>
              <a:tabLst/>
              <a:defRPr sz="1200" spc="5">
                <a:solidFill>
                  <a:srgbClr val="FFFFFF"/>
                </a:solidFill>
              </a:defRPr>
            </a:pPr>
            <a:r>
              <a:rPr spc="6"/>
              <a:t>A CMS (Content Management System). </a:t>
            </a:r>
          </a:p>
          <a:p>
            <a:pPr marL="0" marR="457200">
              <a:spcBef>
                <a:spcPts val="1500"/>
              </a:spcBef>
              <a:tabLst/>
              <a:defRPr sz="1200" spc="5">
                <a:solidFill>
                  <a:srgbClr val="FFFFFF"/>
                </a:solidFill>
              </a:defRPr>
            </a:pPr>
            <a:r>
              <a:rPr spc="6"/>
              <a:t>Student and staff access must be restricted to those who are enrolled/working on the campus of the registered purchaser. Student and staff access to a VLE or a CMS must be controlled by a user login and password protocol, but not in contradiction to clause (f). If students have access, they need to be made aware of the Conditions of Use and are only allowed to view the content.</a:t>
            </a:r>
          </a:p>
          <a:p>
            <a:pPr marL="288000" marR="457200" indent="-288000">
              <a:spcBef>
                <a:spcPts val="1500"/>
              </a:spcBef>
              <a:buSzPct val="100000"/>
              <a:buAutoNum type="alphaLcParenBoth" startAt="4"/>
              <a:tabLst/>
              <a:defRPr sz="1200" spc="5">
                <a:solidFill>
                  <a:srgbClr val="FFFFFF"/>
                </a:solidFill>
              </a:defRPr>
            </a:pPr>
            <a:r>
              <a:rPr spc="6"/>
              <a:t>Edit and customise the Presentation Media files by adding, deleting, and modifying information to better suit your needs, but not in contradiction to clauses 2 (c) - (d).</a:t>
            </a:r>
          </a:p>
          <a:p>
            <a:pPr marL="288000" marR="457200" indent="-288000">
              <a:spcBef>
                <a:spcPts val="1500"/>
              </a:spcBef>
              <a:buSzPct val="100000"/>
              <a:buAutoNum type="alphaLcParenBoth" startAt="4"/>
              <a:tabLst/>
              <a:defRPr sz="1200" spc="5">
                <a:solidFill>
                  <a:srgbClr val="FFFFFF"/>
                </a:solidFill>
              </a:defRPr>
            </a:pPr>
            <a:r>
              <a:rPr spc="6"/>
              <a:t>Print out the Presentation Media files in PowerPoint</a:t>
            </a:r>
            <a:r>
              <a:rPr spc="6" baseline="-8333"/>
              <a:t>®</a:t>
            </a:r>
            <a:r>
              <a:rPr spc="6"/>
              <a:t> or Keynote</a:t>
            </a:r>
            <a:r>
              <a:rPr spc="6" baseline="-8333"/>
              <a:t>®</a:t>
            </a:r>
            <a:r>
              <a:rPr spc="6"/>
              <a:t> </a:t>
            </a:r>
            <a:r>
              <a:rPr b="1" spc="6"/>
              <a:t>“Handouts”</a:t>
            </a:r>
            <a:r>
              <a:rPr spc="6"/>
              <a:t> mode for the express purpose of allowing students to make their own notes about the presentation, but not in contradiction to clause (e).</a:t>
            </a:r>
          </a:p>
        </p:txBody>
      </p:sp>
      <p:sp>
        <p:nvSpPr>
          <p:cNvPr id="1762" name="Shape 1762"/>
          <p:cNvSpPr/>
          <p:nvPr/>
        </p:nvSpPr>
        <p:spPr>
          <a:xfrm>
            <a:off x="774700" y="1447800"/>
            <a:ext cx="11277600" cy="8298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marL="0" lvl="1" indent="0">
              <a:spcBef>
                <a:spcPts val="600"/>
              </a:spcBef>
              <a:tabLst>
                <a:tab pos="901700" algn="l"/>
              </a:tabLst>
              <a:defRPr sz="1200">
                <a:solidFill>
                  <a:srgbClr val="FFFFFF"/>
                </a:solidFill>
              </a:defRPr>
            </a:pPr>
            <a:r>
              <a:rPr spc="6">
                <a:latin typeface="Myriad Pro"/>
                <a:ea typeface="Myriad Pro"/>
                <a:cs typeface="Myriad Pro"/>
                <a:sym typeface="Myriad Pro"/>
              </a:rPr>
              <a:t>NOTE: </a:t>
            </a:r>
            <a:r>
              <a:rPr spc="6">
                <a:latin typeface="Myriad Pro Semibold"/>
                <a:ea typeface="Myriad Pro Semibold"/>
                <a:cs typeface="Myriad Pro Semibold"/>
                <a:sym typeface="Myriad Pro Semibold"/>
              </a:rPr>
              <a:t>Presentation Media</a:t>
            </a:r>
            <a:r>
              <a:rPr spc="6">
                <a:latin typeface="Myriad Pro"/>
                <a:ea typeface="Myriad Pro"/>
                <a:cs typeface="Myriad Pro"/>
                <a:sym typeface="Myriad Pro"/>
              </a:rPr>
              <a:t> = presentations available on CD-ROM/DVD-ROM or as downloads</a:t>
            </a:r>
          </a:p>
          <a:p>
            <a:pPr marL="0" lvl="1" indent="0">
              <a:spcBef>
                <a:spcPts val="1000"/>
              </a:spcBef>
              <a:tabLst>
                <a:tab pos="901700" algn="l"/>
              </a:tabLst>
              <a:defRPr sz="2000">
                <a:solidFill>
                  <a:srgbClr val="FFFFFF"/>
                </a:solidFill>
              </a:defRPr>
            </a:pPr>
            <a:r>
              <a:rPr b="1" spc="11"/>
              <a:t>BIOZONE</a:t>
            </a:r>
            <a:r>
              <a:rPr spc="11"/>
              <a:t> retains copyright to the intellectual property included in the Presentation Media files, with acknowledgement that certain photos are used under license and are credited appropriately.</a:t>
            </a:r>
          </a:p>
        </p:txBody>
      </p:sp>
      <p:sp>
        <p:nvSpPr>
          <p:cNvPr id="1763" name="Shape 1763"/>
          <p:cNvSpPr/>
          <p:nvPr/>
        </p:nvSpPr>
        <p:spPr>
          <a:xfrm>
            <a:off x="6807200" y="2527300"/>
            <a:ext cx="5760000" cy="49911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lstStyle/>
          <a:p>
            <a:pPr marL="0" indent="71999">
              <a:spcBef>
                <a:spcPts val="2000"/>
              </a:spcBef>
              <a:tabLst>
                <a:tab pos="901700" algn="l"/>
              </a:tabLst>
              <a:defRPr sz="2000">
                <a:solidFill>
                  <a:srgbClr val="FFDB1A"/>
                </a:solidFill>
              </a:defRPr>
            </a:pPr>
            <a:r>
              <a:rPr b="1"/>
              <a:t>You MAY NOT:</a:t>
            </a:r>
            <a:endParaRPr spc="11"/>
          </a:p>
          <a:p>
            <a:pPr marL="360000" marR="457200" indent="-288000">
              <a:spcBef>
                <a:spcPts val="1500"/>
              </a:spcBef>
              <a:buSzPct val="100000"/>
              <a:buAutoNum type="alphaLcParenBoth"/>
              <a:tabLst>
                <a:tab pos="1016000" algn="l"/>
              </a:tabLst>
              <a:defRPr sz="1200" spc="5">
                <a:solidFill>
                  <a:srgbClr val="FFFFFF"/>
                </a:solidFill>
              </a:defRPr>
            </a:pPr>
            <a:r>
              <a:rPr spc="6"/>
              <a:t>Place the Presentation Media files on to the </a:t>
            </a:r>
            <a:r>
              <a:rPr b="1" spc="6"/>
              <a:t>Internet</a:t>
            </a:r>
            <a:r>
              <a:rPr spc="6"/>
              <a:t> or on a service that may be accessed </a:t>
            </a:r>
            <a:r>
              <a:rPr b="1" spc="6"/>
              <a:t>off-campus</a:t>
            </a:r>
            <a:r>
              <a:rPr spc="6"/>
              <a:t> unless access to the service is protected by a user login and password protocol, and is restricted to students and staff enrolled/working on the campus of the registered purchaser.</a:t>
            </a:r>
          </a:p>
          <a:p>
            <a:pPr marL="360000" marR="457200" indent="-288000">
              <a:spcBef>
                <a:spcPts val="1500"/>
              </a:spcBef>
              <a:buSzPct val="100000"/>
              <a:buAutoNum type="alphaLcParenBoth"/>
              <a:tabLst>
                <a:tab pos="1016000" algn="l"/>
              </a:tabLst>
              <a:defRPr sz="1200" spc="5">
                <a:solidFill>
                  <a:srgbClr val="FFFFFF"/>
                </a:solidFill>
              </a:defRPr>
            </a:pPr>
            <a:r>
              <a:rPr spc="6"/>
              <a:t>Place the Presentation Media files on student laptop computers.</a:t>
            </a:r>
          </a:p>
          <a:p>
            <a:pPr marL="360000" marR="457200" indent="-288000">
              <a:spcBef>
                <a:spcPts val="1500"/>
              </a:spcBef>
              <a:buSzPct val="100000"/>
              <a:buAutoNum type="alphaLcParenBoth"/>
              <a:tabLst>
                <a:tab pos="1016000" algn="l"/>
              </a:tabLst>
              <a:defRPr sz="1200" spc="5">
                <a:solidFill>
                  <a:srgbClr val="FFFFFF"/>
                </a:solidFill>
              </a:defRPr>
            </a:pPr>
            <a:r>
              <a:rPr b="1" spc="6"/>
              <a:t>REMOVE</a:t>
            </a:r>
            <a:r>
              <a:rPr spc="6"/>
              <a:t> any of the references to BIOZONE, the </a:t>
            </a:r>
            <a:r>
              <a:rPr b="1" spc="6"/>
              <a:t>title slides</a:t>
            </a:r>
            <a:r>
              <a:rPr spc="6"/>
              <a:t>, </a:t>
            </a:r>
            <a:r>
              <a:rPr b="1" spc="6"/>
              <a:t>copyright notices</a:t>
            </a:r>
            <a:r>
              <a:rPr spc="6"/>
              <a:t>, </a:t>
            </a:r>
            <a:r>
              <a:rPr b="1" spc="6"/>
              <a:t>photo credits</a:t>
            </a:r>
            <a:r>
              <a:rPr spc="6"/>
              <a:t>, or </a:t>
            </a:r>
            <a:r>
              <a:rPr b="1" spc="6"/>
              <a:t>Conditions of Use</a:t>
            </a:r>
            <a:r>
              <a:rPr spc="6"/>
              <a:t> from the Presentation Media files.</a:t>
            </a:r>
          </a:p>
          <a:p>
            <a:pPr marL="360000" marR="457200" indent="-288000">
              <a:spcBef>
                <a:spcPts val="1500"/>
              </a:spcBef>
              <a:buSzPct val="100000"/>
              <a:buAutoNum type="alphaLcParenBoth"/>
              <a:tabLst>
                <a:tab pos="1016000" algn="l"/>
              </a:tabLst>
              <a:defRPr sz="1200" spc="5">
                <a:solidFill>
                  <a:srgbClr val="FFFFFF"/>
                </a:solidFill>
              </a:defRPr>
            </a:pPr>
            <a:r>
              <a:rPr b="1" spc="6"/>
              <a:t>Create</a:t>
            </a:r>
            <a:r>
              <a:rPr spc="6"/>
              <a:t> a </a:t>
            </a:r>
            <a:r>
              <a:rPr b="1" spc="6"/>
              <a:t>NEW</a:t>
            </a:r>
            <a:r>
              <a:rPr spc="6"/>
              <a:t> document using any of the graphics/images in the Presentation Media files.</a:t>
            </a:r>
          </a:p>
          <a:p>
            <a:pPr marL="360000" marR="457200" indent="-288000">
              <a:spcBef>
                <a:spcPts val="1500"/>
              </a:spcBef>
              <a:buSzPct val="100000"/>
              <a:buAutoNum type="alphaLcParenBoth"/>
              <a:tabLst>
                <a:tab pos="1016000" algn="l"/>
              </a:tabLst>
              <a:defRPr sz="1200" spc="5">
                <a:solidFill>
                  <a:srgbClr val="FFFFFF"/>
                </a:solidFill>
              </a:defRPr>
            </a:pPr>
            <a:r>
              <a:rPr spc="6"/>
              <a:t>Print the Presentation Media files on to </a:t>
            </a:r>
            <a:r>
              <a:rPr b="1" spc="6"/>
              <a:t>paper</a:t>
            </a:r>
            <a:r>
              <a:rPr spc="6"/>
              <a:t> to make your own </a:t>
            </a:r>
            <a:r>
              <a:rPr b="1" spc="6"/>
              <a:t>worksheets</a:t>
            </a:r>
            <a:r>
              <a:rPr spc="6"/>
              <a:t> for distribution to students.</a:t>
            </a:r>
          </a:p>
          <a:p>
            <a:pPr marL="360000" marR="457200" indent="-288000">
              <a:spcBef>
                <a:spcPts val="1500"/>
              </a:spcBef>
              <a:buSzPct val="100000"/>
              <a:buAutoNum type="alphaLcParenBoth"/>
              <a:tabLst>
                <a:tab pos="1016000" algn="l"/>
              </a:tabLst>
              <a:defRPr sz="1200" spc="5">
                <a:solidFill>
                  <a:srgbClr val="FFFFFF"/>
                </a:solidFill>
              </a:defRPr>
            </a:pPr>
            <a:r>
              <a:rPr spc="6"/>
              <a:t>Incorporate any part of the Presentation Media files for the production of another </a:t>
            </a:r>
            <a:r>
              <a:rPr b="1" spc="6"/>
              <a:t>commercial product</a:t>
            </a:r>
            <a:r>
              <a:rPr spc="6"/>
              <a:t>.</a:t>
            </a:r>
          </a:p>
          <a:p>
            <a:pPr marL="360000" marR="457200" indent="-288000">
              <a:spcBef>
                <a:spcPts val="1500"/>
              </a:spcBef>
              <a:buSzPct val="100000"/>
              <a:buAutoNum type="alphaLcParenBoth"/>
              <a:tabLst>
                <a:tab pos="1016000" algn="l"/>
              </a:tabLst>
              <a:defRPr sz="1200" spc="5">
                <a:solidFill>
                  <a:srgbClr val="FFFFFF"/>
                </a:solidFill>
              </a:defRPr>
            </a:pPr>
            <a:r>
              <a:rPr spc="6"/>
              <a:t>Share or give away any content </a:t>
            </a:r>
            <a:r>
              <a:rPr b="1" spc="6"/>
              <a:t>off-campus</a:t>
            </a:r>
            <a:r>
              <a:rPr spc="6"/>
              <a:t>. This prohibition apples to, but is not limited to, sharing via the Internet or any website, (examples: YouTube, slide sharing websites).</a:t>
            </a:r>
          </a:p>
        </p:txBody>
      </p:sp>
      <p:sp>
        <p:nvSpPr>
          <p:cNvPr id="1764" name="Shape 1764"/>
          <p:cNvSpPr/>
          <p:nvPr/>
        </p:nvSpPr>
        <p:spPr>
          <a:xfrm>
            <a:off x="711200" y="7518400"/>
            <a:ext cx="6350000" cy="292100"/>
          </a:xfrm>
          <a:prstGeom prst="rect">
            <a:avLst/>
          </a:prstGeom>
          <a:ln w="12700">
            <a:miter lim="400000"/>
          </a:ln>
          <a:extLst>
            <a:ext uri="{C572A759-6A51-4108-AA02-DFA0A04FC94B}">
              <ma14:wrappingTextBoxFlag xmlns="" xmlns:ma14="http://schemas.microsoft.com/office/mac/drawingml/2011/main" val="1"/>
            </a:ext>
          </a:extLst>
        </p:spPr>
        <p:txBody>
          <a:bodyPr lIns="38100" tIns="38100" rIns="38100" bIns="38100" anchor="b"/>
          <a:lstStyle/>
          <a:p>
            <a:pPr marL="0">
              <a:tabLst>
                <a:tab pos="1079500" algn="l"/>
              </a:tabLst>
              <a:defRPr sz="1000">
                <a:solidFill>
                  <a:srgbClr val="FFFFFF"/>
                </a:solidFill>
                <a:latin typeface="Myriad Pro"/>
                <a:ea typeface="Myriad Pro"/>
                <a:cs typeface="Myriad Pro"/>
                <a:sym typeface="Myriad Pro"/>
              </a:defRPr>
            </a:pPr>
            <a:r>
              <a:t>Conditions of Use are subject to change without notice. Visit </a:t>
            </a:r>
            <a:r>
              <a:rPr u="sng">
                <a:hlinkClick r:id="rId2"/>
              </a:rPr>
              <a:t>http://www.biozone.com.au/faqconditionsofuse/</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6" name="Shape 1766"/>
          <p:cNvSpPr>
            <a:spLocks noGrp="1"/>
          </p:cNvSpPr>
          <p:nvPr>
            <p:ph type="title"/>
          </p:nvPr>
        </p:nvSpPr>
        <p:spPr>
          <a:prstGeom prst="rect">
            <a:avLst/>
          </a:prstGeom>
        </p:spPr>
        <p:txBody>
          <a:bodyPr/>
          <a:lstStyle>
            <a:lvl1pPr>
              <a:tabLst>
                <a:tab pos="952500" algn="l"/>
              </a:tabLst>
            </a:lvl1pPr>
          </a:lstStyle>
          <a:p>
            <a:r>
              <a:t>Photo Credits</a:t>
            </a:r>
          </a:p>
        </p:txBody>
      </p:sp>
      <p:sp>
        <p:nvSpPr>
          <p:cNvPr id="1767" name="Shape 1767"/>
          <p:cNvSpPr>
            <a:spLocks noGrp="1"/>
          </p:cNvSpPr>
          <p:nvPr>
            <p:ph type="body" sz="half" idx="1"/>
          </p:nvPr>
        </p:nvSpPr>
        <p:spPr>
          <a:xfrm>
            <a:off x="728300" y="1800000"/>
            <a:ext cx="5172591" cy="6273801"/>
          </a:xfrm>
          <a:prstGeom prst="rect">
            <a:avLst/>
          </a:prstGeom>
        </p:spPr>
        <p:txBody>
          <a:bodyPr/>
          <a:lstStyle/>
          <a:p>
            <a:pPr marL="336000" indent="-336000">
              <a:tabLst>
                <a:tab pos="1016000" algn="l"/>
              </a:tabLst>
            </a:pPr>
            <a:r>
              <a:t>Photographic images are used under license from the following commercial photo libraries:</a:t>
            </a:r>
          </a:p>
          <a:p>
            <a:pPr marL="611999" lvl="1">
              <a:tabLst>
                <a:tab pos="1485900" algn="l"/>
              </a:tabLst>
            </a:pPr>
            <a:r>
              <a:rPr b="1"/>
              <a:t>Corel Corporation</a:t>
            </a:r>
            <a:r>
              <a:t> Professional Photos (uncoded)</a:t>
            </a:r>
          </a:p>
          <a:p>
            <a:pPr marL="611999" lvl="1">
              <a:tabLst>
                <a:tab pos="1485900" algn="l"/>
              </a:tabLst>
            </a:pPr>
            <a:r>
              <a:rPr b="1"/>
              <a:t>ArtToday</a:t>
            </a:r>
            <a:r>
              <a:t>.com (coded</a:t>
            </a:r>
            <a:r>
              <a:rPr b="1"/>
              <a:t> AT</a:t>
            </a:r>
            <a:r>
              <a:t>)</a:t>
            </a:r>
          </a:p>
          <a:p>
            <a:pPr marL="611999" lvl="1">
              <a:tabLst>
                <a:tab pos="1485900" algn="l"/>
              </a:tabLst>
            </a:pPr>
            <a:r>
              <a:rPr b="1"/>
              <a:t>Clipart</a:t>
            </a:r>
            <a:r>
              <a:t>.com (coded </a:t>
            </a:r>
            <a:r>
              <a:rPr b="1"/>
              <a:t>CA</a:t>
            </a:r>
            <a:r>
              <a:t>)</a:t>
            </a:r>
          </a:p>
          <a:p>
            <a:pPr marL="611999" lvl="1">
              <a:tabLst>
                <a:tab pos="1485900" algn="l"/>
              </a:tabLst>
            </a:pPr>
            <a:r>
              <a:rPr b="1"/>
              <a:t>PhotoObjects</a:t>
            </a:r>
            <a:r>
              <a:t>.com (coded </a:t>
            </a:r>
            <a:r>
              <a:rPr b="1"/>
              <a:t>PO</a:t>
            </a:r>
            <a:r>
              <a:t>)</a:t>
            </a:r>
          </a:p>
          <a:p>
            <a:pPr marL="611999" lvl="1">
              <a:tabLst>
                <a:tab pos="1485900" algn="l"/>
              </a:tabLst>
            </a:pPr>
            <a:r>
              <a:rPr b="1"/>
              <a:t>iStock</a:t>
            </a:r>
            <a:r>
              <a:t>.com (coded </a:t>
            </a:r>
            <a:r>
              <a:rPr b="1"/>
              <a:t>iStock</a:t>
            </a:r>
            <a:r>
              <a:t>)</a:t>
            </a:r>
          </a:p>
          <a:p>
            <a:pPr marL="611999" lvl="1">
              <a:tabLst>
                <a:tab pos="1485900" algn="l"/>
              </a:tabLst>
            </a:pPr>
            <a:r>
              <a:rPr b="1"/>
              <a:t>Hemera</a:t>
            </a:r>
            <a:r>
              <a:t> Technologies Inc. (coded </a:t>
            </a:r>
            <a:r>
              <a:rPr b="1"/>
              <a:t>Hemera</a:t>
            </a:r>
            <a:r>
              <a:t>)</a:t>
            </a:r>
          </a:p>
          <a:p>
            <a:pPr marL="611999" lvl="1">
              <a:tabLst>
                <a:tab pos="1485900" algn="l"/>
              </a:tabLst>
            </a:pPr>
            <a:r>
              <a:rPr b="1"/>
              <a:t>Photos</a:t>
            </a:r>
            <a:r>
              <a:t>.com (coded </a:t>
            </a:r>
            <a:r>
              <a:rPr b="1"/>
              <a:t>PC</a:t>
            </a:r>
            <a:r>
              <a:t>)</a:t>
            </a:r>
          </a:p>
          <a:p>
            <a:pPr marL="611999" lvl="1">
              <a:tabLst>
                <a:tab pos="1485900" algn="l"/>
              </a:tabLst>
            </a:pPr>
            <a:r>
              <a:rPr b="1"/>
              <a:t>Education interactive</a:t>
            </a:r>
            <a:r>
              <a:t> (coded </a:t>
            </a:r>
            <a:r>
              <a:rPr b="1"/>
              <a:t>EII</a:t>
            </a:r>
            <a:r>
              <a:t>)</a:t>
            </a:r>
          </a:p>
          <a:p>
            <a:pPr marL="611999" lvl="1">
              <a:tabLst>
                <a:tab pos="1485900" algn="l"/>
              </a:tabLst>
            </a:pPr>
            <a:r>
              <a:rPr b="1"/>
              <a:t>Digital Stock</a:t>
            </a:r>
            <a:r>
              <a:t> (coded </a:t>
            </a:r>
            <a:r>
              <a:rPr b="1"/>
              <a:t>DS</a:t>
            </a:r>
            <a:r>
              <a:t>)</a:t>
            </a:r>
          </a:p>
          <a:p>
            <a:pPr marL="611999" lvl="1">
              <a:tabLst>
                <a:tab pos="1485900" algn="l"/>
              </a:tabLst>
            </a:pPr>
            <a:r>
              <a:rPr b="1"/>
              <a:t>LifeArt</a:t>
            </a:r>
            <a:r>
              <a:t> (coded </a:t>
            </a:r>
            <a:r>
              <a:rPr b="1"/>
              <a:t>LA</a:t>
            </a:r>
            <a:r>
              <a:t>)</a:t>
            </a:r>
          </a:p>
          <a:p>
            <a:pPr marL="611999" lvl="1">
              <a:tabLst>
                <a:tab pos="1485900" algn="l"/>
              </a:tabLst>
            </a:pPr>
            <a:r>
              <a:rPr b="1"/>
              <a:t>Dollar Photo Club</a:t>
            </a:r>
            <a:r>
              <a:t> (coded </a:t>
            </a:r>
            <a:r>
              <a:rPr b="1"/>
              <a:t>DPC</a:t>
            </a:r>
            <a:r>
              <a:t>)</a:t>
            </a:r>
          </a:p>
          <a:p>
            <a:pPr marL="336000" indent="-336000">
              <a:tabLst>
                <a:tab pos="1016000" algn="l"/>
              </a:tabLst>
            </a:pPr>
            <a:r>
              <a:t>3D models were created using </a:t>
            </a:r>
            <a:r>
              <a:rPr b="1"/>
              <a:t>Poser</a:t>
            </a:r>
          </a:p>
          <a:p>
            <a:pPr marL="336000" indent="-336000">
              <a:tabLst>
                <a:tab pos="1016000" algn="l"/>
              </a:tabLst>
            </a:pPr>
            <a:r>
              <a:t>Additional artwork and photographs are the property of </a:t>
            </a:r>
            <a:r>
              <a:rPr b="1"/>
              <a:t>BIOZONE</a:t>
            </a:r>
            <a:r>
              <a:t> International Ltd. All rights reserved.</a:t>
            </a:r>
          </a:p>
          <a:p>
            <a:pPr>
              <a:tabLst>
                <a:tab pos="1016000" algn="l"/>
              </a:tabLst>
            </a:pPr>
            <a:r>
              <a:t>Some 2D artwork has been adapted from TechPool STUDIOS LifeArt Collections, used under licence.</a:t>
            </a:r>
          </a:p>
        </p:txBody>
      </p:sp>
      <p:sp>
        <p:nvSpPr>
          <p:cNvPr id="1768" name="Shape 1768"/>
          <p:cNvSpPr/>
          <p:nvPr/>
        </p:nvSpPr>
        <p:spPr>
          <a:xfrm>
            <a:off x="6807200" y="1803400"/>
            <a:ext cx="5156200" cy="35687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lstStyle/>
          <a:p>
            <a:pPr marL="381000" indent="-381000">
              <a:lnSpc>
                <a:spcPts val="1900"/>
              </a:lnSpc>
              <a:spcBef>
                <a:spcPts val="2000"/>
              </a:spcBef>
              <a:buClr>
                <a:srgbClr val="FFFFFF"/>
              </a:buClr>
              <a:buSzPct val="200000"/>
              <a:buFont typeface="Lucida Grande"/>
              <a:buChar char="‣"/>
              <a:tabLst>
                <a:tab pos="1016000" algn="l"/>
              </a:tabLst>
              <a:defRPr sz="1600">
                <a:solidFill>
                  <a:srgbClr val="FFFFFF"/>
                </a:solidFill>
              </a:defRPr>
            </a:pPr>
            <a:r>
              <a:t>Images from the Public Domain: Where these licenses have been used, authors and licenses have been acknowledged alongside their image.</a:t>
            </a:r>
          </a:p>
          <a:p>
            <a:pPr marL="633599" lvl="2" indent="-252000">
              <a:lnSpc>
                <a:spcPts val="1400"/>
              </a:lnSpc>
              <a:spcBef>
                <a:spcPts val="600"/>
              </a:spcBef>
              <a:buSzPct val="150000"/>
              <a:buChar char="•"/>
              <a:tabLst>
                <a:tab pos="1485900" algn="l"/>
              </a:tabLst>
              <a:defRPr sz="1200">
                <a:solidFill>
                  <a:srgbClr val="FFFFFF"/>
                </a:solidFill>
              </a:defRPr>
            </a:pPr>
            <a:r>
              <a:rPr b="1"/>
              <a:t>Centers for Disease Control</a:t>
            </a:r>
            <a:r>
              <a:t> (coded </a:t>
            </a:r>
            <a:r>
              <a:rPr b="1"/>
              <a:t>CDC</a:t>
            </a:r>
            <a:r>
              <a:t>)</a:t>
            </a:r>
          </a:p>
          <a:p>
            <a:pPr marL="633599" lvl="2" indent="-252000">
              <a:lnSpc>
                <a:spcPts val="1400"/>
              </a:lnSpc>
              <a:spcBef>
                <a:spcPts val="600"/>
              </a:spcBef>
              <a:buSzPct val="150000"/>
              <a:buChar char="•"/>
              <a:tabLst>
                <a:tab pos="1485900" algn="l"/>
              </a:tabLst>
              <a:defRPr sz="1200">
                <a:solidFill>
                  <a:srgbClr val="FFFFFF"/>
                </a:solidFill>
              </a:defRPr>
            </a:pPr>
            <a:r>
              <a:rPr b="1"/>
              <a:t>National Institutes of Health</a:t>
            </a:r>
            <a:r>
              <a:t> (coded </a:t>
            </a:r>
            <a:r>
              <a:rPr b="1"/>
              <a:t>NIH</a:t>
            </a:r>
            <a:r>
              <a:t>)</a:t>
            </a:r>
          </a:p>
          <a:p>
            <a:pPr marL="633599" lvl="2" indent="-252000">
              <a:lnSpc>
                <a:spcPts val="1400"/>
              </a:lnSpc>
              <a:spcBef>
                <a:spcPts val="600"/>
              </a:spcBef>
              <a:buSzPct val="150000"/>
              <a:buChar char="•"/>
              <a:tabLst>
                <a:tab pos="1638300" algn="l"/>
              </a:tabLst>
              <a:defRPr sz="1200">
                <a:solidFill>
                  <a:srgbClr val="FFFFFF"/>
                </a:solidFill>
              </a:defRPr>
            </a:pPr>
            <a:r>
              <a:rPr b="1"/>
              <a:t>National Aeronautics and Space Administration </a:t>
            </a:r>
            <a:r>
              <a:t>(</a:t>
            </a:r>
            <a:r>
              <a:rPr b="1"/>
              <a:t>NASA</a:t>
            </a:r>
            <a:r>
              <a:t>)</a:t>
            </a:r>
          </a:p>
          <a:p>
            <a:pPr marL="633599" lvl="2" indent="-252000">
              <a:lnSpc>
                <a:spcPts val="1400"/>
              </a:lnSpc>
              <a:spcBef>
                <a:spcPts val="600"/>
              </a:spcBef>
              <a:buSzPct val="150000"/>
              <a:buChar char="•"/>
              <a:tabLst>
                <a:tab pos="1638300" algn="l"/>
              </a:tabLst>
              <a:defRPr sz="1200">
                <a:solidFill>
                  <a:srgbClr val="FFFFFF"/>
                </a:solidFill>
              </a:defRPr>
            </a:pPr>
            <a:r>
              <a:rPr b="1"/>
              <a:t>U.S. Department of Agriculture</a:t>
            </a:r>
            <a:r>
              <a:t> (coded </a:t>
            </a:r>
            <a:r>
              <a:rPr b="1"/>
              <a:t>USDA</a:t>
            </a:r>
            <a:r>
              <a:t>)</a:t>
            </a:r>
          </a:p>
          <a:p>
            <a:pPr marL="633599" lvl="2" indent="-252000">
              <a:lnSpc>
                <a:spcPts val="1400"/>
              </a:lnSpc>
              <a:spcBef>
                <a:spcPts val="600"/>
              </a:spcBef>
              <a:buSzPct val="150000"/>
              <a:buChar char="•"/>
              <a:tabLst>
                <a:tab pos="1638300" algn="l"/>
              </a:tabLst>
              <a:defRPr sz="1200">
                <a:solidFill>
                  <a:srgbClr val="FFFFFF"/>
                </a:solidFill>
              </a:defRPr>
            </a:pPr>
            <a:r>
              <a:t>Images from the public domain include limited copyright, </a:t>
            </a:r>
            <a:br/>
            <a:r>
              <a:t>copyright expired, uncopyrighted, or uncopyrightable material:</a:t>
            </a:r>
          </a:p>
          <a:p>
            <a:pPr marL="900000" lvl="3" indent="-252000">
              <a:lnSpc>
                <a:spcPts val="1400"/>
              </a:lnSpc>
              <a:spcBef>
                <a:spcPts val="600"/>
              </a:spcBef>
              <a:buSzPct val="100000"/>
              <a:buChar char="•"/>
              <a:tabLst>
                <a:tab pos="1638300" algn="l"/>
              </a:tabLst>
              <a:defRPr sz="1200">
                <a:solidFill>
                  <a:srgbClr val="FFFFFF"/>
                </a:solidFill>
              </a:defRPr>
            </a:pPr>
            <a:r>
              <a:rPr b="1"/>
              <a:t>Licenses including: GNU Free Documentation License</a:t>
            </a:r>
            <a:br>
              <a:rPr b="1"/>
            </a:br>
            <a:r>
              <a:rPr u="sng">
                <a:hlinkClick r:id="rId2"/>
              </a:rPr>
              <a:t>http://www.gnu.org/copyleft/fdl.html</a:t>
            </a:r>
          </a:p>
          <a:p>
            <a:pPr marL="900000" lvl="3" indent="-252000">
              <a:lnSpc>
                <a:spcPts val="1400"/>
              </a:lnSpc>
              <a:spcBef>
                <a:spcPts val="600"/>
              </a:spcBef>
              <a:buSzPct val="100000"/>
              <a:buChar char="•"/>
              <a:tabLst>
                <a:tab pos="1638300" algn="l"/>
              </a:tabLst>
              <a:defRPr sz="1200">
                <a:solidFill>
                  <a:srgbClr val="FFFFFF"/>
                </a:solidFill>
              </a:defRPr>
            </a:pPr>
            <a:r>
              <a:rPr b="1"/>
              <a:t>Creative Commons Attribution Share Alike</a:t>
            </a:r>
            <a:br>
              <a:rPr b="1"/>
            </a:br>
            <a:r>
              <a:rPr u="sng">
                <a:hlinkClick r:id="rId3"/>
              </a:rPr>
              <a:t>http://creativecommons.org/licenses/by-sa/3.0/</a:t>
            </a:r>
          </a:p>
          <a:p>
            <a:pPr marL="900000" lvl="3" indent="-252000">
              <a:lnSpc>
                <a:spcPts val="1400"/>
              </a:lnSpc>
              <a:spcBef>
                <a:spcPts val="600"/>
              </a:spcBef>
              <a:buSzPct val="100000"/>
              <a:buChar char="•"/>
              <a:tabLst>
                <a:tab pos="1638300" algn="l"/>
              </a:tabLst>
              <a:defRPr sz="1200" b="1">
                <a:solidFill>
                  <a:srgbClr val="FFFFFF"/>
                </a:solidFill>
              </a:defRPr>
            </a:pPr>
            <a:r>
              <a:t>Wikimedia Commons</a:t>
            </a:r>
          </a:p>
        </p:txBody>
      </p:sp>
      <p:grpSp>
        <p:nvGrpSpPr>
          <p:cNvPr id="1771" name="Group 1771"/>
          <p:cNvGrpSpPr/>
          <p:nvPr/>
        </p:nvGrpSpPr>
        <p:grpSpPr>
          <a:xfrm>
            <a:off x="6807200" y="5384800"/>
            <a:ext cx="5003800" cy="1841500"/>
            <a:chOff x="0" y="0"/>
            <a:chExt cx="5003800" cy="1841500"/>
          </a:xfrm>
        </p:grpSpPr>
        <p:sp>
          <p:nvSpPr>
            <p:cNvPr id="1769" name="Shape 1769"/>
            <p:cNvSpPr/>
            <p:nvPr/>
          </p:nvSpPr>
          <p:spPr>
            <a:xfrm>
              <a:off x="0" y="0"/>
              <a:ext cx="5003800" cy="1841500"/>
            </a:xfrm>
            <a:prstGeom prst="rect">
              <a:avLst/>
            </a:prstGeom>
            <a:solidFill>
              <a:srgbClr val="FFFFFF">
                <a:alpha val="80000"/>
              </a:srgbClr>
            </a:solidFill>
            <a:ln w="25400" cap="flat">
              <a:noFill/>
              <a:miter lim="400000"/>
            </a:ln>
            <a:effectLst/>
          </p:spPr>
          <p:txBody>
            <a:bodyPr wrap="square" lIns="0" tIns="0" rIns="0" bIns="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70" name="Shape 1770"/>
            <p:cNvSpPr/>
            <p:nvPr/>
          </p:nvSpPr>
          <p:spPr>
            <a:xfrm>
              <a:off x="246508" y="215900"/>
              <a:ext cx="4508501" cy="1412429"/>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marL="0">
                <a:spcBef>
                  <a:spcPts val="1200"/>
                </a:spcBef>
                <a:tabLst>
                  <a:tab pos="1016000" algn="l"/>
                </a:tabLst>
                <a:defRPr sz="2400" b="1"/>
              </a:lvl1pPr>
            </a:lstStyle>
            <a:p>
              <a:r>
                <a:t>NOTE: Where images are edited or moved from or within this file, the accompanying photo credit must be retained.</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73" name="PM Ad last slide.pdf"/>
          <p:cNvPicPr>
            <a:picLocks noChangeAspect="1"/>
          </p:cNvPicPr>
          <p:nvPr/>
        </p:nvPicPr>
        <p:blipFill>
          <a:blip r:embed="rId2">
            <a:extLst/>
          </a:blip>
          <a:stretch>
            <a:fillRect/>
          </a:stretch>
        </p:blipFill>
        <p:spPr>
          <a:xfrm>
            <a:off x="-12700" y="-12700"/>
            <a:ext cx="13004800" cy="1000760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theme/theme1.xml><?xml version="1.0" encoding="utf-8"?>
<a:theme xmlns:a="http://schemas.openxmlformats.org/drawingml/2006/main" name="White">
  <a:themeElements>
    <a:clrScheme name="Custom 85">
      <a:dk1>
        <a:srgbClr val="949494"/>
      </a:dk1>
      <a:lt1>
        <a:srgbClr val="006994"/>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6695"/>
      </a:hlink>
      <a:folHlink>
        <a:srgbClr val="C4E0ED"/>
      </a:folHlink>
    </a:clrScheme>
    <a:fontScheme name="White">
      <a:majorFont>
        <a:latin typeface="Arial"/>
        <a:ea typeface="Arial"/>
        <a:cs typeface="Arial"/>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alpha val="50000"/>
          </a:srgbClr>
        </a:solidFill>
        <a:ln w="25400" cap="flat">
          <a:noFill/>
          <a:miter lim="400000"/>
        </a:ln>
        <a:effectLst/>
        <a:sp3d/>
      </a:spPr>
      <a:bodyPr rot="0" spcFirstLastPara="1" vertOverflow="overflow" horzOverflow="overflow" vert="horz" wrap="square" lIns="0" tIns="0" rIns="0" bIns="0" numCol="1" spcCol="38100" rtlCol="0" anchor="ctr">
        <a:spAutoFit/>
      </a:bodyPr>
      <a:lstStyle>
        <a:defPPr marL="114300" marR="0" indent="0" algn="l" defTabSz="457200" rtl="0" fontAlgn="auto" latinLnBrk="0" hangingPunct="0">
          <a:lnSpc>
            <a:spcPts val="3300"/>
          </a:lnSpc>
          <a:spcBef>
            <a:spcPts val="0"/>
          </a:spcBef>
          <a:spcAft>
            <a:spcPts val="0"/>
          </a:spcAft>
          <a:buClrTx/>
          <a:buSzTx/>
          <a:buFontTx/>
          <a:buNone/>
          <a:tabLst>
            <a:tab pos="520700" algn="l"/>
          </a:tabLst>
          <a:defRPr kumimoji="0" sz="2800" b="0" i="0" u="none" strike="noStrike" cap="none" spc="0" normalizeH="0" baseline="0">
            <a:ln>
              <a:noFill/>
            </a:ln>
            <a:solidFill>
              <a:srgbClr val="483F36"/>
            </a:solidFill>
            <a:effectLst>
              <a:outerShdw blurRad="38100" dist="12700" dir="5400000" rotWithShape="0">
                <a:srgbClr val="000000">
                  <a:alpha val="50000"/>
                </a:srgbClr>
              </a:outerShdw>
            </a:effectLst>
            <a:uFillTx/>
            <a:latin typeface="Hoefler Text"/>
            <a:ea typeface="Hoefler Text"/>
            <a:cs typeface="Hoefler Text"/>
            <a:sym typeface="Hoefler Tex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6994"/>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114300" marR="0" indent="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Arial"/>
        <a:ea typeface="Arial"/>
        <a:cs typeface="Arial"/>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alpha val="50000"/>
          </a:srgbClr>
        </a:solidFill>
        <a:ln w="25400" cap="flat">
          <a:noFill/>
          <a:miter lim="400000"/>
        </a:ln>
        <a:effectLst/>
        <a:sp3d/>
      </a:spPr>
      <a:bodyPr rot="0" spcFirstLastPara="1" vertOverflow="overflow" horzOverflow="overflow" vert="horz" wrap="square" lIns="0" tIns="0" rIns="0" bIns="0" numCol="1" spcCol="38100" rtlCol="0" anchor="ctr">
        <a:spAutoFit/>
      </a:bodyPr>
      <a:lstStyle>
        <a:defPPr marL="114300" marR="0" indent="0" algn="l" defTabSz="457200" rtl="0" fontAlgn="auto" latinLnBrk="0" hangingPunct="0">
          <a:lnSpc>
            <a:spcPts val="3300"/>
          </a:lnSpc>
          <a:spcBef>
            <a:spcPts val="0"/>
          </a:spcBef>
          <a:spcAft>
            <a:spcPts val="0"/>
          </a:spcAft>
          <a:buClrTx/>
          <a:buSzTx/>
          <a:buFontTx/>
          <a:buNone/>
          <a:tabLst>
            <a:tab pos="520700" algn="l"/>
          </a:tabLst>
          <a:defRPr kumimoji="0" sz="2800" b="0" i="0" u="none" strike="noStrike" cap="none" spc="0" normalizeH="0" baseline="0">
            <a:ln>
              <a:noFill/>
            </a:ln>
            <a:solidFill>
              <a:srgbClr val="483F36"/>
            </a:solidFill>
            <a:effectLst>
              <a:outerShdw blurRad="38100" dist="12700" dir="5400000" rotWithShape="0">
                <a:srgbClr val="000000">
                  <a:alpha val="50000"/>
                </a:srgbClr>
              </a:outerShdw>
            </a:effectLst>
            <a:uFillTx/>
            <a:latin typeface="Hoefler Text"/>
            <a:ea typeface="Hoefler Text"/>
            <a:cs typeface="Hoefler Text"/>
            <a:sym typeface="Hoefler Tex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6994"/>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114300" marR="0" indent="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7</TotalTime>
  <Words>4300</Words>
  <Application>Microsoft Office PowerPoint</Application>
  <PresentationFormat>Custom</PresentationFormat>
  <Paragraphs>515</Paragraphs>
  <Slides>51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51</vt:i4>
      </vt:variant>
    </vt:vector>
  </HeadingPairs>
  <TitlesOfParts>
    <vt:vector size="60" baseType="lpstr">
      <vt:lpstr>Arial</vt:lpstr>
      <vt:lpstr>Gill Sans</vt:lpstr>
      <vt:lpstr>Helvetica</vt:lpstr>
      <vt:lpstr>Hoefler Text</vt:lpstr>
      <vt:lpstr>Lucida Grande</vt:lpstr>
      <vt:lpstr>Myriad Pro</vt:lpstr>
      <vt:lpstr>Myriad Pro Semibold</vt:lpstr>
      <vt:lpstr>Savoye LET</vt:lpstr>
      <vt:lpstr>White</vt:lpstr>
      <vt:lpstr>PowerPoint Presentation</vt:lpstr>
      <vt:lpstr>PowerPoint Presentation</vt:lpstr>
      <vt:lpstr>Human Characteristics</vt:lpstr>
      <vt:lpstr>Human Evolution Timeline</vt:lpstr>
      <vt:lpstr>Human Evolution Timeline</vt:lpstr>
      <vt:lpstr>Human Evolution Timeline</vt:lpstr>
      <vt:lpstr>Human Evolution Timeline</vt:lpstr>
      <vt:lpstr>Human Evolution Timeline</vt:lpstr>
      <vt:lpstr>Human Evolution Timeline</vt:lpstr>
      <vt:lpstr>Human Evolution Timeline</vt:lpstr>
      <vt:lpstr>Human Evolution Timeline</vt:lpstr>
      <vt:lpstr>Human Evolution Timeline</vt:lpstr>
      <vt:lpstr>Human Evolution Timeline</vt:lpstr>
      <vt:lpstr>Human Evolution Timeline</vt:lpstr>
      <vt:lpstr>Human Evolution Timeline</vt:lpstr>
      <vt:lpstr>Human Evolution Timeline</vt:lpstr>
      <vt:lpstr>Australopithecus afarensis</vt:lpstr>
      <vt:lpstr>Australopithecus afarensis</vt:lpstr>
      <vt:lpstr>Australopithecus africanus</vt:lpstr>
      <vt:lpstr>Australopithecus africanus</vt:lpstr>
      <vt:lpstr>Homo habilis</vt:lpstr>
      <vt:lpstr>Homo habilis</vt:lpstr>
      <vt:lpstr>Homo erectus</vt:lpstr>
      <vt:lpstr>Homo erectus</vt:lpstr>
      <vt:lpstr>Homo heidelbergensis</vt:lpstr>
      <vt:lpstr>Homo heidelbergensis</vt:lpstr>
      <vt:lpstr>Homo neanderthalensis</vt:lpstr>
      <vt:lpstr>Homo neanderthalensis</vt:lpstr>
      <vt:lpstr>Homo sapiens</vt:lpstr>
      <vt:lpstr>Homo sapiens</vt:lpstr>
      <vt:lpstr>Ardipithecus ramidus</vt:lpstr>
      <vt:lpstr>The Split from CLCA</vt:lpstr>
      <vt:lpstr>Ardi’s Skull</vt:lpstr>
      <vt:lpstr>Ardi’s Hand</vt:lpstr>
      <vt:lpstr>Ardi’s Pelvis</vt:lpstr>
      <vt:lpstr>Ardi’s Foot</vt:lpstr>
      <vt:lpstr>The Denisova Cave Find</vt:lpstr>
      <vt:lpstr>Analysis of the DNA</vt:lpstr>
      <vt:lpstr>Analysing Neanderthal DNA</vt:lpstr>
      <vt:lpstr>The Primitive Features of 'Lucy'</vt:lpstr>
      <vt:lpstr>Homo floresiensis</vt:lpstr>
      <vt:lpstr>Homo floresiensis</vt:lpstr>
      <vt:lpstr>Homo floresiensis</vt:lpstr>
      <vt:lpstr>Homo naledi</vt:lpstr>
      <vt:lpstr>Rising Star Cave System</vt:lpstr>
      <vt:lpstr>Dating H. naledi</vt:lpstr>
      <vt:lpstr>Brain Size Compared to Body Height</vt:lpstr>
      <vt:lpstr>PowerPoint Presentation</vt:lpstr>
      <vt:lpstr>Conditions of Use</vt:lpstr>
      <vt:lpstr>Photo Credits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EDWARDS Natalie</dc:creator>
  <cp:lastModifiedBy>EDWARDS Natalie [Narrogin Senior High School]</cp:lastModifiedBy>
  <cp:revision>6</cp:revision>
  <dcterms:modified xsi:type="dcterms:W3CDTF">2021-08-10T08:38:04Z</dcterms:modified>
</cp:coreProperties>
</file>
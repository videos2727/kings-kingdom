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342" r:id="rId3"/>
    <p:sldId id="343" r:id="rId4"/>
    <p:sldId id="344" r:id="rId5"/>
    <p:sldId id="345" r:id="rId6"/>
    <p:sldId id="346" r:id="rId7"/>
    <p:sldId id="347" r:id="rId8"/>
    <p:sldId id="348" r:id="rId9"/>
    <p:sldId id="349" r:id="rId10"/>
    <p:sldId id="350" r:id="rId11"/>
    <p:sldId id="351" r:id="rId12"/>
    <p:sldId id="352" r:id="rId13"/>
    <p:sldId id="353" r:id="rId14"/>
    <p:sldId id="354" r:id="rId15"/>
    <p:sldId id="355" r:id="rId16"/>
    <p:sldId id="356" r:id="rId17"/>
    <p:sldId id="357" r:id="rId18"/>
    <p:sldId id="358" r:id="rId19"/>
    <p:sldId id="359" r:id="rId20"/>
    <p:sldId id="360" r:id="rId21"/>
    <p:sldId id="361" r:id="rId22"/>
    <p:sldId id="362" r:id="rId23"/>
    <p:sldId id="363" r:id="rId24"/>
    <p:sldId id="364" r:id="rId25"/>
    <p:sldId id="365" r:id="rId26"/>
    <p:sldId id="366" r:id="rId27"/>
    <p:sldId id="367" r:id="rId28"/>
    <p:sldId id="368" r:id="rId29"/>
    <p:sldId id="369" r:id="rId30"/>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1pPr>
    <a:lvl2pPr marL="114300" marR="0" indent="3429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2pPr>
    <a:lvl3pPr marL="114300" marR="0" indent="6858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3pPr>
    <a:lvl4pPr marL="114300" marR="0" indent="10287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4pPr>
    <a:lvl5pPr marL="114300" marR="0" indent="13716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5pPr>
    <a:lvl6pPr marL="114300" marR="0" indent="17145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6pPr>
    <a:lvl7pPr marL="114300" marR="0" indent="20574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7pPr>
    <a:lvl8pPr marL="114300" marR="0" indent="24003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8pPr>
    <a:lvl9pPr marL="114300" marR="0" indent="274320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8F44A2F1-9E1F-4B54-A3A2-5F16C0AD49E2}"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D51ADE6A-740E-44AE-83CC-AE7238B6C88D}" styleName="">
    <a:tblBg/>
    <a:wholeTb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wholeTbl>
    <a:band2H>
      <a:tcTxStyle/>
      <a:tcStyle>
        <a:tcBdr/>
        <a:fill>
          <a:solidFill>
            <a:srgbClr val="EFF1F3"/>
          </a:solidFill>
        </a:fill>
      </a:tcStyle>
    </a:band2H>
    <a:firstCol>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Col>
    <a:la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lastRow>
    <a:firstRow>
      <a:tcTxStyle b="off" i="off">
        <a:font>
          <a:latin typeface="Hoefler Text"/>
          <a:ea typeface="Hoefler Text"/>
          <a:cs typeface="Hoefler Text"/>
        </a:font>
        <a:srgbClr val="483F36"/>
      </a:tcTxStyle>
      <a:tcStyle>
        <a:tcBdr>
          <a:left>
            <a:ln w="12700" cap="flat">
              <a:solidFill>
                <a:srgbClr val="824828"/>
              </a:solidFill>
              <a:prstDash val="solid"/>
              <a:miter lim="400000"/>
            </a:ln>
          </a:left>
          <a:right>
            <a:ln w="12700" cap="flat">
              <a:solidFill>
                <a:srgbClr val="824828"/>
              </a:solidFill>
              <a:prstDash val="solid"/>
              <a:miter lim="400000"/>
            </a:ln>
          </a:right>
          <a:top>
            <a:ln w="12700" cap="flat">
              <a:solidFill>
                <a:srgbClr val="824828"/>
              </a:solidFill>
              <a:prstDash val="solid"/>
              <a:miter lim="400000"/>
            </a:ln>
          </a:top>
          <a:bottom>
            <a:ln w="12700" cap="flat">
              <a:solidFill>
                <a:srgbClr val="824828"/>
              </a:solidFill>
              <a:prstDash val="solid"/>
              <a:miter lim="400000"/>
            </a:ln>
          </a:bottom>
          <a:insideH>
            <a:ln w="12700" cap="flat">
              <a:solidFill>
                <a:srgbClr val="824828"/>
              </a:solidFill>
              <a:prstDash val="solid"/>
              <a:miter lim="400000"/>
            </a:ln>
          </a:insideH>
          <a:insideV>
            <a:ln w="12700" cap="flat">
              <a:solidFill>
                <a:srgbClr val="824828"/>
              </a:solidFill>
              <a:prstDash val="solid"/>
              <a:miter lim="400000"/>
            </a:ln>
          </a:insideV>
        </a:tcBdr>
        <a:fill>
          <a:no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0"/>
    <p:restoredTop sz="94714"/>
  </p:normalViewPr>
  <p:slideViewPr>
    <p:cSldViewPr snapToGrid="0" snapToObjects="1">
      <p:cViewPr varScale="1">
        <p:scale>
          <a:sx n="71" d="100"/>
          <a:sy n="71" d="100"/>
        </p:scale>
        <p:origin x="49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2" name="Shape 62"/>
          <p:cNvSpPr>
            <a:spLocks noGrp="1" noRot="1" noChangeAspect="1"/>
          </p:cNvSpPr>
          <p:nvPr>
            <p:ph type="sldImg"/>
          </p:nvPr>
        </p:nvSpPr>
        <p:spPr>
          <a:xfrm>
            <a:off x="1143000" y="685800"/>
            <a:ext cx="4572000" cy="3429000"/>
          </a:xfrm>
          <a:prstGeom prst="rect">
            <a:avLst/>
          </a:prstGeom>
        </p:spPr>
        <p:txBody>
          <a:bodyPr/>
          <a:lstStyle/>
          <a:p>
            <a:endParaRPr/>
          </a:p>
        </p:txBody>
      </p:sp>
      <p:sp>
        <p:nvSpPr>
          <p:cNvPr id="63" name="Shape 63"/>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085305547"/>
      </p:ext>
    </p:extLst>
  </p:cSld>
  <p:clrMap bg1="lt1" tx1="dk1" bg2="lt2" tx2="dk2" accent1="accent1" accent2="accent2" accent3="accent3" accent4="accent4" accent5="accent5" accent6="accent6" hlink="hlink" folHlink="folHlink"/>
  <p:notesStyle>
    <a:lvl1pPr defTabSz="457200" latinLnBrk="0">
      <a:defRPr sz="1600">
        <a:latin typeface="Lucida Grande"/>
        <a:ea typeface="Lucida Grande"/>
        <a:cs typeface="Lucida Grande"/>
        <a:sym typeface="Lucida Grande"/>
      </a:defRPr>
    </a:lvl1pPr>
    <a:lvl2pPr indent="228600" defTabSz="457200" latinLnBrk="0">
      <a:defRPr sz="1600">
        <a:latin typeface="Lucida Grande"/>
        <a:ea typeface="Lucida Grande"/>
        <a:cs typeface="Lucida Grande"/>
        <a:sym typeface="Lucida Grande"/>
      </a:defRPr>
    </a:lvl2pPr>
    <a:lvl3pPr indent="457200" defTabSz="457200" latinLnBrk="0">
      <a:defRPr sz="1600">
        <a:latin typeface="Lucida Grande"/>
        <a:ea typeface="Lucida Grande"/>
        <a:cs typeface="Lucida Grande"/>
        <a:sym typeface="Lucida Grande"/>
      </a:defRPr>
    </a:lvl3pPr>
    <a:lvl4pPr indent="685800" defTabSz="457200" latinLnBrk="0">
      <a:defRPr sz="1600">
        <a:latin typeface="Lucida Grande"/>
        <a:ea typeface="Lucida Grande"/>
        <a:cs typeface="Lucida Grande"/>
        <a:sym typeface="Lucida Grande"/>
      </a:defRPr>
    </a:lvl4pPr>
    <a:lvl5pPr indent="914400" defTabSz="457200" latinLnBrk="0">
      <a:defRPr sz="1600">
        <a:latin typeface="Lucida Grande"/>
        <a:ea typeface="Lucida Grande"/>
        <a:cs typeface="Lucida Grande"/>
        <a:sym typeface="Lucida Grande"/>
      </a:defRPr>
    </a:lvl5pPr>
    <a:lvl6pPr indent="1143000" defTabSz="457200" latinLnBrk="0">
      <a:defRPr sz="1600">
        <a:latin typeface="Lucida Grande"/>
        <a:ea typeface="Lucida Grande"/>
        <a:cs typeface="Lucida Grande"/>
        <a:sym typeface="Lucida Grande"/>
      </a:defRPr>
    </a:lvl6pPr>
    <a:lvl7pPr indent="1371600" defTabSz="457200" latinLnBrk="0">
      <a:defRPr sz="1600">
        <a:latin typeface="Lucida Grande"/>
        <a:ea typeface="Lucida Grande"/>
        <a:cs typeface="Lucida Grande"/>
        <a:sym typeface="Lucida Grande"/>
      </a:defRPr>
    </a:lvl7pPr>
    <a:lvl8pPr indent="1600200" defTabSz="457200" latinLnBrk="0">
      <a:defRPr sz="1600">
        <a:latin typeface="Lucida Grande"/>
        <a:ea typeface="Lucida Grande"/>
        <a:cs typeface="Lucida Grande"/>
        <a:sym typeface="Lucida Grande"/>
      </a:defRPr>
    </a:lvl8pPr>
    <a:lvl9pPr indent="1828800" defTabSz="457200" latinLnBrk="0">
      <a:defRPr sz="1600">
        <a:latin typeface="Lucida Grande"/>
        <a:ea typeface="Lucida Grande"/>
        <a:cs typeface="Lucida Grande"/>
        <a:sym typeface="Lucida Grande"/>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Title &amp; Bullet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6" name="Shape 16"/>
          <p:cNvSpPr>
            <a:spLocks noGrp="1"/>
          </p:cNvSpPr>
          <p:nvPr>
            <p:ph type="title"/>
          </p:nvPr>
        </p:nvSpPr>
        <p:spPr>
          <a:xfrm>
            <a:off x="386079" y="368300"/>
            <a:ext cx="12192001" cy="900351"/>
          </a:xfrm>
          <a:prstGeom prst="rect">
            <a:avLst/>
          </a:prstGeom>
        </p:spPr>
        <p:txBody>
          <a:bodyPr anchor="b"/>
          <a:lstStyle>
            <a:lvl1pPr>
              <a:tabLst>
                <a:tab pos="952500" algn="l"/>
              </a:tabLst>
              <a:defRPr>
                <a:solidFill>
                  <a:srgbClr val="000000"/>
                </a:solidFill>
              </a:defRPr>
            </a:lvl1pPr>
          </a:lstStyle>
          <a:p>
            <a:r>
              <a:t>Title Text</a:t>
            </a:r>
          </a:p>
        </p:txBody>
      </p:sp>
      <p:sp>
        <p:nvSpPr>
          <p:cNvPr id="17" name="Shape 17"/>
          <p:cNvSpPr>
            <a:spLocks noGrp="1"/>
          </p:cNvSpPr>
          <p:nvPr>
            <p:ph type="body" sz="half" idx="1"/>
          </p:nvPr>
        </p:nvSpPr>
        <p:spPr>
          <a:xfrm>
            <a:off x="368300" y="1790700"/>
            <a:ext cx="5956300" cy="7543800"/>
          </a:xfrm>
          <a:prstGeom prst="rect">
            <a:avLst/>
          </a:prstGeom>
        </p:spPr>
        <p:txBody>
          <a:bodyPr/>
          <a:lstStyle>
            <a:lvl1pPr marL="360000" indent="-360000">
              <a:lnSpc>
                <a:spcPct val="100000"/>
              </a:lnSpc>
              <a:buClr>
                <a:srgbClr val="006994"/>
              </a:buClr>
              <a:buSzPct val="150000"/>
              <a:tabLst>
                <a:tab pos="1016000" algn="l"/>
              </a:tabLst>
              <a:defRPr sz="2400">
                <a:solidFill>
                  <a:srgbClr val="000000"/>
                </a:solidFill>
              </a:defRPr>
            </a:lvl1pPr>
            <a:lvl2pPr marL="648000" indent="-288000">
              <a:lnSpc>
                <a:spcPct val="100000"/>
              </a:lnSpc>
              <a:spcBef>
                <a:spcPts val="1500"/>
              </a:spcBef>
              <a:buSzPct val="125000"/>
              <a:tabLst>
                <a:tab pos="1485900" algn="l"/>
              </a:tabLst>
              <a:defRPr sz="2000">
                <a:solidFill>
                  <a:srgbClr val="000000"/>
                </a:solidFill>
              </a:defRPr>
            </a:lvl2pPr>
            <a:lvl3pPr marL="936000" indent="-288000">
              <a:lnSpc>
                <a:spcPct val="100000"/>
              </a:lnSpc>
              <a:spcBef>
                <a:spcPts val="400"/>
              </a:spcBef>
              <a:tabLst>
                <a:tab pos="1638300" algn="l"/>
              </a:tabLst>
              <a:defRPr sz="1800">
                <a:solidFill>
                  <a:srgbClr val="000000"/>
                </a:solidFill>
              </a:defRPr>
            </a:lvl3pPr>
            <a:lvl4pPr marL="1223999" indent="-288000">
              <a:lnSpc>
                <a:spcPct val="100000"/>
              </a:lnSpc>
              <a:spcBef>
                <a:spcPts val="400"/>
              </a:spcBef>
              <a:buFontTx/>
              <a:tabLst>
                <a:tab pos="2235200" algn="l"/>
              </a:tabLst>
              <a:defRPr sz="1800">
                <a:solidFill>
                  <a:srgbClr val="000000"/>
                </a:solidFill>
              </a:defRPr>
            </a:lvl4pPr>
            <a:lvl5pPr marL="1512000" indent="-288000">
              <a:lnSpc>
                <a:spcPct val="100000"/>
              </a:lnSpc>
              <a:spcBef>
                <a:spcPts val="400"/>
              </a:spcBef>
              <a:buFontTx/>
              <a:tabLst>
                <a:tab pos="2616200" algn="l"/>
              </a:tabLst>
              <a:defRPr sz="1800">
                <a:solidFill>
                  <a:srgbClr val="000000"/>
                </a:solidFill>
              </a:defRPr>
            </a:lvl5pPr>
          </a:lstStyle>
          <a:p>
            <a:r>
              <a:t>Body Level One</a:t>
            </a:r>
          </a:p>
          <a:p>
            <a:pPr lvl="1"/>
            <a:r>
              <a:t>Body Level Two</a:t>
            </a:r>
          </a:p>
          <a:p>
            <a:pPr lvl="2"/>
            <a:r>
              <a:t>Body Level Three</a:t>
            </a:r>
          </a:p>
          <a:p>
            <a:pPr lvl="3"/>
            <a:r>
              <a:t>Body Level Four</a:t>
            </a:r>
          </a:p>
          <a:p>
            <a:pPr lvl="4"/>
            <a:r>
              <a:t>Body Level Five</a:t>
            </a:r>
          </a:p>
        </p:txBody>
      </p:sp>
      <p:sp>
        <p:nvSpPr>
          <p:cNvPr id="18" name="Shape 18"/>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Colour BG">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5" name="Shape 25"/>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26" name="Shape 26"/>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BIOZONE BRANDING">
    <p:spTree>
      <p:nvGrpSpPr>
        <p:cNvPr id="1" name=""/>
        <p:cNvGrpSpPr/>
        <p:nvPr/>
      </p:nvGrpSpPr>
      <p:grpSpPr>
        <a:xfrm>
          <a:off x="0" y="0"/>
          <a:ext cx="0" cy="0"/>
          <a:chOff x="0" y="0"/>
          <a:chExt cx="0" cy="0"/>
        </a:xfrm>
      </p:grpSpPr>
      <p:sp>
        <p:nvSpPr>
          <p:cNvPr id="33" name="Shape 33"/>
          <p:cNvSpPr>
            <a:spLocks noGrp="1"/>
          </p:cNvSpPr>
          <p:nvPr>
            <p:ph type="title"/>
          </p:nvPr>
        </p:nvSpPr>
        <p:spPr>
          <a:prstGeom prst="rect">
            <a:avLst/>
          </a:prstGeom>
        </p:spPr>
        <p:txBody>
          <a:bodyPr/>
          <a:lstStyle>
            <a:lvl1pPr>
              <a:tabLst>
                <a:tab pos="952500" algn="l"/>
              </a:tabLst>
            </a:lvl1pPr>
          </a:lstStyle>
          <a:p>
            <a:r>
              <a:t>Title Text</a:t>
            </a:r>
          </a:p>
        </p:txBody>
      </p:sp>
      <p:sp>
        <p:nvSpPr>
          <p:cNvPr id="34" name="Shape 34"/>
          <p:cNvSpPr>
            <a:spLocks noGrp="1"/>
          </p:cNvSpPr>
          <p:nvPr>
            <p:ph type="body" idx="1"/>
          </p:nvPr>
        </p:nvSpPr>
        <p:spPr>
          <a:prstGeom prst="rect">
            <a:avLst/>
          </a:prstGeom>
        </p:spPr>
        <p:txBody>
          <a:bodyPr/>
          <a:lstStyle>
            <a:lvl1pPr>
              <a:tabLst>
                <a:tab pos="1016000" algn="l"/>
              </a:tabLst>
            </a:lvl1pPr>
            <a:lvl2pPr>
              <a:tabLst>
                <a:tab pos="1485900" algn="l"/>
              </a:tabLst>
            </a:lvl2pPr>
            <a:lvl3pPr>
              <a:tabLst>
                <a:tab pos="1638300" algn="l"/>
              </a:tabLst>
            </a:lvl3pPr>
            <a:lvl4pPr>
              <a:tabLst>
                <a:tab pos="2235200" algn="l"/>
              </a:tabLst>
            </a:lvl4pPr>
            <a:lvl5pPr>
              <a:tabLst>
                <a:tab pos="2616200" algn="l"/>
              </a:tabLst>
            </a:lvl5pPr>
          </a:lstStyle>
          <a:p>
            <a:r>
              <a:t>Body Level One</a:t>
            </a:r>
          </a:p>
          <a:p>
            <a:pPr lvl="1"/>
            <a:r>
              <a:t>Body Level Two</a:t>
            </a:r>
          </a:p>
          <a:p>
            <a:pPr lvl="2"/>
            <a:r>
              <a:t>Body Level Three</a:t>
            </a:r>
          </a:p>
          <a:p>
            <a:pPr lvl="3"/>
            <a:r>
              <a:t>Body Level Four</a:t>
            </a:r>
          </a:p>
          <a:p>
            <a:pPr lvl="4"/>
            <a:r>
              <a:t>Body Level Five</a:t>
            </a:r>
          </a:p>
        </p:txBody>
      </p:sp>
      <p:sp>
        <p:nvSpPr>
          <p:cNvPr id="35" name="Shape 35"/>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lour BG">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2" name="Shape 42"/>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43" name="Shape 43"/>
          <p:cNvSpPr>
            <a:spLocks noGrp="1"/>
          </p:cNvSpPr>
          <p:nvPr>
            <p:ph type="sldNum" sz="quarter" idx="2"/>
          </p:nvPr>
        </p:nvSpPr>
        <p:spPr>
          <a:prstGeom prst="rect">
            <a:avLst/>
          </a:prstGeom>
        </p:spPr>
        <p:txBody>
          <a:bodyPr/>
          <a:lstStyle>
            <a:lvl1pPr>
              <a:tabLst>
                <a:tab pos="838200" algn="l"/>
              </a:tabLst>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hyperlink" Target="http://www.biozone.com.au" TargetMode="Externa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3017500" cy="9753600"/>
          </a:xfrm>
          <a:prstGeom prst="rect">
            <a:avLst/>
          </a:prstGeom>
          <a:gradFill>
            <a:gsLst>
              <a:gs pos="0">
                <a:srgbClr val="006994"/>
              </a:gs>
              <a:gs pos="62694">
                <a:srgbClr val="3EA2CC"/>
              </a:gs>
              <a:gs pos="100000">
                <a:srgbClr val="76D6FF"/>
              </a:gs>
            </a:gsLst>
            <a:lin ang="1620000"/>
          </a:gradFill>
          <a:ln w="25400">
            <a:miter lim="400000"/>
          </a:ln>
        </p:spPr>
        <p:txBody>
          <a:bodyPr lIns="0" tIns="0" rIns="0" bIns="0" anchor="ctr"/>
          <a:lstStyle/>
          <a:p>
            <a:pPr marL="0" defTabSz="584200">
              <a:tabLst/>
              <a:defRPr sz="4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a:p>
        </p:txBody>
      </p:sp>
      <p:sp>
        <p:nvSpPr>
          <p:cNvPr id="3" name="Shape 3"/>
          <p:cNvSpPr/>
          <p:nvPr/>
        </p:nvSpPr>
        <p:spPr>
          <a:xfrm>
            <a:off x="-12700" y="8001000"/>
            <a:ext cx="13035992" cy="1772920"/>
          </a:xfrm>
          <a:custGeom>
            <a:avLst/>
            <a:gdLst/>
            <a:ahLst/>
            <a:cxnLst>
              <a:cxn ang="0">
                <a:pos x="wd2" y="hd2"/>
              </a:cxn>
              <a:cxn ang="5400000">
                <a:pos x="wd2" y="hd2"/>
              </a:cxn>
              <a:cxn ang="10800000">
                <a:pos x="wd2" y="hd2"/>
              </a:cxn>
              <a:cxn ang="16200000">
                <a:pos x="wd2" y="hd2"/>
              </a:cxn>
            </a:cxnLst>
            <a:rect l="0" t="0" r="r" b="b"/>
            <a:pathLst>
              <a:path w="21600" h="20382" extrusionOk="0">
                <a:moveTo>
                  <a:pt x="3" y="4435"/>
                </a:moveTo>
                <a:cubicBezTo>
                  <a:pt x="3" y="4435"/>
                  <a:pt x="61" y="4261"/>
                  <a:pt x="79" y="4247"/>
                </a:cubicBezTo>
                <a:cubicBezTo>
                  <a:pt x="6196" y="-358"/>
                  <a:pt x="14555" y="-1218"/>
                  <a:pt x="21509" y="1666"/>
                </a:cubicBezTo>
                <a:cubicBezTo>
                  <a:pt x="21539" y="1679"/>
                  <a:pt x="21600" y="1704"/>
                  <a:pt x="21600" y="1704"/>
                </a:cubicBezTo>
                <a:lnTo>
                  <a:pt x="21590" y="20382"/>
                </a:lnTo>
                <a:lnTo>
                  <a:pt x="0" y="20382"/>
                </a:lnTo>
                <a:lnTo>
                  <a:pt x="3" y="4435"/>
                </a:lnTo>
                <a:close/>
              </a:path>
            </a:pathLst>
          </a:custGeom>
          <a:solidFill>
            <a:srgbClr val="000000"/>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4" name="BIOZONE_logo_horizontal_on_Black.png"/>
          <p:cNvPicPr>
            <a:picLocks noChangeAspect="1"/>
          </p:cNvPicPr>
          <p:nvPr/>
        </p:nvPicPr>
        <p:blipFill>
          <a:blip r:embed="rId6">
            <a:extLst/>
          </a:blip>
          <a:stretch>
            <a:fillRect/>
          </a:stretch>
        </p:blipFill>
        <p:spPr>
          <a:xfrm>
            <a:off x="1231900" y="8610081"/>
            <a:ext cx="3632200" cy="815393"/>
          </a:xfrm>
          <a:prstGeom prst="rect">
            <a:avLst/>
          </a:prstGeom>
          <a:ln w="12700">
            <a:miter lim="400000"/>
          </a:ln>
        </p:spPr>
      </p:pic>
      <p:sp>
        <p:nvSpPr>
          <p:cNvPr id="5" name="Shape 5"/>
          <p:cNvSpPr/>
          <p:nvPr/>
        </p:nvSpPr>
        <p:spPr>
          <a:xfrm>
            <a:off x="5791200" y="8775700"/>
            <a:ext cx="2641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a:solidFill>
                  <a:srgbClr val="FFFFFF"/>
                </a:solidFill>
              </a:rPr>
              <a:t>Copyright © 2017</a:t>
            </a:r>
          </a:p>
          <a:p>
            <a:pPr>
              <a:lnSpc>
                <a:spcPct val="40000"/>
              </a:lnSpc>
              <a:spcBef>
                <a:spcPts val="1400"/>
              </a:spcBef>
              <a:tabLst>
                <a:tab pos="520700" algn="l"/>
              </a:tabLst>
              <a:defRPr sz="2200">
                <a:solidFill>
                  <a:srgbClr val="483F36"/>
                </a:solidFill>
              </a:defRPr>
            </a:pPr>
            <a:r>
              <a:rPr>
                <a:solidFill>
                  <a:srgbClr val="FFFFFF"/>
                </a:solidFill>
              </a:rPr>
              <a:t>All rights reserved</a:t>
            </a:r>
          </a:p>
        </p:txBody>
      </p:sp>
      <p:sp>
        <p:nvSpPr>
          <p:cNvPr id="6" name="Shape 6"/>
          <p:cNvSpPr/>
          <p:nvPr/>
        </p:nvSpPr>
        <p:spPr>
          <a:xfrm>
            <a:off x="8382000" y="8775700"/>
            <a:ext cx="4038600" cy="636424"/>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ct val="40000"/>
              </a:lnSpc>
              <a:spcBef>
                <a:spcPts val="1400"/>
              </a:spcBef>
              <a:tabLst>
                <a:tab pos="520700" algn="l"/>
              </a:tabLst>
              <a:defRPr sz="2200">
                <a:solidFill>
                  <a:srgbClr val="483F36"/>
                </a:solidFill>
              </a:defRPr>
            </a:pPr>
            <a:r>
              <a:rPr b="1">
                <a:solidFill>
                  <a:srgbClr val="FFFFFF"/>
                </a:solidFill>
              </a:rPr>
              <a:t>BIOZONE International Ltd</a:t>
            </a:r>
            <a:endParaRPr>
              <a:solidFill>
                <a:srgbClr val="FFFFFF"/>
              </a:solidFill>
            </a:endParaRPr>
          </a:p>
          <a:p>
            <a:pPr>
              <a:lnSpc>
                <a:spcPct val="40000"/>
              </a:lnSpc>
              <a:spcBef>
                <a:spcPts val="1400"/>
              </a:spcBef>
              <a:tabLst>
                <a:tab pos="520700" algn="l"/>
              </a:tabLst>
              <a:defRPr sz="2200">
                <a:solidFill>
                  <a:srgbClr val="483F36"/>
                </a:solidFill>
              </a:defRPr>
            </a:pPr>
            <a:r>
              <a:rPr u="sng">
                <a:solidFill>
                  <a:srgbClr val="FFFFFF"/>
                </a:solidFill>
                <a:hlinkClick r:id="rId7"/>
              </a:rPr>
              <a:t>http://www.biozone.com.au</a:t>
            </a:r>
          </a:p>
        </p:txBody>
      </p:sp>
      <p:sp>
        <p:nvSpPr>
          <p:cNvPr id="7" name="Shape 7"/>
          <p:cNvSpPr>
            <a:spLocks noGrp="1"/>
          </p:cNvSpPr>
          <p:nvPr>
            <p:ph type="title"/>
          </p:nvPr>
        </p:nvSpPr>
        <p:spPr>
          <a:xfrm>
            <a:off x="719999" y="359999"/>
            <a:ext cx="11912601" cy="19431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tabLst>
                <a:tab pos="952500" algn="l"/>
              </a:tabLst>
            </a:lvl1pPr>
          </a:lstStyle>
          <a:p>
            <a:r>
              <a:t>Title Text</a:t>
            </a:r>
          </a:p>
        </p:txBody>
      </p:sp>
      <p:sp>
        <p:nvSpPr>
          <p:cNvPr id="8" name="Shape 8"/>
          <p:cNvSpPr>
            <a:spLocks noGrp="1"/>
          </p:cNvSpPr>
          <p:nvPr>
            <p:ph type="body" idx="1"/>
          </p:nvPr>
        </p:nvSpPr>
        <p:spPr>
          <a:xfrm>
            <a:off x="728300" y="1800000"/>
            <a:ext cx="10566401" cy="6273801"/>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lvl1pPr>
              <a:tabLst>
                <a:tab pos="1016000" algn="l"/>
              </a:tabLst>
            </a:lvl1pPr>
            <a:lvl2pPr marL="633599" indent="-252000">
              <a:lnSpc>
                <a:spcPts val="1400"/>
              </a:lnSpc>
              <a:spcBef>
                <a:spcPts val="600"/>
              </a:spcBef>
              <a:buClrTx/>
              <a:buSzPct val="150000"/>
              <a:buFontTx/>
              <a:buChar char="•"/>
              <a:tabLst>
                <a:tab pos="1485900" algn="l"/>
              </a:tabLst>
              <a:defRPr sz="1200"/>
            </a:lvl2pPr>
            <a:lvl3pPr marL="900000" indent="-252000">
              <a:lnSpc>
                <a:spcPts val="1400"/>
              </a:lnSpc>
              <a:spcBef>
                <a:spcPts val="600"/>
              </a:spcBef>
              <a:buClrTx/>
              <a:buSzPct val="100000"/>
              <a:buFontTx/>
              <a:buChar char="•"/>
              <a:tabLst>
                <a:tab pos="1638300" algn="l"/>
              </a:tabLst>
              <a:defRPr sz="1200"/>
            </a:lvl3pPr>
            <a:lvl4pPr marL="1152000" indent="-252000">
              <a:lnSpc>
                <a:spcPts val="1400"/>
              </a:lnSpc>
              <a:spcBef>
                <a:spcPts val="600"/>
              </a:spcBef>
              <a:buClrTx/>
              <a:buSzPct val="100000"/>
              <a:buFont typeface="Gill Sans"/>
              <a:buChar char="•"/>
              <a:tabLst>
                <a:tab pos="2235200" algn="l"/>
              </a:tabLst>
              <a:defRPr sz="1200"/>
            </a:lvl4pPr>
            <a:lvl5pPr marL="1403999" indent="-252000">
              <a:lnSpc>
                <a:spcPts val="1400"/>
              </a:lnSpc>
              <a:spcBef>
                <a:spcPts val="600"/>
              </a:spcBef>
              <a:buClrTx/>
              <a:buSzPct val="100000"/>
              <a:buFont typeface="Gill Sans"/>
              <a:buChar char="•"/>
              <a:tabLst>
                <a:tab pos="2616200" algn="l"/>
              </a:tabLst>
              <a:defRPr sz="1200"/>
            </a:lvl5pPr>
          </a:lstStyle>
          <a:p>
            <a:r>
              <a:t>Body Level One</a:t>
            </a:r>
          </a:p>
          <a:p>
            <a:pPr lvl="1"/>
            <a:r>
              <a:t>Body Level Two</a:t>
            </a:r>
          </a:p>
          <a:p>
            <a:pPr lvl="2"/>
            <a:r>
              <a:t>Body Level Three</a:t>
            </a:r>
          </a:p>
          <a:p>
            <a:pPr lvl="3"/>
            <a:r>
              <a:t>Body Level Four</a:t>
            </a:r>
          </a:p>
          <a:p>
            <a:pPr lvl="4"/>
            <a:r>
              <a:t>Body Level Five</a:t>
            </a:r>
          </a:p>
        </p:txBody>
      </p:sp>
      <p:sp>
        <p:nvSpPr>
          <p:cNvPr id="9" name="Shape 9"/>
          <p:cNvSpPr>
            <a:spLocks noGrp="1"/>
          </p:cNvSpPr>
          <p:nvPr>
            <p:ph type="sldNum" sz="quarter" idx="2"/>
          </p:nvPr>
        </p:nvSpPr>
        <p:spPr>
          <a:xfrm>
            <a:off x="4967288" y="7245350"/>
            <a:ext cx="212726" cy="228600"/>
          </a:xfrm>
          <a:prstGeom prst="rect">
            <a:avLst/>
          </a:prstGeom>
          <a:ln w="12700">
            <a:miter lim="400000"/>
          </a:ln>
        </p:spPr>
        <p:txBody>
          <a:bodyPr wrap="none" lIns="38100" tIns="38100" rIns="38100" bIns="38100">
            <a:spAutoFit/>
          </a:bodyPr>
          <a:lstStyle>
            <a:lvl1pPr marL="0" algn="ctr">
              <a:lnSpc>
                <a:spcPts val="1200"/>
              </a:lnSpc>
              <a:tabLst>
                <a:tab pos="838200" algn="l"/>
              </a:tabLst>
              <a:defRPr sz="1000">
                <a:solidFill>
                  <a:srgbClr val="483F36"/>
                </a:solidFill>
                <a:latin typeface="Hoefler Text"/>
                <a:ea typeface="Hoefler Text"/>
                <a:cs typeface="Hoefler Text"/>
                <a:sym typeface="Hoefler Text"/>
              </a:defRPr>
            </a:lvl1pPr>
          </a:lstStyle>
          <a:p>
            <a:fld id="{86CB4B4D-7CA3-9044-876B-883B54F8677D}" type="slidenum">
              <a:t>‹#›</a:t>
            </a:fld>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1pPr>
      <a:lvl2pPr marL="0" marR="0" indent="2286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2pPr>
      <a:lvl3pPr marL="0" marR="0" indent="4572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3pPr>
      <a:lvl4pPr marL="0" marR="0" indent="6858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4pPr>
      <a:lvl5pPr marL="0" marR="0" indent="9144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5pPr>
      <a:lvl6pPr marL="0" marR="0" indent="11430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6pPr>
      <a:lvl7pPr marL="0" marR="0" indent="13716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7pPr>
      <a:lvl8pPr marL="0" marR="0" indent="16002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8pPr>
      <a:lvl9pPr marL="0" marR="0" indent="1828800" algn="l" defTabSz="457200" latinLnBrk="0">
        <a:lnSpc>
          <a:spcPct val="90000"/>
        </a:lnSpc>
        <a:spcBef>
          <a:spcPts val="0"/>
        </a:spcBef>
        <a:spcAft>
          <a:spcPts val="0"/>
        </a:spcAft>
        <a:buClrTx/>
        <a:buSzTx/>
        <a:buFontTx/>
        <a:buNone/>
        <a:tabLst>
          <a:tab pos="952500" algn="l"/>
        </a:tabLst>
        <a:defRPr sz="6400" b="1" i="0" u="none" strike="noStrike" cap="none" spc="0" baseline="0">
          <a:ln>
            <a:noFill/>
          </a:ln>
          <a:solidFill>
            <a:srgbClr val="FFFFFF"/>
          </a:solidFill>
          <a:uFillTx/>
          <a:latin typeface="+mn-lt"/>
          <a:ea typeface="+mn-ea"/>
          <a:cs typeface="+mn-cs"/>
          <a:sym typeface="Arial"/>
        </a:defRPr>
      </a:lvl9pPr>
    </p:titleStyle>
    <p:bodyStyle>
      <a:lvl1pPr marL="381000" marR="0" indent="-381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1pPr>
      <a:lvl2pPr marL="7175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2pPr>
      <a:lvl3pPr marL="984000"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3pPr>
      <a:lvl4pPr marL="1236000"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4pPr>
      <a:lvl5pPr marL="14879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5pPr>
      <a:lvl6pPr marL="1740000" marR="0" indent="-335999"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6pPr>
      <a:lvl7pPr marL="1992000"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7pPr>
      <a:lvl8pPr marL="22439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8pPr>
      <a:lvl9pPr marL="2495999" marR="0" indent="-336000" algn="l" defTabSz="457200" latinLnBrk="0">
        <a:lnSpc>
          <a:spcPts val="1900"/>
        </a:lnSpc>
        <a:spcBef>
          <a:spcPts val="2000"/>
        </a:spcBef>
        <a:spcAft>
          <a:spcPts val="0"/>
        </a:spcAft>
        <a:buClr>
          <a:srgbClr val="FFFFFF"/>
        </a:buClr>
        <a:buSzPct val="200000"/>
        <a:buFont typeface="Lucida Grande"/>
        <a:buChar char="‣"/>
        <a:tabLst>
          <a:tab pos="1016000" algn="l"/>
        </a:tabLst>
        <a:defRPr sz="1600" b="0" i="0" u="none" strike="noStrike" cap="none" spc="0" baseline="0">
          <a:ln>
            <a:noFill/>
          </a:ln>
          <a:solidFill>
            <a:srgbClr val="FFFFFF"/>
          </a:solidFill>
          <a:uFillTx/>
          <a:latin typeface="+mn-lt"/>
          <a:ea typeface="+mn-ea"/>
          <a:cs typeface="+mn-cs"/>
          <a:sym typeface="Arial"/>
        </a:defRPr>
      </a:lvl9pPr>
    </p:bodyStyle>
    <p:otherStyle>
      <a:lvl1pPr marL="0" marR="0" indent="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1pPr>
      <a:lvl2pPr marL="0" marR="0" indent="2286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2pPr>
      <a:lvl3pPr marL="0" marR="0" indent="4572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3pPr>
      <a:lvl4pPr marL="0" marR="0" indent="6858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4pPr>
      <a:lvl5pPr marL="0" marR="0" indent="9144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5pPr>
      <a:lvl6pPr marL="0" marR="0" indent="11430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6pPr>
      <a:lvl7pPr marL="0" marR="0" indent="13716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7pPr>
      <a:lvl8pPr marL="0" marR="0" indent="16002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8pPr>
      <a:lvl9pPr marL="0" marR="0" indent="1828800" algn="ctr" defTabSz="457200" latinLnBrk="0">
        <a:lnSpc>
          <a:spcPts val="1200"/>
        </a:lnSpc>
        <a:spcBef>
          <a:spcPts val="0"/>
        </a:spcBef>
        <a:spcAft>
          <a:spcPts val="0"/>
        </a:spcAft>
        <a:buClrTx/>
        <a:buSzTx/>
        <a:buFontTx/>
        <a:buNone/>
        <a:tabLst>
          <a:tab pos="838200" algn="l"/>
        </a:tabLst>
        <a:defRPr sz="1000" b="0" i="0" u="none" strike="noStrike" cap="none" spc="0" baseline="0">
          <a:ln>
            <a:noFill/>
          </a:ln>
          <a:solidFill>
            <a:schemeClr val="tx1"/>
          </a:solidFill>
          <a:uFillTx/>
          <a:latin typeface="+mn-lt"/>
          <a:ea typeface="+mn-ea"/>
          <a:cs typeface="+mn-cs"/>
          <a:sym typeface="Hoefler Tex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creativecommons.org/licenses/by/2.0/" TargetMode="External"/><Relationship Id="rId2" Type="http://schemas.openxmlformats.org/officeDocument/2006/relationships/image" Target="../media/image40.jpeg"/><Relationship Id="rId1" Type="http://schemas.openxmlformats.org/officeDocument/2006/relationships/slideLayout" Target="../slideLayouts/slideLayout1.xml"/><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image" Target="../media/image46.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image" Target="../media/image64.png"/><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26.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www.biozone.com.au/faqconditionsofuse/"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hyperlink" Target="http://creativecommons.org/licenses/by-sa/3.0/" TargetMode="External"/><Relationship Id="rId2" Type="http://schemas.openxmlformats.org/officeDocument/2006/relationships/hyperlink" Target="http://www.gnu.org/copyleft/fdl.html" TargetMode="Externa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9" name="Untitled-1.jpg"/>
          <p:cNvPicPr>
            <a:picLocks noChangeAspect="1"/>
          </p:cNvPicPr>
          <p:nvPr/>
        </p:nvPicPr>
        <p:blipFill>
          <a:blip r:embed="rId2">
            <a:extLst/>
          </a:blip>
          <a:stretch>
            <a:fillRect/>
          </a:stretch>
        </p:blipFill>
        <p:spPr>
          <a:xfrm>
            <a:off x="0" y="0"/>
            <a:ext cx="13004790" cy="9753607"/>
          </a:xfrm>
          <a:prstGeom prst="rect">
            <a:avLst/>
          </a:prstGeom>
          <a:ln w="12700">
            <a:miter lim="400000"/>
          </a:ln>
        </p:spPr>
      </p:pic>
      <p:sp>
        <p:nvSpPr>
          <p:cNvPr id="1470" name="Shape 1470"/>
          <p:cNvSpPr>
            <a:spLocks noGrp="1"/>
          </p:cNvSpPr>
          <p:nvPr>
            <p:ph type="title"/>
          </p:nvPr>
        </p:nvSpPr>
        <p:spPr>
          <a:prstGeom prst="rect">
            <a:avLst/>
          </a:prstGeom>
        </p:spPr>
        <p:txBody>
          <a:bodyPr/>
          <a:lstStyle>
            <a:lvl1pPr>
              <a:tabLst>
                <a:tab pos="952500" algn="l"/>
              </a:tabLst>
              <a:defRPr>
                <a:solidFill>
                  <a:srgbClr val="FFFFFF"/>
                </a:solidFill>
              </a:defRPr>
            </a:lvl1pPr>
          </a:lstStyle>
          <a:p>
            <a:r>
              <a:t>Cultural Evolution</a:t>
            </a:r>
          </a:p>
        </p:txBody>
      </p:sp>
      <p:pic>
        <p:nvPicPr>
          <p:cNvPr id="1471" name="Oldowan tools 2.png"/>
          <p:cNvPicPr>
            <a:picLocks noChangeAspect="1"/>
          </p:cNvPicPr>
          <p:nvPr/>
        </p:nvPicPr>
        <p:blipFill>
          <a:blip r:embed="rId3">
            <a:extLst/>
          </a:blip>
          <a:stretch>
            <a:fillRect/>
          </a:stretch>
        </p:blipFill>
        <p:spPr>
          <a:xfrm>
            <a:off x="8724900" y="3657600"/>
            <a:ext cx="3556360" cy="1981200"/>
          </a:xfrm>
          <a:prstGeom prst="rect">
            <a:avLst/>
          </a:prstGeom>
          <a:ln w="12700">
            <a:miter lim="400000"/>
          </a:ln>
        </p:spPr>
      </p:pic>
      <p:pic>
        <p:nvPicPr>
          <p:cNvPr id="1472" name="Cave Art.png"/>
          <p:cNvPicPr>
            <a:picLocks noChangeAspect="1"/>
          </p:cNvPicPr>
          <p:nvPr/>
        </p:nvPicPr>
        <p:blipFill>
          <a:blip r:embed="rId4">
            <a:extLst/>
          </a:blip>
          <a:stretch>
            <a:fillRect/>
          </a:stretch>
        </p:blipFill>
        <p:spPr>
          <a:xfrm>
            <a:off x="7404100" y="6057900"/>
            <a:ext cx="4686300" cy="2971800"/>
          </a:xfrm>
          <a:prstGeom prst="rect">
            <a:avLst/>
          </a:prstGeom>
          <a:ln w="25400">
            <a:solidFill>
              <a:srgbClr val="FFFFFF"/>
            </a:solidFill>
            <a:miter lim="400000"/>
          </a:ln>
        </p:spPr>
      </p:pic>
      <p:pic>
        <p:nvPicPr>
          <p:cNvPr id="1473" name="Venus statute.png"/>
          <p:cNvPicPr>
            <a:picLocks noChangeAspect="1"/>
          </p:cNvPicPr>
          <p:nvPr/>
        </p:nvPicPr>
        <p:blipFill>
          <a:blip r:embed="rId5">
            <a:extLst/>
          </a:blip>
          <a:stretch>
            <a:fillRect/>
          </a:stretch>
        </p:blipFill>
        <p:spPr>
          <a:xfrm>
            <a:off x="4432300" y="5172471"/>
            <a:ext cx="2059094" cy="4102101"/>
          </a:xfrm>
          <a:prstGeom prst="rect">
            <a:avLst/>
          </a:prstGeom>
          <a:ln w="12700">
            <a:miter lim="400000"/>
          </a:ln>
        </p:spPr>
      </p:pic>
      <p:pic>
        <p:nvPicPr>
          <p:cNvPr id="1474" name="On Guard.png"/>
          <p:cNvPicPr>
            <a:picLocks noChangeAspect="1"/>
          </p:cNvPicPr>
          <p:nvPr/>
        </p:nvPicPr>
        <p:blipFill>
          <a:blip r:embed="rId6">
            <a:extLst/>
          </a:blip>
          <a:stretch>
            <a:fillRect/>
          </a:stretch>
        </p:blipFill>
        <p:spPr>
          <a:xfrm>
            <a:off x="-2235200" y="1590172"/>
            <a:ext cx="8128000" cy="7970256"/>
          </a:xfrm>
          <a:prstGeom prst="rect">
            <a:avLst/>
          </a:prstGeom>
          <a:ln w="12700">
            <a:miter lim="400000"/>
          </a:ln>
        </p:spPr>
      </p:pic>
      <p:sp>
        <p:nvSpPr>
          <p:cNvPr id="1475" name="Shape 1475"/>
          <p:cNvSpPr>
            <a:spLocks noGrp="1"/>
          </p:cNvSpPr>
          <p:nvPr>
            <p:ph type="body" sz="quarter" idx="1"/>
          </p:nvPr>
        </p:nvSpPr>
        <p:spPr>
          <a:xfrm>
            <a:off x="6152455" y="1473200"/>
            <a:ext cx="6585745" cy="2675881"/>
          </a:xfrm>
          <a:prstGeom prst="rect">
            <a:avLst/>
          </a:prstGeom>
        </p:spPr>
        <p:txBody>
          <a:bodyPr/>
          <a:lstStyle/>
          <a:p>
            <a:pPr>
              <a:buClr>
                <a:srgbClr val="FFFFFF"/>
              </a:buClr>
              <a:tabLst>
                <a:tab pos="1016000" algn="l"/>
              </a:tabLst>
              <a:defRPr>
                <a:solidFill>
                  <a:srgbClr val="FFFFFF"/>
                </a:solidFill>
              </a:defRPr>
            </a:pPr>
            <a:r>
              <a:t>The biological evolution of humans was accompanied by a cultural evolution, marked by three phases in prehistoric times:</a:t>
            </a:r>
          </a:p>
          <a:p>
            <a:pPr lvl="1">
              <a:tabLst>
                <a:tab pos="1485900" algn="l"/>
              </a:tabLst>
              <a:defRPr>
                <a:solidFill>
                  <a:srgbClr val="FFFFFF"/>
                </a:solidFill>
              </a:defRPr>
            </a:pPr>
            <a:r>
              <a:t>Palaeolithic (Old Stone Age)</a:t>
            </a:r>
          </a:p>
          <a:p>
            <a:pPr lvl="1">
              <a:tabLst>
                <a:tab pos="1485900" algn="l"/>
              </a:tabLst>
              <a:defRPr>
                <a:solidFill>
                  <a:srgbClr val="FFFFFF"/>
                </a:solidFill>
              </a:defRPr>
            </a:pPr>
            <a:r>
              <a:t>Mesolithic (Middle Stone Age)</a:t>
            </a:r>
          </a:p>
          <a:p>
            <a:pPr lvl="1">
              <a:tabLst>
                <a:tab pos="1485900" algn="l"/>
              </a:tabLst>
              <a:defRPr>
                <a:solidFill>
                  <a:srgbClr val="FFFFFF"/>
                </a:solidFill>
              </a:defRPr>
            </a:pPr>
            <a:r>
              <a:t>Neolithic (New Stone Age)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7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47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47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47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47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5" grpId="1" build="p" bldLvl="5"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7" name="Shape 1477"/>
          <p:cNvSpPr>
            <a:spLocks noGrp="1"/>
          </p:cNvSpPr>
          <p:nvPr>
            <p:ph type="title"/>
          </p:nvPr>
        </p:nvSpPr>
        <p:spPr>
          <a:prstGeom prst="rect">
            <a:avLst/>
          </a:prstGeom>
        </p:spPr>
        <p:txBody>
          <a:bodyPr/>
          <a:lstStyle>
            <a:lvl1pPr>
              <a:tabLst>
                <a:tab pos="952500" algn="l"/>
              </a:tabLst>
            </a:lvl1pPr>
          </a:lstStyle>
          <a:p>
            <a:r>
              <a:t>Evolution of Behaviour</a:t>
            </a:r>
          </a:p>
        </p:txBody>
      </p:sp>
      <p:sp>
        <p:nvSpPr>
          <p:cNvPr id="1478" name="Shape 1478"/>
          <p:cNvSpPr>
            <a:spLocks noGrp="1"/>
          </p:cNvSpPr>
          <p:nvPr>
            <p:ph type="body" sz="quarter" idx="1"/>
          </p:nvPr>
        </p:nvSpPr>
        <p:spPr>
          <a:xfrm>
            <a:off x="368300" y="1790700"/>
            <a:ext cx="11751916" cy="765969"/>
          </a:xfrm>
          <a:prstGeom prst="rect">
            <a:avLst/>
          </a:prstGeom>
        </p:spPr>
        <p:txBody>
          <a:bodyPr/>
          <a:lstStyle>
            <a:lvl1pPr>
              <a:tabLst>
                <a:tab pos="1016000" algn="l"/>
              </a:tabLst>
            </a:lvl1pPr>
          </a:lstStyle>
          <a:p>
            <a:r>
              <a:t>Coupled with the brain’s evolutionary development is the increasingly complex behaviour exhibited by hominins:</a:t>
            </a:r>
          </a:p>
        </p:txBody>
      </p:sp>
      <p:grpSp>
        <p:nvGrpSpPr>
          <p:cNvPr id="1481" name="Group 1481"/>
          <p:cNvGrpSpPr/>
          <p:nvPr/>
        </p:nvGrpSpPr>
        <p:grpSpPr>
          <a:xfrm>
            <a:off x="1117600" y="7340600"/>
            <a:ext cx="11023600" cy="2146300"/>
            <a:chOff x="0" y="0"/>
            <a:chExt cx="11023600" cy="2146300"/>
          </a:xfrm>
        </p:grpSpPr>
        <p:sp>
          <p:nvSpPr>
            <p:cNvPr id="1479" name="Shape 1479"/>
            <p:cNvSpPr/>
            <p:nvPr/>
          </p:nvSpPr>
          <p:spPr>
            <a:xfrm>
              <a:off x="0" y="0"/>
              <a:ext cx="11023600" cy="2146300"/>
            </a:xfrm>
            <a:prstGeom prst="rect">
              <a:avLst/>
            </a:prstGeom>
            <a:solidFill>
              <a:srgbClr val="F8A918"/>
            </a:solidFill>
            <a:ln w="25400" cap="flat">
              <a:solidFill>
                <a:srgbClr val="000000"/>
              </a:solidFill>
              <a:prstDash val="solid"/>
              <a:miter lim="400000"/>
            </a:ln>
            <a:effectLst/>
          </p:spPr>
          <p:txBody>
            <a:bodyPr wrap="square" lIns="38100" tIns="38100" rIns="38100" bIns="3810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480" name="Shape 1480"/>
            <p:cNvSpPr/>
            <p:nvPr/>
          </p:nvSpPr>
          <p:spPr>
            <a:xfrm>
              <a:off x="256540" y="118454"/>
              <a:ext cx="10245726" cy="18585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3100"/>
                </a:lnSpc>
                <a:spcBef>
                  <a:spcPts val="500"/>
                </a:spcBef>
                <a:tabLst>
                  <a:tab pos="520700" algn="l"/>
                </a:tabLst>
                <a:defRPr sz="2800">
                  <a:solidFill>
                    <a:srgbClr val="483F36"/>
                  </a:solidFill>
                  <a:latin typeface="Hoefler Text"/>
                  <a:ea typeface="Hoefler Text"/>
                  <a:cs typeface="Hoefler Text"/>
                  <a:sym typeface="Hoefler Text"/>
                </a:defRPr>
              </a:pPr>
              <a:r>
                <a:rPr sz="2400" b="1">
                  <a:solidFill>
                    <a:srgbClr val="201B17"/>
                  </a:solidFill>
                  <a:latin typeface="+mn-lt"/>
                  <a:ea typeface="+mn-ea"/>
                  <a:cs typeface="+mn-cs"/>
                  <a:sym typeface="Arial"/>
                </a:rPr>
                <a:t>The modern human mind</a:t>
              </a:r>
              <a:endParaRPr sz="1800">
                <a:solidFill>
                  <a:srgbClr val="201B17"/>
                </a:solidFill>
                <a:latin typeface="+mn-lt"/>
                <a:ea typeface="+mn-ea"/>
                <a:cs typeface="+mn-cs"/>
                <a:sym typeface="Arial"/>
              </a:endParaRPr>
            </a:p>
            <a:p>
              <a:pPr marL="529936" indent="-415636">
                <a:lnSpc>
                  <a:spcPts val="2700"/>
                </a:lnSpc>
                <a:spcBef>
                  <a:spcPts val="1000"/>
                </a:spcBef>
                <a:buSzPct val="100000"/>
                <a:buChar char="•"/>
                <a:tabLst>
                  <a:tab pos="114300" algn="l"/>
                </a:tabLst>
                <a:defRPr sz="2800">
                  <a:solidFill>
                    <a:srgbClr val="483F36"/>
                  </a:solidFill>
                  <a:latin typeface="Hoefler Text"/>
                  <a:ea typeface="Hoefler Text"/>
                  <a:cs typeface="Hoefler Text"/>
                  <a:sym typeface="Hoefler Text"/>
                </a:defRPr>
              </a:pPr>
              <a:r>
                <a:rPr sz="2000">
                  <a:solidFill>
                    <a:srgbClr val="000000"/>
                  </a:solidFill>
                  <a:latin typeface="+mn-lt"/>
                  <a:ea typeface="+mn-ea"/>
                  <a:cs typeface="+mn-cs"/>
                  <a:sym typeface="Arial"/>
                </a:rPr>
                <a:t>Creating artefacts and images with symbolic meanings as a means of communication</a:t>
              </a:r>
            </a:p>
            <a:p>
              <a:pPr marL="529936" indent="-415636">
                <a:lnSpc>
                  <a:spcPts val="2700"/>
                </a:lnSpc>
                <a:buSzPct val="100000"/>
                <a:buChar char="•"/>
                <a:tabLst>
                  <a:tab pos="114300" algn="l"/>
                </a:tabLst>
                <a:defRPr sz="2800">
                  <a:solidFill>
                    <a:srgbClr val="483F36"/>
                  </a:solidFill>
                  <a:latin typeface="Hoefler Text"/>
                  <a:ea typeface="Hoefler Text"/>
                  <a:cs typeface="Hoefler Text"/>
                  <a:sym typeface="Hoefler Text"/>
                </a:defRPr>
              </a:pPr>
              <a:r>
                <a:rPr sz="2000">
                  <a:solidFill>
                    <a:srgbClr val="000000"/>
                  </a:solidFill>
                  <a:latin typeface="+mn-lt"/>
                  <a:ea typeface="+mn-ea"/>
                  <a:cs typeface="+mn-cs"/>
                  <a:sym typeface="Arial"/>
                </a:rPr>
                <a:t>Using knowledge of animal habits, tools, advanced planning and communication to 	coordinate the hunting of large game </a:t>
              </a:r>
            </a:p>
          </p:txBody>
        </p:sp>
      </p:grpSp>
      <p:sp>
        <p:nvSpPr>
          <p:cNvPr id="1482" name="Shape 1482"/>
          <p:cNvSpPr/>
          <p:nvPr/>
        </p:nvSpPr>
        <p:spPr>
          <a:xfrm>
            <a:off x="165100" y="2628900"/>
            <a:ext cx="4127500" cy="3352800"/>
          </a:xfrm>
          <a:prstGeom prst="rect">
            <a:avLst/>
          </a:prstGeom>
          <a:solidFill>
            <a:srgbClr val="C5E0ED"/>
          </a:solidFill>
          <a:ln w="25400">
            <a:solidFill>
              <a:srgbClr val="000000"/>
            </a:solidFill>
            <a:miter lim="400000"/>
          </a:ln>
          <a:extLst>
            <a:ext uri="{C572A759-6A51-4108-AA02-DFA0A04FC94B}">
              <ma14:wrappingTextBoxFlag xmlns:ma14="http://schemas.microsoft.com/office/mac/drawingml/2011/main" xmlns="" val="1"/>
            </a:ext>
          </a:extLst>
        </p:spPr>
        <p:txBody>
          <a:bodyPr lIns="76200" tIns="76200" rIns="76200" bIns="76200"/>
          <a:lstStyle/>
          <a:p>
            <a:pPr algn="ctr">
              <a:lnSpc>
                <a:spcPts val="2800"/>
              </a:lnSpc>
              <a:tabLst>
                <a:tab pos="520700" algn="l"/>
              </a:tabLst>
              <a:defRPr sz="2800">
                <a:solidFill>
                  <a:srgbClr val="483F36"/>
                </a:solidFill>
                <a:latin typeface="Hoefler Text"/>
                <a:ea typeface="Hoefler Text"/>
                <a:cs typeface="Hoefler Text"/>
                <a:sym typeface="Hoefler Text"/>
              </a:defRPr>
            </a:pPr>
            <a:r>
              <a:rPr sz="2400" b="1">
                <a:solidFill>
                  <a:srgbClr val="201B17"/>
                </a:solidFill>
                <a:latin typeface="+mn-lt"/>
                <a:ea typeface="+mn-ea"/>
                <a:cs typeface="+mn-cs"/>
                <a:sym typeface="Arial"/>
              </a:rPr>
              <a:t>Natural history</a:t>
            </a:r>
          </a:p>
          <a:p>
            <a:pPr algn="ctr">
              <a:lnSpc>
                <a:spcPts val="3100"/>
              </a:lnSpc>
              <a:spcBef>
                <a:spcPts val="400"/>
              </a:spcBef>
              <a:tabLst>
                <a:tab pos="520700" algn="l"/>
              </a:tabLst>
              <a:defRPr sz="2800">
                <a:solidFill>
                  <a:srgbClr val="483F36"/>
                </a:solidFill>
                <a:latin typeface="Hoefler Text"/>
                <a:ea typeface="Hoefler Text"/>
                <a:cs typeface="Hoefler Text"/>
                <a:sym typeface="Hoefler Text"/>
              </a:defRPr>
            </a:pPr>
            <a:r>
              <a:rPr sz="2400" b="1">
                <a:solidFill>
                  <a:srgbClr val="201B17"/>
                </a:solidFill>
                <a:latin typeface="+mn-lt"/>
                <a:ea typeface="+mn-ea"/>
                <a:cs typeface="+mn-cs"/>
                <a:sym typeface="Arial"/>
              </a:rPr>
              <a:t>intelligence</a:t>
            </a:r>
            <a:endParaRPr sz="1800">
              <a:solidFill>
                <a:srgbClr val="201B17"/>
              </a:solidFill>
              <a:latin typeface="+mn-lt"/>
              <a:ea typeface="+mn-ea"/>
              <a:cs typeface="+mn-cs"/>
              <a:sym typeface="Arial"/>
            </a:endParaRP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Predict the future by understanding:</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the habits of game</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the rhythms of the seasons</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the geography of the landscape</a:t>
            </a:r>
          </a:p>
        </p:txBody>
      </p:sp>
      <p:sp>
        <p:nvSpPr>
          <p:cNvPr id="1483" name="Shape 1483"/>
          <p:cNvSpPr/>
          <p:nvPr/>
        </p:nvSpPr>
        <p:spPr>
          <a:xfrm flipH="1">
            <a:off x="2235199" y="5981700"/>
            <a:ext cx="1" cy="1337734"/>
          </a:xfrm>
          <a:prstGeom prst="line">
            <a:avLst/>
          </a:prstGeom>
          <a:ln w="203200">
            <a:solidFill>
              <a:srgbClr val="000000"/>
            </a:solidFill>
            <a:miter lim="400000"/>
            <a:tailEnd type="stealth"/>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484" name="Shape 1484"/>
          <p:cNvSpPr/>
          <p:nvPr/>
        </p:nvSpPr>
        <p:spPr>
          <a:xfrm>
            <a:off x="4445000" y="2628900"/>
            <a:ext cx="4127500" cy="3352800"/>
          </a:xfrm>
          <a:prstGeom prst="rect">
            <a:avLst/>
          </a:prstGeom>
          <a:solidFill>
            <a:srgbClr val="C5E0ED"/>
          </a:solidFill>
          <a:ln w="25400">
            <a:solidFill>
              <a:srgbClr val="000000"/>
            </a:solidFill>
            <a:miter lim="400000"/>
          </a:ln>
          <a:extLst>
            <a:ext uri="{C572A759-6A51-4108-AA02-DFA0A04FC94B}">
              <ma14:wrappingTextBoxFlag xmlns:ma14="http://schemas.microsoft.com/office/mac/drawingml/2011/main" xmlns="" val="1"/>
            </a:ext>
          </a:extLst>
        </p:spPr>
        <p:txBody>
          <a:bodyPr lIns="76200" tIns="76200" rIns="76200" bIns="76200"/>
          <a:lstStyle/>
          <a:p>
            <a:pPr algn="ctr">
              <a:lnSpc>
                <a:spcPts val="2800"/>
              </a:lnSpc>
              <a:spcBef>
                <a:spcPts val="400"/>
              </a:spcBef>
              <a:tabLst>
                <a:tab pos="520700" algn="l"/>
              </a:tabLst>
              <a:defRPr sz="2800">
                <a:solidFill>
                  <a:srgbClr val="483F36"/>
                </a:solidFill>
                <a:latin typeface="Hoefler Text"/>
                <a:ea typeface="Hoefler Text"/>
                <a:cs typeface="Hoefler Text"/>
                <a:sym typeface="Hoefler Text"/>
              </a:defRPr>
            </a:pPr>
            <a:r>
              <a:rPr sz="2400" b="1">
                <a:solidFill>
                  <a:srgbClr val="201B17"/>
                </a:solidFill>
                <a:latin typeface="+mn-lt"/>
                <a:ea typeface="+mn-ea"/>
                <a:cs typeface="+mn-cs"/>
                <a:sym typeface="Arial"/>
              </a:rPr>
              <a:t>Social intelligence</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Group bonding behaviour improves survival opportunities for members. Language allowed early humans to:</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communicate ideas</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plan survival strategies</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coordinate hunting and gathering</a:t>
            </a:r>
          </a:p>
        </p:txBody>
      </p:sp>
      <p:sp>
        <p:nvSpPr>
          <p:cNvPr id="1485" name="Shape 1485"/>
          <p:cNvSpPr/>
          <p:nvPr/>
        </p:nvSpPr>
        <p:spPr>
          <a:xfrm>
            <a:off x="6515099" y="5981700"/>
            <a:ext cx="1" cy="1337734"/>
          </a:xfrm>
          <a:prstGeom prst="line">
            <a:avLst/>
          </a:prstGeom>
          <a:ln w="203200">
            <a:solidFill>
              <a:srgbClr val="000000"/>
            </a:solidFill>
            <a:miter lim="400000"/>
            <a:tailEnd type="stealth"/>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486" name="Shape 1486"/>
          <p:cNvSpPr/>
          <p:nvPr/>
        </p:nvSpPr>
        <p:spPr>
          <a:xfrm>
            <a:off x="8737600" y="2628900"/>
            <a:ext cx="4127500" cy="3352800"/>
          </a:xfrm>
          <a:prstGeom prst="rect">
            <a:avLst/>
          </a:prstGeom>
          <a:solidFill>
            <a:srgbClr val="C5E0ED"/>
          </a:solidFill>
          <a:ln w="25400">
            <a:solidFill>
              <a:srgbClr val="000000"/>
            </a:solidFill>
            <a:miter lim="400000"/>
          </a:ln>
          <a:extLst>
            <a:ext uri="{C572A759-6A51-4108-AA02-DFA0A04FC94B}">
              <ma14:wrappingTextBoxFlag xmlns:ma14="http://schemas.microsoft.com/office/mac/drawingml/2011/main" xmlns="" val="1"/>
            </a:ext>
          </a:extLst>
        </p:spPr>
        <p:txBody>
          <a:bodyPr lIns="76200" tIns="76200" rIns="76200" bIns="76200"/>
          <a:lstStyle/>
          <a:p>
            <a:pPr algn="ctr">
              <a:lnSpc>
                <a:spcPts val="2800"/>
              </a:lnSpc>
              <a:spcBef>
                <a:spcPts val="400"/>
              </a:spcBef>
              <a:tabLst>
                <a:tab pos="520700" algn="l"/>
              </a:tabLst>
              <a:defRPr sz="2800">
                <a:solidFill>
                  <a:srgbClr val="483F36"/>
                </a:solidFill>
                <a:latin typeface="Hoefler Text"/>
                <a:ea typeface="Hoefler Text"/>
                <a:cs typeface="Hoefler Text"/>
                <a:sym typeface="Hoefler Text"/>
              </a:defRPr>
            </a:pPr>
            <a:r>
              <a:rPr sz="2400" b="1">
                <a:solidFill>
                  <a:srgbClr val="201B17"/>
                </a:solidFill>
                <a:latin typeface="+mn-lt"/>
                <a:ea typeface="+mn-ea"/>
                <a:cs typeface="+mn-cs"/>
                <a:sym typeface="Arial"/>
              </a:rPr>
              <a:t>Technical intelligence</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Producing and using artefacts required an understanding of abstract ideas and physical processes:</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the fracturing behaviour of stone</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best angles of striking stone</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how hard to strike a stone</a:t>
            </a:r>
          </a:p>
          <a:p>
            <a:pPr>
              <a:lnSpc>
                <a:spcPts val="2400"/>
              </a:lnSpc>
              <a:spcBef>
                <a:spcPts val="300"/>
              </a:spcBef>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 trajectory of a thrown projectile</a:t>
            </a:r>
          </a:p>
        </p:txBody>
      </p:sp>
      <p:sp>
        <p:nvSpPr>
          <p:cNvPr id="1487" name="Shape 1487"/>
          <p:cNvSpPr/>
          <p:nvPr/>
        </p:nvSpPr>
        <p:spPr>
          <a:xfrm>
            <a:off x="10807699" y="5981700"/>
            <a:ext cx="1" cy="1337734"/>
          </a:xfrm>
          <a:prstGeom prst="line">
            <a:avLst/>
          </a:prstGeom>
          <a:ln w="203200">
            <a:solidFill>
              <a:srgbClr val="000000"/>
            </a:solidFill>
            <a:miter lim="400000"/>
            <a:tailEnd type="stealth"/>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47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47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p:tmAbs val="0"/>
                                  </p:iterate>
                                  <p:childTnLst>
                                    <p:set>
                                      <p:cBhvr>
                                        <p:cTn id="12" fill="hold"/>
                                        <p:tgtEl>
                                          <p:spTgt spid="148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3" nodeType="clickEffect">
                                  <p:stCondLst>
                                    <p:cond delay="0"/>
                                  </p:stCondLst>
                                  <p:iterate>
                                    <p:tmAbs val="0"/>
                                  </p:iterate>
                                  <p:childTnLst>
                                    <p:set>
                                      <p:cBhvr>
                                        <p:cTn id="16" fill="hold"/>
                                        <p:tgtEl>
                                          <p:spTgt spid="148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4" nodeType="clickEffect">
                                  <p:stCondLst>
                                    <p:cond delay="0"/>
                                  </p:stCondLst>
                                  <p:iterate>
                                    <p:tmAbs val="0"/>
                                  </p:iterate>
                                  <p:childTnLst>
                                    <p:set>
                                      <p:cBhvr>
                                        <p:cTn id="20" fill="hold"/>
                                        <p:tgtEl>
                                          <p:spTgt spid="148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5" nodeType="clickEffect">
                                  <p:stCondLst>
                                    <p:cond delay="0"/>
                                  </p:stCondLst>
                                  <p:iterate>
                                    <p:tmAbs val="0"/>
                                  </p:iterate>
                                  <p:childTnLst>
                                    <p:set>
                                      <p:cBhvr>
                                        <p:cTn id="24" fill="hold"/>
                                        <p:tgtEl>
                                          <p:spTgt spid="148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6" nodeType="clickEffect">
                                  <p:stCondLst>
                                    <p:cond delay="0"/>
                                  </p:stCondLst>
                                  <p:iterate>
                                    <p:tmAbs val="0"/>
                                  </p:iterate>
                                  <p:childTnLst>
                                    <p:set>
                                      <p:cBhvr>
                                        <p:cTn id="28" fill="hold"/>
                                        <p:tgtEl>
                                          <p:spTgt spid="148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7" nodeType="clickEffect">
                                  <p:stCondLst>
                                    <p:cond delay="0"/>
                                  </p:stCondLst>
                                  <p:iterate>
                                    <p:tmAbs val="0"/>
                                  </p:iterate>
                                  <p:childTnLst>
                                    <p:set>
                                      <p:cBhvr>
                                        <p:cTn id="32" fill="hold"/>
                                        <p:tgtEl>
                                          <p:spTgt spid="148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8" nodeType="clickEffect">
                                  <p:stCondLst>
                                    <p:cond delay="0"/>
                                  </p:stCondLst>
                                  <p:iterate>
                                    <p:tmAbs val="0"/>
                                  </p:iterate>
                                  <p:childTnLst>
                                    <p:set>
                                      <p:cBhvr>
                                        <p:cTn id="36" fill="hold"/>
                                        <p:tgtEl>
                                          <p:spTgt spid="14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8" grpId="1" build="p" bldLvl="5" animBg="1" advAuto="0"/>
      <p:bldP spid="1481" grpId="8" animBg="1" advAuto="0"/>
      <p:bldP spid="1482" grpId="2" animBg="1" advAuto="0"/>
      <p:bldP spid="1483" grpId="5" animBg="1" advAuto="0"/>
      <p:bldP spid="1484" grpId="3" animBg="1" advAuto="0"/>
      <p:bldP spid="1485" grpId="6" animBg="1" advAuto="0"/>
      <p:bldP spid="1486" grpId="4" animBg="1" advAuto="0"/>
      <p:bldP spid="1487" grpId="7"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96" name="Group 1496"/>
          <p:cNvGrpSpPr/>
          <p:nvPr/>
        </p:nvGrpSpPr>
        <p:grpSpPr>
          <a:xfrm>
            <a:off x="-281257" y="-80476"/>
            <a:ext cx="13822692" cy="9869073"/>
            <a:chOff x="-155263" y="64667"/>
            <a:chExt cx="13822691" cy="9869071"/>
          </a:xfrm>
        </p:grpSpPr>
        <p:pic>
          <p:nvPicPr>
            <p:cNvPr id="1489" name="Cave Clan.jpg"/>
            <p:cNvPicPr>
              <a:picLocks noChangeAspect="1"/>
            </p:cNvPicPr>
            <p:nvPr/>
          </p:nvPicPr>
          <p:blipFill>
            <a:blip r:embed="rId2">
              <a:extLst/>
            </a:blip>
            <a:srcRect l="6638" r="5793"/>
            <a:stretch>
              <a:fillRect/>
            </a:stretch>
          </p:blipFill>
          <p:spPr>
            <a:xfrm>
              <a:off x="-155264" y="64667"/>
              <a:ext cx="13822692" cy="9869073"/>
            </a:xfrm>
            <a:prstGeom prst="rect">
              <a:avLst/>
            </a:prstGeom>
            <a:ln w="12700" cap="flat">
              <a:noFill/>
              <a:miter lim="400000"/>
            </a:ln>
            <a:effectLst/>
          </p:spPr>
        </p:pic>
        <p:sp>
          <p:nvSpPr>
            <p:cNvPr id="1490" name="Shape 1490"/>
            <p:cNvSpPr/>
            <p:nvPr/>
          </p:nvSpPr>
          <p:spPr>
            <a:xfrm>
              <a:off x="1121905" y="2320740"/>
              <a:ext cx="2089949" cy="800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FFFC79"/>
                  </a:solidFill>
                </a:defRPr>
              </a:lvl1pPr>
            </a:lstStyle>
            <a:p>
              <a:r>
                <a:t>Enhancing the natural protection of rock shelter</a:t>
              </a:r>
            </a:p>
          </p:txBody>
        </p:sp>
        <p:sp>
          <p:nvSpPr>
            <p:cNvPr id="1491" name="Shape 1491"/>
            <p:cNvSpPr/>
            <p:nvPr/>
          </p:nvSpPr>
          <p:spPr>
            <a:xfrm>
              <a:off x="1232238" y="3807352"/>
              <a:ext cx="1333465" cy="53096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FFFC79"/>
                  </a:solidFill>
                </a:defRPr>
              </a:lvl1pPr>
            </a:lstStyle>
            <a:p>
              <a:r>
                <a:t>Caring for the elderly</a:t>
              </a:r>
            </a:p>
          </p:txBody>
        </p:sp>
        <p:sp>
          <p:nvSpPr>
            <p:cNvPr id="1492" name="Shape 1492"/>
            <p:cNvSpPr/>
            <p:nvPr/>
          </p:nvSpPr>
          <p:spPr>
            <a:xfrm>
              <a:off x="5083832" y="4654303"/>
              <a:ext cx="1436040" cy="53096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FFFC79"/>
                  </a:solidFill>
                </a:defRPr>
              </a:lvl1pPr>
            </a:lstStyle>
            <a:p>
              <a:r>
                <a:t>Toolmaking using flint</a:t>
              </a:r>
            </a:p>
          </p:txBody>
        </p:sp>
        <p:sp>
          <p:nvSpPr>
            <p:cNvPr id="1493" name="Shape 1493"/>
            <p:cNvSpPr/>
            <p:nvPr/>
          </p:nvSpPr>
          <p:spPr>
            <a:xfrm>
              <a:off x="7716645" y="4000392"/>
              <a:ext cx="2089950" cy="53096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FFFC79"/>
                  </a:solidFill>
                </a:defRPr>
              </a:lvl1pPr>
            </a:lstStyle>
            <a:p>
              <a:r>
                <a:t>Making clothes from animal skins</a:t>
              </a:r>
            </a:p>
          </p:txBody>
        </p:sp>
        <p:sp>
          <p:nvSpPr>
            <p:cNvPr id="1494" name="Shape 1494"/>
            <p:cNvSpPr/>
            <p:nvPr/>
          </p:nvSpPr>
          <p:spPr>
            <a:xfrm>
              <a:off x="10853629" y="2833611"/>
              <a:ext cx="1974554" cy="53096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FFFC79"/>
                  </a:solidFill>
                </a:defRPr>
              </a:lvl1pPr>
            </a:lstStyle>
            <a:p>
              <a:r>
                <a:t>Prolonged infant dependency</a:t>
              </a:r>
            </a:p>
          </p:txBody>
        </p:sp>
        <p:sp>
          <p:nvSpPr>
            <p:cNvPr id="1495" name="Shape 1495"/>
            <p:cNvSpPr/>
            <p:nvPr/>
          </p:nvSpPr>
          <p:spPr>
            <a:xfrm>
              <a:off x="125584" y="6662032"/>
              <a:ext cx="1423218" cy="800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noAutofit/>
            </a:bodyPr>
            <a:lstStyle>
              <a:lvl1pPr algn="ctr">
                <a:lnSpc>
                  <a:spcPts val="2100"/>
                </a:lnSpc>
                <a:tabLst>
                  <a:tab pos="520700" algn="l"/>
                </a:tabLst>
                <a:defRPr b="1">
                  <a:solidFill>
                    <a:srgbClr val="FFFC79"/>
                  </a:solidFill>
                </a:defRPr>
              </a:lvl1pPr>
            </a:lstStyle>
            <a:p>
              <a:r>
                <a:t>Toolmaking using bone and antler</a:t>
              </a:r>
            </a:p>
          </p:txBody>
        </p:sp>
      </p:grpSp>
      <p:sp>
        <p:nvSpPr>
          <p:cNvPr id="1497" name="Shape 1497"/>
          <p:cNvSpPr>
            <a:spLocks noGrp="1"/>
          </p:cNvSpPr>
          <p:nvPr>
            <p:ph type="title"/>
          </p:nvPr>
        </p:nvSpPr>
        <p:spPr>
          <a:prstGeom prst="rect">
            <a:avLst/>
          </a:prstGeom>
        </p:spPr>
        <p:txBody>
          <a:bodyPr/>
          <a:lstStyle>
            <a:lvl1pPr>
              <a:tabLst>
                <a:tab pos="952500" algn="l"/>
              </a:tabLst>
            </a:lvl1pPr>
          </a:lstStyle>
          <a:p>
            <a:r>
              <a:t>Complex Behaviours</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9" name="Shape 1499"/>
          <p:cNvSpPr>
            <a:spLocks noGrp="1"/>
          </p:cNvSpPr>
          <p:nvPr>
            <p:ph type="title"/>
          </p:nvPr>
        </p:nvSpPr>
        <p:spPr>
          <a:prstGeom prst="rect">
            <a:avLst/>
          </a:prstGeom>
        </p:spPr>
        <p:txBody>
          <a:bodyPr/>
          <a:lstStyle>
            <a:lvl1pPr>
              <a:tabLst>
                <a:tab pos="952500" algn="l"/>
              </a:tabLst>
            </a:lvl1pPr>
          </a:lstStyle>
          <a:p>
            <a:r>
              <a:t>Oldowan Tool Culture</a:t>
            </a:r>
          </a:p>
        </p:txBody>
      </p:sp>
      <p:sp>
        <p:nvSpPr>
          <p:cNvPr id="1500" name="Shape 1500"/>
          <p:cNvSpPr>
            <a:spLocks noGrp="1"/>
          </p:cNvSpPr>
          <p:nvPr>
            <p:ph type="body" sz="half" idx="1"/>
          </p:nvPr>
        </p:nvSpPr>
        <p:spPr>
          <a:prstGeom prst="rect">
            <a:avLst/>
          </a:prstGeom>
        </p:spPr>
        <p:txBody>
          <a:bodyPr/>
          <a:lstStyle/>
          <a:p>
            <a:pPr>
              <a:tabLst>
                <a:tab pos="1016000" algn="l"/>
              </a:tabLst>
            </a:pPr>
            <a:r>
              <a:t>First appeared:	         2.5 mya</a:t>
            </a:r>
          </a:p>
          <a:p>
            <a:pPr>
              <a:tabLst>
                <a:tab pos="1016000" algn="l"/>
              </a:tabLst>
            </a:pPr>
            <a:r>
              <a:t>Associated hominin:  </a:t>
            </a:r>
            <a:r>
              <a:rPr i="1"/>
              <a:t>Homo habilis</a:t>
            </a:r>
          </a:p>
          <a:p>
            <a:pPr lvl="1">
              <a:tabLst>
                <a:tab pos="1485900" algn="l"/>
              </a:tabLst>
            </a:pPr>
            <a:r>
              <a:t>These tools were simple river-worn pebbles that were crudely fashioned with only a few flakes being removed.</a:t>
            </a:r>
          </a:p>
          <a:p>
            <a:pPr lvl="1">
              <a:tabLst>
                <a:tab pos="1485900" algn="l"/>
              </a:tabLst>
            </a:pPr>
            <a:r>
              <a:t>These tools typically had flakes knocked from several angles to produce a core with a cutting edge (e.g. chopper, discoid, polyhedron).</a:t>
            </a:r>
          </a:p>
          <a:p>
            <a:pPr lvl="1">
              <a:tabLst>
                <a:tab pos="1485900" algn="l"/>
              </a:tabLst>
            </a:pPr>
            <a:r>
              <a:t>Although the cores may have been used as tools, it is known that the sharp flakes were also useful in cutting.</a:t>
            </a:r>
          </a:p>
        </p:txBody>
      </p:sp>
      <p:pic>
        <p:nvPicPr>
          <p:cNvPr id="1501" name="Oldowan tools 2.png"/>
          <p:cNvPicPr>
            <a:picLocks noChangeAspect="1"/>
          </p:cNvPicPr>
          <p:nvPr/>
        </p:nvPicPr>
        <p:blipFill>
          <a:blip r:embed="rId2">
            <a:extLst/>
          </a:blip>
          <a:stretch>
            <a:fillRect/>
          </a:stretch>
        </p:blipFill>
        <p:spPr>
          <a:xfrm>
            <a:off x="8051800" y="1498600"/>
            <a:ext cx="4356100" cy="2426725"/>
          </a:xfrm>
          <a:prstGeom prst="rect">
            <a:avLst/>
          </a:prstGeom>
          <a:ln w="12700">
            <a:miter lim="400000"/>
          </a:ln>
        </p:spPr>
      </p:pic>
      <p:pic>
        <p:nvPicPr>
          <p:cNvPr id="1502" name="Oldowan tools many.png"/>
          <p:cNvPicPr>
            <a:picLocks noChangeAspect="1"/>
          </p:cNvPicPr>
          <p:nvPr/>
        </p:nvPicPr>
        <p:blipFill>
          <a:blip r:embed="rId3">
            <a:extLst/>
          </a:blip>
          <a:stretch>
            <a:fillRect/>
          </a:stretch>
        </p:blipFill>
        <p:spPr>
          <a:xfrm>
            <a:off x="8204200" y="4241800"/>
            <a:ext cx="3763085" cy="497840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00">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0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0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500">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500">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5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0" grpId="1" build="p" bldLvl="5" animBg="1" advAuto="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4" name="Shape 1504"/>
          <p:cNvSpPr>
            <a:spLocks noGrp="1"/>
          </p:cNvSpPr>
          <p:nvPr>
            <p:ph type="title"/>
          </p:nvPr>
        </p:nvSpPr>
        <p:spPr>
          <a:prstGeom prst="rect">
            <a:avLst/>
          </a:prstGeom>
        </p:spPr>
        <p:txBody>
          <a:bodyPr/>
          <a:lstStyle>
            <a:lvl1pPr>
              <a:tabLst>
                <a:tab pos="952500" algn="l"/>
              </a:tabLst>
            </a:lvl1pPr>
          </a:lstStyle>
          <a:p>
            <a:r>
              <a:t>Oldowan Tool Culture</a:t>
            </a:r>
          </a:p>
        </p:txBody>
      </p:sp>
      <p:grpSp>
        <p:nvGrpSpPr>
          <p:cNvPr id="1510" name="Group 1510"/>
          <p:cNvGrpSpPr/>
          <p:nvPr/>
        </p:nvGrpSpPr>
        <p:grpSpPr>
          <a:xfrm>
            <a:off x="1460500" y="1714500"/>
            <a:ext cx="5222876" cy="3546029"/>
            <a:chOff x="0" y="0"/>
            <a:chExt cx="5222875" cy="3546028"/>
          </a:xfrm>
        </p:grpSpPr>
        <p:pic>
          <p:nvPicPr>
            <p:cNvPr id="1505" name="Oldowan---Chopper-2.png"/>
            <p:cNvPicPr>
              <a:picLocks noChangeAspect="1"/>
            </p:cNvPicPr>
            <p:nvPr/>
          </p:nvPicPr>
          <p:blipFill>
            <a:blip r:embed="rId2">
              <a:extLst/>
            </a:blip>
            <a:stretch>
              <a:fillRect/>
            </a:stretch>
          </p:blipFill>
          <p:spPr>
            <a:xfrm>
              <a:off x="0" y="685800"/>
              <a:ext cx="2311400" cy="2024787"/>
            </a:xfrm>
            <a:prstGeom prst="rect">
              <a:avLst/>
            </a:prstGeom>
            <a:ln w="25400" cap="flat">
              <a:noFill/>
              <a:miter lim="400000"/>
            </a:ln>
            <a:effectLst/>
          </p:spPr>
        </p:pic>
        <p:pic>
          <p:nvPicPr>
            <p:cNvPr id="1506" name="Oldowan---Chopper.png"/>
            <p:cNvPicPr>
              <a:picLocks noChangeAspect="1"/>
            </p:cNvPicPr>
            <p:nvPr/>
          </p:nvPicPr>
          <p:blipFill>
            <a:blip r:embed="rId3">
              <a:extLst/>
            </a:blip>
            <a:stretch>
              <a:fillRect/>
            </a:stretch>
          </p:blipFill>
          <p:spPr>
            <a:xfrm>
              <a:off x="2667000" y="787400"/>
              <a:ext cx="2555876" cy="2044700"/>
            </a:xfrm>
            <a:prstGeom prst="rect">
              <a:avLst/>
            </a:prstGeom>
            <a:ln w="25400" cap="flat">
              <a:noFill/>
              <a:miter lim="400000"/>
            </a:ln>
            <a:effectLst/>
          </p:spPr>
        </p:pic>
        <p:sp>
          <p:nvSpPr>
            <p:cNvPr id="1507" name="Shape 1507"/>
            <p:cNvSpPr/>
            <p:nvPr/>
          </p:nvSpPr>
          <p:spPr>
            <a:xfrm>
              <a:off x="1603783" y="0"/>
              <a:ext cx="1955801"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a:solidFill>
                    <a:srgbClr val="006795"/>
                  </a:solidFill>
                </a:defRPr>
              </a:lvl1pPr>
            </a:lstStyle>
            <a:p>
              <a:r>
                <a:t>Flakes removed from 1 side only</a:t>
              </a:r>
            </a:p>
          </p:txBody>
        </p:sp>
        <p:sp>
          <p:nvSpPr>
            <p:cNvPr id="1508" name="Shape 1508"/>
            <p:cNvSpPr/>
            <p:nvPr/>
          </p:nvSpPr>
          <p:spPr>
            <a:xfrm>
              <a:off x="2108200" y="3200400"/>
              <a:ext cx="1549500"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Choppers</a:t>
              </a:r>
            </a:p>
          </p:txBody>
        </p:sp>
        <p:sp>
          <p:nvSpPr>
            <p:cNvPr id="1509" name="Shape 1509"/>
            <p:cNvSpPr/>
            <p:nvPr/>
          </p:nvSpPr>
          <p:spPr>
            <a:xfrm flipH="1" flipV="1">
              <a:off x="2641600" y="609600"/>
              <a:ext cx="499534" cy="859367"/>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516" name="Group 1516"/>
          <p:cNvGrpSpPr/>
          <p:nvPr/>
        </p:nvGrpSpPr>
        <p:grpSpPr>
          <a:xfrm>
            <a:off x="7823200" y="1612900"/>
            <a:ext cx="3295768" cy="3749229"/>
            <a:chOff x="0" y="0"/>
            <a:chExt cx="3295767" cy="3749228"/>
          </a:xfrm>
        </p:grpSpPr>
        <p:pic>
          <p:nvPicPr>
            <p:cNvPr id="1511" name="Oldowan---Proto-Biface.png"/>
            <p:cNvPicPr>
              <a:picLocks noChangeAspect="1"/>
            </p:cNvPicPr>
            <p:nvPr/>
          </p:nvPicPr>
          <p:blipFill>
            <a:blip r:embed="rId4">
              <a:extLst/>
            </a:blip>
            <a:stretch>
              <a:fillRect/>
            </a:stretch>
          </p:blipFill>
          <p:spPr>
            <a:xfrm>
              <a:off x="0" y="622300"/>
              <a:ext cx="2362200" cy="2617318"/>
            </a:xfrm>
            <a:prstGeom prst="rect">
              <a:avLst/>
            </a:prstGeom>
            <a:ln w="25400" cap="flat">
              <a:noFill/>
              <a:miter lim="400000"/>
            </a:ln>
            <a:effectLst/>
          </p:spPr>
        </p:pic>
        <p:sp>
          <p:nvSpPr>
            <p:cNvPr id="1512" name="Shape 1512"/>
            <p:cNvSpPr/>
            <p:nvPr/>
          </p:nvSpPr>
          <p:spPr>
            <a:xfrm>
              <a:off x="52335" y="0"/>
              <a:ext cx="1917701"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a:solidFill>
                    <a:srgbClr val="006795"/>
                  </a:solidFill>
                </a:defRPr>
              </a:lvl1pPr>
            </a:lstStyle>
            <a:p>
              <a:r>
                <a:t>Flakes removed from 2 sides</a:t>
              </a:r>
            </a:p>
          </p:txBody>
        </p:sp>
        <p:sp>
          <p:nvSpPr>
            <p:cNvPr id="1513" name="Shape 1513"/>
            <p:cNvSpPr/>
            <p:nvPr/>
          </p:nvSpPr>
          <p:spPr>
            <a:xfrm>
              <a:off x="266700" y="3403600"/>
              <a:ext cx="1905199"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Proto-biface</a:t>
              </a:r>
            </a:p>
          </p:txBody>
        </p:sp>
        <p:sp>
          <p:nvSpPr>
            <p:cNvPr id="1514" name="Shape 1514"/>
            <p:cNvSpPr/>
            <p:nvPr/>
          </p:nvSpPr>
          <p:spPr>
            <a:xfrm>
              <a:off x="2673281" y="2413000"/>
              <a:ext cx="622487"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400"/>
                </a:lnSpc>
                <a:tabLst>
                  <a:tab pos="520700" algn="l"/>
                </a:tabLst>
                <a:defRPr>
                  <a:solidFill>
                    <a:srgbClr val="006795"/>
                  </a:solidFill>
                </a:defRPr>
              </a:lvl1pPr>
            </a:lstStyle>
            <a:p>
              <a:r>
                <a:t>Core</a:t>
              </a:r>
            </a:p>
          </p:txBody>
        </p:sp>
        <p:sp>
          <p:nvSpPr>
            <p:cNvPr id="1515" name="Shape 1515"/>
            <p:cNvSpPr/>
            <p:nvPr/>
          </p:nvSpPr>
          <p:spPr>
            <a:xfrm>
              <a:off x="2057400" y="2535766"/>
              <a:ext cx="660400" cy="128"/>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526" name="Group 1526"/>
          <p:cNvGrpSpPr/>
          <p:nvPr/>
        </p:nvGrpSpPr>
        <p:grpSpPr>
          <a:xfrm>
            <a:off x="3270182" y="5842000"/>
            <a:ext cx="6320700" cy="3647629"/>
            <a:chOff x="0" y="0"/>
            <a:chExt cx="6320699" cy="3647628"/>
          </a:xfrm>
        </p:grpSpPr>
        <p:pic>
          <p:nvPicPr>
            <p:cNvPr id="1517" name="Oldowan---Discoid.png"/>
            <p:cNvPicPr>
              <a:picLocks noChangeAspect="1"/>
            </p:cNvPicPr>
            <p:nvPr/>
          </p:nvPicPr>
          <p:blipFill>
            <a:blip r:embed="rId5">
              <a:extLst/>
            </a:blip>
            <a:stretch>
              <a:fillRect/>
            </a:stretch>
          </p:blipFill>
          <p:spPr>
            <a:xfrm>
              <a:off x="3562417" y="1206500"/>
              <a:ext cx="2758283" cy="1765300"/>
            </a:xfrm>
            <a:prstGeom prst="rect">
              <a:avLst/>
            </a:prstGeom>
            <a:ln w="25400" cap="flat">
              <a:noFill/>
              <a:miter lim="400000"/>
            </a:ln>
            <a:effectLst/>
          </p:spPr>
        </p:pic>
        <p:pic>
          <p:nvPicPr>
            <p:cNvPr id="1518" name="Oldowan---Polyhedron.png"/>
            <p:cNvPicPr>
              <a:picLocks noChangeAspect="1"/>
            </p:cNvPicPr>
            <p:nvPr/>
          </p:nvPicPr>
          <p:blipFill>
            <a:blip r:embed="rId6">
              <a:extLst/>
            </a:blip>
            <a:stretch>
              <a:fillRect/>
            </a:stretch>
          </p:blipFill>
          <p:spPr>
            <a:xfrm>
              <a:off x="666817" y="1066800"/>
              <a:ext cx="2481433" cy="2044700"/>
            </a:xfrm>
            <a:prstGeom prst="rect">
              <a:avLst/>
            </a:prstGeom>
            <a:ln w="25400" cap="flat">
              <a:noFill/>
              <a:miter lim="400000"/>
            </a:ln>
            <a:effectLst/>
          </p:spPr>
        </p:pic>
        <p:sp>
          <p:nvSpPr>
            <p:cNvPr id="1519" name="Shape 1519"/>
            <p:cNvSpPr/>
            <p:nvPr/>
          </p:nvSpPr>
          <p:spPr>
            <a:xfrm>
              <a:off x="4324417" y="3302000"/>
              <a:ext cx="1227883"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Discoid</a:t>
              </a:r>
            </a:p>
          </p:txBody>
        </p:sp>
        <p:sp>
          <p:nvSpPr>
            <p:cNvPr id="1520" name="Shape 1520"/>
            <p:cNvSpPr/>
            <p:nvPr/>
          </p:nvSpPr>
          <p:spPr>
            <a:xfrm>
              <a:off x="2391298" y="0"/>
              <a:ext cx="2057401"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a:solidFill>
                    <a:srgbClr val="006795"/>
                  </a:solidFill>
                </a:defRPr>
              </a:lvl1pPr>
            </a:lstStyle>
            <a:p>
              <a:r>
                <a:t>Flakes removed from all sides</a:t>
              </a:r>
            </a:p>
          </p:txBody>
        </p:sp>
        <p:sp>
          <p:nvSpPr>
            <p:cNvPr id="1521" name="Shape 1521"/>
            <p:cNvSpPr/>
            <p:nvPr/>
          </p:nvSpPr>
          <p:spPr>
            <a:xfrm>
              <a:off x="1212917" y="3302000"/>
              <a:ext cx="1803550" cy="3456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Polyhedron</a:t>
              </a:r>
            </a:p>
          </p:txBody>
        </p:sp>
        <p:sp>
          <p:nvSpPr>
            <p:cNvPr id="1522" name="Shape 1522"/>
            <p:cNvSpPr/>
            <p:nvPr/>
          </p:nvSpPr>
          <p:spPr>
            <a:xfrm>
              <a:off x="0" y="1689100"/>
              <a:ext cx="622487"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nSpc>
                  <a:spcPts val="2400"/>
                </a:lnSpc>
                <a:tabLst>
                  <a:tab pos="520700" algn="l"/>
                </a:tabLst>
                <a:defRPr>
                  <a:solidFill>
                    <a:srgbClr val="006795"/>
                  </a:solidFill>
                </a:defRPr>
              </a:lvl1pPr>
            </a:lstStyle>
            <a:p>
              <a:r>
                <a:t>Core</a:t>
              </a:r>
            </a:p>
          </p:txBody>
        </p:sp>
        <p:sp>
          <p:nvSpPr>
            <p:cNvPr id="1523" name="Shape 1523"/>
            <p:cNvSpPr/>
            <p:nvPr/>
          </p:nvSpPr>
          <p:spPr>
            <a:xfrm flipV="1">
              <a:off x="2504084" y="660399"/>
              <a:ext cx="965201" cy="60960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524" name="Shape 1524"/>
            <p:cNvSpPr/>
            <p:nvPr/>
          </p:nvSpPr>
          <p:spPr>
            <a:xfrm flipH="1" flipV="1">
              <a:off x="3435417" y="660400"/>
              <a:ext cx="1151468" cy="914400"/>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525" name="Shape 1525"/>
            <p:cNvSpPr/>
            <p:nvPr/>
          </p:nvSpPr>
          <p:spPr>
            <a:xfrm flipH="1">
              <a:off x="624484" y="1794933"/>
              <a:ext cx="728134" cy="16934"/>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5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5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0" grpId="1" animBg="1" advAuto="0"/>
      <p:bldP spid="1516" grpId="2" animBg="1" advAuto="0"/>
      <p:bldP spid="1526" grpId="3"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8" name="Shape 1528"/>
          <p:cNvSpPr>
            <a:spLocks noGrp="1"/>
          </p:cNvSpPr>
          <p:nvPr>
            <p:ph type="title"/>
          </p:nvPr>
        </p:nvSpPr>
        <p:spPr>
          <a:prstGeom prst="rect">
            <a:avLst/>
          </a:prstGeom>
        </p:spPr>
        <p:txBody>
          <a:bodyPr/>
          <a:lstStyle>
            <a:lvl1pPr>
              <a:tabLst>
                <a:tab pos="952500" algn="l"/>
              </a:tabLst>
            </a:lvl1pPr>
          </a:lstStyle>
          <a:p>
            <a:r>
              <a:t>Acheulian Tool Culture</a:t>
            </a:r>
          </a:p>
        </p:txBody>
      </p:sp>
      <p:sp>
        <p:nvSpPr>
          <p:cNvPr id="1529" name="Shape 1529"/>
          <p:cNvSpPr>
            <a:spLocks noGrp="1"/>
          </p:cNvSpPr>
          <p:nvPr>
            <p:ph type="body" sz="half" idx="1"/>
          </p:nvPr>
        </p:nvSpPr>
        <p:spPr>
          <a:prstGeom prst="rect">
            <a:avLst/>
          </a:prstGeom>
        </p:spPr>
        <p:txBody>
          <a:bodyPr/>
          <a:lstStyle/>
          <a:p>
            <a:pPr>
              <a:tabLst>
                <a:tab pos="1016000" algn="l"/>
              </a:tabLst>
            </a:pPr>
            <a:r>
              <a:t>First Appeared:	        1.76 mya</a:t>
            </a:r>
          </a:p>
          <a:p>
            <a:pPr>
              <a:tabLst>
                <a:tab pos="1016000" algn="l"/>
              </a:tabLst>
            </a:pPr>
            <a:r>
              <a:t>Associated hominin:  </a:t>
            </a:r>
            <a:r>
              <a:rPr i="1"/>
              <a:t>Homo erectus</a:t>
            </a:r>
          </a:p>
          <a:p>
            <a:pPr lvl="1">
              <a:tabLst>
                <a:tab pos="1485900" algn="l"/>
              </a:tabLst>
            </a:pPr>
            <a:r>
              <a:t>These tools were typically 'tear drop' in shape and were carefully crafted with a slight bulge on each broad surface (called a 'bi-face').</a:t>
            </a:r>
          </a:p>
          <a:p>
            <a:pPr lvl="1">
              <a:tabLst>
                <a:tab pos="1485900" algn="l"/>
              </a:tabLst>
            </a:pPr>
            <a:r>
              <a:t>They ranged greatly in their size and are often called 'hand axes' although it is not clearly understood how they were used.</a:t>
            </a:r>
          </a:p>
          <a:p>
            <a:pPr lvl="1">
              <a:tabLst>
                <a:tab pos="1485900" algn="l"/>
              </a:tabLst>
            </a:pPr>
            <a:r>
              <a:t>They differ markedly from the earlier pebble tools in that there appears to be a standard “design” and each tool is manufactured using a great many more blows to remove flakes.</a:t>
            </a:r>
          </a:p>
        </p:txBody>
      </p:sp>
      <p:pic>
        <p:nvPicPr>
          <p:cNvPr id="1530" name="Acheulian handaxe Richard's-1.png"/>
          <p:cNvPicPr>
            <a:picLocks noChangeAspect="1"/>
          </p:cNvPicPr>
          <p:nvPr/>
        </p:nvPicPr>
        <p:blipFill>
          <a:blip r:embed="rId2">
            <a:extLst/>
          </a:blip>
          <a:stretch>
            <a:fillRect/>
          </a:stretch>
        </p:blipFill>
        <p:spPr>
          <a:xfrm>
            <a:off x="8748701" y="1905000"/>
            <a:ext cx="3470298" cy="66167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2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2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2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52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52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52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9" grpId="1" build="p" bldLvl="5"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2" name="Acheulian Tools side view.png"/>
          <p:cNvPicPr>
            <a:picLocks noChangeAspect="1"/>
          </p:cNvPicPr>
          <p:nvPr/>
        </p:nvPicPr>
        <p:blipFill>
          <a:blip r:embed="rId2">
            <a:extLst/>
          </a:blip>
          <a:stretch>
            <a:fillRect/>
          </a:stretch>
        </p:blipFill>
        <p:spPr>
          <a:xfrm>
            <a:off x="11247554" y="4825202"/>
            <a:ext cx="1221752" cy="4169891"/>
          </a:xfrm>
          <a:prstGeom prst="rect">
            <a:avLst/>
          </a:prstGeom>
          <a:ln w="12700">
            <a:miter lim="400000"/>
          </a:ln>
        </p:spPr>
      </p:pic>
      <p:pic>
        <p:nvPicPr>
          <p:cNvPr id="1533" name="Acheulian-Draw.png"/>
          <p:cNvPicPr>
            <a:picLocks noChangeAspect="1"/>
          </p:cNvPicPr>
          <p:nvPr/>
        </p:nvPicPr>
        <p:blipFill>
          <a:blip r:embed="rId3">
            <a:extLst/>
          </a:blip>
          <a:stretch>
            <a:fillRect/>
          </a:stretch>
        </p:blipFill>
        <p:spPr>
          <a:xfrm>
            <a:off x="8470900" y="4686300"/>
            <a:ext cx="2260600" cy="4445000"/>
          </a:xfrm>
          <a:prstGeom prst="rect">
            <a:avLst/>
          </a:prstGeom>
          <a:ln w="25400">
            <a:miter lim="400000"/>
          </a:ln>
        </p:spPr>
      </p:pic>
      <p:pic>
        <p:nvPicPr>
          <p:cNvPr id="1534" name="Acheulian cleaver 1.png"/>
          <p:cNvPicPr>
            <a:picLocks noChangeAspect="1"/>
          </p:cNvPicPr>
          <p:nvPr/>
        </p:nvPicPr>
        <p:blipFill>
          <a:blip r:embed="rId4">
            <a:extLst/>
          </a:blip>
          <a:stretch>
            <a:fillRect/>
          </a:stretch>
        </p:blipFill>
        <p:spPr>
          <a:xfrm rot="10800000">
            <a:off x="609600" y="1447800"/>
            <a:ext cx="2120901" cy="3433839"/>
          </a:xfrm>
          <a:prstGeom prst="rect">
            <a:avLst/>
          </a:prstGeom>
          <a:ln w="12700">
            <a:miter lim="400000"/>
          </a:ln>
        </p:spPr>
      </p:pic>
      <p:pic>
        <p:nvPicPr>
          <p:cNvPr id="1535" name="Acheulian cleaver 2.png"/>
          <p:cNvPicPr>
            <a:picLocks noChangeAspect="1"/>
          </p:cNvPicPr>
          <p:nvPr/>
        </p:nvPicPr>
        <p:blipFill>
          <a:blip r:embed="rId5">
            <a:extLst/>
          </a:blip>
          <a:stretch>
            <a:fillRect/>
          </a:stretch>
        </p:blipFill>
        <p:spPr>
          <a:xfrm>
            <a:off x="658905" y="5067300"/>
            <a:ext cx="1958789" cy="3505200"/>
          </a:xfrm>
          <a:prstGeom prst="rect">
            <a:avLst/>
          </a:prstGeom>
          <a:ln w="12700">
            <a:miter lim="400000"/>
          </a:ln>
        </p:spPr>
      </p:pic>
      <p:sp>
        <p:nvSpPr>
          <p:cNvPr id="1536" name="Shape 1536"/>
          <p:cNvSpPr>
            <a:spLocks noGrp="1"/>
          </p:cNvSpPr>
          <p:nvPr>
            <p:ph type="title"/>
          </p:nvPr>
        </p:nvSpPr>
        <p:spPr>
          <a:prstGeom prst="rect">
            <a:avLst/>
          </a:prstGeom>
        </p:spPr>
        <p:txBody>
          <a:bodyPr/>
          <a:lstStyle>
            <a:lvl1pPr>
              <a:tabLst>
                <a:tab pos="952500" algn="l"/>
              </a:tabLst>
            </a:lvl1pPr>
          </a:lstStyle>
          <a:p>
            <a:r>
              <a:t>Acheulian Tool Culture</a:t>
            </a:r>
          </a:p>
        </p:txBody>
      </p:sp>
      <p:sp>
        <p:nvSpPr>
          <p:cNvPr id="1537" name="Shape 1537"/>
          <p:cNvSpPr/>
          <p:nvPr/>
        </p:nvSpPr>
        <p:spPr>
          <a:xfrm>
            <a:off x="9994900" y="4864100"/>
            <a:ext cx="1896534" cy="127"/>
          </a:xfrm>
          <a:prstGeom prst="line">
            <a:avLst/>
          </a:prstGeom>
          <a:ln w="38100">
            <a:solidFill>
              <a:srgbClr val="F28C1F"/>
            </a:solidFill>
            <a:prstDash val="sysDot"/>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38" name="Shape 1538"/>
          <p:cNvSpPr/>
          <p:nvPr/>
        </p:nvSpPr>
        <p:spPr>
          <a:xfrm>
            <a:off x="9994900" y="8957733"/>
            <a:ext cx="1896534" cy="128"/>
          </a:xfrm>
          <a:prstGeom prst="line">
            <a:avLst/>
          </a:prstGeom>
          <a:ln w="38100">
            <a:solidFill>
              <a:srgbClr val="F28C1F"/>
            </a:solidFill>
            <a:prstDash val="sysDot"/>
            <a:miter lim="400000"/>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39" name="Shape 1539"/>
          <p:cNvSpPr/>
          <p:nvPr/>
        </p:nvSpPr>
        <p:spPr>
          <a:xfrm>
            <a:off x="2298700" y="7378700"/>
            <a:ext cx="736600" cy="127"/>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40" name="Shape 1540"/>
          <p:cNvSpPr/>
          <p:nvPr/>
        </p:nvSpPr>
        <p:spPr>
          <a:xfrm flipV="1">
            <a:off x="9601200" y="4279900"/>
            <a:ext cx="12700" cy="11811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41" name="Shape 1541"/>
          <p:cNvSpPr/>
          <p:nvPr/>
        </p:nvSpPr>
        <p:spPr>
          <a:xfrm flipH="1">
            <a:off x="7861300" y="7505700"/>
            <a:ext cx="1536700" cy="6223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542" name="Shape 1542"/>
          <p:cNvSpPr/>
          <p:nvPr/>
        </p:nvSpPr>
        <p:spPr>
          <a:xfrm>
            <a:off x="2233576" y="5054600"/>
            <a:ext cx="18034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a:solidFill>
                  <a:srgbClr val="006795"/>
                </a:solidFill>
              </a:defRPr>
            </a:lvl1pPr>
          </a:lstStyle>
          <a:p>
            <a:r>
              <a:t>Flatter and more ‘blade-like’</a:t>
            </a:r>
          </a:p>
        </p:txBody>
      </p:sp>
      <p:sp>
        <p:nvSpPr>
          <p:cNvPr id="1543" name="Shape 1543"/>
          <p:cNvSpPr/>
          <p:nvPr/>
        </p:nvSpPr>
        <p:spPr>
          <a:xfrm>
            <a:off x="3098601" y="7099300"/>
            <a:ext cx="11938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6795"/>
                </a:solidFill>
              </a:defRPr>
            </a:lvl1pPr>
          </a:lstStyle>
          <a:p>
            <a:r>
              <a:t>The core is the tool</a:t>
            </a:r>
          </a:p>
        </p:txBody>
      </p:sp>
      <p:sp>
        <p:nvSpPr>
          <p:cNvPr id="1544" name="Shape 1544"/>
          <p:cNvSpPr/>
          <p:nvPr/>
        </p:nvSpPr>
        <p:spPr>
          <a:xfrm>
            <a:off x="977775" y="8902700"/>
            <a:ext cx="1397994"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Cleavers</a:t>
            </a:r>
          </a:p>
        </p:txBody>
      </p:sp>
      <p:sp>
        <p:nvSpPr>
          <p:cNvPr id="1545" name="Shape 1545"/>
          <p:cNvSpPr/>
          <p:nvPr/>
        </p:nvSpPr>
        <p:spPr>
          <a:xfrm>
            <a:off x="9016801" y="3683000"/>
            <a:ext cx="11684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a:solidFill>
                  <a:srgbClr val="006795"/>
                </a:solidFill>
              </a:defRPr>
            </a:lvl1pPr>
          </a:lstStyle>
          <a:p>
            <a:r>
              <a:t>The core is the tool</a:t>
            </a:r>
          </a:p>
        </p:txBody>
      </p:sp>
      <p:sp>
        <p:nvSpPr>
          <p:cNvPr id="1546" name="Shape 1546"/>
          <p:cNvSpPr/>
          <p:nvPr/>
        </p:nvSpPr>
        <p:spPr>
          <a:xfrm>
            <a:off x="5975350" y="7937500"/>
            <a:ext cx="2120900" cy="10593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6795"/>
                </a:solidFill>
              </a:defRPr>
            </a:lvl1pPr>
          </a:lstStyle>
          <a:p>
            <a:r>
              <a:t>‘Biface’ shape – bulges outwards on both sides and has ‘tear drop’ shape</a:t>
            </a:r>
          </a:p>
        </p:txBody>
      </p:sp>
      <p:sp>
        <p:nvSpPr>
          <p:cNvPr id="1547" name="Shape 1547"/>
          <p:cNvSpPr/>
          <p:nvPr/>
        </p:nvSpPr>
        <p:spPr>
          <a:xfrm>
            <a:off x="7317246" y="1701800"/>
            <a:ext cx="1482230" cy="345629"/>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3100"/>
              </a:lnSpc>
              <a:tabLst>
                <a:tab pos="520700" algn="l"/>
              </a:tabLst>
              <a:defRPr sz="2400" b="1">
                <a:solidFill>
                  <a:srgbClr val="000000"/>
                </a:solidFill>
              </a:defRPr>
            </a:lvl1pPr>
          </a:lstStyle>
          <a:p>
            <a:pPr>
              <a:defRPr>
                <a:solidFill>
                  <a:srgbClr val="483F36"/>
                </a:solidFill>
              </a:defRPr>
            </a:pPr>
            <a:r>
              <a:rPr>
                <a:solidFill>
                  <a:srgbClr val="000000"/>
                </a:solidFill>
              </a:rPr>
              <a:t>Hand axe</a:t>
            </a:r>
          </a:p>
        </p:txBody>
      </p:sp>
      <p:sp>
        <p:nvSpPr>
          <p:cNvPr id="1548" name="Shape 1548"/>
          <p:cNvSpPr/>
          <p:nvPr/>
        </p:nvSpPr>
        <p:spPr>
          <a:xfrm>
            <a:off x="11369016" y="9067800"/>
            <a:ext cx="143575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a:solidFill>
                  <a:srgbClr val="006795"/>
                </a:solidFill>
              </a:defRPr>
            </a:lvl1pPr>
          </a:lstStyle>
          <a:p>
            <a:r>
              <a:t>Side-on view</a:t>
            </a:r>
          </a:p>
        </p:txBody>
      </p:sp>
      <p:sp>
        <p:nvSpPr>
          <p:cNvPr id="1549" name="Shape 1549"/>
          <p:cNvSpPr/>
          <p:nvPr/>
        </p:nvSpPr>
        <p:spPr>
          <a:xfrm>
            <a:off x="7589727" y="2184400"/>
            <a:ext cx="2413001"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nSpc>
                <a:spcPts val="2100"/>
              </a:lnSpc>
              <a:tabLst>
                <a:tab pos="520700" algn="l"/>
              </a:tabLst>
              <a:defRPr>
                <a:solidFill>
                  <a:srgbClr val="006795"/>
                </a:solidFill>
              </a:defRPr>
            </a:lvl1pPr>
          </a:lstStyle>
          <a:p>
            <a:pPr>
              <a:defRPr sz="2800">
                <a:latin typeface="Hoefler Text"/>
                <a:ea typeface="Hoefler Text"/>
                <a:cs typeface="Hoefler Text"/>
                <a:sym typeface="Hoefler Text"/>
              </a:defRPr>
            </a:pPr>
            <a:r>
              <a:rPr sz="1800">
                <a:latin typeface="+mn-lt"/>
                <a:ea typeface="+mn-ea"/>
                <a:cs typeface="+mn-cs"/>
                <a:sym typeface="Arial"/>
              </a:rPr>
              <a:t>Typical 'tear-drop' shape of an Acheulian biface tool</a:t>
            </a:r>
          </a:p>
        </p:txBody>
      </p:sp>
      <p:pic>
        <p:nvPicPr>
          <p:cNvPr id="1550" name="Acheulian handaxe Richard's-1.png"/>
          <p:cNvPicPr>
            <a:picLocks noChangeAspect="1"/>
          </p:cNvPicPr>
          <p:nvPr/>
        </p:nvPicPr>
        <p:blipFill>
          <a:blip r:embed="rId6">
            <a:extLst/>
          </a:blip>
          <a:stretch>
            <a:fillRect/>
          </a:stretch>
        </p:blipFill>
        <p:spPr>
          <a:xfrm>
            <a:off x="5035550" y="1872826"/>
            <a:ext cx="2921001" cy="5569375"/>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2" name="Shape 1552"/>
          <p:cNvSpPr>
            <a:spLocks noGrp="1"/>
          </p:cNvSpPr>
          <p:nvPr>
            <p:ph type="title"/>
          </p:nvPr>
        </p:nvSpPr>
        <p:spPr>
          <a:prstGeom prst="rect">
            <a:avLst/>
          </a:prstGeom>
        </p:spPr>
        <p:txBody>
          <a:bodyPr/>
          <a:lstStyle>
            <a:lvl1pPr>
              <a:tabLst>
                <a:tab pos="952500" algn="l"/>
              </a:tabLst>
            </a:lvl1pPr>
          </a:lstStyle>
          <a:p>
            <a:r>
              <a:t>Mousterian Tool Culture</a:t>
            </a:r>
          </a:p>
        </p:txBody>
      </p:sp>
      <p:sp>
        <p:nvSpPr>
          <p:cNvPr id="1553" name="Shape 1553"/>
          <p:cNvSpPr>
            <a:spLocks noGrp="1"/>
          </p:cNvSpPr>
          <p:nvPr>
            <p:ph type="body" sz="half" idx="1"/>
          </p:nvPr>
        </p:nvSpPr>
        <p:spPr>
          <a:prstGeom prst="rect">
            <a:avLst/>
          </a:prstGeom>
        </p:spPr>
        <p:txBody>
          <a:bodyPr/>
          <a:lstStyle/>
          <a:p>
            <a:pPr>
              <a:tabLst>
                <a:tab pos="1016000" algn="l"/>
              </a:tabLst>
            </a:pPr>
            <a:r>
              <a:t>First appeared: 150,000 years ago</a:t>
            </a:r>
          </a:p>
          <a:p>
            <a:pPr>
              <a:tabLst>
                <a:tab pos="1016000" algn="l"/>
              </a:tabLst>
            </a:pPr>
            <a:r>
              <a:t>Associated hominin: </a:t>
            </a:r>
            <a:r>
              <a:rPr i="1"/>
              <a:t>Homo neanderthalensis</a:t>
            </a:r>
          </a:p>
          <a:p>
            <a:pPr lvl="1">
              <a:tabLst>
                <a:tab pos="1485900" algn="l"/>
              </a:tabLst>
            </a:pPr>
            <a:r>
              <a:t>More refined tool culture than the</a:t>
            </a:r>
            <a:br/>
            <a:r>
              <a:t>earlier Acheulian tool culture.</a:t>
            </a:r>
          </a:p>
          <a:p>
            <a:pPr lvl="1">
              <a:tabLst>
                <a:tab pos="1485900" algn="l"/>
              </a:tabLst>
            </a:pPr>
            <a:r>
              <a:t>Flint became a preferred material to</a:t>
            </a:r>
            <a:br/>
            <a:r>
              <a:t>produce stone tools because of the</a:t>
            </a:r>
            <a:br/>
            <a:r>
              <a:t>very predictable way in which it would</a:t>
            </a:r>
            <a:br/>
            <a:r>
              <a:t>chip when struck with another hard object</a:t>
            </a:r>
            <a:br/>
            <a:r>
              <a:t>(much finer workmanship was possible).</a:t>
            </a:r>
          </a:p>
          <a:p>
            <a:pPr lvl="1">
              <a:tabLst>
                <a:tab pos="1485900" algn="l"/>
              </a:tabLst>
            </a:pPr>
            <a:r>
              <a:t>The Levallois tool making method</a:t>
            </a:r>
            <a:br/>
            <a:r>
              <a:t>involved preparing a core and striking</a:t>
            </a:r>
            <a:br/>
            <a:r>
              <a:t>off a large oval flake which was then</a:t>
            </a:r>
            <a:br/>
            <a:r>
              <a:t>retouched on one surface only.</a:t>
            </a:r>
          </a:p>
        </p:txBody>
      </p:sp>
      <p:pic>
        <p:nvPicPr>
          <p:cNvPr id="1554" name="Tool Making - Levallois Method.png"/>
          <p:cNvPicPr>
            <a:picLocks noChangeAspect="1"/>
          </p:cNvPicPr>
          <p:nvPr/>
        </p:nvPicPr>
        <p:blipFill>
          <a:blip r:embed="rId2">
            <a:extLst/>
          </a:blip>
          <a:stretch>
            <a:fillRect/>
          </a:stretch>
        </p:blipFill>
        <p:spPr>
          <a:xfrm>
            <a:off x="7366000" y="3922440"/>
            <a:ext cx="4437298" cy="5588000"/>
          </a:xfrm>
          <a:prstGeom prst="rect">
            <a:avLst/>
          </a:prstGeom>
          <a:ln w="25400">
            <a:miter lim="400000"/>
          </a:ln>
        </p:spPr>
      </p:pic>
      <p:sp>
        <p:nvSpPr>
          <p:cNvPr id="1555" name="Shape 1555"/>
          <p:cNvSpPr/>
          <p:nvPr/>
        </p:nvSpPr>
        <p:spPr>
          <a:xfrm>
            <a:off x="9565258" y="6121400"/>
            <a:ext cx="3060701" cy="6985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sz="2000">
                <a:solidFill>
                  <a:srgbClr val="006795"/>
                </a:solidFill>
              </a:defRPr>
            </a:pPr>
            <a:r>
              <a:t>Making a scraper by the </a:t>
            </a:r>
            <a:r>
              <a:rPr b="1"/>
              <a:t>Levallois</a:t>
            </a:r>
            <a:r>
              <a:t> method</a:t>
            </a:r>
          </a:p>
        </p:txBody>
      </p:sp>
      <p:pic>
        <p:nvPicPr>
          <p:cNvPr id="1556" name="Mousterian side scraper Richard's.png"/>
          <p:cNvPicPr>
            <a:picLocks noChangeAspect="1"/>
          </p:cNvPicPr>
          <p:nvPr/>
        </p:nvPicPr>
        <p:blipFill>
          <a:blip r:embed="rId3">
            <a:extLst/>
          </a:blip>
          <a:stretch>
            <a:fillRect/>
          </a:stretch>
        </p:blipFill>
        <p:spPr>
          <a:xfrm>
            <a:off x="9757409" y="581044"/>
            <a:ext cx="2984501" cy="3867112"/>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5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55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55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55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55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55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3" grpId="1" build="p" bldLvl="5" animBg="1" advAuto="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58" name="Mousterian side scraper Richard's.png"/>
          <p:cNvPicPr>
            <a:picLocks noChangeAspect="1"/>
          </p:cNvPicPr>
          <p:nvPr/>
        </p:nvPicPr>
        <p:blipFill>
          <a:blip r:embed="rId2">
            <a:extLst/>
          </a:blip>
          <a:stretch>
            <a:fillRect/>
          </a:stretch>
        </p:blipFill>
        <p:spPr>
          <a:xfrm>
            <a:off x="8210550" y="1619288"/>
            <a:ext cx="4165600" cy="5397501"/>
          </a:xfrm>
          <a:prstGeom prst="rect">
            <a:avLst/>
          </a:prstGeom>
          <a:ln w="12700">
            <a:miter lim="400000"/>
          </a:ln>
        </p:spPr>
      </p:pic>
      <p:sp>
        <p:nvSpPr>
          <p:cNvPr id="1559" name="Shape 1559"/>
          <p:cNvSpPr>
            <a:spLocks noGrp="1"/>
          </p:cNvSpPr>
          <p:nvPr>
            <p:ph type="title"/>
          </p:nvPr>
        </p:nvSpPr>
        <p:spPr>
          <a:prstGeom prst="rect">
            <a:avLst/>
          </a:prstGeom>
        </p:spPr>
        <p:txBody>
          <a:bodyPr/>
          <a:lstStyle>
            <a:lvl1pPr>
              <a:tabLst>
                <a:tab pos="952500" algn="l"/>
              </a:tabLst>
            </a:lvl1pPr>
          </a:lstStyle>
          <a:p>
            <a:r>
              <a:t>Mousterian Tool Culture</a:t>
            </a:r>
          </a:p>
        </p:txBody>
      </p:sp>
      <p:grpSp>
        <p:nvGrpSpPr>
          <p:cNvPr id="1562" name="Group 1562"/>
          <p:cNvGrpSpPr/>
          <p:nvPr/>
        </p:nvGrpSpPr>
        <p:grpSpPr>
          <a:xfrm>
            <a:off x="2743200" y="2006125"/>
            <a:ext cx="4687255" cy="3023075"/>
            <a:chOff x="0" y="0"/>
            <a:chExt cx="4687254" cy="3023074"/>
          </a:xfrm>
        </p:grpSpPr>
        <p:sp>
          <p:nvSpPr>
            <p:cNvPr id="1560" name="Shape 1560"/>
            <p:cNvSpPr/>
            <p:nvPr/>
          </p:nvSpPr>
          <p:spPr>
            <a:xfrm>
              <a:off x="1955800" y="13174"/>
              <a:ext cx="2731455" cy="8815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p>
              <a:pPr>
                <a:lnSpc>
                  <a:spcPts val="2800"/>
                </a:lnSpc>
                <a:tabLst>
                  <a:tab pos="520700" algn="l"/>
                </a:tabLst>
                <a:defRPr sz="2800" b="1">
                  <a:solidFill>
                    <a:srgbClr val="006795"/>
                  </a:solidFill>
                  <a:latin typeface="Hoefler Text"/>
                  <a:ea typeface="Hoefler Text"/>
                  <a:cs typeface="Hoefler Text"/>
                  <a:sym typeface="Hoefler Text"/>
                </a:defRPr>
              </a:pPr>
              <a:r>
                <a:rPr sz="2400">
                  <a:latin typeface="+mn-lt"/>
                  <a:ea typeface="+mn-ea"/>
                  <a:cs typeface="+mn-cs"/>
                  <a:sym typeface="Arial"/>
                </a:rPr>
                <a:t>Side scraper</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from Le Moustier, France</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Flint, length 9cm</a:t>
              </a:r>
            </a:p>
          </p:txBody>
        </p:sp>
        <p:pic>
          <p:nvPicPr>
            <p:cNvPr id="1561" name="Mousterian Tool A.png"/>
            <p:cNvPicPr>
              <a:picLocks noChangeAspect="1"/>
            </p:cNvPicPr>
            <p:nvPr/>
          </p:nvPicPr>
          <p:blipFill>
            <a:blip r:embed="rId3">
              <a:extLst/>
            </a:blip>
            <a:stretch>
              <a:fillRect/>
            </a:stretch>
          </p:blipFill>
          <p:spPr>
            <a:xfrm>
              <a:off x="0" y="0"/>
              <a:ext cx="2286000" cy="3023075"/>
            </a:xfrm>
            <a:prstGeom prst="rect">
              <a:avLst/>
            </a:prstGeom>
            <a:ln w="25400" cap="flat">
              <a:noFill/>
              <a:miter lim="400000"/>
            </a:ln>
            <a:effectLst/>
          </p:spPr>
        </p:pic>
      </p:grpSp>
      <p:grpSp>
        <p:nvGrpSpPr>
          <p:cNvPr id="1565" name="Group 1565"/>
          <p:cNvGrpSpPr/>
          <p:nvPr/>
        </p:nvGrpSpPr>
        <p:grpSpPr>
          <a:xfrm>
            <a:off x="4699000" y="5156200"/>
            <a:ext cx="2731455" cy="3866022"/>
            <a:chOff x="0" y="0"/>
            <a:chExt cx="2731454" cy="3866021"/>
          </a:xfrm>
        </p:grpSpPr>
        <p:sp>
          <p:nvSpPr>
            <p:cNvPr id="1563" name="Shape 1563"/>
            <p:cNvSpPr/>
            <p:nvPr/>
          </p:nvSpPr>
          <p:spPr>
            <a:xfrm>
              <a:off x="0" y="2984500"/>
              <a:ext cx="2731455" cy="8815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p>
              <a:pPr>
                <a:lnSpc>
                  <a:spcPts val="2800"/>
                </a:lnSpc>
                <a:tabLst>
                  <a:tab pos="520700" algn="l"/>
                </a:tabLst>
                <a:defRPr sz="2800" b="1">
                  <a:solidFill>
                    <a:srgbClr val="006795"/>
                  </a:solidFill>
                  <a:latin typeface="Hoefler Text"/>
                  <a:ea typeface="Hoefler Text"/>
                  <a:cs typeface="Hoefler Text"/>
                  <a:sym typeface="Hoefler Text"/>
                </a:defRPr>
              </a:pPr>
              <a:r>
                <a:rPr sz="2400">
                  <a:latin typeface="+mn-lt"/>
                  <a:ea typeface="+mn-ea"/>
                  <a:cs typeface="+mn-cs"/>
                  <a:sym typeface="Arial"/>
                </a:rPr>
                <a:t>Levallois point</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from Le Moustier, France</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Flint, length 6 cm</a:t>
              </a:r>
            </a:p>
          </p:txBody>
        </p:sp>
        <p:pic>
          <p:nvPicPr>
            <p:cNvPr id="1564" name="Mousterian Tool C.png"/>
            <p:cNvPicPr>
              <a:picLocks noChangeAspect="1"/>
            </p:cNvPicPr>
            <p:nvPr/>
          </p:nvPicPr>
          <p:blipFill>
            <a:blip r:embed="rId4">
              <a:extLst/>
            </a:blip>
            <a:stretch>
              <a:fillRect/>
            </a:stretch>
          </p:blipFill>
          <p:spPr>
            <a:xfrm>
              <a:off x="454356" y="0"/>
              <a:ext cx="1859888" cy="2832100"/>
            </a:xfrm>
            <a:prstGeom prst="rect">
              <a:avLst/>
            </a:prstGeom>
            <a:ln w="25400" cap="flat">
              <a:noFill/>
              <a:miter lim="400000"/>
            </a:ln>
            <a:effectLst/>
          </p:spPr>
        </p:pic>
      </p:grpSp>
      <p:grpSp>
        <p:nvGrpSpPr>
          <p:cNvPr id="1568" name="Group 1568"/>
          <p:cNvGrpSpPr/>
          <p:nvPr/>
        </p:nvGrpSpPr>
        <p:grpSpPr>
          <a:xfrm>
            <a:off x="889000" y="5079518"/>
            <a:ext cx="2731455" cy="3942704"/>
            <a:chOff x="0" y="0"/>
            <a:chExt cx="2731454" cy="3942702"/>
          </a:xfrm>
        </p:grpSpPr>
        <p:sp>
          <p:nvSpPr>
            <p:cNvPr id="1566" name="Shape 1566"/>
            <p:cNvSpPr/>
            <p:nvPr/>
          </p:nvSpPr>
          <p:spPr>
            <a:xfrm>
              <a:off x="0" y="3061181"/>
              <a:ext cx="2731455" cy="8815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p>
              <a:pPr>
                <a:lnSpc>
                  <a:spcPts val="2800"/>
                </a:lnSpc>
                <a:tabLst>
                  <a:tab pos="520700" algn="l"/>
                </a:tabLst>
                <a:defRPr sz="2800">
                  <a:solidFill>
                    <a:srgbClr val="006795"/>
                  </a:solidFill>
                  <a:latin typeface="Hoefler Text"/>
                  <a:ea typeface="Hoefler Text"/>
                  <a:cs typeface="Hoefler Text"/>
                  <a:sym typeface="Hoefler Text"/>
                </a:defRPr>
              </a:pPr>
              <a:r>
                <a:rPr sz="2400" b="1">
                  <a:latin typeface="+mn-lt"/>
                  <a:ea typeface="+mn-ea"/>
                  <a:cs typeface="+mn-cs"/>
                  <a:sym typeface="Arial"/>
                </a:rPr>
                <a:t>Handaxe</a:t>
              </a:r>
              <a:r>
                <a:rPr sz="2400">
                  <a:latin typeface="+mn-lt"/>
                  <a:ea typeface="+mn-ea"/>
                  <a:cs typeface="+mn-cs"/>
                  <a:sym typeface="Arial"/>
                </a:rPr>
                <a:t> </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from Le Moustier, France</a:t>
              </a:r>
            </a:p>
            <a:p>
              <a:pP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Flint, length 8.5 cm</a:t>
              </a:r>
            </a:p>
          </p:txBody>
        </p:sp>
        <p:pic>
          <p:nvPicPr>
            <p:cNvPr id="1567" name="Mousterian Tool E.png"/>
            <p:cNvPicPr>
              <a:picLocks noChangeAspect="1"/>
            </p:cNvPicPr>
            <p:nvPr/>
          </p:nvPicPr>
          <p:blipFill>
            <a:blip r:embed="rId5">
              <a:extLst/>
            </a:blip>
            <a:stretch>
              <a:fillRect/>
            </a:stretch>
          </p:blipFill>
          <p:spPr>
            <a:xfrm>
              <a:off x="215900" y="0"/>
              <a:ext cx="2324100" cy="2984982"/>
            </a:xfrm>
            <a:prstGeom prst="rect">
              <a:avLst/>
            </a:prstGeom>
            <a:ln w="25400" cap="flat">
              <a:noFill/>
              <a:miter lim="400000"/>
            </a:ln>
            <a:effectLst/>
          </p:spPr>
        </p:pic>
      </p:grpSp>
      <p:grpSp>
        <p:nvGrpSpPr>
          <p:cNvPr id="1571" name="Group 1571"/>
          <p:cNvGrpSpPr/>
          <p:nvPr/>
        </p:nvGrpSpPr>
        <p:grpSpPr>
          <a:xfrm>
            <a:off x="8724900" y="5346272"/>
            <a:ext cx="3911600" cy="3116319"/>
            <a:chOff x="0" y="0"/>
            <a:chExt cx="3911600" cy="3116318"/>
          </a:xfrm>
        </p:grpSpPr>
        <p:sp>
          <p:nvSpPr>
            <p:cNvPr id="1569" name="Shape 1569"/>
            <p:cNvSpPr/>
            <p:nvPr/>
          </p:nvSpPr>
          <p:spPr>
            <a:xfrm>
              <a:off x="0" y="2248327"/>
              <a:ext cx="3911600" cy="86799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nSpc>
                  <a:spcPts val="2400"/>
                </a:lnSpc>
                <a:tabLst>
                  <a:tab pos="520700" algn="l"/>
                </a:tabLst>
                <a:defRPr sz="2000">
                  <a:solidFill>
                    <a:srgbClr val="006795"/>
                  </a:solidFill>
                </a:defRPr>
              </a:pPr>
              <a:r>
                <a:t>The scraper made by the  </a:t>
              </a:r>
              <a:r>
                <a:rPr b="1"/>
                <a:t>Levallois</a:t>
              </a:r>
              <a:r>
                <a:t> flake method is retouched on one surface.</a:t>
              </a:r>
            </a:p>
          </p:txBody>
        </p:sp>
        <p:sp>
          <p:nvSpPr>
            <p:cNvPr id="1570" name="Shape 1570"/>
            <p:cNvSpPr/>
            <p:nvPr/>
          </p:nvSpPr>
          <p:spPr>
            <a:xfrm flipV="1">
              <a:off x="1940586" y="0"/>
              <a:ext cx="1" cy="2146851"/>
            </a:xfrm>
            <a:prstGeom prst="line">
              <a:avLst/>
            </a:prstGeom>
            <a:noFill/>
            <a:ln w="25400" cap="flat">
              <a:solidFill>
                <a:srgbClr val="006795"/>
              </a:solidFill>
              <a:prstDash val="solid"/>
              <a:miter lim="400000"/>
              <a:tail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56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5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56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15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2" grpId="1" animBg="1" advAuto="0"/>
      <p:bldP spid="1565" grpId="3" animBg="1" advAuto="0"/>
      <p:bldP spid="1568" grpId="2" animBg="1" advAuto="0"/>
      <p:bldP spid="1571" grpId="4" animBg="1" advAuto="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 name="Shape 1573"/>
          <p:cNvSpPr>
            <a:spLocks noGrp="1"/>
          </p:cNvSpPr>
          <p:nvPr>
            <p:ph type="title"/>
          </p:nvPr>
        </p:nvSpPr>
        <p:spPr>
          <a:xfrm>
            <a:off x="386079" y="368300"/>
            <a:ext cx="7628931" cy="1661508"/>
          </a:xfrm>
          <a:prstGeom prst="rect">
            <a:avLst/>
          </a:prstGeom>
        </p:spPr>
        <p:txBody>
          <a:bodyPr/>
          <a:lstStyle>
            <a:lvl1pPr>
              <a:tabLst>
                <a:tab pos="952500" algn="l"/>
              </a:tabLst>
            </a:lvl1pPr>
          </a:lstStyle>
          <a:p>
            <a:r>
              <a:t>Upper Palaeolithic Tool Culture	</a:t>
            </a:r>
          </a:p>
        </p:txBody>
      </p:sp>
      <p:sp>
        <p:nvSpPr>
          <p:cNvPr id="1574" name="Shape 1574"/>
          <p:cNvSpPr/>
          <p:nvPr/>
        </p:nvSpPr>
        <p:spPr>
          <a:xfrm>
            <a:off x="8422788" y="482600"/>
            <a:ext cx="3721101" cy="39476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3300"/>
              </a:lnSpc>
              <a:tabLst>
                <a:tab pos="520700" algn="l"/>
              </a:tabLst>
              <a:defRPr sz="2800" b="1">
                <a:solidFill>
                  <a:srgbClr val="006795"/>
                </a:solidFill>
              </a:defRPr>
            </a:lvl1pPr>
          </a:lstStyle>
          <a:p>
            <a:r>
              <a:t>Punch blade method</a:t>
            </a:r>
          </a:p>
        </p:txBody>
      </p:sp>
      <p:pic>
        <p:nvPicPr>
          <p:cNvPr id="1575" name="Tool Making - Punch Blade.png"/>
          <p:cNvPicPr>
            <a:picLocks noChangeAspect="1"/>
          </p:cNvPicPr>
          <p:nvPr/>
        </p:nvPicPr>
        <p:blipFill>
          <a:blip r:embed="rId2">
            <a:extLst/>
          </a:blip>
          <a:stretch>
            <a:fillRect/>
          </a:stretch>
        </p:blipFill>
        <p:spPr>
          <a:xfrm>
            <a:off x="6999985" y="1273735"/>
            <a:ext cx="5524501" cy="8124265"/>
          </a:xfrm>
          <a:prstGeom prst="rect">
            <a:avLst/>
          </a:prstGeom>
          <a:ln w="25400">
            <a:miter lim="400000"/>
          </a:ln>
        </p:spPr>
      </p:pic>
      <p:pic>
        <p:nvPicPr>
          <p:cNvPr id="1576" name="End Scraper.png"/>
          <p:cNvPicPr>
            <a:picLocks noChangeAspect="1"/>
          </p:cNvPicPr>
          <p:nvPr/>
        </p:nvPicPr>
        <p:blipFill>
          <a:blip r:embed="rId3">
            <a:extLst/>
          </a:blip>
          <a:stretch>
            <a:fillRect/>
          </a:stretch>
        </p:blipFill>
        <p:spPr>
          <a:xfrm rot="2234092">
            <a:off x="1751021" y="3443070"/>
            <a:ext cx="1033453" cy="3352801"/>
          </a:xfrm>
          <a:prstGeom prst="rect">
            <a:avLst/>
          </a:prstGeom>
          <a:ln w="25400">
            <a:miter lim="400000"/>
          </a:ln>
        </p:spPr>
      </p:pic>
      <p:sp>
        <p:nvSpPr>
          <p:cNvPr id="1577" name="Shape 1577"/>
          <p:cNvSpPr/>
          <p:nvPr/>
        </p:nvSpPr>
        <p:spPr>
          <a:xfrm>
            <a:off x="5123299" y="3352800"/>
            <a:ext cx="2109280"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nSpc>
                <a:spcPts val="2100"/>
              </a:lnSpc>
              <a:tabLst>
                <a:tab pos="520700" algn="l"/>
              </a:tabLst>
              <a:defRPr>
                <a:solidFill>
                  <a:srgbClr val="006795"/>
                </a:solidFill>
              </a:defRPr>
            </a:pPr>
            <a:r>
              <a:rPr b="1"/>
              <a:t>Solutrean blade</a:t>
            </a:r>
          </a:p>
          <a:p>
            <a:pPr>
              <a:lnSpc>
                <a:spcPts val="2100"/>
              </a:lnSpc>
              <a:tabLst>
                <a:tab pos="520700" algn="l"/>
              </a:tabLst>
              <a:defRPr>
                <a:solidFill>
                  <a:srgbClr val="006795"/>
                </a:solidFill>
              </a:defRPr>
            </a:pPr>
            <a:r>
              <a:t>Finely worked edge</a:t>
            </a:r>
          </a:p>
        </p:txBody>
      </p:sp>
      <p:sp>
        <p:nvSpPr>
          <p:cNvPr id="1578" name="Shape 1578"/>
          <p:cNvSpPr/>
          <p:nvPr/>
        </p:nvSpPr>
        <p:spPr>
          <a:xfrm>
            <a:off x="1294011" y="8661400"/>
            <a:ext cx="1537445" cy="5259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100"/>
              </a:lnSpc>
              <a:tabLst>
                <a:tab pos="520700" algn="l"/>
              </a:tabLst>
              <a:defRPr sz="2800">
                <a:solidFill>
                  <a:srgbClr val="006795"/>
                </a:solidFill>
                <a:latin typeface="Hoefler Text"/>
                <a:ea typeface="Hoefler Text"/>
                <a:cs typeface="Hoefler Text"/>
                <a:sym typeface="Hoefler Text"/>
              </a:defRPr>
            </a:pPr>
            <a:r>
              <a:rPr sz="1800" b="1">
                <a:latin typeface="+mn-lt"/>
                <a:ea typeface="+mn-ea"/>
                <a:cs typeface="+mn-cs"/>
                <a:sym typeface="Arial"/>
              </a:rPr>
              <a:t>Burin</a:t>
            </a:r>
            <a:endParaRPr sz="1800">
              <a:latin typeface="+mn-lt"/>
              <a:ea typeface="+mn-ea"/>
              <a:cs typeface="+mn-cs"/>
              <a:sym typeface="Arial"/>
            </a:endParaRPr>
          </a:p>
          <a:p>
            <a:pPr algn="ct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used as a drill</a:t>
            </a:r>
          </a:p>
        </p:txBody>
      </p:sp>
      <p:sp>
        <p:nvSpPr>
          <p:cNvPr id="1579" name="Shape 1579"/>
          <p:cNvSpPr/>
          <p:nvPr/>
        </p:nvSpPr>
        <p:spPr>
          <a:xfrm>
            <a:off x="666587" y="4102100"/>
            <a:ext cx="1499382"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006795"/>
                </a:solidFill>
              </a:defRPr>
            </a:lvl1pPr>
          </a:lstStyle>
          <a:p>
            <a:pPr>
              <a:defRPr b="0"/>
            </a:pPr>
            <a:r>
              <a:rPr b="1"/>
              <a:t>Side scraper</a:t>
            </a:r>
          </a:p>
        </p:txBody>
      </p:sp>
      <p:pic>
        <p:nvPicPr>
          <p:cNvPr id="1580" name="Soultrean.png"/>
          <p:cNvPicPr>
            <a:picLocks noChangeAspect="1"/>
          </p:cNvPicPr>
          <p:nvPr/>
        </p:nvPicPr>
        <p:blipFill>
          <a:blip r:embed="rId4">
            <a:extLst/>
          </a:blip>
          <a:stretch>
            <a:fillRect/>
          </a:stretch>
        </p:blipFill>
        <p:spPr>
          <a:xfrm rot="20864114">
            <a:off x="4195982" y="3207880"/>
            <a:ext cx="1538474" cy="6197602"/>
          </a:xfrm>
          <a:prstGeom prst="rect">
            <a:avLst/>
          </a:prstGeom>
          <a:ln w="25400">
            <a:miter lim="400000"/>
          </a:ln>
        </p:spPr>
      </p:pic>
      <p:pic>
        <p:nvPicPr>
          <p:cNvPr id="1581" name="Burin Chisel.png"/>
          <p:cNvPicPr>
            <a:picLocks noChangeAspect="1"/>
          </p:cNvPicPr>
          <p:nvPr/>
        </p:nvPicPr>
        <p:blipFill>
          <a:blip r:embed="rId5">
            <a:extLst/>
          </a:blip>
          <a:stretch>
            <a:fillRect/>
          </a:stretch>
        </p:blipFill>
        <p:spPr>
          <a:xfrm>
            <a:off x="2578043" y="5607307"/>
            <a:ext cx="1143114" cy="3746501"/>
          </a:xfrm>
          <a:prstGeom prst="rect">
            <a:avLst/>
          </a:prstGeom>
          <a:ln w="25400">
            <a:miter lim="400000"/>
          </a:ln>
        </p:spPr>
      </p:pic>
      <p:pic>
        <p:nvPicPr>
          <p:cNvPr id="1582" name="Micro Burin Drill.png"/>
          <p:cNvPicPr>
            <a:picLocks noChangeAspect="1"/>
          </p:cNvPicPr>
          <p:nvPr/>
        </p:nvPicPr>
        <p:blipFill>
          <a:blip r:embed="rId6">
            <a:extLst/>
          </a:blip>
          <a:stretch>
            <a:fillRect/>
          </a:stretch>
        </p:blipFill>
        <p:spPr>
          <a:xfrm rot="10800000">
            <a:off x="825500" y="7353300"/>
            <a:ext cx="767081" cy="1917700"/>
          </a:xfrm>
          <a:prstGeom prst="rect">
            <a:avLst/>
          </a:prstGeom>
          <a:ln w="25400">
            <a:miter lim="400000"/>
          </a:ln>
        </p:spPr>
      </p:pic>
      <p:grpSp>
        <p:nvGrpSpPr>
          <p:cNvPr id="1585" name="Group 1585"/>
          <p:cNvGrpSpPr/>
          <p:nvPr/>
        </p:nvGrpSpPr>
        <p:grpSpPr>
          <a:xfrm>
            <a:off x="8169483" y="1473200"/>
            <a:ext cx="1863517" cy="723901"/>
            <a:chOff x="0" y="0"/>
            <a:chExt cx="1863516" cy="723900"/>
          </a:xfrm>
        </p:grpSpPr>
        <p:sp>
          <p:nvSpPr>
            <p:cNvPr id="1583" name="Shape 1583"/>
            <p:cNvSpPr/>
            <p:nvPr/>
          </p:nvSpPr>
          <p:spPr>
            <a:xfrm>
              <a:off x="0" y="0"/>
              <a:ext cx="1054100"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gn="ctr">
                <a:lnSpc>
                  <a:spcPts val="2100"/>
                </a:lnSpc>
                <a:tabLst>
                  <a:tab pos="520700" algn="l"/>
                </a:tabLst>
                <a:defRPr b="1">
                  <a:solidFill>
                    <a:srgbClr val="006795"/>
                  </a:solidFill>
                </a:defRPr>
              </a:lvl1pPr>
            </a:lstStyle>
            <a:p>
              <a:r>
                <a:t>Hammer stone</a:t>
              </a:r>
            </a:p>
          </p:txBody>
        </p:sp>
        <p:sp>
          <p:nvSpPr>
            <p:cNvPr id="1584" name="Shape 1584"/>
            <p:cNvSpPr/>
            <p:nvPr/>
          </p:nvSpPr>
          <p:spPr>
            <a:xfrm flipH="1" flipV="1">
              <a:off x="961816" y="304800"/>
              <a:ext cx="901701" cy="41910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588" name="Group 1588"/>
          <p:cNvGrpSpPr/>
          <p:nvPr/>
        </p:nvGrpSpPr>
        <p:grpSpPr>
          <a:xfrm>
            <a:off x="10210800" y="3136900"/>
            <a:ext cx="1846039" cy="660400"/>
            <a:chOff x="0" y="0"/>
            <a:chExt cx="1846038" cy="660400"/>
          </a:xfrm>
        </p:grpSpPr>
        <p:sp>
          <p:nvSpPr>
            <p:cNvPr id="1586" name="Shape 1586"/>
            <p:cNvSpPr/>
            <p:nvPr/>
          </p:nvSpPr>
          <p:spPr>
            <a:xfrm>
              <a:off x="385538" y="0"/>
              <a:ext cx="1460501"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100"/>
                </a:lnSpc>
                <a:tabLst>
                  <a:tab pos="520700" algn="l"/>
                </a:tabLst>
                <a:defRPr b="1">
                  <a:solidFill>
                    <a:srgbClr val="006795"/>
                  </a:solidFill>
                </a:defRPr>
              </a:lvl1pPr>
            </a:lstStyle>
            <a:p>
              <a:r>
                <a:t>Antler or bone punch</a:t>
              </a:r>
            </a:p>
          </p:txBody>
        </p:sp>
        <p:sp>
          <p:nvSpPr>
            <p:cNvPr id="1587" name="Shape 1587"/>
            <p:cNvSpPr/>
            <p:nvPr/>
          </p:nvSpPr>
          <p:spPr>
            <a:xfrm flipV="1">
              <a:off x="0" y="304800"/>
              <a:ext cx="431800" cy="355600"/>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591" name="Group 1591"/>
          <p:cNvGrpSpPr/>
          <p:nvPr/>
        </p:nvGrpSpPr>
        <p:grpSpPr>
          <a:xfrm>
            <a:off x="10502900" y="5816600"/>
            <a:ext cx="1267967" cy="259222"/>
            <a:chOff x="0" y="0"/>
            <a:chExt cx="1267966" cy="259221"/>
          </a:xfrm>
        </p:grpSpPr>
        <p:sp>
          <p:nvSpPr>
            <p:cNvPr id="1589" name="Shape 1589"/>
            <p:cNvSpPr/>
            <p:nvPr/>
          </p:nvSpPr>
          <p:spPr>
            <a:xfrm>
              <a:off x="620141" y="0"/>
              <a:ext cx="647826"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100"/>
                </a:lnSpc>
                <a:tabLst>
                  <a:tab pos="520700" algn="l"/>
                </a:tabLst>
                <a:defRPr b="1">
                  <a:solidFill>
                    <a:srgbClr val="006795"/>
                  </a:solidFill>
                </a:defRPr>
              </a:lvl1pPr>
            </a:lstStyle>
            <a:p>
              <a:r>
                <a:t>Core</a:t>
              </a:r>
            </a:p>
          </p:txBody>
        </p:sp>
        <p:sp>
          <p:nvSpPr>
            <p:cNvPr id="1590" name="Shape 1590"/>
            <p:cNvSpPr/>
            <p:nvPr/>
          </p:nvSpPr>
          <p:spPr>
            <a:xfrm>
              <a:off x="0" y="127000"/>
              <a:ext cx="622430" cy="127"/>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594" name="Group 1594"/>
          <p:cNvGrpSpPr/>
          <p:nvPr/>
        </p:nvGrpSpPr>
        <p:grpSpPr>
          <a:xfrm>
            <a:off x="10706100" y="6629400"/>
            <a:ext cx="1807996" cy="508000"/>
            <a:chOff x="0" y="0"/>
            <a:chExt cx="1807995" cy="508000"/>
          </a:xfrm>
        </p:grpSpPr>
        <p:sp>
          <p:nvSpPr>
            <p:cNvPr id="1592" name="Shape 1592"/>
            <p:cNvSpPr/>
            <p:nvPr/>
          </p:nvSpPr>
          <p:spPr>
            <a:xfrm>
              <a:off x="448921" y="0"/>
              <a:ext cx="1359075" cy="259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0" tIns="0" rIns="0" bIns="0" numCol="1" anchor="t">
              <a:spAutoFit/>
            </a:bodyPr>
            <a:lstStyle>
              <a:lvl1pPr algn="ctr">
                <a:lnSpc>
                  <a:spcPts val="2100"/>
                </a:lnSpc>
                <a:tabLst>
                  <a:tab pos="520700" algn="l"/>
                </a:tabLst>
                <a:defRPr b="1">
                  <a:solidFill>
                    <a:srgbClr val="006795"/>
                  </a:solidFill>
                </a:defRPr>
              </a:lvl1pPr>
            </a:lstStyle>
            <a:p>
              <a:r>
                <a:t>Anvil stone</a:t>
              </a:r>
            </a:p>
          </p:txBody>
        </p:sp>
        <p:sp>
          <p:nvSpPr>
            <p:cNvPr id="1593" name="Shape 1593"/>
            <p:cNvSpPr/>
            <p:nvPr/>
          </p:nvSpPr>
          <p:spPr>
            <a:xfrm flipV="1">
              <a:off x="0" y="152399"/>
              <a:ext cx="482600" cy="35560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grpSp>
        <p:nvGrpSpPr>
          <p:cNvPr id="1598" name="Group 1598"/>
          <p:cNvGrpSpPr/>
          <p:nvPr/>
        </p:nvGrpSpPr>
        <p:grpSpPr>
          <a:xfrm>
            <a:off x="7266716" y="8064500"/>
            <a:ext cx="2309084" cy="1122822"/>
            <a:chOff x="0" y="0"/>
            <a:chExt cx="2309083" cy="1122821"/>
          </a:xfrm>
        </p:grpSpPr>
        <p:sp>
          <p:nvSpPr>
            <p:cNvPr id="1595" name="Shape 1595"/>
            <p:cNvSpPr/>
            <p:nvPr/>
          </p:nvSpPr>
          <p:spPr>
            <a:xfrm>
              <a:off x="0" y="596900"/>
              <a:ext cx="1524000" cy="5259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a:lnSpc>
                  <a:spcPts val="2100"/>
                </a:lnSpc>
                <a:tabLst>
                  <a:tab pos="520700" algn="l"/>
                </a:tabLst>
                <a:defRPr b="1">
                  <a:solidFill>
                    <a:srgbClr val="006795"/>
                  </a:solidFill>
                </a:defRPr>
              </a:lvl1pPr>
            </a:lstStyle>
            <a:p>
              <a:r>
                <a:t>Blades and waste flakes</a:t>
              </a:r>
            </a:p>
          </p:txBody>
        </p:sp>
        <p:sp>
          <p:nvSpPr>
            <p:cNvPr id="1596" name="Shape 1596"/>
            <p:cNvSpPr/>
            <p:nvPr/>
          </p:nvSpPr>
          <p:spPr>
            <a:xfrm flipH="1">
              <a:off x="1407383" y="0"/>
              <a:ext cx="127001" cy="736600"/>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597" name="Shape 1597"/>
            <p:cNvSpPr/>
            <p:nvPr/>
          </p:nvSpPr>
          <p:spPr>
            <a:xfrm flipH="1" flipV="1">
              <a:off x="1420083" y="736599"/>
              <a:ext cx="889001" cy="25400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0" name="Shape 1600"/>
          <p:cNvSpPr>
            <a:spLocks noGrp="1"/>
          </p:cNvSpPr>
          <p:nvPr>
            <p:ph type="title"/>
          </p:nvPr>
        </p:nvSpPr>
        <p:spPr>
          <a:xfrm>
            <a:off x="386079" y="368300"/>
            <a:ext cx="7650561" cy="1634223"/>
          </a:xfrm>
          <a:prstGeom prst="rect">
            <a:avLst/>
          </a:prstGeom>
        </p:spPr>
        <p:txBody>
          <a:bodyPr/>
          <a:lstStyle>
            <a:lvl1pPr>
              <a:tabLst>
                <a:tab pos="952500" algn="l"/>
              </a:tabLst>
            </a:lvl1pPr>
          </a:lstStyle>
          <a:p>
            <a:r>
              <a:t>Upper Palaeolithic Tool Culture	</a:t>
            </a:r>
          </a:p>
        </p:txBody>
      </p:sp>
      <p:sp>
        <p:nvSpPr>
          <p:cNvPr id="1601" name="Shape 1601"/>
          <p:cNvSpPr>
            <a:spLocks noGrp="1"/>
          </p:cNvSpPr>
          <p:nvPr>
            <p:ph type="body" sz="quarter" idx="1"/>
          </p:nvPr>
        </p:nvSpPr>
        <p:spPr>
          <a:xfrm>
            <a:off x="368300" y="2427634"/>
            <a:ext cx="5946875" cy="2669333"/>
          </a:xfrm>
          <a:prstGeom prst="rect">
            <a:avLst/>
          </a:prstGeom>
        </p:spPr>
        <p:txBody>
          <a:bodyPr/>
          <a:lstStyle/>
          <a:p>
            <a:pPr>
              <a:tabLst>
                <a:tab pos="1016000" algn="l"/>
              </a:tabLst>
            </a:pPr>
            <a:r>
              <a:t>Throwing sticks were a major development in the arsenal of the Palaeolithic hunter.</a:t>
            </a:r>
          </a:p>
          <a:p>
            <a:pPr>
              <a:tabLst>
                <a:tab pos="1016000" algn="l"/>
              </a:tabLst>
            </a:pPr>
            <a:r>
              <a:t>They drastically increased the ballistic range of the spear and tipped the balance in favour of the hunter.</a:t>
            </a:r>
          </a:p>
        </p:txBody>
      </p:sp>
      <p:sp>
        <p:nvSpPr>
          <p:cNvPr id="1602" name="Shape 1602"/>
          <p:cNvSpPr/>
          <p:nvPr/>
        </p:nvSpPr>
        <p:spPr>
          <a:xfrm>
            <a:off x="3848183" y="7988300"/>
            <a:ext cx="1740038"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006795"/>
                </a:solidFill>
              </a:defRPr>
            </a:lvl1pPr>
          </a:lstStyle>
          <a:p>
            <a:pPr>
              <a:defRPr b="0"/>
            </a:pPr>
            <a:r>
              <a:rPr b="1"/>
              <a:t>Throwing stick</a:t>
            </a:r>
          </a:p>
        </p:txBody>
      </p:sp>
      <p:sp>
        <p:nvSpPr>
          <p:cNvPr id="1603" name="Shape 1603"/>
          <p:cNvSpPr/>
          <p:nvPr/>
        </p:nvSpPr>
        <p:spPr>
          <a:xfrm>
            <a:off x="7742729" y="5816600"/>
            <a:ext cx="1486211"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006795"/>
                </a:solidFill>
              </a:defRPr>
            </a:lvl1pPr>
          </a:lstStyle>
          <a:p>
            <a:pPr>
              <a:defRPr b="0"/>
            </a:pPr>
            <a:r>
              <a:rPr b="1"/>
              <a:t>Bone needle</a:t>
            </a:r>
          </a:p>
        </p:txBody>
      </p:sp>
      <p:pic>
        <p:nvPicPr>
          <p:cNvPr id="1604" name="Spear Thrower.png"/>
          <p:cNvPicPr>
            <a:picLocks noChangeAspect="1"/>
          </p:cNvPicPr>
          <p:nvPr/>
        </p:nvPicPr>
        <p:blipFill>
          <a:blip r:embed="rId2">
            <a:extLst/>
          </a:blip>
          <a:stretch>
            <a:fillRect/>
          </a:stretch>
        </p:blipFill>
        <p:spPr>
          <a:xfrm>
            <a:off x="825500" y="8153400"/>
            <a:ext cx="8890000" cy="1066800"/>
          </a:xfrm>
          <a:prstGeom prst="rect">
            <a:avLst/>
          </a:prstGeom>
          <a:ln w="12700">
            <a:miter lim="400000"/>
          </a:ln>
        </p:spPr>
      </p:pic>
      <p:pic>
        <p:nvPicPr>
          <p:cNvPr id="1605" name="Throwing Stick.png"/>
          <p:cNvPicPr>
            <a:picLocks noChangeAspect="1"/>
          </p:cNvPicPr>
          <p:nvPr/>
        </p:nvPicPr>
        <p:blipFill>
          <a:blip r:embed="rId3">
            <a:extLst/>
          </a:blip>
          <a:stretch>
            <a:fillRect/>
          </a:stretch>
        </p:blipFill>
        <p:spPr>
          <a:xfrm>
            <a:off x="749300" y="6160506"/>
            <a:ext cx="7494041" cy="1739901"/>
          </a:xfrm>
          <a:prstGeom prst="rect">
            <a:avLst/>
          </a:prstGeom>
          <a:ln w="12700">
            <a:miter lim="400000"/>
          </a:ln>
        </p:spPr>
      </p:pic>
      <p:pic>
        <p:nvPicPr>
          <p:cNvPr id="1606" name="Harpoon Head 1.png"/>
          <p:cNvPicPr>
            <a:picLocks noChangeAspect="1"/>
          </p:cNvPicPr>
          <p:nvPr/>
        </p:nvPicPr>
        <p:blipFill>
          <a:blip r:embed="rId4">
            <a:extLst/>
          </a:blip>
          <a:stretch>
            <a:fillRect/>
          </a:stretch>
        </p:blipFill>
        <p:spPr>
          <a:xfrm>
            <a:off x="10679768" y="1071562"/>
            <a:ext cx="395563" cy="7416801"/>
          </a:xfrm>
          <a:prstGeom prst="rect">
            <a:avLst/>
          </a:prstGeom>
          <a:ln w="12700">
            <a:miter lim="400000"/>
          </a:ln>
        </p:spPr>
      </p:pic>
      <p:pic>
        <p:nvPicPr>
          <p:cNvPr id="1607" name="Harpoon Heads.png"/>
          <p:cNvPicPr>
            <a:picLocks noChangeAspect="1"/>
          </p:cNvPicPr>
          <p:nvPr/>
        </p:nvPicPr>
        <p:blipFill>
          <a:blip r:embed="rId5">
            <a:extLst/>
          </a:blip>
          <a:stretch>
            <a:fillRect/>
          </a:stretch>
        </p:blipFill>
        <p:spPr>
          <a:xfrm>
            <a:off x="11518900" y="1423091"/>
            <a:ext cx="1041400" cy="7021718"/>
          </a:xfrm>
          <a:prstGeom prst="rect">
            <a:avLst/>
          </a:prstGeom>
          <a:ln w="12700">
            <a:miter lim="400000"/>
          </a:ln>
        </p:spPr>
      </p:pic>
      <p:sp>
        <p:nvSpPr>
          <p:cNvPr id="1608" name="Shape 1608"/>
          <p:cNvSpPr/>
          <p:nvPr/>
        </p:nvSpPr>
        <p:spPr>
          <a:xfrm>
            <a:off x="10198251" y="8699500"/>
            <a:ext cx="2578101" cy="5259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100"/>
              </a:lnSpc>
              <a:tabLst>
                <a:tab pos="520700" algn="l"/>
              </a:tabLst>
              <a:defRPr b="1">
                <a:solidFill>
                  <a:srgbClr val="006795"/>
                </a:solidFill>
              </a:defRPr>
            </a:lvl1pPr>
          </a:lstStyle>
          <a:p>
            <a:pPr>
              <a:defRPr b="0"/>
            </a:pPr>
            <a:r>
              <a:rPr b="1"/>
              <a:t>Harpoon heads made from bone or antler</a:t>
            </a:r>
          </a:p>
        </p:txBody>
      </p:sp>
      <p:pic>
        <p:nvPicPr>
          <p:cNvPr id="1609" name="Bone Needle.png"/>
          <p:cNvPicPr>
            <a:picLocks noChangeAspect="1"/>
          </p:cNvPicPr>
          <p:nvPr/>
        </p:nvPicPr>
        <p:blipFill>
          <a:blip r:embed="rId6">
            <a:extLst/>
          </a:blip>
          <a:stretch>
            <a:fillRect/>
          </a:stretch>
        </p:blipFill>
        <p:spPr>
          <a:xfrm>
            <a:off x="6629400" y="6197600"/>
            <a:ext cx="3721100" cy="228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0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0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0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1" grpId="1" build="p" bldLvl="5" animBg="1" advAuto="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1" name="Shape 1611"/>
          <p:cNvSpPr>
            <a:spLocks noGrp="1"/>
          </p:cNvSpPr>
          <p:nvPr>
            <p:ph type="title"/>
          </p:nvPr>
        </p:nvSpPr>
        <p:spPr>
          <a:prstGeom prst="rect">
            <a:avLst/>
          </a:prstGeom>
        </p:spPr>
        <p:txBody>
          <a:bodyPr/>
          <a:lstStyle>
            <a:lvl1pPr>
              <a:tabLst>
                <a:tab pos="952500" algn="l"/>
              </a:tabLst>
            </a:lvl1pPr>
          </a:lstStyle>
          <a:p>
            <a:r>
              <a:t>Use of Fire</a:t>
            </a:r>
          </a:p>
        </p:txBody>
      </p:sp>
      <p:sp>
        <p:nvSpPr>
          <p:cNvPr id="1612" name="Shape 1612"/>
          <p:cNvSpPr>
            <a:spLocks noGrp="1"/>
          </p:cNvSpPr>
          <p:nvPr>
            <p:ph type="body" sz="half" idx="1"/>
          </p:nvPr>
        </p:nvSpPr>
        <p:spPr>
          <a:xfrm>
            <a:off x="368300" y="1790700"/>
            <a:ext cx="5956300" cy="4833690"/>
          </a:xfrm>
          <a:prstGeom prst="rect">
            <a:avLst/>
          </a:prstGeom>
        </p:spPr>
        <p:txBody>
          <a:bodyPr/>
          <a:lstStyle/>
          <a:p>
            <a:pPr>
              <a:tabLst>
                <a:tab pos="1016000" algn="l"/>
              </a:tabLst>
            </a:pPr>
            <a:r>
              <a:t>The earliest record of humans using fire:</a:t>
            </a:r>
          </a:p>
          <a:p>
            <a:pPr lvl="1">
              <a:tabLst>
                <a:tab pos="1485900" algn="l"/>
              </a:tabLst>
            </a:pPr>
            <a:r>
              <a:t>Africa: 1.5 mya (although this date is disputed)</a:t>
            </a:r>
          </a:p>
          <a:p>
            <a:pPr lvl="1">
              <a:tabLst>
                <a:tab pos="1485900" algn="l"/>
              </a:tabLst>
            </a:pPr>
            <a:r>
              <a:t>France: 750,000 years ago</a:t>
            </a:r>
          </a:p>
          <a:p>
            <a:pPr lvl="1">
              <a:tabLst>
                <a:tab pos="1485900" algn="l"/>
              </a:tabLst>
            </a:pPr>
            <a:r>
              <a:t>China: 500,000 years ago</a:t>
            </a:r>
          </a:p>
          <a:p>
            <a:pPr>
              <a:tabLst>
                <a:tab pos="1016000" algn="l"/>
              </a:tabLst>
            </a:pPr>
            <a:r>
              <a:t>At first, fire may have been ‘captured’ from natural sources, such as bush fires caused by lightning.</a:t>
            </a:r>
          </a:p>
          <a:p>
            <a:pPr>
              <a:tabLst>
                <a:tab pos="1016000" algn="l"/>
              </a:tabLst>
            </a:pPr>
            <a:r>
              <a:t>Later, humans developed techniques</a:t>
            </a:r>
            <a:br/>
            <a:r>
              <a:t>to create fire on demand.</a:t>
            </a:r>
          </a:p>
        </p:txBody>
      </p:sp>
      <p:pic>
        <p:nvPicPr>
          <p:cNvPr id="1613" name="making fire 3a.png"/>
          <p:cNvPicPr>
            <a:picLocks noChangeAspect="1"/>
          </p:cNvPicPr>
          <p:nvPr/>
        </p:nvPicPr>
        <p:blipFill>
          <a:blip r:embed="rId2">
            <a:extLst/>
          </a:blip>
          <a:stretch>
            <a:fillRect/>
          </a:stretch>
        </p:blipFill>
        <p:spPr>
          <a:xfrm>
            <a:off x="7269480" y="2695729"/>
            <a:ext cx="5207001" cy="6324601"/>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1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1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1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1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61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61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6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2" grpId="1" build="p" bldLvl="5" animBg="1" advAuto="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5" name="Shape 1615"/>
          <p:cNvSpPr>
            <a:spLocks noGrp="1"/>
          </p:cNvSpPr>
          <p:nvPr>
            <p:ph type="title"/>
          </p:nvPr>
        </p:nvSpPr>
        <p:spPr>
          <a:prstGeom prst="rect">
            <a:avLst/>
          </a:prstGeom>
        </p:spPr>
        <p:txBody>
          <a:bodyPr/>
          <a:lstStyle>
            <a:lvl1pPr>
              <a:tabLst>
                <a:tab pos="952500" algn="l"/>
              </a:tabLst>
            </a:lvl1pPr>
          </a:lstStyle>
          <a:p>
            <a:r>
              <a:t>Use of Fire</a:t>
            </a:r>
          </a:p>
        </p:txBody>
      </p:sp>
      <p:sp>
        <p:nvSpPr>
          <p:cNvPr id="1616" name="Shape 1616"/>
          <p:cNvSpPr>
            <a:spLocks noGrp="1"/>
          </p:cNvSpPr>
          <p:nvPr>
            <p:ph type="body" sz="half" idx="1"/>
          </p:nvPr>
        </p:nvSpPr>
        <p:spPr>
          <a:xfrm>
            <a:off x="368300" y="1790700"/>
            <a:ext cx="5956300" cy="6389390"/>
          </a:xfrm>
          <a:prstGeom prst="rect">
            <a:avLst/>
          </a:prstGeom>
        </p:spPr>
        <p:txBody>
          <a:bodyPr/>
          <a:lstStyle/>
          <a:p>
            <a:pPr>
              <a:tabLst>
                <a:tab pos="1016000" algn="l"/>
              </a:tabLst>
            </a:pPr>
            <a:r>
              <a:t>With fire early humans could:</a:t>
            </a:r>
          </a:p>
          <a:p>
            <a:pPr lvl="1">
              <a:tabLst>
                <a:tab pos="1485900" algn="l"/>
              </a:tabLst>
            </a:pPr>
            <a:r>
              <a:rPr b="1">
                <a:solidFill>
                  <a:srgbClr val="006795"/>
                </a:solidFill>
              </a:rPr>
              <a:t>Remain active at night</a:t>
            </a:r>
            <a:r>
              <a:t>:  People began using fire as a source of light to continue their activities after dark and inside their caves.</a:t>
            </a:r>
          </a:p>
          <a:p>
            <a:pPr lvl="1">
              <a:tabLst>
                <a:tab pos="1485900" algn="l"/>
              </a:tabLst>
            </a:pPr>
            <a:r>
              <a:rPr b="1">
                <a:solidFill>
                  <a:srgbClr val="006795"/>
                </a:solidFill>
              </a:rPr>
              <a:t>Cook with fire</a:t>
            </a:r>
            <a:r>
              <a:t>:  Made the meat of the animals they killed more palatable and digestible. They learned to preserve meat by smoking it over a fire, vastly decreasing the danger of periodic starvation. Cooking also enabled them to add some formerly inedible plants to their diet.</a:t>
            </a:r>
          </a:p>
          <a:p>
            <a:pPr lvl="1">
              <a:tabLst>
                <a:tab pos="1485900" algn="l"/>
              </a:tabLst>
            </a:pPr>
            <a:r>
              <a:rPr b="1">
                <a:solidFill>
                  <a:srgbClr val="006795"/>
                </a:solidFill>
              </a:rPr>
              <a:t>Make better weapons and tools</a:t>
            </a:r>
            <a:r>
              <a:t>:  Hunters formed spears from tree branches by burning</a:t>
            </a:r>
            <a:br/>
            <a:r>
              <a:t>the tips of the branches and then</a:t>
            </a:r>
            <a:br/>
            <a:r>
              <a:t>scraping the charred ends</a:t>
            </a:r>
            <a:br/>
            <a:r>
              <a:t>into a point.</a:t>
            </a:r>
          </a:p>
          <a:p>
            <a:pPr lvl="1">
              <a:buClr>
                <a:srgbClr val="000000"/>
              </a:buClr>
              <a:tabLst>
                <a:tab pos="1485900" algn="l"/>
              </a:tabLst>
              <a:defRPr b="1">
                <a:solidFill>
                  <a:srgbClr val="006795"/>
                </a:solidFill>
              </a:defRPr>
            </a:pPr>
            <a:r>
              <a:t>Protect themselves from predators</a:t>
            </a:r>
          </a:p>
          <a:p>
            <a:pPr lvl="1">
              <a:buClr>
                <a:srgbClr val="000000"/>
              </a:buClr>
              <a:tabLst>
                <a:tab pos="1485900" algn="l"/>
              </a:tabLst>
              <a:defRPr b="1">
                <a:solidFill>
                  <a:srgbClr val="006795"/>
                </a:solidFill>
              </a:defRPr>
            </a:pPr>
            <a:r>
              <a:t>Warm themselves</a:t>
            </a:r>
          </a:p>
        </p:txBody>
      </p:sp>
      <p:pic>
        <p:nvPicPr>
          <p:cNvPr id="1617" name="using fire 3-1.png"/>
          <p:cNvPicPr>
            <a:picLocks noChangeAspect="1"/>
          </p:cNvPicPr>
          <p:nvPr/>
        </p:nvPicPr>
        <p:blipFill>
          <a:blip r:embed="rId2">
            <a:extLst/>
          </a:blip>
          <a:stretch>
            <a:fillRect/>
          </a:stretch>
        </p:blipFill>
        <p:spPr>
          <a:xfrm>
            <a:off x="8439947" y="1015975"/>
            <a:ext cx="4912833" cy="7901965"/>
          </a:xfrm>
          <a:prstGeom prst="rect">
            <a:avLst/>
          </a:prstGeom>
          <a:ln w="25400">
            <a:miter lim="400000"/>
          </a:ln>
        </p:spPr>
      </p:pic>
      <p:pic>
        <p:nvPicPr>
          <p:cNvPr id="1618" name="Diego.png"/>
          <p:cNvPicPr>
            <a:picLocks noChangeAspect="1"/>
          </p:cNvPicPr>
          <p:nvPr/>
        </p:nvPicPr>
        <p:blipFill>
          <a:blip r:embed="rId3">
            <a:extLst/>
          </a:blip>
          <a:stretch>
            <a:fillRect/>
          </a:stretch>
        </p:blipFill>
        <p:spPr>
          <a:xfrm>
            <a:off x="5628640" y="6711603"/>
            <a:ext cx="4232604" cy="2074257"/>
          </a:xfrm>
          <a:prstGeom prst="rect">
            <a:avLst/>
          </a:prstGeom>
          <a:ln w="254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1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1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1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1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61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61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6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6" grpId="1"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0" name="Shape 1620"/>
          <p:cNvSpPr>
            <a:spLocks noGrp="1"/>
          </p:cNvSpPr>
          <p:nvPr>
            <p:ph type="title"/>
          </p:nvPr>
        </p:nvSpPr>
        <p:spPr>
          <a:prstGeom prst="rect">
            <a:avLst/>
          </a:prstGeom>
        </p:spPr>
        <p:txBody>
          <a:bodyPr/>
          <a:lstStyle>
            <a:lvl1pPr>
              <a:tabLst>
                <a:tab pos="952500" algn="l"/>
              </a:tabLst>
            </a:lvl1pPr>
          </a:lstStyle>
          <a:p>
            <a:r>
              <a:t>Clothing</a:t>
            </a:r>
          </a:p>
        </p:txBody>
      </p:sp>
      <p:sp>
        <p:nvSpPr>
          <p:cNvPr id="1621" name="Shape 1621"/>
          <p:cNvSpPr>
            <a:spLocks noGrp="1"/>
          </p:cNvSpPr>
          <p:nvPr>
            <p:ph type="body" sz="half" idx="1"/>
          </p:nvPr>
        </p:nvSpPr>
        <p:spPr>
          <a:xfrm>
            <a:off x="368300" y="1790700"/>
            <a:ext cx="5431334" cy="5432574"/>
          </a:xfrm>
          <a:prstGeom prst="rect">
            <a:avLst/>
          </a:prstGeom>
        </p:spPr>
        <p:txBody>
          <a:bodyPr/>
          <a:lstStyle/>
          <a:p>
            <a:pPr>
              <a:tabLst>
                <a:tab pos="1016000" algn="l"/>
              </a:tabLst>
            </a:pPr>
            <a:r>
              <a:t>There is little direct evidence of humans wearing clothes until 26,000 years ago (the evidence is a finely worked bone needle).  </a:t>
            </a:r>
          </a:p>
          <a:p>
            <a:pPr>
              <a:tabLst>
                <a:tab pos="1016000" algn="l"/>
              </a:tabLst>
            </a:pPr>
            <a:r>
              <a:t>Evidence from burial sites also shows humans were adorning themselves (or at least their dead) with necklaces as far back as 35,000 years ago. </a:t>
            </a:r>
          </a:p>
          <a:p>
            <a:pPr>
              <a:tabLst>
                <a:tab pos="1016000" algn="l"/>
              </a:tabLst>
            </a:pPr>
            <a:r>
              <a:t>Evidence from the evolution of body lice suggests human ancestors began wearing clothes some 100,000 years ago.</a:t>
            </a:r>
          </a:p>
        </p:txBody>
      </p:sp>
      <p:pic>
        <p:nvPicPr>
          <p:cNvPr id="1622" name="bone needle  Didier Descouens.jpg"/>
          <p:cNvPicPr>
            <a:picLocks noChangeAspect="1"/>
          </p:cNvPicPr>
          <p:nvPr/>
        </p:nvPicPr>
        <p:blipFill>
          <a:blip r:embed="rId2">
            <a:extLst/>
          </a:blip>
          <a:stretch>
            <a:fillRect/>
          </a:stretch>
        </p:blipFill>
        <p:spPr>
          <a:xfrm>
            <a:off x="7062456" y="-240"/>
            <a:ext cx="5981040" cy="2388912"/>
          </a:xfrm>
          <a:prstGeom prst="rect">
            <a:avLst/>
          </a:prstGeom>
          <a:ln w="25400">
            <a:solidFill>
              <a:srgbClr val="FFFFFF"/>
            </a:solidFill>
            <a:miter lim="400000"/>
          </a:ln>
        </p:spPr>
      </p:pic>
      <p:sp>
        <p:nvSpPr>
          <p:cNvPr id="1623" name="Shape 1623"/>
          <p:cNvSpPr/>
          <p:nvPr/>
        </p:nvSpPr>
        <p:spPr>
          <a:xfrm>
            <a:off x="6978218" y="2707569"/>
            <a:ext cx="2534546" cy="1961022"/>
          </a:xfrm>
          <a:prstGeom prst="rect">
            <a:avLst/>
          </a:prstGeom>
          <a:ln w="12700">
            <a:miter lim="400000"/>
          </a:ln>
          <a:extLst>
            <a:ext uri="{C572A759-6A51-4108-AA02-DFA0A04FC94B}">
              <ma14:wrappingTextBoxFlag xmlns:ma14="http://schemas.microsoft.com/office/mac/drawingml/2011/main" xmlns="" val="1"/>
            </a:ext>
          </a:extLst>
        </p:spPr>
        <p:txBody>
          <a:bodyPr lIns="50800" tIns="50800" rIns="50800" bIns="50800" anchor="ctr">
            <a:spAutoFit/>
          </a:bodyPr>
          <a:lstStyle>
            <a:lvl1pPr>
              <a:tabLst>
                <a:tab pos="520700" algn="l"/>
              </a:tabLst>
            </a:lvl1pPr>
          </a:lstStyle>
          <a:p>
            <a:r>
              <a:t>This finely worked bone needle is almost identical in shape to needles used today. This  needle is dated  between 17,000  and 10,000 years old.</a:t>
            </a:r>
          </a:p>
        </p:txBody>
      </p:sp>
      <p:sp>
        <p:nvSpPr>
          <p:cNvPr id="1624" name="Shape 1624"/>
          <p:cNvSpPr/>
          <p:nvPr/>
        </p:nvSpPr>
        <p:spPr>
          <a:xfrm>
            <a:off x="11349915" y="2067560"/>
            <a:ext cx="1547206" cy="254001"/>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marL="0" algn="just">
              <a:lnSpc>
                <a:spcPct val="120000"/>
              </a:lnSpc>
              <a:tabLst/>
              <a:defRPr sz="1000" u="sng">
                <a:solidFill>
                  <a:srgbClr val="FFFFFF"/>
                </a:solidFill>
                <a:latin typeface="Helvetica"/>
                <a:ea typeface="Helvetica"/>
                <a:cs typeface="Helvetica"/>
                <a:sym typeface="Helvetica"/>
                <a:hlinkClick r:id="rId3"/>
              </a:defRPr>
            </a:lvl1pPr>
          </a:lstStyle>
          <a:p>
            <a:pPr>
              <a:defRPr u="none"/>
            </a:pPr>
            <a:r>
              <a:rPr u="sng">
                <a:hlinkClick r:id="rId3"/>
              </a:rPr>
              <a:t>Didier Descouens CC 3.0</a:t>
            </a:r>
          </a:p>
        </p:txBody>
      </p:sp>
      <p:pic>
        <p:nvPicPr>
          <p:cNvPr id="1625" name="primative guy 2.png"/>
          <p:cNvPicPr>
            <a:picLocks noChangeAspect="1"/>
          </p:cNvPicPr>
          <p:nvPr/>
        </p:nvPicPr>
        <p:blipFill>
          <a:blip r:embed="rId4">
            <a:extLst/>
          </a:blip>
          <a:stretch>
            <a:fillRect/>
          </a:stretch>
        </p:blipFill>
        <p:spPr>
          <a:xfrm>
            <a:off x="9818869" y="2425769"/>
            <a:ext cx="2577933" cy="7361685"/>
          </a:xfrm>
          <a:prstGeom prst="rect">
            <a:avLst/>
          </a:prstGeom>
          <a:ln w="12700">
            <a:miter lim="400000"/>
          </a:ln>
        </p:spPr>
      </p:pic>
      <p:sp>
        <p:nvSpPr>
          <p:cNvPr id="1626" name="Shape 1626"/>
          <p:cNvSpPr/>
          <p:nvPr/>
        </p:nvSpPr>
        <p:spPr>
          <a:xfrm flipV="1">
            <a:off x="8275320" y="1831370"/>
            <a:ext cx="1" cy="845791"/>
          </a:xfrm>
          <a:prstGeom prst="line">
            <a:avLst/>
          </a:prstGeom>
          <a:ln w="25400">
            <a:solidFill>
              <a:srgbClr val="006795"/>
            </a:solidFill>
            <a:miter lim="400000"/>
            <a:tail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2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2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21">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1" grpId="1" build="p" bldLvl="5"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 name="Shape 1628"/>
          <p:cNvSpPr>
            <a:spLocks noGrp="1"/>
          </p:cNvSpPr>
          <p:nvPr>
            <p:ph type="title"/>
          </p:nvPr>
        </p:nvSpPr>
        <p:spPr>
          <a:prstGeom prst="rect">
            <a:avLst/>
          </a:prstGeom>
        </p:spPr>
        <p:txBody>
          <a:bodyPr/>
          <a:lstStyle>
            <a:lvl1pPr>
              <a:tabLst>
                <a:tab pos="952500" algn="l"/>
              </a:tabLst>
            </a:lvl1pPr>
          </a:lstStyle>
          <a:p>
            <a:r>
              <a:t>Shelter</a:t>
            </a:r>
          </a:p>
        </p:txBody>
      </p:sp>
      <p:sp>
        <p:nvSpPr>
          <p:cNvPr id="1629" name="Shape 1629"/>
          <p:cNvSpPr>
            <a:spLocks noGrp="1"/>
          </p:cNvSpPr>
          <p:nvPr>
            <p:ph type="body" sz="half" idx="1"/>
          </p:nvPr>
        </p:nvSpPr>
        <p:spPr>
          <a:xfrm>
            <a:off x="368300" y="1790700"/>
            <a:ext cx="11695907" cy="2830166"/>
          </a:xfrm>
          <a:prstGeom prst="rect">
            <a:avLst/>
          </a:prstGeom>
        </p:spPr>
        <p:txBody>
          <a:bodyPr/>
          <a:lstStyle/>
          <a:p>
            <a:pPr>
              <a:tabLst>
                <a:tab pos="1016000" algn="l"/>
              </a:tabLst>
            </a:pPr>
            <a:r>
              <a:t>The first evidence of humans building purpose-built shelters dates to around 400,000 years ago. </a:t>
            </a:r>
          </a:p>
          <a:p>
            <a:pPr>
              <a:tabLst>
                <a:tab pos="1016000" algn="l"/>
              </a:tabLst>
            </a:pPr>
            <a:r>
              <a:t>Post holes in the ground indicate poles were used as scaffolding for the shelter. </a:t>
            </a:r>
          </a:p>
          <a:p>
            <a:pPr>
              <a:tabLst>
                <a:tab pos="1016000" algn="l"/>
              </a:tabLst>
            </a:pPr>
            <a:r>
              <a:t>Preserved bones from around 17,000 years ago in the Ukraine show humans there used mammoth bones and tusks as scaffolding, probably because there would have been few trees available to make wood scaffolding from.</a:t>
            </a:r>
          </a:p>
        </p:txBody>
      </p:sp>
      <p:pic>
        <p:nvPicPr>
          <p:cNvPr id="1630" name="primative hut.png"/>
          <p:cNvPicPr>
            <a:picLocks noChangeAspect="1"/>
          </p:cNvPicPr>
          <p:nvPr/>
        </p:nvPicPr>
        <p:blipFill>
          <a:blip r:embed="rId2">
            <a:extLst/>
          </a:blip>
          <a:stretch>
            <a:fillRect/>
          </a:stretch>
        </p:blipFill>
        <p:spPr>
          <a:xfrm>
            <a:off x="2051188" y="4815908"/>
            <a:ext cx="8907365" cy="5008701"/>
          </a:xfrm>
          <a:prstGeom prst="rect">
            <a:avLst/>
          </a:prstGeom>
          <a:ln w="25400">
            <a:solidFill>
              <a:srgbClr val="FFFFFF"/>
            </a:solidFill>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2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29">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29">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2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9" grpId="1" build="p" bldLvl="5"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2" name="Shape 1632"/>
          <p:cNvSpPr/>
          <p:nvPr/>
        </p:nvSpPr>
        <p:spPr>
          <a:xfrm>
            <a:off x="6334283" y="-118468"/>
            <a:ext cx="7153117" cy="9849208"/>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633" name="Cave Art.png"/>
          <p:cNvPicPr>
            <a:picLocks noChangeAspect="1"/>
          </p:cNvPicPr>
          <p:nvPr/>
        </p:nvPicPr>
        <p:blipFill>
          <a:blip r:embed="rId2">
            <a:extLst/>
          </a:blip>
          <a:srcRect l="4878" r="1907" b="427"/>
          <a:stretch>
            <a:fillRect/>
          </a:stretch>
        </p:blipFill>
        <p:spPr>
          <a:xfrm>
            <a:off x="8722359" y="6812280"/>
            <a:ext cx="4368305" cy="2959101"/>
          </a:xfrm>
          <a:prstGeom prst="rect">
            <a:avLst/>
          </a:prstGeom>
          <a:ln w="25400">
            <a:solidFill>
              <a:srgbClr val="FFFFFF"/>
            </a:solidFill>
            <a:miter lim="400000"/>
          </a:ln>
        </p:spPr>
      </p:pic>
      <p:pic>
        <p:nvPicPr>
          <p:cNvPr id="1634" name="Venus statute.png"/>
          <p:cNvPicPr>
            <a:picLocks noChangeAspect="1"/>
          </p:cNvPicPr>
          <p:nvPr/>
        </p:nvPicPr>
        <p:blipFill>
          <a:blip r:embed="rId3">
            <a:extLst/>
          </a:blip>
          <a:stretch>
            <a:fillRect/>
          </a:stretch>
        </p:blipFill>
        <p:spPr>
          <a:xfrm>
            <a:off x="10287000" y="511790"/>
            <a:ext cx="2628900" cy="5237262"/>
          </a:xfrm>
          <a:prstGeom prst="rect">
            <a:avLst/>
          </a:prstGeom>
          <a:ln w="12700">
            <a:miter lim="400000"/>
          </a:ln>
        </p:spPr>
      </p:pic>
      <p:sp>
        <p:nvSpPr>
          <p:cNvPr id="1635" name="Shape 1635"/>
          <p:cNvSpPr>
            <a:spLocks noGrp="1"/>
          </p:cNvSpPr>
          <p:nvPr>
            <p:ph type="title"/>
          </p:nvPr>
        </p:nvSpPr>
        <p:spPr>
          <a:prstGeom prst="rect">
            <a:avLst/>
          </a:prstGeom>
        </p:spPr>
        <p:txBody>
          <a:bodyPr/>
          <a:lstStyle>
            <a:lvl1pPr>
              <a:tabLst>
                <a:tab pos="952500" algn="l"/>
              </a:tabLst>
            </a:lvl1pPr>
          </a:lstStyle>
          <a:p>
            <a:r>
              <a:t>Palaeolithic Art</a:t>
            </a:r>
          </a:p>
        </p:txBody>
      </p:sp>
      <p:sp>
        <p:nvSpPr>
          <p:cNvPr id="1636" name="Shape 1636"/>
          <p:cNvSpPr>
            <a:spLocks noGrp="1"/>
          </p:cNvSpPr>
          <p:nvPr>
            <p:ph type="body" sz="half" idx="1"/>
          </p:nvPr>
        </p:nvSpPr>
        <p:spPr>
          <a:xfrm>
            <a:off x="368300" y="1790700"/>
            <a:ext cx="5118944" cy="4968727"/>
          </a:xfrm>
          <a:prstGeom prst="rect">
            <a:avLst/>
          </a:prstGeom>
        </p:spPr>
        <p:txBody>
          <a:bodyPr/>
          <a:lstStyle/>
          <a:p>
            <a:pPr>
              <a:tabLst>
                <a:tab pos="1016000" algn="l"/>
              </a:tabLst>
            </a:pPr>
            <a:r>
              <a:t>Modern humans underwent a cultural explosion about 35,000 years ago giving rise to prehistoric art and new kinds of tools.</a:t>
            </a:r>
          </a:p>
          <a:p>
            <a:pPr>
              <a:tabLst>
                <a:tab pos="1016000" algn="l"/>
              </a:tabLst>
            </a:pPr>
            <a:r>
              <a:t>The stimulus was probably a need to represent in some lasting way, ideas concerned with the unknown:</a:t>
            </a:r>
          </a:p>
          <a:p>
            <a:pPr lvl="1">
              <a:tabLst>
                <a:tab pos="1485900" algn="l"/>
              </a:tabLst>
            </a:pPr>
            <a:r>
              <a:t>Death</a:t>
            </a:r>
          </a:p>
          <a:p>
            <a:pPr lvl="1">
              <a:tabLst>
                <a:tab pos="1485900" algn="l"/>
              </a:tabLst>
            </a:pPr>
            <a:r>
              <a:t>Hunting success</a:t>
            </a:r>
          </a:p>
          <a:p>
            <a:pPr lvl="1">
              <a:tabLst>
                <a:tab pos="1485900" algn="l"/>
              </a:tabLst>
            </a:pPr>
            <a:r>
              <a:t>Fertility of their women</a:t>
            </a:r>
          </a:p>
        </p:txBody>
      </p:sp>
      <p:sp>
        <p:nvSpPr>
          <p:cNvPr id="1637" name="Shape 1637"/>
          <p:cNvSpPr/>
          <p:nvPr/>
        </p:nvSpPr>
        <p:spPr>
          <a:xfrm>
            <a:off x="6577065" y="5631179"/>
            <a:ext cx="3966925" cy="7926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100"/>
              </a:lnSpc>
              <a:tabLst>
                <a:tab pos="520700" algn="l"/>
              </a:tabLst>
              <a:defRPr>
                <a:solidFill>
                  <a:srgbClr val="006795"/>
                </a:solidFill>
              </a:defRPr>
            </a:pPr>
            <a:r>
              <a:t>Painting of a </a:t>
            </a:r>
            <a:r>
              <a:rPr b="1"/>
              <a:t>sorcerer</a:t>
            </a:r>
            <a:r>
              <a:t> dressed in animal skins (15,000 years old) on a cave wall in the Pyrenees Mountains</a:t>
            </a:r>
          </a:p>
        </p:txBody>
      </p:sp>
      <p:sp>
        <p:nvSpPr>
          <p:cNvPr id="1638" name="Shape 1638"/>
          <p:cNvSpPr/>
          <p:nvPr/>
        </p:nvSpPr>
        <p:spPr>
          <a:xfrm>
            <a:off x="6597663" y="7559040"/>
            <a:ext cx="1991322" cy="15927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100"/>
              </a:lnSpc>
              <a:tabLst>
                <a:tab pos="520700" algn="l"/>
              </a:tabLst>
              <a:defRPr>
                <a:solidFill>
                  <a:srgbClr val="006795"/>
                </a:solidFill>
              </a:defRPr>
            </a:pPr>
            <a:r>
              <a:t>Early examples of </a:t>
            </a:r>
            <a:r>
              <a:rPr b="1"/>
              <a:t>rock art</a:t>
            </a:r>
            <a:r>
              <a:t> are found in southern France, northern Spain, and Australia</a:t>
            </a:r>
          </a:p>
        </p:txBody>
      </p:sp>
      <p:sp>
        <p:nvSpPr>
          <p:cNvPr id="1639" name="Shape 1639"/>
          <p:cNvSpPr/>
          <p:nvPr/>
        </p:nvSpPr>
        <p:spPr>
          <a:xfrm>
            <a:off x="6571686" y="487680"/>
            <a:ext cx="4231562"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100"/>
              </a:lnSpc>
              <a:tabLst>
                <a:tab pos="520700" algn="l"/>
              </a:tabLst>
              <a:defRPr>
                <a:solidFill>
                  <a:srgbClr val="006795"/>
                </a:solidFill>
              </a:defRPr>
            </a:pPr>
            <a:r>
              <a:rPr b="1"/>
              <a:t>Sculpture </a:t>
            </a:r>
            <a:r>
              <a:t>(10 cm high) carved out of limestone about 30,000 years ago (note exaggerated breasts and body fat)</a:t>
            </a:r>
          </a:p>
        </p:txBody>
      </p:sp>
      <p:pic>
        <p:nvPicPr>
          <p:cNvPr id="1640" name="Magician.png"/>
          <p:cNvPicPr>
            <a:picLocks noChangeAspect="1"/>
          </p:cNvPicPr>
          <p:nvPr/>
        </p:nvPicPr>
        <p:blipFill>
          <a:blip r:embed="rId4">
            <a:extLst/>
          </a:blip>
          <a:stretch>
            <a:fillRect/>
          </a:stretch>
        </p:blipFill>
        <p:spPr>
          <a:xfrm flipH="1">
            <a:off x="7012940" y="1691639"/>
            <a:ext cx="2413001" cy="3810001"/>
          </a:xfrm>
          <a:prstGeom prst="rect">
            <a:avLst/>
          </a:prstGeom>
          <a:ln w="254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3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3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3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3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63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63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6" grpId="1"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2" name="Shape 1642"/>
          <p:cNvSpPr/>
          <p:nvPr/>
        </p:nvSpPr>
        <p:spPr>
          <a:xfrm>
            <a:off x="7135475" y="3560048"/>
            <a:ext cx="6131760" cy="6196093"/>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643" name="Cave painter small.jpg"/>
          <p:cNvPicPr>
            <a:picLocks noChangeAspect="1"/>
          </p:cNvPicPr>
          <p:nvPr/>
        </p:nvPicPr>
        <p:blipFill>
          <a:blip r:embed="rId2">
            <a:extLst/>
          </a:blip>
          <a:srcRect r="10700"/>
          <a:stretch>
            <a:fillRect/>
          </a:stretch>
        </p:blipFill>
        <p:spPr>
          <a:xfrm flipH="1">
            <a:off x="7148175" y="3813038"/>
            <a:ext cx="6006661" cy="4335644"/>
          </a:xfrm>
          <a:prstGeom prst="rect">
            <a:avLst/>
          </a:prstGeom>
          <a:ln w="25400">
            <a:solidFill>
              <a:srgbClr val="FFFFFF"/>
            </a:solidFill>
            <a:miter lim="400000"/>
          </a:ln>
        </p:spPr>
      </p:pic>
      <p:sp>
        <p:nvSpPr>
          <p:cNvPr id="1644" name="Shape 1644"/>
          <p:cNvSpPr>
            <a:spLocks noGrp="1"/>
          </p:cNvSpPr>
          <p:nvPr>
            <p:ph type="title"/>
          </p:nvPr>
        </p:nvSpPr>
        <p:spPr>
          <a:xfrm>
            <a:off x="386079" y="368300"/>
            <a:ext cx="6777634" cy="953294"/>
          </a:xfrm>
          <a:prstGeom prst="rect">
            <a:avLst/>
          </a:prstGeom>
        </p:spPr>
        <p:txBody>
          <a:bodyPr/>
          <a:lstStyle>
            <a:lvl1pPr>
              <a:tabLst>
                <a:tab pos="952500" algn="l"/>
              </a:tabLst>
              <a:defRPr spc="-128"/>
            </a:lvl1pPr>
          </a:lstStyle>
          <a:p>
            <a:r>
              <a:t>Spiritual Thinking</a:t>
            </a:r>
          </a:p>
        </p:txBody>
      </p:sp>
      <p:pic>
        <p:nvPicPr>
          <p:cNvPr id="1645" name="caverouffignac.jpg"/>
          <p:cNvPicPr>
            <a:picLocks noChangeAspect="1"/>
          </p:cNvPicPr>
          <p:nvPr/>
        </p:nvPicPr>
        <p:blipFill>
          <a:blip r:embed="rId3">
            <a:extLst/>
          </a:blip>
          <a:stretch>
            <a:fillRect/>
          </a:stretch>
        </p:blipFill>
        <p:spPr>
          <a:xfrm>
            <a:off x="7148175" y="-25473"/>
            <a:ext cx="5993075" cy="3840554"/>
          </a:xfrm>
          <a:prstGeom prst="rect">
            <a:avLst/>
          </a:prstGeom>
          <a:ln w="25400">
            <a:solidFill>
              <a:srgbClr val="FFFFFF"/>
            </a:solidFill>
            <a:miter lim="400000"/>
          </a:ln>
        </p:spPr>
      </p:pic>
      <p:sp>
        <p:nvSpPr>
          <p:cNvPr id="1646" name="Shape 1646"/>
          <p:cNvSpPr/>
          <p:nvPr/>
        </p:nvSpPr>
        <p:spPr>
          <a:xfrm>
            <a:off x="7332980" y="8285480"/>
            <a:ext cx="5545813" cy="11600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marL="0">
              <a:tabLst/>
              <a:defRPr sz="2000">
                <a:solidFill>
                  <a:srgbClr val="006795"/>
                </a:solidFill>
              </a:defRPr>
            </a:lvl1pPr>
          </a:lstStyle>
          <a:p>
            <a:r>
              <a:t>A possible explanation for cave paintings, which is based on hunter-gatherer societies, is that shaman paint images of their visions while in the cave darkness.</a:t>
            </a:r>
          </a:p>
        </p:txBody>
      </p:sp>
      <p:sp>
        <p:nvSpPr>
          <p:cNvPr id="1647" name="Shape 1647"/>
          <p:cNvSpPr>
            <a:spLocks noGrp="1"/>
          </p:cNvSpPr>
          <p:nvPr>
            <p:ph type="body" sz="half" idx="1"/>
          </p:nvPr>
        </p:nvSpPr>
        <p:spPr>
          <a:prstGeom prst="rect">
            <a:avLst/>
          </a:prstGeom>
        </p:spPr>
        <p:txBody>
          <a:bodyPr/>
          <a:lstStyle/>
          <a:p>
            <a:pPr>
              <a:tabLst>
                <a:tab pos="1016000" algn="l"/>
              </a:tabLst>
            </a:pPr>
            <a:r>
              <a:t>There are several hundred caves in southern France and Spain that were used by early humans.</a:t>
            </a:r>
          </a:p>
          <a:p>
            <a:pPr>
              <a:tabLst>
                <a:tab pos="1016000" algn="l"/>
              </a:tabLst>
            </a:pPr>
            <a:r>
              <a:t>Some of these caves contain rock paintings made by Cro-Magnon shaman.</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4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4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7" grpId="1"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49" name="503008.jpg"/>
          <p:cNvPicPr>
            <a:picLocks noChangeAspect="1"/>
          </p:cNvPicPr>
          <p:nvPr/>
        </p:nvPicPr>
        <p:blipFill>
          <a:blip r:embed="rId2">
            <a:extLst/>
          </a:blip>
          <a:stretch>
            <a:fillRect/>
          </a:stretch>
        </p:blipFill>
        <p:spPr>
          <a:xfrm>
            <a:off x="6540500" y="0"/>
            <a:ext cx="6502400" cy="9753600"/>
          </a:xfrm>
          <a:prstGeom prst="rect">
            <a:avLst/>
          </a:prstGeom>
          <a:ln w="25400">
            <a:solidFill>
              <a:srgbClr val="FFFFFF"/>
            </a:solidFill>
            <a:miter lim="400000"/>
          </a:ln>
        </p:spPr>
      </p:pic>
      <p:sp>
        <p:nvSpPr>
          <p:cNvPr id="1650" name="Shape 1650"/>
          <p:cNvSpPr>
            <a:spLocks noGrp="1"/>
          </p:cNvSpPr>
          <p:nvPr>
            <p:ph type="title"/>
          </p:nvPr>
        </p:nvSpPr>
        <p:spPr>
          <a:prstGeom prst="rect">
            <a:avLst/>
          </a:prstGeom>
        </p:spPr>
        <p:txBody>
          <a:bodyPr/>
          <a:lstStyle>
            <a:lvl1pPr>
              <a:tabLst>
                <a:tab pos="952500" algn="l"/>
              </a:tabLst>
            </a:lvl1pPr>
          </a:lstStyle>
          <a:p>
            <a:r>
              <a:t>Cave Art</a:t>
            </a:r>
          </a:p>
        </p:txBody>
      </p:sp>
      <p:sp>
        <p:nvSpPr>
          <p:cNvPr id="1651" name="Shape 1651"/>
          <p:cNvSpPr/>
          <p:nvPr/>
        </p:nvSpPr>
        <p:spPr>
          <a:xfrm>
            <a:off x="455943" y="2136139"/>
            <a:ext cx="5542162" cy="116009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sz="2000">
                <a:solidFill>
                  <a:srgbClr val="006795"/>
                </a:solidFill>
              </a:defRPr>
            </a:pPr>
            <a:r>
              <a:t>One of the most famous examples of Palaeolithic art is found in the caves at </a:t>
            </a:r>
            <a:r>
              <a:rPr b="1"/>
              <a:t>Lascaux</a:t>
            </a:r>
            <a:r>
              <a:t> in the Dordogne Valley, France. Deer, bison, aurochs, and horses were common subjects.</a:t>
            </a:r>
          </a:p>
        </p:txBody>
      </p:sp>
      <p:pic>
        <p:nvPicPr>
          <p:cNvPr id="1652" name="503004.jpg"/>
          <p:cNvPicPr>
            <a:picLocks noChangeAspect="1"/>
          </p:cNvPicPr>
          <p:nvPr/>
        </p:nvPicPr>
        <p:blipFill>
          <a:blip r:embed="rId3">
            <a:extLst/>
          </a:blip>
          <a:stretch>
            <a:fillRect/>
          </a:stretch>
        </p:blipFill>
        <p:spPr>
          <a:xfrm>
            <a:off x="10160" y="4285825"/>
            <a:ext cx="8293101" cy="5528735"/>
          </a:xfrm>
          <a:prstGeom prst="rect">
            <a:avLst/>
          </a:prstGeom>
          <a:ln w="25400">
            <a:solidFill>
              <a:srgbClr val="FFFFFF"/>
            </a:solidFill>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4" name="503006.jpg"/>
          <p:cNvPicPr>
            <a:picLocks noChangeAspect="1"/>
          </p:cNvPicPr>
          <p:nvPr/>
        </p:nvPicPr>
        <p:blipFill>
          <a:blip r:embed="rId2">
            <a:extLst/>
          </a:blip>
          <a:srcRect l="2591" r="6256"/>
          <a:stretch>
            <a:fillRect/>
          </a:stretch>
        </p:blipFill>
        <p:spPr>
          <a:xfrm>
            <a:off x="6451600" y="-21910"/>
            <a:ext cx="6701436" cy="4901251"/>
          </a:xfrm>
          <a:prstGeom prst="rect">
            <a:avLst/>
          </a:prstGeom>
          <a:ln w="25400">
            <a:solidFill>
              <a:srgbClr val="FFFFFF"/>
            </a:solidFill>
            <a:miter lim="400000"/>
          </a:ln>
        </p:spPr>
      </p:pic>
      <p:sp>
        <p:nvSpPr>
          <p:cNvPr id="1655" name="Shape 1655"/>
          <p:cNvSpPr>
            <a:spLocks noGrp="1"/>
          </p:cNvSpPr>
          <p:nvPr>
            <p:ph type="title"/>
          </p:nvPr>
        </p:nvSpPr>
        <p:spPr>
          <a:prstGeom prst="rect">
            <a:avLst/>
          </a:prstGeom>
        </p:spPr>
        <p:txBody>
          <a:bodyPr/>
          <a:lstStyle>
            <a:lvl1pPr>
              <a:tabLst>
                <a:tab pos="952500" algn="l"/>
              </a:tabLst>
            </a:lvl1pPr>
          </a:lstStyle>
          <a:p>
            <a:r>
              <a:t>Palaeolithic Art</a:t>
            </a:r>
          </a:p>
        </p:txBody>
      </p:sp>
      <p:pic>
        <p:nvPicPr>
          <p:cNvPr id="1656" name="503002.jpg"/>
          <p:cNvPicPr>
            <a:picLocks noChangeAspect="1"/>
          </p:cNvPicPr>
          <p:nvPr/>
        </p:nvPicPr>
        <p:blipFill>
          <a:blip r:embed="rId3">
            <a:extLst/>
          </a:blip>
          <a:srcRect l="2399" r="6438"/>
          <a:stretch>
            <a:fillRect/>
          </a:stretch>
        </p:blipFill>
        <p:spPr>
          <a:xfrm>
            <a:off x="6452870" y="4851400"/>
            <a:ext cx="6754453" cy="4939532"/>
          </a:xfrm>
          <a:prstGeom prst="rect">
            <a:avLst/>
          </a:prstGeom>
          <a:ln w="25400">
            <a:solidFill>
              <a:srgbClr val="FFFFFF"/>
            </a:solidFill>
            <a:miter lim="400000"/>
          </a:ln>
        </p:spPr>
      </p:pic>
      <p:sp>
        <p:nvSpPr>
          <p:cNvPr id="1657" name="Shape 1657"/>
          <p:cNvSpPr/>
          <p:nvPr/>
        </p:nvSpPr>
        <p:spPr>
          <a:xfrm>
            <a:off x="1296683" y="7335519"/>
            <a:ext cx="4889501" cy="8688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a:solidFill>
                  <a:srgbClr val="006795"/>
                </a:solidFill>
              </a:defRPr>
            </a:pPr>
            <a:r>
              <a:rPr b="1"/>
              <a:t>Top</a:t>
            </a:r>
            <a:r>
              <a:t>:  A </a:t>
            </a:r>
            <a:r>
              <a:rPr b="1"/>
              <a:t>horse</a:t>
            </a:r>
            <a:r>
              <a:t> depicted with possible spears being thrown at it. Note the geometric symbol above the horse (its meaning is unknown).</a:t>
            </a:r>
          </a:p>
        </p:txBody>
      </p:sp>
      <p:sp>
        <p:nvSpPr>
          <p:cNvPr id="1658" name="Shape 1658"/>
          <p:cNvSpPr/>
          <p:nvPr/>
        </p:nvSpPr>
        <p:spPr>
          <a:xfrm>
            <a:off x="1282700" y="8534400"/>
            <a:ext cx="4597400" cy="564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nSpc>
                <a:spcPts val="2400"/>
              </a:lnSpc>
              <a:tabLst>
                <a:tab pos="520700" algn="l"/>
              </a:tabLst>
              <a:defRPr>
                <a:solidFill>
                  <a:srgbClr val="006795"/>
                </a:solidFill>
              </a:defRPr>
            </a:pPr>
            <a:r>
              <a:rPr b="1"/>
              <a:t>Right</a:t>
            </a:r>
            <a:r>
              <a:t>:  An </a:t>
            </a:r>
            <a:r>
              <a:rPr b="1"/>
              <a:t>aurochs</a:t>
            </a:r>
            <a:r>
              <a:t> (a now extinct, giant ox) is painted over earlier images of reindeer.</a:t>
            </a:r>
          </a:p>
        </p:txBody>
      </p:sp>
      <p:sp>
        <p:nvSpPr>
          <p:cNvPr id="1659" name="Shape 1659"/>
          <p:cNvSpPr>
            <a:spLocks noGrp="1"/>
          </p:cNvSpPr>
          <p:nvPr>
            <p:ph type="body" sz="quarter" idx="1"/>
          </p:nvPr>
        </p:nvSpPr>
        <p:spPr>
          <a:xfrm>
            <a:off x="368300" y="1790700"/>
            <a:ext cx="5086946" cy="2826892"/>
          </a:xfrm>
          <a:prstGeom prst="rect">
            <a:avLst/>
          </a:prstGeom>
        </p:spPr>
        <p:txBody>
          <a:bodyPr/>
          <a:lstStyle>
            <a:lvl1pPr>
              <a:tabLst>
                <a:tab pos="1016000" algn="l"/>
              </a:tabLst>
            </a:lvl1pPr>
          </a:lstStyle>
          <a:p>
            <a:r>
              <a:t>Lascaux caves contain some of the earliest known art, dating back to somewhere between 13,000 and 15,000 BC, or as far back as 25,000 BC.</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59">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5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 grpId="1" build="p" bldLvl="5" animBg="1" advAuto="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61" name="Microliths.png"/>
          <p:cNvPicPr>
            <a:picLocks noChangeAspect="1"/>
          </p:cNvPicPr>
          <p:nvPr/>
        </p:nvPicPr>
        <p:blipFill>
          <a:blip r:embed="rId2">
            <a:extLst/>
          </a:blip>
          <a:stretch>
            <a:fillRect/>
          </a:stretch>
        </p:blipFill>
        <p:spPr>
          <a:xfrm rot="19856724">
            <a:off x="8966200" y="1473200"/>
            <a:ext cx="1524000" cy="7924800"/>
          </a:xfrm>
          <a:prstGeom prst="rect">
            <a:avLst/>
          </a:prstGeom>
          <a:ln w="25400">
            <a:miter lim="400000"/>
          </a:ln>
        </p:spPr>
      </p:pic>
      <p:sp>
        <p:nvSpPr>
          <p:cNvPr id="1662" name="Shape 1662"/>
          <p:cNvSpPr>
            <a:spLocks noGrp="1"/>
          </p:cNvSpPr>
          <p:nvPr>
            <p:ph type="title"/>
          </p:nvPr>
        </p:nvSpPr>
        <p:spPr>
          <a:prstGeom prst="rect">
            <a:avLst/>
          </a:prstGeom>
        </p:spPr>
        <p:txBody>
          <a:bodyPr/>
          <a:lstStyle>
            <a:lvl1pPr>
              <a:tabLst>
                <a:tab pos="952500" algn="l"/>
              </a:tabLst>
            </a:lvl1pPr>
          </a:lstStyle>
          <a:p>
            <a:r>
              <a:t>Mesolithic Cultures</a:t>
            </a:r>
          </a:p>
        </p:txBody>
      </p:sp>
      <p:sp>
        <p:nvSpPr>
          <p:cNvPr id="1663" name="Shape 1663"/>
          <p:cNvSpPr>
            <a:spLocks noGrp="1"/>
          </p:cNvSpPr>
          <p:nvPr>
            <p:ph type="body" sz="half" idx="1"/>
          </p:nvPr>
        </p:nvSpPr>
        <p:spPr>
          <a:prstGeom prst="rect">
            <a:avLst/>
          </a:prstGeom>
        </p:spPr>
        <p:txBody>
          <a:bodyPr/>
          <a:lstStyle/>
          <a:p>
            <a:pPr>
              <a:tabLst>
                <a:tab pos="1016000" algn="l"/>
              </a:tabLst>
            </a:pPr>
            <a:r>
              <a:t>Mesolithic period: Middle Stone Age</a:t>
            </a:r>
          </a:p>
          <a:p>
            <a:pPr>
              <a:tabLst>
                <a:tab pos="1016000" algn="l"/>
              </a:tabLst>
            </a:pPr>
            <a:r>
              <a:t>First appeared:     12-10,000 years ago</a:t>
            </a:r>
          </a:p>
          <a:p>
            <a:pPr lvl="1">
              <a:tabLst>
                <a:tab pos="1485900" algn="l"/>
              </a:tabLst>
            </a:pPr>
            <a:r>
              <a:t>Foraging and fishing economy</a:t>
            </a:r>
          </a:p>
          <a:p>
            <a:pPr lvl="1">
              <a:tabLst>
                <a:tab pos="1485900" algn="l"/>
              </a:tabLst>
            </a:pPr>
            <a:r>
              <a:t>Characterised by:</a:t>
            </a:r>
          </a:p>
          <a:p>
            <a:pPr lvl="2">
              <a:tabLst>
                <a:tab pos="1638300" algn="l"/>
              </a:tabLst>
            </a:pPr>
            <a:r>
              <a:t>the use of small stone tools (called microliths)</a:t>
            </a:r>
          </a:p>
          <a:p>
            <a:pPr lvl="2">
              <a:tabLst>
                <a:tab pos="1638300" algn="l"/>
              </a:tabLst>
            </a:pPr>
            <a:r>
              <a:t>a broad-based hunting and gathering economy (including foraging for seeds from wild cereal grasses).</a:t>
            </a:r>
          </a:p>
        </p:txBody>
      </p:sp>
      <p:sp>
        <p:nvSpPr>
          <p:cNvPr id="1664" name="Shape 1664"/>
          <p:cNvSpPr/>
          <p:nvPr/>
        </p:nvSpPr>
        <p:spPr>
          <a:xfrm>
            <a:off x="10878897" y="3530600"/>
            <a:ext cx="1092300"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a:solidFill>
                  <a:srgbClr val="006795"/>
                </a:solidFill>
              </a:defRPr>
            </a:lvl1pPr>
          </a:lstStyle>
          <a:p>
            <a:r>
              <a:t>Microliths</a:t>
            </a:r>
          </a:p>
        </p:txBody>
      </p:sp>
      <p:sp>
        <p:nvSpPr>
          <p:cNvPr id="1665" name="Shape 1665"/>
          <p:cNvSpPr/>
          <p:nvPr/>
        </p:nvSpPr>
        <p:spPr>
          <a:xfrm>
            <a:off x="9448800" y="1663700"/>
            <a:ext cx="2590800" cy="8688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400"/>
              </a:lnSpc>
              <a:tabLst>
                <a:tab pos="520700" algn="l"/>
              </a:tabLst>
              <a:defRPr sz="2800" b="1">
                <a:solidFill>
                  <a:srgbClr val="006795"/>
                </a:solidFill>
                <a:latin typeface="Hoefler Text"/>
                <a:ea typeface="Hoefler Text"/>
                <a:cs typeface="Hoefler Text"/>
                <a:sym typeface="Hoefler Text"/>
              </a:defRPr>
            </a:pPr>
            <a:r>
              <a:rPr sz="1800">
                <a:latin typeface="+mn-lt"/>
                <a:ea typeface="+mn-ea"/>
                <a:cs typeface="+mn-cs"/>
                <a:sym typeface="Arial"/>
              </a:rPr>
              <a:t>Sickles</a:t>
            </a:r>
          </a:p>
          <a:p>
            <a:pPr algn="ct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Used to cut the grasses to gather their seeds</a:t>
            </a:r>
          </a:p>
        </p:txBody>
      </p:sp>
      <p:sp>
        <p:nvSpPr>
          <p:cNvPr id="1666" name="Shape 1666"/>
          <p:cNvSpPr/>
          <p:nvPr/>
        </p:nvSpPr>
        <p:spPr>
          <a:xfrm>
            <a:off x="9550400" y="3657600"/>
            <a:ext cx="1282700" cy="254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667" name="Shape 1667"/>
          <p:cNvSpPr/>
          <p:nvPr/>
        </p:nvSpPr>
        <p:spPr>
          <a:xfrm flipV="1">
            <a:off x="10160000" y="3670300"/>
            <a:ext cx="673100" cy="11811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668" name="Shape 1668"/>
          <p:cNvSpPr/>
          <p:nvPr/>
        </p:nvSpPr>
        <p:spPr>
          <a:xfrm>
            <a:off x="6447408" y="8763000"/>
            <a:ext cx="1866951"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006795"/>
                </a:solidFill>
              </a:defRPr>
            </a:lvl1pPr>
          </a:lstStyle>
          <a:p>
            <a:pPr>
              <a:defRPr b="0"/>
            </a:pPr>
            <a:r>
              <a:rPr b="1"/>
              <a:t>Bone fish hook</a:t>
            </a:r>
          </a:p>
        </p:txBody>
      </p:sp>
      <p:pic>
        <p:nvPicPr>
          <p:cNvPr id="1669" name="Fishook.png"/>
          <p:cNvPicPr>
            <a:picLocks noChangeAspect="1"/>
          </p:cNvPicPr>
          <p:nvPr/>
        </p:nvPicPr>
        <p:blipFill>
          <a:blip r:embed="rId3">
            <a:extLst/>
          </a:blip>
          <a:stretch>
            <a:fillRect/>
          </a:stretch>
        </p:blipFill>
        <p:spPr>
          <a:xfrm rot="2154584">
            <a:off x="7531100" y="6318864"/>
            <a:ext cx="647700" cy="2367936"/>
          </a:xfrm>
          <a:prstGeom prst="rect">
            <a:avLst/>
          </a:prstGeom>
          <a:ln w="254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63">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6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63">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6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663">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663">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166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3" grpId="1" build="p" bldLvl="5" animBg="1" advAuto="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1" name="Shape 1671"/>
          <p:cNvSpPr/>
          <p:nvPr/>
        </p:nvSpPr>
        <p:spPr>
          <a:xfrm>
            <a:off x="6118383" y="-178158"/>
            <a:ext cx="7153117" cy="9934298"/>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672" name="Neolithic Excavation kit.png"/>
          <p:cNvPicPr>
            <a:picLocks noChangeAspect="1"/>
          </p:cNvPicPr>
          <p:nvPr/>
        </p:nvPicPr>
        <p:blipFill>
          <a:blip r:embed="rId2">
            <a:extLst/>
          </a:blip>
          <a:stretch>
            <a:fillRect/>
          </a:stretch>
        </p:blipFill>
        <p:spPr>
          <a:xfrm>
            <a:off x="8011159" y="384959"/>
            <a:ext cx="4381501" cy="5180480"/>
          </a:xfrm>
          <a:prstGeom prst="rect">
            <a:avLst/>
          </a:prstGeom>
          <a:ln w="25400">
            <a:miter lim="400000"/>
          </a:ln>
        </p:spPr>
      </p:pic>
      <p:pic>
        <p:nvPicPr>
          <p:cNvPr id="1673" name="Sickle.png"/>
          <p:cNvPicPr>
            <a:picLocks noChangeAspect="1"/>
          </p:cNvPicPr>
          <p:nvPr/>
        </p:nvPicPr>
        <p:blipFill>
          <a:blip r:embed="rId3">
            <a:extLst/>
          </a:blip>
          <a:stretch>
            <a:fillRect/>
          </a:stretch>
        </p:blipFill>
        <p:spPr>
          <a:xfrm rot="7504426">
            <a:off x="9923993" y="5371693"/>
            <a:ext cx="1749748" cy="3530601"/>
          </a:xfrm>
          <a:prstGeom prst="rect">
            <a:avLst/>
          </a:prstGeom>
          <a:ln w="25400">
            <a:miter lim="400000"/>
          </a:ln>
        </p:spPr>
      </p:pic>
      <p:pic>
        <p:nvPicPr>
          <p:cNvPr id="1674" name="Quern.png"/>
          <p:cNvPicPr>
            <a:picLocks noChangeAspect="1"/>
          </p:cNvPicPr>
          <p:nvPr/>
        </p:nvPicPr>
        <p:blipFill>
          <a:blip r:embed="rId4">
            <a:extLst/>
          </a:blip>
          <a:stretch>
            <a:fillRect/>
          </a:stretch>
        </p:blipFill>
        <p:spPr>
          <a:xfrm>
            <a:off x="6375093" y="6908800"/>
            <a:ext cx="3937307" cy="1917700"/>
          </a:xfrm>
          <a:prstGeom prst="rect">
            <a:avLst/>
          </a:prstGeom>
          <a:ln w="25400">
            <a:miter lim="400000"/>
          </a:ln>
        </p:spPr>
      </p:pic>
      <p:sp>
        <p:nvSpPr>
          <p:cNvPr id="1675" name="Shape 1675"/>
          <p:cNvSpPr>
            <a:spLocks noGrp="1"/>
          </p:cNvSpPr>
          <p:nvPr>
            <p:ph type="title"/>
          </p:nvPr>
        </p:nvSpPr>
        <p:spPr>
          <a:xfrm>
            <a:off x="386079" y="368300"/>
            <a:ext cx="4304409" cy="1617752"/>
          </a:xfrm>
          <a:prstGeom prst="rect">
            <a:avLst/>
          </a:prstGeom>
        </p:spPr>
        <p:txBody>
          <a:bodyPr/>
          <a:lstStyle>
            <a:lvl1pPr>
              <a:tabLst>
                <a:tab pos="952500" algn="l"/>
              </a:tabLst>
            </a:lvl1pPr>
          </a:lstStyle>
          <a:p>
            <a:r>
              <a:t>Neolithic Cultures</a:t>
            </a:r>
          </a:p>
        </p:txBody>
      </p:sp>
      <p:sp>
        <p:nvSpPr>
          <p:cNvPr id="1676" name="Shape 1676"/>
          <p:cNvSpPr>
            <a:spLocks noGrp="1"/>
          </p:cNvSpPr>
          <p:nvPr>
            <p:ph type="body" sz="half" idx="1"/>
          </p:nvPr>
        </p:nvSpPr>
        <p:spPr>
          <a:xfrm>
            <a:off x="368300" y="2738090"/>
            <a:ext cx="5299621" cy="5134819"/>
          </a:xfrm>
          <a:prstGeom prst="rect">
            <a:avLst/>
          </a:prstGeom>
        </p:spPr>
        <p:txBody>
          <a:bodyPr/>
          <a:lstStyle/>
          <a:p>
            <a:pPr>
              <a:tabLst>
                <a:tab pos="1016000" algn="l"/>
              </a:tabLst>
            </a:pPr>
            <a:r>
              <a:t>Neolithic period: New Stone Age</a:t>
            </a:r>
          </a:p>
          <a:p>
            <a:pPr lvl="1">
              <a:tabLst>
                <a:tab pos="1485900" algn="l"/>
              </a:tabLst>
            </a:pPr>
            <a:r>
              <a:t>First appeared:  10,000 years ago in the Middle East</a:t>
            </a:r>
          </a:p>
          <a:p>
            <a:pPr lvl="1">
              <a:tabLst>
                <a:tab pos="1485900" algn="l"/>
              </a:tabLst>
            </a:pPr>
            <a:r>
              <a:t>Plant cultivation and animal domestication</a:t>
            </a:r>
          </a:p>
          <a:p>
            <a:pPr lvl="1">
              <a:tabLst>
                <a:tab pos="1485900" algn="l"/>
              </a:tabLst>
            </a:pPr>
            <a:r>
              <a:t>The Neolithic culture is usually associated with the beginnings of agriculture, pottery and permanent settlements in the Old World.</a:t>
            </a:r>
          </a:p>
          <a:p>
            <a:pPr lvl="1">
              <a:tabLst>
                <a:tab pos="1485900" algn="l"/>
              </a:tabLst>
            </a:pPr>
            <a:r>
              <a:t>This shift away from a hunter-gatherer economy, to one which could provide surplus food, meant greater population densities could be achieved and some people were free to develop as artisans.</a:t>
            </a:r>
          </a:p>
        </p:txBody>
      </p:sp>
      <p:sp>
        <p:nvSpPr>
          <p:cNvPr id="1677" name="Shape 1677"/>
          <p:cNvSpPr/>
          <p:nvPr/>
        </p:nvSpPr>
        <p:spPr>
          <a:xfrm>
            <a:off x="7136352" y="695959"/>
            <a:ext cx="1714501" cy="5640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b="1">
                <a:solidFill>
                  <a:srgbClr val="006795"/>
                </a:solidFill>
              </a:defRPr>
            </a:lvl1pPr>
          </a:lstStyle>
          <a:p>
            <a:pPr>
              <a:defRPr b="0"/>
            </a:pPr>
            <a:r>
              <a:rPr b="1"/>
              <a:t>Neolithic excavation kit</a:t>
            </a:r>
          </a:p>
        </p:txBody>
      </p:sp>
      <p:sp>
        <p:nvSpPr>
          <p:cNvPr id="1678" name="Shape 1678"/>
          <p:cNvSpPr/>
          <p:nvPr/>
        </p:nvSpPr>
        <p:spPr>
          <a:xfrm>
            <a:off x="11524732" y="4925059"/>
            <a:ext cx="1308101" cy="564023"/>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a:solidFill>
                  <a:srgbClr val="006795"/>
                </a:solidFill>
              </a:defRPr>
            </a:lvl1pPr>
          </a:lstStyle>
          <a:p>
            <a:r>
              <a:t>Wickerwork basket</a:t>
            </a:r>
          </a:p>
        </p:txBody>
      </p:sp>
      <p:sp>
        <p:nvSpPr>
          <p:cNvPr id="1679" name="Shape 1679"/>
          <p:cNvSpPr/>
          <p:nvPr/>
        </p:nvSpPr>
        <p:spPr>
          <a:xfrm>
            <a:off x="11538253" y="1851660"/>
            <a:ext cx="1194210"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a:solidFill>
                  <a:srgbClr val="006795"/>
                </a:solidFill>
              </a:defRPr>
            </a:lvl1pPr>
          </a:lstStyle>
          <a:p>
            <a:r>
              <a:t>Antler pick</a:t>
            </a:r>
          </a:p>
        </p:txBody>
      </p:sp>
      <p:sp>
        <p:nvSpPr>
          <p:cNvPr id="1680" name="Shape 1680"/>
          <p:cNvSpPr/>
          <p:nvPr/>
        </p:nvSpPr>
        <p:spPr>
          <a:xfrm>
            <a:off x="11034432" y="835660"/>
            <a:ext cx="1409701" cy="5640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lvl1pPr algn="ctr">
              <a:lnSpc>
                <a:spcPts val="2400"/>
              </a:lnSpc>
              <a:tabLst>
                <a:tab pos="520700" algn="l"/>
              </a:tabLst>
              <a:defRPr>
                <a:solidFill>
                  <a:srgbClr val="006795"/>
                </a:solidFill>
              </a:defRPr>
            </a:lvl1pPr>
          </a:lstStyle>
          <a:p>
            <a:r>
              <a:t>Ox shoulder blade shovel</a:t>
            </a:r>
          </a:p>
        </p:txBody>
      </p:sp>
      <p:sp>
        <p:nvSpPr>
          <p:cNvPr id="1681" name="Shape 1681"/>
          <p:cNvSpPr/>
          <p:nvPr/>
        </p:nvSpPr>
        <p:spPr>
          <a:xfrm>
            <a:off x="6419255" y="5407659"/>
            <a:ext cx="1384524" cy="259223"/>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b="1">
                <a:solidFill>
                  <a:srgbClr val="006795"/>
                </a:solidFill>
              </a:defRPr>
            </a:lvl1pPr>
          </a:lstStyle>
          <a:p>
            <a:pPr>
              <a:defRPr b="0"/>
            </a:pPr>
            <a:r>
              <a:rPr b="1"/>
              <a:t>Arrow head</a:t>
            </a:r>
          </a:p>
        </p:txBody>
      </p:sp>
      <p:sp>
        <p:nvSpPr>
          <p:cNvPr id="1682" name="Shape 1682"/>
          <p:cNvSpPr/>
          <p:nvPr/>
        </p:nvSpPr>
        <p:spPr>
          <a:xfrm>
            <a:off x="6992614" y="8915400"/>
            <a:ext cx="2808363" cy="5640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p>
            <a:pPr algn="ctr">
              <a:lnSpc>
                <a:spcPts val="2400"/>
              </a:lnSpc>
              <a:tabLst>
                <a:tab pos="520700" algn="l"/>
              </a:tabLst>
              <a:defRPr sz="2800">
                <a:solidFill>
                  <a:srgbClr val="006795"/>
                </a:solidFill>
                <a:latin typeface="Hoefler Text"/>
                <a:ea typeface="Hoefler Text"/>
                <a:cs typeface="Hoefler Text"/>
                <a:sym typeface="Hoefler Text"/>
              </a:defRPr>
            </a:pPr>
            <a:r>
              <a:rPr sz="1800" b="1">
                <a:latin typeface="+mn-lt"/>
                <a:ea typeface="+mn-ea"/>
                <a:cs typeface="+mn-cs"/>
                <a:sym typeface="Arial"/>
              </a:rPr>
              <a:t>Quern</a:t>
            </a:r>
            <a:endParaRPr sz="1800">
              <a:latin typeface="+mn-lt"/>
              <a:ea typeface="+mn-ea"/>
              <a:cs typeface="+mn-cs"/>
              <a:sym typeface="Arial"/>
            </a:endParaRPr>
          </a:p>
          <a:p>
            <a:pPr algn="ctr">
              <a:lnSpc>
                <a:spcPts val="24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used to grind cereal seeds</a:t>
            </a:r>
          </a:p>
        </p:txBody>
      </p:sp>
      <p:sp>
        <p:nvSpPr>
          <p:cNvPr id="1683" name="Shape 1683"/>
          <p:cNvSpPr/>
          <p:nvPr/>
        </p:nvSpPr>
        <p:spPr>
          <a:xfrm>
            <a:off x="7919837" y="7899400"/>
            <a:ext cx="1385082"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a:solidFill>
                  <a:srgbClr val="006795"/>
                </a:solidFill>
              </a:defRPr>
            </a:lvl1pPr>
          </a:lstStyle>
          <a:p>
            <a:r>
              <a:t>Quern stone</a:t>
            </a:r>
          </a:p>
        </p:txBody>
      </p:sp>
      <p:sp>
        <p:nvSpPr>
          <p:cNvPr id="1684" name="Shape 1684"/>
          <p:cNvSpPr/>
          <p:nvPr/>
        </p:nvSpPr>
        <p:spPr>
          <a:xfrm>
            <a:off x="7602817" y="6591300"/>
            <a:ext cx="1601292"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a:solidFill>
                  <a:srgbClr val="006795"/>
                </a:solidFill>
              </a:defRPr>
            </a:lvl1pPr>
          </a:lstStyle>
          <a:p>
            <a:r>
              <a:t>Rubbing stone</a:t>
            </a:r>
          </a:p>
        </p:txBody>
      </p:sp>
      <p:sp>
        <p:nvSpPr>
          <p:cNvPr id="1685" name="Shape 1685"/>
          <p:cNvSpPr/>
          <p:nvPr/>
        </p:nvSpPr>
        <p:spPr>
          <a:xfrm>
            <a:off x="10256597" y="7289800"/>
            <a:ext cx="1092300" cy="259222"/>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2400"/>
              </a:lnSpc>
              <a:tabLst>
                <a:tab pos="520700" algn="l"/>
              </a:tabLst>
              <a:defRPr>
                <a:solidFill>
                  <a:srgbClr val="006795"/>
                </a:solidFill>
              </a:defRPr>
            </a:lvl1pPr>
          </a:lstStyle>
          <a:p>
            <a:r>
              <a:t>Microliths</a:t>
            </a:r>
          </a:p>
        </p:txBody>
      </p:sp>
      <p:sp>
        <p:nvSpPr>
          <p:cNvPr id="1686" name="Shape 1686"/>
          <p:cNvSpPr/>
          <p:nvPr/>
        </p:nvSpPr>
        <p:spPr>
          <a:xfrm>
            <a:off x="10274300" y="8801100"/>
            <a:ext cx="2590800" cy="792622"/>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algn="ctr">
              <a:lnSpc>
                <a:spcPts val="2100"/>
              </a:lnSpc>
              <a:tabLst>
                <a:tab pos="520700" algn="l"/>
              </a:tabLst>
              <a:defRPr sz="2800" b="1">
                <a:solidFill>
                  <a:srgbClr val="006795"/>
                </a:solidFill>
                <a:latin typeface="Hoefler Text"/>
                <a:ea typeface="Hoefler Text"/>
                <a:cs typeface="Hoefler Text"/>
                <a:sym typeface="Hoefler Text"/>
              </a:defRPr>
            </a:pPr>
            <a:r>
              <a:rPr sz="1800">
                <a:latin typeface="+mn-lt"/>
                <a:ea typeface="+mn-ea"/>
                <a:cs typeface="+mn-cs"/>
                <a:sym typeface="Arial"/>
              </a:rPr>
              <a:t>Sickles</a:t>
            </a:r>
          </a:p>
          <a:p>
            <a:pPr algn="ctr">
              <a:lnSpc>
                <a:spcPts val="2100"/>
              </a:lnSpc>
              <a:tabLst>
                <a:tab pos="520700" algn="l"/>
              </a:tabLst>
              <a:defRPr sz="2800">
                <a:solidFill>
                  <a:srgbClr val="006795"/>
                </a:solidFill>
                <a:latin typeface="Hoefler Text"/>
                <a:ea typeface="Hoefler Text"/>
                <a:cs typeface="Hoefler Text"/>
                <a:sym typeface="Hoefler Text"/>
              </a:defRPr>
            </a:pPr>
            <a:r>
              <a:rPr sz="1800">
                <a:latin typeface="+mn-lt"/>
                <a:ea typeface="+mn-ea"/>
                <a:cs typeface="+mn-cs"/>
                <a:sym typeface="Arial"/>
              </a:rPr>
              <a:t>Used to cut the grasses to gather their seeds</a:t>
            </a:r>
          </a:p>
        </p:txBody>
      </p:sp>
      <p:sp>
        <p:nvSpPr>
          <p:cNvPr id="1687" name="Shape 1687"/>
          <p:cNvSpPr/>
          <p:nvPr/>
        </p:nvSpPr>
        <p:spPr>
          <a:xfrm flipH="1" flipV="1">
            <a:off x="11264900" y="7556500"/>
            <a:ext cx="355600" cy="317500"/>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688" name="Shape 1688"/>
          <p:cNvSpPr/>
          <p:nvPr/>
        </p:nvSpPr>
        <p:spPr>
          <a:xfrm flipV="1">
            <a:off x="10386059" y="1089660"/>
            <a:ext cx="736601" cy="4318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689" name="Shape 1689"/>
          <p:cNvSpPr/>
          <p:nvPr/>
        </p:nvSpPr>
        <p:spPr>
          <a:xfrm flipV="1">
            <a:off x="12087859" y="2181860"/>
            <a:ext cx="127001" cy="5842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sp>
        <p:nvSpPr>
          <p:cNvPr id="1690" name="Shape 1690"/>
          <p:cNvSpPr/>
          <p:nvPr/>
        </p:nvSpPr>
        <p:spPr>
          <a:xfrm>
            <a:off x="11757659" y="4201159"/>
            <a:ext cx="393701" cy="723901"/>
          </a:xfrm>
          <a:prstGeom prst="line">
            <a:avLst/>
          </a:prstGeom>
          <a:ln w="25400">
            <a:solidFill>
              <a:srgbClr val="006795"/>
            </a:solidFill>
            <a:miter lim="400000"/>
            <a:headEnd type="triangle"/>
          </a:ln>
        </p:spPr>
        <p:txBody>
          <a:bodyPr lIns="0" tIns="0" rIns="0" bIns="0"/>
          <a:lstStyle/>
          <a:p>
            <a:pPr marL="0">
              <a:tabLst/>
              <a:defRPr sz="1200">
                <a:solidFill>
                  <a:srgbClr val="000000"/>
                </a:solidFill>
                <a:latin typeface="Helvetica"/>
                <a:ea typeface="Helvetica"/>
                <a:cs typeface="Helvetica"/>
                <a:sym typeface="Helvetica"/>
              </a:defRPr>
            </a:pPr>
            <a:endParaRPr/>
          </a:p>
        </p:txBody>
      </p:sp>
      <p:pic>
        <p:nvPicPr>
          <p:cNvPr id="1691" name="Arrow.png"/>
          <p:cNvPicPr>
            <a:picLocks noChangeAspect="1"/>
          </p:cNvPicPr>
          <p:nvPr/>
        </p:nvPicPr>
        <p:blipFill>
          <a:blip r:embed="rId5">
            <a:extLst/>
          </a:blip>
          <a:stretch>
            <a:fillRect/>
          </a:stretch>
        </p:blipFill>
        <p:spPr>
          <a:xfrm>
            <a:off x="6705600" y="3302000"/>
            <a:ext cx="901700" cy="2032000"/>
          </a:xfrm>
          <a:prstGeom prst="rect">
            <a:avLst/>
          </a:prstGeom>
          <a:ln w="254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76">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76">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76">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76">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676">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167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76" grpId="1" build="p" bldLvl="5" animBg="1" advAuto="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3" name="Shape 1693"/>
          <p:cNvSpPr/>
          <p:nvPr/>
        </p:nvSpPr>
        <p:spPr>
          <a:xfrm>
            <a:off x="7196970" y="5300146"/>
            <a:ext cx="5840056" cy="4516954"/>
          </a:xfrm>
          <a:prstGeom prst="rect">
            <a:avLst/>
          </a:prstGeom>
          <a:solidFill>
            <a:srgbClr val="FFFFFF">
              <a:alpha val="50000"/>
            </a:srgbClr>
          </a:solidFill>
          <a:ln w="25400">
            <a:miter lim="400000"/>
          </a:ln>
        </p:spPr>
        <p:txBody>
          <a:bodyPr lIns="0" tIns="0" rIns="0" bIns="0" anchor="ct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pic>
        <p:nvPicPr>
          <p:cNvPr id="1694" name="503027.jpg"/>
          <p:cNvPicPr>
            <a:picLocks noChangeAspect="1"/>
          </p:cNvPicPr>
          <p:nvPr/>
        </p:nvPicPr>
        <p:blipFill>
          <a:blip r:embed="rId2">
            <a:extLst/>
          </a:blip>
          <a:stretch>
            <a:fillRect/>
          </a:stretch>
        </p:blipFill>
        <p:spPr>
          <a:xfrm>
            <a:off x="7205980" y="1844039"/>
            <a:ext cx="5816601" cy="3877735"/>
          </a:xfrm>
          <a:prstGeom prst="rect">
            <a:avLst/>
          </a:prstGeom>
          <a:ln w="25400">
            <a:solidFill>
              <a:srgbClr val="FFFFFF"/>
            </a:solidFill>
            <a:miter lim="400000"/>
          </a:ln>
        </p:spPr>
      </p:pic>
      <p:pic>
        <p:nvPicPr>
          <p:cNvPr id="1695" name="Agriculture Origins map.pdf"/>
          <p:cNvPicPr>
            <a:picLocks noChangeAspect="1"/>
          </p:cNvPicPr>
          <p:nvPr/>
        </p:nvPicPr>
        <p:blipFill>
          <a:blip r:embed="rId3">
            <a:extLst/>
          </a:blip>
          <a:stretch>
            <a:fillRect/>
          </a:stretch>
        </p:blipFill>
        <p:spPr>
          <a:xfrm>
            <a:off x="7421880" y="5994400"/>
            <a:ext cx="5588001" cy="3316243"/>
          </a:xfrm>
          <a:prstGeom prst="rect">
            <a:avLst/>
          </a:prstGeom>
          <a:ln w="12700">
            <a:miter lim="400000"/>
          </a:ln>
        </p:spPr>
      </p:pic>
      <p:sp>
        <p:nvSpPr>
          <p:cNvPr id="1696" name="Shape 1696"/>
          <p:cNvSpPr>
            <a:spLocks noGrp="1"/>
          </p:cNvSpPr>
          <p:nvPr>
            <p:ph type="title"/>
          </p:nvPr>
        </p:nvSpPr>
        <p:spPr>
          <a:xfrm>
            <a:off x="386079" y="368300"/>
            <a:ext cx="12192001" cy="920096"/>
          </a:xfrm>
          <a:prstGeom prst="rect">
            <a:avLst/>
          </a:prstGeom>
        </p:spPr>
        <p:txBody>
          <a:bodyPr/>
          <a:lstStyle>
            <a:lvl1pPr>
              <a:tabLst>
                <a:tab pos="952500" algn="l"/>
              </a:tabLst>
              <a:defRPr spc="-128"/>
            </a:lvl1pPr>
          </a:lstStyle>
          <a:p>
            <a:r>
              <a:t>The Beginning of Agriculture</a:t>
            </a:r>
          </a:p>
        </p:txBody>
      </p:sp>
      <p:sp>
        <p:nvSpPr>
          <p:cNvPr id="1697" name="Shape 1697"/>
          <p:cNvSpPr>
            <a:spLocks noGrp="1"/>
          </p:cNvSpPr>
          <p:nvPr>
            <p:ph type="body" sz="half" idx="1"/>
          </p:nvPr>
        </p:nvSpPr>
        <p:spPr>
          <a:prstGeom prst="rect">
            <a:avLst/>
          </a:prstGeom>
        </p:spPr>
        <p:txBody>
          <a:bodyPr/>
          <a:lstStyle/>
          <a:p>
            <a:pPr>
              <a:tabLst>
                <a:tab pos="1016000" algn="l"/>
              </a:tabLst>
            </a:pPr>
            <a:r>
              <a:t>Farming began in different parts of the world at different times:</a:t>
            </a:r>
          </a:p>
          <a:p>
            <a:pPr lvl="1">
              <a:tabLst>
                <a:tab pos="1485900" algn="l"/>
              </a:tabLst>
            </a:pPr>
            <a:r>
              <a:t>Earliest evidence is found in the so-called ‘fertile crescent’ running from Egypt to the Persian Gulf about 10,000 years ago.</a:t>
            </a:r>
          </a:p>
          <a:p>
            <a:pPr lvl="1">
              <a:tabLst>
                <a:tab pos="1485900" algn="l"/>
              </a:tabLst>
            </a:pPr>
            <a:r>
              <a:t>By about 7,000 years ago, agriculture became established in China.</a:t>
            </a:r>
          </a:p>
          <a:p>
            <a:pPr lvl="1">
              <a:tabLst>
                <a:tab pos="1485900" algn="l"/>
              </a:tabLst>
            </a:pPr>
            <a:r>
              <a:t>This was followed by Mesoamerica (Guatemala, Honduras and southern Mexico) about 5,000 years ago.</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69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69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169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169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169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7" grpId="1" build="p" bldLvl="5" animBg="1"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99" name="Agriculture Origins map.pdf"/>
          <p:cNvPicPr>
            <a:picLocks noChangeAspect="1"/>
          </p:cNvPicPr>
          <p:nvPr/>
        </p:nvPicPr>
        <p:blipFill>
          <a:blip r:embed="rId2">
            <a:extLst/>
          </a:blip>
          <a:stretch>
            <a:fillRect/>
          </a:stretch>
        </p:blipFill>
        <p:spPr>
          <a:xfrm>
            <a:off x="3048000" y="3352800"/>
            <a:ext cx="8483600" cy="5034660"/>
          </a:xfrm>
          <a:prstGeom prst="rect">
            <a:avLst/>
          </a:prstGeom>
          <a:ln w="12700">
            <a:miter lim="400000"/>
          </a:ln>
        </p:spPr>
      </p:pic>
      <p:sp>
        <p:nvSpPr>
          <p:cNvPr id="1700" name="Shape 1700"/>
          <p:cNvSpPr>
            <a:spLocks noGrp="1"/>
          </p:cNvSpPr>
          <p:nvPr>
            <p:ph type="title"/>
          </p:nvPr>
        </p:nvSpPr>
        <p:spPr>
          <a:xfrm>
            <a:off x="386079" y="368300"/>
            <a:ext cx="12192001" cy="919153"/>
          </a:xfrm>
          <a:prstGeom prst="rect">
            <a:avLst/>
          </a:prstGeom>
        </p:spPr>
        <p:txBody>
          <a:bodyPr/>
          <a:lstStyle>
            <a:lvl1pPr>
              <a:tabLst>
                <a:tab pos="952500" algn="l"/>
              </a:tabLst>
              <a:defRPr spc="-128"/>
            </a:lvl1pPr>
          </a:lstStyle>
          <a:p>
            <a:r>
              <a:t>The Beginning of Agriculture</a:t>
            </a:r>
          </a:p>
        </p:txBody>
      </p:sp>
      <p:grpSp>
        <p:nvGrpSpPr>
          <p:cNvPr id="1705" name="Group 1705"/>
          <p:cNvGrpSpPr/>
          <p:nvPr/>
        </p:nvGrpSpPr>
        <p:grpSpPr>
          <a:xfrm>
            <a:off x="81417" y="213108"/>
            <a:ext cx="3996215" cy="5285992"/>
            <a:chOff x="0" y="0"/>
            <a:chExt cx="3996213" cy="5285991"/>
          </a:xfrm>
        </p:grpSpPr>
        <p:sp>
          <p:nvSpPr>
            <p:cNvPr id="1701" name="Shape 1701"/>
            <p:cNvSpPr/>
            <p:nvPr/>
          </p:nvSpPr>
          <p:spPr>
            <a:xfrm flipH="1" flipV="1">
              <a:off x="2636382" y="3774691"/>
              <a:ext cx="1206501" cy="1511301"/>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702" name="Shape 1702"/>
            <p:cNvSpPr/>
            <p:nvPr/>
          </p:nvSpPr>
          <p:spPr>
            <a:xfrm>
              <a:off x="210682" y="2695191"/>
              <a:ext cx="2438401" cy="1800001"/>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03" name="Shape 1703"/>
            <p:cNvSpPr/>
            <p:nvPr/>
          </p:nvSpPr>
          <p:spPr>
            <a:xfrm>
              <a:off x="421497" y="2898391"/>
              <a:ext cx="2006601" cy="14022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3000"/>
                </a:lnSpc>
                <a:tabLst>
                  <a:tab pos="520700" algn="l"/>
                </a:tabLst>
                <a:defRPr sz="2800">
                  <a:solidFill>
                    <a:srgbClr val="483F36"/>
                  </a:solidFill>
                  <a:latin typeface="Hoefler Text"/>
                  <a:ea typeface="Hoefler Text"/>
                  <a:cs typeface="Hoefler Text"/>
                  <a:sym typeface="Hoefler Text"/>
                </a:defRPr>
              </a:pPr>
              <a:r>
                <a:rPr sz="2200" b="1">
                  <a:solidFill>
                    <a:srgbClr val="000000"/>
                  </a:solidFill>
                  <a:latin typeface="+mn-lt"/>
                  <a:ea typeface="+mn-ea"/>
                  <a:cs typeface="+mn-cs"/>
                  <a:sym typeface="Arial"/>
                </a:rPr>
                <a:t>Mesoamerica</a:t>
              </a:r>
              <a:endParaRPr sz="1800">
                <a:solidFill>
                  <a:srgbClr val="000000"/>
                </a:solidFill>
                <a:latin typeface="+mn-lt"/>
                <a:ea typeface="+mn-ea"/>
                <a:cs typeface="+mn-cs"/>
                <a:sym typeface="Arial"/>
              </a:endParaRPr>
            </a:p>
            <a:p>
              <a:pPr algn="ctr">
                <a:lnSpc>
                  <a:spcPts val="2000"/>
                </a:lnSpc>
                <a:tabLst>
                  <a:tab pos="520700" algn="l"/>
                </a:tabLst>
                <a:defRPr sz="2800">
                  <a:solidFill>
                    <a:srgbClr val="483F36"/>
                  </a:solidFill>
                  <a:latin typeface="Hoefler Text"/>
                  <a:ea typeface="Hoefler Text"/>
                  <a:cs typeface="Hoefler Text"/>
                  <a:sym typeface="Hoefler Text"/>
                </a:defRPr>
              </a:pPr>
              <a:r>
                <a:rPr sz="1400" i="1">
                  <a:solidFill>
                    <a:srgbClr val="000000"/>
                  </a:solidFill>
                  <a:latin typeface="+mn-lt"/>
                  <a:ea typeface="+mn-ea"/>
                  <a:cs typeface="+mn-cs"/>
                  <a:sym typeface="Arial"/>
                </a:rPr>
                <a:t>Beans, maize, peppers,</a:t>
              </a:r>
            </a:p>
            <a:p>
              <a:pPr algn="ctr">
                <a:lnSpc>
                  <a:spcPts val="2000"/>
                </a:lnSpc>
                <a:tabLst>
                  <a:tab pos="520700" algn="l"/>
                </a:tabLst>
                <a:defRPr sz="2800">
                  <a:solidFill>
                    <a:srgbClr val="483F36"/>
                  </a:solidFill>
                  <a:latin typeface="Hoefler Text"/>
                  <a:ea typeface="Hoefler Text"/>
                  <a:cs typeface="Hoefler Text"/>
                  <a:sym typeface="Hoefler Text"/>
                </a:defRPr>
              </a:pPr>
              <a:r>
                <a:rPr sz="1400" i="1">
                  <a:solidFill>
                    <a:srgbClr val="000000"/>
                  </a:solidFill>
                  <a:latin typeface="+mn-lt"/>
                  <a:ea typeface="+mn-ea"/>
                  <a:cs typeface="+mn-cs"/>
                  <a:sym typeface="Arial"/>
                </a:rPr>
                <a:t>squash, gourds, cotton,</a:t>
              </a:r>
            </a:p>
            <a:p>
              <a:pPr algn="ctr">
                <a:lnSpc>
                  <a:spcPts val="2000"/>
                </a:lnSpc>
                <a:tabLst>
                  <a:tab pos="520700" algn="l"/>
                </a:tabLst>
                <a:defRPr sz="2800">
                  <a:solidFill>
                    <a:srgbClr val="483F36"/>
                  </a:solidFill>
                  <a:latin typeface="Hoefler Text"/>
                  <a:ea typeface="Hoefler Text"/>
                  <a:cs typeface="Hoefler Text"/>
                  <a:sym typeface="Hoefler Text"/>
                </a:defRPr>
              </a:pPr>
              <a:r>
                <a:rPr sz="1400" i="1">
                  <a:solidFill>
                    <a:srgbClr val="000000"/>
                  </a:solidFill>
                  <a:latin typeface="+mn-lt"/>
                  <a:ea typeface="+mn-ea"/>
                  <a:cs typeface="+mn-cs"/>
                  <a:sym typeface="Arial"/>
                </a:rPr>
                <a:t>guinea-pigs, llamas</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8,000</a:t>
              </a:r>
              <a:r>
                <a:rPr sz="1800">
                  <a:solidFill>
                    <a:srgbClr val="000000"/>
                  </a:solidFill>
                  <a:latin typeface="+mn-lt"/>
                  <a:ea typeface="+mn-ea"/>
                  <a:cs typeface="+mn-cs"/>
                  <a:sym typeface="Arial"/>
                </a:rPr>
                <a:t> years ago</a:t>
              </a:r>
            </a:p>
          </p:txBody>
        </p:sp>
        <p:pic>
          <p:nvPicPr>
            <p:cNvPr id="1704" name="corn-7-HEM8,2.png"/>
            <p:cNvPicPr>
              <a:picLocks noChangeAspect="1"/>
            </p:cNvPicPr>
            <p:nvPr/>
          </p:nvPicPr>
          <p:blipFill>
            <a:blip r:embed="rId3">
              <a:extLst/>
            </a:blip>
            <a:stretch>
              <a:fillRect/>
            </a:stretch>
          </p:blipFill>
          <p:spPr>
            <a:xfrm rot="18900000">
              <a:off x="321706" y="848757"/>
              <a:ext cx="3352801" cy="2298701"/>
            </a:xfrm>
            <a:prstGeom prst="rect">
              <a:avLst/>
            </a:prstGeom>
            <a:ln w="12700" cap="flat">
              <a:noFill/>
              <a:miter lim="400000"/>
            </a:ln>
            <a:effectLst/>
          </p:spPr>
        </p:pic>
      </p:grpSp>
      <p:grpSp>
        <p:nvGrpSpPr>
          <p:cNvPr id="1710" name="Group 1710"/>
          <p:cNvGrpSpPr/>
          <p:nvPr/>
        </p:nvGrpSpPr>
        <p:grpSpPr>
          <a:xfrm>
            <a:off x="800100" y="5321300"/>
            <a:ext cx="3911600" cy="3603401"/>
            <a:chOff x="0" y="0"/>
            <a:chExt cx="3911599" cy="3603400"/>
          </a:xfrm>
        </p:grpSpPr>
        <p:sp>
          <p:nvSpPr>
            <p:cNvPr id="1706" name="Shape 1706"/>
            <p:cNvSpPr/>
            <p:nvPr/>
          </p:nvSpPr>
          <p:spPr>
            <a:xfrm flipH="1">
              <a:off x="2425700" y="1409700"/>
              <a:ext cx="1485900" cy="1257300"/>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707" name="Shape 1707"/>
            <p:cNvSpPr/>
            <p:nvPr/>
          </p:nvSpPr>
          <p:spPr>
            <a:xfrm>
              <a:off x="0" y="1803400"/>
              <a:ext cx="2438400" cy="1800001"/>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08" name="Shape 1708"/>
            <p:cNvSpPr/>
            <p:nvPr/>
          </p:nvSpPr>
          <p:spPr>
            <a:xfrm>
              <a:off x="50800" y="1930400"/>
              <a:ext cx="2082800" cy="1402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3000"/>
                </a:lnSpc>
                <a:tabLst>
                  <a:tab pos="520700" algn="l"/>
                </a:tabLst>
                <a:defRPr sz="2200">
                  <a:solidFill>
                    <a:srgbClr val="483F36"/>
                  </a:solidFill>
                  <a:latin typeface="Hoefler Text"/>
                  <a:ea typeface="Hoefler Text"/>
                  <a:cs typeface="Hoefler Text"/>
                  <a:sym typeface="Hoefler Text"/>
                </a:defRPr>
              </a:pPr>
              <a:r>
                <a:rPr b="1">
                  <a:solidFill>
                    <a:srgbClr val="000000"/>
                  </a:solidFill>
                  <a:latin typeface="+mn-lt"/>
                  <a:ea typeface="+mn-ea"/>
                  <a:cs typeface="+mn-cs"/>
                  <a:sym typeface="Arial"/>
                </a:rPr>
                <a:t>South America</a:t>
              </a:r>
              <a:endParaRPr>
                <a:solidFill>
                  <a:srgbClr val="000000"/>
                </a:solidFill>
                <a:latin typeface="+mn-lt"/>
                <a:ea typeface="+mn-ea"/>
                <a:cs typeface="+mn-cs"/>
                <a:sym typeface="Arial"/>
              </a:endParaRPr>
            </a:p>
            <a:p>
              <a:pPr algn="ctr">
                <a:lnSpc>
                  <a:spcPts val="2000"/>
                </a:lnSpc>
                <a:tabLst>
                  <a:tab pos="520700" algn="l"/>
                </a:tabLst>
                <a:defRPr sz="1400" i="1">
                  <a:solidFill>
                    <a:srgbClr val="483F36"/>
                  </a:solidFill>
                </a:defRPr>
              </a:pPr>
              <a:r>
                <a:rPr>
                  <a:solidFill>
                    <a:srgbClr val="000000"/>
                  </a:solidFill>
                </a:rPr>
                <a:t>Lima beans, potatoes, squash, beans, and pumpkins</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8,000</a:t>
              </a:r>
              <a:r>
                <a:rPr sz="1800">
                  <a:solidFill>
                    <a:srgbClr val="000000"/>
                  </a:solidFill>
                  <a:latin typeface="+mn-lt"/>
                  <a:ea typeface="+mn-ea"/>
                  <a:cs typeface="+mn-cs"/>
                  <a:sym typeface="Arial"/>
                </a:rPr>
                <a:t> years ago</a:t>
              </a:r>
            </a:p>
          </p:txBody>
        </p:sp>
        <p:pic>
          <p:nvPicPr>
            <p:cNvPr id="1709" name="potatoes.png"/>
            <p:cNvPicPr>
              <a:picLocks noChangeAspect="1"/>
            </p:cNvPicPr>
            <p:nvPr/>
          </p:nvPicPr>
          <p:blipFill>
            <a:blip r:embed="rId4">
              <a:extLst/>
            </a:blip>
            <a:stretch>
              <a:fillRect/>
            </a:stretch>
          </p:blipFill>
          <p:spPr>
            <a:xfrm>
              <a:off x="0" y="0"/>
              <a:ext cx="2552894" cy="1676400"/>
            </a:xfrm>
            <a:prstGeom prst="rect">
              <a:avLst/>
            </a:prstGeom>
            <a:ln w="12700" cap="flat">
              <a:noFill/>
              <a:miter lim="400000"/>
            </a:ln>
            <a:effectLst/>
          </p:spPr>
        </p:pic>
      </p:grpSp>
      <p:grpSp>
        <p:nvGrpSpPr>
          <p:cNvPr id="1715" name="Group 1715"/>
          <p:cNvGrpSpPr/>
          <p:nvPr/>
        </p:nvGrpSpPr>
        <p:grpSpPr>
          <a:xfrm>
            <a:off x="4279900" y="5994400"/>
            <a:ext cx="4533900" cy="3451001"/>
            <a:chOff x="0" y="0"/>
            <a:chExt cx="4533900" cy="3451000"/>
          </a:xfrm>
        </p:grpSpPr>
        <p:sp>
          <p:nvSpPr>
            <p:cNvPr id="1711" name="Shape 1711"/>
            <p:cNvSpPr/>
            <p:nvPr/>
          </p:nvSpPr>
          <p:spPr>
            <a:xfrm flipH="1">
              <a:off x="2933700" y="0"/>
              <a:ext cx="1" cy="1665445"/>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sp>
          <p:nvSpPr>
            <p:cNvPr id="1712" name="Shape 1712"/>
            <p:cNvSpPr/>
            <p:nvPr/>
          </p:nvSpPr>
          <p:spPr>
            <a:xfrm>
              <a:off x="2146300" y="1651000"/>
              <a:ext cx="2387600" cy="1800001"/>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3" name="Shape 1713"/>
            <p:cNvSpPr/>
            <p:nvPr/>
          </p:nvSpPr>
          <p:spPr>
            <a:xfrm>
              <a:off x="2273300" y="1854200"/>
              <a:ext cx="2120900" cy="1402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3000"/>
                </a:lnSpc>
                <a:tabLst>
                  <a:tab pos="520700" algn="l"/>
                </a:tabLst>
                <a:defRPr sz="2800">
                  <a:solidFill>
                    <a:srgbClr val="483F36"/>
                  </a:solidFill>
                  <a:latin typeface="Hoefler Text"/>
                  <a:ea typeface="Hoefler Text"/>
                  <a:cs typeface="Hoefler Text"/>
                  <a:sym typeface="Hoefler Text"/>
                </a:defRPr>
              </a:pPr>
              <a:r>
                <a:rPr sz="2200" b="1">
                  <a:solidFill>
                    <a:srgbClr val="000000"/>
                  </a:solidFill>
                  <a:latin typeface="+mn-lt"/>
                  <a:ea typeface="+mn-ea"/>
                  <a:cs typeface="+mn-cs"/>
                  <a:sym typeface="Arial"/>
                </a:rPr>
                <a:t>Africa</a:t>
              </a:r>
              <a:endParaRPr sz="1800">
                <a:solidFill>
                  <a:srgbClr val="000000"/>
                </a:solidFill>
                <a:latin typeface="+mn-lt"/>
                <a:ea typeface="+mn-ea"/>
                <a:cs typeface="+mn-cs"/>
                <a:sym typeface="Arial"/>
              </a:endParaRPr>
            </a:p>
            <a:p>
              <a:pPr algn="ctr">
                <a:lnSpc>
                  <a:spcPts val="2000"/>
                </a:lnSpc>
                <a:tabLst>
                  <a:tab pos="520700" algn="l"/>
                </a:tabLst>
                <a:defRPr sz="2800">
                  <a:solidFill>
                    <a:srgbClr val="483F36"/>
                  </a:solidFill>
                  <a:latin typeface="Hoefler Text"/>
                  <a:ea typeface="Hoefler Text"/>
                  <a:cs typeface="Hoefler Text"/>
                  <a:sym typeface="Hoefler Text"/>
                </a:defRPr>
              </a:pPr>
              <a:r>
                <a:rPr sz="1400" i="1">
                  <a:solidFill>
                    <a:srgbClr val="000000"/>
                  </a:solidFill>
                  <a:latin typeface="+mn-lt"/>
                  <a:ea typeface="+mn-ea"/>
                  <a:cs typeface="+mn-cs"/>
                  <a:sym typeface="Arial"/>
                </a:rPr>
                <a:t>Millets, sorghum, groundnuts, yams, dates, coffee, and melons</a:t>
              </a:r>
              <a:endParaRPr sz="1800">
                <a:solidFill>
                  <a:srgbClr val="000000"/>
                </a:solidFill>
                <a:latin typeface="+mn-lt"/>
                <a:ea typeface="+mn-ea"/>
                <a:cs typeface="+mn-cs"/>
                <a:sym typeface="Arial"/>
              </a:endParaRPr>
            </a:p>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&gt; </a:t>
              </a:r>
              <a:r>
                <a:rPr sz="1800" b="1">
                  <a:solidFill>
                    <a:srgbClr val="000000"/>
                  </a:solidFill>
                  <a:latin typeface="+mn-lt"/>
                  <a:ea typeface="+mn-ea"/>
                  <a:cs typeface="+mn-cs"/>
                  <a:sym typeface="Arial"/>
                </a:rPr>
                <a:t>4,000</a:t>
              </a:r>
              <a:r>
                <a:rPr sz="1800">
                  <a:solidFill>
                    <a:srgbClr val="000000"/>
                  </a:solidFill>
                  <a:latin typeface="+mn-lt"/>
                  <a:ea typeface="+mn-ea"/>
                  <a:cs typeface="+mn-cs"/>
                  <a:sym typeface="Arial"/>
                </a:rPr>
                <a:t> years ago</a:t>
              </a:r>
            </a:p>
          </p:txBody>
        </p:sp>
        <p:pic>
          <p:nvPicPr>
            <p:cNvPr id="1714" name="Sorghum-clearcut.png"/>
            <p:cNvPicPr>
              <a:picLocks noChangeAspect="1"/>
            </p:cNvPicPr>
            <p:nvPr/>
          </p:nvPicPr>
          <p:blipFill>
            <a:blip r:embed="rId5">
              <a:extLst/>
            </a:blip>
            <a:stretch>
              <a:fillRect/>
            </a:stretch>
          </p:blipFill>
          <p:spPr>
            <a:xfrm>
              <a:off x="0" y="1498600"/>
              <a:ext cx="2452327" cy="1943100"/>
            </a:xfrm>
            <a:prstGeom prst="rect">
              <a:avLst/>
            </a:prstGeom>
            <a:ln w="12700" cap="flat">
              <a:noFill/>
              <a:miter lim="400000"/>
            </a:ln>
            <a:effectLst/>
          </p:spPr>
        </p:pic>
      </p:grpSp>
      <p:grpSp>
        <p:nvGrpSpPr>
          <p:cNvPr id="1720" name="Group 1720"/>
          <p:cNvGrpSpPr/>
          <p:nvPr/>
        </p:nvGrpSpPr>
        <p:grpSpPr>
          <a:xfrm>
            <a:off x="9055100" y="1460500"/>
            <a:ext cx="3632268" cy="3416345"/>
            <a:chOff x="0" y="0"/>
            <a:chExt cx="3632267" cy="3416344"/>
          </a:xfrm>
        </p:grpSpPr>
        <p:sp>
          <p:nvSpPr>
            <p:cNvPr id="1716" name="Shape 1716"/>
            <p:cNvSpPr/>
            <p:nvPr/>
          </p:nvSpPr>
          <p:spPr>
            <a:xfrm>
              <a:off x="0" y="0"/>
              <a:ext cx="2057400" cy="1620001"/>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17" name="Shape 1717"/>
            <p:cNvSpPr/>
            <p:nvPr/>
          </p:nvSpPr>
          <p:spPr>
            <a:xfrm>
              <a:off x="131911" y="241300"/>
              <a:ext cx="1765301" cy="1148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3000"/>
                </a:lnSpc>
                <a:tabLst>
                  <a:tab pos="520700" algn="l"/>
                </a:tabLst>
                <a:defRPr sz="2200">
                  <a:solidFill>
                    <a:srgbClr val="483F36"/>
                  </a:solidFill>
                  <a:latin typeface="Hoefler Text"/>
                  <a:ea typeface="Hoefler Text"/>
                  <a:cs typeface="Hoefler Text"/>
                  <a:sym typeface="Hoefler Text"/>
                </a:defRPr>
              </a:pPr>
              <a:r>
                <a:rPr b="1">
                  <a:solidFill>
                    <a:srgbClr val="000000"/>
                  </a:solidFill>
                  <a:latin typeface="+mn-lt"/>
                  <a:ea typeface="+mn-ea"/>
                  <a:cs typeface="+mn-cs"/>
                  <a:sym typeface="Arial"/>
                </a:rPr>
                <a:t>North China</a:t>
              </a:r>
              <a:endParaRPr>
                <a:solidFill>
                  <a:srgbClr val="000000"/>
                </a:solidFill>
                <a:latin typeface="+mn-lt"/>
                <a:ea typeface="+mn-ea"/>
                <a:cs typeface="+mn-cs"/>
                <a:sym typeface="Arial"/>
              </a:endParaRPr>
            </a:p>
            <a:p>
              <a:pPr algn="ctr">
                <a:lnSpc>
                  <a:spcPts val="2000"/>
                </a:lnSpc>
                <a:tabLst>
                  <a:tab pos="520700" algn="l"/>
                </a:tabLst>
                <a:defRPr sz="1400" i="1">
                  <a:solidFill>
                    <a:srgbClr val="483F36"/>
                  </a:solidFill>
                </a:defRPr>
              </a:pPr>
              <a:r>
                <a:rPr>
                  <a:solidFill>
                    <a:srgbClr val="000000"/>
                  </a:solidFill>
                </a:rPr>
                <a:t>Rice and millet</a:t>
              </a:r>
            </a:p>
            <a:p>
              <a:pPr algn="ctr">
                <a:lnSpc>
                  <a:spcPts val="3700"/>
                </a:lnSpc>
                <a:tabLst>
                  <a:tab pos="520700" algn="l"/>
                </a:tabLst>
                <a:defRPr sz="2800">
                  <a:solidFill>
                    <a:srgbClr val="483F36"/>
                  </a:solidFill>
                  <a:latin typeface="Hoefler Text"/>
                  <a:ea typeface="Hoefler Text"/>
                  <a:cs typeface="Hoefler Text"/>
                  <a:sym typeface="Hoefler Text"/>
                </a:defRPr>
              </a:pPr>
              <a:endParaRPr sz="1400">
                <a:solidFill>
                  <a:srgbClr val="000000"/>
                </a:solidFill>
                <a:latin typeface="+mn-lt"/>
                <a:ea typeface="+mn-ea"/>
                <a:cs typeface="+mn-cs"/>
                <a:sym typeface="Arial"/>
              </a:endParaRPr>
            </a:p>
            <a:p>
              <a:pPr algn="ctr">
                <a:lnSpc>
                  <a:spcPts val="25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7,000</a:t>
              </a:r>
              <a:r>
                <a:rPr sz="1800">
                  <a:solidFill>
                    <a:srgbClr val="000000"/>
                  </a:solidFill>
                  <a:latin typeface="+mn-lt"/>
                  <a:ea typeface="+mn-ea"/>
                  <a:cs typeface="+mn-cs"/>
                  <a:sym typeface="Arial"/>
                </a:rPr>
                <a:t> years ago</a:t>
              </a:r>
            </a:p>
          </p:txBody>
        </p:sp>
        <p:sp>
          <p:nvSpPr>
            <p:cNvPr id="1718" name="Shape 1718"/>
            <p:cNvSpPr/>
            <p:nvPr/>
          </p:nvSpPr>
          <p:spPr>
            <a:xfrm flipV="1">
              <a:off x="1016000" y="1625538"/>
              <a:ext cx="1" cy="1790807"/>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719" name="Rice grains.png"/>
            <p:cNvPicPr>
              <a:picLocks noChangeAspect="1"/>
            </p:cNvPicPr>
            <p:nvPr/>
          </p:nvPicPr>
          <p:blipFill>
            <a:blip r:embed="rId6">
              <a:extLst/>
            </a:blip>
            <a:stretch>
              <a:fillRect/>
            </a:stretch>
          </p:blipFill>
          <p:spPr>
            <a:xfrm>
              <a:off x="1879600" y="50800"/>
              <a:ext cx="1752668" cy="1663700"/>
            </a:xfrm>
            <a:prstGeom prst="rect">
              <a:avLst/>
            </a:prstGeom>
            <a:ln w="12700" cap="flat">
              <a:noFill/>
              <a:miter lim="400000"/>
            </a:ln>
            <a:effectLst/>
          </p:spPr>
        </p:pic>
      </p:grpSp>
      <p:grpSp>
        <p:nvGrpSpPr>
          <p:cNvPr id="1725" name="Group 1725"/>
          <p:cNvGrpSpPr/>
          <p:nvPr/>
        </p:nvGrpSpPr>
        <p:grpSpPr>
          <a:xfrm>
            <a:off x="4064000" y="1460500"/>
            <a:ext cx="4051300" cy="3416301"/>
            <a:chOff x="0" y="0"/>
            <a:chExt cx="4051300" cy="3416300"/>
          </a:xfrm>
        </p:grpSpPr>
        <p:sp>
          <p:nvSpPr>
            <p:cNvPr id="1721" name="Shape 1721"/>
            <p:cNvSpPr/>
            <p:nvPr/>
          </p:nvSpPr>
          <p:spPr>
            <a:xfrm>
              <a:off x="901700" y="0"/>
              <a:ext cx="3149600" cy="1620001"/>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22" name="Shape 1722"/>
            <p:cNvSpPr/>
            <p:nvPr/>
          </p:nvSpPr>
          <p:spPr>
            <a:xfrm>
              <a:off x="1052301" y="241300"/>
              <a:ext cx="2832101" cy="1148222"/>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3000"/>
                </a:lnSpc>
                <a:tabLst>
                  <a:tab pos="520700" algn="l"/>
                </a:tabLst>
                <a:defRPr sz="2200" b="1">
                  <a:solidFill>
                    <a:srgbClr val="483F36"/>
                  </a:solidFill>
                </a:defRPr>
              </a:pPr>
              <a:r>
                <a:rPr>
                  <a:solidFill>
                    <a:srgbClr val="000000"/>
                  </a:solidFill>
                </a:rPr>
                <a:t>Fertile Crescent</a:t>
              </a:r>
            </a:p>
            <a:p>
              <a:pPr algn="ctr">
                <a:lnSpc>
                  <a:spcPts val="2000"/>
                </a:lnSpc>
                <a:tabLst>
                  <a:tab pos="520700" algn="l"/>
                </a:tabLst>
                <a:defRPr sz="2800">
                  <a:solidFill>
                    <a:srgbClr val="483F36"/>
                  </a:solidFill>
                  <a:latin typeface="Hoefler Text"/>
                  <a:ea typeface="Hoefler Text"/>
                  <a:cs typeface="Hoefler Text"/>
                  <a:sym typeface="Hoefler Text"/>
                </a:defRPr>
              </a:pPr>
              <a:r>
                <a:rPr sz="1400" i="1">
                  <a:solidFill>
                    <a:srgbClr val="000000"/>
                  </a:solidFill>
                  <a:latin typeface="+mn-lt"/>
                  <a:ea typeface="+mn-ea"/>
                  <a:cs typeface="+mn-cs"/>
                  <a:sym typeface="Arial"/>
                </a:rPr>
                <a:t>Barley, wheat, emmer, einkorn, lentils, peas, sheep, goats, cattle</a:t>
              </a:r>
              <a:endParaRPr sz="1800">
                <a:solidFill>
                  <a:srgbClr val="000000"/>
                </a:solidFill>
                <a:latin typeface="+mn-lt"/>
                <a:ea typeface="+mn-ea"/>
                <a:cs typeface="+mn-cs"/>
                <a:sym typeface="Arial"/>
              </a:endParaRPr>
            </a:p>
            <a:p>
              <a:pPr algn="ctr">
                <a:lnSpc>
                  <a:spcPts val="2500"/>
                </a:lnSpc>
                <a:tabLst>
                  <a:tab pos="520700" algn="l"/>
                </a:tabLst>
                <a:defRPr sz="2800">
                  <a:solidFill>
                    <a:srgbClr val="483F36"/>
                  </a:solidFill>
                  <a:latin typeface="Hoefler Text"/>
                  <a:ea typeface="Hoefler Text"/>
                  <a:cs typeface="Hoefler Text"/>
                  <a:sym typeface="Hoefler Text"/>
                </a:defRPr>
              </a:pPr>
              <a:r>
                <a:rPr sz="1800" b="1">
                  <a:solidFill>
                    <a:srgbClr val="000000"/>
                  </a:solidFill>
                  <a:latin typeface="+mn-lt"/>
                  <a:ea typeface="+mn-ea"/>
                  <a:cs typeface="+mn-cs"/>
                  <a:sym typeface="Arial"/>
                </a:rPr>
                <a:t>10,000</a:t>
              </a:r>
              <a:r>
                <a:rPr sz="1800">
                  <a:solidFill>
                    <a:srgbClr val="000000"/>
                  </a:solidFill>
                  <a:latin typeface="+mn-lt"/>
                  <a:ea typeface="+mn-ea"/>
                  <a:cs typeface="+mn-cs"/>
                  <a:sym typeface="Arial"/>
                </a:rPr>
                <a:t> years ago</a:t>
              </a:r>
            </a:p>
          </p:txBody>
        </p:sp>
        <p:sp>
          <p:nvSpPr>
            <p:cNvPr id="1723" name="Shape 1723"/>
            <p:cNvSpPr/>
            <p:nvPr/>
          </p:nvSpPr>
          <p:spPr>
            <a:xfrm flipH="1" flipV="1">
              <a:off x="3020258" y="1613217"/>
              <a:ext cx="535743" cy="1803084"/>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724" name="Wheat.png"/>
            <p:cNvPicPr>
              <a:picLocks noChangeAspect="1"/>
            </p:cNvPicPr>
            <p:nvPr/>
          </p:nvPicPr>
          <p:blipFill>
            <a:blip r:embed="rId7">
              <a:extLst/>
            </a:blip>
            <a:stretch>
              <a:fillRect/>
            </a:stretch>
          </p:blipFill>
          <p:spPr>
            <a:xfrm>
              <a:off x="0" y="508000"/>
              <a:ext cx="2885822" cy="2235200"/>
            </a:xfrm>
            <a:prstGeom prst="rect">
              <a:avLst/>
            </a:prstGeom>
            <a:ln w="12700" cap="flat">
              <a:noFill/>
              <a:miter lim="400000"/>
            </a:ln>
            <a:effectLst/>
          </p:spPr>
        </p:pic>
      </p:grpSp>
      <p:grpSp>
        <p:nvGrpSpPr>
          <p:cNvPr id="1730" name="Group 1730"/>
          <p:cNvGrpSpPr/>
          <p:nvPr/>
        </p:nvGrpSpPr>
        <p:grpSpPr>
          <a:xfrm>
            <a:off x="9131300" y="6146800"/>
            <a:ext cx="3886200" cy="3247801"/>
            <a:chOff x="0" y="1354"/>
            <a:chExt cx="3886200" cy="3247800"/>
          </a:xfrm>
        </p:grpSpPr>
        <p:sp>
          <p:nvSpPr>
            <p:cNvPr id="1726" name="Shape 1726"/>
            <p:cNvSpPr/>
            <p:nvPr/>
          </p:nvSpPr>
          <p:spPr>
            <a:xfrm>
              <a:off x="0" y="1449154"/>
              <a:ext cx="3086100" cy="1800001"/>
            </a:xfrm>
            <a:prstGeom prst="rect">
              <a:avLst/>
            </a:prstGeom>
            <a:solidFill>
              <a:srgbClr val="C5E0ED"/>
            </a:solidFill>
            <a:ln w="25400" cap="flat">
              <a:noFill/>
              <a:miter lim="400000"/>
            </a:ln>
            <a:effectLst/>
          </p:spPr>
          <p:txBody>
            <a:bodyPr wrap="square" lIns="38100" tIns="38100" rIns="38100" bIns="38100" numCol="1" anchor="ctr">
              <a:noAutofit/>
            </a:bodyPr>
            <a:lstStyle/>
            <a:p>
              <a:pPr>
                <a:lnSpc>
                  <a:spcPts val="3300"/>
                </a:lnSpc>
                <a:tabLst>
                  <a:tab pos="520700" algn="l"/>
                </a:tabLst>
                <a:defRPr sz="2800">
                  <a:solidFill>
                    <a:srgbClr val="000000"/>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27" name="Shape 1727"/>
            <p:cNvSpPr/>
            <p:nvPr/>
          </p:nvSpPr>
          <p:spPr>
            <a:xfrm>
              <a:off x="241300" y="1703154"/>
              <a:ext cx="2616200" cy="14022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p>
              <a:pPr algn="ctr">
                <a:lnSpc>
                  <a:spcPts val="3000"/>
                </a:lnSpc>
                <a:tabLst>
                  <a:tab pos="520700" algn="l"/>
                </a:tabLst>
                <a:defRPr sz="2200">
                  <a:solidFill>
                    <a:srgbClr val="483F36"/>
                  </a:solidFill>
                  <a:latin typeface="Hoefler Text"/>
                  <a:ea typeface="Hoefler Text"/>
                  <a:cs typeface="Hoefler Text"/>
                  <a:sym typeface="Hoefler Text"/>
                </a:defRPr>
              </a:pPr>
              <a:r>
                <a:rPr b="1">
                  <a:solidFill>
                    <a:srgbClr val="000000"/>
                  </a:solidFill>
                  <a:latin typeface="+mn-lt"/>
                  <a:ea typeface="+mn-ea"/>
                  <a:cs typeface="+mn-cs"/>
                  <a:sym typeface="Arial"/>
                </a:rPr>
                <a:t>Southeast Asia</a:t>
              </a:r>
              <a:endParaRPr>
                <a:solidFill>
                  <a:srgbClr val="000000"/>
                </a:solidFill>
                <a:latin typeface="+mn-lt"/>
                <a:ea typeface="+mn-ea"/>
                <a:cs typeface="+mn-cs"/>
                <a:sym typeface="Arial"/>
              </a:endParaRPr>
            </a:p>
            <a:p>
              <a:pPr algn="ctr">
                <a:lnSpc>
                  <a:spcPts val="2000"/>
                </a:lnSpc>
                <a:tabLst>
                  <a:tab pos="520700" algn="l"/>
                </a:tabLst>
                <a:defRPr sz="2800">
                  <a:solidFill>
                    <a:srgbClr val="483F36"/>
                  </a:solidFill>
                  <a:latin typeface="Hoefler Text"/>
                  <a:ea typeface="Hoefler Text"/>
                  <a:cs typeface="Hoefler Text"/>
                  <a:sym typeface="Hoefler Text"/>
                </a:defRPr>
              </a:pPr>
              <a:r>
                <a:rPr sz="1400" i="1">
                  <a:solidFill>
                    <a:srgbClr val="000000"/>
                  </a:solidFill>
                  <a:latin typeface="+mn-lt"/>
                  <a:ea typeface="+mn-ea"/>
                  <a:cs typeface="+mn-cs"/>
                  <a:sym typeface="Arial"/>
                </a:rPr>
                <a:t>Rice, bananas, sugar cane, tea, citrus fruits, coconuts, yam, millet, soya beans, taro, pigs</a:t>
              </a:r>
            </a:p>
            <a:p>
              <a:pPr algn="ctr">
                <a:lnSpc>
                  <a:spcPts val="2500"/>
                </a:lnSpc>
                <a:tabLst>
                  <a:tab pos="520700" algn="l"/>
                </a:tabLst>
                <a:defRPr sz="2800">
                  <a:solidFill>
                    <a:srgbClr val="483F36"/>
                  </a:solidFill>
                  <a:latin typeface="Hoefler Text"/>
                  <a:ea typeface="Hoefler Text"/>
                  <a:cs typeface="Hoefler Text"/>
                  <a:sym typeface="Hoefler Text"/>
                </a:defRPr>
              </a:pPr>
              <a:r>
                <a:rPr sz="1800">
                  <a:solidFill>
                    <a:srgbClr val="000000"/>
                  </a:solidFill>
                  <a:latin typeface="+mn-lt"/>
                  <a:ea typeface="+mn-ea"/>
                  <a:cs typeface="+mn-cs"/>
                  <a:sym typeface="Arial"/>
                </a:rPr>
                <a:t>&gt; </a:t>
              </a:r>
              <a:r>
                <a:rPr sz="1800" b="1">
                  <a:solidFill>
                    <a:srgbClr val="000000"/>
                  </a:solidFill>
                  <a:latin typeface="+mn-lt"/>
                  <a:ea typeface="+mn-ea"/>
                  <a:cs typeface="+mn-cs"/>
                  <a:sym typeface="Arial"/>
                </a:rPr>
                <a:t>4,000</a:t>
              </a:r>
              <a:r>
                <a:rPr sz="1800">
                  <a:solidFill>
                    <a:srgbClr val="000000"/>
                  </a:solidFill>
                  <a:latin typeface="+mn-lt"/>
                  <a:ea typeface="+mn-ea"/>
                  <a:cs typeface="+mn-cs"/>
                  <a:sym typeface="Arial"/>
                </a:rPr>
                <a:t> years ago</a:t>
              </a:r>
            </a:p>
          </p:txBody>
        </p:sp>
        <p:sp>
          <p:nvSpPr>
            <p:cNvPr id="1728" name="Shape 1728"/>
            <p:cNvSpPr/>
            <p:nvPr/>
          </p:nvSpPr>
          <p:spPr>
            <a:xfrm>
              <a:off x="850900" y="1354"/>
              <a:ext cx="609600" cy="1473202"/>
            </a:xfrm>
            <a:prstGeom prst="line">
              <a:avLst/>
            </a:prstGeom>
            <a:noFill/>
            <a:ln w="25400" cap="flat">
              <a:solidFill>
                <a:srgbClr val="006795"/>
              </a:solidFill>
              <a:prstDash val="solid"/>
              <a:miter lim="400000"/>
              <a:headEnd type="triangle" w="med" len="med"/>
            </a:ln>
            <a:effectLst/>
          </p:spPr>
          <p:txBody>
            <a:bodyPr wrap="square" lIns="0" tIns="0" rIns="0" bIns="0" numCol="1" anchor="t">
              <a:noAutofit/>
            </a:bodyPr>
            <a:lstStyle/>
            <a:p>
              <a:pPr marL="0">
                <a:tabLst/>
                <a:defRPr sz="1200">
                  <a:solidFill>
                    <a:srgbClr val="000000"/>
                  </a:solidFill>
                  <a:latin typeface="Helvetica"/>
                  <a:ea typeface="Helvetica"/>
                  <a:cs typeface="Helvetica"/>
                  <a:sym typeface="Helvetica"/>
                </a:defRPr>
              </a:pPr>
              <a:endParaRPr/>
            </a:p>
          </p:txBody>
        </p:sp>
        <p:pic>
          <p:nvPicPr>
            <p:cNvPr id="1729" name="bananas.png"/>
            <p:cNvPicPr>
              <a:picLocks/>
            </p:cNvPicPr>
            <p:nvPr/>
          </p:nvPicPr>
          <p:blipFill>
            <a:blip r:embed="rId8">
              <a:extLst/>
            </a:blip>
            <a:srcRect r="39603"/>
            <a:stretch>
              <a:fillRect/>
            </a:stretch>
          </p:blipFill>
          <p:spPr>
            <a:xfrm>
              <a:off x="2336800" y="74845"/>
              <a:ext cx="1549400" cy="1983911"/>
            </a:xfrm>
            <a:prstGeom prst="rect">
              <a:avLst/>
            </a:prstGeom>
            <a:ln w="12700" cap="flat">
              <a:noFill/>
              <a:miter lim="400000"/>
            </a:ln>
            <a:effectLst/>
          </p:spPr>
        </p:pic>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0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2" nodeType="clickEffect">
                                  <p:stCondLst>
                                    <p:cond delay="0"/>
                                  </p:stCondLst>
                                  <p:iterate>
                                    <p:tmAbs val="0"/>
                                  </p:iterate>
                                  <p:childTnLst>
                                    <p:set>
                                      <p:cBhvr>
                                        <p:cTn id="10" fill="hold"/>
                                        <p:tgtEl>
                                          <p:spTgt spid="17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3" nodeType="clickEffect">
                                  <p:stCondLst>
                                    <p:cond delay="0"/>
                                  </p:stCondLst>
                                  <p:iterate>
                                    <p:tmAbs val="0"/>
                                  </p:iterate>
                                  <p:childTnLst>
                                    <p:set>
                                      <p:cBhvr>
                                        <p:cTn id="14" fill="hold"/>
                                        <p:tgtEl>
                                          <p:spTgt spid="17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4" nodeType="clickEffect">
                                  <p:stCondLst>
                                    <p:cond delay="0"/>
                                  </p:stCondLst>
                                  <p:iterate>
                                    <p:tmAbs val="0"/>
                                  </p:iterate>
                                  <p:childTnLst>
                                    <p:set>
                                      <p:cBhvr>
                                        <p:cTn id="18" fill="hold"/>
                                        <p:tgtEl>
                                          <p:spTgt spid="17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5" nodeType="clickEffect">
                                  <p:stCondLst>
                                    <p:cond delay="0"/>
                                  </p:stCondLst>
                                  <p:iterate>
                                    <p:tmAbs val="0"/>
                                  </p:iterate>
                                  <p:childTnLst>
                                    <p:set>
                                      <p:cBhvr>
                                        <p:cTn id="22" fill="hold"/>
                                        <p:tgtEl>
                                          <p:spTgt spid="17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6" nodeType="clickEffect">
                                  <p:stCondLst>
                                    <p:cond delay="0"/>
                                  </p:stCondLst>
                                  <p:iterate>
                                    <p:tmAbs val="0"/>
                                  </p:iterate>
                                  <p:childTnLst>
                                    <p:set>
                                      <p:cBhvr>
                                        <p:cTn id="26" fill="hold"/>
                                        <p:tgtEl>
                                          <p:spTgt spid="17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5" grpId="1" animBg="1" advAuto="0"/>
      <p:bldP spid="1710" grpId="6" animBg="1" advAuto="0"/>
      <p:bldP spid="1715" grpId="5" animBg="1" advAuto="0"/>
      <p:bldP spid="1720" grpId="3" animBg="1" advAuto="0"/>
      <p:bldP spid="1725" grpId="2" animBg="1" advAuto="0"/>
      <p:bldP spid="1730" grpId="4" animBg="1" advAuto="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32" name="Donkey.png"/>
          <p:cNvPicPr>
            <a:picLocks noChangeAspect="1"/>
          </p:cNvPicPr>
          <p:nvPr/>
        </p:nvPicPr>
        <p:blipFill>
          <a:blip r:embed="rId2">
            <a:extLst/>
          </a:blip>
          <a:stretch>
            <a:fillRect/>
          </a:stretch>
        </p:blipFill>
        <p:spPr>
          <a:xfrm>
            <a:off x="8867665" y="7627504"/>
            <a:ext cx="2133601" cy="1757797"/>
          </a:xfrm>
          <a:prstGeom prst="rect">
            <a:avLst/>
          </a:prstGeom>
          <a:ln w="12700">
            <a:miter lim="400000"/>
          </a:ln>
        </p:spPr>
      </p:pic>
      <p:pic>
        <p:nvPicPr>
          <p:cNvPr id="1733" name="llama.png"/>
          <p:cNvPicPr>
            <a:picLocks noChangeAspect="1"/>
          </p:cNvPicPr>
          <p:nvPr/>
        </p:nvPicPr>
        <p:blipFill>
          <a:blip r:embed="rId3">
            <a:extLst/>
          </a:blip>
          <a:stretch>
            <a:fillRect/>
          </a:stretch>
        </p:blipFill>
        <p:spPr>
          <a:xfrm flipH="1">
            <a:off x="11188700" y="7594600"/>
            <a:ext cx="1651000" cy="1816100"/>
          </a:xfrm>
          <a:prstGeom prst="rect">
            <a:avLst/>
          </a:prstGeom>
          <a:ln w="12700">
            <a:miter lim="400000"/>
          </a:ln>
        </p:spPr>
      </p:pic>
      <p:sp>
        <p:nvSpPr>
          <p:cNvPr id="1734" name="Shape 1734"/>
          <p:cNvSpPr>
            <a:spLocks noGrp="1"/>
          </p:cNvSpPr>
          <p:nvPr>
            <p:ph type="title"/>
          </p:nvPr>
        </p:nvSpPr>
        <p:spPr>
          <a:prstGeom prst="rect">
            <a:avLst/>
          </a:prstGeom>
        </p:spPr>
        <p:txBody>
          <a:bodyPr/>
          <a:lstStyle>
            <a:lvl1pPr>
              <a:tabLst>
                <a:tab pos="952500" algn="l"/>
              </a:tabLst>
            </a:lvl1pPr>
          </a:lstStyle>
          <a:p>
            <a:r>
              <a:t>Domestication of Animals</a:t>
            </a:r>
          </a:p>
        </p:txBody>
      </p:sp>
      <p:graphicFrame>
        <p:nvGraphicFramePr>
          <p:cNvPr id="1735" name="Table 1735"/>
          <p:cNvGraphicFramePr/>
          <p:nvPr/>
        </p:nvGraphicFramePr>
        <p:xfrm>
          <a:off x="508000" y="3187700"/>
          <a:ext cx="7162800" cy="6045193"/>
        </p:xfrm>
        <a:graphic>
          <a:graphicData uri="http://schemas.openxmlformats.org/drawingml/2006/table">
            <a:tbl>
              <a:tblPr>
                <a:tableStyleId>{8F44A2F1-9E1F-4B54-A3A2-5F16C0AD49E2}</a:tableStyleId>
              </a:tblPr>
              <a:tblGrid>
                <a:gridCol w="1917700">
                  <a:extLst>
                    <a:ext uri="{9D8B030D-6E8A-4147-A177-3AD203B41FA5}">
                      <a16:colId xmlns:a16="http://schemas.microsoft.com/office/drawing/2014/main" val="20000"/>
                    </a:ext>
                  </a:extLst>
                </a:gridCol>
                <a:gridCol w="2082800">
                  <a:extLst>
                    <a:ext uri="{9D8B030D-6E8A-4147-A177-3AD203B41FA5}">
                      <a16:colId xmlns:a16="http://schemas.microsoft.com/office/drawing/2014/main" val="20001"/>
                    </a:ext>
                  </a:extLst>
                </a:gridCol>
                <a:gridCol w="2006600">
                  <a:extLst>
                    <a:ext uri="{9D8B030D-6E8A-4147-A177-3AD203B41FA5}">
                      <a16:colId xmlns:a16="http://schemas.microsoft.com/office/drawing/2014/main" val="20002"/>
                    </a:ext>
                  </a:extLst>
                </a:gridCol>
                <a:gridCol w="1155700">
                  <a:extLst>
                    <a:ext uri="{9D8B030D-6E8A-4147-A177-3AD203B41FA5}">
                      <a16:colId xmlns:a16="http://schemas.microsoft.com/office/drawing/2014/main" val="20003"/>
                    </a:ext>
                  </a:extLst>
                </a:gridCol>
              </a:tblGrid>
              <a:tr h="784670">
                <a:tc>
                  <a:txBody>
                    <a:bodyPr/>
                    <a:lstStyle/>
                    <a:p>
                      <a:pPr marL="114300">
                        <a:lnSpc>
                          <a:spcPts val="2100"/>
                        </a:lnSpc>
                        <a:tabLst>
                          <a:tab pos="520700" algn="l"/>
                        </a:tabLst>
                        <a:defRPr sz="1800">
                          <a:solidFill>
                            <a:srgbClr val="FFFFFF"/>
                          </a:solidFill>
                          <a:latin typeface="+mn-lt"/>
                          <a:ea typeface="+mn-ea"/>
                          <a:cs typeface="+mn-cs"/>
                          <a:sym typeface="Arial"/>
                        </a:defRPr>
                      </a:pPr>
                      <a:r>
                        <a:rPr b="1"/>
                        <a:t>Domesticated Animal</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nSpc>
                          <a:spcPts val="2100"/>
                        </a:lnSpc>
                        <a:tabLst>
                          <a:tab pos="520700" algn="l"/>
                        </a:tabLst>
                        <a:defRPr sz="1800">
                          <a:solidFill>
                            <a:srgbClr val="FFFFFF"/>
                          </a:solidFill>
                          <a:latin typeface="+mn-lt"/>
                          <a:ea typeface="+mn-ea"/>
                          <a:cs typeface="+mn-cs"/>
                          <a:sym typeface="Arial"/>
                        </a:defRPr>
                      </a:pPr>
                      <a:r>
                        <a:rPr b="1"/>
                        <a:t>Wild Ancestor</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nSpc>
                          <a:spcPts val="2100"/>
                        </a:lnSpc>
                        <a:tabLst>
                          <a:tab pos="520700" algn="l"/>
                        </a:tabLst>
                        <a:defRPr sz="1800">
                          <a:solidFill>
                            <a:srgbClr val="FFFFFF"/>
                          </a:solidFill>
                          <a:latin typeface="+mn-lt"/>
                          <a:ea typeface="+mn-ea"/>
                          <a:cs typeface="+mn-cs"/>
                          <a:sym typeface="Arial"/>
                        </a:defRPr>
                      </a:pPr>
                      <a:r>
                        <a:rPr b="1"/>
                        <a:t>Region of Origin</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tc>
                  <a:txBody>
                    <a:bodyPr/>
                    <a:lstStyle/>
                    <a:p>
                      <a:pPr marL="114300">
                        <a:lnSpc>
                          <a:spcPts val="2100"/>
                        </a:lnSpc>
                        <a:tabLst>
                          <a:tab pos="520700" algn="l"/>
                        </a:tabLst>
                        <a:defRPr sz="1800">
                          <a:solidFill>
                            <a:srgbClr val="FFFFFF"/>
                          </a:solidFill>
                          <a:latin typeface="+mn-lt"/>
                          <a:ea typeface="+mn-ea"/>
                          <a:cs typeface="+mn-cs"/>
                          <a:sym typeface="Arial"/>
                        </a:defRPr>
                      </a:pPr>
                      <a:r>
                        <a:rPr b="1"/>
                        <a:t>Date</a:t>
                      </a:r>
                      <a:br>
                        <a:rPr b="1"/>
                      </a:br>
                      <a:r>
                        <a:rPr sz="1200" b="1"/>
                        <a:t>(Years ago)</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006795"/>
                    </a:solidFill>
                  </a:tcPr>
                </a:tc>
                <a:extLst>
                  <a:ext uri="{0D108BD9-81ED-4DB2-BD59-A6C34878D82A}">
                    <a16:rowId xmlns:a16="http://schemas.microsoft.com/office/drawing/2014/main" val="10000"/>
                  </a:ext>
                </a:extLst>
              </a:tr>
              <a:tr h="438377">
                <a:tc>
                  <a:txBody>
                    <a:bodyPr/>
                    <a:lstStyle/>
                    <a:p>
                      <a:pPr marL="114300" algn="l">
                        <a:lnSpc>
                          <a:spcPts val="2100"/>
                        </a:lnSpc>
                        <a:tabLst>
                          <a:tab pos="520700" algn="l"/>
                        </a:tabLst>
                        <a:defRPr sz="1800">
                          <a:solidFill>
                            <a:srgbClr val="000000"/>
                          </a:solidFill>
                          <a:latin typeface="+mn-lt"/>
                          <a:ea typeface="+mn-ea"/>
                          <a:cs typeface="+mn-cs"/>
                          <a:sym typeface="Arial"/>
                        </a:defRPr>
                      </a:pPr>
                      <a:r>
                        <a:rPr b="1"/>
                        <a:t>Dog</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Wolf</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many places?</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13,000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1"/>
                  </a:ext>
                </a:extLst>
              </a:tr>
              <a:tr h="438377">
                <a:tc>
                  <a:txBody>
                    <a:bodyPr/>
                    <a:lstStyle/>
                    <a:p>
                      <a:pPr marL="114300" algn="l">
                        <a:lnSpc>
                          <a:spcPts val="2100"/>
                        </a:lnSpc>
                        <a:tabLst>
                          <a:tab pos="520700" algn="l"/>
                        </a:tabLst>
                        <a:defRPr sz="1800">
                          <a:solidFill>
                            <a:srgbClr val="000000"/>
                          </a:solidFill>
                          <a:latin typeface="+mn-lt"/>
                          <a:ea typeface="+mn-ea"/>
                          <a:cs typeface="+mn-cs"/>
                          <a:sym typeface="Arial"/>
                        </a:defRPr>
                      </a:pPr>
                      <a:r>
                        <a:rPr b="1"/>
                        <a:t>Goat</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Bezoar goat</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Iraq</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10,000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2"/>
                  </a:ext>
                </a:extLst>
              </a:tr>
              <a:tr h="438377">
                <a:tc>
                  <a:txBody>
                    <a:bodyPr/>
                    <a:lstStyle/>
                    <a:p>
                      <a:pPr marL="114300" algn="l">
                        <a:lnSpc>
                          <a:spcPts val="2100"/>
                        </a:lnSpc>
                        <a:tabLst>
                          <a:tab pos="520700" algn="l"/>
                        </a:tabLst>
                        <a:defRPr sz="1800">
                          <a:solidFill>
                            <a:srgbClr val="000000"/>
                          </a:solidFill>
                          <a:latin typeface="+mn-lt"/>
                          <a:ea typeface="+mn-ea"/>
                          <a:cs typeface="+mn-cs"/>
                          <a:sym typeface="Arial"/>
                        </a:defRPr>
                      </a:pPr>
                      <a:r>
                        <a:rPr b="1"/>
                        <a:t>Sheep</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Asiatic mouflon</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Iran, Iraq, Levant</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11,000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3"/>
                  </a:ext>
                </a:extLst>
              </a:tr>
              <a:tr h="438376">
                <a:tc>
                  <a:txBody>
                    <a:bodyPr/>
                    <a:lstStyle/>
                    <a:p>
                      <a:pPr marL="114300" algn="l">
                        <a:lnSpc>
                          <a:spcPts val="2100"/>
                        </a:lnSpc>
                        <a:tabLst>
                          <a:tab pos="520700" algn="l"/>
                        </a:tabLst>
                        <a:defRPr sz="1800">
                          <a:solidFill>
                            <a:srgbClr val="000000"/>
                          </a:solidFill>
                          <a:latin typeface="+mn-lt"/>
                          <a:ea typeface="+mn-ea"/>
                          <a:cs typeface="+mn-cs"/>
                          <a:sym typeface="Arial"/>
                        </a:defRPr>
                      </a:pPr>
                      <a:r>
                        <a:rPr b="1"/>
                        <a:t>Cattle</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Aurochs</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Southwest Asia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8,500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4"/>
                  </a:ext>
                </a:extLst>
              </a:tr>
              <a:tr h="438378">
                <a:tc>
                  <a:txBody>
                    <a:bodyPr/>
                    <a:lstStyle/>
                    <a:p>
                      <a:pPr marL="114300" algn="l">
                        <a:lnSpc>
                          <a:spcPts val="2100"/>
                        </a:lnSpc>
                        <a:tabLst>
                          <a:tab pos="520700" algn="l"/>
                        </a:tabLst>
                        <a:defRPr sz="1800">
                          <a:solidFill>
                            <a:srgbClr val="000000"/>
                          </a:solidFill>
                          <a:latin typeface="+mn-lt"/>
                          <a:ea typeface="+mn-ea"/>
                          <a:cs typeface="+mn-cs"/>
                          <a:sym typeface="Arial"/>
                        </a:defRPr>
                      </a:pPr>
                      <a:r>
                        <a:rPr b="1"/>
                        <a:t>Pig</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Boar</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Anatolia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9,000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5"/>
                  </a:ext>
                </a:extLst>
              </a:tr>
              <a:tr h="438377">
                <a:tc>
                  <a:txBody>
                    <a:bodyPr/>
                    <a:lstStyle/>
                    <a:p>
                      <a:pPr marL="114300" algn="l">
                        <a:lnSpc>
                          <a:spcPts val="2100"/>
                        </a:lnSpc>
                        <a:tabLst>
                          <a:tab pos="520700" algn="l"/>
                        </a:tabLst>
                        <a:defRPr sz="1800">
                          <a:solidFill>
                            <a:srgbClr val="000000"/>
                          </a:solidFill>
                          <a:latin typeface="+mn-lt"/>
                          <a:ea typeface="+mn-ea"/>
                          <a:cs typeface="+mn-cs"/>
                          <a:sym typeface="Arial"/>
                        </a:defRPr>
                      </a:pPr>
                      <a:r>
                        <a:rPr b="1"/>
                        <a:t>Domestic fowl</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Red jungle fowl</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Indus Valley</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4,000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6"/>
                  </a:ext>
                </a:extLst>
              </a:tr>
              <a:tr h="438376">
                <a:tc>
                  <a:txBody>
                    <a:bodyPr/>
                    <a:lstStyle/>
                    <a:p>
                      <a:pPr marL="114300" algn="l">
                        <a:lnSpc>
                          <a:spcPts val="2100"/>
                        </a:lnSpc>
                        <a:tabLst>
                          <a:tab pos="520700" algn="l"/>
                        </a:tabLst>
                        <a:defRPr sz="1800">
                          <a:solidFill>
                            <a:srgbClr val="000000"/>
                          </a:solidFill>
                          <a:latin typeface="+mn-lt"/>
                          <a:ea typeface="+mn-ea"/>
                          <a:cs typeface="+mn-cs"/>
                          <a:sym typeface="Arial"/>
                        </a:defRPr>
                      </a:pPr>
                      <a:r>
                        <a:rPr b="1"/>
                        <a:t>Horse</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Wild horse</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Southern Ukraine</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6,000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7"/>
                  </a:ext>
                </a:extLst>
              </a:tr>
              <a:tr h="438378">
                <a:tc>
                  <a:txBody>
                    <a:bodyPr/>
                    <a:lstStyle/>
                    <a:p>
                      <a:pPr marL="114300" algn="l">
                        <a:lnSpc>
                          <a:spcPts val="2100"/>
                        </a:lnSpc>
                        <a:tabLst>
                          <a:tab pos="520700" algn="l"/>
                        </a:tabLst>
                        <a:defRPr sz="1800">
                          <a:solidFill>
                            <a:srgbClr val="000000"/>
                          </a:solidFill>
                          <a:latin typeface="+mn-lt"/>
                          <a:ea typeface="+mn-ea"/>
                          <a:cs typeface="+mn-cs"/>
                          <a:sym typeface="Arial"/>
                        </a:defRPr>
                      </a:pPr>
                      <a:r>
                        <a:rPr b="1"/>
                        <a:t>Arabian camel</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Wild camel</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Southern Arabia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5,000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8"/>
                  </a:ext>
                </a:extLst>
              </a:tr>
              <a:tr h="438377">
                <a:tc>
                  <a:txBody>
                    <a:bodyPr/>
                    <a:lstStyle/>
                    <a:p>
                      <a:pPr marL="114300" algn="l">
                        <a:lnSpc>
                          <a:spcPts val="2100"/>
                        </a:lnSpc>
                        <a:tabLst>
                          <a:tab pos="520700" algn="l"/>
                        </a:tabLst>
                        <a:defRPr sz="1800">
                          <a:solidFill>
                            <a:srgbClr val="000000"/>
                          </a:solidFill>
                          <a:latin typeface="+mn-lt"/>
                          <a:ea typeface="+mn-ea"/>
                          <a:cs typeface="+mn-cs"/>
                          <a:sym typeface="Arial"/>
                        </a:defRPr>
                      </a:pPr>
                      <a:r>
                        <a:rPr b="1"/>
                        <a:t>Bactrian camel</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Wild camel</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Iran</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4,500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09"/>
                  </a:ext>
                </a:extLst>
              </a:tr>
              <a:tr h="438378">
                <a:tc>
                  <a:txBody>
                    <a:bodyPr/>
                    <a:lstStyle/>
                    <a:p>
                      <a:pPr marL="114300" algn="l">
                        <a:lnSpc>
                          <a:spcPts val="2100"/>
                        </a:lnSpc>
                        <a:tabLst>
                          <a:tab pos="520700" algn="l"/>
                        </a:tabLst>
                        <a:defRPr sz="1800">
                          <a:solidFill>
                            <a:srgbClr val="000000"/>
                          </a:solidFill>
                          <a:latin typeface="+mn-lt"/>
                          <a:ea typeface="+mn-ea"/>
                          <a:cs typeface="+mn-cs"/>
                          <a:sym typeface="Arial"/>
                        </a:defRPr>
                      </a:pPr>
                      <a:r>
                        <a:rPr b="1"/>
                        <a:t>Llama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Guanaco</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Andean plateau</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6,000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10"/>
                  </a:ext>
                </a:extLst>
              </a:tr>
              <a:tr h="438375">
                <a:tc>
                  <a:txBody>
                    <a:bodyPr/>
                    <a:lstStyle/>
                    <a:p>
                      <a:pPr marL="114300" algn="l">
                        <a:lnSpc>
                          <a:spcPts val="2100"/>
                        </a:lnSpc>
                        <a:tabLst>
                          <a:tab pos="520700" algn="l"/>
                        </a:tabLst>
                        <a:defRPr sz="1800">
                          <a:solidFill>
                            <a:srgbClr val="000000"/>
                          </a:solidFill>
                          <a:latin typeface="+mn-lt"/>
                          <a:ea typeface="+mn-ea"/>
                          <a:cs typeface="+mn-cs"/>
                          <a:sym typeface="Arial"/>
                        </a:defRPr>
                      </a:pPr>
                      <a:r>
                        <a:rPr b="1"/>
                        <a:t>Water buffalo</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Indian wild buffalo</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Indus Valley</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4,500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11"/>
                  </a:ext>
                </a:extLst>
              </a:tr>
              <a:tr h="438377">
                <a:tc>
                  <a:txBody>
                    <a:bodyPr/>
                    <a:lstStyle/>
                    <a:p>
                      <a:pPr marL="114300" algn="l">
                        <a:lnSpc>
                          <a:spcPts val="2100"/>
                        </a:lnSpc>
                        <a:tabLst>
                          <a:tab pos="520700" algn="l"/>
                        </a:tabLst>
                        <a:defRPr sz="1800">
                          <a:solidFill>
                            <a:srgbClr val="000000"/>
                          </a:solidFill>
                          <a:latin typeface="+mn-lt"/>
                          <a:ea typeface="+mn-ea"/>
                          <a:cs typeface="+mn-cs"/>
                          <a:sym typeface="Arial"/>
                        </a:defRPr>
                      </a:pPr>
                      <a:r>
                        <a:rPr b="1"/>
                        <a:t>Ass</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Wild ass</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gn="l">
                        <a:lnSpc>
                          <a:spcPts val="2100"/>
                        </a:lnSpc>
                        <a:tabLst>
                          <a:tab pos="520700" algn="l"/>
                        </a:tabLst>
                        <a:defRPr sz="1800">
                          <a:solidFill>
                            <a:srgbClr val="000000"/>
                          </a:solidFill>
                        </a:defRPr>
                      </a:pPr>
                      <a:r>
                        <a:rPr>
                          <a:latin typeface="+mn-lt"/>
                          <a:ea typeface="+mn-ea"/>
                          <a:cs typeface="+mn-cs"/>
                          <a:sym typeface="Arial"/>
                        </a:rPr>
                        <a:t>Northeast Africa</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tc>
                  <a:txBody>
                    <a:bodyPr/>
                    <a:lstStyle/>
                    <a:p>
                      <a:pPr marL="114300">
                        <a:lnSpc>
                          <a:spcPts val="2100"/>
                        </a:lnSpc>
                        <a:tabLst>
                          <a:tab pos="520700" algn="l"/>
                        </a:tabLst>
                        <a:defRPr sz="1800">
                          <a:solidFill>
                            <a:srgbClr val="000000"/>
                          </a:solidFill>
                        </a:defRPr>
                      </a:pPr>
                      <a:r>
                        <a:rPr>
                          <a:latin typeface="+mn-lt"/>
                          <a:ea typeface="+mn-ea"/>
                          <a:cs typeface="+mn-cs"/>
                          <a:sym typeface="Arial"/>
                        </a:rPr>
                        <a:t>5,500</a:t>
                      </a:r>
                    </a:p>
                  </a:txBody>
                  <a:tcPr marL="0" marR="0" marT="0" marB="0" anchor="ctr" horzOverflow="overflow">
                    <a:lnL w="12700">
                      <a:solidFill>
                        <a:srgbClr val="000000"/>
                      </a:solidFill>
                      <a:miter lim="400000"/>
                    </a:lnL>
                    <a:lnR w="12700">
                      <a:solidFill>
                        <a:srgbClr val="000000"/>
                      </a:solidFill>
                      <a:miter lim="400000"/>
                    </a:lnR>
                    <a:lnT w="12700">
                      <a:solidFill>
                        <a:srgbClr val="000000"/>
                      </a:solidFill>
                      <a:miter lim="400000"/>
                    </a:lnT>
                    <a:lnB w="12700">
                      <a:solidFill>
                        <a:srgbClr val="000000"/>
                      </a:solidFill>
                      <a:miter lim="400000"/>
                    </a:lnB>
                    <a:solidFill>
                      <a:srgbClr val="FFFFFF"/>
                    </a:solidFill>
                  </a:tcPr>
                </a:tc>
                <a:extLst>
                  <a:ext uri="{0D108BD9-81ED-4DB2-BD59-A6C34878D82A}">
                    <a16:rowId xmlns:a16="http://schemas.microsoft.com/office/drawing/2014/main" val="10012"/>
                  </a:ext>
                </a:extLst>
              </a:tr>
            </a:tbl>
          </a:graphicData>
        </a:graphic>
      </p:graphicFrame>
      <p:sp>
        <p:nvSpPr>
          <p:cNvPr id="1736" name="Shape 1736"/>
          <p:cNvSpPr/>
          <p:nvPr/>
        </p:nvSpPr>
        <p:spPr>
          <a:xfrm>
            <a:off x="7991385" y="3594100"/>
            <a:ext cx="1342518"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Arabian camel</a:t>
            </a:r>
          </a:p>
        </p:txBody>
      </p:sp>
      <p:sp>
        <p:nvSpPr>
          <p:cNvPr id="1737" name="Shape 1737"/>
          <p:cNvSpPr/>
          <p:nvPr/>
        </p:nvSpPr>
        <p:spPr>
          <a:xfrm>
            <a:off x="9751361" y="3594100"/>
            <a:ext cx="1392003"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Bactrian camel</a:t>
            </a:r>
          </a:p>
        </p:txBody>
      </p:sp>
      <p:sp>
        <p:nvSpPr>
          <p:cNvPr id="1738" name="Shape 1738"/>
          <p:cNvSpPr/>
          <p:nvPr/>
        </p:nvSpPr>
        <p:spPr>
          <a:xfrm>
            <a:off x="12155972" y="5143500"/>
            <a:ext cx="630970"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Horse</a:t>
            </a:r>
          </a:p>
        </p:txBody>
      </p:sp>
      <p:sp>
        <p:nvSpPr>
          <p:cNvPr id="1739" name="Shape 1739"/>
          <p:cNvSpPr/>
          <p:nvPr/>
        </p:nvSpPr>
        <p:spPr>
          <a:xfrm>
            <a:off x="8294168" y="7391400"/>
            <a:ext cx="532000"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Goat</a:t>
            </a:r>
          </a:p>
        </p:txBody>
      </p:sp>
      <p:sp>
        <p:nvSpPr>
          <p:cNvPr id="1740" name="Shape 1740"/>
          <p:cNvSpPr/>
          <p:nvPr/>
        </p:nvSpPr>
        <p:spPr>
          <a:xfrm>
            <a:off x="11228883" y="9232900"/>
            <a:ext cx="640867"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Llama</a:t>
            </a:r>
          </a:p>
        </p:txBody>
      </p:sp>
      <p:sp>
        <p:nvSpPr>
          <p:cNvPr id="1741" name="Shape 1741"/>
          <p:cNvSpPr/>
          <p:nvPr/>
        </p:nvSpPr>
        <p:spPr>
          <a:xfrm>
            <a:off x="11996230" y="7607300"/>
            <a:ext cx="472617"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Dog</a:t>
            </a:r>
          </a:p>
        </p:txBody>
      </p:sp>
      <p:sp>
        <p:nvSpPr>
          <p:cNvPr id="1742" name="Shape 1742"/>
          <p:cNvSpPr/>
          <p:nvPr/>
        </p:nvSpPr>
        <p:spPr>
          <a:xfrm>
            <a:off x="10029769" y="9283700"/>
            <a:ext cx="453171"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Ass</a:t>
            </a:r>
          </a:p>
        </p:txBody>
      </p:sp>
      <p:sp>
        <p:nvSpPr>
          <p:cNvPr id="1743" name="Shape 1743"/>
          <p:cNvSpPr/>
          <p:nvPr/>
        </p:nvSpPr>
        <p:spPr>
          <a:xfrm>
            <a:off x="8955637" y="9283700"/>
            <a:ext cx="403598"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Pig</a:t>
            </a:r>
          </a:p>
        </p:txBody>
      </p:sp>
      <p:sp>
        <p:nvSpPr>
          <p:cNvPr id="1744" name="Shape 1744"/>
          <p:cNvSpPr/>
          <p:nvPr/>
        </p:nvSpPr>
        <p:spPr>
          <a:xfrm>
            <a:off x="9624676" y="7378700"/>
            <a:ext cx="1256308"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Water buffalo</a:t>
            </a:r>
          </a:p>
        </p:txBody>
      </p:sp>
      <p:sp>
        <p:nvSpPr>
          <p:cNvPr id="1745" name="Shape 1745"/>
          <p:cNvSpPr/>
          <p:nvPr/>
        </p:nvSpPr>
        <p:spPr>
          <a:xfrm>
            <a:off x="11683982" y="3594100"/>
            <a:ext cx="660575"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Sheep</a:t>
            </a:r>
          </a:p>
        </p:txBody>
      </p:sp>
      <p:sp>
        <p:nvSpPr>
          <p:cNvPr id="1746" name="Shape 1746"/>
          <p:cNvSpPr/>
          <p:nvPr/>
        </p:nvSpPr>
        <p:spPr>
          <a:xfrm>
            <a:off x="8348100" y="5842000"/>
            <a:ext cx="620986" cy="203200"/>
          </a:xfrm>
          <a:prstGeom prst="rect">
            <a:avLst/>
          </a:prstGeom>
          <a:ln w="12700">
            <a:miter lim="400000"/>
          </a:ln>
          <a:extLst>
            <a:ext uri="{C572A759-6A51-4108-AA02-DFA0A04FC94B}">
              <ma14:wrappingTextBoxFlag xmlns:ma14="http://schemas.microsoft.com/office/mac/drawingml/2011/main" xmlns="" val="1"/>
            </a:ext>
          </a:extLst>
        </p:spPr>
        <p:txBody>
          <a:bodyPr wrap="none" lIns="0" tIns="0" rIns="0" bIns="0">
            <a:spAutoFit/>
          </a:bodyPr>
          <a:lstStyle>
            <a:lvl1pPr algn="ctr">
              <a:lnSpc>
                <a:spcPts val="1900"/>
              </a:lnSpc>
              <a:tabLst>
                <a:tab pos="520700" algn="l"/>
              </a:tabLst>
              <a:defRPr sz="1400" b="1">
                <a:solidFill>
                  <a:srgbClr val="000000"/>
                </a:solidFill>
              </a:defRPr>
            </a:lvl1pPr>
          </a:lstStyle>
          <a:p>
            <a:r>
              <a:t>Cattle</a:t>
            </a:r>
          </a:p>
        </p:txBody>
      </p:sp>
      <p:sp>
        <p:nvSpPr>
          <p:cNvPr id="1747" name="Shape 1747"/>
          <p:cNvSpPr>
            <a:spLocks noGrp="1"/>
          </p:cNvSpPr>
          <p:nvPr>
            <p:ph type="body" sz="half" idx="1"/>
          </p:nvPr>
        </p:nvSpPr>
        <p:spPr>
          <a:prstGeom prst="rect">
            <a:avLst/>
          </a:prstGeom>
        </p:spPr>
        <p:txBody>
          <a:bodyPr/>
          <a:lstStyle/>
          <a:p>
            <a:pPr>
              <a:tabLst>
                <a:tab pos="1016000" algn="l"/>
              </a:tabLst>
            </a:pPr>
            <a:r>
              <a:t>Numerous animals have been domesticated by humans over the last </a:t>
            </a:r>
            <a:br/>
            <a:r>
              <a:t>10,000 years in many parts of the world:</a:t>
            </a:r>
          </a:p>
        </p:txBody>
      </p:sp>
      <p:pic>
        <p:nvPicPr>
          <p:cNvPr id="1748" name="Przewalski Horse.png"/>
          <p:cNvPicPr>
            <a:picLocks noChangeAspect="1"/>
          </p:cNvPicPr>
          <p:nvPr/>
        </p:nvPicPr>
        <p:blipFill>
          <a:blip r:embed="rId4">
            <a:extLst/>
          </a:blip>
          <a:stretch>
            <a:fillRect/>
          </a:stretch>
        </p:blipFill>
        <p:spPr>
          <a:xfrm>
            <a:off x="10312400" y="4089400"/>
            <a:ext cx="2301240" cy="1574800"/>
          </a:xfrm>
          <a:prstGeom prst="rect">
            <a:avLst/>
          </a:prstGeom>
          <a:ln w="12700">
            <a:miter lim="400000"/>
          </a:ln>
        </p:spPr>
      </p:pic>
      <p:pic>
        <p:nvPicPr>
          <p:cNvPr id="1749" name="Pig-1.png"/>
          <p:cNvPicPr>
            <a:picLocks noChangeAspect="1"/>
          </p:cNvPicPr>
          <p:nvPr/>
        </p:nvPicPr>
        <p:blipFill>
          <a:blip r:embed="rId5">
            <a:extLst/>
          </a:blip>
          <a:stretch>
            <a:fillRect/>
          </a:stretch>
        </p:blipFill>
        <p:spPr>
          <a:xfrm flipH="1">
            <a:off x="8022735" y="8166100"/>
            <a:ext cx="1057766" cy="1295400"/>
          </a:xfrm>
          <a:prstGeom prst="rect">
            <a:avLst/>
          </a:prstGeom>
          <a:ln w="12700">
            <a:miter lim="400000"/>
          </a:ln>
        </p:spPr>
      </p:pic>
      <p:pic>
        <p:nvPicPr>
          <p:cNvPr id="1750" name="GOAT.png"/>
          <p:cNvPicPr>
            <a:picLocks noChangeAspect="1"/>
          </p:cNvPicPr>
          <p:nvPr/>
        </p:nvPicPr>
        <p:blipFill>
          <a:blip r:embed="rId6">
            <a:extLst/>
          </a:blip>
          <a:stretch>
            <a:fillRect/>
          </a:stretch>
        </p:blipFill>
        <p:spPr>
          <a:xfrm>
            <a:off x="7800445" y="6197600"/>
            <a:ext cx="1521355" cy="1168400"/>
          </a:xfrm>
          <a:prstGeom prst="rect">
            <a:avLst/>
          </a:prstGeom>
          <a:ln w="12700">
            <a:miter lim="400000"/>
          </a:ln>
        </p:spPr>
      </p:pic>
      <p:pic>
        <p:nvPicPr>
          <p:cNvPr id="1751" name="4horn-sheep.png"/>
          <p:cNvPicPr>
            <a:picLocks noChangeAspect="1"/>
          </p:cNvPicPr>
          <p:nvPr/>
        </p:nvPicPr>
        <p:blipFill>
          <a:blip r:embed="rId7">
            <a:extLst/>
          </a:blip>
          <a:stretch>
            <a:fillRect/>
          </a:stretch>
        </p:blipFill>
        <p:spPr>
          <a:xfrm>
            <a:off x="11430000" y="2026660"/>
            <a:ext cx="1435100" cy="1516640"/>
          </a:xfrm>
          <a:prstGeom prst="rect">
            <a:avLst/>
          </a:prstGeom>
          <a:ln w="12700">
            <a:miter lim="400000"/>
          </a:ln>
        </p:spPr>
      </p:pic>
      <p:pic>
        <p:nvPicPr>
          <p:cNvPr id="1752" name="160073.png"/>
          <p:cNvPicPr>
            <a:picLocks noChangeAspect="1"/>
          </p:cNvPicPr>
          <p:nvPr/>
        </p:nvPicPr>
        <p:blipFill>
          <a:blip r:embed="rId8">
            <a:extLst/>
          </a:blip>
          <a:stretch>
            <a:fillRect/>
          </a:stretch>
        </p:blipFill>
        <p:spPr>
          <a:xfrm>
            <a:off x="7856807" y="3975100"/>
            <a:ext cx="1604694" cy="1778000"/>
          </a:xfrm>
          <a:prstGeom prst="rect">
            <a:avLst/>
          </a:prstGeom>
          <a:ln w="12700">
            <a:miter lim="400000"/>
          </a:ln>
        </p:spPr>
      </p:pic>
      <p:pic>
        <p:nvPicPr>
          <p:cNvPr id="1753" name="dog.png"/>
          <p:cNvPicPr>
            <a:picLocks noChangeAspect="1"/>
          </p:cNvPicPr>
          <p:nvPr/>
        </p:nvPicPr>
        <p:blipFill>
          <a:blip r:embed="rId9">
            <a:extLst/>
          </a:blip>
          <a:stretch>
            <a:fillRect/>
          </a:stretch>
        </p:blipFill>
        <p:spPr>
          <a:xfrm>
            <a:off x="11658600" y="6070600"/>
            <a:ext cx="1171651" cy="1409700"/>
          </a:xfrm>
          <a:prstGeom prst="rect">
            <a:avLst/>
          </a:prstGeom>
          <a:ln w="12700">
            <a:miter lim="400000"/>
          </a:ln>
        </p:spPr>
      </p:pic>
      <p:pic>
        <p:nvPicPr>
          <p:cNvPr id="1754" name="Bactrian-camel-2.png"/>
          <p:cNvPicPr>
            <a:picLocks noChangeAspect="1"/>
          </p:cNvPicPr>
          <p:nvPr/>
        </p:nvPicPr>
        <p:blipFill>
          <a:blip r:embed="rId10">
            <a:extLst/>
          </a:blip>
          <a:stretch>
            <a:fillRect/>
          </a:stretch>
        </p:blipFill>
        <p:spPr>
          <a:xfrm>
            <a:off x="9639300" y="1266063"/>
            <a:ext cx="1790700" cy="2226437"/>
          </a:xfrm>
          <a:prstGeom prst="rect">
            <a:avLst/>
          </a:prstGeom>
          <a:ln w="12700">
            <a:miter lim="400000"/>
          </a:ln>
        </p:spPr>
      </p:pic>
      <p:pic>
        <p:nvPicPr>
          <p:cNvPr id="1755" name="Arabian-camel.png"/>
          <p:cNvPicPr>
            <a:picLocks noChangeAspect="1"/>
          </p:cNvPicPr>
          <p:nvPr/>
        </p:nvPicPr>
        <p:blipFill>
          <a:blip r:embed="rId11">
            <a:extLst/>
          </a:blip>
          <a:stretch>
            <a:fillRect/>
          </a:stretch>
        </p:blipFill>
        <p:spPr>
          <a:xfrm>
            <a:off x="6896100" y="1204848"/>
            <a:ext cx="2374900" cy="2351152"/>
          </a:xfrm>
          <a:prstGeom prst="rect">
            <a:avLst/>
          </a:prstGeom>
          <a:ln w="12700">
            <a:miter lim="400000"/>
          </a:ln>
        </p:spPr>
      </p:pic>
      <p:pic>
        <p:nvPicPr>
          <p:cNvPr id="1756" name="m_buffalo.png"/>
          <p:cNvPicPr>
            <a:picLocks noChangeAspect="1"/>
          </p:cNvPicPr>
          <p:nvPr/>
        </p:nvPicPr>
        <p:blipFill>
          <a:blip r:embed="rId12">
            <a:extLst/>
          </a:blip>
          <a:stretch>
            <a:fillRect/>
          </a:stretch>
        </p:blipFill>
        <p:spPr>
          <a:xfrm flipH="1">
            <a:off x="9436100" y="5916821"/>
            <a:ext cx="2197100" cy="142378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74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74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p:tmAbs val="0"/>
                                  </p:iterate>
                                  <p:childTnLst>
                                    <p:set>
                                      <p:cBhvr>
                                        <p:cTn id="12" fill="hold"/>
                                        <p:tgtEl>
                                          <p:spTgt spid="17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5" grpId="2" animBg="1" advAuto="0"/>
      <p:bldP spid="1747" grpId="1" build="p" bldLvl="5" animBg="1" advAuto="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8" name="keynote logo image maybe3.jpg"/>
          <p:cNvPicPr>
            <a:picLocks noChangeAspect="1"/>
          </p:cNvPicPr>
          <p:nvPr/>
        </p:nvPicPr>
        <p:blipFill>
          <a:blip r:embed="rId2">
            <a:extLst/>
          </a:blip>
          <a:srcRect l="2854" r="2854"/>
          <a:stretch>
            <a:fillRect/>
          </a:stretch>
        </p:blipFill>
        <p:spPr>
          <a:xfrm>
            <a:off x="0" y="0"/>
            <a:ext cx="13004800" cy="9753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0" name="Shape 1760"/>
          <p:cNvSpPr>
            <a:spLocks noGrp="1"/>
          </p:cNvSpPr>
          <p:nvPr>
            <p:ph type="title"/>
          </p:nvPr>
        </p:nvSpPr>
        <p:spPr>
          <a:prstGeom prst="rect">
            <a:avLst/>
          </a:prstGeom>
        </p:spPr>
        <p:txBody>
          <a:bodyPr/>
          <a:lstStyle>
            <a:lvl1pPr>
              <a:tabLst>
                <a:tab pos="952500" algn="l"/>
              </a:tabLst>
            </a:lvl1pPr>
          </a:lstStyle>
          <a:p>
            <a:r>
              <a:t>Conditions of Use</a:t>
            </a:r>
          </a:p>
        </p:txBody>
      </p:sp>
      <p:sp>
        <p:nvSpPr>
          <p:cNvPr id="1761" name="Shape 1761"/>
          <p:cNvSpPr/>
          <p:nvPr/>
        </p:nvSpPr>
        <p:spPr>
          <a:xfrm>
            <a:off x="774700" y="2527300"/>
            <a:ext cx="5524500" cy="52832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lvl="1" indent="0">
              <a:spcBef>
                <a:spcPts val="900"/>
              </a:spcBef>
              <a:tabLst>
                <a:tab pos="901700" algn="l"/>
              </a:tabLst>
              <a:defRPr sz="2000" b="1">
                <a:solidFill>
                  <a:srgbClr val="FFDB1A"/>
                </a:solidFill>
              </a:defRPr>
            </a:pPr>
            <a:r>
              <a:t>You MAY:</a:t>
            </a:r>
          </a:p>
          <a:p>
            <a:pPr marL="288000" marR="457200" indent="-288000">
              <a:spcBef>
                <a:spcPts val="1500"/>
              </a:spcBef>
              <a:buSzPct val="100000"/>
              <a:buAutoNum type="alphaLcParenBoth"/>
              <a:tabLst/>
              <a:defRPr sz="1200" spc="5">
                <a:solidFill>
                  <a:srgbClr val="FFFFFF"/>
                </a:solidFill>
              </a:defRPr>
            </a:pPr>
            <a:r>
              <a:rPr spc="6"/>
              <a:t>Use the Presentation Media files for presentations in your classrooms using a data projector, interactive whiteboard or overhead projector.</a:t>
            </a:r>
          </a:p>
          <a:p>
            <a:pPr marL="288000" marR="457200" indent="-288000">
              <a:spcBef>
                <a:spcPts val="1500"/>
              </a:spcBef>
              <a:buSzPct val="100000"/>
              <a:buAutoNum type="alphaLcParenBoth"/>
              <a:tabLst/>
              <a:defRPr sz="1200" spc="5">
                <a:solidFill>
                  <a:srgbClr val="FFFFFF"/>
                </a:solidFill>
              </a:defRPr>
            </a:pPr>
            <a:r>
              <a:rPr spc="6"/>
              <a:t>Place the Presentation Media files on any staff computer within the school, including staff laptops, but not in contradiction to clause (g).</a:t>
            </a:r>
          </a:p>
          <a:p>
            <a:pPr marL="288000" marR="457200" indent="-288000">
              <a:buSzPct val="100000"/>
              <a:buAutoNum type="alphaLcParenBoth"/>
              <a:tabLst/>
              <a:defRPr sz="1200" spc="5">
                <a:solidFill>
                  <a:srgbClr val="FFFFFF"/>
                </a:solidFill>
              </a:defRPr>
            </a:pPr>
            <a:r>
              <a:rPr spc="6"/>
              <a:t>Place the Presentation Media files on:</a:t>
            </a:r>
          </a:p>
          <a:p>
            <a:pPr marL="468000" marR="457200" lvl="1" indent="-180000">
              <a:buSzPct val="125000"/>
              <a:buChar char="•"/>
              <a:tabLst/>
              <a:defRPr sz="1200" spc="5">
                <a:solidFill>
                  <a:srgbClr val="FFFFFF"/>
                </a:solidFill>
              </a:defRPr>
            </a:pPr>
            <a:r>
              <a:rPr spc="6"/>
              <a:t>The school’s intranet (school computer network)</a:t>
            </a:r>
          </a:p>
          <a:p>
            <a:pPr marL="468000" marR="457200" lvl="1" indent="-180000">
              <a:buSzPct val="125000"/>
              <a:buChar char="•"/>
              <a:tabLst/>
              <a:defRPr sz="1200" spc="5">
                <a:solidFill>
                  <a:srgbClr val="FFFFFF"/>
                </a:solidFill>
              </a:defRPr>
            </a:pPr>
            <a:r>
              <a:rPr spc="6"/>
              <a:t>VLE (Virtual Learning Environment)</a:t>
            </a:r>
          </a:p>
          <a:p>
            <a:pPr marL="468000" marR="457200" lvl="1" indent="-180000">
              <a:buSzPct val="125000"/>
              <a:buChar char="•"/>
              <a:tabLst/>
              <a:defRPr sz="1200" spc="5">
                <a:solidFill>
                  <a:srgbClr val="FFFFFF"/>
                </a:solidFill>
              </a:defRPr>
            </a:pPr>
            <a:r>
              <a:rPr spc="6"/>
              <a:t>A CMS (Content Management System). </a:t>
            </a:r>
          </a:p>
          <a:p>
            <a:pPr marL="0" marR="457200">
              <a:spcBef>
                <a:spcPts val="1500"/>
              </a:spcBef>
              <a:tabLst/>
              <a:defRPr sz="1200" spc="5">
                <a:solidFill>
                  <a:srgbClr val="FFFFFF"/>
                </a:solidFill>
              </a:defRPr>
            </a:pPr>
            <a:r>
              <a:rPr spc="6"/>
              <a:t>Student and staff access must be restricted to those who are enrolled/working on the campus of the registered purchaser. Student and staff access to a VLE or a CMS must be controlled by a user login and password protocol, but not in contradiction to clause (f). If students have access, they need to be made aware of the Conditions of Use and are only allowed to view the content.</a:t>
            </a:r>
          </a:p>
          <a:p>
            <a:pPr marL="288000" marR="457200" indent="-288000">
              <a:spcBef>
                <a:spcPts val="1500"/>
              </a:spcBef>
              <a:buSzPct val="100000"/>
              <a:buAutoNum type="alphaLcParenBoth" startAt="4"/>
              <a:tabLst/>
              <a:defRPr sz="1200" spc="5">
                <a:solidFill>
                  <a:srgbClr val="FFFFFF"/>
                </a:solidFill>
              </a:defRPr>
            </a:pPr>
            <a:r>
              <a:rPr spc="6"/>
              <a:t>Edit and customise the Presentation Media files by adding, deleting, and modifying information to better suit your needs, but not in contradiction to clauses 2 (c) - (d).</a:t>
            </a:r>
          </a:p>
          <a:p>
            <a:pPr marL="288000" marR="457200" indent="-288000">
              <a:spcBef>
                <a:spcPts val="1500"/>
              </a:spcBef>
              <a:buSzPct val="100000"/>
              <a:buAutoNum type="alphaLcParenBoth" startAt="4"/>
              <a:tabLst/>
              <a:defRPr sz="1200" spc="5">
                <a:solidFill>
                  <a:srgbClr val="FFFFFF"/>
                </a:solidFill>
              </a:defRPr>
            </a:pPr>
            <a:r>
              <a:rPr spc="6"/>
              <a:t>Print out the Presentation Media files in PowerPoint</a:t>
            </a:r>
            <a:r>
              <a:rPr spc="6" baseline="-8333"/>
              <a:t>®</a:t>
            </a:r>
            <a:r>
              <a:rPr spc="6"/>
              <a:t> or Keynote</a:t>
            </a:r>
            <a:r>
              <a:rPr spc="6" baseline="-8333"/>
              <a:t>®</a:t>
            </a:r>
            <a:r>
              <a:rPr spc="6"/>
              <a:t> </a:t>
            </a:r>
            <a:r>
              <a:rPr b="1" spc="6"/>
              <a:t>“Handouts”</a:t>
            </a:r>
            <a:r>
              <a:rPr spc="6"/>
              <a:t> mode for the express purpose of allowing students to make their own notes about the presentation, but not in contradiction to clause (e).</a:t>
            </a:r>
          </a:p>
        </p:txBody>
      </p:sp>
      <p:sp>
        <p:nvSpPr>
          <p:cNvPr id="1762" name="Shape 1762"/>
          <p:cNvSpPr/>
          <p:nvPr/>
        </p:nvSpPr>
        <p:spPr>
          <a:xfrm>
            <a:off x="774700" y="1447800"/>
            <a:ext cx="11277600" cy="829891"/>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marL="0" lvl="1" indent="0">
              <a:spcBef>
                <a:spcPts val="600"/>
              </a:spcBef>
              <a:tabLst>
                <a:tab pos="901700" algn="l"/>
              </a:tabLst>
              <a:defRPr sz="1200">
                <a:solidFill>
                  <a:srgbClr val="FFFFFF"/>
                </a:solidFill>
              </a:defRPr>
            </a:pPr>
            <a:r>
              <a:rPr spc="6">
                <a:latin typeface="Myriad Pro"/>
                <a:ea typeface="Myriad Pro"/>
                <a:cs typeface="Myriad Pro"/>
                <a:sym typeface="Myriad Pro"/>
              </a:rPr>
              <a:t>NOTE: </a:t>
            </a:r>
            <a:r>
              <a:rPr spc="6">
                <a:latin typeface="Myriad Pro Semibold"/>
                <a:ea typeface="Myriad Pro Semibold"/>
                <a:cs typeface="Myriad Pro Semibold"/>
                <a:sym typeface="Myriad Pro Semibold"/>
              </a:rPr>
              <a:t>Presentation Media</a:t>
            </a:r>
            <a:r>
              <a:rPr spc="6">
                <a:latin typeface="Myriad Pro"/>
                <a:ea typeface="Myriad Pro"/>
                <a:cs typeface="Myriad Pro"/>
                <a:sym typeface="Myriad Pro"/>
              </a:rPr>
              <a:t> = presentations available on CD-ROM/DVD-ROM or as downloads</a:t>
            </a:r>
          </a:p>
          <a:p>
            <a:pPr marL="0" lvl="1" indent="0">
              <a:spcBef>
                <a:spcPts val="1000"/>
              </a:spcBef>
              <a:tabLst>
                <a:tab pos="901700" algn="l"/>
              </a:tabLst>
              <a:defRPr sz="2000">
                <a:solidFill>
                  <a:srgbClr val="FFFFFF"/>
                </a:solidFill>
              </a:defRPr>
            </a:pPr>
            <a:r>
              <a:rPr b="1" spc="11"/>
              <a:t>BIOZONE</a:t>
            </a:r>
            <a:r>
              <a:rPr spc="11"/>
              <a:t> retains copyright to the intellectual property included in the Presentation Media files, with acknowledgement that certain photos are used under license and are credited appropriately.</a:t>
            </a:r>
          </a:p>
        </p:txBody>
      </p:sp>
      <p:sp>
        <p:nvSpPr>
          <p:cNvPr id="1763" name="Shape 1763"/>
          <p:cNvSpPr/>
          <p:nvPr/>
        </p:nvSpPr>
        <p:spPr>
          <a:xfrm>
            <a:off x="6807200" y="2527300"/>
            <a:ext cx="5760000" cy="49911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0" indent="71999">
              <a:spcBef>
                <a:spcPts val="2000"/>
              </a:spcBef>
              <a:tabLst>
                <a:tab pos="901700" algn="l"/>
              </a:tabLst>
              <a:defRPr sz="2000">
                <a:solidFill>
                  <a:srgbClr val="FFDB1A"/>
                </a:solidFill>
              </a:defRPr>
            </a:pPr>
            <a:r>
              <a:rPr b="1"/>
              <a:t>You MAY NOT:</a:t>
            </a:r>
            <a:endParaRPr spc="11"/>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to the </a:t>
            </a:r>
            <a:r>
              <a:rPr b="1" spc="6"/>
              <a:t>Internet</a:t>
            </a:r>
            <a:r>
              <a:rPr spc="6"/>
              <a:t> or on a service that may be accessed </a:t>
            </a:r>
            <a:r>
              <a:rPr b="1" spc="6"/>
              <a:t>off-campus</a:t>
            </a:r>
            <a:r>
              <a:rPr spc="6"/>
              <a:t> unless access to the service is protected by a user login and password protocol, and is restricted to students and staff enrolled/working on the campus of the registered purchaser.</a:t>
            </a:r>
          </a:p>
          <a:p>
            <a:pPr marL="360000" marR="457200" indent="-288000">
              <a:spcBef>
                <a:spcPts val="1500"/>
              </a:spcBef>
              <a:buSzPct val="100000"/>
              <a:buAutoNum type="alphaLcParenBoth"/>
              <a:tabLst>
                <a:tab pos="1016000" algn="l"/>
              </a:tabLst>
              <a:defRPr sz="1200" spc="5">
                <a:solidFill>
                  <a:srgbClr val="FFFFFF"/>
                </a:solidFill>
              </a:defRPr>
            </a:pPr>
            <a:r>
              <a:rPr spc="6"/>
              <a:t>Place the Presentation Media files on student laptop computers.</a:t>
            </a:r>
          </a:p>
          <a:p>
            <a:pPr marL="360000" marR="457200" indent="-288000">
              <a:spcBef>
                <a:spcPts val="1500"/>
              </a:spcBef>
              <a:buSzPct val="100000"/>
              <a:buAutoNum type="alphaLcParenBoth"/>
              <a:tabLst>
                <a:tab pos="1016000" algn="l"/>
              </a:tabLst>
              <a:defRPr sz="1200" spc="5">
                <a:solidFill>
                  <a:srgbClr val="FFFFFF"/>
                </a:solidFill>
              </a:defRPr>
            </a:pPr>
            <a:r>
              <a:rPr b="1" spc="6"/>
              <a:t>REMOVE</a:t>
            </a:r>
            <a:r>
              <a:rPr spc="6"/>
              <a:t> any of the references to BIOZONE, the </a:t>
            </a:r>
            <a:r>
              <a:rPr b="1" spc="6"/>
              <a:t>title slides</a:t>
            </a:r>
            <a:r>
              <a:rPr spc="6"/>
              <a:t>, </a:t>
            </a:r>
            <a:r>
              <a:rPr b="1" spc="6"/>
              <a:t>copyright notices</a:t>
            </a:r>
            <a:r>
              <a:rPr spc="6"/>
              <a:t>, </a:t>
            </a:r>
            <a:r>
              <a:rPr b="1" spc="6"/>
              <a:t>photo credits</a:t>
            </a:r>
            <a:r>
              <a:rPr spc="6"/>
              <a:t>, or </a:t>
            </a:r>
            <a:r>
              <a:rPr b="1" spc="6"/>
              <a:t>Conditions of Use</a:t>
            </a:r>
            <a:r>
              <a:rPr spc="6"/>
              <a:t> from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b="1" spc="6"/>
              <a:t>Create</a:t>
            </a:r>
            <a:r>
              <a:rPr spc="6"/>
              <a:t> a </a:t>
            </a:r>
            <a:r>
              <a:rPr b="1" spc="6"/>
              <a:t>NEW</a:t>
            </a:r>
            <a:r>
              <a:rPr spc="6"/>
              <a:t> document using any of the graphics/images in the Presentation Media files.</a:t>
            </a:r>
          </a:p>
          <a:p>
            <a:pPr marL="360000" marR="457200" indent="-288000">
              <a:spcBef>
                <a:spcPts val="1500"/>
              </a:spcBef>
              <a:buSzPct val="100000"/>
              <a:buAutoNum type="alphaLcParenBoth"/>
              <a:tabLst>
                <a:tab pos="1016000" algn="l"/>
              </a:tabLst>
              <a:defRPr sz="1200" spc="5">
                <a:solidFill>
                  <a:srgbClr val="FFFFFF"/>
                </a:solidFill>
              </a:defRPr>
            </a:pPr>
            <a:r>
              <a:rPr spc="6"/>
              <a:t>Print the Presentation Media files on to </a:t>
            </a:r>
            <a:r>
              <a:rPr b="1" spc="6"/>
              <a:t>paper</a:t>
            </a:r>
            <a:r>
              <a:rPr spc="6"/>
              <a:t> to make your own </a:t>
            </a:r>
            <a:r>
              <a:rPr b="1" spc="6"/>
              <a:t>worksheets</a:t>
            </a:r>
            <a:r>
              <a:rPr spc="6"/>
              <a:t> for distribution to students.</a:t>
            </a:r>
          </a:p>
          <a:p>
            <a:pPr marL="360000" marR="457200" indent="-288000">
              <a:spcBef>
                <a:spcPts val="1500"/>
              </a:spcBef>
              <a:buSzPct val="100000"/>
              <a:buAutoNum type="alphaLcParenBoth"/>
              <a:tabLst>
                <a:tab pos="1016000" algn="l"/>
              </a:tabLst>
              <a:defRPr sz="1200" spc="5">
                <a:solidFill>
                  <a:srgbClr val="FFFFFF"/>
                </a:solidFill>
              </a:defRPr>
            </a:pPr>
            <a:r>
              <a:rPr spc="6"/>
              <a:t>Incorporate any part of the Presentation Media files for the production of another </a:t>
            </a:r>
            <a:r>
              <a:rPr b="1" spc="6"/>
              <a:t>commercial product</a:t>
            </a:r>
            <a:r>
              <a:rPr spc="6"/>
              <a:t>.</a:t>
            </a:r>
          </a:p>
          <a:p>
            <a:pPr marL="360000" marR="457200" indent="-288000">
              <a:spcBef>
                <a:spcPts val="1500"/>
              </a:spcBef>
              <a:buSzPct val="100000"/>
              <a:buAutoNum type="alphaLcParenBoth"/>
              <a:tabLst>
                <a:tab pos="1016000" algn="l"/>
              </a:tabLst>
              <a:defRPr sz="1200" spc="5">
                <a:solidFill>
                  <a:srgbClr val="FFFFFF"/>
                </a:solidFill>
              </a:defRPr>
            </a:pPr>
            <a:r>
              <a:rPr spc="6"/>
              <a:t>Share or give away any content </a:t>
            </a:r>
            <a:r>
              <a:rPr b="1" spc="6"/>
              <a:t>off-campus</a:t>
            </a:r>
            <a:r>
              <a:rPr spc="6"/>
              <a:t>. This prohibition apples to, but is not limited to, sharing via the Internet or any website, (examples: YouTube, slide sharing websites).</a:t>
            </a:r>
          </a:p>
        </p:txBody>
      </p:sp>
      <p:sp>
        <p:nvSpPr>
          <p:cNvPr id="1764" name="Shape 1764"/>
          <p:cNvSpPr/>
          <p:nvPr/>
        </p:nvSpPr>
        <p:spPr>
          <a:xfrm>
            <a:off x="711200" y="7518400"/>
            <a:ext cx="6350000" cy="292100"/>
          </a:xfrm>
          <a:prstGeom prst="rect">
            <a:avLst/>
          </a:prstGeom>
          <a:ln w="12700">
            <a:miter lim="400000"/>
          </a:ln>
          <a:extLst>
            <a:ext uri="{C572A759-6A51-4108-AA02-DFA0A04FC94B}">
              <ma14:wrappingTextBoxFlag xmlns:ma14="http://schemas.microsoft.com/office/mac/drawingml/2011/main" xmlns="" val="1"/>
            </a:ext>
          </a:extLst>
        </p:spPr>
        <p:txBody>
          <a:bodyPr lIns="38100" tIns="38100" rIns="38100" bIns="38100" anchor="b"/>
          <a:lstStyle/>
          <a:p>
            <a:pPr marL="0">
              <a:tabLst>
                <a:tab pos="1079500" algn="l"/>
              </a:tabLst>
              <a:defRPr sz="1000">
                <a:solidFill>
                  <a:srgbClr val="FFFFFF"/>
                </a:solidFill>
                <a:latin typeface="Myriad Pro"/>
                <a:ea typeface="Myriad Pro"/>
                <a:cs typeface="Myriad Pro"/>
                <a:sym typeface="Myriad Pro"/>
              </a:defRPr>
            </a:pPr>
            <a:r>
              <a:t>Conditions of Use are subject to change without notice. Visit </a:t>
            </a:r>
            <a:r>
              <a:rPr u="sng">
                <a:hlinkClick r:id="rId2"/>
              </a:rPr>
              <a:t>http://www.biozone.com.au/faqconditionsofuse/</a:t>
            </a:r>
          </a:p>
        </p:txBody>
      </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6" name="Shape 1766"/>
          <p:cNvSpPr>
            <a:spLocks noGrp="1"/>
          </p:cNvSpPr>
          <p:nvPr>
            <p:ph type="title"/>
          </p:nvPr>
        </p:nvSpPr>
        <p:spPr>
          <a:prstGeom prst="rect">
            <a:avLst/>
          </a:prstGeom>
        </p:spPr>
        <p:txBody>
          <a:bodyPr/>
          <a:lstStyle>
            <a:lvl1pPr>
              <a:tabLst>
                <a:tab pos="952500" algn="l"/>
              </a:tabLst>
            </a:lvl1pPr>
          </a:lstStyle>
          <a:p>
            <a:r>
              <a:t>Photo Credits</a:t>
            </a:r>
          </a:p>
        </p:txBody>
      </p:sp>
      <p:sp>
        <p:nvSpPr>
          <p:cNvPr id="1767" name="Shape 1767"/>
          <p:cNvSpPr>
            <a:spLocks noGrp="1"/>
          </p:cNvSpPr>
          <p:nvPr>
            <p:ph type="body" sz="half" idx="1"/>
          </p:nvPr>
        </p:nvSpPr>
        <p:spPr>
          <a:xfrm>
            <a:off x="728300" y="1800000"/>
            <a:ext cx="5172591" cy="6273801"/>
          </a:xfrm>
          <a:prstGeom prst="rect">
            <a:avLst/>
          </a:prstGeom>
        </p:spPr>
        <p:txBody>
          <a:bodyPr/>
          <a:lstStyle/>
          <a:p>
            <a:pPr marL="336000" indent="-336000">
              <a:tabLst>
                <a:tab pos="1016000" algn="l"/>
              </a:tabLst>
            </a:pPr>
            <a:r>
              <a:t>Photographic images are used under license from the following commercial photo libraries:</a:t>
            </a:r>
          </a:p>
          <a:p>
            <a:pPr marL="611999" lvl="1">
              <a:tabLst>
                <a:tab pos="1485900" algn="l"/>
              </a:tabLst>
            </a:pPr>
            <a:r>
              <a:rPr b="1"/>
              <a:t>Corel Corporation</a:t>
            </a:r>
            <a:r>
              <a:t> Professional Photos (uncoded)</a:t>
            </a:r>
          </a:p>
          <a:p>
            <a:pPr marL="611999" lvl="1">
              <a:tabLst>
                <a:tab pos="1485900" algn="l"/>
              </a:tabLst>
            </a:pPr>
            <a:r>
              <a:rPr b="1"/>
              <a:t>ArtToday</a:t>
            </a:r>
            <a:r>
              <a:t>.com (coded</a:t>
            </a:r>
            <a:r>
              <a:rPr b="1"/>
              <a:t> AT</a:t>
            </a:r>
            <a:r>
              <a:t>)</a:t>
            </a:r>
          </a:p>
          <a:p>
            <a:pPr marL="611999" lvl="1">
              <a:tabLst>
                <a:tab pos="1485900" algn="l"/>
              </a:tabLst>
            </a:pPr>
            <a:r>
              <a:rPr b="1"/>
              <a:t>Clipart</a:t>
            </a:r>
            <a:r>
              <a:t>.com (coded </a:t>
            </a:r>
            <a:r>
              <a:rPr b="1"/>
              <a:t>CA</a:t>
            </a:r>
            <a:r>
              <a:t>)</a:t>
            </a:r>
          </a:p>
          <a:p>
            <a:pPr marL="611999" lvl="1">
              <a:tabLst>
                <a:tab pos="1485900" algn="l"/>
              </a:tabLst>
            </a:pPr>
            <a:r>
              <a:rPr b="1"/>
              <a:t>PhotoObjects</a:t>
            </a:r>
            <a:r>
              <a:t>.com (coded </a:t>
            </a:r>
            <a:r>
              <a:rPr b="1"/>
              <a:t>PO</a:t>
            </a:r>
            <a:r>
              <a:t>)</a:t>
            </a:r>
          </a:p>
          <a:p>
            <a:pPr marL="611999" lvl="1">
              <a:tabLst>
                <a:tab pos="1485900" algn="l"/>
              </a:tabLst>
            </a:pPr>
            <a:r>
              <a:rPr b="1"/>
              <a:t>iStock</a:t>
            </a:r>
            <a:r>
              <a:t>.com (coded </a:t>
            </a:r>
            <a:r>
              <a:rPr b="1"/>
              <a:t>iStock</a:t>
            </a:r>
            <a:r>
              <a:t>)</a:t>
            </a:r>
          </a:p>
          <a:p>
            <a:pPr marL="611999" lvl="1">
              <a:tabLst>
                <a:tab pos="1485900" algn="l"/>
              </a:tabLst>
            </a:pPr>
            <a:r>
              <a:rPr b="1"/>
              <a:t>Hemera</a:t>
            </a:r>
            <a:r>
              <a:t> Technologies Inc. (coded </a:t>
            </a:r>
            <a:r>
              <a:rPr b="1"/>
              <a:t>Hemera</a:t>
            </a:r>
            <a:r>
              <a:t>)</a:t>
            </a:r>
          </a:p>
          <a:p>
            <a:pPr marL="611999" lvl="1">
              <a:tabLst>
                <a:tab pos="1485900" algn="l"/>
              </a:tabLst>
            </a:pPr>
            <a:r>
              <a:rPr b="1"/>
              <a:t>Photos</a:t>
            </a:r>
            <a:r>
              <a:t>.com (coded </a:t>
            </a:r>
            <a:r>
              <a:rPr b="1"/>
              <a:t>PC</a:t>
            </a:r>
            <a:r>
              <a:t>)</a:t>
            </a:r>
          </a:p>
          <a:p>
            <a:pPr marL="611999" lvl="1">
              <a:tabLst>
                <a:tab pos="1485900" algn="l"/>
              </a:tabLst>
            </a:pPr>
            <a:r>
              <a:rPr b="1"/>
              <a:t>Education interactive</a:t>
            </a:r>
            <a:r>
              <a:t> (coded </a:t>
            </a:r>
            <a:r>
              <a:rPr b="1"/>
              <a:t>EII</a:t>
            </a:r>
            <a:r>
              <a:t>)</a:t>
            </a:r>
          </a:p>
          <a:p>
            <a:pPr marL="611999" lvl="1">
              <a:tabLst>
                <a:tab pos="1485900" algn="l"/>
              </a:tabLst>
            </a:pPr>
            <a:r>
              <a:rPr b="1"/>
              <a:t>Digital Stock</a:t>
            </a:r>
            <a:r>
              <a:t> (coded </a:t>
            </a:r>
            <a:r>
              <a:rPr b="1"/>
              <a:t>DS</a:t>
            </a:r>
            <a:r>
              <a:t>)</a:t>
            </a:r>
          </a:p>
          <a:p>
            <a:pPr marL="611999" lvl="1">
              <a:tabLst>
                <a:tab pos="1485900" algn="l"/>
              </a:tabLst>
            </a:pPr>
            <a:r>
              <a:rPr b="1"/>
              <a:t>LifeArt</a:t>
            </a:r>
            <a:r>
              <a:t> (coded </a:t>
            </a:r>
            <a:r>
              <a:rPr b="1"/>
              <a:t>LA</a:t>
            </a:r>
            <a:r>
              <a:t>)</a:t>
            </a:r>
          </a:p>
          <a:p>
            <a:pPr marL="611999" lvl="1">
              <a:tabLst>
                <a:tab pos="1485900" algn="l"/>
              </a:tabLst>
            </a:pPr>
            <a:r>
              <a:rPr b="1"/>
              <a:t>Dollar Photo Club</a:t>
            </a:r>
            <a:r>
              <a:t> (coded </a:t>
            </a:r>
            <a:r>
              <a:rPr b="1"/>
              <a:t>DPC</a:t>
            </a:r>
            <a:r>
              <a:t>)</a:t>
            </a:r>
          </a:p>
          <a:p>
            <a:pPr marL="336000" indent="-336000">
              <a:tabLst>
                <a:tab pos="1016000" algn="l"/>
              </a:tabLst>
            </a:pPr>
            <a:r>
              <a:t>3D models were created using </a:t>
            </a:r>
            <a:r>
              <a:rPr b="1"/>
              <a:t>Poser</a:t>
            </a:r>
          </a:p>
          <a:p>
            <a:pPr marL="336000" indent="-336000">
              <a:tabLst>
                <a:tab pos="1016000" algn="l"/>
              </a:tabLst>
            </a:pPr>
            <a:r>
              <a:t>Additional artwork and photographs are the property of </a:t>
            </a:r>
            <a:r>
              <a:rPr b="1"/>
              <a:t>BIOZONE</a:t>
            </a:r>
            <a:r>
              <a:t> International Ltd. All rights reserved.</a:t>
            </a:r>
          </a:p>
          <a:p>
            <a:pPr>
              <a:tabLst>
                <a:tab pos="1016000" algn="l"/>
              </a:tabLst>
            </a:pPr>
            <a:r>
              <a:t>Some 2D artwork has been adapted from TechPool STUDIOS LifeArt Collections, used under licence.</a:t>
            </a:r>
          </a:p>
        </p:txBody>
      </p:sp>
      <p:sp>
        <p:nvSpPr>
          <p:cNvPr id="1768" name="Shape 1768"/>
          <p:cNvSpPr/>
          <p:nvPr/>
        </p:nvSpPr>
        <p:spPr>
          <a:xfrm>
            <a:off x="6807200" y="1803400"/>
            <a:ext cx="5156200" cy="3568700"/>
          </a:xfrm>
          <a:prstGeom prst="rect">
            <a:avLst/>
          </a:prstGeom>
          <a:ln w="12700">
            <a:miter lim="400000"/>
          </a:ln>
          <a:extLst>
            <a:ext uri="{C572A759-6A51-4108-AA02-DFA0A04FC94B}">
              <ma14:wrappingTextBoxFlag xmlns:ma14="http://schemas.microsoft.com/office/mac/drawingml/2011/main" xmlns="" val="1"/>
            </a:ext>
          </a:extLst>
        </p:spPr>
        <p:txBody>
          <a:bodyPr lIns="0" tIns="0" rIns="0" bIns="0"/>
          <a:lstStyle/>
          <a:p>
            <a:pPr marL="381000" indent="-381000">
              <a:lnSpc>
                <a:spcPts val="1900"/>
              </a:lnSpc>
              <a:spcBef>
                <a:spcPts val="2000"/>
              </a:spcBef>
              <a:buClr>
                <a:srgbClr val="FFFFFF"/>
              </a:buClr>
              <a:buSzPct val="200000"/>
              <a:buFont typeface="Lucida Grande"/>
              <a:buChar char="‣"/>
              <a:tabLst>
                <a:tab pos="1016000" algn="l"/>
              </a:tabLst>
              <a:defRPr sz="1600">
                <a:solidFill>
                  <a:srgbClr val="FFFFFF"/>
                </a:solidFill>
              </a:defRPr>
            </a:pPr>
            <a:r>
              <a:t>Images from the Public Domain: Where these licenses have been used, authors and licenses have been acknowledged alongside their image.</a:t>
            </a:r>
          </a:p>
          <a:p>
            <a:pPr marL="633599" lvl="2" indent="-252000">
              <a:lnSpc>
                <a:spcPts val="1400"/>
              </a:lnSpc>
              <a:spcBef>
                <a:spcPts val="600"/>
              </a:spcBef>
              <a:buSzPct val="150000"/>
              <a:buChar char="•"/>
              <a:tabLst>
                <a:tab pos="1485900" algn="l"/>
              </a:tabLst>
              <a:defRPr sz="1200">
                <a:solidFill>
                  <a:srgbClr val="FFFFFF"/>
                </a:solidFill>
              </a:defRPr>
            </a:pPr>
            <a:r>
              <a:rPr b="1"/>
              <a:t>Centers for Disease Control</a:t>
            </a:r>
            <a:r>
              <a:t> (coded </a:t>
            </a:r>
            <a:r>
              <a:rPr b="1"/>
              <a:t>CDC</a:t>
            </a:r>
            <a:r>
              <a:t>)</a:t>
            </a:r>
          </a:p>
          <a:p>
            <a:pPr marL="633599" lvl="2" indent="-252000">
              <a:lnSpc>
                <a:spcPts val="1400"/>
              </a:lnSpc>
              <a:spcBef>
                <a:spcPts val="600"/>
              </a:spcBef>
              <a:buSzPct val="150000"/>
              <a:buChar char="•"/>
              <a:tabLst>
                <a:tab pos="1485900" algn="l"/>
              </a:tabLst>
              <a:defRPr sz="1200">
                <a:solidFill>
                  <a:srgbClr val="FFFFFF"/>
                </a:solidFill>
              </a:defRPr>
            </a:pPr>
            <a:r>
              <a:rPr b="1"/>
              <a:t>National Institutes of Health</a:t>
            </a:r>
            <a:r>
              <a:t> (coded </a:t>
            </a:r>
            <a:r>
              <a:rPr b="1"/>
              <a:t>NIH</a:t>
            </a:r>
            <a:r>
              <a:t>)</a:t>
            </a:r>
          </a:p>
          <a:p>
            <a:pPr marL="633599" lvl="2" indent="-252000">
              <a:lnSpc>
                <a:spcPts val="1400"/>
              </a:lnSpc>
              <a:spcBef>
                <a:spcPts val="600"/>
              </a:spcBef>
              <a:buSzPct val="150000"/>
              <a:buChar char="•"/>
              <a:tabLst>
                <a:tab pos="1638300" algn="l"/>
              </a:tabLst>
              <a:defRPr sz="1200">
                <a:solidFill>
                  <a:srgbClr val="FFFFFF"/>
                </a:solidFill>
              </a:defRPr>
            </a:pPr>
            <a:r>
              <a:rPr b="1"/>
              <a:t>National Aeronautics and Space Administration </a:t>
            </a:r>
            <a:r>
              <a:t>(</a:t>
            </a:r>
            <a:r>
              <a:rPr b="1"/>
              <a:t>NASA</a:t>
            </a:r>
            <a:r>
              <a:t>)</a:t>
            </a:r>
          </a:p>
          <a:p>
            <a:pPr marL="633599" lvl="2" indent="-252000">
              <a:lnSpc>
                <a:spcPts val="1400"/>
              </a:lnSpc>
              <a:spcBef>
                <a:spcPts val="600"/>
              </a:spcBef>
              <a:buSzPct val="150000"/>
              <a:buChar char="•"/>
              <a:tabLst>
                <a:tab pos="1638300" algn="l"/>
              </a:tabLst>
              <a:defRPr sz="1200">
                <a:solidFill>
                  <a:srgbClr val="FFFFFF"/>
                </a:solidFill>
              </a:defRPr>
            </a:pPr>
            <a:r>
              <a:rPr b="1"/>
              <a:t>U.S. Department of Agriculture</a:t>
            </a:r>
            <a:r>
              <a:t> (coded </a:t>
            </a:r>
            <a:r>
              <a:rPr b="1"/>
              <a:t>USDA</a:t>
            </a:r>
            <a:r>
              <a:t>)</a:t>
            </a:r>
          </a:p>
          <a:p>
            <a:pPr marL="633599" lvl="2" indent="-252000">
              <a:lnSpc>
                <a:spcPts val="1400"/>
              </a:lnSpc>
              <a:spcBef>
                <a:spcPts val="600"/>
              </a:spcBef>
              <a:buSzPct val="150000"/>
              <a:buChar char="•"/>
              <a:tabLst>
                <a:tab pos="1638300" algn="l"/>
              </a:tabLst>
              <a:defRPr sz="1200">
                <a:solidFill>
                  <a:srgbClr val="FFFFFF"/>
                </a:solidFill>
              </a:defRPr>
            </a:pPr>
            <a:r>
              <a:t>Images from the public domain include limited copyright, </a:t>
            </a:r>
            <a:br/>
            <a:r>
              <a:t>copyright expired, uncopyrighted, or uncopyrightable material:</a:t>
            </a:r>
          </a:p>
          <a:p>
            <a:pPr marL="900000" lvl="3" indent="-252000">
              <a:lnSpc>
                <a:spcPts val="1400"/>
              </a:lnSpc>
              <a:spcBef>
                <a:spcPts val="600"/>
              </a:spcBef>
              <a:buSzPct val="100000"/>
              <a:buChar char="•"/>
              <a:tabLst>
                <a:tab pos="1638300" algn="l"/>
              </a:tabLst>
              <a:defRPr sz="1200">
                <a:solidFill>
                  <a:srgbClr val="FFFFFF"/>
                </a:solidFill>
              </a:defRPr>
            </a:pPr>
            <a:r>
              <a:rPr b="1"/>
              <a:t>Licenses including: GNU Free Documentation License</a:t>
            </a:r>
            <a:br>
              <a:rPr b="1"/>
            </a:br>
            <a:r>
              <a:rPr u="sng">
                <a:hlinkClick r:id="rId2"/>
              </a:rPr>
              <a:t>http://www.gnu.org/copyleft/fdl.html</a:t>
            </a:r>
          </a:p>
          <a:p>
            <a:pPr marL="900000" lvl="3" indent="-252000">
              <a:lnSpc>
                <a:spcPts val="1400"/>
              </a:lnSpc>
              <a:spcBef>
                <a:spcPts val="600"/>
              </a:spcBef>
              <a:buSzPct val="100000"/>
              <a:buChar char="•"/>
              <a:tabLst>
                <a:tab pos="1638300" algn="l"/>
              </a:tabLst>
              <a:defRPr sz="1200">
                <a:solidFill>
                  <a:srgbClr val="FFFFFF"/>
                </a:solidFill>
              </a:defRPr>
            </a:pPr>
            <a:r>
              <a:rPr b="1"/>
              <a:t>Creative Commons Attribution Share Alike</a:t>
            </a:r>
            <a:br>
              <a:rPr b="1"/>
            </a:br>
            <a:r>
              <a:rPr u="sng">
                <a:hlinkClick r:id="rId3"/>
              </a:rPr>
              <a:t>http://creativecommons.org/licenses/by-sa/3.0/</a:t>
            </a:r>
          </a:p>
          <a:p>
            <a:pPr marL="900000" lvl="3" indent="-252000">
              <a:lnSpc>
                <a:spcPts val="1400"/>
              </a:lnSpc>
              <a:spcBef>
                <a:spcPts val="600"/>
              </a:spcBef>
              <a:buSzPct val="100000"/>
              <a:buChar char="•"/>
              <a:tabLst>
                <a:tab pos="1638300" algn="l"/>
              </a:tabLst>
              <a:defRPr sz="1200" b="1">
                <a:solidFill>
                  <a:srgbClr val="FFFFFF"/>
                </a:solidFill>
              </a:defRPr>
            </a:pPr>
            <a:r>
              <a:t>Wikimedia Commons</a:t>
            </a:r>
          </a:p>
        </p:txBody>
      </p:sp>
      <p:grpSp>
        <p:nvGrpSpPr>
          <p:cNvPr id="1771" name="Group 1771"/>
          <p:cNvGrpSpPr/>
          <p:nvPr/>
        </p:nvGrpSpPr>
        <p:grpSpPr>
          <a:xfrm>
            <a:off x="6807200" y="5384800"/>
            <a:ext cx="5003800" cy="1841500"/>
            <a:chOff x="0" y="0"/>
            <a:chExt cx="5003800" cy="1841500"/>
          </a:xfrm>
        </p:grpSpPr>
        <p:sp>
          <p:nvSpPr>
            <p:cNvPr id="1769" name="Shape 1769"/>
            <p:cNvSpPr/>
            <p:nvPr/>
          </p:nvSpPr>
          <p:spPr>
            <a:xfrm>
              <a:off x="0" y="0"/>
              <a:ext cx="5003800" cy="1841500"/>
            </a:xfrm>
            <a:prstGeom prst="rect">
              <a:avLst/>
            </a:prstGeom>
            <a:solidFill>
              <a:srgbClr val="FFFFFF">
                <a:alpha val="80000"/>
              </a:srgbClr>
            </a:solidFill>
            <a:ln w="25400" cap="flat">
              <a:noFill/>
              <a:miter lim="400000"/>
            </a:ln>
            <a:effectLst/>
          </p:spPr>
          <p:txBody>
            <a:bodyPr wrap="square" lIns="0" tIns="0" rIns="0" bIns="0" numCol="1" anchor="ctr">
              <a:noAutofit/>
            </a:bodyPr>
            <a:lstStyle/>
            <a:p>
              <a:pPr>
                <a:lnSpc>
                  <a:spcPts val="3300"/>
                </a:lnSpc>
                <a:tabLst>
                  <a:tab pos="520700" algn="l"/>
                </a:tabLst>
                <a:defRPr sz="2800">
                  <a:solidFill>
                    <a:srgbClr val="483F36"/>
                  </a:solidFill>
                  <a:effectLst>
                    <a:outerShdw blurRad="38100" dist="12700" dir="5400000" rotWithShape="0">
                      <a:srgbClr val="000000">
                        <a:alpha val="50000"/>
                      </a:srgbClr>
                    </a:outerShdw>
                  </a:effectLst>
                  <a:latin typeface="Hoefler Text"/>
                  <a:ea typeface="Hoefler Text"/>
                  <a:cs typeface="Hoefler Text"/>
                  <a:sym typeface="Hoefler Text"/>
                </a:defRPr>
              </a:pPr>
              <a:endParaRPr/>
            </a:p>
          </p:txBody>
        </p:sp>
        <p:sp>
          <p:nvSpPr>
            <p:cNvPr id="1770" name="Shape 1770"/>
            <p:cNvSpPr/>
            <p:nvPr/>
          </p:nvSpPr>
          <p:spPr>
            <a:xfrm>
              <a:off x="246508" y="215900"/>
              <a:ext cx="4508501" cy="141242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0" tIns="0" rIns="0" bIns="0" numCol="1" anchor="t">
              <a:spAutoFit/>
            </a:bodyPr>
            <a:lstStyle>
              <a:lvl1pPr marL="0">
                <a:spcBef>
                  <a:spcPts val="1200"/>
                </a:spcBef>
                <a:tabLst>
                  <a:tab pos="1016000" algn="l"/>
                </a:tabLst>
                <a:defRPr sz="2400" b="1"/>
              </a:lvl1pPr>
            </a:lstStyle>
            <a:p>
              <a:r>
                <a:t>NOTE: Where images are edited or moved from or within this file, the accompanying photo credit must be retained.</a:t>
              </a:r>
            </a:p>
          </p:txBody>
        </p:sp>
      </p:grpSp>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3" name="PM Ad last slide.pdf"/>
          <p:cNvPicPr>
            <a:picLocks noChangeAspect="1"/>
          </p:cNvPicPr>
          <p:nvPr/>
        </p:nvPicPr>
        <p:blipFill>
          <a:blip r:embed="rId2">
            <a:extLst/>
          </a:blip>
          <a:stretch>
            <a:fillRect/>
          </a:stretch>
        </p:blipFill>
        <p:spPr>
          <a:xfrm>
            <a:off x="-12700" y="-12700"/>
            <a:ext cx="13004800" cy="10007600"/>
          </a:xfrm>
          <a:prstGeom prst="rect">
            <a:avLst/>
          </a:prstGeom>
          <a:ln w="12700">
            <a:miter lim="400000"/>
          </a:ln>
        </p:spPr>
      </p:pic>
    </p:spTree>
  </p:cSld>
  <p:clrMapOvr>
    <a:masterClrMapping/>
  </p:clrMapOvr>
  <mc:AlternateContent xmlns:mc="http://schemas.openxmlformats.org/markup-compatibility/2006" xmlns:p14="http://schemas.microsoft.com/office/powerpoint/2010/main">
    <mc:Choice Requires="p14">
      <p:transition spd="slow" p14:dur="1500">
        <p14:prism/>
      </p:transition>
    </mc:Choice>
    <mc:Fallback xmlns="">
      <p:transition spd="slow">
        <p:fade/>
      </p:transition>
    </mc:Fallback>
  </mc:AlternateContent>
</p:sld>
</file>

<file path=ppt/theme/theme1.xml><?xml version="1.0" encoding="utf-8"?>
<a:theme xmlns:a="http://schemas.openxmlformats.org/drawingml/2006/main" name="White">
  <a:themeElements>
    <a:clrScheme name="Custom 85">
      <a:dk1>
        <a:srgbClr val="949494"/>
      </a:dk1>
      <a:lt1>
        <a:srgbClr val="006994"/>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6695"/>
      </a:hlink>
      <a:folHlink>
        <a:srgbClr val="C4E0ED"/>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a:ea typeface="Arial"/>
        <a:cs typeface="Arial"/>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alpha val="50000"/>
          </a:srgbClr>
        </a:solidFill>
        <a:ln w="25400" cap="flat">
          <a:noFill/>
          <a:miter lim="400000"/>
        </a:ln>
        <a:effectLst/>
        <a:sp3d/>
      </a:spPr>
      <a:bodyPr rot="0" spcFirstLastPara="1" vertOverflow="overflow" horzOverflow="overflow" vert="horz" wrap="square" lIns="0" tIns="0" rIns="0" bIns="0" numCol="1" spcCol="38100" rtlCol="0" anchor="ctr">
        <a:spAutoFit/>
      </a:bodyPr>
      <a:lstStyle>
        <a:defPPr marL="114300" marR="0" indent="0" algn="l" defTabSz="457200" rtl="0" fontAlgn="auto" latinLnBrk="0" hangingPunct="0">
          <a:lnSpc>
            <a:spcPts val="3300"/>
          </a:lnSpc>
          <a:spcBef>
            <a:spcPts val="0"/>
          </a:spcBef>
          <a:spcAft>
            <a:spcPts val="0"/>
          </a:spcAft>
          <a:buClrTx/>
          <a:buSzTx/>
          <a:buFontTx/>
          <a:buNone/>
          <a:tabLst>
            <a:tab pos="520700" algn="l"/>
          </a:tabLst>
          <a:defRPr kumimoji="0" sz="2800" b="0" i="0" u="none" strike="noStrike" cap="none" spc="0" normalizeH="0" baseline="0">
            <a:ln>
              <a:noFill/>
            </a:ln>
            <a:solidFill>
              <a:srgbClr val="483F36"/>
            </a:solidFill>
            <a:effectLst>
              <a:outerShdw blurRad="38100" dist="12700" dir="5400000" rotWithShape="0">
                <a:srgbClr val="000000">
                  <a:alpha val="50000"/>
                </a:srgbClr>
              </a:outerShdw>
            </a:effectLst>
            <a:uFillTx/>
            <a:latin typeface="Hoefler Text"/>
            <a:ea typeface="Hoefler Text"/>
            <a:cs typeface="Hoefler Text"/>
            <a:sym typeface="Hoefler Tex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6994"/>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114300" marR="0" indent="0" algn="l" defTabSz="457200" rtl="0" fontAlgn="auto" latinLnBrk="0" hangingPunct="0">
          <a:lnSpc>
            <a:spcPct val="100000"/>
          </a:lnSpc>
          <a:spcBef>
            <a:spcPts val="0"/>
          </a:spcBef>
          <a:spcAft>
            <a:spcPts val="0"/>
          </a:spcAft>
          <a:buClrTx/>
          <a:buSzTx/>
          <a:buFontTx/>
          <a:buNone/>
          <a:tabLst>
            <a:tab pos="520700" algn="l"/>
          </a:tabLst>
          <a:defRPr kumimoji="0" sz="1800" b="0" i="0" u="none" strike="noStrike" cap="none" spc="0" normalizeH="0" baseline="0">
            <a:ln>
              <a:noFill/>
            </a:ln>
            <a:solidFill>
              <a:srgbClr val="006994"/>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8</TotalTime>
  <Words>2525</Words>
  <Application>Microsoft Office PowerPoint</Application>
  <PresentationFormat>Custom</PresentationFormat>
  <Paragraphs>313</Paragraphs>
  <Slides>29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29</vt:i4>
      </vt:variant>
    </vt:vector>
  </HeadingPairs>
  <TitlesOfParts>
    <vt:vector size="37" baseType="lpstr">
      <vt:lpstr>Arial</vt:lpstr>
      <vt:lpstr>Gill Sans</vt:lpstr>
      <vt:lpstr>Helvetica</vt:lpstr>
      <vt:lpstr>Hoefler Text</vt:lpstr>
      <vt:lpstr>Lucida Grande</vt:lpstr>
      <vt:lpstr>Myriad Pro</vt:lpstr>
      <vt:lpstr>Myriad Pro Semibold</vt:lpstr>
      <vt:lpstr>White</vt:lpstr>
      <vt:lpstr>PowerPoint Presentation</vt:lpstr>
      <vt:lpstr>Cultural Evolution</vt:lpstr>
      <vt:lpstr>Evolution of Behaviour</vt:lpstr>
      <vt:lpstr>Complex Behaviours</vt:lpstr>
      <vt:lpstr>Oldowan Tool Culture</vt:lpstr>
      <vt:lpstr>Oldowan Tool Culture</vt:lpstr>
      <vt:lpstr>Acheulian Tool Culture</vt:lpstr>
      <vt:lpstr>Acheulian Tool Culture</vt:lpstr>
      <vt:lpstr>Mousterian Tool Culture</vt:lpstr>
      <vt:lpstr>Mousterian Tool Culture</vt:lpstr>
      <vt:lpstr>Upper Palaeolithic Tool Culture </vt:lpstr>
      <vt:lpstr>Upper Palaeolithic Tool Culture </vt:lpstr>
      <vt:lpstr>Use of Fire</vt:lpstr>
      <vt:lpstr>Use of Fire</vt:lpstr>
      <vt:lpstr>Clothing</vt:lpstr>
      <vt:lpstr>Shelter</vt:lpstr>
      <vt:lpstr>Palaeolithic Art</vt:lpstr>
      <vt:lpstr>Spiritual Thinking</vt:lpstr>
      <vt:lpstr>Cave Art</vt:lpstr>
      <vt:lpstr>Palaeolithic Art</vt:lpstr>
      <vt:lpstr>Mesolithic Cultures</vt:lpstr>
      <vt:lpstr>Neolithic Cultures</vt:lpstr>
      <vt:lpstr>The Beginning of Agriculture</vt:lpstr>
      <vt:lpstr>The Beginning of Agriculture</vt:lpstr>
      <vt:lpstr>Domestication of Animals</vt:lpstr>
      <vt:lpstr>PowerPoint Presentation</vt:lpstr>
      <vt:lpstr>Conditions of Use</vt:lpstr>
      <vt:lpstr>Photo Credits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EDWARDS Natalie</dc:creator>
  <cp:lastModifiedBy>EDWARDS Natalie [Narrogin Senior High School]</cp:lastModifiedBy>
  <cp:revision>6</cp:revision>
  <dcterms:modified xsi:type="dcterms:W3CDTF">2021-08-10T08:35:12Z</dcterms:modified>
</cp:coreProperties>
</file>
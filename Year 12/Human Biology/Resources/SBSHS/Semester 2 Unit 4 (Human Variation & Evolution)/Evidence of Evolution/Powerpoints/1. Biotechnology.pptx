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  <p:sldId id="271" r:id="rId13"/>
    <p:sldId id="266" r:id="rId14"/>
    <p:sldId id="272" r:id="rId15"/>
    <p:sldId id="267" r:id="rId16"/>
    <p:sldId id="273" r:id="rId17"/>
    <p:sldId id="274" r:id="rId18"/>
    <p:sldId id="268" r:id="rId19"/>
    <p:sldId id="275" r:id="rId20"/>
    <p:sldId id="276" r:id="rId21"/>
    <p:sldId id="269" r:id="rId22"/>
    <p:sldId id="277" r:id="rId23"/>
    <p:sldId id="278" r:id="rId24"/>
    <p:sldId id="280" r:id="rId25"/>
    <p:sldId id="279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51"/>
  </p:normalViewPr>
  <p:slideViewPr>
    <p:cSldViewPr snapToGrid="0" snapToObjects="1">
      <p:cViewPr varScale="1">
        <p:scale>
          <a:sx n="121" d="100"/>
          <a:sy n="121" d="100"/>
        </p:scale>
        <p:origin x="20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99CA1C-29C4-4608-A8D0-518A33030F4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68719B6-146E-464B-8663-D11266958288}">
      <dgm:prSet custT="1"/>
      <dgm:spPr/>
      <dgm:t>
        <a:bodyPr/>
        <a:lstStyle/>
        <a:p>
          <a:r>
            <a:rPr lang="en-US" sz="2400" dirty="0"/>
            <a:t>People with type 1 Diabetes have elevated blood sugar levels due to impaired insulin production by the pancreas. </a:t>
          </a:r>
        </a:p>
      </dgm:t>
    </dgm:pt>
    <dgm:pt modelId="{4876D05D-72A3-4F5B-8C61-416FA3A3CCAE}" type="parTrans" cxnId="{4AE6A481-81D0-4BE9-A17A-B922071F994B}">
      <dgm:prSet/>
      <dgm:spPr/>
      <dgm:t>
        <a:bodyPr/>
        <a:lstStyle/>
        <a:p>
          <a:endParaRPr lang="en-US"/>
        </a:p>
      </dgm:t>
    </dgm:pt>
    <dgm:pt modelId="{C8497B7D-2142-45B7-98B8-791CB80EDE0C}" type="sibTrans" cxnId="{4AE6A481-81D0-4BE9-A17A-B922071F994B}">
      <dgm:prSet/>
      <dgm:spPr/>
      <dgm:t>
        <a:bodyPr/>
        <a:lstStyle/>
        <a:p>
          <a:endParaRPr lang="en-US"/>
        </a:p>
      </dgm:t>
    </dgm:pt>
    <dgm:pt modelId="{CC54E4BA-3F45-4986-8C53-D90A9A719BC8}">
      <dgm:prSet custT="1"/>
      <dgm:spPr/>
      <dgm:t>
        <a:bodyPr/>
        <a:lstStyle/>
        <a:p>
          <a:r>
            <a:rPr lang="en-US" sz="2400" dirty="0"/>
            <a:t>Insulin regulates the use and storage of glucose</a:t>
          </a:r>
          <a:r>
            <a:rPr lang="en-US" sz="500" dirty="0"/>
            <a:t>. </a:t>
          </a:r>
        </a:p>
      </dgm:t>
    </dgm:pt>
    <dgm:pt modelId="{6D118AC2-CED1-49BA-B753-FEDB00C5CEA2}" type="parTrans" cxnId="{8FF4EDC4-5490-43B0-B459-94CD4D96A98C}">
      <dgm:prSet/>
      <dgm:spPr/>
      <dgm:t>
        <a:bodyPr/>
        <a:lstStyle/>
        <a:p>
          <a:endParaRPr lang="en-US"/>
        </a:p>
      </dgm:t>
    </dgm:pt>
    <dgm:pt modelId="{88F6A0DB-364D-45E3-ADF5-AAE460C9CF0B}" type="sibTrans" cxnId="{8FF4EDC4-5490-43B0-B459-94CD4D96A98C}">
      <dgm:prSet/>
      <dgm:spPr/>
      <dgm:t>
        <a:bodyPr/>
        <a:lstStyle/>
        <a:p>
          <a:endParaRPr lang="en-US"/>
        </a:p>
      </dgm:t>
    </dgm:pt>
    <dgm:pt modelId="{82FA83EE-5016-4058-806D-DE936C759A65}">
      <dgm:prSet custT="1"/>
      <dgm:spPr/>
      <dgm:t>
        <a:bodyPr/>
        <a:lstStyle/>
        <a:p>
          <a:r>
            <a:rPr lang="en-US" sz="2400" dirty="0"/>
            <a:t>In 1912- patients were treated with insulin taken from the pancreas of pigs and cattle. </a:t>
          </a:r>
        </a:p>
      </dgm:t>
    </dgm:pt>
    <dgm:pt modelId="{B9E291EB-3AAC-4894-A157-6EFE293F6681}" type="parTrans" cxnId="{356DF7BC-C127-4CAF-8A43-3D73FC235369}">
      <dgm:prSet/>
      <dgm:spPr/>
      <dgm:t>
        <a:bodyPr/>
        <a:lstStyle/>
        <a:p>
          <a:endParaRPr lang="en-US"/>
        </a:p>
      </dgm:t>
    </dgm:pt>
    <dgm:pt modelId="{299B0C07-E36E-44AC-9F58-CBDAE7808C2D}" type="sibTrans" cxnId="{356DF7BC-C127-4CAF-8A43-3D73FC235369}">
      <dgm:prSet/>
      <dgm:spPr/>
      <dgm:t>
        <a:bodyPr/>
        <a:lstStyle/>
        <a:p>
          <a:endParaRPr lang="en-US"/>
        </a:p>
      </dgm:t>
    </dgm:pt>
    <dgm:pt modelId="{2E08BA2C-A40A-4A62-BCC0-1A4249803D05}">
      <dgm:prSet custT="1"/>
      <dgm:spPr/>
      <dgm:t>
        <a:bodyPr/>
        <a:lstStyle/>
        <a:p>
          <a:r>
            <a:rPr lang="en-US" sz="2400" dirty="0"/>
            <a:t>1982- insulin by genetically engineered bacteria was approved for treatment. </a:t>
          </a:r>
        </a:p>
      </dgm:t>
    </dgm:pt>
    <dgm:pt modelId="{CF413385-ABFC-4B61-8CB8-981491110232}" type="parTrans" cxnId="{FA455701-C26C-4DDD-A2C6-EB89D21EB919}">
      <dgm:prSet/>
      <dgm:spPr/>
      <dgm:t>
        <a:bodyPr/>
        <a:lstStyle/>
        <a:p>
          <a:endParaRPr lang="en-US"/>
        </a:p>
      </dgm:t>
    </dgm:pt>
    <dgm:pt modelId="{BCC28FC4-DDC7-4233-ABAA-4E4592F88510}" type="sibTrans" cxnId="{FA455701-C26C-4DDD-A2C6-EB89D21EB919}">
      <dgm:prSet/>
      <dgm:spPr/>
      <dgm:t>
        <a:bodyPr/>
        <a:lstStyle/>
        <a:p>
          <a:endParaRPr lang="en-US"/>
        </a:p>
      </dgm:t>
    </dgm:pt>
    <dgm:pt modelId="{6ADBD506-2FB1-3344-9A16-0A929F6020A0}" type="pres">
      <dgm:prSet presAssocID="{4699CA1C-29C4-4608-A8D0-518A33030F4E}" presName="linear" presStyleCnt="0">
        <dgm:presLayoutVars>
          <dgm:animLvl val="lvl"/>
          <dgm:resizeHandles val="exact"/>
        </dgm:presLayoutVars>
      </dgm:prSet>
      <dgm:spPr/>
    </dgm:pt>
    <dgm:pt modelId="{B8649E65-EDDF-E849-BE1F-ED6405A685AE}" type="pres">
      <dgm:prSet presAssocID="{E68719B6-146E-464B-8663-D1126695828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C912F0C-89F0-5E4B-AFA9-E388A8BB5D93}" type="pres">
      <dgm:prSet presAssocID="{C8497B7D-2142-45B7-98B8-791CB80EDE0C}" presName="spacer" presStyleCnt="0"/>
      <dgm:spPr/>
    </dgm:pt>
    <dgm:pt modelId="{3A78928A-18B2-4849-BB20-65D063726C4A}" type="pres">
      <dgm:prSet presAssocID="{CC54E4BA-3F45-4986-8C53-D90A9A719BC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2E2D2B9-532C-1E49-BD49-1EC6B19AD3FD}" type="pres">
      <dgm:prSet presAssocID="{88F6A0DB-364D-45E3-ADF5-AAE460C9CF0B}" presName="spacer" presStyleCnt="0"/>
      <dgm:spPr/>
    </dgm:pt>
    <dgm:pt modelId="{DCFE0EFD-C633-8641-A3C0-4BFD59EF6521}" type="pres">
      <dgm:prSet presAssocID="{82FA83EE-5016-4058-806D-DE936C759A6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4A028BA-635F-2C45-98B4-240BE996A76E}" type="pres">
      <dgm:prSet presAssocID="{299B0C07-E36E-44AC-9F58-CBDAE7808C2D}" presName="spacer" presStyleCnt="0"/>
      <dgm:spPr/>
    </dgm:pt>
    <dgm:pt modelId="{2D6B5A4E-5D25-6449-8FA8-118AD6F064FC}" type="pres">
      <dgm:prSet presAssocID="{2E08BA2C-A40A-4A62-BCC0-1A4249803D0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FA455701-C26C-4DDD-A2C6-EB89D21EB919}" srcId="{4699CA1C-29C4-4608-A8D0-518A33030F4E}" destId="{2E08BA2C-A40A-4A62-BCC0-1A4249803D05}" srcOrd="3" destOrd="0" parTransId="{CF413385-ABFC-4B61-8CB8-981491110232}" sibTransId="{BCC28FC4-DDC7-4233-ABAA-4E4592F88510}"/>
    <dgm:cxn modelId="{F2FFA823-B753-A44C-B8A2-4854AEEB2DAC}" type="presOf" srcId="{CC54E4BA-3F45-4986-8C53-D90A9A719BC8}" destId="{3A78928A-18B2-4849-BB20-65D063726C4A}" srcOrd="0" destOrd="0" presId="urn:microsoft.com/office/officeart/2005/8/layout/vList2"/>
    <dgm:cxn modelId="{4AE6A481-81D0-4BE9-A17A-B922071F994B}" srcId="{4699CA1C-29C4-4608-A8D0-518A33030F4E}" destId="{E68719B6-146E-464B-8663-D11266958288}" srcOrd="0" destOrd="0" parTransId="{4876D05D-72A3-4F5B-8C61-416FA3A3CCAE}" sibTransId="{C8497B7D-2142-45B7-98B8-791CB80EDE0C}"/>
    <dgm:cxn modelId="{AD16AB84-9562-F342-856E-B5EE37921FE9}" type="presOf" srcId="{E68719B6-146E-464B-8663-D11266958288}" destId="{B8649E65-EDDF-E849-BE1F-ED6405A685AE}" srcOrd="0" destOrd="0" presId="urn:microsoft.com/office/officeart/2005/8/layout/vList2"/>
    <dgm:cxn modelId="{160F0191-976A-F445-8685-A1EC497A291B}" type="presOf" srcId="{2E08BA2C-A40A-4A62-BCC0-1A4249803D05}" destId="{2D6B5A4E-5D25-6449-8FA8-118AD6F064FC}" srcOrd="0" destOrd="0" presId="urn:microsoft.com/office/officeart/2005/8/layout/vList2"/>
    <dgm:cxn modelId="{6215B8BB-0DCF-8844-9818-AFEF573CAE23}" type="presOf" srcId="{82FA83EE-5016-4058-806D-DE936C759A65}" destId="{DCFE0EFD-C633-8641-A3C0-4BFD59EF6521}" srcOrd="0" destOrd="0" presId="urn:microsoft.com/office/officeart/2005/8/layout/vList2"/>
    <dgm:cxn modelId="{356DF7BC-C127-4CAF-8A43-3D73FC235369}" srcId="{4699CA1C-29C4-4608-A8D0-518A33030F4E}" destId="{82FA83EE-5016-4058-806D-DE936C759A65}" srcOrd="2" destOrd="0" parTransId="{B9E291EB-3AAC-4894-A157-6EFE293F6681}" sibTransId="{299B0C07-E36E-44AC-9F58-CBDAE7808C2D}"/>
    <dgm:cxn modelId="{8FF4EDC4-5490-43B0-B459-94CD4D96A98C}" srcId="{4699CA1C-29C4-4608-A8D0-518A33030F4E}" destId="{CC54E4BA-3F45-4986-8C53-D90A9A719BC8}" srcOrd="1" destOrd="0" parTransId="{6D118AC2-CED1-49BA-B753-FEDB00C5CEA2}" sibTransId="{88F6A0DB-364D-45E3-ADF5-AAE460C9CF0B}"/>
    <dgm:cxn modelId="{922B96D8-DE2C-7C44-A2C2-E2D29DE382B3}" type="presOf" srcId="{4699CA1C-29C4-4608-A8D0-518A33030F4E}" destId="{6ADBD506-2FB1-3344-9A16-0A929F6020A0}" srcOrd="0" destOrd="0" presId="urn:microsoft.com/office/officeart/2005/8/layout/vList2"/>
    <dgm:cxn modelId="{22349946-78EE-3B46-BCFD-6F33932E8D29}" type="presParOf" srcId="{6ADBD506-2FB1-3344-9A16-0A929F6020A0}" destId="{B8649E65-EDDF-E849-BE1F-ED6405A685AE}" srcOrd="0" destOrd="0" presId="urn:microsoft.com/office/officeart/2005/8/layout/vList2"/>
    <dgm:cxn modelId="{C56CE9C6-A3AC-8C4D-B0EC-64642A743A12}" type="presParOf" srcId="{6ADBD506-2FB1-3344-9A16-0A929F6020A0}" destId="{9C912F0C-89F0-5E4B-AFA9-E388A8BB5D93}" srcOrd="1" destOrd="0" presId="urn:microsoft.com/office/officeart/2005/8/layout/vList2"/>
    <dgm:cxn modelId="{E5193231-FAE7-344F-AE84-88469C91D3F1}" type="presParOf" srcId="{6ADBD506-2FB1-3344-9A16-0A929F6020A0}" destId="{3A78928A-18B2-4849-BB20-65D063726C4A}" srcOrd="2" destOrd="0" presId="urn:microsoft.com/office/officeart/2005/8/layout/vList2"/>
    <dgm:cxn modelId="{77BA3FA8-D102-CF43-88B0-9DEF093B468E}" type="presParOf" srcId="{6ADBD506-2FB1-3344-9A16-0A929F6020A0}" destId="{D2E2D2B9-532C-1E49-BD49-1EC6B19AD3FD}" srcOrd="3" destOrd="0" presId="urn:microsoft.com/office/officeart/2005/8/layout/vList2"/>
    <dgm:cxn modelId="{35E59994-964A-8B41-8C54-2760222EB1B9}" type="presParOf" srcId="{6ADBD506-2FB1-3344-9A16-0A929F6020A0}" destId="{DCFE0EFD-C633-8641-A3C0-4BFD59EF6521}" srcOrd="4" destOrd="0" presId="urn:microsoft.com/office/officeart/2005/8/layout/vList2"/>
    <dgm:cxn modelId="{505200FE-A888-C543-B583-A6E8E8C73F65}" type="presParOf" srcId="{6ADBD506-2FB1-3344-9A16-0A929F6020A0}" destId="{54A028BA-635F-2C45-98B4-240BE996A76E}" srcOrd="5" destOrd="0" presId="urn:microsoft.com/office/officeart/2005/8/layout/vList2"/>
    <dgm:cxn modelId="{2E784FD5-B530-1644-B84A-98F445B45E86}" type="presParOf" srcId="{6ADBD506-2FB1-3344-9A16-0A929F6020A0}" destId="{2D6B5A4E-5D25-6449-8FA8-118AD6F064F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E8A094-F39C-46E8-B1AB-D885B4A5190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DFD8A38-0F0A-4E4D-BBFD-F954F34666A7}">
      <dgm:prSet/>
      <dgm:spPr/>
      <dgm:t>
        <a:bodyPr/>
        <a:lstStyle/>
        <a:p>
          <a:r>
            <a:rPr lang="en-US"/>
            <a:t>This procedure now frequently performed and uses yeast cells as a growth medium. </a:t>
          </a:r>
        </a:p>
      </dgm:t>
    </dgm:pt>
    <dgm:pt modelId="{30EB5458-D564-4B1E-8AE4-7C72F7D2689A}" type="parTrans" cxnId="{AED55E54-8913-46BD-B031-864FAD4DFF11}">
      <dgm:prSet/>
      <dgm:spPr/>
      <dgm:t>
        <a:bodyPr/>
        <a:lstStyle/>
        <a:p>
          <a:endParaRPr lang="en-US"/>
        </a:p>
      </dgm:t>
    </dgm:pt>
    <dgm:pt modelId="{B6FC5E02-5D6B-41E6-AD03-5661CD325E3C}" type="sibTrans" cxnId="{AED55E54-8913-46BD-B031-864FAD4DFF11}">
      <dgm:prSet/>
      <dgm:spPr/>
      <dgm:t>
        <a:bodyPr/>
        <a:lstStyle/>
        <a:p>
          <a:endParaRPr lang="en-US"/>
        </a:p>
      </dgm:t>
    </dgm:pt>
    <dgm:pt modelId="{B5A9E2E8-1324-4F0A-B6CC-22BA99A2816F}">
      <dgm:prSet/>
      <dgm:spPr/>
      <dgm:t>
        <a:bodyPr/>
        <a:lstStyle/>
        <a:p>
          <a:r>
            <a:rPr lang="en-US"/>
            <a:t>Insulin produced this way, also doesn’t have any of the side effects of the pig or cattle harvest insulin. </a:t>
          </a:r>
        </a:p>
      </dgm:t>
    </dgm:pt>
    <dgm:pt modelId="{4C6E4EC7-7813-45B6-BC74-45266859B0CC}" type="parTrans" cxnId="{425DB940-19AE-4861-A2DE-57A8B0A2055E}">
      <dgm:prSet/>
      <dgm:spPr/>
      <dgm:t>
        <a:bodyPr/>
        <a:lstStyle/>
        <a:p>
          <a:endParaRPr lang="en-US"/>
        </a:p>
      </dgm:t>
    </dgm:pt>
    <dgm:pt modelId="{D1AB2A0D-517D-4DD5-B46E-63FB0F8513A5}" type="sibTrans" cxnId="{425DB940-19AE-4861-A2DE-57A8B0A2055E}">
      <dgm:prSet/>
      <dgm:spPr/>
      <dgm:t>
        <a:bodyPr/>
        <a:lstStyle/>
        <a:p>
          <a:endParaRPr lang="en-US"/>
        </a:p>
      </dgm:t>
    </dgm:pt>
    <dgm:pt modelId="{59CE3E72-829D-4C41-8722-545FA50E352B}" type="pres">
      <dgm:prSet presAssocID="{14E8A094-F39C-46E8-B1AB-D885B4A51905}" presName="linear" presStyleCnt="0">
        <dgm:presLayoutVars>
          <dgm:animLvl val="lvl"/>
          <dgm:resizeHandles val="exact"/>
        </dgm:presLayoutVars>
      </dgm:prSet>
      <dgm:spPr/>
    </dgm:pt>
    <dgm:pt modelId="{4D007BA7-058B-9C45-B052-38B3E1CBC069}" type="pres">
      <dgm:prSet presAssocID="{ADFD8A38-0F0A-4E4D-BBFD-F954F34666A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6C76802-9888-BC47-8F2A-DAFF1372A247}" type="pres">
      <dgm:prSet presAssocID="{B6FC5E02-5D6B-41E6-AD03-5661CD325E3C}" presName="spacer" presStyleCnt="0"/>
      <dgm:spPr/>
    </dgm:pt>
    <dgm:pt modelId="{D5D202D1-8C91-3D40-A11C-FEDEA6A688BB}" type="pres">
      <dgm:prSet presAssocID="{B5A9E2E8-1324-4F0A-B6CC-22BA99A2816F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425DB940-19AE-4861-A2DE-57A8B0A2055E}" srcId="{14E8A094-F39C-46E8-B1AB-D885B4A51905}" destId="{B5A9E2E8-1324-4F0A-B6CC-22BA99A2816F}" srcOrd="1" destOrd="0" parTransId="{4C6E4EC7-7813-45B6-BC74-45266859B0CC}" sibTransId="{D1AB2A0D-517D-4DD5-B46E-63FB0F8513A5}"/>
    <dgm:cxn modelId="{AED55E54-8913-46BD-B031-864FAD4DFF11}" srcId="{14E8A094-F39C-46E8-B1AB-D885B4A51905}" destId="{ADFD8A38-0F0A-4E4D-BBFD-F954F34666A7}" srcOrd="0" destOrd="0" parTransId="{30EB5458-D564-4B1E-8AE4-7C72F7D2689A}" sibTransId="{B6FC5E02-5D6B-41E6-AD03-5661CD325E3C}"/>
    <dgm:cxn modelId="{77503E65-322B-B441-8497-742D8B854F74}" type="presOf" srcId="{ADFD8A38-0F0A-4E4D-BBFD-F954F34666A7}" destId="{4D007BA7-058B-9C45-B052-38B3E1CBC069}" srcOrd="0" destOrd="0" presId="urn:microsoft.com/office/officeart/2005/8/layout/vList2"/>
    <dgm:cxn modelId="{B56A95AD-ED39-504D-A1E2-9F6F70913428}" type="presOf" srcId="{14E8A094-F39C-46E8-B1AB-D885B4A51905}" destId="{59CE3E72-829D-4C41-8722-545FA50E352B}" srcOrd="0" destOrd="0" presId="urn:microsoft.com/office/officeart/2005/8/layout/vList2"/>
    <dgm:cxn modelId="{3C53FAE4-34A7-4C48-A691-AAAEE3710473}" type="presOf" srcId="{B5A9E2E8-1324-4F0A-B6CC-22BA99A2816F}" destId="{D5D202D1-8C91-3D40-A11C-FEDEA6A688BB}" srcOrd="0" destOrd="0" presId="urn:microsoft.com/office/officeart/2005/8/layout/vList2"/>
    <dgm:cxn modelId="{564FB125-2989-BE4D-80A2-EB39326E2038}" type="presParOf" srcId="{59CE3E72-829D-4C41-8722-545FA50E352B}" destId="{4D007BA7-058B-9C45-B052-38B3E1CBC069}" srcOrd="0" destOrd="0" presId="urn:microsoft.com/office/officeart/2005/8/layout/vList2"/>
    <dgm:cxn modelId="{CFB5B634-3CE1-CE4D-AE85-FC703467B14E}" type="presParOf" srcId="{59CE3E72-829D-4C41-8722-545FA50E352B}" destId="{E6C76802-9888-BC47-8F2A-DAFF1372A247}" srcOrd="1" destOrd="0" presId="urn:microsoft.com/office/officeart/2005/8/layout/vList2"/>
    <dgm:cxn modelId="{BB752E30-0C20-1848-A0E4-6EABD0F5F1F8}" type="presParOf" srcId="{59CE3E72-829D-4C41-8722-545FA50E352B}" destId="{D5D202D1-8C91-3D40-A11C-FEDEA6A688BB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43F608-D010-4D15-BBFE-C3925204A333}" type="doc">
      <dgm:prSet loTypeId="urn:microsoft.com/office/officeart/2008/layout/LinedLis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B059104-B805-47E4-8A22-5FCA786F0D62}">
      <dgm:prSet/>
      <dgm:spPr/>
      <dgm:t>
        <a:bodyPr/>
        <a:lstStyle/>
        <a:p>
          <a:r>
            <a:rPr lang="en-US"/>
            <a:t>Haemophilia A or Classic Haemophilia is an inherited disorder in which the blood clotting protein, Factor VIII, is in little supply or missing. </a:t>
          </a:r>
        </a:p>
      </dgm:t>
    </dgm:pt>
    <dgm:pt modelId="{46D43129-3B32-4495-BF56-427EFB85A2B7}" type="parTrans" cxnId="{35B0AB21-7DB7-4CC0-B847-59F98AA1AF85}">
      <dgm:prSet/>
      <dgm:spPr/>
      <dgm:t>
        <a:bodyPr/>
        <a:lstStyle/>
        <a:p>
          <a:endParaRPr lang="en-US"/>
        </a:p>
      </dgm:t>
    </dgm:pt>
    <dgm:pt modelId="{E8138050-F68A-4AA0-B90B-2B27179DD67A}" type="sibTrans" cxnId="{35B0AB21-7DB7-4CC0-B847-59F98AA1AF85}">
      <dgm:prSet/>
      <dgm:spPr/>
      <dgm:t>
        <a:bodyPr/>
        <a:lstStyle/>
        <a:p>
          <a:endParaRPr lang="en-US"/>
        </a:p>
      </dgm:t>
    </dgm:pt>
    <dgm:pt modelId="{09EEFE7C-FA71-4EA0-A86C-D7A909E1C785}">
      <dgm:prSet/>
      <dgm:spPr/>
      <dgm:t>
        <a:bodyPr/>
        <a:lstStyle/>
        <a:p>
          <a:r>
            <a:rPr lang="en-US" dirty="0"/>
            <a:t>This means that people with the condition are unable to form blood clots and are therefore at risk of life-threatening bleeding. </a:t>
          </a:r>
        </a:p>
      </dgm:t>
    </dgm:pt>
    <dgm:pt modelId="{0FD17FAB-68EB-4075-84D6-9A8D96C5D4B4}" type="parTrans" cxnId="{71C84F82-4004-40F9-98EB-5AF6141EBE41}">
      <dgm:prSet/>
      <dgm:spPr/>
      <dgm:t>
        <a:bodyPr/>
        <a:lstStyle/>
        <a:p>
          <a:endParaRPr lang="en-US"/>
        </a:p>
      </dgm:t>
    </dgm:pt>
    <dgm:pt modelId="{742F58E6-EEEB-49D4-A65D-5DE0DAB042D9}" type="sibTrans" cxnId="{71C84F82-4004-40F9-98EB-5AF6141EBE41}">
      <dgm:prSet/>
      <dgm:spPr/>
      <dgm:t>
        <a:bodyPr/>
        <a:lstStyle/>
        <a:p>
          <a:endParaRPr lang="en-US"/>
        </a:p>
      </dgm:t>
    </dgm:pt>
    <dgm:pt modelId="{D035B299-959F-4B89-8BF5-757C36762D4F}">
      <dgm:prSet/>
      <dgm:spPr/>
      <dgm:t>
        <a:bodyPr/>
        <a:lstStyle/>
        <a:p>
          <a:r>
            <a:rPr lang="en-US"/>
            <a:t>To treat this injections of factor VIII concentrates made from human plasma are required. </a:t>
          </a:r>
        </a:p>
      </dgm:t>
    </dgm:pt>
    <dgm:pt modelId="{F502606F-D451-4137-BA5F-9B6EFEE4F921}" type="parTrans" cxnId="{8E608729-51B7-4952-8DB9-16F859C96B2B}">
      <dgm:prSet/>
      <dgm:spPr/>
      <dgm:t>
        <a:bodyPr/>
        <a:lstStyle/>
        <a:p>
          <a:endParaRPr lang="en-US"/>
        </a:p>
      </dgm:t>
    </dgm:pt>
    <dgm:pt modelId="{500AA3D6-3D25-4DC9-BBE4-2F937DD0CF42}" type="sibTrans" cxnId="{8E608729-51B7-4952-8DB9-16F859C96B2B}">
      <dgm:prSet/>
      <dgm:spPr/>
      <dgm:t>
        <a:bodyPr/>
        <a:lstStyle/>
        <a:p>
          <a:endParaRPr lang="en-US"/>
        </a:p>
      </dgm:t>
    </dgm:pt>
    <dgm:pt modelId="{DDDE3B48-19BA-784C-A4DC-4DE63E1E1257}" type="pres">
      <dgm:prSet presAssocID="{EC43F608-D010-4D15-BBFE-C3925204A333}" presName="vert0" presStyleCnt="0">
        <dgm:presLayoutVars>
          <dgm:dir/>
          <dgm:animOne val="branch"/>
          <dgm:animLvl val="lvl"/>
        </dgm:presLayoutVars>
      </dgm:prSet>
      <dgm:spPr/>
    </dgm:pt>
    <dgm:pt modelId="{AC6560AD-2901-114E-98F9-3318178F0C6C}" type="pres">
      <dgm:prSet presAssocID="{BB059104-B805-47E4-8A22-5FCA786F0D62}" presName="thickLine" presStyleLbl="alignNode1" presStyleIdx="0" presStyleCnt="3"/>
      <dgm:spPr/>
    </dgm:pt>
    <dgm:pt modelId="{64FC6C0D-C90B-4949-82A8-9E8D7233AFC8}" type="pres">
      <dgm:prSet presAssocID="{BB059104-B805-47E4-8A22-5FCA786F0D62}" presName="horz1" presStyleCnt="0"/>
      <dgm:spPr/>
    </dgm:pt>
    <dgm:pt modelId="{1DC2278C-6102-7246-8C8D-0418860BB804}" type="pres">
      <dgm:prSet presAssocID="{BB059104-B805-47E4-8A22-5FCA786F0D62}" presName="tx1" presStyleLbl="revTx" presStyleIdx="0" presStyleCnt="3"/>
      <dgm:spPr/>
    </dgm:pt>
    <dgm:pt modelId="{E74AE358-7C42-854C-AA94-8A079E8DA2AC}" type="pres">
      <dgm:prSet presAssocID="{BB059104-B805-47E4-8A22-5FCA786F0D62}" presName="vert1" presStyleCnt="0"/>
      <dgm:spPr/>
    </dgm:pt>
    <dgm:pt modelId="{DF04C51B-A526-2D4E-8741-24669AD03CE7}" type="pres">
      <dgm:prSet presAssocID="{09EEFE7C-FA71-4EA0-A86C-D7A909E1C785}" presName="thickLine" presStyleLbl="alignNode1" presStyleIdx="1" presStyleCnt="3"/>
      <dgm:spPr/>
    </dgm:pt>
    <dgm:pt modelId="{5D7EF773-AA71-D74A-85B0-75BDF150C944}" type="pres">
      <dgm:prSet presAssocID="{09EEFE7C-FA71-4EA0-A86C-D7A909E1C785}" presName="horz1" presStyleCnt="0"/>
      <dgm:spPr/>
    </dgm:pt>
    <dgm:pt modelId="{90C9DACA-6C9E-5D4C-8350-CD86CAB228E3}" type="pres">
      <dgm:prSet presAssocID="{09EEFE7C-FA71-4EA0-A86C-D7A909E1C785}" presName="tx1" presStyleLbl="revTx" presStyleIdx="1" presStyleCnt="3"/>
      <dgm:spPr/>
    </dgm:pt>
    <dgm:pt modelId="{9260A2B4-E915-8F4A-A9E8-CF80EFE7612C}" type="pres">
      <dgm:prSet presAssocID="{09EEFE7C-FA71-4EA0-A86C-D7A909E1C785}" presName="vert1" presStyleCnt="0"/>
      <dgm:spPr/>
    </dgm:pt>
    <dgm:pt modelId="{7031AD66-14B5-BB44-B77A-DCAE845B7B94}" type="pres">
      <dgm:prSet presAssocID="{D035B299-959F-4B89-8BF5-757C36762D4F}" presName="thickLine" presStyleLbl="alignNode1" presStyleIdx="2" presStyleCnt="3"/>
      <dgm:spPr/>
    </dgm:pt>
    <dgm:pt modelId="{D7688063-DEAB-D741-9E07-9FE0850D0F8D}" type="pres">
      <dgm:prSet presAssocID="{D035B299-959F-4B89-8BF5-757C36762D4F}" presName="horz1" presStyleCnt="0"/>
      <dgm:spPr/>
    </dgm:pt>
    <dgm:pt modelId="{6A257347-28BB-F048-B8A2-E2379C794951}" type="pres">
      <dgm:prSet presAssocID="{D035B299-959F-4B89-8BF5-757C36762D4F}" presName="tx1" presStyleLbl="revTx" presStyleIdx="2" presStyleCnt="3"/>
      <dgm:spPr/>
    </dgm:pt>
    <dgm:pt modelId="{10DB2BFB-3EDA-3E41-AAA4-63A24CE4E7F0}" type="pres">
      <dgm:prSet presAssocID="{D035B299-959F-4B89-8BF5-757C36762D4F}" presName="vert1" presStyleCnt="0"/>
      <dgm:spPr/>
    </dgm:pt>
  </dgm:ptLst>
  <dgm:cxnLst>
    <dgm:cxn modelId="{35B0AB21-7DB7-4CC0-B847-59F98AA1AF85}" srcId="{EC43F608-D010-4D15-BBFE-C3925204A333}" destId="{BB059104-B805-47E4-8A22-5FCA786F0D62}" srcOrd="0" destOrd="0" parTransId="{46D43129-3B32-4495-BF56-427EFB85A2B7}" sibTransId="{E8138050-F68A-4AA0-B90B-2B27179DD67A}"/>
    <dgm:cxn modelId="{8E608729-51B7-4952-8DB9-16F859C96B2B}" srcId="{EC43F608-D010-4D15-BBFE-C3925204A333}" destId="{D035B299-959F-4B89-8BF5-757C36762D4F}" srcOrd="2" destOrd="0" parTransId="{F502606F-D451-4137-BA5F-9B6EFEE4F921}" sibTransId="{500AA3D6-3D25-4DC9-BBE4-2F937DD0CF42}"/>
    <dgm:cxn modelId="{B3E94A37-9654-EA4A-81DE-A2A87AA700EE}" type="presOf" srcId="{BB059104-B805-47E4-8A22-5FCA786F0D62}" destId="{1DC2278C-6102-7246-8C8D-0418860BB804}" srcOrd="0" destOrd="0" presId="urn:microsoft.com/office/officeart/2008/layout/LinedList"/>
    <dgm:cxn modelId="{FAE4293F-C114-0B4F-B703-4BFBA39812BE}" type="presOf" srcId="{09EEFE7C-FA71-4EA0-A86C-D7A909E1C785}" destId="{90C9DACA-6C9E-5D4C-8350-CD86CAB228E3}" srcOrd="0" destOrd="0" presId="urn:microsoft.com/office/officeart/2008/layout/LinedList"/>
    <dgm:cxn modelId="{81775266-C8AD-4D43-91E8-89A71ED523A9}" type="presOf" srcId="{EC43F608-D010-4D15-BBFE-C3925204A333}" destId="{DDDE3B48-19BA-784C-A4DC-4DE63E1E1257}" srcOrd="0" destOrd="0" presId="urn:microsoft.com/office/officeart/2008/layout/LinedList"/>
    <dgm:cxn modelId="{71C84F82-4004-40F9-98EB-5AF6141EBE41}" srcId="{EC43F608-D010-4D15-BBFE-C3925204A333}" destId="{09EEFE7C-FA71-4EA0-A86C-D7A909E1C785}" srcOrd="1" destOrd="0" parTransId="{0FD17FAB-68EB-4075-84D6-9A8D96C5D4B4}" sibTransId="{742F58E6-EEEB-49D4-A65D-5DE0DAB042D9}"/>
    <dgm:cxn modelId="{390E3BD6-4381-BA4D-AFF9-7B03A7CF54E1}" type="presOf" srcId="{D035B299-959F-4B89-8BF5-757C36762D4F}" destId="{6A257347-28BB-F048-B8A2-E2379C794951}" srcOrd="0" destOrd="0" presId="urn:microsoft.com/office/officeart/2008/layout/LinedList"/>
    <dgm:cxn modelId="{75F4B7F8-9F1B-2E45-82F9-46FAA234B285}" type="presParOf" srcId="{DDDE3B48-19BA-784C-A4DC-4DE63E1E1257}" destId="{AC6560AD-2901-114E-98F9-3318178F0C6C}" srcOrd="0" destOrd="0" presId="urn:microsoft.com/office/officeart/2008/layout/LinedList"/>
    <dgm:cxn modelId="{AC9F1B69-5D36-2F4C-98A9-001CC1AF1223}" type="presParOf" srcId="{DDDE3B48-19BA-784C-A4DC-4DE63E1E1257}" destId="{64FC6C0D-C90B-4949-82A8-9E8D7233AFC8}" srcOrd="1" destOrd="0" presId="urn:microsoft.com/office/officeart/2008/layout/LinedList"/>
    <dgm:cxn modelId="{2C8B4B57-550C-6C47-8D32-20633C30578C}" type="presParOf" srcId="{64FC6C0D-C90B-4949-82A8-9E8D7233AFC8}" destId="{1DC2278C-6102-7246-8C8D-0418860BB804}" srcOrd="0" destOrd="0" presId="urn:microsoft.com/office/officeart/2008/layout/LinedList"/>
    <dgm:cxn modelId="{9EAE9798-1FE5-6D47-BD37-FF94F4B22CA2}" type="presParOf" srcId="{64FC6C0D-C90B-4949-82A8-9E8D7233AFC8}" destId="{E74AE358-7C42-854C-AA94-8A079E8DA2AC}" srcOrd="1" destOrd="0" presId="urn:microsoft.com/office/officeart/2008/layout/LinedList"/>
    <dgm:cxn modelId="{706D8A9E-FB4A-AD43-8AFA-70B905C3A409}" type="presParOf" srcId="{DDDE3B48-19BA-784C-A4DC-4DE63E1E1257}" destId="{DF04C51B-A526-2D4E-8741-24669AD03CE7}" srcOrd="2" destOrd="0" presId="urn:microsoft.com/office/officeart/2008/layout/LinedList"/>
    <dgm:cxn modelId="{86988DAB-970E-E141-9725-3F45EF842B2E}" type="presParOf" srcId="{DDDE3B48-19BA-784C-A4DC-4DE63E1E1257}" destId="{5D7EF773-AA71-D74A-85B0-75BDF150C944}" srcOrd="3" destOrd="0" presId="urn:microsoft.com/office/officeart/2008/layout/LinedList"/>
    <dgm:cxn modelId="{E7343C19-C857-4C40-8698-22E39DECFC0F}" type="presParOf" srcId="{5D7EF773-AA71-D74A-85B0-75BDF150C944}" destId="{90C9DACA-6C9E-5D4C-8350-CD86CAB228E3}" srcOrd="0" destOrd="0" presId="urn:microsoft.com/office/officeart/2008/layout/LinedList"/>
    <dgm:cxn modelId="{60772887-5149-574C-8A7A-9D780161CA5B}" type="presParOf" srcId="{5D7EF773-AA71-D74A-85B0-75BDF150C944}" destId="{9260A2B4-E915-8F4A-A9E8-CF80EFE7612C}" srcOrd="1" destOrd="0" presId="urn:microsoft.com/office/officeart/2008/layout/LinedList"/>
    <dgm:cxn modelId="{ED2586AD-7E64-E34B-864F-C4565D50D523}" type="presParOf" srcId="{DDDE3B48-19BA-784C-A4DC-4DE63E1E1257}" destId="{7031AD66-14B5-BB44-B77A-DCAE845B7B94}" srcOrd="4" destOrd="0" presId="urn:microsoft.com/office/officeart/2008/layout/LinedList"/>
    <dgm:cxn modelId="{85975904-3DE9-5745-8ACF-2C0E8D1ACA88}" type="presParOf" srcId="{DDDE3B48-19BA-784C-A4DC-4DE63E1E1257}" destId="{D7688063-DEAB-D741-9E07-9FE0850D0F8D}" srcOrd="5" destOrd="0" presId="urn:microsoft.com/office/officeart/2008/layout/LinedList"/>
    <dgm:cxn modelId="{1351D21A-AFEF-7D47-BF59-59F6B5847367}" type="presParOf" srcId="{D7688063-DEAB-D741-9E07-9FE0850D0F8D}" destId="{6A257347-28BB-F048-B8A2-E2379C794951}" srcOrd="0" destOrd="0" presId="urn:microsoft.com/office/officeart/2008/layout/LinedList"/>
    <dgm:cxn modelId="{3F236EBD-1085-2E45-969D-78B0D573F1AA}" type="presParOf" srcId="{D7688063-DEAB-D741-9E07-9FE0850D0F8D}" destId="{10DB2BFB-3EDA-3E41-AAA4-63A24CE4E7F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6AC7BE8-6FE7-460C-8FE6-5F7F1E849BFE}" type="doc">
      <dgm:prSet loTypeId="urn:microsoft.com/office/officeart/2008/layout/LinedList" loCatId="list" qsTypeId="urn:microsoft.com/office/officeart/2005/8/quickstyle/simple5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360FD07-987E-461C-90ED-28F0CBB2AADA}">
      <dgm:prSet/>
      <dgm:spPr/>
      <dgm:t>
        <a:bodyPr/>
        <a:lstStyle/>
        <a:p>
          <a:r>
            <a:rPr lang="en-US"/>
            <a:t>Besides the financial deterrent, those involved in vaccine research also need to be conservative. </a:t>
          </a:r>
        </a:p>
      </dgm:t>
    </dgm:pt>
    <dgm:pt modelId="{CD1AD48B-A29C-47C1-BF12-18A048590B45}" type="parTrans" cxnId="{5C0B11D2-6971-44AC-9571-0114DD309ECB}">
      <dgm:prSet/>
      <dgm:spPr/>
      <dgm:t>
        <a:bodyPr/>
        <a:lstStyle/>
        <a:p>
          <a:endParaRPr lang="en-US"/>
        </a:p>
      </dgm:t>
    </dgm:pt>
    <dgm:pt modelId="{79A13051-3342-4397-BCA4-D9FDA51F7EFC}" type="sibTrans" cxnId="{5C0B11D2-6971-44AC-9571-0114DD309ECB}">
      <dgm:prSet/>
      <dgm:spPr/>
      <dgm:t>
        <a:bodyPr/>
        <a:lstStyle/>
        <a:p>
          <a:endParaRPr lang="en-US"/>
        </a:p>
      </dgm:t>
    </dgm:pt>
    <dgm:pt modelId="{404FEF03-4225-42B4-8EE1-6F67FCC13070}">
      <dgm:prSet/>
      <dgm:spPr/>
      <dgm:t>
        <a:bodyPr/>
        <a:lstStyle/>
        <a:p>
          <a:r>
            <a:rPr lang="en-US"/>
            <a:t>Due to vaccines being used on healthy people, especially children, safety is paramount. </a:t>
          </a:r>
        </a:p>
      </dgm:t>
    </dgm:pt>
    <dgm:pt modelId="{D5AAFDB5-548F-4FCC-AC5F-1367EC9F179B}" type="parTrans" cxnId="{D462A976-F9B8-4718-BAF7-4AAACEB42F41}">
      <dgm:prSet/>
      <dgm:spPr/>
      <dgm:t>
        <a:bodyPr/>
        <a:lstStyle/>
        <a:p>
          <a:endParaRPr lang="en-US"/>
        </a:p>
      </dgm:t>
    </dgm:pt>
    <dgm:pt modelId="{308A7DEF-12C9-4B84-ADFB-9182190FA67A}" type="sibTrans" cxnId="{D462A976-F9B8-4718-BAF7-4AAACEB42F41}">
      <dgm:prSet/>
      <dgm:spPr/>
      <dgm:t>
        <a:bodyPr/>
        <a:lstStyle/>
        <a:p>
          <a:endParaRPr lang="en-US"/>
        </a:p>
      </dgm:t>
    </dgm:pt>
    <dgm:pt modelId="{D33B11A1-AE2C-48FD-AB1D-0F5F727F3F97}">
      <dgm:prSet/>
      <dgm:spPr/>
      <dgm:t>
        <a:bodyPr/>
        <a:lstStyle/>
        <a:p>
          <a:r>
            <a:rPr lang="en-US"/>
            <a:t>Therefore, if a vaccine works there is little incentive to invent a new one. </a:t>
          </a:r>
        </a:p>
      </dgm:t>
    </dgm:pt>
    <dgm:pt modelId="{5D7819D8-09D9-45FF-97B4-081D97B9C17A}" type="parTrans" cxnId="{FF4A6BDA-5AC7-410A-9E46-50DE78982235}">
      <dgm:prSet/>
      <dgm:spPr/>
      <dgm:t>
        <a:bodyPr/>
        <a:lstStyle/>
        <a:p>
          <a:endParaRPr lang="en-US"/>
        </a:p>
      </dgm:t>
    </dgm:pt>
    <dgm:pt modelId="{196D4585-3083-4B25-AAEC-7591D27493DA}" type="sibTrans" cxnId="{FF4A6BDA-5AC7-410A-9E46-50DE78982235}">
      <dgm:prSet/>
      <dgm:spPr/>
      <dgm:t>
        <a:bodyPr/>
        <a:lstStyle/>
        <a:p>
          <a:endParaRPr lang="en-US"/>
        </a:p>
      </dgm:t>
    </dgm:pt>
    <dgm:pt modelId="{123FFC30-E7FC-9F41-A861-11E5D19D5D10}" type="pres">
      <dgm:prSet presAssocID="{96AC7BE8-6FE7-460C-8FE6-5F7F1E849BFE}" presName="vert0" presStyleCnt="0">
        <dgm:presLayoutVars>
          <dgm:dir/>
          <dgm:animOne val="branch"/>
          <dgm:animLvl val="lvl"/>
        </dgm:presLayoutVars>
      </dgm:prSet>
      <dgm:spPr/>
    </dgm:pt>
    <dgm:pt modelId="{C2D5FD62-4325-0842-9F92-2AB7CD36B540}" type="pres">
      <dgm:prSet presAssocID="{8360FD07-987E-461C-90ED-28F0CBB2AADA}" presName="thickLine" presStyleLbl="alignNode1" presStyleIdx="0" presStyleCnt="3"/>
      <dgm:spPr/>
    </dgm:pt>
    <dgm:pt modelId="{0D5789D4-DDDD-FA4E-A0A5-FC578724B7EA}" type="pres">
      <dgm:prSet presAssocID="{8360FD07-987E-461C-90ED-28F0CBB2AADA}" presName="horz1" presStyleCnt="0"/>
      <dgm:spPr/>
    </dgm:pt>
    <dgm:pt modelId="{DF0111CF-D449-AE40-8FBD-D4FCC9D8F1C8}" type="pres">
      <dgm:prSet presAssocID="{8360FD07-987E-461C-90ED-28F0CBB2AADA}" presName="tx1" presStyleLbl="revTx" presStyleIdx="0" presStyleCnt="3"/>
      <dgm:spPr/>
    </dgm:pt>
    <dgm:pt modelId="{1C78B987-93D1-4C47-821A-F885FC3EFE58}" type="pres">
      <dgm:prSet presAssocID="{8360FD07-987E-461C-90ED-28F0CBB2AADA}" presName="vert1" presStyleCnt="0"/>
      <dgm:spPr/>
    </dgm:pt>
    <dgm:pt modelId="{31CD15D7-6CCC-0D47-A48F-5C05FCF19ED1}" type="pres">
      <dgm:prSet presAssocID="{404FEF03-4225-42B4-8EE1-6F67FCC13070}" presName="thickLine" presStyleLbl="alignNode1" presStyleIdx="1" presStyleCnt="3"/>
      <dgm:spPr/>
    </dgm:pt>
    <dgm:pt modelId="{EF0E7897-EE55-7349-A581-23CA6D6201DA}" type="pres">
      <dgm:prSet presAssocID="{404FEF03-4225-42B4-8EE1-6F67FCC13070}" presName="horz1" presStyleCnt="0"/>
      <dgm:spPr/>
    </dgm:pt>
    <dgm:pt modelId="{7A9C7FF2-0263-2C4A-A4F5-0D5332A33B61}" type="pres">
      <dgm:prSet presAssocID="{404FEF03-4225-42B4-8EE1-6F67FCC13070}" presName="tx1" presStyleLbl="revTx" presStyleIdx="1" presStyleCnt="3"/>
      <dgm:spPr/>
    </dgm:pt>
    <dgm:pt modelId="{705A9D4F-807C-C84B-A019-EAED7AEEF085}" type="pres">
      <dgm:prSet presAssocID="{404FEF03-4225-42B4-8EE1-6F67FCC13070}" presName="vert1" presStyleCnt="0"/>
      <dgm:spPr/>
    </dgm:pt>
    <dgm:pt modelId="{1A3BE6A3-6425-2448-BC0B-222BE8BFE38A}" type="pres">
      <dgm:prSet presAssocID="{D33B11A1-AE2C-48FD-AB1D-0F5F727F3F97}" presName="thickLine" presStyleLbl="alignNode1" presStyleIdx="2" presStyleCnt="3"/>
      <dgm:spPr/>
    </dgm:pt>
    <dgm:pt modelId="{3C653C69-159E-9E46-8E0C-90C5ADF693FB}" type="pres">
      <dgm:prSet presAssocID="{D33B11A1-AE2C-48FD-AB1D-0F5F727F3F97}" presName="horz1" presStyleCnt="0"/>
      <dgm:spPr/>
    </dgm:pt>
    <dgm:pt modelId="{68BD951E-90D6-1141-8D0B-5D994EB69121}" type="pres">
      <dgm:prSet presAssocID="{D33B11A1-AE2C-48FD-AB1D-0F5F727F3F97}" presName="tx1" presStyleLbl="revTx" presStyleIdx="2" presStyleCnt="3"/>
      <dgm:spPr/>
    </dgm:pt>
    <dgm:pt modelId="{D8B7938C-EF66-4D4C-8705-137B4AF2CAE3}" type="pres">
      <dgm:prSet presAssocID="{D33B11A1-AE2C-48FD-AB1D-0F5F727F3F97}" presName="vert1" presStyleCnt="0"/>
      <dgm:spPr/>
    </dgm:pt>
  </dgm:ptLst>
  <dgm:cxnLst>
    <dgm:cxn modelId="{70398468-8788-C440-B1F9-7A353939CFCC}" type="presOf" srcId="{D33B11A1-AE2C-48FD-AB1D-0F5F727F3F97}" destId="{68BD951E-90D6-1141-8D0B-5D994EB69121}" srcOrd="0" destOrd="0" presId="urn:microsoft.com/office/officeart/2008/layout/LinedList"/>
    <dgm:cxn modelId="{D462A976-F9B8-4718-BAF7-4AAACEB42F41}" srcId="{96AC7BE8-6FE7-460C-8FE6-5F7F1E849BFE}" destId="{404FEF03-4225-42B4-8EE1-6F67FCC13070}" srcOrd="1" destOrd="0" parTransId="{D5AAFDB5-548F-4FCC-AC5F-1367EC9F179B}" sibTransId="{308A7DEF-12C9-4B84-ADFB-9182190FA67A}"/>
    <dgm:cxn modelId="{20DA1A77-2465-CD49-94E1-A4DE4A1AA8AA}" type="presOf" srcId="{96AC7BE8-6FE7-460C-8FE6-5F7F1E849BFE}" destId="{123FFC30-E7FC-9F41-A861-11E5D19D5D10}" srcOrd="0" destOrd="0" presId="urn:microsoft.com/office/officeart/2008/layout/LinedList"/>
    <dgm:cxn modelId="{02FB1CB2-060A-4D48-8A68-267D7650D2A4}" type="presOf" srcId="{404FEF03-4225-42B4-8EE1-6F67FCC13070}" destId="{7A9C7FF2-0263-2C4A-A4F5-0D5332A33B61}" srcOrd="0" destOrd="0" presId="urn:microsoft.com/office/officeart/2008/layout/LinedList"/>
    <dgm:cxn modelId="{5C0B11D2-6971-44AC-9571-0114DD309ECB}" srcId="{96AC7BE8-6FE7-460C-8FE6-5F7F1E849BFE}" destId="{8360FD07-987E-461C-90ED-28F0CBB2AADA}" srcOrd="0" destOrd="0" parTransId="{CD1AD48B-A29C-47C1-BF12-18A048590B45}" sibTransId="{79A13051-3342-4397-BCA4-D9FDA51F7EFC}"/>
    <dgm:cxn modelId="{FF4A6BDA-5AC7-410A-9E46-50DE78982235}" srcId="{96AC7BE8-6FE7-460C-8FE6-5F7F1E849BFE}" destId="{D33B11A1-AE2C-48FD-AB1D-0F5F727F3F97}" srcOrd="2" destOrd="0" parTransId="{5D7819D8-09D9-45FF-97B4-081D97B9C17A}" sibTransId="{196D4585-3083-4B25-AAEC-7591D27493DA}"/>
    <dgm:cxn modelId="{EAEF3FEA-13F0-7949-B1EB-BF048BA0987F}" type="presOf" srcId="{8360FD07-987E-461C-90ED-28F0CBB2AADA}" destId="{DF0111CF-D449-AE40-8FBD-D4FCC9D8F1C8}" srcOrd="0" destOrd="0" presId="urn:microsoft.com/office/officeart/2008/layout/LinedList"/>
    <dgm:cxn modelId="{DD15E896-5E6A-EA44-98DC-635331F49431}" type="presParOf" srcId="{123FFC30-E7FC-9F41-A861-11E5D19D5D10}" destId="{C2D5FD62-4325-0842-9F92-2AB7CD36B540}" srcOrd="0" destOrd="0" presId="urn:microsoft.com/office/officeart/2008/layout/LinedList"/>
    <dgm:cxn modelId="{E845B82F-9EC9-5244-870D-363FF67705B3}" type="presParOf" srcId="{123FFC30-E7FC-9F41-A861-11E5D19D5D10}" destId="{0D5789D4-DDDD-FA4E-A0A5-FC578724B7EA}" srcOrd="1" destOrd="0" presId="urn:microsoft.com/office/officeart/2008/layout/LinedList"/>
    <dgm:cxn modelId="{EE14FAAC-032D-DF43-9DAE-E16C5A4670AF}" type="presParOf" srcId="{0D5789D4-DDDD-FA4E-A0A5-FC578724B7EA}" destId="{DF0111CF-D449-AE40-8FBD-D4FCC9D8F1C8}" srcOrd="0" destOrd="0" presId="urn:microsoft.com/office/officeart/2008/layout/LinedList"/>
    <dgm:cxn modelId="{8870A54E-7C06-AF4F-B66D-38520F1EB6F9}" type="presParOf" srcId="{0D5789D4-DDDD-FA4E-A0A5-FC578724B7EA}" destId="{1C78B987-93D1-4C47-821A-F885FC3EFE58}" srcOrd="1" destOrd="0" presId="urn:microsoft.com/office/officeart/2008/layout/LinedList"/>
    <dgm:cxn modelId="{7337B226-17DB-8342-9073-D3CAF1E28BCF}" type="presParOf" srcId="{123FFC30-E7FC-9F41-A861-11E5D19D5D10}" destId="{31CD15D7-6CCC-0D47-A48F-5C05FCF19ED1}" srcOrd="2" destOrd="0" presId="urn:microsoft.com/office/officeart/2008/layout/LinedList"/>
    <dgm:cxn modelId="{C2311D01-2FB8-F448-82C2-687F3447FC70}" type="presParOf" srcId="{123FFC30-E7FC-9F41-A861-11E5D19D5D10}" destId="{EF0E7897-EE55-7349-A581-23CA6D6201DA}" srcOrd="3" destOrd="0" presId="urn:microsoft.com/office/officeart/2008/layout/LinedList"/>
    <dgm:cxn modelId="{56D8D9F1-2600-D146-886A-057D3DAAFFDE}" type="presParOf" srcId="{EF0E7897-EE55-7349-A581-23CA6D6201DA}" destId="{7A9C7FF2-0263-2C4A-A4F5-0D5332A33B61}" srcOrd="0" destOrd="0" presId="urn:microsoft.com/office/officeart/2008/layout/LinedList"/>
    <dgm:cxn modelId="{444EE311-4346-0749-9BDD-B7A018238643}" type="presParOf" srcId="{EF0E7897-EE55-7349-A581-23CA6D6201DA}" destId="{705A9D4F-807C-C84B-A019-EAED7AEEF085}" srcOrd="1" destOrd="0" presId="urn:microsoft.com/office/officeart/2008/layout/LinedList"/>
    <dgm:cxn modelId="{74A03EEE-964C-8344-BCF6-1E93AE822B52}" type="presParOf" srcId="{123FFC30-E7FC-9F41-A861-11E5D19D5D10}" destId="{1A3BE6A3-6425-2448-BC0B-222BE8BFE38A}" srcOrd="4" destOrd="0" presId="urn:microsoft.com/office/officeart/2008/layout/LinedList"/>
    <dgm:cxn modelId="{81C9B147-DABB-D143-AB63-7400CB6A5B14}" type="presParOf" srcId="{123FFC30-E7FC-9F41-A861-11E5D19D5D10}" destId="{3C653C69-159E-9E46-8E0C-90C5ADF693FB}" srcOrd="5" destOrd="0" presId="urn:microsoft.com/office/officeart/2008/layout/LinedList"/>
    <dgm:cxn modelId="{CC6E2C57-1377-844A-B1B7-5AB9402BB13C}" type="presParOf" srcId="{3C653C69-159E-9E46-8E0C-90C5ADF693FB}" destId="{68BD951E-90D6-1141-8D0B-5D994EB69121}" srcOrd="0" destOrd="0" presId="urn:microsoft.com/office/officeart/2008/layout/LinedList"/>
    <dgm:cxn modelId="{080DA1B0-55B7-EA4E-BA09-70C6CC338828}" type="presParOf" srcId="{3C653C69-159E-9E46-8E0C-90C5ADF693FB}" destId="{D8B7938C-EF66-4D4C-8705-137B4AF2CA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60203BA-7989-47D5-B755-72B78B0D66CA}" type="doc">
      <dgm:prSet loTypeId="urn:microsoft.com/office/officeart/2005/8/layout/vProcess5" loCatId="process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72B8BE9-951E-4AF4-862A-125C4589B5A1}">
      <dgm:prSet custT="1"/>
      <dgm:spPr/>
      <dgm:t>
        <a:bodyPr/>
        <a:lstStyle/>
        <a:p>
          <a:r>
            <a:rPr lang="en-US" sz="2400" dirty="0"/>
            <a:t>Hereditary diseases are caused by defective genetic information being transmitted from parents to their children. </a:t>
          </a:r>
        </a:p>
      </dgm:t>
    </dgm:pt>
    <dgm:pt modelId="{C441E826-A7F1-4809-8E37-E00B1B8EF510}" type="parTrans" cxnId="{00B4C662-513A-4DAE-9634-F21746829B6C}">
      <dgm:prSet/>
      <dgm:spPr/>
      <dgm:t>
        <a:bodyPr/>
        <a:lstStyle/>
        <a:p>
          <a:endParaRPr lang="en-US"/>
        </a:p>
      </dgm:t>
    </dgm:pt>
    <dgm:pt modelId="{58128692-3EEF-4134-9901-F909C70E6623}" type="sibTrans" cxnId="{00B4C662-513A-4DAE-9634-F21746829B6C}">
      <dgm:prSet/>
      <dgm:spPr/>
      <dgm:t>
        <a:bodyPr/>
        <a:lstStyle/>
        <a:p>
          <a:endParaRPr lang="en-US"/>
        </a:p>
      </dgm:t>
    </dgm:pt>
    <dgm:pt modelId="{AD81F3B7-1CAD-46DC-B03B-A975A8D27383}">
      <dgm:prSet custT="1"/>
      <dgm:spPr/>
      <dgm:t>
        <a:bodyPr/>
        <a:lstStyle/>
        <a:p>
          <a:r>
            <a:rPr lang="en-US" sz="2400" dirty="0"/>
            <a:t>Usually, genes produce normal characteristics, however, genes can suddenly change from the normal structure. </a:t>
          </a:r>
        </a:p>
      </dgm:t>
    </dgm:pt>
    <dgm:pt modelId="{931EFBAE-607A-437F-BC81-C1A2A49FD71A}" type="parTrans" cxnId="{1140F936-C875-4C1A-BCEB-CADD8B72D211}">
      <dgm:prSet/>
      <dgm:spPr/>
      <dgm:t>
        <a:bodyPr/>
        <a:lstStyle/>
        <a:p>
          <a:endParaRPr lang="en-US"/>
        </a:p>
      </dgm:t>
    </dgm:pt>
    <dgm:pt modelId="{41597BB5-3639-4D7B-B215-A71379226C66}" type="sibTrans" cxnId="{1140F936-C875-4C1A-BCEB-CADD8B72D211}">
      <dgm:prSet/>
      <dgm:spPr/>
      <dgm:t>
        <a:bodyPr/>
        <a:lstStyle/>
        <a:p>
          <a:endParaRPr lang="en-US"/>
        </a:p>
      </dgm:t>
    </dgm:pt>
    <dgm:pt modelId="{E034F0BE-BF10-4A0D-8CBD-B06F33CDF3B7}">
      <dgm:prSet/>
      <dgm:spPr/>
      <dgm:t>
        <a:bodyPr/>
        <a:lstStyle/>
        <a:p>
          <a:r>
            <a:rPr lang="en-US" dirty="0"/>
            <a:t>This is referred to as causing mutations. </a:t>
          </a:r>
        </a:p>
      </dgm:t>
    </dgm:pt>
    <dgm:pt modelId="{26D1AD4A-B727-4BB1-A9CF-8F864A02F7F0}" type="parTrans" cxnId="{30F76D06-77A9-4249-AF0A-9DF9A8782174}">
      <dgm:prSet/>
      <dgm:spPr/>
      <dgm:t>
        <a:bodyPr/>
        <a:lstStyle/>
        <a:p>
          <a:endParaRPr lang="en-US"/>
        </a:p>
      </dgm:t>
    </dgm:pt>
    <dgm:pt modelId="{1B1BB799-0C81-4501-B058-5D26F9708E06}" type="sibTrans" cxnId="{30F76D06-77A9-4249-AF0A-9DF9A8782174}">
      <dgm:prSet/>
      <dgm:spPr/>
      <dgm:t>
        <a:bodyPr/>
        <a:lstStyle/>
        <a:p>
          <a:endParaRPr lang="en-US"/>
        </a:p>
      </dgm:t>
    </dgm:pt>
    <dgm:pt modelId="{6DC69F54-1B45-A649-8B8C-FCAB21C28BC2}" type="pres">
      <dgm:prSet presAssocID="{960203BA-7989-47D5-B755-72B78B0D66CA}" presName="outerComposite" presStyleCnt="0">
        <dgm:presLayoutVars>
          <dgm:chMax val="5"/>
          <dgm:dir/>
          <dgm:resizeHandles val="exact"/>
        </dgm:presLayoutVars>
      </dgm:prSet>
      <dgm:spPr/>
    </dgm:pt>
    <dgm:pt modelId="{C594A46C-377E-1546-B325-FA8FEA9BE14A}" type="pres">
      <dgm:prSet presAssocID="{960203BA-7989-47D5-B755-72B78B0D66CA}" presName="dummyMaxCanvas" presStyleCnt="0">
        <dgm:presLayoutVars/>
      </dgm:prSet>
      <dgm:spPr/>
    </dgm:pt>
    <dgm:pt modelId="{AD9C6B9B-9DAE-4B43-B76B-683A8C89124D}" type="pres">
      <dgm:prSet presAssocID="{960203BA-7989-47D5-B755-72B78B0D66CA}" presName="ThreeNodes_1" presStyleLbl="node1" presStyleIdx="0" presStyleCnt="3">
        <dgm:presLayoutVars>
          <dgm:bulletEnabled val="1"/>
        </dgm:presLayoutVars>
      </dgm:prSet>
      <dgm:spPr/>
    </dgm:pt>
    <dgm:pt modelId="{DE0F228E-0022-CC44-B6A1-2A45312D3FFF}" type="pres">
      <dgm:prSet presAssocID="{960203BA-7989-47D5-B755-72B78B0D66CA}" presName="ThreeNodes_2" presStyleLbl="node1" presStyleIdx="1" presStyleCnt="3">
        <dgm:presLayoutVars>
          <dgm:bulletEnabled val="1"/>
        </dgm:presLayoutVars>
      </dgm:prSet>
      <dgm:spPr/>
    </dgm:pt>
    <dgm:pt modelId="{76682C41-85E6-AC46-909B-63B832519959}" type="pres">
      <dgm:prSet presAssocID="{960203BA-7989-47D5-B755-72B78B0D66CA}" presName="ThreeNodes_3" presStyleLbl="node1" presStyleIdx="2" presStyleCnt="3">
        <dgm:presLayoutVars>
          <dgm:bulletEnabled val="1"/>
        </dgm:presLayoutVars>
      </dgm:prSet>
      <dgm:spPr/>
    </dgm:pt>
    <dgm:pt modelId="{DBB05638-D2A4-714E-A8C7-36BE51DC6B2E}" type="pres">
      <dgm:prSet presAssocID="{960203BA-7989-47D5-B755-72B78B0D66CA}" presName="ThreeConn_1-2" presStyleLbl="fgAccFollowNode1" presStyleIdx="0" presStyleCnt="2">
        <dgm:presLayoutVars>
          <dgm:bulletEnabled val="1"/>
        </dgm:presLayoutVars>
      </dgm:prSet>
      <dgm:spPr/>
    </dgm:pt>
    <dgm:pt modelId="{84833D73-AF2F-C247-9137-6DF5BEA35012}" type="pres">
      <dgm:prSet presAssocID="{960203BA-7989-47D5-B755-72B78B0D66CA}" presName="ThreeConn_2-3" presStyleLbl="fgAccFollowNode1" presStyleIdx="1" presStyleCnt="2">
        <dgm:presLayoutVars>
          <dgm:bulletEnabled val="1"/>
        </dgm:presLayoutVars>
      </dgm:prSet>
      <dgm:spPr/>
    </dgm:pt>
    <dgm:pt modelId="{642B44DE-9739-4C4F-BF7D-D5C85595FBFC}" type="pres">
      <dgm:prSet presAssocID="{960203BA-7989-47D5-B755-72B78B0D66CA}" presName="ThreeNodes_1_text" presStyleLbl="node1" presStyleIdx="2" presStyleCnt="3">
        <dgm:presLayoutVars>
          <dgm:bulletEnabled val="1"/>
        </dgm:presLayoutVars>
      </dgm:prSet>
      <dgm:spPr/>
    </dgm:pt>
    <dgm:pt modelId="{AEAAF22E-340F-EE44-BD0B-EB5F7C4D569E}" type="pres">
      <dgm:prSet presAssocID="{960203BA-7989-47D5-B755-72B78B0D66CA}" presName="ThreeNodes_2_text" presStyleLbl="node1" presStyleIdx="2" presStyleCnt="3">
        <dgm:presLayoutVars>
          <dgm:bulletEnabled val="1"/>
        </dgm:presLayoutVars>
      </dgm:prSet>
      <dgm:spPr/>
    </dgm:pt>
    <dgm:pt modelId="{A3BA0930-D134-444B-88AF-091E68993873}" type="pres">
      <dgm:prSet presAssocID="{960203BA-7989-47D5-B755-72B78B0D66CA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30F76D06-77A9-4249-AF0A-9DF9A8782174}" srcId="{960203BA-7989-47D5-B755-72B78B0D66CA}" destId="{E034F0BE-BF10-4A0D-8CBD-B06F33CDF3B7}" srcOrd="2" destOrd="0" parTransId="{26D1AD4A-B727-4BB1-A9CF-8F864A02F7F0}" sibTransId="{1B1BB799-0C81-4501-B058-5D26F9708E06}"/>
    <dgm:cxn modelId="{ECFB5408-4745-204A-A7CD-D22610F030BA}" type="presOf" srcId="{E034F0BE-BF10-4A0D-8CBD-B06F33CDF3B7}" destId="{76682C41-85E6-AC46-909B-63B832519959}" srcOrd="0" destOrd="0" presId="urn:microsoft.com/office/officeart/2005/8/layout/vProcess5"/>
    <dgm:cxn modelId="{81256D2D-B6D1-9F43-BF04-6E7E6C8F6915}" type="presOf" srcId="{372B8BE9-951E-4AF4-862A-125C4589B5A1}" destId="{642B44DE-9739-4C4F-BF7D-D5C85595FBFC}" srcOrd="1" destOrd="0" presId="urn:microsoft.com/office/officeart/2005/8/layout/vProcess5"/>
    <dgm:cxn modelId="{1140F936-C875-4C1A-BCEB-CADD8B72D211}" srcId="{960203BA-7989-47D5-B755-72B78B0D66CA}" destId="{AD81F3B7-1CAD-46DC-B03B-A975A8D27383}" srcOrd="1" destOrd="0" parTransId="{931EFBAE-607A-437F-BC81-C1A2A49FD71A}" sibTransId="{41597BB5-3639-4D7B-B215-A71379226C66}"/>
    <dgm:cxn modelId="{9AA2644B-B761-404B-A779-9C8AD82D749E}" type="presOf" srcId="{AD81F3B7-1CAD-46DC-B03B-A975A8D27383}" destId="{AEAAF22E-340F-EE44-BD0B-EB5F7C4D569E}" srcOrd="1" destOrd="0" presId="urn:microsoft.com/office/officeart/2005/8/layout/vProcess5"/>
    <dgm:cxn modelId="{8D0B4250-9BAE-BF48-AA07-03E52D08D1CD}" type="presOf" srcId="{372B8BE9-951E-4AF4-862A-125C4589B5A1}" destId="{AD9C6B9B-9DAE-4B43-B76B-683A8C89124D}" srcOrd="0" destOrd="0" presId="urn:microsoft.com/office/officeart/2005/8/layout/vProcess5"/>
    <dgm:cxn modelId="{80992A56-9D2A-7B45-80FC-21F6FC2BF500}" type="presOf" srcId="{E034F0BE-BF10-4A0D-8CBD-B06F33CDF3B7}" destId="{A3BA0930-D134-444B-88AF-091E68993873}" srcOrd="1" destOrd="0" presId="urn:microsoft.com/office/officeart/2005/8/layout/vProcess5"/>
    <dgm:cxn modelId="{AECC7161-F87B-3A49-AD63-DF2B97C0BE71}" type="presOf" srcId="{AD81F3B7-1CAD-46DC-B03B-A975A8D27383}" destId="{DE0F228E-0022-CC44-B6A1-2A45312D3FFF}" srcOrd="0" destOrd="0" presId="urn:microsoft.com/office/officeart/2005/8/layout/vProcess5"/>
    <dgm:cxn modelId="{00B4C662-513A-4DAE-9634-F21746829B6C}" srcId="{960203BA-7989-47D5-B755-72B78B0D66CA}" destId="{372B8BE9-951E-4AF4-862A-125C4589B5A1}" srcOrd="0" destOrd="0" parTransId="{C441E826-A7F1-4809-8E37-E00B1B8EF510}" sibTransId="{58128692-3EEF-4134-9901-F909C70E6623}"/>
    <dgm:cxn modelId="{55ADA482-7B0E-064A-9524-0DAC92077765}" type="presOf" srcId="{41597BB5-3639-4D7B-B215-A71379226C66}" destId="{84833D73-AF2F-C247-9137-6DF5BEA35012}" srcOrd="0" destOrd="0" presId="urn:microsoft.com/office/officeart/2005/8/layout/vProcess5"/>
    <dgm:cxn modelId="{865276A1-5267-9645-B3AD-BA3C0109B8CF}" type="presOf" srcId="{58128692-3EEF-4134-9901-F909C70E6623}" destId="{DBB05638-D2A4-714E-A8C7-36BE51DC6B2E}" srcOrd="0" destOrd="0" presId="urn:microsoft.com/office/officeart/2005/8/layout/vProcess5"/>
    <dgm:cxn modelId="{C32BFEC5-F208-F340-B596-E96D7CF0C02A}" type="presOf" srcId="{960203BA-7989-47D5-B755-72B78B0D66CA}" destId="{6DC69F54-1B45-A649-8B8C-FCAB21C28BC2}" srcOrd="0" destOrd="0" presId="urn:microsoft.com/office/officeart/2005/8/layout/vProcess5"/>
    <dgm:cxn modelId="{0C6A715C-90DC-654D-959D-F42004C397DD}" type="presParOf" srcId="{6DC69F54-1B45-A649-8B8C-FCAB21C28BC2}" destId="{C594A46C-377E-1546-B325-FA8FEA9BE14A}" srcOrd="0" destOrd="0" presId="urn:microsoft.com/office/officeart/2005/8/layout/vProcess5"/>
    <dgm:cxn modelId="{C48405C9-AD61-4A46-BA2C-AFA047B8028F}" type="presParOf" srcId="{6DC69F54-1B45-A649-8B8C-FCAB21C28BC2}" destId="{AD9C6B9B-9DAE-4B43-B76B-683A8C89124D}" srcOrd="1" destOrd="0" presId="urn:microsoft.com/office/officeart/2005/8/layout/vProcess5"/>
    <dgm:cxn modelId="{D2A79E3A-4D7D-5142-A6B6-8364CC1B73E4}" type="presParOf" srcId="{6DC69F54-1B45-A649-8B8C-FCAB21C28BC2}" destId="{DE0F228E-0022-CC44-B6A1-2A45312D3FFF}" srcOrd="2" destOrd="0" presId="urn:microsoft.com/office/officeart/2005/8/layout/vProcess5"/>
    <dgm:cxn modelId="{56F1F8CC-7F27-5947-B03F-18C26511F1F5}" type="presParOf" srcId="{6DC69F54-1B45-A649-8B8C-FCAB21C28BC2}" destId="{76682C41-85E6-AC46-909B-63B832519959}" srcOrd="3" destOrd="0" presId="urn:microsoft.com/office/officeart/2005/8/layout/vProcess5"/>
    <dgm:cxn modelId="{DCFAE8A7-DED2-1D41-A801-D5091CB25C1F}" type="presParOf" srcId="{6DC69F54-1B45-A649-8B8C-FCAB21C28BC2}" destId="{DBB05638-D2A4-714E-A8C7-36BE51DC6B2E}" srcOrd="4" destOrd="0" presId="urn:microsoft.com/office/officeart/2005/8/layout/vProcess5"/>
    <dgm:cxn modelId="{191CCD98-4910-A642-8653-DB18C6365CCA}" type="presParOf" srcId="{6DC69F54-1B45-A649-8B8C-FCAB21C28BC2}" destId="{84833D73-AF2F-C247-9137-6DF5BEA35012}" srcOrd="5" destOrd="0" presId="urn:microsoft.com/office/officeart/2005/8/layout/vProcess5"/>
    <dgm:cxn modelId="{62BF97F0-917C-C045-B062-1EBFE1DA9418}" type="presParOf" srcId="{6DC69F54-1B45-A649-8B8C-FCAB21C28BC2}" destId="{642B44DE-9739-4C4F-BF7D-D5C85595FBFC}" srcOrd="6" destOrd="0" presId="urn:microsoft.com/office/officeart/2005/8/layout/vProcess5"/>
    <dgm:cxn modelId="{EE887C0D-B0F2-7348-83D6-80B6871B3C3E}" type="presParOf" srcId="{6DC69F54-1B45-A649-8B8C-FCAB21C28BC2}" destId="{AEAAF22E-340F-EE44-BD0B-EB5F7C4D569E}" srcOrd="7" destOrd="0" presId="urn:microsoft.com/office/officeart/2005/8/layout/vProcess5"/>
    <dgm:cxn modelId="{242E5D58-11FF-6840-8DAB-0572373FB169}" type="presParOf" srcId="{6DC69F54-1B45-A649-8B8C-FCAB21C28BC2}" destId="{A3BA0930-D134-444B-88AF-091E68993873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649E65-EDDF-E849-BE1F-ED6405A685AE}">
      <dsp:nvSpPr>
        <dsp:cNvPr id="0" name=""/>
        <dsp:cNvSpPr/>
      </dsp:nvSpPr>
      <dsp:spPr>
        <a:xfrm>
          <a:off x="0" y="257"/>
          <a:ext cx="9613860" cy="889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People with type 1 Diabetes have elevated blood sugar levels due to impaired insulin production by the pancreas. </a:t>
          </a:r>
        </a:p>
      </dsp:txBody>
      <dsp:txXfrm>
        <a:off x="43408" y="43665"/>
        <a:ext cx="9527044" cy="802411"/>
      </dsp:txXfrm>
    </dsp:sp>
    <dsp:sp modelId="{3A78928A-18B2-4849-BB20-65D063726C4A}">
      <dsp:nvSpPr>
        <dsp:cNvPr id="0" name=""/>
        <dsp:cNvSpPr/>
      </dsp:nvSpPr>
      <dsp:spPr>
        <a:xfrm>
          <a:off x="0" y="903448"/>
          <a:ext cx="9613860" cy="889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Insulin regulates the use and storage of glucose</a:t>
          </a:r>
          <a:r>
            <a:rPr lang="en-US" sz="500" kern="1200" dirty="0"/>
            <a:t>. </a:t>
          </a:r>
        </a:p>
      </dsp:txBody>
      <dsp:txXfrm>
        <a:off x="43408" y="946856"/>
        <a:ext cx="9527044" cy="802411"/>
      </dsp:txXfrm>
    </dsp:sp>
    <dsp:sp modelId="{DCFE0EFD-C633-8641-A3C0-4BFD59EF6521}">
      <dsp:nvSpPr>
        <dsp:cNvPr id="0" name=""/>
        <dsp:cNvSpPr/>
      </dsp:nvSpPr>
      <dsp:spPr>
        <a:xfrm>
          <a:off x="0" y="1806640"/>
          <a:ext cx="9613860" cy="889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 1912- patients were treated with insulin taken from the pancreas of pigs and cattle. </a:t>
          </a:r>
        </a:p>
      </dsp:txBody>
      <dsp:txXfrm>
        <a:off x="43408" y="1850048"/>
        <a:ext cx="9527044" cy="802411"/>
      </dsp:txXfrm>
    </dsp:sp>
    <dsp:sp modelId="{2D6B5A4E-5D25-6449-8FA8-118AD6F064FC}">
      <dsp:nvSpPr>
        <dsp:cNvPr id="0" name=""/>
        <dsp:cNvSpPr/>
      </dsp:nvSpPr>
      <dsp:spPr>
        <a:xfrm>
          <a:off x="0" y="2709831"/>
          <a:ext cx="9613860" cy="889227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1982- insulin by genetically engineered bacteria was approved for treatment. </a:t>
          </a:r>
        </a:p>
      </dsp:txBody>
      <dsp:txXfrm>
        <a:off x="43408" y="2753239"/>
        <a:ext cx="9527044" cy="80241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007BA7-058B-9C45-B052-38B3E1CBC069}">
      <dsp:nvSpPr>
        <dsp:cNvPr id="0" name=""/>
        <dsp:cNvSpPr/>
      </dsp:nvSpPr>
      <dsp:spPr>
        <a:xfrm>
          <a:off x="0" y="197877"/>
          <a:ext cx="5955658" cy="244295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This procedure now frequently performed and uses yeast cells as a growth medium. </a:t>
          </a:r>
        </a:p>
      </dsp:txBody>
      <dsp:txXfrm>
        <a:off x="119255" y="317132"/>
        <a:ext cx="5717148" cy="2204449"/>
      </dsp:txXfrm>
    </dsp:sp>
    <dsp:sp modelId="{D5D202D1-8C91-3D40-A11C-FEDEA6A688BB}">
      <dsp:nvSpPr>
        <dsp:cNvPr id="0" name=""/>
        <dsp:cNvSpPr/>
      </dsp:nvSpPr>
      <dsp:spPr>
        <a:xfrm>
          <a:off x="0" y="2744517"/>
          <a:ext cx="5955658" cy="2442959"/>
        </a:xfrm>
        <a:prstGeom prst="roundRect">
          <a:avLst/>
        </a:prstGeom>
        <a:gradFill rotWithShape="0">
          <a:gsLst>
            <a:gs pos="0">
              <a:schemeClr val="accent2">
                <a:hueOff val="5542319"/>
                <a:satOff val="-953"/>
                <a:lumOff val="-9804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5542319"/>
                <a:satOff val="-953"/>
                <a:lumOff val="-9804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5542319"/>
                <a:satOff val="-953"/>
                <a:lumOff val="-9804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Insulin produced this way, also doesn’t have any of the side effects of the pig or cattle harvest insulin. </a:t>
          </a:r>
        </a:p>
      </dsp:txBody>
      <dsp:txXfrm>
        <a:off x="119255" y="2863772"/>
        <a:ext cx="5717148" cy="220444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6560AD-2901-114E-98F9-3318178F0C6C}">
      <dsp:nvSpPr>
        <dsp:cNvPr id="0" name=""/>
        <dsp:cNvSpPr/>
      </dsp:nvSpPr>
      <dsp:spPr>
        <a:xfrm>
          <a:off x="0" y="2723"/>
          <a:ext cx="62611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1DC2278C-6102-7246-8C8D-0418860BB804}">
      <dsp:nvSpPr>
        <dsp:cNvPr id="0" name=""/>
        <dsp:cNvSpPr/>
      </dsp:nvSpPr>
      <dsp:spPr>
        <a:xfrm>
          <a:off x="0" y="2723"/>
          <a:ext cx="6261100" cy="185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Haemophilia A or Classic Haemophilia is an inherited disorder in which the blood clotting protein, Factor VIII, is in little supply or missing. </a:t>
          </a:r>
        </a:p>
      </dsp:txBody>
      <dsp:txXfrm>
        <a:off x="0" y="2723"/>
        <a:ext cx="6261100" cy="1857675"/>
      </dsp:txXfrm>
    </dsp:sp>
    <dsp:sp modelId="{DF04C51B-A526-2D4E-8741-24669AD03CE7}">
      <dsp:nvSpPr>
        <dsp:cNvPr id="0" name=""/>
        <dsp:cNvSpPr/>
      </dsp:nvSpPr>
      <dsp:spPr>
        <a:xfrm>
          <a:off x="0" y="1860399"/>
          <a:ext cx="62611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0C9DACA-6C9E-5D4C-8350-CD86CAB228E3}">
      <dsp:nvSpPr>
        <dsp:cNvPr id="0" name=""/>
        <dsp:cNvSpPr/>
      </dsp:nvSpPr>
      <dsp:spPr>
        <a:xfrm>
          <a:off x="0" y="1860399"/>
          <a:ext cx="6261100" cy="185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This means that people with the condition are unable to form blood clots and are therefore at risk of life-threatening bleeding. </a:t>
          </a:r>
        </a:p>
      </dsp:txBody>
      <dsp:txXfrm>
        <a:off x="0" y="1860399"/>
        <a:ext cx="6261100" cy="1857675"/>
      </dsp:txXfrm>
    </dsp:sp>
    <dsp:sp modelId="{7031AD66-14B5-BB44-B77A-DCAE845B7B94}">
      <dsp:nvSpPr>
        <dsp:cNvPr id="0" name=""/>
        <dsp:cNvSpPr/>
      </dsp:nvSpPr>
      <dsp:spPr>
        <a:xfrm>
          <a:off x="0" y="3718075"/>
          <a:ext cx="62611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A257347-28BB-F048-B8A2-E2379C794951}">
      <dsp:nvSpPr>
        <dsp:cNvPr id="0" name=""/>
        <dsp:cNvSpPr/>
      </dsp:nvSpPr>
      <dsp:spPr>
        <a:xfrm>
          <a:off x="0" y="3718075"/>
          <a:ext cx="6261100" cy="185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To treat this injections of factor VIII concentrates made from human plasma are required. </a:t>
          </a:r>
        </a:p>
      </dsp:txBody>
      <dsp:txXfrm>
        <a:off x="0" y="3718075"/>
        <a:ext cx="6261100" cy="18576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D5FD62-4325-0842-9F92-2AB7CD36B540}">
      <dsp:nvSpPr>
        <dsp:cNvPr id="0" name=""/>
        <dsp:cNvSpPr/>
      </dsp:nvSpPr>
      <dsp:spPr>
        <a:xfrm>
          <a:off x="0" y="2723"/>
          <a:ext cx="62611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F0111CF-D449-AE40-8FBD-D4FCC9D8F1C8}">
      <dsp:nvSpPr>
        <dsp:cNvPr id="0" name=""/>
        <dsp:cNvSpPr/>
      </dsp:nvSpPr>
      <dsp:spPr>
        <a:xfrm>
          <a:off x="0" y="2723"/>
          <a:ext cx="6261100" cy="185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Besides the financial deterrent, those involved in vaccine research also need to be conservative. </a:t>
          </a:r>
        </a:p>
      </dsp:txBody>
      <dsp:txXfrm>
        <a:off x="0" y="2723"/>
        <a:ext cx="6261100" cy="1857675"/>
      </dsp:txXfrm>
    </dsp:sp>
    <dsp:sp modelId="{31CD15D7-6CCC-0D47-A48F-5C05FCF19ED1}">
      <dsp:nvSpPr>
        <dsp:cNvPr id="0" name=""/>
        <dsp:cNvSpPr/>
      </dsp:nvSpPr>
      <dsp:spPr>
        <a:xfrm>
          <a:off x="0" y="1860399"/>
          <a:ext cx="626110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A9C7FF2-0263-2C4A-A4F5-0D5332A33B61}">
      <dsp:nvSpPr>
        <dsp:cNvPr id="0" name=""/>
        <dsp:cNvSpPr/>
      </dsp:nvSpPr>
      <dsp:spPr>
        <a:xfrm>
          <a:off x="0" y="1860399"/>
          <a:ext cx="6261100" cy="185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Due to vaccines being used on healthy people, especially children, safety is paramount. </a:t>
          </a:r>
        </a:p>
      </dsp:txBody>
      <dsp:txXfrm>
        <a:off x="0" y="1860399"/>
        <a:ext cx="6261100" cy="1857675"/>
      </dsp:txXfrm>
    </dsp:sp>
    <dsp:sp modelId="{1A3BE6A3-6425-2448-BC0B-222BE8BFE38A}">
      <dsp:nvSpPr>
        <dsp:cNvPr id="0" name=""/>
        <dsp:cNvSpPr/>
      </dsp:nvSpPr>
      <dsp:spPr>
        <a:xfrm>
          <a:off x="0" y="3718075"/>
          <a:ext cx="6261100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8BD951E-90D6-1141-8D0B-5D994EB69121}">
      <dsp:nvSpPr>
        <dsp:cNvPr id="0" name=""/>
        <dsp:cNvSpPr/>
      </dsp:nvSpPr>
      <dsp:spPr>
        <a:xfrm>
          <a:off x="0" y="3718075"/>
          <a:ext cx="6261100" cy="18576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Therefore, if a vaccine works there is little incentive to invent a new one. </a:t>
          </a:r>
        </a:p>
      </dsp:txBody>
      <dsp:txXfrm>
        <a:off x="0" y="3718075"/>
        <a:ext cx="6261100" cy="185767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9C6B9B-9DAE-4B43-B76B-683A8C89124D}">
      <dsp:nvSpPr>
        <dsp:cNvPr id="0" name=""/>
        <dsp:cNvSpPr/>
      </dsp:nvSpPr>
      <dsp:spPr>
        <a:xfrm>
          <a:off x="0" y="0"/>
          <a:ext cx="9291796" cy="10815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Hereditary diseases are caused by defective genetic information being transmitted from parents to their children. </a:t>
          </a:r>
        </a:p>
      </dsp:txBody>
      <dsp:txXfrm>
        <a:off x="31678" y="31678"/>
        <a:ext cx="8124704" cy="1018207"/>
      </dsp:txXfrm>
    </dsp:sp>
    <dsp:sp modelId="{DE0F228E-0022-CC44-B6A1-2A45312D3FFF}">
      <dsp:nvSpPr>
        <dsp:cNvPr id="0" name=""/>
        <dsp:cNvSpPr/>
      </dsp:nvSpPr>
      <dsp:spPr>
        <a:xfrm>
          <a:off x="819864" y="1261824"/>
          <a:ext cx="9291796" cy="10815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8031992"/>
                <a:satOff val="1435"/>
                <a:lumOff val="-3137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8031992"/>
                <a:satOff val="1435"/>
                <a:lumOff val="-3137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8031992"/>
                <a:satOff val="1435"/>
                <a:lumOff val="-3137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Usually, genes produce normal characteristics, however, genes can suddenly change from the normal structure. </a:t>
          </a:r>
        </a:p>
      </dsp:txBody>
      <dsp:txXfrm>
        <a:off x="851542" y="1293502"/>
        <a:ext cx="7705559" cy="1018207"/>
      </dsp:txXfrm>
    </dsp:sp>
    <dsp:sp modelId="{76682C41-85E6-AC46-909B-63B832519959}">
      <dsp:nvSpPr>
        <dsp:cNvPr id="0" name=""/>
        <dsp:cNvSpPr/>
      </dsp:nvSpPr>
      <dsp:spPr>
        <a:xfrm>
          <a:off x="1639728" y="2523649"/>
          <a:ext cx="9291796" cy="10815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6063984"/>
                <a:satOff val="2870"/>
                <a:lumOff val="-6275"/>
                <a:alphaOff val="0"/>
                <a:tint val="94000"/>
                <a:satMod val="103000"/>
                <a:lumMod val="102000"/>
              </a:schemeClr>
            </a:gs>
            <a:gs pos="50000">
              <a:schemeClr val="accent5">
                <a:hueOff val="-16063984"/>
                <a:satOff val="2870"/>
                <a:lumOff val="-6275"/>
                <a:alphaOff val="0"/>
                <a:shade val="100000"/>
                <a:satMod val="110000"/>
                <a:lumMod val="100000"/>
              </a:schemeClr>
            </a:gs>
            <a:gs pos="100000">
              <a:schemeClr val="accent5">
                <a:hueOff val="-16063984"/>
                <a:satOff val="2870"/>
                <a:lumOff val="-6275"/>
                <a:alphaOff val="0"/>
                <a:shade val="78000"/>
                <a:satMod val="120000"/>
                <a:lumMod val="99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This is referred to as causing mutations. </a:t>
          </a:r>
        </a:p>
      </dsp:txBody>
      <dsp:txXfrm>
        <a:off x="1671406" y="2555327"/>
        <a:ext cx="7705559" cy="1018207"/>
      </dsp:txXfrm>
    </dsp:sp>
    <dsp:sp modelId="{DBB05638-D2A4-714E-A8C7-36BE51DC6B2E}">
      <dsp:nvSpPr>
        <dsp:cNvPr id="0" name=""/>
        <dsp:cNvSpPr/>
      </dsp:nvSpPr>
      <dsp:spPr>
        <a:xfrm>
          <a:off x="8588779" y="820185"/>
          <a:ext cx="703016" cy="703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746958" y="820185"/>
        <a:ext cx="386658" cy="529020"/>
      </dsp:txXfrm>
    </dsp:sp>
    <dsp:sp modelId="{84833D73-AF2F-C247-9137-6DF5BEA35012}">
      <dsp:nvSpPr>
        <dsp:cNvPr id="0" name=""/>
        <dsp:cNvSpPr/>
      </dsp:nvSpPr>
      <dsp:spPr>
        <a:xfrm>
          <a:off x="9408644" y="2074800"/>
          <a:ext cx="703016" cy="70301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6106327"/>
            <a:satOff val="2911"/>
            <a:lumOff val="-1019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566823" y="2074800"/>
        <a:ext cx="386658" cy="5290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BE3C1-DBE1-495D-B57B-2849774B866A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42F4-6EEF-4EF7-8ED4-2208F0F89A08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78ACC-22D6-47C1-A373-4FD133E34F3C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A6C69-6797-4E8A-BF37-F2C3751466E9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014A1-A632-4878-A0D3-F52BA7563730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F462-093F-4566-844B-4C71F2739DA5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24A7AC-904D-4781-85BA-7D10C17ED021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1444B-B92B-4E27-8C94-BB93EAF5CB18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EFA5E-FA76-400D-B3DC-F0BA90E6D107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C117F-5CCF-4837-BE5F-2B92066CAFAF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B90BD-B6CE-46B7-997F-7313B992CCDC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9D11F-B188-461D-B23F-39381795C052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6D8D9-55A2-4063-B0F3-121F44549695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24536-994D-4021-A283-9F449C0DB509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BBB78-C96F-47B7-AB17-D852CA960AC9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F48C-C7C6-4055-9F49-3777875E72AE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6178E61D-D431-422C-9764-11DAFE33AB63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E9DEC-419B-4CC5-A080-3B06BD5A8291}" type="datetimeFigureOut">
              <a:rPr lang="en-US" dirty="0"/>
              <a:t>6/14/21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20.png"/><Relationship Id="rId7" Type="http://schemas.openxmlformats.org/officeDocument/2006/relationships/diagramQuickStyle" Target="../diagrams/quickStyle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1.png"/><Relationship Id="rId9" Type="http://schemas.microsoft.com/office/2007/relationships/diagramDrawing" Target="../diagrams/drawing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259D1-DC68-2B44-8C6B-EF8E4E8E7A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Biotechnology</a:t>
            </a:r>
          </a:p>
        </p:txBody>
      </p:sp>
    </p:spTree>
    <p:extLst>
      <p:ext uri="{BB962C8B-B14F-4D97-AF65-F5344CB8AC3E}">
        <p14:creationId xmlns:p14="http://schemas.microsoft.com/office/powerpoint/2010/main" val="2680925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01A6B15D-309E-421A-9EC6-A3D44AB3B49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656" r="1" b="1"/>
          <a:stretch/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55584C-AEE4-5C46-9ED2-ADE0320F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>
            <a:normAutofit/>
          </a:bodyPr>
          <a:lstStyle/>
          <a:p>
            <a:r>
              <a:rPr lang="en-US" sz="3200"/>
              <a:t>Learning Objectives: 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C4FEA-72C7-7447-9900-553824588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2"/>
            <a:ext cx="3679028" cy="3911527"/>
          </a:xfrm>
        </p:spPr>
        <p:txBody>
          <a:bodyPr>
            <a:normAutofit/>
          </a:bodyPr>
          <a:lstStyle/>
          <a:p>
            <a:r>
              <a:rPr lang="en-US" dirty="0"/>
              <a:t>Define and Explain Recombinant DNA Technology</a:t>
            </a:r>
          </a:p>
          <a:p>
            <a:r>
              <a:rPr lang="en-US" dirty="0"/>
              <a:t>Explain how this technology is currently used. </a:t>
            </a:r>
          </a:p>
          <a:p>
            <a:r>
              <a:rPr lang="en-US" dirty="0"/>
              <a:t>Explain how biotechnology is used to identify hereditary diseases. </a:t>
            </a:r>
          </a:p>
        </p:txBody>
      </p:sp>
    </p:spTree>
    <p:extLst>
      <p:ext uri="{BB962C8B-B14F-4D97-AF65-F5344CB8AC3E}">
        <p14:creationId xmlns:p14="http://schemas.microsoft.com/office/powerpoint/2010/main" val="590857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B988D63-FA8B-436C-902E-E5005BC0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0" name="Rectangle 9">
              <a:extLst>
                <a:ext uri="{FF2B5EF4-FFF2-40B4-BE49-F238E27FC236}">
                  <a16:creationId xmlns:a16="http://schemas.microsoft.com/office/drawing/2014/main" id="{2FD177FB-983E-4035-8B7A-655342A7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596D9C3-C0FC-4500-A696-55B9F77BB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 descr="3D render of cells">
            <a:extLst>
              <a:ext uri="{FF2B5EF4-FFF2-40B4-BE49-F238E27FC236}">
                <a16:creationId xmlns:a16="http://schemas.microsoft.com/office/drawing/2014/main" id="{64060349-B6EC-4AB8-9562-C4AA613F41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409" r="33515" b="-2"/>
          <a:stretch/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493E730-2044-49B5-A022-B8D6F359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1C9D73-2C28-8C44-9C17-3FA6EFE0D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7087552" cy="1080938"/>
          </a:xfrm>
        </p:spPr>
        <p:txBody>
          <a:bodyPr>
            <a:normAutofit/>
          </a:bodyPr>
          <a:lstStyle/>
          <a:p>
            <a:r>
              <a:rPr lang="en-US" dirty="0"/>
              <a:t>Recombinant DNA Technology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976801-4346-4636-BA62-265C81D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C6E53-5C32-3242-B562-BB5D1DFFD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" y="2291404"/>
            <a:ext cx="7544633" cy="4564915"/>
          </a:xfrm>
        </p:spPr>
        <p:txBody>
          <a:bodyPr>
            <a:normAutofit/>
          </a:bodyPr>
          <a:lstStyle/>
          <a:p>
            <a:r>
              <a:rPr lang="en-US" dirty="0"/>
              <a:t>Frequently referred to as genetic engineering- involving the introduction of DNA into cells where the DNA is foreign to that organism or has been modified in some way. </a:t>
            </a:r>
          </a:p>
          <a:p>
            <a:r>
              <a:rPr lang="en-US" dirty="0"/>
              <a:t>This can be used to take genes from one organism and place them into the chromosomes of another. </a:t>
            </a:r>
          </a:p>
          <a:p>
            <a:r>
              <a:rPr lang="en-US" dirty="0"/>
              <a:t>This provides potential to replace faulty genes with healthy ones. This same technology also has the potential to identify hereditary diseases.  </a:t>
            </a:r>
          </a:p>
        </p:txBody>
      </p:sp>
    </p:spTree>
    <p:extLst>
      <p:ext uri="{BB962C8B-B14F-4D97-AF65-F5344CB8AC3E}">
        <p14:creationId xmlns:p14="http://schemas.microsoft.com/office/powerpoint/2010/main" val="7400756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3FECAD23-900F-4F1B-A441-6A68749F8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11">
            <a:extLst>
              <a:ext uri="{FF2B5EF4-FFF2-40B4-BE49-F238E27FC236}">
                <a16:creationId xmlns:a16="http://schemas.microsoft.com/office/drawing/2014/main" id="{57943801-CAEC-4F98-9332-2A4D912846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13">
            <a:extLst>
              <a:ext uri="{FF2B5EF4-FFF2-40B4-BE49-F238E27FC236}">
                <a16:creationId xmlns:a16="http://schemas.microsoft.com/office/drawing/2014/main" id="{8A233090-6C39-4F59-8A0F-86F011A7E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992" y="0"/>
            <a:ext cx="4636008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15">
            <a:extLst>
              <a:ext uri="{FF2B5EF4-FFF2-40B4-BE49-F238E27FC236}">
                <a16:creationId xmlns:a16="http://schemas.microsoft.com/office/drawing/2014/main" id="{484DCAA0-4BF1-4FB9-97BA-D6BA63041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876030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6" name="Picture 17">
            <a:extLst>
              <a:ext uri="{FF2B5EF4-FFF2-40B4-BE49-F238E27FC236}">
                <a16:creationId xmlns:a16="http://schemas.microsoft.com/office/drawing/2014/main" id="{9BC2FEA5-B399-458A-8393-E06CE40DB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8FB66-C27F-CC43-8A74-E6301FBB39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6423211" cy="3599316"/>
          </a:xfrm>
        </p:spPr>
        <p:txBody>
          <a:bodyPr>
            <a:normAutofit/>
          </a:bodyPr>
          <a:lstStyle/>
          <a:p>
            <a:r>
              <a:rPr lang="en-US" dirty="0"/>
              <a:t>Stanley Cohen and Herbert Boyer invented the recombinant DNA technique in 1973. </a:t>
            </a:r>
          </a:p>
          <a:p>
            <a:r>
              <a:rPr lang="en-US" dirty="0"/>
              <a:t>Their technique was to isolate and amplify genes or DNA segments and insert them into bacterial cells creating transgenic bacteria. </a:t>
            </a:r>
          </a:p>
        </p:txBody>
      </p:sp>
      <p:pic>
        <p:nvPicPr>
          <p:cNvPr id="5" name="Picture 4" descr="A picture containing Petri dish, yeast, dishware&#10;&#10;Description automatically generated">
            <a:extLst>
              <a:ext uri="{FF2B5EF4-FFF2-40B4-BE49-F238E27FC236}">
                <a16:creationId xmlns:a16="http://schemas.microsoft.com/office/drawing/2014/main" id="{6C355BC0-083F-534A-A49E-C79A34B32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091" y="1821986"/>
            <a:ext cx="3358478" cy="3214027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499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5414FB93-17FF-D349-A549-1BBACCBCBE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549"/>
          <a:stretch/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B469FF-561A-B842-A7B7-0B24C8FAD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776064" cy="4042906"/>
          </a:xfrm>
        </p:spPr>
        <p:txBody>
          <a:bodyPr>
            <a:normAutofit/>
          </a:bodyPr>
          <a:lstStyle/>
          <a:p>
            <a:r>
              <a:rPr lang="en-US" dirty="0"/>
              <a:t>Transgenic organisms are those whose genome has been altered by the transfer of gene(s) from another organism. </a:t>
            </a:r>
          </a:p>
          <a:p>
            <a:r>
              <a:rPr lang="en-US" dirty="0"/>
              <a:t>These introduced genes then become part of the organism’s DNA and can be passed down. </a:t>
            </a:r>
          </a:p>
        </p:txBody>
      </p:sp>
    </p:spTree>
    <p:extLst>
      <p:ext uri="{BB962C8B-B14F-4D97-AF65-F5344CB8AC3E}">
        <p14:creationId xmlns:p14="http://schemas.microsoft.com/office/powerpoint/2010/main" val="3500533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9">
            <a:extLst>
              <a:ext uri="{FF2B5EF4-FFF2-40B4-BE49-F238E27FC236}">
                <a16:creationId xmlns:a16="http://schemas.microsoft.com/office/drawing/2014/main" id="{5B988D63-FA8B-436C-902E-E5005BC0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2FD177FB-983E-4035-8B7A-655342A7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3" name="Picture 11">
              <a:extLst>
                <a:ext uri="{FF2B5EF4-FFF2-40B4-BE49-F238E27FC236}">
                  <a16:creationId xmlns:a16="http://schemas.microsoft.com/office/drawing/2014/main" id="{9596D9C3-C0FC-4500-A696-55B9F77BB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 descr="A picture containing green, paper clip&#10;&#10;Description automatically generated">
            <a:extLst>
              <a:ext uri="{FF2B5EF4-FFF2-40B4-BE49-F238E27FC236}">
                <a16:creationId xmlns:a16="http://schemas.microsoft.com/office/drawing/2014/main" id="{A8214504-25E8-B344-8483-A6073D3877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855" r="12377" b="-2"/>
          <a:stretch/>
        </p:blipFill>
        <p:spPr>
          <a:xfrm>
            <a:off x="7547810" y="10"/>
            <a:ext cx="464101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34" name="Rectangle 13">
            <a:extLst>
              <a:ext uri="{FF2B5EF4-FFF2-40B4-BE49-F238E27FC236}">
                <a16:creationId xmlns:a16="http://schemas.microsoft.com/office/drawing/2014/main" id="{C493E730-2044-49B5-A022-B8D6F359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796704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35" name="Picture 15">
            <a:extLst>
              <a:ext uri="{FF2B5EF4-FFF2-40B4-BE49-F238E27FC236}">
                <a16:creationId xmlns:a16="http://schemas.microsoft.com/office/drawing/2014/main" id="{78976801-4346-4636-BA62-265C81D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7967048" cy="3211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CC282-FA78-DE43-9DA6-6DD02526AF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45" y="1977798"/>
            <a:ext cx="6956387" cy="3958391"/>
          </a:xfrm>
        </p:spPr>
        <p:txBody>
          <a:bodyPr>
            <a:normAutofit/>
          </a:bodyPr>
          <a:lstStyle/>
          <a:p>
            <a:r>
              <a:rPr lang="en-US" dirty="0"/>
              <a:t>Viruses that infect bacterial cells are called bacteriophages: A key breakthrough in biotechnology was the discovery that certain enzymes in bacteria can restrict the duplication of infecting viruses. </a:t>
            </a:r>
          </a:p>
          <a:p>
            <a:r>
              <a:rPr lang="en-US" dirty="0"/>
              <a:t>These such enzymes were noted to always cut the DNA at a specific sequence. </a:t>
            </a:r>
          </a:p>
          <a:p>
            <a:r>
              <a:rPr lang="en-US" dirty="0"/>
              <a:t>This is known as a recognition site and the enzyme that cuts the DNA is a restriction enzyme. </a:t>
            </a:r>
          </a:p>
        </p:txBody>
      </p:sp>
    </p:spTree>
    <p:extLst>
      <p:ext uri="{BB962C8B-B14F-4D97-AF65-F5344CB8AC3E}">
        <p14:creationId xmlns:p14="http://schemas.microsoft.com/office/powerpoint/2010/main" val="94356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8DF5C3E-BDAB-40E6-A40B-8C05D8CD3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90C31A-86E3-472B-B929-496667598E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DD3589A-DB65-424B-ACF1-5C8155F1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F784D76-D302-4160-A2D4-C2F4AB76D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12862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B0585-7E57-C644-80A3-BED92F7F8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584677" cy="10809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Straight Cut Versus Staggered Cut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08D9710-1A5F-4D24-B654-F2081DE60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6409944" cy="25839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367FB-F0E4-DA4B-950F-8237671629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866" y="2121426"/>
            <a:ext cx="5948134" cy="35993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Some restriction enzymes produce a straight cut at the sequence while others produce a staggered cut. 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</a:rPr>
              <a:t>A Straight cut is when the restriction enzyme makes a clean break across both strands of DNA to produce a blunt end. </a:t>
            </a:r>
          </a:p>
          <a:p>
            <a:pPr lvl="1"/>
            <a:r>
              <a:rPr lang="en-US" sz="2400" dirty="0">
                <a:solidFill>
                  <a:srgbClr val="FFFFFF"/>
                </a:solidFill>
              </a:rPr>
              <a:t>Staggered cut results in sticky ends being cut. A sticky end is a stretch of unpaired nucleotides in the DNA molecule that overhang at the break in strands. </a:t>
            </a: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57E7D2-A94B-4A8D-B58F-D3E30C235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3163" y="642795"/>
            <a:ext cx="4812406" cy="5575125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87B68C4A-B62D-8440-9840-B9180CBAB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3933" y="1582183"/>
            <a:ext cx="4178419" cy="368684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60634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AFEC8-594D-3246-B6B7-026C75966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DNA Ligase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27777-ECF1-054E-B925-39D4C1393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breakthrough in biotechnology was the discovery of the “DNA-joining enzyme” later named DNA Ligase. </a:t>
            </a:r>
          </a:p>
          <a:p>
            <a:r>
              <a:rPr lang="en-US" dirty="0"/>
              <a:t>This allows for two sticky ends to be stuck together.</a:t>
            </a:r>
          </a:p>
          <a:p>
            <a:r>
              <a:rPr lang="en-US" dirty="0"/>
              <a:t>The discovery allowed scientists to attempt recombination experiments in similar DNA and DNA of different species. </a:t>
            </a:r>
          </a:p>
        </p:txBody>
      </p:sp>
      <p:pic>
        <p:nvPicPr>
          <p:cNvPr id="5" name="Picture 4" descr="Logo, company name&#10;&#10;Description automatically generated with medium confidence">
            <a:extLst>
              <a:ext uri="{FF2B5EF4-FFF2-40B4-BE49-F238E27FC236}">
                <a16:creationId xmlns:a16="http://schemas.microsoft.com/office/drawing/2014/main" id="{6CDDAAAF-B596-0443-B550-CDF2CAC1A0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75" y="4432296"/>
            <a:ext cx="9613860" cy="242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062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7A865E47-4365-4F21-B8EA-13B2C12B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0CE24988-BB27-40E5-A961-9FA7ED0DB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0BDE80E-ADE0-4E16-8F80-306A15F4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D188F-AFF1-AD4B-9E68-CEC2AFD29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" y="1977794"/>
            <a:ext cx="6085311" cy="4878526"/>
          </a:xfrm>
        </p:spPr>
        <p:txBody>
          <a:bodyPr>
            <a:normAutofit/>
          </a:bodyPr>
          <a:lstStyle/>
          <a:p>
            <a:r>
              <a:rPr lang="en-US" dirty="0"/>
              <a:t>Step 1- isolate the Gene of interest</a:t>
            </a:r>
          </a:p>
          <a:p>
            <a:r>
              <a:rPr lang="en-US" dirty="0"/>
              <a:t>Step 2- the gene is then inserted into a vector and cloned.</a:t>
            </a:r>
          </a:p>
          <a:p>
            <a:pPr lvl="1"/>
            <a:r>
              <a:rPr lang="en-US" sz="2400" dirty="0"/>
              <a:t>The vector now has a segment of DNA capable of replicating on its own.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If the gene of interest is added to a plasmid and then added to a vector, it will replicate and clone with the vector and plasmid- creating numerous copies of the DNA to insert into host cells. </a:t>
            </a:r>
          </a:p>
          <a:p>
            <a:pPr marL="0" indent="0">
              <a:buNone/>
            </a:pPr>
            <a:r>
              <a:rPr lang="en-US" dirty="0"/>
              <a:t>The host cell will then start producing the foreign protein using the instructions in the gene in the recombinant DNA. 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D24582B-E1E4-C845-B344-50CC51BDC4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348"/>
          <a:stretch/>
        </p:blipFill>
        <p:spPr>
          <a:xfrm>
            <a:off x="6096000" y="10"/>
            <a:ext cx="609282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3BC1C09-8FD1-4619-B317-E9EED5E5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6EAA07-0734-FB44-BB79-E2D51437B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5041629" cy="1080938"/>
          </a:xfrm>
        </p:spPr>
        <p:txBody>
          <a:bodyPr>
            <a:normAutofit/>
          </a:bodyPr>
          <a:lstStyle/>
          <a:p>
            <a:r>
              <a:rPr lang="en-US" sz="2800"/>
              <a:t>How to produce an organism with recombinant DNA: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3143E80-C928-46DB-9299-0BD06348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9689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B932-ABB1-CB44-8266-6BBDA2AE0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 study 1- Insulin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242AE9-E0E4-43F4-BA19-C9557E2835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2769259"/>
              </p:ext>
            </p:extLst>
          </p:nvPr>
        </p:nvGraphicFramePr>
        <p:xfrm>
          <a:off x="680321" y="2336873"/>
          <a:ext cx="9613861" cy="35993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59297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9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11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4" name="Rectangle 13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34440-3AC0-CB47-9BBE-B9C7ABBA2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 dirty="0"/>
              <a:t>Insulin- Case Study</a:t>
            </a:r>
          </a:p>
        </p:txBody>
      </p:sp>
      <p:pic>
        <p:nvPicPr>
          <p:cNvPr id="25" name="Picture 15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573438-C9E6-6F4F-994B-31C7909151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" y="1977794"/>
            <a:ext cx="4647943" cy="4880206"/>
          </a:xfrm>
        </p:spPr>
        <p:txBody>
          <a:bodyPr>
            <a:normAutofit/>
          </a:bodyPr>
          <a:lstStyle/>
          <a:p>
            <a:r>
              <a:rPr lang="en-US" dirty="0"/>
              <a:t>These bacteria became insulin factories, cultured in vats to produce insulin in bulk. </a:t>
            </a:r>
          </a:p>
          <a:p>
            <a:r>
              <a:rPr lang="en-US" dirty="0"/>
              <a:t>This was done by using recombinant technology of the human genome and inserting the gene for insulin production into bacterial cells. </a:t>
            </a: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514C2D50-6EFE-1B47-B60D-FA75F60B7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5" y="1977794"/>
            <a:ext cx="7509385" cy="347309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7140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BCB3D0-62EC-4D8A-A9E7-991AF662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C758D7-9BCC-44AD-98FB-A68CA5267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890917F-0A64-4C0A-91F8-E4F6BE6A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C8E05-3629-4B19-A965-0C926F9DE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04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9044F20B-3F79-4BBD-A9B8-33672B6A4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9DB6E-1737-BC44-B727-B2E16079C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Insulin Case Study: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4AC8096-5E58-417C-896F-B6A1735D2C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0516631"/>
              </p:ext>
            </p:extLst>
          </p:nvPr>
        </p:nvGraphicFramePr>
        <p:xfrm>
          <a:off x="5437509" y="777860"/>
          <a:ext cx="5955658" cy="5385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496630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4055289-E0C6-4BD3-83C1-D3C305932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outdoor, person, person, sport&#10;&#10;Description automatically generated">
            <a:extLst>
              <a:ext uri="{FF2B5EF4-FFF2-40B4-BE49-F238E27FC236}">
                <a16:creationId xmlns:a16="http://schemas.microsoft.com/office/drawing/2014/main" id="{FA52D6B7-203B-6A47-98AD-74CE26AE7F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730"/>
          <a:stretch/>
        </p:blipFill>
        <p:spPr>
          <a:xfrm>
            <a:off x="20" y="-1"/>
            <a:ext cx="12191980" cy="685800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3D0E302E-D9CD-4301-A67C-2F0F43791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2116667"/>
            <a:ext cx="10439400" cy="3793206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A457133-9802-4229-B919-FF91AE235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5174CBE-3C8C-4936-BADC-26BFB4F07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C459A-9007-4748-BA2A-1D6A39C67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>
            <a:normAutofit/>
          </a:bodyPr>
          <a:lstStyle/>
          <a:p>
            <a:r>
              <a:rPr lang="en-US" dirty="0"/>
              <a:t>Case Study 2- Human Growth Hormone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4CBD692-4D03-4764-98E3-F95783857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32BC668-4D51-4090-89E3-5613B832E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2630F-C5FD-3841-8507-3DCF9C4AF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9613861" cy="3395060"/>
          </a:xfrm>
        </p:spPr>
        <p:txBody>
          <a:bodyPr anchor="ctr">
            <a:normAutofit/>
          </a:bodyPr>
          <a:lstStyle/>
          <a:p>
            <a:r>
              <a:rPr lang="en-US" dirty="0"/>
              <a:t>Production of Human Growth Hormone (</a:t>
            </a:r>
            <a:r>
              <a:rPr lang="en-US" dirty="0" err="1"/>
              <a:t>hGH</a:t>
            </a:r>
            <a:r>
              <a:rPr lang="en-US" dirty="0"/>
              <a:t>) has dramatically increased since the use of engineered E. coli bacteria. </a:t>
            </a:r>
          </a:p>
          <a:p>
            <a:r>
              <a:rPr lang="en-US" dirty="0"/>
              <a:t>This has allowed for enhanced athletic performance and to delay physical deterioration associated with aging, but there is little evidence to support these claims. </a:t>
            </a:r>
          </a:p>
          <a:p>
            <a:r>
              <a:rPr lang="en-US" dirty="0"/>
              <a:t>It does have the potential to produce serious side effects. </a:t>
            </a:r>
          </a:p>
        </p:txBody>
      </p:sp>
    </p:spTree>
    <p:extLst>
      <p:ext uri="{BB962C8B-B14F-4D97-AF65-F5344CB8AC3E}">
        <p14:creationId xmlns:p14="http://schemas.microsoft.com/office/powerpoint/2010/main" val="1531890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95EB9-48A3-8B46-9253-4144668D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Human Growth Hormone: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47AF3-4D6D-934A-B40D-800983604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This technology was originally used for growth hormone of dairy cattle. </a:t>
            </a:r>
          </a:p>
          <a:p>
            <a:r>
              <a:rPr lang="en-US" dirty="0">
                <a:solidFill>
                  <a:srgbClr val="FFFFFF"/>
                </a:solidFill>
              </a:rPr>
              <a:t>Administrating the hormone increased milk production, and research so far does not have negative health effects</a:t>
            </a: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, timeline&#10;&#10;Description automatically generated">
            <a:extLst>
              <a:ext uri="{FF2B5EF4-FFF2-40B4-BE49-F238E27FC236}">
                <a16:creationId xmlns:a16="http://schemas.microsoft.com/office/drawing/2014/main" id="{1495DABD-AE21-784A-9245-AFBF7030B2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085" y="1314627"/>
            <a:ext cx="5629268" cy="422195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2089692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52F97D-8932-9B4B-B8D8-FFFC641FF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Case Study 3- Factor VIII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C4D434-C5A5-42E1-9FE2-644552FA1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3860562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804634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610D2AE-07EF-436A-9755-AA8DF4B933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ACDD17-9043-46DF-882D-420365B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F2D8AD5-434A-4C0E-9F5B-C1AFD645F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CE2A90-5494-614F-A749-7E9644390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/>
              <a:t>Factor VIII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92B246D-47CC-40F8-8DE7-B65D409E9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A156B-4D75-C146-BAC4-73BF5D4AB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" y="1977794"/>
            <a:ext cx="5146892" cy="4370454"/>
          </a:xfrm>
        </p:spPr>
        <p:txBody>
          <a:bodyPr>
            <a:normAutofit/>
          </a:bodyPr>
          <a:lstStyle/>
          <a:p>
            <a:r>
              <a:rPr lang="en-US" dirty="0"/>
              <a:t>With the large number of donors required, there is constant risk of a viral disease transmission- that would be fatal to those with haemophilia A. </a:t>
            </a:r>
          </a:p>
          <a:p>
            <a:pPr lvl="1"/>
            <a:r>
              <a:rPr lang="en-US" sz="2400" dirty="0"/>
              <a:t>The two big ones being Human Immunodeficiency Virus and Hepatitis C</a:t>
            </a:r>
          </a:p>
          <a:p>
            <a:r>
              <a:rPr lang="en-US" dirty="0"/>
              <a:t>Recombinant DNA overcame this risk though and is also free of other plasma proteins that would trigger an immune response. </a:t>
            </a:r>
          </a:p>
          <a:p>
            <a:endParaRPr lang="en-US" sz="1800" dirty="0"/>
          </a:p>
          <a:p>
            <a:endParaRPr lang="en-US" sz="1800" dirty="0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46A3E037-6646-D244-B692-FC07533230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90" y="1428273"/>
            <a:ext cx="6303134" cy="3970973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3647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F05A9888-AD26-4A4B-A1B1-04ECA0892E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84" r="21829"/>
          <a:stretch/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9CD09A-859B-2F4E-A6A0-401E78B71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>
            <a:normAutofit/>
          </a:bodyPr>
          <a:lstStyle/>
          <a:p>
            <a:r>
              <a:rPr lang="en-US" sz="3200"/>
              <a:t>Factor VIII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DE0E8-81AD-4F4F-B37D-FE969969B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581635" cy="3599316"/>
          </a:xfrm>
        </p:spPr>
        <p:txBody>
          <a:bodyPr>
            <a:normAutofit/>
          </a:bodyPr>
          <a:lstStyle/>
          <a:p>
            <a:r>
              <a:rPr lang="en-US" dirty="0"/>
              <a:t>Factor VIII is now one of the largest molecules synthesized and is cultured in Mammalian cells- proving to be highly effective in controlling excessive bleeding. </a:t>
            </a:r>
          </a:p>
        </p:txBody>
      </p:sp>
    </p:spTree>
    <p:extLst>
      <p:ext uri="{BB962C8B-B14F-4D97-AF65-F5344CB8AC3E}">
        <p14:creationId xmlns:p14="http://schemas.microsoft.com/office/powerpoint/2010/main" val="3935631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F9E774-F054-4892-8E69-C76B2C854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EF6A099-2A38-4C66-88FF-FDBCB564E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0D98427-7B26-46E2-93FE-CB8CD385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5A4233-F980-4EF6-B2C0-D7C63E752A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20663B-4F15-7C4B-AC3C-932FA51C5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Case Study 4- Vaccines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7E3E62-AACE-4D18-93B3-B4C452E28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9E6DF-47A0-0149-8C02-B18517EAB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145" y="2113872"/>
            <a:ext cx="4372303" cy="436049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The first vaccine for human use produced using recombinant DNA technology was for Hepatitis B (1986) </a:t>
            </a:r>
          </a:p>
          <a:p>
            <a:r>
              <a:rPr lang="en-US" dirty="0">
                <a:solidFill>
                  <a:srgbClr val="FFFFFF"/>
                </a:solidFill>
              </a:rPr>
              <a:t>Produced by inserting the gene from the Hepatitis B virus into the cowpox virus. </a:t>
            </a:r>
          </a:p>
          <a:p>
            <a:r>
              <a:rPr lang="en-US" dirty="0">
                <a:solidFill>
                  <a:srgbClr val="FFFFFF"/>
                </a:solidFill>
              </a:rPr>
              <a:t>This method of vaccine production is very expensive though. </a:t>
            </a:r>
          </a:p>
          <a:p>
            <a:endParaRPr lang="en-US" sz="1400" dirty="0">
              <a:solidFill>
                <a:srgbClr val="FFFFFF"/>
              </a:solidFill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21B5709-714B-4EA8-8C75-C105D9B4D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76090" y="642795"/>
            <a:ext cx="6272654" cy="5575126"/>
          </a:xfrm>
          <a:prstGeom prst="rect">
            <a:avLst/>
          </a:prstGeom>
          <a:ln>
            <a:noFill/>
          </a:ln>
          <a:effectLst>
            <a:outerShdw blurRad="76200" dist="63500" dir="5040000" algn="t" rotWithShape="0">
              <a:prstClr val="black">
                <a:alpha val="4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EDDB45B-398D-D343-99C7-4BAFD7715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085" y="1448323"/>
            <a:ext cx="5629268" cy="3954560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582212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AE7CAD0E-9354-284C-AC6E-17F33C9BA37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2425" b="1"/>
          <a:stretch/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CFC982-D20A-CD4F-8CD6-75FDD145C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>
            <a:normAutofit/>
          </a:bodyPr>
          <a:lstStyle/>
          <a:p>
            <a:r>
              <a:rPr lang="en-US" sz="3200"/>
              <a:t>Vaccines: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5333A2-C8FD-924B-A571-F1B8F7086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" y="2004737"/>
            <a:ext cx="4632831" cy="4364531"/>
          </a:xfrm>
        </p:spPr>
        <p:txBody>
          <a:bodyPr>
            <a:normAutofit/>
          </a:bodyPr>
          <a:lstStyle/>
          <a:p>
            <a:r>
              <a:rPr lang="en-US" dirty="0"/>
              <a:t>For a vaccine to be developed in this manner: </a:t>
            </a:r>
          </a:p>
          <a:p>
            <a:pPr lvl="1"/>
            <a:r>
              <a:rPr lang="en-US" sz="2400" dirty="0"/>
              <a:t>The genes for the desired antigens must be located </a:t>
            </a:r>
          </a:p>
          <a:p>
            <a:pPr lvl="1"/>
            <a:r>
              <a:rPr lang="en-US" sz="2400" dirty="0"/>
              <a:t>The genes then must be cloned </a:t>
            </a:r>
          </a:p>
          <a:p>
            <a:pPr lvl="1"/>
            <a:r>
              <a:rPr lang="en-US" sz="2400" dirty="0"/>
              <a:t>The cloned genes then must be expressed efficiently in a new vector </a:t>
            </a:r>
          </a:p>
        </p:txBody>
      </p:sp>
    </p:spTree>
    <p:extLst>
      <p:ext uri="{BB962C8B-B14F-4D97-AF65-F5344CB8AC3E}">
        <p14:creationId xmlns:p14="http://schemas.microsoft.com/office/powerpoint/2010/main" val="7767231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2A773CA-28F4-49C2-BFA3-49A5867C7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7C72BA-4476-4E4B-BC37-9A75FD0C5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009A16D-868B-4145-BBC6-555098537E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4527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92EB33-38E1-4175-8EE2-9BB8CC159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006045"/>
            <a:ext cx="4965192" cy="144668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DCAE5CF-5D29-4779-83E1-BDB64E4F3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838764"/>
            <a:ext cx="4964567" cy="3180473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57EDB-DE68-3946-BA31-3D754D664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2063262"/>
            <a:ext cx="3739279" cy="2661052"/>
          </a:xfrm>
        </p:spPr>
        <p:txBody>
          <a:bodyPr>
            <a:normAutofit/>
          </a:bodyPr>
          <a:lstStyle/>
          <a:p>
            <a:pPr algn="r"/>
            <a:r>
              <a:rPr lang="en-US" sz="4400"/>
              <a:t>Vaccines: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09F8046-90E5-48B4-89FD-B2C1936A4F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3425256"/>
              </p:ext>
            </p:extLst>
          </p:nvPr>
        </p:nvGraphicFramePr>
        <p:xfrm>
          <a:off x="5284788" y="639763"/>
          <a:ext cx="6261100" cy="55784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7531232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D6EC5AD-977D-4411-AC6F-5677D6D5CD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3DC4F7D-6CBC-4B88-80C9-3E5BBFA8D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F5CD2AA-865E-46EF-BE02-B7F59735C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57357"/>
            <a:ext cx="8978671" cy="1660332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4003C3-E512-E643-B172-431EBDFFF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4714194"/>
            <a:ext cx="8129353" cy="1311176"/>
          </a:xfrm>
        </p:spPr>
        <p:txBody>
          <a:bodyPr anchor="b">
            <a:normAutofit/>
          </a:bodyPr>
          <a:lstStyle/>
          <a:p>
            <a:pPr algn="r"/>
            <a:r>
              <a:rPr lang="en-US" sz="4400"/>
              <a:t>Identifying Hereditary Diseases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36E79C-DAF3-497B-8829-B578C6330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86" y="6210130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CBA651-59F0-4056-852B-7BA312B84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4557357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6549CAF-504A-44ED-AD20-0880DCFE7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218940"/>
            <a:ext cx="8968085" cy="275942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18056C-6EA6-4474-B02E-6C914AE04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22301" y="6210130"/>
            <a:ext cx="3080285" cy="27594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A0DD0CA-A601-4B1A-A143-D1BFC380E30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92790992"/>
              </p:ext>
            </p:extLst>
          </p:nvPr>
        </p:nvGraphicFramePr>
        <p:xfrm>
          <a:off x="620713" y="644525"/>
          <a:ext cx="10931525" cy="36052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577360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8">
            <a:extLst>
              <a:ext uri="{FF2B5EF4-FFF2-40B4-BE49-F238E27FC236}">
                <a16:creationId xmlns:a16="http://schemas.microsoft.com/office/drawing/2014/main" id="{7A865E47-4365-4F21-B8EA-13B2C12BC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8" name="Rectangle 9">
              <a:extLst>
                <a:ext uri="{FF2B5EF4-FFF2-40B4-BE49-F238E27FC236}">
                  <a16:creationId xmlns:a16="http://schemas.microsoft.com/office/drawing/2014/main" id="{0CE24988-BB27-40E5-A961-9FA7ED0DB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0BDE80E-ADE0-4E16-8F80-306A15F4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A58B2-D18E-2D4D-981D-46042C38F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294" y="2101096"/>
            <a:ext cx="5457720" cy="3868779"/>
          </a:xfrm>
        </p:spPr>
        <p:txBody>
          <a:bodyPr>
            <a:normAutofit/>
          </a:bodyPr>
          <a:lstStyle/>
          <a:p>
            <a:r>
              <a:rPr lang="en-US" dirty="0"/>
              <a:t>Frequently, mutant genes function improperly and cause disorder or change to structure of the body and can even be passed onto future generations. </a:t>
            </a:r>
          </a:p>
          <a:p>
            <a:r>
              <a:rPr lang="en-US" dirty="0"/>
              <a:t>Advances in biotechnology allow use to identify diseases/ disorders caused by mutant genes. </a:t>
            </a:r>
          </a:p>
          <a:p>
            <a:r>
              <a:rPr lang="en-US" dirty="0"/>
              <a:t>There are major risks and ethical concerns behind these.  </a:t>
            </a:r>
          </a:p>
        </p:txBody>
      </p:sp>
      <p:pic>
        <p:nvPicPr>
          <p:cNvPr id="19" name="Picture 4" descr="Solution dispensed using electronic pipette">
            <a:extLst>
              <a:ext uri="{FF2B5EF4-FFF2-40B4-BE49-F238E27FC236}">
                <a16:creationId xmlns:a16="http://schemas.microsoft.com/office/drawing/2014/main" id="{A442C800-EC6B-45C6-9DA4-7D71B47692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137" r="30546"/>
          <a:stretch/>
        </p:blipFill>
        <p:spPr>
          <a:xfrm>
            <a:off x="6096000" y="10"/>
            <a:ext cx="6092823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0" name="Rectangle 12">
            <a:extLst>
              <a:ext uri="{FF2B5EF4-FFF2-40B4-BE49-F238E27FC236}">
                <a16:creationId xmlns:a16="http://schemas.microsoft.com/office/drawing/2014/main" id="{13BC1C09-8FD1-4619-B317-E9EED5E55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6499753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1" name="Picture 14">
            <a:extLst>
              <a:ext uri="{FF2B5EF4-FFF2-40B4-BE49-F238E27FC236}">
                <a16:creationId xmlns:a16="http://schemas.microsoft.com/office/drawing/2014/main" id="{D3143E80-C928-46DB-9299-0BD06348A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6492240" cy="26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396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05A9BAA-B344-45D2-838C-73856C4B1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76" y="0"/>
            <a:ext cx="12192000" cy="6858001"/>
            <a:chOff x="-3176" y="0"/>
            <a:chExt cx="12192000" cy="685800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390434AA-4632-440E-9AE7-411396A77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462FD1E-E713-4FD4-8746-671C946723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AB7AC754-9FA5-3748-B54B-C7281C256D1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219" r="12250"/>
          <a:stretch/>
        </p:blipFill>
        <p:spPr>
          <a:xfrm>
            <a:off x="4636008" y="10"/>
            <a:ext cx="7552815" cy="685631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8A4CDE5-C7BC-41E1-8A4A-79E024CC09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5018565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66A6F-DD44-AF44-8B9A-4E130A80D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2" y="753228"/>
            <a:ext cx="3679028" cy="1080938"/>
          </a:xfrm>
        </p:spPr>
        <p:txBody>
          <a:bodyPr>
            <a:normAutofit/>
          </a:bodyPr>
          <a:lstStyle/>
          <a:p>
            <a:r>
              <a:rPr lang="en-US" sz="3200"/>
              <a:t>DNA Sequencing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25C7952-5703-489E-8DBD-F2EFAC8EE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0"/>
            <a:ext cx="5029200" cy="20273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CA15E-0895-A440-959D-3CD3EA615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2" y="2336873"/>
            <a:ext cx="3581635" cy="3599316"/>
          </a:xfrm>
        </p:spPr>
        <p:txBody>
          <a:bodyPr>
            <a:normAutofit/>
          </a:bodyPr>
          <a:lstStyle/>
          <a:p>
            <a:r>
              <a:rPr lang="en-US" dirty="0"/>
              <a:t>Determines the precise order of nucleotides in a sample of DNA </a:t>
            </a:r>
          </a:p>
          <a:p>
            <a:r>
              <a:rPr lang="en-US" dirty="0"/>
              <a:t>Enables sequences to be compared easily. </a:t>
            </a:r>
          </a:p>
        </p:txBody>
      </p:sp>
    </p:spTree>
    <p:extLst>
      <p:ext uri="{BB962C8B-B14F-4D97-AF65-F5344CB8AC3E}">
        <p14:creationId xmlns:p14="http://schemas.microsoft.com/office/powerpoint/2010/main" val="8542448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20" name="Rectangle 13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D4DAC6-42A8-4247-A267-3FFB0FF49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/>
              <a:t>Profiling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970DA-6631-9E45-BE39-F779736C1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lang="en-US" dirty="0"/>
              <a:t>Determines an individual’s DNA profile or fingerprint as a distinct series of bands </a:t>
            </a:r>
          </a:p>
          <a:p>
            <a:r>
              <a:rPr lang="en-US" dirty="0"/>
              <a:t>Enables detection of many genetically inherited diseases</a:t>
            </a:r>
          </a:p>
        </p:txBody>
      </p:sp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A975C408-3D7F-0C4D-9BD2-3D6292DF1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90" y="693940"/>
            <a:ext cx="6269479" cy="5470120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8347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9">
            <a:extLst>
              <a:ext uri="{FF2B5EF4-FFF2-40B4-BE49-F238E27FC236}">
                <a16:creationId xmlns:a16="http://schemas.microsoft.com/office/drawing/2014/main" id="{F4979F40-3A44-4CCB-9EB7-F8318BCE5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82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1">
            <a:extLst>
              <a:ext uri="{FF2B5EF4-FFF2-40B4-BE49-F238E27FC236}">
                <a16:creationId xmlns:a16="http://schemas.microsoft.com/office/drawing/2014/main" id="{15291D39-6B03-4BB5-BFC6-CBF11E90B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6" y="0"/>
            <a:ext cx="12192000" cy="6858000"/>
          </a:xfrm>
          <a:prstGeom prst="rect">
            <a:avLst/>
          </a:prstGeom>
        </p:spPr>
      </p:pic>
      <p:sp>
        <p:nvSpPr>
          <p:cNvPr id="21" name="Rectangle 13">
            <a:extLst>
              <a:ext uri="{FF2B5EF4-FFF2-40B4-BE49-F238E27FC236}">
                <a16:creationId xmlns:a16="http://schemas.microsoft.com/office/drawing/2014/main" id="{AFD071FA-0514-4371-9568-86216A1F46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5">
            <a:extLst>
              <a:ext uri="{FF2B5EF4-FFF2-40B4-BE49-F238E27FC236}">
                <a16:creationId xmlns:a16="http://schemas.microsoft.com/office/drawing/2014/main" id="{5211DDA4-E7B5-4325-A844-B7F59B084B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2" y="609600"/>
            <a:ext cx="4959094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C22A2-7065-BC48-89B8-2434B24B0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4136123" cy="1080938"/>
          </a:xfrm>
        </p:spPr>
        <p:txBody>
          <a:bodyPr>
            <a:normAutofit/>
          </a:bodyPr>
          <a:lstStyle/>
          <a:p>
            <a:r>
              <a:rPr lang="en-US" sz="2400"/>
              <a:t>Polymerase Chain Reaction: 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D58E222-6309-4F79-AC20-9D3C69CD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1970241"/>
            <a:ext cx="4956048" cy="19978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55DF3-8B9E-064C-BEF6-92923B3B9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321" y="2336873"/>
            <a:ext cx="3656289" cy="3599316"/>
          </a:xfrm>
        </p:spPr>
        <p:txBody>
          <a:bodyPr>
            <a:normAutofit/>
          </a:bodyPr>
          <a:lstStyle/>
          <a:p>
            <a:r>
              <a:rPr lang="en-US" dirty="0"/>
              <a:t>Segments of DNA are manipulated through a series of repeated cycles using an enzyme called DNA polymerase </a:t>
            </a:r>
          </a:p>
          <a:p>
            <a:r>
              <a:rPr lang="en-US" dirty="0"/>
              <a:t>Genes of interest can easily be amplified and then sequenced to detect the mutations. </a:t>
            </a:r>
          </a:p>
        </p:txBody>
      </p:sp>
      <p:pic>
        <p:nvPicPr>
          <p:cNvPr id="5" name="Picture 4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B16F9A03-96A4-794B-8F13-D3B00D2A7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829" y="1143000"/>
            <a:ext cx="7540607" cy="4672013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463081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DE52-1A53-8648-AB68-90CB4A9C5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Extend Your Knowledge Research: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15571-FF0E-AB40-9974-162EB31F6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is recombinant DNA is contributing to the manufacture of new vaccines? </a:t>
            </a:r>
          </a:p>
          <a:p>
            <a:r>
              <a:rPr lang="en-US" dirty="0"/>
              <a:t>The difficulties involved in the use of such a technique</a:t>
            </a:r>
          </a:p>
          <a:p>
            <a:r>
              <a:rPr lang="en-US" dirty="0"/>
              <a:t>Which vaccines are now produced using recombinant technology? </a:t>
            </a:r>
          </a:p>
          <a:p>
            <a:endParaRPr lang="en-US" dirty="0"/>
          </a:p>
          <a:p>
            <a:r>
              <a:rPr lang="en-US" dirty="0"/>
              <a:t>OR: Private Study for test your test on Friday. </a:t>
            </a:r>
          </a:p>
        </p:txBody>
      </p:sp>
    </p:spTree>
    <p:extLst>
      <p:ext uri="{BB962C8B-B14F-4D97-AF65-F5344CB8AC3E}">
        <p14:creationId xmlns:p14="http://schemas.microsoft.com/office/powerpoint/2010/main" val="346568609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1212</Words>
  <Application>Microsoft Macintosh PowerPoint</Application>
  <PresentationFormat>Widescreen</PresentationFormat>
  <Paragraphs>93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Trebuchet MS</vt:lpstr>
      <vt:lpstr>Berlin</vt:lpstr>
      <vt:lpstr>Biotechnology</vt:lpstr>
      <vt:lpstr>Learning Objectives: </vt:lpstr>
      <vt:lpstr>Recombinant DNA Technology</vt:lpstr>
      <vt:lpstr>PowerPoint Presentation</vt:lpstr>
      <vt:lpstr>PowerPoint Presentation</vt:lpstr>
      <vt:lpstr>PowerPoint Presentation</vt:lpstr>
      <vt:lpstr>Straight Cut Versus Staggered Cut</vt:lpstr>
      <vt:lpstr>DNA Ligase</vt:lpstr>
      <vt:lpstr>How to produce an organism with recombinant DNA: </vt:lpstr>
      <vt:lpstr>Case study 1- Insulin</vt:lpstr>
      <vt:lpstr>Insulin- Case Study</vt:lpstr>
      <vt:lpstr>Insulin Case Study: </vt:lpstr>
      <vt:lpstr>Case Study 2- Human Growth Hormone</vt:lpstr>
      <vt:lpstr>Human Growth Hormone:</vt:lpstr>
      <vt:lpstr>Case Study 3- Factor VIII</vt:lpstr>
      <vt:lpstr>Factor VIII</vt:lpstr>
      <vt:lpstr>Factor VIII</vt:lpstr>
      <vt:lpstr>Case Study 4- Vaccines </vt:lpstr>
      <vt:lpstr>Vaccines: </vt:lpstr>
      <vt:lpstr>Vaccines: </vt:lpstr>
      <vt:lpstr>Identifying Hereditary Diseases</vt:lpstr>
      <vt:lpstr>PowerPoint Presentation</vt:lpstr>
      <vt:lpstr>DNA Sequencing</vt:lpstr>
      <vt:lpstr>Profiling</vt:lpstr>
      <vt:lpstr>Polymerase Chain Reaction: </vt:lpstr>
      <vt:lpstr>Extend Your Knowledge Research: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Biotechnology</dc:title>
  <dc:creator>Jordan Phillips</dc:creator>
  <cp:lastModifiedBy>Jordan Phillips</cp:lastModifiedBy>
  <cp:revision>2</cp:revision>
  <dcterms:created xsi:type="dcterms:W3CDTF">2021-06-15T01:17:35Z</dcterms:created>
  <dcterms:modified xsi:type="dcterms:W3CDTF">2021-06-15T01:24:55Z</dcterms:modified>
</cp:coreProperties>
</file>
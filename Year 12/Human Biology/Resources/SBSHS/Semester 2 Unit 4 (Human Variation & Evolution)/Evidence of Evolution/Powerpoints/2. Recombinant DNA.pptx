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18"/>
  </p:notesMasterIdLst>
  <p:sldIdLst>
    <p:sldId id="256" r:id="rId2"/>
    <p:sldId id="258" r:id="rId3"/>
    <p:sldId id="306" r:id="rId4"/>
    <p:sldId id="307" r:id="rId5"/>
    <p:sldId id="322" r:id="rId6"/>
    <p:sldId id="312" r:id="rId7"/>
    <p:sldId id="313" r:id="rId8"/>
    <p:sldId id="310" r:id="rId9"/>
    <p:sldId id="315" r:id="rId10"/>
    <p:sldId id="323" r:id="rId11"/>
    <p:sldId id="324" r:id="rId12"/>
    <p:sldId id="317" r:id="rId13"/>
    <p:sldId id="318" r:id="rId14"/>
    <p:sldId id="319" r:id="rId15"/>
    <p:sldId id="321" r:id="rId16"/>
    <p:sldId id="325" r:id="rId17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383" autoAdjust="0"/>
  </p:normalViewPr>
  <p:slideViewPr>
    <p:cSldViewPr>
      <p:cViewPr varScale="1">
        <p:scale>
          <a:sx n="68" d="100"/>
          <a:sy n="68" d="100"/>
        </p:scale>
        <p:origin x="1446" y="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16D9512-C607-479D-9091-7AFC62A6F268}" type="datetimeFigureOut">
              <a:rPr lang="en-AU" smtClean="0"/>
              <a:t>14/06/2021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2BC5F8F-1D81-4F44-BB53-0D7347ABA7C5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401264573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905000"/>
            <a:ext cx="7543800" cy="2593975"/>
          </a:xfrm>
        </p:spPr>
        <p:txBody>
          <a:bodyPr anchor="b"/>
          <a:lstStyle>
            <a:lvl1pPr>
              <a:defRPr sz="6600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4572000"/>
            <a:ext cx="6461760" cy="10668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14/06/2021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14/06/2021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5486400"/>
            <a:ext cx="7659687" cy="1168400"/>
          </a:xfrm>
        </p:spPr>
        <p:txBody>
          <a:bodyPr anchor="t"/>
          <a:lstStyle>
            <a:lvl1pPr algn="l">
              <a:defRPr sz="36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3852863"/>
            <a:ext cx="6135687" cy="1633538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14/06/2021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19600" y="1536192"/>
            <a:ext cx="3657600" cy="459028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14/06/2021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19600" y="1535113"/>
            <a:ext cx="3657600" cy="6397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1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419600" y="2174875"/>
            <a:ext cx="365760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14/06/2021</a:t>
            </a:fld>
            <a:endParaRPr lang="en-A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14/06/2021</a:t>
            </a:fld>
            <a:endParaRPr lang="en-A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14/06/2021</a:t>
            </a:fld>
            <a:endParaRPr lang="en-A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4801" y="5495544"/>
            <a:ext cx="7772400" cy="594360"/>
          </a:xfrm>
        </p:spPr>
        <p:txBody>
          <a:bodyPr anchor="b"/>
          <a:lstStyle>
            <a:lvl1pPr algn="ctr">
              <a:defRPr sz="2200" b="1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4799" y="6096000"/>
            <a:ext cx="7772401" cy="6096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14/06/2021</a:t>
            </a:fld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  <p:sp>
        <p:nvSpPr>
          <p:cNvPr id="9" name="Content Placeholder 8"/>
          <p:cNvSpPr>
            <a:spLocks noGrp="1"/>
          </p:cNvSpPr>
          <p:nvPr>
            <p:ph sz="quarter" idx="13"/>
          </p:nvPr>
        </p:nvSpPr>
        <p:spPr>
          <a:xfrm>
            <a:off x="304800" y="381000"/>
            <a:ext cx="7772400" cy="49428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1752" y="5495278"/>
            <a:ext cx="7772400" cy="594626"/>
          </a:xfrm>
        </p:spPr>
        <p:txBody>
          <a:bodyPr anchor="b"/>
          <a:lstStyle>
            <a:lvl1pPr algn="ctr">
              <a:defRPr sz="2200" b="1">
                <a:ln>
                  <a:noFill/>
                </a:ln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0" y="0"/>
            <a:ext cx="8458200" cy="54864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301752" y="6096000"/>
            <a:ext cx="7772400" cy="612648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14/06/2021</a:t>
            </a:fld>
            <a:endParaRPr lang="en-A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AU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14/06/2021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1752600" cy="5851525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72D987-F769-4FBA-90D4-E4010B051761}" type="datetimeFigureOut">
              <a:rPr lang="en-AU" smtClean="0"/>
              <a:t>14/06/2021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76200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7620000" cy="48006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Rectangle 6"/>
          <p:cNvSpPr/>
          <p:nvPr/>
        </p:nvSpPr>
        <p:spPr>
          <a:xfrm>
            <a:off x="8458200" y="0"/>
            <a:ext cx="6858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8458200" y="5486400"/>
            <a:ext cx="685800" cy="6858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31788" y="5648960"/>
            <a:ext cx="548640" cy="396240"/>
          </a:xfrm>
          <a:prstGeom prst="bracketPair">
            <a:avLst>
              <a:gd name="adj" fmla="val 17949"/>
            </a:avLst>
          </a:prstGeom>
          <a:ln w="19050">
            <a:solidFill>
              <a:srgbClr val="FFFFFF"/>
            </a:solidFill>
          </a:ln>
        </p:spPr>
        <p:txBody>
          <a:bodyPr vert="horz" lIns="0" tIns="0" rIns="0" bIns="0" rtlCol="0" anchor="ctr"/>
          <a:lstStyle>
            <a:lvl1pPr algn="ctr">
              <a:defRPr sz="1800">
                <a:solidFill>
                  <a:srgbClr val="FFFFFF"/>
                </a:solidFill>
              </a:defRPr>
            </a:lvl1pPr>
          </a:lstStyle>
          <a:p>
            <a:fld id="{3F33971A-AB81-42CD-86E9-32844290D5A4}" type="slidenum">
              <a:rPr lang="en-AU" smtClean="0"/>
              <a:t>‹#›</a:t>
            </a:fld>
            <a:endParaRPr lang="en-A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16200000">
            <a:off x="7586910" y="4048760"/>
            <a:ext cx="2367281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bg2"/>
                </a:solidFill>
              </a:defRPr>
            </a:lvl1pPr>
          </a:lstStyle>
          <a:p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16200000">
            <a:off x="7551351" y="1645920"/>
            <a:ext cx="2438399" cy="36576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bg2"/>
                </a:solidFill>
              </a:defRPr>
            </a:lvl1pPr>
          </a:lstStyle>
          <a:p>
            <a:fld id="{2072D987-F769-4FBA-90D4-E4010B051761}" type="datetimeFigureOut">
              <a:rPr lang="en-AU" smtClean="0"/>
              <a:t>14/06/2021</a:t>
            </a:fld>
            <a:endParaRPr lang="en-AU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spcBef>
          <a:spcPct val="0"/>
        </a:spcBef>
        <a:buNone/>
        <a:defRPr sz="4600" kern="1200" cap="none" spc="-100" baseline="0">
          <a:ln>
            <a:noFill/>
          </a:ln>
          <a:solidFill>
            <a:schemeClr val="tx2"/>
          </a:solidFill>
          <a:effectLst/>
          <a:latin typeface="+mj-lt"/>
          <a:ea typeface="+mj-ea"/>
          <a:cs typeface="+mj-cs"/>
        </a:defRPr>
      </a:lvl1pPr>
    </p:titleStyle>
    <p:bodyStyle>
      <a:lvl1pPr marL="342900" indent="-22860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2860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1005840" indent="-22860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defTabSz="914400" rtl="0" eaLnBrk="1" latinLnBrk="0" hangingPunct="1">
        <a:spcBef>
          <a:spcPct val="20000"/>
        </a:spcBef>
        <a:buClr>
          <a:schemeClr val="accent5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defTabSz="914400" rtl="0" eaLnBrk="1" latinLnBrk="0" hangingPunct="1">
        <a:spcBef>
          <a:spcPct val="20000"/>
        </a:spcBef>
        <a:buClr>
          <a:schemeClr val="accent2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defTabSz="914400" rtl="0" eaLnBrk="1" latinLnBrk="0" hangingPunct="1">
        <a:spcBef>
          <a:spcPct val="20000"/>
        </a:spcBef>
        <a:buClr>
          <a:schemeClr val="accent3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182880" algn="l" defTabSz="914400" rtl="0" eaLnBrk="1" latinLnBrk="0" hangingPunct="1">
        <a:spcBef>
          <a:spcPct val="20000"/>
        </a:spcBef>
        <a:buClr>
          <a:schemeClr val="accent4"/>
        </a:buClr>
        <a:buFont typeface="Arial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AU" dirty="0"/>
              <a:t>Biotechnology</a:t>
            </a:r>
            <a:br>
              <a:rPr lang="en-AU" dirty="0"/>
            </a:br>
            <a:r>
              <a:rPr lang="en-AU" dirty="0"/>
              <a:t>-Recombinant DNA</a:t>
            </a:r>
          </a:p>
        </p:txBody>
      </p:sp>
      <p:sp>
        <p:nvSpPr>
          <p:cNvPr id="5" name="Subtitle 4">
            <a:extLst>
              <a:ext uri="{FF2B5EF4-FFF2-40B4-BE49-F238E27FC236}">
                <a16:creationId xmlns:a16="http://schemas.microsoft.com/office/drawing/2014/main" id="{0AAE47BA-EC07-48CD-8F8B-E48F72F259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357594042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What are we doing today?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AU" dirty="0"/>
              <a:t>Hormones and vaccines are developed using recombinant DNA and associated biotechnological techniques (SHE)</a:t>
            </a:r>
          </a:p>
          <a:p>
            <a:pPr marL="114300" indent="0">
              <a:buNone/>
            </a:pPr>
            <a:endParaRPr lang="en-GB" dirty="0"/>
          </a:p>
          <a:p>
            <a:pPr lvl="0"/>
            <a:endParaRPr lang="en-GB" dirty="0"/>
          </a:p>
          <a:p>
            <a:endParaRPr lang="en-AU" dirty="0"/>
          </a:p>
          <a:p>
            <a:endParaRPr lang="en-AU" dirty="0"/>
          </a:p>
          <a:p>
            <a:endParaRPr lang="en-AU" dirty="0"/>
          </a:p>
          <a:p>
            <a:pPr lvl="1"/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4913144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 dirty="0"/>
              <a:t>DNA  Technology</a:t>
            </a:r>
          </a:p>
        </p:txBody>
      </p:sp>
      <p:sp>
        <p:nvSpPr>
          <p:cNvPr id="4813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eaLnBrk="1" hangingPunct="1"/>
            <a:r>
              <a:rPr lang="en-US" altLang="en-US" sz="2400" dirty="0">
                <a:solidFill>
                  <a:schemeClr val="accent1"/>
                </a:solidFill>
              </a:rPr>
              <a:t>Genetic engineering </a:t>
            </a:r>
            <a:r>
              <a:rPr lang="en-US" altLang="en-US" sz="2400" dirty="0"/>
              <a:t>is the use of technology to alter the genomes of organisms.</a:t>
            </a:r>
          </a:p>
          <a:p>
            <a:pPr eaLnBrk="1" hangingPunct="1"/>
            <a:r>
              <a:rPr lang="en-US" altLang="en-US" sz="2400" dirty="0"/>
              <a:t>It allows the insertion of a foreign gene into new cells, which are then able to produce a different product.</a:t>
            </a:r>
          </a:p>
          <a:p>
            <a:pPr lvl="1" eaLnBrk="1" hangingPunct="1"/>
            <a:r>
              <a:rPr lang="en-US" altLang="en-US" sz="2400" dirty="0">
                <a:solidFill>
                  <a:schemeClr val="accent1"/>
                </a:solidFill>
              </a:rPr>
              <a:t>Biotechnology</a:t>
            </a:r>
            <a:r>
              <a:rPr lang="en-US" altLang="en-US" sz="2400" dirty="0"/>
              <a:t> includes genetic engineering and other techniques to make use of natural biological systems to achieve an end desired by humans.</a:t>
            </a:r>
          </a:p>
        </p:txBody>
      </p:sp>
    </p:spTree>
    <p:extLst>
      <p:ext uri="{BB962C8B-B14F-4D97-AF65-F5344CB8AC3E}">
        <p14:creationId xmlns:p14="http://schemas.microsoft.com/office/powerpoint/2010/main" val="210029878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155" name="Rectangle 2"/>
          <p:cNvSpPr>
            <a:spLocks noGrp="1" noChangeArrowheads="1"/>
          </p:cNvSpPr>
          <p:nvPr>
            <p:ph type="title"/>
          </p:nvPr>
        </p:nvSpPr>
        <p:spPr>
          <a:xfrm>
            <a:off x="395536" y="116632"/>
            <a:ext cx="7620000" cy="1143000"/>
          </a:xfrm>
        </p:spPr>
        <p:txBody>
          <a:bodyPr/>
          <a:lstStyle/>
          <a:p>
            <a:pPr eaLnBrk="1" hangingPunct="1"/>
            <a:r>
              <a:rPr lang="en-US" altLang="en-US" dirty="0"/>
              <a:t>The Cloning of a Gene</a:t>
            </a:r>
          </a:p>
        </p:txBody>
      </p:sp>
      <p:sp>
        <p:nvSpPr>
          <p:cNvPr id="491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0" y="1268760"/>
            <a:ext cx="8460432" cy="5410200"/>
          </a:xfrm>
        </p:spPr>
        <p:txBody>
          <a:bodyPr>
            <a:normAutofit lnSpcReduction="10000"/>
          </a:bodyPr>
          <a:lstStyle/>
          <a:p>
            <a:pPr eaLnBrk="1" hangingPunct="1">
              <a:lnSpc>
                <a:spcPct val="90000"/>
              </a:lnSpc>
            </a:pPr>
            <a:r>
              <a:rPr lang="en-US" altLang="en-US" sz="2800" dirty="0"/>
              <a:t>When many copies of the same gene are obtained, the gene is said to be </a:t>
            </a:r>
            <a:r>
              <a:rPr lang="en-US" altLang="en-US" sz="2800" u="sng" dirty="0"/>
              <a:t>cloned</a:t>
            </a:r>
            <a:r>
              <a:rPr lang="en-US" altLang="en-US" sz="2800" dirty="0"/>
              <a:t> - is accomplished by: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accent1"/>
                </a:solidFill>
              </a:rPr>
              <a:t>Recombinant DNA (rDNA) </a:t>
            </a:r>
            <a:r>
              <a:rPr lang="en-US" altLang="en-US" sz="2800" dirty="0"/>
              <a:t>Technology.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/>
              <a:t>DNA from at least two different DNA sources.</a:t>
            </a:r>
          </a:p>
          <a:p>
            <a:pPr lvl="2"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accent1"/>
                </a:solidFill>
              </a:rPr>
              <a:t>Vector</a:t>
            </a:r>
            <a:r>
              <a:rPr lang="en-US" altLang="en-US" sz="2800" dirty="0"/>
              <a:t> used to introduce foreign DNA into a host cell.</a:t>
            </a:r>
          </a:p>
          <a:p>
            <a:pPr lvl="3" eaLnBrk="1" hangingPunct="1">
              <a:lnSpc>
                <a:spcPct val="90000"/>
              </a:lnSpc>
            </a:pPr>
            <a:r>
              <a:rPr lang="en-US" altLang="en-US" sz="2800" dirty="0"/>
              <a:t>Plasmids (from bacteria), viral DNA, retroviruses.</a:t>
            </a:r>
          </a:p>
          <a:p>
            <a:pPr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accent1"/>
                </a:solidFill>
              </a:rPr>
              <a:t>Enzymes </a:t>
            </a:r>
            <a:r>
              <a:rPr lang="en-US" altLang="en-US" sz="2800" dirty="0"/>
              <a:t>to “cut and seal”.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accent1"/>
                </a:solidFill>
              </a:rPr>
              <a:t>Restriction enzymes </a:t>
            </a:r>
            <a:r>
              <a:rPr lang="en-US" altLang="en-US" sz="2800" dirty="0"/>
              <a:t>cleave DNA (“molecular scissors”) to produce “sticky ends”.</a:t>
            </a:r>
          </a:p>
          <a:p>
            <a:pPr lvl="1" eaLnBrk="1" hangingPunct="1">
              <a:lnSpc>
                <a:spcPct val="90000"/>
              </a:lnSpc>
            </a:pPr>
            <a:r>
              <a:rPr lang="en-US" altLang="en-US" sz="2800" dirty="0">
                <a:solidFill>
                  <a:schemeClr val="accent1"/>
                </a:solidFill>
              </a:rPr>
              <a:t>DNA ligase </a:t>
            </a:r>
            <a:r>
              <a:rPr lang="en-US" altLang="en-US" sz="2800" dirty="0"/>
              <a:t>seals DNA into an opening created by the restriction enzyme (“molecular glue”).</a:t>
            </a:r>
          </a:p>
        </p:txBody>
      </p:sp>
    </p:spTree>
    <p:extLst>
      <p:ext uri="{BB962C8B-B14F-4D97-AF65-F5344CB8AC3E}">
        <p14:creationId xmlns:p14="http://schemas.microsoft.com/office/powerpoint/2010/main" val="21410274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178" name="Slide Number Placeholder 3"/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1pPr>
            <a:lvl2pPr marL="742950" indent="-285750"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 eaLnBrk="0" hangingPunct="0">
              <a:defRPr sz="16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16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eaLnBrk="1" hangingPunct="1"/>
            <a:fld id="{E90E1240-B6D9-4FFD-9549-6609895C25AF}" type="slidenum">
              <a:rPr lang="en-US" altLang="en-US" sz="1400" smtClean="0">
                <a:solidFill>
                  <a:srgbClr val="FFFF00"/>
                </a:solidFill>
              </a:rPr>
              <a:pPr eaLnBrk="1" hangingPunct="1"/>
              <a:t>5</a:t>
            </a:fld>
            <a:endParaRPr lang="en-US" altLang="en-US" sz="1400">
              <a:solidFill>
                <a:srgbClr val="FFFF00"/>
              </a:solidFill>
            </a:endParaRPr>
          </a:p>
        </p:txBody>
      </p:sp>
      <p:pic>
        <p:nvPicPr>
          <p:cNvPr id="50179" name="Picture 2" descr="c:\Documents and Settings\Mike O'Hanlon\Desktop\mader\chapt19\art_library\color_art_library\19_p386.jpg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8100" y="28575"/>
            <a:ext cx="9067800" cy="68008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5824546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Text Box 2"/>
          <p:cNvSpPr txBox="1">
            <a:spLocks noChangeArrowheads="1"/>
          </p:cNvSpPr>
          <p:nvPr/>
        </p:nvSpPr>
        <p:spPr bwMode="auto">
          <a:xfrm>
            <a:off x="7391400" y="6202363"/>
            <a:ext cx="1524000" cy="2746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342900" indent="-342900"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lvl="1"/>
            <a:r>
              <a:rPr lang="en-US" altLang="en-US" sz="1200"/>
              <a:t>Figure 12.3</a:t>
            </a:r>
          </a:p>
        </p:txBody>
      </p:sp>
      <p:pic>
        <p:nvPicPr>
          <p:cNvPr id="5123" name="Picture 3" descr="12-03-GeneticEngineering-NL.gif                                00000029BiologyConcepts4eCIPL_8-15     B9599A75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7495"/>
          <a:stretch>
            <a:fillRect/>
          </a:stretch>
        </p:blipFill>
        <p:spPr bwMode="auto">
          <a:xfrm>
            <a:off x="1066800" y="477838"/>
            <a:ext cx="6858000" cy="554196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16740" name="Text Box 4"/>
          <p:cNvSpPr txBox="1">
            <a:spLocks noChangeArrowheads="1"/>
          </p:cNvSpPr>
          <p:nvPr/>
        </p:nvSpPr>
        <p:spPr bwMode="auto">
          <a:xfrm>
            <a:off x="3048000" y="457200"/>
            <a:ext cx="7683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Plasmid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isolated</a:t>
            </a:r>
          </a:p>
        </p:txBody>
      </p:sp>
      <p:sp>
        <p:nvSpPr>
          <p:cNvPr id="116741" name="Oval 5"/>
          <p:cNvSpPr>
            <a:spLocks noChangeArrowheads="1"/>
          </p:cNvSpPr>
          <p:nvPr/>
        </p:nvSpPr>
        <p:spPr bwMode="auto">
          <a:xfrm>
            <a:off x="2749550" y="422275"/>
            <a:ext cx="304800" cy="3048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endParaRPr lang="en-AU" altLang="en-US"/>
          </a:p>
        </p:txBody>
      </p:sp>
      <p:sp>
        <p:nvSpPr>
          <p:cNvPr id="116742" name="Text Box 6"/>
          <p:cNvSpPr txBox="1">
            <a:spLocks noChangeArrowheads="1"/>
          </p:cNvSpPr>
          <p:nvPr/>
        </p:nvSpPr>
        <p:spPr bwMode="auto">
          <a:xfrm>
            <a:off x="2749550" y="422275"/>
            <a:ext cx="304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US" altLang="en-US" sz="1300" b="1">
                <a:solidFill>
                  <a:schemeClr val="bg1"/>
                </a:solidFill>
                <a:latin typeface="Arial" charset="0"/>
              </a:rPr>
              <a:t>1</a:t>
            </a:r>
          </a:p>
        </p:txBody>
      </p:sp>
      <p:sp>
        <p:nvSpPr>
          <p:cNvPr id="116743" name="Text Box 7"/>
          <p:cNvSpPr txBox="1">
            <a:spLocks noChangeArrowheads="1"/>
          </p:cNvSpPr>
          <p:nvPr/>
        </p:nvSpPr>
        <p:spPr bwMode="auto">
          <a:xfrm>
            <a:off x="1516063" y="457200"/>
            <a:ext cx="930275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Bacterium</a:t>
            </a:r>
          </a:p>
        </p:txBody>
      </p:sp>
      <p:sp>
        <p:nvSpPr>
          <p:cNvPr id="116744" name="Text Box 8"/>
          <p:cNvSpPr txBox="1">
            <a:spLocks noChangeArrowheads="1"/>
          </p:cNvSpPr>
          <p:nvPr/>
        </p:nvSpPr>
        <p:spPr bwMode="auto">
          <a:xfrm>
            <a:off x="838200" y="1406525"/>
            <a:ext cx="1141413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Bacterial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chromosome</a:t>
            </a:r>
          </a:p>
        </p:txBody>
      </p:sp>
      <p:sp>
        <p:nvSpPr>
          <p:cNvPr id="116745" name="Text Box 9"/>
          <p:cNvSpPr txBox="1">
            <a:spLocks noChangeArrowheads="1"/>
          </p:cNvSpPr>
          <p:nvPr/>
        </p:nvSpPr>
        <p:spPr bwMode="auto">
          <a:xfrm>
            <a:off x="1981200" y="1447800"/>
            <a:ext cx="7683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Plasmid</a:t>
            </a:r>
          </a:p>
        </p:txBody>
      </p:sp>
      <p:sp>
        <p:nvSpPr>
          <p:cNvPr id="116746" name="Line 10"/>
          <p:cNvSpPr>
            <a:spLocks noChangeShapeType="1"/>
          </p:cNvSpPr>
          <p:nvPr/>
        </p:nvSpPr>
        <p:spPr bwMode="auto">
          <a:xfrm flipH="1">
            <a:off x="1524000" y="1219200"/>
            <a:ext cx="228600" cy="2286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16747" name="Line 11"/>
          <p:cNvSpPr>
            <a:spLocks noChangeShapeType="1"/>
          </p:cNvSpPr>
          <p:nvPr/>
        </p:nvSpPr>
        <p:spPr bwMode="auto">
          <a:xfrm>
            <a:off x="2209800" y="1143000"/>
            <a:ext cx="76200" cy="3048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16748" name="Oval 12"/>
          <p:cNvSpPr>
            <a:spLocks noChangeArrowheads="1"/>
          </p:cNvSpPr>
          <p:nvPr/>
        </p:nvSpPr>
        <p:spPr bwMode="auto">
          <a:xfrm>
            <a:off x="5943600" y="609600"/>
            <a:ext cx="304800" cy="3048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endParaRPr lang="en-AU" altLang="en-US"/>
          </a:p>
        </p:txBody>
      </p:sp>
      <p:sp>
        <p:nvSpPr>
          <p:cNvPr id="116749" name="Text Box 13"/>
          <p:cNvSpPr txBox="1">
            <a:spLocks noChangeArrowheads="1"/>
          </p:cNvSpPr>
          <p:nvPr/>
        </p:nvSpPr>
        <p:spPr bwMode="auto">
          <a:xfrm>
            <a:off x="5943600" y="609600"/>
            <a:ext cx="304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US" altLang="en-US" sz="1300" b="1">
                <a:solidFill>
                  <a:schemeClr val="bg1"/>
                </a:solidFill>
                <a:latin typeface="Arial" charset="0"/>
              </a:rPr>
              <a:t>2</a:t>
            </a:r>
          </a:p>
        </p:txBody>
      </p:sp>
      <p:sp>
        <p:nvSpPr>
          <p:cNvPr id="116750" name="Text Box 14"/>
          <p:cNvSpPr txBox="1">
            <a:spLocks noChangeArrowheads="1"/>
          </p:cNvSpPr>
          <p:nvPr/>
        </p:nvSpPr>
        <p:spPr bwMode="auto">
          <a:xfrm>
            <a:off x="5868988" y="873125"/>
            <a:ext cx="760412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DNA</a:t>
            </a:r>
          </a:p>
          <a:p>
            <a:pPr algn="l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isolated</a:t>
            </a:r>
          </a:p>
        </p:txBody>
      </p:sp>
      <p:sp>
        <p:nvSpPr>
          <p:cNvPr id="116751" name="Text Box 15"/>
          <p:cNvSpPr txBox="1">
            <a:spLocks noChangeArrowheads="1"/>
          </p:cNvSpPr>
          <p:nvPr/>
        </p:nvSpPr>
        <p:spPr bwMode="auto">
          <a:xfrm>
            <a:off x="6477000" y="381000"/>
            <a:ext cx="1674813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Cell containing gene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of interest</a:t>
            </a:r>
          </a:p>
        </p:txBody>
      </p:sp>
      <p:sp>
        <p:nvSpPr>
          <p:cNvPr id="116752" name="Text Box 16"/>
          <p:cNvSpPr txBox="1">
            <a:spLocks noChangeArrowheads="1"/>
          </p:cNvSpPr>
          <p:nvPr/>
        </p:nvSpPr>
        <p:spPr bwMode="auto">
          <a:xfrm>
            <a:off x="7010400" y="1828800"/>
            <a:ext cx="5143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DNA</a:t>
            </a:r>
          </a:p>
        </p:txBody>
      </p:sp>
      <p:sp>
        <p:nvSpPr>
          <p:cNvPr id="116753" name="Text Box 17"/>
          <p:cNvSpPr txBox="1">
            <a:spLocks noChangeArrowheads="1"/>
          </p:cNvSpPr>
          <p:nvPr/>
        </p:nvSpPr>
        <p:spPr bwMode="auto">
          <a:xfrm>
            <a:off x="5791200" y="1676400"/>
            <a:ext cx="75088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Gene of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interest</a:t>
            </a:r>
          </a:p>
        </p:txBody>
      </p:sp>
      <p:sp>
        <p:nvSpPr>
          <p:cNvPr id="116754" name="Line 18"/>
          <p:cNvSpPr>
            <a:spLocks noChangeShapeType="1"/>
          </p:cNvSpPr>
          <p:nvPr/>
        </p:nvSpPr>
        <p:spPr bwMode="auto">
          <a:xfrm>
            <a:off x="7010400" y="1447800"/>
            <a:ext cx="228600" cy="3810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16755" name="Line 19"/>
          <p:cNvSpPr>
            <a:spLocks noChangeShapeType="1"/>
          </p:cNvSpPr>
          <p:nvPr/>
        </p:nvSpPr>
        <p:spPr bwMode="auto">
          <a:xfrm>
            <a:off x="5486400" y="1828800"/>
            <a:ext cx="3048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16756" name="Oval 20"/>
          <p:cNvSpPr>
            <a:spLocks noChangeArrowheads="1"/>
          </p:cNvSpPr>
          <p:nvPr/>
        </p:nvSpPr>
        <p:spPr bwMode="auto">
          <a:xfrm>
            <a:off x="4173538" y="1143000"/>
            <a:ext cx="304800" cy="3048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endParaRPr lang="en-AU" altLang="en-US"/>
          </a:p>
        </p:txBody>
      </p:sp>
      <p:sp>
        <p:nvSpPr>
          <p:cNvPr id="116757" name="Text Box 21"/>
          <p:cNvSpPr txBox="1">
            <a:spLocks noChangeArrowheads="1"/>
          </p:cNvSpPr>
          <p:nvPr/>
        </p:nvSpPr>
        <p:spPr bwMode="auto">
          <a:xfrm>
            <a:off x="4173538" y="1143000"/>
            <a:ext cx="304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US" altLang="en-US" sz="1300" b="1">
                <a:solidFill>
                  <a:schemeClr val="bg1"/>
                </a:solidFill>
                <a:latin typeface="Arial" charset="0"/>
              </a:rPr>
              <a:t>3</a:t>
            </a:r>
          </a:p>
        </p:txBody>
      </p:sp>
      <p:sp>
        <p:nvSpPr>
          <p:cNvPr id="116758" name="Text Box 22"/>
          <p:cNvSpPr txBox="1">
            <a:spLocks noChangeArrowheads="1"/>
          </p:cNvSpPr>
          <p:nvPr/>
        </p:nvSpPr>
        <p:spPr bwMode="auto">
          <a:xfrm>
            <a:off x="4402138" y="1177925"/>
            <a:ext cx="1084262" cy="5873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Gene 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inserted 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into plasmid</a:t>
            </a:r>
          </a:p>
        </p:txBody>
      </p:sp>
      <p:sp>
        <p:nvSpPr>
          <p:cNvPr id="116759" name="Text Box 23"/>
          <p:cNvSpPr txBox="1">
            <a:spLocks noChangeArrowheads="1"/>
          </p:cNvSpPr>
          <p:nvPr/>
        </p:nvSpPr>
        <p:spPr bwMode="auto">
          <a:xfrm>
            <a:off x="2514600" y="1828800"/>
            <a:ext cx="1522413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Recombinant DNA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(plasmid)</a:t>
            </a:r>
          </a:p>
        </p:txBody>
      </p:sp>
      <p:sp>
        <p:nvSpPr>
          <p:cNvPr id="116760" name="Oval 24"/>
          <p:cNvSpPr>
            <a:spLocks noChangeArrowheads="1"/>
          </p:cNvSpPr>
          <p:nvPr/>
        </p:nvSpPr>
        <p:spPr bwMode="auto">
          <a:xfrm>
            <a:off x="4495800" y="2362200"/>
            <a:ext cx="304800" cy="3048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endParaRPr lang="en-AU" altLang="en-US"/>
          </a:p>
        </p:txBody>
      </p:sp>
      <p:sp>
        <p:nvSpPr>
          <p:cNvPr id="116761" name="Text Box 25"/>
          <p:cNvSpPr txBox="1">
            <a:spLocks noChangeArrowheads="1"/>
          </p:cNvSpPr>
          <p:nvPr/>
        </p:nvSpPr>
        <p:spPr bwMode="auto">
          <a:xfrm>
            <a:off x="4495800" y="2362200"/>
            <a:ext cx="304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US" altLang="en-US" sz="1300" b="1">
                <a:solidFill>
                  <a:schemeClr val="bg1"/>
                </a:solidFill>
                <a:latin typeface="Arial" charset="0"/>
              </a:rPr>
              <a:t>4</a:t>
            </a:r>
          </a:p>
        </p:txBody>
      </p:sp>
      <p:sp>
        <p:nvSpPr>
          <p:cNvPr id="116762" name="Text Box 26"/>
          <p:cNvSpPr txBox="1">
            <a:spLocks noChangeArrowheads="1"/>
          </p:cNvSpPr>
          <p:nvPr/>
        </p:nvSpPr>
        <p:spPr bwMode="auto">
          <a:xfrm>
            <a:off x="4799013" y="2397125"/>
            <a:ext cx="1373187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Plasmid put into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bacterial cell</a:t>
            </a:r>
          </a:p>
        </p:txBody>
      </p:sp>
      <p:sp>
        <p:nvSpPr>
          <p:cNvPr id="116763" name="Text Box 27"/>
          <p:cNvSpPr txBox="1">
            <a:spLocks noChangeArrowheads="1"/>
          </p:cNvSpPr>
          <p:nvPr/>
        </p:nvSpPr>
        <p:spPr bwMode="auto">
          <a:xfrm>
            <a:off x="2508250" y="2895600"/>
            <a:ext cx="114935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Recombinant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bacterium</a:t>
            </a:r>
          </a:p>
        </p:txBody>
      </p:sp>
      <p:sp>
        <p:nvSpPr>
          <p:cNvPr id="116764" name="Oval 28"/>
          <p:cNvSpPr>
            <a:spLocks noChangeArrowheads="1"/>
          </p:cNvSpPr>
          <p:nvPr/>
        </p:nvSpPr>
        <p:spPr bwMode="auto">
          <a:xfrm>
            <a:off x="4497388" y="3394075"/>
            <a:ext cx="304800" cy="304800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endParaRPr lang="en-AU" altLang="en-US"/>
          </a:p>
        </p:txBody>
      </p:sp>
      <p:sp>
        <p:nvSpPr>
          <p:cNvPr id="116765" name="Text Box 29"/>
          <p:cNvSpPr txBox="1">
            <a:spLocks noChangeArrowheads="1"/>
          </p:cNvSpPr>
          <p:nvPr/>
        </p:nvSpPr>
        <p:spPr bwMode="auto">
          <a:xfrm>
            <a:off x="4497388" y="3394075"/>
            <a:ext cx="304800" cy="2905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US" altLang="en-US" sz="1300" b="1">
                <a:solidFill>
                  <a:schemeClr val="bg1"/>
                </a:solidFill>
                <a:latin typeface="Arial" charset="0"/>
              </a:rPr>
              <a:t>5</a:t>
            </a:r>
          </a:p>
        </p:txBody>
      </p:sp>
      <p:sp>
        <p:nvSpPr>
          <p:cNvPr id="116766" name="Text Box 30"/>
          <p:cNvSpPr txBox="1">
            <a:spLocks noChangeArrowheads="1"/>
          </p:cNvSpPr>
          <p:nvPr/>
        </p:nvSpPr>
        <p:spPr bwMode="auto">
          <a:xfrm>
            <a:off x="2514600" y="3962400"/>
            <a:ext cx="12763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Copies of gene</a:t>
            </a:r>
          </a:p>
        </p:txBody>
      </p:sp>
      <p:sp>
        <p:nvSpPr>
          <p:cNvPr id="116767" name="Text Box 31"/>
          <p:cNvSpPr txBox="1">
            <a:spLocks noChangeArrowheads="1"/>
          </p:cNvSpPr>
          <p:nvPr/>
        </p:nvSpPr>
        <p:spPr bwMode="auto">
          <a:xfrm>
            <a:off x="4954588" y="3962400"/>
            <a:ext cx="1436687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Copies of protein</a:t>
            </a:r>
          </a:p>
        </p:txBody>
      </p:sp>
      <p:sp>
        <p:nvSpPr>
          <p:cNvPr id="116768" name="Text Box 32"/>
          <p:cNvSpPr txBox="1">
            <a:spLocks noChangeArrowheads="1"/>
          </p:cNvSpPr>
          <p:nvPr/>
        </p:nvSpPr>
        <p:spPr bwMode="auto">
          <a:xfrm>
            <a:off x="3776663" y="4876800"/>
            <a:ext cx="1174750" cy="257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Clones of cell</a:t>
            </a:r>
          </a:p>
        </p:txBody>
      </p:sp>
      <p:sp>
        <p:nvSpPr>
          <p:cNvPr id="116769" name="Text Box 33"/>
          <p:cNvSpPr txBox="1">
            <a:spLocks noChangeArrowheads="1"/>
          </p:cNvSpPr>
          <p:nvPr/>
        </p:nvSpPr>
        <p:spPr bwMode="auto">
          <a:xfrm>
            <a:off x="966788" y="4876800"/>
            <a:ext cx="1166812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Gene for pest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resistance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inserted into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plants</a:t>
            </a:r>
          </a:p>
        </p:txBody>
      </p:sp>
      <p:sp>
        <p:nvSpPr>
          <p:cNvPr id="116770" name="Text Box 34"/>
          <p:cNvSpPr txBox="1">
            <a:spLocks noChangeArrowheads="1"/>
          </p:cNvSpPr>
          <p:nvPr/>
        </p:nvSpPr>
        <p:spPr bwMode="auto">
          <a:xfrm>
            <a:off x="2057400" y="5867400"/>
            <a:ext cx="22860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Gene used to alter bacteria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for cleaning up toxic waste</a:t>
            </a:r>
          </a:p>
        </p:txBody>
      </p:sp>
      <p:sp>
        <p:nvSpPr>
          <p:cNvPr id="116771" name="Text Box 35"/>
          <p:cNvSpPr txBox="1">
            <a:spLocks noChangeArrowheads="1"/>
          </p:cNvSpPr>
          <p:nvPr/>
        </p:nvSpPr>
        <p:spPr bwMode="auto">
          <a:xfrm>
            <a:off x="5029200" y="5867400"/>
            <a:ext cx="2514600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Protein used to dissolve blood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clots in heart attack therapy</a:t>
            </a:r>
          </a:p>
        </p:txBody>
      </p:sp>
      <p:sp>
        <p:nvSpPr>
          <p:cNvPr id="116772" name="Text Box 36"/>
          <p:cNvSpPr txBox="1">
            <a:spLocks noChangeArrowheads="1"/>
          </p:cNvSpPr>
          <p:nvPr/>
        </p:nvSpPr>
        <p:spPr bwMode="auto">
          <a:xfrm>
            <a:off x="6553200" y="4876800"/>
            <a:ext cx="1387475" cy="752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Protein used to 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make snow form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at higher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temperature</a:t>
            </a:r>
          </a:p>
        </p:txBody>
      </p:sp>
      <p:sp>
        <p:nvSpPr>
          <p:cNvPr id="116773" name="Text Box 37"/>
          <p:cNvSpPr txBox="1">
            <a:spLocks noChangeArrowheads="1"/>
          </p:cNvSpPr>
          <p:nvPr/>
        </p:nvSpPr>
        <p:spPr bwMode="auto">
          <a:xfrm>
            <a:off x="4756150" y="3429000"/>
            <a:ext cx="1563688" cy="422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200" b="1">
                <a:latin typeface="Arial" charset="0"/>
              </a:rPr>
              <a:t>Cell multiplies with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gene of interest</a:t>
            </a:r>
          </a:p>
        </p:txBody>
      </p:sp>
    </p:spTree>
    <p:extLst>
      <p:ext uri="{BB962C8B-B14F-4D97-AF65-F5344CB8AC3E}">
        <p14:creationId xmlns:p14="http://schemas.microsoft.com/office/powerpoint/2010/main" val="42317027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3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4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6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2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9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9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6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6740" grpId="0" autoUpdateAnimBg="0"/>
      <p:bldP spid="116741" grpId="0" animBg="1"/>
      <p:bldP spid="116742" grpId="0" autoUpdateAnimBg="0"/>
      <p:bldP spid="116743" grpId="0" autoUpdateAnimBg="0"/>
      <p:bldP spid="116744" grpId="0" autoUpdateAnimBg="0"/>
      <p:bldP spid="116745" grpId="0" autoUpdateAnimBg="0"/>
      <p:bldP spid="116746" grpId="0" animBg="1"/>
      <p:bldP spid="116747" grpId="0" animBg="1"/>
      <p:bldP spid="116748" grpId="0" animBg="1"/>
      <p:bldP spid="116749" grpId="0" autoUpdateAnimBg="0"/>
      <p:bldP spid="116750" grpId="0" autoUpdateAnimBg="0"/>
      <p:bldP spid="116751" grpId="0" autoUpdateAnimBg="0"/>
      <p:bldP spid="116752" grpId="0" autoUpdateAnimBg="0"/>
      <p:bldP spid="116753" grpId="0" autoUpdateAnimBg="0"/>
      <p:bldP spid="116754" grpId="0" animBg="1"/>
      <p:bldP spid="116755" grpId="0" animBg="1"/>
      <p:bldP spid="116756" grpId="0" animBg="1"/>
      <p:bldP spid="116757" grpId="0" autoUpdateAnimBg="0"/>
      <p:bldP spid="116758" grpId="0" autoUpdateAnimBg="0"/>
      <p:bldP spid="116759" grpId="0" autoUpdateAnimBg="0"/>
      <p:bldP spid="116760" grpId="0" animBg="1"/>
      <p:bldP spid="116761" grpId="0" autoUpdateAnimBg="0"/>
      <p:bldP spid="116762" grpId="0" autoUpdateAnimBg="0"/>
      <p:bldP spid="116763" grpId="0" autoUpdateAnimBg="0"/>
      <p:bldP spid="116764" grpId="0" animBg="1"/>
      <p:bldP spid="116765" grpId="0" autoUpdateAnimBg="0"/>
      <p:bldP spid="116766" grpId="0" autoUpdateAnimBg="0"/>
      <p:bldP spid="116767" grpId="0" autoUpdateAnimBg="0"/>
      <p:bldP spid="116768" grpId="0" autoUpdateAnimBg="0"/>
      <p:bldP spid="116769" grpId="0" autoUpdateAnimBg="0"/>
      <p:bldP spid="116770" grpId="0" autoUpdateAnimBg="0"/>
      <p:bldP spid="116771" grpId="0" autoUpdateAnimBg="0"/>
      <p:bldP spid="116772" grpId="0" autoUpdateAnimBg="0"/>
      <p:bldP spid="116773" grpId="0" autoUpdateAnimBg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2" name="Rectangle 4"/>
          <p:cNvSpPr>
            <a:spLocks noGrp="1" noChangeArrowheads="1"/>
          </p:cNvSpPr>
          <p:nvPr>
            <p:ph type="title"/>
          </p:nvPr>
        </p:nvSpPr>
        <p:spPr>
          <a:xfrm>
            <a:off x="52996" y="462066"/>
            <a:ext cx="7620000" cy="1143000"/>
          </a:xfrm>
        </p:spPr>
        <p:txBody>
          <a:bodyPr/>
          <a:lstStyle/>
          <a:p>
            <a:pPr marL="915988" indent="-915988" eaLnBrk="1" hangingPunct="1"/>
            <a:r>
              <a:rPr lang="en-US" altLang="ko-KR" dirty="0">
                <a:ea typeface="굴림" charset="-127"/>
              </a:rPr>
              <a:t>Genes can be cloned in</a:t>
            </a:r>
            <a:br>
              <a:rPr lang="en-US" altLang="ko-KR" dirty="0">
                <a:ea typeface="굴림" charset="-127"/>
              </a:rPr>
            </a:br>
            <a:r>
              <a:rPr lang="en-US" altLang="ko-KR" dirty="0">
                <a:ea typeface="굴림" charset="-127"/>
              </a:rPr>
              <a:t>recombinant </a:t>
            </a:r>
            <a:br>
              <a:rPr lang="en-US" altLang="ko-KR" dirty="0">
                <a:ea typeface="굴림" charset="-127"/>
              </a:rPr>
            </a:br>
            <a:r>
              <a:rPr lang="en-US" altLang="ko-KR" dirty="0">
                <a:ea typeface="굴림" charset="-127"/>
              </a:rPr>
              <a:t>plasmids</a:t>
            </a:r>
            <a:endParaRPr lang="en-US" altLang="ko-KR" b="0" dirty="0">
              <a:solidFill>
                <a:schemeClr val="tx1"/>
              </a:solidFill>
              <a:ea typeface="굴림" charset="-127"/>
            </a:endParaRPr>
          </a:p>
        </p:txBody>
      </p:sp>
      <p:sp>
        <p:nvSpPr>
          <p:cNvPr id="118786" name="Rectangle 2"/>
          <p:cNvSpPr>
            <a:spLocks noGrp="1" noChangeArrowheads="1"/>
          </p:cNvSpPr>
          <p:nvPr>
            <p:ph sz="half" idx="1"/>
          </p:nvPr>
        </p:nvSpPr>
        <p:spPr>
          <a:xfrm>
            <a:off x="323666" y="2264950"/>
            <a:ext cx="3657600" cy="4590288"/>
          </a:xfrm>
        </p:spPr>
        <p:txBody>
          <a:bodyPr/>
          <a:lstStyle/>
          <a:p>
            <a:pPr eaLnBrk="1" hangingPunct="1"/>
            <a:r>
              <a:rPr lang="en-US" altLang="ko-KR" dirty="0">
                <a:ea typeface="굴림" charset="-127"/>
              </a:rPr>
              <a:t>Bacteria take the recombinant plasmids and reproduce</a:t>
            </a:r>
          </a:p>
          <a:p>
            <a:pPr eaLnBrk="1" hangingPunct="1"/>
            <a:r>
              <a:rPr lang="en-US" altLang="ko-KR" dirty="0">
                <a:ea typeface="굴림" charset="-127"/>
              </a:rPr>
              <a:t>This clones the plasmids and the genes they carry</a:t>
            </a:r>
          </a:p>
          <a:p>
            <a:pPr lvl="1" eaLnBrk="1" hangingPunct="1"/>
            <a:r>
              <a:rPr lang="en-US" altLang="ko-KR" dirty="0">
                <a:ea typeface="굴림" charset="-127"/>
              </a:rPr>
              <a:t>Products of the gene can then be harvested</a:t>
            </a:r>
          </a:p>
        </p:txBody>
      </p:sp>
      <p:sp>
        <p:nvSpPr>
          <p:cNvPr id="2" name="Content Placeholder 1"/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AU" dirty="0"/>
          </a:p>
        </p:txBody>
      </p:sp>
      <p:pic>
        <p:nvPicPr>
          <p:cNvPr id="6" name="Picture 3" descr="12-05-L3-GeneCloning-NL.gif                                    00000029BiologyConcepts4eCIPL_8-15     B9599A75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692" b="8911"/>
          <a:stretch>
            <a:fillRect/>
          </a:stretch>
        </p:blipFill>
        <p:spPr bwMode="auto">
          <a:xfrm>
            <a:off x="4473390" y="784225"/>
            <a:ext cx="3924300" cy="5715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6033903" y="555625"/>
            <a:ext cx="12430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000" b="1">
                <a:latin typeface="Arial" charset="0"/>
              </a:rPr>
              <a:t>Isolate DNA</a:t>
            </a:r>
            <a:br>
              <a:rPr lang="en-US" altLang="en-US" sz="1000" b="1">
                <a:latin typeface="Arial" charset="0"/>
              </a:rPr>
            </a:br>
            <a:r>
              <a:rPr lang="en-US" altLang="en-US" sz="1000" b="1">
                <a:latin typeface="Arial" charset="0"/>
              </a:rPr>
              <a:t>from two sources</a:t>
            </a:r>
          </a:p>
        </p:txBody>
      </p:sp>
      <p:sp>
        <p:nvSpPr>
          <p:cNvPr id="8" name="Oval 5"/>
          <p:cNvSpPr>
            <a:spLocks noChangeArrowheads="1"/>
          </p:cNvSpPr>
          <p:nvPr/>
        </p:nvSpPr>
        <p:spPr bwMode="auto">
          <a:xfrm>
            <a:off x="5875153" y="555625"/>
            <a:ext cx="234950" cy="2365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70000"/>
              </a:lnSpc>
            </a:pPr>
            <a:endParaRPr lang="en-US" altLang="en-US"/>
          </a:p>
        </p:txBody>
      </p:sp>
      <p:sp>
        <p:nvSpPr>
          <p:cNvPr id="9" name="Text Box 6"/>
          <p:cNvSpPr txBox="1">
            <a:spLocks noChangeArrowheads="1"/>
          </p:cNvSpPr>
          <p:nvPr/>
        </p:nvSpPr>
        <p:spPr bwMode="auto">
          <a:xfrm>
            <a:off x="5875153" y="555625"/>
            <a:ext cx="23495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100" b="1">
                <a:solidFill>
                  <a:schemeClr val="bg1"/>
                </a:solidFill>
                <a:latin typeface="Arial" charset="0"/>
              </a:rPr>
              <a:t>1</a:t>
            </a:r>
          </a:p>
        </p:txBody>
      </p:sp>
      <p:sp>
        <p:nvSpPr>
          <p:cNvPr id="10" name="Text Box 7"/>
          <p:cNvSpPr txBox="1">
            <a:spLocks noChangeArrowheads="1"/>
          </p:cNvSpPr>
          <p:nvPr/>
        </p:nvSpPr>
        <p:spPr bwMode="auto">
          <a:xfrm>
            <a:off x="4992503" y="631825"/>
            <a:ext cx="558800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000" b="1" i="1">
                <a:latin typeface="Arial" charset="0"/>
              </a:rPr>
              <a:t>E. coli</a:t>
            </a:r>
          </a:p>
        </p:txBody>
      </p:sp>
      <p:sp>
        <p:nvSpPr>
          <p:cNvPr id="11" name="Text Box 8"/>
          <p:cNvSpPr txBox="1">
            <a:spLocks noChangeArrowheads="1"/>
          </p:cNvSpPr>
          <p:nvPr/>
        </p:nvSpPr>
        <p:spPr bwMode="auto">
          <a:xfrm>
            <a:off x="6033903" y="936625"/>
            <a:ext cx="1090612" cy="7747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tabLst>
                <a:tab pos="285750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tabLst>
                <a:tab pos="285750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tabLst>
                <a:tab pos="285750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tabLst>
                <a:tab pos="285750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tabLst>
                <a:tab pos="285750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tabLst>
                <a:tab pos="285750" algn="l"/>
              </a:tabLs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000" b="1">
                <a:latin typeface="Arial" charset="0"/>
              </a:rPr>
              <a:t>Cut both </a:t>
            </a:r>
            <a:br>
              <a:rPr lang="en-US" altLang="en-US" sz="1000" b="1">
                <a:latin typeface="Arial" charset="0"/>
              </a:rPr>
            </a:br>
            <a:r>
              <a:rPr lang="en-US" altLang="en-US" sz="1000" b="1">
                <a:latin typeface="Arial" charset="0"/>
              </a:rPr>
              <a:t>DNAs with </a:t>
            </a:r>
            <a:br>
              <a:rPr lang="en-US" altLang="en-US" sz="1000" b="1">
                <a:latin typeface="Arial" charset="0"/>
              </a:rPr>
            </a:br>
            <a:r>
              <a:rPr lang="en-US" altLang="en-US" sz="1000" b="1">
                <a:latin typeface="Arial" charset="0"/>
              </a:rPr>
              <a:t>the same</a:t>
            </a:r>
            <a:br>
              <a:rPr lang="en-US" altLang="en-US" sz="1000" b="1">
                <a:latin typeface="Arial" charset="0"/>
              </a:rPr>
            </a:br>
            <a:r>
              <a:rPr lang="en-US" altLang="en-US" sz="1000" b="1">
                <a:latin typeface="Arial" charset="0"/>
              </a:rPr>
              <a:t>	restriction</a:t>
            </a:r>
          </a:p>
          <a:p>
            <a:pPr algn="l">
              <a:lnSpc>
                <a:spcPct val="90000"/>
              </a:lnSpc>
            </a:pPr>
            <a:r>
              <a:rPr lang="en-US" altLang="en-US" sz="1000" b="1">
                <a:latin typeface="Arial" charset="0"/>
              </a:rPr>
              <a:t>	enzyme</a:t>
            </a:r>
          </a:p>
        </p:txBody>
      </p:sp>
      <p:sp>
        <p:nvSpPr>
          <p:cNvPr id="12" name="Oval 9"/>
          <p:cNvSpPr>
            <a:spLocks noChangeArrowheads="1"/>
          </p:cNvSpPr>
          <p:nvPr/>
        </p:nvSpPr>
        <p:spPr bwMode="auto">
          <a:xfrm>
            <a:off x="5875153" y="936625"/>
            <a:ext cx="234950" cy="2365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70000"/>
              </a:lnSpc>
            </a:pPr>
            <a:endParaRPr lang="en-US" altLang="en-US"/>
          </a:p>
        </p:txBody>
      </p:sp>
      <p:sp>
        <p:nvSpPr>
          <p:cNvPr id="13" name="Text Box 10"/>
          <p:cNvSpPr txBox="1">
            <a:spLocks noChangeArrowheads="1"/>
          </p:cNvSpPr>
          <p:nvPr/>
        </p:nvSpPr>
        <p:spPr bwMode="auto">
          <a:xfrm>
            <a:off x="5875153" y="936625"/>
            <a:ext cx="23495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100" b="1">
                <a:solidFill>
                  <a:schemeClr val="bg1"/>
                </a:solidFill>
                <a:latin typeface="Arial" charset="0"/>
              </a:rPr>
              <a:t>2</a:t>
            </a:r>
          </a:p>
        </p:txBody>
      </p:sp>
      <p:sp>
        <p:nvSpPr>
          <p:cNvPr id="14" name="Text Box 11"/>
          <p:cNvSpPr txBox="1">
            <a:spLocks noChangeArrowheads="1"/>
          </p:cNvSpPr>
          <p:nvPr/>
        </p:nvSpPr>
        <p:spPr bwMode="auto">
          <a:xfrm>
            <a:off x="4936940" y="1241425"/>
            <a:ext cx="6715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000" b="1">
                <a:latin typeface="Arial" charset="0"/>
              </a:rPr>
              <a:t>Plasmid</a:t>
            </a:r>
          </a:p>
        </p:txBody>
      </p:sp>
      <p:sp>
        <p:nvSpPr>
          <p:cNvPr id="15" name="Line 12"/>
          <p:cNvSpPr>
            <a:spLocks noChangeShapeType="1"/>
          </p:cNvSpPr>
          <p:nvPr/>
        </p:nvSpPr>
        <p:spPr bwMode="auto">
          <a:xfrm flipV="1">
            <a:off x="5368740" y="1089025"/>
            <a:ext cx="76200" cy="1524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6" name="Text Box 13"/>
          <p:cNvSpPr txBox="1">
            <a:spLocks noChangeArrowheads="1"/>
          </p:cNvSpPr>
          <p:nvPr/>
        </p:nvSpPr>
        <p:spPr bwMode="auto">
          <a:xfrm>
            <a:off x="7175315" y="555625"/>
            <a:ext cx="862013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000" b="1">
                <a:latin typeface="Arial" charset="0"/>
              </a:rPr>
              <a:t>Human cell</a:t>
            </a:r>
          </a:p>
        </p:txBody>
      </p:sp>
      <p:sp>
        <p:nvSpPr>
          <p:cNvPr id="17" name="Text Box 14"/>
          <p:cNvSpPr txBox="1">
            <a:spLocks noChangeArrowheads="1"/>
          </p:cNvSpPr>
          <p:nvPr/>
        </p:nvSpPr>
        <p:spPr bwMode="auto">
          <a:xfrm>
            <a:off x="7443603" y="1393825"/>
            <a:ext cx="45878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000" b="1">
                <a:latin typeface="Arial" charset="0"/>
              </a:rPr>
              <a:t>DNA</a:t>
            </a:r>
          </a:p>
        </p:txBody>
      </p:sp>
      <p:sp>
        <p:nvSpPr>
          <p:cNvPr id="18" name="Line 15"/>
          <p:cNvSpPr>
            <a:spLocks noChangeShapeType="1"/>
          </p:cNvSpPr>
          <p:nvPr/>
        </p:nvSpPr>
        <p:spPr bwMode="auto">
          <a:xfrm flipH="1" flipV="1">
            <a:off x="7426140" y="1165225"/>
            <a:ext cx="152400" cy="2286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9" name="Text Box 16"/>
          <p:cNvSpPr txBox="1">
            <a:spLocks noChangeArrowheads="1"/>
          </p:cNvSpPr>
          <p:nvPr/>
        </p:nvSpPr>
        <p:spPr bwMode="auto">
          <a:xfrm>
            <a:off x="6732403" y="1698625"/>
            <a:ext cx="620712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>
              <a:lnSpc>
                <a:spcPct val="90000"/>
              </a:lnSpc>
            </a:pPr>
            <a:r>
              <a:rPr lang="en-US" altLang="en-US" sz="1000" b="1">
                <a:latin typeface="Arial" charset="0"/>
              </a:rPr>
              <a:t>Gene </a:t>
            </a:r>
            <a:r>
              <a:rPr lang="en-US" altLang="en-US" sz="1000" b="1" i="1">
                <a:latin typeface="Arial" charset="0"/>
              </a:rPr>
              <a:t>V</a:t>
            </a:r>
            <a:endParaRPr lang="en-US" altLang="en-US" sz="1000" b="1">
              <a:latin typeface="Arial" charset="0"/>
            </a:endParaRPr>
          </a:p>
        </p:txBody>
      </p:sp>
      <p:sp>
        <p:nvSpPr>
          <p:cNvPr id="20" name="Text Box 17"/>
          <p:cNvSpPr txBox="1">
            <a:spLocks noChangeArrowheads="1"/>
          </p:cNvSpPr>
          <p:nvPr/>
        </p:nvSpPr>
        <p:spPr bwMode="auto">
          <a:xfrm>
            <a:off x="6283140" y="1851025"/>
            <a:ext cx="890588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000" b="1">
                <a:latin typeface="Arial" charset="0"/>
              </a:rPr>
              <a:t>Sticky ends</a:t>
            </a:r>
          </a:p>
        </p:txBody>
      </p:sp>
      <p:sp>
        <p:nvSpPr>
          <p:cNvPr id="21" name="Line 18"/>
          <p:cNvSpPr>
            <a:spLocks noChangeShapeType="1"/>
          </p:cNvSpPr>
          <p:nvPr/>
        </p:nvSpPr>
        <p:spPr bwMode="auto">
          <a:xfrm flipH="1" flipV="1">
            <a:off x="6359340" y="1698625"/>
            <a:ext cx="228600" cy="1524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2" name="Line 19"/>
          <p:cNvSpPr>
            <a:spLocks noChangeShapeType="1"/>
          </p:cNvSpPr>
          <p:nvPr/>
        </p:nvSpPr>
        <p:spPr bwMode="auto">
          <a:xfrm flipV="1">
            <a:off x="6587940" y="1622425"/>
            <a:ext cx="381000" cy="2286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3" name="Text Box 20"/>
          <p:cNvSpPr txBox="1">
            <a:spLocks noChangeArrowheads="1"/>
          </p:cNvSpPr>
          <p:nvPr/>
        </p:nvSpPr>
        <p:spPr bwMode="auto">
          <a:xfrm>
            <a:off x="6643503" y="2155825"/>
            <a:ext cx="16033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000" b="1">
                <a:latin typeface="Arial" charset="0"/>
              </a:rPr>
              <a:t>Mix the DNAs; they join</a:t>
            </a:r>
            <a:br>
              <a:rPr lang="en-US" altLang="en-US" sz="1000" b="1">
                <a:latin typeface="Arial" charset="0"/>
              </a:rPr>
            </a:br>
            <a:r>
              <a:rPr lang="en-US" altLang="en-US" sz="1000" b="1">
                <a:latin typeface="Arial" charset="0"/>
              </a:rPr>
              <a:t>by base-pairing</a:t>
            </a:r>
          </a:p>
        </p:txBody>
      </p:sp>
      <p:sp>
        <p:nvSpPr>
          <p:cNvPr id="24" name="Oval 21"/>
          <p:cNvSpPr>
            <a:spLocks noChangeArrowheads="1"/>
          </p:cNvSpPr>
          <p:nvPr/>
        </p:nvSpPr>
        <p:spPr bwMode="auto">
          <a:xfrm>
            <a:off x="6484753" y="2155825"/>
            <a:ext cx="234950" cy="2365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70000"/>
              </a:lnSpc>
            </a:pPr>
            <a:endParaRPr lang="en-US" altLang="en-US"/>
          </a:p>
        </p:txBody>
      </p:sp>
      <p:sp>
        <p:nvSpPr>
          <p:cNvPr id="25" name="Text Box 22"/>
          <p:cNvSpPr txBox="1">
            <a:spLocks noChangeArrowheads="1"/>
          </p:cNvSpPr>
          <p:nvPr/>
        </p:nvSpPr>
        <p:spPr bwMode="auto">
          <a:xfrm>
            <a:off x="6484753" y="2155825"/>
            <a:ext cx="23495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100" b="1">
                <a:solidFill>
                  <a:schemeClr val="bg1"/>
                </a:solidFill>
                <a:latin typeface="Arial" charset="0"/>
              </a:rPr>
              <a:t>3</a:t>
            </a:r>
          </a:p>
        </p:txBody>
      </p:sp>
      <p:sp>
        <p:nvSpPr>
          <p:cNvPr id="26" name="Text Box 23"/>
          <p:cNvSpPr txBox="1">
            <a:spLocks noChangeArrowheads="1"/>
          </p:cNvSpPr>
          <p:nvPr/>
        </p:nvSpPr>
        <p:spPr bwMode="auto">
          <a:xfrm>
            <a:off x="6643503" y="3298825"/>
            <a:ext cx="1841500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000" b="1">
                <a:latin typeface="Arial" charset="0"/>
              </a:rPr>
              <a:t>Add DNA ligase</a:t>
            </a:r>
            <a:br>
              <a:rPr lang="en-US" altLang="en-US" sz="1000" b="1">
                <a:latin typeface="Arial" charset="0"/>
              </a:rPr>
            </a:br>
            <a:r>
              <a:rPr lang="en-US" altLang="en-US" sz="1000" b="1">
                <a:latin typeface="Arial" charset="0"/>
              </a:rPr>
              <a:t>to bond the DNA covalently</a:t>
            </a:r>
          </a:p>
        </p:txBody>
      </p:sp>
      <p:sp>
        <p:nvSpPr>
          <p:cNvPr id="27" name="Oval 24"/>
          <p:cNvSpPr>
            <a:spLocks noChangeArrowheads="1"/>
          </p:cNvSpPr>
          <p:nvPr/>
        </p:nvSpPr>
        <p:spPr bwMode="auto">
          <a:xfrm>
            <a:off x="6484753" y="3298825"/>
            <a:ext cx="234950" cy="2365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70000"/>
              </a:lnSpc>
            </a:pPr>
            <a:endParaRPr lang="en-US" altLang="en-US"/>
          </a:p>
        </p:txBody>
      </p:sp>
      <p:sp>
        <p:nvSpPr>
          <p:cNvPr id="28" name="Text Box 25"/>
          <p:cNvSpPr txBox="1">
            <a:spLocks noChangeArrowheads="1"/>
          </p:cNvSpPr>
          <p:nvPr/>
        </p:nvSpPr>
        <p:spPr bwMode="auto">
          <a:xfrm>
            <a:off x="6484753" y="3298825"/>
            <a:ext cx="23495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100" b="1">
                <a:solidFill>
                  <a:schemeClr val="bg1"/>
                </a:solidFill>
                <a:latin typeface="Arial" charset="0"/>
              </a:rPr>
              <a:t>4</a:t>
            </a:r>
          </a:p>
        </p:txBody>
      </p:sp>
      <p:sp>
        <p:nvSpPr>
          <p:cNvPr id="29" name="Text Box 26"/>
          <p:cNvSpPr txBox="1">
            <a:spLocks noChangeArrowheads="1"/>
          </p:cNvSpPr>
          <p:nvPr/>
        </p:nvSpPr>
        <p:spPr bwMode="auto">
          <a:xfrm>
            <a:off x="4530540" y="3908425"/>
            <a:ext cx="129857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000" b="1">
                <a:latin typeface="Arial" charset="0"/>
              </a:rPr>
              <a:t>Recombinant DNA</a:t>
            </a:r>
            <a:br>
              <a:rPr lang="en-US" altLang="en-US" sz="1000" b="1">
                <a:latin typeface="Arial" charset="0"/>
              </a:rPr>
            </a:br>
            <a:r>
              <a:rPr lang="en-US" altLang="en-US" sz="1000" b="1">
                <a:latin typeface="Arial" charset="0"/>
              </a:rPr>
              <a:t>plasmid</a:t>
            </a:r>
          </a:p>
        </p:txBody>
      </p:sp>
      <p:sp>
        <p:nvSpPr>
          <p:cNvPr id="30" name="Text Box 27"/>
          <p:cNvSpPr txBox="1">
            <a:spLocks noChangeArrowheads="1"/>
          </p:cNvSpPr>
          <p:nvPr/>
        </p:nvSpPr>
        <p:spPr bwMode="auto">
          <a:xfrm>
            <a:off x="6892740" y="3968750"/>
            <a:ext cx="620713" cy="2444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/>
            <a:r>
              <a:rPr lang="en-US" altLang="en-US" sz="1000" b="1">
                <a:latin typeface="Arial" charset="0"/>
              </a:rPr>
              <a:t>Gene </a:t>
            </a:r>
            <a:r>
              <a:rPr lang="en-US" altLang="en-US" sz="1000" b="1" i="1">
                <a:latin typeface="Arial" charset="0"/>
              </a:rPr>
              <a:t>V</a:t>
            </a:r>
            <a:endParaRPr lang="en-US" altLang="en-US" sz="1000" b="1">
              <a:latin typeface="Arial" charset="0"/>
            </a:endParaRPr>
          </a:p>
        </p:txBody>
      </p:sp>
      <p:sp>
        <p:nvSpPr>
          <p:cNvPr id="31" name="Line 28"/>
          <p:cNvSpPr>
            <a:spLocks noChangeShapeType="1"/>
          </p:cNvSpPr>
          <p:nvPr/>
        </p:nvSpPr>
        <p:spPr bwMode="auto">
          <a:xfrm flipV="1">
            <a:off x="6664140" y="4060825"/>
            <a:ext cx="2286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32" name="Text Box 29"/>
          <p:cNvSpPr txBox="1">
            <a:spLocks noChangeArrowheads="1"/>
          </p:cNvSpPr>
          <p:nvPr/>
        </p:nvSpPr>
        <p:spPr bwMode="auto">
          <a:xfrm>
            <a:off x="6643503" y="4441825"/>
            <a:ext cx="1814512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000" b="1">
                <a:latin typeface="Arial" charset="0"/>
              </a:rPr>
              <a:t>Put plasmid into bacterium</a:t>
            </a:r>
            <a:br>
              <a:rPr lang="en-US" altLang="en-US" sz="1000" b="1">
                <a:latin typeface="Arial" charset="0"/>
              </a:rPr>
            </a:br>
            <a:r>
              <a:rPr lang="en-US" altLang="en-US" sz="1000" b="1">
                <a:latin typeface="Arial" charset="0"/>
              </a:rPr>
              <a:t>by transformation</a:t>
            </a:r>
          </a:p>
        </p:txBody>
      </p:sp>
      <p:sp>
        <p:nvSpPr>
          <p:cNvPr id="33" name="Oval 30"/>
          <p:cNvSpPr>
            <a:spLocks noChangeArrowheads="1"/>
          </p:cNvSpPr>
          <p:nvPr/>
        </p:nvSpPr>
        <p:spPr bwMode="auto">
          <a:xfrm>
            <a:off x="6484753" y="4441825"/>
            <a:ext cx="234950" cy="2365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70000"/>
              </a:lnSpc>
            </a:pPr>
            <a:endParaRPr lang="en-US" altLang="en-US"/>
          </a:p>
        </p:txBody>
      </p:sp>
      <p:sp>
        <p:nvSpPr>
          <p:cNvPr id="34" name="Text Box 31"/>
          <p:cNvSpPr txBox="1">
            <a:spLocks noChangeArrowheads="1"/>
          </p:cNvSpPr>
          <p:nvPr/>
        </p:nvSpPr>
        <p:spPr bwMode="auto">
          <a:xfrm>
            <a:off x="6484753" y="4441825"/>
            <a:ext cx="23495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100" b="1">
                <a:solidFill>
                  <a:schemeClr val="bg1"/>
                </a:solidFill>
                <a:latin typeface="Arial" charset="0"/>
              </a:rPr>
              <a:t>5</a:t>
            </a:r>
          </a:p>
        </p:txBody>
      </p:sp>
      <p:sp>
        <p:nvSpPr>
          <p:cNvPr id="35" name="Text Box 32"/>
          <p:cNvSpPr txBox="1">
            <a:spLocks noChangeArrowheads="1"/>
          </p:cNvSpPr>
          <p:nvPr/>
        </p:nvSpPr>
        <p:spPr bwMode="auto">
          <a:xfrm>
            <a:off x="6643503" y="5280025"/>
            <a:ext cx="1404937" cy="2286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>
              <a:lnSpc>
                <a:spcPct val="90000"/>
              </a:lnSpc>
            </a:pPr>
            <a:r>
              <a:rPr lang="en-US" altLang="en-US" sz="1000" b="1">
                <a:latin typeface="Arial" charset="0"/>
              </a:rPr>
              <a:t>Clone the bacterium</a:t>
            </a:r>
          </a:p>
        </p:txBody>
      </p:sp>
      <p:sp>
        <p:nvSpPr>
          <p:cNvPr id="36" name="Oval 33"/>
          <p:cNvSpPr>
            <a:spLocks noChangeArrowheads="1"/>
          </p:cNvSpPr>
          <p:nvPr/>
        </p:nvSpPr>
        <p:spPr bwMode="auto">
          <a:xfrm>
            <a:off x="6484753" y="5280025"/>
            <a:ext cx="234950" cy="2365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70000"/>
              </a:lnSpc>
            </a:pPr>
            <a:endParaRPr lang="en-US" altLang="en-US"/>
          </a:p>
        </p:txBody>
      </p:sp>
      <p:sp>
        <p:nvSpPr>
          <p:cNvPr id="37" name="Text Box 34"/>
          <p:cNvSpPr txBox="1">
            <a:spLocks noChangeArrowheads="1"/>
          </p:cNvSpPr>
          <p:nvPr/>
        </p:nvSpPr>
        <p:spPr bwMode="auto">
          <a:xfrm>
            <a:off x="6484753" y="5280025"/>
            <a:ext cx="23495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100" b="1">
                <a:solidFill>
                  <a:schemeClr val="bg1"/>
                </a:solidFill>
                <a:latin typeface="Arial" charset="0"/>
              </a:rPr>
              <a:t>6</a:t>
            </a:r>
          </a:p>
        </p:txBody>
      </p:sp>
      <p:sp>
        <p:nvSpPr>
          <p:cNvPr id="38" name="Text Box 35"/>
          <p:cNvSpPr txBox="1">
            <a:spLocks noChangeArrowheads="1"/>
          </p:cNvSpPr>
          <p:nvPr/>
        </p:nvSpPr>
        <p:spPr bwMode="auto">
          <a:xfrm>
            <a:off x="5310003" y="6499225"/>
            <a:ext cx="1990725" cy="365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000" b="1">
                <a:latin typeface="Arial" charset="0"/>
              </a:rPr>
              <a:t>Bacterial clone carrying many</a:t>
            </a:r>
            <a:br>
              <a:rPr lang="en-US" altLang="en-US" sz="1000" b="1">
                <a:latin typeface="Arial" charset="0"/>
              </a:rPr>
            </a:br>
            <a:r>
              <a:rPr lang="en-US" altLang="en-US" sz="1000" b="1">
                <a:latin typeface="Arial" charset="0"/>
              </a:rPr>
              <a:t>copies of the human gene</a:t>
            </a:r>
          </a:p>
        </p:txBody>
      </p:sp>
    </p:spTree>
    <p:extLst>
      <p:ext uri="{BB962C8B-B14F-4D97-AF65-F5344CB8AC3E}">
        <p14:creationId xmlns:p14="http://schemas.microsoft.com/office/powerpoint/2010/main" val="24617918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87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2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2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>
                            <p:stCondLst>
                              <p:cond delay="3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3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0" fill="hold">
                            <p:stCondLst>
                              <p:cond delay="4000"/>
                            </p:stCondLst>
                            <p:childTnLst>
                              <p:par>
                                <p:cTn id="4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4500"/>
                            </p:stCondLst>
                            <p:childTnLst>
                              <p:par>
                                <p:cTn id="4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5000"/>
                            </p:stCondLst>
                            <p:childTnLst>
                              <p:par>
                                <p:cTn id="4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>
                            <p:stCondLst>
                              <p:cond delay="5500"/>
                            </p:stCondLst>
                            <p:childTnLst>
                              <p:par>
                                <p:cTn id="5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6000"/>
                            </p:stCondLst>
                            <p:childTnLst>
                              <p:par>
                                <p:cTn id="5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>
                            <p:stCondLst>
                              <p:cond delay="6500"/>
                            </p:stCondLst>
                            <p:childTnLst>
                              <p:par>
                                <p:cTn id="5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7000"/>
                            </p:stCondLst>
                            <p:childTnLst>
                              <p:par>
                                <p:cTn id="5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7500"/>
                            </p:stCondLst>
                            <p:childTnLst>
                              <p:par>
                                <p:cTn id="6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8" fill="hold">
                            <p:stCondLst>
                              <p:cond delay="500"/>
                            </p:stCondLst>
                            <p:childTnLst>
                              <p:par>
                                <p:cTn id="6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1" fill="hold">
                            <p:stCondLst>
                              <p:cond delay="1000"/>
                            </p:stCondLst>
                            <p:childTnLst>
                              <p:par>
                                <p:cTn id="7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4" fill="hold">
                            <p:stCondLst>
                              <p:cond delay="1500"/>
                            </p:stCondLst>
                            <p:childTnLst>
                              <p:par>
                                <p:cTn id="7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>
                            <p:stCondLst>
                              <p:cond delay="2000"/>
                            </p:stCondLst>
                            <p:childTnLst>
                              <p:par>
                                <p:cTn id="7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0" fill="hold">
                            <p:stCondLst>
                              <p:cond delay="2500"/>
                            </p:stCondLst>
                            <p:childTnLst>
                              <p:par>
                                <p:cTn id="8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3000"/>
                            </p:stCondLst>
                            <p:childTnLst>
                              <p:par>
                                <p:cTn id="8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3500"/>
                            </p:stCondLst>
                            <p:childTnLst>
                              <p:par>
                                <p:cTn id="8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>
                            <p:stCondLst>
                              <p:cond delay="40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>
                      <p:stCondLst>
                        <p:cond delay="indefinite"/>
                      </p:stCondLst>
                      <p:childTnLst>
                        <p:par>
                          <p:cTn id="93" fill="hold">
                            <p:stCondLst>
                              <p:cond delay="0"/>
                            </p:stCondLst>
                            <p:childTnLst>
                              <p:par>
                                <p:cTn id="9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6" fill="hold">
                            <p:stCondLst>
                              <p:cond delay="500"/>
                            </p:stCondLst>
                            <p:childTnLst>
                              <p:par>
                                <p:cTn id="9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1000"/>
                            </p:stCondLst>
                            <p:childTnLst>
                              <p:par>
                                <p:cTn id="10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2" fill="hold">
                            <p:stCondLst>
                              <p:cond delay="1500"/>
                            </p:stCondLst>
                            <p:childTnLst>
                              <p:par>
                                <p:cTn id="10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5" fill="hold">
                            <p:stCondLst>
                              <p:cond delay="2000"/>
                            </p:stCondLst>
                            <p:childTnLst>
                              <p:par>
                                <p:cTn id="10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8" fill="hold">
                            <p:stCondLst>
                              <p:cond delay="2500"/>
                            </p:stCondLst>
                            <p:childTnLst>
                              <p:par>
                                <p:cTn id="10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3000"/>
                            </p:stCondLst>
                            <p:childTnLst>
                              <p:par>
                                <p:cTn id="1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8786" grpId="0" build="p" bldLvl="2" autoUpdateAnimBg="0"/>
      <p:bldP spid="7" grpId="0" autoUpdateAnimBg="0"/>
      <p:bldP spid="8" grpId="0" animBg="1" autoUpdateAnimBg="0"/>
      <p:bldP spid="9" grpId="0" autoUpdateAnimBg="0"/>
      <p:bldP spid="10" grpId="0" autoUpdateAnimBg="0"/>
      <p:bldP spid="11" grpId="0" autoUpdateAnimBg="0"/>
      <p:bldP spid="12" grpId="0" animBg="1" autoUpdateAnimBg="0"/>
      <p:bldP spid="13" grpId="0" autoUpdateAnimBg="0"/>
      <p:bldP spid="14" grpId="0" autoUpdateAnimBg="0"/>
      <p:bldP spid="15" grpId="0" animBg="1"/>
      <p:bldP spid="16" grpId="0" autoUpdateAnimBg="0"/>
      <p:bldP spid="17" grpId="0" autoUpdateAnimBg="0"/>
      <p:bldP spid="18" grpId="0" animBg="1"/>
      <p:bldP spid="19" grpId="0" autoUpdateAnimBg="0"/>
      <p:bldP spid="20" grpId="0" autoUpdateAnimBg="0"/>
      <p:bldP spid="21" grpId="0" animBg="1"/>
      <p:bldP spid="22" grpId="0" animBg="1"/>
      <p:bldP spid="23" grpId="0" autoUpdateAnimBg="0"/>
      <p:bldP spid="24" grpId="0" animBg="1" autoUpdateAnimBg="0"/>
      <p:bldP spid="25" grpId="0" autoUpdateAnimBg="0"/>
      <p:bldP spid="26" grpId="0" autoUpdateAnimBg="0"/>
      <p:bldP spid="27" grpId="0" animBg="1" autoUpdateAnimBg="0"/>
      <p:bldP spid="28" grpId="0" autoUpdateAnimBg="0"/>
      <p:bldP spid="29" grpId="0" autoUpdateAnimBg="0"/>
      <p:bldP spid="30" grpId="0" autoUpdateAnimBg="0"/>
      <p:bldP spid="31" grpId="0" animBg="1"/>
      <p:bldP spid="32" grpId="0" autoUpdateAnimBg="0"/>
      <p:bldP spid="33" grpId="0" animBg="1" autoUpdateAnimBg="0"/>
      <p:bldP spid="34" grpId="0" autoUpdateAnimBg="0"/>
      <p:bldP spid="35" grpId="0" autoUpdateAnimBg="0"/>
      <p:bldP spid="36" grpId="0" animBg="1" autoUpdateAnimBg="0"/>
      <p:bldP spid="37" grpId="0" autoUpdateAnimBg="0"/>
      <p:bldP spid="38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en-US"/>
              <a:t>Biotechnology Products</a:t>
            </a:r>
          </a:p>
        </p:txBody>
      </p:sp>
      <p:sp>
        <p:nvSpPr>
          <p:cNvPr id="583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0334" y="1340768"/>
            <a:ext cx="8534400" cy="5410200"/>
          </a:xfrm>
        </p:spPr>
        <p:txBody>
          <a:bodyPr/>
          <a:lstStyle/>
          <a:p>
            <a:pPr eaLnBrk="1" hangingPunct="1"/>
            <a:r>
              <a:rPr lang="en-US" altLang="en-US" dirty="0">
                <a:solidFill>
                  <a:schemeClr val="accent1"/>
                </a:solidFill>
              </a:rPr>
              <a:t>Transgenic organisms </a:t>
            </a:r>
            <a:r>
              <a:rPr lang="en-US" altLang="en-US" dirty="0"/>
              <a:t>have a foreign gene inserted into them.</a:t>
            </a:r>
            <a:endParaRPr lang="en-US" altLang="en-US" dirty="0">
              <a:solidFill>
                <a:srgbClr val="FFFF00"/>
              </a:solidFill>
            </a:endParaRPr>
          </a:p>
          <a:p>
            <a:pPr eaLnBrk="1" hangingPunct="1"/>
            <a:r>
              <a:rPr lang="en-US" altLang="en-US" dirty="0">
                <a:solidFill>
                  <a:schemeClr val="accent1"/>
                </a:solidFill>
              </a:rPr>
              <a:t>Transgenic  Bacteria</a:t>
            </a:r>
          </a:p>
          <a:p>
            <a:pPr lvl="1" eaLnBrk="1" hangingPunct="1"/>
            <a:r>
              <a:rPr lang="en-US" altLang="en-US" dirty="0"/>
              <a:t>Insulin.</a:t>
            </a:r>
          </a:p>
          <a:p>
            <a:pPr lvl="1" eaLnBrk="1" hangingPunct="1"/>
            <a:r>
              <a:rPr lang="en-US" altLang="en-US" dirty="0"/>
              <a:t>Human Growth Hormone.</a:t>
            </a:r>
          </a:p>
          <a:p>
            <a:pPr lvl="1" eaLnBrk="1" hangingPunct="1"/>
            <a:r>
              <a:rPr lang="en-US" altLang="en-US" dirty="0"/>
              <a:t>Hepatitis B vaccine.</a:t>
            </a:r>
          </a:p>
          <a:p>
            <a:pPr lvl="1" eaLnBrk="1" hangingPunct="1"/>
            <a:r>
              <a:rPr lang="en-US" altLang="en-US" dirty="0"/>
              <a:t>Promote plant health.</a:t>
            </a:r>
          </a:p>
          <a:p>
            <a:pPr lvl="1" eaLnBrk="1" hangingPunct="1"/>
            <a:r>
              <a:rPr lang="en-US" altLang="en-US" dirty="0"/>
              <a:t>Degrade wastes.</a:t>
            </a:r>
          </a:p>
          <a:p>
            <a:pPr lvl="1" eaLnBrk="1" hangingPunct="1"/>
            <a:r>
              <a:rPr lang="en-US" altLang="en-US" dirty="0"/>
              <a:t>Produce chemicals.</a:t>
            </a:r>
          </a:p>
          <a:p>
            <a:pPr lvl="1" eaLnBrk="1" hangingPunct="1"/>
            <a:r>
              <a:rPr lang="en-US" altLang="en-US" dirty="0"/>
              <a:t>Help mine metals.</a:t>
            </a:r>
          </a:p>
        </p:txBody>
      </p:sp>
      <p:pic>
        <p:nvPicPr>
          <p:cNvPr id="58373" name="Picture 5" descr="Fig1917"/>
          <p:cNvPicPr>
            <a:picLocks noGrp="1" noChangeAspect="1" noChangeArrowheads="1"/>
          </p:cNvPicPr>
          <p:nvPr>
            <p:ph sz="half" idx="4294967295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5410200" y="4191000"/>
            <a:ext cx="2962275" cy="2430463"/>
          </a:xfrm>
          <a:noFill/>
        </p:spPr>
      </p:pic>
    </p:spTree>
    <p:extLst>
      <p:ext uri="{BB962C8B-B14F-4D97-AF65-F5344CB8AC3E}">
        <p14:creationId xmlns:p14="http://schemas.microsoft.com/office/powerpoint/2010/main" val="80448329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83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4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1" dur="500"/>
                                        <p:tgtEl>
                                          <p:spTgt spid="583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5837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5837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58371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1" dur="500"/>
                                        <p:tgtEl>
                                          <p:spTgt spid="5837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500"/>
                                        <p:tgtEl>
                                          <p:spTgt spid="5837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1" dur="500"/>
                                        <p:tgtEl>
                                          <p:spTgt spid="58371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58371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58371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58371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8370" grpId="0" autoUpdateAnimBg="0"/>
      <p:bldP spid="58371" grpId="0" build="p" bldLvl="5" autoUpdateAnimBg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24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66700" y="1143000"/>
            <a:ext cx="8648700" cy="1098550"/>
          </a:xfrm>
        </p:spPr>
        <p:txBody>
          <a:bodyPr/>
          <a:lstStyle/>
          <a:p>
            <a:pPr eaLnBrk="1" hangingPunct="1"/>
            <a:r>
              <a:rPr lang="en-US" altLang="ko-KR" dirty="0">
                <a:ea typeface="굴림" charset="-127"/>
              </a:rPr>
              <a:t>Recombinant cells and organisms are used to manufacture useful proteins</a:t>
            </a:r>
          </a:p>
        </p:txBody>
      </p:sp>
      <p:sp>
        <p:nvSpPr>
          <p:cNvPr id="18436" name="Rectangle 4"/>
          <p:cNvSpPr>
            <a:spLocks noGrp="1" noChangeArrowheads="1"/>
          </p:cNvSpPr>
          <p:nvPr>
            <p:ph type="title"/>
          </p:nvPr>
        </p:nvSpPr>
        <p:spPr>
          <a:xfrm>
            <a:off x="266700" y="76200"/>
            <a:ext cx="8610600" cy="914400"/>
          </a:xfrm>
        </p:spPr>
        <p:txBody>
          <a:bodyPr/>
          <a:lstStyle/>
          <a:p>
            <a:pPr marL="1082675" indent="-1082675" eaLnBrk="1" hangingPunct="1"/>
            <a:r>
              <a:rPr lang="en-US" altLang="ko-KR" sz="4000" dirty="0">
                <a:ea typeface="굴림" charset="-127"/>
              </a:rPr>
              <a:t>Recombinant cells and organisms can mass-produce gene products</a:t>
            </a:r>
            <a:endParaRPr lang="en-US" altLang="ko-KR" sz="4000" b="0" dirty="0">
              <a:ea typeface="굴림" charset="-127"/>
            </a:endParaRPr>
          </a:p>
        </p:txBody>
      </p:sp>
      <p:pic>
        <p:nvPicPr>
          <p:cNvPr id="18438" name="Picture 6" descr="12-16T-RecombDNAProd.gif                                       00000029BiologyConcepts4eCIPL_8-15     B9599A75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8275"/>
          <a:stretch>
            <a:fillRect/>
          </a:stretch>
        </p:blipFill>
        <p:spPr bwMode="auto">
          <a:xfrm>
            <a:off x="25354" y="2060848"/>
            <a:ext cx="8366452" cy="410445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12489882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4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42" grpId="0" build="p" bldLvl="2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Hormones - Insulin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1520" y="1484784"/>
            <a:ext cx="7620000" cy="4800600"/>
          </a:xfrm>
        </p:spPr>
        <p:txBody>
          <a:bodyPr>
            <a:normAutofit lnSpcReduction="10000"/>
          </a:bodyPr>
          <a:lstStyle/>
          <a:p>
            <a:r>
              <a:rPr lang="en-AU" dirty="0"/>
              <a:t>Used to collected from pancreas of pigs and cattle.</a:t>
            </a:r>
          </a:p>
          <a:p>
            <a:r>
              <a:rPr lang="en-AU" dirty="0"/>
              <a:t>In 1982, produced and approved for treatment by recombinant DNA.</a:t>
            </a:r>
          </a:p>
          <a:p>
            <a:r>
              <a:rPr lang="en-AU" dirty="0"/>
              <a:t>Human gene for </a:t>
            </a:r>
            <a:br>
              <a:rPr lang="en-AU" dirty="0"/>
            </a:br>
            <a:r>
              <a:rPr lang="en-AU" dirty="0"/>
              <a:t>producing insulin </a:t>
            </a:r>
            <a:br>
              <a:rPr lang="en-AU" dirty="0"/>
            </a:br>
            <a:r>
              <a:rPr lang="en-AU" dirty="0"/>
              <a:t>introduced to </a:t>
            </a:r>
            <a:br>
              <a:rPr lang="en-AU" dirty="0"/>
            </a:br>
            <a:r>
              <a:rPr lang="en-AU" dirty="0"/>
              <a:t>bacterial cells that</a:t>
            </a:r>
            <a:br>
              <a:rPr lang="en-AU" dirty="0"/>
            </a:br>
            <a:r>
              <a:rPr lang="en-AU" dirty="0"/>
              <a:t>produce insulin.</a:t>
            </a:r>
          </a:p>
          <a:p>
            <a:r>
              <a:rPr lang="en-AU" dirty="0"/>
              <a:t>Cultured in vats to </a:t>
            </a:r>
            <a:br>
              <a:rPr lang="en-AU" dirty="0"/>
            </a:br>
            <a:r>
              <a:rPr lang="en-AU" dirty="0"/>
              <a:t>produce large </a:t>
            </a:r>
            <a:br>
              <a:rPr lang="en-AU" dirty="0"/>
            </a:br>
            <a:r>
              <a:rPr lang="en-AU" dirty="0"/>
              <a:t>quantities of </a:t>
            </a:r>
            <a:br>
              <a:rPr lang="en-AU" dirty="0"/>
            </a:br>
            <a:r>
              <a:rPr lang="en-AU" dirty="0"/>
              <a:t>insulin to use as </a:t>
            </a:r>
            <a:br>
              <a:rPr lang="en-AU" dirty="0"/>
            </a:br>
            <a:r>
              <a:rPr lang="en-AU" dirty="0"/>
              <a:t>treatment for </a:t>
            </a:r>
            <a:br>
              <a:rPr lang="en-AU" dirty="0"/>
            </a:br>
            <a:r>
              <a:rPr lang="en-AU" dirty="0"/>
              <a:t>diabetes.</a:t>
            </a:r>
          </a:p>
        </p:txBody>
      </p:sp>
      <p:pic>
        <p:nvPicPr>
          <p:cNvPr id="16386" name="Picture 2"/>
          <p:cNvPicPr>
            <a:picLocks noChangeAspect="1" noChangeArrowheads="1"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980" t="3088" r="4709"/>
          <a:stretch/>
        </p:blipFill>
        <p:spPr bwMode="auto">
          <a:xfrm>
            <a:off x="3078733" y="2348879"/>
            <a:ext cx="5169768" cy="450912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623855153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Vaccines - Hepatitis B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-22682" y="1556792"/>
            <a:ext cx="8514606" cy="1224136"/>
          </a:xfrm>
        </p:spPr>
        <p:txBody>
          <a:bodyPr/>
          <a:lstStyle/>
          <a:p>
            <a:r>
              <a:rPr lang="en-AU" dirty="0"/>
              <a:t>First vaccine produced by using recombinant DNA in 1986.</a:t>
            </a:r>
          </a:p>
          <a:p>
            <a:endParaRPr lang="en-AU" dirty="0"/>
          </a:p>
        </p:txBody>
      </p:sp>
      <p:pic>
        <p:nvPicPr>
          <p:cNvPr id="6149" name="Picture 5" descr="See the source image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31640" y="2154006"/>
            <a:ext cx="6651902" cy="468052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290876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66700" y="1295400"/>
            <a:ext cx="8191500" cy="3541713"/>
          </a:xfrm>
        </p:spPr>
        <p:txBody>
          <a:bodyPr/>
          <a:lstStyle/>
          <a:p>
            <a:pPr eaLnBrk="1" hangingPunct="1"/>
            <a:r>
              <a:rPr lang="en-US" altLang="ko-KR" dirty="0">
                <a:ea typeface="굴림" charset="-127"/>
              </a:rPr>
              <a:t>Hormones, cancer-fighting drugs, and new vaccines are being produced using DNA technology</a:t>
            </a:r>
          </a:p>
          <a:p>
            <a:pPr lvl="1" eaLnBrk="1" hangingPunct="1"/>
            <a:r>
              <a:rPr lang="en-US" altLang="ko-KR" dirty="0">
                <a:ea typeface="굴림" charset="-127"/>
              </a:rPr>
              <a:t>This lab equipment </a:t>
            </a:r>
            <a:br>
              <a:rPr lang="en-US" altLang="ko-KR" dirty="0">
                <a:ea typeface="굴림" charset="-127"/>
              </a:rPr>
            </a:br>
            <a:r>
              <a:rPr lang="en-US" altLang="ko-KR" dirty="0">
                <a:ea typeface="굴림" charset="-127"/>
              </a:rPr>
              <a:t>is used to produce </a:t>
            </a:r>
            <a:br>
              <a:rPr lang="en-US" altLang="ko-KR" dirty="0">
                <a:ea typeface="굴림" charset="-127"/>
              </a:rPr>
            </a:br>
            <a:r>
              <a:rPr lang="en-US" altLang="ko-KR" dirty="0">
                <a:ea typeface="굴림" charset="-127"/>
              </a:rPr>
              <a:t>a vaccine against </a:t>
            </a:r>
            <a:br>
              <a:rPr lang="en-US" altLang="ko-KR" dirty="0">
                <a:ea typeface="굴림" charset="-127"/>
              </a:rPr>
            </a:br>
            <a:r>
              <a:rPr lang="en-US" altLang="ko-KR" dirty="0">
                <a:ea typeface="굴림" charset="-127"/>
              </a:rPr>
              <a:t>hepatitis B</a:t>
            </a:r>
          </a:p>
        </p:txBody>
      </p:sp>
      <p:sp>
        <p:nvSpPr>
          <p:cNvPr id="20484" name="Rectangle 4"/>
          <p:cNvSpPr>
            <a:spLocks noGrp="1" noChangeArrowheads="1"/>
          </p:cNvSpPr>
          <p:nvPr>
            <p:ph type="title"/>
          </p:nvPr>
        </p:nvSpPr>
        <p:spPr>
          <a:xfrm>
            <a:off x="0" y="260648"/>
            <a:ext cx="8610600" cy="914400"/>
          </a:xfrm>
        </p:spPr>
        <p:txBody>
          <a:bodyPr/>
          <a:lstStyle/>
          <a:p>
            <a:pPr marL="1082675" indent="-1082675" eaLnBrk="1" hangingPunct="1"/>
            <a:r>
              <a:rPr lang="en-US" altLang="ko-KR" sz="3600" dirty="0">
                <a:ea typeface="굴림" charset="-127"/>
              </a:rPr>
              <a:t>DNA technology is changing the pharmaceutical industry and medicine</a:t>
            </a:r>
            <a:endParaRPr lang="en-US" altLang="ko-KR" sz="3600" b="0" dirty="0">
              <a:solidFill>
                <a:schemeClr val="tx1"/>
              </a:solidFill>
              <a:ea typeface="굴림" charset="-127"/>
            </a:endParaRPr>
          </a:p>
        </p:txBody>
      </p:sp>
      <p:pic>
        <p:nvPicPr>
          <p:cNvPr id="20486" name="Picture 6" descr="12-17-HepBVaccineProduction.jpg                                00000029BiologyConcepts4eCIPL_8-15     B9599A75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609" r="8752"/>
          <a:stretch>
            <a:fillRect/>
          </a:stretch>
        </p:blipFill>
        <p:spPr bwMode="auto">
          <a:xfrm>
            <a:off x="3059832" y="2899354"/>
            <a:ext cx="4191000" cy="32972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73660952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2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029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0" grpId="0" build="p" bldLvl="2" autoUpdateAnimBg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314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66700" y="1600200"/>
            <a:ext cx="8648700" cy="2144713"/>
          </a:xfrm>
        </p:spPr>
        <p:txBody>
          <a:bodyPr>
            <a:normAutofit lnSpcReduction="10000"/>
          </a:bodyPr>
          <a:lstStyle/>
          <a:p>
            <a:pPr eaLnBrk="1" hangingPunct="1"/>
            <a:r>
              <a:rPr lang="en-US" altLang="ko-KR" dirty="0">
                <a:ea typeface="굴림" charset="-127"/>
              </a:rPr>
              <a:t>New genetic varieties of animals and plants are being produced</a:t>
            </a:r>
          </a:p>
          <a:p>
            <a:pPr eaLnBrk="1" hangingPunct="1"/>
            <a:r>
              <a:rPr lang="en-US" altLang="ko-KR" dirty="0">
                <a:ea typeface="굴림" charset="-127"/>
              </a:rPr>
              <a:t>A plant with a new trait can be created using the </a:t>
            </a:r>
            <a:r>
              <a:rPr lang="en-US" altLang="ko-KR" dirty="0" err="1">
                <a:ea typeface="굴림" charset="-127"/>
              </a:rPr>
              <a:t>Ti</a:t>
            </a:r>
            <a:r>
              <a:rPr lang="en-US" altLang="ko-KR" dirty="0">
                <a:ea typeface="굴림" charset="-127"/>
              </a:rPr>
              <a:t> plasmid</a:t>
            </a:r>
          </a:p>
          <a:p>
            <a:pPr eaLnBrk="1" hangingPunct="1"/>
            <a:r>
              <a:rPr lang="en-US" altLang="ko-KR" dirty="0">
                <a:ea typeface="굴림" charset="-127"/>
              </a:rPr>
              <a:t>Golden rice” has been genetically modified to contain beta-carotene</a:t>
            </a:r>
          </a:p>
          <a:p>
            <a:pPr eaLnBrk="1" hangingPunct="1"/>
            <a:r>
              <a:rPr lang="en-US" altLang="ko-KR" dirty="0">
                <a:ea typeface="굴림" charset="-127"/>
              </a:rPr>
              <a:t>This rice could </a:t>
            </a:r>
            <a:br>
              <a:rPr lang="en-US" altLang="ko-KR" dirty="0">
                <a:ea typeface="굴림" charset="-127"/>
              </a:rPr>
            </a:br>
            <a:r>
              <a:rPr lang="en-US" altLang="ko-KR" dirty="0">
                <a:ea typeface="굴림" charset="-127"/>
              </a:rPr>
              <a:t>help prevent </a:t>
            </a:r>
            <a:br>
              <a:rPr lang="en-US" altLang="ko-KR" dirty="0">
                <a:ea typeface="굴림" charset="-127"/>
              </a:rPr>
            </a:br>
            <a:r>
              <a:rPr lang="en-US" altLang="ko-KR" dirty="0">
                <a:ea typeface="굴림" charset="-127"/>
              </a:rPr>
              <a:t>vitamin A deficiency</a:t>
            </a:r>
          </a:p>
          <a:p>
            <a:pPr lvl="1"/>
            <a:endParaRPr lang="en-US" altLang="ko-KR" dirty="0">
              <a:ea typeface="굴림" charset="-127"/>
            </a:endParaRPr>
          </a:p>
          <a:p>
            <a:pPr lvl="1" eaLnBrk="1" hangingPunct="1"/>
            <a:endParaRPr lang="en-US" altLang="ko-KR" dirty="0">
              <a:ea typeface="굴림" charset="-127"/>
            </a:endParaRPr>
          </a:p>
        </p:txBody>
      </p:sp>
      <p:sp>
        <p:nvSpPr>
          <p:cNvPr id="21508" name="Rectangle 4"/>
          <p:cNvSpPr>
            <a:spLocks noGrp="1" noChangeArrowheads="1"/>
          </p:cNvSpPr>
          <p:nvPr>
            <p:ph type="title"/>
          </p:nvPr>
        </p:nvSpPr>
        <p:spPr>
          <a:xfrm>
            <a:off x="179512" y="190500"/>
            <a:ext cx="8610600" cy="914400"/>
          </a:xfrm>
        </p:spPr>
        <p:txBody>
          <a:bodyPr/>
          <a:lstStyle/>
          <a:p>
            <a:pPr marL="1082675" indent="-1082675" eaLnBrk="1" hangingPunct="1"/>
            <a:r>
              <a:rPr lang="en-US" altLang="ko-KR" dirty="0">
                <a:ea typeface="굴림" charset="-127"/>
              </a:rPr>
              <a:t> Genetically modified organisms are transforming agriculture</a:t>
            </a:r>
            <a:endParaRPr lang="en-US" altLang="ko-KR" b="0" dirty="0">
              <a:solidFill>
                <a:schemeClr val="tx1"/>
              </a:solidFill>
              <a:ea typeface="굴림" charset="-127"/>
            </a:endParaRPr>
          </a:p>
        </p:txBody>
      </p:sp>
      <p:pic>
        <p:nvPicPr>
          <p:cNvPr id="6" name="Picture 5" descr="12-18B-Golden&amp;OrdinaryRice.jpg                                 00000029BiologyConcepts4eCIPL_8-15     B9599A75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347864" y="2924944"/>
            <a:ext cx="4806950" cy="34321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23692945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1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14" grpId="0" build="p" bldLvl="2" autoUpdateAnimBg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531" name="Picture 3" descr="12-18A-GenEngPlants-NL.gif                                     00000029BiologyConcepts4eCIPL_8-15     B9599A75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9048"/>
          <a:stretch>
            <a:fillRect/>
          </a:stretch>
        </p:blipFill>
        <p:spPr bwMode="auto">
          <a:xfrm>
            <a:off x="0" y="1583531"/>
            <a:ext cx="8534400" cy="3081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42340" name="Text Box 4"/>
          <p:cNvSpPr txBox="1">
            <a:spLocks noChangeArrowheads="1"/>
          </p:cNvSpPr>
          <p:nvPr/>
        </p:nvSpPr>
        <p:spPr bwMode="auto">
          <a:xfrm>
            <a:off x="1447800" y="3488531"/>
            <a:ext cx="1479550" cy="1004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/>
            <a:r>
              <a:rPr lang="en-US" altLang="en-US" sz="1200" b="1">
                <a:latin typeface="Arial" charset="0"/>
              </a:rPr>
              <a:t>Insertion of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gene into plasmid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using restriction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enzyme and DNA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ligase</a:t>
            </a:r>
          </a:p>
        </p:txBody>
      </p:sp>
      <p:sp>
        <p:nvSpPr>
          <p:cNvPr id="142341" name="Oval 5"/>
          <p:cNvSpPr>
            <a:spLocks noChangeArrowheads="1"/>
          </p:cNvSpPr>
          <p:nvPr/>
        </p:nvSpPr>
        <p:spPr bwMode="auto">
          <a:xfrm>
            <a:off x="1828800" y="3107531"/>
            <a:ext cx="234950" cy="2365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70000"/>
              </a:lnSpc>
            </a:pPr>
            <a:endParaRPr lang="en-US" altLang="en-US"/>
          </a:p>
        </p:txBody>
      </p:sp>
      <p:sp>
        <p:nvSpPr>
          <p:cNvPr id="142342" name="Text Box 6"/>
          <p:cNvSpPr txBox="1">
            <a:spLocks noChangeArrowheads="1"/>
          </p:cNvSpPr>
          <p:nvPr/>
        </p:nvSpPr>
        <p:spPr bwMode="auto">
          <a:xfrm>
            <a:off x="1828800" y="3107531"/>
            <a:ext cx="23495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100" b="1">
                <a:solidFill>
                  <a:schemeClr val="bg1"/>
                </a:solidFill>
                <a:latin typeface="Arial" charset="0"/>
              </a:rPr>
              <a:t>1</a:t>
            </a:r>
          </a:p>
        </p:txBody>
      </p:sp>
      <p:sp>
        <p:nvSpPr>
          <p:cNvPr id="142343" name="Text Box 7"/>
          <p:cNvSpPr txBox="1">
            <a:spLocks noChangeArrowheads="1"/>
          </p:cNvSpPr>
          <p:nvPr/>
        </p:nvSpPr>
        <p:spPr bwMode="auto">
          <a:xfrm>
            <a:off x="381000" y="1659731"/>
            <a:ext cx="1268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US" altLang="en-US" sz="1200" b="1" i="1">
                <a:latin typeface="Arial" charset="0"/>
              </a:rPr>
              <a:t>Agrobacterium</a:t>
            </a:r>
            <a:br>
              <a:rPr lang="en-US" altLang="en-US" sz="1200" b="1" i="1">
                <a:latin typeface="Arial" charset="0"/>
              </a:rPr>
            </a:br>
            <a:r>
              <a:rPr lang="en-US" altLang="en-US" sz="1200" b="1" i="1">
                <a:latin typeface="Arial" charset="0"/>
              </a:rPr>
              <a:t>tumefaciens</a:t>
            </a:r>
          </a:p>
        </p:txBody>
      </p:sp>
      <p:sp>
        <p:nvSpPr>
          <p:cNvPr id="142344" name="Text Box 8"/>
          <p:cNvSpPr txBox="1">
            <a:spLocks noChangeArrowheads="1"/>
          </p:cNvSpPr>
          <p:nvPr/>
        </p:nvSpPr>
        <p:spPr bwMode="auto">
          <a:xfrm>
            <a:off x="561975" y="3259931"/>
            <a:ext cx="7604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US" altLang="en-US" sz="1200" b="1">
                <a:latin typeface="Arial" charset="0"/>
              </a:rPr>
              <a:t>Ti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plasmid</a:t>
            </a:r>
          </a:p>
        </p:txBody>
      </p:sp>
      <p:sp>
        <p:nvSpPr>
          <p:cNvPr id="142345" name="Text Box 9"/>
          <p:cNvSpPr txBox="1">
            <a:spLocks noChangeArrowheads="1"/>
          </p:cNvSpPr>
          <p:nvPr/>
        </p:nvSpPr>
        <p:spPr bwMode="auto">
          <a:xfrm>
            <a:off x="-76200" y="4098131"/>
            <a:ext cx="649288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/>
            <a:r>
              <a:rPr lang="en-US" altLang="en-US" sz="1200" b="1">
                <a:latin typeface="Arial" charset="0"/>
              </a:rPr>
              <a:t>T DNA</a:t>
            </a:r>
          </a:p>
        </p:txBody>
      </p:sp>
      <p:sp>
        <p:nvSpPr>
          <p:cNvPr id="142346" name="Text Box 10"/>
          <p:cNvSpPr txBox="1">
            <a:spLocks noChangeArrowheads="1"/>
          </p:cNvSpPr>
          <p:nvPr/>
        </p:nvSpPr>
        <p:spPr bwMode="auto">
          <a:xfrm>
            <a:off x="381000" y="4479131"/>
            <a:ext cx="979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/>
            <a:r>
              <a:rPr lang="en-US" altLang="en-US" sz="1200" b="1">
                <a:latin typeface="Arial" charset="0"/>
              </a:rPr>
              <a:t>Restriction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site</a:t>
            </a:r>
          </a:p>
        </p:txBody>
      </p:sp>
      <p:sp>
        <p:nvSpPr>
          <p:cNvPr id="142347" name="Line 11"/>
          <p:cNvSpPr>
            <a:spLocks noChangeShapeType="1"/>
          </p:cNvSpPr>
          <p:nvPr/>
        </p:nvSpPr>
        <p:spPr bwMode="auto">
          <a:xfrm flipV="1">
            <a:off x="533400" y="4021931"/>
            <a:ext cx="304800" cy="2286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42348" name="Line 12"/>
          <p:cNvSpPr>
            <a:spLocks noChangeShapeType="1"/>
          </p:cNvSpPr>
          <p:nvPr/>
        </p:nvSpPr>
        <p:spPr bwMode="auto">
          <a:xfrm flipH="1" flipV="1">
            <a:off x="990600" y="3945731"/>
            <a:ext cx="76200" cy="533400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42349" name="Line 13"/>
          <p:cNvSpPr>
            <a:spLocks noChangeShapeType="1"/>
          </p:cNvSpPr>
          <p:nvPr/>
        </p:nvSpPr>
        <p:spPr bwMode="auto">
          <a:xfrm flipH="1" flipV="1">
            <a:off x="990600" y="3945731"/>
            <a:ext cx="76200" cy="5334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142350" name="Text Box 14"/>
          <p:cNvSpPr txBox="1">
            <a:spLocks noChangeArrowheads="1"/>
          </p:cNvSpPr>
          <p:nvPr/>
        </p:nvSpPr>
        <p:spPr bwMode="auto">
          <a:xfrm>
            <a:off x="4114800" y="3488531"/>
            <a:ext cx="1073150" cy="822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/>
            <a:r>
              <a:rPr lang="en-US" altLang="en-US" sz="1200" b="1">
                <a:latin typeface="Arial" charset="0"/>
              </a:rPr>
              <a:t>Introduction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into plant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cells in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culture</a:t>
            </a:r>
          </a:p>
        </p:txBody>
      </p:sp>
      <p:sp>
        <p:nvSpPr>
          <p:cNvPr id="142351" name="Oval 15"/>
          <p:cNvSpPr>
            <a:spLocks noChangeArrowheads="1"/>
          </p:cNvSpPr>
          <p:nvPr/>
        </p:nvSpPr>
        <p:spPr bwMode="auto">
          <a:xfrm>
            <a:off x="4419600" y="3107531"/>
            <a:ext cx="234950" cy="2365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70000"/>
              </a:lnSpc>
            </a:pPr>
            <a:endParaRPr lang="en-US" altLang="en-US"/>
          </a:p>
        </p:txBody>
      </p:sp>
      <p:sp>
        <p:nvSpPr>
          <p:cNvPr id="142352" name="Text Box 16"/>
          <p:cNvSpPr txBox="1">
            <a:spLocks noChangeArrowheads="1"/>
          </p:cNvSpPr>
          <p:nvPr/>
        </p:nvSpPr>
        <p:spPr bwMode="auto">
          <a:xfrm>
            <a:off x="4419600" y="3107531"/>
            <a:ext cx="23495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100" b="1">
                <a:solidFill>
                  <a:schemeClr val="bg1"/>
                </a:solidFill>
                <a:latin typeface="Arial" charset="0"/>
              </a:rPr>
              <a:t>2</a:t>
            </a:r>
          </a:p>
        </p:txBody>
      </p:sp>
      <p:sp>
        <p:nvSpPr>
          <p:cNvPr id="142353" name="Text Box 17"/>
          <p:cNvSpPr txBox="1">
            <a:spLocks noChangeArrowheads="1"/>
          </p:cNvSpPr>
          <p:nvPr/>
        </p:nvSpPr>
        <p:spPr bwMode="auto">
          <a:xfrm>
            <a:off x="3009900" y="3377406"/>
            <a:ext cx="989013" cy="396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US" altLang="en-US" sz="1000" b="1">
                <a:latin typeface="Arial" charset="0"/>
              </a:rPr>
              <a:t>Recombinant</a:t>
            </a:r>
            <a:br>
              <a:rPr lang="en-US" altLang="en-US" sz="1000" b="1">
                <a:latin typeface="Arial" charset="0"/>
              </a:rPr>
            </a:br>
            <a:r>
              <a:rPr lang="en-US" altLang="en-US" sz="1000" b="1">
                <a:latin typeface="Arial" charset="0"/>
              </a:rPr>
              <a:t>Ti plasmid</a:t>
            </a:r>
          </a:p>
        </p:txBody>
      </p:sp>
      <p:sp>
        <p:nvSpPr>
          <p:cNvPr id="142354" name="Text Box 18"/>
          <p:cNvSpPr txBox="1">
            <a:spLocks noChangeArrowheads="1"/>
          </p:cNvSpPr>
          <p:nvPr/>
        </p:nvSpPr>
        <p:spPr bwMode="auto">
          <a:xfrm>
            <a:off x="5105400" y="2193131"/>
            <a:ext cx="8540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/>
            <a:r>
              <a:rPr lang="en-US" altLang="en-US" sz="1200" b="1">
                <a:latin typeface="Arial" charset="0"/>
              </a:rPr>
              <a:t>Plant cell</a:t>
            </a:r>
          </a:p>
        </p:txBody>
      </p:sp>
      <p:sp>
        <p:nvSpPr>
          <p:cNvPr id="142355" name="Text Box 19"/>
          <p:cNvSpPr txBox="1">
            <a:spLocks noChangeArrowheads="1"/>
          </p:cNvSpPr>
          <p:nvPr/>
        </p:nvSpPr>
        <p:spPr bwMode="auto">
          <a:xfrm>
            <a:off x="5122863" y="4312444"/>
            <a:ext cx="1141412" cy="1004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US" altLang="en-US" sz="1200" b="1">
                <a:latin typeface="Arial" charset="0"/>
              </a:rPr>
              <a:t>T DNA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carrying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new gene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within plant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chromosome</a:t>
            </a:r>
          </a:p>
        </p:txBody>
      </p:sp>
      <p:sp>
        <p:nvSpPr>
          <p:cNvPr id="142356" name="AutoShape 20"/>
          <p:cNvSpPr>
            <a:spLocks/>
          </p:cNvSpPr>
          <p:nvPr/>
        </p:nvSpPr>
        <p:spPr bwMode="auto">
          <a:xfrm rot="-5400000">
            <a:off x="5638800" y="3869531"/>
            <a:ext cx="152400" cy="762000"/>
          </a:xfrm>
          <a:prstGeom prst="leftBrace">
            <a:avLst>
              <a:gd name="adj1" fmla="val 41667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endParaRPr lang="en-AU" altLang="en-US"/>
          </a:p>
        </p:txBody>
      </p:sp>
      <p:sp>
        <p:nvSpPr>
          <p:cNvPr id="142357" name="Text Box 21"/>
          <p:cNvSpPr txBox="1">
            <a:spLocks noChangeArrowheads="1"/>
          </p:cNvSpPr>
          <p:nvPr/>
        </p:nvSpPr>
        <p:spPr bwMode="auto">
          <a:xfrm>
            <a:off x="6019800" y="3488531"/>
            <a:ext cx="11572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/>
            <a:r>
              <a:rPr lang="en-US" altLang="en-US" sz="1200" b="1">
                <a:latin typeface="Arial" charset="0"/>
              </a:rPr>
              <a:t>Regeneration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of plant</a:t>
            </a:r>
          </a:p>
        </p:txBody>
      </p:sp>
      <p:sp>
        <p:nvSpPr>
          <p:cNvPr id="142358" name="Oval 22"/>
          <p:cNvSpPr>
            <a:spLocks noChangeArrowheads="1"/>
          </p:cNvSpPr>
          <p:nvPr/>
        </p:nvSpPr>
        <p:spPr bwMode="auto">
          <a:xfrm>
            <a:off x="6477000" y="3107531"/>
            <a:ext cx="234950" cy="2365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70000"/>
              </a:lnSpc>
            </a:pPr>
            <a:endParaRPr lang="en-US" altLang="en-US"/>
          </a:p>
        </p:txBody>
      </p:sp>
      <p:sp>
        <p:nvSpPr>
          <p:cNvPr id="142359" name="Text Box 23"/>
          <p:cNvSpPr txBox="1">
            <a:spLocks noChangeArrowheads="1"/>
          </p:cNvSpPr>
          <p:nvPr/>
        </p:nvSpPr>
        <p:spPr bwMode="auto">
          <a:xfrm>
            <a:off x="6477000" y="3107531"/>
            <a:ext cx="23495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100" b="1">
                <a:solidFill>
                  <a:schemeClr val="bg1"/>
                </a:solidFill>
                <a:latin typeface="Arial" charset="0"/>
              </a:rPr>
              <a:t>3</a:t>
            </a:r>
          </a:p>
        </p:txBody>
      </p:sp>
      <p:sp>
        <p:nvSpPr>
          <p:cNvPr id="142360" name="Text Box 24"/>
          <p:cNvSpPr txBox="1">
            <a:spLocks noChangeArrowheads="1"/>
          </p:cNvSpPr>
          <p:nvPr/>
        </p:nvSpPr>
        <p:spPr bwMode="auto">
          <a:xfrm>
            <a:off x="7323138" y="4402931"/>
            <a:ext cx="9032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/>
            <a:r>
              <a:rPr lang="en-US" altLang="en-US" sz="1200" b="1">
                <a:latin typeface="Arial" charset="0"/>
              </a:rPr>
              <a:t>Plant with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new trait</a:t>
            </a:r>
          </a:p>
        </p:txBody>
      </p:sp>
      <p:sp>
        <p:nvSpPr>
          <p:cNvPr id="142361" name="Text Box 25"/>
          <p:cNvSpPr txBox="1">
            <a:spLocks noChangeArrowheads="1"/>
          </p:cNvSpPr>
          <p:nvPr/>
        </p:nvSpPr>
        <p:spPr bwMode="auto">
          <a:xfrm>
            <a:off x="2033588" y="2116931"/>
            <a:ext cx="1700212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/>
            <a:r>
              <a:rPr lang="en-US" altLang="en-US" sz="1200" b="1">
                <a:latin typeface="Arial" charset="0"/>
              </a:rPr>
              <a:t>DNA containing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gene for desired trait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sz="4000" dirty="0"/>
              <a:t>How are these new plants created?</a:t>
            </a:r>
          </a:p>
        </p:txBody>
      </p:sp>
    </p:spTree>
    <p:extLst>
      <p:ext uri="{BB962C8B-B14F-4D97-AF65-F5344CB8AC3E}">
        <p14:creationId xmlns:p14="http://schemas.microsoft.com/office/powerpoint/2010/main" val="270111265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1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2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2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2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4000"/>
                            </p:stCondLst>
                            <p:childTnLst>
                              <p:par>
                                <p:cTn id="2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3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3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4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5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5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6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5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7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40" grpId="0" autoUpdateAnimBg="0"/>
      <p:bldP spid="142341" grpId="0" animBg="1" autoUpdateAnimBg="0"/>
      <p:bldP spid="142342" grpId="0" autoUpdateAnimBg="0"/>
      <p:bldP spid="142343" grpId="0" autoUpdateAnimBg="0"/>
      <p:bldP spid="142344" grpId="0" autoUpdateAnimBg="0"/>
      <p:bldP spid="142345" grpId="0" autoUpdateAnimBg="0"/>
      <p:bldP spid="142346" grpId="0" autoUpdateAnimBg="0"/>
      <p:bldP spid="142347" grpId="0" animBg="1"/>
      <p:bldP spid="142348" grpId="0" animBg="1"/>
      <p:bldP spid="142349" grpId="0" animBg="1"/>
      <p:bldP spid="142350" grpId="0" autoUpdateAnimBg="0"/>
      <p:bldP spid="142351" grpId="0" animBg="1" autoUpdateAnimBg="0"/>
      <p:bldP spid="142352" grpId="0" autoUpdateAnimBg="0"/>
      <p:bldP spid="142353" grpId="0" autoUpdateAnimBg="0"/>
      <p:bldP spid="142354" grpId="0" autoUpdateAnimBg="0"/>
      <p:bldP spid="142355" grpId="0" autoUpdateAnimBg="0"/>
      <p:bldP spid="142356" grpId="0" animBg="1"/>
      <p:bldP spid="142357" grpId="0" autoUpdateAnimBg="0"/>
      <p:bldP spid="142358" grpId="0" animBg="1" autoUpdateAnimBg="0"/>
      <p:bldP spid="142359" grpId="0" autoUpdateAnimBg="0"/>
      <p:bldP spid="142360" grpId="0" autoUpdateAnimBg="0"/>
      <p:bldP spid="142361" grpId="0" autoUpdateAnimBg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386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51520" y="1639784"/>
            <a:ext cx="5219700" cy="4733925"/>
          </a:xfrm>
        </p:spPr>
        <p:txBody>
          <a:bodyPr/>
          <a:lstStyle/>
          <a:p>
            <a:pPr eaLnBrk="1" hangingPunct="1"/>
            <a:r>
              <a:rPr lang="en-US" altLang="ko-KR" dirty="0">
                <a:ea typeface="굴림" charset="-127"/>
              </a:rPr>
              <a:t>Techniques for manipulating DNA have potential for treating disease by altering an afflicted individual’s genes</a:t>
            </a:r>
          </a:p>
          <a:p>
            <a:pPr lvl="1" eaLnBrk="1" hangingPunct="1"/>
            <a:r>
              <a:rPr lang="en-US" altLang="ko-KR" dirty="0">
                <a:ea typeface="굴림" charset="-127"/>
              </a:rPr>
              <a:t>Progress is slow, however</a:t>
            </a:r>
          </a:p>
          <a:p>
            <a:pPr lvl="1" eaLnBrk="1" hangingPunct="1"/>
            <a:r>
              <a:rPr lang="en-US" altLang="ko-KR" dirty="0">
                <a:ea typeface="굴림" charset="-127"/>
              </a:rPr>
              <a:t>There are also ethical questions related to gene therapy</a:t>
            </a:r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title"/>
          </p:nvPr>
        </p:nvSpPr>
        <p:spPr>
          <a:xfrm>
            <a:off x="251520" y="260648"/>
            <a:ext cx="8610600" cy="914400"/>
          </a:xfrm>
        </p:spPr>
        <p:txBody>
          <a:bodyPr/>
          <a:lstStyle/>
          <a:p>
            <a:pPr marL="1082675" indent="-1082675" eaLnBrk="1" hangingPunct="1"/>
            <a:r>
              <a:rPr lang="en-US" altLang="ko-KR" dirty="0">
                <a:ea typeface="굴림" charset="-127"/>
              </a:rPr>
              <a:t>Gene therapy may someday help treat a variety of diseases</a:t>
            </a:r>
            <a:endParaRPr lang="en-US" altLang="ko-KR" b="0" dirty="0">
              <a:solidFill>
                <a:schemeClr val="tx1"/>
              </a:solidFill>
              <a:ea typeface="굴림" charset="-127"/>
            </a:endParaRPr>
          </a:p>
        </p:txBody>
      </p:sp>
      <p:pic>
        <p:nvPicPr>
          <p:cNvPr id="24582" name="Picture 6" descr="12-19-GeneTherapy-NL.gif                                       00000029BiologyConcepts4eCIPL_8-15     B9599A75: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6108" b="3246"/>
          <a:stretch>
            <a:fillRect/>
          </a:stretch>
        </p:blipFill>
        <p:spPr bwMode="auto">
          <a:xfrm>
            <a:off x="5334000" y="1639784"/>
            <a:ext cx="3041650" cy="5029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4583" name="Text Box 7"/>
          <p:cNvSpPr txBox="1">
            <a:spLocks noChangeArrowheads="1"/>
          </p:cNvSpPr>
          <p:nvPr/>
        </p:nvSpPr>
        <p:spPr bwMode="auto">
          <a:xfrm>
            <a:off x="5300663" y="1411184"/>
            <a:ext cx="2174875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/>
            <a:r>
              <a:rPr lang="en-US" altLang="en-US" sz="1200" b="1">
                <a:latin typeface="Arial" charset="0"/>
              </a:rPr>
              <a:t>Cloned gene (normal allele)</a:t>
            </a:r>
          </a:p>
        </p:txBody>
      </p:sp>
      <p:sp>
        <p:nvSpPr>
          <p:cNvPr id="24584" name="Oval 8"/>
          <p:cNvSpPr>
            <a:spLocks noChangeArrowheads="1"/>
          </p:cNvSpPr>
          <p:nvPr/>
        </p:nvSpPr>
        <p:spPr bwMode="auto">
          <a:xfrm>
            <a:off x="6934200" y="1868384"/>
            <a:ext cx="234950" cy="2365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70000"/>
              </a:lnSpc>
            </a:pPr>
            <a:endParaRPr lang="en-US" altLang="en-US"/>
          </a:p>
        </p:txBody>
      </p:sp>
      <p:sp>
        <p:nvSpPr>
          <p:cNvPr id="24585" name="Text Box 9"/>
          <p:cNvSpPr txBox="1">
            <a:spLocks noChangeArrowheads="1"/>
          </p:cNvSpPr>
          <p:nvPr/>
        </p:nvSpPr>
        <p:spPr bwMode="auto">
          <a:xfrm>
            <a:off x="6934200" y="1868384"/>
            <a:ext cx="23495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100" b="1">
                <a:solidFill>
                  <a:schemeClr val="bg1"/>
                </a:solidFill>
                <a:latin typeface="Arial" charset="0"/>
              </a:rPr>
              <a:t>1</a:t>
            </a:r>
          </a:p>
        </p:txBody>
      </p:sp>
      <p:sp>
        <p:nvSpPr>
          <p:cNvPr id="24586" name="Text Box 10"/>
          <p:cNvSpPr txBox="1">
            <a:spLocks noChangeArrowheads="1"/>
          </p:cNvSpPr>
          <p:nvPr/>
        </p:nvSpPr>
        <p:spPr bwMode="auto">
          <a:xfrm>
            <a:off x="7119938" y="1868384"/>
            <a:ext cx="1090612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/>
            <a:r>
              <a:rPr lang="en-US" altLang="en-US" sz="1200" b="1">
                <a:latin typeface="Arial" charset="0"/>
              </a:rPr>
              <a:t>Insert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normal gene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into virus</a:t>
            </a:r>
          </a:p>
        </p:txBody>
      </p:sp>
      <p:sp>
        <p:nvSpPr>
          <p:cNvPr id="24587" name="Text Box 11"/>
          <p:cNvSpPr txBox="1">
            <a:spLocks noChangeArrowheads="1"/>
          </p:cNvSpPr>
          <p:nvPr/>
        </p:nvSpPr>
        <p:spPr bwMode="auto">
          <a:xfrm>
            <a:off x="7070725" y="2554184"/>
            <a:ext cx="1082675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/>
            <a:r>
              <a:rPr lang="en-US" altLang="en-US" sz="1200" b="1">
                <a:latin typeface="Arial" charset="0"/>
              </a:rPr>
              <a:t>Viral nucleic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acid</a:t>
            </a:r>
          </a:p>
        </p:txBody>
      </p:sp>
      <p:sp>
        <p:nvSpPr>
          <p:cNvPr id="24588" name="Text Box 12"/>
          <p:cNvSpPr txBox="1">
            <a:spLocks noChangeArrowheads="1"/>
          </p:cNvSpPr>
          <p:nvPr/>
        </p:nvSpPr>
        <p:spPr bwMode="auto">
          <a:xfrm>
            <a:off x="7070725" y="3011384"/>
            <a:ext cx="946150" cy="2746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/>
            <a:r>
              <a:rPr lang="en-US" altLang="en-US" sz="1200" b="1">
                <a:latin typeface="Arial" charset="0"/>
              </a:rPr>
              <a:t>Retrovirus</a:t>
            </a:r>
          </a:p>
        </p:txBody>
      </p:sp>
      <p:sp>
        <p:nvSpPr>
          <p:cNvPr id="24589" name="Oval 13"/>
          <p:cNvSpPr>
            <a:spLocks noChangeArrowheads="1"/>
          </p:cNvSpPr>
          <p:nvPr/>
        </p:nvSpPr>
        <p:spPr bwMode="auto">
          <a:xfrm>
            <a:off x="6937375" y="3468584"/>
            <a:ext cx="234950" cy="2365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70000"/>
              </a:lnSpc>
            </a:pPr>
            <a:endParaRPr lang="en-US" altLang="en-US"/>
          </a:p>
        </p:txBody>
      </p:sp>
      <p:sp>
        <p:nvSpPr>
          <p:cNvPr id="24590" name="Text Box 14"/>
          <p:cNvSpPr txBox="1">
            <a:spLocks noChangeArrowheads="1"/>
          </p:cNvSpPr>
          <p:nvPr/>
        </p:nvSpPr>
        <p:spPr bwMode="auto">
          <a:xfrm>
            <a:off x="6937375" y="3468584"/>
            <a:ext cx="23495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100" b="1">
                <a:solidFill>
                  <a:schemeClr val="bg1"/>
                </a:solidFill>
                <a:latin typeface="Arial" charset="0"/>
              </a:rPr>
              <a:t>2</a:t>
            </a:r>
          </a:p>
        </p:txBody>
      </p:sp>
      <p:sp>
        <p:nvSpPr>
          <p:cNvPr id="24591" name="Text Box 15"/>
          <p:cNvSpPr txBox="1">
            <a:spLocks noChangeArrowheads="1"/>
          </p:cNvSpPr>
          <p:nvPr/>
        </p:nvSpPr>
        <p:spPr bwMode="auto">
          <a:xfrm>
            <a:off x="7123113" y="3468584"/>
            <a:ext cx="1031875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/>
            <a:r>
              <a:rPr lang="en-US" altLang="en-US" sz="1200" b="1">
                <a:latin typeface="Arial" charset="0"/>
              </a:rPr>
              <a:t>Infect bone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marrow cell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with virus</a:t>
            </a:r>
          </a:p>
        </p:txBody>
      </p:sp>
      <p:sp>
        <p:nvSpPr>
          <p:cNvPr id="24592" name="Oval 16"/>
          <p:cNvSpPr>
            <a:spLocks noChangeArrowheads="1"/>
          </p:cNvSpPr>
          <p:nvPr/>
        </p:nvSpPr>
        <p:spPr bwMode="auto">
          <a:xfrm>
            <a:off x="6934200" y="4306784"/>
            <a:ext cx="234950" cy="2365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70000"/>
              </a:lnSpc>
            </a:pPr>
            <a:endParaRPr lang="en-US" altLang="en-US"/>
          </a:p>
        </p:txBody>
      </p:sp>
      <p:sp>
        <p:nvSpPr>
          <p:cNvPr id="24593" name="Text Box 17"/>
          <p:cNvSpPr txBox="1">
            <a:spLocks noChangeArrowheads="1"/>
          </p:cNvSpPr>
          <p:nvPr/>
        </p:nvSpPr>
        <p:spPr bwMode="auto">
          <a:xfrm>
            <a:off x="6934200" y="4306784"/>
            <a:ext cx="23495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100" b="1">
                <a:solidFill>
                  <a:schemeClr val="bg1"/>
                </a:solidFill>
                <a:latin typeface="Arial" charset="0"/>
              </a:rPr>
              <a:t>3</a:t>
            </a:r>
          </a:p>
        </p:txBody>
      </p:sp>
      <p:sp>
        <p:nvSpPr>
          <p:cNvPr id="24594" name="Text Box 18"/>
          <p:cNvSpPr txBox="1">
            <a:spLocks noChangeArrowheads="1"/>
          </p:cNvSpPr>
          <p:nvPr/>
        </p:nvSpPr>
        <p:spPr bwMode="auto">
          <a:xfrm>
            <a:off x="7119938" y="4306784"/>
            <a:ext cx="1141412" cy="6397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/>
            <a:r>
              <a:rPr lang="en-US" altLang="en-US" sz="1200" b="1">
                <a:latin typeface="Arial" charset="0"/>
              </a:rPr>
              <a:t>Viral DNA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inserts into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chromosome</a:t>
            </a:r>
          </a:p>
        </p:txBody>
      </p:sp>
      <p:sp>
        <p:nvSpPr>
          <p:cNvPr id="24595" name="Text Box 19"/>
          <p:cNvSpPr txBox="1">
            <a:spLocks noChangeArrowheads="1"/>
          </p:cNvSpPr>
          <p:nvPr/>
        </p:nvSpPr>
        <p:spPr bwMode="auto">
          <a:xfrm>
            <a:off x="6934200" y="4992584"/>
            <a:ext cx="1360488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/>
            <a:r>
              <a:rPr lang="en-US" altLang="en-US" sz="1200" b="1">
                <a:latin typeface="Arial" charset="0"/>
              </a:rPr>
              <a:t>Bone marrow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cell from patient</a:t>
            </a:r>
          </a:p>
        </p:txBody>
      </p:sp>
      <p:sp>
        <p:nvSpPr>
          <p:cNvPr id="24596" name="Line 20"/>
          <p:cNvSpPr>
            <a:spLocks noChangeShapeType="1"/>
          </p:cNvSpPr>
          <p:nvPr/>
        </p:nvSpPr>
        <p:spPr bwMode="auto">
          <a:xfrm flipH="1" flipV="1">
            <a:off x="6781800" y="5068784"/>
            <a:ext cx="152400" cy="762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4597" name="Text Box 21"/>
          <p:cNvSpPr txBox="1">
            <a:spLocks noChangeArrowheads="1"/>
          </p:cNvSpPr>
          <p:nvPr/>
        </p:nvSpPr>
        <p:spPr bwMode="auto">
          <a:xfrm>
            <a:off x="7239000" y="5602184"/>
            <a:ext cx="735013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/>
            <a:r>
              <a:rPr lang="en-US" altLang="en-US" sz="1200" b="1">
                <a:latin typeface="Arial" charset="0"/>
              </a:rPr>
              <a:t>Bone </a:t>
            </a:r>
          </a:p>
          <a:p>
            <a:pPr algn="l"/>
            <a:r>
              <a:rPr lang="en-US" altLang="en-US" sz="1200" b="1">
                <a:latin typeface="Arial" charset="0"/>
              </a:rPr>
              <a:t>marrow</a:t>
            </a:r>
          </a:p>
        </p:txBody>
      </p:sp>
      <p:sp>
        <p:nvSpPr>
          <p:cNvPr id="24598" name="Line 22"/>
          <p:cNvSpPr>
            <a:spLocks noChangeShapeType="1"/>
          </p:cNvSpPr>
          <p:nvPr/>
        </p:nvSpPr>
        <p:spPr bwMode="auto">
          <a:xfrm flipH="1">
            <a:off x="7391400" y="6059384"/>
            <a:ext cx="152400" cy="1524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4599" name="Oval 23"/>
          <p:cNvSpPr>
            <a:spLocks noChangeArrowheads="1"/>
          </p:cNvSpPr>
          <p:nvPr/>
        </p:nvSpPr>
        <p:spPr bwMode="auto">
          <a:xfrm>
            <a:off x="5562600" y="6287984"/>
            <a:ext cx="234950" cy="236538"/>
          </a:xfrm>
          <a:prstGeom prst="ellipse">
            <a:avLst/>
          </a:prstGeom>
          <a:solidFill>
            <a:srgbClr val="FF0000"/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70000"/>
              </a:lnSpc>
            </a:pPr>
            <a:endParaRPr lang="en-US" altLang="en-US"/>
          </a:p>
        </p:txBody>
      </p:sp>
      <p:sp>
        <p:nvSpPr>
          <p:cNvPr id="24600" name="Text Box 24"/>
          <p:cNvSpPr txBox="1">
            <a:spLocks noChangeArrowheads="1"/>
          </p:cNvSpPr>
          <p:nvPr/>
        </p:nvSpPr>
        <p:spPr bwMode="auto">
          <a:xfrm>
            <a:off x="5562600" y="6287984"/>
            <a:ext cx="234950" cy="242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ctr">
              <a:lnSpc>
                <a:spcPct val="90000"/>
              </a:lnSpc>
            </a:pPr>
            <a:r>
              <a:rPr lang="en-US" altLang="en-US" sz="1100" b="1">
                <a:solidFill>
                  <a:schemeClr val="bg1"/>
                </a:solidFill>
                <a:latin typeface="Arial" charset="0"/>
              </a:rPr>
              <a:t>4</a:t>
            </a:r>
          </a:p>
        </p:txBody>
      </p:sp>
      <p:sp>
        <p:nvSpPr>
          <p:cNvPr id="24601" name="Text Box 25"/>
          <p:cNvSpPr txBox="1">
            <a:spLocks noChangeArrowheads="1"/>
          </p:cNvSpPr>
          <p:nvPr/>
        </p:nvSpPr>
        <p:spPr bwMode="auto">
          <a:xfrm>
            <a:off x="5748338" y="6287984"/>
            <a:ext cx="1004887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 sz="2400">
                <a:solidFill>
                  <a:schemeClr val="tx1"/>
                </a:solidFill>
                <a:latin typeface="Times New Roman" charset="0"/>
              </a:defRPr>
            </a:lvl1pPr>
            <a:lvl2pPr marL="742950" indent="-285750">
              <a:defRPr sz="2400">
                <a:solidFill>
                  <a:schemeClr val="tx1"/>
                </a:solidFill>
                <a:latin typeface="Times New Roman" charset="0"/>
              </a:defRPr>
            </a:lvl2pPr>
            <a:lvl3pPr marL="1143000" indent="-228600">
              <a:defRPr sz="2400">
                <a:solidFill>
                  <a:schemeClr val="tx1"/>
                </a:solidFill>
                <a:latin typeface="Times New Roman" charset="0"/>
              </a:defRPr>
            </a:lvl3pPr>
            <a:lvl4pPr marL="1600200" indent="-228600">
              <a:defRPr sz="2400">
                <a:solidFill>
                  <a:schemeClr val="tx1"/>
                </a:solidFill>
                <a:latin typeface="Times New Roman" charset="0"/>
              </a:defRPr>
            </a:lvl4pPr>
            <a:lvl5pPr marL="2057400" indent="-228600">
              <a:defRPr sz="2400">
                <a:solidFill>
                  <a:schemeClr val="tx1"/>
                </a:solidFill>
                <a:latin typeface="Times New Roman" charset="0"/>
              </a:defRPr>
            </a:lvl5pPr>
            <a:lvl6pPr marL="25146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6pPr>
            <a:lvl7pPr marL="29718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7pPr>
            <a:lvl8pPr marL="34290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8pPr>
            <a:lvl9pPr marL="3886200" indent="-228600" algn="r" eaLnBrk="0" fontAlgn="base" hangingPunct="0"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Times New Roman" charset="0"/>
              </a:defRPr>
            </a:lvl9pPr>
          </a:lstStyle>
          <a:p>
            <a:pPr algn="l"/>
            <a:r>
              <a:rPr lang="en-US" altLang="en-US" sz="1200" b="1">
                <a:latin typeface="Arial" charset="0"/>
              </a:rPr>
              <a:t>Inject cells</a:t>
            </a:r>
            <a:br>
              <a:rPr lang="en-US" altLang="en-US" sz="1200" b="1">
                <a:latin typeface="Arial" charset="0"/>
              </a:rPr>
            </a:br>
            <a:r>
              <a:rPr lang="en-US" altLang="en-US" sz="1200" b="1">
                <a:latin typeface="Arial" charset="0"/>
              </a:rPr>
              <a:t>into patient</a:t>
            </a:r>
          </a:p>
        </p:txBody>
      </p:sp>
      <p:sp>
        <p:nvSpPr>
          <p:cNvPr id="24602" name="Line 26"/>
          <p:cNvSpPr>
            <a:spLocks noChangeShapeType="1"/>
          </p:cNvSpPr>
          <p:nvPr/>
        </p:nvSpPr>
        <p:spPr bwMode="auto">
          <a:xfrm flipH="1">
            <a:off x="6705600" y="2706584"/>
            <a:ext cx="381000" cy="15240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sp>
        <p:nvSpPr>
          <p:cNvPr id="24603" name="Line 27"/>
          <p:cNvSpPr>
            <a:spLocks noChangeShapeType="1"/>
          </p:cNvSpPr>
          <p:nvPr/>
        </p:nvSpPr>
        <p:spPr bwMode="auto">
          <a:xfrm flipH="1">
            <a:off x="6629400" y="3163784"/>
            <a:ext cx="457200" cy="0"/>
          </a:xfrm>
          <a:prstGeom prst="line">
            <a:avLst/>
          </a:prstGeom>
          <a:noFill/>
          <a:ln w="158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en-AU"/>
          </a:p>
        </p:txBody>
      </p:sp>
      <p:pic>
        <p:nvPicPr>
          <p:cNvPr id="5122" name="Picture 2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6693" y="3992067"/>
            <a:ext cx="5411581" cy="22959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36151709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 nodeType="clickPar">
                      <p:stCondLst>
                        <p:cond delay="indefinite"/>
                      </p:stCondLst>
                      <p:childTnLst>
                        <p:par>
                          <p:cTn id="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438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4386" grpId="0" build="p" bldLvl="2" autoUpdateAnimBg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/>
              <a:t>Research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/>
              <a:t>How recombinant DNA is helping  to produce  new vaccines?</a:t>
            </a:r>
          </a:p>
          <a:p>
            <a:r>
              <a:rPr lang="en-AU" dirty="0"/>
              <a:t>What difficulties are involved with this process?</a:t>
            </a:r>
          </a:p>
          <a:p>
            <a:r>
              <a:rPr lang="en-AU" dirty="0"/>
              <a:t>Examples of vaccines produced with the help of recombinant DNA</a:t>
            </a:r>
          </a:p>
          <a:p>
            <a:endParaRPr lang="en-AU" dirty="0"/>
          </a:p>
          <a:p>
            <a:r>
              <a:rPr lang="en-AU" dirty="0"/>
              <a:t>Human growth hormone is also produced using recombinant DNA. How long has this been happening?</a:t>
            </a:r>
          </a:p>
          <a:p>
            <a:r>
              <a:rPr lang="en-AU" dirty="0"/>
              <a:t>What are the uses and benefits of human growth hormone?</a:t>
            </a:r>
          </a:p>
          <a:p>
            <a:r>
              <a:rPr lang="en-AU" dirty="0"/>
              <a:t>Are there any risks/ethical concerns regarding the use and manufacture of  human growth hormone.</a:t>
            </a:r>
          </a:p>
        </p:txBody>
      </p:sp>
    </p:spTree>
    <p:extLst>
      <p:ext uri="{BB962C8B-B14F-4D97-AF65-F5344CB8AC3E}">
        <p14:creationId xmlns:p14="http://schemas.microsoft.com/office/powerpoint/2010/main" val="966410115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Adjacency">
  <a:themeElements>
    <a:clrScheme name="Flow">
      <a:dk1>
        <a:sysClr val="windowText" lastClr="000000"/>
      </a:dk1>
      <a:lt1>
        <a:sysClr val="window" lastClr="FFFFFF"/>
      </a:lt1>
      <a:dk2>
        <a:srgbClr val="04617B"/>
      </a:dk2>
      <a:lt2>
        <a:srgbClr val="DBF5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Adjacency">
      <a:fillStyleLst>
        <a:solidFill>
          <a:schemeClr val="phClr"/>
        </a:solidFill>
        <a:solidFill>
          <a:schemeClr val="phClr">
            <a:tint val="55000"/>
          </a:schemeClr>
        </a:solidFill>
        <a:solidFill>
          <a:schemeClr val="phClr"/>
        </a:solidFill>
      </a:fillStyleLst>
      <a:lnStyleLst>
        <a:ln w="12700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algn="bl" rotWithShape="0">
              <a:srgbClr val="000000">
                <a:alpha val="60000"/>
              </a:srgbClr>
            </a:outerShdw>
          </a:effectLst>
        </a:effectStyle>
        <a:effectStyle>
          <a:effectLst/>
          <a:scene3d>
            <a:camera prst="orthographicFront">
              <a:rot lat="0" lon="0" rev="0"/>
            </a:camera>
            <a:lightRig rig="brightRoom" dir="tl">
              <a:rot lat="0" lon="0" rev="1800000"/>
            </a:lightRig>
          </a:scene3d>
          <a:sp3d contourW="10160" prstMaterial="dkEdge">
            <a:bevelT w="38100" h="50800" prst="angle"/>
            <a:contourClr>
              <a:schemeClr val="phClr">
                <a:shade val="40000"/>
                <a:satMod val="15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</a:schemeClr>
            </a:gs>
            <a:gs pos="75000">
              <a:schemeClr val="phClr">
                <a:shade val="100000"/>
                <a:satMod val="115000"/>
              </a:schemeClr>
            </a:gs>
            <a:gs pos="100000">
              <a:schemeClr val="phClr">
                <a:shade val="70000"/>
                <a:satMod val="130000"/>
              </a:schemeClr>
            </a:gs>
          </a:gsLst>
          <a:path path="circle">
            <a:fillToRect l="20000" t="50000" r="100000" b="5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tint val="97000"/>
              </a:schemeClr>
              <a:schemeClr val="phClr">
                <a:shade val="96000"/>
              </a:schemeClr>
            </a:duotone>
          </a:blip>
          <a:tile tx="0" ty="0" sx="32000" sy="32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Adjacency</Template>
  <TotalTime>679</TotalTime>
  <Words>873</Words>
  <Application>Microsoft Office PowerPoint</Application>
  <PresentationFormat>On-screen Show (4:3)</PresentationFormat>
  <Paragraphs>143</Paragraphs>
  <Slides>16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21" baseType="lpstr">
      <vt:lpstr>Arial</vt:lpstr>
      <vt:lpstr>Calibri</vt:lpstr>
      <vt:lpstr>Cambria</vt:lpstr>
      <vt:lpstr>Times New Roman</vt:lpstr>
      <vt:lpstr>Adjacency</vt:lpstr>
      <vt:lpstr>Biotechnology -Recombinant DNA</vt:lpstr>
      <vt:lpstr>What are we doing today?</vt:lpstr>
      <vt:lpstr>DNA  Technology</vt:lpstr>
      <vt:lpstr>The Cloning of a Gene</vt:lpstr>
      <vt:lpstr>PowerPoint Presentation</vt:lpstr>
      <vt:lpstr>PowerPoint Presentation</vt:lpstr>
      <vt:lpstr>Genes can be cloned in recombinant  plasmids</vt:lpstr>
      <vt:lpstr>Biotechnology Products</vt:lpstr>
      <vt:lpstr>Recombinant cells and organisms can mass-produce gene products</vt:lpstr>
      <vt:lpstr>Hormones - Insulin</vt:lpstr>
      <vt:lpstr>Vaccines - Hepatitis B</vt:lpstr>
      <vt:lpstr>DNA technology is changing the pharmaceutical industry and medicine</vt:lpstr>
      <vt:lpstr> Genetically modified organisms are transforming agriculture</vt:lpstr>
      <vt:lpstr>How are these new plants created?</vt:lpstr>
      <vt:lpstr>Gene therapy may someday help treat a variety of diseases</vt:lpstr>
      <vt:lpstr>Research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Science Inquiry Skills</dc:title>
  <dc:creator>BRUNS Emma</dc:creator>
  <cp:lastModifiedBy>Ivan Opacak</cp:lastModifiedBy>
  <cp:revision>56</cp:revision>
  <dcterms:created xsi:type="dcterms:W3CDTF">2018-02-02T00:28:02Z</dcterms:created>
  <dcterms:modified xsi:type="dcterms:W3CDTF">2021-06-14T00:40:58Z</dcterms:modified>
</cp:coreProperties>
</file>
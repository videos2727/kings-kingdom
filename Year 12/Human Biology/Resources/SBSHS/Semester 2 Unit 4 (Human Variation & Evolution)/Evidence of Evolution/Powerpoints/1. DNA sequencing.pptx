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8" r:id="rId3"/>
    <p:sldId id="304" r:id="rId4"/>
    <p:sldId id="305" r:id="rId5"/>
    <p:sldId id="301" r:id="rId6"/>
    <p:sldId id="289" r:id="rId7"/>
    <p:sldId id="287" r:id="rId8"/>
    <p:sldId id="303" r:id="rId9"/>
    <p:sldId id="291" r:id="rId10"/>
    <p:sldId id="295" r:id="rId11"/>
    <p:sldId id="296" r:id="rId12"/>
    <p:sldId id="29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83" autoAdjust="0"/>
  </p:normalViewPr>
  <p:slideViewPr>
    <p:cSldViewPr>
      <p:cViewPr varScale="1">
        <p:scale>
          <a:sx n="109" d="100"/>
          <a:sy n="109" d="100"/>
        </p:scale>
        <p:origin x="167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6D9512-C607-479D-9091-7AFC62A6F268}" type="datetimeFigureOut">
              <a:rPr lang="en-AU" smtClean="0"/>
              <a:t>31/01/2020</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BC5F8F-1D81-4F44-BB53-0D7347ABA7C5}" type="slidenum">
              <a:rPr lang="en-AU" smtClean="0"/>
              <a:t>‹#›</a:t>
            </a:fld>
            <a:endParaRPr lang="en-AU"/>
          </a:p>
        </p:txBody>
      </p:sp>
    </p:spTree>
    <p:extLst>
      <p:ext uri="{BB962C8B-B14F-4D97-AF65-F5344CB8AC3E}">
        <p14:creationId xmlns:p14="http://schemas.microsoft.com/office/powerpoint/2010/main" val="4012645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https://www.youtube.com/watch?v=8kK2zwjRV0M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https://www.youtube.com/watch?v=5qSrmeiWsuc</a:t>
            </a:r>
          </a:p>
          <a:p>
            <a:endParaRPr lang="en-US" dirty="0"/>
          </a:p>
        </p:txBody>
      </p:sp>
      <p:sp>
        <p:nvSpPr>
          <p:cNvPr id="4" name="Slide Number Placeholder 3"/>
          <p:cNvSpPr>
            <a:spLocks noGrp="1"/>
          </p:cNvSpPr>
          <p:nvPr>
            <p:ph type="sldNum" sz="quarter" idx="10"/>
          </p:nvPr>
        </p:nvSpPr>
        <p:spPr/>
        <p:txBody>
          <a:bodyPr/>
          <a:lstStyle/>
          <a:p>
            <a:fld id="{D2BC5F8F-1D81-4F44-BB53-0D7347ABA7C5}" type="slidenum">
              <a:rPr lang="en-AU" smtClean="0"/>
              <a:t>5</a:t>
            </a:fld>
            <a:endParaRPr lang="en-AU"/>
          </a:p>
        </p:txBody>
      </p:sp>
    </p:spTree>
    <p:extLst>
      <p:ext uri="{BB962C8B-B14F-4D97-AF65-F5344CB8AC3E}">
        <p14:creationId xmlns:p14="http://schemas.microsoft.com/office/powerpoint/2010/main" val="1347494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a:t>
            </a:r>
            <a:r>
              <a:rPr lang="en-US" dirty="0" err="1" smtClean="0"/>
              <a:t>www.youtube.com</a:t>
            </a:r>
            <a:r>
              <a:rPr lang="en-US" dirty="0" smtClean="0"/>
              <a:t>/</a:t>
            </a:r>
            <a:r>
              <a:rPr lang="en-US" dirty="0" err="1" smtClean="0"/>
              <a:t>watch?v</a:t>
            </a:r>
            <a:r>
              <a:rPr lang="en-US" dirty="0" smtClean="0"/>
              <a:t>=3M0PyxFPwkQ</a:t>
            </a:r>
            <a:endParaRPr lang="en-US" dirty="0"/>
          </a:p>
        </p:txBody>
      </p:sp>
      <p:sp>
        <p:nvSpPr>
          <p:cNvPr id="4" name="Slide Number Placeholder 3"/>
          <p:cNvSpPr>
            <a:spLocks noGrp="1"/>
          </p:cNvSpPr>
          <p:nvPr>
            <p:ph type="sldNum" sz="quarter" idx="10"/>
          </p:nvPr>
        </p:nvSpPr>
        <p:spPr/>
        <p:txBody>
          <a:bodyPr/>
          <a:lstStyle/>
          <a:p>
            <a:fld id="{D2BC5F8F-1D81-4F44-BB53-0D7347ABA7C5}" type="slidenum">
              <a:rPr lang="en-AU" smtClean="0"/>
              <a:t>7</a:t>
            </a:fld>
            <a:endParaRPr lang="en-AU"/>
          </a:p>
        </p:txBody>
      </p:sp>
    </p:spTree>
    <p:extLst>
      <p:ext uri="{BB962C8B-B14F-4D97-AF65-F5344CB8AC3E}">
        <p14:creationId xmlns:p14="http://schemas.microsoft.com/office/powerpoint/2010/main" val="328750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a:t>
            </a:r>
            <a:r>
              <a:rPr lang="en-US" dirty="0" err="1" smtClean="0"/>
              <a:t>www.youtube.com</a:t>
            </a:r>
            <a:r>
              <a:rPr lang="en-US" dirty="0" smtClean="0"/>
              <a:t>/</a:t>
            </a:r>
            <a:r>
              <a:rPr lang="en-US" dirty="0" err="1" smtClean="0"/>
              <a:t>watch?v</a:t>
            </a:r>
            <a:r>
              <a:rPr lang="en-US" dirty="0" smtClean="0"/>
              <a:t>=Nl6eLez3CNI</a:t>
            </a:r>
          </a:p>
          <a:p>
            <a:r>
              <a:rPr lang="en-US" dirty="0" smtClean="0"/>
              <a:t>https://www.youtube.com/watch?v=VD5qEVTsjTc</a:t>
            </a:r>
            <a:endParaRPr lang="en-US" dirty="0"/>
          </a:p>
        </p:txBody>
      </p:sp>
      <p:sp>
        <p:nvSpPr>
          <p:cNvPr id="4" name="Slide Number Placeholder 3"/>
          <p:cNvSpPr>
            <a:spLocks noGrp="1"/>
          </p:cNvSpPr>
          <p:nvPr>
            <p:ph type="sldNum" sz="quarter" idx="10"/>
          </p:nvPr>
        </p:nvSpPr>
        <p:spPr/>
        <p:txBody>
          <a:bodyPr/>
          <a:lstStyle/>
          <a:p>
            <a:fld id="{D2BC5F8F-1D81-4F44-BB53-0D7347ABA7C5}" type="slidenum">
              <a:rPr lang="en-AU" smtClean="0"/>
              <a:t>10</a:t>
            </a:fld>
            <a:endParaRPr lang="en-AU"/>
          </a:p>
        </p:txBody>
      </p:sp>
    </p:spTree>
    <p:extLst>
      <p:ext uri="{BB962C8B-B14F-4D97-AF65-F5344CB8AC3E}">
        <p14:creationId xmlns:p14="http://schemas.microsoft.com/office/powerpoint/2010/main" val="2045190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https://</a:t>
            </a:r>
            <a:r>
              <a:rPr lang="en-US" dirty="0" err="1" smtClean="0"/>
              <a:t>www.youtube.com</a:t>
            </a:r>
            <a:r>
              <a:rPr lang="en-US" dirty="0" smtClean="0"/>
              <a:t>/</a:t>
            </a:r>
            <a:r>
              <a:rPr lang="en-US" dirty="0" err="1" smtClean="0"/>
              <a:t>watch?v</a:t>
            </a:r>
            <a:r>
              <a:rPr lang="en-US" dirty="0" smtClean="0"/>
              <a:t>=ZDZUAleWX78</a:t>
            </a:r>
          </a:p>
          <a:p>
            <a:endParaRPr lang="en-US" dirty="0"/>
          </a:p>
        </p:txBody>
      </p:sp>
      <p:sp>
        <p:nvSpPr>
          <p:cNvPr id="4" name="Slide Number Placeholder 3"/>
          <p:cNvSpPr>
            <a:spLocks noGrp="1"/>
          </p:cNvSpPr>
          <p:nvPr>
            <p:ph type="sldNum" sz="quarter" idx="10"/>
          </p:nvPr>
        </p:nvSpPr>
        <p:spPr/>
        <p:txBody>
          <a:bodyPr/>
          <a:lstStyle/>
          <a:p>
            <a:fld id="{D2BC5F8F-1D81-4F44-BB53-0D7347ABA7C5}" type="slidenum">
              <a:rPr lang="en-AU" smtClean="0"/>
              <a:t>11</a:t>
            </a:fld>
            <a:endParaRPr lang="en-AU"/>
          </a:p>
        </p:txBody>
      </p:sp>
    </p:spTree>
    <p:extLst>
      <p:ext uri="{BB962C8B-B14F-4D97-AF65-F5344CB8AC3E}">
        <p14:creationId xmlns:p14="http://schemas.microsoft.com/office/powerpoint/2010/main" val="1044725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0"/>
                <a:cs typeface="ＭＳ Ｐゴシック" charset="0"/>
              </a:defRPr>
            </a:lvl1pPr>
            <a:lvl2pPr marL="37931725" indent="-37474525" eaLnBrk="0" hangingPunct="0">
              <a:defRPr sz="2400">
                <a:solidFill>
                  <a:schemeClr val="tx1"/>
                </a:solidFill>
                <a:latin typeface="Times New Roman" charset="0"/>
                <a:ea typeface="ＭＳ Ｐゴシック" charset="0"/>
              </a:defRPr>
            </a:lvl2pPr>
            <a:lvl3pPr eaLnBrk="0" hangingPunct="0">
              <a:defRPr sz="2400">
                <a:solidFill>
                  <a:schemeClr val="tx1"/>
                </a:solidFill>
                <a:latin typeface="Times New Roman" charset="0"/>
                <a:ea typeface="ＭＳ Ｐゴシック" charset="0"/>
              </a:defRPr>
            </a:lvl3pPr>
            <a:lvl4pPr eaLnBrk="0" hangingPunct="0">
              <a:defRPr sz="2400">
                <a:solidFill>
                  <a:schemeClr val="tx1"/>
                </a:solidFill>
                <a:latin typeface="Times New Roman" charset="0"/>
                <a:ea typeface="ＭＳ Ｐゴシック" charset="0"/>
              </a:defRPr>
            </a:lvl4pPr>
            <a:lvl5pPr eaLnBrk="0" hangingPunct="0">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4C87F06D-E359-544A-ACC0-A99793AC0A1A}" type="slidenum">
              <a:rPr lang="en-GB" sz="1200"/>
              <a:pPr eaLnBrk="1" hangingPunct="1"/>
              <a:t>12</a:t>
            </a:fld>
            <a:endParaRPr lang="en-GB" sz="120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smtClean="0"/>
              <a:t>https://</a:t>
            </a:r>
            <a:r>
              <a:rPr lang="en-US" dirty="0" err="1" smtClean="0"/>
              <a:t>www.youtube.com</a:t>
            </a:r>
            <a:r>
              <a:rPr lang="en-US" dirty="0" smtClean="0"/>
              <a:t>/</a:t>
            </a:r>
            <a:r>
              <a:rPr lang="en-US" dirty="0" err="1" smtClean="0"/>
              <a:t>watch?v</a:t>
            </a:r>
            <a:r>
              <a:rPr lang="en-US" dirty="0" smtClean="0"/>
              <a:t>=ZDZUAleWX78</a:t>
            </a:r>
          </a:p>
          <a:p>
            <a:pPr eaLnBrk="1" hangingPunct="1">
              <a:spcBef>
                <a:spcPct val="0"/>
              </a:spcBef>
            </a:pPr>
            <a:endParaRPr lang="en-AU" dirty="0">
              <a:latin typeface="Times New Roman" charset="0"/>
              <a:ea typeface="ＭＳ Ｐゴシック" charset="0"/>
              <a:cs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072D987-F769-4FBA-90D4-E4010B051761}" type="datetimeFigureOut">
              <a:rPr lang="en-AU" smtClean="0"/>
              <a:t>31/01/2020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72D987-F769-4FBA-90D4-E4010B051761}" type="datetimeFigureOut">
              <a:rPr lang="en-AU" smtClean="0"/>
              <a:t>31/01/2020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72D987-F769-4FBA-90D4-E4010B051761}" type="datetimeFigureOut">
              <a:rPr lang="en-AU" smtClean="0"/>
              <a:t>31/01/2020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072D987-F769-4FBA-90D4-E4010B051761}" type="datetimeFigureOut">
              <a:rPr lang="en-AU" smtClean="0"/>
              <a:t>31/01/2020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072D987-F769-4FBA-90D4-E4010B051761}" type="datetimeFigureOut">
              <a:rPr lang="en-AU" smtClean="0"/>
              <a:t>31/01/2020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072D987-F769-4FBA-90D4-E4010B051761}" type="datetimeFigureOut">
              <a:rPr lang="en-AU" smtClean="0"/>
              <a:t>31/01/2020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72D987-F769-4FBA-90D4-E4010B051761}" type="datetimeFigureOut">
              <a:rPr lang="en-AU" smtClean="0"/>
              <a:t>31/01/2020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72D987-F769-4FBA-90D4-E4010B051761}" type="datetimeFigureOut">
              <a:rPr lang="en-AU" smtClean="0"/>
              <a:t>31/01/2020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2072D987-F769-4FBA-90D4-E4010B051761}" type="datetimeFigureOut">
              <a:rPr lang="en-AU" smtClean="0"/>
              <a:t>31/01/2020</a:t>
            </a:fld>
            <a:endParaRPr lang="en-AU"/>
          </a:p>
        </p:txBody>
      </p:sp>
      <p:sp>
        <p:nvSpPr>
          <p:cNvPr id="9" name="Slide Number Placeholder 8"/>
          <p:cNvSpPr>
            <a:spLocks noGrp="1"/>
          </p:cNvSpPr>
          <p:nvPr>
            <p:ph type="sldNum" sz="quarter" idx="11"/>
          </p:nvPr>
        </p:nvSpPr>
        <p:spPr/>
        <p:txBody>
          <a:bodyPr/>
          <a:lstStyle/>
          <a:p>
            <a:fld id="{3F33971A-AB81-42CD-86E9-32844290D5A4}" type="slidenum">
              <a:rPr lang="en-AU" smtClean="0"/>
              <a:t>‹#›</a:t>
            </a:fld>
            <a:endParaRPr lang="en-AU"/>
          </a:p>
        </p:txBody>
      </p:sp>
      <p:sp>
        <p:nvSpPr>
          <p:cNvPr id="10" name="Footer Placeholder 9"/>
          <p:cNvSpPr>
            <a:spLocks noGrp="1"/>
          </p:cNvSpPr>
          <p:nvPr>
            <p:ph type="ftr" sz="quarter" idx="12"/>
          </p:nvPr>
        </p:nvSpPr>
        <p:spPr/>
        <p:txBody>
          <a:bodyPr/>
          <a:lstStyle/>
          <a:p>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72D987-F769-4FBA-90D4-E4010B051761}" type="datetimeFigureOut">
              <a:rPr lang="en-AU" smtClean="0"/>
              <a:t>31/01/2020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72D987-F769-4FBA-90D4-E4010B051761}" type="datetimeFigureOut">
              <a:rPr lang="en-AU" smtClean="0"/>
              <a:t>31/01/2020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AU"/>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lipArt Placeholder 3"/>
          <p:cNvSpPr>
            <a:spLocks noGrp="1"/>
          </p:cNvSpPr>
          <p:nvPr>
            <p:ph type="clipArt" sz="half" idx="2"/>
          </p:nvPr>
        </p:nvSpPr>
        <p:spPr>
          <a:xfrm>
            <a:off x="4648200" y="1981200"/>
            <a:ext cx="3810000" cy="4114800"/>
          </a:xfrm>
        </p:spPr>
        <p:txBody>
          <a:bodyPr/>
          <a:lstStyle/>
          <a:p>
            <a:pPr lvl="0"/>
            <a:endParaRPr lang="en-AU" noProof="0" smtClean="0"/>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1C9FF4CE-0745-6F40-AA74-B7579F60DC78}" type="slidenum">
              <a:rPr lang="en-GB"/>
              <a:pPr/>
              <a:t>‹#›</a:t>
            </a:fld>
            <a:endParaRPr lang="en-GB"/>
          </a:p>
        </p:txBody>
      </p:sp>
    </p:spTree>
    <p:extLst>
      <p:ext uri="{BB962C8B-B14F-4D97-AF65-F5344CB8AC3E}">
        <p14:creationId xmlns:p14="http://schemas.microsoft.com/office/powerpoint/2010/main" val="3355503862"/>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F33971A-AB81-42CD-86E9-32844290D5A4}" type="slidenum">
              <a:rPr lang="en-AU" smtClean="0"/>
              <a:t>‹#›</a:t>
            </a:fld>
            <a:endParaRPr lang="en-AU"/>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AU"/>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2072D987-F769-4FBA-90D4-E4010B051761}" type="datetimeFigureOut">
              <a:rPr lang="en-AU" smtClean="0"/>
              <a:t>31/01/2020</a:t>
            </a:fld>
            <a:endParaRPr lang="en-A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Biotechnology</a:t>
            </a:r>
            <a:br>
              <a:rPr lang="en-AU" dirty="0" smtClean="0"/>
            </a:br>
            <a:r>
              <a:rPr lang="en-AU" dirty="0" smtClean="0"/>
              <a:t>-DNA Sequencing</a:t>
            </a:r>
            <a:endParaRPr lang="en-AU" dirty="0"/>
          </a:p>
        </p:txBody>
      </p:sp>
      <p:sp>
        <p:nvSpPr>
          <p:cNvPr id="3" name="Subtitle 2"/>
          <p:cNvSpPr>
            <a:spLocks noGrp="1"/>
          </p:cNvSpPr>
          <p:nvPr>
            <p:ph type="subTitle" idx="1"/>
          </p:nvPr>
        </p:nvSpPr>
        <p:spPr>
          <a:xfrm>
            <a:off x="1403648" y="6381328"/>
            <a:ext cx="6461760" cy="476672"/>
          </a:xfrm>
        </p:spPr>
        <p:txBody>
          <a:bodyPr/>
          <a:lstStyle/>
          <a:p>
            <a:endParaRPr lang="en-AU" dirty="0"/>
          </a:p>
        </p:txBody>
      </p:sp>
    </p:spTree>
    <p:extLst>
      <p:ext uri="{BB962C8B-B14F-4D97-AF65-F5344CB8AC3E}">
        <p14:creationId xmlns:p14="http://schemas.microsoft.com/office/powerpoint/2010/main" val="35759404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are we doing today?</a:t>
            </a:r>
            <a:endParaRPr lang="en-AU" dirty="0"/>
          </a:p>
        </p:txBody>
      </p:sp>
      <p:sp>
        <p:nvSpPr>
          <p:cNvPr id="3" name="Content Placeholder 2"/>
          <p:cNvSpPr>
            <a:spLocks noGrp="1"/>
          </p:cNvSpPr>
          <p:nvPr>
            <p:ph idx="1"/>
          </p:nvPr>
        </p:nvSpPr>
        <p:spPr/>
        <p:txBody>
          <a:bodyPr>
            <a:normAutofit/>
          </a:bodyPr>
          <a:lstStyle/>
          <a:p>
            <a:pPr lvl="0"/>
            <a:r>
              <a:rPr lang="en-AU" dirty="0"/>
              <a:t>DNA sequencing of genomes using biotechnological techniques (SU</a:t>
            </a:r>
            <a:r>
              <a:rPr lang="en-AU" dirty="0" smtClean="0"/>
              <a:t>)</a:t>
            </a:r>
          </a:p>
          <a:p>
            <a:r>
              <a:rPr lang="en-AU" dirty="0"/>
              <a:t>Biotechnological techniques provide evidence for evolution by using PCR (to amplify minute samples of DNA to testable amounts), bacterial enzymes and gel electrophoresis to facilitate DNA sequencing of genomes (SU</a:t>
            </a:r>
            <a:r>
              <a:rPr lang="en-AU" dirty="0" smtClean="0"/>
              <a:t>)</a:t>
            </a:r>
          </a:p>
          <a:p>
            <a:pPr lvl="0"/>
            <a:r>
              <a:rPr lang="en-AU" dirty="0"/>
              <a:t>Conduct investigations, including the use of virtual or real biotechnological techniques of polymerase chain reaction (PCR), gel electrophoresis for deoxyribonucleic acid (DNA)sequencing, and techniques for relative and absolute dating, safely, competently and methodically for valid and reliable collection of data (SIS)</a:t>
            </a:r>
            <a:endParaRPr lang="en-GB" dirty="0"/>
          </a:p>
          <a:p>
            <a:endParaRPr lang="en-GB" dirty="0"/>
          </a:p>
          <a:p>
            <a:pPr lvl="0"/>
            <a:endParaRPr lang="en-GB" dirty="0"/>
          </a:p>
          <a:p>
            <a:endParaRPr lang="en-AU" dirty="0"/>
          </a:p>
          <a:p>
            <a:endParaRPr lang="en-AU" dirty="0" smtClean="0"/>
          </a:p>
          <a:p>
            <a:endParaRPr lang="en-AU" dirty="0" smtClean="0"/>
          </a:p>
          <a:p>
            <a:pPr lvl="1"/>
            <a:endParaRPr lang="en-AU" dirty="0" smtClean="0"/>
          </a:p>
        </p:txBody>
      </p:sp>
    </p:spTree>
    <p:extLst>
      <p:ext uri="{BB962C8B-B14F-4D97-AF65-F5344CB8AC3E}">
        <p14:creationId xmlns:p14="http://schemas.microsoft.com/office/powerpoint/2010/main" val="14913144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552" y="260648"/>
            <a:ext cx="7620000" cy="1143000"/>
          </a:xfrm>
        </p:spPr>
        <p:txBody>
          <a:bodyPr/>
          <a:lstStyle/>
          <a:p>
            <a:pPr eaLnBrk="1" hangingPunct="1"/>
            <a:r>
              <a:rPr lang="en-US" altLang="en-US" dirty="0" smtClean="0">
                <a:cs typeface="Arial" charset="0"/>
              </a:rPr>
              <a:t>DNA Structure</a:t>
            </a:r>
          </a:p>
        </p:txBody>
      </p:sp>
      <p:sp>
        <p:nvSpPr>
          <p:cNvPr id="2" name="Content Placeholder 1"/>
          <p:cNvSpPr>
            <a:spLocks noGrp="1"/>
          </p:cNvSpPr>
          <p:nvPr>
            <p:ph idx="1"/>
          </p:nvPr>
        </p:nvSpPr>
        <p:spPr>
          <a:xfrm>
            <a:off x="107504" y="1821748"/>
            <a:ext cx="7620000" cy="4800600"/>
          </a:xfrm>
        </p:spPr>
        <p:txBody>
          <a:bodyPr/>
          <a:lstStyle/>
          <a:p>
            <a:endParaRPr lang="en-US"/>
          </a:p>
        </p:txBody>
      </p:sp>
      <p:grpSp>
        <p:nvGrpSpPr>
          <p:cNvPr id="13315" name="Group 22"/>
          <p:cNvGrpSpPr>
            <a:grpSpLocks/>
          </p:cNvGrpSpPr>
          <p:nvPr/>
        </p:nvGrpSpPr>
        <p:grpSpPr bwMode="auto">
          <a:xfrm>
            <a:off x="-349696" y="1147061"/>
            <a:ext cx="3357563" cy="5562600"/>
            <a:chOff x="457200" y="1143000"/>
            <a:chExt cx="2422922" cy="4013200"/>
          </a:xfrm>
        </p:grpSpPr>
        <p:grpSp>
          <p:nvGrpSpPr>
            <p:cNvPr id="13332" name="Group 21"/>
            <p:cNvGrpSpPr>
              <a:grpSpLocks/>
            </p:cNvGrpSpPr>
            <p:nvPr/>
          </p:nvGrpSpPr>
          <p:grpSpPr bwMode="auto">
            <a:xfrm>
              <a:off x="457200" y="1143000"/>
              <a:ext cx="2422922" cy="4013200"/>
              <a:chOff x="3810000" y="1295400"/>
              <a:chExt cx="2422922" cy="4013200"/>
            </a:xfrm>
          </p:grpSpPr>
          <p:pic>
            <p:nvPicPr>
              <p:cNvPr id="13334" name="Picture 1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447800"/>
                <a:ext cx="2194322"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5" name="Rectangle 14"/>
              <p:cNvSpPr>
                <a:spLocks noChangeArrowheads="1"/>
              </p:cNvSpPr>
              <p:nvPr/>
            </p:nvSpPr>
            <p:spPr bwMode="auto">
              <a:xfrm>
                <a:off x="3810000" y="1295400"/>
                <a:ext cx="838200" cy="1676400"/>
              </a:xfrm>
              <a:prstGeom prst="rect">
                <a:avLst/>
              </a:prstGeom>
              <a:solidFill>
                <a:srgbClr val="FFFFFF"/>
              </a:solidFill>
              <a:ln w="19050">
                <a:solidFill>
                  <a:srgbClr val="FFFFFF"/>
                </a:solidFill>
                <a:round/>
                <a:headEnd/>
                <a:tailEnd/>
              </a:ln>
            </p:spPr>
            <p:txBody>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algn="ctr"/>
                <a:endParaRPr lang="en-US" altLang="en-US"/>
              </a:p>
            </p:txBody>
          </p:sp>
        </p:grpSp>
        <p:sp>
          <p:nvSpPr>
            <p:cNvPr id="13333" name="Rectangle 15"/>
            <p:cNvSpPr>
              <a:spLocks noChangeArrowheads="1"/>
            </p:cNvSpPr>
            <p:nvPr/>
          </p:nvSpPr>
          <p:spPr bwMode="auto">
            <a:xfrm>
              <a:off x="2438400" y="1219200"/>
              <a:ext cx="381000" cy="533400"/>
            </a:xfrm>
            <a:prstGeom prst="rect">
              <a:avLst/>
            </a:prstGeom>
            <a:solidFill>
              <a:srgbClr val="FFFFFF"/>
            </a:solidFill>
            <a:ln w="19050">
              <a:solidFill>
                <a:srgbClr val="FFFFFF"/>
              </a:solidFill>
              <a:round/>
              <a:headEnd/>
              <a:tailEnd/>
            </a:ln>
          </p:spPr>
          <p:txBody>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algn="ctr"/>
              <a:endParaRPr lang="en-US" altLang="en-US"/>
            </a:p>
          </p:txBody>
        </p:sp>
      </p:grpSp>
      <p:grpSp>
        <p:nvGrpSpPr>
          <p:cNvPr id="13316" name="Group 30"/>
          <p:cNvGrpSpPr>
            <a:grpSpLocks/>
          </p:cNvGrpSpPr>
          <p:nvPr/>
        </p:nvGrpSpPr>
        <p:grpSpPr bwMode="auto">
          <a:xfrm>
            <a:off x="1402904" y="2332923"/>
            <a:ext cx="4430713" cy="2460625"/>
            <a:chOff x="1752600" y="2110831"/>
            <a:chExt cx="4430716" cy="2461169"/>
          </a:xfrm>
        </p:grpSpPr>
        <p:grpSp>
          <p:nvGrpSpPr>
            <p:cNvPr id="13326" name="Group 19"/>
            <p:cNvGrpSpPr>
              <a:grpSpLocks/>
            </p:cNvGrpSpPr>
            <p:nvPr/>
          </p:nvGrpSpPr>
          <p:grpSpPr bwMode="auto">
            <a:xfrm>
              <a:off x="3581400" y="2110831"/>
              <a:ext cx="2601916" cy="2461169"/>
              <a:chOff x="533400" y="4038600"/>
              <a:chExt cx="2601916" cy="2461169"/>
            </a:xfrm>
          </p:grpSpPr>
          <p:pic>
            <p:nvPicPr>
              <p:cNvPr id="13330" name="Picture 18"/>
              <p:cNvPicPr>
                <a:picLocks noChangeAspect="1"/>
              </p:cNvPicPr>
              <p:nvPr/>
            </p:nvPicPr>
            <p:blipFill>
              <a:blip r:embed="rId3">
                <a:extLst>
                  <a:ext uri="{28A0092B-C50C-407E-A947-70E740481C1C}">
                    <a14:useLocalDpi xmlns:a14="http://schemas.microsoft.com/office/drawing/2010/main" val="0"/>
                  </a:ext>
                </a:extLst>
              </a:blip>
              <a:srcRect t="53285"/>
              <a:stretch>
                <a:fillRect/>
              </a:stretch>
            </p:blipFill>
            <p:spPr bwMode="auto">
              <a:xfrm>
                <a:off x="685800" y="4114800"/>
                <a:ext cx="2449516" cy="2384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1" name="Rectangle 17"/>
              <p:cNvSpPr>
                <a:spLocks noChangeArrowheads="1"/>
              </p:cNvSpPr>
              <p:nvPr/>
            </p:nvSpPr>
            <p:spPr bwMode="auto">
              <a:xfrm>
                <a:off x="533400" y="4038600"/>
                <a:ext cx="381000" cy="533400"/>
              </a:xfrm>
              <a:prstGeom prst="rect">
                <a:avLst/>
              </a:prstGeom>
              <a:solidFill>
                <a:srgbClr val="FFFFFF"/>
              </a:solidFill>
              <a:ln w="19050">
                <a:solidFill>
                  <a:srgbClr val="FFFFFF"/>
                </a:solidFill>
                <a:round/>
                <a:headEnd/>
                <a:tailEnd/>
              </a:ln>
            </p:spPr>
            <p:txBody>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algn="ctr"/>
                <a:endParaRPr lang="en-US" altLang="en-US"/>
              </a:p>
            </p:txBody>
          </p:sp>
        </p:grpSp>
        <p:sp>
          <p:nvSpPr>
            <p:cNvPr id="13327" name="Rectangle 23"/>
            <p:cNvSpPr>
              <a:spLocks noChangeArrowheads="1"/>
            </p:cNvSpPr>
            <p:nvPr/>
          </p:nvSpPr>
          <p:spPr bwMode="auto">
            <a:xfrm>
              <a:off x="1752600" y="3439701"/>
              <a:ext cx="685800" cy="381000"/>
            </a:xfrm>
            <a:prstGeom prst="rect">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algn="ctr"/>
              <a:endParaRPr lang="en-US" altLang="en-US"/>
            </a:p>
          </p:txBody>
        </p:sp>
        <p:sp>
          <p:nvSpPr>
            <p:cNvPr id="13328" name="Rectangle 24"/>
            <p:cNvSpPr>
              <a:spLocks noChangeArrowheads="1"/>
            </p:cNvSpPr>
            <p:nvPr/>
          </p:nvSpPr>
          <p:spPr bwMode="auto">
            <a:xfrm>
              <a:off x="3657600" y="3025231"/>
              <a:ext cx="1524000" cy="1219200"/>
            </a:xfrm>
            <a:prstGeom prst="rect">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algn="ctr"/>
              <a:endParaRPr lang="en-US" altLang="en-US"/>
            </a:p>
          </p:txBody>
        </p:sp>
        <p:sp>
          <p:nvSpPr>
            <p:cNvPr id="26" name="Trapezoid 25"/>
            <p:cNvSpPr/>
            <p:nvPr/>
          </p:nvSpPr>
          <p:spPr bwMode="auto">
            <a:xfrm rot="16200000">
              <a:off x="2441441" y="3022392"/>
              <a:ext cx="1219470" cy="1219201"/>
            </a:xfrm>
            <a:prstGeom prst="trapezoid">
              <a:avLst>
                <a:gd name="adj" fmla="val 35151"/>
              </a:avLst>
            </a:prstGeom>
            <a:solidFill>
              <a:srgbClr val="FF9900">
                <a:alpha val="38000"/>
              </a:srgbClr>
            </a:solidFill>
            <a:ln w="19050" cap="flat" cmpd="sng" algn="ctr">
              <a:solidFill>
                <a:srgbClr val="FF0000"/>
              </a:solidFill>
              <a:prstDash val="solid"/>
              <a:round/>
              <a:headEnd type="none" w="med" len="med"/>
              <a:tailEnd type="none" w="med" len="med"/>
            </a:ln>
            <a:effectLst/>
          </p:spPr>
          <p:txBody>
            <a:bodyPr/>
            <a:lstStyle/>
            <a:p>
              <a:pPr algn="ctr">
                <a:defRPr/>
              </a:pPr>
              <a:endParaRPr lang="en-US">
                <a:ea typeface="ＭＳ Ｐゴシック" charset="0"/>
                <a:cs typeface="ＭＳ Ｐゴシック" charset="0"/>
              </a:endParaRPr>
            </a:p>
          </p:txBody>
        </p:sp>
      </p:grpSp>
      <p:grpSp>
        <p:nvGrpSpPr>
          <p:cNvPr id="13317" name="Group 29"/>
          <p:cNvGrpSpPr>
            <a:grpSpLocks/>
          </p:cNvGrpSpPr>
          <p:nvPr/>
        </p:nvGrpSpPr>
        <p:grpSpPr bwMode="auto">
          <a:xfrm>
            <a:off x="4069904" y="1821748"/>
            <a:ext cx="4430713" cy="3051175"/>
            <a:chOff x="4419600" y="1600200"/>
            <a:chExt cx="4430716" cy="3051651"/>
          </a:xfrm>
        </p:grpSpPr>
        <p:grpSp>
          <p:nvGrpSpPr>
            <p:cNvPr id="13320" name="Group 20"/>
            <p:cNvGrpSpPr>
              <a:grpSpLocks/>
            </p:cNvGrpSpPr>
            <p:nvPr/>
          </p:nvGrpSpPr>
          <p:grpSpPr bwMode="auto">
            <a:xfrm>
              <a:off x="6400800" y="1600200"/>
              <a:ext cx="2449516" cy="3051651"/>
              <a:chOff x="609600" y="1143000"/>
              <a:chExt cx="2449516" cy="3051651"/>
            </a:xfrm>
          </p:grpSpPr>
          <p:pic>
            <p:nvPicPr>
              <p:cNvPr id="13324" name="Picture 10"/>
              <p:cNvPicPr>
                <a:picLocks noChangeAspect="1"/>
              </p:cNvPicPr>
              <p:nvPr/>
            </p:nvPicPr>
            <p:blipFill>
              <a:blip r:embed="rId3">
                <a:extLst>
                  <a:ext uri="{28A0092B-C50C-407E-A947-70E740481C1C}">
                    <a14:useLocalDpi xmlns:a14="http://schemas.microsoft.com/office/drawing/2010/main" val="0"/>
                  </a:ext>
                </a:extLst>
              </a:blip>
              <a:srcRect t="2509" b="47688"/>
              <a:stretch>
                <a:fillRect/>
              </a:stretch>
            </p:blipFill>
            <p:spPr bwMode="auto">
              <a:xfrm>
                <a:off x="609600" y="1652098"/>
                <a:ext cx="2449516" cy="2542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5" name="Rectangle 16"/>
              <p:cNvSpPr>
                <a:spLocks noChangeArrowheads="1"/>
              </p:cNvSpPr>
              <p:nvPr/>
            </p:nvSpPr>
            <p:spPr bwMode="auto">
              <a:xfrm>
                <a:off x="609600" y="1143000"/>
                <a:ext cx="381000" cy="533400"/>
              </a:xfrm>
              <a:prstGeom prst="rect">
                <a:avLst/>
              </a:prstGeom>
              <a:solidFill>
                <a:srgbClr val="FFFFFF"/>
              </a:solidFill>
              <a:ln w="19050">
                <a:solidFill>
                  <a:srgbClr val="FFFFFF"/>
                </a:solidFill>
                <a:round/>
                <a:headEnd/>
                <a:tailEnd/>
              </a:ln>
            </p:spPr>
            <p:txBody>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algn="ctr"/>
                <a:endParaRPr lang="en-US" altLang="en-US"/>
              </a:p>
            </p:txBody>
          </p:sp>
        </p:grpSp>
        <p:sp>
          <p:nvSpPr>
            <p:cNvPr id="13321" name="Rectangle 26"/>
            <p:cNvSpPr>
              <a:spLocks noChangeArrowheads="1"/>
            </p:cNvSpPr>
            <p:nvPr/>
          </p:nvSpPr>
          <p:spPr bwMode="auto">
            <a:xfrm>
              <a:off x="4419600" y="3618357"/>
              <a:ext cx="685800" cy="381000"/>
            </a:xfrm>
            <a:prstGeom prst="rect">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algn="ctr"/>
              <a:endParaRPr lang="en-US" altLang="en-US"/>
            </a:p>
          </p:txBody>
        </p:sp>
        <p:sp>
          <p:nvSpPr>
            <p:cNvPr id="13322" name="Rectangle 27"/>
            <p:cNvSpPr>
              <a:spLocks noChangeArrowheads="1"/>
            </p:cNvSpPr>
            <p:nvPr/>
          </p:nvSpPr>
          <p:spPr bwMode="auto">
            <a:xfrm>
              <a:off x="6324600" y="3203887"/>
              <a:ext cx="1447800" cy="1219200"/>
            </a:xfrm>
            <a:prstGeom prst="rect">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algn="ctr"/>
              <a:endParaRPr lang="en-US" altLang="en-US"/>
            </a:p>
          </p:txBody>
        </p:sp>
        <p:sp>
          <p:nvSpPr>
            <p:cNvPr id="29" name="Trapezoid 28"/>
            <p:cNvSpPr/>
            <p:nvPr/>
          </p:nvSpPr>
          <p:spPr bwMode="auto">
            <a:xfrm rot="16200000">
              <a:off x="5108481" y="3200744"/>
              <a:ext cx="1219390" cy="1219201"/>
            </a:xfrm>
            <a:prstGeom prst="trapezoid">
              <a:avLst>
                <a:gd name="adj" fmla="val 35151"/>
              </a:avLst>
            </a:prstGeom>
            <a:solidFill>
              <a:srgbClr val="FF9900">
                <a:alpha val="38000"/>
              </a:srgbClr>
            </a:solidFill>
            <a:ln w="19050" cap="flat" cmpd="sng" algn="ctr">
              <a:solidFill>
                <a:srgbClr val="FF0000"/>
              </a:solidFill>
              <a:prstDash val="solid"/>
              <a:round/>
              <a:headEnd type="none" w="med" len="med"/>
              <a:tailEnd type="none" w="med" len="med"/>
            </a:ln>
            <a:effectLst/>
          </p:spPr>
          <p:txBody>
            <a:bodyPr/>
            <a:lstStyle/>
            <a:p>
              <a:pPr algn="ctr">
                <a:defRPr/>
              </a:pPr>
              <a:endParaRPr lang="en-US">
                <a:ea typeface="ＭＳ Ｐゴシック" charset="0"/>
                <a:cs typeface="ＭＳ Ｐゴシック" charset="0"/>
              </a:endParaRPr>
            </a:p>
          </p:txBody>
        </p:sp>
      </p:grpSp>
      <p:sp>
        <p:nvSpPr>
          <p:cNvPr id="13318" name="TextBox 31"/>
          <p:cNvSpPr txBox="1">
            <a:spLocks noChangeArrowheads="1"/>
          </p:cNvSpPr>
          <p:nvPr/>
        </p:nvSpPr>
        <p:spPr bwMode="auto">
          <a:xfrm>
            <a:off x="3007867" y="5041198"/>
            <a:ext cx="53292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a:t>The DNA sugar ring is called deoxyribose.</a:t>
            </a:r>
          </a:p>
          <a:p>
            <a:pPr eaLnBrk="1" hangingPunct="1"/>
            <a:endParaRPr lang="en-US" altLang="en-US"/>
          </a:p>
          <a:p>
            <a:pPr eaLnBrk="1" hangingPunct="1"/>
            <a:r>
              <a:rPr lang="en-US" altLang="en-US"/>
              <a:t>In ribonucleic acid (RNA), the sugar ring is ribose.</a:t>
            </a:r>
          </a:p>
        </p:txBody>
      </p:sp>
      <p:sp>
        <p:nvSpPr>
          <p:cNvPr id="13319" name="TextBox 1"/>
          <p:cNvSpPr txBox="1">
            <a:spLocks noChangeArrowheads="1"/>
          </p:cNvSpPr>
          <p:nvPr/>
        </p:nvSpPr>
        <p:spPr bwMode="auto">
          <a:xfrm>
            <a:off x="972692" y="6574723"/>
            <a:ext cx="1030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sz="1400" b="1">
                <a:solidFill>
                  <a:srgbClr val="FF9900"/>
                </a:solidFill>
              </a:rPr>
              <a:t>Figure 1.7</a:t>
            </a:r>
          </a:p>
        </p:txBody>
      </p:sp>
    </p:spTree>
    <p:extLst>
      <p:ext uri="{BB962C8B-B14F-4D97-AF65-F5344CB8AC3E}">
        <p14:creationId xmlns:p14="http://schemas.microsoft.com/office/powerpoint/2010/main" val="31963722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8275" y="906463"/>
            <a:ext cx="3429000"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3707904" y="1124744"/>
            <a:ext cx="5029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dirty="0"/>
              <a:t>The four nucleotides in DNA are:</a:t>
            </a:r>
          </a:p>
          <a:p>
            <a:pPr eaLnBrk="1" hangingPunct="1"/>
            <a:r>
              <a:rPr lang="en-US" altLang="en-US" dirty="0"/>
              <a:t>	A – adenine</a:t>
            </a:r>
          </a:p>
          <a:p>
            <a:pPr eaLnBrk="1" hangingPunct="1"/>
            <a:r>
              <a:rPr lang="en-US" altLang="en-US" dirty="0"/>
              <a:t>	T – thymine</a:t>
            </a:r>
          </a:p>
          <a:p>
            <a:pPr eaLnBrk="1" hangingPunct="1"/>
            <a:r>
              <a:rPr lang="en-US" altLang="en-US" dirty="0"/>
              <a:t>	G – guanine</a:t>
            </a:r>
          </a:p>
          <a:p>
            <a:pPr eaLnBrk="1" hangingPunct="1"/>
            <a:r>
              <a:rPr lang="en-US" altLang="en-US" dirty="0"/>
              <a:t>	C – cytosine</a:t>
            </a:r>
          </a:p>
          <a:p>
            <a:pPr eaLnBrk="1" hangingPunct="1"/>
            <a:endParaRPr lang="en-US" altLang="en-US" dirty="0"/>
          </a:p>
          <a:p>
            <a:pPr eaLnBrk="1" hangingPunct="1"/>
            <a:r>
              <a:rPr lang="en-US" altLang="en-US" dirty="0"/>
              <a:t>In DNA, </a:t>
            </a:r>
          </a:p>
          <a:p>
            <a:pPr eaLnBrk="1" hangingPunct="1"/>
            <a:r>
              <a:rPr lang="en-US" altLang="en-US" dirty="0"/>
              <a:t>	A always pairs with T</a:t>
            </a:r>
          </a:p>
          <a:p>
            <a:pPr eaLnBrk="1" hangingPunct="1"/>
            <a:r>
              <a:rPr lang="en-US" altLang="en-US" dirty="0"/>
              <a:t>	G always pairs with C</a:t>
            </a:r>
          </a:p>
          <a:p>
            <a:pPr eaLnBrk="1" hangingPunct="1"/>
            <a:endParaRPr lang="en-US" altLang="en-US" dirty="0"/>
          </a:p>
          <a:p>
            <a:pPr eaLnBrk="1" hangingPunct="1"/>
            <a:r>
              <a:rPr lang="en-US" altLang="en-US" dirty="0"/>
              <a:t>This is Chargaff’s rule.</a:t>
            </a:r>
          </a:p>
          <a:p>
            <a:pPr eaLnBrk="1" hangingPunct="1"/>
            <a:endParaRPr lang="en-US" altLang="en-US" dirty="0"/>
          </a:p>
          <a:p>
            <a:pPr eaLnBrk="1" hangingPunct="1"/>
            <a:endParaRPr lang="en-US" altLang="en-US" dirty="0"/>
          </a:p>
          <a:p>
            <a:pPr eaLnBrk="1" hangingPunct="1"/>
            <a:r>
              <a:rPr lang="en-US" altLang="en-US" dirty="0"/>
              <a:t>Nitrogenous bases of opposite DNA strands   are held together by hydrogen bonds.</a:t>
            </a:r>
          </a:p>
          <a:p>
            <a:pPr eaLnBrk="1" hangingPunct="1"/>
            <a:r>
              <a:rPr lang="en-US" altLang="en-US" dirty="0"/>
              <a:t>	A and T have two hydrogen bonds.</a:t>
            </a:r>
          </a:p>
          <a:p>
            <a:pPr eaLnBrk="1" hangingPunct="1"/>
            <a:r>
              <a:rPr lang="en-US" altLang="en-US" dirty="0"/>
              <a:t>	G and C form three bonds.</a:t>
            </a:r>
          </a:p>
        </p:txBody>
      </p:sp>
      <p:sp>
        <p:nvSpPr>
          <p:cNvPr id="5" name="TextBox 4"/>
          <p:cNvSpPr txBox="1">
            <a:spLocks noChangeArrowheads="1"/>
          </p:cNvSpPr>
          <p:nvPr/>
        </p:nvSpPr>
        <p:spPr bwMode="auto">
          <a:xfrm>
            <a:off x="152400" y="5105400"/>
            <a:ext cx="4051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a:t>DNA has directionality:</a:t>
            </a:r>
          </a:p>
          <a:p>
            <a:pPr eaLnBrk="1" hangingPunct="1"/>
            <a:r>
              <a:rPr lang="en-US" altLang="en-US"/>
              <a:t>the phosphate is at the 5’ end</a:t>
            </a:r>
          </a:p>
          <a:p>
            <a:pPr eaLnBrk="1" hangingPunct="1"/>
            <a:r>
              <a:rPr lang="en-US" altLang="en-US"/>
              <a:t>the sugar is at the 3’ end</a:t>
            </a:r>
          </a:p>
          <a:p>
            <a:pPr eaLnBrk="1" hangingPunct="1"/>
            <a:r>
              <a:rPr lang="en-US" altLang="en-US"/>
              <a:t>DNA is ‘read’ from 5’ to 3’</a:t>
            </a:r>
          </a:p>
        </p:txBody>
      </p:sp>
      <p:sp>
        <p:nvSpPr>
          <p:cNvPr id="14341" name="Title 1"/>
          <p:cNvSpPr>
            <a:spLocks noGrp="1"/>
          </p:cNvSpPr>
          <p:nvPr>
            <p:ph type="title"/>
          </p:nvPr>
        </p:nvSpPr>
        <p:spPr/>
        <p:txBody>
          <a:bodyPr/>
          <a:lstStyle/>
          <a:p>
            <a:pPr eaLnBrk="1" hangingPunct="1"/>
            <a:r>
              <a:rPr lang="en-US" altLang="en-US" sz="2400" b="1" smtClean="0">
                <a:solidFill>
                  <a:schemeClr val="bg1"/>
                </a:solidFill>
                <a:cs typeface="Arial" charset="0"/>
              </a:rPr>
              <a:t>Structure of DNA</a:t>
            </a:r>
          </a:p>
        </p:txBody>
      </p:sp>
      <p:sp>
        <p:nvSpPr>
          <p:cNvPr id="14342" name="TextBox 1"/>
          <p:cNvSpPr txBox="1">
            <a:spLocks noChangeArrowheads="1"/>
          </p:cNvSpPr>
          <p:nvPr/>
        </p:nvSpPr>
        <p:spPr bwMode="auto">
          <a:xfrm>
            <a:off x="1066800" y="4554538"/>
            <a:ext cx="10287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MS PGothic" pitchFamily="34" charset="-128"/>
              </a:defRPr>
            </a:lvl1pPr>
            <a:lvl2pPr marL="742950" indent="-285750">
              <a:defRPr>
                <a:solidFill>
                  <a:schemeClr val="tx1"/>
                </a:solidFill>
                <a:latin typeface="Arial" charset="0"/>
                <a:ea typeface="MS PGothic" pitchFamily="34" charset="-128"/>
              </a:defRPr>
            </a:lvl2pPr>
            <a:lvl3pPr marL="1143000" indent="-228600">
              <a:defRPr>
                <a:solidFill>
                  <a:schemeClr val="tx1"/>
                </a:solidFill>
                <a:latin typeface="Arial" charset="0"/>
                <a:ea typeface="MS PGothic" pitchFamily="34" charset="-128"/>
              </a:defRPr>
            </a:lvl3pPr>
            <a:lvl4pPr marL="1600200" indent="-228600">
              <a:defRPr>
                <a:solidFill>
                  <a:schemeClr val="tx1"/>
                </a:solidFill>
                <a:latin typeface="Arial" charset="0"/>
                <a:ea typeface="MS PGothic" pitchFamily="34" charset="-128"/>
              </a:defRPr>
            </a:lvl4pPr>
            <a:lvl5pPr marL="2057400" indent="-22860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sz="1400" b="1">
                <a:solidFill>
                  <a:srgbClr val="FF9900"/>
                </a:solidFill>
              </a:rPr>
              <a:t>Figure 1.7</a:t>
            </a:r>
          </a:p>
        </p:txBody>
      </p:sp>
    </p:spTree>
    <p:extLst>
      <p:ext uri="{BB962C8B-B14F-4D97-AF65-F5344CB8AC3E}">
        <p14:creationId xmlns:p14="http://schemas.microsoft.com/office/powerpoint/2010/main" val="38683022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14" end="1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5" end="1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DNA replication</a:t>
            </a:r>
            <a:endParaRPr lang="en-AU" dirty="0"/>
          </a:p>
        </p:txBody>
      </p:sp>
      <p:sp>
        <p:nvSpPr>
          <p:cNvPr id="3" name="Content Placeholder 2"/>
          <p:cNvSpPr>
            <a:spLocks noGrp="1"/>
          </p:cNvSpPr>
          <p:nvPr>
            <p:ph idx="1"/>
          </p:nvPr>
        </p:nvSpPr>
        <p:spPr>
          <a:xfrm>
            <a:off x="179512" y="1700808"/>
            <a:ext cx="8291264" cy="4699992"/>
          </a:xfrm>
        </p:spPr>
        <p:txBody>
          <a:bodyPr>
            <a:normAutofit fontScale="92500" lnSpcReduction="20000"/>
          </a:bodyPr>
          <a:lstStyle/>
          <a:p>
            <a:r>
              <a:rPr lang="en-AU" sz="1800" dirty="0"/>
              <a:t>The first step in DNA replication is to ‘unzip’ the double helix structure of the </a:t>
            </a:r>
            <a:r>
              <a:rPr lang="en-AU" sz="1800" u="sng" dirty="0" smtClean="0"/>
              <a:t>DNA</a:t>
            </a:r>
            <a:r>
              <a:rPr lang="en-AU" sz="1800" dirty="0"/>
              <a:t> molecule</a:t>
            </a:r>
            <a:r>
              <a:rPr lang="en-AU" sz="1800" dirty="0" smtClean="0"/>
              <a:t>.</a:t>
            </a:r>
          </a:p>
          <a:p>
            <a:endParaRPr lang="en-AU" sz="1800" dirty="0"/>
          </a:p>
          <a:p>
            <a:r>
              <a:rPr lang="en-AU" sz="1800" dirty="0"/>
              <a:t>This is carried out by an </a:t>
            </a:r>
            <a:r>
              <a:rPr lang="en-AU" sz="1800" i="1" u="sng" dirty="0" smtClean="0">
                <a:solidFill>
                  <a:srgbClr val="0070C0"/>
                </a:solidFill>
              </a:rPr>
              <a:t>enzyme</a:t>
            </a:r>
            <a:r>
              <a:rPr lang="en-AU" sz="1800" i="1" u="sng" dirty="0">
                <a:solidFill>
                  <a:srgbClr val="0070C0"/>
                </a:solidFill>
              </a:rPr>
              <a:t> called helicase </a:t>
            </a:r>
            <a:r>
              <a:rPr lang="en-AU" sz="1800" dirty="0"/>
              <a:t>which breaks the </a:t>
            </a:r>
            <a:r>
              <a:rPr lang="en-AU" sz="1800" u="sng" dirty="0"/>
              <a:t>hydrogen </a:t>
            </a:r>
            <a:r>
              <a:rPr lang="en-AU" sz="1800" u="sng" dirty="0" smtClean="0"/>
              <a:t>bonds</a:t>
            </a:r>
            <a:r>
              <a:rPr lang="en-AU" sz="1800" u="sng" baseline="30000" dirty="0"/>
              <a:t> </a:t>
            </a:r>
            <a:r>
              <a:rPr lang="en-AU" sz="1800" dirty="0" smtClean="0"/>
              <a:t>holding </a:t>
            </a:r>
            <a:r>
              <a:rPr lang="en-AU" sz="1800" dirty="0"/>
              <a:t>the </a:t>
            </a:r>
            <a:r>
              <a:rPr lang="en-AU" sz="1800" u="sng" dirty="0" smtClean="0"/>
              <a:t>complementary</a:t>
            </a:r>
            <a:r>
              <a:rPr lang="en-AU" sz="1800" u="sng" baseline="30000" dirty="0"/>
              <a:t> </a:t>
            </a:r>
            <a:r>
              <a:rPr lang="en-AU" sz="1800" dirty="0"/>
              <a:t> </a:t>
            </a:r>
            <a:r>
              <a:rPr lang="en-AU" sz="1800" u="sng" dirty="0" smtClean="0"/>
              <a:t>bases</a:t>
            </a:r>
            <a:r>
              <a:rPr lang="en-AU" sz="1800" u="sng" baseline="30000" dirty="0"/>
              <a:t> </a:t>
            </a:r>
            <a:r>
              <a:rPr lang="en-AU" sz="1800" dirty="0"/>
              <a:t> of DNA together (A with T, C with G</a:t>
            </a:r>
            <a:r>
              <a:rPr lang="en-AU" sz="1800" dirty="0" smtClean="0"/>
              <a:t>).</a:t>
            </a:r>
          </a:p>
          <a:p>
            <a:endParaRPr lang="en-AU" sz="1800" dirty="0"/>
          </a:p>
          <a:p>
            <a:r>
              <a:rPr lang="en-AU" sz="1800" dirty="0"/>
              <a:t>The separation of the two single strands of DNA creates a ‘Y’ shape called a replication ‘fork’. The two separated strands will act as templates for making the new strands of DNA</a:t>
            </a:r>
            <a:r>
              <a:rPr lang="en-AU" sz="1800" dirty="0" smtClean="0"/>
              <a:t>.</a:t>
            </a:r>
          </a:p>
          <a:p>
            <a:endParaRPr lang="en-AU" sz="1800" dirty="0" smtClean="0"/>
          </a:p>
          <a:p>
            <a:r>
              <a:rPr lang="en-AU" sz="1800" dirty="0"/>
              <a:t>A short piece of </a:t>
            </a:r>
            <a:r>
              <a:rPr lang="en-AU" sz="1800" u="sng" dirty="0"/>
              <a:t>RNA</a:t>
            </a:r>
            <a:r>
              <a:rPr lang="en-AU" sz="1800" dirty="0"/>
              <a:t> </a:t>
            </a:r>
            <a:r>
              <a:rPr lang="en-AU" sz="1800" baseline="30000" dirty="0"/>
              <a:t> </a:t>
            </a:r>
            <a:r>
              <a:rPr lang="en-AU" sz="1800" dirty="0"/>
              <a:t>called a </a:t>
            </a:r>
            <a:r>
              <a:rPr lang="en-AU" sz="1800" u="sng" dirty="0"/>
              <a:t>primer </a:t>
            </a:r>
            <a:r>
              <a:rPr lang="en-AU" sz="1800" baseline="30000" dirty="0"/>
              <a:t> </a:t>
            </a:r>
            <a:r>
              <a:rPr lang="en-AU" sz="1800" dirty="0"/>
              <a:t>(produced by an enzyme called primase) comes along and binds to the end of the leading strand. The primer acts as the starting point for DNA synthesis.</a:t>
            </a:r>
          </a:p>
          <a:p>
            <a:endParaRPr lang="en-AU" sz="1800" dirty="0"/>
          </a:p>
          <a:p>
            <a:r>
              <a:rPr lang="en-AU" sz="1800" u="sng" dirty="0">
                <a:solidFill>
                  <a:srgbClr val="0070C0"/>
                </a:solidFill>
              </a:rPr>
              <a:t>DNA polymerase</a:t>
            </a:r>
            <a:r>
              <a:rPr lang="en-AU" sz="1800" dirty="0"/>
              <a:t> binds to the leading strand and then ‘walks’ along it, adding new  </a:t>
            </a:r>
            <a:r>
              <a:rPr lang="en-AU" sz="1800" u="sng" dirty="0"/>
              <a:t>complementary</a:t>
            </a:r>
            <a:r>
              <a:rPr lang="en-AU" sz="1800" dirty="0"/>
              <a:t> </a:t>
            </a:r>
            <a:r>
              <a:rPr lang="en-AU" sz="1800" u="sng" dirty="0"/>
              <a:t>nucleotide </a:t>
            </a:r>
            <a:r>
              <a:rPr lang="en-AU" sz="1800" dirty="0"/>
              <a:t>bases (A, C, G and T) to the strand of DNA in the 5’ to 3’ direction.</a:t>
            </a:r>
            <a:br>
              <a:rPr lang="en-AU" sz="1800" dirty="0"/>
            </a:br>
            <a:endParaRPr lang="en-AU" sz="1800" dirty="0"/>
          </a:p>
          <a:p>
            <a:endParaRPr lang="en-AU" sz="1800" dirty="0" smtClean="0"/>
          </a:p>
          <a:p>
            <a:endParaRPr lang="en-AU" sz="1800" dirty="0"/>
          </a:p>
          <a:p>
            <a:endParaRPr lang="en-AU" dirty="0"/>
          </a:p>
        </p:txBody>
      </p:sp>
    </p:spTree>
    <p:extLst>
      <p:ext uri="{BB962C8B-B14F-4D97-AF65-F5344CB8AC3E}">
        <p14:creationId xmlns:p14="http://schemas.microsoft.com/office/powerpoint/2010/main" val="11608865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DNA sequencing</a:t>
            </a:r>
            <a:endParaRPr lang="en-US" dirty="0"/>
          </a:p>
        </p:txBody>
      </p:sp>
      <p:sp>
        <p:nvSpPr>
          <p:cNvPr id="4" name="Text Placeholder 3"/>
          <p:cNvSpPr>
            <a:spLocks noGrp="1"/>
          </p:cNvSpPr>
          <p:nvPr>
            <p:ph type="body" idx="1"/>
          </p:nvPr>
        </p:nvSpPr>
        <p:spPr/>
        <p:txBody>
          <a:bodyPr/>
          <a:lstStyle/>
          <a:p>
            <a:r>
              <a:rPr lang="en-US" dirty="0" smtClean="0"/>
              <a:t>What is it?</a:t>
            </a:r>
            <a:endParaRPr lang="en-US" dirty="0"/>
          </a:p>
        </p:txBody>
      </p:sp>
      <p:sp>
        <p:nvSpPr>
          <p:cNvPr id="3" name="Content Placeholder 2"/>
          <p:cNvSpPr>
            <a:spLocks noGrp="1"/>
          </p:cNvSpPr>
          <p:nvPr>
            <p:ph sz="half" idx="2"/>
          </p:nvPr>
        </p:nvSpPr>
        <p:spPr/>
        <p:txBody>
          <a:bodyPr/>
          <a:lstStyle/>
          <a:p>
            <a:r>
              <a:rPr lang="en-US" dirty="0" smtClean="0"/>
              <a:t>Working out the precise order of nucleotides in a sample of DNA</a:t>
            </a:r>
          </a:p>
          <a:p>
            <a:pPr marL="114300" indent="0">
              <a:buNone/>
            </a:pPr>
            <a:endParaRPr lang="en-US" dirty="0"/>
          </a:p>
        </p:txBody>
      </p:sp>
      <p:sp>
        <p:nvSpPr>
          <p:cNvPr id="5" name="Text Placeholder 4"/>
          <p:cNvSpPr>
            <a:spLocks noGrp="1"/>
          </p:cNvSpPr>
          <p:nvPr>
            <p:ph type="body" sz="quarter" idx="3"/>
          </p:nvPr>
        </p:nvSpPr>
        <p:spPr>
          <a:xfrm>
            <a:off x="395536" y="3573016"/>
            <a:ext cx="3657600" cy="639762"/>
          </a:xfrm>
        </p:spPr>
        <p:txBody>
          <a:bodyPr/>
          <a:lstStyle/>
          <a:p>
            <a:r>
              <a:rPr lang="en-US" dirty="0" smtClean="0"/>
              <a:t>Uses</a:t>
            </a:r>
            <a:endParaRPr lang="en-US" dirty="0"/>
          </a:p>
        </p:txBody>
      </p:sp>
      <p:sp>
        <p:nvSpPr>
          <p:cNvPr id="6" name="Content Placeholder 5"/>
          <p:cNvSpPr>
            <a:spLocks noGrp="1"/>
          </p:cNvSpPr>
          <p:nvPr>
            <p:ph sz="quarter" idx="4"/>
          </p:nvPr>
        </p:nvSpPr>
        <p:spPr>
          <a:xfrm>
            <a:off x="395536" y="4365104"/>
            <a:ext cx="3657600" cy="2488194"/>
          </a:xfrm>
        </p:spPr>
        <p:txBody>
          <a:bodyPr/>
          <a:lstStyle/>
          <a:p>
            <a:r>
              <a:rPr lang="en-US" dirty="0"/>
              <a:t>Identifying Inherited diseases</a:t>
            </a:r>
          </a:p>
          <a:p>
            <a:r>
              <a:rPr lang="en-US" dirty="0"/>
              <a:t>Paternity/maternity tests</a:t>
            </a:r>
          </a:p>
          <a:p>
            <a:r>
              <a:rPr lang="en-US" dirty="0"/>
              <a:t>Tracing ancestry</a:t>
            </a:r>
          </a:p>
          <a:p>
            <a:r>
              <a:rPr lang="en-US" dirty="0"/>
              <a:t>Forensic science</a:t>
            </a:r>
          </a:p>
          <a:p>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7" y="1916832"/>
            <a:ext cx="4074959" cy="4392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69954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7620000" cy="1143000"/>
          </a:xfrm>
        </p:spPr>
        <p:txBody>
          <a:bodyPr/>
          <a:lstStyle/>
          <a:p>
            <a:r>
              <a:rPr lang="en-US" dirty="0" smtClean="0"/>
              <a:t>Sanger sequencing</a:t>
            </a:r>
            <a:endParaRPr lang="en-US" dirty="0"/>
          </a:p>
        </p:txBody>
      </p:sp>
      <p:pic>
        <p:nvPicPr>
          <p:cNvPr id="4" name="Content Placeholder 3" descr="Screen Shot 2018-06-18 at 18.07.47.png"/>
          <p:cNvPicPr>
            <a:picLocks noGrp="1" noChangeAspect="1"/>
          </p:cNvPicPr>
          <p:nvPr>
            <p:ph idx="1"/>
          </p:nvPr>
        </p:nvPicPr>
        <p:blipFill rotWithShape="1">
          <a:blip r:embed="rId3">
            <a:extLst>
              <a:ext uri="{28A0092B-C50C-407E-A947-70E740481C1C}">
                <a14:useLocalDpi xmlns:a14="http://schemas.microsoft.com/office/drawing/2010/main" val="0"/>
              </a:ext>
            </a:extLst>
          </a:blip>
          <a:srcRect l="-428" r="113"/>
          <a:stretch/>
        </p:blipFill>
        <p:spPr>
          <a:xfrm>
            <a:off x="251520" y="1916832"/>
            <a:ext cx="5591369" cy="4606872"/>
          </a:xfrm>
        </p:spPr>
      </p:pic>
      <p:pic>
        <p:nvPicPr>
          <p:cNvPr id="3074"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1409" r="53711" b="-1"/>
          <a:stretch/>
        </p:blipFill>
        <p:spPr bwMode="auto">
          <a:xfrm>
            <a:off x="5795380" y="522662"/>
            <a:ext cx="2623435" cy="4166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23357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2007" r="2539"/>
          <a:stretch/>
        </p:blipFill>
        <p:spPr bwMode="auto">
          <a:xfrm>
            <a:off x="3468226" y="4365104"/>
            <a:ext cx="4992927" cy="22475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smtClean="0"/>
              <a:t>Enzymes</a:t>
            </a:r>
            <a:endParaRPr lang="en-US" dirty="0"/>
          </a:p>
        </p:txBody>
      </p:sp>
      <p:sp>
        <p:nvSpPr>
          <p:cNvPr id="3" name="Content Placeholder 2"/>
          <p:cNvSpPr>
            <a:spLocks noGrp="1"/>
          </p:cNvSpPr>
          <p:nvPr>
            <p:ph sz="half" idx="1"/>
          </p:nvPr>
        </p:nvSpPr>
        <p:spPr>
          <a:xfrm>
            <a:off x="22188" y="1484784"/>
            <a:ext cx="3829732" cy="5373216"/>
          </a:xfrm>
        </p:spPr>
        <p:txBody>
          <a:bodyPr>
            <a:normAutofit fontScale="70000" lnSpcReduction="20000"/>
          </a:bodyPr>
          <a:lstStyle/>
          <a:p>
            <a:r>
              <a:rPr lang="en-US" i="1" dirty="0" smtClean="0"/>
              <a:t>Restriction </a:t>
            </a:r>
            <a:r>
              <a:rPr lang="en-US" i="1" dirty="0"/>
              <a:t>enzymes </a:t>
            </a:r>
            <a:r>
              <a:rPr lang="en-US" dirty="0" smtClean="0"/>
              <a:t>‘</a:t>
            </a:r>
            <a:r>
              <a:rPr lang="en-US" dirty="0" err="1"/>
              <a:t>recognise</a:t>
            </a:r>
            <a:r>
              <a:rPr lang="en-US" dirty="0"/>
              <a:t>’ and cut DNA molecules at specific locations. </a:t>
            </a:r>
            <a:endParaRPr lang="en-US" dirty="0" smtClean="0"/>
          </a:p>
          <a:p>
            <a:r>
              <a:rPr lang="en-US" dirty="0" smtClean="0"/>
              <a:t>Many </a:t>
            </a:r>
            <a:r>
              <a:rPr lang="en-US" dirty="0"/>
              <a:t>hundreds of different restriction enzymes have been isolated from microbes and are available commercially. </a:t>
            </a:r>
            <a:endParaRPr lang="en-US" dirty="0" smtClean="0"/>
          </a:p>
          <a:p>
            <a:r>
              <a:rPr lang="en-US" dirty="0" smtClean="0"/>
              <a:t>Allow </a:t>
            </a:r>
            <a:r>
              <a:rPr lang="en-US" dirty="0"/>
              <a:t>almost any section of DNA, and so any given gene, to be isolated. </a:t>
            </a:r>
            <a:endParaRPr lang="en-US" dirty="0" smtClean="0"/>
          </a:p>
          <a:p>
            <a:r>
              <a:rPr lang="en-US" dirty="0"/>
              <a:t>Restriction enzymes leave blunt or staggered (‘sticky’) ends on the DNA sequences they cut. </a:t>
            </a:r>
          </a:p>
          <a:p>
            <a:r>
              <a:rPr lang="en-US" dirty="0"/>
              <a:t>The end of one DNA molecule with a sticky end will readily link (by hydrogen bonding) to that of another cut with the same enzyme. </a:t>
            </a:r>
          </a:p>
          <a:p>
            <a:endParaRPr lang="en-US" dirty="0"/>
          </a:p>
          <a:p>
            <a:endParaRPr lang="en-US" dirty="0"/>
          </a:p>
        </p:txBody>
      </p:sp>
      <p:sp>
        <p:nvSpPr>
          <p:cNvPr id="4" name="Content Placeholder 3"/>
          <p:cNvSpPr>
            <a:spLocks noGrp="1"/>
          </p:cNvSpPr>
          <p:nvPr>
            <p:ph sz="half" idx="2"/>
          </p:nvPr>
        </p:nvSpPr>
        <p:spPr>
          <a:xfrm>
            <a:off x="3851920" y="1412776"/>
            <a:ext cx="4608512" cy="5445224"/>
          </a:xfrm>
        </p:spPr>
        <p:txBody>
          <a:bodyPr>
            <a:normAutofit fontScale="70000" lnSpcReduction="20000"/>
          </a:bodyPr>
          <a:lstStyle/>
          <a:p>
            <a:r>
              <a:rPr lang="en-US" i="1" dirty="0"/>
              <a:t>DNA </a:t>
            </a:r>
            <a:r>
              <a:rPr lang="en-US" i="1" dirty="0" smtClean="0"/>
              <a:t>ligase-</a:t>
            </a:r>
            <a:r>
              <a:rPr lang="en-US" dirty="0" smtClean="0"/>
              <a:t> joins </a:t>
            </a:r>
            <a:r>
              <a:rPr lang="en-US" dirty="0"/>
              <a:t>two DNA molecules permanently, </a:t>
            </a:r>
            <a:r>
              <a:rPr lang="en-US" dirty="0" smtClean="0"/>
              <a:t>by forming </a:t>
            </a:r>
            <a:r>
              <a:rPr lang="en-US" dirty="0"/>
              <a:t>stronger chemical bonds along the DNA’s sugar-phosphate backbone. </a:t>
            </a:r>
            <a:endParaRPr lang="en-US" dirty="0" smtClean="0"/>
          </a:p>
          <a:p>
            <a:r>
              <a:rPr lang="en-US" i="1" dirty="0"/>
              <a:t>DNA polymerase </a:t>
            </a:r>
            <a:r>
              <a:rPr lang="en-US" dirty="0"/>
              <a:t>— can be used to assemble a double-stranded helix, using the first DNA strand as a template. </a:t>
            </a:r>
          </a:p>
        </p:txBody>
      </p:sp>
    </p:spTree>
    <p:extLst>
      <p:ext uri="{BB962C8B-B14F-4D97-AF65-F5344CB8AC3E}">
        <p14:creationId xmlns:p14="http://schemas.microsoft.com/office/powerpoint/2010/main" val="30418680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Polymerase chain reaction</a:t>
            </a:r>
            <a:endParaRPr lang="en-US" dirty="0"/>
          </a:p>
        </p:txBody>
      </p:sp>
      <p:sp>
        <p:nvSpPr>
          <p:cNvPr id="5" name="Content Placeholder 4"/>
          <p:cNvSpPr>
            <a:spLocks noGrp="1"/>
          </p:cNvSpPr>
          <p:nvPr>
            <p:ph idx="1"/>
          </p:nvPr>
        </p:nvSpPr>
        <p:spPr>
          <a:xfrm>
            <a:off x="107504" y="1268760"/>
            <a:ext cx="8280920" cy="5400600"/>
          </a:xfrm>
        </p:spPr>
        <p:txBody>
          <a:bodyPr>
            <a:normAutofit fontScale="70000" lnSpcReduction="20000"/>
          </a:bodyPr>
          <a:lstStyle/>
          <a:p>
            <a:pPr marL="114300" indent="0">
              <a:buNone/>
            </a:pPr>
            <a:r>
              <a:rPr lang="en-US" dirty="0" smtClean="0"/>
              <a:t>Materials</a:t>
            </a:r>
          </a:p>
          <a:p>
            <a:r>
              <a:rPr lang="en-US" dirty="0" smtClean="0"/>
              <a:t>Two </a:t>
            </a:r>
            <a:r>
              <a:rPr lang="en-US" dirty="0"/>
              <a:t>primers are made that flank the specific stretch of DNA to be copied. These are generally 15–30 bases long, and are complementary to the 5' end of each DNA strand. </a:t>
            </a:r>
          </a:p>
          <a:p>
            <a:r>
              <a:rPr lang="en-US" dirty="0" smtClean="0"/>
              <a:t>Total</a:t>
            </a:r>
            <a:r>
              <a:rPr lang="en-US" dirty="0"/>
              <a:t>(double-</a:t>
            </a:r>
            <a:r>
              <a:rPr lang="en-US" dirty="0" smtClean="0"/>
              <a:t>stranded )DNA is extracted from the sample under study.</a:t>
            </a:r>
          </a:p>
          <a:p>
            <a:r>
              <a:rPr lang="en-US" dirty="0" smtClean="0"/>
              <a:t>The </a:t>
            </a:r>
            <a:r>
              <a:rPr lang="en-US" dirty="0"/>
              <a:t>DNA and excess primers are </a:t>
            </a:r>
            <a:r>
              <a:rPr lang="en-US" dirty="0" smtClean="0"/>
              <a:t>mixed.</a:t>
            </a:r>
            <a:endParaRPr lang="en-US" dirty="0"/>
          </a:p>
          <a:p>
            <a:r>
              <a:rPr lang="en-US" dirty="0" smtClean="0"/>
              <a:t>Equal </a:t>
            </a:r>
            <a:r>
              <a:rPr lang="en-US" dirty="0"/>
              <a:t>proportions of very pure </a:t>
            </a:r>
            <a:r>
              <a:rPr lang="en-US" dirty="0" err="1"/>
              <a:t>deoxyribonucleoside</a:t>
            </a:r>
            <a:r>
              <a:rPr lang="en-US" dirty="0"/>
              <a:t> triphosphates </a:t>
            </a:r>
            <a:r>
              <a:rPr lang="en-US" dirty="0" smtClean="0"/>
              <a:t>(</a:t>
            </a:r>
            <a:r>
              <a:rPr lang="en-US" dirty="0" err="1"/>
              <a:t>dCTP</a:t>
            </a:r>
            <a:r>
              <a:rPr lang="en-US" dirty="0"/>
              <a:t>, </a:t>
            </a:r>
            <a:r>
              <a:rPr lang="en-US" dirty="0" err="1"/>
              <a:t>dATP</a:t>
            </a:r>
            <a:r>
              <a:rPr lang="en-US" dirty="0"/>
              <a:t>, </a:t>
            </a:r>
            <a:r>
              <a:rPr lang="en-US" dirty="0" err="1"/>
              <a:t>dGTP</a:t>
            </a:r>
            <a:r>
              <a:rPr lang="en-US" dirty="0"/>
              <a:t>, </a:t>
            </a:r>
            <a:r>
              <a:rPr lang="en-US" dirty="0" err="1"/>
              <a:t>dTTP</a:t>
            </a:r>
            <a:r>
              <a:rPr lang="en-US" dirty="0"/>
              <a:t>) are added</a:t>
            </a:r>
            <a:r>
              <a:rPr lang="en-US" dirty="0" smtClean="0"/>
              <a:t>.</a:t>
            </a:r>
            <a:endParaRPr lang="en-US" dirty="0"/>
          </a:p>
          <a:p>
            <a:r>
              <a:rPr lang="en-US" dirty="0" smtClean="0"/>
              <a:t> </a:t>
            </a:r>
            <a:r>
              <a:rPr lang="en-US" dirty="0"/>
              <a:t>Heat-stable </a:t>
            </a:r>
            <a:r>
              <a:rPr lang="en-US" i="1" dirty="0" err="1"/>
              <a:t>Taq</a:t>
            </a:r>
            <a:r>
              <a:rPr lang="en-US" i="1" dirty="0"/>
              <a:t> </a:t>
            </a:r>
            <a:r>
              <a:rPr lang="en-US" dirty="0"/>
              <a:t>DNA polymerase (originally obtained from the hot- </a:t>
            </a:r>
            <a:r>
              <a:rPr lang="en-US" dirty="0" smtClean="0"/>
              <a:t>water </a:t>
            </a:r>
            <a:r>
              <a:rPr lang="en-US" dirty="0"/>
              <a:t>bacterium </a:t>
            </a:r>
            <a:r>
              <a:rPr lang="en-US" i="1" dirty="0" err="1"/>
              <a:t>Thermus</a:t>
            </a:r>
            <a:r>
              <a:rPr lang="en-US" i="1" dirty="0"/>
              <a:t> </a:t>
            </a:r>
            <a:r>
              <a:rPr lang="en-US" i="1" dirty="0" err="1"/>
              <a:t>aquaticus</a:t>
            </a:r>
            <a:r>
              <a:rPr lang="en-US" dirty="0"/>
              <a:t>, but now produced by genetically- modified organisms) is added to the reaction mix, together with Mg2+ ions that are required as a co-factor by the enzyme. </a:t>
            </a:r>
          </a:p>
          <a:p>
            <a:pPr marL="114300" indent="0">
              <a:buNone/>
            </a:pPr>
            <a:endParaRPr lang="en-US" dirty="0" smtClean="0"/>
          </a:p>
          <a:p>
            <a:pPr marL="114300" indent="0">
              <a:buNone/>
            </a:pPr>
            <a:r>
              <a:rPr lang="en-US" dirty="0" smtClean="0"/>
              <a:t>Method</a:t>
            </a:r>
          </a:p>
          <a:p>
            <a:r>
              <a:rPr lang="en-US" dirty="0" smtClean="0"/>
              <a:t>The double</a:t>
            </a:r>
            <a:r>
              <a:rPr lang="en-US" dirty="0"/>
              <a:t>-</a:t>
            </a:r>
            <a:r>
              <a:rPr lang="en-US" dirty="0" smtClean="0"/>
              <a:t>stranded DNA is split into two single</a:t>
            </a:r>
            <a:r>
              <a:rPr lang="en-US" dirty="0"/>
              <a:t>-</a:t>
            </a:r>
            <a:r>
              <a:rPr lang="en-US" dirty="0" smtClean="0"/>
              <a:t>stranded templates </a:t>
            </a:r>
            <a:r>
              <a:rPr lang="en-US" dirty="0"/>
              <a:t>by heating it to 95–98 °C. </a:t>
            </a:r>
          </a:p>
          <a:p>
            <a:r>
              <a:rPr lang="en-US" dirty="0" smtClean="0"/>
              <a:t>The </a:t>
            </a:r>
            <a:r>
              <a:rPr lang="en-US" dirty="0"/>
              <a:t>mixture is cooled to 50–65 °C</a:t>
            </a:r>
            <a:r>
              <a:rPr lang="en-US" dirty="0" smtClean="0"/>
              <a:t>. The </a:t>
            </a:r>
            <a:r>
              <a:rPr lang="en-US" dirty="0"/>
              <a:t>primers bind (</a:t>
            </a:r>
            <a:r>
              <a:rPr lang="en-US" dirty="0" err="1"/>
              <a:t>hybridise</a:t>
            </a:r>
            <a:r>
              <a:rPr lang="en-US" dirty="0"/>
              <a:t>) to the complementary strands of DNA. </a:t>
            </a:r>
          </a:p>
          <a:p>
            <a:r>
              <a:rPr lang="en-US" dirty="0" smtClean="0"/>
              <a:t>Heating to7 2</a:t>
            </a:r>
            <a:r>
              <a:rPr lang="en-US" dirty="0"/>
              <a:t>°</a:t>
            </a:r>
            <a:r>
              <a:rPr lang="en-US" dirty="0" smtClean="0"/>
              <a:t>C (the optimum temperature for </a:t>
            </a:r>
            <a:r>
              <a:rPr lang="en-US" i="1" dirty="0" err="1" smtClean="0"/>
              <a:t>Taq</a:t>
            </a:r>
            <a:r>
              <a:rPr lang="en-US" i="1" dirty="0" smtClean="0"/>
              <a:t> </a:t>
            </a:r>
            <a:r>
              <a:rPr lang="en-US" dirty="0" smtClean="0"/>
              <a:t>DNA polymerase</a:t>
            </a:r>
            <a:r>
              <a:rPr lang="en-US" dirty="0"/>
              <a:t>) encourages the synthesis of new DNA strands alongside the </a:t>
            </a:r>
            <a:r>
              <a:rPr lang="en-US" dirty="0" smtClean="0"/>
              <a:t>templates.</a:t>
            </a:r>
          </a:p>
          <a:p>
            <a:r>
              <a:rPr lang="en-US" dirty="0" smtClean="0"/>
              <a:t>The </a:t>
            </a:r>
            <a:r>
              <a:rPr lang="en-US" dirty="0"/>
              <a:t>mixture is heated again to separate the newly-formed DNA strands </a:t>
            </a:r>
            <a:r>
              <a:rPr lang="en-US" dirty="0" smtClean="0"/>
              <a:t>from </a:t>
            </a:r>
            <a:r>
              <a:rPr lang="en-US" dirty="0"/>
              <a:t>their partners. </a:t>
            </a:r>
          </a:p>
          <a:p>
            <a:r>
              <a:rPr lang="en-US" dirty="0"/>
              <a:t>The cycle of cooling and heating is repeated. With each cycle (lasting about 2 minutes) the number of copies of the template DNA is doubled. After 25 cycles more than a million copies of the DNA will have been made. </a:t>
            </a:r>
          </a:p>
          <a:p>
            <a:endParaRPr lang="en-US" dirty="0"/>
          </a:p>
        </p:txBody>
      </p:sp>
    </p:spTree>
    <p:extLst>
      <p:ext uri="{BB962C8B-B14F-4D97-AF65-F5344CB8AC3E}">
        <p14:creationId xmlns:p14="http://schemas.microsoft.com/office/powerpoint/2010/main" val="18026443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Polymerase chain reaction</a:t>
            </a:r>
          </a:p>
        </p:txBody>
      </p:sp>
      <p:pic>
        <p:nvPicPr>
          <p:cNvPr id="6" name="Content Placeholder 5"/>
          <p:cNvPicPr>
            <a:picLocks noGrp="1" noChangeAspect="1"/>
          </p:cNvPicPr>
          <p:nvPr>
            <p:ph idx="1"/>
          </p:nvPr>
        </p:nvPicPr>
        <p:blipFill rotWithShape="1">
          <a:blip r:embed="rId3"/>
          <a:srcRect t="9957" b="-10403"/>
          <a:stretch/>
        </p:blipFill>
        <p:spPr>
          <a:xfrm>
            <a:off x="467544" y="1988840"/>
            <a:ext cx="7620000" cy="3991498"/>
          </a:xfrm>
        </p:spPr>
      </p:pic>
    </p:spTree>
    <p:extLst>
      <p:ext uri="{BB962C8B-B14F-4D97-AF65-F5344CB8AC3E}">
        <p14:creationId xmlns:p14="http://schemas.microsoft.com/office/powerpoint/2010/main" val="7610706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Gel Electrophoresis</a:t>
            </a:r>
            <a:endParaRPr lang="en-US" dirty="0"/>
          </a:p>
        </p:txBody>
      </p:sp>
      <p:sp>
        <p:nvSpPr>
          <p:cNvPr id="3" name="Content Placeholder 2"/>
          <p:cNvSpPr>
            <a:spLocks noGrp="1"/>
          </p:cNvSpPr>
          <p:nvPr>
            <p:ph idx="1"/>
          </p:nvPr>
        </p:nvSpPr>
        <p:spPr/>
        <p:txBody>
          <a:bodyPr>
            <a:normAutofit fontScale="77500" lnSpcReduction="20000"/>
          </a:bodyPr>
          <a:lstStyle/>
          <a:p>
            <a:r>
              <a:rPr lang="en-US" dirty="0"/>
              <a:t>C</a:t>
            </a:r>
            <a:r>
              <a:rPr lang="en-US" dirty="0" smtClean="0"/>
              <a:t>an </a:t>
            </a:r>
            <a:r>
              <a:rPr lang="en-US" dirty="0"/>
              <a:t>be used to separate DNA fragments of different sizes, which is often the first step in their analysis. </a:t>
            </a:r>
          </a:p>
          <a:p>
            <a:r>
              <a:rPr lang="en-US" dirty="0"/>
              <a:t>First, a gel is cast from </a:t>
            </a:r>
            <a:r>
              <a:rPr lang="en-US" i="1" dirty="0" err="1"/>
              <a:t>agarose</a:t>
            </a:r>
            <a:r>
              <a:rPr lang="en-US" i="1" dirty="0"/>
              <a:t> </a:t>
            </a:r>
            <a:r>
              <a:rPr lang="en-US" dirty="0"/>
              <a:t>— a very pure form of agar, which is obtained</a:t>
            </a:r>
            <a:br>
              <a:rPr lang="en-US" dirty="0"/>
            </a:br>
            <a:r>
              <a:rPr lang="en-US" dirty="0"/>
              <a:t>from seaweed. </a:t>
            </a:r>
            <a:endParaRPr lang="en-US" dirty="0" smtClean="0"/>
          </a:p>
          <a:p>
            <a:r>
              <a:rPr lang="en-US" dirty="0" smtClean="0"/>
              <a:t>At </a:t>
            </a:r>
            <a:r>
              <a:rPr lang="en-US" dirty="0"/>
              <a:t>one end of </a:t>
            </a:r>
            <a:r>
              <a:rPr lang="en-US" dirty="0" smtClean="0"/>
              <a:t>the gel </a:t>
            </a:r>
            <a:r>
              <a:rPr lang="en-US" dirty="0"/>
              <a:t>are several small </a:t>
            </a:r>
            <a:r>
              <a:rPr lang="en-US" dirty="0" smtClean="0"/>
              <a:t>wells.</a:t>
            </a:r>
          </a:p>
          <a:p>
            <a:r>
              <a:rPr lang="en-US" dirty="0" smtClean="0"/>
              <a:t>A </a:t>
            </a:r>
            <a:r>
              <a:rPr lang="en-US" dirty="0"/>
              <a:t>buffer solution is poured over the </a:t>
            </a:r>
            <a:r>
              <a:rPr lang="en-US" dirty="0" smtClean="0"/>
              <a:t>gel</a:t>
            </a:r>
            <a:r>
              <a:rPr lang="en-US" dirty="0"/>
              <a:t>.</a:t>
            </a:r>
            <a:r>
              <a:rPr lang="en-US" dirty="0" smtClean="0"/>
              <a:t> Ions </a:t>
            </a:r>
            <a:r>
              <a:rPr lang="en-US" dirty="0"/>
              <a:t>in the buffer solution conduct electricity. The buffer also stops the gel from drying out. </a:t>
            </a:r>
            <a:endParaRPr lang="en-US" dirty="0" smtClean="0"/>
          </a:p>
          <a:p>
            <a:r>
              <a:rPr lang="en-US" dirty="0" smtClean="0"/>
              <a:t>The </a:t>
            </a:r>
            <a:r>
              <a:rPr lang="en-US" dirty="0"/>
              <a:t>invisible DNA fragments are mixed with a small volume of </a:t>
            </a:r>
            <a:r>
              <a:rPr lang="en-US" i="1" dirty="0"/>
              <a:t>loading dye</a:t>
            </a:r>
            <a:r>
              <a:rPr lang="en-US" dirty="0"/>
              <a:t>. This dye is dissolved in a dense sugar solution, so that when it is added to the wells, it sinks to the bottom, taking the DNA with it. </a:t>
            </a:r>
          </a:p>
          <a:p>
            <a:r>
              <a:rPr lang="en-US" dirty="0"/>
              <a:t>A current is applied to the electrodes, setting up an electrical field across the </a:t>
            </a:r>
            <a:r>
              <a:rPr lang="en-US" dirty="0" smtClean="0"/>
              <a:t>gel.</a:t>
            </a:r>
          </a:p>
          <a:p>
            <a:r>
              <a:rPr lang="en-US" dirty="0" smtClean="0"/>
              <a:t>DNA </a:t>
            </a:r>
            <a:r>
              <a:rPr lang="en-US" dirty="0"/>
              <a:t>migrates through the gel towards the positive electrode. </a:t>
            </a:r>
            <a:endParaRPr lang="en-US" dirty="0" smtClean="0"/>
          </a:p>
          <a:p>
            <a:r>
              <a:rPr lang="en-US" dirty="0" smtClean="0"/>
              <a:t>Small </a:t>
            </a:r>
            <a:r>
              <a:rPr lang="en-US" dirty="0"/>
              <a:t>fragments move quickly through the porous gel — larger fragments travel more slowly. </a:t>
            </a:r>
            <a:endParaRPr lang="en-US" dirty="0" smtClean="0"/>
          </a:p>
          <a:p>
            <a:r>
              <a:rPr lang="en-US" dirty="0"/>
              <a:t>P</a:t>
            </a:r>
            <a:r>
              <a:rPr lang="en-US" dirty="0" smtClean="0"/>
              <a:t>ieces </a:t>
            </a:r>
            <a:r>
              <a:rPr lang="en-US" dirty="0"/>
              <a:t>of DNA are separated by size. The loading dye also moves through the gel, so that the progress of the electrophoresis can be seen. </a:t>
            </a:r>
          </a:p>
          <a:p>
            <a:r>
              <a:rPr lang="en-US" dirty="0"/>
              <a:t>After electrophoresis, the gel is stained to reveal the DNA, either as a smear (many fragments of a wide range of sizes) or bands (each band is comprised of numerous DNA fragments of a similar size). </a:t>
            </a:r>
          </a:p>
        </p:txBody>
      </p:sp>
    </p:spTree>
    <p:extLst>
      <p:ext uri="{BB962C8B-B14F-4D97-AF65-F5344CB8AC3E}">
        <p14:creationId xmlns:p14="http://schemas.microsoft.com/office/powerpoint/2010/main" val="7026882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457200"/>
            <a:ext cx="7772400" cy="1143000"/>
          </a:xfrm>
        </p:spPr>
        <p:txBody>
          <a:bodyPr/>
          <a:lstStyle/>
          <a:p>
            <a:r>
              <a:rPr lang="en-US" dirty="0"/>
              <a:t>Gel Electrophoresis</a:t>
            </a:r>
            <a:endParaRPr lang="en-GB" b="1" dirty="0">
              <a:effectLst>
                <a:outerShdw blurRad="38100" dist="38100" dir="2700000" algn="tl">
                  <a:srgbClr val="DDDDDD"/>
                </a:outerShdw>
              </a:effectLst>
              <a:latin typeface="Arial Rounded MT Bold" charset="0"/>
              <a:ea typeface="ＭＳ Ｐゴシック" charset="0"/>
              <a:cs typeface="ＭＳ Ｐゴシック" charset="0"/>
            </a:endParaRPr>
          </a:p>
        </p:txBody>
      </p:sp>
      <p:sp>
        <p:nvSpPr>
          <p:cNvPr id="37891" name="Rectangle 3"/>
          <p:cNvSpPr>
            <a:spLocks noGrp="1" noChangeArrowheads="1"/>
          </p:cNvSpPr>
          <p:nvPr>
            <p:ph type="body" sz="half" idx="1"/>
          </p:nvPr>
        </p:nvSpPr>
        <p:spPr>
          <a:xfrm>
            <a:off x="381000" y="1828800"/>
            <a:ext cx="3886200" cy="4572000"/>
          </a:xfrm>
        </p:spPr>
        <p:txBody>
          <a:bodyPr/>
          <a:lstStyle/>
          <a:p>
            <a:pPr eaLnBrk="1" hangingPunct="1">
              <a:buFontTx/>
              <a:buBlip>
                <a:blip r:embed="rId3"/>
              </a:buBlip>
            </a:pPr>
            <a:r>
              <a:rPr lang="en-IE" sz="2400" dirty="0">
                <a:latin typeface="Lucida Sans" charset="0"/>
                <a:ea typeface="ＭＳ Ｐゴシック" charset="0"/>
                <a:cs typeface="ＭＳ Ｐゴシック" charset="0"/>
              </a:rPr>
              <a:t>Fragments separated by length</a:t>
            </a:r>
          </a:p>
          <a:p>
            <a:pPr eaLnBrk="1" hangingPunct="1">
              <a:buFontTx/>
              <a:buBlip>
                <a:blip r:embed="rId3"/>
              </a:buBlip>
            </a:pPr>
            <a:endParaRPr lang="en-IE" sz="2400" dirty="0">
              <a:latin typeface="Lucida Sans" charset="0"/>
              <a:ea typeface="ＭＳ Ｐゴシック" charset="0"/>
              <a:cs typeface="ＭＳ Ｐゴシック" charset="0"/>
            </a:endParaRPr>
          </a:p>
          <a:p>
            <a:pPr eaLnBrk="1" hangingPunct="1">
              <a:buFontTx/>
              <a:buBlip>
                <a:blip r:embed="rId3"/>
              </a:buBlip>
            </a:pPr>
            <a:r>
              <a:rPr lang="en-IE" sz="2400" dirty="0">
                <a:latin typeface="Lucida Sans" charset="0"/>
                <a:ea typeface="ＭＳ Ｐゴシック" charset="0"/>
                <a:cs typeface="ＭＳ Ｐゴシック" charset="0"/>
              </a:rPr>
              <a:t>DNA (negatively charged)</a:t>
            </a:r>
          </a:p>
          <a:p>
            <a:pPr eaLnBrk="1" hangingPunct="1">
              <a:buFontTx/>
              <a:buBlip>
                <a:blip r:embed="rId3"/>
              </a:buBlip>
            </a:pPr>
            <a:endParaRPr lang="en-IE" sz="2400" dirty="0">
              <a:latin typeface="Lucida Sans" charset="0"/>
              <a:ea typeface="ＭＳ Ｐゴシック" charset="0"/>
              <a:cs typeface="ＭＳ Ｐゴシック" charset="0"/>
            </a:endParaRPr>
          </a:p>
          <a:p>
            <a:pPr eaLnBrk="1" hangingPunct="1">
              <a:buFontTx/>
              <a:buBlip>
                <a:blip r:embed="rId3"/>
              </a:buBlip>
            </a:pPr>
            <a:r>
              <a:rPr lang="en-IE" sz="2400" dirty="0">
                <a:latin typeface="Lucida Sans" charset="0"/>
                <a:ea typeface="ＭＳ Ｐゴシック" charset="0"/>
                <a:cs typeface="ＭＳ Ｐゴシック" charset="0"/>
              </a:rPr>
              <a:t>Moves towards +ve terminal</a:t>
            </a:r>
          </a:p>
          <a:p>
            <a:pPr eaLnBrk="1" hangingPunct="1">
              <a:buFontTx/>
              <a:buBlip>
                <a:blip r:embed="rId3"/>
              </a:buBlip>
            </a:pPr>
            <a:endParaRPr lang="en-IE" sz="2400" dirty="0">
              <a:latin typeface="Lucida Sans" charset="0"/>
              <a:ea typeface="ＭＳ Ｐゴシック" charset="0"/>
              <a:cs typeface="ＭＳ Ｐゴシック" charset="0"/>
            </a:endParaRPr>
          </a:p>
          <a:p>
            <a:pPr eaLnBrk="1" hangingPunct="1">
              <a:buFontTx/>
              <a:buBlip>
                <a:blip r:embed="rId3"/>
              </a:buBlip>
            </a:pPr>
            <a:r>
              <a:rPr lang="en-IE" sz="2400" dirty="0">
                <a:latin typeface="Lucida Sans" charset="0"/>
                <a:ea typeface="ＭＳ Ｐゴシック" charset="0"/>
                <a:cs typeface="ＭＳ Ｐゴシック" charset="0"/>
              </a:rPr>
              <a:t>Shorter fragments move faster</a:t>
            </a:r>
          </a:p>
          <a:p>
            <a:pPr eaLnBrk="1" hangingPunct="1"/>
            <a:endParaRPr lang="en-GB" sz="2400" dirty="0">
              <a:latin typeface="Lucida Sans" charset="0"/>
              <a:ea typeface="ＭＳ Ｐゴシック" charset="0"/>
              <a:cs typeface="ＭＳ Ｐゴシック" charset="0"/>
            </a:endParaRPr>
          </a:p>
        </p:txBody>
      </p:sp>
      <p:pic>
        <p:nvPicPr>
          <p:cNvPr id="29701" name="Picture 5" descr="C:\DOCUME~1\ADMINI~1\LOCALS~1\Temp\auto0.bmp"/>
          <p:cNvPicPr>
            <a:picLocks noGrp="1" noChangeAspect="1" noChangeArrowheads="1"/>
          </p:cNvPicPr>
          <p:nvPr>
            <p:ph type="clipArt" sz="half" idx="2"/>
          </p:nvPr>
        </p:nvPicPr>
        <p:blipFill>
          <a:blip r:embed="rId4">
            <a:lum bright="-12000" contrast="6000"/>
            <a:extLst>
              <a:ext uri="{28A0092B-C50C-407E-A947-70E740481C1C}">
                <a14:useLocalDpi xmlns:a14="http://schemas.microsoft.com/office/drawing/2010/main" val="0"/>
              </a:ext>
            </a:extLst>
          </a:blip>
          <a:srcRect l="5263" t="28279" r="2632" b="13065"/>
          <a:stretch>
            <a:fillRect/>
          </a:stretch>
        </p:blipFill>
        <p:spPr>
          <a:xfrm>
            <a:off x="3995936" y="2073097"/>
            <a:ext cx="4104456" cy="3876184"/>
          </a:xfrm>
          <a:noFill/>
          <a:ln w="38100">
            <a:solidFill>
              <a:schemeClr val="accent2"/>
            </a:solidFill>
            <a:miter lim="800000"/>
            <a:headEnd/>
            <a:tailEnd/>
          </a:ln>
        </p:spPr>
      </p:pic>
    </p:spTree>
    <p:extLst>
      <p:ext uri="{BB962C8B-B14F-4D97-AF65-F5344CB8AC3E}">
        <p14:creationId xmlns:p14="http://schemas.microsoft.com/office/powerpoint/2010/main" val="31860952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891">
                                            <p:txEl>
                                              <p:pRg st="2" end="2"/>
                                            </p:txEl>
                                          </p:spTgt>
                                        </p:tgtEl>
                                        <p:attrNameLst>
                                          <p:attrName>style.visibility</p:attrName>
                                        </p:attrNameLst>
                                      </p:cBhvr>
                                      <p:to>
                                        <p:strVal val="visible"/>
                                      </p:to>
                                    </p:set>
                                    <p:anim calcmode="lin" valueType="num">
                                      <p:cBhvr additive="base">
                                        <p:cTn id="13" dur="500" fill="hold"/>
                                        <p:tgtEl>
                                          <p:spTgt spid="3789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78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7891">
                                            <p:txEl>
                                              <p:pRg st="4" end="4"/>
                                            </p:txEl>
                                          </p:spTgt>
                                        </p:tgtEl>
                                        <p:attrNameLst>
                                          <p:attrName>style.visibility</p:attrName>
                                        </p:attrNameLst>
                                      </p:cBhvr>
                                      <p:to>
                                        <p:strVal val="visible"/>
                                      </p:to>
                                    </p:set>
                                    <p:anim calcmode="lin" valueType="num">
                                      <p:cBhvr additive="base">
                                        <p:cTn id="19" dur="500" fill="hold"/>
                                        <p:tgtEl>
                                          <p:spTgt spid="37891">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78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7891">
                                            <p:txEl>
                                              <p:pRg st="6" end="6"/>
                                            </p:txEl>
                                          </p:spTgt>
                                        </p:tgtEl>
                                        <p:attrNameLst>
                                          <p:attrName>style.visibility</p:attrName>
                                        </p:attrNameLst>
                                      </p:cBhvr>
                                      <p:to>
                                        <p:strVal val="visible"/>
                                      </p:to>
                                    </p:set>
                                    <p:anim calcmode="lin" valueType="num">
                                      <p:cBhvr additive="base">
                                        <p:cTn id="25" dur="500" fill="hold"/>
                                        <p:tgtEl>
                                          <p:spTgt spid="37891">
                                            <p:txEl>
                                              <p:pRg st="6" end="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789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529</TotalTime>
  <Words>686</Words>
  <Application>Microsoft Office PowerPoint</Application>
  <PresentationFormat>On-screen Show (4:3)</PresentationFormat>
  <Paragraphs>110</Paragraphs>
  <Slides>12</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ＭＳ Ｐゴシック</vt:lpstr>
      <vt:lpstr>ＭＳ Ｐゴシック</vt:lpstr>
      <vt:lpstr>Arial</vt:lpstr>
      <vt:lpstr>Arial Rounded MT Bold</vt:lpstr>
      <vt:lpstr>Calibri</vt:lpstr>
      <vt:lpstr>Cambria</vt:lpstr>
      <vt:lpstr>Lucida Sans</vt:lpstr>
      <vt:lpstr>Times New Roman</vt:lpstr>
      <vt:lpstr>Adjacency</vt:lpstr>
      <vt:lpstr>Biotechnology -DNA Sequencing</vt:lpstr>
      <vt:lpstr>What are we doing today?</vt:lpstr>
      <vt:lpstr>DNA Structure</vt:lpstr>
      <vt:lpstr>Structure of DNA</vt:lpstr>
      <vt:lpstr>DNA replication</vt:lpstr>
      <vt:lpstr>DNA sequencing</vt:lpstr>
      <vt:lpstr>Sanger sequencing</vt:lpstr>
      <vt:lpstr>Enzymes</vt:lpstr>
      <vt:lpstr>Polymerase chain reaction</vt:lpstr>
      <vt:lpstr>Polymerase chain reaction</vt:lpstr>
      <vt:lpstr>Gel Electrophoresis</vt:lpstr>
      <vt:lpstr>Gel Electrophoresis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Inquiry Skills</dc:title>
  <dc:creator>BRUNS Emma</dc:creator>
  <cp:lastModifiedBy>WILLIAMS Daphne [Safety Bay Senior High School]</cp:lastModifiedBy>
  <cp:revision>49</cp:revision>
  <dcterms:created xsi:type="dcterms:W3CDTF">2018-02-02T00:28:02Z</dcterms:created>
  <dcterms:modified xsi:type="dcterms:W3CDTF">2020-01-31T04:16:25Z</dcterms:modified>
</cp:coreProperties>
</file>
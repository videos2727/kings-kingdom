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7"/>
  </p:notesMasterIdLst>
  <p:sldIdLst>
    <p:sldId id="274" r:id="rId2"/>
    <p:sldId id="275" r:id="rId3"/>
    <p:sldId id="271" r:id="rId4"/>
    <p:sldId id="257" r:id="rId5"/>
    <p:sldId id="259" r:id="rId6"/>
    <p:sldId id="261" r:id="rId7"/>
    <p:sldId id="267" r:id="rId8"/>
    <p:sldId id="266" r:id="rId9"/>
    <p:sldId id="262" r:id="rId10"/>
    <p:sldId id="273" r:id="rId11"/>
    <p:sldId id="269" r:id="rId12"/>
    <p:sldId id="272" r:id="rId13"/>
    <p:sldId id="270" r:id="rId14"/>
    <p:sldId id="263" r:id="rId15"/>
    <p:sldId id="264"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784" autoAdjust="0"/>
    <p:restoredTop sz="76870" autoAdjust="0"/>
  </p:normalViewPr>
  <p:slideViewPr>
    <p:cSldViewPr snapToGrid="0" snapToObjects="1">
      <p:cViewPr varScale="1">
        <p:scale>
          <a:sx n="55" d="100"/>
          <a:sy n="55" d="100"/>
        </p:scale>
        <p:origin x="1992"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E608B17-AE6D-3648-B699-E6E370BB607E}" type="datetimeFigureOut">
              <a:rPr lang="en-US" smtClean="0"/>
              <a:pPr/>
              <a:t>6/9/2021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94760A1-97D5-8042-8F98-64A90ED79F3B}" type="slidenum">
              <a:rPr lang="en-US" smtClean="0"/>
              <a:pPr/>
              <a:t>‹#›</a:t>
            </a:fld>
            <a:endParaRPr lang="en-US"/>
          </a:p>
        </p:txBody>
      </p:sp>
    </p:spTree>
    <p:extLst>
      <p:ext uri="{BB962C8B-B14F-4D97-AF65-F5344CB8AC3E}">
        <p14:creationId xmlns:p14="http://schemas.microsoft.com/office/powerpoint/2010/main" val="975530100"/>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These methods are used daily around the world for a variety of applications, From</a:t>
            </a:r>
            <a:r>
              <a:rPr lang="en-GB" baseline="0" dirty="0"/>
              <a:t> real crime scene investigations to paternity testing on Jeremy Kyle!</a:t>
            </a:r>
          </a:p>
        </p:txBody>
      </p:sp>
      <p:sp>
        <p:nvSpPr>
          <p:cNvPr id="4" name="Slide Number Placeholder 3"/>
          <p:cNvSpPr>
            <a:spLocks noGrp="1"/>
          </p:cNvSpPr>
          <p:nvPr>
            <p:ph type="sldNum" sz="quarter" idx="10"/>
          </p:nvPr>
        </p:nvSpPr>
        <p:spPr/>
        <p:txBody>
          <a:bodyPr/>
          <a:lstStyle/>
          <a:p>
            <a:fld id="{F94760A1-97D5-8042-8F98-64A90ED79F3B}" type="slidenum">
              <a:rPr lang="en-US" smtClean="0"/>
              <a:pPr/>
              <a:t>3</a:t>
            </a:fld>
            <a:endParaRPr lang="en-US"/>
          </a:p>
        </p:txBody>
      </p:sp>
    </p:spTree>
    <p:extLst>
      <p:ext uri="{BB962C8B-B14F-4D97-AF65-F5344CB8AC3E}">
        <p14:creationId xmlns:p14="http://schemas.microsoft.com/office/powerpoint/2010/main" val="29893508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a:t>You can use molecular biology to look at your own genes. </a:t>
            </a:r>
          </a:p>
          <a:p>
            <a:endParaRPr lang="en-US" baseline="0" dirty="0"/>
          </a:p>
          <a:p>
            <a:r>
              <a:rPr lang="en-US" baseline="0" dirty="0"/>
              <a:t>To do this you need to collect DNA, through cheek cell extraction, and break open the cells to release the DNA inside. </a:t>
            </a:r>
          </a:p>
          <a:p>
            <a:pPr>
              <a:buFontTx/>
              <a:buNone/>
            </a:pPr>
            <a:endParaRPr lang="en-US" baseline="0" dirty="0"/>
          </a:p>
          <a:p>
            <a:pPr>
              <a:buFontTx/>
              <a:buNone/>
            </a:pPr>
            <a:r>
              <a:rPr lang="en-US" baseline="0" dirty="0"/>
              <a:t>This DNA is then added to a mix of reagents, and put in the computer controlled PCR machine and heated at different temperatures, at the end of which will have created millions of copies of the specific fragment of DNA.</a:t>
            </a:r>
          </a:p>
          <a:p>
            <a:pPr>
              <a:buFontTx/>
              <a:buNone/>
            </a:pPr>
            <a:endParaRPr lang="en-US" baseline="0" dirty="0"/>
          </a:p>
          <a:p>
            <a:pPr>
              <a:buFontTx/>
              <a:buNone/>
            </a:pPr>
            <a:r>
              <a:rPr lang="en-US" baseline="0" dirty="0"/>
              <a:t>The copies of DNA fragment are then visualized by Gel Electrophoresis and can be used to identify someone if compared to a control. </a:t>
            </a:r>
          </a:p>
          <a:p>
            <a:pPr>
              <a:buFontTx/>
              <a:buNone/>
            </a:pPr>
            <a:endParaRPr lang="en-US" baseline="0" dirty="0"/>
          </a:p>
          <a:p>
            <a:pPr>
              <a:buFontTx/>
              <a:buNone/>
            </a:pPr>
            <a:r>
              <a:rPr lang="en-US" baseline="0" dirty="0"/>
              <a:t>The PCR process can be described as looking for a needle in a haystack, (</a:t>
            </a:r>
            <a:r>
              <a:rPr lang="en-US" baseline="0" dirty="0" err="1"/>
              <a:t>ie</a:t>
            </a:r>
            <a:r>
              <a:rPr lang="en-US" baseline="0" dirty="0"/>
              <a:t> looking for a DNA fragment in the entire genome), and then making a haystack out of that needle(from the amplifying DNA process). </a:t>
            </a:r>
          </a:p>
          <a:p>
            <a:pPr>
              <a:buFontTx/>
              <a:buNone/>
            </a:pPr>
            <a:r>
              <a:rPr lang="en-US" baseline="0" dirty="0"/>
              <a:t>This process can be used for crime scene investigations, paternity testing and gene mapping!</a:t>
            </a:r>
          </a:p>
          <a:p>
            <a:pPr>
              <a:buFontTx/>
              <a:buNone/>
            </a:pPr>
            <a:endParaRPr lang="en-US" baseline="0" dirty="0"/>
          </a:p>
          <a:p>
            <a:pPr>
              <a:buFontTx/>
              <a:buNone/>
            </a:pPr>
            <a:endParaRPr lang="en-US" dirty="0"/>
          </a:p>
        </p:txBody>
      </p:sp>
      <p:sp>
        <p:nvSpPr>
          <p:cNvPr id="4" name="Slide Number Placeholder 3"/>
          <p:cNvSpPr>
            <a:spLocks noGrp="1"/>
          </p:cNvSpPr>
          <p:nvPr>
            <p:ph type="sldNum" sz="quarter" idx="10"/>
          </p:nvPr>
        </p:nvSpPr>
        <p:spPr/>
        <p:txBody>
          <a:bodyPr/>
          <a:lstStyle/>
          <a:p>
            <a:fld id="{F94760A1-97D5-8042-8F98-64A90ED79F3B}" type="slidenum">
              <a:rPr lang="en-US" smtClean="0"/>
              <a:pPr/>
              <a:t>4</a:t>
            </a:fld>
            <a:endParaRPr lang="en-US"/>
          </a:p>
        </p:txBody>
      </p:sp>
    </p:spTree>
    <p:extLst>
      <p:ext uri="{BB962C8B-B14F-4D97-AF65-F5344CB8AC3E}">
        <p14:creationId xmlns:p14="http://schemas.microsoft.com/office/powerpoint/2010/main" val="22187158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a:t>So</a:t>
            </a:r>
          </a:p>
          <a:p>
            <a:pPr marL="0" marR="0" indent="0" algn="l" defTabSz="457200" rtl="0" eaLnBrk="1" fontAlgn="auto" latinLnBrk="0" hangingPunct="1">
              <a:lnSpc>
                <a:spcPct val="100000"/>
              </a:lnSpc>
              <a:spcBef>
                <a:spcPts val="0"/>
              </a:spcBef>
              <a:spcAft>
                <a:spcPts val="0"/>
              </a:spcAft>
              <a:buClrTx/>
              <a:buSzTx/>
              <a:buFontTx/>
              <a:buNone/>
              <a:tabLst/>
              <a:defRPr/>
            </a:pPr>
            <a:r>
              <a:rPr lang="en-US" dirty="0"/>
              <a:t>Cheek</a:t>
            </a:r>
            <a:r>
              <a:rPr lang="en-US" baseline="0" dirty="0"/>
              <a:t> cells are shed into your saliva all the time, normally just swallow them and they are digested. Can anyone say what effect just eating may have on collection of cells? (swallow loads of recently shed cells, and also have bits of food in saliva). </a:t>
            </a:r>
          </a:p>
          <a:p>
            <a:r>
              <a:rPr lang="en-US" baseline="0" dirty="0"/>
              <a:t>We are going to practice collecting our DNA samples. </a:t>
            </a:r>
          </a:p>
          <a:p>
            <a:r>
              <a:rPr lang="en-US" baseline="0" dirty="0">
                <a:solidFill>
                  <a:srgbClr val="FF0000"/>
                </a:solidFill>
              </a:rPr>
              <a:t>Everyone:</a:t>
            </a:r>
          </a:p>
          <a:p>
            <a:pPr marL="228600" indent="-228600">
              <a:buAutoNum type="arabicPeriod"/>
            </a:pPr>
            <a:r>
              <a:rPr lang="en-US" baseline="0" dirty="0">
                <a:solidFill>
                  <a:srgbClr val="FF0000"/>
                </a:solidFill>
              </a:rPr>
              <a:t>Chew cheeks briefly – NO BLOOD. People with braces may find it harder. </a:t>
            </a:r>
          </a:p>
          <a:p>
            <a:pPr marL="228600" indent="-228600">
              <a:buAutoNum type="arabicPeriod"/>
            </a:pPr>
            <a:r>
              <a:rPr lang="en-US" baseline="0" dirty="0">
                <a:solidFill>
                  <a:srgbClr val="FF0000"/>
                </a:solidFill>
              </a:rPr>
              <a:t>Take in the saline solution in the cup in front of you and swill around in your mouth. Spin back into the cup. </a:t>
            </a:r>
          </a:p>
          <a:p>
            <a:pPr marL="0" indent="0">
              <a:buNone/>
            </a:pPr>
            <a:endParaRPr lang="en-US" baseline="0" dirty="0">
              <a:solidFill>
                <a:srgbClr val="FF0000"/>
              </a:solidFill>
            </a:endParaRPr>
          </a:p>
          <a:p>
            <a:pPr marL="0" indent="0">
              <a:buNone/>
            </a:pPr>
            <a:r>
              <a:rPr lang="en-US" baseline="0" dirty="0">
                <a:solidFill>
                  <a:srgbClr val="FF0000"/>
                </a:solidFill>
              </a:rPr>
              <a:t>This cup will now contain your cheek cells in your saliva. But they are suspended in the solution as WHOLE cells. </a:t>
            </a:r>
            <a:endParaRPr lang="en-US" baseline="0" dirty="0"/>
          </a:p>
          <a:p>
            <a:pPr marL="228600" indent="-228600">
              <a:buNone/>
            </a:pPr>
            <a:endParaRPr lang="en-US" baseline="0" dirty="0"/>
          </a:p>
          <a:p>
            <a:pPr marL="228600" indent="-228600">
              <a:buNone/>
            </a:pPr>
            <a:endParaRPr lang="en-US" baseline="0" dirty="0"/>
          </a:p>
          <a:p>
            <a:pPr marL="228600" indent="-228600">
              <a:buNone/>
            </a:pPr>
            <a:endParaRPr lang="en-US" baseline="0" dirty="0"/>
          </a:p>
          <a:p>
            <a:pPr marL="228600" indent="-228600">
              <a:buNone/>
            </a:pPr>
            <a:endParaRPr lang="en-US" baseline="0" dirty="0"/>
          </a:p>
          <a:p>
            <a:pPr marL="228600" indent="-228600">
              <a:buNone/>
            </a:pPr>
            <a:endParaRPr lang="en-US" baseline="0" dirty="0"/>
          </a:p>
          <a:p>
            <a:pPr marL="228600" indent="-228600">
              <a:buNone/>
            </a:pPr>
            <a:endParaRPr lang="en-US" baseline="0" dirty="0"/>
          </a:p>
          <a:p>
            <a:pPr marL="228600" indent="-228600">
              <a:buNone/>
            </a:pPr>
            <a:endParaRPr lang="en-US" baseline="0" dirty="0"/>
          </a:p>
          <a:p>
            <a:pPr marL="228600" indent="-228600">
              <a:buNone/>
            </a:pPr>
            <a:endParaRPr lang="en-US" baseline="0" dirty="0"/>
          </a:p>
          <a:p>
            <a:pPr marL="228600" indent="-228600">
              <a:buNone/>
            </a:pPr>
            <a:endParaRPr lang="en-US" baseline="0" dirty="0"/>
          </a:p>
          <a:p>
            <a:pPr marL="228600" indent="-228600">
              <a:buNone/>
            </a:pPr>
            <a:endParaRPr lang="en-US" baseline="0" dirty="0"/>
          </a:p>
          <a:p>
            <a:pPr marL="228600" indent="-228600">
              <a:buNone/>
            </a:pPr>
            <a:endParaRPr lang="en-US" baseline="0" dirty="0"/>
          </a:p>
          <a:p>
            <a:pPr marL="228600" indent="-228600">
              <a:buNone/>
            </a:pPr>
            <a:endParaRPr lang="en-US" baseline="0" dirty="0"/>
          </a:p>
          <a:p>
            <a:pPr marL="228600" indent="-228600">
              <a:buNone/>
            </a:pPr>
            <a:endParaRPr lang="en-US" baseline="0" dirty="0"/>
          </a:p>
          <a:p>
            <a:pPr marL="228600" indent="-228600">
              <a:buNone/>
            </a:pPr>
            <a:endParaRPr lang="en-US" baseline="0" dirty="0"/>
          </a:p>
          <a:p>
            <a:pPr marL="228600" indent="-228600">
              <a:buNone/>
            </a:pPr>
            <a:endParaRPr lang="en-US" baseline="0" dirty="0"/>
          </a:p>
          <a:p>
            <a:endParaRPr lang="en-US" baseline="0" dirty="0"/>
          </a:p>
          <a:p>
            <a:endParaRPr lang="en-US" dirty="0"/>
          </a:p>
        </p:txBody>
      </p:sp>
      <p:sp>
        <p:nvSpPr>
          <p:cNvPr id="4" name="Slide Number Placeholder 3"/>
          <p:cNvSpPr>
            <a:spLocks noGrp="1"/>
          </p:cNvSpPr>
          <p:nvPr>
            <p:ph type="sldNum" sz="quarter" idx="10"/>
          </p:nvPr>
        </p:nvSpPr>
        <p:spPr/>
        <p:txBody>
          <a:bodyPr/>
          <a:lstStyle/>
          <a:p>
            <a:fld id="{F94760A1-97D5-8042-8F98-64A90ED79F3B}" type="slidenum">
              <a:rPr lang="en-US" smtClean="0"/>
              <a:pPr/>
              <a:t>5</a:t>
            </a:fld>
            <a:endParaRPr lang="en-US"/>
          </a:p>
        </p:txBody>
      </p:sp>
    </p:spTree>
    <p:extLst>
      <p:ext uri="{BB962C8B-B14F-4D97-AF65-F5344CB8AC3E}">
        <p14:creationId xmlns:p14="http://schemas.microsoft.com/office/powerpoint/2010/main" val="20695219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baseline="0" dirty="0"/>
              <a:t>A centrifuge is a machine that rotates the mixture extremely fast and the force will push the cells to the bottom of the tube. We don’t have time to actually do it today, so we are just going to show you. You would take some of your spit and transfer it to a microcentrifuge tube which is the right shape for the machine. It is placed inside the machine and you would put an empty sample of water- can anyone think of why this is done? </a:t>
            </a:r>
          </a:p>
          <a:p>
            <a:pPr marL="0" marR="0" indent="0" algn="l" defTabSz="457200" rtl="0" eaLnBrk="1" fontAlgn="auto" latinLnBrk="0" hangingPunct="1">
              <a:lnSpc>
                <a:spcPct val="100000"/>
              </a:lnSpc>
              <a:spcBef>
                <a:spcPts val="0"/>
              </a:spcBef>
              <a:spcAft>
                <a:spcPts val="0"/>
              </a:spcAft>
              <a:buClrTx/>
              <a:buSzTx/>
              <a:buFontTx/>
              <a:buNone/>
              <a:tabLst/>
              <a:defRPr/>
            </a:pPr>
            <a:r>
              <a:rPr lang="en-US" baseline="0" dirty="0"/>
              <a:t>Once its spun and you would remove the sample. A white pellet of your cheek cells will form at the bottom. You would then pour off the majority of the saline at the top.  </a:t>
            </a:r>
          </a:p>
          <a:p>
            <a:pPr marL="228600" indent="-228600">
              <a:buAutoNum type="arabicPeriod"/>
            </a:pPr>
            <a:endParaRPr lang="en-US" baseline="0" dirty="0"/>
          </a:p>
          <a:p>
            <a:pPr marL="228600" indent="-228600">
              <a:buAutoNum type="arabicPeriod"/>
            </a:pPr>
            <a:endParaRPr lang="en-US" baseline="0" dirty="0"/>
          </a:p>
          <a:p>
            <a:endParaRPr lang="en-US" baseline="0" dirty="0"/>
          </a:p>
          <a:p>
            <a:pPr>
              <a:buFontTx/>
              <a:buNone/>
            </a:pPr>
            <a:endParaRPr lang="en-US" baseline="0" dirty="0"/>
          </a:p>
          <a:p>
            <a:pPr>
              <a:buFontTx/>
              <a:buNone/>
            </a:pPr>
            <a:r>
              <a:rPr lang="en-US" baseline="0" dirty="0"/>
              <a:t> </a:t>
            </a:r>
          </a:p>
          <a:p>
            <a:pPr>
              <a:buFontTx/>
              <a:buChar char="-"/>
            </a:pPr>
            <a:endParaRPr lang="en-US" dirty="0"/>
          </a:p>
        </p:txBody>
      </p:sp>
      <p:sp>
        <p:nvSpPr>
          <p:cNvPr id="4" name="Slide Number Placeholder 3"/>
          <p:cNvSpPr>
            <a:spLocks noGrp="1"/>
          </p:cNvSpPr>
          <p:nvPr>
            <p:ph type="sldNum" sz="quarter" idx="10"/>
          </p:nvPr>
        </p:nvSpPr>
        <p:spPr/>
        <p:txBody>
          <a:bodyPr/>
          <a:lstStyle/>
          <a:p>
            <a:fld id="{F94760A1-97D5-8042-8F98-64A90ED79F3B}" type="slidenum">
              <a:rPr lang="en-US" smtClean="0"/>
              <a:pPr/>
              <a:t>6</a:t>
            </a:fld>
            <a:endParaRPr lang="en-US"/>
          </a:p>
        </p:txBody>
      </p:sp>
    </p:spTree>
    <p:extLst>
      <p:ext uri="{BB962C8B-B14F-4D97-AF65-F5344CB8AC3E}">
        <p14:creationId xmlns:p14="http://schemas.microsoft.com/office/powerpoint/2010/main" val="15272583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indent="0">
              <a:buNone/>
            </a:pPr>
            <a:endParaRPr lang="en-US" baseline="0" dirty="0"/>
          </a:p>
          <a:p>
            <a:pPr marL="0" marR="0" indent="0" algn="l" defTabSz="457200" rtl="0" eaLnBrk="1" fontAlgn="auto" latinLnBrk="0" hangingPunct="1">
              <a:lnSpc>
                <a:spcPct val="100000"/>
              </a:lnSpc>
              <a:spcBef>
                <a:spcPts val="0"/>
              </a:spcBef>
              <a:spcAft>
                <a:spcPts val="0"/>
              </a:spcAft>
              <a:buClrTx/>
              <a:buSzTx/>
              <a:buFontTx/>
              <a:buNone/>
              <a:tabLst/>
              <a:defRPr/>
            </a:pPr>
            <a:r>
              <a:rPr lang="en-US" baseline="0" dirty="0"/>
              <a:t>You would then take some of your centrifuged spit and add it to something called </a:t>
            </a:r>
            <a:r>
              <a:rPr lang="en-US" baseline="0" dirty="0" err="1"/>
              <a:t>instagene</a:t>
            </a:r>
            <a:r>
              <a:rPr lang="en-US" baseline="0" dirty="0"/>
              <a:t> matrix. This is a solution that prevents DNA from breaking down, which is important if we want to make lots of copies of it. It is microscopic beads so the solution needs to be flicked to </a:t>
            </a:r>
            <a:r>
              <a:rPr lang="en-US" baseline="0" dirty="0" err="1"/>
              <a:t>resuspend</a:t>
            </a:r>
            <a:r>
              <a:rPr lang="en-US" baseline="0" dirty="0"/>
              <a:t> the solution. </a:t>
            </a:r>
          </a:p>
          <a:p>
            <a:pPr marL="0" marR="0" indent="0" algn="l" defTabSz="457200" rtl="0" eaLnBrk="1" fontAlgn="auto" latinLnBrk="0" hangingPunct="1">
              <a:lnSpc>
                <a:spcPct val="100000"/>
              </a:lnSpc>
              <a:spcBef>
                <a:spcPts val="0"/>
              </a:spcBef>
              <a:spcAft>
                <a:spcPts val="0"/>
              </a:spcAft>
              <a:buClrTx/>
              <a:buSzTx/>
              <a:buFontTx/>
              <a:buNone/>
              <a:tabLst/>
              <a:defRPr/>
            </a:pPr>
            <a:endParaRPr lang="en-US" baseline="0" dirty="0"/>
          </a:p>
          <a:p>
            <a:pPr marL="228600" indent="-228600">
              <a:buNone/>
            </a:pPr>
            <a:r>
              <a:rPr lang="en-US" baseline="0" dirty="0"/>
              <a:t>You would then put into a water bath to soften cell membrane and stop clumping, break the cell open to release the DNA into solution. </a:t>
            </a:r>
          </a:p>
          <a:p>
            <a:pPr>
              <a:buFontTx/>
              <a:buNone/>
            </a:pPr>
            <a:endParaRPr lang="en-US" baseline="0" dirty="0"/>
          </a:p>
          <a:p>
            <a:pPr>
              <a:buFontTx/>
              <a:buNone/>
            </a:pPr>
            <a:r>
              <a:rPr lang="en-US" baseline="0" dirty="0"/>
              <a:t> </a:t>
            </a:r>
          </a:p>
          <a:p>
            <a:pPr>
              <a:buFontTx/>
              <a:buChar char="-"/>
            </a:pPr>
            <a:endParaRPr lang="en-US" dirty="0"/>
          </a:p>
        </p:txBody>
      </p:sp>
      <p:sp>
        <p:nvSpPr>
          <p:cNvPr id="4" name="Slide Number Placeholder 3"/>
          <p:cNvSpPr>
            <a:spLocks noGrp="1"/>
          </p:cNvSpPr>
          <p:nvPr>
            <p:ph type="sldNum" sz="quarter" idx="10"/>
          </p:nvPr>
        </p:nvSpPr>
        <p:spPr/>
        <p:txBody>
          <a:bodyPr/>
          <a:lstStyle/>
          <a:p>
            <a:fld id="{F94760A1-97D5-8042-8F98-64A90ED79F3B}" type="slidenum">
              <a:rPr lang="en-US" smtClean="0"/>
              <a:pPr/>
              <a:t>7</a:t>
            </a:fld>
            <a:endParaRPr lang="en-US"/>
          </a:p>
        </p:txBody>
      </p:sp>
    </p:spTree>
    <p:extLst>
      <p:ext uri="{BB962C8B-B14F-4D97-AF65-F5344CB8AC3E}">
        <p14:creationId xmlns:p14="http://schemas.microsoft.com/office/powerpoint/2010/main" val="2755922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marL="228600" indent="-228600">
              <a:buAutoNum type="arabicPeriod"/>
            </a:pPr>
            <a:endParaRPr lang="en-US" baseline="0" dirty="0"/>
          </a:p>
          <a:p>
            <a:r>
              <a:rPr lang="en-US" dirty="0"/>
              <a:t>PCR is basically using</a:t>
            </a:r>
            <a:r>
              <a:rPr lang="en-US" baseline="0" dirty="0"/>
              <a:t> a computer controlled heat source, to creates millions of copies of DNA fragments. So you literally put in a tube containing your DNA which has been extracted using the method just discussed, and add it to the master mix which contains primers (set of nucleotides that bind to a specific part of the genome- this is pre-determined depending on the experiment), enzymes, and nucleotide bases. </a:t>
            </a:r>
          </a:p>
          <a:p>
            <a:endParaRPr lang="en-US" b="1" baseline="0" dirty="0"/>
          </a:p>
          <a:p>
            <a:r>
              <a:rPr lang="en-US" b="1" baseline="0" dirty="0"/>
              <a:t>Demonstrate: </a:t>
            </a:r>
            <a:r>
              <a:rPr lang="en-US" baseline="0" dirty="0"/>
              <a:t>The experiment protocol is:</a:t>
            </a:r>
          </a:p>
          <a:p>
            <a:endParaRPr lang="en-US" baseline="0" dirty="0"/>
          </a:p>
          <a:p>
            <a:pPr marL="228600" indent="-228600">
              <a:buAutoNum type="arabicPeriod"/>
            </a:pPr>
            <a:r>
              <a:rPr lang="en-US" baseline="0" dirty="0"/>
              <a:t>Using a micropipette you would then transfer 20microlitres of DNA sample from the top of the solution, as the ‘</a:t>
            </a:r>
            <a:r>
              <a:rPr lang="en-US" baseline="0" dirty="0" err="1"/>
              <a:t>instagene</a:t>
            </a:r>
            <a:r>
              <a:rPr lang="en-US" baseline="0" dirty="0"/>
              <a:t> beads’ will settle to the bottom and you don’t want them to enter the PCR machine.</a:t>
            </a:r>
          </a:p>
          <a:p>
            <a:pPr marL="228600" indent="-228600">
              <a:buAutoNum type="arabicPeriod"/>
            </a:pPr>
            <a:r>
              <a:rPr lang="en-US" baseline="0" dirty="0"/>
              <a:t>Add 20microlitres USING A NEW PIPETTE, of the tube labelled master mix into the PCR tube. This has been pre-prepared by the lab technicians and includes the primers, nucleotides and enzymes needed. </a:t>
            </a:r>
            <a:r>
              <a:rPr lang="en-US" i="0" baseline="0" dirty="0"/>
              <a:t>It needs to be kept on ice before the practical.</a:t>
            </a:r>
            <a:r>
              <a:rPr lang="en-US" baseline="0" dirty="0"/>
              <a:t> You can then MIX the solution by pipetting up and down. </a:t>
            </a:r>
          </a:p>
          <a:p>
            <a:endParaRPr lang="en-US" baseline="0" dirty="0"/>
          </a:p>
          <a:p>
            <a:pPr marL="0" marR="0" indent="0" algn="l" defTabSz="457200" rtl="0" eaLnBrk="1" fontAlgn="auto" latinLnBrk="0" hangingPunct="1">
              <a:lnSpc>
                <a:spcPct val="100000"/>
              </a:lnSpc>
              <a:spcBef>
                <a:spcPts val="0"/>
              </a:spcBef>
              <a:spcAft>
                <a:spcPts val="0"/>
              </a:spcAft>
              <a:buClrTx/>
              <a:buSzTx/>
              <a:buFontTx/>
              <a:buNone/>
              <a:tabLst/>
              <a:defRPr/>
            </a:pPr>
            <a:r>
              <a:rPr lang="en-US" baseline="0" dirty="0"/>
              <a:t>PCR tubes are the TINY. Can you see the difference between PCR tubes and microcentrifuge tubes? PCR tubes have extremely thin walls for heat conducting. </a:t>
            </a:r>
          </a:p>
          <a:p>
            <a:endParaRPr lang="en-US" baseline="0" dirty="0"/>
          </a:p>
          <a:p>
            <a:pPr marL="228600" indent="-228600">
              <a:buAutoNum type="arabicPeriod"/>
            </a:pPr>
            <a:endParaRPr lang="en-US" baseline="0" dirty="0"/>
          </a:p>
          <a:p>
            <a:pPr marL="228600" indent="-228600">
              <a:buAutoNum type="arabicPeriod"/>
            </a:pPr>
            <a:endParaRPr lang="en-US" baseline="0" dirty="0"/>
          </a:p>
          <a:p>
            <a:pPr marL="228600" indent="-228600">
              <a:buAutoNum type="arabicPeriod"/>
            </a:pPr>
            <a:endParaRPr lang="en-US" baseline="0" dirty="0"/>
          </a:p>
          <a:p>
            <a:endParaRPr lang="en-US" baseline="0" dirty="0"/>
          </a:p>
          <a:p>
            <a:pPr>
              <a:buFontTx/>
              <a:buNone/>
            </a:pPr>
            <a:endParaRPr lang="en-US" baseline="0" dirty="0"/>
          </a:p>
          <a:p>
            <a:pPr>
              <a:buFontTx/>
              <a:buNone/>
            </a:pPr>
            <a:r>
              <a:rPr lang="en-US" baseline="0" dirty="0"/>
              <a:t> </a:t>
            </a:r>
          </a:p>
          <a:p>
            <a:pPr>
              <a:buFontTx/>
              <a:buChar char="-"/>
            </a:pPr>
            <a:endParaRPr lang="en-US" dirty="0"/>
          </a:p>
        </p:txBody>
      </p:sp>
      <p:sp>
        <p:nvSpPr>
          <p:cNvPr id="4" name="Slide Number Placeholder 3"/>
          <p:cNvSpPr>
            <a:spLocks noGrp="1"/>
          </p:cNvSpPr>
          <p:nvPr>
            <p:ph type="sldNum" sz="quarter" idx="10"/>
          </p:nvPr>
        </p:nvSpPr>
        <p:spPr/>
        <p:txBody>
          <a:bodyPr/>
          <a:lstStyle/>
          <a:p>
            <a:fld id="{F94760A1-97D5-8042-8F98-64A90ED79F3B}" type="slidenum">
              <a:rPr lang="en-US" smtClean="0"/>
              <a:pPr/>
              <a:t>8</a:t>
            </a:fld>
            <a:endParaRPr lang="en-US"/>
          </a:p>
        </p:txBody>
      </p:sp>
    </p:spTree>
    <p:extLst>
      <p:ext uri="{BB962C8B-B14F-4D97-AF65-F5344CB8AC3E}">
        <p14:creationId xmlns:p14="http://schemas.microsoft.com/office/powerpoint/2010/main" val="6269038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Char char="-"/>
            </a:pPr>
            <a:r>
              <a:rPr lang="en-US" baseline="0" dirty="0"/>
              <a:t>You would then place the PCR tube in the computer and use a predefined program that would go as follows:</a:t>
            </a:r>
          </a:p>
          <a:p>
            <a:pPr>
              <a:buFontTx/>
              <a:buChar char="-"/>
            </a:pPr>
            <a:endParaRPr lang="en-US" baseline="0" dirty="0"/>
          </a:p>
          <a:p>
            <a:pPr>
              <a:buFontTx/>
              <a:buChar char="-"/>
            </a:pPr>
            <a:r>
              <a:rPr lang="en-US" baseline="0" dirty="0"/>
              <a:t>Strands separate at 94°C- How would this breaking occur?</a:t>
            </a:r>
          </a:p>
          <a:p>
            <a:pPr>
              <a:buFontTx/>
              <a:buChar char="-"/>
            </a:pPr>
            <a:r>
              <a:rPr lang="en-US" baseline="0" dirty="0"/>
              <a:t>Cooled to 60°C allows the primers to bind to a certain part of the sequence</a:t>
            </a:r>
          </a:p>
          <a:p>
            <a:pPr>
              <a:buFontTx/>
              <a:buChar char="-"/>
            </a:pPr>
            <a:r>
              <a:rPr lang="en-US" baseline="0" dirty="0"/>
              <a:t>At 72°C The enzyme will then bind to the primer and start DNA replication extending the replicated copies</a:t>
            </a:r>
          </a:p>
          <a:p>
            <a:pPr>
              <a:buFontTx/>
              <a:buNone/>
            </a:pPr>
            <a:endParaRPr lang="en-US" baseline="0" dirty="0"/>
          </a:p>
          <a:p>
            <a:pPr>
              <a:buFontTx/>
              <a:buNone/>
            </a:pPr>
            <a:r>
              <a:rPr lang="en-US" baseline="0" dirty="0"/>
              <a:t>This cycle will typically repeat approximately 40 cycles to then creates millions of copies of DNA fragment as every cycle doubles the number of DNA, creating a strong enough sample to </a:t>
            </a:r>
            <a:r>
              <a:rPr lang="en-US" baseline="0" dirty="0" err="1"/>
              <a:t>analyse</a:t>
            </a:r>
            <a:r>
              <a:rPr lang="en-US" baseline="0" dirty="0"/>
              <a:t> </a:t>
            </a:r>
          </a:p>
          <a:p>
            <a:pPr>
              <a:buFontTx/>
              <a:buNone/>
            </a:pPr>
            <a:endParaRPr lang="en-US" baseline="0" dirty="0"/>
          </a:p>
          <a:p>
            <a:pPr>
              <a:buFontTx/>
              <a:buNone/>
            </a:pPr>
            <a:r>
              <a:rPr lang="en-US" baseline="0" dirty="0"/>
              <a:t>Remember it is not the whole genome that is amplified, it is a fragment decided by the primers used that were complimentary to a specific region. </a:t>
            </a:r>
          </a:p>
          <a:p>
            <a:pPr>
              <a:buFontTx/>
              <a:buNone/>
            </a:pPr>
            <a:endParaRPr lang="en-US" baseline="0" dirty="0"/>
          </a:p>
          <a:p>
            <a:pPr>
              <a:buFontTx/>
              <a:buNone/>
            </a:pPr>
            <a:r>
              <a:rPr lang="en-US" baseline="0" dirty="0"/>
              <a:t>Here is a video showing the PCR process- what is actually going on in the tube inside the machine! Sorry about the music!</a:t>
            </a:r>
          </a:p>
          <a:p>
            <a:pPr>
              <a:buFontTx/>
              <a:buNone/>
            </a:pPr>
            <a:endParaRPr lang="en-US" baseline="0" dirty="0"/>
          </a:p>
          <a:p>
            <a:endParaRPr lang="en-US" dirty="0"/>
          </a:p>
        </p:txBody>
      </p:sp>
      <p:sp>
        <p:nvSpPr>
          <p:cNvPr id="4" name="Slide Number Placeholder 3"/>
          <p:cNvSpPr>
            <a:spLocks noGrp="1"/>
          </p:cNvSpPr>
          <p:nvPr>
            <p:ph type="sldNum" sz="quarter" idx="10"/>
          </p:nvPr>
        </p:nvSpPr>
        <p:spPr/>
        <p:txBody>
          <a:bodyPr/>
          <a:lstStyle/>
          <a:p>
            <a:fld id="{F94760A1-97D5-8042-8F98-64A90ED79F3B}" type="slidenum">
              <a:rPr lang="en-US" smtClean="0"/>
              <a:pPr/>
              <a:t>9</a:t>
            </a:fld>
            <a:endParaRPr lang="en-US"/>
          </a:p>
        </p:txBody>
      </p:sp>
    </p:spTree>
    <p:extLst>
      <p:ext uri="{BB962C8B-B14F-4D97-AF65-F5344CB8AC3E}">
        <p14:creationId xmlns:p14="http://schemas.microsoft.com/office/powerpoint/2010/main" val="8397598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baseline="0" dirty="0"/>
              <a:t>So you now have a sample of millions of copies of fragments of DNA which has been loaded with orange dye. It is now able to be used in Gel Electrophoresis. </a:t>
            </a:r>
          </a:p>
          <a:p>
            <a:pPr marL="0" marR="0" indent="0" algn="l" defTabSz="457200" rtl="0" eaLnBrk="1" fontAlgn="auto" latinLnBrk="0" hangingPunct="1">
              <a:lnSpc>
                <a:spcPct val="100000"/>
              </a:lnSpc>
              <a:spcBef>
                <a:spcPts val="0"/>
              </a:spcBef>
              <a:spcAft>
                <a:spcPts val="0"/>
              </a:spcAft>
              <a:buClrTx/>
              <a:buSzTx/>
              <a:buFontTx/>
              <a:buNone/>
              <a:tabLst/>
              <a:defRPr/>
            </a:pPr>
            <a:endParaRPr lang="en-US" baseline="0" dirty="0"/>
          </a:p>
          <a:p>
            <a:endParaRPr lang="en-US" dirty="0"/>
          </a:p>
        </p:txBody>
      </p:sp>
      <p:sp>
        <p:nvSpPr>
          <p:cNvPr id="4" name="Slide Number Placeholder 3"/>
          <p:cNvSpPr>
            <a:spLocks noGrp="1"/>
          </p:cNvSpPr>
          <p:nvPr>
            <p:ph type="sldNum" sz="quarter" idx="10"/>
          </p:nvPr>
        </p:nvSpPr>
        <p:spPr/>
        <p:txBody>
          <a:bodyPr/>
          <a:lstStyle/>
          <a:p>
            <a:fld id="{F94760A1-97D5-8042-8F98-64A90ED79F3B}" type="slidenum">
              <a:rPr lang="en-US" smtClean="0"/>
              <a:pPr/>
              <a:t>10</a:t>
            </a:fld>
            <a:endParaRPr lang="en-US"/>
          </a:p>
        </p:txBody>
      </p:sp>
    </p:spTree>
    <p:extLst>
      <p:ext uri="{BB962C8B-B14F-4D97-AF65-F5344CB8AC3E}">
        <p14:creationId xmlns:p14="http://schemas.microsoft.com/office/powerpoint/2010/main" val="42518619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We have prepared these agarose gels have</a:t>
            </a:r>
            <a:r>
              <a:rPr lang="en-US" baseline="0" dirty="0"/>
              <a:t> been prepared by us by adding a certain amount of agarose powder to the buffer to get the desired concentration, and put in the microwave to completely dissolve the powder in solution. We sealed the gel tray with these rubber seals added the well comb near one end, and in the middle and poured the agarose and left to cool down and set. </a:t>
            </a:r>
          </a:p>
          <a:p>
            <a:endParaRPr lang="en-GB" dirty="0"/>
          </a:p>
        </p:txBody>
      </p:sp>
      <p:sp>
        <p:nvSpPr>
          <p:cNvPr id="4" name="Slide Number Placeholder 3"/>
          <p:cNvSpPr>
            <a:spLocks noGrp="1"/>
          </p:cNvSpPr>
          <p:nvPr>
            <p:ph type="sldNum" sz="quarter" idx="10"/>
          </p:nvPr>
        </p:nvSpPr>
        <p:spPr/>
        <p:txBody>
          <a:bodyPr/>
          <a:lstStyle/>
          <a:p>
            <a:fld id="{F94760A1-97D5-8042-8F98-64A90ED79F3B}" type="slidenum">
              <a:rPr lang="en-US" smtClean="0"/>
              <a:pPr/>
              <a:t>11</a:t>
            </a:fld>
            <a:endParaRPr lang="en-US"/>
          </a:p>
        </p:txBody>
      </p:sp>
    </p:spTree>
    <p:extLst>
      <p:ext uri="{BB962C8B-B14F-4D97-AF65-F5344CB8AC3E}">
        <p14:creationId xmlns:p14="http://schemas.microsoft.com/office/powerpoint/2010/main" val="12200251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on the Micropipettes</a:t>
            </a:r>
            <a:r>
              <a:rPr lang="en-US" baseline="0" dirty="0"/>
              <a:t>: On the P1000 micropipette divide by ten to work out the number in </a:t>
            </a:r>
            <a:r>
              <a:rPr lang="en-US" baseline="0" dirty="0" err="1"/>
              <a:t>microlitres</a:t>
            </a:r>
            <a:r>
              <a:rPr lang="en-US" baseline="0" dirty="0"/>
              <a:t>. For example 100 on the dial means it is set on 10 </a:t>
            </a:r>
            <a:r>
              <a:rPr lang="en-US" baseline="0" dirty="0" err="1"/>
              <a:t>microlitres</a:t>
            </a:r>
            <a:r>
              <a:rPr lang="en-US" baseline="0" dirty="0"/>
              <a:t>, remember </a:t>
            </a:r>
            <a:r>
              <a:rPr lang="en-US" baseline="0" dirty="0" err="1"/>
              <a:t>microlitres</a:t>
            </a:r>
            <a:r>
              <a:rPr lang="en-US" baseline="0" dirty="0"/>
              <a:t> has the symbol mew. For the p 20 micropipette 020 on the dial means 20microlitres. </a:t>
            </a:r>
          </a:p>
          <a:p>
            <a:endParaRPr lang="en-US" baseline="0" dirty="0"/>
          </a:p>
          <a:p>
            <a:r>
              <a:rPr lang="en-US" baseline="0" dirty="0"/>
              <a:t>The number of </a:t>
            </a:r>
            <a:r>
              <a:rPr lang="en-US" baseline="0" dirty="0" err="1"/>
              <a:t>microlitres</a:t>
            </a:r>
            <a:r>
              <a:rPr lang="en-US" baseline="0" dirty="0"/>
              <a:t> on the pipette is adjusted on the dial. Really convenient and measures very precise small quantities.  Yellow tips for small quantity 20microlitres, blue for larger 200microlitres. </a:t>
            </a:r>
          </a:p>
          <a:p>
            <a:endParaRPr lang="en-US" baseline="0" dirty="0"/>
          </a:p>
          <a:p>
            <a:r>
              <a:rPr lang="en-US" baseline="0" dirty="0"/>
              <a:t>Hold it with fingers curled around the edge, and thumb pushing down on button. </a:t>
            </a:r>
          </a:p>
          <a:p>
            <a:endParaRPr lang="en-US" baseline="0" dirty="0"/>
          </a:p>
          <a:p>
            <a:r>
              <a:rPr lang="en-US" baseline="0" dirty="0"/>
              <a:t>Push the micropipette into one of the tips FIRMLY</a:t>
            </a:r>
          </a:p>
          <a:p>
            <a:r>
              <a:rPr lang="en-US" baseline="0" dirty="0"/>
              <a:t>Push the button down until you feel some resistance BEFORE putting the tip into the solution you want to take up. Put the tip in the solution but not to the bottom of the glassware. Lift out. </a:t>
            </a:r>
          </a:p>
          <a:p>
            <a:r>
              <a:rPr lang="en-US" baseline="0" dirty="0"/>
              <a:t>To release its contents, push the button the whole way down. </a:t>
            </a:r>
          </a:p>
          <a:p>
            <a:endParaRPr lang="en-US" baseline="0" dirty="0"/>
          </a:p>
          <a:p>
            <a:r>
              <a:rPr lang="en-US" baseline="0" dirty="0"/>
              <a:t>Tips: try not to get bubbles in the tip as then the wrong amount will be measured. </a:t>
            </a:r>
          </a:p>
          <a:p>
            <a:r>
              <a:rPr lang="en-US" baseline="0" dirty="0"/>
              <a:t>Every time you use a new solution you need a new tip to avoid cross contamination, so you push the smaller button to eject the tip straight into a </a:t>
            </a:r>
            <a:r>
              <a:rPr lang="en-US" baseline="0" dirty="0" err="1"/>
              <a:t>biohazardous</a:t>
            </a:r>
            <a:r>
              <a:rPr lang="en-US" baseline="0" dirty="0"/>
              <a:t> bin. </a:t>
            </a:r>
          </a:p>
        </p:txBody>
      </p:sp>
      <p:sp>
        <p:nvSpPr>
          <p:cNvPr id="4" name="Slide Number Placeholder 3"/>
          <p:cNvSpPr>
            <a:spLocks noGrp="1"/>
          </p:cNvSpPr>
          <p:nvPr>
            <p:ph type="sldNum" sz="quarter" idx="10"/>
          </p:nvPr>
        </p:nvSpPr>
        <p:spPr/>
        <p:txBody>
          <a:bodyPr/>
          <a:lstStyle/>
          <a:p>
            <a:fld id="{F94760A1-97D5-8042-8F98-64A90ED79F3B}" type="slidenum">
              <a:rPr lang="en-US" smtClean="0"/>
              <a:pPr/>
              <a:t>12</a:t>
            </a:fld>
            <a:endParaRPr lang="en-US"/>
          </a:p>
        </p:txBody>
      </p:sp>
    </p:spTree>
    <p:extLst>
      <p:ext uri="{BB962C8B-B14F-4D97-AF65-F5344CB8AC3E}">
        <p14:creationId xmlns:p14="http://schemas.microsoft.com/office/powerpoint/2010/main" val="7847287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Demonstrate: Put the gel in the gel tray. Cover with buffer solution enough to cover the wells of the gel. </a:t>
            </a:r>
          </a:p>
          <a:p>
            <a:endParaRPr lang="en-US" baseline="0" dirty="0"/>
          </a:p>
          <a:p>
            <a:r>
              <a:rPr lang="en-US" baseline="0" dirty="0"/>
              <a:t>Then you would put your loaded sample into each separate well in the gel: its tricky as you have to go beneath the surface of the buffer to reach them but not stab through the bottom of the gel. In the real experiment you would also add controls to the first three rows to then compare your DNA to a known result, marking exactly what had gone in each row.</a:t>
            </a:r>
          </a:p>
          <a:p>
            <a:endParaRPr lang="en-US" baseline="0" dirty="0"/>
          </a:p>
          <a:p>
            <a:r>
              <a:rPr lang="en-US" baseline="0" dirty="0"/>
              <a:t>Students practice now. Using the Dyed sample in PCR tube practice pipetting into the wells. </a:t>
            </a:r>
            <a:endParaRPr lang="en-GB" dirty="0"/>
          </a:p>
        </p:txBody>
      </p:sp>
      <p:sp>
        <p:nvSpPr>
          <p:cNvPr id="4" name="Slide Number Placeholder 3"/>
          <p:cNvSpPr>
            <a:spLocks noGrp="1"/>
          </p:cNvSpPr>
          <p:nvPr>
            <p:ph type="sldNum" sz="quarter" idx="10"/>
          </p:nvPr>
        </p:nvSpPr>
        <p:spPr/>
        <p:txBody>
          <a:bodyPr/>
          <a:lstStyle/>
          <a:p>
            <a:fld id="{F94760A1-97D5-8042-8F98-64A90ED79F3B}" type="slidenum">
              <a:rPr lang="en-US" smtClean="0"/>
              <a:pPr/>
              <a:t>13</a:t>
            </a:fld>
            <a:endParaRPr lang="en-US"/>
          </a:p>
        </p:txBody>
      </p:sp>
    </p:spTree>
    <p:extLst>
      <p:ext uri="{BB962C8B-B14F-4D97-AF65-F5344CB8AC3E}">
        <p14:creationId xmlns:p14="http://schemas.microsoft.com/office/powerpoint/2010/main" val="33839430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baseline="0" dirty="0"/>
              <a:t>So you now have a sample of millions of copies of fragments of DNA which has been loaded with orange dye. It is now able to be used in Gel Electrophoresis. </a:t>
            </a:r>
          </a:p>
          <a:p>
            <a:pPr marL="0" marR="0" indent="0" algn="l" defTabSz="457200" rtl="0" eaLnBrk="1" fontAlgn="auto" latinLnBrk="0" hangingPunct="1">
              <a:lnSpc>
                <a:spcPct val="100000"/>
              </a:lnSpc>
              <a:spcBef>
                <a:spcPts val="0"/>
              </a:spcBef>
              <a:spcAft>
                <a:spcPts val="0"/>
              </a:spcAft>
              <a:buClrTx/>
              <a:buSzTx/>
              <a:buFontTx/>
              <a:buNone/>
              <a:tabLst/>
              <a:defRPr/>
            </a:pPr>
            <a:endParaRPr lang="en-US" baseline="0" dirty="0"/>
          </a:p>
          <a:p>
            <a:pPr marL="0" marR="0" indent="0" algn="l" defTabSz="457200" rtl="0" eaLnBrk="1" fontAlgn="auto" latinLnBrk="0" hangingPunct="1">
              <a:lnSpc>
                <a:spcPct val="100000"/>
              </a:lnSpc>
              <a:spcBef>
                <a:spcPts val="0"/>
              </a:spcBef>
              <a:spcAft>
                <a:spcPts val="0"/>
              </a:spcAft>
              <a:buClrTx/>
              <a:buSzTx/>
              <a:buFontTx/>
              <a:buNone/>
              <a:tabLst/>
              <a:defRPr/>
            </a:pPr>
            <a:r>
              <a:rPr lang="en-US" baseline="0" dirty="0"/>
              <a:t>Gel electrophoresis is a way to visualize the fragments according to their size: negatively charged DNA will move towards the positive electrode the red electrode, but smaller fragments will move further quicker, creating bands. Imagine the gel to be a massive mesh: smaller fragments are able to navigate through the mesh easier and faster than larger ones. </a:t>
            </a:r>
            <a:endParaRPr lang="en-US" dirty="0"/>
          </a:p>
          <a:p>
            <a:pPr marL="228600" indent="-228600">
              <a:buAutoNum type="arabicPeriod"/>
            </a:pPr>
            <a:endParaRPr lang="en-US" baseline="0" dirty="0"/>
          </a:p>
          <a:p>
            <a:pPr marL="228600" indent="-228600">
              <a:buAutoNum type="arabicPeriod"/>
            </a:pPr>
            <a:r>
              <a:rPr lang="en-US" baseline="0" dirty="0"/>
              <a:t>Add the lid, add the electrode, black to black for negative charge, red to red for positive charge, and connect these to a power pack. You would then turn on the power pack to 100V, and leave for 30 </a:t>
            </a:r>
            <a:r>
              <a:rPr lang="en-US" baseline="0" dirty="0" err="1"/>
              <a:t>mins</a:t>
            </a:r>
            <a:r>
              <a:rPr lang="en-US" baseline="0" dirty="0"/>
              <a:t>. </a:t>
            </a:r>
          </a:p>
          <a:p>
            <a:pPr marL="228600" indent="-228600">
              <a:buAutoNum type="arabicPeriod"/>
            </a:pPr>
            <a:r>
              <a:rPr lang="en-US" baseline="0" dirty="0"/>
              <a:t>The gel tray is then removed and stained with a blue dye to visualize the DNA which has moved across the Gel. The stain physically binds to the DNA to </a:t>
            </a:r>
            <a:r>
              <a:rPr lang="en-US" baseline="0" dirty="0" err="1"/>
              <a:t>visualise</a:t>
            </a:r>
            <a:r>
              <a:rPr lang="en-US" baseline="0" dirty="0"/>
              <a:t> it. </a:t>
            </a:r>
          </a:p>
          <a:p>
            <a:endParaRPr lang="en-US" dirty="0"/>
          </a:p>
        </p:txBody>
      </p:sp>
      <p:sp>
        <p:nvSpPr>
          <p:cNvPr id="4" name="Slide Number Placeholder 3"/>
          <p:cNvSpPr>
            <a:spLocks noGrp="1"/>
          </p:cNvSpPr>
          <p:nvPr>
            <p:ph type="sldNum" sz="quarter" idx="10"/>
          </p:nvPr>
        </p:nvSpPr>
        <p:spPr/>
        <p:txBody>
          <a:bodyPr/>
          <a:lstStyle/>
          <a:p>
            <a:fld id="{F94760A1-97D5-8042-8F98-64A90ED79F3B}" type="slidenum">
              <a:rPr lang="en-US" smtClean="0"/>
              <a:pPr/>
              <a:t>14</a:t>
            </a:fld>
            <a:endParaRPr lang="en-US"/>
          </a:p>
        </p:txBody>
      </p:sp>
    </p:spTree>
    <p:extLst>
      <p:ext uri="{BB962C8B-B14F-4D97-AF65-F5344CB8AC3E}">
        <p14:creationId xmlns:p14="http://schemas.microsoft.com/office/powerpoint/2010/main" val="42518619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a:t>This is a typical stained gel</a:t>
            </a:r>
            <a:r>
              <a:rPr lang="en-US" baseline="0" dirty="0"/>
              <a:t>. See that the bands have moved away from the wells, to the negative end. Notice the banding patterns? By comparing your DNA to known controls, you can learn about the length of DNA fragment and determine paternity and disease. </a:t>
            </a:r>
          </a:p>
          <a:p>
            <a:endParaRPr lang="en-US" baseline="0" dirty="0"/>
          </a:p>
          <a:p>
            <a:endParaRPr lang="en-US" dirty="0"/>
          </a:p>
        </p:txBody>
      </p:sp>
      <p:sp>
        <p:nvSpPr>
          <p:cNvPr id="4" name="Slide Number Placeholder 3"/>
          <p:cNvSpPr>
            <a:spLocks noGrp="1"/>
          </p:cNvSpPr>
          <p:nvPr>
            <p:ph type="sldNum" sz="quarter" idx="10"/>
          </p:nvPr>
        </p:nvSpPr>
        <p:spPr/>
        <p:txBody>
          <a:bodyPr/>
          <a:lstStyle/>
          <a:p>
            <a:fld id="{F94760A1-97D5-8042-8F98-64A90ED79F3B}" type="slidenum">
              <a:rPr lang="en-US" smtClean="0"/>
              <a:pPr/>
              <a:t>15</a:t>
            </a:fld>
            <a:endParaRPr lang="en-US"/>
          </a:p>
        </p:txBody>
      </p:sp>
    </p:spTree>
    <p:extLst>
      <p:ext uri="{BB962C8B-B14F-4D97-AF65-F5344CB8AC3E}">
        <p14:creationId xmlns:p14="http://schemas.microsoft.com/office/powerpoint/2010/main" val="5276815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685800" y="4572000"/>
            <a:ext cx="646176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E2501E7-27A2-B642-9109-E568681B36D2}" type="datetimeFigureOut">
              <a:rPr lang="en-US" smtClean="0"/>
              <a:pPr/>
              <a:t>6/9/2021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D02832-E1E3-6F44-B670-0C5D275606CE}"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E2501E7-27A2-B642-9109-E568681B36D2}" type="datetimeFigureOut">
              <a:rPr lang="en-US" smtClean="0"/>
              <a:pPr/>
              <a:t>6/9/2021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D02832-E1E3-6F44-B670-0C5D275606CE}"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E2501E7-27A2-B642-9109-E568681B36D2}" type="datetimeFigureOut">
              <a:rPr lang="en-US" smtClean="0"/>
              <a:pPr/>
              <a:t>6/9/2021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D02832-E1E3-6F44-B670-0C5D275606CE}"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E2501E7-27A2-B642-9109-E568681B36D2}" type="datetimeFigureOut">
              <a:rPr lang="en-US" smtClean="0"/>
              <a:pPr/>
              <a:t>6/9/2021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8D02832-E1E3-6F44-B670-0C5D275606CE}"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E2501E7-27A2-B642-9109-E568681B36D2}" type="datetimeFigureOut">
              <a:rPr lang="en-US" smtClean="0"/>
              <a:pPr/>
              <a:t>6/9/2021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8D02832-E1E3-6F44-B670-0C5D275606CE}"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E2501E7-27A2-B642-9109-E568681B36D2}" type="datetimeFigureOut">
              <a:rPr lang="en-US" smtClean="0"/>
              <a:pPr/>
              <a:t>6/9/2021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8D02832-E1E3-6F44-B670-0C5D275606C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E2501E7-27A2-B642-9109-E568681B36D2}" type="datetimeFigureOut">
              <a:rPr lang="en-US" smtClean="0"/>
              <a:pPr/>
              <a:t>6/9/2021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8D02832-E1E3-6F44-B670-0C5D275606C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en-US"/>
              <a:t>Click to edit Master title style</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E2501E7-27A2-B642-9109-E568681B36D2}" type="datetimeFigureOut">
              <a:rPr lang="en-US" smtClean="0"/>
              <a:pPr/>
              <a:t>6/9/2021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8D02832-E1E3-6F44-B670-0C5D275606CE}" type="slidenum">
              <a:rPr lang="en-US" smtClean="0"/>
              <a:pPr/>
              <a:t>‹#›</a:t>
            </a:fld>
            <a:endParaRPr lang="en-US"/>
          </a:p>
        </p:txBody>
      </p:sp>
      <p:sp>
        <p:nvSpPr>
          <p:cNvPr id="9" name="Content Placeholder 8"/>
          <p:cNvSpPr>
            <a:spLocks noGrp="1"/>
          </p:cNvSpPr>
          <p:nvPr>
            <p:ph sz="quarter" idx="13"/>
          </p:nvPr>
        </p:nvSpPr>
        <p:spPr>
          <a:xfrm>
            <a:off x="304800" y="381000"/>
            <a:ext cx="7772400" cy="4942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FE2501E7-27A2-B642-9109-E568681B36D2}" type="datetimeFigureOut">
              <a:rPr lang="en-US" smtClean="0"/>
              <a:pPr/>
              <a:t>6/9/2021</a:t>
            </a:fld>
            <a:endParaRPr lang="en-US"/>
          </a:p>
        </p:txBody>
      </p:sp>
      <p:sp>
        <p:nvSpPr>
          <p:cNvPr id="9" name="Slide Number Placeholder 8"/>
          <p:cNvSpPr>
            <a:spLocks noGrp="1"/>
          </p:cNvSpPr>
          <p:nvPr>
            <p:ph type="sldNum" sz="quarter" idx="11"/>
          </p:nvPr>
        </p:nvSpPr>
        <p:spPr/>
        <p:txBody>
          <a:bodyPr/>
          <a:lstStyle/>
          <a:p>
            <a:fld id="{68D02832-E1E3-6F44-B670-0C5D275606CE}" type="slidenum">
              <a:rPr lang="en-US" smtClean="0"/>
              <a:pPr/>
              <a:t>‹#›</a:t>
            </a:fld>
            <a:endParaRPr lang="en-US"/>
          </a:p>
        </p:txBody>
      </p:sp>
      <p:sp>
        <p:nvSpPr>
          <p:cNvPr id="10" name="Footer Placeholder 9"/>
          <p:cNvSpPr>
            <a:spLocks noGrp="1"/>
          </p:cNvSpPr>
          <p:nvPr>
            <p:ph type="ftr" sz="quarter" idx="12"/>
          </p:nvPr>
        </p:nvSpPr>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E2501E7-27A2-B642-9109-E568681B36D2}" type="datetimeFigureOut">
              <a:rPr lang="en-US" smtClean="0"/>
              <a:pPr/>
              <a:t>6/9/2021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D02832-E1E3-6F44-B670-0C5D275606CE}"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E2501E7-27A2-B642-9109-E568681B36D2}" type="datetimeFigureOut">
              <a:rPr lang="en-US" smtClean="0"/>
              <a:pPr/>
              <a:t>6/9/2021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D02832-E1E3-6F44-B670-0C5D275606CE}"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7620000" cy="480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8531788" y="5648960"/>
            <a:ext cx="54864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68D02832-E1E3-6F44-B670-0C5D275606CE}" type="slidenum">
              <a:rPr lang="en-US" smtClean="0"/>
              <a:pPr/>
              <a:t>‹#›</a:t>
            </a:fld>
            <a:endParaRPr lang="en-US"/>
          </a:p>
        </p:txBody>
      </p:sp>
      <p:sp>
        <p:nvSpPr>
          <p:cNvPr id="5" name="Footer Placeholder 4"/>
          <p:cNvSpPr>
            <a:spLocks noGrp="1"/>
          </p:cNvSpPr>
          <p:nvPr>
            <p:ph type="ftr" sz="quarter" idx="3"/>
          </p:nvPr>
        </p:nvSpPr>
        <p:spPr>
          <a:xfrm rot="16200000">
            <a:off x="7586910" y="4048760"/>
            <a:ext cx="2367281" cy="365760"/>
          </a:xfrm>
          <a:prstGeom prst="rect">
            <a:avLst/>
          </a:prstGeom>
        </p:spPr>
        <p:txBody>
          <a:bodyPr vert="horz" lIns="91440" tIns="45720" rIns="91440" bIns="45720" rtlCol="0" anchor="ctr"/>
          <a:lstStyle>
            <a:lvl1pPr algn="r">
              <a:defRPr sz="1200">
                <a:solidFill>
                  <a:schemeClr val="bg2"/>
                </a:solidFill>
              </a:defRPr>
            </a:lvl1pPr>
          </a:lstStyle>
          <a:p>
            <a:endParaRPr lang="en-US"/>
          </a:p>
        </p:txBody>
      </p:sp>
      <p:sp>
        <p:nvSpPr>
          <p:cNvPr id="4" name="Date Placeholder 3"/>
          <p:cNvSpPr>
            <a:spLocks noGrp="1"/>
          </p:cNvSpPr>
          <p:nvPr>
            <p:ph type="dt" sz="half" idx="2"/>
          </p:nvPr>
        </p:nvSpPr>
        <p:spPr>
          <a:xfrm rot="16200000">
            <a:off x="7551351" y="1645920"/>
            <a:ext cx="2438399" cy="365760"/>
          </a:xfrm>
          <a:prstGeom prst="rect">
            <a:avLst/>
          </a:prstGeom>
        </p:spPr>
        <p:txBody>
          <a:bodyPr vert="horz" lIns="91440" tIns="45720" rIns="91440" bIns="45720" rtlCol="0" anchor="ctr"/>
          <a:lstStyle>
            <a:lvl1pPr algn="l">
              <a:defRPr sz="1200">
                <a:solidFill>
                  <a:schemeClr val="bg2"/>
                </a:solidFill>
              </a:defRPr>
            </a:lvl1pPr>
          </a:lstStyle>
          <a:p>
            <a:fld id="{FE2501E7-27A2-B642-9109-E568681B36D2}" type="datetimeFigureOut">
              <a:rPr lang="en-US" smtClean="0"/>
              <a:pPr/>
              <a:t>6/9/2021</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jpg"/><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9.jpg"/></Relationships>
</file>

<file path=ppt/slides/_rels/slide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1.jp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hyperlink" Target="https://www.youtube.com/watch?v=iQsu3Kz9NYo"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9.gif"/><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1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p:txBody>
          <a:bodyPr/>
          <a:lstStyle/>
          <a:p>
            <a:r>
              <a:rPr lang="en-AU" dirty="0"/>
              <a:t>Biotechnology-Applications</a:t>
            </a:r>
          </a:p>
        </p:txBody>
      </p:sp>
      <p:sp>
        <p:nvSpPr>
          <p:cNvPr id="3" name="Subtitle 2">
            <a:extLst>
              <a:ext uri="{FF2B5EF4-FFF2-40B4-BE49-F238E27FC236}">
                <a16:creationId xmlns:a16="http://schemas.microsoft.com/office/drawing/2014/main" id="{01AFBC85-9382-4966-ADD0-A1F377209FEA}"/>
              </a:ext>
            </a:extLst>
          </p:cNvPr>
          <p:cNvSpPr>
            <a:spLocks noGrp="1"/>
          </p:cNvSpPr>
          <p:nvPr>
            <p:ph type="subTitle" idx="1"/>
          </p:nvPr>
        </p:nvSpPr>
        <p:spPr/>
        <p:txBody>
          <a:bodyPr/>
          <a:lstStyle/>
          <a:p>
            <a:endParaRPr lang="en-AU"/>
          </a:p>
        </p:txBody>
      </p:sp>
    </p:spTree>
    <p:extLst>
      <p:ext uri="{BB962C8B-B14F-4D97-AF65-F5344CB8AC3E}">
        <p14:creationId xmlns:p14="http://schemas.microsoft.com/office/powerpoint/2010/main" val="34017743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What are we doing?</a:t>
            </a:r>
          </a:p>
        </p:txBody>
      </p:sp>
      <p:sp>
        <p:nvSpPr>
          <p:cNvPr id="3" name="Content Placeholder 2"/>
          <p:cNvSpPr>
            <a:spLocks noGrp="1"/>
          </p:cNvSpPr>
          <p:nvPr>
            <p:ph idx="1"/>
          </p:nvPr>
        </p:nvSpPr>
        <p:spPr/>
        <p:txBody>
          <a:bodyPr>
            <a:normAutofit/>
          </a:bodyPr>
          <a:lstStyle/>
          <a:p>
            <a:r>
              <a:rPr lang="en-AU" sz="1400" i="1" dirty="0"/>
              <a:t>Biotechnological techniques provide evidence for evolution by using PCR (to amplify minute samples of DNA to testable amounts), bacterial enzymes and gel electrophoresis to facilitate DNA sequencing of genomes</a:t>
            </a:r>
          </a:p>
          <a:p>
            <a:r>
              <a:rPr lang="en-AU" sz="1400" i="1" dirty="0"/>
              <a:t>Conduct investigations, including the use of virtual or real biotechnological techniques of polymerase chain reaction (PCR), gel electrophoresis for deoxyribonucleic acid (DNA)sequencing, and techniques for relative and absolute dating, safely, competently and methodically for valid and reliable collection of data (SIS)</a:t>
            </a:r>
          </a:p>
          <a:p>
            <a:r>
              <a:rPr lang="en-AU" sz="2800" dirty="0"/>
              <a:t>Describe the process of PCR</a:t>
            </a:r>
          </a:p>
          <a:p>
            <a:r>
              <a:rPr lang="en-AU" sz="2800" dirty="0"/>
              <a:t>Describe the process of gel electrophoresis</a:t>
            </a:r>
          </a:p>
          <a:p>
            <a:r>
              <a:rPr lang="en-AU" sz="2800" dirty="0"/>
              <a:t>Conduct valid and reliable  investigations including polymerase chain reactions and gel electrophoresis for DNA sequencing</a:t>
            </a:r>
          </a:p>
        </p:txBody>
      </p:sp>
    </p:spTree>
    <p:extLst>
      <p:ext uri="{BB962C8B-B14F-4D97-AF65-F5344CB8AC3E}">
        <p14:creationId xmlns:p14="http://schemas.microsoft.com/office/powerpoint/2010/main" val="1479960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Real world Applications</a:t>
            </a:r>
          </a:p>
        </p:txBody>
      </p:sp>
      <p:sp>
        <p:nvSpPr>
          <p:cNvPr id="3" name="Content Placeholder 2"/>
          <p:cNvSpPr>
            <a:spLocks noGrp="1"/>
          </p:cNvSpPr>
          <p:nvPr>
            <p:ph idx="1"/>
          </p:nvPr>
        </p:nvSpPr>
        <p:spPr/>
        <p:txBody>
          <a:bodyPr>
            <a:normAutofit/>
          </a:bodyPr>
          <a:lstStyle/>
          <a:p>
            <a:pPr>
              <a:buSzPct val="70000"/>
              <a:buBlip>
                <a:blip r:embed="rId3"/>
              </a:buBlip>
            </a:pPr>
            <a:r>
              <a:rPr lang="en-US" altLang="en-US" dirty="0">
                <a:latin typeface="Arial Rounded MT Bold" panose="020F0704030504030204" pitchFamily="34" charset="0"/>
              </a:rPr>
              <a:t>Crime scene </a:t>
            </a:r>
          </a:p>
          <a:p>
            <a:pPr>
              <a:buSzPct val="70000"/>
              <a:buBlip>
                <a:blip r:embed="rId3"/>
              </a:buBlip>
            </a:pPr>
            <a:r>
              <a:rPr lang="en-US" altLang="en-US" dirty="0">
                <a:latin typeface="Arial Rounded MT Bold" panose="020F0704030504030204" pitchFamily="34" charset="0"/>
              </a:rPr>
              <a:t>Human relatedness</a:t>
            </a:r>
          </a:p>
          <a:p>
            <a:pPr>
              <a:buSzPct val="70000"/>
              <a:buBlip>
                <a:blip r:embed="rId3"/>
              </a:buBlip>
            </a:pPr>
            <a:r>
              <a:rPr lang="en-US" altLang="en-US" dirty="0">
                <a:latin typeface="Arial Rounded MT Bold" panose="020F0704030504030204" pitchFamily="34" charset="0"/>
              </a:rPr>
              <a:t>Paternity</a:t>
            </a:r>
          </a:p>
          <a:p>
            <a:pPr>
              <a:buSzPct val="70000"/>
              <a:buBlip>
                <a:blip r:embed="rId3"/>
              </a:buBlip>
            </a:pPr>
            <a:r>
              <a:rPr lang="en-US" altLang="en-US" dirty="0">
                <a:latin typeface="Arial Rounded MT Bold" panose="020F0704030504030204" pitchFamily="34" charset="0"/>
              </a:rPr>
              <a:t>Animal relatedness</a:t>
            </a:r>
          </a:p>
          <a:p>
            <a:pPr>
              <a:buSzPct val="70000"/>
              <a:buBlip>
                <a:blip r:embed="rId3"/>
              </a:buBlip>
            </a:pPr>
            <a:r>
              <a:rPr lang="en-US" altLang="en-US" dirty="0">
                <a:latin typeface="Arial Rounded MT Bold" panose="020F0704030504030204" pitchFamily="34" charset="0"/>
              </a:rPr>
              <a:t>Anthropology studies</a:t>
            </a:r>
          </a:p>
          <a:p>
            <a:pPr>
              <a:buSzPct val="70000"/>
              <a:buBlip>
                <a:blip r:embed="rId3"/>
              </a:buBlip>
            </a:pPr>
            <a:r>
              <a:rPr lang="en-US" altLang="en-US" dirty="0">
                <a:latin typeface="Arial Rounded MT Bold" panose="020F0704030504030204" pitchFamily="34" charset="0"/>
              </a:rPr>
              <a:t>Disease-causing organisms </a:t>
            </a:r>
          </a:p>
          <a:p>
            <a:pPr>
              <a:buSzPct val="70000"/>
              <a:buBlip>
                <a:blip r:embed="rId3"/>
              </a:buBlip>
            </a:pPr>
            <a:r>
              <a:rPr lang="en-US" altLang="en-US" dirty="0">
                <a:latin typeface="Arial Rounded MT Bold" panose="020F0704030504030204" pitchFamily="34" charset="0"/>
              </a:rPr>
              <a:t>Food identification</a:t>
            </a:r>
          </a:p>
          <a:p>
            <a:pPr>
              <a:buSzPct val="70000"/>
              <a:buBlip>
                <a:blip r:embed="rId3"/>
              </a:buBlip>
            </a:pPr>
            <a:r>
              <a:rPr lang="en-US" altLang="en-US" dirty="0">
                <a:latin typeface="Arial Rounded MT Bold" panose="020F0704030504030204" pitchFamily="34" charset="0"/>
              </a:rPr>
              <a:t>Human remains</a:t>
            </a:r>
          </a:p>
          <a:p>
            <a:pPr>
              <a:buSzPct val="70000"/>
              <a:buBlip>
                <a:blip r:embed="rId3"/>
              </a:buBlip>
            </a:pPr>
            <a:r>
              <a:rPr lang="en-US" altLang="en-US" dirty="0">
                <a:latin typeface="Arial Rounded MT Bold" panose="020F0704030504030204" pitchFamily="34" charset="0"/>
              </a:rPr>
              <a:t>Monitoring transplants</a:t>
            </a:r>
          </a:p>
        </p:txBody>
      </p:sp>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57395" y="1295699"/>
            <a:ext cx="3129405" cy="2094615"/>
          </a:xfrm>
          <a:prstGeom prst="rect">
            <a:avLst/>
          </a:prstGeom>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28383" y="4395579"/>
            <a:ext cx="2857500" cy="1847850"/>
          </a:xfrm>
          <a:prstGeom prst="rect">
            <a:avLst/>
          </a:prstGeom>
        </p:spPr>
      </p:pic>
    </p:spTree>
    <p:extLst>
      <p:ext uri="{BB962C8B-B14F-4D97-AF65-F5344CB8AC3E}">
        <p14:creationId xmlns:p14="http://schemas.microsoft.com/office/powerpoint/2010/main" val="8799791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Looking for evidence</a:t>
            </a:r>
          </a:p>
        </p:txBody>
      </p:sp>
      <p:sp>
        <p:nvSpPr>
          <p:cNvPr id="3" name="Content Placeholder 2"/>
          <p:cNvSpPr>
            <a:spLocks noGrp="1"/>
          </p:cNvSpPr>
          <p:nvPr>
            <p:ph idx="1"/>
          </p:nvPr>
        </p:nvSpPr>
        <p:spPr>
          <a:xfrm>
            <a:off x="457200" y="1951182"/>
            <a:ext cx="8229600" cy="4525963"/>
          </a:xfrm>
        </p:spPr>
        <p:txBody>
          <a:bodyPr>
            <a:normAutofit/>
          </a:bodyPr>
          <a:lstStyle/>
          <a:p>
            <a:pPr marL="0" indent="0">
              <a:buNone/>
            </a:pPr>
            <a:r>
              <a:rPr lang="en-US" sz="2400" b="1" dirty="0"/>
              <a:t>1. Collect DNA</a:t>
            </a:r>
          </a:p>
          <a:p>
            <a:pPr lvl="1">
              <a:buFontTx/>
              <a:buChar char="-"/>
            </a:pPr>
            <a:r>
              <a:rPr lang="en-US" sz="2400" dirty="0"/>
              <a:t>Through cheek cell DNA extraction</a:t>
            </a:r>
          </a:p>
          <a:p>
            <a:pPr lvl="1">
              <a:buFontTx/>
              <a:buChar char="-"/>
            </a:pPr>
            <a:r>
              <a:rPr lang="en-US" sz="2400" dirty="0"/>
              <a:t>Break open cells</a:t>
            </a:r>
          </a:p>
          <a:p>
            <a:pPr marL="0" indent="0">
              <a:buNone/>
            </a:pPr>
            <a:r>
              <a:rPr lang="en-US" sz="2400" b="1" dirty="0"/>
              <a:t>2. Make lots of copies of DNA fragment</a:t>
            </a:r>
          </a:p>
          <a:p>
            <a:pPr marL="0" indent="0">
              <a:buNone/>
            </a:pPr>
            <a:r>
              <a:rPr lang="en-US" sz="2400" dirty="0"/>
              <a:t>	- Polymerase Chain Reaction</a:t>
            </a:r>
          </a:p>
          <a:p>
            <a:pPr marL="0" indent="0">
              <a:buNone/>
            </a:pPr>
            <a:r>
              <a:rPr lang="en-US" sz="2400" b="1" dirty="0"/>
              <a:t>3. Visualise your DNA</a:t>
            </a:r>
          </a:p>
          <a:p>
            <a:pPr marL="0" indent="0">
              <a:buNone/>
            </a:pPr>
            <a:r>
              <a:rPr lang="en-US" sz="2400" dirty="0"/>
              <a:t>	- using Gel Electrophoresis </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0364002" flipV="1">
            <a:off x="3875165" y="4973040"/>
            <a:ext cx="4187069" cy="14909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Cell extraction</a:t>
            </a:r>
          </a:p>
        </p:txBody>
      </p:sp>
      <p:sp>
        <p:nvSpPr>
          <p:cNvPr id="3" name="Content Placeholder 2"/>
          <p:cNvSpPr>
            <a:spLocks noGrp="1"/>
          </p:cNvSpPr>
          <p:nvPr>
            <p:ph idx="1"/>
          </p:nvPr>
        </p:nvSpPr>
        <p:spPr/>
        <p:txBody>
          <a:bodyPr/>
          <a:lstStyle/>
          <a:p>
            <a:r>
              <a:rPr lang="en-AU" dirty="0"/>
              <a:t>First you need to collect DNA to analyse. </a:t>
            </a:r>
          </a:p>
          <a:p>
            <a:endParaRPr lang="en-AU" dirty="0"/>
          </a:p>
          <a:p>
            <a:r>
              <a:rPr lang="en-AU" dirty="0"/>
              <a:t>Cells can be collected from</a:t>
            </a:r>
          </a:p>
          <a:p>
            <a:pPr lvl="1"/>
            <a:r>
              <a:rPr lang="en-AU" dirty="0"/>
              <a:t>Cheek</a:t>
            </a:r>
          </a:p>
          <a:p>
            <a:pPr lvl="1"/>
            <a:r>
              <a:rPr lang="en-AU" dirty="0"/>
              <a:t>Blood</a:t>
            </a:r>
          </a:p>
          <a:p>
            <a:pPr lvl="1"/>
            <a:r>
              <a:rPr lang="en-AU" dirty="0"/>
              <a:t>Urine</a:t>
            </a:r>
          </a:p>
          <a:p>
            <a:pPr lvl="1"/>
            <a:r>
              <a:rPr lang="en-AU" dirty="0"/>
              <a:t>Hair follicle</a:t>
            </a:r>
          </a:p>
          <a:p>
            <a:pPr lvl="1"/>
            <a:r>
              <a:rPr lang="en-AU" dirty="0"/>
              <a:t>Skin</a:t>
            </a:r>
          </a:p>
          <a:p>
            <a:pPr lvl="1"/>
            <a:r>
              <a:rPr lang="en-AU" dirty="0"/>
              <a:t>Bone marrow</a:t>
            </a:r>
          </a:p>
        </p:txBody>
      </p:sp>
      <p:pic>
        <p:nvPicPr>
          <p:cNvPr id="5" name="Picture 4"/>
          <p:cNvPicPr>
            <a:picLocks noChangeAspect="1"/>
          </p:cNvPicPr>
          <p:nvPr/>
        </p:nvPicPr>
        <p:blipFill>
          <a:blip r:embed="rId3"/>
          <a:stretch>
            <a:fillRect/>
          </a:stretch>
        </p:blipFill>
        <p:spPr>
          <a:xfrm>
            <a:off x="3931331" y="4640240"/>
            <a:ext cx="2377676" cy="1572146"/>
          </a:xfrm>
          <a:prstGeom prst="rect">
            <a:avLst/>
          </a:prstGeom>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18939" y="2498820"/>
            <a:ext cx="2975755" cy="19639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Centrifugation</a:t>
            </a:r>
          </a:p>
        </p:txBody>
      </p:sp>
      <p:sp>
        <p:nvSpPr>
          <p:cNvPr id="3" name="Content Placeholder 2"/>
          <p:cNvSpPr>
            <a:spLocks noGrp="1"/>
          </p:cNvSpPr>
          <p:nvPr>
            <p:ph idx="1"/>
          </p:nvPr>
        </p:nvSpPr>
        <p:spPr/>
        <p:txBody>
          <a:bodyPr>
            <a:normAutofit/>
          </a:bodyPr>
          <a:lstStyle/>
          <a:p>
            <a:pPr>
              <a:buFontTx/>
              <a:buChar char="-"/>
            </a:pPr>
            <a:r>
              <a:rPr lang="en-US" dirty="0"/>
              <a:t>Rotating force pushes cells to bottom of tube</a:t>
            </a:r>
          </a:p>
          <a:p>
            <a:pPr>
              <a:buFontTx/>
              <a:buChar char="-"/>
            </a:pPr>
            <a:r>
              <a:rPr lang="en-US" dirty="0"/>
              <a:t>Creates white pellet of cells</a:t>
            </a:r>
          </a:p>
          <a:p>
            <a:pPr marL="0" indent="0">
              <a:buNone/>
            </a:pPr>
            <a:endParaRPr lang="en-US"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3848" y="2837764"/>
            <a:ext cx="2616005" cy="2989720"/>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61943" y="3136443"/>
            <a:ext cx="3210057" cy="239236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Heating your cell solution </a:t>
            </a:r>
          </a:p>
        </p:txBody>
      </p:sp>
      <p:sp>
        <p:nvSpPr>
          <p:cNvPr id="3" name="Content Placeholder 2"/>
          <p:cNvSpPr>
            <a:spLocks noGrp="1"/>
          </p:cNvSpPr>
          <p:nvPr>
            <p:ph idx="1"/>
          </p:nvPr>
        </p:nvSpPr>
        <p:spPr/>
        <p:txBody>
          <a:bodyPr>
            <a:normAutofit/>
          </a:bodyPr>
          <a:lstStyle/>
          <a:p>
            <a:r>
              <a:rPr lang="en-US" dirty="0"/>
              <a:t>Heat will break cells open and release DNA </a:t>
            </a:r>
          </a:p>
          <a:p>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2963" y="2894460"/>
            <a:ext cx="2994074" cy="2739578"/>
          </a:xfrm>
          <a:prstGeom prst="rect">
            <a:avLst/>
          </a:prstGeom>
        </p:spPr>
      </p:pic>
      <p:pic>
        <p:nvPicPr>
          <p:cNvPr id="14" name="Picture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80892" y="3298298"/>
            <a:ext cx="2862775" cy="2129189"/>
          </a:xfrm>
          <a:prstGeom prst="rect">
            <a:avLst/>
          </a:prstGeom>
        </p:spPr>
      </p:pic>
    </p:spTree>
    <p:extLst>
      <p:ext uri="{BB962C8B-B14F-4D97-AF65-F5344CB8AC3E}">
        <p14:creationId xmlns:p14="http://schemas.microsoft.com/office/powerpoint/2010/main" val="8446706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PCR Prep</a:t>
            </a:r>
          </a:p>
        </p:txBody>
      </p:sp>
      <p:sp>
        <p:nvSpPr>
          <p:cNvPr id="3" name="Content Placeholder 2"/>
          <p:cNvSpPr>
            <a:spLocks noGrp="1"/>
          </p:cNvSpPr>
          <p:nvPr>
            <p:ph idx="1"/>
          </p:nvPr>
        </p:nvSpPr>
        <p:spPr/>
        <p:txBody>
          <a:bodyPr>
            <a:normAutofit/>
          </a:bodyPr>
          <a:lstStyle/>
          <a:p>
            <a:pPr>
              <a:buNone/>
            </a:pPr>
            <a:r>
              <a:rPr lang="en-US" dirty="0">
                <a:solidFill>
                  <a:srgbClr val="FFFF00"/>
                </a:solidFill>
              </a:rPr>
              <a:t>VIDEO LINK</a:t>
            </a:r>
          </a:p>
          <a:p>
            <a:pPr>
              <a:buNone/>
            </a:pPr>
            <a:r>
              <a:rPr lang="en-US" dirty="0"/>
              <a:t>Things needed for PCR:</a:t>
            </a:r>
          </a:p>
          <a:p>
            <a:r>
              <a:rPr lang="en-US" dirty="0"/>
              <a:t>DNA from you</a:t>
            </a:r>
          </a:p>
          <a:p>
            <a:pPr>
              <a:buNone/>
            </a:pPr>
            <a:endParaRPr lang="en-US" dirty="0"/>
          </a:p>
          <a:p>
            <a:r>
              <a:rPr lang="en-US" dirty="0"/>
              <a:t>Primers </a:t>
            </a:r>
          </a:p>
          <a:p>
            <a:r>
              <a:rPr lang="en-US" dirty="0"/>
              <a:t>DNA polymerase (</a:t>
            </a:r>
            <a:r>
              <a:rPr lang="en-US" dirty="0" err="1"/>
              <a:t>Taq</a:t>
            </a:r>
            <a:r>
              <a:rPr lang="en-US" dirty="0"/>
              <a:t>)</a:t>
            </a:r>
          </a:p>
          <a:p>
            <a:r>
              <a:rPr lang="en-US" dirty="0"/>
              <a:t>Substrate nucleotides – </a:t>
            </a:r>
            <a:r>
              <a:rPr lang="en-US" dirty="0" err="1"/>
              <a:t>dNTPs</a:t>
            </a:r>
            <a:r>
              <a:rPr lang="en-US" dirty="0"/>
              <a:t> (A,T,G,C)</a:t>
            </a:r>
          </a:p>
          <a:p>
            <a:r>
              <a:rPr lang="en-US" dirty="0"/>
              <a:t>Buffer and ions</a:t>
            </a:r>
          </a:p>
          <a:p>
            <a:endParaRPr lang="en-US" dirty="0"/>
          </a:p>
        </p:txBody>
      </p:sp>
      <p:pic>
        <p:nvPicPr>
          <p:cNvPr id="8" name="Picture 7"/>
          <p:cNvPicPr>
            <a:picLocks noChangeAspect="1"/>
          </p:cNvPicPr>
          <p:nvPr/>
        </p:nvPicPr>
        <p:blipFill>
          <a:blip r:embed="rId3"/>
          <a:stretch>
            <a:fillRect/>
          </a:stretch>
        </p:blipFill>
        <p:spPr>
          <a:xfrm>
            <a:off x="4684424" y="2135909"/>
            <a:ext cx="1939202" cy="1676544"/>
          </a:xfrm>
          <a:prstGeom prst="rect">
            <a:avLst/>
          </a:prstGeom>
        </p:spPr>
      </p:pic>
      <p:cxnSp>
        <p:nvCxnSpPr>
          <p:cNvPr id="10" name="Straight Arrow Connector 9"/>
          <p:cNvCxnSpPr/>
          <p:nvPr/>
        </p:nvCxnSpPr>
        <p:spPr>
          <a:xfrm flipV="1">
            <a:off x="3351212" y="2315434"/>
            <a:ext cx="1604818" cy="2540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p:nvPr/>
        </p:nvCxnSpPr>
        <p:spPr>
          <a:xfrm flipV="1">
            <a:off x="2540000" y="2768455"/>
            <a:ext cx="2297546" cy="660545"/>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5" name="Straight Arrow Connector 14"/>
          <p:cNvCxnSpPr/>
          <p:nvPr/>
        </p:nvCxnSpPr>
        <p:spPr>
          <a:xfrm flipV="1">
            <a:off x="3640701" y="3318468"/>
            <a:ext cx="1366621" cy="38345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7" name="Straight Arrow Connector 16"/>
          <p:cNvCxnSpPr/>
          <p:nvPr/>
        </p:nvCxnSpPr>
        <p:spPr>
          <a:xfrm flipV="1">
            <a:off x="5191200" y="3429000"/>
            <a:ext cx="312163" cy="65209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3" name="Straight Arrow Connector 22"/>
          <p:cNvCxnSpPr/>
          <p:nvPr/>
        </p:nvCxnSpPr>
        <p:spPr>
          <a:xfrm flipV="1">
            <a:off x="5347283" y="3701920"/>
            <a:ext cx="406909" cy="94041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pic>
        <p:nvPicPr>
          <p:cNvPr id="25" name="Picture 24"/>
          <p:cNvPicPr>
            <a:picLocks noChangeAspect="1"/>
          </p:cNvPicPr>
          <p:nvPr/>
        </p:nvPicPr>
        <p:blipFill>
          <a:blip r:embed="rId4"/>
          <a:stretch>
            <a:fillRect/>
          </a:stretch>
        </p:blipFill>
        <p:spPr>
          <a:xfrm>
            <a:off x="6144329" y="2210205"/>
            <a:ext cx="2221678" cy="1586913"/>
          </a:xfrm>
          <a:prstGeom prst="rect">
            <a:avLst/>
          </a:prstGeom>
        </p:spPr>
      </p:pic>
      <p:sp>
        <p:nvSpPr>
          <p:cNvPr id="24" name="Right Arrow 23"/>
          <p:cNvSpPr/>
          <p:nvPr/>
        </p:nvSpPr>
        <p:spPr>
          <a:xfrm>
            <a:off x="6093338" y="2495994"/>
            <a:ext cx="784369" cy="47620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74481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PCR Machine</a:t>
            </a:r>
          </a:p>
        </p:txBody>
      </p:sp>
      <p:sp>
        <p:nvSpPr>
          <p:cNvPr id="3" name="Content Placeholder 2"/>
          <p:cNvSpPr>
            <a:spLocks noGrp="1"/>
          </p:cNvSpPr>
          <p:nvPr>
            <p:ph idx="1"/>
          </p:nvPr>
        </p:nvSpPr>
        <p:spPr/>
        <p:txBody>
          <a:bodyPr/>
          <a:lstStyle/>
          <a:p>
            <a:r>
              <a:rPr lang="en-US" b="1" dirty="0"/>
              <a:t>Denature</a:t>
            </a:r>
            <a:r>
              <a:rPr lang="en-US" dirty="0"/>
              <a:t> 94°C 	Breaks apart strands</a:t>
            </a:r>
          </a:p>
          <a:p>
            <a:r>
              <a:rPr lang="en-US" b="1" dirty="0"/>
              <a:t>Annealing</a:t>
            </a:r>
            <a:r>
              <a:rPr lang="en-US" dirty="0"/>
              <a:t> 60°C 	Allows primer to bind</a:t>
            </a:r>
          </a:p>
          <a:p>
            <a:r>
              <a:rPr lang="en-US" b="1" dirty="0"/>
              <a:t>Extension</a:t>
            </a:r>
            <a:r>
              <a:rPr lang="en-US" dirty="0"/>
              <a:t> 72°C	DNA polymerase binds = DNA replication</a:t>
            </a:r>
          </a:p>
          <a:p>
            <a:r>
              <a:rPr lang="en-US" dirty="0"/>
              <a:t>Creates millions of copies of </a:t>
            </a:r>
            <a:r>
              <a:rPr lang="en-US" b="1" dirty="0"/>
              <a:t>fragment </a:t>
            </a:r>
            <a:r>
              <a:rPr lang="en-US" dirty="0"/>
              <a:t>of DNA</a:t>
            </a:r>
          </a:p>
          <a:p>
            <a:r>
              <a:rPr lang="en-US" dirty="0">
                <a:hlinkClick r:id="rId3"/>
              </a:rPr>
              <a:t>https://www.youtube.com/watch?v=iQsu3Kz9NYo</a:t>
            </a:r>
            <a:r>
              <a:rPr lang="en-US" dirty="0"/>
              <a:t>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Gel Electrophoresis</a:t>
            </a:r>
          </a:p>
        </p:txBody>
      </p:sp>
      <p:pic>
        <p:nvPicPr>
          <p:cNvPr id="5" name="Picture 4"/>
          <p:cNvPicPr>
            <a:picLocks noChangeAspect="1" noChangeArrowheads="1"/>
          </p:cNvPicPr>
          <p:nvPr/>
        </p:nvPicPr>
        <p:blipFill>
          <a:blip r:embed="rId3"/>
          <a:srcRect/>
          <a:stretch>
            <a:fillRect/>
          </a:stretch>
        </p:blipFill>
        <p:spPr bwMode="auto">
          <a:xfrm>
            <a:off x="2540000" y="1524000"/>
            <a:ext cx="3309518" cy="3334327"/>
          </a:xfrm>
          <a:prstGeom prst="rect">
            <a:avLst/>
          </a:prstGeom>
          <a:noFill/>
          <a:ln w="9525">
            <a:noFill/>
            <a:miter lim="800000"/>
            <a:headEnd/>
            <a:tailEnd/>
          </a:ln>
        </p:spPr>
      </p:pic>
      <p:pic>
        <p:nvPicPr>
          <p:cNvPr id="6" name="Picture 5"/>
          <p:cNvPicPr>
            <a:picLocks noChangeAspect="1" noChangeArrowheads="1"/>
          </p:cNvPicPr>
          <p:nvPr/>
        </p:nvPicPr>
        <p:blipFill>
          <a:blip r:embed="rId4"/>
          <a:srcRect/>
          <a:stretch>
            <a:fillRect/>
          </a:stretch>
        </p:blipFill>
        <p:spPr bwMode="auto">
          <a:xfrm>
            <a:off x="5118474" y="4730741"/>
            <a:ext cx="1462087" cy="914400"/>
          </a:xfrm>
          <a:prstGeom prst="rect">
            <a:avLst/>
          </a:prstGeom>
          <a:noFill/>
          <a:ln w="9525">
            <a:noFill/>
            <a:miter lim="800000"/>
            <a:headEnd/>
            <a:tailEnd/>
          </a:ln>
        </p:spPr>
      </p:pic>
      <p:sp>
        <p:nvSpPr>
          <p:cNvPr id="4" name="Rectangle 3"/>
          <p:cNvSpPr/>
          <p:nvPr/>
        </p:nvSpPr>
        <p:spPr>
          <a:xfrm>
            <a:off x="254000" y="6211669"/>
            <a:ext cx="6952018" cy="369332"/>
          </a:xfrm>
          <a:prstGeom prst="rect">
            <a:avLst/>
          </a:prstGeom>
        </p:spPr>
        <p:txBody>
          <a:bodyPr wrap="square">
            <a:spAutoFit/>
          </a:bodyPr>
          <a:lstStyle/>
          <a:p>
            <a:r>
              <a:rPr lang="en-AU" dirty="0"/>
              <a:t>https://www.youtube.com/watch?v=QEG8dz7cbnY</a:t>
            </a:r>
          </a:p>
        </p:txBody>
      </p:sp>
    </p:spTree>
    <p:extLst>
      <p:ext uri="{BB962C8B-B14F-4D97-AF65-F5344CB8AC3E}">
        <p14:creationId xmlns:p14="http://schemas.microsoft.com/office/powerpoint/2010/main" val="30854337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Gel Electrophoresis: </a:t>
            </a:r>
            <a:br>
              <a:rPr lang="en-GB" dirty="0"/>
            </a:br>
            <a:r>
              <a:rPr lang="en-GB" dirty="0"/>
              <a:t>Making Agarose Gel</a:t>
            </a:r>
          </a:p>
        </p:txBody>
      </p:sp>
      <p:sp>
        <p:nvSpPr>
          <p:cNvPr id="3" name="Content Placeholder 2"/>
          <p:cNvSpPr>
            <a:spLocks noGrp="1"/>
          </p:cNvSpPr>
          <p:nvPr>
            <p:ph idx="1"/>
          </p:nvPr>
        </p:nvSpPr>
        <p:spPr/>
        <p:txBody>
          <a:bodyPr/>
          <a:lstStyle/>
          <a:p>
            <a:r>
              <a:rPr lang="en-GB" dirty="0"/>
              <a:t>Comb to create wells</a:t>
            </a:r>
          </a:p>
          <a:p>
            <a:endParaRPr lang="en-GB"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91166" y="3242285"/>
            <a:ext cx="4310373" cy="3066440"/>
          </a:xfrm>
          <a:prstGeom prst="rect">
            <a:avLst/>
          </a:prstGeom>
        </p:spPr>
      </p:pic>
      <p:cxnSp>
        <p:nvCxnSpPr>
          <p:cNvPr id="6" name="Straight Arrow Connector 5"/>
          <p:cNvCxnSpPr/>
          <p:nvPr/>
        </p:nvCxnSpPr>
        <p:spPr>
          <a:xfrm>
            <a:off x="4572000" y="2574388"/>
            <a:ext cx="1547446" cy="87219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564125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Micropipette</a:t>
            </a:r>
          </a:p>
        </p:txBody>
      </p:sp>
      <p:pic>
        <p:nvPicPr>
          <p:cNvPr id="4" name="Content Placeholder 3"/>
          <p:cNvPicPr>
            <a:picLocks noGrp="1" noChangeAspect="1"/>
          </p:cNvPicPr>
          <p:nvPr>
            <p:ph idx="1"/>
          </p:nvPr>
        </p:nvPicPr>
        <p:blipFill>
          <a:blip r:embed="rId3"/>
          <a:stretch>
            <a:fillRect/>
          </a:stretch>
        </p:blipFill>
        <p:spPr>
          <a:xfrm>
            <a:off x="1749186" y="5206668"/>
            <a:ext cx="2115842" cy="1410561"/>
          </a:xfrm>
          <a:prstGeom prst="rect">
            <a:avLst/>
          </a:prstGeom>
        </p:spPr>
      </p:pic>
      <p:pic>
        <p:nvPicPr>
          <p:cNvPr id="5" name="Picture 4"/>
          <p:cNvPicPr>
            <a:picLocks noChangeAspect="1"/>
          </p:cNvPicPr>
          <p:nvPr/>
        </p:nvPicPr>
        <p:blipFill>
          <a:blip r:embed="rId4"/>
          <a:srcRect l="58826" t="8442" r="4987" b="9398"/>
          <a:stretch>
            <a:fillRect/>
          </a:stretch>
        </p:blipFill>
        <p:spPr>
          <a:xfrm>
            <a:off x="7564972" y="4234375"/>
            <a:ext cx="871418" cy="2554742"/>
          </a:xfrm>
          <a:prstGeom prst="rect">
            <a:avLst/>
          </a:prstGeom>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62147" y="5188947"/>
            <a:ext cx="1143000" cy="1400175"/>
          </a:xfrm>
          <a:prstGeom prst="rect">
            <a:avLst/>
          </a:prstGeom>
        </p:spPr>
      </p:pic>
      <p:sp>
        <p:nvSpPr>
          <p:cNvPr id="8" name="Content Placeholder 2"/>
          <p:cNvSpPr txBox="1">
            <a:spLocks/>
          </p:cNvSpPr>
          <p:nvPr/>
        </p:nvSpPr>
        <p:spPr>
          <a:xfrm>
            <a:off x="457200" y="1385986"/>
            <a:ext cx="8229600"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dirty="0"/>
              <a:t>3 Parts: Big button, little button, dial</a:t>
            </a:r>
          </a:p>
          <a:p>
            <a:pPr marL="0" indent="0">
              <a:buNone/>
            </a:pPr>
            <a:endParaRPr lang="en-US" dirty="0"/>
          </a:p>
          <a:p>
            <a:pPr>
              <a:buFontTx/>
              <a:buChar char="-"/>
            </a:pPr>
            <a:r>
              <a:rPr lang="en-US" dirty="0"/>
              <a:t>Push big button half way before (insert tip in liquid) </a:t>
            </a:r>
          </a:p>
          <a:p>
            <a:pPr>
              <a:buFontTx/>
              <a:buChar char="-"/>
            </a:pPr>
            <a:r>
              <a:rPr lang="en-US" dirty="0"/>
              <a:t>Push big button fully down to release liquid</a:t>
            </a:r>
          </a:p>
          <a:p>
            <a:pPr>
              <a:buFontTx/>
              <a:buChar char="-"/>
            </a:pPr>
            <a:r>
              <a:rPr lang="en-US" dirty="0"/>
              <a:t>Push small button to eject tip </a:t>
            </a:r>
          </a:p>
          <a:p>
            <a:pPr>
              <a:buFontTx/>
              <a:buChar char="-"/>
            </a:pPr>
            <a:endParaRPr lang="en-US" dirty="0"/>
          </a:p>
        </p:txBody>
      </p:sp>
    </p:spTree>
    <p:extLst>
      <p:ext uri="{BB962C8B-B14F-4D97-AF65-F5344CB8AC3E}">
        <p14:creationId xmlns:p14="http://schemas.microsoft.com/office/powerpoint/2010/main" val="14551137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Gel Electrophoresis: Pipetting into the well</a:t>
            </a:r>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364567" y="1417638"/>
            <a:ext cx="6710290" cy="4479119"/>
          </a:xfrm>
        </p:spPr>
      </p:pic>
    </p:spTree>
    <p:extLst>
      <p:ext uri="{BB962C8B-B14F-4D97-AF65-F5344CB8AC3E}">
        <p14:creationId xmlns:p14="http://schemas.microsoft.com/office/powerpoint/2010/main" val="8316769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Gel Electrophoresis</a:t>
            </a:r>
          </a:p>
        </p:txBody>
      </p:sp>
      <p:sp>
        <p:nvSpPr>
          <p:cNvPr id="3" name="Content Placeholder 2"/>
          <p:cNvSpPr>
            <a:spLocks noGrp="1"/>
          </p:cNvSpPr>
          <p:nvPr>
            <p:ph idx="1"/>
          </p:nvPr>
        </p:nvSpPr>
        <p:spPr>
          <a:xfrm>
            <a:off x="457200" y="1417638"/>
            <a:ext cx="3834847" cy="4525963"/>
          </a:xfrm>
        </p:spPr>
        <p:txBody>
          <a:bodyPr>
            <a:normAutofit/>
          </a:bodyPr>
          <a:lstStyle/>
          <a:p>
            <a:r>
              <a:rPr lang="en-US" dirty="0"/>
              <a:t>Charge applied</a:t>
            </a:r>
          </a:p>
          <a:p>
            <a:r>
              <a:rPr lang="en-US" dirty="0"/>
              <a:t>DNA will move to +</a:t>
            </a:r>
            <a:r>
              <a:rPr lang="en-US" dirty="0" err="1"/>
              <a:t>ve</a:t>
            </a:r>
            <a:r>
              <a:rPr lang="en-US" dirty="0"/>
              <a:t> charge across gel</a:t>
            </a:r>
          </a:p>
          <a:p>
            <a:r>
              <a:rPr lang="en-US" dirty="0"/>
              <a:t>Small fragments move further, quicker</a:t>
            </a:r>
          </a:p>
          <a:p>
            <a:endParaRPr lang="en-US" dirty="0"/>
          </a:p>
        </p:txBody>
      </p:sp>
      <p:pic>
        <p:nvPicPr>
          <p:cNvPr id="5" name="Picture 4"/>
          <p:cNvPicPr>
            <a:picLocks noChangeAspect="1" noChangeArrowheads="1"/>
          </p:cNvPicPr>
          <p:nvPr/>
        </p:nvPicPr>
        <p:blipFill>
          <a:blip r:embed="rId3"/>
          <a:srcRect/>
          <a:stretch>
            <a:fillRect/>
          </a:stretch>
        </p:blipFill>
        <p:spPr bwMode="auto">
          <a:xfrm>
            <a:off x="4418656" y="1524000"/>
            <a:ext cx="3309518" cy="3334327"/>
          </a:xfrm>
          <a:prstGeom prst="rect">
            <a:avLst/>
          </a:prstGeom>
          <a:noFill/>
          <a:ln w="9525">
            <a:noFill/>
            <a:miter lim="800000"/>
            <a:headEnd/>
            <a:tailEnd/>
          </a:ln>
        </p:spPr>
      </p:pic>
      <p:pic>
        <p:nvPicPr>
          <p:cNvPr id="6" name="Picture 5"/>
          <p:cNvPicPr>
            <a:picLocks noChangeAspect="1" noChangeArrowheads="1"/>
          </p:cNvPicPr>
          <p:nvPr/>
        </p:nvPicPr>
        <p:blipFill>
          <a:blip r:embed="rId4"/>
          <a:srcRect/>
          <a:stretch>
            <a:fillRect/>
          </a:stretch>
        </p:blipFill>
        <p:spPr bwMode="auto">
          <a:xfrm>
            <a:off x="6870521" y="4701310"/>
            <a:ext cx="1462087" cy="914400"/>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Gel Electrophoresis </a:t>
            </a:r>
          </a:p>
        </p:txBody>
      </p:sp>
      <p:sp>
        <p:nvSpPr>
          <p:cNvPr id="3" name="Content Placeholder 2"/>
          <p:cNvSpPr>
            <a:spLocks noGrp="1"/>
          </p:cNvSpPr>
          <p:nvPr>
            <p:ph idx="1"/>
          </p:nvPr>
        </p:nvSpPr>
        <p:spPr>
          <a:xfrm>
            <a:off x="457200" y="1600200"/>
            <a:ext cx="4010891" cy="4525963"/>
          </a:xfrm>
        </p:spPr>
        <p:txBody>
          <a:bodyPr/>
          <a:lstStyle/>
          <a:p>
            <a:r>
              <a:rPr lang="en-US" dirty="0"/>
              <a:t>Banding</a:t>
            </a:r>
          </a:p>
          <a:p>
            <a:r>
              <a:rPr lang="en-US" dirty="0"/>
              <a:t>Pattern can be compared to controls</a:t>
            </a:r>
          </a:p>
        </p:txBody>
      </p:sp>
      <p:pic>
        <p:nvPicPr>
          <p:cNvPr id="7" name="Picture 6"/>
          <p:cNvPicPr>
            <a:picLocks noChangeAspect="1" noChangeArrowheads="1"/>
          </p:cNvPicPr>
          <p:nvPr/>
        </p:nvPicPr>
        <p:blipFill>
          <a:blip r:embed="rId3"/>
          <a:srcRect/>
          <a:stretch>
            <a:fillRect/>
          </a:stretch>
        </p:blipFill>
        <p:spPr bwMode="auto">
          <a:xfrm>
            <a:off x="4777581" y="1252024"/>
            <a:ext cx="3200585" cy="2912989"/>
          </a:xfrm>
          <a:prstGeom prst="rect">
            <a:avLst/>
          </a:prstGeom>
          <a:noFill/>
          <a:ln w="9525">
            <a:noFill/>
            <a:miter lim="800000"/>
            <a:headEnd/>
            <a:tailEnd/>
          </a:ln>
        </p:spPr>
      </p:pic>
      <p:pic>
        <p:nvPicPr>
          <p:cNvPr id="5" name="Picture 4"/>
          <p:cNvPicPr>
            <a:picLocks noChangeAspect="1"/>
          </p:cNvPicPr>
          <p:nvPr/>
        </p:nvPicPr>
        <p:blipFill>
          <a:blip r:embed="rId4"/>
          <a:stretch>
            <a:fillRect/>
          </a:stretch>
        </p:blipFill>
        <p:spPr>
          <a:xfrm>
            <a:off x="647493" y="4400991"/>
            <a:ext cx="6497804" cy="1725172"/>
          </a:xfrm>
          <a:prstGeom prst="rect">
            <a:avLst/>
          </a:prstGeom>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jacency">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Adjacency</Template>
  <TotalTime>906</TotalTime>
  <Words>1985</Words>
  <Application>Microsoft Office PowerPoint</Application>
  <PresentationFormat>On-screen Show (4:3)</PresentationFormat>
  <Paragraphs>187</Paragraphs>
  <Slides>15</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Arial Rounded MT Bold</vt:lpstr>
      <vt:lpstr>Calibri</vt:lpstr>
      <vt:lpstr>Cambria</vt:lpstr>
      <vt:lpstr>Adjacency</vt:lpstr>
      <vt:lpstr>Biotechnology-Applications</vt:lpstr>
      <vt:lpstr>What are we doing?</vt:lpstr>
      <vt:lpstr>Real world Applications</vt:lpstr>
      <vt:lpstr>Looking for evidence</vt:lpstr>
      <vt:lpstr>Cell extraction</vt:lpstr>
      <vt:lpstr>Centrifugation</vt:lpstr>
      <vt:lpstr>Heating your cell solution </vt:lpstr>
      <vt:lpstr>PCR Prep</vt:lpstr>
      <vt:lpstr>PCR Machine</vt:lpstr>
      <vt:lpstr>Gel Electrophoresis</vt:lpstr>
      <vt:lpstr>Gel Electrophoresis:  Making Agarose Gel</vt:lpstr>
      <vt:lpstr>Micropipette</vt:lpstr>
      <vt:lpstr>Gel Electrophoresis: Pipetting into the well</vt:lpstr>
      <vt:lpstr>Gel Electrophoresis</vt:lpstr>
      <vt:lpstr>Gel Electrophoresis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PCR and Gel Electrophoresis</dc:title>
  <dc:creator>Ella Baskerville</dc:creator>
  <cp:lastModifiedBy>Ivan Opacak</cp:lastModifiedBy>
  <cp:revision>46</cp:revision>
  <dcterms:created xsi:type="dcterms:W3CDTF">2015-03-23T09:18:23Z</dcterms:created>
  <dcterms:modified xsi:type="dcterms:W3CDTF">2021-06-09T06:18:34Z</dcterms:modified>
</cp:coreProperties>
</file>
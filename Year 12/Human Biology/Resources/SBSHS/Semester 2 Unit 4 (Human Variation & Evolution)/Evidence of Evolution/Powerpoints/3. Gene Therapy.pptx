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59" r:id="rId10"/>
    <p:sldId id="268" r:id="rId11"/>
    <p:sldId id="269" r:id="rId12"/>
    <p:sldId id="260" r:id="rId13"/>
    <p:sldId id="270" r:id="rId14"/>
    <p:sldId id="261" r:id="rId15"/>
    <p:sldId id="271" r:id="rId16"/>
    <p:sldId id="262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51"/>
  </p:normalViewPr>
  <p:slideViewPr>
    <p:cSldViewPr snapToGrid="0" snapToObjects="1">
      <p:cViewPr varScale="1">
        <p:scale>
          <a:sx n="112" d="100"/>
          <a:sy n="112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jeopardylabs.com/play/have-you-been-paying-attention-1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0988-11A3-464D-9E2D-C625891778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Gene Therapy</a:t>
            </a:r>
          </a:p>
        </p:txBody>
      </p:sp>
    </p:spTree>
    <p:extLst>
      <p:ext uri="{BB962C8B-B14F-4D97-AF65-F5344CB8AC3E}">
        <p14:creationId xmlns:p14="http://schemas.microsoft.com/office/powerpoint/2010/main" val="172875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the earth&#10;&#10;Description automatically generated with low confidence">
            <a:extLst>
              <a:ext uri="{FF2B5EF4-FFF2-40B4-BE49-F238E27FC236}">
                <a16:creationId xmlns:a16="http://schemas.microsoft.com/office/drawing/2014/main" id="{95ABE1AD-6A33-1746-9B82-9D8DD04CA3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07" r="16184"/>
          <a:stretch/>
        </p:blipFill>
        <p:spPr>
          <a:xfrm>
            <a:off x="4485557" y="10"/>
            <a:ext cx="7706443" cy="6857990"/>
          </a:xfrm>
          <a:prstGeom prst="rect">
            <a:avLst/>
          </a:prstGeom>
        </p:spPr>
      </p:pic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8170246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7D8DA-03AE-6846-8F57-83766B50F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25" y="624110"/>
            <a:ext cx="4623955" cy="1280890"/>
          </a:xfrm>
        </p:spPr>
        <p:txBody>
          <a:bodyPr>
            <a:normAutofit/>
          </a:bodyPr>
          <a:lstStyle/>
          <a:p>
            <a:r>
              <a:rPr lang="en-US" dirty="0"/>
              <a:t>What is Gene Therapy?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73D70-F856-8A44-A911-12D542995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2133600"/>
            <a:ext cx="5731828" cy="3777622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Aims to treat or cure genetic abnormalities by replacing faulty genes with healthy ones. (Using the genes themselves as the treatment). </a:t>
            </a:r>
          </a:p>
          <a:p>
            <a:r>
              <a:rPr lang="en-US" sz="2400" dirty="0"/>
              <a:t>Currently this  technology is being utilized in the treatment of single-gene disorders (e.g., Cystic Fibrosis, Huntington’s Disease, Sickle Cell Anaemia, and Muscular Dystrophy). </a:t>
            </a:r>
          </a:p>
        </p:txBody>
      </p:sp>
    </p:spTree>
    <p:extLst>
      <p:ext uri="{BB962C8B-B14F-4D97-AF65-F5344CB8AC3E}">
        <p14:creationId xmlns:p14="http://schemas.microsoft.com/office/powerpoint/2010/main" val="275448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FCF97-00B0-AE49-B250-AF148E9FE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US" dirty="0"/>
              <a:t>Cystic Fibrosis- A Case Study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7F754-9511-8642-BABA-4DE14D50D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Most common life-threatening genetic disorder among Australians of European descent.</a:t>
            </a:r>
          </a:p>
          <a:p>
            <a:r>
              <a:rPr lang="en-US" sz="2400" dirty="0"/>
              <a:t>Mostly effecting the lungs and pancreas (and sometimes the liver and reproductive organs). </a:t>
            </a:r>
          </a:p>
          <a:p>
            <a:r>
              <a:rPr lang="en-US" sz="2400" dirty="0"/>
              <a:t>Characterized by thick sticky mucus secreted by the mucous glands- which may clog the tiny air passages in the lungs trap bacteria- making a person with CF susceptible to infection. 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28887F4-7763-7144-B686-A07C202288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42" r="16746"/>
          <a:stretch/>
        </p:blipFill>
        <p:spPr>
          <a:xfrm>
            <a:off x="7765643" y="645106"/>
            <a:ext cx="3574345" cy="5247747"/>
          </a:xfrm>
          <a:prstGeom prst="rect">
            <a:avLst/>
          </a:prstGeom>
        </p:spPr>
      </p:pic>
      <p:sp>
        <p:nvSpPr>
          <p:cNvPr id="51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77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9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BD391-8FAD-8144-BBDA-BD7621D1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300" y="89619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Cystic Fibrosis: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C626C-FEAF-8E40-A75B-2C2EB4128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14" y="1439917"/>
            <a:ext cx="4288220" cy="506598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Repeated infections and continual blockages of airways may cause irreversible lung damage and shorten life expectancy.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pancreas is also affected, preventing secretion of enzymes required for digestion.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People with CF have issue with nutrition and need to monitor their diet. </a:t>
            </a:r>
          </a:p>
        </p:txBody>
      </p:sp>
      <p:pic>
        <p:nvPicPr>
          <p:cNvPr id="5" name="Picture 4" descr="A jellyfish in the water&#10;&#10;Description automatically generated">
            <a:extLst>
              <a:ext uri="{FF2B5EF4-FFF2-40B4-BE49-F238E27FC236}">
                <a16:creationId xmlns:a16="http://schemas.microsoft.com/office/drawing/2014/main" id="{F95EF291-187F-F84F-B231-A5AB09FED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5" r="12612"/>
          <a:stretch/>
        </p:blipFill>
        <p:spPr>
          <a:xfrm>
            <a:off x="4619543" y="10"/>
            <a:ext cx="757245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91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picture containing person, indoor, porcelain&#10;&#10;Description automatically generated">
            <a:extLst>
              <a:ext uri="{FF2B5EF4-FFF2-40B4-BE49-F238E27FC236}">
                <a16:creationId xmlns:a16="http://schemas.microsoft.com/office/drawing/2014/main" id="{71AB80E7-A01A-414C-8570-D678CF8F6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80" r="12996" b="-1"/>
          <a:stretch/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E83AC-F22E-E74F-8252-7B951CC4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EFFFF"/>
                </a:solidFill>
              </a:rPr>
              <a:t>Cystic Fibrosis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8283-0C5C-784C-A1F4-C0873546E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Results when an individual inherits the recessive gene from both parents.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blood sample is normally taken from the baby’s heel (2-3days after birth) to test for this condition. 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066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8B825-F1EA-EA4D-9D48-668058FFE7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03" r="2" b="2"/>
          <a:stretch/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FD7D4-44A8-604C-A9A6-37BE4432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EFFFF"/>
                </a:solidFill>
              </a:rPr>
              <a:t>Cystic Fibrosis- Gene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4A832-B4A5-8442-A050-E0C50011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2062" y="1694179"/>
            <a:ext cx="4609937" cy="469611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identification of Cystic Fibrosis Transmembrane Regulator (CFTR) gene in 1989 was the major step in developing the treatment.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1991, scientists successfully corrected faulty CFTR genes in cultured cells- they did this by adding normal copies of the gene to the culture. 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98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9DB88B-5C67-414D-800B-F22220C7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r>
              <a:rPr lang="en-US" dirty="0"/>
              <a:t>Cystic Fibrosis- Gene Therapy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D1266-D338-C840-8A30-6599661AAE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62" r="20184"/>
          <a:stretch/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FF3E-A13A-474F-8802-217E1C9B5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606664" cy="4267200"/>
          </a:xfrm>
        </p:spPr>
        <p:txBody>
          <a:bodyPr>
            <a:normAutofit/>
          </a:bodyPr>
          <a:lstStyle/>
          <a:p>
            <a:r>
              <a:rPr lang="en-US" sz="2400" dirty="0"/>
              <a:t>This was the logical first choice to provide treatment for as it was a single gene disorder and the major organ affected (the lungs) were relatively easily to access to provide treatment too. </a:t>
            </a:r>
          </a:p>
          <a:p>
            <a:r>
              <a:rPr lang="en-US" sz="2400" dirty="0"/>
              <a:t>The disease is also slow to progress, meaning they can treat the condition in infancy before serious lung damage has yet to occur. </a:t>
            </a:r>
          </a:p>
        </p:txBody>
      </p:sp>
    </p:spTree>
    <p:extLst>
      <p:ext uri="{BB962C8B-B14F-4D97-AF65-F5344CB8AC3E}">
        <p14:creationId xmlns:p14="http://schemas.microsoft.com/office/powerpoint/2010/main" val="392603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B735B0-F055-C448-95AD-D9EC9B56C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US" dirty="0"/>
              <a:t>Cystic Fibrosis- Gene Therapy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8731C-1542-CC40-96EE-DB93E3011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94" y="2101816"/>
            <a:ext cx="6824366" cy="3791037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first human trial for gene therapy treatment of CF was in 1993</a:t>
            </a:r>
          </a:p>
          <a:p>
            <a:r>
              <a:rPr lang="en-US" sz="2400" dirty="0"/>
              <a:t>Researchers used a modified common cold virus (recombinant technology) to act as the vector to carry normal CFTR cells to the airways and lungs. </a:t>
            </a:r>
          </a:p>
          <a:p>
            <a:r>
              <a:rPr lang="en-US" sz="2400" dirty="0"/>
              <a:t>This trail was concerned more with health risks and safety. </a:t>
            </a:r>
          </a:p>
          <a:p>
            <a:r>
              <a:rPr lang="en-US" sz="2400" dirty="0"/>
              <a:t>Trials are still underway in testing this treatment. 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893FCD1-A941-3444-A863-D426EC696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1373461"/>
            <a:ext cx="3981455" cy="3791037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72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A80A4-0439-0F44-A241-490368AD6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4790008" cy="1280890"/>
          </a:xfrm>
        </p:spPr>
        <p:txBody>
          <a:bodyPr>
            <a:normAutofit/>
          </a:bodyPr>
          <a:lstStyle/>
          <a:p>
            <a:r>
              <a:rPr lang="en-US" sz="3300"/>
              <a:t>Huntington’s Disease- A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C2055-6B22-6641-A834-E43C6272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040467"/>
            <a:ext cx="4802188" cy="3870755"/>
          </a:xfrm>
        </p:spPr>
        <p:txBody>
          <a:bodyPr>
            <a:normAutofit/>
          </a:bodyPr>
          <a:lstStyle/>
          <a:p>
            <a:r>
              <a:rPr lang="en-US" sz="2400" dirty="0"/>
              <a:t>Huntington’s is another single-gene disorder.</a:t>
            </a:r>
          </a:p>
          <a:p>
            <a:r>
              <a:rPr lang="en-US" sz="2400" dirty="0"/>
              <a:t>It is caused by a mutation on Chromosome 4 called IT15 </a:t>
            </a:r>
          </a:p>
          <a:p>
            <a:r>
              <a:rPr lang="en-US" sz="2400" dirty="0"/>
              <a:t>The symptoms rarely appear before the age of 40. </a:t>
            </a:r>
          </a:p>
        </p:txBody>
      </p:sp>
      <p:pic>
        <p:nvPicPr>
          <p:cNvPr id="5" name="Picture 4" descr="A picture containing invertebrate&#10;&#10;Description automatically generated">
            <a:extLst>
              <a:ext uri="{FF2B5EF4-FFF2-40B4-BE49-F238E27FC236}">
                <a16:creationId xmlns:a16="http://schemas.microsoft.com/office/drawing/2014/main" id="{AFD2C3E3-53B6-504B-9ED5-FD204070F0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275" r="29141"/>
          <a:stretch/>
        </p:blipFill>
        <p:spPr>
          <a:xfrm>
            <a:off x="7736146" y="711199"/>
            <a:ext cx="3768466" cy="541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3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DFAF3-D518-8E40-950E-F55BCCA7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US" dirty="0"/>
              <a:t>Huntington’s Disease: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34B76-E6E6-324A-A7D1-28D912C9B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910" y="1692166"/>
            <a:ext cx="7126014" cy="372066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Mutated form of the Huntington Protein- results in brain nerve cells being damaged- causing physical, mental and emotional changes </a:t>
            </a:r>
          </a:p>
          <a:p>
            <a:r>
              <a:rPr lang="en-US" sz="2400" dirty="0"/>
              <a:t>Characterised by occasional unintentional flailing movements of arms and legs and difficulty making voluntary movements of limbs</a:t>
            </a:r>
          </a:p>
          <a:p>
            <a:r>
              <a:rPr lang="en-US" sz="2400" dirty="0"/>
              <a:t>They also suffer from progressive dementia and the loss of ability to think clearly.  </a:t>
            </a:r>
          </a:p>
          <a:p>
            <a:endParaRPr lang="en-US" dirty="0"/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70BB69FD-E028-4443-96CA-F2F2F88AF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1576861"/>
            <a:ext cx="3981455" cy="3384236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49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3BCEA7-D17D-6C49-A978-AA82593B89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68" r="12023" b="-1"/>
          <a:stretch/>
        </p:blipFill>
        <p:spPr>
          <a:xfrm>
            <a:off x="4485557" y="62901"/>
            <a:ext cx="7706443" cy="6857990"/>
          </a:xfrm>
          <a:prstGeom prst="rect">
            <a:avLst/>
          </a:prstGeom>
        </p:spPr>
      </p:pic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8170246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A02BF-E0A8-9747-BAC9-871EC97A9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79" y="62901"/>
            <a:ext cx="4623955" cy="1280890"/>
          </a:xfrm>
        </p:spPr>
        <p:txBody>
          <a:bodyPr>
            <a:normAutofit/>
          </a:bodyPr>
          <a:lstStyle/>
          <a:p>
            <a:r>
              <a:rPr lang="en-US" sz="3300" dirty="0"/>
              <a:t>Huntington’s Disease- Gene Therapy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8A6F1-F9AA-FF41-AA75-2CC99412E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1298451"/>
            <a:ext cx="5707117" cy="4261098"/>
          </a:xfrm>
        </p:spPr>
        <p:txBody>
          <a:bodyPr>
            <a:noAutofit/>
          </a:bodyPr>
          <a:lstStyle/>
          <a:p>
            <a:r>
              <a:rPr lang="en-US" sz="2400" dirty="0"/>
              <a:t>Research in the USA on mice has indicated that Gene Therapy for Huntington’s disease could be effective in humans </a:t>
            </a:r>
          </a:p>
          <a:p>
            <a:r>
              <a:rPr lang="en-US" sz="2400" dirty="0"/>
              <a:t>Research in France has experimented with a modified virus to deliver the corrective gene into brain cells that boosts a natural shield against the effects. </a:t>
            </a:r>
          </a:p>
          <a:p>
            <a:pPr lvl="1"/>
            <a:r>
              <a:rPr lang="en-US" sz="2000" dirty="0"/>
              <a:t>This research has been conducted on rats and primates and the positive results encourage trailing on humans. </a:t>
            </a:r>
          </a:p>
        </p:txBody>
      </p:sp>
    </p:spTree>
    <p:extLst>
      <p:ext uri="{BB962C8B-B14F-4D97-AF65-F5344CB8AC3E}">
        <p14:creationId xmlns:p14="http://schemas.microsoft.com/office/powerpoint/2010/main" val="3399571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4A555-F90A-8644-B99E-EAC35CD1C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017" y="290500"/>
            <a:ext cx="3650279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Cell Replacement Therapy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6E166-2ADA-584F-9EFC-C6E0F092B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557338"/>
            <a:ext cx="5913119" cy="433551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Stem cells are undifferentiated cells that are capable of repeated mitotic divisions for long periods of time- with the ability to become specialised. </a:t>
            </a:r>
          </a:p>
          <a:p>
            <a:r>
              <a:rPr lang="en-US" sz="2400" dirty="0"/>
              <a:t>This makes them ideal for producing replacement tissues. </a:t>
            </a:r>
          </a:p>
          <a:p>
            <a:r>
              <a:rPr lang="en-US" sz="2400" dirty="0"/>
              <a:t>Any disorder involving the loss or injury of normal cells is a potential candidate for stem cell replacement therapy. 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Picture 4" descr="A picture containing person, beverage, drinking water&#10;&#10;Description automatically generated">
            <a:extLst>
              <a:ext uri="{FF2B5EF4-FFF2-40B4-BE49-F238E27FC236}">
                <a16:creationId xmlns:a16="http://schemas.microsoft.com/office/drawing/2014/main" id="{6CBC251A-CA43-5D42-BC98-102F0067D8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98" r="1477" b="-1"/>
          <a:stretch/>
        </p:blipFill>
        <p:spPr>
          <a:xfrm>
            <a:off x="6238518" y="640080"/>
            <a:ext cx="5801602" cy="5252773"/>
          </a:xfrm>
          <a:prstGeom prst="rect">
            <a:avLst/>
          </a:prstGeom>
        </p:spPr>
      </p:pic>
      <p:sp>
        <p:nvSpPr>
          <p:cNvPr id="21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58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9">
            <a:extLst>
              <a:ext uri="{FF2B5EF4-FFF2-40B4-BE49-F238E27FC236}">
                <a16:creationId xmlns:a16="http://schemas.microsoft.com/office/drawing/2014/main" id="{2F21E579-4785-4A4E-8D09-42E5246D8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19910-7D67-3A4D-9577-EFF3E24C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56" y="15159"/>
            <a:ext cx="6514717" cy="731075"/>
          </a:xfrm>
        </p:spPr>
        <p:txBody>
          <a:bodyPr>
            <a:normAutofit/>
          </a:bodyPr>
          <a:lstStyle/>
          <a:p>
            <a:r>
              <a:rPr lang="en-US" dirty="0"/>
              <a:t>Cell Replacement Therapy</a:t>
            </a:r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3BE96D34-9D7C-4984-961D-7165FA216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5A5C-B048-EF43-8AFD-A0EAE50C5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6777"/>
            <a:ext cx="7147037" cy="572891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This type of therapy has generated the most interest in restoring the nervous system- especially due to widespread occurrence of neurodegenerative disorders such as Parkinson’s and Alzheimer’s diseases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most attractive method of restoring brain function in Parkinson’s is the replacement of dying neurons with healthy neuronal tissue- with the healthy tissue not only surviving but establishing connections with nearby neurons.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pilot studies in this have been using human embryonic stem cells. Making this a controversial treatment and of ethical debate. </a:t>
            </a:r>
          </a:p>
        </p:txBody>
      </p:sp>
      <p:pic>
        <p:nvPicPr>
          <p:cNvPr id="5" name="Picture 4" descr="A picture containing person, drinking water&#10;&#10;Description automatically generated">
            <a:extLst>
              <a:ext uri="{FF2B5EF4-FFF2-40B4-BE49-F238E27FC236}">
                <a16:creationId xmlns:a16="http://schemas.microsoft.com/office/drawing/2014/main" id="{11585F8D-E44C-FB46-A211-8F4B41F0F7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467" r="188" b="-2"/>
          <a:stretch/>
        </p:blipFill>
        <p:spPr>
          <a:xfrm>
            <a:off x="7147035" y="813476"/>
            <a:ext cx="5044965" cy="5247747"/>
          </a:xfrm>
          <a:prstGeom prst="rect">
            <a:avLst/>
          </a:prstGeom>
        </p:spPr>
      </p:pic>
      <p:sp>
        <p:nvSpPr>
          <p:cNvPr id="14" name="Freeform 12">
            <a:extLst>
              <a:ext uri="{FF2B5EF4-FFF2-40B4-BE49-F238E27FC236}">
                <a16:creationId xmlns:a16="http://schemas.microsoft.com/office/drawing/2014/main" id="{C8DE1BEC-DAE3-43F4-8D9F-384C3D694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44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blue, red&#10;&#10;Description automatically generated">
            <a:extLst>
              <a:ext uri="{FF2B5EF4-FFF2-40B4-BE49-F238E27FC236}">
                <a16:creationId xmlns:a16="http://schemas.microsoft.com/office/drawing/2014/main" id="{8A7C26EE-4828-1E4D-AB88-AA931EB847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1" r="-1" b="12313"/>
          <a:stretch/>
        </p:blipFill>
        <p:spPr>
          <a:xfrm>
            <a:off x="4485557" y="10"/>
            <a:ext cx="7706443" cy="6857990"/>
          </a:xfrm>
          <a:prstGeom prst="rect">
            <a:avLst/>
          </a:prstGeom>
        </p:spPr>
      </p:pic>
      <p:sp useBgFill="1">
        <p:nvSpPr>
          <p:cNvPr id="50" name="Freeform: Shape 49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8170246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DA5AE-7DFC-1548-8660-0255D3F11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98" y="138006"/>
            <a:ext cx="4623955" cy="1280890"/>
          </a:xfrm>
        </p:spPr>
        <p:txBody>
          <a:bodyPr>
            <a:normAutofit/>
          </a:bodyPr>
          <a:lstStyle/>
          <a:p>
            <a:r>
              <a:rPr lang="en-US" dirty="0"/>
              <a:t>Tissue Engineering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DCEC-E057-4B43-B6BC-588FBA5C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1418896"/>
            <a:ext cx="6407106" cy="453436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Stem cells are increasingly being used for tissue engineering.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primary objective being to restore healthy tissues or organs to patients- eliminating the need for transplants.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Early research used cells from the patient but in many cases (particularly with Genetic Diseases) it was not practical.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In other cases, the organ was harvested, and not enough healthy cells could be extract to use.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Stem cells overcame both these problems</a:t>
            </a:r>
          </a:p>
        </p:txBody>
      </p:sp>
    </p:spTree>
    <p:extLst>
      <p:ext uri="{BB962C8B-B14F-4D97-AF65-F5344CB8AC3E}">
        <p14:creationId xmlns:p14="http://schemas.microsoft.com/office/powerpoint/2010/main" val="3006962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9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9" name="Group 11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9CA71E-78B6-1A4C-AB96-1C66F747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r>
              <a:rPr lang="en-US" dirty="0"/>
              <a:t>Tissue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Picture 4" descr="A picture containing indoor, plastic&#10;&#10;Description automatically generated">
            <a:extLst>
              <a:ext uri="{FF2B5EF4-FFF2-40B4-BE49-F238E27FC236}">
                <a16:creationId xmlns:a16="http://schemas.microsoft.com/office/drawing/2014/main" id="{C4648CB0-F97D-4247-AB75-01A9ED5486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67" r="34725" b="-1"/>
          <a:stretch/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031EF-F958-CC4E-A778-91198065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927" y="1410942"/>
            <a:ext cx="6083397" cy="4500280"/>
          </a:xfrm>
        </p:spPr>
        <p:txBody>
          <a:bodyPr>
            <a:normAutofit/>
          </a:bodyPr>
          <a:lstStyle/>
          <a:p>
            <a:r>
              <a:rPr lang="en-US" sz="2400" dirty="0"/>
              <a:t>This requires an abundant supply of disease-free cells of specific types. </a:t>
            </a:r>
          </a:p>
          <a:p>
            <a:r>
              <a:rPr lang="en-US" sz="2400" dirty="0"/>
              <a:t>These cells also need to be induced on a scaffold of natural or synthetic material to produce 3-D tissues. </a:t>
            </a:r>
          </a:p>
          <a:p>
            <a:r>
              <a:rPr lang="en-US" sz="2400" dirty="0"/>
              <a:t>These scaffolds serve as a template for tissue growth and need to have high pore sizes that enable cells to grow while at the same time allow for diffusion of nutrients throughout the whole structure.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9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picture containing cup, indoor, food, beverage&#10;&#10;Description automatically generated">
            <a:extLst>
              <a:ext uri="{FF2B5EF4-FFF2-40B4-BE49-F238E27FC236}">
                <a16:creationId xmlns:a16="http://schemas.microsoft.com/office/drawing/2014/main" id="{ABD19487-6DFC-DF45-8EB0-4A3C58B1CD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05" r="14170" b="-1"/>
          <a:stretch/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6788F-86B9-734A-BD7B-E71905DBD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EFFFF"/>
                </a:solidFill>
              </a:rPr>
              <a:t>Tissue Engineering: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372F5-732B-7149-9BFF-1BD37F892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2062" y="1566333"/>
            <a:ext cx="4609937" cy="4309151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These scaffolds need to be biodegradable so that they can be absorbed by the tissues and not need to be surgically removed.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rate that the scaffold degrades needs to match the rate of tissue formation.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is so the scaffold can provide support whilst cell matrices are being established. </a:t>
            </a:r>
          </a:p>
        </p:txBody>
      </p:sp>
    </p:spTree>
    <p:extLst>
      <p:ext uri="{BB962C8B-B14F-4D97-AF65-F5344CB8AC3E}">
        <p14:creationId xmlns:p14="http://schemas.microsoft.com/office/powerpoint/2010/main" val="2584114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68B983-07AF-8C41-B6A9-670AA914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51" y="290500"/>
            <a:ext cx="5055543" cy="1259894"/>
          </a:xfrm>
        </p:spPr>
        <p:txBody>
          <a:bodyPr>
            <a:normAutofit/>
          </a:bodyPr>
          <a:lstStyle/>
          <a:p>
            <a:r>
              <a:rPr lang="en-US" dirty="0"/>
              <a:t>Tissue Engineering: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EB2C1-BB75-6D4F-8811-DE743E59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088268"/>
            <a:ext cx="5471687" cy="445553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Once the scaffold has been devised- the most suitable stem cells need to be cultured.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These are seeded onto the scaffold which then enables further cell growth and proliferation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This cell-covered scaffold is then implanted into the patient at the site where new tissue is required.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As the cells continue to grow and divide, the scaffold breaks down, in some cases, to be absorbed. </a:t>
            </a:r>
          </a:p>
          <a:p>
            <a:pPr>
              <a:lnSpc>
                <a:spcPct val="90000"/>
              </a:lnSpc>
            </a:pPr>
            <a:endParaRPr lang="en-US" sz="1500" dirty="0"/>
          </a:p>
          <a:p>
            <a:pPr>
              <a:lnSpc>
                <a:spcPct val="90000"/>
              </a:lnSpc>
            </a:pPr>
            <a:endParaRPr lang="en-US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55E31E-E592-0944-8D20-6B4094B8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303" y="1275053"/>
            <a:ext cx="6295697" cy="4081963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67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43FC4B3D-B5DF-1942-8903-BE9464DFD0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56" r="12909"/>
          <a:stretch/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C19BD-262B-DD46-A27F-AED35AA82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EFFFF"/>
                </a:solidFill>
              </a:rPr>
              <a:t>Tissue Engineering: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7D552-7265-6645-B86A-E6FF28E2E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Such engineering techniques are currently being used to develop bone, skin, cartilage and adipose tissue. </a:t>
            </a:r>
          </a:p>
        </p:txBody>
      </p:sp>
    </p:spTree>
    <p:extLst>
      <p:ext uri="{BB962C8B-B14F-4D97-AF65-F5344CB8AC3E}">
        <p14:creationId xmlns:p14="http://schemas.microsoft.com/office/powerpoint/2010/main" val="360432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D87A-0DF5-F34D-98FF-93155340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wait there is more: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E8941-F47C-1541-A33E-30BE43FDE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https://jeopardylabs.com/play/have-you-been-paying-attention-19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95118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Macintosh PowerPoint</Application>
  <PresentationFormat>Widescreen</PresentationFormat>
  <Paragraphs>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Gene Therapy</vt:lpstr>
      <vt:lpstr>What is Gene Therapy? </vt:lpstr>
      <vt:lpstr>Cystic Fibrosis- A Case Study</vt:lpstr>
      <vt:lpstr>Cystic Fibrosis:</vt:lpstr>
      <vt:lpstr>Cystic Fibrosis</vt:lpstr>
      <vt:lpstr>Cystic Fibrosis- Gene Therapy</vt:lpstr>
      <vt:lpstr>Cystic Fibrosis- Gene Therapy</vt:lpstr>
      <vt:lpstr>Cystic Fibrosis- Gene Therapy</vt:lpstr>
      <vt:lpstr>Huntington’s Disease- A Case Study</vt:lpstr>
      <vt:lpstr>Huntington’s Disease: </vt:lpstr>
      <vt:lpstr>Huntington’s Disease- Gene Therapy</vt:lpstr>
      <vt:lpstr>Cell Replacement Therapy</vt:lpstr>
      <vt:lpstr>Cell Replacement Therapy</vt:lpstr>
      <vt:lpstr>Tissue Engineering</vt:lpstr>
      <vt:lpstr>Tissue Engineering</vt:lpstr>
      <vt:lpstr>Tissue Engineering: </vt:lpstr>
      <vt:lpstr>Tissue Engineering: </vt:lpstr>
      <vt:lpstr>Tissue Engineering: </vt:lpstr>
      <vt:lpstr>But wait there is more: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 Therapy</dc:title>
  <dc:creator>Jordan Phillips</dc:creator>
  <cp:lastModifiedBy>Jordan Phillips</cp:lastModifiedBy>
  <cp:revision>2</cp:revision>
  <dcterms:created xsi:type="dcterms:W3CDTF">2021-06-24T06:38:42Z</dcterms:created>
  <dcterms:modified xsi:type="dcterms:W3CDTF">2021-06-24T12:52:42Z</dcterms:modified>
</cp:coreProperties>
</file>
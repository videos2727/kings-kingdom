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8" r:id="rId3"/>
    <p:sldId id="322" r:id="rId4"/>
    <p:sldId id="321" r:id="rId5"/>
    <p:sldId id="324" r:id="rId6"/>
    <p:sldId id="325" r:id="rId7"/>
    <p:sldId id="335" r:id="rId8"/>
    <p:sldId id="326" r:id="rId9"/>
    <p:sldId id="333" r:id="rId10"/>
    <p:sldId id="329" r:id="rId11"/>
    <p:sldId id="334" r:id="rId12"/>
    <p:sldId id="332" r:id="rId13"/>
    <p:sldId id="330" r:id="rId14"/>
    <p:sldId id="328" r:id="rId15"/>
    <p:sldId id="336" r:id="rId16"/>
    <p:sldId id="337"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83" autoAdjust="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16D9512-C607-479D-9091-7AFC62A6F268}" type="datetimeFigureOut">
              <a:rPr lang="en-AU" smtClean="0"/>
              <a:t>14/06/2021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BC5F8F-1D81-4F44-BB53-0D7347ABA7C5}" type="slidenum">
              <a:rPr lang="en-AU" smtClean="0"/>
              <a:t>‹#›</a:t>
            </a:fld>
            <a:endParaRPr lang="en-AU"/>
          </a:p>
        </p:txBody>
      </p:sp>
    </p:spTree>
    <p:extLst>
      <p:ext uri="{BB962C8B-B14F-4D97-AF65-F5344CB8AC3E}">
        <p14:creationId xmlns:p14="http://schemas.microsoft.com/office/powerpoint/2010/main" val="4012645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2BC5F8F-1D81-4F44-BB53-0D7347ABA7C5}" type="slidenum">
              <a:rPr lang="en-AU" smtClean="0"/>
              <a:t>4</a:t>
            </a:fld>
            <a:endParaRPr lang="en-AU"/>
          </a:p>
        </p:txBody>
      </p:sp>
    </p:spTree>
    <p:extLst>
      <p:ext uri="{BB962C8B-B14F-4D97-AF65-F5344CB8AC3E}">
        <p14:creationId xmlns:p14="http://schemas.microsoft.com/office/powerpoint/2010/main" val="2075898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https://www.diabetesqld.org.au/media-centre/2018/january/could-gene-therapy-one-day-cure-type-1-diabetes.aspx</a:t>
            </a:r>
          </a:p>
          <a:p>
            <a:r>
              <a:rPr lang="en-AU" dirty="0"/>
              <a:t>https://www.medicalnewstoday.com/articles/317343.php</a:t>
            </a:r>
          </a:p>
        </p:txBody>
      </p:sp>
      <p:sp>
        <p:nvSpPr>
          <p:cNvPr id="4" name="Slide Number Placeholder 3"/>
          <p:cNvSpPr>
            <a:spLocks noGrp="1"/>
          </p:cNvSpPr>
          <p:nvPr>
            <p:ph type="sldNum" sz="quarter" idx="10"/>
          </p:nvPr>
        </p:nvSpPr>
        <p:spPr/>
        <p:txBody>
          <a:bodyPr/>
          <a:lstStyle/>
          <a:p>
            <a:fld id="{D2BC5F8F-1D81-4F44-BB53-0D7347ABA7C5}" type="slidenum">
              <a:rPr lang="en-AU" smtClean="0"/>
              <a:t>7</a:t>
            </a:fld>
            <a:endParaRPr lang="en-AU"/>
          </a:p>
        </p:txBody>
      </p:sp>
    </p:spTree>
    <p:extLst>
      <p:ext uri="{BB962C8B-B14F-4D97-AF65-F5344CB8AC3E}">
        <p14:creationId xmlns:p14="http://schemas.microsoft.com/office/powerpoint/2010/main" val="3661331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pitchFamily="-107" charset="-128"/>
              </a:defRPr>
            </a:lvl1pPr>
            <a:lvl2pPr marL="37931725" indent="-37474525" eaLnBrk="0" hangingPunct="0">
              <a:defRPr sz="2400">
                <a:solidFill>
                  <a:schemeClr val="tx1"/>
                </a:solidFill>
                <a:latin typeface="Arial" charset="0"/>
                <a:ea typeface="ＭＳ Ｐゴシック" pitchFamily="-107" charset="-128"/>
              </a:defRPr>
            </a:lvl2pPr>
            <a:lvl3pPr eaLnBrk="0" hangingPunct="0">
              <a:defRPr sz="2400">
                <a:solidFill>
                  <a:schemeClr val="tx1"/>
                </a:solidFill>
                <a:latin typeface="Arial" charset="0"/>
                <a:ea typeface="ＭＳ Ｐゴシック" pitchFamily="-107" charset="-128"/>
              </a:defRPr>
            </a:lvl3pPr>
            <a:lvl4pPr eaLnBrk="0" hangingPunct="0">
              <a:defRPr sz="2400">
                <a:solidFill>
                  <a:schemeClr val="tx1"/>
                </a:solidFill>
                <a:latin typeface="Arial" charset="0"/>
                <a:ea typeface="ＭＳ Ｐゴシック" pitchFamily="-107" charset="-128"/>
              </a:defRPr>
            </a:lvl4pPr>
            <a:lvl5pPr eaLnBrk="0" hangingPunct="0">
              <a:defRPr sz="2400">
                <a:solidFill>
                  <a:schemeClr val="tx1"/>
                </a:solidFill>
                <a:latin typeface="Arial" charset="0"/>
                <a:ea typeface="ＭＳ Ｐゴシック" pitchFamily="-107" charset="-128"/>
              </a:defRPr>
            </a:lvl5pPr>
            <a:lvl6pPr marL="457200" eaLnBrk="0" fontAlgn="base" hangingPunct="0">
              <a:spcBef>
                <a:spcPct val="0"/>
              </a:spcBef>
              <a:spcAft>
                <a:spcPct val="0"/>
              </a:spcAft>
              <a:defRPr sz="2400">
                <a:solidFill>
                  <a:schemeClr val="tx1"/>
                </a:solidFill>
                <a:latin typeface="Arial" charset="0"/>
                <a:ea typeface="ＭＳ Ｐゴシック" pitchFamily="-107" charset="-128"/>
              </a:defRPr>
            </a:lvl6pPr>
            <a:lvl7pPr marL="914400" eaLnBrk="0" fontAlgn="base" hangingPunct="0">
              <a:spcBef>
                <a:spcPct val="0"/>
              </a:spcBef>
              <a:spcAft>
                <a:spcPct val="0"/>
              </a:spcAft>
              <a:defRPr sz="2400">
                <a:solidFill>
                  <a:schemeClr val="tx1"/>
                </a:solidFill>
                <a:latin typeface="Arial" charset="0"/>
                <a:ea typeface="ＭＳ Ｐゴシック" pitchFamily="-107" charset="-128"/>
              </a:defRPr>
            </a:lvl7pPr>
            <a:lvl8pPr marL="1371600" eaLnBrk="0" fontAlgn="base" hangingPunct="0">
              <a:spcBef>
                <a:spcPct val="0"/>
              </a:spcBef>
              <a:spcAft>
                <a:spcPct val="0"/>
              </a:spcAft>
              <a:defRPr sz="2400">
                <a:solidFill>
                  <a:schemeClr val="tx1"/>
                </a:solidFill>
                <a:latin typeface="Arial" charset="0"/>
                <a:ea typeface="ＭＳ Ｐゴシック" pitchFamily="-107" charset="-128"/>
              </a:defRPr>
            </a:lvl8pPr>
            <a:lvl9pPr marL="1828800" eaLnBrk="0" fontAlgn="base" hangingPunct="0">
              <a:spcBef>
                <a:spcPct val="0"/>
              </a:spcBef>
              <a:spcAft>
                <a:spcPct val="0"/>
              </a:spcAft>
              <a:defRPr sz="2400">
                <a:solidFill>
                  <a:schemeClr val="tx1"/>
                </a:solidFill>
                <a:latin typeface="Arial" charset="0"/>
                <a:ea typeface="ＭＳ Ｐゴシック" pitchFamily="-107" charset="-128"/>
              </a:defRPr>
            </a:lvl9pPr>
          </a:lstStyle>
          <a:p>
            <a:pPr eaLnBrk="1" hangingPunct="1"/>
            <a:fld id="{3D15F3DE-AE92-4163-AB6A-CCBFE0981099}" type="slidenum">
              <a:rPr lang="en-US" altLang="en-US" sz="1200"/>
              <a:pPr eaLnBrk="1" hangingPunct="1"/>
              <a:t>11</a:t>
            </a:fld>
            <a:endParaRPr lang="en-US" altLang="en-US" sz="120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AU" altLang="en-US">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72D987-F769-4FBA-90D4-E4010B051761}" type="datetimeFigureOut">
              <a:rPr lang="en-AU" smtClean="0"/>
              <a:t>14/06/2021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72D987-F769-4FBA-90D4-E4010B051761}" type="datetimeFigureOut">
              <a:rPr lang="en-AU" smtClean="0"/>
              <a:t>14/06/2021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72D987-F769-4FBA-90D4-E4010B051761}" type="datetimeFigureOut">
              <a:rPr lang="en-AU" smtClean="0"/>
              <a:t>14/06/2021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2D987-F769-4FBA-90D4-E4010B051761}" type="datetimeFigureOut">
              <a:rPr lang="en-AU" smtClean="0"/>
              <a:t>14/06/2021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072D987-F769-4FBA-90D4-E4010B051761}" type="datetimeFigureOut">
              <a:rPr lang="en-AU" smtClean="0"/>
              <a:t>14/06/2021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72D987-F769-4FBA-90D4-E4010B051761}" type="datetimeFigureOut">
              <a:rPr lang="en-AU" smtClean="0"/>
              <a:t>14/06/2021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72D987-F769-4FBA-90D4-E4010B051761}" type="datetimeFigureOut">
              <a:rPr lang="en-AU" smtClean="0"/>
              <a:t>14/06/2021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F33971A-AB81-42CD-86E9-32844290D5A4}" type="slidenum">
              <a:rPr lang="en-AU" smtClean="0"/>
              <a:t>‹#›</a:t>
            </a:fld>
            <a:endParaRPr lang="en-AU"/>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072D987-F769-4FBA-90D4-E4010B051761}" type="datetimeFigureOut">
              <a:rPr lang="en-AU" smtClean="0"/>
              <a:t>14/06/2021</a:t>
            </a:fld>
            <a:endParaRPr lang="en-AU"/>
          </a:p>
        </p:txBody>
      </p:sp>
      <p:sp>
        <p:nvSpPr>
          <p:cNvPr id="9" name="Slide Number Placeholder 8"/>
          <p:cNvSpPr>
            <a:spLocks noGrp="1"/>
          </p:cNvSpPr>
          <p:nvPr>
            <p:ph type="sldNum" sz="quarter" idx="11"/>
          </p:nvPr>
        </p:nvSpPr>
        <p:spPr/>
        <p:txBody>
          <a:bodyPr/>
          <a:lstStyle/>
          <a:p>
            <a:fld id="{3F33971A-AB81-42CD-86E9-32844290D5A4}" type="slidenum">
              <a:rPr lang="en-AU" smtClean="0"/>
              <a:t>‹#›</a:t>
            </a:fld>
            <a:endParaRPr lang="en-AU"/>
          </a:p>
        </p:txBody>
      </p:sp>
      <p:sp>
        <p:nvSpPr>
          <p:cNvPr id="10" name="Footer Placeholder 9"/>
          <p:cNvSpPr>
            <a:spLocks noGrp="1"/>
          </p:cNvSpPr>
          <p:nvPr>
            <p:ph type="ftr" sz="quarter" idx="12"/>
          </p:nvPr>
        </p:nvSpPr>
        <p:spPr/>
        <p:txBody>
          <a:bodyPr/>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72D987-F769-4FBA-90D4-E4010B051761}" type="datetimeFigureOut">
              <a:rPr lang="en-AU" smtClean="0"/>
              <a:t>14/06/2021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F33971A-AB81-42CD-86E9-32844290D5A4}"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3F33971A-AB81-42CD-86E9-32844290D5A4}" type="slidenum">
              <a:rPr lang="en-AU" smtClean="0"/>
              <a:t>‹#›</a:t>
            </a:fld>
            <a:endParaRPr lang="en-AU"/>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AU"/>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072D987-F769-4FBA-90D4-E4010B051761}" type="datetimeFigureOut">
              <a:rPr lang="en-AU" smtClean="0"/>
              <a:t>14/06/2021</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hyperlink" Target="https://www.popsci.com.au/science/medicine/scientists-grow-fullsized-working-human-hearts-from-stem-cells,417050"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1844824"/>
            <a:ext cx="8352928" cy="2654151"/>
          </a:xfrm>
        </p:spPr>
        <p:txBody>
          <a:bodyPr/>
          <a:lstStyle/>
          <a:p>
            <a:r>
              <a:rPr lang="en-AU" dirty="0"/>
              <a:t>Biotechnology</a:t>
            </a:r>
            <a:br>
              <a:rPr lang="en-AU" dirty="0"/>
            </a:br>
            <a:r>
              <a:rPr lang="en-AU" sz="4000" dirty="0"/>
              <a:t>-Gene and Cell Replacement Therapy</a:t>
            </a:r>
          </a:p>
        </p:txBody>
      </p:sp>
      <p:sp>
        <p:nvSpPr>
          <p:cNvPr id="5" name="Subtitle 4">
            <a:extLst>
              <a:ext uri="{FF2B5EF4-FFF2-40B4-BE49-F238E27FC236}">
                <a16:creationId xmlns:a16="http://schemas.microsoft.com/office/drawing/2014/main" id="{02C4218B-8DA2-4CBA-9F4F-5DDDECDF6A71}"/>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357594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we doing today?</a:t>
            </a:r>
          </a:p>
        </p:txBody>
      </p:sp>
      <p:sp>
        <p:nvSpPr>
          <p:cNvPr id="3" name="Content Placeholder 2"/>
          <p:cNvSpPr>
            <a:spLocks noGrp="1"/>
          </p:cNvSpPr>
          <p:nvPr>
            <p:ph idx="1"/>
          </p:nvPr>
        </p:nvSpPr>
        <p:spPr/>
        <p:txBody>
          <a:bodyPr>
            <a:normAutofit/>
          </a:bodyPr>
          <a:lstStyle/>
          <a:p>
            <a:pPr lvl="0"/>
            <a:r>
              <a:rPr lang="en-AU" dirty="0"/>
              <a:t>Gene therapy can be used to treat a range of diseases, including diabetes mellitus (SHE)</a:t>
            </a:r>
          </a:p>
          <a:p>
            <a:pPr lvl="0"/>
            <a:r>
              <a:rPr lang="en-AU" dirty="0"/>
              <a:t>Cell replacement therapy has the potential to treat nervous system disorders including Alzheimer’s and Parkinson’s diseases (SHE)</a:t>
            </a:r>
          </a:p>
          <a:p>
            <a:pPr lvl="0"/>
            <a:endParaRPr lang="en-GB" dirty="0"/>
          </a:p>
          <a:p>
            <a:endParaRPr lang="en-AU" dirty="0"/>
          </a:p>
          <a:p>
            <a:endParaRPr lang="en-AU" dirty="0"/>
          </a:p>
          <a:p>
            <a:endParaRPr lang="en-AU" dirty="0"/>
          </a:p>
          <a:p>
            <a:pPr lvl="1"/>
            <a:endParaRPr lang="en-AU" dirty="0"/>
          </a:p>
        </p:txBody>
      </p:sp>
    </p:spTree>
    <p:extLst>
      <p:ext uri="{BB962C8B-B14F-4D97-AF65-F5344CB8AC3E}">
        <p14:creationId xmlns:p14="http://schemas.microsoft.com/office/powerpoint/2010/main" val="149131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Gene Therapy</a:t>
            </a:r>
          </a:p>
        </p:txBody>
      </p:sp>
      <p:sp>
        <p:nvSpPr>
          <p:cNvPr id="3" name="Content Placeholder 2"/>
          <p:cNvSpPr>
            <a:spLocks noGrp="1"/>
          </p:cNvSpPr>
          <p:nvPr>
            <p:ph idx="1"/>
          </p:nvPr>
        </p:nvSpPr>
        <p:spPr>
          <a:xfrm>
            <a:off x="219447" y="2204864"/>
            <a:ext cx="7620000" cy="4800600"/>
          </a:xfrm>
        </p:spPr>
        <p:txBody>
          <a:bodyPr/>
          <a:lstStyle/>
          <a:p>
            <a:r>
              <a:rPr lang="en-AU" dirty="0"/>
              <a:t>Gene therapy is when DNA is introduced into a patient to treat a genetic disease. The new DNA usually contains a functioning gene to correct the effects of a disease-causing mutation.</a:t>
            </a:r>
          </a:p>
          <a:p>
            <a:endParaRPr lang="en-AU" dirty="0"/>
          </a:p>
          <a:p>
            <a:pPr lvl="0"/>
            <a:r>
              <a:rPr lang="en-AU" dirty="0"/>
              <a:t>Gene therapy uses sections of </a:t>
            </a:r>
            <a:r>
              <a:rPr lang="en-AU" u="sng" dirty="0"/>
              <a:t>DNA</a:t>
            </a:r>
            <a:r>
              <a:rPr lang="en-AU" u="sng" baseline="30000" dirty="0"/>
              <a:t> </a:t>
            </a:r>
            <a:r>
              <a:rPr lang="en-AU" dirty="0"/>
              <a:t>(usually </a:t>
            </a:r>
            <a:r>
              <a:rPr lang="en-AU" u="sng" dirty="0"/>
              <a:t>genes</a:t>
            </a:r>
            <a:r>
              <a:rPr lang="en-AU" dirty="0"/>
              <a:t>) to treat or prevent disease.</a:t>
            </a:r>
          </a:p>
          <a:p>
            <a:pPr lvl="0"/>
            <a:r>
              <a:rPr lang="en-AU" dirty="0"/>
              <a:t>The DNA is carefully selected to correct the effect of a mutated gene that is causing disease.</a:t>
            </a:r>
          </a:p>
          <a:p>
            <a:r>
              <a:rPr lang="en-AU" dirty="0"/>
              <a:t>The technique was first developed in 1972 but has, so far, had limited success in treating human diseases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332656"/>
            <a:ext cx="2619375" cy="1743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8487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a:xfrm>
            <a:off x="95757" y="1353358"/>
            <a:ext cx="5219700" cy="4733925"/>
          </a:xfrm>
        </p:spPr>
        <p:txBody>
          <a:bodyPr>
            <a:normAutofit/>
          </a:bodyPr>
          <a:lstStyle/>
          <a:p>
            <a:r>
              <a:rPr lang="en-AU" altLang="ko-KR" sz="1800" dirty="0">
                <a:ea typeface="굴림" charset="-127"/>
              </a:rPr>
              <a:t>Somatic gene therapy: transfer of a section of DNA to any cell of the body that doesn’t produce sperm or eggs. Effects of gene therapy will not be passed onto the patient’s children.</a:t>
            </a:r>
          </a:p>
          <a:p>
            <a:endParaRPr lang="en-AU" altLang="ko-KR" sz="1800" dirty="0">
              <a:ea typeface="굴림" charset="-127"/>
            </a:endParaRPr>
          </a:p>
          <a:p>
            <a:r>
              <a:rPr lang="en-AU" altLang="ko-KR" sz="1800" dirty="0">
                <a:ea typeface="굴림" charset="-127"/>
              </a:rPr>
              <a:t>Germline gene therapy: transfer of a section of DNA to cells that produce eggs or sperm. Effects of gene therapy will be passed onto the patient’s children and subsequent generations.</a:t>
            </a:r>
          </a:p>
          <a:p>
            <a:pPr eaLnBrk="1" hangingPunct="1"/>
            <a:endParaRPr lang="en-US" altLang="ko-KR" sz="1800" dirty="0">
              <a:ea typeface="굴림" charset="-127"/>
            </a:endParaRPr>
          </a:p>
        </p:txBody>
      </p:sp>
      <p:sp>
        <p:nvSpPr>
          <p:cNvPr id="24580" name="Rectangle 4"/>
          <p:cNvSpPr>
            <a:spLocks noGrp="1" noChangeArrowheads="1"/>
          </p:cNvSpPr>
          <p:nvPr>
            <p:ph type="title"/>
          </p:nvPr>
        </p:nvSpPr>
        <p:spPr>
          <a:xfrm>
            <a:off x="251520" y="260648"/>
            <a:ext cx="8610600" cy="914400"/>
          </a:xfrm>
        </p:spPr>
        <p:txBody>
          <a:bodyPr/>
          <a:lstStyle/>
          <a:p>
            <a:pPr marL="1082675" indent="-1082675" eaLnBrk="1" hangingPunct="1"/>
            <a:r>
              <a:rPr lang="en-US" altLang="ko-KR" dirty="0">
                <a:ea typeface="굴림" charset="-127"/>
              </a:rPr>
              <a:t>How does it work?</a:t>
            </a:r>
            <a:endParaRPr lang="en-US" altLang="ko-KR" b="0" dirty="0">
              <a:solidFill>
                <a:schemeClr val="tx1"/>
              </a:solidFill>
              <a:ea typeface="굴림" charset="-127"/>
            </a:endParaRPr>
          </a:p>
        </p:txBody>
      </p:sp>
      <p:pic>
        <p:nvPicPr>
          <p:cNvPr id="24582" name="Picture 6" descr="12-19-GeneTherapy-NL.gif                                       00000029BiologyConcepts4eCIPL_8-15     B9599A75:"/>
          <p:cNvPicPr>
            <a:picLocks noChangeAspect="1" noChangeArrowheads="1"/>
          </p:cNvPicPr>
          <p:nvPr/>
        </p:nvPicPr>
        <p:blipFill>
          <a:blip r:embed="rId3">
            <a:extLst>
              <a:ext uri="{28A0092B-C50C-407E-A947-70E740481C1C}">
                <a14:useLocalDpi xmlns:a14="http://schemas.microsoft.com/office/drawing/2010/main" val="0"/>
              </a:ext>
            </a:extLst>
          </a:blip>
          <a:srcRect t="6108" b="3246"/>
          <a:stretch>
            <a:fillRect/>
          </a:stretch>
        </p:blipFill>
        <p:spPr bwMode="auto">
          <a:xfrm>
            <a:off x="5334000" y="1377053"/>
            <a:ext cx="304165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Text Box 7"/>
          <p:cNvSpPr txBox="1">
            <a:spLocks noChangeArrowheads="1"/>
          </p:cNvSpPr>
          <p:nvPr/>
        </p:nvSpPr>
        <p:spPr bwMode="auto">
          <a:xfrm>
            <a:off x="5300663" y="1148453"/>
            <a:ext cx="21748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r>
              <a:rPr lang="en-US" altLang="en-US" sz="1200" b="1">
                <a:latin typeface="Arial" charset="0"/>
              </a:rPr>
              <a:t>Cloned gene (normal allele)</a:t>
            </a:r>
          </a:p>
        </p:txBody>
      </p:sp>
      <p:sp>
        <p:nvSpPr>
          <p:cNvPr id="24584" name="Oval 8"/>
          <p:cNvSpPr>
            <a:spLocks noChangeArrowheads="1"/>
          </p:cNvSpPr>
          <p:nvPr/>
        </p:nvSpPr>
        <p:spPr bwMode="auto">
          <a:xfrm>
            <a:off x="6934200" y="1605653"/>
            <a:ext cx="234950" cy="2365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70000"/>
              </a:lnSpc>
            </a:pPr>
            <a:endParaRPr lang="en-US" altLang="en-US"/>
          </a:p>
        </p:txBody>
      </p:sp>
      <p:sp>
        <p:nvSpPr>
          <p:cNvPr id="24585" name="Text Box 9"/>
          <p:cNvSpPr txBox="1">
            <a:spLocks noChangeArrowheads="1"/>
          </p:cNvSpPr>
          <p:nvPr/>
        </p:nvSpPr>
        <p:spPr bwMode="auto">
          <a:xfrm>
            <a:off x="6934200" y="1605653"/>
            <a:ext cx="23495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90000"/>
              </a:lnSpc>
            </a:pPr>
            <a:r>
              <a:rPr lang="en-US" altLang="en-US" sz="1100" b="1">
                <a:solidFill>
                  <a:schemeClr val="bg1"/>
                </a:solidFill>
                <a:latin typeface="Arial" charset="0"/>
              </a:rPr>
              <a:t>1</a:t>
            </a:r>
          </a:p>
        </p:txBody>
      </p:sp>
      <p:sp>
        <p:nvSpPr>
          <p:cNvPr id="24586" name="Text Box 10"/>
          <p:cNvSpPr txBox="1">
            <a:spLocks noChangeArrowheads="1"/>
          </p:cNvSpPr>
          <p:nvPr/>
        </p:nvSpPr>
        <p:spPr bwMode="auto">
          <a:xfrm>
            <a:off x="7119938" y="1605653"/>
            <a:ext cx="1090612"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Insert</a:t>
            </a:r>
            <a:br>
              <a:rPr lang="en-US" altLang="en-US" sz="1200" b="1">
                <a:latin typeface="Arial" charset="0"/>
              </a:rPr>
            </a:br>
            <a:r>
              <a:rPr lang="en-US" altLang="en-US" sz="1200" b="1">
                <a:latin typeface="Arial" charset="0"/>
              </a:rPr>
              <a:t>normal gene</a:t>
            </a:r>
            <a:br>
              <a:rPr lang="en-US" altLang="en-US" sz="1200" b="1">
                <a:latin typeface="Arial" charset="0"/>
              </a:rPr>
            </a:br>
            <a:r>
              <a:rPr lang="en-US" altLang="en-US" sz="1200" b="1">
                <a:latin typeface="Arial" charset="0"/>
              </a:rPr>
              <a:t>into virus</a:t>
            </a:r>
          </a:p>
        </p:txBody>
      </p:sp>
      <p:sp>
        <p:nvSpPr>
          <p:cNvPr id="24587" name="Text Box 11"/>
          <p:cNvSpPr txBox="1">
            <a:spLocks noChangeArrowheads="1"/>
          </p:cNvSpPr>
          <p:nvPr/>
        </p:nvSpPr>
        <p:spPr bwMode="auto">
          <a:xfrm>
            <a:off x="7070725" y="2291453"/>
            <a:ext cx="1082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Viral nucleic</a:t>
            </a:r>
            <a:br>
              <a:rPr lang="en-US" altLang="en-US" sz="1200" b="1">
                <a:latin typeface="Arial" charset="0"/>
              </a:rPr>
            </a:br>
            <a:r>
              <a:rPr lang="en-US" altLang="en-US" sz="1200" b="1">
                <a:latin typeface="Arial" charset="0"/>
              </a:rPr>
              <a:t>acid</a:t>
            </a:r>
          </a:p>
        </p:txBody>
      </p:sp>
      <p:sp>
        <p:nvSpPr>
          <p:cNvPr id="24588" name="Text Box 12"/>
          <p:cNvSpPr txBox="1">
            <a:spLocks noChangeArrowheads="1"/>
          </p:cNvSpPr>
          <p:nvPr/>
        </p:nvSpPr>
        <p:spPr bwMode="auto">
          <a:xfrm>
            <a:off x="7070725" y="2748653"/>
            <a:ext cx="9461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Retrovirus</a:t>
            </a:r>
          </a:p>
        </p:txBody>
      </p:sp>
      <p:sp>
        <p:nvSpPr>
          <p:cNvPr id="24589" name="Oval 13"/>
          <p:cNvSpPr>
            <a:spLocks noChangeArrowheads="1"/>
          </p:cNvSpPr>
          <p:nvPr/>
        </p:nvSpPr>
        <p:spPr bwMode="auto">
          <a:xfrm>
            <a:off x="6937375" y="3205853"/>
            <a:ext cx="234950" cy="2365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70000"/>
              </a:lnSpc>
            </a:pPr>
            <a:endParaRPr lang="en-US" altLang="en-US"/>
          </a:p>
        </p:txBody>
      </p:sp>
      <p:sp>
        <p:nvSpPr>
          <p:cNvPr id="24590" name="Text Box 14"/>
          <p:cNvSpPr txBox="1">
            <a:spLocks noChangeArrowheads="1"/>
          </p:cNvSpPr>
          <p:nvPr/>
        </p:nvSpPr>
        <p:spPr bwMode="auto">
          <a:xfrm>
            <a:off x="6937375" y="3205853"/>
            <a:ext cx="23495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90000"/>
              </a:lnSpc>
            </a:pPr>
            <a:r>
              <a:rPr lang="en-US" altLang="en-US" sz="1100" b="1">
                <a:solidFill>
                  <a:schemeClr val="bg1"/>
                </a:solidFill>
                <a:latin typeface="Arial" charset="0"/>
              </a:rPr>
              <a:t>2</a:t>
            </a:r>
          </a:p>
        </p:txBody>
      </p:sp>
      <p:sp>
        <p:nvSpPr>
          <p:cNvPr id="24591" name="Text Box 15"/>
          <p:cNvSpPr txBox="1">
            <a:spLocks noChangeArrowheads="1"/>
          </p:cNvSpPr>
          <p:nvPr/>
        </p:nvSpPr>
        <p:spPr bwMode="auto">
          <a:xfrm>
            <a:off x="7123113" y="3205853"/>
            <a:ext cx="1031875"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Infect bone</a:t>
            </a:r>
            <a:br>
              <a:rPr lang="en-US" altLang="en-US" sz="1200" b="1">
                <a:latin typeface="Arial" charset="0"/>
              </a:rPr>
            </a:br>
            <a:r>
              <a:rPr lang="en-US" altLang="en-US" sz="1200" b="1">
                <a:latin typeface="Arial" charset="0"/>
              </a:rPr>
              <a:t>marrow cell</a:t>
            </a:r>
            <a:br>
              <a:rPr lang="en-US" altLang="en-US" sz="1200" b="1">
                <a:latin typeface="Arial" charset="0"/>
              </a:rPr>
            </a:br>
            <a:r>
              <a:rPr lang="en-US" altLang="en-US" sz="1200" b="1">
                <a:latin typeface="Arial" charset="0"/>
              </a:rPr>
              <a:t>with virus</a:t>
            </a:r>
          </a:p>
        </p:txBody>
      </p:sp>
      <p:sp>
        <p:nvSpPr>
          <p:cNvPr id="24592" name="Oval 16"/>
          <p:cNvSpPr>
            <a:spLocks noChangeArrowheads="1"/>
          </p:cNvSpPr>
          <p:nvPr/>
        </p:nvSpPr>
        <p:spPr bwMode="auto">
          <a:xfrm>
            <a:off x="6934200" y="4044053"/>
            <a:ext cx="234950" cy="2365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70000"/>
              </a:lnSpc>
            </a:pPr>
            <a:endParaRPr lang="en-US" altLang="en-US"/>
          </a:p>
        </p:txBody>
      </p:sp>
      <p:sp>
        <p:nvSpPr>
          <p:cNvPr id="24593" name="Text Box 17"/>
          <p:cNvSpPr txBox="1">
            <a:spLocks noChangeArrowheads="1"/>
          </p:cNvSpPr>
          <p:nvPr/>
        </p:nvSpPr>
        <p:spPr bwMode="auto">
          <a:xfrm>
            <a:off x="6934200" y="4044053"/>
            <a:ext cx="23495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90000"/>
              </a:lnSpc>
            </a:pPr>
            <a:r>
              <a:rPr lang="en-US" altLang="en-US" sz="1100" b="1">
                <a:solidFill>
                  <a:schemeClr val="bg1"/>
                </a:solidFill>
                <a:latin typeface="Arial" charset="0"/>
              </a:rPr>
              <a:t>3</a:t>
            </a:r>
          </a:p>
        </p:txBody>
      </p:sp>
      <p:sp>
        <p:nvSpPr>
          <p:cNvPr id="24594" name="Text Box 18"/>
          <p:cNvSpPr txBox="1">
            <a:spLocks noChangeArrowheads="1"/>
          </p:cNvSpPr>
          <p:nvPr/>
        </p:nvSpPr>
        <p:spPr bwMode="auto">
          <a:xfrm>
            <a:off x="7119938" y="4044053"/>
            <a:ext cx="1141412"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Viral DNA</a:t>
            </a:r>
            <a:br>
              <a:rPr lang="en-US" altLang="en-US" sz="1200" b="1">
                <a:latin typeface="Arial" charset="0"/>
              </a:rPr>
            </a:br>
            <a:r>
              <a:rPr lang="en-US" altLang="en-US" sz="1200" b="1">
                <a:latin typeface="Arial" charset="0"/>
              </a:rPr>
              <a:t>inserts into</a:t>
            </a:r>
            <a:br>
              <a:rPr lang="en-US" altLang="en-US" sz="1200" b="1">
                <a:latin typeface="Arial" charset="0"/>
              </a:rPr>
            </a:br>
            <a:r>
              <a:rPr lang="en-US" altLang="en-US" sz="1200" b="1">
                <a:latin typeface="Arial" charset="0"/>
              </a:rPr>
              <a:t>chromosome</a:t>
            </a:r>
          </a:p>
        </p:txBody>
      </p:sp>
      <p:sp>
        <p:nvSpPr>
          <p:cNvPr id="24595" name="Text Box 19"/>
          <p:cNvSpPr txBox="1">
            <a:spLocks noChangeArrowheads="1"/>
          </p:cNvSpPr>
          <p:nvPr/>
        </p:nvSpPr>
        <p:spPr bwMode="auto">
          <a:xfrm>
            <a:off x="6934200" y="4729853"/>
            <a:ext cx="1360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Bone marrow</a:t>
            </a:r>
            <a:br>
              <a:rPr lang="en-US" altLang="en-US" sz="1200" b="1">
                <a:latin typeface="Arial" charset="0"/>
              </a:rPr>
            </a:br>
            <a:r>
              <a:rPr lang="en-US" altLang="en-US" sz="1200" b="1">
                <a:latin typeface="Arial" charset="0"/>
              </a:rPr>
              <a:t>cell from patient</a:t>
            </a:r>
          </a:p>
        </p:txBody>
      </p:sp>
      <p:sp>
        <p:nvSpPr>
          <p:cNvPr id="24596" name="Line 20"/>
          <p:cNvSpPr>
            <a:spLocks noChangeShapeType="1"/>
          </p:cNvSpPr>
          <p:nvPr/>
        </p:nvSpPr>
        <p:spPr bwMode="auto">
          <a:xfrm flipH="1" flipV="1">
            <a:off x="6781800" y="4806053"/>
            <a:ext cx="152400" cy="762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AU"/>
          </a:p>
        </p:txBody>
      </p:sp>
      <p:sp>
        <p:nvSpPr>
          <p:cNvPr id="24597" name="Text Box 21"/>
          <p:cNvSpPr txBox="1">
            <a:spLocks noChangeArrowheads="1"/>
          </p:cNvSpPr>
          <p:nvPr/>
        </p:nvSpPr>
        <p:spPr bwMode="auto">
          <a:xfrm>
            <a:off x="7239000" y="5339453"/>
            <a:ext cx="735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Bone </a:t>
            </a:r>
          </a:p>
          <a:p>
            <a:pPr algn="l"/>
            <a:r>
              <a:rPr lang="en-US" altLang="en-US" sz="1200" b="1">
                <a:latin typeface="Arial" charset="0"/>
              </a:rPr>
              <a:t>marrow</a:t>
            </a:r>
          </a:p>
        </p:txBody>
      </p:sp>
      <p:sp>
        <p:nvSpPr>
          <p:cNvPr id="24598" name="Line 22"/>
          <p:cNvSpPr>
            <a:spLocks noChangeShapeType="1"/>
          </p:cNvSpPr>
          <p:nvPr/>
        </p:nvSpPr>
        <p:spPr bwMode="auto">
          <a:xfrm flipH="1">
            <a:off x="7391400" y="5796653"/>
            <a:ext cx="152400" cy="1524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AU"/>
          </a:p>
        </p:txBody>
      </p:sp>
      <p:sp>
        <p:nvSpPr>
          <p:cNvPr id="24599" name="Oval 23"/>
          <p:cNvSpPr>
            <a:spLocks noChangeArrowheads="1"/>
          </p:cNvSpPr>
          <p:nvPr/>
        </p:nvSpPr>
        <p:spPr bwMode="auto">
          <a:xfrm>
            <a:off x="5562600" y="6025253"/>
            <a:ext cx="234950" cy="236538"/>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70000"/>
              </a:lnSpc>
            </a:pPr>
            <a:endParaRPr lang="en-US" altLang="en-US"/>
          </a:p>
        </p:txBody>
      </p:sp>
      <p:sp>
        <p:nvSpPr>
          <p:cNvPr id="24600" name="Text Box 24"/>
          <p:cNvSpPr txBox="1">
            <a:spLocks noChangeArrowheads="1"/>
          </p:cNvSpPr>
          <p:nvPr/>
        </p:nvSpPr>
        <p:spPr bwMode="auto">
          <a:xfrm>
            <a:off x="5562600" y="6025253"/>
            <a:ext cx="23495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ctr">
              <a:lnSpc>
                <a:spcPct val="90000"/>
              </a:lnSpc>
            </a:pPr>
            <a:r>
              <a:rPr lang="en-US" altLang="en-US" sz="1100" b="1">
                <a:solidFill>
                  <a:schemeClr val="bg1"/>
                </a:solidFill>
                <a:latin typeface="Arial" charset="0"/>
              </a:rPr>
              <a:t>4</a:t>
            </a:r>
          </a:p>
        </p:txBody>
      </p:sp>
      <p:sp>
        <p:nvSpPr>
          <p:cNvPr id="24601" name="Text Box 25"/>
          <p:cNvSpPr txBox="1">
            <a:spLocks noChangeArrowheads="1"/>
          </p:cNvSpPr>
          <p:nvPr/>
        </p:nvSpPr>
        <p:spPr bwMode="auto">
          <a:xfrm>
            <a:off x="5748338" y="6025253"/>
            <a:ext cx="1004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charset="0"/>
              </a:defRPr>
            </a:lvl1pPr>
            <a:lvl2pPr marL="742950" indent="-285750">
              <a:defRPr sz="2400">
                <a:solidFill>
                  <a:schemeClr val="tx1"/>
                </a:solidFill>
                <a:latin typeface="Times New Roman" charset="0"/>
              </a:defRPr>
            </a:lvl2pPr>
            <a:lvl3pPr marL="1143000" indent="-228600">
              <a:defRPr sz="2400">
                <a:solidFill>
                  <a:schemeClr val="tx1"/>
                </a:solidFill>
                <a:latin typeface="Times New Roman" charset="0"/>
              </a:defRPr>
            </a:lvl3pPr>
            <a:lvl4pPr marL="1600200" indent="-228600">
              <a:defRPr sz="2400">
                <a:solidFill>
                  <a:schemeClr val="tx1"/>
                </a:solidFill>
                <a:latin typeface="Times New Roman" charset="0"/>
              </a:defRPr>
            </a:lvl4pPr>
            <a:lvl5pPr marL="2057400" indent="-228600">
              <a:defRPr sz="2400">
                <a:solidFill>
                  <a:schemeClr val="tx1"/>
                </a:solidFill>
                <a:latin typeface="Times New Roman" charset="0"/>
              </a:defRPr>
            </a:lvl5pPr>
            <a:lvl6pPr marL="2514600" indent="-228600" algn="r" eaLnBrk="0" fontAlgn="base" hangingPunct="0">
              <a:spcBef>
                <a:spcPct val="0"/>
              </a:spcBef>
              <a:spcAft>
                <a:spcPct val="0"/>
              </a:spcAft>
              <a:defRPr sz="2400">
                <a:solidFill>
                  <a:schemeClr val="tx1"/>
                </a:solidFill>
                <a:latin typeface="Times New Roman" charset="0"/>
              </a:defRPr>
            </a:lvl6pPr>
            <a:lvl7pPr marL="2971800" indent="-228600" algn="r" eaLnBrk="0" fontAlgn="base" hangingPunct="0">
              <a:spcBef>
                <a:spcPct val="0"/>
              </a:spcBef>
              <a:spcAft>
                <a:spcPct val="0"/>
              </a:spcAft>
              <a:defRPr sz="2400">
                <a:solidFill>
                  <a:schemeClr val="tx1"/>
                </a:solidFill>
                <a:latin typeface="Times New Roman" charset="0"/>
              </a:defRPr>
            </a:lvl7pPr>
            <a:lvl8pPr marL="3429000" indent="-228600" algn="r" eaLnBrk="0" fontAlgn="base" hangingPunct="0">
              <a:spcBef>
                <a:spcPct val="0"/>
              </a:spcBef>
              <a:spcAft>
                <a:spcPct val="0"/>
              </a:spcAft>
              <a:defRPr sz="2400">
                <a:solidFill>
                  <a:schemeClr val="tx1"/>
                </a:solidFill>
                <a:latin typeface="Times New Roman" charset="0"/>
              </a:defRPr>
            </a:lvl8pPr>
            <a:lvl9pPr marL="3886200" indent="-228600" algn="r" eaLnBrk="0" fontAlgn="base" hangingPunct="0">
              <a:spcBef>
                <a:spcPct val="0"/>
              </a:spcBef>
              <a:spcAft>
                <a:spcPct val="0"/>
              </a:spcAft>
              <a:defRPr sz="2400">
                <a:solidFill>
                  <a:schemeClr val="tx1"/>
                </a:solidFill>
                <a:latin typeface="Times New Roman" charset="0"/>
              </a:defRPr>
            </a:lvl9pPr>
          </a:lstStyle>
          <a:p>
            <a:pPr algn="l"/>
            <a:r>
              <a:rPr lang="en-US" altLang="en-US" sz="1200" b="1">
                <a:latin typeface="Arial" charset="0"/>
              </a:rPr>
              <a:t>Inject cells</a:t>
            </a:r>
            <a:br>
              <a:rPr lang="en-US" altLang="en-US" sz="1200" b="1">
                <a:latin typeface="Arial" charset="0"/>
              </a:rPr>
            </a:br>
            <a:r>
              <a:rPr lang="en-US" altLang="en-US" sz="1200" b="1">
                <a:latin typeface="Arial" charset="0"/>
              </a:rPr>
              <a:t>into patient</a:t>
            </a:r>
          </a:p>
        </p:txBody>
      </p:sp>
      <p:sp>
        <p:nvSpPr>
          <p:cNvPr id="24602" name="Line 26"/>
          <p:cNvSpPr>
            <a:spLocks noChangeShapeType="1"/>
          </p:cNvSpPr>
          <p:nvPr/>
        </p:nvSpPr>
        <p:spPr bwMode="auto">
          <a:xfrm flipH="1">
            <a:off x="6705600" y="2443853"/>
            <a:ext cx="381000" cy="1524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AU"/>
          </a:p>
        </p:txBody>
      </p:sp>
      <p:sp>
        <p:nvSpPr>
          <p:cNvPr id="24603" name="Line 27"/>
          <p:cNvSpPr>
            <a:spLocks noChangeShapeType="1"/>
          </p:cNvSpPr>
          <p:nvPr/>
        </p:nvSpPr>
        <p:spPr bwMode="auto">
          <a:xfrm flipH="1">
            <a:off x="6629400" y="2901053"/>
            <a:ext cx="457200" cy="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AU"/>
          </a:p>
        </p:txBody>
      </p:sp>
      <p:pic>
        <p:nvPicPr>
          <p:cNvPr id="512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4375" y="4280591"/>
            <a:ext cx="5411581" cy="2295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5170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4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438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Gene therapy challenges</a:t>
            </a:r>
          </a:p>
        </p:txBody>
      </p:sp>
      <p:sp>
        <p:nvSpPr>
          <p:cNvPr id="3" name="Content Placeholder 2"/>
          <p:cNvSpPr>
            <a:spLocks noGrp="1"/>
          </p:cNvSpPr>
          <p:nvPr>
            <p:ph idx="1"/>
          </p:nvPr>
        </p:nvSpPr>
        <p:spPr>
          <a:xfrm>
            <a:off x="251520" y="1385392"/>
            <a:ext cx="8136904" cy="5472608"/>
          </a:xfrm>
        </p:spPr>
        <p:txBody>
          <a:bodyPr>
            <a:normAutofit fontScale="62500" lnSpcReduction="20000"/>
          </a:bodyPr>
          <a:lstStyle/>
          <a:p>
            <a:pPr lvl="0"/>
            <a:r>
              <a:rPr lang="en-AU" sz="2600" dirty="0"/>
              <a:t>Delivering the gene to the right place and switching it on:</a:t>
            </a:r>
          </a:p>
          <a:p>
            <a:pPr lvl="1"/>
            <a:r>
              <a:rPr lang="en-AU" sz="2300" dirty="0"/>
              <a:t>it is crucial that the new gene reaches the right cell</a:t>
            </a:r>
          </a:p>
          <a:p>
            <a:pPr lvl="1"/>
            <a:r>
              <a:rPr lang="en-AU" sz="2300" dirty="0"/>
              <a:t>delivering a gene into the wrong cell would be inefficient and could also cause health problems for the patient</a:t>
            </a:r>
          </a:p>
          <a:p>
            <a:pPr lvl="1"/>
            <a:r>
              <a:rPr lang="en-AU" sz="2300" dirty="0"/>
              <a:t>once the right cell has been targeted the gene has to be turned on</a:t>
            </a:r>
          </a:p>
          <a:p>
            <a:pPr lvl="1"/>
            <a:r>
              <a:rPr lang="en-AU" sz="2300" dirty="0"/>
              <a:t>cells sometimes obstruct this process by shutting down genes that are showing unusual activity.</a:t>
            </a:r>
          </a:p>
          <a:p>
            <a:pPr lvl="0"/>
            <a:r>
              <a:rPr lang="en-AU" sz="2600" dirty="0"/>
              <a:t>Avoiding the immune response:</a:t>
            </a:r>
          </a:p>
          <a:p>
            <a:pPr lvl="1"/>
            <a:r>
              <a:rPr lang="en-AU" sz="2300" dirty="0"/>
              <a:t>The role of the immune system is to fight off intruders.</a:t>
            </a:r>
          </a:p>
          <a:p>
            <a:pPr lvl="1"/>
            <a:r>
              <a:rPr lang="en-AU" sz="2300" dirty="0"/>
              <a:t>Sometimes new genes introduced by gene therapy are considered potentially-harmful intruders.</a:t>
            </a:r>
          </a:p>
          <a:p>
            <a:pPr lvl="1"/>
            <a:r>
              <a:rPr lang="en-AU" sz="2300" dirty="0"/>
              <a:t>This can spark an immune response in the patient that could be harmful to them.</a:t>
            </a:r>
          </a:p>
          <a:p>
            <a:pPr lvl="1"/>
            <a:r>
              <a:rPr lang="en-AU" sz="2300" dirty="0"/>
              <a:t>Scientists therefore have the challenge of finding a way to deliver genes without the immune system ‘noticing’.</a:t>
            </a:r>
          </a:p>
          <a:p>
            <a:pPr lvl="1"/>
            <a:r>
              <a:rPr lang="en-AU" sz="2300" dirty="0"/>
              <a:t>This is usually by using vectors that are less likely to trigger an immune response.</a:t>
            </a:r>
          </a:p>
          <a:p>
            <a:pPr lvl="0"/>
            <a:r>
              <a:rPr lang="en-AU" sz="2600" dirty="0"/>
              <a:t>Making sure the new gene doesn’t disrupt the function of other genes:</a:t>
            </a:r>
          </a:p>
          <a:p>
            <a:pPr lvl="1"/>
            <a:r>
              <a:rPr lang="en-AU" sz="2300" dirty="0"/>
              <a:t>Ideally, a new gene introduced by gene therapy will integrate itself into the genome of the patient and continue working for the rest of their lives.</a:t>
            </a:r>
          </a:p>
          <a:p>
            <a:pPr lvl="1"/>
            <a:r>
              <a:rPr lang="en-AU" sz="2300" dirty="0"/>
              <a:t>There is a risk that the new gene will insert itself into the path of another gene, disrupting its activity. </a:t>
            </a:r>
          </a:p>
          <a:p>
            <a:pPr lvl="1"/>
            <a:r>
              <a:rPr lang="en-AU" sz="2300" dirty="0"/>
              <a:t>This could have damaging effects, for example, if it interferes with an important gene involved in regulating cell division, it could result in cancer.</a:t>
            </a:r>
          </a:p>
          <a:p>
            <a:pPr lvl="0"/>
            <a:r>
              <a:rPr lang="en-AU" sz="2600" dirty="0"/>
              <a:t>The cost of gene therapy:</a:t>
            </a:r>
          </a:p>
          <a:p>
            <a:pPr lvl="1"/>
            <a:r>
              <a:rPr lang="en-AU" sz="2300" dirty="0"/>
              <a:t>Many genetic disorders that can be targeted with gene therapy are extremely rare.</a:t>
            </a:r>
          </a:p>
          <a:p>
            <a:pPr lvl="1"/>
            <a:r>
              <a:rPr lang="en-AU" sz="2300" dirty="0"/>
              <a:t>Gene therapy therefore often requires an individual, case-by-case approach. This may be effective, but may also be very expensive.</a:t>
            </a:r>
          </a:p>
          <a:p>
            <a:endParaRPr lang="en-AU" dirty="0"/>
          </a:p>
        </p:txBody>
      </p:sp>
    </p:spTree>
    <p:extLst>
      <p:ext uri="{BB962C8B-B14F-4D97-AF65-F5344CB8AC3E}">
        <p14:creationId xmlns:p14="http://schemas.microsoft.com/office/powerpoint/2010/main" val="1018694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could we use this for?</a:t>
            </a:r>
          </a:p>
        </p:txBody>
      </p:sp>
      <p:sp>
        <p:nvSpPr>
          <p:cNvPr id="3" name="Content Placeholder 2"/>
          <p:cNvSpPr>
            <a:spLocks noGrp="1"/>
          </p:cNvSpPr>
          <p:nvPr>
            <p:ph idx="1"/>
          </p:nvPr>
        </p:nvSpPr>
        <p:spPr/>
        <p:txBody>
          <a:bodyPr/>
          <a:lstStyle/>
          <a:p>
            <a:r>
              <a:rPr lang="en-AU" dirty="0"/>
              <a:t>Cystic Fibrosis</a:t>
            </a:r>
          </a:p>
          <a:p>
            <a:pPr lvl="1"/>
            <a:r>
              <a:rPr lang="en-AU" dirty="0"/>
              <a:t>Have successfully corrected faulty gene in cultured cells</a:t>
            </a:r>
          </a:p>
          <a:p>
            <a:pPr lvl="1"/>
            <a:r>
              <a:rPr lang="en-AU" dirty="0"/>
              <a:t>Trials for methods of gene transfer into patients are occurring.</a:t>
            </a:r>
          </a:p>
          <a:p>
            <a:pPr lvl="1"/>
            <a:r>
              <a:rPr lang="en-AU" dirty="0"/>
              <a:t>Have not been able to replace enough genes for any long lasting benefit in patient.</a:t>
            </a:r>
            <a:br>
              <a:rPr lang="en-AU" dirty="0"/>
            </a:br>
            <a:endParaRPr lang="en-AU" dirty="0"/>
          </a:p>
          <a:p>
            <a:r>
              <a:rPr lang="en-AU" dirty="0"/>
              <a:t>Huntington’s Disease</a:t>
            </a:r>
          </a:p>
          <a:p>
            <a:pPr lvl="1"/>
            <a:r>
              <a:rPr lang="en-AU" dirty="0"/>
              <a:t>Have conducted successful research with mice.</a:t>
            </a:r>
          </a:p>
          <a:p>
            <a:pPr lvl="1"/>
            <a:r>
              <a:rPr lang="en-AU" dirty="0"/>
              <a:t>Have also been able to transfer genes in rats and primates which is encouraging human trials. </a:t>
            </a:r>
          </a:p>
        </p:txBody>
      </p:sp>
    </p:spTree>
    <p:extLst>
      <p:ext uri="{BB962C8B-B14F-4D97-AF65-F5344CB8AC3E}">
        <p14:creationId xmlns:p14="http://schemas.microsoft.com/office/powerpoint/2010/main" val="3593272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902" y="404664"/>
            <a:ext cx="7620000" cy="1143000"/>
          </a:xfrm>
        </p:spPr>
        <p:txBody>
          <a:bodyPr/>
          <a:lstStyle/>
          <a:p>
            <a:r>
              <a:rPr lang="en-AU" sz="4400" dirty="0"/>
              <a:t>Treating </a:t>
            </a:r>
            <a:br>
              <a:rPr lang="en-AU" sz="4400" dirty="0"/>
            </a:br>
            <a:r>
              <a:rPr lang="en-AU" sz="4400" dirty="0"/>
              <a:t>Diabetes</a:t>
            </a:r>
          </a:p>
        </p:txBody>
      </p:sp>
      <p:pic>
        <p:nvPicPr>
          <p:cNvPr id="614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p:blipFill>
        <p:spPr bwMode="auto">
          <a:xfrm>
            <a:off x="378190" y="2276872"/>
            <a:ext cx="7827424"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4845" t="11718" r="58622" b="49708"/>
          <a:stretch/>
        </p:blipFill>
        <p:spPr bwMode="auto">
          <a:xfrm>
            <a:off x="4110773" y="0"/>
            <a:ext cx="4129597" cy="2401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8418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Cell replacement therapy</a:t>
            </a:r>
          </a:p>
        </p:txBody>
      </p:sp>
      <p:sp>
        <p:nvSpPr>
          <p:cNvPr id="3" name="Content Placeholder 2"/>
          <p:cNvSpPr>
            <a:spLocks noGrp="1"/>
          </p:cNvSpPr>
          <p:nvPr>
            <p:ph idx="1"/>
          </p:nvPr>
        </p:nvSpPr>
        <p:spPr>
          <a:xfrm>
            <a:off x="395536" y="1628800"/>
            <a:ext cx="7620000" cy="4800600"/>
          </a:xfrm>
        </p:spPr>
        <p:txBody>
          <a:bodyPr/>
          <a:lstStyle/>
          <a:p>
            <a:pPr>
              <a:lnSpc>
                <a:spcPct val="90000"/>
              </a:lnSpc>
              <a:defRPr/>
            </a:pPr>
            <a:r>
              <a:rPr lang="en-US" dirty="0"/>
              <a:t>When normal cells are lost or injured,  stem cells  (undifferentiated cells) could be used to;</a:t>
            </a:r>
            <a:br>
              <a:rPr lang="en-US" dirty="0"/>
            </a:br>
            <a:endParaRPr lang="en-US" dirty="0">
              <a:solidFill>
                <a:schemeClr val="tx2"/>
              </a:solidFill>
            </a:endParaRPr>
          </a:p>
          <a:p>
            <a:pPr>
              <a:lnSpc>
                <a:spcPct val="90000"/>
              </a:lnSpc>
              <a:defRPr/>
            </a:pPr>
            <a:r>
              <a:rPr lang="en-US" dirty="0">
                <a:solidFill>
                  <a:schemeClr val="tx2"/>
                </a:solidFill>
              </a:rPr>
              <a:t>Regenerate</a:t>
            </a:r>
          </a:p>
          <a:p>
            <a:pPr lvl="1">
              <a:lnSpc>
                <a:spcPct val="90000"/>
              </a:lnSpc>
              <a:defRPr/>
            </a:pPr>
            <a:r>
              <a:rPr lang="en-US" dirty="0"/>
              <a:t>Identify the cues that allow for regeneration without scarring</a:t>
            </a:r>
          </a:p>
          <a:p>
            <a:pPr lvl="1">
              <a:lnSpc>
                <a:spcPct val="90000"/>
              </a:lnSpc>
              <a:defRPr/>
            </a:pPr>
            <a:r>
              <a:rPr lang="en-US" dirty="0"/>
              <a:t>Like growing a new limb</a:t>
            </a:r>
          </a:p>
          <a:p>
            <a:pPr>
              <a:lnSpc>
                <a:spcPct val="90000"/>
              </a:lnSpc>
              <a:defRPr/>
            </a:pPr>
            <a:r>
              <a:rPr lang="en-US" dirty="0">
                <a:solidFill>
                  <a:schemeClr val="tx2"/>
                </a:solidFill>
              </a:rPr>
              <a:t>Repair</a:t>
            </a:r>
          </a:p>
          <a:p>
            <a:pPr lvl="1">
              <a:lnSpc>
                <a:spcPct val="90000"/>
              </a:lnSpc>
              <a:defRPr/>
            </a:pPr>
            <a:r>
              <a:rPr lang="en-US" dirty="0"/>
              <a:t>Stimulate the tissue at a cell or molecular level, even at level of DNA, to repair itself.</a:t>
            </a:r>
          </a:p>
          <a:p>
            <a:pPr>
              <a:lnSpc>
                <a:spcPct val="90000"/>
              </a:lnSpc>
              <a:defRPr/>
            </a:pPr>
            <a:r>
              <a:rPr lang="en-US" dirty="0">
                <a:solidFill>
                  <a:schemeClr val="tx2"/>
                </a:solidFill>
              </a:rPr>
              <a:t>Replace</a:t>
            </a:r>
          </a:p>
          <a:p>
            <a:pPr lvl="1">
              <a:lnSpc>
                <a:spcPct val="90000"/>
              </a:lnSpc>
              <a:defRPr/>
            </a:pPr>
            <a:r>
              <a:rPr lang="en-US" dirty="0"/>
              <a:t>A biological substitute is created in the lab that can be implanted to replace the tissue or organ of interest</a:t>
            </a:r>
          </a:p>
          <a:p>
            <a:endParaRPr lang="en-AU" dirty="0"/>
          </a:p>
        </p:txBody>
      </p:sp>
    </p:spTree>
    <p:extLst>
      <p:ext uri="{BB962C8B-B14F-4D97-AF65-F5344CB8AC3E}">
        <p14:creationId xmlns:p14="http://schemas.microsoft.com/office/powerpoint/2010/main" val="2965555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4" y="188640"/>
            <a:ext cx="4896544" cy="1228998"/>
          </a:xfrm>
        </p:spPr>
        <p:txBody>
          <a:bodyPr/>
          <a:lstStyle/>
          <a:p>
            <a:pPr algn="ctr"/>
            <a:r>
              <a:rPr lang="en-AU" sz="4400" dirty="0"/>
              <a:t>Cell replacement therapy</a:t>
            </a:r>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046" r="21666"/>
          <a:stretch/>
        </p:blipFill>
        <p:spPr bwMode="auto">
          <a:xfrm>
            <a:off x="-108519" y="0"/>
            <a:ext cx="3384376" cy="3717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1854636"/>
            <a:ext cx="5868144" cy="5003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r="15695"/>
          <a:stretch/>
        </p:blipFill>
        <p:spPr bwMode="auto">
          <a:xfrm>
            <a:off x="9699" y="3717032"/>
            <a:ext cx="3559103" cy="3166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3721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274638"/>
            <a:ext cx="8229600" cy="868362"/>
          </a:xfrm>
        </p:spPr>
        <p:txBody>
          <a:bodyPr/>
          <a:lstStyle/>
          <a:p>
            <a:pPr eaLnBrk="1" hangingPunct="1">
              <a:defRPr/>
            </a:pPr>
            <a:r>
              <a:rPr lang="en-US">
                <a:ea typeface="+mj-ea"/>
              </a:rPr>
              <a:t>Tissue Engineering</a:t>
            </a:r>
          </a:p>
        </p:txBody>
      </p:sp>
      <p:sp>
        <p:nvSpPr>
          <p:cNvPr id="90115" name="Rectangle 3"/>
          <p:cNvSpPr>
            <a:spLocks noGrp="1" noChangeArrowheads="1"/>
          </p:cNvSpPr>
          <p:nvPr>
            <p:ph type="body" idx="1"/>
          </p:nvPr>
        </p:nvSpPr>
        <p:spPr>
          <a:xfrm>
            <a:off x="539552" y="1412776"/>
            <a:ext cx="7315200" cy="5029200"/>
          </a:xfrm>
        </p:spPr>
        <p:txBody>
          <a:bodyPr/>
          <a:lstStyle/>
          <a:p>
            <a:pPr eaLnBrk="1" hangingPunct="1">
              <a:lnSpc>
                <a:spcPct val="90000"/>
              </a:lnSpc>
              <a:defRPr/>
            </a:pPr>
            <a:r>
              <a:rPr lang="en-US" dirty="0">
                <a:ea typeface="+mn-ea"/>
              </a:rPr>
              <a:t>Using well designed scaffolds and optimized cell growth, we can create tissues such as:</a:t>
            </a:r>
          </a:p>
          <a:p>
            <a:pPr lvl="1" eaLnBrk="1" hangingPunct="1">
              <a:lnSpc>
                <a:spcPct val="90000"/>
              </a:lnSpc>
              <a:defRPr/>
            </a:pPr>
            <a:r>
              <a:rPr lang="en-US" sz="2400" dirty="0"/>
              <a:t>Skin</a:t>
            </a:r>
          </a:p>
          <a:p>
            <a:pPr lvl="1" eaLnBrk="1" hangingPunct="1">
              <a:lnSpc>
                <a:spcPct val="90000"/>
              </a:lnSpc>
              <a:defRPr/>
            </a:pPr>
            <a:r>
              <a:rPr lang="en-US" sz="2400" dirty="0"/>
              <a:t>Bone</a:t>
            </a:r>
          </a:p>
          <a:p>
            <a:pPr lvl="1" eaLnBrk="1" hangingPunct="1">
              <a:lnSpc>
                <a:spcPct val="90000"/>
              </a:lnSpc>
              <a:defRPr/>
            </a:pPr>
            <a:r>
              <a:rPr lang="en-US" sz="2400" dirty="0"/>
              <a:t>Cartilage</a:t>
            </a:r>
          </a:p>
          <a:p>
            <a:pPr lvl="1" eaLnBrk="1" hangingPunct="1">
              <a:lnSpc>
                <a:spcPct val="90000"/>
              </a:lnSpc>
              <a:defRPr/>
            </a:pPr>
            <a:r>
              <a:rPr lang="en-US" sz="2400" dirty="0"/>
              <a:t>Intestine</a:t>
            </a:r>
          </a:p>
          <a:p>
            <a:pPr eaLnBrk="1" hangingPunct="1">
              <a:lnSpc>
                <a:spcPct val="90000"/>
              </a:lnSpc>
              <a:defRPr/>
            </a:pPr>
            <a:r>
              <a:rPr lang="en-US" dirty="0">
                <a:ea typeface="+mn-ea"/>
              </a:rPr>
              <a:t>These have been successfully engineered to some extent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157" y="1844824"/>
            <a:ext cx="2158506" cy="16064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4044638"/>
            <a:ext cx="3744416" cy="281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6169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defRPr/>
            </a:pPr>
            <a:r>
              <a:rPr lang="en-US" dirty="0">
                <a:ea typeface="+mj-ea"/>
              </a:rPr>
              <a:t>Transplants</a:t>
            </a:r>
          </a:p>
        </p:txBody>
      </p:sp>
      <p:sp>
        <p:nvSpPr>
          <p:cNvPr id="9219" name="Rectangle 3"/>
          <p:cNvSpPr>
            <a:spLocks noGrp="1" noChangeArrowheads="1"/>
          </p:cNvSpPr>
          <p:nvPr>
            <p:ph type="body" idx="1"/>
          </p:nvPr>
        </p:nvSpPr>
        <p:spPr>
          <a:xfrm>
            <a:off x="179512" y="1340768"/>
            <a:ext cx="4176464" cy="4953000"/>
          </a:xfrm>
        </p:spPr>
        <p:txBody>
          <a:bodyPr>
            <a:normAutofit fontScale="92500" lnSpcReduction="10000"/>
          </a:bodyPr>
          <a:lstStyle/>
          <a:p>
            <a:pPr eaLnBrk="1" hangingPunct="1"/>
            <a:r>
              <a:rPr lang="en-US" altLang="en-US" sz="3600" dirty="0"/>
              <a:t>Remove cells from patient</a:t>
            </a:r>
          </a:p>
          <a:p>
            <a:pPr eaLnBrk="1" hangingPunct="1"/>
            <a:r>
              <a:rPr lang="en-US" altLang="en-US" sz="3600" dirty="0"/>
              <a:t>Grow in culture with or without biomaterials</a:t>
            </a:r>
          </a:p>
          <a:p>
            <a:pPr eaLnBrk="1" hangingPunct="1"/>
            <a:r>
              <a:rPr lang="en-US" altLang="en-US" sz="3600" dirty="0"/>
              <a:t>Give appropriate chemicals to make cells do what is needed</a:t>
            </a:r>
          </a:p>
          <a:p>
            <a:pPr eaLnBrk="1" hangingPunct="1"/>
            <a:r>
              <a:rPr lang="en-US" altLang="en-US" sz="3600" dirty="0"/>
              <a:t>Replace into patient</a:t>
            </a:r>
          </a:p>
          <a:p>
            <a:pPr eaLnBrk="1" hangingPunct="1"/>
            <a:endParaRPr lang="en-US" alt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548680"/>
            <a:ext cx="3511397" cy="5877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1225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defRPr/>
            </a:pPr>
            <a:r>
              <a:rPr lang="en-US" dirty="0">
                <a:ea typeface="+mj-ea"/>
              </a:rPr>
              <a:t>Scaffolds</a:t>
            </a:r>
          </a:p>
        </p:txBody>
      </p:sp>
      <p:sp>
        <p:nvSpPr>
          <p:cNvPr id="92163" name="Rectangle 3"/>
          <p:cNvSpPr>
            <a:spLocks noGrp="1" noChangeArrowheads="1"/>
          </p:cNvSpPr>
          <p:nvPr>
            <p:ph type="body" idx="1"/>
          </p:nvPr>
        </p:nvSpPr>
        <p:spPr>
          <a:xfrm>
            <a:off x="3048000" y="1371600"/>
            <a:ext cx="6096000" cy="4495800"/>
          </a:xfrm>
        </p:spPr>
        <p:txBody>
          <a:bodyPr/>
          <a:lstStyle/>
          <a:p>
            <a:pPr eaLnBrk="1" hangingPunct="1"/>
            <a:r>
              <a:rPr lang="en-US" altLang="en-US" dirty="0"/>
              <a:t>Various textures and materials</a:t>
            </a:r>
          </a:p>
          <a:p>
            <a:pPr eaLnBrk="1" hangingPunct="1"/>
            <a:r>
              <a:rPr lang="en-US" altLang="en-US" dirty="0"/>
              <a:t>Encourage cells to grow</a:t>
            </a:r>
          </a:p>
          <a:p>
            <a:pPr eaLnBrk="1" hangingPunct="1"/>
            <a:r>
              <a:rPr lang="en-US" altLang="en-US" dirty="0"/>
              <a:t>Allow nutrients to permeate</a:t>
            </a:r>
          </a:p>
          <a:p>
            <a:pPr eaLnBrk="1" hangingPunct="1"/>
            <a:r>
              <a:rPr lang="en-US" altLang="en-US" dirty="0"/>
              <a:t>Biodegradable-Won’t harm the patient</a:t>
            </a:r>
          </a:p>
        </p:txBody>
      </p:sp>
      <p:pic>
        <p:nvPicPr>
          <p:cNvPr id="28676" name="Picture 5" descr="HMC%20Tissue%20Engineering%20Fig1-Freier%20et%20al%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41788"/>
            <a:ext cx="2895600" cy="271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7" descr="Tissue engineering scaffol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4267200"/>
            <a:ext cx="222091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8" descr="PJ2006062fig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828800"/>
            <a:ext cx="2657475"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10" descr="Scanning electron micrograph of spiralled plastic compression construct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4343400"/>
            <a:ext cx="2562225"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0929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defRPr/>
            </a:pPr>
            <a:r>
              <a:rPr lang="en-US" dirty="0">
                <a:ea typeface="+mj-ea"/>
              </a:rPr>
              <a:t>In the future..</a:t>
            </a:r>
          </a:p>
        </p:txBody>
      </p:sp>
      <p:sp>
        <p:nvSpPr>
          <p:cNvPr id="91139" name="Rectangle 3"/>
          <p:cNvSpPr>
            <a:spLocks noGrp="1" noChangeArrowheads="1"/>
          </p:cNvSpPr>
          <p:nvPr>
            <p:ph type="body" idx="1"/>
          </p:nvPr>
        </p:nvSpPr>
        <p:spPr/>
        <p:txBody>
          <a:bodyPr/>
          <a:lstStyle/>
          <a:p>
            <a:pPr eaLnBrk="1" hangingPunct="1"/>
            <a:r>
              <a:rPr lang="en-US" altLang="en-US" dirty="0"/>
              <a:t>Not very far in development</a:t>
            </a:r>
          </a:p>
          <a:p>
            <a:pPr eaLnBrk="1" hangingPunct="1"/>
            <a:r>
              <a:rPr lang="en-US" altLang="en-US" dirty="0"/>
              <a:t>Complex metabolic functions</a:t>
            </a:r>
          </a:p>
          <a:p>
            <a:pPr eaLnBrk="1" hangingPunct="1"/>
            <a:r>
              <a:rPr lang="en-US" altLang="en-US" dirty="0"/>
              <a:t>Require multiple types of cells and intricate scaffolds</a:t>
            </a:r>
          </a:p>
          <a:p>
            <a:pPr lvl="1" eaLnBrk="1" hangingPunct="1"/>
            <a:r>
              <a:rPr lang="en-US" altLang="en-US" dirty="0"/>
              <a:t>Liver</a:t>
            </a:r>
          </a:p>
          <a:p>
            <a:pPr lvl="1" eaLnBrk="1" hangingPunct="1"/>
            <a:r>
              <a:rPr lang="en-US" altLang="en-US" dirty="0"/>
              <a:t>Heart</a:t>
            </a:r>
          </a:p>
          <a:p>
            <a:pPr lvl="1" eaLnBrk="1" hangingPunct="1"/>
            <a:r>
              <a:rPr lang="en-US" altLang="en-US" dirty="0"/>
              <a:t>Lung</a:t>
            </a:r>
          </a:p>
          <a:p>
            <a:pPr lvl="1" eaLnBrk="1" hangingPunct="1"/>
            <a:r>
              <a:rPr lang="en-US" altLang="en-US" dirty="0"/>
              <a:t>Kidney</a:t>
            </a:r>
          </a:p>
          <a:p>
            <a:pPr lvl="1" eaLnBrk="1" hangingPunct="1">
              <a:buFontTx/>
              <a:buNone/>
            </a:pPr>
            <a:endParaRPr lang="en-US"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3147618"/>
            <a:ext cx="2716337" cy="3513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51520" y="5921756"/>
            <a:ext cx="3528392" cy="738664"/>
          </a:xfrm>
          <a:prstGeom prst="rect">
            <a:avLst/>
          </a:prstGeom>
        </p:spPr>
        <p:txBody>
          <a:bodyPr wrap="square">
            <a:spAutoFit/>
          </a:bodyPr>
          <a:lstStyle/>
          <a:p>
            <a:r>
              <a:rPr lang="en-AU" sz="1400" dirty="0">
                <a:hlinkClick r:id="rId3"/>
              </a:rPr>
              <a:t>https://www.popsci.com.au/science/medicine/scientists-grow-fullsized-working-human-hearts-from-stem-cells,417050</a:t>
            </a:r>
            <a:endParaRPr lang="en-AU" sz="1400" dirty="0"/>
          </a:p>
        </p:txBody>
      </p:sp>
    </p:spTree>
    <p:extLst>
      <p:ext uri="{BB962C8B-B14F-4D97-AF65-F5344CB8AC3E}">
        <p14:creationId xmlns:p14="http://schemas.microsoft.com/office/powerpoint/2010/main" val="2132609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defRPr/>
            </a:pPr>
            <a:r>
              <a:rPr lang="en-US" dirty="0">
                <a:ea typeface="+mj-ea"/>
              </a:rPr>
              <a:t>What could we use this for?</a:t>
            </a:r>
          </a:p>
        </p:txBody>
      </p:sp>
      <p:sp>
        <p:nvSpPr>
          <p:cNvPr id="89091" name="Rectangle 3"/>
          <p:cNvSpPr>
            <a:spLocks noGrp="1" noChangeArrowheads="1"/>
          </p:cNvSpPr>
          <p:nvPr>
            <p:ph type="body" idx="1"/>
          </p:nvPr>
        </p:nvSpPr>
        <p:spPr>
          <a:xfrm>
            <a:off x="395536" y="1268760"/>
            <a:ext cx="7620000" cy="4800600"/>
          </a:xfrm>
        </p:spPr>
        <p:txBody>
          <a:bodyPr/>
          <a:lstStyle/>
          <a:p>
            <a:pPr marL="411480" lvl="1" indent="0">
              <a:lnSpc>
                <a:spcPct val="90000"/>
              </a:lnSpc>
              <a:buNone/>
            </a:pPr>
            <a:endParaRPr lang="en-US" altLang="en-US" dirty="0"/>
          </a:p>
          <a:p>
            <a:pPr lvl="1">
              <a:lnSpc>
                <a:spcPct val="90000"/>
              </a:lnSpc>
            </a:pPr>
            <a:r>
              <a:rPr lang="en-US" altLang="en-US" dirty="0"/>
              <a:t>Type I diabetes transplant of new pancreas cells</a:t>
            </a:r>
          </a:p>
          <a:p>
            <a:pPr lvl="1" eaLnBrk="1" hangingPunct="1">
              <a:lnSpc>
                <a:spcPct val="90000"/>
              </a:lnSpc>
            </a:pPr>
            <a:r>
              <a:rPr lang="en-US" altLang="en-US" dirty="0"/>
              <a:t>Adult stem cells for heart disease</a:t>
            </a:r>
          </a:p>
          <a:p>
            <a:pPr lvl="1" eaLnBrk="1" hangingPunct="1">
              <a:lnSpc>
                <a:spcPct val="90000"/>
              </a:lnSpc>
            </a:pPr>
            <a:r>
              <a:rPr lang="en-US" altLang="en-US" dirty="0"/>
              <a:t>Neuronal transplants for Parkinson’s disease</a:t>
            </a:r>
          </a:p>
          <a:p>
            <a:pPr lvl="1" eaLnBrk="1" hangingPunct="1">
              <a:lnSpc>
                <a:spcPct val="90000"/>
              </a:lnSpc>
            </a:pPr>
            <a:r>
              <a:rPr lang="en-US" altLang="en-US" dirty="0"/>
              <a:t>Bone marrow transplant for various blood cancers</a:t>
            </a:r>
          </a:p>
          <a:p>
            <a:pPr lvl="1" eaLnBrk="1" hangingPunct="1">
              <a:lnSpc>
                <a:spcPct val="90000"/>
              </a:lnSpc>
            </a:pPr>
            <a:r>
              <a:rPr lang="en-US" altLang="en-US" dirty="0"/>
              <a:t>Muscular dystrophy and polio</a:t>
            </a:r>
          </a:p>
          <a:p>
            <a:pPr marL="411480" lvl="1" indent="0">
              <a:lnSpc>
                <a:spcPct val="90000"/>
              </a:lnSpc>
              <a:buNone/>
            </a:pPr>
            <a:endParaRPr lang="en-US" altLang="en-US" dirty="0"/>
          </a:p>
          <a:p>
            <a:pPr marL="411480" lvl="1" indent="0">
              <a:lnSpc>
                <a:spcPct val="90000"/>
              </a:lnSpc>
              <a:buNone/>
            </a:pPr>
            <a:r>
              <a:rPr lang="en-US" altLang="en-US" b="1" i="1" dirty="0"/>
              <a:t>*Research how cell replacement therapy can applied to each of those mentioned above.</a:t>
            </a:r>
          </a:p>
          <a:p>
            <a:pPr marL="411480" lvl="1" indent="0" eaLnBrk="1" hangingPunct="1">
              <a:lnSpc>
                <a:spcPct val="90000"/>
              </a:lnSpc>
              <a:buNone/>
            </a:pPr>
            <a:endParaRPr lang="en-US" altLang="en-US" dirty="0"/>
          </a:p>
          <a:p>
            <a:pPr lvl="1" eaLnBrk="1" hangingPunct="1">
              <a:lnSpc>
                <a:spcPct val="90000"/>
              </a:lnSpc>
            </a:pPr>
            <a:endParaRPr lang="en-US" altLang="en-US" dirty="0"/>
          </a:p>
        </p:txBody>
      </p:sp>
    </p:spTree>
    <p:extLst>
      <p:ext uri="{BB962C8B-B14F-4D97-AF65-F5344CB8AC3E}">
        <p14:creationId xmlns:p14="http://schemas.microsoft.com/office/powerpoint/2010/main" val="378303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 Question</a:t>
            </a:r>
          </a:p>
        </p:txBody>
      </p:sp>
      <p:sp>
        <p:nvSpPr>
          <p:cNvPr id="3" name="Content Placeholder 2"/>
          <p:cNvSpPr>
            <a:spLocks noGrp="1"/>
          </p:cNvSpPr>
          <p:nvPr>
            <p:ph idx="1"/>
          </p:nvPr>
        </p:nvSpPr>
        <p:spPr/>
        <p:txBody>
          <a:bodyPr>
            <a:normAutofit/>
          </a:bodyPr>
          <a:lstStyle/>
          <a:p>
            <a:r>
              <a:rPr lang="en-AU" dirty="0"/>
              <a:t>There are many diseases that affect the ability to breathe normally. One of these is cystic fibrosis. This is a genetic disease, one symptom of which is excess mucous in the lungs that causes breathing difficulties. Recently there has been much discussion and trialling of treatments involving gene therapy and cell replacement therapy for cystic fibrosis. A combined gene and cell replacement therapy strategy for treatment is also being explored.</a:t>
            </a:r>
            <a:br>
              <a:rPr lang="en-AU" dirty="0"/>
            </a:br>
            <a:endParaRPr lang="en-AU" dirty="0"/>
          </a:p>
          <a:p>
            <a:r>
              <a:rPr lang="en-AU" dirty="0"/>
              <a:t>How could gene therapy and cell replacement therapy be combined as a treatment?  (4 marks)</a:t>
            </a:r>
          </a:p>
        </p:txBody>
      </p:sp>
    </p:spTree>
    <p:extLst>
      <p:ext uri="{BB962C8B-B14F-4D97-AF65-F5344CB8AC3E}">
        <p14:creationId xmlns:p14="http://schemas.microsoft.com/office/powerpoint/2010/main" val="2926209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Answer</a:t>
            </a:r>
          </a:p>
        </p:txBody>
      </p:sp>
      <p:sp>
        <p:nvSpPr>
          <p:cNvPr id="3" name="Content Placeholder 2"/>
          <p:cNvSpPr>
            <a:spLocks noGrp="1"/>
          </p:cNvSpPr>
          <p:nvPr>
            <p:ph idx="1"/>
          </p:nvPr>
        </p:nvSpPr>
        <p:spPr/>
        <p:txBody>
          <a:bodyPr/>
          <a:lstStyle/>
          <a:p>
            <a:r>
              <a:rPr lang="en-AU" dirty="0"/>
              <a:t>Stem cells taken from the patient</a:t>
            </a:r>
          </a:p>
          <a:p>
            <a:r>
              <a:rPr lang="en-AU" dirty="0"/>
              <a:t>Faulty gene replaced by normal gene</a:t>
            </a:r>
          </a:p>
          <a:p>
            <a:r>
              <a:rPr lang="en-AU" dirty="0"/>
              <a:t>Healthy cells cultured/multiplied</a:t>
            </a:r>
          </a:p>
          <a:p>
            <a:r>
              <a:rPr lang="en-AU" dirty="0"/>
              <a:t>Healthy cells transplanted back into patient</a:t>
            </a:r>
          </a:p>
          <a:p>
            <a:endParaRPr lang="en-AU" dirty="0"/>
          </a:p>
        </p:txBody>
      </p:sp>
    </p:spTree>
    <p:extLst>
      <p:ext uri="{BB962C8B-B14F-4D97-AF65-F5344CB8AC3E}">
        <p14:creationId xmlns:p14="http://schemas.microsoft.com/office/powerpoint/2010/main" val="24122674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629</TotalTime>
  <Words>1030</Words>
  <Application>Microsoft Office PowerPoint</Application>
  <PresentationFormat>On-screen Show (4:3)</PresentationFormat>
  <Paragraphs>117</Paragraphs>
  <Slides>16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Times New Roman</vt:lpstr>
      <vt:lpstr>Adjacency</vt:lpstr>
      <vt:lpstr>Biotechnology -Gene and Cell Replacement Therapy</vt:lpstr>
      <vt:lpstr>What are we doing today?</vt:lpstr>
      <vt:lpstr>Gene Therapy</vt:lpstr>
      <vt:lpstr>How does it work?</vt:lpstr>
      <vt:lpstr>Gene therapy challenges</vt:lpstr>
      <vt:lpstr>What could we use this for?</vt:lpstr>
      <vt:lpstr>Treating  Diabetes</vt:lpstr>
      <vt:lpstr>Cell replacement therapy</vt:lpstr>
      <vt:lpstr>Cell replacement therapy</vt:lpstr>
      <vt:lpstr>Tissue Engineering</vt:lpstr>
      <vt:lpstr>Transplants</vt:lpstr>
      <vt:lpstr>Scaffolds</vt:lpstr>
      <vt:lpstr>In the future..</vt:lpstr>
      <vt:lpstr>What could we use this for?</vt:lpstr>
      <vt:lpstr>Exam Question</vt:lpstr>
      <vt:lpstr>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Inquiry Skills</dc:title>
  <dc:creator>BRUNS Emma</dc:creator>
  <cp:lastModifiedBy>Ivan Opacak</cp:lastModifiedBy>
  <cp:revision>61</cp:revision>
  <dcterms:created xsi:type="dcterms:W3CDTF">2018-02-02T00:28:02Z</dcterms:created>
  <dcterms:modified xsi:type="dcterms:W3CDTF">2021-06-14T00:39:58Z</dcterms:modified>
</cp:coreProperties>
</file>
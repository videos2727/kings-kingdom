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311" r:id="rId2"/>
    <p:sldId id="299" r:id="rId3"/>
    <p:sldId id="297" r:id="rId4"/>
    <p:sldId id="286" r:id="rId5"/>
    <p:sldId id="298" r:id="rId6"/>
    <p:sldId id="287" r:id="rId7"/>
    <p:sldId id="301" r:id="rId8"/>
    <p:sldId id="300" r:id="rId9"/>
    <p:sldId id="288" r:id="rId10"/>
    <p:sldId id="303" r:id="rId11"/>
    <p:sldId id="304" r:id="rId12"/>
    <p:sldId id="305" r:id="rId13"/>
    <p:sldId id="290" r:id="rId14"/>
    <p:sldId id="306" r:id="rId15"/>
    <p:sldId id="307" r:id="rId16"/>
    <p:sldId id="291" r:id="rId17"/>
    <p:sldId id="308" r:id="rId18"/>
    <p:sldId id="293" r:id="rId19"/>
    <p:sldId id="309" r:id="rId20"/>
    <p:sldId id="310" r:id="rId21"/>
    <p:sldId id="29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02"/>
    <p:restoredTop sz="95970"/>
  </p:normalViewPr>
  <p:slideViewPr>
    <p:cSldViewPr snapToGrid="0">
      <p:cViewPr varScale="1">
        <p:scale>
          <a:sx n="124" d="100"/>
          <a:sy n="124" d="100"/>
        </p:scale>
        <p:origin x="192"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8F23AB-1DA9-5A48-B1B4-26ADF7E8EA86}" type="datetimeFigureOut">
              <a:rPr lang="en-US" smtClean="0"/>
              <a:t>9/11/22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F38A9-247F-284B-8F59-AD5D1CE1BC57}" type="slidenum">
              <a:rPr lang="en-US" smtClean="0"/>
              <a:t>‹#›</a:t>
            </a:fld>
            <a:endParaRPr lang="en-US"/>
          </a:p>
        </p:txBody>
      </p:sp>
    </p:spTree>
    <p:extLst>
      <p:ext uri="{BB962C8B-B14F-4D97-AF65-F5344CB8AC3E}">
        <p14:creationId xmlns:p14="http://schemas.microsoft.com/office/powerpoint/2010/main" val="550354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51C3251D-54A8-D8FC-73B7-7A59B4953E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576521CE-9DC5-9D5A-56AA-21282862D4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3252" name="Slide Number Placeholder 3">
            <a:extLst>
              <a:ext uri="{FF2B5EF4-FFF2-40B4-BE49-F238E27FC236}">
                <a16:creationId xmlns:a16="http://schemas.microsoft.com/office/drawing/2014/main" id="{CA9FBF26-BB94-728A-045B-EC5724E17E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97E307BB-D3F1-3645-BA9A-27E3D7E98897}" type="slidenum">
              <a:rPr lang="en-US" altLang="en-US" smtClean="0"/>
              <a:pPr>
                <a:spcBef>
                  <a:spcPct val="0"/>
                </a:spcBef>
              </a:pPr>
              <a:t>4</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51C3251D-54A8-D8FC-73B7-7A59B4953E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576521CE-9DC5-9D5A-56AA-21282862D4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3252" name="Slide Number Placeholder 3">
            <a:extLst>
              <a:ext uri="{FF2B5EF4-FFF2-40B4-BE49-F238E27FC236}">
                <a16:creationId xmlns:a16="http://schemas.microsoft.com/office/drawing/2014/main" id="{CA9FBF26-BB94-728A-045B-EC5724E17E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97E307BB-D3F1-3645-BA9A-27E3D7E98897}" type="slidenum">
              <a:rPr lang="en-US" altLang="en-US" smtClean="0"/>
              <a:pPr>
                <a:spcBef>
                  <a:spcPct val="0"/>
                </a:spcBef>
              </a:pPr>
              <a:t>5</a:t>
            </a:fld>
            <a:endParaRPr lang="en-US" altLang="en-US"/>
          </a:p>
        </p:txBody>
      </p:sp>
    </p:spTree>
    <p:extLst>
      <p:ext uri="{BB962C8B-B14F-4D97-AF65-F5344CB8AC3E}">
        <p14:creationId xmlns:p14="http://schemas.microsoft.com/office/powerpoint/2010/main" val="2981750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05EB1C79-6790-4B8F-C6AD-F98B039E1C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6BBC5BA0-3A41-A522-460E-BD27BE687D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5300" name="Slide Number Placeholder 3">
            <a:extLst>
              <a:ext uri="{FF2B5EF4-FFF2-40B4-BE49-F238E27FC236}">
                <a16:creationId xmlns:a16="http://schemas.microsoft.com/office/drawing/2014/main" id="{32FBC720-7931-9880-0A31-F1D4B7FF68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4A653475-63F8-D74A-BB7F-84F504651705}" type="slidenum">
              <a:rPr lang="en-US" altLang="en-US" smtClean="0"/>
              <a:pPr>
                <a:spcBef>
                  <a:spcPct val="0"/>
                </a:spcBef>
              </a:pPr>
              <a:t>6</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05EB1C79-6790-4B8F-C6AD-F98B039E1C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6BBC5BA0-3A41-A522-460E-BD27BE687D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5300" name="Slide Number Placeholder 3">
            <a:extLst>
              <a:ext uri="{FF2B5EF4-FFF2-40B4-BE49-F238E27FC236}">
                <a16:creationId xmlns:a16="http://schemas.microsoft.com/office/drawing/2014/main" id="{32FBC720-7931-9880-0A31-F1D4B7FF68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4A653475-63F8-D74A-BB7F-84F504651705}" type="slidenum">
              <a:rPr lang="en-US" altLang="en-US" smtClean="0"/>
              <a:pPr>
                <a:spcBef>
                  <a:spcPct val="0"/>
                </a:spcBef>
              </a:pPr>
              <a:t>7</a:t>
            </a:fld>
            <a:endParaRPr lang="en-US" altLang="en-US"/>
          </a:p>
        </p:txBody>
      </p:sp>
    </p:spTree>
    <p:extLst>
      <p:ext uri="{BB962C8B-B14F-4D97-AF65-F5344CB8AC3E}">
        <p14:creationId xmlns:p14="http://schemas.microsoft.com/office/powerpoint/2010/main" val="1597903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79BB57FE-D761-68BF-4C13-A6B5284D81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C4CDA407-2B4A-631B-E5A5-9836CF0D09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7348" name="Slide Number Placeholder 3">
            <a:extLst>
              <a:ext uri="{FF2B5EF4-FFF2-40B4-BE49-F238E27FC236}">
                <a16:creationId xmlns:a16="http://schemas.microsoft.com/office/drawing/2014/main" id="{62020202-9D15-24CD-EBFD-88D1F593ED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F29C5BAF-7FB1-F747-96DB-1A2C56301DDE}" type="slidenum">
              <a:rPr lang="en-US" altLang="en-US" smtClean="0"/>
              <a:pPr>
                <a:spcBef>
                  <a:spcPct val="0"/>
                </a:spcBef>
              </a:pPr>
              <a:t>9</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79BB57FE-D761-68BF-4C13-A6B5284D81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C4CDA407-2B4A-631B-E5A5-9836CF0D09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7348" name="Slide Number Placeholder 3">
            <a:extLst>
              <a:ext uri="{FF2B5EF4-FFF2-40B4-BE49-F238E27FC236}">
                <a16:creationId xmlns:a16="http://schemas.microsoft.com/office/drawing/2014/main" id="{62020202-9D15-24CD-EBFD-88D1F593ED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F29C5BAF-7FB1-F747-96DB-1A2C56301DDE}" type="slidenum">
              <a:rPr lang="en-US" altLang="en-US" smtClean="0"/>
              <a:pPr>
                <a:spcBef>
                  <a:spcPct val="0"/>
                </a:spcBef>
              </a:pPr>
              <a:t>10</a:t>
            </a:fld>
            <a:endParaRPr lang="en-US" altLang="en-US"/>
          </a:p>
        </p:txBody>
      </p:sp>
    </p:spTree>
    <p:extLst>
      <p:ext uri="{BB962C8B-B14F-4D97-AF65-F5344CB8AC3E}">
        <p14:creationId xmlns:p14="http://schemas.microsoft.com/office/powerpoint/2010/main" val="2993782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79BB57FE-D761-68BF-4C13-A6B5284D81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C4CDA407-2B4A-631B-E5A5-9836CF0D09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7348" name="Slide Number Placeholder 3">
            <a:extLst>
              <a:ext uri="{FF2B5EF4-FFF2-40B4-BE49-F238E27FC236}">
                <a16:creationId xmlns:a16="http://schemas.microsoft.com/office/drawing/2014/main" id="{62020202-9D15-24CD-EBFD-88D1F593ED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F29C5BAF-7FB1-F747-96DB-1A2C56301DDE}" type="slidenum">
              <a:rPr lang="en-US" altLang="en-US" smtClean="0"/>
              <a:pPr>
                <a:spcBef>
                  <a:spcPct val="0"/>
                </a:spcBef>
              </a:pPr>
              <a:t>11</a:t>
            </a:fld>
            <a:endParaRPr lang="en-US" altLang="en-US"/>
          </a:p>
        </p:txBody>
      </p:sp>
    </p:spTree>
    <p:extLst>
      <p:ext uri="{BB962C8B-B14F-4D97-AF65-F5344CB8AC3E}">
        <p14:creationId xmlns:p14="http://schemas.microsoft.com/office/powerpoint/2010/main" val="1367368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6231F710-327B-DC27-E4EE-83DB0FED3D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a:extLst>
              <a:ext uri="{FF2B5EF4-FFF2-40B4-BE49-F238E27FC236}">
                <a16:creationId xmlns:a16="http://schemas.microsoft.com/office/drawing/2014/main" id="{7D5268FA-D443-66C0-741A-DB208A9972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1444" name="Slide Number Placeholder 3">
            <a:extLst>
              <a:ext uri="{FF2B5EF4-FFF2-40B4-BE49-F238E27FC236}">
                <a16:creationId xmlns:a16="http://schemas.microsoft.com/office/drawing/2014/main" id="{D21CF8D8-9FC1-B250-A6A8-54721C0DDA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704DD6A0-BF0B-6349-A2A7-09E6C5586B62}" type="slidenum">
              <a:rPr lang="en-US" altLang="en-US" smtClean="0"/>
              <a:pPr>
                <a:spcBef>
                  <a:spcPct val="0"/>
                </a:spcBef>
              </a:pPr>
              <a:t>13</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6231F710-327B-DC27-E4EE-83DB0FED3D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a:extLst>
              <a:ext uri="{FF2B5EF4-FFF2-40B4-BE49-F238E27FC236}">
                <a16:creationId xmlns:a16="http://schemas.microsoft.com/office/drawing/2014/main" id="{7D5268FA-D443-66C0-741A-DB208A9972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1444" name="Slide Number Placeholder 3">
            <a:extLst>
              <a:ext uri="{FF2B5EF4-FFF2-40B4-BE49-F238E27FC236}">
                <a16:creationId xmlns:a16="http://schemas.microsoft.com/office/drawing/2014/main" id="{D21CF8D8-9FC1-B250-A6A8-54721C0DDA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704DD6A0-BF0B-6349-A2A7-09E6C5586B62}" type="slidenum">
              <a:rPr lang="en-US" altLang="en-US" smtClean="0"/>
              <a:pPr>
                <a:spcBef>
                  <a:spcPct val="0"/>
                </a:spcBef>
              </a:pPr>
              <a:t>14</a:t>
            </a:fld>
            <a:endParaRPr lang="en-US" altLang="en-US"/>
          </a:p>
        </p:txBody>
      </p:sp>
    </p:spTree>
    <p:extLst>
      <p:ext uri="{BB962C8B-B14F-4D97-AF65-F5344CB8AC3E}">
        <p14:creationId xmlns:p14="http://schemas.microsoft.com/office/powerpoint/2010/main" val="3966209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AE0F4EA1-F25F-8A4C-A945-3624762DC7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EF7D65DE-6950-5913-DC02-BAD1DDD75C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5540" name="Slide Number Placeholder 3">
            <a:extLst>
              <a:ext uri="{FF2B5EF4-FFF2-40B4-BE49-F238E27FC236}">
                <a16:creationId xmlns:a16="http://schemas.microsoft.com/office/drawing/2014/main" id="{24E04D9A-4D68-8680-8D1D-14657F46D8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D48E4046-434C-1D46-A5EB-5EC0F3E105E7}" type="slidenum">
              <a:rPr lang="en-US" altLang="en-US" smtClean="0"/>
              <a:pPr>
                <a:spcBef>
                  <a:spcPct val="0"/>
                </a:spcBef>
              </a:pPr>
              <a:t>16</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AE0F4EA1-F25F-8A4C-A945-3624762DC7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EF7D65DE-6950-5913-DC02-BAD1DDD75C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5540" name="Slide Number Placeholder 3">
            <a:extLst>
              <a:ext uri="{FF2B5EF4-FFF2-40B4-BE49-F238E27FC236}">
                <a16:creationId xmlns:a16="http://schemas.microsoft.com/office/drawing/2014/main" id="{24E04D9A-4D68-8680-8D1D-14657F46D8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D48E4046-434C-1D46-A5EB-5EC0F3E105E7}" type="slidenum">
              <a:rPr lang="en-US" altLang="en-US" smtClean="0"/>
              <a:pPr>
                <a:spcBef>
                  <a:spcPct val="0"/>
                </a:spcBef>
              </a:pPr>
              <a:t>17</a:t>
            </a:fld>
            <a:endParaRPr lang="en-US" altLang="en-US"/>
          </a:p>
        </p:txBody>
      </p:sp>
    </p:spTree>
    <p:extLst>
      <p:ext uri="{BB962C8B-B14F-4D97-AF65-F5344CB8AC3E}">
        <p14:creationId xmlns:p14="http://schemas.microsoft.com/office/powerpoint/2010/main" val="790716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09288F96-BE5B-5975-6196-5C3B915278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B64FF003-BA34-993D-771F-A6DC9DFE10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7588" name="Slide Number Placeholder 3">
            <a:extLst>
              <a:ext uri="{FF2B5EF4-FFF2-40B4-BE49-F238E27FC236}">
                <a16:creationId xmlns:a16="http://schemas.microsoft.com/office/drawing/2014/main" id="{7F8224B7-6271-1A14-FB86-284C3A88B0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E74B357B-8EAF-2742-9351-72C0E4FD65AE}" type="slidenum">
              <a:rPr lang="en-US" altLang="en-US" smtClean="0"/>
              <a:pPr>
                <a:spcBef>
                  <a:spcPct val="0"/>
                </a:spcBef>
              </a:pPr>
              <a:t>18</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09288F96-BE5B-5975-6196-5C3B915278E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B64FF003-BA34-993D-771F-A6DC9DFE10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67588" name="Slide Number Placeholder 3">
            <a:extLst>
              <a:ext uri="{FF2B5EF4-FFF2-40B4-BE49-F238E27FC236}">
                <a16:creationId xmlns:a16="http://schemas.microsoft.com/office/drawing/2014/main" id="{7F8224B7-6271-1A14-FB86-284C3A88B0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E74B357B-8EAF-2742-9351-72C0E4FD65AE}" type="slidenum">
              <a:rPr lang="en-US" altLang="en-US" smtClean="0"/>
              <a:pPr>
                <a:spcBef>
                  <a:spcPct val="0"/>
                </a:spcBef>
              </a:pPr>
              <a:t>19</a:t>
            </a:fld>
            <a:endParaRPr lang="en-US" altLang="en-US"/>
          </a:p>
        </p:txBody>
      </p:sp>
    </p:spTree>
    <p:extLst>
      <p:ext uri="{BB962C8B-B14F-4D97-AF65-F5344CB8AC3E}">
        <p14:creationId xmlns:p14="http://schemas.microsoft.com/office/powerpoint/2010/main" val="284826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6B6FCA06-96CE-F483-4687-9652628B90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97008C83-3C55-50EB-3D24-A84640E455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3732" name="Slide Number Placeholder 3">
            <a:extLst>
              <a:ext uri="{FF2B5EF4-FFF2-40B4-BE49-F238E27FC236}">
                <a16:creationId xmlns:a16="http://schemas.microsoft.com/office/drawing/2014/main" id="{CC3BE1ED-2B31-876D-B175-5221740DDD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A61B879F-42C9-BA4C-8CC9-B24AC216E78F}" type="slidenum">
              <a:rPr lang="en-US" altLang="en-US" smtClean="0"/>
              <a:pPr>
                <a:spcBef>
                  <a:spcPct val="0"/>
                </a:spcBef>
              </a:pPr>
              <a:t>21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68D4A-9DDE-58DB-BB4F-AE4B6BD4D1C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F9E967C-C82E-A047-2EA5-C944ACE67E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9EBEEF3-8E16-6CAA-610E-0958084C67E8}"/>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5" name="Footer Placeholder 4">
            <a:extLst>
              <a:ext uri="{FF2B5EF4-FFF2-40B4-BE49-F238E27FC236}">
                <a16:creationId xmlns:a16="http://schemas.microsoft.com/office/drawing/2014/main" id="{C841E7C2-001D-3020-0782-0AB9CB2E6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D018F2-CC0F-B3BD-C381-E6EA877272C3}"/>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74392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E88E2-C2F8-0FD7-02DA-B5C6EA7BF31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0B8B9CD-9EF3-D9EA-10C3-98FAF4476C1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0157340-DEF5-8C54-53C8-3C7B4E3D489F}"/>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5" name="Footer Placeholder 4">
            <a:extLst>
              <a:ext uri="{FF2B5EF4-FFF2-40B4-BE49-F238E27FC236}">
                <a16:creationId xmlns:a16="http://schemas.microsoft.com/office/drawing/2014/main" id="{D2AB0215-85C7-6CA1-37A6-5A3AF1414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D5A308-D22E-8F63-248A-B5A985D0AEC5}"/>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2943205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7125-7125-95CD-D376-3B451A7F6DB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CCD6D5B-0510-4536-F639-E32A86327A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1C28C60-F871-436F-C628-294AC176600F}"/>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5" name="Footer Placeholder 4">
            <a:extLst>
              <a:ext uri="{FF2B5EF4-FFF2-40B4-BE49-F238E27FC236}">
                <a16:creationId xmlns:a16="http://schemas.microsoft.com/office/drawing/2014/main" id="{763814FA-CEEE-F28E-DFBA-3E379E7F96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585B4-22F1-F427-A4D9-BD9E1CB17A7A}"/>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42180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A21D9-5441-05DB-8D94-64584126796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CF2056-D07B-FB4C-E8E6-0C2C52DC39D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CB3E4A3-B56F-3D4B-8042-D412A79F362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12DF44E-A74A-7C8E-17B2-D17079D37314}"/>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6" name="Footer Placeholder 5">
            <a:extLst>
              <a:ext uri="{FF2B5EF4-FFF2-40B4-BE49-F238E27FC236}">
                <a16:creationId xmlns:a16="http://schemas.microsoft.com/office/drawing/2014/main" id="{4A92219C-587D-A258-CB0C-4C5BA4644F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761B67-6332-656B-347F-0C5B06FF688F}"/>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154337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91D4-ACE0-8747-1EE6-3D4628A8182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E444C04-B19C-7DDF-D8BE-CD01EB9C2C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5AEA602-8E06-8AA2-5447-86B92A456C9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338321A-129C-26B3-C656-17543E3E19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D4E1DB6-FF7C-405A-6B8C-92A840D327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C6CEE26-1FDC-ADA6-006F-90D4676B78D1}"/>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8" name="Footer Placeholder 7">
            <a:extLst>
              <a:ext uri="{FF2B5EF4-FFF2-40B4-BE49-F238E27FC236}">
                <a16:creationId xmlns:a16="http://schemas.microsoft.com/office/drawing/2014/main" id="{4AEC8445-BC1D-40BD-3C58-FF922E88BB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8D2950-82F7-5601-895B-9428757F5B13}"/>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4214745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846B5-A05A-7C95-1B88-2A31056917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4631816-ED5F-501C-2D90-BB6E0EC83553}"/>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4" name="Footer Placeholder 3">
            <a:extLst>
              <a:ext uri="{FF2B5EF4-FFF2-40B4-BE49-F238E27FC236}">
                <a16:creationId xmlns:a16="http://schemas.microsoft.com/office/drawing/2014/main" id="{93A6A3ED-F8F5-91BE-63EA-132B652E87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A3F046-CF46-1CEB-B5F4-F77EB686D178}"/>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1598288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1E987C-8FD5-DDBD-DD9A-44A6E94BD6D9}"/>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3" name="Footer Placeholder 2">
            <a:extLst>
              <a:ext uri="{FF2B5EF4-FFF2-40B4-BE49-F238E27FC236}">
                <a16:creationId xmlns:a16="http://schemas.microsoft.com/office/drawing/2014/main" id="{8C59C3D8-BBD5-67B7-0035-8FF72AA336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DF323C-A2DF-22A7-16A6-6DF1C07C2363}"/>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2945780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D68DD-0A7E-5ADC-FB9D-F00AB7322D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A28566B-895C-9111-C6D1-257BF4F09F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61F2605-5649-2D96-A4D3-9B09914354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9531A77-9956-B310-BE95-14F7FC84D325}"/>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6" name="Footer Placeholder 5">
            <a:extLst>
              <a:ext uri="{FF2B5EF4-FFF2-40B4-BE49-F238E27FC236}">
                <a16:creationId xmlns:a16="http://schemas.microsoft.com/office/drawing/2014/main" id="{EFA77F13-C02C-7B9E-C53E-C4E6EA0F8F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474791-5D1F-CC40-24E8-AD6893403FAD}"/>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3497899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1E6CF-DB0F-94F1-DE8E-3C891E21F72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2E51BE8-30BA-0F27-D3BE-B8EEE2BB00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19A71A-DEAF-3E9A-9033-76D6C648D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BE0FBE-C65B-2BD9-E434-3BD39AC68BB5}"/>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6" name="Footer Placeholder 5">
            <a:extLst>
              <a:ext uri="{FF2B5EF4-FFF2-40B4-BE49-F238E27FC236}">
                <a16:creationId xmlns:a16="http://schemas.microsoft.com/office/drawing/2014/main" id="{D362279E-FA0D-8CB1-F12B-2AC31E60F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3EBFB4-A423-7DA6-BCB8-1BB4C2341BA8}"/>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3259401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C63BE-9050-4B7B-162C-1DDBEAE8FD3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6B6F6-6BAE-42DB-2F07-F4FE7354531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BFD5E0-65D4-2FC2-5D43-BC6A2CD7D7CE}"/>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5" name="Footer Placeholder 4">
            <a:extLst>
              <a:ext uri="{FF2B5EF4-FFF2-40B4-BE49-F238E27FC236}">
                <a16:creationId xmlns:a16="http://schemas.microsoft.com/office/drawing/2014/main" id="{0E55C5F4-C500-7869-B53E-D0DC86969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FAB17-5D88-64CB-7C61-1E86CD899662}"/>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3694764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C0CA58-22C5-1864-ED4B-92F14D4C55E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FAE5C9-3E76-2671-4225-FECA01603F5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FDDC27-1250-8CFB-FA53-55645AD36061}"/>
              </a:ext>
            </a:extLst>
          </p:cNvPr>
          <p:cNvSpPr>
            <a:spLocks noGrp="1"/>
          </p:cNvSpPr>
          <p:nvPr>
            <p:ph type="dt" sz="half" idx="10"/>
          </p:nvPr>
        </p:nvSpPr>
        <p:spPr/>
        <p:txBody>
          <a:bodyPr/>
          <a:lstStyle/>
          <a:p>
            <a:fld id="{37742D2E-F72E-CD4F-A4BF-3DE2A018F373}" type="datetimeFigureOut">
              <a:rPr lang="en-US" smtClean="0"/>
              <a:t>9/11/22</a:t>
            </a:fld>
            <a:endParaRPr lang="en-US"/>
          </a:p>
        </p:txBody>
      </p:sp>
      <p:sp>
        <p:nvSpPr>
          <p:cNvPr id="5" name="Footer Placeholder 4">
            <a:extLst>
              <a:ext uri="{FF2B5EF4-FFF2-40B4-BE49-F238E27FC236}">
                <a16:creationId xmlns:a16="http://schemas.microsoft.com/office/drawing/2014/main" id="{4DB97C41-D686-525B-F0A7-5E897F6BF9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A224C6-8661-6485-7B03-0F20E66D87EC}"/>
              </a:ext>
            </a:extLst>
          </p:cNvPr>
          <p:cNvSpPr>
            <a:spLocks noGrp="1"/>
          </p:cNvSpPr>
          <p:nvPr>
            <p:ph type="sldNum" sz="quarter" idx="12"/>
          </p:nvPr>
        </p:nvSpPr>
        <p:spPr/>
        <p:txBody>
          <a:bodyPr/>
          <a:lstStyle/>
          <a:p>
            <a:fld id="{A36CA0E8-2CB9-F740-84EB-E84579625DA9}" type="slidenum">
              <a:rPr lang="en-US" smtClean="0"/>
              <a:t>‹#›</a:t>
            </a:fld>
            <a:endParaRPr lang="en-US"/>
          </a:p>
        </p:txBody>
      </p:sp>
    </p:spTree>
    <p:extLst>
      <p:ext uri="{BB962C8B-B14F-4D97-AF65-F5344CB8AC3E}">
        <p14:creationId xmlns:p14="http://schemas.microsoft.com/office/powerpoint/2010/main" val="2107830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5C8448-4AA5-5E3D-9951-2A13EA7212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24A325-EA08-A69F-59F6-5D86ABD97F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3BA2A2-C9F1-4199-AD19-DC8E6C257B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742D2E-F72E-CD4F-A4BF-3DE2A018F373}" type="datetimeFigureOut">
              <a:rPr lang="en-US" smtClean="0"/>
              <a:t>9/11/22</a:t>
            </a:fld>
            <a:endParaRPr lang="en-US"/>
          </a:p>
        </p:txBody>
      </p:sp>
      <p:sp>
        <p:nvSpPr>
          <p:cNvPr id="5" name="Footer Placeholder 4">
            <a:extLst>
              <a:ext uri="{FF2B5EF4-FFF2-40B4-BE49-F238E27FC236}">
                <a16:creationId xmlns:a16="http://schemas.microsoft.com/office/drawing/2014/main" id="{421A894A-E817-D87B-4721-4CF0372A90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6865618-C2DE-EE74-A7E7-38B7BE99E5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6CA0E8-2CB9-F740-84EB-E84579625DA9}" type="slidenum">
              <a:rPr lang="en-US" smtClean="0"/>
              <a:t>‹#›</a:t>
            </a:fld>
            <a:endParaRPr lang="en-US"/>
          </a:p>
        </p:txBody>
      </p:sp>
    </p:spTree>
    <p:extLst>
      <p:ext uri="{BB962C8B-B14F-4D97-AF65-F5344CB8AC3E}">
        <p14:creationId xmlns:p14="http://schemas.microsoft.com/office/powerpoint/2010/main" val="2241529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png"/><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1.m4a"/><Relationship Id="rId1" Type="http://schemas.openxmlformats.org/officeDocument/2006/relationships/audio" Target="NULL" TargetMode="External"/><Relationship Id="rId5" Type="http://schemas.openxmlformats.org/officeDocument/2006/relationships/image" Target="../media/image1.png"/><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93DE-9AF8-8044-13D9-EF6D4C328F4C}"/>
              </a:ext>
            </a:extLst>
          </p:cNvPr>
          <p:cNvSpPr>
            <a:spLocks noGrp="1"/>
          </p:cNvSpPr>
          <p:nvPr>
            <p:ph type="title"/>
          </p:nvPr>
        </p:nvSpPr>
        <p:spPr>
          <a:xfrm>
            <a:off x="324492" y="153192"/>
            <a:ext cx="10515600" cy="1325563"/>
          </a:xfrm>
        </p:spPr>
        <p:txBody>
          <a:bodyPr/>
          <a:lstStyle/>
          <a:p>
            <a:r>
              <a:rPr lang="en-US" sz="4400" b="1" dirty="0"/>
              <a:t>Cultural Evolution</a:t>
            </a:r>
            <a:endParaRPr lang="en-US" dirty="0"/>
          </a:p>
        </p:txBody>
      </p:sp>
      <p:sp>
        <p:nvSpPr>
          <p:cNvPr id="3" name="Content Placeholder 2">
            <a:extLst>
              <a:ext uri="{FF2B5EF4-FFF2-40B4-BE49-F238E27FC236}">
                <a16:creationId xmlns:a16="http://schemas.microsoft.com/office/drawing/2014/main" id="{202830C6-6C20-7B9E-2F4F-74B3AB2DDA94}"/>
              </a:ext>
            </a:extLst>
          </p:cNvPr>
          <p:cNvSpPr>
            <a:spLocks noGrp="1"/>
          </p:cNvSpPr>
          <p:nvPr>
            <p:ph idx="1"/>
          </p:nvPr>
        </p:nvSpPr>
        <p:spPr>
          <a:xfrm>
            <a:off x="324492" y="1690688"/>
            <a:ext cx="10515600" cy="4351338"/>
          </a:xfrm>
        </p:spPr>
        <p:txBody>
          <a:bodyPr/>
          <a:lstStyle/>
          <a:p>
            <a:pPr marL="0" indent="0">
              <a:buNone/>
            </a:pPr>
            <a:r>
              <a:rPr lang="en-US" b="1" dirty="0"/>
              <a:t>Learning Intention: </a:t>
            </a:r>
          </a:p>
          <a:p>
            <a:pPr marL="0" indent="0">
              <a:buNone/>
            </a:pPr>
            <a:r>
              <a:rPr lang="en-US" i="1" dirty="0"/>
              <a:t>Today we are learning about the evolution of tool use in hominid species. </a:t>
            </a:r>
          </a:p>
          <a:p>
            <a:endParaRPr lang="en-US" dirty="0"/>
          </a:p>
          <a:p>
            <a:pPr marL="0" indent="0">
              <a:buNone/>
            </a:pPr>
            <a:r>
              <a:rPr lang="en-US" b="1" dirty="0"/>
              <a:t>Success Criteria: </a:t>
            </a:r>
          </a:p>
          <a:p>
            <a:pPr marL="514350" indent="-514350">
              <a:buAutoNum type="arabicPeriod"/>
            </a:pPr>
            <a:r>
              <a:rPr lang="en-US" b="1" i="1" dirty="0"/>
              <a:t>Identify</a:t>
            </a:r>
            <a:r>
              <a:rPr lang="en-US" i="1" dirty="0"/>
              <a:t> different cultural periods. </a:t>
            </a:r>
          </a:p>
          <a:p>
            <a:pPr marL="514350" indent="-514350">
              <a:buAutoNum type="arabicPeriod"/>
            </a:pPr>
            <a:r>
              <a:rPr lang="en-US" b="1" i="1" dirty="0"/>
              <a:t>Describe</a:t>
            </a:r>
            <a:r>
              <a:rPr lang="en-US" i="1" dirty="0"/>
              <a:t> examples within each hominin species. </a:t>
            </a:r>
          </a:p>
          <a:p>
            <a:pPr marL="514350" indent="-514350">
              <a:buAutoNum type="arabicPeriod"/>
            </a:pPr>
            <a:endParaRPr lang="en-US" b="1" dirty="0"/>
          </a:p>
          <a:p>
            <a:pPr marL="0" indent="0">
              <a:buNone/>
            </a:pPr>
            <a:endParaRPr lang="en-US" b="1" dirty="0"/>
          </a:p>
        </p:txBody>
      </p:sp>
      <p:pic>
        <p:nvPicPr>
          <p:cNvPr id="5" name="Audio 4">
            <a:hlinkClick r:id="" action="ppaction://media"/>
            <a:extLst>
              <a:ext uri="{FF2B5EF4-FFF2-40B4-BE49-F238E27FC236}">
                <a16:creationId xmlns:a16="http://schemas.microsoft.com/office/drawing/2014/main" id="{F98DB4BE-8047-FCC4-85CE-AC7E79746E3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573306949"/>
      </p:ext>
    </p:extLst>
  </p:cSld>
  <p:clrMapOvr>
    <a:masterClrMapping/>
  </p:clrMapOvr>
  <mc:AlternateContent xmlns:mc="http://schemas.openxmlformats.org/markup-compatibility/2006">
    <mc:Choice xmlns:p14="http://schemas.microsoft.com/office/powerpoint/2010/main" Requires="p14">
      <p:transition spd="slow" p14:dur="2000" advTm="65216"/>
    </mc:Choice>
    <mc:Fallback>
      <p:transition spd="slow" advTm="652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text, application, Teams&#10;&#10;Description automatically generated">
            <a:extLst>
              <a:ext uri="{FF2B5EF4-FFF2-40B4-BE49-F238E27FC236}">
                <a16:creationId xmlns:a16="http://schemas.microsoft.com/office/drawing/2014/main" id="{7A7D9005-5778-1F83-64C4-F0C939713F95}"/>
              </a:ext>
            </a:extLst>
          </p:cNvPr>
          <p:cNvPicPr>
            <a:picLocks noGrp="1" noChangeAspect="1"/>
          </p:cNvPicPr>
          <p:nvPr>
            <p:ph idx="1"/>
          </p:nvPr>
        </p:nvPicPr>
        <p:blipFill>
          <a:blip r:embed="rId4"/>
          <a:stretch>
            <a:fillRect/>
          </a:stretch>
        </p:blipFill>
        <p:spPr>
          <a:xfrm>
            <a:off x="327678" y="370897"/>
            <a:ext cx="7549204" cy="3882448"/>
          </a:xfrm>
        </p:spPr>
      </p:pic>
      <p:pic>
        <p:nvPicPr>
          <p:cNvPr id="7" name="Picture 6" descr="Table&#10;&#10;Description automatically generated">
            <a:extLst>
              <a:ext uri="{FF2B5EF4-FFF2-40B4-BE49-F238E27FC236}">
                <a16:creationId xmlns:a16="http://schemas.microsoft.com/office/drawing/2014/main" id="{6C578440-FB9B-2FC0-2D84-A9444922C36C}"/>
              </a:ext>
            </a:extLst>
          </p:cNvPr>
          <p:cNvPicPr>
            <a:picLocks noChangeAspect="1"/>
          </p:cNvPicPr>
          <p:nvPr/>
        </p:nvPicPr>
        <p:blipFill>
          <a:blip r:embed="rId5"/>
          <a:stretch>
            <a:fillRect/>
          </a:stretch>
        </p:blipFill>
        <p:spPr>
          <a:xfrm>
            <a:off x="5721927" y="2092590"/>
            <a:ext cx="6142395" cy="4332168"/>
          </a:xfrm>
          <a:prstGeom prst="rect">
            <a:avLst/>
          </a:prstGeom>
        </p:spPr>
      </p:pic>
      <p:pic>
        <p:nvPicPr>
          <p:cNvPr id="8" name="Audio 7">
            <a:hlinkClick r:id="" action="ppaction://media"/>
            <a:extLst>
              <a:ext uri="{FF2B5EF4-FFF2-40B4-BE49-F238E27FC236}">
                <a16:creationId xmlns:a16="http://schemas.microsoft.com/office/drawing/2014/main" id="{E3967185-B87F-9352-E1E6-BBA772D64F2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79883663"/>
      </p:ext>
    </p:extLst>
  </p:cSld>
  <p:clrMapOvr>
    <a:masterClrMapping/>
  </p:clrMapOvr>
  <mc:AlternateContent xmlns:mc="http://schemas.openxmlformats.org/markup-compatibility/2006">
    <mc:Choice xmlns:p14="http://schemas.microsoft.com/office/powerpoint/2010/main" Requires="p14">
      <p:transition spd="slow" p14:dur="2000" advTm="62432"/>
    </mc:Choice>
    <mc:Fallback>
      <p:transition spd="slow" advTm="624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7EE3-134A-C9A1-5583-D6F306675F47}"/>
              </a:ext>
            </a:extLst>
          </p:cNvPr>
          <p:cNvSpPr>
            <a:spLocks noGrp="1"/>
          </p:cNvSpPr>
          <p:nvPr>
            <p:ph type="title"/>
          </p:nvPr>
        </p:nvSpPr>
        <p:spPr>
          <a:xfrm>
            <a:off x="199221" y="133771"/>
            <a:ext cx="10515600" cy="1325563"/>
          </a:xfrm>
        </p:spPr>
        <p:txBody>
          <a:bodyPr>
            <a:normAutofit/>
          </a:bodyPr>
          <a:lstStyle/>
          <a:p>
            <a:r>
              <a:rPr lang="en-US" sz="4800" b="1" dirty="0"/>
              <a:t>Cultural Evolution</a:t>
            </a:r>
          </a:p>
        </p:txBody>
      </p:sp>
      <p:sp>
        <p:nvSpPr>
          <p:cNvPr id="3" name="Content Placeholder 2">
            <a:extLst>
              <a:ext uri="{FF2B5EF4-FFF2-40B4-BE49-F238E27FC236}">
                <a16:creationId xmlns:a16="http://schemas.microsoft.com/office/drawing/2014/main" id="{161DF79D-25F6-A9CD-6D53-87EBBAC75F78}"/>
              </a:ext>
            </a:extLst>
          </p:cNvPr>
          <p:cNvSpPr>
            <a:spLocks noGrp="1"/>
          </p:cNvSpPr>
          <p:nvPr>
            <p:ph idx="1"/>
          </p:nvPr>
        </p:nvSpPr>
        <p:spPr>
          <a:xfrm>
            <a:off x="351162" y="2930850"/>
            <a:ext cx="11489675" cy="3627725"/>
          </a:xfrm>
        </p:spPr>
        <p:txBody>
          <a:bodyPr>
            <a:normAutofit/>
          </a:bodyPr>
          <a:lstStyle/>
          <a:p>
            <a:pPr>
              <a:lnSpc>
                <a:spcPct val="100000"/>
              </a:lnSpc>
            </a:pPr>
            <a:r>
              <a:rPr lang="en-US" sz="2400" dirty="0"/>
              <a:t>Anthropologists (the people who study human societies and their development) may define </a:t>
            </a:r>
            <a:r>
              <a:rPr lang="en-US" sz="2400" b="1" dirty="0"/>
              <a:t>culture </a:t>
            </a:r>
            <a:r>
              <a:rPr lang="en-US" sz="2400" dirty="0"/>
              <a:t>anything that is learnt. </a:t>
            </a:r>
          </a:p>
          <a:p>
            <a:pPr>
              <a:lnSpc>
                <a:spcPct val="100000"/>
              </a:lnSpc>
            </a:pPr>
            <a:r>
              <a:rPr lang="en-US" sz="2400" dirty="0"/>
              <a:t>Language, tools and hunting techniques are all elements of culture. </a:t>
            </a:r>
          </a:p>
          <a:p>
            <a:pPr>
              <a:lnSpc>
                <a:spcPct val="100000"/>
              </a:lnSpc>
            </a:pPr>
            <a:r>
              <a:rPr lang="en-US" sz="2400" dirty="0"/>
              <a:t>Just as physical characteristics of hominins has evolved over time, hominin culture has also evolved. </a:t>
            </a:r>
          </a:p>
          <a:p>
            <a:pPr>
              <a:lnSpc>
                <a:spcPct val="100000"/>
              </a:lnSpc>
            </a:pPr>
            <a:r>
              <a:rPr lang="en-US" sz="2400" dirty="0"/>
              <a:t>Cultural development was an important means of overcoming some of the environmental challenges faced by early humans. </a:t>
            </a:r>
          </a:p>
          <a:p>
            <a:pPr>
              <a:lnSpc>
                <a:spcPct val="100000"/>
              </a:lnSpc>
            </a:pPr>
            <a:r>
              <a:rPr lang="en-US" sz="2400" dirty="0"/>
              <a:t>This </a:t>
            </a:r>
            <a:r>
              <a:rPr lang="en-US" sz="2400" b="1" dirty="0"/>
              <a:t>cultural evolution </a:t>
            </a:r>
            <a:r>
              <a:rPr lang="en-US" sz="2400" dirty="0"/>
              <a:t>has culminated in the highly complex culture we have today. </a:t>
            </a:r>
          </a:p>
        </p:txBody>
      </p:sp>
      <p:pic>
        <p:nvPicPr>
          <p:cNvPr id="5" name="Picture 4" descr="A picture containing graphical user interface&#10;&#10;Description automatically generated">
            <a:extLst>
              <a:ext uri="{FF2B5EF4-FFF2-40B4-BE49-F238E27FC236}">
                <a16:creationId xmlns:a16="http://schemas.microsoft.com/office/drawing/2014/main" id="{C27D9DA8-9D79-F21F-61D1-3CD48D1C1801}"/>
              </a:ext>
            </a:extLst>
          </p:cNvPr>
          <p:cNvPicPr>
            <a:picLocks noChangeAspect="1"/>
          </p:cNvPicPr>
          <p:nvPr/>
        </p:nvPicPr>
        <p:blipFill>
          <a:blip r:embed="rId4"/>
          <a:stretch>
            <a:fillRect/>
          </a:stretch>
        </p:blipFill>
        <p:spPr>
          <a:xfrm>
            <a:off x="3205639" y="1233098"/>
            <a:ext cx="5780719" cy="1567921"/>
          </a:xfrm>
          <a:prstGeom prst="rect">
            <a:avLst/>
          </a:prstGeom>
        </p:spPr>
      </p:pic>
      <p:pic>
        <p:nvPicPr>
          <p:cNvPr id="6" name="Audio 5">
            <a:hlinkClick r:id="" action="ppaction://media"/>
            <a:extLst>
              <a:ext uri="{FF2B5EF4-FFF2-40B4-BE49-F238E27FC236}">
                <a16:creationId xmlns:a16="http://schemas.microsoft.com/office/drawing/2014/main" id="{0F430849-0ACE-8445-8A85-EB543BF555F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819671418"/>
      </p:ext>
    </p:extLst>
  </p:cSld>
  <p:clrMapOvr>
    <a:masterClrMapping/>
  </p:clrMapOvr>
  <mc:AlternateContent xmlns:mc="http://schemas.openxmlformats.org/markup-compatibility/2006">
    <mc:Choice xmlns:p14="http://schemas.microsoft.com/office/powerpoint/2010/main" Requires="p14">
      <p:transition spd="slow" p14:dur="2000" advTm="115648"/>
    </mc:Choice>
    <mc:Fallback>
      <p:transition spd="slow" advTm="1156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640EA0DA-49B2-235E-A156-3066B2A0937F}"/>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52227" name="TextBox 3">
            <a:extLst>
              <a:ext uri="{FF2B5EF4-FFF2-40B4-BE49-F238E27FC236}">
                <a16:creationId xmlns:a16="http://schemas.microsoft.com/office/drawing/2014/main" id="{71CBFC01-EDAC-BA6A-F285-10C314FB4E42}"/>
              </a:ext>
            </a:extLst>
          </p:cNvPr>
          <p:cNvSpPr txBox="1">
            <a:spLocks noChangeArrowheads="1"/>
          </p:cNvSpPr>
          <p:nvPr/>
        </p:nvSpPr>
        <p:spPr bwMode="auto">
          <a:xfrm>
            <a:off x="184532" y="381000"/>
            <a:ext cx="11822935" cy="3959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latin typeface="+mj-lt"/>
              </a:rPr>
              <a:t>Tool use by australopithecines</a:t>
            </a:r>
          </a:p>
          <a:p>
            <a:endParaRPr lang="en-AU" altLang="en-US" dirty="0"/>
          </a:p>
          <a:p>
            <a:r>
              <a:rPr lang="en-AU" altLang="en-US" dirty="0"/>
              <a:t>No evidence of the use of fire by australopithecines has been found to date, but tool use does appear to have been common. </a:t>
            </a:r>
          </a:p>
          <a:p>
            <a:r>
              <a:rPr lang="en-AU" altLang="en-US" dirty="0"/>
              <a:t>A range of </a:t>
            </a:r>
            <a:r>
              <a:rPr lang="en-AU" altLang="en-US" b="1" dirty="0"/>
              <a:t>pebble tools </a:t>
            </a:r>
            <a:r>
              <a:rPr lang="en-AU" altLang="en-US" dirty="0"/>
              <a:t>have been found, including choppers, scrapers, flakes and chisels. These vary from about the size of a tennis ball (choppers) to that of a marble (scrapers and flakes), and are frequently referred to as </a:t>
            </a:r>
            <a:r>
              <a:rPr lang="en-AU" altLang="en-US" b="1" dirty="0" err="1"/>
              <a:t>Oldowan</a:t>
            </a:r>
            <a:r>
              <a:rPr lang="en-AU" altLang="en-US" b="1" dirty="0"/>
              <a:t> tools</a:t>
            </a:r>
            <a:r>
              <a:rPr lang="en-AU" altLang="en-US" dirty="0"/>
              <a:t>. </a:t>
            </a:r>
          </a:p>
          <a:p>
            <a:r>
              <a:rPr lang="en-AU" altLang="en-US" dirty="0"/>
              <a:t>To use the scrapers effectively, the precision grip must have been employed. Tools of this type have been found at sites dating back 2.5 million years.</a:t>
            </a:r>
          </a:p>
          <a:p>
            <a:endParaRPr lang="en-AU" altLang="en-US" sz="1700" dirty="0"/>
          </a:p>
          <a:p>
            <a:endParaRPr lang="en-AU" altLang="en-US" sz="1700" dirty="0"/>
          </a:p>
        </p:txBody>
      </p:sp>
      <p:pic>
        <p:nvPicPr>
          <p:cNvPr id="4" name="Picture 3" descr="Icon&#10;&#10;Description automatically generated">
            <a:extLst>
              <a:ext uri="{FF2B5EF4-FFF2-40B4-BE49-F238E27FC236}">
                <a16:creationId xmlns:a16="http://schemas.microsoft.com/office/drawing/2014/main" id="{15C68BED-8EE5-50B4-891F-D27E9447989A}"/>
              </a:ext>
            </a:extLst>
          </p:cNvPr>
          <p:cNvPicPr>
            <a:picLocks noChangeAspect="1"/>
          </p:cNvPicPr>
          <p:nvPr/>
        </p:nvPicPr>
        <p:blipFill>
          <a:blip r:embed="rId5"/>
          <a:stretch>
            <a:fillRect/>
          </a:stretch>
        </p:blipFill>
        <p:spPr>
          <a:xfrm>
            <a:off x="9464306" y="3539551"/>
            <a:ext cx="2543161" cy="2937449"/>
          </a:xfrm>
          <a:prstGeom prst="rect">
            <a:avLst/>
          </a:prstGeom>
        </p:spPr>
      </p:pic>
      <p:pic>
        <p:nvPicPr>
          <p:cNvPr id="6" name="Picture 5" descr="A picture containing text&#10;&#10;Description automatically generated">
            <a:extLst>
              <a:ext uri="{FF2B5EF4-FFF2-40B4-BE49-F238E27FC236}">
                <a16:creationId xmlns:a16="http://schemas.microsoft.com/office/drawing/2014/main" id="{7828F142-EF25-CAA7-A56E-61A9216404B9}"/>
              </a:ext>
            </a:extLst>
          </p:cNvPr>
          <p:cNvPicPr>
            <a:picLocks noChangeAspect="1"/>
          </p:cNvPicPr>
          <p:nvPr/>
        </p:nvPicPr>
        <p:blipFill>
          <a:blip r:embed="rId6"/>
          <a:stretch>
            <a:fillRect/>
          </a:stretch>
        </p:blipFill>
        <p:spPr>
          <a:xfrm>
            <a:off x="6095999" y="3539551"/>
            <a:ext cx="2889335" cy="2945988"/>
          </a:xfrm>
          <a:prstGeom prst="rect">
            <a:avLst/>
          </a:prstGeom>
        </p:spPr>
      </p:pic>
      <p:pic>
        <p:nvPicPr>
          <p:cNvPr id="7" name="Audio 6">
            <a:hlinkClick r:id="" action="ppaction://media"/>
            <a:extLst>
              <a:ext uri="{FF2B5EF4-FFF2-40B4-BE49-F238E27FC236}">
                <a16:creationId xmlns:a16="http://schemas.microsoft.com/office/drawing/2014/main" id="{82738A27-2198-BA62-E71F-FCB0C901348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cSld>
  <p:clrMapOvr>
    <a:masterClrMapping/>
  </p:clrMapOvr>
  <p:transition advTm="9347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640EA0DA-49B2-235E-A156-3066B2A0937F}"/>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52227" name="TextBox 3">
            <a:extLst>
              <a:ext uri="{FF2B5EF4-FFF2-40B4-BE49-F238E27FC236}">
                <a16:creationId xmlns:a16="http://schemas.microsoft.com/office/drawing/2014/main" id="{71CBFC01-EDAC-BA6A-F285-10C314FB4E42}"/>
              </a:ext>
            </a:extLst>
          </p:cNvPr>
          <p:cNvSpPr txBox="1">
            <a:spLocks noChangeArrowheads="1"/>
          </p:cNvSpPr>
          <p:nvPr/>
        </p:nvSpPr>
        <p:spPr bwMode="auto">
          <a:xfrm>
            <a:off x="212074" y="381000"/>
            <a:ext cx="11767851" cy="2182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latin typeface="+mj-lt"/>
              </a:rPr>
              <a:t>Tool use by australopithecines</a:t>
            </a:r>
          </a:p>
          <a:p>
            <a:r>
              <a:rPr lang="en-AU" altLang="en-US" dirty="0"/>
              <a:t>This early tool making marked the start of a change in the way hominins interacted with their environment. </a:t>
            </a:r>
          </a:p>
          <a:p>
            <a:r>
              <a:rPr lang="en-AU" altLang="en-US" dirty="0"/>
              <a:t>They used items present in their surroundings, such as pebbles, sticks and plant material. However, there is no evidence suggesting that they changed these tools. </a:t>
            </a:r>
          </a:p>
          <a:p>
            <a:r>
              <a:rPr lang="en-AU" altLang="en-US" dirty="0"/>
              <a:t>These simple pebble tools enabled the australopithecines to exploit the resources in their environment more effectively and were the first stage in a succession of cultural changes still going on today.</a:t>
            </a:r>
          </a:p>
        </p:txBody>
      </p:sp>
      <p:pic>
        <p:nvPicPr>
          <p:cNvPr id="2" name="Picture 1" descr="Icon&#10;&#10;Description automatically generated">
            <a:extLst>
              <a:ext uri="{FF2B5EF4-FFF2-40B4-BE49-F238E27FC236}">
                <a16:creationId xmlns:a16="http://schemas.microsoft.com/office/drawing/2014/main" id="{13030CEB-3B88-BF23-BADF-697FBEBCC03B}"/>
              </a:ext>
            </a:extLst>
          </p:cNvPr>
          <p:cNvPicPr>
            <a:picLocks noChangeAspect="1"/>
          </p:cNvPicPr>
          <p:nvPr/>
        </p:nvPicPr>
        <p:blipFill>
          <a:blip r:embed="rId5"/>
          <a:stretch>
            <a:fillRect/>
          </a:stretch>
        </p:blipFill>
        <p:spPr>
          <a:xfrm>
            <a:off x="9464306" y="3539551"/>
            <a:ext cx="2543161" cy="2937449"/>
          </a:xfrm>
          <a:prstGeom prst="rect">
            <a:avLst/>
          </a:prstGeom>
        </p:spPr>
      </p:pic>
      <p:pic>
        <p:nvPicPr>
          <p:cNvPr id="3" name="Picture 2" descr="A picture containing text&#10;&#10;Description automatically generated">
            <a:extLst>
              <a:ext uri="{FF2B5EF4-FFF2-40B4-BE49-F238E27FC236}">
                <a16:creationId xmlns:a16="http://schemas.microsoft.com/office/drawing/2014/main" id="{3B23C75C-6C0F-87CA-59F0-CF2A2CED5023}"/>
              </a:ext>
            </a:extLst>
          </p:cNvPr>
          <p:cNvPicPr>
            <a:picLocks noChangeAspect="1"/>
          </p:cNvPicPr>
          <p:nvPr/>
        </p:nvPicPr>
        <p:blipFill>
          <a:blip r:embed="rId6"/>
          <a:stretch>
            <a:fillRect/>
          </a:stretch>
        </p:blipFill>
        <p:spPr>
          <a:xfrm>
            <a:off x="6095999" y="3539551"/>
            <a:ext cx="2889335" cy="2945988"/>
          </a:xfrm>
          <a:prstGeom prst="rect">
            <a:avLst/>
          </a:prstGeom>
        </p:spPr>
      </p:pic>
      <p:pic>
        <p:nvPicPr>
          <p:cNvPr id="4" name="Audio 3">
            <a:hlinkClick r:id="" action="ppaction://media"/>
            <a:extLst>
              <a:ext uri="{FF2B5EF4-FFF2-40B4-BE49-F238E27FC236}">
                <a16:creationId xmlns:a16="http://schemas.microsoft.com/office/drawing/2014/main" id="{41A93A50-1C7D-0ADE-8E5D-95621CA04FF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661672450"/>
      </p:ext>
    </p:extLst>
  </p:cSld>
  <p:clrMapOvr>
    <a:masterClrMapping/>
  </p:clrMapOvr>
  <p:transition advTm="9718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72521783-5352-610D-04C0-7961D7840DDF}"/>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54275" name="TextBox 3">
            <a:extLst>
              <a:ext uri="{FF2B5EF4-FFF2-40B4-BE49-F238E27FC236}">
                <a16:creationId xmlns:a16="http://schemas.microsoft.com/office/drawing/2014/main" id="{62C91F74-22C6-5100-0881-3184160EAC82}"/>
              </a:ext>
            </a:extLst>
          </p:cNvPr>
          <p:cNvSpPr txBox="1">
            <a:spLocks noChangeArrowheads="1"/>
          </p:cNvSpPr>
          <p:nvPr/>
        </p:nvSpPr>
        <p:spPr bwMode="auto">
          <a:xfrm>
            <a:off x="196467" y="381000"/>
            <a:ext cx="11657682" cy="2464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habilis </a:t>
            </a:r>
          </a:p>
          <a:p>
            <a:r>
              <a:rPr lang="en-AU" altLang="en-US" i="1" dirty="0"/>
              <a:t>Homo habilis </a:t>
            </a:r>
            <a:r>
              <a:rPr lang="en-AU" altLang="en-US" dirty="0"/>
              <a:t>continued to use </a:t>
            </a:r>
            <a:r>
              <a:rPr lang="en-AU" altLang="en-US" dirty="0" err="1"/>
              <a:t>Oldowan</a:t>
            </a:r>
            <a:r>
              <a:rPr lang="en-AU" altLang="en-US" dirty="0"/>
              <a:t> tools. Some of these were sharpened or shaped by striking one stone with another. </a:t>
            </a:r>
          </a:p>
          <a:p>
            <a:r>
              <a:rPr lang="en-AU" altLang="en-US" dirty="0"/>
              <a:t>These would have been used for activities such as skinning animals, chopping up meat, breaking open bones, crushing plants and digging up edible plant roots.</a:t>
            </a:r>
          </a:p>
          <a:p>
            <a:r>
              <a:rPr lang="en-AU" altLang="en-US" i="1" dirty="0"/>
              <a:t>Homo habilis </a:t>
            </a:r>
            <a:r>
              <a:rPr lang="en-AU" altLang="en-US" dirty="0"/>
              <a:t>lived in grasslands and were hunter-gatherers. Their diet would have been primarily plant material, with supplementary meat from either scavenging or hunting.</a:t>
            </a:r>
          </a:p>
        </p:txBody>
      </p:sp>
      <p:pic>
        <p:nvPicPr>
          <p:cNvPr id="2" name="Picture 1" descr="Icon&#10;&#10;Description automatically generated">
            <a:extLst>
              <a:ext uri="{FF2B5EF4-FFF2-40B4-BE49-F238E27FC236}">
                <a16:creationId xmlns:a16="http://schemas.microsoft.com/office/drawing/2014/main" id="{0EF5404D-4D48-50FD-857C-CBD9438400EE}"/>
              </a:ext>
            </a:extLst>
          </p:cNvPr>
          <p:cNvPicPr>
            <a:picLocks noChangeAspect="1"/>
          </p:cNvPicPr>
          <p:nvPr/>
        </p:nvPicPr>
        <p:blipFill>
          <a:blip r:embed="rId5"/>
          <a:stretch>
            <a:fillRect/>
          </a:stretch>
        </p:blipFill>
        <p:spPr>
          <a:xfrm>
            <a:off x="9464306" y="3539551"/>
            <a:ext cx="2543161" cy="2937449"/>
          </a:xfrm>
          <a:prstGeom prst="rect">
            <a:avLst/>
          </a:prstGeom>
        </p:spPr>
      </p:pic>
      <p:pic>
        <p:nvPicPr>
          <p:cNvPr id="3" name="Audio 2">
            <a:hlinkClick r:id="" action="ppaction://media"/>
            <a:extLst>
              <a:ext uri="{FF2B5EF4-FFF2-40B4-BE49-F238E27FC236}">
                <a16:creationId xmlns:a16="http://schemas.microsoft.com/office/drawing/2014/main" id="{59307806-60E7-9F74-7524-CEC326ED827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cSld>
  <p:clrMapOvr>
    <a:masterClrMapping/>
  </p:clrMapOvr>
  <p:transition advTm="53696">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72521783-5352-610D-04C0-7961D7840DDF}"/>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54275" name="TextBox 3">
            <a:extLst>
              <a:ext uri="{FF2B5EF4-FFF2-40B4-BE49-F238E27FC236}">
                <a16:creationId xmlns:a16="http://schemas.microsoft.com/office/drawing/2014/main" id="{62C91F74-22C6-5100-0881-3184160EAC82}"/>
              </a:ext>
            </a:extLst>
          </p:cNvPr>
          <p:cNvSpPr txBox="1">
            <a:spLocks noChangeArrowheads="1"/>
          </p:cNvSpPr>
          <p:nvPr/>
        </p:nvSpPr>
        <p:spPr bwMode="auto">
          <a:xfrm>
            <a:off x="185451" y="387427"/>
            <a:ext cx="11657682" cy="2464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habilis </a:t>
            </a:r>
          </a:p>
          <a:p>
            <a:r>
              <a:rPr lang="en-AU" altLang="en-US" dirty="0"/>
              <a:t>Typically, hunter-gatherers would have worked in groups, with specific members being responsible for different tasks. Those collecting food would have brought it back to the home base to share among the members. </a:t>
            </a:r>
          </a:p>
          <a:p>
            <a:r>
              <a:rPr lang="en-AU" altLang="en-US" dirty="0"/>
              <a:t>This indicates a social organisation in </a:t>
            </a:r>
            <a:r>
              <a:rPr lang="en-AU" altLang="en-US" i="1" dirty="0"/>
              <a:t>Homo habilis</a:t>
            </a:r>
            <a:r>
              <a:rPr lang="en-AU" altLang="en-US" dirty="0"/>
              <a:t>. Communication within the group would have been important, and thus pressure for development of a spoken language would have increased. </a:t>
            </a:r>
          </a:p>
          <a:p>
            <a:r>
              <a:rPr lang="en-AU" altLang="en-US" dirty="0"/>
              <a:t>There is some evidence that early Homo had a bulge in the speech-producing area of the brain, but the larynx may not have been capable of making complex sounds.</a:t>
            </a:r>
          </a:p>
        </p:txBody>
      </p:sp>
      <p:pic>
        <p:nvPicPr>
          <p:cNvPr id="3" name="Picture 2">
            <a:extLst>
              <a:ext uri="{FF2B5EF4-FFF2-40B4-BE49-F238E27FC236}">
                <a16:creationId xmlns:a16="http://schemas.microsoft.com/office/drawing/2014/main" id="{B6969CA8-295B-CB29-D1F6-0A17BE76C789}"/>
              </a:ext>
            </a:extLst>
          </p:cNvPr>
          <p:cNvPicPr>
            <a:picLocks noChangeAspect="1"/>
          </p:cNvPicPr>
          <p:nvPr/>
        </p:nvPicPr>
        <p:blipFill>
          <a:blip r:embed="rId5"/>
          <a:stretch>
            <a:fillRect/>
          </a:stretch>
        </p:blipFill>
        <p:spPr>
          <a:xfrm>
            <a:off x="7306592" y="3087168"/>
            <a:ext cx="4536542" cy="3618432"/>
          </a:xfrm>
          <a:prstGeom prst="rect">
            <a:avLst/>
          </a:prstGeom>
        </p:spPr>
      </p:pic>
      <p:pic>
        <p:nvPicPr>
          <p:cNvPr id="4" name="Audio 3">
            <a:hlinkClick r:id="" action="ppaction://media"/>
            <a:extLst>
              <a:ext uri="{FF2B5EF4-FFF2-40B4-BE49-F238E27FC236}">
                <a16:creationId xmlns:a16="http://schemas.microsoft.com/office/drawing/2014/main" id="{341B1CB3-ED11-AEB4-7AE7-AF0CA58AFCC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825765913"/>
      </p:ext>
    </p:extLst>
  </p:cSld>
  <p:clrMapOvr>
    <a:masterClrMapping/>
  </p:clrMapOvr>
  <p:transition advTm="5936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508F-30E0-DF8E-1175-1777B3A79B43}"/>
              </a:ext>
            </a:extLst>
          </p:cNvPr>
          <p:cNvSpPr>
            <a:spLocks noGrp="1"/>
          </p:cNvSpPr>
          <p:nvPr>
            <p:ph type="title"/>
          </p:nvPr>
        </p:nvSpPr>
        <p:spPr/>
        <p:txBody>
          <a:bodyPr>
            <a:normAutofit/>
          </a:bodyPr>
          <a:lstStyle/>
          <a:p>
            <a:r>
              <a:rPr lang="en-US" sz="4800" b="1" dirty="0"/>
              <a:t>Guided Notes </a:t>
            </a:r>
          </a:p>
        </p:txBody>
      </p:sp>
      <p:graphicFrame>
        <p:nvGraphicFramePr>
          <p:cNvPr id="4" name="Table 4">
            <a:extLst>
              <a:ext uri="{FF2B5EF4-FFF2-40B4-BE49-F238E27FC236}">
                <a16:creationId xmlns:a16="http://schemas.microsoft.com/office/drawing/2014/main" id="{3D10D15D-D63E-42BC-A9BE-479F5F53DB3C}"/>
              </a:ext>
            </a:extLst>
          </p:cNvPr>
          <p:cNvGraphicFramePr>
            <a:graphicFrameLocks noGrp="1"/>
          </p:cNvGraphicFramePr>
          <p:nvPr>
            <p:extLst>
              <p:ext uri="{D42A27DB-BD31-4B8C-83A1-F6EECF244321}">
                <p14:modId xmlns:p14="http://schemas.microsoft.com/office/powerpoint/2010/main" val="195687992"/>
              </p:ext>
            </p:extLst>
          </p:nvPr>
        </p:nvGraphicFramePr>
        <p:xfrm>
          <a:off x="379469" y="1690687"/>
          <a:ext cx="11265360" cy="4297680"/>
        </p:xfrm>
        <a:graphic>
          <a:graphicData uri="http://schemas.openxmlformats.org/drawingml/2006/table">
            <a:tbl>
              <a:tblPr firstRow="1" bandRow="1">
                <a:tableStyleId>{2D5ABB26-0587-4C30-8999-92F81FD0307C}</a:tableStyleId>
              </a:tblPr>
              <a:tblGrid>
                <a:gridCol w="2253072">
                  <a:extLst>
                    <a:ext uri="{9D8B030D-6E8A-4147-A177-3AD203B41FA5}">
                      <a16:colId xmlns:a16="http://schemas.microsoft.com/office/drawing/2014/main" val="1756402012"/>
                    </a:ext>
                  </a:extLst>
                </a:gridCol>
                <a:gridCol w="2253072">
                  <a:extLst>
                    <a:ext uri="{9D8B030D-6E8A-4147-A177-3AD203B41FA5}">
                      <a16:colId xmlns:a16="http://schemas.microsoft.com/office/drawing/2014/main" val="439146106"/>
                    </a:ext>
                  </a:extLst>
                </a:gridCol>
                <a:gridCol w="2253072">
                  <a:extLst>
                    <a:ext uri="{9D8B030D-6E8A-4147-A177-3AD203B41FA5}">
                      <a16:colId xmlns:a16="http://schemas.microsoft.com/office/drawing/2014/main" val="3831564329"/>
                    </a:ext>
                  </a:extLst>
                </a:gridCol>
                <a:gridCol w="2253072">
                  <a:extLst>
                    <a:ext uri="{9D8B030D-6E8A-4147-A177-3AD203B41FA5}">
                      <a16:colId xmlns:a16="http://schemas.microsoft.com/office/drawing/2014/main" val="3075590391"/>
                    </a:ext>
                  </a:extLst>
                </a:gridCol>
                <a:gridCol w="2253072">
                  <a:extLst>
                    <a:ext uri="{9D8B030D-6E8A-4147-A177-3AD203B41FA5}">
                      <a16:colId xmlns:a16="http://schemas.microsoft.com/office/drawing/2014/main" val="417168799"/>
                    </a:ext>
                  </a:extLst>
                </a:gridCol>
              </a:tblGrid>
              <a:tr h="501670">
                <a:tc>
                  <a:txBody>
                    <a:bodyPr/>
                    <a:lstStyle/>
                    <a:p>
                      <a:r>
                        <a:rPr lang="en-US" b="1" dirty="0"/>
                        <a:t>Common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Scientific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Approximate age range (Years BP)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Cultural Period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Example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9033047"/>
                  </a:ext>
                </a:extLst>
              </a:tr>
              <a:tr h="1077100">
                <a:tc>
                  <a:txBody>
                    <a:bodyPr/>
                    <a:lstStyle/>
                    <a:p>
                      <a:r>
                        <a:rPr lang="en-AU" sz="1800" i="1" kern="1200" dirty="0">
                          <a:solidFill>
                            <a:schemeClr val="tx1"/>
                          </a:solidFill>
                          <a:effectLst/>
                          <a:latin typeface="+mn-lt"/>
                          <a:ea typeface="+mn-ea"/>
                          <a:cs typeface="+mn-cs"/>
                        </a:rPr>
                        <a:t>Australopithecines</a:t>
                      </a:r>
                      <a:r>
                        <a:rPr lang="en-AU" i="1" dirty="0">
                          <a:effectLst/>
                        </a:rPr>
                        <a:t> </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i="1" kern="1200" dirty="0">
                          <a:solidFill>
                            <a:schemeClr val="tx1"/>
                          </a:solidFill>
                          <a:effectLst/>
                          <a:latin typeface="+mn-lt"/>
                          <a:ea typeface="+mn-ea"/>
                          <a:cs typeface="+mn-cs"/>
                        </a:rPr>
                        <a:t>Australopithecus</a:t>
                      </a:r>
                      <a:r>
                        <a:rPr lang="en-AU" i="1" dirty="0">
                          <a:effectLst/>
                        </a:rPr>
                        <a:t> sp. </a:t>
                      </a:r>
                    </a:p>
                    <a:p>
                      <a:r>
                        <a:rPr lang="en-AU" i="1" dirty="0">
                          <a:effectLst/>
                        </a:rPr>
                        <a:t>Homo Habilis</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i="1" kern="1200" dirty="0">
                          <a:solidFill>
                            <a:schemeClr val="tx1"/>
                          </a:solidFill>
                          <a:effectLst/>
                          <a:latin typeface="+mn-lt"/>
                          <a:ea typeface="+mn-ea"/>
                          <a:cs typeface="+mn-cs"/>
                        </a:rPr>
                        <a:t>2.6 – 1.7 million</a:t>
                      </a:r>
                      <a:r>
                        <a:rPr lang="en-AU" i="1" dirty="0">
                          <a:effectLst/>
                        </a:rPr>
                        <a:t> </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i="1" u="sng" kern="1200" dirty="0" err="1">
                          <a:solidFill>
                            <a:schemeClr val="tx1"/>
                          </a:solidFill>
                          <a:effectLst/>
                          <a:latin typeface="+mn-lt"/>
                          <a:ea typeface="+mn-ea"/>
                          <a:cs typeface="+mn-cs"/>
                        </a:rPr>
                        <a:t>Oldowan</a:t>
                      </a:r>
                      <a:endParaRPr lang="en-AU" sz="1800" i="1" kern="1200" dirty="0">
                        <a:solidFill>
                          <a:schemeClr val="tx1"/>
                        </a:solidFill>
                        <a:effectLst/>
                        <a:latin typeface="+mn-lt"/>
                        <a:ea typeface="+mn-ea"/>
                        <a:cs typeface="+mn-cs"/>
                      </a:endParaRPr>
                    </a:p>
                    <a:p>
                      <a:r>
                        <a:rPr lang="en-AU" sz="1800" i="1" kern="1200" dirty="0">
                          <a:solidFill>
                            <a:schemeClr val="tx1"/>
                          </a:solidFill>
                          <a:effectLst/>
                          <a:latin typeface="+mn-lt"/>
                          <a:ea typeface="+mn-ea"/>
                          <a:cs typeface="+mn-cs"/>
                        </a:rPr>
                        <a:t> </a:t>
                      </a:r>
                    </a:p>
                    <a:p>
                      <a:r>
                        <a:rPr lang="en-AU" sz="1800" i="1" kern="1200" dirty="0">
                          <a:solidFill>
                            <a:schemeClr val="tx1"/>
                          </a:solidFill>
                          <a:effectLst/>
                          <a:latin typeface="+mn-lt"/>
                          <a:ea typeface="+mn-ea"/>
                          <a:cs typeface="+mn-cs"/>
                        </a:rPr>
                        <a:t>Simple river-worn pebbles that were crudely fashioned with minimum of flakes being removed.</a:t>
                      </a:r>
                    </a:p>
                    <a:p>
                      <a:endParaRPr lang="en-AU" sz="1800" i="1" kern="1200" dirty="0">
                        <a:solidFill>
                          <a:schemeClr val="tx1"/>
                        </a:solidFill>
                        <a:effectLst/>
                        <a:latin typeface="+mn-lt"/>
                        <a:ea typeface="+mn-ea"/>
                        <a:cs typeface="+mn-cs"/>
                      </a:endParaRPr>
                    </a:p>
                    <a:p>
                      <a:r>
                        <a:rPr lang="en-AU" sz="1800" i="1" kern="1200" dirty="0">
                          <a:solidFill>
                            <a:schemeClr val="tx1"/>
                          </a:solidFill>
                          <a:effectLst/>
                          <a:latin typeface="+mn-lt"/>
                          <a:ea typeface="+mn-ea"/>
                          <a:cs typeface="+mn-cs"/>
                        </a:rPr>
                        <a:t>Flakes knocked from several angles to produce a core with a cutting edge </a:t>
                      </a:r>
                      <a:r>
                        <a:rPr lang="en-AU" sz="1800" i="1" kern="1200" dirty="0">
                          <a:solidFill>
                            <a:schemeClr val="tx1"/>
                          </a:solidFill>
                          <a:effectLst/>
                          <a:latin typeface="+mn-lt"/>
                          <a:ea typeface="+mn-ea"/>
                          <a:cs typeface="+mn-cs"/>
                          <a:sym typeface="Wingdings" pitchFamily="2" charset="2"/>
                        </a:rPr>
                        <a:t></a:t>
                      </a:r>
                      <a:r>
                        <a:rPr lang="en-AU" sz="1800" i="1" kern="1200" dirty="0">
                          <a:solidFill>
                            <a:schemeClr val="tx1"/>
                          </a:solidFill>
                          <a:effectLst/>
                          <a:latin typeface="+mn-lt"/>
                          <a:ea typeface="+mn-ea"/>
                          <a:cs typeface="+mn-cs"/>
                        </a:rPr>
                        <a:t> useful in cutting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2219790"/>
                  </a:ext>
                </a:extLst>
              </a:tr>
            </a:tbl>
          </a:graphicData>
        </a:graphic>
      </p:graphicFrame>
      <p:pic>
        <p:nvPicPr>
          <p:cNvPr id="5" name="Picture 4" descr="A close up of a piece of paper&#10;&#10;Description automatically generated">
            <a:extLst>
              <a:ext uri="{FF2B5EF4-FFF2-40B4-BE49-F238E27FC236}">
                <a16:creationId xmlns:a16="http://schemas.microsoft.com/office/drawing/2014/main" id="{420B87BD-9079-55A8-C45D-8802760A708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8075" t="24324" r="17007" b="22641"/>
          <a:stretch/>
        </p:blipFill>
        <p:spPr bwMode="auto">
          <a:xfrm rot="5400000">
            <a:off x="9641735" y="2496232"/>
            <a:ext cx="1815926" cy="1608203"/>
          </a:xfrm>
          <a:prstGeom prst="rect">
            <a:avLst/>
          </a:prstGeom>
          <a:ln>
            <a:noFill/>
          </a:ln>
          <a:extLst>
            <a:ext uri="{53640926-AAD7-44D8-BBD7-CCE9431645EC}">
              <a14:shadowObscured xmlns:a14="http://schemas.microsoft.com/office/drawing/2010/main"/>
            </a:ext>
          </a:extLst>
        </p:spPr>
      </p:pic>
      <p:pic>
        <p:nvPicPr>
          <p:cNvPr id="6" name="Audio 5">
            <a:hlinkClick r:id="" action="ppaction://media"/>
            <a:extLst>
              <a:ext uri="{FF2B5EF4-FFF2-40B4-BE49-F238E27FC236}">
                <a16:creationId xmlns:a16="http://schemas.microsoft.com/office/drawing/2014/main" id="{3E252261-85DF-C741-0F9A-1C5B00EF443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289018869"/>
      </p:ext>
    </p:extLst>
  </p:cSld>
  <p:clrMapOvr>
    <a:masterClrMapping/>
  </p:clrMapOvr>
  <mc:AlternateContent xmlns:mc="http://schemas.openxmlformats.org/markup-compatibility/2006">
    <mc:Choice xmlns:p14="http://schemas.microsoft.com/office/powerpoint/2010/main" Requires="p14">
      <p:transition spd="slow" p14:dur="2000" advTm="50752"/>
    </mc:Choice>
    <mc:Fallback>
      <p:transition spd="slow" advTm="507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0F387626-9ED2-EE39-A546-0796F088222A}"/>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56323" name="TextBox 3">
            <a:extLst>
              <a:ext uri="{FF2B5EF4-FFF2-40B4-BE49-F238E27FC236}">
                <a16:creationId xmlns:a16="http://schemas.microsoft.com/office/drawing/2014/main" id="{AE5A8A87-9741-EF06-9B99-49FCF7542147}"/>
              </a:ext>
            </a:extLst>
          </p:cNvPr>
          <p:cNvSpPr txBox="1">
            <a:spLocks noChangeArrowheads="1"/>
          </p:cNvSpPr>
          <p:nvPr/>
        </p:nvSpPr>
        <p:spPr bwMode="auto">
          <a:xfrm>
            <a:off x="185449" y="381000"/>
            <a:ext cx="11789885" cy="1479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erectus </a:t>
            </a:r>
          </a:p>
          <a:p>
            <a:r>
              <a:rPr lang="en-AU" altLang="en-US" dirty="0"/>
              <a:t>By the time of </a:t>
            </a:r>
            <a:r>
              <a:rPr lang="en-AU" altLang="en-US" i="1" dirty="0"/>
              <a:t>Homo erectus</a:t>
            </a:r>
            <a:r>
              <a:rPr lang="en-AU" altLang="en-US" dirty="0"/>
              <a:t>, the effect of the environment as a selective agent was diminishing. </a:t>
            </a:r>
          </a:p>
          <a:p>
            <a:r>
              <a:rPr lang="en-AU" altLang="en-US" dirty="0"/>
              <a:t>The use of fire, the building of shelters and a range of sophisticated tools had enabled </a:t>
            </a:r>
            <a:r>
              <a:rPr lang="en-AU" altLang="en-US" i="1" dirty="0"/>
              <a:t>H. erectus</a:t>
            </a:r>
            <a:r>
              <a:rPr lang="en-AU" altLang="en-US" dirty="0"/>
              <a:t> to become more independent of the environment.</a:t>
            </a:r>
          </a:p>
        </p:txBody>
      </p:sp>
      <p:pic>
        <p:nvPicPr>
          <p:cNvPr id="3" name="Picture 2" descr="A picture containing sliced&#10;&#10;Description automatically generated">
            <a:extLst>
              <a:ext uri="{FF2B5EF4-FFF2-40B4-BE49-F238E27FC236}">
                <a16:creationId xmlns:a16="http://schemas.microsoft.com/office/drawing/2014/main" id="{43213DEA-79DF-B578-A77A-07C2A90A181B}"/>
              </a:ext>
            </a:extLst>
          </p:cNvPr>
          <p:cNvPicPr>
            <a:picLocks noChangeAspect="1"/>
          </p:cNvPicPr>
          <p:nvPr/>
        </p:nvPicPr>
        <p:blipFill>
          <a:blip r:embed="rId5"/>
          <a:stretch>
            <a:fillRect/>
          </a:stretch>
        </p:blipFill>
        <p:spPr>
          <a:xfrm>
            <a:off x="6903359" y="2963012"/>
            <a:ext cx="4633682" cy="3031200"/>
          </a:xfrm>
          <a:prstGeom prst="rect">
            <a:avLst/>
          </a:prstGeom>
        </p:spPr>
      </p:pic>
      <p:pic>
        <p:nvPicPr>
          <p:cNvPr id="5" name="Picture 4" descr="A picture containing text, primate, mammal&#10;&#10;Description automatically generated">
            <a:extLst>
              <a:ext uri="{FF2B5EF4-FFF2-40B4-BE49-F238E27FC236}">
                <a16:creationId xmlns:a16="http://schemas.microsoft.com/office/drawing/2014/main" id="{BE711E5D-BB90-7E3F-9EE6-C001F5223747}"/>
              </a:ext>
            </a:extLst>
          </p:cNvPr>
          <p:cNvPicPr>
            <a:picLocks noChangeAspect="1"/>
          </p:cNvPicPr>
          <p:nvPr/>
        </p:nvPicPr>
        <p:blipFill rotWithShape="1">
          <a:blip r:embed="rId6"/>
          <a:srcRect r="2703"/>
          <a:stretch/>
        </p:blipFill>
        <p:spPr>
          <a:xfrm>
            <a:off x="1315357" y="2089429"/>
            <a:ext cx="4374244" cy="4406900"/>
          </a:xfrm>
          <a:prstGeom prst="rect">
            <a:avLst/>
          </a:prstGeom>
        </p:spPr>
      </p:pic>
      <p:pic>
        <p:nvPicPr>
          <p:cNvPr id="6" name="Audio 5">
            <a:hlinkClick r:id="" action="ppaction://media"/>
            <a:extLst>
              <a:ext uri="{FF2B5EF4-FFF2-40B4-BE49-F238E27FC236}">
                <a16:creationId xmlns:a16="http://schemas.microsoft.com/office/drawing/2014/main" id="{A6DEB47C-FE4E-4CD5-1DDF-6BC44FC0C72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cSld>
  <p:clrMapOvr>
    <a:masterClrMapping/>
  </p:clrMapOvr>
  <p:transition advTm="4979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0F387626-9ED2-EE39-A546-0796F088222A}"/>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56323" name="TextBox 3">
            <a:extLst>
              <a:ext uri="{FF2B5EF4-FFF2-40B4-BE49-F238E27FC236}">
                <a16:creationId xmlns:a16="http://schemas.microsoft.com/office/drawing/2014/main" id="{AE5A8A87-9741-EF06-9B99-49FCF7542147}"/>
              </a:ext>
            </a:extLst>
          </p:cNvPr>
          <p:cNvSpPr txBox="1">
            <a:spLocks noChangeArrowheads="1"/>
          </p:cNvSpPr>
          <p:nvPr/>
        </p:nvSpPr>
        <p:spPr bwMode="auto">
          <a:xfrm>
            <a:off x="185450" y="381000"/>
            <a:ext cx="11646666" cy="1479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erectus </a:t>
            </a:r>
          </a:p>
          <a:p>
            <a:r>
              <a:rPr lang="en-AU" altLang="en-US" dirty="0"/>
              <a:t>Tools manufactured by </a:t>
            </a:r>
            <a:r>
              <a:rPr lang="en-AU" altLang="en-US" i="1" dirty="0"/>
              <a:t>H. erectus </a:t>
            </a:r>
            <a:r>
              <a:rPr lang="en-AU" altLang="en-US" dirty="0"/>
              <a:t>were flaked around all of the edges, first in one direction and then in the other, until they formed roughly two-faced (bi-faced) lumps, approximately teardrop in shape. </a:t>
            </a:r>
          </a:p>
          <a:p>
            <a:r>
              <a:rPr lang="en-AU" altLang="en-US" dirty="0"/>
              <a:t>These tools were used as hand axes and are usually referred to as </a:t>
            </a:r>
            <a:r>
              <a:rPr lang="en-AU" altLang="en-US" b="1" dirty="0"/>
              <a:t>Acheulian tools</a:t>
            </a:r>
            <a:r>
              <a:rPr lang="en-AU" altLang="en-US" sz="1700" dirty="0"/>
              <a:t>.</a:t>
            </a:r>
          </a:p>
        </p:txBody>
      </p:sp>
      <p:pic>
        <p:nvPicPr>
          <p:cNvPr id="2" name="Picture 1" descr="A picture containing text, primate, mammal&#10;&#10;Description automatically generated">
            <a:extLst>
              <a:ext uri="{FF2B5EF4-FFF2-40B4-BE49-F238E27FC236}">
                <a16:creationId xmlns:a16="http://schemas.microsoft.com/office/drawing/2014/main" id="{7FE18C29-F198-412D-6FE4-BAC9BBDB27A6}"/>
              </a:ext>
            </a:extLst>
          </p:cNvPr>
          <p:cNvPicPr>
            <a:picLocks noChangeAspect="1"/>
          </p:cNvPicPr>
          <p:nvPr/>
        </p:nvPicPr>
        <p:blipFill rotWithShape="1">
          <a:blip r:embed="rId5"/>
          <a:srcRect r="2703"/>
          <a:stretch/>
        </p:blipFill>
        <p:spPr>
          <a:xfrm>
            <a:off x="1315357" y="2089429"/>
            <a:ext cx="4374244" cy="4406900"/>
          </a:xfrm>
          <a:prstGeom prst="rect">
            <a:avLst/>
          </a:prstGeom>
        </p:spPr>
      </p:pic>
      <p:pic>
        <p:nvPicPr>
          <p:cNvPr id="3" name="Picture 2" descr="A picture containing sliced&#10;&#10;Description automatically generated">
            <a:extLst>
              <a:ext uri="{FF2B5EF4-FFF2-40B4-BE49-F238E27FC236}">
                <a16:creationId xmlns:a16="http://schemas.microsoft.com/office/drawing/2014/main" id="{E1D99137-EACF-A0A3-0DC3-57A839405BEE}"/>
              </a:ext>
            </a:extLst>
          </p:cNvPr>
          <p:cNvPicPr>
            <a:picLocks noChangeAspect="1"/>
          </p:cNvPicPr>
          <p:nvPr/>
        </p:nvPicPr>
        <p:blipFill>
          <a:blip r:embed="rId6"/>
          <a:stretch>
            <a:fillRect/>
          </a:stretch>
        </p:blipFill>
        <p:spPr>
          <a:xfrm>
            <a:off x="6903359" y="2963012"/>
            <a:ext cx="4633682" cy="3031200"/>
          </a:xfrm>
          <a:prstGeom prst="rect">
            <a:avLst/>
          </a:prstGeom>
        </p:spPr>
      </p:pic>
      <p:pic>
        <p:nvPicPr>
          <p:cNvPr id="4" name="Audio 3">
            <a:hlinkClick r:id="" action="ppaction://media"/>
            <a:extLst>
              <a:ext uri="{FF2B5EF4-FFF2-40B4-BE49-F238E27FC236}">
                <a16:creationId xmlns:a16="http://schemas.microsoft.com/office/drawing/2014/main" id="{8D2F47A8-E69A-AF62-78A0-F9E758A509B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68561347"/>
      </p:ext>
    </p:extLst>
  </p:cSld>
  <p:clrMapOvr>
    <a:masterClrMapping/>
  </p:clrMapOvr>
  <p:transition advTm="3276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0F387626-9ED2-EE39-A546-0796F088222A}"/>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56323" name="TextBox 3">
            <a:extLst>
              <a:ext uri="{FF2B5EF4-FFF2-40B4-BE49-F238E27FC236}">
                <a16:creationId xmlns:a16="http://schemas.microsoft.com/office/drawing/2014/main" id="{AE5A8A87-9741-EF06-9B99-49FCF7542147}"/>
              </a:ext>
            </a:extLst>
          </p:cNvPr>
          <p:cNvSpPr txBox="1">
            <a:spLocks noChangeArrowheads="1"/>
          </p:cNvSpPr>
          <p:nvPr/>
        </p:nvSpPr>
        <p:spPr bwMode="auto">
          <a:xfrm>
            <a:off x="185450" y="381000"/>
            <a:ext cx="11756834" cy="2464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erectus </a:t>
            </a:r>
          </a:p>
          <a:p>
            <a:r>
              <a:rPr lang="en-AU" altLang="en-US" dirty="0"/>
              <a:t>Cultural changes such as the use of fire and the manufacture of tools would have influenced the social organisation of </a:t>
            </a:r>
            <a:r>
              <a:rPr lang="en-AU" altLang="en-US" i="1" dirty="0"/>
              <a:t>H. erectus</a:t>
            </a:r>
            <a:r>
              <a:rPr lang="en-AU" altLang="en-US" dirty="0"/>
              <a:t>. </a:t>
            </a:r>
          </a:p>
          <a:p>
            <a:r>
              <a:rPr lang="en-AU" altLang="en-US" dirty="0"/>
              <a:t>Greater emphasis must have been placed on mutual cooperation, and a complex society began to be established in which the care of the young would have gradually become increasingly important. </a:t>
            </a:r>
          </a:p>
          <a:p>
            <a:r>
              <a:rPr lang="en-AU" altLang="en-US" dirty="0"/>
              <a:t>A relatively complex spoken language could have arisen at this time, but is impossible to establish from the fossil record. </a:t>
            </a:r>
          </a:p>
        </p:txBody>
      </p:sp>
      <p:pic>
        <p:nvPicPr>
          <p:cNvPr id="2" name="Picture 1" descr="A picture containing text, primate, mammal&#10;&#10;Description automatically generated">
            <a:extLst>
              <a:ext uri="{FF2B5EF4-FFF2-40B4-BE49-F238E27FC236}">
                <a16:creationId xmlns:a16="http://schemas.microsoft.com/office/drawing/2014/main" id="{FFC2DDD5-567A-5A6C-1EAA-BC1FB5D80653}"/>
              </a:ext>
            </a:extLst>
          </p:cNvPr>
          <p:cNvPicPr>
            <a:picLocks noChangeAspect="1"/>
          </p:cNvPicPr>
          <p:nvPr/>
        </p:nvPicPr>
        <p:blipFill rotWithShape="1">
          <a:blip r:embed="rId5"/>
          <a:srcRect r="2703"/>
          <a:stretch/>
        </p:blipFill>
        <p:spPr>
          <a:xfrm>
            <a:off x="1676400" y="3231994"/>
            <a:ext cx="3124441" cy="3147767"/>
          </a:xfrm>
          <a:prstGeom prst="rect">
            <a:avLst/>
          </a:prstGeom>
        </p:spPr>
      </p:pic>
      <p:pic>
        <p:nvPicPr>
          <p:cNvPr id="3" name="Picture 2" descr="A picture containing sliced&#10;&#10;Description automatically generated">
            <a:extLst>
              <a:ext uri="{FF2B5EF4-FFF2-40B4-BE49-F238E27FC236}">
                <a16:creationId xmlns:a16="http://schemas.microsoft.com/office/drawing/2014/main" id="{658612E5-4F70-8755-A610-AB29C7A6E2DA}"/>
              </a:ext>
            </a:extLst>
          </p:cNvPr>
          <p:cNvPicPr>
            <a:picLocks noChangeAspect="1"/>
          </p:cNvPicPr>
          <p:nvPr/>
        </p:nvPicPr>
        <p:blipFill>
          <a:blip r:embed="rId6"/>
          <a:stretch>
            <a:fillRect/>
          </a:stretch>
        </p:blipFill>
        <p:spPr>
          <a:xfrm>
            <a:off x="6903359" y="2963012"/>
            <a:ext cx="4633682" cy="3031200"/>
          </a:xfrm>
          <a:prstGeom prst="rect">
            <a:avLst/>
          </a:prstGeom>
        </p:spPr>
      </p:pic>
      <p:pic>
        <p:nvPicPr>
          <p:cNvPr id="4" name="Audio 3">
            <a:hlinkClick r:id="" action="ppaction://media"/>
            <a:extLst>
              <a:ext uri="{FF2B5EF4-FFF2-40B4-BE49-F238E27FC236}">
                <a16:creationId xmlns:a16="http://schemas.microsoft.com/office/drawing/2014/main" id="{43BBB41F-186B-ABAF-20D4-F828FBC7F51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696074850"/>
      </p:ext>
    </p:extLst>
  </p:cSld>
  <p:clrMapOvr>
    <a:masterClrMapping/>
  </p:clrMapOvr>
  <p:transition advTm="5443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508F-30E0-DF8E-1175-1777B3A79B43}"/>
              </a:ext>
            </a:extLst>
          </p:cNvPr>
          <p:cNvSpPr>
            <a:spLocks noGrp="1"/>
          </p:cNvSpPr>
          <p:nvPr>
            <p:ph type="title"/>
          </p:nvPr>
        </p:nvSpPr>
        <p:spPr/>
        <p:txBody>
          <a:bodyPr>
            <a:normAutofit/>
          </a:bodyPr>
          <a:lstStyle/>
          <a:p>
            <a:r>
              <a:rPr lang="en-US" sz="4800" b="1" dirty="0"/>
              <a:t>Guided Notes </a:t>
            </a:r>
          </a:p>
        </p:txBody>
      </p:sp>
      <p:graphicFrame>
        <p:nvGraphicFramePr>
          <p:cNvPr id="4" name="Table 4">
            <a:extLst>
              <a:ext uri="{FF2B5EF4-FFF2-40B4-BE49-F238E27FC236}">
                <a16:creationId xmlns:a16="http://schemas.microsoft.com/office/drawing/2014/main" id="{3D10D15D-D63E-42BC-A9BE-479F5F53DB3C}"/>
              </a:ext>
            </a:extLst>
          </p:cNvPr>
          <p:cNvGraphicFramePr>
            <a:graphicFrameLocks noGrp="1"/>
          </p:cNvGraphicFramePr>
          <p:nvPr>
            <p:extLst>
              <p:ext uri="{D42A27DB-BD31-4B8C-83A1-F6EECF244321}">
                <p14:modId xmlns:p14="http://schemas.microsoft.com/office/powerpoint/2010/main" val="3733890178"/>
              </p:ext>
            </p:extLst>
          </p:nvPr>
        </p:nvGraphicFramePr>
        <p:xfrm>
          <a:off x="379469" y="1690687"/>
          <a:ext cx="11265360" cy="3200400"/>
        </p:xfrm>
        <a:graphic>
          <a:graphicData uri="http://schemas.openxmlformats.org/drawingml/2006/table">
            <a:tbl>
              <a:tblPr firstRow="1" bandRow="1">
                <a:tableStyleId>{2D5ABB26-0587-4C30-8999-92F81FD0307C}</a:tableStyleId>
              </a:tblPr>
              <a:tblGrid>
                <a:gridCol w="2253072">
                  <a:extLst>
                    <a:ext uri="{9D8B030D-6E8A-4147-A177-3AD203B41FA5}">
                      <a16:colId xmlns:a16="http://schemas.microsoft.com/office/drawing/2014/main" val="1756402012"/>
                    </a:ext>
                  </a:extLst>
                </a:gridCol>
                <a:gridCol w="2253072">
                  <a:extLst>
                    <a:ext uri="{9D8B030D-6E8A-4147-A177-3AD203B41FA5}">
                      <a16:colId xmlns:a16="http://schemas.microsoft.com/office/drawing/2014/main" val="439146106"/>
                    </a:ext>
                  </a:extLst>
                </a:gridCol>
                <a:gridCol w="2253072">
                  <a:extLst>
                    <a:ext uri="{9D8B030D-6E8A-4147-A177-3AD203B41FA5}">
                      <a16:colId xmlns:a16="http://schemas.microsoft.com/office/drawing/2014/main" val="3831564329"/>
                    </a:ext>
                  </a:extLst>
                </a:gridCol>
                <a:gridCol w="2253072">
                  <a:extLst>
                    <a:ext uri="{9D8B030D-6E8A-4147-A177-3AD203B41FA5}">
                      <a16:colId xmlns:a16="http://schemas.microsoft.com/office/drawing/2014/main" val="3075590391"/>
                    </a:ext>
                  </a:extLst>
                </a:gridCol>
                <a:gridCol w="2253072">
                  <a:extLst>
                    <a:ext uri="{9D8B030D-6E8A-4147-A177-3AD203B41FA5}">
                      <a16:colId xmlns:a16="http://schemas.microsoft.com/office/drawing/2014/main" val="417168799"/>
                    </a:ext>
                  </a:extLst>
                </a:gridCol>
              </a:tblGrid>
              <a:tr h="501670">
                <a:tc>
                  <a:txBody>
                    <a:bodyPr/>
                    <a:lstStyle/>
                    <a:p>
                      <a:r>
                        <a:rPr lang="en-US" b="1" dirty="0"/>
                        <a:t>Common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Scientific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Approximate age range (Years BP)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Cultural Period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Example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9033047"/>
                  </a:ext>
                </a:extLst>
              </a:tr>
              <a:tr h="1077100">
                <a:tc>
                  <a:txBody>
                    <a:bodyPr/>
                    <a:lstStyle/>
                    <a:p>
                      <a:r>
                        <a:rPr lang="en-AU" sz="1800" i="1" kern="1200" dirty="0">
                          <a:solidFill>
                            <a:schemeClr val="tx1"/>
                          </a:solidFill>
                          <a:effectLst/>
                          <a:latin typeface="+mn-lt"/>
                          <a:ea typeface="+mn-ea"/>
                          <a:cs typeface="+mn-cs"/>
                        </a:rPr>
                        <a:t>Homo erectus</a:t>
                      </a:r>
                      <a:r>
                        <a:rPr lang="en-AU" dirty="0">
                          <a:effectLst/>
                        </a:rPr>
                        <a:t> </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i="1" kern="1200" dirty="0">
                          <a:solidFill>
                            <a:schemeClr val="tx1"/>
                          </a:solidFill>
                          <a:effectLst/>
                          <a:latin typeface="+mn-lt"/>
                          <a:ea typeface="+mn-ea"/>
                          <a:cs typeface="+mn-cs"/>
                        </a:rPr>
                        <a:t>Homo erectus</a:t>
                      </a:r>
                      <a:r>
                        <a:rPr lang="en-AU" dirty="0">
                          <a:effectLst/>
                        </a:rPr>
                        <a:t> </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kern="1200" dirty="0">
                          <a:solidFill>
                            <a:schemeClr val="tx1"/>
                          </a:solidFill>
                          <a:effectLst/>
                          <a:latin typeface="+mn-lt"/>
                          <a:ea typeface="+mn-ea"/>
                          <a:cs typeface="+mn-cs"/>
                        </a:rPr>
                        <a:t>1.7 million – 200 000 thousand</a:t>
                      </a:r>
                      <a:r>
                        <a:rPr lang="en-AU" dirty="0">
                          <a:effectLst/>
                        </a:rPr>
                        <a:t> </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u="sng" kern="1200" dirty="0">
                          <a:solidFill>
                            <a:schemeClr val="tx1"/>
                          </a:solidFill>
                          <a:effectLst/>
                          <a:latin typeface="+mn-lt"/>
                          <a:ea typeface="+mn-ea"/>
                          <a:cs typeface="+mn-cs"/>
                        </a:rPr>
                        <a:t>Acheulian</a:t>
                      </a:r>
                      <a:endParaRPr lang="en-AU" sz="1800" kern="1200" dirty="0">
                        <a:solidFill>
                          <a:schemeClr val="tx1"/>
                        </a:solidFill>
                        <a:effectLst/>
                        <a:latin typeface="+mn-lt"/>
                        <a:ea typeface="+mn-ea"/>
                        <a:cs typeface="+mn-cs"/>
                      </a:endParaRPr>
                    </a:p>
                    <a:p>
                      <a:r>
                        <a:rPr lang="en-AU" sz="1800" u="none" strike="noStrike" kern="1200" dirty="0">
                          <a:solidFill>
                            <a:schemeClr val="tx1"/>
                          </a:solidFill>
                          <a:effectLst/>
                          <a:latin typeface="+mn-lt"/>
                          <a:ea typeface="+mn-ea"/>
                          <a:cs typeface="+mn-cs"/>
                        </a:rPr>
                        <a:t> </a:t>
                      </a:r>
                      <a:endParaRPr lang="en-AU" sz="1800" kern="1200" dirty="0">
                        <a:solidFill>
                          <a:schemeClr val="tx1"/>
                        </a:solidFill>
                        <a:effectLst/>
                        <a:latin typeface="+mn-lt"/>
                        <a:ea typeface="+mn-ea"/>
                        <a:cs typeface="+mn-cs"/>
                      </a:endParaRPr>
                    </a:p>
                    <a:p>
                      <a:r>
                        <a:rPr lang="en-AU" sz="1800" kern="1200" dirty="0">
                          <a:solidFill>
                            <a:schemeClr val="tx1"/>
                          </a:solidFill>
                          <a:effectLst/>
                          <a:latin typeface="+mn-lt"/>
                          <a:ea typeface="+mn-ea"/>
                          <a:cs typeface="+mn-cs"/>
                        </a:rPr>
                        <a:t>‘tear-drop’ shape, most likely used as a hand axe</a:t>
                      </a:r>
                    </a:p>
                    <a:p>
                      <a:r>
                        <a:rPr lang="en-AU" sz="1800" kern="1200" dirty="0">
                          <a:solidFill>
                            <a:schemeClr val="tx1"/>
                          </a:solidFill>
                          <a:effectLst/>
                          <a:latin typeface="+mn-lt"/>
                          <a:ea typeface="+mn-ea"/>
                          <a:cs typeface="+mn-cs"/>
                        </a:rPr>
                        <a:t> </a:t>
                      </a:r>
                    </a:p>
                    <a:p>
                      <a:r>
                        <a:rPr lang="en-AU" sz="1800" kern="1200" dirty="0">
                          <a:solidFill>
                            <a:schemeClr val="tx1"/>
                          </a:solidFill>
                          <a:effectLst/>
                          <a:latin typeface="+mn-lt"/>
                          <a:ea typeface="+mn-ea"/>
                          <a:cs typeface="+mn-cs"/>
                        </a:rPr>
                        <a:t>Differ from </a:t>
                      </a:r>
                      <a:r>
                        <a:rPr lang="en-AU" sz="1800" kern="1200" dirty="0" err="1">
                          <a:solidFill>
                            <a:schemeClr val="tx1"/>
                          </a:solidFill>
                          <a:effectLst/>
                          <a:latin typeface="+mn-lt"/>
                          <a:ea typeface="+mn-ea"/>
                          <a:cs typeface="+mn-cs"/>
                        </a:rPr>
                        <a:t>Oldowan</a:t>
                      </a:r>
                      <a:r>
                        <a:rPr lang="en-AU" sz="1800" kern="1200" dirty="0">
                          <a:solidFill>
                            <a:schemeClr val="tx1"/>
                          </a:solidFill>
                          <a:effectLst/>
                          <a:latin typeface="+mn-lt"/>
                          <a:ea typeface="+mn-ea"/>
                          <a:cs typeface="+mn-cs"/>
                        </a:rPr>
                        <a:t> as many more flakes have been taken out</a:t>
                      </a:r>
                      <a:r>
                        <a:rPr lang="en-AU" dirty="0">
                          <a:effectLst/>
                        </a:rPr>
                        <a:t> </a:t>
                      </a:r>
                      <a:endParaRPr lang="en-AU" sz="1800" i="1"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2219790"/>
                  </a:ext>
                </a:extLst>
              </a:tr>
            </a:tbl>
          </a:graphicData>
        </a:graphic>
      </p:graphicFrame>
      <p:pic>
        <p:nvPicPr>
          <p:cNvPr id="3" name="Picture 2" descr="A picture containing photo, kitchen, large, person&#10;&#10;Description automatically generated">
            <a:extLst>
              <a:ext uri="{FF2B5EF4-FFF2-40B4-BE49-F238E27FC236}">
                <a16:creationId xmlns:a16="http://schemas.microsoft.com/office/drawing/2014/main" id="{1BE9CD0F-BF1E-A1CC-4777-3F074A3F6F5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128" t="14407" r="10435" b="12738"/>
          <a:stretch/>
        </p:blipFill>
        <p:spPr bwMode="auto">
          <a:xfrm rot="5400000">
            <a:off x="9461743" y="2804821"/>
            <a:ext cx="2064695" cy="1535769"/>
          </a:xfrm>
          <a:prstGeom prst="rect">
            <a:avLst/>
          </a:prstGeom>
          <a:ln>
            <a:noFill/>
          </a:ln>
          <a:extLst>
            <a:ext uri="{53640926-AAD7-44D8-BBD7-CCE9431645EC}">
              <a14:shadowObscured xmlns:a14="http://schemas.microsoft.com/office/drawing/2010/main"/>
            </a:ext>
          </a:extLst>
        </p:spPr>
      </p:pic>
      <p:pic>
        <p:nvPicPr>
          <p:cNvPr id="6" name="Audio 5">
            <a:hlinkClick r:id="" action="ppaction://media"/>
            <a:extLst>
              <a:ext uri="{FF2B5EF4-FFF2-40B4-BE49-F238E27FC236}">
                <a16:creationId xmlns:a16="http://schemas.microsoft.com/office/drawing/2014/main" id="{990B07B4-1796-0560-DB0C-1FABF8B58E6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080246981"/>
      </p:ext>
    </p:extLst>
  </p:cSld>
  <p:clrMapOvr>
    <a:masterClrMapping/>
  </p:clrMapOvr>
  <mc:AlternateContent xmlns:mc="http://schemas.openxmlformats.org/markup-compatibility/2006">
    <mc:Choice xmlns:p14="http://schemas.microsoft.com/office/powerpoint/2010/main" Requires="p14">
      <p:transition spd="slow" p14:dur="2000" advTm="13600"/>
    </mc:Choice>
    <mc:Fallback>
      <p:transition spd="slow" advTm="13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CE50D985-3443-A243-90DC-9B8F472C9D12}"/>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60419" name="TextBox 3">
            <a:extLst>
              <a:ext uri="{FF2B5EF4-FFF2-40B4-BE49-F238E27FC236}">
                <a16:creationId xmlns:a16="http://schemas.microsoft.com/office/drawing/2014/main" id="{5DC1F3CB-D57A-9D5E-2D38-B2E45078131F}"/>
              </a:ext>
            </a:extLst>
          </p:cNvPr>
          <p:cNvSpPr txBox="1">
            <a:spLocks noChangeArrowheads="1"/>
          </p:cNvSpPr>
          <p:nvPr/>
        </p:nvSpPr>
        <p:spPr bwMode="auto">
          <a:xfrm>
            <a:off x="196466" y="381000"/>
            <a:ext cx="11767851" cy="3167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neanderthalensis  </a:t>
            </a:r>
          </a:p>
          <a:p>
            <a:r>
              <a:rPr lang="en-AU" altLang="en-US" dirty="0"/>
              <a:t>By the time of later hominins such as </a:t>
            </a:r>
            <a:r>
              <a:rPr lang="en-AU" altLang="en-US" i="1" dirty="0"/>
              <a:t>Homo neanderthalensis</a:t>
            </a:r>
            <a:r>
              <a:rPr lang="en-AU" altLang="en-US" dirty="0"/>
              <a:t>, further cultural advances had greatly diminished the importance of the environment in determining how and where they lived. </a:t>
            </a:r>
          </a:p>
          <a:p>
            <a:r>
              <a:rPr lang="en-AU" altLang="en-US" dirty="0"/>
              <a:t>Tool making now involved the production of stone flakes that could then be trimmed to form various cutting, scraping, piercing and gouging tools. </a:t>
            </a:r>
          </a:p>
          <a:p>
            <a:r>
              <a:rPr lang="en-AU" altLang="en-US" dirty="0"/>
              <a:t>Commonly referred to as the ‘</a:t>
            </a:r>
            <a:r>
              <a:rPr lang="en-AU" altLang="en-US" b="1" dirty="0"/>
              <a:t>Mousterian industry</a:t>
            </a:r>
            <a:r>
              <a:rPr lang="en-AU" altLang="en-US" dirty="0"/>
              <a:t>’, these tools showed a cultural advance over the Acheulian hand axe. A piece of stone was first trimmed into a disc-shaped core, and then struck by another piece of stone to produce the flakes that were flat on one side and had sharp edges. </a:t>
            </a:r>
          </a:p>
          <a:p>
            <a:r>
              <a:rPr lang="en-AU" altLang="en-US" dirty="0"/>
              <a:t>This technique is known as the </a:t>
            </a:r>
            <a:r>
              <a:rPr lang="en-AU" altLang="en-US" b="1" dirty="0"/>
              <a:t>Levallois technique</a:t>
            </a:r>
            <a:r>
              <a:rPr lang="en-AU" altLang="en-US" dirty="0"/>
              <a:t>.</a:t>
            </a:r>
          </a:p>
        </p:txBody>
      </p:sp>
      <p:pic>
        <p:nvPicPr>
          <p:cNvPr id="3" name="Picture 2" descr="A picture containing text&#10;&#10;Description automatically generated">
            <a:extLst>
              <a:ext uri="{FF2B5EF4-FFF2-40B4-BE49-F238E27FC236}">
                <a16:creationId xmlns:a16="http://schemas.microsoft.com/office/drawing/2014/main" id="{03E25295-6314-D0E8-EA23-1FBEA688D016}"/>
              </a:ext>
            </a:extLst>
          </p:cNvPr>
          <p:cNvPicPr>
            <a:picLocks noChangeAspect="1"/>
          </p:cNvPicPr>
          <p:nvPr/>
        </p:nvPicPr>
        <p:blipFill>
          <a:blip r:embed="rId5"/>
          <a:stretch>
            <a:fillRect/>
          </a:stretch>
        </p:blipFill>
        <p:spPr>
          <a:xfrm>
            <a:off x="8505371" y="3071639"/>
            <a:ext cx="3107805" cy="3405361"/>
          </a:xfrm>
          <a:prstGeom prst="rect">
            <a:avLst/>
          </a:prstGeom>
        </p:spPr>
      </p:pic>
      <p:pic>
        <p:nvPicPr>
          <p:cNvPr id="5" name="Picture 4" descr="A picture containing text, indoor, mollusk&#10;&#10;Description automatically generated">
            <a:extLst>
              <a:ext uri="{FF2B5EF4-FFF2-40B4-BE49-F238E27FC236}">
                <a16:creationId xmlns:a16="http://schemas.microsoft.com/office/drawing/2014/main" id="{DAF9D7D0-2EC3-D592-3543-51B2AD00007B}"/>
              </a:ext>
            </a:extLst>
          </p:cNvPr>
          <p:cNvPicPr>
            <a:picLocks noChangeAspect="1"/>
          </p:cNvPicPr>
          <p:nvPr/>
        </p:nvPicPr>
        <p:blipFill>
          <a:blip r:embed="rId6"/>
          <a:stretch>
            <a:fillRect/>
          </a:stretch>
        </p:blipFill>
        <p:spPr>
          <a:xfrm>
            <a:off x="481288" y="3548534"/>
            <a:ext cx="7772400" cy="3144023"/>
          </a:xfrm>
          <a:prstGeom prst="rect">
            <a:avLst/>
          </a:prstGeom>
        </p:spPr>
      </p:pic>
      <p:pic>
        <p:nvPicPr>
          <p:cNvPr id="6" name="Audio 5">
            <a:hlinkClick r:id="" action="ppaction://media"/>
            <a:extLst>
              <a:ext uri="{FF2B5EF4-FFF2-40B4-BE49-F238E27FC236}">
                <a16:creationId xmlns:a16="http://schemas.microsoft.com/office/drawing/2014/main" id="{06BDB5FF-507A-8960-7EF5-9DC8A89F41D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cSld>
  <p:clrMapOvr>
    <a:masterClrMapping/>
  </p:clrMapOvr>
  <p:transition advTm="7094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CE50D985-3443-A243-90DC-9B8F472C9D12}"/>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60419" name="TextBox 3">
            <a:extLst>
              <a:ext uri="{FF2B5EF4-FFF2-40B4-BE49-F238E27FC236}">
                <a16:creationId xmlns:a16="http://schemas.microsoft.com/office/drawing/2014/main" id="{5DC1F3CB-D57A-9D5E-2D38-B2E45078131F}"/>
              </a:ext>
            </a:extLst>
          </p:cNvPr>
          <p:cNvSpPr txBox="1">
            <a:spLocks noChangeArrowheads="1"/>
          </p:cNvSpPr>
          <p:nvPr/>
        </p:nvSpPr>
        <p:spPr bwMode="auto">
          <a:xfrm>
            <a:off x="196466" y="381000"/>
            <a:ext cx="11767851" cy="1479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neanderthalensis  </a:t>
            </a:r>
          </a:p>
          <a:p>
            <a:r>
              <a:rPr lang="en-AU" altLang="en-US" dirty="0"/>
              <a:t>The flake tools could also be joined on to a handle, spear or arrow in a process called </a:t>
            </a:r>
            <a:r>
              <a:rPr lang="en-AU" altLang="en-US" b="1" dirty="0"/>
              <a:t>hafting</a:t>
            </a:r>
            <a:r>
              <a:rPr lang="en-AU" altLang="en-US" dirty="0"/>
              <a:t>.</a:t>
            </a:r>
          </a:p>
          <a:p>
            <a:r>
              <a:rPr lang="en-AU" altLang="en-US" dirty="0"/>
              <a:t>The </a:t>
            </a:r>
            <a:r>
              <a:rPr lang="en-AU" altLang="en-US" dirty="0" err="1"/>
              <a:t>Lavallois</a:t>
            </a:r>
            <a:r>
              <a:rPr lang="en-AU" altLang="en-US" dirty="0"/>
              <a:t> technique and hafting required planning and the ability to foresee possible outcomes. This indicates a significant development in the cognition of the species.</a:t>
            </a:r>
          </a:p>
        </p:txBody>
      </p:sp>
      <p:pic>
        <p:nvPicPr>
          <p:cNvPr id="2" name="Picture 1">
            <a:extLst>
              <a:ext uri="{FF2B5EF4-FFF2-40B4-BE49-F238E27FC236}">
                <a16:creationId xmlns:a16="http://schemas.microsoft.com/office/drawing/2014/main" id="{73886698-7E7E-DB96-24BF-29D878C6674A}"/>
              </a:ext>
            </a:extLst>
          </p:cNvPr>
          <p:cNvPicPr>
            <a:picLocks noChangeAspect="1"/>
          </p:cNvPicPr>
          <p:nvPr/>
        </p:nvPicPr>
        <p:blipFill>
          <a:blip r:embed="rId5"/>
          <a:stretch>
            <a:fillRect/>
          </a:stretch>
        </p:blipFill>
        <p:spPr>
          <a:xfrm>
            <a:off x="481288" y="3548534"/>
            <a:ext cx="7772400" cy="3144023"/>
          </a:xfrm>
          <a:prstGeom prst="rect">
            <a:avLst/>
          </a:prstGeom>
        </p:spPr>
      </p:pic>
      <p:pic>
        <p:nvPicPr>
          <p:cNvPr id="3" name="Picture 2" descr="A picture containing text&#10;&#10;Description automatically generated">
            <a:extLst>
              <a:ext uri="{FF2B5EF4-FFF2-40B4-BE49-F238E27FC236}">
                <a16:creationId xmlns:a16="http://schemas.microsoft.com/office/drawing/2014/main" id="{D5890B54-9B17-4FB5-6FE9-05E089EDC903}"/>
              </a:ext>
            </a:extLst>
          </p:cNvPr>
          <p:cNvPicPr>
            <a:picLocks noChangeAspect="1"/>
          </p:cNvPicPr>
          <p:nvPr/>
        </p:nvPicPr>
        <p:blipFill>
          <a:blip r:embed="rId6"/>
          <a:stretch>
            <a:fillRect/>
          </a:stretch>
        </p:blipFill>
        <p:spPr>
          <a:xfrm>
            <a:off x="8253688" y="2435117"/>
            <a:ext cx="3359488" cy="3681141"/>
          </a:xfrm>
          <a:prstGeom prst="rect">
            <a:avLst/>
          </a:prstGeom>
        </p:spPr>
      </p:pic>
      <p:pic>
        <p:nvPicPr>
          <p:cNvPr id="4" name="Audio 3">
            <a:hlinkClick r:id="" action="ppaction://media"/>
            <a:extLst>
              <a:ext uri="{FF2B5EF4-FFF2-40B4-BE49-F238E27FC236}">
                <a16:creationId xmlns:a16="http://schemas.microsoft.com/office/drawing/2014/main" id="{24C81FBE-7C89-3551-05E6-84D642DE211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412670458"/>
      </p:ext>
    </p:extLst>
  </p:cSld>
  <p:clrMapOvr>
    <a:masterClrMapping/>
  </p:clrMapOvr>
  <p:transition advTm="7292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508F-30E0-DF8E-1175-1777B3A79B43}"/>
              </a:ext>
            </a:extLst>
          </p:cNvPr>
          <p:cNvSpPr>
            <a:spLocks noGrp="1"/>
          </p:cNvSpPr>
          <p:nvPr>
            <p:ph type="title"/>
          </p:nvPr>
        </p:nvSpPr>
        <p:spPr/>
        <p:txBody>
          <a:bodyPr>
            <a:normAutofit/>
          </a:bodyPr>
          <a:lstStyle/>
          <a:p>
            <a:r>
              <a:rPr lang="en-US" sz="4800" b="1" dirty="0"/>
              <a:t>Guided Notes </a:t>
            </a:r>
          </a:p>
        </p:txBody>
      </p:sp>
      <p:graphicFrame>
        <p:nvGraphicFramePr>
          <p:cNvPr id="4" name="Table 4">
            <a:extLst>
              <a:ext uri="{FF2B5EF4-FFF2-40B4-BE49-F238E27FC236}">
                <a16:creationId xmlns:a16="http://schemas.microsoft.com/office/drawing/2014/main" id="{3D10D15D-D63E-42BC-A9BE-479F5F53DB3C}"/>
              </a:ext>
            </a:extLst>
          </p:cNvPr>
          <p:cNvGraphicFramePr>
            <a:graphicFrameLocks noGrp="1"/>
          </p:cNvGraphicFramePr>
          <p:nvPr>
            <p:extLst>
              <p:ext uri="{D42A27DB-BD31-4B8C-83A1-F6EECF244321}">
                <p14:modId xmlns:p14="http://schemas.microsoft.com/office/powerpoint/2010/main" val="963788796"/>
              </p:ext>
            </p:extLst>
          </p:nvPr>
        </p:nvGraphicFramePr>
        <p:xfrm>
          <a:off x="222386" y="1379151"/>
          <a:ext cx="11459330" cy="5394960"/>
        </p:xfrm>
        <a:graphic>
          <a:graphicData uri="http://schemas.openxmlformats.org/drawingml/2006/table">
            <a:tbl>
              <a:tblPr firstRow="1" bandRow="1">
                <a:tableStyleId>{2D5ABB26-0587-4C30-8999-92F81FD0307C}</a:tableStyleId>
              </a:tblPr>
              <a:tblGrid>
                <a:gridCol w="2291866">
                  <a:extLst>
                    <a:ext uri="{9D8B030D-6E8A-4147-A177-3AD203B41FA5}">
                      <a16:colId xmlns:a16="http://schemas.microsoft.com/office/drawing/2014/main" val="1756402012"/>
                    </a:ext>
                  </a:extLst>
                </a:gridCol>
                <a:gridCol w="2291866">
                  <a:extLst>
                    <a:ext uri="{9D8B030D-6E8A-4147-A177-3AD203B41FA5}">
                      <a16:colId xmlns:a16="http://schemas.microsoft.com/office/drawing/2014/main" val="439146106"/>
                    </a:ext>
                  </a:extLst>
                </a:gridCol>
                <a:gridCol w="2291866">
                  <a:extLst>
                    <a:ext uri="{9D8B030D-6E8A-4147-A177-3AD203B41FA5}">
                      <a16:colId xmlns:a16="http://schemas.microsoft.com/office/drawing/2014/main" val="3831564329"/>
                    </a:ext>
                  </a:extLst>
                </a:gridCol>
                <a:gridCol w="2291866">
                  <a:extLst>
                    <a:ext uri="{9D8B030D-6E8A-4147-A177-3AD203B41FA5}">
                      <a16:colId xmlns:a16="http://schemas.microsoft.com/office/drawing/2014/main" val="3075590391"/>
                    </a:ext>
                  </a:extLst>
                </a:gridCol>
                <a:gridCol w="2291866">
                  <a:extLst>
                    <a:ext uri="{9D8B030D-6E8A-4147-A177-3AD203B41FA5}">
                      <a16:colId xmlns:a16="http://schemas.microsoft.com/office/drawing/2014/main" val="417168799"/>
                    </a:ext>
                  </a:extLst>
                </a:gridCol>
              </a:tblGrid>
              <a:tr h="572582">
                <a:tc>
                  <a:txBody>
                    <a:bodyPr/>
                    <a:lstStyle/>
                    <a:p>
                      <a:r>
                        <a:rPr lang="en-US" b="1" dirty="0"/>
                        <a:t>Common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Scientific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Approximate age range (Years BP)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Cultural Period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Example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9033047"/>
                  </a:ext>
                </a:extLst>
              </a:tr>
              <a:tr h="4253466">
                <a:tc>
                  <a:txBody>
                    <a:bodyPr/>
                    <a:lstStyle/>
                    <a:p>
                      <a:r>
                        <a:rPr lang="en-AU" sz="1800" kern="1200" dirty="0">
                          <a:solidFill>
                            <a:schemeClr val="tx1"/>
                          </a:solidFill>
                          <a:effectLst/>
                          <a:latin typeface="+mn-lt"/>
                          <a:ea typeface="+mn-ea"/>
                          <a:cs typeface="+mn-cs"/>
                        </a:rPr>
                        <a:t>Neanderthal</a:t>
                      </a:r>
                      <a:r>
                        <a:rPr lang="en-AU" dirty="0">
                          <a:effectLst/>
                        </a:rPr>
                        <a:t> </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i="1" kern="1200" dirty="0">
                          <a:solidFill>
                            <a:schemeClr val="tx1"/>
                          </a:solidFill>
                          <a:effectLst/>
                          <a:latin typeface="+mn-lt"/>
                          <a:ea typeface="+mn-ea"/>
                          <a:cs typeface="+mn-cs"/>
                        </a:rPr>
                        <a:t>Homo Neanderthalensis</a:t>
                      </a:r>
                      <a:r>
                        <a:rPr lang="en-AU" dirty="0">
                          <a:effectLst/>
                        </a:rPr>
                        <a:t> </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kern="1200" dirty="0">
                          <a:solidFill>
                            <a:schemeClr val="tx1"/>
                          </a:solidFill>
                          <a:effectLst/>
                          <a:latin typeface="+mn-lt"/>
                          <a:ea typeface="+mn-ea"/>
                          <a:cs typeface="+mn-cs"/>
                        </a:rPr>
                        <a:t>200 000 – 40 000 thousand</a:t>
                      </a:r>
                      <a:r>
                        <a:rPr lang="en-AU" dirty="0">
                          <a:effectLst/>
                        </a:rPr>
                        <a:t> </a:t>
                      </a:r>
                      <a:endParaRPr lang="en-US"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u="sng" kern="1200" dirty="0">
                          <a:solidFill>
                            <a:schemeClr val="tx1"/>
                          </a:solidFill>
                          <a:effectLst/>
                          <a:latin typeface="+mn-lt"/>
                          <a:ea typeface="+mn-ea"/>
                          <a:cs typeface="+mn-cs"/>
                        </a:rPr>
                        <a:t>Mousterian</a:t>
                      </a:r>
                      <a:endParaRPr lang="en-AU" sz="1800" kern="1200" dirty="0">
                        <a:solidFill>
                          <a:schemeClr val="tx1"/>
                        </a:solidFill>
                        <a:effectLst/>
                        <a:latin typeface="+mn-lt"/>
                        <a:ea typeface="+mn-ea"/>
                        <a:cs typeface="+mn-cs"/>
                      </a:endParaRPr>
                    </a:p>
                    <a:p>
                      <a:r>
                        <a:rPr lang="en-AU" sz="1800" kern="1200" dirty="0">
                          <a:solidFill>
                            <a:schemeClr val="tx1"/>
                          </a:solidFill>
                          <a:effectLst/>
                          <a:latin typeface="+mn-lt"/>
                          <a:ea typeface="+mn-ea"/>
                          <a:cs typeface="+mn-cs"/>
                        </a:rPr>
                        <a:t> </a:t>
                      </a:r>
                    </a:p>
                    <a:p>
                      <a:r>
                        <a:rPr lang="en-AU" sz="1800" kern="1200" dirty="0">
                          <a:solidFill>
                            <a:schemeClr val="tx1"/>
                          </a:solidFill>
                          <a:effectLst/>
                          <a:latin typeface="+mn-lt"/>
                          <a:ea typeface="+mn-ea"/>
                          <a:cs typeface="+mn-cs"/>
                        </a:rPr>
                        <a:t>manufacture of flake tools.</a:t>
                      </a:r>
                    </a:p>
                    <a:p>
                      <a:r>
                        <a:rPr lang="en-AU" sz="1800" kern="1200" dirty="0">
                          <a:solidFill>
                            <a:schemeClr val="tx1"/>
                          </a:solidFill>
                          <a:effectLst/>
                          <a:latin typeface="+mn-lt"/>
                          <a:ea typeface="+mn-ea"/>
                          <a:cs typeface="+mn-cs"/>
                        </a:rPr>
                        <a:t> </a:t>
                      </a:r>
                    </a:p>
                    <a:p>
                      <a:r>
                        <a:rPr lang="en-AU" sz="1800" kern="1200" dirty="0">
                          <a:solidFill>
                            <a:schemeClr val="tx1"/>
                          </a:solidFill>
                          <a:effectLst/>
                          <a:latin typeface="+mn-lt"/>
                          <a:ea typeface="+mn-ea"/>
                          <a:cs typeface="+mn-cs"/>
                        </a:rPr>
                        <a:t>More refined tool culture than Acheulian, flint became preferred material to make stone tools (predictable way in which it would chip when struck with another hard object </a:t>
                      </a:r>
                      <a:r>
                        <a:rPr lang="en-AU" sz="1800" kern="1200" dirty="0">
                          <a:solidFill>
                            <a:schemeClr val="tx1"/>
                          </a:solidFill>
                          <a:effectLst/>
                          <a:latin typeface="+mn-lt"/>
                          <a:ea typeface="+mn-ea"/>
                          <a:cs typeface="+mn-cs"/>
                          <a:sym typeface="Wingdings" pitchFamily="2" charset="2"/>
                        </a:rPr>
                        <a:t></a:t>
                      </a:r>
                      <a:r>
                        <a:rPr lang="en-AU" sz="1800" kern="1200" dirty="0">
                          <a:solidFill>
                            <a:schemeClr val="tx1"/>
                          </a:solidFill>
                          <a:effectLst/>
                          <a:latin typeface="+mn-lt"/>
                          <a:ea typeface="+mn-ea"/>
                          <a:cs typeface="+mn-cs"/>
                        </a:rPr>
                        <a:t> much finer workmanship)</a:t>
                      </a:r>
                      <a:r>
                        <a:rPr lang="en-AU" dirty="0">
                          <a:effectLst/>
                        </a:rPr>
                        <a:t> </a:t>
                      </a:r>
                      <a:endParaRPr lang="en-AU" sz="1800" i="1"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p>
                      <a:endParaRPr lang="en-US" dirty="0"/>
                    </a:p>
                    <a:p>
                      <a:endParaRPr lang="en-US" dirty="0"/>
                    </a:p>
                    <a:p>
                      <a:endParaRPr lang="en-US" dirty="0"/>
                    </a:p>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2219790"/>
                  </a:ext>
                </a:extLst>
              </a:tr>
            </a:tbl>
          </a:graphicData>
        </a:graphic>
      </p:graphicFrame>
      <p:pic>
        <p:nvPicPr>
          <p:cNvPr id="5" name="Picture 4" descr="A picture containing indoor, photo, sitting, hanging&#10;&#10;Description automatically generated">
            <a:extLst>
              <a:ext uri="{FF2B5EF4-FFF2-40B4-BE49-F238E27FC236}">
                <a16:creationId xmlns:a16="http://schemas.microsoft.com/office/drawing/2014/main" id="{6782ADDE-78F3-BBC3-0949-B8EF53A30856}"/>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8322" t="14649" r="18454" b="9615"/>
          <a:stretch/>
        </p:blipFill>
        <p:spPr bwMode="auto">
          <a:xfrm rot="5400000">
            <a:off x="9745183" y="2175116"/>
            <a:ext cx="1390041" cy="1827192"/>
          </a:xfrm>
          <a:prstGeom prst="rect">
            <a:avLst/>
          </a:prstGeom>
          <a:ln>
            <a:noFill/>
          </a:ln>
          <a:extLst>
            <a:ext uri="{53640926-AAD7-44D8-BBD7-CCE9431645EC}">
              <a14:shadowObscured xmlns:a14="http://schemas.microsoft.com/office/drawing/2010/main"/>
            </a:ext>
          </a:extLst>
        </p:spPr>
      </p:pic>
      <p:pic>
        <p:nvPicPr>
          <p:cNvPr id="6" name="Audio 5">
            <a:hlinkClick r:id="" action="ppaction://media"/>
            <a:extLst>
              <a:ext uri="{FF2B5EF4-FFF2-40B4-BE49-F238E27FC236}">
                <a16:creationId xmlns:a16="http://schemas.microsoft.com/office/drawing/2014/main" id="{35CF93BA-A1B8-8480-BC29-1B9C0331662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679484270"/>
      </p:ext>
    </p:extLst>
  </p:cSld>
  <p:clrMapOvr>
    <a:masterClrMapping/>
  </p:clrMapOvr>
  <mc:AlternateContent xmlns:mc="http://schemas.openxmlformats.org/markup-compatibility/2006">
    <mc:Choice xmlns:p14="http://schemas.microsoft.com/office/powerpoint/2010/main" Requires="p14">
      <p:transition spd="slow" p14:dur="2000" advTm="8160"/>
    </mc:Choice>
    <mc:Fallback>
      <p:transition spd="slow" advTm="8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E19FDA16-4435-B894-29A3-FDCCA3D47A5C}"/>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64515" name="TextBox 3">
            <a:extLst>
              <a:ext uri="{FF2B5EF4-FFF2-40B4-BE49-F238E27FC236}">
                <a16:creationId xmlns:a16="http://schemas.microsoft.com/office/drawing/2014/main" id="{886166B9-D159-5301-192B-09BC96214A95}"/>
              </a:ext>
            </a:extLst>
          </p:cNvPr>
          <p:cNvSpPr txBox="1">
            <a:spLocks noChangeArrowheads="1"/>
          </p:cNvSpPr>
          <p:nvPr/>
        </p:nvSpPr>
        <p:spPr bwMode="auto">
          <a:xfrm>
            <a:off x="207483" y="381000"/>
            <a:ext cx="11789885" cy="2326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sapiens </a:t>
            </a:r>
          </a:p>
          <a:p>
            <a:r>
              <a:rPr lang="en-AU" altLang="en-US" dirty="0"/>
              <a:t>Around 50 000 years ago, new technologies associated with modern humans – finer blades and projectile weapons – began to appear. Scientists can only speculate on what triggered this technological spurt.</a:t>
            </a:r>
          </a:p>
          <a:p>
            <a:r>
              <a:rPr lang="en-AU" altLang="en-US" dirty="0"/>
              <a:t>Whatever the cause, around 40 000 years ago modern humans moved into Europe. They brought with them innovations such as clothing, which had been sewn, and better shelters. These modern humans, known as the Cro-Magnon people, became well established in Europe and were the makers of blade tools – flakes of stone with roughly parallel sides. </a:t>
            </a:r>
          </a:p>
        </p:txBody>
      </p:sp>
      <p:pic>
        <p:nvPicPr>
          <p:cNvPr id="3" name="Picture 2">
            <a:extLst>
              <a:ext uri="{FF2B5EF4-FFF2-40B4-BE49-F238E27FC236}">
                <a16:creationId xmlns:a16="http://schemas.microsoft.com/office/drawing/2014/main" id="{26CA1614-5605-1888-9DDE-9D9E8ACB2D9B}"/>
              </a:ext>
            </a:extLst>
          </p:cNvPr>
          <p:cNvPicPr>
            <a:picLocks noChangeAspect="1"/>
          </p:cNvPicPr>
          <p:nvPr/>
        </p:nvPicPr>
        <p:blipFill>
          <a:blip r:embed="rId5"/>
          <a:stretch>
            <a:fillRect/>
          </a:stretch>
        </p:blipFill>
        <p:spPr>
          <a:xfrm>
            <a:off x="8923662" y="2855931"/>
            <a:ext cx="2707013" cy="3621069"/>
          </a:xfrm>
          <a:prstGeom prst="rect">
            <a:avLst/>
          </a:prstGeom>
        </p:spPr>
      </p:pic>
      <p:pic>
        <p:nvPicPr>
          <p:cNvPr id="4" name="Picture 2">
            <a:extLst>
              <a:ext uri="{FF2B5EF4-FFF2-40B4-BE49-F238E27FC236}">
                <a16:creationId xmlns:a16="http://schemas.microsoft.com/office/drawing/2014/main" id="{D1E84527-D103-E21F-CBB6-2A2C107B2D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7603" y="3429000"/>
            <a:ext cx="6847310" cy="264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Audio 4">
            <a:hlinkClick r:id="" action="ppaction://media"/>
            <a:extLst>
              <a:ext uri="{FF2B5EF4-FFF2-40B4-BE49-F238E27FC236}">
                <a16:creationId xmlns:a16="http://schemas.microsoft.com/office/drawing/2014/main" id="{D783D963-B305-C154-B663-EE8032FF373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cSld>
  <p:clrMapOvr>
    <a:masterClrMapping/>
  </p:clrMapOvr>
  <p:transition advTm="5027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E19FDA16-4435-B894-29A3-FDCCA3D47A5C}"/>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64515" name="TextBox 3">
            <a:extLst>
              <a:ext uri="{FF2B5EF4-FFF2-40B4-BE49-F238E27FC236}">
                <a16:creationId xmlns:a16="http://schemas.microsoft.com/office/drawing/2014/main" id="{886166B9-D159-5301-192B-09BC96214A95}"/>
              </a:ext>
            </a:extLst>
          </p:cNvPr>
          <p:cNvSpPr txBox="1">
            <a:spLocks noChangeArrowheads="1"/>
          </p:cNvSpPr>
          <p:nvPr/>
        </p:nvSpPr>
        <p:spPr bwMode="auto">
          <a:xfrm>
            <a:off x="207483" y="381000"/>
            <a:ext cx="11789885" cy="1761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sapiens </a:t>
            </a:r>
          </a:p>
          <a:p>
            <a:r>
              <a:rPr lang="en-AU" altLang="en-US" dirty="0"/>
              <a:t>When the first fossil remains were found at Cro-Magnon in 1868, the tools found with them were similar to those found eight years earlier at Aurignac, which had become known as </a:t>
            </a:r>
            <a:r>
              <a:rPr lang="en-AU" altLang="en-US" b="1" dirty="0"/>
              <a:t>Aurignacian tools</a:t>
            </a:r>
            <a:r>
              <a:rPr lang="en-AU" altLang="en-US" dirty="0"/>
              <a:t>. </a:t>
            </a:r>
          </a:p>
          <a:p>
            <a:r>
              <a:rPr lang="en-AU" altLang="en-US" dirty="0"/>
              <a:t>These were blades made by removing long, flat rectangles from the core stone, which were easy to handle and effective in cutting.</a:t>
            </a:r>
          </a:p>
        </p:txBody>
      </p:sp>
      <p:pic>
        <p:nvPicPr>
          <p:cNvPr id="3" name="Picture 2">
            <a:extLst>
              <a:ext uri="{FF2B5EF4-FFF2-40B4-BE49-F238E27FC236}">
                <a16:creationId xmlns:a16="http://schemas.microsoft.com/office/drawing/2014/main" id="{DE0486EF-8DC7-297B-2D8A-1FB370BB1A75}"/>
              </a:ext>
            </a:extLst>
          </p:cNvPr>
          <p:cNvPicPr>
            <a:picLocks noChangeAspect="1"/>
          </p:cNvPicPr>
          <p:nvPr/>
        </p:nvPicPr>
        <p:blipFill>
          <a:blip r:embed="rId5"/>
          <a:stretch>
            <a:fillRect/>
          </a:stretch>
        </p:blipFill>
        <p:spPr>
          <a:xfrm>
            <a:off x="8923662" y="2855931"/>
            <a:ext cx="2707013" cy="3621069"/>
          </a:xfrm>
          <a:prstGeom prst="rect">
            <a:avLst/>
          </a:prstGeom>
        </p:spPr>
      </p:pic>
      <p:pic>
        <p:nvPicPr>
          <p:cNvPr id="4" name="Picture 2">
            <a:extLst>
              <a:ext uri="{FF2B5EF4-FFF2-40B4-BE49-F238E27FC236}">
                <a16:creationId xmlns:a16="http://schemas.microsoft.com/office/drawing/2014/main" id="{E984D5FF-B9DB-5495-2ACD-6759F9CE27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325" y="2985571"/>
            <a:ext cx="7988972" cy="3083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A684BE7-B637-54E0-BC7F-280B7BA17150}"/>
              </a:ext>
            </a:extLst>
          </p:cNvPr>
          <p:cNvSpPr txBox="1"/>
          <p:nvPr/>
        </p:nvSpPr>
        <p:spPr>
          <a:xfrm>
            <a:off x="561325" y="6107668"/>
            <a:ext cx="6130886" cy="369332"/>
          </a:xfrm>
          <a:prstGeom prst="rect">
            <a:avLst/>
          </a:prstGeom>
          <a:noFill/>
        </p:spPr>
        <p:txBody>
          <a:bodyPr wrap="square">
            <a:spAutoFit/>
          </a:bodyPr>
          <a:lstStyle/>
          <a:p>
            <a:pPr marL="0" indent="0">
              <a:defRPr/>
            </a:pPr>
            <a:r>
              <a:rPr lang="en-AU" sz="1800" dirty="0">
                <a:solidFill>
                  <a:schemeClr val="accent2">
                    <a:lumMod val="75000"/>
                  </a:schemeClr>
                </a:solidFill>
              </a:rPr>
              <a:t>Aurignacian blade shown from three angles</a:t>
            </a:r>
            <a:endParaRPr lang="en-AU" altLang="en-US" sz="1800" dirty="0">
              <a:solidFill>
                <a:schemeClr val="accent2">
                  <a:lumMod val="75000"/>
                </a:schemeClr>
              </a:solidFill>
            </a:endParaRPr>
          </a:p>
        </p:txBody>
      </p:sp>
      <p:pic>
        <p:nvPicPr>
          <p:cNvPr id="7" name="Audio 6">
            <a:hlinkClick r:id="" action="ppaction://media"/>
            <a:extLst>
              <a:ext uri="{FF2B5EF4-FFF2-40B4-BE49-F238E27FC236}">
                <a16:creationId xmlns:a16="http://schemas.microsoft.com/office/drawing/2014/main" id="{D68003AD-3027-A206-9504-1F29F243484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604130671"/>
      </p:ext>
    </p:extLst>
  </p:cSld>
  <p:clrMapOvr>
    <a:masterClrMapping/>
  </p:clrMapOvr>
  <p:transition advTm="51296">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8AF0A5B8-B299-2990-DFD5-5D725D702DEB}"/>
              </a:ext>
            </a:extLst>
          </p:cNvPr>
          <p:cNvSpPr>
            <a:spLocks noGrp="1" noChangeArrowheads="1"/>
          </p:cNvSpPr>
          <p:nvPr>
            <p:ph type="title"/>
          </p:nvPr>
        </p:nvSpPr>
        <p:spPr>
          <a:xfrm>
            <a:off x="1676400" y="152400"/>
            <a:ext cx="7543800" cy="457200"/>
          </a:xfrm>
        </p:spPr>
        <p:txBody>
          <a:bodyPr/>
          <a:lstStyle/>
          <a:p>
            <a:pPr eaLnBrk="1" hangingPunct="1"/>
            <a:r>
              <a:rPr lang="en-US" altLang="en-US" sz="2400" b="1" dirty="0">
                <a:solidFill>
                  <a:schemeClr val="bg1"/>
                </a:solidFill>
                <a:cs typeface="Arial" panose="020B0604020202020204" pitchFamily="34" charset="0"/>
              </a:rPr>
              <a:t>13.3 Cultural evolution </a:t>
            </a:r>
          </a:p>
        </p:txBody>
      </p:sp>
      <p:sp>
        <p:nvSpPr>
          <p:cNvPr id="66563" name="TextBox 3">
            <a:extLst>
              <a:ext uri="{FF2B5EF4-FFF2-40B4-BE49-F238E27FC236}">
                <a16:creationId xmlns:a16="http://schemas.microsoft.com/office/drawing/2014/main" id="{63E35637-0F6D-B2B3-C578-F1DA3450A375}"/>
              </a:ext>
            </a:extLst>
          </p:cNvPr>
          <p:cNvSpPr txBox="1">
            <a:spLocks noChangeArrowheads="1"/>
          </p:cNvSpPr>
          <p:nvPr/>
        </p:nvSpPr>
        <p:spPr bwMode="auto">
          <a:xfrm>
            <a:off x="339686" y="458806"/>
            <a:ext cx="11569548" cy="1479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sapiens </a:t>
            </a:r>
          </a:p>
          <a:p>
            <a:r>
              <a:rPr lang="en-AU" altLang="en-US" dirty="0"/>
              <a:t>Two other cultures are associated with later Cro-Magnon people: the Solutrean and the Magdalenian. The </a:t>
            </a:r>
            <a:r>
              <a:rPr lang="en-AU" altLang="en-US" b="1" dirty="0"/>
              <a:t>Solutrean culture </a:t>
            </a:r>
            <a:r>
              <a:rPr lang="en-AU" altLang="en-US" dirty="0"/>
              <a:t>was characterised by beautifully made willow-leaf and laurel-leaf points. </a:t>
            </a:r>
          </a:p>
          <a:p>
            <a:r>
              <a:rPr lang="en-AU" altLang="en-US" dirty="0"/>
              <a:t>These were made by carefully retouching blades produced from the original stone core by pressure flaking.</a:t>
            </a:r>
          </a:p>
        </p:txBody>
      </p:sp>
      <p:pic>
        <p:nvPicPr>
          <p:cNvPr id="2" name="Picture 1">
            <a:extLst>
              <a:ext uri="{FF2B5EF4-FFF2-40B4-BE49-F238E27FC236}">
                <a16:creationId xmlns:a16="http://schemas.microsoft.com/office/drawing/2014/main" id="{5B020C9A-F708-0C11-E3AD-B7FAB1D889E0}"/>
              </a:ext>
            </a:extLst>
          </p:cNvPr>
          <p:cNvPicPr>
            <a:picLocks noChangeAspect="1"/>
          </p:cNvPicPr>
          <p:nvPr/>
        </p:nvPicPr>
        <p:blipFill>
          <a:blip r:embed="rId5"/>
          <a:stretch>
            <a:fillRect/>
          </a:stretch>
        </p:blipFill>
        <p:spPr>
          <a:xfrm>
            <a:off x="8923662" y="2855931"/>
            <a:ext cx="2707013" cy="3621069"/>
          </a:xfrm>
          <a:prstGeom prst="rect">
            <a:avLst/>
          </a:prstGeom>
        </p:spPr>
      </p:pic>
      <p:pic>
        <p:nvPicPr>
          <p:cNvPr id="3" name="Picture 7">
            <a:extLst>
              <a:ext uri="{FF2B5EF4-FFF2-40B4-BE49-F238E27FC236}">
                <a16:creationId xmlns:a16="http://schemas.microsoft.com/office/drawing/2014/main" id="{D99499E6-4FBE-630F-ED75-94E6C3CDA1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9686" y="2426971"/>
            <a:ext cx="1854045" cy="3858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5C6E5BB-3090-A77F-CAA3-97B6F6218838}"/>
              </a:ext>
            </a:extLst>
          </p:cNvPr>
          <p:cNvSpPr txBox="1"/>
          <p:nvPr/>
        </p:nvSpPr>
        <p:spPr>
          <a:xfrm>
            <a:off x="227682" y="6399194"/>
            <a:ext cx="6097836" cy="369332"/>
          </a:xfrm>
          <a:prstGeom prst="rect">
            <a:avLst/>
          </a:prstGeom>
          <a:noFill/>
        </p:spPr>
        <p:txBody>
          <a:bodyPr wrap="square">
            <a:spAutoFit/>
          </a:bodyPr>
          <a:lstStyle/>
          <a:p>
            <a:pPr marL="0" indent="0">
              <a:defRPr/>
            </a:pPr>
            <a:r>
              <a:rPr lang="en-AU" sz="1800" kern="0" dirty="0">
                <a:solidFill>
                  <a:schemeClr val="accent2">
                    <a:lumMod val="75000"/>
                  </a:schemeClr>
                </a:solidFill>
              </a:rPr>
              <a:t>Solutrean ‘laurel-leaf’ blade</a:t>
            </a:r>
            <a:endParaRPr lang="en-AU" altLang="en-US" sz="1800" kern="0" dirty="0">
              <a:solidFill>
                <a:schemeClr val="accent2">
                  <a:lumMod val="75000"/>
                </a:schemeClr>
              </a:solidFill>
            </a:endParaRPr>
          </a:p>
        </p:txBody>
      </p:sp>
      <p:pic>
        <p:nvPicPr>
          <p:cNvPr id="6" name="Audio 5">
            <a:hlinkClick r:id="" action="ppaction://media"/>
            <a:extLst>
              <a:ext uri="{FF2B5EF4-FFF2-40B4-BE49-F238E27FC236}">
                <a16:creationId xmlns:a16="http://schemas.microsoft.com/office/drawing/2014/main" id="{F2F78616-EB48-FBBD-AEB1-6DF4D14DD111}"/>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cSld>
  <p:clrMapOvr>
    <a:masterClrMapping/>
  </p:clrMapOvr>
  <p:transition advTm="37856">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8AF0A5B8-B299-2990-DFD5-5D725D702DEB}"/>
              </a:ext>
            </a:extLst>
          </p:cNvPr>
          <p:cNvSpPr>
            <a:spLocks noGrp="1" noChangeArrowheads="1"/>
          </p:cNvSpPr>
          <p:nvPr>
            <p:ph type="title"/>
          </p:nvPr>
        </p:nvSpPr>
        <p:spPr>
          <a:xfrm>
            <a:off x="1676400" y="152400"/>
            <a:ext cx="7543800" cy="457200"/>
          </a:xfrm>
        </p:spPr>
        <p:txBody>
          <a:bodyPr/>
          <a:lstStyle/>
          <a:p>
            <a:pPr eaLnBrk="1" hangingPunct="1"/>
            <a:r>
              <a:rPr lang="en-US" altLang="en-US" sz="2400" b="1" dirty="0">
                <a:solidFill>
                  <a:schemeClr val="bg1"/>
                </a:solidFill>
                <a:cs typeface="Arial" panose="020B0604020202020204" pitchFamily="34" charset="0"/>
              </a:rPr>
              <a:t>13.3 Cultural evolution </a:t>
            </a:r>
          </a:p>
        </p:txBody>
      </p:sp>
      <p:sp>
        <p:nvSpPr>
          <p:cNvPr id="66563" name="TextBox 3">
            <a:extLst>
              <a:ext uri="{FF2B5EF4-FFF2-40B4-BE49-F238E27FC236}">
                <a16:creationId xmlns:a16="http://schemas.microsoft.com/office/drawing/2014/main" id="{63E35637-0F6D-B2B3-C578-F1DA3450A375}"/>
              </a:ext>
            </a:extLst>
          </p:cNvPr>
          <p:cNvSpPr txBox="1">
            <a:spLocks noChangeArrowheads="1"/>
          </p:cNvSpPr>
          <p:nvPr/>
        </p:nvSpPr>
        <p:spPr bwMode="auto">
          <a:xfrm>
            <a:off x="339686" y="458806"/>
            <a:ext cx="11569548" cy="1761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Tool use by </a:t>
            </a:r>
            <a:r>
              <a:rPr lang="en-AU" altLang="en-US" sz="4800" b="1" i="1" dirty="0">
                <a:solidFill>
                  <a:schemeClr val="accent2"/>
                </a:solidFill>
              </a:rPr>
              <a:t>Homo sapiens </a:t>
            </a:r>
          </a:p>
          <a:p>
            <a:r>
              <a:rPr lang="en-AU" altLang="en-US" dirty="0"/>
              <a:t>The </a:t>
            </a:r>
            <a:r>
              <a:rPr lang="en-AU" altLang="en-US" b="1" dirty="0"/>
              <a:t>Magdalenian</a:t>
            </a:r>
            <a:r>
              <a:rPr lang="en-AU" altLang="en-US" dirty="0"/>
              <a:t> cultural period, which followed the Solutrean, is known for the dominance of bone and antler tools over those of flint and stone, and for the works of art that were produced during this period. </a:t>
            </a:r>
          </a:p>
          <a:p>
            <a:r>
              <a:rPr lang="en-AU" altLang="en-US" dirty="0"/>
              <a:t>The bone and antler tools were made using a burin, or chisel-like cutter, a tool used for the manufacture of other tools. This was a significant advance in tool making: humans had devised a tool for making other tools.</a:t>
            </a:r>
          </a:p>
        </p:txBody>
      </p:sp>
      <p:pic>
        <p:nvPicPr>
          <p:cNvPr id="2" name="Picture 1">
            <a:extLst>
              <a:ext uri="{FF2B5EF4-FFF2-40B4-BE49-F238E27FC236}">
                <a16:creationId xmlns:a16="http://schemas.microsoft.com/office/drawing/2014/main" id="{71A059B8-86D2-393C-FC04-15A0C0857B24}"/>
              </a:ext>
            </a:extLst>
          </p:cNvPr>
          <p:cNvPicPr>
            <a:picLocks noChangeAspect="1"/>
          </p:cNvPicPr>
          <p:nvPr/>
        </p:nvPicPr>
        <p:blipFill>
          <a:blip r:embed="rId5"/>
          <a:stretch>
            <a:fillRect/>
          </a:stretch>
        </p:blipFill>
        <p:spPr>
          <a:xfrm>
            <a:off x="8923662" y="2855931"/>
            <a:ext cx="2707013" cy="3621069"/>
          </a:xfrm>
          <a:prstGeom prst="rect">
            <a:avLst/>
          </a:prstGeom>
        </p:spPr>
      </p:pic>
      <p:pic>
        <p:nvPicPr>
          <p:cNvPr id="3" name="Picture 10">
            <a:extLst>
              <a:ext uri="{FF2B5EF4-FFF2-40B4-BE49-F238E27FC236}">
                <a16:creationId xmlns:a16="http://schemas.microsoft.com/office/drawing/2014/main" id="{AA5E822C-47A4-D99D-C5E0-2000A7A571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325" y="2750852"/>
            <a:ext cx="4773057" cy="332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ECE9656-79E3-7A30-C8EA-0CAAA4972A75}"/>
              </a:ext>
            </a:extLst>
          </p:cNvPr>
          <p:cNvSpPr txBox="1"/>
          <p:nvPr/>
        </p:nvSpPr>
        <p:spPr>
          <a:xfrm>
            <a:off x="26624" y="6211669"/>
            <a:ext cx="6097836" cy="646331"/>
          </a:xfrm>
          <a:prstGeom prst="rect">
            <a:avLst/>
          </a:prstGeom>
          <a:noFill/>
        </p:spPr>
        <p:txBody>
          <a:bodyPr wrap="square">
            <a:spAutoFit/>
          </a:bodyPr>
          <a:lstStyle/>
          <a:p>
            <a:pPr marL="0" indent="0">
              <a:defRPr/>
            </a:pPr>
            <a:r>
              <a:rPr lang="en-AU" sz="1800" kern="0" dirty="0">
                <a:solidFill>
                  <a:schemeClr val="accent2">
                    <a:lumMod val="75000"/>
                  </a:schemeClr>
                </a:solidFill>
              </a:rPr>
              <a:t>Magdalenian barbed points and spear thrower (bottom) made of bone or antler</a:t>
            </a:r>
            <a:endParaRPr lang="en-AU" altLang="en-US" sz="1800" kern="0" dirty="0">
              <a:solidFill>
                <a:schemeClr val="accent2">
                  <a:lumMod val="75000"/>
                </a:schemeClr>
              </a:solidFill>
            </a:endParaRPr>
          </a:p>
        </p:txBody>
      </p:sp>
      <p:pic>
        <p:nvPicPr>
          <p:cNvPr id="6" name="Audio 5">
            <a:hlinkClick r:id="" action="ppaction://media"/>
            <a:extLst>
              <a:ext uri="{FF2B5EF4-FFF2-40B4-BE49-F238E27FC236}">
                <a16:creationId xmlns:a16="http://schemas.microsoft.com/office/drawing/2014/main" id="{19067490-B2F6-CCFF-93AB-6148D797AE3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3519875935"/>
      </p:ext>
    </p:extLst>
  </p:cSld>
  <p:clrMapOvr>
    <a:masterClrMapping/>
  </p:clrMapOvr>
  <p:transition advTm="8748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D508F-30E0-DF8E-1175-1777B3A79B43}"/>
              </a:ext>
            </a:extLst>
          </p:cNvPr>
          <p:cNvSpPr>
            <a:spLocks noGrp="1"/>
          </p:cNvSpPr>
          <p:nvPr>
            <p:ph type="title"/>
          </p:nvPr>
        </p:nvSpPr>
        <p:spPr/>
        <p:txBody>
          <a:bodyPr>
            <a:normAutofit/>
          </a:bodyPr>
          <a:lstStyle/>
          <a:p>
            <a:r>
              <a:rPr lang="en-US" sz="4800" b="1" dirty="0"/>
              <a:t>Guided Notes </a:t>
            </a:r>
          </a:p>
        </p:txBody>
      </p:sp>
      <p:graphicFrame>
        <p:nvGraphicFramePr>
          <p:cNvPr id="4" name="Table 4">
            <a:extLst>
              <a:ext uri="{FF2B5EF4-FFF2-40B4-BE49-F238E27FC236}">
                <a16:creationId xmlns:a16="http://schemas.microsoft.com/office/drawing/2014/main" id="{3D10D15D-D63E-42BC-A9BE-479F5F53DB3C}"/>
              </a:ext>
            </a:extLst>
          </p:cNvPr>
          <p:cNvGraphicFramePr>
            <a:graphicFrameLocks noGrp="1"/>
          </p:cNvGraphicFramePr>
          <p:nvPr>
            <p:extLst>
              <p:ext uri="{D42A27DB-BD31-4B8C-83A1-F6EECF244321}">
                <p14:modId xmlns:p14="http://schemas.microsoft.com/office/powerpoint/2010/main" val="3010083944"/>
              </p:ext>
            </p:extLst>
          </p:nvPr>
        </p:nvGraphicFramePr>
        <p:xfrm>
          <a:off x="379469" y="1690687"/>
          <a:ext cx="11265360" cy="4480560"/>
        </p:xfrm>
        <a:graphic>
          <a:graphicData uri="http://schemas.openxmlformats.org/drawingml/2006/table">
            <a:tbl>
              <a:tblPr firstRow="1" bandRow="1">
                <a:tableStyleId>{2D5ABB26-0587-4C30-8999-92F81FD0307C}</a:tableStyleId>
              </a:tblPr>
              <a:tblGrid>
                <a:gridCol w="2253072">
                  <a:extLst>
                    <a:ext uri="{9D8B030D-6E8A-4147-A177-3AD203B41FA5}">
                      <a16:colId xmlns:a16="http://schemas.microsoft.com/office/drawing/2014/main" val="1756402012"/>
                    </a:ext>
                  </a:extLst>
                </a:gridCol>
                <a:gridCol w="2253072">
                  <a:extLst>
                    <a:ext uri="{9D8B030D-6E8A-4147-A177-3AD203B41FA5}">
                      <a16:colId xmlns:a16="http://schemas.microsoft.com/office/drawing/2014/main" val="439146106"/>
                    </a:ext>
                  </a:extLst>
                </a:gridCol>
                <a:gridCol w="2253072">
                  <a:extLst>
                    <a:ext uri="{9D8B030D-6E8A-4147-A177-3AD203B41FA5}">
                      <a16:colId xmlns:a16="http://schemas.microsoft.com/office/drawing/2014/main" val="3831564329"/>
                    </a:ext>
                  </a:extLst>
                </a:gridCol>
                <a:gridCol w="2253072">
                  <a:extLst>
                    <a:ext uri="{9D8B030D-6E8A-4147-A177-3AD203B41FA5}">
                      <a16:colId xmlns:a16="http://schemas.microsoft.com/office/drawing/2014/main" val="3075590391"/>
                    </a:ext>
                  </a:extLst>
                </a:gridCol>
                <a:gridCol w="2253072">
                  <a:extLst>
                    <a:ext uri="{9D8B030D-6E8A-4147-A177-3AD203B41FA5}">
                      <a16:colId xmlns:a16="http://schemas.microsoft.com/office/drawing/2014/main" val="417168799"/>
                    </a:ext>
                  </a:extLst>
                </a:gridCol>
              </a:tblGrid>
              <a:tr h="501670">
                <a:tc>
                  <a:txBody>
                    <a:bodyPr/>
                    <a:lstStyle/>
                    <a:p>
                      <a:r>
                        <a:rPr lang="en-US" b="1" dirty="0"/>
                        <a:t>Common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Scientific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Approximate age range (Years BP)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Cultural Period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Example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9033047"/>
                  </a:ext>
                </a:extLst>
              </a:tr>
              <a:tr h="1077100">
                <a:tc>
                  <a:txBody>
                    <a:bodyPr/>
                    <a:lstStyle/>
                    <a:p>
                      <a:pPr algn="ctr"/>
                      <a:r>
                        <a:rPr lang="en-AU" sz="1800" dirty="0">
                          <a:effectLst/>
                          <a:latin typeface="Calibri" panose="020F0502020204030204" pitchFamily="34" charset="0"/>
                          <a:ea typeface="Times New Roman" panose="02020603050405020304" pitchFamily="18" charset="0"/>
                          <a:cs typeface="Times New Roman" panose="02020603050405020304" pitchFamily="18" charset="0"/>
                        </a:rPr>
                        <a:t>Cro-Magnon</a:t>
                      </a:r>
                      <a:endParaRPr lang="en-A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i="1" dirty="0">
                          <a:effectLst/>
                          <a:latin typeface="Calibri" panose="020F0502020204030204" pitchFamily="34" charset="0"/>
                          <a:ea typeface="Times New Roman" panose="02020603050405020304" pitchFamily="18" charset="0"/>
                          <a:cs typeface="Times New Roman" panose="02020603050405020304" pitchFamily="18" charset="0"/>
                        </a:rPr>
                        <a:t>Homo sapiens</a:t>
                      </a:r>
                      <a:endParaRPr lang="en-A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dirty="0">
                          <a:effectLst/>
                          <a:latin typeface="Calibri" panose="020F0502020204030204" pitchFamily="34" charset="0"/>
                          <a:ea typeface="Times New Roman" panose="02020603050405020304" pitchFamily="18" charset="0"/>
                          <a:cs typeface="Times New Roman" panose="02020603050405020304" pitchFamily="18" charset="0"/>
                        </a:rPr>
                        <a:t>43 000 – 26 000 thousand</a:t>
                      </a:r>
                      <a:endParaRPr lang="en-A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u="sng" kern="1200" dirty="0">
                          <a:solidFill>
                            <a:schemeClr val="tx1"/>
                          </a:solidFill>
                          <a:effectLst/>
                          <a:latin typeface="+mn-lt"/>
                          <a:ea typeface="+mn-ea"/>
                          <a:cs typeface="+mn-cs"/>
                        </a:rPr>
                        <a:t>Aurignacian</a:t>
                      </a:r>
                      <a:endParaRPr lang="en-AU" sz="1800" kern="1200" dirty="0">
                        <a:solidFill>
                          <a:schemeClr val="tx1"/>
                        </a:solidFill>
                        <a:effectLst/>
                        <a:latin typeface="+mn-lt"/>
                        <a:ea typeface="+mn-ea"/>
                        <a:cs typeface="+mn-cs"/>
                      </a:endParaRPr>
                    </a:p>
                    <a:p>
                      <a:r>
                        <a:rPr lang="en-AU" sz="1800" kern="1200" dirty="0">
                          <a:solidFill>
                            <a:schemeClr val="tx1"/>
                          </a:solidFill>
                          <a:effectLst/>
                          <a:latin typeface="+mn-lt"/>
                          <a:ea typeface="+mn-ea"/>
                          <a:cs typeface="+mn-cs"/>
                        </a:rPr>
                        <a:t> </a:t>
                      </a:r>
                    </a:p>
                    <a:p>
                      <a:r>
                        <a:rPr lang="en-AU" sz="1800" kern="1200" dirty="0">
                          <a:solidFill>
                            <a:schemeClr val="tx1"/>
                          </a:solidFill>
                          <a:effectLst/>
                          <a:latin typeface="+mn-lt"/>
                          <a:ea typeface="+mn-ea"/>
                          <a:cs typeface="+mn-cs"/>
                        </a:rPr>
                        <a:t>manufacture of blade tools</a:t>
                      </a:r>
                      <a:r>
                        <a:rPr lang="en-AU" sz="1800" dirty="0">
                          <a:effectLst/>
                        </a:rPr>
                        <a:t> </a:t>
                      </a:r>
                      <a:endParaRPr lang="en-AU" sz="1800" i="1"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2219790"/>
                  </a:ext>
                </a:extLst>
              </a:tr>
              <a:tr h="1077100">
                <a:tc>
                  <a:txBody>
                    <a:bodyPr/>
                    <a:lstStyle/>
                    <a:p>
                      <a:pPr algn="ctr"/>
                      <a:r>
                        <a:rPr lang="en-AU" sz="1800" dirty="0">
                          <a:effectLst/>
                          <a:latin typeface="Calibri" panose="020F0502020204030204" pitchFamily="34" charset="0"/>
                          <a:ea typeface="Times New Roman" panose="02020603050405020304" pitchFamily="18" charset="0"/>
                          <a:cs typeface="Times New Roman" panose="02020603050405020304" pitchFamily="18" charset="0"/>
                        </a:rPr>
                        <a:t>Cro-Magnon</a:t>
                      </a:r>
                      <a:endParaRPr lang="en-A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i="1" dirty="0">
                          <a:effectLst/>
                          <a:latin typeface="Calibri" panose="020F0502020204030204" pitchFamily="34" charset="0"/>
                          <a:ea typeface="Times New Roman" panose="02020603050405020304" pitchFamily="18" charset="0"/>
                          <a:cs typeface="Times New Roman" panose="02020603050405020304" pitchFamily="18" charset="0"/>
                        </a:rPr>
                        <a:t>Homo sapiens</a:t>
                      </a:r>
                      <a:endParaRPr lang="en-A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kern="1200" dirty="0">
                          <a:solidFill>
                            <a:schemeClr val="tx1"/>
                          </a:solidFill>
                          <a:effectLst/>
                          <a:latin typeface="+mn-lt"/>
                          <a:ea typeface="+mn-ea"/>
                          <a:cs typeface="+mn-cs"/>
                        </a:rPr>
                        <a:t>22 000 – 19 000 thousand</a:t>
                      </a:r>
                      <a:r>
                        <a:rPr lang="en-AU" sz="1800" dirty="0">
                          <a:effectLst/>
                        </a:rPr>
                        <a:t> </a:t>
                      </a:r>
                      <a:endParaRPr lang="en-US" sz="18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u="sng" kern="1200" dirty="0">
                          <a:solidFill>
                            <a:schemeClr val="tx1"/>
                          </a:solidFill>
                          <a:effectLst/>
                          <a:latin typeface="+mn-lt"/>
                          <a:ea typeface="+mn-ea"/>
                          <a:cs typeface="+mn-cs"/>
                        </a:rPr>
                        <a:t>Solutrean</a:t>
                      </a:r>
                      <a:endParaRPr lang="en-AU" sz="1800" kern="1200" dirty="0">
                        <a:solidFill>
                          <a:schemeClr val="tx1"/>
                        </a:solidFill>
                        <a:effectLst/>
                        <a:latin typeface="+mn-lt"/>
                        <a:ea typeface="+mn-ea"/>
                        <a:cs typeface="+mn-cs"/>
                      </a:endParaRPr>
                    </a:p>
                    <a:p>
                      <a:r>
                        <a:rPr lang="en-AU" sz="1800" kern="1200" dirty="0">
                          <a:solidFill>
                            <a:schemeClr val="tx1"/>
                          </a:solidFill>
                          <a:effectLst/>
                          <a:latin typeface="+mn-lt"/>
                          <a:ea typeface="+mn-ea"/>
                          <a:cs typeface="+mn-cs"/>
                        </a:rPr>
                        <a:t> </a:t>
                      </a:r>
                    </a:p>
                    <a:p>
                      <a:r>
                        <a:rPr lang="en-AU" sz="1800" kern="1200" dirty="0">
                          <a:solidFill>
                            <a:schemeClr val="tx1"/>
                          </a:solidFill>
                          <a:effectLst/>
                          <a:latin typeface="+mn-lt"/>
                          <a:ea typeface="+mn-ea"/>
                          <a:cs typeface="+mn-cs"/>
                        </a:rPr>
                        <a:t>pressure flaking to retouch blades</a:t>
                      </a:r>
                      <a:r>
                        <a:rPr lang="en-AU" sz="1800" dirty="0">
                          <a:effectLst/>
                        </a:rPr>
                        <a:t> </a:t>
                      </a:r>
                      <a:endParaRPr lang="en-AU" sz="1800" i="1"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8719473"/>
                  </a:ext>
                </a:extLst>
              </a:tr>
              <a:tr h="1077100">
                <a:tc>
                  <a:txBody>
                    <a:bodyPr/>
                    <a:lstStyle/>
                    <a:p>
                      <a:pPr algn="ctr"/>
                      <a:r>
                        <a:rPr lang="en-AU" sz="1800" dirty="0">
                          <a:effectLst/>
                          <a:latin typeface="Calibri" panose="020F0502020204030204" pitchFamily="34" charset="0"/>
                          <a:ea typeface="Times New Roman" panose="02020603050405020304" pitchFamily="18" charset="0"/>
                          <a:cs typeface="Times New Roman" panose="02020603050405020304" pitchFamily="18" charset="0"/>
                        </a:rPr>
                        <a:t>Cro-Magnon</a:t>
                      </a:r>
                      <a:endParaRPr lang="en-A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i="1" dirty="0">
                          <a:effectLst/>
                          <a:latin typeface="Calibri" panose="020F0502020204030204" pitchFamily="34" charset="0"/>
                          <a:ea typeface="Times New Roman" panose="02020603050405020304" pitchFamily="18" charset="0"/>
                          <a:cs typeface="Times New Roman" panose="02020603050405020304" pitchFamily="18" charset="0"/>
                        </a:rPr>
                        <a:t>Homo sapiens</a:t>
                      </a:r>
                      <a:endParaRPr lang="en-AU"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kern="1200" dirty="0">
                          <a:solidFill>
                            <a:schemeClr val="tx1"/>
                          </a:solidFill>
                          <a:effectLst/>
                          <a:latin typeface="+mn-lt"/>
                          <a:ea typeface="+mn-ea"/>
                          <a:cs typeface="+mn-cs"/>
                        </a:rPr>
                        <a:t>18 000 – 12 000 thousand </a:t>
                      </a:r>
                      <a:endParaRPr lang="en-US" sz="180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U" sz="1800" u="sng" kern="1200" dirty="0">
                          <a:solidFill>
                            <a:schemeClr val="tx1"/>
                          </a:solidFill>
                          <a:effectLst/>
                          <a:latin typeface="+mn-lt"/>
                          <a:ea typeface="+mn-ea"/>
                          <a:cs typeface="+mn-cs"/>
                        </a:rPr>
                        <a:t>Magdalenian</a:t>
                      </a:r>
                      <a:endParaRPr lang="en-AU" sz="1800" kern="1200" dirty="0">
                        <a:solidFill>
                          <a:schemeClr val="tx1"/>
                        </a:solidFill>
                        <a:effectLst/>
                        <a:latin typeface="+mn-lt"/>
                        <a:ea typeface="+mn-ea"/>
                        <a:cs typeface="+mn-cs"/>
                      </a:endParaRPr>
                    </a:p>
                    <a:p>
                      <a:r>
                        <a:rPr lang="en-AU" sz="1800" kern="1200" dirty="0">
                          <a:solidFill>
                            <a:schemeClr val="tx1"/>
                          </a:solidFill>
                          <a:effectLst/>
                          <a:latin typeface="+mn-lt"/>
                          <a:ea typeface="+mn-ea"/>
                          <a:cs typeface="+mn-cs"/>
                        </a:rPr>
                        <a:t> </a:t>
                      </a:r>
                    </a:p>
                    <a:p>
                      <a:r>
                        <a:rPr lang="en-AU" sz="1800" kern="1200" dirty="0">
                          <a:solidFill>
                            <a:schemeClr val="tx1"/>
                          </a:solidFill>
                          <a:effectLst/>
                          <a:latin typeface="+mn-lt"/>
                          <a:ea typeface="+mn-ea"/>
                          <a:cs typeface="+mn-cs"/>
                        </a:rPr>
                        <a:t>predominance of bone + antler tools + artwork</a:t>
                      </a:r>
                      <a:r>
                        <a:rPr lang="en-AU" sz="1800" dirty="0">
                          <a:effectLst/>
                        </a:rPr>
                        <a:t> </a:t>
                      </a:r>
                      <a:endParaRPr lang="en-AU" sz="1800" i="1" kern="12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359648"/>
                  </a:ext>
                </a:extLst>
              </a:tr>
            </a:tbl>
          </a:graphicData>
        </a:graphic>
      </p:graphicFrame>
      <p:pic>
        <p:nvPicPr>
          <p:cNvPr id="6" name="Picture 5" descr="A picture containing indoor, photo, person, mirror&#10;&#10;Description automatically generated">
            <a:extLst>
              <a:ext uri="{FF2B5EF4-FFF2-40B4-BE49-F238E27FC236}">
                <a16:creationId xmlns:a16="http://schemas.microsoft.com/office/drawing/2014/main" id="{2888B1DB-1D80-A05D-68AB-B859DEA1A41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213" t="13306" r="4922" b="8075"/>
          <a:stretch/>
        </p:blipFill>
        <p:spPr bwMode="auto">
          <a:xfrm rot="5400000">
            <a:off x="9947059" y="2506218"/>
            <a:ext cx="1018359" cy="812782"/>
          </a:xfrm>
          <a:prstGeom prst="rect">
            <a:avLst/>
          </a:prstGeom>
          <a:ln>
            <a:noFill/>
          </a:ln>
          <a:extLst>
            <a:ext uri="{53640926-AAD7-44D8-BBD7-CCE9431645EC}">
              <a14:shadowObscured xmlns:a14="http://schemas.microsoft.com/office/drawing/2010/main"/>
            </a:ext>
          </a:extLst>
        </p:spPr>
      </p:pic>
      <p:pic>
        <p:nvPicPr>
          <p:cNvPr id="7" name="Picture 6" descr="A picture containing chart&#10;&#10;Description automatically generated">
            <a:extLst>
              <a:ext uri="{FF2B5EF4-FFF2-40B4-BE49-F238E27FC236}">
                <a16:creationId xmlns:a16="http://schemas.microsoft.com/office/drawing/2014/main" id="{7BA5D875-D61E-1837-CFCA-7F96518FF56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4788" t="16974" r="8827" b="13902"/>
          <a:stretch/>
        </p:blipFill>
        <p:spPr bwMode="auto">
          <a:xfrm rot="5400000">
            <a:off x="9955766" y="3715528"/>
            <a:ext cx="1018359" cy="795369"/>
          </a:xfrm>
          <a:prstGeom prst="rect">
            <a:avLst/>
          </a:prstGeom>
          <a:ln>
            <a:noFill/>
          </a:ln>
          <a:extLst>
            <a:ext uri="{53640926-AAD7-44D8-BBD7-CCE9431645EC}">
              <a14:shadowObscured xmlns:a14="http://schemas.microsoft.com/office/drawing/2010/main"/>
            </a:ext>
          </a:extLst>
        </p:spPr>
      </p:pic>
      <p:pic>
        <p:nvPicPr>
          <p:cNvPr id="8" name="Picture 7" descr="A picture containing text&#10;&#10;Description automatically generated">
            <a:extLst>
              <a:ext uri="{FF2B5EF4-FFF2-40B4-BE49-F238E27FC236}">
                <a16:creationId xmlns:a16="http://schemas.microsoft.com/office/drawing/2014/main" id="{A4ACCDC5-93D4-806E-4108-5C1499794AE9}"/>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41213" t="7669" r="17913" b="17565"/>
          <a:stretch/>
        </p:blipFill>
        <p:spPr bwMode="auto">
          <a:xfrm rot="5400000">
            <a:off x="9934923" y="4576101"/>
            <a:ext cx="1196317" cy="1641437"/>
          </a:xfrm>
          <a:prstGeom prst="rect">
            <a:avLst/>
          </a:prstGeom>
          <a:ln>
            <a:noFill/>
          </a:ln>
          <a:extLst>
            <a:ext uri="{53640926-AAD7-44D8-BBD7-CCE9431645EC}">
              <a14:shadowObscured xmlns:a14="http://schemas.microsoft.com/office/drawing/2010/main"/>
            </a:ext>
          </a:extLst>
        </p:spPr>
      </p:pic>
      <p:pic>
        <p:nvPicPr>
          <p:cNvPr id="9" name="Audio 8">
            <a:hlinkClick r:id="" action="ppaction://media"/>
            <a:extLst>
              <a:ext uri="{FF2B5EF4-FFF2-40B4-BE49-F238E27FC236}">
                <a16:creationId xmlns:a16="http://schemas.microsoft.com/office/drawing/2014/main" id="{DE9FD391-A7FB-C089-128F-29FE802C649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246885650"/>
      </p:ext>
    </p:extLst>
  </p:cSld>
  <p:clrMapOvr>
    <a:masterClrMapping/>
  </p:clrMapOvr>
  <mc:AlternateContent xmlns:mc="http://schemas.openxmlformats.org/markup-compatibility/2006">
    <mc:Choice xmlns:p14="http://schemas.microsoft.com/office/powerpoint/2010/main" Requires="p14">
      <p:transition spd="slow" p14:dur="2000" advTm="22752"/>
    </mc:Choice>
    <mc:Fallback>
      <p:transition spd="slow" advTm="227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ACA2D502-3D57-50E9-1C87-9D0A99C9BCB7}"/>
              </a:ext>
            </a:extLst>
          </p:cNvPr>
          <p:cNvSpPr>
            <a:spLocks noGrp="1" noChangeArrowheads="1"/>
          </p:cNvSpPr>
          <p:nvPr>
            <p:ph type="title"/>
          </p:nvPr>
        </p:nvSpPr>
        <p:spPr>
          <a:xfrm>
            <a:off x="1676400" y="152400"/>
            <a:ext cx="7543800" cy="457200"/>
          </a:xfrm>
        </p:spPr>
        <p:txBody>
          <a:bodyPr/>
          <a:lstStyle/>
          <a:p>
            <a:pPr eaLnBrk="1" hangingPunct="1"/>
            <a:r>
              <a:rPr lang="en-US" altLang="en-US" sz="2400" b="1">
                <a:solidFill>
                  <a:schemeClr val="bg1"/>
                </a:solidFill>
                <a:cs typeface="Arial" panose="020B0604020202020204" pitchFamily="34" charset="0"/>
              </a:rPr>
              <a:t>13.3 Cultural evolution </a:t>
            </a:r>
          </a:p>
        </p:txBody>
      </p:sp>
      <p:sp>
        <p:nvSpPr>
          <p:cNvPr id="7171" name="TextBox 3">
            <a:extLst>
              <a:ext uri="{FF2B5EF4-FFF2-40B4-BE49-F238E27FC236}">
                <a16:creationId xmlns:a16="http://schemas.microsoft.com/office/drawing/2014/main" id="{D2132097-B450-42FA-82DD-44813979DA27}"/>
              </a:ext>
            </a:extLst>
          </p:cNvPr>
          <p:cNvSpPr txBox="1">
            <a:spLocks noChangeArrowheads="1"/>
          </p:cNvSpPr>
          <p:nvPr/>
        </p:nvSpPr>
        <p:spPr bwMode="auto">
          <a:xfrm>
            <a:off x="295619" y="491859"/>
            <a:ext cx="11624632" cy="5126981"/>
          </a:xfrm>
          <a:prstGeom prst="rect">
            <a:avLst/>
          </a:prstGeom>
          <a:noFill/>
          <a:ln>
            <a:noFill/>
          </a:ln>
        </p:spPr>
        <p:txBody>
          <a:bodyPr wrap="squar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r>
              <a:rPr lang="en-AU" altLang="en-US" sz="4800" b="1" dirty="0">
                <a:solidFill>
                  <a:schemeClr val="accent2"/>
                </a:solidFill>
              </a:rPr>
              <a:t>Trends in tools </a:t>
            </a:r>
            <a:endParaRPr lang="en-AU" altLang="en-US" sz="4800" b="1" i="1" dirty="0">
              <a:solidFill>
                <a:schemeClr val="accent2"/>
              </a:solidFill>
            </a:endParaRPr>
          </a:p>
          <a:p>
            <a:r>
              <a:rPr lang="en-AU" altLang="en-US" dirty="0"/>
              <a:t>During the course of human evolution, some general trends are evident:</a:t>
            </a:r>
          </a:p>
          <a:p>
            <a:pPr marL="285750" indent="-285750">
              <a:buFont typeface="Courier New" panose="02070309020205020404" pitchFamily="49" charset="0"/>
              <a:buChar char="o"/>
            </a:pPr>
            <a:r>
              <a:rPr lang="en-AU" altLang="en-US" dirty="0"/>
              <a:t>increased manipulation of materials</a:t>
            </a:r>
          </a:p>
          <a:p>
            <a:pPr marL="285750" indent="-285750">
              <a:buFont typeface="Courier New" panose="02070309020205020404" pitchFamily="49" charset="0"/>
              <a:buChar char="o"/>
            </a:pPr>
            <a:r>
              <a:rPr lang="en-AU" altLang="en-US" dirty="0"/>
              <a:t>increased complexity of tools</a:t>
            </a:r>
          </a:p>
          <a:p>
            <a:pPr marL="285750" indent="-285750">
              <a:buFont typeface="Courier New" panose="02070309020205020404" pitchFamily="49" charset="0"/>
              <a:buChar char="o"/>
            </a:pPr>
            <a:r>
              <a:rPr lang="en-AU" altLang="en-US" dirty="0"/>
              <a:t>greater variety of materials being used to make tools</a:t>
            </a:r>
          </a:p>
          <a:p>
            <a:pPr marL="285750" indent="-285750">
              <a:buFont typeface="Courier New" panose="02070309020205020404" pitchFamily="49" charset="0"/>
              <a:buChar char="o"/>
            </a:pPr>
            <a:r>
              <a:rPr lang="en-AU" altLang="en-US" dirty="0"/>
              <a:t>improved workmanship and development of equipment needed to manufacture the tools</a:t>
            </a:r>
          </a:p>
          <a:p>
            <a:pPr marL="285750" indent="-285750">
              <a:buFont typeface="Courier New" panose="02070309020205020404" pitchFamily="49" charset="0"/>
              <a:buChar char="o"/>
            </a:pPr>
            <a:r>
              <a:rPr lang="en-AU" altLang="en-US" dirty="0"/>
              <a:t>increased specialisation of tools.</a:t>
            </a:r>
          </a:p>
          <a:p>
            <a:endParaRPr lang="en-AU" altLang="en-US" dirty="0"/>
          </a:p>
          <a:p>
            <a:endParaRPr lang="en-AU" altLang="en-US" dirty="0"/>
          </a:p>
          <a:p>
            <a:r>
              <a:rPr lang="en-AU" altLang="en-US" dirty="0"/>
              <a:t>These trends, alongside structural changes during evolution, allow us to infer changes in lifestyles. Collaboration would have increased, requiring effective communication. </a:t>
            </a:r>
          </a:p>
          <a:p>
            <a:r>
              <a:rPr lang="en-AU" altLang="en-US" dirty="0"/>
              <a:t>Members within a group would have developed more specific roles and skills. Planning and creativity became important, and humans started manipulating the environment to meet their needs.</a:t>
            </a:r>
          </a:p>
        </p:txBody>
      </p:sp>
      <p:pic>
        <p:nvPicPr>
          <p:cNvPr id="2" name="Audio 1">
            <a:hlinkClick r:id="" action="ppaction://media"/>
            <a:extLst>
              <a:ext uri="{FF2B5EF4-FFF2-40B4-BE49-F238E27FC236}">
                <a16:creationId xmlns:a16="http://schemas.microsoft.com/office/drawing/2014/main" id="{A67150B3-86B4-AC36-DE2D-43B0FE084C39}"/>
              </a:ext>
            </a:extLst>
          </p:cNvPr>
          <p:cNvPicPr>
            <a:picLocks noChangeAspect="1"/>
          </p:cNvPicPr>
          <p:nvPr>
            <a:audioFile r:link="rId1"/>
            <p:extLst>
              <p:ext uri="{DAA4B4D4-6D71-4841-9C94-3DE7FCFB9230}">
                <p14:media xmlns:p14="http://schemas.microsoft.com/office/powerpoint/2010/main" r:embed="rId2">
                  <p14:trim end="2901.086"/>
                  <p14:fade out="43987.2778"/>
                </p14:media>
              </p:ext>
            </p:extLst>
          </p:nvPr>
        </p:nvPicPr>
        <p:blipFill>
          <a:blip r:embed="rId5"/>
          <a:stretch>
            <a:fillRect/>
          </a:stretch>
        </p:blipFill>
        <p:spPr>
          <a:xfrm>
            <a:off x="11163300" y="5829300"/>
            <a:ext cx="812800" cy="812800"/>
          </a:xfrm>
          <a:prstGeom prst="rect">
            <a:avLst/>
          </a:prstGeom>
        </p:spPr>
      </p:pic>
    </p:spTree>
  </p:cSld>
  <p:clrMapOvr>
    <a:masterClrMapping/>
  </p:clrMapOvr>
  <p:transition advTm="76203">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1609</Words>
  <Application>Microsoft Macintosh PowerPoint</Application>
  <PresentationFormat>Widescreen</PresentationFormat>
  <Paragraphs>173</Paragraphs>
  <Slides>21</Slides>
  <Notes>14</Notes>
  <HiddenSlides>0</HiddenSlides>
  <MMClips>21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Courier New</vt:lpstr>
      <vt:lpstr>Times New Roman</vt:lpstr>
      <vt:lpstr>Office Theme</vt:lpstr>
      <vt:lpstr>Cultural Evolution</vt:lpstr>
      <vt:lpstr>PowerPoint Presentation</vt:lpstr>
      <vt:lpstr>Cultural Evolution</vt:lpstr>
      <vt:lpstr>13.3 Cultural evolution </vt:lpstr>
      <vt:lpstr>13.3 Cultural evolution </vt:lpstr>
      <vt:lpstr>13.3 Cultural evolution </vt:lpstr>
      <vt:lpstr>13.3 Cultural evolution </vt:lpstr>
      <vt:lpstr>Guided Notes </vt:lpstr>
      <vt:lpstr>13.3 Cultural evolution </vt:lpstr>
      <vt:lpstr>13.3 Cultural evolution </vt:lpstr>
      <vt:lpstr>13.3 Cultural evolution </vt:lpstr>
      <vt:lpstr>Guided Notes </vt:lpstr>
      <vt:lpstr>13.3 Cultural evolution </vt:lpstr>
      <vt:lpstr>13.3 Cultural evolution </vt:lpstr>
      <vt:lpstr>Guided Notes </vt:lpstr>
      <vt:lpstr>13.3 Cultural evolution </vt:lpstr>
      <vt:lpstr>13.3 Cultural evolution </vt:lpstr>
      <vt:lpstr>13.3 Cultural evolution </vt:lpstr>
      <vt:lpstr>13.3 Cultural evolution </vt:lpstr>
      <vt:lpstr>Guided Notes </vt:lpstr>
      <vt:lpstr>13.3 Cultural evolution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Cultural Evolution</dc:title>
  <dc:creator>YATES Hayden [Safety Bay Senior High School]</dc:creator>
  <cp:lastModifiedBy>YATES Hayden [Safety Bay Senior High School]</cp:lastModifiedBy>
  <cp:revision>1</cp:revision>
  <dcterms:created xsi:type="dcterms:W3CDTF">2022-09-11T15:10:10Z</dcterms:created>
  <dcterms:modified xsi:type="dcterms:W3CDTF">2022-09-11T16:49:04Z</dcterms:modified>
</cp:coreProperties>
</file>
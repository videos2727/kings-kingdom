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62" r:id="rId4"/>
    <p:sldId id="263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83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D9512-C607-479D-9091-7AFC62A6F268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C5F8F-1D81-4F44-BB53-0D7347ABA7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6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072D987-F769-4FBA-90D4-E4010B051761}" type="datetimeFigureOut">
              <a:rPr lang="en-AU" smtClean="0"/>
              <a:t>24/05/2021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Gene Pools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B4947E-755C-4449-AC64-F45001C26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94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we doing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AU" sz="2400" dirty="0"/>
              <a:t>Populations can be represented as gene pools that reflect the frequency of alleles of a particular gene; gene pools can be used to compare populations at different times or locations (SU)</a:t>
            </a:r>
          </a:p>
          <a:p>
            <a:pPr lvl="0"/>
            <a:r>
              <a:rPr lang="en-AU" sz="2400" dirty="0"/>
              <a:t>Gene pools are dynamic, with changes in allele frequency caused by:</a:t>
            </a:r>
            <a:endParaRPr lang="en-AU" sz="3600" dirty="0"/>
          </a:p>
          <a:p>
            <a:pPr lvl="1"/>
            <a:r>
              <a:rPr lang="en-AU" dirty="0"/>
              <a:t>changes in gene flow between adjoining groups</a:t>
            </a:r>
            <a:endParaRPr lang="en-AU" sz="3600" dirty="0"/>
          </a:p>
          <a:p>
            <a:pPr lvl="1"/>
            <a:r>
              <a:rPr lang="en-AU" dirty="0"/>
              <a:t>differing selection pressures (natural selection)</a:t>
            </a:r>
            <a:endParaRPr lang="en-AU" sz="3600" dirty="0"/>
          </a:p>
          <a:p>
            <a:pPr lvl="1"/>
            <a:r>
              <a:rPr lang="en-AU" dirty="0"/>
              <a:t>random genetic drift, including the founder effect (SU)</a:t>
            </a:r>
            <a:endParaRPr lang="en-AU" sz="2400" dirty="0"/>
          </a:p>
          <a:p>
            <a:r>
              <a:rPr lang="en-AU" sz="2400" dirty="0"/>
              <a:t>The incidence of genetic diseases in particular populations illustrates the effects of different factors on the dynamics of gene pools, including the incidence of </a:t>
            </a:r>
            <a:r>
              <a:rPr lang="en-AU" sz="2400" dirty="0" err="1"/>
              <a:t>Tay</a:t>
            </a:r>
            <a:r>
              <a:rPr lang="en-AU" sz="2400" dirty="0"/>
              <a:t>-Sachs disease, thalassemia and sickle-cell anaemia (SU)</a:t>
            </a:r>
          </a:p>
          <a:p>
            <a:pPr lvl="0"/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4913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Gene 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Species: Group of individuals that share similar characteristics and are able to reproduce and produce fertile offspring.</a:t>
            </a:r>
          </a:p>
          <a:p>
            <a:r>
              <a:rPr lang="en-AU" dirty="0"/>
              <a:t>Alleles: Alternative form of genes.</a:t>
            </a:r>
          </a:p>
          <a:p>
            <a:r>
              <a:rPr lang="en-AU" dirty="0"/>
              <a:t>Population: group of organisms of same species living in a particular place at a particular time.</a:t>
            </a:r>
          </a:p>
          <a:p>
            <a:r>
              <a:rPr lang="en-AU" dirty="0"/>
              <a:t>Gene pool: All the different alleles in a given population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402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Gene pools are dynamic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00808"/>
            <a:ext cx="7620000" cy="4800600"/>
          </a:xfrm>
        </p:spPr>
        <p:txBody>
          <a:bodyPr/>
          <a:lstStyle/>
          <a:p>
            <a:pPr marL="411480" lvl="1" indent="0">
              <a:buNone/>
            </a:pPr>
            <a:r>
              <a:rPr lang="en-AU" dirty="0"/>
              <a:t>Can be affected or changed by:</a:t>
            </a:r>
          </a:p>
          <a:p>
            <a:pPr lvl="1"/>
            <a:r>
              <a:rPr lang="en-AU" b="1" dirty="0"/>
              <a:t>Mutations: </a:t>
            </a:r>
            <a:r>
              <a:rPr lang="en-AU" dirty="0"/>
              <a:t>introduce new characteristics into a population</a:t>
            </a:r>
          </a:p>
          <a:p>
            <a:pPr lvl="1"/>
            <a:r>
              <a:rPr lang="en-AU" b="1" dirty="0"/>
              <a:t>Changes in gene flow between adjoining groups: </a:t>
            </a:r>
            <a:r>
              <a:rPr lang="en-AU" dirty="0"/>
              <a:t>introduction of new alleles or increasing frequencies of alleles into population due to migration</a:t>
            </a:r>
            <a:endParaRPr lang="en-AU" sz="3600" dirty="0"/>
          </a:p>
          <a:p>
            <a:pPr lvl="1"/>
            <a:r>
              <a:rPr lang="en-AU" b="1" dirty="0"/>
              <a:t>Differing selection pressures (natural selection):  </a:t>
            </a:r>
            <a:r>
              <a:rPr lang="en-AU" dirty="0"/>
              <a:t>if some alleles are more ‘favoured’ than others than the frequency of the characteristic in a population will change</a:t>
            </a:r>
            <a:endParaRPr lang="en-AU" sz="3600" dirty="0"/>
          </a:p>
          <a:p>
            <a:pPr lvl="1"/>
            <a:r>
              <a:rPr lang="en-AU" b="1" dirty="0"/>
              <a:t>Random genetic drift, including the founder effect: </a:t>
            </a:r>
            <a:r>
              <a:rPr lang="en-AU" dirty="0"/>
              <a:t>By chance the frequency of an allele may change in small populations, some alleles may be over-or under-represented.</a:t>
            </a:r>
          </a:p>
        </p:txBody>
      </p:sp>
    </p:spTree>
    <p:extLst>
      <p:ext uri="{BB962C8B-B14F-4D97-AF65-F5344CB8AC3E}">
        <p14:creationId xmlns:p14="http://schemas.microsoft.com/office/powerpoint/2010/main" val="357112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Tay</a:t>
            </a:r>
            <a:r>
              <a:rPr lang="en-AU" dirty="0"/>
              <a:t>-Sachs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Missing enzyme essential for fat metabolism </a:t>
            </a:r>
          </a:p>
          <a:p>
            <a:pPr marL="114300" indent="0">
              <a:buNone/>
            </a:pPr>
            <a:endParaRPr lang="en-AU" dirty="0"/>
          </a:p>
          <a:p>
            <a:r>
              <a:rPr lang="en-AU" dirty="0"/>
              <a:t>Build–up of fatty substances in the nervous system </a:t>
            </a:r>
          </a:p>
          <a:p>
            <a:r>
              <a:rPr lang="en-AU" dirty="0"/>
              <a:t>From a few months of age mental and physical disabilities develop quickly (</a:t>
            </a:r>
            <a:r>
              <a:rPr lang="en-AU" dirty="0" err="1"/>
              <a:t>eg</a:t>
            </a:r>
            <a:r>
              <a:rPr lang="en-AU" dirty="0"/>
              <a:t>. blindness, deaf, unable to swallow, atrophied, paralytic) </a:t>
            </a:r>
            <a:br>
              <a:rPr lang="en-AU" dirty="0"/>
            </a:br>
            <a:endParaRPr lang="en-AU" dirty="0"/>
          </a:p>
          <a:p>
            <a:r>
              <a:rPr lang="en-AU" dirty="0"/>
              <a:t>Recessive trait/passed from two carrier parents </a:t>
            </a:r>
          </a:p>
          <a:p>
            <a:endParaRPr lang="en-AU" dirty="0"/>
          </a:p>
          <a:p>
            <a:r>
              <a:rPr lang="en-AU" dirty="0"/>
              <a:t>Affects Ashkenazi Jew/Jewish people (from Eastern Europe)/Cajun 	</a:t>
            </a:r>
          </a:p>
          <a:p>
            <a:endParaRPr lang="en-AU" dirty="0"/>
          </a:p>
          <a:p>
            <a:r>
              <a:rPr lang="en-AU" dirty="0"/>
              <a:t>Affected individuals die in childhood/die before reproductive age </a:t>
            </a:r>
          </a:p>
          <a:p>
            <a:r>
              <a:rPr lang="en-AU" dirty="0"/>
              <a:t>Carrier couples choose not to reproduce </a:t>
            </a:r>
          </a:p>
          <a:p>
            <a:r>
              <a:rPr lang="en-AU" dirty="0"/>
              <a:t>Heterozygous individuals are resistant to TB/increases </a:t>
            </a:r>
            <a:r>
              <a:rPr lang="en-AU" dirty="0" err="1"/>
              <a:t>Tay</a:t>
            </a:r>
            <a:r>
              <a:rPr lang="en-AU" dirty="0"/>
              <a:t>-Sachs allele frequency in population </a:t>
            </a:r>
          </a:p>
          <a:p>
            <a:pPr marL="114300" indent="0">
              <a:buNone/>
            </a:pPr>
            <a:endParaRPr lang="en-AU" dirty="0"/>
          </a:p>
          <a:p>
            <a:pPr marL="114300" indent="0">
              <a:buNone/>
            </a:pPr>
            <a:r>
              <a:rPr lang="en-AU" dirty="0"/>
              <a:t>	</a:t>
            </a:r>
          </a:p>
          <a:p>
            <a:pPr marL="114300" indent="0">
              <a:buNone/>
            </a:pP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"/>
          <a:stretch/>
        </p:blipFill>
        <p:spPr bwMode="auto">
          <a:xfrm>
            <a:off x="6084168" y="116632"/>
            <a:ext cx="2304256" cy="20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374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Thalassemia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Mutation of the gene responsible for red blood cell/haemoglobin production 	</a:t>
            </a:r>
          </a:p>
          <a:p>
            <a:pPr marL="114300" indent="0">
              <a:buNone/>
            </a:pPr>
            <a:endParaRPr lang="en-AU" dirty="0"/>
          </a:p>
          <a:p>
            <a:r>
              <a:rPr lang="en-AU" dirty="0"/>
              <a:t>Defects in the formation of haemoglobin/abnormal shape haemoglobin </a:t>
            </a:r>
          </a:p>
          <a:p>
            <a:r>
              <a:rPr lang="en-AU" dirty="0"/>
              <a:t>Sufferers have fewer functioning red blood cells </a:t>
            </a:r>
          </a:p>
          <a:p>
            <a:r>
              <a:rPr lang="en-AU" dirty="0"/>
              <a:t>Sufferers can have anaemia/iron deficiency/bone malformations/heart defects/enlarged spleen/slow growth rates </a:t>
            </a:r>
          </a:p>
          <a:p>
            <a:endParaRPr lang="en-AU" dirty="0"/>
          </a:p>
          <a:p>
            <a:r>
              <a:rPr lang="en-AU" dirty="0"/>
              <a:t>Recessive trait/passed from affected parents/passed from two carrier parents </a:t>
            </a:r>
          </a:p>
          <a:p>
            <a:endParaRPr lang="en-AU" dirty="0"/>
          </a:p>
          <a:p>
            <a:r>
              <a:rPr lang="en-AU" dirty="0"/>
              <a:t>Affects populations around Mediterranean Sea/Greek/Italian 	</a:t>
            </a:r>
          </a:p>
          <a:p>
            <a:endParaRPr lang="en-AU" dirty="0"/>
          </a:p>
          <a:p>
            <a:r>
              <a:rPr lang="en-AU" dirty="0"/>
              <a:t>More mutations in red blood cell formation increases the severity of the disease/can inherit multiple mutations </a:t>
            </a:r>
          </a:p>
          <a:p>
            <a:r>
              <a:rPr lang="en-AU" dirty="0"/>
              <a:t>Individuals affected with mild thalassemia only have 1–2 mutations/Individuals affected with severe thalassemia have 3–4 mutations </a:t>
            </a:r>
          </a:p>
          <a:p>
            <a:r>
              <a:rPr lang="en-AU" dirty="0"/>
              <a:t>More mutations found in gene pool greatly increases mortality rate </a:t>
            </a:r>
          </a:p>
          <a:p>
            <a:r>
              <a:rPr lang="en-AU" dirty="0"/>
              <a:t>Resistance to malaria/increases thalassemia allele frequency in population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5"/>
          <a:stretch/>
        </p:blipFill>
        <p:spPr bwMode="auto">
          <a:xfrm>
            <a:off x="5148064" y="0"/>
            <a:ext cx="3287895" cy="1658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830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Sickle Cell Anaemia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Mutation of the gene responsible for red blood cell/haemoglobin production </a:t>
            </a:r>
          </a:p>
          <a:p>
            <a:endParaRPr lang="en-AU" dirty="0"/>
          </a:p>
          <a:p>
            <a:r>
              <a:rPr lang="en-AU" dirty="0"/>
              <a:t>Red blood cells that have a sickle shape </a:t>
            </a:r>
          </a:p>
          <a:p>
            <a:r>
              <a:rPr lang="en-AU" dirty="0"/>
              <a:t>Reduces oxygen carrying ability of red blood cells </a:t>
            </a:r>
          </a:p>
          <a:p>
            <a:r>
              <a:rPr lang="en-AU" dirty="0"/>
              <a:t>Fatigue/shortness of breath/anaemia/pain/swelling and inflammation of hands or feet/bacterial infections/sudden pooling of blood in spleen/liver congestion/lung and heart injury/leg ulcers </a:t>
            </a:r>
          </a:p>
          <a:p>
            <a:endParaRPr lang="en-AU" dirty="0"/>
          </a:p>
          <a:p>
            <a:r>
              <a:rPr lang="en-AU" dirty="0"/>
              <a:t>Recessive trait/passed from affected parents/passed from two carrier parents 	</a:t>
            </a:r>
          </a:p>
          <a:p>
            <a:endParaRPr lang="en-AU" dirty="0"/>
          </a:p>
          <a:p>
            <a:r>
              <a:rPr lang="en-AU" dirty="0"/>
              <a:t>Affects Black African populations/India/SE Asia/Italy 	</a:t>
            </a:r>
          </a:p>
          <a:p>
            <a:endParaRPr lang="en-AU" dirty="0"/>
          </a:p>
          <a:p>
            <a:r>
              <a:rPr lang="en-AU" dirty="0"/>
              <a:t>Individuals homozygous for condition usually die early/disease can be fatal </a:t>
            </a:r>
          </a:p>
          <a:p>
            <a:r>
              <a:rPr lang="en-AU" dirty="0"/>
              <a:t>Individuals heterozygous for the condition are called ‘</a:t>
            </a:r>
            <a:r>
              <a:rPr lang="en-AU" dirty="0" err="1"/>
              <a:t>sicklers</a:t>
            </a:r>
            <a:r>
              <a:rPr lang="en-AU" dirty="0"/>
              <a:t>’/have sickle–trait </a:t>
            </a:r>
          </a:p>
          <a:p>
            <a:r>
              <a:rPr lang="en-AU" dirty="0"/>
              <a:t>Heterozygous individuals are resistant to malaria/increases sickle cell allele frequency in population </a:t>
            </a:r>
          </a:p>
          <a:p>
            <a:pPr marL="114300" indent="0">
              <a:buNone/>
            </a:pPr>
            <a:r>
              <a:rPr lang="en-AU" dirty="0"/>
              <a:t>	</a:t>
            </a:r>
          </a:p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0"/>
          <a:stretch/>
        </p:blipFill>
        <p:spPr bwMode="auto">
          <a:xfrm>
            <a:off x="5652120" y="188640"/>
            <a:ext cx="2592288" cy="146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779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637</TotalTime>
  <Words>632</Words>
  <Application>Microsoft Office PowerPoint</Application>
  <PresentationFormat>On-screen Show (4:3)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Adjacency</vt:lpstr>
      <vt:lpstr>Gene Pools</vt:lpstr>
      <vt:lpstr>What are we doing today?</vt:lpstr>
      <vt:lpstr>Gene Pool</vt:lpstr>
      <vt:lpstr>Gene pools are dynamic</vt:lpstr>
      <vt:lpstr>Tay-Sachs</vt:lpstr>
      <vt:lpstr>Thalassemia</vt:lpstr>
      <vt:lpstr>Sickle Cell Anaemia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Inquiry Skills</dc:title>
  <dc:creator>BRUNS Emma</dc:creator>
  <cp:lastModifiedBy>Ivan Opacak</cp:lastModifiedBy>
  <cp:revision>70</cp:revision>
  <dcterms:created xsi:type="dcterms:W3CDTF">2018-02-02T00:28:02Z</dcterms:created>
  <dcterms:modified xsi:type="dcterms:W3CDTF">2021-05-24T02:09:54Z</dcterms:modified>
</cp:coreProperties>
</file>
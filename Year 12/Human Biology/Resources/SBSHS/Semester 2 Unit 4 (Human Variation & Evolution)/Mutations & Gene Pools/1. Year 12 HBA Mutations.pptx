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94" r:id="rId1"/>
  </p:sldMasterIdLst>
  <p:sldIdLst>
    <p:sldId id="256" r:id="rId2"/>
    <p:sldId id="257" r:id="rId3"/>
    <p:sldId id="275" r:id="rId4"/>
    <p:sldId id="276" r:id="rId5"/>
    <p:sldId id="259" r:id="rId6"/>
    <p:sldId id="270" r:id="rId7"/>
    <p:sldId id="260" r:id="rId8"/>
    <p:sldId id="271" r:id="rId9"/>
    <p:sldId id="261" r:id="rId10"/>
    <p:sldId id="272" r:id="rId11"/>
    <p:sldId id="262" r:id="rId12"/>
    <p:sldId id="273" r:id="rId13"/>
    <p:sldId id="263" r:id="rId14"/>
    <p:sldId id="274" r:id="rId15"/>
    <p:sldId id="266" r:id="rId16"/>
    <p:sldId id="264" r:id="rId17"/>
    <p:sldId id="267" r:id="rId18"/>
    <p:sldId id="268" r:id="rId19"/>
    <p:sldId id="269" r:id="rId20"/>
    <p:sldId id="26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70"/>
    <p:restoredTop sz="94651"/>
  </p:normalViewPr>
  <p:slideViewPr>
    <p:cSldViewPr snapToGrid="0" snapToObjects="1">
      <p:cViewPr varScale="1">
        <p:scale>
          <a:sx n="72" d="100"/>
          <a:sy n="72" d="100"/>
        </p:scale>
        <p:origin x="46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C5E379-7980-4E38-9D2B-4484531C39E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F205E48-17C5-4037-BD1A-AC7D166A37C5}">
      <dgm:prSet/>
      <dgm:spPr/>
      <dgm:t>
        <a:bodyPr/>
        <a:lstStyle/>
        <a:p>
          <a:r>
            <a:rPr lang="en-AU" dirty="0"/>
            <a:t>Explain how different phenotypes and genotypes can affect rate of survival</a:t>
          </a:r>
          <a:endParaRPr lang="en-US" dirty="0"/>
        </a:p>
      </dgm:t>
    </dgm:pt>
    <dgm:pt modelId="{68D9BEE9-60E5-43A6-82CD-194F27E13BFE}" type="parTrans" cxnId="{729C6B52-7432-4409-B9A2-BF9A4C5BD9A7}">
      <dgm:prSet/>
      <dgm:spPr/>
      <dgm:t>
        <a:bodyPr/>
        <a:lstStyle/>
        <a:p>
          <a:endParaRPr lang="en-US"/>
        </a:p>
      </dgm:t>
    </dgm:pt>
    <dgm:pt modelId="{E1A7E75E-BC45-439B-8576-A23726B412B0}" type="sibTrans" cxnId="{729C6B52-7432-4409-B9A2-BF9A4C5BD9A7}">
      <dgm:prSet/>
      <dgm:spPr/>
      <dgm:t>
        <a:bodyPr/>
        <a:lstStyle/>
        <a:p>
          <a:endParaRPr lang="en-US"/>
        </a:p>
      </dgm:t>
    </dgm:pt>
    <dgm:pt modelId="{B7ED3346-F430-4171-9455-33B7C4384AFF}">
      <dgm:prSet/>
      <dgm:spPr/>
      <dgm:t>
        <a:bodyPr/>
        <a:lstStyle/>
        <a:p>
          <a:r>
            <a:rPr lang="en-AU" dirty="0"/>
            <a:t>Explain how mutations introduce new alleles that affect rate of survival</a:t>
          </a:r>
          <a:endParaRPr lang="en-US" dirty="0"/>
        </a:p>
      </dgm:t>
    </dgm:pt>
    <dgm:pt modelId="{4CAF7317-397B-4C9A-AAD5-9BB87EDBAF01}" type="parTrans" cxnId="{9A6C5A1C-7EAC-4317-84B5-03CF3E396DA0}">
      <dgm:prSet/>
      <dgm:spPr/>
      <dgm:t>
        <a:bodyPr/>
        <a:lstStyle/>
        <a:p>
          <a:endParaRPr lang="en-US"/>
        </a:p>
      </dgm:t>
    </dgm:pt>
    <dgm:pt modelId="{A9823A82-1434-42AD-A6C5-132325DB3511}" type="sibTrans" cxnId="{9A6C5A1C-7EAC-4317-84B5-03CF3E396DA0}">
      <dgm:prSet/>
      <dgm:spPr/>
      <dgm:t>
        <a:bodyPr/>
        <a:lstStyle/>
        <a:p>
          <a:endParaRPr lang="en-US"/>
        </a:p>
      </dgm:t>
    </dgm:pt>
    <dgm:pt modelId="{DF78693D-5707-489A-BDE3-1E6FD170A02D}">
      <dgm:prSet/>
      <dgm:spPr/>
      <dgm:t>
        <a:bodyPr/>
        <a:lstStyle/>
        <a:p>
          <a:r>
            <a:rPr lang="en-AU" dirty="0"/>
            <a:t>Mutations result from errors in DNA replication, cell division or from damage caused by mutagens</a:t>
          </a:r>
          <a:endParaRPr lang="en-US" dirty="0"/>
        </a:p>
      </dgm:t>
    </dgm:pt>
    <dgm:pt modelId="{44400933-7BEF-44AD-A210-D7B90F1EF3CD}" type="parTrans" cxnId="{CD9CF56F-1015-45CA-831D-5410E161C750}">
      <dgm:prSet/>
      <dgm:spPr/>
      <dgm:t>
        <a:bodyPr/>
        <a:lstStyle/>
        <a:p>
          <a:endParaRPr lang="en-US"/>
        </a:p>
      </dgm:t>
    </dgm:pt>
    <dgm:pt modelId="{AF4A4A16-30CB-4123-A035-5F924B7E36C1}" type="sibTrans" cxnId="{CD9CF56F-1015-45CA-831D-5410E161C750}">
      <dgm:prSet/>
      <dgm:spPr/>
      <dgm:t>
        <a:bodyPr/>
        <a:lstStyle/>
        <a:p>
          <a:endParaRPr lang="en-US"/>
        </a:p>
      </dgm:t>
    </dgm:pt>
    <dgm:pt modelId="{309799BC-2486-4503-A300-FDC96EC3CC0B}" type="pres">
      <dgm:prSet presAssocID="{00C5E379-7980-4E38-9D2B-4484531C39E3}" presName="root" presStyleCnt="0">
        <dgm:presLayoutVars>
          <dgm:dir/>
          <dgm:resizeHandles val="exact"/>
        </dgm:presLayoutVars>
      </dgm:prSet>
      <dgm:spPr/>
    </dgm:pt>
    <dgm:pt modelId="{A6C6BA43-307D-4354-AB33-F2CA64506231}" type="pres">
      <dgm:prSet presAssocID="{6F205E48-17C5-4037-BD1A-AC7D166A37C5}" presName="compNode" presStyleCnt="0"/>
      <dgm:spPr/>
    </dgm:pt>
    <dgm:pt modelId="{6E8A91AE-9E6E-4469-87DB-2952209F9374}" type="pres">
      <dgm:prSet presAssocID="{6F205E48-17C5-4037-BD1A-AC7D166A37C5}" presName="bgRect" presStyleLbl="bgShp" presStyleIdx="0" presStyleCnt="3"/>
      <dgm:spPr/>
    </dgm:pt>
    <dgm:pt modelId="{E81D4E69-21FB-4F63-8E8E-F05C7EAA21A0}" type="pres">
      <dgm:prSet presAssocID="{6F205E48-17C5-4037-BD1A-AC7D166A37C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lay Outline"/>
        </a:ext>
      </dgm:extLst>
    </dgm:pt>
    <dgm:pt modelId="{54E42719-CE3A-4035-8BA1-FD21FA92856B}" type="pres">
      <dgm:prSet presAssocID="{6F205E48-17C5-4037-BD1A-AC7D166A37C5}" presName="spaceRect" presStyleCnt="0"/>
      <dgm:spPr/>
    </dgm:pt>
    <dgm:pt modelId="{2A0BBC3B-4E70-431C-AEC6-B2FBC95E8F6D}" type="pres">
      <dgm:prSet presAssocID="{6F205E48-17C5-4037-BD1A-AC7D166A37C5}" presName="parTx" presStyleLbl="revTx" presStyleIdx="0" presStyleCnt="3">
        <dgm:presLayoutVars>
          <dgm:chMax val="0"/>
          <dgm:chPref val="0"/>
        </dgm:presLayoutVars>
      </dgm:prSet>
      <dgm:spPr/>
    </dgm:pt>
    <dgm:pt modelId="{F24716DB-6991-4240-94B2-0659FBD9078B}" type="pres">
      <dgm:prSet presAssocID="{E1A7E75E-BC45-439B-8576-A23726B412B0}" presName="sibTrans" presStyleCnt="0"/>
      <dgm:spPr/>
    </dgm:pt>
    <dgm:pt modelId="{690AF7AC-E984-4904-9C74-7AA099B39C72}" type="pres">
      <dgm:prSet presAssocID="{B7ED3346-F430-4171-9455-33B7C4384AFF}" presName="compNode" presStyleCnt="0"/>
      <dgm:spPr/>
    </dgm:pt>
    <dgm:pt modelId="{FA532334-272D-46A5-B88C-A15604B9B282}" type="pres">
      <dgm:prSet presAssocID="{B7ED3346-F430-4171-9455-33B7C4384AFF}" presName="bgRect" presStyleLbl="bgShp" presStyleIdx="1" presStyleCnt="3"/>
      <dgm:spPr/>
    </dgm:pt>
    <dgm:pt modelId="{A7BC0C72-47D8-471A-A1A7-865831C54AE9}" type="pres">
      <dgm:prSet presAssocID="{B7ED3346-F430-4171-9455-33B7C4384AF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Venn Diagram Outline"/>
        </a:ext>
      </dgm:extLst>
    </dgm:pt>
    <dgm:pt modelId="{B4940FA8-2472-4E24-B449-D19750845CB5}" type="pres">
      <dgm:prSet presAssocID="{B7ED3346-F430-4171-9455-33B7C4384AFF}" presName="spaceRect" presStyleCnt="0"/>
      <dgm:spPr/>
    </dgm:pt>
    <dgm:pt modelId="{0352D2BF-7A63-4385-8F23-67CFECBCC096}" type="pres">
      <dgm:prSet presAssocID="{B7ED3346-F430-4171-9455-33B7C4384AFF}" presName="parTx" presStyleLbl="revTx" presStyleIdx="1" presStyleCnt="3">
        <dgm:presLayoutVars>
          <dgm:chMax val="0"/>
          <dgm:chPref val="0"/>
        </dgm:presLayoutVars>
      </dgm:prSet>
      <dgm:spPr/>
    </dgm:pt>
    <dgm:pt modelId="{79B61C43-D83A-478F-B357-45BF7A9E9046}" type="pres">
      <dgm:prSet presAssocID="{A9823A82-1434-42AD-A6C5-132325DB3511}" presName="sibTrans" presStyleCnt="0"/>
      <dgm:spPr/>
    </dgm:pt>
    <dgm:pt modelId="{F3E615D0-F3B6-430C-A846-82E75948D8BC}" type="pres">
      <dgm:prSet presAssocID="{DF78693D-5707-489A-BDE3-1E6FD170A02D}" presName="compNode" presStyleCnt="0"/>
      <dgm:spPr/>
    </dgm:pt>
    <dgm:pt modelId="{D5E1845C-44AD-4469-9942-5E1C3F52F854}" type="pres">
      <dgm:prSet presAssocID="{DF78693D-5707-489A-BDE3-1E6FD170A02D}" presName="bgRect" presStyleLbl="bgShp" presStyleIdx="2" presStyleCnt="3"/>
      <dgm:spPr/>
    </dgm:pt>
    <dgm:pt modelId="{0A7041CA-BD69-483B-B58B-D77D184B1772}" type="pres">
      <dgm:prSet presAssocID="{DF78693D-5707-489A-BDE3-1E6FD170A02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rror"/>
        </a:ext>
      </dgm:extLst>
    </dgm:pt>
    <dgm:pt modelId="{D7691B52-693E-4760-B3FD-24A60111C2F6}" type="pres">
      <dgm:prSet presAssocID="{DF78693D-5707-489A-BDE3-1E6FD170A02D}" presName="spaceRect" presStyleCnt="0"/>
      <dgm:spPr/>
    </dgm:pt>
    <dgm:pt modelId="{D8CD1787-5A90-4F7B-B09F-15E4023BD5CF}" type="pres">
      <dgm:prSet presAssocID="{DF78693D-5707-489A-BDE3-1E6FD170A02D}" presName="parTx" presStyleLbl="revTx" presStyleIdx="2" presStyleCnt="3">
        <dgm:presLayoutVars>
          <dgm:chMax val="0"/>
          <dgm:chPref val="0"/>
        </dgm:presLayoutVars>
      </dgm:prSet>
      <dgm:spPr/>
    </dgm:pt>
  </dgm:ptLst>
  <dgm:cxnLst>
    <dgm:cxn modelId="{9A6C5A1C-7EAC-4317-84B5-03CF3E396DA0}" srcId="{00C5E379-7980-4E38-9D2B-4484531C39E3}" destId="{B7ED3346-F430-4171-9455-33B7C4384AFF}" srcOrd="1" destOrd="0" parTransId="{4CAF7317-397B-4C9A-AAD5-9BB87EDBAF01}" sibTransId="{A9823A82-1434-42AD-A6C5-132325DB3511}"/>
    <dgm:cxn modelId="{A3886E41-DC34-4075-BD32-38004338E89D}" type="presOf" srcId="{DF78693D-5707-489A-BDE3-1E6FD170A02D}" destId="{D8CD1787-5A90-4F7B-B09F-15E4023BD5CF}" srcOrd="0" destOrd="0" presId="urn:microsoft.com/office/officeart/2018/2/layout/IconVerticalSolidList"/>
    <dgm:cxn modelId="{CD9CF56F-1015-45CA-831D-5410E161C750}" srcId="{00C5E379-7980-4E38-9D2B-4484531C39E3}" destId="{DF78693D-5707-489A-BDE3-1E6FD170A02D}" srcOrd="2" destOrd="0" parTransId="{44400933-7BEF-44AD-A210-D7B90F1EF3CD}" sibTransId="{AF4A4A16-30CB-4123-A035-5F924B7E36C1}"/>
    <dgm:cxn modelId="{729C6B52-7432-4409-B9A2-BF9A4C5BD9A7}" srcId="{00C5E379-7980-4E38-9D2B-4484531C39E3}" destId="{6F205E48-17C5-4037-BD1A-AC7D166A37C5}" srcOrd="0" destOrd="0" parTransId="{68D9BEE9-60E5-43A6-82CD-194F27E13BFE}" sibTransId="{E1A7E75E-BC45-439B-8576-A23726B412B0}"/>
    <dgm:cxn modelId="{FD7271B8-1400-4ADF-AA3A-9EA9F6921E54}" type="presOf" srcId="{6F205E48-17C5-4037-BD1A-AC7D166A37C5}" destId="{2A0BBC3B-4E70-431C-AEC6-B2FBC95E8F6D}" srcOrd="0" destOrd="0" presId="urn:microsoft.com/office/officeart/2018/2/layout/IconVerticalSolidList"/>
    <dgm:cxn modelId="{ACB9D6BE-79E8-454C-BDD0-B072008CC213}" type="presOf" srcId="{00C5E379-7980-4E38-9D2B-4484531C39E3}" destId="{309799BC-2486-4503-A300-FDC96EC3CC0B}" srcOrd="0" destOrd="0" presId="urn:microsoft.com/office/officeart/2018/2/layout/IconVerticalSolidList"/>
    <dgm:cxn modelId="{E9283FE8-F675-4EF5-98FF-7074C9BC8C9C}" type="presOf" srcId="{B7ED3346-F430-4171-9455-33B7C4384AFF}" destId="{0352D2BF-7A63-4385-8F23-67CFECBCC096}" srcOrd="0" destOrd="0" presId="urn:microsoft.com/office/officeart/2018/2/layout/IconVerticalSolidList"/>
    <dgm:cxn modelId="{3CEEF267-7453-491B-A748-2933682CC91D}" type="presParOf" srcId="{309799BC-2486-4503-A300-FDC96EC3CC0B}" destId="{A6C6BA43-307D-4354-AB33-F2CA64506231}" srcOrd="0" destOrd="0" presId="urn:microsoft.com/office/officeart/2018/2/layout/IconVerticalSolidList"/>
    <dgm:cxn modelId="{B0D1B9E0-65DF-4469-ADE7-7CEE4EE113E1}" type="presParOf" srcId="{A6C6BA43-307D-4354-AB33-F2CA64506231}" destId="{6E8A91AE-9E6E-4469-87DB-2952209F9374}" srcOrd="0" destOrd="0" presId="urn:microsoft.com/office/officeart/2018/2/layout/IconVerticalSolidList"/>
    <dgm:cxn modelId="{9459DC64-E140-4D43-BBEE-E466DC4F132B}" type="presParOf" srcId="{A6C6BA43-307D-4354-AB33-F2CA64506231}" destId="{E81D4E69-21FB-4F63-8E8E-F05C7EAA21A0}" srcOrd="1" destOrd="0" presId="urn:microsoft.com/office/officeart/2018/2/layout/IconVerticalSolidList"/>
    <dgm:cxn modelId="{F8CA707B-8023-446F-B8C0-6AAAB88C6E09}" type="presParOf" srcId="{A6C6BA43-307D-4354-AB33-F2CA64506231}" destId="{54E42719-CE3A-4035-8BA1-FD21FA92856B}" srcOrd="2" destOrd="0" presId="urn:microsoft.com/office/officeart/2018/2/layout/IconVerticalSolidList"/>
    <dgm:cxn modelId="{5B0418B8-569B-4A4C-939C-E95CAD307047}" type="presParOf" srcId="{A6C6BA43-307D-4354-AB33-F2CA64506231}" destId="{2A0BBC3B-4E70-431C-AEC6-B2FBC95E8F6D}" srcOrd="3" destOrd="0" presId="urn:microsoft.com/office/officeart/2018/2/layout/IconVerticalSolidList"/>
    <dgm:cxn modelId="{AEE10610-0331-4B22-9E40-F995644F71D6}" type="presParOf" srcId="{309799BC-2486-4503-A300-FDC96EC3CC0B}" destId="{F24716DB-6991-4240-94B2-0659FBD9078B}" srcOrd="1" destOrd="0" presId="urn:microsoft.com/office/officeart/2018/2/layout/IconVerticalSolidList"/>
    <dgm:cxn modelId="{D60D6903-706D-4CC0-83A1-2FFC86E11E6B}" type="presParOf" srcId="{309799BC-2486-4503-A300-FDC96EC3CC0B}" destId="{690AF7AC-E984-4904-9C74-7AA099B39C72}" srcOrd="2" destOrd="0" presId="urn:microsoft.com/office/officeart/2018/2/layout/IconVerticalSolidList"/>
    <dgm:cxn modelId="{30DA3773-BFD1-4BB5-947C-FD38FBF89DE9}" type="presParOf" srcId="{690AF7AC-E984-4904-9C74-7AA099B39C72}" destId="{FA532334-272D-46A5-B88C-A15604B9B282}" srcOrd="0" destOrd="0" presId="urn:microsoft.com/office/officeart/2018/2/layout/IconVerticalSolidList"/>
    <dgm:cxn modelId="{BD277E9B-8FA2-4578-9615-E96A1D038C7F}" type="presParOf" srcId="{690AF7AC-E984-4904-9C74-7AA099B39C72}" destId="{A7BC0C72-47D8-471A-A1A7-865831C54AE9}" srcOrd="1" destOrd="0" presId="urn:microsoft.com/office/officeart/2018/2/layout/IconVerticalSolidList"/>
    <dgm:cxn modelId="{84A19B3E-36CB-4AFB-B5ED-C0BEE55280AC}" type="presParOf" srcId="{690AF7AC-E984-4904-9C74-7AA099B39C72}" destId="{B4940FA8-2472-4E24-B449-D19750845CB5}" srcOrd="2" destOrd="0" presId="urn:microsoft.com/office/officeart/2018/2/layout/IconVerticalSolidList"/>
    <dgm:cxn modelId="{7E5FF5E9-5DC1-46EC-999B-C5A51775D1F9}" type="presParOf" srcId="{690AF7AC-E984-4904-9C74-7AA099B39C72}" destId="{0352D2BF-7A63-4385-8F23-67CFECBCC096}" srcOrd="3" destOrd="0" presId="urn:microsoft.com/office/officeart/2018/2/layout/IconVerticalSolidList"/>
    <dgm:cxn modelId="{B8AA93AF-0066-4351-9E0B-2E2CEFAC4293}" type="presParOf" srcId="{309799BC-2486-4503-A300-FDC96EC3CC0B}" destId="{79B61C43-D83A-478F-B357-45BF7A9E9046}" srcOrd="3" destOrd="0" presId="urn:microsoft.com/office/officeart/2018/2/layout/IconVerticalSolidList"/>
    <dgm:cxn modelId="{C7A8EB0C-D7F3-4A1F-98A6-45F93BAC3863}" type="presParOf" srcId="{309799BC-2486-4503-A300-FDC96EC3CC0B}" destId="{F3E615D0-F3B6-430C-A846-82E75948D8BC}" srcOrd="4" destOrd="0" presId="urn:microsoft.com/office/officeart/2018/2/layout/IconVerticalSolidList"/>
    <dgm:cxn modelId="{AAA863C0-D045-472D-AB43-B50DA2125EEC}" type="presParOf" srcId="{F3E615D0-F3B6-430C-A846-82E75948D8BC}" destId="{D5E1845C-44AD-4469-9942-5E1C3F52F854}" srcOrd="0" destOrd="0" presId="urn:microsoft.com/office/officeart/2018/2/layout/IconVerticalSolidList"/>
    <dgm:cxn modelId="{483326B2-E9EF-46D5-98B9-1CDD64F757FC}" type="presParOf" srcId="{F3E615D0-F3B6-430C-A846-82E75948D8BC}" destId="{0A7041CA-BD69-483B-B58B-D77D184B1772}" srcOrd="1" destOrd="0" presId="urn:microsoft.com/office/officeart/2018/2/layout/IconVerticalSolidList"/>
    <dgm:cxn modelId="{11E1D345-B264-4313-9A5C-2A1A9E867E4E}" type="presParOf" srcId="{F3E615D0-F3B6-430C-A846-82E75948D8BC}" destId="{D7691B52-693E-4760-B3FD-24A60111C2F6}" srcOrd="2" destOrd="0" presId="urn:microsoft.com/office/officeart/2018/2/layout/IconVerticalSolidList"/>
    <dgm:cxn modelId="{AC04224D-1BDB-4282-A5EE-6906A1E1E246}" type="presParOf" srcId="{F3E615D0-F3B6-430C-A846-82E75948D8BC}" destId="{D8CD1787-5A90-4F7B-B09F-15E4023BD5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DF7857-4519-493E-BCB5-95AC384CA70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FBEB5200-8D0E-4822-B8C0-A0C612968A1C}">
      <dgm:prSet/>
      <dgm:spPr/>
      <dgm:t>
        <a:bodyPr/>
        <a:lstStyle/>
        <a:p>
          <a:r>
            <a:rPr lang="en-US"/>
            <a:t>Somatic Mutations or bodily mutations: </a:t>
          </a:r>
        </a:p>
      </dgm:t>
    </dgm:pt>
    <dgm:pt modelId="{989669E3-940C-45F3-BFEF-6229DBBACA77}" type="parTrans" cxnId="{E292A2F4-D429-4294-97F1-BD7CD1301F36}">
      <dgm:prSet/>
      <dgm:spPr/>
      <dgm:t>
        <a:bodyPr/>
        <a:lstStyle/>
        <a:p>
          <a:endParaRPr lang="en-US"/>
        </a:p>
      </dgm:t>
    </dgm:pt>
    <dgm:pt modelId="{68FA413C-5EF2-4B66-9605-FF1FD7628AF2}" type="sibTrans" cxnId="{E292A2F4-D429-4294-97F1-BD7CD1301F36}">
      <dgm:prSet/>
      <dgm:spPr/>
      <dgm:t>
        <a:bodyPr/>
        <a:lstStyle/>
        <a:p>
          <a:endParaRPr lang="en-US"/>
        </a:p>
      </dgm:t>
    </dgm:pt>
    <dgm:pt modelId="{66451B4E-0F35-4B90-9D87-F9775B2A6133}">
      <dgm:prSet/>
      <dgm:spPr/>
      <dgm:t>
        <a:bodyPr/>
        <a:lstStyle/>
        <a:p>
          <a:r>
            <a:rPr lang="en-US"/>
            <a:t>-Only the individual with the somatic cells can be affected. </a:t>
          </a:r>
        </a:p>
      </dgm:t>
    </dgm:pt>
    <dgm:pt modelId="{06BC3406-53E6-4422-9209-92DCAB64FF28}" type="parTrans" cxnId="{85E8C52F-486A-46C0-9A60-6202F16D67FF}">
      <dgm:prSet/>
      <dgm:spPr/>
      <dgm:t>
        <a:bodyPr/>
        <a:lstStyle/>
        <a:p>
          <a:endParaRPr lang="en-US"/>
        </a:p>
      </dgm:t>
    </dgm:pt>
    <dgm:pt modelId="{DD49AFDB-6CF7-4184-9E93-467F977B2D77}" type="sibTrans" cxnId="{85E8C52F-486A-46C0-9A60-6202F16D67FF}">
      <dgm:prSet/>
      <dgm:spPr/>
      <dgm:t>
        <a:bodyPr/>
        <a:lstStyle/>
        <a:p>
          <a:endParaRPr lang="en-US"/>
        </a:p>
      </dgm:t>
    </dgm:pt>
    <dgm:pt modelId="{9BFFABF7-7DBA-438B-907B-D3EAEC64AB22}">
      <dgm:prSet/>
      <dgm:spPr/>
      <dgm:t>
        <a:bodyPr/>
        <a:lstStyle/>
        <a:p>
          <a:r>
            <a:rPr lang="en-US" dirty="0"/>
            <a:t>-The Mutations is based in every mitotic division, but not in meiotic divisions. </a:t>
          </a:r>
        </a:p>
      </dgm:t>
    </dgm:pt>
    <dgm:pt modelId="{1D4B6C5A-4527-4DBE-B3EE-D9A657AB5C07}" type="parTrans" cxnId="{834816B9-524A-476B-B2D6-4653E13A7AE7}">
      <dgm:prSet/>
      <dgm:spPr/>
      <dgm:t>
        <a:bodyPr/>
        <a:lstStyle/>
        <a:p>
          <a:endParaRPr lang="en-US"/>
        </a:p>
      </dgm:t>
    </dgm:pt>
    <dgm:pt modelId="{A668027C-1488-4D19-B4A4-39169D61D9B2}" type="sibTrans" cxnId="{834816B9-524A-476B-B2D6-4653E13A7AE7}">
      <dgm:prSet/>
      <dgm:spPr/>
      <dgm:t>
        <a:bodyPr/>
        <a:lstStyle/>
        <a:p>
          <a:endParaRPr lang="en-US"/>
        </a:p>
      </dgm:t>
    </dgm:pt>
    <dgm:pt modelId="{4627D250-A65F-4395-A781-87AD1B75DA02}">
      <dgm:prSet/>
      <dgm:spPr/>
      <dgm:t>
        <a:bodyPr/>
        <a:lstStyle/>
        <a:p>
          <a:r>
            <a:rPr lang="en-US" dirty="0"/>
            <a:t>-Very commonly involved with cancerous growth due to mutagenic agents. </a:t>
          </a:r>
        </a:p>
      </dgm:t>
    </dgm:pt>
    <dgm:pt modelId="{4E52CE4C-1461-4868-BD0D-F190D6AF25FD}" type="parTrans" cxnId="{29F4BFBE-3556-47A1-BE36-A14EB3487FD5}">
      <dgm:prSet/>
      <dgm:spPr/>
      <dgm:t>
        <a:bodyPr/>
        <a:lstStyle/>
        <a:p>
          <a:endParaRPr lang="en-US"/>
        </a:p>
      </dgm:t>
    </dgm:pt>
    <dgm:pt modelId="{02C82A22-E2BB-4BC9-A16C-65894FFFDD24}" type="sibTrans" cxnId="{29F4BFBE-3556-47A1-BE36-A14EB3487FD5}">
      <dgm:prSet/>
      <dgm:spPr/>
      <dgm:t>
        <a:bodyPr/>
        <a:lstStyle/>
        <a:p>
          <a:endParaRPr lang="en-US"/>
        </a:p>
      </dgm:t>
    </dgm:pt>
    <dgm:pt modelId="{1308930C-EF14-484B-B289-457B53A8D40B}" type="pres">
      <dgm:prSet presAssocID="{C8DF7857-4519-493E-BCB5-95AC384CA70B}" presName="linear" presStyleCnt="0">
        <dgm:presLayoutVars>
          <dgm:animLvl val="lvl"/>
          <dgm:resizeHandles val="exact"/>
        </dgm:presLayoutVars>
      </dgm:prSet>
      <dgm:spPr/>
    </dgm:pt>
    <dgm:pt modelId="{9BE99847-1A9B-0443-A5E0-B087421CB1E7}" type="pres">
      <dgm:prSet presAssocID="{FBEB5200-8D0E-4822-B8C0-A0C612968A1C}" presName="parentText" presStyleLbl="node1" presStyleIdx="0" presStyleCnt="4">
        <dgm:presLayoutVars>
          <dgm:chMax val="0"/>
          <dgm:bulletEnabled val="1"/>
        </dgm:presLayoutVars>
      </dgm:prSet>
      <dgm:spPr/>
    </dgm:pt>
    <dgm:pt modelId="{80E03A69-9347-B04F-A748-E829CDE65257}" type="pres">
      <dgm:prSet presAssocID="{68FA413C-5EF2-4B66-9605-FF1FD7628AF2}" presName="spacer" presStyleCnt="0"/>
      <dgm:spPr/>
    </dgm:pt>
    <dgm:pt modelId="{019EC509-F00C-DF40-AE52-B32539976D53}" type="pres">
      <dgm:prSet presAssocID="{66451B4E-0F35-4B90-9D87-F9775B2A6133}" presName="parentText" presStyleLbl="node1" presStyleIdx="1" presStyleCnt="4">
        <dgm:presLayoutVars>
          <dgm:chMax val="0"/>
          <dgm:bulletEnabled val="1"/>
        </dgm:presLayoutVars>
      </dgm:prSet>
      <dgm:spPr/>
    </dgm:pt>
    <dgm:pt modelId="{9C21EB35-B084-1A46-8C07-94960ED36D2C}" type="pres">
      <dgm:prSet presAssocID="{DD49AFDB-6CF7-4184-9E93-467F977B2D77}" presName="spacer" presStyleCnt="0"/>
      <dgm:spPr/>
    </dgm:pt>
    <dgm:pt modelId="{D8A3D866-BCD2-9740-937A-0B7D75A70BAB}" type="pres">
      <dgm:prSet presAssocID="{9BFFABF7-7DBA-438B-907B-D3EAEC64AB22}" presName="parentText" presStyleLbl="node1" presStyleIdx="2" presStyleCnt="4">
        <dgm:presLayoutVars>
          <dgm:chMax val="0"/>
          <dgm:bulletEnabled val="1"/>
        </dgm:presLayoutVars>
      </dgm:prSet>
      <dgm:spPr/>
    </dgm:pt>
    <dgm:pt modelId="{E09F118B-D806-3042-8D5C-C28D3EB18160}" type="pres">
      <dgm:prSet presAssocID="{A668027C-1488-4D19-B4A4-39169D61D9B2}" presName="spacer" presStyleCnt="0"/>
      <dgm:spPr/>
    </dgm:pt>
    <dgm:pt modelId="{820B084A-F766-5A40-BD76-6FDAB285A208}" type="pres">
      <dgm:prSet presAssocID="{4627D250-A65F-4395-A781-87AD1B75DA02}" presName="parentText" presStyleLbl="node1" presStyleIdx="3" presStyleCnt="4">
        <dgm:presLayoutVars>
          <dgm:chMax val="0"/>
          <dgm:bulletEnabled val="1"/>
        </dgm:presLayoutVars>
      </dgm:prSet>
      <dgm:spPr/>
    </dgm:pt>
  </dgm:ptLst>
  <dgm:cxnLst>
    <dgm:cxn modelId="{A7B89F0B-A83A-0D43-9EA8-20F36AE227BA}" type="presOf" srcId="{9BFFABF7-7DBA-438B-907B-D3EAEC64AB22}" destId="{D8A3D866-BCD2-9740-937A-0B7D75A70BAB}" srcOrd="0" destOrd="0" presId="urn:microsoft.com/office/officeart/2005/8/layout/vList2"/>
    <dgm:cxn modelId="{85E8C52F-486A-46C0-9A60-6202F16D67FF}" srcId="{C8DF7857-4519-493E-BCB5-95AC384CA70B}" destId="{66451B4E-0F35-4B90-9D87-F9775B2A6133}" srcOrd="1" destOrd="0" parTransId="{06BC3406-53E6-4422-9209-92DCAB64FF28}" sibTransId="{DD49AFDB-6CF7-4184-9E93-467F977B2D77}"/>
    <dgm:cxn modelId="{3F256C50-01B9-2F4B-B7A7-47635E27CB81}" type="presOf" srcId="{66451B4E-0F35-4B90-9D87-F9775B2A6133}" destId="{019EC509-F00C-DF40-AE52-B32539976D53}" srcOrd="0" destOrd="0" presId="urn:microsoft.com/office/officeart/2005/8/layout/vList2"/>
    <dgm:cxn modelId="{834816B9-524A-476B-B2D6-4653E13A7AE7}" srcId="{C8DF7857-4519-493E-BCB5-95AC384CA70B}" destId="{9BFFABF7-7DBA-438B-907B-D3EAEC64AB22}" srcOrd="2" destOrd="0" parTransId="{1D4B6C5A-4527-4DBE-B3EE-D9A657AB5C07}" sibTransId="{A668027C-1488-4D19-B4A4-39169D61D9B2}"/>
    <dgm:cxn modelId="{29F4BFBE-3556-47A1-BE36-A14EB3487FD5}" srcId="{C8DF7857-4519-493E-BCB5-95AC384CA70B}" destId="{4627D250-A65F-4395-A781-87AD1B75DA02}" srcOrd="3" destOrd="0" parTransId="{4E52CE4C-1461-4868-BD0D-F190D6AF25FD}" sibTransId="{02C82A22-E2BB-4BC9-A16C-65894FFFDD24}"/>
    <dgm:cxn modelId="{3A28FAD2-36D4-8A49-BF64-68B66D38FF15}" type="presOf" srcId="{C8DF7857-4519-493E-BCB5-95AC384CA70B}" destId="{1308930C-EF14-484B-B289-457B53A8D40B}" srcOrd="0" destOrd="0" presId="urn:microsoft.com/office/officeart/2005/8/layout/vList2"/>
    <dgm:cxn modelId="{41687ED5-F60B-074E-B2D5-37549A08C28D}" type="presOf" srcId="{4627D250-A65F-4395-A781-87AD1B75DA02}" destId="{820B084A-F766-5A40-BD76-6FDAB285A208}" srcOrd="0" destOrd="0" presId="urn:microsoft.com/office/officeart/2005/8/layout/vList2"/>
    <dgm:cxn modelId="{6B7800E1-F25C-DC4D-A99C-2CBEACD02E2B}" type="presOf" srcId="{FBEB5200-8D0E-4822-B8C0-A0C612968A1C}" destId="{9BE99847-1A9B-0443-A5E0-B087421CB1E7}" srcOrd="0" destOrd="0" presId="urn:microsoft.com/office/officeart/2005/8/layout/vList2"/>
    <dgm:cxn modelId="{E292A2F4-D429-4294-97F1-BD7CD1301F36}" srcId="{C8DF7857-4519-493E-BCB5-95AC384CA70B}" destId="{FBEB5200-8D0E-4822-B8C0-A0C612968A1C}" srcOrd="0" destOrd="0" parTransId="{989669E3-940C-45F3-BFEF-6229DBBACA77}" sibTransId="{68FA413C-5EF2-4B66-9605-FF1FD7628AF2}"/>
    <dgm:cxn modelId="{292359DA-4C3A-5442-B84B-F6BFD811F37E}" type="presParOf" srcId="{1308930C-EF14-484B-B289-457B53A8D40B}" destId="{9BE99847-1A9B-0443-A5E0-B087421CB1E7}" srcOrd="0" destOrd="0" presId="urn:microsoft.com/office/officeart/2005/8/layout/vList2"/>
    <dgm:cxn modelId="{60443F2E-DE16-8A4C-82BD-46ACBDEDC6DA}" type="presParOf" srcId="{1308930C-EF14-484B-B289-457B53A8D40B}" destId="{80E03A69-9347-B04F-A748-E829CDE65257}" srcOrd="1" destOrd="0" presId="urn:microsoft.com/office/officeart/2005/8/layout/vList2"/>
    <dgm:cxn modelId="{0B10239F-5B8D-3D4F-B7DB-3DD99735FBF3}" type="presParOf" srcId="{1308930C-EF14-484B-B289-457B53A8D40B}" destId="{019EC509-F00C-DF40-AE52-B32539976D53}" srcOrd="2" destOrd="0" presId="urn:microsoft.com/office/officeart/2005/8/layout/vList2"/>
    <dgm:cxn modelId="{A95D69AE-B6CB-5747-A1BC-29434DB36775}" type="presParOf" srcId="{1308930C-EF14-484B-B289-457B53A8D40B}" destId="{9C21EB35-B084-1A46-8C07-94960ED36D2C}" srcOrd="3" destOrd="0" presId="urn:microsoft.com/office/officeart/2005/8/layout/vList2"/>
    <dgm:cxn modelId="{5D7286A5-70CD-F745-8962-EAD0844478E4}" type="presParOf" srcId="{1308930C-EF14-484B-B289-457B53A8D40B}" destId="{D8A3D866-BCD2-9740-937A-0B7D75A70BAB}" srcOrd="4" destOrd="0" presId="urn:microsoft.com/office/officeart/2005/8/layout/vList2"/>
    <dgm:cxn modelId="{E28E7DB3-9169-2147-96CC-8EA0593C5834}" type="presParOf" srcId="{1308930C-EF14-484B-B289-457B53A8D40B}" destId="{E09F118B-D806-3042-8D5C-C28D3EB18160}" srcOrd="5" destOrd="0" presId="urn:microsoft.com/office/officeart/2005/8/layout/vList2"/>
    <dgm:cxn modelId="{E0398B94-F6F2-C649-8615-71ED617F396A}" type="presParOf" srcId="{1308930C-EF14-484B-B289-457B53A8D40B}" destId="{820B084A-F766-5A40-BD76-6FDAB285A20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DD561A5-9C4A-4289-B81F-9DA663B7C48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A37D414-E159-462F-BCC6-1CC52CB562EA}">
      <dgm:prSet custT="1"/>
      <dgm:spPr/>
      <dgm:t>
        <a:bodyPr/>
        <a:lstStyle/>
        <a:p>
          <a:r>
            <a:rPr lang="en-US" sz="2200" dirty="0"/>
            <a:t>Most gene mutations produce a recessive allele, meaning you could have many mutations and be completely unaware of them. This is because the recessive can prevent the gene from producing proteins.</a:t>
          </a:r>
        </a:p>
      </dgm:t>
    </dgm:pt>
    <dgm:pt modelId="{1462184C-FDED-40CB-A184-28DA161512B4}" type="parTrans" cxnId="{D9AAF31D-8F58-4600-B07D-B7F351E05E4B}">
      <dgm:prSet/>
      <dgm:spPr/>
      <dgm:t>
        <a:bodyPr/>
        <a:lstStyle/>
        <a:p>
          <a:endParaRPr lang="en-US"/>
        </a:p>
      </dgm:t>
    </dgm:pt>
    <dgm:pt modelId="{1F1E9996-3A7B-4161-827A-20EB17C12D35}" type="sibTrans" cxnId="{D9AAF31D-8F58-4600-B07D-B7F351E05E4B}">
      <dgm:prSet/>
      <dgm:spPr/>
      <dgm:t>
        <a:bodyPr/>
        <a:lstStyle/>
        <a:p>
          <a:endParaRPr lang="en-US"/>
        </a:p>
      </dgm:t>
    </dgm:pt>
    <dgm:pt modelId="{89CD667F-3C27-4630-94D8-4DE6899A95C4}">
      <dgm:prSet custT="1"/>
      <dgm:spPr/>
      <dgm:t>
        <a:bodyPr/>
        <a:lstStyle/>
        <a:p>
          <a:r>
            <a:rPr lang="en-US" sz="2200" dirty="0"/>
            <a:t>If two partners reproduced, and both had the recessive mutation, this means their offspring has a chance of receiving the recessive condition. </a:t>
          </a:r>
        </a:p>
      </dgm:t>
    </dgm:pt>
    <dgm:pt modelId="{EAE55CBE-2996-4BFE-9FC9-F781202D5909}" type="parTrans" cxnId="{F07C7F41-824A-41BA-B9E4-94860C686DF2}">
      <dgm:prSet/>
      <dgm:spPr/>
      <dgm:t>
        <a:bodyPr/>
        <a:lstStyle/>
        <a:p>
          <a:endParaRPr lang="en-US"/>
        </a:p>
      </dgm:t>
    </dgm:pt>
    <dgm:pt modelId="{8F36A8E6-4A10-479A-94FD-E2BE493A7140}" type="sibTrans" cxnId="{F07C7F41-824A-41BA-B9E4-94860C686DF2}">
      <dgm:prSet/>
      <dgm:spPr/>
      <dgm:t>
        <a:bodyPr/>
        <a:lstStyle/>
        <a:p>
          <a:endParaRPr lang="en-US"/>
        </a:p>
      </dgm:t>
    </dgm:pt>
    <dgm:pt modelId="{9C14168D-FE4C-4725-8830-B45C0C40DD0C}">
      <dgm:prSet custT="1"/>
      <dgm:spPr/>
      <dgm:t>
        <a:bodyPr/>
        <a:lstStyle/>
        <a:p>
          <a:r>
            <a:rPr lang="en-US" sz="2200" dirty="0"/>
            <a:t>Some recessive mutations are lethal if they are not masked by a dominant normal allele. These can result in death of an embryo or foetus or early death of a child. </a:t>
          </a:r>
        </a:p>
      </dgm:t>
    </dgm:pt>
    <dgm:pt modelId="{9E491661-4C94-4F80-805A-B20F760E9CC8}" type="parTrans" cxnId="{59F5CCF6-0083-4659-BBF1-BEC7C49C1A6A}">
      <dgm:prSet/>
      <dgm:spPr/>
      <dgm:t>
        <a:bodyPr/>
        <a:lstStyle/>
        <a:p>
          <a:endParaRPr lang="en-US"/>
        </a:p>
      </dgm:t>
    </dgm:pt>
    <dgm:pt modelId="{803B6150-B77B-46C9-828B-137DAF92C362}" type="sibTrans" cxnId="{59F5CCF6-0083-4659-BBF1-BEC7C49C1A6A}">
      <dgm:prSet/>
      <dgm:spPr/>
      <dgm:t>
        <a:bodyPr/>
        <a:lstStyle/>
        <a:p>
          <a:endParaRPr lang="en-US"/>
        </a:p>
      </dgm:t>
    </dgm:pt>
    <dgm:pt modelId="{E21DD259-A09B-473A-82B2-F685DBF9816E}">
      <dgm:prSet custT="1"/>
      <dgm:spPr/>
      <dgm:t>
        <a:bodyPr/>
        <a:lstStyle/>
        <a:p>
          <a:r>
            <a:rPr lang="en-US" sz="2200" dirty="0"/>
            <a:t>Example: Tay-Sachs Disease: disorder of lipid metabolism that results in fatty acids accumulating in and overwhelming the nervous system. </a:t>
          </a:r>
        </a:p>
      </dgm:t>
    </dgm:pt>
    <dgm:pt modelId="{ECAE4F37-9E89-402C-BBBE-D69E296D45F1}" type="parTrans" cxnId="{37FF6591-CC16-4453-B739-614E6A4770BD}">
      <dgm:prSet/>
      <dgm:spPr/>
      <dgm:t>
        <a:bodyPr/>
        <a:lstStyle/>
        <a:p>
          <a:endParaRPr lang="en-US"/>
        </a:p>
      </dgm:t>
    </dgm:pt>
    <dgm:pt modelId="{E1E192D1-9E29-4FE6-B676-F0621B201BDE}" type="sibTrans" cxnId="{37FF6591-CC16-4453-B739-614E6A4770BD}">
      <dgm:prSet/>
      <dgm:spPr/>
      <dgm:t>
        <a:bodyPr/>
        <a:lstStyle/>
        <a:p>
          <a:endParaRPr lang="en-US"/>
        </a:p>
      </dgm:t>
    </dgm:pt>
    <dgm:pt modelId="{D67E5D75-C990-4B7E-8EF3-29E388233F38}">
      <dgm:prSet custT="1"/>
      <dgm:spPr/>
      <dgm:t>
        <a:bodyPr/>
        <a:lstStyle/>
        <a:p>
          <a:r>
            <a:rPr lang="en-US" sz="2200" dirty="0"/>
            <a:t>These lethal recessives are slowly eradicated from the gene pool though, as the offspring do not live long enough to pass on their genes. </a:t>
          </a:r>
        </a:p>
      </dgm:t>
    </dgm:pt>
    <dgm:pt modelId="{B095EAA3-5867-4D6C-A3AD-4C83D36B2D0C}" type="parTrans" cxnId="{AB5EDC99-6621-42B2-AF31-B8A7949054E1}">
      <dgm:prSet/>
      <dgm:spPr/>
      <dgm:t>
        <a:bodyPr/>
        <a:lstStyle/>
        <a:p>
          <a:endParaRPr lang="en-US"/>
        </a:p>
      </dgm:t>
    </dgm:pt>
    <dgm:pt modelId="{478FFC1C-07AF-4B2C-A867-630DAB88DE8C}" type="sibTrans" cxnId="{AB5EDC99-6621-42B2-AF31-B8A7949054E1}">
      <dgm:prSet/>
      <dgm:spPr/>
      <dgm:t>
        <a:bodyPr/>
        <a:lstStyle/>
        <a:p>
          <a:endParaRPr lang="en-US"/>
        </a:p>
      </dgm:t>
    </dgm:pt>
    <dgm:pt modelId="{6DB458B7-E977-EA45-89D2-C9F4A858A787}" type="pres">
      <dgm:prSet presAssocID="{7DD561A5-9C4A-4289-B81F-9DA663B7C483}" presName="linear" presStyleCnt="0">
        <dgm:presLayoutVars>
          <dgm:animLvl val="lvl"/>
          <dgm:resizeHandles val="exact"/>
        </dgm:presLayoutVars>
      </dgm:prSet>
      <dgm:spPr/>
    </dgm:pt>
    <dgm:pt modelId="{7B739570-F7FD-4C4C-8538-4A87DCEFC4BB}" type="pres">
      <dgm:prSet presAssocID="{CA37D414-E159-462F-BCC6-1CC52CB562EA}" presName="parentText" presStyleLbl="node1" presStyleIdx="0" presStyleCnt="5" custLinFactNeighborX="-469" custLinFactNeighborY="20888">
        <dgm:presLayoutVars>
          <dgm:chMax val="0"/>
          <dgm:bulletEnabled val="1"/>
        </dgm:presLayoutVars>
      </dgm:prSet>
      <dgm:spPr/>
    </dgm:pt>
    <dgm:pt modelId="{80E0D074-56C1-0E46-8C8C-085D7CB19536}" type="pres">
      <dgm:prSet presAssocID="{1F1E9996-3A7B-4161-827A-20EB17C12D35}" presName="spacer" presStyleCnt="0"/>
      <dgm:spPr/>
    </dgm:pt>
    <dgm:pt modelId="{31D552F0-CFB2-544A-9451-B4C0A6366349}" type="pres">
      <dgm:prSet presAssocID="{89CD667F-3C27-4630-94D8-4DE6899A95C4}" presName="parentText" presStyleLbl="node1" presStyleIdx="1" presStyleCnt="5">
        <dgm:presLayoutVars>
          <dgm:chMax val="0"/>
          <dgm:bulletEnabled val="1"/>
        </dgm:presLayoutVars>
      </dgm:prSet>
      <dgm:spPr/>
    </dgm:pt>
    <dgm:pt modelId="{6FE59E8E-915B-F241-85DB-925DE0F0C4D6}" type="pres">
      <dgm:prSet presAssocID="{8F36A8E6-4A10-479A-94FD-E2BE493A7140}" presName="spacer" presStyleCnt="0"/>
      <dgm:spPr/>
    </dgm:pt>
    <dgm:pt modelId="{28DEBBD8-520F-E94D-9765-73C07F6D0DAF}" type="pres">
      <dgm:prSet presAssocID="{9C14168D-FE4C-4725-8830-B45C0C40DD0C}" presName="parentText" presStyleLbl="node1" presStyleIdx="2" presStyleCnt="5">
        <dgm:presLayoutVars>
          <dgm:chMax val="0"/>
          <dgm:bulletEnabled val="1"/>
        </dgm:presLayoutVars>
      </dgm:prSet>
      <dgm:spPr/>
    </dgm:pt>
    <dgm:pt modelId="{0AE9AF36-175C-774D-9144-349B10888168}" type="pres">
      <dgm:prSet presAssocID="{803B6150-B77B-46C9-828B-137DAF92C362}" presName="spacer" presStyleCnt="0"/>
      <dgm:spPr/>
    </dgm:pt>
    <dgm:pt modelId="{C1D69BA5-16C7-934A-8C19-217302AAEE9D}" type="pres">
      <dgm:prSet presAssocID="{E21DD259-A09B-473A-82B2-F685DBF9816E}" presName="parentText" presStyleLbl="node1" presStyleIdx="3" presStyleCnt="5">
        <dgm:presLayoutVars>
          <dgm:chMax val="0"/>
          <dgm:bulletEnabled val="1"/>
        </dgm:presLayoutVars>
      </dgm:prSet>
      <dgm:spPr/>
    </dgm:pt>
    <dgm:pt modelId="{2C1DC380-AE0F-0A42-8CF9-824A0126760A}" type="pres">
      <dgm:prSet presAssocID="{E1E192D1-9E29-4FE6-B676-F0621B201BDE}" presName="spacer" presStyleCnt="0"/>
      <dgm:spPr/>
    </dgm:pt>
    <dgm:pt modelId="{0FBEB196-1451-1543-B8F5-C4EE0949C939}" type="pres">
      <dgm:prSet presAssocID="{D67E5D75-C990-4B7E-8EF3-29E388233F38}" presName="parentText" presStyleLbl="node1" presStyleIdx="4" presStyleCnt="5">
        <dgm:presLayoutVars>
          <dgm:chMax val="0"/>
          <dgm:bulletEnabled val="1"/>
        </dgm:presLayoutVars>
      </dgm:prSet>
      <dgm:spPr/>
    </dgm:pt>
  </dgm:ptLst>
  <dgm:cxnLst>
    <dgm:cxn modelId="{706F8D02-A30E-1F4F-B200-731F0720175A}" type="presOf" srcId="{CA37D414-E159-462F-BCC6-1CC52CB562EA}" destId="{7B739570-F7FD-4C4C-8538-4A87DCEFC4BB}" srcOrd="0" destOrd="0" presId="urn:microsoft.com/office/officeart/2005/8/layout/vList2"/>
    <dgm:cxn modelId="{7C688E07-056E-7145-A385-855AAC65EFB5}" type="presOf" srcId="{D67E5D75-C990-4B7E-8EF3-29E388233F38}" destId="{0FBEB196-1451-1543-B8F5-C4EE0949C939}" srcOrd="0" destOrd="0" presId="urn:microsoft.com/office/officeart/2005/8/layout/vList2"/>
    <dgm:cxn modelId="{D9AAF31D-8F58-4600-B07D-B7F351E05E4B}" srcId="{7DD561A5-9C4A-4289-B81F-9DA663B7C483}" destId="{CA37D414-E159-462F-BCC6-1CC52CB562EA}" srcOrd="0" destOrd="0" parTransId="{1462184C-FDED-40CB-A184-28DA161512B4}" sibTransId="{1F1E9996-3A7B-4161-827A-20EB17C12D35}"/>
    <dgm:cxn modelId="{F07C7F41-824A-41BA-B9E4-94860C686DF2}" srcId="{7DD561A5-9C4A-4289-B81F-9DA663B7C483}" destId="{89CD667F-3C27-4630-94D8-4DE6899A95C4}" srcOrd="1" destOrd="0" parTransId="{EAE55CBE-2996-4BFE-9FC9-F781202D5909}" sibTransId="{8F36A8E6-4A10-479A-94FD-E2BE493A7140}"/>
    <dgm:cxn modelId="{BB499641-2195-0446-843A-25305052B7B0}" type="presOf" srcId="{E21DD259-A09B-473A-82B2-F685DBF9816E}" destId="{C1D69BA5-16C7-934A-8C19-217302AAEE9D}" srcOrd="0" destOrd="0" presId="urn:microsoft.com/office/officeart/2005/8/layout/vList2"/>
    <dgm:cxn modelId="{3438FE4F-2C10-9C46-9586-2CDF97B9FDE7}" type="presOf" srcId="{9C14168D-FE4C-4725-8830-B45C0C40DD0C}" destId="{28DEBBD8-520F-E94D-9765-73C07F6D0DAF}" srcOrd="0" destOrd="0" presId="urn:microsoft.com/office/officeart/2005/8/layout/vList2"/>
    <dgm:cxn modelId="{37FF6591-CC16-4453-B739-614E6A4770BD}" srcId="{7DD561A5-9C4A-4289-B81F-9DA663B7C483}" destId="{E21DD259-A09B-473A-82B2-F685DBF9816E}" srcOrd="3" destOrd="0" parTransId="{ECAE4F37-9E89-402C-BBBE-D69E296D45F1}" sibTransId="{E1E192D1-9E29-4FE6-B676-F0621B201BDE}"/>
    <dgm:cxn modelId="{AB5EDC99-6621-42B2-AF31-B8A7949054E1}" srcId="{7DD561A5-9C4A-4289-B81F-9DA663B7C483}" destId="{D67E5D75-C990-4B7E-8EF3-29E388233F38}" srcOrd="4" destOrd="0" parTransId="{B095EAA3-5867-4D6C-A3AD-4C83D36B2D0C}" sibTransId="{478FFC1C-07AF-4B2C-A867-630DAB88DE8C}"/>
    <dgm:cxn modelId="{60B4FFD9-2304-2D4E-AD87-F46ED44541A1}" type="presOf" srcId="{89CD667F-3C27-4630-94D8-4DE6899A95C4}" destId="{31D552F0-CFB2-544A-9451-B4C0A6366349}" srcOrd="0" destOrd="0" presId="urn:microsoft.com/office/officeart/2005/8/layout/vList2"/>
    <dgm:cxn modelId="{5AC65BED-1F66-4A48-8796-0CCC454B72CE}" type="presOf" srcId="{7DD561A5-9C4A-4289-B81F-9DA663B7C483}" destId="{6DB458B7-E977-EA45-89D2-C9F4A858A787}" srcOrd="0" destOrd="0" presId="urn:microsoft.com/office/officeart/2005/8/layout/vList2"/>
    <dgm:cxn modelId="{59F5CCF6-0083-4659-BBF1-BEC7C49C1A6A}" srcId="{7DD561A5-9C4A-4289-B81F-9DA663B7C483}" destId="{9C14168D-FE4C-4725-8830-B45C0C40DD0C}" srcOrd="2" destOrd="0" parTransId="{9E491661-4C94-4F80-805A-B20F760E9CC8}" sibTransId="{803B6150-B77B-46C9-828B-137DAF92C362}"/>
    <dgm:cxn modelId="{CC3A1C9B-106D-B247-86A2-E4EEE35B1DD1}" type="presParOf" srcId="{6DB458B7-E977-EA45-89D2-C9F4A858A787}" destId="{7B739570-F7FD-4C4C-8538-4A87DCEFC4BB}" srcOrd="0" destOrd="0" presId="urn:microsoft.com/office/officeart/2005/8/layout/vList2"/>
    <dgm:cxn modelId="{C2CEE3E8-6AE9-1146-9E33-D34727EB19E9}" type="presParOf" srcId="{6DB458B7-E977-EA45-89D2-C9F4A858A787}" destId="{80E0D074-56C1-0E46-8C8C-085D7CB19536}" srcOrd="1" destOrd="0" presId="urn:microsoft.com/office/officeart/2005/8/layout/vList2"/>
    <dgm:cxn modelId="{B4B3A259-86F9-7047-9852-46159F418633}" type="presParOf" srcId="{6DB458B7-E977-EA45-89D2-C9F4A858A787}" destId="{31D552F0-CFB2-544A-9451-B4C0A6366349}" srcOrd="2" destOrd="0" presId="urn:microsoft.com/office/officeart/2005/8/layout/vList2"/>
    <dgm:cxn modelId="{11D3EB5A-DA1B-7347-9BCA-9803627325F2}" type="presParOf" srcId="{6DB458B7-E977-EA45-89D2-C9F4A858A787}" destId="{6FE59E8E-915B-F241-85DB-925DE0F0C4D6}" srcOrd="3" destOrd="0" presId="urn:microsoft.com/office/officeart/2005/8/layout/vList2"/>
    <dgm:cxn modelId="{701414C8-D5B8-1342-8BA1-3AB07FB7C6CA}" type="presParOf" srcId="{6DB458B7-E977-EA45-89D2-C9F4A858A787}" destId="{28DEBBD8-520F-E94D-9765-73C07F6D0DAF}" srcOrd="4" destOrd="0" presId="urn:microsoft.com/office/officeart/2005/8/layout/vList2"/>
    <dgm:cxn modelId="{2A5494E1-0A3C-DF4A-BDE2-B0A1ADEF7CD3}" type="presParOf" srcId="{6DB458B7-E977-EA45-89D2-C9F4A858A787}" destId="{0AE9AF36-175C-774D-9144-349B10888168}" srcOrd="5" destOrd="0" presId="urn:microsoft.com/office/officeart/2005/8/layout/vList2"/>
    <dgm:cxn modelId="{7CE03F1E-CE6E-104D-B89D-DD5874F5E1E8}" type="presParOf" srcId="{6DB458B7-E977-EA45-89D2-C9F4A858A787}" destId="{C1D69BA5-16C7-934A-8C19-217302AAEE9D}" srcOrd="6" destOrd="0" presId="urn:microsoft.com/office/officeart/2005/8/layout/vList2"/>
    <dgm:cxn modelId="{736777C9-1824-864E-A94D-864E3CAE5A1A}" type="presParOf" srcId="{6DB458B7-E977-EA45-89D2-C9F4A858A787}" destId="{2C1DC380-AE0F-0A42-8CF9-824A0126760A}" srcOrd="7" destOrd="0" presId="urn:microsoft.com/office/officeart/2005/8/layout/vList2"/>
    <dgm:cxn modelId="{CB961146-CF4C-5B43-BC3F-3B838D9E8B80}" type="presParOf" srcId="{6DB458B7-E977-EA45-89D2-C9F4A858A787}" destId="{0FBEB196-1451-1543-B8F5-C4EE0949C939}"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DB29188-831F-4C0E-A920-B151DBF95F1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E6A5985-338C-4B2F-91BA-3FDF2F3CD73B}">
      <dgm:prSet/>
      <dgm:spPr/>
      <dgm:t>
        <a:bodyPr/>
        <a:lstStyle/>
        <a:p>
          <a:r>
            <a:rPr lang="en-US" dirty="0"/>
            <a:t>Can we explain how different phenotypes and genotypes can affect the rate of survival? </a:t>
          </a:r>
        </a:p>
      </dgm:t>
    </dgm:pt>
    <dgm:pt modelId="{1404940E-0E0D-4840-BC20-E58359579EBC}" type="parTrans" cxnId="{1D7F8DF5-25AA-47EF-A1D8-EDA6E9DB63C6}">
      <dgm:prSet/>
      <dgm:spPr/>
      <dgm:t>
        <a:bodyPr/>
        <a:lstStyle/>
        <a:p>
          <a:endParaRPr lang="en-US"/>
        </a:p>
      </dgm:t>
    </dgm:pt>
    <dgm:pt modelId="{30C7762B-33D1-458A-B08F-7D308A745B48}" type="sibTrans" cxnId="{1D7F8DF5-25AA-47EF-A1D8-EDA6E9DB63C6}">
      <dgm:prSet/>
      <dgm:spPr/>
      <dgm:t>
        <a:bodyPr/>
        <a:lstStyle/>
        <a:p>
          <a:endParaRPr lang="en-US"/>
        </a:p>
      </dgm:t>
    </dgm:pt>
    <dgm:pt modelId="{8DD364D8-E80C-49E1-8857-756D1350C8C6}">
      <dgm:prSet/>
      <dgm:spPr/>
      <dgm:t>
        <a:bodyPr/>
        <a:lstStyle/>
        <a:p>
          <a:r>
            <a:rPr lang="en-US" dirty="0"/>
            <a:t>Can we </a:t>
          </a:r>
          <a:r>
            <a:rPr lang="en-AU" dirty="0"/>
            <a:t>explain how mutations introduce new alleles that affect rate of survival?</a:t>
          </a:r>
          <a:endParaRPr lang="en-US" dirty="0"/>
        </a:p>
      </dgm:t>
    </dgm:pt>
    <dgm:pt modelId="{139134D8-DDDD-4E07-9ACC-B7F465841298}" type="parTrans" cxnId="{AE4A0FE1-6AE0-4B4F-BE31-22CB6D1CD1F4}">
      <dgm:prSet/>
      <dgm:spPr/>
      <dgm:t>
        <a:bodyPr/>
        <a:lstStyle/>
        <a:p>
          <a:endParaRPr lang="en-US"/>
        </a:p>
      </dgm:t>
    </dgm:pt>
    <dgm:pt modelId="{2E12D267-8217-485E-9335-D8147084726F}" type="sibTrans" cxnId="{AE4A0FE1-6AE0-4B4F-BE31-22CB6D1CD1F4}">
      <dgm:prSet/>
      <dgm:spPr/>
      <dgm:t>
        <a:bodyPr/>
        <a:lstStyle/>
        <a:p>
          <a:endParaRPr lang="en-US"/>
        </a:p>
      </dgm:t>
    </dgm:pt>
    <dgm:pt modelId="{1918EE25-7AC0-4FA7-9A7E-C485FEAE5472}">
      <dgm:prSet/>
      <dgm:spPr/>
      <dgm:t>
        <a:bodyPr/>
        <a:lstStyle/>
        <a:p>
          <a:r>
            <a:rPr lang="en-AU" dirty="0"/>
            <a:t>Can we explain how mutations result from errors in DNA replication, cell division or from damage caused by mutagens?</a:t>
          </a:r>
          <a:endParaRPr lang="en-US" dirty="0"/>
        </a:p>
      </dgm:t>
    </dgm:pt>
    <dgm:pt modelId="{90315DA8-B034-4815-9D65-3E8CD841A5A7}" type="parTrans" cxnId="{5DC1C5D1-4F7C-448B-B737-C6D22DD8300A}">
      <dgm:prSet/>
      <dgm:spPr/>
      <dgm:t>
        <a:bodyPr/>
        <a:lstStyle/>
        <a:p>
          <a:endParaRPr lang="en-US"/>
        </a:p>
      </dgm:t>
    </dgm:pt>
    <dgm:pt modelId="{3C494508-C3A3-421F-84B1-E3B414B157CD}" type="sibTrans" cxnId="{5DC1C5D1-4F7C-448B-B737-C6D22DD8300A}">
      <dgm:prSet/>
      <dgm:spPr/>
      <dgm:t>
        <a:bodyPr/>
        <a:lstStyle/>
        <a:p>
          <a:endParaRPr lang="en-US"/>
        </a:p>
      </dgm:t>
    </dgm:pt>
    <dgm:pt modelId="{9489FEEA-3C83-AC42-BA90-4DC75EDF6264}" type="pres">
      <dgm:prSet presAssocID="{7DB29188-831F-4C0E-A920-B151DBF95F1A}" presName="linear" presStyleCnt="0">
        <dgm:presLayoutVars>
          <dgm:animLvl val="lvl"/>
          <dgm:resizeHandles val="exact"/>
        </dgm:presLayoutVars>
      </dgm:prSet>
      <dgm:spPr/>
    </dgm:pt>
    <dgm:pt modelId="{1EEFF8F0-AC41-194B-8E20-BA5733FA709E}" type="pres">
      <dgm:prSet presAssocID="{0E6A5985-338C-4B2F-91BA-3FDF2F3CD73B}" presName="parentText" presStyleLbl="node1" presStyleIdx="0" presStyleCnt="3">
        <dgm:presLayoutVars>
          <dgm:chMax val="0"/>
          <dgm:bulletEnabled val="1"/>
        </dgm:presLayoutVars>
      </dgm:prSet>
      <dgm:spPr/>
    </dgm:pt>
    <dgm:pt modelId="{83EFAE1D-FCE4-B543-BF35-DC1AC1FFB6E2}" type="pres">
      <dgm:prSet presAssocID="{30C7762B-33D1-458A-B08F-7D308A745B48}" presName="spacer" presStyleCnt="0"/>
      <dgm:spPr/>
    </dgm:pt>
    <dgm:pt modelId="{30D38B9C-9763-A84C-B502-7C256F685A4A}" type="pres">
      <dgm:prSet presAssocID="{8DD364D8-E80C-49E1-8857-756D1350C8C6}" presName="parentText" presStyleLbl="node1" presStyleIdx="1" presStyleCnt="3">
        <dgm:presLayoutVars>
          <dgm:chMax val="0"/>
          <dgm:bulletEnabled val="1"/>
        </dgm:presLayoutVars>
      </dgm:prSet>
      <dgm:spPr/>
    </dgm:pt>
    <dgm:pt modelId="{B269CD20-24FA-4645-BF5D-E1C4CF6516BF}" type="pres">
      <dgm:prSet presAssocID="{2E12D267-8217-485E-9335-D8147084726F}" presName="spacer" presStyleCnt="0"/>
      <dgm:spPr/>
    </dgm:pt>
    <dgm:pt modelId="{B89B67D0-E1B9-AE44-B9F8-49D2CE0BC4FC}" type="pres">
      <dgm:prSet presAssocID="{1918EE25-7AC0-4FA7-9A7E-C485FEAE5472}" presName="parentText" presStyleLbl="node1" presStyleIdx="2" presStyleCnt="3">
        <dgm:presLayoutVars>
          <dgm:chMax val="0"/>
          <dgm:bulletEnabled val="1"/>
        </dgm:presLayoutVars>
      </dgm:prSet>
      <dgm:spPr/>
    </dgm:pt>
  </dgm:ptLst>
  <dgm:cxnLst>
    <dgm:cxn modelId="{A924AA30-C857-AE46-A4E7-113459AE9E1A}" type="presOf" srcId="{1918EE25-7AC0-4FA7-9A7E-C485FEAE5472}" destId="{B89B67D0-E1B9-AE44-B9F8-49D2CE0BC4FC}" srcOrd="0" destOrd="0" presId="urn:microsoft.com/office/officeart/2005/8/layout/vList2"/>
    <dgm:cxn modelId="{EF23843B-04F9-5B4F-BFE3-EC384FFB268B}" type="presOf" srcId="{7DB29188-831F-4C0E-A920-B151DBF95F1A}" destId="{9489FEEA-3C83-AC42-BA90-4DC75EDF6264}" srcOrd="0" destOrd="0" presId="urn:microsoft.com/office/officeart/2005/8/layout/vList2"/>
    <dgm:cxn modelId="{7243E246-FE72-0341-8185-7435EE633299}" type="presOf" srcId="{8DD364D8-E80C-49E1-8857-756D1350C8C6}" destId="{30D38B9C-9763-A84C-B502-7C256F685A4A}" srcOrd="0" destOrd="0" presId="urn:microsoft.com/office/officeart/2005/8/layout/vList2"/>
    <dgm:cxn modelId="{50AC2EA0-1134-1042-BE03-2FA64CD956E9}" type="presOf" srcId="{0E6A5985-338C-4B2F-91BA-3FDF2F3CD73B}" destId="{1EEFF8F0-AC41-194B-8E20-BA5733FA709E}" srcOrd="0" destOrd="0" presId="urn:microsoft.com/office/officeart/2005/8/layout/vList2"/>
    <dgm:cxn modelId="{5DC1C5D1-4F7C-448B-B737-C6D22DD8300A}" srcId="{7DB29188-831F-4C0E-A920-B151DBF95F1A}" destId="{1918EE25-7AC0-4FA7-9A7E-C485FEAE5472}" srcOrd="2" destOrd="0" parTransId="{90315DA8-B034-4815-9D65-3E8CD841A5A7}" sibTransId="{3C494508-C3A3-421F-84B1-E3B414B157CD}"/>
    <dgm:cxn modelId="{AE4A0FE1-6AE0-4B4F-BE31-22CB6D1CD1F4}" srcId="{7DB29188-831F-4C0E-A920-B151DBF95F1A}" destId="{8DD364D8-E80C-49E1-8857-756D1350C8C6}" srcOrd="1" destOrd="0" parTransId="{139134D8-DDDD-4E07-9ACC-B7F465841298}" sibTransId="{2E12D267-8217-485E-9335-D8147084726F}"/>
    <dgm:cxn modelId="{1D7F8DF5-25AA-47EF-A1D8-EDA6E9DB63C6}" srcId="{7DB29188-831F-4C0E-A920-B151DBF95F1A}" destId="{0E6A5985-338C-4B2F-91BA-3FDF2F3CD73B}" srcOrd="0" destOrd="0" parTransId="{1404940E-0E0D-4840-BC20-E58359579EBC}" sibTransId="{30C7762B-33D1-458A-B08F-7D308A745B48}"/>
    <dgm:cxn modelId="{E1A44030-2890-6C41-92A9-BD44B5E3DFF5}" type="presParOf" srcId="{9489FEEA-3C83-AC42-BA90-4DC75EDF6264}" destId="{1EEFF8F0-AC41-194B-8E20-BA5733FA709E}" srcOrd="0" destOrd="0" presId="urn:microsoft.com/office/officeart/2005/8/layout/vList2"/>
    <dgm:cxn modelId="{9A0A1D30-C999-334A-B163-D829C8629C7B}" type="presParOf" srcId="{9489FEEA-3C83-AC42-BA90-4DC75EDF6264}" destId="{83EFAE1D-FCE4-B543-BF35-DC1AC1FFB6E2}" srcOrd="1" destOrd="0" presId="urn:microsoft.com/office/officeart/2005/8/layout/vList2"/>
    <dgm:cxn modelId="{9FD4E188-9C5E-E142-824B-F9CFDEEA9F33}" type="presParOf" srcId="{9489FEEA-3C83-AC42-BA90-4DC75EDF6264}" destId="{30D38B9C-9763-A84C-B502-7C256F685A4A}" srcOrd="2" destOrd="0" presId="urn:microsoft.com/office/officeart/2005/8/layout/vList2"/>
    <dgm:cxn modelId="{4A4460F2-B27F-A34A-BE46-7D263A9C54B3}" type="presParOf" srcId="{9489FEEA-3C83-AC42-BA90-4DC75EDF6264}" destId="{B269CD20-24FA-4645-BF5D-E1C4CF6516BF}" srcOrd="3" destOrd="0" presId="urn:microsoft.com/office/officeart/2005/8/layout/vList2"/>
    <dgm:cxn modelId="{CDBB015A-FFE4-DF4B-AA50-83B33159084B}" type="presParOf" srcId="{9489FEEA-3C83-AC42-BA90-4DC75EDF6264}" destId="{B89B67D0-E1B9-AE44-B9F8-49D2CE0BC4F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A91AE-9E6E-4469-87DB-2952209F9374}">
      <dsp:nvSpPr>
        <dsp:cNvPr id="0" name=""/>
        <dsp:cNvSpPr/>
      </dsp:nvSpPr>
      <dsp:spPr>
        <a:xfrm>
          <a:off x="0" y="707"/>
          <a:ext cx="6342020" cy="165500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1D4E69-21FB-4F63-8E8E-F05C7EAA21A0}">
      <dsp:nvSpPr>
        <dsp:cNvPr id="0" name=""/>
        <dsp:cNvSpPr/>
      </dsp:nvSpPr>
      <dsp:spPr>
        <a:xfrm>
          <a:off x="500638" y="373082"/>
          <a:ext cx="910251" cy="9102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A0BBC3B-4E70-431C-AEC6-B2FBC95E8F6D}">
      <dsp:nvSpPr>
        <dsp:cNvPr id="0" name=""/>
        <dsp:cNvSpPr/>
      </dsp:nvSpPr>
      <dsp:spPr>
        <a:xfrm>
          <a:off x="1911527" y="707"/>
          <a:ext cx="4430492" cy="1655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154" tIns="175154" rIns="175154" bIns="175154" numCol="1" spcCol="1270" anchor="ctr" anchorCtr="0">
          <a:noAutofit/>
        </a:bodyPr>
        <a:lstStyle/>
        <a:p>
          <a:pPr marL="0" lvl="0" indent="0" algn="l" defTabSz="1066800">
            <a:lnSpc>
              <a:spcPct val="90000"/>
            </a:lnSpc>
            <a:spcBef>
              <a:spcPct val="0"/>
            </a:spcBef>
            <a:spcAft>
              <a:spcPct val="35000"/>
            </a:spcAft>
            <a:buNone/>
          </a:pPr>
          <a:r>
            <a:rPr lang="en-AU" sz="2400" kern="1200" dirty="0"/>
            <a:t>Explain how different phenotypes and genotypes can affect rate of survival</a:t>
          </a:r>
          <a:endParaRPr lang="en-US" sz="2400" kern="1200" dirty="0"/>
        </a:p>
      </dsp:txBody>
      <dsp:txXfrm>
        <a:off x="1911527" y="707"/>
        <a:ext cx="4430492" cy="1655001"/>
      </dsp:txXfrm>
    </dsp:sp>
    <dsp:sp modelId="{FA532334-272D-46A5-B88C-A15604B9B282}">
      <dsp:nvSpPr>
        <dsp:cNvPr id="0" name=""/>
        <dsp:cNvSpPr/>
      </dsp:nvSpPr>
      <dsp:spPr>
        <a:xfrm>
          <a:off x="0" y="2069459"/>
          <a:ext cx="6342020" cy="165500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BC0C72-47D8-471A-A1A7-865831C54AE9}">
      <dsp:nvSpPr>
        <dsp:cNvPr id="0" name=""/>
        <dsp:cNvSpPr/>
      </dsp:nvSpPr>
      <dsp:spPr>
        <a:xfrm>
          <a:off x="500638" y="2441834"/>
          <a:ext cx="910251" cy="9102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352D2BF-7A63-4385-8F23-67CFECBCC096}">
      <dsp:nvSpPr>
        <dsp:cNvPr id="0" name=""/>
        <dsp:cNvSpPr/>
      </dsp:nvSpPr>
      <dsp:spPr>
        <a:xfrm>
          <a:off x="1911527" y="2069459"/>
          <a:ext cx="4430492" cy="1655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154" tIns="175154" rIns="175154" bIns="175154" numCol="1" spcCol="1270" anchor="ctr" anchorCtr="0">
          <a:noAutofit/>
        </a:bodyPr>
        <a:lstStyle/>
        <a:p>
          <a:pPr marL="0" lvl="0" indent="0" algn="l" defTabSz="1066800">
            <a:lnSpc>
              <a:spcPct val="90000"/>
            </a:lnSpc>
            <a:spcBef>
              <a:spcPct val="0"/>
            </a:spcBef>
            <a:spcAft>
              <a:spcPct val="35000"/>
            </a:spcAft>
            <a:buNone/>
          </a:pPr>
          <a:r>
            <a:rPr lang="en-AU" sz="2400" kern="1200" dirty="0"/>
            <a:t>Explain how mutations introduce new alleles that affect rate of survival</a:t>
          </a:r>
          <a:endParaRPr lang="en-US" sz="2400" kern="1200" dirty="0"/>
        </a:p>
      </dsp:txBody>
      <dsp:txXfrm>
        <a:off x="1911527" y="2069459"/>
        <a:ext cx="4430492" cy="1655001"/>
      </dsp:txXfrm>
    </dsp:sp>
    <dsp:sp modelId="{D5E1845C-44AD-4469-9942-5E1C3F52F854}">
      <dsp:nvSpPr>
        <dsp:cNvPr id="0" name=""/>
        <dsp:cNvSpPr/>
      </dsp:nvSpPr>
      <dsp:spPr>
        <a:xfrm>
          <a:off x="0" y="4138211"/>
          <a:ext cx="6342020" cy="165500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7041CA-BD69-483B-B58B-D77D184B1772}">
      <dsp:nvSpPr>
        <dsp:cNvPr id="0" name=""/>
        <dsp:cNvSpPr/>
      </dsp:nvSpPr>
      <dsp:spPr>
        <a:xfrm>
          <a:off x="500638" y="4510587"/>
          <a:ext cx="910251" cy="9102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CD1787-5A90-4F7B-B09F-15E4023BD5CF}">
      <dsp:nvSpPr>
        <dsp:cNvPr id="0" name=""/>
        <dsp:cNvSpPr/>
      </dsp:nvSpPr>
      <dsp:spPr>
        <a:xfrm>
          <a:off x="1911527" y="4138211"/>
          <a:ext cx="4430492" cy="1655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154" tIns="175154" rIns="175154" bIns="175154" numCol="1" spcCol="1270" anchor="ctr" anchorCtr="0">
          <a:noAutofit/>
        </a:bodyPr>
        <a:lstStyle/>
        <a:p>
          <a:pPr marL="0" lvl="0" indent="0" algn="l" defTabSz="1066800">
            <a:lnSpc>
              <a:spcPct val="90000"/>
            </a:lnSpc>
            <a:spcBef>
              <a:spcPct val="0"/>
            </a:spcBef>
            <a:spcAft>
              <a:spcPct val="35000"/>
            </a:spcAft>
            <a:buNone/>
          </a:pPr>
          <a:r>
            <a:rPr lang="en-AU" sz="2400" kern="1200" dirty="0"/>
            <a:t>Mutations result from errors in DNA replication, cell division or from damage caused by mutagens</a:t>
          </a:r>
          <a:endParaRPr lang="en-US" sz="2400" kern="1200" dirty="0"/>
        </a:p>
      </dsp:txBody>
      <dsp:txXfrm>
        <a:off x="1911527" y="4138211"/>
        <a:ext cx="4430492" cy="16550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E99847-1A9B-0443-A5E0-B087421CB1E7}">
      <dsp:nvSpPr>
        <dsp:cNvPr id="0" name=""/>
        <dsp:cNvSpPr/>
      </dsp:nvSpPr>
      <dsp:spPr>
        <a:xfrm>
          <a:off x="0" y="132818"/>
          <a:ext cx="5668310" cy="95062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Somatic Mutations or bodily mutations: </a:t>
          </a:r>
        </a:p>
      </dsp:txBody>
      <dsp:txXfrm>
        <a:off x="46406" y="179224"/>
        <a:ext cx="5575498" cy="857813"/>
      </dsp:txXfrm>
    </dsp:sp>
    <dsp:sp modelId="{019EC509-F00C-DF40-AE52-B32539976D53}">
      <dsp:nvSpPr>
        <dsp:cNvPr id="0" name=""/>
        <dsp:cNvSpPr/>
      </dsp:nvSpPr>
      <dsp:spPr>
        <a:xfrm>
          <a:off x="0" y="1155443"/>
          <a:ext cx="5668310" cy="950625"/>
        </a:xfrm>
        <a:prstGeom prst="roundRect">
          <a:avLst/>
        </a:prstGeom>
        <a:solidFill>
          <a:schemeClr val="accent5">
            <a:hueOff val="-7107707"/>
            <a:satOff val="4040"/>
            <a:lumOff val="-333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-Only the individual with the somatic cells can be affected. </a:t>
          </a:r>
        </a:p>
      </dsp:txBody>
      <dsp:txXfrm>
        <a:off x="46406" y="1201849"/>
        <a:ext cx="5575498" cy="857813"/>
      </dsp:txXfrm>
    </dsp:sp>
    <dsp:sp modelId="{D8A3D866-BCD2-9740-937A-0B7D75A70BAB}">
      <dsp:nvSpPr>
        <dsp:cNvPr id="0" name=""/>
        <dsp:cNvSpPr/>
      </dsp:nvSpPr>
      <dsp:spPr>
        <a:xfrm>
          <a:off x="0" y="2178068"/>
          <a:ext cx="5668310" cy="950625"/>
        </a:xfrm>
        <a:prstGeom prst="roundRect">
          <a:avLst/>
        </a:prstGeom>
        <a:solidFill>
          <a:schemeClr val="accent5">
            <a:hueOff val="-14215414"/>
            <a:satOff val="8079"/>
            <a:lumOff val="-666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-The Mutations is based in every mitotic division, but not in meiotic divisions. </a:t>
          </a:r>
        </a:p>
      </dsp:txBody>
      <dsp:txXfrm>
        <a:off x="46406" y="2224474"/>
        <a:ext cx="5575498" cy="857813"/>
      </dsp:txXfrm>
    </dsp:sp>
    <dsp:sp modelId="{820B084A-F766-5A40-BD76-6FDAB285A208}">
      <dsp:nvSpPr>
        <dsp:cNvPr id="0" name=""/>
        <dsp:cNvSpPr/>
      </dsp:nvSpPr>
      <dsp:spPr>
        <a:xfrm>
          <a:off x="0" y="3200693"/>
          <a:ext cx="5668310" cy="950625"/>
        </a:xfrm>
        <a:prstGeom prst="roundRect">
          <a:avLst/>
        </a:prstGeom>
        <a:solidFill>
          <a:schemeClr val="accent5">
            <a:hueOff val="-21323121"/>
            <a:satOff val="12119"/>
            <a:lumOff val="-1000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-Very commonly involved with cancerous growth due to mutagenic agents. </a:t>
          </a:r>
        </a:p>
      </dsp:txBody>
      <dsp:txXfrm>
        <a:off x="46406" y="3247099"/>
        <a:ext cx="5575498" cy="8578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739570-F7FD-4C4C-8538-4A87DCEFC4BB}">
      <dsp:nvSpPr>
        <dsp:cNvPr id="0" name=""/>
        <dsp:cNvSpPr/>
      </dsp:nvSpPr>
      <dsp:spPr>
        <a:xfrm>
          <a:off x="0" y="4974"/>
          <a:ext cx="7303009" cy="126437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Most gene mutations produce a recessive allele, meaning you could have many mutations and be completely unaware of them. This is because the recessive can prevent the gene from producing proteins.</a:t>
          </a:r>
        </a:p>
      </dsp:txBody>
      <dsp:txXfrm>
        <a:off x="61722" y="66696"/>
        <a:ext cx="7179565" cy="1140932"/>
      </dsp:txXfrm>
    </dsp:sp>
    <dsp:sp modelId="{31D552F0-CFB2-544A-9451-B4C0A6366349}">
      <dsp:nvSpPr>
        <dsp:cNvPr id="0" name=""/>
        <dsp:cNvSpPr/>
      </dsp:nvSpPr>
      <dsp:spPr>
        <a:xfrm>
          <a:off x="0" y="1280543"/>
          <a:ext cx="7303009" cy="1264376"/>
        </a:xfrm>
        <a:prstGeom prst="roundRect">
          <a:avLst/>
        </a:prstGeom>
        <a:solidFill>
          <a:schemeClr val="accent2">
            <a:hueOff val="280298"/>
            <a:satOff val="-12591"/>
            <a:lumOff val="166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If two partners reproduced, and both had the recessive mutation, this means their offspring has a chance of receiving the recessive condition. </a:t>
          </a:r>
        </a:p>
      </dsp:txBody>
      <dsp:txXfrm>
        <a:off x="61722" y="1342265"/>
        <a:ext cx="7179565" cy="1140932"/>
      </dsp:txXfrm>
    </dsp:sp>
    <dsp:sp modelId="{28DEBBD8-520F-E94D-9765-73C07F6D0DAF}">
      <dsp:nvSpPr>
        <dsp:cNvPr id="0" name=""/>
        <dsp:cNvSpPr/>
      </dsp:nvSpPr>
      <dsp:spPr>
        <a:xfrm>
          <a:off x="0" y="2559067"/>
          <a:ext cx="7303009" cy="1264376"/>
        </a:xfrm>
        <a:prstGeom prst="roundRect">
          <a:avLst/>
        </a:prstGeom>
        <a:solidFill>
          <a:schemeClr val="accent2">
            <a:hueOff val="560596"/>
            <a:satOff val="-25182"/>
            <a:lumOff val="333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Some recessive mutations are lethal if they are not masked by a dominant normal allele. These can result in death of an embryo or foetus or early death of a child. </a:t>
          </a:r>
        </a:p>
      </dsp:txBody>
      <dsp:txXfrm>
        <a:off x="61722" y="2620789"/>
        <a:ext cx="7179565" cy="1140932"/>
      </dsp:txXfrm>
    </dsp:sp>
    <dsp:sp modelId="{C1D69BA5-16C7-934A-8C19-217302AAEE9D}">
      <dsp:nvSpPr>
        <dsp:cNvPr id="0" name=""/>
        <dsp:cNvSpPr/>
      </dsp:nvSpPr>
      <dsp:spPr>
        <a:xfrm>
          <a:off x="0" y="3837591"/>
          <a:ext cx="7303009" cy="1264376"/>
        </a:xfrm>
        <a:prstGeom prst="roundRect">
          <a:avLst/>
        </a:prstGeom>
        <a:solidFill>
          <a:schemeClr val="accent2">
            <a:hueOff val="840893"/>
            <a:satOff val="-37774"/>
            <a:lumOff val="500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Example: Tay-Sachs Disease: disorder of lipid metabolism that results in fatty acids accumulating in and overwhelming the nervous system. </a:t>
          </a:r>
        </a:p>
      </dsp:txBody>
      <dsp:txXfrm>
        <a:off x="61722" y="3899313"/>
        <a:ext cx="7179565" cy="1140932"/>
      </dsp:txXfrm>
    </dsp:sp>
    <dsp:sp modelId="{0FBEB196-1451-1543-B8F5-C4EE0949C939}">
      <dsp:nvSpPr>
        <dsp:cNvPr id="0" name=""/>
        <dsp:cNvSpPr/>
      </dsp:nvSpPr>
      <dsp:spPr>
        <a:xfrm>
          <a:off x="0" y="5116115"/>
          <a:ext cx="7303009" cy="1264376"/>
        </a:xfrm>
        <a:prstGeom prst="roundRect">
          <a:avLst/>
        </a:prstGeom>
        <a:solidFill>
          <a:schemeClr val="accent2">
            <a:hueOff val="1121191"/>
            <a:satOff val="-50365"/>
            <a:lumOff val="666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These lethal recessives are slowly eradicated from the gene pool though, as the offspring do not live long enough to pass on their genes. </a:t>
          </a:r>
        </a:p>
      </dsp:txBody>
      <dsp:txXfrm>
        <a:off x="61722" y="5177837"/>
        <a:ext cx="7179565" cy="11409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EFF8F0-AC41-194B-8E20-BA5733FA709E}">
      <dsp:nvSpPr>
        <dsp:cNvPr id="0" name=""/>
        <dsp:cNvSpPr/>
      </dsp:nvSpPr>
      <dsp:spPr>
        <a:xfrm>
          <a:off x="0" y="568984"/>
          <a:ext cx="5906181" cy="131625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Can we explain how different phenotypes and genotypes can affect the rate of survival? </a:t>
          </a:r>
        </a:p>
      </dsp:txBody>
      <dsp:txXfrm>
        <a:off x="64254" y="633238"/>
        <a:ext cx="5777673" cy="1187742"/>
      </dsp:txXfrm>
    </dsp:sp>
    <dsp:sp modelId="{30D38B9C-9763-A84C-B502-7C256F685A4A}">
      <dsp:nvSpPr>
        <dsp:cNvPr id="0" name=""/>
        <dsp:cNvSpPr/>
      </dsp:nvSpPr>
      <dsp:spPr>
        <a:xfrm>
          <a:off x="0" y="1957234"/>
          <a:ext cx="5906181" cy="1316250"/>
        </a:xfrm>
        <a:prstGeom prst="roundRect">
          <a:avLst/>
        </a:prstGeom>
        <a:solidFill>
          <a:schemeClr val="accent2">
            <a:hueOff val="560596"/>
            <a:satOff val="-25182"/>
            <a:lumOff val="333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Can we </a:t>
          </a:r>
          <a:r>
            <a:rPr lang="en-AU" sz="2500" kern="1200" dirty="0"/>
            <a:t>explain how mutations introduce new alleles that affect rate of survival?</a:t>
          </a:r>
          <a:endParaRPr lang="en-US" sz="2500" kern="1200" dirty="0"/>
        </a:p>
      </dsp:txBody>
      <dsp:txXfrm>
        <a:off x="64254" y="2021488"/>
        <a:ext cx="5777673" cy="1187742"/>
      </dsp:txXfrm>
    </dsp:sp>
    <dsp:sp modelId="{B89B67D0-E1B9-AE44-B9F8-49D2CE0BC4FC}">
      <dsp:nvSpPr>
        <dsp:cNvPr id="0" name=""/>
        <dsp:cNvSpPr/>
      </dsp:nvSpPr>
      <dsp:spPr>
        <a:xfrm>
          <a:off x="0" y="3345484"/>
          <a:ext cx="5906181" cy="1316250"/>
        </a:xfrm>
        <a:prstGeom prst="roundRect">
          <a:avLst/>
        </a:prstGeom>
        <a:solidFill>
          <a:schemeClr val="accent2">
            <a:hueOff val="1121191"/>
            <a:satOff val="-50365"/>
            <a:lumOff val="666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AU" sz="2500" kern="1200" dirty="0"/>
            <a:t>Can we explain how mutations result from errors in DNA replication, cell division or from damage caused by mutagens?</a:t>
          </a:r>
          <a:endParaRPr lang="en-US" sz="2500" kern="1200" dirty="0"/>
        </a:p>
      </dsp:txBody>
      <dsp:txXfrm>
        <a:off x="64254" y="3409738"/>
        <a:ext cx="5777673" cy="11877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6/3/2021</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873367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6/3/2021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210887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6/3/2021</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043456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6/3/2021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195485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6/3/2021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153612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6/3/2021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282060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6/3/2021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883135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6/3/2021</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130701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6/3/2021</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40615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6/3/2021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939345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6/3/2021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813436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6/3/2021</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31141931"/>
      </p:ext>
    </p:extLst>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83" r:id="rId5"/>
    <p:sldLayoutId id="2147483884" r:id="rId6"/>
    <p:sldLayoutId id="2147483885" r:id="rId7"/>
    <p:sldLayoutId id="2147483886" r:id="rId8"/>
    <p:sldLayoutId id="2147483887" r:id="rId9"/>
    <p:sldLayoutId id="2147483888" r:id="rId10"/>
    <p:sldLayoutId id="2147483889" r:id="rId11"/>
  </p:sldLayoutIdLst>
  <p:hf sldNum="0" hdr="0" ftr="0" dt="0"/>
  <p:txStyles>
    <p:titleStyle>
      <a:lvl1pPr algn="l" defTabSz="914400" rtl="0" eaLnBrk="1" latinLnBrk="0" hangingPunct="1">
        <a:lnSpc>
          <a:spcPct val="90000"/>
        </a:lnSpc>
        <a:spcBef>
          <a:spcPct val="0"/>
        </a:spcBef>
        <a:buNone/>
        <a:defRPr lang="en-US" sz="36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E6F38B-766F-4129-9270-99C5656DDC31}"/>
              </a:ext>
            </a:extLst>
          </p:cNvPr>
          <p:cNvPicPr>
            <a:picLocks noChangeAspect="1"/>
          </p:cNvPicPr>
          <p:nvPr/>
        </p:nvPicPr>
        <p:blipFill rotWithShape="1">
          <a:blip r:embed="rId2">
            <a:alphaModFix amt="90000"/>
          </a:blip>
          <a:srcRect t="10106" b="10106"/>
          <a:stretch/>
        </p:blipFill>
        <p:spPr>
          <a:xfrm>
            <a:off x="1" y="10"/>
            <a:ext cx="12191999" cy="6857989"/>
          </a:xfrm>
          <a:prstGeom prst="rect">
            <a:avLst/>
          </a:prstGeom>
        </p:spPr>
      </p:pic>
      <p:sp>
        <p:nvSpPr>
          <p:cNvPr id="64" name="Rectangle 63">
            <a:extLst>
              <a:ext uri="{FF2B5EF4-FFF2-40B4-BE49-F238E27FC236}">
                <a16:creationId xmlns:a16="http://schemas.microsoft.com/office/drawing/2014/main" id="{DB4A12B6-EF0D-43E8-8C17-4FAD4D2766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solidFill>
            <a:schemeClr val="bg1">
              <a:lumMod val="85000"/>
              <a:lumOff val="15000"/>
              <a:alpha val="93000"/>
            </a:schemeClr>
          </a:solidFill>
          <a:ln w="6350" cap="flat" cmpd="sng" algn="ctr">
            <a:noFill/>
            <a:prstDash val="solid"/>
          </a:ln>
          <a:effectLst>
            <a:softEdge rad="0"/>
          </a:effectLst>
        </p:spPr>
      </p:sp>
      <p:sp>
        <p:nvSpPr>
          <p:cNvPr id="66" name="Rectangle 65">
            <a:extLst>
              <a:ext uri="{FF2B5EF4-FFF2-40B4-BE49-F238E27FC236}">
                <a16:creationId xmlns:a16="http://schemas.microsoft.com/office/drawing/2014/main" id="{AE107525-0C02-447F-8A3F-553320A723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2"/>
            </a:solidFill>
            <a:prstDash val="solid"/>
            <a:miter lim="800000"/>
          </a:ln>
          <a:effectLst/>
        </p:spPr>
      </p:sp>
      <p:sp>
        <p:nvSpPr>
          <p:cNvPr id="2" name="Title 1">
            <a:extLst>
              <a:ext uri="{FF2B5EF4-FFF2-40B4-BE49-F238E27FC236}">
                <a16:creationId xmlns:a16="http://schemas.microsoft.com/office/drawing/2014/main" id="{7C102507-526F-AC43-901E-CFCAE9F0C3D9}"/>
              </a:ext>
            </a:extLst>
          </p:cNvPr>
          <p:cNvSpPr>
            <a:spLocks noGrp="1"/>
          </p:cNvSpPr>
          <p:nvPr>
            <p:ph type="ctrTitle"/>
          </p:nvPr>
        </p:nvSpPr>
        <p:spPr>
          <a:xfrm>
            <a:off x="1629103" y="2244830"/>
            <a:ext cx="8933796" cy="2437232"/>
          </a:xfrm>
        </p:spPr>
        <p:txBody>
          <a:bodyPr>
            <a:normAutofit/>
          </a:bodyPr>
          <a:lstStyle/>
          <a:p>
            <a:r>
              <a:rPr lang="en-US" dirty="0"/>
              <a:t>Genetic Mutations</a:t>
            </a:r>
          </a:p>
        </p:txBody>
      </p:sp>
      <p:sp>
        <p:nvSpPr>
          <p:cNvPr id="3" name="Subtitle 2">
            <a:extLst>
              <a:ext uri="{FF2B5EF4-FFF2-40B4-BE49-F238E27FC236}">
                <a16:creationId xmlns:a16="http://schemas.microsoft.com/office/drawing/2014/main" id="{F2CD6042-CD17-9D49-B8B5-233488B2EC84}"/>
              </a:ext>
            </a:extLst>
          </p:cNvPr>
          <p:cNvSpPr>
            <a:spLocks noGrp="1"/>
          </p:cNvSpPr>
          <p:nvPr>
            <p:ph type="subTitle" idx="1"/>
          </p:nvPr>
        </p:nvSpPr>
        <p:spPr>
          <a:xfrm>
            <a:off x="1629101" y="4682062"/>
            <a:ext cx="8936846" cy="457201"/>
          </a:xfrm>
        </p:spPr>
        <p:txBody>
          <a:bodyPr>
            <a:normAutofit/>
          </a:bodyPr>
          <a:lstStyle/>
          <a:p>
            <a:pPr>
              <a:spcAft>
                <a:spcPts val="600"/>
              </a:spcAft>
            </a:pPr>
            <a:r>
              <a:rPr lang="en-US" dirty="0"/>
              <a:t>Unit 4: Human Variation and Evolution</a:t>
            </a:r>
            <a:endParaRPr lang="en-US"/>
          </a:p>
        </p:txBody>
      </p:sp>
      <p:sp>
        <p:nvSpPr>
          <p:cNvPr id="68" name="Rectangle 67">
            <a:extLst>
              <a:ext uri="{FF2B5EF4-FFF2-40B4-BE49-F238E27FC236}">
                <a16:creationId xmlns:a16="http://schemas.microsoft.com/office/drawing/2014/main" id="{AB7A42E3-05D8-4A0B-9D4E-20EF581E57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0" name="Straight Connector 69">
            <a:extLst>
              <a:ext uri="{FF2B5EF4-FFF2-40B4-BE49-F238E27FC236}">
                <a16:creationId xmlns:a16="http://schemas.microsoft.com/office/drawing/2014/main" id="{6EE9A54B-189D-4645-8254-FDC4210EC6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267730"/>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11CE48F-D5E4-4520-AF1E-8F85CFBDA5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1267730"/>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1448851-39AD-4943-BF9C-C50704E083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913025"/>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7273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2AD6B69-E0A0-476D-9EE1-6B69F04C5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6BE10A1-AD5F-4AB3-8A94-41D62B494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1">
              <a:lumMod val="85000"/>
              <a:alpha val="60000"/>
            </a:schemeClr>
          </a:solidFill>
          <a:ln w="6350" cap="flat" cmpd="sng" algn="ctr">
            <a:noFill/>
            <a:prstDash val="solid"/>
          </a:ln>
          <a:effectLst>
            <a:softEdge rad="0"/>
          </a:effectLst>
        </p:spPr>
      </p:sp>
      <p:sp>
        <p:nvSpPr>
          <p:cNvPr id="2" name="Title 1">
            <a:extLst>
              <a:ext uri="{FF2B5EF4-FFF2-40B4-BE49-F238E27FC236}">
                <a16:creationId xmlns:a16="http://schemas.microsoft.com/office/drawing/2014/main" id="{49129CA8-6826-A649-A018-A2717E823BE1}"/>
              </a:ext>
            </a:extLst>
          </p:cNvPr>
          <p:cNvSpPr>
            <a:spLocks noGrp="1"/>
          </p:cNvSpPr>
          <p:nvPr>
            <p:ph type="title"/>
          </p:nvPr>
        </p:nvSpPr>
        <p:spPr>
          <a:xfrm>
            <a:off x="573409" y="559477"/>
            <a:ext cx="3765200" cy="5709931"/>
          </a:xfrm>
        </p:spPr>
        <p:txBody>
          <a:bodyPr>
            <a:normAutofit/>
          </a:bodyPr>
          <a:lstStyle/>
          <a:p>
            <a:pPr algn="ctr"/>
            <a:r>
              <a:rPr lang="en-US" dirty="0"/>
              <a:t>Learning Objectives</a:t>
            </a:r>
            <a:endParaRPr lang="en-US"/>
          </a:p>
        </p:txBody>
      </p:sp>
      <p:sp>
        <p:nvSpPr>
          <p:cNvPr id="13" name="Rectangle 12">
            <a:extLst>
              <a:ext uri="{FF2B5EF4-FFF2-40B4-BE49-F238E27FC236}">
                <a16:creationId xmlns:a16="http://schemas.microsoft.com/office/drawing/2014/main" id="{5684BFFE-6A90-4311-ACD5-B34177D464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4122323" cy="6108192"/>
          </a:xfrm>
          <a:prstGeom prst="rect">
            <a:avLst/>
          </a:prstGeom>
          <a:noFill/>
          <a:ln w="6350" cap="sq" cmpd="sng" algn="ctr">
            <a:solidFill>
              <a:schemeClr val="tx1">
                <a:lumMod val="75000"/>
                <a:lumOff val="25000"/>
              </a:schemeClr>
            </a:solidFill>
            <a:prstDash val="solid"/>
            <a:miter lim="800000"/>
          </a:ln>
          <a:effectLst/>
        </p:spPr>
      </p:sp>
      <p:graphicFrame>
        <p:nvGraphicFramePr>
          <p:cNvPr id="5" name="Content Placeholder 2">
            <a:extLst>
              <a:ext uri="{FF2B5EF4-FFF2-40B4-BE49-F238E27FC236}">
                <a16:creationId xmlns:a16="http://schemas.microsoft.com/office/drawing/2014/main" id="{3777C39B-687E-4F8C-8F20-F420BA383C3A}"/>
              </a:ext>
            </a:extLst>
          </p:cNvPr>
          <p:cNvGraphicFramePr>
            <a:graphicFrameLocks noGrp="1"/>
          </p:cNvGraphicFramePr>
          <p:nvPr>
            <p:ph idx="1"/>
            <p:extLst>
              <p:ext uri="{D42A27DB-BD31-4B8C-83A1-F6EECF244321}">
                <p14:modId xmlns:p14="http://schemas.microsoft.com/office/powerpoint/2010/main" val="3503544204"/>
              </p:ext>
            </p:extLst>
          </p:nvPr>
        </p:nvGraphicFramePr>
        <p:xfrm>
          <a:off x="5478124" y="237744"/>
          <a:ext cx="6342020" cy="57939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7944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6" name="Rectangle 45">
            <a:extLst>
              <a:ext uri="{FF2B5EF4-FFF2-40B4-BE49-F238E27FC236}">
                <a16:creationId xmlns:a16="http://schemas.microsoft.com/office/drawing/2014/main" id="{1E8D93C5-28EB-42D0-86CE-D804955653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48" name="Rectangle 47">
            <a:extLst>
              <a:ext uri="{FF2B5EF4-FFF2-40B4-BE49-F238E27FC236}">
                <a16:creationId xmlns:a16="http://schemas.microsoft.com/office/drawing/2014/main" id="{AB1B1E7D-F76D-4744-AF85-239E6998A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50" name="Rectangle 49">
            <a:extLst>
              <a:ext uri="{FF2B5EF4-FFF2-40B4-BE49-F238E27FC236}">
                <a16:creationId xmlns:a16="http://schemas.microsoft.com/office/drawing/2014/main" id="{3BB65211-00DB-45B6-A223-033B2D19C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52" name="Group 51">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53" name="Straight Connector 52">
              <a:extLst>
                <a:ext uri="{FF2B5EF4-FFF2-40B4-BE49-F238E27FC236}">
                  <a16:creationId xmlns:a16="http://schemas.microsoft.com/office/drawing/2014/main" id="{14DF524F-3FEF-4236-90C6-820E876A94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400A003-1BE9-49C2-8E57-DCD9B870F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3BF0991-F9A1-4282-99DB-92D70239F6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57" name="Rectangle 56">
            <a:extLst>
              <a:ext uri="{FF2B5EF4-FFF2-40B4-BE49-F238E27FC236}">
                <a16:creationId xmlns:a16="http://schemas.microsoft.com/office/drawing/2014/main" id="{1C3E817E-E139-426E-89E5-9DD346EC75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E2ADD2F6-F7FC-464F-8F18-5BDBD27A7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alpha val="60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5A3A31F1-FA83-497F-98FF-9A5621DC55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7" y="0"/>
            <a:ext cx="8168743"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iagram, timeline&#10;&#10;Description automatically generated">
            <a:extLst>
              <a:ext uri="{FF2B5EF4-FFF2-40B4-BE49-F238E27FC236}">
                <a16:creationId xmlns:a16="http://schemas.microsoft.com/office/drawing/2014/main" id="{8F78B2C6-B596-CE4B-B5D1-4C94EAF4F433}"/>
              </a:ext>
            </a:extLst>
          </p:cNvPr>
          <p:cNvPicPr>
            <a:picLocks noGrp="1" noChangeAspect="1"/>
          </p:cNvPicPr>
          <p:nvPr>
            <p:ph idx="1"/>
          </p:nvPr>
        </p:nvPicPr>
        <p:blipFill>
          <a:blip r:embed="rId2"/>
          <a:stretch>
            <a:fillRect/>
          </a:stretch>
        </p:blipFill>
        <p:spPr>
          <a:xfrm>
            <a:off x="-24728" y="0"/>
            <a:ext cx="8191604" cy="6858000"/>
          </a:xfrm>
          <a:prstGeom prst="rect">
            <a:avLst/>
          </a:prstGeom>
        </p:spPr>
      </p:pic>
      <p:sp>
        <p:nvSpPr>
          <p:cNvPr id="63" name="Rectangle 62">
            <a:extLst>
              <a:ext uri="{FF2B5EF4-FFF2-40B4-BE49-F238E27FC236}">
                <a16:creationId xmlns:a16="http://schemas.microsoft.com/office/drawing/2014/main" id="{343FF9E2-8F7E-4BCC-9A50-C41AD8A56D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31468" y="164592"/>
            <a:ext cx="3708894" cy="654017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3B3E6A-164F-664F-8816-6056CF0066C7}"/>
              </a:ext>
            </a:extLst>
          </p:cNvPr>
          <p:cNvSpPr>
            <a:spLocks noGrp="1"/>
          </p:cNvSpPr>
          <p:nvPr>
            <p:ph type="title"/>
          </p:nvPr>
        </p:nvSpPr>
        <p:spPr>
          <a:xfrm>
            <a:off x="8560024" y="1559768"/>
            <a:ext cx="3238829" cy="3135379"/>
          </a:xfrm>
        </p:spPr>
        <p:txBody>
          <a:bodyPr vert="horz" lIns="91440" tIns="45720" rIns="91440" bIns="45720" rtlCol="0" anchor="ctr">
            <a:normAutofit/>
          </a:bodyPr>
          <a:lstStyle/>
          <a:p>
            <a:pPr algn="ctr">
              <a:lnSpc>
                <a:spcPct val="83000"/>
              </a:lnSpc>
            </a:pPr>
            <a:r>
              <a:rPr lang="en-US" sz="4800" cap="all" spc="-100"/>
              <a:t>Quick Recap: Year 10 and 11. </a:t>
            </a:r>
          </a:p>
        </p:txBody>
      </p:sp>
      <p:sp>
        <p:nvSpPr>
          <p:cNvPr id="65" name="Rectangle 64">
            <a:extLst>
              <a:ext uri="{FF2B5EF4-FFF2-40B4-BE49-F238E27FC236}">
                <a16:creationId xmlns:a16="http://schemas.microsoft.com/office/drawing/2014/main" id="{47751BC8-250F-493B-BDF9-D45BA5991D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19318" y="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7" name="Straight Connector 66">
            <a:extLst>
              <a:ext uri="{FF2B5EF4-FFF2-40B4-BE49-F238E27FC236}">
                <a16:creationId xmlns:a16="http://schemas.microsoft.com/office/drawing/2014/main" id="{BF0F044C-8394-47CB-8E3D-FA56B069396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33618" y="-1172"/>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B2DCD75-B707-4C51-8ADC-813834C09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25258" y="-1172"/>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4851414-8BB1-42EF-912B-608FCE07B2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33618" y="644123"/>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1218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41">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4" name="Rectangle 43">
            <a:extLst>
              <a:ext uri="{FF2B5EF4-FFF2-40B4-BE49-F238E27FC236}">
                <a16:creationId xmlns:a16="http://schemas.microsoft.com/office/drawing/2014/main" id="{1E8D93C5-28EB-42D0-86CE-D804955653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75" name="Rectangle 45">
            <a:extLst>
              <a:ext uri="{FF2B5EF4-FFF2-40B4-BE49-F238E27FC236}">
                <a16:creationId xmlns:a16="http://schemas.microsoft.com/office/drawing/2014/main" id="{AB1B1E7D-F76D-4744-AF85-239E6998A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76" name="Rectangle 47">
            <a:extLst>
              <a:ext uri="{FF2B5EF4-FFF2-40B4-BE49-F238E27FC236}">
                <a16:creationId xmlns:a16="http://schemas.microsoft.com/office/drawing/2014/main" id="{3BB65211-00DB-45B6-A223-033B2D19C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7" name="Group 49">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51" name="Straight Connector 50">
              <a:extLst>
                <a:ext uri="{FF2B5EF4-FFF2-40B4-BE49-F238E27FC236}">
                  <a16:creationId xmlns:a16="http://schemas.microsoft.com/office/drawing/2014/main" id="{14DF524F-3FEF-4236-90C6-820E876A94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400A003-1BE9-49C2-8E57-DCD9B870F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3BF0991-F9A1-4282-99DB-92D70239F6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78" name="Rectangle 54">
            <a:extLst>
              <a:ext uri="{FF2B5EF4-FFF2-40B4-BE49-F238E27FC236}">
                <a16:creationId xmlns:a16="http://schemas.microsoft.com/office/drawing/2014/main" id="{1C3E817E-E139-426E-89E5-9DD346EC75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56">
            <a:extLst>
              <a:ext uri="{FF2B5EF4-FFF2-40B4-BE49-F238E27FC236}">
                <a16:creationId xmlns:a16="http://schemas.microsoft.com/office/drawing/2014/main" id="{E2ADD2F6-F7FC-464F-8F18-5BDBD27A7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alpha val="60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80" name="Rectangle 58">
            <a:extLst>
              <a:ext uri="{FF2B5EF4-FFF2-40B4-BE49-F238E27FC236}">
                <a16:creationId xmlns:a16="http://schemas.microsoft.com/office/drawing/2014/main" id="{5A3A31F1-FA83-497F-98FF-9A5621DC55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7" y="0"/>
            <a:ext cx="8168743"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iagram&#10;&#10;Description automatically generated">
            <a:extLst>
              <a:ext uri="{FF2B5EF4-FFF2-40B4-BE49-F238E27FC236}">
                <a16:creationId xmlns:a16="http://schemas.microsoft.com/office/drawing/2014/main" id="{114F0AF6-BF85-2048-9A42-D401DA20CD69}"/>
              </a:ext>
            </a:extLst>
          </p:cNvPr>
          <p:cNvPicPr>
            <a:picLocks noGrp="1" noChangeAspect="1"/>
          </p:cNvPicPr>
          <p:nvPr>
            <p:ph idx="1"/>
          </p:nvPr>
        </p:nvPicPr>
        <p:blipFill>
          <a:blip r:embed="rId2"/>
          <a:stretch>
            <a:fillRect/>
          </a:stretch>
        </p:blipFill>
        <p:spPr>
          <a:xfrm>
            <a:off x="842823" y="-1172"/>
            <a:ext cx="6560971" cy="6806406"/>
          </a:xfrm>
          <a:prstGeom prst="rect">
            <a:avLst/>
          </a:prstGeom>
        </p:spPr>
      </p:pic>
      <p:sp>
        <p:nvSpPr>
          <p:cNvPr id="81" name="Rectangle 60">
            <a:extLst>
              <a:ext uri="{FF2B5EF4-FFF2-40B4-BE49-F238E27FC236}">
                <a16:creationId xmlns:a16="http://schemas.microsoft.com/office/drawing/2014/main" id="{343FF9E2-8F7E-4BCC-9A50-C41AD8A56D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31468" y="164592"/>
            <a:ext cx="3708894" cy="654017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D43AA8-30F4-5A41-96B1-31FE7A5D466F}"/>
              </a:ext>
            </a:extLst>
          </p:cNvPr>
          <p:cNvSpPr>
            <a:spLocks noGrp="1"/>
          </p:cNvSpPr>
          <p:nvPr>
            <p:ph type="title"/>
          </p:nvPr>
        </p:nvSpPr>
        <p:spPr>
          <a:xfrm>
            <a:off x="8560024" y="1559768"/>
            <a:ext cx="3238829" cy="3135379"/>
          </a:xfrm>
        </p:spPr>
        <p:txBody>
          <a:bodyPr vert="horz" lIns="91440" tIns="45720" rIns="91440" bIns="45720" rtlCol="0" anchor="ctr">
            <a:normAutofit/>
          </a:bodyPr>
          <a:lstStyle/>
          <a:p>
            <a:pPr algn="ctr">
              <a:lnSpc>
                <a:spcPct val="83000"/>
              </a:lnSpc>
            </a:pPr>
            <a:r>
              <a:rPr lang="en-US" sz="4800" cap="all" spc="-100"/>
              <a:t>Protein Synthesis Recap: </a:t>
            </a:r>
          </a:p>
        </p:txBody>
      </p:sp>
      <p:sp>
        <p:nvSpPr>
          <p:cNvPr id="82" name="Rectangle 62">
            <a:extLst>
              <a:ext uri="{FF2B5EF4-FFF2-40B4-BE49-F238E27FC236}">
                <a16:creationId xmlns:a16="http://schemas.microsoft.com/office/drawing/2014/main" id="{47751BC8-250F-493B-BDF9-D45BA5991D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19318" y="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83" name="Straight Connector 64">
            <a:extLst>
              <a:ext uri="{FF2B5EF4-FFF2-40B4-BE49-F238E27FC236}">
                <a16:creationId xmlns:a16="http://schemas.microsoft.com/office/drawing/2014/main" id="{BF0F044C-8394-47CB-8E3D-FA56B069396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33618" y="-1172"/>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66">
            <a:extLst>
              <a:ext uri="{FF2B5EF4-FFF2-40B4-BE49-F238E27FC236}">
                <a16:creationId xmlns:a16="http://schemas.microsoft.com/office/drawing/2014/main" id="{6B2DCD75-B707-4C51-8ADC-813834C09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25258" y="-1172"/>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68">
            <a:extLst>
              <a:ext uri="{FF2B5EF4-FFF2-40B4-BE49-F238E27FC236}">
                <a16:creationId xmlns:a16="http://schemas.microsoft.com/office/drawing/2014/main" id="{F4851414-8BB1-42EF-912B-608FCE07B2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33618" y="644123"/>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6270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 name="Rectangle 30">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32">
            <a:extLst>
              <a:ext uri="{FF2B5EF4-FFF2-40B4-BE49-F238E27FC236}">
                <a16:creationId xmlns:a16="http://schemas.microsoft.com/office/drawing/2014/main" id="{EE0D13DB-D099-4541-888D-DE0186F1C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519" y="253548"/>
            <a:ext cx="5851795" cy="6384816"/>
          </a:xfrm>
          <a:prstGeom prst="rect">
            <a:avLst/>
          </a:prstGeom>
          <a:solidFill>
            <a:srgbClr val="FFFFFF"/>
          </a:solidFill>
          <a:ln w="6350" cap="sq" cmpd="sng" algn="ctr">
            <a:solidFill>
              <a:srgbClr val="404040"/>
            </a:solidFill>
            <a:prstDash val="solid"/>
            <a:miter lim="800000"/>
          </a:ln>
          <a:effectLst/>
        </p:spPr>
      </p:sp>
      <p:pic>
        <p:nvPicPr>
          <p:cNvPr id="5" name="Picture 4" descr="A group of people standing in a line&#10;&#10;Description automatically generated with low confidence">
            <a:extLst>
              <a:ext uri="{FF2B5EF4-FFF2-40B4-BE49-F238E27FC236}">
                <a16:creationId xmlns:a16="http://schemas.microsoft.com/office/drawing/2014/main" id="{AA90733E-D076-7E4A-B1CE-32AFABF57B7A}"/>
              </a:ext>
            </a:extLst>
          </p:cNvPr>
          <p:cNvPicPr>
            <a:picLocks noChangeAspect="1"/>
          </p:cNvPicPr>
          <p:nvPr/>
        </p:nvPicPr>
        <p:blipFill rotWithShape="1">
          <a:blip r:embed="rId2"/>
          <a:srcRect l="38849" r="13707" b="2"/>
          <a:stretch/>
        </p:blipFill>
        <p:spPr>
          <a:xfrm>
            <a:off x="424928" y="419292"/>
            <a:ext cx="5522976" cy="6053328"/>
          </a:xfrm>
          <a:prstGeom prst="rect">
            <a:avLst/>
          </a:prstGeom>
        </p:spPr>
      </p:pic>
      <p:sp>
        <p:nvSpPr>
          <p:cNvPr id="58" name="Rectangle 34">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36">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B6C8C9-D984-2840-B336-FFFFDB958AF1}"/>
              </a:ext>
            </a:extLst>
          </p:cNvPr>
          <p:cNvSpPr>
            <a:spLocks noGrp="1"/>
          </p:cNvSpPr>
          <p:nvPr>
            <p:ph type="title"/>
          </p:nvPr>
        </p:nvSpPr>
        <p:spPr>
          <a:xfrm>
            <a:off x="6487542" y="40450"/>
            <a:ext cx="4602152" cy="1718225"/>
          </a:xfrm>
        </p:spPr>
        <p:txBody>
          <a:bodyPr>
            <a:normAutofit/>
          </a:bodyPr>
          <a:lstStyle/>
          <a:p>
            <a:r>
              <a:rPr lang="en-US" dirty="0"/>
              <a:t>Gene Pools: What are they? </a:t>
            </a:r>
          </a:p>
        </p:txBody>
      </p:sp>
      <p:sp>
        <p:nvSpPr>
          <p:cNvPr id="3" name="Content Placeholder 2">
            <a:extLst>
              <a:ext uri="{FF2B5EF4-FFF2-40B4-BE49-F238E27FC236}">
                <a16:creationId xmlns:a16="http://schemas.microsoft.com/office/drawing/2014/main" id="{A31EBD63-11A6-9C40-A7DA-62B9E855BEEB}"/>
              </a:ext>
            </a:extLst>
          </p:cNvPr>
          <p:cNvSpPr>
            <a:spLocks noGrp="1"/>
          </p:cNvSpPr>
          <p:nvPr>
            <p:ph idx="1"/>
          </p:nvPr>
        </p:nvSpPr>
        <p:spPr>
          <a:xfrm>
            <a:off x="6487542" y="1370779"/>
            <a:ext cx="4602152" cy="3557805"/>
          </a:xfrm>
        </p:spPr>
        <p:txBody>
          <a:bodyPr>
            <a:noAutofit/>
          </a:bodyPr>
          <a:lstStyle/>
          <a:p>
            <a:r>
              <a:rPr lang="en-US" sz="2400" dirty="0"/>
              <a:t>The gene pool is the sum of all alleles living in a population.</a:t>
            </a:r>
          </a:p>
          <a:p>
            <a:r>
              <a:rPr lang="en-US" sz="2400" dirty="0"/>
              <a:t>In studying the gene pool; how often each allele occurs in the gene pool is noted- this is referred to as Allele Frequencies for a population. </a:t>
            </a:r>
          </a:p>
          <a:p>
            <a:r>
              <a:rPr lang="en-US" sz="2400" dirty="0"/>
              <a:t>E.g., the allele frequency of Cystic fibrosis on Chromosome 7 is 5%, meaning for every 100 people, 95% will get a normal allele for Chromosome 7. </a:t>
            </a:r>
          </a:p>
        </p:txBody>
      </p:sp>
    </p:spTree>
    <p:extLst>
      <p:ext uri="{BB962C8B-B14F-4D97-AF65-F5344CB8AC3E}">
        <p14:creationId xmlns:p14="http://schemas.microsoft.com/office/powerpoint/2010/main" val="2238547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6EE7E08-B389-43E5-B019-1B0A8ACBB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One in a crowd">
            <a:extLst>
              <a:ext uri="{FF2B5EF4-FFF2-40B4-BE49-F238E27FC236}">
                <a16:creationId xmlns:a16="http://schemas.microsoft.com/office/drawing/2014/main" id="{FE62E050-1C41-4EA3-8C27-3848D32D36A5}"/>
              </a:ext>
            </a:extLst>
          </p:cNvPr>
          <p:cNvPicPr>
            <a:picLocks noChangeAspect="1"/>
          </p:cNvPicPr>
          <p:nvPr/>
        </p:nvPicPr>
        <p:blipFill rotWithShape="1">
          <a:blip r:embed="rId2"/>
          <a:srcRect l="19140" r="10949"/>
          <a:stretch/>
        </p:blipFill>
        <p:spPr>
          <a:xfrm>
            <a:off x="20" y="10"/>
            <a:ext cx="6392647" cy="6857990"/>
          </a:xfrm>
          <a:prstGeom prst="rect">
            <a:avLst/>
          </a:prstGeom>
        </p:spPr>
      </p:pic>
      <p:sp>
        <p:nvSpPr>
          <p:cNvPr id="11" name="Rectangle 10">
            <a:extLst>
              <a:ext uri="{FF2B5EF4-FFF2-40B4-BE49-F238E27FC236}">
                <a16:creationId xmlns:a16="http://schemas.microsoft.com/office/drawing/2014/main" id="{E60D94A5-8A09-4BAB-8F7C-69BC34C54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1267" y="255102"/>
            <a:ext cx="534213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A1AE32B-3A6E-4C5E-8FEB-73861B9A2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9100" y="393365"/>
            <a:ext cx="5018211" cy="603554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3AA95C-B4AD-F149-A93C-99C744765868}"/>
              </a:ext>
            </a:extLst>
          </p:cNvPr>
          <p:cNvSpPr>
            <a:spLocks noGrp="1"/>
          </p:cNvSpPr>
          <p:nvPr>
            <p:ph type="title"/>
          </p:nvPr>
        </p:nvSpPr>
        <p:spPr>
          <a:xfrm>
            <a:off x="6769100" y="255102"/>
            <a:ext cx="4472921" cy="1371600"/>
          </a:xfrm>
        </p:spPr>
        <p:txBody>
          <a:bodyPr>
            <a:normAutofit/>
          </a:bodyPr>
          <a:lstStyle/>
          <a:p>
            <a:r>
              <a:rPr lang="en-US" sz="4000" dirty="0"/>
              <a:t>Gene Pools: Cont.…. </a:t>
            </a:r>
          </a:p>
        </p:txBody>
      </p:sp>
      <p:sp>
        <p:nvSpPr>
          <p:cNvPr id="3" name="Content Placeholder 2">
            <a:extLst>
              <a:ext uri="{FF2B5EF4-FFF2-40B4-BE49-F238E27FC236}">
                <a16:creationId xmlns:a16="http://schemas.microsoft.com/office/drawing/2014/main" id="{4FC39607-8362-5E4A-9032-635D497FAF15}"/>
              </a:ext>
            </a:extLst>
          </p:cNvPr>
          <p:cNvSpPr>
            <a:spLocks noGrp="1"/>
          </p:cNvSpPr>
          <p:nvPr>
            <p:ph idx="1"/>
          </p:nvPr>
        </p:nvSpPr>
        <p:spPr>
          <a:xfrm>
            <a:off x="6769100" y="1417320"/>
            <a:ext cx="4767904" cy="4325792"/>
          </a:xfrm>
        </p:spPr>
        <p:txBody>
          <a:bodyPr>
            <a:normAutofit/>
          </a:bodyPr>
          <a:lstStyle/>
          <a:p>
            <a:pPr lvl="1"/>
            <a:r>
              <a:rPr lang="en-US" sz="2400" dirty="0"/>
              <a:t>Populations that differ in characteristics they possess are likely to have different frequencies of the various alleles of a gene in their gene pools.  Hence why it is more common for some populations to have certain phenotypic traits. </a:t>
            </a:r>
          </a:p>
          <a:p>
            <a:pPr lvl="1"/>
            <a:r>
              <a:rPr lang="en-US" sz="2400" dirty="0"/>
              <a:t>Changes in Gene Pools can happen over time- this can be due to chance mutation or environmental stimuli resulting in variations of allele frequency. </a:t>
            </a:r>
          </a:p>
          <a:p>
            <a:endParaRPr lang="en-US" dirty="0"/>
          </a:p>
        </p:txBody>
      </p:sp>
    </p:spTree>
    <p:extLst>
      <p:ext uri="{BB962C8B-B14F-4D97-AF65-F5344CB8AC3E}">
        <p14:creationId xmlns:p14="http://schemas.microsoft.com/office/powerpoint/2010/main" val="564235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B6EE7E08-B389-43E5-B019-1B0A8ACBB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NA render">
            <a:extLst>
              <a:ext uri="{FF2B5EF4-FFF2-40B4-BE49-F238E27FC236}">
                <a16:creationId xmlns:a16="http://schemas.microsoft.com/office/drawing/2014/main" id="{C7CF2113-43CA-41AF-90B4-8CD2149C0795}"/>
              </a:ext>
            </a:extLst>
          </p:cNvPr>
          <p:cNvPicPr>
            <a:picLocks noChangeAspect="1"/>
          </p:cNvPicPr>
          <p:nvPr/>
        </p:nvPicPr>
        <p:blipFill rotWithShape="1">
          <a:blip r:embed="rId2"/>
          <a:srcRect l="33784" r="13783"/>
          <a:stretch/>
        </p:blipFill>
        <p:spPr>
          <a:xfrm>
            <a:off x="20" y="10"/>
            <a:ext cx="6392647" cy="6857990"/>
          </a:xfrm>
          <a:prstGeom prst="rect">
            <a:avLst/>
          </a:prstGeom>
        </p:spPr>
      </p:pic>
      <p:sp>
        <p:nvSpPr>
          <p:cNvPr id="24" name="Rectangle 23">
            <a:extLst>
              <a:ext uri="{FF2B5EF4-FFF2-40B4-BE49-F238E27FC236}">
                <a16:creationId xmlns:a16="http://schemas.microsoft.com/office/drawing/2014/main" id="{E60D94A5-8A09-4BAB-8F7C-69BC34C54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1267" y="255102"/>
            <a:ext cx="534213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A1AE32B-3A6E-4C5E-8FEB-73861B9A2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9100" y="393365"/>
            <a:ext cx="5018211" cy="603554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8A974C-69A6-7948-B965-7076C0C65BC9}"/>
              </a:ext>
            </a:extLst>
          </p:cNvPr>
          <p:cNvSpPr>
            <a:spLocks noGrp="1"/>
          </p:cNvSpPr>
          <p:nvPr>
            <p:ph type="title"/>
          </p:nvPr>
        </p:nvSpPr>
        <p:spPr>
          <a:xfrm>
            <a:off x="6769100" y="13802"/>
            <a:ext cx="4472921" cy="1371600"/>
          </a:xfrm>
        </p:spPr>
        <p:txBody>
          <a:bodyPr>
            <a:normAutofit/>
          </a:bodyPr>
          <a:lstStyle/>
          <a:p>
            <a:r>
              <a:rPr lang="en-US" sz="4000" dirty="0"/>
              <a:t>Mutations</a:t>
            </a:r>
          </a:p>
        </p:txBody>
      </p:sp>
      <p:sp>
        <p:nvSpPr>
          <p:cNvPr id="17" name="Content Placeholder 2">
            <a:extLst>
              <a:ext uri="{FF2B5EF4-FFF2-40B4-BE49-F238E27FC236}">
                <a16:creationId xmlns:a16="http://schemas.microsoft.com/office/drawing/2014/main" id="{2E660DF2-652E-CD47-BD86-0958BD1A50A7}"/>
              </a:ext>
            </a:extLst>
          </p:cNvPr>
          <p:cNvSpPr>
            <a:spLocks noGrp="1"/>
          </p:cNvSpPr>
          <p:nvPr>
            <p:ph idx="1"/>
          </p:nvPr>
        </p:nvSpPr>
        <p:spPr>
          <a:xfrm>
            <a:off x="6857144" y="1291590"/>
            <a:ext cx="4472922" cy="3931920"/>
          </a:xfrm>
        </p:spPr>
        <p:txBody>
          <a:bodyPr>
            <a:normAutofit/>
          </a:bodyPr>
          <a:lstStyle/>
          <a:p>
            <a:r>
              <a:rPr lang="en-US" sz="2400" dirty="0"/>
              <a:t>Offspring may show changes that don’t resemble anyone in their family tree, that have occurred quite randomly and by chance. These are mutations in action! </a:t>
            </a:r>
          </a:p>
          <a:p>
            <a:r>
              <a:rPr lang="en-US" sz="2400" dirty="0"/>
              <a:t>Not all mutations are harmful and an organism with a characteristic caused by mutation is referred to as a mutant. These occur in two main ways: Gene Mutation and Chromosomal Mutation. </a:t>
            </a:r>
          </a:p>
        </p:txBody>
      </p:sp>
    </p:spTree>
    <p:extLst>
      <p:ext uri="{BB962C8B-B14F-4D97-AF65-F5344CB8AC3E}">
        <p14:creationId xmlns:p14="http://schemas.microsoft.com/office/powerpoint/2010/main" val="2720757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E192707B-B929-41A7-9B41-E959A1C68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4" descr="3D render of cells">
            <a:extLst>
              <a:ext uri="{FF2B5EF4-FFF2-40B4-BE49-F238E27FC236}">
                <a16:creationId xmlns:a16="http://schemas.microsoft.com/office/drawing/2014/main" id="{EC35E6D5-A6BB-458C-9973-A5768F784635}"/>
              </a:ext>
            </a:extLst>
          </p:cNvPr>
          <p:cNvPicPr>
            <a:picLocks noChangeAspect="1"/>
          </p:cNvPicPr>
          <p:nvPr/>
        </p:nvPicPr>
        <p:blipFill rotWithShape="1">
          <a:blip r:embed="rId2">
            <a:alphaModFix amt="35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4C7845FF-4D53-DC43-9597-1F5B846096AE}"/>
              </a:ext>
            </a:extLst>
          </p:cNvPr>
          <p:cNvSpPr>
            <a:spLocks noGrp="1"/>
          </p:cNvSpPr>
          <p:nvPr>
            <p:ph type="title"/>
          </p:nvPr>
        </p:nvSpPr>
        <p:spPr>
          <a:xfrm>
            <a:off x="1066800" y="642594"/>
            <a:ext cx="10058400" cy="1371600"/>
          </a:xfrm>
        </p:spPr>
        <p:txBody>
          <a:bodyPr>
            <a:normAutofit/>
          </a:bodyPr>
          <a:lstStyle/>
          <a:p>
            <a:r>
              <a:rPr lang="en-US"/>
              <a:t>Mutations: Cont.….</a:t>
            </a:r>
            <a:endParaRPr lang="en-US" dirty="0"/>
          </a:p>
        </p:txBody>
      </p:sp>
      <p:sp>
        <p:nvSpPr>
          <p:cNvPr id="3" name="Content Placeholder 2">
            <a:extLst>
              <a:ext uri="{FF2B5EF4-FFF2-40B4-BE49-F238E27FC236}">
                <a16:creationId xmlns:a16="http://schemas.microsoft.com/office/drawing/2014/main" id="{5839C81F-89D8-6545-9E64-F279F4D54390}"/>
              </a:ext>
            </a:extLst>
          </p:cNvPr>
          <p:cNvSpPr>
            <a:spLocks noGrp="1"/>
          </p:cNvSpPr>
          <p:nvPr>
            <p:ph idx="1"/>
          </p:nvPr>
        </p:nvSpPr>
        <p:spPr>
          <a:xfrm>
            <a:off x="1066800" y="2103120"/>
            <a:ext cx="10058400" cy="3849624"/>
          </a:xfrm>
        </p:spPr>
        <p:txBody>
          <a:bodyPr>
            <a:normAutofit/>
          </a:bodyPr>
          <a:lstStyle/>
          <a:p>
            <a:r>
              <a:rPr lang="en-US" sz="2400" dirty="0"/>
              <a:t>Mutations can occur during DNA replication before cell division- due DNA being a complex molecule any change in the structure can change the outcome of the protein and/or characteristic of the species.</a:t>
            </a:r>
          </a:p>
          <a:p>
            <a:r>
              <a:rPr lang="en-US" sz="2400" dirty="0"/>
              <a:t>Due to cell division in mitosis and meiosis- if a mutation has occurred the cell will continue to divide and replicate this mutation and can result in it being passed down for generations. </a:t>
            </a:r>
          </a:p>
          <a:p>
            <a:r>
              <a:rPr lang="en-US" sz="2400" dirty="0"/>
              <a:t>Considering the size of the human population though- Mutations are still uncommon, and those that do occur sometimes result in traits allowing for better survival in the environmental conditions the organism is in. </a:t>
            </a:r>
          </a:p>
          <a:p>
            <a:endParaRPr lang="en-US" dirty="0"/>
          </a:p>
        </p:txBody>
      </p:sp>
      <p:sp>
        <p:nvSpPr>
          <p:cNvPr id="17" name="Rectangle 10">
            <a:extLst>
              <a:ext uri="{FF2B5EF4-FFF2-40B4-BE49-F238E27FC236}">
                <a16:creationId xmlns:a16="http://schemas.microsoft.com/office/drawing/2014/main" id="{8FB4235C-4505-46C7-AD8F-8769A1972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noFill/>
          <a:ln w="6350" cap="sq" cmpd="sng" algn="ctr">
            <a:solidFill>
              <a:schemeClr val="tx1"/>
            </a:solidFill>
            <a:prstDash val="solid"/>
            <a:miter lim="800000"/>
          </a:ln>
          <a:effectLst>
            <a:softEdge rad="0"/>
          </a:effectLst>
        </p:spPr>
      </p:sp>
    </p:spTree>
    <p:extLst>
      <p:ext uri="{BB962C8B-B14F-4D97-AF65-F5344CB8AC3E}">
        <p14:creationId xmlns:p14="http://schemas.microsoft.com/office/powerpoint/2010/main" val="2389211851"/>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icture containing chain, wheel, stove&#10;&#10;Description automatically generated">
            <a:extLst>
              <a:ext uri="{FF2B5EF4-FFF2-40B4-BE49-F238E27FC236}">
                <a16:creationId xmlns:a16="http://schemas.microsoft.com/office/drawing/2014/main" id="{C9B1F574-6909-1749-957A-8A98A6AEEC27}"/>
              </a:ext>
            </a:extLst>
          </p:cNvPr>
          <p:cNvPicPr>
            <a:picLocks noChangeAspect="1"/>
          </p:cNvPicPr>
          <p:nvPr/>
        </p:nvPicPr>
        <p:blipFill rotWithShape="1">
          <a:blip r:embed="rId2"/>
          <a:srcRect t="3641" r="9091" b="5450"/>
          <a:stretch/>
        </p:blipFill>
        <p:spPr>
          <a:xfrm>
            <a:off x="20" y="-1"/>
            <a:ext cx="12191980" cy="6857999"/>
          </a:xfrm>
          <a:prstGeom prst="rect">
            <a:avLst/>
          </a:prstGeom>
        </p:spPr>
      </p:pic>
      <p:sp>
        <p:nvSpPr>
          <p:cNvPr id="21" name="Rectangle 20">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615" y="253548"/>
            <a:ext cx="5612193" cy="6361598"/>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448"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C7CC5D-58C4-C242-BB7F-BF0E3B415AA6}"/>
              </a:ext>
            </a:extLst>
          </p:cNvPr>
          <p:cNvSpPr>
            <a:spLocks noGrp="1"/>
          </p:cNvSpPr>
          <p:nvPr>
            <p:ph type="title"/>
          </p:nvPr>
        </p:nvSpPr>
        <p:spPr>
          <a:xfrm>
            <a:off x="415448" y="164736"/>
            <a:ext cx="4602152" cy="1718225"/>
          </a:xfrm>
        </p:spPr>
        <p:txBody>
          <a:bodyPr>
            <a:normAutofit/>
          </a:bodyPr>
          <a:lstStyle/>
          <a:p>
            <a:r>
              <a:rPr lang="en-US" sz="4400" dirty="0"/>
              <a:t>Mutagens: </a:t>
            </a:r>
          </a:p>
        </p:txBody>
      </p:sp>
      <p:sp>
        <p:nvSpPr>
          <p:cNvPr id="3" name="Content Placeholder 2">
            <a:extLst>
              <a:ext uri="{FF2B5EF4-FFF2-40B4-BE49-F238E27FC236}">
                <a16:creationId xmlns:a16="http://schemas.microsoft.com/office/drawing/2014/main" id="{2CFB246A-59E0-9C42-A4EF-C9327082A261}"/>
              </a:ext>
            </a:extLst>
          </p:cNvPr>
          <p:cNvSpPr>
            <a:spLocks noGrp="1"/>
          </p:cNvSpPr>
          <p:nvPr>
            <p:ph idx="1"/>
          </p:nvPr>
        </p:nvSpPr>
        <p:spPr>
          <a:xfrm>
            <a:off x="563280" y="1882960"/>
            <a:ext cx="4869747" cy="4369249"/>
          </a:xfrm>
        </p:spPr>
        <p:txBody>
          <a:bodyPr>
            <a:normAutofit/>
          </a:bodyPr>
          <a:lstStyle/>
          <a:p>
            <a:r>
              <a:rPr lang="en-US" sz="2400" dirty="0"/>
              <a:t>Mutations occur without any known cause- however mutagens have been known to increase their rate of occurrence. </a:t>
            </a:r>
          </a:p>
          <a:p>
            <a:r>
              <a:rPr lang="en-US" sz="2400" dirty="0"/>
              <a:t>There are three types of mutagens: </a:t>
            </a:r>
          </a:p>
          <a:p>
            <a:pPr lvl="1"/>
            <a:r>
              <a:rPr lang="en-US" sz="2000" dirty="0"/>
              <a:t>C</a:t>
            </a:r>
            <a:r>
              <a:rPr lang="en-US" sz="2400" dirty="0"/>
              <a:t>hemicals:  These can insert into DNA bases or between bases causing issues with DNA replication. This includes mustard gas, formaldehyde, sulfur dioxide and some antibiotics. </a:t>
            </a:r>
          </a:p>
          <a:p>
            <a:pPr lvl="1"/>
            <a:endParaRPr lang="en-US" dirty="0"/>
          </a:p>
        </p:txBody>
      </p:sp>
    </p:spTree>
    <p:extLst>
      <p:ext uri="{BB962C8B-B14F-4D97-AF65-F5344CB8AC3E}">
        <p14:creationId xmlns:p14="http://schemas.microsoft.com/office/powerpoint/2010/main" val="700512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E9EDDFA-8F05-462B-8D3E-5B9C4FBC7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up of a spider&#10;&#10;Description automatically generated with medium confidence">
            <a:extLst>
              <a:ext uri="{FF2B5EF4-FFF2-40B4-BE49-F238E27FC236}">
                <a16:creationId xmlns:a16="http://schemas.microsoft.com/office/drawing/2014/main" id="{F476BFEC-F59E-704C-9D61-2A6244B50829}"/>
              </a:ext>
            </a:extLst>
          </p:cNvPr>
          <p:cNvPicPr>
            <a:picLocks noChangeAspect="1"/>
          </p:cNvPicPr>
          <p:nvPr/>
        </p:nvPicPr>
        <p:blipFill>
          <a:blip r:embed="rId2"/>
          <a:stretch>
            <a:fillRect/>
          </a:stretch>
        </p:blipFill>
        <p:spPr>
          <a:xfrm>
            <a:off x="727654" y="1422717"/>
            <a:ext cx="5367165" cy="4025374"/>
          </a:xfrm>
          <a:prstGeom prst="rect">
            <a:avLst/>
          </a:prstGeom>
        </p:spPr>
      </p:pic>
      <p:sp>
        <p:nvSpPr>
          <p:cNvPr id="12" name="Rectangle 11">
            <a:extLst>
              <a:ext uri="{FF2B5EF4-FFF2-40B4-BE49-F238E27FC236}">
                <a16:creationId xmlns:a16="http://schemas.microsoft.com/office/drawing/2014/main" id="{143F9A23-3237-4ED6-A1E9-C0E6530E05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1267" y="255102"/>
            <a:ext cx="5342133" cy="6361598"/>
          </a:xfrm>
          <a:prstGeom prst="rect">
            <a:avLst/>
          </a:prstGeom>
          <a:solidFill>
            <a:schemeClr val="bg1">
              <a:lumMod val="7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63CD46D-4335-4BA4-842A-BF835A99C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9100" y="393365"/>
            <a:ext cx="5018211" cy="603554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B69D58-CECE-EB45-87F7-2A11D23E62F5}"/>
              </a:ext>
            </a:extLst>
          </p:cNvPr>
          <p:cNvSpPr>
            <a:spLocks noGrp="1"/>
          </p:cNvSpPr>
          <p:nvPr>
            <p:ph type="title"/>
          </p:nvPr>
        </p:nvSpPr>
        <p:spPr>
          <a:xfrm>
            <a:off x="7064082" y="642594"/>
            <a:ext cx="4472921" cy="1371600"/>
          </a:xfrm>
        </p:spPr>
        <p:txBody>
          <a:bodyPr>
            <a:normAutofit/>
          </a:bodyPr>
          <a:lstStyle/>
          <a:p>
            <a:r>
              <a:rPr lang="en-US" dirty="0"/>
              <a:t>Mutagens: Cont.… </a:t>
            </a:r>
          </a:p>
        </p:txBody>
      </p:sp>
      <p:sp>
        <p:nvSpPr>
          <p:cNvPr id="3" name="Content Placeholder 2">
            <a:extLst>
              <a:ext uri="{FF2B5EF4-FFF2-40B4-BE49-F238E27FC236}">
                <a16:creationId xmlns:a16="http://schemas.microsoft.com/office/drawing/2014/main" id="{73182B08-C500-FE41-8AEE-6C2CF546BC5F}"/>
              </a:ext>
            </a:extLst>
          </p:cNvPr>
          <p:cNvSpPr>
            <a:spLocks noGrp="1"/>
          </p:cNvSpPr>
          <p:nvPr>
            <p:ph idx="1"/>
          </p:nvPr>
        </p:nvSpPr>
        <p:spPr>
          <a:xfrm>
            <a:off x="6835482" y="1748790"/>
            <a:ext cx="4472922" cy="3931920"/>
          </a:xfrm>
        </p:spPr>
        <p:txBody>
          <a:bodyPr>
            <a:normAutofit/>
          </a:bodyPr>
          <a:lstStyle/>
          <a:p>
            <a:pPr lvl="1"/>
            <a:r>
              <a:rPr lang="en-US" sz="2400" dirty="0"/>
              <a:t>Radiation: Ionizes biochemical compounds in cells forming free radicals. The free radicals cause damage to DNA and proteins, this includes; X-rays, cosmic rays and radioactive waste</a:t>
            </a:r>
          </a:p>
          <a:p>
            <a:pPr lvl="1"/>
            <a:r>
              <a:rPr lang="en-US" sz="2400" dirty="0"/>
              <a:t>UV Light: Causes thymines that are close together on the chain to bind together causing thymine dimers, causing issues during DNA replication. </a:t>
            </a:r>
            <a:endParaRPr lang="en-GB" sz="2400" dirty="0"/>
          </a:p>
          <a:p>
            <a:endParaRPr lang="en-US" dirty="0"/>
          </a:p>
        </p:txBody>
      </p:sp>
    </p:spTree>
    <p:extLst>
      <p:ext uri="{BB962C8B-B14F-4D97-AF65-F5344CB8AC3E}">
        <p14:creationId xmlns:p14="http://schemas.microsoft.com/office/powerpoint/2010/main" val="3107664300"/>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7A821B9-0CFF-4B38-BBA6-D630BD3AFD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AB07D8-619B-994E-9065-F6E0074AA76A}"/>
              </a:ext>
            </a:extLst>
          </p:cNvPr>
          <p:cNvSpPr>
            <a:spLocks noGrp="1"/>
          </p:cNvSpPr>
          <p:nvPr>
            <p:ph type="title"/>
          </p:nvPr>
        </p:nvSpPr>
        <p:spPr>
          <a:xfrm>
            <a:off x="8660189" y="643464"/>
            <a:ext cx="2888344" cy="5571071"/>
          </a:xfrm>
        </p:spPr>
        <p:txBody>
          <a:bodyPr>
            <a:normAutofit/>
          </a:bodyPr>
          <a:lstStyle/>
          <a:p>
            <a:r>
              <a:rPr lang="en-US">
                <a:solidFill>
                  <a:schemeClr val="bg1"/>
                </a:solidFill>
              </a:rPr>
              <a:t>Somatic Versus Germline Mutations</a:t>
            </a:r>
          </a:p>
        </p:txBody>
      </p:sp>
      <p:sp>
        <p:nvSpPr>
          <p:cNvPr id="23" name="Rectangle 22">
            <a:extLst>
              <a:ext uri="{FF2B5EF4-FFF2-40B4-BE49-F238E27FC236}">
                <a16:creationId xmlns:a16="http://schemas.microsoft.com/office/drawing/2014/main" id="{C16394E5-E242-48C2-9BFF-BDCB27E4F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7" y="0"/>
            <a:ext cx="8168743"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E8EFCA7-18D5-4FA9-867D-374429893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43" y="643464"/>
            <a:ext cx="6909336" cy="5571072"/>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useBgFill="1">
        <p:nvSpPr>
          <p:cNvPr id="27" name="Rectangle 26">
            <a:extLst>
              <a:ext uri="{FF2B5EF4-FFF2-40B4-BE49-F238E27FC236}">
                <a16:creationId xmlns:a16="http://schemas.microsoft.com/office/drawing/2014/main" id="{EB3182AD-CBBA-42F2-964B-8C8644688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6071" y="809244"/>
            <a:ext cx="6583680" cy="5239512"/>
          </a:xfrm>
          <a:prstGeom prst="rect">
            <a:avLst/>
          </a:prstGeom>
          <a:ln w="6350" cap="sq" cmpd="sng" algn="ctr">
            <a:solidFill>
              <a:schemeClr val="tx1">
                <a:lumMod val="50000"/>
                <a:lumOff val="50000"/>
              </a:schemeClr>
            </a:solidFill>
            <a:prstDash val="solid"/>
            <a:miter lim="800000"/>
          </a:ln>
          <a:effectLst/>
        </p:spPr>
      </p:sp>
      <p:graphicFrame>
        <p:nvGraphicFramePr>
          <p:cNvPr id="17" name="Content Placeholder 2">
            <a:extLst>
              <a:ext uri="{FF2B5EF4-FFF2-40B4-BE49-F238E27FC236}">
                <a16:creationId xmlns:a16="http://schemas.microsoft.com/office/drawing/2014/main" id="{AE77C5FF-4655-48CF-AE2C-430EF65A5F50}"/>
              </a:ext>
            </a:extLst>
          </p:cNvPr>
          <p:cNvGraphicFramePr>
            <a:graphicFrameLocks noGrp="1"/>
          </p:cNvGraphicFramePr>
          <p:nvPr>
            <p:ph idx="1"/>
            <p:extLst>
              <p:ext uri="{D42A27DB-BD31-4B8C-83A1-F6EECF244321}">
                <p14:modId xmlns:p14="http://schemas.microsoft.com/office/powerpoint/2010/main" val="3201305601"/>
              </p:ext>
            </p:extLst>
          </p:nvPr>
        </p:nvGraphicFramePr>
        <p:xfrm>
          <a:off x="1286615" y="1286931"/>
          <a:ext cx="5668310" cy="42841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5736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6EE7E08-B389-43E5-B019-1B0A8ACBB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agram&#10;&#10;Description automatically generated">
            <a:extLst>
              <a:ext uri="{FF2B5EF4-FFF2-40B4-BE49-F238E27FC236}">
                <a16:creationId xmlns:a16="http://schemas.microsoft.com/office/drawing/2014/main" id="{9C03B568-5744-1D46-AE3B-1AB6E9358C9F}"/>
              </a:ext>
            </a:extLst>
          </p:cNvPr>
          <p:cNvPicPr>
            <a:picLocks noChangeAspect="1"/>
          </p:cNvPicPr>
          <p:nvPr/>
        </p:nvPicPr>
        <p:blipFill>
          <a:blip r:embed="rId2"/>
          <a:stretch>
            <a:fillRect/>
          </a:stretch>
        </p:blipFill>
        <p:spPr>
          <a:xfrm>
            <a:off x="727654" y="959799"/>
            <a:ext cx="5367165" cy="4951209"/>
          </a:xfrm>
          <a:prstGeom prst="rect">
            <a:avLst/>
          </a:prstGeom>
        </p:spPr>
      </p:pic>
      <p:sp>
        <p:nvSpPr>
          <p:cNvPr id="12" name="Rectangle 11">
            <a:extLst>
              <a:ext uri="{FF2B5EF4-FFF2-40B4-BE49-F238E27FC236}">
                <a16:creationId xmlns:a16="http://schemas.microsoft.com/office/drawing/2014/main" id="{E60D94A5-8A09-4BAB-8F7C-69BC34C54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1267" y="255102"/>
            <a:ext cx="5342133" cy="6361598"/>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A1AE32B-3A6E-4C5E-8FEB-73861B9A2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9100" y="393365"/>
            <a:ext cx="5018211" cy="6035547"/>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73D92B3-93B7-314D-AD0C-ED3C9AAF676D}"/>
              </a:ext>
            </a:extLst>
          </p:cNvPr>
          <p:cNvSpPr>
            <a:spLocks noGrp="1"/>
          </p:cNvSpPr>
          <p:nvPr>
            <p:ph idx="1"/>
          </p:nvPr>
        </p:nvSpPr>
        <p:spPr>
          <a:xfrm>
            <a:off x="6822473" y="568020"/>
            <a:ext cx="4964837" cy="5740015"/>
          </a:xfrm>
        </p:spPr>
        <p:txBody>
          <a:bodyPr>
            <a:normAutofit/>
          </a:bodyPr>
          <a:lstStyle/>
          <a:p>
            <a:pPr marL="0" indent="0">
              <a:buNone/>
            </a:pPr>
            <a:r>
              <a:rPr lang="en-US" sz="2400" dirty="0"/>
              <a:t>Germline Mutations or reproductive mutations: </a:t>
            </a:r>
          </a:p>
          <a:p>
            <a:pPr marL="0" indent="0">
              <a:buNone/>
            </a:pPr>
            <a:r>
              <a:rPr lang="en-US" sz="2400" dirty="0"/>
              <a:t>-The person whose gametes mutated is not usually affected. </a:t>
            </a:r>
          </a:p>
          <a:p>
            <a:pPr marL="0" indent="0">
              <a:buNone/>
            </a:pPr>
            <a:r>
              <a:rPr lang="en-US" sz="2400" dirty="0"/>
              <a:t>-If these mutated gametes form a zygote, then the pregnancy is </a:t>
            </a:r>
            <a:r>
              <a:rPr lang="en-US" sz="2400"/>
              <a:t>often aborted </a:t>
            </a:r>
            <a:r>
              <a:rPr lang="en-US" sz="2400" dirty="0"/>
              <a:t>naturally by the body in the early stages. </a:t>
            </a:r>
          </a:p>
          <a:p>
            <a:pPr marL="0" indent="0">
              <a:buNone/>
            </a:pPr>
            <a:r>
              <a:rPr lang="en-US" sz="2400" dirty="0"/>
              <a:t>-If the child survives to birth, it can lead to harmful genetic diseases, beneficial adaptations or almost no effect at all. </a:t>
            </a:r>
          </a:p>
          <a:p>
            <a:endParaRPr lang="en-US" dirty="0"/>
          </a:p>
        </p:txBody>
      </p:sp>
    </p:spTree>
    <p:extLst>
      <p:ext uri="{BB962C8B-B14F-4D97-AF65-F5344CB8AC3E}">
        <p14:creationId xmlns:p14="http://schemas.microsoft.com/office/powerpoint/2010/main" val="707034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192707B-B929-41A7-9B41-E959A1C68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Molecular glass structure">
            <a:extLst>
              <a:ext uri="{FF2B5EF4-FFF2-40B4-BE49-F238E27FC236}">
                <a16:creationId xmlns:a16="http://schemas.microsoft.com/office/drawing/2014/main" id="{17DB85CE-D467-4CD1-8D36-945137D58CDB}"/>
              </a:ext>
            </a:extLst>
          </p:cNvPr>
          <p:cNvPicPr>
            <a:picLocks noChangeAspect="1"/>
          </p:cNvPicPr>
          <p:nvPr/>
        </p:nvPicPr>
        <p:blipFill rotWithShape="1">
          <a:blip r:embed="rId2">
            <a:alphaModFix amt="35000"/>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DC821105-9A42-7C4D-BBAD-F26AAA3CBFF7}"/>
              </a:ext>
            </a:extLst>
          </p:cNvPr>
          <p:cNvSpPr>
            <a:spLocks noGrp="1"/>
          </p:cNvSpPr>
          <p:nvPr>
            <p:ph type="title"/>
          </p:nvPr>
        </p:nvSpPr>
        <p:spPr>
          <a:xfrm>
            <a:off x="1066800" y="642594"/>
            <a:ext cx="10058400" cy="1371600"/>
          </a:xfrm>
        </p:spPr>
        <p:txBody>
          <a:bodyPr>
            <a:normAutofit/>
          </a:bodyPr>
          <a:lstStyle/>
          <a:p>
            <a:r>
              <a:rPr lang="en-US" dirty="0"/>
              <a:t>Effects of Mutations: Gene Mutations</a:t>
            </a:r>
          </a:p>
        </p:txBody>
      </p:sp>
      <p:sp>
        <p:nvSpPr>
          <p:cNvPr id="3" name="Content Placeholder 2">
            <a:extLst>
              <a:ext uri="{FF2B5EF4-FFF2-40B4-BE49-F238E27FC236}">
                <a16:creationId xmlns:a16="http://schemas.microsoft.com/office/drawing/2014/main" id="{8D01A99E-8B28-454A-9FE9-B4C4A1FE66E9}"/>
              </a:ext>
            </a:extLst>
          </p:cNvPr>
          <p:cNvSpPr>
            <a:spLocks noGrp="1"/>
          </p:cNvSpPr>
          <p:nvPr>
            <p:ph idx="1"/>
          </p:nvPr>
        </p:nvSpPr>
        <p:spPr>
          <a:xfrm>
            <a:off x="1066800" y="2103120"/>
            <a:ext cx="10058400" cy="3849624"/>
          </a:xfrm>
        </p:spPr>
        <p:txBody>
          <a:bodyPr>
            <a:normAutofit/>
          </a:bodyPr>
          <a:lstStyle/>
          <a:p>
            <a:r>
              <a:rPr lang="en-US" sz="2400" dirty="0"/>
              <a:t>Each DNA molecule is made up for 1 of 4 Nitrogenous bases and a sugar-phosphate backbone. </a:t>
            </a:r>
          </a:p>
          <a:p>
            <a:r>
              <a:rPr lang="en-US" sz="2400" dirty="0"/>
              <a:t>Triplets from these bases are used to code for amino acids, which are used to build a protein. </a:t>
            </a:r>
          </a:p>
          <a:p>
            <a:r>
              <a:rPr lang="en-US" sz="2400" dirty="0"/>
              <a:t>The change of one base in these sequences can cause a point mutation- which in turn can alter the amino acids and thus alter the created protein. </a:t>
            </a:r>
          </a:p>
          <a:p>
            <a:r>
              <a:rPr lang="en-US" sz="2400" dirty="0"/>
              <a:t>This can result in a missing protein or an abnormal protein, in which can have major effects on the body. </a:t>
            </a:r>
          </a:p>
        </p:txBody>
      </p:sp>
      <p:sp>
        <p:nvSpPr>
          <p:cNvPr id="22" name="Rectangle 21">
            <a:extLst>
              <a:ext uri="{FF2B5EF4-FFF2-40B4-BE49-F238E27FC236}">
                <a16:creationId xmlns:a16="http://schemas.microsoft.com/office/drawing/2014/main" id="{8FB4235C-4505-46C7-AD8F-8769A1972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noFill/>
          <a:ln w="6350" cap="sq" cmpd="sng" algn="ctr">
            <a:solidFill>
              <a:schemeClr val="tx1"/>
            </a:solidFill>
            <a:prstDash val="solid"/>
            <a:miter lim="800000"/>
          </a:ln>
          <a:effectLst>
            <a:softEdge rad="0"/>
          </a:effectLst>
        </p:spPr>
      </p:sp>
    </p:spTree>
    <p:extLst>
      <p:ext uri="{BB962C8B-B14F-4D97-AF65-F5344CB8AC3E}">
        <p14:creationId xmlns:p14="http://schemas.microsoft.com/office/powerpoint/2010/main" val="3448254210"/>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sp>
      <p:sp>
        <p:nvSpPr>
          <p:cNvPr id="21" name="Rectangle 20">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sp>
      <p:pic>
        <p:nvPicPr>
          <p:cNvPr id="5" name="Picture 4" descr="A picture containing person, indoor, child, little&#10;&#10;Description automatically generated">
            <a:extLst>
              <a:ext uri="{FF2B5EF4-FFF2-40B4-BE49-F238E27FC236}">
                <a16:creationId xmlns:a16="http://schemas.microsoft.com/office/drawing/2014/main" id="{8E696FD0-328D-0743-848A-BD1862EE6DEA}"/>
              </a:ext>
            </a:extLst>
          </p:cNvPr>
          <p:cNvPicPr>
            <a:picLocks noChangeAspect="1"/>
          </p:cNvPicPr>
          <p:nvPr/>
        </p:nvPicPr>
        <p:blipFill>
          <a:blip r:embed="rId2"/>
          <a:stretch>
            <a:fillRect/>
          </a:stretch>
        </p:blipFill>
        <p:spPr>
          <a:xfrm>
            <a:off x="1205256" y="1782668"/>
            <a:ext cx="4414438" cy="3310828"/>
          </a:xfrm>
          <a:prstGeom prst="rect">
            <a:avLst/>
          </a:prstGeom>
        </p:spPr>
      </p:pic>
      <p:sp>
        <p:nvSpPr>
          <p:cNvPr id="3" name="Content Placeholder 2">
            <a:extLst>
              <a:ext uri="{FF2B5EF4-FFF2-40B4-BE49-F238E27FC236}">
                <a16:creationId xmlns:a16="http://schemas.microsoft.com/office/drawing/2014/main" id="{56A38FA0-7587-6243-8BAE-D613EEF9DB77}"/>
              </a:ext>
            </a:extLst>
          </p:cNvPr>
          <p:cNvSpPr>
            <a:spLocks noGrp="1"/>
          </p:cNvSpPr>
          <p:nvPr>
            <p:ph idx="1"/>
          </p:nvPr>
        </p:nvSpPr>
        <p:spPr>
          <a:xfrm>
            <a:off x="5939732" y="451038"/>
            <a:ext cx="5947467" cy="5949761"/>
          </a:xfrm>
        </p:spPr>
        <p:txBody>
          <a:bodyPr>
            <a:normAutofit/>
          </a:bodyPr>
          <a:lstStyle/>
          <a:p>
            <a:pPr lvl="1"/>
            <a:r>
              <a:rPr lang="en-US" sz="2400" dirty="0"/>
              <a:t>Example: Albinism is the absence of pigment in Skin, hair and eye colour. </a:t>
            </a:r>
          </a:p>
          <a:p>
            <a:pPr lvl="1"/>
            <a:r>
              <a:rPr lang="en-US" sz="2400" dirty="0"/>
              <a:t>Example: Duchene Muscular dystrophy inherited by sons from their mothers, results in the wasting away of muscles in the legs, shoulders, arms and chest. Death eventually occurs due to respiratory muscles failing. </a:t>
            </a:r>
          </a:p>
          <a:p>
            <a:pPr lvl="1"/>
            <a:r>
              <a:rPr lang="en-US" sz="2400" dirty="0"/>
              <a:t>Example: Cystic fibrosis: is recessive meaning it needs inheriting from both parents. Is when the correct protein that regulates the passage of chloride ions across the cell membrane is not created.  Resulting in life-long respiratory and digestive issues. </a:t>
            </a:r>
          </a:p>
          <a:p>
            <a:endParaRPr lang="en-US" dirty="0"/>
          </a:p>
        </p:txBody>
      </p:sp>
    </p:spTree>
    <p:extLst>
      <p:ext uri="{BB962C8B-B14F-4D97-AF65-F5344CB8AC3E}">
        <p14:creationId xmlns:p14="http://schemas.microsoft.com/office/powerpoint/2010/main" val="3837991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A2AD6B69-E0A0-476D-9EE1-6B69F04C5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0">
            <a:extLst>
              <a:ext uri="{FF2B5EF4-FFF2-40B4-BE49-F238E27FC236}">
                <a16:creationId xmlns:a16="http://schemas.microsoft.com/office/drawing/2014/main" id="{16BE10A1-AD5F-4AB3-8A94-41D62B494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1">
              <a:lumMod val="85000"/>
              <a:alpha val="60000"/>
            </a:schemeClr>
          </a:solidFill>
          <a:ln w="6350" cap="flat" cmpd="sng" algn="ctr">
            <a:noFill/>
            <a:prstDash val="solid"/>
          </a:ln>
          <a:effectLst>
            <a:softEdge rad="0"/>
          </a:effectLst>
        </p:spPr>
      </p:sp>
      <p:sp>
        <p:nvSpPr>
          <p:cNvPr id="2" name="Title 1">
            <a:extLst>
              <a:ext uri="{FF2B5EF4-FFF2-40B4-BE49-F238E27FC236}">
                <a16:creationId xmlns:a16="http://schemas.microsoft.com/office/drawing/2014/main" id="{A6A5B822-143C-2448-B36A-E3CFEE2E7269}"/>
              </a:ext>
            </a:extLst>
          </p:cNvPr>
          <p:cNvSpPr>
            <a:spLocks noGrp="1"/>
          </p:cNvSpPr>
          <p:nvPr>
            <p:ph type="title"/>
          </p:nvPr>
        </p:nvSpPr>
        <p:spPr>
          <a:xfrm>
            <a:off x="573409" y="559477"/>
            <a:ext cx="3765200" cy="5709931"/>
          </a:xfrm>
        </p:spPr>
        <p:txBody>
          <a:bodyPr>
            <a:normAutofit/>
          </a:bodyPr>
          <a:lstStyle/>
          <a:p>
            <a:pPr algn="ctr"/>
            <a:r>
              <a:rPr lang="en-US"/>
              <a:t>Lethal Recessives: </a:t>
            </a:r>
          </a:p>
        </p:txBody>
      </p:sp>
      <p:sp>
        <p:nvSpPr>
          <p:cNvPr id="17" name="Rectangle 12">
            <a:extLst>
              <a:ext uri="{FF2B5EF4-FFF2-40B4-BE49-F238E27FC236}">
                <a16:creationId xmlns:a16="http://schemas.microsoft.com/office/drawing/2014/main" id="{5684BFFE-6A90-4311-ACD5-B34177D464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4122323" cy="6108192"/>
          </a:xfrm>
          <a:prstGeom prst="rect">
            <a:avLst/>
          </a:prstGeom>
          <a:noFill/>
          <a:ln w="6350" cap="sq" cmpd="sng" algn="ctr">
            <a:solidFill>
              <a:schemeClr val="tx1">
                <a:lumMod val="75000"/>
                <a:lumOff val="25000"/>
              </a:schemeClr>
            </a:solidFill>
            <a:prstDash val="solid"/>
            <a:miter lim="800000"/>
          </a:ln>
          <a:effectLst/>
        </p:spPr>
      </p:sp>
      <p:graphicFrame>
        <p:nvGraphicFramePr>
          <p:cNvPr id="18" name="Content Placeholder 2">
            <a:extLst>
              <a:ext uri="{FF2B5EF4-FFF2-40B4-BE49-F238E27FC236}">
                <a16:creationId xmlns:a16="http://schemas.microsoft.com/office/drawing/2014/main" id="{8C4D76D6-7387-4BC3-AC67-C4ADCF831F6A}"/>
              </a:ext>
            </a:extLst>
          </p:cNvPr>
          <p:cNvGraphicFramePr>
            <a:graphicFrameLocks noGrp="1"/>
          </p:cNvGraphicFramePr>
          <p:nvPr>
            <p:ph idx="1"/>
            <p:extLst>
              <p:ext uri="{D42A27DB-BD31-4B8C-83A1-F6EECF244321}">
                <p14:modId xmlns:p14="http://schemas.microsoft.com/office/powerpoint/2010/main" val="3224201037"/>
              </p:ext>
            </p:extLst>
          </p:nvPr>
        </p:nvGraphicFramePr>
        <p:xfrm>
          <a:off x="4654295" y="237744"/>
          <a:ext cx="7303009" cy="6382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98168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9">
            <a:extLst>
              <a:ext uri="{FF2B5EF4-FFF2-40B4-BE49-F238E27FC236}">
                <a16:creationId xmlns:a16="http://schemas.microsoft.com/office/drawing/2014/main" id="{904DB13E-F722-4ED6-BB00-556651E95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2" name="Rectangle 11">
            <a:extLst>
              <a:ext uri="{FF2B5EF4-FFF2-40B4-BE49-F238E27FC236}">
                <a16:creationId xmlns:a16="http://schemas.microsoft.com/office/drawing/2014/main" id="{1E8D93C5-28EB-42D0-86CE-D804955653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43" name="Rectangle 13">
            <a:extLst>
              <a:ext uri="{FF2B5EF4-FFF2-40B4-BE49-F238E27FC236}">
                <a16:creationId xmlns:a16="http://schemas.microsoft.com/office/drawing/2014/main" id="{AB1B1E7D-F76D-4744-AF85-239E6998A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44" name="Rectangle 15">
            <a:extLst>
              <a:ext uri="{FF2B5EF4-FFF2-40B4-BE49-F238E27FC236}">
                <a16:creationId xmlns:a16="http://schemas.microsoft.com/office/drawing/2014/main" id="{3BB65211-00DB-45B6-A223-033B2D19C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5" name="Group 17">
            <a:extLst>
              <a:ext uri="{FF2B5EF4-FFF2-40B4-BE49-F238E27FC236}">
                <a16:creationId xmlns:a16="http://schemas.microsoft.com/office/drawing/2014/main" id="{E26428D7-C6F3-473D-A360-A3F5C3E872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0180" y="1267730"/>
            <a:ext cx="1691640" cy="615934"/>
            <a:chOff x="5250180" y="1267730"/>
            <a:chExt cx="1691640" cy="615934"/>
          </a:xfrm>
        </p:grpSpPr>
        <p:cxnSp>
          <p:nvCxnSpPr>
            <p:cNvPr id="19" name="Straight Connector 18">
              <a:extLst>
                <a:ext uri="{FF2B5EF4-FFF2-40B4-BE49-F238E27FC236}">
                  <a16:creationId xmlns:a16="http://schemas.microsoft.com/office/drawing/2014/main" id="{14DF524F-3FEF-4236-90C6-820E876A94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00A003-1BE9-49C2-8E57-DCD9B870F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3BF0991-F9A1-4282-99DB-92D70239F6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46" name="Rectangle 22">
            <a:extLst>
              <a:ext uri="{FF2B5EF4-FFF2-40B4-BE49-F238E27FC236}">
                <a16:creationId xmlns:a16="http://schemas.microsoft.com/office/drawing/2014/main" id="{1C3E817E-E139-426E-89E5-9DD346EC75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24">
            <a:extLst>
              <a:ext uri="{FF2B5EF4-FFF2-40B4-BE49-F238E27FC236}">
                <a16:creationId xmlns:a16="http://schemas.microsoft.com/office/drawing/2014/main" id="{E2ADD2F6-F7FC-464F-8F18-5BDBD27A7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alpha val="60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p:nvSpPr>
          <p:cNvPr id="48" name="Rectangle 26">
            <a:extLst>
              <a:ext uri="{FF2B5EF4-FFF2-40B4-BE49-F238E27FC236}">
                <a16:creationId xmlns:a16="http://schemas.microsoft.com/office/drawing/2014/main" id="{5A3A31F1-FA83-497F-98FF-9A5621DC55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7" y="0"/>
            <a:ext cx="8168743"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iagram&#10;&#10;Description automatically generated">
            <a:extLst>
              <a:ext uri="{FF2B5EF4-FFF2-40B4-BE49-F238E27FC236}">
                <a16:creationId xmlns:a16="http://schemas.microsoft.com/office/drawing/2014/main" id="{B1BFFCE0-C953-5A4A-82EA-ACBA241E9159}"/>
              </a:ext>
            </a:extLst>
          </p:cNvPr>
          <p:cNvPicPr>
            <a:picLocks noGrp="1" noChangeAspect="1"/>
          </p:cNvPicPr>
          <p:nvPr>
            <p:ph idx="1"/>
          </p:nvPr>
        </p:nvPicPr>
        <p:blipFill>
          <a:blip r:embed="rId2"/>
          <a:stretch>
            <a:fillRect/>
          </a:stretch>
        </p:blipFill>
        <p:spPr>
          <a:xfrm>
            <a:off x="222855" y="318868"/>
            <a:ext cx="8107680" cy="6080760"/>
          </a:xfrm>
          <a:prstGeom prst="rect">
            <a:avLst/>
          </a:prstGeom>
        </p:spPr>
      </p:pic>
      <p:sp>
        <p:nvSpPr>
          <p:cNvPr id="49" name="Rectangle 28">
            <a:extLst>
              <a:ext uri="{FF2B5EF4-FFF2-40B4-BE49-F238E27FC236}">
                <a16:creationId xmlns:a16="http://schemas.microsoft.com/office/drawing/2014/main" id="{343FF9E2-8F7E-4BCC-9A50-C41AD8A56D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31468" y="164592"/>
            <a:ext cx="3708894" cy="654017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07BA45-4A22-2A49-84AF-88330A246687}"/>
              </a:ext>
            </a:extLst>
          </p:cNvPr>
          <p:cNvSpPr>
            <a:spLocks noGrp="1"/>
          </p:cNvSpPr>
          <p:nvPr>
            <p:ph type="title"/>
          </p:nvPr>
        </p:nvSpPr>
        <p:spPr>
          <a:xfrm>
            <a:off x="8560024" y="1559768"/>
            <a:ext cx="3238829" cy="3135379"/>
          </a:xfrm>
        </p:spPr>
        <p:txBody>
          <a:bodyPr vert="horz" lIns="91440" tIns="45720" rIns="91440" bIns="45720" rtlCol="0" anchor="ctr">
            <a:normAutofit/>
          </a:bodyPr>
          <a:lstStyle/>
          <a:p>
            <a:pPr algn="ctr">
              <a:lnSpc>
                <a:spcPct val="83000"/>
              </a:lnSpc>
            </a:pPr>
            <a:r>
              <a:rPr lang="en-US" sz="3000" cap="all" spc="-100"/>
              <a:t>Effects of Mutations: Chromosomal Mutations</a:t>
            </a:r>
          </a:p>
        </p:txBody>
      </p:sp>
      <p:sp>
        <p:nvSpPr>
          <p:cNvPr id="50" name="Rectangle 30">
            <a:extLst>
              <a:ext uri="{FF2B5EF4-FFF2-40B4-BE49-F238E27FC236}">
                <a16:creationId xmlns:a16="http://schemas.microsoft.com/office/drawing/2014/main" id="{47751BC8-250F-493B-BDF9-D45BA5991D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19318" y="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51" name="Straight Connector 32">
            <a:extLst>
              <a:ext uri="{FF2B5EF4-FFF2-40B4-BE49-F238E27FC236}">
                <a16:creationId xmlns:a16="http://schemas.microsoft.com/office/drawing/2014/main" id="{BF0F044C-8394-47CB-8E3D-FA56B069396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33618" y="-1172"/>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2" name="Straight Connector 34">
            <a:extLst>
              <a:ext uri="{FF2B5EF4-FFF2-40B4-BE49-F238E27FC236}">
                <a16:creationId xmlns:a16="http://schemas.microsoft.com/office/drawing/2014/main" id="{6B2DCD75-B707-4C51-8ADC-813834C09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25258" y="-1172"/>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53" name="Straight Connector 36">
            <a:extLst>
              <a:ext uri="{FF2B5EF4-FFF2-40B4-BE49-F238E27FC236}">
                <a16:creationId xmlns:a16="http://schemas.microsoft.com/office/drawing/2014/main" id="{F4851414-8BB1-42EF-912B-608FCE07B2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33618" y="644123"/>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2361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8587D-0C63-9B47-9FCD-206D20972A4A}"/>
              </a:ext>
            </a:extLst>
          </p:cNvPr>
          <p:cNvSpPr>
            <a:spLocks noGrp="1"/>
          </p:cNvSpPr>
          <p:nvPr>
            <p:ph type="title"/>
          </p:nvPr>
        </p:nvSpPr>
        <p:spPr>
          <a:xfrm>
            <a:off x="6096000" y="12564"/>
            <a:ext cx="4957553" cy="1645920"/>
          </a:xfrm>
        </p:spPr>
        <p:txBody>
          <a:bodyPr>
            <a:normAutofit/>
          </a:bodyPr>
          <a:lstStyle/>
          <a:p>
            <a:r>
              <a:rPr lang="en-US" dirty="0"/>
              <a:t>Case Study 1: Down Syndrome</a:t>
            </a:r>
          </a:p>
        </p:txBody>
      </p:sp>
      <p:sp>
        <p:nvSpPr>
          <p:cNvPr id="10" name="Rectangle 9">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sp>
      <p:sp>
        <p:nvSpPr>
          <p:cNvPr id="12" name="Rectangle 1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sp>
      <p:pic>
        <p:nvPicPr>
          <p:cNvPr id="5" name="Picture 4" descr="A picture containing text&#10;&#10;Description automatically generated">
            <a:extLst>
              <a:ext uri="{FF2B5EF4-FFF2-40B4-BE49-F238E27FC236}">
                <a16:creationId xmlns:a16="http://schemas.microsoft.com/office/drawing/2014/main" id="{ED08C799-8F0A-BE48-8329-2CBDA72B4F26}"/>
              </a:ext>
            </a:extLst>
          </p:cNvPr>
          <p:cNvPicPr>
            <a:picLocks noChangeAspect="1"/>
          </p:cNvPicPr>
          <p:nvPr/>
        </p:nvPicPr>
        <p:blipFill>
          <a:blip r:embed="rId2"/>
          <a:stretch>
            <a:fillRect/>
          </a:stretch>
        </p:blipFill>
        <p:spPr>
          <a:xfrm>
            <a:off x="1205256" y="1263972"/>
            <a:ext cx="4414438" cy="4348221"/>
          </a:xfrm>
          <a:prstGeom prst="rect">
            <a:avLst/>
          </a:prstGeom>
        </p:spPr>
      </p:pic>
      <p:sp>
        <p:nvSpPr>
          <p:cNvPr id="3" name="Content Placeholder 2">
            <a:extLst>
              <a:ext uri="{FF2B5EF4-FFF2-40B4-BE49-F238E27FC236}">
                <a16:creationId xmlns:a16="http://schemas.microsoft.com/office/drawing/2014/main" id="{7EEE8206-7A3F-F347-A434-75AB8EED7043}"/>
              </a:ext>
            </a:extLst>
          </p:cNvPr>
          <p:cNvSpPr>
            <a:spLocks noGrp="1"/>
          </p:cNvSpPr>
          <p:nvPr>
            <p:ph idx="1"/>
          </p:nvPr>
        </p:nvSpPr>
        <p:spPr>
          <a:xfrm>
            <a:off x="6096000" y="1384489"/>
            <a:ext cx="4957554" cy="3496120"/>
          </a:xfrm>
        </p:spPr>
        <p:txBody>
          <a:bodyPr>
            <a:normAutofit/>
          </a:bodyPr>
          <a:lstStyle/>
          <a:p>
            <a:r>
              <a:rPr lang="en-US" sz="2400" dirty="0"/>
              <a:t>Down Syndrome or Trisomy 21- Caused from a Non-Disjunction Chromosomal Mutation</a:t>
            </a:r>
          </a:p>
          <a:p>
            <a:r>
              <a:rPr lang="en-US" sz="2400" dirty="0"/>
              <a:t>Is when a child has 3 alleles of Chromosome 21 instead of a normal two. </a:t>
            </a:r>
          </a:p>
          <a:p>
            <a:r>
              <a:rPr lang="en-US" sz="2400" dirty="0"/>
              <a:t>Many symptoms of down syndrome can still occur when part of an extra chromosome is still attached to another- this is called Partial Trisomy. </a:t>
            </a:r>
          </a:p>
        </p:txBody>
      </p:sp>
    </p:spTree>
    <p:extLst>
      <p:ext uri="{BB962C8B-B14F-4D97-AF65-F5344CB8AC3E}">
        <p14:creationId xmlns:p14="http://schemas.microsoft.com/office/powerpoint/2010/main" val="1100844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0120F84-A866-4D9F-8B1C-9120A013D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7" name="Rectangle 16">
            <a:extLst>
              <a:ext uri="{FF2B5EF4-FFF2-40B4-BE49-F238E27FC236}">
                <a16:creationId xmlns:a16="http://schemas.microsoft.com/office/drawing/2014/main" id="{252FEFEF-6AC0-46B6-AC09-11FC56196F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0312" y="226665"/>
            <a:ext cx="11722608" cy="6382512"/>
          </a:xfrm>
          <a:prstGeom prst="rect">
            <a:avLst/>
          </a:prstGeom>
          <a:ln w="6350" cap="flat" cmpd="sng" algn="ctr">
            <a:noFill/>
            <a:prstDash val="solid"/>
          </a:ln>
          <a:effectLst>
            <a:softEdge rad="0"/>
          </a:effectLst>
        </p:spPr>
      </p:sp>
      <p:sp>
        <p:nvSpPr>
          <p:cNvPr id="2" name="Title 1">
            <a:extLst>
              <a:ext uri="{FF2B5EF4-FFF2-40B4-BE49-F238E27FC236}">
                <a16:creationId xmlns:a16="http://schemas.microsoft.com/office/drawing/2014/main" id="{16817C69-546B-4E46-BEB1-5518ECE788A9}"/>
              </a:ext>
            </a:extLst>
          </p:cNvPr>
          <p:cNvSpPr>
            <a:spLocks noGrp="1"/>
          </p:cNvSpPr>
          <p:nvPr>
            <p:ph type="title"/>
          </p:nvPr>
        </p:nvSpPr>
        <p:spPr>
          <a:xfrm>
            <a:off x="1175512" y="870132"/>
            <a:ext cx="9792208" cy="1527078"/>
          </a:xfrm>
        </p:spPr>
        <p:txBody>
          <a:bodyPr>
            <a:normAutofit/>
          </a:bodyPr>
          <a:lstStyle/>
          <a:p>
            <a:r>
              <a:rPr lang="en-US" dirty="0"/>
              <a:t>Case Study 2 &amp; 3: Patau Syndrome and Klinefelter’s Syndrome</a:t>
            </a:r>
          </a:p>
        </p:txBody>
      </p:sp>
      <p:sp>
        <p:nvSpPr>
          <p:cNvPr id="3" name="Content Placeholder 2">
            <a:extLst>
              <a:ext uri="{FF2B5EF4-FFF2-40B4-BE49-F238E27FC236}">
                <a16:creationId xmlns:a16="http://schemas.microsoft.com/office/drawing/2014/main" id="{118AB2D1-E5CC-1241-9F38-DC6A55AD70BD}"/>
              </a:ext>
            </a:extLst>
          </p:cNvPr>
          <p:cNvSpPr>
            <a:spLocks noGrp="1"/>
          </p:cNvSpPr>
          <p:nvPr>
            <p:ph idx="1"/>
          </p:nvPr>
        </p:nvSpPr>
        <p:spPr>
          <a:xfrm>
            <a:off x="1175512" y="2557849"/>
            <a:ext cx="9792208" cy="3407862"/>
          </a:xfrm>
        </p:spPr>
        <p:txBody>
          <a:bodyPr>
            <a:normAutofit/>
          </a:bodyPr>
          <a:lstStyle/>
          <a:p>
            <a:r>
              <a:rPr lang="en-US" sz="2400" dirty="0"/>
              <a:t>Patau Syndrome is when an extra Chromosome 13 produces mental retardation, an extra finger, cleft plate and malformations of the ears and eyes. This Trisomy 13 occurs in every 1 of 5000 live births, however 80% of the children generally die within a month. </a:t>
            </a:r>
          </a:p>
          <a:p>
            <a:endParaRPr lang="en-US" sz="2400" dirty="0"/>
          </a:p>
          <a:p>
            <a:r>
              <a:rPr lang="en-US" sz="2400" dirty="0"/>
              <a:t>Klinefelter’s Syndrome is affected in the sex chromosomes in males. This can cause an extra X or Y chromosome. The XXY mutations are normal as boys will develop Klinefelter’s as adults. These males do not produce sperm, have enlarged breast, sparse body hair and occasionally have mental retardation. </a:t>
            </a:r>
          </a:p>
        </p:txBody>
      </p:sp>
    </p:spTree>
    <p:extLst>
      <p:ext uri="{BB962C8B-B14F-4D97-AF65-F5344CB8AC3E}">
        <p14:creationId xmlns:p14="http://schemas.microsoft.com/office/powerpoint/2010/main" val="3848026397"/>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737801-B9D6-4A08-BD77-23010A802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5FABD39-C757-461E-A681-DC2736484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190" y="572613"/>
            <a:ext cx="11281609" cy="2396079"/>
          </a:xfrm>
          <a:prstGeom prst="rect">
            <a:avLst/>
          </a:prstGeom>
          <a:solidFill>
            <a:schemeClr val="accent1"/>
          </a:solidFill>
          <a:ln w="6350" cap="flat" cmpd="sng" algn="ctr">
            <a:noFill/>
            <a:prstDash val="solid"/>
          </a:ln>
          <a:effectLst>
            <a:outerShdw blurRad="50800" algn="ctr" rotWithShape="0">
              <a:prstClr val="black">
                <a:alpha val="66000"/>
              </a:prstClr>
            </a:outerShdw>
            <a:softEdge rad="0"/>
          </a:effectLst>
        </p:spPr>
      </p:sp>
      <p:sp>
        <p:nvSpPr>
          <p:cNvPr id="12" name="Rectangle 11">
            <a:extLst>
              <a:ext uri="{FF2B5EF4-FFF2-40B4-BE49-F238E27FC236}">
                <a16:creationId xmlns:a16="http://schemas.microsoft.com/office/drawing/2014/main" id="{2DF424F5-8D5C-46C0-A1B0-AF34E0350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6738" y="737380"/>
            <a:ext cx="10954512" cy="2066544"/>
          </a:xfrm>
          <a:prstGeom prst="rect">
            <a:avLst/>
          </a:prstGeom>
          <a:noFill/>
          <a:ln w="6350" cap="sq" cmpd="sng" algn="ctr">
            <a:solidFill>
              <a:srgbClr val="FFFFFF"/>
            </a:solidFill>
            <a:prstDash val="solid"/>
            <a:miter lim="800000"/>
          </a:ln>
          <a:effectLst/>
        </p:spPr>
      </p:sp>
      <p:sp>
        <p:nvSpPr>
          <p:cNvPr id="2" name="Title 1">
            <a:extLst>
              <a:ext uri="{FF2B5EF4-FFF2-40B4-BE49-F238E27FC236}">
                <a16:creationId xmlns:a16="http://schemas.microsoft.com/office/drawing/2014/main" id="{E0A2B519-8368-C240-9DD4-1683EDAADD98}"/>
              </a:ext>
            </a:extLst>
          </p:cNvPr>
          <p:cNvSpPr>
            <a:spLocks noGrp="1"/>
          </p:cNvSpPr>
          <p:nvPr>
            <p:ph type="title"/>
          </p:nvPr>
        </p:nvSpPr>
        <p:spPr>
          <a:xfrm>
            <a:off x="1066800" y="1089090"/>
            <a:ext cx="10058400" cy="1371600"/>
          </a:xfrm>
        </p:spPr>
        <p:txBody>
          <a:bodyPr>
            <a:normAutofit/>
          </a:bodyPr>
          <a:lstStyle/>
          <a:p>
            <a:pPr algn="ctr"/>
            <a:r>
              <a:rPr lang="en-US">
                <a:solidFill>
                  <a:srgbClr val="FFFFFF"/>
                </a:solidFill>
              </a:rPr>
              <a:t>Case Study 4 &amp; 5: Cri-du-Chat Syndrome and Turner’s Syndrome</a:t>
            </a:r>
          </a:p>
        </p:txBody>
      </p:sp>
      <p:sp>
        <p:nvSpPr>
          <p:cNvPr id="3" name="Content Placeholder 2">
            <a:extLst>
              <a:ext uri="{FF2B5EF4-FFF2-40B4-BE49-F238E27FC236}">
                <a16:creationId xmlns:a16="http://schemas.microsoft.com/office/drawing/2014/main" id="{C2F43856-6BFB-5B48-90B3-991AF4D3BBF4}"/>
              </a:ext>
            </a:extLst>
          </p:cNvPr>
          <p:cNvSpPr>
            <a:spLocks noGrp="1"/>
          </p:cNvSpPr>
          <p:nvPr>
            <p:ph idx="1"/>
          </p:nvPr>
        </p:nvSpPr>
        <p:spPr>
          <a:xfrm>
            <a:off x="708659" y="2968691"/>
            <a:ext cx="11026139" cy="2508384"/>
          </a:xfrm>
        </p:spPr>
        <p:txBody>
          <a:bodyPr anchor="t">
            <a:noAutofit/>
          </a:bodyPr>
          <a:lstStyle/>
          <a:p>
            <a:pPr marL="0" indent="0">
              <a:lnSpc>
                <a:spcPct val="90000"/>
              </a:lnSpc>
              <a:buNone/>
            </a:pPr>
            <a:r>
              <a:rPr lang="en-US" sz="2400" dirty="0"/>
              <a:t>Cri-du-Chat Syndrome is an example of monosomy, when the child is missing part of chromosome 5. This rare disorder gets it characteristic cry (sounding like a meowing kitten) which is due to problems with the larynx and nervous system. </a:t>
            </a:r>
          </a:p>
          <a:p>
            <a:pPr marL="0" indent="0">
              <a:lnSpc>
                <a:spcPct val="90000"/>
              </a:lnSpc>
              <a:buNone/>
            </a:pPr>
            <a:endParaRPr lang="en-US" sz="2400" dirty="0"/>
          </a:p>
          <a:p>
            <a:pPr marL="0" indent="0">
              <a:lnSpc>
                <a:spcPct val="90000"/>
              </a:lnSpc>
              <a:buNone/>
            </a:pPr>
            <a:r>
              <a:rPr lang="en-US" sz="2400" dirty="0"/>
              <a:t>Turner’s Syndrome: is an example of monosomy affecting sex chromosomes. Individuals are born with only one X chromosome. These females are short in stature, lack secondary sexual characteristics and are infertile. This condition can be tested before the child is born, by testing amniotic fluid. Parents are then given the decision to terminate or go through with the pregnancy. </a:t>
            </a:r>
          </a:p>
        </p:txBody>
      </p:sp>
    </p:spTree>
    <p:extLst>
      <p:ext uri="{BB962C8B-B14F-4D97-AF65-F5344CB8AC3E}">
        <p14:creationId xmlns:p14="http://schemas.microsoft.com/office/powerpoint/2010/main" val="2835321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2AD6B69-E0A0-476D-9EE1-6B69F04C5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6BE10A1-AD5F-4AB3-8A94-41D62B494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1">
              <a:lumMod val="85000"/>
              <a:alpha val="60000"/>
            </a:schemeClr>
          </a:solidFill>
          <a:ln w="6350" cap="flat" cmpd="sng" algn="ctr">
            <a:noFill/>
            <a:prstDash val="solid"/>
          </a:ln>
          <a:effectLst>
            <a:softEdge rad="0"/>
          </a:effectLst>
        </p:spPr>
      </p:sp>
      <p:sp>
        <p:nvSpPr>
          <p:cNvPr id="2" name="Title 1">
            <a:extLst>
              <a:ext uri="{FF2B5EF4-FFF2-40B4-BE49-F238E27FC236}">
                <a16:creationId xmlns:a16="http://schemas.microsoft.com/office/drawing/2014/main" id="{50370F98-569F-A144-A202-522A4D7A4121}"/>
              </a:ext>
            </a:extLst>
          </p:cNvPr>
          <p:cNvSpPr>
            <a:spLocks noGrp="1"/>
          </p:cNvSpPr>
          <p:nvPr>
            <p:ph type="title"/>
          </p:nvPr>
        </p:nvSpPr>
        <p:spPr>
          <a:xfrm>
            <a:off x="573409" y="559477"/>
            <a:ext cx="3765200" cy="5709931"/>
          </a:xfrm>
        </p:spPr>
        <p:txBody>
          <a:bodyPr>
            <a:normAutofit/>
          </a:bodyPr>
          <a:lstStyle/>
          <a:p>
            <a:pPr algn="ctr"/>
            <a:r>
              <a:rPr lang="en-US" dirty="0"/>
              <a:t>Did we meet our objectives? </a:t>
            </a:r>
            <a:endParaRPr lang="en-US"/>
          </a:p>
        </p:txBody>
      </p:sp>
      <p:sp>
        <p:nvSpPr>
          <p:cNvPr id="13" name="Rectangle 12">
            <a:extLst>
              <a:ext uri="{FF2B5EF4-FFF2-40B4-BE49-F238E27FC236}">
                <a16:creationId xmlns:a16="http://schemas.microsoft.com/office/drawing/2014/main" id="{5684BFFE-6A90-4311-ACD5-B34177D464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4122323" cy="6108192"/>
          </a:xfrm>
          <a:prstGeom prst="rect">
            <a:avLst/>
          </a:prstGeom>
          <a:noFill/>
          <a:ln w="6350" cap="sq" cmpd="sng" algn="ctr">
            <a:solidFill>
              <a:schemeClr val="tx1">
                <a:lumMod val="75000"/>
                <a:lumOff val="25000"/>
              </a:schemeClr>
            </a:solidFill>
            <a:prstDash val="solid"/>
            <a:miter lim="800000"/>
          </a:ln>
          <a:effectLst/>
        </p:spPr>
      </p:sp>
      <p:graphicFrame>
        <p:nvGraphicFramePr>
          <p:cNvPr id="5" name="Content Placeholder 2">
            <a:extLst>
              <a:ext uri="{FF2B5EF4-FFF2-40B4-BE49-F238E27FC236}">
                <a16:creationId xmlns:a16="http://schemas.microsoft.com/office/drawing/2014/main" id="{964599A4-6152-454E-A9AD-E70BF011D152}"/>
              </a:ext>
            </a:extLst>
          </p:cNvPr>
          <p:cNvGraphicFramePr>
            <a:graphicFrameLocks noGrp="1"/>
          </p:cNvGraphicFramePr>
          <p:nvPr>
            <p:ph idx="1"/>
            <p:extLst>
              <p:ext uri="{D42A27DB-BD31-4B8C-83A1-F6EECF244321}">
                <p14:modId xmlns:p14="http://schemas.microsoft.com/office/powerpoint/2010/main" val="2911557080"/>
              </p:ext>
            </p:extLst>
          </p:nvPr>
        </p:nvGraphicFramePr>
        <p:xfrm>
          <a:off x="5478124" y="800947"/>
          <a:ext cx="5906181" cy="52307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12187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8">
      <a:dk1>
        <a:sysClr val="windowText" lastClr="000000"/>
      </a:dk1>
      <a:lt1>
        <a:sysClr val="window" lastClr="FFFFFF"/>
      </a:lt1>
      <a:dk2>
        <a:srgbClr val="696464"/>
      </a:dk2>
      <a:lt2>
        <a:srgbClr val="E9E5DC"/>
      </a:lt2>
      <a:accent1>
        <a:srgbClr val="96A9A9"/>
      </a:accent1>
      <a:accent2>
        <a:srgbClr val="CB581F"/>
      </a:accent2>
      <a:accent3>
        <a:srgbClr val="A28E6A"/>
      </a:accent3>
      <a:accent4>
        <a:srgbClr val="956251"/>
      </a:accent4>
      <a:accent5>
        <a:srgbClr val="918485"/>
      </a:accent5>
      <a:accent6>
        <a:srgbClr val="855D5D"/>
      </a:accent6>
      <a:hlink>
        <a:srgbClr val="D0690C"/>
      </a:hlink>
      <a:folHlink>
        <a:srgbClr val="9696A0"/>
      </a:folHlink>
    </a:clrScheme>
    <a:fontScheme name="Savon">
      <a:majorFont>
        <a:latin typeface="Century Gothic"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otalTime>0</TotalTime>
  <Words>1307</Words>
  <Application>Microsoft Office PowerPoint</Application>
  <PresentationFormat>Widescreen</PresentationFormat>
  <Paragraphs>69</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Century Gothic</vt:lpstr>
      <vt:lpstr>Garamond</vt:lpstr>
      <vt:lpstr>Gill Sans MT</vt:lpstr>
      <vt:lpstr>SavonVTI</vt:lpstr>
      <vt:lpstr>Genetic Mutations</vt:lpstr>
      <vt:lpstr>Learning Objectives</vt:lpstr>
      <vt:lpstr>Quick Recap: Year 10 and 11. </vt:lpstr>
      <vt:lpstr>Protein Synthesis Recap: </vt:lpstr>
      <vt:lpstr>Gene Pools: What are they? </vt:lpstr>
      <vt:lpstr>Gene Pools: Cont.…. </vt:lpstr>
      <vt:lpstr>Mutations</vt:lpstr>
      <vt:lpstr>Mutations: Cont.….</vt:lpstr>
      <vt:lpstr>Mutagens: </vt:lpstr>
      <vt:lpstr>Mutagens: Cont.… </vt:lpstr>
      <vt:lpstr>Somatic Versus Germline Mutations</vt:lpstr>
      <vt:lpstr>PowerPoint Presentation</vt:lpstr>
      <vt:lpstr>Effects of Mutations: Gene Mutations</vt:lpstr>
      <vt:lpstr>PowerPoint Presentation</vt:lpstr>
      <vt:lpstr>Lethal Recessives: </vt:lpstr>
      <vt:lpstr>Effects of Mutations: Chromosomal Mutations</vt:lpstr>
      <vt:lpstr>Case Study 1: Down Syndrome</vt:lpstr>
      <vt:lpstr>Case Study 2 &amp; 3: Patau Syndrome and Klinefelter’s Syndrome</vt:lpstr>
      <vt:lpstr>Case Study 4 &amp; 5: Cri-du-Chat Syndrome and Turner’s Syndrome</vt:lpstr>
      <vt:lpstr>Did we meet our objectives?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Genetic Mutations</dc:title>
  <dc:creator>Jordan Phillips</dc:creator>
  <cp:lastModifiedBy>Ivan Opacak</cp:lastModifiedBy>
  <cp:revision>2</cp:revision>
  <dcterms:created xsi:type="dcterms:W3CDTF">2021-06-03T01:56:37Z</dcterms:created>
  <dcterms:modified xsi:type="dcterms:W3CDTF">2021-06-03T03:28:07Z</dcterms:modified>
</cp:coreProperties>
</file>
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8" r:id="rId3"/>
    <p:sldId id="266" r:id="rId4"/>
    <p:sldId id="267" r:id="rId5"/>
    <p:sldId id="259" r:id="rId6"/>
    <p:sldId id="260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83" autoAdjust="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6D9512-C607-479D-9091-7AFC62A6F268}" type="datetimeFigureOut">
              <a:rPr lang="en-AU" smtClean="0"/>
              <a:t>24/05/2021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C5F8F-1D81-4F44-BB53-0D7347ABA7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2645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24/05/2021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24/05/2021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24/05/2021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24/05/2021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24/05/2021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24/05/2021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24/05/2021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24/05/2021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24/05/2021</a:t>
            </a:fld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24/05/2021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24/05/2021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2072D987-F769-4FBA-90D4-E4010B051761}" type="datetimeFigureOut">
              <a:rPr lang="en-AU" smtClean="0"/>
              <a:t>24/05/2021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Genes and Mutations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26A9354-78B6-45D9-9F75-86C0212745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594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are we doing today?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AU" sz="1800" dirty="0"/>
              <a:t>Different genotypes produce a variety of phenotypes, which are acted on differently by factors in the environment, producing different rates of survival (SU)</a:t>
            </a:r>
          </a:p>
          <a:p>
            <a:pPr lvl="0"/>
            <a:r>
              <a:rPr lang="en-AU" sz="2000" dirty="0"/>
              <a:t>Mutations are the ultimate source of variation introducing new alleles into a population: new alleles may be favourable or unfavourable to survival (SU)</a:t>
            </a:r>
          </a:p>
          <a:p>
            <a:pPr lvl="0"/>
            <a:r>
              <a:rPr lang="en-AU" sz="2000" dirty="0"/>
              <a:t>Mutations in genes and chromosomes can result from errors in DNA replication, cell division or from damage caused by mutagens (SU)</a:t>
            </a:r>
          </a:p>
          <a:p>
            <a:pPr lvl="0"/>
            <a:endParaRPr lang="en-AU" sz="2000" i="1" dirty="0"/>
          </a:p>
          <a:p>
            <a:pPr lvl="0"/>
            <a:endParaRPr lang="en-AU" sz="2000" i="1" dirty="0"/>
          </a:p>
        </p:txBody>
      </p:sp>
    </p:spTree>
    <p:extLst>
      <p:ext uri="{BB962C8B-B14F-4D97-AF65-F5344CB8AC3E}">
        <p14:creationId xmlns:p14="http://schemas.microsoft.com/office/powerpoint/2010/main" val="1491314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370" y="332656"/>
            <a:ext cx="7397665" cy="792088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/>
              <a:t>Genes</a:t>
            </a:r>
          </a:p>
        </p:txBody>
      </p:sp>
      <p:pic>
        <p:nvPicPr>
          <p:cNvPr id="4" name="Content Placeholder 3" descr="DNA.gif"/>
          <p:cNvPicPr>
            <a:picLocks noGrp="1" noChangeAspect="1"/>
          </p:cNvPicPr>
          <p:nvPr>
            <p:ph idx="1"/>
          </p:nvPr>
        </p:nvPicPr>
        <p:blipFill>
          <a:blip r:embed="rId3">
            <a:duotone>
              <a:prstClr val="black"/>
              <a:srgbClr val="FFC000">
                <a:tint val="45000"/>
                <a:satMod val="400000"/>
              </a:srgbClr>
            </a:duotone>
          </a:blip>
          <a:srcRect t="36383"/>
          <a:stretch>
            <a:fillRect/>
          </a:stretch>
        </p:blipFill>
        <p:spPr>
          <a:xfrm rot="5400000">
            <a:off x="968706" y="1026686"/>
            <a:ext cx="792998" cy="2354230"/>
          </a:xfrm>
        </p:spPr>
      </p:pic>
      <p:pic>
        <p:nvPicPr>
          <p:cNvPr id="5" name="Content Placeholder 3" descr="DNA.gif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FFC000">
                <a:tint val="45000"/>
                <a:satMod val="400000"/>
              </a:srgbClr>
            </a:duotone>
          </a:blip>
          <a:srcRect t="24665" b="28460"/>
          <a:stretch>
            <a:fillRect/>
          </a:stretch>
        </p:blipFill>
        <p:spPr>
          <a:xfrm rot="5400000">
            <a:off x="3373583" y="1336453"/>
            <a:ext cx="792998" cy="1734696"/>
          </a:xfrm>
          <a:prstGeom prst="rect">
            <a:avLst/>
          </a:prstGeom>
        </p:spPr>
      </p:pic>
      <p:pic>
        <p:nvPicPr>
          <p:cNvPr id="6" name="Content Placeholder 3" descr="DNA.gif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FFC000">
                <a:tint val="45000"/>
                <a:satMod val="400000"/>
              </a:srgbClr>
            </a:duotone>
          </a:blip>
          <a:srcRect b="28460"/>
          <a:stretch>
            <a:fillRect/>
          </a:stretch>
        </p:blipFill>
        <p:spPr>
          <a:xfrm rot="5400000">
            <a:off x="5830224" y="894370"/>
            <a:ext cx="792998" cy="2647450"/>
          </a:xfrm>
          <a:prstGeom prst="rect">
            <a:avLst/>
          </a:prstGeom>
        </p:spPr>
      </p:pic>
      <p:pic>
        <p:nvPicPr>
          <p:cNvPr id="7" name="Content Placeholder 3" descr="DNA.gif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E31B2E">
                <a:tint val="45000"/>
                <a:satMod val="400000"/>
              </a:srgbClr>
            </a:duotone>
          </a:blip>
          <a:srcRect t="24665" b="28460"/>
          <a:stretch>
            <a:fillRect/>
          </a:stretch>
        </p:blipFill>
        <p:spPr>
          <a:xfrm rot="5400000">
            <a:off x="3354503" y="1336453"/>
            <a:ext cx="792998" cy="1734696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2455026" y="4646614"/>
            <a:ext cx="2292277" cy="468310"/>
          </a:xfrm>
          <a:prstGeom prst="ellipse">
            <a:avLst/>
          </a:prstGeom>
          <a:solidFill>
            <a:srgbClr val="7030A0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CA" sz="3200" b="1" dirty="0">
                <a:solidFill>
                  <a:schemeClr val="tx1"/>
                </a:solidFill>
              </a:rPr>
              <a:t>Protein</a:t>
            </a:r>
            <a:endParaRPr lang="en-CA" b="1" dirty="0">
              <a:solidFill>
                <a:schemeClr val="tx1"/>
              </a:solidFill>
            </a:endParaRPr>
          </a:p>
        </p:txBody>
      </p:sp>
      <p:pic>
        <p:nvPicPr>
          <p:cNvPr id="9" name="Picture 8" descr="Hitchhiker-Thumb.gif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764" y="4984740"/>
            <a:ext cx="1473104" cy="1949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71" name="TextBox 9"/>
          <p:cNvSpPr txBox="1">
            <a:spLocks noChangeArrowheads="1"/>
          </p:cNvSpPr>
          <p:nvPr/>
        </p:nvSpPr>
        <p:spPr bwMode="auto">
          <a:xfrm>
            <a:off x="6955600" y="2754469"/>
            <a:ext cx="148687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9pPr>
          </a:lstStyle>
          <a:p>
            <a:pPr eaLnBrk="1" hangingPunct="1"/>
            <a:r>
              <a:rPr lang="en-CA" altLang="en-US" sz="4000" b="1"/>
              <a:t>DNA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383850" y="3754594"/>
            <a:ext cx="148687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9pPr>
          </a:lstStyle>
          <a:p>
            <a:pPr eaLnBrk="1" hangingPunct="1"/>
            <a:r>
              <a:rPr lang="en-CA" altLang="en-US" sz="4000" b="1"/>
              <a:t>Gene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5098225" y="5683406"/>
            <a:ext cx="148687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  <a:cs typeface="Arial" charset="0"/>
              </a:defRPr>
            </a:lvl9pPr>
          </a:lstStyle>
          <a:p>
            <a:pPr eaLnBrk="1" hangingPunct="1"/>
            <a:r>
              <a:rPr lang="en-CA" altLang="en-US" sz="4000" b="1"/>
              <a:t>Trait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312282" y="3488450"/>
            <a:ext cx="557581" cy="340589"/>
          </a:xfrm>
          <a:prstGeom prst="downArrow">
            <a:avLst/>
          </a:prstGeom>
          <a:solidFill>
            <a:srgbClr val="660033"/>
          </a:solidFill>
          <a:ln>
            <a:noFill/>
          </a:ln>
          <a:scene3d>
            <a:camera prst="orthographicFront"/>
            <a:lightRig rig="threePt" dir="t"/>
          </a:scene3d>
          <a:sp3d>
            <a:bevelT w="1206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chemeClr val="tx1"/>
              </a:solidFill>
            </a:endParaRPr>
          </a:p>
        </p:txBody>
      </p:sp>
      <p:sp>
        <p:nvSpPr>
          <p:cNvPr id="14" name="Down Arrow 13"/>
          <p:cNvSpPr/>
          <p:nvPr/>
        </p:nvSpPr>
        <p:spPr>
          <a:xfrm rot="2206968">
            <a:off x="2333122" y="5309803"/>
            <a:ext cx="557581" cy="255442"/>
          </a:xfrm>
          <a:prstGeom prst="downArrow">
            <a:avLst/>
          </a:prstGeom>
          <a:solidFill>
            <a:srgbClr val="660033"/>
          </a:solidFill>
          <a:ln>
            <a:noFill/>
          </a:ln>
          <a:scene3d>
            <a:camera prst="orthographicFront"/>
            <a:lightRig rig="threePt" dir="t"/>
          </a:scene3d>
          <a:sp3d>
            <a:bevelT w="1206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chemeClr val="tx1"/>
              </a:solidFill>
            </a:endParaRPr>
          </a:p>
        </p:txBody>
      </p:sp>
      <p:sp>
        <p:nvSpPr>
          <p:cNvPr id="15" name="Down Arrow 14"/>
          <p:cNvSpPr/>
          <p:nvPr/>
        </p:nvSpPr>
        <p:spPr>
          <a:xfrm rot="15934192">
            <a:off x="4412221" y="5799613"/>
            <a:ext cx="191582" cy="1597324"/>
          </a:xfrm>
          <a:prstGeom prst="downArrow">
            <a:avLst/>
          </a:prstGeom>
          <a:solidFill>
            <a:srgbClr val="660033"/>
          </a:solidFill>
          <a:ln>
            <a:noFill/>
          </a:ln>
          <a:scene3d>
            <a:camera prst="orthographicFront"/>
            <a:lightRig rig="threePt" dir="t"/>
          </a:scene3d>
          <a:sp3d>
            <a:bevelT w="1206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477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1.3876E-7 C -0.0217 0.00532 -0.0434 0.01087 -0.05955 0.02174 C -0.07569 0.03261 -0.08819 0.04834 -0.09687 0.06568 C -0.10555 0.08303 -0.11007 0.1006 -0.1118 0.12535 C -0.11354 0.15009 -0.11371 0.18756 -0.10746 0.21462 C -0.10121 0.24168 -0.08976 0.27059 -0.07448 0.28816 C -0.0592 0.30574 -0.03767 0.31337 -0.01632 0.32008 " pathEditMode="relative" ptsTypes="aaaaa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66667E-6 -7.46531E-6 C -0.03178 -0.01087 -0.06355 -0.02174 -0.0941 -0.02198 C -0.12466 -0.02221 -0.16008 -0.01434 -0.18351 -0.00209 C -0.20695 0.01017 -0.22049 0.0296 -0.23438 0.05157 C -0.24827 0.07354 -0.26008 0.09736 -0.26719 0.12927 C -0.27431 0.16119 -0.27935 0.21322 -0.27761 0.24259 C -0.27587 0.27197 -0.2724 0.29486 -0.25678 0.30619 C -0.24115 0.31752 -0.19966 0.31637 -0.18351 0.31012 " pathEditMode="relative" ptsTypes="aaaaaaaA">
                                      <p:cBhvr>
                                        <p:cTn id="2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Genotypes and Phenotypes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Genotypes:  Genetic sequence/alleles</a:t>
            </a:r>
          </a:p>
          <a:p>
            <a:endParaRPr lang="en-AU" dirty="0"/>
          </a:p>
          <a:p>
            <a:r>
              <a:rPr lang="en-AU" dirty="0"/>
              <a:t>Phenotype: Visible characterises</a:t>
            </a:r>
          </a:p>
        </p:txBody>
      </p:sp>
    </p:spTree>
    <p:extLst>
      <p:ext uri="{BB962C8B-B14F-4D97-AF65-F5344CB8AC3E}">
        <p14:creationId xmlns:p14="http://schemas.microsoft.com/office/powerpoint/2010/main" val="2997400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Mutations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Variations  in phenotype that do not resemble parents or family history.</a:t>
            </a:r>
          </a:p>
          <a:p>
            <a:r>
              <a:rPr lang="en-AU" dirty="0"/>
              <a:t>Occur suddenly or by chance</a:t>
            </a:r>
          </a:p>
          <a:p>
            <a:r>
              <a:rPr lang="en-AU" dirty="0"/>
              <a:t>Due to change in genetic material</a:t>
            </a:r>
          </a:p>
        </p:txBody>
      </p:sp>
    </p:spTree>
    <p:extLst>
      <p:ext uri="{BB962C8B-B14F-4D97-AF65-F5344CB8AC3E}">
        <p14:creationId xmlns:p14="http://schemas.microsoft.com/office/powerpoint/2010/main" val="2745599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Mutagens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Increase the rate at which mutations occur.</a:t>
            </a:r>
          </a:p>
          <a:p>
            <a:r>
              <a:rPr lang="en-AU" dirty="0"/>
              <a:t>For example;</a:t>
            </a:r>
          </a:p>
          <a:p>
            <a:pPr lvl="1"/>
            <a:r>
              <a:rPr lang="en-AU" dirty="0"/>
              <a:t>X-rays</a:t>
            </a:r>
          </a:p>
          <a:p>
            <a:pPr lvl="1"/>
            <a:r>
              <a:rPr lang="en-AU" dirty="0"/>
              <a:t>Radioactive fallout</a:t>
            </a:r>
          </a:p>
          <a:p>
            <a:pPr lvl="1"/>
            <a:r>
              <a:rPr lang="en-AU" dirty="0"/>
              <a:t>Mustard gas</a:t>
            </a:r>
          </a:p>
          <a:p>
            <a:pPr lvl="1"/>
            <a:r>
              <a:rPr lang="en-AU" dirty="0" err="1"/>
              <a:t>Formaldahyde</a:t>
            </a:r>
            <a:endParaRPr lang="en-AU" dirty="0"/>
          </a:p>
          <a:p>
            <a:pPr lvl="1"/>
            <a:r>
              <a:rPr lang="en-AU" dirty="0"/>
              <a:t>UV light</a:t>
            </a:r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83892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Types of mutations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Gene: changes in single genes</a:t>
            </a:r>
          </a:p>
          <a:p>
            <a:r>
              <a:rPr lang="en-AU" dirty="0"/>
              <a:t>Chromosomal: changes in all or part of chromosome</a:t>
            </a:r>
          </a:p>
          <a:p>
            <a:endParaRPr lang="en-AU" dirty="0"/>
          </a:p>
          <a:p>
            <a:r>
              <a:rPr lang="en-AU" dirty="0"/>
              <a:t>Somatic: Occurs in body cells</a:t>
            </a:r>
          </a:p>
          <a:p>
            <a:r>
              <a:rPr lang="en-AU" dirty="0"/>
              <a:t>Germline/Germinal: Occurs in reproductive cells</a:t>
            </a:r>
          </a:p>
        </p:txBody>
      </p:sp>
    </p:spTree>
    <p:extLst>
      <p:ext uri="{BB962C8B-B14F-4D97-AF65-F5344CB8AC3E}">
        <p14:creationId xmlns:p14="http://schemas.microsoft.com/office/powerpoint/2010/main" val="2274605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How do mutations occur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51" t="23132" r="36045" b="38085"/>
          <a:stretch/>
        </p:blipFill>
        <p:spPr bwMode="auto">
          <a:xfrm>
            <a:off x="3995936" y="3714003"/>
            <a:ext cx="5148064" cy="314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79512" y="1268760"/>
            <a:ext cx="7848872" cy="5040560"/>
          </a:xfrm>
        </p:spPr>
        <p:txBody>
          <a:bodyPr>
            <a:normAutofit/>
          </a:bodyPr>
          <a:lstStyle/>
          <a:p>
            <a:r>
              <a:rPr lang="en-AU" sz="2000" dirty="0"/>
              <a:t>Gene mutations: </a:t>
            </a:r>
            <a:r>
              <a:rPr lang="en-AU" sz="1600" dirty="0"/>
              <a:t>Occurs during DNA replication before cell division.  Normally mistakes are corrected but if not, hen the cell divides, it copies the mistake.</a:t>
            </a:r>
          </a:p>
          <a:p>
            <a:r>
              <a:rPr lang="en-AU" sz="2000" dirty="0"/>
              <a:t>Chromosomal mutations: </a:t>
            </a:r>
            <a:endParaRPr lang="en-AU" dirty="0"/>
          </a:p>
          <a:p>
            <a:pPr lvl="1"/>
            <a:r>
              <a:rPr lang="en-AU" sz="1600" dirty="0"/>
              <a:t>Depletion: part of chromosome is lost</a:t>
            </a:r>
          </a:p>
          <a:p>
            <a:pPr lvl="1"/>
            <a:r>
              <a:rPr lang="en-AU" sz="1600" dirty="0"/>
              <a:t>Duplication: part of chromosome occurs twice</a:t>
            </a:r>
          </a:p>
          <a:p>
            <a:pPr lvl="1"/>
            <a:r>
              <a:rPr lang="en-AU" sz="1600" dirty="0"/>
              <a:t>Inversion: breaks occur in the chromosome, and broken parts join in the wrong way round.</a:t>
            </a:r>
          </a:p>
          <a:p>
            <a:pPr lvl="1"/>
            <a:r>
              <a:rPr lang="en-AU" sz="1600" dirty="0"/>
              <a:t>Translocation: break occurs in chromosome and broken parts join the wrong chromosome</a:t>
            </a:r>
          </a:p>
          <a:p>
            <a:pPr lvl="1"/>
            <a:r>
              <a:rPr lang="en-AU" sz="1600" dirty="0"/>
              <a:t>Non-disjunction:  During meiosis, </a:t>
            </a:r>
            <a:br>
              <a:rPr lang="en-AU" sz="1600" dirty="0"/>
            </a:br>
            <a:r>
              <a:rPr lang="en-AU" sz="1600" dirty="0"/>
              <a:t>chromosome pair does not separate </a:t>
            </a:r>
            <a:br>
              <a:rPr lang="en-AU" sz="1600" dirty="0"/>
            </a:br>
            <a:r>
              <a:rPr lang="en-AU" sz="1600" dirty="0"/>
              <a:t>so one daughter cell has one extra </a:t>
            </a:r>
            <a:br>
              <a:rPr lang="en-AU" sz="1600" dirty="0"/>
            </a:br>
            <a:r>
              <a:rPr lang="en-AU" sz="1600" dirty="0"/>
              <a:t>chromosome and one daughter cell </a:t>
            </a:r>
            <a:br>
              <a:rPr lang="en-AU" sz="1600" dirty="0"/>
            </a:br>
            <a:r>
              <a:rPr lang="en-AU" sz="1600" dirty="0"/>
              <a:t>has one less chromosome.</a:t>
            </a:r>
          </a:p>
        </p:txBody>
      </p:sp>
    </p:spTree>
    <p:extLst>
      <p:ext uri="{BB962C8B-B14F-4D97-AF65-F5344CB8AC3E}">
        <p14:creationId xmlns:p14="http://schemas.microsoft.com/office/powerpoint/2010/main" val="2612750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Effects of mutations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Albinism</a:t>
            </a:r>
          </a:p>
          <a:p>
            <a:r>
              <a:rPr lang="en-AU" dirty="0"/>
              <a:t>Duchenne dystrophy</a:t>
            </a:r>
          </a:p>
          <a:p>
            <a:r>
              <a:rPr lang="en-AU" dirty="0"/>
              <a:t>Cystic fibrosis</a:t>
            </a:r>
          </a:p>
          <a:p>
            <a:r>
              <a:rPr lang="en-AU" dirty="0"/>
              <a:t>Haemophilia</a:t>
            </a:r>
          </a:p>
          <a:p>
            <a:r>
              <a:rPr lang="en-AU" dirty="0"/>
              <a:t>Sickle cell anaemia</a:t>
            </a:r>
          </a:p>
          <a:p>
            <a:r>
              <a:rPr lang="en-AU" dirty="0" err="1"/>
              <a:t>Tay</a:t>
            </a:r>
            <a:r>
              <a:rPr lang="en-AU" dirty="0"/>
              <a:t>-Sachs disease</a:t>
            </a:r>
          </a:p>
          <a:p>
            <a:r>
              <a:rPr lang="en-AU" dirty="0"/>
              <a:t>Phenylketonuria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753571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593</TotalTime>
  <Words>307</Words>
  <Application>Microsoft Office PowerPoint</Application>
  <PresentationFormat>On-screen Show (4:3)</PresentationFormat>
  <Paragraphs>49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Garamond</vt:lpstr>
      <vt:lpstr>Adjacency</vt:lpstr>
      <vt:lpstr>Genes and Mutations</vt:lpstr>
      <vt:lpstr>What are we doing today?</vt:lpstr>
      <vt:lpstr>Genes</vt:lpstr>
      <vt:lpstr>Genotypes and Phenotypes</vt:lpstr>
      <vt:lpstr>Mutations</vt:lpstr>
      <vt:lpstr>Mutagens</vt:lpstr>
      <vt:lpstr>Types of mutations</vt:lpstr>
      <vt:lpstr>How do mutations occur</vt:lpstr>
      <vt:lpstr>Effects of mutations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 Inquiry Skills</dc:title>
  <dc:creator>BRUNS Emma</dc:creator>
  <cp:lastModifiedBy>Ivan Opacak</cp:lastModifiedBy>
  <cp:revision>66</cp:revision>
  <dcterms:created xsi:type="dcterms:W3CDTF">2018-02-02T00:28:02Z</dcterms:created>
  <dcterms:modified xsi:type="dcterms:W3CDTF">2021-05-24T02:09:10Z</dcterms:modified>
</cp:coreProperties>
</file>
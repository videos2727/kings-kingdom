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9" r:id="rId4"/>
    <p:sldId id="260" r:id="rId5"/>
    <p:sldId id="271" r:id="rId6"/>
    <p:sldId id="269" r:id="rId7"/>
    <p:sldId id="272" r:id="rId8"/>
    <p:sldId id="270" r:id="rId9"/>
    <p:sldId id="273" r:id="rId10"/>
    <p:sldId id="263" r:id="rId11"/>
    <p:sldId id="274" r:id="rId12"/>
    <p:sldId id="264" r:id="rId13"/>
    <p:sldId id="275" r:id="rId14"/>
    <p:sldId id="276"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51"/>
  </p:normalViewPr>
  <p:slideViewPr>
    <p:cSldViewPr snapToGrid="0" snapToObjects="1">
      <p:cViewPr varScale="1">
        <p:scale>
          <a:sx n="90" d="100"/>
          <a:sy n="90" d="100"/>
        </p:scale>
        <p:origin x="232"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2CB61-EE5B-4A3F-B572-497F6A4F2FD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261FA9A-A00A-4BBF-9282-4BCBE5CFCD23}">
      <dgm:prSet custT="1"/>
      <dgm:spPr/>
      <dgm:t>
        <a:bodyPr/>
        <a:lstStyle/>
        <a:p>
          <a:r>
            <a:rPr lang="en-AU" sz="2400" dirty="0"/>
            <a:t>Populations are often kept apart by barriers that inhibit the amount of interbreeding. As no two environments are completely the same, the environmental pressures will result in slightly different characteristics being formed. With isolation causing the development of completely different gene pools. </a:t>
          </a:r>
          <a:endParaRPr lang="en-US" sz="2400" dirty="0"/>
        </a:p>
      </dgm:t>
    </dgm:pt>
    <dgm:pt modelId="{5AA88432-0921-4EDB-A85F-B24993585C0A}" type="parTrans" cxnId="{827E2D1C-27B4-4419-A15C-684EAF02645F}">
      <dgm:prSet/>
      <dgm:spPr/>
      <dgm:t>
        <a:bodyPr/>
        <a:lstStyle/>
        <a:p>
          <a:endParaRPr lang="en-US"/>
        </a:p>
      </dgm:t>
    </dgm:pt>
    <dgm:pt modelId="{57CAAC90-514D-4CC0-889C-8D4C132E87D5}" type="sibTrans" cxnId="{827E2D1C-27B4-4419-A15C-684EAF02645F}">
      <dgm:prSet/>
      <dgm:spPr/>
      <dgm:t>
        <a:bodyPr/>
        <a:lstStyle/>
        <a:p>
          <a:endParaRPr lang="en-US"/>
        </a:p>
      </dgm:t>
    </dgm:pt>
    <dgm:pt modelId="{654BA161-4699-4410-ADF6-BD5462571E67}">
      <dgm:prSet custT="1"/>
      <dgm:spPr/>
      <dgm:t>
        <a:bodyPr/>
        <a:lstStyle/>
        <a:p>
          <a:endParaRPr lang="en-AU" sz="2400" dirty="0"/>
        </a:p>
        <a:p>
          <a:r>
            <a:rPr lang="en-AU" sz="2400" dirty="0"/>
            <a:t>These have two types of barriers. Geographical Barriers (Allopatric Speciation) or Sociocultural Barriers (Sympatric Speciation) </a:t>
          </a:r>
          <a:endParaRPr lang="en-US" sz="2400" dirty="0"/>
        </a:p>
      </dgm:t>
    </dgm:pt>
    <dgm:pt modelId="{7709A7F7-A444-4EE1-A10F-C21352C51CBA}" type="parTrans" cxnId="{36AD2E1D-E2B8-4D22-AAAC-760D579677BC}">
      <dgm:prSet/>
      <dgm:spPr/>
      <dgm:t>
        <a:bodyPr/>
        <a:lstStyle/>
        <a:p>
          <a:endParaRPr lang="en-US"/>
        </a:p>
      </dgm:t>
    </dgm:pt>
    <dgm:pt modelId="{4B3375C1-C608-4D9C-8A51-38BB5C7B6D68}" type="sibTrans" cxnId="{36AD2E1D-E2B8-4D22-AAAC-760D579677BC}">
      <dgm:prSet/>
      <dgm:spPr/>
      <dgm:t>
        <a:bodyPr/>
        <a:lstStyle/>
        <a:p>
          <a:endParaRPr lang="en-US"/>
        </a:p>
      </dgm:t>
    </dgm:pt>
    <dgm:pt modelId="{2F247895-051E-5046-AEB6-BE952A0ADCFE}" type="pres">
      <dgm:prSet presAssocID="{D802CB61-EE5B-4A3F-B572-497F6A4F2FDC}" presName="vert0" presStyleCnt="0">
        <dgm:presLayoutVars>
          <dgm:dir/>
          <dgm:animOne val="branch"/>
          <dgm:animLvl val="lvl"/>
        </dgm:presLayoutVars>
      </dgm:prSet>
      <dgm:spPr/>
    </dgm:pt>
    <dgm:pt modelId="{1597C033-8EA3-F845-8962-88BA019941E9}" type="pres">
      <dgm:prSet presAssocID="{F261FA9A-A00A-4BBF-9282-4BCBE5CFCD23}" presName="thickLine" presStyleLbl="alignNode1" presStyleIdx="0" presStyleCnt="2"/>
      <dgm:spPr/>
    </dgm:pt>
    <dgm:pt modelId="{A492BF6E-5C69-C24A-9F9D-42E62CAA17BD}" type="pres">
      <dgm:prSet presAssocID="{F261FA9A-A00A-4BBF-9282-4BCBE5CFCD23}" presName="horz1" presStyleCnt="0"/>
      <dgm:spPr/>
    </dgm:pt>
    <dgm:pt modelId="{E9306776-BE0C-EF44-88B4-78E131A95B83}" type="pres">
      <dgm:prSet presAssocID="{F261FA9A-A00A-4BBF-9282-4BCBE5CFCD23}" presName="tx1" presStyleLbl="revTx" presStyleIdx="0" presStyleCnt="2"/>
      <dgm:spPr/>
    </dgm:pt>
    <dgm:pt modelId="{375D6844-6E22-A340-AD55-C2E1512A4A92}" type="pres">
      <dgm:prSet presAssocID="{F261FA9A-A00A-4BBF-9282-4BCBE5CFCD23}" presName="vert1" presStyleCnt="0"/>
      <dgm:spPr/>
    </dgm:pt>
    <dgm:pt modelId="{C66794BE-E7D9-2C4C-AD7F-5155EAA49F09}" type="pres">
      <dgm:prSet presAssocID="{654BA161-4699-4410-ADF6-BD5462571E67}" presName="thickLine" presStyleLbl="alignNode1" presStyleIdx="1" presStyleCnt="2" custLinFactNeighborY="6425"/>
      <dgm:spPr/>
    </dgm:pt>
    <dgm:pt modelId="{CD2901AE-A78F-F945-90D3-4E228C88FFBF}" type="pres">
      <dgm:prSet presAssocID="{654BA161-4699-4410-ADF6-BD5462571E67}" presName="horz1" presStyleCnt="0"/>
      <dgm:spPr/>
    </dgm:pt>
    <dgm:pt modelId="{BA67A1DD-9DB9-0A41-91A8-39507B4A9150}" type="pres">
      <dgm:prSet presAssocID="{654BA161-4699-4410-ADF6-BD5462571E67}" presName="tx1" presStyleLbl="revTx" presStyleIdx="1" presStyleCnt="2"/>
      <dgm:spPr/>
    </dgm:pt>
    <dgm:pt modelId="{5F35C5E1-6F0F-9B4B-9A84-78261F6B558C}" type="pres">
      <dgm:prSet presAssocID="{654BA161-4699-4410-ADF6-BD5462571E67}" presName="vert1" presStyleCnt="0"/>
      <dgm:spPr/>
    </dgm:pt>
  </dgm:ptLst>
  <dgm:cxnLst>
    <dgm:cxn modelId="{827E2D1C-27B4-4419-A15C-684EAF02645F}" srcId="{D802CB61-EE5B-4A3F-B572-497F6A4F2FDC}" destId="{F261FA9A-A00A-4BBF-9282-4BCBE5CFCD23}" srcOrd="0" destOrd="0" parTransId="{5AA88432-0921-4EDB-A85F-B24993585C0A}" sibTransId="{57CAAC90-514D-4CC0-889C-8D4C132E87D5}"/>
    <dgm:cxn modelId="{36AD2E1D-E2B8-4D22-AAAC-760D579677BC}" srcId="{D802CB61-EE5B-4A3F-B572-497F6A4F2FDC}" destId="{654BA161-4699-4410-ADF6-BD5462571E67}" srcOrd="1" destOrd="0" parTransId="{7709A7F7-A444-4EE1-A10F-C21352C51CBA}" sibTransId="{4B3375C1-C608-4D9C-8A51-38BB5C7B6D68}"/>
    <dgm:cxn modelId="{8C363321-FA79-D449-81A5-3C11918107E4}" type="presOf" srcId="{654BA161-4699-4410-ADF6-BD5462571E67}" destId="{BA67A1DD-9DB9-0A41-91A8-39507B4A9150}" srcOrd="0" destOrd="0" presId="urn:microsoft.com/office/officeart/2008/layout/LinedList"/>
    <dgm:cxn modelId="{6B29A42B-73BD-174C-87B5-62D1D6581E17}" type="presOf" srcId="{D802CB61-EE5B-4A3F-B572-497F6A4F2FDC}" destId="{2F247895-051E-5046-AEB6-BE952A0ADCFE}" srcOrd="0" destOrd="0" presId="urn:microsoft.com/office/officeart/2008/layout/LinedList"/>
    <dgm:cxn modelId="{52867791-AA95-4D49-8CA3-76AB0984C3AE}" type="presOf" srcId="{F261FA9A-A00A-4BBF-9282-4BCBE5CFCD23}" destId="{E9306776-BE0C-EF44-88B4-78E131A95B83}" srcOrd="0" destOrd="0" presId="urn:microsoft.com/office/officeart/2008/layout/LinedList"/>
    <dgm:cxn modelId="{32542C2A-453E-BF48-B833-28E0699732CE}" type="presParOf" srcId="{2F247895-051E-5046-AEB6-BE952A0ADCFE}" destId="{1597C033-8EA3-F845-8962-88BA019941E9}" srcOrd="0" destOrd="0" presId="urn:microsoft.com/office/officeart/2008/layout/LinedList"/>
    <dgm:cxn modelId="{3C14F13C-B911-094F-8747-B6123E7BED3F}" type="presParOf" srcId="{2F247895-051E-5046-AEB6-BE952A0ADCFE}" destId="{A492BF6E-5C69-C24A-9F9D-42E62CAA17BD}" srcOrd="1" destOrd="0" presId="urn:microsoft.com/office/officeart/2008/layout/LinedList"/>
    <dgm:cxn modelId="{EFB93249-3EAF-5749-A0E8-DF11D45B36CA}" type="presParOf" srcId="{A492BF6E-5C69-C24A-9F9D-42E62CAA17BD}" destId="{E9306776-BE0C-EF44-88B4-78E131A95B83}" srcOrd="0" destOrd="0" presId="urn:microsoft.com/office/officeart/2008/layout/LinedList"/>
    <dgm:cxn modelId="{FFF4EE9A-E3E5-D04A-B9E9-0E1A4C8DA6EE}" type="presParOf" srcId="{A492BF6E-5C69-C24A-9F9D-42E62CAA17BD}" destId="{375D6844-6E22-A340-AD55-C2E1512A4A92}" srcOrd="1" destOrd="0" presId="urn:microsoft.com/office/officeart/2008/layout/LinedList"/>
    <dgm:cxn modelId="{6A5AF9C5-69FF-B24E-BC7C-B7B3C4D13C5C}" type="presParOf" srcId="{2F247895-051E-5046-AEB6-BE952A0ADCFE}" destId="{C66794BE-E7D9-2C4C-AD7F-5155EAA49F09}" srcOrd="2" destOrd="0" presId="urn:microsoft.com/office/officeart/2008/layout/LinedList"/>
    <dgm:cxn modelId="{EDFFF2A4-2AF7-C246-86DC-9C1787802A22}" type="presParOf" srcId="{2F247895-051E-5046-AEB6-BE952A0ADCFE}" destId="{CD2901AE-A78F-F945-90D3-4E228C88FFBF}" srcOrd="3" destOrd="0" presId="urn:microsoft.com/office/officeart/2008/layout/LinedList"/>
    <dgm:cxn modelId="{44ACF144-2513-7843-93BC-D0F7BCFED7D1}" type="presParOf" srcId="{CD2901AE-A78F-F945-90D3-4E228C88FFBF}" destId="{BA67A1DD-9DB9-0A41-91A8-39507B4A9150}" srcOrd="0" destOrd="0" presId="urn:microsoft.com/office/officeart/2008/layout/LinedList"/>
    <dgm:cxn modelId="{8EF10936-4D17-1F42-8EC7-FAFDC448DC88}" type="presParOf" srcId="{CD2901AE-A78F-F945-90D3-4E228C88FFBF}" destId="{5F35C5E1-6F0F-9B4B-9A84-78261F6B558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97C033-8EA3-F845-8962-88BA019941E9}">
      <dsp:nvSpPr>
        <dsp:cNvPr id="0" name=""/>
        <dsp:cNvSpPr/>
      </dsp:nvSpPr>
      <dsp:spPr>
        <a:xfrm>
          <a:off x="0" y="0"/>
          <a:ext cx="1031748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306776-BE0C-EF44-88B4-78E131A95B83}">
      <dsp:nvSpPr>
        <dsp:cNvPr id="0" name=""/>
        <dsp:cNvSpPr/>
      </dsp:nvSpPr>
      <dsp:spPr>
        <a:xfrm>
          <a:off x="0" y="0"/>
          <a:ext cx="10317480" cy="160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dirty="0"/>
            <a:t>Populations are often kept apart by barriers that inhibit the amount of interbreeding. As no two environments are completely the same, the environmental pressures will result in slightly different characteristics being formed. With isolation causing the development of completely different gene pools. </a:t>
          </a:r>
          <a:endParaRPr lang="en-US" sz="2400" kern="1200" dirty="0"/>
        </a:p>
      </dsp:txBody>
      <dsp:txXfrm>
        <a:off x="0" y="0"/>
        <a:ext cx="10317480" cy="1601173"/>
      </dsp:txXfrm>
    </dsp:sp>
    <dsp:sp modelId="{C66794BE-E7D9-2C4C-AD7F-5155EAA49F09}">
      <dsp:nvSpPr>
        <dsp:cNvPr id="0" name=""/>
        <dsp:cNvSpPr/>
      </dsp:nvSpPr>
      <dsp:spPr>
        <a:xfrm>
          <a:off x="0" y="1704048"/>
          <a:ext cx="1031748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67A1DD-9DB9-0A41-91A8-39507B4A9150}">
      <dsp:nvSpPr>
        <dsp:cNvPr id="0" name=""/>
        <dsp:cNvSpPr/>
      </dsp:nvSpPr>
      <dsp:spPr>
        <a:xfrm>
          <a:off x="0" y="1601173"/>
          <a:ext cx="10317480" cy="160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endParaRPr lang="en-AU" sz="2400" kern="1200" dirty="0"/>
        </a:p>
        <a:p>
          <a:pPr marL="0" lvl="0" indent="0" algn="l" defTabSz="1066800">
            <a:lnSpc>
              <a:spcPct val="90000"/>
            </a:lnSpc>
            <a:spcBef>
              <a:spcPct val="0"/>
            </a:spcBef>
            <a:spcAft>
              <a:spcPct val="35000"/>
            </a:spcAft>
            <a:buNone/>
          </a:pPr>
          <a:r>
            <a:rPr lang="en-AU" sz="2400" kern="1200" dirty="0"/>
            <a:t>These have two types of barriers. Geographical Barriers (Allopatric Speciation) or Sociocultural Barriers (Sympatric Speciation) </a:t>
          </a:r>
          <a:endParaRPr lang="en-US" sz="2400" kern="1200" dirty="0"/>
        </a:p>
      </dsp:txBody>
      <dsp:txXfrm>
        <a:off x="0" y="1601173"/>
        <a:ext cx="10317480" cy="160117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6/9/21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6/9/21</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5EAD-02F9-604E-8022-1B7DBA25F90C}"/>
              </a:ext>
            </a:extLst>
          </p:cNvPr>
          <p:cNvSpPr>
            <a:spLocks noGrp="1"/>
          </p:cNvSpPr>
          <p:nvPr>
            <p:ph type="ctrTitle"/>
          </p:nvPr>
        </p:nvSpPr>
        <p:spPr/>
        <p:txBody>
          <a:bodyPr/>
          <a:lstStyle/>
          <a:p>
            <a:r>
              <a:rPr lang="en-US" dirty="0"/>
              <a:t>Gene Pools</a:t>
            </a:r>
          </a:p>
        </p:txBody>
      </p:sp>
    </p:spTree>
    <p:extLst>
      <p:ext uri="{BB962C8B-B14F-4D97-AF65-F5344CB8AC3E}">
        <p14:creationId xmlns:p14="http://schemas.microsoft.com/office/powerpoint/2010/main" val="493052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0A2B597-0F3F-3547-B958-EFAF69F09F6F}"/>
              </a:ext>
            </a:extLst>
          </p:cNvPr>
          <p:cNvSpPr>
            <a:spLocks noGrp="1"/>
          </p:cNvSpPr>
          <p:nvPr>
            <p:ph type="title"/>
          </p:nvPr>
        </p:nvSpPr>
        <p:spPr>
          <a:xfrm>
            <a:off x="1600754" y="1087374"/>
            <a:ext cx="8983489" cy="1000978"/>
          </a:xfrm>
        </p:spPr>
        <p:txBody>
          <a:bodyPr>
            <a:normAutofit/>
          </a:bodyPr>
          <a:lstStyle/>
          <a:p>
            <a:r>
              <a:rPr lang="en-US" dirty="0"/>
              <a:t>Learning Objectives: </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6609E192-D834-634B-99C6-C71F963E2BCA}"/>
              </a:ext>
            </a:extLst>
          </p:cNvPr>
          <p:cNvSpPr>
            <a:spLocks noGrp="1"/>
          </p:cNvSpPr>
          <p:nvPr>
            <p:ph idx="1"/>
          </p:nvPr>
        </p:nvSpPr>
        <p:spPr>
          <a:xfrm>
            <a:off x="1600753" y="2761863"/>
            <a:ext cx="8983489" cy="3554457"/>
          </a:xfrm>
        </p:spPr>
        <p:txBody>
          <a:bodyPr>
            <a:normAutofit lnSpcReduction="10000"/>
          </a:bodyPr>
          <a:lstStyle/>
          <a:p>
            <a:r>
              <a:rPr lang="en-GB" sz="2400" dirty="0">
                <a:solidFill>
                  <a:schemeClr val="tx1"/>
                </a:solidFill>
              </a:rPr>
              <a:t>Explain how gene pools are dynamic, with changes in allele frequency caused by mutations, differing selection pressures, random genetic drift, including the founder effect, and changes in gene flow between adjoining groups </a:t>
            </a:r>
          </a:p>
          <a:p>
            <a:endParaRPr lang="en-GB" sz="2400" dirty="0">
              <a:solidFill>
                <a:schemeClr val="tx1"/>
              </a:solidFill>
            </a:endParaRPr>
          </a:p>
          <a:p>
            <a:pPr marL="0" indent="0">
              <a:buNone/>
            </a:pPr>
            <a:endParaRPr lang="en-AU" sz="2400" dirty="0">
              <a:solidFill>
                <a:schemeClr val="tx1"/>
              </a:solidFill>
            </a:endParaRPr>
          </a:p>
          <a:p>
            <a:r>
              <a:rPr lang="en-AU" sz="2400" dirty="0">
                <a:solidFill>
                  <a:schemeClr val="tx1"/>
                </a:solidFill>
              </a:rPr>
              <a:t>Explain how </a:t>
            </a:r>
            <a:r>
              <a:rPr lang="en-GB" sz="2400" dirty="0">
                <a:solidFill>
                  <a:schemeClr val="tx1"/>
                </a:solidFill>
              </a:rPr>
              <a:t>the incidence of genetic diseases in particular populations illustrates the effects of different factors on the dynamics of gene pools, including the incidence of Tay-Sachs disease, thalassemia (α and β) and sickle-cell anaemia </a:t>
            </a:r>
            <a:endParaRPr lang="en-AU" sz="2400"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803704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88D7-B1B0-B14A-8C4D-69BDE16C5F21}"/>
              </a:ext>
            </a:extLst>
          </p:cNvPr>
          <p:cNvSpPr>
            <a:spLocks noGrp="1"/>
          </p:cNvSpPr>
          <p:nvPr>
            <p:ph type="title"/>
          </p:nvPr>
        </p:nvSpPr>
        <p:spPr>
          <a:xfrm>
            <a:off x="252919" y="1123837"/>
            <a:ext cx="2947482" cy="4601183"/>
          </a:xfrm>
        </p:spPr>
        <p:txBody>
          <a:bodyPr>
            <a:normAutofit/>
          </a:bodyPr>
          <a:lstStyle/>
          <a:p>
            <a:r>
              <a:rPr lang="en-US" dirty="0"/>
              <a:t>Natural Selection: </a:t>
            </a:r>
          </a:p>
        </p:txBody>
      </p:sp>
      <p:sp>
        <p:nvSpPr>
          <p:cNvPr id="3" name="Content Placeholder 2">
            <a:extLst>
              <a:ext uri="{FF2B5EF4-FFF2-40B4-BE49-F238E27FC236}">
                <a16:creationId xmlns:a16="http://schemas.microsoft.com/office/drawing/2014/main" id="{5890981F-ED4C-EF4D-8A9D-1BB5FF885B01}"/>
              </a:ext>
            </a:extLst>
          </p:cNvPr>
          <p:cNvSpPr>
            <a:spLocks noGrp="1"/>
          </p:cNvSpPr>
          <p:nvPr>
            <p:ph idx="1"/>
          </p:nvPr>
        </p:nvSpPr>
        <p:spPr>
          <a:xfrm>
            <a:off x="3869268" y="864108"/>
            <a:ext cx="7315200" cy="2998765"/>
          </a:xfrm>
        </p:spPr>
        <p:txBody>
          <a:bodyPr>
            <a:normAutofit/>
          </a:bodyPr>
          <a:lstStyle/>
          <a:p>
            <a:r>
              <a:rPr lang="en-AU" sz="2400" dirty="0"/>
              <a:t>This is the process by which a species becomes better adapted to its environment; those individuals with favourable characteristics have a survival advantage and so pass those characteristics on to subsequent generations. This is also a major cause of change to allele frequencies in a gene pool. </a:t>
            </a:r>
          </a:p>
          <a:p>
            <a:r>
              <a:rPr lang="en-US" sz="2400" dirty="0"/>
              <a:t>This is a major cause of changes in allele frequencies. </a:t>
            </a:r>
          </a:p>
          <a:p>
            <a:endParaRPr lang="en-US" dirty="0"/>
          </a:p>
        </p:txBody>
      </p:sp>
      <p:pic>
        <p:nvPicPr>
          <p:cNvPr id="5" name="Picture 4" descr="A picture containing text, clipart&#10;&#10;Description automatically generated">
            <a:extLst>
              <a:ext uri="{FF2B5EF4-FFF2-40B4-BE49-F238E27FC236}">
                <a16:creationId xmlns:a16="http://schemas.microsoft.com/office/drawing/2014/main" id="{0E9DB47B-00DA-2645-B848-E35DD05506BF}"/>
              </a:ext>
            </a:extLst>
          </p:cNvPr>
          <p:cNvPicPr>
            <a:picLocks noChangeAspect="1"/>
          </p:cNvPicPr>
          <p:nvPr/>
        </p:nvPicPr>
        <p:blipFill>
          <a:blip r:embed="rId2"/>
          <a:stretch>
            <a:fillRect/>
          </a:stretch>
        </p:blipFill>
        <p:spPr>
          <a:xfrm>
            <a:off x="3869268" y="3429000"/>
            <a:ext cx="7715250" cy="2666003"/>
          </a:xfrm>
          <a:prstGeom prst="rect">
            <a:avLst/>
          </a:prstGeom>
        </p:spPr>
      </p:pic>
    </p:spTree>
    <p:extLst>
      <p:ext uri="{BB962C8B-B14F-4D97-AF65-F5344CB8AC3E}">
        <p14:creationId xmlns:p14="http://schemas.microsoft.com/office/powerpoint/2010/main" val="84147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11CB3-AFB7-6142-83B1-56C9480CEB50}"/>
              </a:ext>
            </a:extLst>
          </p:cNvPr>
          <p:cNvSpPr>
            <a:spLocks noGrp="1"/>
          </p:cNvSpPr>
          <p:nvPr>
            <p:ph type="title"/>
          </p:nvPr>
        </p:nvSpPr>
        <p:spPr>
          <a:xfrm>
            <a:off x="252919" y="1123837"/>
            <a:ext cx="2947482" cy="4601183"/>
          </a:xfrm>
        </p:spPr>
        <p:txBody>
          <a:bodyPr>
            <a:normAutofit/>
          </a:bodyPr>
          <a:lstStyle/>
          <a:p>
            <a:r>
              <a:rPr lang="en-US" dirty="0"/>
              <a:t>Random Genetic Drift: </a:t>
            </a:r>
          </a:p>
        </p:txBody>
      </p:sp>
      <p:sp>
        <p:nvSpPr>
          <p:cNvPr id="3" name="Content Placeholder 2">
            <a:extLst>
              <a:ext uri="{FF2B5EF4-FFF2-40B4-BE49-F238E27FC236}">
                <a16:creationId xmlns:a16="http://schemas.microsoft.com/office/drawing/2014/main" id="{8AEC6E5C-421E-B146-9262-C2303C582D8D}"/>
              </a:ext>
            </a:extLst>
          </p:cNvPr>
          <p:cNvSpPr>
            <a:spLocks noGrp="1"/>
          </p:cNvSpPr>
          <p:nvPr>
            <p:ph idx="1"/>
          </p:nvPr>
        </p:nvSpPr>
        <p:spPr>
          <a:xfrm>
            <a:off x="3514726" y="698630"/>
            <a:ext cx="8258174" cy="3462823"/>
          </a:xfrm>
        </p:spPr>
        <p:txBody>
          <a:bodyPr>
            <a:normAutofit lnSpcReduction="10000"/>
          </a:bodyPr>
          <a:lstStyle/>
          <a:p>
            <a:r>
              <a:rPr lang="en-AU" sz="2400" dirty="0"/>
              <a:t>The occurrence of characteristics in a population as a result of chance rather than natural selection; occurs only in small populations; also called Sewall Wright effect. </a:t>
            </a:r>
          </a:p>
          <a:p>
            <a:r>
              <a:rPr lang="en-AU" sz="2400" dirty="0"/>
              <a:t>Purely a chance occurrence; for example, having 50 people with brown eyes and 50 people with blue eyes, having a total of 100 balls and selecting 50 at random. In which the result is 30 Blue eyed individuals and 20 brown eyed individuals. Making blue eyes the dominant allele. </a:t>
            </a:r>
          </a:p>
          <a:p>
            <a:r>
              <a:rPr lang="en-US" sz="2400" dirty="0"/>
              <a:t>There are two sub-categories of Random Genetic Drift that can occur as well (The Founder Effect and Bottleneck Effect).</a:t>
            </a:r>
          </a:p>
        </p:txBody>
      </p:sp>
      <p:pic>
        <p:nvPicPr>
          <p:cNvPr id="1026" name="Picture 2" descr="Genetic drift - CreationWiki, the encyclopedia of creation science">
            <a:extLst>
              <a:ext uri="{FF2B5EF4-FFF2-40B4-BE49-F238E27FC236}">
                <a16:creationId xmlns:a16="http://schemas.microsoft.com/office/drawing/2014/main" id="{1B024F99-3694-BB42-8086-F4D6AAD03C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14726" y="4161453"/>
            <a:ext cx="8258174" cy="2393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358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3577A01-3DD8-4E33-BEE1-3065F7E6F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9599"/>
            <a:ext cx="7052486"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6C6AF34-1668-7449-B143-5D7A742668FC}"/>
              </a:ext>
            </a:extLst>
          </p:cNvPr>
          <p:cNvSpPr>
            <a:spLocks noGrp="1"/>
          </p:cNvSpPr>
          <p:nvPr>
            <p:ph type="title"/>
          </p:nvPr>
        </p:nvSpPr>
        <p:spPr>
          <a:xfrm>
            <a:off x="289248" y="1123837"/>
            <a:ext cx="6451110" cy="1255469"/>
          </a:xfrm>
        </p:spPr>
        <p:txBody>
          <a:bodyPr>
            <a:normAutofit/>
          </a:bodyPr>
          <a:lstStyle/>
          <a:p>
            <a:r>
              <a:rPr lang="en-US" dirty="0"/>
              <a:t>An Example of Genetic Drift: </a:t>
            </a:r>
          </a:p>
        </p:txBody>
      </p:sp>
      <p:sp>
        <p:nvSpPr>
          <p:cNvPr id="3" name="Content Placeholder 2">
            <a:extLst>
              <a:ext uri="{FF2B5EF4-FFF2-40B4-BE49-F238E27FC236}">
                <a16:creationId xmlns:a16="http://schemas.microsoft.com/office/drawing/2014/main" id="{CF747C53-5A48-824E-9921-5407ABABEDD0}"/>
              </a:ext>
            </a:extLst>
          </p:cNvPr>
          <p:cNvSpPr>
            <a:spLocks noGrp="1"/>
          </p:cNvSpPr>
          <p:nvPr>
            <p:ph idx="1"/>
          </p:nvPr>
        </p:nvSpPr>
        <p:spPr>
          <a:xfrm>
            <a:off x="289248" y="2510395"/>
            <a:ext cx="6451109" cy="3274586"/>
          </a:xfrm>
        </p:spPr>
        <p:txBody>
          <a:bodyPr anchor="t">
            <a:normAutofit lnSpcReduction="10000"/>
          </a:bodyPr>
          <a:lstStyle/>
          <a:p>
            <a:r>
              <a:rPr lang="en-AU" sz="2400" dirty="0">
                <a:solidFill>
                  <a:srgbClr val="FFFFFF"/>
                </a:solidFill>
              </a:rPr>
              <a:t>The indigenous populations on the islands of Mornington and Bentinck experienced this type of shift in allele frequency, where the sea level had risen cutting them off from the mainland, but the Mornington population was still able to get to the mainland with ease. This resulted in the communities on Bentinck Island developing blood group frequencies different to the rest of the aboriginal populations in Australia (showing a high allele frequency for </a:t>
            </a:r>
            <a:r>
              <a:rPr lang="en-AU" sz="2400" i="1" dirty="0">
                <a:solidFill>
                  <a:srgbClr val="FFFFFF"/>
                </a:solidFill>
              </a:rPr>
              <a:t>I</a:t>
            </a:r>
            <a:r>
              <a:rPr lang="en-AU" sz="2400" i="1" baseline="30000" dirty="0">
                <a:solidFill>
                  <a:srgbClr val="FFFFFF"/>
                </a:solidFill>
              </a:rPr>
              <a:t>B</a:t>
            </a:r>
            <a:r>
              <a:rPr lang="en-AU" sz="2400" dirty="0">
                <a:solidFill>
                  <a:srgbClr val="FFFFFF"/>
                </a:solidFill>
              </a:rPr>
              <a:t> and no </a:t>
            </a:r>
            <a:r>
              <a:rPr lang="en-AU" sz="2400" i="1" dirty="0">
                <a:solidFill>
                  <a:srgbClr val="FFFFFF"/>
                </a:solidFill>
              </a:rPr>
              <a:t>I</a:t>
            </a:r>
            <a:r>
              <a:rPr lang="en-AU" sz="2400" i="1" baseline="30000" dirty="0">
                <a:solidFill>
                  <a:srgbClr val="FFFFFF"/>
                </a:solidFill>
              </a:rPr>
              <a:t>A</a:t>
            </a:r>
            <a:r>
              <a:rPr lang="en-AU" sz="2400" dirty="0">
                <a:solidFill>
                  <a:srgbClr val="FFFFFF"/>
                </a:solidFill>
              </a:rPr>
              <a:t>).</a:t>
            </a:r>
          </a:p>
        </p:txBody>
      </p:sp>
      <p:pic>
        <p:nvPicPr>
          <p:cNvPr id="5" name="Picture 4" descr="A picture containing sky, outdoor, person, crowd&#10;&#10;Description automatically generated">
            <a:extLst>
              <a:ext uri="{FF2B5EF4-FFF2-40B4-BE49-F238E27FC236}">
                <a16:creationId xmlns:a16="http://schemas.microsoft.com/office/drawing/2014/main" id="{B291B042-C56D-D249-8FFF-CD27826D69C5}"/>
              </a:ext>
            </a:extLst>
          </p:cNvPr>
          <p:cNvPicPr>
            <a:picLocks noChangeAspect="1"/>
          </p:cNvPicPr>
          <p:nvPr/>
        </p:nvPicPr>
        <p:blipFill rotWithShape="1">
          <a:blip r:embed="rId2"/>
          <a:srcRect l="32899" r="31661" b="-1"/>
          <a:stretch/>
        </p:blipFill>
        <p:spPr>
          <a:xfrm>
            <a:off x="7545032" y="759599"/>
            <a:ext cx="3778286" cy="5330650"/>
          </a:xfrm>
          <a:prstGeom prst="rect">
            <a:avLst/>
          </a:prstGeom>
        </p:spPr>
      </p:pic>
    </p:spTree>
    <p:extLst>
      <p:ext uri="{BB962C8B-B14F-4D97-AF65-F5344CB8AC3E}">
        <p14:creationId xmlns:p14="http://schemas.microsoft.com/office/powerpoint/2010/main" val="298005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E9F5D7F-1BBC-4096-ADA7-AA9C9E4D28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D370DD-716B-4528-B475-331F84CEA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9514" y="758953"/>
            <a:ext cx="7052486"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ADCD73D-2AF6-4941-A4F9-F6A767611286}"/>
              </a:ext>
            </a:extLst>
          </p:cNvPr>
          <p:cNvSpPr>
            <a:spLocks noGrp="1"/>
          </p:cNvSpPr>
          <p:nvPr>
            <p:ph type="title"/>
          </p:nvPr>
        </p:nvSpPr>
        <p:spPr>
          <a:xfrm>
            <a:off x="5451642" y="1123837"/>
            <a:ext cx="6451110" cy="1255469"/>
          </a:xfrm>
        </p:spPr>
        <p:txBody>
          <a:bodyPr>
            <a:normAutofit/>
          </a:bodyPr>
          <a:lstStyle/>
          <a:p>
            <a:r>
              <a:rPr lang="en-US"/>
              <a:t>The Founder Effect</a:t>
            </a:r>
            <a:endParaRPr lang="en-US" dirty="0"/>
          </a:p>
        </p:txBody>
      </p:sp>
      <p:sp>
        <p:nvSpPr>
          <p:cNvPr id="23" name="Rectangle 22">
            <a:extLst>
              <a:ext uri="{FF2B5EF4-FFF2-40B4-BE49-F238E27FC236}">
                <a16:creationId xmlns:a16="http://schemas.microsoft.com/office/drawing/2014/main" id="{E79D076F-656A-4CD9-83AD-AF8F4B28C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descr="Diagram&#10;&#10;Description automatically generated">
            <a:extLst>
              <a:ext uri="{FF2B5EF4-FFF2-40B4-BE49-F238E27FC236}">
                <a16:creationId xmlns:a16="http://schemas.microsoft.com/office/drawing/2014/main" id="{315A3CA7-E84A-5E44-BD7C-435A1CB944DD}"/>
              </a:ext>
            </a:extLst>
          </p:cNvPr>
          <p:cNvPicPr>
            <a:picLocks noChangeAspect="1"/>
          </p:cNvPicPr>
          <p:nvPr/>
        </p:nvPicPr>
        <p:blipFill>
          <a:blip r:embed="rId2"/>
          <a:stretch>
            <a:fillRect/>
          </a:stretch>
        </p:blipFill>
        <p:spPr>
          <a:xfrm>
            <a:off x="-125024" y="2205990"/>
            <a:ext cx="5420602" cy="2248796"/>
          </a:xfrm>
          <a:prstGeom prst="rect">
            <a:avLst/>
          </a:prstGeom>
        </p:spPr>
      </p:pic>
      <p:sp>
        <p:nvSpPr>
          <p:cNvPr id="3" name="Content Placeholder 2">
            <a:extLst>
              <a:ext uri="{FF2B5EF4-FFF2-40B4-BE49-F238E27FC236}">
                <a16:creationId xmlns:a16="http://schemas.microsoft.com/office/drawing/2014/main" id="{226B0DA8-721B-1D4B-8E5A-88E12BD3BADD}"/>
              </a:ext>
            </a:extLst>
          </p:cNvPr>
          <p:cNvSpPr>
            <a:spLocks noGrp="1"/>
          </p:cNvSpPr>
          <p:nvPr>
            <p:ph idx="1"/>
          </p:nvPr>
        </p:nvSpPr>
        <p:spPr>
          <a:xfrm>
            <a:off x="5451642" y="2205990"/>
            <a:ext cx="6451111" cy="3578991"/>
          </a:xfrm>
        </p:spPr>
        <p:txBody>
          <a:bodyPr anchor="t">
            <a:normAutofit lnSpcReduction="10000"/>
          </a:bodyPr>
          <a:lstStyle/>
          <a:p>
            <a:r>
              <a:rPr lang="en-AU" sz="2400" dirty="0">
                <a:solidFill>
                  <a:srgbClr val="FFFFFF"/>
                </a:solidFill>
              </a:rPr>
              <a:t>A type of genetic drift that occurs when a new population is formed by a small number of individuals; the small size of the sample can cause marked deviations in allele frequencies from the original population. </a:t>
            </a:r>
          </a:p>
          <a:p>
            <a:pPr marL="0" indent="0">
              <a:buNone/>
            </a:pPr>
            <a:endParaRPr lang="en-AU" sz="2400" dirty="0">
              <a:solidFill>
                <a:srgbClr val="FFFFFF"/>
              </a:solidFill>
            </a:endParaRPr>
          </a:p>
          <a:p>
            <a:r>
              <a:rPr lang="en-AU" sz="2400" dirty="0">
                <a:solidFill>
                  <a:srgbClr val="FFFFFF"/>
                </a:solidFill>
              </a:rPr>
              <a:t>This effect is not generally a genetic representation of the population it came from. Showing features that are not typical of its homeland population. </a:t>
            </a:r>
          </a:p>
          <a:p>
            <a:endParaRPr lang="en-US" dirty="0">
              <a:solidFill>
                <a:srgbClr val="FFFFFF"/>
              </a:solidFill>
            </a:endParaRPr>
          </a:p>
        </p:txBody>
      </p:sp>
    </p:spTree>
    <p:extLst>
      <p:ext uri="{BB962C8B-B14F-4D97-AF65-F5344CB8AC3E}">
        <p14:creationId xmlns:p14="http://schemas.microsoft.com/office/powerpoint/2010/main" val="1981837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a:extLst>
              <a:ext uri="{FF2B5EF4-FFF2-40B4-BE49-F238E27FC236}">
                <a16:creationId xmlns:a16="http://schemas.microsoft.com/office/drawing/2014/main" id="{696A55C8-89F1-439D-863D-E208C0AC8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posing for a photo&#10;&#10;Description automatically generated">
            <a:extLst>
              <a:ext uri="{FF2B5EF4-FFF2-40B4-BE49-F238E27FC236}">
                <a16:creationId xmlns:a16="http://schemas.microsoft.com/office/drawing/2014/main" id="{DD5E8445-1A5D-2B47-9CEA-12CF135B0930}"/>
              </a:ext>
            </a:extLst>
          </p:cNvPr>
          <p:cNvPicPr>
            <a:picLocks noChangeAspect="1"/>
          </p:cNvPicPr>
          <p:nvPr/>
        </p:nvPicPr>
        <p:blipFill rotWithShape="1">
          <a:blip r:embed="rId2"/>
          <a:srcRect t="12940" r="9092" b="4894"/>
          <a:stretch/>
        </p:blipFill>
        <p:spPr>
          <a:xfrm>
            <a:off x="20" y="1"/>
            <a:ext cx="12188932" cy="6858000"/>
          </a:xfrm>
          <a:prstGeom prst="rect">
            <a:avLst/>
          </a:prstGeom>
        </p:spPr>
      </p:pic>
      <p:sp>
        <p:nvSpPr>
          <p:cNvPr id="12" name="Rectangle 11">
            <a:extLst>
              <a:ext uri="{FF2B5EF4-FFF2-40B4-BE49-F238E27FC236}">
                <a16:creationId xmlns:a16="http://schemas.microsoft.com/office/drawing/2014/main" id="{E4A1FD7E-EAEC-40B9-B75B-432F9DA75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609599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5E3C09F-6C0C-9947-8533-8228F2E6AD07}"/>
              </a:ext>
            </a:extLst>
          </p:cNvPr>
          <p:cNvSpPr>
            <a:spLocks noGrp="1"/>
          </p:cNvSpPr>
          <p:nvPr>
            <p:ph type="title"/>
          </p:nvPr>
        </p:nvSpPr>
        <p:spPr>
          <a:xfrm>
            <a:off x="289248" y="1123837"/>
            <a:ext cx="5218209" cy="1255469"/>
          </a:xfrm>
        </p:spPr>
        <p:txBody>
          <a:bodyPr>
            <a:normAutofit/>
          </a:bodyPr>
          <a:lstStyle/>
          <a:p>
            <a:r>
              <a:rPr lang="en-US" dirty="0"/>
              <a:t>An Example of the Founder Effect: </a:t>
            </a:r>
          </a:p>
        </p:txBody>
      </p:sp>
      <p:sp>
        <p:nvSpPr>
          <p:cNvPr id="3" name="Content Placeholder 2">
            <a:extLst>
              <a:ext uri="{FF2B5EF4-FFF2-40B4-BE49-F238E27FC236}">
                <a16:creationId xmlns:a16="http://schemas.microsoft.com/office/drawing/2014/main" id="{F63A22E3-678A-5941-A064-0DAF70F48889}"/>
              </a:ext>
            </a:extLst>
          </p:cNvPr>
          <p:cNvSpPr>
            <a:spLocks noGrp="1"/>
          </p:cNvSpPr>
          <p:nvPr>
            <p:ph idx="1"/>
          </p:nvPr>
        </p:nvSpPr>
        <p:spPr>
          <a:xfrm>
            <a:off x="289248" y="2510394"/>
            <a:ext cx="5654352" cy="3467495"/>
          </a:xfrm>
        </p:spPr>
        <p:txBody>
          <a:bodyPr anchor="t">
            <a:normAutofit/>
          </a:bodyPr>
          <a:lstStyle/>
          <a:p>
            <a:r>
              <a:rPr lang="en-US" sz="2400" dirty="0">
                <a:solidFill>
                  <a:srgbClr val="FFFFFF"/>
                </a:solidFill>
              </a:rPr>
              <a:t>The nine mutineers from the Bounty- together with six men and 12 women Polynesians from Tahiti were isolated on the Pitcairn island in 1790. </a:t>
            </a:r>
          </a:p>
          <a:p>
            <a:r>
              <a:rPr lang="en-US" sz="2400" dirty="0">
                <a:solidFill>
                  <a:srgbClr val="FFFFFF"/>
                </a:solidFill>
              </a:rPr>
              <a:t>Due to the isolation, and the newcomers to the island the population’s gene pool has not changed drastically; showing less genetic diversity than the original parent populations. </a:t>
            </a:r>
          </a:p>
        </p:txBody>
      </p:sp>
      <p:sp>
        <p:nvSpPr>
          <p:cNvPr id="14" name="Rectangle 13">
            <a:extLst>
              <a:ext uri="{FF2B5EF4-FFF2-40B4-BE49-F238E27FC236}">
                <a16:creationId xmlns:a16="http://schemas.microsoft.com/office/drawing/2014/main" id="{AC88629E-396B-4C99-B284-F30AABDF2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19346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3C59B-88B9-5242-82DD-60E7B4F65A7E}"/>
              </a:ext>
            </a:extLst>
          </p:cNvPr>
          <p:cNvSpPr>
            <a:spLocks noGrp="1"/>
          </p:cNvSpPr>
          <p:nvPr>
            <p:ph type="title"/>
          </p:nvPr>
        </p:nvSpPr>
        <p:spPr>
          <a:xfrm>
            <a:off x="1030406" y="4386057"/>
            <a:ext cx="4067033" cy="1527244"/>
          </a:xfrm>
        </p:spPr>
        <p:txBody>
          <a:bodyPr>
            <a:normAutofit/>
          </a:bodyPr>
          <a:lstStyle/>
          <a:p>
            <a:pPr algn="r"/>
            <a:r>
              <a:rPr lang="en-US" sz="3200" dirty="0"/>
              <a:t>The Bottleneck Effect</a:t>
            </a:r>
          </a:p>
        </p:txBody>
      </p:sp>
      <p:sp>
        <p:nvSpPr>
          <p:cNvPr id="14" name="Rectangle 13">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descr="Diagram&#10;&#10;Description automatically generated with medium confidence">
            <a:extLst>
              <a:ext uri="{FF2B5EF4-FFF2-40B4-BE49-F238E27FC236}">
                <a16:creationId xmlns:a16="http://schemas.microsoft.com/office/drawing/2014/main" id="{BB20C872-8FD1-5844-98F7-13E99C5C32A0}"/>
              </a:ext>
            </a:extLst>
          </p:cNvPr>
          <p:cNvPicPr>
            <a:picLocks noChangeAspect="1"/>
          </p:cNvPicPr>
          <p:nvPr/>
        </p:nvPicPr>
        <p:blipFill>
          <a:blip r:embed="rId2"/>
          <a:stretch>
            <a:fillRect/>
          </a:stretch>
        </p:blipFill>
        <p:spPr>
          <a:xfrm>
            <a:off x="3108376" y="757326"/>
            <a:ext cx="6277209" cy="3185684"/>
          </a:xfrm>
          <a:prstGeom prst="rect">
            <a:avLst/>
          </a:prstGeom>
        </p:spPr>
      </p:pic>
      <p:sp>
        <p:nvSpPr>
          <p:cNvPr id="3" name="Content Placeholder 2">
            <a:extLst>
              <a:ext uri="{FF2B5EF4-FFF2-40B4-BE49-F238E27FC236}">
                <a16:creationId xmlns:a16="http://schemas.microsoft.com/office/drawing/2014/main" id="{0F5AB596-DC34-1F48-9BCB-5381FB8378C3}"/>
              </a:ext>
            </a:extLst>
          </p:cNvPr>
          <p:cNvSpPr>
            <a:spLocks noGrp="1"/>
          </p:cNvSpPr>
          <p:nvPr>
            <p:ph idx="1"/>
          </p:nvPr>
        </p:nvSpPr>
        <p:spPr>
          <a:xfrm>
            <a:off x="5277343" y="4441131"/>
            <a:ext cx="6172200" cy="1873941"/>
          </a:xfrm>
        </p:spPr>
        <p:txBody>
          <a:bodyPr anchor="ctr">
            <a:normAutofit lnSpcReduction="10000"/>
          </a:bodyPr>
          <a:lstStyle/>
          <a:p>
            <a:r>
              <a:rPr lang="en-AU" sz="2400" dirty="0">
                <a:solidFill>
                  <a:srgbClr val="FFFFFF"/>
                </a:solidFill>
              </a:rPr>
              <a:t>A type of genetic drift, that is completely circumstanced based. It is when a random event occurs that drastically decreases a population, which causes genetic variation to go down and the allele frequency to change in a big way. </a:t>
            </a:r>
          </a:p>
          <a:p>
            <a:endParaRPr lang="en-US" sz="1600" dirty="0">
              <a:solidFill>
                <a:srgbClr val="FFFFFF"/>
              </a:solidFill>
            </a:endParaRPr>
          </a:p>
        </p:txBody>
      </p:sp>
    </p:spTree>
    <p:extLst>
      <p:ext uri="{BB962C8B-B14F-4D97-AF65-F5344CB8AC3E}">
        <p14:creationId xmlns:p14="http://schemas.microsoft.com/office/powerpoint/2010/main" val="1695340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FCF8D96-ACCE-4A38-BFE7-4D631184D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9254"/>
            <a:ext cx="5608255"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44FA191-2DA8-404D-93E3-40E7C78A0276}"/>
              </a:ext>
            </a:extLst>
          </p:cNvPr>
          <p:cNvSpPr>
            <a:spLocks noGrp="1"/>
          </p:cNvSpPr>
          <p:nvPr>
            <p:ph type="title"/>
          </p:nvPr>
        </p:nvSpPr>
        <p:spPr>
          <a:xfrm>
            <a:off x="289248" y="1123837"/>
            <a:ext cx="4998963" cy="1255469"/>
          </a:xfrm>
        </p:spPr>
        <p:txBody>
          <a:bodyPr>
            <a:normAutofit/>
          </a:bodyPr>
          <a:lstStyle/>
          <a:p>
            <a:r>
              <a:rPr lang="en-US" dirty="0"/>
              <a:t>Bottleneck Effect Example:</a:t>
            </a:r>
          </a:p>
        </p:txBody>
      </p:sp>
      <p:sp>
        <p:nvSpPr>
          <p:cNvPr id="3" name="Content Placeholder 2">
            <a:extLst>
              <a:ext uri="{FF2B5EF4-FFF2-40B4-BE49-F238E27FC236}">
                <a16:creationId xmlns:a16="http://schemas.microsoft.com/office/drawing/2014/main" id="{018580C9-E055-D246-BBF0-477973C3C0ED}"/>
              </a:ext>
            </a:extLst>
          </p:cNvPr>
          <p:cNvSpPr>
            <a:spLocks noGrp="1"/>
          </p:cNvSpPr>
          <p:nvPr>
            <p:ph idx="1"/>
          </p:nvPr>
        </p:nvSpPr>
        <p:spPr>
          <a:xfrm>
            <a:off x="289249" y="2510395"/>
            <a:ext cx="4998962" cy="3274586"/>
          </a:xfrm>
        </p:spPr>
        <p:txBody>
          <a:bodyPr anchor="t">
            <a:normAutofit/>
          </a:bodyPr>
          <a:lstStyle/>
          <a:p>
            <a:r>
              <a:rPr lang="en-US" sz="2400" dirty="0">
                <a:solidFill>
                  <a:srgbClr val="FFFFFF"/>
                </a:solidFill>
              </a:rPr>
              <a:t>The eruption of Mount Vesuvius covering Pompeii in ash would have caused a bottleneck effect in the Ancient Roman population, drastically reducing the allele frequency of the limited surviving population. </a:t>
            </a:r>
          </a:p>
        </p:txBody>
      </p:sp>
      <p:pic>
        <p:nvPicPr>
          <p:cNvPr id="5" name="Picture 4" descr="A picture containing ground, sculpture, sand, building material&#10;&#10;Description automatically generated">
            <a:extLst>
              <a:ext uri="{FF2B5EF4-FFF2-40B4-BE49-F238E27FC236}">
                <a16:creationId xmlns:a16="http://schemas.microsoft.com/office/drawing/2014/main" id="{A6422B83-2761-E945-9204-25D505F36087}"/>
              </a:ext>
            </a:extLst>
          </p:cNvPr>
          <p:cNvPicPr>
            <a:picLocks noChangeAspect="1"/>
          </p:cNvPicPr>
          <p:nvPr/>
        </p:nvPicPr>
        <p:blipFill rotWithShape="1">
          <a:blip r:embed="rId2"/>
          <a:srcRect l="12088" r="23872" b="-3"/>
          <a:stretch/>
        </p:blipFill>
        <p:spPr>
          <a:xfrm>
            <a:off x="6083162" y="759254"/>
            <a:ext cx="5238340" cy="5330650"/>
          </a:xfrm>
          <a:prstGeom prst="rect">
            <a:avLst/>
          </a:prstGeom>
        </p:spPr>
      </p:pic>
    </p:spTree>
    <p:extLst>
      <p:ext uri="{BB962C8B-B14F-4D97-AF65-F5344CB8AC3E}">
        <p14:creationId xmlns:p14="http://schemas.microsoft.com/office/powerpoint/2010/main" val="3007717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9E4C0-2302-C342-A9E6-1D1C6CD18790}"/>
              </a:ext>
            </a:extLst>
          </p:cNvPr>
          <p:cNvSpPr>
            <a:spLocks noGrp="1"/>
          </p:cNvSpPr>
          <p:nvPr>
            <p:ph type="title"/>
          </p:nvPr>
        </p:nvSpPr>
        <p:spPr>
          <a:xfrm>
            <a:off x="8161390" y="1079770"/>
            <a:ext cx="3654857" cy="1527244"/>
          </a:xfrm>
        </p:spPr>
        <p:txBody>
          <a:bodyPr>
            <a:normAutofit/>
          </a:bodyPr>
          <a:lstStyle/>
          <a:p>
            <a:r>
              <a:rPr lang="en-US" sz="3200"/>
              <a:t>Migration: </a:t>
            </a:r>
          </a:p>
        </p:txBody>
      </p:sp>
      <p:sp>
        <p:nvSpPr>
          <p:cNvPr id="14" name="Rectangle 13">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descr="Map&#10;&#10;Description automatically generated">
            <a:extLst>
              <a:ext uri="{FF2B5EF4-FFF2-40B4-BE49-F238E27FC236}">
                <a16:creationId xmlns:a16="http://schemas.microsoft.com/office/drawing/2014/main" id="{77069FFD-ACDC-284B-9D46-BAE3525CA51E}"/>
              </a:ext>
            </a:extLst>
          </p:cNvPr>
          <p:cNvPicPr>
            <a:picLocks noChangeAspect="1"/>
          </p:cNvPicPr>
          <p:nvPr/>
        </p:nvPicPr>
        <p:blipFill>
          <a:blip r:embed="rId2"/>
          <a:stretch>
            <a:fillRect/>
          </a:stretch>
        </p:blipFill>
        <p:spPr>
          <a:xfrm>
            <a:off x="864515" y="1301045"/>
            <a:ext cx="6500974" cy="4241885"/>
          </a:xfrm>
          <a:prstGeom prst="rect">
            <a:avLst/>
          </a:prstGeom>
        </p:spPr>
      </p:pic>
      <p:sp>
        <p:nvSpPr>
          <p:cNvPr id="3" name="Content Placeholder 2">
            <a:extLst>
              <a:ext uri="{FF2B5EF4-FFF2-40B4-BE49-F238E27FC236}">
                <a16:creationId xmlns:a16="http://schemas.microsoft.com/office/drawing/2014/main" id="{477F700B-339E-EC40-9DB8-BA181D951D16}"/>
              </a:ext>
            </a:extLst>
          </p:cNvPr>
          <p:cNvSpPr>
            <a:spLocks noGrp="1"/>
          </p:cNvSpPr>
          <p:nvPr>
            <p:ph idx="1"/>
          </p:nvPr>
        </p:nvSpPr>
        <p:spPr>
          <a:xfrm>
            <a:off x="8161390" y="2607014"/>
            <a:ext cx="3654857" cy="3157903"/>
          </a:xfrm>
        </p:spPr>
        <p:txBody>
          <a:bodyPr anchor="t">
            <a:normAutofit/>
          </a:bodyPr>
          <a:lstStyle/>
          <a:p>
            <a:r>
              <a:rPr lang="en-AU" sz="2400" dirty="0">
                <a:solidFill>
                  <a:srgbClr val="FFFFFF"/>
                </a:solidFill>
              </a:rPr>
              <a:t>Often described as gene flow from one population to another. Bring alleles from one country’s population into another, altering the frequencies of that population. </a:t>
            </a:r>
          </a:p>
          <a:p>
            <a:pPr marL="0" indent="0">
              <a:buNone/>
            </a:pPr>
            <a:endParaRPr lang="en-US" sz="1600" dirty="0">
              <a:solidFill>
                <a:srgbClr val="FFFFFF"/>
              </a:solidFill>
            </a:endParaRPr>
          </a:p>
        </p:txBody>
      </p:sp>
    </p:spTree>
    <p:extLst>
      <p:ext uri="{BB962C8B-B14F-4D97-AF65-F5344CB8AC3E}">
        <p14:creationId xmlns:p14="http://schemas.microsoft.com/office/powerpoint/2010/main" val="4028384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31D0-F70E-9A4F-B52E-677BA466C6FA}"/>
              </a:ext>
            </a:extLst>
          </p:cNvPr>
          <p:cNvSpPr>
            <a:spLocks noGrp="1"/>
          </p:cNvSpPr>
          <p:nvPr>
            <p:ph type="title"/>
          </p:nvPr>
        </p:nvSpPr>
        <p:spPr>
          <a:xfrm>
            <a:off x="252919" y="1123837"/>
            <a:ext cx="2947482" cy="4601183"/>
          </a:xfrm>
        </p:spPr>
        <p:txBody>
          <a:bodyPr>
            <a:normAutofit/>
          </a:bodyPr>
          <a:lstStyle/>
          <a:p>
            <a:r>
              <a:rPr lang="en-US" dirty="0"/>
              <a:t>Example of Migration Effecting Gene Pools</a:t>
            </a:r>
          </a:p>
        </p:txBody>
      </p:sp>
      <p:sp>
        <p:nvSpPr>
          <p:cNvPr id="3" name="Content Placeholder 2">
            <a:extLst>
              <a:ext uri="{FF2B5EF4-FFF2-40B4-BE49-F238E27FC236}">
                <a16:creationId xmlns:a16="http://schemas.microsoft.com/office/drawing/2014/main" id="{58F8816D-96B3-8B4A-8898-3E88B95C4296}"/>
              </a:ext>
            </a:extLst>
          </p:cNvPr>
          <p:cNvSpPr>
            <a:spLocks noGrp="1"/>
          </p:cNvSpPr>
          <p:nvPr>
            <p:ph idx="1"/>
          </p:nvPr>
        </p:nvSpPr>
        <p:spPr>
          <a:xfrm>
            <a:off x="3577591" y="617220"/>
            <a:ext cx="4240530" cy="5367528"/>
          </a:xfrm>
        </p:spPr>
        <p:txBody>
          <a:bodyPr>
            <a:normAutofit lnSpcReduction="10000"/>
          </a:bodyPr>
          <a:lstStyle/>
          <a:p>
            <a:pPr marL="0" indent="0">
              <a:buNone/>
            </a:pPr>
            <a:r>
              <a:rPr lang="en-US" sz="2400" dirty="0"/>
              <a:t>Migration effected the Chinese Population. In the past China had Rh- positive blood group. The Rh or Rhesus factor is an antigen found on the surface of Red Blood Cells. </a:t>
            </a:r>
          </a:p>
          <a:p>
            <a:pPr marL="0" indent="0">
              <a:buNone/>
            </a:pPr>
            <a:endParaRPr lang="en-US" sz="2400" dirty="0"/>
          </a:p>
          <a:p>
            <a:pPr marL="0" indent="0">
              <a:buNone/>
            </a:pPr>
            <a:r>
              <a:rPr lang="en-US" sz="2400" dirty="0"/>
              <a:t>People with this Antigen are referred to as Rh+; those who don’t have it are Rh-. When European countries started to trade with China in the 16</a:t>
            </a:r>
            <a:r>
              <a:rPr lang="en-US" sz="2400" baseline="30000" dirty="0"/>
              <a:t>th</a:t>
            </a:r>
            <a:r>
              <a:rPr lang="en-US" sz="2400" dirty="0"/>
              <a:t> century. They introduced the Rh- Allele into the population, however the allele frequency is still quite low. </a:t>
            </a:r>
          </a:p>
        </p:txBody>
      </p:sp>
      <p:pic>
        <p:nvPicPr>
          <p:cNvPr id="5" name="Picture 4" descr="Chart, scatter chart, bubble chart&#10;&#10;Description automatically generated">
            <a:extLst>
              <a:ext uri="{FF2B5EF4-FFF2-40B4-BE49-F238E27FC236}">
                <a16:creationId xmlns:a16="http://schemas.microsoft.com/office/drawing/2014/main" id="{24336748-2B66-ED49-B2DB-55E0551E85A5}"/>
              </a:ext>
            </a:extLst>
          </p:cNvPr>
          <p:cNvPicPr>
            <a:picLocks noChangeAspect="1"/>
          </p:cNvPicPr>
          <p:nvPr/>
        </p:nvPicPr>
        <p:blipFill>
          <a:blip r:embed="rId2"/>
          <a:stretch>
            <a:fillRect/>
          </a:stretch>
        </p:blipFill>
        <p:spPr>
          <a:xfrm>
            <a:off x="7429499" y="2320290"/>
            <a:ext cx="4452851" cy="1836801"/>
          </a:xfrm>
          <a:prstGeom prst="rect">
            <a:avLst/>
          </a:prstGeom>
        </p:spPr>
      </p:pic>
    </p:spTree>
    <p:extLst>
      <p:ext uri="{BB962C8B-B14F-4D97-AF65-F5344CB8AC3E}">
        <p14:creationId xmlns:p14="http://schemas.microsoft.com/office/powerpoint/2010/main" val="399231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52E5D6-E378-4614-BCBD-8663DD15B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A287AC3-AACF-4ADB-9F73-125E714D9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993" y="4367639"/>
            <a:ext cx="11430014" cy="1852186"/>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sp>
      <p:sp>
        <p:nvSpPr>
          <p:cNvPr id="2" name="Title 1">
            <a:extLst>
              <a:ext uri="{FF2B5EF4-FFF2-40B4-BE49-F238E27FC236}">
                <a16:creationId xmlns:a16="http://schemas.microsoft.com/office/drawing/2014/main" id="{B66A60C6-CBF6-B446-944B-ADE38407CB15}"/>
              </a:ext>
            </a:extLst>
          </p:cNvPr>
          <p:cNvSpPr>
            <a:spLocks noGrp="1"/>
          </p:cNvSpPr>
          <p:nvPr>
            <p:ph type="title"/>
          </p:nvPr>
        </p:nvSpPr>
        <p:spPr>
          <a:xfrm>
            <a:off x="554477" y="4599160"/>
            <a:ext cx="11079804" cy="1358020"/>
          </a:xfrm>
        </p:spPr>
        <p:txBody>
          <a:bodyPr anchor="ctr">
            <a:normAutofit/>
          </a:bodyPr>
          <a:lstStyle/>
          <a:p>
            <a:pPr algn="ctr"/>
            <a:r>
              <a:rPr lang="en-US" sz="4400">
                <a:solidFill>
                  <a:schemeClr val="bg1"/>
                </a:solidFill>
              </a:rPr>
              <a:t>Barriers to Gene Flow</a:t>
            </a:r>
          </a:p>
        </p:txBody>
      </p:sp>
      <p:graphicFrame>
        <p:nvGraphicFramePr>
          <p:cNvPr id="5" name="Content Placeholder 2">
            <a:extLst>
              <a:ext uri="{FF2B5EF4-FFF2-40B4-BE49-F238E27FC236}">
                <a16:creationId xmlns:a16="http://schemas.microsoft.com/office/drawing/2014/main" id="{23F520F0-E140-4906-836D-F056DCEFC171}"/>
              </a:ext>
            </a:extLst>
          </p:cNvPr>
          <p:cNvGraphicFramePr>
            <a:graphicFrameLocks noGrp="1"/>
          </p:cNvGraphicFramePr>
          <p:nvPr>
            <p:ph idx="1"/>
            <p:extLst>
              <p:ext uri="{D42A27DB-BD31-4B8C-83A1-F6EECF244321}">
                <p14:modId xmlns:p14="http://schemas.microsoft.com/office/powerpoint/2010/main" val="489868301"/>
              </p:ext>
            </p:extLst>
          </p:nvPr>
        </p:nvGraphicFramePr>
        <p:xfrm>
          <a:off x="914400" y="640080"/>
          <a:ext cx="10317480" cy="3202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2209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F13A95FF-1A75-49AA-86AE-EED61BD0E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B427403-3CA7-144B-9DC0-F965767DD369}"/>
              </a:ext>
            </a:extLst>
          </p:cNvPr>
          <p:cNvSpPr>
            <a:spLocks noGrp="1"/>
          </p:cNvSpPr>
          <p:nvPr>
            <p:ph type="title"/>
          </p:nvPr>
        </p:nvSpPr>
        <p:spPr>
          <a:xfrm>
            <a:off x="289249" y="1123837"/>
            <a:ext cx="4016116" cy="1255469"/>
          </a:xfrm>
        </p:spPr>
        <p:txBody>
          <a:bodyPr>
            <a:normAutofit/>
          </a:bodyPr>
          <a:lstStyle/>
          <a:p>
            <a:r>
              <a:rPr lang="en-US" dirty="0"/>
              <a:t>Allopatric Speciation</a:t>
            </a:r>
          </a:p>
        </p:txBody>
      </p:sp>
      <p:sp>
        <p:nvSpPr>
          <p:cNvPr id="3" name="Content Placeholder 2">
            <a:extLst>
              <a:ext uri="{FF2B5EF4-FFF2-40B4-BE49-F238E27FC236}">
                <a16:creationId xmlns:a16="http://schemas.microsoft.com/office/drawing/2014/main" id="{52FB0545-97BF-6B47-BEE8-9D18B30AAB0C}"/>
              </a:ext>
            </a:extLst>
          </p:cNvPr>
          <p:cNvSpPr>
            <a:spLocks noGrp="1"/>
          </p:cNvSpPr>
          <p:nvPr>
            <p:ph idx="1"/>
          </p:nvPr>
        </p:nvSpPr>
        <p:spPr>
          <a:xfrm>
            <a:off x="91440" y="2379306"/>
            <a:ext cx="4423409" cy="3710943"/>
          </a:xfrm>
        </p:spPr>
        <p:txBody>
          <a:bodyPr anchor="t">
            <a:normAutofit/>
          </a:bodyPr>
          <a:lstStyle/>
          <a:p>
            <a:r>
              <a:rPr lang="en-US" sz="2400" dirty="0">
                <a:solidFill>
                  <a:srgbClr val="FFFFFF"/>
                </a:solidFill>
              </a:rPr>
              <a:t>Allopatric Speciation when a new speciation occurs due to geographical separation. </a:t>
            </a:r>
          </a:p>
          <a:p>
            <a:endParaRPr lang="en-US" sz="2400" dirty="0">
              <a:solidFill>
                <a:srgbClr val="FFFFFF"/>
              </a:solidFill>
            </a:endParaRPr>
          </a:p>
          <a:p>
            <a:r>
              <a:rPr lang="en-US" sz="2400" dirty="0">
                <a:solidFill>
                  <a:srgbClr val="FFFFFF"/>
                </a:solidFill>
              </a:rPr>
              <a:t>This is the Gene Pool and allele frequencies differentiating over time to allow for new species to develop due to geographical separation. </a:t>
            </a:r>
          </a:p>
        </p:txBody>
      </p:sp>
      <p:pic>
        <p:nvPicPr>
          <p:cNvPr id="5" name="Picture 4" descr="A picture containing snow, outdoor, sky, nature&#10;&#10;Description automatically generated">
            <a:extLst>
              <a:ext uri="{FF2B5EF4-FFF2-40B4-BE49-F238E27FC236}">
                <a16:creationId xmlns:a16="http://schemas.microsoft.com/office/drawing/2014/main" id="{195DB2D6-C3FA-534E-ADA0-44D792655E0E}"/>
              </a:ext>
            </a:extLst>
          </p:cNvPr>
          <p:cNvPicPr>
            <a:picLocks noChangeAspect="1"/>
          </p:cNvPicPr>
          <p:nvPr/>
        </p:nvPicPr>
        <p:blipFill rotWithShape="1">
          <a:blip r:embed="rId2"/>
          <a:srcRect l="12147" r="710" b="1"/>
          <a:stretch/>
        </p:blipFill>
        <p:spPr>
          <a:xfrm>
            <a:off x="5137463" y="759599"/>
            <a:ext cx="6193767" cy="5330650"/>
          </a:xfrm>
          <a:prstGeom prst="rect">
            <a:avLst/>
          </a:prstGeom>
        </p:spPr>
      </p:pic>
    </p:spTree>
    <p:extLst>
      <p:ext uri="{BB962C8B-B14F-4D97-AF65-F5344CB8AC3E}">
        <p14:creationId xmlns:p14="http://schemas.microsoft.com/office/powerpoint/2010/main" val="4220368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458B10D-B8E2-9B4E-9ED0-59EB96F5E9B8}"/>
              </a:ext>
            </a:extLst>
          </p:cNvPr>
          <p:cNvSpPr>
            <a:spLocks noGrp="1"/>
          </p:cNvSpPr>
          <p:nvPr>
            <p:ph type="title"/>
          </p:nvPr>
        </p:nvSpPr>
        <p:spPr>
          <a:xfrm>
            <a:off x="1600754" y="1087374"/>
            <a:ext cx="8983489" cy="1000978"/>
          </a:xfrm>
        </p:spPr>
        <p:txBody>
          <a:bodyPr>
            <a:normAutofit/>
          </a:bodyPr>
          <a:lstStyle/>
          <a:p>
            <a:r>
              <a:rPr lang="en-US" dirty="0"/>
              <a:t>Sympatric Speciation</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61266A50-1E6B-4641-B870-F74A13232CE3}"/>
              </a:ext>
            </a:extLst>
          </p:cNvPr>
          <p:cNvSpPr>
            <a:spLocks noGrp="1"/>
          </p:cNvSpPr>
          <p:nvPr>
            <p:ph idx="1"/>
          </p:nvPr>
        </p:nvSpPr>
        <p:spPr>
          <a:xfrm>
            <a:off x="1600753" y="2535446"/>
            <a:ext cx="8983489" cy="3554457"/>
          </a:xfrm>
        </p:spPr>
        <p:txBody>
          <a:bodyPr>
            <a:normAutofit/>
          </a:bodyPr>
          <a:lstStyle/>
          <a:p>
            <a:r>
              <a:rPr lang="en-US" sz="2400" dirty="0">
                <a:solidFill>
                  <a:schemeClr val="tx1"/>
                </a:solidFill>
              </a:rPr>
              <a:t>Sociocultural divide preventing gene pools from mixing can enable sympatric speciation. </a:t>
            </a:r>
          </a:p>
          <a:p>
            <a:endParaRPr lang="en-US" sz="2400" dirty="0">
              <a:solidFill>
                <a:schemeClr val="tx1"/>
              </a:solidFill>
            </a:endParaRPr>
          </a:p>
          <a:p>
            <a:r>
              <a:rPr lang="en-US" sz="2400" dirty="0">
                <a:solidFill>
                  <a:schemeClr val="tx1"/>
                </a:solidFill>
              </a:rPr>
              <a:t>This is the gene pools becoming different despite not being separated physically. </a:t>
            </a:r>
          </a:p>
        </p:txBody>
      </p:sp>
    </p:spTree>
    <p:extLst>
      <p:ext uri="{BB962C8B-B14F-4D97-AF65-F5344CB8AC3E}">
        <p14:creationId xmlns:p14="http://schemas.microsoft.com/office/powerpoint/2010/main" val="3432178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5CFB-9BCD-4B48-A9EF-42BB15BA3E69}"/>
              </a:ext>
            </a:extLst>
          </p:cNvPr>
          <p:cNvSpPr>
            <a:spLocks noGrp="1"/>
          </p:cNvSpPr>
          <p:nvPr>
            <p:ph type="title"/>
          </p:nvPr>
        </p:nvSpPr>
        <p:spPr>
          <a:xfrm>
            <a:off x="115759" y="309991"/>
            <a:ext cx="2947482" cy="1283461"/>
          </a:xfrm>
        </p:spPr>
        <p:txBody>
          <a:bodyPr anchor="b">
            <a:normAutofit/>
          </a:bodyPr>
          <a:lstStyle/>
          <a:p>
            <a:r>
              <a:rPr lang="en-US" sz="2400" dirty="0"/>
              <a:t>Genetic Diseases: </a:t>
            </a:r>
          </a:p>
        </p:txBody>
      </p:sp>
      <p:sp>
        <p:nvSpPr>
          <p:cNvPr id="3" name="Content Placeholder 2">
            <a:extLst>
              <a:ext uri="{FF2B5EF4-FFF2-40B4-BE49-F238E27FC236}">
                <a16:creationId xmlns:a16="http://schemas.microsoft.com/office/drawing/2014/main" id="{FE14D6BF-E420-8B42-AA74-E7ED5E4553E5}"/>
              </a:ext>
            </a:extLst>
          </p:cNvPr>
          <p:cNvSpPr>
            <a:spLocks noGrp="1"/>
          </p:cNvSpPr>
          <p:nvPr>
            <p:ph idx="1"/>
          </p:nvPr>
        </p:nvSpPr>
        <p:spPr>
          <a:xfrm>
            <a:off x="252920" y="1851660"/>
            <a:ext cx="2947482" cy="4054618"/>
          </a:xfrm>
        </p:spPr>
        <p:txBody>
          <a:bodyPr anchor="t">
            <a:normAutofit lnSpcReduction="10000"/>
          </a:bodyPr>
          <a:lstStyle/>
          <a:p>
            <a:r>
              <a:rPr lang="en-AU" sz="2400" dirty="0">
                <a:solidFill>
                  <a:srgbClr val="FFFFFF"/>
                </a:solidFill>
              </a:rPr>
              <a:t>These result in changes to allele frequencies and gene pools. An allele causing an inherited fatal disease would be expected to be gradually eliminated from a population because people with the allele die and would not pass it on. </a:t>
            </a:r>
          </a:p>
          <a:p>
            <a:pPr marL="0" indent="0">
              <a:buNone/>
            </a:pPr>
            <a:endParaRPr lang="en-US" sz="1600" dirty="0">
              <a:solidFill>
                <a:srgbClr val="FFFFFF"/>
              </a:solidFill>
            </a:endParaRPr>
          </a:p>
        </p:txBody>
      </p:sp>
      <p:pic>
        <p:nvPicPr>
          <p:cNvPr id="5" name="Picture 4" descr="A picture containing outdoor, day&#10;&#10;Description automatically generated">
            <a:extLst>
              <a:ext uri="{FF2B5EF4-FFF2-40B4-BE49-F238E27FC236}">
                <a16:creationId xmlns:a16="http://schemas.microsoft.com/office/drawing/2014/main" id="{834660FA-9557-9141-8875-68EF6F1765E3}"/>
              </a:ext>
            </a:extLst>
          </p:cNvPr>
          <p:cNvPicPr>
            <a:picLocks noChangeAspect="1"/>
          </p:cNvPicPr>
          <p:nvPr/>
        </p:nvPicPr>
        <p:blipFill rotWithShape="1">
          <a:blip r:embed="rId2"/>
          <a:srcRect r="857"/>
          <a:stretch/>
        </p:blipFill>
        <p:spPr>
          <a:xfrm>
            <a:off x="3778897" y="758952"/>
            <a:ext cx="7772401" cy="5330952"/>
          </a:xfrm>
          <a:prstGeom prst="rect">
            <a:avLst/>
          </a:prstGeom>
        </p:spPr>
      </p:pic>
    </p:spTree>
    <p:extLst>
      <p:ext uri="{BB962C8B-B14F-4D97-AF65-F5344CB8AC3E}">
        <p14:creationId xmlns:p14="http://schemas.microsoft.com/office/powerpoint/2010/main" val="1797201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3577A01-3DD8-4E33-BEE1-3065F7E6F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9599"/>
            <a:ext cx="7052486"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F51B8FC-EEEF-A643-8C72-AAAC53A67837}"/>
              </a:ext>
            </a:extLst>
          </p:cNvPr>
          <p:cNvSpPr>
            <a:spLocks noGrp="1"/>
          </p:cNvSpPr>
          <p:nvPr>
            <p:ph type="title"/>
          </p:nvPr>
        </p:nvSpPr>
        <p:spPr>
          <a:xfrm>
            <a:off x="289248" y="1123837"/>
            <a:ext cx="6451110" cy="1255469"/>
          </a:xfrm>
        </p:spPr>
        <p:txBody>
          <a:bodyPr>
            <a:normAutofit/>
          </a:bodyPr>
          <a:lstStyle/>
          <a:p>
            <a:r>
              <a:rPr lang="en-US" dirty="0"/>
              <a:t>Case Study 1: Tay-Sachs Disease</a:t>
            </a:r>
          </a:p>
        </p:txBody>
      </p:sp>
      <p:sp>
        <p:nvSpPr>
          <p:cNvPr id="3" name="Content Placeholder 2">
            <a:extLst>
              <a:ext uri="{FF2B5EF4-FFF2-40B4-BE49-F238E27FC236}">
                <a16:creationId xmlns:a16="http://schemas.microsoft.com/office/drawing/2014/main" id="{E2F41D9B-803B-604E-A6DE-33E33E470772}"/>
              </a:ext>
            </a:extLst>
          </p:cNvPr>
          <p:cNvSpPr>
            <a:spLocks noGrp="1"/>
          </p:cNvSpPr>
          <p:nvPr>
            <p:ph idx="1"/>
          </p:nvPr>
        </p:nvSpPr>
        <p:spPr>
          <a:xfrm>
            <a:off x="289248" y="2510394"/>
            <a:ext cx="6451109" cy="3433205"/>
          </a:xfrm>
        </p:spPr>
        <p:txBody>
          <a:bodyPr anchor="t">
            <a:normAutofit/>
          </a:bodyPr>
          <a:lstStyle/>
          <a:p>
            <a:r>
              <a:rPr lang="en-AU" sz="2400" dirty="0">
                <a:solidFill>
                  <a:srgbClr val="FFFFFF"/>
                </a:solidFill>
              </a:rPr>
              <a:t>Tay-Sachs Disease is a recessive hereditary disorder of lipid metabolism that occurs frequently in Jewish descent (Ashkenazi Jewish) from Eastern Europe. Tay-Sachs is caused by a missing enzyme that results in the accumulation of a fatty substance in the nervous system, gradually causing death by 4 or 5. However, heterozygote individuals who are carriers for this have an advantage as the same allele provides resistant to Tuberculosis. </a:t>
            </a:r>
          </a:p>
          <a:p>
            <a:pPr marL="0" indent="0">
              <a:buNone/>
            </a:pPr>
            <a:endParaRPr lang="en-US" dirty="0">
              <a:solidFill>
                <a:srgbClr val="FFFFFF"/>
              </a:solidFill>
            </a:endParaRPr>
          </a:p>
        </p:txBody>
      </p:sp>
      <p:pic>
        <p:nvPicPr>
          <p:cNvPr id="5" name="Picture 4" descr="A picture containing text, person, group, people&#10;&#10;Description automatically generated">
            <a:extLst>
              <a:ext uri="{FF2B5EF4-FFF2-40B4-BE49-F238E27FC236}">
                <a16:creationId xmlns:a16="http://schemas.microsoft.com/office/drawing/2014/main" id="{F627E9FB-781E-5246-A8D5-20CBC999CEB4}"/>
              </a:ext>
            </a:extLst>
          </p:cNvPr>
          <p:cNvPicPr>
            <a:picLocks noChangeAspect="1"/>
          </p:cNvPicPr>
          <p:nvPr/>
        </p:nvPicPr>
        <p:blipFill rotWithShape="1">
          <a:blip r:embed="rId2"/>
          <a:srcRect r="7047" b="3"/>
          <a:stretch/>
        </p:blipFill>
        <p:spPr>
          <a:xfrm>
            <a:off x="7545032" y="759599"/>
            <a:ext cx="3778286" cy="5330650"/>
          </a:xfrm>
          <a:prstGeom prst="rect">
            <a:avLst/>
          </a:prstGeom>
        </p:spPr>
      </p:pic>
    </p:spTree>
    <p:extLst>
      <p:ext uri="{BB962C8B-B14F-4D97-AF65-F5344CB8AC3E}">
        <p14:creationId xmlns:p14="http://schemas.microsoft.com/office/powerpoint/2010/main" val="1431077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CF2FC8-D184-4B10-83A5-61FC2148B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3848"/>
            <a:ext cx="5608255"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6FE60BE-CFD3-154F-85CC-31EBC4F0F414}"/>
              </a:ext>
            </a:extLst>
          </p:cNvPr>
          <p:cNvSpPr>
            <a:spLocks noGrp="1"/>
          </p:cNvSpPr>
          <p:nvPr>
            <p:ph type="title"/>
          </p:nvPr>
        </p:nvSpPr>
        <p:spPr>
          <a:xfrm>
            <a:off x="289248" y="1123837"/>
            <a:ext cx="4998963" cy="1255469"/>
          </a:xfrm>
        </p:spPr>
        <p:txBody>
          <a:bodyPr>
            <a:normAutofit/>
          </a:bodyPr>
          <a:lstStyle/>
          <a:p>
            <a:r>
              <a:rPr lang="en-US" dirty="0"/>
              <a:t>Case Study 2: Thalassaemia</a:t>
            </a:r>
          </a:p>
        </p:txBody>
      </p:sp>
      <p:sp>
        <p:nvSpPr>
          <p:cNvPr id="3" name="Content Placeholder 2">
            <a:extLst>
              <a:ext uri="{FF2B5EF4-FFF2-40B4-BE49-F238E27FC236}">
                <a16:creationId xmlns:a16="http://schemas.microsoft.com/office/drawing/2014/main" id="{C029A0CC-EE2B-E94D-9963-8A1A1B6E8203}"/>
              </a:ext>
            </a:extLst>
          </p:cNvPr>
          <p:cNvSpPr>
            <a:spLocks noGrp="1"/>
          </p:cNvSpPr>
          <p:nvPr>
            <p:ph idx="1"/>
          </p:nvPr>
        </p:nvSpPr>
        <p:spPr>
          <a:xfrm>
            <a:off x="137160" y="2274570"/>
            <a:ext cx="5314949" cy="3726179"/>
          </a:xfrm>
        </p:spPr>
        <p:txBody>
          <a:bodyPr anchor="t">
            <a:normAutofit lnSpcReduction="10000"/>
          </a:bodyPr>
          <a:lstStyle/>
          <a:p>
            <a:r>
              <a:rPr lang="en-AU" sz="2400" dirty="0">
                <a:solidFill>
                  <a:srgbClr val="FFFFFF"/>
                </a:solidFill>
              </a:rPr>
              <a:t>Thalassaemia, a recessive disease in which anaemia results from defects in the formation of haemoglobin, with a relatively high rate of occurrence in populations that have the allele. Common in populations that come from Mediterranean origin (especially Greece and Italy). People with Thalassaemia require frequent blood transfusions throughout their life and special drugs to remove the excess iron that tends to build up in their bodies. </a:t>
            </a:r>
          </a:p>
          <a:p>
            <a:pPr marL="0" indent="0">
              <a:buNone/>
            </a:pPr>
            <a:endParaRPr lang="en-US" dirty="0">
              <a:solidFill>
                <a:srgbClr val="FFFFFF"/>
              </a:solidFill>
            </a:endParaRPr>
          </a:p>
        </p:txBody>
      </p:sp>
      <p:pic>
        <p:nvPicPr>
          <p:cNvPr id="5" name="Picture 4" descr="A picture containing kitchenware&#10;&#10;Description automatically generated">
            <a:extLst>
              <a:ext uri="{FF2B5EF4-FFF2-40B4-BE49-F238E27FC236}">
                <a16:creationId xmlns:a16="http://schemas.microsoft.com/office/drawing/2014/main" id="{5ED7E033-1F54-9342-B9F6-63B0ADE1168B}"/>
              </a:ext>
            </a:extLst>
          </p:cNvPr>
          <p:cNvPicPr>
            <a:picLocks noChangeAspect="1"/>
          </p:cNvPicPr>
          <p:nvPr/>
        </p:nvPicPr>
        <p:blipFill>
          <a:blip r:embed="rId2"/>
          <a:stretch>
            <a:fillRect/>
          </a:stretch>
        </p:blipFill>
        <p:spPr>
          <a:xfrm>
            <a:off x="6092890" y="1670877"/>
            <a:ext cx="5238340" cy="3496591"/>
          </a:xfrm>
          <a:prstGeom prst="rect">
            <a:avLst/>
          </a:prstGeom>
        </p:spPr>
      </p:pic>
    </p:spTree>
    <p:extLst>
      <p:ext uri="{BB962C8B-B14F-4D97-AF65-F5344CB8AC3E}">
        <p14:creationId xmlns:p14="http://schemas.microsoft.com/office/powerpoint/2010/main" val="828587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96A55C8-89F1-439D-863D-E208C0AC8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plant, flower&#10;&#10;Description automatically generated">
            <a:extLst>
              <a:ext uri="{FF2B5EF4-FFF2-40B4-BE49-F238E27FC236}">
                <a16:creationId xmlns:a16="http://schemas.microsoft.com/office/drawing/2014/main" id="{0675F382-1A39-3548-8CEE-09C2E07F8E5D}"/>
              </a:ext>
            </a:extLst>
          </p:cNvPr>
          <p:cNvPicPr>
            <a:picLocks noChangeAspect="1"/>
          </p:cNvPicPr>
          <p:nvPr/>
        </p:nvPicPr>
        <p:blipFill rotWithShape="1">
          <a:blip r:embed="rId2"/>
          <a:srcRect t="8205" r="9092" b="15168"/>
          <a:stretch/>
        </p:blipFill>
        <p:spPr>
          <a:xfrm>
            <a:off x="20" y="1"/>
            <a:ext cx="12188932" cy="6858000"/>
          </a:xfrm>
          <a:prstGeom prst="rect">
            <a:avLst/>
          </a:prstGeom>
        </p:spPr>
      </p:pic>
      <p:sp>
        <p:nvSpPr>
          <p:cNvPr id="12" name="Rectangle 11">
            <a:extLst>
              <a:ext uri="{FF2B5EF4-FFF2-40B4-BE49-F238E27FC236}">
                <a16:creationId xmlns:a16="http://schemas.microsoft.com/office/drawing/2014/main" id="{E4A1FD7E-EAEC-40B9-B75B-432F9DA75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7052486"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0CE3035-A608-E549-93E1-D5FA7ADB71E8}"/>
              </a:ext>
            </a:extLst>
          </p:cNvPr>
          <p:cNvSpPr>
            <a:spLocks noGrp="1"/>
          </p:cNvSpPr>
          <p:nvPr>
            <p:ph type="title"/>
          </p:nvPr>
        </p:nvSpPr>
        <p:spPr>
          <a:xfrm>
            <a:off x="289248" y="1123837"/>
            <a:ext cx="6451110" cy="1255469"/>
          </a:xfrm>
        </p:spPr>
        <p:txBody>
          <a:bodyPr>
            <a:normAutofit/>
          </a:bodyPr>
          <a:lstStyle/>
          <a:p>
            <a:r>
              <a:rPr lang="en-US" dirty="0"/>
              <a:t>Case Study 3: Sickle-Cell Anaemia</a:t>
            </a:r>
          </a:p>
        </p:txBody>
      </p:sp>
      <p:sp>
        <p:nvSpPr>
          <p:cNvPr id="3" name="Content Placeholder 2">
            <a:extLst>
              <a:ext uri="{FF2B5EF4-FFF2-40B4-BE49-F238E27FC236}">
                <a16:creationId xmlns:a16="http://schemas.microsoft.com/office/drawing/2014/main" id="{2FC33239-D2F6-834C-85B1-E3BF3E520E64}"/>
              </a:ext>
            </a:extLst>
          </p:cNvPr>
          <p:cNvSpPr>
            <a:spLocks noGrp="1"/>
          </p:cNvSpPr>
          <p:nvPr>
            <p:ph idx="1"/>
          </p:nvPr>
        </p:nvSpPr>
        <p:spPr>
          <a:xfrm>
            <a:off x="289248" y="2510395"/>
            <a:ext cx="6451109" cy="3274586"/>
          </a:xfrm>
        </p:spPr>
        <p:txBody>
          <a:bodyPr anchor="t">
            <a:normAutofit/>
          </a:bodyPr>
          <a:lstStyle/>
          <a:p>
            <a:r>
              <a:rPr lang="en-AU">
                <a:solidFill>
                  <a:srgbClr val="FFFFFF"/>
                </a:solidFill>
              </a:rPr>
              <a:t>Sickle-cell anaemia is another inherited disease. Occurring mainly in black Africans or those of black African descent. In the tropical zone of Africa 40% of the population carries this allele. This disease occurs when you inherit the allele from both parents, resulting in your red blood cells taking on a sickle appearance. The disease is usually fatal as the sickled red blood cells cannot carry as much oxygen as normal red blood cells. This condition however does have an advantage, providing immunity to malaria. </a:t>
            </a:r>
          </a:p>
          <a:p>
            <a:pPr marL="0" indent="0">
              <a:buNone/>
            </a:pPr>
            <a:endParaRPr lang="en-US">
              <a:solidFill>
                <a:srgbClr val="FFFFFF"/>
              </a:solidFill>
            </a:endParaRPr>
          </a:p>
        </p:txBody>
      </p:sp>
      <p:sp>
        <p:nvSpPr>
          <p:cNvPr id="14" name="Rectangle 13">
            <a:extLst>
              <a:ext uri="{FF2B5EF4-FFF2-40B4-BE49-F238E27FC236}">
                <a16:creationId xmlns:a16="http://schemas.microsoft.com/office/drawing/2014/main" id="{AC88629E-396B-4C99-B284-F30AABDF2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9955691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otalTime>0</TotalTime>
  <Words>1103</Words>
  <Application>Microsoft Macintosh PowerPoint</Application>
  <PresentationFormat>Widescreen</PresentationFormat>
  <Paragraphs>52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Corbel</vt:lpstr>
      <vt:lpstr>Wingdings 2</vt:lpstr>
      <vt:lpstr>Frame</vt:lpstr>
      <vt:lpstr>Gene Pools</vt:lpstr>
      <vt:lpstr>Learning Objectives: </vt:lpstr>
      <vt:lpstr>Natural Selection: </vt:lpstr>
      <vt:lpstr>Random Genetic Drift: </vt:lpstr>
      <vt:lpstr>An Example of Genetic Drift: </vt:lpstr>
      <vt:lpstr>The Founder Effect</vt:lpstr>
      <vt:lpstr>An Example of the Founder Effect: </vt:lpstr>
      <vt:lpstr>The Bottleneck Effect</vt:lpstr>
      <vt:lpstr>Bottleneck Effect Example:</vt:lpstr>
      <vt:lpstr>Migration: </vt:lpstr>
      <vt:lpstr>Example of Migration Effecting Gene Pools</vt:lpstr>
      <vt:lpstr>Barriers to Gene Flow</vt:lpstr>
      <vt:lpstr>Allopatric Speciation</vt:lpstr>
      <vt:lpstr>Sympatric Speciation</vt:lpstr>
      <vt:lpstr>Genetic Diseases: </vt:lpstr>
      <vt:lpstr>Case Study 1: Tay-Sachs Disease</vt:lpstr>
      <vt:lpstr>Case Study 2: Thalassaemia</vt:lpstr>
      <vt:lpstr>Case Study 3: Sickle-Cell Anaemia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 Pools</dc:title>
  <dc:creator>Jordan Phillips</dc:creator>
  <cp:lastModifiedBy>Jordan Phillips</cp:lastModifiedBy>
  <cp:revision>1</cp:revision>
  <dcterms:created xsi:type="dcterms:W3CDTF">2021-06-09T06:51:37Z</dcterms:created>
  <dcterms:modified xsi:type="dcterms:W3CDTF">2021-06-09T06:51:46Z</dcterms:modified>
</cp:coreProperties>
</file>
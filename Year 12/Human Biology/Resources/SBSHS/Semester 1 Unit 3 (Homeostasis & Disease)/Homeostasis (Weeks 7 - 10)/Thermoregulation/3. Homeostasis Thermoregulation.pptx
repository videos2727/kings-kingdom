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8" r:id="rId3"/>
    <p:sldId id="265" r:id="rId4"/>
    <p:sldId id="275" r:id="rId5"/>
    <p:sldId id="277" r:id="rId6"/>
    <p:sldId id="278" r:id="rId7"/>
    <p:sldId id="276" r:id="rId8"/>
    <p:sldId id="279" r:id="rId9"/>
    <p:sldId id="281" r:id="rId10"/>
    <p:sldId id="271" r:id="rId11"/>
    <p:sldId id="270" r:id="rId12"/>
    <p:sldId id="272" r:id="rId13"/>
    <p:sldId id="286" r:id="rId14"/>
    <p:sldId id="282" r:id="rId15"/>
    <p:sldId id="283" r:id="rId16"/>
    <p:sldId id="284" r:id="rId17"/>
    <p:sldId id="285"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83" autoAdjust="0"/>
  </p:normalViewPr>
  <p:slideViewPr>
    <p:cSldViewPr>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6D9512-C607-479D-9091-7AFC62A6F268}" type="datetimeFigureOut">
              <a:rPr lang="en-AU" smtClean="0"/>
              <a:t>11/02/2021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BC5F8F-1D81-4F44-BB53-0D7347ABA7C5}" type="slidenum">
              <a:rPr lang="en-AU" smtClean="0"/>
              <a:t>‹#›</a:t>
            </a:fld>
            <a:endParaRPr lang="en-AU"/>
          </a:p>
        </p:txBody>
      </p:sp>
    </p:spTree>
    <p:extLst>
      <p:ext uri="{BB962C8B-B14F-4D97-AF65-F5344CB8AC3E}">
        <p14:creationId xmlns:p14="http://schemas.microsoft.com/office/powerpoint/2010/main" val="4012645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ln/>
        </p:spPr>
      </p:sp>
      <p:sp>
        <p:nvSpPr>
          <p:cNvPr id="123907"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ln/>
        </p:spPr>
      </p:sp>
      <p:sp>
        <p:nvSpPr>
          <p:cNvPr id="128003"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ln/>
        </p:spPr>
      </p:sp>
      <p:sp>
        <p:nvSpPr>
          <p:cNvPr id="125955"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ln/>
        </p:spPr>
      </p:sp>
      <p:sp>
        <p:nvSpPr>
          <p:cNvPr id="132099"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ln/>
        </p:spPr>
      </p:sp>
      <p:sp>
        <p:nvSpPr>
          <p:cNvPr id="136195"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ln/>
        </p:spPr>
      </p:sp>
      <p:sp>
        <p:nvSpPr>
          <p:cNvPr id="82947"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itchFamily="1" charset="0"/>
              <a:ea typeface="ＭＳ Ｐゴシック" pitchFamily="1"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72D987-F769-4FBA-90D4-E4010B051761}" type="datetimeFigureOut">
              <a:rPr lang="en-AU" smtClean="0"/>
              <a:t>11/02/2021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72D987-F769-4FBA-90D4-E4010B051761}" type="datetimeFigureOut">
              <a:rPr lang="en-AU" smtClean="0"/>
              <a:t>11/02/2021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72D987-F769-4FBA-90D4-E4010B051761}" type="datetimeFigureOut">
              <a:rPr lang="en-AU" smtClean="0"/>
              <a:t>11/02/2021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72D987-F769-4FBA-90D4-E4010B051761}" type="datetimeFigureOut">
              <a:rPr lang="en-AU" smtClean="0"/>
              <a:t>11/02/2021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72D987-F769-4FBA-90D4-E4010B051761}" type="datetimeFigureOut">
              <a:rPr lang="en-AU" smtClean="0"/>
              <a:t>11/02/2021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72D987-F769-4FBA-90D4-E4010B051761}" type="datetimeFigureOut">
              <a:rPr lang="en-AU" smtClean="0"/>
              <a:t>11/02/2021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72D987-F769-4FBA-90D4-E4010B051761}" type="datetimeFigureOut">
              <a:rPr lang="en-AU" smtClean="0"/>
              <a:t>11/02/2021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072D987-F769-4FBA-90D4-E4010B051761}" type="datetimeFigureOut">
              <a:rPr lang="en-AU" smtClean="0"/>
              <a:t>11/02/2021</a:t>
            </a:fld>
            <a:endParaRPr lang="en-AU"/>
          </a:p>
        </p:txBody>
      </p:sp>
      <p:sp>
        <p:nvSpPr>
          <p:cNvPr id="9" name="Slide Number Placeholder 8"/>
          <p:cNvSpPr>
            <a:spLocks noGrp="1"/>
          </p:cNvSpPr>
          <p:nvPr>
            <p:ph type="sldNum" sz="quarter" idx="11"/>
          </p:nvPr>
        </p:nvSpPr>
        <p:spPr/>
        <p:txBody>
          <a:bodyPr/>
          <a:lstStyle/>
          <a:p>
            <a:fld id="{3F33971A-AB81-42CD-86E9-32844290D5A4}" type="slidenum">
              <a:rPr lang="en-AU" smtClean="0"/>
              <a:t>‹#›</a:t>
            </a:fld>
            <a:endParaRPr lang="en-AU"/>
          </a:p>
        </p:txBody>
      </p:sp>
      <p:sp>
        <p:nvSpPr>
          <p:cNvPr id="10" name="Footer Placeholder 9"/>
          <p:cNvSpPr>
            <a:spLocks noGrp="1"/>
          </p:cNvSpPr>
          <p:nvPr>
            <p:ph type="ftr" sz="quarter" idx="12"/>
          </p:nvPr>
        </p:nvSpPr>
        <p:spPr/>
        <p:txBody>
          <a:bodyPr/>
          <a:lstStyle/>
          <a:p>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F33971A-AB81-42CD-86E9-32844290D5A4}" type="slidenum">
              <a:rPr lang="en-AU" smtClean="0"/>
              <a:t>‹#›</a:t>
            </a:fld>
            <a:endParaRPr lang="en-AU"/>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AU"/>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2072D987-F769-4FBA-90D4-E4010B051761}" type="datetimeFigureOut">
              <a:rPr lang="en-AU" smtClean="0"/>
              <a:t>11/02/2021</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slide" Target="slide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slide" Target="slide5.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Thermoregulation and regulation of body fluids</a:t>
            </a:r>
          </a:p>
        </p:txBody>
      </p:sp>
      <p:sp>
        <p:nvSpPr>
          <p:cNvPr id="5" name="Subtitle 4">
            <a:extLst>
              <a:ext uri="{FF2B5EF4-FFF2-40B4-BE49-F238E27FC236}">
                <a16:creationId xmlns:a16="http://schemas.microsoft.com/office/drawing/2014/main" id="{022F4486-81DD-4F90-B08A-579A961A131C}"/>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357594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are we doing today?</a:t>
            </a:r>
          </a:p>
        </p:txBody>
      </p:sp>
      <p:sp>
        <p:nvSpPr>
          <p:cNvPr id="3" name="Content Placeholder 2"/>
          <p:cNvSpPr>
            <a:spLocks noGrp="1"/>
          </p:cNvSpPr>
          <p:nvPr>
            <p:ph idx="1"/>
          </p:nvPr>
        </p:nvSpPr>
        <p:spPr/>
        <p:txBody>
          <a:bodyPr>
            <a:normAutofit lnSpcReduction="10000"/>
          </a:bodyPr>
          <a:lstStyle/>
          <a:p>
            <a:pPr lvl="0"/>
            <a:r>
              <a:rPr lang="en-AU" dirty="0"/>
              <a:t>Thermoregulation occurs by the control of heat exchange and metabolic activity through physiological and behavioural mechanisms (SU)</a:t>
            </a:r>
          </a:p>
          <a:p>
            <a:pPr lvl="0"/>
            <a:r>
              <a:rPr lang="en-AU" dirty="0"/>
              <a:t>Body fluid concentrations are maintained by balancing water and salts via the skin, digestive system and the kidneys, which involve the actions of antidiuretic hormone (ADH) and aldosterone on the nephron, and the thirst reflex (SU)</a:t>
            </a:r>
          </a:p>
          <a:p>
            <a:pPr lvl="0"/>
            <a:r>
              <a:rPr lang="en-AU" sz="2000" i="1" dirty="0"/>
              <a:t>Feedback systems – positive and negative (SU)</a:t>
            </a:r>
          </a:p>
          <a:p>
            <a:pPr lvl="0"/>
            <a:r>
              <a:rPr lang="en-AU" sz="2000" i="1" dirty="0"/>
              <a:t>Homeostatic processes involve nerves and hormones in maintaining the body’s internal environment within tolerance limits through the control of metabolism and physiological and behavioural activities (SU)</a:t>
            </a:r>
          </a:p>
          <a:p>
            <a:pPr lvl="0"/>
            <a:r>
              <a:rPr lang="en-AU" sz="2000" i="1" dirty="0"/>
              <a:t>Select, use and/or construct appropriate representations, including diagrams, models and flow charts, to communicate conceptual understanding, solve problems and make predictions.(SIS)</a:t>
            </a:r>
          </a:p>
          <a:p>
            <a:pPr lvl="0"/>
            <a:endParaRPr lang="en-AU" sz="2000" i="1" dirty="0"/>
          </a:p>
          <a:p>
            <a:pPr lvl="0"/>
            <a:endParaRPr lang="en-AU" sz="2000" i="1" dirty="0"/>
          </a:p>
        </p:txBody>
      </p:sp>
    </p:spTree>
    <p:extLst>
      <p:ext uri="{BB962C8B-B14F-4D97-AF65-F5344CB8AC3E}">
        <p14:creationId xmlns:p14="http://schemas.microsoft.com/office/powerpoint/2010/main" val="149131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Negative feedback</a:t>
            </a:r>
          </a:p>
        </p:txBody>
      </p:sp>
      <p:sp>
        <p:nvSpPr>
          <p:cNvPr id="3" name="Content Placeholder 2"/>
          <p:cNvSpPr>
            <a:spLocks noGrp="1"/>
          </p:cNvSpPr>
          <p:nvPr>
            <p:ph idx="1"/>
          </p:nvPr>
        </p:nvSpPr>
        <p:spPr/>
        <p:txBody>
          <a:bodyPr/>
          <a:lstStyle/>
          <a:p>
            <a:r>
              <a:rPr lang="en-AU" dirty="0"/>
              <a:t>Response reduces or eliminates the stimulus that causes it</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698" t="29301" r="62499" b="15468"/>
          <a:stretch/>
        </p:blipFill>
        <p:spPr bwMode="auto">
          <a:xfrm>
            <a:off x="1043608" y="2019868"/>
            <a:ext cx="6526718" cy="483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76704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
          <p:cNvSpPr>
            <a:spLocks noGrp="1" noChangeArrowheads="1"/>
          </p:cNvSpPr>
          <p:nvPr>
            <p:ph type="title"/>
          </p:nvPr>
        </p:nvSpPr>
        <p:spPr>
          <a:xfrm>
            <a:off x="0" y="0"/>
            <a:ext cx="9152930" cy="803672"/>
          </a:xfrm>
        </p:spPr>
        <p:txBody>
          <a:bodyPr anchor="b"/>
          <a:lstStyle/>
          <a:p>
            <a:pPr>
              <a:tabLst>
                <a:tab pos="669703" algn="l"/>
              </a:tabLst>
            </a:pPr>
            <a:r>
              <a:rPr lang="en-US" altLang="en-US"/>
              <a:t>Thermoregulation</a:t>
            </a:r>
          </a:p>
        </p:txBody>
      </p:sp>
      <p:sp>
        <p:nvSpPr>
          <p:cNvPr id="54274" name="Rectangle 2"/>
          <p:cNvSpPr>
            <a:spLocks noGrp="1" noChangeArrowheads="1"/>
          </p:cNvSpPr>
          <p:nvPr>
            <p:ph type="body" idx="1"/>
          </p:nvPr>
        </p:nvSpPr>
        <p:spPr>
          <a:xfrm>
            <a:off x="1000125" y="928687"/>
            <a:ext cx="6974086" cy="2116336"/>
          </a:xfrm>
        </p:spPr>
        <p:txBody>
          <a:bodyPr>
            <a:normAutofit fontScale="92500" lnSpcReduction="10000"/>
          </a:bodyPr>
          <a:lstStyle/>
          <a:p>
            <a:pPr>
              <a:lnSpc>
                <a:spcPct val="107000"/>
              </a:lnSpc>
              <a:tabLst>
                <a:tab pos="721047" algn="l"/>
              </a:tabLst>
            </a:pPr>
            <a:r>
              <a:rPr lang="en-US" altLang="en-US"/>
              <a:t>Body temperature is regulated by the </a:t>
            </a:r>
            <a:r>
              <a:rPr lang="en-US" altLang="en-US" u="sng">
                <a:solidFill>
                  <a:srgbClr val="FF0000"/>
                </a:solidFill>
                <a:latin typeface="Arial Italic" pitchFamily="1" charset="0"/>
                <a:cs typeface="Arial Italic" pitchFamily="1" charset="0"/>
                <a:sym typeface="Arial Italic" pitchFamily="1" charset="0"/>
                <a:hlinkClick r:id="rId3" action="ppaction://hlinksldjump"/>
              </a:rPr>
              <a:t>hypothalamus</a:t>
            </a:r>
            <a:r>
              <a:rPr lang="en-US" altLang="en-US"/>
              <a:t>. In humans, the hypothalamus has a </a:t>
            </a:r>
            <a:r>
              <a:rPr lang="ja-JP" altLang="en-US"/>
              <a:t>“</a:t>
            </a:r>
            <a:r>
              <a:rPr lang="en-US" altLang="ja-JP"/>
              <a:t>set point</a:t>
            </a:r>
            <a:r>
              <a:rPr lang="ja-JP" altLang="en-US"/>
              <a:t>”</a:t>
            </a:r>
            <a:r>
              <a:rPr lang="en-US" altLang="ja-JP"/>
              <a:t> of 36.7</a:t>
            </a:r>
            <a:r>
              <a:rPr lang="en-US" altLang="ja-JP" baseline="32000"/>
              <a:t>o</a:t>
            </a:r>
            <a:r>
              <a:rPr lang="en-US" altLang="ja-JP"/>
              <a:t>C.</a:t>
            </a:r>
          </a:p>
          <a:p>
            <a:pPr>
              <a:lnSpc>
                <a:spcPct val="107000"/>
              </a:lnSpc>
              <a:tabLst>
                <a:tab pos="721047" algn="l"/>
              </a:tabLst>
            </a:pPr>
            <a:r>
              <a:rPr lang="en-US" altLang="en-US"/>
              <a:t>The </a:t>
            </a:r>
            <a:r>
              <a:rPr lang="en-US" altLang="en-US">
                <a:solidFill>
                  <a:srgbClr val="0000FF"/>
                </a:solidFill>
                <a:latin typeface="Arial Bold" pitchFamily="1" charset="0"/>
                <a:cs typeface="Arial Bold" pitchFamily="1" charset="0"/>
                <a:sym typeface="Arial Bold" pitchFamily="1" charset="0"/>
              </a:rPr>
              <a:t>hypothalamus</a:t>
            </a:r>
            <a:r>
              <a:rPr lang="en-US" altLang="en-US"/>
              <a:t> responds to core temperature changes and nerve impulses from receptors in the skin.</a:t>
            </a:r>
          </a:p>
          <a:p>
            <a:pPr>
              <a:lnSpc>
                <a:spcPct val="107000"/>
              </a:lnSpc>
              <a:tabLst>
                <a:tab pos="721047" algn="l"/>
              </a:tabLst>
            </a:pPr>
            <a:r>
              <a:rPr lang="en-US" altLang="en-US"/>
              <a:t>It coordinates appropriate nervous and hormonal responses to return the body to its normal temperature.</a:t>
            </a:r>
          </a:p>
        </p:txBody>
      </p:sp>
      <p:pic>
        <p:nvPicPr>
          <p:cNvPr id="12288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1636" y="3202819"/>
            <a:ext cx="2436787" cy="3655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2288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031" y="3259336"/>
            <a:ext cx="3821906" cy="365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extLst>
      <p:ext uri="{BB962C8B-B14F-4D97-AF65-F5344CB8AC3E}">
        <p14:creationId xmlns:p14="http://schemas.microsoft.com/office/powerpoint/2010/main" val="367745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27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27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2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bldLvl="5"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1"/>
          <p:cNvSpPr>
            <a:spLocks noGrp="1" noChangeArrowheads="1"/>
          </p:cNvSpPr>
          <p:nvPr>
            <p:ph type="title"/>
          </p:nvPr>
        </p:nvSpPr>
        <p:spPr>
          <a:xfrm>
            <a:off x="457200" y="274638"/>
            <a:ext cx="7620000" cy="645120"/>
          </a:xfrm>
        </p:spPr>
        <p:txBody>
          <a:bodyPr anchor="b"/>
          <a:lstStyle/>
          <a:p>
            <a:pPr>
              <a:tabLst>
                <a:tab pos="669703" algn="l"/>
              </a:tabLst>
            </a:pPr>
            <a:r>
              <a:rPr lang="en-US" altLang="en-US" dirty="0"/>
              <a:t>Counteracting Heat Loss</a:t>
            </a:r>
          </a:p>
        </p:txBody>
      </p:sp>
      <p:sp>
        <p:nvSpPr>
          <p:cNvPr id="56322" name="Rectangle 2"/>
          <p:cNvSpPr>
            <a:spLocks noGrp="1" noChangeArrowheads="1"/>
          </p:cNvSpPr>
          <p:nvPr>
            <p:ph type="body" idx="1"/>
          </p:nvPr>
        </p:nvSpPr>
        <p:spPr>
          <a:xfrm>
            <a:off x="5348010" y="1528093"/>
            <a:ext cx="3112422" cy="5228943"/>
          </a:xfrm>
        </p:spPr>
        <p:txBody>
          <a:bodyPr>
            <a:normAutofit fontScale="70000" lnSpcReduction="20000"/>
          </a:bodyPr>
          <a:lstStyle/>
          <a:p>
            <a:pPr>
              <a:lnSpc>
                <a:spcPct val="107000"/>
              </a:lnSpc>
              <a:tabLst>
                <a:tab pos="721047" algn="l"/>
                <a:tab pos="1045853" algn="l"/>
                <a:tab pos="1155238" algn="l"/>
              </a:tabLst>
            </a:pPr>
            <a:r>
              <a:rPr lang="en-US" altLang="en-US" dirty="0"/>
              <a:t>Factors affecting heat loss:</a:t>
            </a:r>
          </a:p>
          <a:p>
            <a:pPr lvl="1">
              <a:lnSpc>
                <a:spcPct val="110000"/>
              </a:lnSpc>
              <a:spcBef>
                <a:spcPts val="773"/>
              </a:spcBef>
              <a:buBlip>
                <a:blip r:embed="rId3"/>
              </a:buBlip>
              <a:tabLst>
                <a:tab pos="721047" algn="l"/>
                <a:tab pos="1045853" algn="l"/>
                <a:tab pos="1155238" algn="l"/>
              </a:tabLst>
            </a:pPr>
            <a:r>
              <a:rPr lang="en-US" altLang="en-US" dirty="0"/>
              <a:t>Any factor that increases the thermal gradient will accelerate heat loss through radiation:</a:t>
            </a:r>
          </a:p>
          <a:p>
            <a:pPr lvl="2">
              <a:lnSpc>
                <a:spcPct val="110000"/>
              </a:lnSpc>
              <a:spcBef>
                <a:spcPts val="773"/>
              </a:spcBef>
              <a:buBlip>
                <a:blip r:embed="rId4"/>
              </a:buBlip>
              <a:tabLst>
                <a:tab pos="721047" algn="l"/>
                <a:tab pos="1045853" algn="l"/>
                <a:tab pos="1155238" algn="l"/>
              </a:tabLst>
            </a:pPr>
            <a:r>
              <a:rPr lang="en-US" altLang="en-US" dirty="0"/>
              <a:t>Wind (wind chill factor)</a:t>
            </a:r>
          </a:p>
          <a:p>
            <a:pPr lvl="2">
              <a:lnSpc>
                <a:spcPct val="110000"/>
              </a:lnSpc>
              <a:spcBef>
                <a:spcPts val="773"/>
              </a:spcBef>
              <a:buBlip>
                <a:blip r:embed="rId4"/>
              </a:buBlip>
              <a:tabLst>
                <a:tab pos="721047" algn="l"/>
                <a:tab pos="1045853" algn="l"/>
                <a:tab pos="1155238" algn="l"/>
              </a:tabLst>
            </a:pPr>
            <a:r>
              <a:rPr lang="en-US" altLang="en-US" dirty="0"/>
              <a:t>Cold external temperatures</a:t>
            </a:r>
          </a:p>
          <a:p>
            <a:pPr lvl="2">
              <a:lnSpc>
                <a:spcPct val="110000"/>
              </a:lnSpc>
              <a:spcBef>
                <a:spcPts val="773"/>
              </a:spcBef>
              <a:buBlip>
                <a:blip r:embed="rId4"/>
              </a:buBlip>
              <a:tabLst>
                <a:tab pos="721047" algn="l"/>
                <a:tab pos="1045853" algn="l"/>
                <a:tab pos="1155238" algn="l"/>
              </a:tabLst>
            </a:pPr>
            <a:r>
              <a:rPr lang="en-US" altLang="en-US" dirty="0"/>
              <a:t>Being inadequately clothed</a:t>
            </a:r>
          </a:p>
          <a:p>
            <a:pPr lvl="1">
              <a:lnSpc>
                <a:spcPct val="110000"/>
              </a:lnSpc>
              <a:spcBef>
                <a:spcPts val="773"/>
              </a:spcBef>
              <a:buBlip>
                <a:blip r:embed="rId3"/>
              </a:buBlip>
              <a:tabLst>
                <a:tab pos="721047" algn="l"/>
                <a:tab pos="1045853" algn="l"/>
                <a:tab pos="1155238" algn="l"/>
              </a:tabLst>
            </a:pPr>
            <a:r>
              <a:rPr lang="en-US" altLang="en-US" dirty="0"/>
              <a:t>Being wet or in cold water accelerates conductive heat loss.</a:t>
            </a:r>
          </a:p>
          <a:p>
            <a:pPr lvl="1">
              <a:lnSpc>
                <a:spcPct val="110000"/>
              </a:lnSpc>
              <a:spcBef>
                <a:spcPts val="773"/>
              </a:spcBef>
              <a:buBlip>
                <a:blip r:embed="rId3"/>
              </a:buBlip>
              <a:tabLst>
                <a:tab pos="721047" algn="l"/>
                <a:tab pos="1045853" algn="l"/>
                <a:tab pos="1155238" algn="l"/>
              </a:tabLst>
            </a:pPr>
            <a:r>
              <a:rPr lang="en-US" altLang="en-US" dirty="0"/>
              <a:t>Dehydration and circulatory shock accelerate heat loss because a lower blood volume reduces capacity to retain heat. </a:t>
            </a:r>
          </a:p>
          <a:p>
            <a:pPr>
              <a:lnSpc>
                <a:spcPct val="107000"/>
              </a:lnSpc>
              <a:tabLst>
                <a:tab pos="721047" algn="l"/>
                <a:tab pos="1045853" algn="l"/>
                <a:tab pos="1155238" algn="l"/>
              </a:tabLst>
            </a:pPr>
            <a:r>
              <a:rPr lang="en-US" altLang="en-US" dirty="0"/>
              <a:t>Responses to heat loss are brought about primarily through the </a:t>
            </a:r>
            <a:r>
              <a:rPr lang="en-US" altLang="en-US" u="sng" dirty="0">
                <a:solidFill>
                  <a:srgbClr val="FF0000"/>
                </a:solidFill>
                <a:latin typeface="Arial Italic" pitchFamily="1" charset="0"/>
                <a:cs typeface="Arial Italic" pitchFamily="1" charset="0"/>
                <a:sym typeface="Arial Italic" pitchFamily="1" charset="0"/>
                <a:hlinkClick r:id="" action="ppaction://noaction"/>
              </a:rPr>
              <a:t>sympathetic nerves</a:t>
            </a:r>
            <a:r>
              <a:rPr lang="en-US" altLang="en-US" dirty="0"/>
              <a:t> of the </a:t>
            </a:r>
            <a:r>
              <a:rPr lang="en-US" altLang="en-US" u="sng" dirty="0">
                <a:solidFill>
                  <a:srgbClr val="FF0000"/>
                </a:solidFill>
                <a:latin typeface="Arial Italic" pitchFamily="1" charset="0"/>
                <a:cs typeface="Arial Italic" pitchFamily="1" charset="0"/>
                <a:sym typeface="Arial Italic" pitchFamily="1" charset="0"/>
                <a:hlinkClick r:id="rId5" action="ppaction://hlinksldjump"/>
              </a:rPr>
              <a:t>autonomic nervous system</a:t>
            </a:r>
            <a:r>
              <a:rPr lang="en-US" altLang="en-US" dirty="0"/>
              <a:t>.</a:t>
            </a:r>
          </a:p>
        </p:txBody>
      </p:sp>
      <p:pic>
        <p:nvPicPr>
          <p:cNvPr id="12698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37" y="678656"/>
            <a:ext cx="3303984" cy="6116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nvGrpSpPr>
          <p:cNvPr id="2" name="Group 6"/>
          <p:cNvGrpSpPr>
            <a:grpSpLocks/>
          </p:cNvGrpSpPr>
          <p:nvPr/>
        </p:nvGrpSpPr>
        <p:grpSpPr bwMode="auto">
          <a:xfrm>
            <a:off x="1935510" y="919758"/>
            <a:ext cx="3288357" cy="1187648"/>
            <a:chOff x="0" y="0"/>
            <a:chExt cx="2945" cy="1064"/>
          </a:xfrm>
        </p:grpSpPr>
        <p:sp>
          <p:nvSpPr>
            <p:cNvPr id="126994" name="Freeform 4"/>
            <p:cNvSpPr>
              <a:spLocks/>
            </p:cNvSpPr>
            <p:nvPr/>
          </p:nvSpPr>
          <p:spPr bwMode="auto">
            <a:xfrm>
              <a:off x="0" y="328"/>
              <a:ext cx="1100" cy="217"/>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7535" y="17153"/>
                    <a:pt x="21600" y="21600"/>
                  </a:cubicBezTo>
                </a:path>
              </a:pathLst>
            </a:custGeom>
            <a:noFill/>
            <a:ln w="25400">
              <a:solidFill>
                <a:srgbClr val="FF0000"/>
              </a:solidFill>
              <a:miter lim="800000"/>
              <a:headEnd type="oval"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sp>
          <p:nvSpPr>
            <p:cNvPr id="126995" name="Rectangle 5"/>
            <p:cNvSpPr>
              <a:spLocks/>
            </p:cNvSpPr>
            <p:nvPr/>
          </p:nvSpPr>
          <p:spPr bwMode="auto">
            <a:xfrm>
              <a:off x="1073" y="0"/>
              <a:ext cx="1872" cy="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Heat promoting center</a:t>
              </a:r>
              <a:r>
                <a:rPr lang="en-US" altLang="en-US" sz="1300">
                  <a:solidFill>
                    <a:srgbClr val="0000FF"/>
                  </a:solidFill>
                  <a:ea typeface="MS PGothic" pitchFamily="34" charset="-128"/>
                  <a:sym typeface="Arial" pitchFamily="34" charset="0"/>
                </a:rPr>
                <a:t> in the hypothalamus monitors fall in temperature below 35.8</a:t>
              </a:r>
              <a:r>
                <a:rPr lang="en-US" altLang="en-US" sz="1300" baseline="32000">
                  <a:solidFill>
                    <a:srgbClr val="0000FF"/>
                  </a:solidFill>
                  <a:ea typeface="MS PGothic" pitchFamily="34" charset="-128"/>
                  <a:sym typeface="Arial" pitchFamily="34" charset="0"/>
                </a:rPr>
                <a:t>o</a:t>
              </a:r>
              <a:r>
                <a:rPr lang="en-US" altLang="en-US" sz="1300">
                  <a:solidFill>
                    <a:srgbClr val="0000FF"/>
                  </a:solidFill>
                  <a:ea typeface="MS PGothic" pitchFamily="34" charset="-128"/>
                  <a:sym typeface="Arial" pitchFamily="34" charset="0"/>
                </a:rPr>
                <a:t>C and promotes responses that conserve heat.</a:t>
              </a:r>
            </a:p>
          </p:txBody>
        </p:sp>
      </p:grpSp>
      <p:grpSp>
        <p:nvGrpSpPr>
          <p:cNvPr id="3" name="Group 9"/>
          <p:cNvGrpSpPr>
            <a:grpSpLocks/>
          </p:cNvGrpSpPr>
          <p:nvPr/>
        </p:nvGrpSpPr>
        <p:grpSpPr bwMode="auto">
          <a:xfrm>
            <a:off x="1762498" y="1942207"/>
            <a:ext cx="3568526" cy="1067098"/>
            <a:chOff x="0" y="0"/>
            <a:chExt cx="3196" cy="955"/>
          </a:xfrm>
        </p:grpSpPr>
        <p:sp>
          <p:nvSpPr>
            <p:cNvPr id="126992" name="Rectangle 7"/>
            <p:cNvSpPr>
              <a:spLocks/>
            </p:cNvSpPr>
            <p:nvPr/>
          </p:nvSpPr>
          <p:spPr bwMode="auto">
            <a:xfrm>
              <a:off x="1228" y="563"/>
              <a:ext cx="1968"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Thyroxine</a:t>
              </a:r>
              <a:r>
                <a:rPr lang="en-US" altLang="en-US" sz="1300">
                  <a:solidFill>
                    <a:srgbClr val="0000FF"/>
                  </a:solidFill>
                  <a:ea typeface="MS PGothic" pitchFamily="34" charset="-128"/>
                  <a:sym typeface="Arial" pitchFamily="34" charset="0"/>
                </a:rPr>
                <a:t> and </a:t>
              </a:r>
              <a:r>
                <a:rPr lang="en-US" altLang="en-US" sz="1300">
                  <a:solidFill>
                    <a:srgbClr val="0000FF"/>
                  </a:solidFill>
                  <a:latin typeface="Arial Bold" pitchFamily="1" charset="0"/>
                  <a:ea typeface="MS PGothic" pitchFamily="34" charset="-128"/>
                  <a:sym typeface="Arial Bold" pitchFamily="1" charset="0"/>
                </a:rPr>
                <a:t>epinephrine</a:t>
              </a:r>
              <a:r>
                <a:rPr lang="en-US" altLang="en-US" sz="1300">
                  <a:solidFill>
                    <a:srgbClr val="0000FF"/>
                  </a:solidFill>
                  <a:ea typeface="MS PGothic" pitchFamily="34" charset="-128"/>
                  <a:sym typeface="Arial" pitchFamily="34" charset="0"/>
                </a:rPr>
                <a:t> increase metabolic rate.</a:t>
              </a:r>
            </a:p>
          </p:txBody>
        </p:sp>
        <p:sp>
          <p:nvSpPr>
            <p:cNvPr id="126993" name="Freeform 8"/>
            <p:cNvSpPr>
              <a:spLocks/>
            </p:cNvSpPr>
            <p:nvPr/>
          </p:nvSpPr>
          <p:spPr bwMode="auto">
            <a:xfrm>
              <a:off x="0" y="0"/>
              <a:ext cx="1254" cy="755"/>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10497" y="1281"/>
                    <a:pt x="4987" y="18488"/>
                    <a:pt x="21600" y="21600"/>
                  </a:cubicBezTo>
                </a:path>
              </a:pathLst>
            </a:custGeom>
            <a:noFill/>
            <a:ln w="25400">
              <a:solidFill>
                <a:srgbClr val="FF0000"/>
              </a:solidFill>
              <a:miter lim="800000"/>
              <a:headEnd type="oval"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grpSp>
      <p:grpSp>
        <p:nvGrpSpPr>
          <p:cNvPr id="4" name="Group 12"/>
          <p:cNvGrpSpPr>
            <a:grpSpLocks/>
          </p:cNvGrpSpPr>
          <p:nvPr/>
        </p:nvGrpSpPr>
        <p:grpSpPr bwMode="auto">
          <a:xfrm>
            <a:off x="1429866" y="3048372"/>
            <a:ext cx="3794001" cy="1236762"/>
            <a:chOff x="0" y="0"/>
            <a:chExt cx="3398" cy="1108"/>
          </a:xfrm>
        </p:grpSpPr>
        <p:sp>
          <p:nvSpPr>
            <p:cNvPr id="126990" name="Rectangle 10"/>
            <p:cNvSpPr>
              <a:spLocks/>
            </p:cNvSpPr>
            <p:nvPr/>
          </p:nvSpPr>
          <p:spPr bwMode="auto">
            <a:xfrm>
              <a:off x="1526" y="380"/>
              <a:ext cx="1872"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ea typeface="MS PGothic" pitchFamily="34" charset="-128"/>
                  <a:sym typeface="Arial" pitchFamily="34" charset="0"/>
                </a:rPr>
                <a:t>In extreme cold </a:t>
              </a:r>
              <a:r>
                <a:rPr lang="en-US" altLang="en-US" sz="1300">
                  <a:solidFill>
                    <a:srgbClr val="0000FF"/>
                  </a:solidFill>
                  <a:latin typeface="Arial Bold" pitchFamily="1" charset="0"/>
                  <a:ea typeface="MS PGothic" pitchFamily="34" charset="-128"/>
                  <a:sym typeface="Arial Bold" pitchFamily="1" charset="0"/>
                </a:rPr>
                <a:t>thyroxine</a:t>
              </a:r>
              <a:r>
                <a:rPr lang="en-US" altLang="en-US" sz="1300">
                  <a:solidFill>
                    <a:srgbClr val="0000FF"/>
                  </a:solidFill>
                  <a:ea typeface="MS PGothic" pitchFamily="34" charset="-128"/>
                  <a:sym typeface="Arial" pitchFamily="34" charset="0"/>
                </a:rPr>
                <a:t> and </a:t>
              </a:r>
              <a:r>
                <a:rPr lang="en-US" altLang="en-US" sz="1300">
                  <a:solidFill>
                    <a:srgbClr val="0000FF"/>
                  </a:solidFill>
                  <a:latin typeface="Arial Bold" pitchFamily="1" charset="0"/>
                  <a:ea typeface="MS PGothic" pitchFamily="34" charset="-128"/>
                  <a:sym typeface="Arial Bold" pitchFamily="1" charset="0"/>
                </a:rPr>
                <a:t>epinephrine</a:t>
              </a:r>
              <a:r>
                <a:rPr lang="en-US" altLang="en-US" sz="1300">
                  <a:solidFill>
                    <a:srgbClr val="0000FF"/>
                  </a:solidFill>
                  <a:ea typeface="MS PGothic" pitchFamily="34" charset="-128"/>
                  <a:sym typeface="Arial" pitchFamily="34" charset="0"/>
                </a:rPr>
                <a:t> increase energy-releasing activities in the liver.</a:t>
              </a:r>
            </a:p>
          </p:txBody>
        </p:sp>
        <p:sp>
          <p:nvSpPr>
            <p:cNvPr id="126991" name="Freeform 11"/>
            <p:cNvSpPr>
              <a:spLocks/>
            </p:cNvSpPr>
            <p:nvPr/>
          </p:nvSpPr>
          <p:spPr bwMode="auto">
            <a:xfrm>
              <a:off x="0" y="0"/>
              <a:ext cx="1572" cy="730"/>
            </a:xfrm>
            <a:custGeom>
              <a:avLst/>
              <a:gdLst>
                <a:gd name="T0" fmla="*/ 0 w 21600"/>
                <a:gd name="T1" fmla="*/ 0 h 20789"/>
                <a:gd name="T2" fmla="*/ 1 w 21600"/>
                <a:gd name="T3" fmla="*/ 0 h 20789"/>
                <a:gd name="T4" fmla="*/ 0 60000 65536"/>
                <a:gd name="T5" fmla="*/ 0 60000 65536"/>
                <a:gd name="T6" fmla="*/ 0 w 21600"/>
                <a:gd name="T7" fmla="*/ 0 h 20789"/>
                <a:gd name="T8" fmla="*/ 21600 w 21600"/>
                <a:gd name="T9" fmla="*/ 20789 h 20789"/>
              </a:gdLst>
              <a:ahLst/>
              <a:cxnLst>
                <a:cxn ang="T4">
                  <a:pos x="T0" y="T1"/>
                </a:cxn>
                <a:cxn ang="T5">
                  <a:pos x="T2" y="T3"/>
                </a:cxn>
              </a:cxnLst>
              <a:rect l="T6" t="T7" r="T8" b="T9"/>
              <a:pathLst>
                <a:path w="21600" h="20789">
                  <a:moveTo>
                    <a:pt x="0" y="24"/>
                  </a:moveTo>
                  <a:cubicBezTo>
                    <a:pt x="8523" y="-811"/>
                    <a:pt x="11093" y="20377"/>
                    <a:pt x="21600" y="20789"/>
                  </a:cubicBezTo>
                </a:path>
              </a:pathLst>
            </a:custGeom>
            <a:noFill/>
            <a:ln w="25400">
              <a:solidFill>
                <a:srgbClr val="FF0000"/>
              </a:solidFill>
              <a:miter lim="800000"/>
              <a:headEnd type="oval"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grpSp>
      <p:grpSp>
        <p:nvGrpSpPr>
          <p:cNvPr id="5" name="Group 15"/>
          <p:cNvGrpSpPr>
            <a:grpSpLocks/>
          </p:cNvGrpSpPr>
          <p:nvPr/>
        </p:nvGrpSpPr>
        <p:grpSpPr bwMode="auto">
          <a:xfrm>
            <a:off x="1885280" y="4585395"/>
            <a:ext cx="3338587" cy="601638"/>
            <a:chOff x="0" y="0"/>
            <a:chExt cx="2990" cy="539"/>
          </a:xfrm>
        </p:grpSpPr>
        <p:sp>
          <p:nvSpPr>
            <p:cNvPr id="126988" name="Rectangle 13"/>
            <p:cNvSpPr>
              <a:spLocks/>
            </p:cNvSpPr>
            <p:nvPr/>
          </p:nvSpPr>
          <p:spPr bwMode="auto">
            <a:xfrm>
              <a:off x="1118" y="147"/>
              <a:ext cx="1872"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Muscle activity</a:t>
              </a:r>
              <a:r>
                <a:rPr lang="en-US" altLang="en-US" sz="1300">
                  <a:solidFill>
                    <a:srgbClr val="0000FF"/>
                  </a:solidFill>
                  <a:ea typeface="MS PGothic" pitchFamily="34" charset="-128"/>
                  <a:sym typeface="Arial" pitchFamily="34" charset="0"/>
                </a:rPr>
                <a:t> produces internal heat.</a:t>
              </a:r>
            </a:p>
          </p:txBody>
        </p:sp>
        <p:sp>
          <p:nvSpPr>
            <p:cNvPr id="126989" name="Freeform 14"/>
            <p:cNvSpPr>
              <a:spLocks/>
            </p:cNvSpPr>
            <p:nvPr/>
          </p:nvSpPr>
          <p:spPr bwMode="auto">
            <a:xfrm>
              <a:off x="0" y="0"/>
              <a:ext cx="1148" cy="334"/>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13357" y="0"/>
                    <a:pt x="14079" y="20463"/>
                    <a:pt x="21600" y="21600"/>
                  </a:cubicBezTo>
                </a:path>
              </a:pathLst>
            </a:custGeom>
            <a:noFill/>
            <a:ln w="25400">
              <a:solidFill>
                <a:srgbClr val="FF0000"/>
              </a:solidFill>
              <a:miter lim="800000"/>
              <a:headEnd type="oval"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grpSp>
      <p:grpSp>
        <p:nvGrpSpPr>
          <p:cNvPr id="6" name="Group 18"/>
          <p:cNvGrpSpPr>
            <a:grpSpLocks/>
          </p:cNvGrpSpPr>
          <p:nvPr/>
        </p:nvGrpSpPr>
        <p:grpSpPr bwMode="auto">
          <a:xfrm>
            <a:off x="1848445" y="5650260"/>
            <a:ext cx="3375422" cy="1002357"/>
            <a:chOff x="0" y="0"/>
            <a:chExt cx="3024" cy="897"/>
          </a:xfrm>
        </p:grpSpPr>
        <p:sp>
          <p:nvSpPr>
            <p:cNvPr id="126986" name="Rectangle 16"/>
            <p:cNvSpPr>
              <a:spLocks/>
            </p:cNvSpPr>
            <p:nvPr/>
          </p:nvSpPr>
          <p:spPr bwMode="auto">
            <a:xfrm>
              <a:off x="1152" y="1"/>
              <a:ext cx="1872"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Erector muscles</a:t>
              </a:r>
              <a:r>
                <a:rPr lang="en-US" altLang="en-US" sz="1300">
                  <a:solidFill>
                    <a:srgbClr val="0000FF"/>
                  </a:solidFill>
                  <a:ea typeface="MS PGothic" pitchFamily="34" charset="-128"/>
                  <a:sym typeface="Arial" pitchFamily="34" charset="0"/>
                </a:rPr>
                <a:t> of hairs contract to raise hairs and increase the insulating layer of air. Blood flow to skin decreases.</a:t>
              </a:r>
            </a:p>
          </p:txBody>
        </p:sp>
        <p:sp>
          <p:nvSpPr>
            <p:cNvPr id="126987" name="Freeform 17"/>
            <p:cNvSpPr>
              <a:spLocks/>
            </p:cNvSpPr>
            <p:nvPr/>
          </p:nvSpPr>
          <p:spPr bwMode="auto">
            <a:xfrm>
              <a:off x="0" y="0"/>
              <a:ext cx="1182" cy="468"/>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21600" y="21600"/>
                  </a:moveTo>
                  <a:cubicBezTo>
                    <a:pt x="9499" y="20494"/>
                    <a:pt x="6752" y="1180"/>
                    <a:pt x="0" y="0"/>
                  </a:cubicBezTo>
                </a:path>
              </a:pathLst>
            </a:custGeom>
            <a:noFill/>
            <a:ln w="25400">
              <a:solidFill>
                <a:srgbClr val="FF0000"/>
              </a:solidFill>
              <a:miter lim="800000"/>
              <a:headEnd/>
              <a:tailEnd type="oval"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grpSp>
    </p:spTree>
    <p:extLst>
      <p:ext uri="{BB962C8B-B14F-4D97-AF65-F5344CB8AC3E}">
        <p14:creationId xmlns:p14="http://schemas.microsoft.com/office/powerpoint/2010/main" val="8515153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32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632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632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632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632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6322">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6322">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6322">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5"/>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build="p" bldLvl="5"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
          <p:cNvSpPr>
            <a:spLocks noGrp="1" noChangeArrowheads="1"/>
          </p:cNvSpPr>
          <p:nvPr>
            <p:ph type="title"/>
          </p:nvPr>
        </p:nvSpPr>
        <p:spPr>
          <a:xfrm>
            <a:off x="251520" y="318155"/>
            <a:ext cx="7620000" cy="618347"/>
          </a:xfrm>
        </p:spPr>
        <p:txBody>
          <a:bodyPr anchor="b"/>
          <a:lstStyle/>
          <a:p>
            <a:pPr>
              <a:tabLst>
                <a:tab pos="669703" algn="l"/>
              </a:tabLst>
            </a:pPr>
            <a:r>
              <a:rPr lang="en-US" altLang="en-US" dirty="0"/>
              <a:t>Counteracting Heat Gain</a:t>
            </a:r>
          </a:p>
        </p:txBody>
      </p:sp>
      <p:sp>
        <p:nvSpPr>
          <p:cNvPr id="57346" name="Rectangle 2"/>
          <p:cNvSpPr>
            <a:spLocks noGrp="1" noChangeArrowheads="1"/>
          </p:cNvSpPr>
          <p:nvPr>
            <p:ph type="body" idx="1"/>
          </p:nvPr>
        </p:nvSpPr>
        <p:spPr>
          <a:xfrm>
            <a:off x="8892" y="2132398"/>
            <a:ext cx="3625453" cy="4188023"/>
          </a:xfrm>
        </p:spPr>
        <p:txBody>
          <a:bodyPr>
            <a:normAutofit fontScale="77500" lnSpcReduction="20000"/>
          </a:bodyPr>
          <a:lstStyle/>
          <a:p>
            <a:pPr>
              <a:tabLst>
                <a:tab pos="721047" algn="l"/>
                <a:tab pos="1045853" algn="l"/>
              </a:tabLst>
            </a:pPr>
            <a:r>
              <a:rPr lang="en-US" altLang="en-US" dirty="0"/>
              <a:t>Factors causing heat gain include:</a:t>
            </a:r>
          </a:p>
          <a:p>
            <a:pPr lvl="1">
              <a:spcBef>
                <a:spcPts val="773"/>
              </a:spcBef>
              <a:buBlip>
                <a:blip r:embed="rId3"/>
              </a:buBlip>
              <a:tabLst>
                <a:tab pos="721047" algn="l"/>
                <a:tab pos="1045853" algn="l"/>
              </a:tabLst>
            </a:pPr>
            <a:r>
              <a:rPr lang="en-US" altLang="en-US" dirty="0"/>
              <a:t>Gain of heat through a warmer environment.</a:t>
            </a:r>
          </a:p>
          <a:p>
            <a:pPr lvl="1">
              <a:spcBef>
                <a:spcPts val="773"/>
              </a:spcBef>
              <a:buBlip>
                <a:blip r:embed="rId3"/>
              </a:buBlip>
              <a:tabLst>
                <a:tab pos="721047" algn="l"/>
                <a:tab pos="1045853" algn="l"/>
              </a:tabLst>
            </a:pPr>
            <a:r>
              <a:rPr lang="en-US" altLang="en-US" dirty="0"/>
              <a:t>High humidity reduces effectiveness of evaporative cooling.</a:t>
            </a:r>
          </a:p>
          <a:p>
            <a:pPr lvl="1">
              <a:spcBef>
                <a:spcPts val="773"/>
              </a:spcBef>
              <a:buBlip>
                <a:blip r:embed="rId3"/>
              </a:buBlip>
              <a:tabLst>
                <a:tab pos="721047" algn="l"/>
                <a:tab pos="1045853" algn="l"/>
              </a:tabLst>
            </a:pPr>
            <a:r>
              <a:rPr lang="en-US" altLang="en-US" dirty="0"/>
              <a:t>Excessive fat deposits make it harder to lose heat generated by activity.</a:t>
            </a:r>
          </a:p>
          <a:p>
            <a:pPr lvl="1">
              <a:spcBef>
                <a:spcPts val="773"/>
              </a:spcBef>
              <a:buBlip>
                <a:blip r:embed="rId3"/>
              </a:buBlip>
              <a:tabLst>
                <a:tab pos="721047" algn="l"/>
                <a:tab pos="1045853" algn="l"/>
              </a:tabLst>
            </a:pPr>
            <a:r>
              <a:rPr lang="en-US" altLang="en-US" dirty="0"/>
              <a:t>Heavy clothing that traps air and </a:t>
            </a:r>
            <a:r>
              <a:rPr lang="en-US" altLang="en-US" dirty="0" err="1"/>
              <a:t>doesn</a:t>
            </a:r>
            <a:r>
              <a:rPr lang="en-AU" altLang="en-US" dirty="0"/>
              <a:t>’</a:t>
            </a:r>
            <a:r>
              <a:rPr lang="en-US" altLang="ja-JP" dirty="0"/>
              <a:t>t allow heat to escape.</a:t>
            </a:r>
          </a:p>
          <a:p>
            <a:pPr>
              <a:tabLst>
                <a:tab pos="721047" algn="l"/>
                <a:tab pos="1045853" algn="l"/>
              </a:tabLst>
            </a:pPr>
            <a:r>
              <a:rPr lang="en-US" altLang="en-US" dirty="0"/>
              <a:t>Responses to heat gain are brought about primarily through</a:t>
            </a:r>
            <a:br>
              <a:rPr lang="en-US" altLang="en-US" dirty="0"/>
            </a:br>
            <a:r>
              <a:rPr lang="en-US" altLang="en-US" dirty="0"/>
              <a:t>the </a:t>
            </a:r>
            <a:r>
              <a:rPr lang="en-US" altLang="en-US" u="sng" dirty="0">
                <a:solidFill>
                  <a:srgbClr val="FF0000"/>
                </a:solidFill>
                <a:latin typeface="Arial Italic" pitchFamily="1" charset="0"/>
                <a:cs typeface="Arial Italic" pitchFamily="1" charset="0"/>
                <a:sym typeface="Arial Italic" pitchFamily="1" charset="0"/>
                <a:hlinkClick r:id="" action="ppaction://noaction"/>
              </a:rPr>
              <a:t>parasympathetic nerves</a:t>
            </a:r>
            <a:r>
              <a:rPr lang="en-US" altLang="en-US" dirty="0"/>
              <a:t> of the autonomic nervous system.</a:t>
            </a:r>
          </a:p>
        </p:txBody>
      </p:sp>
      <p:pic>
        <p:nvPicPr>
          <p:cNvPr id="12902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3719" y="738932"/>
            <a:ext cx="1625203" cy="5875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nvGrpSpPr>
          <p:cNvPr id="2" name="Group 6"/>
          <p:cNvGrpSpPr>
            <a:grpSpLocks/>
          </p:cNvGrpSpPr>
          <p:nvPr/>
        </p:nvGrpSpPr>
        <p:grpSpPr bwMode="auto">
          <a:xfrm>
            <a:off x="4321969" y="935385"/>
            <a:ext cx="3085207" cy="1189881"/>
            <a:chOff x="0" y="0"/>
            <a:chExt cx="2764" cy="1065"/>
          </a:xfrm>
        </p:grpSpPr>
        <p:sp>
          <p:nvSpPr>
            <p:cNvPr id="129042" name="Freeform 4"/>
            <p:cNvSpPr>
              <a:spLocks/>
            </p:cNvSpPr>
            <p:nvPr/>
          </p:nvSpPr>
          <p:spPr bwMode="auto">
            <a:xfrm>
              <a:off x="1947" y="0"/>
              <a:ext cx="817" cy="523"/>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21600" y="0"/>
                  </a:moveTo>
                  <a:cubicBezTo>
                    <a:pt x="21600" y="0"/>
                    <a:pt x="11902" y="19605"/>
                    <a:pt x="0" y="21600"/>
                  </a:cubicBezTo>
                </a:path>
              </a:pathLst>
            </a:custGeom>
            <a:noFill/>
            <a:ln w="25400">
              <a:solidFill>
                <a:srgbClr val="FF0000"/>
              </a:solidFill>
              <a:miter lim="800000"/>
              <a:headEnd type="oval"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sp>
          <p:nvSpPr>
            <p:cNvPr id="129043" name="Rectangle 5"/>
            <p:cNvSpPr>
              <a:spLocks/>
            </p:cNvSpPr>
            <p:nvPr/>
          </p:nvSpPr>
          <p:spPr bwMode="auto">
            <a:xfrm>
              <a:off x="0" y="1"/>
              <a:ext cx="1960" cy="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dirty="0">
                  <a:solidFill>
                    <a:srgbClr val="0000FF"/>
                  </a:solidFill>
                  <a:latin typeface="Arial Bold" pitchFamily="1" charset="0"/>
                  <a:ea typeface="MS PGothic" pitchFamily="34" charset="-128"/>
                  <a:sym typeface="Arial Bold" pitchFamily="1" charset="0"/>
                </a:rPr>
                <a:t>Heat losing </a:t>
              </a:r>
              <a:r>
                <a:rPr lang="en-US" altLang="en-US" sz="1300" dirty="0" err="1">
                  <a:solidFill>
                    <a:srgbClr val="0000FF"/>
                  </a:solidFill>
                  <a:latin typeface="Arial Bold" pitchFamily="1" charset="0"/>
                  <a:ea typeface="MS PGothic" pitchFamily="34" charset="-128"/>
                  <a:sym typeface="Arial Bold" pitchFamily="1" charset="0"/>
                </a:rPr>
                <a:t>centre</a:t>
              </a:r>
              <a:r>
                <a:rPr lang="en-US" altLang="en-US" sz="1300" dirty="0">
                  <a:solidFill>
                    <a:srgbClr val="0000FF"/>
                  </a:solidFill>
                  <a:ea typeface="MS PGothic" pitchFamily="34" charset="-128"/>
                  <a:sym typeface="Arial" pitchFamily="34" charset="0"/>
                </a:rPr>
                <a:t> in the hypothalamus monitors any rise in temperature above 37.5</a:t>
              </a:r>
              <a:r>
                <a:rPr lang="en-US" altLang="en-US" sz="1300" baseline="32000" dirty="0">
                  <a:solidFill>
                    <a:srgbClr val="0000FF"/>
                  </a:solidFill>
                  <a:ea typeface="MS PGothic" pitchFamily="34" charset="-128"/>
                  <a:sym typeface="Arial" pitchFamily="34" charset="0"/>
                </a:rPr>
                <a:t>o</a:t>
              </a:r>
              <a:r>
                <a:rPr lang="en-US" altLang="en-US" sz="1300" dirty="0">
                  <a:solidFill>
                    <a:srgbClr val="0000FF"/>
                  </a:solidFill>
                  <a:ea typeface="MS PGothic" pitchFamily="34" charset="-128"/>
                  <a:sym typeface="Arial" pitchFamily="34" charset="0"/>
                </a:rPr>
                <a:t>C and coordinates responses that increase heat loss.</a:t>
              </a:r>
            </a:p>
          </p:txBody>
        </p:sp>
      </p:grpSp>
      <p:grpSp>
        <p:nvGrpSpPr>
          <p:cNvPr id="3" name="Group 9"/>
          <p:cNvGrpSpPr>
            <a:grpSpLocks/>
          </p:cNvGrpSpPr>
          <p:nvPr/>
        </p:nvGrpSpPr>
        <p:grpSpPr bwMode="auto">
          <a:xfrm>
            <a:off x="4321969" y="2759273"/>
            <a:ext cx="3085207" cy="437555"/>
            <a:chOff x="0" y="0"/>
            <a:chExt cx="2764" cy="392"/>
          </a:xfrm>
        </p:grpSpPr>
        <p:sp>
          <p:nvSpPr>
            <p:cNvPr id="129040" name="Rectangle 7"/>
            <p:cNvSpPr>
              <a:spLocks/>
            </p:cNvSpPr>
            <p:nvPr/>
          </p:nvSpPr>
          <p:spPr bwMode="auto">
            <a:xfrm>
              <a:off x="0" y="0"/>
              <a:ext cx="1968"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Sweating</a:t>
              </a:r>
              <a:r>
                <a:rPr lang="en-US" altLang="en-US" sz="1300">
                  <a:solidFill>
                    <a:srgbClr val="0000FF"/>
                  </a:solidFill>
                  <a:ea typeface="MS PGothic" pitchFamily="34" charset="-128"/>
                  <a:sym typeface="Arial" pitchFamily="34" charset="0"/>
                </a:rPr>
                <a:t> increases cooling by evaporation.</a:t>
              </a:r>
            </a:p>
          </p:txBody>
        </p:sp>
        <p:sp>
          <p:nvSpPr>
            <p:cNvPr id="129041" name="Freeform 8"/>
            <p:cNvSpPr>
              <a:spLocks/>
            </p:cNvSpPr>
            <p:nvPr/>
          </p:nvSpPr>
          <p:spPr bwMode="auto">
            <a:xfrm>
              <a:off x="1925" y="152"/>
              <a:ext cx="839" cy="159"/>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21600" y="21600"/>
                  </a:moveTo>
                  <a:cubicBezTo>
                    <a:pt x="5034" y="18746"/>
                    <a:pt x="12055" y="20788"/>
                    <a:pt x="0" y="0"/>
                  </a:cubicBezTo>
                </a:path>
              </a:pathLst>
            </a:custGeom>
            <a:noFill/>
            <a:ln w="25400">
              <a:solidFill>
                <a:srgbClr val="FF0000"/>
              </a:solidFill>
              <a:miter lim="800000"/>
              <a:headEnd type="oval"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grpSp>
      <p:grpSp>
        <p:nvGrpSpPr>
          <p:cNvPr id="4" name="Group 12"/>
          <p:cNvGrpSpPr>
            <a:grpSpLocks/>
          </p:cNvGrpSpPr>
          <p:nvPr/>
        </p:nvGrpSpPr>
        <p:grpSpPr bwMode="auto">
          <a:xfrm>
            <a:off x="4321969" y="2692301"/>
            <a:ext cx="3214688" cy="1655341"/>
            <a:chOff x="0" y="0"/>
            <a:chExt cx="2880" cy="1483"/>
          </a:xfrm>
        </p:grpSpPr>
        <p:sp>
          <p:nvSpPr>
            <p:cNvPr id="129038" name="Rectangle 10"/>
            <p:cNvSpPr>
              <a:spLocks/>
            </p:cNvSpPr>
            <p:nvPr/>
          </p:nvSpPr>
          <p:spPr bwMode="auto">
            <a:xfrm>
              <a:off x="0" y="923"/>
              <a:ext cx="1992"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Muscle tone</a:t>
              </a:r>
              <a:r>
                <a:rPr lang="en-US" altLang="en-US" sz="1300">
                  <a:solidFill>
                    <a:srgbClr val="0000FF"/>
                  </a:solidFill>
                  <a:ea typeface="MS PGothic" pitchFamily="34" charset="-128"/>
                  <a:sym typeface="Arial" pitchFamily="34" charset="0"/>
                </a:rPr>
                <a:t> and </a:t>
              </a:r>
              <a:r>
                <a:rPr lang="en-US" altLang="en-US" sz="1300">
                  <a:solidFill>
                    <a:srgbClr val="0000FF"/>
                  </a:solidFill>
                  <a:latin typeface="Arial Bold" pitchFamily="1" charset="0"/>
                  <a:ea typeface="MS PGothic" pitchFamily="34" charset="-128"/>
                  <a:sym typeface="Arial Bold" pitchFamily="1" charset="0"/>
                </a:rPr>
                <a:t>metabolic rate</a:t>
              </a:r>
              <a:r>
                <a:rPr lang="en-US" altLang="en-US" sz="1300">
                  <a:solidFill>
                    <a:srgbClr val="0000FF"/>
                  </a:solidFill>
                  <a:ea typeface="MS PGothic" pitchFamily="34" charset="-128"/>
                  <a:sym typeface="Arial" pitchFamily="34" charset="0"/>
                </a:rPr>
                <a:t> are decreased, reducing heat output.</a:t>
              </a:r>
            </a:p>
          </p:txBody>
        </p:sp>
        <p:sp>
          <p:nvSpPr>
            <p:cNvPr id="129039" name="Freeform 11"/>
            <p:cNvSpPr>
              <a:spLocks/>
            </p:cNvSpPr>
            <p:nvPr/>
          </p:nvSpPr>
          <p:spPr bwMode="auto">
            <a:xfrm>
              <a:off x="1948" y="0"/>
              <a:ext cx="932" cy="1209"/>
            </a:xfrm>
            <a:custGeom>
              <a:avLst/>
              <a:gdLst>
                <a:gd name="T0" fmla="*/ 0 w 17806"/>
                <a:gd name="T1" fmla="*/ 0 h 21600"/>
                <a:gd name="T2" fmla="*/ 0 w 17806"/>
                <a:gd name="T3" fmla="*/ 0 h 21600"/>
                <a:gd name="T4" fmla="*/ 0 60000 65536"/>
                <a:gd name="T5" fmla="*/ 0 60000 65536"/>
                <a:gd name="T6" fmla="*/ 0 w 17806"/>
                <a:gd name="T7" fmla="*/ 0 h 21600"/>
                <a:gd name="T8" fmla="*/ 17806 w 17806"/>
                <a:gd name="T9" fmla="*/ 21600 h 21600"/>
              </a:gdLst>
              <a:ahLst/>
              <a:cxnLst>
                <a:cxn ang="T4">
                  <a:pos x="T0" y="T1"/>
                </a:cxn>
                <a:cxn ang="T5">
                  <a:pos x="T2" y="T3"/>
                </a:cxn>
              </a:cxnLst>
              <a:rect l="T6" t="T7" r="T8" b="T9"/>
              <a:pathLst>
                <a:path w="17806" h="21600">
                  <a:moveTo>
                    <a:pt x="17806" y="0"/>
                  </a:moveTo>
                  <a:cubicBezTo>
                    <a:pt x="15990" y="9620"/>
                    <a:pt x="21600" y="20114"/>
                    <a:pt x="0" y="21600"/>
                  </a:cubicBezTo>
                </a:path>
              </a:pathLst>
            </a:custGeom>
            <a:noFill/>
            <a:ln w="25400">
              <a:solidFill>
                <a:srgbClr val="FF0000"/>
              </a:solidFill>
              <a:miter lim="800000"/>
              <a:headEnd type="oval"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grpSp>
      <p:grpSp>
        <p:nvGrpSpPr>
          <p:cNvPr id="5" name="Group 15"/>
          <p:cNvGrpSpPr>
            <a:grpSpLocks/>
          </p:cNvGrpSpPr>
          <p:nvPr/>
        </p:nvGrpSpPr>
        <p:grpSpPr bwMode="auto">
          <a:xfrm>
            <a:off x="4321969" y="4694784"/>
            <a:ext cx="3170039" cy="412998"/>
            <a:chOff x="0" y="0"/>
            <a:chExt cx="2840" cy="369"/>
          </a:xfrm>
        </p:grpSpPr>
        <p:sp>
          <p:nvSpPr>
            <p:cNvPr id="129036" name="Rectangle 13"/>
            <p:cNvSpPr>
              <a:spLocks/>
            </p:cNvSpPr>
            <p:nvPr/>
          </p:nvSpPr>
          <p:spPr bwMode="auto">
            <a:xfrm>
              <a:off x="0" y="145"/>
              <a:ext cx="201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Blood</a:t>
              </a:r>
              <a:r>
                <a:rPr lang="en-US" altLang="en-US" sz="1300">
                  <a:solidFill>
                    <a:srgbClr val="0000FF"/>
                  </a:solidFill>
                  <a:ea typeface="MS PGothic" pitchFamily="34" charset="-128"/>
                  <a:sym typeface="Arial" pitchFamily="34" charset="0"/>
                </a:rPr>
                <a:t> flow to skin increases.</a:t>
              </a:r>
            </a:p>
          </p:txBody>
        </p:sp>
        <p:sp>
          <p:nvSpPr>
            <p:cNvPr id="129037" name="Freeform 14"/>
            <p:cNvSpPr>
              <a:spLocks/>
            </p:cNvSpPr>
            <p:nvPr/>
          </p:nvSpPr>
          <p:spPr bwMode="auto">
            <a:xfrm>
              <a:off x="1989" y="0"/>
              <a:ext cx="851" cy="257"/>
            </a:xfrm>
            <a:custGeom>
              <a:avLst/>
              <a:gdLst>
                <a:gd name="T0" fmla="*/ 0 w 21600"/>
                <a:gd name="T1" fmla="*/ 0 h 19319"/>
                <a:gd name="T2" fmla="*/ 0 w 21600"/>
                <a:gd name="T3" fmla="*/ 0 h 19319"/>
                <a:gd name="T4" fmla="*/ 0 60000 65536"/>
                <a:gd name="T5" fmla="*/ 0 60000 65536"/>
                <a:gd name="T6" fmla="*/ 0 w 21600"/>
                <a:gd name="T7" fmla="*/ 0 h 19319"/>
                <a:gd name="T8" fmla="*/ 21600 w 21600"/>
                <a:gd name="T9" fmla="*/ 19319 h 19319"/>
              </a:gdLst>
              <a:ahLst/>
              <a:cxnLst>
                <a:cxn ang="T4">
                  <a:pos x="T0" y="T1"/>
                </a:cxn>
                <a:cxn ang="T5">
                  <a:pos x="T2" y="T3"/>
                </a:cxn>
              </a:cxnLst>
              <a:rect l="T6" t="T7" r="T8" b="T9"/>
              <a:pathLst>
                <a:path w="21600" h="19319">
                  <a:moveTo>
                    <a:pt x="21600" y="0"/>
                  </a:moveTo>
                  <a:cubicBezTo>
                    <a:pt x="10372" y="21600"/>
                    <a:pt x="11351" y="17866"/>
                    <a:pt x="0" y="19319"/>
                  </a:cubicBezTo>
                </a:path>
              </a:pathLst>
            </a:custGeom>
            <a:noFill/>
            <a:ln w="25400">
              <a:solidFill>
                <a:srgbClr val="FF0000"/>
              </a:solidFill>
              <a:miter lim="800000"/>
              <a:headEnd type="oval"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grpSp>
      <p:grpSp>
        <p:nvGrpSpPr>
          <p:cNvPr id="6" name="Group 18"/>
          <p:cNvGrpSpPr>
            <a:grpSpLocks/>
          </p:cNvGrpSpPr>
          <p:nvPr/>
        </p:nvGrpSpPr>
        <p:grpSpPr bwMode="auto">
          <a:xfrm>
            <a:off x="4321969" y="5625703"/>
            <a:ext cx="3143250" cy="625078"/>
            <a:chOff x="0" y="0"/>
            <a:chExt cx="2816" cy="560"/>
          </a:xfrm>
        </p:grpSpPr>
        <p:sp>
          <p:nvSpPr>
            <p:cNvPr id="129034" name="Rectangle 16"/>
            <p:cNvSpPr>
              <a:spLocks/>
            </p:cNvSpPr>
            <p:nvPr/>
          </p:nvSpPr>
          <p:spPr bwMode="auto">
            <a:xfrm>
              <a:off x="0" y="0"/>
              <a:ext cx="2232"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Erector muscles</a:t>
              </a:r>
              <a:r>
                <a:rPr lang="en-US" altLang="en-US" sz="1300">
                  <a:solidFill>
                    <a:srgbClr val="0000FF"/>
                  </a:solidFill>
                  <a:ea typeface="MS PGothic" pitchFamily="34" charset="-128"/>
                  <a:sym typeface="Arial" pitchFamily="34" charset="0"/>
                </a:rPr>
                <a:t> of the hairs relax, flattening hair and reducing the  insulating air layer.</a:t>
              </a:r>
            </a:p>
          </p:txBody>
        </p:sp>
        <p:sp>
          <p:nvSpPr>
            <p:cNvPr id="129035" name="Freeform 17"/>
            <p:cNvSpPr>
              <a:spLocks/>
            </p:cNvSpPr>
            <p:nvPr/>
          </p:nvSpPr>
          <p:spPr bwMode="auto">
            <a:xfrm>
              <a:off x="1950" y="245"/>
              <a:ext cx="866" cy="26"/>
            </a:xfrm>
            <a:custGeom>
              <a:avLst/>
              <a:gdLst>
                <a:gd name="T0" fmla="*/ 0 w 21600"/>
                <a:gd name="T1" fmla="*/ 0 h 10470"/>
                <a:gd name="T2" fmla="*/ 0 w 21600"/>
                <a:gd name="T3" fmla="*/ 0 h 10470"/>
                <a:gd name="T4" fmla="*/ 0 60000 65536"/>
                <a:gd name="T5" fmla="*/ 0 60000 65536"/>
                <a:gd name="T6" fmla="*/ 0 w 21600"/>
                <a:gd name="T7" fmla="*/ 0 h 10470"/>
                <a:gd name="T8" fmla="*/ 21600 w 21600"/>
                <a:gd name="T9" fmla="*/ 10470 h 10470"/>
              </a:gdLst>
              <a:ahLst/>
              <a:cxnLst>
                <a:cxn ang="T4">
                  <a:pos x="T0" y="T1"/>
                </a:cxn>
                <a:cxn ang="T5">
                  <a:pos x="T2" y="T3"/>
                </a:cxn>
              </a:cxnLst>
              <a:rect l="T6" t="T7" r="T8" b="T9"/>
              <a:pathLst>
                <a:path w="21600" h="10470">
                  <a:moveTo>
                    <a:pt x="0" y="10470"/>
                  </a:moveTo>
                  <a:cubicBezTo>
                    <a:pt x="12079" y="6797"/>
                    <a:pt x="15388" y="-11130"/>
                    <a:pt x="21600" y="10470"/>
                  </a:cubicBezTo>
                </a:path>
              </a:pathLst>
            </a:custGeom>
            <a:noFill/>
            <a:ln w="25400">
              <a:solidFill>
                <a:srgbClr val="FF0000"/>
              </a:solidFill>
              <a:miter lim="800000"/>
              <a:headEnd/>
              <a:tailEnd type="oval"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grpSp>
    </p:spTree>
    <p:extLst>
      <p:ext uri="{BB962C8B-B14F-4D97-AF65-F5344CB8AC3E}">
        <p14:creationId xmlns:p14="http://schemas.microsoft.com/office/powerpoint/2010/main" val="1862761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34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734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734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734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7346">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7346">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bldLvl="5"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1"/>
          <p:cNvSpPr>
            <a:spLocks noGrp="1" noChangeArrowheads="1"/>
          </p:cNvSpPr>
          <p:nvPr>
            <p:ph type="title"/>
          </p:nvPr>
        </p:nvSpPr>
        <p:spPr>
          <a:xfrm>
            <a:off x="-8930" y="0"/>
            <a:ext cx="9161859" cy="794742"/>
          </a:xfrm>
        </p:spPr>
        <p:txBody>
          <a:bodyPr anchor="b"/>
          <a:lstStyle/>
          <a:p>
            <a:pPr>
              <a:tabLst>
                <a:tab pos="669703" algn="l"/>
              </a:tabLst>
            </a:pPr>
            <a:r>
              <a:rPr lang="en-US" altLang="en-US" sz="4100"/>
              <a:t>The Skin and Thermoregulation</a:t>
            </a:r>
          </a:p>
        </p:txBody>
      </p:sp>
      <p:sp>
        <p:nvSpPr>
          <p:cNvPr id="55298" name="Rectangle 2"/>
          <p:cNvSpPr>
            <a:spLocks noGrp="1" noChangeArrowheads="1"/>
          </p:cNvSpPr>
          <p:nvPr>
            <p:ph type="body" idx="1"/>
          </p:nvPr>
        </p:nvSpPr>
        <p:spPr>
          <a:xfrm>
            <a:off x="5143500" y="1580554"/>
            <a:ext cx="3172916" cy="5088806"/>
          </a:xfrm>
        </p:spPr>
        <p:txBody>
          <a:bodyPr>
            <a:normAutofit fontScale="85000" lnSpcReduction="10000"/>
          </a:bodyPr>
          <a:lstStyle/>
          <a:p>
            <a:pPr>
              <a:lnSpc>
                <a:spcPct val="107000"/>
              </a:lnSpc>
              <a:tabLst>
                <a:tab pos="721047" algn="l"/>
                <a:tab pos="1045853" algn="l"/>
              </a:tabLst>
            </a:pPr>
            <a:r>
              <a:rPr lang="en-US" altLang="en-US" dirty="0">
                <a:solidFill>
                  <a:srgbClr val="0000FF"/>
                </a:solidFill>
                <a:latin typeface="Arial Bold" pitchFamily="1" charset="0"/>
                <a:cs typeface="Arial Bold" pitchFamily="1" charset="0"/>
                <a:sym typeface="Arial Bold" pitchFamily="1" charset="0"/>
              </a:rPr>
              <a:t>Thermoreceptors</a:t>
            </a:r>
            <a:r>
              <a:rPr lang="en-US" altLang="en-US" dirty="0"/>
              <a:t> in the dermis detect changes in skin temperature outside the normal range and send nerve impulses to the hypothalamus.</a:t>
            </a:r>
          </a:p>
          <a:p>
            <a:pPr>
              <a:lnSpc>
                <a:spcPct val="107000"/>
              </a:lnSpc>
              <a:tabLst>
                <a:tab pos="721047" algn="l"/>
                <a:tab pos="1045853" algn="l"/>
              </a:tabLst>
            </a:pPr>
            <a:r>
              <a:rPr lang="en-US" altLang="en-US" dirty="0"/>
              <a:t>Thermoreceptors come in two types: </a:t>
            </a:r>
          </a:p>
          <a:p>
            <a:pPr lvl="1">
              <a:lnSpc>
                <a:spcPct val="110000"/>
              </a:lnSpc>
              <a:buBlip>
                <a:blip r:embed="rId3"/>
              </a:buBlip>
              <a:tabLst>
                <a:tab pos="721047" algn="l"/>
                <a:tab pos="1045853" algn="l"/>
              </a:tabLst>
            </a:pPr>
            <a:r>
              <a:rPr lang="en-US" altLang="en-US" dirty="0">
                <a:solidFill>
                  <a:srgbClr val="0000FF"/>
                </a:solidFill>
                <a:latin typeface="Arial Bold" pitchFamily="1" charset="0"/>
                <a:cs typeface="Arial Bold" pitchFamily="1" charset="0"/>
                <a:sym typeface="Arial Bold" pitchFamily="1" charset="0"/>
              </a:rPr>
              <a:t>Hot</a:t>
            </a:r>
            <a:r>
              <a:rPr lang="en-US" altLang="en-US" dirty="0"/>
              <a:t> thermoreceptors</a:t>
            </a:r>
            <a:br>
              <a:rPr lang="en-US" altLang="en-US" dirty="0"/>
            </a:br>
            <a:r>
              <a:rPr lang="en-US" altLang="en-US" dirty="0"/>
              <a:t>detect a rise above 37.5</a:t>
            </a:r>
            <a:r>
              <a:rPr lang="en-US" altLang="en-US" baseline="32000" dirty="0"/>
              <a:t>o</a:t>
            </a:r>
            <a:r>
              <a:rPr lang="en-US" altLang="en-US" dirty="0"/>
              <a:t>C </a:t>
            </a:r>
          </a:p>
          <a:p>
            <a:pPr lvl="1">
              <a:lnSpc>
                <a:spcPct val="110000"/>
              </a:lnSpc>
              <a:spcBef>
                <a:spcPts val="844"/>
              </a:spcBef>
              <a:buBlip>
                <a:blip r:embed="rId3"/>
              </a:buBlip>
              <a:tabLst>
                <a:tab pos="721047" algn="l"/>
                <a:tab pos="1045853" algn="l"/>
              </a:tabLst>
            </a:pPr>
            <a:r>
              <a:rPr lang="en-US" altLang="en-US" dirty="0">
                <a:solidFill>
                  <a:srgbClr val="0000FF"/>
                </a:solidFill>
                <a:latin typeface="Arial Bold" pitchFamily="1" charset="0"/>
                <a:cs typeface="Arial Bold" pitchFamily="1" charset="0"/>
                <a:sym typeface="Arial Bold" pitchFamily="1" charset="0"/>
              </a:rPr>
              <a:t>Cold</a:t>
            </a:r>
            <a:r>
              <a:rPr lang="en-US" altLang="en-US" dirty="0"/>
              <a:t> thermoreceptors</a:t>
            </a:r>
            <a:br>
              <a:rPr lang="en-US" altLang="en-US" dirty="0"/>
            </a:br>
            <a:r>
              <a:rPr lang="en-US" altLang="en-US" dirty="0"/>
              <a:t>detect a drop below 35.8</a:t>
            </a:r>
            <a:r>
              <a:rPr lang="en-US" altLang="en-US" baseline="32000" dirty="0"/>
              <a:t>o</a:t>
            </a:r>
            <a:r>
              <a:rPr lang="en-US" altLang="en-US" dirty="0"/>
              <a:t>C. </a:t>
            </a:r>
          </a:p>
          <a:p>
            <a:pPr>
              <a:lnSpc>
                <a:spcPct val="107000"/>
              </a:lnSpc>
              <a:tabLst>
                <a:tab pos="721047" algn="l"/>
                <a:tab pos="1045853" algn="l"/>
              </a:tabLst>
            </a:pPr>
            <a:r>
              <a:rPr lang="en-US" altLang="en-US" dirty="0"/>
              <a:t>The regulation of temperature by the skin forms a negative feedback loop.</a:t>
            </a:r>
          </a:p>
        </p:txBody>
      </p:sp>
      <p:pic>
        <p:nvPicPr>
          <p:cNvPr id="12493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08" y="1000125"/>
            <a:ext cx="3875484" cy="4277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4933" name="Rectangle 4"/>
          <p:cNvSpPr>
            <a:spLocks/>
          </p:cNvSpPr>
          <p:nvPr/>
        </p:nvSpPr>
        <p:spPr bwMode="auto">
          <a:xfrm>
            <a:off x="267891" y="5768578"/>
            <a:ext cx="2312789" cy="625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Blood vessels</a:t>
            </a:r>
            <a:r>
              <a:rPr lang="en-US" altLang="en-US" sz="1300">
                <a:solidFill>
                  <a:srgbClr val="0000FF"/>
                </a:solidFill>
                <a:ea typeface="MS PGothic" pitchFamily="34" charset="-128"/>
                <a:sym typeface="Arial" pitchFamily="34" charset="0"/>
              </a:rPr>
              <a:t> in the dermis</a:t>
            </a:r>
          </a:p>
          <a:p>
            <a:pPr eaLnBrk="1" hangingPunct="1"/>
            <a:r>
              <a:rPr lang="en-US" altLang="en-US" sz="1300">
                <a:solidFill>
                  <a:srgbClr val="0000FF"/>
                </a:solidFill>
                <a:ea typeface="MS PGothic" pitchFamily="34" charset="-128"/>
                <a:sym typeface="Arial" pitchFamily="34" charset="0"/>
              </a:rPr>
              <a:t>- dilate to promote heat loss</a:t>
            </a:r>
          </a:p>
          <a:p>
            <a:pPr eaLnBrk="1" hangingPunct="1"/>
            <a:r>
              <a:rPr lang="en-US" altLang="en-US" sz="1300">
                <a:solidFill>
                  <a:srgbClr val="0000FF"/>
                </a:solidFill>
                <a:ea typeface="MS PGothic" pitchFamily="34" charset="-128"/>
                <a:sym typeface="Arial" pitchFamily="34" charset="0"/>
              </a:rPr>
              <a:t>- constrict to reduce heat loss</a:t>
            </a:r>
          </a:p>
        </p:txBody>
      </p:sp>
      <p:sp>
        <p:nvSpPr>
          <p:cNvPr id="124934" name="Line 5"/>
          <p:cNvSpPr>
            <a:spLocks noChangeShapeType="1"/>
          </p:cNvSpPr>
          <p:nvPr/>
        </p:nvSpPr>
        <p:spPr bwMode="auto">
          <a:xfrm>
            <a:off x="1136303" y="4742781"/>
            <a:ext cx="349374" cy="972219"/>
          </a:xfrm>
          <a:prstGeom prst="line">
            <a:avLst/>
          </a:prstGeom>
          <a:noFill/>
          <a:ln w="25400">
            <a:solidFill>
              <a:srgbClr val="FF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nvGrpSpPr>
          <p:cNvPr id="124935" name="Group 8"/>
          <p:cNvGrpSpPr>
            <a:grpSpLocks/>
          </p:cNvGrpSpPr>
          <p:nvPr/>
        </p:nvGrpSpPr>
        <p:grpSpPr bwMode="auto">
          <a:xfrm>
            <a:off x="2985865" y="2917775"/>
            <a:ext cx="2124149" cy="1660922"/>
            <a:chOff x="0" y="0"/>
            <a:chExt cx="1903" cy="1488"/>
          </a:xfrm>
        </p:grpSpPr>
        <p:sp>
          <p:nvSpPr>
            <p:cNvPr id="124942" name="Rectangle 6"/>
            <p:cNvSpPr>
              <a:spLocks/>
            </p:cNvSpPr>
            <p:nvPr/>
          </p:nvSpPr>
          <p:spPr bwMode="auto">
            <a:xfrm>
              <a:off x="399" y="0"/>
              <a:ext cx="1504" cy="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Sweat glands</a:t>
              </a:r>
              <a:r>
                <a:rPr lang="en-US" altLang="en-US" sz="1300">
                  <a:solidFill>
                    <a:srgbClr val="0000FF"/>
                  </a:solidFill>
                  <a:ea typeface="MS PGothic" pitchFamily="34" charset="-128"/>
                  <a:sym typeface="Arial" pitchFamily="34" charset="0"/>
                </a:rPr>
                <a:t> produce sweat in response to parasympathetic stimulation from the hypothalamus. Sweat cools through evaporation.</a:t>
              </a:r>
            </a:p>
          </p:txBody>
        </p:sp>
        <p:sp>
          <p:nvSpPr>
            <p:cNvPr id="124943" name="Line 7"/>
            <p:cNvSpPr>
              <a:spLocks noChangeShapeType="1"/>
            </p:cNvSpPr>
            <p:nvPr/>
          </p:nvSpPr>
          <p:spPr bwMode="auto">
            <a:xfrm>
              <a:off x="20" y="700"/>
              <a:ext cx="447" cy="0"/>
            </a:xfrm>
            <a:prstGeom prst="line">
              <a:avLst/>
            </a:prstGeom>
            <a:noFill/>
            <a:ln w="25400">
              <a:solidFill>
                <a:srgbClr val="FF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24936" name="Group 11"/>
          <p:cNvGrpSpPr>
            <a:grpSpLocks/>
          </p:cNvGrpSpPr>
          <p:nvPr/>
        </p:nvGrpSpPr>
        <p:grpSpPr bwMode="auto">
          <a:xfrm>
            <a:off x="2527102" y="4156770"/>
            <a:ext cx="1964531" cy="1486793"/>
            <a:chOff x="0" y="0"/>
            <a:chExt cx="1760" cy="1331"/>
          </a:xfrm>
        </p:grpSpPr>
        <p:sp>
          <p:nvSpPr>
            <p:cNvPr id="124940" name="Rectangle 9"/>
            <p:cNvSpPr>
              <a:spLocks/>
            </p:cNvSpPr>
            <p:nvPr/>
          </p:nvSpPr>
          <p:spPr bwMode="auto">
            <a:xfrm>
              <a:off x="0" y="771"/>
              <a:ext cx="1760"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Fat </a:t>
              </a:r>
              <a:r>
                <a:rPr lang="en-US" altLang="en-US" sz="1300">
                  <a:solidFill>
                    <a:srgbClr val="0000FF"/>
                  </a:solidFill>
                  <a:ea typeface="MS PGothic" pitchFamily="34" charset="-128"/>
                  <a:sym typeface="Arial" pitchFamily="34" charset="0"/>
                </a:rPr>
                <a:t>in the subdermal layers insulates the organs against heat loss.</a:t>
              </a:r>
            </a:p>
          </p:txBody>
        </p:sp>
        <p:sp>
          <p:nvSpPr>
            <p:cNvPr id="124941" name="Line 10"/>
            <p:cNvSpPr>
              <a:spLocks noChangeShapeType="1"/>
            </p:cNvSpPr>
            <p:nvPr/>
          </p:nvSpPr>
          <p:spPr bwMode="auto">
            <a:xfrm>
              <a:off x="340" y="19"/>
              <a:ext cx="256" cy="787"/>
            </a:xfrm>
            <a:prstGeom prst="line">
              <a:avLst/>
            </a:prstGeom>
            <a:noFill/>
            <a:ln w="25400">
              <a:solidFill>
                <a:srgbClr val="FF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24937" name="Group 14"/>
          <p:cNvGrpSpPr>
            <a:grpSpLocks/>
          </p:cNvGrpSpPr>
          <p:nvPr/>
        </p:nvGrpSpPr>
        <p:grpSpPr bwMode="auto">
          <a:xfrm>
            <a:off x="2964656" y="830461"/>
            <a:ext cx="1902023" cy="1169789"/>
            <a:chOff x="0" y="0"/>
            <a:chExt cx="1704" cy="1048"/>
          </a:xfrm>
        </p:grpSpPr>
        <p:sp>
          <p:nvSpPr>
            <p:cNvPr id="124938" name="Rectangle 12"/>
            <p:cNvSpPr>
              <a:spLocks/>
            </p:cNvSpPr>
            <p:nvPr/>
          </p:nvSpPr>
          <p:spPr bwMode="auto">
            <a:xfrm>
              <a:off x="0" y="0"/>
              <a:ext cx="1704"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latin typeface="Arial Bold" pitchFamily="1" charset="0"/>
                  <a:ea typeface="MS PGothic" pitchFamily="34" charset="-128"/>
                  <a:sym typeface="Arial Bold" pitchFamily="1" charset="0"/>
                </a:rPr>
                <a:t>Hairs</a:t>
              </a:r>
              <a:r>
                <a:rPr lang="en-US" altLang="en-US" sz="1300">
                  <a:solidFill>
                    <a:srgbClr val="0000FF"/>
                  </a:solidFill>
                  <a:ea typeface="MS PGothic" pitchFamily="34" charset="-128"/>
                  <a:sym typeface="Arial" pitchFamily="34" charset="0"/>
                </a:rPr>
                <a:t> raised or lowered to increase or decrease the thickness of the insulating air layer.</a:t>
              </a:r>
            </a:p>
          </p:txBody>
        </p:sp>
        <p:sp>
          <p:nvSpPr>
            <p:cNvPr id="124939" name="Line 13"/>
            <p:cNvSpPr>
              <a:spLocks noChangeShapeType="1"/>
            </p:cNvSpPr>
            <p:nvPr/>
          </p:nvSpPr>
          <p:spPr bwMode="auto">
            <a:xfrm rot="10800000" flipH="1">
              <a:off x="288" y="689"/>
              <a:ext cx="281" cy="343"/>
            </a:xfrm>
            <a:prstGeom prst="line">
              <a:avLst/>
            </a:prstGeom>
            <a:noFill/>
            <a:ln w="25400">
              <a:solidFill>
                <a:srgbClr val="FF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Tree>
    <p:extLst>
      <p:ext uri="{BB962C8B-B14F-4D97-AF65-F5344CB8AC3E}">
        <p14:creationId xmlns:p14="http://schemas.microsoft.com/office/powerpoint/2010/main" val="437262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29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529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529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529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529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bldLvl="5"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
          <p:cNvSpPr>
            <a:spLocks noGrp="1" noChangeArrowheads="1"/>
          </p:cNvSpPr>
          <p:nvPr>
            <p:ph type="title"/>
          </p:nvPr>
        </p:nvSpPr>
        <p:spPr>
          <a:xfrm>
            <a:off x="323528" y="0"/>
            <a:ext cx="7620000" cy="882352"/>
          </a:xfrm>
        </p:spPr>
        <p:txBody>
          <a:bodyPr anchor="b"/>
          <a:lstStyle/>
          <a:p>
            <a:pPr>
              <a:tabLst>
                <a:tab pos="669703" algn="l"/>
              </a:tabLst>
            </a:pPr>
            <a:r>
              <a:rPr lang="en-US" altLang="en-US" dirty="0"/>
              <a:t>Hypothermia</a:t>
            </a:r>
          </a:p>
        </p:txBody>
      </p:sp>
      <p:pic>
        <p:nvPicPr>
          <p:cNvPr id="1310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30252"/>
            <a:ext cx="5884664" cy="3937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58371" name="Rectangle 3"/>
          <p:cNvSpPr>
            <a:spLocks noGrp="1" noChangeArrowheads="1"/>
          </p:cNvSpPr>
          <p:nvPr>
            <p:ph type="body" idx="1"/>
          </p:nvPr>
        </p:nvSpPr>
        <p:spPr>
          <a:xfrm>
            <a:off x="1223367" y="1053703"/>
            <a:ext cx="7277695" cy="1500188"/>
          </a:xfrm>
        </p:spPr>
        <p:txBody>
          <a:bodyPr/>
          <a:lstStyle/>
          <a:p>
            <a:pPr>
              <a:tabLst>
                <a:tab pos="721047" algn="l"/>
              </a:tabLst>
            </a:pPr>
            <a:r>
              <a:rPr lang="en-US" altLang="en-US" dirty="0">
                <a:solidFill>
                  <a:srgbClr val="0000FF"/>
                </a:solidFill>
                <a:latin typeface="Arial Bold" pitchFamily="1" charset="0"/>
                <a:cs typeface="Arial Bold" pitchFamily="1" charset="0"/>
                <a:sym typeface="Arial Bold" pitchFamily="1" charset="0"/>
              </a:rPr>
              <a:t>Hypothermia</a:t>
            </a:r>
            <a:r>
              <a:rPr lang="en-US" altLang="en-US" dirty="0"/>
              <a:t> is a condition caused when the body</a:t>
            </a:r>
            <a:r>
              <a:rPr lang="ja-JP" altLang="en-US" dirty="0"/>
              <a:t>’</a:t>
            </a:r>
            <a:r>
              <a:rPr lang="en-US" altLang="ja-JP" dirty="0"/>
              <a:t>s core temperature drops below 35</a:t>
            </a:r>
            <a:r>
              <a:rPr lang="en-US" altLang="ja-JP" baseline="32000" dirty="0"/>
              <a:t>o</a:t>
            </a:r>
            <a:r>
              <a:rPr lang="en-US" altLang="ja-JP" dirty="0"/>
              <a:t>C.</a:t>
            </a:r>
          </a:p>
          <a:p>
            <a:pPr>
              <a:tabLst>
                <a:tab pos="721047" algn="l"/>
              </a:tabLst>
            </a:pPr>
            <a:r>
              <a:rPr lang="en-US" altLang="en-US" dirty="0"/>
              <a:t>The condition ranges from mild to severe depending how low the body temperature has dropped. </a:t>
            </a:r>
          </a:p>
        </p:txBody>
      </p:sp>
      <p:sp>
        <p:nvSpPr>
          <p:cNvPr id="58372" name="Rectangle 4"/>
          <p:cNvSpPr>
            <a:spLocks/>
          </p:cNvSpPr>
          <p:nvPr/>
        </p:nvSpPr>
        <p:spPr bwMode="auto">
          <a:xfrm>
            <a:off x="2437805" y="2544961"/>
            <a:ext cx="4947047" cy="1044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381000" indent="-381000"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1025525"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1025525"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1025525"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1025525"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lnSpc>
                <a:spcPct val="117000"/>
              </a:lnSpc>
              <a:spcBef>
                <a:spcPts val="1406"/>
              </a:spcBef>
              <a:buClr>
                <a:srgbClr val="0B5ABB"/>
              </a:buClr>
              <a:buSzPct val="150000"/>
              <a:buFont typeface="Lucida Grande" pitchFamily="1" charset="0"/>
              <a:buChar char="‣"/>
            </a:pPr>
            <a:r>
              <a:rPr lang="en-US" altLang="en-US" sz="1700">
                <a:solidFill>
                  <a:srgbClr val="000000"/>
                </a:solidFill>
                <a:ea typeface="MS PGothic" pitchFamily="34" charset="-128"/>
                <a:sym typeface="Arial" pitchFamily="34" charset="0"/>
              </a:rPr>
              <a:t>Severe hypothermia results in mental confusion, including inability to speak and amnesia, organ failure, and death.</a:t>
            </a:r>
          </a:p>
        </p:txBody>
      </p:sp>
    </p:spTree>
    <p:extLst>
      <p:ext uri="{BB962C8B-B14F-4D97-AF65-F5344CB8AC3E}">
        <p14:creationId xmlns:p14="http://schemas.microsoft.com/office/powerpoint/2010/main" val="20803820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837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bldLvl="5" autoUpdateAnimBg="0"/>
      <p:bldP spid="58372"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367" y="1053703"/>
            <a:ext cx="885156" cy="499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35171" name="Rectangle 2"/>
          <p:cNvSpPr>
            <a:spLocks noGrp="1" noChangeArrowheads="1"/>
          </p:cNvSpPr>
          <p:nvPr>
            <p:ph type="title"/>
          </p:nvPr>
        </p:nvSpPr>
        <p:spPr>
          <a:xfrm>
            <a:off x="-17859" y="0"/>
            <a:ext cx="9170789" cy="812602"/>
          </a:xfrm>
        </p:spPr>
        <p:txBody>
          <a:bodyPr anchor="b"/>
          <a:lstStyle/>
          <a:p>
            <a:pPr>
              <a:tabLst>
                <a:tab pos="669703" algn="l"/>
              </a:tabLst>
            </a:pPr>
            <a:r>
              <a:rPr lang="en-US" altLang="en-US"/>
              <a:t>Departures from Normal</a:t>
            </a:r>
          </a:p>
        </p:txBody>
      </p:sp>
      <p:grpSp>
        <p:nvGrpSpPr>
          <p:cNvPr id="2" name="Group 5"/>
          <p:cNvGrpSpPr>
            <a:grpSpLocks/>
          </p:cNvGrpSpPr>
          <p:nvPr/>
        </p:nvGrpSpPr>
        <p:grpSpPr bwMode="auto">
          <a:xfrm>
            <a:off x="1543721" y="1044773"/>
            <a:ext cx="2319486" cy="776883"/>
            <a:chOff x="0" y="0"/>
            <a:chExt cx="2077" cy="696"/>
          </a:xfrm>
        </p:grpSpPr>
        <p:sp>
          <p:nvSpPr>
            <p:cNvPr id="135187" name="Freeform 3"/>
            <p:cNvSpPr>
              <a:spLocks/>
            </p:cNvSpPr>
            <p:nvPr/>
          </p:nvSpPr>
          <p:spPr bwMode="auto">
            <a:xfrm>
              <a:off x="0" y="0"/>
              <a:ext cx="336" cy="696"/>
            </a:xfrm>
            <a:custGeom>
              <a:avLst/>
              <a:gdLst>
                <a:gd name="T0" fmla="*/ 0 w 21342"/>
                <a:gd name="T1" fmla="*/ 0 h 19539"/>
                <a:gd name="T2" fmla="*/ 0 w 21342"/>
                <a:gd name="T3" fmla="*/ 0 h 19539"/>
                <a:gd name="T4" fmla="*/ 0 w 21342"/>
                <a:gd name="T5" fmla="*/ 0 h 19539"/>
                <a:gd name="T6" fmla="*/ 0 w 21342"/>
                <a:gd name="T7" fmla="*/ 0 h 19539"/>
                <a:gd name="T8" fmla="*/ 0 w 21342"/>
                <a:gd name="T9" fmla="*/ 0 h 19539"/>
                <a:gd name="T10" fmla="*/ 0 w 21342"/>
                <a:gd name="T11" fmla="*/ 0 h 19539"/>
                <a:gd name="T12" fmla="*/ 0 60000 65536"/>
                <a:gd name="T13" fmla="*/ 0 60000 65536"/>
                <a:gd name="T14" fmla="*/ 0 60000 65536"/>
                <a:gd name="T15" fmla="*/ 0 60000 65536"/>
                <a:gd name="T16" fmla="*/ 0 60000 65536"/>
                <a:gd name="T17" fmla="*/ 0 60000 65536"/>
                <a:gd name="T18" fmla="*/ 0 w 21342"/>
                <a:gd name="T19" fmla="*/ 0 h 19539"/>
                <a:gd name="T20" fmla="*/ 21342 w 21342"/>
                <a:gd name="T21" fmla="*/ 19539 h 19539"/>
              </a:gdLst>
              <a:ahLst/>
              <a:cxnLst>
                <a:cxn ang="T12">
                  <a:pos x="T0" y="T1"/>
                </a:cxn>
                <a:cxn ang="T13">
                  <a:pos x="T2" y="T3"/>
                </a:cxn>
                <a:cxn ang="T14">
                  <a:pos x="T4" y="T5"/>
                </a:cxn>
                <a:cxn ang="T15">
                  <a:pos x="T6" y="T7"/>
                </a:cxn>
                <a:cxn ang="T16">
                  <a:pos x="T8" y="T9"/>
                </a:cxn>
                <a:cxn ang="T17">
                  <a:pos x="T10" y="T11"/>
                </a:cxn>
              </a:cxnLst>
              <a:rect l="T18" t="T19" r="T20" b="T21"/>
              <a:pathLst>
                <a:path w="21342" h="19539">
                  <a:moveTo>
                    <a:pt x="5" y="5275"/>
                  </a:moveTo>
                  <a:cubicBezTo>
                    <a:pt x="767" y="-2061"/>
                    <a:pt x="21594" y="-1450"/>
                    <a:pt x="21340" y="5275"/>
                  </a:cubicBezTo>
                  <a:cubicBezTo>
                    <a:pt x="21336" y="5377"/>
                    <a:pt x="21340" y="19539"/>
                    <a:pt x="21340" y="19539"/>
                  </a:cubicBezTo>
                  <a:lnTo>
                    <a:pt x="5" y="19539"/>
                  </a:lnTo>
                  <a:cubicBezTo>
                    <a:pt x="5" y="19539"/>
                    <a:pt x="-6" y="5377"/>
                    <a:pt x="5" y="5275"/>
                  </a:cubicBezTo>
                  <a:close/>
                  <a:moveTo>
                    <a:pt x="5" y="5275"/>
                  </a:moveTo>
                </a:path>
              </a:pathLst>
            </a:custGeom>
            <a:gradFill rotWithShape="0">
              <a:gsLst>
                <a:gs pos="0">
                  <a:srgbClr val="FF0000"/>
                </a:gs>
                <a:gs pos="15025">
                  <a:srgbClr val="FF3333"/>
                </a:gs>
                <a:gs pos="31087">
                  <a:srgbClr val="FF6666"/>
                </a:gs>
                <a:gs pos="60103">
                  <a:srgbClr val="FF3333"/>
                </a:gs>
                <a:gs pos="78238">
                  <a:srgbClr val="FF0000"/>
                </a:gs>
                <a:gs pos="100000">
                  <a:srgbClr val="FF0000"/>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p>
          </p:txBody>
        </p:sp>
        <p:sp>
          <p:nvSpPr>
            <p:cNvPr id="135188" name="Line 4"/>
            <p:cNvSpPr>
              <a:spLocks noChangeShapeType="1"/>
            </p:cNvSpPr>
            <p:nvPr/>
          </p:nvSpPr>
          <p:spPr bwMode="auto">
            <a:xfrm rot="10800000" flipH="1">
              <a:off x="246" y="300"/>
              <a:ext cx="1831" cy="36"/>
            </a:xfrm>
            <a:prstGeom prst="line">
              <a:avLst/>
            </a:prstGeom>
            <a:noFill/>
            <a:ln w="25400">
              <a:solidFill>
                <a:srgbClr val="00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3" name="Group 24"/>
          <p:cNvGrpSpPr>
            <a:grpSpLocks/>
          </p:cNvGrpSpPr>
          <p:nvPr/>
        </p:nvGrpSpPr>
        <p:grpSpPr bwMode="auto">
          <a:xfrm>
            <a:off x="1542604" y="2267025"/>
            <a:ext cx="2308324" cy="1403077"/>
            <a:chOff x="1382" y="2031"/>
            <a:chExt cx="2068" cy="1257"/>
          </a:xfrm>
        </p:grpSpPr>
        <p:sp>
          <p:nvSpPr>
            <p:cNvPr id="135185" name="Rectangle 6"/>
            <p:cNvSpPr>
              <a:spLocks/>
            </p:cNvSpPr>
            <p:nvPr/>
          </p:nvSpPr>
          <p:spPr bwMode="auto">
            <a:xfrm>
              <a:off x="1382" y="2399"/>
              <a:ext cx="344" cy="889"/>
            </a:xfrm>
            <a:prstGeom prst="rect">
              <a:avLst/>
            </a:prstGeom>
            <a:gradFill rotWithShape="0">
              <a:gsLst>
                <a:gs pos="0">
                  <a:srgbClr val="B489B3"/>
                </a:gs>
                <a:gs pos="50000">
                  <a:srgbClr val="D6A3D5"/>
                </a:gs>
                <a:gs pos="100000">
                  <a:srgbClr val="B489B3"/>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latin typeface="Hoefler Text" pitchFamily="18" charset="0"/>
              </a:endParaRPr>
            </a:p>
          </p:txBody>
        </p:sp>
        <p:sp>
          <p:nvSpPr>
            <p:cNvPr id="135186" name="Line 7"/>
            <p:cNvSpPr>
              <a:spLocks noChangeShapeType="1"/>
            </p:cNvSpPr>
            <p:nvPr/>
          </p:nvSpPr>
          <p:spPr bwMode="auto">
            <a:xfrm rot="10800000" flipH="1">
              <a:off x="1635" y="2031"/>
              <a:ext cx="1815" cy="579"/>
            </a:xfrm>
            <a:prstGeom prst="line">
              <a:avLst/>
            </a:prstGeom>
            <a:noFill/>
            <a:ln w="25400">
              <a:solidFill>
                <a:srgbClr val="00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4" name="Group 20"/>
          <p:cNvGrpSpPr>
            <a:grpSpLocks/>
          </p:cNvGrpSpPr>
          <p:nvPr/>
        </p:nvGrpSpPr>
        <p:grpSpPr bwMode="auto">
          <a:xfrm>
            <a:off x="1545952" y="3429000"/>
            <a:ext cx="2311673" cy="1446609"/>
            <a:chOff x="1385" y="3072"/>
            <a:chExt cx="2071" cy="1296"/>
          </a:xfrm>
        </p:grpSpPr>
        <p:sp>
          <p:nvSpPr>
            <p:cNvPr id="135183" name="Rectangle 9"/>
            <p:cNvSpPr>
              <a:spLocks/>
            </p:cNvSpPr>
            <p:nvPr/>
          </p:nvSpPr>
          <p:spPr bwMode="auto">
            <a:xfrm>
              <a:off x="1385" y="3295"/>
              <a:ext cx="343" cy="1073"/>
            </a:xfrm>
            <a:prstGeom prst="rect">
              <a:avLst/>
            </a:prstGeom>
            <a:gradFill rotWithShape="0">
              <a:gsLst>
                <a:gs pos="0">
                  <a:srgbClr val="E0959B"/>
                </a:gs>
                <a:gs pos="50000">
                  <a:srgbClr val="FFAAB0"/>
                </a:gs>
                <a:gs pos="100000">
                  <a:srgbClr val="E0959B"/>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latin typeface="Hoefler Text" pitchFamily="18" charset="0"/>
              </a:endParaRPr>
            </a:p>
          </p:txBody>
        </p:sp>
        <p:sp>
          <p:nvSpPr>
            <p:cNvPr id="135184" name="Line 10"/>
            <p:cNvSpPr>
              <a:spLocks noChangeShapeType="1"/>
            </p:cNvSpPr>
            <p:nvPr/>
          </p:nvSpPr>
          <p:spPr bwMode="auto">
            <a:xfrm rot="10800000" flipH="1">
              <a:off x="1669" y="3072"/>
              <a:ext cx="1787" cy="685"/>
            </a:xfrm>
            <a:prstGeom prst="line">
              <a:avLst/>
            </a:prstGeom>
            <a:noFill/>
            <a:ln w="25400">
              <a:solidFill>
                <a:srgbClr val="00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5" name="Group 22"/>
          <p:cNvGrpSpPr>
            <a:grpSpLocks/>
          </p:cNvGrpSpPr>
          <p:nvPr/>
        </p:nvGrpSpPr>
        <p:grpSpPr bwMode="auto">
          <a:xfrm>
            <a:off x="1346151" y="4868912"/>
            <a:ext cx="2484686" cy="1187648"/>
            <a:chOff x="1208" y="4360"/>
            <a:chExt cx="2226" cy="1064"/>
          </a:xfrm>
        </p:grpSpPr>
        <p:sp>
          <p:nvSpPr>
            <p:cNvPr id="135180" name="Rectangle 12"/>
            <p:cNvSpPr>
              <a:spLocks/>
            </p:cNvSpPr>
            <p:nvPr/>
          </p:nvSpPr>
          <p:spPr bwMode="auto">
            <a:xfrm>
              <a:off x="1382" y="4360"/>
              <a:ext cx="344" cy="528"/>
            </a:xfrm>
            <a:prstGeom prst="rect">
              <a:avLst/>
            </a:prstGeom>
            <a:gradFill rotWithShape="0">
              <a:gsLst>
                <a:gs pos="0">
                  <a:srgbClr val="0A23D6"/>
                </a:gs>
                <a:gs pos="50000">
                  <a:srgbClr val="FFA5AC"/>
                </a:gs>
                <a:gs pos="100000">
                  <a:srgbClr val="0A23D6"/>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latin typeface="Hoefler Text" pitchFamily="18" charset="0"/>
              </a:endParaRPr>
            </a:p>
          </p:txBody>
        </p:sp>
        <p:sp>
          <p:nvSpPr>
            <p:cNvPr id="135181" name="Oval 13"/>
            <p:cNvSpPr>
              <a:spLocks/>
            </p:cNvSpPr>
            <p:nvPr/>
          </p:nvSpPr>
          <p:spPr bwMode="auto">
            <a:xfrm>
              <a:off x="1208" y="4728"/>
              <a:ext cx="696" cy="696"/>
            </a:xfrm>
            <a:prstGeom prst="ellipse">
              <a:avLst/>
            </a:prstGeom>
            <a:gradFill rotWithShape="0">
              <a:gsLst>
                <a:gs pos="0">
                  <a:srgbClr val="FFA5AC"/>
                </a:gs>
                <a:gs pos="100000">
                  <a:srgbClr val="0A23D6"/>
                </a:gs>
              </a:gsLst>
              <a:path path="shape">
                <a:fillToRect l="50000" t="50000" r="50000" b="50000"/>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defRPr sz="2800">
                  <a:solidFill>
                    <a:srgbClr val="382F28"/>
                  </a:solidFill>
                  <a:latin typeface="Arial" pitchFamily="34" charset="0"/>
                  <a:ea typeface="ヒラギノ角ゴ ProN W6" pitchFamily="1" charset="-128"/>
                  <a:sym typeface="Hoefler Text" pitchFamily="18" charset="0"/>
                </a:defRPr>
              </a:lvl2pPr>
              <a:lvl3pPr eaLnBrk="0" hangingPunct="0">
                <a:defRPr sz="2800">
                  <a:solidFill>
                    <a:srgbClr val="382F28"/>
                  </a:solidFill>
                  <a:latin typeface="Arial" pitchFamily="34" charset="0"/>
                  <a:ea typeface="ヒラギノ角ゴ ProN W6" pitchFamily="1" charset="-128"/>
                  <a:sym typeface="Hoefler Text" pitchFamily="18" charset="0"/>
                </a:defRPr>
              </a:lvl3pPr>
              <a:lvl4pPr eaLnBrk="0" hangingPunct="0">
                <a:defRPr sz="2800">
                  <a:solidFill>
                    <a:srgbClr val="382F28"/>
                  </a:solidFill>
                  <a:latin typeface="Arial" pitchFamily="34" charset="0"/>
                  <a:ea typeface="ヒラギノ角ゴ ProN W6" pitchFamily="1" charset="-128"/>
                  <a:sym typeface="Hoefler Text" pitchFamily="18" charset="0"/>
                </a:defRPr>
              </a:lvl4pPr>
              <a:lvl5pPr eaLnBrk="0" hangingPunct="0">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defRPr sz="2800">
                  <a:solidFill>
                    <a:srgbClr val="382F28"/>
                  </a:solidFill>
                  <a:latin typeface="Arial" pitchFamily="34" charset="0"/>
                  <a:ea typeface="ヒラギノ角ゴ ProN W6" pitchFamily="1" charset="-128"/>
                  <a:sym typeface="Hoefler Text" pitchFamily="18" charset="0"/>
                </a:defRPr>
              </a:lvl9pPr>
            </a:lstStyle>
            <a:p>
              <a:pPr eaLnBrk="1" hangingPunct="1"/>
              <a:endParaRPr lang="en-US" altLang="en-US">
                <a:latin typeface="Hoefler Text" pitchFamily="18" charset="0"/>
              </a:endParaRPr>
            </a:p>
          </p:txBody>
        </p:sp>
        <p:sp>
          <p:nvSpPr>
            <p:cNvPr id="135182" name="Line 15"/>
            <p:cNvSpPr>
              <a:spLocks noChangeShapeType="1"/>
            </p:cNvSpPr>
            <p:nvPr/>
          </p:nvSpPr>
          <p:spPr bwMode="auto">
            <a:xfrm>
              <a:off x="1662" y="4508"/>
              <a:ext cx="1772" cy="233"/>
            </a:xfrm>
            <a:prstGeom prst="line">
              <a:avLst/>
            </a:prstGeom>
            <a:noFill/>
            <a:ln w="25400">
              <a:solidFill>
                <a:srgbClr val="00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
        <p:nvSpPr>
          <p:cNvPr id="60433" name="Rectangle 17"/>
          <p:cNvSpPr>
            <a:spLocks/>
          </p:cNvSpPr>
          <p:nvPr/>
        </p:nvSpPr>
        <p:spPr bwMode="auto">
          <a:xfrm>
            <a:off x="3616522" y="1053703"/>
            <a:ext cx="4627885" cy="556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762000" indent="-381000"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1025525"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1025525"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1025525"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1025525"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1025525"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lnSpc>
                <a:spcPct val="120000"/>
              </a:lnSpc>
              <a:spcBef>
                <a:spcPts val="1406"/>
              </a:spcBef>
              <a:buSzPct val="139000"/>
              <a:buBlip>
                <a:blip r:embed="rId4"/>
              </a:buBlip>
            </a:pPr>
            <a:r>
              <a:rPr lang="en-US" altLang="en-US" sz="1400" dirty="0">
                <a:solidFill>
                  <a:srgbClr val="0000FF"/>
                </a:solidFill>
                <a:latin typeface="Arial Bold" pitchFamily="1" charset="0"/>
                <a:ea typeface="MS PGothic" pitchFamily="34" charset="-128"/>
                <a:sym typeface="Arial Bold" pitchFamily="1" charset="0"/>
              </a:rPr>
              <a:t>Hyperthermia</a:t>
            </a:r>
            <a:r>
              <a:rPr lang="en-US" altLang="en-US" sz="1400" dirty="0">
                <a:solidFill>
                  <a:srgbClr val="000000"/>
                </a:solidFill>
                <a:ea typeface="MS PGothic" pitchFamily="34" charset="-128"/>
                <a:sym typeface="Arial" pitchFamily="34" charset="0"/>
              </a:rPr>
              <a:t>: Body temperatures above normal cause metabolic problems that can lead to death.</a:t>
            </a:r>
          </a:p>
          <a:p>
            <a:pPr eaLnBrk="1" hangingPunct="1">
              <a:lnSpc>
                <a:spcPct val="120000"/>
              </a:lnSpc>
              <a:spcBef>
                <a:spcPts val="1406"/>
              </a:spcBef>
              <a:buSzPct val="139000"/>
              <a:buBlip>
                <a:blip r:embed="rId4"/>
              </a:buBlip>
            </a:pPr>
            <a:r>
              <a:rPr lang="en-US" altLang="en-US" sz="1400" dirty="0">
                <a:solidFill>
                  <a:srgbClr val="0000FF"/>
                </a:solidFill>
                <a:latin typeface="Arial Bold" pitchFamily="1" charset="0"/>
                <a:ea typeface="MS PGothic" pitchFamily="34" charset="-128"/>
                <a:sym typeface="Arial Bold" pitchFamily="1" charset="0"/>
              </a:rPr>
              <a:t>Mild hypothermia</a:t>
            </a:r>
            <a:r>
              <a:rPr lang="en-US" altLang="en-US" sz="1400" dirty="0">
                <a:solidFill>
                  <a:srgbClr val="000000"/>
                </a:solidFill>
                <a:ea typeface="MS PGothic" pitchFamily="34" charset="-128"/>
                <a:sym typeface="Arial" pitchFamily="34" charset="0"/>
              </a:rPr>
              <a:t>: Shivering. Vasoconstriction reduces blood flow to the extremities. Hypertension and cold diuresis (increased urine production due to the cold).</a:t>
            </a:r>
          </a:p>
          <a:p>
            <a:pPr eaLnBrk="1" hangingPunct="1">
              <a:lnSpc>
                <a:spcPct val="120000"/>
              </a:lnSpc>
              <a:spcBef>
                <a:spcPts val="1406"/>
              </a:spcBef>
              <a:buSzPct val="139000"/>
              <a:buBlip>
                <a:blip r:embed="rId4"/>
              </a:buBlip>
            </a:pPr>
            <a:r>
              <a:rPr lang="en-US" altLang="en-US" sz="1400" dirty="0">
                <a:solidFill>
                  <a:srgbClr val="0000FF"/>
                </a:solidFill>
                <a:latin typeface="Arial Bold" pitchFamily="1" charset="0"/>
                <a:ea typeface="MS PGothic" pitchFamily="34" charset="-128"/>
                <a:sym typeface="Arial Bold" pitchFamily="1" charset="0"/>
              </a:rPr>
              <a:t>Moderate hypothermia</a:t>
            </a:r>
            <a:r>
              <a:rPr lang="en-US" altLang="en-US" sz="1400" dirty="0">
                <a:solidFill>
                  <a:srgbClr val="000000"/>
                </a:solidFill>
                <a:ea typeface="MS PGothic" pitchFamily="34" charset="-128"/>
                <a:sym typeface="Arial" pitchFamily="34" charset="0"/>
              </a:rPr>
              <a:t>: Muscle coordination becomes difficult. Movements slow or labored. Blood vessels in ears, nose, fingers, and toes constrict further resulting in these turning a blue color. Mental confusion sets in. In some cases, victim may shed clothing (paradoxical undressing).</a:t>
            </a:r>
          </a:p>
          <a:p>
            <a:pPr eaLnBrk="1" hangingPunct="1">
              <a:lnSpc>
                <a:spcPct val="120000"/>
              </a:lnSpc>
              <a:spcBef>
                <a:spcPts val="1406"/>
              </a:spcBef>
              <a:buSzPct val="139000"/>
              <a:buBlip>
                <a:blip r:embed="rId4"/>
              </a:buBlip>
            </a:pPr>
            <a:r>
              <a:rPr lang="en-US" altLang="en-US" sz="1400" dirty="0">
                <a:solidFill>
                  <a:srgbClr val="0000FF"/>
                </a:solidFill>
                <a:latin typeface="Arial Bold" pitchFamily="1" charset="0"/>
                <a:ea typeface="MS PGothic" pitchFamily="34" charset="-128"/>
                <a:sym typeface="Arial Bold" pitchFamily="1" charset="0"/>
              </a:rPr>
              <a:t>Severe hypothermia</a:t>
            </a:r>
            <a:r>
              <a:rPr lang="en-US" altLang="en-US" sz="1400" dirty="0">
                <a:solidFill>
                  <a:srgbClr val="000000"/>
                </a:solidFill>
                <a:ea typeface="MS PGothic" pitchFamily="34" charset="-128"/>
                <a:sym typeface="Arial" pitchFamily="34" charset="0"/>
              </a:rPr>
              <a:t>: Speech fails. Mental processes become irrational, victim may enter a stupor. In some cases, the brain stem produces hide and die behavior. Organs eventually fail and death follows.</a:t>
            </a:r>
          </a:p>
        </p:txBody>
      </p:sp>
      <p:grpSp>
        <p:nvGrpSpPr>
          <p:cNvPr id="135177" name="Group 20"/>
          <p:cNvGrpSpPr>
            <a:grpSpLocks/>
          </p:cNvGrpSpPr>
          <p:nvPr/>
        </p:nvGrpSpPr>
        <p:grpSpPr bwMode="auto">
          <a:xfrm>
            <a:off x="17860" y="2044898"/>
            <a:ext cx="1134070" cy="544711"/>
            <a:chOff x="0" y="0"/>
            <a:chExt cx="1016" cy="488"/>
          </a:xfrm>
        </p:grpSpPr>
        <p:sp>
          <p:nvSpPr>
            <p:cNvPr id="135178" name="Line 18"/>
            <p:cNvSpPr>
              <a:spLocks noChangeShapeType="1"/>
            </p:cNvSpPr>
            <p:nvPr/>
          </p:nvSpPr>
          <p:spPr bwMode="auto">
            <a:xfrm flipH="1">
              <a:off x="514" y="0"/>
              <a:ext cx="462" cy="0"/>
            </a:xfrm>
            <a:prstGeom prst="line">
              <a:avLst/>
            </a:prstGeom>
            <a:noFill/>
            <a:ln w="50800">
              <a:solidFill>
                <a:srgbClr val="FF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179" name="Rectangle 19"/>
            <p:cNvSpPr>
              <a:spLocks/>
            </p:cNvSpPr>
            <p:nvPr/>
          </p:nvSpPr>
          <p:spPr bwMode="auto">
            <a:xfrm>
              <a:off x="0" y="96"/>
              <a:ext cx="1016"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1pPr>
              <a:lvl2pPr marL="37931725" indent="-37474525"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2pPr>
              <a:lvl3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3pPr>
              <a:lvl4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4pPr>
              <a:lvl5pPr eaLnBrk="0" hangingPunct="0">
                <a:tabLst>
                  <a:tab pos="520700" algn="l"/>
                </a:tabLst>
                <a:defRPr sz="2800">
                  <a:solidFill>
                    <a:srgbClr val="382F28"/>
                  </a:solidFill>
                  <a:latin typeface="Arial" pitchFamily="34" charset="0"/>
                  <a:ea typeface="ヒラギノ角ゴ ProN W6" pitchFamily="1" charset="-128"/>
                  <a:sym typeface="Hoefler Text" pitchFamily="18" charset="0"/>
                </a:defRPr>
              </a:lvl5pPr>
              <a:lvl6pPr marL="4572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6pPr>
              <a:lvl7pPr marL="9144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7pPr>
              <a:lvl8pPr marL="13716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8pPr>
              <a:lvl9pPr marL="1828800" eaLnBrk="0" fontAlgn="base" hangingPunct="0">
                <a:spcBef>
                  <a:spcPct val="0"/>
                </a:spcBef>
                <a:spcAft>
                  <a:spcPct val="0"/>
                </a:spcAft>
                <a:tabLst>
                  <a:tab pos="520700" algn="l"/>
                </a:tabLst>
                <a:defRPr sz="2800">
                  <a:solidFill>
                    <a:srgbClr val="382F28"/>
                  </a:solidFill>
                  <a:latin typeface="Arial" pitchFamily="34" charset="0"/>
                  <a:ea typeface="ヒラギノ角ゴ ProN W6" pitchFamily="1" charset="-128"/>
                  <a:sym typeface="Hoefler Text" pitchFamily="18" charset="0"/>
                </a:defRPr>
              </a:lvl9pPr>
            </a:lstStyle>
            <a:p>
              <a:pPr eaLnBrk="1" hangingPunct="1"/>
              <a:r>
                <a:rPr lang="en-US" altLang="en-US" sz="1300">
                  <a:solidFill>
                    <a:srgbClr val="0000FF"/>
                  </a:solidFill>
                  <a:ea typeface="MS PGothic" pitchFamily="34" charset="-128"/>
                  <a:sym typeface="Arial" pitchFamily="34" charset="0"/>
                </a:rPr>
                <a:t>Normal body temperature</a:t>
              </a:r>
            </a:p>
          </p:txBody>
        </p:sp>
      </p:grpSp>
    </p:spTree>
    <p:extLst>
      <p:ext uri="{BB962C8B-B14F-4D97-AF65-F5344CB8AC3E}">
        <p14:creationId xmlns:p14="http://schemas.microsoft.com/office/powerpoint/2010/main" val="37353923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043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6043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043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043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9474" t="14310" r="58552" b="19086"/>
          <a:stretch/>
        </p:blipFill>
        <p:spPr bwMode="auto">
          <a:xfrm>
            <a:off x="467544" y="168440"/>
            <a:ext cx="8028384" cy="6689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0641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822" t="18997" r="52138" b="13158"/>
          <a:stretch/>
        </p:blipFill>
        <p:spPr bwMode="auto">
          <a:xfrm>
            <a:off x="45585" y="1412776"/>
            <a:ext cx="8435146" cy="5445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5585" y="269776"/>
            <a:ext cx="7620000" cy="1143000"/>
          </a:xfrm>
        </p:spPr>
        <p:txBody>
          <a:bodyPr/>
          <a:lstStyle/>
          <a:p>
            <a:r>
              <a:rPr lang="en-AU" dirty="0"/>
              <a:t>Thermoregulation</a:t>
            </a:r>
          </a:p>
        </p:txBody>
      </p:sp>
    </p:spTree>
    <p:extLst>
      <p:ext uri="{BB962C8B-B14F-4D97-AF65-F5344CB8AC3E}">
        <p14:creationId xmlns:p14="http://schemas.microsoft.com/office/powerpoint/2010/main" val="934437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Thermoregulation</a:t>
            </a:r>
          </a:p>
        </p:txBody>
      </p:sp>
      <p:sp>
        <p:nvSpPr>
          <p:cNvPr id="3" name="Content Placeholder 2"/>
          <p:cNvSpPr>
            <a:spLocks noGrp="1"/>
          </p:cNvSpPr>
          <p:nvPr>
            <p:ph idx="1"/>
          </p:nvPr>
        </p:nvSpPr>
        <p:spPr/>
        <p:txBody>
          <a:bodyPr/>
          <a:lstStyle/>
          <a:p>
            <a:endParaRPr lang="en-AU"/>
          </a:p>
        </p:txBody>
      </p:sp>
      <p:pic>
        <p:nvPicPr>
          <p:cNvPr id="205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296" t="19285" r="53355" b="12377"/>
          <a:stretch/>
        </p:blipFill>
        <p:spPr bwMode="auto">
          <a:xfrm>
            <a:off x="251520" y="1547483"/>
            <a:ext cx="7963922" cy="5264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4039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1"/>
          <p:cNvSpPr>
            <a:spLocks noGrp="1" noChangeArrowheads="1"/>
          </p:cNvSpPr>
          <p:nvPr>
            <p:ph type="title"/>
          </p:nvPr>
        </p:nvSpPr>
        <p:spPr>
          <a:xfrm>
            <a:off x="500063" y="258961"/>
            <a:ext cx="4536281" cy="901898"/>
          </a:xfrm>
        </p:spPr>
        <p:txBody>
          <a:bodyPr/>
          <a:lstStyle/>
          <a:p>
            <a:pPr>
              <a:tabLst>
                <a:tab pos="669703" algn="l"/>
              </a:tabLst>
            </a:pPr>
            <a:r>
              <a:rPr lang="en-US" altLang="en-US"/>
              <a:t>Fluid Balance</a:t>
            </a:r>
          </a:p>
        </p:txBody>
      </p:sp>
      <p:pic>
        <p:nvPicPr>
          <p:cNvPr id="1239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6939" y="312539"/>
            <a:ext cx="2805038" cy="6073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3908" name="Rectangle 3"/>
          <p:cNvSpPr>
            <a:spLocks/>
          </p:cNvSpPr>
          <p:nvPr/>
        </p:nvSpPr>
        <p:spPr bwMode="auto">
          <a:xfrm>
            <a:off x="5867921" y="330398"/>
            <a:ext cx="1009055" cy="2411016"/>
          </a:xfrm>
          <a:prstGeom prst="rect">
            <a:avLst/>
          </a:prstGeom>
          <a:solidFill>
            <a:srgbClr val="317BA0">
              <a:alpha val="78822"/>
            </a:srgbClr>
          </a:solidFill>
          <a:ln w="25400">
            <a:solidFill>
              <a:srgbClr val="000000">
                <a:alpha val="78822"/>
              </a:srgbClr>
            </a:solidFill>
            <a:miter lim="800000"/>
            <a:headEnd/>
            <a:tailEnd/>
          </a:ln>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grpSp>
        <p:nvGrpSpPr>
          <p:cNvPr id="123909" name="Group 9"/>
          <p:cNvGrpSpPr>
            <a:grpSpLocks/>
          </p:cNvGrpSpPr>
          <p:nvPr/>
        </p:nvGrpSpPr>
        <p:grpSpPr bwMode="auto">
          <a:xfrm>
            <a:off x="5867921" y="2741414"/>
            <a:ext cx="3027164" cy="3634383"/>
            <a:chOff x="0" y="0"/>
            <a:chExt cx="2712" cy="3256"/>
          </a:xfrm>
        </p:grpSpPr>
        <p:sp>
          <p:nvSpPr>
            <p:cNvPr id="123918" name="Rectangle 4"/>
            <p:cNvSpPr>
              <a:spLocks/>
            </p:cNvSpPr>
            <p:nvPr/>
          </p:nvSpPr>
          <p:spPr bwMode="auto">
            <a:xfrm>
              <a:off x="0" y="0"/>
              <a:ext cx="906" cy="3255"/>
            </a:xfrm>
            <a:prstGeom prst="rect">
              <a:avLst/>
            </a:prstGeom>
            <a:solidFill>
              <a:srgbClr val="84BBD3">
                <a:alpha val="78822"/>
              </a:srgbClr>
            </a:solidFill>
            <a:ln w="25400">
              <a:solidFill>
                <a:srgbClr val="000000">
                  <a:alpha val="78822"/>
                </a:srgbClr>
              </a:solidFill>
              <a:miter lim="800000"/>
              <a:headEnd/>
              <a:tailEnd/>
            </a:ln>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123919" name="Rectangle 5"/>
            <p:cNvSpPr>
              <a:spLocks/>
            </p:cNvSpPr>
            <p:nvPr/>
          </p:nvSpPr>
          <p:spPr bwMode="auto">
            <a:xfrm>
              <a:off x="904" y="0"/>
              <a:ext cx="903" cy="2158"/>
            </a:xfrm>
            <a:prstGeom prst="rect">
              <a:avLst/>
            </a:prstGeom>
            <a:solidFill>
              <a:srgbClr val="F5BC42">
                <a:alpha val="78822"/>
              </a:srgbClr>
            </a:solidFill>
            <a:ln w="25400">
              <a:solidFill>
                <a:srgbClr val="000000">
                  <a:alpha val="78822"/>
                </a:srgbClr>
              </a:solidFill>
              <a:miter lim="800000"/>
              <a:headEnd/>
              <a:tailEnd/>
            </a:ln>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123920" name="Rectangle 6"/>
            <p:cNvSpPr>
              <a:spLocks/>
            </p:cNvSpPr>
            <p:nvPr/>
          </p:nvSpPr>
          <p:spPr bwMode="auto">
            <a:xfrm>
              <a:off x="902" y="2158"/>
              <a:ext cx="907" cy="1097"/>
            </a:xfrm>
            <a:prstGeom prst="rect">
              <a:avLst/>
            </a:prstGeom>
            <a:solidFill>
              <a:srgbClr val="FFF143">
                <a:alpha val="78822"/>
              </a:srgbClr>
            </a:solidFill>
            <a:ln w="25400">
              <a:solidFill>
                <a:srgbClr val="000000">
                  <a:alpha val="78822"/>
                </a:srgbClr>
              </a:solidFill>
              <a:miter lim="800000"/>
              <a:headEnd/>
              <a:tailEnd/>
            </a:ln>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123921" name="Rectangle 7"/>
            <p:cNvSpPr>
              <a:spLocks/>
            </p:cNvSpPr>
            <p:nvPr/>
          </p:nvSpPr>
          <p:spPr bwMode="auto">
            <a:xfrm>
              <a:off x="1805" y="2158"/>
              <a:ext cx="907" cy="871"/>
            </a:xfrm>
            <a:prstGeom prst="rect">
              <a:avLst/>
            </a:prstGeom>
            <a:solidFill>
              <a:srgbClr val="955282">
                <a:alpha val="78822"/>
              </a:srgbClr>
            </a:solidFill>
            <a:ln w="25400">
              <a:solidFill>
                <a:srgbClr val="000000">
                  <a:alpha val="78822"/>
                </a:srgbClr>
              </a:solidFill>
              <a:miter lim="800000"/>
              <a:headEnd/>
              <a:tailEnd/>
            </a:ln>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123922" name="Rectangle 8"/>
            <p:cNvSpPr>
              <a:spLocks/>
            </p:cNvSpPr>
            <p:nvPr/>
          </p:nvSpPr>
          <p:spPr bwMode="auto">
            <a:xfrm>
              <a:off x="1805" y="3029"/>
              <a:ext cx="907" cy="227"/>
            </a:xfrm>
            <a:prstGeom prst="rect">
              <a:avLst/>
            </a:prstGeom>
            <a:solidFill>
              <a:srgbClr val="AE7090">
                <a:alpha val="78822"/>
              </a:srgbClr>
            </a:solidFill>
            <a:ln w="25400">
              <a:solidFill>
                <a:srgbClr val="000000">
                  <a:alpha val="78822"/>
                </a:srgbClr>
              </a:solidFill>
              <a:miter lim="800000"/>
              <a:headEnd/>
              <a:tailEnd/>
            </a:ln>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grpSp>
      <p:sp>
        <p:nvSpPr>
          <p:cNvPr id="123910" name="Rectangle 10"/>
          <p:cNvSpPr>
            <a:spLocks/>
          </p:cNvSpPr>
          <p:nvPr/>
        </p:nvSpPr>
        <p:spPr bwMode="auto">
          <a:xfrm>
            <a:off x="6015593" y="1367968"/>
            <a:ext cx="5418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0000"/>
                </a:solidFill>
                <a:cs typeface="Arial" charset="0"/>
              </a:rPr>
              <a:t>40 % </a:t>
            </a:r>
          </a:p>
          <a:p>
            <a:pPr algn="ctr" eaLnBrk="1" hangingPunct="1"/>
            <a:r>
              <a:rPr lang="en-US" altLang="en-US" sz="1300">
                <a:solidFill>
                  <a:srgbClr val="000000"/>
                </a:solidFill>
                <a:cs typeface="Arial" charset="0"/>
              </a:rPr>
              <a:t>solids</a:t>
            </a:r>
          </a:p>
        </p:txBody>
      </p:sp>
      <p:sp>
        <p:nvSpPr>
          <p:cNvPr id="123911" name="Rectangle 11"/>
          <p:cNvSpPr>
            <a:spLocks/>
          </p:cNvSpPr>
          <p:nvPr/>
        </p:nvSpPr>
        <p:spPr bwMode="auto">
          <a:xfrm>
            <a:off x="6051886" y="4082593"/>
            <a:ext cx="5049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0000"/>
                </a:solidFill>
                <a:cs typeface="Arial" charset="0"/>
              </a:rPr>
              <a:t>60% </a:t>
            </a:r>
          </a:p>
          <a:p>
            <a:pPr algn="ctr" eaLnBrk="1" hangingPunct="1"/>
            <a:r>
              <a:rPr lang="en-US" altLang="en-US" sz="1300">
                <a:solidFill>
                  <a:srgbClr val="000000"/>
                </a:solidFill>
                <a:cs typeface="Arial" charset="0"/>
              </a:rPr>
              <a:t>fluids</a:t>
            </a:r>
          </a:p>
        </p:txBody>
      </p:sp>
      <p:sp>
        <p:nvSpPr>
          <p:cNvPr id="123912" name="Rectangle 12"/>
          <p:cNvSpPr>
            <a:spLocks/>
          </p:cNvSpPr>
          <p:nvPr/>
        </p:nvSpPr>
        <p:spPr bwMode="auto">
          <a:xfrm>
            <a:off x="6836515" y="3632508"/>
            <a:ext cx="1016304"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0000"/>
                </a:solidFill>
                <a:cs typeface="Arial" charset="0"/>
              </a:rPr>
              <a:t>66%</a:t>
            </a:r>
          </a:p>
          <a:p>
            <a:pPr algn="ctr" eaLnBrk="1" hangingPunct="1"/>
            <a:r>
              <a:rPr lang="en-US" altLang="en-US" sz="1300">
                <a:solidFill>
                  <a:srgbClr val="000000"/>
                </a:solidFill>
                <a:cs typeface="Arial" charset="0"/>
              </a:rPr>
              <a:t>intracellular </a:t>
            </a:r>
            <a:br>
              <a:rPr lang="en-US" altLang="en-US" sz="1300">
                <a:solidFill>
                  <a:srgbClr val="000000"/>
                </a:solidFill>
                <a:cs typeface="Arial" charset="0"/>
              </a:rPr>
            </a:br>
            <a:r>
              <a:rPr lang="en-US" altLang="en-US" sz="1300">
                <a:solidFill>
                  <a:srgbClr val="000000"/>
                </a:solidFill>
                <a:cs typeface="Arial" charset="0"/>
              </a:rPr>
              <a:t>fluid</a:t>
            </a:r>
          </a:p>
        </p:txBody>
      </p:sp>
      <p:sp>
        <p:nvSpPr>
          <p:cNvPr id="123913" name="Rectangle 13"/>
          <p:cNvSpPr>
            <a:spLocks/>
          </p:cNvSpPr>
          <p:nvPr/>
        </p:nvSpPr>
        <p:spPr bwMode="auto">
          <a:xfrm>
            <a:off x="6804343" y="5347008"/>
            <a:ext cx="106279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0000"/>
                </a:solidFill>
                <a:cs typeface="Arial" charset="0"/>
              </a:rPr>
              <a:t>33%</a:t>
            </a:r>
          </a:p>
          <a:p>
            <a:pPr algn="ctr" eaLnBrk="1" hangingPunct="1"/>
            <a:r>
              <a:rPr lang="en-US" altLang="en-US" sz="1300">
                <a:solidFill>
                  <a:srgbClr val="000000"/>
                </a:solidFill>
                <a:cs typeface="Arial" charset="0"/>
              </a:rPr>
              <a:t>extracellular </a:t>
            </a:r>
            <a:br>
              <a:rPr lang="en-US" altLang="en-US" sz="1300">
                <a:solidFill>
                  <a:srgbClr val="000000"/>
                </a:solidFill>
                <a:cs typeface="Arial" charset="0"/>
              </a:rPr>
            </a:br>
            <a:r>
              <a:rPr lang="en-US" altLang="en-US" sz="1300">
                <a:solidFill>
                  <a:srgbClr val="000000"/>
                </a:solidFill>
                <a:cs typeface="Arial" charset="0"/>
              </a:rPr>
              <a:t>fluid</a:t>
            </a:r>
          </a:p>
        </p:txBody>
      </p:sp>
      <p:sp>
        <p:nvSpPr>
          <p:cNvPr id="123914" name="Rectangle 14"/>
          <p:cNvSpPr>
            <a:spLocks/>
          </p:cNvSpPr>
          <p:nvPr/>
        </p:nvSpPr>
        <p:spPr bwMode="auto">
          <a:xfrm>
            <a:off x="7920111" y="5329149"/>
            <a:ext cx="86722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0000"/>
                </a:solidFill>
                <a:cs typeface="Arial" charset="0"/>
              </a:rPr>
              <a:t>80%</a:t>
            </a:r>
          </a:p>
          <a:p>
            <a:pPr algn="ctr" eaLnBrk="1" hangingPunct="1"/>
            <a:r>
              <a:rPr lang="en-US" altLang="en-US" sz="1300">
                <a:solidFill>
                  <a:srgbClr val="000000"/>
                </a:solidFill>
                <a:cs typeface="Arial" charset="0"/>
              </a:rPr>
              <a:t>interstitial </a:t>
            </a:r>
          </a:p>
          <a:p>
            <a:pPr algn="ctr" eaLnBrk="1" hangingPunct="1"/>
            <a:r>
              <a:rPr lang="en-US" altLang="en-US" sz="1300">
                <a:solidFill>
                  <a:srgbClr val="000000"/>
                </a:solidFill>
                <a:cs typeface="Arial" charset="0"/>
              </a:rPr>
              <a:t>fluid</a:t>
            </a:r>
          </a:p>
        </p:txBody>
      </p:sp>
      <p:sp>
        <p:nvSpPr>
          <p:cNvPr id="123915" name="Rectangle 15"/>
          <p:cNvSpPr>
            <a:spLocks/>
          </p:cNvSpPr>
          <p:nvPr/>
        </p:nvSpPr>
        <p:spPr bwMode="auto">
          <a:xfrm>
            <a:off x="7862986" y="6157883"/>
            <a:ext cx="1033937"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0000"/>
                </a:solidFill>
                <a:cs typeface="Arial" charset="0"/>
              </a:rPr>
              <a:t>20% plasma</a:t>
            </a:r>
          </a:p>
        </p:txBody>
      </p:sp>
      <p:sp>
        <p:nvSpPr>
          <p:cNvPr id="123916" name="Rectangle 16"/>
          <p:cNvSpPr>
            <a:spLocks/>
          </p:cNvSpPr>
          <p:nvPr/>
        </p:nvSpPr>
        <p:spPr bwMode="auto">
          <a:xfrm>
            <a:off x="5813227" y="6482953"/>
            <a:ext cx="3134320" cy="17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sz="1300" b="1">
                <a:solidFill>
                  <a:srgbClr val="000000"/>
                </a:solidFill>
                <a:cs typeface="Arial" charset="0"/>
              </a:rPr>
              <a:t>Fluids and solids in an average person</a:t>
            </a:r>
          </a:p>
        </p:txBody>
      </p:sp>
      <p:sp>
        <p:nvSpPr>
          <p:cNvPr id="51217" name="Rectangle 17"/>
          <p:cNvSpPr>
            <a:spLocks noGrp="1" noChangeArrowheads="1"/>
          </p:cNvSpPr>
          <p:nvPr>
            <p:ph type="body" idx="1"/>
          </p:nvPr>
        </p:nvSpPr>
        <p:spPr>
          <a:xfrm>
            <a:off x="250031" y="1259086"/>
            <a:ext cx="3732609" cy="3911203"/>
          </a:xfrm>
        </p:spPr>
        <p:txBody>
          <a:bodyPr>
            <a:normAutofit fontScale="85000" lnSpcReduction="10000"/>
          </a:bodyPr>
          <a:lstStyle/>
          <a:p>
            <a:pPr>
              <a:tabLst>
                <a:tab pos="721047" algn="l"/>
                <a:tab pos="1045853" algn="l"/>
                <a:tab pos="1155238" algn="l"/>
              </a:tabLst>
            </a:pPr>
            <a:r>
              <a:rPr lang="en-US" altLang="en-US"/>
              <a:t>The body's fluid and electrolyte balance is critical to metabolic function. </a:t>
            </a:r>
          </a:p>
          <a:p>
            <a:pPr lvl="1">
              <a:tabLst>
                <a:tab pos="721047" algn="l"/>
                <a:tab pos="1045853" algn="l"/>
                <a:tab pos="1155238" algn="l"/>
              </a:tabLst>
            </a:pPr>
            <a:r>
              <a:rPr lang="en-US" altLang="en-US"/>
              <a:t>Water makes up around 60% of the body and is found within two main fluid compartments. </a:t>
            </a:r>
          </a:p>
          <a:p>
            <a:pPr lvl="2">
              <a:tabLst>
                <a:tab pos="721047" algn="l"/>
                <a:tab pos="1045853" algn="l"/>
                <a:tab pos="1155238" algn="l"/>
              </a:tabLst>
            </a:pPr>
            <a:r>
              <a:rPr lang="en-US" altLang="en-US"/>
              <a:t>The </a:t>
            </a:r>
            <a:r>
              <a:rPr lang="en-US" altLang="en-US" b="1">
                <a:solidFill>
                  <a:srgbClr val="005481"/>
                </a:solidFill>
              </a:rPr>
              <a:t>intracellular fluid</a:t>
            </a:r>
            <a:r>
              <a:rPr lang="en-US" altLang="en-US"/>
              <a:t> makes up 60-66% of the water in the body and is found within the body's cells. </a:t>
            </a:r>
          </a:p>
          <a:p>
            <a:pPr lvl="2">
              <a:tabLst>
                <a:tab pos="721047" algn="l"/>
                <a:tab pos="1045853" algn="l"/>
                <a:tab pos="1155238" algn="l"/>
              </a:tabLst>
            </a:pPr>
            <a:r>
              <a:rPr lang="en-US" altLang="en-US"/>
              <a:t>The </a:t>
            </a:r>
            <a:r>
              <a:rPr lang="en-US" altLang="en-US" b="1">
                <a:solidFill>
                  <a:srgbClr val="005481"/>
                </a:solidFill>
              </a:rPr>
              <a:t>extracellular fluid</a:t>
            </a:r>
            <a:r>
              <a:rPr lang="en-US" altLang="en-US"/>
              <a:t> makes up the rest of the body's water and can be divided into </a:t>
            </a:r>
            <a:r>
              <a:rPr lang="en-US" altLang="en-US" b="1">
                <a:solidFill>
                  <a:srgbClr val="005481"/>
                </a:solidFill>
              </a:rPr>
              <a:t>intravascular</a:t>
            </a:r>
            <a:r>
              <a:rPr lang="en-US" altLang="en-US"/>
              <a:t> fluid (mostly blood) and the </a:t>
            </a:r>
            <a:r>
              <a:rPr lang="en-US" altLang="en-US" b="1">
                <a:solidFill>
                  <a:srgbClr val="005481"/>
                </a:solidFill>
              </a:rPr>
              <a:t>extravascular</a:t>
            </a:r>
            <a:r>
              <a:rPr lang="en-US" altLang="en-US"/>
              <a:t> fluid (interstitial fluid around the cells).</a:t>
            </a:r>
          </a:p>
        </p:txBody>
      </p:sp>
    </p:spTree>
    <p:extLst>
      <p:ext uri="{BB962C8B-B14F-4D97-AF65-F5344CB8AC3E}">
        <p14:creationId xmlns:p14="http://schemas.microsoft.com/office/powerpoint/2010/main" val="13084614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1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1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1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121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7" grpId="0" build="p" bldLvl="5"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4" y="890736"/>
            <a:ext cx="3080742" cy="7199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1923" name="Rectangle 2"/>
          <p:cNvSpPr>
            <a:spLocks noGrp="1" noChangeArrowheads="1"/>
          </p:cNvSpPr>
          <p:nvPr>
            <p:ph type="title"/>
          </p:nvPr>
        </p:nvSpPr>
        <p:spPr>
          <a:xfrm>
            <a:off x="0" y="0"/>
            <a:ext cx="9152930" cy="794742"/>
          </a:xfrm>
        </p:spPr>
        <p:txBody>
          <a:bodyPr anchor="b"/>
          <a:lstStyle/>
          <a:p>
            <a:pPr>
              <a:tabLst>
                <a:tab pos="669703" algn="l"/>
              </a:tabLst>
            </a:pPr>
            <a:r>
              <a:rPr lang="en-US" altLang="en-US"/>
              <a:t>Maintaining Fluid Balance</a:t>
            </a:r>
          </a:p>
        </p:txBody>
      </p:sp>
      <p:sp>
        <p:nvSpPr>
          <p:cNvPr id="33795" name="Rectangle 3"/>
          <p:cNvSpPr>
            <a:spLocks noGrp="1" noChangeArrowheads="1"/>
          </p:cNvSpPr>
          <p:nvPr>
            <p:ph type="body" idx="1"/>
          </p:nvPr>
        </p:nvSpPr>
        <p:spPr>
          <a:xfrm>
            <a:off x="4750594" y="1144469"/>
            <a:ext cx="3565822" cy="5308867"/>
          </a:xfrm>
        </p:spPr>
        <p:txBody>
          <a:bodyPr>
            <a:normAutofit/>
          </a:bodyPr>
          <a:lstStyle/>
          <a:p>
            <a:pPr>
              <a:tabLst>
                <a:tab pos="721047" algn="l"/>
                <a:tab pos="1045853" algn="l"/>
              </a:tabLst>
            </a:pPr>
            <a:r>
              <a:rPr lang="en-US" altLang="en-US" dirty="0"/>
              <a:t>Fluid and </a:t>
            </a:r>
            <a:r>
              <a:rPr lang="en-US" altLang="en-US" u="sng" dirty="0">
                <a:solidFill>
                  <a:srgbClr val="FF0000"/>
                </a:solidFill>
                <a:latin typeface="Arial Italic" pitchFamily="1" charset="0"/>
                <a:cs typeface="Arial Italic" pitchFamily="1" charset="0"/>
                <a:sym typeface="Arial Italic" pitchFamily="1" charset="0"/>
                <a:hlinkClick r:id="rId4" action="ppaction://hlinksldjump"/>
              </a:rPr>
              <a:t>electrolyte</a:t>
            </a:r>
            <a:r>
              <a:rPr lang="en-US" altLang="en-US" dirty="0"/>
              <a:t> balance in the body are maintained by the kidneys (with some help from the skin).</a:t>
            </a:r>
          </a:p>
          <a:p>
            <a:pPr lvl="1">
              <a:buBlip>
                <a:blip r:embed="rId5"/>
              </a:buBlip>
              <a:tabLst>
                <a:tab pos="721047" algn="l"/>
                <a:tab pos="1045853" algn="l"/>
              </a:tabLst>
            </a:pPr>
            <a:r>
              <a:rPr lang="en-US" altLang="en-US" dirty="0"/>
              <a:t>The kidneys regulate the reabsorption of water and sodium from the blood in response to regulatory hormones.</a:t>
            </a:r>
          </a:p>
          <a:p>
            <a:pPr>
              <a:tabLst>
                <a:tab pos="721047" algn="l"/>
                <a:tab pos="1045853" algn="l"/>
              </a:tabLst>
            </a:pPr>
            <a:r>
              <a:rPr lang="en-US" altLang="en-US" dirty="0" err="1">
                <a:solidFill>
                  <a:srgbClr val="0000FF"/>
                </a:solidFill>
                <a:latin typeface="Arial Bold" pitchFamily="1" charset="0"/>
                <a:cs typeface="Arial Bold" pitchFamily="1" charset="0"/>
                <a:sym typeface="Arial Bold" pitchFamily="1" charset="0"/>
              </a:rPr>
              <a:t>Osmoreceptors</a:t>
            </a:r>
            <a:r>
              <a:rPr lang="en-US" altLang="en-US" dirty="0"/>
              <a:t> monitor blood volume and bring about the release of these hormones.</a:t>
            </a:r>
          </a:p>
        </p:txBody>
      </p:sp>
      <p:grpSp>
        <p:nvGrpSpPr>
          <p:cNvPr id="2" name="Group 6"/>
          <p:cNvGrpSpPr>
            <a:grpSpLocks/>
          </p:cNvGrpSpPr>
          <p:nvPr/>
        </p:nvGrpSpPr>
        <p:grpSpPr bwMode="auto">
          <a:xfrm>
            <a:off x="1871886" y="1750219"/>
            <a:ext cx="2789411" cy="625078"/>
            <a:chOff x="0" y="0"/>
            <a:chExt cx="2498" cy="560"/>
          </a:xfrm>
        </p:grpSpPr>
        <p:sp>
          <p:nvSpPr>
            <p:cNvPr id="81935" name="Rectangle 4"/>
            <p:cNvSpPr>
              <a:spLocks/>
            </p:cNvSpPr>
            <p:nvPr/>
          </p:nvSpPr>
          <p:spPr bwMode="auto">
            <a:xfrm>
              <a:off x="1234" y="232"/>
              <a:ext cx="1264"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charset="0"/>
                  <a:ea typeface="ヒラギノ角ゴ ProN W6" pitchFamily="1" charset="-128"/>
                  <a:sym typeface="Hoefler Text" pitchFamily="1" charset="0"/>
                </a:defRPr>
              </a:lvl1pPr>
              <a:lvl2pPr marL="37931725" indent="-37474525" eaLnBrk="0" hangingPunct="0">
                <a:tabLst>
                  <a:tab pos="520700" algn="l"/>
                </a:tabLst>
                <a:defRPr sz="2800">
                  <a:solidFill>
                    <a:srgbClr val="382F28"/>
                  </a:solidFill>
                  <a:latin typeface="Arial" charset="0"/>
                  <a:ea typeface="ヒラギノ角ゴ ProN W6" pitchFamily="1" charset="-128"/>
                  <a:sym typeface="Hoefler Text" pitchFamily="1" charset="0"/>
                </a:defRPr>
              </a:lvl2pPr>
              <a:lvl3pPr eaLnBrk="0" hangingPunct="0">
                <a:tabLst>
                  <a:tab pos="520700" algn="l"/>
                </a:tabLst>
                <a:defRPr sz="2800">
                  <a:solidFill>
                    <a:srgbClr val="382F28"/>
                  </a:solidFill>
                  <a:latin typeface="Arial" charset="0"/>
                  <a:ea typeface="ヒラギノ角ゴ ProN W6" pitchFamily="1" charset="-128"/>
                  <a:sym typeface="Hoefler Text" pitchFamily="1" charset="0"/>
                </a:defRPr>
              </a:lvl3pPr>
              <a:lvl4pPr eaLnBrk="0" hangingPunct="0">
                <a:tabLst>
                  <a:tab pos="520700" algn="l"/>
                </a:tabLst>
                <a:defRPr sz="2800">
                  <a:solidFill>
                    <a:srgbClr val="382F28"/>
                  </a:solidFill>
                  <a:latin typeface="Arial" charset="0"/>
                  <a:ea typeface="ヒラギノ角ゴ ProN W6" pitchFamily="1" charset="-128"/>
                  <a:sym typeface="Hoefler Text" pitchFamily="1" charset="0"/>
                </a:defRPr>
              </a:lvl4pPr>
              <a:lvl5pPr eaLnBrk="0" hangingPunct="0">
                <a:tabLst>
                  <a:tab pos="520700" algn="l"/>
                </a:tabLst>
                <a:defRPr sz="2800">
                  <a:solidFill>
                    <a:srgbClr val="382F28"/>
                  </a:solidFill>
                  <a:latin typeface="Arial" charset="0"/>
                  <a:ea typeface="ヒラギノ角ゴ ProN W6" pitchFamily="1" charset="-128"/>
                  <a:sym typeface="Hoefler Text" pitchFamily="1" charset="0"/>
                </a:defRPr>
              </a:lvl5pPr>
              <a:lvl6pPr marL="4572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6pPr>
              <a:lvl7pPr marL="9144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7pPr>
              <a:lvl8pPr marL="13716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8pPr>
              <a:lvl9pPr marL="18288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9pPr>
            </a:lstStyle>
            <a:p>
              <a:pPr eaLnBrk="1" hangingPunct="1"/>
              <a:r>
                <a:rPr lang="en-US" altLang="en-US" sz="1300">
                  <a:solidFill>
                    <a:srgbClr val="0000FF"/>
                  </a:solidFill>
                  <a:ea typeface="ＭＳ Ｐゴシック" pitchFamily="1" charset="-128"/>
                  <a:sym typeface="Arial" charset="0"/>
                </a:rPr>
                <a:t>Water loss through breathing.</a:t>
              </a:r>
            </a:p>
          </p:txBody>
        </p:sp>
        <p:sp>
          <p:nvSpPr>
            <p:cNvPr id="81936" name="Freeform 5"/>
            <p:cNvSpPr>
              <a:spLocks/>
            </p:cNvSpPr>
            <p:nvPr/>
          </p:nvSpPr>
          <p:spPr bwMode="auto">
            <a:xfrm>
              <a:off x="0" y="0"/>
              <a:ext cx="1241" cy="398"/>
            </a:xfrm>
            <a:custGeom>
              <a:avLst/>
              <a:gdLst>
                <a:gd name="T0" fmla="*/ 0 w 21600"/>
                <a:gd name="T1" fmla="*/ 0 h 18585"/>
                <a:gd name="T2" fmla="*/ 0 w 21600"/>
                <a:gd name="T3" fmla="*/ 0 h 18585"/>
                <a:gd name="T4" fmla="*/ 0 60000 65536"/>
                <a:gd name="T5" fmla="*/ 0 60000 65536"/>
                <a:gd name="T6" fmla="*/ 0 w 21600"/>
                <a:gd name="T7" fmla="*/ 0 h 18585"/>
                <a:gd name="T8" fmla="*/ 21600 w 21600"/>
                <a:gd name="T9" fmla="*/ 18585 h 18585"/>
              </a:gdLst>
              <a:ahLst/>
              <a:cxnLst>
                <a:cxn ang="T4">
                  <a:pos x="T0" y="T1"/>
                </a:cxn>
                <a:cxn ang="T5">
                  <a:pos x="T2" y="T3"/>
                </a:cxn>
              </a:cxnLst>
              <a:rect l="T6" t="T7" r="T8" b="T9"/>
              <a:pathLst>
                <a:path w="21600" h="18585">
                  <a:moveTo>
                    <a:pt x="0" y="0"/>
                  </a:moveTo>
                  <a:cubicBezTo>
                    <a:pt x="0" y="0"/>
                    <a:pt x="5488" y="21600"/>
                    <a:pt x="21600" y="18228"/>
                  </a:cubicBezTo>
                </a:path>
              </a:pathLst>
            </a:custGeom>
            <a:noFill/>
            <a:ln w="25400">
              <a:solidFill>
                <a:srgbClr val="FF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charset="0"/>
                  <a:ea typeface="ヒラギノ角ゴ ProN W6" pitchFamily="1" charset="-128"/>
                  <a:sym typeface="Hoefler Text" pitchFamily="1" charset="0"/>
                </a:defRPr>
              </a:lvl1pPr>
              <a:lvl2pPr marL="37931725" indent="-37474525" eaLnBrk="0" hangingPunct="0">
                <a:defRPr sz="2800">
                  <a:solidFill>
                    <a:srgbClr val="382F28"/>
                  </a:solidFill>
                  <a:latin typeface="Arial" charset="0"/>
                  <a:ea typeface="ヒラギノ角ゴ ProN W6" pitchFamily="1" charset="-128"/>
                  <a:sym typeface="Hoefler Text" pitchFamily="1" charset="0"/>
                </a:defRPr>
              </a:lvl2pPr>
              <a:lvl3pPr eaLnBrk="0" hangingPunct="0">
                <a:defRPr sz="2800">
                  <a:solidFill>
                    <a:srgbClr val="382F28"/>
                  </a:solidFill>
                  <a:latin typeface="Arial" charset="0"/>
                  <a:ea typeface="ヒラギノ角ゴ ProN W6" pitchFamily="1" charset="-128"/>
                  <a:sym typeface="Hoefler Text" pitchFamily="1" charset="0"/>
                </a:defRPr>
              </a:lvl3pPr>
              <a:lvl4pPr eaLnBrk="0" hangingPunct="0">
                <a:defRPr sz="2800">
                  <a:solidFill>
                    <a:srgbClr val="382F28"/>
                  </a:solidFill>
                  <a:latin typeface="Arial" charset="0"/>
                  <a:ea typeface="ヒラギノ角ゴ ProN W6" pitchFamily="1" charset="-128"/>
                  <a:sym typeface="Hoefler Text" pitchFamily="1" charset="0"/>
                </a:defRPr>
              </a:lvl4pPr>
              <a:lvl5pPr eaLnBrk="0" hangingPunct="0">
                <a:defRPr sz="2800">
                  <a:solidFill>
                    <a:srgbClr val="382F28"/>
                  </a:solidFill>
                  <a:latin typeface="Arial" charset="0"/>
                  <a:ea typeface="ヒラギノ角ゴ ProN W6" pitchFamily="1" charset="-128"/>
                  <a:sym typeface="Hoefler Text" pitchFamily="1" charset="0"/>
                </a:defRPr>
              </a:lvl5pPr>
              <a:lvl6pPr marL="4572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6pPr>
              <a:lvl7pPr marL="9144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7pPr>
              <a:lvl8pPr marL="13716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8pPr>
              <a:lvl9pPr marL="18288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9pPr>
            </a:lstStyle>
            <a:p>
              <a:pPr eaLnBrk="1" hangingPunct="1"/>
              <a:endParaRPr lang="en-US" altLang="en-US"/>
            </a:p>
          </p:txBody>
        </p:sp>
      </p:grpSp>
      <p:grpSp>
        <p:nvGrpSpPr>
          <p:cNvPr id="81926" name="Group 9"/>
          <p:cNvGrpSpPr>
            <a:grpSpLocks/>
          </p:cNvGrpSpPr>
          <p:nvPr/>
        </p:nvGrpSpPr>
        <p:grpSpPr bwMode="auto">
          <a:xfrm>
            <a:off x="1938859" y="2759273"/>
            <a:ext cx="2811735" cy="553641"/>
            <a:chOff x="0" y="0"/>
            <a:chExt cx="2518" cy="496"/>
          </a:xfrm>
        </p:grpSpPr>
        <p:sp>
          <p:nvSpPr>
            <p:cNvPr id="81933" name="Rectangle 7"/>
            <p:cNvSpPr>
              <a:spLocks/>
            </p:cNvSpPr>
            <p:nvPr/>
          </p:nvSpPr>
          <p:spPr bwMode="auto">
            <a:xfrm>
              <a:off x="1174" y="0"/>
              <a:ext cx="1344"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charset="0"/>
                  <a:ea typeface="ヒラギノ角ゴ ProN W6" pitchFamily="1" charset="-128"/>
                  <a:sym typeface="Hoefler Text" pitchFamily="1" charset="0"/>
                </a:defRPr>
              </a:lvl1pPr>
              <a:lvl2pPr marL="37931725" indent="-37474525" eaLnBrk="0" hangingPunct="0">
                <a:tabLst>
                  <a:tab pos="520700" algn="l"/>
                </a:tabLst>
                <a:defRPr sz="2800">
                  <a:solidFill>
                    <a:srgbClr val="382F28"/>
                  </a:solidFill>
                  <a:latin typeface="Arial" charset="0"/>
                  <a:ea typeface="ヒラギノ角ゴ ProN W6" pitchFamily="1" charset="-128"/>
                  <a:sym typeface="Hoefler Text" pitchFamily="1" charset="0"/>
                </a:defRPr>
              </a:lvl2pPr>
              <a:lvl3pPr eaLnBrk="0" hangingPunct="0">
                <a:tabLst>
                  <a:tab pos="520700" algn="l"/>
                </a:tabLst>
                <a:defRPr sz="2800">
                  <a:solidFill>
                    <a:srgbClr val="382F28"/>
                  </a:solidFill>
                  <a:latin typeface="Arial" charset="0"/>
                  <a:ea typeface="ヒラギノ角ゴ ProN W6" pitchFamily="1" charset="-128"/>
                  <a:sym typeface="Hoefler Text" pitchFamily="1" charset="0"/>
                </a:defRPr>
              </a:lvl3pPr>
              <a:lvl4pPr eaLnBrk="0" hangingPunct="0">
                <a:tabLst>
                  <a:tab pos="520700" algn="l"/>
                </a:tabLst>
                <a:defRPr sz="2800">
                  <a:solidFill>
                    <a:srgbClr val="382F28"/>
                  </a:solidFill>
                  <a:latin typeface="Arial" charset="0"/>
                  <a:ea typeface="ヒラギノ角ゴ ProN W6" pitchFamily="1" charset="-128"/>
                  <a:sym typeface="Hoefler Text" pitchFamily="1" charset="0"/>
                </a:defRPr>
              </a:lvl4pPr>
              <a:lvl5pPr eaLnBrk="0" hangingPunct="0">
                <a:tabLst>
                  <a:tab pos="520700" algn="l"/>
                </a:tabLst>
                <a:defRPr sz="2800">
                  <a:solidFill>
                    <a:srgbClr val="382F28"/>
                  </a:solidFill>
                  <a:latin typeface="Arial" charset="0"/>
                  <a:ea typeface="ヒラギノ角ゴ ProN W6" pitchFamily="1" charset="-128"/>
                  <a:sym typeface="Hoefler Text" pitchFamily="1" charset="0"/>
                </a:defRPr>
              </a:lvl5pPr>
              <a:lvl6pPr marL="4572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6pPr>
              <a:lvl7pPr marL="9144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7pPr>
              <a:lvl8pPr marL="13716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8pPr>
              <a:lvl9pPr marL="18288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9pPr>
            </a:lstStyle>
            <a:p>
              <a:pPr eaLnBrk="1" hangingPunct="1"/>
              <a:r>
                <a:rPr lang="en-US" altLang="en-US" sz="1300">
                  <a:solidFill>
                    <a:srgbClr val="0000FF"/>
                  </a:solidFill>
                  <a:ea typeface="ＭＳ Ｐゴシック" pitchFamily="1" charset="-128"/>
                  <a:sym typeface="Arial" charset="0"/>
                </a:rPr>
                <a:t>Water and ions taken in with food and drink.</a:t>
              </a:r>
            </a:p>
          </p:txBody>
        </p:sp>
        <p:sp>
          <p:nvSpPr>
            <p:cNvPr id="81934" name="Freeform 8"/>
            <p:cNvSpPr>
              <a:spLocks/>
            </p:cNvSpPr>
            <p:nvPr/>
          </p:nvSpPr>
          <p:spPr bwMode="auto">
            <a:xfrm>
              <a:off x="0" y="49"/>
              <a:ext cx="1161" cy="141"/>
            </a:xfrm>
            <a:custGeom>
              <a:avLst/>
              <a:gdLst>
                <a:gd name="T0" fmla="*/ 0 w 21600"/>
                <a:gd name="T1" fmla="*/ 0 h 21463"/>
                <a:gd name="T2" fmla="*/ 0 w 21600"/>
                <a:gd name="T3" fmla="*/ 0 h 21463"/>
                <a:gd name="T4" fmla="*/ 0 60000 65536"/>
                <a:gd name="T5" fmla="*/ 0 60000 65536"/>
                <a:gd name="T6" fmla="*/ 0 w 21600"/>
                <a:gd name="T7" fmla="*/ 0 h 21463"/>
                <a:gd name="T8" fmla="*/ 21600 w 21600"/>
                <a:gd name="T9" fmla="*/ 21463 h 21463"/>
              </a:gdLst>
              <a:ahLst/>
              <a:cxnLst>
                <a:cxn ang="T4">
                  <a:pos x="T0" y="T1"/>
                </a:cxn>
                <a:cxn ang="T5">
                  <a:pos x="T2" y="T3"/>
                </a:cxn>
              </a:cxnLst>
              <a:rect l="T6" t="T7" r="T8" b="T9"/>
              <a:pathLst>
                <a:path w="21600" h="21463">
                  <a:moveTo>
                    <a:pt x="0" y="0"/>
                  </a:moveTo>
                  <a:cubicBezTo>
                    <a:pt x="0" y="0"/>
                    <a:pt x="2263" y="21600"/>
                    <a:pt x="21600" y="21462"/>
                  </a:cubicBezTo>
                </a:path>
              </a:pathLst>
            </a:custGeom>
            <a:noFill/>
            <a:ln w="25400">
              <a:solidFill>
                <a:srgbClr val="FF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charset="0"/>
                  <a:ea typeface="ヒラギノ角ゴ ProN W6" pitchFamily="1" charset="-128"/>
                  <a:sym typeface="Hoefler Text" pitchFamily="1" charset="0"/>
                </a:defRPr>
              </a:lvl1pPr>
              <a:lvl2pPr marL="37931725" indent="-37474525" eaLnBrk="0" hangingPunct="0">
                <a:defRPr sz="2800">
                  <a:solidFill>
                    <a:srgbClr val="382F28"/>
                  </a:solidFill>
                  <a:latin typeface="Arial" charset="0"/>
                  <a:ea typeface="ヒラギノ角ゴ ProN W6" pitchFamily="1" charset="-128"/>
                  <a:sym typeface="Hoefler Text" pitchFamily="1" charset="0"/>
                </a:defRPr>
              </a:lvl2pPr>
              <a:lvl3pPr eaLnBrk="0" hangingPunct="0">
                <a:defRPr sz="2800">
                  <a:solidFill>
                    <a:srgbClr val="382F28"/>
                  </a:solidFill>
                  <a:latin typeface="Arial" charset="0"/>
                  <a:ea typeface="ヒラギノ角ゴ ProN W6" pitchFamily="1" charset="-128"/>
                  <a:sym typeface="Hoefler Text" pitchFamily="1" charset="0"/>
                </a:defRPr>
              </a:lvl3pPr>
              <a:lvl4pPr eaLnBrk="0" hangingPunct="0">
                <a:defRPr sz="2800">
                  <a:solidFill>
                    <a:srgbClr val="382F28"/>
                  </a:solidFill>
                  <a:latin typeface="Arial" charset="0"/>
                  <a:ea typeface="ヒラギノ角ゴ ProN W6" pitchFamily="1" charset="-128"/>
                  <a:sym typeface="Hoefler Text" pitchFamily="1" charset="0"/>
                </a:defRPr>
              </a:lvl4pPr>
              <a:lvl5pPr eaLnBrk="0" hangingPunct="0">
                <a:defRPr sz="2800">
                  <a:solidFill>
                    <a:srgbClr val="382F28"/>
                  </a:solidFill>
                  <a:latin typeface="Arial" charset="0"/>
                  <a:ea typeface="ヒラギノ角ゴ ProN W6" pitchFamily="1" charset="-128"/>
                  <a:sym typeface="Hoefler Text" pitchFamily="1" charset="0"/>
                </a:defRPr>
              </a:lvl5pPr>
              <a:lvl6pPr marL="4572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6pPr>
              <a:lvl7pPr marL="9144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7pPr>
              <a:lvl8pPr marL="13716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8pPr>
              <a:lvl9pPr marL="18288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9pPr>
            </a:lstStyle>
            <a:p>
              <a:pPr eaLnBrk="1" hangingPunct="1"/>
              <a:endParaRPr lang="en-US" altLang="en-US"/>
            </a:p>
          </p:txBody>
        </p:sp>
      </p:grpSp>
      <p:grpSp>
        <p:nvGrpSpPr>
          <p:cNvPr id="81927" name="Group 12"/>
          <p:cNvGrpSpPr>
            <a:grpSpLocks/>
          </p:cNvGrpSpPr>
          <p:nvPr/>
        </p:nvGrpSpPr>
        <p:grpSpPr bwMode="auto">
          <a:xfrm>
            <a:off x="1968996" y="1143000"/>
            <a:ext cx="2530451" cy="553641"/>
            <a:chOff x="0" y="0"/>
            <a:chExt cx="2267" cy="496"/>
          </a:xfrm>
        </p:grpSpPr>
        <p:sp>
          <p:nvSpPr>
            <p:cNvPr id="81931" name="Rectangle 10"/>
            <p:cNvSpPr>
              <a:spLocks/>
            </p:cNvSpPr>
            <p:nvPr/>
          </p:nvSpPr>
          <p:spPr bwMode="auto">
            <a:xfrm>
              <a:off x="1147" y="0"/>
              <a:ext cx="1120"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charset="0"/>
                  <a:ea typeface="ヒラギノ角ゴ ProN W6" pitchFamily="1" charset="-128"/>
                  <a:sym typeface="Hoefler Text" pitchFamily="1" charset="0"/>
                </a:defRPr>
              </a:lvl1pPr>
              <a:lvl2pPr marL="37931725" indent="-37474525" eaLnBrk="0" hangingPunct="0">
                <a:tabLst>
                  <a:tab pos="520700" algn="l"/>
                </a:tabLst>
                <a:defRPr sz="2800">
                  <a:solidFill>
                    <a:srgbClr val="382F28"/>
                  </a:solidFill>
                  <a:latin typeface="Arial" charset="0"/>
                  <a:ea typeface="ヒラギノ角ゴ ProN W6" pitchFamily="1" charset="-128"/>
                  <a:sym typeface="Hoefler Text" pitchFamily="1" charset="0"/>
                </a:defRPr>
              </a:lvl2pPr>
              <a:lvl3pPr eaLnBrk="0" hangingPunct="0">
                <a:tabLst>
                  <a:tab pos="520700" algn="l"/>
                </a:tabLst>
                <a:defRPr sz="2800">
                  <a:solidFill>
                    <a:srgbClr val="382F28"/>
                  </a:solidFill>
                  <a:latin typeface="Arial" charset="0"/>
                  <a:ea typeface="ヒラギノ角ゴ ProN W6" pitchFamily="1" charset="-128"/>
                  <a:sym typeface="Hoefler Text" pitchFamily="1" charset="0"/>
                </a:defRPr>
              </a:lvl3pPr>
              <a:lvl4pPr eaLnBrk="0" hangingPunct="0">
                <a:tabLst>
                  <a:tab pos="520700" algn="l"/>
                </a:tabLst>
                <a:defRPr sz="2800">
                  <a:solidFill>
                    <a:srgbClr val="382F28"/>
                  </a:solidFill>
                  <a:latin typeface="Arial" charset="0"/>
                  <a:ea typeface="ヒラギノ角ゴ ProN W6" pitchFamily="1" charset="-128"/>
                  <a:sym typeface="Hoefler Text" pitchFamily="1" charset="0"/>
                </a:defRPr>
              </a:lvl4pPr>
              <a:lvl5pPr eaLnBrk="0" hangingPunct="0">
                <a:tabLst>
                  <a:tab pos="520700" algn="l"/>
                </a:tabLst>
                <a:defRPr sz="2800">
                  <a:solidFill>
                    <a:srgbClr val="382F28"/>
                  </a:solidFill>
                  <a:latin typeface="Arial" charset="0"/>
                  <a:ea typeface="ヒラギノ角ゴ ProN W6" pitchFamily="1" charset="-128"/>
                  <a:sym typeface="Hoefler Text" pitchFamily="1" charset="0"/>
                </a:defRPr>
              </a:lvl5pPr>
              <a:lvl6pPr marL="4572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6pPr>
              <a:lvl7pPr marL="9144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7pPr>
              <a:lvl8pPr marL="13716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8pPr>
              <a:lvl9pPr marL="18288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9pPr>
            </a:lstStyle>
            <a:p>
              <a:pPr eaLnBrk="1" hangingPunct="1"/>
              <a:r>
                <a:rPr lang="en-US" altLang="en-US" sz="1300">
                  <a:solidFill>
                    <a:srgbClr val="0000FF"/>
                  </a:solidFill>
                  <a:ea typeface="ＭＳ Ｐゴシック" pitchFamily="1" charset="-128"/>
                  <a:sym typeface="Arial" charset="0"/>
                </a:rPr>
                <a:t>Loss of water and ions through sweat.</a:t>
              </a:r>
            </a:p>
          </p:txBody>
        </p:sp>
        <p:sp>
          <p:nvSpPr>
            <p:cNvPr id="81932" name="Line 11"/>
            <p:cNvSpPr>
              <a:spLocks noChangeShapeType="1"/>
            </p:cNvSpPr>
            <p:nvPr/>
          </p:nvSpPr>
          <p:spPr bwMode="auto">
            <a:xfrm rot="10800000">
              <a:off x="0" y="163"/>
              <a:ext cx="1145" cy="0"/>
            </a:xfrm>
            <a:prstGeom prst="line">
              <a:avLst/>
            </a:prstGeom>
            <a:noFill/>
            <a:ln w="25400">
              <a:solidFill>
                <a:srgbClr val="FF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81928" name="Group 15"/>
          <p:cNvGrpSpPr>
            <a:grpSpLocks/>
          </p:cNvGrpSpPr>
          <p:nvPr/>
        </p:nvGrpSpPr>
        <p:grpSpPr bwMode="auto">
          <a:xfrm>
            <a:off x="1977926" y="3982641"/>
            <a:ext cx="2719090" cy="1482328"/>
            <a:chOff x="0" y="0"/>
            <a:chExt cx="2435" cy="1327"/>
          </a:xfrm>
        </p:grpSpPr>
        <p:sp>
          <p:nvSpPr>
            <p:cNvPr id="81929" name="Rectangle 13"/>
            <p:cNvSpPr>
              <a:spLocks/>
            </p:cNvSpPr>
            <p:nvPr/>
          </p:nvSpPr>
          <p:spPr bwMode="auto">
            <a:xfrm>
              <a:off x="1139" y="831"/>
              <a:ext cx="1296"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800">
                  <a:solidFill>
                    <a:srgbClr val="382F28"/>
                  </a:solidFill>
                  <a:latin typeface="Arial" charset="0"/>
                  <a:ea typeface="ヒラギノ角ゴ ProN W6" pitchFamily="1" charset="-128"/>
                  <a:sym typeface="Hoefler Text" pitchFamily="1" charset="0"/>
                </a:defRPr>
              </a:lvl1pPr>
              <a:lvl2pPr marL="37931725" indent="-37474525" eaLnBrk="0" hangingPunct="0">
                <a:tabLst>
                  <a:tab pos="520700" algn="l"/>
                </a:tabLst>
                <a:defRPr sz="2800">
                  <a:solidFill>
                    <a:srgbClr val="382F28"/>
                  </a:solidFill>
                  <a:latin typeface="Arial" charset="0"/>
                  <a:ea typeface="ヒラギノ角ゴ ProN W6" pitchFamily="1" charset="-128"/>
                  <a:sym typeface="Hoefler Text" pitchFamily="1" charset="0"/>
                </a:defRPr>
              </a:lvl2pPr>
              <a:lvl3pPr eaLnBrk="0" hangingPunct="0">
                <a:tabLst>
                  <a:tab pos="520700" algn="l"/>
                </a:tabLst>
                <a:defRPr sz="2800">
                  <a:solidFill>
                    <a:srgbClr val="382F28"/>
                  </a:solidFill>
                  <a:latin typeface="Arial" charset="0"/>
                  <a:ea typeface="ヒラギノ角ゴ ProN W6" pitchFamily="1" charset="-128"/>
                  <a:sym typeface="Hoefler Text" pitchFamily="1" charset="0"/>
                </a:defRPr>
              </a:lvl3pPr>
              <a:lvl4pPr eaLnBrk="0" hangingPunct="0">
                <a:tabLst>
                  <a:tab pos="520700" algn="l"/>
                </a:tabLst>
                <a:defRPr sz="2800">
                  <a:solidFill>
                    <a:srgbClr val="382F28"/>
                  </a:solidFill>
                  <a:latin typeface="Arial" charset="0"/>
                  <a:ea typeface="ヒラギノ角ゴ ProN W6" pitchFamily="1" charset="-128"/>
                  <a:sym typeface="Hoefler Text" pitchFamily="1" charset="0"/>
                </a:defRPr>
              </a:lvl4pPr>
              <a:lvl5pPr eaLnBrk="0" hangingPunct="0">
                <a:tabLst>
                  <a:tab pos="520700" algn="l"/>
                </a:tabLst>
                <a:defRPr sz="2800">
                  <a:solidFill>
                    <a:srgbClr val="382F28"/>
                  </a:solidFill>
                  <a:latin typeface="Arial" charset="0"/>
                  <a:ea typeface="ヒラギノ角ゴ ProN W6" pitchFamily="1" charset="-128"/>
                  <a:sym typeface="Hoefler Text" pitchFamily="1" charset="0"/>
                </a:defRPr>
              </a:lvl5pPr>
              <a:lvl6pPr marL="4572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6pPr>
              <a:lvl7pPr marL="9144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7pPr>
              <a:lvl8pPr marL="13716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8pPr>
              <a:lvl9pPr marL="1828800" eaLnBrk="0" fontAlgn="base" hangingPunct="0">
                <a:spcBef>
                  <a:spcPct val="0"/>
                </a:spcBef>
                <a:spcAft>
                  <a:spcPct val="0"/>
                </a:spcAft>
                <a:tabLst>
                  <a:tab pos="520700" algn="l"/>
                </a:tabLst>
                <a:defRPr sz="2800">
                  <a:solidFill>
                    <a:srgbClr val="382F28"/>
                  </a:solidFill>
                  <a:latin typeface="Arial" charset="0"/>
                  <a:ea typeface="ヒラギノ角ゴ ProN W6" pitchFamily="1" charset="-128"/>
                  <a:sym typeface="Hoefler Text" pitchFamily="1" charset="0"/>
                </a:defRPr>
              </a:lvl9pPr>
            </a:lstStyle>
            <a:p>
              <a:pPr eaLnBrk="1" hangingPunct="1"/>
              <a:r>
                <a:rPr lang="en-US" altLang="en-US" sz="1300">
                  <a:solidFill>
                    <a:srgbClr val="0000FF"/>
                  </a:solidFill>
                  <a:ea typeface="ＭＳ Ｐゴシック" pitchFamily="1" charset="-128"/>
                  <a:sym typeface="Arial" charset="0"/>
                </a:rPr>
                <a:t>Loss of water and ions through urine and feces.</a:t>
              </a:r>
            </a:p>
          </p:txBody>
        </p:sp>
        <p:sp>
          <p:nvSpPr>
            <p:cNvPr id="81930" name="Freeform 14"/>
            <p:cNvSpPr>
              <a:spLocks/>
            </p:cNvSpPr>
            <p:nvPr/>
          </p:nvSpPr>
          <p:spPr bwMode="auto">
            <a:xfrm>
              <a:off x="0" y="0"/>
              <a:ext cx="1169" cy="995"/>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2896" y="20558"/>
                    <a:pt x="21600" y="21600"/>
                  </a:cubicBezTo>
                </a:path>
              </a:pathLst>
            </a:custGeom>
            <a:noFill/>
            <a:ln w="25400">
              <a:solidFill>
                <a:srgbClr val="FF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800">
                  <a:solidFill>
                    <a:srgbClr val="382F28"/>
                  </a:solidFill>
                  <a:latin typeface="Arial" charset="0"/>
                  <a:ea typeface="ヒラギノ角ゴ ProN W6" pitchFamily="1" charset="-128"/>
                  <a:sym typeface="Hoefler Text" pitchFamily="1" charset="0"/>
                </a:defRPr>
              </a:lvl1pPr>
              <a:lvl2pPr marL="37931725" indent="-37474525" eaLnBrk="0" hangingPunct="0">
                <a:defRPr sz="2800">
                  <a:solidFill>
                    <a:srgbClr val="382F28"/>
                  </a:solidFill>
                  <a:latin typeface="Arial" charset="0"/>
                  <a:ea typeface="ヒラギノ角ゴ ProN W6" pitchFamily="1" charset="-128"/>
                  <a:sym typeface="Hoefler Text" pitchFamily="1" charset="0"/>
                </a:defRPr>
              </a:lvl2pPr>
              <a:lvl3pPr eaLnBrk="0" hangingPunct="0">
                <a:defRPr sz="2800">
                  <a:solidFill>
                    <a:srgbClr val="382F28"/>
                  </a:solidFill>
                  <a:latin typeface="Arial" charset="0"/>
                  <a:ea typeface="ヒラギノ角ゴ ProN W6" pitchFamily="1" charset="-128"/>
                  <a:sym typeface="Hoefler Text" pitchFamily="1" charset="0"/>
                </a:defRPr>
              </a:lvl3pPr>
              <a:lvl4pPr eaLnBrk="0" hangingPunct="0">
                <a:defRPr sz="2800">
                  <a:solidFill>
                    <a:srgbClr val="382F28"/>
                  </a:solidFill>
                  <a:latin typeface="Arial" charset="0"/>
                  <a:ea typeface="ヒラギノ角ゴ ProN W6" pitchFamily="1" charset="-128"/>
                  <a:sym typeface="Hoefler Text" pitchFamily="1" charset="0"/>
                </a:defRPr>
              </a:lvl4pPr>
              <a:lvl5pPr eaLnBrk="0" hangingPunct="0">
                <a:defRPr sz="2800">
                  <a:solidFill>
                    <a:srgbClr val="382F28"/>
                  </a:solidFill>
                  <a:latin typeface="Arial" charset="0"/>
                  <a:ea typeface="ヒラギノ角ゴ ProN W6" pitchFamily="1" charset="-128"/>
                  <a:sym typeface="Hoefler Text" pitchFamily="1" charset="0"/>
                </a:defRPr>
              </a:lvl5pPr>
              <a:lvl6pPr marL="4572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6pPr>
              <a:lvl7pPr marL="9144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7pPr>
              <a:lvl8pPr marL="13716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8pPr>
              <a:lvl9pPr marL="1828800" eaLnBrk="0" fontAlgn="base" hangingPunct="0">
                <a:spcBef>
                  <a:spcPct val="0"/>
                </a:spcBef>
                <a:spcAft>
                  <a:spcPct val="0"/>
                </a:spcAft>
                <a:defRPr sz="2800">
                  <a:solidFill>
                    <a:srgbClr val="382F28"/>
                  </a:solidFill>
                  <a:latin typeface="Arial" charset="0"/>
                  <a:ea typeface="ヒラギノ角ゴ ProN W6" pitchFamily="1" charset="-128"/>
                  <a:sym typeface="Hoefler Text" pitchFamily="1" charset="0"/>
                </a:defRPr>
              </a:lvl9pPr>
            </a:lstStyle>
            <a:p>
              <a:pPr eaLnBrk="1" hangingPunct="1"/>
              <a:endParaRPr lang="en-US" altLang="en-US"/>
            </a:p>
          </p:txBody>
        </p:sp>
      </p:grpSp>
    </p:spTree>
    <p:extLst>
      <p:ext uri="{BB962C8B-B14F-4D97-AF65-F5344CB8AC3E}">
        <p14:creationId xmlns:p14="http://schemas.microsoft.com/office/powerpoint/2010/main" val="12473495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7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bldLvl="5"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812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727" y="404664"/>
            <a:ext cx="1858492" cy="1866305"/>
          </a:xfrm>
          <a:prstGeom prst="rect">
            <a:avLst/>
          </a:prstGeom>
          <a:noFill/>
          <a:ln>
            <a:noFill/>
          </a:ln>
          <a:effectLst>
            <a:outerShdw blurRad="190500" dist="190499" dir="2700000" algn="ctr" rotWithShape="0">
              <a:schemeClr val="bg2">
                <a:alpha val="39998"/>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nvGrpSpPr>
          <p:cNvPr id="120835" name="Group 4"/>
          <p:cNvGrpSpPr>
            <a:grpSpLocks/>
          </p:cNvGrpSpPr>
          <p:nvPr/>
        </p:nvGrpSpPr>
        <p:grpSpPr bwMode="auto">
          <a:xfrm>
            <a:off x="4805016" y="2043666"/>
            <a:ext cx="3159422" cy="4799518"/>
            <a:chOff x="952" y="0"/>
            <a:chExt cx="3992" cy="4902"/>
          </a:xfrm>
        </p:grpSpPr>
        <p:pic>
          <p:nvPicPr>
            <p:cNvPr id="12084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2" y="0"/>
              <a:ext cx="3992" cy="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0846" name="Rectangle 3"/>
            <p:cNvSpPr>
              <a:spLocks/>
            </p:cNvSpPr>
            <p:nvPr/>
          </p:nvSpPr>
          <p:spPr bwMode="auto">
            <a:xfrm rot="16200000">
              <a:off x="2477" y="4740"/>
              <a:ext cx="269"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sz="400">
                  <a:solidFill>
                    <a:schemeClr val="tx1"/>
                  </a:solidFill>
                  <a:cs typeface="Arial" charset="0"/>
                </a:rPr>
                <a:t>Hemera</a:t>
              </a:r>
            </a:p>
          </p:txBody>
        </p:sp>
      </p:grpSp>
      <p:sp>
        <p:nvSpPr>
          <p:cNvPr id="120836" name="Rectangle 5"/>
          <p:cNvSpPr>
            <a:spLocks noGrp="1" noChangeArrowheads="1"/>
          </p:cNvSpPr>
          <p:nvPr>
            <p:ph type="title"/>
          </p:nvPr>
        </p:nvSpPr>
        <p:spPr>
          <a:xfrm>
            <a:off x="500063" y="258961"/>
            <a:ext cx="8456414" cy="973336"/>
          </a:xfrm>
        </p:spPr>
        <p:txBody>
          <a:bodyPr/>
          <a:lstStyle/>
          <a:p>
            <a:pPr>
              <a:tabLst>
                <a:tab pos="669703" algn="l"/>
              </a:tabLst>
            </a:pPr>
            <a:r>
              <a:rPr lang="en-US" altLang="en-US" dirty="0"/>
              <a:t>Control of Urine Output</a:t>
            </a:r>
          </a:p>
        </p:txBody>
      </p:sp>
      <p:sp>
        <p:nvSpPr>
          <p:cNvPr id="48134" name="Rectangle 6"/>
          <p:cNvSpPr>
            <a:spLocks noGrp="1" noChangeArrowheads="1"/>
          </p:cNvSpPr>
          <p:nvPr>
            <p:ph type="body" idx="1"/>
          </p:nvPr>
        </p:nvSpPr>
        <p:spPr>
          <a:xfrm>
            <a:off x="250031" y="1259086"/>
            <a:ext cx="3589734" cy="5598914"/>
          </a:xfrm>
        </p:spPr>
        <p:txBody>
          <a:bodyPr>
            <a:normAutofit fontScale="92500" lnSpcReduction="20000"/>
          </a:bodyPr>
          <a:lstStyle/>
          <a:p>
            <a:pPr>
              <a:tabLst>
                <a:tab pos="721047" algn="l"/>
                <a:tab pos="1045853" algn="l"/>
              </a:tabLst>
            </a:pPr>
            <a:r>
              <a:rPr lang="en-US" altLang="en-US" dirty="0"/>
              <a:t>Variations in salt and water intake, and in the environmental conditions to which we are exposed, contribute to fluctuations in blood volume and composition. </a:t>
            </a:r>
          </a:p>
          <a:p>
            <a:pPr>
              <a:tabLst>
                <a:tab pos="721047" algn="l"/>
                <a:tab pos="1045853" algn="l"/>
              </a:tabLst>
            </a:pPr>
            <a:r>
              <a:rPr lang="en-US" altLang="en-US" dirty="0"/>
              <a:t>The primary role of the kidneys is to regulate blood volume and composition (including the removal of nitrogenous wastes), so that </a:t>
            </a:r>
            <a:r>
              <a:rPr lang="en-US" altLang="en-US" i="1" u="sng" dirty="0">
                <a:solidFill>
                  <a:srgbClr val="005481"/>
                </a:solidFill>
                <a:hlinkClick r:id="rId4" action="ppaction://hlinksldjump"/>
              </a:rPr>
              <a:t>homeostasis</a:t>
            </a:r>
            <a:r>
              <a:rPr lang="en-US" altLang="en-US" dirty="0"/>
              <a:t> is maintained. </a:t>
            </a:r>
          </a:p>
          <a:p>
            <a:pPr lvl="1">
              <a:tabLst>
                <a:tab pos="721047" algn="l"/>
                <a:tab pos="1045853" algn="l"/>
              </a:tabLst>
            </a:pPr>
            <a:r>
              <a:rPr lang="en-US" altLang="en-US" dirty="0"/>
              <a:t>This is achieved through varying the volume and composition of the urine. Two hormones, </a:t>
            </a:r>
            <a:r>
              <a:rPr lang="en-US" altLang="en-US" b="1" dirty="0">
                <a:solidFill>
                  <a:srgbClr val="005481"/>
                </a:solidFill>
              </a:rPr>
              <a:t>antidiuretic hormone</a:t>
            </a:r>
            <a:r>
              <a:rPr lang="en-US" altLang="en-US" dirty="0">
                <a:solidFill>
                  <a:srgbClr val="005481"/>
                </a:solidFill>
              </a:rPr>
              <a:t> </a:t>
            </a:r>
            <a:r>
              <a:rPr lang="en-US" altLang="en-US" dirty="0"/>
              <a:t>(ADH) and </a:t>
            </a:r>
            <a:r>
              <a:rPr lang="en-US" altLang="en-US" b="1" dirty="0">
                <a:solidFill>
                  <a:srgbClr val="005481"/>
                </a:solidFill>
              </a:rPr>
              <a:t>aldosterone</a:t>
            </a:r>
            <a:r>
              <a:rPr lang="en-US" altLang="en-US" dirty="0"/>
              <a:t>, are involved in the process.</a:t>
            </a:r>
          </a:p>
        </p:txBody>
      </p:sp>
      <p:sp>
        <p:nvSpPr>
          <p:cNvPr id="120838" name="Freeform 7"/>
          <p:cNvSpPr>
            <a:spLocks/>
          </p:cNvSpPr>
          <p:nvPr/>
        </p:nvSpPr>
        <p:spPr bwMode="auto">
          <a:xfrm>
            <a:off x="6279244" y="1554794"/>
            <a:ext cx="1565425" cy="2234245"/>
          </a:xfrm>
          <a:custGeom>
            <a:avLst/>
            <a:gdLst>
              <a:gd name="T0" fmla="*/ 0 w 21600"/>
              <a:gd name="T1" fmla="*/ 2147483647 h 16522"/>
              <a:gd name="T2" fmla="*/ 2147483647 w 21600"/>
              <a:gd name="T3" fmla="*/ 0 h 16522"/>
              <a:gd name="T4" fmla="*/ 0 60000 65536"/>
              <a:gd name="T5" fmla="*/ 0 60000 65536"/>
              <a:gd name="T6" fmla="*/ 0 w 21600"/>
              <a:gd name="T7" fmla="*/ 0 h 16522"/>
              <a:gd name="T8" fmla="*/ 21600 w 21600"/>
              <a:gd name="T9" fmla="*/ 16522 h 16522"/>
            </a:gdLst>
            <a:ahLst/>
            <a:cxnLst>
              <a:cxn ang="T4">
                <a:pos x="T0" y="T1"/>
              </a:cxn>
              <a:cxn ang="T5">
                <a:pos x="T2" y="T3"/>
              </a:cxn>
            </a:cxnLst>
            <a:rect l="T6" t="T7" r="T8" b="T9"/>
            <a:pathLst>
              <a:path w="21600" h="16522">
                <a:moveTo>
                  <a:pt x="0" y="15819"/>
                </a:moveTo>
                <a:cubicBezTo>
                  <a:pt x="0" y="15819"/>
                  <a:pt x="15986" y="21600"/>
                  <a:pt x="21600" y="0"/>
                </a:cubicBezTo>
              </a:path>
            </a:pathLst>
          </a:custGeom>
          <a:noFill/>
          <a:ln w="38100">
            <a:solidFill>
              <a:srgbClr val="FF7F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120839" name="Freeform 8"/>
          <p:cNvSpPr>
            <a:spLocks/>
          </p:cNvSpPr>
          <p:nvPr/>
        </p:nvSpPr>
        <p:spPr bwMode="auto">
          <a:xfrm>
            <a:off x="6279245" y="3356992"/>
            <a:ext cx="210964" cy="237753"/>
          </a:xfrm>
          <a:custGeom>
            <a:avLst/>
            <a:gdLst>
              <a:gd name="T0" fmla="*/ 0 w 14454"/>
              <a:gd name="T1" fmla="*/ 2147483647 h 11831"/>
              <a:gd name="T2" fmla="*/ 2147483647 w 14454"/>
              <a:gd name="T3" fmla="*/ 2147483647 h 11831"/>
              <a:gd name="T4" fmla="*/ 0 60000 65536"/>
              <a:gd name="T5" fmla="*/ 0 60000 65536"/>
              <a:gd name="T6" fmla="*/ 0 w 14454"/>
              <a:gd name="T7" fmla="*/ 0 h 11831"/>
              <a:gd name="T8" fmla="*/ 14454 w 14454"/>
              <a:gd name="T9" fmla="*/ 11831 h 11831"/>
            </a:gdLst>
            <a:ahLst/>
            <a:cxnLst>
              <a:cxn ang="T4">
                <a:pos x="T0" y="T1"/>
              </a:cxn>
              <a:cxn ang="T5">
                <a:pos x="T2" y="T3"/>
              </a:cxn>
            </a:cxnLst>
            <a:rect l="T6" t="T7" r="T8" b="T9"/>
            <a:pathLst>
              <a:path w="14454" h="11831">
                <a:moveTo>
                  <a:pt x="0" y="6479"/>
                </a:moveTo>
                <a:cubicBezTo>
                  <a:pt x="14667" y="-9769"/>
                  <a:pt x="21600" y="9363"/>
                  <a:pt x="4082" y="11831"/>
                </a:cubicBezTo>
              </a:path>
            </a:pathLst>
          </a:custGeom>
          <a:noFill/>
          <a:ln w="38100">
            <a:solidFill>
              <a:srgbClr val="FF7F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grpSp>
        <p:nvGrpSpPr>
          <p:cNvPr id="120840" name="Group 11"/>
          <p:cNvGrpSpPr>
            <a:grpSpLocks/>
          </p:cNvGrpSpPr>
          <p:nvPr/>
        </p:nvGrpSpPr>
        <p:grpSpPr bwMode="auto">
          <a:xfrm>
            <a:off x="4070762" y="2248005"/>
            <a:ext cx="1556650" cy="646285"/>
            <a:chOff x="0" y="-203"/>
            <a:chExt cx="1536" cy="579"/>
          </a:xfrm>
        </p:grpSpPr>
        <p:sp>
          <p:nvSpPr>
            <p:cNvPr id="120843" name="Rectangle 9"/>
            <p:cNvSpPr>
              <a:spLocks/>
            </p:cNvSpPr>
            <p:nvPr/>
          </p:nvSpPr>
          <p:spPr bwMode="auto">
            <a:xfrm>
              <a:off x="8" y="-182"/>
              <a:ext cx="1528" cy="558"/>
            </a:xfrm>
            <a:prstGeom prst="rect">
              <a:avLst/>
            </a:prstGeom>
            <a:solidFill>
              <a:schemeClr val="accent1">
                <a:alpha val="85097"/>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120844" name="Rectangle 10"/>
            <p:cNvSpPr>
              <a:spLocks/>
            </p:cNvSpPr>
            <p:nvPr/>
          </p:nvSpPr>
          <p:spPr bwMode="auto">
            <a:xfrm>
              <a:off x="0" y="-203"/>
              <a:ext cx="1512" cy="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sz="1300" dirty="0">
                  <a:solidFill>
                    <a:schemeClr val="bg1"/>
                  </a:solidFill>
                  <a:cs typeface="Arial" charset="0"/>
                </a:rPr>
                <a:t>Aldosterone produced by the adrenal cortex</a:t>
              </a:r>
            </a:p>
          </p:txBody>
        </p:sp>
      </p:grpSp>
      <p:sp>
        <p:nvSpPr>
          <p:cNvPr id="120841" name="Rectangle 12"/>
          <p:cNvSpPr>
            <a:spLocks/>
          </p:cNvSpPr>
          <p:nvPr/>
        </p:nvSpPr>
        <p:spPr bwMode="auto">
          <a:xfrm>
            <a:off x="6669300" y="2519244"/>
            <a:ext cx="1705570" cy="419695"/>
          </a:xfrm>
          <a:prstGeom prst="rect">
            <a:avLst/>
          </a:prstGeom>
          <a:solidFill>
            <a:schemeClr val="accent1">
              <a:alpha val="85097"/>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120842" name="Rectangle 13"/>
          <p:cNvSpPr>
            <a:spLocks/>
          </p:cNvSpPr>
          <p:nvPr/>
        </p:nvSpPr>
        <p:spPr bwMode="auto">
          <a:xfrm>
            <a:off x="6696089" y="2546033"/>
            <a:ext cx="1687711" cy="366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sz="1300" dirty="0">
                <a:solidFill>
                  <a:schemeClr val="bg1"/>
                </a:solidFill>
                <a:cs typeface="Arial" charset="0"/>
              </a:rPr>
              <a:t>ADH released from the posterior pituitary </a:t>
            </a:r>
          </a:p>
        </p:txBody>
      </p:sp>
    </p:spTree>
    <p:extLst>
      <p:ext uri="{BB962C8B-B14F-4D97-AF65-F5344CB8AC3E}">
        <p14:creationId xmlns:p14="http://schemas.microsoft.com/office/powerpoint/2010/main" val="3746953214"/>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813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13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81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build="p" bldLvl="5"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1"/>
          <p:cNvSpPr>
            <a:spLocks noGrp="1" noChangeArrowheads="1"/>
          </p:cNvSpPr>
          <p:nvPr>
            <p:ph type="title"/>
          </p:nvPr>
        </p:nvSpPr>
        <p:spPr>
          <a:xfrm>
            <a:off x="500063" y="258961"/>
            <a:ext cx="8456414" cy="1017984"/>
          </a:xfrm>
        </p:spPr>
        <p:txBody>
          <a:bodyPr/>
          <a:lstStyle/>
          <a:p>
            <a:pPr>
              <a:tabLst>
                <a:tab pos="669703" algn="l"/>
              </a:tabLst>
            </a:pPr>
            <a:r>
              <a:rPr lang="en-US" altLang="en-US"/>
              <a:t>Aldosterone and ADH</a:t>
            </a:r>
          </a:p>
        </p:txBody>
      </p:sp>
      <p:sp>
        <p:nvSpPr>
          <p:cNvPr id="49154" name="Rectangle 2"/>
          <p:cNvSpPr>
            <a:spLocks noGrp="1" noChangeArrowheads="1"/>
          </p:cNvSpPr>
          <p:nvPr>
            <p:ph type="body" idx="1"/>
          </p:nvPr>
        </p:nvSpPr>
        <p:spPr>
          <a:xfrm>
            <a:off x="250031" y="1259086"/>
            <a:ext cx="4321969" cy="4929188"/>
          </a:xfrm>
        </p:spPr>
        <p:txBody>
          <a:bodyPr>
            <a:normAutofit fontScale="92500" lnSpcReduction="20000"/>
          </a:bodyPr>
          <a:lstStyle/>
          <a:p>
            <a:pPr>
              <a:tabLst>
                <a:tab pos="721047" algn="l"/>
                <a:tab pos="1045853" algn="l"/>
              </a:tabLst>
            </a:pPr>
            <a:r>
              <a:rPr lang="en-US" altLang="en-US"/>
              <a:t>Osmoreceptors in the </a:t>
            </a:r>
            <a:r>
              <a:rPr lang="en-US" altLang="en-US" i="1" u="sng">
                <a:solidFill>
                  <a:srgbClr val="005481"/>
                </a:solidFill>
                <a:hlinkClick r:id="rId2" action="ppaction://hlinksldjump"/>
              </a:rPr>
              <a:t>hypothalamus</a:t>
            </a:r>
            <a:r>
              <a:rPr lang="en-US" altLang="en-US"/>
              <a:t> detect a fall in the plasma volume. </a:t>
            </a:r>
          </a:p>
          <a:p>
            <a:pPr lvl="1">
              <a:tabLst>
                <a:tab pos="721047" algn="l"/>
                <a:tab pos="1045853" algn="l"/>
              </a:tabLst>
            </a:pPr>
            <a:r>
              <a:rPr lang="en-US" altLang="en-US"/>
              <a:t>They stimulate neurosecretory cells in the hypothalamus to synthesize and secrete the hormone ADH (antidiuretic hormone).</a:t>
            </a:r>
          </a:p>
          <a:p>
            <a:pPr>
              <a:tabLst>
                <a:tab pos="721047" algn="l"/>
                <a:tab pos="1045853" algn="l"/>
              </a:tabLst>
            </a:pPr>
            <a:r>
              <a:rPr lang="en-US" altLang="en-US" b="1">
                <a:solidFill>
                  <a:srgbClr val="005481"/>
                </a:solidFill>
              </a:rPr>
              <a:t>ADH</a:t>
            </a:r>
            <a:r>
              <a:rPr lang="en-US" altLang="en-US"/>
              <a:t> passes from the hypothalamus to the posterior pituitary where it is released into the blood. </a:t>
            </a:r>
          </a:p>
          <a:p>
            <a:pPr lvl="1">
              <a:tabLst>
                <a:tab pos="721047" algn="l"/>
                <a:tab pos="1045853" algn="l"/>
              </a:tabLst>
            </a:pPr>
            <a:r>
              <a:rPr lang="en-US" altLang="en-US"/>
              <a:t>ADH increases the permeability of the kidney collecting duct to water so that more water is reabsorbed and urine volume decreases.</a:t>
            </a:r>
          </a:p>
          <a:p>
            <a:pPr>
              <a:tabLst>
                <a:tab pos="721047" algn="l"/>
                <a:tab pos="1045853" algn="l"/>
              </a:tabLst>
            </a:pPr>
            <a:r>
              <a:rPr lang="en-US" altLang="en-US" b="1">
                <a:solidFill>
                  <a:srgbClr val="005481"/>
                </a:solidFill>
              </a:rPr>
              <a:t>Aldosterone</a:t>
            </a:r>
            <a:r>
              <a:rPr lang="en-US" altLang="en-US"/>
              <a:t> acts on the distal tubules and collecting ducts of the nephron, causing conservation of sodium ions and secretion of potassium ions.</a:t>
            </a:r>
          </a:p>
        </p:txBody>
      </p:sp>
      <p:pic>
        <p:nvPicPr>
          <p:cNvPr id="4915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10734" y="517922"/>
            <a:ext cx="2739182" cy="2794992"/>
          </a:xfrm>
          <a:prstGeom prst="rect">
            <a:avLst/>
          </a:prstGeom>
          <a:noFill/>
          <a:ln>
            <a:noFill/>
          </a:ln>
          <a:effectLst>
            <a:outerShdw blurRad="190500" dist="190499" dir="2700000" algn="ctr" rotWithShape="0">
              <a:schemeClr val="bg2">
                <a:alpha val="39998"/>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4915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4937" y="3036094"/>
            <a:ext cx="2263676" cy="3598664"/>
          </a:xfrm>
          <a:prstGeom prst="rect">
            <a:avLst/>
          </a:prstGeom>
          <a:noFill/>
          <a:ln>
            <a:noFill/>
          </a:ln>
          <a:effectLst>
            <a:outerShdw blurRad="190500" dist="190499" dir="2700000" algn="ctr" rotWithShape="0">
              <a:schemeClr val="bg2">
                <a:alpha val="39998"/>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nvGrpSpPr>
          <p:cNvPr id="2" name="Group 9"/>
          <p:cNvGrpSpPr>
            <a:grpSpLocks/>
          </p:cNvGrpSpPr>
          <p:nvPr/>
        </p:nvGrpSpPr>
        <p:grpSpPr bwMode="auto">
          <a:xfrm>
            <a:off x="6447235" y="1491258"/>
            <a:ext cx="2123034" cy="1812727"/>
            <a:chOff x="0" y="0"/>
            <a:chExt cx="1902" cy="1624"/>
          </a:xfrm>
        </p:grpSpPr>
        <p:sp>
          <p:nvSpPr>
            <p:cNvPr id="49157" name="Oval 5"/>
            <p:cNvSpPr>
              <a:spLocks/>
            </p:cNvSpPr>
            <p:nvPr/>
          </p:nvSpPr>
          <p:spPr bwMode="auto">
            <a:xfrm>
              <a:off x="0" y="0"/>
              <a:ext cx="664" cy="664"/>
            </a:xfrm>
            <a:prstGeom prst="ellipse">
              <a:avLst/>
            </a:prstGeom>
            <a:gradFill rotWithShape="0">
              <a:gsLst>
                <a:gs pos="0">
                  <a:srgbClr val="FF0000"/>
                </a:gs>
                <a:gs pos="100000">
                  <a:srgbClr val="FF0000">
                    <a:alpha val="0"/>
                  </a:srgbClr>
                </a:gs>
              </a:gsLst>
              <a:path path="rect">
                <a:fillToRect l="50000" t="50000" r="50000" b="50000"/>
              </a:path>
            </a:gradFill>
            <a:ln>
              <a:noFill/>
            </a:ln>
            <a:effectLst>
              <a:outerShdw blurRad="190500" dist="190499" dir="2700000" algn="ctr" rotWithShape="0">
                <a:schemeClr val="bg2">
                  <a:alpha val="50000"/>
                </a:schemeClr>
              </a:outerShdw>
            </a:effectLst>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defRPr/>
              </a:pPr>
              <a:endParaRPr lang="en-US">
                <a:latin typeface="Arial" pitchFamily="1" charset="0"/>
                <a:sym typeface="Arial" pitchFamily="1" charset="0"/>
              </a:endParaRPr>
            </a:p>
          </p:txBody>
        </p:sp>
        <p:grpSp>
          <p:nvGrpSpPr>
            <p:cNvPr id="121869" name="Group 8"/>
            <p:cNvGrpSpPr>
              <a:grpSpLocks/>
            </p:cNvGrpSpPr>
            <p:nvPr/>
          </p:nvGrpSpPr>
          <p:grpSpPr bwMode="auto">
            <a:xfrm>
              <a:off x="360" y="351"/>
              <a:ext cx="1542" cy="1273"/>
              <a:chOff x="0" y="0"/>
              <a:chExt cx="1542" cy="1272"/>
            </a:xfrm>
          </p:grpSpPr>
          <p:sp>
            <p:nvSpPr>
              <p:cNvPr id="121870" name="Freeform 6"/>
              <p:cNvSpPr>
                <a:spLocks/>
              </p:cNvSpPr>
              <p:nvPr/>
            </p:nvSpPr>
            <p:spPr bwMode="auto">
              <a:xfrm>
                <a:off x="0" y="0"/>
                <a:ext cx="1100" cy="1048"/>
              </a:xfrm>
              <a:custGeom>
                <a:avLst/>
                <a:gdLst>
                  <a:gd name="T0" fmla="*/ 0 w 19221"/>
                  <a:gd name="T1" fmla="*/ 0 h 21600"/>
                  <a:gd name="T2" fmla="*/ 0 w 19221"/>
                  <a:gd name="T3" fmla="*/ 0 h 21600"/>
                  <a:gd name="T4" fmla="*/ 0 60000 65536"/>
                  <a:gd name="T5" fmla="*/ 0 60000 65536"/>
                  <a:gd name="T6" fmla="*/ 0 w 19221"/>
                  <a:gd name="T7" fmla="*/ 0 h 21600"/>
                  <a:gd name="T8" fmla="*/ 19221 w 19221"/>
                  <a:gd name="T9" fmla="*/ 21600 h 21600"/>
                </a:gdLst>
                <a:ahLst/>
                <a:cxnLst>
                  <a:cxn ang="T4">
                    <a:pos x="T0" y="T1"/>
                  </a:cxn>
                  <a:cxn ang="T5">
                    <a:pos x="T2" y="T3"/>
                  </a:cxn>
                </a:cxnLst>
                <a:rect l="T6" t="T7" r="T8" b="T9"/>
                <a:pathLst>
                  <a:path w="19221" h="21600">
                    <a:moveTo>
                      <a:pt x="19136" y="21600"/>
                    </a:moveTo>
                    <a:cubicBezTo>
                      <a:pt x="19136" y="21600"/>
                      <a:pt x="21600" y="1088"/>
                      <a:pt x="0" y="0"/>
                    </a:cubicBezTo>
                  </a:path>
                </a:pathLst>
              </a:custGeom>
              <a:noFill/>
              <a:ln w="635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121871" name="Rectangle 7"/>
              <p:cNvSpPr>
                <a:spLocks/>
              </p:cNvSpPr>
              <p:nvPr/>
            </p:nvSpPr>
            <p:spPr bwMode="auto">
              <a:xfrm>
                <a:off x="840" y="941"/>
                <a:ext cx="702"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b="1">
                    <a:solidFill>
                      <a:srgbClr val="005481"/>
                    </a:solidFill>
                    <a:cs typeface="Arial" charset="0"/>
                  </a:rPr>
                  <a:t>ADH</a:t>
                </a:r>
              </a:p>
            </p:txBody>
          </p:sp>
        </p:grpSp>
      </p:grpSp>
      <p:sp>
        <p:nvSpPr>
          <p:cNvPr id="49162" name="Freeform 10"/>
          <p:cNvSpPr>
            <a:spLocks/>
          </p:cNvSpPr>
          <p:nvPr/>
        </p:nvSpPr>
        <p:spPr bwMode="auto">
          <a:xfrm>
            <a:off x="6488534" y="2220144"/>
            <a:ext cx="1307083" cy="975568"/>
          </a:xfrm>
          <a:custGeom>
            <a:avLst/>
            <a:gdLst>
              <a:gd name="T0" fmla="*/ 0 w 21334"/>
              <a:gd name="T1" fmla="*/ 0 h 19550"/>
              <a:gd name="T2" fmla="*/ 2147483647 w 21334"/>
              <a:gd name="T3" fmla="*/ 2147483647 h 19550"/>
              <a:gd name="T4" fmla="*/ 0 60000 65536"/>
              <a:gd name="T5" fmla="*/ 0 60000 65536"/>
              <a:gd name="T6" fmla="*/ 0 w 21334"/>
              <a:gd name="T7" fmla="*/ 0 h 19550"/>
              <a:gd name="T8" fmla="*/ 21334 w 21334"/>
              <a:gd name="T9" fmla="*/ 19550 h 19550"/>
            </a:gdLst>
            <a:ahLst/>
            <a:cxnLst>
              <a:cxn ang="T4">
                <a:pos x="T0" y="T1"/>
              </a:cxn>
              <a:cxn ang="T5">
                <a:pos x="T2" y="T3"/>
              </a:cxn>
            </a:cxnLst>
            <a:rect l="T6" t="T7" r="T8" b="T9"/>
            <a:pathLst>
              <a:path w="21334" h="19550">
                <a:moveTo>
                  <a:pt x="0" y="0"/>
                </a:moveTo>
                <a:cubicBezTo>
                  <a:pt x="0" y="0"/>
                  <a:pt x="-266" y="21600"/>
                  <a:pt x="21334" y="19392"/>
                </a:cubicBezTo>
              </a:path>
            </a:pathLst>
          </a:custGeom>
          <a:noFill/>
          <a:ln w="635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sp>
        <p:nvSpPr>
          <p:cNvPr id="49163" name="Freeform 11"/>
          <p:cNvSpPr>
            <a:spLocks/>
          </p:cNvSpPr>
          <p:nvPr/>
        </p:nvSpPr>
        <p:spPr bwMode="auto">
          <a:xfrm flipH="1">
            <a:off x="6220644" y="2207865"/>
            <a:ext cx="250031" cy="1607344"/>
          </a:xfrm>
          <a:custGeom>
            <a:avLst/>
            <a:gdLst>
              <a:gd name="T0" fmla="*/ 0 w 4988"/>
              <a:gd name="T1" fmla="*/ 0 h 21600"/>
              <a:gd name="T2" fmla="*/ 2147483647 w 4988"/>
              <a:gd name="T3" fmla="*/ 2147483647 h 21600"/>
              <a:gd name="T4" fmla="*/ 0 60000 65536"/>
              <a:gd name="T5" fmla="*/ 0 60000 65536"/>
              <a:gd name="T6" fmla="*/ 0 w 4988"/>
              <a:gd name="T7" fmla="*/ 0 h 21600"/>
              <a:gd name="T8" fmla="*/ 4988 w 4988"/>
              <a:gd name="T9" fmla="*/ 21600 h 21600"/>
            </a:gdLst>
            <a:ahLst/>
            <a:cxnLst>
              <a:cxn ang="T4">
                <a:pos x="T0" y="T1"/>
              </a:cxn>
              <a:cxn ang="T5">
                <a:pos x="T2" y="T3"/>
              </a:cxn>
            </a:cxnLst>
            <a:rect l="T6" t="T7" r="T8" b="T9"/>
            <a:pathLst>
              <a:path w="4988" h="21600">
                <a:moveTo>
                  <a:pt x="0" y="0"/>
                </a:moveTo>
                <a:cubicBezTo>
                  <a:pt x="13881" y="8140"/>
                  <a:pt x="-7719" y="17840"/>
                  <a:pt x="4988" y="21600"/>
                </a:cubicBezTo>
              </a:path>
            </a:pathLst>
          </a:custGeom>
          <a:noFill/>
          <a:ln w="63500">
            <a:solidFill>
              <a:srgbClr val="005481"/>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grpSp>
        <p:nvGrpSpPr>
          <p:cNvPr id="4" name="Group 14"/>
          <p:cNvGrpSpPr>
            <a:grpSpLocks/>
          </p:cNvGrpSpPr>
          <p:nvPr/>
        </p:nvGrpSpPr>
        <p:grpSpPr bwMode="auto">
          <a:xfrm>
            <a:off x="5895826" y="3529459"/>
            <a:ext cx="3399088" cy="1971229"/>
            <a:chOff x="0" y="0"/>
            <a:chExt cx="3044" cy="1765"/>
          </a:xfrm>
        </p:grpSpPr>
        <p:sp>
          <p:nvSpPr>
            <p:cNvPr id="121866" name="Rectangle 12"/>
            <p:cNvSpPr>
              <a:spLocks/>
            </p:cNvSpPr>
            <p:nvPr/>
          </p:nvSpPr>
          <p:spPr bwMode="auto">
            <a:xfrm>
              <a:off x="1333" y="1434"/>
              <a:ext cx="1711"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b="1">
                  <a:solidFill>
                    <a:srgbClr val="005481"/>
                  </a:solidFill>
                  <a:cs typeface="Arial" charset="0"/>
                </a:rPr>
                <a:t>Aldosterone</a:t>
              </a:r>
            </a:p>
          </p:txBody>
        </p:sp>
        <p:sp>
          <p:nvSpPr>
            <p:cNvPr id="121867" name="Freeform 13"/>
            <p:cNvSpPr>
              <a:spLocks/>
            </p:cNvSpPr>
            <p:nvPr/>
          </p:nvSpPr>
          <p:spPr bwMode="auto">
            <a:xfrm>
              <a:off x="0" y="0"/>
              <a:ext cx="1373" cy="1677"/>
            </a:xfrm>
            <a:custGeom>
              <a:avLst/>
              <a:gdLst>
                <a:gd name="T0" fmla="*/ 0 w 15411"/>
                <a:gd name="T1" fmla="*/ 0 h 21600"/>
                <a:gd name="T2" fmla="*/ 0 w 15411"/>
                <a:gd name="T3" fmla="*/ 0 h 21600"/>
                <a:gd name="T4" fmla="*/ 0 60000 65536"/>
                <a:gd name="T5" fmla="*/ 0 60000 65536"/>
                <a:gd name="T6" fmla="*/ 0 w 15411"/>
                <a:gd name="T7" fmla="*/ 0 h 21600"/>
                <a:gd name="T8" fmla="*/ 15411 w 15411"/>
                <a:gd name="T9" fmla="*/ 21600 h 21600"/>
              </a:gdLst>
              <a:ahLst/>
              <a:cxnLst>
                <a:cxn ang="T4">
                  <a:pos x="T0" y="T1"/>
                </a:cxn>
                <a:cxn ang="T5">
                  <a:pos x="T2" y="T3"/>
                </a:cxn>
              </a:cxnLst>
              <a:rect l="T6" t="T7" r="T8" b="T9"/>
              <a:pathLst>
                <a:path w="15411" h="21600">
                  <a:moveTo>
                    <a:pt x="1230" y="0"/>
                  </a:moveTo>
                  <a:cubicBezTo>
                    <a:pt x="1230" y="0"/>
                    <a:pt x="-6189" y="21291"/>
                    <a:pt x="15411" y="21600"/>
                  </a:cubicBezTo>
                </a:path>
              </a:pathLst>
            </a:custGeom>
            <a:noFill/>
            <a:ln w="635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p>
          </p:txBody>
        </p:sp>
      </p:grpSp>
    </p:spTree>
    <p:extLst>
      <p:ext uri="{BB962C8B-B14F-4D97-AF65-F5344CB8AC3E}">
        <p14:creationId xmlns:p14="http://schemas.microsoft.com/office/powerpoint/2010/main" val="174775364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1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5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15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915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9154">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916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916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bldLvl="5" autoUpdateAnimBg="0"/>
      <p:bldP spid="49162" grpId="0" animBg="1"/>
      <p:bldP spid="4916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
          <p:cNvSpPr>
            <a:spLocks noGrp="1" noChangeArrowheads="1"/>
          </p:cNvSpPr>
          <p:nvPr>
            <p:ph type="title"/>
          </p:nvPr>
        </p:nvSpPr>
        <p:spPr>
          <a:xfrm>
            <a:off x="500063" y="258961"/>
            <a:ext cx="8456414" cy="866180"/>
          </a:xfrm>
        </p:spPr>
        <p:txBody>
          <a:bodyPr/>
          <a:lstStyle/>
          <a:p>
            <a:pPr>
              <a:tabLst>
                <a:tab pos="669703" algn="l"/>
              </a:tabLst>
            </a:pPr>
            <a:r>
              <a:rPr lang="en-US" altLang="en-US"/>
              <a:t>Release and Inhibition</a:t>
            </a:r>
          </a:p>
        </p:txBody>
      </p:sp>
      <p:grpSp>
        <p:nvGrpSpPr>
          <p:cNvPr id="2" name="Group 10"/>
          <p:cNvGrpSpPr>
            <a:grpSpLocks/>
          </p:cNvGrpSpPr>
          <p:nvPr/>
        </p:nvGrpSpPr>
        <p:grpSpPr bwMode="auto">
          <a:xfrm>
            <a:off x="5764442" y="1418266"/>
            <a:ext cx="2571750" cy="4634508"/>
            <a:chOff x="0" y="0"/>
            <a:chExt cx="2304" cy="4152"/>
          </a:xfrm>
        </p:grpSpPr>
        <p:grpSp>
          <p:nvGrpSpPr>
            <p:cNvPr id="122900" name="Group 4"/>
            <p:cNvGrpSpPr>
              <a:grpSpLocks/>
            </p:cNvGrpSpPr>
            <p:nvPr/>
          </p:nvGrpSpPr>
          <p:grpSpPr bwMode="auto">
            <a:xfrm>
              <a:off x="0" y="0"/>
              <a:ext cx="2304" cy="1512"/>
              <a:chOff x="0" y="0"/>
              <a:chExt cx="2304" cy="1512"/>
            </a:xfrm>
          </p:grpSpPr>
          <p:sp>
            <p:nvSpPr>
              <p:cNvPr id="122906" name="Rectangle 2"/>
              <p:cNvSpPr>
                <a:spLocks/>
              </p:cNvSpPr>
              <p:nvPr/>
            </p:nvSpPr>
            <p:spPr bwMode="auto">
              <a:xfrm>
                <a:off x="0" y="0"/>
                <a:ext cx="2304" cy="1512"/>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solidFill>
                    <a:schemeClr val="bg1"/>
                  </a:solidFill>
                </a:endParaRPr>
              </a:p>
            </p:txBody>
          </p:sp>
          <p:sp>
            <p:nvSpPr>
              <p:cNvPr id="122907" name="Rectangle 3"/>
              <p:cNvSpPr>
                <a:spLocks/>
              </p:cNvSpPr>
              <p:nvPr/>
            </p:nvSpPr>
            <p:spPr bwMode="auto">
              <a:xfrm>
                <a:off x="8" y="40"/>
                <a:ext cx="2272"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chemeClr val="bg1"/>
                    </a:solidFill>
                    <a:cs typeface="Arial" charset="0"/>
                  </a:rPr>
                  <a:t>Factors causing release of aldosterone</a:t>
                </a:r>
              </a:p>
              <a:p>
                <a:pPr eaLnBrk="1" hangingPunct="1"/>
                <a:r>
                  <a:rPr lang="en-US" altLang="en-US" sz="1300" dirty="0">
                    <a:solidFill>
                      <a:schemeClr val="bg1"/>
                    </a:solidFill>
                    <a:cs typeface="Arial" charset="0"/>
                  </a:rPr>
                  <a:t>Low blood volumes also stimulate secretion of aldosterone from the adrenal cortex. This is mediated through a complex pathway involving the hormone renin from the kidney.</a:t>
                </a:r>
              </a:p>
            </p:txBody>
          </p:sp>
        </p:grpSp>
        <p:grpSp>
          <p:nvGrpSpPr>
            <p:cNvPr id="122901" name="Group 9"/>
            <p:cNvGrpSpPr>
              <a:grpSpLocks/>
            </p:cNvGrpSpPr>
            <p:nvPr/>
          </p:nvGrpSpPr>
          <p:grpSpPr bwMode="auto">
            <a:xfrm>
              <a:off x="632" y="1512"/>
              <a:ext cx="1096" cy="2640"/>
              <a:chOff x="0" y="0"/>
              <a:chExt cx="1096" cy="2640"/>
            </a:xfrm>
          </p:grpSpPr>
          <p:grpSp>
            <p:nvGrpSpPr>
              <p:cNvPr id="122902" name="Group 7"/>
              <p:cNvGrpSpPr>
                <a:grpSpLocks/>
              </p:cNvGrpSpPr>
              <p:nvPr/>
            </p:nvGrpSpPr>
            <p:grpSpPr bwMode="auto">
              <a:xfrm>
                <a:off x="0" y="1544"/>
                <a:ext cx="1096" cy="1096"/>
                <a:chOff x="0" y="0"/>
                <a:chExt cx="1096" cy="1096"/>
              </a:xfrm>
            </p:grpSpPr>
            <p:sp>
              <p:nvSpPr>
                <p:cNvPr id="50181" name="Oval 5"/>
                <p:cNvSpPr>
                  <a:spLocks/>
                </p:cNvSpPr>
                <p:nvPr/>
              </p:nvSpPr>
              <p:spPr bwMode="auto">
                <a:xfrm>
                  <a:off x="0" y="0"/>
                  <a:ext cx="1096" cy="1096"/>
                </a:xfrm>
                <a:prstGeom prst="ellipse">
                  <a:avLst/>
                </a:prstGeom>
                <a:solidFill>
                  <a:schemeClr val="accent1"/>
                </a:solidFill>
                <a:ln>
                  <a:noFill/>
                </a:ln>
                <a:effectLst>
                  <a:outerShdw blurRad="190500" dist="190499" dir="2700000" algn="ctr" rotWithShape="0">
                    <a:schemeClr val="bg2">
                      <a:alpha val="39998"/>
                    </a:schemeClr>
                  </a:outerShdw>
                </a:effectLst>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defRPr/>
                  </a:pPr>
                  <a:endParaRPr lang="en-US">
                    <a:solidFill>
                      <a:schemeClr val="bg1"/>
                    </a:solidFill>
                    <a:latin typeface="Arial" pitchFamily="1" charset="0"/>
                    <a:sym typeface="Arial" pitchFamily="1" charset="0"/>
                  </a:endParaRPr>
                </a:p>
              </p:txBody>
            </p:sp>
            <p:sp>
              <p:nvSpPr>
                <p:cNvPr id="122905" name="Rectangle 6"/>
                <p:cNvSpPr>
                  <a:spLocks/>
                </p:cNvSpPr>
                <p:nvPr/>
              </p:nvSpPr>
              <p:spPr bwMode="auto">
                <a:xfrm>
                  <a:off x="0" y="24"/>
                  <a:ext cx="1096" cy="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dirty="0">
                      <a:solidFill>
                        <a:schemeClr val="bg1"/>
                      </a:solidFill>
                      <a:cs typeface="Arial" charset="0"/>
                    </a:rPr>
                    <a:t>Na+ absorption increases, water follows, blood volume restored.</a:t>
                  </a:r>
                </a:p>
              </p:txBody>
            </p:sp>
          </p:grpSp>
          <p:sp>
            <p:nvSpPr>
              <p:cNvPr id="122903" name="Line 8"/>
              <p:cNvSpPr>
                <a:spLocks noChangeShapeType="1"/>
              </p:cNvSpPr>
              <p:nvPr/>
            </p:nvSpPr>
            <p:spPr bwMode="auto">
              <a:xfrm rot="10800000" flipH="1">
                <a:off x="543" y="0"/>
                <a:ext cx="0" cy="1536"/>
              </a:xfrm>
              <a:prstGeom prst="line">
                <a:avLst/>
              </a:prstGeom>
              <a:noFill/>
              <a:ln w="76200">
                <a:solidFill>
                  <a:srgbClr val="005481"/>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solidFill>
                    <a:schemeClr val="bg1"/>
                  </a:solidFill>
                </a:endParaRPr>
              </a:p>
            </p:txBody>
          </p:sp>
        </p:grpSp>
      </p:grpSp>
      <p:pic>
        <p:nvPicPr>
          <p:cNvPr id="5018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6000480">
            <a:off x="3331890" y="2066107"/>
            <a:ext cx="3616523" cy="2790527"/>
          </a:xfrm>
          <a:prstGeom prst="rect">
            <a:avLst/>
          </a:prstGeom>
          <a:noFill/>
          <a:ln>
            <a:noFill/>
          </a:ln>
          <a:effectLst>
            <a:outerShdw blurRad="190500" dist="190499" dir="2700000" algn="ctr" rotWithShape="0">
              <a:schemeClr val="bg2">
                <a:alpha val="39998"/>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2885" name="Rectangle 12"/>
          <p:cNvSpPr>
            <a:spLocks/>
          </p:cNvSpPr>
          <p:nvPr/>
        </p:nvSpPr>
        <p:spPr bwMode="auto">
          <a:xfrm>
            <a:off x="4892404" y="5197078"/>
            <a:ext cx="4664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chemeClr val="bg1"/>
                </a:solidFill>
                <a:cs typeface="Arial" charset="0"/>
              </a:rPr>
              <a:t>ADH</a:t>
            </a:r>
          </a:p>
        </p:txBody>
      </p:sp>
      <p:grpSp>
        <p:nvGrpSpPr>
          <p:cNvPr id="6" name="Group 26"/>
          <p:cNvGrpSpPr>
            <a:grpSpLocks/>
          </p:cNvGrpSpPr>
          <p:nvPr/>
        </p:nvGrpSpPr>
        <p:grpSpPr bwMode="auto">
          <a:xfrm>
            <a:off x="428625" y="1241226"/>
            <a:ext cx="3375422" cy="4634508"/>
            <a:chOff x="0" y="0"/>
            <a:chExt cx="3024" cy="4152"/>
          </a:xfrm>
        </p:grpSpPr>
        <p:grpSp>
          <p:nvGrpSpPr>
            <p:cNvPr id="122887" name="Group 24"/>
            <p:cNvGrpSpPr>
              <a:grpSpLocks/>
            </p:cNvGrpSpPr>
            <p:nvPr/>
          </p:nvGrpSpPr>
          <p:grpSpPr bwMode="auto">
            <a:xfrm>
              <a:off x="0" y="0"/>
              <a:ext cx="3024" cy="4152"/>
              <a:chOff x="0" y="0"/>
              <a:chExt cx="3024" cy="4152"/>
            </a:xfrm>
          </p:grpSpPr>
          <p:grpSp>
            <p:nvGrpSpPr>
              <p:cNvPr id="122889" name="Group 16"/>
              <p:cNvGrpSpPr>
                <a:grpSpLocks/>
              </p:cNvGrpSpPr>
              <p:nvPr/>
            </p:nvGrpSpPr>
            <p:grpSpPr bwMode="auto">
              <a:xfrm>
                <a:off x="0" y="0"/>
                <a:ext cx="2304" cy="2440"/>
                <a:chOff x="0" y="0"/>
                <a:chExt cx="2304" cy="2440"/>
              </a:xfrm>
            </p:grpSpPr>
            <p:sp>
              <p:nvSpPr>
                <p:cNvPr id="122897" name="Rectangle 13"/>
                <p:cNvSpPr>
                  <a:spLocks/>
                </p:cNvSpPr>
                <p:nvPr/>
              </p:nvSpPr>
              <p:spPr bwMode="auto">
                <a:xfrm>
                  <a:off x="0" y="0"/>
                  <a:ext cx="2304" cy="2440"/>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solidFill>
                      <a:schemeClr val="bg1"/>
                    </a:solidFill>
                  </a:endParaRPr>
                </a:p>
              </p:txBody>
            </p:sp>
            <p:sp>
              <p:nvSpPr>
                <p:cNvPr id="122898" name="Rectangle 14"/>
                <p:cNvSpPr>
                  <a:spLocks/>
                </p:cNvSpPr>
                <p:nvPr/>
              </p:nvSpPr>
              <p:spPr bwMode="auto">
                <a:xfrm>
                  <a:off x="50" y="71"/>
                  <a:ext cx="2184" cy="1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chemeClr val="bg1"/>
                      </a:solidFill>
                      <a:cs typeface="Arial" charset="0"/>
                    </a:rPr>
                    <a:t>Factors inhibiting ADH release</a:t>
                  </a:r>
                </a:p>
                <a:p>
                  <a:pPr eaLnBrk="1" hangingPunct="1"/>
                  <a:r>
                    <a:rPr lang="en-US" altLang="en-US" sz="1300" dirty="0">
                      <a:solidFill>
                        <a:schemeClr val="bg1"/>
                      </a:solidFill>
                      <a:cs typeface="Arial" charset="0"/>
                    </a:rPr>
                    <a:t>• Low solute concentration• High blood volume	</a:t>
                  </a:r>
                </a:p>
                <a:p>
                  <a:pPr eaLnBrk="1" hangingPunct="1"/>
                  <a:r>
                    <a:rPr lang="en-US" altLang="en-US" sz="1300" dirty="0">
                      <a:solidFill>
                        <a:schemeClr val="bg1"/>
                      </a:solidFill>
                      <a:cs typeface="Arial" charset="0"/>
                    </a:rPr>
                    <a:t>• Low blood sodium levels</a:t>
                  </a:r>
                </a:p>
                <a:p>
                  <a:pPr eaLnBrk="1" hangingPunct="1"/>
                  <a:r>
                    <a:rPr lang="en-US" altLang="en-US" sz="1300" dirty="0">
                      <a:solidFill>
                        <a:schemeClr val="bg1"/>
                      </a:solidFill>
                      <a:cs typeface="Arial" charset="0"/>
                    </a:rPr>
                    <a:t>• High fluid intake</a:t>
                  </a:r>
                </a:p>
                <a:p>
                  <a:pPr eaLnBrk="1" hangingPunct="1"/>
                  <a:r>
                    <a:rPr lang="en-US" altLang="en-US" sz="1300" dirty="0">
                      <a:solidFill>
                        <a:schemeClr val="bg1"/>
                      </a:solidFill>
                      <a:cs typeface="Arial" charset="0"/>
                    </a:rPr>
                    <a:t>• Alcohol consumption</a:t>
                  </a:r>
                </a:p>
              </p:txBody>
            </p:sp>
            <p:sp>
              <p:nvSpPr>
                <p:cNvPr id="122899" name="Rectangle 15"/>
                <p:cNvSpPr>
                  <a:spLocks/>
                </p:cNvSpPr>
                <p:nvPr/>
              </p:nvSpPr>
              <p:spPr bwMode="auto">
                <a:xfrm>
                  <a:off x="50" y="1338"/>
                  <a:ext cx="2184" cy="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chemeClr val="bg1"/>
                      </a:solidFill>
                      <a:cs typeface="Arial" charset="0"/>
                    </a:rPr>
                    <a:t>Factors causing ADH release</a:t>
                  </a:r>
                </a:p>
                <a:p>
                  <a:pPr eaLnBrk="1" hangingPunct="1"/>
                  <a:r>
                    <a:rPr lang="en-US" altLang="en-US" sz="1300" dirty="0">
                      <a:solidFill>
                        <a:schemeClr val="bg1"/>
                      </a:solidFill>
                      <a:cs typeface="Arial" charset="0"/>
                    </a:rPr>
                    <a:t>• High solute concentration• Low blood volume	</a:t>
                  </a:r>
                </a:p>
                <a:p>
                  <a:pPr eaLnBrk="1" hangingPunct="1"/>
                  <a:r>
                    <a:rPr lang="en-US" altLang="en-US" sz="1300" dirty="0">
                      <a:solidFill>
                        <a:schemeClr val="bg1"/>
                      </a:solidFill>
                      <a:cs typeface="Arial" charset="0"/>
                    </a:rPr>
                    <a:t>• High blood sodium levels</a:t>
                  </a:r>
                </a:p>
                <a:p>
                  <a:pPr eaLnBrk="1" hangingPunct="1"/>
                  <a:r>
                    <a:rPr lang="en-US" altLang="en-US" sz="1300" dirty="0">
                      <a:solidFill>
                        <a:schemeClr val="bg1"/>
                      </a:solidFill>
                      <a:cs typeface="Arial" charset="0"/>
                    </a:rPr>
                    <a:t>• Low fluid intake</a:t>
                  </a:r>
                </a:p>
                <a:p>
                  <a:pPr eaLnBrk="1" hangingPunct="1"/>
                  <a:r>
                    <a:rPr lang="en-US" altLang="en-US" sz="1300" dirty="0">
                      <a:solidFill>
                        <a:schemeClr val="bg1"/>
                      </a:solidFill>
                      <a:cs typeface="Arial" charset="0"/>
                    </a:rPr>
                    <a:t>• Nicotine and morphine</a:t>
                  </a:r>
                </a:p>
              </p:txBody>
            </p:sp>
          </p:grpSp>
          <p:grpSp>
            <p:nvGrpSpPr>
              <p:cNvPr id="122890" name="Group 19"/>
              <p:cNvGrpSpPr>
                <a:grpSpLocks/>
              </p:cNvGrpSpPr>
              <p:nvPr/>
            </p:nvGrpSpPr>
            <p:grpSpPr bwMode="auto">
              <a:xfrm>
                <a:off x="216" y="3056"/>
                <a:ext cx="1192" cy="1096"/>
                <a:chOff x="0" y="0"/>
                <a:chExt cx="1192" cy="1096"/>
              </a:xfrm>
            </p:grpSpPr>
            <p:sp>
              <p:nvSpPr>
                <p:cNvPr id="50193" name="Oval 17"/>
                <p:cNvSpPr>
                  <a:spLocks/>
                </p:cNvSpPr>
                <p:nvPr/>
              </p:nvSpPr>
              <p:spPr bwMode="auto">
                <a:xfrm>
                  <a:off x="96" y="0"/>
                  <a:ext cx="1096" cy="1096"/>
                </a:xfrm>
                <a:prstGeom prst="ellipse">
                  <a:avLst/>
                </a:prstGeom>
                <a:solidFill>
                  <a:schemeClr val="accent1"/>
                </a:solidFill>
                <a:ln>
                  <a:noFill/>
                </a:ln>
                <a:effectLst>
                  <a:outerShdw blurRad="190500" dist="190499" dir="2700000" algn="ctr" rotWithShape="0">
                    <a:schemeClr val="bg2">
                      <a:alpha val="39998"/>
                    </a:schemeClr>
                  </a:outerShdw>
                </a:effectLst>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defRPr/>
                  </a:pPr>
                  <a:endParaRPr lang="en-US">
                    <a:solidFill>
                      <a:schemeClr val="bg1"/>
                    </a:solidFill>
                    <a:latin typeface="Arial" pitchFamily="1" charset="0"/>
                    <a:sym typeface="Arial" pitchFamily="1" charset="0"/>
                  </a:endParaRPr>
                </a:p>
              </p:txBody>
            </p:sp>
            <p:sp>
              <p:nvSpPr>
                <p:cNvPr id="122896" name="Rectangle 18"/>
                <p:cNvSpPr>
                  <a:spLocks/>
                </p:cNvSpPr>
                <p:nvPr/>
              </p:nvSpPr>
              <p:spPr bwMode="auto">
                <a:xfrm>
                  <a:off x="0" y="104"/>
                  <a:ext cx="1144"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chemeClr val="bg1"/>
                      </a:solidFill>
                      <a:cs typeface="Arial" charset="0"/>
                    </a:rPr>
                    <a:t>Water reabsorption increases.</a:t>
                  </a:r>
                  <a:br>
                    <a:rPr lang="en-US" altLang="en-US" sz="1300">
                      <a:solidFill>
                        <a:schemeClr val="bg1"/>
                      </a:solidFill>
                      <a:cs typeface="Arial" charset="0"/>
                    </a:rPr>
                  </a:br>
                  <a:r>
                    <a:rPr lang="en-US" altLang="en-US" sz="1300">
                      <a:solidFill>
                        <a:schemeClr val="bg1"/>
                      </a:solidFill>
                      <a:cs typeface="Arial" charset="0"/>
                    </a:rPr>
                    <a:t>Urine output decreases.</a:t>
                  </a:r>
                </a:p>
              </p:txBody>
            </p:sp>
          </p:grpSp>
          <p:grpSp>
            <p:nvGrpSpPr>
              <p:cNvPr id="122891" name="Group 22"/>
              <p:cNvGrpSpPr>
                <a:grpSpLocks/>
              </p:cNvGrpSpPr>
              <p:nvPr/>
            </p:nvGrpSpPr>
            <p:grpSpPr bwMode="auto">
              <a:xfrm>
                <a:off x="1768" y="3056"/>
                <a:ext cx="1256" cy="1096"/>
                <a:chOff x="0" y="0"/>
                <a:chExt cx="1256" cy="1096"/>
              </a:xfrm>
            </p:grpSpPr>
            <p:sp>
              <p:nvSpPr>
                <p:cNvPr id="50196" name="Oval 20"/>
                <p:cNvSpPr>
                  <a:spLocks/>
                </p:cNvSpPr>
                <p:nvPr/>
              </p:nvSpPr>
              <p:spPr bwMode="auto">
                <a:xfrm>
                  <a:off x="120" y="0"/>
                  <a:ext cx="1096" cy="1096"/>
                </a:xfrm>
                <a:prstGeom prst="ellipse">
                  <a:avLst/>
                </a:prstGeom>
                <a:solidFill>
                  <a:schemeClr val="accent1"/>
                </a:solidFill>
                <a:ln>
                  <a:noFill/>
                </a:ln>
                <a:effectLst>
                  <a:outerShdw blurRad="190500" dist="190499" dir="2700000" algn="ctr" rotWithShape="0">
                    <a:schemeClr val="bg2">
                      <a:alpha val="39998"/>
                    </a:schemeClr>
                  </a:outerShdw>
                </a:effectLst>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defRPr/>
                  </a:pPr>
                  <a:endParaRPr lang="en-US">
                    <a:solidFill>
                      <a:schemeClr val="bg1"/>
                    </a:solidFill>
                    <a:latin typeface="Arial" pitchFamily="1" charset="0"/>
                    <a:sym typeface="Arial" pitchFamily="1" charset="0"/>
                  </a:endParaRPr>
                </a:p>
              </p:txBody>
            </p:sp>
            <p:sp>
              <p:nvSpPr>
                <p:cNvPr id="122894" name="Rectangle 21"/>
                <p:cNvSpPr>
                  <a:spLocks/>
                </p:cNvSpPr>
                <p:nvPr/>
              </p:nvSpPr>
              <p:spPr bwMode="auto">
                <a:xfrm>
                  <a:off x="0" y="112"/>
                  <a:ext cx="1256"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4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400">
                      <a:solidFill>
                        <a:srgbClr val="0000FF"/>
                      </a:solidFill>
                      <a:latin typeface="Arial" charset="0"/>
                      <a:ea typeface="ヒラギノ角ゴ ProN W3" pitchFamily="1" charset="-128"/>
                      <a:sym typeface="Arial" charset="0"/>
                    </a:defRPr>
                  </a:lvl2pPr>
                  <a:lvl3pPr eaLnBrk="0" hangingPunct="0">
                    <a:tabLst>
                      <a:tab pos="520700" algn="l"/>
                    </a:tabLst>
                    <a:defRPr sz="2400">
                      <a:solidFill>
                        <a:srgbClr val="0000FF"/>
                      </a:solidFill>
                      <a:latin typeface="Arial" charset="0"/>
                      <a:ea typeface="ヒラギノ角ゴ ProN W3" pitchFamily="1" charset="-128"/>
                      <a:sym typeface="Arial" charset="0"/>
                    </a:defRPr>
                  </a:lvl3pPr>
                  <a:lvl4pPr eaLnBrk="0" hangingPunct="0">
                    <a:tabLst>
                      <a:tab pos="520700" algn="l"/>
                    </a:tabLst>
                    <a:defRPr sz="2400">
                      <a:solidFill>
                        <a:srgbClr val="0000FF"/>
                      </a:solidFill>
                      <a:latin typeface="Arial" charset="0"/>
                      <a:ea typeface="ヒラギノ角ゴ ProN W3" pitchFamily="1" charset="-128"/>
                      <a:sym typeface="Arial" charset="0"/>
                    </a:defRPr>
                  </a:lvl4pPr>
                  <a:lvl5pPr eaLnBrk="0" hangingPunct="0">
                    <a:tabLst>
                      <a:tab pos="520700" algn="l"/>
                    </a:tabLst>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4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chemeClr val="bg1"/>
                      </a:solidFill>
                      <a:cs typeface="Arial" charset="0"/>
                    </a:rPr>
                    <a:t>Water reabsorption decreases.</a:t>
                  </a:r>
                  <a:br>
                    <a:rPr lang="en-US" altLang="en-US" sz="1300">
                      <a:solidFill>
                        <a:schemeClr val="bg1"/>
                      </a:solidFill>
                      <a:cs typeface="Arial" charset="0"/>
                    </a:rPr>
                  </a:br>
                  <a:r>
                    <a:rPr lang="en-US" altLang="en-US" sz="1300">
                      <a:solidFill>
                        <a:schemeClr val="bg1"/>
                      </a:solidFill>
                      <a:cs typeface="Arial" charset="0"/>
                    </a:rPr>
                    <a:t>Urine output increases.</a:t>
                  </a:r>
                </a:p>
              </p:txBody>
            </p:sp>
          </p:grpSp>
          <p:sp>
            <p:nvSpPr>
              <p:cNvPr id="122892" name="Line 23"/>
              <p:cNvSpPr>
                <a:spLocks noChangeShapeType="1"/>
              </p:cNvSpPr>
              <p:nvPr/>
            </p:nvSpPr>
            <p:spPr bwMode="auto">
              <a:xfrm rot="10800000">
                <a:off x="864" y="2445"/>
                <a:ext cx="0" cy="608"/>
              </a:xfrm>
              <a:prstGeom prst="line">
                <a:avLst/>
              </a:prstGeom>
              <a:noFill/>
              <a:ln w="76200">
                <a:solidFill>
                  <a:srgbClr val="005481"/>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solidFill>
                    <a:schemeClr val="bg1"/>
                  </a:solidFill>
                </a:endParaRPr>
              </a:p>
            </p:txBody>
          </p:sp>
        </p:grpSp>
        <p:sp>
          <p:nvSpPr>
            <p:cNvPr id="122888" name="Freeform 25"/>
            <p:cNvSpPr>
              <a:spLocks/>
            </p:cNvSpPr>
            <p:nvPr/>
          </p:nvSpPr>
          <p:spPr bwMode="auto">
            <a:xfrm>
              <a:off x="2306" y="533"/>
              <a:ext cx="144" cy="2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0"/>
                  </a:moveTo>
                  <a:lnTo>
                    <a:pt x="21600" y="0"/>
                  </a:lnTo>
                  <a:lnTo>
                    <a:pt x="21600" y="21600"/>
                  </a:lnTo>
                </a:path>
              </a:pathLst>
            </a:custGeom>
            <a:noFill/>
            <a:ln w="76200">
              <a:solidFill>
                <a:srgbClr val="005781"/>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FF"/>
                  </a:solidFill>
                  <a:latin typeface="Arial" charset="0"/>
                  <a:ea typeface="ヒラギノ角ゴ ProN W3" pitchFamily="1" charset="-128"/>
                  <a:sym typeface="Arial" charset="0"/>
                </a:defRPr>
              </a:lvl1pPr>
              <a:lvl2pPr marL="37931725" indent="-37474525" eaLnBrk="0" hangingPunct="0">
                <a:defRPr sz="2400">
                  <a:solidFill>
                    <a:srgbClr val="0000FF"/>
                  </a:solidFill>
                  <a:latin typeface="Arial" charset="0"/>
                  <a:ea typeface="ヒラギノ角ゴ ProN W3" pitchFamily="1" charset="-128"/>
                  <a:sym typeface="Arial" charset="0"/>
                </a:defRPr>
              </a:lvl2pPr>
              <a:lvl3pPr eaLnBrk="0" hangingPunct="0">
                <a:defRPr sz="2400">
                  <a:solidFill>
                    <a:srgbClr val="0000FF"/>
                  </a:solidFill>
                  <a:latin typeface="Arial" charset="0"/>
                  <a:ea typeface="ヒラギノ角ゴ ProN W3" pitchFamily="1" charset="-128"/>
                  <a:sym typeface="Arial" charset="0"/>
                </a:defRPr>
              </a:lvl3pPr>
              <a:lvl4pPr eaLnBrk="0" hangingPunct="0">
                <a:defRPr sz="2400">
                  <a:solidFill>
                    <a:srgbClr val="0000FF"/>
                  </a:solidFill>
                  <a:latin typeface="Arial" charset="0"/>
                  <a:ea typeface="ヒラギノ角ゴ ProN W3" pitchFamily="1" charset="-128"/>
                  <a:sym typeface="Arial" charset="0"/>
                </a:defRPr>
              </a:lvl4pPr>
              <a:lvl5pPr eaLnBrk="0" hangingPunct="0">
                <a:defRPr sz="24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400">
                  <a:solidFill>
                    <a:srgbClr val="0000FF"/>
                  </a:solidFill>
                  <a:latin typeface="Arial" charset="0"/>
                  <a:ea typeface="ヒラギノ角ゴ ProN W3" pitchFamily="1" charset="-128"/>
                  <a:sym typeface="Arial" charset="0"/>
                </a:defRPr>
              </a:lvl9pPr>
            </a:lstStyle>
            <a:p>
              <a:pPr eaLnBrk="1" hangingPunct="1"/>
              <a:endParaRPr lang="en-US" altLang="en-US" sz="1300">
                <a:solidFill>
                  <a:schemeClr val="bg1"/>
                </a:solidFill>
              </a:endParaRPr>
            </a:p>
          </p:txBody>
        </p:sp>
      </p:grpSp>
    </p:spTree>
    <p:extLst>
      <p:ext uri="{BB962C8B-B14F-4D97-AF65-F5344CB8AC3E}">
        <p14:creationId xmlns:p14="http://schemas.microsoft.com/office/powerpoint/2010/main" val="747497489"/>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Fluid concentration</a:t>
            </a:r>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157" t="16645" r="51053" b="10724"/>
          <a:stretch/>
        </p:blipFill>
        <p:spPr bwMode="auto">
          <a:xfrm>
            <a:off x="-13796" y="1484785"/>
            <a:ext cx="8474228" cy="5376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8804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9490" r="60428" b="8224"/>
          <a:stretch/>
        </p:blipFill>
        <p:spPr bwMode="auto">
          <a:xfrm>
            <a:off x="-31504" y="156222"/>
            <a:ext cx="9172056" cy="6701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94553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442</TotalTime>
  <Words>1324</Words>
  <Application>Microsoft Office PowerPoint</Application>
  <PresentationFormat>On-screen Show (4:3)</PresentationFormat>
  <Paragraphs>122</Paragraphs>
  <Slides>19</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Bold</vt:lpstr>
      <vt:lpstr>Arial Italic</vt:lpstr>
      <vt:lpstr>Calibri</vt:lpstr>
      <vt:lpstr>Cambria</vt:lpstr>
      <vt:lpstr>Hoefler Text</vt:lpstr>
      <vt:lpstr>Lucida Grande</vt:lpstr>
      <vt:lpstr>Adjacency</vt:lpstr>
      <vt:lpstr>Thermoregulation and regulation of body fluids</vt:lpstr>
      <vt:lpstr>What are we doing today?</vt:lpstr>
      <vt:lpstr>Negative feedback</vt:lpstr>
      <vt:lpstr>Thermoregulation</vt:lpstr>
      <vt:lpstr>Counteracting Heat Loss</vt:lpstr>
      <vt:lpstr>Counteracting Heat Gain</vt:lpstr>
      <vt:lpstr>The Skin and Thermoregulation</vt:lpstr>
      <vt:lpstr>Hypothermia</vt:lpstr>
      <vt:lpstr>Departures from Normal</vt:lpstr>
      <vt:lpstr>PowerPoint Presentation</vt:lpstr>
      <vt:lpstr>Thermoregulation</vt:lpstr>
      <vt:lpstr>Thermoregulation</vt:lpstr>
      <vt:lpstr>Fluid Balance</vt:lpstr>
      <vt:lpstr>Maintaining Fluid Balance</vt:lpstr>
      <vt:lpstr>Control of Urine Output</vt:lpstr>
      <vt:lpstr>Aldosterone and ADH</vt:lpstr>
      <vt:lpstr>Release and Inhibition</vt:lpstr>
      <vt:lpstr>Fluid concentration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Inquiry Skills</dc:title>
  <dc:creator>BRUNS Emma</dc:creator>
  <cp:lastModifiedBy>Ivan Opacak</cp:lastModifiedBy>
  <cp:revision>53</cp:revision>
  <dcterms:created xsi:type="dcterms:W3CDTF">2018-02-02T00:28:02Z</dcterms:created>
  <dcterms:modified xsi:type="dcterms:W3CDTF">2021-02-11T00:26:04Z</dcterms:modified>
</cp:coreProperties>
</file>
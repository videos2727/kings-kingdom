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8" r:id="rId3"/>
    <p:sldId id="265" r:id="rId4"/>
    <p:sldId id="309" r:id="rId5"/>
    <p:sldId id="304" r:id="rId6"/>
    <p:sldId id="305" r:id="rId7"/>
    <p:sldId id="306" r:id="rId8"/>
    <p:sldId id="288" r:id="rId9"/>
    <p:sldId id="308" r:id="rId10"/>
    <p:sldId id="289" r:id="rId11"/>
    <p:sldId id="290" r:id="rId12"/>
    <p:sldId id="291" r:id="rId13"/>
    <p:sldId id="294" r:id="rId14"/>
    <p:sldId id="295" r:id="rId15"/>
    <p:sldId id="296" r:id="rId16"/>
    <p:sldId id="297" r:id="rId17"/>
    <p:sldId id="298" r:id="rId18"/>
    <p:sldId id="299" r:id="rId19"/>
    <p:sldId id="270" r:id="rId20"/>
    <p:sldId id="272" r:id="rId21"/>
    <p:sldId id="286" r:id="rId22"/>
    <p:sldId id="310" r:id="rId23"/>
    <p:sldId id="311" r:id="rId24"/>
    <p:sldId id="273" r:id="rId25"/>
    <p:sldId id="312" r:id="rId26"/>
    <p:sldId id="301" r:id="rId27"/>
    <p:sldId id="302" r:id="rId28"/>
    <p:sldId id="300" r:id="rId29"/>
    <p:sldId id="27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83" autoAdjust="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6D9512-C607-479D-9091-7AFC62A6F268}" type="datetimeFigureOut">
              <a:rPr lang="en-AU" smtClean="0"/>
              <a:t>18/03/2021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BC5F8F-1D81-4F44-BB53-0D7347ABA7C5}" type="slidenum">
              <a:rPr lang="en-AU" smtClean="0"/>
              <a:t>‹#›</a:t>
            </a:fld>
            <a:endParaRPr lang="en-AU"/>
          </a:p>
        </p:txBody>
      </p:sp>
    </p:spTree>
    <p:extLst>
      <p:ext uri="{BB962C8B-B14F-4D97-AF65-F5344CB8AC3E}">
        <p14:creationId xmlns:p14="http://schemas.microsoft.com/office/powerpoint/2010/main" val="4012645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GB">
              <a:latin typeface="Calibri" charset="0"/>
            </a:endParaRPr>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714DB25E-F9F7-A34C-8CEE-05D160309B4B}" type="slidenum">
              <a:rPr lang="en-GB"/>
              <a:pPr eaLnBrk="1" hangingPunct="1"/>
              <a:t>4</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9A6CCEB6-44A1-474E-9F1A-E0BB8160802F}" type="slidenum">
              <a:rPr lang="en-GB"/>
              <a:pPr/>
              <a:t>6</a:t>
            </a:fld>
            <a:endParaRPr lang="en-GB"/>
          </a:p>
        </p:txBody>
      </p:sp>
      <p:sp>
        <p:nvSpPr>
          <p:cNvPr id="6" name="Rectangle 10"/>
          <p:cNvSpPr>
            <a:spLocks noGrp="1" noChangeArrowheads="1"/>
          </p:cNvSpPr>
          <p:nvPr>
            <p:ph type="hdr" sz="quarter"/>
          </p:nvPr>
        </p:nvSpPr>
        <p:spPr>
          <a:ln/>
        </p:spPr>
        <p:txBody>
          <a:bodyPr/>
          <a:lstStyle/>
          <a:p>
            <a:r>
              <a:rPr lang="en-GB"/>
              <a:t>Boardworks GCSE Additional Science: Biology </a:t>
            </a:r>
          </a:p>
          <a:p>
            <a:r>
              <a:rPr lang="en-GB"/>
              <a:t>Homeostasis</a:t>
            </a:r>
          </a:p>
        </p:txBody>
      </p:sp>
      <p:sp>
        <p:nvSpPr>
          <p:cNvPr id="107110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071107" name="Rectangle 3"/>
          <p:cNvSpPr>
            <a:spLocks noGrp="1" noChangeArrowheads="1"/>
          </p:cNvSpPr>
          <p:nvPr>
            <p:ph type="body" idx="1"/>
          </p:nvPr>
        </p:nvSpPr>
        <p:spPr>
          <a:xfrm>
            <a:off x="914400" y="4343400"/>
            <a:ext cx="5029200" cy="4114800"/>
          </a:xfrm>
        </p:spPr>
        <p:txBody>
          <a:bodyPr/>
          <a:lstStyle/>
          <a:p>
            <a:r>
              <a:rPr lang="en-GB" b="1"/>
              <a:t>Photo credit:</a:t>
            </a:r>
            <a:r>
              <a:rPr lang="en-GB"/>
              <a:t> </a:t>
            </a:r>
            <a:r>
              <a:rPr lang="en-US"/>
              <a:t>© 2007 Jupiterimages Corporation</a:t>
            </a:r>
          </a:p>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A4C5F6D4-5612-F94C-9564-5E9FF29EF23F}" type="slidenum">
              <a:rPr lang="en-GB"/>
              <a:pPr/>
              <a:t>7</a:t>
            </a:fld>
            <a:endParaRPr lang="en-GB"/>
          </a:p>
        </p:txBody>
      </p:sp>
      <p:sp>
        <p:nvSpPr>
          <p:cNvPr id="6" name="Rectangle 10"/>
          <p:cNvSpPr>
            <a:spLocks noGrp="1" noChangeArrowheads="1"/>
          </p:cNvSpPr>
          <p:nvPr>
            <p:ph type="hdr" sz="quarter"/>
          </p:nvPr>
        </p:nvSpPr>
        <p:spPr>
          <a:ln/>
        </p:spPr>
        <p:txBody>
          <a:bodyPr/>
          <a:lstStyle/>
          <a:p>
            <a:r>
              <a:rPr lang="en-GB"/>
              <a:t>Boardworks GCSE Additional Science: Biology </a:t>
            </a:r>
          </a:p>
          <a:p>
            <a:r>
              <a:rPr lang="en-GB"/>
              <a:t>Homeostasis</a:t>
            </a:r>
          </a:p>
        </p:txBody>
      </p:sp>
      <p:sp>
        <p:nvSpPr>
          <p:cNvPr id="9789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78947" name="Rectangle 3"/>
          <p:cNvSpPr>
            <a:spLocks noGrp="1" noChangeArrowheads="1"/>
          </p:cNvSpPr>
          <p:nvPr>
            <p:ph type="body" idx="1"/>
          </p:nvPr>
        </p:nvSpPr>
        <p:spPr>
          <a:xfrm>
            <a:off x="914400" y="4343400"/>
            <a:ext cx="5029200" cy="4114800"/>
          </a:xfrm>
        </p:spPr>
        <p:txBody>
          <a:bodyPr/>
          <a:lstStyle/>
          <a:p>
            <a:r>
              <a:rPr lang="en-GB" b="1"/>
              <a:t>Teacher notes</a:t>
            </a:r>
          </a:p>
          <a:p>
            <a:pPr>
              <a:spcBef>
                <a:spcPct val="25000"/>
              </a:spcBef>
              <a:buFont typeface="Wingdings" charset="0"/>
              <a:buNone/>
            </a:pPr>
            <a:r>
              <a:rPr lang="en-GB"/>
              <a:t>See the ‘</a:t>
            </a:r>
            <a:r>
              <a:rPr lang="en-GB" b="1"/>
              <a:t>Movement In and Out of Cells</a:t>
            </a:r>
            <a:r>
              <a:rPr lang="en-GB"/>
              <a:t>’ for more information about how osmosis affects animal cells.</a:t>
            </a:r>
          </a:p>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81AABCFA-BD89-C544-9033-C1590471BF70}" type="slidenum">
              <a:rPr lang="en-GB"/>
              <a:pPr/>
              <a:t>9</a:t>
            </a:fld>
            <a:endParaRPr lang="en-GB"/>
          </a:p>
        </p:txBody>
      </p:sp>
      <p:sp>
        <p:nvSpPr>
          <p:cNvPr id="6" name="Rectangle 10"/>
          <p:cNvSpPr>
            <a:spLocks noGrp="1" noChangeArrowheads="1"/>
          </p:cNvSpPr>
          <p:nvPr>
            <p:ph type="hdr" sz="quarter"/>
          </p:nvPr>
        </p:nvSpPr>
        <p:spPr>
          <a:ln/>
        </p:spPr>
        <p:txBody>
          <a:bodyPr/>
          <a:lstStyle/>
          <a:p>
            <a:r>
              <a:rPr lang="en-GB"/>
              <a:t>Boardworks GCSE Additional Science: Biology </a:t>
            </a:r>
          </a:p>
          <a:p>
            <a:r>
              <a:rPr lang="en-GB"/>
              <a:t>Homeostasis</a:t>
            </a:r>
          </a:p>
        </p:txBody>
      </p:sp>
      <p:sp>
        <p:nvSpPr>
          <p:cNvPr id="9809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80995" name="Rectangle 3"/>
          <p:cNvSpPr>
            <a:spLocks noGrp="1" noChangeArrowheads="1"/>
          </p:cNvSpPr>
          <p:nvPr>
            <p:ph type="body" idx="1"/>
          </p:nvPr>
        </p:nvSpPr>
        <p:spPr>
          <a:xfrm>
            <a:off x="914400" y="4343400"/>
            <a:ext cx="5029200" cy="4114800"/>
          </a:xfrm>
        </p:spPr>
        <p:txBody>
          <a:bodyPr/>
          <a:lstStyle/>
          <a:p>
            <a:r>
              <a:rPr lang="en-GB" b="1"/>
              <a:t>Teacher notes</a:t>
            </a:r>
            <a:endParaRPr lang="en-GB"/>
          </a:p>
          <a:p>
            <a:r>
              <a:rPr lang="en-GB"/>
              <a:t>See the GCSE Science (Biology) ‘</a:t>
            </a:r>
            <a:r>
              <a:rPr lang="en-GB" b="1"/>
              <a:t>Hormones</a:t>
            </a:r>
            <a:r>
              <a:rPr lang="en-GB"/>
              <a:t>’ presentation for more information on blood glucose, insulin and diabetes.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2BC5F8F-1D81-4F44-BB53-0D7347ABA7C5}" type="slidenum">
              <a:rPr lang="en-AU" smtClean="0"/>
              <a:t>28</a:t>
            </a:fld>
            <a:endParaRPr lang="en-AU"/>
          </a:p>
        </p:txBody>
      </p:sp>
    </p:spTree>
    <p:extLst>
      <p:ext uri="{BB962C8B-B14F-4D97-AF65-F5344CB8AC3E}">
        <p14:creationId xmlns:p14="http://schemas.microsoft.com/office/powerpoint/2010/main" val="2627402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72D987-F769-4FBA-90D4-E4010B051761}" type="datetimeFigureOut">
              <a:rPr lang="en-AU" smtClean="0"/>
              <a:t>18/03/2021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18/03/2021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72D987-F769-4FBA-90D4-E4010B051761}" type="datetimeFigureOut">
              <a:rPr lang="en-AU" smtClean="0"/>
              <a:t>18/03/2021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72D987-F769-4FBA-90D4-E4010B051761}" type="datetimeFigureOut">
              <a:rPr lang="en-AU" smtClean="0"/>
              <a:t>18/03/2021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2D987-F769-4FBA-90D4-E4010B051761}" type="datetimeFigureOut">
              <a:rPr lang="en-AU" smtClean="0"/>
              <a:t>18/03/2021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72D987-F769-4FBA-90D4-E4010B051761}" type="datetimeFigureOut">
              <a:rPr lang="en-AU" smtClean="0"/>
              <a:t>18/03/2021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2D987-F769-4FBA-90D4-E4010B051761}" type="datetimeFigureOut">
              <a:rPr lang="en-AU" smtClean="0"/>
              <a:t>18/03/2021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72D987-F769-4FBA-90D4-E4010B051761}" type="datetimeFigureOut">
              <a:rPr lang="en-AU" smtClean="0"/>
              <a:t>18/03/2021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072D987-F769-4FBA-90D4-E4010B051761}" type="datetimeFigureOut">
              <a:rPr lang="en-AU" smtClean="0"/>
              <a:t>18/03/2021</a:t>
            </a:fld>
            <a:endParaRPr lang="en-AU"/>
          </a:p>
        </p:txBody>
      </p:sp>
      <p:sp>
        <p:nvSpPr>
          <p:cNvPr id="9" name="Slide Number Placeholder 8"/>
          <p:cNvSpPr>
            <a:spLocks noGrp="1"/>
          </p:cNvSpPr>
          <p:nvPr>
            <p:ph type="sldNum" sz="quarter" idx="11"/>
          </p:nvPr>
        </p:nvSpPr>
        <p:spPr/>
        <p:txBody>
          <a:bodyPr/>
          <a:lstStyle/>
          <a:p>
            <a:fld id="{3F33971A-AB81-42CD-86E9-32844290D5A4}" type="slidenum">
              <a:rPr lang="en-AU" smtClean="0"/>
              <a:t>‹#›</a:t>
            </a:fld>
            <a:endParaRPr lang="en-AU"/>
          </a:p>
        </p:txBody>
      </p:sp>
      <p:sp>
        <p:nvSpPr>
          <p:cNvPr id="10" name="Footer Placeholder 9"/>
          <p:cNvSpPr>
            <a:spLocks noGrp="1"/>
          </p:cNvSpPr>
          <p:nvPr>
            <p:ph type="ftr" sz="quarter" idx="12"/>
          </p:nvPr>
        </p:nvSpPr>
        <p:spPr/>
        <p:txBody>
          <a:bodyPr/>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18/03/2021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18/03/2021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F33971A-AB81-42CD-86E9-32844290D5A4}" type="slidenum">
              <a:rPr lang="en-AU" smtClean="0"/>
              <a:t>‹#›</a:t>
            </a:fld>
            <a:endParaRPr lang="en-AU"/>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AU"/>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072D987-F769-4FBA-90D4-E4010B051761}" type="datetimeFigureOut">
              <a:rPr lang="en-AU" smtClean="0"/>
              <a:t>18/03/2021</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Regulation of blood sugar and gas concentrations</a:t>
            </a:r>
          </a:p>
        </p:txBody>
      </p:sp>
      <p:sp>
        <p:nvSpPr>
          <p:cNvPr id="5" name="Subtitle 4">
            <a:extLst>
              <a:ext uri="{FF2B5EF4-FFF2-40B4-BE49-F238E27FC236}">
                <a16:creationId xmlns:a16="http://schemas.microsoft.com/office/drawing/2014/main" id="{37F35284-9A44-4329-B9E6-9043C30C2BE2}"/>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357594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we doing today?</a:t>
            </a:r>
          </a:p>
        </p:txBody>
      </p:sp>
      <p:sp>
        <p:nvSpPr>
          <p:cNvPr id="3" name="Content Placeholder 2"/>
          <p:cNvSpPr>
            <a:spLocks noGrp="1"/>
          </p:cNvSpPr>
          <p:nvPr>
            <p:ph idx="1"/>
          </p:nvPr>
        </p:nvSpPr>
        <p:spPr/>
        <p:txBody>
          <a:bodyPr>
            <a:normAutofit fontScale="92500" lnSpcReduction="10000"/>
          </a:bodyPr>
          <a:lstStyle/>
          <a:p>
            <a:pPr lvl="0"/>
            <a:r>
              <a:rPr lang="en-AU" sz="2000" dirty="0"/>
              <a:t>Blood sugar levels are maintained by controlling of sugar uptake, its storage and release by cells and use in metabolism; these processes involve the hormones of the pancreas and adrenal glands (SU)</a:t>
            </a:r>
          </a:p>
          <a:p>
            <a:r>
              <a:rPr lang="en-AU" sz="2000" dirty="0"/>
              <a:t>Gas concentrations are controlled by balancing the intake of oxygen and the removal of carbon dioxide via the lungs, through the actions of the medulla oblongata and the autonomic nervous system (SU)</a:t>
            </a:r>
          </a:p>
          <a:p>
            <a:pPr lvl="0"/>
            <a:r>
              <a:rPr lang="en-AU" sz="2000" i="1" dirty="0"/>
              <a:t>Feedback systems – positive and negative (SU)</a:t>
            </a:r>
          </a:p>
          <a:p>
            <a:pPr lvl="0"/>
            <a:r>
              <a:rPr lang="en-AU" sz="2000" i="1" dirty="0"/>
              <a:t>Homeostatic processes involve nerves and hormones in maintaining the body’s internal environment within tolerance limits through the control of metabolism and physiological and behavioural activities (SU)</a:t>
            </a:r>
          </a:p>
          <a:p>
            <a:pPr lvl="0"/>
            <a:r>
              <a:rPr lang="en-AU" sz="2000" i="1" dirty="0"/>
              <a:t>Select, use and/or construct appropriate representations, including diagrams, models and flow charts, to communicate conceptual understanding, solve problems and make predictions.(SIS)</a:t>
            </a:r>
          </a:p>
          <a:p>
            <a:r>
              <a:rPr lang="en-AU" sz="2000" i="1" dirty="0"/>
              <a:t>Synthetic hormones may be developed to control or treat endocrine dysfunction, including diabetes mellitus to improve the quality of life for individuals (SHE)</a:t>
            </a:r>
          </a:p>
          <a:p>
            <a:pPr lvl="0"/>
            <a:endParaRPr lang="en-AU" sz="2000" i="1" dirty="0"/>
          </a:p>
          <a:p>
            <a:pPr lvl="0"/>
            <a:endParaRPr lang="en-AU" sz="2000" i="1" dirty="0"/>
          </a:p>
        </p:txBody>
      </p:sp>
    </p:spTree>
    <p:extLst>
      <p:ext uri="{BB962C8B-B14F-4D97-AF65-F5344CB8AC3E}">
        <p14:creationId xmlns:p14="http://schemas.microsoft.com/office/powerpoint/2010/main" val="149131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Negative feedback</a:t>
            </a:r>
          </a:p>
        </p:txBody>
      </p:sp>
      <p:sp>
        <p:nvSpPr>
          <p:cNvPr id="3" name="Content Placeholder 2"/>
          <p:cNvSpPr>
            <a:spLocks noGrp="1"/>
          </p:cNvSpPr>
          <p:nvPr>
            <p:ph idx="1"/>
          </p:nvPr>
        </p:nvSpPr>
        <p:spPr/>
        <p:txBody>
          <a:bodyPr/>
          <a:lstStyle/>
          <a:p>
            <a:r>
              <a:rPr lang="en-AU" dirty="0"/>
              <a:t>Response reduces or eliminates the stimulus that causes it</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698" t="29301" r="62499" b="15468"/>
          <a:stretch/>
        </p:blipFill>
        <p:spPr bwMode="auto">
          <a:xfrm>
            <a:off x="1043608" y="2019868"/>
            <a:ext cx="6526718" cy="483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6704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p:cNvSpPr txBox="1">
            <a:spLocks noChangeArrowheads="1"/>
          </p:cNvSpPr>
          <p:nvPr/>
        </p:nvSpPr>
        <p:spPr bwMode="auto">
          <a:xfrm>
            <a:off x="107504" y="642938"/>
            <a:ext cx="8208912" cy="5078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ctr" eaLnBrk="1" hangingPunct="1"/>
            <a:r>
              <a:rPr lang="en-GB" sz="3600" b="1" dirty="0">
                <a:solidFill>
                  <a:schemeClr val="tx2"/>
                </a:solidFill>
                <a:latin typeface="+mj-lt"/>
              </a:rPr>
              <a:t>Why are the levels of glucose in your blood so important?</a:t>
            </a:r>
          </a:p>
          <a:p>
            <a:pPr algn="ctr" eaLnBrk="1" hangingPunct="1"/>
            <a:endParaRPr lang="en-GB" sz="2800" b="1" dirty="0">
              <a:solidFill>
                <a:srgbClr val="FF0000"/>
              </a:solidFill>
            </a:endParaRPr>
          </a:p>
          <a:p>
            <a:pPr eaLnBrk="1" hangingPunct="1"/>
            <a:r>
              <a:rPr lang="en-GB" sz="2800" dirty="0"/>
              <a:t>We need glucose for cellular respiration</a:t>
            </a:r>
          </a:p>
          <a:p>
            <a:pPr eaLnBrk="1" hangingPunct="1"/>
            <a:endParaRPr lang="en-GB" sz="2800" dirty="0"/>
          </a:p>
          <a:p>
            <a:pPr eaLnBrk="1" hangingPunct="1"/>
            <a:r>
              <a:rPr lang="en-GB" sz="2800" dirty="0"/>
              <a:t>Glucose is transported around your body to cells in the blood</a:t>
            </a:r>
          </a:p>
          <a:p>
            <a:pPr eaLnBrk="1" hangingPunct="1"/>
            <a:endParaRPr lang="en-GB" sz="2800" dirty="0"/>
          </a:p>
          <a:p>
            <a:pPr eaLnBrk="1" hangingPunct="1"/>
            <a:r>
              <a:rPr lang="en-GB" sz="2800" dirty="0"/>
              <a:t>HOWEVER you don’t spend all your time eating to keep blood sugar high. Instead the level of sugar in the blood is controlled by hormones</a:t>
            </a:r>
          </a:p>
        </p:txBody>
      </p:sp>
    </p:spTree>
    <p:extLst>
      <p:ext uri="{BB962C8B-B14F-4D97-AF65-F5344CB8AC3E}">
        <p14:creationId xmlns:p14="http://schemas.microsoft.com/office/powerpoint/2010/main" val="11832357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2">
                                            <p:txEl>
                                              <p:pRg st="2" end="2"/>
                                            </p:txEl>
                                          </p:spTgt>
                                        </p:tgtEl>
                                        <p:attrNameLst>
                                          <p:attrName>style.visibility</p:attrName>
                                        </p:attrNameLst>
                                      </p:cBhvr>
                                      <p:to>
                                        <p:strVal val="visible"/>
                                      </p:to>
                                    </p:set>
                                    <p:anim calcmode="lin" valueType="num">
                                      <p:cBhvr additive="base">
                                        <p:cTn id="7" dur="500" fill="hold"/>
                                        <p:tgtEl>
                                          <p:spTgt spid="1024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2">
                                            <p:txEl>
                                              <p:pRg st="4" end="4"/>
                                            </p:txEl>
                                          </p:spTgt>
                                        </p:tgtEl>
                                        <p:attrNameLst>
                                          <p:attrName>style.visibility</p:attrName>
                                        </p:attrNameLst>
                                      </p:cBhvr>
                                      <p:to>
                                        <p:strVal val="visible"/>
                                      </p:to>
                                    </p:set>
                                    <p:anim calcmode="lin" valueType="num">
                                      <p:cBhvr additive="base">
                                        <p:cTn id="13" dur="500" fill="hold"/>
                                        <p:tgtEl>
                                          <p:spTgt spid="1024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42">
                                            <p:txEl>
                                              <p:pRg st="6" end="6"/>
                                            </p:txEl>
                                          </p:spTgt>
                                        </p:tgtEl>
                                        <p:attrNameLst>
                                          <p:attrName>style.visibility</p:attrName>
                                        </p:attrNameLst>
                                      </p:cBhvr>
                                      <p:to>
                                        <p:strVal val="visible"/>
                                      </p:to>
                                    </p:set>
                                    <p:anim calcmode="lin" valueType="num">
                                      <p:cBhvr additive="base">
                                        <p:cTn id="19" dur="500" fill="hold"/>
                                        <p:tgtEl>
                                          <p:spTgt spid="1024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57200" y="2286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GB" b="1" u="sng">
                <a:latin typeface="Comic Sans MS" charset="0"/>
              </a:rPr>
              <a:t>Blood Sugar</a:t>
            </a:r>
          </a:p>
        </p:txBody>
      </p:sp>
      <p:sp>
        <p:nvSpPr>
          <p:cNvPr id="5123" name="Text Box 3"/>
          <p:cNvSpPr txBox="1">
            <a:spLocks noChangeArrowheads="1"/>
          </p:cNvSpPr>
          <p:nvPr/>
        </p:nvSpPr>
        <p:spPr bwMode="auto">
          <a:xfrm>
            <a:off x="152400" y="838200"/>
            <a:ext cx="87630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GB" b="1" u="sng">
                <a:latin typeface="Comic Sans MS" charset="0"/>
              </a:rPr>
              <a:t>Keywords</a:t>
            </a:r>
          </a:p>
          <a:p>
            <a:pPr>
              <a:spcBef>
                <a:spcPct val="50000"/>
              </a:spcBef>
            </a:pPr>
            <a:r>
              <a:rPr lang="en-GB">
                <a:solidFill>
                  <a:srgbClr val="FF0000"/>
                </a:solidFill>
                <a:latin typeface="Comic Sans MS" charset="0"/>
              </a:rPr>
              <a:t>Glucose </a:t>
            </a:r>
          </a:p>
          <a:p>
            <a:pPr>
              <a:spcBef>
                <a:spcPct val="50000"/>
              </a:spcBef>
            </a:pPr>
            <a:endParaRPr lang="en-GB">
              <a:solidFill>
                <a:srgbClr val="FF0000"/>
              </a:solidFill>
              <a:latin typeface="Comic Sans MS" charset="0"/>
            </a:endParaRPr>
          </a:p>
          <a:p>
            <a:pPr>
              <a:spcBef>
                <a:spcPct val="50000"/>
              </a:spcBef>
            </a:pPr>
            <a:r>
              <a:rPr lang="en-GB">
                <a:solidFill>
                  <a:srgbClr val="FF0000"/>
                </a:solidFill>
                <a:latin typeface="Comic Sans MS" charset="0"/>
              </a:rPr>
              <a:t>Glycogen</a:t>
            </a:r>
          </a:p>
          <a:p>
            <a:pPr>
              <a:spcBef>
                <a:spcPct val="50000"/>
              </a:spcBef>
            </a:pPr>
            <a:endParaRPr lang="en-GB">
              <a:solidFill>
                <a:srgbClr val="FF0000"/>
              </a:solidFill>
              <a:latin typeface="Comic Sans MS" charset="0"/>
            </a:endParaRPr>
          </a:p>
          <a:p>
            <a:pPr>
              <a:spcBef>
                <a:spcPct val="50000"/>
              </a:spcBef>
            </a:pPr>
            <a:r>
              <a:rPr lang="en-GB">
                <a:solidFill>
                  <a:srgbClr val="FF0000"/>
                </a:solidFill>
                <a:latin typeface="Comic Sans MS" charset="0"/>
              </a:rPr>
              <a:t>Insulin</a:t>
            </a:r>
          </a:p>
          <a:p>
            <a:pPr>
              <a:spcBef>
                <a:spcPct val="50000"/>
              </a:spcBef>
            </a:pPr>
            <a:endParaRPr lang="en-GB">
              <a:solidFill>
                <a:srgbClr val="FF0000"/>
              </a:solidFill>
              <a:latin typeface="Comic Sans MS" charset="0"/>
            </a:endParaRPr>
          </a:p>
          <a:p>
            <a:pPr>
              <a:spcBef>
                <a:spcPct val="50000"/>
              </a:spcBef>
            </a:pPr>
            <a:r>
              <a:rPr lang="en-GB">
                <a:solidFill>
                  <a:srgbClr val="FF0000"/>
                </a:solidFill>
                <a:latin typeface="Comic Sans MS" charset="0"/>
              </a:rPr>
              <a:t>Glucagon</a:t>
            </a:r>
            <a:endParaRPr lang="en-GB" b="1" u="sng">
              <a:latin typeface="Comic Sans MS" charset="0"/>
            </a:endParaRPr>
          </a:p>
          <a:p>
            <a:pPr>
              <a:spcBef>
                <a:spcPct val="50000"/>
              </a:spcBef>
            </a:pPr>
            <a:endParaRPr lang="en-GB" b="1" u="sng">
              <a:latin typeface="Comic Sans MS" charset="0"/>
            </a:endParaRPr>
          </a:p>
        </p:txBody>
      </p:sp>
      <p:sp>
        <p:nvSpPr>
          <p:cNvPr id="3076" name="Text Box 4"/>
          <p:cNvSpPr txBox="1">
            <a:spLocks noChangeArrowheads="1"/>
          </p:cNvSpPr>
          <p:nvPr/>
        </p:nvSpPr>
        <p:spPr bwMode="auto">
          <a:xfrm>
            <a:off x="2057400" y="1447800"/>
            <a:ext cx="633102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GB" dirty="0">
                <a:latin typeface="Comic Sans MS" charset="0"/>
              </a:rPr>
              <a:t>A sugar used in respiration to make energy</a:t>
            </a:r>
          </a:p>
        </p:txBody>
      </p:sp>
      <p:sp>
        <p:nvSpPr>
          <p:cNvPr id="3077" name="Text Box 5"/>
          <p:cNvSpPr txBox="1">
            <a:spLocks noChangeArrowheads="1"/>
          </p:cNvSpPr>
          <p:nvPr/>
        </p:nvSpPr>
        <p:spPr bwMode="auto">
          <a:xfrm>
            <a:off x="1981200" y="2590800"/>
            <a:ext cx="640722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GB" dirty="0">
                <a:latin typeface="Comic Sans MS" charset="0"/>
              </a:rPr>
              <a:t>A storage substance made of glucose, it is stored in the liver.</a:t>
            </a:r>
          </a:p>
        </p:txBody>
      </p:sp>
      <p:sp>
        <p:nvSpPr>
          <p:cNvPr id="3078" name="Text Box 6"/>
          <p:cNvSpPr txBox="1">
            <a:spLocks noChangeArrowheads="1"/>
          </p:cNvSpPr>
          <p:nvPr/>
        </p:nvSpPr>
        <p:spPr bwMode="auto">
          <a:xfrm>
            <a:off x="1981200" y="3505200"/>
            <a:ext cx="64792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GB" dirty="0">
                <a:latin typeface="Comic Sans MS" charset="0"/>
              </a:rPr>
              <a:t>A hormone (chemical messenger) it tells your body to change glucose into glycogen.  It is made by the pancreas.</a:t>
            </a:r>
          </a:p>
        </p:txBody>
      </p:sp>
      <p:sp>
        <p:nvSpPr>
          <p:cNvPr id="3079" name="Text Box 7"/>
          <p:cNvSpPr txBox="1">
            <a:spLocks noChangeArrowheads="1"/>
          </p:cNvSpPr>
          <p:nvPr/>
        </p:nvSpPr>
        <p:spPr bwMode="auto">
          <a:xfrm>
            <a:off x="1981200" y="4953000"/>
            <a:ext cx="647923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charset="0"/>
                <a:ea typeface="ＭＳ Ｐゴシック" charset="0"/>
              </a:defRPr>
            </a:lvl1pPr>
            <a:lvl2pPr marL="742950" indent="-285750">
              <a:defRPr sz="2400">
                <a:solidFill>
                  <a:schemeClr val="tx1"/>
                </a:solidFill>
                <a:latin typeface="Times New Roman" charset="0"/>
                <a:ea typeface="ＭＳ Ｐゴシック" charset="0"/>
              </a:defRPr>
            </a:lvl2pPr>
            <a:lvl3pPr marL="1143000" indent="-228600">
              <a:defRPr sz="2400">
                <a:solidFill>
                  <a:schemeClr val="tx1"/>
                </a:solidFill>
                <a:latin typeface="Times New Roman" charset="0"/>
                <a:ea typeface="ＭＳ Ｐゴシック" charset="0"/>
              </a:defRPr>
            </a:lvl3pPr>
            <a:lvl4pPr marL="1600200" indent="-228600">
              <a:defRPr sz="2400">
                <a:solidFill>
                  <a:schemeClr val="tx1"/>
                </a:solidFill>
                <a:latin typeface="Times New Roman" charset="0"/>
                <a:ea typeface="ＭＳ Ｐゴシック" charset="0"/>
              </a:defRPr>
            </a:lvl4pPr>
            <a:lvl5pPr marL="2057400" indent="-22860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GB" dirty="0">
                <a:latin typeface="Comic Sans MS" charset="0"/>
              </a:rPr>
              <a:t>A hormone that tells your liver to change  glycogen back into glucose.  Also made by the pancreas..</a:t>
            </a:r>
          </a:p>
        </p:txBody>
      </p:sp>
    </p:spTree>
    <p:extLst>
      <p:ext uri="{BB962C8B-B14F-4D97-AF65-F5344CB8AC3E}">
        <p14:creationId xmlns:p14="http://schemas.microsoft.com/office/powerpoint/2010/main" val="836898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autoUpdateAnimBg="0"/>
      <p:bldP spid="3077" grpId="0" autoUpdateAnimBg="0"/>
      <p:bldP spid="3078" grpId="0" autoUpdateAnimBg="0"/>
      <p:bldP spid="307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idx="4294967295"/>
          </p:nvPr>
        </p:nvSpPr>
        <p:spPr>
          <a:xfrm>
            <a:off x="323528" y="0"/>
            <a:ext cx="8229600" cy="778098"/>
          </a:xfrm>
        </p:spPr>
        <p:txBody>
          <a:bodyPr/>
          <a:lstStyle/>
          <a:p>
            <a:r>
              <a:rPr lang="en-GB" dirty="0"/>
              <a:t>What is blood glucose?</a:t>
            </a:r>
          </a:p>
        </p:txBody>
      </p:sp>
      <p:sp>
        <p:nvSpPr>
          <p:cNvPr id="1070083" name="Rectangle 3"/>
          <p:cNvSpPr>
            <a:spLocks noChangeArrowheads="1"/>
          </p:cNvSpPr>
          <p:nvPr/>
        </p:nvSpPr>
        <p:spPr bwMode="auto">
          <a:xfrm>
            <a:off x="172708" y="1052735"/>
            <a:ext cx="518457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0" hangingPunct="0">
              <a:spcBef>
                <a:spcPct val="0"/>
              </a:spcBef>
            </a:pPr>
            <a:r>
              <a:rPr lang="en-GB" b="1" dirty="0">
                <a:solidFill>
                  <a:srgbClr val="10BC45"/>
                </a:solidFill>
              </a:rPr>
              <a:t>Glucose</a:t>
            </a:r>
            <a:r>
              <a:rPr lang="en-GB" dirty="0"/>
              <a:t> is a type of sugar used by the body to provide energy through cellular respiration.</a:t>
            </a:r>
          </a:p>
          <a:p>
            <a:pPr eaLnBrk="0" hangingPunct="0">
              <a:spcBef>
                <a:spcPct val="0"/>
              </a:spcBef>
            </a:pPr>
            <a:r>
              <a:rPr lang="en-GB" dirty="0"/>
              <a:t>Glucose + Oxygen -&gt; Carbon Dioxide + Water + Energy</a:t>
            </a:r>
          </a:p>
          <a:p>
            <a:pPr eaLnBrk="0" hangingPunct="0">
              <a:spcBef>
                <a:spcPct val="0"/>
              </a:spcBef>
            </a:pPr>
            <a:endParaRPr lang="en-GB" dirty="0"/>
          </a:p>
        </p:txBody>
      </p:sp>
      <p:sp>
        <p:nvSpPr>
          <p:cNvPr id="1070084" name="Rectangle 4"/>
          <p:cNvSpPr>
            <a:spLocks noChangeArrowheads="1"/>
          </p:cNvSpPr>
          <p:nvPr/>
        </p:nvSpPr>
        <p:spPr bwMode="auto">
          <a:xfrm>
            <a:off x="141188" y="2063403"/>
            <a:ext cx="454183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0"/>
              </a:spcBef>
            </a:pPr>
            <a:r>
              <a:rPr lang="en-GB" dirty="0"/>
              <a:t>Sometimes there is too much glucose in the blood, and sometimes there is not enough. </a:t>
            </a:r>
          </a:p>
        </p:txBody>
      </p:sp>
      <p:sp>
        <p:nvSpPr>
          <p:cNvPr id="1070087" name="Rectangle 7"/>
          <p:cNvSpPr>
            <a:spLocks noChangeArrowheads="1"/>
          </p:cNvSpPr>
          <p:nvPr/>
        </p:nvSpPr>
        <p:spPr bwMode="auto">
          <a:xfrm>
            <a:off x="155540" y="3553343"/>
            <a:ext cx="513047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66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marL="361950" indent="-361950" eaLnBrk="0" hangingPunct="0">
              <a:buClr>
                <a:srgbClr val="10BC45"/>
              </a:buClr>
              <a:buFont typeface="Wingdings" charset="0"/>
              <a:buChar char="l"/>
            </a:pPr>
            <a:r>
              <a:rPr lang="en-GB" b="1" dirty="0"/>
              <a:t>Eating</a:t>
            </a:r>
            <a:r>
              <a:rPr lang="en-GB" dirty="0"/>
              <a:t> </a:t>
            </a:r>
            <a:r>
              <a:rPr lang="en-GB" b="1" dirty="0"/>
              <a:t>and glycogen stores </a:t>
            </a:r>
            <a:r>
              <a:rPr lang="en-GB" dirty="0"/>
              <a:t>causes blood glucose levels to </a:t>
            </a:r>
            <a:r>
              <a:rPr lang="en-GB" b="1" dirty="0"/>
              <a:t>rise</a:t>
            </a:r>
            <a:r>
              <a:rPr lang="en-GB" dirty="0"/>
              <a:t>.</a:t>
            </a:r>
          </a:p>
          <a:p>
            <a:pPr marL="361950" indent="-361950" eaLnBrk="0" hangingPunct="0">
              <a:buClr>
                <a:srgbClr val="10BC45"/>
              </a:buClr>
              <a:buFont typeface="Wingdings" charset="0"/>
              <a:buChar char="l"/>
            </a:pPr>
            <a:r>
              <a:rPr lang="en-GB" b="1" dirty="0"/>
              <a:t>Vigorous exercise and general metabolic activity</a:t>
            </a:r>
            <a:r>
              <a:rPr lang="en-GB" dirty="0"/>
              <a:t> causes blood glucose levels to </a:t>
            </a:r>
            <a:r>
              <a:rPr lang="en-GB" b="1" dirty="0"/>
              <a:t>fall</a:t>
            </a:r>
            <a:r>
              <a:rPr lang="en-GB" dirty="0"/>
              <a:t>.</a:t>
            </a:r>
          </a:p>
        </p:txBody>
      </p:sp>
      <p:sp>
        <p:nvSpPr>
          <p:cNvPr id="1070088" name="Text Box 8"/>
          <p:cNvSpPr txBox="1">
            <a:spLocks noChangeArrowheads="1"/>
          </p:cNvSpPr>
          <p:nvPr/>
        </p:nvSpPr>
        <p:spPr bwMode="auto">
          <a:xfrm>
            <a:off x="251520" y="2996952"/>
            <a:ext cx="4321175" cy="8223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GB" dirty="0"/>
              <a:t>What affects the level of blood glucose?</a:t>
            </a:r>
          </a:p>
        </p:txBody>
      </p:sp>
      <p:pic>
        <p:nvPicPr>
          <p:cNvPr id="1070090" name="Picture 10" descr="19147492_cr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3185" y="1160748"/>
            <a:ext cx="2992760" cy="2992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7825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0084"/>
                                        </p:tgtEl>
                                        <p:attrNameLst>
                                          <p:attrName>style.visibility</p:attrName>
                                        </p:attrNameLst>
                                      </p:cBhvr>
                                      <p:to>
                                        <p:strVal val="visible"/>
                                      </p:to>
                                    </p:set>
                                    <p:animEffect transition="in" filter="dissolve">
                                      <p:cBhvr>
                                        <p:cTn id="7" dur="500"/>
                                        <p:tgtEl>
                                          <p:spTgt spid="10700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70088"/>
                                        </p:tgtEl>
                                        <p:attrNameLst>
                                          <p:attrName>style.visibility</p:attrName>
                                        </p:attrNameLst>
                                      </p:cBhvr>
                                      <p:to>
                                        <p:strVal val="visible"/>
                                      </p:to>
                                    </p:set>
                                    <p:animEffect transition="in" filter="dissolve">
                                      <p:cBhvr>
                                        <p:cTn id="12" dur="500"/>
                                        <p:tgtEl>
                                          <p:spTgt spid="10700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070087">
                                            <p:txEl>
                                              <p:pRg st="0" end="0"/>
                                            </p:txEl>
                                          </p:spTgt>
                                        </p:tgtEl>
                                        <p:attrNameLst>
                                          <p:attrName>style.visibility</p:attrName>
                                        </p:attrNameLst>
                                      </p:cBhvr>
                                      <p:to>
                                        <p:strVal val="visible"/>
                                      </p:to>
                                    </p:set>
                                    <p:animEffect transition="in" filter="dissolve">
                                      <p:cBhvr>
                                        <p:cTn id="17" dur="500"/>
                                        <p:tgtEl>
                                          <p:spTgt spid="107008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70087">
                                            <p:txEl>
                                              <p:pRg st="1" end="1"/>
                                            </p:txEl>
                                          </p:spTgt>
                                        </p:tgtEl>
                                        <p:attrNameLst>
                                          <p:attrName>style.visibility</p:attrName>
                                        </p:attrNameLst>
                                      </p:cBhvr>
                                      <p:to>
                                        <p:strVal val="visible"/>
                                      </p:to>
                                    </p:set>
                                    <p:animEffect transition="in" filter="dissolve">
                                      <p:cBhvr>
                                        <p:cTn id="22" dur="500"/>
                                        <p:tgtEl>
                                          <p:spTgt spid="10700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0084" grpId="0"/>
      <p:bldP spid="107008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7928" name="Picture 8" descr="crenated blood ce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100" y="2949575"/>
            <a:ext cx="2095500" cy="1885950"/>
          </a:xfrm>
          <a:prstGeom prst="rect">
            <a:avLst/>
          </a:prstGeom>
          <a:noFill/>
          <a:extLst>
            <a:ext uri="{909E8E84-426E-40DD-AFC4-6F175D3DCCD1}">
              <a14:hiddenFill xmlns:a14="http://schemas.microsoft.com/office/drawing/2010/main">
                <a:solidFill>
                  <a:srgbClr val="FFFFFF"/>
                </a:solidFill>
              </a14:hiddenFill>
            </a:ext>
          </a:extLst>
        </p:spPr>
      </p:pic>
      <p:sp>
        <p:nvSpPr>
          <p:cNvPr id="977922" name="Rectangle 2"/>
          <p:cNvSpPr>
            <a:spLocks noGrp="1" noChangeArrowheads="1"/>
          </p:cNvSpPr>
          <p:nvPr>
            <p:ph type="title" idx="4294967295"/>
          </p:nvPr>
        </p:nvSpPr>
        <p:spPr>
          <a:xfrm>
            <a:off x="539552" y="116632"/>
            <a:ext cx="8229600" cy="922114"/>
          </a:xfrm>
        </p:spPr>
        <p:txBody>
          <a:bodyPr/>
          <a:lstStyle/>
          <a:p>
            <a:r>
              <a:rPr lang="en-GB" dirty="0"/>
              <a:t>Controlling blood glucose</a:t>
            </a:r>
          </a:p>
        </p:txBody>
      </p:sp>
      <p:sp>
        <p:nvSpPr>
          <p:cNvPr id="977923" name="Text Box 3"/>
          <p:cNvSpPr txBox="1">
            <a:spLocks noChangeArrowheads="1"/>
          </p:cNvSpPr>
          <p:nvPr/>
        </p:nvSpPr>
        <p:spPr bwMode="auto">
          <a:xfrm>
            <a:off x="298532" y="1052736"/>
            <a:ext cx="8364537" cy="8223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GB" dirty="0"/>
              <a:t>Between meals, blood glucose levels are topped up from stored deposits in the liver and muscles. </a:t>
            </a:r>
          </a:p>
        </p:txBody>
      </p:sp>
      <p:sp>
        <p:nvSpPr>
          <p:cNvPr id="977924" name="Text Box 4"/>
          <p:cNvSpPr txBox="1">
            <a:spLocks noChangeArrowheads="1"/>
          </p:cNvSpPr>
          <p:nvPr/>
        </p:nvSpPr>
        <p:spPr bwMode="auto">
          <a:xfrm>
            <a:off x="467544" y="1988840"/>
            <a:ext cx="7851775" cy="11874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0"/>
              </a:spcBef>
            </a:pPr>
            <a:r>
              <a:rPr lang="en-GB" dirty="0"/>
              <a:t>After a meal, blood glucose rises but quickly returns to normal. Where does the excess go? Why not leave it in the blood?</a:t>
            </a:r>
          </a:p>
        </p:txBody>
      </p:sp>
      <p:sp>
        <p:nvSpPr>
          <p:cNvPr id="977925" name="Text Box 5"/>
          <p:cNvSpPr txBox="1">
            <a:spLocks noChangeArrowheads="1"/>
          </p:cNvSpPr>
          <p:nvPr/>
        </p:nvSpPr>
        <p:spPr bwMode="auto">
          <a:xfrm>
            <a:off x="563563" y="3214688"/>
            <a:ext cx="6302375" cy="15525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0"/>
              </a:spcBef>
            </a:pPr>
            <a:r>
              <a:rPr lang="en-GB" dirty="0">
                <a:solidFill>
                  <a:srgbClr val="000066"/>
                </a:solidFill>
              </a:rPr>
              <a:t>Excess glucose makes the blood plasma and tissue fluid around cells too concentrated. This can severely damage cells, for example, causing </a:t>
            </a:r>
            <a:r>
              <a:rPr lang="en-GB" b="1" dirty="0">
                <a:solidFill>
                  <a:srgbClr val="000066"/>
                </a:solidFill>
              </a:rPr>
              <a:t>crenation</a:t>
            </a:r>
            <a:r>
              <a:rPr lang="en-GB" dirty="0">
                <a:solidFill>
                  <a:srgbClr val="000066"/>
                </a:solidFill>
              </a:rPr>
              <a:t> in red blood cells.</a:t>
            </a:r>
          </a:p>
        </p:txBody>
      </p:sp>
      <p:pic>
        <p:nvPicPr>
          <p:cNvPr id="977926" name="Picture 6" descr="red blood cell (bur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5013176"/>
            <a:ext cx="1627187" cy="1604962"/>
          </a:xfrm>
          <a:prstGeom prst="rect">
            <a:avLst/>
          </a:prstGeom>
          <a:noFill/>
          <a:extLst>
            <a:ext uri="{909E8E84-426E-40DD-AFC4-6F175D3DCCD1}">
              <a14:hiddenFill xmlns:a14="http://schemas.microsoft.com/office/drawing/2010/main">
                <a:solidFill>
                  <a:srgbClr val="FFFFFF"/>
                </a:solidFill>
              </a14:hiddenFill>
            </a:ext>
          </a:extLst>
        </p:spPr>
      </p:pic>
      <p:sp>
        <p:nvSpPr>
          <p:cNvPr id="977929" name="Text Box 9"/>
          <p:cNvSpPr txBox="1">
            <a:spLocks noChangeArrowheads="1"/>
          </p:cNvSpPr>
          <p:nvPr/>
        </p:nvSpPr>
        <p:spPr bwMode="auto">
          <a:xfrm>
            <a:off x="2555776" y="5229200"/>
            <a:ext cx="6086475" cy="11874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spcBef>
                <a:spcPct val="0"/>
              </a:spcBef>
            </a:pPr>
            <a:r>
              <a:rPr lang="en-GB" dirty="0">
                <a:solidFill>
                  <a:srgbClr val="000066"/>
                </a:solidFill>
              </a:rPr>
              <a:t>However, low blood sugar levels can be equally as dangerous, as it can make cells swell up and burst. This is called </a:t>
            </a:r>
            <a:r>
              <a:rPr lang="en-GB" b="1" dirty="0" err="1">
                <a:solidFill>
                  <a:srgbClr val="000066"/>
                </a:solidFill>
              </a:rPr>
              <a:t>lysis</a:t>
            </a:r>
            <a:r>
              <a:rPr lang="en-GB" dirty="0">
                <a:solidFill>
                  <a:srgbClr val="000066"/>
                </a:solidFill>
              </a:rPr>
              <a:t>.</a:t>
            </a:r>
          </a:p>
        </p:txBody>
      </p:sp>
    </p:spTree>
    <p:extLst>
      <p:ext uri="{BB962C8B-B14F-4D97-AF65-F5344CB8AC3E}">
        <p14:creationId xmlns:p14="http://schemas.microsoft.com/office/powerpoint/2010/main" val="8648611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77924"/>
                                        </p:tgtEl>
                                        <p:attrNameLst>
                                          <p:attrName>style.visibility</p:attrName>
                                        </p:attrNameLst>
                                      </p:cBhvr>
                                      <p:to>
                                        <p:strVal val="visible"/>
                                      </p:to>
                                    </p:set>
                                    <p:animEffect transition="in" filter="dissolve">
                                      <p:cBhvr>
                                        <p:cTn id="7" dur="500"/>
                                        <p:tgtEl>
                                          <p:spTgt spid="9779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77925"/>
                                        </p:tgtEl>
                                        <p:attrNameLst>
                                          <p:attrName>style.visibility</p:attrName>
                                        </p:attrNameLst>
                                      </p:cBhvr>
                                      <p:to>
                                        <p:strVal val="visible"/>
                                      </p:to>
                                    </p:set>
                                    <p:animEffect transition="in" filter="dissolve">
                                      <p:cBhvr>
                                        <p:cTn id="12" dur="500"/>
                                        <p:tgtEl>
                                          <p:spTgt spid="977925"/>
                                        </p:tgtEl>
                                      </p:cBhvr>
                                    </p:animEffect>
                                  </p:childTnLst>
                                </p:cTn>
                              </p:par>
                            </p:childTnLst>
                          </p:cTn>
                        </p:par>
                        <p:par>
                          <p:cTn id="13" fill="hold" nodeType="afterGroup">
                            <p:stCondLst>
                              <p:cond delay="500"/>
                            </p:stCondLst>
                            <p:childTnLst>
                              <p:par>
                                <p:cTn id="14" presetID="4" presetClass="entr" presetSubtype="32" fill="hold" nodeType="afterEffect">
                                  <p:stCondLst>
                                    <p:cond delay="0"/>
                                  </p:stCondLst>
                                  <p:childTnLst>
                                    <p:set>
                                      <p:cBhvr>
                                        <p:cTn id="15" dur="1" fill="hold">
                                          <p:stCondLst>
                                            <p:cond delay="0"/>
                                          </p:stCondLst>
                                        </p:cTn>
                                        <p:tgtEl>
                                          <p:spTgt spid="977928"/>
                                        </p:tgtEl>
                                        <p:attrNameLst>
                                          <p:attrName>style.visibility</p:attrName>
                                        </p:attrNameLst>
                                      </p:cBhvr>
                                      <p:to>
                                        <p:strVal val="visible"/>
                                      </p:to>
                                    </p:set>
                                    <p:animEffect transition="in" filter="box(out)">
                                      <p:cBhvr>
                                        <p:cTn id="16" dur="500"/>
                                        <p:tgtEl>
                                          <p:spTgt spid="97792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77929"/>
                                        </p:tgtEl>
                                        <p:attrNameLst>
                                          <p:attrName>style.visibility</p:attrName>
                                        </p:attrNameLst>
                                      </p:cBhvr>
                                      <p:to>
                                        <p:strVal val="visible"/>
                                      </p:to>
                                    </p:set>
                                    <p:animEffect transition="in" filter="dissolve">
                                      <p:cBhvr>
                                        <p:cTn id="21" dur="500"/>
                                        <p:tgtEl>
                                          <p:spTgt spid="977929"/>
                                        </p:tgtEl>
                                      </p:cBhvr>
                                    </p:animEffect>
                                  </p:childTnLst>
                                </p:cTn>
                              </p:par>
                            </p:childTnLst>
                          </p:cTn>
                        </p:par>
                        <p:par>
                          <p:cTn id="22" fill="hold" nodeType="afterGroup">
                            <p:stCondLst>
                              <p:cond delay="500"/>
                            </p:stCondLst>
                            <p:childTnLst>
                              <p:par>
                                <p:cTn id="23" presetID="4" presetClass="entr" presetSubtype="32" fill="hold" nodeType="afterEffect">
                                  <p:stCondLst>
                                    <p:cond delay="0"/>
                                  </p:stCondLst>
                                  <p:childTnLst>
                                    <p:set>
                                      <p:cBhvr>
                                        <p:cTn id="24" dur="1" fill="hold">
                                          <p:stCondLst>
                                            <p:cond delay="0"/>
                                          </p:stCondLst>
                                        </p:cTn>
                                        <p:tgtEl>
                                          <p:spTgt spid="977926"/>
                                        </p:tgtEl>
                                        <p:attrNameLst>
                                          <p:attrName>style.visibility</p:attrName>
                                        </p:attrNameLst>
                                      </p:cBhvr>
                                      <p:to>
                                        <p:strVal val="visible"/>
                                      </p:to>
                                    </p:set>
                                    <p:animEffect transition="in" filter="box(out)">
                                      <p:cBhvr>
                                        <p:cTn id="25" dur="500"/>
                                        <p:tgtEl>
                                          <p:spTgt spid="977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7924" grpId="0"/>
      <p:bldP spid="977925" grpId="0"/>
      <p:bldP spid="977929"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2"/>
          <p:cNvSpPr>
            <a:spLocks noGrp="1" noChangeArrowheads="1"/>
          </p:cNvSpPr>
          <p:nvPr>
            <p:ph type="title"/>
          </p:nvPr>
        </p:nvSpPr>
        <p:spPr>
          <a:xfrm>
            <a:off x="500062" y="258961"/>
            <a:ext cx="8349258" cy="1393031"/>
          </a:xfrm>
        </p:spPr>
        <p:txBody>
          <a:bodyPr/>
          <a:lstStyle/>
          <a:p>
            <a:pPr>
              <a:tabLst>
                <a:tab pos="669703" algn="l"/>
              </a:tabLst>
            </a:pPr>
            <a:r>
              <a:rPr lang="en-US" altLang="en-US"/>
              <a:t>Control of Blood Glucose</a:t>
            </a:r>
          </a:p>
        </p:txBody>
      </p:sp>
      <p:sp>
        <p:nvSpPr>
          <p:cNvPr id="71683" name="Rectangle 3"/>
          <p:cNvSpPr>
            <a:spLocks noGrp="1" noChangeArrowheads="1"/>
          </p:cNvSpPr>
          <p:nvPr>
            <p:ph type="body" idx="1"/>
          </p:nvPr>
        </p:nvSpPr>
        <p:spPr>
          <a:xfrm>
            <a:off x="250031" y="1259086"/>
            <a:ext cx="8179594" cy="2169914"/>
          </a:xfrm>
        </p:spPr>
        <p:txBody>
          <a:bodyPr>
            <a:normAutofit lnSpcReduction="10000"/>
          </a:bodyPr>
          <a:lstStyle/>
          <a:p>
            <a:pPr>
              <a:tabLst>
                <a:tab pos="721047" algn="l"/>
                <a:tab pos="1045853" algn="l"/>
              </a:tabLst>
            </a:pPr>
            <a:r>
              <a:rPr lang="en-US" altLang="en-US"/>
              <a:t>The endocrine portion of the pancreas (the α and β cells of the islets of Langerhans) produces the hormones insulin and glucagon.</a:t>
            </a:r>
          </a:p>
          <a:p>
            <a:pPr lvl="1">
              <a:tabLst>
                <a:tab pos="721047" algn="l"/>
                <a:tab pos="1045853" algn="l"/>
              </a:tabLst>
            </a:pPr>
            <a:r>
              <a:rPr lang="en-US" altLang="en-US"/>
              <a:t>These hormones act antagonistically to maintain blood glucose at a steady state through negative feedback.</a:t>
            </a:r>
          </a:p>
          <a:p>
            <a:pPr>
              <a:tabLst>
                <a:tab pos="721047" algn="l"/>
                <a:tab pos="1045853" algn="l"/>
              </a:tabLst>
            </a:pPr>
            <a:r>
              <a:rPr lang="en-US" altLang="en-US"/>
              <a:t>Regulation of blood glucose to within narrow limits allows energy to be available to cells as needed.</a:t>
            </a:r>
          </a:p>
        </p:txBody>
      </p:sp>
      <p:pic>
        <p:nvPicPr>
          <p:cNvPr id="7168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138" y="3401142"/>
            <a:ext cx="2245519" cy="2278139"/>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71685"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453" y="3016002"/>
            <a:ext cx="2991445" cy="3411141"/>
          </a:xfrm>
          <a:prstGeom prst="rect">
            <a:avLst/>
          </a:prstGeom>
          <a:noFill/>
          <a:ln>
            <a:noFill/>
          </a:ln>
          <a:effectLst>
            <a:outerShdw blurRad="190500" dist="190500" dir="2700000" algn="ctr"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55655" name="Rectangle 6"/>
          <p:cNvSpPr>
            <a:spLocks/>
          </p:cNvSpPr>
          <p:nvPr/>
        </p:nvSpPr>
        <p:spPr bwMode="auto">
          <a:xfrm>
            <a:off x="598289" y="6045398"/>
            <a:ext cx="2893219" cy="55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300">
                <a:solidFill>
                  <a:srgbClr val="000000"/>
                </a:solidFill>
                <a:cs typeface="Arial" pitchFamily="34" charset="0"/>
              </a:rPr>
              <a:t>Insulin promotes a decrease in blood glucose by promoting cellular uptake of glucose glycogen synthesis in the liver.</a:t>
            </a:r>
          </a:p>
        </p:txBody>
      </p:sp>
      <p:sp>
        <p:nvSpPr>
          <p:cNvPr id="155656" name="Rectangle 7"/>
          <p:cNvSpPr>
            <a:spLocks/>
          </p:cNvSpPr>
          <p:nvPr/>
        </p:nvSpPr>
        <p:spPr bwMode="auto">
          <a:xfrm>
            <a:off x="6161484" y="5679281"/>
            <a:ext cx="2259211"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300">
                <a:solidFill>
                  <a:srgbClr val="000000"/>
                </a:solidFill>
                <a:cs typeface="Arial" pitchFamily="34" charset="0"/>
              </a:rPr>
              <a:t>Glucagon promotes an increase in blood glucose by stimulating the breakdown of glycogen and the synthesis of glucose from amino acids.</a:t>
            </a:r>
          </a:p>
        </p:txBody>
      </p:sp>
    </p:spTree>
    <p:extLst>
      <p:ext uri="{BB962C8B-B14F-4D97-AF65-F5344CB8AC3E}">
        <p14:creationId xmlns:p14="http://schemas.microsoft.com/office/powerpoint/2010/main" val="286735106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6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6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bldLvl="5"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Grp="1" noChangeArrowheads="1"/>
          </p:cNvSpPr>
          <p:nvPr>
            <p:ph type="title" idx="4294967295"/>
          </p:nvPr>
        </p:nvSpPr>
        <p:spPr>
          <a:xfrm>
            <a:off x="467544" y="9769"/>
            <a:ext cx="8229600" cy="850106"/>
          </a:xfrm>
        </p:spPr>
        <p:txBody>
          <a:bodyPr/>
          <a:lstStyle/>
          <a:p>
            <a:r>
              <a:rPr lang="en-GB" dirty="0"/>
              <a:t>The pancreas and blood glucose</a:t>
            </a:r>
          </a:p>
        </p:txBody>
      </p:sp>
      <p:sp>
        <p:nvSpPr>
          <p:cNvPr id="979971" name="Text Box 3"/>
          <p:cNvSpPr txBox="1">
            <a:spLocks noChangeArrowheads="1"/>
          </p:cNvSpPr>
          <p:nvPr/>
        </p:nvSpPr>
        <p:spPr bwMode="auto">
          <a:xfrm>
            <a:off x="539552" y="908720"/>
            <a:ext cx="3914775" cy="11874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GB" dirty="0"/>
              <a:t>Blood glucose levels are monitored and controlled by the </a:t>
            </a:r>
            <a:r>
              <a:rPr lang="en-GB" b="1" dirty="0">
                <a:solidFill>
                  <a:srgbClr val="10BC45"/>
                </a:solidFill>
              </a:rPr>
              <a:t>pancreas</a:t>
            </a:r>
            <a:r>
              <a:rPr lang="en-GB" dirty="0"/>
              <a:t>. </a:t>
            </a:r>
          </a:p>
        </p:txBody>
      </p:sp>
      <p:sp>
        <p:nvSpPr>
          <p:cNvPr id="979973" name="Text Box 5"/>
          <p:cNvSpPr txBox="1">
            <a:spLocks noChangeArrowheads="1"/>
          </p:cNvSpPr>
          <p:nvPr/>
        </p:nvSpPr>
        <p:spPr bwMode="auto">
          <a:xfrm>
            <a:off x="563563" y="2249488"/>
            <a:ext cx="3551237" cy="15525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GB" dirty="0"/>
              <a:t>The pancreas produces and releases different hormones depending on the blood glucose level.</a:t>
            </a:r>
          </a:p>
        </p:txBody>
      </p:sp>
      <p:pic>
        <p:nvPicPr>
          <p:cNvPr id="979972" name="Picture 4" descr="pancre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1412776"/>
            <a:ext cx="4254500" cy="2652712"/>
          </a:xfrm>
          <a:prstGeom prst="rect">
            <a:avLst/>
          </a:prstGeom>
          <a:noFill/>
          <a:extLst>
            <a:ext uri="{909E8E84-426E-40DD-AFC4-6F175D3DCCD1}">
              <a14:hiddenFill xmlns:a14="http://schemas.microsoft.com/office/drawing/2010/main">
                <a:solidFill>
                  <a:srgbClr val="FFFFFF"/>
                </a:solidFill>
              </a14:hiddenFill>
            </a:ext>
          </a:extLst>
        </p:spPr>
      </p:pic>
      <p:grpSp>
        <p:nvGrpSpPr>
          <p:cNvPr id="979982" name="Group 14"/>
          <p:cNvGrpSpPr>
            <a:grpSpLocks/>
          </p:cNvGrpSpPr>
          <p:nvPr/>
        </p:nvGrpSpPr>
        <p:grpSpPr bwMode="auto">
          <a:xfrm>
            <a:off x="5364163" y="836612"/>
            <a:ext cx="1524000" cy="1390650"/>
            <a:chOff x="3379" y="527"/>
            <a:chExt cx="960" cy="876"/>
          </a:xfrm>
        </p:grpSpPr>
        <p:sp>
          <p:nvSpPr>
            <p:cNvPr id="979975" name="Text Box 7"/>
            <p:cNvSpPr txBox="1">
              <a:spLocks noChangeArrowheads="1"/>
            </p:cNvSpPr>
            <p:nvPr/>
          </p:nvSpPr>
          <p:spPr bwMode="auto">
            <a:xfrm>
              <a:off x="3379" y="527"/>
              <a:ext cx="960" cy="2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b="1" dirty="0">
                  <a:solidFill>
                    <a:srgbClr val="10BC45"/>
                  </a:solidFill>
                </a:rPr>
                <a:t>pancreas</a:t>
              </a:r>
            </a:p>
          </p:txBody>
        </p:sp>
        <p:sp>
          <p:nvSpPr>
            <p:cNvPr id="979976" name="Line 8"/>
            <p:cNvSpPr>
              <a:spLocks noChangeShapeType="1"/>
            </p:cNvSpPr>
            <p:nvPr/>
          </p:nvSpPr>
          <p:spPr bwMode="auto">
            <a:xfrm>
              <a:off x="3784" y="735"/>
              <a:ext cx="311" cy="668"/>
            </a:xfrm>
            <a:prstGeom prst="line">
              <a:avLst/>
            </a:prstGeom>
            <a:noFill/>
            <a:ln w="38100">
              <a:solidFill>
                <a:schemeClr val="tx1"/>
              </a:solidFill>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endParaRPr lang="en-US"/>
            </a:p>
          </p:txBody>
        </p:sp>
      </p:grpSp>
      <p:sp>
        <p:nvSpPr>
          <p:cNvPr id="979977" name="Text Box 9"/>
          <p:cNvSpPr txBox="1">
            <a:spLocks noChangeArrowheads="1"/>
          </p:cNvSpPr>
          <p:nvPr/>
        </p:nvSpPr>
        <p:spPr bwMode="auto">
          <a:xfrm>
            <a:off x="563563" y="4079875"/>
            <a:ext cx="7826375" cy="8223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55600" indent="-355600">
              <a:spcBef>
                <a:spcPct val="0"/>
              </a:spcBef>
              <a:defRPr>
                <a:solidFill>
                  <a:schemeClr val="tx1"/>
                </a:solidFill>
                <a:latin typeface="Arial" charset="0"/>
                <a:ea typeface="ＭＳ Ｐゴシック" charset="0"/>
              </a:defRPr>
            </a:lvl1pPr>
            <a:lvl2pPr marL="534988">
              <a:spcBef>
                <a:spcPct val="0"/>
              </a:spcBef>
              <a:defRPr>
                <a:solidFill>
                  <a:schemeClr val="tx1"/>
                </a:solidFill>
                <a:latin typeface="Arial" charset="0"/>
                <a:ea typeface="ＭＳ Ｐゴシック" charset="0"/>
              </a:defRPr>
            </a:lvl2pPr>
            <a:lvl3pPr>
              <a:spcBef>
                <a:spcPct val="0"/>
              </a:spcBef>
              <a:defRPr>
                <a:solidFill>
                  <a:schemeClr val="tx1"/>
                </a:solidFill>
                <a:latin typeface="Arial" charset="0"/>
                <a:ea typeface="ＭＳ Ｐゴシック" charset="0"/>
              </a:defRPr>
            </a:lvl3pPr>
            <a:lvl4pPr>
              <a:spcBef>
                <a:spcPct val="0"/>
              </a:spcBef>
              <a:defRPr>
                <a:solidFill>
                  <a:schemeClr val="tx1"/>
                </a:solidFill>
                <a:latin typeface="Arial" charset="0"/>
                <a:ea typeface="ＭＳ Ｐゴシック" charset="0"/>
              </a:defRPr>
            </a:lvl4pPr>
            <a:lvl5pPr>
              <a:spcBef>
                <a:spcPct val="0"/>
              </a:spcBef>
              <a:defRPr>
                <a:solidFill>
                  <a:schemeClr val="tx1"/>
                </a:solidFill>
                <a:latin typeface="Arial" charset="0"/>
                <a:ea typeface="ＭＳ Ｐゴシック" charset="0"/>
              </a:defRPr>
            </a:lvl5pPr>
            <a:lvl6pPr fontAlgn="base">
              <a:spcBef>
                <a:spcPct val="0"/>
              </a:spcBef>
              <a:spcAft>
                <a:spcPct val="0"/>
              </a:spcAft>
              <a:defRPr>
                <a:solidFill>
                  <a:schemeClr val="tx1"/>
                </a:solidFill>
                <a:latin typeface="Arial" charset="0"/>
                <a:ea typeface="ＭＳ Ｐゴシック" charset="0"/>
              </a:defRPr>
            </a:lvl6pPr>
            <a:lvl7pPr fontAlgn="base">
              <a:spcBef>
                <a:spcPct val="0"/>
              </a:spcBef>
              <a:spcAft>
                <a:spcPct val="0"/>
              </a:spcAft>
              <a:defRPr>
                <a:solidFill>
                  <a:schemeClr val="tx1"/>
                </a:solidFill>
                <a:latin typeface="Arial" charset="0"/>
                <a:ea typeface="ＭＳ Ｐゴシック" charset="0"/>
              </a:defRPr>
            </a:lvl7pPr>
            <a:lvl8pPr fontAlgn="base">
              <a:spcBef>
                <a:spcPct val="0"/>
              </a:spcBef>
              <a:spcAft>
                <a:spcPct val="0"/>
              </a:spcAft>
              <a:defRPr>
                <a:solidFill>
                  <a:schemeClr val="tx1"/>
                </a:solidFill>
                <a:latin typeface="Arial" charset="0"/>
                <a:ea typeface="ＭＳ Ｐゴシック" charset="0"/>
              </a:defRPr>
            </a:lvl8pPr>
            <a:lvl9pPr fontAlgn="base">
              <a:spcBef>
                <a:spcPct val="0"/>
              </a:spcBef>
              <a:spcAft>
                <a:spcPct val="0"/>
              </a:spcAft>
              <a:defRPr>
                <a:solidFill>
                  <a:schemeClr val="tx1"/>
                </a:solidFill>
                <a:latin typeface="Arial" charset="0"/>
                <a:ea typeface="ＭＳ Ｐゴシック" charset="0"/>
              </a:defRPr>
            </a:lvl9pPr>
          </a:lstStyle>
          <a:p>
            <a:pPr>
              <a:spcBef>
                <a:spcPct val="50000"/>
              </a:spcBef>
              <a:buFont typeface="Wingdings" charset="0"/>
              <a:buChar char="l"/>
            </a:pPr>
            <a:r>
              <a:rPr lang="en-GB" b="1" dirty="0">
                <a:solidFill>
                  <a:srgbClr val="10BC45"/>
                </a:solidFill>
              </a:rPr>
              <a:t>Insulin</a:t>
            </a:r>
            <a:r>
              <a:rPr lang="en-GB" dirty="0">
                <a:solidFill>
                  <a:srgbClr val="010066"/>
                </a:solidFill>
              </a:rPr>
              <a:t> is released when blood glucose levels are </a:t>
            </a:r>
            <a:r>
              <a:rPr lang="en-GB" b="1" dirty="0">
                <a:solidFill>
                  <a:srgbClr val="010066"/>
                </a:solidFill>
              </a:rPr>
              <a:t>high</a:t>
            </a:r>
            <a:r>
              <a:rPr lang="en-GB" dirty="0">
                <a:solidFill>
                  <a:srgbClr val="010066"/>
                </a:solidFill>
              </a:rPr>
              <a:t> – the liver stores excess glucose as glycogen.</a:t>
            </a:r>
          </a:p>
        </p:txBody>
      </p:sp>
      <p:sp>
        <p:nvSpPr>
          <p:cNvPr id="979978" name="Text Box 10"/>
          <p:cNvSpPr txBox="1">
            <a:spLocks noChangeArrowheads="1"/>
          </p:cNvSpPr>
          <p:nvPr/>
        </p:nvSpPr>
        <p:spPr bwMode="auto">
          <a:xfrm>
            <a:off x="563563" y="5181600"/>
            <a:ext cx="7970837" cy="11874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55600" indent="-355600">
              <a:spcBef>
                <a:spcPct val="0"/>
              </a:spcBef>
              <a:defRPr>
                <a:solidFill>
                  <a:schemeClr val="tx1"/>
                </a:solidFill>
                <a:latin typeface="Arial" charset="0"/>
                <a:ea typeface="ＭＳ Ｐゴシック" charset="0"/>
              </a:defRPr>
            </a:lvl1pPr>
            <a:lvl2pPr marL="534988">
              <a:spcBef>
                <a:spcPct val="0"/>
              </a:spcBef>
              <a:defRPr>
                <a:solidFill>
                  <a:schemeClr val="tx1"/>
                </a:solidFill>
                <a:latin typeface="Arial" charset="0"/>
                <a:ea typeface="ＭＳ Ｐゴシック" charset="0"/>
              </a:defRPr>
            </a:lvl2pPr>
            <a:lvl3pPr>
              <a:spcBef>
                <a:spcPct val="0"/>
              </a:spcBef>
              <a:defRPr>
                <a:solidFill>
                  <a:schemeClr val="tx1"/>
                </a:solidFill>
                <a:latin typeface="Arial" charset="0"/>
                <a:ea typeface="ＭＳ Ｐゴシック" charset="0"/>
              </a:defRPr>
            </a:lvl3pPr>
            <a:lvl4pPr>
              <a:spcBef>
                <a:spcPct val="0"/>
              </a:spcBef>
              <a:defRPr>
                <a:solidFill>
                  <a:schemeClr val="tx1"/>
                </a:solidFill>
                <a:latin typeface="Arial" charset="0"/>
                <a:ea typeface="ＭＳ Ｐゴシック" charset="0"/>
              </a:defRPr>
            </a:lvl4pPr>
            <a:lvl5pPr>
              <a:spcBef>
                <a:spcPct val="0"/>
              </a:spcBef>
              <a:defRPr>
                <a:solidFill>
                  <a:schemeClr val="tx1"/>
                </a:solidFill>
                <a:latin typeface="Arial" charset="0"/>
                <a:ea typeface="ＭＳ Ｐゴシック" charset="0"/>
              </a:defRPr>
            </a:lvl5pPr>
            <a:lvl6pPr fontAlgn="base">
              <a:spcBef>
                <a:spcPct val="0"/>
              </a:spcBef>
              <a:spcAft>
                <a:spcPct val="0"/>
              </a:spcAft>
              <a:defRPr>
                <a:solidFill>
                  <a:schemeClr val="tx1"/>
                </a:solidFill>
                <a:latin typeface="Arial" charset="0"/>
                <a:ea typeface="ＭＳ Ｐゴシック" charset="0"/>
              </a:defRPr>
            </a:lvl6pPr>
            <a:lvl7pPr fontAlgn="base">
              <a:spcBef>
                <a:spcPct val="0"/>
              </a:spcBef>
              <a:spcAft>
                <a:spcPct val="0"/>
              </a:spcAft>
              <a:defRPr>
                <a:solidFill>
                  <a:schemeClr val="tx1"/>
                </a:solidFill>
                <a:latin typeface="Arial" charset="0"/>
                <a:ea typeface="ＭＳ Ｐゴシック" charset="0"/>
              </a:defRPr>
            </a:lvl7pPr>
            <a:lvl8pPr fontAlgn="base">
              <a:spcBef>
                <a:spcPct val="0"/>
              </a:spcBef>
              <a:spcAft>
                <a:spcPct val="0"/>
              </a:spcAft>
              <a:defRPr>
                <a:solidFill>
                  <a:schemeClr val="tx1"/>
                </a:solidFill>
                <a:latin typeface="Arial" charset="0"/>
                <a:ea typeface="ＭＳ Ｐゴシック" charset="0"/>
              </a:defRPr>
            </a:lvl8pPr>
            <a:lvl9pPr fontAlgn="base">
              <a:spcBef>
                <a:spcPct val="0"/>
              </a:spcBef>
              <a:spcAft>
                <a:spcPct val="0"/>
              </a:spcAft>
              <a:defRPr>
                <a:solidFill>
                  <a:schemeClr val="tx1"/>
                </a:solidFill>
                <a:latin typeface="Arial" charset="0"/>
                <a:ea typeface="ＭＳ Ｐゴシック" charset="0"/>
              </a:defRPr>
            </a:lvl9pPr>
          </a:lstStyle>
          <a:p>
            <a:pPr>
              <a:spcBef>
                <a:spcPct val="50000"/>
              </a:spcBef>
              <a:buFont typeface="Wingdings" charset="0"/>
              <a:buChar char="l"/>
            </a:pPr>
            <a:r>
              <a:rPr lang="en-GB" b="1">
                <a:solidFill>
                  <a:srgbClr val="10BC45"/>
                </a:solidFill>
              </a:rPr>
              <a:t>Glucagon</a:t>
            </a:r>
            <a:r>
              <a:rPr lang="en-GB">
                <a:solidFill>
                  <a:srgbClr val="010066"/>
                </a:solidFill>
              </a:rPr>
              <a:t> is released when blood glucose levels are </a:t>
            </a:r>
            <a:r>
              <a:rPr lang="en-GB" b="1">
                <a:solidFill>
                  <a:srgbClr val="010066"/>
                </a:solidFill>
              </a:rPr>
              <a:t>low</a:t>
            </a:r>
            <a:r>
              <a:rPr lang="en-GB">
                <a:solidFill>
                  <a:srgbClr val="010066"/>
                </a:solidFill>
              </a:rPr>
              <a:t> – the liver converts stored glycogen into glucose and releases it into the blood.</a:t>
            </a:r>
          </a:p>
        </p:txBody>
      </p:sp>
    </p:spTree>
    <p:extLst>
      <p:ext uri="{BB962C8B-B14F-4D97-AF65-F5344CB8AC3E}">
        <p14:creationId xmlns:p14="http://schemas.microsoft.com/office/powerpoint/2010/main" val="16840902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79972"/>
                                        </p:tgtEl>
                                        <p:attrNameLst>
                                          <p:attrName>style.visibility</p:attrName>
                                        </p:attrNameLst>
                                      </p:cBhvr>
                                      <p:to>
                                        <p:strVal val="visible"/>
                                      </p:to>
                                    </p:set>
                                    <p:animEffect transition="in" filter="wipe(left)">
                                      <p:cBhvr>
                                        <p:cTn id="7" dur="500"/>
                                        <p:tgtEl>
                                          <p:spTgt spid="97997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79982"/>
                                        </p:tgtEl>
                                        <p:attrNameLst>
                                          <p:attrName>style.visibility</p:attrName>
                                        </p:attrNameLst>
                                      </p:cBhvr>
                                      <p:to>
                                        <p:strVal val="visible"/>
                                      </p:to>
                                    </p:set>
                                    <p:animEffect transition="in" filter="wipe(left)">
                                      <p:cBhvr>
                                        <p:cTn id="11" dur="500"/>
                                        <p:tgtEl>
                                          <p:spTgt spid="9799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79973"/>
                                        </p:tgtEl>
                                        <p:attrNameLst>
                                          <p:attrName>style.visibility</p:attrName>
                                        </p:attrNameLst>
                                      </p:cBhvr>
                                      <p:to>
                                        <p:strVal val="visible"/>
                                      </p:to>
                                    </p:set>
                                    <p:animEffect transition="in" filter="dissolve">
                                      <p:cBhvr>
                                        <p:cTn id="16" dur="500"/>
                                        <p:tgtEl>
                                          <p:spTgt spid="97997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79977"/>
                                        </p:tgtEl>
                                        <p:attrNameLst>
                                          <p:attrName>style.visibility</p:attrName>
                                        </p:attrNameLst>
                                      </p:cBhvr>
                                      <p:to>
                                        <p:strVal val="visible"/>
                                      </p:to>
                                    </p:set>
                                    <p:animEffect transition="in" filter="dissolve">
                                      <p:cBhvr>
                                        <p:cTn id="21" dur="500"/>
                                        <p:tgtEl>
                                          <p:spTgt spid="9799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979978"/>
                                        </p:tgtEl>
                                        <p:attrNameLst>
                                          <p:attrName>style.visibility</p:attrName>
                                        </p:attrNameLst>
                                      </p:cBhvr>
                                      <p:to>
                                        <p:strVal val="visible"/>
                                      </p:to>
                                    </p:set>
                                    <p:animEffect transition="in" filter="dissolve">
                                      <p:cBhvr>
                                        <p:cTn id="26" dur="500"/>
                                        <p:tgtEl>
                                          <p:spTgt spid="979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3" grpId="0"/>
      <p:bldP spid="979977" grpId="0"/>
      <p:bldP spid="979978"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5" name="Rectangle 2"/>
          <p:cNvSpPr>
            <a:spLocks noGrp="1" noChangeArrowheads="1"/>
          </p:cNvSpPr>
          <p:nvPr>
            <p:ph type="title"/>
          </p:nvPr>
        </p:nvSpPr>
        <p:spPr/>
        <p:txBody>
          <a:bodyPr/>
          <a:lstStyle/>
          <a:p>
            <a:pPr>
              <a:tabLst>
                <a:tab pos="669703" algn="l"/>
              </a:tabLst>
            </a:pPr>
            <a:r>
              <a:rPr lang="en-US" altLang="en-US"/>
              <a:t>Blood Glucose vs Insulin</a:t>
            </a:r>
          </a:p>
        </p:txBody>
      </p:sp>
      <p:sp>
        <p:nvSpPr>
          <p:cNvPr id="72707" name="Rectangle 3"/>
          <p:cNvSpPr>
            <a:spLocks noGrp="1" noChangeArrowheads="1"/>
          </p:cNvSpPr>
          <p:nvPr>
            <p:ph type="body" idx="1"/>
          </p:nvPr>
        </p:nvSpPr>
        <p:spPr>
          <a:xfrm>
            <a:off x="250031" y="1259086"/>
            <a:ext cx="8474273" cy="848320"/>
          </a:xfrm>
        </p:spPr>
        <p:txBody>
          <a:bodyPr/>
          <a:lstStyle/>
          <a:p>
            <a:pPr>
              <a:tabLst>
                <a:tab pos="721047" algn="l"/>
              </a:tabLst>
            </a:pPr>
            <a:r>
              <a:rPr lang="en-US" altLang="en-US"/>
              <a:t>The graph below shows the changes in blood glucose and insulin levels over a 24 hour period, during which three meals are eaten.</a:t>
            </a:r>
          </a:p>
        </p:txBody>
      </p:sp>
      <p:pic>
        <p:nvPicPr>
          <p:cNvPr id="15667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89" y="2375297"/>
            <a:ext cx="8340328" cy="3869904"/>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70768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0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bldLvl="5"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1"/>
          <p:cNvSpPr>
            <a:spLocks noGrp="1" noChangeArrowheads="1"/>
          </p:cNvSpPr>
          <p:nvPr>
            <p:ph type="title"/>
          </p:nvPr>
        </p:nvSpPr>
        <p:spPr/>
        <p:txBody>
          <a:bodyPr/>
          <a:lstStyle/>
          <a:p>
            <a:pPr>
              <a:tabLst>
                <a:tab pos="669703" algn="l"/>
              </a:tabLst>
            </a:pPr>
            <a:r>
              <a:rPr lang="en-US" altLang="en-US" dirty="0"/>
              <a:t>Blood Glucose Regulation</a:t>
            </a:r>
          </a:p>
        </p:txBody>
      </p:sp>
      <p:sp>
        <p:nvSpPr>
          <p:cNvPr id="73730" name="Rectangle 2"/>
          <p:cNvSpPr>
            <a:spLocks noGrp="1" noChangeArrowheads="1"/>
          </p:cNvSpPr>
          <p:nvPr>
            <p:ph type="body" idx="1"/>
          </p:nvPr>
        </p:nvSpPr>
        <p:spPr>
          <a:xfrm>
            <a:off x="107505" y="1259086"/>
            <a:ext cx="8009582" cy="1723430"/>
          </a:xfrm>
        </p:spPr>
        <p:txBody>
          <a:bodyPr>
            <a:normAutofit/>
          </a:bodyPr>
          <a:lstStyle/>
          <a:p>
            <a:pPr>
              <a:tabLst>
                <a:tab pos="721047" algn="l"/>
                <a:tab pos="1045853" algn="l"/>
              </a:tabLst>
            </a:pPr>
            <a:r>
              <a:rPr lang="en-US" altLang="en-US" sz="1800" dirty="0"/>
              <a:t>The body’s extra energy is stored as glycogen or fat, and mobilized to meet energy needs as required. </a:t>
            </a:r>
          </a:p>
          <a:p>
            <a:pPr>
              <a:tabLst>
                <a:tab pos="721047" algn="l"/>
                <a:tab pos="1045853" algn="l"/>
              </a:tabLst>
            </a:pPr>
            <a:r>
              <a:rPr lang="en-US" altLang="en-US" sz="1800" dirty="0"/>
              <a:t>The liver is pivotal in these carbohydrate conversions.</a:t>
            </a:r>
          </a:p>
          <a:p>
            <a:pPr lvl="1">
              <a:tabLst>
                <a:tab pos="721047" algn="l"/>
                <a:tab pos="1045853" algn="l"/>
              </a:tabLst>
            </a:pPr>
            <a:r>
              <a:rPr lang="en-US" altLang="en-US" sz="1600" dirty="0"/>
              <a:t>One of the consequences of a disruption to this system is the disease </a:t>
            </a:r>
            <a:r>
              <a:rPr lang="en-US" altLang="en-US" sz="1600" b="1" u="sng" dirty="0">
                <a:solidFill>
                  <a:srgbClr val="005481"/>
                </a:solidFill>
                <a:hlinkClick r:id="rId2" action="ppaction://hlinksldjump"/>
              </a:rPr>
              <a:t>diabetes mellitus</a:t>
            </a:r>
            <a:r>
              <a:rPr lang="en-US" altLang="en-US" sz="1600" dirty="0"/>
              <a:t>.</a:t>
            </a:r>
          </a:p>
        </p:txBody>
      </p:sp>
      <p:grpSp>
        <p:nvGrpSpPr>
          <p:cNvPr id="2" name="Group 5"/>
          <p:cNvGrpSpPr>
            <a:grpSpLocks/>
          </p:cNvGrpSpPr>
          <p:nvPr/>
        </p:nvGrpSpPr>
        <p:grpSpPr bwMode="auto">
          <a:xfrm>
            <a:off x="3875484" y="4199185"/>
            <a:ext cx="1669852" cy="783580"/>
            <a:chOff x="0" y="-46"/>
            <a:chExt cx="1496" cy="702"/>
          </a:xfrm>
        </p:grpSpPr>
        <p:sp>
          <p:nvSpPr>
            <p:cNvPr id="157733" name="Rectangle 3"/>
            <p:cNvSpPr>
              <a:spLocks/>
            </p:cNvSpPr>
            <p:nvPr/>
          </p:nvSpPr>
          <p:spPr bwMode="auto">
            <a:xfrm>
              <a:off x="0" y="0"/>
              <a:ext cx="1496" cy="656"/>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34" name="Rectangle 4"/>
            <p:cNvSpPr>
              <a:spLocks/>
            </p:cNvSpPr>
            <p:nvPr/>
          </p:nvSpPr>
          <p:spPr bwMode="auto">
            <a:xfrm>
              <a:off x="0" y="-46"/>
              <a:ext cx="1432" cy="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dirty="0">
                  <a:solidFill>
                    <a:schemeClr val="bg1"/>
                  </a:solidFill>
                  <a:cs typeface="Arial" pitchFamily="34" charset="0"/>
                </a:rPr>
                <a:t>Normal blood glucose (BG) level</a:t>
              </a:r>
            </a:p>
            <a:p>
              <a:pPr algn="ctr" eaLnBrk="1" hangingPunct="1"/>
              <a:r>
                <a:rPr lang="en-US" altLang="en-US" sz="1400" dirty="0">
                  <a:solidFill>
                    <a:schemeClr val="bg1"/>
                  </a:solidFill>
                  <a:cs typeface="Arial" pitchFamily="34" charset="0"/>
                </a:rPr>
                <a:t>3.9 - 5.6 </a:t>
              </a:r>
              <a:r>
                <a:rPr lang="en-US" altLang="en-US" sz="1400" dirty="0" err="1">
                  <a:solidFill>
                    <a:schemeClr val="bg1"/>
                  </a:solidFill>
                  <a:cs typeface="Arial" pitchFamily="34" charset="0"/>
                </a:rPr>
                <a:t>mmol</a:t>
              </a:r>
              <a:r>
                <a:rPr lang="en-US" altLang="en-US" sz="1400" dirty="0">
                  <a:solidFill>
                    <a:schemeClr val="bg1"/>
                  </a:solidFill>
                  <a:cs typeface="Arial" pitchFamily="34" charset="0"/>
                </a:rPr>
                <a:t> L</a:t>
              </a:r>
              <a:r>
                <a:rPr lang="en-US" altLang="en-US" sz="1400" baseline="32000" dirty="0">
                  <a:solidFill>
                    <a:schemeClr val="bg1"/>
                  </a:solidFill>
                  <a:cs typeface="Arial" pitchFamily="34" charset="0"/>
                </a:rPr>
                <a:t>-1</a:t>
              </a:r>
              <a:r>
                <a:rPr lang="en-US" altLang="en-US" sz="1400" dirty="0">
                  <a:solidFill>
                    <a:schemeClr val="bg1"/>
                  </a:solidFill>
                  <a:cs typeface="Arial" pitchFamily="34" charset="0"/>
                </a:rPr>
                <a:t> </a:t>
              </a:r>
            </a:p>
          </p:txBody>
        </p:sp>
      </p:grpSp>
      <p:grpSp>
        <p:nvGrpSpPr>
          <p:cNvPr id="3" name="Group 14"/>
          <p:cNvGrpSpPr>
            <a:grpSpLocks/>
          </p:cNvGrpSpPr>
          <p:nvPr/>
        </p:nvGrpSpPr>
        <p:grpSpPr bwMode="auto">
          <a:xfrm>
            <a:off x="500062" y="3152180"/>
            <a:ext cx="8358188" cy="2321719"/>
            <a:chOff x="0" y="0"/>
            <a:chExt cx="7488" cy="2080"/>
          </a:xfrm>
        </p:grpSpPr>
        <p:grpSp>
          <p:nvGrpSpPr>
            <p:cNvPr id="157725" name="Group 8"/>
            <p:cNvGrpSpPr>
              <a:grpSpLocks/>
            </p:cNvGrpSpPr>
            <p:nvPr/>
          </p:nvGrpSpPr>
          <p:grpSpPr bwMode="auto">
            <a:xfrm>
              <a:off x="0" y="702"/>
              <a:ext cx="1440" cy="1378"/>
              <a:chOff x="0" y="-18"/>
              <a:chExt cx="1440" cy="1378"/>
            </a:xfrm>
          </p:grpSpPr>
          <p:sp>
            <p:nvSpPr>
              <p:cNvPr id="157731" name="Rectangle 6"/>
              <p:cNvSpPr>
                <a:spLocks/>
              </p:cNvSpPr>
              <p:nvPr/>
            </p:nvSpPr>
            <p:spPr bwMode="auto">
              <a:xfrm>
                <a:off x="0" y="0"/>
                <a:ext cx="1440" cy="1360"/>
              </a:xfrm>
              <a:prstGeom prst="rect">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32" name="Rectangle 7"/>
              <p:cNvSpPr>
                <a:spLocks/>
              </p:cNvSpPr>
              <p:nvPr/>
            </p:nvSpPr>
            <p:spPr bwMode="auto">
              <a:xfrm>
                <a:off x="0" y="-18"/>
                <a:ext cx="1440" cy="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dirty="0">
                    <a:solidFill>
                      <a:srgbClr val="FFFFFF"/>
                    </a:solidFill>
                    <a:cs typeface="Arial" pitchFamily="34" charset="0"/>
                  </a:rPr>
                  <a:t>Insulin promotes uptake of glucose by cells and conversion of glucose to stored glycogen or fat in the liver.</a:t>
                </a:r>
              </a:p>
            </p:txBody>
          </p:sp>
        </p:grpSp>
        <p:grpSp>
          <p:nvGrpSpPr>
            <p:cNvPr id="157726" name="Group 11"/>
            <p:cNvGrpSpPr>
              <a:grpSpLocks/>
            </p:cNvGrpSpPr>
            <p:nvPr/>
          </p:nvGrpSpPr>
          <p:grpSpPr bwMode="auto">
            <a:xfrm>
              <a:off x="6216" y="784"/>
              <a:ext cx="1272" cy="1144"/>
              <a:chOff x="0" y="0"/>
              <a:chExt cx="1272" cy="1144"/>
            </a:xfrm>
          </p:grpSpPr>
          <p:sp>
            <p:nvSpPr>
              <p:cNvPr id="157729" name="Rectangle 9"/>
              <p:cNvSpPr>
                <a:spLocks/>
              </p:cNvSpPr>
              <p:nvPr/>
            </p:nvSpPr>
            <p:spPr bwMode="auto">
              <a:xfrm>
                <a:off x="0" y="0"/>
                <a:ext cx="1272" cy="1144"/>
              </a:xfrm>
              <a:prstGeom prst="rect">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30" name="Rectangle 10"/>
              <p:cNvSpPr>
                <a:spLocks/>
              </p:cNvSpPr>
              <p:nvPr/>
            </p:nvSpPr>
            <p:spPr bwMode="auto">
              <a:xfrm>
                <a:off x="80" y="48"/>
                <a:ext cx="1102" cy="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dirty="0">
                    <a:solidFill>
                      <a:srgbClr val="FFFFFF"/>
                    </a:solidFill>
                    <a:cs typeface="Arial" pitchFamily="34" charset="0"/>
                  </a:rPr>
                  <a:t>Glucagon stimulates breakdown of glycogen to glucose in the liver.</a:t>
                </a:r>
              </a:p>
            </p:txBody>
          </p:sp>
        </p:grpSp>
        <p:sp>
          <p:nvSpPr>
            <p:cNvPr id="157727" name="Freeform 12"/>
            <p:cNvSpPr>
              <a:spLocks/>
            </p:cNvSpPr>
            <p:nvPr/>
          </p:nvSpPr>
          <p:spPr bwMode="auto">
            <a:xfrm flipH="1">
              <a:off x="761" y="32"/>
              <a:ext cx="836" cy="670"/>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4509" y="3435"/>
                    <a:pt x="21600" y="21600"/>
                  </a:cubicBezTo>
                </a:path>
              </a:pathLst>
            </a:custGeom>
            <a:noFill/>
            <a:ln w="762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28" name="Freeform 13"/>
            <p:cNvSpPr>
              <a:spLocks/>
            </p:cNvSpPr>
            <p:nvPr/>
          </p:nvSpPr>
          <p:spPr bwMode="auto">
            <a:xfrm>
              <a:off x="5890" y="0"/>
              <a:ext cx="958" cy="785"/>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6792" y="3087"/>
                    <a:pt x="21600" y="21600"/>
                  </a:cubicBezTo>
                </a:path>
              </a:pathLst>
            </a:custGeom>
            <a:noFill/>
            <a:ln w="762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grpSp>
        <p:nvGrpSpPr>
          <p:cNvPr id="6" name="Group 25"/>
          <p:cNvGrpSpPr>
            <a:grpSpLocks/>
          </p:cNvGrpSpPr>
          <p:nvPr/>
        </p:nvGrpSpPr>
        <p:grpSpPr bwMode="auto">
          <a:xfrm>
            <a:off x="1821656" y="2848570"/>
            <a:ext cx="5786438" cy="1362894"/>
            <a:chOff x="0" y="0"/>
            <a:chExt cx="5184" cy="1221"/>
          </a:xfrm>
        </p:grpSpPr>
        <p:grpSp>
          <p:nvGrpSpPr>
            <p:cNvPr id="157715" name="Group 17"/>
            <p:cNvGrpSpPr>
              <a:grpSpLocks/>
            </p:cNvGrpSpPr>
            <p:nvPr/>
          </p:nvGrpSpPr>
          <p:grpSpPr bwMode="auto">
            <a:xfrm>
              <a:off x="416" y="0"/>
              <a:ext cx="552" cy="536"/>
              <a:chOff x="0" y="0"/>
              <a:chExt cx="552" cy="536"/>
            </a:xfrm>
          </p:grpSpPr>
          <p:sp>
            <p:nvSpPr>
              <p:cNvPr id="157723" name="Oval 15"/>
              <p:cNvSpPr>
                <a:spLocks/>
              </p:cNvSpPr>
              <p:nvPr/>
            </p:nvSpPr>
            <p:spPr bwMode="auto">
              <a:xfrm>
                <a:off x="16" y="0"/>
                <a:ext cx="536" cy="536"/>
              </a:xfrm>
              <a:prstGeom prst="ellipse">
                <a:avLst/>
              </a:prstGeom>
              <a:solidFill>
                <a:srgbClr val="B6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24" name="Rectangle 16"/>
              <p:cNvSpPr>
                <a:spLocks/>
              </p:cNvSpPr>
              <p:nvPr/>
            </p:nvSpPr>
            <p:spPr bwMode="auto">
              <a:xfrm>
                <a:off x="0" y="88"/>
                <a:ext cx="496"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600" dirty="0">
                    <a:solidFill>
                      <a:srgbClr val="005481"/>
                    </a:solidFill>
                    <a:cs typeface="Arial" pitchFamily="34" charset="0"/>
                  </a:rPr>
                  <a:t>Beta cells</a:t>
                </a:r>
              </a:p>
            </p:txBody>
          </p:sp>
        </p:grpSp>
        <p:grpSp>
          <p:nvGrpSpPr>
            <p:cNvPr id="157716" name="Group 20"/>
            <p:cNvGrpSpPr>
              <a:grpSpLocks/>
            </p:cNvGrpSpPr>
            <p:nvPr/>
          </p:nvGrpSpPr>
          <p:grpSpPr bwMode="auto">
            <a:xfrm>
              <a:off x="4093" y="0"/>
              <a:ext cx="571" cy="536"/>
              <a:chOff x="-27" y="0"/>
              <a:chExt cx="571" cy="536"/>
            </a:xfrm>
          </p:grpSpPr>
          <p:sp>
            <p:nvSpPr>
              <p:cNvPr id="157721" name="Oval 18"/>
              <p:cNvSpPr>
                <a:spLocks/>
              </p:cNvSpPr>
              <p:nvPr/>
            </p:nvSpPr>
            <p:spPr bwMode="auto">
              <a:xfrm>
                <a:off x="8" y="0"/>
                <a:ext cx="536" cy="536"/>
              </a:xfrm>
              <a:prstGeom prst="ellipse">
                <a:avLst/>
              </a:prstGeom>
              <a:solidFill>
                <a:srgbClr val="B6DEE8"/>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22" name="Rectangle 19"/>
              <p:cNvSpPr>
                <a:spLocks/>
              </p:cNvSpPr>
              <p:nvPr/>
            </p:nvSpPr>
            <p:spPr bwMode="auto">
              <a:xfrm>
                <a:off x="-27" y="88"/>
                <a:ext cx="523"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dirty="0">
                    <a:solidFill>
                      <a:srgbClr val="005481"/>
                    </a:solidFill>
                    <a:cs typeface="Arial" pitchFamily="34" charset="0"/>
                  </a:rPr>
                  <a:t>Alpha cells</a:t>
                </a:r>
              </a:p>
            </p:txBody>
          </p:sp>
        </p:grpSp>
        <p:sp>
          <p:nvSpPr>
            <p:cNvPr id="157717" name="Rectangle 21"/>
            <p:cNvSpPr>
              <a:spLocks/>
            </p:cNvSpPr>
            <p:nvPr/>
          </p:nvSpPr>
          <p:spPr bwMode="auto">
            <a:xfrm>
              <a:off x="0" y="584"/>
              <a:ext cx="13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i="1" dirty="0">
                  <a:solidFill>
                    <a:srgbClr val="005481"/>
                  </a:solidFill>
                  <a:cs typeface="Arial" pitchFamily="34" charset="0"/>
                </a:rPr>
                <a:t>Stimulates β cells to secrete insulin</a:t>
              </a:r>
            </a:p>
          </p:txBody>
        </p:sp>
        <p:sp>
          <p:nvSpPr>
            <p:cNvPr id="157718" name="Rectangle 22"/>
            <p:cNvSpPr>
              <a:spLocks/>
            </p:cNvSpPr>
            <p:nvPr/>
          </p:nvSpPr>
          <p:spPr bwMode="auto">
            <a:xfrm>
              <a:off x="3656" y="560"/>
              <a:ext cx="152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i="1" dirty="0">
                  <a:solidFill>
                    <a:srgbClr val="005481"/>
                  </a:solidFill>
                  <a:cs typeface="Arial" pitchFamily="34" charset="0"/>
                </a:rPr>
                <a:t>Stimulates α cells to secrete glucagon</a:t>
              </a:r>
            </a:p>
          </p:txBody>
        </p:sp>
        <p:sp>
          <p:nvSpPr>
            <p:cNvPr id="157719" name="Freeform 23"/>
            <p:cNvSpPr>
              <a:spLocks/>
            </p:cNvSpPr>
            <p:nvPr/>
          </p:nvSpPr>
          <p:spPr bwMode="auto">
            <a:xfrm>
              <a:off x="973" y="266"/>
              <a:ext cx="1109" cy="955"/>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7061" y="3467"/>
                    <a:pt x="21600" y="21600"/>
                  </a:cubicBezTo>
                </a:path>
              </a:pathLst>
            </a:custGeom>
            <a:noFill/>
            <a:ln w="762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20" name="Freeform 24"/>
            <p:cNvSpPr>
              <a:spLocks/>
            </p:cNvSpPr>
            <p:nvPr/>
          </p:nvSpPr>
          <p:spPr bwMode="auto">
            <a:xfrm flipH="1">
              <a:off x="3160" y="296"/>
              <a:ext cx="933" cy="914"/>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6910" y="4849"/>
                    <a:pt x="21600" y="21600"/>
                  </a:cubicBezTo>
                </a:path>
              </a:pathLst>
            </a:custGeom>
            <a:noFill/>
            <a:ln w="762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grpSp>
        <p:nvGrpSpPr>
          <p:cNvPr id="9" name="Group 28"/>
          <p:cNvGrpSpPr>
            <a:grpSpLocks/>
          </p:cNvGrpSpPr>
          <p:nvPr/>
        </p:nvGrpSpPr>
        <p:grpSpPr bwMode="auto">
          <a:xfrm>
            <a:off x="3324076" y="5027414"/>
            <a:ext cx="2726904" cy="1000125"/>
            <a:chOff x="0" y="0"/>
            <a:chExt cx="2442" cy="896"/>
          </a:xfrm>
        </p:grpSpPr>
        <p:sp>
          <p:nvSpPr>
            <p:cNvPr id="157713" name="Freeform 26"/>
            <p:cNvSpPr>
              <a:spLocks/>
            </p:cNvSpPr>
            <p:nvPr/>
          </p:nvSpPr>
          <p:spPr bwMode="auto">
            <a:xfrm rot="10800000" flipH="1">
              <a:off x="0" y="10"/>
              <a:ext cx="730" cy="886"/>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5542" y="4497"/>
                    <a:pt x="21600" y="21600"/>
                  </a:cubicBezTo>
                </a:path>
              </a:pathLst>
            </a:custGeom>
            <a:noFill/>
            <a:ln w="762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14" name="Freeform 27"/>
            <p:cNvSpPr>
              <a:spLocks/>
            </p:cNvSpPr>
            <p:nvPr/>
          </p:nvSpPr>
          <p:spPr bwMode="auto">
            <a:xfrm rot="10800000">
              <a:off x="1802" y="0"/>
              <a:ext cx="640" cy="821"/>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6560" y="6171"/>
                    <a:pt x="21600" y="21600"/>
                  </a:cubicBezTo>
                </a:path>
              </a:pathLst>
            </a:custGeom>
            <a:noFill/>
            <a:ln w="76200">
              <a:solidFill>
                <a:srgbClr val="000000"/>
              </a:solidFill>
              <a:miter lim="800000"/>
              <a:headEnd/>
              <a:tailEnd type="stealth" w="med"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grpSp>
        <p:nvGrpSpPr>
          <p:cNvPr id="10" name="Group 37"/>
          <p:cNvGrpSpPr>
            <a:grpSpLocks/>
          </p:cNvGrpSpPr>
          <p:nvPr/>
        </p:nvGrpSpPr>
        <p:grpSpPr bwMode="auto">
          <a:xfrm>
            <a:off x="1461121" y="5328791"/>
            <a:ext cx="6725171" cy="1100584"/>
            <a:chOff x="0" y="0"/>
            <a:chExt cx="6025" cy="985"/>
          </a:xfrm>
        </p:grpSpPr>
        <p:grpSp>
          <p:nvGrpSpPr>
            <p:cNvPr id="157705" name="Group 31"/>
            <p:cNvGrpSpPr>
              <a:grpSpLocks/>
            </p:cNvGrpSpPr>
            <p:nvPr/>
          </p:nvGrpSpPr>
          <p:grpSpPr bwMode="auto">
            <a:xfrm>
              <a:off x="426" y="305"/>
              <a:ext cx="1184" cy="672"/>
              <a:chOff x="0" y="0"/>
              <a:chExt cx="1184" cy="672"/>
            </a:xfrm>
          </p:grpSpPr>
          <p:sp>
            <p:nvSpPr>
              <p:cNvPr id="157711" name="Rectangle 29"/>
              <p:cNvSpPr>
                <a:spLocks/>
              </p:cNvSpPr>
              <p:nvPr/>
            </p:nvSpPr>
            <p:spPr bwMode="auto">
              <a:xfrm>
                <a:off x="0" y="0"/>
                <a:ext cx="1184" cy="672"/>
              </a:xfrm>
              <a:prstGeom prst="rect">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12" name="Rectangle 30"/>
              <p:cNvSpPr>
                <a:spLocks/>
              </p:cNvSpPr>
              <p:nvPr/>
            </p:nvSpPr>
            <p:spPr bwMode="auto">
              <a:xfrm>
                <a:off x="0" y="0"/>
                <a:ext cx="1184" cy="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dirty="0">
                    <a:solidFill>
                      <a:srgbClr val="FFFFFF"/>
                    </a:solidFill>
                    <a:cs typeface="Arial" pitchFamily="34" charset="0"/>
                  </a:rPr>
                  <a:t>Uptake of glucose from blood</a:t>
                </a:r>
              </a:p>
            </p:txBody>
          </p:sp>
        </p:grpSp>
        <p:grpSp>
          <p:nvGrpSpPr>
            <p:cNvPr id="157706" name="Group 34"/>
            <p:cNvGrpSpPr>
              <a:grpSpLocks/>
            </p:cNvGrpSpPr>
            <p:nvPr/>
          </p:nvGrpSpPr>
          <p:grpSpPr bwMode="auto">
            <a:xfrm>
              <a:off x="4146" y="313"/>
              <a:ext cx="1184" cy="672"/>
              <a:chOff x="0" y="0"/>
              <a:chExt cx="1184" cy="672"/>
            </a:xfrm>
          </p:grpSpPr>
          <p:sp>
            <p:nvSpPr>
              <p:cNvPr id="157709" name="Rectangle 32"/>
              <p:cNvSpPr>
                <a:spLocks/>
              </p:cNvSpPr>
              <p:nvPr/>
            </p:nvSpPr>
            <p:spPr bwMode="auto">
              <a:xfrm>
                <a:off x="0" y="0"/>
                <a:ext cx="1184" cy="672"/>
              </a:xfrm>
              <a:prstGeom prst="rect">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10" name="Rectangle 33"/>
              <p:cNvSpPr>
                <a:spLocks/>
              </p:cNvSpPr>
              <p:nvPr/>
            </p:nvSpPr>
            <p:spPr bwMode="auto">
              <a:xfrm>
                <a:off x="0" y="0"/>
                <a:ext cx="1184" cy="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400" dirty="0">
                    <a:solidFill>
                      <a:srgbClr val="FFFFFF"/>
                    </a:solidFill>
                    <a:cs typeface="Arial" pitchFamily="34" charset="0"/>
                  </a:rPr>
                  <a:t>Release of glucose into the blood</a:t>
                </a:r>
              </a:p>
            </p:txBody>
          </p:sp>
        </p:grpSp>
        <p:sp>
          <p:nvSpPr>
            <p:cNvPr id="157707" name="Freeform 35"/>
            <p:cNvSpPr>
              <a:spLocks/>
            </p:cNvSpPr>
            <p:nvPr/>
          </p:nvSpPr>
          <p:spPr bwMode="auto">
            <a:xfrm rot="10800000">
              <a:off x="0" y="172"/>
              <a:ext cx="405" cy="394"/>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3360" y="6947"/>
                    <a:pt x="21600" y="21600"/>
                  </a:cubicBezTo>
                </a:path>
              </a:pathLst>
            </a:custGeom>
            <a:noFill/>
            <a:ln w="762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7708" name="Freeform 36"/>
            <p:cNvSpPr>
              <a:spLocks/>
            </p:cNvSpPr>
            <p:nvPr/>
          </p:nvSpPr>
          <p:spPr bwMode="auto">
            <a:xfrm rot="10800000" flipH="1">
              <a:off x="5376" y="0"/>
              <a:ext cx="649" cy="588"/>
            </a:xfrm>
            <a:custGeom>
              <a:avLst/>
              <a:gdLst>
                <a:gd name="T0" fmla="*/ 0 w 21600"/>
                <a:gd name="T1" fmla="*/ 0 h 21600"/>
                <a:gd name="T2" fmla="*/ 0 w 21600"/>
                <a:gd name="T3" fmla="*/ 0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cubicBezTo>
                    <a:pt x="0" y="0"/>
                    <a:pt x="14572" y="920"/>
                    <a:pt x="21600" y="21600"/>
                  </a:cubicBezTo>
                </a:path>
              </a:pathLst>
            </a:custGeom>
            <a:noFill/>
            <a:ln w="76200">
              <a:solidFill>
                <a:srgbClr val="000000"/>
              </a:solidFill>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spTree>
    <p:extLst>
      <p:ext uri="{BB962C8B-B14F-4D97-AF65-F5344CB8AC3E}">
        <p14:creationId xmlns:p14="http://schemas.microsoft.com/office/powerpoint/2010/main" val="373211832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373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373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373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build="p" bldLvl="5"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1"/>
          <p:cNvSpPr>
            <a:spLocks/>
          </p:cNvSpPr>
          <p:nvPr/>
        </p:nvSpPr>
        <p:spPr bwMode="auto">
          <a:xfrm>
            <a:off x="5241727" y="1268016"/>
            <a:ext cx="3902273" cy="4741664"/>
          </a:xfrm>
          <a:prstGeom prst="rect">
            <a:avLst/>
          </a:prstGeom>
          <a:solidFill>
            <a:schemeClr val="accent1">
              <a:alpha val="49803"/>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23" name="Rectangle 2"/>
          <p:cNvSpPr>
            <a:spLocks noGrp="1" noChangeArrowheads="1"/>
          </p:cNvSpPr>
          <p:nvPr>
            <p:ph type="title"/>
          </p:nvPr>
        </p:nvSpPr>
        <p:spPr/>
        <p:txBody>
          <a:bodyPr/>
          <a:lstStyle/>
          <a:p>
            <a:pPr>
              <a:tabLst>
                <a:tab pos="669703" algn="l"/>
              </a:tabLst>
            </a:pPr>
            <a:r>
              <a:rPr lang="en-US" altLang="en-US"/>
              <a:t>Insulin Signaling Pathway</a:t>
            </a:r>
          </a:p>
        </p:txBody>
      </p:sp>
      <p:grpSp>
        <p:nvGrpSpPr>
          <p:cNvPr id="2" name="Group 53"/>
          <p:cNvGrpSpPr>
            <a:grpSpLocks/>
          </p:cNvGrpSpPr>
          <p:nvPr/>
        </p:nvGrpSpPr>
        <p:grpSpPr bwMode="auto">
          <a:xfrm>
            <a:off x="5195963" y="1303734"/>
            <a:ext cx="4099842" cy="4661297"/>
            <a:chOff x="0" y="0"/>
            <a:chExt cx="3672" cy="4176"/>
          </a:xfrm>
        </p:grpSpPr>
        <p:grpSp>
          <p:nvGrpSpPr>
            <p:cNvPr id="158732" name="Group 50"/>
            <p:cNvGrpSpPr>
              <a:grpSpLocks/>
            </p:cNvGrpSpPr>
            <p:nvPr/>
          </p:nvGrpSpPr>
          <p:grpSpPr bwMode="auto">
            <a:xfrm>
              <a:off x="0" y="0"/>
              <a:ext cx="3672" cy="4176"/>
              <a:chOff x="0" y="0"/>
              <a:chExt cx="3672" cy="4176"/>
            </a:xfrm>
          </p:grpSpPr>
          <p:sp>
            <p:nvSpPr>
              <p:cNvPr id="158735" name="Rectangle 3"/>
              <p:cNvSpPr>
                <a:spLocks/>
              </p:cNvSpPr>
              <p:nvPr/>
            </p:nvSpPr>
            <p:spPr bwMode="auto">
              <a:xfrm>
                <a:off x="71" y="1640"/>
                <a:ext cx="3464" cy="824"/>
              </a:xfrm>
              <a:prstGeom prst="rect">
                <a:avLst/>
              </a:prstGeom>
              <a:solidFill>
                <a:schemeClr val="accent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36" name="Rectangle 4"/>
              <p:cNvSpPr>
                <a:spLocks/>
              </p:cNvSpPr>
              <p:nvPr/>
            </p:nvSpPr>
            <p:spPr bwMode="auto">
              <a:xfrm>
                <a:off x="76" y="0"/>
                <a:ext cx="3456" cy="1578"/>
              </a:xfrm>
              <a:prstGeom prst="rect">
                <a:avLst/>
              </a:prstGeom>
              <a:gradFill rotWithShape="0">
                <a:gsLst>
                  <a:gs pos="0">
                    <a:srgbClr val="0080FF">
                      <a:alpha val="59998"/>
                    </a:srgbClr>
                  </a:gs>
                  <a:gs pos="100000">
                    <a:srgbClr val="DCF0F5"/>
                  </a:gs>
                </a:gsLst>
                <a:lin ang="1626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37" name="Rectangle 5"/>
              <p:cNvSpPr>
                <a:spLocks/>
              </p:cNvSpPr>
              <p:nvPr/>
            </p:nvSpPr>
            <p:spPr bwMode="auto">
              <a:xfrm>
                <a:off x="71" y="2416"/>
                <a:ext cx="3464" cy="1760"/>
              </a:xfrm>
              <a:prstGeom prst="rect">
                <a:avLst/>
              </a:prstGeom>
              <a:solidFill>
                <a:srgbClr val="FFCC66">
                  <a:alpha val="88626"/>
                </a:srgb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nvGrpSpPr>
              <p:cNvPr id="158738" name="Group 34"/>
              <p:cNvGrpSpPr>
                <a:grpSpLocks/>
              </p:cNvGrpSpPr>
              <p:nvPr/>
            </p:nvGrpSpPr>
            <p:grpSpPr bwMode="auto">
              <a:xfrm>
                <a:off x="0" y="1417"/>
                <a:ext cx="3672" cy="1128"/>
                <a:chOff x="0" y="0"/>
                <a:chExt cx="3672" cy="1128"/>
              </a:xfrm>
            </p:grpSpPr>
            <p:grpSp>
              <p:nvGrpSpPr>
                <p:cNvPr id="158754" name="Group 19"/>
                <p:cNvGrpSpPr>
                  <a:grpSpLocks/>
                </p:cNvGrpSpPr>
                <p:nvPr/>
              </p:nvGrpSpPr>
              <p:grpSpPr bwMode="auto">
                <a:xfrm rot="10800000" flipH="1">
                  <a:off x="23" y="526"/>
                  <a:ext cx="3649" cy="602"/>
                  <a:chOff x="0" y="0"/>
                  <a:chExt cx="3648" cy="601"/>
                </a:xfrm>
              </p:grpSpPr>
              <p:pic>
                <p:nvPicPr>
                  <p:cNvPr id="1587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8"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1"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2"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 y="0"/>
                    <a:ext cx="33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3"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 y="0"/>
                    <a:ext cx="33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4"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6"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7"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 y="0"/>
                    <a:ext cx="33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8"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79"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80"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81"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grpSp>
              <p:nvGrpSpPr>
                <p:cNvPr id="158755" name="Group 33"/>
                <p:cNvGrpSpPr>
                  <a:grpSpLocks/>
                </p:cNvGrpSpPr>
                <p:nvPr/>
              </p:nvGrpSpPr>
              <p:grpSpPr bwMode="auto">
                <a:xfrm>
                  <a:off x="0" y="0"/>
                  <a:ext cx="3648" cy="601"/>
                  <a:chOff x="0" y="0"/>
                  <a:chExt cx="3648" cy="601"/>
                </a:xfrm>
              </p:grpSpPr>
              <p:pic>
                <p:nvPicPr>
                  <p:cNvPr id="158756"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8"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57"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58" name="Picture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59" name="Picture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 y="0"/>
                    <a:ext cx="33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0"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 y="0"/>
                    <a:ext cx="33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1"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4"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2"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9"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3"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4"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 y="0"/>
                    <a:ext cx="331"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5"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6" name="Picture 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7" name="Picture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pic>
                <p:nvPicPr>
                  <p:cNvPr id="158768" name="Picture 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3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grpSp>
          <p:grpSp>
            <p:nvGrpSpPr>
              <p:cNvPr id="158739" name="Group 43"/>
              <p:cNvGrpSpPr>
                <a:grpSpLocks/>
              </p:cNvGrpSpPr>
              <p:nvPr/>
            </p:nvGrpSpPr>
            <p:grpSpPr bwMode="auto">
              <a:xfrm>
                <a:off x="846" y="501"/>
                <a:ext cx="1744" cy="3288"/>
                <a:chOff x="0" y="0"/>
                <a:chExt cx="1744" cy="3288"/>
              </a:xfrm>
            </p:grpSpPr>
            <p:grpSp>
              <p:nvGrpSpPr>
                <p:cNvPr id="158746" name="Group 38"/>
                <p:cNvGrpSpPr>
                  <a:grpSpLocks/>
                </p:cNvGrpSpPr>
                <p:nvPr/>
              </p:nvGrpSpPr>
              <p:grpSpPr bwMode="auto">
                <a:xfrm>
                  <a:off x="1104" y="0"/>
                  <a:ext cx="640" cy="3288"/>
                  <a:chOff x="0" y="0"/>
                  <a:chExt cx="639" cy="3288"/>
                </a:xfrm>
              </p:grpSpPr>
              <p:sp>
                <p:nvSpPr>
                  <p:cNvPr id="158751" name="Freeform 35"/>
                  <p:cNvSpPr>
                    <a:spLocks/>
                  </p:cNvSpPr>
                  <p:nvPr/>
                </p:nvSpPr>
                <p:spPr bwMode="auto">
                  <a:xfrm flipH="1">
                    <a:off x="196" y="0"/>
                    <a:ext cx="443" cy="801"/>
                  </a:xfrm>
                  <a:custGeom>
                    <a:avLst/>
                    <a:gdLst>
                      <a:gd name="T0" fmla="*/ 0 w 20603"/>
                      <a:gd name="T1" fmla="*/ 0 h 20860"/>
                      <a:gd name="T2" fmla="*/ 0 w 20603"/>
                      <a:gd name="T3" fmla="*/ 0 h 20860"/>
                      <a:gd name="T4" fmla="*/ 0 w 20603"/>
                      <a:gd name="T5" fmla="*/ 0 h 20860"/>
                      <a:gd name="T6" fmla="*/ 0 w 20603"/>
                      <a:gd name="T7" fmla="*/ 0 h 20860"/>
                      <a:gd name="T8" fmla="*/ 0 w 20603"/>
                      <a:gd name="T9" fmla="*/ 0 h 20860"/>
                      <a:gd name="T10" fmla="*/ 0 w 20603"/>
                      <a:gd name="T11" fmla="*/ 0 h 20860"/>
                      <a:gd name="T12" fmla="*/ 0 w 20603"/>
                      <a:gd name="T13" fmla="*/ 0 h 20860"/>
                      <a:gd name="T14" fmla="*/ 0 w 20603"/>
                      <a:gd name="T15" fmla="*/ 0 h 20860"/>
                      <a:gd name="T16" fmla="*/ 0 w 20603"/>
                      <a:gd name="T17" fmla="*/ 0 h 20860"/>
                      <a:gd name="T18" fmla="*/ 0 w 20603"/>
                      <a:gd name="T19" fmla="*/ 0 h 208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603"/>
                      <a:gd name="T31" fmla="*/ 0 h 20860"/>
                      <a:gd name="T32" fmla="*/ 20603 w 20603"/>
                      <a:gd name="T33" fmla="*/ 20860 h 208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603" h="20860">
                        <a:moveTo>
                          <a:pt x="16184" y="20860"/>
                        </a:moveTo>
                        <a:cubicBezTo>
                          <a:pt x="14895" y="20152"/>
                          <a:pt x="9336" y="18510"/>
                          <a:pt x="8450" y="16609"/>
                        </a:cubicBezTo>
                        <a:cubicBezTo>
                          <a:pt x="7564" y="14707"/>
                          <a:pt x="13354" y="13102"/>
                          <a:pt x="11764" y="11377"/>
                        </a:cubicBezTo>
                        <a:cubicBezTo>
                          <a:pt x="10175" y="9652"/>
                          <a:pt x="3859" y="11359"/>
                          <a:pt x="1821" y="9415"/>
                        </a:cubicBezTo>
                        <a:cubicBezTo>
                          <a:pt x="-217" y="7471"/>
                          <a:pt x="-997" y="3780"/>
                          <a:pt x="1821" y="1894"/>
                        </a:cubicBezTo>
                        <a:cubicBezTo>
                          <a:pt x="4639" y="8"/>
                          <a:pt x="11734" y="-740"/>
                          <a:pt x="14526" y="913"/>
                        </a:cubicBezTo>
                        <a:cubicBezTo>
                          <a:pt x="17319" y="2566"/>
                          <a:pt x="9366" y="4897"/>
                          <a:pt x="10107" y="6799"/>
                        </a:cubicBezTo>
                        <a:cubicBezTo>
                          <a:pt x="10849" y="8701"/>
                          <a:pt x="16770" y="7794"/>
                          <a:pt x="17841" y="9415"/>
                        </a:cubicBezTo>
                        <a:cubicBezTo>
                          <a:pt x="18912" y="11036"/>
                          <a:pt x="14552" y="12636"/>
                          <a:pt x="15079" y="14320"/>
                        </a:cubicBezTo>
                        <a:cubicBezTo>
                          <a:pt x="15606" y="16004"/>
                          <a:pt x="19682" y="17590"/>
                          <a:pt x="20603" y="18244"/>
                        </a:cubicBezTo>
                      </a:path>
                    </a:pathLst>
                  </a:custGeom>
                  <a:solidFill>
                    <a:srgbClr val="80004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52" name="AutoShape 36"/>
                  <p:cNvSpPr>
                    <a:spLocks/>
                  </p:cNvSpPr>
                  <p:nvPr/>
                </p:nvSpPr>
                <p:spPr bwMode="auto">
                  <a:xfrm>
                    <a:off x="100" y="2422"/>
                    <a:ext cx="145" cy="866"/>
                  </a:xfrm>
                  <a:prstGeom prst="roundRect">
                    <a:avLst>
                      <a:gd name="adj" fmla="val 50000"/>
                    </a:avLst>
                  </a:prstGeom>
                  <a:solidFill>
                    <a:srgbClr val="80004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53" name="AutoShape 37"/>
                  <p:cNvSpPr>
                    <a:spLocks/>
                  </p:cNvSpPr>
                  <p:nvPr/>
                </p:nvSpPr>
                <p:spPr bwMode="auto">
                  <a:xfrm>
                    <a:off x="0" y="638"/>
                    <a:ext cx="336" cy="2068"/>
                  </a:xfrm>
                  <a:prstGeom prst="roundRect">
                    <a:avLst>
                      <a:gd name="adj" fmla="val 35648"/>
                    </a:avLst>
                  </a:prstGeom>
                  <a:solidFill>
                    <a:srgbClr val="80004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grpSp>
              <p:nvGrpSpPr>
                <p:cNvPr id="158747" name="Group 42"/>
                <p:cNvGrpSpPr>
                  <a:grpSpLocks/>
                </p:cNvGrpSpPr>
                <p:nvPr/>
              </p:nvGrpSpPr>
              <p:grpSpPr bwMode="auto">
                <a:xfrm>
                  <a:off x="0" y="0"/>
                  <a:ext cx="604" cy="3288"/>
                  <a:chOff x="0" y="0"/>
                  <a:chExt cx="604" cy="3288"/>
                </a:xfrm>
              </p:grpSpPr>
              <p:sp>
                <p:nvSpPr>
                  <p:cNvPr id="158748" name="AutoShape 39"/>
                  <p:cNvSpPr>
                    <a:spLocks/>
                  </p:cNvSpPr>
                  <p:nvPr/>
                </p:nvSpPr>
                <p:spPr bwMode="auto">
                  <a:xfrm>
                    <a:off x="367" y="2422"/>
                    <a:ext cx="146" cy="866"/>
                  </a:xfrm>
                  <a:prstGeom prst="roundRect">
                    <a:avLst>
                      <a:gd name="adj" fmla="val 50000"/>
                    </a:avLst>
                  </a:prstGeom>
                  <a:solidFill>
                    <a:srgbClr val="80004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49" name="Freeform 40"/>
                  <p:cNvSpPr>
                    <a:spLocks/>
                  </p:cNvSpPr>
                  <p:nvPr/>
                </p:nvSpPr>
                <p:spPr bwMode="auto">
                  <a:xfrm>
                    <a:off x="0" y="0"/>
                    <a:ext cx="443" cy="801"/>
                  </a:xfrm>
                  <a:custGeom>
                    <a:avLst/>
                    <a:gdLst>
                      <a:gd name="T0" fmla="*/ 0 w 20603"/>
                      <a:gd name="T1" fmla="*/ 0 h 20860"/>
                      <a:gd name="T2" fmla="*/ 0 w 20603"/>
                      <a:gd name="T3" fmla="*/ 0 h 20860"/>
                      <a:gd name="T4" fmla="*/ 0 w 20603"/>
                      <a:gd name="T5" fmla="*/ 0 h 20860"/>
                      <a:gd name="T6" fmla="*/ 0 w 20603"/>
                      <a:gd name="T7" fmla="*/ 0 h 20860"/>
                      <a:gd name="T8" fmla="*/ 0 w 20603"/>
                      <a:gd name="T9" fmla="*/ 0 h 20860"/>
                      <a:gd name="T10" fmla="*/ 0 w 20603"/>
                      <a:gd name="T11" fmla="*/ 0 h 20860"/>
                      <a:gd name="T12" fmla="*/ 0 w 20603"/>
                      <a:gd name="T13" fmla="*/ 0 h 20860"/>
                      <a:gd name="T14" fmla="*/ 0 w 20603"/>
                      <a:gd name="T15" fmla="*/ 0 h 20860"/>
                      <a:gd name="T16" fmla="*/ 0 w 20603"/>
                      <a:gd name="T17" fmla="*/ 0 h 20860"/>
                      <a:gd name="T18" fmla="*/ 0 w 20603"/>
                      <a:gd name="T19" fmla="*/ 0 h 208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603"/>
                      <a:gd name="T31" fmla="*/ 0 h 20860"/>
                      <a:gd name="T32" fmla="*/ 20603 w 20603"/>
                      <a:gd name="T33" fmla="*/ 20860 h 2086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603" h="20860">
                        <a:moveTo>
                          <a:pt x="16184" y="20860"/>
                        </a:moveTo>
                        <a:cubicBezTo>
                          <a:pt x="14895" y="20152"/>
                          <a:pt x="9336" y="18510"/>
                          <a:pt x="8450" y="16609"/>
                        </a:cubicBezTo>
                        <a:cubicBezTo>
                          <a:pt x="7564" y="14707"/>
                          <a:pt x="13354" y="13102"/>
                          <a:pt x="11764" y="11377"/>
                        </a:cubicBezTo>
                        <a:cubicBezTo>
                          <a:pt x="10175" y="9652"/>
                          <a:pt x="3859" y="11359"/>
                          <a:pt x="1821" y="9415"/>
                        </a:cubicBezTo>
                        <a:cubicBezTo>
                          <a:pt x="-217" y="7471"/>
                          <a:pt x="-997" y="3780"/>
                          <a:pt x="1821" y="1894"/>
                        </a:cubicBezTo>
                        <a:cubicBezTo>
                          <a:pt x="4639" y="8"/>
                          <a:pt x="11734" y="-740"/>
                          <a:pt x="14526" y="913"/>
                        </a:cubicBezTo>
                        <a:cubicBezTo>
                          <a:pt x="17319" y="2566"/>
                          <a:pt x="9366" y="4897"/>
                          <a:pt x="10107" y="6799"/>
                        </a:cubicBezTo>
                        <a:cubicBezTo>
                          <a:pt x="10849" y="8701"/>
                          <a:pt x="16770" y="7794"/>
                          <a:pt x="17841" y="9415"/>
                        </a:cubicBezTo>
                        <a:cubicBezTo>
                          <a:pt x="18912" y="11036"/>
                          <a:pt x="14552" y="12636"/>
                          <a:pt x="15079" y="14320"/>
                        </a:cubicBezTo>
                        <a:cubicBezTo>
                          <a:pt x="15606" y="16004"/>
                          <a:pt x="19682" y="17590"/>
                          <a:pt x="20603" y="18244"/>
                        </a:cubicBezTo>
                      </a:path>
                    </a:pathLst>
                  </a:custGeom>
                  <a:solidFill>
                    <a:srgbClr val="80004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50" name="AutoShape 41"/>
                  <p:cNvSpPr>
                    <a:spLocks/>
                  </p:cNvSpPr>
                  <p:nvPr/>
                </p:nvSpPr>
                <p:spPr bwMode="auto">
                  <a:xfrm>
                    <a:off x="267" y="638"/>
                    <a:ext cx="337" cy="2068"/>
                  </a:xfrm>
                  <a:prstGeom prst="roundRect">
                    <a:avLst>
                      <a:gd name="adj" fmla="val 35648"/>
                    </a:avLst>
                  </a:prstGeom>
                  <a:solidFill>
                    <a:srgbClr val="80004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grpSp>
          <p:sp>
            <p:nvSpPr>
              <p:cNvPr id="158740" name="Rectangle 44"/>
              <p:cNvSpPr>
                <a:spLocks/>
              </p:cNvSpPr>
              <p:nvPr/>
            </p:nvSpPr>
            <p:spPr bwMode="auto">
              <a:xfrm>
                <a:off x="144" y="48"/>
                <a:ext cx="10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0000"/>
                    </a:solidFill>
                    <a:cs typeface="Arial" pitchFamily="34" charset="0"/>
                  </a:rPr>
                  <a:t>Outside of cell</a:t>
                </a:r>
              </a:p>
            </p:txBody>
          </p:sp>
          <p:sp>
            <p:nvSpPr>
              <p:cNvPr id="158741" name="Rectangle 45"/>
              <p:cNvSpPr>
                <a:spLocks/>
              </p:cNvSpPr>
              <p:nvPr/>
            </p:nvSpPr>
            <p:spPr bwMode="auto">
              <a:xfrm>
                <a:off x="144" y="3944"/>
                <a:ext cx="86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0000"/>
                    </a:solidFill>
                    <a:cs typeface="Arial" pitchFamily="34" charset="0"/>
                  </a:rPr>
                  <a:t>Cell cytosol</a:t>
                </a:r>
              </a:p>
            </p:txBody>
          </p:sp>
          <p:sp>
            <p:nvSpPr>
              <p:cNvPr id="158742" name="Rectangle 46"/>
              <p:cNvSpPr>
                <a:spLocks/>
              </p:cNvSpPr>
              <p:nvPr/>
            </p:nvSpPr>
            <p:spPr bwMode="auto">
              <a:xfrm>
                <a:off x="2384" y="3424"/>
                <a:ext cx="95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0000"/>
                    </a:solidFill>
                    <a:cs typeface="Arial" pitchFamily="34" charset="0"/>
                  </a:rPr>
                  <a:t>Intracellular domain</a:t>
                </a:r>
              </a:p>
            </p:txBody>
          </p:sp>
          <p:sp>
            <p:nvSpPr>
              <p:cNvPr id="158743" name="Rectangle 47"/>
              <p:cNvSpPr>
                <a:spLocks/>
              </p:cNvSpPr>
              <p:nvPr/>
            </p:nvSpPr>
            <p:spPr bwMode="auto">
              <a:xfrm>
                <a:off x="2512" y="1064"/>
                <a:ext cx="91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0000"/>
                    </a:solidFill>
                    <a:cs typeface="Arial" pitchFamily="34" charset="0"/>
                  </a:rPr>
                  <a:t>Extracellular domain</a:t>
                </a:r>
              </a:p>
            </p:txBody>
          </p:sp>
          <p:sp>
            <p:nvSpPr>
              <p:cNvPr id="158744" name="Line 48"/>
              <p:cNvSpPr>
                <a:spLocks noChangeShapeType="1"/>
              </p:cNvSpPr>
              <p:nvPr/>
            </p:nvSpPr>
            <p:spPr bwMode="auto">
              <a:xfrm>
                <a:off x="2335" y="1146"/>
                <a:ext cx="204" cy="0"/>
              </a:xfrm>
              <a:prstGeom prst="line">
                <a:avLst/>
              </a:prstGeom>
              <a:noFill/>
              <a:ln w="25400">
                <a:solidFill>
                  <a:srgbClr val="FFFFFF"/>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sp>
            <p:nvSpPr>
              <p:cNvPr id="158745" name="Line 49"/>
              <p:cNvSpPr>
                <a:spLocks noChangeShapeType="1"/>
              </p:cNvSpPr>
              <p:nvPr/>
            </p:nvSpPr>
            <p:spPr bwMode="auto">
              <a:xfrm>
                <a:off x="2133" y="3512"/>
                <a:ext cx="318" cy="0"/>
              </a:xfrm>
              <a:prstGeom prst="line">
                <a:avLst/>
              </a:prstGeom>
              <a:noFill/>
              <a:ln w="25400">
                <a:solidFill>
                  <a:srgbClr val="FFFFFF"/>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
          <p:nvSpPr>
            <p:cNvPr id="158733" name="Freeform 51"/>
            <p:cNvSpPr>
              <a:spLocks/>
            </p:cNvSpPr>
            <p:nvPr/>
          </p:nvSpPr>
          <p:spPr bwMode="auto">
            <a:xfrm>
              <a:off x="1058" y="612"/>
              <a:ext cx="537" cy="230"/>
            </a:xfrm>
            <a:custGeom>
              <a:avLst/>
              <a:gdLst>
                <a:gd name="T0" fmla="*/ 0 w 17194"/>
                <a:gd name="T1" fmla="*/ 0 h 18737"/>
                <a:gd name="T2" fmla="*/ 0 w 17194"/>
                <a:gd name="T3" fmla="*/ 0 h 18737"/>
                <a:gd name="T4" fmla="*/ 0 w 17194"/>
                <a:gd name="T5" fmla="*/ 0 h 18737"/>
                <a:gd name="T6" fmla="*/ 0 w 17194"/>
                <a:gd name="T7" fmla="*/ 0 h 18737"/>
                <a:gd name="T8" fmla="*/ 0 w 17194"/>
                <a:gd name="T9" fmla="*/ 0 h 18737"/>
                <a:gd name="T10" fmla="*/ 0 w 17194"/>
                <a:gd name="T11" fmla="*/ 0 h 18737"/>
                <a:gd name="T12" fmla="*/ 0 w 17194"/>
                <a:gd name="T13" fmla="*/ 0 h 18737"/>
                <a:gd name="T14" fmla="*/ 0 60000 65536"/>
                <a:gd name="T15" fmla="*/ 0 60000 65536"/>
                <a:gd name="T16" fmla="*/ 0 60000 65536"/>
                <a:gd name="T17" fmla="*/ 0 60000 65536"/>
                <a:gd name="T18" fmla="*/ 0 60000 65536"/>
                <a:gd name="T19" fmla="*/ 0 60000 65536"/>
                <a:gd name="T20" fmla="*/ 0 60000 65536"/>
                <a:gd name="T21" fmla="*/ 0 w 17194"/>
                <a:gd name="T22" fmla="*/ 0 h 18737"/>
                <a:gd name="T23" fmla="*/ 17194 w 17194"/>
                <a:gd name="T24" fmla="*/ 18737 h 187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94" h="18737">
                  <a:moveTo>
                    <a:pt x="4948" y="232"/>
                  </a:moveTo>
                  <a:cubicBezTo>
                    <a:pt x="3238" y="2168"/>
                    <a:pt x="-2257" y="10847"/>
                    <a:pt x="995" y="15372"/>
                  </a:cubicBezTo>
                  <a:cubicBezTo>
                    <a:pt x="4248" y="19896"/>
                    <a:pt x="12830" y="19703"/>
                    <a:pt x="16086" y="15727"/>
                  </a:cubicBezTo>
                  <a:cubicBezTo>
                    <a:pt x="19343" y="11751"/>
                    <a:pt x="14554" y="2903"/>
                    <a:pt x="12853" y="896"/>
                  </a:cubicBezTo>
                  <a:cubicBezTo>
                    <a:pt x="11151" y="-1110"/>
                    <a:pt x="11090" y="10135"/>
                    <a:pt x="8730" y="8822"/>
                  </a:cubicBezTo>
                  <a:cubicBezTo>
                    <a:pt x="6725" y="7707"/>
                    <a:pt x="6658" y="-1704"/>
                    <a:pt x="4948" y="232"/>
                  </a:cubicBezTo>
                  <a:close/>
                  <a:moveTo>
                    <a:pt x="4948" y="232"/>
                  </a:moveTo>
                </a:path>
              </a:pathLst>
            </a:custGeom>
            <a:solidFill>
              <a:srgbClr val="00408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58734" name="Freeform 52"/>
            <p:cNvSpPr>
              <a:spLocks/>
            </p:cNvSpPr>
            <p:nvPr/>
          </p:nvSpPr>
          <p:spPr bwMode="auto">
            <a:xfrm>
              <a:off x="1850" y="612"/>
              <a:ext cx="537" cy="230"/>
            </a:xfrm>
            <a:custGeom>
              <a:avLst/>
              <a:gdLst>
                <a:gd name="T0" fmla="*/ 0 w 17194"/>
                <a:gd name="T1" fmla="*/ 0 h 18737"/>
                <a:gd name="T2" fmla="*/ 0 w 17194"/>
                <a:gd name="T3" fmla="*/ 0 h 18737"/>
                <a:gd name="T4" fmla="*/ 0 w 17194"/>
                <a:gd name="T5" fmla="*/ 0 h 18737"/>
                <a:gd name="T6" fmla="*/ 0 w 17194"/>
                <a:gd name="T7" fmla="*/ 0 h 18737"/>
                <a:gd name="T8" fmla="*/ 0 w 17194"/>
                <a:gd name="T9" fmla="*/ 0 h 18737"/>
                <a:gd name="T10" fmla="*/ 0 w 17194"/>
                <a:gd name="T11" fmla="*/ 0 h 18737"/>
                <a:gd name="T12" fmla="*/ 0 w 17194"/>
                <a:gd name="T13" fmla="*/ 0 h 18737"/>
                <a:gd name="T14" fmla="*/ 0 60000 65536"/>
                <a:gd name="T15" fmla="*/ 0 60000 65536"/>
                <a:gd name="T16" fmla="*/ 0 60000 65536"/>
                <a:gd name="T17" fmla="*/ 0 60000 65536"/>
                <a:gd name="T18" fmla="*/ 0 60000 65536"/>
                <a:gd name="T19" fmla="*/ 0 60000 65536"/>
                <a:gd name="T20" fmla="*/ 0 60000 65536"/>
                <a:gd name="T21" fmla="*/ 0 w 17194"/>
                <a:gd name="T22" fmla="*/ 0 h 18737"/>
                <a:gd name="T23" fmla="*/ 17194 w 17194"/>
                <a:gd name="T24" fmla="*/ 18737 h 187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94" h="18737">
                  <a:moveTo>
                    <a:pt x="4948" y="232"/>
                  </a:moveTo>
                  <a:cubicBezTo>
                    <a:pt x="3238" y="2168"/>
                    <a:pt x="-2257" y="10847"/>
                    <a:pt x="995" y="15372"/>
                  </a:cubicBezTo>
                  <a:cubicBezTo>
                    <a:pt x="4248" y="19896"/>
                    <a:pt x="12830" y="19703"/>
                    <a:pt x="16086" y="15727"/>
                  </a:cubicBezTo>
                  <a:cubicBezTo>
                    <a:pt x="19343" y="11751"/>
                    <a:pt x="14554" y="2903"/>
                    <a:pt x="12853" y="896"/>
                  </a:cubicBezTo>
                  <a:cubicBezTo>
                    <a:pt x="11151" y="-1110"/>
                    <a:pt x="11090" y="10135"/>
                    <a:pt x="8730" y="8822"/>
                  </a:cubicBezTo>
                  <a:cubicBezTo>
                    <a:pt x="6725" y="7707"/>
                    <a:pt x="6658" y="-1704"/>
                    <a:pt x="4948" y="232"/>
                  </a:cubicBezTo>
                  <a:close/>
                  <a:moveTo>
                    <a:pt x="4948" y="232"/>
                  </a:moveTo>
                </a:path>
              </a:pathLst>
            </a:custGeom>
            <a:solidFill>
              <a:srgbClr val="004080"/>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sp>
        <p:nvSpPr>
          <p:cNvPr id="74806" name="Rectangle 54"/>
          <p:cNvSpPr>
            <a:spLocks noGrp="1" noChangeArrowheads="1"/>
          </p:cNvSpPr>
          <p:nvPr>
            <p:ph type="body" idx="1"/>
          </p:nvPr>
        </p:nvSpPr>
        <p:spPr>
          <a:xfrm>
            <a:off x="250031" y="1259086"/>
            <a:ext cx="4563070" cy="5598914"/>
          </a:xfrm>
        </p:spPr>
        <p:txBody>
          <a:bodyPr>
            <a:normAutofit/>
          </a:bodyPr>
          <a:lstStyle/>
          <a:p>
            <a:pPr>
              <a:tabLst>
                <a:tab pos="721047" algn="l"/>
                <a:tab pos="1045853" algn="l"/>
              </a:tabLst>
            </a:pPr>
            <a:r>
              <a:rPr lang="en-US" altLang="en-US" b="1" dirty="0">
                <a:solidFill>
                  <a:srgbClr val="005481"/>
                </a:solidFill>
              </a:rPr>
              <a:t>Insulin</a:t>
            </a:r>
            <a:r>
              <a:rPr lang="en-US" altLang="en-US" dirty="0"/>
              <a:t> is a </a:t>
            </a:r>
            <a:r>
              <a:rPr lang="en-US" altLang="en-US" b="1" dirty="0">
                <a:solidFill>
                  <a:srgbClr val="005481"/>
                </a:solidFill>
              </a:rPr>
              <a:t>peptide hormone</a:t>
            </a:r>
            <a:r>
              <a:rPr lang="en-US" altLang="en-US" dirty="0"/>
              <a:t> secreted by the pancreas. Its primary role is maintaining </a:t>
            </a:r>
            <a:r>
              <a:rPr lang="en-US" altLang="en-US" b="1" dirty="0">
                <a:solidFill>
                  <a:srgbClr val="005481"/>
                </a:solidFill>
              </a:rPr>
              <a:t>blood glucose</a:t>
            </a:r>
            <a:r>
              <a:rPr lang="en-US" altLang="en-US" dirty="0"/>
              <a:t> </a:t>
            </a:r>
            <a:r>
              <a:rPr lang="en-US" altLang="en-US" b="1" dirty="0">
                <a:solidFill>
                  <a:srgbClr val="005481"/>
                </a:solidFill>
              </a:rPr>
              <a:t>homeostasis</a:t>
            </a:r>
            <a:r>
              <a:rPr lang="en-US" altLang="en-US" dirty="0"/>
              <a:t>. </a:t>
            </a:r>
          </a:p>
          <a:p>
            <a:pPr>
              <a:tabLst>
                <a:tab pos="721047" algn="l"/>
                <a:tab pos="1045853" algn="l"/>
              </a:tabLst>
            </a:pPr>
            <a:r>
              <a:rPr lang="en-US" altLang="en-US" dirty="0"/>
              <a:t>Insulin production is tightly regulated because over-or underproduction has serious physiological consequences (even death):</a:t>
            </a:r>
          </a:p>
          <a:p>
            <a:pPr lvl="1">
              <a:tabLst>
                <a:tab pos="721047" algn="l"/>
                <a:tab pos="1045853" algn="l"/>
              </a:tabLst>
            </a:pPr>
            <a:r>
              <a:rPr lang="en-US" altLang="en-US" dirty="0"/>
              <a:t>too little insulin results in elevated blood glucose levels (</a:t>
            </a:r>
            <a:r>
              <a:rPr lang="en-US" altLang="en-US" b="1" dirty="0">
                <a:solidFill>
                  <a:srgbClr val="005481"/>
                </a:solidFill>
              </a:rPr>
              <a:t>hyperglycemia</a:t>
            </a:r>
            <a:r>
              <a:rPr lang="en-US" altLang="en-US" dirty="0"/>
              <a:t>).</a:t>
            </a:r>
          </a:p>
          <a:p>
            <a:pPr lvl="1">
              <a:tabLst>
                <a:tab pos="721047" algn="l"/>
                <a:tab pos="1045853" algn="l"/>
              </a:tabLst>
            </a:pPr>
            <a:r>
              <a:rPr lang="en-US" altLang="en-US" dirty="0"/>
              <a:t>too much insulin results in low blood glucose levels (</a:t>
            </a:r>
            <a:r>
              <a:rPr lang="en-US" altLang="en-US" b="1" dirty="0">
                <a:solidFill>
                  <a:srgbClr val="005481"/>
                </a:solidFill>
              </a:rPr>
              <a:t>hypoglycemia</a:t>
            </a:r>
            <a:r>
              <a:rPr lang="en-US" altLang="en-US" dirty="0"/>
              <a:t>).</a:t>
            </a:r>
          </a:p>
        </p:txBody>
      </p:sp>
      <p:grpSp>
        <p:nvGrpSpPr>
          <p:cNvPr id="10" name="Group 60"/>
          <p:cNvGrpSpPr>
            <a:grpSpLocks/>
          </p:cNvGrpSpPr>
          <p:nvPr/>
        </p:nvGrpSpPr>
        <p:grpSpPr bwMode="auto">
          <a:xfrm>
            <a:off x="6480721" y="1553765"/>
            <a:ext cx="1270248" cy="1541488"/>
            <a:chOff x="0" y="0"/>
            <a:chExt cx="1137" cy="1381"/>
          </a:xfrm>
        </p:grpSpPr>
        <p:sp>
          <p:nvSpPr>
            <p:cNvPr id="158727" name="Rectangle 55"/>
            <p:cNvSpPr>
              <a:spLocks/>
            </p:cNvSpPr>
            <p:nvPr/>
          </p:nvSpPr>
          <p:spPr bwMode="auto">
            <a:xfrm>
              <a:off x="145" y="0"/>
              <a:ext cx="84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0000"/>
                  </a:solidFill>
                  <a:cs typeface="Arial" pitchFamily="34" charset="0"/>
                </a:rPr>
                <a:t>α-subunits</a:t>
              </a:r>
            </a:p>
          </p:txBody>
        </p:sp>
        <p:sp>
          <p:nvSpPr>
            <p:cNvPr id="74808" name="AutoShape 56"/>
            <p:cNvSpPr>
              <a:spLocks/>
            </p:cNvSpPr>
            <p:nvPr/>
          </p:nvSpPr>
          <p:spPr bwMode="auto">
            <a:xfrm>
              <a:off x="0" y="190"/>
              <a:ext cx="1137" cy="302"/>
            </a:xfrm>
            <a:custGeom>
              <a:avLst/>
              <a:gdLst>
                <a:gd name="T0" fmla="*/ 0 w 21600"/>
                <a:gd name="T1" fmla="*/ 0 h 21600"/>
                <a:gd name="T2" fmla="*/ 21600 w 21600"/>
                <a:gd name="T3" fmla="*/ 21600 h 21600"/>
              </a:gdLst>
              <a:ahLst/>
              <a:cxnLst/>
              <a:rect l="T0" t="T1" r="T2" b="T3"/>
              <a:pathLst>
                <a:path w="21600" h="21600">
                  <a:moveTo>
                    <a:pt x="0" y="21600"/>
                  </a:moveTo>
                  <a:lnTo>
                    <a:pt x="11000" y="0"/>
                  </a:lnTo>
                  <a:lnTo>
                    <a:pt x="21600" y="21159"/>
                  </a:lnTo>
                </a:path>
              </a:pathLst>
            </a:custGeom>
            <a:noFill/>
            <a:ln w="25400">
              <a:solidFill>
                <a:srgbClr val="FFFFFF"/>
              </a:solidFill>
              <a:miter lim="800000"/>
              <a:headEnd type="oval" w="med" len="med"/>
              <a:tailEnd type="oval" w="med" len="med"/>
            </a:ln>
            <a:effectLst>
              <a:outerShdw blurRad="190500" dist="190499" dir="2700000" algn="ctr" rotWithShape="0">
                <a:schemeClr val="bg2">
                  <a:alpha val="20000"/>
                </a:schemeClr>
              </a:outerShdw>
            </a:effectLst>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a:latin typeface="Arial" pitchFamily="1" charset="0"/>
                <a:sym typeface="Arial" pitchFamily="1" charset="0"/>
              </a:endParaRPr>
            </a:p>
          </p:txBody>
        </p:sp>
        <p:grpSp>
          <p:nvGrpSpPr>
            <p:cNvPr id="158729" name="Group 59"/>
            <p:cNvGrpSpPr>
              <a:grpSpLocks/>
            </p:cNvGrpSpPr>
            <p:nvPr/>
          </p:nvGrpSpPr>
          <p:grpSpPr bwMode="auto">
            <a:xfrm>
              <a:off x="59" y="744"/>
              <a:ext cx="955" cy="637"/>
              <a:chOff x="0" y="0"/>
              <a:chExt cx="954" cy="637"/>
            </a:xfrm>
          </p:grpSpPr>
          <p:sp>
            <p:nvSpPr>
              <p:cNvPr id="158730" name="Rectangle 57"/>
              <p:cNvSpPr>
                <a:spLocks/>
              </p:cNvSpPr>
              <p:nvPr/>
            </p:nvSpPr>
            <p:spPr bwMode="auto">
              <a:xfrm>
                <a:off x="85" y="0"/>
                <a:ext cx="84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0000"/>
                    </a:solidFill>
                    <a:cs typeface="Arial" pitchFamily="34" charset="0"/>
                  </a:rPr>
                  <a:t>β-subunits</a:t>
                </a:r>
              </a:p>
            </p:txBody>
          </p:sp>
          <p:sp>
            <p:nvSpPr>
              <p:cNvPr id="74810" name="AutoShape 58"/>
              <p:cNvSpPr>
                <a:spLocks/>
              </p:cNvSpPr>
              <p:nvPr/>
            </p:nvSpPr>
            <p:spPr bwMode="auto">
              <a:xfrm>
                <a:off x="0" y="187"/>
                <a:ext cx="954" cy="450"/>
              </a:xfrm>
              <a:custGeom>
                <a:avLst/>
                <a:gdLst>
                  <a:gd name="T0" fmla="*/ 0 w 21600"/>
                  <a:gd name="T1" fmla="*/ 0 h 21600"/>
                  <a:gd name="T2" fmla="*/ 21600 w 21600"/>
                  <a:gd name="T3" fmla="*/ 21600 h 21600"/>
                </a:gdLst>
                <a:ahLst/>
                <a:cxnLst/>
                <a:rect l="T0" t="T1" r="T2" b="T3"/>
                <a:pathLst>
                  <a:path w="21600" h="21600">
                    <a:moveTo>
                      <a:pt x="0" y="21599"/>
                    </a:moveTo>
                    <a:lnTo>
                      <a:pt x="11535" y="0"/>
                    </a:lnTo>
                    <a:lnTo>
                      <a:pt x="21600" y="21600"/>
                    </a:lnTo>
                  </a:path>
                </a:pathLst>
              </a:custGeom>
              <a:noFill/>
              <a:ln w="25400">
                <a:solidFill>
                  <a:srgbClr val="FFFFFF"/>
                </a:solidFill>
                <a:miter lim="800000"/>
                <a:headEnd type="oval" w="med" len="med"/>
                <a:tailEnd type="oval" w="med" len="med"/>
              </a:ln>
              <a:effectLst>
                <a:outerShdw blurRad="190500" dist="190499" dir="2700000" algn="ctr" rotWithShape="0">
                  <a:schemeClr val="bg2">
                    <a:alpha val="20000"/>
                  </a:schemeClr>
                </a:outerShdw>
              </a:effectLst>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a:latin typeface="Arial" pitchFamily="1" charset="0"/>
                  <a:sym typeface="Arial" pitchFamily="1" charset="0"/>
                </a:endParaRPr>
              </a:p>
            </p:txBody>
          </p:sp>
        </p:grpSp>
      </p:grpSp>
    </p:spTree>
    <p:extLst>
      <p:ext uri="{BB962C8B-B14F-4D97-AF65-F5344CB8AC3E}">
        <p14:creationId xmlns:p14="http://schemas.microsoft.com/office/powerpoint/2010/main" val="14593954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8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80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480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4806">
                                            <p:txEl>
                                              <p:pRg st="3" end="3"/>
                                            </p:txEl>
                                          </p:spTgt>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nodeType="afterEffect">
                                  <p:stCondLst>
                                    <p:cond delay="0"/>
                                  </p:stCondLst>
                                  <p:childTnLst>
                                    <p:set>
                                      <p:cBhvr>
                                        <p:cTn id="21" dur="1" fill="hold">
                                          <p:stCondLst>
                                            <p:cond delay="499"/>
                                          </p:stCondLst>
                                        </p:cTn>
                                        <p:tgtEl>
                                          <p:spTgt spid="2"/>
                                        </p:tgtEl>
                                        <p:attrNameLst>
                                          <p:attrName>style.visibility</p:attrName>
                                        </p:attrNameLst>
                                      </p:cBhvr>
                                      <p:to>
                                        <p:strVal val="visible"/>
                                      </p:to>
                                    </p:set>
                                  </p:childTnLst>
                                </p:cTn>
                              </p:par>
                            </p:childTnLst>
                          </p:cTn>
                        </p:par>
                        <p:par>
                          <p:cTn id="22" fill="hold" nodeType="afterGroup">
                            <p:stCondLst>
                              <p:cond delay="1000"/>
                            </p:stCondLst>
                            <p:childTnLst>
                              <p:par>
                                <p:cTn id="23" presetID="1" presetClass="entr" presetSubtype="0" fill="hold" nodeType="afterEffect">
                                  <p:stCondLst>
                                    <p:cond delay="0"/>
                                  </p:stCondLst>
                                  <p:childTnLst>
                                    <p:set>
                                      <p:cBhvr>
                                        <p:cTn id="24"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06" grpId="0" build="p" bldLvl="5"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1"/>
          <p:cNvSpPr>
            <a:spLocks/>
          </p:cNvSpPr>
          <p:nvPr/>
        </p:nvSpPr>
        <p:spPr bwMode="auto">
          <a:xfrm>
            <a:off x="4857750" y="1241227"/>
            <a:ext cx="4286250" cy="5616773"/>
          </a:xfrm>
          <a:prstGeom prst="rect">
            <a:avLst/>
          </a:prstGeom>
          <a:solidFill>
            <a:schemeClr val="accent1">
              <a:alpha val="49803"/>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1795" name="Rectangle 2"/>
          <p:cNvSpPr>
            <a:spLocks noGrp="1" noChangeArrowheads="1"/>
          </p:cNvSpPr>
          <p:nvPr>
            <p:ph type="title"/>
          </p:nvPr>
        </p:nvSpPr>
        <p:spPr>
          <a:xfrm>
            <a:off x="500063" y="258961"/>
            <a:ext cx="7563445" cy="1393031"/>
          </a:xfrm>
        </p:spPr>
        <p:txBody>
          <a:bodyPr/>
          <a:lstStyle/>
          <a:p>
            <a:pPr>
              <a:tabLst>
                <a:tab pos="669703" algn="l"/>
              </a:tabLst>
            </a:pPr>
            <a:r>
              <a:rPr lang="en-US" altLang="en-US"/>
              <a:t>Symptoms of Disease</a:t>
            </a:r>
          </a:p>
        </p:txBody>
      </p:sp>
      <p:sp>
        <p:nvSpPr>
          <p:cNvPr id="77827" name="Rectangle 3"/>
          <p:cNvSpPr>
            <a:spLocks noGrp="1" noChangeArrowheads="1"/>
          </p:cNvSpPr>
          <p:nvPr>
            <p:ph type="body" idx="1"/>
          </p:nvPr>
        </p:nvSpPr>
        <p:spPr>
          <a:xfrm>
            <a:off x="250031" y="1259086"/>
            <a:ext cx="4313039" cy="4214813"/>
          </a:xfrm>
        </p:spPr>
        <p:txBody>
          <a:bodyPr>
            <a:normAutofit fontScale="85000" lnSpcReduction="10000"/>
          </a:bodyPr>
          <a:lstStyle/>
          <a:p>
            <a:pPr>
              <a:tabLst>
                <a:tab pos="721047" algn="l"/>
                <a:tab pos="1045853" algn="l"/>
                <a:tab pos="1155238" algn="l"/>
              </a:tabLst>
            </a:pPr>
            <a:r>
              <a:rPr lang="en-US" altLang="en-US"/>
              <a:t>Symptoms of endocrine disorders include:</a:t>
            </a:r>
          </a:p>
          <a:p>
            <a:pPr lvl="1">
              <a:tabLst>
                <a:tab pos="721047" algn="l"/>
                <a:tab pos="1045853" algn="l"/>
                <a:tab pos="1155238" algn="l"/>
              </a:tabLst>
            </a:pPr>
            <a:r>
              <a:rPr lang="en-US" altLang="en-US"/>
              <a:t>Loss of function or control.</a:t>
            </a:r>
          </a:p>
          <a:p>
            <a:pPr lvl="2">
              <a:spcBef>
                <a:spcPts val="773"/>
              </a:spcBef>
              <a:tabLst>
                <a:tab pos="721047" algn="l"/>
                <a:tab pos="1045853" algn="l"/>
                <a:tab pos="1155238" algn="l"/>
              </a:tabLst>
            </a:pPr>
            <a:r>
              <a:rPr lang="en-US" altLang="en-US"/>
              <a:t>The inability of the endocrine system to produce or respond to the correct hormonal signals can result in the loss of the body’s ability to regulate key aspects of metabolism (e.g. the loss of </a:t>
            </a:r>
            <a:r>
              <a:rPr lang="en-US" altLang="en-US" b="1" u="sng">
                <a:solidFill>
                  <a:srgbClr val="005481"/>
                </a:solidFill>
                <a:hlinkClick r:id="" action="ppaction://noaction"/>
              </a:rPr>
              <a:t>insulin production</a:t>
            </a:r>
            <a:r>
              <a:rPr lang="en-US" altLang="en-US"/>
              <a:t> leads to an inability to control blood glucose levels). </a:t>
            </a:r>
          </a:p>
          <a:p>
            <a:pPr lvl="1">
              <a:tabLst>
                <a:tab pos="721047" algn="l"/>
                <a:tab pos="1045853" algn="l"/>
                <a:tab pos="1155238" algn="l"/>
              </a:tabLst>
            </a:pPr>
            <a:r>
              <a:rPr lang="en-US" altLang="en-US"/>
              <a:t>Developmental failure.</a:t>
            </a:r>
          </a:p>
          <a:p>
            <a:pPr lvl="2">
              <a:spcBef>
                <a:spcPts val="773"/>
              </a:spcBef>
              <a:tabLst>
                <a:tab pos="721047" algn="l"/>
                <a:tab pos="1045853" algn="l"/>
                <a:tab pos="1155238" algn="l"/>
              </a:tabLst>
            </a:pPr>
            <a:r>
              <a:rPr lang="en-US" altLang="en-US"/>
              <a:t>Hormones can have large scale effects of the body. Examples include the over or under production of  </a:t>
            </a:r>
            <a:r>
              <a:rPr lang="en-US" altLang="en-US" b="1" u="sng">
                <a:solidFill>
                  <a:srgbClr val="005481"/>
                </a:solidFill>
                <a:hlinkClick r:id="" action="ppaction://noaction"/>
              </a:rPr>
              <a:t>human growth hormone</a:t>
            </a:r>
            <a:r>
              <a:rPr lang="en-US" altLang="en-US"/>
              <a:t> by the pituitary, resulting in excessive or insufficient growth of the body.</a:t>
            </a:r>
          </a:p>
        </p:txBody>
      </p:sp>
      <p:pic>
        <p:nvPicPr>
          <p:cNvPr id="778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6008" y="4256113"/>
            <a:ext cx="2071688" cy="2376413"/>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61798" name="Rectangle 5"/>
          <p:cNvSpPr>
            <a:spLocks/>
          </p:cNvSpPr>
          <p:nvPr/>
        </p:nvSpPr>
        <p:spPr bwMode="auto">
          <a:xfrm>
            <a:off x="6375797" y="5902524"/>
            <a:ext cx="812602"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sz="1300">
                <a:solidFill>
                  <a:srgbClr val="005481"/>
                </a:solidFill>
                <a:cs typeface="Arial" pitchFamily="34" charset="0"/>
              </a:rPr>
              <a:t>Growth hormone</a:t>
            </a:r>
          </a:p>
        </p:txBody>
      </p:sp>
      <p:grpSp>
        <p:nvGrpSpPr>
          <p:cNvPr id="161799" name="Group 8"/>
          <p:cNvGrpSpPr>
            <a:grpSpLocks/>
          </p:cNvGrpSpPr>
          <p:nvPr/>
        </p:nvGrpSpPr>
        <p:grpSpPr bwMode="auto">
          <a:xfrm>
            <a:off x="4881191" y="1275830"/>
            <a:ext cx="4277320" cy="2841873"/>
            <a:chOff x="0" y="0"/>
            <a:chExt cx="3832" cy="2545"/>
          </a:xfrm>
        </p:grpSpPr>
        <p:pic>
          <p:nvPicPr>
            <p:cNvPr id="161802"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3832" cy="2545"/>
            </a:xfrm>
            <a:prstGeom prst="rect">
              <a:avLst/>
            </a:prstGeom>
            <a:noFill/>
            <a:ln w="25400">
              <a:solidFill>
                <a:srgbClr val="FFFFFF"/>
              </a:solidFill>
              <a:miter lim="800000"/>
              <a:headEnd/>
              <a:tailEnd/>
            </a:ln>
            <a:extLst>
              <a:ext uri="{909E8E84-426E-40DD-AFC4-6F175D3DCCD1}">
                <a14:hiddenFill xmlns:a14="http://schemas.microsoft.com/office/drawing/2010/main">
                  <a:solidFill>
                    <a:srgbClr val="FFFFFF"/>
                  </a:solidFill>
                </a14:hiddenFill>
              </a:ext>
            </a:extLst>
          </p:spPr>
        </p:pic>
        <p:sp>
          <p:nvSpPr>
            <p:cNvPr id="161803" name="Rectangle 7"/>
            <p:cNvSpPr>
              <a:spLocks/>
            </p:cNvSpPr>
            <p:nvPr/>
          </p:nvSpPr>
          <p:spPr bwMode="auto">
            <a:xfrm>
              <a:off x="3544" y="2428"/>
              <a:ext cx="233" cy="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400">
                  <a:solidFill>
                    <a:schemeClr val="tx1"/>
                  </a:solidFill>
                  <a:cs typeface="Arial" pitchFamily="34" charset="0"/>
                </a:rPr>
                <a:t>Istock</a:t>
              </a:r>
            </a:p>
          </p:txBody>
        </p:sp>
      </p:grpSp>
      <p:sp>
        <p:nvSpPr>
          <p:cNvPr id="161800" name="Rectangle 9"/>
          <p:cNvSpPr>
            <a:spLocks/>
          </p:cNvSpPr>
          <p:nvPr/>
        </p:nvSpPr>
        <p:spPr bwMode="auto">
          <a:xfrm>
            <a:off x="4884539" y="3670102"/>
            <a:ext cx="2661047" cy="276820"/>
          </a:xfrm>
          <a:prstGeom prst="rect">
            <a:avLst/>
          </a:prstGeom>
          <a:solidFill>
            <a:schemeClr val="accent1">
              <a:alpha val="79999"/>
            </a:schemeClr>
          </a:solidFill>
          <a:ln>
            <a:noFill/>
          </a:ln>
          <a:extLst>
            <a:ext uri="{91240B29-F687-4F45-9708-019B960494DF}">
              <a14:hiddenLine xmlns:a14="http://schemas.microsoft.com/office/drawing/2010/main" w="3175">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1801" name="Rectangle 10"/>
          <p:cNvSpPr>
            <a:spLocks/>
          </p:cNvSpPr>
          <p:nvPr/>
        </p:nvSpPr>
        <p:spPr bwMode="auto">
          <a:xfrm>
            <a:off x="4866680" y="3723680"/>
            <a:ext cx="2794992" cy="17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300">
                <a:solidFill>
                  <a:srgbClr val="000000"/>
                </a:solidFill>
                <a:cs typeface="Arial" pitchFamily="34" charset="0"/>
              </a:rPr>
              <a:t>Insulin injection for type I diabetes</a:t>
            </a:r>
          </a:p>
        </p:txBody>
      </p:sp>
    </p:spTree>
    <p:extLst>
      <p:ext uri="{BB962C8B-B14F-4D97-AF65-F5344CB8AC3E}">
        <p14:creationId xmlns:p14="http://schemas.microsoft.com/office/powerpoint/2010/main" val="2465282622"/>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8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8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78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782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78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build="p" bldLvl="5"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8" name="Rectangle 1"/>
          <p:cNvSpPr>
            <a:spLocks noGrp="1" noChangeArrowheads="1"/>
          </p:cNvSpPr>
          <p:nvPr>
            <p:ph type="title"/>
          </p:nvPr>
        </p:nvSpPr>
        <p:spPr>
          <a:xfrm>
            <a:off x="500062" y="258961"/>
            <a:ext cx="5500688" cy="1393031"/>
          </a:xfrm>
        </p:spPr>
        <p:txBody>
          <a:bodyPr/>
          <a:lstStyle/>
          <a:p>
            <a:pPr>
              <a:tabLst>
                <a:tab pos="669703" algn="l"/>
              </a:tabLst>
            </a:pPr>
            <a:r>
              <a:rPr lang="en-US" altLang="en-US"/>
              <a:t>Diseases of the Endocrine System</a:t>
            </a:r>
          </a:p>
        </p:txBody>
      </p:sp>
      <p:sp>
        <p:nvSpPr>
          <p:cNvPr id="78850" name="Rectangle 2"/>
          <p:cNvSpPr>
            <a:spLocks noGrp="1" noChangeArrowheads="1"/>
          </p:cNvSpPr>
          <p:nvPr>
            <p:ph type="body" idx="1"/>
          </p:nvPr>
        </p:nvSpPr>
        <p:spPr>
          <a:xfrm>
            <a:off x="250031" y="1768078"/>
            <a:ext cx="4947047" cy="4232672"/>
          </a:xfrm>
        </p:spPr>
        <p:txBody>
          <a:bodyPr>
            <a:normAutofit fontScale="92500" lnSpcReduction="20000"/>
          </a:bodyPr>
          <a:lstStyle/>
          <a:p>
            <a:pPr>
              <a:tabLst>
                <a:tab pos="721047" algn="l"/>
                <a:tab pos="1045853" algn="l"/>
                <a:tab pos="1155238" algn="l"/>
              </a:tabLst>
            </a:pPr>
            <a:r>
              <a:rPr lang="en-US" altLang="en-US"/>
              <a:t>Diseases of the endocrine system include:</a:t>
            </a:r>
          </a:p>
          <a:p>
            <a:pPr lvl="1">
              <a:tabLst>
                <a:tab pos="721047" algn="l"/>
                <a:tab pos="1045853" algn="l"/>
                <a:tab pos="1155238" algn="l"/>
              </a:tabLst>
            </a:pPr>
            <a:r>
              <a:rPr lang="en-US" altLang="en-US"/>
              <a:t>Genetic diseases (e.g. </a:t>
            </a:r>
            <a:r>
              <a:rPr lang="en-US" altLang="en-US" b="1" u="sng">
                <a:solidFill>
                  <a:srgbClr val="005481"/>
                </a:solidFill>
                <a:hlinkClick r:id="rId2" action="ppaction://hlinksldjump"/>
              </a:rPr>
              <a:t>type 1 diabetes</a:t>
            </a:r>
            <a:r>
              <a:rPr lang="en-US" altLang="en-US"/>
              <a:t>)</a:t>
            </a:r>
          </a:p>
          <a:p>
            <a:pPr lvl="2">
              <a:spcBef>
                <a:spcPts val="773"/>
              </a:spcBef>
              <a:tabLst>
                <a:tab pos="721047" algn="l"/>
                <a:tab pos="1045853" algn="l"/>
                <a:tab pos="1155238" algn="l"/>
              </a:tabLst>
            </a:pPr>
            <a:r>
              <a:rPr lang="en-US" altLang="en-US"/>
              <a:t>Mutations in genes can lead to the faulty production of a hormone or its intermediate.</a:t>
            </a:r>
          </a:p>
          <a:p>
            <a:pPr lvl="1">
              <a:tabLst>
                <a:tab pos="721047" algn="l"/>
                <a:tab pos="1045853" algn="l"/>
                <a:tab pos="1155238" algn="l"/>
              </a:tabLst>
            </a:pPr>
            <a:r>
              <a:rPr lang="en-US" altLang="en-US"/>
              <a:t>Cancers (e.g testicular cancer, right)</a:t>
            </a:r>
          </a:p>
          <a:p>
            <a:pPr lvl="1">
              <a:tabLst>
                <a:tab pos="721047" algn="l"/>
                <a:tab pos="1045853" algn="l"/>
                <a:tab pos="1155238" algn="l"/>
              </a:tabLst>
            </a:pPr>
            <a:r>
              <a:rPr lang="en-US" altLang="en-US"/>
              <a:t>Autoimmune damage</a:t>
            </a:r>
          </a:p>
          <a:p>
            <a:pPr lvl="2">
              <a:spcBef>
                <a:spcPts val="773"/>
              </a:spcBef>
              <a:tabLst>
                <a:tab pos="721047" algn="l"/>
                <a:tab pos="1045853" algn="l"/>
                <a:tab pos="1155238" algn="l"/>
              </a:tabLst>
            </a:pPr>
            <a:r>
              <a:rPr lang="en-US" altLang="en-US"/>
              <a:t>Malfunction of the immune system can cause immune attacks of the endocrine glands, damaging them and resulting in disrupted hormone production (e.g. type 1 diabetes).</a:t>
            </a:r>
          </a:p>
          <a:p>
            <a:pPr lvl="1">
              <a:tabLst>
                <a:tab pos="721047" algn="l"/>
                <a:tab pos="1045853" algn="l"/>
                <a:tab pos="1155238" algn="l"/>
              </a:tabLst>
            </a:pPr>
            <a:r>
              <a:rPr lang="en-US" altLang="en-US"/>
              <a:t>Dietary related diseases</a:t>
            </a:r>
          </a:p>
          <a:p>
            <a:pPr lvl="2">
              <a:spcBef>
                <a:spcPts val="773"/>
              </a:spcBef>
              <a:tabLst>
                <a:tab pos="721047" algn="l"/>
                <a:tab pos="1045853" algn="l"/>
                <a:tab pos="1155238" algn="l"/>
              </a:tabLst>
            </a:pPr>
            <a:r>
              <a:rPr lang="en-US" altLang="en-US"/>
              <a:t>Poor dietary choices in childhood can lead to adult onset diabetes (</a:t>
            </a:r>
            <a:r>
              <a:rPr lang="en-US" altLang="en-US" i="1" u="sng">
                <a:solidFill>
                  <a:srgbClr val="005481"/>
                </a:solidFill>
                <a:hlinkClick r:id="" action="ppaction://noaction"/>
              </a:rPr>
              <a:t>type 2 diabetes</a:t>
            </a:r>
            <a:r>
              <a:rPr lang="en-US" altLang="en-US"/>
              <a:t>)</a:t>
            </a:r>
          </a:p>
        </p:txBody>
      </p:sp>
      <p:grpSp>
        <p:nvGrpSpPr>
          <p:cNvPr id="162820" name="Group 7"/>
          <p:cNvGrpSpPr>
            <a:grpSpLocks/>
          </p:cNvGrpSpPr>
          <p:nvPr/>
        </p:nvGrpSpPr>
        <p:grpSpPr bwMode="auto">
          <a:xfrm>
            <a:off x="5758533" y="1761381"/>
            <a:ext cx="3394397" cy="5107781"/>
            <a:chOff x="0" y="0"/>
            <a:chExt cx="3040" cy="4576"/>
          </a:xfrm>
        </p:grpSpPr>
        <p:grpSp>
          <p:nvGrpSpPr>
            <p:cNvPr id="162822" name="Group 5"/>
            <p:cNvGrpSpPr>
              <a:grpSpLocks/>
            </p:cNvGrpSpPr>
            <p:nvPr/>
          </p:nvGrpSpPr>
          <p:grpSpPr bwMode="auto">
            <a:xfrm>
              <a:off x="0" y="0"/>
              <a:ext cx="3040" cy="4576"/>
              <a:chOff x="0" y="0"/>
              <a:chExt cx="3040" cy="4576"/>
            </a:xfrm>
          </p:grpSpPr>
          <p:pic>
            <p:nvPicPr>
              <p:cNvPr id="1628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040" cy="4576"/>
              </a:xfrm>
              <a:prstGeom prst="rect">
                <a:avLst/>
              </a:prstGeom>
              <a:noFill/>
              <a:ln w="25400">
                <a:solidFill>
                  <a:srgbClr val="FFFFFF"/>
                </a:solidFill>
                <a:miter lim="800000"/>
                <a:headEnd/>
                <a:tailEnd/>
              </a:ln>
              <a:extLst>
                <a:ext uri="{909E8E84-426E-40DD-AFC4-6F175D3DCCD1}">
                  <a14:hiddenFill xmlns:a14="http://schemas.microsoft.com/office/drawing/2010/main">
                    <a:solidFill>
                      <a:srgbClr val="FFFFFF"/>
                    </a:solidFill>
                  </a14:hiddenFill>
                </a:ext>
              </a:extLst>
            </p:spPr>
          </p:pic>
          <p:sp>
            <p:nvSpPr>
              <p:cNvPr id="162825" name="Rectangle 4"/>
              <p:cNvSpPr>
                <a:spLocks/>
              </p:cNvSpPr>
              <p:nvPr/>
            </p:nvSpPr>
            <p:spPr bwMode="auto">
              <a:xfrm rot="5400000">
                <a:off x="2710" y="4242"/>
                <a:ext cx="497" cy="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400">
                    <a:solidFill>
                      <a:srgbClr val="FFFFFF"/>
                    </a:solidFill>
                    <a:cs typeface="Arial" pitchFamily="34" charset="0"/>
                  </a:rPr>
                  <a:t>Photo: Ed Uthman</a:t>
                </a:r>
              </a:p>
            </p:txBody>
          </p:sp>
        </p:grpSp>
        <p:sp>
          <p:nvSpPr>
            <p:cNvPr id="162823" name="Freeform 6"/>
            <p:cNvSpPr>
              <a:spLocks/>
            </p:cNvSpPr>
            <p:nvPr/>
          </p:nvSpPr>
          <p:spPr bwMode="auto">
            <a:xfrm>
              <a:off x="1098" y="1562"/>
              <a:ext cx="936" cy="976"/>
            </a:xfrm>
            <a:custGeom>
              <a:avLst/>
              <a:gdLst>
                <a:gd name="T0" fmla="*/ 0 w 21314"/>
                <a:gd name="T1" fmla="*/ 0 h 20639"/>
                <a:gd name="T2" fmla="*/ 0 w 21314"/>
                <a:gd name="T3" fmla="*/ 0 h 20639"/>
                <a:gd name="T4" fmla="*/ 0 w 21314"/>
                <a:gd name="T5" fmla="*/ 0 h 20639"/>
                <a:gd name="T6" fmla="*/ 0 w 21314"/>
                <a:gd name="T7" fmla="*/ 0 h 20639"/>
                <a:gd name="T8" fmla="*/ 0 w 21314"/>
                <a:gd name="T9" fmla="*/ 0 h 20639"/>
                <a:gd name="T10" fmla="*/ 0 w 21314"/>
                <a:gd name="T11" fmla="*/ 0 h 20639"/>
                <a:gd name="T12" fmla="*/ 0 w 21314"/>
                <a:gd name="T13" fmla="*/ 0 h 20639"/>
                <a:gd name="T14" fmla="*/ 0 w 21314"/>
                <a:gd name="T15" fmla="*/ 0 h 20639"/>
                <a:gd name="T16" fmla="*/ 0 w 21314"/>
                <a:gd name="T17" fmla="*/ 0 h 20639"/>
                <a:gd name="T18" fmla="*/ 0 w 21314"/>
                <a:gd name="T19" fmla="*/ 0 h 20639"/>
                <a:gd name="T20" fmla="*/ 0 w 21314"/>
                <a:gd name="T21" fmla="*/ 0 h 20639"/>
                <a:gd name="T22" fmla="*/ 0 w 21314"/>
                <a:gd name="T23" fmla="*/ 0 h 20639"/>
                <a:gd name="T24" fmla="*/ 0 w 21314"/>
                <a:gd name="T25" fmla="*/ 0 h 20639"/>
                <a:gd name="T26" fmla="*/ 0 w 21314"/>
                <a:gd name="T27" fmla="*/ 0 h 20639"/>
                <a:gd name="T28" fmla="*/ 0 w 21314"/>
                <a:gd name="T29" fmla="*/ 0 h 20639"/>
                <a:gd name="T30" fmla="*/ 0 w 21314"/>
                <a:gd name="T31" fmla="*/ 0 h 20639"/>
                <a:gd name="T32" fmla="*/ 0 w 21314"/>
                <a:gd name="T33" fmla="*/ 0 h 20639"/>
                <a:gd name="T34" fmla="*/ 0 w 21314"/>
                <a:gd name="T35" fmla="*/ 0 h 20639"/>
                <a:gd name="T36" fmla="*/ 0 w 21314"/>
                <a:gd name="T37" fmla="*/ 0 h 206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314"/>
                <a:gd name="T58" fmla="*/ 0 h 20639"/>
                <a:gd name="T59" fmla="*/ 21314 w 21314"/>
                <a:gd name="T60" fmla="*/ 20639 h 206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314" h="20639">
                  <a:moveTo>
                    <a:pt x="21313" y="5899"/>
                  </a:moveTo>
                  <a:cubicBezTo>
                    <a:pt x="21368" y="5083"/>
                    <a:pt x="20146" y="2544"/>
                    <a:pt x="19433" y="2070"/>
                  </a:cubicBezTo>
                  <a:cubicBezTo>
                    <a:pt x="18584" y="1506"/>
                    <a:pt x="15156" y="1640"/>
                    <a:pt x="13952" y="1503"/>
                  </a:cubicBezTo>
                  <a:cubicBezTo>
                    <a:pt x="13193" y="1417"/>
                    <a:pt x="11256" y="1208"/>
                    <a:pt x="10506" y="1078"/>
                  </a:cubicBezTo>
                  <a:cubicBezTo>
                    <a:pt x="9531" y="908"/>
                    <a:pt x="7100" y="174"/>
                    <a:pt x="6121" y="85"/>
                  </a:cubicBezTo>
                  <a:cubicBezTo>
                    <a:pt x="5374" y="17"/>
                    <a:pt x="3152" y="-121"/>
                    <a:pt x="2676" y="227"/>
                  </a:cubicBezTo>
                  <a:cubicBezTo>
                    <a:pt x="1579" y="1027"/>
                    <a:pt x="982" y="5628"/>
                    <a:pt x="640" y="7176"/>
                  </a:cubicBezTo>
                  <a:cubicBezTo>
                    <a:pt x="490" y="7854"/>
                    <a:pt x="344" y="9033"/>
                    <a:pt x="170" y="10296"/>
                  </a:cubicBezTo>
                  <a:cubicBezTo>
                    <a:pt x="-54" y="11914"/>
                    <a:pt x="13" y="14699"/>
                    <a:pt x="13" y="15827"/>
                  </a:cubicBezTo>
                  <a:cubicBezTo>
                    <a:pt x="13" y="16630"/>
                    <a:pt x="-232" y="18947"/>
                    <a:pt x="1423" y="18947"/>
                  </a:cubicBezTo>
                  <a:cubicBezTo>
                    <a:pt x="3482" y="18947"/>
                    <a:pt x="6433" y="18900"/>
                    <a:pt x="7844" y="18947"/>
                  </a:cubicBezTo>
                  <a:cubicBezTo>
                    <a:pt x="8776" y="18978"/>
                    <a:pt x="11017" y="18992"/>
                    <a:pt x="12073" y="19231"/>
                  </a:cubicBezTo>
                  <a:cubicBezTo>
                    <a:pt x="13325" y="19514"/>
                    <a:pt x="17554" y="21479"/>
                    <a:pt x="17554" y="20223"/>
                  </a:cubicBezTo>
                  <a:cubicBezTo>
                    <a:pt x="17554" y="19130"/>
                    <a:pt x="17510" y="17229"/>
                    <a:pt x="17241" y="16252"/>
                  </a:cubicBezTo>
                  <a:cubicBezTo>
                    <a:pt x="16902" y="15025"/>
                    <a:pt x="14422" y="12202"/>
                    <a:pt x="14422" y="11147"/>
                  </a:cubicBezTo>
                  <a:cubicBezTo>
                    <a:pt x="14422" y="10706"/>
                    <a:pt x="15109" y="10241"/>
                    <a:pt x="15518" y="9870"/>
                  </a:cubicBezTo>
                  <a:cubicBezTo>
                    <a:pt x="16250" y="9208"/>
                    <a:pt x="19147" y="8643"/>
                    <a:pt x="19903" y="8027"/>
                  </a:cubicBezTo>
                  <a:cubicBezTo>
                    <a:pt x="20332" y="7678"/>
                    <a:pt x="21280" y="6383"/>
                    <a:pt x="21313" y="5899"/>
                  </a:cubicBezTo>
                  <a:close/>
                  <a:moveTo>
                    <a:pt x="21313" y="5899"/>
                  </a:moveTo>
                </a:path>
              </a:pathLst>
            </a:custGeom>
            <a:noFill/>
            <a:ln w="25400">
              <a:solidFill>
                <a:srgbClr val="FFFFFF"/>
              </a:solidFill>
              <a:prstDash val="sysDot"/>
              <a:miter lim="800000"/>
              <a:headEnd type="stealth" w="med" len="me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grpSp>
      <p:sp>
        <p:nvSpPr>
          <p:cNvPr id="162821" name="Rectangle 8"/>
          <p:cNvSpPr>
            <a:spLocks/>
          </p:cNvSpPr>
          <p:nvPr/>
        </p:nvSpPr>
        <p:spPr bwMode="auto">
          <a:xfrm>
            <a:off x="6986681" y="3674864"/>
            <a:ext cx="9425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a:solidFill>
                  <a:srgbClr val="000000"/>
                </a:solidFill>
                <a:cs typeface="Arial" pitchFamily="34" charset="0"/>
              </a:rPr>
              <a:t>Cancer</a:t>
            </a:r>
          </a:p>
        </p:txBody>
      </p:sp>
    </p:spTree>
    <p:extLst>
      <p:ext uri="{BB962C8B-B14F-4D97-AF65-F5344CB8AC3E}">
        <p14:creationId xmlns:p14="http://schemas.microsoft.com/office/powerpoint/2010/main" val="372968712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8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85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85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85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885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885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8850">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885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bldLvl="5"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1"/>
          <p:cNvSpPr>
            <a:spLocks/>
          </p:cNvSpPr>
          <p:nvPr/>
        </p:nvSpPr>
        <p:spPr bwMode="auto">
          <a:xfrm>
            <a:off x="5732859" y="1259086"/>
            <a:ext cx="3411141" cy="4902398"/>
          </a:xfrm>
          <a:prstGeom prst="rect">
            <a:avLst/>
          </a:prstGeom>
          <a:solidFill>
            <a:schemeClr val="accent1">
              <a:alpha val="49803"/>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3843" name="Rectangle 2"/>
          <p:cNvSpPr>
            <a:spLocks noGrp="1" noChangeArrowheads="1"/>
          </p:cNvSpPr>
          <p:nvPr>
            <p:ph type="title"/>
          </p:nvPr>
        </p:nvSpPr>
        <p:spPr/>
        <p:txBody>
          <a:bodyPr/>
          <a:lstStyle/>
          <a:p>
            <a:pPr>
              <a:tabLst>
                <a:tab pos="669703" algn="l"/>
              </a:tabLst>
            </a:pPr>
            <a:r>
              <a:rPr lang="en-US" altLang="en-US"/>
              <a:t>Type 1 Diabetes Mellitus</a:t>
            </a:r>
          </a:p>
        </p:txBody>
      </p:sp>
      <p:sp>
        <p:nvSpPr>
          <p:cNvPr id="79875" name="Rectangle 3"/>
          <p:cNvSpPr>
            <a:spLocks noGrp="1" noChangeArrowheads="1"/>
          </p:cNvSpPr>
          <p:nvPr>
            <p:ph type="body" idx="1"/>
          </p:nvPr>
        </p:nvSpPr>
        <p:spPr>
          <a:xfrm>
            <a:off x="250031" y="1259086"/>
            <a:ext cx="5089922" cy="4268391"/>
          </a:xfrm>
        </p:spPr>
        <p:txBody>
          <a:bodyPr>
            <a:normAutofit fontScale="85000" lnSpcReduction="10000"/>
          </a:bodyPr>
          <a:lstStyle/>
          <a:p>
            <a:pPr>
              <a:tabLst>
                <a:tab pos="721047" algn="l"/>
                <a:tab pos="1045853" algn="l"/>
              </a:tabLst>
            </a:pPr>
            <a:r>
              <a:rPr lang="en-US" altLang="en-US"/>
              <a:t>Type I diabetes (also called insulin dependent diabetes mellitus) is the </a:t>
            </a:r>
            <a:r>
              <a:rPr lang="en-US" altLang="en-US" b="1">
                <a:solidFill>
                  <a:srgbClr val="005481"/>
                </a:solidFill>
              </a:rPr>
              <a:t>least common</a:t>
            </a:r>
            <a:r>
              <a:rPr lang="en-US" altLang="en-US"/>
              <a:t> form of diabetes mellitus (about </a:t>
            </a:r>
            <a:r>
              <a:rPr lang="en-US" altLang="en-US" b="1">
                <a:solidFill>
                  <a:srgbClr val="005481"/>
                </a:solidFill>
              </a:rPr>
              <a:t>10%</a:t>
            </a:r>
            <a:r>
              <a:rPr lang="en-US" altLang="en-US"/>
              <a:t> of cases) and the </a:t>
            </a:r>
            <a:r>
              <a:rPr lang="en-US" altLang="en-US" b="1">
                <a:solidFill>
                  <a:srgbClr val="005481"/>
                </a:solidFill>
              </a:rPr>
              <a:t>most severe</a:t>
            </a:r>
            <a:r>
              <a:rPr lang="en-US" altLang="en-US"/>
              <a:t>. About 1 in 1000 children develop type 1 diabetes by the age of 16.</a:t>
            </a:r>
          </a:p>
          <a:p>
            <a:pPr lvl="1">
              <a:tabLst>
                <a:tab pos="721047" algn="l"/>
                <a:tab pos="1045853" algn="l"/>
              </a:tabLst>
            </a:pPr>
            <a:r>
              <a:rPr lang="en-US" altLang="en-US"/>
              <a:t>It is a disease resulting from </a:t>
            </a:r>
            <a:r>
              <a:rPr lang="en-US" altLang="en-US" b="1">
                <a:solidFill>
                  <a:srgbClr val="005481"/>
                </a:solidFill>
              </a:rPr>
              <a:t>insufficient</a:t>
            </a:r>
            <a:r>
              <a:rPr lang="en-US" altLang="en-US"/>
              <a:t> or </a:t>
            </a:r>
            <a:r>
              <a:rPr lang="en-US" altLang="en-US" b="1">
                <a:solidFill>
                  <a:srgbClr val="005481"/>
                </a:solidFill>
              </a:rPr>
              <a:t>no insulin production</a:t>
            </a:r>
            <a:r>
              <a:rPr lang="en-US" altLang="en-US"/>
              <a:t>, usually due to the autoimmune destruction of the </a:t>
            </a:r>
            <a:r>
              <a:rPr lang="en-US" altLang="en-US" b="1">
                <a:solidFill>
                  <a:srgbClr val="005481"/>
                </a:solidFill>
              </a:rPr>
              <a:t>beta cells</a:t>
            </a:r>
            <a:r>
              <a:rPr lang="en-US" altLang="en-US"/>
              <a:t> of the pancreatic islets. </a:t>
            </a:r>
          </a:p>
          <a:p>
            <a:pPr lvl="1">
              <a:tabLst>
                <a:tab pos="721047" algn="l"/>
                <a:tab pos="1045853" algn="l"/>
              </a:tabLst>
            </a:pPr>
            <a:r>
              <a:rPr lang="en-US" altLang="en-US"/>
              <a:t>The </a:t>
            </a:r>
            <a:r>
              <a:rPr lang="en-US" altLang="en-US" b="1">
                <a:solidFill>
                  <a:srgbClr val="005481"/>
                </a:solidFill>
              </a:rPr>
              <a:t>onset is sudden</a:t>
            </a:r>
            <a:r>
              <a:rPr lang="en-US" altLang="en-US"/>
              <a:t>, often between the ages of 10 and 16 (hence its olden name, juvenile-onset diabetes). </a:t>
            </a:r>
          </a:p>
          <a:p>
            <a:pPr lvl="1">
              <a:tabLst>
                <a:tab pos="721047" algn="l"/>
                <a:tab pos="1045853" algn="l"/>
              </a:tabLst>
            </a:pPr>
            <a:r>
              <a:rPr lang="en-US" altLang="en-US"/>
              <a:t>There is a genetic component but a </a:t>
            </a:r>
            <a:r>
              <a:rPr lang="en-US" altLang="en-US" b="1">
                <a:solidFill>
                  <a:srgbClr val="005481"/>
                </a:solidFill>
              </a:rPr>
              <a:t>triggering factor</a:t>
            </a:r>
            <a:r>
              <a:rPr lang="en-US" altLang="en-US"/>
              <a:t>, such as a </a:t>
            </a:r>
            <a:r>
              <a:rPr lang="en-US" altLang="en-US" b="1">
                <a:solidFill>
                  <a:srgbClr val="005481"/>
                </a:solidFill>
              </a:rPr>
              <a:t>viral infection</a:t>
            </a:r>
            <a:r>
              <a:rPr lang="en-US" altLang="en-US"/>
              <a:t>, causes the disease to develop.</a:t>
            </a:r>
          </a:p>
          <a:p>
            <a:pPr lvl="1">
              <a:tabLst>
                <a:tab pos="721047" algn="l"/>
                <a:tab pos="1045853" algn="l"/>
              </a:tabLst>
            </a:pPr>
            <a:r>
              <a:rPr lang="en-US" altLang="en-US"/>
              <a:t>It is fatal unless treated with insulin.</a:t>
            </a:r>
          </a:p>
        </p:txBody>
      </p:sp>
      <p:graphicFrame>
        <p:nvGraphicFramePr>
          <p:cNvPr id="79876" name="Group 4"/>
          <p:cNvGraphicFramePr>
            <a:graphicFrameLocks noGrp="1"/>
          </p:cNvGraphicFramePr>
          <p:nvPr/>
        </p:nvGraphicFramePr>
        <p:xfrm>
          <a:off x="5813226" y="1777008"/>
          <a:ext cx="3125390" cy="3303984"/>
        </p:xfrm>
        <a:graphic>
          <a:graphicData uri="http://schemas.openxmlformats.org/drawingml/2006/table">
            <a:tbl>
              <a:tblPr/>
              <a:tblGrid>
                <a:gridCol w="1562695">
                  <a:extLst>
                    <a:ext uri="{9D8B030D-6E8A-4147-A177-3AD203B41FA5}">
                      <a16:colId xmlns:a16="http://schemas.microsoft.com/office/drawing/2014/main" val="20000"/>
                    </a:ext>
                  </a:extLst>
                </a:gridCol>
                <a:gridCol w="1562695">
                  <a:extLst>
                    <a:ext uri="{9D8B030D-6E8A-4147-A177-3AD203B41FA5}">
                      <a16:colId xmlns:a16="http://schemas.microsoft.com/office/drawing/2014/main" val="20001"/>
                    </a:ext>
                  </a:extLst>
                </a:gridCol>
              </a:tblGrid>
              <a:tr h="825996">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4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Condition</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tc>
                  <a:txBody>
                    <a:bodyPr/>
                    <a:lstStyle/>
                    <a:p>
                      <a:pPr marL="11430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4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mg dL</a:t>
                      </a:r>
                      <a:r>
                        <a:rPr kumimoji="0" lang="en-US" sz="1400" b="0" i="0" u="none" strike="noStrike" cap="none" normalizeH="0" baseline="3200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-1</a:t>
                      </a:r>
                      <a:r>
                        <a:rPr kumimoji="0" lang="en-US" sz="14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 </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extLst>
                  <a:ext uri="{0D108BD9-81ED-4DB2-BD59-A6C34878D82A}">
                    <a16:rowId xmlns:a16="http://schemas.microsoft.com/office/drawing/2014/main" val="10000"/>
                  </a:ext>
                </a:extLst>
              </a:tr>
              <a:tr h="825996">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3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Normal</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3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&lt;99</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extLst>
                  <a:ext uri="{0D108BD9-81ED-4DB2-BD59-A6C34878D82A}">
                    <a16:rowId xmlns:a16="http://schemas.microsoft.com/office/drawing/2014/main" val="10001"/>
                  </a:ext>
                </a:extLst>
              </a:tr>
              <a:tr h="825996">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3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Possible pre-diabetes</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3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99 - 126</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extLst>
                  <a:ext uri="{0D108BD9-81ED-4DB2-BD59-A6C34878D82A}">
                    <a16:rowId xmlns:a16="http://schemas.microsoft.com/office/drawing/2014/main" val="10002"/>
                  </a:ext>
                </a:extLst>
              </a:tr>
              <a:tr h="825996">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3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Diabetes mellitus</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tc>
                  <a:txBody>
                    <a:bodyPr/>
                    <a:lstStyle/>
                    <a:p>
                      <a:pPr marL="0" marR="0" lvl="0" indent="0" algn="ctr" defTabSz="914400" rtl="0" eaLnBrk="1" fontAlgn="base" latinLnBrk="0" hangingPunct="1">
                        <a:lnSpc>
                          <a:spcPct val="100000"/>
                        </a:lnSpc>
                        <a:spcBef>
                          <a:spcPct val="0"/>
                        </a:spcBef>
                        <a:spcAft>
                          <a:spcPct val="0"/>
                        </a:spcAft>
                        <a:buClr>
                          <a:srgbClr val="005481"/>
                        </a:buClr>
                        <a:buSzPct val="130000"/>
                        <a:buFont typeface="Webdings" pitchFamily="1" charset="2"/>
                        <a:buNone/>
                        <a:tabLst>
                          <a:tab pos="520700" algn="l"/>
                        </a:tabLst>
                      </a:pPr>
                      <a:r>
                        <a:rPr kumimoji="0" lang="en-US" sz="1300" b="0" i="0" u="none" strike="noStrike" cap="none" normalizeH="0" baseline="0">
                          <a:ln>
                            <a:noFill/>
                          </a:ln>
                          <a:solidFill>
                            <a:srgbClr val="000000"/>
                          </a:solidFill>
                          <a:effectLst/>
                          <a:latin typeface="Arial" pitchFamily="1" charset="0"/>
                          <a:ea typeface="ヒラギノ角ゴ ProN W3" pitchFamily="1" charset="-128"/>
                          <a:cs typeface="ヒラギノ角ゴ ProN W3" pitchFamily="1" charset="-128"/>
                          <a:sym typeface="Arial" pitchFamily="1" charset="0"/>
                        </a:rPr>
                        <a:t>&gt;126</a:t>
                      </a:r>
                    </a:p>
                  </a:txBody>
                  <a:tcPr marL="26789" marR="26789" marT="26789" marB="26789" anchor="ctr" horzOverflow="overflow">
                    <a:lnL w="12700" cap="flat" cmpd="sng" algn="ctr">
                      <a:solidFill>
                        <a:srgbClr val="005481"/>
                      </a:solidFill>
                      <a:prstDash val="solid"/>
                      <a:round/>
                      <a:headEnd type="none" w="med" len="med"/>
                      <a:tailEnd type="none" w="med" len="med"/>
                    </a:lnL>
                    <a:lnR w="12700" cap="flat" cmpd="sng" algn="ctr">
                      <a:solidFill>
                        <a:srgbClr val="005481"/>
                      </a:solidFill>
                      <a:prstDash val="solid"/>
                      <a:round/>
                      <a:headEnd type="none" w="med" len="med"/>
                      <a:tailEnd type="none" w="med" len="med"/>
                    </a:lnR>
                    <a:lnT w="12700" cap="flat" cmpd="sng" algn="ctr">
                      <a:solidFill>
                        <a:srgbClr val="005481"/>
                      </a:solidFill>
                      <a:prstDash val="solid"/>
                      <a:round/>
                      <a:headEnd type="none" w="med" len="med"/>
                      <a:tailEnd type="none" w="med" len="med"/>
                    </a:lnT>
                    <a:lnB w="12700" cap="flat" cmpd="sng" algn="ctr">
                      <a:solidFill>
                        <a:srgbClr val="005481"/>
                      </a:solidFill>
                      <a:prstDash val="solid"/>
                      <a:round/>
                      <a:headEnd type="none" w="med" len="med"/>
                      <a:tailEnd type="none" w="med" len="med"/>
                    </a:lnB>
                    <a:lnTlToBr>
                      <a:noFill/>
                    </a:lnTlToBr>
                    <a:lnBlToTr>
                      <a:noFill/>
                    </a:lnBlToTr>
                    <a:solidFill>
                      <a:srgbClr val="B6DEE8"/>
                    </a:solidFill>
                  </a:tcPr>
                </a:tc>
                <a:extLst>
                  <a:ext uri="{0D108BD9-81ED-4DB2-BD59-A6C34878D82A}">
                    <a16:rowId xmlns:a16="http://schemas.microsoft.com/office/drawing/2014/main" val="10003"/>
                  </a:ext>
                </a:extLst>
              </a:tr>
            </a:tbl>
          </a:graphicData>
        </a:graphic>
      </p:graphicFrame>
      <p:sp>
        <p:nvSpPr>
          <p:cNvPr id="163862" name="Rectangle 35"/>
          <p:cNvSpPr>
            <a:spLocks/>
          </p:cNvSpPr>
          <p:nvPr/>
        </p:nvSpPr>
        <p:spPr bwMode="auto">
          <a:xfrm>
            <a:off x="5732859" y="5143500"/>
            <a:ext cx="3411141"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300">
                <a:solidFill>
                  <a:schemeClr val="tx2"/>
                </a:solidFill>
                <a:cs typeface="Arial" pitchFamily="34" charset="0"/>
              </a:rPr>
              <a:t>The simplest way to diagnosis diabetes by the </a:t>
            </a:r>
            <a:r>
              <a:rPr lang="en-US" altLang="en-US" sz="1300" b="1">
                <a:solidFill>
                  <a:srgbClr val="02688A"/>
                </a:solidFill>
                <a:cs typeface="Arial" pitchFamily="34" charset="0"/>
              </a:rPr>
              <a:t>fasting blood glucose test</a:t>
            </a:r>
            <a:r>
              <a:rPr lang="en-US" altLang="en-US" sz="1300">
                <a:solidFill>
                  <a:schemeClr val="tx1"/>
                </a:solidFill>
                <a:cs typeface="Arial" pitchFamily="34" charset="0"/>
              </a:rPr>
              <a:t>. </a:t>
            </a:r>
            <a:r>
              <a:rPr lang="en-US" altLang="en-US" sz="1300">
                <a:solidFill>
                  <a:srgbClr val="000000"/>
                </a:solidFill>
                <a:cs typeface="Arial" pitchFamily="34" charset="0"/>
              </a:rPr>
              <a:t>After not eating for around 12 hours the concentration of glucose in the blood is measured. A positive result is a concentration above 126 mgdL</a:t>
            </a:r>
            <a:r>
              <a:rPr lang="en-US" altLang="en-US" sz="1300" baseline="32000">
                <a:solidFill>
                  <a:srgbClr val="000000"/>
                </a:solidFill>
                <a:cs typeface="Arial" pitchFamily="34" charset="0"/>
              </a:rPr>
              <a:t>-1</a:t>
            </a:r>
            <a:r>
              <a:rPr lang="en-US" altLang="en-US" sz="1300">
                <a:solidFill>
                  <a:srgbClr val="000000"/>
                </a:solidFill>
                <a:cs typeface="Arial" pitchFamily="34" charset="0"/>
              </a:rPr>
              <a:t> </a:t>
            </a:r>
          </a:p>
        </p:txBody>
      </p:sp>
      <p:sp>
        <p:nvSpPr>
          <p:cNvPr id="163863" name="Rectangle 36"/>
          <p:cNvSpPr>
            <a:spLocks/>
          </p:cNvSpPr>
          <p:nvPr/>
        </p:nvSpPr>
        <p:spPr bwMode="auto">
          <a:xfrm>
            <a:off x="5732859" y="1312664"/>
            <a:ext cx="3116461" cy="366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300" b="1">
                <a:solidFill>
                  <a:srgbClr val="000000"/>
                </a:solidFill>
                <a:cs typeface="Arial" pitchFamily="34" charset="0"/>
              </a:rPr>
              <a:t>Concentration of blood glucose after fasting blood glucose test</a:t>
            </a:r>
          </a:p>
        </p:txBody>
      </p:sp>
    </p:spTree>
    <p:extLst>
      <p:ext uri="{BB962C8B-B14F-4D97-AF65-F5344CB8AC3E}">
        <p14:creationId xmlns:p14="http://schemas.microsoft.com/office/powerpoint/2010/main" val="113065348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98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98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98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987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98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bldLvl="5"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0" y="2464594"/>
            <a:ext cx="3960316" cy="3946922"/>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64867" name="Rectangle 2"/>
          <p:cNvSpPr>
            <a:spLocks noGrp="1" noChangeArrowheads="1"/>
          </p:cNvSpPr>
          <p:nvPr>
            <p:ph type="title"/>
          </p:nvPr>
        </p:nvSpPr>
        <p:spPr/>
        <p:txBody>
          <a:bodyPr/>
          <a:lstStyle/>
          <a:p>
            <a:pPr>
              <a:tabLst>
                <a:tab pos="669703" algn="l"/>
              </a:tabLst>
            </a:pPr>
            <a:r>
              <a:rPr lang="en-US" altLang="en-US"/>
              <a:t>Type 1 Diabetes Mellitus</a:t>
            </a:r>
          </a:p>
        </p:txBody>
      </p:sp>
      <p:sp>
        <p:nvSpPr>
          <p:cNvPr id="164868" name="Rectangle 3"/>
          <p:cNvSpPr>
            <a:spLocks/>
          </p:cNvSpPr>
          <p:nvPr/>
        </p:nvSpPr>
        <p:spPr bwMode="auto">
          <a:xfrm>
            <a:off x="4713759" y="1768078"/>
            <a:ext cx="3562945" cy="401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a:solidFill>
                  <a:srgbClr val="000000"/>
                </a:solidFill>
                <a:cs typeface="Arial" pitchFamily="34" charset="0"/>
              </a:rPr>
              <a:t>Endocrine region of a normal pancreas enlarged to show function of cell types</a:t>
            </a:r>
          </a:p>
        </p:txBody>
      </p:sp>
      <p:grpSp>
        <p:nvGrpSpPr>
          <p:cNvPr id="2" name="Group 6"/>
          <p:cNvGrpSpPr>
            <a:grpSpLocks/>
          </p:cNvGrpSpPr>
          <p:nvPr/>
        </p:nvGrpSpPr>
        <p:grpSpPr bwMode="auto">
          <a:xfrm>
            <a:off x="508992" y="2714625"/>
            <a:ext cx="4640089" cy="607219"/>
            <a:chOff x="0" y="0"/>
            <a:chExt cx="4157" cy="544"/>
          </a:xfrm>
        </p:grpSpPr>
        <p:sp>
          <p:nvSpPr>
            <p:cNvPr id="164879" name="Rectangle 4"/>
            <p:cNvSpPr>
              <a:spLocks/>
            </p:cNvSpPr>
            <p:nvPr/>
          </p:nvSpPr>
          <p:spPr bwMode="auto">
            <a:xfrm>
              <a:off x="0" y="0"/>
              <a:ext cx="2264"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600" b="1" dirty="0">
                  <a:solidFill>
                    <a:srgbClr val="005481"/>
                  </a:solidFill>
                  <a:cs typeface="Arial" pitchFamily="34" charset="0"/>
                </a:rPr>
                <a:t>Alpha cells</a:t>
              </a:r>
              <a:r>
                <a:rPr lang="en-US" altLang="en-US" sz="1600" dirty="0">
                  <a:solidFill>
                    <a:srgbClr val="005481"/>
                  </a:solidFill>
                  <a:cs typeface="Arial" pitchFamily="34" charset="0"/>
                </a:rPr>
                <a:t> produce glucagon which promotes glucose release from the liver</a:t>
              </a:r>
            </a:p>
          </p:txBody>
        </p:sp>
        <p:sp>
          <p:nvSpPr>
            <p:cNvPr id="164880" name="Line 5"/>
            <p:cNvSpPr>
              <a:spLocks noChangeShapeType="1"/>
            </p:cNvSpPr>
            <p:nvPr/>
          </p:nvSpPr>
          <p:spPr bwMode="auto">
            <a:xfrm rot="10800000">
              <a:off x="2304" y="120"/>
              <a:ext cx="1823" cy="403"/>
            </a:xfrm>
            <a:prstGeom prst="line">
              <a:avLst/>
            </a:prstGeom>
            <a:noFill/>
            <a:ln w="381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3" name="Group 9"/>
          <p:cNvGrpSpPr>
            <a:grpSpLocks/>
          </p:cNvGrpSpPr>
          <p:nvPr/>
        </p:nvGrpSpPr>
        <p:grpSpPr bwMode="auto">
          <a:xfrm>
            <a:off x="508992" y="3893344"/>
            <a:ext cx="4756175" cy="812602"/>
            <a:chOff x="0" y="0"/>
            <a:chExt cx="4261" cy="728"/>
          </a:xfrm>
        </p:grpSpPr>
        <p:sp>
          <p:nvSpPr>
            <p:cNvPr id="164877" name="Rectangle 7"/>
            <p:cNvSpPr>
              <a:spLocks/>
            </p:cNvSpPr>
            <p:nvPr/>
          </p:nvSpPr>
          <p:spPr bwMode="auto">
            <a:xfrm>
              <a:off x="0" y="0"/>
              <a:ext cx="2280"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600" b="1" dirty="0">
                  <a:solidFill>
                    <a:srgbClr val="005481"/>
                  </a:solidFill>
                  <a:cs typeface="Arial" pitchFamily="34" charset="0"/>
                </a:rPr>
                <a:t>Delta cells</a:t>
              </a:r>
              <a:r>
                <a:rPr lang="en-US" altLang="en-US" sz="1600" dirty="0">
                  <a:solidFill>
                    <a:srgbClr val="005481"/>
                  </a:solidFill>
                  <a:cs typeface="Arial" pitchFamily="34" charset="0"/>
                </a:rPr>
                <a:t> produce somatostatin which inhibits the release of growth hormone from the anterior pituitary</a:t>
              </a:r>
            </a:p>
          </p:txBody>
        </p:sp>
        <p:sp>
          <p:nvSpPr>
            <p:cNvPr id="164878" name="Line 8"/>
            <p:cNvSpPr>
              <a:spLocks noChangeShapeType="1"/>
            </p:cNvSpPr>
            <p:nvPr/>
          </p:nvSpPr>
          <p:spPr bwMode="auto">
            <a:xfrm rot="10800000">
              <a:off x="2208" y="456"/>
              <a:ext cx="2022" cy="0"/>
            </a:xfrm>
            <a:prstGeom prst="line">
              <a:avLst/>
            </a:prstGeom>
            <a:noFill/>
            <a:ln w="381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4" name="Group 12"/>
          <p:cNvGrpSpPr>
            <a:grpSpLocks/>
          </p:cNvGrpSpPr>
          <p:nvPr/>
        </p:nvGrpSpPr>
        <p:grpSpPr bwMode="auto">
          <a:xfrm>
            <a:off x="500063" y="5232797"/>
            <a:ext cx="4304109" cy="1017984"/>
            <a:chOff x="0" y="0"/>
            <a:chExt cx="3856" cy="912"/>
          </a:xfrm>
        </p:grpSpPr>
        <p:sp>
          <p:nvSpPr>
            <p:cNvPr id="164875" name="Rectangle 10"/>
            <p:cNvSpPr>
              <a:spLocks/>
            </p:cNvSpPr>
            <p:nvPr/>
          </p:nvSpPr>
          <p:spPr bwMode="auto">
            <a:xfrm>
              <a:off x="0" y="0"/>
              <a:ext cx="2376"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600" b="1" dirty="0">
                  <a:solidFill>
                    <a:srgbClr val="005481"/>
                  </a:solidFill>
                  <a:cs typeface="Arial" pitchFamily="34" charset="0"/>
                </a:rPr>
                <a:t>Beta cells</a:t>
              </a:r>
              <a:r>
                <a:rPr lang="en-US" altLang="en-US" sz="1600" dirty="0">
                  <a:solidFill>
                    <a:srgbClr val="005481"/>
                  </a:solidFill>
                  <a:cs typeface="Arial" pitchFamily="34" charset="0"/>
                </a:rPr>
                <a:t> produce insulin, the hormone responsible for cellular uptake of glucose. It is these cells that are destroyed in type 1 diabetes mellitus.</a:t>
              </a:r>
            </a:p>
          </p:txBody>
        </p:sp>
        <p:sp>
          <p:nvSpPr>
            <p:cNvPr id="164876" name="Line 11"/>
            <p:cNvSpPr>
              <a:spLocks noChangeShapeType="1"/>
            </p:cNvSpPr>
            <p:nvPr/>
          </p:nvSpPr>
          <p:spPr bwMode="auto">
            <a:xfrm flipH="1">
              <a:off x="2416" y="123"/>
              <a:ext cx="1409" cy="164"/>
            </a:xfrm>
            <a:prstGeom prst="line">
              <a:avLst/>
            </a:prstGeom>
            <a:noFill/>
            <a:ln w="38100">
              <a:solidFill>
                <a:srgbClr val="000000"/>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sp>
        <p:nvSpPr>
          <p:cNvPr id="164872" name="Rectangle 13"/>
          <p:cNvSpPr>
            <a:spLocks/>
          </p:cNvSpPr>
          <p:nvPr/>
        </p:nvSpPr>
        <p:spPr bwMode="auto">
          <a:xfrm>
            <a:off x="1928813" y="1952953"/>
            <a:ext cx="108843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b">
            <a:spAutoFit/>
          </a:bodyPr>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700" b="1">
                <a:solidFill>
                  <a:srgbClr val="005481"/>
                </a:solidFill>
                <a:cs typeface="Arial" pitchFamily="34" charset="0"/>
              </a:rPr>
              <a:t>Pancreas</a:t>
            </a:r>
          </a:p>
        </p:txBody>
      </p:sp>
      <p:sp>
        <p:nvSpPr>
          <p:cNvPr id="164873" name="Line 14"/>
          <p:cNvSpPr>
            <a:spLocks noChangeShapeType="1"/>
          </p:cNvSpPr>
          <p:nvPr/>
        </p:nvSpPr>
        <p:spPr bwMode="auto">
          <a:xfrm rot="10800000">
            <a:off x="3375422" y="1720082"/>
            <a:ext cx="1368475" cy="1095003"/>
          </a:xfrm>
          <a:prstGeom prst="line">
            <a:avLst/>
          </a:prstGeom>
          <a:noFill/>
          <a:ln w="190500">
            <a:solidFill>
              <a:srgbClr val="000000"/>
            </a:solidFill>
            <a:miter lim="800000"/>
            <a:headEnd type="stealth" w="med" len="med"/>
            <a:tailEnd/>
          </a:ln>
          <a:extLst>
            <a:ext uri="{909E8E84-426E-40DD-AFC4-6F175D3DCCD1}">
              <a14:hiddenFill xmlns:a14="http://schemas.microsoft.com/office/drawing/2010/main">
                <a:noFill/>
              </a14:hiddenFill>
            </a:ext>
          </a:extLst>
        </p:spPr>
        <p:txBody>
          <a:bodyPr lIns="0" tIns="0" rIns="0" bIns="0"/>
          <a:lstStyle/>
          <a:p>
            <a:endParaRPr lang="en-AU"/>
          </a:p>
        </p:txBody>
      </p:sp>
      <p:pic>
        <p:nvPicPr>
          <p:cNvPr id="80911"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602" y="1178719"/>
            <a:ext cx="2759273" cy="1276945"/>
          </a:xfrm>
          <a:prstGeom prst="rect">
            <a:avLst/>
          </a:prstGeom>
          <a:noFill/>
          <a:ln>
            <a:noFill/>
          </a:ln>
          <a:effectLst>
            <a:outerShdw blurRad="190500" dist="190500" dir="2700000"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extLst>
      <p:ext uri="{BB962C8B-B14F-4D97-AF65-F5344CB8AC3E}">
        <p14:creationId xmlns:p14="http://schemas.microsoft.com/office/powerpoint/2010/main" val="160079593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90" name="Group 3"/>
          <p:cNvGrpSpPr>
            <a:grpSpLocks/>
          </p:cNvGrpSpPr>
          <p:nvPr/>
        </p:nvGrpSpPr>
        <p:grpSpPr bwMode="auto">
          <a:xfrm>
            <a:off x="3455789" y="1143000"/>
            <a:ext cx="2321719" cy="5715000"/>
            <a:chOff x="0" y="40"/>
            <a:chExt cx="2080" cy="5120"/>
          </a:xfrm>
        </p:grpSpPr>
        <p:pic>
          <p:nvPicPr>
            <p:cNvPr id="165933" name="Picture 1"/>
            <p:cNvPicPr>
              <a:picLocks noChangeArrowheads="1"/>
            </p:cNvPicPr>
            <p:nvPr/>
          </p:nvPicPr>
          <p:blipFill>
            <a:blip r:embed="rId2">
              <a:extLst>
                <a:ext uri="{28A0092B-C50C-407E-A947-70E740481C1C}">
                  <a14:useLocalDpi xmlns:a14="http://schemas.microsoft.com/office/drawing/2010/main" val="0"/>
                </a:ext>
              </a:extLst>
            </a:blip>
            <a:srcRect l="10034" b="13863"/>
            <a:stretch>
              <a:fillRect/>
            </a:stretch>
          </p:blipFill>
          <p:spPr bwMode="auto">
            <a:xfrm>
              <a:off x="0" y="40"/>
              <a:ext cx="2080" cy="5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65934" name="Rectangle 2"/>
            <p:cNvSpPr>
              <a:spLocks/>
            </p:cNvSpPr>
            <p:nvPr/>
          </p:nvSpPr>
          <p:spPr bwMode="auto">
            <a:xfrm>
              <a:off x="1272" y="5056"/>
              <a:ext cx="167"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400">
                  <a:solidFill>
                    <a:schemeClr val="tx1"/>
                  </a:solidFill>
                  <a:cs typeface="Arial" pitchFamily="34" charset="0"/>
                </a:rPr>
                <a:t>CA</a:t>
              </a:r>
            </a:p>
          </p:txBody>
        </p:sp>
      </p:grpSp>
      <p:pic>
        <p:nvPicPr>
          <p:cNvPr id="16589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7183" y="3677916"/>
            <a:ext cx="821531" cy="1403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65892" name="Rectangle 5"/>
          <p:cNvSpPr>
            <a:spLocks noGrp="1" noChangeArrowheads="1"/>
          </p:cNvSpPr>
          <p:nvPr>
            <p:ph type="title"/>
          </p:nvPr>
        </p:nvSpPr>
        <p:spPr/>
        <p:txBody>
          <a:bodyPr/>
          <a:lstStyle/>
          <a:p>
            <a:pPr>
              <a:tabLst>
                <a:tab pos="669703" algn="l"/>
              </a:tabLst>
            </a:pPr>
            <a:r>
              <a:rPr lang="en-US" altLang="en-US"/>
              <a:t>Symptoms of Type 1 Diabetes</a:t>
            </a:r>
          </a:p>
        </p:txBody>
      </p:sp>
      <p:grpSp>
        <p:nvGrpSpPr>
          <p:cNvPr id="3" name="Group 12"/>
          <p:cNvGrpSpPr>
            <a:grpSpLocks/>
          </p:cNvGrpSpPr>
          <p:nvPr/>
        </p:nvGrpSpPr>
        <p:grpSpPr bwMode="auto">
          <a:xfrm>
            <a:off x="491133" y="2018110"/>
            <a:ext cx="3402211" cy="1250156"/>
            <a:chOff x="0" y="0"/>
            <a:chExt cx="3048" cy="1120"/>
          </a:xfrm>
        </p:grpSpPr>
        <p:sp>
          <p:nvSpPr>
            <p:cNvPr id="165927" name="Rectangle 6"/>
            <p:cNvSpPr>
              <a:spLocks/>
            </p:cNvSpPr>
            <p:nvPr/>
          </p:nvSpPr>
          <p:spPr bwMode="auto">
            <a:xfrm>
              <a:off x="312" y="48"/>
              <a:ext cx="1696"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400" dirty="0">
                  <a:solidFill>
                    <a:srgbClr val="000000"/>
                  </a:solidFill>
                  <a:cs typeface="Arial" pitchFamily="34" charset="0"/>
                </a:rPr>
                <a:t>Without insulin, the body’s cells cannot take up glucose and lack an energy source for their metabolism.</a:t>
              </a:r>
            </a:p>
          </p:txBody>
        </p:sp>
        <p:sp>
          <p:nvSpPr>
            <p:cNvPr id="81927" name="Oval 7"/>
            <p:cNvSpPr>
              <a:spLocks/>
            </p:cNvSpPr>
            <p:nvPr/>
          </p:nvSpPr>
          <p:spPr bwMode="auto">
            <a:xfrm>
              <a:off x="2736" y="816"/>
              <a:ext cx="312" cy="304"/>
            </a:xfrm>
            <a:prstGeom prst="ellipse">
              <a:avLst/>
            </a:prstGeom>
            <a:noFill/>
            <a:ln w="38100">
              <a:solidFill>
                <a:srgbClr val="005481"/>
              </a:solidFill>
              <a:miter lim="800000"/>
              <a:headEnd/>
              <a:tailEnd/>
            </a:ln>
            <a:effectLst>
              <a:outerShdw blurRad="190500" dist="190499" dir="2700000" algn="ctr" rotWithShape="0">
                <a:schemeClr val="bg2">
                  <a:alpha val="20000"/>
                </a:schemeClr>
              </a:outerShdw>
            </a:effectLst>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a:latin typeface="Arial" pitchFamily="1" charset="0"/>
                <a:sym typeface="Arial" pitchFamily="1" charset="0"/>
              </a:endParaRPr>
            </a:p>
          </p:txBody>
        </p:sp>
        <p:sp>
          <p:nvSpPr>
            <p:cNvPr id="165929" name="Line 8"/>
            <p:cNvSpPr>
              <a:spLocks noChangeShapeType="1"/>
            </p:cNvSpPr>
            <p:nvPr/>
          </p:nvSpPr>
          <p:spPr bwMode="auto">
            <a:xfrm>
              <a:off x="2658" y="354"/>
              <a:ext cx="171" cy="480"/>
            </a:xfrm>
            <a:prstGeom prst="line">
              <a:avLst/>
            </a:prstGeom>
            <a:noFill/>
            <a:ln w="25400">
              <a:solidFill>
                <a:srgbClr val="005481"/>
              </a:solidFill>
              <a:prstDash val="sysDot"/>
              <a:miter lim="800000"/>
              <a:headEnd type="triangle"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65930" name="Group 11"/>
            <p:cNvGrpSpPr>
              <a:grpSpLocks/>
            </p:cNvGrpSpPr>
            <p:nvPr/>
          </p:nvGrpSpPr>
          <p:grpSpPr bwMode="auto">
            <a:xfrm>
              <a:off x="0" y="0"/>
              <a:ext cx="296" cy="264"/>
              <a:chOff x="0" y="0"/>
              <a:chExt cx="296" cy="264"/>
            </a:xfrm>
          </p:grpSpPr>
          <p:sp>
            <p:nvSpPr>
              <p:cNvPr id="165931" name="Oval 9"/>
              <p:cNvSpPr>
                <a:spLocks/>
              </p:cNvSpPr>
              <p:nvPr/>
            </p:nvSpPr>
            <p:spPr bwMode="auto">
              <a:xfrm>
                <a:off x="32" y="0"/>
                <a:ext cx="264" cy="264"/>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5932" name="Rectangle 10"/>
              <p:cNvSpPr>
                <a:spLocks/>
              </p:cNvSpPr>
              <p:nvPr/>
            </p:nvSpPr>
            <p:spPr bwMode="auto">
              <a:xfrm>
                <a:off x="0" y="40"/>
                <a:ext cx="2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b="1">
                    <a:solidFill>
                      <a:srgbClr val="FFFFFF"/>
                    </a:solidFill>
                    <a:cs typeface="Arial" pitchFamily="34" charset="0"/>
                  </a:rPr>
                  <a:t>1</a:t>
                </a:r>
              </a:p>
            </p:txBody>
          </p:sp>
        </p:grpSp>
      </p:grpSp>
      <p:grpSp>
        <p:nvGrpSpPr>
          <p:cNvPr id="5" name="Group 18"/>
          <p:cNvGrpSpPr>
            <a:grpSpLocks/>
          </p:cNvGrpSpPr>
          <p:nvPr/>
        </p:nvGrpSpPr>
        <p:grpSpPr bwMode="auto">
          <a:xfrm>
            <a:off x="500063" y="3491508"/>
            <a:ext cx="3807396" cy="866180"/>
            <a:chOff x="0" y="0"/>
            <a:chExt cx="3411" cy="776"/>
          </a:xfrm>
        </p:grpSpPr>
        <p:sp>
          <p:nvSpPr>
            <p:cNvPr id="165922" name="Rectangle 13"/>
            <p:cNvSpPr>
              <a:spLocks/>
            </p:cNvSpPr>
            <p:nvPr/>
          </p:nvSpPr>
          <p:spPr bwMode="auto">
            <a:xfrm>
              <a:off x="304" y="48"/>
              <a:ext cx="1856"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400" b="1" dirty="0">
                  <a:solidFill>
                    <a:srgbClr val="005481"/>
                  </a:solidFill>
                  <a:cs typeface="Arial" pitchFamily="34" charset="0"/>
                </a:rPr>
                <a:t>Kidneys</a:t>
              </a:r>
              <a:r>
                <a:rPr lang="en-US" altLang="en-US" sz="1400" dirty="0">
                  <a:solidFill>
                    <a:srgbClr val="000000"/>
                  </a:solidFill>
                  <a:cs typeface="Arial" pitchFamily="34" charset="0"/>
                </a:rPr>
                <a:t>:</a:t>
              </a:r>
              <a:r>
                <a:rPr lang="en-US" altLang="en-US" sz="1400" b="1" dirty="0">
                  <a:solidFill>
                    <a:srgbClr val="000000"/>
                  </a:solidFill>
                  <a:cs typeface="Arial" pitchFamily="34" charset="0"/>
                </a:rPr>
                <a:t> </a:t>
              </a:r>
              <a:r>
                <a:rPr lang="en-US" altLang="en-US" sz="1400" dirty="0">
                  <a:solidFill>
                    <a:srgbClr val="000000"/>
                  </a:solidFill>
                  <a:cs typeface="Arial" pitchFamily="34" charset="0"/>
                </a:rPr>
                <a:t>volume of urine increases to clear the body of excess blood glucose (polyuria).</a:t>
              </a:r>
            </a:p>
          </p:txBody>
        </p:sp>
        <p:sp>
          <p:nvSpPr>
            <p:cNvPr id="165923" name="Line 14"/>
            <p:cNvSpPr>
              <a:spLocks noChangeShapeType="1"/>
            </p:cNvSpPr>
            <p:nvPr/>
          </p:nvSpPr>
          <p:spPr bwMode="auto">
            <a:xfrm rot="10800000">
              <a:off x="1864" y="160"/>
              <a:ext cx="1526" cy="172"/>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65924" name="Group 17"/>
            <p:cNvGrpSpPr>
              <a:grpSpLocks/>
            </p:cNvGrpSpPr>
            <p:nvPr/>
          </p:nvGrpSpPr>
          <p:grpSpPr bwMode="auto">
            <a:xfrm>
              <a:off x="0" y="0"/>
              <a:ext cx="288" cy="264"/>
              <a:chOff x="0" y="0"/>
              <a:chExt cx="288" cy="264"/>
            </a:xfrm>
          </p:grpSpPr>
          <p:sp>
            <p:nvSpPr>
              <p:cNvPr id="165925" name="Oval 15"/>
              <p:cNvSpPr>
                <a:spLocks/>
              </p:cNvSpPr>
              <p:nvPr/>
            </p:nvSpPr>
            <p:spPr bwMode="auto">
              <a:xfrm>
                <a:off x="24" y="0"/>
                <a:ext cx="264" cy="264"/>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5926" name="Rectangle 16"/>
              <p:cNvSpPr>
                <a:spLocks/>
              </p:cNvSpPr>
              <p:nvPr/>
            </p:nvSpPr>
            <p:spPr bwMode="auto">
              <a:xfrm>
                <a:off x="0" y="40"/>
                <a:ext cx="2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b="1">
                    <a:solidFill>
                      <a:srgbClr val="FFFFFF"/>
                    </a:solidFill>
                    <a:cs typeface="Arial" pitchFamily="34" charset="0"/>
                  </a:rPr>
                  <a:t>2</a:t>
                </a:r>
              </a:p>
            </p:txBody>
          </p:sp>
        </p:grpSp>
      </p:grpSp>
      <p:grpSp>
        <p:nvGrpSpPr>
          <p:cNvPr id="7" name="Group 24"/>
          <p:cNvGrpSpPr>
            <a:grpSpLocks/>
          </p:cNvGrpSpPr>
          <p:nvPr/>
        </p:nvGrpSpPr>
        <p:grpSpPr bwMode="auto">
          <a:xfrm>
            <a:off x="4922496" y="1321594"/>
            <a:ext cx="3465668" cy="1393031"/>
            <a:chOff x="20" y="-120"/>
            <a:chExt cx="3104" cy="1248"/>
          </a:xfrm>
        </p:grpSpPr>
        <p:sp>
          <p:nvSpPr>
            <p:cNvPr id="165917" name="Rectangle 19"/>
            <p:cNvSpPr>
              <a:spLocks/>
            </p:cNvSpPr>
            <p:nvPr/>
          </p:nvSpPr>
          <p:spPr bwMode="auto">
            <a:xfrm>
              <a:off x="1401" y="-120"/>
              <a:ext cx="1723"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400" dirty="0">
                  <a:solidFill>
                    <a:srgbClr val="000000"/>
                  </a:solidFill>
                  <a:cs typeface="Arial" pitchFamily="34" charset="0"/>
                </a:rPr>
                <a:t>Constant thirst to compensate for excessive urine production. (polydipsia). Increased hunger (polyphagia) and weight loss.</a:t>
              </a:r>
            </a:p>
          </p:txBody>
        </p:sp>
        <p:sp>
          <p:nvSpPr>
            <p:cNvPr id="165918" name="Line 20"/>
            <p:cNvSpPr>
              <a:spLocks noChangeShapeType="1"/>
            </p:cNvSpPr>
            <p:nvPr/>
          </p:nvSpPr>
          <p:spPr bwMode="auto">
            <a:xfrm rot="10800000" flipH="1">
              <a:off x="20" y="143"/>
              <a:ext cx="1141" cy="269"/>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65919" name="Group 23"/>
            <p:cNvGrpSpPr>
              <a:grpSpLocks/>
            </p:cNvGrpSpPr>
            <p:nvPr/>
          </p:nvGrpSpPr>
          <p:grpSpPr bwMode="auto">
            <a:xfrm>
              <a:off x="1145" y="0"/>
              <a:ext cx="288" cy="264"/>
              <a:chOff x="0" y="0"/>
              <a:chExt cx="288" cy="264"/>
            </a:xfrm>
          </p:grpSpPr>
          <p:sp>
            <p:nvSpPr>
              <p:cNvPr id="165920" name="Oval 21"/>
              <p:cNvSpPr>
                <a:spLocks/>
              </p:cNvSpPr>
              <p:nvPr/>
            </p:nvSpPr>
            <p:spPr bwMode="auto">
              <a:xfrm>
                <a:off x="24" y="0"/>
                <a:ext cx="264" cy="264"/>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5921" name="Rectangle 22"/>
              <p:cNvSpPr>
                <a:spLocks/>
              </p:cNvSpPr>
              <p:nvPr/>
            </p:nvSpPr>
            <p:spPr bwMode="auto">
              <a:xfrm>
                <a:off x="0" y="40"/>
                <a:ext cx="2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b="1">
                    <a:solidFill>
                      <a:srgbClr val="FFFFFF"/>
                    </a:solidFill>
                    <a:cs typeface="Arial" pitchFamily="34" charset="0"/>
                  </a:rPr>
                  <a:t>3</a:t>
                </a:r>
              </a:p>
            </p:txBody>
          </p:sp>
        </p:grpSp>
      </p:grpSp>
      <p:grpSp>
        <p:nvGrpSpPr>
          <p:cNvPr id="9" name="Group 32"/>
          <p:cNvGrpSpPr>
            <a:grpSpLocks/>
          </p:cNvGrpSpPr>
          <p:nvPr/>
        </p:nvGrpSpPr>
        <p:grpSpPr bwMode="auto">
          <a:xfrm>
            <a:off x="5174754" y="2764756"/>
            <a:ext cx="3335238" cy="1300385"/>
            <a:chOff x="0" y="0"/>
            <a:chExt cx="2987" cy="1165"/>
          </a:xfrm>
        </p:grpSpPr>
        <p:pic>
          <p:nvPicPr>
            <p:cNvPr id="165910" name="Picture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600479">
              <a:off x="93" y="26"/>
              <a:ext cx="404" cy="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grpSp>
          <p:nvGrpSpPr>
            <p:cNvPr id="165911" name="Group 28"/>
            <p:cNvGrpSpPr>
              <a:grpSpLocks/>
            </p:cNvGrpSpPr>
            <p:nvPr/>
          </p:nvGrpSpPr>
          <p:grpSpPr bwMode="auto">
            <a:xfrm>
              <a:off x="316" y="194"/>
              <a:ext cx="2671" cy="544"/>
              <a:chOff x="0" y="0"/>
              <a:chExt cx="2670" cy="544"/>
            </a:xfrm>
          </p:grpSpPr>
          <p:sp>
            <p:nvSpPr>
              <p:cNvPr id="165915" name="Rectangle 26"/>
              <p:cNvSpPr>
                <a:spLocks/>
              </p:cNvSpPr>
              <p:nvPr/>
            </p:nvSpPr>
            <p:spPr bwMode="auto">
              <a:xfrm>
                <a:off x="886" y="0"/>
                <a:ext cx="1784"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400" b="1" dirty="0">
                    <a:solidFill>
                      <a:srgbClr val="005481"/>
                    </a:solidFill>
                    <a:cs typeface="Arial" pitchFamily="34" charset="0"/>
                  </a:rPr>
                  <a:t>Muscles</a:t>
                </a:r>
                <a:r>
                  <a:rPr lang="en-US" altLang="en-US" sz="1400" dirty="0">
                    <a:solidFill>
                      <a:srgbClr val="000000"/>
                    </a:solidFill>
                    <a:cs typeface="Arial" pitchFamily="34" charset="0"/>
                  </a:rPr>
                  <a:t>:</a:t>
                </a:r>
                <a:r>
                  <a:rPr lang="en-US" altLang="en-US" sz="1400" b="1" dirty="0">
                    <a:solidFill>
                      <a:srgbClr val="000000"/>
                    </a:solidFill>
                    <a:cs typeface="Arial" pitchFamily="34" charset="0"/>
                  </a:rPr>
                  <a:t> </a:t>
                </a:r>
                <a:r>
                  <a:rPr lang="en-US" altLang="en-US" sz="1400" dirty="0">
                    <a:solidFill>
                      <a:srgbClr val="000000"/>
                    </a:solidFill>
                    <a:cs typeface="Arial" pitchFamily="34" charset="0"/>
                  </a:rPr>
                  <a:t>Inability to utilize glucose leads to weakness and fatigue. </a:t>
                </a:r>
              </a:p>
            </p:txBody>
          </p:sp>
          <p:sp>
            <p:nvSpPr>
              <p:cNvPr id="165916" name="Line 27"/>
              <p:cNvSpPr>
                <a:spLocks noChangeShapeType="1"/>
              </p:cNvSpPr>
              <p:nvPr/>
            </p:nvSpPr>
            <p:spPr bwMode="auto">
              <a:xfrm rot="10800000" flipH="1">
                <a:off x="18" y="112"/>
                <a:ext cx="596" cy="324"/>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grpSp>
          <p:nvGrpSpPr>
            <p:cNvPr id="165912" name="Group 31"/>
            <p:cNvGrpSpPr>
              <a:grpSpLocks/>
            </p:cNvGrpSpPr>
            <p:nvPr/>
          </p:nvGrpSpPr>
          <p:grpSpPr bwMode="auto">
            <a:xfrm>
              <a:off x="891" y="138"/>
              <a:ext cx="296" cy="264"/>
              <a:chOff x="0" y="0"/>
              <a:chExt cx="296" cy="264"/>
            </a:xfrm>
          </p:grpSpPr>
          <p:sp>
            <p:nvSpPr>
              <p:cNvPr id="165913" name="Oval 29"/>
              <p:cNvSpPr>
                <a:spLocks/>
              </p:cNvSpPr>
              <p:nvPr/>
            </p:nvSpPr>
            <p:spPr bwMode="auto">
              <a:xfrm>
                <a:off x="32" y="0"/>
                <a:ext cx="264" cy="264"/>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5914" name="Rectangle 30"/>
              <p:cNvSpPr>
                <a:spLocks/>
              </p:cNvSpPr>
              <p:nvPr/>
            </p:nvSpPr>
            <p:spPr bwMode="auto">
              <a:xfrm>
                <a:off x="0" y="39"/>
                <a:ext cx="2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b="1">
                    <a:solidFill>
                      <a:srgbClr val="FFFFFF"/>
                    </a:solidFill>
                    <a:cs typeface="Arial" pitchFamily="34" charset="0"/>
                  </a:rPr>
                  <a:t>4</a:t>
                </a:r>
              </a:p>
            </p:txBody>
          </p:sp>
        </p:grpSp>
      </p:grpSp>
      <p:grpSp>
        <p:nvGrpSpPr>
          <p:cNvPr id="12" name="Group 38"/>
          <p:cNvGrpSpPr>
            <a:grpSpLocks/>
          </p:cNvGrpSpPr>
          <p:nvPr/>
        </p:nvGrpSpPr>
        <p:grpSpPr bwMode="auto">
          <a:xfrm>
            <a:off x="4886779" y="3967013"/>
            <a:ext cx="3623188" cy="1262434"/>
            <a:chOff x="20" y="2"/>
            <a:chExt cx="3245" cy="1131"/>
          </a:xfrm>
        </p:grpSpPr>
        <p:sp>
          <p:nvSpPr>
            <p:cNvPr id="165905" name="Rectangle 33"/>
            <p:cNvSpPr>
              <a:spLocks/>
            </p:cNvSpPr>
            <p:nvPr/>
          </p:nvSpPr>
          <p:spPr bwMode="auto">
            <a:xfrm>
              <a:off x="1457" y="64"/>
              <a:ext cx="1808" cy="1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400" dirty="0">
                  <a:solidFill>
                    <a:srgbClr val="000000"/>
                  </a:solidFill>
                  <a:cs typeface="Arial" pitchFamily="34" charset="0"/>
                </a:rPr>
                <a:t>Fats are metabolized for energy leading to a fall in blood pH (</a:t>
              </a:r>
              <a:r>
                <a:rPr lang="en-US" altLang="en-US" sz="1400" b="1" dirty="0">
                  <a:solidFill>
                    <a:srgbClr val="005481"/>
                  </a:solidFill>
                  <a:cs typeface="Arial" pitchFamily="34" charset="0"/>
                </a:rPr>
                <a:t>ketosis</a:t>
              </a:r>
              <a:r>
                <a:rPr lang="en-US" altLang="en-US" sz="1400" dirty="0">
                  <a:solidFill>
                    <a:srgbClr val="000000"/>
                  </a:solidFill>
                  <a:cs typeface="Arial" pitchFamily="34" charset="0"/>
                </a:rPr>
                <a:t>). This is potentially fatal.</a:t>
              </a:r>
            </a:p>
          </p:txBody>
        </p:sp>
        <p:sp>
          <p:nvSpPr>
            <p:cNvPr id="165906" name="Line 34"/>
            <p:cNvSpPr>
              <a:spLocks noChangeShapeType="1"/>
            </p:cNvSpPr>
            <p:nvPr/>
          </p:nvSpPr>
          <p:spPr bwMode="auto">
            <a:xfrm>
              <a:off x="20" y="2"/>
              <a:ext cx="1365" cy="173"/>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65907" name="Group 37"/>
            <p:cNvGrpSpPr>
              <a:grpSpLocks/>
            </p:cNvGrpSpPr>
            <p:nvPr/>
          </p:nvGrpSpPr>
          <p:grpSpPr bwMode="auto">
            <a:xfrm>
              <a:off x="1161" y="24"/>
              <a:ext cx="296" cy="264"/>
              <a:chOff x="0" y="0"/>
              <a:chExt cx="296" cy="264"/>
            </a:xfrm>
          </p:grpSpPr>
          <p:sp>
            <p:nvSpPr>
              <p:cNvPr id="165908" name="Oval 35"/>
              <p:cNvSpPr>
                <a:spLocks/>
              </p:cNvSpPr>
              <p:nvPr/>
            </p:nvSpPr>
            <p:spPr bwMode="auto">
              <a:xfrm>
                <a:off x="32" y="0"/>
                <a:ext cx="264" cy="264"/>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5909" name="Rectangle 36"/>
              <p:cNvSpPr>
                <a:spLocks/>
              </p:cNvSpPr>
              <p:nvPr/>
            </p:nvSpPr>
            <p:spPr bwMode="auto">
              <a:xfrm>
                <a:off x="0" y="40"/>
                <a:ext cx="2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b="1">
                    <a:solidFill>
                      <a:srgbClr val="FFFFFF"/>
                    </a:solidFill>
                    <a:cs typeface="Arial" pitchFamily="34" charset="0"/>
                  </a:rPr>
                  <a:t>5</a:t>
                </a:r>
              </a:p>
            </p:txBody>
          </p:sp>
        </p:grpSp>
      </p:grpSp>
      <p:grpSp>
        <p:nvGrpSpPr>
          <p:cNvPr id="14" name="Group 44"/>
          <p:cNvGrpSpPr>
            <a:grpSpLocks/>
          </p:cNvGrpSpPr>
          <p:nvPr/>
        </p:nvGrpSpPr>
        <p:grpSpPr bwMode="auto">
          <a:xfrm>
            <a:off x="491133" y="4572000"/>
            <a:ext cx="4108773" cy="866180"/>
            <a:chOff x="0" y="0"/>
            <a:chExt cx="3681" cy="776"/>
          </a:xfrm>
        </p:grpSpPr>
        <p:sp>
          <p:nvSpPr>
            <p:cNvPr id="165900" name="Rectangle 39"/>
            <p:cNvSpPr>
              <a:spLocks/>
            </p:cNvSpPr>
            <p:nvPr/>
          </p:nvSpPr>
          <p:spPr bwMode="auto">
            <a:xfrm>
              <a:off x="304" y="48"/>
              <a:ext cx="2296"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1200" b="1" dirty="0">
                  <a:solidFill>
                    <a:srgbClr val="005481"/>
                  </a:solidFill>
                  <a:cs typeface="Arial" pitchFamily="34" charset="0"/>
                </a:rPr>
                <a:t>Bladder and </a:t>
              </a:r>
              <a:r>
                <a:rPr lang="en-US" altLang="en-US" sz="1200" b="1" dirty="0" err="1">
                  <a:solidFill>
                    <a:srgbClr val="005481"/>
                  </a:solidFill>
                  <a:cs typeface="Arial" pitchFamily="34" charset="0"/>
                </a:rPr>
                <a:t>urinogenital</a:t>
              </a:r>
              <a:r>
                <a:rPr lang="en-US" altLang="en-US" sz="1200" b="1" dirty="0">
                  <a:solidFill>
                    <a:srgbClr val="005481"/>
                  </a:solidFill>
                  <a:cs typeface="Arial" pitchFamily="34" charset="0"/>
                </a:rPr>
                <a:t> tract</a:t>
              </a:r>
              <a:r>
                <a:rPr lang="en-US" altLang="en-US" sz="1200" dirty="0">
                  <a:solidFill>
                    <a:srgbClr val="000000"/>
                  </a:solidFill>
                  <a:cs typeface="Arial" pitchFamily="34" charset="0"/>
                </a:rPr>
                <a:t>:</a:t>
              </a:r>
              <a:r>
                <a:rPr lang="en-US" altLang="en-US" sz="1200" b="1" dirty="0">
                  <a:solidFill>
                    <a:srgbClr val="000000"/>
                  </a:solidFill>
                  <a:cs typeface="Arial" pitchFamily="34" charset="0"/>
                </a:rPr>
                <a:t>  </a:t>
              </a:r>
              <a:r>
                <a:rPr lang="en-US" altLang="en-US" sz="1200" dirty="0">
                  <a:solidFill>
                    <a:srgbClr val="000000"/>
                  </a:solidFill>
                  <a:cs typeface="Arial" pitchFamily="34" charset="0"/>
                </a:rPr>
                <a:t>High sugar levels in the blood and urine promote bacterial and fungal infections.</a:t>
              </a:r>
            </a:p>
          </p:txBody>
        </p:sp>
        <p:sp>
          <p:nvSpPr>
            <p:cNvPr id="165901" name="Line 40"/>
            <p:cNvSpPr>
              <a:spLocks noChangeShapeType="1"/>
            </p:cNvSpPr>
            <p:nvPr/>
          </p:nvSpPr>
          <p:spPr bwMode="auto">
            <a:xfrm rot="10800000">
              <a:off x="2368" y="151"/>
              <a:ext cx="1293" cy="122"/>
            </a:xfrm>
            <a:prstGeom prst="line">
              <a:avLst/>
            </a:prstGeom>
            <a:noFill/>
            <a:ln w="25400">
              <a:solidFill>
                <a:srgbClr val="005481"/>
              </a:solidFill>
              <a:miter lim="800000"/>
              <a:headEnd type="oval" w="med" len="med"/>
              <a:tailEnd/>
            </a:ln>
            <a:extLst>
              <a:ext uri="{909E8E84-426E-40DD-AFC4-6F175D3DCCD1}">
                <a14:hiddenFill xmlns:a14="http://schemas.microsoft.com/office/drawing/2010/main">
                  <a:noFill/>
                </a14:hiddenFill>
              </a:ext>
            </a:extLst>
          </p:spPr>
          <p:txBody>
            <a:bodyPr lIns="0" tIns="0" rIns="0" bIns="0"/>
            <a:lstStyle/>
            <a:p>
              <a:endParaRPr lang="en-AU"/>
            </a:p>
          </p:txBody>
        </p:sp>
        <p:grpSp>
          <p:nvGrpSpPr>
            <p:cNvPr id="165902" name="Group 43"/>
            <p:cNvGrpSpPr>
              <a:grpSpLocks/>
            </p:cNvGrpSpPr>
            <p:nvPr/>
          </p:nvGrpSpPr>
          <p:grpSpPr bwMode="auto">
            <a:xfrm>
              <a:off x="0" y="0"/>
              <a:ext cx="296" cy="264"/>
              <a:chOff x="0" y="0"/>
              <a:chExt cx="296" cy="264"/>
            </a:xfrm>
          </p:grpSpPr>
          <p:sp>
            <p:nvSpPr>
              <p:cNvPr id="165903" name="Oval 41"/>
              <p:cNvSpPr>
                <a:spLocks/>
              </p:cNvSpPr>
              <p:nvPr/>
            </p:nvSpPr>
            <p:spPr bwMode="auto">
              <a:xfrm>
                <a:off x="32" y="0"/>
                <a:ext cx="264" cy="264"/>
              </a:xfrm>
              <a:prstGeom prst="ellipse">
                <a:avLst/>
              </a:prstGeom>
              <a:solidFill>
                <a:srgbClr val="005481"/>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5904" name="Rectangle 42"/>
              <p:cNvSpPr>
                <a:spLocks/>
              </p:cNvSpPr>
              <p:nvPr/>
            </p:nvSpPr>
            <p:spPr bwMode="auto">
              <a:xfrm>
                <a:off x="0" y="40"/>
                <a:ext cx="25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algn="ctr" eaLnBrk="1" hangingPunct="1"/>
                <a:r>
                  <a:rPr lang="en-US" altLang="en-US" b="1">
                    <a:solidFill>
                      <a:srgbClr val="FFFFFF"/>
                    </a:solidFill>
                    <a:cs typeface="Arial" pitchFamily="34" charset="0"/>
                  </a:rPr>
                  <a:t>6</a:t>
                </a:r>
              </a:p>
            </p:txBody>
          </p:sp>
        </p:grpSp>
      </p:grpSp>
      <p:pic>
        <p:nvPicPr>
          <p:cNvPr id="81965"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66430" y="1535906"/>
            <a:ext cx="857250" cy="916410"/>
          </a:xfrm>
          <a:prstGeom prst="rect">
            <a:avLst/>
          </a:prstGeom>
          <a:noFill/>
          <a:ln>
            <a:noFill/>
          </a:ln>
          <a:effectLst>
            <a:outerShdw blurRad="190500" dist="190500" dir="2700000" algn="ctr" rotWithShape="0">
              <a:schemeClr val="bg2">
                <a:alpha val="39998"/>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Tree>
    <p:extLst>
      <p:ext uri="{BB962C8B-B14F-4D97-AF65-F5344CB8AC3E}">
        <p14:creationId xmlns:p14="http://schemas.microsoft.com/office/powerpoint/2010/main" val="70579741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6914" name="Rectangle 1"/>
          <p:cNvSpPr>
            <a:spLocks/>
          </p:cNvSpPr>
          <p:nvPr/>
        </p:nvSpPr>
        <p:spPr bwMode="auto">
          <a:xfrm>
            <a:off x="5527477" y="-17859"/>
            <a:ext cx="3616523" cy="6875859"/>
          </a:xfrm>
          <a:prstGeom prst="rect">
            <a:avLst/>
          </a:prstGeom>
          <a:solidFill>
            <a:schemeClr val="accent1">
              <a:alpha val="49803"/>
            </a:schemeClr>
          </a:solidFill>
          <a:ln>
            <a:noFill/>
          </a:ln>
          <a:extLs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defRPr sz="2000">
                <a:solidFill>
                  <a:srgbClr val="0000FF"/>
                </a:solidFill>
                <a:latin typeface="Arial" pitchFamily="34" charset="0"/>
                <a:ea typeface="ヒラギノ角ゴ ProN W3" pitchFamily="1" charset="-128"/>
                <a:sym typeface="Arial" pitchFamily="34" charset="0"/>
              </a:defRPr>
            </a:lvl2pPr>
            <a:lvl3pPr eaLnBrk="0" hangingPunct="0">
              <a:defRPr sz="2000">
                <a:solidFill>
                  <a:srgbClr val="0000FF"/>
                </a:solidFill>
                <a:latin typeface="Arial" pitchFamily="34" charset="0"/>
                <a:ea typeface="ヒラギノ角ゴ ProN W3" pitchFamily="1" charset="-128"/>
                <a:sym typeface="Arial" pitchFamily="34" charset="0"/>
              </a:defRPr>
            </a:lvl3pPr>
            <a:lvl4pPr eaLnBrk="0" hangingPunct="0">
              <a:defRPr sz="2000">
                <a:solidFill>
                  <a:srgbClr val="0000FF"/>
                </a:solidFill>
                <a:latin typeface="Arial" pitchFamily="34" charset="0"/>
                <a:ea typeface="ヒラギノ角ゴ ProN W3" pitchFamily="1" charset="-128"/>
                <a:sym typeface="Arial" pitchFamily="34" charset="0"/>
              </a:defRPr>
            </a:lvl4pPr>
            <a:lvl5pPr eaLnBrk="0" hangingPunct="0">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defRPr sz="2000">
                <a:solidFill>
                  <a:srgbClr val="0000FF"/>
                </a:solidFill>
                <a:latin typeface="Arial" pitchFamily="34" charset="0"/>
                <a:ea typeface="ヒラギノ角ゴ ProN W3" pitchFamily="1" charset="-128"/>
                <a:sym typeface="Arial" pitchFamily="34" charset="0"/>
              </a:defRPr>
            </a:lvl9pPr>
          </a:lstStyle>
          <a:p>
            <a:pPr eaLnBrk="1" hangingPunct="1"/>
            <a:endParaRPr lang="en-US" altLang="en-US"/>
          </a:p>
        </p:txBody>
      </p:sp>
      <p:sp>
        <p:nvSpPr>
          <p:cNvPr id="166915" name="Rectangle 2"/>
          <p:cNvSpPr>
            <a:spLocks noGrp="1" noChangeArrowheads="1"/>
          </p:cNvSpPr>
          <p:nvPr>
            <p:ph type="title"/>
          </p:nvPr>
        </p:nvSpPr>
        <p:spPr>
          <a:xfrm>
            <a:off x="500063" y="258961"/>
            <a:ext cx="5027414" cy="1393031"/>
          </a:xfrm>
        </p:spPr>
        <p:txBody>
          <a:bodyPr/>
          <a:lstStyle/>
          <a:p>
            <a:pPr>
              <a:tabLst>
                <a:tab pos="669703" algn="l"/>
              </a:tabLst>
            </a:pPr>
            <a:r>
              <a:rPr lang="en-US" altLang="en-US"/>
              <a:t>Treating Type 1 </a:t>
            </a:r>
            <a:br>
              <a:rPr lang="en-US" altLang="en-US"/>
            </a:br>
            <a:r>
              <a:rPr lang="en-US" altLang="en-US"/>
              <a:t>Diabetes</a:t>
            </a:r>
          </a:p>
        </p:txBody>
      </p:sp>
      <p:sp>
        <p:nvSpPr>
          <p:cNvPr id="82947" name="Rectangle 3"/>
          <p:cNvSpPr>
            <a:spLocks noGrp="1" noChangeArrowheads="1"/>
          </p:cNvSpPr>
          <p:nvPr>
            <p:ph type="body" idx="1"/>
          </p:nvPr>
        </p:nvSpPr>
        <p:spPr>
          <a:xfrm>
            <a:off x="250031" y="1777008"/>
            <a:ext cx="4071938" cy="4098727"/>
          </a:xfrm>
        </p:spPr>
        <p:txBody>
          <a:bodyPr>
            <a:normAutofit fontScale="85000" lnSpcReduction="10000"/>
          </a:bodyPr>
          <a:lstStyle/>
          <a:p>
            <a:pPr>
              <a:tabLst>
                <a:tab pos="721047" algn="l"/>
                <a:tab pos="1045853" algn="l"/>
                <a:tab pos="1155238" algn="l"/>
              </a:tabLst>
            </a:pPr>
            <a:r>
              <a:rPr lang="en-US" altLang="en-US"/>
              <a:t>Present treatments for type 1 diabetes include:</a:t>
            </a:r>
          </a:p>
          <a:p>
            <a:pPr lvl="1">
              <a:tabLst>
                <a:tab pos="721047" algn="l"/>
                <a:tab pos="1045853" algn="l"/>
                <a:tab pos="1155238" algn="l"/>
              </a:tabLst>
            </a:pPr>
            <a:r>
              <a:rPr lang="en-US" altLang="en-US"/>
              <a:t>Regular insulin injections combined with dietary management to keep blood sugar levels stable. </a:t>
            </a:r>
          </a:p>
          <a:p>
            <a:pPr lvl="2">
              <a:tabLst>
                <a:tab pos="721047" algn="l"/>
                <a:tab pos="1045853" algn="l"/>
                <a:tab pos="1155238" algn="l"/>
              </a:tabLst>
            </a:pPr>
            <a:r>
              <a:rPr lang="en-US" altLang="en-US"/>
              <a:t>Blood glucose is monitored regularly with testing kits to guard against sudden falls in blood glucose (hypoglycemia).</a:t>
            </a:r>
          </a:p>
          <a:p>
            <a:pPr lvl="1">
              <a:tabLst>
                <a:tab pos="721047" algn="l"/>
                <a:tab pos="1045853" algn="l"/>
                <a:tab pos="1155238" algn="l"/>
              </a:tabLst>
            </a:pPr>
            <a:r>
              <a:rPr lang="en-US" altLang="en-US"/>
              <a:t>Insulin was once extracted from dead animals. </a:t>
            </a:r>
          </a:p>
          <a:p>
            <a:pPr lvl="2">
              <a:tabLst>
                <a:tab pos="721047" algn="l"/>
                <a:tab pos="1045853" algn="l"/>
                <a:tab pos="1155238" algn="l"/>
              </a:tabLst>
            </a:pPr>
            <a:r>
              <a:rPr lang="en-US" altLang="en-US"/>
              <a:t>Now, genetically engineered yeast or bacterial cells containing the gene for human insulin are grown in culture, providing abundant, low cost insulin, without the side effects associated with animal insulin.</a:t>
            </a:r>
          </a:p>
        </p:txBody>
      </p:sp>
      <p:pic>
        <p:nvPicPr>
          <p:cNvPr id="166917" name="Picture 4"/>
          <p:cNvPicPr>
            <a:picLocks noChangeAspect="1" noChangeArrowheads="1"/>
          </p:cNvPicPr>
          <p:nvPr/>
        </p:nvPicPr>
        <p:blipFill>
          <a:blip r:embed="rId2">
            <a:extLst>
              <a:ext uri="{28A0092B-C50C-407E-A947-70E740481C1C}">
                <a14:useLocalDpi xmlns:a14="http://schemas.microsoft.com/office/drawing/2010/main" val="0"/>
              </a:ext>
            </a:extLst>
          </a:blip>
          <a:srcRect b="7605"/>
          <a:stretch>
            <a:fillRect/>
          </a:stretch>
        </p:blipFill>
        <p:spPr bwMode="auto">
          <a:xfrm>
            <a:off x="5578822" y="2455664"/>
            <a:ext cx="3580805" cy="4411266"/>
          </a:xfrm>
          <a:prstGeom prst="rect">
            <a:avLst/>
          </a:prstGeom>
          <a:noFill/>
          <a:ln w="25400">
            <a:solidFill>
              <a:srgbClr val="FFFFFF"/>
            </a:solidFill>
            <a:miter lim="800000"/>
            <a:headEnd/>
            <a:tailEnd/>
          </a:ln>
          <a:extLst>
            <a:ext uri="{909E8E84-426E-40DD-AFC4-6F175D3DCCD1}">
              <a14:hiddenFill xmlns:a14="http://schemas.microsoft.com/office/drawing/2010/main">
                <a:solidFill>
                  <a:srgbClr val="FFFFFF"/>
                </a:solidFill>
              </a14:hiddenFill>
            </a:ext>
          </a:extLst>
        </p:spPr>
      </p:pic>
      <p:grpSp>
        <p:nvGrpSpPr>
          <p:cNvPr id="166918" name="Group 7"/>
          <p:cNvGrpSpPr>
            <a:grpSpLocks/>
          </p:cNvGrpSpPr>
          <p:nvPr/>
        </p:nvGrpSpPr>
        <p:grpSpPr bwMode="auto">
          <a:xfrm>
            <a:off x="5572125" y="-17860"/>
            <a:ext cx="3580805" cy="2607469"/>
            <a:chOff x="0" y="0"/>
            <a:chExt cx="3208" cy="2336"/>
          </a:xfrm>
        </p:grpSpPr>
        <p:pic>
          <p:nvPicPr>
            <p:cNvPr id="166919" name="Picture 5"/>
            <p:cNvPicPr>
              <a:picLocks noChangeArrowheads="1"/>
            </p:cNvPicPr>
            <p:nvPr/>
          </p:nvPicPr>
          <p:blipFill>
            <a:blip r:embed="rId3">
              <a:extLst>
                <a:ext uri="{28A0092B-C50C-407E-A947-70E740481C1C}">
                  <a14:useLocalDpi xmlns:a14="http://schemas.microsoft.com/office/drawing/2010/main" val="0"/>
                </a:ext>
              </a:extLst>
            </a:blip>
            <a:srcRect r="3836"/>
            <a:stretch>
              <a:fillRect/>
            </a:stretch>
          </p:blipFill>
          <p:spPr bwMode="auto">
            <a:xfrm>
              <a:off x="8" y="8"/>
              <a:ext cx="3200" cy="2208"/>
            </a:xfrm>
            <a:prstGeom prst="rect">
              <a:avLst/>
            </a:prstGeom>
            <a:noFill/>
            <a:ln w="25400">
              <a:solidFill>
                <a:srgbClr val="FFFFFF"/>
              </a:solidFill>
              <a:miter lim="800000"/>
              <a:headEnd/>
              <a:tailEnd/>
            </a:ln>
            <a:extLst>
              <a:ext uri="{909E8E84-426E-40DD-AFC4-6F175D3DCCD1}">
                <a14:hiddenFill xmlns:a14="http://schemas.microsoft.com/office/drawing/2010/main">
                  <a:solidFill>
                    <a:srgbClr val="FFFFFF"/>
                  </a:solidFill>
                </a14:hiddenFill>
              </a:ext>
            </a:extLst>
          </p:spPr>
        </p:pic>
        <p:sp>
          <p:nvSpPr>
            <p:cNvPr id="166920" name="Rectangle 6"/>
            <p:cNvSpPr>
              <a:spLocks/>
            </p:cNvSpPr>
            <p:nvPr/>
          </p:nvSpPr>
          <p:spPr bwMode="auto">
            <a:xfrm>
              <a:off x="2951" y="2114"/>
              <a:ext cx="201"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lvl1pPr marL="114300" eaLnBrk="0" hangingPunct="0">
                <a:tabLst>
                  <a:tab pos="520700" algn="l"/>
                </a:tabLst>
                <a:defRPr sz="2000">
                  <a:solidFill>
                    <a:srgbClr val="0000FF"/>
                  </a:solidFill>
                  <a:latin typeface="Arial" pitchFamily="34" charset="0"/>
                  <a:ea typeface="ヒラギノ角ゴ ProN W3" pitchFamily="1" charset="-128"/>
                  <a:sym typeface="Arial" pitchFamily="34" charset="0"/>
                </a:defRPr>
              </a:lvl1pPr>
              <a:lvl2pPr marL="37931725" indent="-37474525" eaLnBrk="0" hangingPunct="0">
                <a:tabLst>
                  <a:tab pos="520700" algn="l"/>
                </a:tabLst>
                <a:defRPr sz="2000">
                  <a:solidFill>
                    <a:srgbClr val="0000FF"/>
                  </a:solidFill>
                  <a:latin typeface="Arial" pitchFamily="34" charset="0"/>
                  <a:ea typeface="ヒラギノ角ゴ ProN W3" pitchFamily="1" charset="-128"/>
                  <a:sym typeface="Arial" pitchFamily="34" charset="0"/>
                </a:defRPr>
              </a:lvl2pPr>
              <a:lvl3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3pPr>
              <a:lvl4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4pPr>
              <a:lvl5pPr eaLnBrk="0" hangingPunct="0">
                <a:tabLst>
                  <a:tab pos="520700" algn="l"/>
                </a:tabLst>
                <a:defRPr sz="2000">
                  <a:solidFill>
                    <a:srgbClr val="0000FF"/>
                  </a:solidFill>
                  <a:latin typeface="Arial" pitchFamily="34" charset="0"/>
                  <a:ea typeface="ヒラギノ角ゴ ProN W3" pitchFamily="1" charset="-128"/>
                  <a:sym typeface="Arial" pitchFamily="34" charset="0"/>
                </a:defRPr>
              </a:lvl5pPr>
              <a:lvl6pPr marL="4572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6pPr>
              <a:lvl7pPr marL="9144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7pPr>
              <a:lvl8pPr marL="13716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8pPr>
              <a:lvl9pPr marL="1828800" eaLnBrk="0" fontAlgn="base" hangingPunct="0">
                <a:spcBef>
                  <a:spcPct val="0"/>
                </a:spcBef>
                <a:spcAft>
                  <a:spcPct val="0"/>
                </a:spcAft>
                <a:tabLst>
                  <a:tab pos="520700" algn="l"/>
                </a:tabLst>
                <a:defRPr sz="2000">
                  <a:solidFill>
                    <a:srgbClr val="0000FF"/>
                  </a:solidFill>
                  <a:latin typeface="Arial" pitchFamily="34" charset="0"/>
                  <a:ea typeface="ヒラギノ角ゴ ProN W3" pitchFamily="1" charset="-128"/>
                  <a:sym typeface="Arial" pitchFamily="34" charset="0"/>
                </a:defRPr>
              </a:lvl9pPr>
            </a:lstStyle>
            <a:p>
              <a:pPr eaLnBrk="1" hangingPunct="1"/>
              <a:r>
                <a:rPr lang="en-US" altLang="en-US" sz="400">
                  <a:solidFill>
                    <a:schemeClr val="tx1"/>
                  </a:solidFill>
                  <a:cs typeface="Arial" pitchFamily="34" charset="0"/>
                </a:rPr>
                <a:t>Istock</a:t>
              </a:r>
            </a:p>
          </p:txBody>
        </p:sp>
      </p:grpSp>
    </p:spTree>
    <p:extLst>
      <p:ext uri="{BB962C8B-B14F-4D97-AF65-F5344CB8AC3E}">
        <p14:creationId xmlns:p14="http://schemas.microsoft.com/office/powerpoint/2010/main" val="240314454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2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29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29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294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829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bldLvl="5"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85" y="269776"/>
            <a:ext cx="7620000" cy="1143000"/>
          </a:xfrm>
        </p:spPr>
        <p:txBody>
          <a:bodyPr/>
          <a:lstStyle/>
          <a:p>
            <a:r>
              <a:rPr lang="en-AU" dirty="0"/>
              <a:t>Blood glucose regulation</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230" t="17269" r="52237" b="16612"/>
          <a:stretch/>
        </p:blipFill>
        <p:spPr bwMode="auto">
          <a:xfrm>
            <a:off x="-22248" y="1196752"/>
            <a:ext cx="9104471" cy="5661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4437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736" t="15855" r="52317" b="13882"/>
          <a:stretch/>
        </p:blipFill>
        <p:spPr bwMode="auto">
          <a:xfrm>
            <a:off x="1" y="889237"/>
            <a:ext cx="9165704" cy="5998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57200" y="274638"/>
            <a:ext cx="7715200" cy="850106"/>
          </a:xfrm>
        </p:spPr>
        <p:txBody>
          <a:bodyPr/>
          <a:lstStyle/>
          <a:p>
            <a:r>
              <a:rPr lang="en-AU" dirty="0"/>
              <a:t>Blood glucose regulation</a:t>
            </a:r>
          </a:p>
        </p:txBody>
      </p:sp>
    </p:spTree>
    <p:extLst>
      <p:ext uri="{BB962C8B-B14F-4D97-AF65-F5344CB8AC3E}">
        <p14:creationId xmlns:p14="http://schemas.microsoft.com/office/powerpoint/2010/main" val="2654039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1"/>
          <p:cNvSpPr>
            <a:spLocks noGrp="1" noChangeArrowheads="1"/>
          </p:cNvSpPr>
          <p:nvPr>
            <p:ph type="title"/>
          </p:nvPr>
        </p:nvSpPr>
        <p:spPr>
          <a:xfrm>
            <a:off x="500063" y="258961"/>
            <a:ext cx="4536281" cy="901898"/>
          </a:xfrm>
        </p:spPr>
        <p:txBody>
          <a:bodyPr/>
          <a:lstStyle/>
          <a:p>
            <a:pPr>
              <a:tabLst>
                <a:tab pos="669703" algn="l"/>
              </a:tabLst>
            </a:pPr>
            <a:r>
              <a:rPr lang="en-US" altLang="en-US" dirty="0"/>
              <a:t>Gas concentration</a:t>
            </a:r>
          </a:p>
        </p:txBody>
      </p:sp>
      <p:sp>
        <p:nvSpPr>
          <p:cNvPr id="51217" name="Rectangle 17"/>
          <p:cNvSpPr>
            <a:spLocks noGrp="1" noChangeArrowheads="1"/>
          </p:cNvSpPr>
          <p:nvPr>
            <p:ph type="body" idx="1"/>
          </p:nvPr>
        </p:nvSpPr>
        <p:spPr>
          <a:xfrm>
            <a:off x="250031" y="1259086"/>
            <a:ext cx="7634337" cy="4834210"/>
          </a:xfrm>
        </p:spPr>
        <p:txBody>
          <a:bodyPr>
            <a:normAutofit/>
          </a:bodyPr>
          <a:lstStyle/>
          <a:p>
            <a:pPr>
              <a:tabLst>
                <a:tab pos="721047" algn="l"/>
                <a:tab pos="1045853" algn="l"/>
                <a:tab pos="1155238" algn="l"/>
              </a:tabLst>
            </a:pPr>
            <a:r>
              <a:rPr lang="en-US" altLang="en-US" dirty="0"/>
              <a:t>All cells need continuous supply of oxygen for respiration.</a:t>
            </a:r>
          </a:p>
          <a:p>
            <a:pPr>
              <a:tabLst>
                <a:tab pos="721047" algn="l"/>
                <a:tab pos="1045853" algn="l"/>
                <a:tab pos="1155238" algn="l"/>
              </a:tabLst>
            </a:pPr>
            <a:r>
              <a:rPr lang="en-US" altLang="en-US" dirty="0"/>
              <a:t>All cells produce carbon dioxide as a waste product through respiration</a:t>
            </a:r>
          </a:p>
          <a:p>
            <a:pPr>
              <a:tabLst>
                <a:tab pos="721047" algn="l"/>
                <a:tab pos="1045853" algn="l"/>
                <a:tab pos="1155238" algn="l"/>
              </a:tabLst>
            </a:pPr>
            <a:endParaRPr lang="en-US" altLang="en-US" dirty="0"/>
          </a:p>
          <a:p>
            <a:pPr>
              <a:tabLst>
                <a:tab pos="721047" algn="l"/>
                <a:tab pos="1045853" algn="l"/>
                <a:tab pos="1155238" algn="l"/>
              </a:tabLst>
            </a:pPr>
            <a:r>
              <a:rPr lang="en-US" altLang="en-US" dirty="0"/>
              <a:t>The respiratory system takes in oxygen and excretes carbon dioxide</a:t>
            </a:r>
          </a:p>
          <a:p>
            <a:pPr>
              <a:tabLst>
                <a:tab pos="721047" algn="l"/>
                <a:tab pos="1045853" algn="l"/>
                <a:tab pos="1155238" algn="l"/>
              </a:tabLst>
            </a:pPr>
            <a:r>
              <a:rPr lang="en-US" altLang="en-US" dirty="0"/>
              <a:t>The circulatory system carries oxygen from lungs to cells and takes away carbon dioxide from cells to lungs.</a:t>
            </a:r>
          </a:p>
        </p:txBody>
      </p:sp>
    </p:spTree>
    <p:extLst>
      <p:ext uri="{BB962C8B-B14F-4D97-AF65-F5344CB8AC3E}">
        <p14:creationId xmlns:p14="http://schemas.microsoft.com/office/powerpoint/2010/main" val="13084614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1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2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7" grpId="0" build="p" bldLvl="5"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Receptors</a:t>
            </a:r>
          </a:p>
        </p:txBody>
      </p:sp>
      <p:sp>
        <p:nvSpPr>
          <p:cNvPr id="3" name="Content Placeholder 2"/>
          <p:cNvSpPr>
            <a:spLocks noGrp="1"/>
          </p:cNvSpPr>
          <p:nvPr>
            <p:ph idx="1"/>
          </p:nvPr>
        </p:nvSpPr>
        <p:spPr/>
        <p:txBody>
          <a:bodyPr/>
          <a:lstStyle/>
          <a:p>
            <a:r>
              <a:rPr lang="en-AU" dirty="0"/>
              <a:t>Peripheral chemoreceptors in aortic /carotid bodies</a:t>
            </a:r>
          </a:p>
          <a:p>
            <a:r>
              <a:rPr lang="en-AU" dirty="0"/>
              <a:t>Central chemoreceptors in medulla oblongata</a:t>
            </a:r>
          </a:p>
          <a:p>
            <a:r>
              <a:rPr lang="en-AU" dirty="0"/>
              <a:t>Respiratory centre located in medulla oblongata</a:t>
            </a:r>
          </a:p>
          <a:p>
            <a:endParaRPr lang="en-AU" dirty="0"/>
          </a:p>
          <a:p>
            <a:r>
              <a:rPr lang="en-AU" dirty="0"/>
              <a:t>Large decrease (mostly not involved) in oxygen stimulates receptors.</a:t>
            </a:r>
          </a:p>
          <a:p>
            <a:r>
              <a:rPr lang="en-AU" dirty="0"/>
              <a:t>Increase in carbon dioxide concentration,  increases hydrogen ion (decreases pH) concentration stimulates receptors. </a:t>
            </a:r>
          </a:p>
          <a:p>
            <a:r>
              <a:rPr lang="en-AU" dirty="0"/>
              <a:t>All factors interact to regulate breathing rate</a:t>
            </a:r>
          </a:p>
        </p:txBody>
      </p:sp>
    </p:spTree>
    <p:extLst>
      <p:ext uri="{BB962C8B-B14F-4D97-AF65-F5344CB8AC3E}">
        <p14:creationId xmlns:p14="http://schemas.microsoft.com/office/powerpoint/2010/main" val="635955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Effectors</a:t>
            </a:r>
          </a:p>
        </p:txBody>
      </p:sp>
      <p:sp>
        <p:nvSpPr>
          <p:cNvPr id="3" name="Content Placeholder 2"/>
          <p:cNvSpPr>
            <a:spLocks noGrp="1"/>
          </p:cNvSpPr>
          <p:nvPr>
            <p:ph idx="1"/>
          </p:nvPr>
        </p:nvSpPr>
        <p:spPr/>
        <p:txBody>
          <a:bodyPr/>
          <a:lstStyle/>
          <a:p>
            <a:r>
              <a:rPr lang="en-AU" dirty="0"/>
              <a:t>Diaphragm , intercostal muscles require stimulation to contract and move air in and out of lungs</a:t>
            </a:r>
          </a:p>
          <a:p>
            <a:endParaRPr lang="en-AU" dirty="0"/>
          </a:p>
          <a:p>
            <a:r>
              <a:rPr lang="en-AU" dirty="0"/>
              <a:t>Voluntary control of breathing is possible </a:t>
            </a:r>
            <a:r>
              <a:rPr lang="en-AU" dirty="0" err="1"/>
              <a:t>eg</a:t>
            </a:r>
            <a:r>
              <a:rPr lang="en-AU" dirty="0"/>
              <a:t>. speech, hyperventilation</a:t>
            </a:r>
          </a:p>
          <a:p>
            <a:r>
              <a:rPr lang="en-AU" dirty="0"/>
              <a:t>Bypasses respiratory centre in medulla oblongata and uses cerebral cortex.</a:t>
            </a:r>
          </a:p>
        </p:txBody>
      </p:sp>
    </p:spTree>
    <p:extLst>
      <p:ext uri="{BB962C8B-B14F-4D97-AF65-F5344CB8AC3E}">
        <p14:creationId xmlns:p14="http://schemas.microsoft.com/office/powerpoint/2010/main" val="3537376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9835"/>
            <a:ext cx="7620000" cy="1143000"/>
          </a:xfrm>
        </p:spPr>
        <p:txBody>
          <a:bodyPr/>
          <a:lstStyle/>
          <a:p>
            <a:r>
              <a:rPr lang="en-AU" dirty="0"/>
              <a:t>Gas concentration</a:t>
            </a:r>
          </a:p>
        </p:txBody>
      </p:sp>
      <p:sp>
        <p:nvSpPr>
          <p:cNvPr id="3" name="Content Placeholder 2"/>
          <p:cNvSpPr>
            <a:spLocks noGrp="1"/>
          </p:cNvSpPr>
          <p:nvPr>
            <p:ph idx="1"/>
          </p:nvPr>
        </p:nvSpPr>
        <p:spPr/>
        <p:txBody>
          <a:bodyPr/>
          <a:lstStyle/>
          <a:p>
            <a:endParaRPr lang="en-AU"/>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342" t="23931" r="54309" b="9950"/>
          <a:stretch/>
        </p:blipFill>
        <p:spPr bwMode="auto">
          <a:xfrm>
            <a:off x="611560" y="1268760"/>
            <a:ext cx="7630638" cy="4880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8804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Heart rate/Blood pressure</a:t>
            </a:r>
          </a:p>
        </p:txBody>
      </p:sp>
      <p:sp>
        <p:nvSpPr>
          <p:cNvPr id="3" name="Content Placeholder 2"/>
          <p:cNvSpPr>
            <a:spLocks noGrp="1"/>
          </p:cNvSpPr>
          <p:nvPr>
            <p:ph idx="1"/>
          </p:nvPr>
        </p:nvSpPr>
        <p:spPr/>
        <p:txBody>
          <a:bodyPr>
            <a:normAutofit fontScale="92500" lnSpcReduction="20000"/>
          </a:bodyPr>
          <a:lstStyle/>
          <a:p>
            <a:endParaRPr lang="en-AU" dirty="0"/>
          </a:p>
          <a:p>
            <a:r>
              <a:rPr lang="en-AU" dirty="0"/>
              <a:t>Heart rate=number of times the heart beats per minute.</a:t>
            </a:r>
          </a:p>
          <a:p>
            <a:r>
              <a:rPr lang="en-AU" dirty="0"/>
              <a:t>SA node and AV node are specialised cells that stimulate muscle contraction.</a:t>
            </a:r>
          </a:p>
          <a:p>
            <a:r>
              <a:rPr lang="en-AU" dirty="0"/>
              <a:t>Influenced by autonomic nervous system where neurons carry impulses to nodes/atria.</a:t>
            </a:r>
          </a:p>
          <a:p>
            <a:r>
              <a:rPr lang="en-AU" dirty="0"/>
              <a:t>Medulla oblongata is cardiac centre</a:t>
            </a:r>
          </a:p>
          <a:p>
            <a:r>
              <a:rPr lang="en-AU" dirty="0"/>
              <a:t>During exercise, sympathetic activity increases heart rate.</a:t>
            </a:r>
          </a:p>
          <a:p>
            <a:r>
              <a:rPr lang="en-AU" dirty="0"/>
              <a:t>Parasympathetic system decreases activity in time </a:t>
            </a:r>
            <a:r>
              <a:rPr lang="en-AU"/>
              <a:t>of rest</a:t>
            </a:r>
          </a:p>
          <a:p>
            <a:endParaRPr lang="en-AU" dirty="0"/>
          </a:p>
          <a:p>
            <a:r>
              <a:rPr lang="en-AU" dirty="0"/>
              <a:t>Blood pressure=force with which the blood pushes on blood vessel walls.</a:t>
            </a:r>
          </a:p>
          <a:p>
            <a:r>
              <a:rPr lang="en-AU" dirty="0"/>
              <a:t>Blood pressure affected by cardiac output/diameter of blood vessels.</a:t>
            </a:r>
          </a:p>
          <a:p>
            <a:r>
              <a:rPr lang="en-AU" dirty="0"/>
              <a:t>Increases in heart rate/increases blood pressure etc.</a:t>
            </a:r>
          </a:p>
          <a:p>
            <a:endParaRPr lang="en-AU" dirty="0"/>
          </a:p>
        </p:txBody>
      </p:sp>
    </p:spTree>
    <p:extLst>
      <p:ext uri="{BB962C8B-B14F-4D97-AF65-F5344CB8AC3E}">
        <p14:creationId xmlns:p14="http://schemas.microsoft.com/office/powerpoint/2010/main" val="12414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Heart rate</a:t>
            </a:r>
          </a:p>
        </p:txBody>
      </p:sp>
      <p:pic>
        <p:nvPicPr>
          <p:cNvPr id="819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103" t="17026" r="53862" b="11594"/>
          <a:stretch/>
        </p:blipFill>
        <p:spPr bwMode="auto">
          <a:xfrm>
            <a:off x="0" y="1196947"/>
            <a:ext cx="9144000" cy="60666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57040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Heart rate</a:t>
            </a:r>
          </a:p>
        </p:txBody>
      </p:sp>
      <p:pic>
        <p:nvPicPr>
          <p:cNvPr id="921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506" t="18879" r="53481" b="10991"/>
          <a:stretch/>
        </p:blipFill>
        <p:spPr bwMode="auto">
          <a:xfrm>
            <a:off x="0" y="1237889"/>
            <a:ext cx="9160855" cy="5974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255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775954"/>
          </a:xfrm>
        </p:spPr>
        <p:txBody>
          <a:bodyPr/>
          <a:lstStyle/>
          <a:p>
            <a:r>
              <a:rPr lang="en-AU" dirty="0"/>
              <a:t>Blood pressure</a:t>
            </a:r>
          </a:p>
        </p:txBody>
      </p:sp>
      <p:sp>
        <p:nvSpPr>
          <p:cNvPr id="3" name="Content Placeholder 2"/>
          <p:cNvSpPr>
            <a:spLocks noGrp="1"/>
          </p:cNvSpPr>
          <p:nvPr>
            <p:ph idx="1"/>
          </p:nvPr>
        </p:nvSpPr>
        <p:spPr/>
        <p:txBody>
          <a:bodyPr/>
          <a:lstStyle/>
          <a:p>
            <a:endParaRPr lang="en-AU"/>
          </a:p>
        </p:txBody>
      </p:sp>
      <p:pic>
        <p:nvPicPr>
          <p:cNvPr id="71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492" t="17458" r="53577" b="14008"/>
          <a:stretch/>
        </p:blipFill>
        <p:spPr bwMode="auto">
          <a:xfrm>
            <a:off x="0" y="1050592"/>
            <a:ext cx="9143999" cy="5838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8352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443" t="18881" r="51688" b="9240"/>
          <a:stretch/>
        </p:blipFill>
        <p:spPr bwMode="auto">
          <a:xfrm>
            <a:off x="0" y="692696"/>
            <a:ext cx="9144000" cy="5492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94553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527</TotalTime>
  <Words>1930</Words>
  <Application>Microsoft Office PowerPoint</Application>
  <PresentationFormat>On-screen Show (4:3)</PresentationFormat>
  <Paragraphs>197</Paragraphs>
  <Slides>29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Cambria</vt:lpstr>
      <vt:lpstr>Comic Sans MS</vt:lpstr>
      <vt:lpstr>Webdings</vt:lpstr>
      <vt:lpstr>Wingdings</vt:lpstr>
      <vt:lpstr>Adjacency</vt:lpstr>
      <vt:lpstr>Regulation of blood sugar and gas concentrations</vt:lpstr>
      <vt:lpstr>What are we doing today?</vt:lpstr>
      <vt:lpstr>Negative feedback</vt:lpstr>
      <vt:lpstr>PowerPoint Presentation</vt:lpstr>
      <vt:lpstr>PowerPoint Presentation</vt:lpstr>
      <vt:lpstr>What is blood glucose?</vt:lpstr>
      <vt:lpstr>Controlling blood glucose</vt:lpstr>
      <vt:lpstr>Control of Blood Glucose</vt:lpstr>
      <vt:lpstr>The pancreas and blood glucose</vt:lpstr>
      <vt:lpstr>Blood Glucose vs Insulin</vt:lpstr>
      <vt:lpstr>Blood Glucose Regulation</vt:lpstr>
      <vt:lpstr>Insulin Signaling Pathway</vt:lpstr>
      <vt:lpstr>Symptoms of Disease</vt:lpstr>
      <vt:lpstr>Diseases of the Endocrine System</vt:lpstr>
      <vt:lpstr>Type 1 Diabetes Mellitus</vt:lpstr>
      <vt:lpstr>Type 1 Diabetes Mellitus</vt:lpstr>
      <vt:lpstr>Symptoms of Type 1 Diabetes</vt:lpstr>
      <vt:lpstr>Treating Type 1  Diabetes</vt:lpstr>
      <vt:lpstr>Blood glucose regulation</vt:lpstr>
      <vt:lpstr>Blood glucose regulation</vt:lpstr>
      <vt:lpstr>Gas concentration</vt:lpstr>
      <vt:lpstr>Receptors</vt:lpstr>
      <vt:lpstr>Effectors</vt:lpstr>
      <vt:lpstr>Gas concentration</vt:lpstr>
      <vt:lpstr>Heart rate/Blood pressure</vt:lpstr>
      <vt:lpstr>Heart rate</vt:lpstr>
      <vt:lpstr>Heart rate</vt:lpstr>
      <vt:lpstr>Blood pressure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Inquiry Skills</dc:title>
  <dc:creator>BRUNS Emma</dc:creator>
  <cp:lastModifiedBy>Ivan Opacak</cp:lastModifiedBy>
  <cp:revision>62</cp:revision>
  <dcterms:created xsi:type="dcterms:W3CDTF">2018-02-02T00:28:02Z</dcterms:created>
  <dcterms:modified xsi:type="dcterms:W3CDTF">2021-03-18T07:42:57Z</dcterms:modified>
</cp:coreProperties>
</file>
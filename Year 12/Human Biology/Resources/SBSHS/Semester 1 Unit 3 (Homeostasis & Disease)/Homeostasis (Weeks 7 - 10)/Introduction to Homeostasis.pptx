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6"/>
  </p:notesMasterIdLst>
  <p:sldIdLst>
    <p:sldId id="313" r:id="rId6"/>
    <p:sldId id="275" r:id="rId7"/>
    <p:sldId id="301" r:id="rId8"/>
    <p:sldId id="555" r:id="rId9"/>
    <p:sldId id="566" r:id="rId10"/>
    <p:sldId id="567" r:id="rId11"/>
    <p:sldId id="556" r:id="rId12"/>
    <p:sldId id="568" r:id="rId13"/>
    <p:sldId id="569" r:id="rId14"/>
    <p:sldId id="5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p:restoredTop sz="86391"/>
  </p:normalViewPr>
  <p:slideViewPr>
    <p:cSldViewPr snapToGrid="0" snapToObjects="1">
      <p:cViewPr varScale="1">
        <p:scale>
          <a:sx n="83" d="100"/>
          <a:sy n="83" d="100"/>
        </p:scale>
        <p:origin x="200" y="116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3/13/22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7</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3/13/22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3/13/22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3/13/22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3/13/22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3/13/22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marL="514350" indent="-514350" algn="l">
              <a:buAutoNum type="arabicPeriod"/>
            </a:pPr>
            <a:r>
              <a:rPr lang="en-AU" sz="3000" dirty="0"/>
              <a:t>Describe homeostasis and negative feedback. </a:t>
            </a:r>
          </a:p>
          <a:p>
            <a:pPr marL="514350" indent="-514350" algn="l">
              <a:buAutoNum type="arabicPeriod"/>
            </a:pPr>
            <a:r>
              <a:rPr lang="en-AU" sz="3000" dirty="0"/>
              <a:t>Know the key features of </a:t>
            </a:r>
            <a:r>
              <a:rPr lang="en-AU" sz="3000"/>
              <a:t>a feedback loop. </a:t>
            </a:r>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r>
              <a:rPr lang="en-AU" dirty="0"/>
              <a:t>Today we are learning about Homeostasis. </a:t>
            </a:r>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Review: Endocrine System</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416634"/>
            <a:ext cx="11457259" cy="5393007"/>
          </a:xfrm>
        </p:spPr>
        <p:txBody>
          <a:bodyPr>
            <a:normAutofit/>
          </a:bodyPr>
          <a:lstStyle/>
          <a:p>
            <a:pPr marL="342900" indent="-342900">
              <a:buFont typeface="Arial" panose="020B0604020202020204" pitchFamily="34" charset="0"/>
              <a:buChar char="•"/>
            </a:pPr>
            <a:r>
              <a:rPr lang="en-AU" sz="2000" b="1" dirty="0">
                <a:latin typeface="Avenir Book" panose="02000503020000020003" pitchFamily="2" charset="0"/>
              </a:rPr>
              <a:t>Glands</a:t>
            </a:r>
            <a:r>
              <a:rPr lang="en-AU" sz="2000" dirty="0">
                <a:latin typeface="Avenir Book" panose="02000503020000020003" pitchFamily="2" charset="0"/>
              </a:rPr>
              <a:t> are the fundamental organs that make up the endocrine system. </a:t>
            </a:r>
          </a:p>
          <a:p>
            <a:pPr marL="342900" indent="-342900">
              <a:buFont typeface="Arial" panose="020B0604020202020204" pitchFamily="34" charset="0"/>
              <a:buChar char="•"/>
            </a:pPr>
            <a:r>
              <a:rPr lang="en-AU" sz="2000" dirty="0">
                <a:latin typeface="Avenir Book" panose="02000503020000020003" pitchFamily="2" charset="0"/>
              </a:rPr>
              <a:t>These organs are made up of specialised cells that produce and secrete </a:t>
            </a:r>
            <a:r>
              <a:rPr lang="en-AU" sz="2000" b="1" dirty="0">
                <a:latin typeface="Avenir Book" panose="02000503020000020003" pitchFamily="2" charset="0"/>
              </a:rPr>
              <a:t>hormones</a:t>
            </a:r>
            <a:r>
              <a:rPr lang="en-AU" sz="2000" dirty="0">
                <a:latin typeface="Avenir Book" panose="02000503020000020003" pitchFamily="2" charset="0"/>
              </a:rPr>
              <a:t>, which regulate and control the behaviour of cells. </a:t>
            </a:r>
          </a:p>
          <a:p>
            <a:pPr marL="342900" indent="-342900">
              <a:buFont typeface="Arial" panose="020B0604020202020204" pitchFamily="34" charset="0"/>
              <a:buChar char="•"/>
            </a:pPr>
            <a:r>
              <a:rPr lang="en-AU" sz="2000" dirty="0">
                <a:latin typeface="Avenir Book" panose="02000503020000020003" pitchFamily="2" charset="0"/>
              </a:rPr>
              <a:t>The cells making up the glands secrete hormone molecules into the extracellular fluid, where they can then diffuse into the capillaries, and travel around the body to target cells/organs via the </a:t>
            </a:r>
            <a:r>
              <a:rPr lang="en-AU" sz="2000" b="1" dirty="0">
                <a:latin typeface="Avenir Book" panose="02000503020000020003" pitchFamily="2" charset="0"/>
              </a:rPr>
              <a:t>circulatory system</a:t>
            </a:r>
            <a:r>
              <a:rPr lang="en-AU" sz="2000" dirty="0">
                <a:latin typeface="Avenir Book" panose="02000503020000020003" pitchFamily="2" charset="0"/>
              </a:rPr>
              <a:t>.</a:t>
            </a:r>
          </a:p>
          <a:p>
            <a:endParaRPr lang="en-AU" dirty="0"/>
          </a:p>
        </p:txBody>
      </p:sp>
      <p:pic>
        <p:nvPicPr>
          <p:cNvPr id="9" name="Picture 8">
            <a:extLst>
              <a:ext uri="{FF2B5EF4-FFF2-40B4-BE49-F238E27FC236}">
                <a16:creationId xmlns:a16="http://schemas.microsoft.com/office/drawing/2014/main" id="{FA781F22-14CC-0F45-9EDF-81E5FEC70D4D}"/>
              </a:ext>
            </a:extLst>
          </p:cNvPr>
          <p:cNvPicPr>
            <a:picLocks noChangeAspect="1"/>
          </p:cNvPicPr>
          <p:nvPr/>
        </p:nvPicPr>
        <p:blipFill>
          <a:blip r:embed="rId3"/>
          <a:stretch>
            <a:fillRect/>
          </a:stretch>
        </p:blipFill>
        <p:spPr>
          <a:xfrm>
            <a:off x="4040025" y="3177205"/>
            <a:ext cx="3700780" cy="3496800"/>
          </a:xfrm>
          <a:prstGeom prst="rect">
            <a:avLst/>
          </a:prstGeom>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Hormones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595492" cy="4756305"/>
          </a:xfrm>
        </p:spPr>
        <p:txBody>
          <a:bodyPr>
            <a:normAutofit/>
          </a:bodyPr>
          <a:lstStyle/>
          <a:p>
            <a:r>
              <a:rPr lang="en-AU" sz="2000" dirty="0">
                <a:latin typeface="Avenir Book" panose="02000503020000020003" pitchFamily="2" charset="0"/>
              </a:rPr>
              <a:t>Certain hormones only affect certain cells, called </a:t>
            </a:r>
            <a:r>
              <a:rPr lang="en-AU" sz="2000" b="1" dirty="0">
                <a:latin typeface="Avenir Book" panose="02000503020000020003" pitchFamily="2" charset="0"/>
              </a:rPr>
              <a:t>target cells</a:t>
            </a:r>
            <a:r>
              <a:rPr lang="en-AU" sz="2000" dirty="0">
                <a:latin typeface="Avenir Book" panose="02000503020000020003" pitchFamily="2" charset="0"/>
              </a:rPr>
              <a:t>, which possess receptors that are </a:t>
            </a:r>
            <a:r>
              <a:rPr lang="en-AU" sz="2000" b="1" dirty="0">
                <a:latin typeface="Avenir Book" panose="02000503020000020003" pitchFamily="2" charset="0"/>
              </a:rPr>
              <a:t>complementary</a:t>
            </a:r>
            <a:r>
              <a:rPr lang="en-AU" sz="2000" dirty="0">
                <a:latin typeface="Avenir Book" panose="02000503020000020003" pitchFamily="2" charset="0"/>
              </a:rPr>
              <a:t> with the hormone molecules. </a:t>
            </a:r>
          </a:p>
          <a:p>
            <a:r>
              <a:rPr lang="en-AU" sz="2000" dirty="0">
                <a:latin typeface="Avenir Book" panose="02000503020000020003" pitchFamily="2" charset="0"/>
              </a:rPr>
              <a:t>That is, hormones are specific in the cells they affect. These hormone receptor sites can become </a:t>
            </a:r>
            <a:r>
              <a:rPr lang="en-AU" sz="2000" b="1" dirty="0">
                <a:latin typeface="Avenir Book" panose="02000503020000020003" pitchFamily="2" charset="0"/>
              </a:rPr>
              <a:t>saturated</a:t>
            </a:r>
            <a:r>
              <a:rPr lang="en-AU" sz="2000" dirty="0">
                <a:latin typeface="Avenir Book" panose="02000503020000020003" pitchFamily="2" charset="0"/>
              </a:rPr>
              <a:t>, and as such, when all available receptor sites are occupied by a hormone molecule, no further binding is possible and any excess hormone molecules produce no change in cellular function.</a:t>
            </a:r>
          </a:p>
          <a:p>
            <a:endParaRPr lang="en-AU" sz="2400" dirty="0"/>
          </a:p>
          <a:p>
            <a:r>
              <a:rPr lang="en-AU" sz="2400" dirty="0"/>
              <a:t> </a:t>
            </a:r>
          </a:p>
          <a:p>
            <a:endParaRPr lang="en-AU" dirty="0"/>
          </a:p>
        </p:txBody>
      </p:sp>
      <p:pic>
        <p:nvPicPr>
          <p:cNvPr id="7" name="Picture 6">
            <a:extLst>
              <a:ext uri="{FF2B5EF4-FFF2-40B4-BE49-F238E27FC236}">
                <a16:creationId xmlns:a16="http://schemas.microsoft.com/office/drawing/2014/main" id="{F1D84CC1-1F6B-4142-8B1E-65B10EE937E8}"/>
              </a:ext>
            </a:extLst>
          </p:cNvPr>
          <p:cNvPicPr>
            <a:picLocks noChangeAspect="1"/>
          </p:cNvPicPr>
          <p:nvPr/>
        </p:nvPicPr>
        <p:blipFill>
          <a:blip r:embed="rId3"/>
          <a:stretch>
            <a:fillRect/>
          </a:stretch>
        </p:blipFill>
        <p:spPr>
          <a:xfrm>
            <a:off x="3995420" y="3132600"/>
            <a:ext cx="3700780" cy="3496800"/>
          </a:xfrm>
          <a:prstGeom prst="rect">
            <a:avLst/>
          </a:prstGeom>
        </p:spPr>
      </p:pic>
    </p:spTree>
    <p:extLst>
      <p:ext uri="{BB962C8B-B14F-4D97-AF65-F5344CB8AC3E}">
        <p14:creationId xmlns:p14="http://schemas.microsoft.com/office/powerpoint/2010/main" val="2771123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F616AC-4332-044E-8885-F52ECA296041}"/>
              </a:ext>
            </a:extLst>
          </p:cNvPr>
          <p:cNvSpPr>
            <a:spLocks noGrp="1"/>
          </p:cNvSpPr>
          <p:nvPr>
            <p:ph type="body" sz="quarter" idx="13"/>
          </p:nvPr>
        </p:nvSpPr>
        <p:spPr/>
        <p:txBody>
          <a:bodyPr/>
          <a:lstStyle/>
          <a:p>
            <a:r>
              <a:rPr lang="en-US" dirty="0"/>
              <a:t>Hormones</a:t>
            </a:r>
          </a:p>
        </p:txBody>
      </p:sp>
      <p:sp>
        <p:nvSpPr>
          <p:cNvPr id="3" name="Text Placeholder 2">
            <a:extLst>
              <a:ext uri="{FF2B5EF4-FFF2-40B4-BE49-F238E27FC236}">
                <a16:creationId xmlns:a16="http://schemas.microsoft.com/office/drawing/2014/main" id="{EE1A83F2-542A-7D4B-B651-6F00CECAFE92}"/>
              </a:ext>
            </a:extLst>
          </p:cNvPr>
          <p:cNvSpPr>
            <a:spLocks noGrp="1"/>
          </p:cNvSpPr>
          <p:nvPr>
            <p:ph type="body" sz="quarter" idx="15"/>
          </p:nvPr>
        </p:nvSpPr>
        <p:spPr/>
        <p:txBody>
          <a:bodyPr/>
          <a:lstStyle/>
          <a:p>
            <a:r>
              <a:rPr lang="en-AU" sz="2000" dirty="0">
                <a:latin typeface="Avenir Book" panose="02000503020000020003" pitchFamily="2" charset="0"/>
              </a:rPr>
              <a:t>Hormones can be classified by the ways in which they interact with cells: </a:t>
            </a:r>
          </a:p>
          <a:p>
            <a:endParaRPr lang="en-US" sz="2000" dirty="0">
              <a:latin typeface="Avenir Book" panose="02000503020000020003" pitchFamily="2" charset="0"/>
            </a:endParaRPr>
          </a:p>
          <a:p>
            <a:r>
              <a:rPr lang="en-AU" sz="2000" b="1" dirty="0">
                <a:latin typeface="Avenir Book" panose="02000503020000020003" pitchFamily="2" charset="0"/>
              </a:rPr>
              <a:t>Steroid hormones: </a:t>
            </a:r>
            <a:r>
              <a:rPr lang="en-AU" sz="2000" dirty="0">
                <a:latin typeface="Avenir Book" panose="02000503020000020003" pitchFamily="2" charset="0"/>
              </a:rPr>
              <a:t>also known as </a:t>
            </a:r>
            <a:r>
              <a:rPr lang="en-AU" sz="2000" b="1" dirty="0">
                <a:latin typeface="Avenir Book" panose="02000503020000020003" pitchFamily="2" charset="0"/>
              </a:rPr>
              <a:t>lipid-soluble hormones</a:t>
            </a:r>
            <a:r>
              <a:rPr lang="en-AU" sz="2000" dirty="0">
                <a:latin typeface="Avenir Book" panose="02000503020000020003" pitchFamily="2" charset="0"/>
              </a:rPr>
              <a:t>, are able to diffuse through the lipid portion of the phospholipid bilayer making up the cell membrane and enter the cytosol. From here, they can bind to a receptor in the nucleus or a receptor associated with the mitochondria, and the formation of this hormone-receptor complex causes a change in gene transcription and translation. </a:t>
            </a:r>
          </a:p>
          <a:p>
            <a:endParaRPr lang="en-AU" sz="2000" dirty="0">
              <a:latin typeface="Avenir Book" panose="02000503020000020003" pitchFamily="2" charset="0"/>
            </a:endParaRPr>
          </a:p>
          <a:p>
            <a:r>
              <a:rPr lang="en-AU" sz="2000" b="1" dirty="0">
                <a:latin typeface="Avenir Book" panose="02000503020000020003" pitchFamily="2" charset="0"/>
              </a:rPr>
              <a:t>Protein and Amine hormones: </a:t>
            </a:r>
            <a:r>
              <a:rPr lang="en-AU" sz="2000" dirty="0">
                <a:latin typeface="Avenir Book" panose="02000503020000020003" pitchFamily="2" charset="0"/>
              </a:rPr>
              <a:t>also known as </a:t>
            </a:r>
            <a:r>
              <a:rPr lang="en-AU" sz="2000" b="1" dirty="0">
                <a:latin typeface="Avenir Book" panose="02000503020000020003" pitchFamily="2" charset="0"/>
              </a:rPr>
              <a:t>water-soluble hormones</a:t>
            </a:r>
            <a:r>
              <a:rPr lang="en-AU" sz="2000" dirty="0">
                <a:latin typeface="Avenir Book" panose="02000503020000020003" pitchFamily="2" charset="0"/>
              </a:rPr>
              <a:t>, are unable to pass through the bilayer into the cell. Hence, they form a </a:t>
            </a:r>
            <a:r>
              <a:rPr lang="en-AU" sz="2000" b="1" dirty="0">
                <a:latin typeface="Avenir Book" panose="02000503020000020003" pitchFamily="2" charset="0"/>
              </a:rPr>
              <a:t>hormone-receptor complex </a:t>
            </a:r>
            <a:r>
              <a:rPr lang="en-AU" sz="2000" dirty="0">
                <a:latin typeface="Avenir Book" panose="02000503020000020003" pitchFamily="2" charset="0"/>
              </a:rPr>
              <a:t>with a receptor located on the surface of the cell membrane. This causes the formation of a secondary messenger substance that diffuses through the cell and activates particular enzymes and proteins, thus changing cell metabolism.</a:t>
            </a:r>
          </a:p>
          <a:p>
            <a:endParaRPr lang="en-US" dirty="0"/>
          </a:p>
        </p:txBody>
      </p:sp>
    </p:spTree>
    <p:extLst>
      <p:ext uri="{BB962C8B-B14F-4D97-AF65-F5344CB8AC3E}">
        <p14:creationId xmlns:p14="http://schemas.microsoft.com/office/powerpoint/2010/main" val="402779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942893-4468-2D40-B02C-F55DF06E13C4}"/>
              </a:ext>
            </a:extLst>
          </p:cNvPr>
          <p:cNvSpPr>
            <a:spLocks noGrp="1"/>
          </p:cNvSpPr>
          <p:nvPr>
            <p:ph type="body" sz="quarter" idx="13"/>
          </p:nvPr>
        </p:nvSpPr>
        <p:spPr/>
        <p:txBody>
          <a:bodyPr/>
          <a:lstStyle/>
          <a:p>
            <a:r>
              <a:rPr lang="en-US" dirty="0"/>
              <a:t>Hormones</a:t>
            </a:r>
          </a:p>
        </p:txBody>
      </p:sp>
      <p:sp>
        <p:nvSpPr>
          <p:cNvPr id="3" name="Text Placeholder 2">
            <a:extLst>
              <a:ext uri="{FF2B5EF4-FFF2-40B4-BE49-F238E27FC236}">
                <a16:creationId xmlns:a16="http://schemas.microsoft.com/office/drawing/2014/main" id="{9E7DD065-67D8-7847-84CE-8D34998F6B9D}"/>
              </a:ext>
            </a:extLst>
          </p:cNvPr>
          <p:cNvSpPr>
            <a:spLocks noGrp="1"/>
          </p:cNvSpPr>
          <p:nvPr>
            <p:ph type="body" sz="quarter" idx="15"/>
          </p:nvPr>
        </p:nvSpPr>
        <p:spPr/>
        <p:txBody>
          <a:bodyPr>
            <a:normAutofit/>
          </a:bodyPr>
          <a:lstStyle/>
          <a:p>
            <a:r>
              <a:rPr lang="en-AU" sz="2000" dirty="0">
                <a:latin typeface="Avenir Book" panose="02000503020000020003" pitchFamily="2" charset="0"/>
              </a:rPr>
              <a:t>Hormones change the functioning of the cell by altering the behaviour and production of proteins. This is done by:</a:t>
            </a:r>
          </a:p>
          <a:p>
            <a:endParaRPr lang="en-AU" sz="2000" dirty="0">
              <a:latin typeface="Avenir Book" panose="02000503020000020003" pitchFamily="2" charset="0"/>
            </a:endParaRPr>
          </a:p>
          <a:p>
            <a:pPr marL="342900" indent="-342900">
              <a:buAutoNum type="arabicPeriod"/>
            </a:pPr>
            <a:r>
              <a:rPr lang="en-AU" sz="2000" dirty="0">
                <a:latin typeface="Avenir Book" panose="02000503020000020003" pitchFamily="2" charset="0"/>
              </a:rPr>
              <a:t>Initiating the transcription of a particular gene to produce a protein. </a:t>
            </a:r>
          </a:p>
          <a:p>
            <a:r>
              <a:rPr lang="en-AU" sz="2000" dirty="0">
                <a:latin typeface="Avenir Book" panose="02000503020000020003" pitchFamily="2" charset="0"/>
              </a:rPr>
              <a:t>2. Changing the rate at which transcription occurs to produce a greater or smaller amount of a protein.</a:t>
            </a:r>
          </a:p>
          <a:p>
            <a:r>
              <a:rPr lang="en-AU" sz="2000" dirty="0">
                <a:latin typeface="Avenir Book" panose="02000503020000020003" pitchFamily="2" charset="0"/>
              </a:rPr>
              <a:t>3. Activating or deactivating proteins and enzymes. </a:t>
            </a:r>
          </a:p>
          <a:p>
            <a:endParaRPr lang="en-AU" sz="2000" dirty="0">
              <a:latin typeface="Avenir Book" panose="02000503020000020003" pitchFamily="2" charset="0"/>
            </a:endParaRPr>
          </a:p>
          <a:p>
            <a:r>
              <a:rPr lang="en-AU" sz="2000" dirty="0">
                <a:latin typeface="Avenir Book" panose="02000503020000020003" pitchFamily="2" charset="0"/>
              </a:rPr>
              <a:t>After a hormone has produced its desired effect, it must be broken down and excreted. Often, the break down occurs in the kidneys or the liver, but can also occur in the target cell itself. From there, the degraded material is excreted from the body as a component of urine or bile.</a:t>
            </a:r>
          </a:p>
          <a:p>
            <a:r>
              <a:rPr lang="en-AU" dirty="0"/>
              <a:t> </a:t>
            </a:r>
          </a:p>
        </p:txBody>
      </p:sp>
    </p:spTree>
    <p:extLst>
      <p:ext uri="{BB962C8B-B14F-4D97-AF65-F5344CB8AC3E}">
        <p14:creationId xmlns:p14="http://schemas.microsoft.com/office/powerpoint/2010/main" val="128750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Hormones</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63822" y="1538832"/>
            <a:ext cx="11481952" cy="4756305"/>
          </a:xfrm>
        </p:spPr>
        <p:txBody>
          <a:bodyPr>
            <a:normAutofit/>
          </a:bodyPr>
          <a:lstStyle/>
          <a:p>
            <a:r>
              <a:rPr lang="en-AU" sz="2400" dirty="0">
                <a:latin typeface="Avenir Book" panose="02000503020000020003" pitchFamily="2" charset="0"/>
              </a:rPr>
              <a:t>To prevent unnecessary consumption of energy and materials in the body, the production and secretion of hormones is closely regulated by a process called negative feedback, whereby the presence of a particular hormone in the body is detected and certain mechanisms prevent the release of more hormone molecules. </a:t>
            </a:r>
          </a:p>
          <a:p>
            <a:r>
              <a:rPr lang="en-AU" sz="2400" dirty="0">
                <a:latin typeface="Avenir Book" panose="02000503020000020003" pitchFamily="2" charset="0"/>
              </a:rPr>
              <a:t>This process involves two components of the nervous system called the hypothalamus and the pituitary gland.  </a:t>
            </a:r>
            <a:endParaRPr lang="en-US" sz="2400" dirty="0">
              <a:latin typeface="Avenir Book" panose="02000503020000020003" pitchFamily="2" charset="0"/>
            </a:endParaRPr>
          </a:p>
          <a:p>
            <a:endParaRPr lang="en-AU" sz="2000" dirty="0"/>
          </a:p>
          <a:p>
            <a:endParaRPr lang="en-AU" dirty="0"/>
          </a:p>
        </p:txBody>
      </p:sp>
      <p:pic>
        <p:nvPicPr>
          <p:cNvPr id="5" name="Picture 4" descr="Diagram&#10;&#10;Description automatically generated">
            <a:extLst>
              <a:ext uri="{FF2B5EF4-FFF2-40B4-BE49-F238E27FC236}">
                <a16:creationId xmlns:a16="http://schemas.microsoft.com/office/drawing/2014/main" id="{988426AC-5DF4-3048-BD19-9AEE9EA874AE}"/>
              </a:ext>
            </a:extLst>
          </p:cNvPr>
          <p:cNvPicPr>
            <a:picLocks noChangeAspect="1"/>
          </p:cNvPicPr>
          <p:nvPr/>
        </p:nvPicPr>
        <p:blipFill>
          <a:blip r:embed="rId3"/>
          <a:stretch>
            <a:fillRect/>
          </a:stretch>
        </p:blipFill>
        <p:spPr>
          <a:xfrm>
            <a:off x="3354813" y="4069857"/>
            <a:ext cx="5482374" cy="2788179"/>
          </a:xfrm>
          <a:prstGeom prst="rect">
            <a:avLst/>
          </a:prstGeom>
        </p:spPr>
      </p:pic>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3B9C7F-448D-C64A-8DCC-53925C6C35D4}"/>
              </a:ext>
            </a:extLst>
          </p:cNvPr>
          <p:cNvSpPr>
            <a:spLocks noGrp="1"/>
          </p:cNvSpPr>
          <p:nvPr>
            <p:ph type="body" sz="quarter" idx="13"/>
          </p:nvPr>
        </p:nvSpPr>
        <p:spPr/>
        <p:txBody>
          <a:bodyPr/>
          <a:lstStyle/>
          <a:p>
            <a:r>
              <a:rPr lang="en-AU" dirty="0"/>
              <a:t>Homeostasis and its mechanisms </a:t>
            </a:r>
            <a:endParaRPr lang="en-US" dirty="0"/>
          </a:p>
        </p:txBody>
      </p:sp>
      <p:sp>
        <p:nvSpPr>
          <p:cNvPr id="3" name="Text Placeholder 2">
            <a:extLst>
              <a:ext uri="{FF2B5EF4-FFF2-40B4-BE49-F238E27FC236}">
                <a16:creationId xmlns:a16="http://schemas.microsoft.com/office/drawing/2014/main" id="{6253E29D-8C9E-0742-B1DE-B58AF2572F3A}"/>
              </a:ext>
            </a:extLst>
          </p:cNvPr>
          <p:cNvSpPr>
            <a:spLocks noGrp="1"/>
          </p:cNvSpPr>
          <p:nvPr>
            <p:ph type="body" sz="quarter" idx="15"/>
          </p:nvPr>
        </p:nvSpPr>
        <p:spPr/>
        <p:txBody>
          <a:bodyPr/>
          <a:lstStyle/>
          <a:p>
            <a:r>
              <a:rPr lang="en-AU" sz="2000" b="1" dirty="0">
                <a:latin typeface="Avenir Book" panose="02000503020000020003" pitchFamily="2" charset="0"/>
              </a:rPr>
              <a:t>Homeostasis</a:t>
            </a:r>
            <a:r>
              <a:rPr lang="en-AU" sz="2000" dirty="0">
                <a:latin typeface="Avenir Book" panose="02000503020000020003" pitchFamily="2" charset="0"/>
              </a:rPr>
              <a:t> is the process by which the body maintains its environment. A relatively constant environment is necessary for optimal body functionality, as most components of the body become dysfunctional outside certain </a:t>
            </a:r>
            <a:r>
              <a:rPr lang="en-AU" sz="2000" b="1" dirty="0">
                <a:latin typeface="Avenir Book" panose="02000503020000020003" pitchFamily="2" charset="0"/>
              </a:rPr>
              <a:t>tolerance limits</a:t>
            </a:r>
            <a:r>
              <a:rPr lang="en-AU" sz="2000" dirty="0">
                <a:latin typeface="Avenir Book" panose="02000503020000020003" pitchFamily="2" charset="0"/>
              </a:rPr>
              <a:t>. </a:t>
            </a:r>
          </a:p>
          <a:p>
            <a:endParaRPr lang="en-AU" sz="2000" dirty="0">
              <a:latin typeface="Avenir Book" panose="02000503020000020003" pitchFamily="2" charset="0"/>
            </a:endParaRPr>
          </a:p>
          <a:p>
            <a:r>
              <a:rPr lang="en-AU" sz="2000" dirty="0">
                <a:latin typeface="Avenir Book" panose="02000503020000020003" pitchFamily="2" charset="0"/>
              </a:rPr>
              <a:t>This doesn't mean that the conditions of the body never change - rather, that they fluctuate in a </a:t>
            </a:r>
            <a:r>
              <a:rPr lang="en-AU" sz="2000" b="1" dirty="0">
                <a:latin typeface="Avenir Book" panose="02000503020000020003" pitchFamily="2" charset="0"/>
              </a:rPr>
              <a:t>dynamic equilibrium </a:t>
            </a:r>
            <a:r>
              <a:rPr lang="en-AU" sz="2000" dirty="0">
                <a:latin typeface="Avenir Book" panose="02000503020000020003" pitchFamily="2" charset="0"/>
              </a:rPr>
              <a:t>(</a:t>
            </a:r>
            <a:r>
              <a:rPr lang="en-AU" sz="2000" b="1" dirty="0">
                <a:latin typeface="Avenir Book" panose="02000503020000020003" pitchFamily="2" charset="0"/>
              </a:rPr>
              <a:t>or steady state</a:t>
            </a:r>
            <a:r>
              <a:rPr lang="en-AU" sz="2000" dirty="0">
                <a:latin typeface="Avenir Book" panose="02000503020000020003" pitchFamily="2" charset="0"/>
              </a:rPr>
              <a:t>) around a </a:t>
            </a:r>
            <a:r>
              <a:rPr lang="en-AU" sz="2000" b="1" dirty="0">
                <a:latin typeface="Avenir Book" panose="02000503020000020003" pitchFamily="2" charset="0"/>
              </a:rPr>
              <a:t>set point </a:t>
            </a:r>
            <a:r>
              <a:rPr lang="en-AU" sz="2000" dirty="0">
                <a:latin typeface="Avenir Book" panose="02000503020000020003" pitchFamily="2" charset="0"/>
              </a:rPr>
              <a:t>at which systems work at their best. For the body to maintain these conditions, it needs to be able to detect changes and counteract them. In this way, it is the joint efforts of the nervous and endocrine systems that allow the body to function seamlessly.</a:t>
            </a:r>
          </a:p>
          <a:p>
            <a:endParaRPr lang="en-US" dirty="0"/>
          </a:p>
        </p:txBody>
      </p:sp>
    </p:spTree>
    <p:extLst>
      <p:ext uri="{BB962C8B-B14F-4D97-AF65-F5344CB8AC3E}">
        <p14:creationId xmlns:p14="http://schemas.microsoft.com/office/powerpoint/2010/main" val="1244147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18D594-8C2D-C34E-9DE7-2A5BAFBC1ADD}"/>
              </a:ext>
            </a:extLst>
          </p:cNvPr>
          <p:cNvSpPr>
            <a:spLocks noGrp="1"/>
          </p:cNvSpPr>
          <p:nvPr>
            <p:ph type="body" sz="quarter" idx="13"/>
          </p:nvPr>
        </p:nvSpPr>
        <p:spPr/>
        <p:txBody>
          <a:bodyPr/>
          <a:lstStyle/>
          <a:p>
            <a:r>
              <a:rPr lang="en-AU" dirty="0"/>
              <a:t>Homeostasis and its mechanisms </a:t>
            </a:r>
            <a:endParaRPr lang="en-US" dirty="0"/>
          </a:p>
          <a:p>
            <a:endParaRPr lang="en-US" dirty="0"/>
          </a:p>
        </p:txBody>
      </p:sp>
      <p:sp>
        <p:nvSpPr>
          <p:cNvPr id="3" name="Text Placeholder 2">
            <a:extLst>
              <a:ext uri="{FF2B5EF4-FFF2-40B4-BE49-F238E27FC236}">
                <a16:creationId xmlns:a16="http://schemas.microsoft.com/office/drawing/2014/main" id="{06640FF7-7F97-C34C-9ED5-BF9B0A3D2289}"/>
              </a:ext>
            </a:extLst>
          </p:cNvPr>
          <p:cNvSpPr>
            <a:spLocks noGrp="1"/>
          </p:cNvSpPr>
          <p:nvPr>
            <p:ph type="body" sz="quarter" idx="15"/>
          </p:nvPr>
        </p:nvSpPr>
        <p:spPr/>
        <p:txBody>
          <a:bodyPr>
            <a:normAutofit/>
          </a:bodyPr>
          <a:lstStyle/>
          <a:p>
            <a:r>
              <a:rPr lang="en-AU" sz="2000" dirty="0">
                <a:latin typeface="Avenir Book" panose="02000503020000020003" pitchFamily="2" charset="0"/>
              </a:rPr>
              <a:t>The main mechanisms through which homeostasis operates are feedback systems, through which the response to a stimulus changes the stimulus itself.</a:t>
            </a:r>
          </a:p>
          <a:p>
            <a:r>
              <a:rPr lang="en-AU" sz="2000" dirty="0">
                <a:latin typeface="Avenir Book" panose="02000503020000020003" pitchFamily="2" charset="0"/>
              </a:rPr>
              <a:t> </a:t>
            </a:r>
          </a:p>
          <a:p>
            <a:pPr marL="285750" indent="-285750">
              <a:buFontTx/>
              <a:buChar char="-"/>
            </a:pPr>
            <a:r>
              <a:rPr lang="en-AU" sz="2000" dirty="0">
                <a:latin typeface="Avenir Book" panose="02000503020000020003" pitchFamily="2" charset="0"/>
              </a:rPr>
              <a:t>Negative feedback: the response reduces or eradicates the stimulus </a:t>
            </a:r>
          </a:p>
          <a:p>
            <a:pPr marL="285750" indent="-285750">
              <a:buFontTx/>
              <a:buChar char="-"/>
            </a:pPr>
            <a:r>
              <a:rPr lang="en-AU" sz="2000" dirty="0">
                <a:latin typeface="Avenir Book" panose="02000503020000020003" pitchFamily="2" charset="0"/>
              </a:rPr>
              <a:t>Positive feedback: the response intensifies the stimulus</a:t>
            </a:r>
          </a:p>
          <a:p>
            <a:r>
              <a:rPr lang="en-AU" sz="2000" dirty="0">
                <a:latin typeface="Avenir Book" panose="02000503020000020003" pitchFamily="2" charset="0"/>
              </a:rPr>
              <a:t> </a:t>
            </a:r>
          </a:p>
          <a:p>
            <a:r>
              <a:rPr lang="en-AU" sz="2000" dirty="0">
                <a:latin typeface="Avenir Book" panose="02000503020000020003" pitchFamily="2" charset="0"/>
              </a:rPr>
              <a:t>As positive feedback is not involved in homeostasis, we will focus on negative feedback mechanisms first.</a:t>
            </a:r>
          </a:p>
          <a:p>
            <a:endParaRPr lang="en-US" dirty="0"/>
          </a:p>
        </p:txBody>
      </p:sp>
      <p:pic>
        <p:nvPicPr>
          <p:cNvPr id="4" name="Picture 3" descr="Diagram&#10;&#10;Description automatically generated">
            <a:extLst>
              <a:ext uri="{FF2B5EF4-FFF2-40B4-BE49-F238E27FC236}">
                <a16:creationId xmlns:a16="http://schemas.microsoft.com/office/drawing/2014/main" id="{FC569359-EFD2-F043-AE7D-07FB9BAA80A6}"/>
              </a:ext>
            </a:extLst>
          </p:cNvPr>
          <p:cNvPicPr>
            <a:picLocks noChangeAspect="1"/>
          </p:cNvPicPr>
          <p:nvPr/>
        </p:nvPicPr>
        <p:blipFill>
          <a:blip r:embed="rId2"/>
          <a:stretch>
            <a:fillRect/>
          </a:stretch>
        </p:blipFill>
        <p:spPr>
          <a:xfrm>
            <a:off x="7725295" y="4274328"/>
            <a:ext cx="3171306" cy="2520547"/>
          </a:xfrm>
          <a:prstGeom prst="rect">
            <a:avLst/>
          </a:prstGeom>
        </p:spPr>
      </p:pic>
    </p:spTree>
    <p:extLst>
      <p:ext uri="{BB962C8B-B14F-4D97-AF65-F5344CB8AC3E}">
        <p14:creationId xmlns:p14="http://schemas.microsoft.com/office/powerpoint/2010/main" val="203079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C60CC4-535D-7A4A-AC78-90F54B7572CE}"/>
              </a:ext>
            </a:extLst>
          </p:cNvPr>
          <p:cNvSpPr>
            <a:spLocks noGrp="1"/>
          </p:cNvSpPr>
          <p:nvPr>
            <p:ph type="body" sz="quarter" idx="13"/>
          </p:nvPr>
        </p:nvSpPr>
        <p:spPr/>
        <p:txBody>
          <a:bodyPr/>
          <a:lstStyle/>
          <a:p>
            <a:r>
              <a:rPr lang="en-AU" dirty="0"/>
              <a:t>Homeostasis and its mechanisms </a:t>
            </a:r>
            <a:endParaRPr lang="en-US" dirty="0"/>
          </a:p>
          <a:p>
            <a:endParaRPr lang="en-US" dirty="0"/>
          </a:p>
        </p:txBody>
      </p:sp>
      <p:sp>
        <p:nvSpPr>
          <p:cNvPr id="3" name="Text Placeholder 2">
            <a:extLst>
              <a:ext uri="{FF2B5EF4-FFF2-40B4-BE49-F238E27FC236}">
                <a16:creationId xmlns:a16="http://schemas.microsoft.com/office/drawing/2014/main" id="{99032B88-7594-6941-9169-965372BEF8F3}"/>
              </a:ext>
            </a:extLst>
          </p:cNvPr>
          <p:cNvSpPr>
            <a:spLocks noGrp="1"/>
          </p:cNvSpPr>
          <p:nvPr>
            <p:ph type="body" sz="quarter" idx="15"/>
          </p:nvPr>
        </p:nvSpPr>
        <p:spPr/>
        <p:txBody>
          <a:bodyPr/>
          <a:lstStyle/>
          <a:p>
            <a:r>
              <a:rPr lang="en-AU" sz="2000" dirty="0">
                <a:latin typeface="Avenir Book" panose="02000503020000020003" pitchFamily="2" charset="0"/>
              </a:rPr>
              <a:t>All feedback mechanisms consist of the following key features:</a:t>
            </a:r>
          </a:p>
          <a:p>
            <a:r>
              <a:rPr lang="en-AU" sz="2000" dirty="0">
                <a:latin typeface="Avenir Book" panose="02000503020000020003" pitchFamily="2" charset="0"/>
              </a:rPr>
              <a:t> </a:t>
            </a:r>
          </a:p>
          <a:p>
            <a:pPr marL="285750" indent="-285750">
              <a:buFont typeface="Arial" panose="020B0604020202020204" pitchFamily="34" charset="0"/>
              <a:buChar char="•"/>
            </a:pPr>
            <a:r>
              <a:rPr lang="en-AU" sz="2000" dirty="0">
                <a:latin typeface="Avenir Book" panose="02000503020000020003" pitchFamily="2" charset="0"/>
              </a:rPr>
              <a:t>Stimulus </a:t>
            </a:r>
          </a:p>
          <a:p>
            <a:pPr marL="285750" indent="-285750">
              <a:buFont typeface="Arial" panose="020B0604020202020204" pitchFamily="34" charset="0"/>
              <a:buChar char="•"/>
            </a:pPr>
            <a:r>
              <a:rPr lang="en-AU" sz="2000" dirty="0">
                <a:latin typeface="Avenir Book" panose="02000503020000020003" pitchFamily="2" charset="0"/>
              </a:rPr>
              <a:t>Receptor</a:t>
            </a:r>
          </a:p>
          <a:p>
            <a:pPr marL="285750" indent="-285750">
              <a:buFont typeface="Arial" panose="020B0604020202020204" pitchFamily="34" charset="0"/>
              <a:buChar char="•"/>
            </a:pPr>
            <a:r>
              <a:rPr lang="en-AU" sz="2000" dirty="0">
                <a:latin typeface="Avenir Book" panose="02000503020000020003" pitchFamily="2" charset="0"/>
              </a:rPr>
              <a:t>Modulator </a:t>
            </a:r>
          </a:p>
          <a:p>
            <a:pPr marL="285750" indent="-285750">
              <a:buFont typeface="Arial" panose="020B0604020202020204" pitchFamily="34" charset="0"/>
              <a:buChar char="•"/>
            </a:pPr>
            <a:r>
              <a:rPr lang="en-AU" sz="2000" dirty="0">
                <a:latin typeface="Avenir Book" panose="02000503020000020003" pitchFamily="2" charset="0"/>
              </a:rPr>
              <a:t>Effector</a:t>
            </a:r>
          </a:p>
          <a:p>
            <a:pPr marL="285750" indent="-285750">
              <a:buFont typeface="Arial" panose="020B0604020202020204" pitchFamily="34" charset="0"/>
              <a:buChar char="•"/>
            </a:pPr>
            <a:r>
              <a:rPr lang="en-AU" sz="2000" dirty="0">
                <a:latin typeface="Avenir Book" panose="02000503020000020003" pitchFamily="2" charset="0"/>
              </a:rPr>
              <a:t>Feedback</a:t>
            </a:r>
          </a:p>
          <a:p>
            <a:endParaRPr lang="en-US" dirty="0"/>
          </a:p>
        </p:txBody>
      </p:sp>
      <p:pic>
        <p:nvPicPr>
          <p:cNvPr id="5" name="Picture 4" descr="Diagram&#10;&#10;Description automatically generated">
            <a:extLst>
              <a:ext uri="{FF2B5EF4-FFF2-40B4-BE49-F238E27FC236}">
                <a16:creationId xmlns:a16="http://schemas.microsoft.com/office/drawing/2014/main" id="{F1F31826-F442-F344-BB96-F8CFCCFBBCFD}"/>
              </a:ext>
            </a:extLst>
          </p:cNvPr>
          <p:cNvPicPr>
            <a:picLocks noChangeAspect="1"/>
          </p:cNvPicPr>
          <p:nvPr/>
        </p:nvPicPr>
        <p:blipFill>
          <a:blip r:embed="rId2"/>
          <a:stretch>
            <a:fillRect/>
          </a:stretch>
        </p:blipFill>
        <p:spPr>
          <a:xfrm>
            <a:off x="5149363" y="2014763"/>
            <a:ext cx="6068765" cy="4823440"/>
          </a:xfrm>
          <a:prstGeom prst="rect">
            <a:avLst/>
          </a:prstGeom>
        </p:spPr>
      </p:pic>
    </p:spTree>
    <p:extLst>
      <p:ext uri="{BB962C8B-B14F-4D97-AF65-F5344CB8AC3E}">
        <p14:creationId xmlns:p14="http://schemas.microsoft.com/office/powerpoint/2010/main" val="2082172039"/>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660</TotalTime>
  <Words>921</Words>
  <Application>Microsoft Macintosh PowerPoint</Application>
  <PresentationFormat>Widescreen</PresentationFormat>
  <Paragraphs>61</Paragraphs>
  <Slides>10</Slides>
  <Notes>5</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10</vt:i4>
      </vt:variant>
    </vt:vector>
  </HeadingPairs>
  <TitlesOfParts>
    <vt:vector size="23"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2022-03-13T15:11:39Z</dcterms:created>
  <dcterms:modified xsi:type="dcterms:W3CDTF">2022-03-14T02:11:53Z</dcterms:modified>
</cp:coreProperties>
</file>
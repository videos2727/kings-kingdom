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sldIdLst>
    <p:sldId id="256" r:id="rId2"/>
    <p:sldId id="258" r:id="rId3"/>
    <p:sldId id="286" r:id="rId4"/>
    <p:sldId id="280" r:id="rId5"/>
    <p:sldId id="259" r:id="rId6"/>
    <p:sldId id="260" r:id="rId7"/>
    <p:sldId id="261" r:id="rId8"/>
    <p:sldId id="283" r:id="rId9"/>
    <p:sldId id="282" r:id="rId10"/>
    <p:sldId id="285" r:id="rId11"/>
    <p:sldId id="281" r:id="rId12"/>
    <p:sldId id="274" r:id="rId13"/>
    <p:sldId id="275" r:id="rId14"/>
    <p:sldId id="276" r:id="rId15"/>
    <p:sldId id="277" r:id="rId16"/>
    <p:sldId id="278" r:id="rId17"/>
    <p:sldId id="279" r:id="rId18"/>
    <p:sldId id="287"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46" y="6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16D9512-C607-479D-9091-7AFC62A6F268}" type="datetimeFigureOut">
              <a:rPr lang="en-AU" smtClean="0"/>
              <a:t>19/02/2021</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2BC5F8F-1D81-4F44-BB53-0D7347ABA7C5}" type="slidenum">
              <a:rPr lang="en-AU" smtClean="0"/>
              <a:t>‹#›</a:t>
            </a:fld>
            <a:endParaRPr lang="en-AU"/>
          </a:p>
        </p:txBody>
      </p:sp>
    </p:spTree>
    <p:extLst>
      <p:ext uri="{BB962C8B-B14F-4D97-AF65-F5344CB8AC3E}">
        <p14:creationId xmlns:p14="http://schemas.microsoft.com/office/powerpoint/2010/main" val="40126457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072D987-F769-4FBA-90D4-E4010B051761}" type="datetimeFigureOut">
              <a:rPr lang="en-AU" smtClean="0"/>
              <a:t>19/02/2021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F33971A-AB81-42CD-86E9-32844290D5A4}" type="slidenum">
              <a:rPr lang="en-AU" smtClean="0"/>
              <a:t>‹#›</a:t>
            </a:fld>
            <a:endParaRPr lang="en-A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072D987-F769-4FBA-90D4-E4010B051761}" type="datetimeFigureOut">
              <a:rPr lang="en-AU" smtClean="0"/>
              <a:t>19/02/2021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F33971A-AB81-42CD-86E9-32844290D5A4}" type="slidenum">
              <a:rPr lang="en-AU" smtClean="0"/>
              <a:t>‹#›</a:t>
            </a:fld>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72D987-F769-4FBA-90D4-E4010B051761}" type="datetimeFigureOut">
              <a:rPr lang="en-AU" smtClean="0"/>
              <a:t>19/02/2021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F33971A-AB81-42CD-86E9-32844290D5A4}" type="slidenum">
              <a:rPr lang="en-AU" smtClean="0"/>
              <a:t>‹#›</a:t>
            </a:fld>
            <a:endParaRPr lang="en-A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072D987-F769-4FBA-90D4-E4010B051761}" type="datetimeFigureOut">
              <a:rPr lang="en-AU" smtClean="0"/>
              <a:t>19/02/2021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F33971A-AB81-42CD-86E9-32844290D5A4}" type="slidenum">
              <a:rPr lang="en-AU" smtClean="0"/>
              <a:t>‹#›</a:t>
            </a:fld>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072D987-F769-4FBA-90D4-E4010B051761}" type="datetimeFigureOut">
              <a:rPr lang="en-AU" smtClean="0"/>
              <a:t>19/02/2021</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3F33971A-AB81-42CD-86E9-32844290D5A4}" type="slidenum">
              <a:rPr lang="en-AU" smtClean="0"/>
              <a:t>‹#›</a:t>
            </a:fld>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072D987-F769-4FBA-90D4-E4010B051761}" type="datetimeFigureOut">
              <a:rPr lang="en-AU" smtClean="0"/>
              <a:t>19/02/2021</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3F33971A-AB81-42CD-86E9-32844290D5A4}" type="slidenum">
              <a:rPr lang="en-AU" smtClean="0"/>
              <a:t>‹#›</a:t>
            </a:fld>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72D987-F769-4FBA-90D4-E4010B051761}" type="datetimeFigureOut">
              <a:rPr lang="en-AU" smtClean="0"/>
              <a:t>19/02/2021</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3F33971A-AB81-42CD-86E9-32844290D5A4}" type="slidenum">
              <a:rPr lang="en-AU" smtClean="0"/>
              <a:t>‹#›</a:t>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n-US"/>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072D987-F769-4FBA-90D4-E4010B051761}" type="datetimeFigureOut">
              <a:rPr lang="en-AU" smtClean="0"/>
              <a:t>19/02/2021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F33971A-AB81-42CD-86E9-32844290D5A4}" type="slidenum">
              <a:rPr lang="en-AU" smtClean="0"/>
              <a:t>‹#›</a:t>
            </a:fld>
            <a:endParaRPr lang="en-AU"/>
          </a:p>
        </p:txBody>
      </p:sp>
      <p:sp>
        <p:nvSpPr>
          <p:cNvPr id="9" name="Content Placeholder 8"/>
          <p:cNvSpPr>
            <a:spLocks noGrp="1"/>
          </p:cNvSpPr>
          <p:nvPr>
            <p:ph sz="quarter" idx="13"/>
          </p:nvPr>
        </p:nvSpPr>
        <p:spPr>
          <a:xfrm>
            <a:off x="304800" y="381000"/>
            <a:ext cx="7772400" cy="4942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2072D987-F769-4FBA-90D4-E4010B051761}" type="datetimeFigureOut">
              <a:rPr lang="en-AU" smtClean="0"/>
              <a:t>19/02/2021</a:t>
            </a:fld>
            <a:endParaRPr lang="en-AU"/>
          </a:p>
        </p:txBody>
      </p:sp>
      <p:sp>
        <p:nvSpPr>
          <p:cNvPr id="9" name="Slide Number Placeholder 8"/>
          <p:cNvSpPr>
            <a:spLocks noGrp="1"/>
          </p:cNvSpPr>
          <p:nvPr>
            <p:ph type="sldNum" sz="quarter" idx="11"/>
          </p:nvPr>
        </p:nvSpPr>
        <p:spPr/>
        <p:txBody>
          <a:bodyPr/>
          <a:lstStyle/>
          <a:p>
            <a:fld id="{3F33971A-AB81-42CD-86E9-32844290D5A4}" type="slidenum">
              <a:rPr lang="en-AU" smtClean="0"/>
              <a:t>‹#›</a:t>
            </a:fld>
            <a:endParaRPr lang="en-AU"/>
          </a:p>
        </p:txBody>
      </p:sp>
      <p:sp>
        <p:nvSpPr>
          <p:cNvPr id="10" name="Footer Placeholder 9"/>
          <p:cNvSpPr>
            <a:spLocks noGrp="1"/>
          </p:cNvSpPr>
          <p:nvPr>
            <p:ph type="ftr" sz="quarter" idx="12"/>
          </p:nvPr>
        </p:nvSpPr>
        <p:spPr/>
        <p:txBody>
          <a:bodyPr/>
          <a:lstStyle/>
          <a:p>
            <a:endParaRPr lang="en-A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072D987-F769-4FBA-90D4-E4010B051761}" type="datetimeFigureOut">
              <a:rPr lang="en-AU" smtClean="0"/>
              <a:t>19/02/2021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F33971A-AB81-42CD-86E9-32844290D5A4}" type="slidenum">
              <a:rPr lang="en-AU" smtClean="0"/>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072D987-F769-4FBA-90D4-E4010B051761}" type="datetimeFigureOut">
              <a:rPr lang="en-AU" smtClean="0"/>
              <a:t>19/02/2021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F33971A-AB81-42CD-86E9-32844290D5A4}" type="slidenum">
              <a:rPr lang="en-AU" smtClean="0"/>
              <a:t>‹#›</a:t>
            </a:fld>
            <a:endParaRPr lang="en-A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3F33971A-AB81-42CD-86E9-32844290D5A4}" type="slidenum">
              <a:rPr lang="en-AU" smtClean="0"/>
              <a:t>‹#›</a:t>
            </a:fld>
            <a:endParaRPr lang="en-AU"/>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endParaRPr lang="en-AU"/>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fld id="{2072D987-F769-4FBA-90D4-E4010B051761}" type="datetimeFigureOut">
              <a:rPr lang="en-AU" smtClean="0"/>
              <a:t>19/02/2021</a:t>
            </a:fld>
            <a:endParaRPr lang="en-AU"/>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video" Target="BIOZONE%20endocrine%20system%20rotate.mpg"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a:t>Hormones and the </a:t>
            </a:r>
            <a:br>
              <a:rPr lang="en-AU" dirty="0"/>
            </a:br>
            <a:r>
              <a:rPr lang="en-AU" dirty="0"/>
              <a:t>Endocrine System</a:t>
            </a:r>
          </a:p>
        </p:txBody>
      </p:sp>
      <p:sp>
        <p:nvSpPr>
          <p:cNvPr id="5" name="Subtitle 4">
            <a:extLst>
              <a:ext uri="{FF2B5EF4-FFF2-40B4-BE49-F238E27FC236}">
                <a16:creationId xmlns:a16="http://schemas.microsoft.com/office/drawing/2014/main" id="{F1479E42-ED19-48B7-B09A-45842FF24028}"/>
              </a:ext>
            </a:extLst>
          </p:cNvPr>
          <p:cNvSpPr>
            <a:spLocks noGrp="1"/>
          </p:cNvSpPr>
          <p:nvPr>
            <p:ph type="subTitle" idx="1"/>
          </p:nvPr>
        </p:nvSpPr>
        <p:spPr/>
        <p:txBody>
          <a:bodyPr/>
          <a:lstStyle/>
          <a:p>
            <a:endParaRPr lang="en-AU"/>
          </a:p>
        </p:txBody>
      </p:sp>
    </p:spTree>
    <p:extLst>
      <p:ext uri="{BB962C8B-B14F-4D97-AF65-F5344CB8AC3E}">
        <p14:creationId xmlns:p14="http://schemas.microsoft.com/office/powerpoint/2010/main" val="35759404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What are we doing today?</a:t>
            </a:r>
          </a:p>
        </p:txBody>
      </p:sp>
      <p:sp>
        <p:nvSpPr>
          <p:cNvPr id="3" name="Content Placeholder 2"/>
          <p:cNvSpPr>
            <a:spLocks noGrp="1"/>
          </p:cNvSpPr>
          <p:nvPr>
            <p:ph idx="1"/>
          </p:nvPr>
        </p:nvSpPr>
        <p:spPr/>
        <p:txBody>
          <a:bodyPr>
            <a:normAutofit/>
          </a:bodyPr>
          <a:lstStyle/>
          <a:p>
            <a:endParaRPr lang="en-AU" dirty="0"/>
          </a:p>
          <a:p>
            <a:pPr lvl="0"/>
            <a:r>
              <a:rPr lang="en-AU" dirty="0"/>
              <a:t>Hormones can be lipid-soluble and able to cross cell membranes to bind with and activate intracellular receptors or, water-soluble and able to bind with and activate receptors on cell membranes, and require secondary messengers to affect cell functioning (SU)</a:t>
            </a:r>
            <a:endParaRPr lang="en-GB" dirty="0"/>
          </a:p>
          <a:p>
            <a:pPr lvl="0"/>
            <a:r>
              <a:rPr lang="en-AU" dirty="0"/>
              <a:t>Hormones secreted from the hypothalamus, pituitary, thyroid, parathyroid, pancreas and adrenal glands are involved in homeostasis by affecting specific target organs (SU)</a:t>
            </a:r>
            <a:endParaRPr lang="en-GB" dirty="0"/>
          </a:p>
          <a:p>
            <a:pPr marL="114300" indent="0">
              <a:buNone/>
            </a:pPr>
            <a:endParaRPr lang="en-AU" dirty="0"/>
          </a:p>
          <a:p>
            <a:endParaRPr lang="en-AU" dirty="0"/>
          </a:p>
          <a:p>
            <a:endParaRPr lang="en-AU" dirty="0"/>
          </a:p>
          <a:p>
            <a:endParaRPr lang="en-AU" dirty="0"/>
          </a:p>
          <a:p>
            <a:pPr lvl="1"/>
            <a:endParaRPr lang="en-AU" dirty="0"/>
          </a:p>
        </p:txBody>
      </p:sp>
    </p:spTree>
    <p:extLst>
      <p:ext uri="{BB962C8B-B14F-4D97-AF65-F5344CB8AC3E}">
        <p14:creationId xmlns:p14="http://schemas.microsoft.com/office/powerpoint/2010/main" val="14913144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Keywords</a:t>
            </a:r>
          </a:p>
        </p:txBody>
      </p:sp>
      <p:sp>
        <p:nvSpPr>
          <p:cNvPr id="3" name="Content Placeholder 2"/>
          <p:cNvSpPr>
            <a:spLocks noGrp="1"/>
          </p:cNvSpPr>
          <p:nvPr>
            <p:ph idx="1"/>
          </p:nvPr>
        </p:nvSpPr>
        <p:spPr/>
        <p:txBody>
          <a:bodyPr/>
          <a:lstStyle/>
          <a:p>
            <a:r>
              <a:rPr lang="en-AU" dirty="0"/>
              <a:t>Endocrine:</a:t>
            </a:r>
          </a:p>
          <a:p>
            <a:r>
              <a:rPr lang="en-AU" dirty="0"/>
              <a:t>Hormone:</a:t>
            </a:r>
          </a:p>
          <a:p>
            <a:r>
              <a:rPr lang="en-AU" dirty="0"/>
              <a:t>Target cells/organ:</a:t>
            </a:r>
          </a:p>
          <a:p>
            <a:r>
              <a:rPr lang="en-AU" dirty="0"/>
              <a:t>Paracrine:</a:t>
            </a:r>
          </a:p>
          <a:p>
            <a:r>
              <a:rPr lang="en-AU" dirty="0"/>
              <a:t>Protein hormone:</a:t>
            </a:r>
          </a:p>
          <a:p>
            <a:r>
              <a:rPr lang="en-AU" dirty="0"/>
              <a:t>Amine hormone:</a:t>
            </a:r>
          </a:p>
          <a:p>
            <a:r>
              <a:rPr lang="en-AU" dirty="0"/>
              <a:t>Steroid hormone:</a:t>
            </a:r>
          </a:p>
          <a:p>
            <a:r>
              <a:rPr lang="en-AU" dirty="0"/>
              <a:t>Receptor protein:</a:t>
            </a:r>
          </a:p>
          <a:p>
            <a:r>
              <a:rPr lang="en-AU"/>
              <a:t>Negative feedback:</a:t>
            </a:r>
            <a:endParaRPr lang="en-AU" dirty="0"/>
          </a:p>
          <a:p>
            <a:endParaRPr lang="en-AU" dirty="0"/>
          </a:p>
          <a:p>
            <a:endParaRPr lang="en-AU" dirty="0"/>
          </a:p>
        </p:txBody>
      </p:sp>
    </p:spTree>
    <p:extLst>
      <p:ext uri="{BB962C8B-B14F-4D97-AF65-F5344CB8AC3E}">
        <p14:creationId xmlns:p14="http://schemas.microsoft.com/office/powerpoint/2010/main" val="13401326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1"/>
          <p:cNvSpPr>
            <a:spLocks noGrp="1" noChangeArrowheads="1"/>
          </p:cNvSpPr>
          <p:nvPr>
            <p:ph type="title"/>
          </p:nvPr>
        </p:nvSpPr>
        <p:spPr>
          <a:xfrm>
            <a:off x="500063" y="258961"/>
            <a:ext cx="5027414" cy="1393031"/>
          </a:xfrm>
        </p:spPr>
        <p:txBody>
          <a:bodyPr/>
          <a:lstStyle/>
          <a:p>
            <a:pPr>
              <a:tabLst>
                <a:tab pos="669703" algn="l"/>
              </a:tabLst>
            </a:pPr>
            <a:r>
              <a:rPr lang="en-US" altLang="en-US"/>
              <a:t>The Endocrine System</a:t>
            </a:r>
          </a:p>
        </p:txBody>
      </p:sp>
      <p:sp>
        <p:nvSpPr>
          <p:cNvPr id="12290" name="Rectangle 2"/>
          <p:cNvSpPr>
            <a:spLocks noGrp="1" noChangeArrowheads="1"/>
          </p:cNvSpPr>
          <p:nvPr>
            <p:ph type="body" idx="1"/>
          </p:nvPr>
        </p:nvSpPr>
        <p:spPr>
          <a:xfrm>
            <a:off x="250031" y="1768078"/>
            <a:ext cx="4464844" cy="2714625"/>
          </a:xfrm>
        </p:spPr>
        <p:txBody>
          <a:bodyPr>
            <a:normAutofit fontScale="92500" lnSpcReduction="10000"/>
          </a:bodyPr>
          <a:lstStyle/>
          <a:p>
            <a:pPr>
              <a:tabLst>
                <a:tab pos="721047" algn="l"/>
              </a:tabLst>
            </a:pPr>
            <a:r>
              <a:rPr lang="en-US" altLang="en-US"/>
              <a:t>Endocrine glands are distributed throughout the body and are frequently associated with other organs of the body.</a:t>
            </a:r>
          </a:p>
          <a:p>
            <a:pPr>
              <a:tabLst>
                <a:tab pos="721047" algn="l"/>
              </a:tabLst>
            </a:pPr>
            <a:r>
              <a:rPr lang="en-US" altLang="en-US"/>
              <a:t>Endocrine organs are small in comparison to most other organs but their hormone secretions have wide ranging effects on the body by the production of hormones.</a:t>
            </a:r>
          </a:p>
        </p:txBody>
      </p:sp>
      <p:pic>
        <p:nvPicPr>
          <p:cNvPr id="96260" name="BIOZONE endocrine system rotate.mpg" descr="/Users/timothylind/Desktop/05 Endocrine System.ppt_media/BIOZONE endocrine system rotate.mpg">
            <a:hlinkClick r:id="" action="ppaction://media"/>
          </p:cNvPr>
          <p:cNvPicPr>
            <a:picLocks noChangeAspect="1" noChangeArrowheads="1"/>
          </p:cNvPicPr>
          <p:nvPr>
            <a:videoFile r:link="rId1"/>
          </p:nvPr>
        </p:nvPicPr>
        <p:blipFill>
          <a:blip r:embed="rId3">
            <a:extLst>
              <a:ext uri="{28A0092B-C50C-407E-A947-70E740481C1C}">
                <a14:useLocalDpi xmlns:a14="http://schemas.microsoft.com/office/drawing/2010/main" val="0"/>
              </a:ext>
            </a:extLst>
          </a:blip>
          <a:srcRect/>
          <a:stretch>
            <a:fillRect/>
          </a:stretch>
        </p:blipFill>
        <p:spPr bwMode="auto">
          <a:xfrm>
            <a:off x="6057677" y="0"/>
            <a:ext cx="308632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65499925"/>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mediacall" presetSubtype="0" fill="hold" nodeType="clickEffect">
                                  <p:stCondLst>
                                    <p:cond delay="0"/>
                                  </p:stCondLst>
                                  <p:childTnLst>
                                    <p:cmd type="call" cmd="playFrom(0.0)">
                                      <p:cBhvr>
                                        <p:cTn id="6" dur="1" fill="hold"/>
                                        <p:tgtEl>
                                          <p:spTgt spid="96260"/>
                                        </p:tgtEl>
                                      </p:cBhvr>
                                    </p:cmd>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2290">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229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p:cTn id="15" repeatCount="indefinite" fill="hold" display="0">
                  <p:stCondLst>
                    <p:cond delay="indefinite"/>
                  </p:stCondLst>
                  <p:endCondLst>
                    <p:cond evt="onPrev" delay="0">
                      <p:tgtEl>
                        <p:sldTgt/>
                      </p:tgtEl>
                    </p:cond>
                  </p:endCondLst>
                </p:cTn>
                <p:tgtEl>
                  <p:spTgt spid="96260"/>
                </p:tgtEl>
              </p:cMediaNode>
            </p:video>
            <p:seq concurrent="1" nextAc="seek">
              <p:cTn id="16" restart="whenNotActive" fill="hold" evtFilter="cancelBubble" nodeType="interactiveSeq">
                <p:stCondLst>
                  <p:cond evt="onClick" delay="0">
                    <p:tgtEl>
                      <p:spTgt spid="96260"/>
                    </p:tgtEl>
                  </p:cond>
                </p:stCondLst>
                <p:endSync evt="end" delay="0">
                  <p:rtn val="all"/>
                </p:endSync>
                <p:childTnLst>
                  <p:par>
                    <p:cTn id="17" fill="hold" nodeType="clickPar">
                      <p:stCondLst>
                        <p:cond delay="0"/>
                      </p:stCondLst>
                      <p:childTnLst>
                        <p:par>
                          <p:cTn id="18" fill="hold" nodeType="withGroup">
                            <p:stCondLst>
                              <p:cond delay="0"/>
                            </p:stCondLst>
                            <p:childTnLst>
                              <p:par>
                                <p:cTn id="19" presetID="2" presetClass="mediacall" presetSubtype="0" fill="hold" nodeType="clickEffect">
                                  <p:stCondLst>
                                    <p:cond delay="0"/>
                                  </p:stCondLst>
                                  <p:childTnLst>
                                    <p:cmd type="call" cmd="togglePause">
                                      <p:cBhvr>
                                        <p:cTn id="20" dur="1" fill="hold"/>
                                        <p:tgtEl>
                                          <p:spTgt spid="96260"/>
                                        </p:tgtEl>
                                      </p:cBhvr>
                                    </p:cmd>
                                  </p:childTnLst>
                                </p:cTn>
                              </p:par>
                            </p:childTnLst>
                          </p:cTn>
                        </p:par>
                      </p:childTnLst>
                    </p:cTn>
                  </p:par>
                </p:childTnLst>
              </p:cTn>
              <p:nextCondLst>
                <p:cond evt="onClick" delay="0">
                  <p:tgtEl>
                    <p:spTgt spid="96260"/>
                  </p:tgtEl>
                </p:cond>
              </p:nextCondLst>
            </p:seq>
          </p:childTnLst>
        </p:cTn>
      </p:par>
    </p:tnLst>
    <p:bldLst>
      <p:bldP spid="12290" grpId="0" build="p" bldLvl="5" autoUpdateAnimBg="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26978" name="Picture 1"/>
          <p:cNvPicPr>
            <a:picLocks noChangeAspect="1" noChangeArrowheads="1"/>
          </p:cNvPicPr>
          <p:nvPr/>
        </p:nvPicPr>
        <p:blipFill>
          <a:blip r:embed="rId2">
            <a:extLst>
              <a:ext uri="{28A0092B-C50C-407E-A947-70E740481C1C}">
                <a14:useLocalDpi xmlns:a14="http://schemas.microsoft.com/office/drawing/2010/main" val="0"/>
              </a:ext>
            </a:extLst>
          </a:blip>
          <a:srcRect b="35501"/>
          <a:stretch>
            <a:fillRect/>
          </a:stretch>
        </p:blipFill>
        <p:spPr bwMode="auto">
          <a:xfrm>
            <a:off x="3241477" y="1143000"/>
            <a:ext cx="3727029"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126979" name="Rectangle 2"/>
          <p:cNvSpPr>
            <a:spLocks noGrp="1" noChangeArrowheads="1"/>
          </p:cNvSpPr>
          <p:nvPr>
            <p:ph type="title"/>
          </p:nvPr>
        </p:nvSpPr>
        <p:spPr/>
        <p:txBody>
          <a:bodyPr/>
          <a:lstStyle/>
          <a:p>
            <a:pPr>
              <a:tabLst>
                <a:tab pos="669703" algn="l"/>
              </a:tabLst>
            </a:pPr>
            <a:r>
              <a:rPr lang="en-US" altLang="en-US" dirty="0"/>
              <a:t>Endocrine Signaling</a:t>
            </a:r>
          </a:p>
        </p:txBody>
      </p:sp>
      <p:sp>
        <p:nvSpPr>
          <p:cNvPr id="43011" name="Rectangle 3"/>
          <p:cNvSpPr>
            <a:spLocks noGrp="1" noChangeArrowheads="1"/>
          </p:cNvSpPr>
          <p:nvPr>
            <p:ph type="body" idx="1"/>
          </p:nvPr>
        </p:nvSpPr>
        <p:spPr>
          <a:xfrm>
            <a:off x="250031" y="1259086"/>
            <a:ext cx="3232547" cy="4214813"/>
          </a:xfrm>
        </p:spPr>
        <p:txBody>
          <a:bodyPr>
            <a:normAutofit fontScale="92500" lnSpcReduction="10000"/>
          </a:bodyPr>
          <a:lstStyle/>
          <a:p>
            <a:pPr>
              <a:tabLst>
                <a:tab pos="721047" algn="l"/>
              </a:tabLst>
            </a:pPr>
            <a:r>
              <a:rPr lang="en-US" altLang="en-US"/>
              <a:t>The endocrine system regulates the body’s processes by releasing chemical messengers called hormones into the bloodstream.</a:t>
            </a:r>
          </a:p>
          <a:p>
            <a:pPr>
              <a:tabLst>
                <a:tab pos="721047" algn="l"/>
              </a:tabLst>
            </a:pPr>
            <a:r>
              <a:rPr lang="en-US" altLang="en-US"/>
              <a:t>Hormones are produced in minute quantities yet can have a large effect on metabolism.</a:t>
            </a:r>
          </a:p>
          <a:p>
            <a:pPr>
              <a:tabLst>
                <a:tab pos="721047" algn="l"/>
              </a:tabLst>
            </a:pPr>
            <a:r>
              <a:rPr lang="en-US" altLang="en-US"/>
              <a:t>Endocrine organs may be stimulated by a hormonal, humoral or neural stimulus.</a:t>
            </a:r>
          </a:p>
        </p:txBody>
      </p:sp>
      <p:grpSp>
        <p:nvGrpSpPr>
          <p:cNvPr id="126981" name="Group 6"/>
          <p:cNvGrpSpPr>
            <a:grpSpLocks/>
          </p:cNvGrpSpPr>
          <p:nvPr/>
        </p:nvGrpSpPr>
        <p:grpSpPr bwMode="auto">
          <a:xfrm>
            <a:off x="4236013" y="1393031"/>
            <a:ext cx="4181210" cy="2688952"/>
            <a:chOff x="-32" y="0"/>
            <a:chExt cx="3745" cy="2409"/>
          </a:xfrm>
        </p:grpSpPr>
        <p:pic>
          <p:nvPicPr>
            <p:cNvPr id="43012" name="Picture 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 y="305"/>
              <a:ext cx="768" cy="2104"/>
            </a:xfrm>
            <a:prstGeom prst="rect">
              <a:avLst/>
            </a:prstGeom>
            <a:noFill/>
            <a:ln>
              <a:noFill/>
            </a:ln>
            <a:effectLst>
              <a:outerShdw blurRad="190500" dist="190499" dir="2700000" algn="ctr" rotWithShape="0">
                <a:schemeClr val="bg2">
                  <a:alpha val="50000"/>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126989" name="Rectangle 5"/>
            <p:cNvSpPr>
              <a:spLocks/>
            </p:cNvSpPr>
            <p:nvPr/>
          </p:nvSpPr>
          <p:spPr bwMode="auto">
            <a:xfrm>
              <a:off x="1881" y="0"/>
              <a:ext cx="1832" cy="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000">
                  <a:solidFill>
                    <a:srgbClr val="0000FF"/>
                  </a:solidFill>
                  <a:latin typeface="Arial" charset="0"/>
                  <a:ea typeface="ヒラギノ角ゴ ProN W3" pitchFamily="1" charset="-128"/>
                  <a:sym typeface="Arial" charset="0"/>
                </a:defRPr>
              </a:lvl2pPr>
              <a:lvl3pPr eaLnBrk="0" hangingPunct="0">
                <a:tabLst>
                  <a:tab pos="520700" algn="l"/>
                </a:tabLst>
                <a:defRPr sz="2000">
                  <a:solidFill>
                    <a:srgbClr val="0000FF"/>
                  </a:solidFill>
                  <a:latin typeface="Arial" charset="0"/>
                  <a:ea typeface="ヒラギノ角ゴ ProN W3" pitchFamily="1" charset="-128"/>
                  <a:sym typeface="Arial" charset="0"/>
                </a:defRPr>
              </a:lvl3pPr>
              <a:lvl4pPr eaLnBrk="0" hangingPunct="0">
                <a:tabLst>
                  <a:tab pos="520700" algn="l"/>
                </a:tabLst>
                <a:defRPr sz="2000">
                  <a:solidFill>
                    <a:srgbClr val="0000FF"/>
                  </a:solidFill>
                  <a:latin typeface="Arial" charset="0"/>
                  <a:ea typeface="ヒラギノ角ゴ ProN W3" pitchFamily="1" charset="-128"/>
                  <a:sym typeface="Arial" charset="0"/>
                </a:defRPr>
              </a:lvl4pPr>
              <a:lvl5pPr eaLnBrk="0" hangingPunct="0">
                <a:tabLst>
                  <a:tab pos="520700" algn="l"/>
                </a:tabLst>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9pPr>
            </a:lstStyle>
            <a:p>
              <a:pPr eaLnBrk="1" hangingPunct="1"/>
              <a:r>
                <a:rPr lang="en-US" altLang="en-US" sz="1300" b="1" dirty="0">
                  <a:solidFill>
                    <a:srgbClr val="005481"/>
                  </a:solidFill>
                  <a:cs typeface="Arial" charset="0"/>
                </a:rPr>
                <a:t>Hormonal stimuli</a:t>
              </a:r>
            </a:p>
            <a:p>
              <a:pPr eaLnBrk="1" hangingPunct="1"/>
              <a:r>
                <a:rPr lang="en-US" altLang="en-US" sz="1300" dirty="0">
                  <a:solidFill>
                    <a:srgbClr val="005481"/>
                  </a:solidFill>
                  <a:cs typeface="Arial" charset="0"/>
                </a:rPr>
                <a:t>One hormone-producing gland induces another to produce its own hormones.</a:t>
              </a:r>
            </a:p>
          </p:txBody>
        </p:sp>
      </p:grpSp>
      <p:grpSp>
        <p:nvGrpSpPr>
          <p:cNvPr id="126982" name="Group 9"/>
          <p:cNvGrpSpPr>
            <a:grpSpLocks/>
          </p:cNvGrpSpPr>
          <p:nvPr/>
        </p:nvGrpSpPr>
        <p:grpSpPr bwMode="auto">
          <a:xfrm>
            <a:off x="4717107" y="2661047"/>
            <a:ext cx="3700240" cy="1116211"/>
            <a:chOff x="-104" y="0"/>
            <a:chExt cx="3315" cy="1000"/>
          </a:xfrm>
        </p:grpSpPr>
        <p:sp>
          <p:nvSpPr>
            <p:cNvPr id="126986" name="Rectangle 7"/>
            <p:cNvSpPr>
              <a:spLocks/>
            </p:cNvSpPr>
            <p:nvPr/>
          </p:nvSpPr>
          <p:spPr bwMode="auto">
            <a:xfrm>
              <a:off x="1475" y="0"/>
              <a:ext cx="1736" cy="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000">
                  <a:solidFill>
                    <a:srgbClr val="0000FF"/>
                  </a:solidFill>
                  <a:latin typeface="Arial" charset="0"/>
                  <a:ea typeface="ヒラギノ角ゴ ProN W3" pitchFamily="1" charset="-128"/>
                  <a:sym typeface="Arial" charset="0"/>
                </a:defRPr>
              </a:lvl2pPr>
              <a:lvl3pPr eaLnBrk="0" hangingPunct="0">
                <a:tabLst>
                  <a:tab pos="520700" algn="l"/>
                </a:tabLst>
                <a:defRPr sz="2000">
                  <a:solidFill>
                    <a:srgbClr val="0000FF"/>
                  </a:solidFill>
                  <a:latin typeface="Arial" charset="0"/>
                  <a:ea typeface="ヒラギノ角ゴ ProN W3" pitchFamily="1" charset="-128"/>
                  <a:sym typeface="Arial" charset="0"/>
                </a:defRPr>
              </a:lvl3pPr>
              <a:lvl4pPr eaLnBrk="0" hangingPunct="0">
                <a:tabLst>
                  <a:tab pos="520700" algn="l"/>
                </a:tabLst>
                <a:defRPr sz="2000">
                  <a:solidFill>
                    <a:srgbClr val="0000FF"/>
                  </a:solidFill>
                  <a:latin typeface="Arial" charset="0"/>
                  <a:ea typeface="ヒラギノ角ゴ ProN W3" pitchFamily="1" charset="-128"/>
                  <a:sym typeface="Arial" charset="0"/>
                </a:defRPr>
              </a:lvl4pPr>
              <a:lvl5pPr eaLnBrk="0" hangingPunct="0">
                <a:tabLst>
                  <a:tab pos="520700" algn="l"/>
                </a:tabLst>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9pPr>
            </a:lstStyle>
            <a:p>
              <a:pPr eaLnBrk="1" hangingPunct="1"/>
              <a:r>
                <a:rPr lang="en-US" altLang="en-US" sz="1300" b="1" dirty="0" err="1">
                  <a:solidFill>
                    <a:srgbClr val="005481"/>
                  </a:solidFill>
                  <a:cs typeface="Arial" charset="0"/>
                </a:rPr>
                <a:t>Humoral</a:t>
              </a:r>
              <a:r>
                <a:rPr lang="en-US" altLang="en-US" sz="1300" b="1" dirty="0">
                  <a:solidFill>
                    <a:srgbClr val="005481"/>
                  </a:solidFill>
                  <a:cs typeface="Arial" charset="0"/>
                </a:rPr>
                <a:t> stimuli</a:t>
              </a:r>
            </a:p>
            <a:p>
              <a:pPr eaLnBrk="1" hangingPunct="1"/>
              <a:r>
                <a:rPr lang="en-US" altLang="en-US" sz="1300" dirty="0">
                  <a:solidFill>
                    <a:srgbClr val="005481"/>
                  </a:solidFill>
                  <a:cs typeface="Arial" charset="0"/>
                </a:rPr>
                <a:t>Changes in levels of ions and nutrients in the blood stimulate the production of hormones by an endocrine gland.</a:t>
              </a:r>
            </a:p>
          </p:txBody>
        </p:sp>
        <p:pic>
          <p:nvPicPr>
            <p:cNvPr id="43016" name="Picture 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 y="364"/>
              <a:ext cx="264" cy="416"/>
            </a:xfrm>
            <a:prstGeom prst="rect">
              <a:avLst/>
            </a:prstGeom>
            <a:noFill/>
            <a:ln>
              <a:noFill/>
            </a:ln>
            <a:effectLst>
              <a:outerShdw blurRad="190500" dist="190499" dir="2700000" algn="ctr" rotWithShape="0">
                <a:schemeClr val="bg2">
                  <a:alpha val="50000"/>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grpSp>
      <p:grpSp>
        <p:nvGrpSpPr>
          <p:cNvPr id="126983" name="Group 12"/>
          <p:cNvGrpSpPr>
            <a:grpSpLocks/>
          </p:cNvGrpSpPr>
          <p:nvPr/>
        </p:nvGrpSpPr>
        <p:grpSpPr bwMode="auto">
          <a:xfrm>
            <a:off x="5098852" y="1840632"/>
            <a:ext cx="3804047" cy="3177852"/>
            <a:chOff x="0" y="0"/>
            <a:chExt cx="3408" cy="2846"/>
          </a:xfrm>
        </p:grpSpPr>
        <p:sp>
          <p:nvSpPr>
            <p:cNvPr id="126984" name="Rectangle 10"/>
            <p:cNvSpPr>
              <a:spLocks/>
            </p:cNvSpPr>
            <p:nvPr/>
          </p:nvSpPr>
          <p:spPr bwMode="auto">
            <a:xfrm>
              <a:off x="1608" y="2350"/>
              <a:ext cx="1800" cy="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000">
                  <a:solidFill>
                    <a:srgbClr val="0000FF"/>
                  </a:solidFill>
                  <a:latin typeface="Arial" charset="0"/>
                  <a:ea typeface="ヒラギノ角ゴ ProN W3" pitchFamily="1" charset="-128"/>
                  <a:sym typeface="Arial" charset="0"/>
                </a:defRPr>
              </a:lvl2pPr>
              <a:lvl3pPr eaLnBrk="0" hangingPunct="0">
                <a:tabLst>
                  <a:tab pos="520700" algn="l"/>
                </a:tabLst>
                <a:defRPr sz="2000">
                  <a:solidFill>
                    <a:srgbClr val="0000FF"/>
                  </a:solidFill>
                  <a:latin typeface="Arial" charset="0"/>
                  <a:ea typeface="ヒラギノ角ゴ ProN W3" pitchFamily="1" charset="-128"/>
                  <a:sym typeface="Arial" charset="0"/>
                </a:defRPr>
              </a:lvl3pPr>
              <a:lvl4pPr eaLnBrk="0" hangingPunct="0">
                <a:tabLst>
                  <a:tab pos="520700" algn="l"/>
                </a:tabLst>
                <a:defRPr sz="2000">
                  <a:solidFill>
                    <a:srgbClr val="0000FF"/>
                  </a:solidFill>
                  <a:latin typeface="Arial" charset="0"/>
                  <a:ea typeface="ヒラギノ角ゴ ProN W3" pitchFamily="1" charset="-128"/>
                  <a:sym typeface="Arial" charset="0"/>
                </a:defRPr>
              </a:lvl4pPr>
              <a:lvl5pPr eaLnBrk="0" hangingPunct="0">
                <a:tabLst>
                  <a:tab pos="520700" algn="l"/>
                </a:tabLst>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9pPr>
            </a:lstStyle>
            <a:p>
              <a:pPr eaLnBrk="1" hangingPunct="1"/>
              <a:r>
                <a:rPr lang="en-US" altLang="en-US" sz="1300" b="1" dirty="0">
                  <a:solidFill>
                    <a:srgbClr val="005481"/>
                  </a:solidFill>
                  <a:cs typeface="Arial" charset="0"/>
                </a:rPr>
                <a:t>Neural stimuli</a:t>
              </a:r>
            </a:p>
            <a:p>
              <a:pPr eaLnBrk="1" hangingPunct="1"/>
              <a:r>
                <a:rPr lang="en-US" altLang="en-US" sz="1300" dirty="0">
                  <a:solidFill>
                    <a:srgbClr val="005481"/>
                  </a:solidFill>
                  <a:cs typeface="Arial" charset="0"/>
                </a:rPr>
                <a:t>Nerve fibers may stimulate hormone release.</a:t>
              </a:r>
            </a:p>
          </p:txBody>
        </p:sp>
        <p:pic>
          <p:nvPicPr>
            <p:cNvPr id="43019" name="Picture 11"/>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2" y="-32"/>
              <a:ext cx="256" cy="1960"/>
            </a:xfrm>
            <a:prstGeom prst="rect">
              <a:avLst/>
            </a:prstGeom>
            <a:noFill/>
            <a:ln>
              <a:noFill/>
            </a:ln>
            <a:effectLst>
              <a:outerShdw blurRad="190500" dist="190499" dir="2700000" algn="ctr" rotWithShape="0">
                <a:schemeClr val="bg2">
                  <a:alpha val="50000"/>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grpSp>
    </p:spTree>
    <p:extLst>
      <p:ext uri="{BB962C8B-B14F-4D97-AF65-F5344CB8AC3E}">
        <p14:creationId xmlns:p14="http://schemas.microsoft.com/office/powerpoint/2010/main" val="1063456204"/>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301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301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30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bldLvl="5" autoUpdateAnimBg="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8002" name="Rectangle 1"/>
          <p:cNvSpPr>
            <a:spLocks noGrp="1" noChangeArrowheads="1"/>
          </p:cNvSpPr>
          <p:nvPr>
            <p:ph type="title"/>
          </p:nvPr>
        </p:nvSpPr>
        <p:spPr/>
        <p:txBody>
          <a:bodyPr/>
          <a:lstStyle/>
          <a:p>
            <a:pPr>
              <a:tabLst>
                <a:tab pos="669703" algn="l"/>
              </a:tabLst>
            </a:pPr>
            <a:r>
              <a:rPr lang="en-US" altLang="en-US"/>
              <a:t>Hormones</a:t>
            </a:r>
          </a:p>
        </p:txBody>
      </p:sp>
      <p:sp>
        <p:nvSpPr>
          <p:cNvPr id="44034" name="Rectangle 2"/>
          <p:cNvSpPr>
            <a:spLocks noGrp="1" noChangeArrowheads="1"/>
          </p:cNvSpPr>
          <p:nvPr>
            <p:ph type="body" idx="1"/>
          </p:nvPr>
        </p:nvSpPr>
        <p:spPr>
          <a:xfrm>
            <a:off x="250031" y="1169789"/>
            <a:ext cx="8210401" cy="1785938"/>
          </a:xfrm>
        </p:spPr>
        <p:txBody>
          <a:bodyPr>
            <a:normAutofit fontScale="92500"/>
          </a:bodyPr>
          <a:lstStyle/>
          <a:p>
            <a:pPr>
              <a:tabLst>
                <a:tab pos="721047" algn="l"/>
              </a:tabLst>
            </a:pPr>
            <a:r>
              <a:rPr lang="en-US" altLang="en-US" dirty="0"/>
              <a:t>Hormones are carried in the blood to exert a specific metabolic effect on target cells.</a:t>
            </a:r>
          </a:p>
          <a:p>
            <a:pPr>
              <a:tabLst>
                <a:tab pos="721047" algn="l"/>
              </a:tabLst>
            </a:pPr>
            <a:r>
              <a:rPr lang="en-US" altLang="en-US" dirty="0"/>
              <a:t>After exerting their effect,  hormones are broken down and excreted.</a:t>
            </a:r>
          </a:p>
          <a:p>
            <a:pPr>
              <a:tabLst>
                <a:tab pos="721047" algn="l"/>
              </a:tabLst>
            </a:pPr>
            <a:r>
              <a:rPr lang="en-US" altLang="en-US" dirty="0"/>
              <a:t>Hormones can be amino acids, peptides, proteins, fatty acids, or steroids.</a:t>
            </a:r>
          </a:p>
        </p:txBody>
      </p:sp>
      <p:grpSp>
        <p:nvGrpSpPr>
          <p:cNvPr id="128004" name="Group 5"/>
          <p:cNvGrpSpPr>
            <a:grpSpLocks/>
          </p:cNvGrpSpPr>
          <p:nvPr/>
        </p:nvGrpSpPr>
        <p:grpSpPr bwMode="auto">
          <a:xfrm>
            <a:off x="5348883" y="4478238"/>
            <a:ext cx="3255891" cy="2098477"/>
            <a:chOff x="0" y="0"/>
            <a:chExt cx="2916" cy="1880"/>
          </a:xfrm>
        </p:grpSpPr>
        <p:pic>
          <p:nvPicPr>
            <p:cNvPr id="128017"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2088" cy="1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128018" name="Rectangle 4"/>
            <p:cNvSpPr>
              <a:spLocks/>
            </p:cNvSpPr>
            <p:nvPr/>
          </p:nvSpPr>
          <p:spPr bwMode="auto">
            <a:xfrm>
              <a:off x="1044" y="1405"/>
              <a:ext cx="1872"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000">
                  <a:solidFill>
                    <a:srgbClr val="0000FF"/>
                  </a:solidFill>
                  <a:latin typeface="Arial" charset="0"/>
                  <a:ea typeface="ヒラギノ角ゴ ProN W3" pitchFamily="1" charset="-128"/>
                  <a:sym typeface="Arial" charset="0"/>
                </a:defRPr>
              </a:lvl2pPr>
              <a:lvl3pPr eaLnBrk="0" hangingPunct="0">
                <a:tabLst>
                  <a:tab pos="520700" algn="l"/>
                </a:tabLst>
                <a:defRPr sz="2000">
                  <a:solidFill>
                    <a:srgbClr val="0000FF"/>
                  </a:solidFill>
                  <a:latin typeface="Arial" charset="0"/>
                  <a:ea typeface="ヒラギノ角ゴ ProN W3" pitchFamily="1" charset="-128"/>
                  <a:sym typeface="Arial" charset="0"/>
                </a:defRPr>
              </a:lvl3pPr>
              <a:lvl4pPr eaLnBrk="0" hangingPunct="0">
                <a:tabLst>
                  <a:tab pos="520700" algn="l"/>
                </a:tabLst>
                <a:defRPr sz="2000">
                  <a:solidFill>
                    <a:srgbClr val="0000FF"/>
                  </a:solidFill>
                  <a:latin typeface="Arial" charset="0"/>
                  <a:ea typeface="ヒラギノ角ゴ ProN W3" pitchFamily="1" charset="-128"/>
                  <a:sym typeface="Arial" charset="0"/>
                </a:defRPr>
              </a:lvl4pPr>
              <a:lvl5pPr eaLnBrk="0" hangingPunct="0">
                <a:tabLst>
                  <a:tab pos="520700" algn="l"/>
                </a:tabLst>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9pPr>
            </a:lstStyle>
            <a:p>
              <a:pPr algn="ctr" eaLnBrk="1" hangingPunct="1"/>
              <a:r>
                <a:rPr lang="en-US" altLang="en-US" sz="1300" dirty="0" err="1">
                  <a:solidFill>
                    <a:srgbClr val="005481"/>
                  </a:solidFill>
                  <a:cs typeface="Arial" charset="0"/>
                </a:rPr>
                <a:t>Thyrotropin</a:t>
              </a:r>
              <a:r>
                <a:rPr lang="en-US" altLang="en-US" sz="1300" dirty="0">
                  <a:solidFill>
                    <a:srgbClr val="005481"/>
                  </a:solidFill>
                  <a:cs typeface="Arial" charset="0"/>
                </a:rPr>
                <a:t> releasing hormone (peptide hormone)</a:t>
              </a:r>
            </a:p>
          </p:txBody>
        </p:sp>
      </p:grpSp>
      <p:grpSp>
        <p:nvGrpSpPr>
          <p:cNvPr id="128005" name="Group 8"/>
          <p:cNvGrpSpPr>
            <a:grpSpLocks/>
          </p:cNvGrpSpPr>
          <p:nvPr/>
        </p:nvGrpSpPr>
        <p:grpSpPr bwMode="auto">
          <a:xfrm>
            <a:off x="5642447" y="2694633"/>
            <a:ext cx="2732484" cy="1609576"/>
            <a:chOff x="0" y="0"/>
            <a:chExt cx="2448" cy="1441"/>
          </a:xfrm>
        </p:grpSpPr>
        <p:pic>
          <p:nvPicPr>
            <p:cNvPr id="128015"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2448" cy="1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128016" name="Rectangle 7"/>
            <p:cNvSpPr>
              <a:spLocks/>
            </p:cNvSpPr>
            <p:nvPr/>
          </p:nvSpPr>
          <p:spPr bwMode="auto">
            <a:xfrm>
              <a:off x="1116" y="1113"/>
              <a:ext cx="944"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000">
                  <a:solidFill>
                    <a:srgbClr val="0000FF"/>
                  </a:solidFill>
                  <a:latin typeface="Arial" charset="0"/>
                  <a:ea typeface="ヒラギノ角ゴ ProN W3" pitchFamily="1" charset="-128"/>
                  <a:sym typeface="Arial" charset="0"/>
                </a:defRPr>
              </a:lvl2pPr>
              <a:lvl3pPr eaLnBrk="0" hangingPunct="0">
                <a:tabLst>
                  <a:tab pos="520700" algn="l"/>
                </a:tabLst>
                <a:defRPr sz="2000">
                  <a:solidFill>
                    <a:srgbClr val="0000FF"/>
                  </a:solidFill>
                  <a:latin typeface="Arial" charset="0"/>
                  <a:ea typeface="ヒラギノ角ゴ ProN W3" pitchFamily="1" charset="-128"/>
                  <a:sym typeface="Arial" charset="0"/>
                </a:defRPr>
              </a:lvl3pPr>
              <a:lvl4pPr eaLnBrk="0" hangingPunct="0">
                <a:tabLst>
                  <a:tab pos="520700" algn="l"/>
                </a:tabLst>
                <a:defRPr sz="2000">
                  <a:solidFill>
                    <a:srgbClr val="0000FF"/>
                  </a:solidFill>
                  <a:latin typeface="Arial" charset="0"/>
                  <a:ea typeface="ヒラギノ角ゴ ProN W3" pitchFamily="1" charset="-128"/>
                  <a:sym typeface="Arial" charset="0"/>
                </a:defRPr>
              </a:lvl4pPr>
              <a:lvl5pPr eaLnBrk="0" hangingPunct="0">
                <a:tabLst>
                  <a:tab pos="520700" algn="l"/>
                </a:tabLst>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9pPr>
            </a:lstStyle>
            <a:p>
              <a:pPr algn="ctr" eaLnBrk="1" hangingPunct="1"/>
              <a:r>
                <a:rPr lang="en-US" altLang="en-US" sz="1300">
                  <a:solidFill>
                    <a:srgbClr val="005481"/>
                  </a:solidFill>
                  <a:cs typeface="Arial" charset="0"/>
                </a:rPr>
                <a:t>Thyroxine (amino acid)</a:t>
              </a:r>
            </a:p>
          </p:txBody>
        </p:sp>
      </p:grpSp>
      <p:grpSp>
        <p:nvGrpSpPr>
          <p:cNvPr id="128006" name="Group 11"/>
          <p:cNvGrpSpPr>
            <a:grpSpLocks/>
          </p:cNvGrpSpPr>
          <p:nvPr/>
        </p:nvGrpSpPr>
        <p:grpSpPr bwMode="auto">
          <a:xfrm>
            <a:off x="311424" y="4906863"/>
            <a:ext cx="2483569" cy="1388566"/>
            <a:chOff x="0" y="0"/>
            <a:chExt cx="2224" cy="1243"/>
          </a:xfrm>
        </p:grpSpPr>
        <p:pic>
          <p:nvPicPr>
            <p:cNvPr id="128013" name="Picture 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0"/>
              <a:ext cx="2224" cy="1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128014" name="Rectangle 10"/>
            <p:cNvSpPr>
              <a:spLocks/>
            </p:cNvSpPr>
            <p:nvPr/>
          </p:nvSpPr>
          <p:spPr bwMode="auto">
            <a:xfrm>
              <a:off x="512" y="915"/>
              <a:ext cx="1048"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000">
                  <a:solidFill>
                    <a:srgbClr val="0000FF"/>
                  </a:solidFill>
                  <a:latin typeface="Arial" charset="0"/>
                  <a:ea typeface="ヒラギノ角ゴ ProN W3" pitchFamily="1" charset="-128"/>
                  <a:sym typeface="Arial" charset="0"/>
                </a:defRPr>
              </a:lvl2pPr>
              <a:lvl3pPr eaLnBrk="0" hangingPunct="0">
                <a:tabLst>
                  <a:tab pos="520700" algn="l"/>
                </a:tabLst>
                <a:defRPr sz="2000">
                  <a:solidFill>
                    <a:srgbClr val="0000FF"/>
                  </a:solidFill>
                  <a:latin typeface="Arial" charset="0"/>
                  <a:ea typeface="ヒラギノ角ゴ ProN W3" pitchFamily="1" charset="-128"/>
                  <a:sym typeface="Arial" charset="0"/>
                </a:defRPr>
              </a:lvl3pPr>
              <a:lvl4pPr eaLnBrk="0" hangingPunct="0">
                <a:tabLst>
                  <a:tab pos="520700" algn="l"/>
                </a:tabLst>
                <a:defRPr sz="2000">
                  <a:solidFill>
                    <a:srgbClr val="0000FF"/>
                  </a:solidFill>
                  <a:latin typeface="Arial" charset="0"/>
                  <a:ea typeface="ヒラギノ角ゴ ProN W3" pitchFamily="1" charset="-128"/>
                  <a:sym typeface="Arial" charset="0"/>
                </a:defRPr>
              </a:lvl4pPr>
              <a:lvl5pPr eaLnBrk="0" hangingPunct="0">
                <a:tabLst>
                  <a:tab pos="520700" algn="l"/>
                </a:tabLst>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9pPr>
            </a:lstStyle>
            <a:p>
              <a:pPr algn="ctr" eaLnBrk="1" hangingPunct="1"/>
              <a:r>
                <a:rPr lang="en-US" altLang="en-US" sz="1300">
                  <a:solidFill>
                    <a:srgbClr val="005481"/>
                  </a:solidFill>
                  <a:cs typeface="Arial" charset="0"/>
                </a:rPr>
                <a:t>Prostaglandin (fatty acid)</a:t>
              </a:r>
            </a:p>
          </p:txBody>
        </p:sp>
      </p:grpSp>
      <p:grpSp>
        <p:nvGrpSpPr>
          <p:cNvPr id="128007" name="Group 14"/>
          <p:cNvGrpSpPr>
            <a:grpSpLocks/>
          </p:cNvGrpSpPr>
          <p:nvPr/>
        </p:nvGrpSpPr>
        <p:grpSpPr bwMode="auto">
          <a:xfrm>
            <a:off x="401836" y="2652117"/>
            <a:ext cx="2134195" cy="1982391"/>
            <a:chOff x="0" y="0"/>
            <a:chExt cx="1912" cy="1776"/>
          </a:xfrm>
        </p:grpSpPr>
        <p:pic>
          <p:nvPicPr>
            <p:cNvPr id="128011" name="Picture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784" cy="1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128012" name="Rectangle 13"/>
            <p:cNvSpPr>
              <a:spLocks/>
            </p:cNvSpPr>
            <p:nvPr/>
          </p:nvSpPr>
          <p:spPr bwMode="auto">
            <a:xfrm>
              <a:off x="1008" y="1448"/>
              <a:ext cx="904"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000">
                  <a:solidFill>
                    <a:srgbClr val="0000FF"/>
                  </a:solidFill>
                  <a:latin typeface="Arial" charset="0"/>
                  <a:ea typeface="ヒラギノ角ゴ ProN W3" pitchFamily="1" charset="-128"/>
                  <a:sym typeface="Arial" charset="0"/>
                </a:defRPr>
              </a:lvl2pPr>
              <a:lvl3pPr eaLnBrk="0" hangingPunct="0">
                <a:tabLst>
                  <a:tab pos="520700" algn="l"/>
                </a:tabLst>
                <a:defRPr sz="2000">
                  <a:solidFill>
                    <a:srgbClr val="0000FF"/>
                  </a:solidFill>
                  <a:latin typeface="Arial" charset="0"/>
                  <a:ea typeface="ヒラギノ角ゴ ProN W3" pitchFamily="1" charset="-128"/>
                  <a:sym typeface="Arial" charset="0"/>
                </a:defRPr>
              </a:lvl3pPr>
              <a:lvl4pPr eaLnBrk="0" hangingPunct="0">
                <a:tabLst>
                  <a:tab pos="520700" algn="l"/>
                </a:tabLst>
                <a:defRPr sz="2000">
                  <a:solidFill>
                    <a:srgbClr val="0000FF"/>
                  </a:solidFill>
                  <a:latin typeface="Arial" charset="0"/>
                  <a:ea typeface="ヒラギノ角ゴ ProN W3" pitchFamily="1" charset="-128"/>
                  <a:sym typeface="Arial" charset="0"/>
                </a:defRPr>
              </a:lvl4pPr>
              <a:lvl5pPr eaLnBrk="0" hangingPunct="0">
                <a:tabLst>
                  <a:tab pos="520700" algn="l"/>
                </a:tabLst>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9pPr>
            </a:lstStyle>
            <a:p>
              <a:pPr algn="ctr" eaLnBrk="1" hangingPunct="1"/>
              <a:r>
                <a:rPr lang="en-US" altLang="en-US" sz="1300">
                  <a:solidFill>
                    <a:srgbClr val="005481"/>
                  </a:solidFill>
                  <a:cs typeface="Arial" charset="0"/>
                </a:rPr>
                <a:t>Testosterone (steroid)</a:t>
              </a:r>
            </a:p>
          </p:txBody>
        </p:sp>
      </p:grpSp>
      <p:grpSp>
        <p:nvGrpSpPr>
          <p:cNvPr id="128008" name="Group 17"/>
          <p:cNvGrpSpPr>
            <a:grpSpLocks/>
          </p:cNvGrpSpPr>
          <p:nvPr/>
        </p:nvGrpSpPr>
        <p:grpSpPr bwMode="auto">
          <a:xfrm>
            <a:off x="2791644" y="2678906"/>
            <a:ext cx="3309565" cy="3768328"/>
            <a:chOff x="0" y="0"/>
            <a:chExt cx="2965" cy="3376"/>
          </a:xfrm>
        </p:grpSpPr>
        <p:pic>
          <p:nvPicPr>
            <p:cNvPr id="128009" name="Picture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2965" cy="2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128010" name="Rectangle 16"/>
            <p:cNvSpPr>
              <a:spLocks/>
            </p:cNvSpPr>
            <p:nvPr/>
          </p:nvSpPr>
          <p:spPr bwMode="auto">
            <a:xfrm>
              <a:off x="474" y="3048"/>
              <a:ext cx="1272"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000">
                  <a:solidFill>
                    <a:srgbClr val="0000FF"/>
                  </a:solidFill>
                  <a:latin typeface="Arial" charset="0"/>
                  <a:ea typeface="ヒラギノ角ゴ ProN W3" pitchFamily="1" charset="-128"/>
                  <a:sym typeface="Arial" charset="0"/>
                </a:defRPr>
              </a:lvl2pPr>
              <a:lvl3pPr eaLnBrk="0" hangingPunct="0">
                <a:tabLst>
                  <a:tab pos="520700" algn="l"/>
                </a:tabLst>
                <a:defRPr sz="2000">
                  <a:solidFill>
                    <a:srgbClr val="0000FF"/>
                  </a:solidFill>
                  <a:latin typeface="Arial" charset="0"/>
                  <a:ea typeface="ヒラギノ角ゴ ProN W3" pitchFamily="1" charset="-128"/>
                  <a:sym typeface="Arial" charset="0"/>
                </a:defRPr>
              </a:lvl3pPr>
              <a:lvl4pPr eaLnBrk="0" hangingPunct="0">
                <a:tabLst>
                  <a:tab pos="520700" algn="l"/>
                </a:tabLst>
                <a:defRPr sz="2000">
                  <a:solidFill>
                    <a:srgbClr val="0000FF"/>
                  </a:solidFill>
                  <a:latin typeface="Arial" charset="0"/>
                  <a:ea typeface="ヒラギノ角ゴ ProN W3" pitchFamily="1" charset="-128"/>
                  <a:sym typeface="Arial" charset="0"/>
                </a:defRPr>
              </a:lvl4pPr>
              <a:lvl5pPr eaLnBrk="0" hangingPunct="0">
                <a:tabLst>
                  <a:tab pos="520700" algn="l"/>
                </a:tabLst>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9pPr>
            </a:lstStyle>
            <a:p>
              <a:pPr algn="ctr" eaLnBrk="1" hangingPunct="1"/>
              <a:r>
                <a:rPr lang="en-US" altLang="en-US" sz="1300" dirty="0">
                  <a:solidFill>
                    <a:srgbClr val="005481"/>
                  </a:solidFill>
                  <a:cs typeface="Arial" charset="0"/>
                </a:rPr>
                <a:t>Human growth hormone (protein)</a:t>
              </a:r>
            </a:p>
          </p:txBody>
        </p:sp>
      </p:grpSp>
    </p:spTree>
    <p:extLst>
      <p:ext uri="{BB962C8B-B14F-4D97-AF65-F5344CB8AC3E}">
        <p14:creationId xmlns:p14="http://schemas.microsoft.com/office/powerpoint/2010/main" val="106878026"/>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4034">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4034">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403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4" grpId="0" build="p" bldLvl="5" autoUpdateAnimBg="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9026" name="Rectangle 1"/>
          <p:cNvSpPr>
            <a:spLocks/>
          </p:cNvSpPr>
          <p:nvPr/>
        </p:nvSpPr>
        <p:spPr bwMode="auto">
          <a:xfrm>
            <a:off x="0" y="2472506"/>
            <a:ext cx="9144000" cy="4385494"/>
          </a:xfrm>
          <a:prstGeom prst="rect">
            <a:avLst/>
          </a:prstGeom>
          <a:solidFill>
            <a:schemeClr val="accent1">
              <a:alpha val="49803"/>
            </a:schemeClr>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2000">
                <a:solidFill>
                  <a:srgbClr val="0000FF"/>
                </a:solidFill>
                <a:latin typeface="Arial" charset="0"/>
                <a:ea typeface="ヒラギノ角ゴ ProN W3" pitchFamily="1" charset="-128"/>
                <a:sym typeface="Arial" charset="0"/>
              </a:defRPr>
            </a:lvl1pPr>
            <a:lvl2pPr marL="37931725" indent="-37474525" eaLnBrk="0" hangingPunct="0">
              <a:defRPr sz="2000">
                <a:solidFill>
                  <a:srgbClr val="0000FF"/>
                </a:solidFill>
                <a:latin typeface="Arial" charset="0"/>
                <a:ea typeface="ヒラギノ角ゴ ProN W3" pitchFamily="1" charset="-128"/>
                <a:sym typeface="Arial" charset="0"/>
              </a:defRPr>
            </a:lvl2pPr>
            <a:lvl3pPr eaLnBrk="0" hangingPunct="0">
              <a:defRPr sz="2000">
                <a:solidFill>
                  <a:srgbClr val="0000FF"/>
                </a:solidFill>
                <a:latin typeface="Arial" charset="0"/>
                <a:ea typeface="ヒラギノ角ゴ ProN W3" pitchFamily="1" charset="-128"/>
                <a:sym typeface="Arial" charset="0"/>
              </a:defRPr>
            </a:lvl3pPr>
            <a:lvl4pPr eaLnBrk="0" hangingPunct="0">
              <a:defRPr sz="2000">
                <a:solidFill>
                  <a:srgbClr val="0000FF"/>
                </a:solidFill>
                <a:latin typeface="Arial" charset="0"/>
                <a:ea typeface="ヒラギノ角ゴ ProN W3" pitchFamily="1" charset="-128"/>
                <a:sym typeface="Arial" charset="0"/>
              </a:defRPr>
            </a:lvl4pPr>
            <a:lvl5pPr eaLnBrk="0" hangingPunct="0">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9pPr>
          </a:lstStyle>
          <a:p>
            <a:pPr eaLnBrk="1" hangingPunct="1"/>
            <a:endParaRPr lang="en-US" altLang="en-US"/>
          </a:p>
        </p:txBody>
      </p:sp>
      <p:pic>
        <p:nvPicPr>
          <p:cNvPr id="450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9118" y="2411016"/>
            <a:ext cx="5976193" cy="3911203"/>
          </a:xfrm>
          <a:prstGeom prst="rect">
            <a:avLst/>
          </a:prstGeom>
          <a:noFill/>
          <a:ln>
            <a:noFill/>
          </a:ln>
          <a:effectLst>
            <a:outerShdw blurRad="190500" dist="190500" dir="2700000" rotWithShape="0">
              <a:srgbClr val="808080">
                <a:alpha val="42999"/>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129028" name="Rectangle 3"/>
          <p:cNvSpPr>
            <a:spLocks noGrp="1" noChangeArrowheads="1"/>
          </p:cNvSpPr>
          <p:nvPr>
            <p:ph type="title"/>
          </p:nvPr>
        </p:nvSpPr>
        <p:spPr/>
        <p:txBody>
          <a:bodyPr/>
          <a:lstStyle/>
          <a:p>
            <a:pPr>
              <a:tabLst>
                <a:tab pos="669703" algn="l"/>
              </a:tabLst>
            </a:pPr>
            <a:r>
              <a:rPr lang="en-US" altLang="en-US"/>
              <a:t>Hormone Action</a:t>
            </a:r>
          </a:p>
        </p:txBody>
      </p:sp>
      <p:sp>
        <p:nvSpPr>
          <p:cNvPr id="45060" name="Rectangle 4"/>
          <p:cNvSpPr>
            <a:spLocks noGrp="1" noChangeArrowheads="1"/>
          </p:cNvSpPr>
          <p:nvPr>
            <p:ph type="body" idx="1"/>
          </p:nvPr>
        </p:nvSpPr>
        <p:spPr>
          <a:xfrm>
            <a:off x="250031" y="1169789"/>
            <a:ext cx="7581305" cy="1321594"/>
          </a:xfrm>
        </p:spPr>
        <p:txBody>
          <a:bodyPr>
            <a:normAutofit lnSpcReduction="10000"/>
          </a:bodyPr>
          <a:lstStyle/>
          <a:p>
            <a:pPr>
              <a:tabLst>
                <a:tab pos="721047" algn="l"/>
                <a:tab pos="1045853" algn="l"/>
              </a:tabLst>
            </a:pPr>
            <a:r>
              <a:rPr lang="en-US" altLang="en-US" dirty="0"/>
              <a:t>Endocrine cells produce hormones and secrete them into the blood where they are distributed throughout the body.</a:t>
            </a:r>
          </a:p>
          <a:p>
            <a:pPr lvl="1">
              <a:tabLst>
                <a:tab pos="721047" algn="l"/>
                <a:tab pos="1045853" algn="l"/>
              </a:tabLst>
            </a:pPr>
            <a:r>
              <a:rPr lang="en-US" altLang="en-US" dirty="0"/>
              <a:t>Despite their wide distribution, hormones only affect specific target cells.</a:t>
            </a:r>
          </a:p>
        </p:txBody>
      </p:sp>
      <p:sp>
        <p:nvSpPr>
          <p:cNvPr id="129030" name="Rectangle 5"/>
          <p:cNvSpPr>
            <a:spLocks/>
          </p:cNvSpPr>
          <p:nvPr/>
        </p:nvSpPr>
        <p:spPr bwMode="auto">
          <a:xfrm>
            <a:off x="4681388" y="4869160"/>
            <a:ext cx="1122909" cy="24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000">
                <a:solidFill>
                  <a:srgbClr val="0000FF"/>
                </a:solidFill>
                <a:latin typeface="Arial" charset="0"/>
                <a:ea typeface="ヒラギノ角ゴ ProN W3" pitchFamily="1" charset="-128"/>
                <a:sym typeface="Arial" charset="0"/>
              </a:defRPr>
            </a:lvl2pPr>
            <a:lvl3pPr eaLnBrk="0" hangingPunct="0">
              <a:tabLst>
                <a:tab pos="520700" algn="l"/>
              </a:tabLst>
              <a:defRPr sz="2000">
                <a:solidFill>
                  <a:srgbClr val="0000FF"/>
                </a:solidFill>
                <a:latin typeface="Arial" charset="0"/>
                <a:ea typeface="ヒラギノ角ゴ ProN W3" pitchFamily="1" charset="-128"/>
                <a:sym typeface="Arial" charset="0"/>
              </a:defRPr>
            </a:lvl3pPr>
            <a:lvl4pPr eaLnBrk="0" hangingPunct="0">
              <a:tabLst>
                <a:tab pos="520700" algn="l"/>
              </a:tabLst>
              <a:defRPr sz="2000">
                <a:solidFill>
                  <a:srgbClr val="0000FF"/>
                </a:solidFill>
                <a:latin typeface="Arial" charset="0"/>
                <a:ea typeface="ヒラギノ角ゴ ProN W3" pitchFamily="1" charset="-128"/>
                <a:sym typeface="Arial" charset="0"/>
              </a:defRPr>
            </a:lvl4pPr>
            <a:lvl5pPr eaLnBrk="0" hangingPunct="0">
              <a:tabLst>
                <a:tab pos="520700" algn="l"/>
              </a:tabLst>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9pPr>
          </a:lstStyle>
          <a:p>
            <a:pPr algn="ctr" eaLnBrk="1" hangingPunct="1"/>
            <a:r>
              <a:rPr lang="en-US" altLang="en-US" sz="1300" dirty="0">
                <a:solidFill>
                  <a:srgbClr val="005481"/>
                </a:solidFill>
                <a:cs typeface="Arial" charset="0"/>
              </a:rPr>
              <a:t>Cytoplasm</a:t>
            </a:r>
          </a:p>
        </p:txBody>
      </p:sp>
      <p:sp>
        <p:nvSpPr>
          <p:cNvPr id="129031" name="Rectangle 6"/>
          <p:cNvSpPr>
            <a:spLocks/>
          </p:cNvSpPr>
          <p:nvPr/>
        </p:nvSpPr>
        <p:spPr bwMode="auto">
          <a:xfrm>
            <a:off x="4681388" y="5259586"/>
            <a:ext cx="1131839" cy="366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000">
                <a:solidFill>
                  <a:srgbClr val="0000FF"/>
                </a:solidFill>
                <a:latin typeface="Arial" charset="0"/>
                <a:ea typeface="ヒラギノ角ゴ ProN W3" pitchFamily="1" charset="-128"/>
                <a:sym typeface="Arial" charset="0"/>
              </a:defRPr>
            </a:lvl2pPr>
            <a:lvl3pPr eaLnBrk="0" hangingPunct="0">
              <a:tabLst>
                <a:tab pos="520700" algn="l"/>
              </a:tabLst>
              <a:defRPr sz="2000">
                <a:solidFill>
                  <a:srgbClr val="0000FF"/>
                </a:solidFill>
                <a:latin typeface="Arial" charset="0"/>
                <a:ea typeface="ヒラギノ角ゴ ProN W3" pitchFamily="1" charset="-128"/>
                <a:sym typeface="Arial" charset="0"/>
              </a:defRPr>
            </a:lvl3pPr>
            <a:lvl4pPr eaLnBrk="0" hangingPunct="0">
              <a:tabLst>
                <a:tab pos="520700" algn="l"/>
              </a:tabLst>
              <a:defRPr sz="2000">
                <a:solidFill>
                  <a:srgbClr val="0000FF"/>
                </a:solidFill>
                <a:latin typeface="Arial" charset="0"/>
                <a:ea typeface="ヒラギノ角ゴ ProN W3" pitchFamily="1" charset="-128"/>
                <a:sym typeface="Arial" charset="0"/>
              </a:defRPr>
            </a:lvl4pPr>
            <a:lvl5pPr eaLnBrk="0" hangingPunct="0">
              <a:tabLst>
                <a:tab pos="520700" algn="l"/>
              </a:tabLst>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9pPr>
          </a:lstStyle>
          <a:p>
            <a:pPr algn="ctr" eaLnBrk="1" hangingPunct="1"/>
            <a:r>
              <a:rPr lang="en-US" altLang="en-US" sz="1300" dirty="0">
                <a:solidFill>
                  <a:srgbClr val="005481"/>
                </a:solidFill>
                <a:cs typeface="Arial" charset="0"/>
              </a:rPr>
              <a:t>Plasma membrane</a:t>
            </a:r>
          </a:p>
        </p:txBody>
      </p:sp>
      <p:grpSp>
        <p:nvGrpSpPr>
          <p:cNvPr id="2" name="Group 9"/>
          <p:cNvGrpSpPr>
            <a:grpSpLocks/>
          </p:cNvGrpSpPr>
          <p:nvPr/>
        </p:nvGrpSpPr>
        <p:grpSpPr bwMode="auto">
          <a:xfrm>
            <a:off x="392906" y="2777133"/>
            <a:ext cx="1589484" cy="1715617"/>
            <a:chOff x="0" y="0"/>
            <a:chExt cx="1424" cy="1537"/>
          </a:xfrm>
        </p:grpSpPr>
        <p:sp>
          <p:nvSpPr>
            <p:cNvPr id="129057" name="Rectangle 7"/>
            <p:cNvSpPr>
              <a:spLocks/>
            </p:cNvSpPr>
            <p:nvPr/>
          </p:nvSpPr>
          <p:spPr bwMode="auto">
            <a:xfrm>
              <a:off x="0" y="0"/>
              <a:ext cx="1424" cy="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000">
                  <a:solidFill>
                    <a:srgbClr val="0000FF"/>
                  </a:solidFill>
                  <a:latin typeface="Arial" charset="0"/>
                  <a:ea typeface="ヒラギノ角ゴ ProN W3" pitchFamily="1" charset="-128"/>
                  <a:sym typeface="Arial" charset="0"/>
                </a:defRPr>
              </a:lvl2pPr>
              <a:lvl3pPr eaLnBrk="0" hangingPunct="0">
                <a:tabLst>
                  <a:tab pos="520700" algn="l"/>
                </a:tabLst>
                <a:defRPr sz="2000">
                  <a:solidFill>
                    <a:srgbClr val="0000FF"/>
                  </a:solidFill>
                  <a:latin typeface="Arial" charset="0"/>
                  <a:ea typeface="ヒラギノ角ゴ ProN W3" pitchFamily="1" charset="-128"/>
                  <a:sym typeface="Arial" charset="0"/>
                </a:defRPr>
              </a:lvl3pPr>
              <a:lvl4pPr eaLnBrk="0" hangingPunct="0">
                <a:tabLst>
                  <a:tab pos="520700" algn="l"/>
                </a:tabLst>
                <a:defRPr sz="2000">
                  <a:solidFill>
                    <a:srgbClr val="0000FF"/>
                  </a:solidFill>
                  <a:latin typeface="Arial" charset="0"/>
                  <a:ea typeface="ヒラギノ角ゴ ProN W3" pitchFamily="1" charset="-128"/>
                  <a:sym typeface="Arial" charset="0"/>
                </a:defRPr>
              </a:lvl4pPr>
              <a:lvl5pPr eaLnBrk="0" hangingPunct="0">
                <a:tabLst>
                  <a:tab pos="520700" algn="l"/>
                </a:tabLst>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9pPr>
            </a:lstStyle>
            <a:p>
              <a:pPr eaLnBrk="1" hangingPunct="1"/>
              <a:r>
                <a:rPr lang="en-US" altLang="en-US" sz="1300">
                  <a:solidFill>
                    <a:srgbClr val="005481"/>
                  </a:solidFill>
                  <a:cs typeface="Arial" charset="0"/>
                </a:rPr>
                <a:t>Endocrine cell secretes hormone into bloodstream</a:t>
              </a:r>
            </a:p>
          </p:txBody>
        </p:sp>
        <p:sp>
          <p:nvSpPr>
            <p:cNvPr id="129058" name="Line 8"/>
            <p:cNvSpPr>
              <a:spLocks noChangeShapeType="1"/>
            </p:cNvSpPr>
            <p:nvPr/>
          </p:nvSpPr>
          <p:spPr bwMode="auto">
            <a:xfrm rot="10800000">
              <a:off x="825" y="526"/>
              <a:ext cx="490" cy="993"/>
            </a:xfrm>
            <a:prstGeom prst="line">
              <a:avLst/>
            </a:prstGeom>
            <a:noFill/>
            <a:ln w="25400">
              <a:solidFill>
                <a:srgbClr val="005481"/>
              </a:solidFill>
              <a:miter lim="800000"/>
              <a:headEnd type="oval" w="med" len="med"/>
              <a:tailEnd/>
            </a:ln>
            <a:extLst>
              <a:ext uri="{909E8E84-426E-40DD-AFC4-6F175D3DCCD1}">
                <a14:hiddenFill xmlns:a14="http://schemas.microsoft.com/office/drawing/2010/main">
                  <a:noFill/>
                </a14:hiddenFill>
              </a:ext>
            </a:extLst>
          </p:spPr>
          <p:txBody>
            <a:bodyPr lIns="0" tIns="0" rIns="0" bIns="0"/>
            <a:lstStyle/>
            <a:p>
              <a:endParaRPr lang="en-AU"/>
            </a:p>
          </p:txBody>
        </p:sp>
      </p:grpSp>
      <p:grpSp>
        <p:nvGrpSpPr>
          <p:cNvPr id="3" name="Group 20"/>
          <p:cNvGrpSpPr>
            <a:grpSpLocks/>
          </p:cNvGrpSpPr>
          <p:nvPr/>
        </p:nvGrpSpPr>
        <p:grpSpPr bwMode="auto">
          <a:xfrm>
            <a:off x="2464594" y="2472506"/>
            <a:ext cx="6018609" cy="1934295"/>
            <a:chOff x="0" y="168"/>
            <a:chExt cx="5392" cy="1732"/>
          </a:xfrm>
        </p:grpSpPr>
        <p:sp>
          <p:nvSpPr>
            <p:cNvPr id="129047" name="Rectangle 10"/>
            <p:cNvSpPr>
              <a:spLocks/>
            </p:cNvSpPr>
            <p:nvPr/>
          </p:nvSpPr>
          <p:spPr bwMode="auto">
            <a:xfrm>
              <a:off x="0" y="222"/>
              <a:ext cx="2833"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000">
                  <a:solidFill>
                    <a:srgbClr val="0000FF"/>
                  </a:solidFill>
                  <a:latin typeface="Arial" charset="0"/>
                  <a:ea typeface="ヒラギノ角ゴ ProN W3" pitchFamily="1" charset="-128"/>
                  <a:sym typeface="Arial" charset="0"/>
                </a:defRPr>
              </a:lvl2pPr>
              <a:lvl3pPr eaLnBrk="0" hangingPunct="0">
                <a:tabLst>
                  <a:tab pos="520700" algn="l"/>
                </a:tabLst>
                <a:defRPr sz="2000">
                  <a:solidFill>
                    <a:srgbClr val="0000FF"/>
                  </a:solidFill>
                  <a:latin typeface="Arial" charset="0"/>
                  <a:ea typeface="ヒラギノ角ゴ ProN W3" pitchFamily="1" charset="-128"/>
                  <a:sym typeface="Arial" charset="0"/>
                </a:defRPr>
              </a:lvl3pPr>
              <a:lvl4pPr eaLnBrk="0" hangingPunct="0">
                <a:tabLst>
                  <a:tab pos="520700" algn="l"/>
                </a:tabLst>
                <a:defRPr sz="2000">
                  <a:solidFill>
                    <a:srgbClr val="0000FF"/>
                  </a:solidFill>
                  <a:latin typeface="Arial" charset="0"/>
                  <a:ea typeface="ヒラギノ角ゴ ProN W3" pitchFamily="1" charset="-128"/>
                  <a:sym typeface="Arial" charset="0"/>
                </a:defRPr>
              </a:lvl4pPr>
              <a:lvl5pPr eaLnBrk="0" hangingPunct="0">
                <a:tabLst>
                  <a:tab pos="520700" algn="l"/>
                </a:tabLst>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9pPr>
            </a:lstStyle>
            <a:p>
              <a:pPr eaLnBrk="1" hangingPunct="1"/>
              <a:r>
                <a:rPr lang="en-US" altLang="en-US" sz="1300" dirty="0">
                  <a:solidFill>
                    <a:srgbClr val="005481"/>
                  </a:solidFill>
                  <a:cs typeface="Arial" charset="0"/>
                </a:rPr>
                <a:t>Hormone travels in the bloodstream </a:t>
              </a:r>
              <a:br>
                <a:rPr lang="en-US" altLang="en-US" sz="1300" dirty="0">
                  <a:solidFill>
                    <a:srgbClr val="005481"/>
                  </a:solidFill>
                  <a:cs typeface="Arial" charset="0"/>
                </a:rPr>
              </a:br>
              <a:r>
                <a:rPr lang="en-US" altLang="en-US" sz="1300" dirty="0">
                  <a:solidFill>
                    <a:srgbClr val="005481"/>
                  </a:solidFill>
                  <a:cs typeface="Arial" charset="0"/>
                </a:rPr>
                <a:t>throughout the body</a:t>
              </a:r>
            </a:p>
          </p:txBody>
        </p:sp>
        <p:sp>
          <p:nvSpPr>
            <p:cNvPr id="129048" name="Rectangle 11"/>
            <p:cNvSpPr>
              <a:spLocks/>
            </p:cNvSpPr>
            <p:nvPr/>
          </p:nvSpPr>
          <p:spPr bwMode="auto">
            <a:xfrm>
              <a:off x="4512" y="168"/>
              <a:ext cx="880"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000">
                  <a:solidFill>
                    <a:srgbClr val="0000FF"/>
                  </a:solidFill>
                  <a:latin typeface="Arial" charset="0"/>
                  <a:ea typeface="ヒラギノ角ゴ ProN W3" pitchFamily="1" charset="-128"/>
                  <a:sym typeface="Arial" charset="0"/>
                </a:defRPr>
              </a:lvl2pPr>
              <a:lvl3pPr eaLnBrk="0" hangingPunct="0">
                <a:tabLst>
                  <a:tab pos="520700" algn="l"/>
                </a:tabLst>
                <a:defRPr sz="2000">
                  <a:solidFill>
                    <a:srgbClr val="0000FF"/>
                  </a:solidFill>
                  <a:latin typeface="Arial" charset="0"/>
                  <a:ea typeface="ヒラギノ角ゴ ProN W3" pitchFamily="1" charset="-128"/>
                  <a:sym typeface="Arial" charset="0"/>
                </a:defRPr>
              </a:lvl3pPr>
              <a:lvl4pPr eaLnBrk="0" hangingPunct="0">
                <a:tabLst>
                  <a:tab pos="520700" algn="l"/>
                </a:tabLst>
                <a:defRPr sz="2000">
                  <a:solidFill>
                    <a:srgbClr val="0000FF"/>
                  </a:solidFill>
                  <a:latin typeface="Arial" charset="0"/>
                  <a:ea typeface="ヒラギノ角ゴ ProN W3" pitchFamily="1" charset="-128"/>
                  <a:sym typeface="Arial" charset="0"/>
                </a:defRPr>
              </a:lvl4pPr>
              <a:lvl5pPr eaLnBrk="0" hangingPunct="0">
                <a:tabLst>
                  <a:tab pos="520700" algn="l"/>
                </a:tabLst>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9pPr>
            </a:lstStyle>
            <a:p>
              <a:pPr eaLnBrk="1" hangingPunct="1"/>
              <a:r>
                <a:rPr lang="en-US" altLang="en-US" sz="1300" dirty="0">
                  <a:solidFill>
                    <a:srgbClr val="005481"/>
                  </a:solidFill>
                  <a:cs typeface="Arial" charset="0"/>
                </a:rPr>
                <a:t>Target cells</a:t>
              </a:r>
            </a:p>
          </p:txBody>
        </p:sp>
        <p:sp>
          <p:nvSpPr>
            <p:cNvPr id="129049" name="Line 12"/>
            <p:cNvSpPr>
              <a:spLocks noChangeShapeType="1"/>
            </p:cNvSpPr>
            <p:nvPr/>
          </p:nvSpPr>
          <p:spPr bwMode="auto">
            <a:xfrm rot="10800000" flipH="1">
              <a:off x="3617" y="256"/>
              <a:ext cx="1003" cy="181"/>
            </a:xfrm>
            <a:prstGeom prst="line">
              <a:avLst/>
            </a:prstGeom>
            <a:noFill/>
            <a:ln w="25400">
              <a:solidFill>
                <a:srgbClr val="005481"/>
              </a:solidFill>
              <a:miter lim="800000"/>
              <a:headEnd type="oval" w="med" len="med"/>
              <a:tailEnd/>
            </a:ln>
            <a:extLst>
              <a:ext uri="{909E8E84-426E-40DD-AFC4-6F175D3DCCD1}">
                <a14:hiddenFill xmlns:a14="http://schemas.microsoft.com/office/drawing/2010/main">
                  <a:noFill/>
                </a14:hiddenFill>
              </a:ext>
            </a:extLst>
          </p:spPr>
          <p:txBody>
            <a:bodyPr lIns="0" tIns="0" rIns="0" bIns="0"/>
            <a:lstStyle/>
            <a:p>
              <a:endParaRPr lang="en-AU"/>
            </a:p>
          </p:txBody>
        </p:sp>
        <p:sp>
          <p:nvSpPr>
            <p:cNvPr id="129050" name="Line 13"/>
            <p:cNvSpPr>
              <a:spLocks noChangeShapeType="1"/>
            </p:cNvSpPr>
            <p:nvPr/>
          </p:nvSpPr>
          <p:spPr bwMode="auto">
            <a:xfrm rot="10800000" flipH="1">
              <a:off x="4374" y="262"/>
              <a:ext cx="253" cy="168"/>
            </a:xfrm>
            <a:prstGeom prst="line">
              <a:avLst/>
            </a:prstGeom>
            <a:noFill/>
            <a:ln w="25400">
              <a:solidFill>
                <a:srgbClr val="005481"/>
              </a:solidFill>
              <a:miter lim="800000"/>
              <a:headEnd type="oval" w="med" len="med"/>
              <a:tailEnd/>
            </a:ln>
            <a:extLst>
              <a:ext uri="{909E8E84-426E-40DD-AFC4-6F175D3DCCD1}">
                <a14:hiddenFill xmlns:a14="http://schemas.microsoft.com/office/drawing/2010/main">
                  <a:noFill/>
                </a14:hiddenFill>
              </a:ext>
            </a:extLst>
          </p:spPr>
          <p:txBody>
            <a:bodyPr lIns="0" tIns="0" rIns="0" bIns="0"/>
            <a:lstStyle/>
            <a:p>
              <a:endParaRPr lang="en-AU"/>
            </a:p>
          </p:txBody>
        </p:sp>
        <p:sp>
          <p:nvSpPr>
            <p:cNvPr id="129051" name="Line 14"/>
            <p:cNvSpPr>
              <a:spLocks noChangeShapeType="1"/>
            </p:cNvSpPr>
            <p:nvPr/>
          </p:nvSpPr>
          <p:spPr bwMode="auto">
            <a:xfrm rot="10800000">
              <a:off x="672" y="524"/>
              <a:ext cx="67" cy="817"/>
            </a:xfrm>
            <a:prstGeom prst="line">
              <a:avLst/>
            </a:prstGeom>
            <a:noFill/>
            <a:ln w="25400">
              <a:solidFill>
                <a:srgbClr val="005481"/>
              </a:solidFill>
              <a:miter lim="800000"/>
              <a:headEnd type="oval" w="med" len="med"/>
              <a:tailEnd/>
            </a:ln>
            <a:extLst>
              <a:ext uri="{909E8E84-426E-40DD-AFC4-6F175D3DCCD1}">
                <a14:hiddenFill xmlns:a14="http://schemas.microsoft.com/office/drawing/2010/main">
                  <a:noFill/>
                </a14:hiddenFill>
              </a:ext>
            </a:extLst>
          </p:spPr>
          <p:txBody>
            <a:bodyPr lIns="0" tIns="0" rIns="0" bIns="0"/>
            <a:lstStyle/>
            <a:p>
              <a:endParaRPr lang="en-AU"/>
            </a:p>
          </p:txBody>
        </p:sp>
        <p:sp>
          <p:nvSpPr>
            <p:cNvPr id="129052" name="Freeform 15"/>
            <p:cNvSpPr>
              <a:spLocks/>
            </p:cNvSpPr>
            <p:nvPr/>
          </p:nvSpPr>
          <p:spPr bwMode="auto">
            <a:xfrm>
              <a:off x="587" y="1434"/>
              <a:ext cx="366" cy="71"/>
            </a:xfrm>
            <a:custGeom>
              <a:avLst/>
              <a:gdLst>
                <a:gd name="T0" fmla="*/ 0 w 21600"/>
                <a:gd name="T1" fmla="*/ 0 h 7361"/>
                <a:gd name="T2" fmla="*/ 0 w 21600"/>
                <a:gd name="T3" fmla="*/ 0 h 7361"/>
                <a:gd name="T4" fmla="*/ 0 60000 65536"/>
                <a:gd name="T5" fmla="*/ 0 60000 65536"/>
                <a:gd name="T6" fmla="*/ 0 w 21600"/>
                <a:gd name="T7" fmla="*/ 0 h 7361"/>
                <a:gd name="T8" fmla="*/ 21600 w 21600"/>
                <a:gd name="T9" fmla="*/ 7361 h 7361"/>
              </a:gdLst>
              <a:ahLst/>
              <a:cxnLst>
                <a:cxn ang="T4">
                  <a:pos x="T0" y="T1"/>
                </a:cxn>
                <a:cxn ang="T5">
                  <a:pos x="T2" y="T3"/>
                </a:cxn>
              </a:cxnLst>
              <a:rect l="T6" t="T7" r="T8" b="T9"/>
              <a:pathLst>
                <a:path w="21600" h="7361">
                  <a:moveTo>
                    <a:pt x="21600" y="5178"/>
                  </a:moveTo>
                  <a:cubicBezTo>
                    <a:pt x="8772" y="-9444"/>
                    <a:pt x="10093" y="12156"/>
                    <a:pt x="0" y="6341"/>
                  </a:cubicBezTo>
                </a:path>
              </a:pathLst>
            </a:custGeom>
            <a:noFill/>
            <a:ln w="25400">
              <a:solidFill>
                <a:srgbClr val="000000"/>
              </a:solidFill>
              <a:miter lim="800000"/>
              <a:headEnd type="stealth" w="med" len="me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000">
                  <a:solidFill>
                    <a:srgbClr val="0000FF"/>
                  </a:solidFill>
                  <a:latin typeface="Arial" charset="0"/>
                  <a:ea typeface="ヒラギノ角ゴ ProN W3" pitchFamily="1" charset="-128"/>
                  <a:sym typeface="Arial" charset="0"/>
                </a:defRPr>
              </a:lvl1pPr>
              <a:lvl2pPr marL="37931725" indent="-37474525" eaLnBrk="0" hangingPunct="0">
                <a:defRPr sz="2000">
                  <a:solidFill>
                    <a:srgbClr val="0000FF"/>
                  </a:solidFill>
                  <a:latin typeface="Arial" charset="0"/>
                  <a:ea typeface="ヒラギノ角ゴ ProN W3" pitchFamily="1" charset="-128"/>
                  <a:sym typeface="Arial" charset="0"/>
                </a:defRPr>
              </a:lvl2pPr>
              <a:lvl3pPr eaLnBrk="0" hangingPunct="0">
                <a:defRPr sz="2000">
                  <a:solidFill>
                    <a:srgbClr val="0000FF"/>
                  </a:solidFill>
                  <a:latin typeface="Arial" charset="0"/>
                  <a:ea typeface="ヒラギノ角ゴ ProN W3" pitchFamily="1" charset="-128"/>
                  <a:sym typeface="Arial" charset="0"/>
                </a:defRPr>
              </a:lvl3pPr>
              <a:lvl4pPr eaLnBrk="0" hangingPunct="0">
                <a:defRPr sz="2000">
                  <a:solidFill>
                    <a:srgbClr val="0000FF"/>
                  </a:solidFill>
                  <a:latin typeface="Arial" charset="0"/>
                  <a:ea typeface="ヒラギノ角ゴ ProN W3" pitchFamily="1" charset="-128"/>
                  <a:sym typeface="Arial" charset="0"/>
                </a:defRPr>
              </a:lvl4pPr>
              <a:lvl5pPr eaLnBrk="0" hangingPunct="0">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9pPr>
            </a:lstStyle>
            <a:p>
              <a:pPr eaLnBrk="1" hangingPunct="1"/>
              <a:endParaRPr lang="en-US" altLang="en-US"/>
            </a:p>
          </p:txBody>
        </p:sp>
        <p:sp>
          <p:nvSpPr>
            <p:cNvPr id="129053" name="Freeform 16"/>
            <p:cNvSpPr>
              <a:spLocks/>
            </p:cNvSpPr>
            <p:nvPr/>
          </p:nvSpPr>
          <p:spPr bwMode="auto">
            <a:xfrm flipH="1">
              <a:off x="3449" y="697"/>
              <a:ext cx="685" cy="519"/>
            </a:xfrm>
            <a:custGeom>
              <a:avLst/>
              <a:gdLst>
                <a:gd name="T0" fmla="*/ 0 w 21600"/>
                <a:gd name="T1" fmla="*/ 0 h 21600"/>
                <a:gd name="T2" fmla="*/ 0 w 21600"/>
                <a:gd name="T3" fmla="*/ 0 h 21600"/>
                <a:gd name="T4" fmla="*/ 0 60000 65536"/>
                <a:gd name="T5" fmla="*/ 0 60000 65536"/>
                <a:gd name="T6" fmla="*/ 0 w 21600"/>
                <a:gd name="T7" fmla="*/ 0 h 21600"/>
                <a:gd name="T8" fmla="*/ 21600 w 21600"/>
                <a:gd name="T9" fmla="*/ 21600 h 21600"/>
              </a:gdLst>
              <a:ahLst/>
              <a:cxnLst>
                <a:cxn ang="T4">
                  <a:pos x="T0" y="T1"/>
                </a:cxn>
                <a:cxn ang="T5">
                  <a:pos x="T2" y="T3"/>
                </a:cxn>
              </a:cxnLst>
              <a:rect l="T6" t="T7" r="T8" b="T9"/>
              <a:pathLst>
                <a:path w="21600" h="21600">
                  <a:moveTo>
                    <a:pt x="0" y="0"/>
                  </a:moveTo>
                  <a:cubicBezTo>
                    <a:pt x="0" y="0"/>
                    <a:pt x="5750" y="21019"/>
                    <a:pt x="21600" y="21600"/>
                  </a:cubicBezTo>
                </a:path>
              </a:pathLst>
            </a:custGeom>
            <a:noFill/>
            <a:ln w="25400">
              <a:solidFill>
                <a:srgbClr val="000000"/>
              </a:solidFill>
              <a:miter lim="800000"/>
              <a:headEnd type="stealth" w="med" len="me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000">
                  <a:solidFill>
                    <a:srgbClr val="0000FF"/>
                  </a:solidFill>
                  <a:latin typeface="Arial" charset="0"/>
                  <a:ea typeface="ヒラギノ角ゴ ProN W3" pitchFamily="1" charset="-128"/>
                  <a:sym typeface="Arial" charset="0"/>
                </a:defRPr>
              </a:lvl1pPr>
              <a:lvl2pPr marL="37931725" indent="-37474525" eaLnBrk="0" hangingPunct="0">
                <a:defRPr sz="2000">
                  <a:solidFill>
                    <a:srgbClr val="0000FF"/>
                  </a:solidFill>
                  <a:latin typeface="Arial" charset="0"/>
                  <a:ea typeface="ヒラギノ角ゴ ProN W3" pitchFamily="1" charset="-128"/>
                  <a:sym typeface="Arial" charset="0"/>
                </a:defRPr>
              </a:lvl2pPr>
              <a:lvl3pPr eaLnBrk="0" hangingPunct="0">
                <a:defRPr sz="2000">
                  <a:solidFill>
                    <a:srgbClr val="0000FF"/>
                  </a:solidFill>
                  <a:latin typeface="Arial" charset="0"/>
                  <a:ea typeface="ヒラギノ角ゴ ProN W3" pitchFamily="1" charset="-128"/>
                  <a:sym typeface="Arial" charset="0"/>
                </a:defRPr>
              </a:lvl3pPr>
              <a:lvl4pPr eaLnBrk="0" hangingPunct="0">
                <a:defRPr sz="2000">
                  <a:solidFill>
                    <a:srgbClr val="0000FF"/>
                  </a:solidFill>
                  <a:latin typeface="Arial" charset="0"/>
                  <a:ea typeface="ヒラギノ角ゴ ProN W3" pitchFamily="1" charset="-128"/>
                  <a:sym typeface="Arial" charset="0"/>
                </a:defRPr>
              </a:lvl4pPr>
              <a:lvl5pPr eaLnBrk="0" hangingPunct="0">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9pPr>
            </a:lstStyle>
            <a:p>
              <a:pPr eaLnBrk="1" hangingPunct="1"/>
              <a:endParaRPr lang="en-US" altLang="en-US"/>
            </a:p>
          </p:txBody>
        </p:sp>
        <p:sp>
          <p:nvSpPr>
            <p:cNvPr id="129054" name="Freeform 17"/>
            <p:cNvSpPr>
              <a:spLocks/>
            </p:cNvSpPr>
            <p:nvPr/>
          </p:nvSpPr>
          <p:spPr bwMode="auto">
            <a:xfrm rot="10800000" flipH="1">
              <a:off x="1803" y="1306"/>
              <a:ext cx="366" cy="71"/>
            </a:xfrm>
            <a:custGeom>
              <a:avLst/>
              <a:gdLst>
                <a:gd name="T0" fmla="*/ 0 w 21600"/>
                <a:gd name="T1" fmla="*/ 0 h 7361"/>
                <a:gd name="T2" fmla="*/ 0 w 21600"/>
                <a:gd name="T3" fmla="*/ 0 h 7361"/>
                <a:gd name="T4" fmla="*/ 0 60000 65536"/>
                <a:gd name="T5" fmla="*/ 0 60000 65536"/>
                <a:gd name="T6" fmla="*/ 0 w 21600"/>
                <a:gd name="T7" fmla="*/ 0 h 7361"/>
                <a:gd name="T8" fmla="*/ 21600 w 21600"/>
                <a:gd name="T9" fmla="*/ 7361 h 7361"/>
              </a:gdLst>
              <a:ahLst/>
              <a:cxnLst>
                <a:cxn ang="T4">
                  <a:pos x="T0" y="T1"/>
                </a:cxn>
                <a:cxn ang="T5">
                  <a:pos x="T2" y="T3"/>
                </a:cxn>
              </a:cxnLst>
              <a:rect l="T6" t="T7" r="T8" b="T9"/>
              <a:pathLst>
                <a:path w="21600" h="7361">
                  <a:moveTo>
                    <a:pt x="21600" y="5178"/>
                  </a:moveTo>
                  <a:cubicBezTo>
                    <a:pt x="8772" y="-9444"/>
                    <a:pt x="10093" y="12156"/>
                    <a:pt x="0" y="6341"/>
                  </a:cubicBezTo>
                </a:path>
              </a:pathLst>
            </a:custGeom>
            <a:noFill/>
            <a:ln w="25400">
              <a:solidFill>
                <a:srgbClr val="000000"/>
              </a:solidFill>
              <a:miter lim="800000"/>
              <a:headEnd type="stealth" w="med" len="me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000">
                  <a:solidFill>
                    <a:srgbClr val="0000FF"/>
                  </a:solidFill>
                  <a:latin typeface="Arial" charset="0"/>
                  <a:ea typeface="ヒラギノ角ゴ ProN W3" pitchFamily="1" charset="-128"/>
                  <a:sym typeface="Arial" charset="0"/>
                </a:defRPr>
              </a:lvl1pPr>
              <a:lvl2pPr marL="37931725" indent="-37474525" eaLnBrk="0" hangingPunct="0">
                <a:defRPr sz="2000">
                  <a:solidFill>
                    <a:srgbClr val="0000FF"/>
                  </a:solidFill>
                  <a:latin typeface="Arial" charset="0"/>
                  <a:ea typeface="ヒラギノ角ゴ ProN W3" pitchFamily="1" charset="-128"/>
                  <a:sym typeface="Arial" charset="0"/>
                </a:defRPr>
              </a:lvl2pPr>
              <a:lvl3pPr eaLnBrk="0" hangingPunct="0">
                <a:defRPr sz="2000">
                  <a:solidFill>
                    <a:srgbClr val="0000FF"/>
                  </a:solidFill>
                  <a:latin typeface="Arial" charset="0"/>
                  <a:ea typeface="ヒラギノ角ゴ ProN W3" pitchFamily="1" charset="-128"/>
                  <a:sym typeface="Arial" charset="0"/>
                </a:defRPr>
              </a:lvl3pPr>
              <a:lvl4pPr eaLnBrk="0" hangingPunct="0">
                <a:defRPr sz="2000">
                  <a:solidFill>
                    <a:srgbClr val="0000FF"/>
                  </a:solidFill>
                  <a:latin typeface="Arial" charset="0"/>
                  <a:ea typeface="ヒラギノ角ゴ ProN W3" pitchFamily="1" charset="-128"/>
                  <a:sym typeface="Arial" charset="0"/>
                </a:defRPr>
              </a:lvl4pPr>
              <a:lvl5pPr eaLnBrk="0" hangingPunct="0">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9pPr>
            </a:lstStyle>
            <a:p>
              <a:pPr eaLnBrk="1" hangingPunct="1"/>
              <a:endParaRPr lang="en-US" altLang="en-US"/>
            </a:p>
          </p:txBody>
        </p:sp>
        <p:sp>
          <p:nvSpPr>
            <p:cNvPr id="129055" name="Freeform 18"/>
            <p:cNvSpPr>
              <a:spLocks/>
            </p:cNvSpPr>
            <p:nvPr/>
          </p:nvSpPr>
          <p:spPr bwMode="auto">
            <a:xfrm flipH="1">
              <a:off x="2833" y="641"/>
              <a:ext cx="685" cy="519"/>
            </a:xfrm>
            <a:custGeom>
              <a:avLst/>
              <a:gdLst>
                <a:gd name="T0" fmla="*/ 0 w 21600"/>
                <a:gd name="T1" fmla="*/ 0 h 21600"/>
                <a:gd name="T2" fmla="*/ 0 w 21600"/>
                <a:gd name="T3" fmla="*/ 0 h 21600"/>
                <a:gd name="T4" fmla="*/ 0 60000 65536"/>
                <a:gd name="T5" fmla="*/ 0 60000 65536"/>
                <a:gd name="T6" fmla="*/ 0 w 21600"/>
                <a:gd name="T7" fmla="*/ 0 h 21600"/>
                <a:gd name="T8" fmla="*/ 21600 w 21600"/>
                <a:gd name="T9" fmla="*/ 21600 h 21600"/>
              </a:gdLst>
              <a:ahLst/>
              <a:cxnLst>
                <a:cxn ang="T4">
                  <a:pos x="T0" y="T1"/>
                </a:cxn>
                <a:cxn ang="T5">
                  <a:pos x="T2" y="T3"/>
                </a:cxn>
              </a:cxnLst>
              <a:rect l="T6" t="T7" r="T8" b="T9"/>
              <a:pathLst>
                <a:path w="21600" h="21600">
                  <a:moveTo>
                    <a:pt x="0" y="0"/>
                  </a:moveTo>
                  <a:cubicBezTo>
                    <a:pt x="0" y="0"/>
                    <a:pt x="5750" y="21019"/>
                    <a:pt x="21600" y="21600"/>
                  </a:cubicBezTo>
                </a:path>
              </a:pathLst>
            </a:custGeom>
            <a:noFill/>
            <a:ln w="25400">
              <a:solidFill>
                <a:srgbClr val="000000"/>
              </a:solidFill>
              <a:miter lim="800000"/>
              <a:headEnd type="stealth" w="med" len="me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000">
                  <a:solidFill>
                    <a:srgbClr val="0000FF"/>
                  </a:solidFill>
                  <a:latin typeface="Arial" charset="0"/>
                  <a:ea typeface="ヒラギノ角ゴ ProN W3" pitchFamily="1" charset="-128"/>
                  <a:sym typeface="Arial" charset="0"/>
                </a:defRPr>
              </a:lvl1pPr>
              <a:lvl2pPr marL="37931725" indent="-37474525" eaLnBrk="0" hangingPunct="0">
                <a:defRPr sz="2000">
                  <a:solidFill>
                    <a:srgbClr val="0000FF"/>
                  </a:solidFill>
                  <a:latin typeface="Arial" charset="0"/>
                  <a:ea typeface="ヒラギノ角ゴ ProN W3" pitchFamily="1" charset="-128"/>
                  <a:sym typeface="Arial" charset="0"/>
                </a:defRPr>
              </a:lvl2pPr>
              <a:lvl3pPr eaLnBrk="0" hangingPunct="0">
                <a:defRPr sz="2000">
                  <a:solidFill>
                    <a:srgbClr val="0000FF"/>
                  </a:solidFill>
                  <a:latin typeface="Arial" charset="0"/>
                  <a:ea typeface="ヒラギノ角ゴ ProN W3" pitchFamily="1" charset="-128"/>
                  <a:sym typeface="Arial" charset="0"/>
                </a:defRPr>
              </a:lvl3pPr>
              <a:lvl4pPr eaLnBrk="0" hangingPunct="0">
                <a:defRPr sz="2000">
                  <a:solidFill>
                    <a:srgbClr val="0000FF"/>
                  </a:solidFill>
                  <a:latin typeface="Arial" charset="0"/>
                  <a:ea typeface="ヒラギノ角ゴ ProN W3" pitchFamily="1" charset="-128"/>
                  <a:sym typeface="Arial" charset="0"/>
                </a:defRPr>
              </a:lvl4pPr>
              <a:lvl5pPr eaLnBrk="0" hangingPunct="0">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9pPr>
            </a:lstStyle>
            <a:p>
              <a:pPr eaLnBrk="1" hangingPunct="1"/>
              <a:endParaRPr lang="en-US" altLang="en-US"/>
            </a:p>
          </p:txBody>
        </p:sp>
        <p:sp>
          <p:nvSpPr>
            <p:cNvPr id="129056" name="Freeform 19"/>
            <p:cNvSpPr>
              <a:spLocks/>
            </p:cNvSpPr>
            <p:nvPr/>
          </p:nvSpPr>
          <p:spPr bwMode="auto">
            <a:xfrm>
              <a:off x="3040" y="1363"/>
              <a:ext cx="787" cy="537"/>
            </a:xfrm>
            <a:custGeom>
              <a:avLst/>
              <a:gdLst>
                <a:gd name="T0" fmla="*/ 0 w 21600"/>
                <a:gd name="T1" fmla="*/ 0 h 21145"/>
                <a:gd name="T2" fmla="*/ 0 w 21600"/>
                <a:gd name="T3" fmla="*/ 0 h 21145"/>
                <a:gd name="T4" fmla="*/ 0 60000 65536"/>
                <a:gd name="T5" fmla="*/ 0 60000 65536"/>
                <a:gd name="T6" fmla="*/ 0 w 21600"/>
                <a:gd name="T7" fmla="*/ 0 h 21145"/>
                <a:gd name="T8" fmla="*/ 21600 w 21600"/>
                <a:gd name="T9" fmla="*/ 21145 h 21145"/>
              </a:gdLst>
              <a:ahLst/>
              <a:cxnLst>
                <a:cxn ang="T4">
                  <a:pos x="T0" y="T1"/>
                </a:cxn>
                <a:cxn ang="T5">
                  <a:pos x="T2" y="T3"/>
                </a:cxn>
              </a:cxnLst>
              <a:rect l="T6" t="T7" r="T8" b="T9"/>
              <a:pathLst>
                <a:path w="21600" h="21145">
                  <a:moveTo>
                    <a:pt x="21600" y="21145"/>
                  </a:moveTo>
                  <a:cubicBezTo>
                    <a:pt x="21600" y="21145"/>
                    <a:pt x="15306" y="-455"/>
                    <a:pt x="0" y="7"/>
                  </a:cubicBezTo>
                </a:path>
              </a:pathLst>
            </a:custGeom>
            <a:noFill/>
            <a:ln w="25400">
              <a:solidFill>
                <a:srgbClr val="000000"/>
              </a:solidFill>
              <a:miter lim="800000"/>
              <a:headEnd type="stealth" w="med" len="me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000">
                  <a:solidFill>
                    <a:srgbClr val="0000FF"/>
                  </a:solidFill>
                  <a:latin typeface="Arial" charset="0"/>
                  <a:ea typeface="ヒラギノ角ゴ ProN W3" pitchFamily="1" charset="-128"/>
                  <a:sym typeface="Arial" charset="0"/>
                </a:defRPr>
              </a:lvl1pPr>
              <a:lvl2pPr marL="37931725" indent="-37474525" eaLnBrk="0" hangingPunct="0">
                <a:defRPr sz="2000">
                  <a:solidFill>
                    <a:srgbClr val="0000FF"/>
                  </a:solidFill>
                  <a:latin typeface="Arial" charset="0"/>
                  <a:ea typeface="ヒラギノ角ゴ ProN W3" pitchFamily="1" charset="-128"/>
                  <a:sym typeface="Arial" charset="0"/>
                </a:defRPr>
              </a:lvl2pPr>
              <a:lvl3pPr eaLnBrk="0" hangingPunct="0">
                <a:defRPr sz="2000">
                  <a:solidFill>
                    <a:srgbClr val="0000FF"/>
                  </a:solidFill>
                  <a:latin typeface="Arial" charset="0"/>
                  <a:ea typeface="ヒラギノ角ゴ ProN W3" pitchFamily="1" charset="-128"/>
                  <a:sym typeface="Arial" charset="0"/>
                </a:defRPr>
              </a:lvl3pPr>
              <a:lvl4pPr eaLnBrk="0" hangingPunct="0">
                <a:defRPr sz="2000">
                  <a:solidFill>
                    <a:srgbClr val="0000FF"/>
                  </a:solidFill>
                  <a:latin typeface="Arial" charset="0"/>
                  <a:ea typeface="ヒラギノ角ゴ ProN W3" pitchFamily="1" charset="-128"/>
                  <a:sym typeface="Arial" charset="0"/>
                </a:defRPr>
              </a:lvl4pPr>
              <a:lvl5pPr eaLnBrk="0" hangingPunct="0">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9pPr>
            </a:lstStyle>
            <a:p>
              <a:pPr eaLnBrk="1" hangingPunct="1"/>
              <a:endParaRPr lang="en-US" altLang="en-US"/>
            </a:p>
          </p:txBody>
        </p:sp>
      </p:grpSp>
      <p:grpSp>
        <p:nvGrpSpPr>
          <p:cNvPr id="4" name="Group 23"/>
          <p:cNvGrpSpPr>
            <a:grpSpLocks/>
          </p:cNvGrpSpPr>
          <p:nvPr/>
        </p:nvGrpSpPr>
        <p:grpSpPr bwMode="auto">
          <a:xfrm>
            <a:off x="4621113" y="5629053"/>
            <a:ext cx="1183184" cy="621729"/>
            <a:chOff x="0" y="0"/>
            <a:chExt cx="1059" cy="556"/>
          </a:xfrm>
        </p:grpSpPr>
        <p:sp>
          <p:nvSpPr>
            <p:cNvPr id="129045" name="Rectangle 21"/>
            <p:cNvSpPr>
              <a:spLocks/>
            </p:cNvSpPr>
            <p:nvPr/>
          </p:nvSpPr>
          <p:spPr bwMode="auto">
            <a:xfrm>
              <a:off x="307" y="228"/>
              <a:ext cx="752"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000">
                  <a:solidFill>
                    <a:srgbClr val="0000FF"/>
                  </a:solidFill>
                  <a:latin typeface="Arial" charset="0"/>
                  <a:ea typeface="ヒラギノ角ゴ ProN W3" pitchFamily="1" charset="-128"/>
                  <a:sym typeface="Arial" charset="0"/>
                </a:defRPr>
              </a:lvl2pPr>
              <a:lvl3pPr eaLnBrk="0" hangingPunct="0">
                <a:tabLst>
                  <a:tab pos="520700" algn="l"/>
                </a:tabLst>
                <a:defRPr sz="2000">
                  <a:solidFill>
                    <a:srgbClr val="0000FF"/>
                  </a:solidFill>
                  <a:latin typeface="Arial" charset="0"/>
                  <a:ea typeface="ヒラギノ角ゴ ProN W3" pitchFamily="1" charset="-128"/>
                  <a:sym typeface="Arial" charset="0"/>
                </a:defRPr>
              </a:lvl3pPr>
              <a:lvl4pPr eaLnBrk="0" hangingPunct="0">
                <a:tabLst>
                  <a:tab pos="520700" algn="l"/>
                </a:tabLst>
                <a:defRPr sz="2000">
                  <a:solidFill>
                    <a:srgbClr val="0000FF"/>
                  </a:solidFill>
                  <a:latin typeface="Arial" charset="0"/>
                  <a:ea typeface="ヒラギノ角ゴ ProN W3" pitchFamily="1" charset="-128"/>
                  <a:sym typeface="Arial" charset="0"/>
                </a:defRPr>
              </a:lvl4pPr>
              <a:lvl5pPr eaLnBrk="0" hangingPunct="0">
                <a:tabLst>
                  <a:tab pos="520700" algn="l"/>
                </a:tabLst>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9pPr>
            </a:lstStyle>
            <a:p>
              <a:pPr algn="ctr" eaLnBrk="1" hangingPunct="1"/>
              <a:r>
                <a:rPr lang="en-US" altLang="en-US" sz="1300">
                  <a:solidFill>
                    <a:srgbClr val="005481"/>
                  </a:solidFill>
                  <a:cs typeface="Arial" charset="0"/>
                </a:rPr>
                <a:t>Hormone receptor</a:t>
              </a:r>
            </a:p>
          </p:txBody>
        </p:sp>
        <p:sp>
          <p:nvSpPr>
            <p:cNvPr id="129046" name="Line 22"/>
            <p:cNvSpPr>
              <a:spLocks noChangeShapeType="1"/>
            </p:cNvSpPr>
            <p:nvPr/>
          </p:nvSpPr>
          <p:spPr bwMode="auto">
            <a:xfrm>
              <a:off x="15" y="13"/>
              <a:ext cx="314" cy="266"/>
            </a:xfrm>
            <a:prstGeom prst="line">
              <a:avLst/>
            </a:prstGeom>
            <a:noFill/>
            <a:ln w="25400">
              <a:solidFill>
                <a:srgbClr val="005481"/>
              </a:solidFill>
              <a:miter lim="800000"/>
              <a:headEnd type="oval" w="med" len="med"/>
              <a:tailEnd/>
            </a:ln>
            <a:extLst>
              <a:ext uri="{909E8E84-426E-40DD-AFC4-6F175D3DCCD1}">
                <a14:hiddenFill xmlns:a14="http://schemas.microsoft.com/office/drawing/2010/main">
                  <a:noFill/>
                </a14:hiddenFill>
              </a:ext>
            </a:extLst>
          </p:spPr>
          <p:txBody>
            <a:bodyPr lIns="0" tIns="0" rIns="0" bIns="0"/>
            <a:lstStyle/>
            <a:p>
              <a:endParaRPr lang="en-AU"/>
            </a:p>
          </p:txBody>
        </p:sp>
      </p:grpSp>
      <p:grpSp>
        <p:nvGrpSpPr>
          <p:cNvPr id="5" name="Group 26"/>
          <p:cNvGrpSpPr>
            <a:grpSpLocks/>
          </p:cNvGrpSpPr>
          <p:nvPr/>
        </p:nvGrpSpPr>
        <p:grpSpPr bwMode="auto">
          <a:xfrm>
            <a:off x="3321844" y="5771927"/>
            <a:ext cx="1687711" cy="836042"/>
            <a:chOff x="0" y="0"/>
            <a:chExt cx="1512" cy="748"/>
          </a:xfrm>
        </p:grpSpPr>
        <p:sp>
          <p:nvSpPr>
            <p:cNvPr id="129043" name="Rectangle 24"/>
            <p:cNvSpPr>
              <a:spLocks/>
            </p:cNvSpPr>
            <p:nvPr/>
          </p:nvSpPr>
          <p:spPr bwMode="auto">
            <a:xfrm>
              <a:off x="0" y="588"/>
              <a:ext cx="1512"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000">
                  <a:solidFill>
                    <a:srgbClr val="0000FF"/>
                  </a:solidFill>
                  <a:latin typeface="Arial" charset="0"/>
                  <a:ea typeface="ヒラギノ角ゴ ProN W3" pitchFamily="1" charset="-128"/>
                  <a:sym typeface="Arial" charset="0"/>
                </a:defRPr>
              </a:lvl2pPr>
              <a:lvl3pPr eaLnBrk="0" hangingPunct="0">
                <a:tabLst>
                  <a:tab pos="520700" algn="l"/>
                </a:tabLst>
                <a:defRPr sz="2000">
                  <a:solidFill>
                    <a:srgbClr val="0000FF"/>
                  </a:solidFill>
                  <a:latin typeface="Arial" charset="0"/>
                  <a:ea typeface="ヒラギノ角ゴ ProN W3" pitchFamily="1" charset="-128"/>
                  <a:sym typeface="Arial" charset="0"/>
                </a:defRPr>
              </a:lvl3pPr>
              <a:lvl4pPr eaLnBrk="0" hangingPunct="0">
                <a:tabLst>
                  <a:tab pos="520700" algn="l"/>
                </a:tabLst>
                <a:defRPr sz="2000">
                  <a:solidFill>
                    <a:srgbClr val="0000FF"/>
                  </a:solidFill>
                  <a:latin typeface="Arial" charset="0"/>
                  <a:ea typeface="ヒラギノ角ゴ ProN W3" pitchFamily="1" charset="-128"/>
                  <a:sym typeface="Arial" charset="0"/>
                </a:defRPr>
              </a:lvl4pPr>
              <a:lvl5pPr eaLnBrk="0" hangingPunct="0">
                <a:tabLst>
                  <a:tab pos="520700" algn="l"/>
                </a:tabLst>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9pPr>
            </a:lstStyle>
            <a:p>
              <a:pPr algn="ctr" eaLnBrk="1" hangingPunct="1"/>
              <a:r>
                <a:rPr lang="en-US" altLang="en-US" sz="1300">
                  <a:solidFill>
                    <a:srgbClr val="005481"/>
                  </a:solidFill>
                  <a:cs typeface="Arial" charset="0"/>
                </a:rPr>
                <a:t>Hormone molecule</a:t>
              </a:r>
            </a:p>
          </p:txBody>
        </p:sp>
        <p:sp>
          <p:nvSpPr>
            <p:cNvPr id="129044" name="Line 25"/>
            <p:cNvSpPr>
              <a:spLocks noChangeShapeType="1"/>
            </p:cNvSpPr>
            <p:nvPr/>
          </p:nvSpPr>
          <p:spPr bwMode="auto">
            <a:xfrm flipH="1">
              <a:off x="716" y="19"/>
              <a:ext cx="193" cy="550"/>
            </a:xfrm>
            <a:prstGeom prst="line">
              <a:avLst/>
            </a:prstGeom>
            <a:noFill/>
            <a:ln w="25400">
              <a:solidFill>
                <a:srgbClr val="005481"/>
              </a:solidFill>
              <a:miter lim="800000"/>
              <a:headEnd type="oval" w="med" len="med"/>
              <a:tailEnd/>
            </a:ln>
            <a:extLst>
              <a:ext uri="{909E8E84-426E-40DD-AFC4-6F175D3DCCD1}">
                <a14:hiddenFill xmlns:a14="http://schemas.microsoft.com/office/drawing/2010/main">
                  <a:noFill/>
                </a14:hiddenFill>
              </a:ext>
            </a:extLst>
          </p:spPr>
          <p:txBody>
            <a:bodyPr lIns="0" tIns="0" rIns="0" bIns="0"/>
            <a:lstStyle/>
            <a:p>
              <a:endParaRPr lang="en-AU"/>
            </a:p>
          </p:txBody>
        </p:sp>
      </p:grpSp>
      <p:grpSp>
        <p:nvGrpSpPr>
          <p:cNvPr id="6" name="Group 29"/>
          <p:cNvGrpSpPr>
            <a:grpSpLocks/>
          </p:cNvGrpSpPr>
          <p:nvPr/>
        </p:nvGrpSpPr>
        <p:grpSpPr bwMode="auto">
          <a:xfrm>
            <a:off x="258961" y="4992812"/>
            <a:ext cx="2589609" cy="1489025"/>
            <a:chOff x="0" y="0"/>
            <a:chExt cx="2320" cy="1334"/>
          </a:xfrm>
        </p:grpSpPr>
        <p:sp>
          <p:nvSpPr>
            <p:cNvPr id="129041" name="Rectangle 27"/>
            <p:cNvSpPr>
              <a:spLocks/>
            </p:cNvSpPr>
            <p:nvPr/>
          </p:nvSpPr>
          <p:spPr bwMode="auto">
            <a:xfrm>
              <a:off x="0" y="502"/>
              <a:ext cx="2320" cy="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000">
                  <a:solidFill>
                    <a:srgbClr val="0000FF"/>
                  </a:solidFill>
                  <a:latin typeface="Arial" charset="0"/>
                  <a:ea typeface="ヒラギノ角ゴ ProN W3" pitchFamily="1" charset="-128"/>
                  <a:sym typeface="Arial" charset="0"/>
                </a:defRPr>
              </a:lvl2pPr>
              <a:lvl3pPr eaLnBrk="0" hangingPunct="0">
                <a:tabLst>
                  <a:tab pos="520700" algn="l"/>
                </a:tabLst>
                <a:defRPr sz="2000">
                  <a:solidFill>
                    <a:srgbClr val="0000FF"/>
                  </a:solidFill>
                  <a:latin typeface="Arial" charset="0"/>
                  <a:ea typeface="ヒラギノ角ゴ ProN W3" pitchFamily="1" charset="-128"/>
                  <a:sym typeface="Arial" charset="0"/>
                </a:defRPr>
              </a:lvl3pPr>
              <a:lvl4pPr eaLnBrk="0" hangingPunct="0">
                <a:tabLst>
                  <a:tab pos="520700" algn="l"/>
                </a:tabLst>
                <a:defRPr sz="2000">
                  <a:solidFill>
                    <a:srgbClr val="0000FF"/>
                  </a:solidFill>
                  <a:latin typeface="Arial" charset="0"/>
                  <a:ea typeface="ヒラギノ角ゴ ProN W3" pitchFamily="1" charset="-128"/>
                  <a:sym typeface="Arial" charset="0"/>
                </a:defRPr>
              </a:lvl4pPr>
              <a:lvl5pPr eaLnBrk="0" hangingPunct="0">
                <a:tabLst>
                  <a:tab pos="520700" algn="l"/>
                </a:tabLst>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9pPr>
            </a:lstStyle>
            <a:p>
              <a:pPr eaLnBrk="1" hangingPunct="1"/>
              <a:r>
                <a:rPr lang="en-US" altLang="en-US" sz="1300">
                  <a:solidFill>
                    <a:srgbClr val="005481"/>
                  </a:solidFill>
                  <a:cs typeface="Arial" charset="0"/>
                </a:rPr>
                <a:t>The stimulus for hormone production and release can be: </a:t>
              </a:r>
            </a:p>
            <a:p>
              <a:pPr eaLnBrk="1" hangingPunct="1"/>
              <a:r>
                <a:rPr lang="en-US" altLang="en-US" sz="1300">
                  <a:solidFill>
                    <a:srgbClr val="005481"/>
                  </a:solidFill>
                  <a:cs typeface="Arial" charset="0"/>
                </a:rPr>
                <a:t>– another hormone (hormonal)</a:t>
              </a:r>
            </a:p>
            <a:p>
              <a:pPr eaLnBrk="1" hangingPunct="1"/>
              <a:r>
                <a:rPr lang="en-US" altLang="en-US" sz="1300">
                  <a:solidFill>
                    <a:srgbClr val="005481"/>
                  </a:solidFill>
                  <a:cs typeface="Arial" charset="0"/>
                </a:rPr>
                <a:t>– a blood component (humoral)</a:t>
              </a:r>
            </a:p>
            <a:p>
              <a:pPr eaLnBrk="1" hangingPunct="1"/>
              <a:r>
                <a:rPr lang="en-US" altLang="en-US" sz="1300">
                  <a:solidFill>
                    <a:srgbClr val="005481"/>
                  </a:solidFill>
                  <a:cs typeface="Arial" charset="0"/>
                </a:rPr>
                <a:t>– neural (a nerve impulse)</a:t>
              </a:r>
            </a:p>
          </p:txBody>
        </p:sp>
        <p:sp>
          <p:nvSpPr>
            <p:cNvPr id="129042" name="Line 28"/>
            <p:cNvSpPr>
              <a:spLocks noChangeShapeType="1"/>
            </p:cNvSpPr>
            <p:nvPr/>
          </p:nvSpPr>
          <p:spPr bwMode="auto">
            <a:xfrm flipH="1">
              <a:off x="1172" y="18"/>
              <a:ext cx="256" cy="473"/>
            </a:xfrm>
            <a:prstGeom prst="line">
              <a:avLst/>
            </a:prstGeom>
            <a:noFill/>
            <a:ln w="25400">
              <a:solidFill>
                <a:srgbClr val="005481"/>
              </a:solidFill>
              <a:miter lim="800000"/>
              <a:headEnd type="oval" w="med" len="med"/>
              <a:tailEnd/>
            </a:ln>
            <a:extLst>
              <a:ext uri="{909E8E84-426E-40DD-AFC4-6F175D3DCCD1}">
                <a14:hiddenFill xmlns:a14="http://schemas.microsoft.com/office/drawing/2010/main">
                  <a:noFill/>
                </a14:hiddenFill>
              </a:ext>
            </a:extLst>
          </p:spPr>
          <p:txBody>
            <a:bodyPr lIns="0" tIns="0" rIns="0" bIns="0"/>
            <a:lstStyle/>
            <a:p>
              <a:endParaRPr lang="en-AU"/>
            </a:p>
          </p:txBody>
        </p:sp>
      </p:grpSp>
      <p:grpSp>
        <p:nvGrpSpPr>
          <p:cNvPr id="7" name="Group 32"/>
          <p:cNvGrpSpPr>
            <a:grpSpLocks/>
          </p:cNvGrpSpPr>
          <p:nvPr/>
        </p:nvGrpSpPr>
        <p:grpSpPr bwMode="auto">
          <a:xfrm>
            <a:off x="6754203" y="5121176"/>
            <a:ext cx="1802555" cy="965522"/>
            <a:chOff x="16" y="12"/>
            <a:chExt cx="1614" cy="865"/>
          </a:xfrm>
        </p:grpSpPr>
        <p:sp>
          <p:nvSpPr>
            <p:cNvPr id="129039" name="Rectangle 30"/>
            <p:cNvSpPr>
              <a:spLocks/>
            </p:cNvSpPr>
            <p:nvPr/>
          </p:nvSpPr>
          <p:spPr bwMode="auto">
            <a:xfrm>
              <a:off x="238" y="381"/>
              <a:ext cx="1392" cy="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000">
                  <a:solidFill>
                    <a:srgbClr val="0000FF"/>
                  </a:solidFill>
                  <a:latin typeface="Arial" charset="0"/>
                  <a:ea typeface="ヒラギノ角ゴ ProN W3" pitchFamily="1" charset="-128"/>
                  <a:sym typeface="Arial" charset="0"/>
                </a:defRPr>
              </a:lvl2pPr>
              <a:lvl3pPr eaLnBrk="0" hangingPunct="0">
                <a:tabLst>
                  <a:tab pos="520700" algn="l"/>
                </a:tabLst>
                <a:defRPr sz="2000">
                  <a:solidFill>
                    <a:srgbClr val="0000FF"/>
                  </a:solidFill>
                  <a:latin typeface="Arial" charset="0"/>
                  <a:ea typeface="ヒラギノ角ゴ ProN W3" pitchFamily="1" charset="-128"/>
                  <a:sym typeface="Arial" charset="0"/>
                </a:defRPr>
              </a:lvl3pPr>
              <a:lvl4pPr eaLnBrk="0" hangingPunct="0">
                <a:tabLst>
                  <a:tab pos="520700" algn="l"/>
                </a:tabLst>
                <a:defRPr sz="2000">
                  <a:solidFill>
                    <a:srgbClr val="0000FF"/>
                  </a:solidFill>
                  <a:latin typeface="Arial" charset="0"/>
                  <a:ea typeface="ヒラギノ角ゴ ProN W3" pitchFamily="1" charset="-128"/>
                  <a:sym typeface="Arial" charset="0"/>
                </a:defRPr>
              </a:lvl4pPr>
              <a:lvl5pPr eaLnBrk="0" hangingPunct="0">
                <a:tabLst>
                  <a:tab pos="520700" algn="l"/>
                </a:tabLst>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9pPr>
            </a:lstStyle>
            <a:p>
              <a:pPr eaLnBrk="1" hangingPunct="1"/>
              <a:r>
                <a:rPr lang="en-US" altLang="en-US" sz="1300" dirty="0">
                  <a:solidFill>
                    <a:srgbClr val="005481"/>
                  </a:solidFill>
                  <a:cs typeface="Arial" charset="0"/>
                </a:rPr>
                <a:t>Receptors on the target cell receive the hormone</a:t>
              </a:r>
            </a:p>
          </p:txBody>
        </p:sp>
        <p:sp>
          <p:nvSpPr>
            <p:cNvPr id="129040" name="Line 31"/>
            <p:cNvSpPr>
              <a:spLocks noChangeShapeType="1"/>
            </p:cNvSpPr>
            <p:nvPr/>
          </p:nvSpPr>
          <p:spPr bwMode="auto">
            <a:xfrm>
              <a:off x="16" y="12"/>
              <a:ext cx="444" cy="320"/>
            </a:xfrm>
            <a:prstGeom prst="line">
              <a:avLst/>
            </a:prstGeom>
            <a:noFill/>
            <a:ln w="25400">
              <a:solidFill>
                <a:srgbClr val="005481"/>
              </a:solidFill>
              <a:miter lim="800000"/>
              <a:headEnd type="oval" w="med" len="med"/>
              <a:tailEnd/>
            </a:ln>
            <a:extLst>
              <a:ext uri="{909E8E84-426E-40DD-AFC4-6F175D3DCCD1}">
                <a14:hiddenFill xmlns:a14="http://schemas.microsoft.com/office/drawing/2010/main">
                  <a:noFill/>
                </a14:hiddenFill>
              </a:ext>
            </a:extLst>
          </p:spPr>
          <p:txBody>
            <a:bodyPr lIns="0" tIns="0" rIns="0" bIns="0"/>
            <a:lstStyle/>
            <a:p>
              <a:endParaRPr lang="en-AU"/>
            </a:p>
          </p:txBody>
        </p:sp>
      </p:grpSp>
      <p:sp>
        <p:nvSpPr>
          <p:cNvPr id="129038" name="Rectangle 33"/>
          <p:cNvSpPr>
            <a:spLocks/>
          </p:cNvSpPr>
          <p:nvPr/>
        </p:nvSpPr>
        <p:spPr bwMode="auto">
          <a:xfrm>
            <a:off x="7268766" y="3768328"/>
            <a:ext cx="1232297" cy="178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000">
                <a:solidFill>
                  <a:srgbClr val="0000FF"/>
                </a:solidFill>
                <a:latin typeface="Arial" charset="0"/>
                <a:ea typeface="ヒラギノ角ゴ ProN W3" pitchFamily="1" charset="-128"/>
                <a:sym typeface="Arial" charset="0"/>
              </a:defRPr>
            </a:lvl2pPr>
            <a:lvl3pPr eaLnBrk="0" hangingPunct="0">
              <a:tabLst>
                <a:tab pos="520700" algn="l"/>
              </a:tabLst>
              <a:defRPr sz="2000">
                <a:solidFill>
                  <a:srgbClr val="0000FF"/>
                </a:solidFill>
                <a:latin typeface="Arial" charset="0"/>
                <a:ea typeface="ヒラギノ角ゴ ProN W3" pitchFamily="1" charset="-128"/>
                <a:sym typeface="Arial" charset="0"/>
              </a:defRPr>
            </a:lvl3pPr>
            <a:lvl4pPr eaLnBrk="0" hangingPunct="0">
              <a:tabLst>
                <a:tab pos="520700" algn="l"/>
              </a:tabLst>
              <a:defRPr sz="2000">
                <a:solidFill>
                  <a:srgbClr val="0000FF"/>
                </a:solidFill>
                <a:latin typeface="Arial" charset="0"/>
                <a:ea typeface="ヒラギノ角ゴ ProN W3" pitchFamily="1" charset="-128"/>
                <a:sym typeface="Arial" charset="0"/>
              </a:defRPr>
            </a:lvl4pPr>
            <a:lvl5pPr eaLnBrk="0" hangingPunct="0">
              <a:tabLst>
                <a:tab pos="520700" algn="l"/>
              </a:tabLst>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9pPr>
          </a:lstStyle>
          <a:p>
            <a:pPr algn="ctr" eaLnBrk="1" hangingPunct="1"/>
            <a:r>
              <a:rPr lang="en-US" altLang="en-US" sz="1300">
                <a:solidFill>
                  <a:srgbClr val="005481"/>
                </a:solidFill>
                <a:cs typeface="Arial" charset="0"/>
              </a:rPr>
              <a:t>Blood vessel</a:t>
            </a:r>
          </a:p>
        </p:txBody>
      </p:sp>
    </p:spTree>
    <p:extLst>
      <p:ext uri="{BB962C8B-B14F-4D97-AF65-F5344CB8AC3E}">
        <p14:creationId xmlns:p14="http://schemas.microsoft.com/office/powerpoint/2010/main" val="3307563199"/>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506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5060">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3"/>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7"/>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4"/>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499"/>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0" grpId="0" build="p" bldLvl="5"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Amine /Protein Hormones</a:t>
            </a:r>
          </a:p>
        </p:txBody>
      </p:sp>
      <p:sp>
        <p:nvSpPr>
          <p:cNvPr id="3" name="Content Placeholder 2"/>
          <p:cNvSpPr>
            <a:spLocks noGrp="1"/>
          </p:cNvSpPr>
          <p:nvPr>
            <p:ph idx="1"/>
          </p:nvPr>
        </p:nvSpPr>
        <p:spPr>
          <a:xfrm>
            <a:off x="0" y="1412776"/>
            <a:ext cx="4932040" cy="5445224"/>
          </a:xfrm>
        </p:spPr>
        <p:txBody>
          <a:bodyPr>
            <a:normAutofit fontScale="70000" lnSpcReduction="20000"/>
          </a:bodyPr>
          <a:lstStyle/>
          <a:p>
            <a:r>
              <a:rPr lang="en-AU" dirty="0"/>
              <a:t>Non-steroid hormones, such as amines, peptides, and proteins, usually act by combining with specific receptor molecules located in target cell membranes.</a:t>
            </a:r>
          </a:p>
          <a:p>
            <a:r>
              <a:rPr lang="en-AU" dirty="0"/>
              <a:t>Each receptor molecule is a protein that has a binding site and an activity site. </a:t>
            </a:r>
          </a:p>
          <a:p>
            <a:r>
              <a:rPr lang="en-AU" dirty="0"/>
              <a:t>A hormone molecule delivers its message to its target cell by uniting with the binding site of a receptor. </a:t>
            </a:r>
          </a:p>
          <a:p>
            <a:r>
              <a:rPr lang="en-AU" dirty="0"/>
              <a:t>This combination causes the receptor's activity site to activate other nearby membrane proteins. </a:t>
            </a:r>
          </a:p>
          <a:p>
            <a:r>
              <a:rPr lang="en-AU" dirty="0"/>
              <a:t>An activated protein then diffuses along the cell membrane and stimulates another membrane protein that serves as an effector molecule. </a:t>
            </a:r>
          </a:p>
          <a:p>
            <a:r>
              <a:rPr lang="en-AU" dirty="0"/>
              <a:t>Such an effector molecule may be an enzyme, and once it is stimulated, it causes changes in the concentrations to other cellular substances. </a:t>
            </a:r>
          </a:p>
          <a:p>
            <a:r>
              <a:rPr lang="en-AU" dirty="0"/>
              <a:t>These substances serve as "second messengers" in the hormonal stimulation mechanism because they, in turn, induce cellular changes, which appear as responses to the original hormone.</a:t>
            </a:r>
          </a:p>
          <a:p>
            <a:r>
              <a:rPr lang="en-AU" dirty="0"/>
              <a:t>Cellular responses to this second messenger mechanism include altering membrane permeability, activating various enzymes, promoting the synthesis of certain proteins, stimulating or inhibiting specific metabolic pathways, promoting cellular movements, and initiating the secretion of hormones or other substances.</a:t>
            </a:r>
          </a:p>
          <a:p>
            <a:pPr marL="114300" indent="0">
              <a:buNone/>
            </a:pPr>
            <a:endParaRPr lang="en-AU" dirty="0"/>
          </a:p>
          <a:p>
            <a:endParaRPr lang="en-AU" dirty="0"/>
          </a:p>
        </p:txBody>
      </p:sp>
      <p:pic>
        <p:nvPicPr>
          <p:cNvPr id="256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91509" y="1268760"/>
            <a:ext cx="3576253" cy="3024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624327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Steroid Hormones</a:t>
            </a:r>
          </a:p>
        </p:txBody>
      </p:sp>
      <p:sp>
        <p:nvSpPr>
          <p:cNvPr id="3" name="Content Placeholder 2"/>
          <p:cNvSpPr>
            <a:spLocks noGrp="1"/>
          </p:cNvSpPr>
          <p:nvPr>
            <p:ph idx="1"/>
          </p:nvPr>
        </p:nvSpPr>
        <p:spPr>
          <a:xfrm>
            <a:off x="0" y="1412776"/>
            <a:ext cx="5076056" cy="5445224"/>
          </a:xfrm>
        </p:spPr>
        <p:txBody>
          <a:bodyPr>
            <a:normAutofit fontScale="77500" lnSpcReduction="20000"/>
          </a:bodyPr>
          <a:lstStyle/>
          <a:p>
            <a:r>
              <a:rPr lang="en-AU" dirty="0"/>
              <a:t>Steroid hormones, unlike amines, peptides, and proteins, are soluble in the lipids that make up the bulk of cell membranes. </a:t>
            </a:r>
          </a:p>
          <a:p>
            <a:r>
              <a:rPr lang="en-AU" dirty="0"/>
              <a:t>Steroid molecules can enter cells relatively easily by diffusion. </a:t>
            </a:r>
          </a:p>
          <a:p>
            <a:r>
              <a:rPr lang="en-AU" dirty="0"/>
              <a:t>Once inside of a target cell, they may combine with specific nuclear protein molecules - the receptors. </a:t>
            </a:r>
          </a:p>
          <a:p>
            <a:r>
              <a:rPr lang="en-AU" dirty="0"/>
              <a:t>The steroid-protein complex thus formed binds to particular regions of the target cell's DNA molecules, and activates specific genes. </a:t>
            </a:r>
          </a:p>
          <a:p>
            <a:r>
              <a:rPr lang="en-AU" dirty="0"/>
              <a:t>The activated genes, in turn, cause the synthesis of particular kinds of messenger RNA (mRNA) molecules.</a:t>
            </a:r>
          </a:p>
          <a:p>
            <a:r>
              <a:rPr lang="en-AU" dirty="0"/>
              <a:t>A messenger RNA molecule can leave the nucleus and enter the cytoplasm where it functions in the manufacturing of specific proteins. </a:t>
            </a:r>
          </a:p>
          <a:p>
            <a:r>
              <a:rPr lang="en-AU" dirty="0"/>
              <a:t>Thus, steroid hormones influence their target cells by causing special proteins to be synthesized - proteins that act as enzymes and alter the rates of cellular processes, acts as part of membrane transport systems, or cause enzymes to be activated or inhibited.</a:t>
            </a:r>
          </a:p>
        </p:txBody>
      </p:sp>
      <p:pic>
        <p:nvPicPr>
          <p:cNvPr id="24578" name="Picture 2"/>
          <p:cNvPicPr>
            <a:picLocks noChangeAspect="1" noChangeArrowheads="1"/>
          </p:cNvPicPr>
          <p:nvPr/>
        </p:nvPicPr>
        <p:blipFill>
          <a:blip r:embed="rId2">
            <a:extLst>
              <a:ext uri="{28A0092B-C50C-407E-A947-70E740481C1C}">
                <a14:useLocalDpi xmlns:a14="http://schemas.microsoft.com/office/drawing/2010/main" val="0"/>
              </a:ext>
            </a:extLst>
          </a:blip>
          <a:srcRect l="2434" t="2936" r="2895" b="6804"/>
          <a:stretch>
            <a:fillRect/>
          </a:stretch>
        </p:blipFill>
        <p:spPr bwMode="auto">
          <a:xfrm>
            <a:off x="4954935" y="1772816"/>
            <a:ext cx="3364904" cy="3168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164638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Types of Hormones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939344740"/>
              </p:ext>
            </p:extLst>
          </p:nvPr>
        </p:nvGraphicFramePr>
        <p:xfrm>
          <a:off x="611560" y="1460403"/>
          <a:ext cx="7344816" cy="4944218"/>
        </p:xfrm>
        <a:graphic>
          <a:graphicData uri="http://schemas.openxmlformats.org/drawingml/2006/table">
            <a:tbl>
              <a:tblPr firstRow="1" firstCol="1" bandRow="1">
                <a:tableStyleId>{5C22544A-7EE6-4342-B048-85BDC9FD1C3A}</a:tableStyleId>
              </a:tblPr>
              <a:tblGrid>
                <a:gridCol w="1301662">
                  <a:extLst>
                    <a:ext uri="{9D8B030D-6E8A-4147-A177-3AD203B41FA5}">
                      <a16:colId xmlns:a16="http://schemas.microsoft.com/office/drawing/2014/main" val="20000"/>
                    </a:ext>
                  </a:extLst>
                </a:gridCol>
                <a:gridCol w="2802794">
                  <a:extLst>
                    <a:ext uri="{9D8B030D-6E8A-4147-A177-3AD203B41FA5}">
                      <a16:colId xmlns:a16="http://schemas.microsoft.com/office/drawing/2014/main" val="20001"/>
                    </a:ext>
                  </a:extLst>
                </a:gridCol>
                <a:gridCol w="3240360">
                  <a:extLst>
                    <a:ext uri="{9D8B030D-6E8A-4147-A177-3AD203B41FA5}">
                      <a16:colId xmlns:a16="http://schemas.microsoft.com/office/drawing/2014/main" val="20002"/>
                    </a:ext>
                  </a:extLst>
                </a:gridCol>
              </a:tblGrid>
              <a:tr h="195904">
                <a:tc>
                  <a:txBody>
                    <a:bodyPr/>
                    <a:lstStyle/>
                    <a:p>
                      <a:pPr>
                        <a:spcAft>
                          <a:spcPts val="0"/>
                        </a:spcAft>
                      </a:pPr>
                      <a:r>
                        <a:rPr lang="en-AU" sz="1300" dirty="0">
                          <a:effectLst/>
                        </a:rPr>
                        <a:t> </a:t>
                      </a:r>
                      <a:endParaRPr lang="en-AU" sz="1100" dirty="0">
                        <a:effectLst/>
                        <a:latin typeface="Times New Roman"/>
                        <a:ea typeface="Calibri"/>
                      </a:endParaRPr>
                    </a:p>
                  </a:txBody>
                  <a:tcPr marL="61722" marR="61722" marT="0" marB="0"/>
                </a:tc>
                <a:tc>
                  <a:txBody>
                    <a:bodyPr/>
                    <a:lstStyle/>
                    <a:p>
                      <a:pPr algn="ctr">
                        <a:spcAft>
                          <a:spcPts val="0"/>
                        </a:spcAft>
                      </a:pPr>
                      <a:r>
                        <a:rPr lang="en-AU" sz="1300">
                          <a:effectLst/>
                        </a:rPr>
                        <a:t>Amines and Proteins</a:t>
                      </a:r>
                      <a:endParaRPr lang="en-AU" sz="1100">
                        <a:effectLst/>
                        <a:latin typeface="Times New Roman"/>
                        <a:ea typeface="Calibri"/>
                      </a:endParaRPr>
                    </a:p>
                  </a:txBody>
                  <a:tcPr marL="61722" marR="61722" marT="0" marB="0"/>
                </a:tc>
                <a:tc>
                  <a:txBody>
                    <a:bodyPr/>
                    <a:lstStyle/>
                    <a:p>
                      <a:pPr algn="ctr">
                        <a:spcAft>
                          <a:spcPts val="0"/>
                        </a:spcAft>
                      </a:pPr>
                      <a:r>
                        <a:rPr lang="en-AU" sz="1300">
                          <a:effectLst/>
                        </a:rPr>
                        <a:t>Steroids</a:t>
                      </a:r>
                      <a:endParaRPr lang="en-AU" sz="1100">
                        <a:effectLst/>
                        <a:latin typeface="Times New Roman"/>
                        <a:ea typeface="Calibri"/>
                      </a:endParaRPr>
                    </a:p>
                  </a:txBody>
                  <a:tcPr marL="61722" marR="61722" marT="0" marB="0"/>
                </a:tc>
                <a:extLst>
                  <a:ext uri="{0D108BD9-81ED-4DB2-BD59-A6C34878D82A}">
                    <a16:rowId xmlns:a16="http://schemas.microsoft.com/office/drawing/2014/main" val="10000"/>
                  </a:ext>
                </a:extLst>
              </a:tr>
              <a:tr h="618349">
                <a:tc>
                  <a:txBody>
                    <a:bodyPr/>
                    <a:lstStyle/>
                    <a:p>
                      <a:pPr algn="ctr">
                        <a:spcAft>
                          <a:spcPts val="0"/>
                        </a:spcAft>
                      </a:pPr>
                      <a:r>
                        <a:rPr lang="en-AU" sz="1300">
                          <a:effectLst/>
                        </a:rPr>
                        <a:t>Solubility</a:t>
                      </a:r>
                      <a:endParaRPr lang="en-AU" sz="1100">
                        <a:effectLst/>
                        <a:latin typeface="Times New Roman"/>
                        <a:ea typeface="Calibri"/>
                      </a:endParaRPr>
                    </a:p>
                  </a:txBody>
                  <a:tcPr marL="61722" marR="61722" marT="0" marB="0"/>
                </a:tc>
                <a:tc>
                  <a:txBody>
                    <a:bodyPr/>
                    <a:lstStyle/>
                    <a:p>
                      <a:pPr algn="ctr">
                        <a:spcAft>
                          <a:spcPts val="0"/>
                        </a:spcAft>
                      </a:pPr>
                      <a:endParaRPr lang="en-AU" sz="1100" dirty="0">
                        <a:effectLst/>
                        <a:latin typeface="Times New Roman"/>
                        <a:ea typeface="Calibri"/>
                      </a:endParaRPr>
                    </a:p>
                  </a:txBody>
                  <a:tcPr marL="61722" marR="61722" marT="0" marB="0"/>
                </a:tc>
                <a:tc>
                  <a:txBody>
                    <a:bodyPr/>
                    <a:lstStyle/>
                    <a:p>
                      <a:pPr algn="ctr">
                        <a:spcAft>
                          <a:spcPts val="0"/>
                        </a:spcAft>
                      </a:pPr>
                      <a:endParaRPr lang="en-AU" sz="1100" dirty="0">
                        <a:effectLst/>
                        <a:latin typeface="Times New Roman"/>
                        <a:ea typeface="Calibri"/>
                      </a:endParaRPr>
                    </a:p>
                  </a:txBody>
                  <a:tcPr marL="61722" marR="61722" marT="0" marB="0"/>
                </a:tc>
                <a:extLst>
                  <a:ext uri="{0D108BD9-81ED-4DB2-BD59-A6C34878D82A}">
                    <a16:rowId xmlns:a16="http://schemas.microsoft.com/office/drawing/2014/main" val="10001"/>
                  </a:ext>
                </a:extLst>
              </a:tr>
              <a:tr h="730598">
                <a:tc>
                  <a:txBody>
                    <a:bodyPr/>
                    <a:lstStyle/>
                    <a:p>
                      <a:pPr algn="ctr">
                        <a:spcAft>
                          <a:spcPts val="0"/>
                        </a:spcAft>
                      </a:pPr>
                      <a:r>
                        <a:rPr lang="en-AU" sz="1300">
                          <a:effectLst/>
                        </a:rPr>
                        <a:t>Membrane Permeability</a:t>
                      </a:r>
                      <a:endParaRPr lang="en-AU" sz="1100">
                        <a:effectLst/>
                        <a:latin typeface="Times New Roman"/>
                        <a:ea typeface="Calibri"/>
                      </a:endParaRPr>
                    </a:p>
                  </a:txBody>
                  <a:tcPr marL="61722" marR="61722" marT="0" marB="0"/>
                </a:tc>
                <a:tc>
                  <a:txBody>
                    <a:bodyPr/>
                    <a:lstStyle/>
                    <a:p>
                      <a:pPr algn="ctr">
                        <a:spcAft>
                          <a:spcPts val="0"/>
                        </a:spcAft>
                      </a:pPr>
                      <a:endParaRPr lang="en-AU" sz="1100" dirty="0">
                        <a:effectLst/>
                        <a:latin typeface="Times New Roman"/>
                        <a:ea typeface="Calibri"/>
                      </a:endParaRPr>
                    </a:p>
                  </a:txBody>
                  <a:tcPr marL="61722" marR="61722" marT="0" marB="0"/>
                </a:tc>
                <a:tc>
                  <a:txBody>
                    <a:bodyPr/>
                    <a:lstStyle/>
                    <a:p>
                      <a:pPr algn="ctr">
                        <a:spcAft>
                          <a:spcPts val="0"/>
                        </a:spcAft>
                      </a:pPr>
                      <a:endParaRPr lang="en-AU" sz="1100" dirty="0">
                        <a:effectLst/>
                        <a:latin typeface="Times New Roman"/>
                        <a:ea typeface="Calibri"/>
                      </a:endParaRPr>
                    </a:p>
                  </a:txBody>
                  <a:tcPr marL="61722" marR="61722" marT="0" marB="0"/>
                </a:tc>
                <a:extLst>
                  <a:ext uri="{0D108BD9-81ED-4DB2-BD59-A6C34878D82A}">
                    <a16:rowId xmlns:a16="http://schemas.microsoft.com/office/drawing/2014/main" val="10002"/>
                  </a:ext>
                </a:extLst>
              </a:tr>
              <a:tr h="781570">
                <a:tc>
                  <a:txBody>
                    <a:bodyPr/>
                    <a:lstStyle/>
                    <a:p>
                      <a:pPr algn="ctr">
                        <a:spcAft>
                          <a:spcPts val="0"/>
                        </a:spcAft>
                      </a:pPr>
                      <a:r>
                        <a:rPr lang="en-AU" sz="1300" dirty="0">
                          <a:effectLst/>
                        </a:rPr>
                        <a:t>Receptors</a:t>
                      </a:r>
                      <a:endParaRPr lang="en-AU" sz="1100" dirty="0">
                        <a:effectLst/>
                        <a:latin typeface="Times New Roman"/>
                        <a:ea typeface="Calibri"/>
                      </a:endParaRPr>
                    </a:p>
                  </a:txBody>
                  <a:tcPr marL="61722" marR="61722" marT="0" marB="0"/>
                </a:tc>
                <a:tc>
                  <a:txBody>
                    <a:bodyPr/>
                    <a:lstStyle/>
                    <a:p>
                      <a:pPr algn="ctr">
                        <a:spcAft>
                          <a:spcPts val="0"/>
                        </a:spcAft>
                      </a:pPr>
                      <a:endParaRPr lang="en-AU" sz="1100" dirty="0">
                        <a:effectLst/>
                        <a:latin typeface="Times New Roman"/>
                        <a:ea typeface="Calibri"/>
                      </a:endParaRPr>
                    </a:p>
                  </a:txBody>
                  <a:tcPr marL="61722" marR="61722" marT="0" marB="0"/>
                </a:tc>
                <a:tc>
                  <a:txBody>
                    <a:bodyPr/>
                    <a:lstStyle/>
                    <a:p>
                      <a:pPr algn="ctr">
                        <a:spcAft>
                          <a:spcPts val="0"/>
                        </a:spcAft>
                      </a:pPr>
                      <a:endParaRPr lang="en-AU" sz="1100" dirty="0">
                        <a:effectLst/>
                        <a:latin typeface="Times New Roman"/>
                        <a:ea typeface="Calibri"/>
                      </a:endParaRPr>
                    </a:p>
                  </a:txBody>
                  <a:tcPr marL="61722" marR="61722" marT="0" marB="0"/>
                </a:tc>
                <a:extLst>
                  <a:ext uri="{0D108BD9-81ED-4DB2-BD59-A6C34878D82A}">
                    <a16:rowId xmlns:a16="http://schemas.microsoft.com/office/drawing/2014/main" val="10003"/>
                  </a:ext>
                </a:extLst>
              </a:tr>
              <a:tr h="648072">
                <a:tc>
                  <a:txBody>
                    <a:bodyPr/>
                    <a:lstStyle/>
                    <a:p>
                      <a:pPr algn="ctr">
                        <a:spcAft>
                          <a:spcPts val="0"/>
                        </a:spcAft>
                      </a:pPr>
                      <a:r>
                        <a:rPr lang="en-AU" sz="1300">
                          <a:effectLst/>
                        </a:rPr>
                        <a:t>Action</a:t>
                      </a:r>
                      <a:endParaRPr lang="en-AU" sz="1100">
                        <a:effectLst/>
                        <a:latin typeface="Times New Roman"/>
                        <a:ea typeface="Calibri"/>
                      </a:endParaRPr>
                    </a:p>
                  </a:txBody>
                  <a:tcPr marL="61722" marR="61722" marT="0" marB="0"/>
                </a:tc>
                <a:tc>
                  <a:txBody>
                    <a:bodyPr/>
                    <a:lstStyle/>
                    <a:p>
                      <a:pPr>
                        <a:spcAft>
                          <a:spcPts val="0"/>
                        </a:spcAft>
                      </a:pPr>
                      <a:endParaRPr lang="en-AU" sz="1100" dirty="0">
                        <a:effectLst/>
                        <a:latin typeface="Times New Roman"/>
                        <a:ea typeface="Calibri"/>
                      </a:endParaRPr>
                    </a:p>
                  </a:txBody>
                  <a:tcPr marL="61722" marR="61722" marT="0" marB="0"/>
                </a:tc>
                <a:tc>
                  <a:txBody>
                    <a:bodyPr/>
                    <a:lstStyle/>
                    <a:p>
                      <a:pPr>
                        <a:spcAft>
                          <a:spcPts val="0"/>
                        </a:spcAft>
                      </a:pPr>
                      <a:endParaRPr lang="en-AU" sz="1100" dirty="0">
                        <a:effectLst/>
                        <a:latin typeface="Times New Roman"/>
                        <a:ea typeface="Calibri"/>
                      </a:endParaRPr>
                    </a:p>
                  </a:txBody>
                  <a:tcPr marL="61722" marR="61722" marT="0" marB="0"/>
                </a:tc>
                <a:extLst>
                  <a:ext uri="{0D108BD9-81ED-4DB2-BD59-A6C34878D82A}">
                    <a16:rowId xmlns:a16="http://schemas.microsoft.com/office/drawing/2014/main" val="10004"/>
                  </a:ext>
                </a:extLst>
              </a:tr>
              <a:tr h="792088">
                <a:tc>
                  <a:txBody>
                    <a:bodyPr/>
                    <a:lstStyle/>
                    <a:p>
                      <a:pPr algn="ctr">
                        <a:spcAft>
                          <a:spcPts val="0"/>
                        </a:spcAft>
                      </a:pPr>
                      <a:r>
                        <a:rPr lang="en-AU" sz="1300">
                          <a:effectLst/>
                        </a:rPr>
                        <a:t>Can be stored</a:t>
                      </a:r>
                      <a:endParaRPr lang="en-AU" sz="1100">
                        <a:effectLst/>
                        <a:latin typeface="Times New Roman"/>
                        <a:ea typeface="Calibri"/>
                      </a:endParaRPr>
                    </a:p>
                  </a:txBody>
                  <a:tcPr marL="61722" marR="61722" marT="0" marB="0"/>
                </a:tc>
                <a:tc>
                  <a:txBody>
                    <a:bodyPr/>
                    <a:lstStyle/>
                    <a:p>
                      <a:pPr algn="ctr">
                        <a:spcAft>
                          <a:spcPts val="0"/>
                        </a:spcAft>
                      </a:pPr>
                      <a:endParaRPr lang="en-AU" sz="1100" dirty="0">
                        <a:effectLst/>
                        <a:latin typeface="Times New Roman"/>
                        <a:ea typeface="Calibri"/>
                      </a:endParaRPr>
                    </a:p>
                  </a:txBody>
                  <a:tcPr marL="61722" marR="61722" marT="0" marB="0"/>
                </a:tc>
                <a:tc>
                  <a:txBody>
                    <a:bodyPr/>
                    <a:lstStyle/>
                    <a:p>
                      <a:pPr algn="ctr">
                        <a:spcAft>
                          <a:spcPts val="0"/>
                        </a:spcAft>
                      </a:pPr>
                      <a:endParaRPr lang="en-AU" sz="1100" dirty="0">
                        <a:effectLst/>
                        <a:latin typeface="Times New Roman"/>
                        <a:ea typeface="Calibri"/>
                      </a:endParaRPr>
                    </a:p>
                  </a:txBody>
                  <a:tcPr marL="61722" marR="61722" marT="0" marB="0"/>
                </a:tc>
                <a:extLst>
                  <a:ext uri="{0D108BD9-81ED-4DB2-BD59-A6C34878D82A}">
                    <a16:rowId xmlns:a16="http://schemas.microsoft.com/office/drawing/2014/main" val="10005"/>
                  </a:ext>
                </a:extLst>
              </a:tr>
              <a:tr h="1175421">
                <a:tc>
                  <a:txBody>
                    <a:bodyPr/>
                    <a:lstStyle/>
                    <a:p>
                      <a:pPr algn="ctr">
                        <a:spcAft>
                          <a:spcPts val="0"/>
                        </a:spcAft>
                      </a:pPr>
                      <a:r>
                        <a:rPr lang="en-AU" sz="1300">
                          <a:effectLst/>
                        </a:rPr>
                        <a:t>Examples</a:t>
                      </a:r>
                      <a:endParaRPr lang="en-AU" sz="1100">
                        <a:effectLst/>
                        <a:latin typeface="Times New Roman"/>
                        <a:ea typeface="Calibri"/>
                      </a:endParaRPr>
                    </a:p>
                  </a:txBody>
                  <a:tcPr marL="61722" marR="61722" marT="0" marB="0"/>
                </a:tc>
                <a:tc>
                  <a:txBody>
                    <a:bodyPr/>
                    <a:lstStyle/>
                    <a:p>
                      <a:pPr algn="ctr">
                        <a:spcAft>
                          <a:spcPts val="0"/>
                        </a:spcAft>
                      </a:pPr>
                      <a:endParaRPr lang="en-AU" sz="1100" dirty="0">
                        <a:effectLst/>
                        <a:latin typeface="Times New Roman"/>
                        <a:ea typeface="Calibri"/>
                      </a:endParaRPr>
                    </a:p>
                  </a:txBody>
                  <a:tcPr marL="61722" marR="61722" marT="0" marB="0"/>
                </a:tc>
                <a:tc>
                  <a:txBody>
                    <a:bodyPr/>
                    <a:lstStyle/>
                    <a:p>
                      <a:pPr algn="ctr">
                        <a:spcAft>
                          <a:spcPts val="0"/>
                        </a:spcAft>
                      </a:pPr>
                      <a:endParaRPr lang="en-AU" sz="1100" dirty="0">
                        <a:effectLst/>
                        <a:latin typeface="Times New Roman"/>
                        <a:ea typeface="Calibri"/>
                      </a:endParaRPr>
                    </a:p>
                  </a:txBody>
                  <a:tcPr marL="61722" marR="61722" marT="0" marB="0"/>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537094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Types of Hormones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691275925"/>
              </p:ext>
            </p:extLst>
          </p:nvPr>
        </p:nvGraphicFramePr>
        <p:xfrm>
          <a:off x="611560" y="1460403"/>
          <a:ext cx="7344816" cy="5313777"/>
        </p:xfrm>
        <a:graphic>
          <a:graphicData uri="http://schemas.openxmlformats.org/drawingml/2006/table">
            <a:tbl>
              <a:tblPr firstRow="1" firstCol="1" bandRow="1">
                <a:tableStyleId>{5C22544A-7EE6-4342-B048-85BDC9FD1C3A}</a:tableStyleId>
              </a:tblPr>
              <a:tblGrid>
                <a:gridCol w="1301662">
                  <a:extLst>
                    <a:ext uri="{9D8B030D-6E8A-4147-A177-3AD203B41FA5}">
                      <a16:colId xmlns:a16="http://schemas.microsoft.com/office/drawing/2014/main" val="20000"/>
                    </a:ext>
                  </a:extLst>
                </a:gridCol>
                <a:gridCol w="2802794">
                  <a:extLst>
                    <a:ext uri="{9D8B030D-6E8A-4147-A177-3AD203B41FA5}">
                      <a16:colId xmlns:a16="http://schemas.microsoft.com/office/drawing/2014/main" val="20001"/>
                    </a:ext>
                  </a:extLst>
                </a:gridCol>
                <a:gridCol w="3240360">
                  <a:extLst>
                    <a:ext uri="{9D8B030D-6E8A-4147-A177-3AD203B41FA5}">
                      <a16:colId xmlns:a16="http://schemas.microsoft.com/office/drawing/2014/main" val="20002"/>
                    </a:ext>
                  </a:extLst>
                </a:gridCol>
              </a:tblGrid>
              <a:tr h="195904">
                <a:tc>
                  <a:txBody>
                    <a:bodyPr/>
                    <a:lstStyle/>
                    <a:p>
                      <a:pPr>
                        <a:spcAft>
                          <a:spcPts val="0"/>
                        </a:spcAft>
                      </a:pPr>
                      <a:r>
                        <a:rPr lang="en-AU" sz="1300" dirty="0">
                          <a:effectLst/>
                        </a:rPr>
                        <a:t> </a:t>
                      </a:r>
                      <a:endParaRPr lang="en-AU" sz="1100" dirty="0">
                        <a:effectLst/>
                        <a:latin typeface="Times New Roman"/>
                        <a:ea typeface="Calibri"/>
                      </a:endParaRPr>
                    </a:p>
                  </a:txBody>
                  <a:tcPr marL="61722" marR="61722" marT="0" marB="0"/>
                </a:tc>
                <a:tc>
                  <a:txBody>
                    <a:bodyPr/>
                    <a:lstStyle/>
                    <a:p>
                      <a:pPr algn="ctr">
                        <a:spcAft>
                          <a:spcPts val="0"/>
                        </a:spcAft>
                      </a:pPr>
                      <a:r>
                        <a:rPr lang="en-AU" sz="1300">
                          <a:effectLst/>
                        </a:rPr>
                        <a:t>Amines and Proteins</a:t>
                      </a:r>
                      <a:endParaRPr lang="en-AU" sz="1100">
                        <a:effectLst/>
                        <a:latin typeface="Times New Roman"/>
                        <a:ea typeface="Calibri"/>
                      </a:endParaRPr>
                    </a:p>
                  </a:txBody>
                  <a:tcPr marL="61722" marR="61722" marT="0" marB="0"/>
                </a:tc>
                <a:tc>
                  <a:txBody>
                    <a:bodyPr/>
                    <a:lstStyle/>
                    <a:p>
                      <a:pPr algn="ctr">
                        <a:spcAft>
                          <a:spcPts val="0"/>
                        </a:spcAft>
                      </a:pPr>
                      <a:r>
                        <a:rPr lang="en-AU" sz="1300">
                          <a:effectLst/>
                        </a:rPr>
                        <a:t>Steroids</a:t>
                      </a:r>
                      <a:endParaRPr lang="en-AU" sz="1100">
                        <a:effectLst/>
                        <a:latin typeface="Times New Roman"/>
                        <a:ea typeface="Calibri"/>
                      </a:endParaRPr>
                    </a:p>
                  </a:txBody>
                  <a:tcPr marL="61722" marR="61722" marT="0" marB="0"/>
                </a:tc>
                <a:extLst>
                  <a:ext uri="{0D108BD9-81ED-4DB2-BD59-A6C34878D82A}">
                    <a16:rowId xmlns:a16="http://schemas.microsoft.com/office/drawing/2014/main" val="10000"/>
                  </a:ext>
                </a:extLst>
              </a:tr>
              <a:tr h="391807">
                <a:tc>
                  <a:txBody>
                    <a:bodyPr/>
                    <a:lstStyle/>
                    <a:p>
                      <a:pPr algn="ctr">
                        <a:spcAft>
                          <a:spcPts val="0"/>
                        </a:spcAft>
                      </a:pPr>
                      <a:r>
                        <a:rPr lang="en-AU" sz="1300">
                          <a:effectLst/>
                        </a:rPr>
                        <a:t>Solubility</a:t>
                      </a:r>
                      <a:endParaRPr lang="en-AU" sz="1100">
                        <a:effectLst/>
                        <a:latin typeface="Times New Roman"/>
                        <a:ea typeface="Calibri"/>
                      </a:endParaRPr>
                    </a:p>
                  </a:txBody>
                  <a:tcPr marL="61722" marR="61722" marT="0" marB="0"/>
                </a:tc>
                <a:tc>
                  <a:txBody>
                    <a:bodyPr/>
                    <a:lstStyle/>
                    <a:p>
                      <a:pPr algn="ctr">
                        <a:spcAft>
                          <a:spcPts val="0"/>
                        </a:spcAft>
                      </a:pPr>
                      <a:r>
                        <a:rPr lang="en-AU" sz="1300">
                          <a:effectLst/>
                        </a:rPr>
                        <a:t>Soluble in water </a:t>
                      </a:r>
                      <a:endParaRPr lang="en-AU" sz="1100">
                        <a:effectLst/>
                      </a:endParaRPr>
                    </a:p>
                    <a:p>
                      <a:pPr algn="ctr">
                        <a:spcAft>
                          <a:spcPts val="0"/>
                        </a:spcAft>
                      </a:pPr>
                      <a:r>
                        <a:rPr lang="en-AU" sz="1300">
                          <a:effectLst/>
                        </a:rPr>
                        <a:t>(polar)</a:t>
                      </a:r>
                      <a:endParaRPr lang="en-AU" sz="1100">
                        <a:effectLst/>
                        <a:latin typeface="Times New Roman"/>
                        <a:ea typeface="Calibri"/>
                      </a:endParaRPr>
                    </a:p>
                  </a:txBody>
                  <a:tcPr marL="61722" marR="61722" marT="0" marB="0"/>
                </a:tc>
                <a:tc>
                  <a:txBody>
                    <a:bodyPr/>
                    <a:lstStyle/>
                    <a:p>
                      <a:pPr algn="ctr">
                        <a:spcAft>
                          <a:spcPts val="0"/>
                        </a:spcAft>
                      </a:pPr>
                      <a:r>
                        <a:rPr lang="en-AU" sz="1300">
                          <a:effectLst/>
                        </a:rPr>
                        <a:t>Insoluble in water </a:t>
                      </a:r>
                      <a:endParaRPr lang="en-AU" sz="1100">
                        <a:effectLst/>
                      </a:endParaRPr>
                    </a:p>
                    <a:p>
                      <a:pPr algn="ctr">
                        <a:spcAft>
                          <a:spcPts val="0"/>
                        </a:spcAft>
                      </a:pPr>
                      <a:r>
                        <a:rPr lang="en-AU" sz="1300">
                          <a:effectLst/>
                        </a:rPr>
                        <a:t>(non-polar, lipid soluble)</a:t>
                      </a:r>
                      <a:endParaRPr lang="en-AU" sz="1100">
                        <a:effectLst/>
                        <a:latin typeface="Times New Roman"/>
                        <a:ea typeface="Calibri"/>
                      </a:endParaRPr>
                    </a:p>
                  </a:txBody>
                  <a:tcPr marL="61722" marR="61722" marT="0" marB="0"/>
                </a:tc>
                <a:extLst>
                  <a:ext uri="{0D108BD9-81ED-4DB2-BD59-A6C34878D82A}">
                    <a16:rowId xmlns:a16="http://schemas.microsoft.com/office/drawing/2014/main" val="10001"/>
                  </a:ext>
                </a:extLst>
              </a:tr>
              <a:tr h="391807">
                <a:tc>
                  <a:txBody>
                    <a:bodyPr/>
                    <a:lstStyle/>
                    <a:p>
                      <a:pPr algn="ctr">
                        <a:spcAft>
                          <a:spcPts val="0"/>
                        </a:spcAft>
                      </a:pPr>
                      <a:r>
                        <a:rPr lang="en-AU" sz="1300">
                          <a:effectLst/>
                        </a:rPr>
                        <a:t>Membrane Permeability</a:t>
                      </a:r>
                      <a:endParaRPr lang="en-AU" sz="1100">
                        <a:effectLst/>
                        <a:latin typeface="Times New Roman"/>
                        <a:ea typeface="Calibri"/>
                      </a:endParaRPr>
                    </a:p>
                  </a:txBody>
                  <a:tcPr marL="61722" marR="61722" marT="0" marB="0"/>
                </a:tc>
                <a:tc>
                  <a:txBody>
                    <a:bodyPr/>
                    <a:lstStyle/>
                    <a:p>
                      <a:pPr algn="ctr">
                        <a:spcAft>
                          <a:spcPts val="0"/>
                        </a:spcAft>
                      </a:pPr>
                      <a:r>
                        <a:rPr lang="en-AU" sz="1300">
                          <a:effectLst/>
                        </a:rPr>
                        <a:t>Cannot pass through the membrane</a:t>
                      </a:r>
                      <a:endParaRPr lang="en-AU" sz="1100">
                        <a:effectLst/>
                        <a:latin typeface="Times New Roman"/>
                        <a:ea typeface="Calibri"/>
                      </a:endParaRPr>
                    </a:p>
                  </a:txBody>
                  <a:tcPr marL="61722" marR="61722" marT="0" marB="0"/>
                </a:tc>
                <a:tc>
                  <a:txBody>
                    <a:bodyPr/>
                    <a:lstStyle/>
                    <a:p>
                      <a:pPr algn="ctr">
                        <a:spcAft>
                          <a:spcPts val="0"/>
                        </a:spcAft>
                      </a:pPr>
                      <a:r>
                        <a:rPr lang="en-AU" sz="1300">
                          <a:effectLst/>
                        </a:rPr>
                        <a:t>Diffuse through the phospholipid bilayer</a:t>
                      </a:r>
                      <a:endParaRPr lang="en-AU" sz="1100">
                        <a:effectLst/>
                        <a:latin typeface="Times New Roman"/>
                        <a:ea typeface="Calibri"/>
                      </a:endParaRPr>
                    </a:p>
                  </a:txBody>
                  <a:tcPr marL="61722" marR="61722" marT="0" marB="0"/>
                </a:tc>
                <a:extLst>
                  <a:ext uri="{0D108BD9-81ED-4DB2-BD59-A6C34878D82A}">
                    <a16:rowId xmlns:a16="http://schemas.microsoft.com/office/drawing/2014/main" val="10002"/>
                  </a:ext>
                </a:extLst>
              </a:tr>
              <a:tr h="1371325">
                <a:tc>
                  <a:txBody>
                    <a:bodyPr/>
                    <a:lstStyle/>
                    <a:p>
                      <a:pPr algn="ctr">
                        <a:spcAft>
                          <a:spcPts val="0"/>
                        </a:spcAft>
                      </a:pPr>
                      <a:r>
                        <a:rPr lang="en-AU" sz="1300" dirty="0">
                          <a:effectLst/>
                        </a:rPr>
                        <a:t>Receptors</a:t>
                      </a:r>
                      <a:endParaRPr lang="en-AU" sz="1100" dirty="0">
                        <a:effectLst/>
                        <a:latin typeface="Times New Roman"/>
                        <a:ea typeface="Calibri"/>
                      </a:endParaRPr>
                    </a:p>
                  </a:txBody>
                  <a:tcPr marL="61722" marR="61722" marT="0" marB="0"/>
                </a:tc>
                <a:tc>
                  <a:txBody>
                    <a:bodyPr/>
                    <a:lstStyle/>
                    <a:p>
                      <a:pPr algn="ctr">
                        <a:spcAft>
                          <a:spcPts val="0"/>
                        </a:spcAft>
                      </a:pPr>
                      <a:r>
                        <a:rPr lang="en-AU" sz="1300">
                          <a:effectLst/>
                        </a:rPr>
                        <a:t>Located on the outside of the cell membrane (need a secondary messenger inside the cell)</a:t>
                      </a:r>
                      <a:endParaRPr lang="en-AU" sz="1100">
                        <a:effectLst/>
                      </a:endParaRPr>
                    </a:p>
                    <a:p>
                      <a:pPr algn="ctr">
                        <a:spcAft>
                          <a:spcPts val="0"/>
                        </a:spcAft>
                      </a:pPr>
                      <a:r>
                        <a:rPr lang="en-AU" sz="1300">
                          <a:effectLst/>
                        </a:rPr>
                        <a:t>Use receptor proteins embedded in the membrane</a:t>
                      </a:r>
                      <a:endParaRPr lang="en-AU" sz="1100">
                        <a:effectLst/>
                        <a:latin typeface="Times New Roman"/>
                        <a:ea typeface="Calibri"/>
                      </a:endParaRPr>
                    </a:p>
                  </a:txBody>
                  <a:tcPr marL="61722" marR="61722" marT="0" marB="0"/>
                </a:tc>
                <a:tc>
                  <a:txBody>
                    <a:bodyPr/>
                    <a:lstStyle/>
                    <a:p>
                      <a:pPr algn="ctr">
                        <a:spcAft>
                          <a:spcPts val="0"/>
                        </a:spcAft>
                      </a:pPr>
                      <a:r>
                        <a:rPr lang="en-AU" sz="1300">
                          <a:effectLst/>
                        </a:rPr>
                        <a:t>Intracellular receptors that may be on the mitochondria, other organelles or within the nucleus</a:t>
                      </a:r>
                      <a:endParaRPr lang="en-AU" sz="1100">
                        <a:effectLst/>
                        <a:latin typeface="Times New Roman"/>
                        <a:ea typeface="Calibri"/>
                      </a:endParaRPr>
                    </a:p>
                  </a:txBody>
                  <a:tcPr marL="61722" marR="61722" marT="0" marB="0"/>
                </a:tc>
                <a:extLst>
                  <a:ext uri="{0D108BD9-81ED-4DB2-BD59-A6C34878D82A}">
                    <a16:rowId xmlns:a16="http://schemas.microsoft.com/office/drawing/2014/main" val="10003"/>
                  </a:ext>
                </a:extLst>
              </a:tr>
              <a:tr h="1371325">
                <a:tc>
                  <a:txBody>
                    <a:bodyPr/>
                    <a:lstStyle/>
                    <a:p>
                      <a:pPr algn="ctr">
                        <a:spcAft>
                          <a:spcPts val="0"/>
                        </a:spcAft>
                      </a:pPr>
                      <a:r>
                        <a:rPr lang="en-AU" sz="1300">
                          <a:effectLst/>
                        </a:rPr>
                        <a:t>Action</a:t>
                      </a:r>
                      <a:endParaRPr lang="en-AU" sz="1100">
                        <a:effectLst/>
                        <a:latin typeface="Times New Roman"/>
                        <a:ea typeface="Calibri"/>
                      </a:endParaRPr>
                    </a:p>
                  </a:txBody>
                  <a:tcPr marL="61722" marR="61722" marT="0" marB="0"/>
                </a:tc>
                <a:tc>
                  <a:txBody>
                    <a:bodyPr/>
                    <a:lstStyle/>
                    <a:p>
                      <a:pPr>
                        <a:spcAft>
                          <a:spcPts val="0"/>
                        </a:spcAft>
                      </a:pPr>
                      <a:r>
                        <a:rPr lang="en-AU" sz="1300">
                          <a:effectLst/>
                        </a:rPr>
                        <a:t>Causes changes in cell metabolism:</a:t>
                      </a:r>
                      <a:endParaRPr lang="en-AU" sz="1100">
                        <a:effectLst/>
                      </a:endParaRPr>
                    </a:p>
                    <a:p>
                      <a:pPr marL="342900" lvl="0" indent="-342900">
                        <a:spcAft>
                          <a:spcPts val="0"/>
                        </a:spcAft>
                        <a:buFont typeface="Times New Roman"/>
                        <a:buChar char="-"/>
                      </a:pPr>
                      <a:r>
                        <a:rPr lang="en-AU" sz="1300">
                          <a:effectLst/>
                        </a:rPr>
                        <a:t>Membrane permeability</a:t>
                      </a:r>
                      <a:endParaRPr lang="en-AU" sz="1100">
                        <a:effectLst/>
                      </a:endParaRPr>
                    </a:p>
                    <a:p>
                      <a:pPr marL="342900" lvl="0" indent="-342900">
                        <a:spcAft>
                          <a:spcPts val="0"/>
                        </a:spcAft>
                        <a:buFont typeface="Times New Roman"/>
                        <a:buChar char="-"/>
                      </a:pPr>
                      <a:r>
                        <a:rPr lang="en-AU" sz="1300">
                          <a:effectLst/>
                        </a:rPr>
                        <a:t>Activate enzymes</a:t>
                      </a:r>
                      <a:endParaRPr lang="en-AU" sz="1100">
                        <a:effectLst/>
                      </a:endParaRPr>
                    </a:p>
                    <a:p>
                      <a:pPr marL="342900" lvl="0" indent="-342900">
                        <a:spcAft>
                          <a:spcPts val="0"/>
                        </a:spcAft>
                        <a:buFont typeface="Times New Roman"/>
                        <a:buChar char="-"/>
                      </a:pPr>
                      <a:r>
                        <a:rPr lang="en-AU" sz="1300">
                          <a:effectLst/>
                        </a:rPr>
                        <a:t>Cause protein synthesis</a:t>
                      </a:r>
                      <a:endParaRPr lang="en-AU" sz="1100">
                        <a:effectLst/>
                        <a:latin typeface="Times New Roman"/>
                        <a:ea typeface="Calibri"/>
                      </a:endParaRPr>
                    </a:p>
                  </a:txBody>
                  <a:tcPr marL="61722" marR="61722" marT="0" marB="0"/>
                </a:tc>
                <a:tc>
                  <a:txBody>
                    <a:bodyPr/>
                    <a:lstStyle/>
                    <a:p>
                      <a:pPr>
                        <a:spcAft>
                          <a:spcPts val="0"/>
                        </a:spcAft>
                      </a:pPr>
                      <a:r>
                        <a:rPr lang="en-AU" sz="1300">
                          <a:effectLst/>
                        </a:rPr>
                        <a:t>Cause changes in gene expression:</a:t>
                      </a:r>
                      <a:endParaRPr lang="en-AU" sz="1100">
                        <a:effectLst/>
                      </a:endParaRPr>
                    </a:p>
                    <a:p>
                      <a:pPr marL="342900" lvl="0" indent="-342900">
                        <a:spcAft>
                          <a:spcPts val="0"/>
                        </a:spcAft>
                        <a:buFont typeface="Times New Roman"/>
                        <a:buChar char="-"/>
                      </a:pPr>
                      <a:r>
                        <a:rPr lang="en-AU" sz="1300">
                          <a:effectLst/>
                        </a:rPr>
                        <a:t>Cause proteins to be synthesized by expressing genes on DNA</a:t>
                      </a:r>
                      <a:endParaRPr lang="en-AU" sz="1100">
                        <a:effectLst/>
                      </a:endParaRPr>
                    </a:p>
                    <a:p>
                      <a:pPr marL="342900" lvl="0" indent="-342900">
                        <a:spcAft>
                          <a:spcPts val="0"/>
                        </a:spcAft>
                        <a:buFont typeface="Times New Roman"/>
                        <a:buChar char="-"/>
                      </a:pPr>
                      <a:r>
                        <a:rPr lang="en-AU" sz="1300">
                          <a:effectLst/>
                        </a:rPr>
                        <a:t>Epigenetics</a:t>
                      </a:r>
                      <a:endParaRPr lang="en-AU" sz="1100">
                        <a:effectLst/>
                        <a:latin typeface="Times New Roman"/>
                        <a:ea typeface="Calibri"/>
                      </a:endParaRPr>
                    </a:p>
                  </a:txBody>
                  <a:tcPr marL="61722" marR="61722" marT="0" marB="0"/>
                </a:tc>
                <a:extLst>
                  <a:ext uri="{0D108BD9-81ED-4DB2-BD59-A6C34878D82A}">
                    <a16:rowId xmlns:a16="http://schemas.microsoft.com/office/drawing/2014/main" val="10004"/>
                  </a:ext>
                </a:extLst>
              </a:tr>
              <a:tr h="391807">
                <a:tc>
                  <a:txBody>
                    <a:bodyPr/>
                    <a:lstStyle/>
                    <a:p>
                      <a:pPr algn="ctr">
                        <a:spcAft>
                          <a:spcPts val="0"/>
                        </a:spcAft>
                      </a:pPr>
                      <a:r>
                        <a:rPr lang="en-AU" sz="1300">
                          <a:effectLst/>
                        </a:rPr>
                        <a:t>Can be stored</a:t>
                      </a:r>
                      <a:endParaRPr lang="en-AU" sz="1100">
                        <a:effectLst/>
                        <a:latin typeface="Times New Roman"/>
                        <a:ea typeface="Calibri"/>
                      </a:endParaRPr>
                    </a:p>
                  </a:txBody>
                  <a:tcPr marL="61722" marR="61722" marT="0" marB="0"/>
                </a:tc>
                <a:tc>
                  <a:txBody>
                    <a:bodyPr/>
                    <a:lstStyle/>
                    <a:p>
                      <a:pPr algn="ctr">
                        <a:spcAft>
                          <a:spcPts val="0"/>
                        </a:spcAft>
                      </a:pPr>
                      <a:r>
                        <a:rPr lang="en-AU" sz="1300">
                          <a:effectLst/>
                        </a:rPr>
                        <a:t>Yes</a:t>
                      </a:r>
                      <a:endParaRPr lang="en-AU" sz="1100">
                        <a:effectLst/>
                        <a:latin typeface="Times New Roman"/>
                        <a:ea typeface="Calibri"/>
                      </a:endParaRPr>
                    </a:p>
                  </a:txBody>
                  <a:tcPr marL="61722" marR="61722" marT="0" marB="0"/>
                </a:tc>
                <a:tc>
                  <a:txBody>
                    <a:bodyPr/>
                    <a:lstStyle/>
                    <a:p>
                      <a:pPr algn="ctr">
                        <a:spcAft>
                          <a:spcPts val="0"/>
                        </a:spcAft>
                      </a:pPr>
                      <a:r>
                        <a:rPr lang="en-AU" sz="1300">
                          <a:effectLst/>
                        </a:rPr>
                        <a:t>No – made on demand</a:t>
                      </a:r>
                      <a:endParaRPr lang="en-AU" sz="1100">
                        <a:effectLst/>
                        <a:latin typeface="Times New Roman"/>
                        <a:ea typeface="Calibri"/>
                      </a:endParaRPr>
                    </a:p>
                  </a:txBody>
                  <a:tcPr marL="61722" marR="61722" marT="0" marB="0"/>
                </a:tc>
                <a:extLst>
                  <a:ext uri="{0D108BD9-81ED-4DB2-BD59-A6C34878D82A}">
                    <a16:rowId xmlns:a16="http://schemas.microsoft.com/office/drawing/2014/main" val="10005"/>
                  </a:ext>
                </a:extLst>
              </a:tr>
              <a:tr h="1175421">
                <a:tc>
                  <a:txBody>
                    <a:bodyPr/>
                    <a:lstStyle/>
                    <a:p>
                      <a:pPr algn="ctr">
                        <a:spcAft>
                          <a:spcPts val="0"/>
                        </a:spcAft>
                      </a:pPr>
                      <a:r>
                        <a:rPr lang="en-AU" sz="1300">
                          <a:effectLst/>
                        </a:rPr>
                        <a:t>Examples</a:t>
                      </a:r>
                      <a:endParaRPr lang="en-AU" sz="1100">
                        <a:effectLst/>
                        <a:latin typeface="Times New Roman"/>
                        <a:ea typeface="Calibri"/>
                      </a:endParaRPr>
                    </a:p>
                  </a:txBody>
                  <a:tcPr marL="61722" marR="61722" marT="0" marB="0"/>
                </a:tc>
                <a:tc>
                  <a:txBody>
                    <a:bodyPr/>
                    <a:lstStyle/>
                    <a:p>
                      <a:pPr algn="ctr">
                        <a:spcAft>
                          <a:spcPts val="0"/>
                        </a:spcAft>
                      </a:pPr>
                      <a:r>
                        <a:rPr lang="en-AU" sz="1300">
                          <a:effectLst/>
                        </a:rPr>
                        <a:t>Any hormone not made by these glands </a:t>
                      </a:r>
                      <a:r>
                        <a:rPr lang="en-AU" sz="1300">
                          <a:effectLst/>
                          <a:sym typeface="Wingdings"/>
                        </a:rPr>
                        <a:t></a:t>
                      </a:r>
                      <a:endParaRPr lang="en-AU" sz="1100">
                        <a:effectLst/>
                      </a:endParaRPr>
                    </a:p>
                    <a:p>
                      <a:pPr marL="342900" lvl="0" indent="-342900">
                        <a:spcAft>
                          <a:spcPts val="0"/>
                        </a:spcAft>
                        <a:buFont typeface="Times New Roman"/>
                        <a:buChar char="-"/>
                      </a:pPr>
                      <a:r>
                        <a:rPr lang="en-AU" sz="1300">
                          <a:effectLst/>
                        </a:rPr>
                        <a:t>Epinephrine</a:t>
                      </a:r>
                      <a:endParaRPr lang="en-AU" sz="1100">
                        <a:effectLst/>
                      </a:endParaRPr>
                    </a:p>
                    <a:p>
                      <a:pPr marL="342900" lvl="0" indent="-342900">
                        <a:spcAft>
                          <a:spcPts val="0"/>
                        </a:spcAft>
                        <a:buFont typeface="Times New Roman"/>
                        <a:buChar char="-"/>
                      </a:pPr>
                      <a:r>
                        <a:rPr lang="en-AU" sz="1300">
                          <a:effectLst/>
                        </a:rPr>
                        <a:t>Thyroxin</a:t>
                      </a:r>
                      <a:endParaRPr lang="en-AU" sz="1100">
                        <a:effectLst/>
                      </a:endParaRPr>
                    </a:p>
                    <a:p>
                      <a:pPr marL="342900" lvl="0" indent="-342900">
                        <a:spcAft>
                          <a:spcPts val="0"/>
                        </a:spcAft>
                        <a:buFont typeface="Times New Roman"/>
                        <a:buChar char="-"/>
                      </a:pPr>
                      <a:r>
                        <a:rPr lang="en-AU" sz="1300">
                          <a:effectLst/>
                        </a:rPr>
                        <a:t>Oxytocin</a:t>
                      </a:r>
                      <a:endParaRPr lang="en-AU" sz="1100">
                        <a:effectLst/>
                        <a:latin typeface="Times New Roman"/>
                        <a:ea typeface="Calibri"/>
                      </a:endParaRPr>
                    </a:p>
                  </a:txBody>
                  <a:tcPr marL="61722" marR="61722" marT="0" marB="0"/>
                </a:tc>
                <a:tc>
                  <a:txBody>
                    <a:bodyPr/>
                    <a:lstStyle/>
                    <a:p>
                      <a:pPr algn="ctr">
                        <a:spcAft>
                          <a:spcPts val="0"/>
                        </a:spcAft>
                      </a:pPr>
                      <a:r>
                        <a:rPr lang="en-AU" sz="1300" dirty="0">
                          <a:effectLst/>
                        </a:rPr>
                        <a:t>All hormones made by the gonads and adrenal cortex:</a:t>
                      </a:r>
                      <a:endParaRPr lang="en-AU" sz="1100" dirty="0">
                        <a:effectLst/>
                      </a:endParaRPr>
                    </a:p>
                    <a:p>
                      <a:pPr marL="342900" lvl="0" indent="-342900">
                        <a:spcAft>
                          <a:spcPts val="0"/>
                        </a:spcAft>
                        <a:buFont typeface="Times New Roman"/>
                        <a:buChar char="-"/>
                      </a:pPr>
                      <a:r>
                        <a:rPr lang="en-AU" sz="1300" dirty="0">
                          <a:effectLst/>
                        </a:rPr>
                        <a:t>Testosterone </a:t>
                      </a:r>
                      <a:endParaRPr lang="en-AU" sz="1100" dirty="0">
                        <a:effectLst/>
                      </a:endParaRPr>
                    </a:p>
                    <a:p>
                      <a:pPr marL="342900" lvl="0" indent="-342900">
                        <a:spcAft>
                          <a:spcPts val="0"/>
                        </a:spcAft>
                        <a:buFont typeface="Times New Roman"/>
                        <a:buChar char="-"/>
                      </a:pPr>
                      <a:r>
                        <a:rPr lang="en-AU" sz="1300" dirty="0">
                          <a:effectLst/>
                        </a:rPr>
                        <a:t>Oestrogen</a:t>
                      </a:r>
                      <a:endParaRPr lang="en-AU" sz="1100" dirty="0">
                        <a:effectLst/>
                      </a:endParaRPr>
                    </a:p>
                    <a:p>
                      <a:pPr marL="342900" lvl="0" indent="-342900">
                        <a:spcAft>
                          <a:spcPts val="0"/>
                        </a:spcAft>
                        <a:buFont typeface="Times New Roman"/>
                        <a:buChar char="-"/>
                      </a:pPr>
                      <a:r>
                        <a:rPr lang="en-AU" sz="1300" dirty="0">
                          <a:effectLst/>
                        </a:rPr>
                        <a:t>Progesterone</a:t>
                      </a:r>
                      <a:endParaRPr lang="en-AU" sz="1100" dirty="0">
                        <a:effectLst/>
                      </a:endParaRPr>
                    </a:p>
                    <a:p>
                      <a:pPr marL="342900" lvl="0" indent="-342900">
                        <a:spcAft>
                          <a:spcPts val="0"/>
                        </a:spcAft>
                        <a:buFont typeface="Times New Roman"/>
                        <a:buChar char="-"/>
                      </a:pPr>
                      <a:r>
                        <a:rPr lang="en-AU" sz="1300" dirty="0">
                          <a:effectLst/>
                        </a:rPr>
                        <a:t>Aldosterone</a:t>
                      </a:r>
                      <a:endParaRPr lang="en-AU" sz="1100" dirty="0">
                        <a:effectLst/>
                        <a:latin typeface="Times New Roman"/>
                        <a:ea typeface="Calibri"/>
                      </a:endParaRPr>
                    </a:p>
                  </a:txBody>
                  <a:tcPr marL="61722" marR="61722" marT="0" marB="0"/>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5377417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2338" name="Rectangle 1"/>
          <p:cNvSpPr>
            <a:spLocks noGrp="1" noChangeArrowheads="1"/>
          </p:cNvSpPr>
          <p:nvPr>
            <p:ph type="title"/>
          </p:nvPr>
        </p:nvSpPr>
        <p:spPr/>
        <p:txBody>
          <a:bodyPr/>
          <a:lstStyle/>
          <a:p>
            <a:pPr>
              <a:tabLst>
                <a:tab pos="669703" algn="l"/>
              </a:tabLst>
            </a:pPr>
            <a:r>
              <a:rPr lang="en-US" altLang="en-US"/>
              <a:t>Hypothalamus</a:t>
            </a:r>
          </a:p>
        </p:txBody>
      </p:sp>
      <p:sp>
        <p:nvSpPr>
          <p:cNvPr id="58370" name="Rectangle 2"/>
          <p:cNvSpPr>
            <a:spLocks noGrp="1" noChangeArrowheads="1"/>
          </p:cNvSpPr>
          <p:nvPr>
            <p:ph type="body" idx="1"/>
          </p:nvPr>
        </p:nvSpPr>
        <p:spPr>
          <a:xfrm>
            <a:off x="250031" y="1259086"/>
            <a:ext cx="3893344" cy="3661172"/>
          </a:xfrm>
        </p:spPr>
        <p:txBody>
          <a:bodyPr>
            <a:normAutofit fontScale="92500" lnSpcReduction="20000"/>
          </a:bodyPr>
          <a:lstStyle/>
          <a:p>
            <a:pPr>
              <a:tabLst>
                <a:tab pos="721047" algn="l"/>
                <a:tab pos="1045853" algn="l"/>
              </a:tabLst>
            </a:pPr>
            <a:r>
              <a:rPr lang="en-US" altLang="en-US"/>
              <a:t>The hypothalamus is located below the thalamus, just above the brainstem and pituitary gland.</a:t>
            </a:r>
          </a:p>
          <a:p>
            <a:pPr>
              <a:tabLst>
                <a:tab pos="721047" algn="l"/>
                <a:tab pos="1045853" algn="l"/>
              </a:tabLst>
            </a:pPr>
            <a:r>
              <a:rPr lang="en-US" altLang="en-US"/>
              <a:t>It receives information from sensory receptors and uses this information to to control and integrate many basic physiological activities, including:</a:t>
            </a:r>
          </a:p>
          <a:p>
            <a:pPr lvl="1">
              <a:tabLst>
                <a:tab pos="721047" algn="l"/>
                <a:tab pos="1045853" algn="l"/>
              </a:tabLst>
            </a:pPr>
            <a:r>
              <a:rPr lang="en-US" altLang="en-US"/>
              <a:t>temperature regulation</a:t>
            </a:r>
          </a:p>
          <a:p>
            <a:pPr lvl="1">
              <a:tabLst>
                <a:tab pos="721047" algn="l"/>
                <a:tab pos="1045853" algn="l"/>
              </a:tabLst>
            </a:pPr>
            <a:r>
              <a:rPr lang="en-US" altLang="en-US"/>
              <a:t>food and fluid intake</a:t>
            </a:r>
          </a:p>
          <a:p>
            <a:pPr lvl="1">
              <a:tabLst>
                <a:tab pos="721047" algn="l"/>
                <a:tab pos="1045853" algn="l"/>
              </a:tabLst>
            </a:pPr>
            <a:r>
              <a:rPr lang="en-US" altLang="en-US"/>
              <a:t>sleep</a:t>
            </a:r>
          </a:p>
        </p:txBody>
      </p:sp>
      <p:grpSp>
        <p:nvGrpSpPr>
          <p:cNvPr id="2" name="Group 5"/>
          <p:cNvGrpSpPr>
            <a:grpSpLocks/>
          </p:cNvGrpSpPr>
          <p:nvPr/>
        </p:nvGrpSpPr>
        <p:grpSpPr bwMode="auto">
          <a:xfrm>
            <a:off x="4575349" y="1182068"/>
            <a:ext cx="4202534" cy="3875484"/>
            <a:chOff x="0" y="0"/>
            <a:chExt cx="3764" cy="3472"/>
          </a:xfrm>
          <a:effectLst>
            <a:outerShdw blurRad="190500" dist="190500" dir="2700000">
              <a:srgbClr val="000000">
                <a:alpha val="43000"/>
              </a:srgbClr>
            </a:outerShdw>
          </a:effectLst>
        </p:grpSpPr>
        <p:pic>
          <p:nvPicPr>
            <p:cNvPr id="58371" name="Picture 3"/>
            <p:cNvPicPr>
              <a:picLocks noChangeAspect="1" noChangeArrowheads="1"/>
            </p:cNvPicPr>
            <p:nvPr/>
          </p:nvPicPr>
          <p:blipFill>
            <a:blip r:embed="rId2"/>
            <a:srcRect/>
            <a:stretch>
              <a:fillRect/>
            </a:stretch>
          </p:blipFill>
          <p:spPr bwMode="auto">
            <a:xfrm>
              <a:off x="0" y="0"/>
              <a:ext cx="3764" cy="3472"/>
            </a:xfrm>
            <a:prstGeom prst="rect">
              <a:avLst/>
            </a:prstGeom>
            <a:noFill/>
            <a:ln w="25400" cap="flat">
              <a:noFill/>
              <a:miter lim="800000"/>
              <a:headEnd/>
              <a:tailEnd/>
            </a:ln>
          </p:spPr>
        </p:pic>
        <p:sp>
          <p:nvSpPr>
            <p:cNvPr id="58372" name="Oval 4"/>
            <p:cNvSpPr>
              <a:spLocks/>
            </p:cNvSpPr>
            <p:nvPr/>
          </p:nvSpPr>
          <p:spPr bwMode="auto">
            <a:xfrm>
              <a:off x="1383" y="1197"/>
              <a:ext cx="809" cy="807"/>
            </a:xfrm>
            <a:prstGeom prst="ellipse">
              <a:avLst/>
            </a:prstGeom>
            <a:gradFill rotWithShape="0">
              <a:gsLst>
                <a:gs pos="0">
                  <a:srgbClr val="FF0000"/>
                </a:gs>
                <a:gs pos="100000">
                  <a:srgbClr val="FF0000">
                    <a:alpha val="12999"/>
                  </a:srgbClr>
                </a:gs>
              </a:gsLst>
              <a:path path="rect">
                <a:fillToRect l="50000" t="50000" r="50000" b="50000"/>
              </a:path>
            </a:gradFill>
            <a:ln w="25400" cap="flat">
              <a:solidFill>
                <a:srgbClr val="005481"/>
              </a:solidFill>
              <a:prstDash val="solid"/>
              <a:miter lim="800000"/>
              <a:headEnd type="none" w="med" len="med"/>
              <a:tailEnd type="none" w="med" len="med"/>
            </a:ln>
          </p:spPr>
          <p:txBody>
            <a:bodyPr lIns="0" tIns="0" rIns="0" bIns="0"/>
            <a:lstStyle/>
            <a:p>
              <a:pPr>
                <a:defRPr/>
              </a:pPr>
              <a:endParaRPr lang="en-US">
                <a:latin typeface="Arial" pitchFamily="1" charset="0"/>
                <a:sym typeface="Arial" pitchFamily="1" charset="0"/>
              </a:endParaRPr>
            </a:p>
          </p:txBody>
        </p:sp>
      </p:grpSp>
      <p:grpSp>
        <p:nvGrpSpPr>
          <p:cNvPr id="3" name="Group 8"/>
          <p:cNvGrpSpPr>
            <a:grpSpLocks/>
          </p:cNvGrpSpPr>
          <p:nvPr/>
        </p:nvGrpSpPr>
        <p:grpSpPr bwMode="auto">
          <a:xfrm>
            <a:off x="4804172" y="3223617"/>
            <a:ext cx="1564928" cy="901898"/>
            <a:chOff x="0" y="0"/>
            <a:chExt cx="1402" cy="808"/>
          </a:xfrm>
        </p:grpSpPr>
        <p:sp>
          <p:nvSpPr>
            <p:cNvPr id="142342" name="Rectangle 6"/>
            <p:cNvSpPr>
              <a:spLocks/>
            </p:cNvSpPr>
            <p:nvPr/>
          </p:nvSpPr>
          <p:spPr bwMode="auto">
            <a:xfrm>
              <a:off x="0" y="648"/>
              <a:ext cx="1104"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000">
                  <a:solidFill>
                    <a:srgbClr val="0000FF"/>
                  </a:solidFill>
                  <a:latin typeface="Arial" charset="0"/>
                  <a:ea typeface="ヒラギノ角ゴ ProN W3" pitchFamily="1" charset="-128"/>
                  <a:sym typeface="Arial" charset="0"/>
                </a:defRPr>
              </a:lvl2pPr>
              <a:lvl3pPr eaLnBrk="0" hangingPunct="0">
                <a:tabLst>
                  <a:tab pos="520700" algn="l"/>
                </a:tabLst>
                <a:defRPr sz="2000">
                  <a:solidFill>
                    <a:srgbClr val="0000FF"/>
                  </a:solidFill>
                  <a:latin typeface="Arial" charset="0"/>
                  <a:ea typeface="ヒラギノ角ゴ ProN W3" pitchFamily="1" charset="-128"/>
                  <a:sym typeface="Arial" charset="0"/>
                </a:defRPr>
              </a:lvl3pPr>
              <a:lvl4pPr eaLnBrk="0" hangingPunct="0">
                <a:tabLst>
                  <a:tab pos="520700" algn="l"/>
                </a:tabLst>
                <a:defRPr sz="2000">
                  <a:solidFill>
                    <a:srgbClr val="0000FF"/>
                  </a:solidFill>
                  <a:latin typeface="Arial" charset="0"/>
                  <a:ea typeface="ヒラギノ角ゴ ProN W3" pitchFamily="1" charset="-128"/>
                  <a:sym typeface="Arial" charset="0"/>
                </a:defRPr>
              </a:lvl4pPr>
              <a:lvl5pPr eaLnBrk="0" hangingPunct="0">
                <a:tabLst>
                  <a:tab pos="520700" algn="l"/>
                </a:tabLst>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9pPr>
            </a:lstStyle>
            <a:p>
              <a:pPr algn="ctr" eaLnBrk="1" hangingPunct="1"/>
              <a:r>
                <a:rPr lang="en-US" altLang="en-US" sz="1300" b="1">
                  <a:solidFill>
                    <a:srgbClr val="005481"/>
                  </a:solidFill>
                  <a:cs typeface="Arial" charset="0"/>
                </a:rPr>
                <a:t>Hypothalamus</a:t>
              </a:r>
            </a:p>
          </p:txBody>
        </p:sp>
        <p:sp>
          <p:nvSpPr>
            <p:cNvPr id="142343" name="Line 7"/>
            <p:cNvSpPr>
              <a:spLocks noChangeShapeType="1"/>
            </p:cNvSpPr>
            <p:nvPr/>
          </p:nvSpPr>
          <p:spPr bwMode="auto">
            <a:xfrm flipH="1">
              <a:off x="842" y="15"/>
              <a:ext cx="546" cy="617"/>
            </a:xfrm>
            <a:prstGeom prst="line">
              <a:avLst/>
            </a:prstGeom>
            <a:noFill/>
            <a:ln w="25400">
              <a:solidFill>
                <a:srgbClr val="005481"/>
              </a:solidFill>
              <a:miter lim="800000"/>
              <a:headEnd type="oval" w="med" len="med"/>
              <a:tailEnd/>
            </a:ln>
            <a:extLst>
              <a:ext uri="{909E8E84-426E-40DD-AFC4-6F175D3DCCD1}">
                <a14:hiddenFill xmlns:a14="http://schemas.microsoft.com/office/drawing/2010/main">
                  <a:noFill/>
                </a14:hiddenFill>
              </a:ext>
            </a:extLst>
          </p:spPr>
          <p:txBody>
            <a:bodyPr lIns="0" tIns="0" rIns="0" bIns="0"/>
            <a:lstStyle/>
            <a:p>
              <a:endParaRPr lang="en-AU"/>
            </a:p>
          </p:txBody>
        </p:sp>
      </p:grpSp>
    </p:spTree>
    <p:extLst>
      <p:ext uri="{BB962C8B-B14F-4D97-AF65-F5344CB8AC3E}">
        <p14:creationId xmlns:p14="http://schemas.microsoft.com/office/powerpoint/2010/main" val="122515933"/>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837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8370">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8370">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58370">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58370">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0" grpId="0" build="p" bldLvl="5"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59393"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8453" y="741164"/>
            <a:ext cx="4223742" cy="4896818"/>
          </a:xfrm>
          <a:prstGeom prst="rect">
            <a:avLst/>
          </a:prstGeom>
          <a:noFill/>
          <a:ln>
            <a:noFill/>
          </a:ln>
          <a:effectLst>
            <a:outerShdw blurRad="190500" dist="190500" dir="2700000" rotWithShape="0">
              <a:srgbClr val="808080">
                <a:alpha val="42999"/>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143363" name="Rectangle 2"/>
          <p:cNvSpPr>
            <a:spLocks noGrp="1" noChangeArrowheads="1"/>
          </p:cNvSpPr>
          <p:nvPr>
            <p:ph type="title"/>
          </p:nvPr>
        </p:nvSpPr>
        <p:spPr>
          <a:xfrm>
            <a:off x="500062" y="258961"/>
            <a:ext cx="4357688" cy="1393031"/>
          </a:xfrm>
        </p:spPr>
        <p:txBody>
          <a:bodyPr/>
          <a:lstStyle/>
          <a:p>
            <a:pPr>
              <a:tabLst>
                <a:tab pos="669703" algn="l"/>
              </a:tabLst>
            </a:pPr>
            <a:r>
              <a:rPr lang="en-US" altLang="en-US"/>
              <a:t>Role of the Hypothalamus</a:t>
            </a:r>
          </a:p>
        </p:txBody>
      </p:sp>
      <p:sp>
        <p:nvSpPr>
          <p:cNvPr id="59395" name="Rectangle 3"/>
          <p:cNvSpPr>
            <a:spLocks noGrp="1" noChangeArrowheads="1"/>
          </p:cNvSpPr>
          <p:nvPr>
            <p:ph type="body" idx="1"/>
          </p:nvPr>
        </p:nvSpPr>
        <p:spPr>
          <a:xfrm>
            <a:off x="250031" y="1768078"/>
            <a:ext cx="3268266" cy="3509367"/>
          </a:xfrm>
        </p:spPr>
        <p:txBody>
          <a:bodyPr>
            <a:normAutofit fontScale="92500" lnSpcReduction="20000"/>
          </a:bodyPr>
          <a:lstStyle/>
          <a:p>
            <a:pPr>
              <a:tabLst>
                <a:tab pos="721047" algn="l"/>
                <a:tab pos="1045853" algn="l"/>
              </a:tabLst>
            </a:pPr>
            <a:r>
              <a:rPr lang="en-US" altLang="en-US"/>
              <a:t>One of the most important functions of the hypothalamus is to link the endocrine system to the nervous system via the pituitary.</a:t>
            </a:r>
          </a:p>
          <a:p>
            <a:pPr>
              <a:tabLst>
                <a:tab pos="721047" algn="l"/>
                <a:tab pos="1045853" algn="l"/>
              </a:tabLst>
            </a:pPr>
            <a:r>
              <a:rPr lang="en-US" altLang="en-US"/>
              <a:t>The hypothalamus contains neurosecretory cells. </a:t>
            </a:r>
          </a:p>
          <a:p>
            <a:pPr lvl="1">
              <a:tabLst>
                <a:tab pos="721047" algn="l"/>
                <a:tab pos="1045853" algn="l"/>
              </a:tabLst>
            </a:pPr>
            <a:r>
              <a:rPr lang="en-US" altLang="en-US"/>
              <a:t>These are specialized secretory neurons, which are both nerve and endocrine cells.</a:t>
            </a:r>
          </a:p>
        </p:txBody>
      </p:sp>
      <p:sp>
        <p:nvSpPr>
          <p:cNvPr id="143365" name="Rectangle 4"/>
          <p:cNvSpPr>
            <a:spLocks/>
          </p:cNvSpPr>
          <p:nvPr/>
        </p:nvSpPr>
        <p:spPr bwMode="auto">
          <a:xfrm>
            <a:off x="4688086" y="6241851"/>
            <a:ext cx="3518297" cy="178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000">
                <a:solidFill>
                  <a:srgbClr val="0000FF"/>
                </a:solidFill>
                <a:latin typeface="Arial" charset="0"/>
                <a:ea typeface="ヒラギノ角ゴ ProN W3" pitchFamily="1" charset="-128"/>
                <a:sym typeface="Arial" charset="0"/>
              </a:defRPr>
            </a:lvl2pPr>
            <a:lvl3pPr eaLnBrk="0" hangingPunct="0">
              <a:tabLst>
                <a:tab pos="520700" algn="l"/>
              </a:tabLst>
              <a:defRPr sz="2000">
                <a:solidFill>
                  <a:srgbClr val="0000FF"/>
                </a:solidFill>
                <a:latin typeface="Arial" charset="0"/>
                <a:ea typeface="ヒラギノ角ゴ ProN W3" pitchFamily="1" charset="-128"/>
                <a:sym typeface="Arial" charset="0"/>
              </a:defRPr>
            </a:lvl3pPr>
            <a:lvl4pPr eaLnBrk="0" hangingPunct="0">
              <a:tabLst>
                <a:tab pos="520700" algn="l"/>
              </a:tabLst>
              <a:defRPr sz="2000">
                <a:solidFill>
                  <a:srgbClr val="0000FF"/>
                </a:solidFill>
                <a:latin typeface="Arial" charset="0"/>
                <a:ea typeface="ヒラギノ角ゴ ProN W3" pitchFamily="1" charset="-128"/>
                <a:sym typeface="Arial" charset="0"/>
              </a:defRPr>
            </a:lvl4pPr>
            <a:lvl5pPr eaLnBrk="0" hangingPunct="0">
              <a:tabLst>
                <a:tab pos="520700" algn="l"/>
              </a:tabLst>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9pPr>
          </a:lstStyle>
          <a:p>
            <a:pPr algn="ctr" eaLnBrk="1" hangingPunct="1"/>
            <a:r>
              <a:rPr lang="en-US" altLang="en-US" sz="1300" b="1" dirty="0">
                <a:solidFill>
                  <a:srgbClr val="000000"/>
                </a:solidFill>
                <a:cs typeface="Arial" charset="0"/>
              </a:rPr>
              <a:t>Structure of hypothalamus and pituitary</a:t>
            </a:r>
          </a:p>
        </p:txBody>
      </p:sp>
      <p:grpSp>
        <p:nvGrpSpPr>
          <p:cNvPr id="2" name="Group 8"/>
          <p:cNvGrpSpPr>
            <a:grpSpLocks/>
          </p:cNvGrpSpPr>
          <p:nvPr/>
        </p:nvGrpSpPr>
        <p:grpSpPr bwMode="auto">
          <a:xfrm>
            <a:off x="6100093" y="455414"/>
            <a:ext cx="1935510" cy="875109"/>
            <a:chOff x="0" y="0"/>
            <a:chExt cx="1734" cy="784"/>
          </a:xfrm>
        </p:grpSpPr>
        <p:sp>
          <p:nvSpPr>
            <p:cNvPr id="143376" name="Rectangle 5"/>
            <p:cNvSpPr>
              <a:spLocks/>
            </p:cNvSpPr>
            <p:nvPr/>
          </p:nvSpPr>
          <p:spPr bwMode="auto">
            <a:xfrm>
              <a:off x="478" y="0"/>
              <a:ext cx="1256"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000">
                  <a:solidFill>
                    <a:srgbClr val="0000FF"/>
                  </a:solidFill>
                  <a:latin typeface="Arial" charset="0"/>
                  <a:ea typeface="ヒラギノ角ゴ ProN W3" pitchFamily="1" charset="-128"/>
                  <a:sym typeface="Arial" charset="0"/>
                </a:defRPr>
              </a:lvl2pPr>
              <a:lvl3pPr eaLnBrk="0" hangingPunct="0">
                <a:tabLst>
                  <a:tab pos="520700" algn="l"/>
                </a:tabLst>
                <a:defRPr sz="2000">
                  <a:solidFill>
                    <a:srgbClr val="0000FF"/>
                  </a:solidFill>
                  <a:latin typeface="Arial" charset="0"/>
                  <a:ea typeface="ヒラギノ角ゴ ProN W3" pitchFamily="1" charset="-128"/>
                  <a:sym typeface="Arial" charset="0"/>
                </a:defRPr>
              </a:lvl3pPr>
              <a:lvl4pPr eaLnBrk="0" hangingPunct="0">
                <a:tabLst>
                  <a:tab pos="520700" algn="l"/>
                </a:tabLst>
                <a:defRPr sz="2000">
                  <a:solidFill>
                    <a:srgbClr val="0000FF"/>
                  </a:solidFill>
                  <a:latin typeface="Arial" charset="0"/>
                  <a:ea typeface="ヒラギノ角ゴ ProN W3" pitchFamily="1" charset="-128"/>
                  <a:sym typeface="Arial" charset="0"/>
                </a:defRPr>
              </a:lvl4pPr>
              <a:lvl5pPr eaLnBrk="0" hangingPunct="0">
                <a:tabLst>
                  <a:tab pos="520700" algn="l"/>
                </a:tabLst>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9pPr>
            </a:lstStyle>
            <a:p>
              <a:pPr algn="ctr" eaLnBrk="1" hangingPunct="1"/>
              <a:r>
                <a:rPr lang="en-US" altLang="en-US" sz="1300">
                  <a:solidFill>
                    <a:srgbClr val="005481"/>
                  </a:solidFill>
                  <a:cs typeface="Arial" charset="0"/>
                </a:rPr>
                <a:t>Neurosecretory cells</a:t>
              </a:r>
            </a:p>
          </p:txBody>
        </p:sp>
        <p:sp>
          <p:nvSpPr>
            <p:cNvPr id="143377" name="Line 6"/>
            <p:cNvSpPr>
              <a:spLocks noChangeShapeType="1"/>
            </p:cNvSpPr>
            <p:nvPr/>
          </p:nvSpPr>
          <p:spPr bwMode="auto">
            <a:xfrm rot="10800000" flipH="1">
              <a:off x="0" y="352"/>
              <a:ext cx="1134" cy="163"/>
            </a:xfrm>
            <a:prstGeom prst="line">
              <a:avLst/>
            </a:prstGeom>
            <a:noFill/>
            <a:ln w="25400">
              <a:solidFill>
                <a:srgbClr val="005481"/>
              </a:solidFill>
              <a:miter lim="800000"/>
              <a:headEnd type="stealth" w="med" len="med"/>
              <a:tailEnd/>
            </a:ln>
            <a:extLst>
              <a:ext uri="{909E8E84-426E-40DD-AFC4-6F175D3DCCD1}">
                <a14:hiddenFill xmlns:a14="http://schemas.microsoft.com/office/drawing/2010/main">
                  <a:noFill/>
                </a14:hiddenFill>
              </a:ext>
            </a:extLst>
          </p:spPr>
          <p:txBody>
            <a:bodyPr lIns="0" tIns="0" rIns="0" bIns="0"/>
            <a:lstStyle/>
            <a:p>
              <a:endParaRPr lang="en-AU"/>
            </a:p>
          </p:txBody>
        </p:sp>
        <p:sp>
          <p:nvSpPr>
            <p:cNvPr id="143378" name="Line 7"/>
            <p:cNvSpPr>
              <a:spLocks noChangeShapeType="1"/>
            </p:cNvSpPr>
            <p:nvPr/>
          </p:nvSpPr>
          <p:spPr bwMode="auto">
            <a:xfrm rot="10800000">
              <a:off x="1126" y="360"/>
              <a:ext cx="134" cy="424"/>
            </a:xfrm>
            <a:prstGeom prst="line">
              <a:avLst/>
            </a:prstGeom>
            <a:noFill/>
            <a:ln w="25400">
              <a:solidFill>
                <a:srgbClr val="005481"/>
              </a:solidFill>
              <a:miter lim="800000"/>
              <a:headEnd type="stealth" w="med" len="med"/>
              <a:tailEnd/>
            </a:ln>
            <a:extLst>
              <a:ext uri="{909E8E84-426E-40DD-AFC4-6F175D3DCCD1}">
                <a14:hiddenFill xmlns:a14="http://schemas.microsoft.com/office/drawing/2010/main">
                  <a:noFill/>
                </a14:hiddenFill>
              </a:ext>
            </a:extLst>
          </p:spPr>
          <p:txBody>
            <a:bodyPr lIns="0" tIns="0" rIns="0" bIns="0"/>
            <a:lstStyle/>
            <a:p>
              <a:endParaRPr lang="en-AU"/>
            </a:p>
          </p:txBody>
        </p:sp>
      </p:grpSp>
      <p:grpSp>
        <p:nvGrpSpPr>
          <p:cNvPr id="3" name="Group 11"/>
          <p:cNvGrpSpPr>
            <a:grpSpLocks/>
          </p:cNvGrpSpPr>
          <p:nvPr/>
        </p:nvGrpSpPr>
        <p:grpSpPr bwMode="auto">
          <a:xfrm>
            <a:off x="3707902" y="2713508"/>
            <a:ext cx="1913325" cy="652984"/>
            <a:chOff x="-205" y="15"/>
            <a:chExt cx="1713" cy="585"/>
          </a:xfrm>
        </p:grpSpPr>
        <p:sp>
          <p:nvSpPr>
            <p:cNvPr id="143374" name="Rectangle 9"/>
            <p:cNvSpPr>
              <a:spLocks/>
            </p:cNvSpPr>
            <p:nvPr/>
          </p:nvSpPr>
          <p:spPr bwMode="auto">
            <a:xfrm>
              <a:off x="-205" y="440"/>
              <a:ext cx="1309"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000">
                  <a:solidFill>
                    <a:srgbClr val="0000FF"/>
                  </a:solidFill>
                  <a:latin typeface="Arial" charset="0"/>
                  <a:ea typeface="ヒラギノ角ゴ ProN W3" pitchFamily="1" charset="-128"/>
                  <a:sym typeface="Arial" charset="0"/>
                </a:defRPr>
              </a:lvl2pPr>
              <a:lvl3pPr eaLnBrk="0" hangingPunct="0">
                <a:tabLst>
                  <a:tab pos="520700" algn="l"/>
                </a:tabLst>
                <a:defRPr sz="2000">
                  <a:solidFill>
                    <a:srgbClr val="0000FF"/>
                  </a:solidFill>
                  <a:latin typeface="Arial" charset="0"/>
                  <a:ea typeface="ヒラギノ角ゴ ProN W3" pitchFamily="1" charset="-128"/>
                  <a:sym typeface="Arial" charset="0"/>
                </a:defRPr>
              </a:lvl3pPr>
              <a:lvl4pPr eaLnBrk="0" hangingPunct="0">
                <a:tabLst>
                  <a:tab pos="520700" algn="l"/>
                </a:tabLst>
                <a:defRPr sz="2000">
                  <a:solidFill>
                    <a:srgbClr val="0000FF"/>
                  </a:solidFill>
                  <a:latin typeface="Arial" charset="0"/>
                  <a:ea typeface="ヒラギノ角ゴ ProN W3" pitchFamily="1" charset="-128"/>
                  <a:sym typeface="Arial" charset="0"/>
                </a:defRPr>
              </a:lvl4pPr>
              <a:lvl5pPr eaLnBrk="0" hangingPunct="0">
                <a:tabLst>
                  <a:tab pos="520700" algn="l"/>
                </a:tabLst>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9pPr>
            </a:lstStyle>
            <a:p>
              <a:pPr algn="ctr" eaLnBrk="1" hangingPunct="1"/>
              <a:r>
                <a:rPr lang="en-US" altLang="en-US" sz="1300" b="1" dirty="0">
                  <a:solidFill>
                    <a:srgbClr val="005481"/>
                  </a:solidFill>
                  <a:cs typeface="Arial" charset="0"/>
                </a:rPr>
                <a:t>Hypothalamus</a:t>
              </a:r>
            </a:p>
          </p:txBody>
        </p:sp>
        <p:sp>
          <p:nvSpPr>
            <p:cNvPr id="143375" name="Line 10"/>
            <p:cNvSpPr>
              <a:spLocks noChangeShapeType="1"/>
            </p:cNvSpPr>
            <p:nvPr/>
          </p:nvSpPr>
          <p:spPr bwMode="auto">
            <a:xfrm flipH="1">
              <a:off x="1090" y="15"/>
              <a:ext cx="418" cy="443"/>
            </a:xfrm>
            <a:prstGeom prst="line">
              <a:avLst/>
            </a:prstGeom>
            <a:noFill/>
            <a:ln w="25400">
              <a:solidFill>
                <a:srgbClr val="005481"/>
              </a:solidFill>
              <a:miter lim="800000"/>
              <a:headEnd type="oval" w="med" len="med"/>
              <a:tailEnd/>
            </a:ln>
            <a:extLst>
              <a:ext uri="{909E8E84-426E-40DD-AFC4-6F175D3DCCD1}">
                <a14:hiddenFill xmlns:a14="http://schemas.microsoft.com/office/drawing/2010/main">
                  <a:noFill/>
                </a14:hiddenFill>
              </a:ext>
            </a:extLst>
          </p:spPr>
          <p:txBody>
            <a:bodyPr lIns="0" tIns="0" rIns="0" bIns="0"/>
            <a:lstStyle/>
            <a:p>
              <a:endParaRPr lang="en-AU"/>
            </a:p>
          </p:txBody>
        </p:sp>
      </p:grpSp>
      <p:grpSp>
        <p:nvGrpSpPr>
          <p:cNvPr id="4" name="Group 14"/>
          <p:cNvGrpSpPr>
            <a:grpSpLocks/>
          </p:cNvGrpSpPr>
          <p:nvPr/>
        </p:nvGrpSpPr>
        <p:grpSpPr bwMode="auto">
          <a:xfrm>
            <a:off x="3491508" y="4950395"/>
            <a:ext cx="2048247" cy="755675"/>
            <a:chOff x="-328" y="11"/>
            <a:chExt cx="1835" cy="677"/>
          </a:xfrm>
        </p:grpSpPr>
        <p:sp>
          <p:nvSpPr>
            <p:cNvPr id="143372" name="Rectangle 12"/>
            <p:cNvSpPr>
              <a:spLocks/>
            </p:cNvSpPr>
            <p:nvPr/>
          </p:nvSpPr>
          <p:spPr bwMode="auto">
            <a:xfrm>
              <a:off x="-328" y="360"/>
              <a:ext cx="1664"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000">
                  <a:solidFill>
                    <a:srgbClr val="0000FF"/>
                  </a:solidFill>
                  <a:latin typeface="Arial" charset="0"/>
                  <a:ea typeface="ヒラギノ角ゴ ProN W3" pitchFamily="1" charset="-128"/>
                  <a:sym typeface="Arial" charset="0"/>
                </a:defRPr>
              </a:lvl2pPr>
              <a:lvl3pPr eaLnBrk="0" hangingPunct="0">
                <a:tabLst>
                  <a:tab pos="520700" algn="l"/>
                </a:tabLst>
                <a:defRPr sz="2000">
                  <a:solidFill>
                    <a:srgbClr val="0000FF"/>
                  </a:solidFill>
                  <a:latin typeface="Arial" charset="0"/>
                  <a:ea typeface="ヒラギノ角ゴ ProN W3" pitchFamily="1" charset="-128"/>
                  <a:sym typeface="Arial" charset="0"/>
                </a:defRPr>
              </a:lvl3pPr>
              <a:lvl4pPr eaLnBrk="0" hangingPunct="0">
                <a:tabLst>
                  <a:tab pos="520700" algn="l"/>
                </a:tabLst>
                <a:defRPr sz="2000">
                  <a:solidFill>
                    <a:srgbClr val="0000FF"/>
                  </a:solidFill>
                  <a:latin typeface="Arial" charset="0"/>
                  <a:ea typeface="ヒラギノ角ゴ ProN W3" pitchFamily="1" charset="-128"/>
                  <a:sym typeface="Arial" charset="0"/>
                </a:defRPr>
              </a:lvl4pPr>
              <a:lvl5pPr eaLnBrk="0" hangingPunct="0">
                <a:tabLst>
                  <a:tab pos="520700" algn="l"/>
                </a:tabLst>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9pPr>
            </a:lstStyle>
            <a:p>
              <a:pPr algn="ctr" eaLnBrk="1" hangingPunct="1"/>
              <a:r>
                <a:rPr lang="en-US" altLang="en-US" sz="1300" b="1" dirty="0">
                  <a:solidFill>
                    <a:srgbClr val="005481"/>
                  </a:solidFill>
                  <a:cs typeface="Arial" charset="0"/>
                </a:rPr>
                <a:t>Anterior pituitary</a:t>
              </a:r>
            </a:p>
            <a:p>
              <a:pPr algn="ctr" eaLnBrk="1" hangingPunct="1"/>
              <a:r>
                <a:rPr lang="en-US" altLang="en-US" sz="1300" b="1" dirty="0">
                  <a:solidFill>
                    <a:srgbClr val="005481"/>
                  </a:solidFill>
                  <a:cs typeface="Arial" charset="0"/>
                </a:rPr>
                <a:t>(</a:t>
              </a:r>
              <a:r>
                <a:rPr lang="en-US" altLang="en-US" sz="1300" b="1" dirty="0" err="1">
                  <a:solidFill>
                    <a:srgbClr val="005481"/>
                  </a:solidFill>
                  <a:cs typeface="Arial" charset="0"/>
                </a:rPr>
                <a:t>adenhypophysis</a:t>
              </a:r>
              <a:r>
                <a:rPr lang="en-US" altLang="en-US" sz="1300" b="1" dirty="0">
                  <a:solidFill>
                    <a:srgbClr val="005481"/>
                  </a:solidFill>
                  <a:cs typeface="Arial" charset="0"/>
                </a:rPr>
                <a:t>)</a:t>
              </a:r>
              <a:r>
                <a:rPr lang="en-US" altLang="en-US" sz="1300" dirty="0">
                  <a:solidFill>
                    <a:srgbClr val="005481"/>
                  </a:solidFill>
                  <a:cs typeface="Arial" charset="0"/>
                </a:rPr>
                <a:t> </a:t>
              </a:r>
            </a:p>
          </p:txBody>
        </p:sp>
        <p:sp>
          <p:nvSpPr>
            <p:cNvPr id="143373" name="Line 13"/>
            <p:cNvSpPr>
              <a:spLocks noChangeShapeType="1"/>
            </p:cNvSpPr>
            <p:nvPr/>
          </p:nvSpPr>
          <p:spPr bwMode="auto">
            <a:xfrm flipH="1">
              <a:off x="991" y="11"/>
              <a:ext cx="516" cy="324"/>
            </a:xfrm>
            <a:prstGeom prst="line">
              <a:avLst/>
            </a:prstGeom>
            <a:noFill/>
            <a:ln w="25400">
              <a:solidFill>
                <a:srgbClr val="005481"/>
              </a:solidFill>
              <a:miter lim="800000"/>
              <a:headEnd type="oval" w="med" len="med"/>
              <a:tailEnd/>
            </a:ln>
            <a:extLst>
              <a:ext uri="{909E8E84-426E-40DD-AFC4-6F175D3DCCD1}">
                <a14:hiddenFill xmlns:a14="http://schemas.microsoft.com/office/drawing/2010/main">
                  <a:noFill/>
                </a14:hiddenFill>
              </a:ext>
            </a:extLst>
          </p:spPr>
          <p:txBody>
            <a:bodyPr lIns="0" tIns="0" rIns="0" bIns="0"/>
            <a:lstStyle/>
            <a:p>
              <a:endParaRPr lang="en-AU"/>
            </a:p>
          </p:txBody>
        </p:sp>
      </p:grpSp>
      <p:grpSp>
        <p:nvGrpSpPr>
          <p:cNvPr id="5" name="Group 17"/>
          <p:cNvGrpSpPr>
            <a:grpSpLocks/>
          </p:cNvGrpSpPr>
          <p:nvPr/>
        </p:nvGrpSpPr>
        <p:grpSpPr bwMode="auto">
          <a:xfrm>
            <a:off x="6746826" y="5110159"/>
            <a:ext cx="1713607" cy="1045578"/>
            <a:chOff x="18" y="9"/>
            <a:chExt cx="1919" cy="871"/>
          </a:xfrm>
        </p:grpSpPr>
        <p:sp>
          <p:nvSpPr>
            <p:cNvPr id="143370" name="Rectangle 15"/>
            <p:cNvSpPr>
              <a:spLocks/>
            </p:cNvSpPr>
            <p:nvPr/>
          </p:nvSpPr>
          <p:spPr bwMode="auto">
            <a:xfrm>
              <a:off x="545" y="552"/>
              <a:ext cx="1392"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000">
                  <a:solidFill>
                    <a:srgbClr val="0000FF"/>
                  </a:solidFill>
                  <a:latin typeface="Arial" charset="0"/>
                  <a:ea typeface="ヒラギノ角ゴ ProN W3" pitchFamily="1" charset="-128"/>
                  <a:sym typeface="Arial" charset="0"/>
                </a:defRPr>
              </a:lvl2pPr>
              <a:lvl3pPr eaLnBrk="0" hangingPunct="0">
                <a:tabLst>
                  <a:tab pos="520700" algn="l"/>
                </a:tabLst>
                <a:defRPr sz="2000">
                  <a:solidFill>
                    <a:srgbClr val="0000FF"/>
                  </a:solidFill>
                  <a:latin typeface="Arial" charset="0"/>
                  <a:ea typeface="ヒラギノ角ゴ ProN W3" pitchFamily="1" charset="-128"/>
                  <a:sym typeface="Arial" charset="0"/>
                </a:defRPr>
              </a:lvl3pPr>
              <a:lvl4pPr eaLnBrk="0" hangingPunct="0">
                <a:tabLst>
                  <a:tab pos="520700" algn="l"/>
                </a:tabLst>
                <a:defRPr sz="2000">
                  <a:solidFill>
                    <a:srgbClr val="0000FF"/>
                  </a:solidFill>
                  <a:latin typeface="Arial" charset="0"/>
                  <a:ea typeface="ヒラギノ角ゴ ProN W3" pitchFamily="1" charset="-128"/>
                  <a:sym typeface="Arial" charset="0"/>
                </a:defRPr>
              </a:lvl4pPr>
              <a:lvl5pPr eaLnBrk="0" hangingPunct="0">
                <a:tabLst>
                  <a:tab pos="520700" algn="l"/>
                </a:tabLst>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9pPr>
            </a:lstStyle>
            <a:p>
              <a:pPr algn="ctr" eaLnBrk="1" hangingPunct="1"/>
              <a:r>
                <a:rPr lang="en-US" altLang="en-US" sz="1300" b="1" dirty="0">
                  <a:solidFill>
                    <a:srgbClr val="005481"/>
                  </a:solidFill>
                  <a:cs typeface="Arial" charset="0"/>
                </a:rPr>
                <a:t>Posterior pituitary(</a:t>
              </a:r>
              <a:r>
                <a:rPr lang="en-US" altLang="en-US" sz="1300" b="1" dirty="0" err="1">
                  <a:solidFill>
                    <a:srgbClr val="005481"/>
                  </a:solidFill>
                  <a:cs typeface="Arial" charset="0"/>
                </a:rPr>
                <a:t>neurohypophysis</a:t>
              </a:r>
              <a:r>
                <a:rPr lang="en-US" altLang="en-US" sz="1300" b="1" dirty="0">
                  <a:solidFill>
                    <a:srgbClr val="005481"/>
                  </a:solidFill>
                  <a:cs typeface="Arial" charset="0"/>
                </a:rPr>
                <a:t>)</a:t>
              </a:r>
            </a:p>
          </p:txBody>
        </p:sp>
        <p:sp>
          <p:nvSpPr>
            <p:cNvPr id="143371" name="Line 16"/>
            <p:cNvSpPr>
              <a:spLocks noChangeShapeType="1"/>
            </p:cNvSpPr>
            <p:nvPr/>
          </p:nvSpPr>
          <p:spPr bwMode="auto">
            <a:xfrm>
              <a:off x="18" y="9"/>
              <a:ext cx="951" cy="344"/>
            </a:xfrm>
            <a:prstGeom prst="line">
              <a:avLst/>
            </a:prstGeom>
            <a:noFill/>
            <a:ln w="25400">
              <a:solidFill>
                <a:srgbClr val="005481"/>
              </a:solidFill>
              <a:miter lim="800000"/>
              <a:headEnd type="oval" w="med" len="med"/>
              <a:tailEnd/>
            </a:ln>
            <a:extLst>
              <a:ext uri="{909E8E84-426E-40DD-AFC4-6F175D3DCCD1}">
                <a14:hiddenFill xmlns:a14="http://schemas.microsoft.com/office/drawing/2010/main">
                  <a:noFill/>
                </a14:hiddenFill>
              </a:ext>
            </a:extLst>
          </p:spPr>
          <p:txBody>
            <a:bodyPr lIns="0" tIns="0" rIns="0" bIns="0"/>
            <a:lstStyle/>
            <a:p>
              <a:endParaRPr lang="en-AU"/>
            </a:p>
          </p:txBody>
        </p:sp>
      </p:grpSp>
    </p:spTree>
    <p:extLst>
      <p:ext uri="{BB962C8B-B14F-4D97-AF65-F5344CB8AC3E}">
        <p14:creationId xmlns:p14="http://schemas.microsoft.com/office/powerpoint/2010/main" val="1232797151"/>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939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939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939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2"/>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3"/>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4"/>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build="p" bldLvl="5"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1"/>
          <p:cNvSpPr>
            <a:spLocks noGrp="1" noChangeArrowheads="1"/>
          </p:cNvSpPr>
          <p:nvPr>
            <p:ph type="title"/>
          </p:nvPr>
        </p:nvSpPr>
        <p:spPr>
          <a:xfrm>
            <a:off x="311051" y="3473"/>
            <a:ext cx="7620000" cy="1143000"/>
          </a:xfrm>
        </p:spPr>
        <p:txBody>
          <a:bodyPr/>
          <a:lstStyle/>
          <a:p>
            <a:pPr>
              <a:tabLst>
                <a:tab pos="669703" algn="l"/>
              </a:tabLst>
            </a:pPr>
            <a:r>
              <a:rPr lang="en-US" altLang="en-US" dirty="0"/>
              <a:t>Hypothalamus Structure</a:t>
            </a:r>
          </a:p>
        </p:txBody>
      </p:sp>
      <p:pic>
        <p:nvPicPr>
          <p:cNvPr id="604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7195" y="1257971"/>
            <a:ext cx="3741539" cy="4358803"/>
          </a:xfrm>
          <a:prstGeom prst="rect">
            <a:avLst/>
          </a:prstGeom>
          <a:noFill/>
          <a:ln>
            <a:noFill/>
          </a:ln>
          <a:effectLst>
            <a:outerShdw blurRad="190500" dist="190500" dir="2700000" rotWithShape="0">
              <a:srgbClr val="808080">
                <a:alpha val="42999"/>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grpSp>
        <p:nvGrpSpPr>
          <p:cNvPr id="2" name="Group 7"/>
          <p:cNvGrpSpPr>
            <a:grpSpLocks/>
          </p:cNvGrpSpPr>
          <p:nvPr/>
        </p:nvGrpSpPr>
        <p:grpSpPr bwMode="auto">
          <a:xfrm>
            <a:off x="1347267" y="5482828"/>
            <a:ext cx="2773784" cy="723305"/>
            <a:chOff x="0" y="0"/>
            <a:chExt cx="2484" cy="648"/>
          </a:xfrm>
        </p:grpSpPr>
        <p:sp>
          <p:nvSpPr>
            <p:cNvPr id="144415" name="Rectangle 3"/>
            <p:cNvSpPr>
              <a:spLocks/>
            </p:cNvSpPr>
            <p:nvPr/>
          </p:nvSpPr>
          <p:spPr bwMode="auto">
            <a:xfrm>
              <a:off x="0" y="0"/>
              <a:ext cx="2048" cy="648"/>
            </a:xfrm>
            <a:prstGeom prst="rect">
              <a:avLst/>
            </a:prstGeom>
            <a:solidFill>
              <a:schemeClr val="accent1"/>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2000">
                  <a:solidFill>
                    <a:srgbClr val="0000FF"/>
                  </a:solidFill>
                  <a:latin typeface="Arial" charset="0"/>
                  <a:ea typeface="ヒラギノ角ゴ ProN W3" pitchFamily="1" charset="-128"/>
                  <a:sym typeface="Arial" charset="0"/>
                </a:defRPr>
              </a:lvl1pPr>
              <a:lvl2pPr marL="37931725" indent="-37474525" eaLnBrk="0" hangingPunct="0">
                <a:defRPr sz="2000">
                  <a:solidFill>
                    <a:srgbClr val="0000FF"/>
                  </a:solidFill>
                  <a:latin typeface="Arial" charset="0"/>
                  <a:ea typeface="ヒラギノ角ゴ ProN W3" pitchFamily="1" charset="-128"/>
                  <a:sym typeface="Arial" charset="0"/>
                </a:defRPr>
              </a:lvl2pPr>
              <a:lvl3pPr eaLnBrk="0" hangingPunct="0">
                <a:defRPr sz="2000">
                  <a:solidFill>
                    <a:srgbClr val="0000FF"/>
                  </a:solidFill>
                  <a:latin typeface="Arial" charset="0"/>
                  <a:ea typeface="ヒラギノ角ゴ ProN W3" pitchFamily="1" charset="-128"/>
                  <a:sym typeface="Arial" charset="0"/>
                </a:defRPr>
              </a:lvl3pPr>
              <a:lvl4pPr eaLnBrk="0" hangingPunct="0">
                <a:defRPr sz="2000">
                  <a:solidFill>
                    <a:srgbClr val="0000FF"/>
                  </a:solidFill>
                  <a:latin typeface="Arial" charset="0"/>
                  <a:ea typeface="ヒラギノ角ゴ ProN W3" pitchFamily="1" charset="-128"/>
                  <a:sym typeface="Arial" charset="0"/>
                </a:defRPr>
              </a:lvl4pPr>
              <a:lvl5pPr eaLnBrk="0" hangingPunct="0">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9pPr>
            </a:lstStyle>
            <a:p>
              <a:pPr eaLnBrk="1" hangingPunct="1"/>
              <a:endParaRPr lang="en-US" altLang="en-US"/>
            </a:p>
          </p:txBody>
        </p:sp>
        <p:grpSp>
          <p:nvGrpSpPr>
            <p:cNvPr id="144416" name="Group 6"/>
            <p:cNvGrpSpPr>
              <a:grpSpLocks/>
            </p:cNvGrpSpPr>
            <p:nvPr/>
          </p:nvGrpSpPr>
          <p:grpSpPr bwMode="auto">
            <a:xfrm>
              <a:off x="16" y="80"/>
              <a:ext cx="2468" cy="496"/>
              <a:chOff x="0" y="0"/>
              <a:chExt cx="2468" cy="496"/>
            </a:xfrm>
          </p:grpSpPr>
          <p:sp>
            <p:nvSpPr>
              <p:cNvPr id="144417" name="Freeform 4"/>
              <p:cNvSpPr>
                <a:spLocks/>
              </p:cNvSpPr>
              <p:nvPr/>
            </p:nvSpPr>
            <p:spPr bwMode="auto">
              <a:xfrm>
                <a:off x="2097" y="46"/>
                <a:ext cx="371" cy="231"/>
              </a:xfrm>
              <a:custGeom>
                <a:avLst/>
                <a:gdLst>
                  <a:gd name="T0" fmla="*/ 0 w 21600"/>
                  <a:gd name="T1" fmla="*/ 0 h 20519"/>
                  <a:gd name="T2" fmla="*/ 0 w 21600"/>
                  <a:gd name="T3" fmla="*/ 0 h 20519"/>
                  <a:gd name="T4" fmla="*/ 0 60000 65536"/>
                  <a:gd name="T5" fmla="*/ 0 60000 65536"/>
                  <a:gd name="T6" fmla="*/ 0 w 21600"/>
                  <a:gd name="T7" fmla="*/ 0 h 20519"/>
                  <a:gd name="T8" fmla="*/ 21600 w 21600"/>
                  <a:gd name="T9" fmla="*/ 20519 h 20519"/>
                </a:gdLst>
                <a:ahLst/>
                <a:cxnLst>
                  <a:cxn ang="T4">
                    <a:pos x="T0" y="T1"/>
                  </a:cxn>
                  <a:cxn ang="T5">
                    <a:pos x="T2" y="T3"/>
                  </a:cxn>
                </a:cxnLst>
                <a:rect l="T6" t="T7" r="T8" b="T9"/>
                <a:pathLst>
                  <a:path w="21600" h="20519">
                    <a:moveTo>
                      <a:pt x="21600" y="0"/>
                    </a:moveTo>
                    <a:cubicBezTo>
                      <a:pt x="21600" y="0"/>
                      <a:pt x="14782" y="21600"/>
                      <a:pt x="0" y="20477"/>
                    </a:cubicBezTo>
                  </a:path>
                </a:pathLst>
              </a:custGeom>
              <a:noFill/>
              <a:ln w="38100">
                <a:solidFill>
                  <a:srgbClr val="000000"/>
                </a:solidFill>
                <a:miter lim="800000"/>
                <a:headEnd/>
                <a:tailEnd type="stealth" w="med" len="me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000">
                    <a:solidFill>
                      <a:srgbClr val="0000FF"/>
                    </a:solidFill>
                    <a:latin typeface="Arial" charset="0"/>
                    <a:ea typeface="ヒラギノ角ゴ ProN W3" pitchFamily="1" charset="-128"/>
                    <a:sym typeface="Arial" charset="0"/>
                  </a:defRPr>
                </a:lvl1pPr>
                <a:lvl2pPr marL="37931725" indent="-37474525" eaLnBrk="0" hangingPunct="0">
                  <a:defRPr sz="2000">
                    <a:solidFill>
                      <a:srgbClr val="0000FF"/>
                    </a:solidFill>
                    <a:latin typeface="Arial" charset="0"/>
                    <a:ea typeface="ヒラギノ角ゴ ProN W3" pitchFamily="1" charset="-128"/>
                    <a:sym typeface="Arial" charset="0"/>
                  </a:defRPr>
                </a:lvl2pPr>
                <a:lvl3pPr eaLnBrk="0" hangingPunct="0">
                  <a:defRPr sz="2000">
                    <a:solidFill>
                      <a:srgbClr val="0000FF"/>
                    </a:solidFill>
                    <a:latin typeface="Arial" charset="0"/>
                    <a:ea typeface="ヒラギノ角ゴ ProN W3" pitchFamily="1" charset="-128"/>
                    <a:sym typeface="Arial" charset="0"/>
                  </a:defRPr>
                </a:lvl3pPr>
                <a:lvl4pPr eaLnBrk="0" hangingPunct="0">
                  <a:defRPr sz="2000">
                    <a:solidFill>
                      <a:srgbClr val="0000FF"/>
                    </a:solidFill>
                    <a:latin typeface="Arial" charset="0"/>
                    <a:ea typeface="ヒラギノ角ゴ ProN W3" pitchFamily="1" charset="-128"/>
                    <a:sym typeface="Arial" charset="0"/>
                  </a:defRPr>
                </a:lvl4pPr>
                <a:lvl5pPr eaLnBrk="0" hangingPunct="0">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9pPr>
              </a:lstStyle>
              <a:p>
                <a:pPr eaLnBrk="1" hangingPunct="1"/>
                <a:endParaRPr lang="en-US" altLang="en-US"/>
              </a:p>
            </p:txBody>
          </p:sp>
          <p:sp>
            <p:nvSpPr>
              <p:cNvPr id="144418" name="Rectangle 5"/>
              <p:cNvSpPr>
                <a:spLocks/>
              </p:cNvSpPr>
              <p:nvPr/>
            </p:nvSpPr>
            <p:spPr bwMode="auto">
              <a:xfrm>
                <a:off x="0" y="0"/>
                <a:ext cx="1960" cy="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000">
                    <a:solidFill>
                      <a:srgbClr val="0000FF"/>
                    </a:solidFill>
                    <a:latin typeface="Arial" charset="0"/>
                    <a:ea typeface="ヒラギノ角ゴ ProN W3" pitchFamily="1" charset="-128"/>
                    <a:sym typeface="Arial" charset="0"/>
                  </a:defRPr>
                </a:lvl2pPr>
                <a:lvl3pPr eaLnBrk="0" hangingPunct="0">
                  <a:tabLst>
                    <a:tab pos="520700" algn="l"/>
                  </a:tabLst>
                  <a:defRPr sz="2000">
                    <a:solidFill>
                      <a:srgbClr val="0000FF"/>
                    </a:solidFill>
                    <a:latin typeface="Arial" charset="0"/>
                    <a:ea typeface="ヒラギノ角ゴ ProN W3" pitchFamily="1" charset="-128"/>
                    <a:sym typeface="Arial" charset="0"/>
                  </a:defRPr>
                </a:lvl3pPr>
                <a:lvl4pPr eaLnBrk="0" hangingPunct="0">
                  <a:tabLst>
                    <a:tab pos="520700" algn="l"/>
                  </a:tabLst>
                  <a:defRPr sz="2000">
                    <a:solidFill>
                      <a:srgbClr val="0000FF"/>
                    </a:solidFill>
                    <a:latin typeface="Arial" charset="0"/>
                    <a:ea typeface="ヒラギノ角ゴ ProN W3" pitchFamily="1" charset="-128"/>
                    <a:sym typeface="Arial" charset="0"/>
                  </a:defRPr>
                </a:lvl4pPr>
                <a:lvl5pPr eaLnBrk="0" hangingPunct="0">
                  <a:tabLst>
                    <a:tab pos="520700" algn="l"/>
                  </a:tabLst>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9pPr>
              </a:lstStyle>
              <a:p>
                <a:pPr eaLnBrk="1" hangingPunct="1"/>
                <a:r>
                  <a:rPr lang="en-US" altLang="en-US" sz="1300" dirty="0">
                    <a:solidFill>
                      <a:schemeClr val="tx1"/>
                    </a:solidFill>
                    <a:cs typeface="Arial" charset="0"/>
                  </a:rPr>
                  <a:t>Releases at least seven peptide hormones, including GH, TSH, and ACTH</a:t>
                </a:r>
              </a:p>
            </p:txBody>
          </p:sp>
        </p:grpSp>
      </p:grpSp>
      <p:grpSp>
        <p:nvGrpSpPr>
          <p:cNvPr id="4" name="Group 12"/>
          <p:cNvGrpSpPr>
            <a:grpSpLocks/>
          </p:cNvGrpSpPr>
          <p:nvPr/>
        </p:nvGrpSpPr>
        <p:grpSpPr bwMode="auto">
          <a:xfrm>
            <a:off x="5477247" y="5598914"/>
            <a:ext cx="2603004" cy="1017984"/>
            <a:chOff x="0" y="0"/>
            <a:chExt cx="2332" cy="912"/>
          </a:xfrm>
        </p:grpSpPr>
        <p:sp>
          <p:nvSpPr>
            <p:cNvPr id="144411" name="Rectangle 8"/>
            <p:cNvSpPr>
              <a:spLocks/>
            </p:cNvSpPr>
            <p:nvPr/>
          </p:nvSpPr>
          <p:spPr bwMode="auto">
            <a:xfrm>
              <a:off x="284" y="138"/>
              <a:ext cx="2048" cy="774"/>
            </a:xfrm>
            <a:prstGeom prst="rect">
              <a:avLst/>
            </a:prstGeom>
            <a:solidFill>
              <a:schemeClr val="accent1"/>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2000">
                  <a:solidFill>
                    <a:srgbClr val="0000FF"/>
                  </a:solidFill>
                  <a:latin typeface="Arial" charset="0"/>
                  <a:ea typeface="ヒラギノ角ゴ ProN W3" pitchFamily="1" charset="-128"/>
                  <a:sym typeface="Arial" charset="0"/>
                </a:defRPr>
              </a:lvl1pPr>
              <a:lvl2pPr marL="37931725" indent="-37474525" eaLnBrk="0" hangingPunct="0">
                <a:defRPr sz="2000">
                  <a:solidFill>
                    <a:srgbClr val="0000FF"/>
                  </a:solidFill>
                  <a:latin typeface="Arial" charset="0"/>
                  <a:ea typeface="ヒラギノ角ゴ ProN W3" pitchFamily="1" charset="-128"/>
                  <a:sym typeface="Arial" charset="0"/>
                </a:defRPr>
              </a:lvl2pPr>
              <a:lvl3pPr eaLnBrk="0" hangingPunct="0">
                <a:defRPr sz="2000">
                  <a:solidFill>
                    <a:srgbClr val="0000FF"/>
                  </a:solidFill>
                  <a:latin typeface="Arial" charset="0"/>
                  <a:ea typeface="ヒラギノ角ゴ ProN W3" pitchFamily="1" charset="-128"/>
                  <a:sym typeface="Arial" charset="0"/>
                </a:defRPr>
              </a:lvl3pPr>
              <a:lvl4pPr eaLnBrk="0" hangingPunct="0">
                <a:defRPr sz="2000">
                  <a:solidFill>
                    <a:srgbClr val="0000FF"/>
                  </a:solidFill>
                  <a:latin typeface="Arial" charset="0"/>
                  <a:ea typeface="ヒラギノ角ゴ ProN W3" pitchFamily="1" charset="-128"/>
                  <a:sym typeface="Arial" charset="0"/>
                </a:defRPr>
              </a:lvl4pPr>
              <a:lvl5pPr eaLnBrk="0" hangingPunct="0">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9pPr>
            </a:lstStyle>
            <a:p>
              <a:pPr eaLnBrk="1" hangingPunct="1"/>
              <a:endParaRPr lang="en-US" altLang="en-US"/>
            </a:p>
          </p:txBody>
        </p:sp>
        <p:grpSp>
          <p:nvGrpSpPr>
            <p:cNvPr id="144412" name="Group 11"/>
            <p:cNvGrpSpPr>
              <a:grpSpLocks/>
            </p:cNvGrpSpPr>
            <p:nvPr/>
          </p:nvGrpSpPr>
          <p:grpSpPr bwMode="auto">
            <a:xfrm>
              <a:off x="0" y="0"/>
              <a:ext cx="2220" cy="832"/>
              <a:chOff x="0" y="0"/>
              <a:chExt cx="2220" cy="832"/>
            </a:xfrm>
          </p:grpSpPr>
          <p:sp>
            <p:nvSpPr>
              <p:cNvPr id="144413" name="Line 9"/>
              <p:cNvSpPr>
                <a:spLocks noChangeShapeType="1"/>
              </p:cNvSpPr>
              <p:nvPr/>
            </p:nvSpPr>
            <p:spPr bwMode="auto">
              <a:xfrm rot="10800000">
                <a:off x="0" y="0"/>
                <a:ext cx="188" cy="377"/>
              </a:xfrm>
              <a:prstGeom prst="line">
                <a:avLst/>
              </a:prstGeom>
              <a:noFill/>
              <a:ln w="38100">
                <a:solidFill>
                  <a:srgbClr val="000000"/>
                </a:solidFill>
                <a:miter lim="800000"/>
                <a:headEnd type="stealth" w="med" len="med"/>
                <a:tailEnd/>
              </a:ln>
              <a:extLst>
                <a:ext uri="{909E8E84-426E-40DD-AFC4-6F175D3DCCD1}">
                  <a14:hiddenFill xmlns:a14="http://schemas.microsoft.com/office/drawing/2010/main">
                    <a:noFill/>
                  </a14:hiddenFill>
                </a:ext>
              </a:extLst>
            </p:spPr>
            <p:txBody>
              <a:bodyPr lIns="0" tIns="0" rIns="0" bIns="0"/>
              <a:lstStyle/>
              <a:p>
                <a:endParaRPr lang="en-AU"/>
              </a:p>
            </p:txBody>
          </p:sp>
          <p:sp>
            <p:nvSpPr>
              <p:cNvPr id="144414" name="Rectangle 10"/>
              <p:cNvSpPr>
                <a:spLocks/>
              </p:cNvSpPr>
              <p:nvPr/>
            </p:nvSpPr>
            <p:spPr bwMode="auto">
              <a:xfrm>
                <a:off x="308" y="138"/>
                <a:ext cx="1912" cy="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000">
                    <a:solidFill>
                      <a:srgbClr val="0000FF"/>
                    </a:solidFill>
                    <a:latin typeface="Arial" charset="0"/>
                    <a:ea typeface="ヒラギノ角ゴ ProN W3" pitchFamily="1" charset="-128"/>
                    <a:sym typeface="Arial" charset="0"/>
                  </a:defRPr>
                </a:lvl2pPr>
                <a:lvl3pPr eaLnBrk="0" hangingPunct="0">
                  <a:tabLst>
                    <a:tab pos="520700" algn="l"/>
                  </a:tabLst>
                  <a:defRPr sz="2000">
                    <a:solidFill>
                      <a:srgbClr val="0000FF"/>
                    </a:solidFill>
                    <a:latin typeface="Arial" charset="0"/>
                    <a:ea typeface="ヒラギノ角ゴ ProN W3" pitchFamily="1" charset="-128"/>
                    <a:sym typeface="Arial" charset="0"/>
                  </a:defRPr>
                </a:lvl3pPr>
                <a:lvl4pPr eaLnBrk="0" hangingPunct="0">
                  <a:tabLst>
                    <a:tab pos="520700" algn="l"/>
                  </a:tabLst>
                  <a:defRPr sz="2000">
                    <a:solidFill>
                      <a:srgbClr val="0000FF"/>
                    </a:solidFill>
                    <a:latin typeface="Arial" charset="0"/>
                    <a:ea typeface="ヒラギノ角ゴ ProN W3" pitchFamily="1" charset="-128"/>
                    <a:sym typeface="Arial" charset="0"/>
                  </a:defRPr>
                </a:lvl4pPr>
                <a:lvl5pPr eaLnBrk="0" hangingPunct="0">
                  <a:tabLst>
                    <a:tab pos="520700" algn="l"/>
                  </a:tabLst>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9pPr>
              </a:lstStyle>
              <a:p>
                <a:pPr eaLnBrk="1" hangingPunct="1"/>
                <a:r>
                  <a:rPr lang="en-US" altLang="en-US" sz="1300" dirty="0">
                    <a:solidFill>
                      <a:schemeClr val="tx1"/>
                    </a:solidFill>
                    <a:cs typeface="Arial" charset="0"/>
                  </a:rPr>
                  <a:t>Stores and releases oxytocin and ADH produced by the hypothalamus.</a:t>
                </a:r>
              </a:p>
            </p:txBody>
          </p:sp>
        </p:grpSp>
      </p:grpSp>
      <p:grpSp>
        <p:nvGrpSpPr>
          <p:cNvPr id="6" name="Group 15"/>
          <p:cNvGrpSpPr>
            <a:grpSpLocks/>
          </p:cNvGrpSpPr>
          <p:nvPr/>
        </p:nvGrpSpPr>
        <p:grpSpPr bwMode="auto">
          <a:xfrm>
            <a:off x="607219" y="3214688"/>
            <a:ext cx="4028406" cy="366117"/>
            <a:chOff x="0" y="0"/>
            <a:chExt cx="3609" cy="328"/>
          </a:xfrm>
        </p:grpSpPr>
        <p:sp>
          <p:nvSpPr>
            <p:cNvPr id="144409" name="Rectangle 13"/>
            <p:cNvSpPr>
              <a:spLocks/>
            </p:cNvSpPr>
            <p:nvPr/>
          </p:nvSpPr>
          <p:spPr bwMode="auto">
            <a:xfrm>
              <a:off x="0" y="0"/>
              <a:ext cx="1416"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000">
                  <a:solidFill>
                    <a:srgbClr val="0000FF"/>
                  </a:solidFill>
                  <a:latin typeface="Arial" charset="0"/>
                  <a:ea typeface="ヒラギノ角ゴ ProN W3" pitchFamily="1" charset="-128"/>
                  <a:sym typeface="Arial" charset="0"/>
                </a:defRPr>
              </a:lvl2pPr>
              <a:lvl3pPr eaLnBrk="0" hangingPunct="0">
                <a:tabLst>
                  <a:tab pos="520700" algn="l"/>
                </a:tabLst>
                <a:defRPr sz="2000">
                  <a:solidFill>
                    <a:srgbClr val="0000FF"/>
                  </a:solidFill>
                  <a:latin typeface="Arial" charset="0"/>
                  <a:ea typeface="ヒラギノ角ゴ ProN W3" pitchFamily="1" charset="-128"/>
                  <a:sym typeface="Arial" charset="0"/>
                </a:defRPr>
              </a:lvl3pPr>
              <a:lvl4pPr eaLnBrk="0" hangingPunct="0">
                <a:tabLst>
                  <a:tab pos="520700" algn="l"/>
                </a:tabLst>
                <a:defRPr sz="2000">
                  <a:solidFill>
                    <a:srgbClr val="0000FF"/>
                  </a:solidFill>
                  <a:latin typeface="Arial" charset="0"/>
                  <a:ea typeface="ヒラギノ角ゴ ProN W3" pitchFamily="1" charset="-128"/>
                  <a:sym typeface="Arial" charset="0"/>
                </a:defRPr>
              </a:lvl4pPr>
              <a:lvl5pPr eaLnBrk="0" hangingPunct="0">
                <a:tabLst>
                  <a:tab pos="520700" algn="l"/>
                </a:tabLst>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9pPr>
            </a:lstStyle>
            <a:p>
              <a:pPr eaLnBrk="1" hangingPunct="1"/>
              <a:r>
                <a:rPr lang="en-US" altLang="en-US" sz="1300">
                  <a:solidFill>
                    <a:srgbClr val="005481"/>
                  </a:solidFill>
                  <a:cs typeface="Arial" charset="0"/>
                </a:rPr>
                <a:t>Portal vein links two capillary networks</a:t>
              </a:r>
            </a:p>
          </p:txBody>
        </p:sp>
        <p:sp>
          <p:nvSpPr>
            <p:cNvPr id="144410" name="Line 14"/>
            <p:cNvSpPr>
              <a:spLocks noChangeShapeType="1"/>
            </p:cNvSpPr>
            <p:nvPr/>
          </p:nvSpPr>
          <p:spPr bwMode="auto">
            <a:xfrm rot="10800000">
              <a:off x="1363" y="166"/>
              <a:ext cx="2225" cy="117"/>
            </a:xfrm>
            <a:prstGeom prst="line">
              <a:avLst/>
            </a:prstGeom>
            <a:noFill/>
            <a:ln w="25400">
              <a:solidFill>
                <a:srgbClr val="005481"/>
              </a:solidFill>
              <a:miter lim="800000"/>
              <a:headEnd type="oval" w="med" len="med"/>
              <a:tailEnd/>
            </a:ln>
            <a:extLst>
              <a:ext uri="{909E8E84-426E-40DD-AFC4-6F175D3DCCD1}">
                <a14:hiddenFill xmlns:a14="http://schemas.microsoft.com/office/drawing/2010/main">
                  <a:noFill/>
                </a14:hiddenFill>
              </a:ext>
            </a:extLst>
          </p:spPr>
          <p:txBody>
            <a:bodyPr lIns="0" tIns="0" rIns="0" bIns="0"/>
            <a:lstStyle/>
            <a:p>
              <a:endParaRPr lang="en-AU"/>
            </a:p>
          </p:txBody>
        </p:sp>
      </p:grpSp>
      <p:grpSp>
        <p:nvGrpSpPr>
          <p:cNvPr id="7" name="Group 18"/>
          <p:cNvGrpSpPr>
            <a:grpSpLocks/>
          </p:cNvGrpSpPr>
          <p:nvPr/>
        </p:nvGrpSpPr>
        <p:grpSpPr bwMode="auto">
          <a:xfrm>
            <a:off x="607219" y="4313039"/>
            <a:ext cx="3228082" cy="741164"/>
            <a:chOff x="0" y="0"/>
            <a:chExt cx="2892" cy="664"/>
          </a:xfrm>
        </p:grpSpPr>
        <p:sp>
          <p:nvSpPr>
            <p:cNvPr id="144407" name="Rectangle 16"/>
            <p:cNvSpPr>
              <a:spLocks/>
            </p:cNvSpPr>
            <p:nvPr/>
          </p:nvSpPr>
          <p:spPr bwMode="auto">
            <a:xfrm>
              <a:off x="0" y="0"/>
              <a:ext cx="1928" cy="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000">
                  <a:solidFill>
                    <a:srgbClr val="0000FF"/>
                  </a:solidFill>
                  <a:latin typeface="Arial" charset="0"/>
                  <a:ea typeface="ヒラギノ角ゴ ProN W3" pitchFamily="1" charset="-128"/>
                  <a:sym typeface="Arial" charset="0"/>
                </a:defRPr>
              </a:lvl2pPr>
              <a:lvl3pPr eaLnBrk="0" hangingPunct="0">
                <a:tabLst>
                  <a:tab pos="520700" algn="l"/>
                </a:tabLst>
                <a:defRPr sz="2000">
                  <a:solidFill>
                    <a:srgbClr val="0000FF"/>
                  </a:solidFill>
                  <a:latin typeface="Arial" charset="0"/>
                  <a:ea typeface="ヒラギノ角ゴ ProN W3" pitchFamily="1" charset="-128"/>
                  <a:sym typeface="Arial" charset="0"/>
                </a:defRPr>
              </a:lvl3pPr>
              <a:lvl4pPr eaLnBrk="0" hangingPunct="0">
                <a:tabLst>
                  <a:tab pos="520700" algn="l"/>
                </a:tabLst>
                <a:defRPr sz="2000">
                  <a:solidFill>
                    <a:srgbClr val="0000FF"/>
                  </a:solidFill>
                  <a:latin typeface="Arial" charset="0"/>
                  <a:ea typeface="ヒラギノ角ゴ ProN W3" pitchFamily="1" charset="-128"/>
                  <a:sym typeface="Arial" charset="0"/>
                </a:defRPr>
              </a:lvl4pPr>
              <a:lvl5pPr eaLnBrk="0" hangingPunct="0">
                <a:tabLst>
                  <a:tab pos="520700" algn="l"/>
                </a:tabLst>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9pPr>
            </a:lstStyle>
            <a:p>
              <a:pPr eaLnBrk="1" hangingPunct="1"/>
              <a:r>
                <a:rPr lang="en-US" altLang="en-US" sz="1300" b="1">
                  <a:solidFill>
                    <a:srgbClr val="005481"/>
                  </a:solidFill>
                  <a:cs typeface="Arial" charset="0"/>
                </a:rPr>
                <a:t>Anterior pituitary</a:t>
              </a:r>
              <a:r>
                <a:rPr lang="en-US" altLang="en-US" sz="1300">
                  <a:solidFill>
                    <a:srgbClr val="005481"/>
                  </a:solidFill>
                  <a:cs typeface="Arial" charset="0"/>
                </a:rPr>
                <a:t> is truly glandular and secretes hormones in response to the hypothalamic hormones.</a:t>
              </a:r>
            </a:p>
          </p:txBody>
        </p:sp>
        <p:sp>
          <p:nvSpPr>
            <p:cNvPr id="144408" name="Line 17"/>
            <p:cNvSpPr>
              <a:spLocks noChangeShapeType="1"/>
            </p:cNvSpPr>
            <p:nvPr/>
          </p:nvSpPr>
          <p:spPr bwMode="auto">
            <a:xfrm flipH="1">
              <a:off x="1855" y="92"/>
              <a:ext cx="1017" cy="229"/>
            </a:xfrm>
            <a:prstGeom prst="line">
              <a:avLst/>
            </a:prstGeom>
            <a:noFill/>
            <a:ln w="25400">
              <a:solidFill>
                <a:srgbClr val="005481"/>
              </a:solidFill>
              <a:miter lim="800000"/>
              <a:headEnd type="oval" w="med" len="med"/>
              <a:tailEnd/>
            </a:ln>
            <a:extLst>
              <a:ext uri="{909E8E84-426E-40DD-AFC4-6F175D3DCCD1}">
                <a14:hiddenFill xmlns:a14="http://schemas.microsoft.com/office/drawing/2010/main">
                  <a:noFill/>
                </a14:hiddenFill>
              </a:ext>
            </a:extLst>
          </p:spPr>
          <p:txBody>
            <a:bodyPr lIns="0" tIns="0" rIns="0" bIns="0"/>
            <a:lstStyle/>
            <a:p>
              <a:endParaRPr lang="en-AU"/>
            </a:p>
          </p:txBody>
        </p:sp>
      </p:grpSp>
      <p:grpSp>
        <p:nvGrpSpPr>
          <p:cNvPr id="8" name="Group 21"/>
          <p:cNvGrpSpPr>
            <a:grpSpLocks/>
          </p:cNvGrpSpPr>
          <p:nvPr/>
        </p:nvGrpSpPr>
        <p:grpSpPr bwMode="auto">
          <a:xfrm>
            <a:off x="5180336" y="3821906"/>
            <a:ext cx="3132088" cy="366117"/>
            <a:chOff x="0" y="0"/>
            <a:chExt cx="2806" cy="328"/>
          </a:xfrm>
        </p:grpSpPr>
        <p:sp>
          <p:nvSpPr>
            <p:cNvPr id="144405" name="Rectangle 19"/>
            <p:cNvSpPr>
              <a:spLocks/>
            </p:cNvSpPr>
            <p:nvPr/>
          </p:nvSpPr>
          <p:spPr bwMode="auto">
            <a:xfrm>
              <a:off x="1694" y="0"/>
              <a:ext cx="1112"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000">
                  <a:solidFill>
                    <a:srgbClr val="0000FF"/>
                  </a:solidFill>
                  <a:latin typeface="Arial" charset="0"/>
                  <a:ea typeface="ヒラギノ角ゴ ProN W3" pitchFamily="1" charset="-128"/>
                  <a:sym typeface="Arial" charset="0"/>
                </a:defRPr>
              </a:lvl2pPr>
              <a:lvl3pPr eaLnBrk="0" hangingPunct="0">
                <a:tabLst>
                  <a:tab pos="520700" algn="l"/>
                </a:tabLst>
                <a:defRPr sz="2000">
                  <a:solidFill>
                    <a:srgbClr val="0000FF"/>
                  </a:solidFill>
                  <a:latin typeface="Arial" charset="0"/>
                  <a:ea typeface="ヒラギノ角ゴ ProN W3" pitchFamily="1" charset="-128"/>
                  <a:sym typeface="Arial" charset="0"/>
                </a:defRPr>
              </a:lvl3pPr>
              <a:lvl4pPr eaLnBrk="0" hangingPunct="0">
                <a:tabLst>
                  <a:tab pos="520700" algn="l"/>
                </a:tabLst>
                <a:defRPr sz="2000">
                  <a:solidFill>
                    <a:srgbClr val="0000FF"/>
                  </a:solidFill>
                  <a:latin typeface="Arial" charset="0"/>
                  <a:ea typeface="ヒラギノ角ゴ ProN W3" pitchFamily="1" charset="-128"/>
                  <a:sym typeface="Arial" charset="0"/>
                </a:defRPr>
              </a:lvl4pPr>
              <a:lvl5pPr eaLnBrk="0" hangingPunct="0">
                <a:tabLst>
                  <a:tab pos="520700" algn="l"/>
                </a:tabLst>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9pPr>
            </a:lstStyle>
            <a:p>
              <a:pPr eaLnBrk="1" hangingPunct="1"/>
              <a:r>
                <a:rPr lang="en-US" altLang="en-US" sz="1300">
                  <a:solidFill>
                    <a:srgbClr val="005481"/>
                  </a:solidFill>
                  <a:cs typeface="Arial" charset="0"/>
                </a:rPr>
                <a:t>Neurosecretory axons</a:t>
              </a:r>
            </a:p>
          </p:txBody>
        </p:sp>
        <p:sp>
          <p:nvSpPr>
            <p:cNvPr id="144406" name="Line 20"/>
            <p:cNvSpPr>
              <a:spLocks noChangeShapeType="1"/>
            </p:cNvSpPr>
            <p:nvPr/>
          </p:nvSpPr>
          <p:spPr bwMode="auto">
            <a:xfrm>
              <a:off x="20" y="144"/>
              <a:ext cx="1701" cy="19"/>
            </a:xfrm>
            <a:prstGeom prst="line">
              <a:avLst/>
            </a:prstGeom>
            <a:noFill/>
            <a:ln w="25400">
              <a:solidFill>
                <a:srgbClr val="005481"/>
              </a:solidFill>
              <a:miter lim="800000"/>
              <a:headEnd type="oval" w="med" len="med"/>
              <a:tailEnd/>
            </a:ln>
            <a:extLst>
              <a:ext uri="{909E8E84-426E-40DD-AFC4-6F175D3DCCD1}">
                <a14:hiddenFill xmlns:a14="http://schemas.microsoft.com/office/drawing/2010/main">
                  <a:noFill/>
                </a14:hiddenFill>
              </a:ext>
            </a:extLst>
          </p:spPr>
          <p:txBody>
            <a:bodyPr lIns="0" tIns="0" rIns="0" bIns="0"/>
            <a:lstStyle/>
            <a:p>
              <a:endParaRPr lang="en-AU"/>
            </a:p>
          </p:txBody>
        </p:sp>
      </p:grpSp>
      <p:grpSp>
        <p:nvGrpSpPr>
          <p:cNvPr id="9" name="Group 24"/>
          <p:cNvGrpSpPr>
            <a:grpSpLocks/>
          </p:cNvGrpSpPr>
          <p:nvPr/>
        </p:nvGrpSpPr>
        <p:grpSpPr bwMode="auto">
          <a:xfrm>
            <a:off x="6480721" y="3018234"/>
            <a:ext cx="1198811" cy="299145"/>
            <a:chOff x="0" y="0"/>
            <a:chExt cx="1073" cy="268"/>
          </a:xfrm>
        </p:grpSpPr>
        <p:sp>
          <p:nvSpPr>
            <p:cNvPr id="144403" name="Rectangle 22"/>
            <p:cNvSpPr>
              <a:spLocks/>
            </p:cNvSpPr>
            <p:nvPr/>
          </p:nvSpPr>
          <p:spPr bwMode="auto">
            <a:xfrm>
              <a:off x="529" y="0"/>
              <a:ext cx="544"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000">
                  <a:solidFill>
                    <a:srgbClr val="0000FF"/>
                  </a:solidFill>
                  <a:latin typeface="Arial" charset="0"/>
                  <a:ea typeface="ヒラギノ角ゴ ProN W3" pitchFamily="1" charset="-128"/>
                  <a:sym typeface="Arial" charset="0"/>
                </a:defRPr>
              </a:lvl2pPr>
              <a:lvl3pPr eaLnBrk="0" hangingPunct="0">
                <a:tabLst>
                  <a:tab pos="520700" algn="l"/>
                </a:tabLst>
                <a:defRPr sz="2000">
                  <a:solidFill>
                    <a:srgbClr val="0000FF"/>
                  </a:solidFill>
                  <a:latin typeface="Arial" charset="0"/>
                  <a:ea typeface="ヒラギノ角ゴ ProN W3" pitchFamily="1" charset="-128"/>
                  <a:sym typeface="Arial" charset="0"/>
                </a:defRPr>
              </a:lvl3pPr>
              <a:lvl4pPr eaLnBrk="0" hangingPunct="0">
                <a:tabLst>
                  <a:tab pos="520700" algn="l"/>
                </a:tabLst>
                <a:defRPr sz="2000">
                  <a:solidFill>
                    <a:srgbClr val="0000FF"/>
                  </a:solidFill>
                  <a:latin typeface="Arial" charset="0"/>
                  <a:ea typeface="ヒラギノ角ゴ ProN W3" pitchFamily="1" charset="-128"/>
                  <a:sym typeface="Arial" charset="0"/>
                </a:defRPr>
              </a:lvl4pPr>
              <a:lvl5pPr eaLnBrk="0" hangingPunct="0">
                <a:tabLst>
                  <a:tab pos="520700" algn="l"/>
                </a:tabLst>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9pPr>
            </a:lstStyle>
            <a:p>
              <a:pPr eaLnBrk="1" hangingPunct="1"/>
              <a:r>
                <a:rPr lang="en-US" altLang="en-US" sz="1300">
                  <a:solidFill>
                    <a:srgbClr val="005481"/>
                  </a:solidFill>
                  <a:cs typeface="Arial" charset="0"/>
                </a:rPr>
                <a:t>Artery</a:t>
              </a:r>
            </a:p>
          </p:txBody>
        </p:sp>
        <p:sp>
          <p:nvSpPr>
            <p:cNvPr id="144404" name="Line 23"/>
            <p:cNvSpPr>
              <a:spLocks noChangeShapeType="1"/>
            </p:cNvSpPr>
            <p:nvPr/>
          </p:nvSpPr>
          <p:spPr bwMode="auto">
            <a:xfrm rot="10800000" flipH="1">
              <a:off x="19" y="67"/>
              <a:ext cx="545" cy="194"/>
            </a:xfrm>
            <a:prstGeom prst="line">
              <a:avLst/>
            </a:prstGeom>
            <a:noFill/>
            <a:ln w="25400">
              <a:solidFill>
                <a:srgbClr val="005481"/>
              </a:solidFill>
              <a:miter lim="800000"/>
              <a:headEnd type="oval" w="med" len="med"/>
              <a:tailEnd/>
            </a:ln>
            <a:extLst>
              <a:ext uri="{909E8E84-426E-40DD-AFC4-6F175D3DCCD1}">
                <a14:hiddenFill xmlns:a14="http://schemas.microsoft.com/office/drawing/2010/main">
                  <a:noFill/>
                </a14:hiddenFill>
              </a:ext>
            </a:extLst>
          </p:spPr>
          <p:txBody>
            <a:bodyPr lIns="0" tIns="0" rIns="0" bIns="0"/>
            <a:lstStyle/>
            <a:p>
              <a:endParaRPr lang="en-AU"/>
            </a:p>
          </p:txBody>
        </p:sp>
      </p:grpSp>
      <p:grpSp>
        <p:nvGrpSpPr>
          <p:cNvPr id="10" name="Group 27"/>
          <p:cNvGrpSpPr>
            <a:grpSpLocks/>
          </p:cNvGrpSpPr>
          <p:nvPr/>
        </p:nvGrpSpPr>
        <p:grpSpPr bwMode="auto">
          <a:xfrm>
            <a:off x="607219" y="1294805"/>
            <a:ext cx="3085207" cy="1116211"/>
            <a:chOff x="0" y="0"/>
            <a:chExt cx="2764" cy="1000"/>
          </a:xfrm>
        </p:grpSpPr>
        <p:sp>
          <p:nvSpPr>
            <p:cNvPr id="144401" name="Rectangle 25"/>
            <p:cNvSpPr>
              <a:spLocks/>
            </p:cNvSpPr>
            <p:nvPr/>
          </p:nvSpPr>
          <p:spPr bwMode="auto">
            <a:xfrm>
              <a:off x="0" y="0"/>
              <a:ext cx="2128" cy="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000">
                  <a:solidFill>
                    <a:srgbClr val="0000FF"/>
                  </a:solidFill>
                  <a:latin typeface="Arial" charset="0"/>
                  <a:ea typeface="ヒラギノ角ゴ ProN W3" pitchFamily="1" charset="-128"/>
                  <a:sym typeface="Arial" charset="0"/>
                </a:defRPr>
              </a:lvl2pPr>
              <a:lvl3pPr eaLnBrk="0" hangingPunct="0">
                <a:tabLst>
                  <a:tab pos="520700" algn="l"/>
                </a:tabLst>
                <a:defRPr sz="2000">
                  <a:solidFill>
                    <a:srgbClr val="0000FF"/>
                  </a:solidFill>
                  <a:latin typeface="Arial" charset="0"/>
                  <a:ea typeface="ヒラギノ角ゴ ProN W3" pitchFamily="1" charset="-128"/>
                  <a:sym typeface="Arial" charset="0"/>
                </a:defRPr>
              </a:lvl3pPr>
              <a:lvl4pPr eaLnBrk="0" hangingPunct="0">
                <a:tabLst>
                  <a:tab pos="520700" algn="l"/>
                </a:tabLst>
                <a:defRPr sz="2000">
                  <a:solidFill>
                    <a:srgbClr val="0000FF"/>
                  </a:solidFill>
                  <a:latin typeface="Arial" charset="0"/>
                  <a:ea typeface="ヒラギノ角ゴ ProN W3" pitchFamily="1" charset="-128"/>
                  <a:sym typeface="Arial" charset="0"/>
                </a:defRPr>
              </a:lvl4pPr>
              <a:lvl5pPr eaLnBrk="0" hangingPunct="0">
                <a:tabLst>
                  <a:tab pos="520700" algn="l"/>
                </a:tabLst>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9pPr>
            </a:lstStyle>
            <a:p>
              <a:pPr eaLnBrk="1" hangingPunct="1"/>
              <a:r>
                <a:rPr lang="en-US" altLang="en-US" sz="1300">
                  <a:solidFill>
                    <a:srgbClr val="005481"/>
                  </a:solidFill>
                  <a:cs typeface="Arial" charset="0"/>
                </a:rPr>
                <a:t>Neurosecretory cells in the hypothalamus secrete neurohormones into capillaries. These releasing hormones control the release of hormones from the anterior pituitary.</a:t>
              </a:r>
            </a:p>
          </p:txBody>
        </p:sp>
        <p:sp>
          <p:nvSpPr>
            <p:cNvPr id="144402" name="Line 26"/>
            <p:cNvSpPr>
              <a:spLocks noChangeShapeType="1"/>
            </p:cNvSpPr>
            <p:nvPr/>
          </p:nvSpPr>
          <p:spPr bwMode="auto">
            <a:xfrm flipH="1">
              <a:off x="2092" y="311"/>
              <a:ext cx="653" cy="199"/>
            </a:xfrm>
            <a:prstGeom prst="line">
              <a:avLst/>
            </a:prstGeom>
            <a:noFill/>
            <a:ln w="25400">
              <a:solidFill>
                <a:srgbClr val="005481"/>
              </a:solidFill>
              <a:miter lim="800000"/>
              <a:headEnd type="oval" w="med" len="med"/>
              <a:tailEnd/>
            </a:ln>
            <a:extLst>
              <a:ext uri="{909E8E84-426E-40DD-AFC4-6F175D3DCCD1}">
                <a14:hiddenFill xmlns:a14="http://schemas.microsoft.com/office/drawing/2010/main">
                  <a:noFill/>
                </a14:hiddenFill>
              </a:ext>
            </a:extLst>
          </p:spPr>
          <p:txBody>
            <a:bodyPr lIns="0" tIns="0" rIns="0" bIns="0"/>
            <a:lstStyle/>
            <a:p>
              <a:endParaRPr lang="en-AU"/>
            </a:p>
          </p:txBody>
        </p:sp>
      </p:grpSp>
      <p:grpSp>
        <p:nvGrpSpPr>
          <p:cNvPr id="11" name="Group 30"/>
          <p:cNvGrpSpPr>
            <a:grpSpLocks/>
          </p:cNvGrpSpPr>
          <p:nvPr/>
        </p:nvGrpSpPr>
        <p:grpSpPr bwMode="auto">
          <a:xfrm>
            <a:off x="5802065" y="4697016"/>
            <a:ext cx="2797225" cy="598289"/>
            <a:chOff x="0" y="0"/>
            <a:chExt cx="2505" cy="536"/>
          </a:xfrm>
        </p:grpSpPr>
        <p:sp>
          <p:nvSpPr>
            <p:cNvPr id="144399" name="Rectangle 28"/>
            <p:cNvSpPr>
              <a:spLocks/>
            </p:cNvSpPr>
            <p:nvPr/>
          </p:nvSpPr>
          <p:spPr bwMode="auto">
            <a:xfrm>
              <a:off x="1137" y="208"/>
              <a:ext cx="1368"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000">
                  <a:solidFill>
                    <a:srgbClr val="0000FF"/>
                  </a:solidFill>
                  <a:latin typeface="Arial" charset="0"/>
                  <a:ea typeface="ヒラギノ角ゴ ProN W3" pitchFamily="1" charset="-128"/>
                  <a:sym typeface="Arial" charset="0"/>
                </a:defRPr>
              </a:lvl2pPr>
              <a:lvl3pPr eaLnBrk="0" hangingPunct="0">
                <a:tabLst>
                  <a:tab pos="520700" algn="l"/>
                </a:tabLst>
                <a:defRPr sz="2000">
                  <a:solidFill>
                    <a:srgbClr val="0000FF"/>
                  </a:solidFill>
                  <a:latin typeface="Arial" charset="0"/>
                  <a:ea typeface="ヒラギノ角ゴ ProN W3" pitchFamily="1" charset="-128"/>
                  <a:sym typeface="Arial" charset="0"/>
                </a:defRPr>
              </a:lvl3pPr>
              <a:lvl4pPr eaLnBrk="0" hangingPunct="0">
                <a:tabLst>
                  <a:tab pos="520700" algn="l"/>
                </a:tabLst>
                <a:defRPr sz="2000">
                  <a:solidFill>
                    <a:srgbClr val="0000FF"/>
                  </a:solidFill>
                  <a:latin typeface="Arial" charset="0"/>
                  <a:ea typeface="ヒラギノ角ゴ ProN W3" pitchFamily="1" charset="-128"/>
                  <a:sym typeface="Arial" charset="0"/>
                </a:defRPr>
              </a:lvl4pPr>
              <a:lvl5pPr eaLnBrk="0" hangingPunct="0">
                <a:tabLst>
                  <a:tab pos="520700" algn="l"/>
                </a:tabLst>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9pPr>
            </a:lstStyle>
            <a:p>
              <a:pPr eaLnBrk="1" hangingPunct="1"/>
              <a:r>
                <a:rPr lang="en-US" altLang="en-US" sz="1300" b="1">
                  <a:solidFill>
                    <a:srgbClr val="005481"/>
                  </a:solidFill>
                  <a:cs typeface="Arial" charset="0"/>
                </a:rPr>
                <a:t>Posterior pituitary</a:t>
              </a:r>
              <a:r>
                <a:rPr lang="en-US" altLang="en-US" sz="1300">
                  <a:solidFill>
                    <a:srgbClr val="005481"/>
                  </a:solidFill>
                  <a:cs typeface="Arial" charset="0"/>
                </a:rPr>
                <a:t> is neural in origin</a:t>
              </a:r>
            </a:p>
          </p:txBody>
        </p:sp>
        <p:sp>
          <p:nvSpPr>
            <p:cNvPr id="144400" name="Line 29"/>
            <p:cNvSpPr>
              <a:spLocks noChangeShapeType="1"/>
            </p:cNvSpPr>
            <p:nvPr/>
          </p:nvSpPr>
          <p:spPr bwMode="auto">
            <a:xfrm>
              <a:off x="19" y="5"/>
              <a:ext cx="1161" cy="334"/>
            </a:xfrm>
            <a:prstGeom prst="line">
              <a:avLst/>
            </a:prstGeom>
            <a:noFill/>
            <a:ln w="25400">
              <a:solidFill>
                <a:srgbClr val="005481"/>
              </a:solidFill>
              <a:miter lim="800000"/>
              <a:headEnd type="oval" w="med" len="med"/>
              <a:tailEnd/>
            </a:ln>
            <a:extLst>
              <a:ext uri="{909E8E84-426E-40DD-AFC4-6F175D3DCCD1}">
                <a14:hiddenFill xmlns:a14="http://schemas.microsoft.com/office/drawing/2010/main">
                  <a:noFill/>
                </a14:hiddenFill>
              </a:ext>
            </a:extLst>
          </p:spPr>
          <p:txBody>
            <a:bodyPr lIns="0" tIns="0" rIns="0" bIns="0"/>
            <a:lstStyle/>
            <a:p>
              <a:endParaRPr lang="en-AU"/>
            </a:p>
          </p:txBody>
        </p:sp>
      </p:grpSp>
      <p:grpSp>
        <p:nvGrpSpPr>
          <p:cNvPr id="12" name="Group 33"/>
          <p:cNvGrpSpPr>
            <a:grpSpLocks/>
          </p:cNvGrpSpPr>
          <p:nvPr/>
        </p:nvGrpSpPr>
        <p:grpSpPr bwMode="auto">
          <a:xfrm>
            <a:off x="6085582" y="1241227"/>
            <a:ext cx="2678906" cy="741164"/>
            <a:chOff x="0" y="0"/>
            <a:chExt cx="2400" cy="664"/>
          </a:xfrm>
        </p:grpSpPr>
        <p:sp>
          <p:nvSpPr>
            <p:cNvPr id="144397" name="Rectangle 31"/>
            <p:cNvSpPr>
              <a:spLocks/>
            </p:cNvSpPr>
            <p:nvPr/>
          </p:nvSpPr>
          <p:spPr bwMode="auto">
            <a:xfrm>
              <a:off x="425" y="0"/>
              <a:ext cx="1975" cy="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000">
                  <a:solidFill>
                    <a:srgbClr val="0000FF"/>
                  </a:solidFill>
                  <a:latin typeface="Arial" charset="0"/>
                  <a:ea typeface="ヒラギノ角ゴ ProN W3" pitchFamily="1" charset="-128"/>
                  <a:sym typeface="Arial" charset="0"/>
                </a:defRPr>
              </a:lvl2pPr>
              <a:lvl3pPr eaLnBrk="0" hangingPunct="0">
                <a:tabLst>
                  <a:tab pos="520700" algn="l"/>
                </a:tabLst>
                <a:defRPr sz="2000">
                  <a:solidFill>
                    <a:srgbClr val="0000FF"/>
                  </a:solidFill>
                  <a:latin typeface="Arial" charset="0"/>
                  <a:ea typeface="ヒラギノ角ゴ ProN W3" pitchFamily="1" charset="-128"/>
                  <a:sym typeface="Arial" charset="0"/>
                </a:defRPr>
              </a:lvl3pPr>
              <a:lvl4pPr eaLnBrk="0" hangingPunct="0">
                <a:tabLst>
                  <a:tab pos="520700" algn="l"/>
                </a:tabLst>
                <a:defRPr sz="2000">
                  <a:solidFill>
                    <a:srgbClr val="0000FF"/>
                  </a:solidFill>
                  <a:latin typeface="Arial" charset="0"/>
                  <a:ea typeface="ヒラギノ角ゴ ProN W3" pitchFamily="1" charset="-128"/>
                  <a:sym typeface="Arial" charset="0"/>
                </a:defRPr>
              </a:lvl4pPr>
              <a:lvl5pPr eaLnBrk="0" hangingPunct="0">
                <a:tabLst>
                  <a:tab pos="520700" algn="l"/>
                </a:tabLst>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9pPr>
            </a:lstStyle>
            <a:p>
              <a:pPr eaLnBrk="1" hangingPunct="1"/>
              <a:r>
                <a:rPr lang="en-US" altLang="en-US" sz="1300">
                  <a:solidFill>
                    <a:srgbClr val="005481"/>
                  </a:solidFill>
                  <a:cs typeface="Arial" charset="0"/>
                </a:rPr>
                <a:t>Neurohormones from the hypothalamic neurosecretory cells supplying the posterior pituitary.</a:t>
              </a:r>
            </a:p>
          </p:txBody>
        </p:sp>
        <p:sp>
          <p:nvSpPr>
            <p:cNvPr id="144398" name="Line 32"/>
            <p:cNvSpPr>
              <a:spLocks noChangeShapeType="1"/>
            </p:cNvSpPr>
            <p:nvPr/>
          </p:nvSpPr>
          <p:spPr bwMode="auto">
            <a:xfrm rot="10800000" flipH="1">
              <a:off x="18" y="334"/>
              <a:ext cx="412" cy="221"/>
            </a:xfrm>
            <a:prstGeom prst="line">
              <a:avLst/>
            </a:prstGeom>
            <a:noFill/>
            <a:ln w="25400">
              <a:solidFill>
                <a:srgbClr val="005481"/>
              </a:solidFill>
              <a:miter lim="800000"/>
              <a:headEnd type="oval" w="med" len="med"/>
              <a:tailEnd/>
            </a:ln>
            <a:extLst>
              <a:ext uri="{909E8E84-426E-40DD-AFC4-6F175D3DCCD1}">
                <a14:hiddenFill xmlns:a14="http://schemas.microsoft.com/office/drawing/2010/main">
                  <a:noFill/>
                </a14:hiddenFill>
              </a:ext>
            </a:extLst>
          </p:spPr>
          <p:txBody>
            <a:bodyPr lIns="0" tIns="0" rIns="0" bIns="0"/>
            <a:lstStyle/>
            <a:p>
              <a:endParaRPr lang="en-AU"/>
            </a:p>
          </p:txBody>
        </p:sp>
      </p:grpSp>
    </p:spTree>
    <p:extLst>
      <p:ext uri="{BB962C8B-B14F-4D97-AF65-F5344CB8AC3E}">
        <p14:creationId xmlns:p14="http://schemas.microsoft.com/office/powerpoint/2010/main" val="1821986104"/>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7"/>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8"/>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11"/>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499"/>
                                          </p:stCondLst>
                                        </p:cTn>
                                        <p:tgtEl>
                                          <p:spTgt spid="2"/>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50530" name="Picture 1"/>
          <p:cNvPicPr>
            <a:picLocks noChangeAspect="1" noChangeArrowheads="1"/>
          </p:cNvPicPr>
          <p:nvPr/>
        </p:nvPicPr>
        <p:blipFill>
          <a:blip r:embed="rId2">
            <a:extLst>
              <a:ext uri="{28A0092B-C50C-407E-A947-70E740481C1C}">
                <a14:useLocalDpi xmlns:a14="http://schemas.microsoft.com/office/drawing/2010/main" val="0"/>
              </a:ext>
            </a:extLst>
          </a:blip>
          <a:srcRect t="2745" r="2382" b="13608"/>
          <a:stretch>
            <a:fillRect/>
          </a:stretch>
        </p:blipFill>
        <p:spPr bwMode="auto">
          <a:xfrm>
            <a:off x="3749639" y="1363886"/>
            <a:ext cx="4822574" cy="487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66562" name="Rectangle 2"/>
          <p:cNvSpPr>
            <a:spLocks noGrp="1" noChangeArrowheads="1"/>
          </p:cNvSpPr>
          <p:nvPr>
            <p:ph type="body" idx="1"/>
          </p:nvPr>
        </p:nvSpPr>
        <p:spPr>
          <a:xfrm>
            <a:off x="250031" y="1268015"/>
            <a:ext cx="3554016" cy="3500438"/>
          </a:xfrm>
        </p:spPr>
        <p:txBody>
          <a:bodyPr>
            <a:normAutofit fontScale="92500" lnSpcReduction="10000"/>
          </a:bodyPr>
          <a:lstStyle/>
          <a:p>
            <a:pPr>
              <a:tabLst>
                <a:tab pos="721047" algn="l"/>
                <a:tab pos="1045853" algn="l"/>
              </a:tabLst>
            </a:pPr>
            <a:r>
              <a:rPr lang="en-US" altLang="en-US"/>
              <a:t>The pituitary gland is an endocrine gland about the size of a pea hanging from the inferior surface of the hypothalamus.</a:t>
            </a:r>
          </a:p>
          <a:p>
            <a:pPr>
              <a:tabLst>
                <a:tab pos="721047" algn="l"/>
                <a:tab pos="1045853" algn="l"/>
              </a:tabLst>
            </a:pPr>
            <a:r>
              <a:rPr lang="en-US" altLang="en-US"/>
              <a:t>It pituitary comprises two distinct regions:</a:t>
            </a:r>
          </a:p>
          <a:p>
            <a:pPr lvl="1">
              <a:tabLst>
                <a:tab pos="721047" algn="l"/>
                <a:tab pos="1045853" algn="l"/>
              </a:tabLst>
            </a:pPr>
            <a:r>
              <a:rPr lang="en-US" altLang="en-US"/>
              <a:t>Anterior pituitary: glandular in origin</a:t>
            </a:r>
          </a:p>
          <a:p>
            <a:pPr lvl="1">
              <a:tabLst>
                <a:tab pos="721047" algn="l"/>
                <a:tab pos="1045853" algn="l"/>
              </a:tabLst>
            </a:pPr>
            <a:r>
              <a:rPr lang="en-US" altLang="en-US"/>
              <a:t>Posterior pituitary: neural in origin (an extension of the hypothalamus)</a:t>
            </a:r>
          </a:p>
        </p:txBody>
      </p:sp>
      <p:grpSp>
        <p:nvGrpSpPr>
          <p:cNvPr id="2" name="Group 6"/>
          <p:cNvGrpSpPr>
            <a:grpSpLocks/>
          </p:cNvGrpSpPr>
          <p:nvPr/>
        </p:nvGrpSpPr>
        <p:grpSpPr bwMode="auto">
          <a:xfrm>
            <a:off x="4714875" y="3214688"/>
            <a:ext cx="2050480" cy="1625203"/>
            <a:chOff x="0" y="0"/>
            <a:chExt cx="1837" cy="1456"/>
          </a:xfrm>
        </p:grpSpPr>
        <p:sp>
          <p:nvSpPr>
            <p:cNvPr id="150539" name="Rectangle 3"/>
            <p:cNvSpPr>
              <a:spLocks/>
            </p:cNvSpPr>
            <p:nvPr/>
          </p:nvSpPr>
          <p:spPr bwMode="auto">
            <a:xfrm>
              <a:off x="0" y="855"/>
              <a:ext cx="904" cy="601"/>
            </a:xfrm>
            <a:prstGeom prst="rect">
              <a:avLst/>
            </a:prstGeom>
            <a:solidFill>
              <a:schemeClr val="accent1"/>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2000">
                  <a:solidFill>
                    <a:srgbClr val="0000FF"/>
                  </a:solidFill>
                  <a:latin typeface="Arial" charset="0"/>
                  <a:ea typeface="ヒラギノ角ゴ ProN W3" pitchFamily="1" charset="-128"/>
                  <a:sym typeface="Arial" charset="0"/>
                </a:defRPr>
              </a:lvl1pPr>
              <a:lvl2pPr marL="37931725" indent="-37474525" eaLnBrk="0" hangingPunct="0">
                <a:defRPr sz="2000">
                  <a:solidFill>
                    <a:srgbClr val="0000FF"/>
                  </a:solidFill>
                  <a:latin typeface="Arial" charset="0"/>
                  <a:ea typeface="ヒラギノ角ゴ ProN W3" pitchFamily="1" charset="-128"/>
                  <a:sym typeface="Arial" charset="0"/>
                </a:defRPr>
              </a:lvl2pPr>
              <a:lvl3pPr eaLnBrk="0" hangingPunct="0">
                <a:defRPr sz="2000">
                  <a:solidFill>
                    <a:srgbClr val="0000FF"/>
                  </a:solidFill>
                  <a:latin typeface="Arial" charset="0"/>
                  <a:ea typeface="ヒラギノ角ゴ ProN W3" pitchFamily="1" charset="-128"/>
                  <a:sym typeface="Arial" charset="0"/>
                </a:defRPr>
              </a:lvl3pPr>
              <a:lvl4pPr eaLnBrk="0" hangingPunct="0">
                <a:defRPr sz="2000">
                  <a:solidFill>
                    <a:srgbClr val="0000FF"/>
                  </a:solidFill>
                  <a:latin typeface="Arial" charset="0"/>
                  <a:ea typeface="ヒラギノ角ゴ ProN W3" pitchFamily="1" charset="-128"/>
                  <a:sym typeface="Arial" charset="0"/>
                </a:defRPr>
              </a:lvl4pPr>
              <a:lvl5pPr eaLnBrk="0" hangingPunct="0">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9pPr>
            </a:lstStyle>
            <a:p>
              <a:pPr eaLnBrk="1" hangingPunct="1"/>
              <a:endParaRPr lang="en-US" altLang="en-US"/>
            </a:p>
          </p:txBody>
        </p:sp>
        <p:sp>
          <p:nvSpPr>
            <p:cNvPr id="150540" name="Rectangle 4"/>
            <p:cNvSpPr>
              <a:spLocks/>
            </p:cNvSpPr>
            <p:nvPr/>
          </p:nvSpPr>
          <p:spPr bwMode="auto">
            <a:xfrm>
              <a:off x="0" y="326"/>
              <a:ext cx="904" cy="1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000">
                  <a:solidFill>
                    <a:srgbClr val="0000FF"/>
                  </a:solidFill>
                  <a:latin typeface="Arial" charset="0"/>
                  <a:ea typeface="ヒラギノ角ゴ ProN W3" pitchFamily="1" charset="-128"/>
                  <a:sym typeface="Arial" charset="0"/>
                </a:defRPr>
              </a:lvl2pPr>
              <a:lvl3pPr eaLnBrk="0" hangingPunct="0">
                <a:tabLst>
                  <a:tab pos="520700" algn="l"/>
                </a:tabLst>
                <a:defRPr sz="2000">
                  <a:solidFill>
                    <a:srgbClr val="0000FF"/>
                  </a:solidFill>
                  <a:latin typeface="Arial" charset="0"/>
                  <a:ea typeface="ヒラギノ角ゴ ProN W3" pitchFamily="1" charset="-128"/>
                  <a:sym typeface="Arial" charset="0"/>
                </a:defRPr>
              </a:lvl3pPr>
              <a:lvl4pPr eaLnBrk="0" hangingPunct="0">
                <a:tabLst>
                  <a:tab pos="520700" algn="l"/>
                </a:tabLst>
                <a:defRPr sz="2000">
                  <a:solidFill>
                    <a:srgbClr val="0000FF"/>
                  </a:solidFill>
                  <a:latin typeface="Arial" charset="0"/>
                  <a:ea typeface="ヒラギノ角ゴ ProN W3" pitchFamily="1" charset="-128"/>
                  <a:sym typeface="Arial" charset="0"/>
                </a:defRPr>
              </a:lvl4pPr>
              <a:lvl5pPr eaLnBrk="0" hangingPunct="0">
                <a:tabLst>
                  <a:tab pos="520700" algn="l"/>
                </a:tabLst>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9pPr>
            </a:lstStyle>
            <a:p>
              <a:pPr eaLnBrk="1" hangingPunct="1"/>
              <a:r>
                <a:rPr lang="en-US" altLang="en-US" sz="1600" dirty="0">
                  <a:solidFill>
                    <a:schemeClr val="bg1"/>
                  </a:solidFill>
                  <a:cs typeface="Arial" charset="0"/>
                </a:rPr>
                <a:t>Posterior  pituitary</a:t>
              </a:r>
            </a:p>
          </p:txBody>
        </p:sp>
        <p:sp>
          <p:nvSpPr>
            <p:cNvPr id="150541" name="Line 5"/>
            <p:cNvSpPr>
              <a:spLocks noChangeShapeType="1"/>
            </p:cNvSpPr>
            <p:nvPr/>
          </p:nvSpPr>
          <p:spPr bwMode="auto">
            <a:xfrm flipH="1">
              <a:off x="754" y="0"/>
              <a:ext cx="1083" cy="1232"/>
            </a:xfrm>
            <a:prstGeom prst="line">
              <a:avLst/>
            </a:prstGeom>
            <a:noFill/>
            <a:ln w="25400">
              <a:solidFill>
                <a:srgbClr val="FFFFFF"/>
              </a:solidFill>
              <a:miter lim="800000"/>
              <a:headEnd type="stealth" w="med" len="med"/>
              <a:tailEnd/>
            </a:ln>
            <a:extLst>
              <a:ext uri="{909E8E84-426E-40DD-AFC4-6F175D3DCCD1}">
                <a14:hiddenFill xmlns:a14="http://schemas.microsoft.com/office/drawing/2010/main">
                  <a:noFill/>
                </a14:hiddenFill>
              </a:ext>
            </a:extLst>
          </p:spPr>
          <p:txBody>
            <a:bodyPr lIns="0" tIns="0" rIns="0" bIns="0"/>
            <a:lstStyle/>
            <a:p>
              <a:endParaRPr lang="en-AU"/>
            </a:p>
          </p:txBody>
        </p:sp>
      </p:grpSp>
      <p:sp>
        <p:nvSpPr>
          <p:cNvPr id="150533" name="Rectangle 7"/>
          <p:cNvSpPr>
            <a:spLocks noGrp="1" noChangeArrowheads="1"/>
          </p:cNvSpPr>
          <p:nvPr>
            <p:ph type="title"/>
          </p:nvPr>
        </p:nvSpPr>
        <p:spPr>
          <a:xfrm>
            <a:off x="500063" y="267891"/>
            <a:ext cx="8474273" cy="1393031"/>
          </a:xfrm>
        </p:spPr>
        <p:txBody>
          <a:bodyPr/>
          <a:lstStyle/>
          <a:p>
            <a:pPr>
              <a:tabLst>
                <a:tab pos="669703" algn="l"/>
              </a:tabLst>
            </a:pPr>
            <a:r>
              <a:rPr lang="en-US" altLang="en-US"/>
              <a:t>Hormones of the Pituitary</a:t>
            </a:r>
          </a:p>
        </p:txBody>
      </p:sp>
      <p:grpSp>
        <p:nvGrpSpPr>
          <p:cNvPr id="3" name="Group 12"/>
          <p:cNvGrpSpPr>
            <a:grpSpLocks/>
          </p:cNvGrpSpPr>
          <p:nvPr/>
        </p:nvGrpSpPr>
        <p:grpSpPr bwMode="auto">
          <a:xfrm>
            <a:off x="6920508" y="3166691"/>
            <a:ext cx="2116336" cy="1180951"/>
            <a:chOff x="0" y="0"/>
            <a:chExt cx="1896" cy="1058"/>
          </a:xfrm>
        </p:grpSpPr>
        <p:grpSp>
          <p:nvGrpSpPr>
            <p:cNvPr id="150535" name="Group 10"/>
            <p:cNvGrpSpPr>
              <a:grpSpLocks/>
            </p:cNvGrpSpPr>
            <p:nvPr/>
          </p:nvGrpSpPr>
          <p:grpSpPr bwMode="auto">
            <a:xfrm>
              <a:off x="1136" y="570"/>
              <a:ext cx="760" cy="488"/>
              <a:chOff x="0" y="0"/>
              <a:chExt cx="760" cy="488"/>
            </a:xfrm>
          </p:grpSpPr>
          <p:sp>
            <p:nvSpPr>
              <p:cNvPr id="150537" name="Rectangle 8"/>
              <p:cNvSpPr>
                <a:spLocks/>
              </p:cNvSpPr>
              <p:nvPr/>
            </p:nvSpPr>
            <p:spPr bwMode="auto">
              <a:xfrm>
                <a:off x="0" y="0"/>
                <a:ext cx="760" cy="488"/>
              </a:xfrm>
              <a:prstGeom prst="rect">
                <a:avLst/>
              </a:prstGeom>
              <a:solidFill>
                <a:schemeClr val="accent1"/>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2000">
                    <a:solidFill>
                      <a:srgbClr val="0000FF"/>
                    </a:solidFill>
                    <a:latin typeface="Arial" charset="0"/>
                    <a:ea typeface="ヒラギノ角ゴ ProN W3" pitchFamily="1" charset="-128"/>
                    <a:sym typeface="Arial" charset="0"/>
                  </a:defRPr>
                </a:lvl1pPr>
                <a:lvl2pPr marL="37931725" indent="-37474525" eaLnBrk="0" hangingPunct="0">
                  <a:defRPr sz="2000">
                    <a:solidFill>
                      <a:srgbClr val="0000FF"/>
                    </a:solidFill>
                    <a:latin typeface="Arial" charset="0"/>
                    <a:ea typeface="ヒラギノ角ゴ ProN W3" pitchFamily="1" charset="-128"/>
                    <a:sym typeface="Arial" charset="0"/>
                  </a:defRPr>
                </a:lvl2pPr>
                <a:lvl3pPr eaLnBrk="0" hangingPunct="0">
                  <a:defRPr sz="2000">
                    <a:solidFill>
                      <a:srgbClr val="0000FF"/>
                    </a:solidFill>
                    <a:latin typeface="Arial" charset="0"/>
                    <a:ea typeface="ヒラギノ角ゴ ProN W3" pitchFamily="1" charset="-128"/>
                    <a:sym typeface="Arial" charset="0"/>
                  </a:defRPr>
                </a:lvl3pPr>
                <a:lvl4pPr eaLnBrk="0" hangingPunct="0">
                  <a:defRPr sz="2000">
                    <a:solidFill>
                      <a:srgbClr val="0000FF"/>
                    </a:solidFill>
                    <a:latin typeface="Arial" charset="0"/>
                    <a:ea typeface="ヒラギノ角ゴ ProN W3" pitchFamily="1" charset="-128"/>
                    <a:sym typeface="Arial" charset="0"/>
                  </a:defRPr>
                </a:lvl4pPr>
                <a:lvl5pPr eaLnBrk="0" hangingPunct="0">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9pPr>
              </a:lstStyle>
              <a:p>
                <a:pPr eaLnBrk="1" hangingPunct="1"/>
                <a:endParaRPr lang="en-US" altLang="en-US"/>
              </a:p>
            </p:txBody>
          </p:sp>
          <p:sp>
            <p:nvSpPr>
              <p:cNvPr id="150538" name="Rectangle 9"/>
              <p:cNvSpPr>
                <a:spLocks/>
              </p:cNvSpPr>
              <p:nvPr/>
            </p:nvSpPr>
            <p:spPr bwMode="auto">
              <a:xfrm>
                <a:off x="40" y="64"/>
                <a:ext cx="688"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000">
                    <a:solidFill>
                      <a:srgbClr val="0000FF"/>
                    </a:solidFill>
                    <a:latin typeface="Arial" charset="0"/>
                    <a:ea typeface="ヒラギノ角ゴ ProN W3" pitchFamily="1" charset="-128"/>
                    <a:sym typeface="Arial" charset="0"/>
                  </a:defRPr>
                </a:lvl2pPr>
                <a:lvl3pPr eaLnBrk="0" hangingPunct="0">
                  <a:tabLst>
                    <a:tab pos="520700" algn="l"/>
                  </a:tabLst>
                  <a:defRPr sz="2000">
                    <a:solidFill>
                      <a:srgbClr val="0000FF"/>
                    </a:solidFill>
                    <a:latin typeface="Arial" charset="0"/>
                    <a:ea typeface="ヒラギノ角ゴ ProN W3" pitchFamily="1" charset="-128"/>
                    <a:sym typeface="Arial" charset="0"/>
                  </a:defRPr>
                </a:lvl3pPr>
                <a:lvl4pPr eaLnBrk="0" hangingPunct="0">
                  <a:tabLst>
                    <a:tab pos="520700" algn="l"/>
                  </a:tabLst>
                  <a:defRPr sz="2000">
                    <a:solidFill>
                      <a:srgbClr val="0000FF"/>
                    </a:solidFill>
                    <a:latin typeface="Arial" charset="0"/>
                    <a:ea typeface="ヒラギノ角ゴ ProN W3" pitchFamily="1" charset="-128"/>
                    <a:sym typeface="Arial" charset="0"/>
                  </a:defRPr>
                </a:lvl4pPr>
                <a:lvl5pPr eaLnBrk="0" hangingPunct="0">
                  <a:tabLst>
                    <a:tab pos="520700" algn="l"/>
                  </a:tabLst>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9pPr>
              </a:lstStyle>
              <a:p>
                <a:pPr eaLnBrk="1" hangingPunct="1"/>
                <a:r>
                  <a:rPr lang="en-US" altLang="en-US" sz="1400" dirty="0">
                    <a:solidFill>
                      <a:schemeClr val="bg1"/>
                    </a:solidFill>
                    <a:cs typeface="Arial" charset="0"/>
                  </a:rPr>
                  <a:t>Anterior pituitary</a:t>
                </a:r>
              </a:p>
            </p:txBody>
          </p:sp>
        </p:grpSp>
        <p:sp>
          <p:nvSpPr>
            <p:cNvPr id="150536" name="Line 11"/>
            <p:cNvSpPr>
              <a:spLocks noChangeShapeType="1"/>
            </p:cNvSpPr>
            <p:nvPr/>
          </p:nvSpPr>
          <p:spPr bwMode="auto">
            <a:xfrm>
              <a:off x="0" y="0"/>
              <a:ext cx="1208" cy="738"/>
            </a:xfrm>
            <a:prstGeom prst="line">
              <a:avLst/>
            </a:prstGeom>
            <a:noFill/>
            <a:ln w="25400">
              <a:solidFill>
                <a:srgbClr val="FFFFFF"/>
              </a:solidFill>
              <a:miter lim="800000"/>
              <a:headEnd type="stealth" w="med" len="med"/>
              <a:tailEnd/>
            </a:ln>
            <a:extLst>
              <a:ext uri="{909E8E84-426E-40DD-AFC4-6F175D3DCCD1}">
                <a14:hiddenFill xmlns:a14="http://schemas.microsoft.com/office/drawing/2010/main">
                  <a:noFill/>
                </a14:hiddenFill>
              </a:ext>
            </a:extLst>
          </p:spPr>
          <p:txBody>
            <a:bodyPr lIns="0" tIns="0" rIns="0" bIns="0"/>
            <a:lstStyle/>
            <a:p>
              <a:endParaRPr lang="en-AU"/>
            </a:p>
          </p:txBody>
        </p:sp>
      </p:grpSp>
    </p:spTree>
    <p:extLst>
      <p:ext uri="{BB962C8B-B14F-4D97-AF65-F5344CB8AC3E}">
        <p14:creationId xmlns:p14="http://schemas.microsoft.com/office/powerpoint/2010/main" val="4178070591"/>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6562">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6562">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66562">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66562">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2"/>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2" grpId="0" build="p" bldLvl="5"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51554" name="Picture 1"/>
          <p:cNvPicPr>
            <a:picLocks noChangeAspect="1" noChangeArrowheads="1"/>
          </p:cNvPicPr>
          <p:nvPr/>
        </p:nvPicPr>
        <p:blipFill>
          <a:blip r:embed="rId2">
            <a:extLst>
              <a:ext uri="{28A0092B-C50C-407E-A947-70E740481C1C}">
                <a14:useLocalDpi xmlns:a14="http://schemas.microsoft.com/office/drawing/2010/main" val="0"/>
              </a:ext>
            </a:extLst>
          </a:blip>
          <a:srcRect t="175" b="41536"/>
          <a:stretch>
            <a:fillRect/>
          </a:stretch>
        </p:blipFill>
        <p:spPr bwMode="auto">
          <a:xfrm>
            <a:off x="3429000" y="955476"/>
            <a:ext cx="3759398" cy="5920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67586" name="Rectangle 2"/>
          <p:cNvSpPr>
            <a:spLocks noGrp="1" noChangeArrowheads="1"/>
          </p:cNvSpPr>
          <p:nvPr>
            <p:ph type="body" idx="1"/>
          </p:nvPr>
        </p:nvSpPr>
        <p:spPr>
          <a:xfrm>
            <a:off x="494357" y="1205111"/>
            <a:ext cx="3528392" cy="1506091"/>
          </a:xfrm>
        </p:spPr>
        <p:txBody>
          <a:bodyPr>
            <a:normAutofit fontScale="70000" lnSpcReduction="20000"/>
          </a:bodyPr>
          <a:lstStyle/>
          <a:p>
            <a:pPr>
              <a:tabLst>
                <a:tab pos="721047" algn="l"/>
                <a:tab pos="1045853" algn="l"/>
              </a:tabLst>
            </a:pPr>
            <a:r>
              <a:rPr lang="en-US" altLang="en-US" dirty="0"/>
              <a:t>The anterior pituitary releases at least seven peptide hormones into the blood.</a:t>
            </a:r>
          </a:p>
          <a:p>
            <a:pPr lvl="1">
              <a:tabLst>
                <a:tab pos="721047" algn="l"/>
                <a:tab pos="1045853" algn="l"/>
              </a:tabLst>
            </a:pPr>
            <a:r>
              <a:rPr lang="en-US" altLang="en-US" dirty="0"/>
              <a:t>The release of these hormones is regulated by releasing and inhibiting hormones from the hypothalamus.</a:t>
            </a:r>
          </a:p>
        </p:txBody>
      </p:sp>
      <p:grpSp>
        <p:nvGrpSpPr>
          <p:cNvPr id="2" name="Group 7"/>
          <p:cNvGrpSpPr>
            <a:grpSpLocks/>
          </p:cNvGrpSpPr>
          <p:nvPr/>
        </p:nvGrpSpPr>
        <p:grpSpPr bwMode="auto">
          <a:xfrm>
            <a:off x="4813102" y="928688"/>
            <a:ext cx="3571875" cy="1428750"/>
            <a:chOff x="0" y="0"/>
            <a:chExt cx="3200" cy="1280"/>
          </a:xfrm>
        </p:grpSpPr>
        <p:grpSp>
          <p:nvGrpSpPr>
            <p:cNvPr id="151594" name="Group 5"/>
            <p:cNvGrpSpPr>
              <a:grpSpLocks/>
            </p:cNvGrpSpPr>
            <p:nvPr/>
          </p:nvGrpSpPr>
          <p:grpSpPr bwMode="auto">
            <a:xfrm>
              <a:off x="824" y="0"/>
              <a:ext cx="2376" cy="792"/>
              <a:chOff x="0" y="0"/>
              <a:chExt cx="2376" cy="792"/>
            </a:xfrm>
          </p:grpSpPr>
          <p:sp>
            <p:nvSpPr>
              <p:cNvPr id="151596" name="Rectangle 3"/>
              <p:cNvSpPr>
                <a:spLocks/>
              </p:cNvSpPr>
              <p:nvPr/>
            </p:nvSpPr>
            <p:spPr bwMode="auto">
              <a:xfrm>
                <a:off x="0" y="0"/>
                <a:ext cx="2376" cy="792"/>
              </a:xfrm>
              <a:prstGeom prst="rect">
                <a:avLst/>
              </a:prstGeom>
              <a:solidFill>
                <a:schemeClr val="accent1"/>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2000">
                    <a:solidFill>
                      <a:srgbClr val="0000FF"/>
                    </a:solidFill>
                    <a:latin typeface="Arial" charset="0"/>
                    <a:ea typeface="ヒラギノ角ゴ ProN W3" pitchFamily="1" charset="-128"/>
                    <a:sym typeface="Arial" charset="0"/>
                  </a:defRPr>
                </a:lvl1pPr>
                <a:lvl2pPr marL="37931725" indent="-37474525" eaLnBrk="0" hangingPunct="0">
                  <a:defRPr sz="2000">
                    <a:solidFill>
                      <a:srgbClr val="0000FF"/>
                    </a:solidFill>
                    <a:latin typeface="Arial" charset="0"/>
                    <a:ea typeface="ヒラギノ角ゴ ProN W3" pitchFamily="1" charset="-128"/>
                    <a:sym typeface="Arial" charset="0"/>
                  </a:defRPr>
                </a:lvl2pPr>
                <a:lvl3pPr eaLnBrk="0" hangingPunct="0">
                  <a:defRPr sz="2000">
                    <a:solidFill>
                      <a:srgbClr val="0000FF"/>
                    </a:solidFill>
                    <a:latin typeface="Arial" charset="0"/>
                    <a:ea typeface="ヒラギノ角ゴ ProN W3" pitchFamily="1" charset="-128"/>
                    <a:sym typeface="Arial" charset="0"/>
                  </a:defRPr>
                </a:lvl3pPr>
                <a:lvl4pPr eaLnBrk="0" hangingPunct="0">
                  <a:defRPr sz="2000">
                    <a:solidFill>
                      <a:srgbClr val="0000FF"/>
                    </a:solidFill>
                    <a:latin typeface="Arial" charset="0"/>
                    <a:ea typeface="ヒラギノ角ゴ ProN W3" pitchFamily="1" charset="-128"/>
                    <a:sym typeface="Arial" charset="0"/>
                  </a:defRPr>
                </a:lvl4pPr>
                <a:lvl5pPr eaLnBrk="0" hangingPunct="0">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9pPr>
              </a:lstStyle>
              <a:p>
                <a:pPr eaLnBrk="1" hangingPunct="1"/>
                <a:endParaRPr lang="en-US" altLang="en-US"/>
              </a:p>
            </p:txBody>
          </p:sp>
          <p:sp>
            <p:nvSpPr>
              <p:cNvPr id="151597" name="Rectangle 4"/>
              <p:cNvSpPr>
                <a:spLocks/>
              </p:cNvSpPr>
              <p:nvPr/>
            </p:nvSpPr>
            <p:spPr bwMode="auto">
              <a:xfrm>
                <a:off x="16" y="72"/>
                <a:ext cx="2264" cy="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000">
                    <a:solidFill>
                      <a:srgbClr val="0000FF"/>
                    </a:solidFill>
                    <a:latin typeface="Arial" charset="0"/>
                    <a:ea typeface="ヒラギノ角ゴ ProN W3" pitchFamily="1" charset="-128"/>
                    <a:sym typeface="Arial" charset="0"/>
                  </a:defRPr>
                </a:lvl2pPr>
                <a:lvl3pPr eaLnBrk="0" hangingPunct="0">
                  <a:tabLst>
                    <a:tab pos="520700" algn="l"/>
                  </a:tabLst>
                  <a:defRPr sz="2000">
                    <a:solidFill>
                      <a:srgbClr val="0000FF"/>
                    </a:solidFill>
                    <a:latin typeface="Arial" charset="0"/>
                    <a:ea typeface="ヒラギノ角ゴ ProN W3" pitchFamily="1" charset="-128"/>
                    <a:sym typeface="Arial" charset="0"/>
                  </a:defRPr>
                </a:lvl3pPr>
                <a:lvl4pPr eaLnBrk="0" hangingPunct="0">
                  <a:tabLst>
                    <a:tab pos="520700" algn="l"/>
                  </a:tabLst>
                  <a:defRPr sz="2000">
                    <a:solidFill>
                      <a:srgbClr val="0000FF"/>
                    </a:solidFill>
                    <a:latin typeface="Arial" charset="0"/>
                    <a:ea typeface="ヒラギノ角ゴ ProN W3" pitchFamily="1" charset="-128"/>
                    <a:sym typeface="Arial" charset="0"/>
                  </a:defRPr>
                </a:lvl4pPr>
                <a:lvl5pPr eaLnBrk="0" hangingPunct="0">
                  <a:tabLst>
                    <a:tab pos="520700" algn="l"/>
                  </a:tabLst>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9pPr>
              </a:lstStyle>
              <a:p>
                <a:pPr eaLnBrk="1" hangingPunct="1"/>
                <a:r>
                  <a:rPr lang="en-US" altLang="en-US" sz="1300" b="1" dirty="0">
                    <a:solidFill>
                      <a:schemeClr val="accent1"/>
                    </a:solidFill>
                    <a:cs typeface="Arial" charset="0"/>
                  </a:rPr>
                  <a:t>Thyroid Stimulating Hormone</a:t>
                </a:r>
              </a:p>
              <a:p>
                <a:pPr eaLnBrk="1" hangingPunct="1"/>
                <a:r>
                  <a:rPr lang="en-US" altLang="en-US" sz="1300" dirty="0">
                    <a:solidFill>
                      <a:schemeClr val="bg1"/>
                    </a:solidFill>
                    <a:cs typeface="Arial" charset="0"/>
                  </a:rPr>
                  <a:t>Increases synthesis and secretion of thyroid hormones T3 and </a:t>
                </a:r>
                <a:r>
                  <a:rPr lang="en-US" altLang="en-US" sz="1300" dirty="0" err="1">
                    <a:solidFill>
                      <a:schemeClr val="bg1"/>
                    </a:solidFill>
                    <a:cs typeface="Arial" charset="0"/>
                  </a:rPr>
                  <a:t>thyroxine</a:t>
                </a:r>
                <a:r>
                  <a:rPr lang="en-US" altLang="en-US" sz="1300" dirty="0">
                    <a:solidFill>
                      <a:schemeClr val="bg1"/>
                    </a:solidFill>
                    <a:cs typeface="Arial" charset="0"/>
                  </a:rPr>
                  <a:t>) from the thyroid gland.</a:t>
                </a:r>
              </a:p>
            </p:txBody>
          </p:sp>
        </p:grpSp>
        <p:sp>
          <p:nvSpPr>
            <p:cNvPr id="151595" name="Line 6"/>
            <p:cNvSpPr>
              <a:spLocks noChangeShapeType="1"/>
            </p:cNvSpPr>
            <p:nvPr/>
          </p:nvSpPr>
          <p:spPr bwMode="auto">
            <a:xfrm rot="10800000" flipH="1">
              <a:off x="0" y="362"/>
              <a:ext cx="840" cy="918"/>
            </a:xfrm>
            <a:prstGeom prst="line">
              <a:avLst/>
            </a:prstGeom>
            <a:noFill/>
            <a:ln w="25400">
              <a:solidFill>
                <a:srgbClr val="FFFFFF"/>
              </a:solidFill>
              <a:miter lim="800000"/>
              <a:headEnd type="stealth" w="med" len="med"/>
              <a:tailEnd/>
            </a:ln>
            <a:extLst>
              <a:ext uri="{909E8E84-426E-40DD-AFC4-6F175D3DCCD1}">
                <a14:hiddenFill xmlns:a14="http://schemas.microsoft.com/office/drawing/2010/main">
                  <a:noFill/>
                </a14:hiddenFill>
              </a:ext>
            </a:extLst>
          </p:spPr>
          <p:txBody>
            <a:bodyPr lIns="0" tIns="0" rIns="0" bIns="0"/>
            <a:lstStyle/>
            <a:p>
              <a:endParaRPr lang="en-AU"/>
            </a:p>
          </p:txBody>
        </p:sp>
      </p:grpSp>
      <p:grpSp>
        <p:nvGrpSpPr>
          <p:cNvPr id="4" name="Group 18"/>
          <p:cNvGrpSpPr>
            <a:grpSpLocks/>
          </p:cNvGrpSpPr>
          <p:nvPr/>
        </p:nvGrpSpPr>
        <p:grpSpPr bwMode="auto">
          <a:xfrm>
            <a:off x="4945931" y="2143125"/>
            <a:ext cx="3439046" cy="1026914"/>
            <a:chOff x="0" y="0"/>
            <a:chExt cx="3080" cy="920"/>
          </a:xfrm>
        </p:grpSpPr>
        <p:grpSp>
          <p:nvGrpSpPr>
            <p:cNvPr id="151584" name="Group 10"/>
            <p:cNvGrpSpPr>
              <a:grpSpLocks/>
            </p:cNvGrpSpPr>
            <p:nvPr/>
          </p:nvGrpSpPr>
          <p:grpSpPr bwMode="auto">
            <a:xfrm>
              <a:off x="1072" y="0"/>
              <a:ext cx="2008" cy="920"/>
              <a:chOff x="0" y="0"/>
              <a:chExt cx="2008" cy="920"/>
            </a:xfrm>
          </p:grpSpPr>
          <p:sp>
            <p:nvSpPr>
              <p:cNvPr id="151592" name="Rectangle 8"/>
              <p:cNvSpPr>
                <a:spLocks/>
              </p:cNvSpPr>
              <p:nvPr/>
            </p:nvSpPr>
            <p:spPr bwMode="auto">
              <a:xfrm>
                <a:off x="0" y="0"/>
                <a:ext cx="2008" cy="920"/>
              </a:xfrm>
              <a:prstGeom prst="rect">
                <a:avLst/>
              </a:prstGeom>
              <a:solidFill>
                <a:schemeClr val="accent1"/>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2000">
                    <a:solidFill>
                      <a:srgbClr val="0000FF"/>
                    </a:solidFill>
                    <a:latin typeface="Arial" charset="0"/>
                    <a:ea typeface="ヒラギノ角ゴ ProN W3" pitchFamily="1" charset="-128"/>
                    <a:sym typeface="Arial" charset="0"/>
                  </a:defRPr>
                </a:lvl1pPr>
                <a:lvl2pPr marL="37931725" indent="-37474525" eaLnBrk="0" hangingPunct="0">
                  <a:defRPr sz="2000">
                    <a:solidFill>
                      <a:srgbClr val="0000FF"/>
                    </a:solidFill>
                    <a:latin typeface="Arial" charset="0"/>
                    <a:ea typeface="ヒラギノ角ゴ ProN W3" pitchFamily="1" charset="-128"/>
                    <a:sym typeface="Arial" charset="0"/>
                  </a:defRPr>
                </a:lvl2pPr>
                <a:lvl3pPr eaLnBrk="0" hangingPunct="0">
                  <a:defRPr sz="2000">
                    <a:solidFill>
                      <a:srgbClr val="0000FF"/>
                    </a:solidFill>
                    <a:latin typeface="Arial" charset="0"/>
                    <a:ea typeface="ヒラギノ角ゴ ProN W3" pitchFamily="1" charset="-128"/>
                    <a:sym typeface="Arial" charset="0"/>
                  </a:defRPr>
                </a:lvl3pPr>
                <a:lvl4pPr eaLnBrk="0" hangingPunct="0">
                  <a:defRPr sz="2000">
                    <a:solidFill>
                      <a:srgbClr val="0000FF"/>
                    </a:solidFill>
                    <a:latin typeface="Arial" charset="0"/>
                    <a:ea typeface="ヒラギノ角ゴ ProN W3" pitchFamily="1" charset="-128"/>
                    <a:sym typeface="Arial" charset="0"/>
                  </a:defRPr>
                </a:lvl4pPr>
                <a:lvl5pPr eaLnBrk="0" hangingPunct="0">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9pPr>
              </a:lstStyle>
              <a:p>
                <a:pPr eaLnBrk="1" hangingPunct="1"/>
                <a:endParaRPr lang="en-US" altLang="en-US"/>
              </a:p>
            </p:txBody>
          </p:sp>
          <p:sp>
            <p:nvSpPr>
              <p:cNvPr id="151593" name="Rectangle 9"/>
              <p:cNvSpPr>
                <a:spLocks/>
              </p:cNvSpPr>
              <p:nvPr/>
            </p:nvSpPr>
            <p:spPr bwMode="auto">
              <a:xfrm>
                <a:off x="8" y="48"/>
                <a:ext cx="1904" cy="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000">
                    <a:solidFill>
                      <a:srgbClr val="0000FF"/>
                    </a:solidFill>
                    <a:latin typeface="Arial" charset="0"/>
                    <a:ea typeface="ヒラギノ角ゴ ProN W3" pitchFamily="1" charset="-128"/>
                    <a:sym typeface="Arial" charset="0"/>
                  </a:defRPr>
                </a:lvl2pPr>
                <a:lvl3pPr eaLnBrk="0" hangingPunct="0">
                  <a:tabLst>
                    <a:tab pos="520700" algn="l"/>
                  </a:tabLst>
                  <a:defRPr sz="2000">
                    <a:solidFill>
                      <a:srgbClr val="0000FF"/>
                    </a:solidFill>
                    <a:latin typeface="Arial" charset="0"/>
                    <a:ea typeface="ヒラギノ角ゴ ProN W3" pitchFamily="1" charset="-128"/>
                    <a:sym typeface="Arial" charset="0"/>
                  </a:defRPr>
                </a:lvl3pPr>
                <a:lvl4pPr eaLnBrk="0" hangingPunct="0">
                  <a:tabLst>
                    <a:tab pos="520700" algn="l"/>
                  </a:tabLst>
                  <a:defRPr sz="2000">
                    <a:solidFill>
                      <a:srgbClr val="0000FF"/>
                    </a:solidFill>
                    <a:latin typeface="Arial" charset="0"/>
                    <a:ea typeface="ヒラギノ角ゴ ProN W3" pitchFamily="1" charset="-128"/>
                    <a:sym typeface="Arial" charset="0"/>
                  </a:defRPr>
                </a:lvl4pPr>
                <a:lvl5pPr eaLnBrk="0" hangingPunct="0">
                  <a:tabLst>
                    <a:tab pos="520700" algn="l"/>
                  </a:tabLst>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9pPr>
              </a:lstStyle>
              <a:p>
                <a:pPr eaLnBrk="1" hangingPunct="1"/>
                <a:r>
                  <a:rPr lang="en-US" altLang="en-US" sz="1300" b="1" dirty="0">
                    <a:solidFill>
                      <a:srgbClr val="005481"/>
                    </a:solidFill>
                    <a:cs typeface="Arial" charset="0"/>
                  </a:rPr>
                  <a:t>Growth Hormone</a:t>
                </a:r>
              </a:p>
              <a:p>
                <a:pPr eaLnBrk="1" hangingPunct="1"/>
                <a:r>
                  <a:rPr lang="en-US" altLang="en-US" sz="1300" dirty="0">
                    <a:solidFill>
                      <a:schemeClr val="bg1"/>
                    </a:solidFill>
                    <a:cs typeface="Arial" charset="0"/>
                  </a:rPr>
                  <a:t>Stimulates protein synthesis and growth in most tissues. One of the main regulators of metabolism.</a:t>
                </a:r>
              </a:p>
            </p:txBody>
          </p:sp>
        </p:grpSp>
        <p:sp>
          <p:nvSpPr>
            <p:cNvPr id="151585" name="Line 11"/>
            <p:cNvSpPr>
              <a:spLocks noChangeShapeType="1"/>
            </p:cNvSpPr>
            <p:nvPr/>
          </p:nvSpPr>
          <p:spPr bwMode="auto">
            <a:xfrm rot="10800000" flipH="1">
              <a:off x="218" y="450"/>
              <a:ext cx="854" cy="238"/>
            </a:xfrm>
            <a:prstGeom prst="line">
              <a:avLst/>
            </a:prstGeom>
            <a:noFill/>
            <a:ln w="25400">
              <a:solidFill>
                <a:srgbClr val="FFFFFF"/>
              </a:solidFill>
              <a:miter lim="800000"/>
              <a:headEnd/>
              <a:tailEnd/>
            </a:ln>
            <a:extLst>
              <a:ext uri="{909E8E84-426E-40DD-AFC4-6F175D3DCCD1}">
                <a14:hiddenFill xmlns:a14="http://schemas.microsoft.com/office/drawing/2010/main">
                  <a:noFill/>
                </a14:hiddenFill>
              </a:ext>
            </a:extLst>
          </p:spPr>
          <p:txBody>
            <a:bodyPr lIns="0" tIns="0" rIns="0" bIns="0"/>
            <a:lstStyle/>
            <a:p>
              <a:endParaRPr lang="en-AU"/>
            </a:p>
          </p:txBody>
        </p:sp>
        <p:grpSp>
          <p:nvGrpSpPr>
            <p:cNvPr id="151586" name="Group 17"/>
            <p:cNvGrpSpPr>
              <a:grpSpLocks/>
            </p:cNvGrpSpPr>
            <p:nvPr/>
          </p:nvGrpSpPr>
          <p:grpSpPr bwMode="auto">
            <a:xfrm>
              <a:off x="0" y="474"/>
              <a:ext cx="221" cy="427"/>
              <a:chOff x="0" y="0"/>
              <a:chExt cx="221" cy="427"/>
            </a:xfrm>
          </p:grpSpPr>
          <p:sp>
            <p:nvSpPr>
              <p:cNvPr id="151587" name="Line 12"/>
              <p:cNvSpPr>
                <a:spLocks noChangeShapeType="1"/>
              </p:cNvSpPr>
              <p:nvPr/>
            </p:nvSpPr>
            <p:spPr bwMode="auto">
              <a:xfrm flipH="1">
                <a:off x="221" y="0"/>
                <a:ext cx="0" cy="219"/>
              </a:xfrm>
              <a:prstGeom prst="line">
                <a:avLst/>
              </a:prstGeom>
              <a:noFill/>
              <a:ln w="25400">
                <a:solidFill>
                  <a:srgbClr val="FFFFFF"/>
                </a:solidFill>
                <a:miter lim="800000"/>
                <a:headEnd type="stealth" w="med" len="med"/>
                <a:tailEnd/>
              </a:ln>
              <a:extLst>
                <a:ext uri="{909E8E84-426E-40DD-AFC4-6F175D3DCCD1}">
                  <a14:hiddenFill xmlns:a14="http://schemas.microsoft.com/office/drawing/2010/main">
                    <a:noFill/>
                  </a14:hiddenFill>
                </a:ext>
              </a:extLst>
            </p:spPr>
            <p:txBody>
              <a:bodyPr lIns="0" tIns="0" rIns="0" bIns="0"/>
              <a:lstStyle/>
              <a:p>
                <a:endParaRPr lang="en-AU"/>
              </a:p>
            </p:txBody>
          </p:sp>
          <p:sp>
            <p:nvSpPr>
              <p:cNvPr id="151588" name="Line 13"/>
              <p:cNvSpPr>
                <a:spLocks noChangeShapeType="1"/>
              </p:cNvSpPr>
              <p:nvPr/>
            </p:nvSpPr>
            <p:spPr bwMode="auto">
              <a:xfrm rot="10800000">
                <a:off x="221" y="208"/>
                <a:ext cx="0" cy="219"/>
              </a:xfrm>
              <a:prstGeom prst="line">
                <a:avLst/>
              </a:prstGeom>
              <a:noFill/>
              <a:ln w="25400">
                <a:solidFill>
                  <a:srgbClr val="FFFFFF"/>
                </a:solidFill>
                <a:miter lim="800000"/>
                <a:headEnd type="stealth" w="med" len="med"/>
                <a:tailEnd/>
              </a:ln>
              <a:extLst>
                <a:ext uri="{909E8E84-426E-40DD-AFC4-6F175D3DCCD1}">
                  <a14:hiddenFill xmlns:a14="http://schemas.microsoft.com/office/drawing/2010/main">
                    <a:noFill/>
                  </a14:hiddenFill>
                </a:ext>
              </a:extLst>
            </p:spPr>
            <p:txBody>
              <a:bodyPr lIns="0" tIns="0" rIns="0" bIns="0"/>
              <a:lstStyle/>
              <a:p>
                <a:endParaRPr lang="en-AU"/>
              </a:p>
            </p:txBody>
          </p:sp>
          <p:sp>
            <p:nvSpPr>
              <p:cNvPr id="151589" name="Line 14"/>
              <p:cNvSpPr>
                <a:spLocks noChangeShapeType="1"/>
              </p:cNvSpPr>
              <p:nvPr/>
            </p:nvSpPr>
            <p:spPr bwMode="auto">
              <a:xfrm rot="10800000" flipH="1">
                <a:off x="95" y="211"/>
                <a:ext cx="124" cy="181"/>
              </a:xfrm>
              <a:prstGeom prst="line">
                <a:avLst/>
              </a:prstGeom>
              <a:noFill/>
              <a:ln w="25400">
                <a:solidFill>
                  <a:srgbClr val="FFFFFF"/>
                </a:solidFill>
                <a:miter lim="800000"/>
                <a:headEnd type="stealth" w="med" len="med"/>
                <a:tailEnd/>
              </a:ln>
              <a:extLst>
                <a:ext uri="{909E8E84-426E-40DD-AFC4-6F175D3DCCD1}">
                  <a14:hiddenFill xmlns:a14="http://schemas.microsoft.com/office/drawing/2010/main">
                    <a:noFill/>
                  </a14:hiddenFill>
                </a:ext>
              </a:extLst>
            </p:spPr>
            <p:txBody>
              <a:bodyPr lIns="0" tIns="0" rIns="0" bIns="0"/>
              <a:lstStyle/>
              <a:p>
                <a:endParaRPr lang="en-AU"/>
              </a:p>
            </p:txBody>
          </p:sp>
          <p:sp>
            <p:nvSpPr>
              <p:cNvPr id="151590" name="Line 15"/>
              <p:cNvSpPr>
                <a:spLocks noChangeShapeType="1"/>
              </p:cNvSpPr>
              <p:nvPr/>
            </p:nvSpPr>
            <p:spPr bwMode="auto">
              <a:xfrm>
                <a:off x="84" y="45"/>
                <a:ext cx="130" cy="177"/>
              </a:xfrm>
              <a:prstGeom prst="line">
                <a:avLst/>
              </a:prstGeom>
              <a:noFill/>
              <a:ln w="25400">
                <a:solidFill>
                  <a:srgbClr val="FFFFFF"/>
                </a:solidFill>
                <a:miter lim="800000"/>
                <a:headEnd type="stealth" w="med" len="med"/>
                <a:tailEnd/>
              </a:ln>
              <a:extLst>
                <a:ext uri="{909E8E84-426E-40DD-AFC4-6F175D3DCCD1}">
                  <a14:hiddenFill xmlns:a14="http://schemas.microsoft.com/office/drawing/2010/main">
                    <a:noFill/>
                  </a14:hiddenFill>
                </a:ext>
              </a:extLst>
            </p:spPr>
            <p:txBody>
              <a:bodyPr lIns="0" tIns="0" rIns="0" bIns="0"/>
              <a:lstStyle/>
              <a:p>
                <a:endParaRPr lang="en-AU"/>
              </a:p>
            </p:txBody>
          </p:sp>
          <p:sp>
            <p:nvSpPr>
              <p:cNvPr id="151591" name="Line 16"/>
              <p:cNvSpPr>
                <a:spLocks noChangeShapeType="1"/>
              </p:cNvSpPr>
              <p:nvPr/>
            </p:nvSpPr>
            <p:spPr bwMode="auto">
              <a:xfrm rot="10800000" flipH="1">
                <a:off x="0" y="213"/>
                <a:ext cx="219" cy="0"/>
              </a:xfrm>
              <a:prstGeom prst="line">
                <a:avLst/>
              </a:prstGeom>
              <a:noFill/>
              <a:ln w="25400">
                <a:solidFill>
                  <a:srgbClr val="FFFFFF"/>
                </a:solidFill>
                <a:miter lim="800000"/>
                <a:headEnd type="stealth" w="med" len="med"/>
                <a:tailEnd/>
              </a:ln>
              <a:extLst>
                <a:ext uri="{909E8E84-426E-40DD-AFC4-6F175D3DCCD1}">
                  <a14:hiddenFill xmlns:a14="http://schemas.microsoft.com/office/drawing/2010/main">
                    <a:noFill/>
                  </a14:hiddenFill>
                </a:ext>
              </a:extLst>
            </p:spPr>
            <p:txBody>
              <a:bodyPr lIns="0" tIns="0" rIns="0" bIns="0"/>
              <a:lstStyle/>
              <a:p>
                <a:endParaRPr lang="en-AU"/>
              </a:p>
            </p:txBody>
          </p:sp>
        </p:grpSp>
      </p:grpSp>
      <p:grpSp>
        <p:nvGrpSpPr>
          <p:cNvPr id="7" name="Group 23"/>
          <p:cNvGrpSpPr>
            <a:grpSpLocks/>
          </p:cNvGrpSpPr>
          <p:nvPr/>
        </p:nvGrpSpPr>
        <p:grpSpPr bwMode="auto">
          <a:xfrm>
            <a:off x="4970488" y="3393281"/>
            <a:ext cx="3432348" cy="866180"/>
            <a:chOff x="0" y="0"/>
            <a:chExt cx="3074" cy="776"/>
          </a:xfrm>
        </p:grpSpPr>
        <p:grpSp>
          <p:nvGrpSpPr>
            <p:cNvPr id="151580" name="Group 21"/>
            <p:cNvGrpSpPr>
              <a:grpSpLocks/>
            </p:cNvGrpSpPr>
            <p:nvPr/>
          </p:nvGrpSpPr>
          <p:grpSpPr bwMode="auto">
            <a:xfrm>
              <a:off x="1330" y="0"/>
              <a:ext cx="1744" cy="776"/>
              <a:chOff x="0" y="0"/>
              <a:chExt cx="1744" cy="776"/>
            </a:xfrm>
          </p:grpSpPr>
          <p:sp>
            <p:nvSpPr>
              <p:cNvPr id="151582" name="Rectangle 19"/>
              <p:cNvSpPr>
                <a:spLocks/>
              </p:cNvSpPr>
              <p:nvPr/>
            </p:nvSpPr>
            <p:spPr bwMode="auto">
              <a:xfrm>
                <a:off x="0" y="0"/>
                <a:ext cx="1744" cy="776"/>
              </a:xfrm>
              <a:prstGeom prst="rect">
                <a:avLst/>
              </a:prstGeom>
              <a:solidFill>
                <a:schemeClr val="accent1"/>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2000">
                    <a:solidFill>
                      <a:srgbClr val="0000FF"/>
                    </a:solidFill>
                    <a:latin typeface="Arial" charset="0"/>
                    <a:ea typeface="ヒラギノ角ゴ ProN W3" pitchFamily="1" charset="-128"/>
                    <a:sym typeface="Arial" charset="0"/>
                  </a:defRPr>
                </a:lvl1pPr>
                <a:lvl2pPr marL="37931725" indent="-37474525" eaLnBrk="0" hangingPunct="0">
                  <a:defRPr sz="2000">
                    <a:solidFill>
                      <a:srgbClr val="0000FF"/>
                    </a:solidFill>
                    <a:latin typeface="Arial" charset="0"/>
                    <a:ea typeface="ヒラギノ角ゴ ProN W3" pitchFamily="1" charset="-128"/>
                    <a:sym typeface="Arial" charset="0"/>
                  </a:defRPr>
                </a:lvl2pPr>
                <a:lvl3pPr eaLnBrk="0" hangingPunct="0">
                  <a:defRPr sz="2000">
                    <a:solidFill>
                      <a:srgbClr val="0000FF"/>
                    </a:solidFill>
                    <a:latin typeface="Arial" charset="0"/>
                    <a:ea typeface="ヒラギノ角ゴ ProN W3" pitchFamily="1" charset="-128"/>
                    <a:sym typeface="Arial" charset="0"/>
                  </a:defRPr>
                </a:lvl3pPr>
                <a:lvl4pPr eaLnBrk="0" hangingPunct="0">
                  <a:defRPr sz="2000">
                    <a:solidFill>
                      <a:srgbClr val="0000FF"/>
                    </a:solidFill>
                    <a:latin typeface="Arial" charset="0"/>
                    <a:ea typeface="ヒラギノ角ゴ ProN W3" pitchFamily="1" charset="-128"/>
                    <a:sym typeface="Arial" charset="0"/>
                  </a:defRPr>
                </a:lvl4pPr>
                <a:lvl5pPr eaLnBrk="0" hangingPunct="0">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9pPr>
              </a:lstStyle>
              <a:p>
                <a:pPr eaLnBrk="1" hangingPunct="1"/>
                <a:endParaRPr lang="en-US" altLang="en-US"/>
              </a:p>
            </p:txBody>
          </p:sp>
          <p:sp>
            <p:nvSpPr>
              <p:cNvPr id="151583" name="Rectangle 20"/>
              <p:cNvSpPr>
                <a:spLocks/>
              </p:cNvSpPr>
              <p:nvPr/>
            </p:nvSpPr>
            <p:spPr bwMode="auto">
              <a:xfrm>
                <a:off x="16" y="56"/>
                <a:ext cx="1656" cy="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000">
                    <a:solidFill>
                      <a:srgbClr val="0000FF"/>
                    </a:solidFill>
                    <a:latin typeface="Arial" charset="0"/>
                    <a:ea typeface="ヒラギノ角ゴ ProN W3" pitchFamily="1" charset="-128"/>
                    <a:sym typeface="Arial" charset="0"/>
                  </a:defRPr>
                </a:lvl2pPr>
                <a:lvl3pPr eaLnBrk="0" hangingPunct="0">
                  <a:tabLst>
                    <a:tab pos="520700" algn="l"/>
                  </a:tabLst>
                  <a:defRPr sz="2000">
                    <a:solidFill>
                      <a:srgbClr val="0000FF"/>
                    </a:solidFill>
                    <a:latin typeface="Arial" charset="0"/>
                    <a:ea typeface="ヒラギノ角ゴ ProN W3" pitchFamily="1" charset="-128"/>
                    <a:sym typeface="Arial" charset="0"/>
                  </a:defRPr>
                </a:lvl3pPr>
                <a:lvl4pPr eaLnBrk="0" hangingPunct="0">
                  <a:tabLst>
                    <a:tab pos="520700" algn="l"/>
                  </a:tabLst>
                  <a:defRPr sz="2000">
                    <a:solidFill>
                      <a:srgbClr val="0000FF"/>
                    </a:solidFill>
                    <a:latin typeface="Arial" charset="0"/>
                    <a:ea typeface="ヒラギノ角ゴ ProN W3" pitchFamily="1" charset="-128"/>
                    <a:sym typeface="Arial" charset="0"/>
                  </a:defRPr>
                </a:lvl4pPr>
                <a:lvl5pPr eaLnBrk="0" hangingPunct="0">
                  <a:tabLst>
                    <a:tab pos="520700" algn="l"/>
                  </a:tabLst>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9pPr>
              </a:lstStyle>
              <a:p>
                <a:pPr eaLnBrk="1" hangingPunct="1"/>
                <a:r>
                  <a:rPr lang="en-US" altLang="en-US" sz="1300" b="1" dirty="0">
                    <a:solidFill>
                      <a:srgbClr val="005481"/>
                    </a:solidFill>
                    <a:cs typeface="Arial" charset="0"/>
                  </a:rPr>
                  <a:t>Prolactin</a:t>
                </a:r>
              </a:p>
              <a:p>
                <a:pPr eaLnBrk="1" hangingPunct="1"/>
                <a:r>
                  <a:rPr lang="en-US" altLang="en-US" sz="1300" dirty="0">
                    <a:solidFill>
                      <a:schemeClr val="bg1"/>
                    </a:solidFill>
                    <a:cs typeface="Arial" charset="0"/>
                  </a:rPr>
                  <a:t>Stimulates growth of the mammary glands and synthesis of milk protein.</a:t>
                </a:r>
              </a:p>
            </p:txBody>
          </p:sp>
        </p:grpSp>
        <p:sp>
          <p:nvSpPr>
            <p:cNvPr id="151581" name="Line 22"/>
            <p:cNvSpPr>
              <a:spLocks noChangeShapeType="1"/>
            </p:cNvSpPr>
            <p:nvPr/>
          </p:nvSpPr>
          <p:spPr bwMode="auto">
            <a:xfrm>
              <a:off x="0" y="122"/>
              <a:ext cx="1338" cy="267"/>
            </a:xfrm>
            <a:prstGeom prst="line">
              <a:avLst/>
            </a:prstGeom>
            <a:noFill/>
            <a:ln w="25400">
              <a:solidFill>
                <a:srgbClr val="FFFFFF"/>
              </a:solidFill>
              <a:miter lim="800000"/>
              <a:headEnd type="stealth" w="med" len="med"/>
              <a:tailEnd/>
            </a:ln>
            <a:extLst>
              <a:ext uri="{909E8E84-426E-40DD-AFC4-6F175D3DCCD1}">
                <a14:hiddenFill xmlns:a14="http://schemas.microsoft.com/office/drawing/2010/main">
                  <a:noFill/>
                </a14:hiddenFill>
              </a:ext>
            </a:extLst>
          </p:spPr>
          <p:txBody>
            <a:bodyPr lIns="0" tIns="0" rIns="0" bIns="0"/>
            <a:lstStyle/>
            <a:p>
              <a:endParaRPr lang="en-AU"/>
            </a:p>
          </p:txBody>
        </p:sp>
      </p:grpSp>
      <p:grpSp>
        <p:nvGrpSpPr>
          <p:cNvPr id="9" name="Group 28"/>
          <p:cNvGrpSpPr>
            <a:grpSpLocks/>
          </p:cNvGrpSpPr>
          <p:nvPr/>
        </p:nvGrpSpPr>
        <p:grpSpPr bwMode="auto">
          <a:xfrm>
            <a:off x="500062" y="2830711"/>
            <a:ext cx="4425777" cy="1189881"/>
            <a:chOff x="0" y="0"/>
            <a:chExt cx="3965" cy="1066"/>
          </a:xfrm>
        </p:grpSpPr>
        <p:grpSp>
          <p:nvGrpSpPr>
            <p:cNvPr id="151576" name="Group 26"/>
            <p:cNvGrpSpPr>
              <a:grpSpLocks/>
            </p:cNvGrpSpPr>
            <p:nvPr/>
          </p:nvGrpSpPr>
          <p:grpSpPr bwMode="auto">
            <a:xfrm>
              <a:off x="0" y="0"/>
              <a:ext cx="2576" cy="976"/>
              <a:chOff x="0" y="0"/>
              <a:chExt cx="2576" cy="976"/>
            </a:xfrm>
          </p:grpSpPr>
          <p:sp>
            <p:nvSpPr>
              <p:cNvPr id="151578" name="Rectangle 24"/>
              <p:cNvSpPr>
                <a:spLocks/>
              </p:cNvSpPr>
              <p:nvPr/>
            </p:nvSpPr>
            <p:spPr bwMode="auto">
              <a:xfrm>
                <a:off x="0" y="0"/>
                <a:ext cx="2576" cy="976"/>
              </a:xfrm>
              <a:prstGeom prst="rect">
                <a:avLst/>
              </a:prstGeom>
              <a:solidFill>
                <a:schemeClr val="accent1"/>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2000">
                    <a:solidFill>
                      <a:srgbClr val="0000FF"/>
                    </a:solidFill>
                    <a:latin typeface="Arial" charset="0"/>
                    <a:ea typeface="ヒラギノ角ゴ ProN W3" pitchFamily="1" charset="-128"/>
                    <a:sym typeface="Arial" charset="0"/>
                  </a:defRPr>
                </a:lvl1pPr>
                <a:lvl2pPr marL="37931725" indent="-37474525" eaLnBrk="0" hangingPunct="0">
                  <a:defRPr sz="2000">
                    <a:solidFill>
                      <a:srgbClr val="0000FF"/>
                    </a:solidFill>
                    <a:latin typeface="Arial" charset="0"/>
                    <a:ea typeface="ヒラギノ角ゴ ProN W3" pitchFamily="1" charset="-128"/>
                    <a:sym typeface="Arial" charset="0"/>
                  </a:defRPr>
                </a:lvl2pPr>
                <a:lvl3pPr eaLnBrk="0" hangingPunct="0">
                  <a:defRPr sz="2000">
                    <a:solidFill>
                      <a:srgbClr val="0000FF"/>
                    </a:solidFill>
                    <a:latin typeface="Arial" charset="0"/>
                    <a:ea typeface="ヒラギノ角ゴ ProN W3" pitchFamily="1" charset="-128"/>
                    <a:sym typeface="Arial" charset="0"/>
                  </a:defRPr>
                </a:lvl3pPr>
                <a:lvl4pPr eaLnBrk="0" hangingPunct="0">
                  <a:defRPr sz="2000">
                    <a:solidFill>
                      <a:srgbClr val="0000FF"/>
                    </a:solidFill>
                    <a:latin typeface="Arial" charset="0"/>
                    <a:ea typeface="ヒラギノ角ゴ ProN W3" pitchFamily="1" charset="-128"/>
                    <a:sym typeface="Arial" charset="0"/>
                  </a:defRPr>
                </a:lvl4pPr>
                <a:lvl5pPr eaLnBrk="0" hangingPunct="0">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9pPr>
              </a:lstStyle>
              <a:p>
                <a:pPr eaLnBrk="1" hangingPunct="1"/>
                <a:endParaRPr lang="en-US" altLang="en-US"/>
              </a:p>
            </p:txBody>
          </p:sp>
          <p:sp>
            <p:nvSpPr>
              <p:cNvPr id="151579" name="Rectangle 25"/>
              <p:cNvSpPr>
                <a:spLocks/>
              </p:cNvSpPr>
              <p:nvPr/>
            </p:nvSpPr>
            <p:spPr bwMode="auto">
              <a:xfrm>
                <a:off x="48" y="72"/>
                <a:ext cx="2464" cy="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000">
                    <a:solidFill>
                      <a:srgbClr val="0000FF"/>
                    </a:solidFill>
                    <a:latin typeface="Arial" charset="0"/>
                    <a:ea typeface="ヒラギノ角ゴ ProN W3" pitchFamily="1" charset="-128"/>
                    <a:sym typeface="Arial" charset="0"/>
                  </a:defRPr>
                </a:lvl2pPr>
                <a:lvl3pPr eaLnBrk="0" hangingPunct="0">
                  <a:tabLst>
                    <a:tab pos="520700" algn="l"/>
                  </a:tabLst>
                  <a:defRPr sz="2000">
                    <a:solidFill>
                      <a:srgbClr val="0000FF"/>
                    </a:solidFill>
                    <a:latin typeface="Arial" charset="0"/>
                    <a:ea typeface="ヒラギノ角ゴ ProN W3" pitchFamily="1" charset="-128"/>
                    <a:sym typeface="Arial" charset="0"/>
                  </a:defRPr>
                </a:lvl3pPr>
                <a:lvl4pPr eaLnBrk="0" hangingPunct="0">
                  <a:tabLst>
                    <a:tab pos="520700" algn="l"/>
                  </a:tabLst>
                  <a:defRPr sz="2000">
                    <a:solidFill>
                      <a:srgbClr val="0000FF"/>
                    </a:solidFill>
                    <a:latin typeface="Arial" charset="0"/>
                    <a:ea typeface="ヒラギノ角ゴ ProN W3" pitchFamily="1" charset="-128"/>
                    <a:sym typeface="Arial" charset="0"/>
                  </a:defRPr>
                </a:lvl4pPr>
                <a:lvl5pPr eaLnBrk="0" hangingPunct="0">
                  <a:tabLst>
                    <a:tab pos="520700" algn="l"/>
                  </a:tabLst>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9pPr>
              </a:lstStyle>
              <a:p>
                <a:pPr eaLnBrk="1" hangingPunct="1"/>
                <a:r>
                  <a:rPr lang="en-US" altLang="en-US" sz="1300" b="1" dirty="0">
                    <a:solidFill>
                      <a:schemeClr val="accent1"/>
                    </a:solidFill>
                    <a:cs typeface="Arial" charset="0"/>
                  </a:rPr>
                  <a:t>Adrenocorticotrophic Hormone</a:t>
                </a:r>
              </a:p>
              <a:p>
                <a:pPr eaLnBrk="1" hangingPunct="1"/>
                <a:r>
                  <a:rPr lang="en-US" altLang="en-US" sz="1300" dirty="0">
                    <a:solidFill>
                      <a:schemeClr val="bg1"/>
                    </a:solidFill>
                    <a:cs typeface="Arial" charset="0"/>
                  </a:rPr>
                  <a:t>Usually abbreviated to ACTH, this hormone increases synthesis and secretion of hormones (aldosterone and cortisol) from the adrenal cortex</a:t>
                </a:r>
                <a:r>
                  <a:rPr lang="en-US" altLang="en-US" sz="1300" dirty="0">
                    <a:solidFill>
                      <a:srgbClr val="000000"/>
                    </a:solidFill>
                    <a:cs typeface="Arial" charset="0"/>
                  </a:rPr>
                  <a:t>.</a:t>
                </a:r>
              </a:p>
            </p:txBody>
          </p:sp>
        </p:grpSp>
        <p:sp>
          <p:nvSpPr>
            <p:cNvPr id="151577" name="Line 27"/>
            <p:cNvSpPr>
              <a:spLocks noChangeShapeType="1"/>
            </p:cNvSpPr>
            <p:nvPr/>
          </p:nvSpPr>
          <p:spPr bwMode="auto">
            <a:xfrm rot="10800000">
              <a:off x="2568" y="471"/>
              <a:ext cx="1397" cy="595"/>
            </a:xfrm>
            <a:prstGeom prst="line">
              <a:avLst/>
            </a:prstGeom>
            <a:noFill/>
            <a:ln w="25400">
              <a:solidFill>
                <a:srgbClr val="FFFFFF"/>
              </a:solidFill>
              <a:miter lim="800000"/>
              <a:headEnd type="stealth" w="med" len="med"/>
              <a:tailEnd/>
            </a:ln>
            <a:extLst>
              <a:ext uri="{909E8E84-426E-40DD-AFC4-6F175D3DCCD1}">
                <a14:hiddenFill xmlns:a14="http://schemas.microsoft.com/office/drawing/2010/main">
                  <a:noFill/>
                </a14:hiddenFill>
              </a:ext>
            </a:extLst>
          </p:spPr>
          <p:txBody>
            <a:bodyPr lIns="0" tIns="0" rIns="0" bIns="0"/>
            <a:lstStyle/>
            <a:p>
              <a:endParaRPr lang="en-AU"/>
            </a:p>
          </p:txBody>
        </p:sp>
      </p:grpSp>
      <p:grpSp>
        <p:nvGrpSpPr>
          <p:cNvPr id="11" name="Group 33"/>
          <p:cNvGrpSpPr>
            <a:grpSpLocks/>
          </p:cNvGrpSpPr>
          <p:nvPr/>
        </p:nvGrpSpPr>
        <p:grpSpPr bwMode="auto">
          <a:xfrm>
            <a:off x="500063" y="4143375"/>
            <a:ext cx="4015011" cy="1500188"/>
            <a:chOff x="0" y="0"/>
            <a:chExt cx="3597" cy="1343"/>
          </a:xfrm>
        </p:grpSpPr>
        <p:grpSp>
          <p:nvGrpSpPr>
            <p:cNvPr id="151572" name="Group 31"/>
            <p:cNvGrpSpPr>
              <a:grpSpLocks/>
            </p:cNvGrpSpPr>
            <p:nvPr/>
          </p:nvGrpSpPr>
          <p:grpSpPr bwMode="auto">
            <a:xfrm>
              <a:off x="0" y="0"/>
              <a:ext cx="2560" cy="976"/>
              <a:chOff x="0" y="0"/>
              <a:chExt cx="2560" cy="976"/>
            </a:xfrm>
          </p:grpSpPr>
          <p:sp>
            <p:nvSpPr>
              <p:cNvPr id="151574" name="Rectangle 29"/>
              <p:cNvSpPr>
                <a:spLocks/>
              </p:cNvSpPr>
              <p:nvPr/>
            </p:nvSpPr>
            <p:spPr bwMode="auto">
              <a:xfrm>
                <a:off x="0" y="0"/>
                <a:ext cx="2560" cy="976"/>
              </a:xfrm>
              <a:prstGeom prst="rect">
                <a:avLst/>
              </a:prstGeom>
              <a:solidFill>
                <a:schemeClr val="accent1"/>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2000">
                    <a:solidFill>
                      <a:srgbClr val="0000FF"/>
                    </a:solidFill>
                    <a:latin typeface="Arial" charset="0"/>
                    <a:ea typeface="ヒラギノ角ゴ ProN W3" pitchFamily="1" charset="-128"/>
                    <a:sym typeface="Arial" charset="0"/>
                  </a:defRPr>
                </a:lvl1pPr>
                <a:lvl2pPr marL="37931725" indent="-37474525" eaLnBrk="0" hangingPunct="0">
                  <a:defRPr sz="2000">
                    <a:solidFill>
                      <a:srgbClr val="0000FF"/>
                    </a:solidFill>
                    <a:latin typeface="Arial" charset="0"/>
                    <a:ea typeface="ヒラギノ角ゴ ProN W3" pitchFamily="1" charset="-128"/>
                    <a:sym typeface="Arial" charset="0"/>
                  </a:defRPr>
                </a:lvl2pPr>
                <a:lvl3pPr eaLnBrk="0" hangingPunct="0">
                  <a:defRPr sz="2000">
                    <a:solidFill>
                      <a:srgbClr val="0000FF"/>
                    </a:solidFill>
                    <a:latin typeface="Arial" charset="0"/>
                    <a:ea typeface="ヒラギノ角ゴ ProN W3" pitchFamily="1" charset="-128"/>
                    <a:sym typeface="Arial" charset="0"/>
                  </a:defRPr>
                </a:lvl3pPr>
                <a:lvl4pPr eaLnBrk="0" hangingPunct="0">
                  <a:defRPr sz="2000">
                    <a:solidFill>
                      <a:srgbClr val="0000FF"/>
                    </a:solidFill>
                    <a:latin typeface="Arial" charset="0"/>
                    <a:ea typeface="ヒラギノ角ゴ ProN W3" pitchFamily="1" charset="-128"/>
                    <a:sym typeface="Arial" charset="0"/>
                  </a:defRPr>
                </a:lvl4pPr>
                <a:lvl5pPr eaLnBrk="0" hangingPunct="0">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9pPr>
              </a:lstStyle>
              <a:p>
                <a:pPr eaLnBrk="1" hangingPunct="1"/>
                <a:endParaRPr lang="en-US" altLang="en-US"/>
              </a:p>
            </p:txBody>
          </p:sp>
          <p:sp>
            <p:nvSpPr>
              <p:cNvPr id="151575" name="Rectangle 30"/>
              <p:cNvSpPr>
                <a:spLocks/>
              </p:cNvSpPr>
              <p:nvPr/>
            </p:nvSpPr>
            <p:spPr bwMode="auto">
              <a:xfrm>
                <a:off x="48" y="80"/>
                <a:ext cx="2432" cy="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000">
                    <a:solidFill>
                      <a:srgbClr val="0000FF"/>
                    </a:solidFill>
                    <a:latin typeface="Arial" charset="0"/>
                    <a:ea typeface="ヒラギノ角ゴ ProN W3" pitchFamily="1" charset="-128"/>
                    <a:sym typeface="Arial" charset="0"/>
                  </a:defRPr>
                </a:lvl2pPr>
                <a:lvl3pPr eaLnBrk="0" hangingPunct="0">
                  <a:tabLst>
                    <a:tab pos="520700" algn="l"/>
                  </a:tabLst>
                  <a:defRPr sz="2000">
                    <a:solidFill>
                      <a:srgbClr val="0000FF"/>
                    </a:solidFill>
                    <a:latin typeface="Arial" charset="0"/>
                    <a:ea typeface="ヒラギノ角ゴ ProN W3" pitchFamily="1" charset="-128"/>
                    <a:sym typeface="Arial" charset="0"/>
                  </a:defRPr>
                </a:lvl3pPr>
                <a:lvl4pPr eaLnBrk="0" hangingPunct="0">
                  <a:tabLst>
                    <a:tab pos="520700" algn="l"/>
                  </a:tabLst>
                  <a:defRPr sz="2000">
                    <a:solidFill>
                      <a:srgbClr val="0000FF"/>
                    </a:solidFill>
                    <a:latin typeface="Arial" charset="0"/>
                    <a:ea typeface="ヒラギノ角ゴ ProN W3" pitchFamily="1" charset="-128"/>
                    <a:sym typeface="Arial" charset="0"/>
                  </a:defRPr>
                </a:lvl4pPr>
                <a:lvl5pPr eaLnBrk="0" hangingPunct="0">
                  <a:tabLst>
                    <a:tab pos="520700" algn="l"/>
                  </a:tabLst>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9pPr>
              </a:lstStyle>
              <a:p>
                <a:pPr eaLnBrk="1" hangingPunct="1"/>
                <a:r>
                  <a:rPr lang="en-US" altLang="en-US" sz="1300" b="1" dirty="0">
                    <a:solidFill>
                      <a:srgbClr val="005481"/>
                    </a:solidFill>
                    <a:cs typeface="Arial" charset="0"/>
                  </a:rPr>
                  <a:t>Follicle Stimulating Hormone</a:t>
                </a:r>
              </a:p>
              <a:p>
                <a:pPr eaLnBrk="1" hangingPunct="1"/>
                <a:r>
                  <a:rPr lang="en-US" altLang="en-US" sz="1300" b="1" dirty="0">
                    <a:solidFill>
                      <a:schemeClr val="bg1"/>
                    </a:solidFill>
                    <a:cs typeface="Arial" charset="0"/>
                  </a:rPr>
                  <a:t>In females</a:t>
                </a:r>
                <a:r>
                  <a:rPr lang="en-US" altLang="en-US" sz="1300" dirty="0">
                    <a:solidFill>
                      <a:schemeClr val="bg1"/>
                    </a:solidFill>
                    <a:cs typeface="Arial" charset="0"/>
                  </a:rPr>
                  <a:t>: Stimulates maturation of the ovarian follicles.</a:t>
                </a:r>
              </a:p>
              <a:p>
                <a:pPr eaLnBrk="1" hangingPunct="1"/>
                <a:r>
                  <a:rPr lang="en-US" altLang="en-US" sz="1300" b="1" dirty="0">
                    <a:solidFill>
                      <a:schemeClr val="bg1"/>
                    </a:solidFill>
                    <a:cs typeface="Arial" charset="0"/>
                  </a:rPr>
                  <a:t>In males</a:t>
                </a:r>
                <a:r>
                  <a:rPr lang="en-US" altLang="en-US" sz="1300" dirty="0">
                    <a:solidFill>
                      <a:schemeClr val="bg1"/>
                    </a:solidFill>
                    <a:cs typeface="Arial" charset="0"/>
                  </a:rPr>
                  <a:t>: Increase the production of sperm in the seminiferous tubules</a:t>
                </a:r>
              </a:p>
            </p:txBody>
          </p:sp>
        </p:grpSp>
        <p:sp>
          <p:nvSpPr>
            <p:cNvPr id="151573" name="Line 32"/>
            <p:cNvSpPr>
              <a:spLocks noChangeShapeType="1"/>
            </p:cNvSpPr>
            <p:nvPr/>
          </p:nvSpPr>
          <p:spPr bwMode="auto">
            <a:xfrm rot="10800000">
              <a:off x="2560" y="472"/>
              <a:ext cx="1037" cy="871"/>
            </a:xfrm>
            <a:prstGeom prst="line">
              <a:avLst/>
            </a:prstGeom>
            <a:noFill/>
            <a:ln w="25400">
              <a:solidFill>
                <a:srgbClr val="FFFFFF"/>
              </a:solidFill>
              <a:miter lim="800000"/>
              <a:headEnd type="stealth" w="med" len="med"/>
              <a:tailEnd/>
            </a:ln>
            <a:extLst>
              <a:ext uri="{909E8E84-426E-40DD-AFC4-6F175D3DCCD1}">
                <a14:hiddenFill xmlns:a14="http://schemas.microsoft.com/office/drawing/2010/main">
                  <a:noFill/>
                </a14:hiddenFill>
              </a:ext>
            </a:extLst>
          </p:spPr>
          <p:txBody>
            <a:bodyPr lIns="0" tIns="0" rIns="0" bIns="0"/>
            <a:lstStyle/>
            <a:p>
              <a:endParaRPr lang="en-AU"/>
            </a:p>
          </p:txBody>
        </p:sp>
      </p:grpSp>
      <p:grpSp>
        <p:nvGrpSpPr>
          <p:cNvPr id="13" name="Group 38"/>
          <p:cNvGrpSpPr>
            <a:grpSpLocks/>
          </p:cNvGrpSpPr>
          <p:nvPr/>
        </p:nvGrpSpPr>
        <p:grpSpPr bwMode="auto">
          <a:xfrm>
            <a:off x="500062" y="5419761"/>
            <a:ext cx="4009430" cy="1404193"/>
            <a:chOff x="0" y="0"/>
            <a:chExt cx="3592" cy="1258"/>
          </a:xfrm>
        </p:grpSpPr>
        <p:grpSp>
          <p:nvGrpSpPr>
            <p:cNvPr id="151568" name="Group 36"/>
            <p:cNvGrpSpPr>
              <a:grpSpLocks/>
            </p:cNvGrpSpPr>
            <p:nvPr/>
          </p:nvGrpSpPr>
          <p:grpSpPr bwMode="auto">
            <a:xfrm>
              <a:off x="0" y="0"/>
              <a:ext cx="2560" cy="1258"/>
              <a:chOff x="0" y="0"/>
              <a:chExt cx="2560" cy="1258"/>
            </a:xfrm>
          </p:grpSpPr>
          <p:sp>
            <p:nvSpPr>
              <p:cNvPr id="151570" name="Rectangle 34"/>
              <p:cNvSpPr>
                <a:spLocks/>
              </p:cNvSpPr>
              <p:nvPr/>
            </p:nvSpPr>
            <p:spPr bwMode="auto">
              <a:xfrm>
                <a:off x="0" y="0"/>
                <a:ext cx="2560" cy="1232"/>
              </a:xfrm>
              <a:prstGeom prst="rect">
                <a:avLst/>
              </a:prstGeom>
              <a:solidFill>
                <a:schemeClr val="accent1"/>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2000">
                    <a:solidFill>
                      <a:srgbClr val="0000FF"/>
                    </a:solidFill>
                    <a:latin typeface="Arial" charset="0"/>
                    <a:ea typeface="ヒラギノ角ゴ ProN W3" pitchFamily="1" charset="-128"/>
                    <a:sym typeface="Arial" charset="0"/>
                  </a:defRPr>
                </a:lvl1pPr>
                <a:lvl2pPr marL="37931725" indent="-37474525" eaLnBrk="0" hangingPunct="0">
                  <a:defRPr sz="2000">
                    <a:solidFill>
                      <a:srgbClr val="0000FF"/>
                    </a:solidFill>
                    <a:latin typeface="Arial" charset="0"/>
                    <a:ea typeface="ヒラギノ角ゴ ProN W3" pitchFamily="1" charset="-128"/>
                    <a:sym typeface="Arial" charset="0"/>
                  </a:defRPr>
                </a:lvl2pPr>
                <a:lvl3pPr eaLnBrk="0" hangingPunct="0">
                  <a:defRPr sz="2000">
                    <a:solidFill>
                      <a:srgbClr val="0000FF"/>
                    </a:solidFill>
                    <a:latin typeface="Arial" charset="0"/>
                    <a:ea typeface="ヒラギノ角ゴ ProN W3" pitchFamily="1" charset="-128"/>
                    <a:sym typeface="Arial" charset="0"/>
                  </a:defRPr>
                </a:lvl3pPr>
                <a:lvl4pPr eaLnBrk="0" hangingPunct="0">
                  <a:defRPr sz="2000">
                    <a:solidFill>
                      <a:srgbClr val="0000FF"/>
                    </a:solidFill>
                    <a:latin typeface="Arial" charset="0"/>
                    <a:ea typeface="ヒラギノ角ゴ ProN W3" pitchFamily="1" charset="-128"/>
                    <a:sym typeface="Arial" charset="0"/>
                  </a:defRPr>
                </a:lvl4pPr>
                <a:lvl5pPr eaLnBrk="0" hangingPunct="0">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9pPr>
              </a:lstStyle>
              <a:p>
                <a:pPr eaLnBrk="1" hangingPunct="1"/>
                <a:endParaRPr lang="en-US" altLang="en-US"/>
              </a:p>
            </p:txBody>
          </p:sp>
          <p:sp>
            <p:nvSpPr>
              <p:cNvPr id="151571" name="Rectangle 35"/>
              <p:cNvSpPr>
                <a:spLocks/>
              </p:cNvSpPr>
              <p:nvPr/>
            </p:nvSpPr>
            <p:spPr bwMode="auto">
              <a:xfrm>
                <a:off x="56" y="201"/>
                <a:ext cx="2400" cy="1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000">
                    <a:solidFill>
                      <a:srgbClr val="0000FF"/>
                    </a:solidFill>
                    <a:latin typeface="Arial" charset="0"/>
                    <a:ea typeface="ヒラギノ角ゴ ProN W3" pitchFamily="1" charset="-128"/>
                    <a:sym typeface="Arial" charset="0"/>
                  </a:defRPr>
                </a:lvl2pPr>
                <a:lvl3pPr eaLnBrk="0" hangingPunct="0">
                  <a:tabLst>
                    <a:tab pos="520700" algn="l"/>
                  </a:tabLst>
                  <a:defRPr sz="2000">
                    <a:solidFill>
                      <a:srgbClr val="0000FF"/>
                    </a:solidFill>
                    <a:latin typeface="Arial" charset="0"/>
                    <a:ea typeface="ヒラギノ角ゴ ProN W3" pitchFamily="1" charset="-128"/>
                    <a:sym typeface="Arial" charset="0"/>
                  </a:defRPr>
                </a:lvl3pPr>
                <a:lvl4pPr eaLnBrk="0" hangingPunct="0">
                  <a:tabLst>
                    <a:tab pos="520700" algn="l"/>
                  </a:tabLst>
                  <a:defRPr sz="2000">
                    <a:solidFill>
                      <a:srgbClr val="0000FF"/>
                    </a:solidFill>
                    <a:latin typeface="Arial" charset="0"/>
                    <a:ea typeface="ヒラギノ角ゴ ProN W3" pitchFamily="1" charset="-128"/>
                    <a:sym typeface="Arial" charset="0"/>
                  </a:defRPr>
                </a:lvl4pPr>
                <a:lvl5pPr eaLnBrk="0" hangingPunct="0">
                  <a:tabLst>
                    <a:tab pos="520700" algn="l"/>
                  </a:tabLst>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9pPr>
              </a:lstStyle>
              <a:p>
                <a:pPr eaLnBrk="1" hangingPunct="1"/>
                <a:r>
                  <a:rPr lang="en-US" altLang="en-US" sz="1300" b="1" dirty="0">
                    <a:solidFill>
                      <a:srgbClr val="005481"/>
                    </a:solidFill>
                    <a:cs typeface="Arial" charset="0"/>
                  </a:rPr>
                  <a:t>Luteinizing  Hormone</a:t>
                </a:r>
              </a:p>
              <a:p>
                <a:pPr eaLnBrk="1" hangingPunct="1"/>
                <a:r>
                  <a:rPr lang="en-US" altLang="en-US" sz="1300" b="1" dirty="0">
                    <a:solidFill>
                      <a:schemeClr val="bg1"/>
                    </a:solidFill>
                    <a:cs typeface="Arial" charset="0"/>
                  </a:rPr>
                  <a:t>In females</a:t>
                </a:r>
                <a:r>
                  <a:rPr lang="en-US" altLang="en-US" sz="1300" dirty="0">
                    <a:solidFill>
                      <a:schemeClr val="bg1"/>
                    </a:solidFill>
                    <a:cs typeface="Arial" charset="0"/>
                  </a:rPr>
                  <a:t>: Stimulates secretion </a:t>
                </a:r>
                <a:br>
                  <a:rPr lang="en-US" altLang="en-US" sz="1300" dirty="0">
                    <a:solidFill>
                      <a:schemeClr val="bg1"/>
                    </a:solidFill>
                    <a:cs typeface="Arial" charset="0"/>
                  </a:rPr>
                </a:br>
                <a:r>
                  <a:rPr lang="en-US" altLang="en-US" sz="1300" dirty="0">
                    <a:solidFill>
                      <a:schemeClr val="bg1"/>
                    </a:solidFill>
                    <a:cs typeface="Arial" charset="0"/>
                  </a:rPr>
                  <a:t>of ovarian hormones, ovulation, and formation of the corpus </a:t>
                </a:r>
                <a:r>
                  <a:rPr lang="en-US" altLang="en-US" sz="1300" dirty="0" err="1">
                    <a:solidFill>
                      <a:schemeClr val="bg1"/>
                    </a:solidFill>
                    <a:cs typeface="Arial" charset="0"/>
                  </a:rPr>
                  <a:t>luteum</a:t>
                </a:r>
                <a:r>
                  <a:rPr lang="en-US" altLang="en-US" sz="1300" dirty="0">
                    <a:solidFill>
                      <a:schemeClr val="bg1"/>
                    </a:solidFill>
                    <a:cs typeface="Arial" charset="0"/>
                  </a:rPr>
                  <a:t>.</a:t>
                </a:r>
              </a:p>
              <a:p>
                <a:pPr eaLnBrk="1" hangingPunct="1"/>
                <a:r>
                  <a:rPr lang="en-US" altLang="en-US" sz="1300" b="1" dirty="0">
                    <a:solidFill>
                      <a:schemeClr val="bg1"/>
                    </a:solidFill>
                    <a:cs typeface="Arial" charset="0"/>
                  </a:rPr>
                  <a:t>In males</a:t>
                </a:r>
                <a:r>
                  <a:rPr lang="en-US" altLang="en-US" sz="1300" dirty="0">
                    <a:solidFill>
                      <a:schemeClr val="bg1"/>
                    </a:solidFill>
                    <a:cs typeface="Arial" charset="0"/>
                  </a:rPr>
                  <a:t>: (ICSH) Stimulates synthesis and secretion of testosterone</a:t>
                </a:r>
                <a:r>
                  <a:rPr lang="en-US" altLang="en-US" sz="1300" dirty="0">
                    <a:solidFill>
                      <a:srgbClr val="000000"/>
                    </a:solidFill>
                    <a:cs typeface="Arial" charset="0"/>
                  </a:rPr>
                  <a:t>.</a:t>
                </a:r>
              </a:p>
            </p:txBody>
          </p:sp>
        </p:grpSp>
        <p:sp>
          <p:nvSpPr>
            <p:cNvPr id="151569" name="Line 37"/>
            <p:cNvSpPr>
              <a:spLocks noChangeShapeType="1"/>
            </p:cNvSpPr>
            <p:nvPr/>
          </p:nvSpPr>
          <p:spPr bwMode="auto">
            <a:xfrm flipH="1">
              <a:off x="2552" y="288"/>
              <a:ext cx="1040" cy="288"/>
            </a:xfrm>
            <a:prstGeom prst="line">
              <a:avLst/>
            </a:prstGeom>
            <a:noFill/>
            <a:ln w="25400">
              <a:solidFill>
                <a:srgbClr val="FFFFFF"/>
              </a:solidFill>
              <a:miter lim="800000"/>
              <a:headEnd type="stealth" w="med" len="med"/>
              <a:tailEnd/>
            </a:ln>
            <a:extLst>
              <a:ext uri="{909E8E84-426E-40DD-AFC4-6F175D3DCCD1}">
                <a14:hiddenFill xmlns:a14="http://schemas.microsoft.com/office/drawing/2010/main">
                  <a:noFill/>
                </a14:hiddenFill>
              </a:ext>
            </a:extLst>
          </p:spPr>
          <p:txBody>
            <a:bodyPr lIns="0" tIns="0" rIns="0" bIns="0"/>
            <a:lstStyle/>
            <a:p>
              <a:endParaRPr lang="en-AU"/>
            </a:p>
          </p:txBody>
        </p:sp>
      </p:grpSp>
      <p:grpSp>
        <p:nvGrpSpPr>
          <p:cNvPr id="15" name="Group 43"/>
          <p:cNvGrpSpPr>
            <a:grpSpLocks/>
          </p:cNvGrpSpPr>
          <p:nvPr/>
        </p:nvGrpSpPr>
        <p:grpSpPr bwMode="auto">
          <a:xfrm>
            <a:off x="5381253" y="6062142"/>
            <a:ext cx="3003723" cy="617265"/>
            <a:chOff x="0" y="407"/>
            <a:chExt cx="2690" cy="553"/>
          </a:xfrm>
        </p:grpSpPr>
        <p:grpSp>
          <p:nvGrpSpPr>
            <p:cNvPr id="151564" name="Group 41"/>
            <p:cNvGrpSpPr>
              <a:grpSpLocks/>
            </p:cNvGrpSpPr>
            <p:nvPr/>
          </p:nvGrpSpPr>
          <p:grpSpPr bwMode="auto">
            <a:xfrm>
              <a:off x="749" y="407"/>
              <a:ext cx="1941" cy="553"/>
              <a:chOff x="-5" y="407"/>
              <a:chExt cx="1941" cy="553"/>
            </a:xfrm>
          </p:grpSpPr>
          <p:sp>
            <p:nvSpPr>
              <p:cNvPr id="151566" name="Rectangle 39"/>
              <p:cNvSpPr>
                <a:spLocks/>
              </p:cNvSpPr>
              <p:nvPr/>
            </p:nvSpPr>
            <p:spPr bwMode="auto">
              <a:xfrm>
                <a:off x="-5" y="407"/>
                <a:ext cx="1941" cy="553"/>
              </a:xfrm>
              <a:prstGeom prst="rect">
                <a:avLst/>
              </a:prstGeom>
              <a:solidFill>
                <a:schemeClr val="accent1"/>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2000">
                    <a:solidFill>
                      <a:srgbClr val="0000FF"/>
                    </a:solidFill>
                    <a:latin typeface="Arial" charset="0"/>
                    <a:ea typeface="ヒラギノ角ゴ ProN W3" pitchFamily="1" charset="-128"/>
                    <a:sym typeface="Arial" charset="0"/>
                  </a:defRPr>
                </a:lvl1pPr>
                <a:lvl2pPr marL="37931725" indent="-37474525" eaLnBrk="0" hangingPunct="0">
                  <a:defRPr sz="2000">
                    <a:solidFill>
                      <a:srgbClr val="0000FF"/>
                    </a:solidFill>
                    <a:latin typeface="Arial" charset="0"/>
                    <a:ea typeface="ヒラギノ角ゴ ProN W3" pitchFamily="1" charset="-128"/>
                    <a:sym typeface="Arial" charset="0"/>
                  </a:defRPr>
                </a:lvl2pPr>
                <a:lvl3pPr eaLnBrk="0" hangingPunct="0">
                  <a:defRPr sz="2000">
                    <a:solidFill>
                      <a:srgbClr val="0000FF"/>
                    </a:solidFill>
                    <a:latin typeface="Arial" charset="0"/>
                    <a:ea typeface="ヒラギノ角ゴ ProN W3" pitchFamily="1" charset="-128"/>
                    <a:sym typeface="Arial" charset="0"/>
                  </a:defRPr>
                </a:lvl3pPr>
                <a:lvl4pPr eaLnBrk="0" hangingPunct="0">
                  <a:defRPr sz="2000">
                    <a:solidFill>
                      <a:srgbClr val="0000FF"/>
                    </a:solidFill>
                    <a:latin typeface="Arial" charset="0"/>
                    <a:ea typeface="ヒラギノ角ゴ ProN W3" pitchFamily="1" charset="-128"/>
                    <a:sym typeface="Arial" charset="0"/>
                  </a:defRPr>
                </a:lvl4pPr>
                <a:lvl5pPr eaLnBrk="0" hangingPunct="0">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9pPr>
              </a:lstStyle>
              <a:p>
                <a:pPr eaLnBrk="1" hangingPunct="1"/>
                <a:endParaRPr lang="en-US" altLang="en-US"/>
              </a:p>
            </p:txBody>
          </p:sp>
          <p:sp>
            <p:nvSpPr>
              <p:cNvPr id="151567" name="Rectangle 40"/>
              <p:cNvSpPr>
                <a:spLocks/>
              </p:cNvSpPr>
              <p:nvPr/>
            </p:nvSpPr>
            <p:spPr bwMode="auto">
              <a:xfrm>
                <a:off x="16" y="407"/>
                <a:ext cx="1896" cy="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000">
                    <a:solidFill>
                      <a:srgbClr val="0000FF"/>
                    </a:solidFill>
                    <a:latin typeface="Arial" charset="0"/>
                    <a:ea typeface="ヒラギノ角ゴ ProN W3" pitchFamily="1" charset="-128"/>
                    <a:sym typeface="Arial" charset="0"/>
                  </a:defRPr>
                </a:lvl2pPr>
                <a:lvl3pPr eaLnBrk="0" hangingPunct="0">
                  <a:tabLst>
                    <a:tab pos="520700" algn="l"/>
                  </a:tabLst>
                  <a:defRPr sz="2000">
                    <a:solidFill>
                      <a:srgbClr val="0000FF"/>
                    </a:solidFill>
                    <a:latin typeface="Arial" charset="0"/>
                    <a:ea typeface="ヒラギノ角ゴ ProN W3" pitchFamily="1" charset="-128"/>
                    <a:sym typeface="Arial" charset="0"/>
                  </a:defRPr>
                </a:lvl3pPr>
                <a:lvl4pPr eaLnBrk="0" hangingPunct="0">
                  <a:tabLst>
                    <a:tab pos="520700" algn="l"/>
                  </a:tabLst>
                  <a:defRPr sz="2000">
                    <a:solidFill>
                      <a:srgbClr val="0000FF"/>
                    </a:solidFill>
                    <a:latin typeface="Arial" charset="0"/>
                    <a:ea typeface="ヒラギノ角ゴ ProN W3" pitchFamily="1" charset="-128"/>
                    <a:sym typeface="Arial" charset="0"/>
                  </a:defRPr>
                </a:lvl4pPr>
                <a:lvl5pPr eaLnBrk="0" hangingPunct="0">
                  <a:tabLst>
                    <a:tab pos="520700" algn="l"/>
                  </a:tabLst>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9pPr>
              </a:lstStyle>
              <a:p>
                <a:pPr eaLnBrk="1" hangingPunct="1"/>
                <a:r>
                  <a:rPr lang="en-US" altLang="en-US" sz="1300" b="1" dirty="0" err="1">
                    <a:solidFill>
                      <a:srgbClr val="005481"/>
                    </a:solidFill>
                    <a:cs typeface="Arial" charset="0"/>
                  </a:rPr>
                  <a:t>Melanophore</a:t>
                </a:r>
                <a:r>
                  <a:rPr lang="en-US" altLang="en-US" sz="1300" b="1" dirty="0">
                    <a:solidFill>
                      <a:srgbClr val="005481"/>
                    </a:solidFill>
                    <a:cs typeface="Arial" charset="0"/>
                  </a:rPr>
                  <a:t> Stimulating Hormone</a:t>
                </a:r>
              </a:p>
              <a:p>
                <a:pPr eaLnBrk="1" hangingPunct="1"/>
                <a:r>
                  <a:rPr lang="en-US" altLang="en-US" sz="1300" dirty="0">
                    <a:solidFill>
                      <a:schemeClr val="bg1"/>
                    </a:solidFill>
                    <a:cs typeface="Arial" charset="0"/>
                  </a:rPr>
                  <a:t>Increases melanin synthesis and dispersal in the skin’s melanocytes</a:t>
                </a:r>
                <a:r>
                  <a:rPr lang="en-US" altLang="en-US" sz="1300" dirty="0">
                    <a:solidFill>
                      <a:srgbClr val="000000"/>
                    </a:solidFill>
                    <a:cs typeface="Arial" charset="0"/>
                  </a:rPr>
                  <a:t>.</a:t>
                </a:r>
              </a:p>
            </p:txBody>
          </p:sp>
        </p:grpSp>
        <p:sp>
          <p:nvSpPr>
            <p:cNvPr id="151565" name="Line 42"/>
            <p:cNvSpPr>
              <a:spLocks noChangeShapeType="1"/>
            </p:cNvSpPr>
            <p:nvPr/>
          </p:nvSpPr>
          <p:spPr bwMode="auto">
            <a:xfrm rot="10800000" flipH="1">
              <a:off x="0" y="458"/>
              <a:ext cx="749" cy="179"/>
            </a:xfrm>
            <a:prstGeom prst="line">
              <a:avLst/>
            </a:prstGeom>
            <a:noFill/>
            <a:ln w="25400">
              <a:solidFill>
                <a:srgbClr val="FFFFFF"/>
              </a:solidFill>
              <a:miter lim="800000"/>
              <a:headEnd type="stealth" w="med" len="med"/>
              <a:tailEnd/>
            </a:ln>
            <a:extLst>
              <a:ext uri="{909E8E84-426E-40DD-AFC4-6F175D3DCCD1}">
                <a14:hiddenFill xmlns:a14="http://schemas.microsoft.com/office/drawing/2010/main">
                  <a:noFill/>
                </a14:hiddenFill>
              </a:ext>
            </a:extLst>
          </p:spPr>
          <p:txBody>
            <a:bodyPr lIns="0" tIns="0" rIns="0" bIns="0"/>
            <a:lstStyle/>
            <a:p>
              <a:endParaRPr lang="en-AU"/>
            </a:p>
          </p:txBody>
        </p:sp>
      </p:grpSp>
      <p:sp>
        <p:nvSpPr>
          <p:cNvPr id="151563" name="Rectangle 44"/>
          <p:cNvSpPr>
            <a:spLocks noGrp="1" noChangeArrowheads="1"/>
          </p:cNvSpPr>
          <p:nvPr>
            <p:ph type="title"/>
          </p:nvPr>
        </p:nvSpPr>
        <p:spPr>
          <a:xfrm>
            <a:off x="500062" y="169665"/>
            <a:ext cx="5322094" cy="1099096"/>
          </a:xfrm>
        </p:spPr>
        <p:txBody>
          <a:bodyPr/>
          <a:lstStyle/>
          <a:p>
            <a:pPr>
              <a:tabLst>
                <a:tab pos="669703" algn="l"/>
              </a:tabLst>
            </a:pPr>
            <a:r>
              <a:rPr lang="en-US" altLang="en-US" dirty="0"/>
              <a:t>Anterior Pituitary</a:t>
            </a:r>
          </a:p>
        </p:txBody>
      </p:sp>
    </p:spTree>
    <p:extLst>
      <p:ext uri="{BB962C8B-B14F-4D97-AF65-F5344CB8AC3E}">
        <p14:creationId xmlns:p14="http://schemas.microsoft.com/office/powerpoint/2010/main" val="1510886232"/>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7586">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7586">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7"/>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15"/>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13"/>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499"/>
                                          </p:stCondLst>
                                        </p:cTn>
                                        <p:tgtEl>
                                          <p:spTgt spid="11"/>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499"/>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6" grpId="0" build="p" bldLvl="5"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52578" name="Picture 1"/>
          <p:cNvPicPr>
            <a:picLocks noChangeAspect="1" noChangeArrowheads="1"/>
          </p:cNvPicPr>
          <p:nvPr/>
        </p:nvPicPr>
        <p:blipFill>
          <a:blip r:embed="rId2">
            <a:extLst>
              <a:ext uri="{28A0092B-C50C-407E-A947-70E740481C1C}">
                <a14:useLocalDpi xmlns:a14="http://schemas.microsoft.com/office/drawing/2010/main" val="0"/>
              </a:ext>
            </a:extLst>
          </a:blip>
          <a:srcRect b="40485"/>
          <a:stretch>
            <a:fillRect/>
          </a:stretch>
        </p:blipFill>
        <p:spPr bwMode="auto">
          <a:xfrm>
            <a:off x="4116585" y="58043"/>
            <a:ext cx="4214813" cy="6777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152579" name="Rectangle 2"/>
          <p:cNvSpPr>
            <a:spLocks noGrp="1" noChangeArrowheads="1"/>
          </p:cNvSpPr>
          <p:nvPr>
            <p:ph type="title"/>
          </p:nvPr>
        </p:nvSpPr>
        <p:spPr>
          <a:xfrm>
            <a:off x="500062" y="258961"/>
            <a:ext cx="3830836" cy="1393031"/>
          </a:xfrm>
        </p:spPr>
        <p:txBody>
          <a:bodyPr/>
          <a:lstStyle/>
          <a:p>
            <a:pPr>
              <a:tabLst>
                <a:tab pos="669703" algn="l"/>
              </a:tabLst>
            </a:pPr>
            <a:r>
              <a:rPr lang="en-US" altLang="en-US"/>
              <a:t>Posterior Pituitary</a:t>
            </a:r>
          </a:p>
        </p:txBody>
      </p:sp>
      <p:sp>
        <p:nvSpPr>
          <p:cNvPr id="68611" name="Rectangle 3"/>
          <p:cNvSpPr>
            <a:spLocks noGrp="1" noChangeArrowheads="1"/>
          </p:cNvSpPr>
          <p:nvPr>
            <p:ph type="body" idx="1"/>
          </p:nvPr>
        </p:nvSpPr>
        <p:spPr>
          <a:xfrm>
            <a:off x="250031" y="1768078"/>
            <a:ext cx="3652242" cy="2178844"/>
          </a:xfrm>
        </p:spPr>
        <p:txBody>
          <a:bodyPr>
            <a:normAutofit fontScale="85000" lnSpcReduction="10000"/>
          </a:bodyPr>
          <a:lstStyle/>
          <a:p>
            <a:pPr>
              <a:tabLst>
                <a:tab pos="721047" algn="l"/>
                <a:tab pos="1045853" algn="l"/>
              </a:tabLst>
            </a:pPr>
            <a:r>
              <a:rPr lang="en-US" altLang="en-US"/>
              <a:t>The posterior pituitary develops as an extension of the hypothalamus.</a:t>
            </a:r>
          </a:p>
          <a:p>
            <a:pPr lvl="1">
              <a:tabLst>
                <a:tab pos="721047" algn="l"/>
                <a:tab pos="1045853" algn="l"/>
              </a:tabLst>
            </a:pPr>
            <a:r>
              <a:rPr lang="en-US" altLang="en-US"/>
              <a:t>The release of its two hormones oxytocin and antidiuretic hormone occurs directly as a result of nervous input to the hypothalamus.</a:t>
            </a:r>
          </a:p>
        </p:txBody>
      </p:sp>
      <p:grpSp>
        <p:nvGrpSpPr>
          <p:cNvPr id="2" name="Group 8"/>
          <p:cNvGrpSpPr>
            <a:grpSpLocks/>
          </p:cNvGrpSpPr>
          <p:nvPr/>
        </p:nvGrpSpPr>
        <p:grpSpPr bwMode="auto">
          <a:xfrm>
            <a:off x="5124525" y="3446860"/>
            <a:ext cx="3706936" cy="1107281"/>
            <a:chOff x="0" y="0"/>
            <a:chExt cx="3320" cy="992"/>
          </a:xfrm>
        </p:grpSpPr>
        <p:grpSp>
          <p:nvGrpSpPr>
            <p:cNvPr id="152592" name="Group 6"/>
            <p:cNvGrpSpPr>
              <a:grpSpLocks/>
            </p:cNvGrpSpPr>
            <p:nvPr/>
          </p:nvGrpSpPr>
          <p:grpSpPr bwMode="auto">
            <a:xfrm>
              <a:off x="1168" y="0"/>
              <a:ext cx="2152" cy="992"/>
              <a:chOff x="0" y="0"/>
              <a:chExt cx="2152" cy="992"/>
            </a:xfrm>
          </p:grpSpPr>
          <p:sp>
            <p:nvSpPr>
              <p:cNvPr id="152594" name="Rectangle 4"/>
              <p:cNvSpPr>
                <a:spLocks/>
              </p:cNvSpPr>
              <p:nvPr/>
            </p:nvSpPr>
            <p:spPr bwMode="auto">
              <a:xfrm>
                <a:off x="0" y="0"/>
                <a:ext cx="2152" cy="992"/>
              </a:xfrm>
              <a:prstGeom prst="rect">
                <a:avLst/>
              </a:prstGeom>
              <a:solidFill>
                <a:schemeClr val="accent1"/>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2000">
                    <a:solidFill>
                      <a:srgbClr val="0000FF"/>
                    </a:solidFill>
                    <a:latin typeface="Arial" charset="0"/>
                    <a:ea typeface="ヒラギノ角ゴ ProN W3" pitchFamily="1" charset="-128"/>
                    <a:sym typeface="Arial" charset="0"/>
                  </a:defRPr>
                </a:lvl1pPr>
                <a:lvl2pPr marL="37931725" indent="-37474525" eaLnBrk="0" hangingPunct="0">
                  <a:defRPr sz="2000">
                    <a:solidFill>
                      <a:srgbClr val="0000FF"/>
                    </a:solidFill>
                    <a:latin typeface="Arial" charset="0"/>
                    <a:ea typeface="ヒラギノ角ゴ ProN W3" pitchFamily="1" charset="-128"/>
                    <a:sym typeface="Arial" charset="0"/>
                  </a:defRPr>
                </a:lvl2pPr>
                <a:lvl3pPr eaLnBrk="0" hangingPunct="0">
                  <a:defRPr sz="2000">
                    <a:solidFill>
                      <a:srgbClr val="0000FF"/>
                    </a:solidFill>
                    <a:latin typeface="Arial" charset="0"/>
                    <a:ea typeface="ヒラギノ角ゴ ProN W3" pitchFamily="1" charset="-128"/>
                    <a:sym typeface="Arial" charset="0"/>
                  </a:defRPr>
                </a:lvl3pPr>
                <a:lvl4pPr eaLnBrk="0" hangingPunct="0">
                  <a:defRPr sz="2000">
                    <a:solidFill>
                      <a:srgbClr val="0000FF"/>
                    </a:solidFill>
                    <a:latin typeface="Arial" charset="0"/>
                    <a:ea typeface="ヒラギノ角ゴ ProN W3" pitchFamily="1" charset="-128"/>
                    <a:sym typeface="Arial" charset="0"/>
                  </a:defRPr>
                </a:lvl4pPr>
                <a:lvl5pPr eaLnBrk="0" hangingPunct="0">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9pPr>
              </a:lstStyle>
              <a:p>
                <a:pPr eaLnBrk="1" hangingPunct="1"/>
                <a:endParaRPr lang="en-US" altLang="en-US"/>
              </a:p>
            </p:txBody>
          </p:sp>
          <p:sp>
            <p:nvSpPr>
              <p:cNvPr id="152595" name="Rectangle 5"/>
              <p:cNvSpPr>
                <a:spLocks/>
              </p:cNvSpPr>
              <p:nvPr/>
            </p:nvSpPr>
            <p:spPr bwMode="auto">
              <a:xfrm>
                <a:off x="47" y="79"/>
                <a:ext cx="2001" cy="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000">
                    <a:solidFill>
                      <a:srgbClr val="0000FF"/>
                    </a:solidFill>
                    <a:latin typeface="Arial" charset="0"/>
                    <a:ea typeface="ヒラギノ角ゴ ProN W3" pitchFamily="1" charset="-128"/>
                    <a:sym typeface="Arial" charset="0"/>
                  </a:defRPr>
                </a:lvl2pPr>
                <a:lvl3pPr eaLnBrk="0" hangingPunct="0">
                  <a:tabLst>
                    <a:tab pos="520700" algn="l"/>
                  </a:tabLst>
                  <a:defRPr sz="2000">
                    <a:solidFill>
                      <a:srgbClr val="0000FF"/>
                    </a:solidFill>
                    <a:latin typeface="Arial" charset="0"/>
                    <a:ea typeface="ヒラギノ角ゴ ProN W3" pitchFamily="1" charset="-128"/>
                    <a:sym typeface="Arial" charset="0"/>
                  </a:defRPr>
                </a:lvl3pPr>
                <a:lvl4pPr eaLnBrk="0" hangingPunct="0">
                  <a:tabLst>
                    <a:tab pos="520700" algn="l"/>
                  </a:tabLst>
                  <a:defRPr sz="2000">
                    <a:solidFill>
                      <a:srgbClr val="0000FF"/>
                    </a:solidFill>
                    <a:latin typeface="Arial" charset="0"/>
                    <a:ea typeface="ヒラギノ角ゴ ProN W3" pitchFamily="1" charset="-128"/>
                    <a:sym typeface="Arial" charset="0"/>
                  </a:defRPr>
                </a:lvl4pPr>
                <a:lvl5pPr eaLnBrk="0" hangingPunct="0">
                  <a:tabLst>
                    <a:tab pos="520700" algn="l"/>
                  </a:tabLst>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9pPr>
              </a:lstStyle>
              <a:p>
                <a:pPr eaLnBrk="1" hangingPunct="1"/>
                <a:r>
                  <a:rPr lang="en-US" altLang="en-US" sz="1300" b="1" dirty="0">
                    <a:solidFill>
                      <a:srgbClr val="005481"/>
                    </a:solidFill>
                    <a:cs typeface="Arial" charset="0"/>
                  </a:rPr>
                  <a:t>Antidiuretic Hormone (ADH)</a:t>
                </a:r>
              </a:p>
              <a:p>
                <a:pPr eaLnBrk="1" hangingPunct="1"/>
                <a:r>
                  <a:rPr lang="en-US" altLang="en-US" sz="1300" dirty="0">
                    <a:solidFill>
                      <a:schemeClr val="bg1"/>
                    </a:solidFill>
                    <a:cs typeface="Arial" charset="0"/>
                  </a:rPr>
                  <a:t>Acts on the collecting duct of the kidney to increase water reabsorption from the filtrate (urine).</a:t>
                </a:r>
              </a:p>
            </p:txBody>
          </p:sp>
        </p:grpSp>
        <p:sp>
          <p:nvSpPr>
            <p:cNvPr id="152593" name="Line 7"/>
            <p:cNvSpPr>
              <a:spLocks noChangeShapeType="1"/>
            </p:cNvSpPr>
            <p:nvPr/>
          </p:nvSpPr>
          <p:spPr bwMode="auto">
            <a:xfrm>
              <a:off x="0" y="541"/>
              <a:ext cx="1161" cy="0"/>
            </a:xfrm>
            <a:prstGeom prst="line">
              <a:avLst/>
            </a:prstGeom>
            <a:noFill/>
            <a:ln w="25400">
              <a:solidFill>
                <a:srgbClr val="FFFFFF"/>
              </a:solidFill>
              <a:miter lim="800000"/>
              <a:headEnd type="stealth" w="med" len="med"/>
              <a:tailEnd/>
            </a:ln>
            <a:extLst>
              <a:ext uri="{909E8E84-426E-40DD-AFC4-6F175D3DCCD1}">
                <a14:hiddenFill xmlns:a14="http://schemas.microsoft.com/office/drawing/2010/main">
                  <a:noFill/>
                </a14:hiddenFill>
              </a:ext>
            </a:extLst>
          </p:spPr>
          <p:txBody>
            <a:bodyPr lIns="0" tIns="0" rIns="0" bIns="0"/>
            <a:lstStyle/>
            <a:p>
              <a:endParaRPr lang="en-AU"/>
            </a:p>
          </p:txBody>
        </p:sp>
      </p:grpSp>
      <p:grpSp>
        <p:nvGrpSpPr>
          <p:cNvPr id="4" name="Group 13"/>
          <p:cNvGrpSpPr>
            <a:grpSpLocks/>
          </p:cNvGrpSpPr>
          <p:nvPr/>
        </p:nvGrpSpPr>
        <p:grpSpPr bwMode="auto">
          <a:xfrm>
            <a:off x="5524128" y="4986114"/>
            <a:ext cx="3386611" cy="955477"/>
            <a:chOff x="0" y="75"/>
            <a:chExt cx="3033" cy="856"/>
          </a:xfrm>
        </p:grpSpPr>
        <p:grpSp>
          <p:nvGrpSpPr>
            <p:cNvPr id="152588" name="Group 11"/>
            <p:cNvGrpSpPr>
              <a:grpSpLocks/>
            </p:cNvGrpSpPr>
            <p:nvPr/>
          </p:nvGrpSpPr>
          <p:grpSpPr bwMode="auto">
            <a:xfrm>
              <a:off x="1130" y="75"/>
              <a:ext cx="1903" cy="856"/>
              <a:chOff x="56" y="75"/>
              <a:chExt cx="1903" cy="856"/>
            </a:xfrm>
          </p:grpSpPr>
          <p:sp>
            <p:nvSpPr>
              <p:cNvPr id="152590" name="Rectangle 9"/>
              <p:cNvSpPr>
                <a:spLocks/>
              </p:cNvSpPr>
              <p:nvPr/>
            </p:nvSpPr>
            <p:spPr bwMode="auto">
              <a:xfrm>
                <a:off x="71" y="75"/>
                <a:ext cx="1888" cy="856"/>
              </a:xfrm>
              <a:prstGeom prst="rect">
                <a:avLst/>
              </a:prstGeom>
              <a:solidFill>
                <a:schemeClr val="accent1"/>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2000">
                    <a:solidFill>
                      <a:srgbClr val="0000FF"/>
                    </a:solidFill>
                    <a:latin typeface="Arial" charset="0"/>
                    <a:ea typeface="ヒラギノ角ゴ ProN W3" pitchFamily="1" charset="-128"/>
                    <a:sym typeface="Arial" charset="0"/>
                  </a:defRPr>
                </a:lvl1pPr>
                <a:lvl2pPr marL="37931725" indent="-37474525" eaLnBrk="0" hangingPunct="0">
                  <a:defRPr sz="2000">
                    <a:solidFill>
                      <a:srgbClr val="0000FF"/>
                    </a:solidFill>
                    <a:latin typeface="Arial" charset="0"/>
                    <a:ea typeface="ヒラギノ角ゴ ProN W3" pitchFamily="1" charset="-128"/>
                    <a:sym typeface="Arial" charset="0"/>
                  </a:defRPr>
                </a:lvl2pPr>
                <a:lvl3pPr eaLnBrk="0" hangingPunct="0">
                  <a:defRPr sz="2000">
                    <a:solidFill>
                      <a:srgbClr val="0000FF"/>
                    </a:solidFill>
                    <a:latin typeface="Arial" charset="0"/>
                    <a:ea typeface="ヒラギノ角ゴ ProN W3" pitchFamily="1" charset="-128"/>
                    <a:sym typeface="Arial" charset="0"/>
                  </a:defRPr>
                </a:lvl3pPr>
                <a:lvl4pPr eaLnBrk="0" hangingPunct="0">
                  <a:defRPr sz="2000">
                    <a:solidFill>
                      <a:srgbClr val="0000FF"/>
                    </a:solidFill>
                    <a:latin typeface="Arial" charset="0"/>
                    <a:ea typeface="ヒラギノ角ゴ ProN W3" pitchFamily="1" charset="-128"/>
                    <a:sym typeface="Arial" charset="0"/>
                  </a:defRPr>
                </a:lvl4pPr>
                <a:lvl5pPr eaLnBrk="0" hangingPunct="0">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9pPr>
              </a:lstStyle>
              <a:p>
                <a:pPr eaLnBrk="1" hangingPunct="1"/>
                <a:endParaRPr lang="en-US" altLang="en-US"/>
              </a:p>
            </p:txBody>
          </p:sp>
          <p:sp>
            <p:nvSpPr>
              <p:cNvPr id="152591" name="Rectangle 10"/>
              <p:cNvSpPr>
                <a:spLocks/>
              </p:cNvSpPr>
              <p:nvPr/>
            </p:nvSpPr>
            <p:spPr bwMode="auto">
              <a:xfrm>
                <a:off x="56" y="75"/>
                <a:ext cx="1670" cy="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000">
                    <a:solidFill>
                      <a:srgbClr val="0000FF"/>
                    </a:solidFill>
                    <a:latin typeface="Arial" charset="0"/>
                    <a:ea typeface="ヒラギノ角ゴ ProN W3" pitchFamily="1" charset="-128"/>
                    <a:sym typeface="Arial" charset="0"/>
                  </a:defRPr>
                </a:lvl2pPr>
                <a:lvl3pPr eaLnBrk="0" hangingPunct="0">
                  <a:tabLst>
                    <a:tab pos="520700" algn="l"/>
                  </a:tabLst>
                  <a:defRPr sz="2000">
                    <a:solidFill>
                      <a:srgbClr val="0000FF"/>
                    </a:solidFill>
                    <a:latin typeface="Arial" charset="0"/>
                    <a:ea typeface="ヒラギノ角ゴ ProN W3" pitchFamily="1" charset="-128"/>
                    <a:sym typeface="Arial" charset="0"/>
                  </a:defRPr>
                </a:lvl3pPr>
                <a:lvl4pPr eaLnBrk="0" hangingPunct="0">
                  <a:tabLst>
                    <a:tab pos="520700" algn="l"/>
                  </a:tabLst>
                  <a:defRPr sz="2000">
                    <a:solidFill>
                      <a:srgbClr val="0000FF"/>
                    </a:solidFill>
                    <a:latin typeface="Arial" charset="0"/>
                    <a:ea typeface="ヒラギノ角ゴ ProN W3" pitchFamily="1" charset="-128"/>
                    <a:sym typeface="Arial" charset="0"/>
                  </a:defRPr>
                </a:lvl4pPr>
                <a:lvl5pPr eaLnBrk="0" hangingPunct="0">
                  <a:tabLst>
                    <a:tab pos="520700" algn="l"/>
                  </a:tabLst>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9pPr>
              </a:lstStyle>
              <a:p>
                <a:pPr eaLnBrk="1" hangingPunct="1"/>
                <a:r>
                  <a:rPr lang="en-US" altLang="en-US" sz="1300" b="1" dirty="0">
                    <a:solidFill>
                      <a:srgbClr val="005481"/>
                    </a:solidFill>
                    <a:cs typeface="Arial" charset="0"/>
                  </a:rPr>
                  <a:t>Oxytocin</a:t>
                </a:r>
              </a:p>
              <a:p>
                <a:pPr eaLnBrk="1" hangingPunct="1"/>
                <a:r>
                  <a:rPr lang="en-US" altLang="en-US" sz="1300" dirty="0">
                    <a:solidFill>
                      <a:schemeClr val="bg1"/>
                    </a:solidFill>
                    <a:cs typeface="Arial" charset="0"/>
                  </a:rPr>
                  <a:t>Acts on the uterus to stimulate smooth muscle contraction during labor.</a:t>
                </a:r>
              </a:p>
            </p:txBody>
          </p:sp>
        </p:grpSp>
        <p:sp>
          <p:nvSpPr>
            <p:cNvPr id="152589" name="Line 12"/>
            <p:cNvSpPr>
              <a:spLocks noChangeShapeType="1"/>
            </p:cNvSpPr>
            <p:nvPr/>
          </p:nvSpPr>
          <p:spPr bwMode="auto">
            <a:xfrm rot="10800000" flipH="1">
              <a:off x="0" y="423"/>
              <a:ext cx="1234" cy="9"/>
            </a:xfrm>
            <a:prstGeom prst="line">
              <a:avLst/>
            </a:prstGeom>
            <a:noFill/>
            <a:ln w="25400">
              <a:solidFill>
                <a:srgbClr val="FFFFFF"/>
              </a:solidFill>
              <a:miter lim="800000"/>
              <a:headEnd type="stealth" w="med" len="med"/>
              <a:tailEnd/>
            </a:ln>
            <a:extLst>
              <a:ext uri="{909E8E84-426E-40DD-AFC4-6F175D3DCCD1}">
                <a14:hiddenFill xmlns:a14="http://schemas.microsoft.com/office/drawing/2010/main">
                  <a:noFill/>
                </a14:hiddenFill>
              </a:ext>
            </a:extLst>
          </p:spPr>
          <p:txBody>
            <a:bodyPr lIns="0" tIns="0" rIns="0" bIns="0"/>
            <a:lstStyle/>
            <a:p>
              <a:endParaRPr lang="en-AU"/>
            </a:p>
          </p:txBody>
        </p:sp>
      </p:grpSp>
      <p:grpSp>
        <p:nvGrpSpPr>
          <p:cNvPr id="6" name="Group 18"/>
          <p:cNvGrpSpPr>
            <a:grpSpLocks/>
          </p:cNvGrpSpPr>
          <p:nvPr/>
        </p:nvGrpSpPr>
        <p:grpSpPr bwMode="auto">
          <a:xfrm>
            <a:off x="5851178" y="1723430"/>
            <a:ext cx="2979167" cy="1261318"/>
            <a:chOff x="0" y="0"/>
            <a:chExt cx="2669" cy="1130"/>
          </a:xfrm>
        </p:grpSpPr>
        <p:sp>
          <p:nvSpPr>
            <p:cNvPr id="152584" name="Line 14"/>
            <p:cNvSpPr>
              <a:spLocks noChangeShapeType="1"/>
            </p:cNvSpPr>
            <p:nvPr/>
          </p:nvSpPr>
          <p:spPr bwMode="auto">
            <a:xfrm rot="10800000" flipH="1">
              <a:off x="0" y="421"/>
              <a:ext cx="949" cy="709"/>
            </a:xfrm>
            <a:prstGeom prst="line">
              <a:avLst/>
            </a:prstGeom>
            <a:noFill/>
            <a:ln w="25400">
              <a:solidFill>
                <a:srgbClr val="FFFFFF"/>
              </a:solidFill>
              <a:miter lim="800000"/>
              <a:headEnd type="stealth" w="med" len="med"/>
              <a:tailEnd/>
            </a:ln>
            <a:extLst>
              <a:ext uri="{909E8E84-426E-40DD-AFC4-6F175D3DCCD1}">
                <a14:hiddenFill xmlns:a14="http://schemas.microsoft.com/office/drawing/2010/main">
                  <a:noFill/>
                </a14:hiddenFill>
              </a:ext>
            </a:extLst>
          </p:spPr>
          <p:txBody>
            <a:bodyPr lIns="0" tIns="0" rIns="0" bIns="0"/>
            <a:lstStyle/>
            <a:p>
              <a:endParaRPr lang="en-AU"/>
            </a:p>
          </p:txBody>
        </p:sp>
        <p:grpSp>
          <p:nvGrpSpPr>
            <p:cNvPr id="152585" name="Group 17"/>
            <p:cNvGrpSpPr>
              <a:grpSpLocks/>
            </p:cNvGrpSpPr>
            <p:nvPr/>
          </p:nvGrpSpPr>
          <p:grpSpPr bwMode="auto">
            <a:xfrm>
              <a:off x="941" y="0"/>
              <a:ext cx="1728" cy="856"/>
              <a:chOff x="0" y="0"/>
              <a:chExt cx="1728" cy="856"/>
            </a:xfrm>
          </p:grpSpPr>
          <p:sp>
            <p:nvSpPr>
              <p:cNvPr id="152586" name="Rectangle 15"/>
              <p:cNvSpPr>
                <a:spLocks/>
              </p:cNvSpPr>
              <p:nvPr/>
            </p:nvSpPr>
            <p:spPr bwMode="auto">
              <a:xfrm>
                <a:off x="0" y="0"/>
                <a:ext cx="1728" cy="856"/>
              </a:xfrm>
              <a:prstGeom prst="rect">
                <a:avLst/>
              </a:prstGeom>
              <a:solidFill>
                <a:schemeClr val="accent1"/>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2000">
                    <a:solidFill>
                      <a:srgbClr val="0000FF"/>
                    </a:solidFill>
                    <a:latin typeface="Arial" charset="0"/>
                    <a:ea typeface="ヒラギノ角ゴ ProN W3" pitchFamily="1" charset="-128"/>
                    <a:sym typeface="Arial" charset="0"/>
                  </a:defRPr>
                </a:lvl1pPr>
                <a:lvl2pPr marL="37931725" indent="-37474525" eaLnBrk="0" hangingPunct="0">
                  <a:defRPr sz="2000">
                    <a:solidFill>
                      <a:srgbClr val="0000FF"/>
                    </a:solidFill>
                    <a:latin typeface="Arial" charset="0"/>
                    <a:ea typeface="ヒラギノ角ゴ ProN W3" pitchFamily="1" charset="-128"/>
                    <a:sym typeface="Arial" charset="0"/>
                  </a:defRPr>
                </a:lvl2pPr>
                <a:lvl3pPr eaLnBrk="0" hangingPunct="0">
                  <a:defRPr sz="2000">
                    <a:solidFill>
                      <a:srgbClr val="0000FF"/>
                    </a:solidFill>
                    <a:latin typeface="Arial" charset="0"/>
                    <a:ea typeface="ヒラギノ角ゴ ProN W3" pitchFamily="1" charset="-128"/>
                    <a:sym typeface="Arial" charset="0"/>
                  </a:defRPr>
                </a:lvl3pPr>
                <a:lvl4pPr eaLnBrk="0" hangingPunct="0">
                  <a:defRPr sz="2000">
                    <a:solidFill>
                      <a:srgbClr val="0000FF"/>
                    </a:solidFill>
                    <a:latin typeface="Arial" charset="0"/>
                    <a:ea typeface="ヒラギノ角ゴ ProN W3" pitchFamily="1" charset="-128"/>
                    <a:sym typeface="Arial" charset="0"/>
                  </a:defRPr>
                </a:lvl4pPr>
                <a:lvl5pPr eaLnBrk="0" hangingPunct="0">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9pPr>
              </a:lstStyle>
              <a:p>
                <a:pPr eaLnBrk="1" hangingPunct="1"/>
                <a:endParaRPr lang="en-US" altLang="en-US"/>
              </a:p>
            </p:txBody>
          </p:sp>
          <p:sp>
            <p:nvSpPr>
              <p:cNvPr id="152587" name="Rectangle 16"/>
              <p:cNvSpPr>
                <a:spLocks/>
              </p:cNvSpPr>
              <p:nvPr/>
            </p:nvSpPr>
            <p:spPr bwMode="auto">
              <a:xfrm>
                <a:off x="56" y="83"/>
                <a:ext cx="1600" cy="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000">
                    <a:solidFill>
                      <a:srgbClr val="0000FF"/>
                    </a:solidFill>
                    <a:latin typeface="Arial" charset="0"/>
                    <a:ea typeface="ヒラギノ角ゴ ProN W3" pitchFamily="1" charset="-128"/>
                    <a:sym typeface="Arial" charset="0"/>
                  </a:defRPr>
                </a:lvl2pPr>
                <a:lvl3pPr eaLnBrk="0" hangingPunct="0">
                  <a:tabLst>
                    <a:tab pos="520700" algn="l"/>
                  </a:tabLst>
                  <a:defRPr sz="2000">
                    <a:solidFill>
                      <a:srgbClr val="0000FF"/>
                    </a:solidFill>
                    <a:latin typeface="Arial" charset="0"/>
                    <a:ea typeface="ヒラギノ角ゴ ProN W3" pitchFamily="1" charset="-128"/>
                    <a:sym typeface="Arial" charset="0"/>
                  </a:defRPr>
                </a:lvl3pPr>
                <a:lvl4pPr eaLnBrk="0" hangingPunct="0">
                  <a:tabLst>
                    <a:tab pos="520700" algn="l"/>
                  </a:tabLst>
                  <a:defRPr sz="2000">
                    <a:solidFill>
                      <a:srgbClr val="0000FF"/>
                    </a:solidFill>
                    <a:latin typeface="Arial" charset="0"/>
                    <a:ea typeface="ヒラギノ角ゴ ProN W3" pitchFamily="1" charset="-128"/>
                    <a:sym typeface="Arial" charset="0"/>
                  </a:defRPr>
                </a:lvl4pPr>
                <a:lvl5pPr eaLnBrk="0" hangingPunct="0">
                  <a:tabLst>
                    <a:tab pos="520700" algn="l"/>
                  </a:tabLst>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9pPr>
              </a:lstStyle>
              <a:p>
                <a:pPr eaLnBrk="1" hangingPunct="1"/>
                <a:r>
                  <a:rPr lang="en-US" altLang="en-US" sz="1300" b="1" dirty="0">
                    <a:solidFill>
                      <a:srgbClr val="005481"/>
                    </a:solidFill>
                    <a:cs typeface="Arial" charset="0"/>
                  </a:rPr>
                  <a:t>Oxytocin</a:t>
                </a:r>
              </a:p>
              <a:p>
                <a:pPr eaLnBrk="1" hangingPunct="1"/>
                <a:r>
                  <a:rPr lang="en-US" altLang="en-US" sz="1300" dirty="0">
                    <a:solidFill>
                      <a:schemeClr val="bg1"/>
                    </a:solidFill>
                    <a:cs typeface="Arial" charset="0"/>
                  </a:rPr>
                  <a:t>Acts on the mammary glands to stimulate milk ejection (let down).</a:t>
                </a:r>
              </a:p>
            </p:txBody>
          </p:sp>
        </p:grpSp>
      </p:grpSp>
    </p:spTree>
    <p:extLst>
      <p:ext uri="{BB962C8B-B14F-4D97-AF65-F5344CB8AC3E}">
        <p14:creationId xmlns:p14="http://schemas.microsoft.com/office/powerpoint/2010/main" val="3014699403"/>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861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861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1" grpId="0" build="p" bldLvl="5"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1" name="Picture 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5812" y="3392166"/>
            <a:ext cx="1919883" cy="1947788"/>
          </a:xfrm>
          <a:prstGeom prst="rect">
            <a:avLst/>
          </a:prstGeom>
          <a:noFill/>
          <a:ln>
            <a:noFill/>
          </a:ln>
          <a:effectLst>
            <a:outerShdw blurRad="190500" dist="190500" dir="2700000" rotWithShape="0">
              <a:srgbClr val="808080">
                <a:alpha val="42999"/>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130051" name="Rectangle 2"/>
          <p:cNvSpPr>
            <a:spLocks noGrp="1" noChangeArrowheads="1"/>
          </p:cNvSpPr>
          <p:nvPr>
            <p:ph type="title"/>
          </p:nvPr>
        </p:nvSpPr>
        <p:spPr/>
        <p:txBody>
          <a:bodyPr/>
          <a:lstStyle/>
          <a:p>
            <a:pPr>
              <a:tabLst>
                <a:tab pos="669703" algn="l"/>
              </a:tabLst>
            </a:pPr>
            <a:r>
              <a:rPr lang="en-US" altLang="en-US"/>
              <a:t>Antagonistic Hormones</a:t>
            </a:r>
          </a:p>
        </p:txBody>
      </p:sp>
      <p:sp>
        <p:nvSpPr>
          <p:cNvPr id="46083" name="Rectangle 3"/>
          <p:cNvSpPr>
            <a:spLocks noGrp="1" noChangeArrowheads="1"/>
          </p:cNvSpPr>
          <p:nvPr>
            <p:ph type="body" idx="1"/>
          </p:nvPr>
        </p:nvSpPr>
        <p:spPr>
          <a:xfrm>
            <a:off x="250031" y="1259086"/>
            <a:ext cx="7670602" cy="1607344"/>
          </a:xfrm>
        </p:spPr>
        <p:txBody>
          <a:bodyPr>
            <a:normAutofit fontScale="92500" lnSpcReduction="10000"/>
          </a:bodyPr>
          <a:lstStyle/>
          <a:p>
            <a:pPr>
              <a:tabLst>
                <a:tab pos="721047" algn="l"/>
                <a:tab pos="1045853" algn="l"/>
              </a:tabLst>
            </a:pPr>
            <a:r>
              <a:rPr lang="en-US" altLang="en-US"/>
              <a:t>The effects of one hormone are often counteracted by an opposing hormone.</a:t>
            </a:r>
          </a:p>
          <a:p>
            <a:pPr>
              <a:tabLst>
                <a:tab pos="721047" algn="l"/>
                <a:tab pos="1045853" algn="l"/>
              </a:tabLst>
            </a:pPr>
            <a:r>
              <a:rPr lang="en-US" altLang="en-US"/>
              <a:t>Feedback mechanisms adjust the balance of the two hormones to maintain physiological function.</a:t>
            </a:r>
          </a:p>
          <a:p>
            <a:pPr lvl="1">
              <a:tabLst>
                <a:tab pos="721047" algn="l"/>
                <a:tab pos="1045853" algn="l"/>
              </a:tabLst>
            </a:pPr>
            <a:r>
              <a:rPr lang="en-US" altLang="en-US"/>
              <a:t>Example: insulin decreases blood glucose and glucagon raises it.</a:t>
            </a:r>
          </a:p>
        </p:txBody>
      </p:sp>
      <p:sp>
        <p:nvSpPr>
          <p:cNvPr id="130053" name="Rectangle 4"/>
          <p:cNvSpPr>
            <a:spLocks/>
          </p:cNvSpPr>
          <p:nvPr/>
        </p:nvSpPr>
        <p:spPr bwMode="auto">
          <a:xfrm>
            <a:off x="866180" y="5282208"/>
            <a:ext cx="215123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b">
            <a:spAutoFit/>
          </a:bodyPr>
          <a:lstStyle>
            <a:lvl1pPr marL="114300" eaLnBrk="0" hangingPunct="0">
              <a:tabLst>
                <a:tab pos="520700" algn="l"/>
              </a:tabLst>
              <a:defRPr sz="20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000">
                <a:solidFill>
                  <a:srgbClr val="0000FF"/>
                </a:solidFill>
                <a:latin typeface="Arial" charset="0"/>
                <a:ea typeface="ヒラギノ角ゴ ProN W3" pitchFamily="1" charset="-128"/>
                <a:sym typeface="Arial" charset="0"/>
              </a:defRPr>
            </a:lvl2pPr>
            <a:lvl3pPr eaLnBrk="0" hangingPunct="0">
              <a:tabLst>
                <a:tab pos="520700" algn="l"/>
              </a:tabLst>
              <a:defRPr sz="2000">
                <a:solidFill>
                  <a:srgbClr val="0000FF"/>
                </a:solidFill>
                <a:latin typeface="Arial" charset="0"/>
                <a:ea typeface="ヒラギノ角ゴ ProN W3" pitchFamily="1" charset="-128"/>
                <a:sym typeface="Arial" charset="0"/>
              </a:defRPr>
            </a:lvl3pPr>
            <a:lvl4pPr eaLnBrk="0" hangingPunct="0">
              <a:tabLst>
                <a:tab pos="520700" algn="l"/>
              </a:tabLst>
              <a:defRPr sz="2000">
                <a:solidFill>
                  <a:srgbClr val="0000FF"/>
                </a:solidFill>
                <a:latin typeface="Arial" charset="0"/>
                <a:ea typeface="ヒラギノ角ゴ ProN W3" pitchFamily="1" charset="-128"/>
                <a:sym typeface="Arial" charset="0"/>
              </a:defRPr>
            </a:lvl4pPr>
            <a:lvl5pPr eaLnBrk="0" hangingPunct="0">
              <a:tabLst>
                <a:tab pos="520700" algn="l"/>
              </a:tabLst>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9pPr>
          </a:lstStyle>
          <a:p>
            <a:pPr eaLnBrk="1" hangingPunct="1"/>
            <a:r>
              <a:rPr lang="en-US" altLang="en-US" b="1">
                <a:solidFill>
                  <a:srgbClr val="005481"/>
                </a:solidFill>
                <a:cs typeface="Arial" charset="0"/>
              </a:rPr>
              <a:t>Insulin secretion</a:t>
            </a:r>
          </a:p>
        </p:txBody>
      </p:sp>
      <p:pic>
        <p:nvPicPr>
          <p:cNvPr id="46085" name="Picture 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27539" y="3310682"/>
            <a:ext cx="1893094" cy="2160984"/>
          </a:xfrm>
          <a:prstGeom prst="rect">
            <a:avLst/>
          </a:prstGeom>
          <a:noFill/>
          <a:ln>
            <a:noFill/>
          </a:ln>
          <a:effectLst>
            <a:outerShdw blurRad="190500" dist="190500" dir="2700000" algn="ctr" rotWithShape="0">
              <a:srgbClr val="808080">
                <a:alpha val="42999"/>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130055" name="Rectangle 6"/>
          <p:cNvSpPr>
            <a:spLocks/>
          </p:cNvSpPr>
          <p:nvPr/>
        </p:nvSpPr>
        <p:spPr bwMode="auto">
          <a:xfrm>
            <a:off x="6732240" y="5046018"/>
            <a:ext cx="136896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b">
            <a:spAutoFit/>
          </a:bodyPr>
          <a:lstStyle>
            <a:lvl1pPr marL="114300" eaLnBrk="0" hangingPunct="0">
              <a:tabLst>
                <a:tab pos="520700" algn="l"/>
              </a:tabLst>
              <a:defRPr sz="20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000">
                <a:solidFill>
                  <a:srgbClr val="0000FF"/>
                </a:solidFill>
                <a:latin typeface="Arial" charset="0"/>
                <a:ea typeface="ヒラギノ角ゴ ProN W3" pitchFamily="1" charset="-128"/>
                <a:sym typeface="Arial" charset="0"/>
              </a:defRPr>
            </a:lvl2pPr>
            <a:lvl3pPr eaLnBrk="0" hangingPunct="0">
              <a:tabLst>
                <a:tab pos="520700" algn="l"/>
              </a:tabLst>
              <a:defRPr sz="2000">
                <a:solidFill>
                  <a:srgbClr val="0000FF"/>
                </a:solidFill>
                <a:latin typeface="Arial" charset="0"/>
                <a:ea typeface="ヒラギノ角ゴ ProN W3" pitchFamily="1" charset="-128"/>
                <a:sym typeface="Arial" charset="0"/>
              </a:defRPr>
            </a:lvl3pPr>
            <a:lvl4pPr eaLnBrk="0" hangingPunct="0">
              <a:tabLst>
                <a:tab pos="520700" algn="l"/>
              </a:tabLst>
              <a:defRPr sz="2000">
                <a:solidFill>
                  <a:srgbClr val="0000FF"/>
                </a:solidFill>
                <a:latin typeface="Arial" charset="0"/>
                <a:ea typeface="ヒラギノ角ゴ ProN W3" pitchFamily="1" charset="-128"/>
                <a:sym typeface="Arial" charset="0"/>
              </a:defRPr>
            </a:lvl4pPr>
            <a:lvl5pPr eaLnBrk="0" hangingPunct="0">
              <a:tabLst>
                <a:tab pos="520700" algn="l"/>
              </a:tabLst>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9pPr>
          </a:lstStyle>
          <a:p>
            <a:pPr eaLnBrk="1" hangingPunct="1"/>
            <a:r>
              <a:rPr lang="en-US" altLang="en-US" b="1" dirty="0">
                <a:solidFill>
                  <a:srgbClr val="005481"/>
                </a:solidFill>
                <a:cs typeface="Arial" charset="0"/>
              </a:rPr>
              <a:t>Glucagon </a:t>
            </a:r>
          </a:p>
          <a:p>
            <a:pPr eaLnBrk="1" hangingPunct="1"/>
            <a:r>
              <a:rPr lang="en-US" altLang="en-US" b="1" dirty="0">
                <a:solidFill>
                  <a:srgbClr val="005481"/>
                </a:solidFill>
                <a:cs typeface="Arial" charset="0"/>
              </a:rPr>
              <a:t>secretion</a:t>
            </a:r>
          </a:p>
        </p:txBody>
      </p:sp>
      <p:sp>
        <p:nvSpPr>
          <p:cNvPr id="130056" name="Rectangle 7"/>
          <p:cNvSpPr>
            <a:spLocks/>
          </p:cNvSpPr>
          <p:nvPr/>
        </p:nvSpPr>
        <p:spPr bwMode="auto">
          <a:xfrm>
            <a:off x="4125515" y="2928938"/>
            <a:ext cx="1214438" cy="366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000">
                <a:solidFill>
                  <a:srgbClr val="0000FF"/>
                </a:solidFill>
                <a:latin typeface="Arial" charset="0"/>
                <a:ea typeface="ヒラギノ角ゴ ProN W3" pitchFamily="1" charset="-128"/>
                <a:sym typeface="Arial" charset="0"/>
              </a:defRPr>
            </a:lvl2pPr>
            <a:lvl3pPr eaLnBrk="0" hangingPunct="0">
              <a:tabLst>
                <a:tab pos="520700" algn="l"/>
              </a:tabLst>
              <a:defRPr sz="2000">
                <a:solidFill>
                  <a:srgbClr val="0000FF"/>
                </a:solidFill>
                <a:latin typeface="Arial" charset="0"/>
                <a:ea typeface="ヒラギノ角ゴ ProN W3" pitchFamily="1" charset="-128"/>
                <a:sym typeface="Arial" charset="0"/>
              </a:defRPr>
            </a:lvl3pPr>
            <a:lvl4pPr eaLnBrk="0" hangingPunct="0">
              <a:tabLst>
                <a:tab pos="520700" algn="l"/>
              </a:tabLst>
              <a:defRPr sz="2000">
                <a:solidFill>
                  <a:srgbClr val="0000FF"/>
                </a:solidFill>
                <a:latin typeface="Arial" charset="0"/>
                <a:ea typeface="ヒラギノ角ゴ ProN W3" pitchFamily="1" charset="-128"/>
                <a:sym typeface="Arial" charset="0"/>
              </a:defRPr>
            </a:lvl4pPr>
            <a:lvl5pPr eaLnBrk="0" hangingPunct="0">
              <a:tabLst>
                <a:tab pos="520700" algn="l"/>
              </a:tabLst>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9pPr>
          </a:lstStyle>
          <a:p>
            <a:pPr eaLnBrk="1" hangingPunct="1"/>
            <a:r>
              <a:rPr lang="en-US" altLang="en-US" sz="1300" b="1">
                <a:solidFill>
                  <a:srgbClr val="005481"/>
                </a:solidFill>
                <a:cs typeface="Arial" charset="0"/>
              </a:rPr>
              <a:t>Raises blood glucose level</a:t>
            </a:r>
          </a:p>
        </p:txBody>
      </p:sp>
      <p:sp>
        <p:nvSpPr>
          <p:cNvPr id="130057" name="Rectangle 8"/>
          <p:cNvSpPr>
            <a:spLocks/>
          </p:cNvSpPr>
          <p:nvPr/>
        </p:nvSpPr>
        <p:spPr bwMode="auto">
          <a:xfrm>
            <a:off x="4063008" y="5866805"/>
            <a:ext cx="1339453" cy="366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000">
                <a:solidFill>
                  <a:srgbClr val="0000FF"/>
                </a:solidFill>
                <a:latin typeface="Arial" charset="0"/>
                <a:ea typeface="ヒラギノ角ゴ ProN W3" pitchFamily="1" charset="-128"/>
                <a:sym typeface="Arial" charset="0"/>
              </a:defRPr>
            </a:lvl2pPr>
            <a:lvl3pPr eaLnBrk="0" hangingPunct="0">
              <a:tabLst>
                <a:tab pos="520700" algn="l"/>
              </a:tabLst>
              <a:defRPr sz="2000">
                <a:solidFill>
                  <a:srgbClr val="0000FF"/>
                </a:solidFill>
                <a:latin typeface="Arial" charset="0"/>
                <a:ea typeface="ヒラギノ角ゴ ProN W3" pitchFamily="1" charset="-128"/>
                <a:sym typeface="Arial" charset="0"/>
              </a:defRPr>
            </a:lvl3pPr>
            <a:lvl4pPr eaLnBrk="0" hangingPunct="0">
              <a:tabLst>
                <a:tab pos="520700" algn="l"/>
              </a:tabLst>
              <a:defRPr sz="2000">
                <a:solidFill>
                  <a:srgbClr val="0000FF"/>
                </a:solidFill>
                <a:latin typeface="Arial" charset="0"/>
                <a:ea typeface="ヒラギノ角ゴ ProN W3" pitchFamily="1" charset="-128"/>
                <a:sym typeface="Arial" charset="0"/>
              </a:defRPr>
            </a:lvl4pPr>
            <a:lvl5pPr eaLnBrk="0" hangingPunct="0">
              <a:tabLst>
                <a:tab pos="520700" algn="l"/>
              </a:tabLst>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9pPr>
          </a:lstStyle>
          <a:p>
            <a:pPr eaLnBrk="1" hangingPunct="1"/>
            <a:r>
              <a:rPr lang="en-US" altLang="en-US" sz="1300" b="1">
                <a:solidFill>
                  <a:srgbClr val="005481"/>
                </a:solidFill>
                <a:cs typeface="Arial" charset="0"/>
              </a:rPr>
              <a:t>Lowers blood glucose level</a:t>
            </a:r>
          </a:p>
        </p:txBody>
      </p:sp>
      <p:sp>
        <p:nvSpPr>
          <p:cNvPr id="130058" name="Rectangle 9"/>
          <p:cNvSpPr>
            <a:spLocks/>
          </p:cNvSpPr>
          <p:nvPr/>
        </p:nvSpPr>
        <p:spPr bwMode="auto">
          <a:xfrm>
            <a:off x="4339828" y="4884539"/>
            <a:ext cx="1759148" cy="553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000">
                <a:solidFill>
                  <a:srgbClr val="0000FF"/>
                </a:solidFill>
                <a:latin typeface="Arial" charset="0"/>
                <a:ea typeface="ヒラギノ角ゴ ProN W3" pitchFamily="1" charset="-128"/>
                <a:sym typeface="Arial" charset="0"/>
              </a:defRPr>
            </a:lvl2pPr>
            <a:lvl3pPr eaLnBrk="0" hangingPunct="0">
              <a:tabLst>
                <a:tab pos="520700" algn="l"/>
              </a:tabLst>
              <a:defRPr sz="2000">
                <a:solidFill>
                  <a:srgbClr val="0000FF"/>
                </a:solidFill>
                <a:latin typeface="Arial" charset="0"/>
                <a:ea typeface="ヒラギノ角ゴ ProN W3" pitchFamily="1" charset="-128"/>
                <a:sym typeface="Arial" charset="0"/>
              </a:defRPr>
            </a:lvl3pPr>
            <a:lvl4pPr eaLnBrk="0" hangingPunct="0">
              <a:tabLst>
                <a:tab pos="520700" algn="l"/>
              </a:tabLst>
              <a:defRPr sz="2000">
                <a:solidFill>
                  <a:srgbClr val="0000FF"/>
                </a:solidFill>
                <a:latin typeface="Arial" charset="0"/>
                <a:ea typeface="ヒラギノ角ゴ ProN W3" pitchFamily="1" charset="-128"/>
                <a:sym typeface="Arial" charset="0"/>
              </a:defRPr>
            </a:lvl4pPr>
            <a:lvl5pPr eaLnBrk="0" hangingPunct="0">
              <a:tabLst>
                <a:tab pos="520700" algn="l"/>
              </a:tabLst>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9pPr>
          </a:lstStyle>
          <a:p>
            <a:pPr eaLnBrk="1" hangingPunct="1"/>
            <a:r>
              <a:rPr lang="en-US" altLang="en-US" sz="1300">
                <a:solidFill>
                  <a:srgbClr val="005481"/>
                </a:solidFill>
                <a:cs typeface="Arial" charset="0"/>
              </a:rPr>
              <a:t>Decrease in blood glucose stimulates glucagon release</a:t>
            </a:r>
          </a:p>
        </p:txBody>
      </p:sp>
      <p:sp>
        <p:nvSpPr>
          <p:cNvPr id="130059" name="Rectangle 10"/>
          <p:cNvSpPr>
            <a:spLocks/>
          </p:cNvSpPr>
          <p:nvPr/>
        </p:nvSpPr>
        <p:spPr bwMode="auto">
          <a:xfrm>
            <a:off x="3107531" y="3786187"/>
            <a:ext cx="1759148" cy="553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charset="0"/>
                <a:ea typeface="ヒラギノ角ゴ ProN W3" pitchFamily="1" charset="-128"/>
                <a:sym typeface="Arial" charset="0"/>
              </a:defRPr>
            </a:lvl1pPr>
            <a:lvl2pPr marL="37931725" indent="-37474525" eaLnBrk="0" hangingPunct="0">
              <a:tabLst>
                <a:tab pos="520700" algn="l"/>
              </a:tabLst>
              <a:defRPr sz="2000">
                <a:solidFill>
                  <a:srgbClr val="0000FF"/>
                </a:solidFill>
                <a:latin typeface="Arial" charset="0"/>
                <a:ea typeface="ヒラギノ角ゴ ProN W3" pitchFamily="1" charset="-128"/>
                <a:sym typeface="Arial" charset="0"/>
              </a:defRPr>
            </a:lvl2pPr>
            <a:lvl3pPr eaLnBrk="0" hangingPunct="0">
              <a:tabLst>
                <a:tab pos="520700" algn="l"/>
              </a:tabLst>
              <a:defRPr sz="2000">
                <a:solidFill>
                  <a:srgbClr val="0000FF"/>
                </a:solidFill>
                <a:latin typeface="Arial" charset="0"/>
                <a:ea typeface="ヒラギノ角ゴ ProN W3" pitchFamily="1" charset="-128"/>
                <a:sym typeface="Arial" charset="0"/>
              </a:defRPr>
            </a:lvl3pPr>
            <a:lvl4pPr eaLnBrk="0" hangingPunct="0">
              <a:tabLst>
                <a:tab pos="520700" algn="l"/>
              </a:tabLst>
              <a:defRPr sz="2000">
                <a:solidFill>
                  <a:srgbClr val="0000FF"/>
                </a:solidFill>
                <a:latin typeface="Arial" charset="0"/>
                <a:ea typeface="ヒラギノ角ゴ ProN W3" pitchFamily="1" charset="-128"/>
                <a:sym typeface="Arial" charset="0"/>
              </a:defRPr>
            </a:lvl4pPr>
            <a:lvl5pPr eaLnBrk="0" hangingPunct="0">
              <a:tabLst>
                <a:tab pos="520700" algn="l"/>
              </a:tabLst>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tabLst>
                <a:tab pos="520700" algn="l"/>
              </a:tabLst>
              <a:defRPr sz="2000">
                <a:solidFill>
                  <a:srgbClr val="0000FF"/>
                </a:solidFill>
                <a:latin typeface="Arial" charset="0"/>
                <a:ea typeface="ヒラギノ角ゴ ProN W3" pitchFamily="1" charset="-128"/>
                <a:sym typeface="Arial" charset="0"/>
              </a:defRPr>
            </a:lvl9pPr>
          </a:lstStyle>
          <a:p>
            <a:pPr eaLnBrk="1" hangingPunct="1"/>
            <a:r>
              <a:rPr lang="en-US" altLang="en-US" sz="1300">
                <a:solidFill>
                  <a:srgbClr val="005481"/>
                </a:solidFill>
                <a:cs typeface="Arial" charset="0"/>
              </a:rPr>
              <a:t>Increase in blood glucose stimulates insulin release</a:t>
            </a:r>
          </a:p>
        </p:txBody>
      </p:sp>
      <p:grpSp>
        <p:nvGrpSpPr>
          <p:cNvPr id="130060" name="Group 13"/>
          <p:cNvGrpSpPr>
            <a:grpSpLocks/>
          </p:cNvGrpSpPr>
          <p:nvPr/>
        </p:nvGrpSpPr>
        <p:grpSpPr bwMode="auto">
          <a:xfrm flipH="1">
            <a:off x="2625328" y="2738066"/>
            <a:ext cx="4193605" cy="1163092"/>
            <a:chOff x="0" y="0"/>
            <a:chExt cx="3757" cy="1041"/>
          </a:xfrm>
        </p:grpSpPr>
        <p:sp>
          <p:nvSpPr>
            <p:cNvPr id="130066" name="Freeform 11"/>
            <p:cNvSpPr>
              <a:spLocks/>
            </p:cNvSpPr>
            <p:nvPr/>
          </p:nvSpPr>
          <p:spPr bwMode="auto">
            <a:xfrm>
              <a:off x="0" y="349"/>
              <a:ext cx="1286" cy="390"/>
            </a:xfrm>
            <a:custGeom>
              <a:avLst/>
              <a:gdLst>
                <a:gd name="T0" fmla="*/ 0 w 21600"/>
                <a:gd name="T1" fmla="*/ 0 h 21600"/>
                <a:gd name="T2" fmla="*/ 0 w 21600"/>
                <a:gd name="T3" fmla="*/ 0 h 21600"/>
                <a:gd name="T4" fmla="*/ 0 60000 65536"/>
                <a:gd name="T5" fmla="*/ 0 60000 65536"/>
                <a:gd name="T6" fmla="*/ 0 w 21600"/>
                <a:gd name="T7" fmla="*/ 0 h 21600"/>
                <a:gd name="T8" fmla="*/ 21600 w 21600"/>
                <a:gd name="T9" fmla="*/ 21600 h 21600"/>
              </a:gdLst>
              <a:ahLst/>
              <a:cxnLst>
                <a:cxn ang="T4">
                  <a:pos x="T0" y="T1"/>
                </a:cxn>
                <a:cxn ang="T5">
                  <a:pos x="T2" y="T3"/>
                </a:cxn>
              </a:cxnLst>
              <a:rect l="T6" t="T7" r="T8" b="T9"/>
              <a:pathLst>
                <a:path w="21600" h="21600">
                  <a:moveTo>
                    <a:pt x="0" y="21600"/>
                  </a:moveTo>
                  <a:cubicBezTo>
                    <a:pt x="0" y="21600"/>
                    <a:pt x="8275" y="3895"/>
                    <a:pt x="21600" y="0"/>
                  </a:cubicBezTo>
                </a:path>
              </a:pathLst>
            </a:custGeom>
            <a:noFill/>
            <a:ln w="101600">
              <a:solidFill>
                <a:srgbClr val="000000"/>
              </a:solidFill>
              <a:miter lim="800000"/>
              <a:headEnd/>
              <a:tailEnd type="stealth" w="med" len="me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000">
                  <a:solidFill>
                    <a:srgbClr val="0000FF"/>
                  </a:solidFill>
                  <a:latin typeface="Arial" charset="0"/>
                  <a:ea typeface="ヒラギノ角ゴ ProN W3" pitchFamily="1" charset="-128"/>
                  <a:sym typeface="Arial" charset="0"/>
                </a:defRPr>
              </a:lvl1pPr>
              <a:lvl2pPr marL="37931725" indent="-37474525" eaLnBrk="0" hangingPunct="0">
                <a:defRPr sz="2000">
                  <a:solidFill>
                    <a:srgbClr val="0000FF"/>
                  </a:solidFill>
                  <a:latin typeface="Arial" charset="0"/>
                  <a:ea typeface="ヒラギノ角ゴ ProN W3" pitchFamily="1" charset="-128"/>
                  <a:sym typeface="Arial" charset="0"/>
                </a:defRPr>
              </a:lvl2pPr>
              <a:lvl3pPr eaLnBrk="0" hangingPunct="0">
                <a:defRPr sz="2000">
                  <a:solidFill>
                    <a:srgbClr val="0000FF"/>
                  </a:solidFill>
                  <a:latin typeface="Arial" charset="0"/>
                  <a:ea typeface="ヒラギノ角ゴ ProN W3" pitchFamily="1" charset="-128"/>
                  <a:sym typeface="Arial" charset="0"/>
                </a:defRPr>
              </a:lvl3pPr>
              <a:lvl4pPr eaLnBrk="0" hangingPunct="0">
                <a:defRPr sz="2000">
                  <a:solidFill>
                    <a:srgbClr val="0000FF"/>
                  </a:solidFill>
                  <a:latin typeface="Arial" charset="0"/>
                  <a:ea typeface="ヒラギノ角ゴ ProN W3" pitchFamily="1" charset="-128"/>
                  <a:sym typeface="Arial" charset="0"/>
                </a:defRPr>
              </a:lvl4pPr>
              <a:lvl5pPr eaLnBrk="0" hangingPunct="0">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9pPr>
            </a:lstStyle>
            <a:p>
              <a:pPr eaLnBrk="1" hangingPunct="1"/>
              <a:endParaRPr lang="en-US" altLang="en-US"/>
            </a:p>
          </p:txBody>
        </p:sp>
        <p:sp>
          <p:nvSpPr>
            <p:cNvPr id="130067" name="Freeform 12"/>
            <p:cNvSpPr>
              <a:spLocks/>
            </p:cNvSpPr>
            <p:nvPr/>
          </p:nvSpPr>
          <p:spPr bwMode="auto">
            <a:xfrm rot="2032928">
              <a:off x="2471" y="325"/>
              <a:ext cx="1287" cy="390"/>
            </a:xfrm>
            <a:custGeom>
              <a:avLst/>
              <a:gdLst>
                <a:gd name="T0" fmla="*/ 0 w 21600"/>
                <a:gd name="T1" fmla="*/ 0 h 21600"/>
                <a:gd name="T2" fmla="*/ 0 w 21600"/>
                <a:gd name="T3" fmla="*/ 0 h 21600"/>
                <a:gd name="T4" fmla="*/ 0 60000 65536"/>
                <a:gd name="T5" fmla="*/ 0 60000 65536"/>
                <a:gd name="T6" fmla="*/ 0 w 21600"/>
                <a:gd name="T7" fmla="*/ 0 h 21600"/>
                <a:gd name="T8" fmla="*/ 21600 w 21600"/>
                <a:gd name="T9" fmla="*/ 21600 h 21600"/>
              </a:gdLst>
              <a:ahLst/>
              <a:cxnLst>
                <a:cxn ang="T4">
                  <a:pos x="T0" y="T1"/>
                </a:cxn>
                <a:cxn ang="T5">
                  <a:pos x="T2" y="T3"/>
                </a:cxn>
              </a:cxnLst>
              <a:rect l="T6" t="T7" r="T8" b="T9"/>
              <a:pathLst>
                <a:path w="21600" h="21600">
                  <a:moveTo>
                    <a:pt x="0" y="21600"/>
                  </a:moveTo>
                  <a:cubicBezTo>
                    <a:pt x="0" y="21600"/>
                    <a:pt x="8275" y="3895"/>
                    <a:pt x="21600" y="0"/>
                  </a:cubicBezTo>
                </a:path>
              </a:pathLst>
            </a:custGeom>
            <a:noFill/>
            <a:ln w="101600">
              <a:solidFill>
                <a:srgbClr val="000000"/>
              </a:solidFill>
              <a:miter lim="800000"/>
              <a:headEnd/>
              <a:tailEnd type="stealth" w="med" len="me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000">
                  <a:solidFill>
                    <a:srgbClr val="0000FF"/>
                  </a:solidFill>
                  <a:latin typeface="Arial" charset="0"/>
                  <a:ea typeface="ヒラギノ角ゴ ProN W3" pitchFamily="1" charset="-128"/>
                  <a:sym typeface="Arial" charset="0"/>
                </a:defRPr>
              </a:lvl1pPr>
              <a:lvl2pPr marL="37931725" indent="-37474525" eaLnBrk="0" hangingPunct="0">
                <a:defRPr sz="2000">
                  <a:solidFill>
                    <a:srgbClr val="0000FF"/>
                  </a:solidFill>
                  <a:latin typeface="Arial" charset="0"/>
                  <a:ea typeface="ヒラギノ角ゴ ProN W3" pitchFamily="1" charset="-128"/>
                  <a:sym typeface="Arial" charset="0"/>
                </a:defRPr>
              </a:lvl2pPr>
              <a:lvl3pPr eaLnBrk="0" hangingPunct="0">
                <a:defRPr sz="2000">
                  <a:solidFill>
                    <a:srgbClr val="0000FF"/>
                  </a:solidFill>
                  <a:latin typeface="Arial" charset="0"/>
                  <a:ea typeface="ヒラギノ角ゴ ProN W3" pitchFamily="1" charset="-128"/>
                  <a:sym typeface="Arial" charset="0"/>
                </a:defRPr>
              </a:lvl3pPr>
              <a:lvl4pPr eaLnBrk="0" hangingPunct="0">
                <a:defRPr sz="2000">
                  <a:solidFill>
                    <a:srgbClr val="0000FF"/>
                  </a:solidFill>
                  <a:latin typeface="Arial" charset="0"/>
                  <a:ea typeface="ヒラギノ角ゴ ProN W3" pitchFamily="1" charset="-128"/>
                  <a:sym typeface="Arial" charset="0"/>
                </a:defRPr>
              </a:lvl4pPr>
              <a:lvl5pPr eaLnBrk="0" hangingPunct="0">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9pPr>
            </a:lstStyle>
            <a:p>
              <a:pPr eaLnBrk="1" hangingPunct="1"/>
              <a:endParaRPr lang="en-US" altLang="en-US"/>
            </a:p>
          </p:txBody>
        </p:sp>
      </p:grpSp>
      <p:grpSp>
        <p:nvGrpSpPr>
          <p:cNvPr id="130061" name="Group 16"/>
          <p:cNvGrpSpPr>
            <a:grpSpLocks/>
          </p:cNvGrpSpPr>
          <p:nvPr/>
        </p:nvGrpSpPr>
        <p:grpSpPr bwMode="auto">
          <a:xfrm rot="10800000" flipH="1">
            <a:off x="2625328" y="5313164"/>
            <a:ext cx="4193605" cy="1161976"/>
            <a:chOff x="0" y="0"/>
            <a:chExt cx="3757" cy="1041"/>
          </a:xfrm>
        </p:grpSpPr>
        <p:sp>
          <p:nvSpPr>
            <p:cNvPr id="130064" name="Freeform 14"/>
            <p:cNvSpPr>
              <a:spLocks/>
            </p:cNvSpPr>
            <p:nvPr/>
          </p:nvSpPr>
          <p:spPr bwMode="auto">
            <a:xfrm>
              <a:off x="0" y="349"/>
              <a:ext cx="1286" cy="390"/>
            </a:xfrm>
            <a:custGeom>
              <a:avLst/>
              <a:gdLst>
                <a:gd name="T0" fmla="*/ 0 w 21600"/>
                <a:gd name="T1" fmla="*/ 0 h 21600"/>
                <a:gd name="T2" fmla="*/ 0 w 21600"/>
                <a:gd name="T3" fmla="*/ 0 h 21600"/>
                <a:gd name="T4" fmla="*/ 0 60000 65536"/>
                <a:gd name="T5" fmla="*/ 0 60000 65536"/>
                <a:gd name="T6" fmla="*/ 0 w 21600"/>
                <a:gd name="T7" fmla="*/ 0 h 21600"/>
                <a:gd name="T8" fmla="*/ 21600 w 21600"/>
                <a:gd name="T9" fmla="*/ 21600 h 21600"/>
              </a:gdLst>
              <a:ahLst/>
              <a:cxnLst>
                <a:cxn ang="T4">
                  <a:pos x="T0" y="T1"/>
                </a:cxn>
                <a:cxn ang="T5">
                  <a:pos x="T2" y="T3"/>
                </a:cxn>
              </a:cxnLst>
              <a:rect l="T6" t="T7" r="T8" b="T9"/>
              <a:pathLst>
                <a:path w="21600" h="21600">
                  <a:moveTo>
                    <a:pt x="0" y="21600"/>
                  </a:moveTo>
                  <a:cubicBezTo>
                    <a:pt x="0" y="21600"/>
                    <a:pt x="8275" y="3895"/>
                    <a:pt x="21600" y="0"/>
                  </a:cubicBezTo>
                </a:path>
              </a:pathLst>
            </a:custGeom>
            <a:noFill/>
            <a:ln w="101600">
              <a:solidFill>
                <a:srgbClr val="000000"/>
              </a:solidFill>
              <a:miter lim="800000"/>
              <a:headEnd/>
              <a:tailEnd type="stealth" w="med" len="me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000">
                  <a:solidFill>
                    <a:srgbClr val="0000FF"/>
                  </a:solidFill>
                  <a:latin typeface="Arial" charset="0"/>
                  <a:ea typeface="ヒラギノ角ゴ ProN W3" pitchFamily="1" charset="-128"/>
                  <a:sym typeface="Arial" charset="0"/>
                </a:defRPr>
              </a:lvl1pPr>
              <a:lvl2pPr marL="37931725" indent="-37474525" eaLnBrk="0" hangingPunct="0">
                <a:defRPr sz="2000">
                  <a:solidFill>
                    <a:srgbClr val="0000FF"/>
                  </a:solidFill>
                  <a:latin typeface="Arial" charset="0"/>
                  <a:ea typeface="ヒラギノ角ゴ ProN W3" pitchFamily="1" charset="-128"/>
                  <a:sym typeface="Arial" charset="0"/>
                </a:defRPr>
              </a:lvl2pPr>
              <a:lvl3pPr eaLnBrk="0" hangingPunct="0">
                <a:defRPr sz="2000">
                  <a:solidFill>
                    <a:srgbClr val="0000FF"/>
                  </a:solidFill>
                  <a:latin typeface="Arial" charset="0"/>
                  <a:ea typeface="ヒラギノ角ゴ ProN W3" pitchFamily="1" charset="-128"/>
                  <a:sym typeface="Arial" charset="0"/>
                </a:defRPr>
              </a:lvl3pPr>
              <a:lvl4pPr eaLnBrk="0" hangingPunct="0">
                <a:defRPr sz="2000">
                  <a:solidFill>
                    <a:srgbClr val="0000FF"/>
                  </a:solidFill>
                  <a:latin typeface="Arial" charset="0"/>
                  <a:ea typeface="ヒラギノ角ゴ ProN W3" pitchFamily="1" charset="-128"/>
                  <a:sym typeface="Arial" charset="0"/>
                </a:defRPr>
              </a:lvl4pPr>
              <a:lvl5pPr eaLnBrk="0" hangingPunct="0">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9pPr>
            </a:lstStyle>
            <a:p>
              <a:pPr eaLnBrk="1" hangingPunct="1"/>
              <a:endParaRPr lang="en-US" altLang="en-US"/>
            </a:p>
          </p:txBody>
        </p:sp>
        <p:sp>
          <p:nvSpPr>
            <p:cNvPr id="130065" name="Freeform 15"/>
            <p:cNvSpPr>
              <a:spLocks/>
            </p:cNvSpPr>
            <p:nvPr/>
          </p:nvSpPr>
          <p:spPr bwMode="auto">
            <a:xfrm rot="2032928">
              <a:off x="2471" y="325"/>
              <a:ext cx="1287" cy="390"/>
            </a:xfrm>
            <a:custGeom>
              <a:avLst/>
              <a:gdLst>
                <a:gd name="T0" fmla="*/ 0 w 21600"/>
                <a:gd name="T1" fmla="*/ 0 h 21600"/>
                <a:gd name="T2" fmla="*/ 0 w 21600"/>
                <a:gd name="T3" fmla="*/ 0 h 21600"/>
                <a:gd name="T4" fmla="*/ 0 60000 65536"/>
                <a:gd name="T5" fmla="*/ 0 60000 65536"/>
                <a:gd name="T6" fmla="*/ 0 w 21600"/>
                <a:gd name="T7" fmla="*/ 0 h 21600"/>
                <a:gd name="T8" fmla="*/ 21600 w 21600"/>
                <a:gd name="T9" fmla="*/ 21600 h 21600"/>
              </a:gdLst>
              <a:ahLst/>
              <a:cxnLst>
                <a:cxn ang="T4">
                  <a:pos x="T0" y="T1"/>
                </a:cxn>
                <a:cxn ang="T5">
                  <a:pos x="T2" y="T3"/>
                </a:cxn>
              </a:cxnLst>
              <a:rect l="T6" t="T7" r="T8" b="T9"/>
              <a:pathLst>
                <a:path w="21600" h="21600">
                  <a:moveTo>
                    <a:pt x="0" y="21600"/>
                  </a:moveTo>
                  <a:cubicBezTo>
                    <a:pt x="0" y="21600"/>
                    <a:pt x="8275" y="3895"/>
                    <a:pt x="21600" y="0"/>
                  </a:cubicBezTo>
                </a:path>
              </a:pathLst>
            </a:custGeom>
            <a:noFill/>
            <a:ln w="101600">
              <a:solidFill>
                <a:srgbClr val="000000"/>
              </a:solidFill>
              <a:miter lim="800000"/>
              <a:headEnd/>
              <a:tailEnd type="stealth" w="med" len="me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000">
                  <a:solidFill>
                    <a:srgbClr val="0000FF"/>
                  </a:solidFill>
                  <a:latin typeface="Arial" charset="0"/>
                  <a:ea typeface="ヒラギノ角ゴ ProN W3" pitchFamily="1" charset="-128"/>
                  <a:sym typeface="Arial" charset="0"/>
                </a:defRPr>
              </a:lvl1pPr>
              <a:lvl2pPr marL="37931725" indent="-37474525" eaLnBrk="0" hangingPunct="0">
                <a:defRPr sz="2000">
                  <a:solidFill>
                    <a:srgbClr val="0000FF"/>
                  </a:solidFill>
                  <a:latin typeface="Arial" charset="0"/>
                  <a:ea typeface="ヒラギノ角ゴ ProN W3" pitchFamily="1" charset="-128"/>
                  <a:sym typeface="Arial" charset="0"/>
                </a:defRPr>
              </a:lvl2pPr>
              <a:lvl3pPr eaLnBrk="0" hangingPunct="0">
                <a:defRPr sz="2000">
                  <a:solidFill>
                    <a:srgbClr val="0000FF"/>
                  </a:solidFill>
                  <a:latin typeface="Arial" charset="0"/>
                  <a:ea typeface="ヒラギノ角ゴ ProN W3" pitchFamily="1" charset="-128"/>
                  <a:sym typeface="Arial" charset="0"/>
                </a:defRPr>
              </a:lvl3pPr>
              <a:lvl4pPr eaLnBrk="0" hangingPunct="0">
                <a:defRPr sz="2000">
                  <a:solidFill>
                    <a:srgbClr val="0000FF"/>
                  </a:solidFill>
                  <a:latin typeface="Arial" charset="0"/>
                  <a:ea typeface="ヒラギノ角ゴ ProN W3" pitchFamily="1" charset="-128"/>
                  <a:sym typeface="Arial" charset="0"/>
                </a:defRPr>
              </a:lvl4pPr>
              <a:lvl5pPr eaLnBrk="0" hangingPunct="0">
                <a:defRPr sz="2000">
                  <a:solidFill>
                    <a:srgbClr val="0000FF"/>
                  </a:solidFill>
                  <a:latin typeface="Arial" charset="0"/>
                  <a:ea typeface="ヒラギノ角ゴ ProN W3" pitchFamily="1" charset="-128"/>
                  <a:sym typeface="Arial" charset="0"/>
                </a:defRPr>
              </a:lvl5pPr>
              <a:lvl6pPr marL="4572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6pPr>
              <a:lvl7pPr marL="9144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7pPr>
              <a:lvl8pPr marL="13716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8pPr>
              <a:lvl9pPr marL="1828800" eaLnBrk="0" fontAlgn="base" hangingPunct="0">
                <a:spcBef>
                  <a:spcPct val="0"/>
                </a:spcBef>
                <a:spcAft>
                  <a:spcPct val="0"/>
                </a:spcAft>
                <a:defRPr sz="2000">
                  <a:solidFill>
                    <a:srgbClr val="0000FF"/>
                  </a:solidFill>
                  <a:latin typeface="Arial" charset="0"/>
                  <a:ea typeface="ヒラギノ角ゴ ProN W3" pitchFamily="1" charset="-128"/>
                  <a:sym typeface="Arial" charset="0"/>
                </a:defRPr>
              </a:lvl9pPr>
            </a:lstStyle>
            <a:p>
              <a:pPr eaLnBrk="1" hangingPunct="1"/>
              <a:endParaRPr lang="en-US" altLang="en-US"/>
            </a:p>
          </p:txBody>
        </p:sp>
      </p:grpSp>
      <p:sp>
        <p:nvSpPr>
          <p:cNvPr id="130062" name="Line 17"/>
          <p:cNvSpPr>
            <a:spLocks noChangeShapeType="1"/>
          </p:cNvSpPr>
          <p:nvPr/>
        </p:nvSpPr>
        <p:spPr bwMode="auto">
          <a:xfrm>
            <a:off x="3474765" y="3305101"/>
            <a:ext cx="204266" cy="456530"/>
          </a:xfrm>
          <a:prstGeom prst="line">
            <a:avLst/>
          </a:prstGeom>
          <a:noFill/>
          <a:ln w="25400">
            <a:solidFill>
              <a:srgbClr val="005481"/>
            </a:solidFill>
            <a:miter lim="800000"/>
            <a:headEnd type="stealth" w="med" len="med"/>
            <a:tailEnd/>
          </a:ln>
          <a:extLst>
            <a:ext uri="{909E8E84-426E-40DD-AFC4-6F175D3DCCD1}">
              <a14:hiddenFill xmlns:a14="http://schemas.microsoft.com/office/drawing/2010/main">
                <a:noFill/>
              </a14:hiddenFill>
            </a:ext>
          </a:extLst>
        </p:spPr>
        <p:txBody>
          <a:bodyPr lIns="0" tIns="0" rIns="0" bIns="0"/>
          <a:lstStyle/>
          <a:p>
            <a:endParaRPr lang="en-AU"/>
          </a:p>
        </p:txBody>
      </p:sp>
      <p:sp>
        <p:nvSpPr>
          <p:cNvPr id="130063" name="Line 18"/>
          <p:cNvSpPr>
            <a:spLocks noChangeShapeType="1"/>
          </p:cNvSpPr>
          <p:nvPr/>
        </p:nvSpPr>
        <p:spPr bwMode="auto">
          <a:xfrm rot="10800000">
            <a:off x="5616774" y="5468318"/>
            <a:ext cx="417463" cy="455414"/>
          </a:xfrm>
          <a:prstGeom prst="line">
            <a:avLst/>
          </a:prstGeom>
          <a:noFill/>
          <a:ln w="25400">
            <a:solidFill>
              <a:srgbClr val="005481"/>
            </a:solidFill>
            <a:miter lim="800000"/>
            <a:headEnd type="stealth" w="med" len="med"/>
            <a:tailEnd/>
          </a:ln>
          <a:extLst>
            <a:ext uri="{909E8E84-426E-40DD-AFC4-6F175D3DCCD1}">
              <a14:hiddenFill xmlns:a14="http://schemas.microsoft.com/office/drawing/2010/main">
                <a:noFill/>
              </a14:hiddenFill>
            </a:ext>
          </a:extLst>
        </p:spPr>
        <p:txBody>
          <a:bodyPr lIns="0" tIns="0" rIns="0" bIns="0"/>
          <a:lstStyle/>
          <a:p>
            <a:endParaRPr lang="en-AU"/>
          </a:p>
        </p:txBody>
      </p:sp>
    </p:spTree>
    <p:extLst>
      <p:ext uri="{BB962C8B-B14F-4D97-AF65-F5344CB8AC3E}">
        <p14:creationId xmlns:p14="http://schemas.microsoft.com/office/powerpoint/2010/main" val="984035445"/>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608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608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608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build="p" bldLvl="5" autoUpdateAnimBg="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Adjacency</Template>
  <TotalTime>220</TotalTime>
  <Words>1535</Words>
  <Application>Microsoft Office PowerPoint</Application>
  <PresentationFormat>On-screen Show (4:3)</PresentationFormat>
  <Paragraphs>193</Paragraphs>
  <Slides>18</Slides>
  <Notes>0</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Cambria</vt:lpstr>
      <vt:lpstr>Times New Roman</vt:lpstr>
      <vt:lpstr>Wingdings</vt:lpstr>
      <vt:lpstr>Adjacency</vt:lpstr>
      <vt:lpstr>Hormones and the  Endocrine System</vt:lpstr>
      <vt:lpstr>What are we doing today?</vt:lpstr>
      <vt:lpstr>Keywords</vt:lpstr>
      <vt:lpstr>The Endocrine System</vt:lpstr>
      <vt:lpstr>Endocrine Signaling</vt:lpstr>
      <vt:lpstr>Hormones</vt:lpstr>
      <vt:lpstr>Hormone Action</vt:lpstr>
      <vt:lpstr>Amine /Protein Hormones</vt:lpstr>
      <vt:lpstr>Steroid Hormones</vt:lpstr>
      <vt:lpstr>Types of Hormones</vt:lpstr>
      <vt:lpstr>Types of Hormones</vt:lpstr>
      <vt:lpstr>Hypothalamus</vt:lpstr>
      <vt:lpstr>Role of the Hypothalamus</vt:lpstr>
      <vt:lpstr>Hypothalamus Structure</vt:lpstr>
      <vt:lpstr>Hormones of the Pituitary</vt:lpstr>
      <vt:lpstr>Anterior Pituitary</vt:lpstr>
      <vt:lpstr>Posterior Pituitary</vt:lpstr>
      <vt:lpstr>Antagonistic Hormones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Science Inquiry Skills</dc:title>
  <dc:creator>BRUNS Emma</dc:creator>
  <cp:lastModifiedBy>Ivan Opacak</cp:lastModifiedBy>
  <cp:revision>24</cp:revision>
  <dcterms:created xsi:type="dcterms:W3CDTF">2018-02-02T00:28:02Z</dcterms:created>
  <dcterms:modified xsi:type="dcterms:W3CDTF">2021-02-19T00:21:51Z</dcterms:modified>
</cp:coreProperties>
</file>
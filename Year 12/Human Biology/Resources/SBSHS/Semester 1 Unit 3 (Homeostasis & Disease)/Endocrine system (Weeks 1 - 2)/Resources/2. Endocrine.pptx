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8" r:id="rId3"/>
    <p:sldId id="286" r:id="rId4"/>
    <p:sldId id="299" r:id="rId5"/>
    <p:sldId id="274" r:id="rId6"/>
    <p:sldId id="275" r:id="rId7"/>
    <p:sldId id="276" r:id="rId8"/>
    <p:sldId id="300" r:id="rId9"/>
    <p:sldId id="277" r:id="rId10"/>
    <p:sldId id="278" r:id="rId11"/>
    <p:sldId id="279" r:id="rId12"/>
    <p:sldId id="289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30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3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D9512-C607-479D-9091-7AFC62A6F268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C5F8F-1D81-4F44-BB53-0D7347ABA7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6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072D987-F769-4FBA-90D4-E4010B051761}" type="datetimeFigureOut">
              <a:rPr lang="en-AU" smtClean="0"/>
              <a:t>10/02/2021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Endocrine Glands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FA64AC8-D08D-43BB-B397-C956E8C52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94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we doing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AU" dirty="0"/>
              <a:t>Hormones secreted from the hypothalamus, pituitary, thyroid, parathyroid, pancreas and adrenal glands are involved in homeostasis by affecting specific target organs (SU)</a:t>
            </a:r>
          </a:p>
          <a:p>
            <a:r>
              <a:rPr lang="en-AU" dirty="0"/>
              <a:t>The secretions of the pituitary gland are controlled by the hypothalamus through transport of hormones, either via nerve cells or the vascular link between them (SU)</a:t>
            </a:r>
          </a:p>
          <a:p>
            <a:r>
              <a:rPr lang="en-AU" dirty="0"/>
              <a:t>The hypothalamus, pituitary, thyroid, parathyroid, pancreas, thymus, gonads, pineal and adrenal glands, are endocrine glands found in the human body (SU)</a:t>
            </a:r>
          </a:p>
          <a:p>
            <a:pPr lvl="0"/>
            <a:endParaRPr lang="en-GB" dirty="0"/>
          </a:p>
          <a:p>
            <a:pPr marL="114300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13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Endocrine gland:</a:t>
            </a:r>
          </a:p>
          <a:p>
            <a:r>
              <a:rPr lang="en-AU" dirty="0"/>
              <a:t>Hormone:</a:t>
            </a:r>
          </a:p>
          <a:p>
            <a:r>
              <a:rPr lang="en-AU" dirty="0"/>
              <a:t>Target cells/organ:</a:t>
            </a:r>
          </a:p>
          <a:p>
            <a:r>
              <a:rPr lang="en-AU" dirty="0"/>
              <a:t>Negative feedback: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013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11" y="1126672"/>
            <a:ext cx="2399292" cy="5649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064" y="1011287"/>
            <a:ext cx="1859172" cy="5710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8" name="Rectangle 3"/>
          <p:cNvSpPr>
            <a:spLocks noGrp="1" noChangeArrowheads="1"/>
          </p:cNvSpPr>
          <p:nvPr>
            <p:ph type="title"/>
          </p:nvPr>
        </p:nvSpPr>
        <p:spPr>
          <a:xfrm>
            <a:off x="99344" y="62507"/>
            <a:ext cx="8474273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Endocrine Glands</a:t>
            </a:r>
          </a:p>
        </p:txBody>
      </p:sp>
      <p:grpSp>
        <p:nvGrpSpPr>
          <p:cNvPr id="113669" name="Group 8"/>
          <p:cNvGrpSpPr>
            <a:grpSpLocks/>
          </p:cNvGrpSpPr>
          <p:nvPr/>
        </p:nvGrpSpPr>
        <p:grpSpPr bwMode="auto">
          <a:xfrm>
            <a:off x="3714751" y="1254621"/>
            <a:ext cx="2175495" cy="343793"/>
            <a:chOff x="0" y="-44"/>
            <a:chExt cx="1949" cy="308"/>
          </a:xfrm>
        </p:grpSpPr>
        <p:sp>
          <p:nvSpPr>
            <p:cNvPr id="113765" name="Rectangle 4"/>
            <p:cNvSpPr>
              <a:spLocks/>
            </p:cNvSpPr>
            <p:nvPr/>
          </p:nvSpPr>
          <p:spPr bwMode="auto">
            <a:xfrm>
              <a:off x="312" y="-44"/>
              <a:ext cx="163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Adrenal glands</a:t>
              </a:r>
            </a:p>
          </p:txBody>
        </p:sp>
        <p:grpSp>
          <p:nvGrpSpPr>
            <p:cNvPr id="113766" name="Group 7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67" name="Oval 5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68" name="Rectangle 6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1</a:t>
                </a:r>
              </a:p>
            </p:txBody>
          </p:sp>
        </p:grpSp>
      </p:grpSp>
      <p:grpSp>
        <p:nvGrpSpPr>
          <p:cNvPr id="113670" name="Group 13"/>
          <p:cNvGrpSpPr>
            <a:grpSpLocks/>
          </p:cNvGrpSpPr>
          <p:nvPr/>
        </p:nvGrpSpPr>
        <p:grpSpPr bwMode="auto">
          <a:xfrm>
            <a:off x="3714750" y="1754683"/>
            <a:ext cx="2086199" cy="361653"/>
            <a:chOff x="0" y="-60"/>
            <a:chExt cx="1869" cy="324"/>
          </a:xfrm>
        </p:grpSpPr>
        <p:sp>
          <p:nvSpPr>
            <p:cNvPr id="113761" name="Rectangle 9"/>
            <p:cNvSpPr>
              <a:spLocks/>
            </p:cNvSpPr>
            <p:nvPr/>
          </p:nvSpPr>
          <p:spPr bwMode="auto">
            <a:xfrm>
              <a:off x="296" y="-60"/>
              <a:ext cx="1573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Hypothalamus</a:t>
              </a:r>
            </a:p>
          </p:txBody>
        </p:sp>
        <p:grpSp>
          <p:nvGrpSpPr>
            <p:cNvPr id="113762" name="Group 12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63" name="Oval 10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64" name="Rectangle 11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2</a:t>
                </a:r>
              </a:p>
            </p:txBody>
          </p:sp>
        </p:grpSp>
      </p:grpSp>
      <p:grpSp>
        <p:nvGrpSpPr>
          <p:cNvPr id="113671" name="Group 18"/>
          <p:cNvGrpSpPr>
            <a:grpSpLocks/>
          </p:cNvGrpSpPr>
          <p:nvPr/>
        </p:nvGrpSpPr>
        <p:grpSpPr bwMode="auto">
          <a:xfrm>
            <a:off x="3714750" y="2245816"/>
            <a:ext cx="2347392" cy="361653"/>
            <a:chOff x="0" y="-60"/>
            <a:chExt cx="2103" cy="324"/>
          </a:xfrm>
        </p:grpSpPr>
        <p:sp>
          <p:nvSpPr>
            <p:cNvPr id="113757" name="Rectangle 14"/>
            <p:cNvSpPr>
              <a:spLocks/>
            </p:cNvSpPr>
            <p:nvPr/>
          </p:nvSpPr>
          <p:spPr bwMode="auto">
            <a:xfrm>
              <a:off x="304" y="-60"/>
              <a:ext cx="1799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Ovaries (female)</a:t>
              </a:r>
            </a:p>
          </p:txBody>
        </p:sp>
        <p:grpSp>
          <p:nvGrpSpPr>
            <p:cNvPr id="113758" name="Group 17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59" name="Oval 15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60" name="Rectangle 16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3</a:t>
                </a:r>
              </a:p>
            </p:txBody>
          </p:sp>
        </p:grpSp>
      </p:grpSp>
      <p:grpSp>
        <p:nvGrpSpPr>
          <p:cNvPr id="113672" name="Group 23"/>
          <p:cNvGrpSpPr>
            <a:grpSpLocks/>
          </p:cNvGrpSpPr>
          <p:nvPr/>
        </p:nvGrpSpPr>
        <p:grpSpPr bwMode="auto">
          <a:xfrm>
            <a:off x="3714750" y="2790527"/>
            <a:ext cx="2312790" cy="361653"/>
            <a:chOff x="0" y="-60"/>
            <a:chExt cx="2072" cy="324"/>
          </a:xfrm>
        </p:grpSpPr>
        <p:sp>
          <p:nvSpPr>
            <p:cNvPr id="113753" name="Rectangle 19"/>
            <p:cNvSpPr>
              <a:spLocks/>
            </p:cNvSpPr>
            <p:nvPr/>
          </p:nvSpPr>
          <p:spPr bwMode="auto">
            <a:xfrm>
              <a:off x="296" y="-60"/>
              <a:ext cx="177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Pancreatic islets</a:t>
              </a:r>
            </a:p>
          </p:txBody>
        </p:sp>
        <p:grpSp>
          <p:nvGrpSpPr>
            <p:cNvPr id="113754" name="Group 22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55" name="Oval 20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56" name="Rectangle 21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4</a:t>
                </a:r>
              </a:p>
            </p:txBody>
          </p:sp>
        </p:grpSp>
      </p:grpSp>
      <p:grpSp>
        <p:nvGrpSpPr>
          <p:cNvPr id="113673" name="Group 28"/>
          <p:cNvGrpSpPr>
            <a:grpSpLocks/>
          </p:cNvGrpSpPr>
          <p:nvPr/>
        </p:nvGrpSpPr>
        <p:grpSpPr bwMode="auto">
          <a:xfrm>
            <a:off x="3714750" y="3326308"/>
            <a:ext cx="2592958" cy="352723"/>
            <a:chOff x="0" y="-52"/>
            <a:chExt cx="2323" cy="316"/>
          </a:xfrm>
        </p:grpSpPr>
        <p:grpSp>
          <p:nvGrpSpPr>
            <p:cNvPr id="113749" name="Group 26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51" name="Oval 24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52" name="Rectangle 25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5</a:t>
                </a:r>
              </a:p>
            </p:txBody>
          </p:sp>
        </p:grpSp>
        <p:sp>
          <p:nvSpPr>
            <p:cNvPr id="113750" name="Rectangle 27"/>
            <p:cNvSpPr>
              <a:spLocks/>
            </p:cNvSpPr>
            <p:nvPr/>
          </p:nvSpPr>
          <p:spPr bwMode="auto">
            <a:xfrm>
              <a:off x="304" y="-52"/>
              <a:ext cx="2019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Parathyroid glands</a:t>
              </a:r>
            </a:p>
          </p:txBody>
        </p:sp>
      </p:grpSp>
      <p:grpSp>
        <p:nvGrpSpPr>
          <p:cNvPr id="113674" name="Group 33"/>
          <p:cNvGrpSpPr>
            <a:grpSpLocks/>
          </p:cNvGrpSpPr>
          <p:nvPr/>
        </p:nvGrpSpPr>
        <p:grpSpPr bwMode="auto">
          <a:xfrm>
            <a:off x="3714750" y="3826371"/>
            <a:ext cx="1169790" cy="352723"/>
            <a:chOff x="0" y="-52"/>
            <a:chExt cx="1048" cy="316"/>
          </a:xfrm>
        </p:grpSpPr>
        <p:sp>
          <p:nvSpPr>
            <p:cNvPr id="113745" name="Rectangle 29"/>
            <p:cNvSpPr>
              <a:spLocks/>
            </p:cNvSpPr>
            <p:nvPr/>
          </p:nvSpPr>
          <p:spPr bwMode="auto">
            <a:xfrm>
              <a:off x="304" y="-52"/>
              <a:ext cx="744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Pineal</a:t>
              </a:r>
            </a:p>
          </p:txBody>
        </p:sp>
        <p:grpSp>
          <p:nvGrpSpPr>
            <p:cNvPr id="113746" name="Group 32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47" name="Oval 30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48" name="Rectangle 31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6</a:t>
                </a:r>
              </a:p>
            </p:txBody>
          </p:sp>
        </p:grpSp>
      </p:grpSp>
      <p:grpSp>
        <p:nvGrpSpPr>
          <p:cNvPr id="113675" name="Group 38"/>
          <p:cNvGrpSpPr>
            <a:grpSpLocks/>
          </p:cNvGrpSpPr>
          <p:nvPr/>
        </p:nvGrpSpPr>
        <p:grpSpPr bwMode="auto">
          <a:xfrm>
            <a:off x="3714750" y="4344293"/>
            <a:ext cx="2071688" cy="352723"/>
            <a:chOff x="0" y="-52"/>
            <a:chExt cx="1856" cy="316"/>
          </a:xfrm>
        </p:grpSpPr>
        <p:sp>
          <p:nvSpPr>
            <p:cNvPr id="113741" name="Rectangle 34"/>
            <p:cNvSpPr>
              <a:spLocks/>
            </p:cNvSpPr>
            <p:nvPr/>
          </p:nvSpPr>
          <p:spPr bwMode="auto">
            <a:xfrm>
              <a:off x="296" y="-52"/>
              <a:ext cx="156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Pituitary gland</a:t>
              </a:r>
            </a:p>
          </p:txBody>
        </p:sp>
        <p:grpSp>
          <p:nvGrpSpPr>
            <p:cNvPr id="113742" name="Group 37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43" name="Oval 35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44" name="Rectangle 36"/>
              <p:cNvSpPr>
                <a:spLocks/>
              </p:cNvSpPr>
              <p:nvPr/>
            </p:nvSpPr>
            <p:spPr bwMode="auto">
              <a:xfrm>
                <a:off x="0" y="56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7</a:t>
                </a:r>
              </a:p>
            </p:txBody>
          </p:sp>
        </p:grpSp>
      </p:grpSp>
      <p:grpSp>
        <p:nvGrpSpPr>
          <p:cNvPr id="113676" name="Group 43"/>
          <p:cNvGrpSpPr>
            <a:grpSpLocks/>
          </p:cNvGrpSpPr>
          <p:nvPr/>
        </p:nvGrpSpPr>
        <p:grpSpPr bwMode="auto">
          <a:xfrm>
            <a:off x="3714750" y="4862215"/>
            <a:ext cx="1992437" cy="352723"/>
            <a:chOff x="0" y="-52"/>
            <a:chExt cx="1785" cy="316"/>
          </a:xfrm>
        </p:grpSpPr>
        <p:sp>
          <p:nvSpPr>
            <p:cNvPr id="113737" name="Rectangle 39"/>
            <p:cNvSpPr>
              <a:spLocks/>
            </p:cNvSpPr>
            <p:nvPr/>
          </p:nvSpPr>
          <p:spPr bwMode="auto">
            <a:xfrm>
              <a:off x="304" y="-52"/>
              <a:ext cx="1481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Testes (male)</a:t>
              </a:r>
            </a:p>
          </p:txBody>
        </p:sp>
        <p:grpSp>
          <p:nvGrpSpPr>
            <p:cNvPr id="113738" name="Group 42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39" name="Oval 40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40" name="Rectangle 41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8</a:t>
                </a:r>
              </a:p>
            </p:txBody>
          </p:sp>
        </p:grpSp>
      </p:grpSp>
      <p:grpSp>
        <p:nvGrpSpPr>
          <p:cNvPr id="113677" name="Group 48"/>
          <p:cNvGrpSpPr>
            <a:grpSpLocks/>
          </p:cNvGrpSpPr>
          <p:nvPr/>
        </p:nvGrpSpPr>
        <p:grpSpPr bwMode="auto">
          <a:xfrm>
            <a:off x="3714750" y="5353347"/>
            <a:ext cx="2066107" cy="361653"/>
            <a:chOff x="0" y="-60"/>
            <a:chExt cx="1851" cy="324"/>
          </a:xfrm>
        </p:grpSpPr>
        <p:sp>
          <p:nvSpPr>
            <p:cNvPr id="113733" name="Rectangle 44"/>
            <p:cNvSpPr>
              <a:spLocks/>
            </p:cNvSpPr>
            <p:nvPr/>
          </p:nvSpPr>
          <p:spPr bwMode="auto">
            <a:xfrm>
              <a:off x="304" y="-60"/>
              <a:ext cx="154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5481"/>
                  </a:solidFill>
                  <a:cs typeface="Arial" charset="0"/>
                </a:rPr>
                <a:t>Thymus gland</a:t>
              </a:r>
            </a:p>
          </p:txBody>
        </p:sp>
        <p:grpSp>
          <p:nvGrpSpPr>
            <p:cNvPr id="113734" name="Group 47"/>
            <p:cNvGrpSpPr>
              <a:grpSpLocks/>
            </p:cNvGrpSpPr>
            <p:nvPr/>
          </p:nvGrpSpPr>
          <p:grpSpPr bwMode="auto">
            <a:xfrm>
              <a:off x="0" y="0"/>
              <a:ext cx="296" cy="264"/>
              <a:chOff x="0" y="0"/>
              <a:chExt cx="296" cy="264"/>
            </a:xfrm>
          </p:grpSpPr>
          <p:sp>
            <p:nvSpPr>
              <p:cNvPr id="113735" name="Oval 45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36" name="Rectangle 46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solidFill>
                      <a:srgbClr val="FFFFFF"/>
                    </a:solidFill>
                    <a:cs typeface="Arial" charset="0"/>
                  </a:rPr>
                  <a:t>9</a:t>
                </a:r>
              </a:p>
            </p:txBody>
          </p:sp>
        </p:grpSp>
      </p:grpSp>
      <p:grpSp>
        <p:nvGrpSpPr>
          <p:cNvPr id="113678" name="Group 53"/>
          <p:cNvGrpSpPr>
            <a:grpSpLocks/>
          </p:cNvGrpSpPr>
          <p:nvPr/>
        </p:nvGrpSpPr>
        <p:grpSpPr bwMode="auto">
          <a:xfrm>
            <a:off x="3609826" y="5915918"/>
            <a:ext cx="2105174" cy="411882"/>
            <a:chOff x="-94" y="-52"/>
            <a:chExt cx="1886" cy="369"/>
          </a:xfrm>
        </p:grpSpPr>
        <p:sp>
          <p:nvSpPr>
            <p:cNvPr id="113729" name="Rectangle 49"/>
            <p:cNvSpPr>
              <a:spLocks/>
            </p:cNvSpPr>
            <p:nvPr/>
          </p:nvSpPr>
          <p:spPr bwMode="auto">
            <a:xfrm>
              <a:off x="296" y="-52"/>
              <a:ext cx="14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b">
              <a:spAutoFit/>
            </a:bodyPr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5481"/>
                  </a:solidFill>
                  <a:cs typeface="Arial" charset="0"/>
                </a:rPr>
                <a:t>Thyroid gland</a:t>
              </a:r>
            </a:p>
          </p:txBody>
        </p:sp>
        <p:grpSp>
          <p:nvGrpSpPr>
            <p:cNvPr id="113730" name="Group 52"/>
            <p:cNvGrpSpPr>
              <a:grpSpLocks/>
            </p:cNvGrpSpPr>
            <p:nvPr/>
          </p:nvGrpSpPr>
          <p:grpSpPr bwMode="auto">
            <a:xfrm>
              <a:off x="-94" y="0"/>
              <a:ext cx="445" cy="317"/>
              <a:chOff x="-94" y="0"/>
              <a:chExt cx="445" cy="317"/>
            </a:xfrm>
          </p:grpSpPr>
          <p:sp>
            <p:nvSpPr>
              <p:cNvPr id="113731" name="Oval 50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32" name="Rectangle 51"/>
              <p:cNvSpPr>
                <a:spLocks/>
              </p:cNvSpPr>
              <p:nvPr/>
            </p:nvSpPr>
            <p:spPr bwMode="auto">
              <a:xfrm>
                <a:off x="-94" y="0"/>
                <a:ext cx="445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10</a:t>
                </a:r>
              </a:p>
            </p:txBody>
          </p:sp>
        </p:grpSp>
      </p:grpSp>
      <p:grpSp>
        <p:nvGrpSpPr>
          <p:cNvPr id="113679" name="Group 58"/>
          <p:cNvGrpSpPr>
            <a:grpSpLocks/>
          </p:cNvGrpSpPr>
          <p:nvPr/>
        </p:nvGrpSpPr>
        <p:grpSpPr bwMode="auto">
          <a:xfrm>
            <a:off x="6776353" y="3601683"/>
            <a:ext cx="701297" cy="479184"/>
            <a:chOff x="0" y="0"/>
            <a:chExt cx="649" cy="264"/>
          </a:xfrm>
        </p:grpSpPr>
        <p:grpSp>
          <p:nvGrpSpPr>
            <p:cNvPr id="113725" name="Group 56"/>
            <p:cNvGrpSpPr>
              <a:grpSpLocks/>
            </p:cNvGrpSpPr>
            <p:nvPr/>
          </p:nvGrpSpPr>
          <p:grpSpPr bwMode="auto">
            <a:xfrm>
              <a:off x="0" y="0"/>
              <a:ext cx="288" cy="264"/>
              <a:chOff x="0" y="0"/>
              <a:chExt cx="288" cy="264"/>
            </a:xfrm>
          </p:grpSpPr>
          <p:sp>
            <p:nvSpPr>
              <p:cNvPr id="113727" name="Oval 54"/>
              <p:cNvSpPr>
                <a:spLocks/>
              </p:cNvSpPr>
              <p:nvPr/>
            </p:nvSpPr>
            <p:spPr bwMode="auto">
              <a:xfrm>
                <a:off x="24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28" name="Rectangle 55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8</a:t>
                </a:r>
              </a:p>
            </p:txBody>
          </p:sp>
        </p:grpSp>
        <p:sp>
          <p:nvSpPr>
            <p:cNvPr id="113726" name="Line 57"/>
            <p:cNvSpPr>
              <a:spLocks noChangeShapeType="1"/>
            </p:cNvSpPr>
            <p:nvPr/>
          </p:nvSpPr>
          <p:spPr bwMode="auto">
            <a:xfrm flipH="1">
              <a:off x="279" y="128"/>
              <a:ext cx="370" cy="0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0" name="Group 63"/>
          <p:cNvGrpSpPr>
            <a:grpSpLocks/>
          </p:cNvGrpSpPr>
          <p:nvPr/>
        </p:nvGrpSpPr>
        <p:grpSpPr bwMode="auto">
          <a:xfrm>
            <a:off x="6502098" y="1821656"/>
            <a:ext cx="818480" cy="526852"/>
            <a:chOff x="0" y="0"/>
            <a:chExt cx="764" cy="318"/>
          </a:xfrm>
        </p:grpSpPr>
        <p:grpSp>
          <p:nvGrpSpPr>
            <p:cNvPr id="113721" name="Group 61"/>
            <p:cNvGrpSpPr>
              <a:grpSpLocks/>
            </p:cNvGrpSpPr>
            <p:nvPr/>
          </p:nvGrpSpPr>
          <p:grpSpPr bwMode="auto">
            <a:xfrm>
              <a:off x="0" y="54"/>
              <a:ext cx="296" cy="264"/>
              <a:chOff x="0" y="0"/>
              <a:chExt cx="296" cy="264"/>
            </a:xfrm>
          </p:grpSpPr>
          <p:sp>
            <p:nvSpPr>
              <p:cNvPr id="113723" name="Oval 59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24" name="Rectangle 60"/>
              <p:cNvSpPr>
                <a:spLocks/>
              </p:cNvSpPr>
              <p:nvPr/>
            </p:nvSpPr>
            <p:spPr bwMode="auto">
              <a:xfrm>
                <a:off x="0" y="40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9</a:t>
                </a:r>
              </a:p>
            </p:txBody>
          </p:sp>
        </p:grpSp>
        <p:sp>
          <p:nvSpPr>
            <p:cNvPr id="113722" name="Line 62"/>
            <p:cNvSpPr>
              <a:spLocks noChangeShapeType="1"/>
            </p:cNvSpPr>
            <p:nvPr/>
          </p:nvSpPr>
          <p:spPr bwMode="auto">
            <a:xfrm flipH="1">
              <a:off x="296" y="0"/>
              <a:ext cx="468" cy="174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1" name="Group 68"/>
          <p:cNvGrpSpPr>
            <a:grpSpLocks/>
          </p:cNvGrpSpPr>
          <p:nvPr/>
        </p:nvGrpSpPr>
        <p:grpSpPr bwMode="auto">
          <a:xfrm>
            <a:off x="6459384" y="1357313"/>
            <a:ext cx="822652" cy="455414"/>
            <a:chOff x="-88" y="0"/>
            <a:chExt cx="617" cy="264"/>
          </a:xfrm>
        </p:grpSpPr>
        <p:grpSp>
          <p:nvGrpSpPr>
            <p:cNvPr id="113717" name="Group 66"/>
            <p:cNvGrpSpPr>
              <a:grpSpLocks/>
            </p:cNvGrpSpPr>
            <p:nvPr/>
          </p:nvGrpSpPr>
          <p:grpSpPr bwMode="auto">
            <a:xfrm>
              <a:off x="-88" y="0"/>
              <a:ext cx="384" cy="264"/>
              <a:chOff x="-88" y="0"/>
              <a:chExt cx="384" cy="264"/>
            </a:xfrm>
          </p:grpSpPr>
          <p:sp>
            <p:nvSpPr>
              <p:cNvPr id="113719" name="Oval 64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20" name="Rectangle 65"/>
              <p:cNvSpPr>
                <a:spLocks/>
              </p:cNvSpPr>
              <p:nvPr/>
            </p:nvSpPr>
            <p:spPr bwMode="auto">
              <a:xfrm>
                <a:off x="-88" y="48"/>
                <a:ext cx="344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10</a:t>
                </a:r>
              </a:p>
            </p:txBody>
          </p:sp>
        </p:grpSp>
        <p:sp>
          <p:nvSpPr>
            <p:cNvPr id="113718" name="Line 67"/>
            <p:cNvSpPr>
              <a:spLocks noChangeShapeType="1"/>
            </p:cNvSpPr>
            <p:nvPr/>
          </p:nvSpPr>
          <p:spPr bwMode="auto">
            <a:xfrm rot="10800000">
              <a:off x="292" y="144"/>
              <a:ext cx="237" cy="51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2" name="Group 73"/>
          <p:cNvGrpSpPr>
            <a:grpSpLocks/>
          </p:cNvGrpSpPr>
          <p:nvPr/>
        </p:nvGrpSpPr>
        <p:grpSpPr bwMode="auto">
          <a:xfrm>
            <a:off x="1894210" y="1303734"/>
            <a:ext cx="609525" cy="419695"/>
            <a:chOff x="0" y="0"/>
            <a:chExt cx="454" cy="264"/>
          </a:xfrm>
        </p:grpSpPr>
        <p:grpSp>
          <p:nvGrpSpPr>
            <p:cNvPr id="113713" name="Group 71"/>
            <p:cNvGrpSpPr>
              <a:grpSpLocks/>
            </p:cNvGrpSpPr>
            <p:nvPr/>
          </p:nvGrpSpPr>
          <p:grpSpPr bwMode="auto">
            <a:xfrm>
              <a:off x="182" y="0"/>
              <a:ext cx="272" cy="264"/>
              <a:chOff x="0" y="0"/>
              <a:chExt cx="272" cy="264"/>
            </a:xfrm>
          </p:grpSpPr>
          <p:sp>
            <p:nvSpPr>
              <p:cNvPr id="113715" name="Oval 69"/>
              <p:cNvSpPr>
                <a:spLocks/>
              </p:cNvSpPr>
              <p:nvPr/>
            </p:nvSpPr>
            <p:spPr bwMode="auto">
              <a:xfrm>
                <a:off x="0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16" name="Rectangle 70"/>
              <p:cNvSpPr>
                <a:spLocks/>
              </p:cNvSpPr>
              <p:nvPr/>
            </p:nvSpPr>
            <p:spPr bwMode="auto">
              <a:xfrm>
                <a:off x="16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5</a:t>
                </a:r>
              </a:p>
            </p:txBody>
          </p:sp>
        </p:grpSp>
        <p:sp>
          <p:nvSpPr>
            <p:cNvPr id="113714" name="Line 72"/>
            <p:cNvSpPr>
              <a:spLocks noChangeShapeType="1"/>
            </p:cNvSpPr>
            <p:nvPr/>
          </p:nvSpPr>
          <p:spPr bwMode="auto">
            <a:xfrm rot="10800000" flipH="1">
              <a:off x="0" y="140"/>
              <a:ext cx="178" cy="31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3" name="Group 78"/>
          <p:cNvGrpSpPr>
            <a:grpSpLocks/>
          </p:cNvGrpSpPr>
          <p:nvPr/>
        </p:nvGrpSpPr>
        <p:grpSpPr bwMode="auto">
          <a:xfrm>
            <a:off x="675037" y="1046366"/>
            <a:ext cx="971471" cy="394443"/>
            <a:chOff x="0" y="0"/>
            <a:chExt cx="857" cy="264"/>
          </a:xfrm>
        </p:grpSpPr>
        <p:grpSp>
          <p:nvGrpSpPr>
            <p:cNvPr id="113709" name="Group 76"/>
            <p:cNvGrpSpPr>
              <a:grpSpLocks/>
            </p:cNvGrpSpPr>
            <p:nvPr/>
          </p:nvGrpSpPr>
          <p:grpSpPr bwMode="auto">
            <a:xfrm>
              <a:off x="0" y="0"/>
              <a:ext cx="264" cy="264"/>
              <a:chOff x="0" y="0"/>
              <a:chExt cx="264" cy="264"/>
            </a:xfrm>
          </p:grpSpPr>
          <p:sp>
            <p:nvSpPr>
              <p:cNvPr id="113711" name="Oval 74"/>
              <p:cNvSpPr>
                <a:spLocks/>
              </p:cNvSpPr>
              <p:nvPr/>
            </p:nvSpPr>
            <p:spPr bwMode="auto">
              <a:xfrm>
                <a:off x="0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12" name="Rectangle 75"/>
              <p:cNvSpPr>
                <a:spLocks/>
              </p:cNvSpPr>
              <p:nvPr/>
            </p:nvSpPr>
            <p:spPr bwMode="auto">
              <a:xfrm>
                <a:off x="16" y="48"/>
                <a:ext cx="240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2</a:t>
                </a:r>
              </a:p>
            </p:txBody>
          </p:sp>
        </p:grpSp>
        <p:sp>
          <p:nvSpPr>
            <p:cNvPr id="113710" name="Line 77"/>
            <p:cNvSpPr>
              <a:spLocks noChangeShapeType="1"/>
            </p:cNvSpPr>
            <p:nvPr/>
          </p:nvSpPr>
          <p:spPr bwMode="auto">
            <a:xfrm flipH="1">
              <a:off x="264" y="132"/>
              <a:ext cx="593" cy="12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4" name="Group 83"/>
          <p:cNvGrpSpPr>
            <a:grpSpLocks/>
          </p:cNvGrpSpPr>
          <p:nvPr/>
        </p:nvGrpSpPr>
        <p:grpSpPr bwMode="auto">
          <a:xfrm>
            <a:off x="7536656" y="1161257"/>
            <a:ext cx="779760" cy="421232"/>
            <a:chOff x="0" y="0"/>
            <a:chExt cx="720" cy="294"/>
          </a:xfrm>
        </p:grpSpPr>
        <p:grpSp>
          <p:nvGrpSpPr>
            <p:cNvPr id="113705" name="Group 81"/>
            <p:cNvGrpSpPr>
              <a:grpSpLocks/>
            </p:cNvGrpSpPr>
            <p:nvPr/>
          </p:nvGrpSpPr>
          <p:grpSpPr bwMode="auto">
            <a:xfrm>
              <a:off x="432" y="30"/>
              <a:ext cx="288" cy="264"/>
              <a:chOff x="0" y="0"/>
              <a:chExt cx="288" cy="264"/>
            </a:xfrm>
          </p:grpSpPr>
          <p:sp>
            <p:nvSpPr>
              <p:cNvPr id="113707" name="Oval 79"/>
              <p:cNvSpPr>
                <a:spLocks/>
              </p:cNvSpPr>
              <p:nvPr/>
            </p:nvSpPr>
            <p:spPr bwMode="auto">
              <a:xfrm>
                <a:off x="24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08" name="Rectangle 80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7</a:t>
                </a:r>
              </a:p>
            </p:txBody>
          </p:sp>
        </p:grpSp>
        <p:sp>
          <p:nvSpPr>
            <p:cNvPr id="113706" name="Line 82"/>
            <p:cNvSpPr>
              <a:spLocks noChangeShapeType="1"/>
            </p:cNvSpPr>
            <p:nvPr/>
          </p:nvSpPr>
          <p:spPr bwMode="auto">
            <a:xfrm>
              <a:off x="0" y="0"/>
              <a:ext cx="452" cy="126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5" name="Group 88"/>
          <p:cNvGrpSpPr>
            <a:grpSpLocks/>
          </p:cNvGrpSpPr>
          <p:nvPr/>
        </p:nvGrpSpPr>
        <p:grpSpPr bwMode="auto">
          <a:xfrm>
            <a:off x="6052691" y="1185127"/>
            <a:ext cx="1250202" cy="475381"/>
            <a:chOff x="0" y="0"/>
            <a:chExt cx="854" cy="292"/>
          </a:xfrm>
        </p:grpSpPr>
        <p:grpSp>
          <p:nvGrpSpPr>
            <p:cNvPr id="113701" name="Group 86"/>
            <p:cNvGrpSpPr>
              <a:grpSpLocks/>
            </p:cNvGrpSpPr>
            <p:nvPr/>
          </p:nvGrpSpPr>
          <p:grpSpPr bwMode="auto">
            <a:xfrm>
              <a:off x="0" y="28"/>
              <a:ext cx="296" cy="264"/>
              <a:chOff x="0" y="0"/>
              <a:chExt cx="296" cy="264"/>
            </a:xfrm>
          </p:grpSpPr>
          <p:sp>
            <p:nvSpPr>
              <p:cNvPr id="113703" name="Oval 84"/>
              <p:cNvSpPr>
                <a:spLocks/>
              </p:cNvSpPr>
              <p:nvPr/>
            </p:nvSpPr>
            <p:spPr bwMode="auto">
              <a:xfrm>
                <a:off x="32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04" name="Rectangle 85"/>
              <p:cNvSpPr>
                <a:spLocks/>
              </p:cNvSpPr>
              <p:nvPr/>
            </p:nvSpPr>
            <p:spPr bwMode="auto">
              <a:xfrm>
                <a:off x="0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6</a:t>
                </a:r>
              </a:p>
            </p:txBody>
          </p:sp>
        </p:grpSp>
        <p:sp>
          <p:nvSpPr>
            <p:cNvPr id="113702" name="Line 87"/>
            <p:cNvSpPr>
              <a:spLocks noChangeShapeType="1"/>
            </p:cNvSpPr>
            <p:nvPr/>
          </p:nvSpPr>
          <p:spPr bwMode="auto">
            <a:xfrm flipH="1">
              <a:off x="300" y="0"/>
              <a:ext cx="554" cy="140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6" name="Group 93"/>
          <p:cNvGrpSpPr>
            <a:grpSpLocks/>
          </p:cNvGrpSpPr>
          <p:nvPr/>
        </p:nvGrpSpPr>
        <p:grpSpPr bwMode="auto">
          <a:xfrm>
            <a:off x="2022574" y="2114990"/>
            <a:ext cx="749226" cy="474619"/>
            <a:chOff x="0" y="0"/>
            <a:chExt cx="579" cy="264"/>
          </a:xfrm>
        </p:grpSpPr>
        <p:grpSp>
          <p:nvGrpSpPr>
            <p:cNvPr id="113697" name="Group 91"/>
            <p:cNvGrpSpPr>
              <a:grpSpLocks/>
            </p:cNvGrpSpPr>
            <p:nvPr/>
          </p:nvGrpSpPr>
          <p:grpSpPr bwMode="auto">
            <a:xfrm>
              <a:off x="307" y="0"/>
              <a:ext cx="272" cy="264"/>
              <a:chOff x="0" y="0"/>
              <a:chExt cx="272" cy="264"/>
            </a:xfrm>
          </p:grpSpPr>
          <p:sp>
            <p:nvSpPr>
              <p:cNvPr id="113699" name="Oval 89"/>
              <p:cNvSpPr>
                <a:spLocks/>
              </p:cNvSpPr>
              <p:nvPr/>
            </p:nvSpPr>
            <p:spPr bwMode="auto">
              <a:xfrm>
                <a:off x="0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700" name="Rectangle 90"/>
              <p:cNvSpPr>
                <a:spLocks/>
              </p:cNvSpPr>
              <p:nvPr/>
            </p:nvSpPr>
            <p:spPr bwMode="auto">
              <a:xfrm>
                <a:off x="16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1</a:t>
                </a:r>
              </a:p>
            </p:txBody>
          </p:sp>
        </p:grpSp>
        <p:sp>
          <p:nvSpPr>
            <p:cNvPr id="113698" name="Line 92"/>
            <p:cNvSpPr>
              <a:spLocks noChangeShapeType="1"/>
            </p:cNvSpPr>
            <p:nvPr/>
          </p:nvSpPr>
          <p:spPr bwMode="auto">
            <a:xfrm rot="10800000" flipH="1">
              <a:off x="0" y="168"/>
              <a:ext cx="307" cy="86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7" name="Group 98"/>
          <p:cNvGrpSpPr>
            <a:grpSpLocks/>
          </p:cNvGrpSpPr>
          <p:nvPr/>
        </p:nvGrpSpPr>
        <p:grpSpPr bwMode="auto">
          <a:xfrm>
            <a:off x="1937742" y="3384351"/>
            <a:ext cx="762050" cy="482203"/>
            <a:chOff x="0" y="0"/>
            <a:chExt cx="616" cy="284"/>
          </a:xfrm>
        </p:grpSpPr>
        <p:grpSp>
          <p:nvGrpSpPr>
            <p:cNvPr id="113693" name="Group 96"/>
            <p:cNvGrpSpPr>
              <a:grpSpLocks/>
            </p:cNvGrpSpPr>
            <p:nvPr/>
          </p:nvGrpSpPr>
          <p:grpSpPr bwMode="auto">
            <a:xfrm>
              <a:off x="344" y="20"/>
              <a:ext cx="272" cy="264"/>
              <a:chOff x="0" y="0"/>
              <a:chExt cx="272" cy="264"/>
            </a:xfrm>
          </p:grpSpPr>
          <p:sp>
            <p:nvSpPr>
              <p:cNvPr id="113695" name="Oval 94"/>
              <p:cNvSpPr>
                <a:spLocks/>
              </p:cNvSpPr>
              <p:nvPr/>
            </p:nvSpPr>
            <p:spPr bwMode="auto">
              <a:xfrm>
                <a:off x="0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696" name="Rectangle 95"/>
              <p:cNvSpPr>
                <a:spLocks/>
              </p:cNvSpPr>
              <p:nvPr/>
            </p:nvSpPr>
            <p:spPr bwMode="auto">
              <a:xfrm>
                <a:off x="16" y="48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3</a:t>
                </a:r>
              </a:p>
            </p:txBody>
          </p:sp>
        </p:grpSp>
        <p:sp>
          <p:nvSpPr>
            <p:cNvPr id="113694" name="Line 97"/>
            <p:cNvSpPr>
              <a:spLocks noChangeShapeType="1"/>
            </p:cNvSpPr>
            <p:nvPr/>
          </p:nvSpPr>
          <p:spPr bwMode="auto">
            <a:xfrm>
              <a:off x="0" y="0"/>
              <a:ext cx="344" cy="128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3688" name="Group 103"/>
          <p:cNvGrpSpPr>
            <a:grpSpLocks/>
          </p:cNvGrpSpPr>
          <p:nvPr/>
        </p:nvGrpSpPr>
        <p:grpSpPr bwMode="auto">
          <a:xfrm>
            <a:off x="1318936" y="2878487"/>
            <a:ext cx="444390" cy="601858"/>
            <a:chOff x="0" y="0"/>
            <a:chExt cx="369" cy="462"/>
          </a:xfrm>
        </p:grpSpPr>
        <p:grpSp>
          <p:nvGrpSpPr>
            <p:cNvPr id="113689" name="Group 101"/>
            <p:cNvGrpSpPr>
              <a:grpSpLocks/>
            </p:cNvGrpSpPr>
            <p:nvPr/>
          </p:nvGrpSpPr>
          <p:grpSpPr bwMode="auto">
            <a:xfrm>
              <a:off x="0" y="198"/>
              <a:ext cx="272" cy="264"/>
              <a:chOff x="0" y="0"/>
              <a:chExt cx="272" cy="264"/>
            </a:xfrm>
          </p:grpSpPr>
          <p:sp>
            <p:nvSpPr>
              <p:cNvPr id="113691" name="Oval 99"/>
              <p:cNvSpPr>
                <a:spLocks/>
              </p:cNvSpPr>
              <p:nvPr/>
            </p:nvSpPr>
            <p:spPr bwMode="auto">
              <a:xfrm>
                <a:off x="0" y="0"/>
                <a:ext cx="264" cy="264"/>
              </a:xfrm>
              <a:prstGeom prst="ellipse">
                <a:avLst/>
              </a:prstGeom>
              <a:solidFill>
                <a:srgbClr val="0054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692" name="Rectangle 100"/>
              <p:cNvSpPr>
                <a:spLocks/>
              </p:cNvSpPr>
              <p:nvPr/>
            </p:nvSpPr>
            <p:spPr bwMode="auto">
              <a:xfrm>
                <a:off x="16" y="40"/>
                <a:ext cx="256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solidFill>
                      <a:srgbClr val="FFFFFF"/>
                    </a:solidFill>
                    <a:cs typeface="Arial" charset="0"/>
                  </a:rPr>
                  <a:t>4</a:t>
                </a:r>
              </a:p>
            </p:txBody>
          </p:sp>
        </p:grpSp>
        <p:sp>
          <p:nvSpPr>
            <p:cNvPr id="113690" name="Line 102"/>
            <p:cNvSpPr>
              <a:spLocks noChangeShapeType="1"/>
            </p:cNvSpPr>
            <p:nvPr/>
          </p:nvSpPr>
          <p:spPr bwMode="auto">
            <a:xfrm flipH="1">
              <a:off x="203" y="0"/>
              <a:ext cx="166" cy="223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24614668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Hypothalamus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3893344" cy="3661172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hypothalamus is located below the thalamus, just above the brainstem and pituitary gland.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It receives information from sensory receptors and uses this information to to control and integrate many basic physiological activities, including: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temperature regulation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food and fluid intake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sleep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75349" y="1182068"/>
            <a:ext cx="4202534" cy="3875484"/>
            <a:chOff x="0" y="0"/>
            <a:chExt cx="3764" cy="3472"/>
          </a:xfrm>
          <a:effectLst>
            <a:outerShdw blurRad="190500" dist="190500" dir="2700000">
              <a:srgbClr val="000000">
                <a:alpha val="43000"/>
              </a:srgbClr>
            </a:outerShdw>
          </a:effectLst>
        </p:grpSpPr>
        <p:pic>
          <p:nvPicPr>
            <p:cNvPr id="58371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3764" cy="3472"/>
            </a:xfrm>
            <a:prstGeom prst="rect">
              <a:avLst/>
            </a:prstGeom>
            <a:noFill/>
            <a:ln w="25400" cap="flat">
              <a:noFill/>
              <a:miter lim="800000"/>
              <a:headEnd/>
              <a:tailEnd/>
            </a:ln>
          </p:spPr>
        </p:pic>
        <p:sp>
          <p:nvSpPr>
            <p:cNvPr id="58372" name="Oval 4"/>
            <p:cNvSpPr>
              <a:spLocks/>
            </p:cNvSpPr>
            <p:nvPr/>
          </p:nvSpPr>
          <p:spPr bwMode="auto">
            <a:xfrm>
              <a:off x="1383" y="1197"/>
              <a:ext cx="809" cy="807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alpha val="12999"/>
                  </a:srgbClr>
                </a:gs>
              </a:gsLst>
              <a:path path="rect">
                <a:fillToRect l="50000" t="50000" r="50000" b="50000"/>
              </a:path>
            </a:gradFill>
            <a:ln w="25400" cap="flat">
              <a:solidFill>
                <a:srgbClr val="00548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Arial" pitchFamily="1" charset="0"/>
                <a:sym typeface="Arial" pitchFamily="1" charset="0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575349" y="3240360"/>
            <a:ext cx="1778124" cy="885155"/>
            <a:chOff x="-205" y="15"/>
            <a:chExt cx="1593" cy="793"/>
          </a:xfrm>
        </p:grpSpPr>
        <p:sp>
          <p:nvSpPr>
            <p:cNvPr id="142342" name="Rectangle 6"/>
            <p:cNvSpPr>
              <a:spLocks/>
            </p:cNvSpPr>
            <p:nvPr/>
          </p:nvSpPr>
          <p:spPr bwMode="auto">
            <a:xfrm>
              <a:off x="-205" y="632"/>
              <a:ext cx="130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Hypothalamus</a:t>
              </a:r>
            </a:p>
          </p:txBody>
        </p:sp>
        <p:sp>
          <p:nvSpPr>
            <p:cNvPr id="142343" name="Line 7"/>
            <p:cNvSpPr>
              <a:spLocks noChangeShapeType="1"/>
            </p:cNvSpPr>
            <p:nvPr/>
          </p:nvSpPr>
          <p:spPr bwMode="auto">
            <a:xfrm flipH="1">
              <a:off x="842" y="15"/>
              <a:ext cx="546" cy="617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225159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build="p" bldLvl="5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453" y="741164"/>
            <a:ext cx="4223742" cy="4896818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63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2" y="258961"/>
            <a:ext cx="4357688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Role of the Hypothalamus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031" y="1768078"/>
            <a:ext cx="3268266" cy="3509367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One of the most important functions of the hypothalamus is to link the endocrine system to the nervous system via the pituitary.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hypothalamus contains neurosecretory cells. 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These are specialized secretory neurons, which are both nerve and endocrine cells.</a:t>
            </a:r>
          </a:p>
        </p:txBody>
      </p:sp>
      <p:sp>
        <p:nvSpPr>
          <p:cNvPr id="143365" name="Rectangle 4"/>
          <p:cNvSpPr>
            <a:spLocks/>
          </p:cNvSpPr>
          <p:nvPr/>
        </p:nvSpPr>
        <p:spPr bwMode="auto">
          <a:xfrm>
            <a:off x="4688086" y="6241851"/>
            <a:ext cx="3518297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algn="ctr" eaLnBrk="1" hangingPunct="1"/>
            <a:r>
              <a:rPr lang="en-US" altLang="en-US" sz="1300" b="1" dirty="0">
                <a:solidFill>
                  <a:srgbClr val="000000"/>
                </a:solidFill>
                <a:cs typeface="Arial" charset="0"/>
              </a:rPr>
              <a:t>Structure of hypothalamus and pituitary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100093" y="455414"/>
            <a:ext cx="1935510" cy="875109"/>
            <a:chOff x="0" y="0"/>
            <a:chExt cx="1734" cy="784"/>
          </a:xfrm>
        </p:grpSpPr>
        <p:sp>
          <p:nvSpPr>
            <p:cNvPr id="143376" name="Rectangle 5"/>
            <p:cNvSpPr>
              <a:spLocks/>
            </p:cNvSpPr>
            <p:nvPr/>
          </p:nvSpPr>
          <p:spPr bwMode="auto">
            <a:xfrm>
              <a:off x="478" y="0"/>
              <a:ext cx="125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Neurosecretory cells</a:t>
              </a:r>
            </a:p>
          </p:txBody>
        </p:sp>
        <p:sp>
          <p:nvSpPr>
            <p:cNvPr id="143377" name="Line 6"/>
            <p:cNvSpPr>
              <a:spLocks noChangeShapeType="1"/>
            </p:cNvSpPr>
            <p:nvPr/>
          </p:nvSpPr>
          <p:spPr bwMode="auto">
            <a:xfrm rot="10800000" flipH="1">
              <a:off x="0" y="352"/>
              <a:ext cx="1134" cy="163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sp>
          <p:nvSpPr>
            <p:cNvPr id="143378" name="Line 7"/>
            <p:cNvSpPr>
              <a:spLocks noChangeShapeType="1"/>
            </p:cNvSpPr>
            <p:nvPr/>
          </p:nvSpPr>
          <p:spPr bwMode="auto">
            <a:xfrm rot="10800000">
              <a:off x="1126" y="360"/>
              <a:ext cx="134" cy="424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707902" y="2713508"/>
            <a:ext cx="1913325" cy="652984"/>
            <a:chOff x="-205" y="15"/>
            <a:chExt cx="1713" cy="585"/>
          </a:xfrm>
        </p:grpSpPr>
        <p:sp>
          <p:nvSpPr>
            <p:cNvPr id="143374" name="Rectangle 9"/>
            <p:cNvSpPr>
              <a:spLocks/>
            </p:cNvSpPr>
            <p:nvPr/>
          </p:nvSpPr>
          <p:spPr bwMode="auto">
            <a:xfrm>
              <a:off x="-205" y="440"/>
              <a:ext cx="1309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Hypothalamus</a:t>
              </a:r>
            </a:p>
          </p:txBody>
        </p:sp>
        <p:sp>
          <p:nvSpPr>
            <p:cNvPr id="143375" name="Line 10"/>
            <p:cNvSpPr>
              <a:spLocks noChangeShapeType="1"/>
            </p:cNvSpPr>
            <p:nvPr/>
          </p:nvSpPr>
          <p:spPr bwMode="auto">
            <a:xfrm flipH="1">
              <a:off x="1090" y="15"/>
              <a:ext cx="418" cy="443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491508" y="4950395"/>
            <a:ext cx="2048247" cy="755675"/>
            <a:chOff x="-328" y="11"/>
            <a:chExt cx="1835" cy="677"/>
          </a:xfrm>
        </p:grpSpPr>
        <p:sp>
          <p:nvSpPr>
            <p:cNvPr id="143372" name="Rectangle 12"/>
            <p:cNvSpPr>
              <a:spLocks/>
            </p:cNvSpPr>
            <p:nvPr/>
          </p:nvSpPr>
          <p:spPr bwMode="auto">
            <a:xfrm>
              <a:off x="-328" y="360"/>
              <a:ext cx="166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Anterior pituitary</a:t>
              </a:r>
            </a:p>
            <a:p>
              <a:pPr algn="ctr" eaLnBrk="1" hangingPunct="1"/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(</a:t>
              </a:r>
              <a:r>
                <a:rPr lang="en-US" altLang="en-US" sz="1300" b="1" dirty="0" err="1">
                  <a:solidFill>
                    <a:srgbClr val="005481"/>
                  </a:solidFill>
                  <a:cs typeface="Arial" charset="0"/>
                </a:rPr>
                <a:t>adenhypophysis</a:t>
              </a:r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)</a:t>
              </a:r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 </a:t>
              </a:r>
            </a:p>
          </p:txBody>
        </p:sp>
        <p:sp>
          <p:nvSpPr>
            <p:cNvPr id="143373" name="Line 13"/>
            <p:cNvSpPr>
              <a:spLocks noChangeShapeType="1"/>
            </p:cNvSpPr>
            <p:nvPr/>
          </p:nvSpPr>
          <p:spPr bwMode="auto">
            <a:xfrm flipH="1">
              <a:off x="991" y="11"/>
              <a:ext cx="516" cy="324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746826" y="5110159"/>
            <a:ext cx="1713607" cy="1045578"/>
            <a:chOff x="18" y="9"/>
            <a:chExt cx="1919" cy="871"/>
          </a:xfrm>
        </p:grpSpPr>
        <p:sp>
          <p:nvSpPr>
            <p:cNvPr id="143370" name="Rectangle 15"/>
            <p:cNvSpPr>
              <a:spLocks/>
            </p:cNvSpPr>
            <p:nvPr/>
          </p:nvSpPr>
          <p:spPr bwMode="auto">
            <a:xfrm>
              <a:off x="545" y="552"/>
              <a:ext cx="139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Posterior pituitary(</a:t>
              </a:r>
              <a:r>
                <a:rPr lang="en-US" altLang="en-US" sz="1300" b="1" dirty="0" err="1">
                  <a:solidFill>
                    <a:srgbClr val="005481"/>
                  </a:solidFill>
                  <a:cs typeface="Arial" charset="0"/>
                </a:rPr>
                <a:t>neurohypophysis</a:t>
              </a:r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)</a:t>
              </a:r>
            </a:p>
          </p:txBody>
        </p:sp>
        <p:sp>
          <p:nvSpPr>
            <p:cNvPr id="143371" name="Line 16"/>
            <p:cNvSpPr>
              <a:spLocks noChangeShapeType="1"/>
            </p:cNvSpPr>
            <p:nvPr/>
          </p:nvSpPr>
          <p:spPr bwMode="auto">
            <a:xfrm>
              <a:off x="18" y="9"/>
              <a:ext cx="951" cy="344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2327971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bldLvl="5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"/>
          <p:cNvSpPr>
            <a:spLocks noGrp="1" noChangeArrowheads="1"/>
          </p:cNvSpPr>
          <p:nvPr>
            <p:ph type="title"/>
          </p:nvPr>
        </p:nvSpPr>
        <p:spPr>
          <a:xfrm>
            <a:off x="311051" y="3473"/>
            <a:ext cx="7620000" cy="1143000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 dirty="0"/>
              <a:t>Hypothalamus Structure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195" y="1257971"/>
            <a:ext cx="3741539" cy="4358803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347267" y="5482828"/>
            <a:ext cx="2773784" cy="723305"/>
            <a:chOff x="0" y="0"/>
            <a:chExt cx="2484" cy="648"/>
          </a:xfrm>
        </p:grpSpPr>
        <p:sp>
          <p:nvSpPr>
            <p:cNvPr id="144415" name="Rectangle 3"/>
            <p:cNvSpPr>
              <a:spLocks/>
            </p:cNvSpPr>
            <p:nvPr/>
          </p:nvSpPr>
          <p:spPr bwMode="auto">
            <a:xfrm>
              <a:off x="0" y="0"/>
              <a:ext cx="2048" cy="6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44416" name="Group 6"/>
            <p:cNvGrpSpPr>
              <a:grpSpLocks/>
            </p:cNvGrpSpPr>
            <p:nvPr/>
          </p:nvGrpSpPr>
          <p:grpSpPr bwMode="auto">
            <a:xfrm>
              <a:off x="16" y="80"/>
              <a:ext cx="2468" cy="496"/>
              <a:chOff x="0" y="0"/>
              <a:chExt cx="2468" cy="496"/>
            </a:xfrm>
          </p:grpSpPr>
          <p:sp>
            <p:nvSpPr>
              <p:cNvPr id="144417" name="Freeform 4"/>
              <p:cNvSpPr>
                <a:spLocks/>
              </p:cNvSpPr>
              <p:nvPr/>
            </p:nvSpPr>
            <p:spPr bwMode="auto">
              <a:xfrm>
                <a:off x="2097" y="46"/>
                <a:ext cx="371" cy="231"/>
              </a:xfrm>
              <a:custGeom>
                <a:avLst/>
                <a:gdLst>
                  <a:gd name="T0" fmla="*/ 0 w 21600"/>
                  <a:gd name="T1" fmla="*/ 0 h 20519"/>
                  <a:gd name="T2" fmla="*/ 0 w 21600"/>
                  <a:gd name="T3" fmla="*/ 0 h 20519"/>
                  <a:gd name="T4" fmla="*/ 0 60000 65536"/>
                  <a:gd name="T5" fmla="*/ 0 60000 65536"/>
                  <a:gd name="T6" fmla="*/ 0 w 21600"/>
                  <a:gd name="T7" fmla="*/ 0 h 20519"/>
                  <a:gd name="T8" fmla="*/ 21600 w 21600"/>
                  <a:gd name="T9" fmla="*/ 20519 h 2051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00" h="20519">
                    <a:moveTo>
                      <a:pt x="21600" y="0"/>
                    </a:moveTo>
                    <a:cubicBezTo>
                      <a:pt x="21600" y="0"/>
                      <a:pt x="14782" y="21600"/>
                      <a:pt x="0" y="20477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4418" name="Rectangle 5"/>
              <p:cNvSpPr>
                <a:spLocks/>
              </p:cNvSpPr>
              <p:nvPr/>
            </p:nvSpPr>
            <p:spPr bwMode="auto">
              <a:xfrm>
                <a:off x="0" y="0"/>
                <a:ext cx="1960" cy="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dirty="0">
                    <a:solidFill>
                      <a:schemeClr val="tx1"/>
                    </a:solidFill>
                    <a:cs typeface="Arial" charset="0"/>
                  </a:rPr>
                  <a:t>Releases at least seven peptide hormones, including GH, TSH, and ACTH</a:t>
                </a:r>
              </a:p>
            </p:txBody>
          </p:sp>
        </p:grp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477247" y="5598914"/>
            <a:ext cx="2603004" cy="1017984"/>
            <a:chOff x="0" y="0"/>
            <a:chExt cx="2332" cy="912"/>
          </a:xfrm>
        </p:grpSpPr>
        <p:sp>
          <p:nvSpPr>
            <p:cNvPr id="144411" name="Rectangle 8"/>
            <p:cNvSpPr>
              <a:spLocks/>
            </p:cNvSpPr>
            <p:nvPr/>
          </p:nvSpPr>
          <p:spPr bwMode="auto">
            <a:xfrm>
              <a:off x="284" y="138"/>
              <a:ext cx="2048" cy="7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44412" name="Group 11"/>
            <p:cNvGrpSpPr>
              <a:grpSpLocks/>
            </p:cNvGrpSpPr>
            <p:nvPr/>
          </p:nvGrpSpPr>
          <p:grpSpPr bwMode="auto">
            <a:xfrm>
              <a:off x="0" y="0"/>
              <a:ext cx="2220" cy="832"/>
              <a:chOff x="0" y="0"/>
              <a:chExt cx="2220" cy="832"/>
            </a:xfrm>
          </p:grpSpPr>
          <p:sp>
            <p:nvSpPr>
              <p:cNvPr id="144413" name="Line 9"/>
              <p:cNvSpPr>
                <a:spLocks noChangeShapeType="1"/>
              </p:cNvSpPr>
              <p:nvPr/>
            </p:nvSpPr>
            <p:spPr bwMode="auto">
              <a:xfrm rot="10800000">
                <a:off x="0" y="0"/>
                <a:ext cx="188" cy="37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AU"/>
              </a:p>
            </p:txBody>
          </p:sp>
          <p:sp>
            <p:nvSpPr>
              <p:cNvPr id="144414" name="Rectangle 10"/>
              <p:cNvSpPr>
                <a:spLocks/>
              </p:cNvSpPr>
              <p:nvPr/>
            </p:nvSpPr>
            <p:spPr bwMode="auto">
              <a:xfrm>
                <a:off x="308" y="138"/>
                <a:ext cx="1912" cy="6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dirty="0">
                    <a:solidFill>
                      <a:schemeClr val="tx1"/>
                    </a:solidFill>
                    <a:cs typeface="Arial" charset="0"/>
                  </a:rPr>
                  <a:t>Stores and releases oxytocin and ADH produced by the hypothalamus.</a:t>
                </a:r>
              </a:p>
            </p:txBody>
          </p:sp>
        </p:grp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607219" y="3214688"/>
            <a:ext cx="4028406" cy="366117"/>
            <a:chOff x="0" y="0"/>
            <a:chExt cx="3609" cy="328"/>
          </a:xfrm>
        </p:grpSpPr>
        <p:sp>
          <p:nvSpPr>
            <p:cNvPr id="144409" name="Rectangle 13"/>
            <p:cNvSpPr>
              <a:spLocks/>
            </p:cNvSpPr>
            <p:nvPr/>
          </p:nvSpPr>
          <p:spPr bwMode="auto">
            <a:xfrm>
              <a:off x="0" y="0"/>
              <a:ext cx="141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Portal vein links two capillary networks</a:t>
              </a:r>
            </a:p>
          </p:txBody>
        </p:sp>
        <p:sp>
          <p:nvSpPr>
            <p:cNvPr id="144410" name="Line 14"/>
            <p:cNvSpPr>
              <a:spLocks noChangeShapeType="1"/>
            </p:cNvSpPr>
            <p:nvPr/>
          </p:nvSpPr>
          <p:spPr bwMode="auto">
            <a:xfrm rot="10800000">
              <a:off x="1363" y="166"/>
              <a:ext cx="2225" cy="117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607219" y="4313039"/>
            <a:ext cx="3228082" cy="741164"/>
            <a:chOff x="0" y="0"/>
            <a:chExt cx="2892" cy="664"/>
          </a:xfrm>
        </p:grpSpPr>
        <p:sp>
          <p:nvSpPr>
            <p:cNvPr id="144407" name="Rectangle 16"/>
            <p:cNvSpPr>
              <a:spLocks/>
            </p:cNvSpPr>
            <p:nvPr/>
          </p:nvSpPr>
          <p:spPr bwMode="auto">
            <a:xfrm>
              <a:off x="0" y="0"/>
              <a:ext cx="1928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b="1">
                  <a:solidFill>
                    <a:srgbClr val="005481"/>
                  </a:solidFill>
                  <a:cs typeface="Arial" charset="0"/>
                </a:rPr>
                <a:t>Anterior pituitary</a:t>
              </a:r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 is truly glandular and secretes hormones in response to the hypothalamic hormones.</a:t>
              </a:r>
            </a:p>
          </p:txBody>
        </p:sp>
        <p:sp>
          <p:nvSpPr>
            <p:cNvPr id="144408" name="Line 17"/>
            <p:cNvSpPr>
              <a:spLocks noChangeShapeType="1"/>
            </p:cNvSpPr>
            <p:nvPr/>
          </p:nvSpPr>
          <p:spPr bwMode="auto">
            <a:xfrm flipH="1">
              <a:off x="1855" y="92"/>
              <a:ext cx="1017" cy="229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5180335" y="3821906"/>
            <a:ext cx="3280543" cy="366117"/>
            <a:chOff x="0" y="0"/>
            <a:chExt cx="2806" cy="328"/>
          </a:xfrm>
        </p:grpSpPr>
        <p:sp>
          <p:nvSpPr>
            <p:cNvPr id="144405" name="Rectangle 19"/>
            <p:cNvSpPr>
              <a:spLocks/>
            </p:cNvSpPr>
            <p:nvPr/>
          </p:nvSpPr>
          <p:spPr bwMode="auto">
            <a:xfrm>
              <a:off x="1694" y="0"/>
              <a:ext cx="111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Neurosecretory axons</a:t>
              </a:r>
            </a:p>
          </p:txBody>
        </p:sp>
        <p:sp>
          <p:nvSpPr>
            <p:cNvPr id="144406" name="Line 20"/>
            <p:cNvSpPr>
              <a:spLocks noChangeShapeType="1"/>
            </p:cNvSpPr>
            <p:nvPr/>
          </p:nvSpPr>
          <p:spPr bwMode="auto">
            <a:xfrm>
              <a:off x="20" y="144"/>
              <a:ext cx="1701" cy="19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9" name="Group 24"/>
          <p:cNvGrpSpPr>
            <a:grpSpLocks/>
          </p:cNvGrpSpPr>
          <p:nvPr/>
        </p:nvGrpSpPr>
        <p:grpSpPr bwMode="auto">
          <a:xfrm>
            <a:off x="6480721" y="3018234"/>
            <a:ext cx="1198811" cy="299145"/>
            <a:chOff x="0" y="0"/>
            <a:chExt cx="1073" cy="268"/>
          </a:xfrm>
        </p:grpSpPr>
        <p:sp>
          <p:nvSpPr>
            <p:cNvPr id="144403" name="Rectangle 22"/>
            <p:cNvSpPr>
              <a:spLocks/>
            </p:cNvSpPr>
            <p:nvPr/>
          </p:nvSpPr>
          <p:spPr bwMode="auto">
            <a:xfrm>
              <a:off x="529" y="0"/>
              <a:ext cx="54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Artery</a:t>
              </a:r>
            </a:p>
          </p:txBody>
        </p:sp>
        <p:sp>
          <p:nvSpPr>
            <p:cNvPr id="144404" name="Line 23"/>
            <p:cNvSpPr>
              <a:spLocks noChangeShapeType="1"/>
            </p:cNvSpPr>
            <p:nvPr/>
          </p:nvSpPr>
          <p:spPr bwMode="auto">
            <a:xfrm rot="10800000" flipH="1">
              <a:off x="19" y="67"/>
              <a:ext cx="545" cy="194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0" name="Group 27"/>
          <p:cNvGrpSpPr>
            <a:grpSpLocks/>
          </p:cNvGrpSpPr>
          <p:nvPr/>
        </p:nvGrpSpPr>
        <p:grpSpPr bwMode="auto">
          <a:xfrm>
            <a:off x="607219" y="1294805"/>
            <a:ext cx="3085207" cy="1116211"/>
            <a:chOff x="0" y="0"/>
            <a:chExt cx="2764" cy="1000"/>
          </a:xfrm>
        </p:grpSpPr>
        <p:sp>
          <p:nvSpPr>
            <p:cNvPr id="144401" name="Rectangle 25"/>
            <p:cNvSpPr>
              <a:spLocks/>
            </p:cNvSpPr>
            <p:nvPr/>
          </p:nvSpPr>
          <p:spPr bwMode="auto">
            <a:xfrm>
              <a:off x="0" y="0"/>
              <a:ext cx="2128" cy="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Neurosecretory cells in the hypothalamus secrete neurohormones into capillaries. These releasing hormones control the release of hormones from the anterior pituitary.</a:t>
              </a:r>
            </a:p>
          </p:txBody>
        </p:sp>
        <p:sp>
          <p:nvSpPr>
            <p:cNvPr id="144402" name="Line 26"/>
            <p:cNvSpPr>
              <a:spLocks noChangeShapeType="1"/>
            </p:cNvSpPr>
            <p:nvPr/>
          </p:nvSpPr>
          <p:spPr bwMode="auto">
            <a:xfrm flipH="1">
              <a:off x="2092" y="311"/>
              <a:ext cx="653" cy="199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" name="Group 30"/>
          <p:cNvGrpSpPr>
            <a:grpSpLocks/>
          </p:cNvGrpSpPr>
          <p:nvPr/>
        </p:nvGrpSpPr>
        <p:grpSpPr bwMode="auto">
          <a:xfrm>
            <a:off x="5823281" y="4702597"/>
            <a:ext cx="2637543" cy="592708"/>
            <a:chOff x="19" y="5"/>
            <a:chExt cx="2362" cy="531"/>
          </a:xfrm>
        </p:grpSpPr>
        <p:sp>
          <p:nvSpPr>
            <p:cNvPr id="144399" name="Rectangle 28"/>
            <p:cNvSpPr>
              <a:spLocks/>
            </p:cNvSpPr>
            <p:nvPr/>
          </p:nvSpPr>
          <p:spPr bwMode="auto">
            <a:xfrm>
              <a:off x="1137" y="172"/>
              <a:ext cx="1244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b="1" dirty="0">
                  <a:solidFill>
                    <a:srgbClr val="005481"/>
                  </a:solidFill>
                  <a:cs typeface="Arial" charset="0"/>
                </a:rPr>
                <a:t>Posterior pituitary</a:t>
              </a:r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 is neural in origin</a:t>
              </a:r>
            </a:p>
          </p:txBody>
        </p:sp>
        <p:sp>
          <p:nvSpPr>
            <p:cNvPr id="144400" name="Line 29"/>
            <p:cNvSpPr>
              <a:spLocks noChangeShapeType="1"/>
            </p:cNvSpPr>
            <p:nvPr/>
          </p:nvSpPr>
          <p:spPr bwMode="auto">
            <a:xfrm>
              <a:off x="19" y="5"/>
              <a:ext cx="1161" cy="334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2" name="Group 33"/>
          <p:cNvGrpSpPr>
            <a:grpSpLocks/>
          </p:cNvGrpSpPr>
          <p:nvPr/>
        </p:nvGrpSpPr>
        <p:grpSpPr bwMode="auto">
          <a:xfrm>
            <a:off x="6105674" y="1241227"/>
            <a:ext cx="2355205" cy="741164"/>
            <a:chOff x="18" y="0"/>
            <a:chExt cx="2110" cy="664"/>
          </a:xfrm>
        </p:grpSpPr>
        <p:sp>
          <p:nvSpPr>
            <p:cNvPr id="144397" name="Rectangle 31"/>
            <p:cNvSpPr>
              <a:spLocks/>
            </p:cNvSpPr>
            <p:nvPr/>
          </p:nvSpPr>
          <p:spPr bwMode="auto">
            <a:xfrm>
              <a:off x="425" y="0"/>
              <a:ext cx="1703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005481"/>
                  </a:solidFill>
                  <a:cs typeface="Arial" charset="0"/>
                </a:rPr>
                <a:t>Neurohormones</a:t>
              </a:r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 from the hypothalamic </a:t>
              </a:r>
              <a:r>
                <a:rPr lang="en-US" altLang="en-US" sz="1300" dirty="0" err="1">
                  <a:solidFill>
                    <a:srgbClr val="005481"/>
                  </a:solidFill>
                  <a:cs typeface="Arial" charset="0"/>
                </a:rPr>
                <a:t>neurosecretory</a:t>
              </a:r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 cells supplying the posterior pituitary.</a:t>
              </a:r>
            </a:p>
          </p:txBody>
        </p:sp>
        <p:sp>
          <p:nvSpPr>
            <p:cNvPr id="144398" name="Line 32"/>
            <p:cNvSpPr>
              <a:spLocks noChangeShapeType="1"/>
            </p:cNvSpPr>
            <p:nvPr/>
          </p:nvSpPr>
          <p:spPr bwMode="auto">
            <a:xfrm rot="10800000" flipH="1">
              <a:off x="18" y="334"/>
              <a:ext cx="412" cy="221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8219861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Hypothalamus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3455789" cy="3616523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21047" algn="l"/>
              </a:tabLst>
            </a:pPr>
            <a:r>
              <a:rPr lang="en-US" altLang="en-US"/>
              <a:t>The hypothalamus coordinates nervous and endocrine systems.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It secretes </a:t>
            </a:r>
            <a:r>
              <a:rPr lang="en-US" altLang="en-US" b="1">
                <a:solidFill>
                  <a:srgbClr val="00446E"/>
                </a:solidFill>
              </a:rPr>
              <a:t>releasing hormones</a:t>
            </a:r>
            <a:r>
              <a:rPr lang="en-US" altLang="en-US"/>
              <a:t>, which regulate the hormones of the anterior pituitary. 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It also produces the neurohormones oxytocin and ADH, which are transported to and released from the posterior pituitary.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094" y="1253505"/>
            <a:ext cx="4670227" cy="4509492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Oval 4"/>
          <p:cNvSpPr>
            <a:spLocks/>
          </p:cNvSpPr>
          <p:nvPr/>
        </p:nvSpPr>
        <p:spPr bwMode="auto">
          <a:xfrm>
            <a:off x="6090047" y="2884289"/>
            <a:ext cx="767953" cy="767953"/>
          </a:xfrm>
          <a:prstGeom prst="ellipse">
            <a:avLst/>
          </a:prstGeom>
          <a:noFill/>
          <a:ln w="76200">
            <a:solidFill>
              <a:srgbClr val="FFFFFF"/>
            </a:solidFill>
            <a:miter lim="800000"/>
            <a:headEnd/>
            <a:tailEnd/>
          </a:ln>
          <a:effectLst>
            <a:outerShdw blurRad="190500" dist="190499" dir="2700000" algn="ctr" rotWithShape="0">
              <a:schemeClr val="bg2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>
              <a:latin typeface="Arial" pitchFamily="1" charset="0"/>
              <a:sym typeface="Arial" pitchFamily="1" charset="0"/>
            </a:endParaRPr>
          </a:p>
        </p:txBody>
      </p:sp>
      <p:sp>
        <p:nvSpPr>
          <p:cNvPr id="115718" name="Rectangle 5"/>
          <p:cNvSpPr>
            <a:spLocks/>
          </p:cNvSpPr>
          <p:nvPr/>
        </p:nvSpPr>
        <p:spPr bwMode="auto">
          <a:xfrm>
            <a:off x="5277445" y="4697016"/>
            <a:ext cx="1276945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hypothalamus</a:t>
            </a:r>
          </a:p>
        </p:txBody>
      </p:sp>
      <p:sp>
        <p:nvSpPr>
          <p:cNvPr id="115719" name="Line 6"/>
          <p:cNvSpPr>
            <a:spLocks noChangeShapeType="1"/>
          </p:cNvSpPr>
          <p:nvPr/>
        </p:nvSpPr>
        <p:spPr bwMode="auto">
          <a:xfrm flipH="1">
            <a:off x="5832203" y="3325193"/>
            <a:ext cx="698748" cy="1360661"/>
          </a:xfrm>
          <a:prstGeom prst="line">
            <a:avLst/>
          </a:prstGeom>
          <a:noFill/>
          <a:ln w="25400">
            <a:solidFill>
              <a:srgbClr val="FFFFFF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pic>
        <p:nvPicPr>
          <p:cNvPr id="3175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107" y="3998268"/>
            <a:ext cx="2723555" cy="2868662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21" name="Oval 8"/>
          <p:cNvSpPr>
            <a:spLocks/>
          </p:cNvSpPr>
          <p:nvPr/>
        </p:nvSpPr>
        <p:spPr bwMode="auto">
          <a:xfrm>
            <a:off x="3786187" y="4509492"/>
            <a:ext cx="634008" cy="491133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alpha val="0"/>
                </a:srgbClr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0137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 bldLvl="5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5" r="2382" b="13608"/>
          <a:stretch>
            <a:fillRect/>
          </a:stretch>
        </p:blipFill>
        <p:spPr bwMode="auto">
          <a:xfrm>
            <a:off x="3749639" y="1363886"/>
            <a:ext cx="4822574" cy="487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031" y="1268015"/>
            <a:ext cx="3554016" cy="3500438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pituitary gland is an endocrine gland about the size of a pea hanging from the inferior surface of the hypothalamus.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It pituitary comprises two distinct regions: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Anterior pituitary: glandular in origin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Posterior pituitary: neural in origin (an extension of the hypothalamus)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714875" y="3214688"/>
            <a:ext cx="2050480" cy="1625203"/>
            <a:chOff x="0" y="0"/>
            <a:chExt cx="1837" cy="1456"/>
          </a:xfrm>
        </p:grpSpPr>
        <p:sp>
          <p:nvSpPr>
            <p:cNvPr id="150539" name="Rectangle 3"/>
            <p:cNvSpPr>
              <a:spLocks/>
            </p:cNvSpPr>
            <p:nvPr/>
          </p:nvSpPr>
          <p:spPr bwMode="auto">
            <a:xfrm>
              <a:off x="0" y="855"/>
              <a:ext cx="904" cy="6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0540" name="Rectangle 4"/>
            <p:cNvSpPr>
              <a:spLocks/>
            </p:cNvSpPr>
            <p:nvPr/>
          </p:nvSpPr>
          <p:spPr bwMode="auto">
            <a:xfrm>
              <a:off x="0" y="326"/>
              <a:ext cx="904" cy="1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chemeClr val="bg1"/>
                  </a:solidFill>
                  <a:cs typeface="Arial" charset="0"/>
                </a:rPr>
                <a:t>Posterior  pituitary</a:t>
              </a:r>
            </a:p>
          </p:txBody>
        </p:sp>
        <p:sp>
          <p:nvSpPr>
            <p:cNvPr id="150541" name="Line 5"/>
            <p:cNvSpPr>
              <a:spLocks noChangeShapeType="1"/>
            </p:cNvSpPr>
            <p:nvPr/>
          </p:nvSpPr>
          <p:spPr bwMode="auto">
            <a:xfrm flipH="1">
              <a:off x="754" y="0"/>
              <a:ext cx="1083" cy="1232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sp>
        <p:nvSpPr>
          <p:cNvPr id="150533" name="Rectangle 7"/>
          <p:cNvSpPr>
            <a:spLocks noGrp="1" noChangeArrowheads="1"/>
          </p:cNvSpPr>
          <p:nvPr>
            <p:ph type="title"/>
          </p:nvPr>
        </p:nvSpPr>
        <p:spPr>
          <a:xfrm>
            <a:off x="500063" y="267891"/>
            <a:ext cx="8474273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Hormones of the Pituitary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920508" y="3166691"/>
            <a:ext cx="2116336" cy="1180951"/>
            <a:chOff x="0" y="0"/>
            <a:chExt cx="1896" cy="1058"/>
          </a:xfrm>
        </p:grpSpPr>
        <p:grpSp>
          <p:nvGrpSpPr>
            <p:cNvPr id="150535" name="Group 10"/>
            <p:cNvGrpSpPr>
              <a:grpSpLocks/>
            </p:cNvGrpSpPr>
            <p:nvPr/>
          </p:nvGrpSpPr>
          <p:grpSpPr bwMode="auto">
            <a:xfrm>
              <a:off x="1136" y="570"/>
              <a:ext cx="760" cy="488"/>
              <a:chOff x="0" y="0"/>
              <a:chExt cx="760" cy="488"/>
            </a:xfrm>
          </p:grpSpPr>
          <p:sp>
            <p:nvSpPr>
              <p:cNvPr id="150537" name="Rectangle 8"/>
              <p:cNvSpPr>
                <a:spLocks/>
              </p:cNvSpPr>
              <p:nvPr/>
            </p:nvSpPr>
            <p:spPr bwMode="auto">
              <a:xfrm>
                <a:off x="0" y="0"/>
                <a:ext cx="760" cy="4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0538" name="Rectangle 9"/>
              <p:cNvSpPr>
                <a:spLocks/>
              </p:cNvSpPr>
              <p:nvPr/>
            </p:nvSpPr>
            <p:spPr bwMode="auto">
              <a:xfrm>
                <a:off x="40" y="64"/>
                <a:ext cx="688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chemeClr val="bg1"/>
                    </a:solidFill>
                    <a:cs typeface="Arial" charset="0"/>
                  </a:rPr>
                  <a:t>Anterior pituitary</a:t>
                </a:r>
              </a:p>
            </p:txBody>
          </p:sp>
        </p:grpSp>
        <p:sp>
          <p:nvSpPr>
            <p:cNvPr id="150536" name="Line 11"/>
            <p:cNvSpPr>
              <a:spLocks noChangeShapeType="1"/>
            </p:cNvSpPr>
            <p:nvPr/>
          </p:nvSpPr>
          <p:spPr bwMode="auto">
            <a:xfrm>
              <a:off x="0" y="0"/>
              <a:ext cx="1208" cy="738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417807059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build="p" bldLvl="5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" b="41536"/>
          <a:stretch>
            <a:fillRect/>
          </a:stretch>
        </p:blipFill>
        <p:spPr bwMode="auto">
          <a:xfrm>
            <a:off x="3429000" y="955476"/>
            <a:ext cx="3759398" cy="592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4357" y="1205111"/>
            <a:ext cx="3528392" cy="1506091"/>
          </a:xfrm>
        </p:spPr>
        <p:txBody>
          <a:bodyPr>
            <a:normAutofit fontScale="70000" lnSpcReduction="2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 dirty="0"/>
              <a:t>The anterior pituitary releases at least seven peptide hormones into the blood.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 dirty="0"/>
              <a:t>The release of these hormones is regulated by releasing and inhibiting hormones from the hypothalamus.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813102" y="928688"/>
            <a:ext cx="3571875" cy="1428750"/>
            <a:chOff x="0" y="0"/>
            <a:chExt cx="3200" cy="1280"/>
          </a:xfrm>
        </p:grpSpPr>
        <p:grpSp>
          <p:nvGrpSpPr>
            <p:cNvPr id="151594" name="Group 5"/>
            <p:cNvGrpSpPr>
              <a:grpSpLocks/>
            </p:cNvGrpSpPr>
            <p:nvPr/>
          </p:nvGrpSpPr>
          <p:grpSpPr bwMode="auto">
            <a:xfrm>
              <a:off x="824" y="0"/>
              <a:ext cx="2376" cy="792"/>
              <a:chOff x="0" y="0"/>
              <a:chExt cx="2376" cy="792"/>
            </a:xfrm>
          </p:grpSpPr>
          <p:sp>
            <p:nvSpPr>
              <p:cNvPr id="151596" name="Rectangle 3"/>
              <p:cNvSpPr>
                <a:spLocks/>
              </p:cNvSpPr>
              <p:nvPr/>
            </p:nvSpPr>
            <p:spPr bwMode="auto">
              <a:xfrm>
                <a:off x="0" y="0"/>
                <a:ext cx="2376" cy="7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597" name="Rectangle 4"/>
              <p:cNvSpPr>
                <a:spLocks/>
              </p:cNvSpPr>
              <p:nvPr/>
            </p:nvSpPr>
            <p:spPr bwMode="auto">
              <a:xfrm>
                <a:off x="16" y="72"/>
                <a:ext cx="2264" cy="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chemeClr val="accent1"/>
                    </a:solidFill>
                    <a:cs typeface="Arial" charset="0"/>
                  </a:rPr>
                  <a:t>Thyroid Stimulating Hormone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Increases synthesis and secretion of thyroid hormones T3 and </a:t>
                </a:r>
                <a:r>
                  <a:rPr lang="en-US" altLang="en-US" sz="1300" dirty="0" err="1">
                    <a:solidFill>
                      <a:schemeClr val="bg1"/>
                    </a:solidFill>
                    <a:cs typeface="Arial" charset="0"/>
                  </a:rPr>
                  <a:t>thyroxine</a:t>
                </a:r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) from the thyroid gland.</a:t>
                </a:r>
              </a:p>
            </p:txBody>
          </p:sp>
        </p:grpSp>
        <p:sp>
          <p:nvSpPr>
            <p:cNvPr id="151595" name="Line 6"/>
            <p:cNvSpPr>
              <a:spLocks noChangeShapeType="1"/>
            </p:cNvSpPr>
            <p:nvPr/>
          </p:nvSpPr>
          <p:spPr bwMode="auto">
            <a:xfrm rot="10800000" flipH="1">
              <a:off x="0" y="362"/>
              <a:ext cx="840" cy="918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945931" y="2143125"/>
            <a:ext cx="3439046" cy="1026914"/>
            <a:chOff x="0" y="0"/>
            <a:chExt cx="3080" cy="920"/>
          </a:xfrm>
        </p:grpSpPr>
        <p:grpSp>
          <p:nvGrpSpPr>
            <p:cNvPr id="151584" name="Group 10"/>
            <p:cNvGrpSpPr>
              <a:grpSpLocks/>
            </p:cNvGrpSpPr>
            <p:nvPr/>
          </p:nvGrpSpPr>
          <p:grpSpPr bwMode="auto">
            <a:xfrm>
              <a:off x="1072" y="0"/>
              <a:ext cx="2008" cy="920"/>
              <a:chOff x="0" y="0"/>
              <a:chExt cx="2008" cy="920"/>
            </a:xfrm>
          </p:grpSpPr>
          <p:sp>
            <p:nvSpPr>
              <p:cNvPr id="151592" name="Rectangle 8"/>
              <p:cNvSpPr>
                <a:spLocks/>
              </p:cNvSpPr>
              <p:nvPr/>
            </p:nvSpPr>
            <p:spPr bwMode="auto">
              <a:xfrm>
                <a:off x="0" y="0"/>
                <a:ext cx="2008" cy="92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593" name="Rectangle 9"/>
              <p:cNvSpPr>
                <a:spLocks/>
              </p:cNvSpPr>
              <p:nvPr/>
            </p:nvSpPr>
            <p:spPr bwMode="auto">
              <a:xfrm>
                <a:off x="8" y="48"/>
                <a:ext cx="1904" cy="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Growth Hormone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Stimulates protein synthesis and growth in most tissues. One of the main regulators of metabolism.</a:t>
                </a:r>
              </a:p>
            </p:txBody>
          </p:sp>
        </p:grpSp>
        <p:sp>
          <p:nvSpPr>
            <p:cNvPr id="151585" name="Line 11"/>
            <p:cNvSpPr>
              <a:spLocks noChangeShapeType="1"/>
            </p:cNvSpPr>
            <p:nvPr/>
          </p:nvSpPr>
          <p:spPr bwMode="auto">
            <a:xfrm rot="10800000" flipH="1">
              <a:off x="218" y="450"/>
              <a:ext cx="854" cy="238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grpSp>
          <p:nvGrpSpPr>
            <p:cNvPr id="151586" name="Group 17"/>
            <p:cNvGrpSpPr>
              <a:grpSpLocks/>
            </p:cNvGrpSpPr>
            <p:nvPr/>
          </p:nvGrpSpPr>
          <p:grpSpPr bwMode="auto">
            <a:xfrm>
              <a:off x="0" y="474"/>
              <a:ext cx="221" cy="427"/>
              <a:chOff x="0" y="0"/>
              <a:chExt cx="221" cy="427"/>
            </a:xfrm>
          </p:grpSpPr>
          <p:sp>
            <p:nvSpPr>
              <p:cNvPr id="151587" name="Line 12"/>
              <p:cNvSpPr>
                <a:spLocks noChangeShapeType="1"/>
              </p:cNvSpPr>
              <p:nvPr/>
            </p:nvSpPr>
            <p:spPr bwMode="auto">
              <a:xfrm flipH="1">
                <a:off x="221" y="0"/>
                <a:ext cx="0" cy="219"/>
              </a:xfrm>
              <a:prstGeom prst="line">
                <a:avLst/>
              </a:prstGeom>
              <a:noFill/>
              <a:ln w="25400">
                <a:solidFill>
                  <a:srgbClr val="FFFFFF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AU"/>
              </a:p>
            </p:txBody>
          </p:sp>
          <p:sp>
            <p:nvSpPr>
              <p:cNvPr id="151588" name="Line 13"/>
              <p:cNvSpPr>
                <a:spLocks noChangeShapeType="1"/>
              </p:cNvSpPr>
              <p:nvPr/>
            </p:nvSpPr>
            <p:spPr bwMode="auto">
              <a:xfrm rot="10800000">
                <a:off x="221" y="208"/>
                <a:ext cx="0" cy="219"/>
              </a:xfrm>
              <a:prstGeom prst="line">
                <a:avLst/>
              </a:prstGeom>
              <a:noFill/>
              <a:ln w="25400">
                <a:solidFill>
                  <a:srgbClr val="FFFFFF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AU"/>
              </a:p>
            </p:txBody>
          </p:sp>
          <p:sp>
            <p:nvSpPr>
              <p:cNvPr id="151589" name="Line 14"/>
              <p:cNvSpPr>
                <a:spLocks noChangeShapeType="1"/>
              </p:cNvSpPr>
              <p:nvPr/>
            </p:nvSpPr>
            <p:spPr bwMode="auto">
              <a:xfrm rot="10800000" flipH="1">
                <a:off x="95" y="211"/>
                <a:ext cx="124" cy="181"/>
              </a:xfrm>
              <a:prstGeom prst="line">
                <a:avLst/>
              </a:prstGeom>
              <a:noFill/>
              <a:ln w="25400">
                <a:solidFill>
                  <a:srgbClr val="FFFFFF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AU"/>
              </a:p>
            </p:txBody>
          </p:sp>
          <p:sp>
            <p:nvSpPr>
              <p:cNvPr id="151590" name="Line 15"/>
              <p:cNvSpPr>
                <a:spLocks noChangeShapeType="1"/>
              </p:cNvSpPr>
              <p:nvPr/>
            </p:nvSpPr>
            <p:spPr bwMode="auto">
              <a:xfrm>
                <a:off x="84" y="45"/>
                <a:ext cx="130" cy="177"/>
              </a:xfrm>
              <a:prstGeom prst="line">
                <a:avLst/>
              </a:prstGeom>
              <a:noFill/>
              <a:ln w="25400">
                <a:solidFill>
                  <a:srgbClr val="FFFFFF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AU"/>
              </a:p>
            </p:txBody>
          </p:sp>
          <p:sp>
            <p:nvSpPr>
              <p:cNvPr id="151591" name="Line 16"/>
              <p:cNvSpPr>
                <a:spLocks noChangeShapeType="1"/>
              </p:cNvSpPr>
              <p:nvPr/>
            </p:nvSpPr>
            <p:spPr bwMode="auto">
              <a:xfrm rot="10800000" flipH="1">
                <a:off x="0" y="213"/>
                <a:ext cx="219" cy="0"/>
              </a:xfrm>
              <a:prstGeom prst="line">
                <a:avLst/>
              </a:prstGeom>
              <a:noFill/>
              <a:ln w="25400">
                <a:solidFill>
                  <a:srgbClr val="FFFFFF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AU"/>
              </a:p>
            </p:txBody>
          </p:sp>
        </p:grp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4970488" y="3393281"/>
            <a:ext cx="3432348" cy="866180"/>
            <a:chOff x="0" y="0"/>
            <a:chExt cx="3074" cy="776"/>
          </a:xfrm>
        </p:grpSpPr>
        <p:grpSp>
          <p:nvGrpSpPr>
            <p:cNvPr id="151580" name="Group 21"/>
            <p:cNvGrpSpPr>
              <a:grpSpLocks/>
            </p:cNvGrpSpPr>
            <p:nvPr/>
          </p:nvGrpSpPr>
          <p:grpSpPr bwMode="auto">
            <a:xfrm>
              <a:off x="1330" y="0"/>
              <a:ext cx="1744" cy="776"/>
              <a:chOff x="0" y="0"/>
              <a:chExt cx="1744" cy="776"/>
            </a:xfrm>
          </p:grpSpPr>
          <p:sp>
            <p:nvSpPr>
              <p:cNvPr id="151582" name="Rectangle 19"/>
              <p:cNvSpPr>
                <a:spLocks/>
              </p:cNvSpPr>
              <p:nvPr/>
            </p:nvSpPr>
            <p:spPr bwMode="auto">
              <a:xfrm>
                <a:off x="0" y="0"/>
                <a:ext cx="1744" cy="7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583" name="Rectangle 20"/>
              <p:cNvSpPr>
                <a:spLocks/>
              </p:cNvSpPr>
              <p:nvPr/>
            </p:nvSpPr>
            <p:spPr bwMode="auto">
              <a:xfrm>
                <a:off x="16" y="56"/>
                <a:ext cx="1656" cy="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Prolactin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Stimulates growth of the mammary glands and synthesis of milk protein.</a:t>
                </a:r>
              </a:p>
            </p:txBody>
          </p:sp>
        </p:grpSp>
        <p:sp>
          <p:nvSpPr>
            <p:cNvPr id="151581" name="Line 22"/>
            <p:cNvSpPr>
              <a:spLocks noChangeShapeType="1"/>
            </p:cNvSpPr>
            <p:nvPr/>
          </p:nvSpPr>
          <p:spPr bwMode="auto">
            <a:xfrm>
              <a:off x="0" y="122"/>
              <a:ext cx="1338" cy="26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500062" y="2830711"/>
            <a:ext cx="4425777" cy="1189881"/>
            <a:chOff x="0" y="0"/>
            <a:chExt cx="3965" cy="1066"/>
          </a:xfrm>
        </p:grpSpPr>
        <p:grpSp>
          <p:nvGrpSpPr>
            <p:cNvPr id="151576" name="Group 26"/>
            <p:cNvGrpSpPr>
              <a:grpSpLocks/>
            </p:cNvGrpSpPr>
            <p:nvPr/>
          </p:nvGrpSpPr>
          <p:grpSpPr bwMode="auto">
            <a:xfrm>
              <a:off x="0" y="0"/>
              <a:ext cx="2576" cy="976"/>
              <a:chOff x="0" y="0"/>
              <a:chExt cx="2576" cy="976"/>
            </a:xfrm>
          </p:grpSpPr>
          <p:sp>
            <p:nvSpPr>
              <p:cNvPr id="151578" name="Rectangle 24"/>
              <p:cNvSpPr>
                <a:spLocks/>
              </p:cNvSpPr>
              <p:nvPr/>
            </p:nvSpPr>
            <p:spPr bwMode="auto">
              <a:xfrm>
                <a:off x="0" y="0"/>
                <a:ext cx="2576" cy="9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579" name="Rectangle 25"/>
              <p:cNvSpPr>
                <a:spLocks/>
              </p:cNvSpPr>
              <p:nvPr/>
            </p:nvSpPr>
            <p:spPr bwMode="auto">
              <a:xfrm>
                <a:off x="48" y="72"/>
                <a:ext cx="2464" cy="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chemeClr val="accent1"/>
                    </a:solidFill>
                    <a:cs typeface="Arial" charset="0"/>
                  </a:rPr>
                  <a:t>Adrenocorticotrophic Hormone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Usually abbreviated to ACTH, this hormone increases synthesis and secretion of hormones (aldosterone and cortisol) from the adrenal cortex</a:t>
                </a:r>
                <a:r>
                  <a:rPr lang="en-US" altLang="en-US" sz="1300" dirty="0">
                    <a:solidFill>
                      <a:srgbClr val="000000"/>
                    </a:solidFill>
                    <a:cs typeface="Arial" charset="0"/>
                  </a:rPr>
                  <a:t>.</a:t>
                </a:r>
              </a:p>
            </p:txBody>
          </p:sp>
        </p:grpSp>
        <p:sp>
          <p:nvSpPr>
            <p:cNvPr id="151577" name="Line 27"/>
            <p:cNvSpPr>
              <a:spLocks noChangeShapeType="1"/>
            </p:cNvSpPr>
            <p:nvPr/>
          </p:nvSpPr>
          <p:spPr bwMode="auto">
            <a:xfrm rot="10800000">
              <a:off x="2568" y="471"/>
              <a:ext cx="1397" cy="595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" name="Group 33"/>
          <p:cNvGrpSpPr>
            <a:grpSpLocks/>
          </p:cNvGrpSpPr>
          <p:nvPr/>
        </p:nvGrpSpPr>
        <p:grpSpPr bwMode="auto">
          <a:xfrm>
            <a:off x="500063" y="4143375"/>
            <a:ext cx="4015011" cy="1500188"/>
            <a:chOff x="0" y="0"/>
            <a:chExt cx="3597" cy="1343"/>
          </a:xfrm>
        </p:grpSpPr>
        <p:grpSp>
          <p:nvGrpSpPr>
            <p:cNvPr id="151572" name="Group 31"/>
            <p:cNvGrpSpPr>
              <a:grpSpLocks/>
            </p:cNvGrpSpPr>
            <p:nvPr/>
          </p:nvGrpSpPr>
          <p:grpSpPr bwMode="auto">
            <a:xfrm>
              <a:off x="0" y="0"/>
              <a:ext cx="2560" cy="976"/>
              <a:chOff x="0" y="0"/>
              <a:chExt cx="2560" cy="976"/>
            </a:xfrm>
          </p:grpSpPr>
          <p:sp>
            <p:nvSpPr>
              <p:cNvPr id="151574" name="Rectangle 29"/>
              <p:cNvSpPr>
                <a:spLocks/>
              </p:cNvSpPr>
              <p:nvPr/>
            </p:nvSpPr>
            <p:spPr bwMode="auto">
              <a:xfrm>
                <a:off x="0" y="0"/>
                <a:ext cx="2560" cy="9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575" name="Rectangle 30"/>
              <p:cNvSpPr>
                <a:spLocks/>
              </p:cNvSpPr>
              <p:nvPr/>
            </p:nvSpPr>
            <p:spPr bwMode="auto">
              <a:xfrm>
                <a:off x="48" y="80"/>
                <a:ext cx="2432" cy="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Follicle Stimulating Hormone</a:t>
                </a:r>
              </a:p>
              <a:p>
                <a:pPr eaLnBrk="1" hangingPunct="1"/>
                <a:r>
                  <a:rPr lang="en-US" altLang="en-US" sz="1300" b="1" dirty="0">
                    <a:solidFill>
                      <a:schemeClr val="bg1"/>
                    </a:solidFill>
                    <a:cs typeface="Arial" charset="0"/>
                  </a:rPr>
                  <a:t>In females</a:t>
                </a:r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: Stimulates maturation of the ovarian follicles.</a:t>
                </a:r>
              </a:p>
              <a:p>
                <a:pPr eaLnBrk="1" hangingPunct="1"/>
                <a:r>
                  <a:rPr lang="en-US" altLang="en-US" sz="1300" b="1" dirty="0">
                    <a:solidFill>
                      <a:schemeClr val="bg1"/>
                    </a:solidFill>
                    <a:cs typeface="Arial" charset="0"/>
                  </a:rPr>
                  <a:t>In males</a:t>
                </a:r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: Increase the production of sperm in the seminiferous tubules</a:t>
                </a:r>
              </a:p>
            </p:txBody>
          </p:sp>
        </p:grpSp>
        <p:sp>
          <p:nvSpPr>
            <p:cNvPr id="151573" name="Line 32"/>
            <p:cNvSpPr>
              <a:spLocks noChangeShapeType="1"/>
            </p:cNvSpPr>
            <p:nvPr/>
          </p:nvSpPr>
          <p:spPr bwMode="auto">
            <a:xfrm rot="10800000">
              <a:off x="2560" y="472"/>
              <a:ext cx="1037" cy="871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500062" y="5419761"/>
            <a:ext cx="4009430" cy="1404193"/>
            <a:chOff x="0" y="0"/>
            <a:chExt cx="3592" cy="1258"/>
          </a:xfrm>
        </p:grpSpPr>
        <p:grpSp>
          <p:nvGrpSpPr>
            <p:cNvPr id="151568" name="Group 36"/>
            <p:cNvGrpSpPr>
              <a:grpSpLocks/>
            </p:cNvGrpSpPr>
            <p:nvPr/>
          </p:nvGrpSpPr>
          <p:grpSpPr bwMode="auto">
            <a:xfrm>
              <a:off x="0" y="0"/>
              <a:ext cx="2560" cy="1258"/>
              <a:chOff x="0" y="0"/>
              <a:chExt cx="2560" cy="1258"/>
            </a:xfrm>
          </p:grpSpPr>
          <p:sp>
            <p:nvSpPr>
              <p:cNvPr id="151570" name="Rectangle 34"/>
              <p:cNvSpPr>
                <a:spLocks/>
              </p:cNvSpPr>
              <p:nvPr/>
            </p:nvSpPr>
            <p:spPr bwMode="auto">
              <a:xfrm>
                <a:off x="0" y="0"/>
                <a:ext cx="2560" cy="123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571" name="Rectangle 35"/>
              <p:cNvSpPr>
                <a:spLocks/>
              </p:cNvSpPr>
              <p:nvPr/>
            </p:nvSpPr>
            <p:spPr bwMode="auto">
              <a:xfrm>
                <a:off x="56" y="201"/>
                <a:ext cx="2400" cy="1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Luteinizing  Hormone</a:t>
                </a:r>
              </a:p>
              <a:p>
                <a:pPr eaLnBrk="1" hangingPunct="1"/>
                <a:r>
                  <a:rPr lang="en-US" altLang="en-US" sz="1300" b="1" dirty="0">
                    <a:solidFill>
                      <a:schemeClr val="bg1"/>
                    </a:solidFill>
                    <a:cs typeface="Arial" charset="0"/>
                  </a:rPr>
                  <a:t>In females</a:t>
                </a:r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: Stimulates secretion </a:t>
                </a:r>
                <a:b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</a:br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of ovarian hormones, ovulation, and formation of the corpus </a:t>
                </a:r>
                <a:r>
                  <a:rPr lang="en-US" altLang="en-US" sz="1300" dirty="0" err="1">
                    <a:solidFill>
                      <a:schemeClr val="bg1"/>
                    </a:solidFill>
                    <a:cs typeface="Arial" charset="0"/>
                  </a:rPr>
                  <a:t>luteum</a:t>
                </a:r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.</a:t>
                </a:r>
              </a:p>
              <a:p>
                <a:pPr eaLnBrk="1" hangingPunct="1"/>
                <a:r>
                  <a:rPr lang="en-US" altLang="en-US" sz="1300" b="1" dirty="0">
                    <a:solidFill>
                      <a:schemeClr val="bg1"/>
                    </a:solidFill>
                    <a:cs typeface="Arial" charset="0"/>
                  </a:rPr>
                  <a:t>In males</a:t>
                </a:r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: (ICSH) Stimulates synthesis and secretion of testosterone</a:t>
                </a:r>
                <a:r>
                  <a:rPr lang="en-US" altLang="en-US" sz="1300" dirty="0">
                    <a:solidFill>
                      <a:srgbClr val="000000"/>
                    </a:solidFill>
                    <a:cs typeface="Arial" charset="0"/>
                  </a:rPr>
                  <a:t>.</a:t>
                </a:r>
              </a:p>
            </p:txBody>
          </p:sp>
        </p:grpSp>
        <p:sp>
          <p:nvSpPr>
            <p:cNvPr id="151569" name="Line 37"/>
            <p:cNvSpPr>
              <a:spLocks noChangeShapeType="1"/>
            </p:cNvSpPr>
            <p:nvPr/>
          </p:nvSpPr>
          <p:spPr bwMode="auto">
            <a:xfrm flipH="1">
              <a:off x="2552" y="288"/>
              <a:ext cx="1040" cy="288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5" name="Group 43"/>
          <p:cNvGrpSpPr>
            <a:grpSpLocks/>
          </p:cNvGrpSpPr>
          <p:nvPr/>
        </p:nvGrpSpPr>
        <p:grpSpPr bwMode="auto">
          <a:xfrm>
            <a:off x="5381253" y="6062142"/>
            <a:ext cx="3003723" cy="617265"/>
            <a:chOff x="0" y="407"/>
            <a:chExt cx="2690" cy="553"/>
          </a:xfrm>
        </p:grpSpPr>
        <p:grpSp>
          <p:nvGrpSpPr>
            <p:cNvPr id="151564" name="Group 41"/>
            <p:cNvGrpSpPr>
              <a:grpSpLocks/>
            </p:cNvGrpSpPr>
            <p:nvPr/>
          </p:nvGrpSpPr>
          <p:grpSpPr bwMode="auto">
            <a:xfrm>
              <a:off x="749" y="407"/>
              <a:ext cx="1941" cy="553"/>
              <a:chOff x="-5" y="407"/>
              <a:chExt cx="1941" cy="553"/>
            </a:xfrm>
          </p:grpSpPr>
          <p:sp>
            <p:nvSpPr>
              <p:cNvPr id="151566" name="Rectangle 39"/>
              <p:cNvSpPr>
                <a:spLocks/>
              </p:cNvSpPr>
              <p:nvPr/>
            </p:nvSpPr>
            <p:spPr bwMode="auto">
              <a:xfrm>
                <a:off x="-5" y="407"/>
                <a:ext cx="1941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567" name="Rectangle 40"/>
              <p:cNvSpPr>
                <a:spLocks/>
              </p:cNvSpPr>
              <p:nvPr/>
            </p:nvSpPr>
            <p:spPr bwMode="auto">
              <a:xfrm>
                <a:off x="16" y="407"/>
                <a:ext cx="1896" cy="4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 err="1">
                    <a:solidFill>
                      <a:srgbClr val="005481"/>
                    </a:solidFill>
                    <a:cs typeface="Arial" charset="0"/>
                  </a:rPr>
                  <a:t>Melanophore</a:t>
                </a:r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 Stimulating Hormone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Increases melanin synthesis and dispersal in the skin’s melanocytes</a:t>
                </a:r>
                <a:r>
                  <a:rPr lang="en-US" altLang="en-US" sz="1300" dirty="0">
                    <a:solidFill>
                      <a:srgbClr val="000000"/>
                    </a:solidFill>
                    <a:cs typeface="Arial" charset="0"/>
                  </a:rPr>
                  <a:t>.</a:t>
                </a:r>
              </a:p>
            </p:txBody>
          </p:sp>
        </p:grpSp>
        <p:sp>
          <p:nvSpPr>
            <p:cNvPr id="151565" name="Line 42"/>
            <p:cNvSpPr>
              <a:spLocks noChangeShapeType="1"/>
            </p:cNvSpPr>
            <p:nvPr/>
          </p:nvSpPr>
          <p:spPr bwMode="auto">
            <a:xfrm rot="10800000" flipH="1">
              <a:off x="0" y="458"/>
              <a:ext cx="749" cy="179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sp>
        <p:nvSpPr>
          <p:cNvPr id="151563" name="Rectangle 44"/>
          <p:cNvSpPr>
            <a:spLocks noGrp="1" noChangeArrowheads="1"/>
          </p:cNvSpPr>
          <p:nvPr>
            <p:ph type="title"/>
          </p:nvPr>
        </p:nvSpPr>
        <p:spPr>
          <a:xfrm>
            <a:off x="500062" y="169665"/>
            <a:ext cx="5322094" cy="1099096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 dirty="0"/>
              <a:t>Anterior Pituitary</a:t>
            </a:r>
          </a:p>
        </p:txBody>
      </p:sp>
    </p:spTree>
    <p:extLst>
      <p:ext uri="{BB962C8B-B14F-4D97-AF65-F5344CB8AC3E}">
        <p14:creationId xmlns:p14="http://schemas.microsoft.com/office/powerpoint/2010/main" val="15108862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 bldLvl="5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7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85"/>
          <a:stretch>
            <a:fillRect/>
          </a:stretch>
        </p:blipFill>
        <p:spPr bwMode="auto">
          <a:xfrm>
            <a:off x="4116585" y="58043"/>
            <a:ext cx="4214813" cy="677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79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2" y="258961"/>
            <a:ext cx="3830836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Posterior Pituitary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031" y="1768078"/>
            <a:ext cx="3652242" cy="2178844"/>
          </a:xfrm>
        </p:spPr>
        <p:txBody>
          <a:bodyPr>
            <a:normAutofit fontScale="85000" lnSpcReduction="1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posterior pituitary develops as an extension of the hypothalamus.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The release of its two hormones oxytocin and antidiuretic hormone occurs directly as a result of nervous input to the hypothalamus.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056994" y="3716982"/>
            <a:ext cx="3693537" cy="887387"/>
            <a:chOff x="0" y="197"/>
            <a:chExt cx="3308" cy="795"/>
          </a:xfrm>
        </p:grpSpPr>
        <p:grpSp>
          <p:nvGrpSpPr>
            <p:cNvPr id="152592" name="Group 6"/>
            <p:cNvGrpSpPr>
              <a:grpSpLocks/>
            </p:cNvGrpSpPr>
            <p:nvPr/>
          </p:nvGrpSpPr>
          <p:grpSpPr bwMode="auto">
            <a:xfrm>
              <a:off x="1168" y="197"/>
              <a:ext cx="2140" cy="795"/>
              <a:chOff x="0" y="197"/>
              <a:chExt cx="2140" cy="795"/>
            </a:xfrm>
          </p:grpSpPr>
          <p:sp>
            <p:nvSpPr>
              <p:cNvPr id="152594" name="Rectangle 4"/>
              <p:cNvSpPr>
                <a:spLocks/>
              </p:cNvSpPr>
              <p:nvPr/>
            </p:nvSpPr>
            <p:spPr bwMode="auto">
              <a:xfrm>
                <a:off x="0" y="197"/>
                <a:ext cx="2140" cy="79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2595" name="Rectangle 5"/>
              <p:cNvSpPr>
                <a:spLocks/>
              </p:cNvSpPr>
              <p:nvPr/>
            </p:nvSpPr>
            <p:spPr bwMode="auto">
              <a:xfrm>
                <a:off x="47" y="197"/>
                <a:ext cx="2001" cy="6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Antidiuretic Hormone (ADH)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Acts on the collecting duct of the kidney to increase water reabsorption from the filtrate (urine).</a:t>
                </a:r>
              </a:p>
            </p:txBody>
          </p:sp>
        </p:grpSp>
        <p:sp>
          <p:nvSpPr>
            <p:cNvPr id="152593" name="Line 7"/>
            <p:cNvSpPr>
              <a:spLocks noChangeShapeType="1"/>
            </p:cNvSpPr>
            <p:nvPr/>
          </p:nvSpPr>
          <p:spPr bwMode="auto">
            <a:xfrm>
              <a:off x="0" y="541"/>
              <a:ext cx="1161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524129" y="4986114"/>
            <a:ext cx="3052227" cy="955477"/>
            <a:chOff x="0" y="75"/>
            <a:chExt cx="2800" cy="856"/>
          </a:xfrm>
        </p:grpSpPr>
        <p:grpSp>
          <p:nvGrpSpPr>
            <p:cNvPr id="152588" name="Group 11"/>
            <p:cNvGrpSpPr>
              <a:grpSpLocks/>
            </p:cNvGrpSpPr>
            <p:nvPr/>
          </p:nvGrpSpPr>
          <p:grpSpPr bwMode="auto">
            <a:xfrm>
              <a:off x="1130" y="75"/>
              <a:ext cx="1670" cy="856"/>
              <a:chOff x="56" y="75"/>
              <a:chExt cx="1670" cy="856"/>
            </a:xfrm>
          </p:grpSpPr>
          <p:sp>
            <p:nvSpPr>
              <p:cNvPr id="152590" name="Rectangle 9"/>
              <p:cNvSpPr>
                <a:spLocks/>
              </p:cNvSpPr>
              <p:nvPr/>
            </p:nvSpPr>
            <p:spPr bwMode="auto">
              <a:xfrm>
                <a:off x="71" y="75"/>
                <a:ext cx="1549" cy="85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2591" name="Rectangle 10"/>
              <p:cNvSpPr>
                <a:spLocks/>
              </p:cNvSpPr>
              <p:nvPr/>
            </p:nvSpPr>
            <p:spPr bwMode="auto">
              <a:xfrm>
                <a:off x="56" y="75"/>
                <a:ext cx="1670" cy="6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Oxytocin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Acts on the uterus to stimulate smooth muscle contraction during labor.</a:t>
                </a:r>
              </a:p>
            </p:txBody>
          </p:sp>
        </p:grpSp>
        <p:sp>
          <p:nvSpPr>
            <p:cNvPr id="152589" name="Line 12"/>
            <p:cNvSpPr>
              <a:spLocks noChangeShapeType="1"/>
            </p:cNvSpPr>
            <p:nvPr/>
          </p:nvSpPr>
          <p:spPr bwMode="auto">
            <a:xfrm rot="10800000" flipH="1">
              <a:off x="0" y="423"/>
              <a:ext cx="1234" cy="9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5851178" y="1804913"/>
            <a:ext cx="2979167" cy="1179835"/>
            <a:chOff x="0" y="73"/>
            <a:chExt cx="2669" cy="1057"/>
          </a:xfrm>
        </p:grpSpPr>
        <p:sp>
          <p:nvSpPr>
            <p:cNvPr id="152584" name="Line 14"/>
            <p:cNvSpPr>
              <a:spLocks noChangeShapeType="1"/>
            </p:cNvSpPr>
            <p:nvPr/>
          </p:nvSpPr>
          <p:spPr bwMode="auto">
            <a:xfrm rot="10800000" flipH="1">
              <a:off x="0" y="421"/>
              <a:ext cx="949" cy="709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grpSp>
          <p:nvGrpSpPr>
            <p:cNvPr id="152585" name="Group 17"/>
            <p:cNvGrpSpPr>
              <a:grpSpLocks/>
            </p:cNvGrpSpPr>
            <p:nvPr/>
          </p:nvGrpSpPr>
          <p:grpSpPr bwMode="auto">
            <a:xfrm>
              <a:off x="941" y="73"/>
              <a:ext cx="1728" cy="856"/>
              <a:chOff x="0" y="73"/>
              <a:chExt cx="1728" cy="856"/>
            </a:xfrm>
          </p:grpSpPr>
          <p:sp>
            <p:nvSpPr>
              <p:cNvPr id="152586" name="Rectangle 15"/>
              <p:cNvSpPr>
                <a:spLocks/>
              </p:cNvSpPr>
              <p:nvPr/>
            </p:nvSpPr>
            <p:spPr bwMode="auto">
              <a:xfrm>
                <a:off x="0" y="73"/>
                <a:ext cx="1728" cy="85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2587" name="Rectangle 16"/>
              <p:cNvSpPr>
                <a:spLocks/>
              </p:cNvSpPr>
              <p:nvPr/>
            </p:nvSpPr>
            <p:spPr bwMode="auto">
              <a:xfrm>
                <a:off x="56" y="83"/>
                <a:ext cx="1600" cy="6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marL="114300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20700" algn="l"/>
                  </a:tabLs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1300" b="1" dirty="0">
                    <a:solidFill>
                      <a:srgbClr val="005481"/>
                    </a:solidFill>
                    <a:cs typeface="Arial" charset="0"/>
                  </a:rPr>
                  <a:t>Oxytocin</a:t>
                </a:r>
              </a:p>
              <a:p>
                <a:pPr eaLnBrk="1" hangingPunct="1"/>
                <a:r>
                  <a:rPr lang="en-US" altLang="en-US" sz="1300" dirty="0">
                    <a:solidFill>
                      <a:schemeClr val="bg1"/>
                    </a:solidFill>
                    <a:cs typeface="Arial" charset="0"/>
                  </a:rPr>
                  <a:t>Acts on the mammary glands to stimulate milk ejection (let down).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46994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bldLvl="5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"/>
          <p:cNvSpPr>
            <a:spLocks/>
          </p:cNvSpPr>
          <p:nvPr/>
        </p:nvSpPr>
        <p:spPr bwMode="auto">
          <a:xfrm>
            <a:off x="4875609" y="0"/>
            <a:ext cx="4268391" cy="6858000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2" y="258961"/>
            <a:ext cx="4697016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Adrenal Glands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21594"/>
            <a:ext cx="4063008" cy="4107656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adrenals (also known as the suprarenal glands) are located on the superior surface of the kidneys.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adrenal medulla produces epinephrine(adrenaline) and norepinephrine (noradrenaline), involved in the fight of flight response.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adrenal cortex produces various steroid hormones including: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cortisol (response to stress)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aldosterone (sodium regulation)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203" y="3851362"/>
            <a:ext cx="3232547" cy="2214563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" r="2390" b="8250"/>
          <a:stretch>
            <a:fillRect/>
          </a:stretch>
        </p:blipFill>
        <p:spPr bwMode="auto">
          <a:xfrm>
            <a:off x="7009805" y="1595066"/>
            <a:ext cx="2160984" cy="5262934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5" name="Freeform 6"/>
          <p:cNvSpPr>
            <a:spLocks/>
          </p:cNvSpPr>
          <p:nvPr/>
        </p:nvSpPr>
        <p:spPr bwMode="auto">
          <a:xfrm>
            <a:off x="6648152" y="1128490"/>
            <a:ext cx="1692176" cy="1628551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2147483647 w 21600"/>
              <a:gd name="T5" fmla="*/ 0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2147483647 w 21600"/>
              <a:gd name="T17" fmla="*/ 2147483647 h 21600"/>
              <a:gd name="T18" fmla="*/ 2147483647 w 21600"/>
              <a:gd name="T19" fmla="*/ 2147483647 h 21600"/>
              <a:gd name="T20" fmla="*/ 2147483647 w 21600"/>
              <a:gd name="T21" fmla="*/ 2147483647 h 21600"/>
              <a:gd name="T22" fmla="*/ 2147483647 w 21600"/>
              <a:gd name="T23" fmla="*/ 2147483647 h 21600"/>
              <a:gd name="T24" fmla="*/ 2147483647 w 21600"/>
              <a:gd name="T25" fmla="*/ 2147483647 h 21600"/>
              <a:gd name="T26" fmla="*/ 2147483647 w 21600"/>
              <a:gd name="T27" fmla="*/ 2147483647 h 21600"/>
              <a:gd name="T28" fmla="*/ 2147483647 w 21600"/>
              <a:gd name="T29" fmla="*/ 2147483647 h 21600"/>
              <a:gd name="T30" fmla="*/ 2147483647 w 21600"/>
              <a:gd name="T31" fmla="*/ 2147483647 h 21600"/>
              <a:gd name="T32" fmla="*/ 2147483647 w 21600"/>
              <a:gd name="T33" fmla="*/ 2147483647 h 2160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1600"/>
              <a:gd name="T52" fmla="*/ 0 h 21600"/>
              <a:gd name="T53" fmla="*/ 21600 w 21600"/>
              <a:gd name="T54" fmla="*/ 21600 h 21600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1600" h="21600">
                <a:moveTo>
                  <a:pt x="7096" y="21600"/>
                </a:moveTo>
                <a:lnTo>
                  <a:pt x="0" y="9452"/>
                </a:lnTo>
                <a:lnTo>
                  <a:pt x="14675" y="0"/>
                </a:lnTo>
                <a:lnTo>
                  <a:pt x="21600" y="11622"/>
                </a:lnTo>
                <a:cubicBezTo>
                  <a:pt x="21600" y="11622"/>
                  <a:pt x="19706" y="13191"/>
                  <a:pt x="19700" y="13136"/>
                </a:cubicBezTo>
                <a:cubicBezTo>
                  <a:pt x="19548" y="11674"/>
                  <a:pt x="19054" y="11081"/>
                  <a:pt x="17155" y="9857"/>
                </a:cubicBezTo>
                <a:cubicBezTo>
                  <a:pt x="16545" y="9464"/>
                  <a:pt x="15051" y="8351"/>
                  <a:pt x="14685" y="7921"/>
                </a:cubicBezTo>
                <a:cubicBezTo>
                  <a:pt x="14057" y="7182"/>
                  <a:pt x="12890" y="7407"/>
                  <a:pt x="12519" y="7249"/>
                </a:cubicBezTo>
                <a:cubicBezTo>
                  <a:pt x="11944" y="7004"/>
                  <a:pt x="11112" y="6701"/>
                  <a:pt x="10316" y="6854"/>
                </a:cubicBezTo>
                <a:cubicBezTo>
                  <a:pt x="9500" y="7011"/>
                  <a:pt x="9575" y="6761"/>
                  <a:pt x="7884" y="8040"/>
                </a:cubicBezTo>
                <a:cubicBezTo>
                  <a:pt x="7466" y="8356"/>
                  <a:pt x="7466" y="9817"/>
                  <a:pt x="7352" y="10963"/>
                </a:cubicBezTo>
                <a:cubicBezTo>
                  <a:pt x="7267" y="11821"/>
                  <a:pt x="7390" y="13541"/>
                  <a:pt x="7618" y="14756"/>
                </a:cubicBezTo>
                <a:cubicBezTo>
                  <a:pt x="7701" y="15200"/>
                  <a:pt x="7683" y="15987"/>
                  <a:pt x="8568" y="17521"/>
                </a:cubicBezTo>
                <a:cubicBezTo>
                  <a:pt x="8910" y="18114"/>
                  <a:pt x="9594" y="17758"/>
                  <a:pt x="9518" y="18114"/>
                </a:cubicBezTo>
                <a:cubicBezTo>
                  <a:pt x="9301" y="19128"/>
                  <a:pt x="9480" y="19852"/>
                  <a:pt x="9480" y="19852"/>
                </a:cubicBezTo>
                <a:lnTo>
                  <a:pt x="7096" y="21600"/>
                </a:lnTo>
                <a:close/>
                <a:moveTo>
                  <a:pt x="7096" y="21600"/>
                </a:moveTo>
              </a:path>
            </a:pathLst>
          </a:custGeom>
          <a:solidFill>
            <a:srgbClr val="02688A">
              <a:alpha val="5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stealth" w="med" len="med"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696" name="Line 7"/>
          <p:cNvSpPr>
            <a:spLocks noChangeShapeType="1"/>
          </p:cNvSpPr>
          <p:nvPr/>
        </p:nvSpPr>
        <p:spPr bwMode="auto">
          <a:xfrm flipH="1">
            <a:off x="4958209" y="1714500"/>
            <a:ext cx="2338462" cy="2286000"/>
          </a:xfrm>
          <a:prstGeom prst="line">
            <a:avLst/>
          </a:prstGeom>
          <a:noFill/>
          <a:ln w="25400">
            <a:solidFill>
              <a:srgbClr val="02688A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grpSp>
        <p:nvGrpSpPr>
          <p:cNvPr id="114697" name="Group 10"/>
          <p:cNvGrpSpPr>
            <a:grpSpLocks/>
          </p:cNvGrpSpPr>
          <p:nvPr/>
        </p:nvGrpSpPr>
        <p:grpSpPr bwMode="auto">
          <a:xfrm>
            <a:off x="7143750" y="954361"/>
            <a:ext cx="1241227" cy="932036"/>
            <a:chOff x="0" y="0"/>
            <a:chExt cx="1112" cy="834"/>
          </a:xfrm>
        </p:grpSpPr>
        <p:sp>
          <p:nvSpPr>
            <p:cNvPr id="114708" name="Rectangle 8"/>
            <p:cNvSpPr>
              <a:spLocks/>
            </p:cNvSpPr>
            <p:nvPr/>
          </p:nvSpPr>
          <p:spPr bwMode="auto">
            <a:xfrm>
              <a:off x="0" y="0"/>
              <a:ext cx="111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Adrenal gland</a:t>
              </a:r>
            </a:p>
          </p:txBody>
        </p:sp>
        <p:sp>
          <p:nvSpPr>
            <p:cNvPr id="114709" name="Line 9"/>
            <p:cNvSpPr>
              <a:spLocks noChangeShapeType="1"/>
            </p:cNvSpPr>
            <p:nvPr/>
          </p:nvSpPr>
          <p:spPr bwMode="auto">
            <a:xfrm rot="10800000" flipH="1">
              <a:off x="437" y="189"/>
              <a:ext cx="176" cy="645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sp>
        <p:nvSpPr>
          <p:cNvPr id="114698" name="Line 11"/>
          <p:cNvSpPr>
            <a:spLocks noChangeShapeType="1"/>
          </p:cNvSpPr>
          <p:nvPr/>
        </p:nvSpPr>
        <p:spPr bwMode="auto">
          <a:xfrm flipH="1">
            <a:off x="7067848" y="2464594"/>
            <a:ext cx="319236" cy="2899916"/>
          </a:xfrm>
          <a:prstGeom prst="line">
            <a:avLst/>
          </a:prstGeom>
          <a:noFill/>
          <a:ln w="25400">
            <a:solidFill>
              <a:srgbClr val="02688A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grpSp>
        <p:nvGrpSpPr>
          <p:cNvPr id="114699" name="Group 14"/>
          <p:cNvGrpSpPr>
            <a:grpSpLocks/>
          </p:cNvGrpSpPr>
          <p:nvPr/>
        </p:nvGrpSpPr>
        <p:grpSpPr bwMode="auto">
          <a:xfrm>
            <a:off x="4920257" y="5680274"/>
            <a:ext cx="607219" cy="771301"/>
            <a:chOff x="0" y="0"/>
            <a:chExt cx="544" cy="690"/>
          </a:xfrm>
        </p:grpSpPr>
        <p:sp>
          <p:nvSpPr>
            <p:cNvPr id="114706" name="Rectangle 12"/>
            <p:cNvSpPr>
              <a:spLocks/>
            </p:cNvSpPr>
            <p:nvPr/>
          </p:nvSpPr>
          <p:spPr bwMode="auto">
            <a:xfrm>
              <a:off x="0" y="530"/>
              <a:ext cx="54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Cortex</a:t>
              </a:r>
            </a:p>
          </p:txBody>
        </p:sp>
        <p:sp>
          <p:nvSpPr>
            <p:cNvPr id="114707" name="Line 13"/>
            <p:cNvSpPr>
              <a:spLocks noChangeShapeType="1"/>
            </p:cNvSpPr>
            <p:nvPr/>
          </p:nvSpPr>
          <p:spPr bwMode="auto">
            <a:xfrm flipH="1">
              <a:off x="301" y="0"/>
              <a:ext cx="0" cy="538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4700" name="Group 17"/>
          <p:cNvGrpSpPr>
            <a:grpSpLocks/>
          </p:cNvGrpSpPr>
          <p:nvPr/>
        </p:nvGrpSpPr>
        <p:grpSpPr bwMode="auto">
          <a:xfrm>
            <a:off x="2987824" y="5250398"/>
            <a:ext cx="1660922" cy="178594"/>
            <a:chOff x="0" y="0"/>
            <a:chExt cx="1488" cy="160"/>
          </a:xfrm>
        </p:grpSpPr>
        <p:sp>
          <p:nvSpPr>
            <p:cNvPr id="114704" name="Rectangle 15"/>
            <p:cNvSpPr>
              <a:spLocks/>
            </p:cNvSpPr>
            <p:nvPr/>
          </p:nvSpPr>
          <p:spPr bwMode="auto">
            <a:xfrm>
              <a:off x="0" y="0"/>
              <a:ext cx="67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Medulla</a:t>
              </a:r>
            </a:p>
          </p:txBody>
        </p:sp>
        <p:sp>
          <p:nvSpPr>
            <p:cNvPr id="114705" name="Line 16"/>
            <p:cNvSpPr>
              <a:spLocks noChangeShapeType="1"/>
            </p:cNvSpPr>
            <p:nvPr/>
          </p:nvSpPr>
          <p:spPr bwMode="auto">
            <a:xfrm flipH="1">
              <a:off x="624" y="80"/>
              <a:ext cx="864" cy="0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4701" name="Group 20"/>
          <p:cNvGrpSpPr>
            <a:grpSpLocks/>
          </p:cNvGrpSpPr>
          <p:nvPr/>
        </p:nvGrpSpPr>
        <p:grpSpPr bwMode="auto">
          <a:xfrm>
            <a:off x="8224242" y="4657949"/>
            <a:ext cx="812602" cy="771301"/>
            <a:chOff x="0" y="0"/>
            <a:chExt cx="728" cy="690"/>
          </a:xfrm>
        </p:grpSpPr>
        <p:sp>
          <p:nvSpPr>
            <p:cNvPr id="114702" name="Rectangle 18"/>
            <p:cNvSpPr>
              <a:spLocks/>
            </p:cNvSpPr>
            <p:nvPr/>
          </p:nvSpPr>
          <p:spPr bwMode="auto">
            <a:xfrm>
              <a:off x="0" y="530"/>
              <a:ext cx="728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chemeClr val="bg1"/>
                  </a:solidFill>
                  <a:cs typeface="Arial" charset="0"/>
                </a:rPr>
                <a:t>Kidney</a:t>
              </a:r>
            </a:p>
          </p:txBody>
        </p:sp>
        <p:sp>
          <p:nvSpPr>
            <p:cNvPr id="114703" name="Line 19"/>
            <p:cNvSpPr>
              <a:spLocks noChangeShapeType="1"/>
            </p:cNvSpPr>
            <p:nvPr/>
          </p:nvSpPr>
          <p:spPr bwMode="auto">
            <a:xfrm flipH="1">
              <a:off x="301" y="0"/>
              <a:ext cx="0" cy="538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77839105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5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8" r="7056" b="5188"/>
          <a:stretch>
            <a:fillRect/>
          </a:stretch>
        </p:blipFill>
        <p:spPr bwMode="auto">
          <a:xfrm>
            <a:off x="5036344" y="-8930"/>
            <a:ext cx="4116586" cy="687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2" y="258961"/>
            <a:ext cx="3777258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Ovaries (Females)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031" y="1768078"/>
            <a:ext cx="3411141" cy="4714875"/>
          </a:xfrm>
        </p:spPr>
        <p:txBody>
          <a:bodyPr>
            <a:normAutofit fontScale="925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ovaries are both endocrine glands and gonads, located in the lateral wall of the pelvis on either side of the uterus.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ovaries produce estrogen and progesterone.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These hormones control and maintain: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 female characteristics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stimulate menstrual cycle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maintain pregnancy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prepare the mammary glands for lactation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85"/>
          <a:stretch>
            <a:fillRect/>
          </a:stretch>
        </p:blipFill>
        <p:spPr bwMode="auto">
          <a:xfrm>
            <a:off x="3759399" y="1838400"/>
            <a:ext cx="5616773" cy="5028530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2" name="Rectangle 5"/>
          <p:cNvSpPr>
            <a:spLocks/>
          </p:cNvSpPr>
          <p:nvPr/>
        </p:nvSpPr>
        <p:spPr bwMode="auto">
          <a:xfrm>
            <a:off x="5080992" y="5357812"/>
            <a:ext cx="732234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Ovaries</a:t>
            </a:r>
          </a:p>
        </p:txBody>
      </p:sp>
      <p:sp>
        <p:nvSpPr>
          <p:cNvPr id="116743" name="Line 6"/>
          <p:cNvSpPr>
            <a:spLocks noChangeShapeType="1"/>
          </p:cNvSpPr>
          <p:nvPr/>
        </p:nvSpPr>
        <p:spPr bwMode="auto">
          <a:xfrm>
            <a:off x="4973836" y="4198070"/>
            <a:ext cx="477738" cy="1157510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sp>
        <p:nvSpPr>
          <p:cNvPr id="116744" name="Line 7"/>
          <p:cNvSpPr>
            <a:spLocks noChangeShapeType="1"/>
          </p:cNvSpPr>
          <p:nvPr/>
        </p:nvSpPr>
        <p:spPr bwMode="auto">
          <a:xfrm flipH="1">
            <a:off x="5444877" y="3962549"/>
            <a:ext cx="1821656" cy="1386334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1306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bldLvl="5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"/>
          <p:cNvSpPr>
            <a:spLocks/>
          </p:cNvSpPr>
          <p:nvPr/>
        </p:nvSpPr>
        <p:spPr bwMode="auto">
          <a:xfrm>
            <a:off x="500062" y="4149080"/>
            <a:ext cx="4143946" cy="2708920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77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93"/>
          <a:stretch>
            <a:fillRect/>
          </a:stretch>
        </p:blipFill>
        <p:spPr bwMode="auto">
          <a:xfrm>
            <a:off x="4509492" y="0"/>
            <a:ext cx="463450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4" name="Rectangle 3"/>
          <p:cNvSpPr>
            <a:spLocks noGrp="1" noChangeArrowheads="1"/>
          </p:cNvSpPr>
          <p:nvPr>
            <p:ph type="title"/>
          </p:nvPr>
        </p:nvSpPr>
        <p:spPr>
          <a:xfrm>
            <a:off x="500062" y="258961"/>
            <a:ext cx="5634633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Pancreatic Islets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031" y="1169789"/>
            <a:ext cx="5018484" cy="3036094"/>
          </a:xfrm>
        </p:spPr>
        <p:txBody>
          <a:bodyPr>
            <a:normAutofit fontScale="925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endocrine portion of the pancreas is called the islets of Langerhans. The islets are scattered throughout the pancreatic tissue.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Each islet is about 0.2 mm in diameter.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Specialized </a:t>
            </a:r>
            <a:r>
              <a:rPr lang="en-US" altLang="en-US">
                <a:latin typeface="Symbol" pitchFamily="1" charset="2"/>
                <a:sym typeface="Symbol" pitchFamily="1" charset="2"/>
              </a:rPr>
              <a:t>α</a:t>
            </a:r>
            <a:r>
              <a:rPr lang="en-US" altLang="en-US"/>
              <a:t> cells and </a:t>
            </a:r>
            <a:r>
              <a:rPr lang="en-US" altLang="en-US">
                <a:latin typeface="Symbol" pitchFamily="1" charset="2"/>
                <a:sym typeface="Symbol" pitchFamily="1" charset="2"/>
              </a:rPr>
              <a:t>β </a:t>
            </a:r>
            <a:r>
              <a:rPr lang="en-US" altLang="en-US"/>
              <a:t>cells in the islets of Langerhans produce insulin and glucagon respectively.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Together, these control blood sugar levels.</a:t>
            </a:r>
          </a:p>
        </p:txBody>
      </p:sp>
      <p:grpSp>
        <p:nvGrpSpPr>
          <p:cNvPr id="117766" name="Group 8"/>
          <p:cNvGrpSpPr>
            <a:grpSpLocks/>
          </p:cNvGrpSpPr>
          <p:nvPr/>
        </p:nvGrpSpPr>
        <p:grpSpPr bwMode="auto">
          <a:xfrm>
            <a:off x="4848820" y="3866555"/>
            <a:ext cx="3997152" cy="2419945"/>
            <a:chOff x="0" y="0"/>
            <a:chExt cx="3581" cy="2168"/>
          </a:xfrm>
        </p:grpSpPr>
        <p:pic>
          <p:nvPicPr>
            <p:cNvPr id="3379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81" cy="2152"/>
            </a:xfrm>
            <a:prstGeom prst="rect">
              <a:avLst/>
            </a:prstGeom>
            <a:noFill/>
            <a:ln>
              <a:noFill/>
            </a:ln>
            <a:effectLst>
              <a:outerShdw blurRad="190500" dist="190500" dir="2700000" rotWithShape="0">
                <a:srgbClr val="808080">
                  <a:alpha val="42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80" name="Rectangle 6"/>
            <p:cNvSpPr>
              <a:spLocks/>
            </p:cNvSpPr>
            <p:nvPr/>
          </p:nvSpPr>
          <p:spPr bwMode="auto">
            <a:xfrm>
              <a:off x="1736" y="2008"/>
              <a:ext cx="816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Pancreas</a:t>
              </a:r>
            </a:p>
          </p:txBody>
        </p:sp>
        <p:sp>
          <p:nvSpPr>
            <p:cNvPr id="117781" name="Line 7"/>
            <p:cNvSpPr>
              <a:spLocks noChangeShapeType="1"/>
            </p:cNvSpPr>
            <p:nvPr/>
          </p:nvSpPr>
          <p:spPr bwMode="auto">
            <a:xfrm>
              <a:off x="2111" y="1453"/>
              <a:ext cx="0" cy="534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117767" name="Group 18"/>
          <p:cNvGrpSpPr>
            <a:grpSpLocks/>
          </p:cNvGrpSpPr>
          <p:nvPr/>
        </p:nvGrpSpPr>
        <p:grpSpPr bwMode="auto">
          <a:xfrm>
            <a:off x="486781" y="4252453"/>
            <a:ext cx="3974206" cy="2650306"/>
            <a:chOff x="-13" y="32"/>
            <a:chExt cx="3890" cy="2704"/>
          </a:xfrm>
        </p:grpSpPr>
        <p:grpSp>
          <p:nvGrpSpPr>
            <p:cNvPr id="117770" name="Group 11"/>
            <p:cNvGrpSpPr>
              <a:grpSpLocks/>
            </p:cNvGrpSpPr>
            <p:nvPr/>
          </p:nvGrpSpPr>
          <p:grpSpPr bwMode="auto">
            <a:xfrm>
              <a:off x="1173" y="32"/>
              <a:ext cx="2704" cy="2704"/>
              <a:chOff x="362" y="32"/>
              <a:chExt cx="2704" cy="2704"/>
            </a:xfrm>
          </p:grpSpPr>
          <p:pic>
            <p:nvPicPr>
              <p:cNvPr id="117777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2" y="32"/>
                <a:ext cx="2704" cy="2704"/>
              </a:xfrm>
              <a:prstGeom prst="rect">
                <a:avLst/>
              </a:prstGeom>
              <a:noFill/>
              <a:ln w="2540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7778" name="Rectangle 10"/>
              <p:cNvSpPr>
                <a:spLocks/>
              </p:cNvSpPr>
              <p:nvPr/>
            </p:nvSpPr>
            <p:spPr bwMode="auto">
              <a:xfrm rot="5400000">
                <a:off x="1729" y="1721"/>
                <a:ext cx="182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b"/>
              <a:lstStyle>
                <a:lvl1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1pPr>
                <a:lvl2pPr marL="37931725" indent="-37474525"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2pPr>
                <a:lvl3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3pPr>
                <a:lvl4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4pPr>
                <a:lvl5pPr eaLnBrk="0" hangingPunct="0"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FF"/>
                    </a:solidFill>
                    <a:latin typeface="Arial" charset="0"/>
                    <a:ea typeface="ヒラギノ角ゴ ProN W3" pitchFamily="1" charset="-128"/>
                    <a:sym typeface="Arial" charset="0"/>
                  </a:defRPr>
                </a:lvl9pPr>
              </a:lstStyle>
              <a:p>
                <a:pPr eaLnBrk="1" hangingPunct="1"/>
                <a:r>
                  <a:rPr lang="en-US" altLang="en-US" sz="400" dirty="0" err="1">
                    <a:solidFill>
                      <a:srgbClr val="FFFFFF"/>
                    </a:solidFill>
                    <a:latin typeface="Helvetica" pitchFamily="1" charset="0"/>
                    <a:cs typeface="Helvetica" pitchFamily="1" charset="0"/>
                    <a:sym typeface="Helvetica" pitchFamily="1" charset="0"/>
                  </a:rPr>
                  <a:t>Solimena</a:t>
                </a:r>
                <a:r>
                  <a:rPr lang="en-US" altLang="en-US" sz="400" dirty="0">
                    <a:solidFill>
                      <a:srgbClr val="FFFFFF"/>
                    </a:solidFill>
                    <a:latin typeface="Helvetica" pitchFamily="1" charset="0"/>
                    <a:cs typeface="Helvetica" pitchFamily="1" charset="0"/>
                    <a:sym typeface="Helvetica" pitchFamily="1" charset="0"/>
                  </a:rPr>
                  <a:t> Lab, Med. Fac., University of Technology, Dresden, Germany CC 3.0</a:t>
                </a:r>
              </a:p>
            </p:txBody>
          </p:sp>
        </p:grpSp>
        <p:sp>
          <p:nvSpPr>
            <p:cNvPr id="117771" name="Rectangle 12"/>
            <p:cNvSpPr>
              <a:spLocks/>
            </p:cNvSpPr>
            <p:nvPr/>
          </p:nvSpPr>
          <p:spPr bwMode="auto">
            <a:xfrm>
              <a:off x="0" y="515"/>
              <a:ext cx="730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Insulin (green)</a:t>
              </a:r>
            </a:p>
          </p:txBody>
        </p:sp>
        <p:sp>
          <p:nvSpPr>
            <p:cNvPr id="117772" name="Line 13"/>
            <p:cNvSpPr>
              <a:spLocks noChangeShapeType="1"/>
            </p:cNvSpPr>
            <p:nvPr/>
          </p:nvSpPr>
          <p:spPr bwMode="auto">
            <a:xfrm rot="10800000">
              <a:off x="582" y="714"/>
              <a:ext cx="873" cy="135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sp>
          <p:nvSpPr>
            <p:cNvPr id="117773" name="Rectangle 14"/>
            <p:cNvSpPr>
              <a:spLocks/>
            </p:cNvSpPr>
            <p:nvPr/>
          </p:nvSpPr>
          <p:spPr bwMode="auto">
            <a:xfrm>
              <a:off x="0" y="1313"/>
              <a:ext cx="807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Glucagon (red)</a:t>
              </a:r>
            </a:p>
          </p:txBody>
        </p:sp>
        <p:sp>
          <p:nvSpPr>
            <p:cNvPr id="117774" name="Line 15"/>
            <p:cNvSpPr>
              <a:spLocks noChangeShapeType="1"/>
            </p:cNvSpPr>
            <p:nvPr/>
          </p:nvSpPr>
          <p:spPr bwMode="auto">
            <a:xfrm rot="10800000">
              <a:off x="794" y="2032"/>
              <a:ext cx="919" cy="42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sp>
          <p:nvSpPr>
            <p:cNvPr id="117775" name="Rectangle 16"/>
            <p:cNvSpPr>
              <a:spLocks/>
            </p:cNvSpPr>
            <p:nvPr/>
          </p:nvSpPr>
          <p:spPr bwMode="auto">
            <a:xfrm>
              <a:off x="-13" y="2016"/>
              <a:ext cx="807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Cell nuclei (blue)</a:t>
              </a:r>
            </a:p>
          </p:txBody>
        </p:sp>
        <p:sp>
          <p:nvSpPr>
            <p:cNvPr id="117776" name="Line 17"/>
            <p:cNvSpPr>
              <a:spLocks noChangeShapeType="1"/>
            </p:cNvSpPr>
            <p:nvPr/>
          </p:nvSpPr>
          <p:spPr bwMode="auto">
            <a:xfrm flipH="1">
              <a:off x="730" y="1336"/>
              <a:ext cx="342" cy="95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sp>
        <p:nvSpPr>
          <p:cNvPr id="117768" name="Rectangle 19"/>
          <p:cNvSpPr>
            <a:spLocks/>
          </p:cNvSpPr>
          <p:nvPr/>
        </p:nvSpPr>
        <p:spPr bwMode="auto">
          <a:xfrm>
            <a:off x="451123" y="6568679"/>
            <a:ext cx="1589484" cy="276820"/>
          </a:xfrm>
          <a:prstGeom prst="rect">
            <a:avLst/>
          </a:prstGeom>
          <a:solidFill>
            <a:schemeClr val="accent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769" name="Rectangle 20"/>
          <p:cNvSpPr>
            <a:spLocks/>
          </p:cNvSpPr>
          <p:nvPr/>
        </p:nvSpPr>
        <p:spPr bwMode="auto">
          <a:xfrm>
            <a:off x="395959" y="6606853"/>
            <a:ext cx="1590601" cy="19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 dirty="0">
                <a:solidFill>
                  <a:srgbClr val="000000"/>
                </a:solidFill>
                <a:cs typeface="Arial" charset="0"/>
              </a:rPr>
              <a:t>Islet of Langerhans</a:t>
            </a:r>
          </a:p>
        </p:txBody>
      </p:sp>
    </p:spTree>
    <p:extLst>
      <p:ext uri="{BB962C8B-B14F-4D97-AF65-F5344CB8AC3E}">
        <p14:creationId xmlns:p14="http://schemas.microsoft.com/office/powerpoint/2010/main" val="5026546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 bldLvl="5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" r="5634" b="14299"/>
          <a:stretch>
            <a:fillRect/>
          </a:stretch>
        </p:blipFill>
        <p:spPr bwMode="auto">
          <a:xfrm>
            <a:off x="2920008" y="3271615"/>
            <a:ext cx="3241477" cy="358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8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7" t="800" r="12823" b="22299"/>
          <a:stretch>
            <a:fillRect/>
          </a:stretch>
        </p:blipFill>
        <p:spPr bwMode="auto">
          <a:xfrm>
            <a:off x="4536281" y="-8930"/>
            <a:ext cx="4607719" cy="686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Rectangle 3"/>
          <p:cNvSpPr>
            <a:spLocks noGrp="1" noChangeArrowheads="1"/>
          </p:cNvSpPr>
          <p:nvPr>
            <p:ph type="title"/>
          </p:nvPr>
        </p:nvSpPr>
        <p:spPr>
          <a:xfrm>
            <a:off x="500062" y="258961"/>
            <a:ext cx="4750594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Parathyroids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4063008" cy="3259336"/>
          </a:xfrm>
        </p:spPr>
        <p:txBody>
          <a:bodyPr>
            <a:normAutofit lnSpcReduction="10000"/>
          </a:bodyPr>
          <a:lstStyle/>
          <a:p>
            <a:pPr>
              <a:tabLst>
                <a:tab pos="721047" algn="l"/>
              </a:tabLst>
            </a:pPr>
            <a:r>
              <a:rPr lang="en-US" altLang="en-US"/>
              <a:t>These are located on the posterior surface of the thyroid gland.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Parathyroid glands secrete PTH (parathyroid hormone) which regulates blood calcium levels and promotes release of calcium from bone.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High levels of calcium in the blood inhibit PTH secretion.</a:t>
            </a:r>
          </a:p>
        </p:txBody>
      </p:sp>
      <p:sp>
        <p:nvSpPr>
          <p:cNvPr id="118790" name="Rectangle 5"/>
          <p:cNvSpPr>
            <a:spLocks/>
          </p:cNvSpPr>
          <p:nvPr/>
        </p:nvSpPr>
        <p:spPr bwMode="auto">
          <a:xfrm>
            <a:off x="8052073" y="3381003"/>
            <a:ext cx="1152128" cy="8092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 dirty="0">
                <a:solidFill>
                  <a:schemeClr val="bg1"/>
                </a:solidFill>
                <a:cs typeface="Arial" charset="0"/>
              </a:rPr>
              <a:t>Parathyroid glands </a:t>
            </a:r>
            <a:br>
              <a:rPr lang="en-US" altLang="en-US" sz="1300" dirty="0">
                <a:solidFill>
                  <a:schemeClr val="bg1"/>
                </a:solidFill>
                <a:cs typeface="Arial" charset="0"/>
              </a:rPr>
            </a:br>
            <a:r>
              <a:rPr lang="en-US" altLang="en-US" sz="1300" dirty="0">
                <a:solidFill>
                  <a:schemeClr val="bg1"/>
                </a:solidFill>
                <a:cs typeface="Arial" charset="0"/>
              </a:rPr>
              <a:t>(on posterior of thyroid)</a:t>
            </a:r>
          </a:p>
        </p:txBody>
      </p:sp>
      <p:sp>
        <p:nvSpPr>
          <p:cNvPr id="118791" name="Rectangle 6"/>
          <p:cNvSpPr>
            <a:spLocks/>
          </p:cNvSpPr>
          <p:nvPr/>
        </p:nvSpPr>
        <p:spPr bwMode="auto">
          <a:xfrm>
            <a:off x="5634633" y="5536406"/>
            <a:ext cx="750094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algn="ctr"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Trachea</a:t>
            </a:r>
          </a:p>
        </p:txBody>
      </p:sp>
      <p:sp>
        <p:nvSpPr>
          <p:cNvPr id="118792" name="Line 7"/>
          <p:cNvSpPr>
            <a:spLocks noChangeShapeType="1"/>
          </p:cNvSpPr>
          <p:nvPr/>
        </p:nvSpPr>
        <p:spPr bwMode="auto">
          <a:xfrm rot="10800000">
            <a:off x="6385843" y="5629053"/>
            <a:ext cx="596057" cy="2232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grpSp>
        <p:nvGrpSpPr>
          <p:cNvPr id="118793" name="Group 12"/>
          <p:cNvGrpSpPr>
            <a:grpSpLocks/>
          </p:cNvGrpSpPr>
          <p:nvPr/>
        </p:nvGrpSpPr>
        <p:grpSpPr bwMode="auto">
          <a:xfrm>
            <a:off x="6113488" y="2155404"/>
            <a:ext cx="1954485" cy="1509117"/>
            <a:chOff x="0" y="0"/>
            <a:chExt cx="1751" cy="1352"/>
          </a:xfrm>
        </p:grpSpPr>
        <p:sp>
          <p:nvSpPr>
            <p:cNvPr id="118794" name="Line 8"/>
            <p:cNvSpPr>
              <a:spLocks noChangeShapeType="1"/>
            </p:cNvSpPr>
            <p:nvPr/>
          </p:nvSpPr>
          <p:spPr bwMode="auto">
            <a:xfrm>
              <a:off x="1002" y="0"/>
              <a:ext cx="749" cy="1351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sp>
          <p:nvSpPr>
            <p:cNvPr id="118795" name="Line 9"/>
            <p:cNvSpPr>
              <a:spLocks noChangeShapeType="1"/>
            </p:cNvSpPr>
            <p:nvPr/>
          </p:nvSpPr>
          <p:spPr bwMode="auto">
            <a:xfrm>
              <a:off x="1066" y="1098"/>
              <a:ext cx="679" cy="24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sp>
          <p:nvSpPr>
            <p:cNvPr id="118796" name="Line 10"/>
            <p:cNvSpPr>
              <a:spLocks noChangeShapeType="1"/>
            </p:cNvSpPr>
            <p:nvPr/>
          </p:nvSpPr>
          <p:spPr bwMode="auto">
            <a:xfrm>
              <a:off x="437" y="223"/>
              <a:ext cx="1314" cy="1129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sp>
          <p:nvSpPr>
            <p:cNvPr id="118797" name="Line 11"/>
            <p:cNvSpPr>
              <a:spLocks noChangeShapeType="1"/>
            </p:cNvSpPr>
            <p:nvPr/>
          </p:nvSpPr>
          <p:spPr bwMode="auto">
            <a:xfrm>
              <a:off x="0" y="1279"/>
              <a:ext cx="1751" cy="72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7678819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build="p" bldLvl="5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1"/>
          <p:cNvSpPr>
            <a:spLocks/>
          </p:cNvSpPr>
          <p:nvPr/>
        </p:nvSpPr>
        <p:spPr bwMode="auto">
          <a:xfrm>
            <a:off x="500063" y="4321969"/>
            <a:ext cx="3250406" cy="2536031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2" y="258961"/>
            <a:ext cx="4375547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Pineal Gland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3491508" cy="2455664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21047" algn="l"/>
              </a:tabLst>
            </a:pPr>
            <a:r>
              <a:rPr lang="en-US" altLang="en-US"/>
              <a:t>This small gland in the brain secretes melatonin, which regulates the sleep-wake cycle.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Melatonin secretion follows a circadian rhythm and coordinates reproductive hormones too.</a:t>
            </a:r>
          </a:p>
        </p:txBody>
      </p:sp>
      <p:grpSp>
        <p:nvGrpSpPr>
          <p:cNvPr id="119813" name="Group 8"/>
          <p:cNvGrpSpPr>
            <a:grpSpLocks/>
          </p:cNvGrpSpPr>
          <p:nvPr/>
        </p:nvGrpSpPr>
        <p:grpSpPr bwMode="auto">
          <a:xfrm>
            <a:off x="4339828" y="562570"/>
            <a:ext cx="4634508" cy="4652367"/>
            <a:chOff x="0" y="0"/>
            <a:chExt cx="4152" cy="4168"/>
          </a:xfrm>
        </p:grpSpPr>
        <p:pic>
          <p:nvPicPr>
            <p:cNvPr id="3584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152" cy="4168"/>
            </a:xfrm>
            <a:prstGeom prst="rect">
              <a:avLst/>
            </a:prstGeom>
            <a:noFill/>
            <a:ln>
              <a:noFill/>
            </a:ln>
            <a:effectLst>
              <a:outerShdw blurRad="190500" dist="190500" dir="2700000" rotWithShape="0">
                <a:srgbClr val="808080">
                  <a:alpha val="42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45" name="Oval 5"/>
            <p:cNvSpPr>
              <a:spLocks/>
            </p:cNvSpPr>
            <p:nvPr/>
          </p:nvSpPr>
          <p:spPr bwMode="auto">
            <a:xfrm>
              <a:off x="2168" y="1840"/>
              <a:ext cx="480" cy="480"/>
            </a:xfrm>
            <a:prstGeom prst="ellipse">
              <a:avLst/>
            </a:prstGeom>
            <a:noFill/>
            <a:ln w="76200">
              <a:solidFill>
                <a:srgbClr val="FFFFFF"/>
              </a:solidFill>
              <a:miter lim="800000"/>
              <a:headEnd/>
              <a:tailEnd/>
            </a:ln>
            <a:effectLst>
              <a:outerShdw blurRad="190500" dist="190499" dir="2700000" algn="ctr" rotWithShape="0">
                <a:schemeClr val="bg2">
                  <a:alpha val="2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Arial" pitchFamily="1" charset="0"/>
                <a:sym typeface="Arial" pitchFamily="1" charset="0"/>
              </a:endParaRPr>
            </a:p>
          </p:txBody>
        </p:sp>
        <p:sp>
          <p:nvSpPr>
            <p:cNvPr id="119818" name="Rectangle 6"/>
            <p:cNvSpPr>
              <a:spLocks/>
            </p:cNvSpPr>
            <p:nvPr/>
          </p:nvSpPr>
          <p:spPr bwMode="auto">
            <a:xfrm>
              <a:off x="624" y="3040"/>
              <a:ext cx="1000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Pineal gland</a:t>
              </a:r>
            </a:p>
          </p:txBody>
        </p:sp>
        <p:sp>
          <p:nvSpPr>
            <p:cNvPr id="119819" name="Line 7"/>
            <p:cNvSpPr>
              <a:spLocks noChangeShapeType="1"/>
            </p:cNvSpPr>
            <p:nvPr/>
          </p:nvSpPr>
          <p:spPr bwMode="auto">
            <a:xfrm flipH="1">
              <a:off x="1227" y="2070"/>
              <a:ext cx="1177" cy="96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132213" y="4134445"/>
            <a:ext cx="2586261" cy="2723555"/>
            <a:chOff x="0" y="0"/>
            <a:chExt cx="2317" cy="2440"/>
          </a:xfrm>
          <a:effectLst>
            <a:outerShdw blurRad="190500" dist="190500" dir="2700000">
              <a:srgbClr val="000000">
                <a:alpha val="43000"/>
              </a:srgbClr>
            </a:outerShdw>
          </a:effectLst>
        </p:grpSpPr>
        <p:pic>
          <p:nvPicPr>
            <p:cNvPr id="35849" name="Picture 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2317" cy="2440"/>
            </a:xfrm>
            <a:prstGeom prst="rect">
              <a:avLst/>
            </a:prstGeom>
            <a:noFill/>
            <a:ln w="25400" cap="flat">
              <a:noFill/>
              <a:miter lim="800000"/>
              <a:headEnd/>
              <a:tailEnd/>
            </a:ln>
          </p:spPr>
        </p:pic>
        <p:sp>
          <p:nvSpPr>
            <p:cNvPr id="35850" name="Oval 10"/>
            <p:cNvSpPr>
              <a:spLocks/>
            </p:cNvSpPr>
            <p:nvPr/>
          </p:nvSpPr>
          <p:spPr bwMode="auto">
            <a:xfrm>
              <a:off x="938" y="479"/>
              <a:ext cx="540" cy="41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Arial" pitchFamily="1" charset="0"/>
                <a:sym typeface="Arial" pitchFamily="1" charset="0"/>
              </a:endParaRPr>
            </a:p>
          </p:txBody>
        </p:sp>
      </p:grpSp>
      <p:pic>
        <p:nvPicPr>
          <p:cNvPr id="119815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41" y="4374431"/>
            <a:ext cx="3134320" cy="2296046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0565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1"/>
          <p:cNvSpPr>
            <a:spLocks noGrp="1" noChangeArrowheads="1"/>
          </p:cNvSpPr>
          <p:nvPr>
            <p:ph type="title"/>
          </p:nvPr>
        </p:nvSpPr>
        <p:spPr>
          <a:xfrm>
            <a:off x="500063" y="258961"/>
            <a:ext cx="4991695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Pituitary Gland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3679031" cy="3000375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21047" algn="l"/>
              </a:tabLst>
            </a:pPr>
            <a:r>
              <a:rPr lang="en-US" altLang="en-US"/>
              <a:t>The pituitary is located below the hypothalamus.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It secretes at least nine hormones that regulate the activities of other endocrine glands.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Secretions of the anterior pituitary are regulated by releasing hormones from the hypothalamus.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390" y="860599"/>
            <a:ext cx="4670227" cy="4509492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7" name="Oval 4"/>
          <p:cNvSpPr>
            <a:spLocks/>
          </p:cNvSpPr>
          <p:nvPr/>
        </p:nvSpPr>
        <p:spPr bwMode="auto">
          <a:xfrm>
            <a:off x="7063383" y="3152180"/>
            <a:ext cx="892969" cy="892969"/>
          </a:xfrm>
          <a:prstGeom prst="ellipse">
            <a:avLst/>
          </a:prstGeom>
          <a:noFill/>
          <a:ln w="7620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0838" name="Rectangle 5"/>
          <p:cNvSpPr>
            <a:spLocks/>
          </p:cNvSpPr>
          <p:nvPr/>
        </p:nvSpPr>
        <p:spPr bwMode="auto">
          <a:xfrm>
            <a:off x="7867278" y="3893344"/>
            <a:ext cx="776883" cy="3661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algn="ctr" eaLnBrk="1" hangingPunct="1"/>
            <a:r>
              <a:rPr lang="en-US" altLang="en-US" sz="1300" dirty="0">
                <a:solidFill>
                  <a:schemeClr val="bg1"/>
                </a:solidFill>
                <a:cs typeface="Arial" charset="0"/>
              </a:rPr>
              <a:t>Anterior pituitary</a:t>
            </a:r>
          </a:p>
        </p:txBody>
      </p:sp>
      <p:sp>
        <p:nvSpPr>
          <p:cNvPr id="120839" name="Rectangle 6"/>
          <p:cNvSpPr>
            <a:spLocks/>
          </p:cNvSpPr>
          <p:nvPr/>
        </p:nvSpPr>
        <p:spPr bwMode="auto">
          <a:xfrm>
            <a:off x="7500937" y="4402336"/>
            <a:ext cx="892969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algn="ctr"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Posterior pituitary</a:t>
            </a:r>
          </a:p>
        </p:txBody>
      </p:sp>
      <p:sp>
        <p:nvSpPr>
          <p:cNvPr id="120840" name="Line 7"/>
          <p:cNvSpPr>
            <a:spLocks noChangeShapeType="1"/>
          </p:cNvSpPr>
          <p:nvPr/>
        </p:nvSpPr>
        <p:spPr bwMode="auto">
          <a:xfrm>
            <a:off x="7636000" y="3571875"/>
            <a:ext cx="471041" cy="321469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sp>
        <p:nvSpPr>
          <p:cNvPr id="120841" name="Line 8"/>
          <p:cNvSpPr>
            <a:spLocks noChangeShapeType="1"/>
          </p:cNvSpPr>
          <p:nvPr/>
        </p:nvSpPr>
        <p:spPr bwMode="auto">
          <a:xfrm>
            <a:off x="7421687" y="3664521"/>
            <a:ext cx="514573" cy="714375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pic>
        <p:nvPicPr>
          <p:cNvPr id="3687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943" y="3989338"/>
            <a:ext cx="2723555" cy="2868662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4" name="Oval 10"/>
          <p:cNvSpPr>
            <a:spLocks/>
          </p:cNvSpPr>
          <p:nvPr/>
        </p:nvSpPr>
        <p:spPr bwMode="auto">
          <a:xfrm>
            <a:off x="3107531" y="4679156"/>
            <a:ext cx="634008" cy="491133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alpha val="0"/>
                </a:srgb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>
            <a:outerShdw blurRad="190500" dist="190499" dir="2700000" algn="ctr" rotWithShape="0">
              <a:schemeClr val="bg2">
                <a:alpha val="20000"/>
              </a:scheme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>
              <a:latin typeface="Arial" pitchFamily="1" charset="0"/>
              <a:sym typeface="Arial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996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uild="p" bldLvl="5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" t="12386" r="5621" b="241"/>
          <a:stretch>
            <a:fillRect/>
          </a:stretch>
        </p:blipFill>
        <p:spPr bwMode="auto">
          <a:xfrm>
            <a:off x="4723805" y="0"/>
            <a:ext cx="442019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258961"/>
            <a:ext cx="4420195" cy="1393031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Testes (Males)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172" y="1232297"/>
            <a:ext cx="3482578" cy="5304234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Like the female ovaries, the testes are both endocrine organs and gonads.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The testes are supported below the torso in an extension of the abdomen called the scrotum.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The testes produces testosterone, which: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 Controls and maintains: “maleness” </a:t>
            </a:r>
            <a:br>
              <a:rPr lang="en-US" altLang="en-US"/>
            </a:br>
            <a:r>
              <a:rPr lang="en-US" altLang="en-US"/>
              <a:t>(muscular development and deeper voice)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/>
              <a:t>Promotes sperm production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/>
              <a:t>Testis functions are regulated by gonadotropic hormones produced by the anterior pituitary.</a:t>
            </a: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867" y="2310557"/>
            <a:ext cx="5482828" cy="4165699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62" name="Rectangle 5"/>
          <p:cNvSpPr>
            <a:spLocks/>
          </p:cNvSpPr>
          <p:nvPr/>
        </p:nvSpPr>
        <p:spPr bwMode="auto">
          <a:xfrm>
            <a:off x="4375547" y="6197203"/>
            <a:ext cx="732234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algn="ctr"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Testes</a:t>
            </a:r>
          </a:p>
        </p:txBody>
      </p:sp>
      <p:sp>
        <p:nvSpPr>
          <p:cNvPr id="121863" name="Line 6"/>
          <p:cNvSpPr>
            <a:spLocks noChangeShapeType="1"/>
          </p:cNvSpPr>
          <p:nvPr/>
        </p:nvSpPr>
        <p:spPr bwMode="auto">
          <a:xfrm flipH="1">
            <a:off x="4929188" y="5563196"/>
            <a:ext cx="521271" cy="613916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8064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bldLvl="5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"/>
          <p:cNvSpPr>
            <a:spLocks/>
          </p:cNvSpPr>
          <p:nvPr/>
        </p:nvSpPr>
        <p:spPr bwMode="auto">
          <a:xfrm>
            <a:off x="4250531" y="1259086"/>
            <a:ext cx="4893469" cy="5598914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Thymus Gland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3661172" cy="3357563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721047" algn="l"/>
              </a:tabLst>
            </a:pPr>
            <a:r>
              <a:rPr lang="en-US" altLang="en-US"/>
              <a:t>The thymus is a rather diffuse organ located in front of the heart and behind the sternum.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The thymus is large in infants, but decreases in size during adulthood.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The thymus produces thymosin that is essential for the development of T-lymphocytes and the immune system.</a:t>
            </a:r>
          </a:p>
        </p:txBody>
      </p:sp>
      <p:pic>
        <p:nvPicPr>
          <p:cNvPr id="12288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08" b="5994"/>
          <a:stretch>
            <a:fillRect/>
          </a:stretch>
        </p:blipFill>
        <p:spPr bwMode="auto">
          <a:xfrm>
            <a:off x="4250531" y="1259086"/>
            <a:ext cx="4893469" cy="5598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6" name="Line 5"/>
          <p:cNvSpPr>
            <a:spLocks noChangeShapeType="1"/>
          </p:cNvSpPr>
          <p:nvPr/>
        </p:nvSpPr>
        <p:spPr bwMode="auto">
          <a:xfrm>
            <a:off x="7353598" y="4218161"/>
            <a:ext cx="178594" cy="642938"/>
          </a:xfrm>
          <a:prstGeom prst="line">
            <a:avLst/>
          </a:prstGeom>
          <a:noFill/>
          <a:ln w="25400">
            <a:solidFill>
              <a:srgbClr val="FFFFFF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sp>
        <p:nvSpPr>
          <p:cNvPr id="122887" name="Rectangle 6"/>
          <p:cNvSpPr>
            <a:spLocks/>
          </p:cNvSpPr>
          <p:nvPr/>
        </p:nvSpPr>
        <p:spPr bwMode="auto">
          <a:xfrm>
            <a:off x="7197328" y="4857750"/>
            <a:ext cx="696516" cy="250031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888" name="Rectangle 7"/>
          <p:cNvSpPr>
            <a:spLocks/>
          </p:cNvSpPr>
          <p:nvPr/>
        </p:nvSpPr>
        <p:spPr bwMode="auto">
          <a:xfrm>
            <a:off x="7125891" y="4893469"/>
            <a:ext cx="750094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algn="ctr"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Thymus</a:t>
            </a:r>
          </a:p>
        </p:txBody>
      </p:sp>
      <p:pic>
        <p:nvPicPr>
          <p:cNvPr id="12288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0" b="12021"/>
          <a:stretch>
            <a:fillRect/>
          </a:stretch>
        </p:blipFill>
        <p:spPr bwMode="auto">
          <a:xfrm>
            <a:off x="1357312" y="3902273"/>
            <a:ext cx="2553891" cy="2955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0604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5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/>
              <a:t>Thyroid Gland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4232672" cy="4589859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21047" algn="l"/>
              </a:tabLst>
            </a:pPr>
            <a:r>
              <a:rPr lang="en-US" altLang="en-US"/>
              <a:t>The thyroid is a shield-shaped gland found in the neck below the thyroid cartilage, which forms the Adam’s apple.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The thyroid gland secretes thyroxine, and iodine containing hormone needed for normal growth and development.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Thyroxine stimulates </a:t>
            </a:r>
            <a:r>
              <a:rPr lang="en-US" altLang="en-US" i="1" u="sng">
                <a:solidFill>
                  <a:srgbClr val="005481"/>
                </a:solidFill>
                <a:hlinkClick r:id="" action="ppaction://noaction"/>
              </a:rPr>
              <a:t>metabolism</a:t>
            </a:r>
            <a:r>
              <a:rPr lang="en-US" altLang="en-US"/>
              <a:t> and growth via </a:t>
            </a:r>
            <a:r>
              <a:rPr lang="en-US" altLang="en-US" i="1" u="sng">
                <a:solidFill>
                  <a:srgbClr val="005481"/>
                </a:solidFill>
                <a:hlinkClick r:id="" action="ppaction://noaction"/>
              </a:rPr>
              <a:t>protein</a:t>
            </a:r>
            <a:r>
              <a:rPr lang="en-US" altLang="en-US"/>
              <a:t> synthesis.</a:t>
            </a:r>
          </a:p>
          <a:p>
            <a:pPr>
              <a:tabLst>
                <a:tab pos="721047" algn="l"/>
              </a:tabLst>
            </a:pPr>
            <a:r>
              <a:rPr lang="en-US" altLang="en-US"/>
              <a:t>Thyroid secretion is regulated by thyrid-stimulating hormone (TSH) from the anterior pituitary. TSH release is itself regulate by a hypothalamic releasing hormone.</a:t>
            </a:r>
          </a:p>
        </p:txBody>
      </p:sp>
      <p:grpSp>
        <p:nvGrpSpPr>
          <p:cNvPr id="123908" name="Group 8"/>
          <p:cNvGrpSpPr>
            <a:grpSpLocks/>
          </p:cNvGrpSpPr>
          <p:nvPr/>
        </p:nvGrpSpPr>
        <p:grpSpPr bwMode="auto">
          <a:xfrm>
            <a:off x="5125641" y="-89297"/>
            <a:ext cx="3335238" cy="6947297"/>
            <a:chOff x="0" y="0"/>
            <a:chExt cx="2988" cy="6224"/>
          </a:xfrm>
        </p:grpSpPr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769" cy="6224"/>
            </a:xfrm>
            <a:prstGeom prst="rect">
              <a:avLst/>
            </a:prstGeom>
            <a:noFill/>
            <a:ln>
              <a:noFill/>
            </a:ln>
            <a:effectLst>
              <a:outerShdw blurRad="190500" dist="190500" dir="2700000" rotWithShape="0">
                <a:srgbClr val="808080">
                  <a:alpha val="42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910" name="Rectangle 4"/>
            <p:cNvSpPr>
              <a:spLocks/>
            </p:cNvSpPr>
            <p:nvPr/>
          </p:nvSpPr>
          <p:spPr bwMode="auto">
            <a:xfrm>
              <a:off x="2374" y="4248"/>
              <a:ext cx="614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 dirty="0">
                  <a:solidFill>
                    <a:srgbClr val="005481"/>
                  </a:solidFill>
                  <a:cs typeface="Arial" charset="0"/>
                </a:rPr>
                <a:t>Thyroid gland</a:t>
              </a:r>
            </a:p>
          </p:txBody>
        </p:sp>
        <p:sp>
          <p:nvSpPr>
            <p:cNvPr id="123911" name="Line 5"/>
            <p:cNvSpPr>
              <a:spLocks noChangeShapeType="1"/>
            </p:cNvSpPr>
            <p:nvPr/>
          </p:nvSpPr>
          <p:spPr bwMode="auto">
            <a:xfrm>
              <a:off x="2374" y="3924"/>
              <a:ext cx="506" cy="320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  <p:sp>
          <p:nvSpPr>
            <p:cNvPr id="123912" name="Rectangle 6"/>
            <p:cNvSpPr>
              <a:spLocks/>
            </p:cNvSpPr>
            <p:nvPr/>
          </p:nvSpPr>
          <p:spPr bwMode="auto">
            <a:xfrm>
              <a:off x="1848" y="5432"/>
              <a:ext cx="74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 marL="114300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0700" algn="l"/>
                </a:tabLs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algn="ctr" eaLnBrk="1" hangingPunct="1"/>
              <a:r>
                <a:rPr lang="en-US" altLang="en-US" sz="1300">
                  <a:solidFill>
                    <a:srgbClr val="005481"/>
                  </a:solidFill>
                  <a:cs typeface="Arial" charset="0"/>
                </a:rPr>
                <a:t>Trachea</a:t>
              </a:r>
            </a:p>
          </p:txBody>
        </p:sp>
        <p:sp>
          <p:nvSpPr>
            <p:cNvPr id="123913" name="Line 7"/>
            <p:cNvSpPr>
              <a:spLocks noChangeShapeType="1"/>
            </p:cNvSpPr>
            <p:nvPr/>
          </p:nvSpPr>
          <p:spPr bwMode="auto">
            <a:xfrm>
              <a:off x="1446" y="5164"/>
              <a:ext cx="506" cy="320"/>
            </a:xfrm>
            <a:prstGeom prst="line">
              <a:avLst/>
            </a:prstGeom>
            <a:noFill/>
            <a:ln w="25400">
              <a:solidFill>
                <a:srgbClr val="00548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2411966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bldLvl="5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" y="3392166"/>
            <a:ext cx="1919883" cy="1947788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88640"/>
            <a:ext cx="8280920" cy="1080120"/>
          </a:xfrm>
        </p:spPr>
        <p:txBody>
          <a:bodyPr/>
          <a:lstStyle/>
          <a:p>
            <a:pPr>
              <a:tabLst>
                <a:tab pos="669703" algn="l"/>
              </a:tabLst>
            </a:pPr>
            <a:r>
              <a:rPr lang="en-US" altLang="en-US" sz="3200" dirty="0"/>
              <a:t>Antagonistic Hormones and Negative Feedback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031" y="1259086"/>
            <a:ext cx="7670602" cy="1607344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21047" algn="l"/>
                <a:tab pos="1045853" algn="l"/>
              </a:tabLst>
            </a:pPr>
            <a:r>
              <a:rPr lang="en-US" altLang="en-US" dirty="0"/>
              <a:t>The effects of one hormone are often counteracted by an opposing hormone.</a:t>
            </a:r>
          </a:p>
          <a:p>
            <a:pPr>
              <a:tabLst>
                <a:tab pos="721047" algn="l"/>
                <a:tab pos="1045853" algn="l"/>
              </a:tabLst>
            </a:pPr>
            <a:r>
              <a:rPr lang="en-US" altLang="en-US" dirty="0"/>
              <a:t>Feedback mechanisms adjust the balance of the two hormones to maintain physiological function.</a:t>
            </a:r>
          </a:p>
          <a:p>
            <a:pPr lvl="1">
              <a:tabLst>
                <a:tab pos="721047" algn="l"/>
                <a:tab pos="1045853" algn="l"/>
              </a:tabLst>
            </a:pPr>
            <a:r>
              <a:rPr lang="en-US" altLang="en-US" dirty="0"/>
              <a:t>Example: insulin decreases blood glucose and glucagon raises it.</a:t>
            </a:r>
          </a:p>
        </p:txBody>
      </p:sp>
      <p:sp>
        <p:nvSpPr>
          <p:cNvPr id="130053" name="Rectangle 4"/>
          <p:cNvSpPr>
            <a:spLocks/>
          </p:cNvSpPr>
          <p:nvPr/>
        </p:nvSpPr>
        <p:spPr bwMode="auto">
          <a:xfrm>
            <a:off x="866180" y="5282208"/>
            <a:ext cx="21512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5481"/>
                </a:solidFill>
                <a:cs typeface="Arial" charset="0"/>
              </a:rPr>
              <a:t>Insulin secretion</a:t>
            </a:r>
          </a:p>
        </p:txBody>
      </p:sp>
      <p:pic>
        <p:nvPicPr>
          <p:cNvPr id="46085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539" y="3310682"/>
            <a:ext cx="1893094" cy="2160984"/>
          </a:xfrm>
          <a:prstGeom prst="rect">
            <a:avLst/>
          </a:prstGeom>
          <a:noFill/>
          <a:ln>
            <a:noFill/>
          </a:ln>
          <a:effectLst>
            <a:outerShdw blurRad="190500" dist="190500" dir="2700000" algn="ctr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5" name="Rectangle 6"/>
          <p:cNvSpPr>
            <a:spLocks/>
          </p:cNvSpPr>
          <p:nvPr/>
        </p:nvSpPr>
        <p:spPr bwMode="auto">
          <a:xfrm>
            <a:off x="6732240" y="5046018"/>
            <a:ext cx="136896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5481"/>
                </a:solidFill>
                <a:cs typeface="Arial" charset="0"/>
              </a:rPr>
              <a:t>Glucagon </a:t>
            </a:r>
          </a:p>
          <a:p>
            <a:pPr eaLnBrk="1" hangingPunct="1"/>
            <a:r>
              <a:rPr lang="en-US" altLang="en-US" b="1" dirty="0">
                <a:solidFill>
                  <a:srgbClr val="005481"/>
                </a:solidFill>
                <a:cs typeface="Arial" charset="0"/>
              </a:rPr>
              <a:t>secretion</a:t>
            </a:r>
          </a:p>
        </p:txBody>
      </p:sp>
      <p:sp>
        <p:nvSpPr>
          <p:cNvPr id="130056" name="Rectangle 7"/>
          <p:cNvSpPr>
            <a:spLocks/>
          </p:cNvSpPr>
          <p:nvPr/>
        </p:nvSpPr>
        <p:spPr bwMode="auto">
          <a:xfrm>
            <a:off x="4125515" y="2928938"/>
            <a:ext cx="1214438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 b="1">
                <a:solidFill>
                  <a:srgbClr val="005481"/>
                </a:solidFill>
                <a:cs typeface="Arial" charset="0"/>
              </a:rPr>
              <a:t>Raises blood glucose level</a:t>
            </a:r>
          </a:p>
        </p:txBody>
      </p:sp>
      <p:sp>
        <p:nvSpPr>
          <p:cNvPr id="130057" name="Rectangle 8"/>
          <p:cNvSpPr>
            <a:spLocks/>
          </p:cNvSpPr>
          <p:nvPr/>
        </p:nvSpPr>
        <p:spPr bwMode="auto">
          <a:xfrm>
            <a:off x="4063008" y="5866805"/>
            <a:ext cx="1339453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 b="1">
                <a:solidFill>
                  <a:srgbClr val="005481"/>
                </a:solidFill>
                <a:cs typeface="Arial" charset="0"/>
              </a:rPr>
              <a:t>Lowers blood glucose level</a:t>
            </a:r>
          </a:p>
        </p:txBody>
      </p:sp>
      <p:sp>
        <p:nvSpPr>
          <p:cNvPr id="130058" name="Rectangle 9"/>
          <p:cNvSpPr>
            <a:spLocks/>
          </p:cNvSpPr>
          <p:nvPr/>
        </p:nvSpPr>
        <p:spPr bwMode="auto">
          <a:xfrm>
            <a:off x="4339828" y="4884539"/>
            <a:ext cx="1759148" cy="553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Decrease in blood glucose stimulates glucagon release</a:t>
            </a:r>
          </a:p>
        </p:txBody>
      </p:sp>
      <p:sp>
        <p:nvSpPr>
          <p:cNvPr id="130059" name="Rectangle 10"/>
          <p:cNvSpPr>
            <a:spLocks/>
          </p:cNvSpPr>
          <p:nvPr/>
        </p:nvSpPr>
        <p:spPr bwMode="auto">
          <a:xfrm>
            <a:off x="3107531" y="3786187"/>
            <a:ext cx="1759148" cy="553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marL="114300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1pPr>
            <a:lvl2pPr marL="37931725" indent="-37474525"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2pPr>
            <a:lvl3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3pPr>
            <a:lvl4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4pPr>
            <a:lvl5pPr eaLnBrk="0" hangingPunct="0"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</a:tabLst>
              <a:defRPr sz="2000">
                <a:solidFill>
                  <a:srgbClr val="0000FF"/>
                </a:solidFill>
                <a:latin typeface="Arial" charset="0"/>
                <a:ea typeface="ヒラギノ角ゴ ProN W3" pitchFamily="1" charset="-128"/>
                <a:sym typeface="Arial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5481"/>
                </a:solidFill>
                <a:cs typeface="Arial" charset="0"/>
              </a:rPr>
              <a:t>Increase in blood glucose stimulates insulin release</a:t>
            </a:r>
          </a:p>
        </p:txBody>
      </p:sp>
      <p:grpSp>
        <p:nvGrpSpPr>
          <p:cNvPr id="130060" name="Group 13"/>
          <p:cNvGrpSpPr>
            <a:grpSpLocks/>
          </p:cNvGrpSpPr>
          <p:nvPr/>
        </p:nvGrpSpPr>
        <p:grpSpPr bwMode="auto">
          <a:xfrm flipH="1">
            <a:off x="2625328" y="2738066"/>
            <a:ext cx="4193605" cy="1163092"/>
            <a:chOff x="0" y="0"/>
            <a:chExt cx="3757" cy="1041"/>
          </a:xfrm>
        </p:grpSpPr>
        <p:sp>
          <p:nvSpPr>
            <p:cNvPr id="130066" name="Freeform 11"/>
            <p:cNvSpPr>
              <a:spLocks/>
            </p:cNvSpPr>
            <p:nvPr/>
          </p:nvSpPr>
          <p:spPr bwMode="auto">
            <a:xfrm>
              <a:off x="0" y="349"/>
              <a:ext cx="1286" cy="3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60000 65536"/>
                <a:gd name="T5" fmla="*/ 0 60000 65536"/>
                <a:gd name="T6" fmla="*/ 0 w 21600"/>
                <a:gd name="T7" fmla="*/ 0 h 21600"/>
                <a:gd name="T8" fmla="*/ 21600 w 21600"/>
                <a:gd name="T9" fmla="*/ 21600 h 21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8275" y="3895"/>
                    <a:pt x="21600" y="0"/>
                  </a:cubicBezTo>
                </a:path>
              </a:pathLst>
            </a:custGeom>
            <a:noFill/>
            <a:ln w="101600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0067" name="Freeform 12"/>
            <p:cNvSpPr>
              <a:spLocks/>
            </p:cNvSpPr>
            <p:nvPr/>
          </p:nvSpPr>
          <p:spPr bwMode="auto">
            <a:xfrm rot="2032928">
              <a:off x="2471" y="325"/>
              <a:ext cx="1287" cy="3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60000 65536"/>
                <a:gd name="T5" fmla="*/ 0 60000 65536"/>
                <a:gd name="T6" fmla="*/ 0 w 21600"/>
                <a:gd name="T7" fmla="*/ 0 h 21600"/>
                <a:gd name="T8" fmla="*/ 21600 w 21600"/>
                <a:gd name="T9" fmla="*/ 21600 h 21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8275" y="3895"/>
                    <a:pt x="21600" y="0"/>
                  </a:cubicBezTo>
                </a:path>
              </a:pathLst>
            </a:custGeom>
            <a:noFill/>
            <a:ln w="101600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0061" name="Group 16"/>
          <p:cNvGrpSpPr>
            <a:grpSpLocks/>
          </p:cNvGrpSpPr>
          <p:nvPr/>
        </p:nvGrpSpPr>
        <p:grpSpPr bwMode="auto">
          <a:xfrm rot="10800000" flipH="1">
            <a:off x="2625328" y="5313164"/>
            <a:ext cx="4193605" cy="1161976"/>
            <a:chOff x="0" y="0"/>
            <a:chExt cx="3757" cy="1041"/>
          </a:xfrm>
        </p:grpSpPr>
        <p:sp>
          <p:nvSpPr>
            <p:cNvPr id="130064" name="Freeform 14"/>
            <p:cNvSpPr>
              <a:spLocks/>
            </p:cNvSpPr>
            <p:nvPr/>
          </p:nvSpPr>
          <p:spPr bwMode="auto">
            <a:xfrm>
              <a:off x="0" y="349"/>
              <a:ext cx="1286" cy="3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60000 65536"/>
                <a:gd name="T5" fmla="*/ 0 60000 65536"/>
                <a:gd name="T6" fmla="*/ 0 w 21600"/>
                <a:gd name="T7" fmla="*/ 0 h 21600"/>
                <a:gd name="T8" fmla="*/ 21600 w 21600"/>
                <a:gd name="T9" fmla="*/ 21600 h 21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8275" y="3895"/>
                    <a:pt x="21600" y="0"/>
                  </a:cubicBezTo>
                </a:path>
              </a:pathLst>
            </a:custGeom>
            <a:noFill/>
            <a:ln w="101600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0065" name="Freeform 15"/>
            <p:cNvSpPr>
              <a:spLocks/>
            </p:cNvSpPr>
            <p:nvPr/>
          </p:nvSpPr>
          <p:spPr bwMode="auto">
            <a:xfrm rot="2032928">
              <a:off x="2471" y="325"/>
              <a:ext cx="1287" cy="3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60000 65536"/>
                <a:gd name="T5" fmla="*/ 0 60000 65536"/>
                <a:gd name="T6" fmla="*/ 0 w 21600"/>
                <a:gd name="T7" fmla="*/ 0 h 21600"/>
                <a:gd name="T8" fmla="*/ 21600 w 21600"/>
                <a:gd name="T9" fmla="*/ 21600 h 21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8275" y="3895"/>
                    <a:pt x="21600" y="0"/>
                  </a:cubicBezTo>
                </a:path>
              </a:pathLst>
            </a:custGeom>
            <a:noFill/>
            <a:ln w="101600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1pPr>
              <a:lvl2pPr marL="37931725" indent="-37474525"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2pPr>
              <a:lvl3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3pPr>
              <a:lvl4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4pPr>
              <a:lvl5pPr eaLnBrk="0" hangingPunct="0"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FF"/>
                  </a:solidFill>
                  <a:latin typeface="Arial" charset="0"/>
                  <a:ea typeface="ヒラギノ角ゴ ProN W3" pitchFamily="1" charset="-128"/>
                  <a:sym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30062" name="Line 17"/>
          <p:cNvSpPr>
            <a:spLocks noChangeShapeType="1"/>
          </p:cNvSpPr>
          <p:nvPr/>
        </p:nvSpPr>
        <p:spPr bwMode="auto">
          <a:xfrm>
            <a:off x="3474765" y="3305101"/>
            <a:ext cx="204266" cy="456530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sp>
        <p:nvSpPr>
          <p:cNvPr id="130063" name="Line 18"/>
          <p:cNvSpPr>
            <a:spLocks noChangeShapeType="1"/>
          </p:cNvSpPr>
          <p:nvPr/>
        </p:nvSpPr>
        <p:spPr bwMode="auto">
          <a:xfrm rot="10800000">
            <a:off x="5616774" y="5468318"/>
            <a:ext cx="417463" cy="455414"/>
          </a:xfrm>
          <a:prstGeom prst="line">
            <a:avLst/>
          </a:prstGeom>
          <a:noFill/>
          <a:ln w="25400">
            <a:solidFill>
              <a:srgbClr val="00548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8102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bldLvl="5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240</TotalTime>
  <Words>1339</Words>
  <Application>Microsoft Office PowerPoint</Application>
  <PresentationFormat>On-screen Show (4:3)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Helvetica</vt:lpstr>
      <vt:lpstr>Symbol</vt:lpstr>
      <vt:lpstr>Adjacency</vt:lpstr>
      <vt:lpstr>Endocrine Glands</vt:lpstr>
      <vt:lpstr>What are we doing today?</vt:lpstr>
      <vt:lpstr>Keywords</vt:lpstr>
      <vt:lpstr>Endocrine Glands</vt:lpstr>
      <vt:lpstr>Hypothalamus</vt:lpstr>
      <vt:lpstr>Role of the Hypothalamus</vt:lpstr>
      <vt:lpstr>Hypothalamus Structure</vt:lpstr>
      <vt:lpstr>Hypothalamus</vt:lpstr>
      <vt:lpstr>Hormones of the Pituitary</vt:lpstr>
      <vt:lpstr>Anterior Pituitary</vt:lpstr>
      <vt:lpstr>Posterior Pituitary</vt:lpstr>
      <vt:lpstr>Adrenal Glands</vt:lpstr>
      <vt:lpstr>Ovaries (Females)</vt:lpstr>
      <vt:lpstr>Pancreatic Islets</vt:lpstr>
      <vt:lpstr>Parathyroids</vt:lpstr>
      <vt:lpstr>Pineal Gland</vt:lpstr>
      <vt:lpstr>Pituitary Gland</vt:lpstr>
      <vt:lpstr>Testes (Males)</vt:lpstr>
      <vt:lpstr>Thymus Gland</vt:lpstr>
      <vt:lpstr>Thyroid Gland</vt:lpstr>
      <vt:lpstr>Antagonistic Hormones and Negative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Inquiry Skills</dc:title>
  <dc:creator>BRUNS Emma</dc:creator>
  <cp:lastModifiedBy>Ivan Opacak</cp:lastModifiedBy>
  <cp:revision>27</cp:revision>
  <dcterms:created xsi:type="dcterms:W3CDTF">2018-02-02T00:28:02Z</dcterms:created>
  <dcterms:modified xsi:type="dcterms:W3CDTF">2021-02-10T00:25:12Z</dcterms:modified>
</cp:coreProperties>
</file>
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8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83" autoAdjust="0"/>
  </p:normalViewPr>
  <p:slideViewPr>
    <p:cSldViewPr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D9512-C607-479D-9091-7AFC62A6F268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C5F8F-1D81-4F44-BB53-0D7347ABA7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2645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18/02/2021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2072D987-F769-4FBA-90D4-E4010B051761}" type="datetimeFigureOut">
              <a:rPr lang="en-AU" smtClean="0"/>
              <a:t>18/02/2021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Endocrine Glands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FA64AC8-D08D-43BB-B397-C956E8C52A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594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are we doing today?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Synthetic hormones may be developed to control or treat endocrine dysfunction, including hypothyroidism and hyperthyroidism, to improve the quality of life for individuals (SHE)</a:t>
            </a:r>
          </a:p>
          <a:p>
            <a:pPr marL="114300" indent="0">
              <a:buNone/>
            </a:pP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1314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Diabetes:</a:t>
            </a:r>
          </a:p>
          <a:p>
            <a:r>
              <a:rPr lang="en-AU" dirty="0"/>
              <a:t>Insulin:</a:t>
            </a:r>
          </a:p>
          <a:p>
            <a:r>
              <a:rPr lang="en-AU" dirty="0"/>
              <a:t>Thyroxine and tri-iodothyronine:</a:t>
            </a:r>
          </a:p>
          <a:p>
            <a:r>
              <a:rPr lang="en-AU" dirty="0"/>
              <a:t>Hyperthyroidism:</a:t>
            </a:r>
          </a:p>
          <a:p>
            <a:r>
              <a:rPr lang="en-AU" dirty="0"/>
              <a:t>Hypothyroidism:</a:t>
            </a:r>
          </a:p>
          <a:p>
            <a:r>
              <a:rPr lang="en-AU" dirty="0"/>
              <a:t>Human growth hormone (</a:t>
            </a:r>
            <a:r>
              <a:rPr lang="en-AU" dirty="0" err="1"/>
              <a:t>hGH</a:t>
            </a:r>
            <a:r>
              <a:rPr lang="en-AU" dirty="0"/>
              <a:t>):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0132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2CB7-02B7-416C-B256-4047589FA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Homeostasis and hormonal disruptions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D15A5-9694-4AAC-AD9B-EBF1B96FD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63972"/>
            <a:ext cx="7620000" cy="4800600"/>
          </a:xfrm>
        </p:spPr>
        <p:txBody>
          <a:bodyPr/>
          <a:lstStyle/>
          <a:p>
            <a:r>
              <a:rPr lang="en-AU" dirty="0"/>
              <a:t>Homeostasis is the maintenance of a constant internal environment so that cells can function at their optimal level.</a:t>
            </a:r>
          </a:p>
          <a:p>
            <a:endParaRPr lang="en-AU" dirty="0"/>
          </a:p>
          <a:p>
            <a:r>
              <a:rPr lang="en-AU" dirty="0"/>
              <a:t>Diabetes will see a disruption in this functioning due to increased glucose in ones blood.</a:t>
            </a:r>
          </a:p>
          <a:p>
            <a:endParaRPr lang="en-AU" dirty="0"/>
          </a:p>
          <a:p>
            <a:r>
              <a:rPr lang="en-AU" dirty="0"/>
              <a:t>There are other disruptions to homeostasis, though there are treatments to assist in trying to maintain regular homeostasis.</a:t>
            </a:r>
          </a:p>
        </p:txBody>
      </p:sp>
    </p:spTree>
    <p:extLst>
      <p:ext uri="{BB962C8B-B14F-4D97-AF65-F5344CB8AC3E}">
        <p14:creationId xmlns:p14="http://schemas.microsoft.com/office/powerpoint/2010/main" val="2105627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582E8-B82D-4F53-BBC2-D79E1CB31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Diabetes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48527-E8EC-4CA5-A4A7-C33EC75B3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Also known as diabetes mellitus</a:t>
            </a:r>
          </a:p>
          <a:p>
            <a:r>
              <a:rPr lang="en-AU" dirty="0"/>
              <a:t>Results in abnormally high blood glucose, known as </a:t>
            </a:r>
            <a:r>
              <a:rPr lang="en-AU" u="sng" dirty="0"/>
              <a:t>hyperglycaemia</a:t>
            </a:r>
          </a:p>
          <a:p>
            <a:r>
              <a:rPr lang="en-AU" dirty="0"/>
              <a:t>During homeostasis, there is a balance between the hormones insulin and glucagon</a:t>
            </a:r>
          </a:p>
          <a:p>
            <a:r>
              <a:rPr lang="en-AU" dirty="0"/>
              <a:t>A diabetic will suffer from a lack of insulin production or their cells will be resistant to insulin</a:t>
            </a:r>
          </a:p>
          <a:p>
            <a:r>
              <a:rPr lang="en-AU" dirty="0"/>
              <a:t>Insulin stimulates the uptake of glucose from blood by cells. It also allows the conversion of glucose into glycogen by the liver and muscle cells</a:t>
            </a:r>
          </a:p>
          <a:p>
            <a:r>
              <a:rPr lang="en-AU" dirty="0"/>
              <a:t>A lack of insulin, or insulin resistance by the cells will see high levels of glucose remain in ones blood and urine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59643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2A5B1-81E0-4B26-8FF8-21BD1F201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688" y="-114300"/>
            <a:ext cx="7620000" cy="1143000"/>
          </a:xfrm>
        </p:spPr>
        <p:txBody>
          <a:bodyPr/>
          <a:lstStyle/>
          <a:p>
            <a:r>
              <a:rPr lang="en-AU" dirty="0"/>
              <a:t>Type 1 Diabetes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C6092-9F23-425F-B311-C6680C998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31984"/>
            <a:ext cx="8064896" cy="5377335"/>
          </a:xfrm>
        </p:spPr>
        <p:txBody>
          <a:bodyPr>
            <a:normAutofit/>
          </a:bodyPr>
          <a:lstStyle/>
          <a:p>
            <a:r>
              <a:rPr lang="en-AU" sz="2000" dirty="0"/>
              <a:t>Insulin dependent diabetes</a:t>
            </a:r>
          </a:p>
          <a:p>
            <a:r>
              <a:rPr lang="en-AU" sz="2000" dirty="0"/>
              <a:t>Begins in childhood and is often termed juvenile diabetes</a:t>
            </a:r>
          </a:p>
          <a:p>
            <a:r>
              <a:rPr lang="en-AU" sz="2000" dirty="0"/>
              <a:t>Affected individuals have their immune system attack beta cells. These cells produce insulin and attacking them inhibits insulin production</a:t>
            </a:r>
          </a:p>
          <a:p>
            <a:r>
              <a:rPr lang="en-AU" sz="2000" dirty="0"/>
              <a:t>Fortunately, insulin can be administered to these individuals</a:t>
            </a:r>
          </a:p>
          <a:p>
            <a:r>
              <a:rPr lang="en-AU" sz="2000" dirty="0"/>
              <a:t>Insulin must be injected, as consuming it orally will see it break down in the alimentary canal</a:t>
            </a:r>
          </a:p>
          <a:p>
            <a:r>
              <a:rPr lang="en-AU" sz="2000" dirty="0"/>
              <a:t>Regular injections are necessary and can be achieved by administering it manually or via an interval pump</a:t>
            </a:r>
          </a:p>
          <a:p>
            <a:r>
              <a:rPr lang="en-AU" sz="2000" dirty="0"/>
              <a:t>Long term effects include kidney failure, heart attack, stroke, amputation, blindness or nerve damage</a:t>
            </a:r>
          </a:p>
        </p:txBody>
      </p:sp>
      <p:pic>
        <p:nvPicPr>
          <p:cNvPr id="1026" name="Picture 2" descr="Image result for type 1 diabetes">
            <a:extLst>
              <a:ext uri="{FF2B5EF4-FFF2-40B4-BE49-F238E27FC236}">
                <a16:creationId xmlns:a16="http://schemas.microsoft.com/office/drawing/2014/main" id="{D87DF6F9-4E1F-47C4-9301-C84509987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274" y="4581128"/>
            <a:ext cx="3816782" cy="2146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4250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9D191-E940-468E-9906-D7774D323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764704"/>
            <a:ext cx="7620000" cy="1143000"/>
          </a:xfrm>
        </p:spPr>
        <p:txBody>
          <a:bodyPr/>
          <a:lstStyle/>
          <a:p>
            <a:r>
              <a:rPr lang="en-AU" dirty="0"/>
              <a:t>Type 2 Diabetes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BB5FC-61A1-4646-8C6D-B6B3353E4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368" y="2642119"/>
            <a:ext cx="8291264" cy="4800600"/>
          </a:xfrm>
        </p:spPr>
        <p:txBody>
          <a:bodyPr>
            <a:normAutofit/>
          </a:bodyPr>
          <a:lstStyle/>
          <a:p>
            <a:r>
              <a:rPr lang="en-AU" dirty="0"/>
              <a:t>Non-insulin dependent, aka adult onset diabetes</a:t>
            </a:r>
          </a:p>
          <a:p>
            <a:r>
              <a:rPr lang="en-AU" dirty="0"/>
              <a:t>Insulin is still produced but cells do not respond to it</a:t>
            </a:r>
          </a:p>
          <a:p>
            <a:r>
              <a:rPr lang="en-AU" dirty="0"/>
              <a:t>Occurs due to lifestyle – a lack of physical activity, obesity, poor diet, high blood, high cholesterol and smoking</a:t>
            </a:r>
          </a:p>
          <a:p>
            <a:r>
              <a:rPr lang="en-AU" dirty="0"/>
              <a:t>Does not display obvious symptoms; estimated that half of type 2 diabetes cases are undiagnosed</a:t>
            </a:r>
          </a:p>
          <a:p>
            <a:r>
              <a:rPr lang="en-AU" dirty="0"/>
              <a:t>As cells do not respond to insulin, they do not uptake glucose</a:t>
            </a:r>
          </a:p>
          <a:p>
            <a:r>
              <a:rPr lang="en-AU" dirty="0"/>
              <a:t>No cure, but early diagnosis enhances management methods</a:t>
            </a:r>
          </a:p>
          <a:p>
            <a:r>
              <a:rPr lang="en-AU" dirty="0"/>
              <a:t>Managing diet, exercise and weight help maintain regular blood glucose levels</a:t>
            </a:r>
          </a:p>
        </p:txBody>
      </p:sp>
      <p:pic>
        <p:nvPicPr>
          <p:cNvPr id="2050" name="Picture 2" descr="Image result for type 2 diabetes">
            <a:extLst>
              <a:ext uri="{FF2B5EF4-FFF2-40B4-BE49-F238E27FC236}">
                <a16:creationId xmlns:a16="http://schemas.microsoft.com/office/drawing/2014/main" id="{C3EBC973-ECB7-42E6-A501-49CA16006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2503"/>
            <a:ext cx="4320480" cy="2430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2615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58CB-BC09-4F90-A3AC-CEBA916FD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Excess and deficiency of thyroid hormones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D94FB-771E-4C67-AE03-B7D3A1014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82762"/>
            <a:ext cx="7620000" cy="4800600"/>
          </a:xfrm>
        </p:spPr>
        <p:txBody>
          <a:bodyPr/>
          <a:lstStyle/>
          <a:p>
            <a:r>
              <a:rPr lang="en-AU" dirty="0"/>
              <a:t>Can be over or under secretion of thyroid hormones</a:t>
            </a:r>
          </a:p>
          <a:p>
            <a:r>
              <a:rPr lang="en-AU" dirty="0"/>
              <a:t>The thyroid gland is located in the neck and releases </a:t>
            </a:r>
            <a:r>
              <a:rPr lang="en-AU" u="sng" dirty="0"/>
              <a:t>thyroxine</a:t>
            </a:r>
            <a:r>
              <a:rPr lang="en-AU" dirty="0"/>
              <a:t> and </a:t>
            </a:r>
            <a:r>
              <a:rPr lang="en-AU" u="sng" dirty="0"/>
              <a:t>tri-iodothyronine</a:t>
            </a:r>
          </a:p>
          <a:p>
            <a:r>
              <a:rPr lang="en-AU" dirty="0"/>
              <a:t>These hormones stimulate carbohydrate, protein and fat metabolism which regulate basal metabolic rate</a:t>
            </a:r>
          </a:p>
          <a:p>
            <a:r>
              <a:rPr lang="en-AU" dirty="0"/>
              <a:t>These reactions also release heat and maintain body temperature, especially important in the homeostasis that occurs in body temperature between winter and summer</a:t>
            </a:r>
          </a:p>
          <a:p>
            <a:r>
              <a:rPr lang="en-AU" dirty="0"/>
              <a:t>Thyroxine release is stimulated by thyroid stimulating hormone (TSH) which is secreted by the anterior lobe of the pituitary, though release of TSH is controlled by the hypothalamus</a:t>
            </a:r>
          </a:p>
        </p:txBody>
      </p:sp>
    </p:spTree>
    <p:extLst>
      <p:ext uri="{BB962C8B-B14F-4D97-AF65-F5344CB8AC3E}">
        <p14:creationId xmlns:p14="http://schemas.microsoft.com/office/powerpoint/2010/main" val="130877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B2195-B176-4A63-B2F3-628AF26A5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97768"/>
            <a:ext cx="7620000" cy="1143000"/>
          </a:xfrm>
        </p:spPr>
        <p:txBody>
          <a:bodyPr/>
          <a:lstStyle/>
          <a:p>
            <a:r>
              <a:rPr lang="en-AU" dirty="0"/>
              <a:t>Hyperthyroidism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27855-5CE3-42FC-BFE8-07645DD10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68760"/>
            <a:ext cx="6059016" cy="5060032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Hyper = too much / too high</a:t>
            </a:r>
          </a:p>
          <a:p>
            <a:r>
              <a:rPr lang="en-AU" dirty="0"/>
              <a:t>In this case, the thyroid gland produces too much hormone</a:t>
            </a:r>
          </a:p>
          <a:p>
            <a:r>
              <a:rPr lang="en-AU" dirty="0"/>
              <a:t>Grave’s disease is the most common type of hyperthyroidism, caused by an immune response that enlarges the gland</a:t>
            </a:r>
          </a:p>
          <a:p>
            <a:r>
              <a:rPr lang="en-AU" dirty="0"/>
              <a:t>Some genetic link made, though disease is not inherited</a:t>
            </a:r>
          </a:p>
          <a:p>
            <a:r>
              <a:rPr lang="en-AU" dirty="0"/>
              <a:t>Symptoms include increased heart rate, weight loss, increased appetite, fatigue, sweating, anxiety and protruding eyeballs</a:t>
            </a:r>
          </a:p>
          <a:p>
            <a:r>
              <a:rPr lang="en-AU" dirty="0"/>
              <a:t>Treatment includes drugs (iodine blockers) or surgery to remove the gland (partially or entirely)</a:t>
            </a:r>
          </a:p>
          <a:p>
            <a:r>
              <a:rPr lang="en-AU" dirty="0"/>
              <a:t> Radioactive iodine can also be consumed in solution to kill thyroid cells. Other cells in the body will remain unaffected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8738F7-4B9E-4877-8AEE-89FF46AF9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60" y="197768"/>
            <a:ext cx="295275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64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8DC38-3F76-46C5-BBB0-C73958DA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Hypothyroidism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AB6FC-1297-4DE7-9288-76F1D1483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600200"/>
            <a:ext cx="7992888" cy="4800600"/>
          </a:xfrm>
        </p:spPr>
        <p:txBody>
          <a:bodyPr>
            <a:normAutofit fontScale="92500" lnSpcReduction="20000"/>
          </a:bodyPr>
          <a:lstStyle/>
          <a:p>
            <a:r>
              <a:rPr lang="en-AU" dirty="0"/>
              <a:t>Hypo = too little</a:t>
            </a:r>
          </a:p>
          <a:p>
            <a:r>
              <a:rPr lang="en-AU" dirty="0"/>
              <a:t>More common than hyperthyroidism</a:t>
            </a:r>
          </a:p>
          <a:p>
            <a:r>
              <a:rPr lang="en-AU" dirty="0"/>
              <a:t>6-10% Australian women suffer, and a smaller proportion of men</a:t>
            </a:r>
          </a:p>
          <a:p>
            <a:r>
              <a:rPr lang="en-AU" dirty="0"/>
              <a:t>Can occur due to issues with the thyroid gland, pituitary gland and/or hypothalamus</a:t>
            </a:r>
          </a:p>
          <a:p>
            <a:r>
              <a:rPr lang="en-AU" dirty="0"/>
              <a:t>Symptoms include slowed heart rate, weight gain, fatigue, lacking energy, intolerance to cold, swelling in the face and goitre</a:t>
            </a:r>
          </a:p>
          <a:p>
            <a:r>
              <a:rPr lang="en-AU" dirty="0"/>
              <a:t>Occurs due to a lack of iodine – thyroxine contains four iodine molecules (T4) and tri-iodothyronine contains three (T3). Therefore a lack of iodine impacts hormone production</a:t>
            </a:r>
          </a:p>
          <a:p>
            <a:r>
              <a:rPr lang="en-AU" dirty="0"/>
              <a:t>This lack of production will enlarge the thyroid in its attempt to produce more of these hormones – this is called goitre</a:t>
            </a:r>
          </a:p>
          <a:p>
            <a:r>
              <a:rPr lang="en-AU" dirty="0"/>
              <a:t>To prevent hypothyroidism, iodine in diet is essential and can be found in iodised salt and in many bread products</a:t>
            </a:r>
          </a:p>
          <a:p>
            <a:r>
              <a:rPr lang="en-AU" dirty="0"/>
              <a:t>Treatment includes iodine supplements. This aids management of the condition but it is incurable and tablets must be consumed for the rest of the patients life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05632-4AC8-498A-BDDA-27611F104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930" y="116632"/>
            <a:ext cx="2929136" cy="204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080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27DD-EF45-4C09-BA8B-D6358C199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74638"/>
            <a:ext cx="7825680" cy="1143000"/>
          </a:xfrm>
        </p:spPr>
        <p:txBody>
          <a:bodyPr/>
          <a:lstStyle/>
          <a:p>
            <a:r>
              <a:rPr lang="en-AU" dirty="0"/>
              <a:t>Human Growth Hormone (</a:t>
            </a:r>
            <a:r>
              <a:rPr lang="en-AU" dirty="0" err="1"/>
              <a:t>hGH</a:t>
            </a:r>
            <a:r>
              <a:rPr lang="en-AU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7CE21-1F39-4145-9D90-1F8800150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err="1"/>
              <a:t>hGH</a:t>
            </a:r>
            <a:r>
              <a:rPr lang="en-AU" dirty="0"/>
              <a:t> is synthesised and secreted by cells in the anterior pituitary</a:t>
            </a:r>
          </a:p>
          <a:p>
            <a:r>
              <a:rPr lang="en-AU" dirty="0"/>
              <a:t>Essential in normal growth and metabolism</a:t>
            </a:r>
          </a:p>
          <a:p>
            <a:r>
              <a:rPr lang="en-AU" dirty="0"/>
              <a:t>Deficiency can result in growth retardation or dwarfism</a:t>
            </a:r>
          </a:p>
          <a:p>
            <a:r>
              <a:rPr lang="en-AU" dirty="0"/>
              <a:t>Children with retarded growth can be treated with </a:t>
            </a:r>
            <a:r>
              <a:rPr lang="en-AU" dirty="0" err="1"/>
              <a:t>hGH</a:t>
            </a:r>
            <a:r>
              <a:rPr lang="en-AU" dirty="0"/>
              <a:t> injections</a:t>
            </a:r>
          </a:p>
          <a:p>
            <a:r>
              <a:rPr lang="en-AU" dirty="0"/>
              <a:t>In the past, </a:t>
            </a:r>
            <a:r>
              <a:rPr lang="en-AU" dirty="0" err="1"/>
              <a:t>hGH</a:t>
            </a:r>
            <a:r>
              <a:rPr lang="en-AU" dirty="0"/>
              <a:t> was extracted from the pituitary of deceased individuals, requiring up to 50 glands to retrieve a sufficient amount</a:t>
            </a:r>
          </a:p>
          <a:p>
            <a:r>
              <a:rPr lang="en-AU" dirty="0"/>
              <a:t>It is now genetically engineered from recombinant DNA found in E. coli bacteria. This supply is virtually unlimited and can be used in treating growth issues, enhancing athletic performance and anti-ageing treatments</a:t>
            </a:r>
          </a:p>
        </p:txBody>
      </p:sp>
    </p:spTree>
    <p:extLst>
      <p:ext uri="{BB962C8B-B14F-4D97-AF65-F5344CB8AC3E}">
        <p14:creationId xmlns:p14="http://schemas.microsoft.com/office/powerpoint/2010/main" val="3444721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0FCCC-1632-4CD0-AA11-372B4D26E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Contrast of hormones and nervous coordination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D2ADE-9ED1-4CDA-A7C8-49C87D078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787208" cy="5141168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Both systems are involved in communication within the body</a:t>
            </a:r>
          </a:p>
          <a:p>
            <a:r>
              <a:rPr lang="en-AU" dirty="0"/>
              <a:t>They do not duplicate roles, instead, they complement and reinforce one another</a:t>
            </a:r>
          </a:p>
          <a:p>
            <a:r>
              <a:rPr lang="en-AU" dirty="0"/>
              <a:t>Nerve and hormone action is contrasted below:</a:t>
            </a:r>
          </a:p>
          <a:p>
            <a:r>
              <a:rPr lang="en-AU" dirty="0"/>
              <a:t>Nerves are far quicker than hormones in their travel (nerves travel along fibres, hormones through blood) </a:t>
            </a:r>
          </a:p>
          <a:p>
            <a:r>
              <a:rPr lang="en-AU" dirty="0"/>
              <a:t>Stimulus ceasing causes a response. This is almost instantaneous in nerves, but can take up to days with hormones</a:t>
            </a:r>
          </a:p>
          <a:p>
            <a:r>
              <a:rPr lang="en-AU" dirty="0"/>
              <a:t>Nerve messages travel along a neuron membrane, whereas hormones travel in blood</a:t>
            </a:r>
          </a:p>
          <a:p>
            <a:r>
              <a:rPr lang="en-AU" dirty="0"/>
              <a:t>Nerve impulses are direct to a specific part of the body, hormones have to travel through various parts of the body until they reach their target</a:t>
            </a:r>
          </a:p>
          <a:p>
            <a:r>
              <a:rPr lang="en-AU" dirty="0"/>
              <a:t>The above points are generalisations for most nerves / hormones, though some hormones can act differently (adrenaline being a rapid travelling hormone)</a:t>
            </a:r>
          </a:p>
        </p:txBody>
      </p:sp>
    </p:spTree>
    <p:extLst>
      <p:ext uri="{BB962C8B-B14F-4D97-AF65-F5344CB8AC3E}">
        <p14:creationId xmlns:p14="http://schemas.microsoft.com/office/powerpoint/2010/main" val="1633645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06EBC-BAC0-4450-8871-655E50FB5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Similarities between nerves and hormones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539CF-E569-4A76-9330-092100B1C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Similarities include:</a:t>
            </a:r>
          </a:p>
          <a:p>
            <a:r>
              <a:rPr lang="en-AU" dirty="0"/>
              <a:t>Some substances act as both hormones and neurotransmitters (noradrenaline, antidiuretic hormone and dopamine)</a:t>
            </a:r>
          </a:p>
          <a:p>
            <a:r>
              <a:rPr lang="en-AU" dirty="0"/>
              <a:t>Some hormones are released by neurons into extracellular fluid (oxytocin and adrenaline)</a:t>
            </a:r>
          </a:p>
          <a:p>
            <a:r>
              <a:rPr lang="en-AU" dirty="0"/>
              <a:t>Some hormones and neurotransmitters have the same effect on their target cells (noradrenaline and glucagon both cause the liver to break down glucose)</a:t>
            </a:r>
          </a:p>
          <a:p>
            <a:r>
              <a:rPr lang="en-AU" dirty="0"/>
              <a:t>A comparative table between both transmission systems is to follow on the next slide</a:t>
            </a:r>
          </a:p>
        </p:txBody>
      </p:sp>
    </p:spTree>
    <p:extLst>
      <p:ext uri="{BB962C8B-B14F-4D97-AF65-F5344CB8AC3E}">
        <p14:creationId xmlns:p14="http://schemas.microsoft.com/office/powerpoint/2010/main" val="3431018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D5A75A-CC91-4813-85F5-CF6FA7FF34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301" y="1810048"/>
            <a:ext cx="9023397" cy="3237904"/>
          </a:xfrm>
        </p:spPr>
      </p:pic>
    </p:spTree>
    <p:extLst>
      <p:ext uri="{BB962C8B-B14F-4D97-AF65-F5344CB8AC3E}">
        <p14:creationId xmlns:p14="http://schemas.microsoft.com/office/powerpoint/2010/main" val="35050313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557</TotalTime>
  <Words>1087</Words>
  <Application>Microsoft Office PowerPoint</Application>
  <PresentationFormat>On-screen Show (4:3)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Adjacency</vt:lpstr>
      <vt:lpstr>Endocrine Glands</vt:lpstr>
      <vt:lpstr>What are we doing today?</vt:lpstr>
      <vt:lpstr>Keywords</vt:lpstr>
      <vt:lpstr>Homeostasis and hormonal disruptions</vt:lpstr>
      <vt:lpstr>Diabetes</vt:lpstr>
      <vt:lpstr>Type 1 Diabetes</vt:lpstr>
      <vt:lpstr>Type 2 Diabetes</vt:lpstr>
      <vt:lpstr>Excess and deficiency of thyroid hormones</vt:lpstr>
      <vt:lpstr>Hyperthyroidism</vt:lpstr>
      <vt:lpstr>Hypothyroidism</vt:lpstr>
      <vt:lpstr>Human Growth Hormone (hGH)</vt:lpstr>
      <vt:lpstr>Contrast of hormones and nervous coordination</vt:lpstr>
      <vt:lpstr>Similarities between nerves and hormones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Inquiry Skills</dc:title>
  <dc:creator>BRUNS Emma</dc:creator>
  <cp:lastModifiedBy>Ivan Opacak</cp:lastModifiedBy>
  <cp:revision>45</cp:revision>
  <dcterms:created xsi:type="dcterms:W3CDTF">2018-02-02T00:28:02Z</dcterms:created>
  <dcterms:modified xsi:type="dcterms:W3CDTF">2021-02-18T02:55:13Z</dcterms:modified>
</cp:coreProperties>
</file>
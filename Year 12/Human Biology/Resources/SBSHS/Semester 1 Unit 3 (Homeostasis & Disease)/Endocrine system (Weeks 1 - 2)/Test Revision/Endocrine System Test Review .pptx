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0"/>
  </p:notesMasterIdLst>
  <p:sldIdLst>
    <p:sldId id="562" r:id="rId6"/>
    <p:sldId id="275" r:id="rId7"/>
    <p:sldId id="301" r:id="rId8"/>
    <p:sldId id="566" r:id="rId9"/>
    <p:sldId id="567" r:id="rId10"/>
    <p:sldId id="568" r:id="rId11"/>
    <p:sldId id="569" r:id="rId12"/>
    <p:sldId id="570" r:id="rId13"/>
    <p:sldId id="571" r:id="rId14"/>
    <p:sldId id="572" r:id="rId15"/>
    <p:sldId id="573" r:id="rId16"/>
    <p:sldId id="574" r:id="rId17"/>
    <p:sldId id="575" r:id="rId18"/>
    <p:sldId id="5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333"/>
    <p:restoredTop sz="86391"/>
  </p:normalViewPr>
  <p:slideViewPr>
    <p:cSldViewPr snapToGrid="0" snapToObjects="1">
      <p:cViewPr varScale="1">
        <p:scale>
          <a:sx n="75" d="100"/>
          <a:sy n="75" d="100"/>
        </p:scale>
        <p:origin x="176" y="1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3/14/22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1510850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3/14/22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3/14/22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3/14/22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3/14/22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3/14/22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3/14/22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3/14/22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3/14/22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verview and Anatomy &amp; Physiology | Endocrine System (Part 1) - YouTube">
            <a:extLst>
              <a:ext uri="{FF2B5EF4-FFF2-40B4-BE49-F238E27FC236}">
                <a16:creationId xmlns:a16="http://schemas.microsoft.com/office/drawing/2014/main" id="{A07A95D7-F596-1941-9DCF-8E4D70D872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3BD1640-8EF7-9544-985A-5CB2691DF17C}"/>
              </a:ext>
            </a:extLst>
          </p:cNvPr>
          <p:cNvPicPr/>
          <p:nvPr/>
        </p:nvPicPr>
        <p:blipFill>
          <a:blip r:embed="rId3">
            <a:alphaModFix/>
            <a:extLst>
              <a:ext uri="{28A0092B-C50C-407E-A947-70E740481C1C}">
                <a14:useLocalDpi xmlns:a14="http://schemas.microsoft.com/office/drawing/2010/main" val="0"/>
              </a:ext>
            </a:extLst>
          </a:blip>
          <a:stretch>
            <a:fillRect/>
          </a:stretch>
        </p:blipFill>
        <p:spPr bwMode="auto">
          <a:xfrm>
            <a:off x="10508605" y="5213866"/>
            <a:ext cx="1331711" cy="1511683"/>
          </a:xfrm>
          <a:prstGeom prst="rect">
            <a:avLst/>
          </a:prstGeom>
          <a:noFill/>
        </p:spPr>
      </p:pic>
      <p:sp>
        <p:nvSpPr>
          <p:cNvPr id="7" name="Rectangle 6">
            <a:extLst>
              <a:ext uri="{FF2B5EF4-FFF2-40B4-BE49-F238E27FC236}">
                <a16:creationId xmlns:a16="http://schemas.microsoft.com/office/drawing/2014/main" id="{39A1EFCC-C5A4-884E-9BF8-46C5C5FD587D}"/>
              </a:ext>
            </a:extLst>
          </p:cNvPr>
          <p:cNvSpPr/>
          <p:nvPr/>
        </p:nvSpPr>
        <p:spPr>
          <a:xfrm>
            <a:off x="610583" y="3547534"/>
            <a:ext cx="3711144" cy="1200329"/>
          </a:xfrm>
          <a:prstGeom prst="rect">
            <a:avLst/>
          </a:prstGeom>
        </p:spPr>
        <p:txBody>
          <a:bodyPr wrap="none">
            <a:spAutoFit/>
          </a:bodyPr>
          <a:lstStyle/>
          <a:p>
            <a:pPr algn="ctr"/>
            <a:r>
              <a:rPr lang="en-US" sz="2400" dirty="0">
                <a:latin typeface="Arial Rounded MT Bold" panose="020F0704030504030204" pitchFamily="34" charset="77"/>
              </a:rPr>
              <a:t>Year 12 Human Biology </a:t>
            </a:r>
            <a:br>
              <a:rPr lang="en-US" sz="2400" dirty="0">
                <a:latin typeface="Arial Rounded MT Bold" panose="020F0704030504030204" pitchFamily="34" charset="77"/>
              </a:rPr>
            </a:br>
            <a:r>
              <a:rPr lang="en-US" sz="2400" dirty="0">
                <a:latin typeface="Arial Rounded MT Bold" panose="020F0704030504030204" pitchFamily="34" charset="77"/>
              </a:rPr>
              <a:t>Test Revision </a:t>
            </a:r>
            <a:br>
              <a:rPr lang="en-US" sz="2400" dirty="0">
                <a:latin typeface="Arial Rounded MT Bold" panose="020F0704030504030204" pitchFamily="34" charset="77"/>
              </a:rPr>
            </a:br>
            <a:r>
              <a:rPr lang="en-US" sz="2400" dirty="0" err="1">
                <a:latin typeface="Arial Rounded MT Bold" panose="020F0704030504030204" pitchFamily="34" charset="77"/>
              </a:rPr>
              <a:t>Mr</a:t>
            </a:r>
            <a:r>
              <a:rPr lang="en-US" sz="2400" dirty="0">
                <a:latin typeface="Arial Rounded MT Bold" panose="020F0704030504030204" pitchFamily="34" charset="77"/>
              </a:rPr>
              <a:t> Yates </a:t>
            </a:r>
          </a:p>
        </p:txBody>
      </p:sp>
    </p:spTree>
    <p:extLst>
      <p:ext uri="{BB962C8B-B14F-4D97-AF65-F5344CB8AC3E}">
        <p14:creationId xmlns:p14="http://schemas.microsoft.com/office/powerpoint/2010/main" val="362828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marL="514350" indent="-514350" algn="l">
              <a:buAutoNum type="arabicPeriod"/>
            </a:pPr>
            <a:r>
              <a:rPr lang="en-AU" sz="3000" dirty="0"/>
              <a:t>Name and locate endocrine glands in the body. </a:t>
            </a:r>
          </a:p>
          <a:p>
            <a:pPr marL="514350" indent="-514350" algn="l">
              <a:buAutoNum type="arabicPeriod"/>
            </a:pPr>
            <a:r>
              <a:rPr lang="en-AU" sz="3000" dirty="0"/>
              <a:t>Know the hormones secreted from each gland, the target cells and the effects it has. </a:t>
            </a:r>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r>
              <a:rPr lang="en-AU" dirty="0"/>
              <a:t>Today we are learning about the Endocrine Glands. </a:t>
            </a:r>
          </a:p>
        </p:txBody>
      </p:sp>
    </p:spTree>
    <p:extLst>
      <p:ext uri="{BB962C8B-B14F-4D97-AF65-F5344CB8AC3E}">
        <p14:creationId xmlns:p14="http://schemas.microsoft.com/office/powerpoint/2010/main" val="337685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305251" y="782937"/>
            <a:ext cx="11481952" cy="524699"/>
          </a:xfrm>
        </p:spPr>
        <p:txBody>
          <a:bodyPr>
            <a:noAutofit/>
          </a:bodyPr>
          <a:lstStyle/>
          <a:p>
            <a:r>
              <a:rPr lang="en-AU" dirty="0"/>
              <a:t>The hypothalamus and pituitary gland</a:t>
            </a:r>
            <a:r>
              <a:rPr lang="en-AU" sz="3600" dirty="0"/>
              <a:t> </a:t>
            </a:r>
            <a:endParaRPr lang="en-AU" sz="3400" dirty="0"/>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648856" cy="5393007"/>
          </a:xfrm>
        </p:spPr>
        <p:txBody>
          <a:bodyPr>
            <a:normAutofit/>
          </a:bodyPr>
          <a:lstStyle/>
          <a:p>
            <a:r>
              <a:rPr lang="en-AU" sz="2400" dirty="0">
                <a:latin typeface="Avenir Book" panose="02000503020000020003" pitchFamily="2" charset="0"/>
              </a:rPr>
              <a:t>The </a:t>
            </a:r>
            <a:r>
              <a:rPr lang="en-AU" sz="2400" b="1" dirty="0">
                <a:latin typeface="Avenir Book" panose="02000503020000020003" pitchFamily="2" charset="0"/>
              </a:rPr>
              <a:t>hypothalamus</a:t>
            </a:r>
            <a:r>
              <a:rPr lang="en-AU" sz="2400" dirty="0">
                <a:latin typeface="Avenir Book" panose="02000503020000020003" pitchFamily="2" charset="0"/>
              </a:rPr>
              <a:t> is located at the base of the brain, and is involved in the regulation of many of the body's most basic functions. The </a:t>
            </a:r>
            <a:r>
              <a:rPr lang="en-AU" sz="2400" b="1" dirty="0">
                <a:latin typeface="Avenir Book" panose="02000503020000020003" pitchFamily="2" charset="0"/>
              </a:rPr>
              <a:t>pituitary gland </a:t>
            </a:r>
            <a:r>
              <a:rPr lang="en-AU" sz="2400" dirty="0">
                <a:latin typeface="Avenir Book" panose="02000503020000020003" pitchFamily="2" charset="0"/>
              </a:rPr>
              <a:t>is located just beneath the hypothalamus and is involved in the regulation of various endocrine glands. The pituitary is made up of two lobes - the </a:t>
            </a:r>
            <a:r>
              <a:rPr lang="en-AU" sz="2400" b="1" dirty="0">
                <a:latin typeface="Avenir Book" panose="02000503020000020003" pitchFamily="2" charset="0"/>
              </a:rPr>
              <a:t>anterior</a:t>
            </a:r>
            <a:r>
              <a:rPr lang="en-AU" sz="2400" dirty="0">
                <a:latin typeface="Avenir Book" panose="02000503020000020003" pitchFamily="2" charset="0"/>
              </a:rPr>
              <a:t> and </a:t>
            </a:r>
            <a:r>
              <a:rPr lang="en-AU" sz="2400" b="1" dirty="0">
                <a:latin typeface="Avenir Book" panose="02000503020000020003" pitchFamily="2" charset="0"/>
              </a:rPr>
              <a:t>posterior</a:t>
            </a:r>
            <a:r>
              <a:rPr lang="en-AU" sz="2400" dirty="0">
                <a:latin typeface="Avenir Book" panose="02000503020000020003" pitchFamily="2" charset="0"/>
              </a:rPr>
              <a:t> - and they function separately.</a:t>
            </a:r>
          </a:p>
          <a:p>
            <a:endParaRPr lang="en-AU" dirty="0"/>
          </a:p>
        </p:txBody>
      </p:sp>
      <p:pic>
        <p:nvPicPr>
          <p:cNvPr id="5" name="Picture 4" descr="Diagram&#10;&#10;Description automatically generated">
            <a:extLst>
              <a:ext uri="{FF2B5EF4-FFF2-40B4-BE49-F238E27FC236}">
                <a16:creationId xmlns:a16="http://schemas.microsoft.com/office/drawing/2014/main" id="{1D3AC485-8B4A-6340-A97F-2E89F7994A5A}"/>
              </a:ext>
            </a:extLst>
          </p:cNvPr>
          <p:cNvPicPr>
            <a:picLocks noChangeAspect="1"/>
          </p:cNvPicPr>
          <p:nvPr/>
        </p:nvPicPr>
        <p:blipFill>
          <a:blip r:embed="rId3"/>
          <a:stretch>
            <a:fillRect/>
          </a:stretch>
        </p:blipFill>
        <p:spPr>
          <a:xfrm>
            <a:off x="2647098" y="3182300"/>
            <a:ext cx="6897804" cy="3518343"/>
          </a:xfrm>
          <a:prstGeom prst="rect">
            <a:avLst/>
          </a:prstGeom>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DCCF8C-3FF1-0542-918A-0B1C5E3CE972}"/>
              </a:ext>
            </a:extLst>
          </p:cNvPr>
          <p:cNvSpPr>
            <a:spLocks noGrp="1"/>
          </p:cNvSpPr>
          <p:nvPr>
            <p:ph type="body" sz="quarter" idx="13"/>
          </p:nvPr>
        </p:nvSpPr>
        <p:spPr>
          <a:xfrm>
            <a:off x="292819" y="606645"/>
            <a:ext cx="11481952" cy="524699"/>
          </a:xfrm>
        </p:spPr>
        <p:txBody>
          <a:bodyPr>
            <a:normAutofit fontScale="92500" lnSpcReduction="10000"/>
          </a:bodyPr>
          <a:lstStyle/>
          <a:p>
            <a:r>
              <a:rPr lang="en-AU" dirty="0"/>
              <a:t>The hypothalamus and pituitary gland</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85742100-3B06-8A47-9D96-46E0C76DA221}"/>
              </a:ext>
            </a:extLst>
          </p:cNvPr>
          <p:cNvSpPr>
            <a:spLocks noGrp="1"/>
          </p:cNvSpPr>
          <p:nvPr>
            <p:ph type="body" sz="quarter" idx="15"/>
          </p:nvPr>
        </p:nvSpPr>
        <p:spPr>
          <a:xfrm>
            <a:off x="280557" y="1184432"/>
            <a:ext cx="11506476" cy="5066923"/>
          </a:xfrm>
        </p:spPr>
        <p:txBody>
          <a:bodyPr/>
          <a:lstStyle/>
          <a:p>
            <a:r>
              <a:rPr lang="en-AU" sz="2000" dirty="0">
                <a:latin typeface="Avenir Book" panose="02000503020000020003" pitchFamily="2" charset="0"/>
              </a:rPr>
              <a:t>The hypothalamus is connected to the pituitary gland by a structure called the infundibulum, which contains a complex network of blood vessels and nerve extensions. The blood vessels are used to connect the hypothalamus to the anterior lobe of the pituitary, while the nerve extensions connect it to the posterior lobe. These connections allow the pituitary gland to carry out many regulatory functions on behalf of the hypothalamus.</a:t>
            </a:r>
          </a:p>
          <a:p>
            <a:endParaRPr lang="en-US" dirty="0"/>
          </a:p>
        </p:txBody>
      </p:sp>
      <p:pic>
        <p:nvPicPr>
          <p:cNvPr id="5" name="Picture 4" descr="Diagram&#10;&#10;Description automatically generated">
            <a:extLst>
              <a:ext uri="{FF2B5EF4-FFF2-40B4-BE49-F238E27FC236}">
                <a16:creationId xmlns:a16="http://schemas.microsoft.com/office/drawing/2014/main" id="{C96351F3-AB57-3049-A80B-BD0F07BF482C}"/>
              </a:ext>
            </a:extLst>
          </p:cNvPr>
          <p:cNvPicPr>
            <a:picLocks noChangeAspect="1"/>
          </p:cNvPicPr>
          <p:nvPr/>
        </p:nvPicPr>
        <p:blipFill>
          <a:blip r:embed="rId2"/>
          <a:stretch>
            <a:fillRect/>
          </a:stretch>
        </p:blipFill>
        <p:spPr>
          <a:xfrm>
            <a:off x="5749383" y="2490991"/>
            <a:ext cx="5513349" cy="4367009"/>
          </a:xfrm>
          <a:prstGeom prst="rect">
            <a:avLst/>
          </a:prstGeom>
        </p:spPr>
      </p:pic>
    </p:spTree>
    <p:extLst>
      <p:ext uri="{BB962C8B-B14F-4D97-AF65-F5344CB8AC3E}">
        <p14:creationId xmlns:p14="http://schemas.microsoft.com/office/powerpoint/2010/main" val="2947702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116F6D-6EB0-2D4C-A090-C01F4B8B5E34}"/>
              </a:ext>
            </a:extLst>
          </p:cNvPr>
          <p:cNvSpPr>
            <a:spLocks noGrp="1"/>
          </p:cNvSpPr>
          <p:nvPr>
            <p:ph type="body" sz="quarter" idx="13"/>
          </p:nvPr>
        </p:nvSpPr>
        <p:spPr/>
        <p:txBody>
          <a:bodyPr>
            <a:normAutofit fontScale="92500" lnSpcReduction="10000"/>
          </a:bodyPr>
          <a:lstStyle/>
          <a:p>
            <a:r>
              <a:rPr lang="en-AU" dirty="0"/>
              <a:t>The hypothalamus and pituitary gland</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B91C1298-F529-7F46-B184-D55E97753AEB}"/>
              </a:ext>
            </a:extLst>
          </p:cNvPr>
          <p:cNvSpPr>
            <a:spLocks noGrp="1"/>
          </p:cNvSpPr>
          <p:nvPr>
            <p:ph type="body" sz="quarter" idx="15"/>
          </p:nvPr>
        </p:nvSpPr>
        <p:spPr>
          <a:xfrm>
            <a:off x="280558" y="1416206"/>
            <a:ext cx="11506476" cy="5179712"/>
          </a:xfrm>
        </p:spPr>
        <p:txBody>
          <a:bodyPr>
            <a:normAutofit lnSpcReduction="10000"/>
          </a:bodyPr>
          <a:lstStyle/>
          <a:p>
            <a:r>
              <a:rPr lang="en-AU" sz="2000" b="1" dirty="0">
                <a:latin typeface="Avenir Book" panose="02000503020000020003" pitchFamily="2" charset="0"/>
              </a:rPr>
              <a:t>Anterior lobe: </a:t>
            </a:r>
            <a:r>
              <a:rPr lang="en-AU" sz="2000" dirty="0">
                <a:latin typeface="Avenir Book" panose="02000503020000020003" pitchFamily="2" charset="0"/>
              </a:rPr>
              <a:t>the functions of this lobe of the pituitary are regulated by </a:t>
            </a:r>
            <a:r>
              <a:rPr lang="en-AU" sz="2000" b="1" dirty="0">
                <a:latin typeface="Avenir Book" panose="02000503020000020003" pitchFamily="2" charset="0"/>
              </a:rPr>
              <a:t>releasing</a:t>
            </a:r>
            <a:r>
              <a:rPr lang="en-AU" sz="2000" dirty="0">
                <a:latin typeface="Avenir Book" panose="02000503020000020003" pitchFamily="2" charset="0"/>
              </a:rPr>
              <a:t> and </a:t>
            </a:r>
            <a:r>
              <a:rPr lang="en-AU" sz="2000" b="1" dirty="0">
                <a:latin typeface="Avenir Book" panose="02000503020000020003" pitchFamily="2" charset="0"/>
              </a:rPr>
              <a:t>inhibiting</a:t>
            </a:r>
            <a:r>
              <a:rPr lang="en-AU" sz="2000" dirty="0">
                <a:latin typeface="Avenir Book" panose="02000503020000020003" pitchFamily="2" charset="0"/>
              </a:rPr>
              <a:t> factors produced in the hypothalamus. These factors are secreted by cells in the hypothalamus and are transported to the lobe by the connecting blood vessel network contained within the infundibulum. </a:t>
            </a:r>
          </a:p>
          <a:p>
            <a:pPr marL="285750" indent="-285750">
              <a:buFontTx/>
              <a:buChar char="-"/>
            </a:pPr>
            <a:r>
              <a:rPr lang="en-AU" sz="2000" b="1" dirty="0">
                <a:latin typeface="Avenir Book" panose="02000503020000020003" pitchFamily="2" charset="0"/>
              </a:rPr>
              <a:t>Gonadotropic hormones: </a:t>
            </a:r>
            <a:r>
              <a:rPr lang="en-AU" sz="2000" dirty="0">
                <a:latin typeface="Avenir Book" panose="02000503020000020003" pitchFamily="2" charset="0"/>
              </a:rPr>
              <a:t>stimulate the gonads. </a:t>
            </a:r>
          </a:p>
          <a:p>
            <a:pPr marL="971550" lvl="1" indent="-285750">
              <a:buFontTx/>
              <a:buChar char="-"/>
            </a:pPr>
            <a:r>
              <a:rPr lang="en-AU" sz="2000" b="1" dirty="0">
                <a:latin typeface="Avenir Book" panose="02000503020000020003" pitchFamily="2" charset="0"/>
              </a:rPr>
              <a:t>Follicle stimulating hormone (FSH): </a:t>
            </a:r>
            <a:r>
              <a:rPr lang="en-AU" sz="2000" dirty="0">
                <a:latin typeface="Avenir Book" panose="02000503020000020003" pitchFamily="2" charset="0"/>
              </a:rPr>
              <a:t>involved in the maturation of follicles in the ovaries: production and maturation of sperm in the testes.</a:t>
            </a:r>
          </a:p>
          <a:p>
            <a:pPr marL="971550" lvl="1" indent="-285750">
              <a:buFontTx/>
              <a:buChar char="-"/>
            </a:pPr>
            <a:r>
              <a:rPr lang="en-AU" sz="2000" b="1" dirty="0">
                <a:latin typeface="Avenir Book" panose="02000503020000020003" pitchFamily="2" charset="0"/>
              </a:rPr>
              <a:t>Luteinising hormone (LH): </a:t>
            </a:r>
            <a:r>
              <a:rPr lang="en-AU" sz="2000" dirty="0">
                <a:latin typeface="Avenir Book" panose="02000503020000020003" pitchFamily="2" charset="0"/>
              </a:rPr>
              <a:t>works with FSH to cause ovulation in females; targets the interstitial cells in the testes and stimulates production of androgens.</a:t>
            </a:r>
          </a:p>
          <a:p>
            <a:pPr marL="285750" indent="-285750">
              <a:buFontTx/>
              <a:buChar char="-"/>
            </a:pPr>
            <a:r>
              <a:rPr lang="en-AU" sz="2000" b="1" dirty="0">
                <a:latin typeface="Avenir Book" panose="02000503020000020003" pitchFamily="2" charset="0"/>
              </a:rPr>
              <a:t>Growth hormone (GH): </a:t>
            </a:r>
            <a:r>
              <a:rPr lang="en-AU" sz="2000" dirty="0">
                <a:latin typeface="Avenir Book" panose="02000503020000020003" pitchFamily="2" charset="0"/>
              </a:rPr>
              <a:t>promotes body growth by increasing the rate at which the cells take up amino acids, hence increasing the rate of protein production.</a:t>
            </a:r>
          </a:p>
          <a:p>
            <a:pPr marL="285750" indent="-285750">
              <a:buFontTx/>
              <a:buChar char="-"/>
            </a:pPr>
            <a:r>
              <a:rPr lang="en-AU" sz="2000" b="1" dirty="0">
                <a:latin typeface="Avenir Book" panose="02000503020000020003" pitchFamily="2" charset="0"/>
              </a:rPr>
              <a:t>Thyroid stimulating hormone (TSH): </a:t>
            </a:r>
            <a:r>
              <a:rPr lang="en-AU" sz="2000" dirty="0">
                <a:latin typeface="Avenir Book" panose="02000503020000020003" pitchFamily="2" charset="0"/>
              </a:rPr>
              <a:t>promotes the release and production of thyroxine in the Thyroid gland.</a:t>
            </a:r>
          </a:p>
          <a:p>
            <a:pPr marL="285750" indent="-285750">
              <a:buFontTx/>
              <a:buChar char="-"/>
            </a:pPr>
            <a:r>
              <a:rPr lang="en-AU" sz="2000" b="1" dirty="0">
                <a:latin typeface="Avenir Book" panose="02000503020000020003" pitchFamily="2" charset="0"/>
              </a:rPr>
              <a:t>Adrenocorticotrophic hormone (ACTH): </a:t>
            </a:r>
            <a:r>
              <a:rPr lang="en-AU" sz="2000" dirty="0">
                <a:latin typeface="Avenir Book" panose="02000503020000020003" pitchFamily="2" charset="0"/>
              </a:rPr>
              <a:t>regulates the production and release of corticosteroids from the adrenal cortex. </a:t>
            </a:r>
          </a:p>
          <a:p>
            <a:pPr marL="285750" indent="-285750">
              <a:buFontTx/>
              <a:buChar char="-"/>
            </a:pPr>
            <a:r>
              <a:rPr lang="en-AU" sz="2000" b="1" dirty="0">
                <a:latin typeface="Avenir Book" panose="02000503020000020003" pitchFamily="2" charset="0"/>
              </a:rPr>
              <a:t>Prolactin/lactogenic hormone: </a:t>
            </a:r>
            <a:r>
              <a:rPr lang="en-AU" sz="2000" dirty="0">
                <a:latin typeface="Avenir Book" panose="02000503020000020003" pitchFamily="2" charset="0"/>
              </a:rPr>
              <a:t>produces and maintains milk secretion. </a:t>
            </a:r>
          </a:p>
          <a:p>
            <a:endParaRPr lang="en-AU" dirty="0"/>
          </a:p>
        </p:txBody>
      </p:sp>
    </p:spTree>
    <p:extLst>
      <p:ext uri="{BB962C8B-B14F-4D97-AF65-F5344CB8AC3E}">
        <p14:creationId xmlns:p14="http://schemas.microsoft.com/office/powerpoint/2010/main" val="1686311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7CFD89-5508-C14A-8521-84574643CDCB}"/>
              </a:ext>
            </a:extLst>
          </p:cNvPr>
          <p:cNvSpPr>
            <a:spLocks noGrp="1"/>
          </p:cNvSpPr>
          <p:nvPr>
            <p:ph type="body" sz="quarter" idx="13"/>
          </p:nvPr>
        </p:nvSpPr>
        <p:spPr/>
        <p:txBody>
          <a:bodyPr>
            <a:normAutofit fontScale="92500" lnSpcReduction="10000"/>
          </a:bodyPr>
          <a:lstStyle/>
          <a:p>
            <a:r>
              <a:rPr lang="en-AU" dirty="0"/>
              <a:t>The hypothalamus and pituitary gland</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71FCDE37-472F-B24A-98C3-B3CBEF6B75B8}"/>
              </a:ext>
            </a:extLst>
          </p:cNvPr>
          <p:cNvSpPr>
            <a:spLocks noGrp="1"/>
          </p:cNvSpPr>
          <p:nvPr>
            <p:ph type="body" sz="quarter" idx="15"/>
          </p:nvPr>
        </p:nvSpPr>
        <p:spPr/>
        <p:txBody>
          <a:bodyPr/>
          <a:lstStyle/>
          <a:p>
            <a:r>
              <a:rPr lang="en-AU" sz="2000" b="1" dirty="0">
                <a:latin typeface="Avenir Book" panose="02000503020000020003" pitchFamily="2" charset="0"/>
              </a:rPr>
              <a:t>Posterior lobe: </a:t>
            </a:r>
            <a:r>
              <a:rPr lang="en-AU" sz="2000" dirty="0">
                <a:latin typeface="Avenir Book" panose="02000503020000020003" pitchFamily="2" charset="0"/>
              </a:rPr>
              <a:t>it is important to note that the posterior lobe of the pituitary is not actually a gland as it does not produce the hormones that it secretes. The hormones themselves are manufactured in nerve cells in the hypothalamus. The hormones then move along the nerve extensions connecting the hypothalamus to the posterior lobe and are stored there, until a nervous impulse from the hypothalamus stimulates their release. </a:t>
            </a:r>
          </a:p>
          <a:p>
            <a:endParaRPr lang="en-AU" sz="2000" dirty="0">
              <a:latin typeface="Avenir Book" panose="02000503020000020003" pitchFamily="2" charset="0"/>
            </a:endParaRPr>
          </a:p>
          <a:p>
            <a:pPr marL="285750" indent="-285750">
              <a:buFont typeface="Arial" panose="020B0604020202020204" pitchFamily="34" charset="0"/>
              <a:buChar char="•"/>
            </a:pPr>
            <a:r>
              <a:rPr lang="en-AU" sz="2000" b="1" dirty="0">
                <a:latin typeface="Avenir Book" panose="02000503020000020003" pitchFamily="2" charset="0"/>
              </a:rPr>
              <a:t>Oxytocin (OT): </a:t>
            </a:r>
            <a:r>
              <a:rPr lang="en-AU" sz="2000" dirty="0">
                <a:latin typeface="Avenir Book" panose="02000503020000020003" pitchFamily="2" charset="0"/>
              </a:rPr>
              <a:t>causes contractions of the muscles in the uterus and cells surrounding the mammary glands.</a:t>
            </a:r>
          </a:p>
          <a:p>
            <a:pPr marL="285750" indent="-285750">
              <a:buFont typeface="Arial" panose="020B0604020202020204" pitchFamily="34" charset="0"/>
              <a:buChar char="•"/>
            </a:pPr>
            <a:r>
              <a:rPr lang="en-AU" sz="2000" b="1" dirty="0">
                <a:latin typeface="Avenir Book" panose="02000503020000020003" pitchFamily="2" charset="0"/>
              </a:rPr>
              <a:t>Antidiuretic hormone (ADH): </a:t>
            </a:r>
            <a:r>
              <a:rPr lang="en-AU" sz="2000" dirty="0">
                <a:latin typeface="Avenir Book" panose="02000503020000020003" pitchFamily="2" charset="0"/>
              </a:rPr>
              <a:t>promotes the removal of water from urine by the kidneys, which can then be returned to the bloodstream.</a:t>
            </a:r>
          </a:p>
          <a:p>
            <a:endParaRPr lang="en-US" dirty="0"/>
          </a:p>
        </p:txBody>
      </p:sp>
    </p:spTree>
    <p:extLst>
      <p:ext uri="{BB962C8B-B14F-4D97-AF65-F5344CB8AC3E}">
        <p14:creationId xmlns:p14="http://schemas.microsoft.com/office/powerpoint/2010/main" val="505850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C2D40A-BBA4-9142-B429-637C812B5223}"/>
              </a:ext>
            </a:extLst>
          </p:cNvPr>
          <p:cNvSpPr>
            <a:spLocks noGrp="1"/>
          </p:cNvSpPr>
          <p:nvPr>
            <p:ph type="body" sz="quarter" idx="13"/>
          </p:nvPr>
        </p:nvSpPr>
        <p:spPr/>
        <p:txBody>
          <a:bodyPr/>
          <a:lstStyle/>
          <a:p>
            <a:r>
              <a:rPr lang="en-US" dirty="0"/>
              <a:t>Glands</a:t>
            </a:r>
          </a:p>
        </p:txBody>
      </p:sp>
      <p:sp>
        <p:nvSpPr>
          <p:cNvPr id="3" name="Text Placeholder 2">
            <a:extLst>
              <a:ext uri="{FF2B5EF4-FFF2-40B4-BE49-F238E27FC236}">
                <a16:creationId xmlns:a16="http://schemas.microsoft.com/office/drawing/2014/main" id="{1F34ED81-B4A2-D04B-9507-1B20C2BA2F38}"/>
              </a:ext>
            </a:extLst>
          </p:cNvPr>
          <p:cNvSpPr>
            <a:spLocks noGrp="1"/>
          </p:cNvSpPr>
          <p:nvPr>
            <p:ph type="body" sz="quarter" idx="15"/>
          </p:nvPr>
        </p:nvSpPr>
        <p:spPr/>
        <p:txBody>
          <a:bodyPr/>
          <a:lstStyle/>
          <a:p>
            <a:r>
              <a:rPr lang="en-AU" sz="2400" b="1" dirty="0">
                <a:latin typeface="Avenir Book" panose="02000503020000020003" pitchFamily="2" charset="0"/>
              </a:rPr>
              <a:t>Endocrine glands: </a:t>
            </a:r>
            <a:r>
              <a:rPr lang="en-AU" sz="2400" dirty="0">
                <a:latin typeface="Avenir Book" panose="02000503020000020003" pitchFamily="2" charset="0"/>
              </a:rPr>
              <a:t>secrete hormones into the extracellular fluid, which then pass into the blood for transport.  </a:t>
            </a:r>
          </a:p>
          <a:p>
            <a:r>
              <a:rPr lang="en-AU" sz="2400" b="1" dirty="0">
                <a:latin typeface="Avenir Book" panose="02000503020000020003" pitchFamily="2" charset="0"/>
              </a:rPr>
              <a:t>Exocrine glands: </a:t>
            </a:r>
            <a:r>
              <a:rPr lang="en-AU" sz="2400" dirty="0">
                <a:latin typeface="Avenir Book" panose="02000503020000020003" pitchFamily="2" charset="0"/>
              </a:rPr>
              <a:t>(not a part of the endocrine system) secrete hormones into a duct which transports them to a cavity or the body surface; for example, sweat glands in the skin, and salivary glands in the mouth.</a:t>
            </a:r>
          </a:p>
          <a:p>
            <a:r>
              <a:rPr lang="en-AU" sz="2400" dirty="0">
                <a:latin typeface="Avenir Book" panose="02000503020000020003" pitchFamily="2" charset="0"/>
              </a:rPr>
              <a:t> </a:t>
            </a:r>
          </a:p>
          <a:p>
            <a:r>
              <a:rPr lang="en-AU" sz="2400" dirty="0">
                <a:latin typeface="Avenir Book" panose="02000503020000020003" pitchFamily="2" charset="0"/>
              </a:rPr>
              <a:t>For the most part, we are interested in the endocrine glands.</a:t>
            </a:r>
          </a:p>
          <a:p>
            <a:endParaRPr lang="en-US" dirty="0"/>
          </a:p>
        </p:txBody>
      </p:sp>
    </p:spTree>
    <p:extLst>
      <p:ext uri="{BB962C8B-B14F-4D97-AF65-F5344CB8AC3E}">
        <p14:creationId xmlns:p14="http://schemas.microsoft.com/office/powerpoint/2010/main" val="3860884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10A0A9-63D9-A14A-AF54-ED399CF5CA02}"/>
              </a:ext>
            </a:extLst>
          </p:cNvPr>
          <p:cNvSpPr>
            <a:spLocks noGrp="1"/>
          </p:cNvSpPr>
          <p:nvPr>
            <p:ph type="body" sz="quarter" idx="13"/>
          </p:nvPr>
        </p:nvSpPr>
        <p:spPr>
          <a:xfrm>
            <a:off x="280557" y="692060"/>
            <a:ext cx="11481952" cy="524699"/>
          </a:xfrm>
        </p:spPr>
        <p:txBody>
          <a:bodyPr/>
          <a:lstStyle/>
          <a:p>
            <a:r>
              <a:rPr lang="en-AU" dirty="0"/>
              <a:t> Thyroid</a:t>
            </a:r>
          </a:p>
          <a:p>
            <a:endParaRPr lang="en-US" dirty="0"/>
          </a:p>
        </p:txBody>
      </p:sp>
      <p:sp>
        <p:nvSpPr>
          <p:cNvPr id="3" name="Text Placeholder 2">
            <a:extLst>
              <a:ext uri="{FF2B5EF4-FFF2-40B4-BE49-F238E27FC236}">
                <a16:creationId xmlns:a16="http://schemas.microsoft.com/office/drawing/2014/main" id="{E750893B-90B7-124D-A674-28C5C57C1D64}"/>
              </a:ext>
            </a:extLst>
          </p:cNvPr>
          <p:cNvSpPr>
            <a:spLocks noGrp="1"/>
          </p:cNvSpPr>
          <p:nvPr>
            <p:ph type="body" sz="quarter" idx="15"/>
          </p:nvPr>
        </p:nvSpPr>
        <p:spPr>
          <a:xfrm>
            <a:off x="280557" y="1111444"/>
            <a:ext cx="11796213" cy="5066923"/>
          </a:xfrm>
        </p:spPr>
        <p:txBody>
          <a:bodyPr/>
          <a:lstStyle/>
          <a:p>
            <a:r>
              <a:rPr lang="en-AU" sz="2000" dirty="0">
                <a:latin typeface="Avenir Book" panose="02000503020000020003" pitchFamily="2" charset="0"/>
              </a:rPr>
              <a:t>The thyroid is a two-lobed gland situated beneath the larynx, with one lobe either side of the trachea. This gland is responsible for the release of thyroxine, a hormone composed of iodine and the amino acid tyrosine. </a:t>
            </a:r>
          </a:p>
          <a:p>
            <a:r>
              <a:rPr lang="en-AU" sz="2000" dirty="0">
                <a:latin typeface="Avenir Book" panose="02000503020000020003" pitchFamily="2" charset="0"/>
              </a:rPr>
              <a:t>Thyroxine is used in the regulation of metabolic processes in the body such as degradation of complex molecules to release energy, and the production of complex molecules from simple molecules which consume energy. Because the function of thyroxine is closely linked with the production and consumption of energy, it is also complicit in maintenance of body temperature. The secretion of thyroxine from the thyroid is promoted by thyroid stimulating hormone (TSH) released from the anterior pituitary gland.</a:t>
            </a:r>
          </a:p>
          <a:p>
            <a:endParaRPr lang="en-US" dirty="0"/>
          </a:p>
        </p:txBody>
      </p:sp>
      <p:pic>
        <p:nvPicPr>
          <p:cNvPr id="5" name="Picture 4" descr="A picture containing diagram&#10;&#10;Description automatically generated">
            <a:extLst>
              <a:ext uri="{FF2B5EF4-FFF2-40B4-BE49-F238E27FC236}">
                <a16:creationId xmlns:a16="http://schemas.microsoft.com/office/drawing/2014/main" id="{CD63B182-1249-1841-B813-02313806CA3A}"/>
              </a:ext>
            </a:extLst>
          </p:cNvPr>
          <p:cNvPicPr>
            <a:picLocks noChangeAspect="1"/>
          </p:cNvPicPr>
          <p:nvPr/>
        </p:nvPicPr>
        <p:blipFill>
          <a:blip r:embed="rId2"/>
          <a:stretch>
            <a:fillRect/>
          </a:stretch>
        </p:blipFill>
        <p:spPr>
          <a:xfrm>
            <a:off x="6021533" y="3719717"/>
            <a:ext cx="4989065" cy="3138283"/>
          </a:xfrm>
          <a:prstGeom prst="rect">
            <a:avLst/>
          </a:prstGeom>
        </p:spPr>
      </p:pic>
      <p:pic>
        <p:nvPicPr>
          <p:cNvPr id="7" name="Picture 6" descr="Diagram&#10;&#10;Description automatically generated">
            <a:extLst>
              <a:ext uri="{FF2B5EF4-FFF2-40B4-BE49-F238E27FC236}">
                <a16:creationId xmlns:a16="http://schemas.microsoft.com/office/drawing/2014/main" id="{6E66F48F-6F5C-114D-9FFB-FB09C95D9470}"/>
              </a:ext>
            </a:extLst>
          </p:cNvPr>
          <p:cNvPicPr>
            <a:picLocks noChangeAspect="1"/>
          </p:cNvPicPr>
          <p:nvPr/>
        </p:nvPicPr>
        <p:blipFill>
          <a:blip r:embed="rId3"/>
          <a:stretch>
            <a:fillRect/>
          </a:stretch>
        </p:blipFill>
        <p:spPr>
          <a:xfrm>
            <a:off x="3156063" y="3546088"/>
            <a:ext cx="3022600" cy="3200400"/>
          </a:xfrm>
          <a:prstGeom prst="rect">
            <a:avLst/>
          </a:prstGeom>
        </p:spPr>
      </p:pic>
    </p:spTree>
    <p:extLst>
      <p:ext uri="{BB962C8B-B14F-4D97-AF65-F5344CB8AC3E}">
        <p14:creationId xmlns:p14="http://schemas.microsoft.com/office/powerpoint/2010/main" val="1057927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C37732-549F-454B-9DD6-9EF8797DA818}"/>
              </a:ext>
            </a:extLst>
          </p:cNvPr>
          <p:cNvSpPr>
            <a:spLocks noGrp="1"/>
          </p:cNvSpPr>
          <p:nvPr>
            <p:ph type="body" sz="quarter" idx="13"/>
          </p:nvPr>
        </p:nvSpPr>
        <p:spPr/>
        <p:txBody>
          <a:bodyPr/>
          <a:lstStyle/>
          <a:p>
            <a:r>
              <a:rPr lang="en-AU" dirty="0"/>
              <a:t>Parathyroid</a:t>
            </a:r>
          </a:p>
          <a:p>
            <a:endParaRPr lang="en-US" dirty="0"/>
          </a:p>
        </p:txBody>
      </p:sp>
      <p:sp>
        <p:nvSpPr>
          <p:cNvPr id="3" name="Text Placeholder 2">
            <a:extLst>
              <a:ext uri="{FF2B5EF4-FFF2-40B4-BE49-F238E27FC236}">
                <a16:creationId xmlns:a16="http://schemas.microsoft.com/office/drawing/2014/main" id="{3B50ED31-3FD5-A048-BE66-F8E0768858C5}"/>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There are normally approximately four parathyroid glands embedded in the back of the thyroid lobes. These glands secrete parathyroid hormone (PTH) which maintains levels of calcium and phosphate in the blood. This regulation is an excellent example of a negative feedback mechanism, as the parathyroid hormone is released in response to low blood calcium levels, causing calcium to be released from bones. which is reabsorbed from urine and absorbed in greater amounts from digested food. This causes blood calcium levels to rise and the amount of parathyroid hormone secreted is decreased in response.</a:t>
            </a:r>
          </a:p>
          <a:p>
            <a:endParaRPr lang="en-US" dirty="0"/>
          </a:p>
        </p:txBody>
      </p:sp>
      <p:pic>
        <p:nvPicPr>
          <p:cNvPr id="5" name="Picture 4">
            <a:extLst>
              <a:ext uri="{FF2B5EF4-FFF2-40B4-BE49-F238E27FC236}">
                <a16:creationId xmlns:a16="http://schemas.microsoft.com/office/drawing/2014/main" id="{2448E76A-38BB-EB47-9EB4-A7CDB16AE3EB}"/>
              </a:ext>
            </a:extLst>
          </p:cNvPr>
          <p:cNvPicPr>
            <a:picLocks noChangeAspect="1"/>
          </p:cNvPicPr>
          <p:nvPr/>
        </p:nvPicPr>
        <p:blipFill>
          <a:blip r:embed="rId2"/>
          <a:stretch>
            <a:fillRect/>
          </a:stretch>
        </p:blipFill>
        <p:spPr>
          <a:xfrm>
            <a:off x="7002965" y="3344144"/>
            <a:ext cx="3468029" cy="3479550"/>
          </a:xfrm>
          <a:prstGeom prst="rect">
            <a:avLst/>
          </a:prstGeom>
        </p:spPr>
      </p:pic>
      <p:pic>
        <p:nvPicPr>
          <p:cNvPr id="7" name="Picture 6" descr="Diagram&#10;&#10;Description automatically generated">
            <a:extLst>
              <a:ext uri="{FF2B5EF4-FFF2-40B4-BE49-F238E27FC236}">
                <a16:creationId xmlns:a16="http://schemas.microsoft.com/office/drawing/2014/main" id="{4C7C266D-7B92-5F40-B0F8-9E20E7943969}"/>
              </a:ext>
            </a:extLst>
          </p:cNvPr>
          <p:cNvPicPr>
            <a:picLocks noChangeAspect="1"/>
          </p:cNvPicPr>
          <p:nvPr/>
        </p:nvPicPr>
        <p:blipFill>
          <a:blip r:embed="rId3"/>
          <a:stretch>
            <a:fillRect/>
          </a:stretch>
        </p:blipFill>
        <p:spPr>
          <a:xfrm>
            <a:off x="0" y="3344144"/>
            <a:ext cx="7002966" cy="3513856"/>
          </a:xfrm>
          <a:prstGeom prst="rect">
            <a:avLst/>
          </a:prstGeom>
        </p:spPr>
      </p:pic>
    </p:spTree>
    <p:extLst>
      <p:ext uri="{BB962C8B-B14F-4D97-AF65-F5344CB8AC3E}">
        <p14:creationId xmlns:p14="http://schemas.microsoft.com/office/powerpoint/2010/main" val="2317374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588BA7-5A63-114F-80D1-95031D82FA2C}"/>
              </a:ext>
            </a:extLst>
          </p:cNvPr>
          <p:cNvSpPr>
            <a:spLocks noGrp="1"/>
          </p:cNvSpPr>
          <p:nvPr>
            <p:ph type="body" sz="quarter" idx="13"/>
          </p:nvPr>
        </p:nvSpPr>
        <p:spPr>
          <a:xfrm>
            <a:off x="280558" y="720455"/>
            <a:ext cx="11481952" cy="524699"/>
          </a:xfrm>
        </p:spPr>
        <p:txBody>
          <a:bodyPr/>
          <a:lstStyle/>
          <a:p>
            <a:r>
              <a:rPr lang="en-AU" dirty="0"/>
              <a:t>Adrenal glands </a:t>
            </a:r>
            <a:endParaRPr lang="en-US" dirty="0"/>
          </a:p>
        </p:txBody>
      </p:sp>
      <p:sp>
        <p:nvSpPr>
          <p:cNvPr id="3" name="Text Placeholder 2">
            <a:extLst>
              <a:ext uri="{FF2B5EF4-FFF2-40B4-BE49-F238E27FC236}">
                <a16:creationId xmlns:a16="http://schemas.microsoft.com/office/drawing/2014/main" id="{8F17CD2F-9D2E-0940-BC85-1A8E425039C4}"/>
              </a:ext>
            </a:extLst>
          </p:cNvPr>
          <p:cNvSpPr>
            <a:spLocks noGrp="1"/>
          </p:cNvSpPr>
          <p:nvPr>
            <p:ph type="body" sz="quarter" idx="15"/>
          </p:nvPr>
        </p:nvSpPr>
        <p:spPr>
          <a:xfrm>
            <a:off x="280558" y="1193180"/>
            <a:ext cx="7848681" cy="5402737"/>
          </a:xfrm>
        </p:spPr>
        <p:txBody>
          <a:bodyPr>
            <a:normAutofit lnSpcReduction="10000"/>
          </a:bodyPr>
          <a:lstStyle/>
          <a:p>
            <a:r>
              <a:rPr lang="en-AU" sz="2000" dirty="0">
                <a:latin typeface="Avenir Book" panose="02000503020000020003" pitchFamily="2" charset="0"/>
              </a:rPr>
              <a:t>Located on the tops of the kidneys, the adrenal glands consist of two components: the inner part of the gland is called the </a:t>
            </a:r>
            <a:r>
              <a:rPr lang="en-AU" sz="2000" b="1" dirty="0">
                <a:latin typeface="Avenir Book" panose="02000503020000020003" pitchFamily="2" charset="0"/>
              </a:rPr>
              <a:t>adrenal medulla</a:t>
            </a:r>
            <a:r>
              <a:rPr lang="en-AU" sz="2000" dirty="0">
                <a:latin typeface="Avenir Book" panose="02000503020000020003" pitchFamily="2" charset="0"/>
              </a:rPr>
              <a:t>, and the outer layer surrounding that is the </a:t>
            </a:r>
            <a:r>
              <a:rPr lang="en-AU" sz="2000" b="1" dirty="0">
                <a:latin typeface="Avenir Book" panose="02000503020000020003" pitchFamily="2" charset="0"/>
              </a:rPr>
              <a:t>adrenal cortex</a:t>
            </a:r>
            <a:r>
              <a:rPr lang="en-AU" sz="2000" dirty="0">
                <a:latin typeface="Avenir Book" panose="02000503020000020003" pitchFamily="2" charset="0"/>
              </a:rPr>
              <a:t>. </a:t>
            </a:r>
          </a:p>
          <a:p>
            <a:r>
              <a:rPr lang="en-AU" sz="2000" dirty="0">
                <a:latin typeface="Avenir Book" panose="02000503020000020003" pitchFamily="2" charset="0"/>
              </a:rPr>
              <a:t>The </a:t>
            </a:r>
            <a:r>
              <a:rPr lang="en-AU" sz="2000" b="1" dirty="0">
                <a:latin typeface="Avenir Book" panose="02000503020000020003" pitchFamily="2" charset="0"/>
              </a:rPr>
              <a:t>adrenal medulla </a:t>
            </a:r>
            <a:r>
              <a:rPr lang="en-AU" sz="2000" dirty="0">
                <a:latin typeface="Avenir Book" panose="02000503020000020003" pitchFamily="2" charset="0"/>
              </a:rPr>
              <a:t>is responsible for the secretion of two hormones: </a:t>
            </a:r>
          </a:p>
          <a:p>
            <a:pPr marL="285750" indent="-285750">
              <a:buFontTx/>
              <a:buChar char="-"/>
            </a:pPr>
            <a:r>
              <a:rPr lang="en-AU" sz="2000" b="1" dirty="0">
                <a:latin typeface="Avenir Book" panose="02000503020000020003" pitchFamily="2" charset="0"/>
              </a:rPr>
              <a:t>Adrenaline/epinephrine: </a:t>
            </a:r>
            <a:r>
              <a:rPr lang="en-AU" sz="2000" dirty="0">
                <a:latin typeface="Avenir Book" panose="02000503020000020003" pitchFamily="2" charset="0"/>
              </a:rPr>
              <a:t>prepares the body for threatening situations by initiating the fight-or-flight response (discussed in more detail later).</a:t>
            </a:r>
          </a:p>
          <a:p>
            <a:pPr marL="285750" indent="-285750">
              <a:buFontTx/>
              <a:buChar char="-"/>
            </a:pPr>
            <a:r>
              <a:rPr lang="en-AU" sz="2000" b="1" dirty="0">
                <a:latin typeface="Avenir Book" panose="02000503020000020003" pitchFamily="2" charset="0"/>
              </a:rPr>
              <a:t>Noradrenaline/norepinephrine: </a:t>
            </a:r>
            <a:r>
              <a:rPr lang="en-AU" sz="2000" dirty="0">
                <a:latin typeface="Avenir Book" panose="02000503020000020003" pitchFamily="2" charset="0"/>
              </a:rPr>
              <a:t>performs much the same function as adrenaline/epinephrine with an emphasis on increasing the rate and force of the heartbeat. </a:t>
            </a:r>
          </a:p>
          <a:p>
            <a:endParaRPr lang="en-AU" sz="2000" dirty="0">
              <a:latin typeface="Avenir Book" panose="02000503020000020003" pitchFamily="2" charset="0"/>
            </a:endParaRPr>
          </a:p>
          <a:p>
            <a:r>
              <a:rPr lang="en-AU" sz="2000" dirty="0">
                <a:latin typeface="Avenir Book" panose="02000503020000020003" pitchFamily="2" charset="0"/>
              </a:rPr>
              <a:t>The adrenal cortex secretes a group of more than 20 hormones known as corticosteroids, the most important of which are:</a:t>
            </a:r>
          </a:p>
          <a:p>
            <a:r>
              <a:rPr lang="en-AU" sz="2000" dirty="0">
                <a:latin typeface="Avenir Book" panose="02000503020000020003" pitchFamily="2" charset="0"/>
              </a:rPr>
              <a:t>- </a:t>
            </a:r>
            <a:r>
              <a:rPr lang="en-AU" sz="2000" b="1" dirty="0">
                <a:latin typeface="Avenir Book" panose="02000503020000020003" pitchFamily="2" charset="0"/>
              </a:rPr>
              <a:t>Aldosterone: </a:t>
            </a:r>
            <a:r>
              <a:rPr lang="en-AU" sz="2000" dirty="0">
                <a:latin typeface="Avenir Book" panose="02000503020000020003" pitchFamily="2" charset="0"/>
              </a:rPr>
              <a:t>acts on the kidney to change the composition of urine by reabsorbing sodium and excreting potassium.</a:t>
            </a:r>
          </a:p>
          <a:p>
            <a:r>
              <a:rPr lang="en-AU" sz="2000" dirty="0">
                <a:latin typeface="Avenir Book" panose="02000503020000020003" pitchFamily="2" charset="0"/>
              </a:rPr>
              <a:t>- </a:t>
            </a:r>
            <a:r>
              <a:rPr lang="en-AU" sz="2000" b="1" dirty="0">
                <a:latin typeface="Avenir Book" panose="02000503020000020003" pitchFamily="2" charset="0"/>
              </a:rPr>
              <a:t>Cortisol: </a:t>
            </a:r>
            <a:r>
              <a:rPr lang="en-AU" sz="2000" dirty="0">
                <a:latin typeface="Avenir Book" panose="02000503020000020003" pitchFamily="2" charset="0"/>
              </a:rPr>
              <a:t>promotes normal metabolism, allows the body to cope with stress, and aids in the repair of damaged tissues.</a:t>
            </a:r>
          </a:p>
        </p:txBody>
      </p:sp>
      <p:pic>
        <p:nvPicPr>
          <p:cNvPr id="5" name="Picture 4" descr="Diagram, schematic&#10;&#10;Description automatically generated">
            <a:extLst>
              <a:ext uri="{FF2B5EF4-FFF2-40B4-BE49-F238E27FC236}">
                <a16:creationId xmlns:a16="http://schemas.microsoft.com/office/drawing/2014/main" id="{A5C76AD3-708E-3B41-83DD-9423C7C344D8}"/>
              </a:ext>
            </a:extLst>
          </p:cNvPr>
          <p:cNvPicPr>
            <a:picLocks noChangeAspect="1"/>
          </p:cNvPicPr>
          <p:nvPr/>
        </p:nvPicPr>
        <p:blipFill>
          <a:blip r:embed="rId2"/>
          <a:stretch>
            <a:fillRect/>
          </a:stretch>
        </p:blipFill>
        <p:spPr>
          <a:xfrm>
            <a:off x="8237344" y="2229835"/>
            <a:ext cx="3954656" cy="3383011"/>
          </a:xfrm>
          <a:prstGeom prst="rect">
            <a:avLst/>
          </a:prstGeom>
        </p:spPr>
      </p:pic>
    </p:spTree>
    <p:extLst>
      <p:ext uri="{BB962C8B-B14F-4D97-AF65-F5344CB8AC3E}">
        <p14:creationId xmlns:p14="http://schemas.microsoft.com/office/powerpoint/2010/main" val="2408912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F75DA3-16AE-0D42-B15E-9C8582BC3534}"/>
              </a:ext>
            </a:extLst>
          </p:cNvPr>
          <p:cNvSpPr>
            <a:spLocks noGrp="1"/>
          </p:cNvSpPr>
          <p:nvPr>
            <p:ph type="body" sz="quarter" idx="13"/>
          </p:nvPr>
        </p:nvSpPr>
        <p:spPr/>
        <p:txBody>
          <a:bodyPr/>
          <a:lstStyle/>
          <a:p>
            <a:r>
              <a:rPr lang="en-AU" dirty="0"/>
              <a:t>Pancreas</a:t>
            </a:r>
          </a:p>
          <a:p>
            <a:endParaRPr lang="en-US" dirty="0"/>
          </a:p>
        </p:txBody>
      </p:sp>
      <p:sp>
        <p:nvSpPr>
          <p:cNvPr id="3" name="Text Placeholder 2">
            <a:extLst>
              <a:ext uri="{FF2B5EF4-FFF2-40B4-BE49-F238E27FC236}">
                <a16:creationId xmlns:a16="http://schemas.microsoft.com/office/drawing/2014/main" id="{2E80CD02-3C19-2143-8BA1-E210BC7758AF}"/>
              </a:ext>
            </a:extLst>
          </p:cNvPr>
          <p:cNvSpPr>
            <a:spLocks noGrp="1"/>
          </p:cNvSpPr>
          <p:nvPr>
            <p:ph type="body" sz="quarter" idx="15"/>
          </p:nvPr>
        </p:nvSpPr>
        <p:spPr>
          <a:xfrm>
            <a:off x="280558" y="1528994"/>
            <a:ext cx="6900827" cy="4983317"/>
          </a:xfrm>
        </p:spPr>
        <p:txBody>
          <a:bodyPr>
            <a:normAutofit/>
          </a:bodyPr>
          <a:lstStyle/>
          <a:p>
            <a:r>
              <a:rPr lang="en-AU" sz="2000" dirty="0">
                <a:latin typeface="Avenir Book" panose="02000503020000020003" pitchFamily="2" charset="0"/>
              </a:rPr>
              <a:t>The endocrine function of the </a:t>
            </a:r>
            <a:r>
              <a:rPr lang="en-AU" sz="2000" b="1" dirty="0">
                <a:latin typeface="Avenir Book" panose="02000503020000020003" pitchFamily="2" charset="0"/>
              </a:rPr>
              <a:t>pancreas</a:t>
            </a:r>
            <a:r>
              <a:rPr lang="en-AU" sz="2000" dirty="0">
                <a:latin typeface="Avenir Book" panose="02000503020000020003" pitchFamily="2" charset="0"/>
              </a:rPr>
              <a:t> is mainly involved in the regulation of blood sugar levels through the secretion of two hormones from specialised cells called the pancreatic islet cells. These hormones  are:</a:t>
            </a:r>
          </a:p>
          <a:p>
            <a:pPr marL="285750" indent="-285750">
              <a:buFont typeface="Arial" panose="020B0604020202020204" pitchFamily="34" charset="0"/>
              <a:buChar char="•"/>
            </a:pPr>
            <a:r>
              <a:rPr lang="en-AU" sz="2000" b="1" dirty="0">
                <a:latin typeface="Avenir Book" panose="02000503020000020003" pitchFamily="2" charset="0"/>
              </a:rPr>
              <a:t>Insulin: </a:t>
            </a:r>
            <a:r>
              <a:rPr lang="en-AU" sz="2000" dirty="0">
                <a:latin typeface="Avenir Book" panose="02000503020000020003" pitchFamily="2" charset="0"/>
              </a:rPr>
              <a:t>responsible for lowering blood glucose by promoting the uptake of glucose from the blood into the cells of the body, and its conversion into glycogen and fat.</a:t>
            </a:r>
          </a:p>
          <a:p>
            <a:pPr marL="285750" indent="-285750">
              <a:buFont typeface="Arial" panose="020B0604020202020204" pitchFamily="34" charset="0"/>
              <a:buChar char="•"/>
            </a:pPr>
            <a:r>
              <a:rPr lang="en-AU" sz="2000" b="1" dirty="0">
                <a:latin typeface="Avenir Book" panose="02000503020000020003" pitchFamily="2" charset="0"/>
              </a:rPr>
              <a:t>Glucagon: </a:t>
            </a:r>
            <a:r>
              <a:rPr lang="en-AU" sz="2000" dirty="0">
                <a:latin typeface="Avenir Book" panose="02000503020000020003" pitchFamily="2" charset="0"/>
              </a:rPr>
              <a:t>responsible for increasing blood glucose levels through the promotion of glycogen/fat breakdown, producing glucose.</a:t>
            </a:r>
          </a:p>
          <a:p>
            <a:r>
              <a:rPr lang="en-AU" sz="2000" dirty="0">
                <a:latin typeface="Avenir Book" panose="02000503020000020003" pitchFamily="2" charset="0"/>
              </a:rPr>
              <a:t> </a:t>
            </a:r>
          </a:p>
          <a:p>
            <a:r>
              <a:rPr lang="en-AU" sz="2000" dirty="0">
                <a:latin typeface="Avenir Book" panose="02000503020000020003" pitchFamily="2" charset="0"/>
              </a:rPr>
              <a:t>KEY POINT: Both insulin and glucagon work via a negative feedback mechanism.</a:t>
            </a:r>
          </a:p>
          <a:p>
            <a:endParaRPr lang="en-US" dirty="0"/>
          </a:p>
        </p:txBody>
      </p:sp>
      <p:pic>
        <p:nvPicPr>
          <p:cNvPr id="5" name="Picture 4" descr="Diagram&#10;&#10;Description automatically generated">
            <a:extLst>
              <a:ext uri="{FF2B5EF4-FFF2-40B4-BE49-F238E27FC236}">
                <a16:creationId xmlns:a16="http://schemas.microsoft.com/office/drawing/2014/main" id="{C942FCB1-081A-BA45-8A99-2005080DF78D}"/>
              </a:ext>
            </a:extLst>
          </p:cNvPr>
          <p:cNvPicPr>
            <a:picLocks noChangeAspect="1"/>
          </p:cNvPicPr>
          <p:nvPr/>
        </p:nvPicPr>
        <p:blipFill>
          <a:blip r:embed="rId2"/>
          <a:stretch>
            <a:fillRect/>
          </a:stretch>
        </p:blipFill>
        <p:spPr>
          <a:xfrm>
            <a:off x="7044388" y="1633653"/>
            <a:ext cx="5147612" cy="3695353"/>
          </a:xfrm>
          <a:prstGeom prst="rect">
            <a:avLst/>
          </a:prstGeom>
        </p:spPr>
      </p:pic>
    </p:spTree>
    <p:extLst>
      <p:ext uri="{BB962C8B-B14F-4D97-AF65-F5344CB8AC3E}">
        <p14:creationId xmlns:p14="http://schemas.microsoft.com/office/powerpoint/2010/main" val="3832605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8E2F10-A50B-4746-B692-3946719EB16B}"/>
              </a:ext>
            </a:extLst>
          </p:cNvPr>
          <p:cNvSpPr>
            <a:spLocks noGrp="1"/>
          </p:cNvSpPr>
          <p:nvPr>
            <p:ph type="body" sz="quarter" idx="13"/>
          </p:nvPr>
        </p:nvSpPr>
        <p:spPr/>
        <p:txBody>
          <a:bodyPr/>
          <a:lstStyle/>
          <a:p>
            <a:r>
              <a:rPr lang="en-AU" dirty="0"/>
              <a:t>Thymus</a:t>
            </a:r>
          </a:p>
          <a:p>
            <a:endParaRPr lang="en-US" dirty="0"/>
          </a:p>
        </p:txBody>
      </p:sp>
      <p:sp>
        <p:nvSpPr>
          <p:cNvPr id="3" name="Text Placeholder 2">
            <a:extLst>
              <a:ext uri="{FF2B5EF4-FFF2-40B4-BE49-F238E27FC236}">
                <a16:creationId xmlns:a16="http://schemas.microsoft.com/office/drawing/2014/main" id="{69A5E4DB-C9F6-B240-8EA3-F6DA91CB08E3}"/>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The thymus is a gland located in the chest cavity, above the heart and behind the sternum. The thymus be gins to shrink in size after puberty due to its reduced importance and function in adulthood. The hormones that it secretes are called </a:t>
            </a:r>
            <a:r>
              <a:rPr lang="en-AU" sz="2000" dirty="0" err="1">
                <a:latin typeface="Avenir Book" panose="02000503020000020003" pitchFamily="2" charset="0"/>
              </a:rPr>
              <a:t>thymosins</a:t>
            </a:r>
            <a:r>
              <a:rPr lang="en-AU" sz="2000" dirty="0">
                <a:latin typeface="Avenir Book" panose="02000503020000020003" pitchFamily="2" charset="0"/>
              </a:rPr>
              <a:t>, which are required for the maturation of the T-cells/T-lymphocytes that play a vital role in the immune system.</a:t>
            </a:r>
          </a:p>
          <a:p>
            <a:endParaRPr lang="en-US" dirty="0"/>
          </a:p>
        </p:txBody>
      </p:sp>
      <p:pic>
        <p:nvPicPr>
          <p:cNvPr id="5" name="Picture 4" descr="Diagram&#10;&#10;Description automatically generated">
            <a:extLst>
              <a:ext uri="{FF2B5EF4-FFF2-40B4-BE49-F238E27FC236}">
                <a16:creationId xmlns:a16="http://schemas.microsoft.com/office/drawing/2014/main" id="{7BA2EBE5-55BD-6C4E-BF85-9900D284AE9E}"/>
              </a:ext>
            </a:extLst>
          </p:cNvPr>
          <p:cNvPicPr>
            <a:picLocks noChangeAspect="1"/>
          </p:cNvPicPr>
          <p:nvPr/>
        </p:nvPicPr>
        <p:blipFill>
          <a:blip r:embed="rId2"/>
          <a:stretch>
            <a:fillRect/>
          </a:stretch>
        </p:blipFill>
        <p:spPr>
          <a:xfrm>
            <a:off x="3818152" y="2590819"/>
            <a:ext cx="4555696" cy="4072005"/>
          </a:xfrm>
          <a:prstGeom prst="rect">
            <a:avLst/>
          </a:prstGeom>
        </p:spPr>
      </p:pic>
    </p:spTree>
    <p:extLst>
      <p:ext uri="{BB962C8B-B14F-4D97-AF65-F5344CB8AC3E}">
        <p14:creationId xmlns:p14="http://schemas.microsoft.com/office/powerpoint/2010/main" val="2744713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07293A-C1C6-154C-9005-DB58B26F27FF}"/>
              </a:ext>
            </a:extLst>
          </p:cNvPr>
          <p:cNvSpPr>
            <a:spLocks noGrp="1"/>
          </p:cNvSpPr>
          <p:nvPr>
            <p:ph type="body" sz="quarter" idx="13"/>
          </p:nvPr>
        </p:nvSpPr>
        <p:spPr/>
        <p:txBody>
          <a:bodyPr/>
          <a:lstStyle/>
          <a:p>
            <a:r>
              <a:rPr lang="en-AU" dirty="0"/>
              <a:t>Pineal gland </a:t>
            </a:r>
            <a:endParaRPr lang="en-US" dirty="0"/>
          </a:p>
        </p:txBody>
      </p:sp>
      <p:sp>
        <p:nvSpPr>
          <p:cNvPr id="3" name="Text Placeholder 2">
            <a:extLst>
              <a:ext uri="{FF2B5EF4-FFF2-40B4-BE49-F238E27FC236}">
                <a16:creationId xmlns:a16="http://schemas.microsoft.com/office/drawing/2014/main" id="{421E770F-4C1D-F34C-A2CF-E1568300781B}"/>
              </a:ext>
            </a:extLst>
          </p:cNvPr>
          <p:cNvSpPr>
            <a:spLocks noGrp="1"/>
          </p:cNvSpPr>
          <p:nvPr>
            <p:ph type="body" sz="quarter" idx="15"/>
          </p:nvPr>
        </p:nvSpPr>
        <p:spPr/>
        <p:txBody>
          <a:bodyPr/>
          <a:lstStyle/>
          <a:p>
            <a:r>
              <a:rPr lang="en-AU" sz="2000" dirty="0">
                <a:latin typeface="Avenir Book" panose="02000503020000020003" pitchFamily="2" charset="0"/>
              </a:rPr>
              <a:t>The </a:t>
            </a:r>
            <a:r>
              <a:rPr lang="en-AU" sz="2000" b="1" dirty="0">
                <a:latin typeface="Avenir Book" panose="02000503020000020003" pitchFamily="2" charset="0"/>
              </a:rPr>
              <a:t>pineal gland </a:t>
            </a:r>
            <a:r>
              <a:rPr lang="en-AU" sz="2000" dirty="0">
                <a:latin typeface="Avenir Book" panose="02000503020000020003" pitchFamily="2" charset="0"/>
              </a:rPr>
              <a:t>is located deep within the brain, and like the thymus, it decreases in size after puberty. The most important role of this gland is the production and secretion of </a:t>
            </a:r>
            <a:r>
              <a:rPr lang="en-AU" sz="2000" b="1" dirty="0">
                <a:latin typeface="Avenir Book" panose="02000503020000020003" pitchFamily="2" charset="0"/>
              </a:rPr>
              <a:t>melatonin</a:t>
            </a:r>
            <a:r>
              <a:rPr lang="en-AU" sz="2000" dirty="0">
                <a:latin typeface="Avenir Book" panose="02000503020000020003" pitchFamily="2" charset="0"/>
              </a:rPr>
              <a:t>, which plays a role in the regulation of sleep patterns. The secretion of melatonin is promoted by darkness and inhibited by light.</a:t>
            </a:r>
          </a:p>
          <a:p>
            <a:endParaRPr lang="en-US" dirty="0"/>
          </a:p>
          <a:p>
            <a:endParaRPr lang="en-US" dirty="0"/>
          </a:p>
        </p:txBody>
      </p:sp>
      <p:pic>
        <p:nvPicPr>
          <p:cNvPr id="5" name="Picture 4">
            <a:extLst>
              <a:ext uri="{FF2B5EF4-FFF2-40B4-BE49-F238E27FC236}">
                <a16:creationId xmlns:a16="http://schemas.microsoft.com/office/drawing/2014/main" id="{DC4F912E-CE0E-CA48-B541-C2ABC586473E}"/>
              </a:ext>
            </a:extLst>
          </p:cNvPr>
          <p:cNvPicPr>
            <a:picLocks noChangeAspect="1"/>
          </p:cNvPicPr>
          <p:nvPr/>
        </p:nvPicPr>
        <p:blipFill rotWithShape="1">
          <a:blip r:embed="rId2"/>
          <a:srcRect l="4897"/>
          <a:stretch/>
        </p:blipFill>
        <p:spPr>
          <a:xfrm>
            <a:off x="4072636" y="2776653"/>
            <a:ext cx="3922320" cy="3667047"/>
          </a:xfrm>
          <a:prstGeom prst="rect">
            <a:avLst/>
          </a:prstGeom>
        </p:spPr>
      </p:pic>
    </p:spTree>
    <p:extLst>
      <p:ext uri="{BB962C8B-B14F-4D97-AF65-F5344CB8AC3E}">
        <p14:creationId xmlns:p14="http://schemas.microsoft.com/office/powerpoint/2010/main" val="4214492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625870-D23F-954B-B291-3A4D29B39B3E}"/>
              </a:ext>
            </a:extLst>
          </p:cNvPr>
          <p:cNvSpPr>
            <a:spLocks noGrp="1"/>
          </p:cNvSpPr>
          <p:nvPr>
            <p:ph type="body" sz="quarter" idx="13"/>
          </p:nvPr>
        </p:nvSpPr>
        <p:spPr/>
        <p:txBody>
          <a:bodyPr/>
          <a:lstStyle/>
          <a:p>
            <a:r>
              <a:rPr lang="en-AU" dirty="0"/>
              <a:t>Gonads</a:t>
            </a:r>
          </a:p>
          <a:p>
            <a:endParaRPr lang="en-US" dirty="0"/>
          </a:p>
        </p:txBody>
      </p:sp>
      <p:sp>
        <p:nvSpPr>
          <p:cNvPr id="3" name="Text Placeholder 2">
            <a:extLst>
              <a:ext uri="{FF2B5EF4-FFF2-40B4-BE49-F238E27FC236}">
                <a16:creationId xmlns:a16="http://schemas.microsoft.com/office/drawing/2014/main" id="{D9CD4423-B8C6-E447-B230-A9136D305CD6}"/>
              </a:ext>
            </a:extLst>
          </p:cNvPr>
          <p:cNvSpPr>
            <a:spLocks noGrp="1"/>
          </p:cNvSpPr>
          <p:nvPr>
            <p:ph type="body" sz="quarter" idx="15"/>
          </p:nvPr>
        </p:nvSpPr>
        <p:spPr/>
        <p:txBody>
          <a:bodyPr/>
          <a:lstStyle/>
          <a:p>
            <a:r>
              <a:rPr lang="en-AU" sz="2000" dirty="0">
                <a:latin typeface="Avenir Book" panose="02000503020000020003" pitchFamily="2" charset="0"/>
              </a:rPr>
              <a:t>The testes and ovaries are collectively known as the gonads, and they also function as endocrine glands.</a:t>
            </a:r>
          </a:p>
          <a:p>
            <a:r>
              <a:rPr lang="en-AU" sz="2000" dirty="0">
                <a:latin typeface="Avenir Book" panose="02000503020000020003" pitchFamily="2" charset="0"/>
              </a:rPr>
              <a:t> </a:t>
            </a:r>
          </a:p>
          <a:p>
            <a:r>
              <a:rPr lang="en-AU" sz="2000" b="1" dirty="0">
                <a:latin typeface="Avenir Book" panose="02000503020000020003" pitchFamily="2" charset="0"/>
              </a:rPr>
              <a:t>- Testes: </a:t>
            </a:r>
            <a:r>
              <a:rPr lang="en-AU" sz="2000" dirty="0">
                <a:latin typeface="Avenir Book" panose="02000503020000020003" pitchFamily="2" charset="0"/>
              </a:rPr>
              <a:t>secrete androgens (male sex hormones) which are responsible for the development and maintenance of secondary sexual characteristics in males. </a:t>
            </a:r>
          </a:p>
          <a:p>
            <a:r>
              <a:rPr lang="en-AU" sz="2000" b="1" dirty="0">
                <a:latin typeface="Avenir Book" panose="02000503020000020003" pitchFamily="2" charset="0"/>
              </a:rPr>
              <a:t>- Ovaries: </a:t>
            </a:r>
            <a:r>
              <a:rPr lang="en-AU" sz="2000" dirty="0">
                <a:latin typeface="Avenir Book" panose="02000503020000020003" pitchFamily="2" charset="0"/>
              </a:rPr>
              <a:t>secrete oestrogens and progesterone (female sex hormones). </a:t>
            </a:r>
          </a:p>
          <a:p>
            <a:endParaRPr lang="en-AU" sz="2000" dirty="0">
              <a:latin typeface="Avenir Book" panose="02000503020000020003" pitchFamily="2" charset="0"/>
            </a:endParaRPr>
          </a:p>
          <a:p>
            <a:r>
              <a:rPr lang="en-AU" sz="2000" dirty="0">
                <a:latin typeface="Avenir Book" panose="02000503020000020003" pitchFamily="2" charset="0"/>
              </a:rPr>
              <a:t>Like androgens in males, these allow for development and maintenance of secondary sexual characteristics in females, how ever they also work with the gonadotropic hormones produced by the pituitary to regulate menstruation and pregnancy.</a:t>
            </a:r>
          </a:p>
          <a:p>
            <a:endParaRPr lang="en-US" dirty="0"/>
          </a:p>
        </p:txBody>
      </p:sp>
    </p:spTree>
    <p:extLst>
      <p:ext uri="{BB962C8B-B14F-4D97-AF65-F5344CB8AC3E}">
        <p14:creationId xmlns:p14="http://schemas.microsoft.com/office/powerpoint/2010/main" val="2686403762"/>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582</TotalTime>
  <Words>1398</Words>
  <Application>Microsoft Macintosh PowerPoint</Application>
  <PresentationFormat>Widescreen</PresentationFormat>
  <Paragraphs>65</Paragraphs>
  <Slides>14</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14</vt:i4>
      </vt:variant>
    </vt:vector>
  </HeadingPairs>
  <TitlesOfParts>
    <vt:vector size="27"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2022-03-14T14:50:32Z</dcterms:created>
  <dcterms:modified xsi:type="dcterms:W3CDTF">2022-03-15T00:33:20Z</dcterms:modified>
</cp:coreProperties>
</file>
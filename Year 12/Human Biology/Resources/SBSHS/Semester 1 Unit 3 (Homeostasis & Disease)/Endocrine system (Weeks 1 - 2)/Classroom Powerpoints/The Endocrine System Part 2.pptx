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9"/>
  </p:notesMasterIdLst>
  <p:sldIdLst>
    <p:sldId id="562" r:id="rId6"/>
    <p:sldId id="313" r:id="rId7"/>
    <p:sldId id="275" r:id="rId8"/>
    <p:sldId id="301" r:id="rId9"/>
    <p:sldId id="555" r:id="rId10"/>
    <p:sldId id="566" r:id="rId11"/>
    <p:sldId id="567" r:id="rId12"/>
    <p:sldId id="568" r:id="rId13"/>
    <p:sldId id="570" r:id="rId14"/>
    <p:sldId id="571" r:id="rId15"/>
    <p:sldId id="572" r:id="rId16"/>
    <p:sldId id="573" r:id="rId17"/>
    <p:sldId id="5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4"/>
    <p:restoredTop sz="86391"/>
  </p:normalViewPr>
  <p:slideViewPr>
    <p:cSldViewPr snapToGrid="0" snapToObjects="1">
      <p:cViewPr varScale="1">
        <p:scale>
          <a:sx n="114" d="100"/>
          <a:sy n="114" d="100"/>
        </p:scale>
        <p:origin x="224" y="17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02T16:14:14.019"/>
    </inkml:context>
    <inkml:brush xml:id="br0">
      <inkml:brushProperty name="width" value="0.35" units="cm"/>
      <inkml:brushProperty name="height" value="0.35" units="cm"/>
      <inkml:brushProperty name="color" value="#FFFFFF"/>
    </inkml:brush>
  </inkml:definitions>
  <inkml:trace contextRef="#ctx0" brushRef="#br0">881 1263 24575,'-31'0'0,"-9"0"0,14 0 0,-9 0 0,0 0 0,5 0 0,-5 0 0,6 0 0,-6 0 0,4 0 0,-17-4 0,16-6 0,-5-1 0,13-11 0,1 6 0,7-12 0,-7 3 0,8-4 0,0 0 0,-4 0 0,8-1 0,-3 1 0,4 0 0,1 0 0,-1 0 0,0-6 0,4 4 0,-3-4 0,8 6 0,-8 0 0,8 0 0,-3-6 0,0-10 0,-1 12 0,0-9 0,-4 18 0,4 0 0,0 1 0,-3 0 0,3 8 0,-4-6 0,4 7 0,-2 1 0,6 0 0,-3 5 0,1 0 0,2 30 0,-2-11 0,3 25 0,0-14 0,0-3 0,0 9 0,0-4 0,-4 0 0,-6 4 0,-1-4 0,-7 5 0,7 0 0,-7 0 0,7 6 0,-4-5 0,5 5 0,0 0 0,4-4 0,2 4 0,4-6 0,0 0 0,0-5 0,0 3 0,0-8 0,0 4 0,0-5 0,0-1 0,0 1 0,0 0 0,3-5 0,2-1 0,-1-4 0,3 0 0,-6 0 0,9-3 0,-8-23 0,4 0 0,-6-25 0,0 7 0,0-6 0,0-7 0,0-2 0,0-6 0,-5-1 0,4 8 0,-9 1 0,9 7 0,-4 10 0,5 3 0,0 16 0,0 1 0,0 3 0,15 5 0,7 0 0,11 9 0,3 10 0,0 13 0,4 6 0,1 16 0,-2-8 0,11 32 0,-18-24 0,-2-2 0,-2 1 0,-3 1 0,18 36 0,-18-26 0,5 13 0,-6-6 0,-1-3 0,-1-13 0,0-2 0,-6-7 0,4-6 0,-6-6 0,5-2 0,-5-14 0,3 8 0,2-12 0,5 3 0,0-4 0,9-3 0,-7-2 0,15-4 0,-5 0 0,20-11 0,-15-6 0,16-18 0,-18-5 0,2-11 0,-2-1 0,-4 0 0,-6-4 0,-7 10 0,-6-2 0,-5 5 0,-1 7 0,-4 1 0,-2 6 0,-4-1 0,-4 1 0,-12-1 0,-12-2 0,-4 5 0,-12-5 0,0 4 0,-3-6 0,-16 4 0,9 1 0,-11 6 0,8 0 0,0 0 0,0 5 0,-1 1 0,1 11 0,6 1 0,-5 5 0,5 0 0,6 0 0,-2 0 0,21 0 0,-8 4 0,15 5 0,-4 5 0,10 4 0,-5 4 0,4-7 0,-1 7 0,2-8 0,5-1 0,-1-1 0,1-4 0,0-3 0,0 2 0,4-25 0,0 13 0,4-18 0,0 15 0,0 62 0,0-24 0,0 65 0,-10-43 0,2 20 0,-9-13 0,6-1 0,4-15 0,-1-18 0,7 2 0,-2-17 0,3 8 0,6-14 0,15 0 0,9-9 0,12-6 0,7-6 0,2-5 0,6 4 0,0-4 0,7 4 0,-5-1 0,6-3 0,-15 10 0,6-5 0,-18 2 0,3 4 0,-21 1 0,7 1 0,-17 8 0,7-7 0,-9 7 0,-32-7 0,1 7 0,-30-3 0,11-1 0,0-1 0,-1-4 0,1-6 0,5 1 0,7-5 0,7-3 0,5 3 0,3-7 0,6 8 0,5-4 0,4 5 0,0 0 0,3 0 0,17-1 0,8-1 0,20 4 0,3 0 0,6 4 0,7 6 0,-11 1 0,9 0 0,-11 3 0,-1-3 0,-1 5 0,-12-4 0,3-2 0,-9-4 0,10-5 0,-11 0 0,6-11 0,-5 0 0,1-6 0,-6 1 0,-2-2 0,-10 8 0,-1 0 0,-5 11 0,-3 2 0,-1 4 0,-4 0 0,0-4 0,0 3 0,0-4 0,0 1 0,0 3 0,0-4 0,0 1 0,0 3 0,4 54 0,3-9 0,4 49 0,0-20 0,1-6 0,0 5 0,-1-13 0,0-2 0,-1-13 0,-1-6 0,0-8 0,0-4 0,-4-5 0,3 0 0,-7-5 0,2-1 0,-22 2 0,1-1 0,-13-3 0,3 4 0,9-4 0,-9 4 0,9 0 0,-8 1 0,8 3 0,-4-3 0,5 2 0,4-3 0,2-4 0,4-2 0,0 1 0,3-23 0,2 5 0,3-28 0,0 5 0,9-5 0,3 0 0,9-1 0,-1 7 0,-4-5 0,2 11 0,-7 0 0,3 2 0,-5 9 0,0-4 0,0 5 0,-4-4 0,-1 7 0,-4-7 0,0 9 0,0-5 0,-8 4 0,-7-4 0,-9 4 0,-5-2 0,0 7 0,-6 0 0,-2 7 0,1-2 0,-5 4 0,10 0 0,-4 0 0,6 0 0,0 0 0,5 0 0,-4-5 0,9 0 0,0-8 0,-6-5 0,13-1 0,-9-2 0,8 3 0,0 0 0,-1 0 0,-3 0 0,-2 4 0,0-3 0,-4 3 0,0 0 0,-1 1 0,-5 3 0,-6 0 0,4 0 0,-10 4 0,11-3 0,-11 3 0,10-4 0,-4 0 0,6 0 0,0 1 0,0-1 0,5 0 0,1 1 0,5 4 0,0 1 0,5 1 0,-4 2 0,8-3 0,-3 4 0,4 0 0,0-3 0,46 2 0,-18-3 0,45 4 0,-29 0 0,0 0 0,-1 0 0,-6 0 0,-5 0 0,-1 0 0,-9 0 0,-2 0 0,-4 0 0,0 0 0,3 0 0,-2 0 0,2 0 0,-3 0 0,0 0 0,3 0 0,-2 0 0,3 0 0,-4 0 0,0 0 0,7 0 0,-5 0 0,6 0 0,-8 0 0,4 4 0,-3 1 0,4 3 0,-1 1 0,-3-1 0,8 0 0,-4 1 0,5 0 0,-1 0 0,1-1 0,5 2 0,-4-5 0,-1 2 0,-1-6 0,-4 7 0,5-3 0,-1 0 0,-3 2 0,2-2 0,-7-1 0,8 4 0,-4-3 0,1 3 0,2 1 0,-7-1 0,4 1 0,-5-1 0,4 4 0,-3 1 0,4 5 0,-5-5 0,1 0 0,-1-1 0,0-3 0,1 3 0,-1-7 0,-4 2 0,3-36 0,-6 12 0,2-28 0,-3 16 0,0 0 0,0 0 0,0-1 0,0 6 0,0 1 0,0 6 0,0-1 0,-8 0 0,3 5 0,-12 0 0,7 1 0,-6 2 0,2-7 0,-4 7 0,0-3 0,-5 8 0,4-3 0,-9 7 0,4-3 0,0 4 0,-4 0 0,4 0 0,-5 0 0,0 0 0,5 0 0,-4 0 0,4 0 0,0 0 0,-4 0 0,9 0 0,-9 0 0,5 4 0,-1-3 0,3 2 0,8 1 0,-4-4 0,8 4 0,-4-4 0,5 0 0,0 0 0,-3 0 0,2 0 0,33 0 0,-6 0 0,36 0 0,-17 0 0,11 0 0,-4 0 0,12 5 0,-13 6 0,6 1 0,-6 8 0,-7-5 0,-1 5 0,-6 0 0,0-1 0,-5 0 0,-1 4 0,-4 1 0,0 5 0,-4 0 0,3-5 0,-8 4 0,4-4 0,-5 5 0,1-5 0,-1-1 0,0-6 0,-1-3 0,1-2 0,-1 0 0,0-3 0,-3 4 0,2-9 0,-3 3 0,0-30 0,0 12 0,-9-28 0,0 15 0,-9-5 0,-1 5 0,-3 1 0,0 5 0,0 0 0,5 5 0,0 0 0,5 9 0,0 0 0,0 1 0,-3 2 0,5-7 0,-8 4 0,9-1 0,-3-2 0,1 3 0,2-4 0,-3-1 0,4 1 0,0 1 0,4-4 0,0 2 0,7-1 0,-2 2 0,7-5 0,-4 4 0,1-8 0,0 4 0,-1-1 0,1-2 0,-1 6 0,0-2 0,0 8 0,0-4 0,0 7 0,3-2 0,-3 3 0,3 3 0,-3 2 0,0 3 0,0 0 0,0 0 0,4 0 0,-3-3 0,3 2 0,-4-6 0,0 6 0,3-6 0,-2 3 0,1-4 0,-2 0 0,4 0 0,-3 0 0,2 0 0,-3 0 0,0 0 0,0 16 0,-4-4 0,-1 14 0,-3-8 0,0 0 0,0-1 0,0-3 0,0-2 0,0-4 0,0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02T16:14:45.179"/>
    </inkml:context>
    <inkml:brush xml:id="br0">
      <inkml:brushProperty name="width" value="0.35" units="cm"/>
      <inkml:brushProperty name="height" value="0.35" units="cm"/>
      <inkml:brushProperty name="color" value="#FFFFFF"/>
    </inkml:brush>
  </inkml:definitions>
  <inkml:trace contextRef="#ctx0" brushRef="#br0">4504 1082 24575,'0'61'0,"0"-1"0,6-3 0,0 0 0,5 0 0,1 16 0,1 3 0,-6 8 0,-1-2 0,-6-8 0,0-1 0,0-6 0,0-3 0,0-7 0,0 0 0,0 0 0,0-6 0,-6 12 0,0-11 0,-6 13 0,1-15 0,-6 5 0,5-11 0,-4 12 0,5-18 0,1 9 0,4-17 0,-3 11 0,7-10 0,-2 3 0,-1-4 0,4-2 0,-3 2 0,4-6 0,-5 3 0,4-8 0,-3 9 0,0-4 0,3 0 0,-8 4 0,8-9 0,-8 11 0,8-10 0,-3 10 0,4-11 0,0 4 0,0-5 0,0-1 0,0 1 0,0 0 0,0-5 0,0-1 0,0 1 0,0-4 0,0 3 0,0-4 0,0 0 0,0 4 0,0-3 0,0 4 0,0-5 0,0-1 0,12-25 0,-5 8 0,9-18 0,-8 11 0,-3 8 0,2-4 0,-2 5 0,3-4 0,-3 3 0,2-4 0,-2 5 0,2 0 0,1 4 0,0-4 0,0 7 0,0-6 0,0 3 0,0 0 0,0-7 0,-4 6 0,-12-6 0,-3 3 0,-6-5 0,1-1 0,1-9 0,0-7 0,-5-13 0,8-1 0,-4-12 0,4 6 0,1-7 0,5-1 0,0-6 0,6 5 0,0-13 0,0-3 0,0 7 0,0 14 0,0 1 0,0-6 0,0-38 0,0 29 0,0-8 0,0-6 0,0 8 0,0 0 0,0 0 0,0 8 0,0-6 0,0 13 0,0-6 0,0 8 0,0 7 0,0 1 0,0 6 0,0 1 0,0 5 0,-8 2 0,1 0 0,-12 5 0,8-5 0,-7 6 0,7 5 0,-3-4 0,5 9 0,-4-4 0,3 9 0,-14-10 0,8 12 0,-15-13 0,12 14 0,-3-2 0,8 4 0,2 1 0,4 0 0,-1 3 0,1 2 0,1-1 0,-5 6 0,3 14 0,-4 18 0,7 24 0,-5 8 0,3 25-984,-5 4 957,9-35 1,0 2 26,-2-5 0,0 0 0,5 9 0,0 0 0,-2-4 0,0 0 0,3 6 0,0-2 0,-5 34 0,4-42 0,1-1 0,-5 31 0,4-32 0,2 0 0,-1-3 0,0-2-47,0 41 47,0-10 0,0-8 0,0-8 0,0-1 0,0-8 0,0 0 0,0 0 983,0-7-931,0 6-3,4-12-49,2 4 0,0-11 0,-1-7 0,-1-3 0,-3-12 0,3 2 0,-4-9 0,0 0 0,4 4 0,-3-3 0,2 7 0,1-3 0,-3 5 0,3-1 0,-4 1 0,0 0 0,0-5 0,0-1 0,0-4 0,0 0 0,7 0 0,-1-43 0,1 10 0,-3-45 0,-4 20 0,0-32 0,0 3-366,-2 30 1,-1-2 365,-4 0 0,0 0 0,0-4 0,-2-3 0,-4-3 0,-1-2-492,2-3 0,0-2 339,-3-4 0,0 0 153,-1-2 0,1 1 0,4 13 0,-1 0 0,-8-27 0,1 2 0,8-3 0,-8 12 0,2 0 0,14-10-307,-15-7 307,17 11 0,-5 22 0,6-3 0,0 25 672,0-9-672,0 16 983,0-4-651,0 6 9,0-6-341,0-2 0,0 1 0,5-5 0,5 10 0,1-9 0,3 9 0,-4 1 0,-1 7 0,0 10 0,-1 0 0,0 9 0,-4-4 0,0 40 0,-4-3 0,-6 42 0,-7 4 0,-8 18-492,8-42 0,-1 1 414,-4 9 0,1 0 78,2-4 0,0 0 0,-4 9 0,1 0 0,7-9 0,0 1 0,-3 2 0,1 1 0,5-4 0,0-2 0,-2 1 0,0 0 0,6 5 0,0 0 0,-2-4 0,0 1 0,5 4 0,0-2-476,-5 27 476,6-33 0,0-2 0,0 27 0,0-24 0,0 0 0,0 39 0,0-43 0,0-1 0,0 34 0,6 6 0,1-14 0,5 6 0,0-16 0,-5-1 0,3-8 0,-9-7 983,4-1-854,0-12 375,-4-8-504,3-6 0,-4-10 0,0 0 0,0-5 0,0 0 0,3-43 0,-2-13 0,2-51 0,-2 43 0,-2-1-492,1-9 0,0-3 164,0-10 1,0 0 327,0 4 0,0 0 0,0-10 0,0 4 0,0 25 0,0 2-388,0-11 0,0 2 388,0-32 0,0 43 0,0 0 0,6-41-222,-5 12 222,5 14 0,-6 3 0,0 7 983,0-1-414,0 8 264,0 1-833,0 7 252,0-1-252,0 7 0,0 1 0,-8 11 0,2 1 0,-11 5 0,7 4 0,-6-2 0,7 10 0,-8-6 0,8 11 0,-4-3 0,1 4 0,3 0 0,-8 0 0,8 0 0,-9 13 0,8 9 0,-6 29 0,-1 8 0,9 15 0,-9 8-857,16 11 857,-5-42 0,0 1 0,5 3 0,0 1 0,-2 5 0,0 0 0,3 1 0,0 0 0,0-9 0,0 1 0,0 5 0,0-1 0,0 28-210,0-35 0,0-1 210,0 34 0,0-9 0,0-23 0,0-11 0,0-17 839,0-5-839,0-7 438,0-4-438,0 0 0,0-32 0,0-13 0,0-41 0,0 7 0,0-7-492,0-5 0,0-7 164,0 5 0,0-5 0,0-2 0,0-2 0,-1-2 0,2-2 82,1 12 0,0-2 0,1-2 0,0 1 0,0-1 0,-1-1 0,1 0 0,1 4 0,1 8 0,0 2 0,0 2 0,0 1-82,1-10 0,0 3 0,0 2 0,0 9 0,0 3 0,-1 1-164,3-18 0,0 1 0,0-7 0,1 4 299,-2 19 1,0 7 1175,5-17 0,-5 32 0,-3 16 0,-4 33 0,0 25 0,0 25 0,0 37 0,0 4-492,-2-34 1,-2 0-310,0-4 0,0 0-182,-3 9 0,-1 0 0,-2-9 0,0 0 0,2 8 0,-1 1 0,-4-9 0,0 1 0,4 7 0,1 1 0,-5-9 0,0 0 0,1 9 0,0 0 0,2-4 0,-2 0 0,-2 0 0,1 0 0,2-1 0,-1 0 0,-1-5 0,-2 0 0,1 1 0,0-2-181,-12 33 181,0 1 0,2-23 0,1-6 0,6-10 0,2-15 0,5-11 983,5-6-962,1-5 170,4-5-191,0 0 0,0 3 0,0-2 0,11 2 0,-4-3 0,13 5 0,-7 0 0,6 10 0,-1 1 0,-2 11 0,-1 8 0,-5 1 0,2 11 0,-2-11 0,1 11 0,0-11 0,-5 5 0,4 0 0,-9-5 0,4 5 0,-5-7 0,0 0 0,0 0 0,0 1 0,0-7 0,0-1 0,0-11 0,0-1 0,0-10 0,0-1 0,0-4 0,-13-45 0,-1 5 0,-13-49 0,2 6 0,0-1-427,11 28 1,1-3 426,2 0 0,1-3 0,-1-6 0,2-4-492,0-7 0,2-2 147,3-6 1,0-1 344,-4 0 0,2 0 0,4-5 0,2 1 0,-4 5 0,1 1 0,2 4 0,2 0 0,-1 2 0,0 0 0,-1 3 0,2 4-238,1 14 1,1 2 237,0-10 0,1 2 0,9-22 0,5-14 0,-4 19 0,8 9 0,-6 20 0,1-2 759,-3 21-759,-4-2 983,-1 10-267,-1 0-173,1 4-543,-4-2 0,2 7 0,-6-8 0,2 3 0,-3-3 0,0-6 0,0-1 0,0-11 0,0-2 0,0-12 0,0 5 0,0-11 0,-5 4 0,-1-6 0,-1 6 0,-2 8 0,8 13 0,-4 7 0,5 10 0,0 0 0,-3 47 0,-3 5 0,-4 40 0,-3 3-432,6-32 0,0 2 432,1 0 0,-1 2 0,-4 16 0,-1 2-492,-2-9 0,-1 1 222,-1 13 1,-1 1 269,-1-10 0,-1 0 0,0 11 0,0-3 0,4-24 0,1-2-371,-4 14 1,0-1 370,-14 24 0,17-36 0,1 2 0,-3-2 0,0-1-106,-8 34 106,5-3 0,2-7 0,6 0 0,5-8 0,-4 6 759,10-6-759,-5 1 0,6 4 0,0-4 0,0 15 0,5-21 0,1 18 0,13-3 0,-1-12 0,7 24 0,-7-29 0,4 8 983,-9-15-450,2-11 300,-5-12-833,-1-5 126,-4-5-126,-1-7 0,0-4 0,-3 0 0,2-32 0,-3-13 0,-11-32 0,3-13 0,-17-11-492,17 43 0,1-3 328,-4-12 0,1-2 164,-1 4 0,0-1 0,3-8 0,-1 0 0,-2-1 0,0 1 0,7 4 0,0 0 0,-3-4 0,0 0 0,6 4 0,1 2 0,-4 3 0,1 1 0,3-5 0,0 3-313,0-27 313,0 37 0,0 1 0,0-15 0,0-14 0,0 15 0,0 10 0,0 13 0,0 9 983,4 6-676,2 0 28,3 0-335,1 0 0,4 0 0,1-1 0,0 1 0,3 5 0,-4-4 0,0 9 0,3-7 0,-7 11 0,2-5 0,-4 11 0,-3-3 0,-1 4 0,-24 28 0,5 1 0,-22 33 0,14-4 0,0 8 0,-1 23 0,4-2-339,9-29 0,0 1 339,1 0 0,1-1 0,-4 29 0,0 18 0,1-21 0,-2 16 0,7-8 0,-4-2 0,4-17 0,1 0 0,0-8 0,2-7 0,3-1 0,-4-7 678,5-5-678,0 3 0,0-9 0,0 4 0,0-6 0,0 6 0,0-5 0,0 5 0,0 0 0,0-5 0,0 5 0,0-6 0,0 0 0,0 0 0,-4-5 0,3 4 0,-3-14 0,0 8 0,3-13 0,-7 7 0,7-7 0,-6 2 0,3-3 0,-8 0 0,3 0 0,-3 0 0,4 0 0,0 0 0,0 0 0,-1-4 0,1 3 0,1-6 0,-5 3 0,4-8 0,-4-9 0,3-13 0,-2-24 0,-1-10 0,0-14 0,5-17-899,-5-4 899,11 40 0,1-2 0,-3-4 0,0 0 0,2 4 0,2-1 0,-1-7 0,0-1 0,0 3 0,0 1 0,0 0 0,0 0 0,-1-5 0,2 2 0,4-25 0,-3 31 0,3 2 0,13-22 0,2-14 0,0 11 0,3 16 0,-5 1 0,-1 8 0,4 7 0,-9 1 0,3 6 899,-4 7-899,-1 1 0,-1 6 0,1-6 0,0 4 0,0-4 0,-4 11 0,2 1 0,-7 5 0,3 5 0,-4-4 0,0 15 0,0 39 0,0 18 0,-6 32 0,-8 12-984,-7-4 869,4-35 0,-1 2 115,3 0 0,-1 0 0,-6 5 0,1 0 0,5 0 0,0 0 0,-6 1 0,1-2 0,9-4 0,0 0 0,-6 4 0,1-1 0,5-8 0,2 0 0,-1 5 0,-1-2-402,-7 28 402,12-35 0,1 0 0,-1 26 0,0-29 0,2 1 0,3 33 0,-4-3 0,1-7 0,4-8 0,-5 6 0,6-13 0,0 13 0,0-20 983,0 11-777,0-19 221,0-6-427,0-4 0,0-15 0,0-1 0,0-6 0,0-4 0,0 0 0,-14-42 0,-1-5 0,1-6 0,-2-6 0,-1 4 0,1-1-492,4-12 0,1-2 365,-4-5 0,2-1 127,4-1 0,3 1 0,1 9 0,1 0 0,0-5 0,2 1-565,2-35 565,0 42 0,0-1 0,0 6 0,0 1 0,0-34-50,0 10 50,5 9 0,1 15 0,4 1 983,5 12-768,-4 2 385,3 6-600,-5 5 55,0 1-55,-4 10 0,-1-4 0,-4 8 0,4-8 0,-3 4 0,3-5 0,-4-5 0,0 4 0,0-9 0,0 9 0,0-9 0,0 9 0,0-4 0,0 6 0,0-1 0,0 0 0,0-5 0,0-1 0,0-5 0,0 0 0,0-6 0,0 4 0,0-4 0,-4 11 0,3-4 0,-3 13 0,4-2 0,0 9 0,0 0 0,0 54 0,0 4 0,-5-1 0,-2 4-420,3 2 0,-1 1 420,-8 1 0,-1 1-492,3 8 0,-1 2 369,-6-1 0,0 0 123,2 1 0,0-2 0,-1-16 0,1-1 0,1 14 0,0 0 0,-2-7 0,0-2-265,5-3 0,0 0 265,-8 9 0,0-2 0,5 18 0,-16 16 0,17-8 0,-4-9 0,6-11 0,0-7 764,6-6-764,1-3 983,5-11-720,0 3 327,0-9-590,0 10 0,0-5 0,0 0 0,0-1 0,0-6 0,0 0 0,0-5 0,0 4 0,3-13 0,-2 2 0,3-9 0,-1 0 0,-12-32 0,-1-12 0,-15-51 0,8 37 0,0-5-492,0-16 0,1-4 27,-3-4 1,0-3-28,5-14 0,2-3 0,-1 5 0,2 3 347,5 16 1,2 3-348,0-4 0,1 3 428,2 19 1,2 1-200,-1-9 1,0 0 262,0 5 0,0 1 0,0-36 983,0 10-552,0 15 552,5 3 0,1 13 0,4 8-367,0 8 87,-1 11-703,1 1 124,-2 10-124,-3 0 0,2 9 0,5 16 0,-1 25 0,6 6 0,-5 20 0,0 12 0,-6 4 0,-2-29 0,-1 1 0,-3 41 0,0-16 0,0 13 0,0-21 0,0 14 0,-6-8 0,0-8 0,-6-8 0,1-9 0,1-18 0,4-3 0,3-10 0,-1-5 0,3 0 0,-3-48 0,4 4 0,0-47 0,0 3 0,6-9-492,-3 30 0,2-2 295,5-6 1,2-2 196,-1-9 0,2-1 0,2-5 0,1 1 0,-4 13 0,-1 2 0,4-3 0,-2 2 0,-5 12 0,-1 1 0,12-44 0,-6 18 0,-2 27 0,-2 20 0,0 7 0,-4 26 983,-1 12-589,-4 22-394,0 19 0,0-4 0,0 47-769,0-18 769,0-27 0,0 2 0,1-5 0,-2-1 0,-1 2 0,-2 0 0,-2 8 0,-3 1 0,-1-4 0,-2 0 0,-1 5 0,-2-2 0,-11 27 0,9-33 0,0-1 0,-9 25 0,7-31 0,-1-1 0,-12 36-307,-10-14 307,-2-1 0,1-12 0,-3-8 0,6-7 0,-6-6 0,2-6 757,0-1-757,1-11 319,1 0-319,6-6 0,-5 0 0,10 0 0,-10-4 0,11-2 0,-5-4 0,5 0 0,1-9 0,-2-13 0,5-5 0,-1-22 0,-2-11 0,9-9 0,4 5 0,1-4 0,1-26-484,7 23 1,1-1 483,0-22 0,6 8-344,0-2 344,0 20 0,0-13 0,0 21 0,0-3 0,0 19 0,0-5 950,0 12-950,0 2 361,0 6-361,0 5 0,0 1 0,0 5 0,0 5 0,0 1 0,0 46 0,0-3 0,0 47 0,0-19 0,0 13 0,0-6 0,-5 1 0,-7-3 0,-5-13 0,-4-8 0,5-14 0,-1-10 0,7-6 0,-2-5 0,7 0 0,-2-4 0,-5-24 0,2 1 0,-7-27 0,11 9 0,-3-12 0,3 5 0,-6-11 0,1-3 0,-1-2 0,5-11 0,-3 11 0,3-12 0,1 20 0,0-4 0,2 13 0,2 12 0,-2 6 0,4 9 0,-4 7 0,0 0 0,-7 6 0,2 3 0,-2 0 0,3 0 0,1 11 0,-2 4 0,5 18 0,-5 4 0,3 11 0,0 3 0,-5 6 0,5 0 0,-5-7 0,0-1 0,1-12 0,4-8 0,-2-6 0,3-10 0,0 0 0,-2-9 0,0-1 0,-3-23 0,2 1 0,-1-23 0,8 5 0,-8-5 0,8 0 0,-4-1 0,5 1 0,0 0 0,0-1 0,0 12 0,0-3 0,0 15 0,0-9 0,0 9 0,0 1 0,0 1 0,4 3 0,0 1 0,1 1 0,2 4 0,-3 3 0,4 35 0,-4 19 0,-1 35 0,-2-34 0,-2 1-492,1 0 0,0 1 490,1 13 0,-2 3 2,-4-1 0,-4 3-492,-2 8 0,-2 1 99,-3 1 1,-2-2 392,3-18 0,0 0-425,1 10 0,0-2 425,-8 29 0,11-41 0,0 1 0,1-6 0,0-1 0,-2 26 0,0-4 855,5-21-855,-2-2 983,7-13-197,-6-6 197,7-2-983,-3-4 0,0-1 0,-2 5 0,1-9 0,-3 4 0,3-5 0,-4-1 0,4 1 0,-2-5 0,6-1 0,-6-4 0,6 0 0,-3-43 0,4 10 0,0-52 0,0 18 0,0-15 0,0-8 0,6-10-851,-4-3 851,4 40 0,0 0 0,-4-31 0,4-13 0,-6 15 0,0-8-258,0 8 258,0 9 0,0 11 0,0 19 0,0 8 0,4 14 840,-3 10-840,3 1 269,-1 7-269,9 14 0,3 13 0,4 15 0,1 11 0,-8 2 0,4 7 0,-4 7 0,0-5 0,-6 6 0,-1-8 0,-5-7 0,0-7 0,0-8 0,0-11 0,0-5 0,0-7 0,0-4 0,0 0 0,0 3 0,4-2 0,0 3 0,14-3 0,1 4 0,23 8 0,10 8 0,0-5 0,11 9 0,-5-8 0,1 4 0,13 6 0,-13-10 0,-2 3 0,-1-5 0,-18-3 0,3-3 0,-17-4 0,-5-4 0,-3-4 0,-7-2 0,3-3 0,-4 0 0,0 0 0,5-12 0,-3-5 0,-2-18 0,1-1 0,-7-20 0,2 10 0,-4-17 0,0 13 0,0-7 0,0-1 0,0 8 0,-4 1 0,-2 12 0,-8 2 0,-7 5 0,0 0 0,-3 5 0,0 6 0,5 2 0,-4 3 0,10 0 0,-4-2 0,4 2 0,-1 1 0,2-4 0,-1 7 0,3-6 0,-2 10 0,7-6 0,-3 11 0,1-2 0,-3 10 0,-2 14 0,-3 10 0,-2 18 0,-4-5 0,-7 6 0,5-7 0,-3-5 0,7-9 0,0-6 0,5-5 0,-3-4 0,8-2 0,-4-7 0,1-2 0,-7-3 0,0 0 0,-9 0 0,4 0 0,-5 0 0,5 0 0,-4 0 0,9-4 0,-7-4 0,15-2 0,-4 2 0,14 1 0,-3-4 0,4 1 0,0-5 0,13 2 0,9-2 0,21-6 0,1 4 0,35 0 0,-7 11 0,-23 2 0,2 1-430,40 3 430,-40 0 0,-1 0 0,2 0 0,0 0 0,3-1 0,2 2-467,4 5 0,0 1 467,-3 1 0,-2 0 0,35 13-381,5-1 381,-35-9 0,14 1 0,-23-1 0,-11 0 402,-17-6-402,-5-1 934,-7-4-934,-4 0 409,0 0-409,-23-15 0,-7-4 0,-28-15 0,3 0 0,-9 0 0,-3-2 0,0 7 0,-5-6 0,6 11 0,1-9 0,6 10 0,2-4 0,13 11 0,1-4 0,6 10 0,5-4 0,1 1 0,5 3 0,5-3 0,-4 4 0,3 1 0,1-1 0,-4 0 0,4 1 0,-5-1 0,0 0 0,0 0 0,5 0 0,-4-3 0,4 2 0,-1-7 0,-3 3 0,7-3 0,-3-1 0,4 0 0,1-8 0,3 7 0,1-3 0,4 10 0,0 4 0,0 0 0,28 3 0,5 1 0,35 4 0,6 0 0,10 0 0,-7 6 0,3 0 0,-14 6 0,-6 0 0,-4-1 0,-20-1 0,-1-4 0,-15 2 0,-3-8 0,-9 4 0,0-4 0,0-10 0,-13-5 0,-3-17 0,-18-6 0,-3-6 0,-5-2 0,0 0 0,-6 0 0,4 0 0,-8 1 0,8-1 0,-2 6 0,10 3 0,3 7 0,2 5 0,7 2 0,-6 8 0,12 3 0,-2 4 0,4-1 0,0 5 0,0-3 0,0 6 0,0-6 0,-1-2 0,5 1 0,0-4 0,18 8 0,2 1 0,19 3 0,-4 4 0,4 1 0,-6 5 0,-5-1 0,-2 0 0,-4 0 0,-5 0 0,0-5 0,-5 0 0,-1-4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2/2/22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2</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5</a:t>
            </a:fld>
            <a:endParaRPr lang="en-AU"/>
          </a:p>
        </p:txBody>
      </p:sp>
    </p:spTree>
    <p:extLst>
      <p:ext uri="{BB962C8B-B14F-4D97-AF65-F5344CB8AC3E}">
        <p14:creationId xmlns:p14="http://schemas.microsoft.com/office/powerpoint/2010/main" val="2198206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2/2/22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2/2/22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2/2/22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2/2/22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2/2/22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2.xml"/><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ypothalamus: Function, hormones, and disorders">
            <a:extLst>
              <a:ext uri="{FF2B5EF4-FFF2-40B4-BE49-F238E27FC236}">
                <a16:creationId xmlns:a16="http://schemas.microsoft.com/office/drawing/2014/main" id="{E938AAF7-E554-2142-B993-AD0594ECDC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60D4650-DFC0-894C-A02B-4614C16E5F72}"/>
              </a:ext>
            </a:extLst>
          </p:cNvPr>
          <p:cNvSpPr/>
          <p:nvPr/>
        </p:nvSpPr>
        <p:spPr>
          <a:xfrm>
            <a:off x="430900" y="5969921"/>
            <a:ext cx="3478068" cy="646331"/>
          </a:xfrm>
          <a:prstGeom prst="rect">
            <a:avLst/>
          </a:prstGeom>
        </p:spPr>
        <p:txBody>
          <a:bodyPr wrap="none">
            <a:spAutoFit/>
          </a:bodyPr>
          <a:lstStyle/>
          <a:p>
            <a:pPr algn="ctr"/>
            <a:r>
              <a:rPr lang="en-US" dirty="0">
                <a:solidFill>
                  <a:schemeClr val="bg1"/>
                </a:solidFill>
                <a:latin typeface="Arial Rounded MT Bold" panose="020F0704030504030204" pitchFamily="34" charset="77"/>
              </a:rPr>
              <a:t>Year 12 Human Biology </a:t>
            </a:r>
            <a:br>
              <a:rPr lang="en-US" dirty="0">
                <a:solidFill>
                  <a:schemeClr val="bg1"/>
                </a:solidFill>
                <a:latin typeface="Arial Rounded MT Bold" panose="020F0704030504030204" pitchFamily="34" charset="77"/>
              </a:rPr>
            </a:br>
            <a:r>
              <a:rPr lang="en-US" dirty="0">
                <a:solidFill>
                  <a:schemeClr val="bg1"/>
                </a:solidFill>
                <a:latin typeface="Arial Rounded MT Bold" panose="020F0704030504030204" pitchFamily="34" charset="77"/>
              </a:rPr>
              <a:t>The Endocrine System Part 2 </a:t>
            </a:r>
            <a:endParaRPr lang="en-US" dirty="0">
              <a:solidFill>
                <a:schemeClr val="bg1"/>
              </a:solidFill>
            </a:endParaRPr>
          </a:p>
        </p:txBody>
      </p:sp>
      <p:pic>
        <p:nvPicPr>
          <p:cNvPr id="6" name="Picture 5">
            <a:extLst>
              <a:ext uri="{FF2B5EF4-FFF2-40B4-BE49-F238E27FC236}">
                <a16:creationId xmlns:a16="http://schemas.microsoft.com/office/drawing/2014/main" id="{03BD1640-8EF7-9544-985A-5CB2691DF17C}"/>
              </a:ext>
            </a:extLst>
          </p:cNvPr>
          <p:cNvPicPr/>
          <p:nvPr/>
        </p:nvPicPr>
        <p:blipFill>
          <a:blip r:embed="rId3">
            <a:alphaModFix/>
            <a:extLst>
              <a:ext uri="{28A0092B-C50C-407E-A947-70E740481C1C}">
                <a14:useLocalDpi xmlns:a14="http://schemas.microsoft.com/office/drawing/2010/main" val="0"/>
              </a:ext>
            </a:extLst>
          </a:blip>
          <a:stretch>
            <a:fillRect/>
          </a:stretch>
        </p:blipFill>
        <p:spPr bwMode="auto">
          <a:xfrm>
            <a:off x="10525538" y="352364"/>
            <a:ext cx="1331711" cy="1511683"/>
          </a:xfrm>
          <a:prstGeom prst="rect">
            <a:avLst/>
          </a:prstGeom>
          <a:noFill/>
        </p:spPr>
      </p:pic>
    </p:spTree>
    <p:extLst>
      <p:ext uri="{BB962C8B-B14F-4D97-AF65-F5344CB8AC3E}">
        <p14:creationId xmlns:p14="http://schemas.microsoft.com/office/powerpoint/2010/main" val="362828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Hypothalamus</a:t>
            </a:r>
          </a:p>
        </p:txBody>
      </p:sp>
      <p:pic>
        <p:nvPicPr>
          <p:cNvPr id="5" name="Picture 4" descr="Diagram&#10;&#10;Description automatically generated">
            <a:extLst>
              <a:ext uri="{FF2B5EF4-FFF2-40B4-BE49-F238E27FC236}">
                <a16:creationId xmlns:a16="http://schemas.microsoft.com/office/drawing/2014/main" id="{28047D33-02FC-6740-924E-C59AC5630A31}"/>
              </a:ext>
            </a:extLst>
          </p:cNvPr>
          <p:cNvPicPr>
            <a:picLocks noChangeAspect="1"/>
          </p:cNvPicPr>
          <p:nvPr/>
        </p:nvPicPr>
        <p:blipFill rotWithShape="1">
          <a:blip r:embed="rId3"/>
          <a:srcRect t="3467"/>
          <a:stretch/>
        </p:blipFill>
        <p:spPr>
          <a:xfrm>
            <a:off x="0" y="2172861"/>
            <a:ext cx="12192000" cy="4685140"/>
          </a:xfrm>
          <a:prstGeom prst="rect">
            <a:avLst/>
          </a:prstGeom>
        </p:spPr>
      </p:pic>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0935178" cy="5393007"/>
          </a:xfrm>
        </p:spPr>
        <p:txBody>
          <a:bodyPr>
            <a:normAutofit/>
          </a:bodyPr>
          <a:lstStyle/>
          <a:p>
            <a:r>
              <a:rPr lang="en-AU" sz="2000" dirty="0">
                <a:latin typeface="Avenir Book" panose="02000503020000020003" pitchFamily="2" charset="0"/>
              </a:rPr>
              <a:t>The hypothalamus and pituitary gland work together to control the functioning of many of the other glands, For this reason, the pituitary gland is often called the master gland. Combined, they can be thought of as the command centre for the body.</a:t>
            </a:r>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79800E0A-D13A-2C42-BB28-3D6551168A6E}"/>
                  </a:ext>
                </a:extLst>
              </p14:cNvPr>
              <p14:cNvContentPartPr/>
              <p14:nvPr/>
            </p14:nvContentPartPr>
            <p14:xfrm>
              <a:off x="1453926" y="2415433"/>
              <a:ext cx="548640" cy="605160"/>
            </p14:xfrm>
          </p:contentPart>
        </mc:Choice>
        <mc:Fallback>
          <p:pic>
            <p:nvPicPr>
              <p:cNvPr id="6" name="Ink 5">
                <a:extLst>
                  <a:ext uri="{FF2B5EF4-FFF2-40B4-BE49-F238E27FC236}">
                    <a16:creationId xmlns:a16="http://schemas.microsoft.com/office/drawing/2014/main" id="{79800E0A-D13A-2C42-BB28-3D6551168A6E}"/>
                  </a:ext>
                </a:extLst>
              </p:cNvPr>
              <p:cNvPicPr/>
              <p:nvPr/>
            </p:nvPicPr>
            <p:blipFill>
              <a:blip r:embed="rId5"/>
              <a:stretch>
                <a:fillRect/>
              </a:stretch>
            </p:blipFill>
            <p:spPr>
              <a:xfrm>
                <a:off x="1391286" y="2352433"/>
                <a:ext cx="674280" cy="730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89095AAE-2D34-404A-BC48-F4C205973D31}"/>
                  </a:ext>
                </a:extLst>
              </p14:cNvPr>
              <p14:cNvContentPartPr/>
              <p14:nvPr/>
            </p14:nvContentPartPr>
            <p14:xfrm>
              <a:off x="356646" y="2755273"/>
              <a:ext cx="1643760" cy="1312920"/>
            </p14:xfrm>
          </p:contentPart>
        </mc:Choice>
        <mc:Fallback>
          <p:pic>
            <p:nvPicPr>
              <p:cNvPr id="8" name="Ink 7">
                <a:extLst>
                  <a:ext uri="{FF2B5EF4-FFF2-40B4-BE49-F238E27FC236}">
                    <a16:creationId xmlns:a16="http://schemas.microsoft.com/office/drawing/2014/main" id="{89095AAE-2D34-404A-BC48-F4C205973D31}"/>
                  </a:ext>
                </a:extLst>
              </p:cNvPr>
              <p:cNvPicPr/>
              <p:nvPr/>
            </p:nvPicPr>
            <p:blipFill>
              <a:blip r:embed="rId7"/>
              <a:stretch>
                <a:fillRect/>
              </a:stretch>
            </p:blipFill>
            <p:spPr>
              <a:xfrm>
                <a:off x="293646" y="2692273"/>
                <a:ext cx="1769400" cy="1438560"/>
              </a:xfrm>
              <a:prstGeom prst="rect">
                <a:avLst/>
              </a:prstGeom>
            </p:spPr>
          </p:pic>
        </mc:Fallback>
      </mc:AlternateContent>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t>Hypothalamus</a:t>
            </a:r>
            <a:endParaRPr lang="en-AU" sz="40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127141" cy="4756305"/>
          </a:xfrm>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The </a:t>
            </a:r>
            <a:r>
              <a:rPr lang="en-AU" sz="2000" b="1" dirty="0">
                <a:latin typeface="Avenir Book" panose="02000503020000020003" pitchFamily="2" charset="0"/>
              </a:rPr>
              <a:t>hypothalamus</a:t>
            </a:r>
            <a:r>
              <a:rPr lang="en-AU" sz="2000" dirty="0">
                <a:latin typeface="Avenir Book" panose="02000503020000020003" pitchFamily="2" charset="0"/>
              </a:rPr>
              <a:t> has roles in both the nervous and endocrine systems and serves as a connection between the two systems. It regulates many of the basic functions of the body, such as body temperature, water balance and heart rate, in addition to increasing or decreasing the secretions of other glands</a:t>
            </a:r>
          </a:p>
          <a:p>
            <a:pPr marL="457200" indent="-457200">
              <a:buFont typeface="Arial" panose="020B0604020202020204" pitchFamily="34" charset="0"/>
              <a:buChar char="•"/>
            </a:pPr>
            <a:endParaRPr lang="en-AU" sz="2800" dirty="0">
              <a:latin typeface="Avenir Book" panose="02000503020000020003" pitchFamily="2" charset="0"/>
            </a:endParaRPr>
          </a:p>
          <a:p>
            <a:pPr marL="342900" indent="-342900">
              <a:buFont typeface="Arial" panose="020B0604020202020204" pitchFamily="34" charset="0"/>
              <a:buChar char="•"/>
            </a:pPr>
            <a:r>
              <a:rPr lang="en-AU" sz="2000" dirty="0">
                <a:latin typeface="Avenir Book" panose="02000503020000020003" pitchFamily="2" charset="0"/>
              </a:rPr>
              <a:t>The hypothalamus is located at the base of the brain, below the thalamus and above the pituitary gland. It is about the size of an almond</a:t>
            </a:r>
            <a:r>
              <a:rPr lang="en-AU" sz="2800" dirty="0">
                <a:latin typeface="Avenir Book" panose="02000503020000020003" pitchFamily="2" charset="0"/>
              </a:rPr>
              <a:t>. </a:t>
            </a:r>
          </a:p>
          <a:p>
            <a:endParaRPr lang="en-AU" dirty="0"/>
          </a:p>
        </p:txBody>
      </p:sp>
      <p:pic>
        <p:nvPicPr>
          <p:cNvPr id="7" name="Picture 6" descr="Diagram&#10;&#10;Description automatically generated">
            <a:extLst>
              <a:ext uri="{FF2B5EF4-FFF2-40B4-BE49-F238E27FC236}">
                <a16:creationId xmlns:a16="http://schemas.microsoft.com/office/drawing/2014/main" id="{4373FED4-F960-5A4A-8B37-A8C963B078D9}"/>
              </a:ext>
            </a:extLst>
          </p:cNvPr>
          <p:cNvPicPr>
            <a:picLocks noChangeAspect="1"/>
          </p:cNvPicPr>
          <p:nvPr/>
        </p:nvPicPr>
        <p:blipFill rotWithShape="1">
          <a:blip r:embed="rId3"/>
          <a:srcRect t="3467"/>
          <a:stretch/>
        </p:blipFill>
        <p:spPr>
          <a:xfrm>
            <a:off x="5196468" y="4169759"/>
            <a:ext cx="6995532" cy="2688242"/>
          </a:xfrm>
          <a:prstGeom prst="rect">
            <a:avLst/>
          </a:prstGeom>
        </p:spPr>
      </p:pic>
    </p:spTree>
    <p:extLst>
      <p:ext uri="{BB962C8B-B14F-4D97-AF65-F5344CB8AC3E}">
        <p14:creationId xmlns:p14="http://schemas.microsoft.com/office/powerpoint/2010/main" val="2771123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57B0FA-C25A-F547-A226-71A85FD5310C}"/>
              </a:ext>
            </a:extLst>
          </p:cNvPr>
          <p:cNvSpPr>
            <a:spLocks noGrp="1"/>
          </p:cNvSpPr>
          <p:nvPr>
            <p:ph type="body" sz="quarter" idx="13"/>
          </p:nvPr>
        </p:nvSpPr>
        <p:spPr/>
        <p:txBody>
          <a:bodyPr>
            <a:normAutofit lnSpcReduction="10000"/>
          </a:bodyPr>
          <a:lstStyle/>
          <a:p>
            <a:r>
              <a:rPr lang="en-AU" sz="3200" dirty="0"/>
              <a:t>Hypothalamus</a:t>
            </a:r>
            <a:endParaRPr lang="en-AU" sz="4000" dirty="0">
              <a:solidFill>
                <a:srgbClr val="004D95"/>
              </a:solidFill>
            </a:endParaRPr>
          </a:p>
          <a:p>
            <a:endParaRPr lang="en-US" dirty="0"/>
          </a:p>
        </p:txBody>
      </p:sp>
      <p:sp>
        <p:nvSpPr>
          <p:cNvPr id="3" name="Text Placeholder 2">
            <a:extLst>
              <a:ext uri="{FF2B5EF4-FFF2-40B4-BE49-F238E27FC236}">
                <a16:creationId xmlns:a16="http://schemas.microsoft.com/office/drawing/2014/main" id="{A74257F3-47AD-6746-A617-96F238CBDD65}"/>
              </a:ext>
            </a:extLst>
          </p:cNvPr>
          <p:cNvSpPr>
            <a:spLocks noGrp="1"/>
          </p:cNvSpPr>
          <p:nvPr>
            <p:ph type="body" sz="quarter" idx="15"/>
          </p:nvPr>
        </p:nvSpPr>
        <p:spPr/>
        <p:txBody>
          <a:bodyPr>
            <a:normAutofit/>
          </a:bodyPr>
          <a:lstStyle/>
          <a:p>
            <a:r>
              <a:rPr lang="en-AU" sz="2000" dirty="0">
                <a:latin typeface="Avenir Book" panose="02000503020000020003" pitchFamily="2" charset="0"/>
              </a:rPr>
              <a:t>Many of the functions of the hypothalamus are carried out through the pituitary gland. </a:t>
            </a:r>
          </a:p>
          <a:p>
            <a:pPr marL="285750" indent="-285750">
              <a:buFont typeface="Arial" panose="020B0604020202020204" pitchFamily="34" charset="0"/>
              <a:buChar char="•"/>
            </a:pPr>
            <a:r>
              <a:rPr lang="en-AU" sz="2000" dirty="0">
                <a:latin typeface="Avenir Book" panose="02000503020000020003" pitchFamily="2" charset="0"/>
              </a:rPr>
              <a:t>The hypothalamus secretes </a:t>
            </a:r>
            <a:r>
              <a:rPr lang="en-AU" sz="2000" b="1" dirty="0">
                <a:latin typeface="Avenir Book" panose="02000503020000020003" pitchFamily="2" charset="0"/>
              </a:rPr>
              <a:t>releasing factors</a:t>
            </a:r>
            <a:r>
              <a:rPr lang="en-AU" sz="2000" dirty="0">
                <a:latin typeface="Avenir Book" panose="02000503020000020003" pitchFamily="2" charset="0"/>
              </a:rPr>
              <a:t>, which stimulate the secretion of a hormone, or </a:t>
            </a:r>
            <a:r>
              <a:rPr lang="en-AU" sz="2000" b="1" dirty="0">
                <a:latin typeface="Avenir Book" panose="02000503020000020003" pitchFamily="2" charset="0"/>
              </a:rPr>
              <a:t>inhibiting factors</a:t>
            </a:r>
            <a:r>
              <a:rPr lang="en-AU" sz="2000" dirty="0">
                <a:latin typeface="Avenir Book" panose="02000503020000020003" pitchFamily="2" charset="0"/>
              </a:rPr>
              <a:t>, which slow down the secretion of a hormone. These factors travel through blood vessels to the anterior lobe of the pituitary gland, affecting the secretion of its hormones.</a:t>
            </a:r>
          </a:p>
          <a:p>
            <a:pPr marL="285750" indent="-285750">
              <a:buFont typeface="Arial" panose="020B0604020202020204" pitchFamily="34" charset="0"/>
              <a:buChar char="•"/>
            </a:pPr>
            <a:r>
              <a:rPr lang="en-AU" sz="2000" dirty="0">
                <a:latin typeface="Avenir Book" panose="02000503020000020003" pitchFamily="2" charset="0"/>
              </a:rPr>
              <a:t>Other hormones are produced by the hypothalamus and pass along the nerve fibres to the posterior lobe of the pituitary gland where they are then released.</a:t>
            </a:r>
            <a:endParaRPr lang="en-US" sz="20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B53D77C4-79DA-3B4B-B115-08DBEE40C0C2}"/>
              </a:ext>
            </a:extLst>
          </p:cNvPr>
          <p:cNvPicPr>
            <a:picLocks noChangeAspect="1"/>
          </p:cNvPicPr>
          <p:nvPr/>
        </p:nvPicPr>
        <p:blipFill rotWithShape="1">
          <a:blip r:embed="rId2"/>
          <a:srcRect l="18055" t="3467"/>
          <a:stretch/>
        </p:blipFill>
        <p:spPr>
          <a:xfrm>
            <a:off x="5107259" y="3535623"/>
            <a:ext cx="7084741" cy="3322377"/>
          </a:xfrm>
          <a:prstGeom prst="rect">
            <a:avLst/>
          </a:prstGeom>
        </p:spPr>
      </p:pic>
    </p:spTree>
    <p:extLst>
      <p:ext uri="{BB962C8B-B14F-4D97-AF65-F5344CB8AC3E}">
        <p14:creationId xmlns:p14="http://schemas.microsoft.com/office/powerpoint/2010/main" val="686509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352980-D171-4E40-97EB-F9DC26BEB1EF}"/>
              </a:ext>
            </a:extLst>
          </p:cNvPr>
          <p:cNvSpPr>
            <a:spLocks noGrp="1"/>
          </p:cNvSpPr>
          <p:nvPr>
            <p:ph type="body" sz="quarter" idx="13"/>
          </p:nvPr>
        </p:nvSpPr>
        <p:spPr/>
        <p:txBody>
          <a:bodyPr>
            <a:normAutofit/>
          </a:bodyPr>
          <a:lstStyle/>
          <a:p>
            <a:r>
              <a:rPr lang="en-AU" dirty="0"/>
              <a:t>Pituitary Gland</a:t>
            </a:r>
          </a:p>
        </p:txBody>
      </p:sp>
      <p:sp>
        <p:nvSpPr>
          <p:cNvPr id="3" name="Text Placeholder 2">
            <a:extLst>
              <a:ext uri="{FF2B5EF4-FFF2-40B4-BE49-F238E27FC236}">
                <a16:creationId xmlns:a16="http://schemas.microsoft.com/office/drawing/2014/main" id="{758A9076-66AE-3847-B260-8CAED367ECBB}"/>
              </a:ext>
            </a:extLst>
          </p:cNvPr>
          <p:cNvSpPr>
            <a:spLocks noGrp="1"/>
          </p:cNvSpPr>
          <p:nvPr>
            <p:ph type="body" sz="quarter" idx="15"/>
          </p:nvPr>
        </p:nvSpPr>
        <p:spPr>
          <a:xfrm>
            <a:off x="280558" y="1528994"/>
            <a:ext cx="4536769" cy="5066923"/>
          </a:xfrm>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The pituitary gland, or hypophysis, lies just under the hypothalamus and is joined to the hypothalamus by a stalk called the infundibulum.</a:t>
            </a:r>
          </a:p>
          <a:p>
            <a:pPr marL="342900" indent="-342900">
              <a:buFont typeface="Arial" panose="020B0604020202020204" pitchFamily="34" charset="0"/>
              <a:buChar char="•"/>
            </a:pPr>
            <a:r>
              <a:rPr lang="en-AU" sz="2000" dirty="0">
                <a:latin typeface="Avenir Book" panose="02000503020000020003" pitchFamily="2" charset="0"/>
              </a:rPr>
              <a:t>It is not much bigger than a large pea, about 13mm in diameter, but it is absolutely vital to the normal functioning of the body. </a:t>
            </a:r>
            <a:endParaRPr lang="en-US" sz="2000" dirty="0">
              <a:latin typeface="Avenir Book" panose="02000503020000020003" pitchFamily="2" charset="0"/>
            </a:endParaRPr>
          </a:p>
        </p:txBody>
      </p:sp>
      <p:pic>
        <p:nvPicPr>
          <p:cNvPr id="5" name="Picture 4" descr="Diagram&#10;&#10;Description automatically generated">
            <a:extLst>
              <a:ext uri="{FF2B5EF4-FFF2-40B4-BE49-F238E27FC236}">
                <a16:creationId xmlns:a16="http://schemas.microsoft.com/office/drawing/2014/main" id="{D77FA789-5E67-D540-84A5-D5EB849DB14F}"/>
              </a:ext>
            </a:extLst>
          </p:cNvPr>
          <p:cNvPicPr>
            <a:picLocks noChangeAspect="1"/>
          </p:cNvPicPr>
          <p:nvPr/>
        </p:nvPicPr>
        <p:blipFill>
          <a:blip r:embed="rId2"/>
          <a:stretch>
            <a:fillRect/>
          </a:stretch>
        </p:blipFill>
        <p:spPr>
          <a:xfrm>
            <a:off x="5093037" y="635619"/>
            <a:ext cx="7098963" cy="5809785"/>
          </a:xfrm>
          <a:prstGeom prst="rect">
            <a:avLst/>
          </a:prstGeom>
        </p:spPr>
      </p:pic>
    </p:spTree>
    <p:extLst>
      <p:ext uri="{BB962C8B-B14F-4D97-AF65-F5344CB8AC3E}">
        <p14:creationId xmlns:p14="http://schemas.microsoft.com/office/powerpoint/2010/main" val="2322844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BBD6CE-A5FD-5147-A3CF-CF78621F7660}"/>
              </a:ext>
            </a:extLst>
          </p:cNvPr>
          <p:cNvSpPr>
            <a:spLocks noGrp="1"/>
          </p:cNvSpPr>
          <p:nvPr>
            <p:ph type="body" sz="quarter" idx="13"/>
          </p:nvPr>
        </p:nvSpPr>
        <p:spPr/>
        <p:txBody>
          <a:bodyPr/>
          <a:lstStyle/>
          <a:p>
            <a:r>
              <a:rPr lang="en-AU" dirty="0"/>
              <a:t>Pituitary Gland</a:t>
            </a:r>
          </a:p>
          <a:p>
            <a:endParaRPr lang="en-US" dirty="0"/>
          </a:p>
        </p:txBody>
      </p:sp>
      <p:pic>
        <p:nvPicPr>
          <p:cNvPr id="4" name="Picture 3" descr="Diagram&#10;&#10;Description automatically generated">
            <a:extLst>
              <a:ext uri="{FF2B5EF4-FFF2-40B4-BE49-F238E27FC236}">
                <a16:creationId xmlns:a16="http://schemas.microsoft.com/office/drawing/2014/main" id="{789D011C-B7A0-1648-A90F-DE06962C754E}"/>
              </a:ext>
            </a:extLst>
          </p:cNvPr>
          <p:cNvPicPr>
            <a:picLocks noChangeAspect="1"/>
          </p:cNvPicPr>
          <p:nvPr/>
        </p:nvPicPr>
        <p:blipFill>
          <a:blip r:embed="rId2"/>
          <a:stretch>
            <a:fillRect/>
          </a:stretch>
        </p:blipFill>
        <p:spPr>
          <a:xfrm>
            <a:off x="5093037" y="635619"/>
            <a:ext cx="7098963" cy="5809785"/>
          </a:xfrm>
          <a:prstGeom prst="rect">
            <a:avLst/>
          </a:prstGeom>
        </p:spPr>
      </p:pic>
      <p:sp>
        <p:nvSpPr>
          <p:cNvPr id="3" name="Text Placeholder 2">
            <a:extLst>
              <a:ext uri="{FF2B5EF4-FFF2-40B4-BE49-F238E27FC236}">
                <a16:creationId xmlns:a16="http://schemas.microsoft.com/office/drawing/2014/main" id="{ABAA6FD2-75A2-0B44-88F1-408572DC0A79}"/>
              </a:ext>
            </a:extLst>
          </p:cNvPr>
          <p:cNvSpPr>
            <a:spLocks noGrp="1"/>
          </p:cNvSpPr>
          <p:nvPr>
            <p:ph type="body" sz="quarter" idx="15"/>
          </p:nvPr>
        </p:nvSpPr>
        <p:spPr>
          <a:xfrm>
            <a:off x="280558" y="1528994"/>
            <a:ext cx="5440018" cy="5066923"/>
          </a:xfrm>
        </p:spPr>
        <p:txBody>
          <a:bodyPr>
            <a:normAutofit/>
          </a:bodyPr>
          <a:lstStyle/>
          <a:p>
            <a:pPr marL="285750" indent="-285750">
              <a:buFont typeface="Arial" panose="020B0604020202020204" pitchFamily="34" charset="0"/>
              <a:buChar char="•"/>
            </a:pPr>
            <a:r>
              <a:rPr lang="en-AU" sz="2000" dirty="0">
                <a:latin typeface="Avenir Book" panose="02000503020000020003" pitchFamily="2" charset="0"/>
              </a:rPr>
              <a:t>The pituitary gland consists of an anterior lobe and a posterior lobe, each of which functions separately. </a:t>
            </a:r>
          </a:p>
          <a:p>
            <a:pPr marL="285750" indent="-285750">
              <a:buFont typeface="Arial" panose="020B0604020202020204" pitchFamily="34" charset="0"/>
              <a:buChar char="•"/>
            </a:pPr>
            <a:r>
              <a:rPr lang="en-AU" sz="2000" dirty="0">
                <a:latin typeface="Avenir Book" panose="02000503020000020003" pitchFamily="2" charset="0"/>
              </a:rPr>
              <a:t>The anterior (front) lobe has no nerves connecting it to the hypothalamus, rather, they are connected by a complex network of blood vessels lying in the infundibulum. </a:t>
            </a:r>
          </a:p>
          <a:p>
            <a:pPr marL="285750" indent="-285750">
              <a:buFont typeface="Arial" panose="020B0604020202020204" pitchFamily="34" charset="0"/>
              <a:buChar char="•"/>
            </a:pPr>
            <a:r>
              <a:rPr lang="en-AU" sz="2000" dirty="0">
                <a:latin typeface="Avenir Book" panose="02000503020000020003" pitchFamily="2" charset="0"/>
              </a:rPr>
              <a:t>The posterior (rear) lobe is joined to the hypothalamus by nerve fibres that come from nerve cell bodies in the hypothalamus and pass through the infundibulum to the posterior lobe. </a:t>
            </a:r>
          </a:p>
          <a:p>
            <a:pPr marL="285750" indent="-285750">
              <a:buFont typeface="Arial" panose="020B0604020202020204" pitchFamily="34" charset="0"/>
              <a:buChar char="•"/>
            </a:pPr>
            <a:r>
              <a:rPr lang="en-AU" sz="2000" dirty="0">
                <a:latin typeface="Avenir Book" panose="02000503020000020003" pitchFamily="2" charset="0"/>
              </a:rPr>
              <a:t>It is not a true endocrine gland because it does not secrete substances. Instead, it simply stores and releases hormones. </a:t>
            </a:r>
            <a:endParaRPr lang="en-US" sz="2000" dirty="0">
              <a:latin typeface="Avenir Book" panose="02000503020000020003" pitchFamily="2" charset="0"/>
            </a:endParaRPr>
          </a:p>
        </p:txBody>
      </p:sp>
    </p:spTree>
    <p:extLst>
      <p:ext uri="{BB962C8B-B14F-4D97-AF65-F5344CB8AC3E}">
        <p14:creationId xmlns:p14="http://schemas.microsoft.com/office/powerpoint/2010/main" val="4291549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5D33C7-742E-BC4C-8B37-0B23A6F2BEFC}"/>
              </a:ext>
            </a:extLst>
          </p:cNvPr>
          <p:cNvSpPr>
            <a:spLocks noGrp="1"/>
          </p:cNvSpPr>
          <p:nvPr>
            <p:ph type="body" sz="quarter" idx="13"/>
          </p:nvPr>
        </p:nvSpPr>
        <p:spPr/>
        <p:txBody>
          <a:bodyPr/>
          <a:lstStyle/>
          <a:p>
            <a:r>
              <a:rPr lang="en-AU" dirty="0"/>
              <a:t>Anterior lobe of the pituitary gland</a:t>
            </a:r>
            <a:endParaRPr lang="en-US" dirty="0"/>
          </a:p>
        </p:txBody>
      </p:sp>
      <p:sp>
        <p:nvSpPr>
          <p:cNvPr id="3" name="Text Placeholder 2">
            <a:extLst>
              <a:ext uri="{FF2B5EF4-FFF2-40B4-BE49-F238E27FC236}">
                <a16:creationId xmlns:a16="http://schemas.microsoft.com/office/drawing/2014/main" id="{80CD5179-D18D-2D4E-A3E2-9907277F7459}"/>
              </a:ext>
            </a:extLst>
          </p:cNvPr>
          <p:cNvSpPr>
            <a:spLocks noGrp="1"/>
          </p:cNvSpPr>
          <p:nvPr>
            <p:ph type="body" sz="quarter" idx="15"/>
          </p:nvPr>
        </p:nvSpPr>
        <p:spPr>
          <a:xfrm>
            <a:off x="280558" y="1528994"/>
            <a:ext cx="4358349" cy="5066923"/>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The anterior lobe of the pituitary gland (the adenohypophysis) releases a number of hormones that. regulate a great range of bodily activities. </a:t>
            </a:r>
          </a:p>
          <a:p>
            <a:pPr marL="342900" indent="-342900">
              <a:buFont typeface="Arial" panose="020B0604020202020204" pitchFamily="34" charset="0"/>
              <a:buChar char="•"/>
            </a:pPr>
            <a:r>
              <a:rPr lang="en-AU" sz="2400" dirty="0">
                <a:latin typeface="Avenir Book" panose="02000503020000020003" pitchFamily="2" charset="0"/>
              </a:rPr>
              <a:t>Secretions of the anterior lobe are in turn controlled by releasing and inhibiting factors secreted by the hypothalamus.</a:t>
            </a:r>
            <a:endParaRPr lang="en-US" sz="24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07BE4014-ECFA-7E4C-9B12-879199ACCBEF}"/>
              </a:ext>
            </a:extLst>
          </p:cNvPr>
          <p:cNvPicPr>
            <a:picLocks noChangeAspect="1"/>
          </p:cNvPicPr>
          <p:nvPr/>
        </p:nvPicPr>
        <p:blipFill>
          <a:blip r:embed="rId2"/>
          <a:stretch>
            <a:fillRect/>
          </a:stretch>
        </p:blipFill>
        <p:spPr>
          <a:xfrm>
            <a:off x="5093037" y="635619"/>
            <a:ext cx="7098963" cy="5809785"/>
          </a:xfrm>
          <a:prstGeom prst="rect">
            <a:avLst/>
          </a:prstGeom>
        </p:spPr>
      </p:pic>
    </p:spTree>
    <p:extLst>
      <p:ext uri="{BB962C8B-B14F-4D97-AF65-F5344CB8AC3E}">
        <p14:creationId xmlns:p14="http://schemas.microsoft.com/office/powerpoint/2010/main" val="4149243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78FB79-274D-6844-A5E2-1BD2687319FD}"/>
              </a:ext>
            </a:extLst>
          </p:cNvPr>
          <p:cNvSpPr>
            <a:spLocks noGrp="1"/>
          </p:cNvSpPr>
          <p:nvPr>
            <p:ph type="body" sz="quarter" idx="13"/>
          </p:nvPr>
        </p:nvSpPr>
        <p:spPr/>
        <p:txBody>
          <a:bodyPr/>
          <a:lstStyle/>
          <a:p>
            <a:r>
              <a:rPr lang="en-US" dirty="0"/>
              <a:t>Anterior Lobe of the Pituitary gland </a:t>
            </a:r>
          </a:p>
        </p:txBody>
      </p:sp>
      <p:sp>
        <p:nvSpPr>
          <p:cNvPr id="3" name="Text Placeholder 2">
            <a:extLst>
              <a:ext uri="{FF2B5EF4-FFF2-40B4-BE49-F238E27FC236}">
                <a16:creationId xmlns:a16="http://schemas.microsoft.com/office/drawing/2014/main" id="{82E49F25-289F-814B-ABA8-FC4C91C6BBC4}"/>
              </a:ext>
            </a:extLst>
          </p:cNvPr>
          <p:cNvSpPr>
            <a:spLocks noGrp="1"/>
          </p:cNvSpPr>
          <p:nvPr>
            <p:ph type="body" sz="quarter" idx="15"/>
          </p:nvPr>
        </p:nvSpPr>
        <p:spPr>
          <a:xfrm>
            <a:off x="280557" y="1528994"/>
            <a:ext cx="11684701" cy="5239796"/>
          </a:xfrm>
        </p:spPr>
        <p:txBody>
          <a:bodyPr>
            <a:normAutofit fontScale="85000" lnSpcReduction="20000"/>
          </a:bodyPr>
          <a:lstStyle/>
          <a:p>
            <a:r>
              <a:rPr lang="en-AU" sz="2600" dirty="0">
                <a:latin typeface="Avenir Book" panose="02000503020000020003" pitchFamily="2" charset="0"/>
              </a:rPr>
              <a:t>The following hormones are released by the anterior lobe of the pituitary gland:</a:t>
            </a:r>
          </a:p>
          <a:p>
            <a:endParaRPr lang="en-AU" sz="2600" dirty="0">
              <a:latin typeface="Avenir Book" panose="02000503020000020003" pitchFamily="2" charset="0"/>
            </a:endParaRPr>
          </a:p>
          <a:p>
            <a:pPr marL="285750" indent="-285750">
              <a:buFont typeface="Arial" panose="020B0604020202020204" pitchFamily="34" charset="0"/>
              <a:buChar char="•"/>
            </a:pPr>
            <a:r>
              <a:rPr lang="en-AU" sz="2600" b="1" dirty="0">
                <a:latin typeface="Avenir Book" panose="02000503020000020003" pitchFamily="2" charset="0"/>
              </a:rPr>
              <a:t>Gonadotropins </a:t>
            </a:r>
            <a:r>
              <a:rPr lang="en-AU" sz="2600" dirty="0">
                <a:latin typeface="Avenir Book" panose="02000503020000020003" pitchFamily="2" charset="0"/>
              </a:rPr>
              <a:t>are hormones that affect the gonads, the ovaries and testes. </a:t>
            </a:r>
            <a:r>
              <a:rPr lang="en-AU" sz="2600" b="1" dirty="0">
                <a:latin typeface="Avenir Book" panose="02000503020000020003" pitchFamily="2" charset="0"/>
              </a:rPr>
              <a:t>Follicle-stimulating hormone (FSH) </a:t>
            </a:r>
            <a:r>
              <a:rPr lang="en-AU" sz="2600" dirty="0">
                <a:latin typeface="Avenir Book" panose="02000503020000020003" pitchFamily="2" charset="0"/>
              </a:rPr>
              <a:t>stimulates development of the follicles that contain eggs in the ovary of the female. In the male, FSH stimulates the production and maturation of sperm in the testes. Luteinising hormone (LH) works with FSH in the female to bring about ovulation and to form a structure called the corpus luteum after ovulation. In the male, LH stimulates interstitial cells in the testes to secrete male sex hormones.</a:t>
            </a:r>
          </a:p>
          <a:p>
            <a:pPr marL="285750" indent="-285750">
              <a:buFont typeface="Arial" panose="020B0604020202020204" pitchFamily="34" charset="0"/>
              <a:buChar char="•"/>
            </a:pPr>
            <a:r>
              <a:rPr lang="en-AU" sz="2600" b="1" dirty="0">
                <a:latin typeface="Avenir Book" panose="02000503020000020003" pitchFamily="2" charset="0"/>
              </a:rPr>
              <a:t>Growth hormone (GH), </a:t>
            </a:r>
            <a:r>
              <a:rPr lang="en-AU" sz="2600" dirty="0">
                <a:latin typeface="Avenir Book" panose="02000503020000020003" pitchFamily="2" charset="0"/>
              </a:rPr>
              <a:t>or somatotropin, stimulates body growth, particularly growth of the skeleton. It increases the rate at which amino acids are taken up by cells and built into proteins. GH is secreted throughout life as it helps to maintain the size of organs once maturity is reached.</a:t>
            </a:r>
          </a:p>
          <a:p>
            <a:pPr marL="285750" indent="-285750">
              <a:buFont typeface="Arial" panose="020B0604020202020204" pitchFamily="34" charset="0"/>
              <a:buChar char="•"/>
            </a:pPr>
            <a:r>
              <a:rPr lang="en-AU" sz="2600" b="1" dirty="0">
                <a:latin typeface="Avenir Book" panose="02000503020000020003" pitchFamily="2" charset="0"/>
              </a:rPr>
              <a:t>Thyroid-stimulating hormone (TSH), </a:t>
            </a:r>
            <a:r>
              <a:rPr lang="en-AU" sz="2600" dirty="0">
                <a:latin typeface="Avenir Book" panose="02000503020000020003" pitchFamily="2" charset="0"/>
              </a:rPr>
              <a:t>or thyrotropin. stimulates production and release of . hormones from the thyroid gland.</a:t>
            </a:r>
          </a:p>
          <a:p>
            <a:pPr marL="285750" indent="-285750">
              <a:buFont typeface="Arial" panose="020B0604020202020204" pitchFamily="34" charset="0"/>
              <a:buChar char="•"/>
            </a:pPr>
            <a:r>
              <a:rPr lang="en-AU" sz="2600" b="1" dirty="0">
                <a:latin typeface="Avenir Book" panose="02000503020000020003" pitchFamily="2" charset="0"/>
              </a:rPr>
              <a:t>Adrenocorticotropic hormone (ACTH), </a:t>
            </a:r>
            <a:r>
              <a:rPr lang="en-AU" sz="2600" dirty="0">
                <a:latin typeface="Avenir Book" panose="02000503020000020003" pitchFamily="2" charset="0"/>
              </a:rPr>
              <a:t>or adrenocorticotropin, controls production and release of some of the hormones from the cortex of the adrenal glands. </a:t>
            </a:r>
          </a:p>
          <a:p>
            <a:pPr marL="285750" indent="-285750">
              <a:buFont typeface="Arial" panose="020B0604020202020204" pitchFamily="34" charset="0"/>
              <a:buChar char="•"/>
            </a:pPr>
            <a:r>
              <a:rPr lang="en-AU" sz="2600" b="1" dirty="0">
                <a:latin typeface="Avenir Book" panose="02000503020000020003" pitchFamily="2" charset="0"/>
              </a:rPr>
              <a:t>Prolactin (PRL), </a:t>
            </a:r>
            <a:r>
              <a:rPr lang="en-AU" sz="2600" dirty="0">
                <a:latin typeface="Avenir Book" panose="02000503020000020003" pitchFamily="2" charset="0"/>
              </a:rPr>
              <a:t>or lactogenic hormone, works with other hormones to initiate and maintain milk production in females.</a:t>
            </a:r>
          </a:p>
        </p:txBody>
      </p:sp>
    </p:spTree>
    <p:extLst>
      <p:ext uri="{BB962C8B-B14F-4D97-AF65-F5344CB8AC3E}">
        <p14:creationId xmlns:p14="http://schemas.microsoft.com/office/powerpoint/2010/main" val="2329436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F55B45-738A-0D45-AAA2-4FBFA525DAE8}"/>
              </a:ext>
            </a:extLst>
          </p:cNvPr>
          <p:cNvSpPr>
            <a:spLocks noGrp="1"/>
          </p:cNvSpPr>
          <p:nvPr>
            <p:ph type="body" sz="quarter" idx="13"/>
          </p:nvPr>
        </p:nvSpPr>
        <p:spPr/>
        <p:txBody>
          <a:bodyPr/>
          <a:lstStyle/>
          <a:p>
            <a:r>
              <a:rPr lang="en-US" dirty="0"/>
              <a:t>Posterior Lobe of the Pituitary Gland </a:t>
            </a:r>
          </a:p>
        </p:txBody>
      </p:sp>
      <p:pic>
        <p:nvPicPr>
          <p:cNvPr id="4" name="Picture 3" descr="Diagram&#10;&#10;Description automatically generated">
            <a:extLst>
              <a:ext uri="{FF2B5EF4-FFF2-40B4-BE49-F238E27FC236}">
                <a16:creationId xmlns:a16="http://schemas.microsoft.com/office/drawing/2014/main" id="{53834D75-72DE-784E-968F-727BE7503F82}"/>
              </a:ext>
            </a:extLst>
          </p:cNvPr>
          <p:cNvPicPr>
            <a:picLocks noChangeAspect="1"/>
          </p:cNvPicPr>
          <p:nvPr/>
        </p:nvPicPr>
        <p:blipFill>
          <a:blip r:embed="rId2"/>
          <a:stretch>
            <a:fillRect/>
          </a:stretch>
        </p:blipFill>
        <p:spPr>
          <a:xfrm>
            <a:off x="5422698" y="1292459"/>
            <a:ext cx="6769302" cy="5539991"/>
          </a:xfrm>
          <a:prstGeom prst="rect">
            <a:avLst/>
          </a:prstGeom>
        </p:spPr>
      </p:pic>
      <p:sp>
        <p:nvSpPr>
          <p:cNvPr id="3" name="Text Placeholder 2">
            <a:extLst>
              <a:ext uri="{FF2B5EF4-FFF2-40B4-BE49-F238E27FC236}">
                <a16:creationId xmlns:a16="http://schemas.microsoft.com/office/drawing/2014/main" id="{318F2940-070C-E743-AAFD-126B403CC5D6}"/>
              </a:ext>
            </a:extLst>
          </p:cNvPr>
          <p:cNvSpPr>
            <a:spLocks noGrp="1"/>
          </p:cNvSpPr>
          <p:nvPr>
            <p:ph type="body" sz="quarter" idx="15"/>
          </p:nvPr>
        </p:nvSpPr>
        <p:spPr>
          <a:xfrm>
            <a:off x="280557" y="1494264"/>
            <a:ext cx="5562681" cy="5101654"/>
          </a:xfrm>
        </p:spPr>
        <p:txBody>
          <a:bodyPr>
            <a:normAutofit/>
          </a:bodyPr>
          <a:lstStyle/>
          <a:p>
            <a:pPr marL="285750" indent="-285750">
              <a:buFont typeface="Arial" panose="020B0604020202020204" pitchFamily="34" charset="0"/>
              <a:buChar char="•"/>
            </a:pPr>
            <a:r>
              <a:rPr lang="en-AU" sz="2000" dirty="0">
                <a:latin typeface="Avenir Book" panose="02000503020000020003" pitchFamily="2" charset="0"/>
              </a:rPr>
              <a:t>The posterior lobe of the pituitary gland (the neurohypophysis) releases the hormones oxytocin and antidiuretic hormone, but neither is manufactured in the posterior lobe. </a:t>
            </a:r>
          </a:p>
          <a:p>
            <a:pPr marL="285750" indent="-285750">
              <a:buFont typeface="Arial" panose="020B0604020202020204" pitchFamily="34" charset="0"/>
              <a:buChar char="•"/>
            </a:pPr>
            <a:r>
              <a:rPr lang="en-AU" sz="2000" dirty="0">
                <a:latin typeface="Avenir Book" panose="02000503020000020003" pitchFamily="2" charset="0"/>
              </a:rPr>
              <a:t>Both hormones are produced in special nerve cells in the hypothalamus of the brain. These cells have long extensions that pass through the infundibulum to the posterior lobe Hormones manufactured in the cells move down the extensions and are stored ready for release into the bloodstream. </a:t>
            </a:r>
          </a:p>
          <a:p>
            <a:pPr marL="285750" indent="-285750">
              <a:buFont typeface="Arial" panose="020B0604020202020204" pitchFamily="34" charset="0"/>
              <a:buChar char="•"/>
            </a:pPr>
            <a:r>
              <a:rPr lang="en-AU" sz="2000" dirty="0">
                <a:latin typeface="Avenir Book" panose="02000503020000020003" pitchFamily="2" charset="0"/>
              </a:rPr>
              <a:t>The release of the hormones is triggered by nerve impulses initiated in the hypothalamus and conducted along the cell extensions.</a:t>
            </a:r>
          </a:p>
          <a:p>
            <a:endParaRPr lang="en-AU" dirty="0"/>
          </a:p>
          <a:p>
            <a:endParaRPr lang="en-US" dirty="0"/>
          </a:p>
        </p:txBody>
      </p:sp>
    </p:spTree>
    <p:extLst>
      <p:ext uri="{BB962C8B-B14F-4D97-AF65-F5344CB8AC3E}">
        <p14:creationId xmlns:p14="http://schemas.microsoft.com/office/powerpoint/2010/main" val="4039069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F78D4E-3543-8248-BE2C-2F42971AEFDA}"/>
              </a:ext>
            </a:extLst>
          </p:cNvPr>
          <p:cNvSpPr>
            <a:spLocks noGrp="1"/>
          </p:cNvSpPr>
          <p:nvPr>
            <p:ph type="body" sz="quarter" idx="13"/>
          </p:nvPr>
        </p:nvSpPr>
        <p:spPr/>
        <p:txBody>
          <a:bodyPr/>
          <a:lstStyle/>
          <a:p>
            <a:r>
              <a:rPr lang="en-US" dirty="0"/>
              <a:t>Posterior lobe of the Pituitary Gland </a:t>
            </a:r>
          </a:p>
        </p:txBody>
      </p:sp>
      <p:sp>
        <p:nvSpPr>
          <p:cNvPr id="3" name="Text Placeholder 2">
            <a:extLst>
              <a:ext uri="{FF2B5EF4-FFF2-40B4-BE49-F238E27FC236}">
                <a16:creationId xmlns:a16="http://schemas.microsoft.com/office/drawing/2014/main" id="{56854C29-8D44-3242-AB80-6B01E5E76956}"/>
              </a:ext>
            </a:extLst>
          </p:cNvPr>
          <p:cNvSpPr>
            <a:spLocks noGrp="1"/>
          </p:cNvSpPr>
          <p:nvPr>
            <p:ph type="body" sz="quarter" idx="15"/>
          </p:nvPr>
        </p:nvSpPr>
        <p:spPr/>
        <p:txBody>
          <a:bodyPr/>
          <a:lstStyle/>
          <a:p>
            <a:pPr marL="285750" indent="-285750">
              <a:buFont typeface="Arial" panose="020B0604020202020204" pitchFamily="34" charset="0"/>
              <a:buChar char="•"/>
            </a:pPr>
            <a:r>
              <a:rPr lang="en-AU" sz="2000" b="1" dirty="0">
                <a:latin typeface="Avenir Book" panose="02000503020000020003" pitchFamily="2" charset="0"/>
              </a:rPr>
              <a:t>Oxytocin (OT) </a:t>
            </a:r>
            <a:r>
              <a:rPr lang="en-AU" sz="2000" dirty="0">
                <a:latin typeface="Avenir Book" panose="02000503020000020003" pitchFamily="2" charset="0"/>
              </a:rPr>
              <a:t>stimulates contraction of the muscles of the uterus. It is released in large quantities during labour. Oxytocin also stimulates contraction of cells in the mammary glands, resulting in release of milk during breastfeeding.</a:t>
            </a:r>
          </a:p>
          <a:p>
            <a:pPr marL="285750" indent="-285750">
              <a:buFont typeface="Arial" panose="020B0604020202020204" pitchFamily="34" charset="0"/>
              <a:buChar char="•"/>
            </a:pPr>
            <a:br>
              <a:rPr lang="en-AU" sz="2000" dirty="0">
                <a:latin typeface="Avenir Book" panose="02000503020000020003" pitchFamily="2" charset="0"/>
              </a:rPr>
            </a:br>
            <a:r>
              <a:rPr lang="en-AU" sz="2000" b="1" dirty="0">
                <a:latin typeface="Avenir Book" panose="02000503020000020003" pitchFamily="2" charset="0"/>
              </a:rPr>
              <a:t>Antidiuretic hormone (ADH), </a:t>
            </a:r>
            <a:r>
              <a:rPr lang="en-AU" sz="2000" dirty="0">
                <a:latin typeface="Avenir Book" panose="02000503020000020003" pitchFamily="2" charset="0"/>
              </a:rPr>
              <a:t>or </a:t>
            </a:r>
            <a:r>
              <a:rPr lang="en-AU" sz="2000" b="1" dirty="0">
                <a:latin typeface="Avenir Book" panose="02000503020000020003" pitchFamily="2" charset="0"/>
              </a:rPr>
              <a:t>vasopressin</a:t>
            </a:r>
            <a:r>
              <a:rPr lang="en-AU" sz="2000" dirty="0">
                <a:latin typeface="Avenir Book" panose="02000503020000020003" pitchFamily="2" charset="0"/>
              </a:rPr>
              <a:t>, causes the kidneys to remove water from urine that is forming. This water is returned to the bloodstream. In this way. ADH helps to retain fluid within the body. At higher concentrations, ADH can also cause constriction of small arteries, the arterioles. This is why its alternative name is vasopressin.</a:t>
            </a:r>
          </a:p>
          <a:p>
            <a:br>
              <a:rPr lang="en-AU" dirty="0"/>
            </a:br>
            <a:endParaRPr lang="en-US" dirty="0"/>
          </a:p>
        </p:txBody>
      </p:sp>
    </p:spTree>
    <p:extLst>
      <p:ext uri="{BB962C8B-B14F-4D97-AF65-F5344CB8AC3E}">
        <p14:creationId xmlns:p14="http://schemas.microsoft.com/office/powerpoint/2010/main" val="670355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10;&#10;Description automatically generated">
            <a:extLst>
              <a:ext uri="{FF2B5EF4-FFF2-40B4-BE49-F238E27FC236}">
                <a16:creationId xmlns:a16="http://schemas.microsoft.com/office/drawing/2014/main" id="{38AEA556-553A-9D47-B81C-F8E42732E830}"/>
              </a:ext>
            </a:extLst>
          </p:cNvPr>
          <p:cNvPicPr>
            <a:picLocks noChangeAspect="1"/>
          </p:cNvPicPr>
          <p:nvPr/>
        </p:nvPicPr>
        <p:blipFill>
          <a:blip r:embed="rId2"/>
          <a:stretch>
            <a:fillRect/>
          </a:stretch>
        </p:blipFill>
        <p:spPr>
          <a:xfrm>
            <a:off x="0" y="0"/>
            <a:ext cx="10568836" cy="6858000"/>
          </a:xfrm>
          <a:prstGeom prst="rect">
            <a:avLst/>
          </a:prstGeom>
        </p:spPr>
      </p:pic>
    </p:spTree>
    <p:extLst>
      <p:ext uri="{BB962C8B-B14F-4D97-AF65-F5344CB8AC3E}">
        <p14:creationId xmlns:p14="http://schemas.microsoft.com/office/powerpoint/2010/main" val="593704658"/>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1351</TotalTime>
  <Words>1045</Words>
  <Application>Microsoft Macintosh PowerPoint</Application>
  <PresentationFormat>Widescreen</PresentationFormat>
  <Paragraphs>47</Paragraphs>
  <Slides>13</Slides>
  <Notes>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13</vt:i4>
      </vt:variant>
    </vt:vector>
  </HeadingPairs>
  <TitlesOfParts>
    <vt:vector size="26"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3</cp:revision>
  <cp:lastPrinted>2020-06-12T23:59:38Z</cp:lastPrinted>
  <dcterms:created xsi:type="dcterms:W3CDTF">2022-02-02T15:55:26Z</dcterms:created>
  <dcterms:modified xsi:type="dcterms:W3CDTF">2022-02-03T14:27:16Z</dcterms:modified>
</cp:coreProperties>
</file>
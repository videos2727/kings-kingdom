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24"/>
  </p:notesMasterIdLst>
  <p:sldIdLst>
    <p:sldId id="562" r:id="rId6"/>
    <p:sldId id="313" r:id="rId7"/>
    <p:sldId id="275" r:id="rId8"/>
    <p:sldId id="301" r:id="rId9"/>
    <p:sldId id="566" r:id="rId10"/>
    <p:sldId id="555" r:id="rId11"/>
    <p:sldId id="556" r:id="rId12"/>
    <p:sldId id="567" r:id="rId13"/>
    <p:sldId id="568" r:id="rId14"/>
    <p:sldId id="569" r:id="rId15"/>
    <p:sldId id="576" r:id="rId16"/>
    <p:sldId id="570" r:id="rId17"/>
    <p:sldId id="571" r:id="rId18"/>
    <p:sldId id="577" r:id="rId19"/>
    <p:sldId id="572" r:id="rId20"/>
    <p:sldId id="573" r:id="rId21"/>
    <p:sldId id="574" r:id="rId22"/>
    <p:sldId id="5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230"/>
    <p:restoredTop sz="86391"/>
  </p:normalViewPr>
  <p:slideViewPr>
    <p:cSldViewPr snapToGrid="0" snapToObjects="1">
      <p:cViewPr varScale="1">
        <p:scale>
          <a:sx n="112" d="100"/>
          <a:sy n="112" d="100"/>
        </p:scale>
        <p:origin x="200" y="28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30T14:32:52.402"/>
    </inkml:context>
    <inkml:brush xml:id="br0">
      <inkml:brushProperty name="width" value="0.35" units="cm"/>
      <inkml:brushProperty name="height" value="0.35" units="cm"/>
      <inkml:brushProperty name="color" value="#FFFFFF"/>
    </inkml:brush>
  </inkml:definitions>
  <inkml:trace contextRef="#ctx0" brushRef="#br0">8690 351 24575,'-37'4'0,"11"-1"0,-10-7 0,8-6 0,-5-9 0,2 4 0,4-6 0,9 8 0,-2 0 0,12 1 0,-3 5 0,7 31 0,5 3 0,5 24 0,16 20 0,-5-26 0,16 33 0,-6-25 0,0 6 0,4-6 0,-10-9 0,1-15 0,-4-3 0,-2-14 0,-4-1 0,-1-4 0,-4-3 0,0-1 0,-3-24 0,-1 4 0,-3-24 0,-4 2 0,-6-6 0,-6-6 0,-5-6 0,0 4 0,5 1 0,-2 9 0,7 10 0,-1 6 0,3 7 0,5 8 0,-3 4 0,35 22 0,-17-6 0,26 13 0,-21-13 0,0 0 0,0 0 0,-4 0 0,-1-4 0,-4 2 0,1-5 0,-30 2 0,-10-3 0,-45-5 0,-7-8-283,29 6 0,1 0 283,-26-10 0,23 7 0,2 1 0,-18-4 0,25 1 0,-2 0 0,-32-1-155,7-3 155,2 4 0,14 2 0,1-1 0,19 5 0,2-2 561,11 3-561,8 0 160,-1 1-160,14 1 0,-5 2 0,45-16 0,7 8 0,48-11 0,-41 13 0,3 1-492,2-1 0,2 1 456,8 2 0,1 1 36,-3-3 0,-2 0 0,-7 2 0,-1 1-160,1 0 0,-1-1 160,33-6 0,7 8 0,-2-9 0,-15 10 0,-15-4 0,-9 5 0,-19 0 0,-5 0 983,-11 0-927,-5 0 281,-3 0-337,-36 11 0,12-5 0,-30 10 0,15-7 0,-1 0 0,-12 1 0,5-1 0,-10-3 0,-3-2 0,-14-4 0,11 0 0,-31 0 0,22 0 0,-6 0 0,-7 0 0,22 0 0,-18 0 0,7 0 0,7 0 0,1 0 0,13 4 0,-4 2 0,4 3 0,0 5 0,-4 7 0,8 4 0,2-1 0,0 5 0,11-5 0,-1 0 0,8-3 0,9-5 0,1-4 0,3-1 0,4-4 0,1 0 0,26-18 0,12 10 0,31-15 0,9 16 0,15 6-472,2 1 472,-7 5 0,3-1 0,-13 1 0,7-1 0,-14 0 0,-3 0 0,-25-1 0,-3-5 0,-15 2 0,-2-6 472,-8 3-472,-1-1 0,-4-2 0,-37 5 0,2-15 0,-41 0 0,3-18 0,-25 2-492,40 7 0,-1-1 314,-11 2 0,-3-1 178,-4-2 0,-1-2 0,0-2 0,-1-1 0,-5 2 0,4 2 0,22 3 0,1 1-288,-11-2 1,1 1 287,-20-2 0,30 4 0,-1 1 0,-31-9 0,9 6 0,13 3 0,9 5 0,13 0 983,11 5-667,7-2 300,8 6-616,1-3 0,4 4 0,32-3 0,1 2 0,38-2 0,3 3 0,16 0 0,9 5-492,-38 1 0,0 2 416,2 1 1,-1 2 75,41 8-318,-43-7 0,-1 0 318,25 6-67,6 6 67,-17-7 0,-8 3 0,-18-9 983,-8 2-873,-15-1 561,-6-4-671,-3 3 74,-4-4-74,-1 1 0,-3 2 0,-17 3 0,-10 4 0,-24 9 0,-8-4 0,-14 5 0,-10 2-749,-9-3 749,43-11 0,-2 0 0,-4-1 0,1-2 0,-20 6-208,-20 0 208,32-7 0,-13-5 0,9 0 0,2-6 0,17 0 0,-9 0 741,11-5-741,-6-5 216,6-5-216,-4-6 0,10 2 0,0 0 0,3 5 0,13-2 0,-7 6 0,17-1 0,-6 3 0,14 0 0,-5 1 0,35 0 0,7 3 0,38 1 0,13 3 0,-34-1 0,2 2-463,4 1 1,1 2 462,4-1 0,0 1 0,0 2 0,-1 1 0,37 6 0,-43-7 0,-1 0 0,25 6-130,5-1 130,-8 0 0,-26-5 0,-5-1 0,-21-1 0,-6-3 919,-5 2-919,-3-3 136,-44-27-136,7 7 0,-32-19 0,11 9 0,5 9 0,-6-4 0,1 5 0,-1-1 0,0 5 0,0 6 0,0 6 0,6 4 0,-4 0 0,9 0 0,-9 0 0,10 0 0,-5 0 0,1 4 0,-2 2 0,-6 8 0,0 2 0,0 5 0,0-1 0,6-4 0,2-2 0,5-5 0,6 0 0,5-4 0,7-1 0,8-4 0,1 0 0,4 0 0,-7 0 0,1 0 0,-10-4 0,-4-5 0,-6-5 0,-17-12 0,10 6 0,-16-6 0,4 6 0,-7-1 0,-7 3 0,7 3 0,2 4 0,6 1 0,6 0 0,1 5 0,12 0 0,1 1 0,9 3 0,2-2 0,4 3 0,-4 0 0,3 0 0,-3 0 0,4 0 0,4 0 0,1 0 0,4 0 0,38 0 0,-2 0 0,41 0 0,-11 0 0,-6 4 0,10 2 0,-10 4 0,13 1 0,0 0 0,0 0 0,-7-1 0,20 2 0,-16-2 0,6 1 0,-7-5 0,-8-2 0,5-4 0,-7 0 0,-9 0 0,-15 0 0,-2 0 0,-10 0 0,-4 0 0,-1 0 0,-4 0 0,3 0 0,-2 0 0,-56-3 0,8 3 0,-10-2 0,-6 1 0,-29 1-492,32 1 0,-2 3 484,0 5 0,-1 2 8,-8-1 0,-1 2 0,0 7 0,-1 2-492,-4-3 0,0 0 254,0 2 1,0 2 237,-2-1 0,3 0 0,15-5 0,1 1-256,-5 2 0,2 0 256,-29 6 0,-7 10 0,16-11 0,11 3 0,20-12 898,7-1-898,11-5 983,7-1-475,8-1 74,1-2-582,51-2 0,-3-3 0,43 0 0,-7 0 0,2 0 0,15 0 0,-6 0 0,-7 0 0,9 0-699,11 6 699,-1-4 0,-41 1 0,-2 0 0,16-3-121,9 0 121,-9 0 0,6 0 0,-9 0 0,-8 0 0,-19 0 0,-1 0 694,-17-4-694,-4 0 126,-6 0-126,-4-2 0,0 5 0,0-9 0,-3 3 0,0-4 0,-4 1 0,-7-1 0,-2-1 0,-7-4 0,-4 0 0,-3-6 0,-8 3 0,-4-9 0,-23 0 0,9 1 0,-23 0 0,6 5 0,-17-2-784,-9 5 784,43 10 0,-2 0 0,-3 2 0,0 1 0,-2 3 0,1-1 0,-5-2 0,0 0 0,0 3 0,1-1 0,-30-3 0,37 0 0,1 2 0,-19 4 0,-28-10 0,14 9-211,1-8 211,3 9 0,19-9 0,-11 9 0,20-8 0,0 8 0,9-4 776,10 1-776,7 3 219,1-3-219,12 4 0,-3 0 0,9 0 0,35 0 0,-1 0 0,40 0 0,7 0 0,11 0-492,-27 0 0,2 0 334,1 0 0,1 0 158,12 0 0,2 0-492,1 3 0,-1 1 150,2-1 1,-3 2 341,-16 1 0,-1 1-342,9 0 0,-2 0 342,25 4 0,-35-5 0,0 1 0,28 10 0,-23-5 0,-15 2 983,-14-5-826,-13-1 826,-2 0-256,-9-4 74,-3 2-801,-54-5 0,0 2 0,-1-3 0,-5 0-410,6 0 1,-1 0 409,-3 0 0,-2 0 0,-8 0 0,-1 0 0,3-3 0,2 0 0,-38 2 0,25-2 0,4 0 0,3 3 0,-15 0 0,1 0 0,17 0 0,-3 0 0,1 0-9,6 0 9,-36 0 0,34 0 0,-19 0 0,19 0 0,-10 0 0,18 4 0,1 2 819,9-1-819,10 3 9,7-7-9,6 3 0,8-4 0,1 0 0,4 0 0,9-16 0,-3 9 0,7-13 0,-6 13 0,0-3 0,0-2 0,0-3 0,-7-1 0,-12-1 0,-4-5 0,-26-4 0,6 0 0,-21 0 0,-2 4 0,-9-1 0,-15 4-760,-2-4 760,42 19 0,0 0 0,0-5 0,0 1 0,-50 7 0,46-2 0,-1 0 0,5 3 0,-2 0 0,-6 0 0,-1 0 0,8 0 0,0 0 0,-8 0 0,1 0 0,6 0 0,2 0-85,-37 0 85,0 0 0,19 5 0,-14 2 0,0 5 0,7-1 0,2 0 0,0 0 0,12-5 0,-10 4 0,12-4 0,0 1 756,-5 2-756,11-8 89,-4 9-89,6-9 0,0 8 0,-7-8 0,6 8 0,-6-8 0,7 4 0,6-5 0,-4 0 0,10 0 0,-5 0 0,7 0 0,-1 0 0,0 0 0,1 0 0,4 0 0,-3 0 0,9 0 0,-4 0 0,0 0 0,3 0 0,-3 0 0,5-4 0,1 3 0,-1-7 0,4 7 0,-2-7 0,7 7 0,-8-6 0,8 6 0,-3-3 0,4 0 0,0 3 0,4-5 0,-2 5 0,6-2 0,0-1 0,-2 16 0,15-6 0,-6 11 0,12-3 0,-4-2 0,-2 4 0,2 4 0,-2-3 0,3 3 0,0 0 0,0-3 0,1 3 0,-1-4 0,0 0 0,3-4 0,-2 3 0,2-7 0,-6 3 0,1-4 0,-2 0 0,6-3 0,1-1 0,-1-3 0,9 0 0,-1 0 0,8 0 0,5 0 0,1-4 0,12-2 0,-5-3 0,11-1 0,-5 0 0,6-1 0,0 1 0,0 0 0,0 0 0,0-1 0,0 6 0,0-4 0,-6 7 0,-1-2 0,-1 4 0,-3 0 0,9 0 0,-4 0 0,6 0 0,0 0 0,7 0 0,1 0 0,0 0 0,6 0 0,-6 0 0,0 0 0,5 0 0,-5 0 0,1 0 0,-3 0 0,-6 0 0,0 0 0,-6 0 0,5 0 0,-11 0 0,5 0 0,-7 0 0,1 0 0,0 0 0,0 0 0,-1 0 0,1 0 0,0 0 0,6 0 0,-5 0 0,10 0 0,-4 0 0,1 0 0,-3 0 0,-5 0 0,6-5 0,-5 4 0,10-3 0,-9 4 0,9-5 0,-4 4 0,0-4 0,-1 1 0,-6 3 0,-1-3 0,-4 4 0,-6 0 0,-2 0 0,-8 0 0,3 0 0,-8 0 0,3 0 0,-3 0 0,8 0 0,-3 0 0,4 0 0,-6 3 0,1-2 0,0 6 0,0-2 0,-4-1 0,-1 3 0,-4-7 0,0 7 0,-30 2 0,12-3 0,-30 2 0,20-8 0,-5 0 0,0 0 0,0 0 0,0 0 0,-5 0 0,-1-4 0,-12-1 0,5-9 0,-11 3 0,5-8 0,-5 8 0,-8-9 0,6 8 0,-6-3 0,7 4 0,-6 1 0,4-1 0,-4 1 0,6 4 0,0 2 0,0-1 0,0 4 0,6-4 0,-4 5 0,10 0 0,-5 0 0,6 0 0,1 0 0,-1 0 0,0 0 0,1 0 0,-1 0 0,1 0 0,-1 0 0,0 0 0,1 0 0,-1 0 0,0 0 0,1 0 0,4 0 0,-3 0 0,4 0 0,-6 0 0,0 0 0,1 0 0,-1 0 0,0-4 0,6 3 0,1-3 0,5 4 0,0 0 0,0 0 0,0 0 0,1 0 0,-1 0 0,0 0 0,4 0 0,-2 0 0,7 0 0,-4 0 0,10 0 0,0 0 0,4 3 0,3 7 0,0-2 0,4 4 0,0-2 0,0-3 0,0 6 0,0-5 0,0 2 0,-3 0 0,-1-2 0,-7 3 0,6-4 0,-5-3 0,4 0 0,-2-4 0,-5 0 0,6 0 0,-7 0 0,-2 3 0,-11 2 0,0 4 0,-9 0 0,-2 1 0,-2-1 0,-3 1 0,6-1 0,-1 1 0,0-1 0,6 0 0,1-4 0,9-1 0,-2 0 0,7-3 0,-3 3 0,4-4 0,0 0 0,4 0 0,-3 0 0,7 0 0,-2 0 0,37 13 0,-5-1 0,36 13 0,-19-6 0,5 0 0,-1 1 0,2-5 0,1-1 0,-3-4 0,-10-1 0,-7 0 0,-5-1 0,-5-4 0,-4 0 0,3-4 0,-3 0 0,8 0 0,1 0 0,11 0 0,-5 0 0,15 0 0,-13 0 0,13 0 0,-9 0 0,-1 0 0,-5 0 0,-2 0 0,-8 0 0,3 0 0,1-4 0,0-1 0,5 0 0,5-3 0,8 2 0,6-4 0,0 1 0,5 3 0,-11-2 0,4 2 0,-10-3 0,-2 4 0,-5-3 0,-4 7 0,3-7 0,-8 7 0,13-7 0,-8 7 0,15-7 0,-10 3 0,10 0 0,-5 1 0,1 0 0,3 3 0,-9-3 0,10 4 0,-10 0 0,10 0 0,-5 0 0,6 0 0,-1 0 0,7 0 0,1 0 0,0 0 0,-1 0 0,-1 0 0,-9 0 0,9 0 0,-16 4 0,4-3 0,-5 7 0,0-4 0,0 1 0,0 3 0,0-7 0,-4 6 0,3-2 0,-8-1 0,3 4 0,-4-8 0,0 4 0,0-1 0,-1-2 0,1 3 0,0-4 0,0 3 0,0-2 0,-4 3 0,3-4 0,-3 0 0,4 0 0,-4 0 0,2 0 0,-1 0 0,2 0 0,-3 0 0,3 0 0,-3 0 0,4 0 0,0 0 0,-4 0 0,3 0 0,-3 0 0,0 0 0,3-4 0,-3 0 0,4-4 0,0 0 0,-1 0 0,6-1 0,-4 1 0,3 0 0,-4 0 0,0 0 0,4 0 0,-3 0 0,4-1 0,-6 1 0,1 4 0,0-3 0,0 3 0,0-4 0,4 3 0,-3-2 0,8 6 0,-4-6 0,11 2 0,-5 0 0,9 0 0,-8 1 0,8 3 0,-3-7 0,-1 7 0,-1-3 0,-5 4 0,-4 0 0,-2 0 0,-4 0 0,-4 0 0,-1 0 0,-4 0 0,3 0 0,-2 0 0,2 0 0,5 0 0,-7 0 0,11 4 0,-11 0 0,7 3 0,-7 1 0,7-1 0,-3 1 0,0 0 0,3-1 0,-3 4 0,3 2 0,-3-2 0,3 4 0,-6-7 0,2 7 0,-4-7 0,1 3 0,-1-4 0,0-3 0,-3 5 0,-18 0 0,-7-2 0,-24 5 0,0-11 0,-20 8 0,-3-7 0,-22 3-753,-2-5 753,-8 0 0,46 0 0,-1 0 0,4 0 0,0 0 0,-3 0 0,0 0 0,-46 0 0,21 0 0,-15 0 0,24 0 0,-20-5 0,8-2 0,-1-10-227,9 4 227,-7-3 0,14 4 0,-6-4 0,14 4 0,1-3 0,13 9 0,2-3 743,5 4-743,6 0 237,5-3-237,7 7 0,4-2 0,4 3 0,-2 0 0,6 0 0,-5 0 0,-3 0 0,-5 0 0,-10 0 0,-1 4 0,-6 1 0,-12 5 0,3 5 0,-17-4 0,5 9 0,-6-7 0,-1 2 0,7 0 0,-5-3 0,11 3 0,-4-4 0,-1-1 0,6 0 0,0 1 0,9-2 0,5 1 0,6-5 0,0-1 0,11-4 0,1 0 0,8 0 0,1 0 0,42-3 0,-19 2 0,36-2 0,-22 3 0,7 0 0,5 0 0,19 0 0,-2 0 0,26 0 0,1 5-606,10-3 606,-42 3 0,0 1 0,0-3 0,0 1 0,5 2 0,-1 0 0,-3-2 0,0-1 0,4 3 0,-1 0 0,-4-3 0,0 1 0,0 2 0,0 0 0,0-2 0,0-1 0,1 3 0,-2-1 0,30-4 0,7 10 0,-17-10 0,5 9 0,-7-8 0,-10 2 0,-17-4 0,-3 0 606,-15 0-606,-6 0 0,-4 0 0,-5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1/29/22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2</a:t>
            </a:fld>
            <a:endParaRPr lang="en-US"/>
          </a:p>
        </p:txBody>
      </p:sp>
    </p:spTree>
    <p:extLst>
      <p:ext uri="{BB962C8B-B14F-4D97-AF65-F5344CB8AC3E}">
        <p14:creationId xmlns:p14="http://schemas.microsoft.com/office/powerpoint/2010/main" val="374534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3</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6</a:t>
            </a:fld>
            <a:endParaRPr lang="en-AU"/>
          </a:p>
        </p:txBody>
      </p:sp>
    </p:spTree>
    <p:extLst>
      <p:ext uri="{BB962C8B-B14F-4D97-AF65-F5344CB8AC3E}">
        <p14:creationId xmlns:p14="http://schemas.microsoft.com/office/powerpoint/2010/main" val="2198206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7</a:t>
            </a:fld>
            <a:endParaRPr lang="en-AU"/>
          </a:p>
        </p:txBody>
      </p:sp>
    </p:spTree>
    <p:extLst>
      <p:ext uri="{BB962C8B-B14F-4D97-AF65-F5344CB8AC3E}">
        <p14:creationId xmlns:p14="http://schemas.microsoft.com/office/powerpoint/2010/main" val="19147534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1/29/22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1/29/22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1/29/22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1/29/22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1/29/22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1/29/22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1/29/22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1/29/22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1/29/22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1/29/22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1/29/22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1/29/22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1/29/22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1/29/22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4838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heme" Target="../theme/theme5.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1/29/22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3" r:id="rId12"/>
    <p:sldLayoutId id="2147483795" r:id="rId13"/>
    <p:sldLayoutId id="214748380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61.xml"/><Relationship Id="rId5" Type="http://schemas.openxmlformats.org/officeDocument/2006/relationships/image" Target="../media/image7.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7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4B57596-D388-9943-985E-89AF840B89CF}"/>
              </a:ext>
            </a:extLst>
          </p:cNvPr>
          <p:cNvSpPr/>
          <p:nvPr/>
        </p:nvSpPr>
        <p:spPr>
          <a:xfrm>
            <a:off x="5760714" y="5518739"/>
            <a:ext cx="670568" cy="369332"/>
          </a:xfrm>
          <a:prstGeom prst="rect">
            <a:avLst/>
          </a:prstGeom>
        </p:spPr>
        <p:txBody>
          <a:bodyPr wrap="none">
            <a:spAutoFit/>
          </a:bodyPr>
          <a:lstStyle/>
          <a:p>
            <a:r>
              <a:rPr lang="en-US" b="1" dirty="0">
                <a:solidFill>
                  <a:srgbClr val="002060"/>
                </a:solidFill>
                <a:latin typeface="Arial Rounded MT Bold" panose="020F0704030504030204" pitchFamily="34" charset="77"/>
              </a:rPr>
              <a:t>Title</a:t>
            </a:r>
            <a:endParaRPr lang="en-US" dirty="0"/>
          </a:p>
        </p:txBody>
      </p:sp>
      <p:sp>
        <p:nvSpPr>
          <p:cNvPr id="7" name="Rectangle 6">
            <a:extLst>
              <a:ext uri="{FF2B5EF4-FFF2-40B4-BE49-F238E27FC236}">
                <a16:creationId xmlns:a16="http://schemas.microsoft.com/office/drawing/2014/main" id="{39A1EFCC-C5A4-884E-9BF8-46C5C5FD587D}"/>
              </a:ext>
            </a:extLst>
          </p:cNvPr>
          <p:cNvSpPr/>
          <p:nvPr/>
        </p:nvSpPr>
        <p:spPr>
          <a:xfrm>
            <a:off x="5503272" y="4844534"/>
            <a:ext cx="1185453" cy="369332"/>
          </a:xfrm>
          <a:prstGeom prst="rect">
            <a:avLst/>
          </a:prstGeom>
        </p:spPr>
        <p:txBody>
          <a:bodyPr wrap="none">
            <a:spAutoFit/>
          </a:bodyPr>
          <a:lstStyle/>
          <a:p>
            <a:r>
              <a:rPr lang="en-US" dirty="0">
                <a:latin typeface="Arial Rounded MT Bold" panose="020F0704030504030204" pitchFamily="34" charset="77"/>
              </a:rPr>
              <a:t>Mr. Yates</a:t>
            </a:r>
          </a:p>
        </p:txBody>
      </p:sp>
      <p:pic>
        <p:nvPicPr>
          <p:cNvPr id="6146" name="Picture 2" descr="Cartoon endocrine Images, Stock Photos &amp;amp; Vectors | Shutterstock">
            <a:extLst>
              <a:ext uri="{FF2B5EF4-FFF2-40B4-BE49-F238E27FC236}">
                <a16:creationId xmlns:a16="http://schemas.microsoft.com/office/drawing/2014/main" id="{5919F6C2-0082-1940-983C-9FEF2B372D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06" y="215828"/>
            <a:ext cx="11857382" cy="582467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3BD1640-8EF7-9544-985A-5CB2691DF17C}"/>
              </a:ext>
            </a:extLst>
          </p:cNvPr>
          <p:cNvPicPr/>
          <p:nvPr/>
        </p:nvPicPr>
        <p:blipFill>
          <a:blip r:embed="rId3">
            <a:alphaModFix/>
            <a:extLst>
              <a:ext uri="{28A0092B-C50C-407E-A947-70E740481C1C}">
                <a14:useLocalDpi xmlns:a14="http://schemas.microsoft.com/office/drawing/2010/main" val="0"/>
              </a:ext>
            </a:extLst>
          </a:blip>
          <a:stretch>
            <a:fillRect/>
          </a:stretch>
        </p:blipFill>
        <p:spPr bwMode="auto">
          <a:xfrm>
            <a:off x="10525538" y="352364"/>
            <a:ext cx="1331711" cy="1511683"/>
          </a:xfrm>
          <a:prstGeom prst="rect">
            <a:avLst/>
          </a:prstGeom>
          <a:noFill/>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0943B6D-7DD3-B34D-9CCF-8AEECF57886C}"/>
                  </a:ext>
                </a:extLst>
              </p14:cNvPr>
              <p14:cNvContentPartPr/>
              <p14:nvPr/>
            </p14:nvContentPartPr>
            <p14:xfrm>
              <a:off x="4532682" y="5743659"/>
              <a:ext cx="3206520" cy="303120"/>
            </p14:xfrm>
          </p:contentPart>
        </mc:Choice>
        <mc:Fallback>
          <p:pic>
            <p:nvPicPr>
              <p:cNvPr id="2" name="Ink 1">
                <a:extLst>
                  <a:ext uri="{FF2B5EF4-FFF2-40B4-BE49-F238E27FC236}">
                    <a16:creationId xmlns:a16="http://schemas.microsoft.com/office/drawing/2014/main" id="{E0943B6D-7DD3-B34D-9CCF-8AEECF57886C}"/>
                  </a:ext>
                </a:extLst>
              </p:cNvPr>
              <p:cNvPicPr/>
              <p:nvPr/>
            </p:nvPicPr>
            <p:blipFill>
              <a:blip r:embed="rId5"/>
              <a:stretch>
                <a:fillRect/>
              </a:stretch>
            </p:blipFill>
            <p:spPr>
              <a:xfrm>
                <a:off x="4469682" y="5681019"/>
                <a:ext cx="3332160" cy="428760"/>
              </a:xfrm>
              <a:prstGeom prst="rect">
                <a:avLst/>
              </a:prstGeom>
            </p:spPr>
          </p:pic>
        </mc:Fallback>
      </mc:AlternateContent>
      <p:sp>
        <p:nvSpPr>
          <p:cNvPr id="8" name="Rectangle 7">
            <a:extLst>
              <a:ext uri="{FF2B5EF4-FFF2-40B4-BE49-F238E27FC236}">
                <a16:creationId xmlns:a16="http://schemas.microsoft.com/office/drawing/2014/main" id="{C04A2CF1-BEDA-9142-9D3B-5582B8046AAE}"/>
              </a:ext>
            </a:extLst>
          </p:cNvPr>
          <p:cNvSpPr/>
          <p:nvPr/>
        </p:nvSpPr>
        <p:spPr>
          <a:xfrm>
            <a:off x="4708381" y="6337690"/>
            <a:ext cx="2774990" cy="369332"/>
          </a:xfrm>
          <a:prstGeom prst="rect">
            <a:avLst/>
          </a:prstGeom>
        </p:spPr>
        <p:txBody>
          <a:bodyPr wrap="none">
            <a:spAutoFit/>
          </a:bodyPr>
          <a:lstStyle/>
          <a:p>
            <a:r>
              <a:rPr lang="en-US" dirty="0">
                <a:solidFill>
                  <a:srgbClr val="00C0B4"/>
                </a:solidFill>
                <a:latin typeface="Arial Rounded MT Bold" panose="020F0704030504030204" pitchFamily="34" charset="77"/>
              </a:rPr>
              <a:t>Year 12 Human Biology</a:t>
            </a:r>
            <a:endParaRPr lang="en-US" dirty="0"/>
          </a:p>
        </p:txBody>
      </p:sp>
      <p:sp>
        <p:nvSpPr>
          <p:cNvPr id="4" name="Rectangle 3">
            <a:extLst>
              <a:ext uri="{FF2B5EF4-FFF2-40B4-BE49-F238E27FC236}">
                <a16:creationId xmlns:a16="http://schemas.microsoft.com/office/drawing/2014/main" id="{A60D4650-DFC0-894C-A02B-4614C16E5F72}"/>
              </a:ext>
            </a:extLst>
          </p:cNvPr>
          <p:cNvSpPr/>
          <p:nvPr/>
        </p:nvSpPr>
        <p:spPr>
          <a:xfrm>
            <a:off x="5220219" y="5779623"/>
            <a:ext cx="1751313" cy="369332"/>
          </a:xfrm>
          <a:prstGeom prst="rect">
            <a:avLst/>
          </a:prstGeom>
        </p:spPr>
        <p:txBody>
          <a:bodyPr wrap="none">
            <a:spAutoFit/>
          </a:bodyPr>
          <a:lstStyle/>
          <a:p>
            <a:r>
              <a:rPr lang="en-US" dirty="0" err="1">
                <a:solidFill>
                  <a:srgbClr val="00C0B4"/>
                </a:solidFill>
                <a:latin typeface="Arial Rounded MT Bold" panose="020F0704030504030204" pitchFamily="34" charset="77"/>
              </a:rPr>
              <a:t>Mr</a:t>
            </a:r>
            <a:r>
              <a:rPr lang="en-US" dirty="0">
                <a:solidFill>
                  <a:srgbClr val="00C0B4"/>
                </a:solidFill>
                <a:latin typeface="Arial Rounded MT Bold" panose="020F0704030504030204" pitchFamily="34" charset="77"/>
              </a:rPr>
              <a:t> Yates 2022</a:t>
            </a:r>
            <a:endParaRPr lang="en-US" dirty="0"/>
          </a:p>
        </p:txBody>
      </p:sp>
    </p:spTree>
    <p:extLst>
      <p:ext uri="{BB962C8B-B14F-4D97-AF65-F5344CB8AC3E}">
        <p14:creationId xmlns:p14="http://schemas.microsoft.com/office/powerpoint/2010/main" val="362828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75465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algn="l"/>
            <a:endParaRPr lang="en-AU" sz="3000" dirty="0"/>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endParaRPr lang="en-AU" sz="3000" dirty="0">
              <a:solidFill>
                <a:srgbClr val="C00000"/>
              </a:solidFill>
            </a:endParaRPr>
          </a:p>
          <a:p>
            <a:pPr algn="l"/>
            <a:endParaRPr lang="en-AU" dirty="0"/>
          </a:p>
        </p:txBody>
      </p:sp>
    </p:spTree>
    <p:extLst>
      <p:ext uri="{BB962C8B-B14F-4D97-AF65-F5344CB8AC3E}">
        <p14:creationId xmlns:p14="http://schemas.microsoft.com/office/powerpoint/2010/main" val="3376853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Hormones help control the body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0" y="1560443"/>
            <a:ext cx="11045237" cy="5249198"/>
          </a:xfrm>
        </p:spPr>
        <p:txBody>
          <a:bodyPr>
            <a:normAutofit/>
          </a:bodyPr>
          <a:lstStyle/>
          <a:p>
            <a:r>
              <a:rPr lang="en-AU" sz="2400" dirty="0">
                <a:latin typeface="Avenir Book" panose="02000503020000020003" pitchFamily="2" charset="0"/>
              </a:rPr>
              <a:t>The body is composed of trillions of cells that are organised into tissues, organs and systems. All these structures must work together in a coordinated way. This coordination is achieved through the activities of the nervous system and the endocrine system. </a:t>
            </a:r>
          </a:p>
          <a:p>
            <a:pPr marL="342900" indent="-342900">
              <a:buFont typeface="Arial" panose="020B0604020202020204" pitchFamily="34" charset="0"/>
              <a:buChar char="•"/>
            </a:pPr>
            <a:r>
              <a:rPr lang="en-AU" sz="2400" dirty="0">
                <a:latin typeface="Avenir Book" panose="02000503020000020003" pitchFamily="2" charset="0"/>
              </a:rPr>
              <a:t>The nervous system exerts control by the transmission of nerve impulses to and from the various tissues.</a:t>
            </a:r>
          </a:p>
          <a:p>
            <a:pPr marL="342900" indent="-342900">
              <a:buFont typeface="Arial" panose="020B0604020202020204" pitchFamily="34" charset="0"/>
              <a:buChar char="•"/>
            </a:pPr>
            <a:r>
              <a:rPr lang="en-AU" sz="2400" dirty="0">
                <a:latin typeface="Avenir Book" panose="02000503020000020003" pitchFamily="2" charset="0"/>
              </a:rPr>
              <a:t>The endocrine system influences the activity of cells by the release of chemical messengers known as hormones. </a:t>
            </a:r>
          </a:p>
          <a:p>
            <a:endParaRPr lang="en-AU" dirty="0"/>
          </a:p>
        </p:txBody>
      </p:sp>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8FA653-D33A-0A4C-B05B-1A6C17EB9E60}"/>
              </a:ext>
            </a:extLst>
          </p:cNvPr>
          <p:cNvSpPr>
            <a:spLocks noGrp="1"/>
          </p:cNvSpPr>
          <p:nvPr>
            <p:ph type="body" sz="quarter" idx="13"/>
          </p:nvPr>
        </p:nvSpPr>
        <p:spPr/>
        <p:txBody>
          <a:bodyPr/>
          <a:lstStyle/>
          <a:p>
            <a:r>
              <a:rPr lang="en-AU" dirty="0"/>
              <a:t>Hormones help control the body </a:t>
            </a:r>
          </a:p>
          <a:p>
            <a:endParaRPr lang="en-US" dirty="0"/>
          </a:p>
        </p:txBody>
      </p:sp>
      <p:sp>
        <p:nvSpPr>
          <p:cNvPr id="3" name="Text Placeholder 2">
            <a:extLst>
              <a:ext uri="{FF2B5EF4-FFF2-40B4-BE49-F238E27FC236}">
                <a16:creationId xmlns:a16="http://schemas.microsoft.com/office/drawing/2014/main" id="{9A057448-49EA-4444-B2E8-B80AA6755056}"/>
              </a:ext>
            </a:extLst>
          </p:cNvPr>
          <p:cNvSpPr>
            <a:spLocks noGrp="1"/>
          </p:cNvSpPr>
          <p:nvPr>
            <p:ph type="body" sz="quarter" idx="15"/>
          </p:nvPr>
        </p:nvSpPr>
        <p:spPr/>
        <p:txBody>
          <a:bodyPr>
            <a:normAutofit/>
          </a:bodyPr>
          <a:lstStyle/>
          <a:p>
            <a:pPr marL="342900" indent="-342900">
              <a:buFont typeface="Arial" panose="020B0604020202020204" pitchFamily="34" charset="0"/>
              <a:buChar char="•"/>
            </a:pPr>
            <a:r>
              <a:rPr lang="en-AU" sz="2000" dirty="0">
                <a:latin typeface="Avenir Book" panose="02000503020000020003" pitchFamily="2" charset="0"/>
              </a:rPr>
              <a:t>Much of the work of the endocrine system is concerned with keeping the environment inside the body fairly constant. </a:t>
            </a:r>
          </a:p>
          <a:p>
            <a:pPr marL="342900" indent="-342900">
              <a:buFont typeface="Arial" panose="020B0604020202020204" pitchFamily="34" charset="0"/>
              <a:buChar char="•"/>
            </a:pPr>
            <a:r>
              <a:rPr lang="en-AU" sz="2000" dirty="0">
                <a:latin typeface="Avenir Book" panose="02000503020000020003" pitchFamily="2" charset="0"/>
              </a:rPr>
              <a:t>Maintaining a stable internal environment is known as homeostasis. In this chapter, we will discuss how the endocrine system maintains homeostasis and controls cellular activities through chemical messengers.</a:t>
            </a:r>
            <a:endParaRPr lang="en-US" sz="2000" dirty="0">
              <a:latin typeface="Avenir Book" panose="02000503020000020003" pitchFamily="2" charset="0"/>
            </a:endParaRPr>
          </a:p>
        </p:txBody>
      </p:sp>
      <p:pic>
        <p:nvPicPr>
          <p:cNvPr id="2052" name="Picture 4" descr="Homeostasis - Definition and Examples - Biology Online Dictionary">
            <a:extLst>
              <a:ext uri="{FF2B5EF4-FFF2-40B4-BE49-F238E27FC236}">
                <a16:creationId xmlns:a16="http://schemas.microsoft.com/office/drawing/2014/main" id="{502092DF-B9C5-E34C-B2FE-9918671928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5266" y="3114261"/>
            <a:ext cx="6217243" cy="3481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961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280557" y="805337"/>
            <a:ext cx="4460408" cy="725289"/>
          </a:xfrm>
        </p:spPr>
        <p:txBody>
          <a:bodyPr>
            <a:noAutofit/>
          </a:bodyPr>
          <a:lstStyle/>
          <a:p>
            <a:r>
              <a:rPr lang="en-AU" sz="3200" dirty="0">
                <a:solidFill>
                  <a:srgbClr val="004D95"/>
                </a:solidFill>
              </a:rPr>
              <a:t>The Endocrine System </a:t>
            </a:r>
          </a:p>
        </p:txBody>
      </p:sp>
      <p:pic>
        <p:nvPicPr>
          <p:cNvPr id="5" name="Picture 4" descr="Diagram&#10;&#10;Description automatically generated">
            <a:extLst>
              <a:ext uri="{FF2B5EF4-FFF2-40B4-BE49-F238E27FC236}">
                <a16:creationId xmlns:a16="http://schemas.microsoft.com/office/drawing/2014/main" id="{E5AE6931-C143-B74E-9E5C-3A150471D243}"/>
              </a:ext>
            </a:extLst>
          </p:cNvPr>
          <p:cNvPicPr>
            <a:picLocks noChangeAspect="1"/>
          </p:cNvPicPr>
          <p:nvPr/>
        </p:nvPicPr>
        <p:blipFill>
          <a:blip r:embed="rId3"/>
          <a:stretch>
            <a:fillRect/>
          </a:stretch>
        </p:blipFill>
        <p:spPr>
          <a:xfrm>
            <a:off x="4451405" y="0"/>
            <a:ext cx="7740595" cy="6858000"/>
          </a:xfrm>
          <a:prstGeom prst="rect">
            <a:avLst/>
          </a:prstGeom>
        </p:spPr>
      </p:pic>
      <p:sp>
        <p:nvSpPr>
          <p:cNvPr id="6" name="TextBox 5">
            <a:extLst>
              <a:ext uri="{FF2B5EF4-FFF2-40B4-BE49-F238E27FC236}">
                <a16:creationId xmlns:a16="http://schemas.microsoft.com/office/drawing/2014/main" id="{BB4DA34C-14AC-044D-8CF8-93DC89550C59}"/>
              </a:ext>
            </a:extLst>
          </p:cNvPr>
          <p:cNvSpPr txBox="1"/>
          <p:nvPr/>
        </p:nvSpPr>
        <p:spPr>
          <a:xfrm>
            <a:off x="280558" y="1988646"/>
            <a:ext cx="4788400" cy="1015663"/>
          </a:xfrm>
          <a:prstGeom prst="rect">
            <a:avLst/>
          </a:prstGeom>
          <a:noFill/>
        </p:spPr>
        <p:txBody>
          <a:bodyPr wrap="square" rtlCol="0">
            <a:spAutoFit/>
          </a:bodyPr>
          <a:lstStyle/>
          <a:p>
            <a:r>
              <a:rPr lang="en-US" sz="2000" dirty="0">
                <a:latin typeface="Avenir Book" panose="02000503020000020003" pitchFamily="2" charset="0"/>
              </a:rPr>
              <a:t>The endocrine system is made up of endocrine glands, which secrete hormones. </a:t>
            </a:r>
          </a:p>
        </p:txBody>
      </p:sp>
    </p:spTree>
    <p:extLst>
      <p:ext uri="{BB962C8B-B14F-4D97-AF65-F5344CB8AC3E}">
        <p14:creationId xmlns:p14="http://schemas.microsoft.com/office/powerpoint/2010/main" val="2771123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The Endocrine System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63822" y="1538832"/>
            <a:ext cx="6732717" cy="4756305"/>
          </a:xfrm>
        </p:spPr>
        <p:txBody>
          <a:bodyPr>
            <a:normAutofit/>
          </a:bodyPr>
          <a:lstStyle/>
          <a:p>
            <a:r>
              <a:rPr lang="en-AU" sz="2000" dirty="0">
                <a:latin typeface="Avenir Book" panose="02000503020000020003" pitchFamily="2" charset="0"/>
              </a:rPr>
              <a:t>There are two types of glands in the body.</a:t>
            </a:r>
          </a:p>
          <a:p>
            <a:endParaRPr lang="en-AU" sz="2000" dirty="0">
              <a:latin typeface="Avenir Book" panose="02000503020000020003" pitchFamily="2" charset="0"/>
            </a:endParaRPr>
          </a:p>
          <a:p>
            <a:r>
              <a:rPr lang="en-AU" sz="2000" b="1" dirty="0">
                <a:latin typeface="Avenir Book" panose="02000503020000020003" pitchFamily="2" charset="0"/>
              </a:rPr>
              <a:t>Exocrine glands </a:t>
            </a:r>
            <a:r>
              <a:rPr lang="en-AU" sz="2000" dirty="0">
                <a:latin typeface="Avenir Book" panose="02000503020000020003" pitchFamily="2" charset="0"/>
              </a:rPr>
              <a:t>secrete into a duct that carries the secretion to the body surface or to one of the body cavities Sweat glands, mucous glands, salivary glands and the glands of the alimentary canal are examples of exocrine glands.</a:t>
            </a:r>
          </a:p>
          <a:p>
            <a:br>
              <a:rPr lang="en-AU" sz="2000" dirty="0">
                <a:latin typeface="Avenir Book" panose="02000503020000020003" pitchFamily="2" charset="0"/>
              </a:rPr>
            </a:br>
            <a:endParaRPr lang="en-AU" sz="2000" dirty="0">
              <a:latin typeface="Avenir Book" panose="02000503020000020003" pitchFamily="2" charset="0"/>
            </a:endParaRPr>
          </a:p>
          <a:p>
            <a:r>
              <a:rPr lang="en-AU" sz="2000" b="1" dirty="0">
                <a:latin typeface="Avenir Book" panose="02000503020000020003" pitchFamily="2" charset="0"/>
              </a:rPr>
              <a:t>Endocrine glands </a:t>
            </a:r>
            <a:r>
              <a:rPr lang="en-AU" sz="2000" dirty="0">
                <a:latin typeface="Avenir Book" panose="02000503020000020003" pitchFamily="2" charset="0"/>
              </a:rPr>
              <a:t>secrete hormones into the extracellular fluid that surrounds the cells that make up the gland. The secretion then usually passes into the capillaries to be transported by the blood. Endocrine glands are sometimes called ductless glands.</a:t>
            </a:r>
          </a:p>
          <a:p>
            <a:endParaRPr lang="en-AU" sz="2000" dirty="0"/>
          </a:p>
          <a:p>
            <a:endParaRPr lang="en-AU" dirty="0"/>
          </a:p>
        </p:txBody>
      </p:sp>
      <p:pic>
        <p:nvPicPr>
          <p:cNvPr id="1026" name="Picture 2" descr="Is the parathyroid an endocrine gland? Are sweat glands endocrine glands? |  Socratic">
            <a:extLst>
              <a:ext uri="{FF2B5EF4-FFF2-40B4-BE49-F238E27FC236}">
                <a16:creationId xmlns:a16="http://schemas.microsoft.com/office/drawing/2014/main" id="{0EBB9B09-41B5-5E42-98C9-8EDD706FD5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00" y="4622800"/>
            <a:ext cx="5080000" cy="2235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xocrine vs Endocrine: What is the difference between endocrine and  exocrine? - You Ask We Answer">
            <a:extLst>
              <a:ext uri="{FF2B5EF4-FFF2-40B4-BE49-F238E27FC236}">
                <a16:creationId xmlns:a16="http://schemas.microsoft.com/office/drawing/2014/main" id="{C39B6235-39B2-9742-9DF3-B037AA999C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2236" y="323517"/>
            <a:ext cx="5089764" cy="3759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42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3AF8D4-4464-9E44-B5B1-BB8A164C92F4}"/>
              </a:ext>
            </a:extLst>
          </p:cNvPr>
          <p:cNvSpPr>
            <a:spLocks noGrp="1"/>
          </p:cNvSpPr>
          <p:nvPr>
            <p:ph type="body" sz="quarter" idx="13"/>
          </p:nvPr>
        </p:nvSpPr>
        <p:spPr/>
        <p:txBody>
          <a:bodyPr/>
          <a:lstStyle/>
          <a:p>
            <a:r>
              <a:rPr lang="en-US" dirty="0"/>
              <a:t>Hormones </a:t>
            </a:r>
          </a:p>
        </p:txBody>
      </p:sp>
      <p:sp>
        <p:nvSpPr>
          <p:cNvPr id="3" name="Text Placeholder 2">
            <a:extLst>
              <a:ext uri="{FF2B5EF4-FFF2-40B4-BE49-F238E27FC236}">
                <a16:creationId xmlns:a16="http://schemas.microsoft.com/office/drawing/2014/main" id="{37C1FDCB-0E47-244C-9D5A-C47512B8C514}"/>
              </a:ext>
            </a:extLst>
          </p:cNvPr>
          <p:cNvSpPr>
            <a:spLocks noGrp="1"/>
          </p:cNvSpPr>
          <p:nvPr>
            <p:ph type="body" sz="quarter" idx="15"/>
          </p:nvPr>
        </p:nvSpPr>
        <p:spPr>
          <a:xfrm>
            <a:off x="280557" y="1152940"/>
            <a:ext cx="8893259" cy="5442978"/>
          </a:xfrm>
        </p:spPr>
        <p:txBody>
          <a:bodyPr>
            <a:normAutofit/>
          </a:bodyPr>
          <a:lstStyle/>
          <a:p>
            <a:r>
              <a:rPr lang="en-AU" sz="2000" dirty="0">
                <a:latin typeface="Avenir Book" panose="02000503020000020003" pitchFamily="2" charset="0"/>
              </a:rPr>
              <a:t>Hormones are chemicals secreted by endocrine glands, that are transported throughout the body in the blood. They change the functioning of cells by changing the type, activities or quantities of proteins produced. They are not enzymes; however, in many cases, hormones exert their influence by changing the activity of enzymes or their concentration.</a:t>
            </a:r>
          </a:p>
          <a:p>
            <a:endParaRPr lang="en-AU" sz="2000" dirty="0">
              <a:latin typeface="Avenir Book" panose="02000503020000020003" pitchFamily="2" charset="0"/>
            </a:endParaRPr>
          </a:p>
          <a:p>
            <a:r>
              <a:rPr lang="en-AU" sz="2000" dirty="0">
                <a:latin typeface="Avenir Book" panose="02000503020000020003" pitchFamily="2" charset="0"/>
              </a:rPr>
              <a:t>Hormones may:</a:t>
            </a:r>
          </a:p>
          <a:p>
            <a:pPr marL="285750" indent="-285750">
              <a:buFont typeface="Arial" panose="020B0604020202020204" pitchFamily="34" charset="0"/>
              <a:buChar char="•"/>
            </a:pPr>
            <a:r>
              <a:rPr lang="en-AU" sz="2000" dirty="0">
                <a:latin typeface="Avenir Book" panose="02000503020000020003" pitchFamily="2" charset="0"/>
              </a:rPr>
              <a:t>Activate certain genes in the nucleus so that a particular enzyme or structural protein is produced. </a:t>
            </a:r>
          </a:p>
          <a:p>
            <a:pPr marL="285750" indent="-285750">
              <a:buFont typeface="Arial" panose="020B0604020202020204" pitchFamily="34" charset="0"/>
              <a:buChar char="•"/>
            </a:pPr>
            <a:r>
              <a:rPr lang="en-AU" sz="2000" dirty="0">
                <a:latin typeface="Avenir Book" panose="02000503020000020003" pitchFamily="2" charset="0"/>
              </a:rPr>
              <a:t>Change the shape or structure of an enzyme so that it is turned “on” or “off”. </a:t>
            </a:r>
          </a:p>
          <a:p>
            <a:pPr marL="285750" indent="-285750">
              <a:buFont typeface="Arial" panose="020B0604020202020204" pitchFamily="34" charset="0"/>
              <a:buChar char="•"/>
            </a:pPr>
            <a:r>
              <a:rPr lang="en-AU" sz="2000" dirty="0">
                <a:latin typeface="Avenir Book" panose="02000503020000020003" pitchFamily="2" charset="0"/>
              </a:rPr>
              <a:t>Change the rate of production of an enzyme or structural protein by changing the rate of transcription or translation during protein production.</a:t>
            </a:r>
          </a:p>
          <a:p>
            <a:br>
              <a:rPr lang="en-AU" sz="2000" dirty="0">
                <a:latin typeface="Avenir Book" panose="02000503020000020003" pitchFamily="2" charset="0"/>
              </a:rPr>
            </a:br>
            <a:r>
              <a:rPr lang="en-AU" sz="2000" dirty="0">
                <a:latin typeface="Avenir Book" panose="02000503020000020003" pitchFamily="2" charset="0"/>
              </a:rPr>
              <a:t>Hormones are only able to influence cells that have the correct receptor for the hormone.</a:t>
            </a:r>
          </a:p>
          <a:p>
            <a:endParaRPr lang="en-US" dirty="0"/>
          </a:p>
        </p:txBody>
      </p:sp>
      <p:pic>
        <p:nvPicPr>
          <p:cNvPr id="3074" name="Picture 2" descr="hormone | Definition, Function, &amp;amp; Types | Britannica">
            <a:extLst>
              <a:ext uri="{FF2B5EF4-FFF2-40B4-BE49-F238E27FC236}">
                <a16:creationId xmlns:a16="http://schemas.microsoft.com/office/drawing/2014/main" id="{A41B9646-CF46-964C-8405-D43DF89F15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2426" y="2150517"/>
            <a:ext cx="3810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411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91633B-EFDE-7048-A62E-1AAC939C82DF}"/>
              </a:ext>
            </a:extLst>
          </p:cNvPr>
          <p:cNvSpPr>
            <a:spLocks noGrp="1"/>
          </p:cNvSpPr>
          <p:nvPr>
            <p:ph type="body" sz="quarter" idx="13"/>
          </p:nvPr>
        </p:nvSpPr>
        <p:spPr/>
        <p:txBody>
          <a:bodyPr/>
          <a:lstStyle/>
          <a:p>
            <a:r>
              <a:rPr lang="en-US" dirty="0"/>
              <a:t>Hormones</a:t>
            </a:r>
          </a:p>
        </p:txBody>
      </p:sp>
      <p:sp>
        <p:nvSpPr>
          <p:cNvPr id="3" name="Text Placeholder 2">
            <a:extLst>
              <a:ext uri="{FF2B5EF4-FFF2-40B4-BE49-F238E27FC236}">
                <a16:creationId xmlns:a16="http://schemas.microsoft.com/office/drawing/2014/main" id="{91B8BA6C-FBEF-F641-BF5E-F4890147736C}"/>
              </a:ext>
            </a:extLst>
          </p:cNvPr>
          <p:cNvSpPr>
            <a:spLocks noGrp="1"/>
          </p:cNvSpPr>
          <p:nvPr>
            <p:ph type="body" sz="quarter" idx="15"/>
          </p:nvPr>
        </p:nvSpPr>
        <p:spPr/>
        <p:txBody>
          <a:bodyPr/>
          <a:lstStyle/>
          <a:p>
            <a:r>
              <a:rPr lang="en-AU" sz="2000" dirty="0">
                <a:latin typeface="Avenir Book" panose="02000503020000020003" pitchFamily="2" charset="0"/>
              </a:rPr>
              <a:t>Therefore, a hormone may affect:</a:t>
            </a:r>
          </a:p>
          <a:p>
            <a:endParaRPr lang="en-AU" sz="2000" dirty="0">
              <a:latin typeface="Avenir Book" panose="02000503020000020003" pitchFamily="2" charset="0"/>
            </a:endParaRPr>
          </a:p>
          <a:p>
            <a:pPr marL="285750" indent="-285750">
              <a:buFont typeface="Arial" panose="020B0604020202020204" pitchFamily="34" charset="0"/>
              <a:buChar char="•"/>
            </a:pPr>
            <a:r>
              <a:rPr lang="en-AU" sz="2000" dirty="0">
                <a:latin typeface="Avenir Book" panose="02000503020000020003" pitchFamily="2" charset="0"/>
              </a:rPr>
              <a:t>All the cells of the body. </a:t>
            </a:r>
          </a:p>
          <a:p>
            <a:pPr marL="285750" indent="-285750">
              <a:buFont typeface="Arial" panose="020B0604020202020204" pitchFamily="34" charset="0"/>
              <a:buChar char="•"/>
            </a:pPr>
            <a:r>
              <a:rPr lang="en-AU" sz="2000" dirty="0">
                <a:latin typeface="Avenir Book" panose="02000503020000020003" pitchFamily="2" charset="0"/>
              </a:rPr>
              <a:t>Only particular groups of cells, target cells.</a:t>
            </a:r>
          </a:p>
          <a:p>
            <a:pPr marL="285750" indent="-285750">
              <a:buFont typeface="Arial" panose="020B0604020202020204" pitchFamily="34" charset="0"/>
              <a:buChar char="•"/>
            </a:pPr>
            <a:r>
              <a:rPr lang="en-AU" sz="2000" dirty="0">
                <a:latin typeface="Avenir Book" panose="02000503020000020003" pitchFamily="2" charset="0"/>
              </a:rPr>
              <a:t>Only particular organs, target organs.</a:t>
            </a:r>
          </a:p>
          <a:p>
            <a:endParaRPr lang="en-AU" sz="2000" dirty="0">
              <a:latin typeface="Avenir Book" panose="02000503020000020003" pitchFamily="2" charset="0"/>
            </a:endParaRPr>
          </a:p>
          <a:p>
            <a:r>
              <a:rPr lang="en-AU" sz="2000" dirty="0">
                <a:latin typeface="Avenir Book" panose="02000503020000020003" pitchFamily="2" charset="0"/>
              </a:rPr>
              <a:t>Hormones may be steroids, proteins or amines.</a:t>
            </a:r>
          </a:p>
          <a:p>
            <a:endParaRPr lang="en-US" dirty="0"/>
          </a:p>
        </p:txBody>
      </p:sp>
      <p:pic>
        <p:nvPicPr>
          <p:cNvPr id="4098" name="Picture 2" descr="the endocrine system">
            <a:extLst>
              <a:ext uri="{FF2B5EF4-FFF2-40B4-BE49-F238E27FC236}">
                <a16:creationId xmlns:a16="http://schemas.microsoft.com/office/drawing/2014/main" id="{1718E208-66CF-664F-A2D9-53C526676B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2912" y="1528994"/>
            <a:ext cx="4448530" cy="2339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395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7CDCC7-FE5B-FF44-92CE-77672A29A705}"/>
              </a:ext>
            </a:extLst>
          </p:cNvPr>
          <p:cNvSpPr>
            <a:spLocks noGrp="1"/>
          </p:cNvSpPr>
          <p:nvPr>
            <p:ph type="body" sz="quarter" idx="13"/>
          </p:nvPr>
        </p:nvSpPr>
        <p:spPr/>
        <p:txBody>
          <a:bodyPr/>
          <a:lstStyle/>
          <a:p>
            <a:r>
              <a:rPr lang="en-US" dirty="0"/>
              <a:t>Steroid Hormones</a:t>
            </a:r>
          </a:p>
        </p:txBody>
      </p:sp>
      <p:sp>
        <p:nvSpPr>
          <p:cNvPr id="3" name="Text Placeholder 2">
            <a:extLst>
              <a:ext uri="{FF2B5EF4-FFF2-40B4-BE49-F238E27FC236}">
                <a16:creationId xmlns:a16="http://schemas.microsoft.com/office/drawing/2014/main" id="{E99A9B25-7BDF-E247-A8FA-CE085EA861A3}"/>
              </a:ext>
            </a:extLst>
          </p:cNvPr>
          <p:cNvSpPr>
            <a:spLocks noGrp="1"/>
          </p:cNvSpPr>
          <p:nvPr>
            <p:ph type="body" sz="quarter" idx="15"/>
          </p:nvPr>
        </p:nvSpPr>
        <p:spPr>
          <a:xfrm>
            <a:off x="280559" y="1528994"/>
            <a:ext cx="7304026" cy="5066923"/>
          </a:xfrm>
        </p:spPr>
        <p:txBody>
          <a:bodyPr>
            <a:normAutofit/>
          </a:bodyPr>
          <a:lstStyle/>
          <a:p>
            <a:pPr marL="342900" indent="-342900">
              <a:buFont typeface="Arial" panose="020B0604020202020204" pitchFamily="34" charset="0"/>
              <a:buChar char="•"/>
            </a:pPr>
            <a:r>
              <a:rPr lang="en-AU" sz="2000" dirty="0">
                <a:latin typeface="Avenir Book" panose="02000503020000020003" pitchFamily="2" charset="0"/>
              </a:rPr>
              <a:t>Steroid hormones, such as oestrogen, progesterone, cortisol and aldosterone, are lipid-soluble, meaning they do not dissolve in water. </a:t>
            </a:r>
          </a:p>
          <a:p>
            <a:pPr marL="342900" indent="-342900">
              <a:buFont typeface="Arial" panose="020B0604020202020204" pitchFamily="34" charset="0"/>
              <a:buChar char="•"/>
            </a:pPr>
            <a:r>
              <a:rPr lang="en-AU" sz="2000" dirty="0">
                <a:latin typeface="Avenir Book" panose="02000503020000020003" pitchFamily="2" charset="0"/>
              </a:rPr>
              <a:t>Once they are released into the blood, the hormones bind to transport proteins, enabling them to travel in the bloodstream. When they reach the target cells, the steroid hormones separate from the transport proteins and diffuse across the cell membrane. </a:t>
            </a:r>
          </a:p>
          <a:p>
            <a:endParaRPr lang="en-AU" dirty="0"/>
          </a:p>
        </p:txBody>
      </p:sp>
      <p:pic>
        <p:nvPicPr>
          <p:cNvPr id="5" name="Picture 4" descr="Diagram&#10;&#10;Description automatically generated">
            <a:extLst>
              <a:ext uri="{FF2B5EF4-FFF2-40B4-BE49-F238E27FC236}">
                <a16:creationId xmlns:a16="http://schemas.microsoft.com/office/drawing/2014/main" id="{DD008B1E-FA2B-B343-BBF6-23BB28329A67}"/>
              </a:ext>
            </a:extLst>
          </p:cNvPr>
          <p:cNvPicPr>
            <a:picLocks noChangeAspect="1"/>
          </p:cNvPicPr>
          <p:nvPr/>
        </p:nvPicPr>
        <p:blipFill>
          <a:blip r:embed="rId2"/>
          <a:stretch>
            <a:fillRect/>
          </a:stretch>
        </p:blipFill>
        <p:spPr>
          <a:xfrm>
            <a:off x="7584584" y="1519055"/>
            <a:ext cx="4519068" cy="3788616"/>
          </a:xfrm>
          <a:prstGeom prst="rect">
            <a:avLst/>
          </a:prstGeom>
        </p:spPr>
      </p:pic>
    </p:spTree>
    <p:extLst>
      <p:ext uri="{BB962C8B-B14F-4D97-AF65-F5344CB8AC3E}">
        <p14:creationId xmlns:p14="http://schemas.microsoft.com/office/powerpoint/2010/main" val="1902441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D6C133-7403-1D4A-8702-DF6C136116E7}"/>
              </a:ext>
            </a:extLst>
          </p:cNvPr>
          <p:cNvSpPr>
            <a:spLocks noGrp="1"/>
          </p:cNvSpPr>
          <p:nvPr>
            <p:ph type="body" sz="quarter" idx="13"/>
          </p:nvPr>
        </p:nvSpPr>
        <p:spPr/>
        <p:txBody>
          <a:bodyPr/>
          <a:lstStyle/>
          <a:p>
            <a:r>
              <a:rPr lang="en-US" dirty="0"/>
              <a:t>Steroid Hormones </a:t>
            </a:r>
          </a:p>
        </p:txBody>
      </p:sp>
      <p:sp>
        <p:nvSpPr>
          <p:cNvPr id="3" name="Text Placeholder 2">
            <a:extLst>
              <a:ext uri="{FF2B5EF4-FFF2-40B4-BE49-F238E27FC236}">
                <a16:creationId xmlns:a16="http://schemas.microsoft.com/office/drawing/2014/main" id="{08FEE81E-4ED3-E542-B876-C640CC9AAC64}"/>
              </a:ext>
            </a:extLst>
          </p:cNvPr>
          <p:cNvSpPr>
            <a:spLocks noGrp="1"/>
          </p:cNvSpPr>
          <p:nvPr>
            <p:ph type="body" sz="quarter" idx="15"/>
          </p:nvPr>
        </p:nvSpPr>
        <p:spPr>
          <a:xfrm>
            <a:off x="280558" y="1528994"/>
            <a:ext cx="5702799" cy="5066923"/>
          </a:xfrm>
        </p:spPr>
        <p:txBody>
          <a:bodyPr/>
          <a:lstStyle/>
          <a:p>
            <a:pPr marL="285750" indent="-285750">
              <a:buFont typeface="Arial" panose="020B0604020202020204" pitchFamily="34" charset="0"/>
              <a:buChar char="•"/>
            </a:pPr>
            <a:r>
              <a:rPr lang="en-AU" sz="2000" dirty="0">
                <a:latin typeface="Avenir Book" panose="02000503020000020003" pitchFamily="2" charset="0"/>
              </a:rPr>
              <a:t>Inside the cell they work by combining with a receptor protein in the cytoplasm or nucleus. The hormone-receptor complex activates the genes controlling the formation of particular proteins.</a:t>
            </a:r>
          </a:p>
          <a:p>
            <a:pPr marL="285750" indent="-285750">
              <a:buFont typeface="Arial" panose="020B0604020202020204" pitchFamily="34" charset="0"/>
              <a:buChar char="•"/>
            </a:pPr>
            <a:r>
              <a:rPr lang="en-AU" sz="2000" dirty="0">
                <a:latin typeface="Avenir Book" panose="02000503020000020003" pitchFamily="2" charset="0"/>
              </a:rPr>
              <a:t>It does this by binding to the promoter section of a certain gene, stimulating (or inhibiting) transcription and, therefore, protein synthesis. Steroid hormones are slow to have an effect, but the effect is long lasting.   </a:t>
            </a:r>
          </a:p>
          <a:p>
            <a:endParaRPr lang="en-US" dirty="0"/>
          </a:p>
        </p:txBody>
      </p:sp>
      <p:pic>
        <p:nvPicPr>
          <p:cNvPr id="4" name="Picture 3">
            <a:extLst>
              <a:ext uri="{FF2B5EF4-FFF2-40B4-BE49-F238E27FC236}">
                <a16:creationId xmlns:a16="http://schemas.microsoft.com/office/drawing/2014/main" id="{E5F93A7F-8C46-4146-935F-A90E25DC9DC1}"/>
              </a:ext>
            </a:extLst>
          </p:cNvPr>
          <p:cNvPicPr>
            <a:picLocks noChangeAspect="1"/>
          </p:cNvPicPr>
          <p:nvPr/>
        </p:nvPicPr>
        <p:blipFill>
          <a:blip r:embed="rId2"/>
          <a:stretch>
            <a:fillRect/>
          </a:stretch>
        </p:blipFill>
        <p:spPr>
          <a:xfrm>
            <a:off x="6096000" y="1247084"/>
            <a:ext cx="5892800" cy="4940300"/>
          </a:xfrm>
          <a:prstGeom prst="rect">
            <a:avLst/>
          </a:prstGeom>
        </p:spPr>
      </p:pic>
    </p:spTree>
    <p:extLst>
      <p:ext uri="{BB962C8B-B14F-4D97-AF65-F5344CB8AC3E}">
        <p14:creationId xmlns:p14="http://schemas.microsoft.com/office/powerpoint/2010/main" val="298620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64BB3C-1CD9-AD46-AFF6-D7549C67F4D4}"/>
              </a:ext>
            </a:extLst>
          </p:cNvPr>
          <p:cNvSpPr>
            <a:spLocks noGrp="1"/>
          </p:cNvSpPr>
          <p:nvPr>
            <p:ph type="body" sz="quarter" idx="13"/>
          </p:nvPr>
        </p:nvSpPr>
        <p:spPr/>
        <p:txBody>
          <a:bodyPr/>
          <a:lstStyle/>
          <a:p>
            <a:r>
              <a:rPr lang="en-US" dirty="0"/>
              <a:t>Protein and Amine Hormones</a:t>
            </a:r>
          </a:p>
        </p:txBody>
      </p:sp>
      <p:sp>
        <p:nvSpPr>
          <p:cNvPr id="3" name="Text Placeholder 2">
            <a:extLst>
              <a:ext uri="{FF2B5EF4-FFF2-40B4-BE49-F238E27FC236}">
                <a16:creationId xmlns:a16="http://schemas.microsoft.com/office/drawing/2014/main" id="{BE923C77-5A26-7741-80F2-D652733F3585}"/>
              </a:ext>
            </a:extLst>
          </p:cNvPr>
          <p:cNvSpPr>
            <a:spLocks noGrp="1"/>
          </p:cNvSpPr>
          <p:nvPr>
            <p:ph type="body" sz="quarter" idx="15"/>
          </p:nvPr>
        </p:nvSpPr>
        <p:spPr>
          <a:xfrm>
            <a:off x="280558" y="1528994"/>
            <a:ext cx="6284062" cy="5066923"/>
          </a:xfrm>
        </p:spPr>
        <p:txBody>
          <a:bodyPr/>
          <a:lstStyle/>
          <a:p>
            <a:pPr marL="342900" indent="-342900">
              <a:buFont typeface="Arial" panose="020B0604020202020204" pitchFamily="34" charset="0"/>
              <a:buChar char="•"/>
            </a:pPr>
            <a:r>
              <a:rPr lang="en-AU" sz="2000" dirty="0">
                <a:latin typeface="Avenir Book" panose="02000503020000020003" pitchFamily="2" charset="0"/>
              </a:rPr>
              <a:t>Protein and amine hormones are water-soluble. </a:t>
            </a:r>
          </a:p>
          <a:p>
            <a:pPr marL="342900" indent="-342900">
              <a:buFont typeface="Arial" panose="020B0604020202020204" pitchFamily="34" charset="0"/>
              <a:buChar char="•"/>
            </a:pPr>
            <a:r>
              <a:rPr lang="en-AU" sz="2000" dirty="0">
                <a:latin typeface="Avenir Book" panose="02000503020000020003" pitchFamily="2" charset="0"/>
              </a:rPr>
              <a:t>Because they are not lipid soluble, they are unable to diffuse across the cell membrane. Instead, they work by attaching to receptor proteins in the membrane of the target cell. </a:t>
            </a:r>
          </a:p>
          <a:p>
            <a:pPr marL="342900" indent="-342900">
              <a:buFont typeface="Arial" panose="020B0604020202020204" pitchFamily="34" charset="0"/>
              <a:buChar char="•"/>
            </a:pPr>
            <a:r>
              <a:rPr lang="en-AU" sz="2000" dirty="0">
                <a:latin typeface="Avenir Book" panose="02000503020000020003" pitchFamily="2" charset="0"/>
              </a:rPr>
              <a:t>The combination of the hormone with the receptor causes a secondary messenger substance to diffuse through the cell and activate particular enzymes. </a:t>
            </a:r>
          </a:p>
          <a:p>
            <a:pPr marL="342900" indent="-342900">
              <a:buFont typeface="Arial" panose="020B0604020202020204" pitchFamily="34" charset="0"/>
              <a:buChar char="•"/>
            </a:pPr>
            <a:r>
              <a:rPr lang="en-AU" sz="2000" dirty="0">
                <a:latin typeface="Avenir Book" panose="02000503020000020003" pitchFamily="2" charset="0"/>
              </a:rPr>
              <a:t>For example, the hormone insulin binds to a receptor protein, and this leads to an increase in glucose absorption by the cell. Protein and amine hormones tend to be quick to cause a response; however, the effect is short lasting.</a:t>
            </a:r>
          </a:p>
          <a:p>
            <a:endParaRPr lang="en-US" dirty="0"/>
          </a:p>
        </p:txBody>
      </p:sp>
      <p:pic>
        <p:nvPicPr>
          <p:cNvPr id="4" name="Picture 3">
            <a:extLst>
              <a:ext uri="{FF2B5EF4-FFF2-40B4-BE49-F238E27FC236}">
                <a16:creationId xmlns:a16="http://schemas.microsoft.com/office/drawing/2014/main" id="{574F88E0-5DE9-A345-8F04-F9095CAC63CC}"/>
              </a:ext>
            </a:extLst>
          </p:cNvPr>
          <p:cNvPicPr>
            <a:picLocks noChangeAspect="1"/>
          </p:cNvPicPr>
          <p:nvPr/>
        </p:nvPicPr>
        <p:blipFill>
          <a:blip r:embed="rId2"/>
          <a:stretch>
            <a:fillRect/>
          </a:stretch>
        </p:blipFill>
        <p:spPr>
          <a:xfrm>
            <a:off x="6564620" y="1639956"/>
            <a:ext cx="5424180" cy="4547427"/>
          </a:xfrm>
          <a:prstGeom prst="rect">
            <a:avLst/>
          </a:prstGeom>
        </p:spPr>
      </p:pic>
    </p:spTree>
    <p:extLst>
      <p:ext uri="{BB962C8B-B14F-4D97-AF65-F5344CB8AC3E}">
        <p14:creationId xmlns:p14="http://schemas.microsoft.com/office/powerpoint/2010/main" val="476855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C5B4C6-1B9D-AD43-A374-4023842755F0}"/>
              </a:ext>
            </a:extLst>
          </p:cNvPr>
          <p:cNvSpPr>
            <a:spLocks noGrp="1"/>
          </p:cNvSpPr>
          <p:nvPr>
            <p:ph type="body" sz="quarter" idx="13"/>
          </p:nvPr>
        </p:nvSpPr>
        <p:spPr/>
        <p:txBody>
          <a:bodyPr/>
          <a:lstStyle/>
          <a:p>
            <a:r>
              <a:rPr lang="en-US" dirty="0"/>
              <a:t>Hormone Receptors</a:t>
            </a:r>
          </a:p>
        </p:txBody>
      </p:sp>
      <p:sp>
        <p:nvSpPr>
          <p:cNvPr id="3" name="Text Placeholder 2">
            <a:extLst>
              <a:ext uri="{FF2B5EF4-FFF2-40B4-BE49-F238E27FC236}">
                <a16:creationId xmlns:a16="http://schemas.microsoft.com/office/drawing/2014/main" id="{EF9C6EB4-18D8-3642-BD18-4BD2E2AFF1FB}"/>
              </a:ext>
            </a:extLst>
          </p:cNvPr>
          <p:cNvSpPr>
            <a:spLocks noGrp="1"/>
          </p:cNvSpPr>
          <p:nvPr>
            <p:ph type="body" sz="quarter" idx="15"/>
          </p:nvPr>
        </p:nvSpPr>
        <p:spPr/>
        <p:txBody>
          <a:bodyPr/>
          <a:lstStyle/>
          <a:p>
            <a:pPr marL="342900" indent="-342900">
              <a:buFont typeface="Arial" panose="020B0604020202020204" pitchFamily="34" charset="0"/>
              <a:buChar char="•"/>
            </a:pPr>
            <a:r>
              <a:rPr lang="en-AU" sz="2000" dirty="0">
                <a:latin typeface="Avenir Book" panose="02000503020000020003" pitchFamily="2" charset="0"/>
              </a:rPr>
              <a:t>Receptor proteins are specific Each type of receptor will bind with only one specific molecule. </a:t>
            </a:r>
          </a:p>
          <a:p>
            <a:pPr marL="342900" indent="-342900">
              <a:buFont typeface="Arial" panose="020B0604020202020204" pitchFamily="34" charset="0"/>
              <a:buChar char="•"/>
            </a:pPr>
            <a:r>
              <a:rPr lang="en-AU" sz="2000" dirty="0">
                <a:latin typeface="Avenir Book" panose="02000503020000020003" pitchFamily="2" charset="0"/>
              </a:rPr>
              <a:t>The lock and key analogy can be used to describe this interaction. The lock, the receptor protein, will only work with the correct key, the binding molecule.</a:t>
            </a:r>
          </a:p>
          <a:p>
            <a:br>
              <a:rPr lang="en-AU" dirty="0"/>
            </a:br>
            <a:endParaRPr lang="en-AU" dirty="0"/>
          </a:p>
          <a:p>
            <a:endParaRPr lang="en-US" dirty="0"/>
          </a:p>
        </p:txBody>
      </p:sp>
      <p:pic>
        <p:nvPicPr>
          <p:cNvPr id="5122" name="Picture 2" descr="Hormone receptor - Wikipedia">
            <a:extLst>
              <a:ext uri="{FF2B5EF4-FFF2-40B4-BE49-F238E27FC236}">
                <a16:creationId xmlns:a16="http://schemas.microsoft.com/office/drawing/2014/main" id="{162B3525-FEEE-BF49-B4AF-9A47972F3E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4257" y="2466008"/>
            <a:ext cx="4067185" cy="3845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461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F7B1FE-CBAA-3B4B-AF7B-F328B99C82D8}"/>
              </a:ext>
            </a:extLst>
          </p:cNvPr>
          <p:cNvSpPr>
            <a:spLocks noGrp="1"/>
          </p:cNvSpPr>
          <p:nvPr>
            <p:ph type="body" sz="quarter" idx="13"/>
          </p:nvPr>
        </p:nvSpPr>
        <p:spPr/>
        <p:txBody>
          <a:bodyPr/>
          <a:lstStyle/>
          <a:p>
            <a:r>
              <a:rPr lang="en-US" dirty="0"/>
              <a:t>Hormone Receptors</a:t>
            </a:r>
          </a:p>
        </p:txBody>
      </p:sp>
      <p:sp>
        <p:nvSpPr>
          <p:cNvPr id="3" name="Text Placeholder 2">
            <a:extLst>
              <a:ext uri="{FF2B5EF4-FFF2-40B4-BE49-F238E27FC236}">
                <a16:creationId xmlns:a16="http://schemas.microsoft.com/office/drawing/2014/main" id="{98A592ED-B422-754F-8EA6-A3CE5B2969BA}"/>
              </a:ext>
            </a:extLst>
          </p:cNvPr>
          <p:cNvSpPr>
            <a:spLocks noGrp="1"/>
          </p:cNvSpPr>
          <p:nvPr>
            <p:ph type="body" sz="quarter" idx="15"/>
          </p:nvPr>
        </p:nvSpPr>
        <p:spPr/>
        <p:txBody>
          <a:bodyPr/>
          <a:lstStyle/>
          <a:p>
            <a:pPr marL="285750" indent="-285750">
              <a:buFont typeface="Arial" panose="020B0604020202020204" pitchFamily="34" charset="0"/>
              <a:buChar char="•"/>
            </a:pPr>
            <a:r>
              <a:rPr lang="en-AU" sz="2000" dirty="0">
                <a:latin typeface="Avenir Book" panose="02000503020000020003" pitchFamily="2" charset="0"/>
              </a:rPr>
              <a:t>There are a limited number of receptor proteins in the membrane of each cell. When each receptor is bound to a molecule, there can be no further increase in the rate of the cell's activity. </a:t>
            </a:r>
          </a:p>
          <a:p>
            <a:pPr marL="285750" indent="-285750">
              <a:buFont typeface="Arial" panose="020B0604020202020204" pitchFamily="34" charset="0"/>
              <a:buChar char="•"/>
            </a:pPr>
            <a:r>
              <a:rPr lang="en-AU" sz="2000" dirty="0">
                <a:latin typeface="Avenir Book" panose="02000503020000020003" pitchFamily="2" charset="0"/>
              </a:rPr>
              <a:t>For example, when each insulin receptor in the cell membrane is bound to insulin, the cell's rate of glucose uptake cannot increase any further even if the amount of insulin increases. </a:t>
            </a:r>
          </a:p>
          <a:p>
            <a:pPr marL="285750" indent="-285750">
              <a:buFont typeface="Arial" panose="020B0604020202020204" pitchFamily="34" charset="0"/>
              <a:buChar char="•"/>
            </a:pPr>
            <a:r>
              <a:rPr lang="en-AU" sz="2000" dirty="0">
                <a:latin typeface="Avenir Book" panose="02000503020000020003" pitchFamily="2" charset="0"/>
              </a:rPr>
              <a:t>This means that saturation can occur; once all the receptor molecules are occupied by hormone molecules, the addition of more hormones does not produce any greater effect. </a:t>
            </a:r>
          </a:p>
          <a:p>
            <a:pPr marL="285750" indent="-285750">
              <a:buFont typeface="Arial" panose="020B0604020202020204" pitchFamily="34" charset="0"/>
              <a:buChar char="•"/>
            </a:pPr>
            <a:r>
              <a:rPr lang="en-AU" sz="2000" dirty="0">
                <a:latin typeface="Avenir Book" panose="02000503020000020003" pitchFamily="2" charset="0"/>
              </a:rPr>
              <a:t>Different cells have different types and numbers of receptor proteins. This is why there is variation in the sensitivities of cells to hormones and other substances.</a:t>
            </a:r>
          </a:p>
          <a:p>
            <a:endParaRPr lang="en-US" dirty="0"/>
          </a:p>
        </p:txBody>
      </p:sp>
    </p:spTree>
    <p:extLst>
      <p:ext uri="{BB962C8B-B14F-4D97-AF65-F5344CB8AC3E}">
        <p14:creationId xmlns:p14="http://schemas.microsoft.com/office/powerpoint/2010/main" val="2995939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3440A1-052B-F44C-8BCE-E8BC329CE770}"/>
              </a:ext>
            </a:extLst>
          </p:cNvPr>
          <p:cNvSpPr>
            <a:spLocks noGrp="1"/>
          </p:cNvSpPr>
          <p:nvPr>
            <p:ph type="body" sz="quarter" idx="13"/>
          </p:nvPr>
        </p:nvSpPr>
        <p:spPr/>
        <p:txBody>
          <a:bodyPr/>
          <a:lstStyle/>
          <a:p>
            <a:r>
              <a:rPr lang="en-AU" dirty="0"/>
              <a:t>Enzyme amplification</a:t>
            </a:r>
            <a:endParaRPr lang="en-US" dirty="0"/>
          </a:p>
        </p:txBody>
      </p:sp>
      <p:sp>
        <p:nvSpPr>
          <p:cNvPr id="3" name="Text Placeholder 2">
            <a:extLst>
              <a:ext uri="{FF2B5EF4-FFF2-40B4-BE49-F238E27FC236}">
                <a16:creationId xmlns:a16="http://schemas.microsoft.com/office/drawing/2014/main" id="{28781245-55CB-BE4D-B20D-0BC324484A55}"/>
              </a:ext>
            </a:extLst>
          </p:cNvPr>
          <p:cNvSpPr>
            <a:spLocks noGrp="1"/>
          </p:cNvSpPr>
          <p:nvPr>
            <p:ph type="body" sz="quarter" idx="15"/>
          </p:nvPr>
        </p:nvSpPr>
        <p:spPr/>
        <p:txBody>
          <a:bodyPr>
            <a:normAutofit/>
          </a:bodyPr>
          <a:lstStyle/>
          <a:p>
            <a:pPr marL="342900" indent="-342900">
              <a:buFont typeface="Arial" panose="020B0604020202020204" pitchFamily="34" charset="0"/>
              <a:buChar char="•"/>
            </a:pPr>
            <a:r>
              <a:rPr lang="en-AU" sz="2000" dirty="0">
                <a:latin typeface="Avenir Book" panose="02000503020000020003" pitchFamily="2" charset="0"/>
              </a:rPr>
              <a:t>One hormone molecule does not cause the manufacture or activation of just molecule of an enzyme - it activates thousands of molecules. This is achieved through a process called </a:t>
            </a:r>
            <a:r>
              <a:rPr lang="en-AU" sz="2000" b="1" dirty="0">
                <a:latin typeface="Avenir Book" panose="02000503020000020003" pitchFamily="2" charset="0"/>
              </a:rPr>
              <a:t>enzyme amplification</a:t>
            </a:r>
            <a:r>
              <a:rPr lang="en-AU" sz="2000" dirty="0">
                <a:latin typeface="Avenir Book" panose="02000503020000020003" pitchFamily="2" charset="0"/>
              </a:rPr>
              <a:t>. </a:t>
            </a:r>
          </a:p>
          <a:p>
            <a:pPr marL="342900" indent="-342900">
              <a:buFont typeface="Arial" panose="020B0604020202020204" pitchFamily="34" charset="0"/>
              <a:buChar char="•"/>
            </a:pPr>
            <a:r>
              <a:rPr lang="en-AU" sz="2000" dirty="0">
                <a:latin typeface="Avenir Book" panose="02000503020000020003" pitchFamily="2" charset="0"/>
              </a:rPr>
              <a:t>The hormone triggers a cascading effect in which the number of reacting molecules involved is increased hundreds thousands of times for each step along the metabolic pathway.</a:t>
            </a:r>
          </a:p>
          <a:p>
            <a:pPr marL="342900" indent="-342900">
              <a:buFont typeface="Arial" panose="020B0604020202020204" pitchFamily="34" charset="0"/>
              <a:buChar char="•"/>
            </a:pPr>
            <a:r>
              <a:rPr lang="en-AU" sz="2000" dirty="0">
                <a:latin typeface="Avenir Book" panose="02000503020000020003" pitchFamily="2" charset="0"/>
              </a:rPr>
              <a:t>One hormone molecule could trigger the production of more than a billion enzyme molecules. Thus, a very small stimulus can produce a very large effect.</a:t>
            </a:r>
            <a:endParaRPr lang="en-US" sz="2000" dirty="0">
              <a:latin typeface="Avenir Book" panose="02000503020000020003" pitchFamily="2" charset="0"/>
            </a:endParaRPr>
          </a:p>
        </p:txBody>
      </p:sp>
    </p:spTree>
    <p:extLst>
      <p:ext uri="{BB962C8B-B14F-4D97-AF65-F5344CB8AC3E}">
        <p14:creationId xmlns:p14="http://schemas.microsoft.com/office/powerpoint/2010/main" val="218517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FAE1CF-1B19-0C46-B248-E0002F845EA6}"/>
              </a:ext>
            </a:extLst>
          </p:cNvPr>
          <p:cNvSpPr>
            <a:spLocks noGrp="1"/>
          </p:cNvSpPr>
          <p:nvPr>
            <p:ph type="body" sz="quarter" idx="13"/>
          </p:nvPr>
        </p:nvSpPr>
        <p:spPr/>
        <p:txBody>
          <a:bodyPr/>
          <a:lstStyle/>
          <a:p>
            <a:r>
              <a:rPr lang="en-AU" dirty="0"/>
              <a:t>Hormone clearance</a:t>
            </a:r>
          </a:p>
          <a:p>
            <a:endParaRPr lang="en-US" dirty="0"/>
          </a:p>
        </p:txBody>
      </p:sp>
      <p:sp>
        <p:nvSpPr>
          <p:cNvPr id="3" name="Text Placeholder 2">
            <a:extLst>
              <a:ext uri="{FF2B5EF4-FFF2-40B4-BE49-F238E27FC236}">
                <a16:creationId xmlns:a16="http://schemas.microsoft.com/office/drawing/2014/main" id="{D67A4863-7971-1F43-8397-0EAF5CBF3010}"/>
              </a:ext>
            </a:extLst>
          </p:cNvPr>
          <p:cNvSpPr>
            <a:spLocks noGrp="1"/>
          </p:cNvSpPr>
          <p:nvPr>
            <p:ph type="body" sz="quarter" idx="15"/>
          </p:nvPr>
        </p:nvSpPr>
        <p:spPr/>
        <p:txBody>
          <a:bodyPr/>
          <a:lstStyle/>
          <a:p>
            <a:pPr marL="285750" indent="-285750">
              <a:buFont typeface="Arial" panose="020B0604020202020204" pitchFamily="34" charset="0"/>
              <a:buChar char="•"/>
            </a:pPr>
            <a:r>
              <a:rPr lang="en-AU" sz="2000" dirty="0">
                <a:latin typeface="Avenir Book" panose="02000503020000020003" pitchFamily="2" charset="0"/>
              </a:rPr>
              <a:t>Once a hormone has produced the required effect, it must be turned off. This is done by breaking down the hormone molecules. </a:t>
            </a:r>
          </a:p>
          <a:p>
            <a:pPr marL="285750" indent="-285750">
              <a:buFont typeface="Arial" panose="020B0604020202020204" pitchFamily="34" charset="0"/>
              <a:buChar char="•"/>
            </a:pPr>
            <a:r>
              <a:rPr lang="en-AU" sz="2000" dirty="0">
                <a:latin typeface="Avenir Book" panose="02000503020000020003" pitchFamily="2" charset="0"/>
              </a:rPr>
              <a:t>Some hormones are broken down in the target cells, but most are broken down in the liver and the kidneys. The degraded hormones are then excreted in either the bile or the urine.</a:t>
            </a:r>
          </a:p>
          <a:p>
            <a:br>
              <a:rPr lang="en-AU" dirty="0"/>
            </a:br>
            <a:endParaRPr lang="en-US" dirty="0"/>
          </a:p>
        </p:txBody>
      </p:sp>
    </p:spTree>
    <p:extLst>
      <p:ext uri="{BB962C8B-B14F-4D97-AF65-F5344CB8AC3E}">
        <p14:creationId xmlns:p14="http://schemas.microsoft.com/office/powerpoint/2010/main" val="2835798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786DFC-D81C-2840-B4A7-D8FB09C5CBB4}"/>
              </a:ext>
            </a:extLst>
          </p:cNvPr>
          <p:cNvSpPr>
            <a:spLocks noGrp="1"/>
          </p:cNvSpPr>
          <p:nvPr>
            <p:ph type="body" sz="quarter" idx="13"/>
          </p:nvPr>
        </p:nvSpPr>
        <p:spPr/>
        <p:txBody>
          <a:bodyPr/>
          <a:lstStyle/>
          <a:p>
            <a:r>
              <a:rPr lang="en-AU" dirty="0"/>
              <a:t>Control of hormone secretions</a:t>
            </a:r>
          </a:p>
          <a:p>
            <a:endParaRPr lang="en-US" dirty="0"/>
          </a:p>
        </p:txBody>
      </p:sp>
      <p:sp>
        <p:nvSpPr>
          <p:cNvPr id="3" name="Text Placeholder 2">
            <a:extLst>
              <a:ext uri="{FF2B5EF4-FFF2-40B4-BE49-F238E27FC236}">
                <a16:creationId xmlns:a16="http://schemas.microsoft.com/office/drawing/2014/main" id="{8A18EFB9-0A4B-E940-A9F6-C47B8E393FAC}"/>
              </a:ext>
            </a:extLst>
          </p:cNvPr>
          <p:cNvSpPr>
            <a:spLocks noGrp="1"/>
          </p:cNvSpPr>
          <p:nvPr>
            <p:ph type="body" sz="quarter" idx="15"/>
          </p:nvPr>
        </p:nvSpPr>
        <p:spPr/>
        <p:txBody>
          <a:bodyPr>
            <a:normAutofit/>
          </a:bodyPr>
          <a:lstStyle/>
          <a:p>
            <a:pPr marL="285750" indent="-285750">
              <a:buFont typeface="Arial" panose="020B0604020202020204" pitchFamily="34" charset="0"/>
              <a:buChar char="•"/>
            </a:pPr>
            <a:r>
              <a:rPr lang="en-AU" sz="2400" dirty="0">
                <a:latin typeface="Avenir Book" panose="02000503020000020003" pitchFamily="2" charset="0"/>
              </a:rPr>
              <a:t>To maintain homeostasis, the amount of hormone produced by an endocrine gland must be very closely regulated. Any over secretion or under secretion of a hormone will cause the body to function abnormally. </a:t>
            </a:r>
          </a:p>
          <a:p>
            <a:pPr marL="285750" indent="-285750">
              <a:buFont typeface="Arial" panose="020B0604020202020204" pitchFamily="34" charset="0"/>
              <a:buChar char="•"/>
            </a:pPr>
            <a:r>
              <a:rPr lang="en-AU" sz="2400" dirty="0">
                <a:latin typeface="Avenir Book" panose="02000503020000020003" pitchFamily="2" charset="0"/>
              </a:rPr>
              <a:t>Hormonal secretions are generally regulated by negative feedback systems whereby the response produced by the secretion of the hormone is the opposite of the stimulus that caused the secretion. Negative feedback systems will be covered in more detail later. </a:t>
            </a:r>
            <a:endParaRPr lang="en-US" sz="2400" dirty="0">
              <a:latin typeface="Avenir Book" panose="02000503020000020003" pitchFamily="2" charset="0"/>
            </a:endParaRPr>
          </a:p>
        </p:txBody>
      </p:sp>
    </p:spTree>
    <p:extLst>
      <p:ext uri="{BB962C8B-B14F-4D97-AF65-F5344CB8AC3E}">
        <p14:creationId xmlns:p14="http://schemas.microsoft.com/office/powerpoint/2010/main" val="1739021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8D4407-FCC5-1B48-955E-78E9D65CF0B6}"/>
              </a:ext>
            </a:extLst>
          </p:cNvPr>
          <p:cNvSpPr>
            <a:spLocks noGrp="1"/>
          </p:cNvSpPr>
          <p:nvPr>
            <p:ph type="body" sz="quarter" idx="13"/>
          </p:nvPr>
        </p:nvSpPr>
        <p:spPr/>
        <p:txBody>
          <a:bodyPr/>
          <a:lstStyle/>
          <a:p>
            <a:r>
              <a:rPr lang="en-AU" dirty="0"/>
              <a:t>Key concept</a:t>
            </a:r>
          </a:p>
          <a:p>
            <a:endParaRPr lang="en-US" dirty="0"/>
          </a:p>
        </p:txBody>
      </p:sp>
      <p:sp>
        <p:nvSpPr>
          <p:cNvPr id="3" name="Text Placeholder 2">
            <a:extLst>
              <a:ext uri="{FF2B5EF4-FFF2-40B4-BE49-F238E27FC236}">
                <a16:creationId xmlns:a16="http://schemas.microsoft.com/office/drawing/2014/main" id="{98575913-B6D1-7E4D-852D-AF4C17DEA40D}"/>
              </a:ext>
            </a:extLst>
          </p:cNvPr>
          <p:cNvSpPr>
            <a:spLocks noGrp="1"/>
          </p:cNvSpPr>
          <p:nvPr>
            <p:ph type="body" sz="quarter" idx="15"/>
          </p:nvPr>
        </p:nvSpPr>
        <p:spPr/>
        <p:txBody>
          <a:bodyPr/>
          <a:lstStyle/>
          <a:p>
            <a:pPr marL="285750" indent="-285750">
              <a:buFont typeface="Arial" panose="020B0604020202020204" pitchFamily="34" charset="0"/>
              <a:buChar char="•"/>
            </a:pPr>
            <a:r>
              <a:rPr lang="en-AU" sz="2400" dirty="0">
                <a:latin typeface="Avenir Book" panose="02000503020000020003" pitchFamily="2" charset="0"/>
              </a:rPr>
              <a:t>The endocrine system is made up of the endocrine glands, which secrete steroid, protein or amine hormones that affect the functioning of the cell.</a:t>
            </a:r>
          </a:p>
          <a:p>
            <a:endParaRPr lang="en-US" dirty="0"/>
          </a:p>
        </p:txBody>
      </p:sp>
    </p:spTree>
    <p:extLst>
      <p:ext uri="{BB962C8B-B14F-4D97-AF65-F5344CB8AC3E}">
        <p14:creationId xmlns:p14="http://schemas.microsoft.com/office/powerpoint/2010/main" val="3546385689"/>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2653</TotalTime>
  <Words>1355</Words>
  <Application>Microsoft Macintosh PowerPoint</Application>
  <PresentationFormat>Widescreen</PresentationFormat>
  <Paragraphs>79</Paragraphs>
  <Slides>18</Slides>
  <Notes>5</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18</vt:i4>
      </vt:variant>
    </vt:vector>
  </HeadingPairs>
  <TitlesOfParts>
    <vt:vector size="31"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2</cp:revision>
  <cp:lastPrinted>2020-06-12T23:59:38Z</cp:lastPrinted>
  <dcterms:created xsi:type="dcterms:W3CDTF">2022-01-29T07:27:08Z</dcterms:created>
  <dcterms:modified xsi:type="dcterms:W3CDTF">2022-01-31T03:40:48Z</dcterms:modified>
</cp:coreProperties>
</file>
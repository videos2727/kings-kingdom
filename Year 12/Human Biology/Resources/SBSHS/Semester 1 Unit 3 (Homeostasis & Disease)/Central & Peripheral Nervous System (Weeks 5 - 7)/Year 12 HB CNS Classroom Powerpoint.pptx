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0" r:id="rId1"/>
    <p:sldMasterId id="2147483733" r:id="rId2"/>
    <p:sldMasterId id="2147483748" r:id="rId3"/>
    <p:sldMasterId id="2147483757" r:id="rId4"/>
    <p:sldMasterId id="2147483774" r:id="rId5"/>
  </p:sldMasterIdLst>
  <p:notesMasterIdLst>
    <p:notesMasterId r:id="rId22"/>
  </p:notesMasterIdLst>
  <p:sldIdLst>
    <p:sldId id="313" r:id="rId6"/>
    <p:sldId id="275" r:id="rId7"/>
    <p:sldId id="301" r:id="rId8"/>
    <p:sldId id="555" r:id="rId9"/>
    <p:sldId id="566" r:id="rId10"/>
    <p:sldId id="567" r:id="rId11"/>
    <p:sldId id="576" r:id="rId12"/>
    <p:sldId id="575" r:id="rId13"/>
    <p:sldId id="577" r:id="rId14"/>
    <p:sldId id="568" r:id="rId15"/>
    <p:sldId id="569" r:id="rId16"/>
    <p:sldId id="570" r:id="rId17"/>
    <p:sldId id="571" r:id="rId18"/>
    <p:sldId id="572" r:id="rId19"/>
    <p:sldId id="573" r:id="rId20"/>
    <p:sldId id="5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oran Groznica" initials="ZG" lastIdx="2" clrIdx="0">
    <p:extLst>
      <p:ext uri="{19B8F6BF-5375-455C-9EA6-DF929625EA0E}">
        <p15:presenceInfo xmlns:p15="http://schemas.microsoft.com/office/powerpoint/2012/main" userId="3fde8f81ab5e8c4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D95"/>
    <a:srgbClr val="1991AC"/>
    <a:srgbClr val="00C0B4"/>
    <a:srgbClr val="00DC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871"/>
    <p:restoredTop sz="86391"/>
  </p:normalViewPr>
  <p:slideViewPr>
    <p:cSldViewPr snapToGrid="0" snapToObjects="1">
      <p:cViewPr varScale="1">
        <p:scale>
          <a:sx n="113" d="100"/>
          <a:sy n="113" d="100"/>
        </p:scale>
        <p:origin x="216" y="21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97670B-01DE-304A-B5E0-CEAA57CA1308}" type="datetimeFigureOut">
              <a:rPr lang="en-US" smtClean="0"/>
              <a:t>3/9/22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6D6F03-C114-7440-A578-13B07E7D8E06}" type="slidenum">
              <a:rPr lang="en-US" smtClean="0"/>
              <a:t>‹#›</a:t>
            </a:fld>
            <a:endParaRPr lang="en-US"/>
          </a:p>
        </p:txBody>
      </p:sp>
    </p:spTree>
    <p:extLst>
      <p:ext uri="{BB962C8B-B14F-4D97-AF65-F5344CB8AC3E}">
        <p14:creationId xmlns:p14="http://schemas.microsoft.com/office/powerpoint/2010/main" val="2321234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D6F03-C114-7440-A578-13B07E7D8E06}" type="slidenum">
              <a:rPr lang="en-US" smtClean="0"/>
              <a:t>1</a:t>
            </a:fld>
            <a:endParaRPr lang="en-US"/>
          </a:p>
        </p:txBody>
      </p:sp>
    </p:spTree>
    <p:extLst>
      <p:ext uri="{BB962C8B-B14F-4D97-AF65-F5344CB8AC3E}">
        <p14:creationId xmlns:p14="http://schemas.microsoft.com/office/powerpoint/2010/main" val="3745347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2</a:t>
            </a:fld>
            <a:endParaRPr lang="en-AU"/>
          </a:p>
        </p:txBody>
      </p:sp>
    </p:spTree>
    <p:extLst>
      <p:ext uri="{BB962C8B-B14F-4D97-AF65-F5344CB8AC3E}">
        <p14:creationId xmlns:p14="http://schemas.microsoft.com/office/powerpoint/2010/main" val="527230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3</a:t>
            </a:fld>
            <a:endParaRPr lang="en-AU"/>
          </a:p>
        </p:txBody>
      </p:sp>
    </p:spTree>
    <p:extLst>
      <p:ext uri="{BB962C8B-B14F-4D97-AF65-F5344CB8AC3E}">
        <p14:creationId xmlns:p14="http://schemas.microsoft.com/office/powerpoint/2010/main" val="1510850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4</a:t>
            </a:fld>
            <a:endParaRPr lang="en-AU"/>
          </a:p>
        </p:txBody>
      </p:sp>
    </p:spTree>
    <p:extLst>
      <p:ext uri="{BB962C8B-B14F-4D97-AF65-F5344CB8AC3E}">
        <p14:creationId xmlns:p14="http://schemas.microsoft.com/office/powerpoint/2010/main" val="21982062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6" y="1011383"/>
            <a:ext cx="3011715" cy="538446"/>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DF9C2B4A-0943-CC42-BE38-4F715F7CAA2B}"/>
              </a:ext>
            </a:extLst>
          </p:cNvPr>
          <p:cNvSpPr txBox="1"/>
          <p:nvPr/>
        </p:nvSpPr>
        <p:spPr>
          <a:xfrm>
            <a:off x="517951" y="4565193"/>
            <a:ext cx="2734700" cy="1947917"/>
          </a:xfrm>
          <a:prstGeom prst="rect">
            <a:avLst/>
          </a:prstGeom>
          <a:noFill/>
        </p:spPr>
        <p:txBody>
          <a:bodyPr wrap="square" tIns="180000" rtlCol="0" anchor="t">
            <a:normAutofit/>
          </a:bodyPr>
          <a:lstStyle/>
          <a:p>
            <a:r>
              <a:rPr lang="en-US" sz="3600" b="1" i="0" dirty="0">
                <a:solidFill>
                  <a:srgbClr val="23566C"/>
                </a:solidFill>
                <a:latin typeface="Calibri" panose="020F0502020204030204" pitchFamily="34" charset="0"/>
                <a:cs typeface="Calibri" panose="020F0502020204030204" pitchFamily="34" charset="0"/>
              </a:rPr>
              <a:t>Think </a:t>
            </a:r>
          </a:p>
          <a:p>
            <a:r>
              <a:rPr lang="en-US" sz="3600" b="1" i="0" dirty="0">
                <a:solidFill>
                  <a:srgbClr val="23566C"/>
                </a:solidFill>
                <a:latin typeface="Calibri" panose="020F0502020204030204" pitchFamily="34" charset="0"/>
                <a:cs typeface="Calibri" panose="020F0502020204030204" pitchFamily="34" charset="0"/>
              </a:rPr>
              <a:t>Pair</a:t>
            </a:r>
          </a:p>
          <a:p>
            <a:r>
              <a:rPr lang="en-US" sz="3600" b="1" i="0" dirty="0">
                <a:solidFill>
                  <a:srgbClr val="23566C"/>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149365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I) Learning Objectiv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8213"/>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1218404"/>
            <a:ext cx="11577177" cy="5430940"/>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objective</a:t>
            </a:r>
          </a:p>
        </p:txBody>
      </p:sp>
    </p:spTree>
    <p:extLst>
      <p:ext uri="{BB962C8B-B14F-4D97-AF65-F5344CB8AC3E}">
        <p14:creationId xmlns:p14="http://schemas.microsoft.com/office/powerpoint/2010/main" val="2839666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145445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16018"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855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7143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9" y="1873045"/>
            <a:ext cx="1990782"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372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053497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Concept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923569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4199996" cy="352425"/>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56394389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56878865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2320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9" y="1053881"/>
            <a:ext cx="2350999" cy="495947"/>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72556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907109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EI)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9" y="208656"/>
            <a:ext cx="1347844" cy="515262"/>
          </a:xfrm>
          <a:prstGeom prst="rect">
            <a:avLst/>
          </a:prstGeom>
          <a:solidFill>
            <a:srgbClr val="002060"/>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3918"/>
            <a:ext cx="11577177" cy="1204895"/>
          </a:xfrm>
          <a:prstGeom prst="rect">
            <a:avLst/>
          </a:prstGeom>
          <a:solidFill>
            <a:schemeClr val="accent5">
              <a:lumMod val="40000"/>
              <a:lumOff val="60000"/>
            </a:schemeClr>
          </a:solidFill>
          <a:ln>
            <a:noFill/>
          </a:ln>
        </p:spPr>
        <p:txBody>
          <a:bodyPr wrap="square" rtlCol="0" anchor="ctr">
            <a:normAutofit/>
          </a:bodyPr>
          <a:lstStyle/>
          <a:p>
            <a:r>
              <a:rPr lang="en-US" sz="6000" b="1" i="0" dirty="0">
                <a:solidFill>
                  <a:srgbClr val="002060"/>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002060"/>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5241364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I)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515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59" name="Text Placeholder 5">
            <a:extLst>
              <a:ext uri="{FF2B5EF4-FFF2-40B4-BE49-F238E27FC236}">
                <a16:creationId xmlns:a16="http://schemas.microsoft.com/office/drawing/2014/main" id="{D065E96F-34B9-6940-8CF5-B5BC1E923DCB}"/>
              </a:ext>
            </a:extLst>
          </p:cNvPr>
          <p:cNvSpPr>
            <a:spLocks noGrp="1"/>
          </p:cNvSpPr>
          <p:nvPr>
            <p:ph type="body" sz="quarter" idx="21" hasCustomPrompt="1"/>
          </p:nvPr>
        </p:nvSpPr>
        <p:spPr>
          <a:xfrm>
            <a:off x="9644135" y="287950"/>
            <a:ext cx="2162572" cy="288424"/>
          </a:xfrm>
          <a:prstGeom prst="rect">
            <a:avLst/>
          </a:prstGeom>
          <a:solidFill>
            <a:schemeClr val="accent6">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Make the connection</a:t>
            </a:r>
            <a:endParaRPr lang="en-US" dirty="0"/>
          </a:p>
        </p:txBody>
      </p:sp>
      <p:sp>
        <p:nvSpPr>
          <p:cNvPr id="60" name="Text Placeholder 48">
            <a:extLst>
              <a:ext uri="{FF2B5EF4-FFF2-40B4-BE49-F238E27FC236}">
                <a16:creationId xmlns:a16="http://schemas.microsoft.com/office/drawing/2014/main" id="{74718A69-45DC-3349-AC14-1CB20371771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61" name="Text Placeholder 5">
            <a:extLst>
              <a:ext uri="{FF2B5EF4-FFF2-40B4-BE49-F238E27FC236}">
                <a16:creationId xmlns:a16="http://schemas.microsoft.com/office/drawing/2014/main" id="{E8F06128-C65E-E74D-8888-C3B0265B87E5}"/>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62" name="Text Placeholder 48">
            <a:extLst>
              <a:ext uri="{FF2B5EF4-FFF2-40B4-BE49-F238E27FC236}">
                <a16:creationId xmlns:a16="http://schemas.microsoft.com/office/drawing/2014/main" id="{9CC4C70C-1C88-8242-822E-8EB858DBE3EF}"/>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63" name="Text Placeholder 5">
            <a:extLst>
              <a:ext uri="{FF2B5EF4-FFF2-40B4-BE49-F238E27FC236}">
                <a16:creationId xmlns:a16="http://schemas.microsoft.com/office/drawing/2014/main" id="{DB394B8D-09B6-2D4C-A89A-411FA179F6B4}"/>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64" name="Text Placeholder 48">
            <a:extLst>
              <a:ext uri="{FF2B5EF4-FFF2-40B4-BE49-F238E27FC236}">
                <a16:creationId xmlns:a16="http://schemas.microsoft.com/office/drawing/2014/main" id="{9E7179FB-4670-E449-82E2-2342DFBACF6F}"/>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678402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Content Development</a:t>
            </a:r>
          </a:p>
        </p:txBody>
      </p:sp>
      <p:sp>
        <p:nvSpPr>
          <p:cNvPr id="21" name="Text Placeholder 5">
            <a:extLst>
              <a:ext uri="{FF2B5EF4-FFF2-40B4-BE49-F238E27FC236}">
                <a16:creationId xmlns:a16="http://schemas.microsoft.com/office/drawing/2014/main" id="{578A17B0-D745-3C43-93AB-662F15D9C14B}"/>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2" name="Text Placeholder 48">
            <a:extLst>
              <a:ext uri="{FF2B5EF4-FFF2-40B4-BE49-F238E27FC236}">
                <a16:creationId xmlns:a16="http://schemas.microsoft.com/office/drawing/2014/main" id="{C5AFB84F-2B6E-D646-B782-34B1A586BAEE}"/>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3" name="Text Placeholder 5">
            <a:extLst>
              <a:ext uri="{FF2B5EF4-FFF2-40B4-BE49-F238E27FC236}">
                <a16:creationId xmlns:a16="http://schemas.microsoft.com/office/drawing/2014/main" id="{8579A7DA-1AA6-6348-9480-0ABDE8E7E86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4" name="Text Placeholder 48">
            <a:extLst>
              <a:ext uri="{FF2B5EF4-FFF2-40B4-BE49-F238E27FC236}">
                <a16:creationId xmlns:a16="http://schemas.microsoft.com/office/drawing/2014/main" id="{3DC620B8-B5B6-A546-998D-BB0D780266B1}"/>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5" name="Text Placeholder 5">
            <a:extLst>
              <a:ext uri="{FF2B5EF4-FFF2-40B4-BE49-F238E27FC236}">
                <a16:creationId xmlns:a16="http://schemas.microsoft.com/office/drawing/2014/main" id="{33D9DD79-4FA4-9441-9CD5-FD3E0E184E3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6" name="Text Placeholder 48">
            <a:extLst>
              <a:ext uri="{FF2B5EF4-FFF2-40B4-BE49-F238E27FC236}">
                <a16:creationId xmlns:a16="http://schemas.microsoft.com/office/drawing/2014/main" id="{40DC7D38-E5DA-C74E-92F3-A6FCC9CC0E70}"/>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590460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kill Steps /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 Steps / Guided Practice</a:t>
            </a:r>
          </a:p>
        </p:txBody>
      </p:sp>
      <p:sp>
        <p:nvSpPr>
          <p:cNvPr id="22" name="Text Placeholder 5">
            <a:extLst>
              <a:ext uri="{FF2B5EF4-FFF2-40B4-BE49-F238E27FC236}">
                <a16:creationId xmlns:a16="http://schemas.microsoft.com/office/drawing/2014/main" id="{6FCF9CE4-B167-C647-830E-926D9BC11CD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3" name="Text Placeholder 48">
            <a:extLst>
              <a:ext uri="{FF2B5EF4-FFF2-40B4-BE49-F238E27FC236}">
                <a16:creationId xmlns:a16="http://schemas.microsoft.com/office/drawing/2014/main" id="{0749FB8D-5908-B440-BF2C-3B703391AAE5}"/>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4" name="Text Placeholder 5">
            <a:extLst>
              <a:ext uri="{FF2B5EF4-FFF2-40B4-BE49-F238E27FC236}">
                <a16:creationId xmlns:a16="http://schemas.microsoft.com/office/drawing/2014/main" id="{B5210779-8122-F342-AF13-26D8416493B0}"/>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5" name="Text Placeholder 48">
            <a:extLst>
              <a:ext uri="{FF2B5EF4-FFF2-40B4-BE49-F238E27FC236}">
                <a16:creationId xmlns:a16="http://schemas.microsoft.com/office/drawing/2014/main" id="{2564DDFE-656D-C84E-991A-DC05015CC956}"/>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6" name="Text Placeholder 5">
            <a:extLst>
              <a:ext uri="{FF2B5EF4-FFF2-40B4-BE49-F238E27FC236}">
                <a16:creationId xmlns:a16="http://schemas.microsoft.com/office/drawing/2014/main" id="{842EB6E0-B7AD-6C40-89B8-5521B528F9C5}"/>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7" name="Text Placeholder 48">
            <a:extLst>
              <a:ext uri="{FF2B5EF4-FFF2-40B4-BE49-F238E27FC236}">
                <a16:creationId xmlns:a16="http://schemas.microsoft.com/office/drawing/2014/main" id="{A21C2D16-2A8E-4B4B-8D58-4B389AAA67A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35781763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kills Check">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Skills Check</a:t>
            </a:r>
          </a:p>
        </p:txBody>
      </p:sp>
      <p:sp>
        <p:nvSpPr>
          <p:cNvPr id="24" name="Text Placeholder 5">
            <a:extLst>
              <a:ext uri="{FF2B5EF4-FFF2-40B4-BE49-F238E27FC236}">
                <a16:creationId xmlns:a16="http://schemas.microsoft.com/office/drawing/2014/main" id="{2D6AD4E2-8B86-1A42-B6B1-9794F63D2421}"/>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5" name="Text Placeholder 48">
            <a:extLst>
              <a:ext uri="{FF2B5EF4-FFF2-40B4-BE49-F238E27FC236}">
                <a16:creationId xmlns:a16="http://schemas.microsoft.com/office/drawing/2014/main" id="{3824608F-B525-2D45-9CFD-FDDDDC6F3A6B}"/>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6" name="Text Placeholder 5">
            <a:extLst>
              <a:ext uri="{FF2B5EF4-FFF2-40B4-BE49-F238E27FC236}">
                <a16:creationId xmlns:a16="http://schemas.microsoft.com/office/drawing/2014/main" id="{78FBBDF4-8B54-6D40-BB00-9DB79EE3BD87}"/>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7" name="Text Placeholder 48">
            <a:extLst>
              <a:ext uri="{FF2B5EF4-FFF2-40B4-BE49-F238E27FC236}">
                <a16:creationId xmlns:a16="http://schemas.microsoft.com/office/drawing/2014/main" id="{CF892DE4-0989-9F4F-B9B9-0D50497971BE}"/>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8" name="Text Placeholder 5">
            <a:extLst>
              <a:ext uri="{FF2B5EF4-FFF2-40B4-BE49-F238E27FC236}">
                <a16:creationId xmlns:a16="http://schemas.microsoft.com/office/drawing/2014/main" id="{504DAC59-2F1B-D344-B5E4-3DD118198D9F}"/>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9" name="Text Placeholder 48">
            <a:extLst>
              <a:ext uri="{FF2B5EF4-FFF2-40B4-BE49-F238E27FC236}">
                <a16:creationId xmlns:a16="http://schemas.microsoft.com/office/drawing/2014/main" id="{EA6CD3E8-8EA8-D643-BBB5-EB619A56556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13512830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28" name="Text Placeholder 5">
            <a:extLst>
              <a:ext uri="{FF2B5EF4-FFF2-40B4-BE49-F238E27FC236}">
                <a16:creationId xmlns:a16="http://schemas.microsoft.com/office/drawing/2014/main" id="{476A4E78-E152-CE41-A402-F83EB570A41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9" name="Text Placeholder 48">
            <a:extLst>
              <a:ext uri="{FF2B5EF4-FFF2-40B4-BE49-F238E27FC236}">
                <a16:creationId xmlns:a16="http://schemas.microsoft.com/office/drawing/2014/main" id="{BB7D38D9-00D0-E94F-A56B-68FEB60A7FFF}"/>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30" name="Text Placeholder 5">
            <a:extLst>
              <a:ext uri="{FF2B5EF4-FFF2-40B4-BE49-F238E27FC236}">
                <a16:creationId xmlns:a16="http://schemas.microsoft.com/office/drawing/2014/main" id="{75A649CF-6F35-6240-8694-7D985FF77DF1}"/>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31" name="Text Placeholder 48">
            <a:extLst>
              <a:ext uri="{FF2B5EF4-FFF2-40B4-BE49-F238E27FC236}">
                <a16:creationId xmlns:a16="http://schemas.microsoft.com/office/drawing/2014/main" id="{73A7D846-854A-F34B-A7E6-331D90F8028C}"/>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32" name="Text Placeholder 5">
            <a:extLst>
              <a:ext uri="{FF2B5EF4-FFF2-40B4-BE49-F238E27FC236}">
                <a16:creationId xmlns:a16="http://schemas.microsoft.com/office/drawing/2014/main" id="{B421E4A7-84CE-D441-9E4B-33DE3CF3ACE2}"/>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33" name="Text Placeholder 48">
            <a:extLst>
              <a:ext uri="{FF2B5EF4-FFF2-40B4-BE49-F238E27FC236}">
                <a16:creationId xmlns:a16="http://schemas.microsoft.com/office/drawing/2014/main" id="{DC7FFA7A-C37D-F846-868C-88068206D29C}"/>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05576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8" y="1053881"/>
            <a:ext cx="2572719" cy="495947"/>
          </a:xfrm>
          <a:prstGeom prst="rect">
            <a:avLst/>
          </a:prstGeom>
          <a:solidFill>
            <a:srgbClr val="23566C"/>
          </a:solidFill>
        </p:spPr>
        <p:txBody>
          <a:bodyPr wrap="square" rtlCol="0" anchor="ctr">
            <a:noAutofit/>
          </a:bodyPr>
          <a:lstStyle/>
          <a:p>
            <a:r>
              <a:rPr lang="en-US" sz="2400" b="1" dirty="0">
                <a:solidFill>
                  <a:srgbClr val="B3FFFF"/>
                </a:solidFill>
                <a:latin typeface="Futura Medium" panose="020B0602020204020303" pitchFamily="34" charset="-79"/>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a:solidFill>
                  <a:schemeClr val="bg1"/>
                </a:solidFill>
                <a:latin typeface="Futura Medium" panose="020B0602020204020303" pitchFamily="34" charset="-79"/>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1443049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Independent Practice</a:t>
            </a:r>
          </a:p>
        </p:txBody>
      </p:sp>
      <p:sp>
        <p:nvSpPr>
          <p:cNvPr id="20" name="Text Placeholder 5">
            <a:extLst>
              <a:ext uri="{FF2B5EF4-FFF2-40B4-BE49-F238E27FC236}">
                <a16:creationId xmlns:a16="http://schemas.microsoft.com/office/drawing/2014/main" id="{2A7343F6-8A3F-024A-BAB1-A40A1A630C10}"/>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1" name="Text Placeholder 48">
            <a:extLst>
              <a:ext uri="{FF2B5EF4-FFF2-40B4-BE49-F238E27FC236}">
                <a16:creationId xmlns:a16="http://schemas.microsoft.com/office/drawing/2014/main" id="{81597401-FB89-084B-955C-A0C7FAB0243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2" name="Text Placeholder 5">
            <a:extLst>
              <a:ext uri="{FF2B5EF4-FFF2-40B4-BE49-F238E27FC236}">
                <a16:creationId xmlns:a16="http://schemas.microsoft.com/office/drawing/2014/main" id="{A82891C2-3E9D-4241-85E7-747B1595FB9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3" name="Text Placeholder 48">
            <a:extLst>
              <a:ext uri="{FF2B5EF4-FFF2-40B4-BE49-F238E27FC236}">
                <a16:creationId xmlns:a16="http://schemas.microsoft.com/office/drawing/2014/main" id="{8A690C59-B342-0648-BCE5-1C98B5A89AD7}"/>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4" name="Text Placeholder 5">
            <a:extLst>
              <a:ext uri="{FF2B5EF4-FFF2-40B4-BE49-F238E27FC236}">
                <a16:creationId xmlns:a16="http://schemas.microsoft.com/office/drawing/2014/main" id="{17B4E049-9FD5-E24B-B3BE-5C09B449C3F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5" name="Text Placeholder 48">
            <a:extLst>
              <a:ext uri="{FF2B5EF4-FFF2-40B4-BE49-F238E27FC236}">
                <a16:creationId xmlns:a16="http://schemas.microsoft.com/office/drawing/2014/main" id="{5E376940-61D8-D142-9880-9EE380DE8579}"/>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232339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Starter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61142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Icebreaker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begin the lesson…</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767689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Wrap-up</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go…</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105318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1" i="0" dirty="0">
                <a:latin typeface="Century Gothic" panose="020B0502020202020204" pitchFamily="34" charset="0"/>
              </a:rPr>
              <a:t>Reviewing what we know</a:t>
            </a: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4C223F"/>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34650356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746334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396011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08595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4C223F"/>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pPr marL="0" indent="0">
              <a:tabLst>
                <a:tab pos="3597275" algn="l"/>
              </a:tabLst>
            </a:pPr>
            <a:r>
              <a:rPr lang="en-US" sz="6000" b="1" i="0" dirty="0">
                <a:solidFill>
                  <a:srgbClr val="4C223F"/>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27007319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R)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square" rtlCol="0" anchor="ctr">
            <a:normAutofit fontScale="25000" lnSpcReduction="20000"/>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25002" y="629514"/>
            <a:ext cx="5504743"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25002" y="1772516"/>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25002" y="2922543"/>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25002" y="4072570"/>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25002" y="5201522"/>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6436836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30764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808063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8205587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777215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2306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3/9/22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27288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S) Word Lis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208446"/>
            <a:ext cx="11578126" cy="1322388"/>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sz="7200" b="1" i="0" dirty="0">
                <a:latin typeface="Century Gothic" panose="020B0502020202020204" pitchFamily="34" charset="0"/>
              </a:rPr>
              <a:t>   Vocabulary &amp; Spelling</a:t>
            </a:r>
          </a:p>
        </p:txBody>
      </p:sp>
      <p:cxnSp>
        <p:nvCxnSpPr>
          <p:cNvPr id="3" name="Straight Connector 2">
            <a:extLst>
              <a:ext uri="{FF2B5EF4-FFF2-40B4-BE49-F238E27FC236}">
                <a16:creationId xmlns:a16="http://schemas.microsoft.com/office/drawing/2014/main" id="{5AD15892-5882-3341-B706-D64E5ABBDC96}"/>
              </a:ext>
            </a:extLst>
          </p:cNvPr>
          <p:cNvCxnSpPr/>
          <p:nvPr userDrawn="1"/>
        </p:nvCxnSpPr>
        <p:spPr>
          <a:xfrm>
            <a:off x="6084282" y="1771650"/>
            <a:ext cx="0" cy="4572000"/>
          </a:xfrm>
          <a:prstGeom prst="line">
            <a:avLst/>
          </a:prstGeom>
          <a:ln w="28575">
            <a:solidFill>
              <a:srgbClr val="47998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EAD6347-1222-7C40-97CD-5685C7FBB93B}"/>
              </a:ext>
            </a:extLst>
          </p:cNvPr>
          <p:cNvSpPr txBox="1"/>
          <p:nvPr userDrawn="1"/>
        </p:nvSpPr>
        <p:spPr>
          <a:xfrm>
            <a:off x="295219" y="1564481"/>
            <a:ext cx="5789063" cy="523220"/>
          </a:xfrm>
          <a:prstGeom prst="rect">
            <a:avLst/>
          </a:prstGeom>
          <a:noFill/>
        </p:spPr>
        <p:txBody>
          <a:bodyPr wrap="square" rtlCol="0">
            <a:spAutoFit/>
          </a:bodyPr>
          <a:lstStyle/>
          <a:p>
            <a:pPr algn="ctr"/>
            <a:r>
              <a:rPr lang="en-US" sz="2800" b="1" dirty="0">
                <a:solidFill>
                  <a:srgbClr val="1F443E"/>
                </a:solidFill>
              </a:rPr>
              <a:t>Practice Words</a:t>
            </a:r>
          </a:p>
        </p:txBody>
      </p:sp>
      <p:sp>
        <p:nvSpPr>
          <p:cNvPr id="8" name="TextBox 7">
            <a:extLst>
              <a:ext uri="{FF2B5EF4-FFF2-40B4-BE49-F238E27FC236}">
                <a16:creationId xmlns:a16="http://schemas.microsoft.com/office/drawing/2014/main" id="{DFC75BB7-22FA-3044-BE33-24527B15C19C}"/>
              </a:ext>
            </a:extLst>
          </p:cNvPr>
          <p:cNvSpPr txBox="1"/>
          <p:nvPr userDrawn="1"/>
        </p:nvSpPr>
        <p:spPr>
          <a:xfrm>
            <a:off x="6084282" y="1573349"/>
            <a:ext cx="5789063" cy="523220"/>
          </a:xfrm>
          <a:prstGeom prst="rect">
            <a:avLst/>
          </a:prstGeom>
          <a:noFill/>
        </p:spPr>
        <p:txBody>
          <a:bodyPr wrap="square" rtlCol="0">
            <a:spAutoFit/>
          </a:bodyPr>
          <a:lstStyle/>
          <a:p>
            <a:pPr algn="ctr"/>
            <a:r>
              <a:rPr lang="en-US" sz="2800" b="1" dirty="0">
                <a:solidFill>
                  <a:srgbClr val="1F443E"/>
                </a:solidFill>
              </a:rPr>
              <a:t>New Words</a:t>
            </a:r>
          </a:p>
        </p:txBody>
      </p:sp>
      <p:sp>
        <p:nvSpPr>
          <p:cNvPr id="10" name="Text Placeholder 9">
            <a:extLst>
              <a:ext uri="{FF2B5EF4-FFF2-40B4-BE49-F238E27FC236}">
                <a16:creationId xmlns:a16="http://schemas.microsoft.com/office/drawing/2014/main" id="{67D1519D-3B3A-A443-9C33-32137A836131}"/>
              </a:ext>
            </a:extLst>
          </p:cNvPr>
          <p:cNvSpPr>
            <a:spLocks noGrp="1"/>
          </p:cNvSpPr>
          <p:nvPr>
            <p:ph type="body" sz="quarter" idx="10" hasCustomPrompt="1"/>
          </p:nvPr>
        </p:nvSpPr>
        <p:spPr>
          <a:xfrm>
            <a:off x="295275" y="2457450"/>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known words for hyper-speed practice</a:t>
            </a:r>
          </a:p>
        </p:txBody>
      </p:sp>
      <p:sp>
        <p:nvSpPr>
          <p:cNvPr id="11" name="Text Placeholder 9">
            <a:extLst>
              <a:ext uri="{FF2B5EF4-FFF2-40B4-BE49-F238E27FC236}">
                <a16:creationId xmlns:a16="http://schemas.microsoft.com/office/drawing/2014/main" id="{3843A533-E319-DD4D-BFA7-5A1FB929CA5C}"/>
              </a:ext>
            </a:extLst>
          </p:cNvPr>
          <p:cNvSpPr>
            <a:spLocks noGrp="1"/>
          </p:cNvSpPr>
          <p:nvPr>
            <p:ph type="body" sz="quarter" idx="11" hasCustomPrompt="1"/>
          </p:nvPr>
        </p:nvSpPr>
        <p:spPr>
          <a:xfrm>
            <a:off x="6083732" y="2466318"/>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new words for learning definitions and spelling</a:t>
            </a:r>
          </a:p>
        </p:txBody>
      </p:sp>
    </p:spTree>
    <p:extLst>
      <p:ext uri="{BB962C8B-B14F-4D97-AF65-F5344CB8AC3E}">
        <p14:creationId xmlns:p14="http://schemas.microsoft.com/office/powerpoint/2010/main" val="24214471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S)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408965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S)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3510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S)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45112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S)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37882" y="629514"/>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37882" y="1772516"/>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37882" y="2915518"/>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37882" y="4058520"/>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37882" y="5201522"/>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3121826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S)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89396" y="629514"/>
            <a:ext cx="5440349"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89396" y="1772516"/>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89396" y="2915518"/>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89396" y="4058520"/>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89396" y="5201522"/>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08694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S)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182155"/>
          </a:xfrm>
          <a:prstGeom prst="rect">
            <a:avLst/>
          </a:prstGeom>
          <a:solidFill>
            <a:srgbClr val="C1FFE1"/>
          </a:solidFill>
          <a:ln>
            <a:noFill/>
          </a:ln>
        </p:spPr>
        <p:txBody>
          <a:bodyPr wrap="square" rtlCol="0" anchor="ctr">
            <a:normAutofit/>
          </a:bodyPr>
          <a:lstStyle/>
          <a:p>
            <a:r>
              <a:rPr lang="en-US" sz="6000" b="1" i="0" dirty="0">
                <a:solidFill>
                  <a:srgbClr val="1F443E"/>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3460232"/>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the word apart</a:t>
            </a:r>
          </a:p>
        </p:txBody>
      </p:sp>
    </p:spTree>
    <p:extLst>
      <p:ext uri="{BB962C8B-B14F-4D97-AF65-F5344CB8AC3E}">
        <p14:creationId xmlns:p14="http://schemas.microsoft.com/office/powerpoint/2010/main" val="18098056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S)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972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3/9/22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03146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C)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683F84"/>
                </a:solidFill>
                <a:latin typeface="Calibri" panose="020F0502020204030204" pitchFamily="34" charset="0"/>
                <a:cs typeface="Calibri" panose="020F0502020204030204" pitchFamily="34" charset="0"/>
              </a:rPr>
              <a:t>Think </a:t>
            </a:r>
          </a:p>
          <a:p>
            <a:r>
              <a:rPr lang="en-US" sz="3600" b="1" i="0" dirty="0">
                <a:solidFill>
                  <a:srgbClr val="683F84"/>
                </a:solidFill>
                <a:latin typeface="Calibri" panose="020F0502020204030204" pitchFamily="34" charset="0"/>
                <a:cs typeface="Calibri" panose="020F0502020204030204" pitchFamily="34" charset="0"/>
              </a:rPr>
              <a:t>Pair</a:t>
            </a:r>
          </a:p>
          <a:p>
            <a:r>
              <a:rPr lang="en-US" sz="3600" b="1" i="0" dirty="0">
                <a:solidFill>
                  <a:srgbClr val="683F84"/>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2854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C)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7644547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C)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683F84"/>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95254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C)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5705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C)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14203224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C)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946876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RC)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8428318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RC)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874969655"/>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C)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098907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RC)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54179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RC)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679375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RC)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r>
              <a:rPr lang="en-US" sz="6000" b="1" i="0" dirty="0">
                <a:solidFill>
                  <a:srgbClr val="382248"/>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6723374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RC)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2521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3/9/22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12967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585C-8B69-B043-B753-1A3000E352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5CEF58-0EF9-D840-9A8F-AD0FF1E4BE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86F59C-3B87-1C41-BD96-7DDB60283D1F}"/>
              </a:ext>
            </a:extLst>
          </p:cNvPr>
          <p:cNvSpPr>
            <a:spLocks noGrp="1"/>
          </p:cNvSpPr>
          <p:nvPr>
            <p:ph type="dt" sz="half" idx="10"/>
          </p:nvPr>
        </p:nvSpPr>
        <p:spPr/>
        <p:txBody>
          <a:bodyPr/>
          <a:lstStyle/>
          <a:p>
            <a:fld id="{B61BEF0D-F0BB-DE4B-95CE-6DB70DBA9567}" type="datetimeFigureOut">
              <a:rPr lang="en-US" smtClean="0"/>
              <a:pPr/>
              <a:t>3/9/22</a:t>
            </a:fld>
            <a:endParaRPr lang="en-US" dirty="0"/>
          </a:p>
        </p:txBody>
      </p:sp>
      <p:sp>
        <p:nvSpPr>
          <p:cNvPr id="5" name="Footer Placeholder 4">
            <a:extLst>
              <a:ext uri="{FF2B5EF4-FFF2-40B4-BE49-F238E27FC236}">
                <a16:creationId xmlns:a16="http://schemas.microsoft.com/office/drawing/2014/main" id="{977998FC-6D47-6449-A1F6-30E23BA727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AC17CDF-FC7F-5A44-9C47-53EAA5ED781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92569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3433-A2CE-6244-9F12-597922B28A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97E04B-808C-9F42-BF20-9FB1B64025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301CBA-4616-FD45-8717-85954893BE41}"/>
              </a:ext>
            </a:extLst>
          </p:cNvPr>
          <p:cNvSpPr>
            <a:spLocks noGrp="1"/>
          </p:cNvSpPr>
          <p:nvPr>
            <p:ph type="dt" sz="half" idx="10"/>
          </p:nvPr>
        </p:nvSpPr>
        <p:spPr/>
        <p:txBody>
          <a:bodyPr/>
          <a:lstStyle/>
          <a:p>
            <a:fld id="{B61BEF0D-F0BB-DE4B-95CE-6DB70DBA9567}" type="datetimeFigureOut">
              <a:rPr lang="en-US" smtClean="0"/>
              <a:pPr/>
              <a:t>3/9/22</a:t>
            </a:fld>
            <a:endParaRPr lang="en-US" dirty="0"/>
          </a:p>
        </p:txBody>
      </p:sp>
      <p:sp>
        <p:nvSpPr>
          <p:cNvPr id="5" name="Footer Placeholder 4">
            <a:extLst>
              <a:ext uri="{FF2B5EF4-FFF2-40B4-BE49-F238E27FC236}">
                <a16:creationId xmlns:a16="http://schemas.microsoft.com/office/drawing/2014/main" id="{16C6EC38-1217-AF4A-BF4A-8C98EFBF38B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62114F-C2DD-B544-97F6-A6869EB0D8A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60519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C308E-C0FD-7847-BDAC-288A4A818C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7F8788-D236-534A-8446-06EADB8B0C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CE6483-F658-9B42-B6E2-2273E7B5CD5E}"/>
              </a:ext>
            </a:extLst>
          </p:cNvPr>
          <p:cNvSpPr>
            <a:spLocks noGrp="1"/>
          </p:cNvSpPr>
          <p:nvPr>
            <p:ph type="dt" sz="half" idx="10"/>
          </p:nvPr>
        </p:nvSpPr>
        <p:spPr/>
        <p:txBody>
          <a:bodyPr/>
          <a:lstStyle/>
          <a:p>
            <a:fld id="{B61BEF0D-F0BB-DE4B-95CE-6DB70DBA9567}" type="datetimeFigureOut">
              <a:rPr lang="en-US" smtClean="0"/>
              <a:pPr/>
              <a:t>3/9/22</a:t>
            </a:fld>
            <a:endParaRPr lang="en-US" dirty="0"/>
          </a:p>
        </p:txBody>
      </p:sp>
      <p:sp>
        <p:nvSpPr>
          <p:cNvPr id="5" name="Footer Placeholder 4">
            <a:extLst>
              <a:ext uri="{FF2B5EF4-FFF2-40B4-BE49-F238E27FC236}">
                <a16:creationId xmlns:a16="http://schemas.microsoft.com/office/drawing/2014/main" id="{B75ED8CC-1F14-0247-B5EB-CD3E00E47E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71B541-9920-E24C-9758-7B00FE37300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6700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40DF-6BE1-F045-A153-2BC1B9F209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096841-0F00-E44A-BA16-50308628B1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4D93E6-96AC-AC4B-AFB4-BD2249EF5C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78163F-327D-C546-8B65-F3E9D26F31AD}"/>
              </a:ext>
            </a:extLst>
          </p:cNvPr>
          <p:cNvSpPr>
            <a:spLocks noGrp="1"/>
          </p:cNvSpPr>
          <p:nvPr>
            <p:ph type="dt" sz="half" idx="10"/>
          </p:nvPr>
        </p:nvSpPr>
        <p:spPr/>
        <p:txBody>
          <a:bodyPr/>
          <a:lstStyle/>
          <a:p>
            <a:fld id="{EB712588-04B1-427B-82EE-E8DB90309F08}" type="datetimeFigureOut">
              <a:rPr lang="en-US" smtClean="0"/>
              <a:t>3/9/22</a:t>
            </a:fld>
            <a:endParaRPr lang="en-US" dirty="0"/>
          </a:p>
        </p:txBody>
      </p:sp>
      <p:sp>
        <p:nvSpPr>
          <p:cNvPr id="6" name="Footer Placeholder 5">
            <a:extLst>
              <a:ext uri="{FF2B5EF4-FFF2-40B4-BE49-F238E27FC236}">
                <a16:creationId xmlns:a16="http://schemas.microsoft.com/office/drawing/2014/main" id="{3AE0AD71-D318-4242-BA74-69358F17244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320061-E089-FE42-B800-B7A6FB7BC80E}"/>
              </a:ext>
            </a:extLst>
          </p:cNvPr>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52326457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5FB7-2215-4149-A411-95C19165DE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8ADC7A-69C4-3449-A284-61F53D594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49C283-6034-8D45-BB1B-552F39A25F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989C7E-762D-DF4F-A602-A1BF218571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9E0002-87D6-C24A-A91D-B990D374A8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6668C5-B842-794E-B9EA-875D34A8FB78}"/>
              </a:ext>
            </a:extLst>
          </p:cNvPr>
          <p:cNvSpPr>
            <a:spLocks noGrp="1"/>
          </p:cNvSpPr>
          <p:nvPr>
            <p:ph type="dt" sz="half" idx="10"/>
          </p:nvPr>
        </p:nvSpPr>
        <p:spPr/>
        <p:txBody>
          <a:bodyPr/>
          <a:lstStyle/>
          <a:p>
            <a:fld id="{B61BEF0D-F0BB-DE4B-95CE-6DB70DBA9567}" type="datetimeFigureOut">
              <a:rPr lang="en-US" smtClean="0"/>
              <a:pPr/>
              <a:t>3/9/22</a:t>
            </a:fld>
            <a:endParaRPr lang="en-US" dirty="0"/>
          </a:p>
        </p:txBody>
      </p:sp>
      <p:sp>
        <p:nvSpPr>
          <p:cNvPr id="8" name="Footer Placeholder 7">
            <a:extLst>
              <a:ext uri="{FF2B5EF4-FFF2-40B4-BE49-F238E27FC236}">
                <a16:creationId xmlns:a16="http://schemas.microsoft.com/office/drawing/2014/main" id="{5A28C667-CE46-ED48-8821-9DB111E8618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72B333B-9FFF-2A4D-AC87-7E27A855E7E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3352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690E-17E1-DE4E-B5A2-5BA6EBD016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2D7D25-037D-964F-A4AF-09A211E2C271}"/>
              </a:ext>
            </a:extLst>
          </p:cNvPr>
          <p:cNvSpPr>
            <a:spLocks noGrp="1"/>
          </p:cNvSpPr>
          <p:nvPr>
            <p:ph type="dt" sz="half" idx="10"/>
          </p:nvPr>
        </p:nvSpPr>
        <p:spPr/>
        <p:txBody>
          <a:bodyPr/>
          <a:lstStyle/>
          <a:p>
            <a:fld id="{B61BEF0D-F0BB-DE4B-95CE-6DB70DBA9567}" type="datetimeFigureOut">
              <a:rPr lang="en-US" smtClean="0"/>
              <a:pPr/>
              <a:t>3/9/22</a:t>
            </a:fld>
            <a:endParaRPr lang="en-US" dirty="0"/>
          </a:p>
        </p:txBody>
      </p:sp>
      <p:sp>
        <p:nvSpPr>
          <p:cNvPr id="4" name="Footer Placeholder 3">
            <a:extLst>
              <a:ext uri="{FF2B5EF4-FFF2-40B4-BE49-F238E27FC236}">
                <a16:creationId xmlns:a16="http://schemas.microsoft.com/office/drawing/2014/main" id="{43E9663C-8167-6847-8432-42DEF7FF283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17A0131-4841-D843-9AC9-055AC2F2CC4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94196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2A51B5-09FC-864D-98FE-16F163363C6C}"/>
              </a:ext>
            </a:extLst>
          </p:cNvPr>
          <p:cNvSpPr>
            <a:spLocks noGrp="1"/>
          </p:cNvSpPr>
          <p:nvPr>
            <p:ph type="dt" sz="half" idx="10"/>
          </p:nvPr>
        </p:nvSpPr>
        <p:spPr/>
        <p:txBody>
          <a:bodyPr/>
          <a:lstStyle/>
          <a:p>
            <a:fld id="{B61BEF0D-F0BB-DE4B-95CE-6DB70DBA9567}" type="datetimeFigureOut">
              <a:rPr lang="en-US" smtClean="0"/>
              <a:pPr/>
              <a:t>3/9/22</a:t>
            </a:fld>
            <a:endParaRPr lang="en-US" dirty="0"/>
          </a:p>
        </p:txBody>
      </p:sp>
      <p:sp>
        <p:nvSpPr>
          <p:cNvPr id="3" name="Footer Placeholder 2">
            <a:extLst>
              <a:ext uri="{FF2B5EF4-FFF2-40B4-BE49-F238E27FC236}">
                <a16:creationId xmlns:a16="http://schemas.microsoft.com/office/drawing/2014/main" id="{9A9FE577-AF6A-204B-8987-548A9FD823E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EA56DD6-090D-EE44-86E5-9EFB2159941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517925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D02F1-BD0C-1C49-A3BA-25D110E62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B73BB6-219E-004E-9277-DBD25B22A5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6C13EE-ADDA-1745-A0D2-E1055F03E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4BDD4-3C99-5F44-923E-0DF1F92E92E7}"/>
              </a:ext>
            </a:extLst>
          </p:cNvPr>
          <p:cNvSpPr>
            <a:spLocks noGrp="1"/>
          </p:cNvSpPr>
          <p:nvPr>
            <p:ph type="dt" sz="half" idx="10"/>
          </p:nvPr>
        </p:nvSpPr>
        <p:spPr/>
        <p:txBody>
          <a:bodyPr/>
          <a:lstStyle/>
          <a:p>
            <a:fld id="{42A54C80-263E-416B-A8E0-580EDEADCBDC}" type="datetimeFigureOut">
              <a:rPr lang="en-US" smtClean="0"/>
              <a:t>3/9/22</a:t>
            </a:fld>
            <a:endParaRPr lang="en-US" dirty="0"/>
          </a:p>
        </p:txBody>
      </p:sp>
      <p:sp>
        <p:nvSpPr>
          <p:cNvPr id="6" name="Footer Placeholder 5">
            <a:extLst>
              <a:ext uri="{FF2B5EF4-FFF2-40B4-BE49-F238E27FC236}">
                <a16:creationId xmlns:a16="http://schemas.microsoft.com/office/drawing/2014/main" id="{E8C8318F-B631-4E46-8340-D22F039FA87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7748A4C-A384-AF47-A837-C46A99AA163B}"/>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5428432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456D-8FD1-A343-BC21-599F10E4CE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8D8699-A379-934C-9848-BD600A5D0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A82C27-0E15-8840-96CE-D0F006334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1ED90E-797F-5C43-AD81-B1B3F85ECEED}"/>
              </a:ext>
            </a:extLst>
          </p:cNvPr>
          <p:cNvSpPr>
            <a:spLocks noGrp="1"/>
          </p:cNvSpPr>
          <p:nvPr>
            <p:ph type="dt" sz="half" idx="10"/>
          </p:nvPr>
        </p:nvSpPr>
        <p:spPr/>
        <p:txBody>
          <a:bodyPr/>
          <a:lstStyle/>
          <a:p>
            <a:fld id="{B61BEF0D-F0BB-DE4B-95CE-6DB70DBA9567}" type="datetimeFigureOut">
              <a:rPr lang="en-US" smtClean="0"/>
              <a:pPr/>
              <a:t>3/9/22</a:t>
            </a:fld>
            <a:endParaRPr lang="en-US" dirty="0"/>
          </a:p>
        </p:txBody>
      </p:sp>
      <p:sp>
        <p:nvSpPr>
          <p:cNvPr id="6" name="Footer Placeholder 5">
            <a:extLst>
              <a:ext uri="{FF2B5EF4-FFF2-40B4-BE49-F238E27FC236}">
                <a16:creationId xmlns:a16="http://schemas.microsoft.com/office/drawing/2014/main" id="{711EDEC2-1761-E34F-87C9-7E697178CB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043B737-D7BA-5E4C-AF00-66D590E0D37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20287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6AFF8-63E3-0A40-8D7C-457B91F6B5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D20475-B697-E541-A6DF-92AF025383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4675E-25C2-DB4B-B732-E675B20FD120}"/>
              </a:ext>
            </a:extLst>
          </p:cNvPr>
          <p:cNvSpPr>
            <a:spLocks noGrp="1"/>
          </p:cNvSpPr>
          <p:nvPr>
            <p:ph type="dt" sz="half" idx="10"/>
          </p:nvPr>
        </p:nvSpPr>
        <p:spPr/>
        <p:txBody>
          <a:bodyPr/>
          <a:lstStyle/>
          <a:p>
            <a:fld id="{55C6B4A9-1611-4792-9094-5F34BCA07E0B}" type="datetimeFigureOut">
              <a:rPr lang="en-US" smtClean="0"/>
              <a:t>3/9/22</a:t>
            </a:fld>
            <a:endParaRPr lang="en-US" dirty="0"/>
          </a:p>
        </p:txBody>
      </p:sp>
      <p:sp>
        <p:nvSpPr>
          <p:cNvPr id="5" name="Footer Placeholder 4">
            <a:extLst>
              <a:ext uri="{FF2B5EF4-FFF2-40B4-BE49-F238E27FC236}">
                <a16:creationId xmlns:a16="http://schemas.microsoft.com/office/drawing/2014/main" id="{C89AA116-B5A0-BA4A-927E-F785DA39214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E934329-E529-1C4A-B234-47CEB980DC90}"/>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75295150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039D1-DA12-DF4C-B907-75F31632F8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DE494C-36A5-2747-BF3C-397154210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D58C0A-6161-4F4D-A944-A3BF9791D897}"/>
              </a:ext>
            </a:extLst>
          </p:cNvPr>
          <p:cNvSpPr>
            <a:spLocks noGrp="1"/>
          </p:cNvSpPr>
          <p:nvPr>
            <p:ph type="dt" sz="half" idx="10"/>
          </p:nvPr>
        </p:nvSpPr>
        <p:spPr/>
        <p:txBody>
          <a:bodyPr/>
          <a:lstStyle/>
          <a:p>
            <a:fld id="{B61BEF0D-F0BB-DE4B-95CE-6DB70DBA9567}" type="datetimeFigureOut">
              <a:rPr lang="en-US" smtClean="0"/>
              <a:pPr/>
              <a:t>3/9/22</a:t>
            </a:fld>
            <a:endParaRPr lang="en-US" dirty="0"/>
          </a:p>
        </p:txBody>
      </p:sp>
      <p:sp>
        <p:nvSpPr>
          <p:cNvPr id="5" name="Footer Placeholder 4">
            <a:extLst>
              <a:ext uri="{FF2B5EF4-FFF2-40B4-BE49-F238E27FC236}">
                <a16:creationId xmlns:a16="http://schemas.microsoft.com/office/drawing/2014/main" id="{B5F5B78C-A430-9642-82D9-6A2FCFBA582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296C11C-7346-FA48-B12E-8225F91ED1C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875876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2D0F5F-0DBB-47A9-9535-5081A996AADA}"/>
              </a:ext>
            </a:extLst>
          </p:cNvPr>
          <p:cNvSpPr txBox="1"/>
          <p:nvPr userDrawn="1"/>
        </p:nvSpPr>
        <p:spPr>
          <a:xfrm>
            <a:off x="9146009" y="602344"/>
            <a:ext cx="2034232" cy="358796"/>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Learning Objective</a:t>
            </a:r>
          </a:p>
        </p:txBody>
      </p:sp>
      <p:sp>
        <p:nvSpPr>
          <p:cNvPr id="13" name="TextBox 12">
            <a:extLst>
              <a:ext uri="{FF2B5EF4-FFF2-40B4-BE49-F238E27FC236}">
                <a16:creationId xmlns:a16="http://schemas.microsoft.com/office/drawing/2014/main" id="{B727232C-B92E-457E-B352-F618EC28E4D8}"/>
              </a:ext>
            </a:extLst>
          </p:cNvPr>
          <p:cNvSpPr txBox="1"/>
          <p:nvPr userDrawn="1"/>
        </p:nvSpPr>
        <p:spPr>
          <a:xfrm>
            <a:off x="8926325" y="2926415"/>
            <a:ext cx="2260256" cy="358796"/>
          </a:xfrm>
          <a:custGeom>
            <a:avLst/>
            <a:gdLst>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2017486 w 2017486"/>
              <a:gd name="connsiteY4" fmla="*/ 307570 h 369085"/>
              <a:gd name="connsiteX5" fmla="*/ 1955971 w 2017486"/>
              <a:gd name="connsiteY5" fmla="*/ 369085 h 369085"/>
              <a:gd name="connsiteX6" fmla="*/ 61515 w 2017486"/>
              <a:gd name="connsiteY6" fmla="*/ 369085 h 369085"/>
              <a:gd name="connsiteX7" fmla="*/ 0 w 2017486"/>
              <a:gd name="connsiteY7" fmla="*/ 307570 h 369085"/>
              <a:gd name="connsiteX8" fmla="*/ 0 w 2017486"/>
              <a:gd name="connsiteY8" fmla="*/ 61515 h 369085"/>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2017486 w 2017486"/>
              <a:gd name="connsiteY4" fmla="*/ 307570 h 369085"/>
              <a:gd name="connsiteX5" fmla="*/ 1674617 w 2017486"/>
              <a:gd name="connsiteY5" fmla="*/ 348988 h 369085"/>
              <a:gd name="connsiteX6" fmla="*/ 61515 w 2017486"/>
              <a:gd name="connsiteY6" fmla="*/ 369085 h 369085"/>
              <a:gd name="connsiteX7" fmla="*/ 0 w 2017486"/>
              <a:gd name="connsiteY7" fmla="*/ 307570 h 369085"/>
              <a:gd name="connsiteX8" fmla="*/ 0 w 2017486"/>
              <a:gd name="connsiteY8" fmla="*/ 61515 h 369085"/>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1896905 w 2017486"/>
              <a:gd name="connsiteY4" fmla="*/ 197039 h 369085"/>
              <a:gd name="connsiteX5" fmla="*/ 1674617 w 2017486"/>
              <a:gd name="connsiteY5" fmla="*/ 348988 h 369085"/>
              <a:gd name="connsiteX6" fmla="*/ 61515 w 2017486"/>
              <a:gd name="connsiteY6" fmla="*/ 369085 h 369085"/>
              <a:gd name="connsiteX7" fmla="*/ 0 w 2017486"/>
              <a:gd name="connsiteY7" fmla="*/ 307570 h 369085"/>
              <a:gd name="connsiteX8" fmla="*/ 0 w 2017486"/>
              <a:gd name="connsiteY8" fmla="*/ 61515 h 369085"/>
              <a:gd name="connsiteX0" fmla="*/ 0 w 2007437"/>
              <a:gd name="connsiteY0" fmla="*/ 68942 h 376512"/>
              <a:gd name="connsiteX1" fmla="*/ 61515 w 2007437"/>
              <a:gd name="connsiteY1" fmla="*/ 7427 h 376512"/>
              <a:gd name="connsiteX2" fmla="*/ 1955971 w 2007437"/>
              <a:gd name="connsiteY2" fmla="*/ 7427 h 376512"/>
              <a:gd name="connsiteX3" fmla="*/ 2007437 w 2007437"/>
              <a:gd name="connsiteY3" fmla="*/ 18700 h 376512"/>
              <a:gd name="connsiteX4" fmla="*/ 1896905 w 2007437"/>
              <a:gd name="connsiteY4" fmla="*/ 204466 h 376512"/>
              <a:gd name="connsiteX5" fmla="*/ 1674617 w 2007437"/>
              <a:gd name="connsiteY5" fmla="*/ 356415 h 376512"/>
              <a:gd name="connsiteX6" fmla="*/ 61515 w 2007437"/>
              <a:gd name="connsiteY6" fmla="*/ 376512 h 376512"/>
              <a:gd name="connsiteX7" fmla="*/ 0 w 2007437"/>
              <a:gd name="connsiteY7" fmla="*/ 314997 h 376512"/>
              <a:gd name="connsiteX8" fmla="*/ 0 w 2007437"/>
              <a:gd name="connsiteY8" fmla="*/ 68942 h 37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7437" h="376512">
                <a:moveTo>
                  <a:pt x="0" y="68942"/>
                </a:moveTo>
                <a:cubicBezTo>
                  <a:pt x="0" y="34968"/>
                  <a:pt x="27541" y="7427"/>
                  <a:pt x="61515" y="7427"/>
                </a:cubicBezTo>
                <a:lnTo>
                  <a:pt x="1955971" y="7427"/>
                </a:lnTo>
                <a:cubicBezTo>
                  <a:pt x="1989945" y="7427"/>
                  <a:pt x="2007437" y="-15274"/>
                  <a:pt x="2007437" y="18700"/>
                </a:cubicBezTo>
                <a:lnTo>
                  <a:pt x="1896905" y="204466"/>
                </a:lnTo>
                <a:cubicBezTo>
                  <a:pt x="1896905" y="238440"/>
                  <a:pt x="1708591" y="356415"/>
                  <a:pt x="1674617" y="356415"/>
                </a:cubicBezTo>
                <a:cubicBezTo>
                  <a:pt x="1043132" y="356415"/>
                  <a:pt x="693000" y="376512"/>
                  <a:pt x="61515" y="376512"/>
                </a:cubicBezTo>
                <a:cubicBezTo>
                  <a:pt x="27541" y="376512"/>
                  <a:pt x="0" y="348971"/>
                  <a:pt x="0" y="314997"/>
                </a:cubicBezTo>
                <a:lnTo>
                  <a:pt x="0" y="68942"/>
                </a:lnTo>
                <a:close/>
              </a:path>
            </a:pathLst>
          </a:cu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lvl="0" algn="ctr"/>
            <a:r>
              <a:rPr lang="en-US" sz="1400" b="0" i="0" dirty="0">
                <a:solidFill>
                  <a:schemeClr val="bg1"/>
                </a:solidFill>
                <a:latin typeface="Arial Rounded MT Bold" panose="020F0704030504030204" pitchFamily="34" charset="0"/>
                <a:cs typeface="Futura Medium" panose="020B0602020204020303" pitchFamily="34" charset="-79"/>
              </a:rPr>
              <a:t>Think - Pair - Share</a:t>
            </a:r>
          </a:p>
        </p:txBody>
      </p:sp>
      <p:sp>
        <p:nvSpPr>
          <p:cNvPr id="15" name="Text Placeholder 2">
            <a:extLst>
              <a:ext uri="{FF2B5EF4-FFF2-40B4-BE49-F238E27FC236}">
                <a16:creationId xmlns:a16="http://schemas.microsoft.com/office/drawing/2014/main" id="{D8D8F44C-757A-43E7-8713-76A89DF6C4D9}"/>
              </a:ext>
            </a:extLst>
          </p:cNvPr>
          <p:cNvSpPr>
            <a:spLocks noGrp="1"/>
          </p:cNvSpPr>
          <p:nvPr>
            <p:ph type="body" sz="quarter" idx="16" hasCustomPrompt="1"/>
          </p:nvPr>
        </p:nvSpPr>
        <p:spPr>
          <a:xfrm>
            <a:off x="432958" y="3689575"/>
            <a:ext cx="10745582" cy="2651940"/>
          </a:xfrm>
          <a:prstGeom prst="round2DiagRect">
            <a:avLst/>
          </a:prstGeom>
          <a:noFill/>
          <a:ln w="38100">
            <a:solidFill>
              <a:srgbClr val="1891AC"/>
            </a:solidFill>
          </a:ln>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ea typeface="Verdana" panose="020B0604030504040204" pitchFamily="34" charset="0"/>
              </a:defRPr>
            </a:lvl1pPr>
          </a:lstStyle>
          <a:p>
            <a:pPr lvl="0"/>
            <a:br>
              <a:rPr lang="en-AU" dirty="0"/>
            </a:br>
            <a:r>
              <a:rPr lang="en-AU" dirty="0"/>
              <a:t>State a specific task you will be setting at the end of the lesson,</a:t>
            </a:r>
            <a:br>
              <a:rPr lang="en-AU" dirty="0"/>
            </a:br>
            <a:r>
              <a:rPr lang="en-AU" dirty="0"/>
              <a:t>to assess whether students have been successful</a:t>
            </a:r>
            <a:br>
              <a:rPr lang="en-AU" dirty="0"/>
            </a:br>
            <a:r>
              <a:rPr lang="en-AU" dirty="0"/>
              <a:t>in obtaining the learning objective.</a:t>
            </a:r>
          </a:p>
          <a:p>
            <a:pPr lvl="0"/>
            <a:endParaRPr lang="en-AU" dirty="0"/>
          </a:p>
        </p:txBody>
      </p:sp>
      <p:sp>
        <p:nvSpPr>
          <p:cNvPr id="10" name="Text Placeholder 2">
            <a:extLst>
              <a:ext uri="{FF2B5EF4-FFF2-40B4-BE49-F238E27FC236}">
                <a16:creationId xmlns:a16="http://schemas.microsoft.com/office/drawing/2014/main" id="{C2A00B02-7DD1-4010-8743-E8E43F8620E6}"/>
              </a:ext>
            </a:extLst>
          </p:cNvPr>
          <p:cNvSpPr>
            <a:spLocks noGrp="1"/>
          </p:cNvSpPr>
          <p:nvPr>
            <p:ph type="body" sz="quarter" idx="18" hasCustomPrompt="1"/>
          </p:nvPr>
        </p:nvSpPr>
        <p:spPr>
          <a:xfrm>
            <a:off x="432958" y="602344"/>
            <a:ext cx="10745582" cy="2651940"/>
          </a:xfrm>
          <a:prstGeom prst="round2DiagRect">
            <a:avLst/>
          </a:prstGeom>
          <a:ln w="38100">
            <a:solidFill>
              <a:srgbClr val="154983"/>
            </a:solidFill>
          </a:ln>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ea typeface="Verdana" panose="020B0604030504040204" pitchFamily="34" charset="0"/>
              </a:defRPr>
            </a:lvl1pPr>
          </a:lstStyle>
          <a:p>
            <a:pPr lvl="0"/>
            <a:r>
              <a:rPr lang="en-AU" dirty="0"/>
              <a:t>A statement describing what the students</a:t>
            </a:r>
            <a:br>
              <a:rPr lang="en-AU" dirty="0"/>
            </a:br>
            <a:r>
              <a:rPr lang="en-AU" dirty="0"/>
              <a:t>will be able to do by the end of the lesson.</a:t>
            </a:r>
            <a:br>
              <a:rPr lang="en-AU" dirty="0"/>
            </a:br>
            <a:br>
              <a:rPr lang="en-AU" dirty="0"/>
            </a:br>
            <a:r>
              <a:rPr lang="en-AU" dirty="0"/>
              <a:t>E.g. ‘Write direct speech using</a:t>
            </a:r>
            <a:br>
              <a:rPr lang="en-AU" dirty="0"/>
            </a:br>
            <a:r>
              <a:rPr lang="en-AU" dirty="0"/>
              <a:t>correct punctuation and grammar.’</a:t>
            </a:r>
          </a:p>
        </p:txBody>
      </p:sp>
      <p:sp>
        <p:nvSpPr>
          <p:cNvPr id="6" name="TextBox 5">
            <a:extLst>
              <a:ext uri="{FF2B5EF4-FFF2-40B4-BE49-F238E27FC236}">
                <a16:creationId xmlns:a16="http://schemas.microsoft.com/office/drawing/2014/main" id="{AB21FC50-7983-4BBE-87BD-F3ED203B330F}"/>
              </a:ext>
            </a:extLst>
          </p:cNvPr>
          <p:cNvSpPr txBox="1"/>
          <p:nvPr userDrawn="1"/>
        </p:nvSpPr>
        <p:spPr>
          <a:xfrm>
            <a:off x="9146009" y="3677498"/>
            <a:ext cx="2034234" cy="358796"/>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Success Criteria</a:t>
            </a:r>
          </a:p>
        </p:txBody>
      </p:sp>
    </p:spTree>
    <p:extLst>
      <p:ext uri="{BB962C8B-B14F-4D97-AF65-F5344CB8AC3E}">
        <p14:creationId xmlns:p14="http://schemas.microsoft.com/office/powerpoint/2010/main" val="385708788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EI) Content Developm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E1E29-E5E1-4CA6-AE28-873DC4095433}"/>
              </a:ext>
            </a:extLst>
          </p:cNvPr>
          <p:cNvSpPr txBox="1"/>
          <p:nvPr userDrawn="1"/>
        </p:nvSpPr>
        <p:spPr>
          <a:xfrm>
            <a:off x="280557" y="237294"/>
            <a:ext cx="2206171"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defPPr>
              <a:defRPr lang="en-US"/>
            </a:defPPr>
            <a:lvl1pPr algn="ctr">
              <a:defRPr sz="1400" b="0" i="0">
                <a:solidFill>
                  <a:schemeClr val="bg1"/>
                </a:solidFill>
                <a:latin typeface="Arial Rounded MT Bold" panose="020F0704030504030204" pitchFamily="34" charset="0"/>
                <a:cs typeface="Futura Medium" panose="020B0602020204020303" pitchFamily="34" charset="-79"/>
              </a:defRPr>
            </a:lvl1pPr>
          </a:lstStyle>
          <a:p>
            <a:pPr lvl="0"/>
            <a:r>
              <a:rPr lang="en-US" dirty="0"/>
              <a:t>Concept Development</a:t>
            </a:r>
          </a:p>
        </p:txBody>
      </p:sp>
      <p:sp>
        <p:nvSpPr>
          <p:cNvPr id="11" name="Text Placeholder 6">
            <a:extLst>
              <a:ext uri="{FF2B5EF4-FFF2-40B4-BE49-F238E27FC236}">
                <a16:creationId xmlns:a16="http://schemas.microsoft.com/office/drawing/2014/main" id="{492D3A20-F902-4F74-96C6-B8576FA0A5F9}"/>
              </a:ext>
            </a:extLst>
          </p:cNvPr>
          <p:cNvSpPr>
            <a:spLocks noGrp="1"/>
          </p:cNvSpPr>
          <p:nvPr>
            <p:ph type="body" sz="quarter" idx="13" hasCustomPrompt="1"/>
          </p:nvPr>
        </p:nvSpPr>
        <p:spPr>
          <a:xfrm>
            <a:off x="280557" y="805337"/>
            <a:ext cx="11481952" cy="524699"/>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F940C2C1-B592-48FA-B23E-0B742216BD9C}"/>
              </a:ext>
            </a:extLst>
          </p:cNvPr>
          <p:cNvSpPr>
            <a:spLocks noGrp="1"/>
          </p:cNvSpPr>
          <p:nvPr>
            <p:ph type="body" sz="quarter" idx="15" hasCustomPrompt="1"/>
          </p:nvPr>
        </p:nvSpPr>
        <p:spPr>
          <a:xfrm>
            <a:off x="280558" y="1528994"/>
            <a:ext cx="11506476" cy="506692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The teacher explains the concepts and steps that lead to the learning objective.</a:t>
            </a:r>
            <a:br>
              <a:rPr lang="en-AU" dirty="0"/>
            </a:br>
            <a:br>
              <a:rPr lang="en-AU" dirty="0"/>
            </a:br>
            <a:r>
              <a:rPr lang="en-AU" dirty="0"/>
              <a:t>Click to add text. Delete textbox if unneeded.</a:t>
            </a:r>
          </a:p>
        </p:txBody>
      </p:sp>
    </p:spTree>
    <p:extLst>
      <p:ext uri="{BB962C8B-B14F-4D97-AF65-F5344CB8AC3E}">
        <p14:creationId xmlns:p14="http://schemas.microsoft.com/office/powerpoint/2010/main" val="283565217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DR) New Top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297625" y="2268252"/>
            <a:ext cx="8660516" cy="2826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0" i="0" spc="300" baseline="0" dirty="0">
                <a:solidFill>
                  <a:srgbClr val="154983"/>
                </a:solidFill>
                <a:latin typeface="Arial Rounded MT Bold" panose="020F0704030504030204" pitchFamily="34" charset="0"/>
              </a:rPr>
              <a:t>What we are learning today</a:t>
            </a:r>
            <a:endParaRPr lang="en-US" sz="7200" b="0" i="0" dirty="0">
              <a:solidFill>
                <a:srgbClr val="154983"/>
              </a:solidFill>
              <a:latin typeface="Arial Rounded MT Bold" panose="020F070403050403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447768" y="1699225"/>
            <a:ext cx="2797472" cy="789710"/>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3600" b="0" i="0" dirty="0">
                <a:solidFill>
                  <a:schemeClr val="bg1"/>
                </a:solidFill>
                <a:latin typeface="Arial Rounded MT Bold" panose="020F0704030504030204" pitchFamily="34" charset="0"/>
                <a:cs typeface="Futura Medium" panose="020B0602020204020303" pitchFamily="34" charset="-79"/>
              </a:rPr>
              <a:t>New Topic</a:t>
            </a:r>
          </a:p>
        </p:txBody>
      </p:sp>
    </p:spTree>
    <p:extLst>
      <p:ext uri="{BB962C8B-B14F-4D97-AF65-F5344CB8AC3E}">
        <p14:creationId xmlns:p14="http://schemas.microsoft.com/office/powerpoint/2010/main" val="348388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image" Target="../media/image1.png"/><Relationship Id="rId2" Type="http://schemas.openxmlformats.org/officeDocument/2006/relationships/slideLayout" Target="../slideLayouts/slideLayout23.xml"/><Relationship Id="rId16" Type="http://schemas.openxmlformats.org/officeDocument/2006/relationships/theme" Target="../theme/theme2.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image" Target="../media/image1.png"/><Relationship Id="rId5" Type="http://schemas.openxmlformats.org/officeDocument/2006/relationships/slideLayout" Target="../slideLayouts/slideLayout41.xml"/><Relationship Id="rId10" Type="http://schemas.openxmlformats.org/officeDocument/2006/relationships/theme" Target="../theme/theme3.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1.pn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4.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theme" Target="../theme/theme5.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3B8C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E91DF72-2A8F-445D-BC0A-815E681E321D}"/>
              </a:ext>
            </a:extLst>
          </p:cNvPr>
          <p:cNvPicPr>
            <a:picLocks noChangeAspect="1"/>
          </p:cNvPicPr>
          <p:nvPr/>
        </p:nvPicPr>
        <p:blipFill>
          <a:blip r:embed="rId23"/>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270925691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97B421F1-3EFD-4EB1-8757-68976493B334}"/>
              </a:ext>
            </a:extLst>
          </p:cNvPr>
          <p:cNvPicPr>
            <a:picLocks noChangeAspect="1"/>
          </p:cNvPicPr>
          <p:nvPr/>
        </p:nvPicPr>
        <p:blipFill>
          <a:blip r:embed="rId17"/>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47349183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71"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6DBB0268-634F-494F-A534-6D6283C91351}"/>
              </a:ext>
            </a:extLst>
          </p:cNvPr>
          <p:cNvPicPr>
            <a:picLocks noChangeAspect="1"/>
          </p:cNvPicPr>
          <p:nvPr/>
        </p:nvPicPr>
        <p:blipFill>
          <a:blip r:embed="rId11"/>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594667570"/>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72"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683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3C87905-546B-40B8-A77F-8173C6D81708}"/>
              </a:ext>
            </a:extLst>
          </p:cNvPr>
          <p:cNvPicPr>
            <a:picLocks noChangeAspect="1"/>
          </p:cNvPicPr>
          <p:nvPr/>
        </p:nvPicPr>
        <p:blipFill>
          <a:blip r:embed="rId16"/>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70881739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D52C70-79E0-3F4E-8C86-21588BE79E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891E8F-80E7-D045-B781-B6A164C414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06AA54-5ABB-EF4D-9916-637244CB4A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3/9/22</a:t>
            </a:fld>
            <a:endParaRPr lang="en-US" dirty="0"/>
          </a:p>
        </p:txBody>
      </p:sp>
      <p:sp>
        <p:nvSpPr>
          <p:cNvPr id="5" name="Footer Placeholder 4">
            <a:extLst>
              <a:ext uri="{FF2B5EF4-FFF2-40B4-BE49-F238E27FC236}">
                <a16:creationId xmlns:a16="http://schemas.microsoft.com/office/drawing/2014/main" id="{6AEFBE9C-E714-8C48-86AA-5BC9832FD9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14D2459-E8D0-E049-BE1B-B4AFAA05B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381662"/>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93" r:id="rId12"/>
    <p:sldLayoutId id="2147483795" r:id="rId13"/>
    <p:sldLayoutId id="214748380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7A12DD-5827-464C-8E6F-1D81221E4EB2}"/>
              </a:ext>
            </a:extLst>
          </p:cNvPr>
          <p:cNvSpPr txBox="1"/>
          <p:nvPr/>
        </p:nvSpPr>
        <p:spPr>
          <a:xfrm>
            <a:off x="6974541" y="4793517"/>
            <a:ext cx="3872753" cy="484094"/>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1575465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A58ACDE-97EB-4DDB-8D0A-A13BB4F2EDD2}"/>
              </a:ext>
            </a:extLst>
          </p:cNvPr>
          <p:cNvSpPr>
            <a:spLocks noGrp="1"/>
          </p:cNvSpPr>
          <p:nvPr>
            <p:ph type="body" sz="quarter" idx="16"/>
          </p:nvPr>
        </p:nvSpPr>
        <p:spPr>
          <a:xfrm>
            <a:off x="432958" y="3673869"/>
            <a:ext cx="11194266" cy="2651940"/>
          </a:xfrm>
        </p:spPr>
        <p:txBody>
          <a:bodyPr>
            <a:normAutofit/>
          </a:bodyPr>
          <a:lstStyle/>
          <a:p>
            <a:pPr lvl="0" algn="l"/>
            <a:endParaRPr lang="en-AU" sz="100" dirty="0"/>
          </a:p>
          <a:p>
            <a:pPr algn="l"/>
            <a:endParaRPr lang="en-AU" sz="3000" dirty="0"/>
          </a:p>
        </p:txBody>
      </p:sp>
      <p:sp>
        <p:nvSpPr>
          <p:cNvPr id="7" name="Text Placeholder 6">
            <a:extLst>
              <a:ext uri="{FF2B5EF4-FFF2-40B4-BE49-F238E27FC236}">
                <a16:creationId xmlns:a16="http://schemas.microsoft.com/office/drawing/2014/main" id="{5DB1A190-F6F8-4F27-BBED-92C0B43629F1}"/>
              </a:ext>
            </a:extLst>
          </p:cNvPr>
          <p:cNvSpPr>
            <a:spLocks noGrp="1"/>
          </p:cNvSpPr>
          <p:nvPr>
            <p:ph type="body" sz="quarter" idx="18"/>
          </p:nvPr>
        </p:nvSpPr>
        <p:spPr>
          <a:xfrm>
            <a:off x="432958" y="602511"/>
            <a:ext cx="11194266" cy="2651940"/>
          </a:xfrm>
        </p:spPr>
        <p:txBody>
          <a:bodyPr>
            <a:normAutofit/>
          </a:bodyPr>
          <a:lstStyle/>
          <a:p>
            <a:pPr algn="l"/>
            <a:r>
              <a:rPr lang="en-AU" sz="3200" dirty="0"/>
              <a:t>Students will be able to:</a:t>
            </a:r>
            <a:endParaRPr lang="en-AU" sz="3000" dirty="0">
              <a:solidFill>
                <a:srgbClr val="C00000"/>
              </a:solidFill>
            </a:endParaRPr>
          </a:p>
          <a:p>
            <a:pPr algn="l"/>
            <a:endParaRPr lang="en-AU" dirty="0"/>
          </a:p>
        </p:txBody>
      </p:sp>
    </p:spTree>
    <p:extLst>
      <p:ext uri="{BB962C8B-B14F-4D97-AF65-F5344CB8AC3E}">
        <p14:creationId xmlns:p14="http://schemas.microsoft.com/office/powerpoint/2010/main" val="3376853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421E2F55-71A7-9F46-B7D9-85C7AA35B09C}"/>
              </a:ext>
            </a:extLst>
          </p:cNvPr>
          <p:cNvPicPr>
            <a:picLocks noChangeAspect="1"/>
          </p:cNvPicPr>
          <p:nvPr/>
        </p:nvPicPr>
        <p:blipFill>
          <a:blip r:embed="rId3"/>
          <a:stretch>
            <a:fillRect/>
          </a:stretch>
        </p:blipFill>
        <p:spPr>
          <a:xfrm>
            <a:off x="2018015" y="2687334"/>
            <a:ext cx="8155969" cy="4170666"/>
          </a:xfrm>
          <a:prstGeom prst="rect">
            <a:avLst/>
          </a:prstGeom>
        </p:spPr>
      </p:pic>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The Brain </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0" y="1416634"/>
            <a:ext cx="11481951" cy="5393007"/>
          </a:xfrm>
        </p:spPr>
        <p:txBody>
          <a:bodyPr>
            <a:normAutofit/>
          </a:bodyPr>
          <a:lstStyle/>
          <a:p>
            <a:r>
              <a:rPr lang="en-AU" sz="2400" dirty="0">
                <a:latin typeface="Avenir Book" panose="02000503020000020003" pitchFamily="2" charset="0"/>
              </a:rPr>
              <a:t>The brain is a very complex organ, both in structure and function. Much of the brain's workings are still a mystery and new discoveries are constantly being made in this section we will deal only with those parts of the brain that have major functions, but it is important to remember that the brain works as an integrated whole. </a:t>
            </a:r>
          </a:p>
          <a:p>
            <a:endParaRPr lang="en-AU" dirty="0"/>
          </a:p>
        </p:txBody>
      </p:sp>
    </p:spTree>
    <p:extLst>
      <p:ext uri="{BB962C8B-B14F-4D97-AF65-F5344CB8AC3E}">
        <p14:creationId xmlns:p14="http://schemas.microsoft.com/office/powerpoint/2010/main" val="3130382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the brain&#10;&#10;Description automatically generated with medium confidence">
            <a:extLst>
              <a:ext uri="{FF2B5EF4-FFF2-40B4-BE49-F238E27FC236}">
                <a16:creationId xmlns:a16="http://schemas.microsoft.com/office/drawing/2014/main" id="{210EF24D-3372-2846-B355-FDF76C15FB90}"/>
              </a:ext>
            </a:extLst>
          </p:cNvPr>
          <p:cNvPicPr>
            <a:picLocks noChangeAspect="1"/>
          </p:cNvPicPr>
          <p:nvPr/>
        </p:nvPicPr>
        <p:blipFill>
          <a:blip r:embed="rId3"/>
          <a:stretch>
            <a:fillRect/>
          </a:stretch>
        </p:blipFill>
        <p:spPr>
          <a:xfrm>
            <a:off x="2478291" y="2789266"/>
            <a:ext cx="7012073" cy="4068734"/>
          </a:xfrm>
          <a:prstGeom prst="rect">
            <a:avLst/>
          </a:prstGeom>
        </p:spPr>
      </p:pic>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200" dirty="0"/>
              <a:t>Cerebrum</a:t>
            </a:r>
          </a:p>
          <a:p>
            <a:endParaRPr lang="en-AU" sz="3200" dirty="0">
              <a:solidFill>
                <a:srgbClr val="004D95"/>
              </a:solidFill>
            </a:endParaRP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280557" y="1448023"/>
            <a:ext cx="11596369" cy="4756305"/>
          </a:xfrm>
        </p:spPr>
        <p:txBody>
          <a:bodyPr>
            <a:normAutofit/>
          </a:bodyPr>
          <a:lstStyle/>
          <a:p>
            <a:r>
              <a:rPr lang="en-AU" sz="2000" dirty="0">
                <a:latin typeface="Avenir Book" panose="02000503020000020003" pitchFamily="2" charset="0"/>
              </a:rPr>
              <a:t>The </a:t>
            </a:r>
            <a:r>
              <a:rPr lang="en-AU" sz="2000" b="1" dirty="0">
                <a:latin typeface="Avenir Book" panose="02000503020000020003" pitchFamily="2" charset="0"/>
              </a:rPr>
              <a:t>cerebrum</a:t>
            </a:r>
            <a:r>
              <a:rPr lang="en-AU" sz="2000" dirty="0">
                <a:latin typeface="Avenir Book" panose="02000503020000020003" pitchFamily="2" charset="0"/>
              </a:rPr>
              <a:t> is by far the biggest part of the brain. It consists of an outer surface about 2-4 mm thick of </a:t>
            </a:r>
            <a:r>
              <a:rPr lang="en-AU" sz="2000" b="1" dirty="0">
                <a:latin typeface="Avenir Book" panose="02000503020000020003" pitchFamily="2" charset="0"/>
              </a:rPr>
              <a:t>grey matter </a:t>
            </a:r>
            <a:r>
              <a:rPr lang="en-AU" sz="2000" dirty="0">
                <a:latin typeface="Avenir Book" panose="02000503020000020003" pitchFamily="2" charset="0"/>
              </a:rPr>
              <a:t>known as the </a:t>
            </a:r>
            <a:r>
              <a:rPr lang="en-AU" sz="2000" b="1" dirty="0">
                <a:latin typeface="Avenir Book" panose="02000503020000020003" pitchFamily="2" charset="0"/>
              </a:rPr>
              <a:t>cerebral cortex</a:t>
            </a:r>
            <a:r>
              <a:rPr lang="en-AU" sz="2000" dirty="0">
                <a:latin typeface="Avenir Book" panose="02000503020000020003" pitchFamily="2" charset="0"/>
              </a:rPr>
              <a:t>. The grey matter consists of neuron cell bodies dendrites and unmyelinated axons Below the cortex is </a:t>
            </a:r>
            <a:r>
              <a:rPr lang="en-AU" sz="2000" b="1" dirty="0">
                <a:latin typeface="Avenir Book" panose="02000503020000020003" pitchFamily="2" charset="0"/>
              </a:rPr>
              <a:t>white matter</a:t>
            </a:r>
            <a:r>
              <a:rPr lang="en-AU" sz="2000" dirty="0">
                <a:latin typeface="Avenir Book" panose="02000503020000020003" pitchFamily="2" charset="0"/>
              </a:rPr>
              <a:t>, which is made up of myelinated axons. The fatty nature of myelin gives the white matter its colour and texture. Deep inside the cerebrum is additional grey matter called the </a:t>
            </a:r>
            <a:r>
              <a:rPr lang="en-AU" sz="2000" b="1" dirty="0">
                <a:latin typeface="Avenir Book" panose="02000503020000020003" pitchFamily="2" charset="0"/>
              </a:rPr>
              <a:t>basal ganglia</a:t>
            </a:r>
            <a:r>
              <a:rPr lang="en-AU" sz="2000" dirty="0">
                <a:latin typeface="Avenir Book" panose="02000503020000020003" pitchFamily="2" charset="0"/>
              </a:rPr>
              <a:t>. </a:t>
            </a:r>
          </a:p>
          <a:p>
            <a:endParaRPr lang="en-AU" sz="2400" dirty="0"/>
          </a:p>
          <a:p>
            <a:r>
              <a:rPr lang="en-AU" sz="2400" dirty="0"/>
              <a:t> </a:t>
            </a:r>
          </a:p>
          <a:p>
            <a:endParaRPr lang="en-AU" dirty="0"/>
          </a:p>
        </p:txBody>
      </p:sp>
    </p:spTree>
    <p:extLst>
      <p:ext uri="{BB962C8B-B14F-4D97-AF65-F5344CB8AC3E}">
        <p14:creationId xmlns:p14="http://schemas.microsoft.com/office/powerpoint/2010/main" val="2771123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4E2D643-B7F5-5744-BBF7-0FD90C31E361}"/>
              </a:ext>
            </a:extLst>
          </p:cNvPr>
          <p:cNvSpPr>
            <a:spLocks noGrp="1"/>
          </p:cNvSpPr>
          <p:nvPr>
            <p:ph type="body" sz="quarter" idx="13"/>
          </p:nvPr>
        </p:nvSpPr>
        <p:spPr/>
        <p:txBody>
          <a:bodyPr/>
          <a:lstStyle/>
          <a:p>
            <a:r>
              <a:rPr lang="en-US" dirty="0"/>
              <a:t>Cerebrum</a:t>
            </a:r>
          </a:p>
        </p:txBody>
      </p:sp>
      <p:sp>
        <p:nvSpPr>
          <p:cNvPr id="3" name="Text Placeholder 2">
            <a:extLst>
              <a:ext uri="{FF2B5EF4-FFF2-40B4-BE49-F238E27FC236}">
                <a16:creationId xmlns:a16="http://schemas.microsoft.com/office/drawing/2014/main" id="{78BD83F2-4463-5A4B-8C79-F05374E088E2}"/>
              </a:ext>
            </a:extLst>
          </p:cNvPr>
          <p:cNvSpPr>
            <a:spLocks noGrp="1"/>
          </p:cNvSpPr>
          <p:nvPr>
            <p:ph type="body" sz="quarter" idx="15"/>
          </p:nvPr>
        </p:nvSpPr>
        <p:spPr>
          <a:xfrm>
            <a:off x="280557" y="1241318"/>
            <a:ext cx="11506476" cy="5066923"/>
          </a:xfrm>
        </p:spPr>
        <p:txBody>
          <a:bodyPr/>
          <a:lstStyle/>
          <a:p>
            <a:r>
              <a:rPr lang="en-AU" sz="2000" dirty="0">
                <a:latin typeface="Avenir Book" panose="02000503020000020003" pitchFamily="2" charset="0"/>
              </a:rPr>
              <a:t>The cortex contains 70% of all the neurons in the central nervous system. The folding produces rounded ridges called </a:t>
            </a:r>
            <a:r>
              <a:rPr lang="en-AU" sz="2000" b="1" dirty="0">
                <a:latin typeface="Avenir Book" panose="02000503020000020003" pitchFamily="2" charset="0"/>
              </a:rPr>
              <a:t>convolutions</a:t>
            </a:r>
            <a:r>
              <a:rPr lang="en-AU" sz="2000" dirty="0">
                <a:latin typeface="Avenir Book" panose="02000503020000020003" pitchFamily="2" charset="0"/>
              </a:rPr>
              <a:t> (or gyn: singular: </a:t>
            </a:r>
            <a:r>
              <a:rPr lang="en-AU" sz="2000" b="1" dirty="0">
                <a:latin typeface="Avenir Book" panose="02000503020000020003" pitchFamily="2" charset="0"/>
              </a:rPr>
              <a:t>gyrus</a:t>
            </a:r>
            <a:r>
              <a:rPr lang="en-AU" sz="2000" dirty="0">
                <a:latin typeface="Avenir Book" panose="02000503020000020003" pitchFamily="2" charset="0"/>
              </a:rPr>
              <a:t>). The convolutions are separated by either shallow downfolds called </a:t>
            </a:r>
            <a:r>
              <a:rPr lang="en-AU" sz="2000" b="1" dirty="0">
                <a:latin typeface="Avenir Book" panose="02000503020000020003" pitchFamily="2" charset="0"/>
              </a:rPr>
              <a:t>sulci</a:t>
            </a:r>
            <a:r>
              <a:rPr lang="en-AU" sz="2000" dirty="0">
                <a:latin typeface="Avenir Book" panose="02000503020000020003" pitchFamily="2" charset="0"/>
              </a:rPr>
              <a:t> (singular sulcus) or deep downfolds called </a:t>
            </a:r>
            <a:r>
              <a:rPr lang="en-AU" sz="2000" b="1" dirty="0">
                <a:latin typeface="Avenir Book" panose="02000503020000020003" pitchFamily="2" charset="0"/>
              </a:rPr>
              <a:t>fissures</a:t>
            </a:r>
            <a:r>
              <a:rPr lang="en-AU" sz="2000" dirty="0">
                <a:latin typeface="Avenir Book" panose="02000503020000020003" pitchFamily="2" charset="0"/>
              </a:rPr>
              <a:t>. </a:t>
            </a:r>
          </a:p>
          <a:p>
            <a:endParaRPr lang="en-US" dirty="0"/>
          </a:p>
        </p:txBody>
      </p:sp>
      <p:pic>
        <p:nvPicPr>
          <p:cNvPr id="5" name="Picture 4">
            <a:extLst>
              <a:ext uri="{FF2B5EF4-FFF2-40B4-BE49-F238E27FC236}">
                <a16:creationId xmlns:a16="http://schemas.microsoft.com/office/drawing/2014/main" id="{D92EA29A-B934-B448-84A1-32F4938E266F}"/>
              </a:ext>
            </a:extLst>
          </p:cNvPr>
          <p:cNvPicPr>
            <a:picLocks noChangeAspect="1"/>
          </p:cNvPicPr>
          <p:nvPr/>
        </p:nvPicPr>
        <p:blipFill>
          <a:blip r:embed="rId2"/>
          <a:stretch>
            <a:fillRect/>
          </a:stretch>
        </p:blipFill>
        <p:spPr>
          <a:xfrm>
            <a:off x="2571750" y="2278294"/>
            <a:ext cx="7048500" cy="4343400"/>
          </a:xfrm>
          <a:prstGeom prst="rect">
            <a:avLst/>
          </a:prstGeom>
        </p:spPr>
      </p:pic>
    </p:spTree>
    <p:extLst>
      <p:ext uri="{BB962C8B-B14F-4D97-AF65-F5344CB8AC3E}">
        <p14:creationId xmlns:p14="http://schemas.microsoft.com/office/powerpoint/2010/main" val="1604407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936E261-91E7-ED43-9F60-917157C1749F}"/>
              </a:ext>
            </a:extLst>
          </p:cNvPr>
          <p:cNvSpPr>
            <a:spLocks noGrp="1"/>
          </p:cNvSpPr>
          <p:nvPr>
            <p:ph type="body" sz="quarter" idx="13"/>
          </p:nvPr>
        </p:nvSpPr>
        <p:spPr/>
        <p:txBody>
          <a:bodyPr/>
          <a:lstStyle/>
          <a:p>
            <a:r>
              <a:rPr lang="en-US" dirty="0"/>
              <a:t>Cerebrum</a:t>
            </a:r>
          </a:p>
        </p:txBody>
      </p:sp>
      <p:sp>
        <p:nvSpPr>
          <p:cNvPr id="3" name="Text Placeholder 2">
            <a:extLst>
              <a:ext uri="{FF2B5EF4-FFF2-40B4-BE49-F238E27FC236}">
                <a16:creationId xmlns:a16="http://schemas.microsoft.com/office/drawing/2014/main" id="{62A97DF5-0937-F542-9495-253956D9FED3}"/>
              </a:ext>
            </a:extLst>
          </p:cNvPr>
          <p:cNvSpPr>
            <a:spLocks noGrp="1"/>
          </p:cNvSpPr>
          <p:nvPr>
            <p:ph type="body" sz="quarter" idx="15"/>
          </p:nvPr>
        </p:nvSpPr>
        <p:spPr>
          <a:xfrm>
            <a:off x="280557" y="1330036"/>
            <a:ext cx="11506476" cy="5066923"/>
          </a:xfrm>
        </p:spPr>
        <p:txBody>
          <a:bodyPr/>
          <a:lstStyle/>
          <a:p>
            <a:r>
              <a:rPr lang="en-AU" sz="2000" dirty="0">
                <a:latin typeface="Avenir Book" panose="02000503020000020003" pitchFamily="2" charset="0"/>
              </a:rPr>
              <a:t>The deepest fissure, the </a:t>
            </a:r>
            <a:r>
              <a:rPr lang="en-AU" sz="2000" b="1" dirty="0">
                <a:latin typeface="Avenir Book" panose="02000503020000020003" pitchFamily="2" charset="0"/>
              </a:rPr>
              <a:t>longitudinal fissure</a:t>
            </a:r>
            <a:r>
              <a:rPr lang="en-AU" sz="2000" dirty="0">
                <a:latin typeface="Avenir Book" panose="02000503020000020003" pitchFamily="2" charset="0"/>
              </a:rPr>
              <a:t>, almost separates the cerebrum into two halves - the left and right </a:t>
            </a:r>
            <a:r>
              <a:rPr lang="en-AU" sz="2000" b="1" dirty="0">
                <a:latin typeface="Avenir Book" panose="02000503020000020003" pitchFamily="2" charset="0"/>
              </a:rPr>
              <a:t>cerebral hemispheres</a:t>
            </a:r>
            <a:r>
              <a:rPr lang="en-AU" sz="2000" dirty="0">
                <a:latin typeface="Avenir Book" panose="02000503020000020003" pitchFamily="2" charset="0"/>
              </a:rPr>
              <a:t>. Joining the two hemispheres, at the base of the longitudinal fissure, is an area of white matter consisting of a large bundle of transverse fibres known as the corpus callosum. The patterns of folding of the cerebral cortex. vary from person to person.  </a:t>
            </a:r>
          </a:p>
          <a:p>
            <a:endParaRPr lang="en-AU" dirty="0"/>
          </a:p>
          <a:p>
            <a:endParaRPr lang="en-US" dirty="0"/>
          </a:p>
        </p:txBody>
      </p:sp>
      <p:pic>
        <p:nvPicPr>
          <p:cNvPr id="7" name="Picture 6">
            <a:extLst>
              <a:ext uri="{FF2B5EF4-FFF2-40B4-BE49-F238E27FC236}">
                <a16:creationId xmlns:a16="http://schemas.microsoft.com/office/drawing/2014/main" id="{BF07962F-6422-3244-9F38-CDB56860AE4A}"/>
              </a:ext>
            </a:extLst>
          </p:cNvPr>
          <p:cNvPicPr>
            <a:picLocks noChangeAspect="1"/>
          </p:cNvPicPr>
          <p:nvPr/>
        </p:nvPicPr>
        <p:blipFill>
          <a:blip r:embed="rId2"/>
          <a:stretch>
            <a:fillRect/>
          </a:stretch>
        </p:blipFill>
        <p:spPr>
          <a:xfrm>
            <a:off x="2624940" y="2486205"/>
            <a:ext cx="6942120" cy="4277847"/>
          </a:xfrm>
          <a:prstGeom prst="rect">
            <a:avLst/>
          </a:prstGeom>
        </p:spPr>
      </p:pic>
    </p:spTree>
    <p:extLst>
      <p:ext uri="{BB962C8B-B14F-4D97-AF65-F5344CB8AC3E}">
        <p14:creationId xmlns:p14="http://schemas.microsoft.com/office/powerpoint/2010/main" val="18762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98FD2E9-05C2-7443-9A5A-103B151B2652}"/>
              </a:ext>
            </a:extLst>
          </p:cNvPr>
          <p:cNvSpPr>
            <a:spLocks noGrp="1"/>
          </p:cNvSpPr>
          <p:nvPr>
            <p:ph type="body" sz="quarter" idx="13"/>
          </p:nvPr>
        </p:nvSpPr>
        <p:spPr/>
        <p:txBody>
          <a:bodyPr/>
          <a:lstStyle/>
          <a:p>
            <a:r>
              <a:rPr lang="en-US" dirty="0"/>
              <a:t>Cerebrum</a:t>
            </a:r>
          </a:p>
        </p:txBody>
      </p:sp>
      <p:pic>
        <p:nvPicPr>
          <p:cNvPr id="5" name="Picture 4" descr="Diagram&#10;&#10;Description automatically generated">
            <a:extLst>
              <a:ext uri="{FF2B5EF4-FFF2-40B4-BE49-F238E27FC236}">
                <a16:creationId xmlns:a16="http://schemas.microsoft.com/office/drawing/2014/main" id="{6D86C5DD-13D2-5F46-9561-E05457C04E43}"/>
              </a:ext>
            </a:extLst>
          </p:cNvPr>
          <p:cNvPicPr>
            <a:picLocks noChangeAspect="1"/>
          </p:cNvPicPr>
          <p:nvPr/>
        </p:nvPicPr>
        <p:blipFill>
          <a:blip r:embed="rId2"/>
          <a:stretch>
            <a:fillRect/>
          </a:stretch>
        </p:blipFill>
        <p:spPr>
          <a:xfrm>
            <a:off x="-1" y="2396836"/>
            <a:ext cx="8302965" cy="4398039"/>
          </a:xfrm>
          <a:prstGeom prst="rect">
            <a:avLst/>
          </a:prstGeom>
        </p:spPr>
      </p:pic>
      <p:pic>
        <p:nvPicPr>
          <p:cNvPr id="6" name="Picture 5" descr="Table&#10;&#10;Description automatically generated">
            <a:extLst>
              <a:ext uri="{FF2B5EF4-FFF2-40B4-BE49-F238E27FC236}">
                <a16:creationId xmlns:a16="http://schemas.microsoft.com/office/drawing/2014/main" id="{3AAEAA5E-020F-C445-9420-6F25964CCF28}"/>
              </a:ext>
            </a:extLst>
          </p:cNvPr>
          <p:cNvPicPr>
            <a:picLocks noChangeAspect="1"/>
          </p:cNvPicPr>
          <p:nvPr/>
        </p:nvPicPr>
        <p:blipFill rotWithShape="1">
          <a:blip r:embed="rId3"/>
          <a:srcRect t="4306"/>
          <a:stretch/>
        </p:blipFill>
        <p:spPr>
          <a:xfrm>
            <a:off x="5527964" y="2661786"/>
            <a:ext cx="6539628" cy="4033610"/>
          </a:xfrm>
          <a:prstGeom prst="rect">
            <a:avLst/>
          </a:prstGeom>
        </p:spPr>
      </p:pic>
    </p:spTree>
    <p:extLst>
      <p:ext uri="{BB962C8B-B14F-4D97-AF65-F5344CB8AC3E}">
        <p14:creationId xmlns:p14="http://schemas.microsoft.com/office/powerpoint/2010/main" val="3470103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iagram&#10;&#10;Description automatically generated">
            <a:extLst>
              <a:ext uri="{FF2B5EF4-FFF2-40B4-BE49-F238E27FC236}">
                <a16:creationId xmlns:a16="http://schemas.microsoft.com/office/drawing/2014/main" id="{E0C77459-0EBB-BE40-86D2-E822F51B7816}"/>
              </a:ext>
            </a:extLst>
          </p:cNvPr>
          <p:cNvPicPr>
            <a:picLocks noChangeAspect="1"/>
          </p:cNvPicPr>
          <p:nvPr/>
        </p:nvPicPr>
        <p:blipFill rotWithShape="1">
          <a:blip r:embed="rId2"/>
          <a:srcRect t="8576" r="32438"/>
          <a:stretch/>
        </p:blipFill>
        <p:spPr>
          <a:xfrm>
            <a:off x="7489861" y="3487653"/>
            <a:ext cx="4702139" cy="3370348"/>
          </a:xfrm>
          <a:prstGeom prst="rect">
            <a:avLst/>
          </a:prstGeom>
        </p:spPr>
      </p:pic>
      <p:sp>
        <p:nvSpPr>
          <p:cNvPr id="2" name="Text Placeholder 1">
            <a:extLst>
              <a:ext uri="{FF2B5EF4-FFF2-40B4-BE49-F238E27FC236}">
                <a16:creationId xmlns:a16="http://schemas.microsoft.com/office/drawing/2014/main" id="{7428F210-256D-C94F-AF4D-8D3CE6965706}"/>
              </a:ext>
            </a:extLst>
          </p:cNvPr>
          <p:cNvSpPr>
            <a:spLocks noGrp="1"/>
          </p:cNvSpPr>
          <p:nvPr>
            <p:ph type="body" sz="quarter" idx="13"/>
          </p:nvPr>
        </p:nvSpPr>
        <p:spPr/>
        <p:txBody>
          <a:bodyPr/>
          <a:lstStyle/>
          <a:p>
            <a:r>
              <a:rPr lang="en-US" dirty="0"/>
              <a:t>Cerebrum</a:t>
            </a:r>
          </a:p>
        </p:txBody>
      </p:sp>
      <p:sp>
        <p:nvSpPr>
          <p:cNvPr id="3" name="Text Placeholder 2">
            <a:extLst>
              <a:ext uri="{FF2B5EF4-FFF2-40B4-BE49-F238E27FC236}">
                <a16:creationId xmlns:a16="http://schemas.microsoft.com/office/drawing/2014/main" id="{B7264D3D-1594-954E-9AEA-AA0B530CC526}"/>
              </a:ext>
            </a:extLst>
          </p:cNvPr>
          <p:cNvSpPr>
            <a:spLocks noGrp="1"/>
          </p:cNvSpPr>
          <p:nvPr>
            <p:ph type="body" sz="quarter" idx="15"/>
          </p:nvPr>
        </p:nvSpPr>
        <p:spPr>
          <a:xfrm>
            <a:off x="280557" y="1251592"/>
            <a:ext cx="11506476" cy="5066923"/>
          </a:xfrm>
        </p:spPr>
        <p:txBody>
          <a:bodyPr>
            <a:normAutofit/>
          </a:bodyPr>
          <a:lstStyle/>
          <a:p>
            <a:r>
              <a:rPr lang="en-AU" sz="2000" dirty="0">
                <a:latin typeface="Avenir Book" panose="02000503020000020003" pitchFamily="2" charset="0"/>
              </a:rPr>
              <a:t>However, certain fissures and sulci are fairly constant and are used to further subdivide each cerebral hemisphere into four lobes - the frontal, temporal, occipital and parietal lobes. Another part of the cerebrum, the insula, is deep inside the brain and is regarded as a fifth lobe. </a:t>
            </a:r>
          </a:p>
          <a:p>
            <a:r>
              <a:rPr lang="en-AU" sz="2000" dirty="0">
                <a:latin typeface="Avenir Book" panose="02000503020000020003" pitchFamily="2" charset="0"/>
              </a:rPr>
              <a:t>The cerebral cortex is involved in mental activities such as thinking, reasoning, learning, memory, intelligence and sense of responsibility it is also concerned with perception of the senses and the initiation and control of voluntary muscle contraction. Nearly all the impulses from our sense organs are carried to the cerebral cortex, which then has all the relevant information about the environment and can initiate responses accordingly. </a:t>
            </a:r>
            <a:endParaRPr lang="en-US" sz="2000" dirty="0">
              <a:latin typeface="Avenir Book" panose="02000503020000020003" pitchFamily="2" charset="0"/>
            </a:endParaRPr>
          </a:p>
        </p:txBody>
      </p:sp>
    </p:spTree>
    <p:extLst>
      <p:ext uri="{BB962C8B-B14F-4D97-AF65-F5344CB8AC3E}">
        <p14:creationId xmlns:p14="http://schemas.microsoft.com/office/powerpoint/2010/main" val="234572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5589F4B-525C-6B47-8CB1-D9FA6585E2A3}"/>
              </a:ext>
            </a:extLst>
          </p:cNvPr>
          <p:cNvSpPr>
            <a:spLocks noGrp="1"/>
          </p:cNvSpPr>
          <p:nvPr>
            <p:ph type="body" sz="quarter" idx="13"/>
          </p:nvPr>
        </p:nvSpPr>
        <p:spPr/>
        <p:txBody>
          <a:bodyPr/>
          <a:lstStyle/>
          <a:p>
            <a:r>
              <a:rPr lang="en-US" dirty="0"/>
              <a:t>Cerebrum</a:t>
            </a:r>
          </a:p>
        </p:txBody>
      </p:sp>
      <p:sp>
        <p:nvSpPr>
          <p:cNvPr id="3" name="Text Placeholder 2">
            <a:extLst>
              <a:ext uri="{FF2B5EF4-FFF2-40B4-BE49-F238E27FC236}">
                <a16:creationId xmlns:a16="http://schemas.microsoft.com/office/drawing/2014/main" id="{C3E8C383-D8C0-3041-9C6F-BD6392721C55}"/>
              </a:ext>
            </a:extLst>
          </p:cNvPr>
          <p:cNvSpPr>
            <a:spLocks noGrp="1"/>
          </p:cNvSpPr>
          <p:nvPr>
            <p:ph type="body" sz="quarter" idx="15"/>
          </p:nvPr>
        </p:nvSpPr>
        <p:spPr>
          <a:xfrm>
            <a:off x="280558" y="1330036"/>
            <a:ext cx="11506476" cy="5265881"/>
          </a:xfrm>
        </p:spPr>
        <p:txBody>
          <a:bodyPr/>
          <a:lstStyle/>
          <a:p>
            <a:r>
              <a:rPr lang="en-AU" sz="2000" dirty="0">
                <a:latin typeface="Avenir Book" panose="02000503020000020003" pitchFamily="2" charset="0"/>
              </a:rPr>
              <a:t>The cortex can be roughly divided into three:</a:t>
            </a:r>
          </a:p>
          <a:p>
            <a:endParaRPr lang="en-AU" sz="2000" dirty="0">
              <a:latin typeface="Avenir Book" panose="02000503020000020003" pitchFamily="2" charset="0"/>
            </a:endParaRPr>
          </a:p>
          <a:p>
            <a:pPr marL="285750" indent="-285750">
              <a:buFontTx/>
              <a:buChar char="-"/>
            </a:pPr>
            <a:r>
              <a:rPr lang="en-AU" sz="2000" b="1" dirty="0">
                <a:latin typeface="Avenir Book" panose="02000503020000020003" pitchFamily="2" charset="0"/>
              </a:rPr>
              <a:t>Sensory areas</a:t>
            </a:r>
            <a:r>
              <a:rPr lang="en-AU" sz="2000" dirty="0">
                <a:latin typeface="Avenir Book" panose="02000503020000020003" pitchFamily="2" charset="0"/>
              </a:rPr>
              <a:t>, which interpret impulses from receptors. </a:t>
            </a:r>
          </a:p>
          <a:p>
            <a:pPr marL="285750" indent="-285750">
              <a:buFontTx/>
              <a:buChar char="-"/>
            </a:pPr>
            <a:r>
              <a:rPr lang="en-AU" sz="2000" b="1" dirty="0">
                <a:latin typeface="Avenir Book" panose="02000503020000020003" pitchFamily="2" charset="0"/>
              </a:rPr>
              <a:t>Motor areas</a:t>
            </a:r>
            <a:r>
              <a:rPr lang="en-AU" sz="2000" dirty="0">
                <a:latin typeface="Avenir Book" panose="02000503020000020003" pitchFamily="2" charset="0"/>
              </a:rPr>
              <a:t>, which control muscular movements.</a:t>
            </a:r>
          </a:p>
          <a:p>
            <a:pPr marL="285750" indent="-285750">
              <a:buFontTx/>
              <a:buChar char="-"/>
            </a:pPr>
            <a:r>
              <a:rPr lang="en-AU" sz="2000" b="1" dirty="0">
                <a:latin typeface="Avenir Book" panose="02000503020000020003" pitchFamily="2" charset="0"/>
              </a:rPr>
              <a:t>Association areas</a:t>
            </a:r>
            <a:r>
              <a:rPr lang="en-AU" sz="2000" dirty="0">
                <a:latin typeface="Avenir Book" panose="02000503020000020003" pitchFamily="2" charset="0"/>
              </a:rPr>
              <a:t>, which are concerned with intellectual and emotional processes.</a:t>
            </a:r>
          </a:p>
          <a:p>
            <a:endParaRPr lang="en-US" dirty="0"/>
          </a:p>
        </p:txBody>
      </p:sp>
      <p:pic>
        <p:nvPicPr>
          <p:cNvPr id="4" name="Picture 3" descr="Diagram&#10;&#10;Description automatically generated">
            <a:extLst>
              <a:ext uri="{FF2B5EF4-FFF2-40B4-BE49-F238E27FC236}">
                <a16:creationId xmlns:a16="http://schemas.microsoft.com/office/drawing/2014/main" id="{89F0B5BD-06DB-FB4F-AD15-AA9128D35BE7}"/>
              </a:ext>
            </a:extLst>
          </p:cNvPr>
          <p:cNvPicPr>
            <a:picLocks noChangeAspect="1"/>
          </p:cNvPicPr>
          <p:nvPr/>
        </p:nvPicPr>
        <p:blipFill>
          <a:blip r:embed="rId2"/>
          <a:stretch>
            <a:fillRect/>
          </a:stretch>
        </p:blipFill>
        <p:spPr>
          <a:xfrm>
            <a:off x="3272319" y="3429000"/>
            <a:ext cx="5647362" cy="2991379"/>
          </a:xfrm>
          <a:prstGeom prst="rect">
            <a:avLst/>
          </a:prstGeom>
        </p:spPr>
      </p:pic>
    </p:spTree>
    <p:extLst>
      <p:ext uri="{BB962C8B-B14F-4D97-AF65-F5344CB8AC3E}">
        <p14:creationId xmlns:p14="http://schemas.microsoft.com/office/powerpoint/2010/main" val="3052284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B38B05-9CB1-B144-AAB5-3AD8037A5770}"/>
              </a:ext>
            </a:extLst>
          </p:cNvPr>
          <p:cNvSpPr>
            <a:spLocks noGrp="1"/>
          </p:cNvSpPr>
          <p:nvPr>
            <p:ph type="body" sz="quarter" idx="13"/>
          </p:nvPr>
        </p:nvSpPr>
        <p:spPr/>
        <p:txBody>
          <a:bodyPr/>
          <a:lstStyle/>
          <a:p>
            <a:r>
              <a:rPr lang="en-US" dirty="0"/>
              <a:t>Cerebrum</a:t>
            </a:r>
          </a:p>
        </p:txBody>
      </p:sp>
      <p:sp>
        <p:nvSpPr>
          <p:cNvPr id="3" name="Text Placeholder 2">
            <a:extLst>
              <a:ext uri="{FF2B5EF4-FFF2-40B4-BE49-F238E27FC236}">
                <a16:creationId xmlns:a16="http://schemas.microsoft.com/office/drawing/2014/main" id="{D3897CE8-BCC1-B94C-ABC8-103D60BB55B3}"/>
              </a:ext>
            </a:extLst>
          </p:cNvPr>
          <p:cNvSpPr>
            <a:spLocks noGrp="1"/>
          </p:cNvSpPr>
          <p:nvPr>
            <p:ph type="body" sz="quarter" idx="15"/>
          </p:nvPr>
        </p:nvSpPr>
        <p:spPr>
          <a:xfrm>
            <a:off x="280557" y="1330036"/>
            <a:ext cx="11506476" cy="5066923"/>
          </a:xfrm>
        </p:spPr>
        <p:txBody>
          <a:bodyPr/>
          <a:lstStyle/>
          <a:p>
            <a:r>
              <a:rPr lang="en-AU" sz="2000" dirty="0">
                <a:latin typeface="Avenir Book" panose="02000503020000020003" pitchFamily="2" charset="0"/>
              </a:rPr>
              <a:t>Although the two sides of the cerebrum appear to be very similar, close inspection shows that they are not identical For example in right-handed people the night frontal lobe is wider than the left and the left occipital and parental lobes are wider than the right ones Many specialised functions occur in only one hemisphere Language ability for example, is normally controlled by the left hemisphere: musical and artistic abilities are functions of the right hemisphere. </a:t>
            </a:r>
          </a:p>
          <a:p>
            <a:endParaRPr lang="en-US" dirty="0"/>
          </a:p>
        </p:txBody>
      </p:sp>
      <p:pic>
        <p:nvPicPr>
          <p:cNvPr id="5" name="Picture 4" descr="Diagram&#10;&#10;Description automatically generated">
            <a:extLst>
              <a:ext uri="{FF2B5EF4-FFF2-40B4-BE49-F238E27FC236}">
                <a16:creationId xmlns:a16="http://schemas.microsoft.com/office/drawing/2014/main" id="{DE95F3CB-5982-B743-9A73-ED2A22445DAB}"/>
              </a:ext>
            </a:extLst>
          </p:cNvPr>
          <p:cNvPicPr>
            <a:picLocks noChangeAspect="1"/>
          </p:cNvPicPr>
          <p:nvPr/>
        </p:nvPicPr>
        <p:blipFill>
          <a:blip r:embed="rId2"/>
          <a:stretch>
            <a:fillRect/>
          </a:stretch>
        </p:blipFill>
        <p:spPr>
          <a:xfrm>
            <a:off x="3089882" y="2745861"/>
            <a:ext cx="6423988" cy="4112139"/>
          </a:xfrm>
          <a:prstGeom prst="rect">
            <a:avLst/>
          </a:prstGeom>
        </p:spPr>
      </p:pic>
    </p:spTree>
    <p:extLst>
      <p:ext uri="{BB962C8B-B14F-4D97-AF65-F5344CB8AC3E}">
        <p14:creationId xmlns:p14="http://schemas.microsoft.com/office/powerpoint/2010/main" val="1246271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C9319F0-33A5-834B-9465-1F9C122F4DF9}"/>
              </a:ext>
            </a:extLst>
          </p:cNvPr>
          <p:cNvSpPr>
            <a:spLocks noGrp="1"/>
          </p:cNvSpPr>
          <p:nvPr>
            <p:ph type="body" sz="quarter" idx="13"/>
          </p:nvPr>
        </p:nvSpPr>
        <p:spPr/>
        <p:txBody>
          <a:bodyPr/>
          <a:lstStyle/>
          <a:p>
            <a:r>
              <a:rPr lang="en-US" dirty="0"/>
              <a:t>Cerebrum</a:t>
            </a:r>
          </a:p>
        </p:txBody>
      </p:sp>
      <p:sp>
        <p:nvSpPr>
          <p:cNvPr id="3" name="Text Placeholder 2">
            <a:extLst>
              <a:ext uri="{FF2B5EF4-FFF2-40B4-BE49-F238E27FC236}">
                <a16:creationId xmlns:a16="http://schemas.microsoft.com/office/drawing/2014/main" id="{4CD5E50F-2185-714E-B757-0841C67EDBD7}"/>
              </a:ext>
            </a:extLst>
          </p:cNvPr>
          <p:cNvSpPr>
            <a:spLocks noGrp="1"/>
          </p:cNvSpPr>
          <p:nvPr>
            <p:ph type="body" sz="quarter" idx="15"/>
          </p:nvPr>
        </p:nvSpPr>
        <p:spPr>
          <a:xfrm>
            <a:off x="280557" y="1330036"/>
            <a:ext cx="11506476" cy="5066923"/>
          </a:xfrm>
        </p:spPr>
        <p:txBody>
          <a:bodyPr/>
          <a:lstStyle/>
          <a:p>
            <a:r>
              <a:rPr lang="en-AU" sz="2000" dirty="0">
                <a:latin typeface="Avenir Book" panose="02000503020000020003" pitchFamily="2" charset="0"/>
              </a:rPr>
              <a:t>Between the cerebral cortex and the basal ganglia is white matter composed of bundles of nerve fibres that are surrounded by a sheath of white fatty material called </a:t>
            </a:r>
            <a:r>
              <a:rPr lang="en-AU" sz="2000" b="1" dirty="0">
                <a:latin typeface="Avenir Book" panose="02000503020000020003" pitchFamily="2" charset="0"/>
              </a:rPr>
              <a:t>myelin</a:t>
            </a:r>
            <a:r>
              <a:rPr lang="en-AU" sz="2000" dirty="0">
                <a:latin typeface="Avenir Book" panose="02000503020000020003" pitchFamily="2" charset="0"/>
              </a:rPr>
              <a:t>. Within the CNS. bundles of nerve fibres are called </a:t>
            </a:r>
            <a:r>
              <a:rPr lang="en-AU" sz="2000" b="1" dirty="0">
                <a:latin typeface="Avenir Book" panose="02000503020000020003" pitchFamily="2" charset="0"/>
              </a:rPr>
              <a:t>tracts</a:t>
            </a:r>
            <a:r>
              <a:rPr lang="en-AU" sz="2000" dirty="0">
                <a:latin typeface="Avenir Book" panose="02000503020000020003" pitchFamily="2" charset="0"/>
              </a:rPr>
              <a:t>; outside the CNS they are called nerves:</a:t>
            </a:r>
          </a:p>
          <a:p>
            <a:endParaRPr lang="en-AU" sz="2000" dirty="0">
              <a:latin typeface="Avenir Book" panose="02000503020000020003" pitchFamily="2" charset="0"/>
            </a:endParaRPr>
          </a:p>
          <a:p>
            <a:r>
              <a:rPr lang="en-AU" sz="2000" dirty="0">
                <a:latin typeface="Avenir Book" panose="02000503020000020003" pitchFamily="2" charset="0"/>
              </a:rPr>
              <a:t>Three types of tracts occur in the white matter:</a:t>
            </a:r>
          </a:p>
          <a:p>
            <a:pPr marL="285750" indent="-285750">
              <a:buFont typeface="Arial" panose="020B0604020202020204" pitchFamily="34" charset="0"/>
              <a:buChar char="•"/>
            </a:pPr>
            <a:r>
              <a:rPr lang="en-AU" sz="2000" dirty="0">
                <a:latin typeface="Avenir Book" panose="02000503020000020003" pitchFamily="2" charset="0"/>
              </a:rPr>
              <a:t>Tracts that connect various areas of the cortex within the same hemisphere.</a:t>
            </a:r>
          </a:p>
          <a:p>
            <a:pPr marL="285750" indent="-285750">
              <a:buFont typeface="Arial" panose="020B0604020202020204" pitchFamily="34" charset="0"/>
              <a:buChar char="•"/>
            </a:pPr>
            <a:r>
              <a:rPr lang="en-AU" sz="2000" dirty="0">
                <a:latin typeface="Avenir Book" panose="02000503020000020003" pitchFamily="2" charset="0"/>
              </a:rPr>
              <a:t>Tracts that carry impulses between the left and right hemispheres. </a:t>
            </a:r>
          </a:p>
          <a:p>
            <a:pPr marL="285750" indent="-285750">
              <a:buFont typeface="Arial" panose="020B0604020202020204" pitchFamily="34" charset="0"/>
              <a:buChar char="•"/>
            </a:pPr>
            <a:r>
              <a:rPr lang="en-AU" sz="2000" dirty="0">
                <a:latin typeface="Avenir Book" panose="02000503020000020003" pitchFamily="2" charset="0"/>
              </a:rPr>
              <a:t>Tracts that connect the cortex to other parts of the brain or to the spinal cord.</a:t>
            </a:r>
          </a:p>
          <a:p>
            <a:endParaRPr lang="en-AU" sz="2000" dirty="0">
              <a:latin typeface="Avenir Book" panose="02000503020000020003" pitchFamily="2" charset="0"/>
            </a:endParaRPr>
          </a:p>
          <a:p>
            <a:r>
              <a:rPr lang="en-AU" sz="2000" dirty="0">
                <a:latin typeface="Avenir Book" panose="02000503020000020003" pitchFamily="2" charset="0"/>
              </a:rPr>
              <a:t>The basal ganglia consist of groups of nerve cell bodies associated with control of skeletal muscles. They play a role in initiating desired movements and inhibiting unwanted movement.</a:t>
            </a:r>
          </a:p>
          <a:p>
            <a:r>
              <a:rPr lang="en-AU" dirty="0"/>
              <a:t> </a:t>
            </a:r>
          </a:p>
          <a:p>
            <a:endParaRPr lang="en-US" dirty="0"/>
          </a:p>
        </p:txBody>
      </p:sp>
    </p:spTree>
    <p:extLst>
      <p:ext uri="{BB962C8B-B14F-4D97-AF65-F5344CB8AC3E}">
        <p14:creationId xmlns:p14="http://schemas.microsoft.com/office/powerpoint/2010/main" val="3497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4ECF895-9908-AC4A-85BC-07AC59CB4745}"/>
              </a:ext>
            </a:extLst>
          </p:cNvPr>
          <p:cNvSpPr>
            <a:spLocks noGrp="1"/>
          </p:cNvSpPr>
          <p:nvPr>
            <p:ph type="body" sz="quarter" idx="13"/>
          </p:nvPr>
        </p:nvSpPr>
        <p:spPr/>
        <p:txBody>
          <a:bodyPr/>
          <a:lstStyle/>
          <a:p>
            <a:r>
              <a:rPr lang="en-AU" dirty="0"/>
              <a:t>Corpus callosum</a:t>
            </a:r>
            <a:endParaRPr lang="en-US" dirty="0"/>
          </a:p>
        </p:txBody>
      </p:sp>
      <p:sp>
        <p:nvSpPr>
          <p:cNvPr id="3" name="Text Placeholder 2">
            <a:extLst>
              <a:ext uri="{FF2B5EF4-FFF2-40B4-BE49-F238E27FC236}">
                <a16:creationId xmlns:a16="http://schemas.microsoft.com/office/drawing/2014/main" id="{55F6EAB7-7497-1A4D-8B2A-0FEFD4BF6704}"/>
              </a:ext>
            </a:extLst>
          </p:cNvPr>
          <p:cNvSpPr>
            <a:spLocks noGrp="1"/>
          </p:cNvSpPr>
          <p:nvPr>
            <p:ph type="body" sz="quarter" idx="15"/>
          </p:nvPr>
        </p:nvSpPr>
        <p:spPr>
          <a:xfrm>
            <a:off x="280558" y="1528994"/>
            <a:ext cx="6356548" cy="5066923"/>
          </a:xfrm>
        </p:spPr>
        <p:txBody>
          <a:bodyPr/>
          <a:lstStyle/>
          <a:p>
            <a:r>
              <a:rPr lang="en-AU" sz="2400" dirty="0">
                <a:latin typeface="Avenir Book" panose="02000503020000020003" pitchFamily="2" charset="0"/>
              </a:rPr>
              <a:t>The </a:t>
            </a:r>
            <a:r>
              <a:rPr lang="en-AU" sz="2400" b="1" dirty="0">
                <a:latin typeface="Avenir Book" panose="02000503020000020003" pitchFamily="2" charset="0"/>
              </a:rPr>
              <a:t>corpus callosum </a:t>
            </a:r>
            <a:r>
              <a:rPr lang="en-AU" sz="2400" dirty="0">
                <a:latin typeface="Avenir Book" panose="02000503020000020003" pitchFamily="2" charset="0"/>
              </a:rPr>
              <a:t>is a wide band of nerve fibres that ties underneath the cerebrum at the base of the longitudinal fissure. Nerve fibres in the corpus callosum cross from one cerebral hemisphere to the other and allow the two sides of the cerebrum to communicate with each other. </a:t>
            </a:r>
          </a:p>
          <a:p>
            <a:br>
              <a:rPr lang="en-AU" dirty="0"/>
            </a:br>
            <a:endParaRPr lang="en-US" dirty="0"/>
          </a:p>
        </p:txBody>
      </p:sp>
      <p:pic>
        <p:nvPicPr>
          <p:cNvPr id="5" name="Picture 4" descr="Diagram&#10;&#10;Description automatically generated">
            <a:extLst>
              <a:ext uri="{FF2B5EF4-FFF2-40B4-BE49-F238E27FC236}">
                <a16:creationId xmlns:a16="http://schemas.microsoft.com/office/drawing/2014/main" id="{08C6A3DC-72EB-7B4B-AF57-5BB09D52FA64}"/>
              </a:ext>
            </a:extLst>
          </p:cNvPr>
          <p:cNvPicPr>
            <a:picLocks noChangeAspect="1"/>
          </p:cNvPicPr>
          <p:nvPr/>
        </p:nvPicPr>
        <p:blipFill>
          <a:blip r:embed="rId2"/>
          <a:stretch>
            <a:fillRect/>
          </a:stretch>
        </p:blipFill>
        <p:spPr>
          <a:xfrm>
            <a:off x="6907061" y="2073791"/>
            <a:ext cx="5144526" cy="4522126"/>
          </a:xfrm>
          <a:prstGeom prst="rect">
            <a:avLst/>
          </a:prstGeom>
        </p:spPr>
      </p:pic>
    </p:spTree>
    <p:extLst>
      <p:ext uri="{BB962C8B-B14F-4D97-AF65-F5344CB8AC3E}">
        <p14:creationId xmlns:p14="http://schemas.microsoft.com/office/powerpoint/2010/main" val="37259000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3931A8-BE63-E745-B7DE-1BCA54F717AC}"/>
              </a:ext>
            </a:extLst>
          </p:cNvPr>
          <p:cNvSpPr>
            <a:spLocks noGrp="1"/>
          </p:cNvSpPr>
          <p:nvPr>
            <p:ph type="body" sz="quarter" idx="13"/>
          </p:nvPr>
        </p:nvSpPr>
        <p:spPr/>
        <p:txBody>
          <a:bodyPr/>
          <a:lstStyle/>
          <a:p>
            <a:r>
              <a:rPr lang="en-AU" dirty="0"/>
              <a:t>Cerebellum</a:t>
            </a:r>
          </a:p>
          <a:p>
            <a:endParaRPr lang="en-US" dirty="0"/>
          </a:p>
        </p:txBody>
      </p:sp>
      <p:sp>
        <p:nvSpPr>
          <p:cNvPr id="3" name="Text Placeholder 2">
            <a:extLst>
              <a:ext uri="{FF2B5EF4-FFF2-40B4-BE49-F238E27FC236}">
                <a16:creationId xmlns:a16="http://schemas.microsoft.com/office/drawing/2014/main" id="{CD2B37A3-11E8-034A-B65C-51F1FEBBF3F3}"/>
              </a:ext>
            </a:extLst>
          </p:cNvPr>
          <p:cNvSpPr>
            <a:spLocks noGrp="1"/>
          </p:cNvSpPr>
          <p:nvPr>
            <p:ph type="body" sz="quarter" idx="15"/>
          </p:nvPr>
        </p:nvSpPr>
        <p:spPr>
          <a:xfrm>
            <a:off x="280557" y="1330036"/>
            <a:ext cx="11506476" cy="5066923"/>
          </a:xfrm>
        </p:spPr>
        <p:txBody>
          <a:bodyPr/>
          <a:lstStyle/>
          <a:p>
            <a:r>
              <a:rPr lang="en-AU" sz="2000" dirty="0">
                <a:latin typeface="Avenir Book" panose="02000503020000020003" pitchFamily="2" charset="0"/>
              </a:rPr>
              <a:t>The </a:t>
            </a:r>
            <a:r>
              <a:rPr lang="en-AU" sz="2000" b="1" dirty="0">
                <a:latin typeface="Avenir Book" panose="02000503020000020003" pitchFamily="2" charset="0"/>
              </a:rPr>
              <a:t>cerebellum</a:t>
            </a:r>
            <a:r>
              <a:rPr lang="en-AU" sz="2000" dirty="0">
                <a:latin typeface="Avenir Book" panose="02000503020000020003" pitchFamily="2" charset="0"/>
              </a:rPr>
              <a:t> lies under the rear part of the cerebrum. It it the second largest part of the brain and its surface is folded into a series of parallel ridges. The outer folded part of the cerebellum is grey matter inside is white matter that branches to all parts of the cerebellum rather like the branches of a tree.</a:t>
            </a:r>
          </a:p>
          <a:p>
            <a:br>
              <a:rPr lang="en-AU" dirty="0"/>
            </a:br>
            <a:endParaRPr lang="en-US" dirty="0"/>
          </a:p>
        </p:txBody>
      </p:sp>
      <p:pic>
        <p:nvPicPr>
          <p:cNvPr id="5" name="Picture 4" descr="Diagram&#10;&#10;Description automatically generated">
            <a:extLst>
              <a:ext uri="{FF2B5EF4-FFF2-40B4-BE49-F238E27FC236}">
                <a16:creationId xmlns:a16="http://schemas.microsoft.com/office/drawing/2014/main" id="{61B8DE7C-96B8-6F44-9485-6562AB4C72C9}"/>
              </a:ext>
            </a:extLst>
          </p:cNvPr>
          <p:cNvPicPr>
            <a:picLocks noChangeAspect="1"/>
          </p:cNvPicPr>
          <p:nvPr/>
        </p:nvPicPr>
        <p:blipFill>
          <a:blip r:embed="rId2"/>
          <a:stretch>
            <a:fillRect/>
          </a:stretch>
        </p:blipFill>
        <p:spPr>
          <a:xfrm>
            <a:off x="1051318" y="3200400"/>
            <a:ext cx="10274300" cy="3657600"/>
          </a:xfrm>
          <a:prstGeom prst="rect">
            <a:avLst/>
          </a:prstGeom>
        </p:spPr>
      </p:pic>
    </p:spTree>
    <p:extLst>
      <p:ext uri="{BB962C8B-B14F-4D97-AF65-F5344CB8AC3E}">
        <p14:creationId xmlns:p14="http://schemas.microsoft.com/office/powerpoint/2010/main" val="875384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E97CC16-1B3D-8C4D-B643-D38346F8C9D4}"/>
              </a:ext>
            </a:extLst>
          </p:cNvPr>
          <p:cNvSpPr>
            <a:spLocks noGrp="1"/>
          </p:cNvSpPr>
          <p:nvPr>
            <p:ph type="body" sz="quarter" idx="13"/>
          </p:nvPr>
        </p:nvSpPr>
        <p:spPr/>
        <p:txBody>
          <a:bodyPr/>
          <a:lstStyle/>
          <a:p>
            <a:r>
              <a:rPr lang="en-US" dirty="0"/>
              <a:t>Cerebellum</a:t>
            </a:r>
          </a:p>
        </p:txBody>
      </p:sp>
      <p:sp>
        <p:nvSpPr>
          <p:cNvPr id="3" name="Text Placeholder 2">
            <a:extLst>
              <a:ext uri="{FF2B5EF4-FFF2-40B4-BE49-F238E27FC236}">
                <a16:creationId xmlns:a16="http://schemas.microsoft.com/office/drawing/2014/main" id="{3E10AC70-443A-B24F-B405-FA36921D772C}"/>
              </a:ext>
            </a:extLst>
          </p:cNvPr>
          <p:cNvSpPr>
            <a:spLocks noGrp="1"/>
          </p:cNvSpPr>
          <p:nvPr>
            <p:ph type="body" sz="quarter" idx="15"/>
          </p:nvPr>
        </p:nvSpPr>
        <p:spPr>
          <a:xfrm>
            <a:off x="280557" y="1330036"/>
            <a:ext cx="11506476" cy="5066923"/>
          </a:xfrm>
        </p:spPr>
        <p:txBody>
          <a:bodyPr/>
          <a:lstStyle/>
          <a:p>
            <a:r>
              <a:rPr lang="en-AU" sz="2000" dirty="0">
                <a:latin typeface="Avenir Book" panose="02000503020000020003" pitchFamily="2" charset="0"/>
              </a:rPr>
              <a:t>The cerebellum exercises control over posture, balance and the fine coordination of voluntary muscle movement. To carry out these functions the cerebellum receives sensory information from:</a:t>
            </a:r>
          </a:p>
          <a:p>
            <a:pPr marL="285750" indent="-285750">
              <a:buFontTx/>
              <a:buChar char="-"/>
            </a:pPr>
            <a:r>
              <a:rPr lang="en-AU" sz="2000" dirty="0">
                <a:latin typeface="Avenir Book" panose="02000503020000020003" pitchFamily="2" charset="0"/>
              </a:rPr>
              <a:t>The inner ear for information about posture and balance </a:t>
            </a:r>
          </a:p>
          <a:p>
            <a:pPr marL="285750" indent="-285750">
              <a:buFontTx/>
              <a:buChar char="-"/>
            </a:pPr>
            <a:r>
              <a:rPr lang="en-AU" sz="2000" dirty="0">
                <a:latin typeface="Avenir Book" panose="02000503020000020003" pitchFamily="2" charset="0"/>
              </a:rPr>
              <a:t>Stretch receptors in the skeletal muscles for information about the length of muscles.</a:t>
            </a:r>
          </a:p>
          <a:p>
            <a:r>
              <a:rPr lang="en-AU" sz="2000" dirty="0">
                <a:latin typeface="Avenir Book" panose="02000503020000020003" pitchFamily="2" charset="0"/>
              </a:rPr>
              <a:t>All the functions of the cerebellum take place below the conscious level. Impulses do not originate in the cerebellum and so without it we could still move, but our movements would be spasmodic. jerky and uncontrolled. Smooth, coordinated movements, such as those required for writing, playing a musical instrument or using a computer, would be impossible.</a:t>
            </a:r>
          </a:p>
          <a:p>
            <a:endParaRPr lang="en-US" dirty="0"/>
          </a:p>
        </p:txBody>
      </p:sp>
      <p:pic>
        <p:nvPicPr>
          <p:cNvPr id="4" name="Picture 3" descr="Diagram&#10;&#10;Description automatically generated">
            <a:extLst>
              <a:ext uri="{FF2B5EF4-FFF2-40B4-BE49-F238E27FC236}">
                <a16:creationId xmlns:a16="http://schemas.microsoft.com/office/drawing/2014/main" id="{B52F0CF3-C4A1-8C40-AACA-CDE19EEBA19D}"/>
              </a:ext>
            </a:extLst>
          </p:cNvPr>
          <p:cNvPicPr>
            <a:picLocks noChangeAspect="1"/>
          </p:cNvPicPr>
          <p:nvPr/>
        </p:nvPicPr>
        <p:blipFill>
          <a:blip r:embed="rId2"/>
          <a:stretch>
            <a:fillRect/>
          </a:stretch>
        </p:blipFill>
        <p:spPr>
          <a:xfrm>
            <a:off x="2301375" y="4156265"/>
            <a:ext cx="7589249" cy="2701735"/>
          </a:xfrm>
          <a:prstGeom prst="rect">
            <a:avLst/>
          </a:prstGeom>
        </p:spPr>
      </p:pic>
    </p:spTree>
    <p:extLst>
      <p:ext uri="{BB962C8B-B14F-4D97-AF65-F5344CB8AC3E}">
        <p14:creationId xmlns:p14="http://schemas.microsoft.com/office/powerpoint/2010/main" val="4795080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53FE129-45A7-FF4E-BD7D-5955922902C0}"/>
              </a:ext>
            </a:extLst>
          </p:cNvPr>
          <p:cNvSpPr>
            <a:spLocks noGrp="1"/>
          </p:cNvSpPr>
          <p:nvPr>
            <p:ph type="body" sz="quarter" idx="13"/>
          </p:nvPr>
        </p:nvSpPr>
        <p:spPr/>
        <p:txBody>
          <a:bodyPr/>
          <a:lstStyle/>
          <a:p>
            <a:r>
              <a:rPr lang="en-AU" dirty="0"/>
              <a:t>Hypothalamus</a:t>
            </a:r>
            <a:endParaRPr lang="en-US" dirty="0"/>
          </a:p>
        </p:txBody>
      </p:sp>
      <p:sp>
        <p:nvSpPr>
          <p:cNvPr id="3" name="Text Placeholder 2">
            <a:extLst>
              <a:ext uri="{FF2B5EF4-FFF2-40B4-BE49-F238E27FC236}">
                <a16:creationId xmlns:a16="http://schemas.microsoft.com/office/drawing/2014/main" id="{DA8CD160-1B8F-484C-AA85-A1F8DE05B544}"/>
              </a:ext>
            </a:extLst>
          </p:cNvPr>
          <p:cNvSpPr>
            <a:spLocks noGrp="1"/>
          </p:cNvSpPr>
          <p:nvPr>
            <p:ph type="body" sz="quarter" idx="15"/>
          </p:nvPr>
        </p:nvSpPr>
        <p:spPr>
          <a:xfrm>
            <a:off x="280557" y="1226634"/>
            <a:ext cx="6934281" cy="5631366"/>
          </a:xfrm>
        </p:spPr>
        <p:txBody>
          <a:bodyPr>
            <a:normAutofit fontScale="25000" lnSpcReduction="20000"/>
          </a:bodyPr>
          <a:lstStyle/>
          <a:p>
            <a:pPr>
              <a:lnSpc>
                <a:spcPct val="170000"/>
              </a:lnSpc>
            </a:pPr>
            <a:r>
              <a:rPr lang="en-AU" sz="4800" dirty="0">
                <a:latin typeface="Avenir Book" panose="02000503020000020003" pitchFamily="2" charset="0"/>
              </a:rPr>
              <a:t>The hypothalamus lies in the middle of the brain and cannot be seen from the outside. Although small, the hypothalamus controls many bodily activities, but it is mostly concerned with maintaining a constant internal environment – homeostasis. </a:t>
            </a:r>
          </a:p>
          <a:p>
            <a:pPr>
              <a:lnSpc>
                <a:spcPct val="170000"/>
              </a:lnSpc>
            </a:pPr>
            <a:r>
              <a:rPr lang="en-AU" sz="4800" dirty="0">
                <a:latin typeface="Avenir Book" panose="02000503020000020003" pitchFamily="2" charset="0"/>
              </a:rPr>
              <a:t>The functions of the hypothalamus include the regulation of:</a:t>
            </a:r>
          </a:p>
          <a:p>
            <a:pPr marL="285750" indent="-285750">
              <a:lnSpc>
                <a:spcPct val="170000"/>
              </a:lnSpc>
              <a:buFont typeface="Arial" panose="020B0604020202020204" pitchFamily="34" charset="0"/>
              <a:buChar char="•"/>
            </a:pPr>
            <a:r>
              <a:rPr lang="en-AU" sz="4800" dirty="0">
                <a:latin typeface="Avenir Book" panose="02000503020000020003" pitchFamily="2" charset="0"/>
              </a:rPr>
              <a:t>The autonomic nervous system, including the regulation of heart rate, blood pressure, the secretion of digestive juices, movements of the alimentary cars and the diameter of the pupil of the eye.</a:t>
            </a:r>
          </a:p>
          <a:p>
            <a:pPr marL="285750" indent="-285750">
              <a:lnSpc>
                <a:spcPct val="170000"/>
              </a:lnSpc>
              <a:buFont typeface="Arial" panose="020B0604020202020204" pitchFamily="34" charset="0"/>
              <a:buChar char="•"/>
            </a:pPr>
            <a:r>
              <a:rPr lang="en-AU" sz="4800" dirty="0">
                <a:latin typeface="Avenir Book" panose="02000503020000020003" pitchFamily="2" charset="0"/>
              </a:rPr>
              <a:t>Body temperature.</a:t>
            </a:r>
          </a:p>
          <a:p>
            <a:pPr marL="285750" indent="-285750">
              <a:lnSpc>
                <a:spcPct val="170000"/>
              </a:lnSpc>
              <a:buFont typeface="Arial" panose="020B0604020202020204" pitchFamily="34" charset="0"/>
              <a:buChar char="•"/>
            </a:pPr>
            <a:r>
              <a:rPr lang="en-AU" sz="4800" dirty="0">
                <a:latin typeface="Avenir Book" panose="02000503020000020003" pitchFamily="2" charset="0"/>
              </a:rPr>
              <a:t>Food and water intake.</a:t>
            </a:r>
          </a:p>
          <a:p>
            <a:pPr marL="285750" indent="-285750">
              <a:lnSpc>
                <a:spcPct val="170000"/>
              </a:lnSpc>
              <a:buFont typeface="Arial" panose="020B0604020202020204" pitchFamily="34" charset="0"/>
              <a:buChar char="•"/>
            </a:pPr>
            <a:r>
              <a:rPr lang="en-AU" sz="4800" dirty="0">
                <a:latin typeface="Avenir Book" panose="02000503020000020003" pitchFamily="2" charset="0"/>
              </a:rPr>
              <a:t>Patterns of waking and sleeping. </a:t>
            </a:r>
          </a:p>
          <a:p>
            <a:pPr marL="285750" indent="-285750">
              <a:lnSpc>
                <a:spcPct val="170000"/>
              </a:lnSpc>
              <a:buFont typeface="Arial" panose="020B0604020202020204" pitchFamily="34" charset="0"/>
              <a:buChar char="•"/>
            </a:pPr>
            <a:r>
              <a:rPr lang="en-AU" sz="4800" dirty="0">
                <a:latin typeface="Avenir Book" panose="02000503020000020003" pitchFamily="2" charset="0"/>
              </a:rPr>
              <a:t>Contraction of the urinary bladder.</a:t>
            </a:r>
          </a:p>
          <a:p>
            <a:pPr marL="285750" indent="-285750">
              <a:lnSpc>
                <a:spcPct val="170000"/>
              </a:lnSpc>
              <a:buFont typeface="Arial" panose="020B0604020202020204" pitchFamily="34" charset="0"/>
              <a:buChar char="•"/>
            </a:pPr>
            <a:r>
              <a:rPr lang="en-AU" sz="4800" dirty="0">
                <a:latin typeface="Avenir Book" panose="02000503020000020003" pitchFamily="2" charset="0"/>
              </a:rPr>
              <a:t>Emotional responses such as fear, anger, aggression, pleasure and contentment. </a:t>
            </a:r>
          </a:p>
          <a:p>
            <a:pPr marL="285750" indent="-285750">
              <a:lnSpc>
                <a:spcPct val="170000"/>
              </a:lnSpc>
              <a:buFont typeface="Arial" panose="020B0604020202020204" pitchFamily="34" charset="0"/>
              <a:buChar char="•"/>
            </a:pPr>
            <a:r>
              <a:rPr lang="en-AU" sz="4800" dirty="0">
                <a:latin typeface="Avenir Book" panose="02000503020000020003" pitchFamily="2" charset="0"/>
              </a:rPr>
              <a:t>The secretion of hormones and coordination of parts of the endocrine system: acting through the pituitary gland the hypothalamus regulates metabolism, growth, reproduction and responses to stress.</a:t>
            </a:r>
          </a:p>
          <a:p>
            <a:br>
              <a:rPr lang="en-AU" dirty="0"/>
            </a:br>
            <a:endParaRPr lang="en-US" dirty="0"/>
          </a:p>
        </p:txBody>
      </p:sp>
      <p:pic>
        <p:nvPicPr>
          <p:cNvPr id="5" name="Picture 4" descr="Diagram&#10;&#10;Description automatically generated">
            <a:extLst>
              <a:ext uri="{FF2B5EF4-FFF2-40B4-BE49-F238E27FC236}">
                <a16:creationId xmlns:a16="http://schemas.microsoft.com/office/drawing/2014/main" id="{8869C728-65B1-E74F-901B-A97FB253DBD7}"/>
              </a:ext>
            </a:extLst>
          </p:cNvPr>
          <p:cNvPicPr>
            <a:picLocks noChangeAspect="1"/>
          </p:cNvPicPr>
          <p:nvPr/>
        </p:nvPicPr>
        <p:blipFill>
          <a:blip r:embed="rId2"/>
          <a:stretch>
            <a:fillRect/>
          </a:stretch>
        </p:blipFill>
        <p:spPr>
          <a:xfrm>
            <a:off x="7065802" y="1067686"/>
            <a:ext cx="5126198" cy="3676721"/>
          </a:xfrm>
          <a:prstGeom prst="rect">
            <a:avLst/>
          </a:prstGeom>
        </p:spPr>
      </p:pic>
    </p:spTree>
    <p:extLst>
      <p:ext uri="{BB962C8B-B14F-4D97-AF65-F5344CB8AC3E}">
        <p14:creationId xmlns:p14="http://schemas.microsoft.com/office/powerpoint/2010/main" val="31718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A3A2B5-791E-0F48-BA73-F9F87DD558F2}"/>
              </a:ext>
            </a:extLst>
          </p:cNvPr>
          <p:cNvSpPr>
            <a:spLocks noGrp="1"/>
          </p:cNvSpPr>
          <p:nvPr>
            <p:ph type="body" sz="quarter" idx="13"/>
          </p:nvPr>
        </p:nvSpPr>
        <p:spPr/>
        <p:txBody>
          <a:bodyPr/>
          <a:lstStyle/>
          <a:p>
            <a:r>
              <a:rPr lang="en-AU" dirty="0"/>
              <a:t>Medulla oblongata</a:t>
            </a:r>
          </a:p>
          <a:p>
            <a:endParaRPr lang="en-US" dirty="0"/>
          </a:p>
        </p:txBody>
      </p:sp>
      <p:sp>
        <p:nvSpPr>
          <p:cNvPr id="3" name="Text Placeholder 2">
            <a:extLst>
              <a:ext uri="{FF2B5EF4-FFF2-40B4-BE49-F238E27FC236}">
                <a16:creationId xmlns:a16="http://schemas.microsoft.com/office/drawing/2014/main" id="{505AC9EF-08C1-8546-853F-BBDF360453A0}"/>
              </a:ext>
            </a:extLst>
          </p:cNvPr>
          <p:cNvSpPr>
            <a:spLocks noGrp="1"/>
          </p:cNvSpPr>
          <p:nvPr>
            <p:ph type="body" sz="quarter" idx="15"/>
          </p:nvPr>
        </p:nvSpPr>
        <p:spPr>
          <a:xfrm>
            <a:off x="280558" y="1330036"/>
            <a:ext cx="11506476" cy="5265881"/>
          </a:xfrm>
        </p:spPr>
        <p:txBody>
          <a:bodyPr>
            <a:normAutofit/>
          </a:bodyPr>
          <a:lstStyle/>
          <a:p>
            <a:r>
              <a:rPr lang="en-AU" sz="2000" dirty="0">
                <a:latin typeface="Avenir Book" panose="02000503020000020003" pitchFamily="2" charset="0"/>
              </a:rPr>
              <a:t>The medulla oblongata is a continuation of the spinal cord it is about 3 cm long and extends from just above the point where the spinal cord enters the skull. Many nerve fibres simply pass through the medulla going to are from the other parts of the brain, but the medulla does have an important role in automatically adjusting body functions.</a:t>
            </a:r>
          </a:p>
          <a:p>
            <a:endParaRPr lang="en-AU" sz="2000" dirty="0">
              <a:latin typeface="Avenir Book" panose="02000503020000020003" pitchFamily="2" charset="0"/>
            </a:endParaRPr>
          </a:p>
          <a:p>
            <a:r>
              <a:rPr lang="en-AU" sz="2000" dirty="0">
                <a:latin typeface="Avenir Book" panose="02000503020000020003" pitchFamily="2" charset="0"/>
              </a:rPr>
              <a:t>The medulla oblongata contains:</a:t>
            </a:r>
          </a:p>
          <a:p>
            <a:pPr marL="342900" indent="-342900">
              <a:buFont typeface="Arial" panose="020B0604020202020204" pitchFamily="34" charset="0"/>
              <a:buChar char="•"/>
            </a:pPr>
            <a:r>
              <a:rPr lang="en-AU" sz="2000" dirty="0">
                <a:latin typeface="Avenir Book" panose="02000503020000020003" pitchFamily="2" charset="0"/>
              </a:rPr>
              <a:t>The </a:t>
            </a:r>
            <a:r>
              <a:rPr lang="en-AU" sz="2000" b="1" dirty="0">
                <a:latin typeface="Avenir Book" panose="02000503020000020003" pitchFamily="2" charset="0"/>
              </a:rPr>
              <a:t>cardiac centre</a:t>
            </a:r>
            <a:r>
              <a:rPr lang="en-AU" sz="2000" dirty="0">
                <a:latin typeface="Avenir Book" panose="02000503020000020003" pitchFamily="2" charset="0"/>
              </a:rPr>
              <a:t>, which regulates the rate and force of the heartbeat the vasomotor centre, which regulates the diameter of blood vessels</a:t>
            </a:r>
          </a:p>
          <a:p>
            <a:pPr marL="342900" indent="-342900">
              <a:buFont typeface="Arial" panose="020B0604020202020204" pitchFamily="34" charset="0"/>
              <a:buChar char="•"/>
            </a:pPr>
            <a:r>
              <a:rPr lang="en-AU" sz="2000" b="1" dirty="0">
                <a:latin typeface="Avenir Book" panose="02000503020000020003" pitchFamily="2" charset="0"/>
              </a:rPr>
              <a:t>Respiratory centres</a:t>
            </a:r>
            <a:r>
              <a:rPr lang="en-AU" sz="2000" dirty="0">
                <a:latin typeface="Avenir Book" panose="02000503020000020003" pitchFamily="2" charset="0"/>
              </a:rPr>
              <a:t>, which control rate and depth of breathing</a:t>
            </a:r>
          </a:p>
          <a:p>
            <a:pPr marL="285750" indent="-285750">
              <a:buFont typeface="Arial" panose="020B0604020202020204" pitchFamily="34" charset="0"/>
              <a:buChar char="•"/>
            </a:pPr>
            <a:r>
              <a:rPr lang="en-AU" sz="2000" dirty="0">
                <a:latin typeface="Avenir Book" panose="02000503020000020003" pitchFamily="2" charset="0"/>
              </a:rPr>
              <a:t>The </a:t>
            </a:r>
            <a:r>
              <a:rPr lang="en-AU" sz="2000" b="1" dirty="0">
                <a:latin typeface="Avenir Book" panose="02000503020000020003" pitchFamily="2" charset="0"/>
              </a:rPr>
              <a:t>vasomotor centre</a:t>
            </a:r>
            <a:r>
              <a:rPr lang="en-AU" sz="2000" dirty="0">
                <a:latin typeface="Avenir Book" panose="02000503020000020003" pitchFamily="2" charset="0"/>
              </a:rPr>
              <a:t>, which regulates the diameter of blood vessels. </a:t>
            </a:r>
          </a:p>
          <a:p>
            <a:endParaRPr lang="en-AU" sz="2000" dirty="0">
              <a:latin typeface="Avenir Book" panose="02000503020000020003" pitchFamily="2" charset="0"/>
            </a:endParaRPr>
          </a:p>
          <a:p>
            <a:r>
              <a:rPr lang="en-AU" sz="2000" dirty="0">
                <a:latin typeface="Avenir Book" panose="02000503020000020003" pitchFamily="2" charset="0"/>
              </a:rPr>
              <a:t>In addition, other centres regulate the reflexes of swallowing, sneezing, coughing and vomiting. All the centres in the medulla oblongata are influenced and controlled by higher centres in the brain particularly the hypothalamus.</a:t>
            </a:r>
            <a:endParaRPr lang="en-US" sz="2000" dirty="0">
              <a:latin typeface="Avenir Book" panose="02000503020000020003" pitchFamily="2" charset="0"/>
            </a:endParaRPr>
          </a:p>
        </p:txBody>
      </p:sp>
    </p:spTree>
    <p:extLst>
      <p:ext uri="{BB962C8B-B14F-4D97-AF65-F5344CB8AC3E}">
        <p14:creationId xmlns:p14="http://schemas.microsoft.com/office/powerpoint/2010/main" val="1539922461"/>
      </p:ext>
    </p:extLst>
  </p:cSld>
  <p:clrMapOvr>
    <a:masterClrMapping/>
  </p:clrMapOvr>
</p:sld>
</file>

<file path=ppt/theme/theme1.xml><?xml version="1.0" encoding="utf-8"?>
<a:theme xmlns:a="http://schemas.openxmlformats.org/drawingml/2006/main" name="Explicit Instruct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583381A7-9936-5D44-AF96-977A58C393EF}"/>
    </a:ext>
  </a:extLst>
</a:theme>
</file>

<file path=ppt/theme/theme2.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44E26B83-00B7-BB4D-A2EC-ADFFD194B2BC}"/>
    </a:ext>
  </a:extLst>
</a:theme>
</file>

<file path=ppt/theme/theme3.xml><?xml version="1.0" encoding="utf-8"?>
<a:theme xmlns:a="http://schemas.openxmlformats.org/drawingml/2006/main" name="Vocabulary &amp; Spell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821F2746-48D5-5843-A7D5-EF5B105A2CD3}"/>
    </a:ext>
  </a:extLst>
</a:theme>
</file>

<file path=ppt/theme/theme4.xml><?xml version="1.0" encoding="utf-8"?>
<a:theme xmlns:a="http://schemas.openxmlformats.org/drawingml/2006/main" name="Reading Comprehens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2E2F26A4-DEB2-AF4B-9600-F3299094F0D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32E83A20-4629-CD4A-B190-FC50DD96DD5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Explicit Instruction</Template>
  <TotalTime>4453</TotalTime>
  <Words>1346</Words>
  <Application>Microsoft Macintosh PowerPoint</Application>
  <PresentationFormat>Widescreen</PresentationFormat>
  <Paragraphs>72</Paragraphs>
  <Slides>16</Slides>
  <Notes>4</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16</vt:i4>
      </vt:variant>
    </vt:vector>
  </HeadingPairs>
  <TitlesOfParts>
    <vt:vector size="29" baseType="lpstr">
      <vt:lpstr>Arial</vt:lpstr>
      <vt:lpstr>Arial Rounded MT Bold</vt:lpstr>
      <vt:lpstr>Avenir Book</vt:lpstr>
      <vt:lpstr>Calibri</vt:lpstr>
      <vt:lpstr>Calibri Light</vt:lpstr>
      <vt:lpstr>Century Gothic</vt:lpstr>
      <vt:lpstr>Futura Medium</vt:lpstr>
      <vt:lpstr>Verdana</vt:lpstr>
      <vt:lpstr>Explicit Instruction</vt:lpstr>
      <vt:lpstr>Daily Review</vt:lpstr>
      <vt:lpstr>Vocabulary &amp; Spelling</vt:lpstr>
      <vt:lpstr>Reading Comprehension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YATES Hayden [Safety Bay Senior High School]</dc:creator>
  <cp:lastModifiedBy>YATES Hayden [Safety Bay Senior High School]</cp:lastModifiedBy>
  <cp:revision>2</cp:revision>
  <cp:lastPrinted>2020-06-12T23:59:38Z</cp:lastPrinted>
  <dcterms:created xsi:type="dcterms:W3CDTF">2022-02-28T13:47:21Z</dcterms:created>
  <dcterms:modified xsi:type="dcterms:W3CDTF">2022-03-09T15:42:51Z</dcterms:modified>
</cp:coreProperties>
</file>
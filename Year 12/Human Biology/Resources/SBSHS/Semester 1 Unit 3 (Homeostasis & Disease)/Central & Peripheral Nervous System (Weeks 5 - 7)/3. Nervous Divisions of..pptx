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86" r:id="rId4"/>
    <p:sldId id="300" r:id="rId5"/>
    <p:sldId id="301" r:id="rId6"/>
    <p:sldId id="287" r:id="rId7"/>
    <p:sldId id="291" r:id="rId8"/>
    <p:sldId id="290" r:id="rId9"/>
    <p:sldId id="296" r:id="rId10"/>
    <p:sldId id="295" r:id="rId11"/>
    <p:sldId id="297" r:id="rId12"/>
    <p:sldId id="292" r:id="rId13"/>
    <p:sldId id="293" r:id="rId14"/>
    <p:sldId id="294" r:id="rId15"/>
    <p:sldId id="298" r:id="rId16"/>
    <p:sldId id="29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385" autoAdjust="0"/>
  </p:normalViewPr>
  <p:slideViewPr>
    <p:cSldViewPr>
      <p:cViewPr varScale="1">
        <p:scale>
          <a:sx n="107" d="100"/>
          <a:sy n="107" d="100"/>
        </p:scale>
        <p:origin x="16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D9512-C607-479D-9091-7AFC62A6F268}" type="datetimeFigureOut">
              <a:rPr lang="en-AU" smtClean="0"/>
              <a:t>7/3/22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C5F8F-1D81-4F44-BB53-0D7347ABA7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64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C5F8F-1D81-4F44-BB53-0D7347ABA7C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0607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5266E-BB1C-4785-98F7-35FEEEB733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9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072D987-F769-4FBA-90D4-E4010B051761}" type="datetimeFigureOut">
              <a:rPr lang="en-AU" smtClean="0"/>
              <a:t>7/3/22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Divisions of the Nervous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D8CB0F4-A6BA-4E6E-A40C-CE5F8B4AD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94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we doing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AU" dirty="0"/>
              <a:t>The nervous and endocrine systems work together to co-ordinate functions of all body systems, but differ in terms of:</a:t>
            </a:r>
          </a:p>
          <a:p>
            <a:pPr lvl="1"/>
            <a:r>
              <a:rPr lang="en-AU" dirty="0"/>
              <a:t>speed of action</a:t>
            </a:r>
          </a:p>
          <a:p>
            <a:pPr lvl="1"/>
            <a:r>
              <a:rPr lang="en-AU" dirty="0"/>
              <a:t>duration of action</a:t>
            </a:r>
          </a:p>
          <a:p>
            <a:pPr lvl="1"/>
            <a:r>
              <a:rPr lang="en-AU" dirty="0"/>
              <a:t>nature and transmission of the message</a:t>
            </a:r>
          </a:p>
          <a:p>
            <a:pPr lvl="1"/>
            <a:r>
              <a:rPr lang="en-AU" dirty="0"/>
              <a:t>specificity of message (SU)</a:t>
            </a:r>
          </a:p>
          <a:p>
            <a:pPr lvl="0"/>
            <a:endParaRPr lang="en-AU" dirty="0"/>
          </a:p>
          <a:p>
            <a:pPr lvl="0"/>
            <a:r>
              <a:rPr lang="en-AU" dirty="0"/>
              <a:t>Structure and function of the divisions of the peripheral nervous system</a:t>
            </a:r>
          </a:p>
          <a:p>
            <a:pPr lvl="1"/>
            <a:r>
              <a:rPr lang="en-AU" dirty="0"/>
              <a:t> autonomic and somatic</a:t>
            </a:r>
          </a:p>
          <a:p>
            <a:pPr lvl="1"/>
            <a:r>
              <a:rPr lang="en-AU" dirty="0"/>
              <a:t> sympathetic and parasympathetic</a:t>
            </a:r>
          </a:p>
          <a:p>
            <a:pPr lvl="1"/>
            <a:r>
              <a:rPr lang="en-AU" dirty="0"/>
              <a:t> afferent and efferent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131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Central:</a:t>
            </a:r>
          </a:p>
          <a:p>
            <a:r>
              <a:rPr lang="en-AU" dirty="0"/>
              <a:t>Peripheral:</a:t>
            </a:r>
          </a:p>
          <a:p>
            <a:r>
              <a:rPr lang="en-AU" dirty="0"/>
              <a:t>Afferent:</a:t>
            </a:r>
          </a:p>
          <a:p>
            <a:r>
              <a:rPr lang="en-AU" dirty="0"/>
              <a:t>Efferent:</a:t>
            </a:r>
          </a:p>
          <a:p>
            <a:r>
              <a:rPr lang="en-AU" dirty="0"/>
              <a:t>Autonomic:</a:t>
            </a:r>
          </a:p>
          <a:p>
            <a:r>
              <a:rPr lang="en-AU" dirty="0"/>
              <a:t>Somatic:</a:t>
            </a:r>
          </a:p>
          <a:p>
            <a:r>
              <a:rPr lang="en-AU" dirty="0"/>
              <a:t>Sympathetic:</a:t>
            </a:r>
          </a:p>
          <a:p>
            <a:r>
              <a:rPr lang="en-AU" dirty="0" err="1"/>
              <a:t>Parasympathic</a:t>
            </a:r>
            <a:r>
              <a:rPr lang="en-AU" dirty="0"/>
              <a:t>: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013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1" t="23684" r="61710" b="20559"/>
          <a:stretch/>
        </p:blipFill>
        <p:spPr bwMode="auto">
          <a:xfrm>
            <a:off x="683568" y="458187"/>
            <a:ext cx="7560840" cy="639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8935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26151" r="62500" b="43750"/>
          <a:stretch/>
        </p:blipFill>
        <p:spPr bwMode="auto">
          <a:xfrm>
            <a:off x="-54219" y="1556792"/>
            <a:ext cx="8545344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7737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274638"/>
            <a:ext cx="7704584" cy="1066130"/>
          </a:xfrm>
        </p:spPr>
        <p:txBody>
          <a:bodyPr/>
          <a:lstStyle/>
          <a:p>
            <a:pPr eaLnBrk="1" hangingPunct="1"/>
            <a:r>
              <a:rPr lang="en-AU" altLang="en-US" dirty="0"/>
              <a:t>Divisions of the nervous system</a:t>
            </a:r>
            <a:endParaRPr lang="en-US" altLang="en-US" dirty="0"/>
          </a:p>
        </p:txBody>
      </p:sp>
      <p:sp>
        <p:nvSpPr>
          <p:cNvPr id="4099" name="Line 6"/>
          <p:cNvSpPr>
            <a:spLocks noChangeShapeType="1"/>
          </p:cNvSpPr>
          <p:nvPr/>
        </p:nvSpPr>
        <p:spPr bwMode="auto">
          <a:xfrm>
            <a:off x="4392613" y="198755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0" name="Line 7"/>
          <p:cNvSpPr>
            <a:spLocks noChangeShapeType="1"/>
          </p:cNvSpPr>
          <p:nvPr/>
        </p:nvSpPr>
        <p:spPr bwMode="auto">
          <a:xfrm>
            <a:off x="1368425" y="2492375"/>
            <a:ext cx="4681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1" name="Line 8"/>
          <p:cNvSpPr>
            <a:spLocks noChangeShapeType="1"/>
          </p:cNvSpPr>
          <p:nvPr/>
        </p:nvSpPr>
        <p:spPr bwMode="auto">
          <a:xfrm>
            <a:off x="1368425" y="24923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2" name="Line 9"/>
          <p:cNvSpPr>
            <a:spLocks noChangeShapeType="1"/>
          </p:cNvSpPr>
          <p:nvPr/>
        </p:nvSpPr>
        <p:spPr bwMode="auto">
          <a:xfrm>
            <a:off x="6049963" y="24923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3" name="Text Box 10"/>
          <p:cNvSpPr txBox="1">
            <a:spLocks noChangeArrowheads="1"/>
          </p:cNvSpPr>
          <p:nvPr/>
        </p:nvSpPr>
        <p:spPr bwMode="auto">
          <a:xfrm>
            <a:off x="215900" y="2757488"/>
            <a:ext cx="2520950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2000" b="1" dirty="0">
                <a:solidFill>
                  <a:srgbClr val="008000"/>
                </a:solidFill>
              </a:rPr>
              <a:t>Central NS (CNS)</a:t>
            </a:r>
            <a:br>
              <a:rPr lang="en-AU" altLang="en-US" sz="2000" b="1" dirty="0">
                <a:solidFill>
                  <a:srgbClr val="008000"/>
                </a:solidFill>
              </a:rPr>
            </a:br>
            <a:r>
              <a:rPr lang="en-AU" altLang="en-US" b="1" dirty="0">
                <a:solidFill>
                  <a:srgbClr val="008000"/>
                </a:solidFill>
              </a:rPr>
              <a:t>(Brain-Spinal cord)</a:t>
            </a:r>
            <a:endParaRPr lang="en-US" altLang="en-US" sz="2000" b="1" dirty="0">
              <a:solidFill>
                <a:srgbClr val="008000"/>
              </a:solidFill>
            </a:endParaRPr>
          </a:p>
        </p:txBody>
      </p:sp>
      <p:sp>
        <p:nvSpPr>
          <p:cNvPr id="4104" name="Line 15"/>
          <p:cNvSpPr>
            <a:spLocks noChangeShapeType="1"/>
          </p:cNvSpPr>
          <p:nvPr/>
        </p:nvSpPr>
        <p:spPr bwMode="auto">
          <a:xfrm>
            <a:off x="6084888" y="296068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5" name="Line 16"/>
          <p:cNvSpPr>
            <a:spLocks noChangeShapeType="1"/>
          </p:cNvSpPr>
          <p:nvPr/>
        </p:nvSpPr>
        <p:spPr bwMode="auto">
          <a:xfrm>
            <a:off x="3346450" y="3321050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6" name="Line 17"/>
          <p:cNvSpPr>
            <a:spLocks noChangeShapeType="1"/>
          </p:cNvSpPr>
          <p:nvPr/>
        </p:nvSpPr>
        <p:spPr bwMode="auto">
          <a:xfrm>
            <a:off x="3346450" y="33210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7" name="Line 18"/>
          <p:cNvSpPr>
            <a:spLocks noChangeShapeType="1"/>
          </p:cNvSpPr>
          <p:nvPr/>
        </p:nvSpPr>
        <p:spPr bwMode="auto">
          <a:xfrm>
            <a:off x="6804025" y="33210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8" name="Text Box 19"/>
          <p:cNvSpPr txBox="1">
            <a:spLocks noChangeArrowheads="1"/>
          </p:cNvSpPr>
          <p:nvPr/>
        </p:nvSpPr>
        <p:spPr bwMode="auto">
          <a:xfrm>
            <a:off x="2195513" y="3463925"/>
            <a:ext cx="287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000" b="1">
                <a:solidFill>
                  <a:srgbClr val="FF0000"/>
                </a:solidFill>
              </a:rPr>
              <a:t>Afferent (Sensory NS)</a:t>
            </a:r>
            <a:endParaRPr lang="en-US" altLang="en-US" sz="2000" b="1">
              <a:solidFill>
                <a:srgbClr val="FF0000"/>
              </a:solidFill>
            </a:endParaRPr>
          </a:p>
        </p:txBody>
      </p:sp>
      <p:sp>
        <p:nvSpPr>
          <p:cNvPr id="4109" name="Line 21"/>
          <p:cNvSpPr>
            <a:spLocks noChangeShapeType="1"/>
          </p:cNvSpPr>
          <p:nvPr/>
        </p:nvSpPr>
        <p:spPr bwMode="auto">
          <a:xfrm>
            <a:off x="3635375" y="4040188"/>
            <a:ext cx="3455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0" name="Line 22"/>
          <p:cNvSpPr>
            <a:spLocks noChangeShapeType="1"/>
          </p:cNvSpPr>
          <p:nvPr/>
        </p:nvSpPr>
        <p:spPr bwMode="auto">
          <a:xfrm>
            <a:off x="3635375" y="404018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1" name="Line 23"/>
          <p:cNvSpPr>
            <a:spLocks noChangeShapeType="1"/>
          </p:cNvSpPr>
          <p:nvPr/>
        </p:nvSpPr>
        <p:spPr bwMode="auto">
          <a:xfrm>
            <a:off x="7092950" y="404018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2" name="Line 24"/>
          <p:cNvSpPr>
            <a:spLocks noChangeShapeType="1"/>
          </p:cNvSpPr>
          <p:nvPr/>
        </p:nvSpPr>
        <p:spPr bwMode="auto">
          <a:xfrm>
            <a:off x="6804025" y="375285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3" name="Text Box 25"/>
          <p:cNvSpPr txBox="1">
            <a:spLocks noChangeArrowheads="1"/>
          </p:cNvSpPr>
          <p:nvPr/>
        </p:nvSpPr>
        <p:spPr bwMode="auto">
          <a:xfrm>
            <a:off x="2052638" y="4268788"/>
            <a:ext cx="3132137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000" b="1">
                <a:solidFill>
                  <a:schemeClr val="accent2"/>
                </a:solidFill>
              </a:rPr>
              <a:t>Somatic (motor) NS</a:t>
            </a:r>
          </a:p>
          <a:p>
            <a:pPr algn="ctr" eaLnBrk="1" hangingPunct="1"/>
            <a:r>
              <a:rPr lang="en-AU" altLang="en-US" b="1" i="1">
                <a:solidFill>
                  <a:schemeClr val="accent2"/>
                </a:solidFill>
              </a:rPr>
              <a:t>All voluntary</a:t>
            </a:r>
            <a:endParaRPr lang="en-US" altLang="en-US" b="1" i="1">
              <a:solidFill>
                <a:schemeClr val="accent2"/>
              </a:solidFill>
            </a:endParaRPr>
          </a:p>
        </p:txBody>
      </p:sp>
      <p:sp>
        <p:nvSpPr>
          <p:cNvPr id="4114" name="Text Box 26"/>
          <p:cNvSpPr txBox="1">
            <a:spLocks noChangeArrowheads="1"/>
          </p:cNvSpPr>
          <p:nvPr/>
        </p:nvSpPr>
        <p:spPr bwMode="auto">
          <a:xfrm>
            <a:off x="4859338" y="4184650"/>
            <a:ext cx="3781425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2000" b="1">
                <a:solidFill>
                  <a:srgbClr val="CC00CC"/>
                </a:solidFill>
              </a:rPr>
              <a:t>Autonomic NS (ANS)</a:t>
            </a:r>
          </a:p>
          <a:p>
            <a:pPr algn="ctr" eaLnBrk="1" hangingPunct="1"/>
            <a:r>
              <a:rPr lang="en-AU" altLang="en-US" b="1" i="1">
                <a:solidFill>
                  <a:srgbClr val="CC00CC"/>
                </a:solidFill>
              </a:rPr>
              <a:t>All involuntary</a:t>
            </a:r>
            <a:endParaRPr lang="en-US" altLang="en-US" b="1" i="1">
              <a:solidFill>
                <a:srgbClr val="CC00CC"/>
              </a:solidFill>
            </a:endParaRPr>
          </a:p>
        </p:txBody>
      </p:sp>
      <p:sp>
        <p:nvSpPr>
          <p:cNvPr id="4115" name="Line 27"/>
          <p:cNvSpPr>
            <a:spLocks noChangeShapeType="1"/>
          </p:cNvSpPr>
          <p:nvPr/>
        </p:nvSpPr>
        <p:spPr bwMode="auto">
          <a:xfrm>
            <a:off x="4138613" y="5210175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6" name="Line 28"/>
          <p:cNvSpPr>
            <a:spLocks noChangeShapeType="1"/>
          </p:cNvSpPr>
          <p:nvPr/>
        </p:nvSpPr>
        <p:spPr bwMode="auto">
          <a:xfrm>
            <a:off x="4138613" y="52101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7" name="Line 29"/>
          <p:cNvSpPr>
            <a:spLocks noChangeShapeType="1"/>
          </p:cNvSpPr>
          <p:nvPr/>
        </p:nvSpPr>
        <p:spPr bwMode="auto">
          <a:xfrm>
            <a:off x="7596188" y="52101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8" name="Line 30"/>
          <p:cNvSpPr>
            <a:spLocks noChangeShapeType="1"/>
          </p:cNvSpPr>
          <p:nvPr/>
        </p:nvSpPr>
        <p:spPr bwMode="auto">
          <a:xfrm>
            <a:off x="7162800" y="49212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9" name="Text Box 31"/>
          <p:cNvSpPr txBox="1">
            <a:spLocks noChangeArrowheads="1"/>
          </p:cNvSpPr>
          <p:nvPr/>
        </p:nvSpPr>
        <p:spPr bwMode="auto">
          <a:xfrm>
            <a:off x="2195513" y="5335588"/>
            <a:ext cx="3024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2000" b="1">
                <a:solidFill>
                  <a:srgbClr val="CC00CC"/>
                </a:solidFill>
              </a:rPr>
              <a:t>Parasympathetic NS</a:t>
            </a:r>
            <a:endParaRPr lang="en-US" altLang="en-US" sz="2000" b="1">
              <a:solidFill>
                <a:srgbClr val="CC00CC"/>
              </a:solidFill>
            </a:endParaRPr>
          </a:p>
        </p:txBody>
      </p:sp>
      <p:sp>
        <p:nvSpPr>
          <p:cNvPr id="4120" name="Text Box 32"/>
          <p:cNvSpPr txBox="1">
            <a:spLocks noChangeArrowheads="1"/>
          </p:cNvSpPr>
          <p:nvPr/>
        </p:nvSpPr>
        <p:spPr bwMode="auto">
          <a:xfrm>
            <a:off x="5976938" y="5335588"/>
            <a:ext cx="24098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2000" b="1">
                <a:solidFill>
                  <a:srgbClr val="CC00CC"/>
                </a:solidFill>
              </a:rPr>
              <a:t>Sympathetic NS</a:t>
            </a:r>
            <a:endParaRPr lang="en-US" altLang="en-US" sz="2000" b="1">
              <a:solidFill>
                <a:srgbClr val="CC00CC"/>
              </a:solidFill>
            </a:endParaRPr>
          </a:p>
        </p:txBody>
      </p:sp>
      <p:sp>
        <p:nvSpPr>
          <p:cNvPr id="4121" name="Text Box 5"/>
          <p:cNvSpPr txBox="1">
            <a:spLocks noChangeArrowheads="1"/>
          </p:cNvSpPr>
          <p:nvPr/>
        </p:nvSpPr>
        <p:spPr bwMode="auto">
          <a:xfrm>
            <a:off x="2701925" y="1722438"/>
            <a:ext cx="3382963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2800" b="1" dirty="0">
                <a:solidFill>
                  <a:schemeClr val="bg2">
                    <a:lumMod val="50000"/>
                  </a:schemeClr>
                </a:solidFill>
              </a:rPr>
              <a:t>Nervous System</a:t>
            </a:r>
            <a:endParaRPr lang="en-US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22" name="Text Box 20"/>
          <p:cNvSpPr txBox="1">
            <a:spLocks noChangeArrowheads="1"/>
          </p:cNvSpPr>
          <p:nvPr/>
        </p:nvSpPr>
        <p:spPr bwMode="auto">
          <a:xfrm>
            <a:off x="5759450" y="3535363"/>
            <a:ext cx="2052638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2000" b="1">
                <a:solidFill>
                  <a:srgbClr val="6600CC"/>
                </a:solidFill>
              </a:rPr>
              <a:t>Efferent NS</a:t>
            </a:r>
            <a:endParaRPr lang="en-US" altLang="en-US" sz="2000" b="1">
              <a:solidFill>
                <a:srgbClr val="6600CC"/>
              </a:solidFill>
            </a:endParaRPr>
          </a:p>
        </p:txBody>
      </p:sp>
      <p:sp>
        <p:nvSpPr>
          <p:cNvPr id="4123" name="Text Box 11"/>
          <p:cNvSpPr txBox="1">
            <a:spLocks noChangeArrowheads="1"/>
          </p:cNvSpPr>
          <p:nvPr/>
        </p:nvSpPr>
        <p:spPr bwMode="auto">
          <a:xfrm>
            <a:off x="4681538" y="2743200"/>
            <a:ext cx="2700337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2000" b="1">
                <a:solidFill>
                  <a:srgbClr val="CC0000"/>
                </a:solidFill>
              </a:rPr>
              <a:t>Peripheral NS (PNS)</a:t>
            </a:r>
            <a:endParaRPr lang="en-US" altLang="en-US" sz="2000" b="1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29179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The central nervous system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64163" y="1889125"/>
            <a:ext cx="2592213" cy="3844925"/>
          </a:xfrm>
        </p:spPr>
        <p:txBody>
          <a:bodyPr/>
          <a:lstStyle/>
          <a:p>
            <a:pPr marL="98425" indent="-6350" eaLnBrk="1" hangingPunct="1">
              <a:buFontTx/>
              <a:buNone/>
            </a:pPr>
            <a:r>
              <a:rPr lang="en-US" altLang="en-US" sz="2800" dirty="0">
                <a:solidFill>
                  <a:srgbClr val="6600CC"/>
                </a:solidFill>
              </a:rPr>
              <a:t>The central nervous system consists of the brain and the spinal cord</a:t>
            </a:r>
          </a:p>
        </p:txBody>
      </p:sp>
      <p:pic>
        <p:nvPicPr>
          <p:cNvPr id="28676" name="Picture 5" descr="B0005622 m lythgoe c hutton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350" y="1808163"/>
            <a:ext cx="4437063" cy="4645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431800" y="6394450"/>
            <a:ext cx="28733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/>
              <a:t>M Lythgoe, C Hutton, Wellcome Images</a:t>
            </a:r>
          </a:p>
        </p:txBody>
      </p:sp>
    </p:spTree>
    <p:extLst>
      <p:ext uri="{BB962C8B-B14F-4D97-AF65-F5344CB8AC3E}">
        <p14:creationId xmlns:p14="http://schemas.microsoft.com/office/powerpoint/2010/main" val="3584316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14387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4617B"/>
                </a:solidFill>
              </a:rPr>
              <a:t>The peripheral nervous system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12875"/>
            <a:ext cx="8172401" cy="4960938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The peripheral nervous system consists of all the nerves in the body, outside the central nervous system. 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Peripheral nerves may be:</a:t>
            </a:r>
          </a:p>
          <a:p>
            <a:pPr lvl="1" eaLnBrk="1" hangingPunct="1"/>
            <a:r>
              <a:rPr lang="en-US" altLang="en-US" b="1" dirty="0">
                <a:solidFill>
                  <a:schemeClr val="accent2"/>
                </a:solidFill>
              </a:rPr>
              <a:t>Afferent</a:t>
            </a:r>
            <a:r>
              <a:rPr lang="en-US" altLang="en-US" dirty="0">
                <a:solidFill>
                  <a:schemeClr val="accent2"/>
                </a:solidFill>
              </a:rPr>
              <a:t> (sensory), taking </a:t>
            </a:r>
            <a:r>
              <a:rPr lang="en-AU" altLang="en-US" dirty="0">
                <a:solidFill>
                  <a:schemeClr val="accent2"/>
                </a:solidFill>
              </a:rPr>
              <a:t>nerve impulses from receptors to the central nervous system.</a:t>
            </a:r>
          </a:p>
          <a:p>
            <a:pPr lvl="1" eaLnBrk="1" hangingPunct="1"/>
            <a:r>
              <a:rPr lang="en-US" altLang="en-US" b="1" dirty="0">
                <a:solidFill>
                  <a:schemeClr val="accent2"/>
                </a:solidFill>
              </a:rPr>
              <a:t>Efferent</a:t>
            </a:r>
            <a:r>
              <a:rPr lang="en-US" altLang="en-US" dirty="0">
                <a:solidFill>
                  <a:schemeClr val="accent2"/>
                </a:solidFill>
              </a:rPr>
              <a:t> (motor), taking </a:t>
            </a:r>
            <a:r>
              <a:rPr lang="en-AU" altLang="en-US" dirty="0">
                <a:solidFill>
                  <a:schemeClr val="accent2"/>
                </a:solidFill>
              </a:rPr>
              <a:t>nerve impulses from the central nervous system to effectors.</a:t>
            </a:r>
            <a:br>
              <a:rPr lang="en-AU" altLang="en-US" dirty="0">
                <a:solidFill>
                  <a:schemeClr val="accent2"/>
                </a:solidFill>
              </a:rPr>
            </a:br>
            <a:r>
              <a:rPr lang="en-AU" altLang="en-US" dirty="0">
                <a:solidFill>
                  <a:schemeClr val="accent2"/>
                </a:solidFill>
              </a:rPr>
              <a:t>Efferent nerves can be </a:t>
            </a:r>
            <a:r>
              <a:rPr lang="en-AU" altLang="en-US" b="1" dirty="0">
                <a:solidFill>
                  <a:schemeClr val="accent2"/>
                </a:solidFill>
              </a:rPr>
              <a:t>somatic</a:t>
            </a:r>
            <a:r>
              <a:rPr lang="en-AU" altLang="en-US" dirty="0">
                <a:solidFill>
                  <a:schemeClr val="accent2"/>
                </a:solidFill>
              </a:rPr>
              <a:t> (</a:t>
            </a:r>
            <a:r>
              <a:rPr lang="en-AU" altLang="en-US" dirty="0" err="1">
                <a:solidFill>
                  <a:schemeClr val="accent2"/>
                </a:solidFill>
              </a:rPr>
              <a:t>volutary</a:t>
            </a:r>
            <a:r>
              <a:rPr lang="en-AU" altLang="en-US" dirty="0">
                <a:solidFill>
                  <a:schemeClr val="accent2"/>
                </a:solidFill>
              </a:rPr>
              <a:t>)or </a:t>
            </a:r>
            <a:r>
              <a:rPr lang="en-AU" altLang="en-US" b="1" dirty="0">
                <a:solidFill>
                  <a:schemeClr val="accent2"/>
                </a:solidFill>
              </a:rPr>
              <a:t>autonomic</a:t>
            </a:r>
            <a:r>
              <a:rPr lang="en-AU" altLang="en-US" dirty="0">
                <a:solidFill>
                  <a:schemeClr val="accent2"/>
                </a:solidFill>
              </a:rPr>
              <a:t> (</a:t>
            </a:r>
            <a:r>
              <a:rPr lang="en-AU" altLang="en-US" dirty="0" err="1">
                <a:solidFill>
                  <a:schemeClr val="accent2"/>
                </a:solidFill>
              </a:rPr>
              <a:t>involutary</a:t>
            </a:r>
            <a:r>
              <a:rPr lang="en-AU" altLang="en-US" dirty="0">
                <a:solidFill>
                  <a:schemeClr val="accent2"/>
                </a:solidFill>
              </a:rPr>
              <a:t>).</a:t>
            </a:r>
            <a:endParaRPr lang="en-US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1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z="3400" b="1" dirty="0">
                <a:solidFill>
                  <a:srgbClr val="04617B"/>
                </a:solidFill>
              </a:rPr>
              <a:t>Features of afferent (sensory) neurones</a:t>
            </a:r>
            <a:endParaRPr lang="en-US" altLang="en-US" sz="3400" b="1" dirty="0">
              <a:solidFill>
                <a:srgbClr val="04617B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AU" altLang="en-US" sz="28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/>
              <a:t> </a:t>
            </a:r>
            <a:r>
              <a:rPr lang="en-AU" altLang="en-US" sz="2800" dirty="0">
                <a:solidFill>
                  <a:schemeClr val="accent2"/>
                </a:solidFill>
              </a:rPr>
              <a:t>Take nerve impulses from receptors to CNS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Mostly unipolar with </a:t>
            </a:r>
            <a:r>
              <a:rPr lang="en-US" altLang="en-US" sz="2800" dirty="0">
                <a:solidFill>
                  <a:schemeClr val="accent2"/>
                </a:solidFill>
              </a:rPr>
              <a:t>the cell body lying off to one side of the axon</a:t>
            </a:r>
            <a:endParaRPr lang="en-AU" altLang="en-US" sz="28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Cell body in dorsal root ganglion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 Pass through dorsal root of spinal nerves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 Sensory receptors occur at end of dendrites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 Axons synapse with connector neurones in spinal cord.</a:t>
            </a:r>
            <a:endParaRPr lang="en-US" alt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00027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958850"/>
          </a:xfrm>
        </p:spPr>
        <p:txBody>
          <a:bodyPr/>
          <a:lstStyle/>
          <a:p>
            <a:pPr eaLnBrk="1" hangingPunct="1"/>
            <a:r>
              <a:rPr lang="en-AU" altLang="en-US" sz="3600" b="1" dirty="0">
                <a:solidFill>
                  <a:srgbClr val="04617B"/>
                </a:solidFill>
              </a:rPr>
              <a:t>Features of </a:t>
            </a:r>
            <a:br>
              <a:rPr lang="en-AU" altLang="en-US" sz="3600" b="1" dirty="0">
                <a:solidFill>
                  <a:srgbClr val="04617B"/>
                </a:solidFill>
              </a:rPr>
            </a:br>
            <a:r>
              <a:rPr lang="en-AU" altLang="en-US" sz="3600" b="1" dirty="0">
                <a:solidFill>
                  <a:srgbClr val="04617B"/>
                </a:solidFill>
              </a:rPr>
              <a:t>efferent (motor) neurones</a:t>
            </a:r>
            <a:endParaRPr lang="en-US" altLang="en-US" sz="3600" b="1" dirty="0">
              <a:solidFill>
                <a:srgbClr val="04617B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400" dirty="0">
                <a:solidFill>
                  <a:schemeClr val="accent2"/>
                </a:solidFill>
              </a:rPr>
              <a:t>Take nerve impulses from CNS to effectors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400" dirty="0">
                <a:solidFill>
                  <a:schemeClr val="accent2"/>
                </a:solidFill>
              </a:rPr>
              <a:t>Mostly multipolar with a single long axon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400" dirty="0">
                <a:solidFill>
                  <a:schemeClr val="accent2"/>
                </a:solidFill>
              </a:rPr>
              <a:t>Cell body in grey matter of spinal cord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400" dirty="0">
                <a:solidFill>
                  <a:schemeClr val="accent2"/>
                </a:solidFill>
              </a:rPr>
              <a:t> Pass through ventral root of spinal nerves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400" dirty="0">
                <a:solidFill>
                  <a:schemeClr val="accent2"/>
                </a:solidFill>
              </a:rPr>
              <a:t> Effector structures (muscles or glands) occur at end of axons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400" dirty="0">
                <a:solidFill>
                  <a:schemeClr val="accent2"/>
                </a:solidFill>
              </a:rPr>
              <a:t> Dendrites synapse with connector neurones in spinal cord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400" dirty="0">
                <a:solidFill>
                  <a:schemeClr val="accent2"/>
                </a:solidFill>
              </a:rPr>
              <a:t>Can be somatic (voluntary) or autonomic (involuntary)</a:t>
            </a:r>
            <a:endParaRPr lang="en-US" altLang="en-US" sz="24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38301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AU" altLang="en-US" sz="4000" b="1" dirty="0">
                <a:solidFill>
                  <a:srgbClr val="04617B"/>
                </a:solidFill>
              </a:rPr>
              <a:t>Somatic Nervous System</a:t>
            </a:r>
            <a:endParaRPr lang="en-US" altLang="en-US" sz="4000" b="1" dirty="0">
              <a:solidFill>
                <a:srgbClr val="04617B"/>
              </a:solidFill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</p:spPr>
        <p:txBody>
          <a:bodyPr/>
          <a:lstStyle/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None/>
            </a:pPr>
            <a:r>
              <a:rPr lang="en-AU" altLang="en-US" b="1" dirty="0"/>
              <a:t> </a:t>
            </a:r>
            <a:r>
              <a:rPr lang="en-AU" altLang="en-US" b="1" dirty="0">
                <a:solidFill>
                  <a:schemeClr val="accent2"/>
                </a:solidFill>
              </a:rPr>
              <a:t>The Somatic Nervous System :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Is usually voluntary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Responds to external environment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Carries nerve impulses to skeletal muscles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Consists of one neurone-no synapse or ganglion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Neurotransmitter is acetylcholine</a:t>
            </a:r>
            <a:endParaRPr lang="en-US" alt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88225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AU" altLang="en-US" sz="4000" b="1" dirty="0">
                <a:solidFill>
                  <a:srgbClr val="04617B"/>
                </a:solidFill>
              </a:rPr>
              <a:t>Autonomic Nervous System</a:t>
            </a:r>
            <a:endParaRPr lang="en-US" altLang="en-US" sz="4000" b="1" dirty="0">
              <a:solidFill>
                <a:srgbClr val="04617B"/>
              </a:solidFill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</p:spPr>
        <p:txBody>
          <a:bodyPr>
            <a:normAutofit fontScale="92500" lnSpcReduction="10000"/>
          </a:bodyPr>
          <a:lstStyle/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None/>
            </a:pPr>
            <a:r>
              <a:rPr lang="en-AU" altLang="en-US" b="1" dirty="0"/>
              <a:t> </a:t>
            </a:r>
            <a:r>
              <a:rPr lang="en-AU" altLang="en-US" b="1" dirty="0">
                <a:solidFill>
                  <a:schemeClr val="accent2"/>
                </a:solidFill>
              </a:rPr>
              <a:t>The Autonomic Nervous System :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Is involuntary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Helps maintain homeostatic balance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 Carries nerve impulses to involuntary </a:t>
            </a:r>
            <a:br>
              <a:rPr lang="en-AU" altLang="en-US" sz="2800" dirty="0">
                <a:solidFill>
                  <a:schemeClr val="accent2"/>
                </a:solidFill>
              </a:rPr>
            </a:br>
            <a:r>
              <a:rPr lang="en-AU" altLang="en-US" sz="2800" dirty="0">
                <a:solidFill>
                  <a:schemeClr val="accent2"/>
                </a:solidFill>
              </a:rPr>
              <a:t> glands and internal organs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 May be </a:t>
            </a:r>
            <a:r>
              <a:rPr lang="en-AU" altLang="en-US" sz="2800" b="1" dirty="0">
                <a:solidFill>
                  <a:srgbClr val="D60093"/>
                </a:solidFill>
              </a:rPr>
              <a:t>sympathetic</a:t>
            </a:r>
            <a:r>
              <a:rPr lang="en-AU" altLang="en-US" sz="2800" dirty="0">
                <a:solidFill>
                  <a:schemeClr val="accent2"/>
                </a:solidFill>
              </a:rPr>
              <a:t> (</a:t>
            </a:r>
            <a:r>
              <a:rPr lang="en-AU" altLang="en-US" sz="2800" i="1" dirty="0">
                <a:solidFill>
                  <a:schemeClr val="accent2"/>
                </a:solidFill>
              </a:rPr>
              <a:t>fight or flight</a:t>
            </a:r>
            <a:r>
              <a:rPr lang="en-AU" altLang="en-US" sz="2800" dirty="0">
                <a:solidFill>
                  <a:schemeClr val="accent2"/>
                </a:solidFill>
              </a:rPr>
              <a:t>) </a:t>
            </a:r>
            <a:br>
              <a:rPr lang="en-AU" altLang="en-US" sz="2800" dirty="0">
                <a:solidFill>
                  <a:schemeClr val="accent2"/>
                </a:solidFill>
              </a:rPr>
            </a:br>
            <a:r>
              <a:rPr lang="en-AU" altLang="en-US" sz="2800" dirty="0">
                <a:solidFill>
                  <a:schemeClr val="accent2"/>
                </a:solidFill>
              </a:rPr>
              <a:t>or </a:t>
            </a:r>
            <a:r>
              <a:rPr lang="en-AU" altLang="en-US" sz="2800" b="1" dirty="0">
                <a:solidFill>
                  <a:srgbClr val="D60093"/>
                </a:solidFill>
              </a:rPr>
              <a:t>parasympathetic</a:t>
            </a:r>
            <a:r>
              <a:rPr lang="en-AU" altLang="en-US" sz="2800" dirty="0">
                <a:solidFill>
                  <a:schemeClr val="accent2"/>
                </a:solidFill>
              </a:rPr>
              <a:t> (normal functioning)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 Consists of two neurones form efferent chain </a:t>
            </a:r>
            <a:br>
              <a:rPr lang="en-AU" altLang="en-US" sz="2800" dirty="0">
                <a:solidFill>
                  <a:schemeClr val="accent2"/>
                </a:solidFill>
              </a:rPr>
            </a:br>
            <a:r>
              <a:rPr lang="en-AU" altLang="en-US" sz="2800" dirty="0">
                <a:solidFill>
                  <a:schemeClr val="accent2"/>
                </a:solidFill>
              </a:rPr>
              <a:t>(pre- and post-ganglionic neurones)</a:t>
            </a:r>
          </a:p>
          <a:p>
            <a:pPr marL="720725" indent="-720725" eaLnBrk="1" hangingPunct="1">
              <a:lnSpc>
                <a:spcPct val="90000"/>
              </a:lnSpc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sz="2800" dirty="0">
                <a:solidFill>
                  <a:schemeClr val="accent2"/>
                </a:solidFill>
              </a:rPr>
              <a:t>Neurotransmitter could be acetylcholine or noradrenaline</a:t>
            </a:r>
            <a:endParaRPr lang="en-US" alt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25092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eaLnBrk="1" hangingPunct="1"/>
            <a:r>
              <a:rPr lang="en-AU" altLang="en-US" b="1" dirty="0">
                <a:solidFill>
                  <a:srgbClr val="04617B"/>
                </a:solidFill>
              </a:rPr>
              <a:t>The sympathetic</a:t>
            </a:r>
            <a:r>
              <a:rPr lang="en-AU" altLang="en-US" sz="4800" b="1" dirty="0">
                <a:solidFill>
                  <a:srgbClr val="04617B"/>
                </a:solidFill>
              </a:rPr>
              <a:t> </a:t>
            </a:r>
            <a:r>
              <a:rPr lang="en-AU" altLang="en-US" b="1" dirty="0">
                <a:solidFill>
                  <a:srgbClr val="04617B"/>
                </a:solidFill>
              </a:rPr>
              <a:t>division</a:t>
            </a:r>
            <a:endParaRPr lang="en-US" altLang="en-US" b="1" dirty="0">
              <a:solidFill>
                <a:srgbClr val="04617B"/>
              </a:solidFill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300" y="1600200"/>
            <a:ext cx="8543925" cy="49974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AU" altLang="en-US" dirty="0">
                <a:solidFill>
                  <a:schemeClr val="accent2"/>
                </a:solidFill>
              </a:rPr>
              <a:t>The sympathetic</a:t>
            </a:r>
            <a:r>
              <a:rPr lang="en-AU" altLang="en-US" sz="3600" dirty="0">
                <a:solidFill>
                  <a:schemeClr val="accent2"/>
                </a:solidFill>
              </a:rPr>
              <a:t> </a:t>
            </a:r>
            <a:r>
              <a:rPr lang="en-AU" altLang="en-US" dirty="0">
                <a:solidFill>
                  <a:schemeClr val="accent2"/>
                </a:solidFill>
              </a:rPr>
              <a:t>division</a:t>
            </a:r>
            <a:r>
              <a:rPr lang="en-AU" altLang="en-US" sz="3600" dirty="0">
                <a:solidFill>
                  <a:schemeClr val="accent2"/>
                </a:solidFill>
              </a:rPr>
              <a:t> </a:t>
            </a:r>
            <a:r>
              <a:rPr lang="en-AU" altLang="en-US" dirty="0">
                <a:solidFill>
                  <a:schemeClr val="accent2"/>
                </a:solidFill>
              </a:rPr>
              <a:t>of the autonomic nervous system:</a:t>
            </a:r>
            <a:br>
              <a:rPr lang="en-AU" altLang="en-US" dirty="0">
                <a:solidFill>
                  <a:schemeClr val="accent2"/>
                </a:solidFill>
              </a:rPr>
            </a:br>
            <a:endParaRPr lang="en-AU" altLang="en-US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dirty="0">
                <a:solidFill>
                  <a:schemeClr val="accent2"/>
                </a:solidFill>
              </a:rPr>
              <a:t> Enables the body to respond to stress (</a:t>
            </a:r>
            <a:r>
              <a:rPr lang="en-AU" altLang="en-US" b="1" dirty="0">
                <a:solidFill>
                  <a:srgbClr val="D60093"/>
                </a:solidFill>
              </a:rPr>
              <a:t>fight or flight response</a:t>
            </a:r>
            <a:r>
              <a:rPr lang="en-AU" altLang="en-US" dirty="0">
                <a:solidFill>
                  <a:schemeClr val="accent2"/>
                </a:solidFill>
              </a:rPr>
              <a:t>) – throws the body out of homeostatic balance.</a:t>
            </a: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dirty="0">
                <a:solidFill>
                  <a:schemeClr val="accent2"/>
                </a:solidFill>
              </a:rPr>
              <a:t> Arise with spinal nerves in the lumbar and thoracic regions of the spine.</a:t>
            </a: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 dirty="0">
                <a:solidFill>
                  <a:schemeClr val="accent2"/>
                </a:solidFill>
              </a:rPr>
              <a:t> The neurotransmitter is </a:t>
            </a:r>
            <a:r>
              <a:rPr lang="en-AU" altLang="en-US" b="1" dirty="0">
                <a:solidFill>
                  <a:srgbClr val="D60093"/>
                </a:solidFill>
              </a:rPr>
              <a:t>noradrenaline</a:t>
            </a:r>
            <a:r>
              <a:rPr lang="en-AU" altLang="en-US" dirty="0">
                <a:solidFill>
                  <a:schemeClr val="accent2"/>
                </a:solidFill>
              </a:rPr>
              <a:t>.</a:t>
            </a:r>
            <a:endParaRPr lang="en-US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12216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/>
            <a:r>
              <a:rPr lang="en-AU" altLang="en-US" b="1" dirty="0">
                <a:solidFill>
                  <a:srgbClr val="04617B"/>
                </a:solidFill>
              </a:rPr>
              <a:t>Parasympathetic division</a:t>
            </a:r>
            <a:endParaRPr lang="en-US" altLang="en-US" b="1" dirty="0">
              <a:solidFill>
                <a:srgbClr val="04617B"/>
              </a:solidFill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2875" y="1268413"/>
            <a:ext cx="8820150" cy="51847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AU" altLang="en-US">
                <a:solidFill>
                  <a:schemeClr val="accent2"/>
                </a:solidFill>
              </a:rPr>
              <a:t>The parasympathetic</a:t>
            </a:r>
            <a:r>
              <a:rPr lang="en-AU" altLang="en-US" sz="3600">
                <a:solidFill>
                  <a:schemeClr val="accent2"/>
                </a:solidFill>
              </a:rPr>
              <a:t> </a:t>
            </a:r>
            <a:r>
              <a:rPr lang="en-AU" altLang="en-US">
                <a:solidFill>
                  <a:schemeClr val="accent2"/>
                </a:solidFill>
              </a:rPr>
              <a:t>division</a:t>
            </a:r>
            <a:r>
              <a:rPr lang="en-AU" altLang="en-US" sz="3600">
                <a:solidFill>
                  <a:schemeClr val="accent2"/>
                </a:solidFill>
              </a:rPr>
              <a:t> </a:t>
            </a:r>
            <a:r>
              <a:rPr lang="en-AU" altLang="en-US">
                <a:solidFill>
                  <a:schemeClr val="accent2"/>
                </a:solidFill>
              </a:rPr>
              <a:t>of the autonomic nervous system: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/>
              <a:t> </a:t>
            </a:r>
            <a:r>
              <a:rPr lang="en-AU" altLang="en-US">
                <a:solidFill>
                  <a:schemeClr val="accent2"/>
                </a:solidFill>
              </a:rPr>
              <a:t>Is involved with normal body functioning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AU" altLang="en-US">
                <a:solidFill>
                  <a:schemeClr val="accent2"/>
                </a:solidFill>
              </a:rPr>
              <a:t>	(maintains homeostatic balance).</a:t>
            </a:r>
          </a:p>
          <a:p>
            <a:pPr eaLnBrk="1" hangingPunct="1">
              <a:buFontTx/>
              <a:buNone/>
            </a:pPr>
            <a:endParaRPr lang="en-AU" altLang="en-US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>
                <a:solidFill>
                  <a:schemeClr val="accent2"/>
                </a:solidFill>
              </a:rPr>
              <a:t> Arise with cranial nerves from the brain and spinal nerves in sacral region of the spine (= </a:t>
            </a:r>
            <a:r>
              <a:rPr lang="en-AU" altLang="en-US" b="1">
                <a:solidFill>
                  <a:srgbClr val="D60093"/>
                </a:solidFill>
              </a:rPr>
              <a:t>cranio-sacral outflow</a:t>
            </a:r>
            <a:r>
              <a:rPr lang="en-AU" altLang="en-US">
                <a:solidFill>
                  <a:schemeClr val="accent2"/>
                </a:solidFill>
              </a:rPr>
              <a:t>).</a:t>
            </a: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>
                <a:schemeClr val="tx1"/>
              </a:buClr>
              <a:buFont typeface="Wingdings" pitchFamily="2" charset="2"/>
              <a:buChar char="Ø"/>
            </a:pPr>
            <a:r>
              <a:rPr lang="en-AU" altLang="en-US"/>
              <a:t> </a:t>
            </a:r>
            <a:r>
              <a:rPr lang="en-AU" altLang="en-US">
                <a:solidFill>
                  <a:schemeClr val="accent2"/>
                </a:solidFill>
              </a:rPr>
              <a:t>The neurotransmitter is </a:t>
            </a:r>
            <a:r>
              <a:rPr lang="en-AU" altLang="en-US" b="1">
                <a:solidFill>
                  <a:srgbClr val="D60093"/>
                </a:solidFill>
              </a:rPr>
              <a:t>acetylcholine</a:t>
            </a:r>
            <a:r>
              <a:rPr lang="en-AU" altLang="en-US"/>
              <a:t> </a:t>
            </a:r>
            <a:r>
              <a:rPr lang="en-AU" altLang="en-US">
                <a:solidFill>
                  <a:schemeClr val="accent2"/>
                </a:solidFill>
              </a:rPr>
              <a:t>(ACh).</a:t>
            </a:r>
            <a:endParaRPr lang="en-US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0059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Exam q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0"/>
            <a:ext cx="7631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12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</a:p>
        </p:txBody>
      </p:sp>
      <p:pic>
        <p:nvPicPr>
          <p:cNvPr id="3" name="Picture 2" descr="Exam q answer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068960"/>
            <a:ext cx="6447383" cy="169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87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375</TotalTime>
  <Words>574</Words>
  <Application>Microsoft Macintosh PowerPoint</Application>
  <PresentationFormat>On-screen Show (4:3)</PresentationFormat>
  <Paragraphs>89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Wingdings</vt:lpstr>
      <vt:lpstr>Adjacency</vt:lpstr>
      <vt:lpstr>Divisions of the Nervous System</vt:lpstr>
      <vt:lpstr>What are we doing today?</vt:lpstr>
      <vt:lpstr>Keywords</vt:lpstr>
      <vt:lpstr>PowerPoint Presentation</vt:lpstr>
      <vt:lpstr>Answer</vt:lpstr>
      <vt:lpstr>Divisions of the nervous system</vt:lpstr>
      <vt:lpstr>The central nervous system</vt:lpstr>
      <vt:lpstr>The peripheral nervous system</vt:lpstr>
      <vt:lpstr>Features of afferent (sensory) neurones</vt:lpstr>
      <vt:lpstr>Features of  efferent (motor) neurones</vt:lpstr>
      <vt:lpstr>Somatic Nervous System</vt:lpstr>
      <vt:lpstr>Autonomic Nervous System</vt:lpstr>
      <vt:lpstr>The sympathetic division</vt:lpstr>
      <vt:lpstr>Parasympathetic division</vt:lpstr>
      <vt:lpstr>PowerPoint Presentation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Inquiry Skills</dc:title>
  <dc:creator>BRUNS Emma</dc:creator>
  <cp:lastModifiedBy>YATES Hayden [Safety Bay Senior High School]</cp:lastModifiedBy>
  <cp:revision>34</cp:revision>
  <dcterms:created xsi:type="dcterms:W3CDTF">2018-02-02T00:28:02Z</dcterms:created>
  <dcterms:modified xsi:type="dcterms:W3CDTF">2022-03-07T14:28:20Z</dcterms:modified>
</cp:coreProperties>
</file>
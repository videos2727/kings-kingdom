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0"/>
  </p:notesMasterIdLst>
  <p:sldIdLst>
    <p:sldId id="562" r:id="rId6"/>
    <p:sldId id="554" r:id="rId7"/>
    <p:sldId id="545" r:id="rId8"/>
    <p:sldId id="566" r:id="rId9"/>
    <p:sldId id="313" r:id="rId10"/>
    <p:sldId id="275" r:id="rId11"/>
    <p:sldId id="565" r:id="rId12"/>
    <p:sldId id="301" r:id="rId13"/>
    <p:sldId id="555" r:id="rId14"/>
    <p:sldId id="556" r:id="rId15"/>
    <p:sldId id="567" r:id="rId16"/>
    <p:sldId id="568" r:id="rId17"/>
    <p:sldId id="569" r:id="rId18"/>
    <p:sldId id="5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4"/>
    <p:restoredTop sz="86391"/>
  </p:normalViewPr>
  <p:slideViewPr>
    <p:cSldViewPr snapToGrid="0" snapToObjects="1">
      <p:cViewPr varScale="1">
        <p:scale>
          <a:sx n="115" d="100"/>
          <a:sy n="115" d="100"/>
        </p:scale>
        <p:origin x="224" y="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2/13/22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pair work time, then call on non-volunteers</a:t>
            </a:r>
            <a:r>
              <a:rPr lang="en-US" baseline="0" dirty="0"/>
              <a:t> for the answers, or read through the text again as a class, filling the gaps in unison.</a:t>
            </a:r>
            <a:endParaRPr lang="en-US" dirty="0"/>
          </a:p>
        </p:txBody>
      </p:sp>
      <p:sp>
        <p:nvSpPr>
          <p:cNvPr id="4" name="Slide Number Placeholder 3"/>
          <p:cNvSpPr>
            <a:spLocks noGrp="1"/>
          </p:cNvSpPr>
          <p:nvPr>
            <p:ph type="sldNum" sz="quarter" idx="10"/>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2633768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a:t>
            </a:r>
            <a:r>
              <a:rPr lang="en-AU" baseline="0" dirty="0"/>
              <a:t> the class read/track in unison with you.</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572490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5</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6</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8</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9</a:t>
            </a:fld>
            <a:endParaRPr lang="en-AU"/>
          </a:p>
        </p:txBody>
      </p:sp>
    </p:spTree>
    <p:extLst>
      <p:ext uri="{BB962C8B-B14F-4D97-AF65-F5344CB8AC3E}">
        <p14:creationId xmlns:p14="http://schemas.microsoft.com/office/powerpoint/2010/main" val="2198206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10</a:t>
            </a:fld>
            <a:endParaRPr lang="en-AU"/>
          </a:p>
        </p:txBody>
      </p:sp>
    </p:spTree>
    <p:extLst>
      <p:ext uri="{BB962C8B-B14F-4D97-AF65-F5344CB8AC3E}">
        <p14:creationId xmlns:p14="http://schemas.microsoft.com/office/powerpoint/2010/main" val="19147534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2/13/22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2/13/22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2/13/22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2/13/22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DR) Recite">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Box 6">
            <a:extLst>
              <a:ext uri="{FF2B5EF4-FFF2-40B4-BE49-F238E27FC236}">
                <a16:creationId xmlns:a16="http://schemas.microsoft.com/office/drawing/2014/main" id="{1011CE44-95E4-4C6E-8D8B-41CCD6B35C2D}"/>
              </a:ext>
            </a:extLst>
          </p:cNvPr>
          <p:cNvSpPr txBox="1"/>
          <p:nvPr userDrawn="1"/>
        </p:nvSpPr>
        <p:spPr>
          <a:xfrm>
            <a:off x="280557" y="262082"/>
            <a:ext cx="1077187"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Re(teach)</a:t>
            </a:r>
          </a:p>
        </p:txBody>
      </p:sp>
      <p:sp>
        <p:nvSpPr>
          <p:cNvPr id="10" name="Text Placeholder 6">
            <a:extLst>
              <a:ext uri="{FF2B5EF4-FFF2-40B4-BE49-F238E27FC236}">
                <a16:creationId xmlns:a16="http://schemas.microsoft.com/office/drawing/2014/main" id="{3A36E411-28DA-4098-8A25-8C3C8AD90B33}"/>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1" name="Text Placeholder 2">
            <a:extLst>
              <a:ext uri="{FF2B5EF4-FFF2-40B4-BE49-F238E27FC236}">
                <a16:creationId xmlns:a16="http://schemas.microsoft.com/office/drawing/2014/main" id="{3172405F-5716-468A-BB1E-99861FFCB465}"/>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Go over the steps they already know from this unit, or from relevant prior knowledge.  </a:t>
            </a:r>
            <a:br>
              <a:rPr lang="en-US" dirty="0"/>
            </a:br>
            <a:br>
              <a:rPr lang="en-US" dirty="0"/>
            </a:br>
            <a:r>
              <a:rPr lang="en-AU" dirty="0"/>
              <a:t>All of the answers should be displayed clearly for students. </a:t>
            </a:r>
            <a:br>
              <a:rPr lang="en-AU" dirty="0"/>
            </a:br>
            <a:br>
              <a:rPr lang="en-AU" dirty="0"/>
            </a:br>
            <a:r>
              <a:rPr lang="en-AU" dirty="0"/>
              <a:t>Students at this step are at track with me/read with me steps.</a:t>
            </a:r>
            <a:br>
              <a:rPr lang="en-AU" dirty="0"/>
            </a:br>
            <a:br>
              <a:rPr lang="en-US" dirty="0"/>
            </a:br>
            <a:r>
              <a:rPr lang="en-US" dirty="0"/>
              <a:t>Click to add text. Delete textbox if unneeded. </a:t>
            </a:r>
          </a:p>
        </p:txBody>
      </p:sp>
    </p:spTree>
    <p:extLst>
      <p:ext uri="{BB962C8B-B14F-4D97-AF65-F5344CB8AC3E}">
        <p14:creationId xmlns:p14="http://schemas.microsoft.com/office/powerpoint/2010/main" val="40170369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DR) Recall">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9" name="TextBox 8">
            <a:extLst>
              <a:ext uri="{FF2B5EF4-FFF2-40B4-BE49-F238E27FC236}">
                <a16:creationId xmlns:a16="http://schemas.microsoft.com/office/drawing/2014/main" id="{56B0E9EF-C072-49CE-9514-CD457EE95DB9}"/>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Retrieve</a:t>
            </a:r>
          </a:p>
        </p:txBody>
      </p:sp>
      <p:sp>
        <p:nvSpPr>
          <p:cNvPr id="10" name="Text Placeholder 6">
            <a:extLst>
              <a:ext uri="{FF2B5EF4-FFF2-40B4-BE49-F238E27FC236}">
                <a16:creationId xmlns:a16="http://schemas.microsoft.com/office/drawing/2014/main" id="{D11CF63B-7632-447F-B321-9789C106CA52}"/>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C69BF684-094C-4086-BBA0-8EA483477F79}"/>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At this point the information should be removed and students, first as a group and then as individuals, should be able to recall it.</a:t>
            </a:r>
            <a:br>
              <a:rPr lang="en-AU" dirty="0"/>
            </a:br>
            <a:br>
              <a:rPr lang="en-AU" dirty="0"/>
            </a:br>
            <a:r>
              <a:rPr lang="en-US" dirty="0"/>
              <a:t>Click to add text. Delete textbox if unneeded. </a:t>
            </a:r>
          </a:p>
        </p:txBody>
      </p:sp>
    </p:spTree>
    <p:extLst>
      <p:ext uri="{BB962C8B-B14F-4D97-AF65-F5344CB8AC3E}">
        <p14:creationId xmlns:p14="http://schemas.microsoft.com/office/powerpoint/2010/main" val="15689796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theme" Target="../theme/theme5.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2/13/22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0" r:id="rId12"/>
    <p:sldLayoutId id="2147483791" r:id="rId13"/>
    <p:sldLayoutId id="2147483793" r:id="rId14"/>
    <p:sldLayoutId id="2147483795" r:id="rId15"/>
    <p:sldLayoutId id="2147483802"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7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4.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Explainer: What is a neuron? | Science News for Students">
            <a:extLst>
              <a:ext uri="{FF2B5EF4-FFF2-40B4-BE49-F238E27FC236}">
                <a16:creationId xmlns:a16="http://schemas.microsoft.com/office/drawing/2014/main" id="{70CFDB42-BC3D-0F40-954C-302938A72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408" y="0"/>
            <a:ext cx="11474605" cy="68401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3BD1640-8EF7-9544-985A-5CB2691DF17C}"/>
              </a:ext>
            </a:extLst>
          </p:cNvPr>
          <p:cNvPicPr/>
          <p:nvPr/>
        </p:nvPicPr>
        <p:blipFill>
          <a:blip r:embed="rId3">
            <a:alphaModFix/>
            <a:extLst>
              <a:ext uri="{28A0092B-C50C-407E-A947-70E740481C1C}">
                <a14:useLocalDpi xmlns:a14="http://schemas.microsoft.com/office/drawing/2010/main" val="0"/>
              </a:ext>
            </a:extLst>
          </a:blip>
          <a:stretch>
            <a:fillRect/>
          </a:stretch>
        </p:blipFill>
        <p:spPr bwMode="auto">
          <a:xfrm>
            <a:off x="10525538" y="352364"/>
            <a:ext cx="1331711" cy="1511683"/>
          </a:xfrm>
          <a:prstGeom prst="rect">
            <a:avLst/>
          </a:prstGeom>
          <a:noFill/>
        </p:spPr>
      </p:pic>
    </p:spTree>
    <p:extLst>
      <p:ext uri="{BB962C8B-B14F-4D97-AF65-F5344CB8AC3E}">
        <p14:creationId xmlns:p14="http://schemas.microsoft.com/office/powerpoint/2010/main" val="362828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F0859F-DEA8-434F-8BE6-6DCEDAC55DCB}"/>
              </a:ext>
            </a:extLst>
          </p:cNvPr>
          <p:cNvSpPr>
            <a:spLocks noGrp="1"/>
          </p:cNvSpPr>
          <p:nvPr>
            <p:ph type="body" sz="quarter" idx="13"/>
          </p:nvPr>
        </p:nvSpPr>
        <p:spPr>
          <a:xfrm>
            <a:off x="1342554" y="279691"/>
            <a:ext cx="11481952" cy="496990"/>
          </a:xfrm>
        </p:spPr>
        <p:txBody>
          <a:bodyPr/>
          <a:lstStyle/>
          <a:p>
            <a:r>
              <a:rPr lang="en-AU" dirty="0"/>
              <a:t>Whiteboards:</a:t>
            </a:r>
          </a:p>
        </p:txBody>
      </p:sp>
      <p:sp>
        <p:nvSpPr>
          <p:cNvPr id="6" name="Text Placeholder 2">
            <a:extLst>
              <a:ext uri="{FF2B5EF4-FFF2-40B4-BE49-F238E27FC236}">
                <a16:creationId xmlns:a16="http://schemas.microsoft.com/office/drawing/2014/main" id="{A321F6B0-D032-426C-9939-78644C020F10}"/>
              </a:ext>
            </a:extLst>
          </p:cNvPr>
          <p:cNvSpPr>
            <a:spLocks noGrp="1"/>
          </p:cNvSpPr>
          <p:nvPr>
            <p:ph type="body" sz="quarter" idx="15"/>
          </p:nvPr>
        </p:nvSpPr>
        <p:spPr>
          <a:xfrm>
            <a:off x="188258" y="353125"/>
            <a:ext cx="11506476" cy="5119420"/>
          </a:xfrm>
        </p:spPr>
        <p:txBody>
          <a:bodyPr>
            <a:normAutofit/>
          </a:bodyPr>
          <a:lstStyle/>
          <a:p>
            <a:endParaRPr lang="en-AU" sz="2800" dirty="0">
              <a:solidFill>
                <a:srgbClr val="002060"/>
              </a:solidFill>
              <a:latin typeface="Arial Rounded MT Bold" panose="020F0704030504030204" pitchFamily="34" charset="77"/>
            </a:endParaRPr>
          </a:p>
          <a:p>
            <a:r>
              <a:rPr lang="en-AU" sz="2800" i="1" dirty="0">
                <a:solidFill>
                  <a:srgbClr val="002060"/>
                </a:solidFill>
                <a:latin typeface="Arial Rounded MT Bold" panose="020F0704030504030204" pitchFamily="34" charset="77"/>
              </a:rPr>
              <a:t>    </a:t>
            </a:r>
          </a:p>
        </p:txBody>
      </p:sp>
      <p:sp>
        <p:nvSpPr>
          <p:cNvPr id="8" name="TextBox 7">
            <a:extLst>
              <a:ext uri="{FF2B5EF4-FFF2-40B4-BE49-F238E27FC236}">
                <a16:creationId xmlns:a16="http://schemas.microsoft.com/office/drawing/2014/main" id="{7145EB2C-6276-EF44-A99C-A0E6A2AEEFBF}"/>
              </a:ext>
            </a:extLst>
          </p:cNvPr>
          <p:cNvSpPr txBox="1"/>
          <p:nvPr/>
        </p:nvSpPr>
        <p:spPr>
          <a:xfrm>
            <a:off x="3474720" y="2453640"/>
            <a:ext cx="3997662" cy="369332"/>
          </a:xfrm>
          <a:prstGeom prst="rect">
            <a:avLst/>
          </a:prstGeom>
          <a:solidFill>
            <a:schemeClr val="bg1"/>
          </a:solidFill>
        </p:spPr>
        <p:txBody>
          <a:bodyPr wrap="square" rtlCol="0">
            <a:spAutoFit/>
          </a:bodyPr>
          <a:lstStyle/>
          <a:p>
            <a:endParaRPr lang="en-US" dirty="0"/>
          </a:p>
        </p:txBody>
      </p:sp>
      <p:sp>
        <p:nvSpPr>
          <p:cNvPr id="10" name="Text Placeholder 2">
            <a:extLst>
              <a:ext uri="{FF2B5EF4-FFF2-40B4-BE49-F238E27FC236}">
                <a16:creationId xmlns:a16="http://schemas.microsoft.com/office/drawing/2014/main" id="{27182078-EACA-AE4A-824F-DDE22521CBAF}"/>
              </a:ext>
            </a:extLst>
          </p:cNvPr>
          <p:cNvSpPr txBox="1">
            <a:spLocks/>
          </p:cNvSpPr>
          <p:nvPr/>
        </p:nvSpPr>
        <p:spPr>
          <a:xfrm>
            <a:off x="247900" y="1081974"/>
            <a:ext cx="10953500" cy="5393007"/>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sz="2400" dirty="0">
              <a:latin typeface="Arial Rounded MT Bold" panose="020F0704030504030204" pitchFamily="34" charset="77"/>
            </a:endParaRPr>
          </a:p>
          <a:p>
            <a:endParaRPr lang="en-AU" sz="2400" dirty="0">
              <a:latin typeface="Arial Rounded MT Bold" panose="020F0704030504030204" pitchFamily="34" charset="77"/>
            </a:endParaRPr>
          </a:p>
          <a:p>
            <a:endParaRPr lang="en-AU" sz="2400" dirty="0">
              <a:latin typeface="Arial Rounded MT Bold" panose="020F0704030504030204" pitchFamily="34" charset="77"/>
            </a:endParaRPr>
          </a:p>
          <a:p>
            <a:endParaRPr lang="en-AU" sz="2400" dirty="0">
              <a:latin typeface="Arial Rounded MT Bold" panose="020F0704030504030204" pitchFamily="34" charset="77"/>
            </a:endParaRPr>
          </a:p>
          <a:p>
            <a:endParaRPr lang="en-AU" sz="2400" dirty="0"/>
          </a:p>
          <a:p>
            <a:r>
              <a:rPr lang="en-AU" sz="2400" dirty="0"/>
              <a:t> </a:t>
            </a:r>
          </a:p>
          <a:p>
            <a:endParaRPr lang="en-AU" dirty="0"/>
          </a:p>
        </p:txBody>
      </p:sp>
      <p:pic>
        <p:nvPicPr>
          <p:cNvPr id="7" name="Picture 2" descr="Endocrine system - Wikipedia">
            <a:extLst>
              <a:ext uri="{FF2B5EF4-FFF2-40B4-BE49-F238E27FC236}">
                <a16:creationId xmlns:a16="http://schemas.microsoft.com/office/drawing/2014/main" id="{CCB60E26-E6F6-3F4B-996A-05229559D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1959" y="78059"/>
            <a:ext cx="69627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83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E7D0F9-6D14-4742-AE83-69C012D23E86}"/>
              </a:ext>
            </a:extLst>
          </p:cNvPr>
          <p:cNvSpPr>
            <a:spLocks noGrp="1"/>
          </p:cNvSpPr>
          <p:nvPr>
            <p:ph type="body" sz="quarter" idx="13"/>
          </p:nvPr>
        </p:nvSpPr>
        <p:spPr>
          <a:xfrm>
            <a:off x="1532309" y="192777"/>
            <a:ext cx="10198774" cy="1201125"/>
          </a:xfrm>
        </p:spPr>
        <p:txBody>
          <a:bodyPr>
            <a:normAutofit/>
          </a:bodyPr>
          <a:lstStyle/>
          <a:p>
            <a:r>
              <a:rPr lang="en-AU" sz="2800" dirty="0"/>
              <a:t>What are the 5 releasing and inhibiting factors produced by the hypothalamus? </a:t>
            </a:r>
          </a:p>
        </p:txBody>
      </p:sp>
      <p:sp>
        <p:nvSpPr>
          <p:cNvPr id="3" name="TextBox 2">
            <a:extLst>
              <a:ext uri="{FF2B5EF4-FFF2-40B4-BE49-F238E27FC236}">
                <a16:creationId xmlns:a16="http://schemas.microsoft.com/office/drawing/2014/main" id="{CF6517E9-3A69-664A-9CD9-3AAAC34E5A50}"/>
              </a:ext>
            </a:extLst>
          </p:cNvPr>
          <p:cNvSpPr txBox="1"/>
          <p:nvPr/>
        </p:nvSpPr>
        <p:spPr>
          <a:xfrm>
            <a:off x="460917" y="1248936"/>
            <a:ext cx="11270166" cy="2677656"/>
          </a:xfrm>
          <a:prstGeom prst="rect">
            <a:avLst/>
          </a:prstGeom>
          <a:noFill/>
        </p:spPr>
        <p:txBody>
          <a:bodyPr wrap="square" rtlCol="0">
            <a:spAutoFit/>
          </a:bodyPr>
          <a:lstStyle/>
          <a:p>
            <a:pPr marL="342900" indent="-342900">
              <a:buAutoNum type="arabicPeriod"/>
            </a:pPr>
            <a:r>
              <a:rPr lang="en-US" sz="2400" dirty="0"/>
              <a:t>Gonadotropic hormones: </a:t>
            </a:r>
          </a:p>
          <a:p>
            <a:pPr marL="285750" indent="-285750">
              <a:buFontTx/>
              <a:buChar char="-"/>
            </a:pPr>
            <a:r>
              <a:rPr lang="en-US" sz="2400" dirty="0"/>
              <a:t>Follicle Stimulating Hormone </a:t>
            </a:r>
          </a:p>
          <a:p>
            <a:pPr marL="285750" indent="-285750">
              <a:buFontTx/>
              <a:buChar char="-"/>
            </a:pPr>
            <a:r>
              <a:rPr lang="en-US" sz="2400" dirty="0"/>
              <a:t>Luteinizing Hormone </a:t>
            </a:r>
          </a:p>
          <a:p>
            <a:r>
              <a:rPr lang="en-US" sz="2400" dirty="0"/>
              <a:t>2. Growth Hormone </a:t>
            </a:r>
          </a:p>
          <a:p>
            <a:r>
              <a:rPr lang="en-US" sz="2400" dirty="0"/>
              <a:t>3. Thyroid Stimulating Hormone (TSH)</a:t>
            </a:r>
          </a:p>
          <a:p>
            <a:r>
              <a:rPr lang="en-US" sz="2400" dirty="0"/>
              <a:t>4. Adrenocorticotropic Hormone (ACTH) </a:t>
            </a:r>
          </a:p>
          <a:p>
            <a:r>
              <a:rPr lang="en-US" sz="2400" dirty="0"/>
              <a:t>5. Prolactin/Lactogenic Hormone </a:t>
            </a:r>
          </a:p>
        </p:txBody>
      </p:sp>
    </p:spTree>
    <p:extLst>
      <p:ext uri="{BB962C8B-B14F-4D97-AF65-F5344CB8AC3E}">
        <p14:creationId xmlns:p14="http://schemas.microsoft.com/office/powerpoint/2010/main" val="410883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C90DE3-47B5-F241-8D4B-3ACE5910B33C}"/>
              </a:ext>
            </a:extLst>
          </p:cNvPr>
          <p:cNvSpPr>
            <a:spLocks noGrp="1"/>
          </p:cNvSpPr>
          <p:nvPr>
            <p:ph type="body" sz="quarter" idx="13"/>
          </p:nvPr>
        </p:nvSpPr>
        <p:spPr/>
        <p:txBody>
          <a:bodyPr/>
          <a:lstStyle/>
          <a:p>
            <a:r>
              <a:rPr lang="en-US" dirty="0"/>
              <a:t>What are the 2 hormones stored/secreted from the posterior lobe </a:t>
            </a:r>
          </a:p>
        </p:txBody>
      </p:sp>
      <p:sp>
        <p:nvSpPr>
          <p:cNvPr id="3" name="Text Placeholder 2">
            <a:extLst>
              <a:ext uri="{FF2B5EF4-FFF2-40B4-BE49-F238E27FC236}">
                <a16:creationId xmlns:a16="http://schemas.microsoft.com/office/drawing/2014/main" id="{060C9238-356E-824D-A476-484448FC0BC5}"/>
              </a:ext>
            </a:extLst>
          </p:cNvPr>
          <p:cNvSpPr>
            <a:spLocks noGrp="1"/>
          </p:cNvSpPr>
          <p:nvPr>
            <p:ph type="body" sz="quarter" idx="15"/>
          </p:nvPr>
        </p:nvSpPr>
        <p:spPr/>
        <p:txBody>
          <a:bodyPr>
            <a:normAutofit/>
          </a:bodyPr>
          <a:lstStyle/>
          <a:p>
            <a:pPr marL="342900" indent="-342900">
              <a:buAutoNum type="arabicPeriod"/>
            </a:pPr>
            <a:r>
              <a:rPr lang="en-US" sz="2400" dirty="0"/>
              <a:t>Oxytocin (OT) </a:t>
            </a:r>
          </a:p>
          <a:p>
            <a:pPr marL="342900" indent="-342900">
              <a:buAutoNum type="arabicPeriod"/>
            </a:pPr>
            <a:r>
              <a:rPr lang="en-US" sz="2400" dirty="0"/>
              <a:t>Antidiuretic Hormone (ADH) </a:t>
            </a:r>
          </a:p>
        </p:txBody>
      </p:sp>
    </p:spTree>
    <p:extLst>
      <p:ext uri="{BB962C8B-B14F-4D97-AF65-F5344CB8AC3E}">
        <p14:creationId xmlns:p14="http://schemas.microsoft.com/office/powerpoint/2010/main" val="410687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512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Neurons, Nerve Fibres, and Nerves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416634"/>
            <a:ext cx="5114243" cy="5393007"/>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Nerve cells, or neurons, are the fundamental unit of the nervous system. </a:t>
            </a:r>
          </a:p>
          <a:p>
            <a:pPr marL="342900" indent="-342900">
              <a:buFont typeface="Arial" panose="020B0604020202020204" pitchFamily="34" charset="0"/>
              <a:buChar char="•"/>
            </a:pPr>
            <a:r>
              <a:rPr lang="en-AU" sz="2400" dirty="0">
                <a:latin typeface="Avenir Book" panose="02000503020000020003" pitchFamily="2" charset="0"/>
              </a:rPr>
              <a:t>The cells consist of cell bodies containing the nucleus, cytoplasm, and or organelles (e.g. mitochondria, Golgi apparatus, ribosomes). </a:t>
            </a:r>
          </a:p>
          <a:p>
            <a:pPr marL="342900" indent="-342900">
              <a:buFont typeface="Arial" panose="020B0604020202020204" pitchFamily="34" charset="0"/>
              <a:buChar char="•"/>
            </a:pPr>
            <a:r>
              <a:rPr lang="en-AU" sz="2400" dirty="0">
                <a:latin typeface="Avenir Book" panose="02000503020000020003" pitchFamily="2" charset="0"/>
              </a:rPr>
              <a:t>From the cell body there are branching extensions of cytoplasm that allow for communication between adjacent neurons: the axon and dendrite.</a:t>
            </a:r>
          </a:p>
        </p:txBody>
      </p:sp>
      <p:pic>
        <p:nvPicPr>
          <p:cNvPr id="3074" name="Picture 2" descr="Neurons: What are they and how do they work?">
            <a:extLst>
              <a:ext uri="{FF2B5EF4-FFF2-40B4-BE49-F238E27FC236}">
                <a16:creationId xmlns:a16="http://schemas.microsoft.com/office/drawing/2014/main" id="{962093C5-CBD5-5245-A388-0F4D07492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1728" y="1742156"/>
            <a:ext cx="6334356" cy="5067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t>Neurons, Nerve Fibres, and Nerves </a:t>
            </a:r>
          </a:p>
          <a:p>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8" y="1448023"/>
            <a:ext cx="6622048" cy="4756305"/>
          </a:xfrm>
        </p:spPr>
        <p:txBody>
          <a:bodyPr>
            <a:normAutofit/>
          </a:bodyPr>
          <a:lstStyle/>
          <a:p>
            <a:r>
              <a:rPr lang="en-AU" sz="2400" dirty="0">
                <a:latin typeface="Avenir Book" panose="02000503020000020003" pitchFamily="2" charset="0"/>
              </a:rPr>
              <a:t>Axon: usually longer than the dendrite; responsible for carrying nervous impulses away from the cell body.</a:t>
            </a:r>
          </a:p>
          <a:p>
            <a:br>
              <a:rPr lang="en-AU" sz="2400" dirty="0">
                <a:latin typeface="Avenir Book" panose="02000503020000020003" pitchFamily="2" charset="0"/>
              </a:rPr>
            </a:br>
            <a:r>
              <a:rPr lang="en-AU" sz="2400" dirty="0">
                <a:latin typeface="Avenir Book" panose="02000503020000020003" pitchFamily="2" charset="0"/>
              </a:rPr>
              <a:t>Dendrite: responsible for carrying nervous impulses towards the cell body. </a:t>
            </a:r>
          </a:p>
          <a:p>
            <a:endParaRPr lang="en-AU" sz="2400" dirty="0"/>
          </a:p>
          <a:p>
            <a:r>
              <a:rPr lang="en-AU" sz="2400" dirty="0"/>
              <a:t> </a:t>
            </a:r>
          </a:p>
          <a:p>
            <a:endParaRPr lang="en-AU" dirty="0"/>
          </a:p>
        </p:txBody>
      </p:sp>
      <p:pic>
        <p:nvPicPr>
          <p:cNvPr id="4098" name="Picture 2" descr="Explainer: What is a neuron? | Science News for Students">
            <a:extLst>
              <a:ext uri="{FF2B5EF4-FFF2-40B4-BE49-F238E27FC236}">
                <a16:creationId xmlns:a16="http://schemas.microsoft.com/office/drawing/2014/main" id="{322EC376-C42A-2E41-B971-F57ABABD3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9288" y="3339340"/>
            <a:ext cx="5902712" cy="3518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123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280557" y="805337"/>
            <a:ext cx="6120243" cy="524699"/>
          </a:xfrm>
        </p:spPr>
        <p:txBody>
          <a:bodyPr>
            <a:noAutofit/>
          </a:bodyPr>
          <a:lstStyle/>
          <a:p>
            <a:r>
              <a:rPr lang="en-AU" sz="3200" dirty="0"/>
              <a:t>Neurons, Nerve Fibres, and Nerves </a:t>
            </a:r>
          </a:p>
          <a:p>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929125"/>
            <a:ext cx="5791200" cy="4756305"/>
          </a:xfrm>
        </p:spPr>
        <p:txBody>
          <a:bodyPr>
            <a:normAutofit/>
          </a:bodyPr>
          <a:lstStyle/>
          <a:p>
            <a:r>
              <a:rPr lang="en-AU" sz="2400" dirty="0">
                <a:latin typeface="Avenir Book" panose="02000503020000020003" pitchFamily="2" charset="0"/>
              </a:rPr>
              <a:t>Collectively, dendrites and axons (extensions) are called nerve fibres. Fibres are gathered together by connective tissue sheaths outside the central nervous system and form nerves.</a:t>
            </a:r>
            <a:r>
              <a:rPr lang="en-AU" sz="2800" dirty="0">
                <a:latin typeface="Avenir Book" panose="02000503020000020003" pitchFamily="2" charset="0"/>
              </a:rPr>
              <a:t> </a:t>
            </a:r>
          </a:p>
          <a:p>
            <a:endParaRPr lang="en-AU" dirty="0"/>
          </a:p>
        </p:txBody>
      </p:sp>
      <p:pic>
        <p:nvPicPr>
          <p:cNvPr id="6146" name="Picture 2" descr="Nervous System | Nerves of the body, Neurons, Nerve fiber">
            <a:extLst>
              <a:ext uri="{FF2B5EF4-FFF2-40B4-BE49-F238E27FC236}">
                <a16:creationId xmlns:a16="http://schemas.microsoft.com/office/drawing/2014/main" id="{E97CDA8E-4DBB-3441-A48A-7444340B2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143000"/>
            <a:ext cx="57912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et an Overview of Neuron Cells- CUSABIO">
            <a:extLst>
              <a:ext uri="{FF2B5EF4-FFF2-40B4-BE49-F238E27FC236}">
                <a16:creationId xmlns:a16="http://schemas.microsoft.com/office/drawing/2014/main" id="{335F04E9-4E66-8846-88A7-7CACDC802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3187700"/>
            <a:ext cx="7010400" cy="3670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0540518B-D75B-AD48-8952-32EF30513694}"/>
              </a:ext>
            </a:extLst>
          </p:cNvPr>
          <p:cNvSpPr>
            <a:spLocks noGrp="1"/>
          </p:cNvSpPr>
          <p:nvPr>
            <p:ph type="body" sz="quarter" idx="13"/>
          </p:nvPr>
        </p:nvSpPr>
        <p:spPr/>
        <p:txBody>
          <a:bodyPr/>
          <a:lstStyle/>
          <a:p>
            <a:r>
              <a:rPr lang="en-AU" sz="2800" dirty="0"/>
              <a:t>Neurons, Nerve Fibres, and Nerves </a:t>
            </a:r>
          </a:p>
          <a:p>
            <a:endParaRPr lang="en-US" dirty="0"/>
          </a:p>
        </p:txBody>
      </p:sp>
      <p:sp>
        <p:nvSpPr>
          <p:cNvPr id="3" name="Text Placeholder 2">
            <a:extLst>
              <a:ext uri="{FF2B5EF4-FFF2-40B4-BE49-F238E27FC236}">
                <a16:creationId xmlns:a16="http://schemas.microsoft.com/office/drawing/2014/main" id="{EA0538F5-71E7-A340-BBA7-DC8A802C6F21}"/>
              </a:ext>
            </a:extLst>
          </p:cNvPr>
          <p:cNvSpPr>
            <a:spLocks noGrp="1"/>
          </p:cNvSpPr>
          <p:nvPr>
            <p:ph type="body" sz="quarter" idx="15"/>
          </p:nvPr>
        </p:nvSpPr>
        <p:spPr>
          <a:xfrm>
            <a:off x="280559" y="1528994"/>
            <a:ext cx="5596134" cy="5066923"/>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Axons can be myelinated, meaning they are sheathed with a fatty substance called myelin. </a:t>
            </a:r>
          </a:p>
          <a:p>
            <a:pPr marL="342900" indent="-342900">
              <a:buFont typeface="Arial" panose="020B0604020202020204" pitchFamily="34" charset="0"/>
              <a:buChar char="•"/>
            </a:pPr>
            <a:r>
              <a:rPr lang="en-AU" sz="2400" dirty="0">
                <a:latin typeface="Avenir Book" panose="02000503020000020003" pitchFamily="2" charset="0"/>
              </a:rPr>
              <a:t>Outside the central nervous system, this myelin sheath is produced by Schwann cells which wrap around the length of the axon. </a:t>
            </a:r>
          </a:p>
          <a:p>
            <a:pPr marL="342900" indent="-342900">
              <a:buFont typeface="Arial" panose="020B0604020202020204" pitchFamily="34" charset="0"/>
              <a:buChar char="•"/>
            </a:pPr>
            <a:r>
              <a:rPr lang="en-AU" sz="2400" dirty="0">
                <a:latin typeface="Avenir Book" panose="02000503020000020003" pitchFamily="2" charset="0"/>
              </a:rPr>
              <a:t>This produces gaps in the sheath that are known as the Nodes of Ranvier. </a:t>
            </a:r>
          </a:p>
          <a:p>
            <a:pPr marL="342900" indent="-342900">
              <a:buFont typeface="Arial" panose="020B0604020202020204" pitchFamily="34" charset="0"/>
              <a:buChar char="•"/>
            </a:pPr>
            <a:r>
              <a:rPr lang="en-AU" sz="2400" dirty="0">
                <a:latin typeface="Avenir Book" panose="02000503020000020003" pitchFamily="2" charset="0"/>
              </a:rPr>
              <a:t>The outer layer of the Schwann cell is known as the neurilemma, which promotes the repair of injured fibres.</a:t>
            </a:r>
          </a:p>
          <a:p>
            <a:endParaRPr lang="en-US" dirty="0"/>
          </a:p>
        </p:txBody>
      </p:sp>
    </p:spTree>
    <p:extLst>
      <p:ext uri="{BB962C8B-B14F-4D97-AF65-F5344CB8AC3E}">
        <p14:creationId xmlns:p14="http://schemas.microsoft.com/office/powerpoint/2010/main" val="351809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00F809-EAC5-6747-BB9C-E719EE2D49A9}"/>
              </a:ext>
            </a:extLst>
          </p:cNvPr>
          <p:cNvSpPr>
            <a:spLocks noGrp="1"/>
          </p:cNvSpPr>
          <p:nvPr>
            <p:ph type="body" sz="quarter" idx="13"/>
          </p:nvPr>
        </p:nvSpPr>
        <p:spPr/>
        <p:txBody>
          <a:bodyPr/>
          <a:lstStyle/>
          <a:p>
            <a:r>
              <a:rPr lang="en-AU" dirty="0"/>
              <a:t>The myelination offer three main functions:</a:t>
            </a:r>
          </a:p>
          <a:p>
            <a:endParaRPr lang="en-US" dirty="0"/>
          </a:p>
        </p:txBody>
      </p:sp>
      <p:sp>
        <p:nvSpPr>
          <p:cNvPr id="3" name="Text Placeholder 2">
            <a:extLst>
              <a:ext uri="{FF2B5EF4-FFF2-40B4-BE49-F238E27FC236}">
                <a16:creationId xmlns:a16="http://schemas.microsoft.com/office/drawing/2014/main" id="{A55A116C-E2A1-9C4E-B056-01A034BCB539}"/>
              </a:ext>
            </a:extLst>
          </p:cNvPr>
          <p:cNvSpPr>
            <a:spLocks noGrp="1"/>
          </p:cNvSpPr>
          <p:nvPr>
            <p:ph type="body" sz="quarter" idx="15"/>
          </p:nvPr>
        </p:nvSpPr>
        <p:spPr>
          <a:xfrm>
            <a:off x="280558" y="1528994"/>
            <a:ext cx="5183540" cy="5066923"/>
          </a:xfrm>
        </p:spPr>
        <p:txBody>
          <a:bodyPr/>
          <a:lstStyle/>
          <a:p>
            <a:r>
              <a:rPr lang="en-AU" sz="2800" dirty="0">
                <a:latin typeface="Avenir Book" panose="02000503020000020003" pitchFamily="2" charset="0"/>
              </a:rPr>
              <a:t>1. Insulation</a:t>
            </a:r>
          </a:p>
          <a:p>
            <a:r>
              <a:rPr lang="en-AU" sz="2800" dirty="0">
                <a:latin typeface="Avenir Book" panose="02000503020000020003" pitchFamily="2" charset="0"/>
              </a:rPr>
              <a:t>2. Protection of the fibre from damage </a:t>
            </a:r>
          </a:p>
          <a:p>
            <a:r>
              <a:rPr lang="en-AU" sz="2800" dirty="0">
                <a:latin typeface="Avenir Book" panose="02000503020000020003" pitchFamily="2" charset="0"/>
              </a:rPr>
              <a:t>3. Accelerating the rate of impulse transmission along the axon. </a:t>
            </a:r>
            <a:br>
              <a:rPr lang="en-AU" dirty="0"/>
            </a:br>
            <a:endParaRPr lang="en-AU" dirty="0"/>
          </a:p>
          <a:p>
            <a:br>
              <a:rPr lang="en-AU" dirty="0"/>
            </a:br>
            <a:endParaRPr lang="en-US" dirty="0"/>
          </a:p>
        </p:txBody>
      </p:sp>
      <p:pic>
        <p:nvPicPr>
          <p:cNvPr id="5122" name="Picture 2" descr="Get an Overview of Neuron Cells- CUSABIO">
            <a:extLst>
              <a:ext uri="{FF2B5EF4-FFF2-40B4-BE49-F238E27FC236}">
                <a16:creationId xmlns:a16="http://schemas.microsoft.com/office/drawing/2014/main" id="{2B057CFE-8A06-C449-A581-4B50966C3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7522" y="3124575"/>
            <a:ext cx="7010400" cy="367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322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73970-2D61-B74D-8FFF-48E5D59D8E07}"/>
              </a:ext>
            </a:extLst>
          </p:cNvPr>
          <p:cNvSpPr>
            <a:spLocks noGrp="1"/>
          </p:cNvSpPr>
          <p:nvPr>
            <p:ph type="body" sz="quarter" idx="13"/>
          </p:nvPr>
        </p:nvSpPr>
        <p:spPr/>
        <p:txBody>
          <a:bodyPr>
            <a:normAutofit/>
          </a:bodyPr>
          <a:lstStyle/>
          <a:p>
            <a:r>
              <a:rPr lang="en-AU" dirty="0"/>
              <a:t>Neurons can be classified in two main ways: functionally and structurally.</a:t>
            </a:r>
            <a:endParaRPr lang="en-US" dirty="0"/>
          </a:p>
        </p:txBody>
      </p:sp>
      <p:sp>
        <p:nvSpPr>
          <p:cNvPr id="3" name="Text Placeholder 2">
            <a:extLst>
              <a:ext uri="{FF2B5EF4-FFF2-40B4-BE49-F238E27FC236}">
                <a16:creationId xmlns:a16="http://schemas.microsoft.com/office/drawing/2014/main" id="{75EAD494-6DA6-CF4A-987B-FB24AF58FC87}"/>
              </a:ext>
            </a:extLst>
          </p:cNvPr>
          <p:cNvSpPr>
            <a:spLocks noGrp="1"/>
          </p:cNvSpPr>
          <p:nvPr>
            <p:ph type="body" sz="quarter" idx="15"/>
          </p:nvPr>
        </p:nvSpPr>
        <p:spPr>
          <a:xfrm>
            <a:off x="280558" y="1528994"/>
            <a:ext cx="7168457" cy="5066923"/>
          </a:xfrm>
        </p:spPr>
        <p:txBody>
          <a:bodyPr/>
          <a:lstStyle/>
          <a:p>
            <a:r>
              <a:rPr lang="en-AU" sz="2400" i="1" u="sng" dirty="0">
                <a:latin typeface="Avenir Book" panose="02000503020000020003" pitchFamily="2" charset="0"/>
              </a:rPr>
              <a:t>Function of neurons</a:t>
            </a:r>
          </a:p>
          <a:p>
            <a:br>
              <a:rPr lang="en-AU" sz="2400" dirty="0">
                <a:latin typeface="Avenir Book" panose="02000503020000020003" pitchFamily="2" charset="0"/>
              </a:rPr>
            </a:br>
            <a:r>
              <a:rPr lang="en-AU" sz="2400" b="1" dirty="0">
                <a:latin typeface="Avenir Book" panose="02000503020000020003" pitchFamily="2" charset="0"/>
              </a:rPr>
              <a:t>Sensory neurons</a:t>
            </a:r>
            <a:r>
              <a:rPr lang="en-AU" sz="2400" dirty="0">
                <a:latin typeface="Avenir Book" panose="02000503020000020003" pitchFamily="2" charset="0"/>
              </a:rPr>
              <a:t>: carry nervous impulses from the receptors in sensory organs/tissues to the central nervous system. </a:t>
            </a:r>
          </a:p>
          <a:p>
            <a:endParaRPr lang="en-AU" sz="2400" dirty="0">
              <a:latin typeface="Avenir Book" panose="02000503020000020003" pitchFamily="2" charset="0"/>
            </a:endParaRPr>
          </a:p>
          <a:p>
            <a:r>
              <a:rPr lang="en-AU" sz="2400" b="1" dirty="0">
                <a:latin typeface="Avenir Book" panose="02000503020000020003" pitchFamily="2" charset="0"/>
              </a:rPr>
              <a:t>Motor neurons: </a:t>
            </a:r>
            <a:r>
              <a:rPr lang="en-AU" sz="2400" dirty="0">
                <a:latin typeface="Avenir Book" panose="02000503020000020003" pitchFamily="2" charset="0"/>
              </a:rPr>
              <a:t>carry nervous impulses from the central nervous system to glands and muscles (collectively known as effectors). </a:t>
            </a:r>
          </a:p>
          <a:p>
            <a:endParaRPr lang="en-AU" sz="2400" dirty="0">
              <a:latin typeface="Avenir Book" panose="02000503020000020003" pitchFamily="2" charset="0"/>
            </a:endParaRPr>
          </a:p>
          <a:p>
            <a:r>
              <a:rPr lang="en-AU" sz="2400" b="1" dirty="0">
                <a:latin typeface="Avenir Book" panose="02000503020000020003" pitchFamily="2" charset="0"/>
              </a:rPr>
              <a:t>Interneurons: </a:t>
            </a:r>
            <a:r>
              <a:rPr lang="en-AU" sz="2400" dirty="0">
                <a:latin typeface="Avenir Book" panose="02000503020000020003" pitchFamily="2" charset="0"/>
              </a:rPr>
              <a:t>link sensory neurons to motor neurons within the central nervous system.</a:t>
            </a:r>
          </a:p>
          <a:p>
            <a:endParaRPr lang="en-US" dirty="0"/>
          </a:p>
        </p:txBody>
      </p:sp>
      <p:pic>
        <p:nvPicPr>
          <p:cNvPr id="8196" name="Picture 4" descr="Sensory neuron motor neuron and interneuron Vector Image">
            <a:extLst>
              <a:ext uri="{FF2B5EF4-FFF2-40B4-BE49-F238E27FC236}">
                <a16:creationId xmlns:a16="http://schemas.microsoft.com/office/drawing/2014/main" id="{10F6AF05-EFE1-334D-9EE8-6B6D539FE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9015" y="1651658"/>
            <a:ext cx="4653776" cy="502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289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FADF1E-3825-4D46-B1C1-7F8084C03A3F}"/>
              </a:ext>
            </a:extLst>
          </p:cNvPr>
          <p:cNvSpPr>
            <a:spLocks noGrp="1"/>
          </p:cNvSpPr>
          <p:nvPr>
            <p:ph type="body" sz="quarter" idx="13"/>
          </p:nvPr>
        </p:nvSpPr>
        <p:spPr/>
        <p:txBody>
          <a:bodyPr/>
          <a:lstStyle/>
          <a:p>
            <a:r>
              <a:rPr lang="en-AU" dirty="0"/>
              <a:t>Neurons can be classified in two main ways: functionally and structurally.</a:t>
            </a:r>
            <a:endParaRPr lang="en-US" dirty="0"/>
          </a:p>
          <a:p>
            <a:endParaRPr lang="en-US" dirty="0"/>
          </a:p>
        </p:txBody>
      </p:sp>
      <p:sp>
        <p:nvSpPr>
          <p:cNvPr id="3" name="Text Placeholder 2">
            <a:extLst>
              <a:ext uri="{FF2B5EF4-FFF2-40B4-BE49-F238E27FC236}">
                <a16:creationId xmlns:a16="http://schemas.microsoft.com/office/drawing/2014/main" id="{99BFFF9D-FB73-E447-90B6-488F87EDD187}"/>
              </a:ext>
            </a:extLst>
          </p:cNvPr>
          <p:cNvSpPr>
            <a:spLocks noGrp="1"/>
          </p:cNvSpPr>
          <p:nvPr>
            <p:ph type="body" sz="quarter" idx="15"/>
          </p:nvPr>
        </p:nvSpPr>
        <p:spPr/>
        <p:txBody>
          <a:bodyPr/>
          <a:lstStyle/>
          <a:p>
            <a:r>
              <a:rPr lang="en-AU" i="1" u="sng" dirty="0"/>
              <a:t>Structure of neurons</a:t>
            </a:r>
          </a:p>
          <a:p>
            <a:br>
              <a:rPr lang="en-AU" dirty="0"/>
            </a:br>
            <a:endParaRPr lang="en-AU" dirty="0"/>
          </a:p>
          <a:p>
            <a:pPr marL="285750" indent="-285750">
              <a:buFont typeface="Arial" panose="020B0604020202020204" pitchFamily="34" charset="0"/>
              <a:buChar char="•"/>
            </a:pPr>
            <a:r>
              <a:rPr lang="en-AU" b="1" dirty="0"/>
              <a:t>Multipolar: </a:t>
            </a:r>
            <a:r>
              <a:rPr lang="en-AU" dirty="0"/>
              <a:t>1 axon, multiple dendrites</a:t>
            </a:r>
          </a:p>
          <a:p>
            <a:endParaRPr lang="en-AU" dirty="0"/>
          </a:p>
          <a:p>
            <a:pPr marL="285750" indent="-285750">
              <a:buFont typeface="Arial" panose="020B0604020202020204" pitchFamily="34" charset="0"/>
              <a:buChar char="•"/>
            </a:pPr>
            <a:r>
              <a:rPr lang="en-AU" b="1" dirty="0"/>
              <a:t>Bipolar: </a:t>
            </a:r>
            <a:r>
              <a:rPr lang="en-AU" dirty="0"/>
              <a:t>1 axon, 1 dendrite </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b="1" dirty="0"/>
              <a:t>Unipolar: </a:t>
            </a:r>
            <a:r>
              <a:rPr lang="en-AU" dirty="0"/>
              <a:t>1 axon, cell body to one side</a:t>
            </a:r>
            <a:br>
              <a:rPr lang="en-AU" dirty="0"/>
            </a:br>
            <a:endParaRPr lang="en-AU" dirty="0"/>
          </a:p>
          <a:p>
            <a:br>
              <a:rPr lang="en-AU" dirty="0"/>
            </a:br>
            <a:endParaRPr lang="en-US" dirty="0"/>
          </a:p>
        </p:txBody>
      </p:sp>
    </p:spTree>
    <p:extLst>
      <p:ext uri="{BB962C8B-B14F-4D97-AF65-F5344CB8AC3E}">
        <p14:creationId xmlns:p14="http://schemas.microsoft.com/office/powerpoint/2010/main" val="368629728"/>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2159</TotalTime>
  <Words>689</Words>
  <Application>Microsoft Macintosh PowerPoint</Application>
  <PresentationFormat>Widescreen</PresentationFormat>
  <Paragraphs>72</Paragraphs>
  <Slides>14</Slides>
  <Notes>7</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14</vt:i4>
      </vt:variant>
    </vt:vector>
  </HeadingPairs>
  <TitlesOfParts>
    <vt:vector size="27"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2022-02-13T15:01:15Z</dcterms:created>
  <dcterms:modified xsi:type="dcterms:W3CDTF">2022-02-15T03:01:12Z</dcterms:modified>
</cp:coreProperties>
</file>
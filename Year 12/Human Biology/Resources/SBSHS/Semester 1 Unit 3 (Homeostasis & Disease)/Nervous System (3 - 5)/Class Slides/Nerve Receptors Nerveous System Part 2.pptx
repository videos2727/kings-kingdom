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3.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4.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10" r:id="rId1"/>
    <p:sldMasterId id="2147483733" r:id="rId2"/>
    <p:sldMasterId id="2147483748" r:id="rId3"/>
    <p:sldMasterId id="2147483757" r:id="rId4"/>
    <p:sldMasterId id="2147483774" r:id="rId5"/>
  </p:sldMasterIdLst>
  <p:notesMasterIdLst>
    <p:notesMasterId r:id="rId21"/>
  </p:notesMasterIdLst>
  <p:sldIdLst>
    <p:sldId id="562" r:id="rId6"/>
    <p:sldId id="301" r:id="rId7"/>
    <p:sldId id="567" r:id="rId8"/>
    <p:sldId id="568" r:id="rId9"/>
    <p:sldId id="569" r:id="rId10"/>
    <p:sldId id="577" r:id="rId11"/>
    <p:sldId id="578" r:id="rId12"/>
    <p:sldId id="570" r:id="rId13"/>
    <p:sldId id="571" r:id="rId14"/>
    <p:sldId id="579" r:id="rId15"/>
    <p:sldId id="572" r:id="rId16"/>
    <p:sldId id="576" r:id="rId17"/>
    <p:sldId id="573" r:id="rId18"/>
    <p:sldId id="574" r:id="rId19"/>
    <p:sldId id="575"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oran Groznica" initials="ZG" lastIdx="2" clrIdx="0">
    <p:extLst>
      <p:ext uri="{19B8F6BF-5375-455C-9EA6-DF929625EA0E}">
        <p15:presenceInfo xmlns:p15="http://schemas.microsoft.com/office/powerpoint/2012/main" userId="3fde8f81ab5e8c4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4D95"/>
    <a:srgbClr val="1991AC"/>
    <a:srgbClr val="00C0B4"/>
    <a:srgbClr val="00DCD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14"/>
    <p:restoredTop sz="86495"/>
  </p:normalViewPr>
  <p:slideViewPr>
    <p:cSldViewPr snapToGrid="0" snapToObjects="1">
      <p:cViewPr varScale="1">
        <p:scale>
          <a:sx n="97" d="100"/>
          <a:sy n="97" d="100"/>
        </p:scale>
        <p:origin x="912" y="200"/>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tableStyles" Target="tableStyles.xml"/><Relationship Id="rId3" Type="http://schemas.openxmlformats.org/officeDocument/2006/relationships/slideMaster" Target="slideMasters/slideMaster3.xml"/><Relationship Id="rId21" Type="http://schemas.openxmlformats.org/officeDocument/2006/relationships/notesMaster" Target="notesMasters/notesMaster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97670B-01DE-304A-B5E0-CEAA57CA1308}" type="datetimeFigureOut">
              <a:rPr lang="en-US" smtClean="0"/>
              <a:t>2/21/22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6D6F03-C114-7440-A578-13B07E7D8E06}" type="slidenum">
              <a:rPr lang="en-US" smtClean="0"/>
              <a:t>‹#›</a:t>
            </a:fld>
            <a:endParaRPr lang="en-US"/>
          </a:p>
        </p:txBody>
      </p:sp>
    </p:spTree>
    <p:extLst>
      <p:ext uri="{BB962C8B-B14F-4D97-AF65-F5344CB8AC3E}">
        <p14:creationId xmlns:p14="http://schemas.microsoft.com/office/powerpoint/2010/main" val="23212342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Teacher Cue – refer to the vocabulary box as you read through and</a:t>
            </a:r>
            <a:r>
              <a:rPr lang="en-AU" baseline="0" dirty="0"/>
              <a:t> “unpack” the definition provided. Use hand gestures to emphasise the ”2 or more”, “mixed” and “separated” parts of the definition. </a:t>
            </a:r>
          </a:p>
          <a:p>
            <a:r>
              <a:rPr lang="en-AU" baseline="0" dirty="0"/>
              <a:t>Have students complete CFU 1 as a pair-share, then record these definitions &amp; examples as notes (with diagrams) if desired. </a:t>
            </a:r>
            <a:endParaRPr lang="en-AU" dirty="0"/>
          </a:p>
          <a:p>
            <a:r>
              <a:rPr lang="en-AU" dirty="0"/>
              <a:t>CFU 2 –</a:t>
            </a:r>
            <a:r>
              <a:rPr lang="en-AU" baseline="0" dirty="0"/>
              <a:t> pair-share, then whiteboards for answers – call on non-volunteers.</a:t>
            </a:r>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2</a:t>
            </a:fld>
            <a:endParaRPr lang="en-AU"/>
          </a:p>
        </p:txBody>
      </p:sp>
    </p:spTree>
    <p:extLst>
      <p:ext uri="{BB962C8B-B14F-4D97-AF65-F5344CB8AC3E}">
        <p14:creationId xmlns:p14="http://schemas.microsoft.com/office/powerpoint/2010/main" val="15108502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36D6F03-C114-7440-A578-13B07E7D8E06}" type="slidenum">
              <a:rPr lang="en-US" smtClean="0"/>
              <a:t>7</a:t>
            </a:fld>
            <a:endParaRPr lang="en-US"/>
          </a:p>
        </p:txBody>
      </p:sp>
    </p:spTree>
    <p:extLst>
      <p:ext uri="{BB962C8B-B14F-4D97-AF65-F5344CB8AC3E}">
        <p14:creationId xmlns:p14="http://schemas.microsoft.com/office/powerpoint/2010/main" val="307329317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4.xml"/><Relationship Id="rId4" Type="http://schemas.openxmlformats.org/officeDocument/2006/relationships/image" Target="../media/image4.jp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4.xml"/><Relationship Id="rId4" Type="http://schemas.openxmlformats.org/officeDocument/2006/relationships/image" Target="../media/image4.jp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EI) Learning Goal Setup">
    <p:bg>
      <p:bgPr>
        <a:solidFill>
          <a:schemeClr val="bg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p:nvSpPr>
        <p:spPr>
          <a:xfrm>
            <a:off x="295216" y="1011383"/>
            <a:ext cx="3011715" cy="538446"/>
          </a:xfrm>
          <a:prstGeom prst="rect">
            <a:avLst/>
          </a:prstGeom>
          <a:solidFill>
            <a:srgbClr val="23566C"/>
          </a:solidFill>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Learning Objective</a:t>
            </a:r>
          </a:p>
        </p:txBody>
      </p:sp>
      <p:sp>
        <p:nvSpPr>
          <p:cNvPr id="9" name="TextBox 8">
            <a:extLst>
              <a:ext uri="{FF2B5EF4-FFF2-40B4-BE49-F238E27FC236}">
                <a16:creationId xmlns:a16="http://schemas.microsoft.com/office/drawing/2014/main" id="{DF9C2B4A-0943-CC42-BE38-4F715F7CAA2B}"/>
              </a:ext>
            </a:extLst>
          </p:cNvPr>
          <p:cNvSpPr txBox="1"/>
          <p:nvPr/>
        </p:nvSpPr>
        <p:spPr>
          <a:xfrm>
            <a:off x="517951" y="4565193"/>
            <a:ext cx="2734700" cy="1947917"/>
          </a:xfrm>
          <a:prstGeom prst="rect">
            <a:avLst/>
          </a:prstGeom>
          <a:noFill/>
        </p:spPr>
        <p:txBody>
          <a:bodyPr wrap="square" tIns="180000" rtlCol="0" anchor="t">
            <a:normAutofit/>
          </a:bodyPr>
          <a:lstStyle/>
          <a:p>
            <a:r>
              <a:rPr lang="en-US" sz="3600" b="1" i="0" dirty="0">
                <a:solidFill>
                  <a:srgbClr val="23566C"/>
                </a:solidFill>
                <a:latin typeface="Calibri" panose="020F0502020204030204" pitchFamily="34" charset="0"/>
                <a:cs typeface="Calibri" panose="020F0502020204030204" pitchFamily="34" charset="0"/>
              </a:rPr>
              <a:t>Think </a:t>
            </a:r>
          </a:p>
          <a:p>
            <a:r>
              <a:rPr lang="en-US" sz="3600" b="1" i="0" dirty="0">
                <a:solidFill>
                  <a:srgbClr val="23566C"/>
                </a:solidFill>
                <a:latin typeface="Calibri" panose="020F0502020204030204" pitchFamily="34" charset="0"/>
                <a:cs typeface="Calibri" panose="020F0502020204030204" pitchFamily="34" charset="0"/>
              </a:rPr>
              <a:t>Pair</a:t>
            </a:r>
          </a:p>
          <a:p>
            <a:r>
              <a:rPr lang="en-US" sz="3600" b="1" i="0" dirty="0">
                <a:solidFill>
                  <a:srgbClr val="23566C"/>
                </a:solidFill>
                <a:latin typeface="Calibri" panose="020F0502020204030204" pitchFamily="34" charset="0"/>
                <a:cs typeface="Calibri" panose="020F0502020204030204" pitchFamily="34" charset="0"/>
              </a:rPr>
              <a:t>Share</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3B8CC1"/>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p:nvGrpSpPr>
        <p:grpSpPr>
          <a:xfrm>
            <a:off x="3252651" y="475428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31493653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EI) Learning Objectiv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8" y="208656"/>
            <a:ext cx="3043727" cy="515262"/>
          </a:xfrm>
          <a:prstGeom prst="rect">
            <a:avLst/>
          </a:prstGeom>
          <a:solidFill>
            <a:srgbClr val="23566C"/>
          </a:solidFill>
          <a:ln>
            <a:noFill/>
          </a:ln>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Learning Objective</a:t>
            </a:r>
          </a:p>
        </p:txBody>
      </p:sp>
      <p:sp>
        <p:nvSpPr>
          <p:cNvPr id="9" name="TextBox 8">
            <a:extLst>
              <a:ext uri="{FF2B5EF4-FFF2-40B4-BE49-F238E27FC236}">
                <a16:creationId xmlns:a16="http://schemas.microsoft.com/office/drawing/2014/main" id="{F8E5EB58-8F76-3048-9FB3-21AC89DAF2CC}"/>
              </a:ext>
            </a:extLst>
          </p:cNvPr>
          <p:cNvSpPr txBox="1"/>
          <p:nvPr/>
        </p:nvSpPr>
        <p:spPr>
          <a:xfrm>
            <a:off x="295218" y="728213"/>
            <a:ext cx="4609291" cy="495947"/>
          </a:xfrm>
          <a:prstGeom prst="rect">
            <a:avLst/>
          </a:prstGeom>
          <a:solidFill>
            <a:srgbClr val="B3FFFF"/>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Track with me / Read with me</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1218404"/>
            <a:ext cx="11577177" cy="5430940"/>
          </a:xfrm>
          <a:prstGeom prst="rect">
            <a:avLst/>
          </a:prstGeom>
          <a:noFill/>
        </p:spPr>
        <p:txBody>
          <a:bodyPr tIns="144000" bIns="0"/>
          <a:lstStyle>
            <a:lvl1pPr marL="0" indent="0">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learning objective</a:t>
            </a:r>
          </a:p>
        </p:txBody>
      </p:sp>
    </p:spTree>
    <p:extLst>
      <p:ext uri="{BB962C8B-B14F-4D97-AF65-F5344CB8AC3E}">
        <p14:creationId xmlns:p14="http://schemas.microsoft.com/office/powerpoint/2010/main" val="28396669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EI)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8" y="208656"/>
            <a:ext cx="3043727" cy="515262"/>
          </a:xfrm>
          <a:prstGeom prst="rect">
            <a:avLst/>
          </a:prstGeom>
          <a:solidFill>
            <a:srgbClr val="23566C"/>
          </a:solidFill>
          <a:ln>
            <a:noFill/>
          </a:ln>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p:nvSpPr>
        <p:spPr>
          <a:xfrm>
            <a:off x="295218" y="1873045"/>
            <a:ext cx="4609291" cy="495947"/>
          </a:xfrm>
          <a:prstGeom prst="rect">
            <a:avLst/>
          </a:prstGeom>
          <a:solidFill>
            <a:srgbClr val="B3FFFF"/>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3B8CC1"/>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11454456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EI)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8" y="208656"/>
            <a:ext cx="3016018" cy="515262"/>
          </a:xfrm>
          <a:prstGeom prst="rect">
            <a:avLst/>
          </a:prstGeom>
          <a:solidFill>
            <a:srgbClr val="23566C"/>
          </a:solidFill>
          <a:ln>
            <a:noFill/>
          </a:ln>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3B8CC1"/>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p:nvSpPr>
        <p:spPr>
          <a:xfrm>
            <a:off x="295218" y="1873045"/>
            <a:ext cx="4609291" cy="495947"/>
          </a:xfrm>
          <a:prstGeom prst="rect">
            <a:avLst/>
          </a:prstGeom>
          <a:solidFill>
            <a:srgbClr val="B3FFFF"/>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18551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EI)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8" y="208656"/>
            <a:ext cx="3071437" cy="515262"/>
          </a:xfrm>
          <a:prstGeom prst="rect">
            <a:avLst/>
          </a:prstGeom>
          <a:solidFill>
            <a:srgbClr val="23566C"/>
          </a:solidFill>
          <a:ln>
            <a:noFill/>
          </a:ln>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p:nvSpPr>
        <p:spPr>
          <a:xfrm>
            <a:off x="295219" y="1873045"/>
            <a:ext cx="1990782" cy="495947"/>
          </a:xfrm>
          <a:prstGeom prst="rect">
            <a:avLst/>
          </a:prstGeom>
          <a:solidFill>
            <a:srgbClr val="B3FFFF"/>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3B8CC1"/>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12793724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EI) 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0" name="Text Placeholder 9">
            <a:extLst>
              <a:ext uri="{FF2B5EF4-FFF2-40B4-BE49-F238E27FC236}">
                <a16:creationId xmlns:a16="http://schemas.microsoft.com/office/drawing/2014/main" id="{3A872705-675F-C243-9643-639EE2D96A8C}"/>
              </a:ext>
            </a:extLst>
          </p:cNvPr>
          <p:cNvSpPr>
            <a:spLocks noGrp="1"/>
          </p:cNvSpPr>
          <p:nvPr>
            <p:ph type="body" sz="quarter" idx="15" hasCustomPrompt="1"/>
          </p:nvPr>
        </p:nvSpPr>
        <p:spPr>
          <a:xfrm>
            <a:off x="390524" y="965946"/>
            <a:ext cx="9091613" cy="307181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b="1" i="0">
                <a:latin typeface="Century Gothic" panose="020B0502020202020204" pitchFamily="34" charset="0"/>
              </a:defRPr>
            </a:lvl1pPr>
          </a:lstStyle>
          <a:p>
            <a:pPr lvl="0"/>
            <a:r>
              <a:rPr lang="en-US" dirty="0"/>
              <a:t>Link previous learning, or a universal experience, to the topic being studied taught.  For example, key concepts already learnt in this unit, or something we all do in our lives that will connect to the learning.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a:p>
            <a:pPr lvl="0"/>
            <a:endParaRPr lang="en-US" dirty="0"/>
          </a:p>
        </p:txBody>
      </p:sp>
    </p:spTree>
    <p:extLst>
      <p:ext uri="{BB962C8B-B14F-4D97-AF65-F5344CB8AC3E}">
        <p14:creationId xmlns:p14="http://schemas.microsoft.com/office/powerpoint/2010/main" val="20534973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EI) Content Development">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93932381-72B7-B349-BBA8-6AFEB84E18A9}"/>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F989A473-568F-E948-8378-638693483165}"/>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Concept Development</a:t>
            </a:r>
          </a:p>
        </p:txBody>
      </p:sp>
      <p:sp>
        <p:nvSpPr>
          <p:cNvPr id="3" name="Text Placeholder 2">
            <a:extLst>
              <a:ext uri="{FF2B5EF4-FFF2-40B4-BE49-F238E27FC236}">
                <a16:creationId xmlns:a16="http://schemas.microsoft.com/office/drawing/2014/main" id="{67489761-345C-4546-B69F-7F767EEB19E6}"/>
              </a:ext>
            </a:extLst>
          </p:cNvPr>
          <p:cNvSpPr>
            <a:spLocks noGrp="1"/>
          </p:cNvSpPr>
          <p:nvPr>
            <p:ph type="body" sz="quarter" idx="15" hasCustomPrompt="1"/>
          </p:nvPr>
        </p:nvSpPr>
        <p:spPr>
          <a:xfrm>
            <a:off x="397668" y="965946"/>
            <a:ext cx="9077325" cy="1885950"/>
          </a:xfrm>
          <a:prstGeom prst="rect">
            <a:avLst/>
          </a:prstGeom>
        </p:spPr>
        <p:txBody>
          <a:bodyPr/>
          <a:lstStyle>
            <a:lvl1pPr marL="0" indent="0">
              <a:buNone/>
              <a:defRPr sz="2800" b="1" i="0">
                <a:latin typeface="Century Gothic" panose="020B0502020202020204" pitchFamily="34" charset="0"/>
              </a:defRPr>
            </a:lvl1pPr>
          </a:lstStyle>
          <a:p>
            <a:pPr lvl="0"/>
            <a:r>
              <a:rPr lang="en-US" dirty="0"/>
              <a:t>The teacher explains the concepts and steps that lead to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19235698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EI) Skill Development with Guided Practice">
    <p:spTree>
      <p:nvGrpSpPr>
        <p:cNvPr id="1" name=""/>
        <p:cNvGrpSpPr/>
        <p:nvPr/>
      </p:nvGrpSpPr>
      <p:grpSpPr>
        <a:xfrm>
          <a:off x="0" y="0"/>
          <a:ext cx="0" cy="0"/>
          <a:chOff x="0" y="0"/>
          <a:chExt cx="0" cy="0"/>
        </a:xfrm>
      </p:grpSpPr>
      <p:sp>
        <p:nvSpPr>
          <p:cNvPr id="8" name="Text Placeholder 37">
            <a:extLst>
              <a:ext uri="{FF2B5EF4-FFF2-40B4-BE49-F238E27FC236}">
                <a16:creationId xmlns:a16="http://schemas.microsoft.com/office/drawing/2014/main" id="{AA64D5DD-9491-7244-8D83-7F535F058A54}"/>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9" name="TextBox 8">
            <a:extLst>
              <a:ext uri="{FF2B5EF4-FFF2-40B4-BE49-F238E27FC236}">
                <a16:creationId xmlns:a16="http://schemas.microsoft.com/office/drawing/2014/main" id="{FEC8520F-CB36-4A45-A44F-F23C38DF4554}"/>
              </a:ext>
            </a:extLst>
          </p:cNvPr>
          <p:cNvSpPr txBox="1"/>
          <p:nvPr/>
        </p:nvSpPr>
        <p:spPr>
          <a:xfrm>
            <a:off x="295275" y="590550"/>
            <a:ext cx="4199996" cy="352425"/>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Skill Development with Guided Practice</a:t>
            </a:r>
          </a:p>
        </p:txBody>
      </p:sp>
      <p:sp>
        <p:nvSpPr>
          <p:cNvPr id="10" name="Text Placeholder 2">
            <a:extLst>
              <a:ext uri="{FF2B5EF4-FFF2-40B4-BE49-F238E27FC236}">
                <a16:creationId xmlns:a16="http://schemas.microsoft.com/office/drawing/2014/main" id="{CF0F374D-B3C3-694C-9E4C-49E7305FA052}"/>
              </a:ext>
            </a:extLst>
          </p:cNvPr>
          <p:cNvSpPr>
            <a:spLocks noGrp="1"/>
          </p:cNvSpPr>
          <p:nvPr>
            <p:ph type="body" sz="quarter" idx="15" hasCustomPrompt="1"/>
          </p:nvPr>
        </p:nvSpPr>
        <p:spPr>
          <a:xfrm>
            <a:off x="397668" y="1067135"/>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Go through the steps one by one that will guide the students to the learning goal. Ensure the students are involved so that you can check for understanding.</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563943891"/>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EI) Lesson Closure">
    <p:spTree>
      <p:nvGrpSpPr>
        <p:cNvPr id="1" name=""/>
        <p:cNvGrpSpPr/>
        <p:nvPr/>
      </p:nvGrpSpPr>
      <p:grpSpPr>
        <a:xfrm>
          <a:off x="0" y="0"/>
          <a:ext cx="0" cy="0"/>
          <a:chOff x="0" y="0"/>
          <a:chExt cx="0" cy="0"/>
        </a:xfrm>
      </p:grpSpPr>
      <p:sp>
        <p:nvSpPr>
          <p:cNvPr id="10" name="Text Placeholder 37">
            <a:extLst>
              <a:ext uri="{FF2B5EF4-FFF2-40B4-BE49-F238E27FC236}">
                <a16:creationId xmlns:a16="http://schemas.microsoft.com/office/drawing/2014/main" id="{FCE3226E-4E89-B94B-8392-37AA41A2503C}"/>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11" name="TextBox 10">
            <a:extLst>
              <a:ext uri="{FF2B5EF4-FFF2-40B4-BE49-F238E27FC236}">
                <a16:creationId xmlns:a16="http://schemas.microsoft.com/office/drawing/2014/main" id="{CFD1FBC2-8B0A-054F-BD50-5A1E7715384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Lesson Closure</a:t>
            </a:r>
          </a:p>
        </p:txBody>
      </p:sp>
      <p:sp>
        <p:nvSpPr>
          <p:cNvPr id="12" name="Text Placeholder 2">
            <a:extLst>
              <a:ext uri="{FF2B5EF4-FFF2-40B4-BE49-F238E27FC236}">
                <a16:creationId xmlns:a16="http://schemas.microsoft.com/office/drawing/2014/main" id="{9ABE9B17-B75E-C845-8C05-25DEB214B5BE}"/>
              </a:ext>
            </a:extLst>
          </p:cNvPr>
          <p:cNvSpPr>
            <a:spLocks noGrp="1"/>
          </p:cNvSpPr>
          <p:nvPr>
            <p:ph type="body" sz="quarter" idx="15" hasCustomPrompt="1"/>
          </p:nvPr>
        </p:nvSpPr>
        <p:spPr>
          <a:xfrm>
            <a:off x="397668" y="999954"/>
            <a:ext cx="9077325" cy="2314576"/>
          </a:xfrm>
          <a:prstGeom prst="rect">
            <a:avLst/>
          </a:prstGeom>
        </p:spPr>
        <p:txBody>
          <a:bodyPr/>
          <a:lstStyle>
            <a:lvl1pPr marL="0" indent="0">
              <a:buNone/>
              <a:defRPr sz="2800" b="1" i="0">
                <a:latin typeface="Century Gothic" panose="020B0502020202020204" pitchFamily="34" charset="0"/>
              </a:defRPr>
            </a:lvl1pPr>
          </a:lstStyle>
          <a:p>
            <a:pPr lvl="0"/>
            <a:r>
              <a:rPr lang="en-US" dirty="0"/>
              <a:t>Have students answer questions, explain a concept, complete an equation, </a:t>
            </a:r>
            <a:r>
              <a:rPr lang="en-US" dirty="0" err="1"/>
              <a:t>etc</a:t>
            </a:r>
            <a:r>
              <a:rPr lang="en-US" dirty="0"/>
              <a:t> to show they have reached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356878865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EI) Relevanc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199EBB26-204F-A049-A589-CBB9A02C05F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Relevance</a:t>
            </a:r>
          </a:p>
        </p:txBody>
      </p:sp>
      <p:sp>
        <p:nvSpPr>
          <p:cNvPr id="21" name="TextBox 20">
            <a:extLst>
              <a:ext uri="{FF2B5EF4-FFF2-40B4-BE49-F238E27FC236}">
                <a16:creationId xmlns:a16="http://schemas.microsoft.com/office/drawing/2014/main" id="{8057D734-81AA-2049-8345-B99B4BA91645}"/>
              </a:ext>
            </a:extLst>
          </p:cNvPr>
          <p:cNvSpPr txBox="1"/>
          <p:nvPr/>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1" name="Text Placeholder 2">
            <a:extLst>
              <a:ext uri="{FF2B5EF4-FFF2-40B4-BE49-F238E27FC236}">
                <a16:creationId xmlns:a16="http://schemas.microsoft.com/office/drawing/2014/main" id="{BF86EC76-57E7-3945-83DB-9E6A331BE196}"/>
              </a:ext>
            </a:extLst>
          </p:cNvPr>
          <p:cNvSpPr>
            <a:spLocks noGrp="1"/>
          </p:cNvSpPr>
          <p:nvPr>
            <p:ph type="body" sz="quarter" idx="15" hasCustomPrompt="1"/>
          </p:nvPr>
        </p:nvSpPr>
        <p:spPr>
          <a:xfrm>
            <a:off x="397668" y="991704"/>
            <a:ext cx="9077325" cy="1971676"/>
          </a:xfrm>
          <a:prstGeom prst="rect">
            <a:avLst/>
          </a:prstGeom>
        </p:spPr>
        <p:txBody>
          <a:bodyPr/>
          <a:lstStyle>
            <a:lvl1pPr marL="0" indent="0">
              <a:buNone/>
              <a:defRPr sz="2800" b="1" i="0">
                <a:latin typeface="Century Gothic" panose="020B0502020202020204" pitchFamily="34" charset="0"/>
              </a:defRPr>
            </a:lvl1pPr>
          </a:lstStyle>
          <a:p>
            <a:pPr lvl="0"/>
            <a:r>
              <a:rPr lang="en-US" dirty="0"/>
              <a:t>Explain to the students why the learning of this content is important.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823204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EI) Learning Goal Complet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p:nvSpPr>
        <p:spPr>
          <a:xfrm>
            <a:off x="295219" y="1053881"/>
            <a:ext cx="2350999" cy="495947"/>
          </a:xfrm>
          <a:prstGeom prst="rect">
            <a:avLst/>
          </a:prstGeom>
          <a:solidFill>
            <a:srgbClr val="23566C"/>
          </a:solidFill>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3B8CC1"/>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p:nvGrpSpPr>
        <p:grpSpPr>
          <a:xfrm>
            <a:off x="3065316" y="473523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20725565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EI) Independant Practice">
    <p:spTree>
      <p:nvGrpSpPr>
        <p:cNvPr id="1" name=""/>
        <p:cNvGrpSpPr/>
        <p:nvPr/>
      </p:nvGrpSpPr>
      <p:grpSpPr>
        <a:xfrm>
          <a:off x="0" y="0"/>
          <a:ext cx="0" cy="0"/>
          <a:chOff x="0" y="0"/>
          <a:chExt cx="0" cy="0"/>
        </a:xfrm>
      </p:grpSpPr>
      <p:sp>
        <p:nvSpPr>
          <p:cNvPr id="6" name="Text Placeholder 37">
            <a:extLst>
              <a:ext uri="{FF2B5EF4-FFF2-40B4-BE49-F238E27FC236}">
                <a16:creationId xmlns:a16="http://schemas.microsoft.com/office/drawing/2014/main" id="{BA5CBAB5-B25F-4B4C-804A-AD021B9010E4}"/>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7" name="TextBox 6">
            <a:extLst>
              <a:ext uri="{FF2B5EF4-FFF2-40B4-BE49-F238E27FC236}">
                <a16:creationId xmlns:a16="http://schemas.microsoft.com/office/drawing/2014/main" id="{B7D226EA-4EBE-2F4F-B4B3-8C66D44A3FDC}"/>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Independent Practice</a:t>
            </a:r>
          </a:p>
        </p:txBody>
      </p:sp>
      <p:sp>
        <p:nvSpPr>
          <p:cNvPr id="10" name="Text Placeholder 2">
            <a:extLst>
              <a:ext uri="{FF2B5EF4-FFF2-40B4-BE49-F238E27FC236}">
                <a16:creationId xmlns:a16="http://schemas.microsoft.com/office/drawing/2014/main" id="{2F2AA107-37A0-6640-94E6-ADA5A39A9FA3}"/>
              </a:ext>
            </a:extLst>
          </p:cNvPr>
          <p:cNvSpPr>
            <a:spLocks noGrp="1"/>
          </p:cNvSpPr>
          <p:nvPr>
            <p:ph type="body" sz="quarter" idx="15" hasCustomPrompt="1"/>
          </p:nvPr>
        </p:nvSpPr>
        <p:spPr>
          <a:xfrm>
            <a:off x="397668" y="1002771"/>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Once the students have reached the learning goal create activities that have them practice the exact skill that has just been taught. This section can be differentiated.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9071090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EI)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9" y="208656"/>
            <a:ext cx="1347844" cy="515262"/>
          </a:xfrm>
          <a:prstGeom prst="rect">
            <a:avLst/>
          </a:prstGeom>
          <a:solidFill>
            <a:srgbClr val="002060"/>
          </a:solidFill>
          <a:ln>
            <a:noFill/>
          </a:ln>
        </p:spPr>
        <p:txBody>
          <a:bodyPr wrap="square" rtlCol="0" anchor="ctr">
            <a:noAutofit/>
          </a:bodyPr>
          <a:lstStyle/>
          <a:p>
            <a:r>
              <a:rPr lang="en-US" sz="2400" b="1" i="0" dirty="0">
                <a:solidFill>
                  <a:schemeClr val="accent5">
                    <a:lumMod val="40000"/>
                    <a:lumOff val="60000"/>
                  </a:schemeClr>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p:nvSpPr>
        <p:spPr>
          <a:xfrm>
            <a:off x="295218" y="723918"/>
            <a:ext cx="11577177" cy="1204895"/>
          </a:xfrm>
          <a:prstGeom prst="rect">
            <a:avLst/>
          </a:prstGeom>
          <a:solidFill>
            <a:schemeClr val="accent5">
              <a:lumMod val="40000"/>
              <a:lumOff val="60000"/>
            </a:schemeClr>
          </a:solidFill>
          <a:ln>
            <a:noFill/>
          </a:ln>
        </p:spPr>
        <p:txBody>
          <a:bodyPr wrap="square" rtlCol="0" anchor="ctr">
            <a:normAutofit/>
          </a:bodyPr>
          <a:lstStyle/>
          <a:p>
            <a:r>
              <a:rPr lang="en-US" sz="6000" b="1" i="0" dirty="0">
                <a:solidFill>
                  <a:srgbClr val="002060"/>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2649248"/>
          </a:xfrm>
          <a:prstGeom prst="rect">
            <a:avLst/>
          </a:prstGeom>
          <a:noFill/>
        </p:spPr>
        <p:txBody>
          <a:bodyPr tIns="144000" bIns="0" anchor="ctr"/>
          <a:lstStyle>
            <a:lvl1pPr marL="0" indent="0" algn="ctr">
              <a:buNone/>
              <a:defRPr sz="6000" b="1" i="0">
                <a:solidFill>
                  <a:srgbClr val="002060"/>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it into pieces</a:t>
            </a:r>
          </a:p>
        </p:txBody>
      </p:sp>
    </p:spTree>
    <p:extLst>
      <p:ext uri="{BB962C8B-B14F-4D97-AF65-F5344CB8AC3E}">
        <p14:creationId xmlns:p14="http://schemas.microsoft.com/office/powerpoint/2010/main" val="35241364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EI)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55156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59" name="Text Placeholder 5">
            <a:extLst>
              <a:ext uri="{FF2B5EF4-FFF2-40B4-BE49-F238E27FC236}">
                <a16:creationId xmlns:a16="http://schemas.microsoft.com/office/drawing/2014/main" id="{D065E96F-34B9-6940-8CF5-B5BC1E923DCB}"/>
              </a:ext>
            </a:extLst>
          </p:cNvPr>
          <p:cNvSpPr>
            <a:spLocks noGrp="1"/>
          </p:cNvSpPr>
          <p:nvPr>
            <p:ph type="body" sz="quarter" idx="21" hasCustomPrompt="1"/>
          </p:nvPr>
        </p:nvSpPr>
        <p:spPr>
          <a:xfrm>
            <a:off x="9644135" y="287950"/>
            <a:ext cx="2162572" cy="288424"/>
          </a:xfrm>
          <a:prstGeom prst="rect">
            <a:avLst/>
          </a:prstGeom>
          <a:solidFill>
            <a:schemeClr val="accent6">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Make the connection</a:t>
            </a:r>
            <a:endParaRPr lang="en-US" dirty="0"/>
          </a:p>
        </p:txBody>
      </p:sp>
      <p:sp>
        <p:nvSpPr>
          <p:cNvPr id="60" name="Text Placeholder 48">
            <a:extLst>
              <a:ext uri="{FF2B5EF4-FFF2-40B4-BE49-F238E27FC236}">
                <a16:creationId xmlns:a16="http://schemas.microsoft.com/office/drawing/2014/main" id="{74718A69-45DC-3349-AC14-1CB203717716}"/>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61" name="Text Placeholder 5">
            <a:extLst>
              <a:ext uri="{FF2B5EF4-FFF2-40B4-BE49-F238E27FC236}">
                <a16:creationId xmlns:a16="http://schemas.microsoft.com/office/drawing/2014/main" id="{E8F06128-C65E-E74D-8888-C3B0265B87E5}"/>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62" name="Text Placeholder 48">
            <a:extLst>
              <a:ext uri="{FF2B5EF4-FFF2-40B4-BE49-F238E27FC236}">
                <a16:creationId xmlns:a16="http://schemas.microsoft.com/office/drawing/2014/main" id="{9CC4C70C-1C88-8242-822E-8EB858DBE3EF}"/>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63" name="Text Placeholder 5">
            <a:extLst>
              <a:ext uri="{FF2B5EF4-FFF2-40B4-BE49-F238E27FC236}">
                <a16:creationId xmlns:a16="http://schemas.microsoft.com/office/drawing/2014/main" id="{DB394B8D-09B6-2D4C-A89A-411FA179F6B4}"/>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64" name="Text Placeholder 48">
            <a:extLst>
              <a:ext uri="{FF2B5EF4-FFF2-40B4-BE49-F238E27FC236}">
                <a16:creationId xmlns:a16="http://schemas.microsoft.com/office/drawing/2014/main" id="{9E7179FB-4670-E449-82E2-2342DFBACF6F}"/>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16784024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Content Development">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93932381-72B7-B349-BBA8-6AFEB84E18A9}"/>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F989A473-568F-E948-8378-638693483165}"/>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Content Development</a:t>
            </a:r>
          </a:p>
        </p:txBody>
      </p:sp>
      <p:sp>
        <p:nvSpPr>
          <p:cNvPr id="21" name="Text Placeholder 5">
            <a:extLst>
              <a:ext uri="{FF2B5EF4-FFF2-40B4-BE49-F238E27FC236}">
                <a16:creationId xmlns:a16="http://schemas.microsoft.com/office/drawing/2014/main" id="{578A17B0-D745-3C43-93AB-662F15D9C14B}"/>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2" name="Text Placeholder 48">
            <a:extLst>
              <a:ext uri="{FF2B5EF4-FFF2-40B4-BE49-F238E27FC236}">
                <a16:creationId xmlns:a16="http://schemas.microsoft.com/office/drawing/2014/main" id="{C5AFB84F-2B6E-D646-B782-34B1A586BAEE}"/>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23" name="Text Placeholder 5">
            <a:extLst>
              <a:ext uri="{FF2B5EF4-FFF2-40B4-BE49-F238E27FC236}">
                <a16:creationId xmlns:a16="http://schemas.microsoft.com/office/drawing/2014/main" id="{8579A7DA-1AA6-6348-9480-0ABDE8E7E869}"/>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24" name="Text Placeholder 48">
            <a:extLst>
              <a:ext uri="{FF2B5EF4-FFF2-40B4-BE49-F238E27FC236}">
                <a16:creationId xmlns:a16="http://schemas.microsoft.com/office/drawing/2014/main" id="{3DC620B8-B5B6-A546-998D-BB0D780266B1}"/>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25" name="Text Placeholder 5">
            <a:extLst>
              <a:ext uri="{FF2B5EF4-FFF2-40B4-BE49-F238E27FC236}">
                <a16:creationId xmlns:a16="http://schemas.microsoft.com/office/drawing/2014/main" id="{33D9DD79-4FA4-9441-9CD5-FD3E0E184E36}"/>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26" name="Text Placeholder 48">
            <a:extLst>
              <a:ext uri="{FF2B5EF4-FFF2-40B4-BE49-F238E27FC236}">
                <a16:creationId xmlns:a16="http://schemas.microsoft.com/office/drawing/2014/main" id="{40DC7D38-E5DA-C74E-92F3-A6FCC9CC0E70}"/>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15904603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kill Steps / Guided Practice">
    <p:spTree>
      <p:nvGrpSpPr>
        <p:cNvPr id="1" name=""/>
        <p:cNvGrpSpPr/>
        <p:nvPr/>
      </p:nvGrpSpPr>
      <p:grpSpPr>
        <a:xfrm>
          <a:off x="0" y="0"/>
          <a:ext cx="0" cy="0"/>
          <a:chOff x="0" y="0"/>
          <a:chExt cx="0" cy="0"/>
        </a:xfrm>
      </p:grpSpPr>
      <p:sp>
        <p:nvSpPr>
          <p:cNvPr id="8" name="Text Placeholder 37">
            <a:extLst>
              <a:ext uri="{FF2B5EF4-FFF2-40B4-BE49-F238E27FC236}">
                <a16:creationId xmlns:a16="http://schemas.microsoft.com/office/drawing/2014/main" id="{AA64D5DD-9491-7244-8D83-7F535F058A54}"/>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9" name="TextBox 8">
            <a:extLst>
              <a:ext uri="{FF2B5EF4-FFF2-40B4-BE49-F238E27FC236}">
                <a16:creationId xmlns:a16="http://schemas.microsoft.com/office/drawing/2014/main" id="{FEC8520F-CB36-4A45-A44F-F23C38DF455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Skill Steps / Guided Practice</a:t>
            </a:r>
          </a:p>
        </p:txBody>
      </p:sp>
      <p:sp>
        <p:nvSpPr>
          <p:cNvPr id="22" name="Text Placeholder 5">
            <a:extLst>
              <a:ext uri="{FF2B5EF4-FFF2-40B4-BE49-F238E27FC236}">
                <a16:creationId xmlns:a16="http://schemas.microsoft.com/office/drawing/2014/main" id="{6FCF9CE4-B167-C647-830E-926D9BC11CD7}"/>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3" name="Text Placeholder 48">
            <a:extLst>
              <a:ext uri="{FF2B5EF4-FFF2-40B4-BE49-F238E27FC236}">
                <a16:creationId xmlns:a16="http://schemas.microsoft.com/office/drawing/2014/main" id="{0749FB8D-5908-B440-BF2C-3B703391AAE5}"/>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24" name="Text Placeholder 5">
            <a:extLst>
              <a:ext uri="{FF2B5EF4-FFF2-40B4-BE49-F238E27FC236}">
                <a16:creationId xmlns:a16="http://schemas.microsoft.com/office/drawing/2014/main" id="{B5210779-8122-F342-AF13-26D8416493B0}"/>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25" name="Text Placeholder 48">
            <a:extLst>
              <a:ext uri="{FF2B5EF4-FFF2-40B4-BE49-F238E27FC236}">
                <a16:creationId xmlns:a16="http://schemas.microsoft.com/office/drawing/2014/main" id="{2564DDFE-656D-C84E-991A-DC05015CC956}"/>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26" name="Text Placeholder 5">
            <a:extLst>
              <a:ext uri="{FF2B5EF4-FFF2-40B4-BE49-F238E27FC236}">
                <a16:creationId xmlns:a16="http://schemas.microsoft.com/office/drawing/2014/main" id="{842EB6E0-B7AD-6C40-89B8-5521B528F9C5}"/>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27" name="Text Placeholder 48">
            <a:extLst>
              <a:ext uri="{FF2B5EF4-FFF2-40B4-BE49-F238E27FC236}">
                <a16:creationId xmlns:a16="http://schemas.microsoft.com/office/drawing/2014/main" id="{A21C2D16-2A8E-4B4B-8D58-4B389AAA67A7}"/>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35781763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kills Check">
    <p:spTree>
      <p:nvGrpSpPr>
        <p:cNvPr id="1" name=""/>
        <p:cNvGrpSpPr/>
        <p:nvPr/>
      </p:nvGrpSpPr>
      <p:grpSpPr>
        <a:xfrm>
          <a:off x="0" y="0"/>
          <a:ext cx="0" cy="0"/>
          <a:chOff x="0" y="0"/>
          <a:chExt cx="0" cy="0"/>
        </a:xfrm>
      </p:grpSpPr>
      <p:sp>
        <p:nvSpPr>
          <p:cNvPr id="10" name="Text Placeholder 37">
            <a:extLst>
              <a:ext uri="{FF2B5EF4-FFF2-40B4-BE49-F238E27FC236}">
                <a16:creationId xmlns:a16="http://schemas.microsoft.com/office/drawing/2014/main" id="{FCE3226E-4E89-B94B-8392-37AA41A2503C}"/>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11" name="TextBox 10">
            <a:extLst>
              <a:ext uri="{FF2B5EF4-FFF2-40B4-BE49-F238E27FC236}">
                <a16:creationId xmlns:a16="http://schemas.microsoft.com/office/drawing/2014/main" id="{CFD1FBC2-8B0A-054F-BD50-5A1E7715384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Skills Check</a:t>
            </a:r>
          </a:p>
        </p:txBody>
      </p:sp>
      <p:sp>
        <p:nvSpPr>
          <p:cNvPr id="24" name="Text Placeholder 5">
            <a:extLst>
              <a:ext uri="{FF2B5EF4-FFF2-40B4-BE49-F238E27FC236}">
                <a16:creationId xmlns:a16="http://schemas.microsoft.com/office/drawing/2014/main" id="{2D6AD4E2-8B86-1A42-B6B1-9794F63D2421}"/>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5" name="Text Placeholder 48">
            <a:extLst>
              <a:ext uri="{FF2B5EF4-FFF2-40B4-BE49-F238E27FC236}">
                <a16:creationId xmlns:a16="http://schemas.microsoft.com/office/drawing/2014/main" id="{3824608F-B525-2D45-9CFD-FDDDDC6F3A6B}"/>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26" name="Text Placeholder 5">
            <a:extLst>
              <a:ext uri="{FF2B5EF4-FFF2-40B4-BE49-F238E27FC236}">
                <a16:creationId xmlns:a16="http://schemas.microsoft.com/office/drawing/2014/main" id="{78FBBDF4-8B54-6D40-BB00-9DB79EE3BD87}"/>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27" name="Text Placeholder 48">
            <a:extLst>
              <a:ext uri="{FF2B5EF4-FFF2-40B4-BE49-F238E27FC236}">
                <a16:creationId xmlns:a16="http://schemas.microsoft.com/office/drawing/2014/main" id="{CF892DE4-0989-9F4F-B9B9-0D50497971BE}"/>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28" name="Text Placeholder 5">
            <a:extLst>
              <a:ext uri="{FF2B5EF4-FFF2-40B4-BE49-F238E27FC236}">
                <a16:creationId xmlns:a16="http://schemas.microsoft.com/office/drawing/2014/main" id="{504DAC59-2F1B-D344-B5E4-3DD118198D9F}"/>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29" name="Text Placeholder 48">
            <a:extLst>
              <a:ext uri="{FF2B5EF4-FFF2-40B4-BE49-F238E27FC236}">
                <a16:creationId xmlns:a16="http://schemas.microsoft.com/office/drawing/2014/main" id="{EA6CD3E8-8EA8-D643-BBB5-EB619A565567}"/>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1135128304"/>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Relevanc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199EBB26-204F-A049-A589-CBB9A02C05F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Relevance</a:t>
            </a:r>
          </a:p>
        </p:txBody>
      </p:sp>
      <p:sp>
        <p:nvSpPr>
          <p:cNvPr id="21" name="TextBox 20">
            <a:extLst>
              <a:ext uri="{FF2B5EF4-FFF2-40B4-BE49-F238E27FC236}">
                <a16:creationId xmlns:a16="http://schemas.microsoft.com/office/drawing/2014/main" id="{8057D734-81AA-2049-8345-B99B4BA91645}"/>
              </a:ext>
            </a:extLst>
          </p:cNvPr>
          <p:cNvSpPr txBox="1"/>
          <p:nvPr/>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28" name="Text Placeholder 5">
            <a:extLst>
              <a:ext uri="{FF2B5EF4-FFF2-40B4-BE49-F238E27FC236}">
                <a16:creationId xmlns:a16="http://schemas.microsoft.com/office/drawing/2014/main" id="{476A4E78-E152-CE41-A402-F83EB570A417}"/>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9" name="Text Placeholder 48">
            <a:extLst>
              <a:ext uri="{FF2B5EF4-FFF2-40B4-BE49-F238E27FC236}">
                <a16:creationId xmlns:a16="http://schemas.microsoft.com/office/drawing/2014/main" id="{BB7D38D9-00D0-E94F-A56B-68FEB60A7FFF}"/>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30" name="Text Placeholder 5">
            <a:extLst>
              <a:ext uri="{FF2B5EF4-FFF2-40B4-BE49-F238E27FC236}">
                <a16:creationId xmlns:a16="http://schemas.microsoft.com/office/drawing/2014/main" id="{75A649CF-6F35-6240-8694-7D985FF77DF1}"/>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31" name="Text Placeholder 48">
            <a:extLst>
              <a:ext uri="{FF2B5EF4-FFF2-40B4-BE49-F238E27FC236}">
                <a16:creationId xmlns:a16="http://schemas.microsoft.com/office/drawing/2014/main" id="{73A7D846-854A-F34B-A7E6-331D90F8028C}"/>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32" name="Text Placeholder 5">
            <a:extLst>
              <a:ext uri="{FF2B5EF4-FFF2-40B4-BE49-F238E27FC236}">
                <a16:creationId xmlns:a16="http://schemas.microsoft.com/office/drawing/2014/main" id="{B421E4A7-84CE-D441-9E4B-33DE3CF3ACE2}"/>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33" name="Text Placeholder 48">
            <a:extLst>
              <a:ext uri="{FF2B5EF4-FFF2-40B4-BE49-F238E27FC236}">
                <a16:creationId xmlns:a16="http://schemas.microsoft.com/office/drawing/2014/main" id="{DC7FFA7A-C37D-F846-868C-88068206D29C}"/>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2055765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Learning Goal Complet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p:nvSpPr>
        <p:spPr>
          <a:xfrm>
            <a:off x="295218" y="1053881"/>
            <a:ext cx="2572719" cy="495947"/>
          </a:xfrm>
          <a:prstGeom prst="rect">
            <a:avLst/>
          </a:prstGeom>
          <a:solidFill>
            <a:srgbClr val="23566C"/>
          </a:solidFill>
        </p:spPr>
        <p:txBody>
          <a:bodyPr wrap="square" rtlCol="0" anchor="ctr">
            <a:noAutofit/>
          </a:bodyPr>
          <a:lstStyle/>
          <a:p>
            <a:r>
              <a:rPr lang="en-US" sz="2400" b="1" dirty="0">
                <a:solidFill>
                  <a:srgbClr val="B3FFFF"/>
                </a:solidFill>
                <a:latin typeface="Futura Medium" panose="020B0602020204020303" pitchFamily="34" charset="-79"/>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3B8CC1"/>
          </a:solidFill>
        </p:spPr>
        <p:txBody>
          <a:bodyPr tIns="144000" bIns="0"/>
          <a:lstStyle>
            <a:lvl1pPr marL="0" indent="0">
              <a:buNone/>
              <a:defRPr sz="6000" b="1">
                <a:solidFill>
                  <a:schemeClr val="bg1"/>
                </a:solidFill>
                <a:latin typeface="Futura Medium" panose="020B0602020204020303" pitchFamily="34" charset="-79"/>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grpSp>
        <p:nvGrpSpPr>
          <p:cNvPr id="24" name="Group 23">
            <a:extLst>
              <a:ext uri="{FF2B5EF4-FFF2-40B4-BE49-F238E27FC236}">
                <a16:creationId xmlns:a16="http://schemas.microsoft.com/office/drawing/2014/main" id="{5BA5BEC9-826C-1A47-BE3A-FB14643A0AFC}"/>
              </a:ext>
            </a:extLst>
          </p:cNvPr>
          <p:cNvGrpSpPr/>
          <p:nvPr/>
        </p:nvGrpSpPr>
        <p:grpSpPr>
          <a:xfrm>
            <a:off x="3065316" y="473523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14430495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Independant Practice">
    <p:spTree>
      <p:nvGrpSpPr>
        <p:cNvPr id="1" name=""/>
        <p:cNvGrpSpPr/>
        <p:nvPr/>
      </p:nvGrpSpPr>
      <p:grpSpPr>
        <a:xfrm>
          <a:off x="0" y="0"/>
          <a:ext cx="0" cy="0"/>
          <a:chOff x="0" y="0"/>
          <a:chExt cx="0" cy="0"/>
        </a:xfrm>
      </p:grpSpPr>
      <p:sp>
        <p:nvSpPr>
          <p:cNvPr id="6" name="Text Placeholder 37">
            <a:extLst>
              <a:ext uri="{FF2B5EF4-FFF2-40B4-BE49-F238E27FC236}">
                <a16:creationId xmlns:a16="http://schemas.microsoft.com/office/drawing/2014/main" id="{BA5CBAB5-B25F-4B4C-804A-AD021B9010E4}"/>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7" name="TextBox 6">
            <a:extLst>
              <a:ext uri="{FF2B5EF4-FFF2-40B4-BE49-F238E27FC236}">
                <a16:creationId xmlns:a16="http://schemas.microsoft.com/office/drawing/2014/main" id="{B7D226EA-4EBE-2F4F-B4B3-8C66D44A3FDC}"/>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Independent Practice</a:t>
            </a:r>
          </a:p>
        </p:txBody>
      </p:sp>
      <p:sp>
        <p:nvSpPr>
          <p:cNvPr id="20" name="Text Placeholder 5">
            <a:extLst>
              <a:ext uri="{FF2B5EF4-FFF2-40B4-BE49-F238E27FC236}">
                <a16:creationId xmlns:a16="http://schemas.microsoft.com/office/drawing/2014/main" id="{2A7343F6-8A3F-024A-BAB1-A40A1A630C10}"/>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1" name="Text Placeholder 48">
            <a:extLst>
              <a:ext uri="{FF2B5EF4-FFF2-40B4-BE49-F238E27FC236}">
                <a16:creationId xmlns:a16="http://schemas.microsoft.com/office/drawing/2014/main" id="{81597401-FB89-084B-955C-A0C7FAB02436}"/>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22" name="Text Placeholder 5">
            <a:extLst>
              <a:ext uri="{FF2B5EF4-FFF2-40B4-BE49-F238E27FC236}">
                <a16:creationId xmlns:a16="http://schemas.microsoft.com/office/drawing/2014/main" id="{A82891C2-3E9D-4241-85E7-747B1595FB99}"/>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23" name="Text Placeholder 48">
            <a:extLst>
              <a:ext uri="{FF2B5EF4-FFF2-40B4-BE49-F238E27FC236}">
                <a16:creationId xmlns:a16="http://schemas.microsoft.com/office/drawing/2014/main" id="{8A690C59-B342-0648-BCE5-1C98B5A89AD7}"/>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24" name="Text Placeholder 5">
            <a:extLst>
              <a:ext uri="{FF2B5EF4-FFF2-40B4-BE49-F238E27FC236}">
                <a16:creationId xmlns:a16="http://schemas.microsoft.com/office/drawing/2014/main" id="{17B4E049-9FD5-E24B-B3BE-5C09B449C3F6}"/>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25" name="Text Placeholder 48">
            <a:extLst>
              <a:ext uri="{FF2B5EF4-FFF2-40B4-BE49-F238E27FC236}">
                <a16:creationId xmlns:a16="http://schemas.microsoft.com/office/drawing/2014/main" id="{5E376940-61D8-D142-9880-9EE380DE8579}"/>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22323396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R) Daily Edit">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941955"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Daily Starter</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2237173" y="224237"/>
            <a:ext cx="9635222" cy="499682"/>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Sit down and begin this task immediately.</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76114299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R) Icebreake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941955"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Icebreaker</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2237173" y="224237"/>
            <a:ext cx="9635222" cy="499682"/>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Before we begin the lesson…</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7767689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DR) Icebreake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941955"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Wrap-up</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2237173" y="224237"/>
            <a:ext cx="9635222" cy="499682"/>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Before we go…</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21053185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R) Daily Edit Titl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D253E48-F01A-C040-9F45-1F9C5FDF10AA}"/>
              </a:ext>
            </a:extLst>
          </p:cNvPr>
          <p:cNvSpPr/>
          <p:nvPr userDrawn="1"/>
        </p:nvSpPr>
        <p:spPr>
          <a:xfrm>
            <a:off x="295219" y="1549400"/>
            <a:ext cx="11578126" cy="2929609"/>
          </a:xfrm>
          <a:prstGeom prst="rect">
            <a:avLst/>
          </a:prstGeom>
          <a:solidFill>
            <a:srgbClr val="A149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sz="7200" b="1" i="0" dirty="0">
                <a:latin typeface="Century Gothic" panose="020B0502020202020204" pitchFamily="34" charset="0"/>
              </a:rPr>
              <a:t>Reviewing what we know</a:t>
            </a:r>
          </a:p>
        </p:txBody>
      </p:sp>
      <p:sp>
        <p:nvSpPr>
          <p:cNvPr id="5" name="TextBox 4">
            <a:extLst>
              <a:ext uri="{FF2B5EF4-FFF2-40B4-BE49-F238E27FC236}">
                <a16:creationId xmlns:a16="http://schemas.microsoft.com/office/drawing/2014/main" id="{3BD815F0-1745-0C4E-A5DC-70E741C78081}"/>
              </a:ext>
            </a:extLst>
          </p:cNvPr>
          <p:cNvSpPr txBox="1"/>
          <p:nvPr userDrawn="1"/>
        </p:nvSpPr>
        <p:spPr>
          <a:xfrm>
            <a:off x="295218" y="1011383"/>
            <a:ext cx="2106787" cy="538446"/>
          </a:xfrm>
          <a:prstGeom prst="rect">
            <a:avLst/>
          </a:prstGeom>
          <a:solidFill>
            <a:srgbClr val="4C223F"/>
          </a:solidFill>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Daily Review</a:t>
            </a:r>
          </a:p>
        </p:txBody>
      </p:sp>
    </p:spTree>
    <p:extLst>
      <p:ext uri="{BB962C8B-B14F-4D97-AF65-F5344CB8AC3E}">
        <p14:creationId xmlns:p14="http://schemas.microsoft.com/office/powerpoint/2010/main" val="34650356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R)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A14986"/>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137463345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R)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16018"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A14986"/>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3960112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R)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71437"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A14986"/>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340085958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R)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9" y="208656"/>
            <a:ext cx="1347844" cy="515262"/>
          </a:xfrm>
          <a:prstGeom prst="rect">
            <a:avLst/>
          </a:prstGeom>
          <a:solidFill>
            <a:srgbClr val="4C223F"/>
          </a:solidFill>
          <a:ln>
            <a:noFill/>
          </a:ln>
        </p:spPr>
        <p:txBody>
          <a:bodyPr wrap="square" rtlCol="0" anchor="ctr">
            <a:noAutofit/>
          </a:bodyPr>
          <a:lstStyle/>
          <a:p>
            <a:r>
              <a:rPr lang="en-US" sz="2400" b="1" i="0" dirty="0">
                <a:solidFill>
                  <a:schemeClr val="accent5">
                    <a:lumMod val="40000"/>
                    <a:lumOff val="60000"/>
                  </a:schemeClr>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723918"/>
            <a:ext cx="11577177" cy="1204895"/>
          </a:xfrm>
          <a:prstGeom prst="rect">
            <a:avLst/>
          </a:prstGeom>
          <a:solidFill>
            <a:srgbClr val="FFB6F2"/>
          </a:solidFill>
          <a:ln>
            <a:noFill/>
          </a:ln>
        </p:spPr>
        <p:txBody>
          <a:bodyPr wrap="square" rtlCol="0" anchor="ctr">
            <a:normAutofit/>
          </a:bodyPr>
          <a:lstStyle/>
          <a:p>
            <a:pPr marL="0" indent="0">
              <a:tabLst>
                <a:tab pos="3597275" algn="l"/>
              </a:tabLst>
            </a:pPr>
            <a:r>
              <a:rPr lang="en-US" sz="6000" b="1" i="0" dirty="0">
                <a:solidFill>
                  <a:srgbClr val="4C223F"/>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2649248"/>
          </a:xfrm>
          <a:prstGeom prst="rect">
            <a:avLst/>
          </a:prstGeom>
          <a:noFill/>
        </p:spPr>
        <p:txBody>
          <a:bodyPr tIns="144000" bIns="0" anchor="ctr"/>
          <a:lstStyle>
            <a:lvl1pPr marL="0" indent="0" algn="ctr">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it into pieces</a:t>
            </a:r>
          </a:p>
        </p:txBody>
      </p:sp>
    </p:spTree>
    <p:extLst>
      <p:ext uri="{BB962C8B-B14F-4D97-AF65-F5344CB8AC3E}">
        <p14:creationId xmlns:p14="http://schemas.microsoft.com/office/powerpoint/2010/main" val="270073193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R) Hyper-speed Recite">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A14986"/>
          </a:solidFill>
        </p:spPr>
        <p:txBody>
          <a:bodyPr wrap="square" rtlCol="0" anchor="ctr">
            <a:noAutofit/>
          </a:bodyPr>
          <a:lstStyle/>
          <a:p>
            <a:pPr algn="ctr"/>
            <a:r>
              <a:rPr lang="en-US" sz="2000" b="1" i="0" dirty="0">
                <a:solidFill>
                  <a:srgbClr val="FFB6F2"/>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square" rtlCol="0" anchor="ctr">
            <a:normAutofit fontScale="25000" lnSpcReduction="20000"/>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25002" y="629514"/>
            <a:ext cx="5504743"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25002" y="1772516"/>
            <a:ext cx="5504744"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2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25002" y="2922543"/>
            <a:ext cx="5504744"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25002" y="4072570"/>
            <a:ext cx="5504744"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25002" y="5201522"/>
            <a:ext cx="5504744"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364368368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R) Hyper-speed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A14986"/>
          </a:solidFill>
        </p:spPr>
        <p:txBody>
          <a:bodyPr wrap="square" rtlCol="0" anchor="ctr">
            <a:noAutofit/>
          </a:bodyPr>
          <a:lstStyle/>
          <a:p>
            <a:pPr algn="ctr"/>
            <a:r>
              <a:rPr lang="en-US" sz="2000" b="1" i="0" dirty="0">
                <a:solidFill>
                  <a:srgbClr val="FFB6F2"/>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rgbClr val="A14986"/>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solidFill>
                <a:srgbClr val="A14986"/>
              </a:solidFill>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63638" y="629514"/>
            <a:ext cx="5466107"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63638" y="1772516"/>
            <a:ext cx="5466108"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2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63638" y="2915518"/>
            <a:ext cx="546827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63638" y="4058520"/>
            <a:ext cx="546827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63638" y="5201522"/>
            <a:ext cx="5466108"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2307647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cTn>
              </p:par>
            </p:tnLst>
          </p:tmpl>
        </p:tmplLst>
      </p:bldP>
      <p:bldP spid="12" grpId="0" build="p">
        <p:tmplLst>
          <p:tmpl lvl="1">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Lst>
      </p:bldP>
      <p:bldP spid="13" grpId="0" build="p">
        <p:tmplLst>
          <p:tmpl lvl="1">
            <p:tnLst>
              <p:par>
                <p:cTn presetID="1" presetClass="entr" presetSubtype="0" fill="hold" nodeType="clickEffect">
                  <p:stCondLst>
                    <p:cond delay="0"/>
                  </p:stCondLst>
                  <p:childTnLst>
                    <p:set>
                      <p:cBhvr>
                        <p:cTn dur="1" fill="hold">
                          <p:stCondLst>
                            <p:cond delay="0"/>
                          </p:stCondLst>
                        </p:cTn>
                        <p:tgtEl>
                          <p:spTgt spid="13"/>
                        </p:tgtEl>
                        <p:attrNameLst>
                          <p:attrName>style.visibility</p:attrName>
                        </p:attrNameLst>
                      </p:cBhvr>
                      <p:to>
                        <p:strVal val="visible"/>
                      </p:to>
                    </p:set>
                  </p:childTnLst>
                </p:cTn>
              </p:par>
            </p:tnLst>
          </p:tmpl>
        </p:tmplLst>
      </p:bldP>
      <p:bldP spid="14" grpId="0" build="p">
        <p:tmplLst>
          <p:tmpl lvl="1">
            <p:tnLst>
              <p:par>
                <p:cTn presetID="1" presetClass="entr" presetSubtype="0" fill="hold" nodeType="clickEffect">
                  <p:stCondLst>
                    <p:cond delay="0"/>
                  </p:stCondLst>
                  <p:childTnLst>
                    <p:set>
                      <p:cBhvr>
                        <p:cTn dur="1" fill="hold">
                          <p:stCondLst>
                            <p:cond delay="0"/>
                          </p:stCondLst>
                        </p:cTn>
                        <p:tgtEl>
                          <p:spTgt spid="14"/>
                        </p:tgtEl>
                        <p:attrNameLst>
                          <p:attrName>style.visibility</p:attrName>
                        </p:attrNameLst>
                      </p:cBhvr>
                      <p:to>
                        <p:strVal val="visible"/>
                      </p:to>
                    </p:set>
                  </p:childTnLst>
                </p:cTn>
              </p:par>
            </p:tnLst>
          </p:tmpl>
        </p:tmplLst>
      </p:bldP>
      <p:bldP spid="15" grpId="0" build="p">
        <p:tmplLst>
          <p:tmpl lvl="1">
            <p:tnLst>
              <p:par>
                <p:cTn presetID="1" presetClass="entr" presetSubtype="0" fill="hold" nodeType="clickEffect">
                  <p:stCondLst>
                    <p:cond delay="0"/>
                  </p:stCondLst>
                  <p:childTnLst>
                    <p:set>
                      <p:cBhvr>
                        <p:cTn dur="1" fill="hold">
                          <p:stCondLst>
                            <p:cond delay="0"/>
                          </p:stCondLst>
                        </p:cTn>
                        <p:tgtEl>
                          <p:spTgt spid="15"/>
                        </p:tgtEl>
                        <p:attrNameLst>
                          <p:attrName>style.visibility</p:attrName>
                        </p:attrNameLst>
                      </p:cBhvr>
                      <p:to>
                        <p:strVal val="visible"/>
                      </p:to>
                    </p:set>
                  </p:childTnLst>
                </p:cTn>
              </p:par>
            </p:tnLst>
          </p:tmpl>
        </p:tmplLst>
      </p:bldP>
      <p:bldP spid="16" grpId="0" build="p">
        <p:tmplLst>
          <p:tmpl lvl="1">
            <p:tnLst>
              <p:par>
                <p:cTn presetID="1" presetClass="entr" presetSubtype="0" fill="hold" nodeType="clickEffect">
                  <p:stCondLst>
                    <p:cond delay="0"/>
                  </p:stCondLst>
                  <p:childTnLst>
                    <p:set>
                      <p:cBhvr>
                        <p:cTn dur="1" fill="hold">
                          <p:stCondLst>
                            <p:cond delay="0"/>
                          </p:stCondLst>
                        </p:cTn>
                        <p:tgtEl>
                          <p:spTgt spid="16"/>
                        </p:tgtEl>
                        <p:attrNameLst>
                          <p:attrName>style.visibility</p:attrName>
                        </p:attrNameLst>
                      </p:cBhvr>
                      <p:to>
                        <p:strVal val="visible"/>
                      </p:to>
                    </p:set>
                  </p:childTnLst>
                </p:cTn>
              </p:par>
            </p:tnLst>
          </p:tmpl>
        </p:tmplLst>
      </p:bldP>
      <p:bldP spid="17" grpId="0" build="p">
        <p:tmplLst>
          <p:tmpl lvl="1">
            <p:tnLst>
              <p:par>
                <p:cTn presetID="1" presetClass="entr" presetSubtype="0" fill="hold" nodeType="clickEffect">
                  <p:stCondLst>
                    <p:cond delay="0"/>
                  </p:stCondLst>
                  <p:childTnLst>
                    <p:set>
                      <p:cBhvr>
                        <p:cTn dur="1" fill="hold">
                          <p:stCondLst>
                            <p:cond delay="0"/>
                          </p:stCondLst>
                        </p:cTn>
                        <p:tgtEl>
                          <p:spTgt spid="17"/>
                        </p:tgtEl>
                        <p:attrNameLst>
                          <p:attrName>style.visibility</p:attrName>
                        </p:attrNameLst>
                      </p:cBhvr>
                      <p:to>
                        <p:strVal val="visible"/>
                      </p:to>
                    </p:set>
                  </p:childTnLst>
                </p:cTn>
              </p:par>
            </p:tnLst>
          </p:tmpl>
        </p:tmplLst>
      </p:bldP>
      <p:bldP spid="18" grpId="0" build="p">
        <p:tmplLst>
          <p:tmpl lvl="1">
            <p:tnLst>
              <p:par>
                <p:cTn presetID="1" presetClass="entr" presetSubtype="0" fill="hold" nodeType="clickEffect">
                  <p:stCondLst>
                    <p:cond delay="0"/>
                  </p:stCondLst>
                  <p:childTnLst>
                    <p:set>
                      <p:cBhvr>
                        <p:cTn dur="1" fill="hold">
                          <p:stCondLst>
                            <p:cond delay="0"/>
                          </p:stCondLst>
                        </p:cTn>
                        <p:tgtEl>
                          <p:spTgt spid="18"/>
                        </p:tgtEl>
                        <p:attrNameLst>
                          <p:attrName>style.visibility</p:attrName>
                        </p:attrNameLst>
                      </p:cBhvr>
                      <p:to>
                        <p:strVal val="visible"/>
                      </p:to>
                    </p:set>
                  </p:childTnLst>
                </p:cTn>
              </p:par>
            </p:tnLst>
          </p:tmpl>
        </p:tmplLst>
      </p:bldP>
      <p:bldP spid="19" grpId="0" build="p">
        <p:tmplLst>
          <p:tmpl lvl="1">
            <p:tnLst>
              <p:par>
                <p:cTn presetID="1" presetClass="entr" presetSubtype="0" fill="hold" nodeType="clickEffect">
                  <p:stCondLst>
                    <p:cond delay="0"/>
                  </p:stCondLst>
                  <p:childTnLst>
                    <p:set>
                      <p:cBhvr>
                        <p:cTn dur="1" fill="hold">
                          <p:stCondLst>
                            <p:cond delay="0"/>
                          </p:stCondLst>
                        </p:cTn>
                        <p:tgtEl>
                          <p:spTgt spid="19"/>
                        </p:tgtEl>
                        <p:attrNameLst>
                          <p:attrName>style.visibility</p:attrName>
                        </p:attrNameLst>
                      </p:cBhvr>
                      <p:to>
                        <p:strVal val="visible"/>
                      </p:to>
                    </p:set>
                  </p:childTnLst>
                </p:cTn>
              </p:par>
            </p:tnLst>
          </p:tmpl>
        </p:tmplLst>
      </p:bldP>
      <p:bldP spid="20" grpId="0" build="p">
        <p:tmplLst>
          <p:tmpl lvl="1">
            <p:tnLst>
              <p:par>
                <p:cTn presetID="1" presetClass="entr" presetSubtype="0" fill="hold" nodeType="clickEffect">
                  <p:stCondLst>
                    <p:cond delay="0"/>
                  </p:stCondLst>
                  <p:childTnLst>
                    <p:set>
                      <p:cBhvr>
                        <p:cTn dur="1" fill="hold">
                          <p:stCondLst>
                            <p:cond delay="0"/>
                          </p:stCondLst>
                        </p:cTn>
                        <p:tgtEl>
                          <p:spTgt spid="20"/>
                        </p:tgtEl>
                        <p:attrNameLst>
                          <p:attrName>style.visibility</p:attrName>
                        </p:attrNameLst>
                      </p:cBhvr>
                      <p:to>
                        <p:strVal val="visible"/>
                      </p:to>
                    </p:set>
                  </p:childTnLst>
                </p:cTn>
              </p:par>
            </p:tnLst>
          </p:tmpl>
        </p:tmplLst>
      </p:bldP>
    </p:bld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R) Recite">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06066"/>
            <a:ext cx="1533525" cy="352426"/>
          </a:xfrm>
          <a:prstGeom prst="rect">
            <a:avLst/>
          </a:prstGeom>
          <a:solidFill>
            <a:srgbClr val="4C223F"/>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Recite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58432"/>
            <a:ext cx="8954305" cy="1914525"/>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Go over the steps they already know from this unit, or from relevant prior knowledge.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68080639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R)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19714"/>
            <a:ext cx="1533525" cy="352426"/>
          </a:xfrm>
          <a:prstGeom prst="rect">
            <a:avLst/>
          </a:prstGeom>
          <a:solidFill>
            <a:srgbClr val="4C223F"/>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Recall</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84190"/>
            <a:ext cx="8954305" cy="1900238"/>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Practicing the steps they already know together. This should be guided practice.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282055870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R) Apply">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19714"/>
            <a:ext cx="1533525" cy="352426"/>
          </a:xfrm>
          <a:prstGeom prst="rect">
            <a:avLst/>
          </a:prstGeom>
          <a:solidFill>
            <a:srgbClr val="4C223F"/>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Apply</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85599"/>
            <a:ext cx="8954305" cy="1985962"/>
          </a:xfrm>
          <a:prstGeom prst="rect">
            <a:avLst/>
          </a:prstGeom>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Quickly check that all students can still complete the previous steps learnt.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277721550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DR)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8123062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US"/>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B61BEF0D-F0BB-DE4B-95CE-6DB70DBA9567}" type="datetimeFigureOut">
              <a:rPr lang="en-US" smtClean="0"/>
              <a:pPr/>
              <a:t>2/21/22</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4272889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VS) Word List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D253E48-F01A-C040-9F45-1F9C5FDF10AA}"/>
              </a:ext>
            </a:extLst>
          </p:cNvPr>
          <p:cNvSpPr/>
          <p:nvPr userDrawn="1"/>
        </p:nvSpPr>
        <p:spPr>
          <a:xfrm>
            <a:off x="295219" y="208446"/>
            <a:ext cx="11578126" cy="1322388"/>
          </a:xfrm>
          <a:prstGeom prst="rect">
            <a:avLst/>
          </a:prstGeom>
          <a:solidFill>
            <a:srgbClr val="4799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en-US" sz="7200" b="1" i="0" dirty="0">
                <a:latin typeface="Century Gothic" panose="020B0502020202020204" pitchFamily="34" charset="0"/>
              </a:rPr>
              <a:t>   Vocabulary &amp; Spelling</a:t>
            </a:r>
          </a:p>
        </p:txBody>
      </p:sp>
      <p:cxnSp>
        <p:nvCxnSpPr>
          <p:cNvPr id="3" name="Straight Connector 2">
            <a:extLst>
              <a:ext uri="{FF2B5EF4-FFF2-40B4-BE49-F238E27FC236}">
                <a16:creationId xmlns:a16="http://schemas.microsoft.com/office/drawing/2014/main" id="{5AD15892-5882-3341-B706-D64E5ABBDC96}"/>
              </a:ext>
            </a:extLst>
          </p:cNvPr>
          <p:cNvCxnSpPr/>
          <p:nvPr userDrawn="1"/>
        </p:nvCxnSpPr>
        <p:spPr>
          <a:xfrm>
            <a:off x="6084282" y="1771650"/>
            <a:ext cx="0" cy="4572000"/>
          </a:xfrm>
          <a:prstGeom prst="line">
            <a:avLst/>
          </a:prstGeom>
          <a:ln w="28575">
            <a:solidFill>
              <a:srgbClr val="47998B"/>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0EAD6347-1222-7C40-97CD-5685C7FBB93B}"/>
              </a:ext>
            </a:extLst>
          </p:cNvPr>
          <p:cNvSpPr txBox="1"/>
          <p:nvPr userDrawn="1"/>
        </p:nvSpPr>
        <p:spPr>
          <a:xfrm>
            <a:off x="295219" y="1564481"/>
            <a:ext cx="5789063" cy="523220"/>
          </a:xfrm>
          <a:prstGeom prst="rect">
            <a:avLst/>
          </a:prstGeom>
          <a:noFill/>
        </p:spPr>
        <p:txBody>
          <a:bodyPr wrap="square" rtlCol="0">
            <a:spAutoFit/>
          </a:bodyPr>
          <a:lstStyle/>
          <a:p>
            <a:pPr algn="ctr"/>
            <a:r>
              <a:rPr lang="en-US" sz="2800" b="1" dirty="0">
                <a:solidFill>
                  <a:srgbClr val="1F443E"/>
                </a:solidFill>
              </a:rPr>
              <a:t>Practice Words</a:t>
            </a:r>
          </a:p>
        </p:txBody>
      </p:sp>
      <p:sp>
        <p:nvSpPr>
          <p:cNvPr id="8" name="TextBox 7">
            <a:extLst>
              <a:ext uri="{FF2B5EF4-FFF2-40B4-BE49-F238E27FC236}">
                <a16:creationId xmlns:a16="http://schemas.microsoft.com/office/drawing/2014/main" id="{DFC75BB7-22FA-3044-BE33-24527B15C19C}"/>
              </a:ext>
            </a:extLst>
          </p:cNvPr>
          <p:cNvSpPr txBox="1"/>
          <p:nvPr userDrawn="1"/>
        </p:nvSpPr>
        <p:spPr>
          <a:xfrm>
            <a:off x="6084282" y="1573349"/>
            <a:ext cx="5789063" cy="523220"/>
          </a:xfrm>
          <a:prstGeom prst="rect">
            <a:avLst/>
          </a:prstGeom>
          <a:noFill/>
        </p:spPr>
        <p:txBody>
          <a:bodyPr wrap="square" rtlCol="0">
            <a:spAutoFit/>
          </a:bodyPr>
          <a:lstStyle/>
          <a:p>
            <a:pPr algn="ctr"/>
            <a:r>
              <a:rPr lang="en-US" sz="2800" b="1" dirty="0">
                <a:solidFill>
                  <a:srgbClr val="1F443E"/>
                </a:solidFill>
              </a:rPr>
              <a:t>New Words</a:t>
            </a:r>
          </a:p>
        </p:txBody>
      </p:sp>
      <p:sp>
        <p:nvSpPr>
          <p:cNvPr id="10" name="Text Placeholder 9">
            <a:extLst>
              <a:ext uri="{FF2B5EF4-FFF2-40B4-BE49-F238E27FC236}">
                <a16:creationId xmlns:a16="http://schemas.microsoft.com/office/drawing/2014/main" id="{67D1519D-3B3A-A443-9C33-32137A836131}"/>
              </a:ext>
            </a:extLst>
          </p:cNvPr>
          <p:cNvSpPr>
            <a:spLocks noGrp="1"/>
          </p:cNvSpPr>
          <p:nvPr>
            <p:ph type="body" sz="quarter" idx="10" hasCustomPrompt="1"/>
          </p:nvPr>
        </p:nvSpPr>
        <p:spPr>
          <a:xfrm>
            <a:off x="295275" y="2457450"/>
            <a:ext cx="5789613" cy="4171950"/>
          </a:xfrm>
          <a:prstGeom prst="rect">
            <a:avLst/>
          </a:prstGeom>
        </p:spPr>
        <p:txBody>
          <a:bodyPr/>
          <a:lstStyle>
            <a:lvl1pPr marL="457200" indent="-457200">
              <a:buFont typeface="Arial" panose="020B0604020202020204" pitchFamily="34" charset="0"/>
              <a:buChar char="•"/>
              <a:defRPr b="1"/>
            </a:lvl1pPr>
            <a:lvl2pPr>
              <a:defRPr b="1"/>
            </a:lvl2pPr>
            <a:lvl3pPr>
              <a:defRPr b="1"/>
            </a:lvl3pPr>
            <a:lvl4pPr>
              <a:defRPr b="1"/>
            </a:lvl4pPr>
            <a:lvl5pPr>
              <a:defRPr b="1"/>
            </a:lvl5pPr>
          </a:lstStyle>
          <a:p>
            <a:pPr lvl="0"/>
            <a:r>
              <a:rPr lang="en-US" dirty="0"/>
              <a:t>Add known words for hyper-speed practice</a:t>
            </a:r>
          </a:p>
        </p:txBody>
      </p:sp>
      <p:sp>
        <p:nvSpPr>
          <p:cNvPr id="11" name="Text Placeholder 9">
            <a:extLst>
              <a:ext uri="{FF2B5EF4-FFF2-40B4-BE49-F238E27FC236}">
                <a16:creationId xmlns:a16="http://schemas.microsoft.com/office/drawing/2014/main" id="{3843A533-E319-DD4D-BFA7-5A1FB929CA5C}"/>
              </a:ext>
            </a:extLst>
          </p:cNvPr>
          <p:cNvSpPr>
            <a:spLocks noGrp="1"/>
          </p:cNvSpPr>
          <p:nvPr>
            <p:ph type="body" sz="quarter" idx="11" hasCustomPrompt="1"/>
          </p:nvPr>
        </p:nvSpPr>
        <p:spPr>
          <a:xfrm>
            <a:off x="6083732" y="2466318"/>
            <a:ext cx="5789613" cy="4171950"/>
          </a:xfrm>
          <a:prstGeom prst="rect">
            <a:avLst/>
          </a:prstGeom>
        </p:spPr>
        <p:txBody>
          <a:bodyPr/>
          <a:lstStyle>
            <a:lvl1pPr marL="457200" indent="-457200">
              <a:buFont typeface="Arial" panose="020B0604020202020204" pitchFamily="34" charset="0"/>
              <a:buChar char="•"/>
              <a:defRPr b="1"/>
            </a:lvl1pPr>
            <a:lvl2pPr>
              <a:defRPr b="1"/>
            </a:lvl2pPr>
            <a:lvl3pPr>
              <a:defRPr b="1"/>
            </a:lvl3pPr>
            <a:lvl4pPr>
              <a:defRPr b="1"/>
            </a:lvl4pPr>
            <a:lvl5pPr>
              <a:defRPr b="1"/>
            </a:lvl5pPr>
          </a:lstStyle>
          <a:p>
            <a:pPr lvl="0"/>
            <a:r>
              <a:rPr lang="en-US" dirty="0"/>
              <a:t>Add new words for learning definitions and spelling</a:t>
            </a:r>
          </a:p>
        </p:txBody>
      </p:sp>
    </p:spTree>
    <p:extLst>
      <p:ext uri="{BB962C8B-B14F-4D97-AF65-F5344CB8AC3E}">
        <p14:creationId xmlns:p14="http://schemas.microsoft.com/office/powerpoint/2010/main" val="242144716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VS)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1F443E"/>
          </a:solidFill>
          <a:ln>
            <a:noFill/>
          </a:ln>
        </p:spPr>
        <p:txBody>
          <a:bodyPr wrap="square" rtlCol="0" anchor="ctr">
            <a:noAutofit/>
          </a:bodyPr>
          <a:lstStyle/>
          <a:p>
            <a:r>
              <a:rPr lang="en-US" sz="2400" b="1" i="0" dirty="0">
                <a:solidFill>
                  <a:srgbClr val="C1FFE1"/>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C1FFE1"/>
          </a:solidFill>
          <a:ln>
            <a:noFill/>
          </a:ln>
        </p:spPr>
        <p:txBody>
          <a:bodyPr wrap="square" rtlCol="0" anchor="ctr">
            <a:normAutofit/>
          </a:bodyPr>
          <a:lstStyle/>
          <a:p>
            <a:r>
              <a:rPr lang="en-US" sz="2400" b="1" i="0" dirty="0">
                <a:solidFill>
                  <a:srgbClr val="1F443E"/>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47998B"/>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134089652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VS)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16018" cy="515262"/>
          </a:xfrm>
          <a:prstGeom prst="rect">
            <a:avLst/>
          </a:prstGeom>
          <a:solidFill>
            <a:srgbClr val="1F443E"/>
          </a:solidFill>
          <a:ln>
            <a:noFill/>
          </a:ln>
        </p:spPr>
        <p:txBody>
          <a:bodyPr wrap="square" rtlCol="0" anchor="ctr">
            <a:noAutofit/>
          </a:bodyPr>
          <a:lstStyle/>
          <a:p>
            <a:r>
              <a:rPr lang="en-US" sz="2400" b="1" i="0" dirty="0">
                <a:solidFill>
                  <a:srgbClr val="C1FFE1"/>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47998B"/>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C1FFE1"/>
          </a:solidFill>
          <a:ln>
            <a:noFill/>
          </a:ln>
        </p:spPr>
        <p:txBody>
          <a:bodyPr wrap="square" rtlCol="0" anchor="ctr">
            <a:normAutofit/>
          </a:bodyPr>
          <a:lstStyle/>
          <a:p>
            <a:r>
              <a:rPr lang="en-US" sz="2400" b="1" i="0" dirty="0">
                <a:solidFill>
                  <a:srgbClr val="1F443E"/>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135105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VS)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71437" cy="515262"/>
          </a:xfrm>
          <a:prstGeom prst="rect">
            <a:avLst/>
          </a:prstGeom>
          <a:solidFill>
            <a:srgbClr val="1F443E"/>
          </a:solidFill>
          <a:ln>
            <a:noFill/>
          </a:ln>
        </p:spPr>
        <p:txBody>
          <a:bodyPr wrap="square" rtlCol="0" anchor="ctr">
            <a:noAutofit/>
          </a:bodyPr>
          <a:lstStyle/>
          <a:p>
            <a:r>
              <a:rPr lang="en-US" sz="2400" b="1" i="0" dirty="0">
                <a:solidFill>
                  <a:srgbClr val="C1FFE1"/>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C1FFE1"/>
          </a:solidFill>
          <a:ln>
            <a:noFill/>
          </a:ln>
        </p:spPr>
        <p:txBody>
          <a:bodyPr wrap="square" rtlCol="0" anchor="ctr">
            <a:normAutofit/>
          </a:bodyPr>
          <a:lstStyle/>
          <a:p>
            <a:r>
              <a:rPr lang="en-US" sz="2400" b="1" i="0" dirty="0">
                <a:solidFill>
                  <a:srgbClr val="1F443E"/>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47998B"/>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340451122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VS) Hyper-speed Recite">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1F443E"/>
          </a:solidFill>
        </p:spPr>
        <p:txBody>
          <a:bodyPr wrap="square" rtlCol="0" anchor="ctr">
            <a:noAutofit/>
          </a:bodyPr>
          <a:lstStyle/>
          <a:p>
            <a:pPr algn="ctr"/>
            <a:r>
              <a:rPr lang="en-US" sz="2000" b="1" i="0" dirty="0">
                <a:solidFill>
                  <a:srgbClr val="C1FFE1"/>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37882" y="629514"/>
            <a:ext cx="549186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37882" y="1772516"/>
            <a:ext cx="549186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2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37882" y="2915518"/>
            <a:ext cx="5494030"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37882" y="4058520"/>
            <a:ext cx="5494030"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37882" y="5201522"/>
            <a:ext cx="549186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331218264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VS) Hyper-speed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1F443E"/>
          </a:solidFill>
        </p:spPr>
        <p:txBody>
          <a:bodyPr wrap="square" rtlCol="0" anchor="ctr">
            <a:noAutofit/>
          </a:bodyPr>
          <a:lstStyle/>
          <a:p>
            <a:pPr algn="ctr"/>
            <a:r>
              <a:rPr lang="en-US" sz="2000" b="1" i="0" dirty="0">
                <a:solidFill>
                  <a:srgbClr val="C1FFE1"/>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89396" y="629514"/>
            <a:ext cx="5440349"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89396" y="1772516"/>
            <a:ext cx="5440350"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1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89396" y="2915518"/>
            <a:ext cx="5442516"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89396" y="4058520"/>
            <a:ext cx="5442516"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89396" y="5201522"/>
            <a:ext cx="5440350"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2086947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cTn>
              </p:par>
            </p:tnLst>
          </p:tmpl>
        </p:tmplLst>
      </p:bldP>
      <p:bldP spid="12" grpId="0" build="p">
        <p:tmplLst>
          <p:tmpl lvl="1">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Lst>
      </p:bldP>
      <p:bldP spid="13" grpId="0" build="p">
        <p:tmplLst>
          <p:tmpl lvl="1">
            <p:tnLst>
              <p:par>
                <p:cTn presetID="1" presetClass="entr" presetSubtype="0" fill="hold" nodeType="clickEffect">
                  <p:stCondLst>
                    <p:cond delay="0"/>
                  </p:stCondLst>
                  <p:childTnLst>
                    <p:set>
                      <p:cBhvr>
                        <p:cTn dur="1" fill="hold">
                          <p:stCondLst>
                            <p:cond delay="0"/>
                          </p:stCondLst>
                        </p:cTn>
                        <p:tgtEl>
                          <p:spTgt spid="13"/>
                        </p:tgtEl>
                        <p:attrNameLst>
                          <p:attrName>style.visibility</p:attrName>
                        </p:attrNameLst>
                      </p:cBhvr>
                      <p:to>
                        <p:strVal val="visible"/>
                      </p:to>
                    </p:set>
                  </p:childTnLst>
                </p:cTn>
              </p:par>
            </p:tnLst>
          </p:tmpl>
        </p:tmplLst>
      </p:bldP>
      <p:bldP spid="14" grpId="0" build="p">
        <p:tmplLst>
          <p:tmpl lvl="1">
            <p:tnLst>
              <p:par>
                <p:cTn presetID="1" presetClass="entr" presetSubtype="0" fill="hold" nodeType="clickEffect">
                  <p:stCondLst>
                    <p:cond delay="0"/>
                  </p:stCondLst>
                  <p:childTnLst>
                    <p:set>
                      <p:cBhvr>
                        <p:cTn dur="1" fill="hold">
                          <p:stCondLst>
                            <p:cond delay="0"/>
                          </p:stCondLst>
                        </p:cTn>
                        <p:tgtEl>
                          <p:spTgt spid="14"/>
                        </p:tgtEl>
                        <p:attrNameLst>
                          <p:attrName>style.visibility</p:attrName>
                        </p:attrNameLst>
                      </p:cBhvr>
                      <p:to>
                        <p:strVal val="visible"/>
                      </p:to>
                    </p:set>
                  </p:childTnLst>
                </p:cTn>
              </p:par>
            </p:tnLst>
          </p:tmpl>
        </p:tmplLst>
      </p:bldP>
      <p:bldP spid="15" grpId="0" build="p">
        <p:tmplLst>
          <p:tmpl lvl="1">
            <p:tnLst>
              <p:par>
                <p:cTn presetID="1" presetClass="entr" presetSubtype="0" fill="hold" nodeType="clickEffect">
                  <p:stCondLst>
                    <p:cond delay="0"/>
                  </p:stCondLst>
                  <p:childTnLst>
                    <p:set>
                      <p:cBhvr>
                        <p:cTn dur="1" fill="hold">
                          <p:stCondLst>
                            <p:cond delay="0"/>
                          </p:stCondLst>
                        </p:cTn>
                        <p:tgtEl>
                          <p:spTgt spid="15"/>
                        </p:tgtEl>
                        <p:attrNameLst>
                          <p:attrName>style.visibility</p:attrName>
                        </p:attrNameLst>
                      </p:cBhvr>
                      <p:to>
                        <p:strVal val="visible"/>
                      </p:to>
                    </p:set>
                  </p:childTnLst>
                </p:cTn>
              </p:par>
            </p:tnLst>
          </p:tmpl>
        </p:tmplLst>
      </p:bldP>
      <p:bldP spid="16" grpId="0" build="p">
        <p:tmplLst>
          <p:tmpl lvl="1">
            <p:tnLst>
              <p:par>
                <p:cTn presetID="1" presetClass="entr" presetSubtype="0" fill="hold" nodeType="clickEffect">
                  <p:stCondLst>
                    <p:cond delay="0"/>
                  </p:stCondLst>
                  <p:childTnLst>
                    <p:set>
                      <p:cBhvr>
                        <p:cTn dur="1" fill="hold">
                          <p:stCondLst>
                            <p:cond delay="0"/>
                          </p:stCondLst>
                        </p:cTn>
                        <p:tgtEl>
                          <p:spTgt spid="16"/>
                        </p:tgtEl>
                        <p:attrNameLst>
                          <p:attrName>style.visibility</p:attrName>
                        </p:attrNameLst>
                      </p:cBhvr>
                      <p:to>
                        <p:strVal val="visible"/>
                      </p:to>
                    </p:set>
                  </p:childTnLst>
                </p:cTn>
              </p:par>
            </p:tnLst>
          </p:tmpl>
        </p:tmplLst>
      </p:bldP>
      <p:bldP spid="17" grpId="0" build="p">
        <p:tmplLst>
          <p:tmpl lvl="1">
            <p:tnLst>
              <p:par>
                <p:cTn presetID="1" presetClass="entr" presetSubtype="0" fill="hold" nodeType="clickEffect">
                  <p:stCondLst>
                    <p:cond delay="0"/>
                  </p:stCondLst>
                  <p:childTnLst>
                    <p:set>
                      <p:cBhvr>
                        <p:cTn dur="1" fill="hold">
                          <p:stCondLst>
                            <p:cond delay="0"/>
                          </p:stCondLst>
                        </p:cTn>
                        <p:tgtEl>
                          <p:spTgt spid="17"/>
                        </p:tgtEl>
                        <p:attrNameLst>
                          <p:attrName>style.visibility</p:attrName>
                        </p:attrNameLst>
                      </p:cBhvr>
                      <p:to>
                        <p:strVal val="visible"/>
                      </p:to>
                    </p:set>
                  </p:childTnLst>
                </p:cTn>
              </p:par>
            </p:tnLst>
          </p:tmpl>
        </p:tmplLst>
      </p:bldP>
      <p:bldP spid="18" grpId="0" build="p">
        <p:tmplLst>
          <p:tmpl lvl="1">
            <p:tnLst>
              <p:par>
                <p:cTn presetID="1" presetClass="entr" presetSubtype="0" fill="hold" nodeType="clickEffect">
                  <p:stCondLst>
                    <p:cond delay="0"/>
                  </p:stCondLst>
                  <p:childTnLst>
                    <p:set>
                      <p:cBhvr>
                        <p:cTn dur="1" fill="hold">
                          <p:stCondLst>
                            <p:cond delay="0"/>
                          </p:stCondLst>
                        </p:cTn>
                        <p:tgtEl>
                          <p:spTgt spid="18"/>
                        </p:tgtEl>
                        <p:attrNameLst>
                          <p:attrName>style.visibility</p:attrName>
                        </p:attrNameLst>
                      </p:cBhvr>
                      <p:to>
                        <p:strVal val="visible"/>
                      </p:to>
                    </p:set>
                  </p:childTnLst>
                </p:cTn>
              </p:par>
            </p:tnLst>
          </p:tmpl>
        </p:tmplLst>
      </p:bldP>
      <p:bldP spid="19" grpId="0" build="p">
        <p:tmplLst>
          <p:tmpl lvl="1">
            <p:tnLst>
              <p:par>
                <p:cTn presetID="1" presetClass="entr" presetSubtype="0" fill="hold" nodeType="clickEffect">
                  <p:stCondLst>
                    <p:cond delay="0"/>
                  </p:stCondLst>
                  <p:childTnLst>
                    <p:set>
                      <p:cBhvr>
                        <p:cTn dur="1" fill="hold">
                          <p:stCondLst>
                            <p:cond delay="0"/>
                          </p:stCondLst>
                        </p:cTn>
                        <p:tgtEl>
                          <p:spTgt spid="19"/>
                        </p:tgtEl>
                        <p:attrNameLst>
                          <p:attrName>style.visibility</p:attrName>
                        </p:attrNameLst>
                      </p:cBhvr>
                      <p:to>
                        <p:strVal val="visible"/>
                      </p:to>
                    </p:set>
                  </p:childTnLst>
                </p:cTn>
              </p:par>
            </p:tnLst>
          </p:tmpl>
        </p:tmplLst>
      </p:bldP>
      <p:bldP spid="20" grpId="0" build="p">
        <p:tmplLst>
          <p:tmpl lvl="1">
            <p:tnLst>
              <p:par>
                <p:cTn presetID="1" presetClass="entr" presetSubtype="0" fill="hold" nodeType="clickEffect">
                  <p:stCondLst>
                    <p:cond delay="0"/>
                  </p:stCondLst>
                  <p:childTnLst>
                    <p:set>
                      <p:cBhvr>
                        <p:cTn dur="1" fill="hold">
                          <p:stCondLst>
                            <p:cond delay="0"/>
                          </p:stCondLst>
                        </p:cTn>
                        <p:tgtEl>
                          <p:spTgt spid="20"/>
                        </p:tgtEl>
                        <p:attrNameLst>
                          <p:attrName>style.visibility</p:attrName>
                        </p:attrNameLst>
                      </p:cBhvr>
                      <p:to>
                        <p:strVal val="visible"/>
                      </p:to>
                    </p:set>
                  </p:childTnLst>
                </p:cTn>
              </p:par>
            </p:tnLst>
          </p:tmpl>
        </p:tmplLst>
      </p:bldP>
    </p:bld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VS)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9" y="208656"/>
            <a:ext cx="1347844" cy="515262"/>
          </a:xfrm>
          <a:prstGeom prst="rect">
            <a:avLst/>
          </a:prstGeom>
          <a:solidFill>
            <a:srgbClr val="1F443E"/>
          </a:solidFill>
          <a:ln>
            <a:noFill/>
          </a:ln>
        </p:spPr>
        <p:txBody>
          <a:bodyPr wrap="square" rtlCol="0" anchor="ctr">
            <a:noAutofit/>
          </a:bodyPr>
          <a:lstStyle/>
          <a:p>
            <a:r>
              <a:rPr lang="en-US" sz="2400" b="1" i="0" dirty="0">
                <a:solidFill>
                  <a:srgbClr val="C1FFE1"/>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723918"/>
            <a:ext cx="11577177" cy="1182155"/>
          </a:xfrm>
          <a:prstGeom prst="rect">
            <a:avLst/>
          </a:prstGeom>
          <a:solidFill>
            <a:srgbClr val="C1FFE1"/>
          </a:solidFill>
          <a:ln>
            <a:noFill/>
          </a:ln>
        </p:spPr>
        <p:txBody>
          <a:bodyPr wrap="square" rtlCol="0" anchor="ctr">
            <a:normAutofit/>
          </a:bodyPr>
          <a:lstStyle/>
          <a:p>
            <a:r>
              <a:rPr lang="en-US" sz="6000" b="1" i="0" dirty="0">
                <a:solidFill>
                  <a:srgbClr val="1F443E"/>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3460232"/>
          </a:xfrm>
          <a:prstGeom prst="rect">
            <a:avLst/>
          </a:prstGeom>
          <a:noFill/>
        </p:spPr>
        <p:txBody>
          <a:bodyPr tIns="144000" bIns="0" anchor="ctr"/>
          <a:lstStyle>
            <a:lvl1pPr marL="0" indent="0" algn="ctr">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the word apart</a:t>
            </a:r>
          </a:p>
        </p:txBody>
      </p:sp>
    </p:spTree>
    <p:extLst>
      <p:ext uri="{BB962C8B-B14F-4D97-AF65-F5344CB8AC3E}">
        <p14:creationId xmlns:p14="http://schemas.microsoft.com/office/powerpoint/2010/main" val="180980561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VS)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469727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US"/>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B61BEF0D-F0BB-DE4B-95CE-6DB70DBA9567}" type="datetimeFigureOut">
              <a:rPr lang="en-US" smtClean="0"/>
              <a:pPr/>
              <a:t>2/21/22</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1031468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RC) Learning Goal Setup">
    <p:bg>
      <p:bgPr>
        <a:solidFill>
          <a:schemeClr val="bg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8" y="1011383"/>
            <a:ext cx="2364855" cy="538446"/>
          </a:xfrm>
          <a:prstGeom prst="rect">
            <a:avLst/>
          </a:prstGeom>
          <a:solidFill>
            <a:srgbClr val="382248"/>
          </a:solidFill>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Learning Goal</a:t>
            </a:r>
          </a:p>
        </p:txBody>
      </p:sp>
      <p:sp>
        <p:nvSpPr>
          <p:cNvPr id="9" name="TextBox 8">
            <a:extLst>
              <a:ext uri="{FF2B5EF4-FFF2-40B4-BE49-F238E27FC236}">
                <a16:creationId xmlns:a16="http://schemas.microsoft.com/office/drawing/2014/main" id="{DF9C2B4A-0943-CC42-BE38-4F715F7CAA2B}"/>
              </a:ext>
            </a:extLst>
          </p:cNvPr>
          <p:cNvSpPr txBox="1"/>
          <p:nvPr userDrawn="1"/>
        </p:nvSpPr>
        <p:spPr>
          <a:xfrm>
            <a:off x="517951" y="4565193"/>
            <a:ext cx="2734700" cy="1947917"/>
          </a:xfrm>
          <a:prstGeom prst="rect">
            <a:avLst/>
          </a:prstGeom>
          <a:noFill/>
        </p:spPr>
        <p:txBody>
          <a:bodyPr wrap="square" tIns="180000" rtlCol="0" anchor="t">
            <a:normAutofit/>
          </a:bodyPr>
          <a:lstStyle/>
          <a:p>
            <a:r>
              <a:rPr lang="en-US" sz="3600" b="1" i="0" dirty="0">
                <a:solidFill>
                  <a:srgbClr val="683F84"/>
                </a:solidFill>
                <a:latin typeface="Calibri" panose="020F0502020204030204" pitchFamily="34" charset="0"/>
                <a:cs typeface="Calibri" panose="020F0502020204030204" pitchFamily="34" charset="0"/>
              </a:rPr>
              <a:t>Think </a:t>
            </a:r>
          </a:p>
          <a:p>
            <a:r>
              <a:rPr lang="en-US" sz="3600" b="1" i="0" dirty="0">
                <a:solidFill>
                  <a:srgbClr val="683F84"/>
                </a:solidFill>
                <a:latin typeface="Calibri" panose="020F0502020204030204" pitchFamily="34" charset="0"/>
                <a:cs typeface="Calibri" panose="020F0502020204030204" pitchFamily="34" charset="0"/>
              </a:rPr>
              <a:t>Pair</a:t>
            </a:r>
          </a:p>
          <a:p>
            <a:r>
              <a:rPr lang="en-US" sz="3600" b="1" i="0" dirty="0">
                <a:solidFill>
                  <a:srgbClr val="683F84"/>
                </a:solidFill>
                <a:latin typeface="Calibri" panose="020F0502020204030204" pitchFamily="34" charset="0"/>
                <a:cs typeface="Calibri" panose="020F0502020204030204" pitchFamily="34" charset="0"/>
              </a:rPr>
              <a:t>Share</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683F84"/>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userDrawn="1"/>
        </p:nvGrpSpPr>
        <p:grpSpPr>
          <a:xfrm>
            <a:off x="3252651" y="475428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228544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xit" presetSubtype="0" fill="hold" grpId="1" nodeType="withEffect">
                                  <p:stCondLst>
                                    <p:cond delay="0"/>
                                  </p:stCondLst>
                                  <p:childTnLst>
                                    <p:set>
                                      <p:cBhvr>
                                        <p:cTn id="12"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RC)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382248"/>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FFB6F2"/>
          </a:solidFill>
          <a:ln>
            <a:noFill/>
          </a:ln>
        </p:spPr>
        <p:txBody>
          <a:bodyPr wrap="square" rtlCol="0" anchor="ctr">
            <a:normAutofit/>
          </a:bodyPr>
          <a:lstStyle/>
          <a:p>
            <a:r>
              <a:rPr lang="en-US" sz="2400" b="1" i="0" dirty="0">
                <a:solidFill>
                  <a:srgbClr val="382248"/>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83F84"/>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76445478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RC)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16018" cy="515262"/>
          </a:xfrm>
          <a:prstGeom prst="rect">
            <a:avLst/>
          </a:prstGeom>
          <a:solidFill>
            <a:srgbClr val="683F84"/>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83F84"/>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FFB6F2"/>
          </a:solidFill>
          <a:ln>
            <a:noFill/>
          </a:ln>
        </p:spPr>
        <p:txBody>
          <a:bodyPr wrap="square" rtlCol="0" anchor="ctr">
            <a:normAutofit/>
          </a:bodyPr>
          <a:lstStyle/>
          <a:p>
            <a:r>
              <a:rPr lang="en-US" sz="2400" b="1" i="0" dirty="0">
                <a:solidFill>
                  <a:srgbClr val="382248"/>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2952543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RC)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71437" cy="515262"/>
          </a:xfrm>
          <a:prstGeom prst="rect">
            <a:avLst/>
          </a:prstGeom>
          <a:solidFill>
            <a:srgbClr val="382248"/>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FFB6F2"/>
          </a:solidFill>
          <a:ln>
            <a:noFill/>
          </a:ln>
        </p:spPr>
        <p:txBody>
          <a:bodyPr wrap="square" rtlCol="0" anchor="ctr">
            <a:normAutofit/>
          </a:bodyPr>
          <a:lstStyle/>
          <a:p>
            <a:r>
              <a:rPr lang="en-US" sz="2400" b="1" i="0" dirty="0">
                <a:solidFill>
                  <a:srgbClr val="382248"/>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83F84"/>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127957053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RC) 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0" name="Text Placeholder 9">
            <a:extLst>
              <a:ext uri="{FF2B5EF4-FFF2-40B4-BE49-F238E27FC236}">
                <a16:creationId xmlns:a16="http://schemas.microsoft.com/office/drawing/2014/main" id="{3A872705-675F-C243-9643-639EE2D96A8C}"/>
              </a:ext>
            </a:extLst>
          </p:cNvPr>
          <p:cNvSpPr>
            <a:spLocks noGrp="1"/>
          </p:cNvSpPr>
          <p:nvPr>
            <p:ph type="body" sz="quarter" idx="15" hasCustomPrompt="1"/>
          </p:nvPr>
        </p:nvSpPr>
        <p:spPr>
          <a:xfrm>
            <a:off x="390524" y="965946"/>
            <a:ext cx="9091613" cy="307181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b="1" i="0">
                <a:latin typeface="Century Gothic" panose="020B0502020202020204" pitchFamily="34" charset="0"/>
              </a:defRPr>
            </a:lvl1pPr>
          </a:lstStyle>
          <a:p>
            <a:pPr lvl="0"/>
            <a:r>
              <a:rPr lang="en-US" dirty="0"/>
              <a:t>Link previous learning, or a universal experience, to the topic being studied taught.  For example, key concepts already learnt in this unit, or something we all do in our lives that will connect to the learning.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a:p>
            <a:pPr lvl="0"/>
            <a:endParaRPr lang="en-US" dirty="0"/>
          </a:p>
        </p:txBody>
      </p:sp>
    </p:spTree>
    <p:extLst>
      <p:ext uri="{BB962C8B-B14F-4D97-AF65-F5344CB8AC3E}">
        <p14:creationId xmlns:p14="http://schemas.microsoft.com/office/powerpoint/2010/main" val="142032246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RC) Content Development">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93932381-72B7-B349-BBA8-6AFEB84E18A9}"/>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F989A473-568F-E948-8378-638693483165}"/>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Content Development</a:t>
            </a:r>
          </a:p>
        </p:txBody>
      </p:sp>
      <p:sp>
        <p:nvSpPr>
          <p:cNvPr id="3" name="Text Placeholder 2">
            <a:extLst>
              <a:ext uri="{FF2B5EF4-FFF2-40B4-BE49-F238E27FC236}">
                <a16:creationId xmlns:a16="http://schemas.microsoft.com/office/drawing/2014/main" id="{67489761-345C-4546-B69F-7F767EEB19E6}"/>
              </a:ext>
            </a:extLst>
          </p:cNvPr>
          <p:cNvSpPr>
            <a:spLocks noGrp="1"/>
          </p:cNvSpPr>
          <p:nvPr>
            <p:ph type="body" sz="quarter" idx="15" hasCustomPrompt="1"/>
          </p:nvPr>
        </p:nvSpPr>
        <p:spPr>
          <a:xfrm>
            <a:off x="397668" y="965946"/>
            <a:ext cx="9077325" cy="1885950"/>
          </a:xfrm>
          <a:prstGeom prst="rect">
            <a:avLst/>
          </a:prstGeom>
        </p:spPr>
        <p:txBody>
          <a:bodyPr/>
          <a:lstStyle>
            <a:lvl1pPr marL="0" indent="0">
              <a:buNone/>
              <a:defRPr sz="2800" b="1" i="0">
                <a:latin typeface="Century Gothic" panose="020B0502020202020204" pitchFamily="34" charset="0"/>
              </a:defRPr>
            </a:lvl1pPr>
          </a:lstStyle>
          <a:p>
            <a:pPr lvl="0"/>
            <a:r>
              <a:rPr lang="en-US" dirty="0"/>
              <a:t>The teacher explains the concepts and steps that lead to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29468767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RC) Skill Development with Guided Practice">
    <p:spTree>
      <p:nvGrpSpPr>
        <p:cNvPr id="1" name=""/>
        <p:cNvGrpSpPr/>
        <p:nvPr/>
      </p:nvGrpSpPr>
      <p:grpSpPr>
        <a:xfrm>
          <a:off x="0" y="0"/>
          <a:ext cx="0" cy="0"/>
          <a:chOff x="0" y="0"/>
          <a:chExt cx="0" cy="0"/>
        </a:xfrm>
      </p:grpSpPr>
      <p:sp>
        <p:nvSpPr>
          <p:cNvPr id="8" name="Text Placeholder 37">
            <a:extLst>
              <a:ext uri="{FF2B5EF4-FFF2-40B4-BE49-F238E27FC236}">
                <a16:creationId xmlns:a16="http://schemas.microsoft.com/office/drawing/2014/main" id="{AA64D5DD-9491-7244-8D83-7F535F058A54}"/>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9" name="TextBox 8">
            <a:extLst>
              <a:ext uri="{FF2B5EF4-FFF2-40B4-BE49-F238E27FC236}">
                <a16:creationId xmlns:a16="http://schemas.microsoft.com/office/drawing/2014/main" id="{FEC8520F-CB36-4A45-A44F-F23C38DF4554}"/>
              </a:ext>
            </a:extLst>
          </p:cNvPr>
          <p:cNvSpPr txBox="1"/>
          <p:nvPr userDrawn="1"/>
        </p:nvSpPr>
        <p:spPr>
          <a:xfrm>
            <a:off x="295275" y="590550"/>
            <a:ext cx="4199996" cy="352425"/>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Skill Development with Guided Practice</a:t>
            </a:r>
          </a:p>
        </p:txBody>
      </p:sp>
      <p:sp>
        <p:nvSpPr>
          <p:cNvPr id="10" name="Text Placeholder 2">
            <a:extLst>
              <a:ext uri="{FF2B5EF4-FFF2-40B4-BE49-F238E27FC236}">
                <a16:creationId xmlns:a16="http://schemas.microsoft.com/office/drawing/2014/main" id="{CF0F374D-B3C3-694C-9E4C-49E7305FA052}"/>
              </a:ext>
            </a:extLst>
          </p:cNvPr>
          <p:cNvSpPr>
            <a:spLocks noGrp="1"/>
          </p:cNvSpPr>
          <p:nvPr>
            <p:ph type="body" sz="quarter" idx="15" hasCustomPrompt="1"/>
          </p:nvPr>
        </p:nvSpPr>
        <p:spPr>
          <a:xfrm>
            <a:off x="397668" y="1067135"/>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Go through the steps one by one that will guide the students to the learning goal. Ensure the students are involved so that you can check for understanding.</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884283185"/>
      </p:ext>
    </p:extLst>
  </p:cSld>
  <p:clrMapOvr>
    <a:masterClrMapping/>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RC) Lesson Closure">
    <p:spTree>
      <p:nvGrpSpPr>
        <p:cNvPr id="1" name=""/>
        <p:cNvGrpSpPr/>
        <p:nvPr/>
      </p:nvGrpSpPr>
      <p:grpSpPr>
        <a:xfrm>
          <a:off x="0" y="0"/>
          <a:ext cx="0" cy="0"/>
          <a:chOff x="0" y="0"/>
          <a:chExt cx="0" cy="0"/>
        </a:xfrm>
      </p:grpSpPr>
      <p:sp>
        <p:nvSpPr>
          <p:cNvPr id="10" name="Text Placeholder 37">
            <a:extLst>
              <a:ext uri="{FF2B5EF4-FFF2-40B4-BE49-F238E27FC236}">
                <a16:creationId xmlns:a16="http://schemas.microsoft.com/office/drawing/2014/main" id="{FCE3226E-4E89-B94B-8392-37AA41A2503C}"/>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11" name="TextBox 10">
            <a:extLst>
              <a:ext uri="{FF2B5EF4-FFF2-40B4-BE49-F238E27FC236}">
                <a16:creationId xmlns:a16="http://schemas.microsoft.com/office/drawing/2014/main" id="{CFD1FBC2-8B0A-054F-BD50-5A1E77153844}"/>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Lesson Closure</a:t>
            </a:r>
          </a:p>
        </p:txBody>
      </p:sp>
      <p:sp>
        <p:nvSpPr>
          <p:cNvPr id="12" name="Text Placeholder 2">
            <a:extLst>
              <a:ext uri="{FF2B5EF4-FFF2-40B4-BE49-F238E27FC236}">
                <a16:creationId xmlns:a16="http://schemas.microsoft.com/office/drawing/2014/main" id="{9ABE9B17-B75E-C845-8C05-25DEB214B5BE}"/>
              </a:ext>
            </a:extLst>
          </p:cNvPr>
          <p:cNvSpPr>
            <a:spLocks noGrp="1"/>
          </p:cNvSpPr>
          <p:nvPr>
            <p:ph type="body" sz="quarter" idx="15" hasCustomPrompt="1"/>
          </p:nvPr>
        </p:nvSpPr>
        <p:spPr>
          <a:xfrm>
            <a:off x="397668" y="999954"/>
            <a:ext cx="9077325" cy="2314576"/>
          </a:xfrm>
          <a:prstGeom prst="rect">
            <a:avLst/>
          </a:prstGeom>
        </p:spPr>
        <p:txBody>
          <a:bodyPr/>
          <a:lstStyle>
            <a:lvl1pPr marL="0" indent="0">
              <a:buNone/>
              <a:defRPr sz="2800" b="1" i="0">
                <a:latin typeface="Century Gothic" panose="020B0502020202020204" pitchFamily="34" charset="0"/>
              </a:defRPr>
            </a:lvl1pPr>
          </a:lstStyle>
          <a:p>
            <a:pPr lvl="0"/>
            <a:r>
              <a:rPr lang="en-US" dirty="0"/>
              <a:t>Have students answer questions, explain a concept, complete an equation, </a:t>
            </a:r>
            <a:r>
              <a:rPr lang="en-US" dirty="0" err="1"/>
              <a:t>etc</a:t>
            </a:r>
            <a:r>
              <a:rPr lang="en-US" dirty="0"/>
              <a:t> to show they have reached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874969655"/>
      </p:ext>
    </p:extLst>
  </p:cSld>
  <p:clrMapOvr>
    <a:masterClrMapping/>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RC) Relevanc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199EBB26-204F-A049-A589-CBB9A02C05F4}"/>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Relevance</a:t>
            </a:r>
          </a:p>
        </p:txBody>
      </p:sp>
      <p:sp>
        <p:nvSpPr>
          <p:cNvPr id="21" name="TextBox 20">
            <a:extLst>
              <a:ext uri="{FF2B5EF4-FFF2-40B4-BE49-F238E27FC236}">
                <a16:creationId xmlns:a16="http://schemas.microsoft.com/office/drawing/2014/main" id="{8057D734-81AA-2049-8345-B99B4BA91645}"/>
              </a:ext>
            </a:extLst>
          </p:cNvPr>
          <p:cNvSpPr txBox="1"/>
          <p:nvPr userDrawn="1"/>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1" name="Text Placeholder 2">
            <a:extLst>
              <a:ext uri="{FF2B5EF4-FFF2-40B4-BE49-F238E27FC236}">
                <a16:creationId xmlns:a16="http://schemas.microsoft.com/office/drawing/2014/main" id="{BF86EC76-57E7-3945-83DB-9E6A331BE196}"/>
              </a:ext>
            </a:extLst>
          </p:cNvPr>
          <p:cNvSpPr>
            <a:spLocks noGrp="1"/>
          </p:cNvSpPr>
          <p:nvPr>
            <p:ph type="body" sz="quarter" idx="15" hasCustomPrompt="1"/>
          </p:nvPr>
        </p:nvSpPr>
        <p:spPr>
          <a:xfrm>
            <a:off x="397668" y="991704"/>
            <a:ext cx="9077325" cy="1971676"/>
          </a:xfrm>
          <a:prstGeom prst="rect">
            <a:avLst/>
          </a:prstGeom>
        </p:spPr>
        <p:txBody>
          <a:bodyPr/>
          <a:lstStyle>
            <a:lvl1pPr marL="0" indent="0">
              <a:buNone/>
              <a:defRPr sz="2800" b="1" i="0">
                <a:latin typeface="Century Gothic" panose="020B0502020202020204" pitchFamily="34" charset="0"/>
              </a:defRPr>
            </a:lvl1pPr>
          </a:lstStyle>
          <a:p>
            <a:pPr lvl="0"/>
            <a:r>
              <a:rPr lang="en-US" dirty="0"/>
              <a:t>Explain to the students why the learning of this content is important.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20989078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RC) Learning Goal Complet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9" y="1053881"/>
            <a:ext cx="2350999" cy="495947"/>
          </a:xfrm>
          <a:prstGeom prst="rect">
            <a:avLst/>
          </a:prstGeom>
          <a:solidFill>
            <a:srgbClr val="382248"/>
          </a:solidFill>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683F84"/>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userDrawn="1"/>
        </p:nvGrpSpPr>
        <p:grpSpPr>
          <a:xfrm>
            <a:off x="3065316" y="473523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20541793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RC) Independant Practice">
    <p:spTree>
      <p:nvGrpSpPr>
        <p:cNvPr id="1" name=""/>
        <p:cNvGrpSpPr/>
        <p:nvPr/>
      </p:nvGrpSpPr>
      <p:grpSpPr>
        <a:xfrm>
          <a:off x="0" y="0"/>
          <a:ext cx="0" cy="0"/>
          <a:chOff x="0" y="0"/>
          <a:chExt cx="0" cy="0"/>
        </a:xfrm>
      </p:grpSpPr>
      <p:sp>
        <p:nvSpPr>
          <p:cNvPr id="6" name="Text Placeholder 37">
            <a:extLst>
              <a:ext uri="{FF2B5EF4-FFF2-40B4-BE49-F238E27FC236}">
                <a16:creationId xmlns:a16="http://schemas.microsoft.com/office/drawing/2014/main" id="{BA5CBAB5-B25F-4B4C-804A-AD021B9010E4}"/>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7" name="TextBox 6">
            <a:extLst>
              <a:ext uri="{FF2B5EF4-FFF2-40B4-BE49-F238E27FC236}">
                <a16:creationId xmlns:a16="http://schemas.microsoft.com/office/drawing/2014/main" id="{B7D226EA-4EBE-2F4F-B4B3-8C66D44A3FDC}"/>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Independent Practice</a:t>
            </a:r>
          </a:p>
        </p:txBody>
      </p:sp>
      <p:sp>
        <p:nvSpPr>
          <p:cNvPr id="10" name="Text Placeholder 2">
            <a:extLst>
              <a:ext uri="{FF2B5EF4-FFF2-40B4-BE49-F238E27FC236}">
                <a16:creationId xmlns:a16="http://schemas.microsoft.com/office/drawing/2014/main" id="{2F2AA107-37A0-6640-94E6-ADA5A39A9FA3}"/>
              </a:ext>
            </a:extLst>
          </p:cNvPr>
          <p:cNvSpPr>
            <a:spLocks noGrp="1"/>
          </p:cNvSpPr>
          <p:nvPr>
            <p:ph type="body" sz="quarter" idx="15" hasCustomPrompt="1"/>
          </p:nvPr>
        </p:nvSpPr>
        <p:spPr>
          <a:xfrm>
            <a:off x="397668" y="1002771"/>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Once the students have reached the learning goal create activities that have them practice the exact skill that has just been taught. This section can be differentiated.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67937546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RC)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9" y="208656"/>
            <a:ext cx="1347844" cy="515262"/>
          </a:xfrm>
          <a:prstGeom prst="rect">
            <a:avLst/>
          </a:prstGeom>
          <a:solidFill>
            <a:srgbClr val="382248"/>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723918"/>
            <a:ext cx="11577177" cy="1204895"/>
          </a:xfrm>
          <a:prstGeom prst="rect">
            <a:avLst/>
          </a:prstGeom>
          <a:solidFill>
            <a:srgbClr val="FFB6F2"/>
          </a:solidFill>
          <a:ln>
            <a:noFill/>
          </a:ln>
        </p:spPr>
        <p:txBody>
          <a:bodyPr wrap="square" rtlCol="0" anchor="ctr">
            <a:normAutofit/>
          </a:bodyPr>
          <a:lstStyle/>
          <a:p>
            <a:r>
              <a:rPr lang="en-US" sz="6000" b="1" i="0" dirty="0">
                <a:solidFill>
                  <a:srgbClr val="382248"/>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2649248"/>
          </a:xfrm>
          <a:prstGeom prst="rect">
            <a:avLst/>
          </a:prstGeom>
          <a:noFill/>
        </p:spPr>
        <p:txBody>
          <a:bodyPr tIns="144000" bIns="0" anchor="ctr"/>
          <a:lstStyle>
            <a:lvl1pPr marL="0" indent="0" algn="ctr">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it into pieces</a:t>
            </a:r>
          </a:p>
        </p:txBody>
      </p:sp>
    </p:spTree>
    <p:extLst>
      <p:ext uri="{BB962C8B-B14F-4D97-AF65-F5344CB8AC3E}">
        <p14:creationId xmlns:p14="http://schemas.microsoft.com/office/powerpoint/2010/main" val="367233742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RC)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725218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US"/>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B61BEF0D-F0BB-DE4B-95CE-6DB70DBA9567}" type="datetimeFigureOut">
              <a:rPr lang="en-US" smtClean="0"/>
              <a:pPr/>
              <a:t>2/21/22</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66129672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2585C-8B69-B043-B753-1A3000E352B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85CEF58-0EF9-D840-9A8F-AD0FF1E4BE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086F59C-3B87-1C41-BD96-7DDB60283D1F}"/>
              </a:ext>
            </a:extLst>
          </p:cNvPr>
          <p:cNvSpPr>
            <a:spLocks noGrp="1"/>
          </p:cNvSpPr>
          <p:nvPr>
            <p:ph type="dt" sz="half" idx="10"/>
          </p:nvPr>
        </p:nvSpPr>
        <p:spPr/>
        <p:txBody>
          <a:bodyPr/>
          <a:lstStyle/>
          <a:p>
            <a:fld id="{B61BEF0D-F0BB-DE4B-95CE-6DB70DBA9567}" type="datetimeFigureOut">
              <a:rPr lang="en-US" smtClean="0"/>
              <a:pPr/>
              <a:t>2/21/22</a:t>
            </a:fld>
            <a:endParaRPr lang="en-US" dirty="0"/>
          </a:p>
        </p:txBody>
      </p:sp>
      <p:sp>
        <p:nvSpPr>
          <p:cNvPr id="5" name="Footer Placeholder 4">
            <a:extLst>
              <a:ext uri="{FF2B5EF4-FFF2-40B4-BE49-F238E27FC236}">
                <a16:creationId xmlns:a16="http://schemas.microsoft.com/office/drawing/2014/main" id="{977998FC-6D47-6449-A1F6-30E23BA727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AC17CDF-FC7F-5A44-9C47-53EAA5ED781D}"/>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9925697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43433-A2CE-6244-9F12-597922B28A8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D97E04B-808C-9F42-BF20-9FB1B64025F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301CBA-4616-FD45-8717-85954893BE41}"/>
              </a:ext>
            </a:extLst>
          </p:cNvPr>
          <p:cNvSpPr>
            <a:spLocks noGrp="1"/>
          </p:cNvSpPr>
          <p:nvPr>
            <p:ph type="dt" sz="half" idx="10"/>
          </p:nvPr>
        </p:nvSpPr>
        <p:spPr/>
        <p:txBody>
          <a:bodyPr/>
          <a:lstStyle/>
          <a:p>
            <a:fld id="{B61BEF0D-F0BB-DE4B-95CE-6DB70DBA9567}" type="datetimeFigureOut">
              <a:rPr lang="en-US" smtClean="0"/>
              <a:pPr/>
              <a:t>2/21/22</a:t>
            </a:fld>
            <a:endParaRPr lang="en-US" dirty="0"/>
          </a:p>
        </p:txBody>
      </p:sp>
      <p:sp>
        <p:nvSpPr>
          <p:cNvPr id="5" name="Footer Placeholder 4">
            <a:extLst>
              <a:ext uri="{FF2B5EF4-FFF2-40B4-BE49-F238E27FC236}">
                <a16:creationId xmlns:a16="http://schemas.microsoft.com/office/drawing/2014/main" id="{16C6EC38-1217-AF4A-BF4A-8C98EFBF38B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262114F-C2DD-B544-97F6-A6869EB0D8AF}"/>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2605198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C308E-C0FD-7847-BDAC-288A4A818C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27F8788-D236-534A-8446-06EADB8B0C6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1CE6483-F658-9B42-B6E2-2273E7B5CD5E}"/>
              </a:ext>
            </a:extLst>
          </p:cNvPr>
          <p:cNvSpPr>
            <a:spLocks noGrp="1"/>
          </p:cNvSpPr>
          <p:nvPr>
            <p:ph type="dt" sz="half" idx="10"/>
          </p:nvPr>
        </p:nvSpPr>
        <p:spPr/>
        <p:txBody>
          <a:bodyPr/>
          <a:lstStyle/>
          <a:p>
            <a:fld id="{B61BEF0D-F0BB-DE4B-95CE-6DB70DBA9567}" type="datetimeFigureOut">
              <a:rPr lang="en-US" smtClean="0"/>
              <a:pPr/>
              <a:t>2/21/22</a:t>
            </a:fld>
            <a:endParaRPr lang="en-US" dirty="0"/>
          </a:p>
        </p:txBody>
      </p:sp>
      <p:sp>
        <p:nvSpPr>
          <p:cNvPr id="5" name="Footer Placeholder 4">
            <a:extLst>
              <a:ext uri="{FF2B5EF4-FFF2-40B4-BE49-F238E27FC236}">
                <a16:creationId xmlns:a16="http://schemas.microsoft.com/office/drawing/2014/main" id="{B75ED8CC-1F14-0247-B5EB-CD3E00E47E4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371B541-9920-E24C-9758-7B00FE373004}"/>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367008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940DF-6BE1-F045-A153-2BC1B9F2092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4096841-0F00-E44A-BA16-50308628B11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B4D93E6-96AC-AC4B-AFB4-BD2249EF5CB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978163F-327D-C546-8B65-F3E9D26F31AD}"/>
              </a:ext>
            </a:extLst>
          </p:cNvPr>
          <p:cNvSpPr>
            <a:spLocks noGrp="1"/>
          </p:cNvSpPr>
          <p:nvPr>
            <p:ph type="dt" sz="half" idx="10"/>
          </p:nvPr>
        </p:nvSpPr>
        <p:spPr/>
        <p:txBody>
          <a:bodyPr/>
          <a:lstStyle/>
          <a:p>
            <a:fld id="{EB712588-04B1-427B-82EE-E8DB90309F08}" type="datetimeFigureOut">
              <a:rPr lang="en-US" smtClean="0"/>
              <a:t>2/21/22</a:t>
            </a:fld>
            <a:endParaRPr lang="en-US" dirty="0"/>
          </a:p>
        </p:txBody>
      </p:sp>
      <p:sp>
        <p:nvSpPr>
          <p:cNvPr id="6" name="Footer Placeholder 5">
            <a:extLst>
              <a:ext uri="{FF2B5EF4-FFF2-40B4-BE49-F238E27FC236}">
                <a16:creationId xmlns:a16="http://schemas.microsoft.com/office/drawing/2014/main" id="{3AE0AD71-D318-4242-BA74-69358F17244E}"/>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1320061-E089-FE42-B800-B7A6FB7BC80E}"/>
              </a:ext>
            </a:extLst>
          </p:cNvPr>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523264574"/>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B5FB7-2215-4149-A411-95C19165DEF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28ADC7A-69C4-3449-A284-61F53D5946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49C283-6034-8D45-BB1B-552F39A25F1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2989C7E-762D-DF4F-A602-A1BF218571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19E0002-87D6-C24A-A91D-B990D374A8B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6668C5-B842-794E-B9EA-875D34A8FB78}"/>
              </a:ext>
            </a:extLst>
          </p:cNvPr>
          <p:cNvSpPr>
            <a:spLocks noGrp="1"/>
          </p:cNvSpPr>
          <p:nvPr>
            <p:ph type="dt" sz="half" idx="10"/>
          </p:nvPr>
        </p:nvSpPr>
        <p:spPr/>
        <p:txBody>
          <a:bodyPr/>
          <a:lstStyle/>
          <a:p>
            <a:fld id="{B61BEF0D-F0BB-DE4B-95CE-6DB70DBA9567}" type="datetimeFigureOut">
              <a:rPr lang="en-US" smtClean="0"/>
              <a:pPr/>
              <a:t>2/21/22</a:t>
            </a:fld>
            <a:endParaRPr lang="en-US" dirty="0"/>
          </a:p>
        </p:txBody>
      </p:sp>
      <p:sp>
        <p:nvSpPr>
          <p:cNvPr id="8" name="Footer Placeholder 7">
            <a:extLst>
              <a:ext uri="{FF2B5EF4-FFF2-40B4-BE49-F238E27FC236}">
                <a16:creationId xmlns:a16="http://schemas.microsoft.com/office/drawing/2014/main" id="{5A28C667-CE46-ED48-8821-9DB111E86181}"/>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A72B333B-9FFF-2A4D-AC87-7E27A855E7E2}"/>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933529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A690E-17E1-DE4E-B5A2-5BA6EBD0165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42D7D25-037D-964F-A4AF-09A211E2C271}"/>
              </a:ext>
            </a:extLst>
          </p:cNvPr>
          <p:cNvSpPr>
            <a:spLocks noGrp="1"/>
          </p:cNvSpPr>
          <p:nvPr>
            <p:ph type="dt" sz="half" idx="10"/>
          </p:nvPr>
        </p:nvSpPr>
        <p:spPr/>
        <p:txBody>
          <a:bodyPr/>
          <a:lstStyle/>
          <a:p>
            <a:fld id="{B61BEF0D-F0BB-DE4B-95CE-6DB70DBA9567}" type="datetimeFigureOut">
              <a:rPr lang="en-US" smtClean="0"/>
              <a:pPr/>
              <a:t>2/21/22</a:t>
            </a:fld>
            <a:endParaRPr lang="en-US" dirty="0"/>
          </a:p>
        </p:txBody>
      </p:sp>
      <p:sp>
        <p:nvSpPr>
          <p:cNvPr id="4" name="Footer Placeholder 3">
            <a:extLst>
              <a:ext uri="{FF2B5EF4-FFF2-40B4-BE49-F238E27FC236}">
                <a16:creationId xmlns:a16="http://schemas.microsoft.com/office/drawing/2014/main" id="{43E9663C-8167-6847-8432-42DEF7FF283D}"/>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317A0131-4841-D843-9AC9-055AC2F2CC40}"/>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4941961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2A51B5-09FC-864D-98FE-16F163363C6C}"/>
              </a:ext>
            </a:extLst>
          </p:cNvPr>
          <p:cNvSpPr>
            <a:spLocks noGrp="1"/>
          </p:cNvSpPr>
          <p:nvPr>
            <p:ph type="dt" sz="half" idx="10"/>
          </p:nvPr>
        </p:nvSpPr>
        <p:spPr/>
        <p:txBody>
          <a:bodyPr/>
          <a:lstStyle/>
          <a:p>
            <a:fld id="{B61BEF0D-F0BB-DE4B-95CE-6DB70DBA9567}" type="datetimeFigureOut">
              <a:rPr lang="en-US" smtClean="0"/>
              <a:pPr/>
              <a:t>2/21/22</a:t>
            </a:fld>
            <a:endParaRPr lang="en-US" dirty="0"/>
          </a:p>
        </p:txBody>
      </p:sp>
      <p:sp>
        <p:nvSpPr>
          <p:cNvPr id="3" name="Footer Placeholder 2">
            <a:extLst>
              <a:ext uri="{FF2B5EF4-FFF2-40B4-BE49-F238E27FC236}">
                <a16:creationId xmlns:a16="http://schemas.microsoft.com/office/drawing/2014/main" id="{9A9FE577-AF6A-204B-8987-548A9FD823E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DEA56DD6-090D-EE44-86E5-9EFB21599417}"/>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4517925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D02F1-BD0C-1C49-A3BA-25D110E628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0B73BB6-219E-004E-9277-DBD25B22A5D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96C13EE-ADDA-1745-A0D2-E1055F03E4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94BDD4-3C99-5F44-923E-0DF1F92E92E7}"/>
              </a:ext>
            </a:extLst>
          </p:cNvPr>
          <p:cNvSpPr>
            <a:spLocks noGrp="1"/>
          </p:cNvSpPr>
          <p:nvPr>
            <p:ph type="dt" sz="half" idx="10"/>
          </p:nvPr>
        </p:nvSpPr>
        <p:spPr/>
        <p:txBody>
          <a:bodyPr/>
          <a:lstStyle/>
          <a:p>
            <a:fld id="{42A54C80-263E-416B-A8E0-580EDEADCBDC}" type="datetimeFigureOut">
              <a:rPr lang="en-US" smtClean="0"/>
              <a:t>2/21/22</a:t>
            </a:fld>
            <a:endParaRPr lang="en-US" dirty="0"/>
          </a:p>
        </p:txBody>
      </p:sp>
      <p:sp>
        <p:nvSpPr>
          <p:cNvPr id="6" name="Footer Placeholder 5">
            <a:extLst>
              <a:ext uri="{FF2B5EF4-FFF2-40B4-BE49-F238E27FC236}">
                <a16:creationId xmlns:a16="http://schemas.microsoft.com/office/drawing/2014/main" id="{E8C8318F-B631-4E46-8340-D22F039FA87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7748A4C-A384-AF47-A837-C46A99AA163B}"/>
              </a:ext>
            </a:extLst>
          </p:cNvPr>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254284322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9456D-8FD1-A343-BC21-599F10E4CE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98D8699-A379-934C-9848-BD600A5D0C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AA82C27-0E15-8840-96CE-D0F006334B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1ED90E-797F-5C43-AD81-B1B3F85ECEED}"/>
              </a:ext>
            </a:extLst>
          </p:cNvPr>
          <p:cNvSpPr>
            <a:spLocks noGrp="1"/>
          </p:cNvSpPr>
          <p:nvPr>
            <p:ph type="dt" sz="half" idx="10"/>
          </p:nvPr>
        </p:nvSpPr>
        <p:spPr/>
        <p:txBody>
          <a:bodyPr/>
          <a:lstStyle/>
          <a:p>
            <a:fld id="{B61BEF0D-F0BB-DE4B-95CE-6DB70DBA9567}" type="datetimeFigureOut">
              <a:rPr lang="en-US" smtClean="0"/>
              <a:pPr/>
              <a:t>2/21/22</a:t>
            </a:fld>
            <a:endParaRPr lang="en-US" dirty="0"/>
          </a:p>
        </p:txBody>
      </p:sp>
      <p:sp>
        <p:nvSpPr>
          <p:cNvPr id="6" name="Footer Placeholder 5">
            <a:extLst>
              <a:ext uri="{FF2B5EF4-FFF2-40B4-BE49-F238E27FC236}">
                <a16:creationId xmlns:a16="http://schemas.microsoft.com/office/drawing/2014/main" id="{711EDEC2-1761-E34F-87C9-7E697178CBD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043B737-D7BA-5E4C-AF00-66D590E0D376}"/>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1202873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6AFF8-63E3-0A40-8D7C-457B91F6B56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FD20475-B697-E541-A6DF-92AF025383A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F4675E-25C2-DB4B-B732-E675B20FD120}"/>
              </a:ext>
            </a:extLst>
          </p:cNvPr>
          <p:cNvSpPr>
            <a:spLocks noGrp="1"/>
          </p:cNvSpPr>
          <p:nvPr>
            <p:ph type="dt" sz="half" idx="10"/>
          </p:nvPr>
        </p:nvSpPr>
        <p:spPr/>
        <p:txBody>
          <a:bodyPr/>
          <a:lstStyle/>
          <a:p>
            <a:fld id="{55C6B4A9-1611-4792-9094-5F34BCA07E0B}" type="datetimeFigureOut">
              <a:rPr lang="en-US" smtClean="0"/>
              <a:t>2/21/22</a:t>
            </a:fld>
            <a:endParaRPr lang="en-US" dirty="0"/>
          </a:p>
        </p:txBody>
      </p:sp>
      <p:sp>
        <p:nvSpPr>
          <p:cNvPr id="5" name="Footer Placeholder 4">
            <a:extLst>
              <a:ext uri="{FF2B5EF4-FFF2-40B4-BE49-F238E27FC236}">
                <a16:creationId xmlns:a16="http://schemas.microsoft.com/office/drawing/2014/main" id="{C89AA116-B5A0-BA4A-927E-F785DA39214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E934329-E529-1C4A-B234-47CEB980DC90}"/>
              </a:ext>
            </a:extLst>
          </p:cNvPr>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175295150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E039D1-DA12-DF4C-B907-75F31632F80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0DE494C-36A5-2747-BF3C-397154210C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D58C0A-6161-4F4D-A944-A3BF9791D897}"/>
              </a:ext>
            </a:extLst>
          </p:cNvPr>
          <p:cNvSpPr>
            <a:spLocks noGrp="1"/>
          </p:cNvSpPr>
          <p:nvPr>
            <p:ph type="dt" sz="half" idx="10"/>
          </p:nvPr>
        </p:nvSpPr>
        <p:spPr/>
        <p:txBody>
          <a:bodyPr/>
          <a:lstStyle/>
          <a:p>
            <a:fld id="{B61BEF0D-F0BB-DE4B-95CE-6DB70DBA9567}" type="datetimeFigureOut">
              <a:rPr lang="en-US" smtClean="0"/>
              <a:pPr/>
              <a:t>2/21/22</a:t>
            </a:fld>
            <a:endParaRPr lang="en-US" dirty="0"/>
          </a:p>
        </p:txBody>
      </p:sp>
      <p:sp>
        <p:nvSpPr>
          <p:cNvPr id="5" name="Footer Placeholder 4">
            <a:extLst>
              <a:ext uri="{FF2B5EF4-FFF2-40B4-BE49-F238E27FC236}">
                <a16:creationId xmlns:a16="http://schemas.microsoft.com/office/drawing/2014/main" id="{B5F5B78C-A430-9642-82D9-6A2FCFBA582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296C11C-7346-FA48-B12E-8225F91ED1C3}"/>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08758763"/>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EI) Content Development">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04E1E29-E5E1-4CA6-AE28-873DC4095433}"/>
              </a:ext>
            </a:extLst>
          </p:cNvPr>
          <p:cNvSpPr txBox="1"/>
          <p:nvPr userDrawn="1"/>
        </p:nvSpPr>
        <p:spPr>
          <a:xfrm>
            <a:off x="280557" y="237294"/>
            <a:ext cx="2206171" cy="369085"/>
          </a:xfrm>
          <a:prstGeom prst="round2DiagRect">
            <a:avLst/>
          </a:prstGeom>
          <a:solidFill>
            <a:srgbClr val="154983"/>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defPPr>
              <a:defRPr lang="en-US"/>
            </a:defPPr>
            <a:lvl1pPr algn="ctr">
              <a:defRPr sz="1400" b="0" i="0">
                <a:solidFill>
                  <a:schemeClr val="bg1"/>
                </a:solidFill>
                <a:latin typeface="Arial Rounded MT Bold" panose="020F0704030504030204" pitchFamily="34" charset="0"/>
                <a:cs typeface="Futura Medium" panose="020B0602020204020303" pitchFamily="34" charset="-79"/>
              </a:defRPr>
            </a:lvl1pPr>
          </a:lstStyle>
          <a:p>
            <a:pPr lvl="0"/>
            <a:r>
              <a:rPr lang="en-US" dirty="0"/>
              <a:t>Concept Development</a:t>
            </a:r>
          </a:p>
        </p:txBody>
      </p:sp>
      <p:sp>
        <p:nvSpPr>
          <p:cNvPr id="11" name="Text Placeholder 6">
            <a:extLst>
              <a:ext uri="{FF2B5EF4-FFF2-40B4-BE49-F238E27FC236}">
                <a16:creationId xmlns:a16="http://schemas.microsoft.com/office/drawing/2014/main" id="{492D3A20-F902-4F74-96C6-B8576FA0A5F9}"/>
              </a:ext>
            </a:extLst>
          </p:cNvPr>
          <p:cNvSpPr>
            <a:spLocks noGrp="1"/>
          </p:cNvSpPr>
          <p:nvPr>
            <p:ph type="body" sz="quarter" idx="13" hasCustomPrompt="1"/>
          </p:nvPr>
        </p:nvSpPr>
        <p:spPr>
          <a:xfrm>
            <a:off x="280557" y="805337"/>
            <a:ext cx="11481952" cy="524699"/>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i="0">
                <a:solidFill>
                  <a:srgbClr val="154983"/>
                </a:solidFill>
                <a:latin typeface="Arial Rounded MT Bold" panose="020F0704030504030204" pitchFamily="34" charset="0"/>
              </a:defRPr>
            </a:lvl1pPr>
          </a:lstStyle>
          <a:p>
            <a:pPr lvl="0"/>
            <a:r>
              <a:rPr lang="en-AU" dirty="0"/>
              <a:t>Click to add text.</a:t>
            </a:r>
            <a:br>
              <a:rPr lang="en-AU" dirty="0"/>
            </a:br>
            <a:endParaRPr lang="en-AU" dirty="0"/>
          </a:p>
        </p:txBody>
      </p:sp>
      <p:sp>
        <p:nvSpPr>
          <p:cNvPr id="12" name="Text Placeholder 2">
            <a:extLst>
              <a:ext uri="{FF2B5EF4-FFF2-40B4-BE49-F238E27FC236}">
                <a16:creationId xmlns:a16="http://schemas.microsoft.com/office/drawing/2014/main" id="{F940C2C1-B592-48FA-B23E-0B742216BD9C}"/>
              </a:ext>
            </a:extLst>
          </p:cNvPr>
          <p:cNvSpPr>
            <a:spLocks noGrp="1"/>
          </p:cNvSpPr>
          <p:nvPr>
            <p:ph type="body" sz="quarter" idx="15" hasCustomPrompt="1"/>
          </p:nvPr>
        </p:nvSpPr>
        <p:spPr>
          <a:xfrm>
            <a:off x="280558" y="1528994"/>
            <a:ext cx="11506476" cy="506692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latin typeface="Verdana" panose="020B0604030504040204" pitchFamily="34" charset="0"/>
                <a:ea typeface="Verdana" panose="020B0604030504040204" pitchFamily="34" charset="0"/>
              </a:defRPr>
            </a:lvl1pPr>
          </a:lstStyle>
          <a:p>
            <a:pPr lvl="0"/>
            <a:r>
              <a:rPr lang="en-AU" dirty="0"/>
              <a:t>The teacher explains the concepts and steps that lead to the learning objective.</a:t>
            </a:r>
            <a:br>
              <a:rPr lang="en-AU" dirty="0"/>
            </a:br>
            <a:br>
              <a:rPr lang="en-AU" dirty="0"/>
            </a:br>
            <a:r>
              <a:rPr lang="en-AU" dirty="0"/>
              <a:t>Click to add text. Delete textbox if unneeded.</a:t>
            </a:r>
          </a:p>
        </p:txBody>
      </p:sp>
    </p:spTree>
    <p:extLst>
      <p:ext uri="{BB962C8B-B14F-4D97-AF65-F5344CB8AC3E}">
        <p14:creationId xmlns:p14="http://schemas.microsoft.com/office/powerpoint/2010/main" val="28356521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slideLayout" Target="../slideLayouts/slideLayout34.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slideLayout" Target="../slideLayouts/slideLayout33.xml"/><Relationship Id="rId17" Type="http://schemas.openxmlformats.org/officeDocument/2006/relationships/image" Target="../media/image1.png"/><Relationship Id="rId2" Type="http://schemas.openxmlformats.org/officeDocument/2006/relationships/slideLayout" Target="../slideLayouts/slideLayout23.xml"/><Relationship Id="rId16" Type="http://schemas.openxmlformats.org/officeDocument/2006/relationships/theme" Target="../theme/theme2.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5" Type="http://schemas.openxmlformats.org/officeDocument/2006/relationships/slideLayout" Target="../slideLayouts/slideLayout3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 Id="rId14" Type="http://schemas.openxmlformats.org/officeDocument/2006/relationships/slideLayout" Target="../slideLayouts/slideLayout3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image" Target="../media/image1.png"/><Relationship Id="rId5" Type="http://schemas.openxmlformats.org/officeDocument/2006/relationships/slideLayout" Target="../slideLayouts/slideLayout41.xml"/><Relationship Id="rId10" Type="http://schemas.openxmlformats.org/officeDocument/2006/relationships/theme" Target="../theme/theme3.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slideLayout" Target="../slideLayouts/slideLayout58.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slideLayout" Target="../slideLayouts/slideLayout57.xml"/><Relationship Id="rId2" Type="http://schemas.openxmlformats.org/officeDocument/2006/relationships/slideLayout" Target="../slideLayouts/slideLayout47.xml"/><Relationship Id="rId16" Type="http://schemas.openxmlformats.org/officeDocument/2006/relationships/image" Target="../media/image1.png"/><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5" Type="http://schemas.openxmlformats.org/officeDocument/2006/relationships/theme" Target="../theme/theme4.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 Id="rId14" Type="http://schemas.openxmlformats.org/officeDocument/2006/relationships/slideLayout" Target="../slideLayouts/slideLayout59.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7.xml"/><Relationship Id="rId13" Type="http://schemas.openxmlformats.org/officeDocument/2006/relationships/theme" Target="../theme/theme5.xml"/><Relationship Id="rId3" Type="http://schemas.openxmlformats.org/officeDocument/2006/relationships/slideLayout" Target="../slideLayouts/slideLayout62.xml"/><Relationship Id="rId7" Type="http://schemas.openxmlformats.org/officeDocument/2006/relationships/slideLayout" Target="../slideLayouts/slideLayout66.xml"/><Relationship Id="rId12" Type="http://schemas.openxmlformats.org/officeDocument/2006/relationships/slideLayout" Target="../slideLayouts/slideLayout71.xml"/><Relationship Id="rId2" Type="http://schemas.openxmlformats.org/officeDocument/2006/relationships/slideLayout" Target="../slideLayouts/slideLayout61.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slideLayout" Target="../slideLayouts/slideLayout70.xml"/><Relationship Id="rId5" Type="http://schemas.openxmlformats.org/officeDocument/2006/relationships/slideLayout" Target="../slideLayouts/slideLayout64.xml"/><Relationship Id="rId10" Type="http://schemas.openxmlformats.org/officeDocument/2006/relationships/slideLayout" Target="../slideLayouts/slideLayout69.xml"/><Relationship Id="rId4" Type="http://schemas.openxmlformats.org/officeDocument/2006/relationships/slideLayout" Target="../slideLayouts/slideLayout63.xml"/><Relationship Id="rId9" Type="http://schemas.openxmlformats.org/officeDocument/2006/relationships/slideLayout" Target="../slideLayouts/slideLayout6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3AA52D-1531-D74F-B0A5-6078D4C9110F}"/>
              </a:ext>
            </a:extLst>
          </p:cNvPr>
          <p:cNvSpPr/>
          <p:nvPr/>
        </p:nvSpPr>
        <p:spPr>
          <a:xfrm>
            <a:off x="0" y="0"/>
            <a:ext cx="12192000" cy="6858000"/>
          </a:xfrm>
          <a:prstGeom prst="rect">
            <a:avLst/>
          </a:prstGeom>
          <a:solidFill>
            <a:srgbClr val="3B8C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3BC489FE-D005-E249-B3C3-A41B78A14714}"/>
              </a:ext>
            </a:extLst>
          </p:cNvPr>
          <p:cNvSpPr/>
          <p:nvPr/>
        </p:nvSpPr>
        <p:spPr>
          <a:xfrm>
            <a:off x="297833" y="221673"/>
            <a:ext cx="11575512"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3E91DF72-2A8F-445D-BC0A-815E681E321D}"/>
              </a:ext>
            </a:extLst>
          </p:cNvPr>
          <p:cNvPicPr>
            <a:picLocks noChangeAspect="1"/>
          </p:cNvPicPr>
          <p:nvPr/>
        </p:nvPicPr>
        <p:blipFill>
          <a:blip r:embed="rId23"/>
          <a:stretch>
            <a:fillRect/>
          </a:stretch>
        </p:blipFill>
        <p:spPr>
          <a:xfrm>
            <a:off x="10475654" y="5974038"/>
            <a:ext cx="1392168" cy="659015"/>
          </a:xfrm>
          <a:prstGeom prst="rect">
            <a:avLst/>
          </a:prstGeom>
        </p:spPr>
      </p:pic>
    </p:spTree>
    <p:extLst>
      <p:ext uri="{BB962C8B-B14F-4D97-AF65-F5344CB8AC3E}">
        <p14:creationId xmlns:p14="http://schemas.microsoft.com/office/powerpoint/2010/main" val="2709256914"/>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 id="2147483723" r:id="rId13"/>
    <p:sldLayoutId id="2147483724" r:id="rId14"/>
    <p:sldLayoutId id="2147483725" r:id="rId15"/>
    <p:sldLayoutId id="2147483726" r:id="rId16"/>
    <p:sldLayoutId id="2147483727" r:id="rId17"/>
    <p:sldLayoutId id="2147483728" r:id="rId18"/>
    <p:sldLayoutId id="2147483729" r:id="rId19"/>
    <p:sldLayoutId id="2147483730" r:id="rId20"/>
    <p:sldLayoutId id="2147483731" r:id="rId2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ACB8789-C5D7-6249-9847-EB3816E191ED}"/>
              </a:ext>
            </a:extLst>
          </p:cNvPr>
          <p:cNvSpPr/>
          <p:nvPr/>
        </p:nvSpPr>
        <p:spPr>
          <a:xfrm>
            <a:off x="0" y="0"/>
            <a:ext cx="12192000" cy="6858000"/>
          </a:xfrm>
          <a:prstGeom prst="rect">
            <a:avLst/>
          </a:prstGeom>
          <a:solidFill>
            <a:srgbClr val="A149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886F1C9-C15E-0448-B006-3ECFAB54CD2D}"/>
              </a:ext>
            </a:extLst>
          </p:cNvPr>
          <p:cNvSpPr/>
          <p:nvPr/>
        </p:nvSpPr>
        <p:spPr>
          <a:xfrm>
            <a:off x="297833" y="221673"/>
            <a:ext cx="11575512"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97B421F1-3EFD-4EB1-8757-68976493B334}"/>
              </a:ext>
            </a:extLst>
          </p:cNvPr>
          <p:cNvPicPr>
            <a:picLocks noChangeAspect="1"/>
          </p:cNvPicPr>
          <p:nvPr/>
        </p:nvPicPr>
        <p:blipFill>
          <a:blip r:embed="rId17"/>
          <a:stretch>
            <a:fillRect/>
          </a:stretch>
        </p:blipFill>
        <p:spPr>
          <a:xfrm>
            <a:off x="10475654" y="5974038"/>
            <a:ext cx="1392168" cy="659015"/>
          </a:xfrm>
          <a:prstGeom prst="rect">
            <a:avLst/>
          </a:prstGeom>
        </p:spPr>
      </p:pic>
    </p:spTree>
    <p:extLst>
      <p:ext uri="{BB962C8B-B14F-4D97-AF65-F5344CB8AC3E}">
        <p14:creationId xmlns:p14="http://schemas.microsoft.com/office/powerpoint/2010/main" val="473491833"/>
      </p:ext>
    </p:extLst>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 id="2147483745" r:id="rId12"/>
    <p:sldLayoutId id="2147483746" r:id="rId13"/>
    <p:sldLayoutId id="2147483747" r:id="rId14"/>
    <p:sldLayoutId id="2147483771"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ACB8789-C5D7-6249-9847-EB3816E191ED}"/>
              </a:ext>
            </a:extLst>
          </p:cNvPr>
          <p:cNvSpPr/>
          <p:nvPr/>
        </p:nvSpPr>
        <p:spPr>
          <a:xfrm>
            <a:off x="0" y="0"/>
            <a:ext cx="12192000" cy="6858000"/>
          </a:xfrm>
          <a:prstGeom prst="rect">
            <a:avLst/>
          </a:prstGeom>
          <a:solidFill>
            <a:srgbClr val="4799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886F1C9-C15E-0448-B006-3ECFAB54CD2D}"/>
              </a:ext>
            </a:extLst>
          </p:cNvPr>
          <p:cNvSpPr/>
          <p:nvPr/>
        </p:nvSpPr>
        <p:spPr>
          <a:xfrm>
            <a:off x="297833" y="221673"/>
            <a:ext cx="11575512"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6DBB0268-634F-494F-A534-6D6283C91351}"/>
              </a:ext>
            </a:extLst>
          </p:cNvPr>
          <p:cNvPicPr>
            <a:picLocks noChangeAspect="1"/>
          </p:cNvPicPr>
          <p:nvPr/>
        </p:nvPicPr>
        <p:blipFill>
          <a:blip r:embed="rId11"/>
          <a:stretch>
            <a:fillRect/>
          </a:stretch>
        </p:blipFill>
        <p:spPr>
          <a:xfrm>
            <a:off x="10475654" y="5974038"/>
            <a:ext cx="1392168" cy="659015"/>
          </a:xfrm>
          <a:prstGeom prst="rect">
            <a:avLst/>
          </a:prstGeom>
        </p:spPr>
      </p:pic>
    </p:spTree>
    <p:extLst>
      <p:ext uri="{BB962C8B-B14F-4D97-AF65-F5344CB8AC3E}">
        <p14:creationId xmlns:p14="http://schemas.microsoft.com/office/powerpoint/2010/main" val="594667570"/>
      </p:ext>
    </p:extLst>
  </p:cSld>
  <p:clrMap bg1="lt1" tx1="dk1" bg2="lt2" tx2="dk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 id="2147483753" r:id="rId5"/>
    <p:sldLayoutId id="2147483754" r:id="rId6"/>
    <p:sldLayoutId id="2147483755" r:id="rId7"/>
    <p:sldLayoutId id="2147483756" r:id="rId8"/>
    <p:sldLayoutId id="2147483772"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3AA52D-1531-D74F-B0A5-6078D4C9110F}"/>
              </a:ext>
            </a:extLst>
          </p:cNvPr>
          <p:cNvSpPr/>
          <p:nvPr/>
        </p:nvSpPr>
        <p:spPr>
          <a:xfrm>
            <a:off x="0" y="0"/>
            <a:ext cx="12192000" cy="6858000"/>
          </a:xfrm>
          <a:prstGeom prst="rect">
            <a:avLst/>
          </a:prstGeom>
          <a:solidFill>
            <a:srgbClr val="683F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3BC489FE-D005-E249-B3C3-A41B78A14714}"/>
              </a:ext>
            </a:extLst>
          </p:cNvPr>
          <p:cNvSpPr/>
          <p:nvPr/>
        </p:nvSpPr>
        <p:spPr>
          <a:xfrm>
            <a:off x="297833" y="221673"/>
            <a:ext cx="11575512"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D3C87905-546B-40B8-A77F-8173C6D81708}"/>
              </a:ext>
            </a:extLst>
          </p:cNvPr>
          <p:cNvPicPr>
            <a:picLocks noChangeAspect="1"/>
          </p:cNvPicPr>
          <p:nvPr/>
        </p:nvPicPr>
        <p:blipFill>
          <a:blip r:embed="rId16"/>
          <a:stretch>
            <a:fillRect/>
          </a:stretch>
        </p:blipFill>
        <p:spPr>
          <a:xfrm>
            <a:off x="10475654" y="5974038"/>
            <a:ext cx="1392168" cy="659015"/>
          </a:xfrm>
          <a:prstGeom prst="rect">
            <a:avLst/>
          </a:prstGeom>
        </p:spPr>
      </p:pic>
    </p:spTree>
    <p:extLst>
      <p:ext uri="{BB962C8B-B14F-4D97-AF65-F5344CB8AC3E}">
        <p14:creationId xmlns:p14="http://schemas.microsoft.com/office/powerpoint/2010/main" val="708817399"/>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 id="2147483769" r:id="rId12"/>
    <p:sldLayoutId id="2147483770" r:id="rId13"/>
    <p:sldLayoutId id="2147483773"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DD52C70-79E0-3F4E-8C86-21588BE79E9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B891E8F-80E7-D045-B781-B6A164C414B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06AA54-5ABB-EF4D-9916-637244CB4A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1BEF0D-F0BB-DE4B-95CE-6DB70DBA9567}" type="datetimeFigureOut">
              <a:rPr lang="en-US" smtClean="0"/>
              <a:pPr/>
              <a:t>2/21/22</a:t>
            </a:fld>
            <a:endParaRPr lang="en-US" dirty="0"/>
          </a:p>
        </p:txBody>
      </p:sp>
      <p:sp>
        <p:nvSpPr>
          <p:cNvPr id="5" name="Footer Placeholder 4">
            <a:extLst>
              <a:ext uri="{FF2B5EF4-FFF2-40B4-BE49-F238E27FC236}">
                <a16:creationId xmlns:a16="http://schemas.microsoft.com/office/drawing/2014/main" id="{6AEFBE9C-E714-8C48-86AA-5BC9832FD9F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B14D2459-E8D0-E049-BE1B-B4AFAA05B2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0381662"/>
      </p:ext>
    </p:extLst>
  </p:cSld>
  <p:clrMap bg1="lt1" tx1="dk1" bg2="lt2" tx2="dk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 id="2147483795"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71.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1.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1.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1.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71.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1.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1.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1.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1.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1.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1.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1.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5A8EE8F-F1FD-EF47-8789-4A6B0C3B9251}"/>
              </a:ext>
            </a:extLst>
          </p:cNvPr>
          <p:cNvPicPr>
            <a:picLocks noChangeAspect="1"/>
          </p:cNvPicPr>
          <p:nvPr/>
        </p:nvPicPr>
        <p:blipFill>
          <a:blip r:embed="rId2"/>
          <a:stretch>
            <a:fillRect/>
          </a:stretch>
        </p:blipFill>
        <p:spPr>
          <a:xfrm>
            <a:off x="0" y="-22597"/>
            <a:ext cx="12192001" cy="6903194"/>
          </a:xfrm>
          <a:prstGeom prst="rect">
            <a:avLst/>
          </a:prstGeom>
        </p:spPr>
      </p:pic>
      <p:sp>
        <p:nvSpPr>
          <p:cNvPr id="4" name="Rectangle 3">
            <a:extLst>
              <a:ext uri="{FF2B5EF4-FFF2-40B4-BE49-F238E27FC236}">
                <a16:creationId xmlns:a16="http://schemas.microsoft.com/office/drawing/2014/main" id="{A60D4650-DFC0-894C-A02B-4614C16E5F72}"/>
              </a:ext>
            </a:extLst>
          </p:cNvPr>
          <p:cNvSpPr/>
          <p:nvPr/>
        </p:nvSpPr>
        <p:spPr>
          <a:xfrm>
            <a:off x="462778" y="2066602"/>
            <a:ext cx="4296176" cy="1384995"/>
          </a:xfrm>
          <a:prstGeom prst="rect">
            <a:avLst/>
          </a:prstGeom>
        </p:spPr>
        <p:txBody>
          <a:bodyPr wrap="none">
            <a:spAutoFit/>
          </a:bodyPr>
          <a:lstStyle/>
          <a:p>
            <a:pPr algn="ctr"/>
            <a:r>
              <a:rPr lang="en-US" sz="2800" dirty="0">
                <a:solidFill>
                  <a:schemeClr val="bg1"/>
                </a:solidFill>
                <a:latin typeface="Arial Rounded MT Bold" panose="020F0704030504030204" pitchFamily="34" charset="77"/>
              </a:rPr>
              <a:t>Year 12 Human Biology </a:t>
            </a:r>
            <a:br>
              <a:rPr lang="en-US" sz="2800" dirty="0">
                <a:solidFill>
                  <a:schemeClr val="bg1"/>
                </a:solidFill>
                <a:latin typeface="Arial Rounded MT Bold" panose="020F0704030504030204" pitchFamily="34" charset="77"/>
              </a:rPr>
            </a:br>
            <a:r>
              <a:rPr lang="en-US" sz="2800" dirty="0">
                <a:solidFill>
                  <a:schemeClr val="bg1"/>
                </a:solidFill>
                <a:latin typeface="Arial Rounded MT Bold" panose="020F0704030504030204" pitchFamily="34" charset="77"/>
              </a:rPr>
              <a:t>Mr. Yates </a:t>
            </a:r>
            <a:br>
              <a:rPr lang="en-US" sz="2800" dirty="0">
                <a:solidFill>
                  <a:schemeClr val="bg1"/>
                </a:solidFill>
                <a:latin typeface="Arial Rounded MT Bold" panose="020F0704030504030204" pitchFamily="34" charset="77"/>
              </a:rPr>
            </a:br>
            <a:r>
              <a:rPr lang="en-US" sz="2800" dirty="0">
                <a:solidFill>
                  <a:schemeClr val="bg1"/>
                </a:solidFill>
                <a:latin typeface="Arial Rounded MT Bold" panose="020F0704030504030204" pitchFamily="34" charset="77"/>
              </a:rPr>
              <a:t>Nerve Receptors </a:t>
            </a:r>
            <a:endParaRPr lang="en-US" sz="2800" dirty="0">
              <a:solidFill>
                <a:schemeClr val="bg1"/>
              </a:solidFill>
            </a:endParaRPr>
          </a:p>
        </p:txBody>
      </p:sp>
      <p:pic>
        <p:nvPicPr>
          <p:cNvPr id="6" name="Picture 5">
            <a:extLst>
              <a:ext uri="{FF2B5EF4-FFF2-40B4-BE49-F238E27FC236}">
                <a16:creationId xmlns:a16="http://schemas.microsoft.com/office/drawing/2014/main" id="{03BD1640-8EF7-9544-985A-5CB2691DF17C}"/>
              </a:ext>
            </a:extLst>
          </p:cNvPr>
          <p:cNvPicPr/>
          <p:nvPr/>
        </p:nvPicPr>
        <p:blipFill>
          <a:blip r:embed="rId3">
            <a:alphaModFix/>
            <a:extLst>
              <a:ext uri="{28A0092B-C50C-407E-A947-70E740481C1C}">
                <a14:useLocalDpi xmlns:a14="http://schemas.microsoft.com/office/drawing/2010/main" val="0"/>
              </a:ext>
            </a:extLst>
          </a:blip>
          <a:stretch>
            <a:fillRect/>
          </a:stretch>
        </p:blipFill>
        <p:spPr bwMode="auto">
          <a:xfrm>
            <a:off x="10525538" y="352364"/>
            <a:ext cx="1331711" cy="1511683"/>
          </a:xfrm>
          <a:prstGeom prst="rect">
            <a:avLst/>
          </a:prstGeom>
          <a:noFill/>
        </p:spPr>
      </p:pic>
    </p:spTree>
    <p:extLst>
      <p:ext uri="{BB962C8B-B14F-4D97-AF65-F5344CB8AC3E}">
        <p14:creationId xmlns:p14="http://schemas.microsoft.com/office/powerpoint/2010/main" val="36282847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D2BC2D-DCF3-4859-89E3-44B6F7D3B1D3}"/>
              </a:ext>
            </a:extLst>
          </p:cNvPr>
          <p:cNvSpPr>
            <a:spLocks noGrp="1"/>
          </p:cNvSpPr>
          <p:nvPr>
            <p:ph type="body" sz="quarter" idx="13"/>
          </p:nvPr>
        </p:nvSpPr>
        <p:spPr/>
        <p:txBody>
          <a:bodyPr>
            <a:noAutofit/>
          </a:bodyPr>
          <a:lstStyle/>
          <a:p>
            <a:r>
              <a:rPr lang="en-AU" sz="3400" dirty="0"/>
              <a:t>Receptors and Reflexes </a:t>
            </a:r>
          </a:p>
        </p:txBody>
      </p:sp>
      <p:sp>
        <p:nvSpPr>
          <p:cNvPr id="3" name="Text Placeholder 2">
            <a:extLst>
              <a:ext uri="{FF2B5EF4-FFF2-40B4-BE49-F238E27FC236}">
                <a16:creationId xmlns:a16="http://schemas.microsoft.com/office/drawing/2014/main" id="{7550F64F-12CB-4F59-8C70-91F1C942126A}"/>
              </a:ext>
            </a:extLst>
          </p:cNvPr>
          <p:cNvSpPr>
            <a:spLocks noGrp="1"/>
          </p:cNvSpPr>
          <p:nvPr>
            <p:ph type="body" sz="quarter" idx="15"/>
          </p:nvPr>
        </p:nvSpPr>
        <p:spPr>
          <a:xfrm>
            <a:off x="305251" y="1416634"/>
            <a:ext cx="11457258" cy="5393007"/>
          </a:xfrm>
        </p:spPr>
        <p:txBody>
          <a:bodyPr>
            <a:normAutofit/>
          </a:bodyPr>
          <a:lstStyle/>
          <a:p>
            <a:r>
              <a:rPr lang="en-AU" sz="2400" dirty="0">
                <a:latin typeface="Avenir Book" panose="02000503020000020003" pitchFamily="2" charset="0"/>
              </a:rPr>
              <a:t>A receptor is a structure that is able to detect a change in the body's internal or external environment. </a:t>
            </a:r>
          </a:p>
          <a:p>
            <a:r>
              <a:rPr lang="en-AU" sz="2400" dirty="0">
                <a:latin typeface="Avenir Book" panose="02000503020000020003" pitchFamily="2" charset="0"/>
              </a:rPr>
              <a:t>Sometimes receptor cells of a particular type are grouped together in a sense organ, such as the light receptors in the eye or the receptors sensitive to sound vibrations in the ear. </a:t>
            </a:r>
          </a:p>
        </p:txBody>
      </p:sp>
      <p:pic>
        <p:nvPicPr>
          <p:cNvPr id="7" name="Picture 6" descr="Diagram&#10;&#10;Description automatically generated">
            <a:extLst>
              <a:ext uri="{FF2B5EF4-FFF2-40B4-BE49-F238E27FC236}">
                <a16:creationId xmlns:a16="http://schemas.microsoft.com/office/drawing/2014/main" id="{F0994B98-926F-0648-B369-980B02567705}"/>
              </a:ext>
            </a:extLst>
          </p:cNvPr>
          <p:cNvPicPr>
            <a:picLocks noChangeAspect="1"/>
          </p:cNvPicPr>
          <p:nvPr/>
        </p:nvPicPr>
        <p:blipFill>
          <a:blip r:embed="rId3"/>
          <a:stretch>
            <a:fillRect/>
          </a:stretch>
        </p:blipFill>
        <p:spPr>
          <a:xfrm>
            <a:off x="3871185" y="3429000"/>
            <a:ext cx="4449629" cy="3193128"/>
          </a:xfrm>
          <a:prstGeom prst="rect">
            <a:avLst/>
          </a:prstGeom>
        </p:spPr>
      </p:pic>
    </p:spTree>
    <p:extLst>
      <p:ext uri="{BB962C8B-B14F-4D97-AF65-F5344CB8AC3E}">
        <p14:creationId xmlns:p14="http://schemas.microsoft.com/office/powerpoint/2010/main" val="3130382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dissolv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linds(horizontal)">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blinds(horizontal)">
                                      <p:cBhvr>
                                        <p:cTn id="1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3B0F06B-E568-6D4D-A7F3-450A1B455D44}"/>
              </a:ext>
            </a:extLst>
          </p:cNvPr>
          <p:cNvSpPr>
            <a:spLocks noGrp="1"/>
          </p:cNvSpPr>
          <p:nvPr>
            <p:ph type="body" sz="quarter" idx="13"/>
          </p:nvPr>
        </p:nvSpPr>
        <p:spPr/>
        <p:txBody>
          <a:bodyPr/>
          <a:lstStyle/>
          <a:p>
            <a:r>
              <a:rPr lang="en-AU" dirty="0"/>
              <a:t>Receptors and Reflexes </a:t>
            </a:r>
          </a:p>
          <a:p>
            <a:endParaRPr lang="en-US" dirty="0"/>
          </a:p>
        </p:txBody>
      </p:sp>
      <p:sp>
        <p:nvSpPr>
          <p:cNvPr id="3" name="Text Placeholder 2">
            <a:extLst>
              <a:ext uri="{FF2B5EF4-FFF2-40B4-BE49-F238E27FC236}">
                <a16:creationId xmlns:a16="http://schemas.microsoft.com/office/drawing/2014/main" id="{5E155845-B0AC-144E-B00D-E674DEA66A58}"/>
              </a:ext>
            </a:extLst>
          </p:cNvPr>
          <p:cNvSpPr>
            <a:spLocks noGrp="1"/>
          </p:cNvSpPr>
          <p:nvPr>
            <p:ph type="body" sz="quarter" idx="15"/>
          </p:nvPr>
        </p:nvSpPr>
        <p:spPr/>
        <p:txBody>
          <a:bodyPr/>
          <a:lstStyle/>
          <a:p>
            <a:r>
              <a:rPr lang="en-AU" sz="2400" dirty="0">
                <a:latin typeface="Avenir Book" panose="02000503020000020003" pitchFamily="2" charset="0"/>
              </a:rPr>
              <a:t>Other receptors are simple nerve endings and may be spread through parts of the body or even the whole body, such as pain receptors or the temperature receptors in the skin. When a receptor is stimulated, the body is able to respond to the change In some cases, this is via an automatic reflex; in other cases, the response is more complex. </a:t>
            </a:r>
          </a:p>
          <a:p>
            <a:endParaRPr lang="en-US" dirty="0"/>
          </a:p>
        </p:txBody>
      </p:sp>
      <p:pic>
        <p:nvPicPr>
          <p:cNvPr id="4" name="Picture 3" descr="Diagram&#10;&#10;Description automatically generated">
            <a:extLst>
              <a:ext uri="{FF2B5EF4-FFF2-40B4-BE49-F238E27FC236}">
                <a16:creationId xmlns:a16="http://schemas.microsoft.com/office/drawing/2014/main" id="{12A53E8D-4BDE-3B48-806F-86E0200F9185}"/>
              </a:ext>
            </a:extLst>
          </p:cNvPr>
          <p:cNvPicPr>
            <a:picLocks noChangeAspect="1"/>
          </p:cNvPicPr>
          <p:nvPr/>
        </p:nvPicPr>
        <p:blipFill>
          <a:blip r:embed="rId2"/>
          <a:stretch>
            <a:fillRect/>
          </a:stretch>
        </p:blipFill>
        <p:spPr>
          <a:xfrm>
            <a:off x="3871185" y="3429000"/>
            <a:ext cx="4449629" cy="3193128"/>
          </a:xfrm>
          <a:prstGeom prst="rect">
            <a:avLst/>
          </a:prstGeom>
        </p:spPr>
      </p:pic>
    </p:spTree>
    <p:extLst>
      <p:ext uri="{BB962C8B-B14F-4D97-AF65-F5344CB8AC3E}">
        <p14:creationId xmlns:p14="http://schemas.microsoft.com/office/powerpoint/2010/main" val="30860080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CB0850-6DAA-5049-B1E7-91B79F705BC5}"/>
              </a:ext>
            </a:extLst>
          </p:cNvPr>
          <p:cNvSpPr>
            <a:spLocks noGrp="1"/>
          </p:cNvSpPr>
          <p:nvPr>
            <p:ph type="body" sz="quarter" idx="13"/>
          </p:nvPr>
        </p:nvSpPr>
        <p:spPr/>
        <p:txBody>
          <a:bodyPr/>
          <a:lstStyle/>
          <a:p>
            <a:r>
              <a:rPr lang="en-AU" dirty="0"/>
              <a:t>Types of receptors</a:t>
            </a:r>
          </a:p>
          <a:p>
            <a:endParaRPr lang="en-US" dirty="0"/>
          </a:p>
        </p:txBody>
      </p:sp>
      <p:sp>
        <p:nvSpPr>
          <p:cNvPr id="3" name="Text Placeholder 2">
            <a:extLst>
              <a:ext uri="{FF2B5EF4-FFF2-40B4-BE49-F238E27FC236}">
                <a16:creationId xmlns:a16="http://schemas.microsoft.com/office/drawing/2014/main" id="{FA89CDB7-ABEF-5E43-A5BF-105207F5345B}"/>
              </a:ext>
            </a:extLst>
          </p:cNvPr>
          <p:cNvSpPr>
            <a:spLocks noGrp="1"/>
          </p:cNvSpPr>
          <p:nvPr>
            <p:ph type="body" sz="quarter" idx="15"/>
          </p:nvPr>
        </p:nvSpPr>
        <p:spPr/>
        <p:txBody>
          <a:bodyPr/>
          <a:lstStyle/>
          <a:p>
            <a:r>
              <a:rPr lang="en-AU" sz="2800" dirty="0">
                <a:latin typeface="Avenir Book" panose="02000503020000020003" pitchFamily="2" charset="0"/>
              </a:rPr>
              <a:t>Changes in the environment may come from different sources. Therefore, there are different types of receptors to be able to detect the different types of </a:t>
            </a:r>
            <a:r>
              <a:rPr lang="en-AU" sz="2800" b="1" dirty="0">
                <a:latin typeface="Avenir Book" panose="02000503020000020003" pitchFamily="2" charset="0"/>
              </a:rPr>
              <a:t>stimuli</a:t>
            </a:r>
            <a:r>
              <a:rPr lang="en-AU" sz="2800" dirty="0">
                <a:latin typeface="Avenir Book" panose="02000503020000020003" pitchFamily="2" charset="0"/>
              </a:rPr>
              <a:t>.</a:t>
            </a:r>
          </a:p>
          <a:p>
            <a:endParaRPr lang="en-US" dirty="0"/>
          </a:p>
        </p:txBody>
      </p:sp>
      <p:pic>
        <p:nvPicPr>
          <p:cNvPr id="4" name="Picture 3" descr="Diagram&#10;&#10;Description automatically generated">
            <a:extLst>
              <a:ext uri="{FF2B5EF4-FFF2-40B4-BE49-F238E27FC236}">
                <a16:creationId xmlns:a16="http://schemas.microsoft.com/office/drawing/2014/main" id="{69592A3C-AB36-C140-B907-47EA65EE9BF9}"/>
              </a:ext>
            </a:extLst>
          </p:cNvPr>
          <p:cNvPicPr>
            <a:picLocks noChangeAspect="1"/>
          </p:cNvPicPr>
          <p:nvPr/>
        </p:nvPicPr>
        <p:blipFill>
          <a:blip r:embed="rId2"/>
          <a:stretch>
            <a:fillRect/>
          </a:stretch>
        </p:blipFill>
        <p:spPr>
          <a:xfrm>
            <a:off x="3871185" y="3429000"/>
            <a:ext cx="4449629" cy="3193128"/>
          </a:xfrm>
          <a:prstGeom prst="rect">
            <a:avLst/>
          </a:prstGeom>
        </p:spPr>
      </p:pic>
    </p:spTree>
    <p:extLst>
      <p:ext uri="{BB962C8B-B14F-4D97-AF65-F5344CB8AC3E}">
        <p14:creationId xmlns:p14="http://schemas.microsoft.com/office/powerpoint/2010/main" val="17855643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5808E62-855F-5B4B-BB08-F1C0ED3A6A85}"/>
              </a:ext>
            </a:extLst>
          </p:cNvPr>
          <p:cNvSpPr>
            <a:spLocks noGrp="1"/>
          </p:cNvSpPr>
          <p:nvPr>
            <p:ph type="body" sz="quarter" idx="13"/>
          </p:nvPr>
        </p:nvSpPr>
        <p:spPr/>
        <p:txBody>
          <a:bodyPr/>
          <a:lstStyle/>
          <a:p>
            <a:r>
              <a:rPr lang="en-AU" dirty="0"/>
              <a:t>Thermoreceptors </a:t>
            </a:r>
            <a:endParaRPr lang="en-US" dirty="0"/>
          </a:p>
        </p:txBody>
      </p:sp>
      <p:sp>
        <p:nvSpPr>
          <p:cNvPr id="3" name="Text Placeholder 2">
            <a:extLst>
              <a:ext uri="{FF2B5EF4-FFF2-40B4-BE49-F238E27FC236}">
                <a16:creationId xmlns:a16="http://schemas.microsoft.com/office/drawing/2014/main" id="{0F635671-BA7B-BA46-A848-880054206D58}"/>
              </a:ext>
            </a:extLst>
          </p:cNvPr>
          <p:cNvSpPr>
            <a:spLocks noGrp="1"/>
          </p:cNvSpPr>
          <p:nvPr>
            <p:ph type="body" sz="quarter" idx="15"/>
          </p:nvPr>
        </p:nvSpPr>
        <p:spPr>
          <a:xfrm>
            <a:off x="280558" y="1528994"/>
            <a:ext cx="4344451" cy="5066923"/>
          </a:xfrm>
        </p:spPr>
        <p:txBody>
          <a:bodyPr>
            <a:normAutofit/>
          </a:bodyPr>
          <a:lstStyle/>
          <a:p>
            <a:r>
              <a:rPr lang="en-AU" sz="2400" dirty="0">
                <a:latin typeface="Avenir Book" panose="02000503020000020003" pitchFamily="2" charset="0"/>
              </a:rPr>
              <a:t>Thermoreceptors are able to respond to heat and cold Skin thermoreceptors inform the brain (the hypothalamus and the cerebrum) of changes in the temperature outside the body. </a:t>
            </a:r>
          </a:p>
          <a:p>
            <a:endParaRPr lang="en-AU" sz="2400" dirty="0">
              <a:latin typeface="Avenir Book" panose="02000503020000020003" pitchFamily="2" charset="0"/>
            </a:endParaRPr>
          </a:p>
          <a:p>
            <a:r>
              <a:rPr lang="en-AU" sz="2400" dirty="0">
                <a:latin typeface="Avenir Book" panose="02000503020000020003" pitchFamily="2" charset="0"/>
              </a:rPr>
              <a:t>In this way, we are consciously aware of the temperature of our surroundings. </a:t>
            </a:r>
            <a:endParaRPr lang="en-US" sz="2400" dirty="0">
              <a:latin typeface="Avenir Book" panose="02000503020000020003" pitchFamily="2" charset="0"/>
            </a:endParaRPr>
          </a:p>
        </p:txBody>
      </p:sp>
      <p:pic>
        <p:nvPicPr>
          <p:cNvPr id="4" name="Picture 3" descr="Diagram&#10;&#10;Description automatically generated">
            <a:extLst>
              <a:ext uri="{FF2B5EF4-FFF2-40B4-BE49-F238E27FC236}">
                <a16:creationId xmlns:a16="http://schemas.microsoft.com/office/drawing/2014/main" id="{07F642F2-4BEE-8F44-A958-88B819ECB623}"/>
              </a:ext>
            </a:extLst>
          </p:cNvPr>
          <p:cNvPicPr>
            <a:picLocks noChangeAspect="1"/>
          </p:cNvPicPr>
          <p:nvPr/>
        </p:nvPicPr>
        <p:blipFill>
          <a:blip r:embed="rId2"/>
          <a:stretch>
            <a:fillRect/>
          </a:stretch>
        </p:blipFill>
        <p:spPr>
          <a:xfrm>
            <a:off x="4783872" y="959003"/>
            <a:ext cx="7256829" cy="5207621"/>
          </a:xfrm>
          <a:prstGeom prst="rect">
            <a:avLst/>
          </a:prstGeom>
        </p:spPr>
      </p:pic>
    </p:spTree>
    <p:extLst>
      <p:ext uri="{BB962C8B-B14F-4D97-AF65-F5344CB8AC3E}">
        <p14:creationId xmlns:p14="http://schemas.microsoft.com/office/powerpoint/2010/main" val="41037956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9451614-2E55-7E41-A605-A1C7C258F1C2}"/>
              </a:ext>
            </a:extLst>
          </p:cNvPr>
          <p:cNvSpPr>
            <a:spLocks noGrp="1"/>
          </p:cNvSpPr>
          <p:nvPr>
            <p:ph type="body" sz="quarter" idx="13"/>
          </p:nvPr>
        </p:nvSpPr>
        <p:spPr/>
        <p:txBody>
          <a:bodyPr/>
          <a:lstStyle/>
          <a:p>
            <a:r>
              <a:rPr lang="en-AU" dirty="0"/>
              <a:t>Thermoreceptors</a:t>
            </a:r>
            <a:endParaRPr lang="en-US" dirty="0"/>
          </a:p>
        </p:txBody>
      </p:sp>
      <p:sp>
        <p:nvSpPr>
          <p:cNvPr id="3" name="Text Placeholder 2">
            <a:extLst>
              <a:ext uri="{FF2B5EF4-FFF2-40B4-BE49-F238E27FC236}">
                <a16:creationId xmlns:a16="http://schemas.microsoft.com/office/drawing/2014/main" id="{01D49048-F646-3D48-98A6-E2E2F3A2C8A8}"/>
              </a:ext>
            </a:extLst>
          </p:cNvPr>
          <p:cNvSpPr>
            <a:spLocks noGrp="1"/>
          </p:cNvSpPr>
          <p:nvPr>
            <p:ph type="body" sz="quarter" idx="15"/>
          </p:nvPr>
        </p:nvSpPr>
        <p:spPr>
          <a:xfrm>
            <a:off x="280558" y="1528994"/>
            <a:ext cx="3999894" cy="5066923"/>
          </a:xfrm>
        </p:spPr>
        <p:txBody>
          <a:bodyPr>
            <a:normAutofit/>
          </a:bodyPr>
          <a:lstStyle/>
          <a:p>
            <a:r>
              <a:rPr lang="en-AU" sz="2400" dirty="0">
                <a:latin typeface="Avenir Book" panose="02000503020000020003" pitchFamily="2" charset="0"/>
              </a:rPr>
              <a:t>Peripheral thermoreceptors in the skin are nerve endings that are sensitive to either heat or cold, but not both if the skin is tested with bot and cold probes, it is found that there are definite hot spots and cold spots, depending on the type of thermoreceptors present. </a:t>
            </a:r>
            <a:endParaRPr lang="en-US" sz="2400" dirty="0">
              <a:latin typeface="Avenir Book" panose="02000503020000020003" pitchFamily="2" charset="0"/>
            </a:endParaRPr>
          </a:p>
        </p:txBody>
      </p:sp>
      <p:pic>
        <p:nvPicPr>
          <p:cNvPr id="4" name="Picture 3" descr="Diagram&#10;&#10;Description automatically generated">
            <a:extLst>
              <a:ext uri="{FF2B5EF4-FFF2-40B4-BE49-F238E27FC236}">
                <a16:creationId xmlns:a16="http://schemas.microsoft.com/office/drawing/2014/main" id="{A673E9AD-93F1-6449-A041-5D242A27D21B}"/>
              </a:ext>
            </a:extLst>
          </p:cNvPr>
          <p:cNvPicPr>
            <a:picLocks noChangeAspect="1"/>
          </p:cNvPicPr>
          <p:nvPr/>
        </p:nvPicPr>
        <p:blipFill>
          <a:blip r:embed="rId2"/>
          <a:stretch>
            <a:fillRect/>
          </a:stretch>
        </p:blipFill>
        <p:spPr>
          <a:xfrm>
            <a:off x="4783872" y="959003"/>
            <a:ext cx="7256829" cy="5207621"/>
          </a:xfrm>
          <a:prstGeom prst="rect">
            <a:avLst/>
          </a:prstGeom>
        </p:spPr>
      </p:pic>
    </p:spTree>
    <p:extLst>
      <p:ext uri="{BB962C8B-B14F-4D97-AF65-F5344CB8AC3E}">
        <p14:creationId xmlns:p14="http://schemas.microsoft.com/office/powerpoint/2010/main" val="12350127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Diagram&#10;&#10;Description automatically generated">
            <a:extLst>
              <a:ext uri="{FF2B5EF4-FFF2-40B4-BE49-F238E27FC236}">
                <a16:creationId xmlns:a16="http://schemas.microsoft.com/office/drawing/2014/main" id="{E3CDAA44-BE1D-8B4F-8631-B7D4DE6D8A1B}"/>
              </a:ext>
            </a:extLst>
          </p:cNvPr>
          <p:cNvPicPr>
            <a:picLocks noChangeAspect="1"/>
          </p:cNvPicPr>
          <p:nvPr/>
        </p:nvPicPr>
        <p:blipFill>
          <a:blip r:embed="rId3"/>
          <a:stretch>
            <a:fillRect/>
          </a:stretch>
        </p:blipFill>
        <p:spPr>
          <a:xfrm>
            <a:off x="4935171" y="845042"/>
            <a:ext cx="7256829" cy="5207621"/>
          </a:xfrm>
          <a:prstGeom prst="rect">
            <a:avLst/>
          </a:prstGeom>
        </p:spPr>
      </p:pic>
      <p:sp>
        <p:nvSpPr>
          <p:cNvPr id="2" name="Text Placeholder 1">
            <a:extLst>
              <a:ext uri="{FF2B5EF4-FFF2-40B4-BE49-F238E27FC236}">
                <a16:creationId xmlns:a16="http://schemas.microsoft.com/office/drawing/2014/main" id="{2710D138-A37C-744A-B80A-3C8D21C1A76B}"/>
              </a:ext>
            </a:extLst>
          </p:cNvPr>
          <p:cNvSpPr>
            <a:spLocks noGrp="1"/>
          </p:cNvSpPr>
          <p:nvPr>
            <p:ph type="body" sz="quarter" idx="13"/>
          </p:nvPr>
        </p:nvSpPr>
        <p:spPr/>
        <p:txBody>
          <a:bodyPr/>
          <a:lstStyle/>
          <a:p>
            <a:r>
              <a:rPr lang="en-AU" dirty="0"/>
              <a:t>Thermoreceptors</a:t>
            </a:r>
            <a:endParaRPr lang="en-US" dirty="0"/>
          </a:p>
        </p:txBody>
      </p:sp>
      <p:sp>
        <p:nvSpPr>
          <p:cNvPr id="3" name="Text Placeholder 2">
            <a:extLst>
              <a:ext uri="{FF2B5EF4-FFF2-40B4-BE49-F238E27FC236}">
                <a16:creationId xmlns:a16="http://schemas.microsoft.com/office/drawing/2014/main" id="{6A69DB53-358A-A148-AAC4-6BD2FD2F1372}"/>
              </a:ext>
            </a:extLst>
          </p:cNvPr>
          <p:cNvSpPr>
            <a:spLocks noGrp="1"/>
          </p:cNvSpPr>
          <p:nvPr>
            <p:ph type="body" sz="quarter" idx="15"/>
          </p:nvPr>
        </p:nvSpPr>
        <p:spPr>
          <a:xfrm>
            <a:off x="280557" y="1528994"/>
            <a:ext cx="4861285" cy="5066923"/>
          </a:xfrm>
        </p:spPr>
        <p:txBody>
          <a:bodyPr>
            <a:normAutofit/>
          </a:bodyPr>
          <a:lstStyle/>
          <a:p>
            <a:r>
              <a:rPr lang="en-AU" sz="2000" dirty="0">
                <a:latin typeface="Avenir Book" panose="02000503020000020003" pitchFamily="2" charset="0"/>
              </a:rPr>
              <a:t>The temperature inside the body, the </a:t>
            </a:r>
            <a:r>
              <a:rPr lang="en-AU" sz="2000" b="1" dirty="0">
                <a:latin typeface="Avenir Book" panose="02000503020000020003" pitchFamily="2" charset="0"/>
              </a:rPr>
              <a:t>core temperature</a:t>
            </a:r>
            <a:r>
              <a:rPr lang="en-AU" sz="2000" dirty="0">
                <a:latin typeface="Avenir Book" panose="02000503020000020003" pitchFamily="2" charset="0"/>
              </a:rPr>
              <a:t>, is monitored by thermoreceptors in the hypothalamus, which detect the temperature of the blood that is flowing through the brain. </a:t>
            </a:r>
          </a:p>
          <a:p>
            <a:endParaRPr lang="en-AU" sz="2000" dirty="0">
              <a:latin typeface="Avenir Book" panose="02000503020000020003" pitchFamily="2" charset="0"/>
            </a:endParaRPr>
          </a:p>
          <a:p>
            <a:r>
              <a:rPr lang="en-AU" sz="2000" dirty="0">
                <a:latin typeface="Avenir Book" panose="02000503020000020003" pitchFamily="2" charset="0"/>
              </a:rPr>
              <a:t>Using information received from the skin and from its own thermoreceptors, the hypothalamus can regulate body temperature. </a:t>
            </a:r>
          </a:p>
          <a:p>
            <a:endParaRPr lang="en-AU" sz="2000" dirty="0">
              <a:latin typeface="Avenir Book" panose="02000503020000020003" pitchFamily="2" charset="0"/>
            </a:endParaRPr>
          </a:p>
          <a:p>
            <a:r>
              <a:rPr lang="en-AU" sz="2000" dirty="0">
                <a:latin typeface="Avenir Book" panose="02000503020000020003" pitchFamily="2" charset="0"/>
              </a:rPr>
              <a:t>This process will be discussed further in homeostasis.</a:t>
            </a:r>
            <a:endParaRPr lang="en-US" sz="2000" dirty="0">
              <a:latin typeface="Avenir Book" panose="02000503020000020003" pitchFamily="2" charset="0"/>
            </a:endParaRPr>
          </a:p>
        </p:txBody>
      </p:sp>
    </p:spTree>
    <p:extLst>
      <p:ext uri="{BB962C8B-B14F-4D97-AF65-F5344CB8AC3E}">
        <p14:creationId xmlns:p14="http://schemas.microsoft.com/office/powerpoint/2010/main" val="39368340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F52243D-F3D5-4D4A-B0B5-D8832D916BC6}"/>
              </a:ext>
            </a:extLst>
          </p:cNvPr>
          <p:cNvSpPr>
            <a:spLocks noGrp="1"/>
          </p:cNvSpPr>
          <p:nvPr>
            <p:ph type="body" sz="quarter" idx="13"/>
          </p:nvPr>
        </p:nvSpPr>
        <p:spPr/>
        <p:txBody>
          <a:bodyPr/>
          <a:lstStyle/>
          <a:p>
            <a:r>
              <a:rPr lang="en-AU" dirty="0"/>
              <a:t>Osmoreceptors</a:t>
            </a:r>
          </a:p>
          <a:p>
            <a:endParaRPr lang="en-US" dirty="0"/>
          </a:p>
        </p:txBody>
      </p:sp>
      <p:sp>
        <p:nvSpPr>
          <p:cNvPr id="3" name="Text Placeholder 2">
            <a:extLst>
              <a:ext uri="{FF2B5EF4-FFF2-40B4-BE49-F238E27FC236}">
                <a16:creationId xmlns:a16="http://schemas.microsoft.com/office/drawing/2014/main" id="{DA4B5D00-C160-D34B-9B5E-08FA968876EA}"/>
              </a:ext>
            </a:extLst>
          </p:cNvPr>
          <p:cNvSpPr>
            <a:spLocks noGrp="1"/>
          </p:cNvSpPr>
          <p:nvPr>
            <p:ph type="body" sz="quarter" idx="15"/>
          </p:nvPr>
        </p:nvSpPr>
        <p:spPr>
          <a:xfrm>
            <a:off x="280558" y="1528994"/>
            <a:ext cx="4569738" cy="5066923"/>
          </a:xfrm>
        </p:spPr>
        <p:txBody>
          <a:bodyPr>
            <a:normAutofit/>
          </a:bodyPr>
          <a:lstStyle/>
          <a:p>
            <a:r>
              <a:rPr lang="en-AU" sz="2000" dirty="0">
                <a:latin typeface="Avenir Book" panose="02000503020000020003" pitchFamily="2" charset="0"/>
              </a:rPr>
              <a:t>Osmotic pressure is determined by the concentration of substances dissolved in the water of the blood plasma. The higher the concentration, the greater the osmotic pressure. </a:t>
            </a:r>
          </a:p>
          <a:p>
            <a:r>
              <a:rPr lang="en-AU" sz="2000" dirty="0">
                <a:latin typeface="Avenir Book" panose="02000503020000020003" pitchFamily="2" charset="0"/>
              </a:rPr>
              <a:t>Osmoreceptors are located in the hypothalamus and are sensitive to even very small changes in osmotic pressure. </a:t>
            </a:r>
          </a:p>
          <a:p>
            <a:r>
              <a:rPr lang="en-AU" sz="2000" dirty="0">
                <a:latin typeface="Avenir Book" panose="02000503020000020003" pitchFamily="2" charset="0"/>
              </a:rPr>
              <a:t>They can stimulate the hypothalamus so that the body's water content is maintained within very narrow limits. </a:t>
            </a:r>
            <a:endParaRPr lang="en-US" sz="2000" dirty="0">
              <a:latin typeface="Avenir Book" panose="02000503020000020003" pitchFamily="2" charset="0"/>
            </a:endParaRPr>
          </a:p>
        </p:txBody>
      </p:sp>
      <p:pic>
        <p:nvPicPr>
          <p:cNvPr id="4" name="Picture 3" descr="Diagram&#10;&#10;Description automatically generated">
            <a:extLst>
              <a:ext uri="{FF2B5EF4-FFF2-40B4-BE49-F238E27FC236}">
                <a16:creationId xmlns:a16="http://schemas.microsoft.com/office/drawing/2014/main" id="{9FDCD765-A1AF-4E46-81F9-3FCB644D7439}"/>
              </a:ext>
            </a:extLst>
          </p:cNvPr>
          <p:cNvPicPr>
            <a:picLocks noChangeAspect="1"/>
          </p:cNvPicPr>
          <p:nvPr/>
        </p:nvPicPr>
        <p:blipFill>
          <a:blip r:embed="rId2"/>
          <a:stretch>
            <a:fillRect/>
          </a:stretch>
        </p:blipFill>
        <p:spPr>
          <a:xfrm>
            <a:off x="4783872" y="959003"/>
            <a:ext cx="7256829" cy="5207621"/>
          </a:xfrm>
          <a:prstGeom prst="rect">
            <a:avLst/>
          </a:prstGeom>
        </p:spPr>
      </p:pic>
    </p:spTree>
    <p:extLst>
      <p:ext uri="{BB962C8B-B14F-4D97-AF65-F5344CB8AC3E}">
        <p14:creationId xmlns:p14="http://schemas.microsoft.com/office/powerpoint/2010/main" val="9061040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00BD308-A294-9A44-BE49-7B36328B93E5}"/>
              </a:ext>
            </a:extLst>
          </p:cNvPr>
          <p:cNvSpPr>
            <a:spLocks noGrp="1"/>
          </p:cNvSpPr>
          <p:nvPr>
            <p:ph type="body" sz="quarter" idx="13"/>
          </p:nvPr>
        </p:nvSpPr>
        <p:spPr/>
        <p:txBody>
          <a:bodyPr/>
          <a:lstStyle/>
          <a:p>
            <a:r>
              <a:rPr lang="en-AU" dirty="0"/>
              <a:t>Chemoreceptors</a:t>
            </a:r>
          </a:p>
          <a:p>
            <a:endParaRPr lang="en-US" dirty="0"/>
          </a:p>
        </p:txBody>
      </p:sp>
      <p:sp>
        <p:nvSpPr>
          <p:cNvPr id="3" name="Text Placeholder 2">
            <a:extLst>
              <a:ext uri="{FF2B5EF4-FFF2-40B4-BE49-F238E27FC236}">
                <a16:creationId xmlns:a16="http://schemas.microsoft.com/office/drawing/2014/main" id="{FED962C5-7D91-0C4D-866B-4CD116BD69F3}"/>
              </a:ext>
            </a:extLst>
          </p:cNvPr>
          <p:cNvSpPr>
            <a:spLocks noGrp="1"/>
          </p:cNvSpPr>
          <p:nvPr>
            <p:ph type="body" sz="quarter" idx="15"/>
          </p:nvPr>
        </p:nvSpPr>
        <p:spPr>
          <a:xfrm>
            <a:off x="280558" y="1528994"/>
            <a:ext cx="4066155" cy="5066923"/>
          </a:xfrm>
        </p:spPr>
        <p:txBody>
          <a:bodyPr>
            <a:normAutofit/>
          </a:bodyPr>
          <a:lstStyle/>
          <a:p>
            <a:r>
              <a:rPr lang="en-AU" sz="2400" dirty="0">
                <a:latin typeface="Avenir Book" panose="02000503020000020003" pitchFamily="2" charset="0"/>
              </a:rPr>
              <a:t>Chemoreceptors are stimulated by particular chemicals. </a:t>
            </a:r>
          </a:p>
          <a:p>
            <a:r>
              <a:rPr lang="en-AU" sz="2400" dirty="0">
                <a:latin typeface="Avenir Book" panose="02000503020000020003" pitchFamily="2" charset="0"/>
              </a:rPr>
              <a:t>They are present in the nose, making us sensitive to odours, and in the mouth, giving us sensitivity to tastes.</a:t>
            </a:r>
          </a:p>
          <a:p>
            <a:r>
              <a:rPr lang="en-AU" sz="2400" dirty="0">
                <a:latin typeface="Avenir Book" panose="02000503020000020003" pitchFamily="2" charset="0"/>
              </a:rPr>
              <a:t>There are also internal chemoreceptors that are sensitive to the composition of body fluids. </a:t>
            </a:r>
            <a:endParaRPr lang="en-US" sz="2400" dirty="0">
              <a:latin typeface="Avenir Book" panose="02000503020000020003" pitchFamily="2" charset="0"/>
            </a:endParaRPr>
          </a:p>
        </p:txBody>
      </p:sp>
      <p:pic>
        <p:nvPicPr>
          <p:cNvPr id="4" name="Picture 3" descr="Diagram&#10;&#10;Description automatically generated">
            <a:extLst>
              <a:ext uri="{FF2B5EF4-FFF2-40B4-BE49-F238E27FC236}">
                <a16:creationId xmlns:a16="http://schemas.microsoft.com/office/drawing/2014/main" id="{69DE952D-80F5-C642-AF35-6A0F5A110C08}"/>
              </a:ext>
            </a:extLst>
          </p:cNvPr>
          <p:cNvPicPr>
            <a:picLocks noChangeAspect="1"/>
          </p:cNvPicPr>
          <p:nvPr/>
        </p:nvPicPr>
        <p:blipFill>
          <a:blip r:embed="rId2"/>
          <a:stretch>
            <a:fillRect/>
          </a:stretch>
        </p:blipFill>
        <p:spPr>
          <a:xfrm>
            <a:off x="4783872" y="959003"/>
            <a:ext cx="7256829" cy="5207621"/>
          </a:xfrm>
          <a:prstGeom prst="rect">
            <a:avLst/>
          </a:prstGeom>
        </p:spPr>
      </p:pic>
    </p:spTree>
    <p:extLst>
      <p:ext uri="{BB962C8B-B14F-4D97-AF65-F5344CB8AC3E}">
        <p14:creationId xmlns:p14="http://schemas.microsoft.com/office/powerpoint/2010/main" val="12133802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0734522-88F0-7544-BB57-B070AD3F7B83}"/>
              </a:ext>
            </a:extLst>
          </p:cNvPr>
          <p:cNvSpPr>
            <a:spLocks noGrp="1"/>
          </p:cNvSpPr>
          <p:nvPr>
            <p:ph type="body" sz="quarter" idx="13"/>
          </p:nvPr>
        </p:nvSpPr>
        <p:spPr/>
        <p:txBody>
          <a:bodyPr/>
          <a:lstStyle/>
          <a:p>
            <a:r>
              <a:rPr lang="en-AU" dirty="0"/>
              <a:t>Chemoreceptors</a:t>
            </a:r>
          </a:p>
          <a:p>
            <a:endParaRPr lang="en-US" dirty="0"/>
          </a:p>
        </p:txBody>
      </p:sp>
      <p:sp>
        <p:nvSpPr>
          <p:cNvPr id="3" name="Text Placeholder 2">
            <a:extLst>
              <a:ext uri="{FF2B5EF4-FFF2-40B4-BE49-F238E27FC236}">
                <a16:creationId xmlns:a16="http://schemas.microsoft.com/office/drawing/2014/main" id="{40F81822-1AE7-3F4D-BB65-6C3DB1DB5A95}"/>
              </a:ext>
            </a:extLst>
          </p:cNvPr>
          <p:cNvSpPr>
            <a:spLocks noGrp="1"/>
          </p:cNvSpPr>
          <p:nvPr>
            <p:ph type="body" sz="quarter" idx="15"/>
          </p:nvPr>
        </p:nvSpPr>
        <p:spPr>
          <a:xfrm>
            <a:off x="280557" y="1528994"/>
            <a:ext cx="4662503" cy="5066923"/>
          </a:xfrm>
        </p:spPr>
        <p:txBody>
          <a:bodyPr>
            <a:normAutofit/>
          </a:bodyPr>
          <a:lstStyle/>
          <a:p>
            <a:r>
              <a:rPr lang="en-AU" sz="2400" dirty="0">
                <a:latin typeface="Avenir Book" panose="02000503020000020003" pitchFamily="2" charset="0"/>
              </a:rPr>
              <a:t>Of particular importance are chemoreceptors in certain blood vessels that are sensitive to the pH of the blood and to the concentrations of oxygen and carbon dioxide. </a:t>
            </a:r>
          </a:p>
          <a:p>
            <a:endParaRPr lang="en-AU" sz="2400" dirty="0">
              <a:latin typeface="Avenir Book" panose="02000503020000020003" pitchFamily="2" charset="0"/>
            </a:endParaRPr>
          </a:p>
          <a:p>
            <a:r>
              <a:rPr lang="en-AU" sz="2400" dirty="0">
                <a:latin typeface="Avenir Book" panose="02000503020000020003" pitchFamily="2" charset="0"/>
              </a:rPr>
              <a:t>These chemoreceptors are involved in the regulation of the heartbeat and of breathing.</a:t>
            </a:r>
            <a:endParaRPr lang="en-US" sz="2400" dirty="0">
              <a:latin typeface="Avenir Book" panose="02000503020000020003" pitchFamily="2" charset="0"/>
            </a:endParaRPr>
          </a:p>
        </p:txBody>
      </p:sp>
      <p:pic>
        <p:nvPicPr>
          <p:cNvPr id="4" name="Picture 3" descr="Diagram&#10;&#10;Description automatically generated">
            <a:extLst>
              <a:ext uri="{FF2B5EF4-FFF2-40B4-BE49-F238E27FC236}">
                <a16:creationId xmlns:a16="http://schemas.microsoft.com/office/drawing/2014/main" id="{0359F8F4-6BE4-914F-A5E6-307529A975CF}"/>
              </a:ext>
            </a:extLst>
          </p:cNvPr>
          <p:cNvPicPr>
            <a:picLocks noChangeAspect="1"/>
          </p:cNvPicPr>
          <p:nvPr/>
        </p:nvPicPr>
        <p:blipFill>
          <a:blip r:embed="rId2"/>
          <a:stretch>
            <a:fillRect/>
          </a:stretch>
        </p:blipFill>
        <p:spPr>
          <a:xfrm>
            <a:off x="4783872" y="959003"/>
            <a:ext cx="7256829" cy="5207621"/>
          </a:xfrm>
          <a:prstGeom prst="rect">
            <a:avLst/>
          </a:prstGeom>
        </p:spPr>
      </p:pic>
    </p:spTree>
    <p:extLst>
      <p:ext uri="{BB962C8B-B14F-4D97-AF65-F5344CB8AC3E}">
        <p14:creationId xmlns:p14="http://schemas.microsoft.com/office/powerpoint/2010/main" val="36468097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Diagram&#10;&#10;Description automatically generated">
            <a:extLst>
              <a:ext uri="{FF2B5EF4-FFF2-40B4-BE49-F238E27FC236}">
                <a16:creationId xmlns:a16="http://schemas.microsoft.com/office/drawing/2014/main" id="{C355FB9D-7C94-3648-BB34-C61FEAC1B80B}"/>
              </a:ext>
            </a:extLst>
          </p:cNvPr>
          <p:cNvPicPr>
            <a:picLocks noChangeAspect="1"/>
          </p:cNvPicPr>
          <p:nvPr/>
        </p:nvPicPr>
        <p:blipFill>
          <a:blip r:embed="rId2"/>
          <a:stretch>
            <a:fillRect/>
          </a:stretch>
        </p:blipFill>
        <p:spPr>
          <a:xfrm>
            <a:off x="4783872" y="959003"/>
            <a:ext cx="7256829" cy="5207621"/>
          </a:xfrm>
          <a:prstGeom prst="rect">
            <a:avLst/>
          </a:prstGeom>
        </p:spPr>
      </p:pic>
      <p:sp>
        <p:nvSpPr>
          <p:cNvPr id="2" name="Text Placeholder 1">
            <a:extLst>
              <a:ext uri="{FF2B5EF4-FFF2-40B4-BE49-F238E27FC236}">
                <a16:creationId xmlns:a16="http://schemas.microsoft.com/office/drawing/2014/main" id="{F9AA51A2-F9C4-C042-A544-6ADD89FF0D8D}"/>
              </a:ext>
            </a:extLst>
          </p:cNvPr>
          <p:cNvSpPr>
            <a:spLocks noGrp="1"/>
          </p:cNvSpPr>
          <p:nvPr>
            <p:ph type="body" sz="quarter" idx="13"/>
          </p:nvPr>
        </p:nvSpPr>
        <p:spPr/>
        <p:txBody>
          <a:bodyPr/>
          <a:lstStyle/>
          <a:p>
            <a:r>
              <a:rPr lang="en-US" dirty="0"/>
              <a:t>Touch Receptors </a:t>
            </a:r>
          </a:p>
        </p:txBody>
      </p:sp>
      <p:sp>
        <p:nvSpPr>
          <p:cNvPr id="3" name="Text Placeholder 2">
            <a:extLst>
              <a:ext uri="{FF2B5EF4-FFF2-40B4-BE49-F238E27FC236}">
                <a16:creationId xmlns:a16="http://schemas.microsoft.com/office/drawing/2014/main" id="{E1C29738-23AB-8543-9FF1-8688F27B55F2}"/>
              </a:ext>
            </a:extLst>
          </p:cNvPr>
          <p:cNvSpPr>
            <a:spLocks noGrp="1"/>
          </p:cNvSpPr>
          <p:nvPr>
            <p:ph type="body" sz="quarter" idx="15"/>
          </p:nvPr>
        </p:nvSpPr>
        <p:spPr>
          <a:xfrm>
            <a:off x="280557" y="1483702"/>
            <a:ext cx="4503315" cy="5066923"/>
          </a:xfrm>
        </p:spPr>
        <p:txBody>
          <a:bodyPr>
            <a:normAutofit/>
          </a:bodyPr>
          <a:lstStyle/>
          <a:p>
            <a:r>
              <a:rPr lang="en-AU" sz="2400" dirty="0">
                <a:latin typeface="Avenir Book" panose="02000503020000020003" pitchFamily="2" charset="0"/>
              </a:rPr>
              <a:t> Touch receptors (also known as mechanoreceptors or pressure receptors) are found mainly in the skin.</a:t>
            </a:r>
          </a:p>
          <a:p>
            <a:r>
              <a:rPr lang="en-AU" sz="2400" dirty="0">
                <a:latin typeface="Avenir Book" panose="02000503020000020003" pitchFamily="2" charset="0"/>
              </a:rPr>
              <a:t>There are a number of different types of touch receptors. Some are close to the surface of the skin and are sensitive to very light touch. </a:t>
            </a:r>
          </a:p>
          <a:p>
            <a:r>
              <a:rPr lang="en-AU" sz="2400" dirty="0">
                <a:latin typeface="Avenir Book" panose="02000503020000020003" pitchFamily="2" charset="0"/>
              </a:rPr>
              <a:t>These occur in greater concentrations in areas such as the lips, fingertips. eyelids and external genital organs.</a:t>
            </a:r>
          </a:p>
          <a:p>
            <a:r>
              <a:rPr lang="en-AU" dirty="0"/>
              <a:t> </a:t>
            </a:r>
          </a:p>
          <a:p>
            <a:endParaRPr lang="en-US" dirty="0"/>
          </a:p>
        </p:txBody>
      </p:sp>
    </p:spTree>
    <p:extLst>
      <p:ext uri="{BB962C8B-B14F-4D97-AF65-F5344CB8AC3E}">
        <p14:creationId xmlns:p14="http://schemas.microsoft.com/office/powerpoint/2010/main" val="19206211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Diagram&#10;&#10;Description automatically generated">
            <a:extLst>
              <a:ext uri="{FF2B5EF4-FFF2-40B4-BE49-F238E27FC236}">
                <a16:creationId xmlns:a16="http://schemas.microsoft.com/office/drawing/2014/main" id="{C4817E7B-02D1-4749-B28B-FF5886182005}"/>
              </a:ext>
            </a:extLst>
          </p:cNvPr>
          <p:cNvPicPr>
            <a:picLocks noChangeAspect="1"/>
          </p:cNvPicPr>
          <p:nvPr/>
        </p:nvPicPr>
        <p:blipFill>
          <a:blip r:embed="rId2"/>
          <a:stretch>
            <a:fillRect/>
          </a:stretch>
        </p:blipFill>
        <p:spPr>
          <a:xfrm>
            <a:off x="4783872" y="959003"/>
            <a:ext cx="7256829" cy="5207621"/>
          </a:xfrm>
          <a:prstGeom prst="rect">
            <a:avLst/>
          </a:prstGeom>
        </p:spPr>
      </p:pic>
      <p:sp>
        <p:nvSpPr>
          <p:cNvPr id="2" name="Text Placeholder 1">
            <a:extLst>
              <a:ext uri="{FF2B5EF4-FFF2-40B4-BE49-F238E27FC236}">
                <a16:creationId xmlns:a16="http://schemas.microsoft.com/office/drawing/2014/main" id="{C76C6FB7-5C9D-654F-A26D-735E15317E1A}"/>
              </a:ext>
            </a:extLst>
          </p:cNvPr>
          <p:cNvSpPr>
            <a:spLocks noGrp="1"/>
          </p:cNvSpPr>
          <p:nvPr>
            <p:ph type="body" sz="quarter" idx="13"/>
          </p:nvPr>
        </p:nvSpPr>
        <p:spPr/>
        <p:txBody>
          <a:bodyPr/>
          <a:lstStyle/>
          <a:p>
            <a:r>
              <a:rPr lang="en-US" dirty="0"/>
              <a:t>Touch Receptors </a:t>
            </a:r>
          </a:p>
        </p:txBody>
      </p:sp>
      <p:sp>
        <p:nvSpPr>
          <p:cNvPr id="3" name="Text Placeholder 2">
            <a:extLst>
              <a:ext uri="{FF2B5EF4-FFF2-40B4-BE49-F238E27FC236}">
                <a16:creationId xmlns:a16="http://schemas.microsoft.com/office/drawing/2014/main" id="{40129499-E488-134B-B595-FAD7C5E9EE71}"/>
              </a:ext>
            </a:extLst>
          </p:cNvPr>
          <p:cNvSpPr>
            <a:spLocks noGrp="1"/>
          </p:cNvSpPr>
          <p:nvPr>
            <p:ph type="body" sz="quarter" idx="15"/>
          </p:nvPr>
        </p:nvSpPr>
        <p:spPr>
          <a:xfrm>
            <a:off x="280559" y="1528994"/>
            <a:ext cx="4503314" cy="5066923"/>
          </a:xfrm>
        </p:spPr>
        <p:txBody>
          <a:bodyPr>
            <a:normAutofit lnSpcReduction="10000"/>
          </a:bodyPr>
          <a:lstStyle/>
          <a:p>
            <a:r>
              <a:rPr lang="en-AU" sz="2000" dirty="0">
                <a:latin typeface="Avenir Book" panose="02000503020000020003" pitchFamily="2" charset="0"/>
              </a:rPr>
              <a:t>Nerve endings are also associated with the base of each hair follicle. </a:t>
            </a:r>
          </a:p>
          <a:p>
            <a:endParaRPr lang="en-AU" sz="2000" dirty="0">
              <a:latin typeface="Avenir Book" panose="02000503020000020003" pitchFamily="2" charset="0"/>
            </a:endParaRPr>
          </a:p>
          <a:p>
            <a:r>
              <a:rPr lang="en-AU" sz="2000" dirty="0">
                <a:latin typeface="Avenir Book" panose="02000503020000020003" pitchFamily="2" charset="0"/>
              </a:rPr>
              <a:t>These respond to any light touch that bends the hair. Touch receptors close to the skin surface and those attached to the hairs adapt rapidly, and so after a short time we are no longer aware of the touch. </a:t>
            </a:r>
          </a:p>
          <a:p>
            <a:endParaRPr lang="en-AU" sz="2000" dirty="0">
              <a:latin typeface="Avenir Book" panose="02000503020000020003" pitchFamily="2" charset="0"/>
            </a:endParaRPr>
          </a:p>
          <a:p>
            <a:r>
              <a:rPr lang="en-AU" sz="2000" dirty="0">
                <a:latin typeface="Avenir Book" panose="02000503020000020003" pitchFamily="2" charset="0"/>
              </a:rPr>
              <a:t>For example, when first putting on clothing we are aware of it touching the skin, but that sensation disappears very quickly. Other touch receptors are located deeper in the skin and are sensitive to pressure and vibrations. </a:t>
            </a:r>
          </a:p>
          <a:p>
            <a:endParaRPr lang="en-US" dirty="0"/>
          </a:p>
        </p:txBody>
      </p:sp>
    </p:spTree>
    <p:extLst>
      <p:ext uri="{BB962C8B-B14F-4D97-AF65-F5344CB8AC3E}">
        <p14:creationId xmlns:p14="http://schemas.microsoft.com/office/powerpoint/2010/main" val="19322115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899EB4A-3488-DE42-A7AA-2E1389CE7FA4}"/>
              </a:ext>
            </a:extLst>
          </p:cNvPr>
          <p:cNvSpPr>
            <a:spLocks noGrp="1"/>
          </p:cNvSpPr>
          <p:nvPr>
            <p:ph type="body" sz="quarter" idx="13"/>
          </p:nvPr>
        </p:nvSpPr>
        <p:spPr/>
        <p:txBody>
          <a:bodyPr/>
          <a:lstStyle/>
          <a:p>
            <a:r>
              <a:rPr lang="en-US" dirty="0"/>
              <a:t>Pain Receptors </a:t>
            </a:r>
          </a:p>
        </p:txBody>
      </p:sp>
      <p:sp>
        <p:nvSpPr>
          <p:cNvPr id="3" name="Text Placeholder 2">
            <a:extLst>
              <a:ext uri="{FF2B5EF4-FFF2-40B4-BE49-F238E27FC236}">
                <a16:creationId xmlns:a16="http://schemas.microsoft.com/office/drawing/2014/main" id="{04AF03D7-BDC9-A745-B93D-02078F9723F7}"/>
              </a:ext>
            </a:extLst>
          </p:cNvPr>
          <p:cNvSpPr>
            <a:spLocks noGrp="1"/>
          </p:cNvSpPr>
          <p:nvPr>
            <p:ph type="body" sz="quarter" idx="15"/>
          </p:nvPr>
        </p:nvSpPr>
        <p:spPr>
          <a:xfrm>
            <a:off x="280557" y="1528994"/>
            <a:ext cx="4503315" cy="5066923"/>
          </a:xfrm>
        </p:spPr>
        <p:txBody>
          <a:bodyPr>
            <a:normAutofit/>
          </a:bodyPr>
          <a:lstStyle/>
          <a:p>
            <a:r>
              <a:rPr lang="en-AU" sz="2400" b="1" dirty="0">
                <a:latin typeface="Avenir Book" panose="02000503020000020003" pitchFamily="2" charset="0"/>
              </a:rPr>
              <a:t>Pain receptors </a:t>
            </a:r>
            <a:r>
              <a:rPr lang="en-AU" sz="2400" dirty="0">
                <a:latin typeface="Avenir Book" panose="02000503020000020003" pitchFamily="2" charset="0"/>
              </a:rPr>
              <a:t>(also called nociceptors) are stimulated by damage to the tissues, such as from a cut or a heavy bump, by poor blood flow to a tissue, or by excessive stimulation from stimuli such as heat or chemicals. </a:t>
            </a:r>
          </a:p>
          <a:p>
            <a:endParaRPr lang="en-AU" sz="2400" dirty="0">
              <a:latin typeface="Avenir Book" panose="02000503020000020003" pitchFamily="2" charset="0"/>
            </a:endParaRPr>
          </a:p>
          <a:p>
            <a:r>
              <a:rPr lang="en-AU" sz="2400" dirty="0">
                <a:latin typeface="Avenir Book" panose="02000503020000020003" pitchFamily="2" charset="0"/>
              </a:rPr>
              <a:t>The receptors for pain are especially concentrated in the skin and the mucous membranes. </a:t>
            </a:r>
          </a:p>
        </p:txBody>
      </p:sp>
      <p:pic>
        <p:nvPicPr>
          <p:cNvPr id="5" name="Picture 4" descr="Diagram&#10;&#10;Description automatically generated">
            <a:extLst>
              <a:ext uri="{FF2B5EF4-FFF2-40B4-BE49-F238E27FC236}">
                <a16:creationId xmlns:a16="http://schemas.microsoft.com/office/drawing/2014/main" id="{F9B13B33-348C-0544-BAD6-5476F1B24E3A}"/>
              </a:ext>
            </a:extLst>
          </p:cNvPr>
          <p:cNvPicPr>
            <a:picLocks noChangeAspect="1"/>
          </p:cNvPicPr>
          <p:nvPr/>
        </p:nvPicPr>
        <p:blipFill>
          <a:blip r:embed="rId2"/>
          <a:stretch>
            <a:fillRect/>
          </a:stretch>
        </p:blipFill>
        <p:spPr>
          <a:xfrm>
            <a:off x="4783872" y="959003"/>
            <a:ext cx="7256829" cy="5207621"/>
          </a:xfrm>
          <a:prstGeom prst="rect">
            <a:avLst/>
          </a:prstGeom>
        </p:spPr>
      </p:pic>
    </p:spTree>
    <p:extLst>
      <p:ext uri="{BB962C8B-B14F-4D97-AF65-F5344CB8AC3E}">
        <p14:creationId xmlns:p14="http://schemas.microsoft.com/office/powerpoint/2010/main" val="30336749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1D7C5F4-F518-324E-9D2D-2A1E698864EE}"/>
              </a:ext>
            </a:extLst>
          </p:cNvPr>
          <p:cNvSpPr>
            <a:spLocks noGrp="1"/>
          </p:cNvSpPr>
          <p:nvPr>
            <p:ph type="body" sz="quarter" idx="13"/>
          </p:nvPr>
        </p:nvSpPr>
        <p:spPr/>
        <p:txBody>
          <a:bodyPr/>
          <a:lstStyle/>
          <a:p>
            <a:r>
              <a:rPr lang="en-US" dirty="0"/>
              <a:t>Pain Receptors </a:t>
            </a:r>
          </a:p>
        </p:txBody>
      </p:sp>
      <p:sp>
        <p:nvSpPr>
          <p:cNvPr id="3" name="Text Placeholder 2">
            <a:extLst>
              <a:ext uri="{FF2B5EF4-FFF2-40B4-BE49-F238E27FC236}">
                <a16:creationId xmlns:a16="http://schemas.microsoft.com/office/drawing/2014/main" id="{6BD5D00C-B557-D94A-9379-56318283F7FF}"/>
              </a:ext>
            </a:extLst>
          </p:cNvPr>
          <p:cNvSpPr>
            <a:spLocks noGrp="1"/>
          </p:cNvSpPr>
          <p:nvPr>
            <p:ph type="body" sz="quarter" idx="15"/>
          </p:nvPr>
        </p:nvSpPr>
        <p:spPr>
          <a:xfrm>
            <a:off x="280558" y="1528994"/>
            <a:ext cx="4503314" cy="5066923"/>
          </a:xfrm>
        </p:spPr>
        <p:txBody>
          <a:bodyPr/>
          <a:lstStyle/>
          <a:p>
            <a:r>
              <a:rPr lang="en-AU" sz="2400" dirty="0">
                <a:latin typeface="Avenir Book" panose="02000503020000020003" pitchFamily="2" charset="0"/>
              </a:rPr>
              <a:t>They occur in most organs, but not in the brain. Pain is uncomfortable, but it is essential for our wellbeing.</a:t>
            </a:r>
          </a:p>
          <a:p>
            <a:r>
              <a:rPr lang="en-AU" sz="2400" dirty="0">
                <a:latin typeface="Avenir Book" panose="02000503020000020003" pitchFamily="2" charset="0"/>
              </a:rPr>
              <a:t>Pain warns us that damage to tissues is occurring, and we can therefore take evasive action or seek medical help so that damage is minimised. </a:t>
            </a:r>
          </a:p>
          <a:p>
            <a:endParaRPr lang="en-US" dirty="0"/>
          </a:p>
        </p:txBody>
      </p:sp>
      <p:pic>
        <p:nvPicPr>
          <p:cNvPr id="4" name="Picture 3" descr="Diagram&#10;&#10;Description automatically generated">
            <a:extLst>
              <a:ext uri="{FF2B5EF4-FFF2-40B4-BE49-F238E27FC236}">
                <a16:creationId xmlns:a16="http://schemas.microsoft.com/office/drawing/2014/main" id="{01580A4E-6FCE-9E41-A0AE-C4922F828F2D}"/>
              </a:ext>
            </a:extLst>
          </p:cNvPr>
          <p:cNvPicPr>
            <a:picLocks noChangeAspect="1"/>
          </p:cNvPicPr>
          <p:nvPr/>
        </p:nvPicPr>
        <p:blipFill>
          <a:blip r:embed="rId2"/>
          <a:stretch>
            <a:fillRect/>
          </a:stretch>
        </p:blipFill>
        <p:spPr>
          <a:xfrm>
            <a:off x="4783872" y="959003"/>
            <a:ext cx="7256829" cy="5207621"/>
          </a:xfrm>
          <a:prstGeom prst="rect">
            <a:avLst/>
          </a:prstGeom>
        </p:spPr>
      </p:pic>
    </p:spTree>
    <p:extLst>
      <p:ext uri="{BB962C8B-B14F-4D97-AF65-F5344CB8AC3E}">
        <p14:creationId xmlns:p14="http://schemas.microsoft.com/office/powerpoint/2010/main" val="33663977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83E9CA8-CA98-CE42-AC73-EE4634046B2B}"/>
              </a:ext>
            </a:extLst>
          </p:cNvPr>
          <p:cNvSpPr>
            <a:spLocks noGrp="1"/>
          </p:cNvSpPr>
          <p:nvPr>
            <p:ph type="body" sz="quarter" idx="13"/>
          </p:nvPr>
        </p:nvSpPr>
        <p:spPr/>
        <p:txBody>
          <a:bodyPr/>
          <a:lstStyle/>
          <a:p>
            <a:r>
              <a:rPr lang="en-US" dirty="0"/>
              <a:t>Pain Receptors </a:t>
            </a:r>
          </a:p>
        </p:txBody>
      </p:sp>
      <p:sp>
        <p:nvSpPr>
          <p:cNvPr id="3" name="Text Placeholder 2">
            <a:extLst>
              <a:ext uri="{FF2B5EF4-FFF2-40B4-BE49-F238E27FC236}">
                <a16:creationId xmlns:a16="http://schemas.microsoft.com/office/drawing/2014/main" id="{01CD6EC3-4117-4240-A967-9FFC8902076B}"/>
              </a:ext>
            </a:extLst>
          </p:cNvPr>
          <p:cNvSpPr>
            <a:spLocks noGrp="1"/>
          </p:cNvSpPr>
          <p:nvPr>
            <p:ph type="body" sz="quarter" idx="15"/>
          </p:nvPr>
        </p:nvSpPr>
        <p:spPr>
          <a:xfrm>
            <a:off x="280557" y="1528994"/>
            <a:ext cx="4397459" cy="5066923"/>
          </a:xfrm>
        </p:spPr>
        <p:txBody>
          <a:bodyPr>
            <a:normAutofit/>
          </a:bodyPr>
          <a:lstStyle/>
          <a:p>
            <a:r>
              <a:rPr lang="en-AU" sz="2400" dirty="0">
                <a:latin typeface="Avenir Book" panose="02000503020000020003" pitchFamily="2" charset="0"/>
              </a:rPr>
              <a:t>Unlike many other receptors, pain receptors adapt little or not at all, so that pain continues for as long as the stimulus is present.</a:t>
            </a:r>
          </a:p>
          <a:p>
            <a:r>
              <a:rPr lang="en-AU" sz="2400" dirty="0">
                <a:latin typeface="Avenir Book" panose="02000503020000020003" pitchFamily="2" charset="0"/>
              </a:rPr>
              <a:t>In some cases, prolonged stimulation of pain receptors makes the pain worse. </a:t>
            </a:r>
          </a:p>
          <a:p>
            <a:r>
              <a:rPr lang="en-AU" sz="2400" dirty="0">
                <a:latin typeface="Avenir Book" panose="02000503020000020003" pitchFamily="2" charset="0"/>
              </a:rPr>
              <a:t>The failure of pain receptors to adapt keeps the person aware that a tissue-damaging situation exists.</a:t>
            </a:r>
          </a:p>
          <a:p>
            <a:endParaRPr lang="en-US" dirty="0"/>
          </a:p>
        </p:txBody>
      </p:sp>
      <p:pic>
        <p:nvPicPr>
          <p:cNvPr id="4" name="Picture 3" descr="Diagram&#10;&#10;Description automatically generated">
            <a:extLst>
              <a:ext uri="{FF2B5EF4-FFF2-40B4-BE49-F238E27FC236}">
                <a16:creationId xmlns:a16="http://schemas.microsoft.com/office/drawing/2014/main" id="{BA719EDE-AE9A-9B40-88A5-1F3E4BCDABAC}"/>
              </a:ext>
            </a:extLst>
          </p:cNvPr>
          <p:cNvPicPr>
            <a:picLocks noChangeAspect="1"/>
          </p:cNvPicPr>
          <p:nvPr/>
        </p:nvPicPr>
        <p:blipFill>
          <a:blip r:embed="rId2"/>
          <a:stretch>
            <a:fillRect/>
          </a:stretch>
        </p:blipFill>
        <p:spPr>
          <a:xfrm>
            <a:off x="4783872" y="959003"/>
            <a:ext cx="7256829" cy="5207621"/>
          </a:xfrm>
          <a:prstGeom prst="rect">
            <a:avLst/>
          </a:prstGeom>
        </p:spPr>
      </p:pic>
    </p:spTree>
    <p:extLst>
      <p:ext uri="{BB962C8B-B14F-4D97-AF65-F5344CB8AC3E}">
        <p14:creationId xmlns:p14="http://schemas.microsoft.com/office/powerpoint/2010/main" val="2854154610"/>
      </p:ext>
    </p:extLst>
  </p:cSld>
  <p:clrMapOvr>
    <a:masterClrMapping/>
  </p:clrMapOvr>
</p:sld>
</file>

<file path=ppt/theme/theme1.xml><?xml version="1.0" encoding="utf-8"?>
<a:theme xmlns:a="http://schemas.openxmlformats.org/drawingml/2006/main" name="Explicit Instructio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ln>
          <a:noFill/>
        </a:ln>
      </a:spPr>
      <a:bodyPr wrap="square" rtlCol="0" anchor="t" anchorCtr="0">
        <a:normAutofit fontScale="92500"/>
      </a:bodyPr>
      <a:lstStyle>
        <a:defPPr algn="l">
          <a:defRPr sz="5400" b="1" dirty="0" smtClean="0">
            <a:latin typeface="Century Gothic" panose="020B0502020202020204" pitchFamily="34" charset="0"/>
            <a:cs typeface="Futura Medium" panose="020B0602020204020303" pitchFamily="34" charset="-79"/>
          </a:defRPr>
        </a:defPPr>
      </a:lstStyle>
    </a:txDef>
  </a:objectDefaults>
  <a:extraClrSchemeLst/>
  <a:extLst>
    <a:ext uri="{05A4C25C-085E-4340-85A3-A5531E510DB2}">
      <thm15:themeFamily xmlns:thm15="http://schemas.microsoft.com/office/thememl/2012/main" name="Presentation7" id="{A0887C6E-96BD-534A-8CBE-9AAF12871CE8}" vid="{583381A7-9936-5D44-AF96-977A58C393EF}"/>
    </a:ext>
  </a:extLst>
</a:theme>
</file>

<file path=ppt/theme/theme2.xml><?xml version="1.0" encoding="utf-8"?>
<a:theme xmlns:a="http://schemas.openxmlformats.org/drawingml/2006/main" name="Daily Review">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7" id="{A0887C6E-96BD-534A-8CBE-9AAF12871CE8}" vid="{44E26B83-00B7-BB4D-A2EC-ADFFD194B2BC}"/>
    </a:ext>
  </a:extLst>
</a:theme>
</file>

<file path=ppt/theme/theme3.xml><?xml version="1.0" encoding="utf-8"?>
<a:theme xmlns:a="http://schemas.openxmlformats.org/drawingml/2006/main" name="Vocabulary &amp; Spelling">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7" id="{A0887C6E-96BD-534A-8CBE-9AAF12871CE8}" vid="{821F2746-48D5-5843-A7D5-EF5B105A2CD3}"/>
    </a:ext>
  </a:extLst>
</a:theme>
</file>

<file path=ppt/theme/theme4.xml><?xml version="1.0" encoding="utf-8"?>
<a:theme xmlns:a="http://schemas.openxmlformats.org/drawingml/2006/main" name="Reading Comprehensio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ln>
          <a:noFill/>
        </a:ln>
      </a:spPr>
      <a:bodyPr wrap="square" rtlCol="0" anchor="t" anchorCtr="0">
        <a:normAutofit fontScale="92500"/>
      </a:bodyPr>
      <a:lstStyle>
        <a:defPPr algn="l">
          <a:defRPr sz="5400" b="1" dirty="0" smtClean="0">
            <a:latin typeface="Century Gothic" panose="020B0502020202020204" pitchFamily="34" charset="0"/>
            <a:cs typeface="Futura Medium" panose="020B0602020204020303" pitchFamily="34" charset="-79"/>
          </a:defRPr>
        </a:defPPr>
      </a:lstStyle>
    </a:txDef>
  </a:objectDefaults>
  <a:extraClrSchemeLst/>
  <a:extLst>
    <a:ext uri="{05A4C25C-085E-4340-85A3-A5531E510DB2}">
      <thm15:themeFamily xmlns:thm15="http://schemas.microsoft.com/office/thememl/2012/main" name="Presentation7" id="{A0887C6E-96BD-534A-8CBE-9AAF12871CE8}" vid="{2E2F26A4-DEB2-AF4B-9600-F3299094F0DC}"/>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7" id="{A0887C6E-96BD-534A-8CBE-9AAF12871CE8}" vid="{32E83A20-4629-CD4A-B190-FC50DD96DD5C}"/>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Explicit Instruction</Template>
  <TotalTime>1389</TotalTime>
  <Words>914</Words>
  <Application>Microsoft Macintosh PowerPoint</Application>
  <PresentationFormat>Widescreen</PresentationFormat>
  <Paragraphs>59</Paragraphs>
  <Slides>15</Slides>
  <Notes>2</Notes>
  <HiddenSlides>0</HiddenSlides>
  <MMClips>0</MMClips>
  <ScaleCrop>false</ScaleCrop>
  <HeadingPairs>
    <vt:vector size="6" baseType="variant">
      <vt:variant>
        <vt:lpstr>Fonts Used</vt:lpstr>
      </vt:variant>
      <vt:variant>
        <vt:i4>8</vt:i4>
      </vt:variant>
      <vt:variant>
        <vt:lpstr>Theme</vt:lpstr>
      </vt:variant>
      <vt:variant>
        <vt:i4>5</vt:i4>
      </vt:variant>
      <vt:variant>
        <vt:lpstr>Slide Titles</vt:lpstr>
      </vt:variant>
      <vt:variant>
        <vt:i4>15</vt:i4>
      </vt:variant>
    </vt:vector>
  </HeadingPairs>
  <TitlesOfParts>
    <vt:vector size="28" baseType="lpstr">
      <vt:lpstr>Arial</vt:lpstr>
      <vt:lpstr>Arial Rounded MT Bold</vt:lpstr>
      <vt:lpstr>Avenir Book</vt:lpstr>
      <vt:lpstr>Calibri</vt:lpstr>
      <vt:lpstr>Calibri Light</vt:lpstr>
      <vt:lpstr>Century Gothic</vt:lpstr>
      <vt:lpstr>Futura Medium</vt:lpstr>
      <vt:lpstr>Verdana</vt:lpstr>
      <vt:lpstr>Explicit Instruction</vt:lpstr>
      <vt:lpstr>Daily Review</vt:lpstr>
      <vt:lpstr>Vocabulary &amp; Spelling</vt:lpstr>
      <vt:lpstr>Reading Comprehension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YATES Hayden [Safety Bay Senior High School]</dc:creator>
  <cp:lastModifiedBy>YATES Hayden [Safety Bay Senior High School]</cp:lastModifiedBy>
  <cp:revision>2</cp:revision>
  <cp:lastPrinted>2020-06-12T23:59:38Z</cp:lastPrinted>
  <dcterms:created xsi:type="dcterms:W3CDTF">2022-02-21T15:15:33Z</dcterms:created>
  <dcterms:modified xsi:type="dcterms:W3CDTF">2022-02-22T14:25:03Z</dcterms:modified>
</cp:coreProperties>
</file>
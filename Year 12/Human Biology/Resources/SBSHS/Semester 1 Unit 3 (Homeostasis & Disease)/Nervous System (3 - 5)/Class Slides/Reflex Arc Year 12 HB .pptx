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 id="2147483733" r:id="rId2"/>
    <p:sldMasterId id="2147483748" r:id="rId3"/>
    <p:sldMasterId id="2147483757" r:id="rId4"/>
    <p:sldMasterId id="2147483774" r:id="rId5"/>
  </p:sldMasterIdLst>
  <p:notesMasterIdLst>
    <p:notesMasterId r:id="rId12"/>
  </p:notesMasterIdLst>
  <p:sldIdLst>
    <p:sldId id="313" r:id="rId6"/>
    <p:sldId id="275" r:id="rId7"/>
    <p:sldId id="301" r:id="rId8"/>
    <p:sldId id="555" r:id="rId9"/>
    <p:sldId id="566" r:id="rId10"/>
    <p:sldId id="5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ran Groznica" initials="ZG" lastIdx="2" clrIdx="0">
    <p:extLst>
      <p:ext uri="{19B8F6BF-5375-455C-9EA6-DF929625EA0E}">
        <p15:presenceInfo xmlns:p15="http://schemas.microsoft.com/office/powerpoint/2012/main" userId="3fde8f81ab5e8c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D95"/>
    <a:srgbClr val="1991AC"/>
    <a:srgbClr val="00C0B4"/>
    <a:srgbClr val="00DC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30"/>
    <p:restoredTop sz="86391"/>
  </p:normalViewPr>
  <p:slideViewPr>
    <p:cSldViewPr snapToGrid="0" snapToObjects="1">
      <p:cViewPr varScale="1">
        <p:scale>
          <a:sx n="112" d="100"/>
          <a:sy n="112" d="100"/>
        </p:scale>
        <p:origin x="200" y="23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7670B-01DE-304A-B5E0-CEAA57CA1308}" type="datetimeFigureOut">
              <a:rPr lang="en-US" smtClean="0"/>
              <a:t>2/25/22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D6F03-C114-7440-A578-13B07E7D8E06}" type="slidenum">
              <a:rPr lang="en-US" smtClean="0"/>
              <a:t>‹#›</a:t>
            </a:fld>
            <a:endParaRPr lang="en-US"/>
          </a:p>
        </p:txBody>
      </p:sp>
    </p:spTree>
    <p:extLst>
      <p:ext uri="{BB962C8B-B14F-4D97-AF65-F5344CB8AC3E}">
        <p14:creationId xmlns:p14="http://schemas.microsoft.com/office/powerpoint/2010/main" val="2321234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3745347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a:t>
            </a:fld>
            <a:endParaRPr lang="en-AU"/>
          </a:p>
        </p:txBody>
      </p:sp>
    </p:spTree>
    <p:extLst>
      <p:ext uri="{BB962C8B-B14F-4D97-AF65-F5344CB8AC3E}">
        <p14:creationId xmlns:p14="http://schemas.microsoft.com/office/powerpoint/2010/main" val="527230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3</a:t>
            </a:fld>
            <a:endParaRPr lang="en-AU"/>
          </a:p>
        </p:txBody>
      </p:sp>
    </p:spTree>
    <p:extLst>
      <p:ext uri="{BB962C8B-B14F-4D97-AF65-F5344CB8AC3E}">
        <p14:creationId xmlns:p14="http://schemas.microsoft.com/office/powerpoint/2010/main" val="151085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read through the slide, have students look closely at the diagram, then allow think time, before asking them to explain it to their partner using the key terms </a:t>
            </a:r>
            <a:r>
              <a:rPr lang="en-AU" b="1" baseline="0" dirty="0"/>
              <a:t>pure substance</a:t>
            </a:r>
            <a:r>
              <a:rPr lang="en-AU" b="0" baseline="0" dirty="0"/>
              <a:t> and </a:t>
            </a:r>
            <a:r>
              <a:rPr lang="en-AU" b="1" baseline="0" dirty="0"/>
              <a:t>mixture. </a:t>
            </a:r>
            <a:r>
              <a:rPr lang="en-AU" b="0" baseline="0" dirty="0"/>
              <a:t>Call on non-volunteers and provide feedback, encouraging detailed responses in full sentence form.</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2198206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4.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6" y="1011383"/>
            <a:ext cx="3011715" cy="538446"/>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DF9C2B4A-0943-CC42-BE38-4F715F7CAA2B}"/>
              </a:ext>
            </a:extLst>
          </p:cNvPr>
          <p:cNvSpPr txBox="1"/>
          <p:nvPr/>
        </p:nvSpPr>
        <p:spPr>
          <a:xfrm>
            <a:off x="517951" y="4565193"/>
            <a:ext cx="2734700" cy="1947917"/>
          </a:xfrm>
          <a:prstGeom prst="rect">
            <a:avLst/>
          </a:prstGeom>
          <a:noFill/>
        </p:spPr>
        <p:txBody>
          <a:bodyPr wrap="square" tIns="180000" rtlCol="0" anchor="t">
            <a:normAutofit/>
          </a:bodyPr>
          <a:lstStyle/>
          <a:p>
            <a:r>
              <a:rPr lang="en-US" sz="3600" b="1" i="0" dirty="0">
                <a:solidFill>
                  <a:srgbClr val="23566C"/>
                </a:solidFill>
                <a:latin typeface="Calibri" panose="020F0502020204030204" pitchFamily="34" charset="0"/>
                <a:cs typeface="Calibri" panose="020F0502020204030204" pitchFamily="34" charset="0"/>
              </a:rPr>
              <a:t>Think </a:t>
            </a:r>
          </a:p>
          <a:p>
            <a:r>
              <a:rPr lang="en-US" sz="3600" b="1" i="0" dirty="0">
                <a:solidFill>
                  <a:srgbClr val="23566C"/>
                </a:solidFill>
                <a:latin typeface="Calibri" panose="020F0502020204030204" pitchFamily="34" charset="0"/>
                <a:cs typeface="Calibri" panose="020F0502020204030204" pitchFamily="34" charset="0"/>
              </a:rPr>
              <a:t>Pair</a:t>
            </a:r>
          </a:p>
          <a:p>
            <a:r>
              <a:rPr lang="en-US" sz="3600" b="1" i="0" dirty="0">
                <a:solidFill>
                  <a:srgbClr val="23566C"/>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149365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I) Learning Objectiv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Objective</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8213"/>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1218404"/>
            <a:ext cx="11577177" cy="5430940"/>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objective</a:t>
            </a:r>
          </a:p>
        </p:txBody>
      </p:sp>
    </p:spTree>
    <p:extLst>
      <p:ext uri="{BB962C8B-B14F-4D97-AF65-F5344CB8AC3E}">
        <p14:creationId xmlns:p14="http://schemas.microsoft.com/office/powerpoint/2010/main" val="283966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4372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14544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16018"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p:nvSpPr>
        <p:spPr>
          <a:xfrm>
            <a:off x="295218" y="1873045"/>
            <a:ext cx="4609291"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855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8" y="208656"/>
            <a:ext cx="3071437" cy="515262"/>
          </a:xfrm>
          <a:prstGeom prst="rect">
            <a:avLst/>
          </a:prstGeom>
          <a:solidFill>
            <a:srgbClr val="23566C"/>
          </a:solidFill>
          <a:ln>
            <a:noFill/>
          </a:ln>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9" y="1873045"/>
            <a:ext cx="1990782" cy="495947"/>
          </a:xfrm>
          <a:prstGeom prst="rect">
            <a:avLst/>
          </a:prstGeom>
          <a:solidFill>
            <a:srgbClr val="B3FFFF"/>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3566C"/>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372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05349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Concept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923569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4199996" cy="352425"/>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5639438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56878865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232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9" y="1053881"/>
            <a:ext cx="2350999" cy="495947"/>
          </a:xfrm>
          <a:prstGeom prst="rect">
            <a:avLst/>
          </a:prstGeom>
          <a:solidFill>
            <a:srgbClr val="23566C"/>
          </a:solidFill>
        </p:spPr>
        <p:txBody>
          <a:bodyPr wrap="square" rtlCol="0" anchor="ctr">
            <a:noAutofit/>
          </a:bodyPr>
          <a:lstStyle/>
          <a:p>
            <a:r>
              <a:rPr lang="en-US" sz="2400" b="1" i="0" dirty="0">
                <a:solidFill>
                  <a:srgbClr val="B3FFFF"/>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725565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i="0" dirty="0">
                <a:solidFill>
                  <a:srgbClr val="B3FFFF"/>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9071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EI)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p:nvSpPr>
        <p:spPr>
          <a:xfrm>
            <a:off x="295219" y="208656"/>
            <a:ext cx="1347844" cy="515262"/>
          </a:xfrm>
          <a:prstGeom prst="rect">
            <a:avLst/>
          </a:prstGeom>
          <a:solidFill>
            <a:srgbClr val="002060"/>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p:nvSpPr>
        <p:spPr>
          <a:xfrm>
            <a:off x="295218" y="723918"/>
            <a:ext cx="11577177" cy="1204895"/>
          </a:xfrm>
          <a:prstGeom prst="rect">
            <a:avLst/>
          </a:prstGeom>
          <a:solidFill>
            <a:schemeClr val="accent5">
              <a:lumMod val="40000"/>
              <a:lumOff val="60000"/>
            </a:schemeClr>
          </a:solidFill>
          <a:ln>
            <a:noFill/>
          </a:ln>
        </p:spPr>
        <p:txBody>
          <a:bodyPr wrap="square" rtlCol="0" anchor="ctr">
            <a:normAutofit/>
          </a:bodyPr>
          <a:lstStyle/>
          <a:p>
            <a:r>
              <a:rPr lang="en-US" sz="6000" b="1" i="0" dirty="0">
                <a:solidFill>
                  <a:srgbClr val="002060"/>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002060"/>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5241364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51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59" name="Text Placeholder 5">
            <a:extLst>
              <a:ext uri="{FF2B5EF4-FFF2-40B4-BE49-F238E27FC236}">
                <a16:creationId xmlns:a16="http://schemas.microsoft.com/office/drawing/2014/main" id="{D065E96F-34B9-6940-8CF5-B5BC1E923DCB}"/>
              </a:ext>
            </a:extLst>
          </p:cNvPr>
          <p:cNvSpPr>
            <a:spLocks noGrp="1"/>
          </p:cNvSpPr>
          <p:nvPr>
            <p:ph type="body" sz="quarter" idx="21" hasCustomPrompt="1"/>
          </p:nvPr>
        </p:nvSpPr>
        <p:spPr>
          <a:xfrm>
            <a:off x="9644135" y="287950"/>
            <a:ext cx="2162572" cy="288424"/>
          </a:xfrm>
          <a:prstGeom prst="rect">
            <a:avLst/>
          </a:prstGeom>
          <a:solidFill>
            <a:schemeClr val="accent6">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Make the connection</a:t>
            </a:r>
            <a:endParaRPr lang="en-US" dirty="0"/>
          </a:p>
        </p:txBody>
      </p:sp>
      <p:sp>
        <p:nvSpPr>
          <p:cNvPr id="60" name="Text Placeholder 48">
            <a:extLst>
              <a:ext uri="{FF2B5EF4-FFF2-40B4-BE49-F238E27FC236}">
                <a16:creationId xmlns:a16="http://schemas.microsoft.com/office/drawing/2014/main" id="{74718A69-45DC-3349-AC14-1CB20371771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61" name="Text Placeholder 5">
            <a:extLst>
              <a:ext uri="{FF2B5EF4-FFF2-40B4-BE49-F238E27FC236}">
                <a16:creationId xmlns:a16="http://schemas.microsoft.com/office/drawing/2014/main" id="{E8F06128-C65E-E74D-8888-C3B0265B87E5}"/>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62" name="Text Placeholder 48">
            <a:extLst>
              <a:ext uri="{FF2B5EF4-FFF2-40B4-BE49-F238E27FC236}">
                <a16:creationId xmlns:a16="http://schemas.microsoft.com/office/drawing/2014/main" id="{9CC4C70C-1C88-8242-822E-8EB858DBE3EF}"/>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63" name="Text Placeholder 5">
            <a:extLst>
              <a:ext uri="{FF2B5EF4-FFF2-40B4-BE49-F238E27FC236}">
                <a16:creationId xmlns:a16="http://schemas.microsoft.com/office/drawing/2014/main" id="{DB394B8D-09B6-2D4C-A89A-411FA179F6B4}"/>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64" name="Text Placeholder 48">
            <a:extLst>
              <a:ext uri="{FF2B5EF4-FFF2-40B4-BE49-F238E27FC236}">
                <a16:creationId xmlns:a16="http://schemas.microsoft.com/office/drawing/2014/main" id="{9E7179FB-4670-E449-82E2-2342DFBACF6F}"/>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678402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Content Development</a:t>
            </a:r>
          </a:p>
        </p:txBody>
      </p:sp>
      <p:sp>
        <p:nvSpPr>
          <p:cNvPr id="21" name="Text Placeholder 5">
            <a:extLst>
              <a:ext uri="{FF2B5EF4-FFF2-40B4-BE49-F238E27FC236}">
                <a16:creationId xmlns:a16="http://schemas.microsoft.com/office/drawing/2014/main" id="{578A17B0-D745-3C43-93AB-662F15D9C14B}"/>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2" name="Text Placeholder 48">
            <a:extLst>
              <a:ext uri="{FF2B5EF4-FFF2-40B4-BE49-F238E27FC236}">
                <a16:creationId xmlns:a16="http://schemas.microsoft.com/office/drawing/2014/main" id="{C5AFB84F-2B6E-D646-B782-34B1A586BAEE}"/>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3" name="Text Placeholder 5">
            <a:extLst>
              <a:ext uri="{FF2B5EF4-FFF2-40B4-BE49-F238E27FC236}">
                <a16:creationId xmlns:a16="http://schemas.microsoft.com/office/drawing/2014/main" id="{8579A7DA-1AA6-6348-9480-0ABDE8E7E86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4" name="Text Placeholder 48">
            <a:extLst>
              <a:ext uri="{FF2B5EF4-FFF2-40B4-BE49-F238E27FC236}">
                <a16:creationId xmlns:a16="http://schemas.microsoft.com/office/drawing/2014/main" id="{3DC620B8-B5B6-A546-998D-BB0D780266B1}"/>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5" name="Text Placeholder 5">
            <a:extLst>
              <a:ext uri="{FF2B5EF4-FFF2-40B4-BE49-F238E27FC236}">
                <a16:creationId xmlns:a16="http://schemas.microsoft.com/office/drawing/2014/main" id="{33D9DD79-4FA4-9441-9CD5-FD3E0E184E3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6" name="Text Placeholder 48">
            <a:extLst>
              <a:ext uri="{FF2B5EF4-FFF2-40B4-BE49-F238E27FC236}">
                <a16:creationId xmlns:a16="http://schemas.microsoft.com/office/drawing/2014/main" id="{40DC7D38-E5DA-C74E-92F3-A6FCC9CC0E70}"/>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5904603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kill Steps /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 Steps / Guided Practice</a:t>
            </a:r>
          </a:p>
        </p:txBody>
      </p:sp>
      <p:sp>
        <p:nvSpPr>
          <p:cNvPr id="22" name="Text Placeholder 5">
            <a:extLst>
              <a:ext uri="{FF2B5EF4-FFF2-40B4-BE49-F238E27FC236}">
                <a16:creationId xmlns:a16="http://schemas.microsoft.com/office/drawing/2014/main" id="{6FCF9CE4-B167-C647-830E-926D9BC11CD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3" name="Text Placeholder 48">
            <a:extLst>
              <a:ext uri="{FF2B5EF4-FFF2-40B4-BE49-F238E27FC236}">
                <a16:creationId xmlns:a16="http://schemas.microsoft.com/office/drawing/2014/main" id="{0749FB8D-5908-B440-BF2C-3B703391AAE5}"/>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4" name="Text Placeholder 5">
            <a:extLst>
              <a:ext uri="{FF2B5EF4-FFF2-40B4-BE49-F238E27FC236}">
                <a16:creationId xmlns:a16="http://schemas.microsoft.com/office/drawing/2014/main" id="{B5210779-8122-F342-AF13-26D8416493B0}"/>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5" name="Text Placeholder 48">
            <a:extLst>
              <a:ext uri="{FF2B5EF4-FFF2-40B4-BE49-F238E27FC236}">
                <a16:creationId xmlns:a16="http://schemas.microsoft.com/office/drawing/2014/main" id="{2564DDFE-656D-C84E-991A-DC05015CC956}"/>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6" name="Text Placeholder 5">
            <a:extLst>
              <a:ext uri="{FF2B5EF4-FFF2-40B4-BE49-F238E27FC236}">
                <a16:creationId xmlns:a16="http://schemas.microsoft.com/office/drawing/2014/main" id="{842EB6E0-B7AD-6C40-89B8-5521B528F9C5}"/>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7" name="Text Placeholder 48">
            <a:extLst>
              <a:ext uri="{FF2B5EF4-FFF2-40B4-BE49-F238E27FC236}">
                <a16:creationId xmlns:a16="http://schemas.microsoft.com/office/drawing/2014/main" id="{A21C2D16-2A8E-4B4B-8D58-4B389AAA67A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35781763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kills Check">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Skills Check</a:t>
            </a:r>
          </a:p>
        </p:txBody>
      </p:sp>
      <p:sp>
        <p:nvSpPr>
          <p:cNvPr id="24" name="Text Placeholder 5">
            <a:extLst>
              <a:ext uri="{FF2B5EF4-FFF2-40B4-BE49-F238E27FC236}">
                <a16:creationId xmlns:a16="http://schemas.microsoft.com/office/drawing/2014/main" id="{2D6AD4E2-8B86-1A42-B6B1-9794F63D2421}"/>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5" name="Text Placeholder 48">
            <a:extLst>
              <a:ext uri="{FF2B5EF4-FFF2-40B4-BE49-F238E27FC236}">
                <a16:creationId xmlns:a16="http://schemas.microsoft.com/office/drawing/2014/main" id="{3824608F-B525-2D45-9CFD-FDDDDC6F3A6B}"/>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6" name="Text Placeholder 5">
            <a:extLst>
              <a:ext uri="{FF2B5EF4-FFF2-40B4-BE49-F238E27FC236}">
                <a16:creationId xmlns:a16="http://schemas.microsoft.com/office/drawing/2014/main" id="{78FBBDF4-8B54-6D40-BB00-9DB79EE3BD87}"/>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7" name="Text Placeholder 48">
            <a:extLst>
              <a:ext uri="{FF2B5EF4-FFF2-40B4-BE49-F238E27FC236}">
                <a16:creationId xmlns:a16="http://schemas.microsoft.com/office/drawing/2014/main" id="{CF892DE4-0989-9F4F-B9B9-0D50497971BE}"/>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8" name="Text Placeholder 5">
            <a:extLst>
              <a:ext uri="{FF2B5EF4-FFF2-40B4-BE49-F238E27FC236}">
                <a16:creationId xmlns:a16="http://schemas.microsoft.com/office/drawing/2014/main" id="{504DAC59-2F1B-D344-B5E4-3DD118198D9F}"/>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9" name="Text Placeholder 48">
            <a:extLst>
              <a:ext uri="{FF2B5EF4-FFF2-40B4-BE49-F238E27FC236}">
                <a16:creationId xmlns:a16="http://schemas.microsoft.com/office/drawing/2014/main" id="{EA6CD3E8-8EA8-D643-BBB5-EB619A565567}"/>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113512830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28" name="Text Placeholder 5">
            <a:extLst>
              <a:ext uri="{FF2B5EF4-FFF2-40B4-BE49-F238E27FC236}">
                <a16:creationId xmlns:a16="http://schemas.microsoft.com/office/drawing/2014/main" id="{476A4E78-E152-CE41-A402-F83EB570A417}"/>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9" name="Text Placeholder 48">
            <a:extLst>
              <a:ext uri="{FF2B5EF4-FFF2-40B4-BE49-F238E27FC236}">
                <a16:creationId xmlns:a16="http://schemas.microsoft.com/office/drawing/2014/main" id="{BB7D38D9-00D0-E94F-A56B-68FEB60A7FFF}"/>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30" name="Text Placeholder 5">
            <a:extLst>
              <a:ext uri="{FF2B5EF4-FFF2-40B4-BE49-F238E27FC236}">
                <a16:creationId xmlns:a16="http://schemas.microsoft.com/office/drawing/2014/main" id="{75A649CF-6F35-6240-8694-7D985FF77DF1}"/>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31" name="Text Placeholder 48">
            <a:extLst>
              <a:ext uri="{FF2B5EF4-FFF2-40B4-BE49-F238E27FC236}">
                <a16:creationId xmlns:a16="http://schemas.microsoft.com/office/drawing/2014/main" id="{73A7D846-854A-F34B-A7E6-331D90F8028C}"/>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32" name="Text Placeholder 5">
            <a:extLst>
              <a:ext uri="{FF2B5EF4-FFF2-40B4-BE49-F238E27FC236}">
                <a16:creationId xmlns:a16="http://schemas.microsoft.com/office/drawing/2014/main" id="{B421E4A7-84CE-D441-9E4B-33DE3CF3ACE2}"/>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33" name="Text Placeholder 48">
            <a:extLst>
              <a:ext uri="{FF2B5EF4-FFF2-40B4-BE49-F238E27FC236}">
                <a16:creationId xmlns:a16="http://schemas.microsoft.com/office/drawing/2014/main" id="{DC7FFA7A-C37D-F846-868C-88068206D29C}"/>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0557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p:nvSpPr>
        <p:spPr>
          <a:xfrm>
            <a:off x="295218" y="1053881"/>
            <a:ext cx="2572719" cy="495947"/>
          </a:xfrm>
          <a:prstGeom prst="rect">
            <a:avLst/>
          </a:prstGeom>
          <a:solidFill>
            <a:srgbClr val="23566C"/>
          </a:solidFill>
        </p:spPr>
        <p:txBody>
          <a:bodyPr wrap="square" rtlCol="0" anchor="ctr">
            <a:noAutofit/>
          </a:bodyPr>
          <a:lstStyle/>
          <a:p>
            <a:r>
              <a:rPr lang="en-US" sz="2400" b="1" dirty="0">
                <a:solidFill>
                  <a:srgbClr val="B3FFFF"/>
                </a:solidFill>
                <a:latin typeface="Futura Medium" panose="020B0602020204020303" pitchFamily="34" charset="-79"/>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3B8CC1"/>
          </a:solidFill>
        </p:spPr>
        <p:txBody>
          <a:bodyPr tIns="144000" bIns="0"/>
          <a:lstStyle>
            <a:lvl1pPr marL="0" indent="0">
              <a:buNone/>
              <a:defRPr sz="6000" b="1">
                <a:solidFill>
                  <a:schemeClr val="bg1"/>
                </a:solidFill>
                <a:latin typeface="Futura Medium" panose="020B0602020204020303" pitchFamily="34" charset="-79"/>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grpSp>
        <p:nvGrpSpPr>
          <p:cNvPr id="24" name="Group 23">
            <a:extLst>
              <a:ext uri="{FF2B5EF4-FFF2-40B4-BE49-F238E27FC236}">
                <a16:creationId xmlns:a16="http://schemas.microsoft.com/office/drawing/2014/main" id="{5BA5BEC9-826C-1A47-BE3A-FB14643A0AFC}"/>
              </a:ext>
            </a:extLst>
          </p:cNvPr>
          <p:cNvGrpSpPr/>
          <p:nvPr/>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144304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3B8CC1"/>
          </a:solidFill>
        </p:spPr>
        <p:txBody>
          <a:bodyPr anchor="ctr">
            <a:normAutofit/>
          </a:bodyPr>
          <a:lstStyle>
            <a:lvl1pPr marL="0" indent="0" algn="l">
              <a:buNone/>
              <a:defRPr sz="1800" b="1">
                <a:solidFill>
                  <a:schemeClr val="bg1"/>
                </a:solidFill>
                <a:latin typeface="Futura Medium" panose="020B0602020204020303" pitchFamily="34" charset="-79"/>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p:nvSpPr>
        <p:spPr>
          <a:xfrm>
            <a:off x="295275" y="590550"/>
            <a:ext cx="3779478" cy="317139"/>
          </a:xfrm>
          <a:prstGeom prst="rect">
            <a:avLst/>
          </a:prstGeom>
          <a:solidFill>
            <a:srgbClr val="23566C"/>
          </a:solidFill>
        </p:spPr>
        <p:txBody>
          <a:bodyPr wrap="square" rtlCol="0" anchor="ctr">
            <a:noAutofit/>
          </a:bodyPr>
          <a:lstStyle/>
          <a:p>
            <a:pPr algn="ctr"/>
            <a:r>
              <a:rPr lang="en-US" sz="1600" b="1" dirty="0">
                <a:solidFill>
                  <a:srgbClr val="B3FFFF"/>
                </a:solidFill>
                <a:latin typeface="Futura Medium" panose="020B0602020204020303" pitchFamily="34" charset="-79"/>
                <a:cs typeface="Futura Medium" panose="020B0602020204020303" pitchFamily="34" charset="-79"/>
              </a:rPr>
              <a:t>Independent Practice</a:t>
            </a:r>
          </a:p>
        </p:txBody>
      </p:sp>
      <p:sp>
        <p:nvSpPr>
          <p:cNvPr id="20" name="Text Placeholder 5">
            <a:extLst>
              <a:ext uri="{FF2B5EF4-FFF2-40B4-BE49-F238E27FC236}">
                <a16:creationId xmlns:a16="http://schemas.microsoft.com/office/drawing/2014/main" id="{2A7343F6-8A3F-024A-BAB1-A40A1A630C10}"/>
              </a:ext>
            </a:extLst>
          </p:cNvPr>
          <p:cNvSpPr>
            <a:spLocks noGrp="1"/>
          </p:cNvSpPr>
          <p:nvPr>
            <p:ph type="body" sz="quarter" idx="21" hasCustomPrompt="1"/>
          </p:nvPr>
        </p:nvSpPr>
        <p:spPr>
          <a:xfrm>
            <a:off x="9644135" y="287950"/>
            <a:ext cx="2162572" cy="288424"/>
          </a:xfrm>
          <a:prstGeom prst="rect">
            <a:avLst/>
          </a:prstGeom>
          <a:solidFill>
            <a:schemeClr val="accent2">
              <a:lumMod val="75000"/>
            </a:schemeClr>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Check for Understanding</a:t>
            </a:r>
            <a:endParaRPr lang="en-US" dirty="0"/>
          </a:p>
        </p:txBody>
      </p:sp>
      <p:sp>
        <p:nvSpPr>
          <p:cNvPr id="21" name="Text Placeholder 48">
            <a:extLst>
              <a:ext uri="{FF2B5EF4-FFF2-40B4-BE49-F238E27FC236}">
                <a16:creationId xmlns:a16="http://schemas.microsoft.com/office/drawing/2014/main" id="{81597401-FB89-084B-955C-A0C7FAB02436}"/>
              </a:ext>
            </a:extLst>
          </p:cNvPr>
          <p:cNvSpPr>
            <a:spLocks noGrp="1"/>
          </p:cNvSpPr>
          <p:nvPr>
            <p:ph type="body" sz="quarter" idx="18" hasCustomPrompt="1"/>
          </p:nvPr>
        </p:nvSpPr>
        <p:spPr>
          <a:xfrm>
            <a:off x="9646920" y="572262"/>
            <a:ext cx="215978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Questions</a:t>
            </a:r>
          </a:p>
        </p:txBody>
      </p:sp>
      <p:sp>
        <p:nvSpPr>
          <p:cNvPr id="22" name="Text Placeholder 5">
            <a:extLst>
              <a:ext uri="{FF2B5EF4-FFF2-40B4-BE49-F238E27FC236}">
                <a16:creationId xmlns:a16="http://schemas.microsoft.com/office/drawing/2014/main" id="{A82891C2-3E9D-4241-85E7-747B1595FB99}"/>
              </a:ext>
            </a:extLst>
          </p:cNvPr>
          <p:cNvSpPr>
            <a:spLocks noGrp="1"/>
          </p:cNvSpPr>
          <p:nvPr>
            <p:ph type="body" sz="quarter" idx="22" hasCustomPrompt="1"/>
          </p:nvPr>
        </p:nvSpPr>
        <p:spPr>
          <a:xfrm>
            <a:off x="9644135" y="2395402"/>
            <a:ext cx="2162572" cy="288424"/>
          </a:xfrm>
          <a:prstGeom prst="rect">
            <a:avLst/>
          </a:prstGeom>
          <a:solidFill>
            <a:srgbClr val="7030A0"/>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Hints</a:t>
            </a:r>
            <a:endParaRPr lang="en-US" dirty="0"/>
          </a:p>
        </p:txBody>
      </p:sp>
      <p:sp>
        <p:nvSpPr>
          <p:cNvPr id="23" name="Text Placeholder 48">
            <a:extLst>
              <a:ext uri="{FF2B5EF4-FFF2-40B4-BE49-F238E27FC236}">
                <a16:creationId xmlns:a16="http://schemas.microsoft.com/office/drawing/2014/main" id="{8A690C59-B342-0648-BCE5-1C98B5A89AD7}"/>
              </a:ext>
            </a:extLst>
          </p:cNvPr>
          <p:cNvSpPr>
            <a:spLocks noGrp="1"/>
          </p:cNvSpPr>
          <p:nvPr>
            <p:ph type="body" sz="quarter" idx="19" hasCustomPrompt="1"/>
          </p:nvPr>
        </p:nvSpPr>
        <p:spPr>
          <a:xfrm>
            <a:off x="9646920" y="2676906"/>
            <a:ext cx="2163007" cy="1754886"/>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Tips for them</a:t>
            </a:r>
          </a:p>
        </p:txBody>
      </p:sp>
      <p:sp>
        <p:nvSpPr>
          <p:cNvPr id="24" name="Text Placeholder 5">
            <a:extLst>
              <a:ext uri="{FF2B5EF4-FFF2-40B4-BE49-F238E27FC236}">
                <a16:creationId xmlns:a16="http://schemas.microsoft.com/office/drawing/2014/main" id="{17B4E049-9FD5-E24B-B3BE-5C09B449C3F6}"/>
              </a:ext>
            </a:extLst>
          </p:cNvPr>
          <p:cNvSpPr>
            <a:spLocks noGrp="1"/>
          </p:cNvSpPr>
          <p:nvPr>
            <p:ph type="body" sz="quarter" idx="23" hasCustomPrompt="1"/>
          </p:nvPr>
        </p:nvSpPr>
        <p:spPr>
          <a:xfrm>
            <a:off x="9644135" y="4502854"/>
            <a:ext cx="2162572" cy="288424"/>
          </a:xfrm>
          <a:prstGeom prst="rect">
            <a:avLst/>
          </a:prstGeom>
          <a:solidFill>
            <a:srgbClr val="A14986"/>
          </a:solidFill>
        </p:spPr>
        <p:txBody>
          <a:bodyPr anchor="ctr"/>
          <a:lstStyle>
            <a:lvl1pPr marL="0" indent="0">
              <a:buNone/>
              <a:defRPr sz="1200">
                <a:solidFill>
                  <a:schemeClr val="bg1"/>
                </a:solidFill>
                <a:latin typeface="Futura Medium" panose="020B0602020204020303" pitchFamily="34" charset="-79"/>
                <a:cs typeface="Futura Medium" panose="020B0602020204020303" pitchFamily="34" charset="-79"/>
              </a:defRPr>
            </a:lvl1pPr>
          </a:lstStyle>
          <a:p>
            <a:pPr lvl="0"/>
            <a:r>
              <a:rPr lang="en-US" sz="1200" dirty="0">
                <a:latin typeface="Futura Medium" panose="020B0602020204020303" pitchFamily="34" charset="-79"/>
                <a:cs typeface="Futura Medium" panose="020B0602020204020303" pitchFamily="34" charset="-79"/>
              </a:rPr>
              <a:t>Vocabulary</a:t>
            </a:r>
            <a:endParaRPr lang="en-US" dirty="0"/>
          </a:p>
        </p:txBody>
      </p:sp>
      <p:sp>
        <p:nvSpPr>
          <p:cNvPr id="25" name="Text Placeholder 48">
            <a:extLst>
              <a:ext uri="{FF2B5EF4-FFF2-40B4-BE49-F238E27FC236}">
                <a16:creationId xmlns:a16="http://schemas.microsoft.com/office/drawing/2014/main" id="{5E376940-61D8-D142-9880-9EE380DE8579}"/>
              </a:ext>
            </a:extLst>
          </p:cNvPr>
          <p:cNvSpPr>
            <a:spLocks noGrp="1"/>
          </p:cNvSpPr>
          <p:nvPr>
            <p:ph type="body" sz="quarter" idx="20" hasCustomPrompt="1"/>
          </p:nvPr>
        </p:nvSpPr>
        <p:spPr>
          <a:xfrm>
            <a:off x="9646920" y="4787720"/>
            <a:ext cx="2159787" cy="1062455"/>
          </a:xfrm>
          <a:prstGeom prst="rect">
            <a:avLst/>
          </a:prstGeom>
          <a:ln>
            <a:solidFill>
              <a:schemeClr val="tx1"/>
            </a:solidFill>
          </a:ln>
        </p:spPr>
        <p:txBody>
          <a:bodyPr/>
          <a:lstStyle>
            <a:lvl1pPr marL="0" indent="0">
              <a:buNone/>
              <a:defRPr sz="1200">
                <a:latin typeface="Futura Medium" panose="020B0602020204020303" pitchFamily="34" charset="-79"/>
                <a:cs typeface="Futura Medium" panose="020B0602020204020303" pitchFamily="34" charset="-79"/>
              </a:defRPr>
            </a:lvl1pPr>
            <a:lvl2pPr marL="457200" indent="0">
              <a:buNone/>
              <a:defRPr sz="1200">
                <a:latin typeface="Futura Medium" panose="020B0602020204020303" pitchFamily="34" charset="-79"/>
                <a:cs typeface="Futura Medium" panose="020B0602020204020303" pitchFamily="34" charset="-79"/>
              </a:defRPr>
            </a:lvl2pPr>
            <a:lvl3pPr marL="914400" indent="0">
              <a:buNone/>
              <a:defRPr sz="1200">
                <a:latin typeface="Futura Medium" panose="020B0602020204020303" pitchFamily="34" charset="-79"/>
                <a:cs typeface="Futura Medium" panose="020B0602020204020303" pitchFamily="34" charset="-79"/>
              </a:defRPr>
            </a:lvl3pPr>
            <a:lvl4pPr marL="1371600" indent="0">
              <a:buNone/>
              <a:defRPr sz="1200">
                <a:latin typeface="Futura Medium" panose="020B0602020204020303" pitchFamily="34" charset="-79"/>
                <a:cs typeface="Futura Medium" panose="020B0602020204020303" pitchFamily="34" charset="-79"/>
              </a:defRPr>
            </a:lvl4pPr>
            <a:lvl5pPr marL="1828800" indent="0">
              <a:buNone/>
              <a:defRPr sz="1200">
                <a:latin typeface="Futura Medium" panose="020B0602020204020303" pitchFamily="34" charset="-79"/>
                <a:cs typeface="Futura Medium" panose="020B0602020204020303" pitchFamily="34" charset="-79"/>
              </a:defRPr>
            </a:lvl5pPr>
          </a:lstStyle>
          <a:p>
            <a:pPr lvl="0"/>
            <a:r>
              <a:rPr lang="en-US" dirty="0"/>
              <a:t>words</a:t>
            </a:r>
          </a:p>
        </p:txBody>
      </p:sp>
    </p:spTree>
    <p:extLst>
      <p:ext uri="{BB962C8B-B14F-4D97-AF65-F5344CB8AC3E}">
        <p14:creationId xmlns:p14="http://schemas.microsoft.com/office/powerpoint/2010/main" val="2232339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Starter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61142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Icebreaker</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begin the lesson…</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7767689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DR) Icebreake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941955"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Wrap-up</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2237173" y="224237"/>
            <a:ext cx="9635222" cy="499682"/>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Before we go…</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10531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1" i="0" dirty="0">
                <a:latin typeface="Century Gothic" panose="020B0502020202020204" pitchFamily="34" charset="0"/>
              </a:rPr>
              <a:t>Reviewing what we know</a:t>
            </a: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4C223F"/>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3465035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746334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39601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4C223F"/>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4C223F"/>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A14986"/>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08595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4C223F"/>
          </a:solidFill>
          <a:ln>
            <a:noFill/>
          </a:ln>
        </p:spPr>
        <p:txBody>
          <a:bodyPr wrap="square" rtlCol="0" anchor="ctr">
            <a:noAutofit/>
          </a:bodyPr>
          <a:lstStyle/>
          <a:p>
            <a:r>
              <a:rPr lang="en-US" sz="2400" b="1" i="0" dirty="0">
                <a:solidFill>
                  <a:schemeClr val="accent5">
                    <a:lumMod val="40000"/>
                    <a:lumOff val="60000"/>
                  </a:schemeClr>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pPr marL="0" indent="0">
              <a:tabLst>
                <a:tab pos="3597275" algn="l"/>
              </a:tabLst>
            </a:pPr>
            <a:r>
              <a:rPr lang="en-US" sz="6000" b="1" i="0" dirty="0">
                <a:solidFill>
                  <a:srgbClr val="4C223F"/>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4C223F"/>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27007319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R)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square" rtlCol="0" anchor="ctr">
            <a:normAutofit fontScale="25000" lnSpcReduction="20000"/>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25002" y="629514"/>
            <a:ext cx="5504743"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25002" y="1772516"/>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25002" y="2922543"/>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25002" y="4072570"/>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25002" y="5201522"/>
            <a:ext cx="5504744"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wrap="square"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6436836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A14986"/>
          </a:solidFill>
        </p:spPr>
        <p:txBody>
          <a:bodyPr wrap="square" rtlCol="0" anchor="ctr">
            <a:noAutofit/>
          </a:bodyPr>
          <a:lstStyle/>
          <a:p>
            <a:pPr algn="ctr"/>
            <a:r>
              <a:rPr lang="en-US" sz="2000" b="1" i="0" dirty="0">
                <a:solidFill>
                  <a:srgbClr val="FFB6F2"/>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0070C0"/>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A14986"/>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307647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808063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8205587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4C223F"/>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277721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2306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27288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S) Word List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208446"/>
            <a:ext cx="11578126" cy="1322388"/>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sz="7200" b="1" i="0" dirty="0">
                <a:latin typeface="Century Gothic" panose="020B0502020202020204" pitchFamily="34" charset="0"/>
              </a:rPr>
              <a:t>   Vocabulary &amp; Spelling</a:t>
            </a:r>
          </a:p>
        </p:txBody>
      </p:sp>
      <p:cxnSp>
        <p:nvCxnSpPr>
          <p:cNvPr id="3" name="Straight Connector 2">
            <a:extLst>
              <a:ext uri="{FF2B5EF4-FFF2-40B4-BE49-F238E27FC236}">
                <a16:creationId xmlns:a16="http://schemas.microsoft.com/office/drawing/2014/main" id="{5AD15892-5882-3341-B706-D64E5ABBDC96}"/>
              </a:ext>
            </a:extLst>
          </p:cNvPr>
          <p:cNvCxnSpPr/>
          <p:nvPr userDrawn="1"/>
        </p:nvCxnSpPr>
        <p:spPr>
          <a:xfrm>
            <a:off x="6084282" y="1771650"/>
            <a:ext cx="0" cy="4572000"/>
          </a:xfrm>
          <a:prstGeom prst="line">
            <a:avLst/>
          </a:prstGeom>
          <a:ln w="28575">
            <a:solidFill>
              <a:srgbClr val="47998B"/>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EAD6347-1222-7C40-97CD-5685C7FBB93B}"/>
              </a:ext>
            </a:extLst>
          </p:cNvPr>
          <p:cNvSpPr txBox="1"/>
          <p:nvPr userDrawn="1"/>
        </p:nvSpPr>
        <p:spPr>
          <a:xfrm>
            <a:off x="295219" y="1564481"/>
            <a:ext cx="5789063" cy="523220"/>
          </a:xfrm>
          <a:prstGeom prst="rect">
            <a:avLst/>
          </a:prstGeom>
          <a:noFill/>
        </p:spPr>
        <p:txBody>
          <a:bodyPr wrap="square" rtlCol="0">
            <a:spAutoFit/>
          </a:bodyPr>
          <a:lstStyle/>
          <a:p>
            <a:pPr algn="ctr"/>
            <a:r>
              <a:rPr lang="en-US" sz="2800" b="1" dirty="0">
                <a:solidFill>
                  <a:srgbClr val="1F443E"/>
                </a:solidFill>
              </a:rPr>
              <a:t>Practice Words</a:t>
            </a:r>
          </a:p>
        </p:txBody>
      </p:sp>
      <p:sp>
        <p:nvSpPr>
          <p:cNvPr id="8" name="TextBox 7">
            <a:extLst>
              <a:ext uri="{FF2B5EF4-FFF2-40B4-BE49-F238E27FC236}">
                <a16:creationId xmlns:a16="http://schemas.microsoft.com/office/drawing/2014/main" id="{DFC75BB7-22FA-3044-BE33-24527B15C19C}"/>
              </a:ext>
            </a:extLst>
          </p:cNvPr>
          <p:cNvSpPr txBox="1"/>
          <p:nvPr userDrawn="1"/>
        </p:nvSpPr>
        <p:spPr>
          <a:xfrm>
            <a:off x="6084282" y="1573349"/>
            <a:ext cx="5789063" cy="523220"/>
          </a:xfrm>
          <a:prstGeom prst="rect">
            <a:avLst/>
          </a:prstGeom>
          <a:noFill/>
        </p:spPr>
        <p:txBody>
          <a:bodyPr wrap="square" rtlCol="0">
            <a:spAutoFit/>
          </a:bodyPr>
          <a:lstStyle/>
          <a:p>
            <a:pPr algn="ctr"/>
            <a:r>
              <a:rPr lang="en-US" sz="2800" b="1" dirty="0">
                <a:solidFill>
                  <a:srgbClr val="1F443E"/>
                </a:solidFill>
              </a:rPr>
              <a:t>New Words</a:t>
            </a:r>
          </a:p>
        </p:txBody>
      </p:sp>
      <p:sp>
        <p:nvSpPr>
          <p:cNvPr id="10" name="Text Placeholder 9">
            <a:extLst>
              <a:ext uri="{FF2B5EF4-FFF2-40B4-BE49-F238E27FC236}">
                <a16:creationId xmlns:a16="http://schemas.microsoft.com/office/drawing/2014/main" id="{67D1519D-3B3A-A443-9C33-32137A836131}"/>
              </a:ext>
            </a:extLst>
          </p:cNvPr>
          <p:cNvSpPr>
            <a:spLocks noGrp="1"/>
          </p:cNvSpPr>
          <p:nvPr>
            <p:ph type="body" sz="quarter" idx="10" hasCustomPrompt="1"/>
          </p:nvPr>
        </p:nvSpPr>
        <p:spPr>
          <a:xfrm>
            <a:off x="295275" y="2457450"/>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known words for hyper-speed practice</a:t>
            </a:r>
          </a:p>
        </p:txBody>
      </p:sp>
      <p:sp>
        <p:nvSpPr>
          <p:cNvPr id="11" name="Text Placeholder 9">
            <a:extLst>
              <a:ext uri="{FF2B5EF4-FFF2-40B4-BE49-F238E27FC236}">
                <a16:creationId xmlns:a16="http://schemas.microsoft.com/office/drawing/2014/main" id="{3843A533-E319-DD4D-BFA7-5A1FB929CA5C}"/>
              </a:ext>
            </a:extLst>
          </p:cNvPr>
          <p:cNvSpPr>
            <a:spLocks noGrp="1"/>
          </p:cNvSpPr>
          <p:nvPr>
            <p:ph type="body" sz="quarter" idx="11" hasCustomPrompt="1"/>
          </p:nvPr>
        </p:nvSpPr>
        <p:spPr>
          <a:xfrm>
            <a:off x="6083732" y="2466318"/>
            <a:ext cx="5789613" cy="4171950"/>
          </a:xfrm>
          <a:prstGeom prst="rect">
            <a:avLst/>
          </a:prstGeom>
        </p:spPr>
        <p:txBody>
          <a:bodyPr/>
          <a:lstStyle>
            <a:lvl1pPr marL="457200" indent="-457200">
              <a:buFont typeface="Arial" panose="020B0604020202020204" pitchFamily="34" charset="0"/>
              <a:buChar char="•"/>
              <a:defRPr b="1"/>
            </a:lvl1pPr>
            <a:lvl2pPr>
              <a:defRPr b="1"/>
            </a:lvl2pPr>
            <a:lvl3pPr>
              <a:defRPr b="1"/>
            </a:lvl3pPr>
            <a:lvl4pPr>
              <a:defRPr b="1"/>
            </a:lvl4pPr>
            <a:lvl5pPr>
              <a:defRPr b="1"/>
            </a:lvl5pPr>
          </a:lstStyle>
          <a:p>
            <a:pPr lvl="0"/>
            <a:r>
              <a:rPr lang="en-US" dirty="0"/>
              <a:t>Add new words for learning definitions and spelling</a:t>
            </a:r>
          </a:p>
        </p:txBody>
      </p:sp>
    </p:spTree>
    <p:extLst>
      <p:ext uri="{BB962C8B-B14F-4D97-AF65-F5344CB8AC3E}">
        <p14:creationId xmlns:p14="http://schemas.microsoft.com/office/powerpoint/2010/main" val="2421447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S)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3408965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S)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351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S)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C1FFE1"/>
          </a:solidFill>
          <a:ln>
            <a:noFill/>
          </a:ln>
        </p:spPr>
        <p:txBody>
          <a:bodyPr wrap="square" rtlCol="0" anchor="ctr">
            <a:normAutofit/>
          </a:bodyPr>
          <a:lstStyle/>
          <a:p>
            <a:r>
              <a:rPr lang="en-US" sz="2400" b="1" i="0" dirty="0">
                <a:solidFill>
                  <a:srgbClr val="1F443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47998B"/>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045112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S) Hyper-speed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37882" y="629514"/>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37882" y="1772516"/>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37882" y="2915518"/>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37882" y="4058520"/>
            <a:ext cx="549403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37882" y="5201522"/>
            <a:ext cx="549186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331218264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VS)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1F443E"/>
          </a:solidFill>
        </p:spPr>
        <p:txBody>
          <a:bodyPr wrap="square" rtlCol="0" anchor="ctr">
            <a:noAutofit/>
          </a:bodyPr>
          <a:lstStyle/>
          <a:p>
            <a:pPr algn="ctr"/>
            <a:r>
              <a:rPr lang="en-US" sz="2000" b="1" i="0" dirty="0">
                <a:solidFill>
                  <a:srgbClr val="C1FFE1"/>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89396" y="629514"/>
            <a:ext cx="5440349"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89396" y="1772516"/>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1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89396" y="2915518"/>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89396" y="4058520"/>
            <a:ext cx="5442516"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89396" y="5201522"/>
            <a:ext cx="5440350"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82202A"/>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47998B"/>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208694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S)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1F443E"/>
          </a:solidFill>
          <a:ln>
            <a:noFill/>
          </a:ln>
        </p:spPr>
        <p:txBody>
          <a:bodyPr wrap="square" rtlCol="0" anchor="ctr">
            <a:noAutofit/>
          </a:bodyPr>
          <a:lstStyle/>
          <a:p>
            <a:r>
              <a:rPr lang="en-US" sz="2400" b="1" i="0" dirty="0">
                <a:solidFill>
                  <a:srgbClr val="C1FFE1"/>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182155"/>
          </a:xfrm>
          <a:prstGeom prst="rect">
            <a:avLst/>
          </a:prstGeom>
          <a:solidFill>
            <a:srgbClr val="C1FFE1"/>
          </a:solidFill>
          <a:ln>
            <a:noFill/>
          </a:ln>
        </p:spPr>
        <p:txBody>
          <a:bodyPr wrap="square" rtlCol="0" anchor="ctr">
            <a:normAutofit/>
          </a:bodyPr>
          <a:lstStyle/>
          <a:p>
            <a:r>
              <a:rPr lang="en-US" sz="6000" b="1" i="0" dirty="0">
                <a:solidFill>
                  <a:srgbClr val="1F443E"/>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3460232"/>
          </a:xfrm>
          <a:prstGeom prst="rect">
            <a:avLst/>
          </a:prstGeom>
          <a:noFill/>
        </p:spPr>
        <p:txBody>
          <a:bodyPr tIns="144000" bIns="0" anchor="ctr"/>
          <a:lstStyle>
            <a:lvl1pPr marL="0" indent="0" algn="ctr">
              <a:buNone/>
              <a:defRPr sz="6000" b="1" i="0">
                <a:solidFill>
                  <a:srgbClr val="1F443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the word apart</a:t>
            </a:r>
          </a:p>
        </p:txBody>
      </p:sp>
    </p:spTree>
    <p:extLst>
      <p:ext uri="{BB962C8B-B14F-4D97-AF65-F5344CB8AC3E}">
        <p14:creationId xmlns:p14="http://schemas.microsoft.com/office/powerpoint/2010/main" val="1809805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S)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7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103146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C)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683F84"/>
                </a:solidFill>
                <a:latin typeface="Calibri" panose="020F0502020204030204" pitchFamily="34" charset="0"/>
                <a:cs typeface="Calibri" panose="020F0502020204030204" pitchFamily="34" charset="0"/>
              </a:rPr>
              <a:t>Think </a:t>
            </a:r>
          </a:p>
          <a:p>
            <a:r>
              <a:rPr lang="en-US" sz="3600" b="1" i="0" dirty="0">
                <a:solidFill>
                  <a:srgbClr val="683F84"/>
                </a:solidFill>
                <a:latin typeface="Calibri" panose="020F0502020204030204" pitchFamily="34" charset="0"/>
                <a:cs typeface="Calibri" panose="020F0502020204030204" pitchFamily="34" charset="0"/>
              </a:rPr>
              <a:t>Pair</a:t>
            </a:r>
          </a:p>
          <a:p>
            <a:r>
              <a:rPr lang="en-US" sz="3600" b="1" i="0" dirty="0">
                <a:solidFill>
                  <a:srgbClr val="683F84"/>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2854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C)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764454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C)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16018" cy="515262"/>
          </a:xfrm>
          <a:prstGeom prst="rect">
            <a:avLst/>
          </a:prstGeom>
          <a:solidFill>
            <a:srgbClr val="683F84"/>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9525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C)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FB6F2"/>
          </a:solidFill>
          <a:ln>
            <a:noFill/>
          </a:ln>
        </p:spPr>
        <p:txBody>
          <a:bodyPr wrap="square" rtlCol="0" anchor="ctr">
            <a:normAutofit/>
          </a:bodyPr>
          <a:lstStyle/>
          <a:p>
            <a:r>
              <a:rPr lang="en-US" sz="2400" b="1" i="0" dirty="0">
                <a:solidFill>
                  <a:srgbClr val="382248"/>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2795705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C)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14203224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C)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946876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C)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884283185"/>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C)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874969655"/>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C)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2098907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RC)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382248"/>
          </a:solidFill>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683F84"/>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054179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RC)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683F84"/>
          </a:solidFill>
        </p:spPr>
        <p:txBody>
          <a:bodyPr anchor="ctr">
            <a:normAutofit/>
          </a:bodyPr>
          <a:lstStyle>
            <a:lvl1pPr marL="0" indent="0" algn="l">
              <a:buNone/>
              <a:defRPr sz="1800" b="1" i="0">
                <a:solidFill>
                  <a:schemeClr val="bg1"/>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382248"/>
          </a:solidFill>
        </p:spPr>
        <p:txBody>
          <a:bodyPr wrap="square" rtlCol="0" anchor="ctr">
            <a:noAutofit/>
          </a:bodyPr>
          <a:lstStyle/>
          <a:p>
            <a:pPr algn="ctr"/>
            <a:r>
              <a:rPr lang="en-US" sz="1600" b="1" i="0" dirty="0">
                <a:solidFill>
                  <a:srgbClr val="FFB6F2"/>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679375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RC)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382248"/>
          </a:solidFill>
          <a:ln>
            <a:noFill/>
          </a:ln>
        </p:spPr>
        <p:txBody>
          <a:bodyPr wrap="square" rtlCol="0" anchor="ctr">
            <a:noAutofit/>
          </a:bodyPr>
          <a:lstStyle/>
          <a:p>
            <a:r>
              <a:rPr lang="en-US" sz="2400" b="1" i="0" dirty="0">
                <a:solidFill>
                  <a:srgbClr val="FFB6F2"/>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FFB6F2"/>
          </a:solidFill>
          <a:ln>
            <a:noFill/>
          </a:ln>
        </p:spPr>
        <p:txBody>
          <a:bodyPr wrap="square" rtlCol="0" anchor="ctr">
            <a:normAutofit/>
          </a:bodyPr>
          <a:lstStyle/>
          <a:p>
            <a:r>
              <a:rPr lang="en-US" sz="6000" b="1" i="0" dirty="0">
                <a:solidFill>
                  <a:srgbClr val="382248"/>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rgbClr val="382248"/>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6723374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RC)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2521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B61BEF0D-F0BB-DE4B-95CE-6DB70DBA9567}" type="datetimeFigureOut">
              <a:rPr lang="en-US" smtClean="0"/>
              <a:pPr/>
              <a:t>2/25/22</a:t>
            </a:fld>
            <a:endParaRPr lang="en-US" dirty="0"/>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10469880" y="320040"/>
            <a:ext cx="914400" cy="320040"/>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12967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2585C-8B69-B043-B753-1A3000E352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5CEF58-0EF9-D840-9A8F-AD0FF1E4BE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86F59C-3B87-1C41-BD96-7DDB60283D1F}"/>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5" name="Footer Placeholder 4">
            <a:extLst>
              <a:ext uri="{FF2B5EF4-FFF2-40B4-BE49-F238E27FC236}">
                <a16:creationId xmlns:a16="http://schemas.microsoft.com/office/drawing/2014/main" id="{977998FC-6D47-6449-A1F6-30E23BA727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AC17CDF-FC7F-5A44-9C47-53EAA5ED781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92569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3433-A2CE-6244-9F12-597922B28A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97E04B-808C-9F42-BF20-9FB1B6402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01CBA-4616-FD45-8717-85954893BE41}"/>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5" name="Footer Placeholder 4">
            <a:extLst>
              <a:ext uri="{FF2B5EF4-FFF2-40B4-BE49-F238E27FC236}">
                <a16:creationId xmlns:a16="http://schemas.microsoft.com/office/drawing/2014/main" id="{16C6EC38-1217-AF4A-BF4A-8C98EFBF38B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2114F-C2DD-B544-97F6-A6869EB0D8A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605198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C308E-C0FD-7847-BDAC-288A4A818C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7F8788-D236-534A-8446-06EADB8B0C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E6483-F658-9B42-B6E2-2273E7B5CD5E}"/>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5" name="Footer Placeholder 4">
            <a:extLst>
              <a:ext uri="{FF2B5EF4-FFF2-40B4-BE49-F238E27FC236}">
                <a16:creationId xmlns:a16="http://schemas.microsoft.com/office/drawing/2014/main" id="{B75ED8CC-1F14-0247-B5EB-CD3E00E47E4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71B541-9920-E24C-9758-7B00FE37300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6700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940DF-6BE1-F045-A153-2BC1B9F20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096841-0F00-E44A-BA16-50308628B1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4D93E6-96AC-AC4B-AFB4-BD2249EF5C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78163F-327D-C546-8B65-F3E9D26F31AD}"/>
              </a:ext>
            </a:extLst>
          </p:cNvPr>
          <p:cNvSpPr>
            <a:spLocks noGrp="1"/>
          </p:cNvSpPr>
          <p:nvPr>
            <p:ph type="dt" sz="half" idx="10"/>
          </p:nvPr>
        </p:nvSpPr>
        <p:spPr/>
        <p:txBody>
          <a:bodyPr/>
          <a:lstStyle/>
          <a:p>
            <a:fld id="{EB712588-04B1-427B-82EE-E8DB90309F08}" type="datetimeFigureOut">
              <a:rPr lang="en-US" smtClean="0"/>
              <a:t>2/25/22</a:t>
            </a:fld>
            <a:endParaRPr lang="en-US" dirty="0"/>
          </a:p>
        </p:txBody>
      </p:sp>
      <p:sp>
        <p:nvSpPr>
          <p:cNvPr id="6" name="Footer Placeholder 5">
            <a:extLst>
              <a:ext uri="{FF2B5EF4-FFF2-40B4-BE49-F238E27FC236}">
                <a16:creationId xmlns:a16="http://schemas.microsoft.com/office/drawing/2014/main" id="{3AE0AD71-D318-4242-BA74-69358F1724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320061-E089-FE42-B800-B7A6FB7BC80E}"/>
              </a:ext>
            </a:extLst>
          </p:cNvPr>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5232645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B5FB7-2215-4149-A411-95C19165DE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28ADC7A-69C4-3449-A284-61F53D5946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49C283-6034-8D45-BB1B-552F39A25F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989C7E-762D-DF4F-A602-A1BF21857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E0002-87D6-C24A-A91D-B990D374A8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6668C5-B842-794E-B9EA-875D34A8FB78}"/>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8" name="Footer Placeholder 7">
            <a:extLst>
              <a:ext uri="{FF2B5EF4-FFF2-40B4-BE49-F238E27FC236}">
                <a16:creationId xmlns:a16="http://schemas.microsoft.com/office/drawing/2014/main" id="{5A28C667-CE46-ED48-8821-9DB111E8618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72B333B-9FFF-2A4D-AC87-7E27A855E7E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3529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690E-17E1-DE4E-B5A2-5BA6EBD01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42D7D25-037D-964F-A4AF-09A211E2C271}"/>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4" name="Footer Placeholder 3">
            <a:extLst>
              <a:ext uri="{FF2B5EF4-FFF2-40B4-BE49-F238E27FC236}">
                <a16:creationId xmlns:a16="http://schemas.microsoft.com/office/drawing/2014/main" id="{43E9663C-8167-6847-8432-42DEF7FF283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17A0131-4841-D843-9AC9-055AC2F2CC4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94196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2A51B5-09FC-864D-98FE-16F163363C6C}"/>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3" name="Footer Placeholder 2">
            <a:extLst>
              <a:ext uri="{FF2B5EF4-FFF2-40B4-BE49-F238E27FC236}">
                <a16:creationId xmlns:a16="http://schemas.microsoft.com/office/drawing/2014/main" id="{9A9FE577-AF6A-204B-8987-548A9FD823E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EA56DD6-090D-EE44-86E5-9EFB2159941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517925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D02F1-BD0C-1C49-A3BA-25D110E62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0B73BB6-219E-004E-9277-DBD25B22A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6C13EE-ADDA-1745-A0D2-E1055F03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4BDD4-3C99-5F44-923E-0DF1F92E92E7}"/>
              </a:ext>
            </a:extLst>
          </p:cNvPr>
          <p:cNvSpPr>
            <a:spLocks noGrp="1"/>
          </p:cNvSpPr>
          <p:nvPr>
            <p:ph type="dt" sz="half" idx="10"/>
          </p:nvPr>
        </p:nvSpPr>
        <p:spPr/>
        <p:txBody>
          <a:bodyPr/>
          <a:lstStyle/>
          <a:p>
            <a:fld id="{42A54C80-263E-416B-A8E0-580EDEADCBDC}" type="datetimeFigureOut">
              <a:rPr lang="en-US" smtClean="0"/>
              <a:t>2/25/22</a:t>
            </a:fld>
            <a:endParaRPr lang="en-US" dirty="0"/>
          </a:p>
        </p:txBody>
      </p:sp>
      <p:sp>
        <p:nvSpPr>
          <p:cNvPr id="6" name="Footer Placeholder 5">
            <a:extLst>
              <a:ext uri="{FF2B5EF4-FFF2-40B4-BE49-F238E27FC236}">
                <a16:creationId xmlns:a16="http://schemas.microsoft.com/office/drawing/2014/main" id="{E8C8318F-B631-4E46-8340-D22F039FA87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7748A4C-A384-AF47-A837-C46A99AA163B}"/>
              </a:ext>
            </a:extLst>
          </p:cNvPr>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542843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456D-8FD1-A343-BC21-599F10E4CE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8D8699-A379-934C-9848-BD600A5D0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A82C27-0E15-8840-96CE-D0F00633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ED90E-797F-5C43-AD81-B1B3F85ECEED}"/>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6" name="Footer Placeholder 5">
            <a:extLst>
              <a:ext uri="{FF2B5EF4-FFF2-40B4-BE49-F238E27FC236}">
                <a16:creationId xmlns:a16="http://schemas.microsoft.com/office/drawing/2014/main" id="{711EDEC2-1761-E34F-87C9-7E697178CBD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043B737-D7BA-5E4C-AF00-66D590E0D37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202873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6AFF8-63E3-0A40-8D7C-457B91F6B5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D20475-B697-E541-A6DF-92AF025383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4675E-25C2-DB4B-B732-E675B20FD120}"/>
              </a:ext>
            </a:extLst>
          </p:cNvPr>
          <p:cNvSpPr>
            <a:spLocks noGrp="1"/>
          </p:cNvSpPr>
          <p:nvPr>
            <p:ph type="dt" sz="half" idx="10"/>
          </p:nvPr>
        </p:nvSpPr>
        <p:spPr/>
        <p:txBody>
          <a:bodyPr/>
          <a:lstStyle/>
          <a:p>
            <a:fld id="{55C6B4A9-1611-4792-9094-5F34BCA07E0B}" type="datetimeFigureOut">
              <a:rPr lang="en-US" smtClean="0"/>
              <a:t>2/25/22</a:t>
            </a:fld>
            <a:endParaRPr lang="en-US" dirty="0"/>
          </a:p>
        </p:txBody>
      </p:sp>
      <p:sp>
        <p:nvSpPr>
          <p:cNvPr id="5" name="Footer Placeholder 4">
            <a:extLst>
              <a:ext uri="{FF2B5EF4-FFF2-40B4-BE49-F238E27FC236}">
                <a16:creationId xmlns:a16="http://schemas.microsoft.com/office/drawing/2014/main" id="{C89AA116-B5A0-BA4A-927E-F785DA39214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934329-E529-1C4A-B234-47CEB980DC90}"/>
              </a:ext>
            </a:extLst>
          </p:cNvPr>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5295150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E039D1-DA12-DF4C-B907-75F31632F80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DE494C-36A5-2747-BF3C-397154210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D58C0A-6161-4F4D-A944-A3BF9791D897}"/>
              </a:ext>
            </a:extLst>
          </p:cNvPr>
          <p:cNvSpPr>
            <a:spLocks noGrp="1"/>
          </p:cNvSpPr>
          <p:nvPr>
            <p:ph type="dt" sz="half" idx="10"/>
          </p:nvPr>
        </p:nvSpPr>
        <p:spPr/>
        <p:txBody>
          <a:bodyPr/>
          <a:lstStyle/>
          <a:p>
            <a:fld id="{B61BEF0D-F0BB-DE4B-95CE-6DB70DBA9567}" type="datetimeFigureOut">
              <a:rPr lang="en-US" smtClean="0"/>
              <a:pPr/>
              <a:t>2/25/22</a:t>
            </a:fld>
            <a:endParaRPr lang="en-US" dirty="0"/>
          </a:p>
        </p:txBody>
      </p:sp>
      <p:sp>
        <p:nvSpPr>
          <p:cNvPr id="5" name="Footer Placeholder 4">
            <a:extLst>
              <a:ext uri="{FF2B5EF4-FFF2-40B4-BE49-F238E27FC236}">
                <a16:creationId xmlns:a16="http://schemas.microsoft.com/office/drawing/2014/main" id="{B5F5B78C-A430-9642-82D9-6A2FCFBA58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96C11C-7346-FA48-B12E-8225F91ED1C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7587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B2D0F5F-0DBB-47A9-9535-5081A996AADA}"/>
              </a:ext>
            </a:extLst>
          </p:cNvPr>
          <p:cNvSpPr txBox="1"/>
          <p:nvPr userDrawn="1"/>
        </p:nvSpPr>
        <p:spPr>
          <a:xfrm>
            <a:off x="9146009" y="602344"/>
            <a:ext cx="2034232" cy="358796"/>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Learning Objective</a:t>
            </a:r>
          </a:p>
        </p:txBody>
      </p:sp>
      <p:sp>
        <p:nvSpPr>
          <p:cNvPr id="13" name="TextBox 12">
            <a:extLst>
              <a:ext uri="{FF2B5EF4-FFF2-40B4-BE49-F238E27FC236}">
                <a16:creationId xmlns:a16="http://schemas.microsoft.com/office/drawing/2014/main" id="{B727232C-B92E-457E-B352-F618EC28E4D8}"/>
              </a:ext>
            </a:extLst>
          </p:cNvPr>
          <p:cNvSpPr txBox="1"/>
          <p:nvPr userDrawn="1"/>
        </p:nvSpPr>
        <p:spPr>
          <a:xfrm>
            <a:off x="8926325" y="2926415"/>
            <a:ext cx="2260256" cy="358796"/>
          </a:xfrm>
          <a:custGeom>
            <a:avLst/>
            <a:gdLst>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955971 w 2017486"/>
              <a:gd name="connsiteY5" fmla="*/ 369085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2017486 w 2017486"/>
              <a:gd name="connsiteY4" fmla="*/ 307570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17486"/>
              <a:gd name="connsiteY0" fmla="*/ 61515 h 369085"/>
              <a:gd name="connsiteX1" fmla="*/ 61515 w 2017486"/>
              <a:gd name="connsiteY1" fmla="*/ 0 h 369085"/>
              <a:gd name="connsiteX2" fmla="*/ 1955971 w 2017486"/>
              <a:gd name="connsiteY2" fmla="*/ 0 h 369085"/>
              <a:gd name="connsiteX3" fmla="*/ 2017486 w 2017486"/>
              <a:gd name="connsiteY3" fmla="*/ 61515 h 369085"/>
              <a:gd name="connsiteX4" fmla="*/ 1896905 w 2017486"/>
              <a:gd name="connsiteY4" fmla="*/ 197039 h 369085"/>
              <a:gd name="connsiteX5" fmla="*/ 1674617 w 2017486"/>
              <a:gd name="connsiteY5" fmla="*/ 348988 h 369085"/>
              <a:gd name="connsiteX6" fmla="*/ 61515 w 2017486"/>
              <a:gd name="connsiteY6" fmla="*/ 369085 h 369085"/>
              <a:gd name="connsiteX7" fmla="*/ 0 w 2017486"/>
              <a:gd name="connsiteY7" fmla="*/ 307570 h 369085"/>
              <a:gd name="connsiteX8" fmla="*/ 0 w 2017486"/>
              <a:gd name="connsiteY8" fmla="*/ 61515 h 369085"/>
              <a:gd name="connsiteX0" fmla="*/ 0 w 2007437"/>
              <a:gd name="connsiteY0" fmla="*/ 68942 h 376512"/>
              <a:gd name="connsiteX1" fmla="*/ 61515 w 2007437"/>
              <a:gd name="connsiteY1" fmla="*/ 7427 h 376512"/>
              <a:gd name="connsiteX2" fmla="*/ 1955971 w 2007437"/>
              <a:gd name="connsiteY2" fmla="*/ 7427 h 376512"/>
              <a:gd name="connsiteX3" fmla="*/ 2007437 w 2007437"/>
              <a:gd name="connsiteY3" fmla="*/ 18700 h 376512"/>
              <a:gd name="connsiteX4" fmla="*/ 1896905 w 2007437"/>
              <a:gd name="connsiteY4" fmla="*/ 204466 h 376512"/>
              <a:gd name="connsiteX5" fmla="*/ 1674617 w 2007437"/>
              <a:gd name="connsiteY5" fmla="*/ 356415 h 376512"/>
              <a:gd name="connsiteX6" fmla="*/ 61515 w 2007437"/>
              <a:gd name="connsiteY6" fmla="*/ 376512 h 376512"/>
              <a:gd name="connsiteX7" fmla="*/ 0 w 2007437"/>
              <a:gd name="connsiteY7" fmla="*/ 314997 h 376512"/>
              <a:gd name="connsiteX8" fmla="*/ 0 w 2007437"/>
              <a:gd name="connsiteY8" fmla="*/ 68942 h 3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07437" h="376512">
                <a:moveTo>
                  <a:pt x="0" y="68942"/>
                </a:moveTo>
                <a:cubicBezTo>
                  <a:pt x="0" y="34968"/>
                  <a:pt x="27541" y="7427"/>
                  <a:pt x="61515" y="7427"/>
                </a:cubicBezTo>
                <a:lnTo>
                  <a:pt x="1955971" y="7427"/>
                </a:lnTo>
                <a:cubicBezTo>
                  <a:pt x="1989945" y="7427"/>
                  <a:pt x="2007437" y="-15274"/>
                  <a:pt x="2007437" y="18700"/>
                </a:cubicBezTo>
                <a:lnTo>
                  <a:pt x="1896905" y="204466"/>
                </a:lnTo>
                <a:cubicBezTo>
                  <a:pt x="1896905" y="238440"/>
                  <a:pt x="1708591" y="356415"/>
                  <a:pt x="1674617" y="356415"/>
                </a:cubicBezTo>
                <a:cubicBezTo>
                  <a:pt x="1043132" y="356415"/>
                  <a:pt x="693000" y="376512"/>
                  <a:pt x="61515" y="376512"/>
                </a:cubicBezTo>
                <a:cubicBezTo>
                  <a:pt x="27541" y="376512"/>
                  <a:pt x="0" y="348971"/>
                  <a:pt x="0" y="314997"/>
                </a:cubicBezTo>
                <a:lnTo>
                  <a:pt x="0" y="68942"/>
                </a:lnTo>
                <a:close/>
              </a:path>
            </a:pathLst>
          </a:cu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US" sz="1400" b="0" i="0" dirty="0">
                <a:solidFill>
                  <a:schemeClr val="bg1"/>
                </a:solidFill>
                <a:latin typeface="Arial Rounded MT Bold" panose="020F0704030504030204" pitchFamily="34" charset="0"/>
                <a:cs typeface="Futura Medium" panose="020B0602020204020303" pitchFamily="34" charset="-79"/>
              </a:rPr>
              <a:t>Think - Pair - Share</a:t>
            </a:r>
          </a:p>
        </p:txBody>
      </p:sp>
      <p:sp>
        <p:nvSpPr>
          <p:cNvPr id="15" name="Text Placeholder 2">
            <a:extLst>
              <a:ext uri="{FF2B5EF4-FFF2-40B4-BE49-F238E27FC236}">
                <a16:creationId xmlns:a16="http://schemas.microsoft.com/office/drawing/2014/main" id="{D8D8F44C-757A-43E7-8713-76A89DF6C4D9}"/>
              </a:ext>
            </a:extLst>
          </p:cNvPr>
          <p:cNvSpPr>
            <a:spLocks noGrp="1"/>
          </p:cNvSpPr>
          <p:nvPr>
            <p:ph type="body" sz="quarter" idx="16" hasCustomPrompt="1"/>
          </p:nvPr>
        </p:nvSpPr>
        <p:spPr>
          <a:xfrm>
            <a:off x="432958" y="3689575"/>
            <a:ext cx="10745582" cy="2651940"/>
          </a:xfrm>
          <a:prstGeom prst="round2DiagRect">
            <a:avLst/>
          </a:prstGeom>
          <a:noFill/>
          <a:ln w="38100">
            <a:solidFill>
              <a:srgbClr val="1891AC"/>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br>
              <a:rPr lang="en-AU" dirty="0"/>
            </a:br>
            <a:r>
              <a:rPr lang="en-AU" dirty="0"/>
              <a:t>State a specific task you will be setting at the end of the lesson,</a:t>
            </a:r>
            <a:br>
              <a:rPr lang="en-AU" dirty="0"/>
            </a:br>
            <a:r>
              <a:rPr lang="en-AU" dirty="0"/>
              <a:t>to assess whether students have been successful</a:t>
            </a:r>
            <a:br>
              <a:rPr lang="en-AU" dirty="0"/>
            </a:br>
            <a:r>
              <a:rPr lang="en-AU" dirty="0"/>
              <a:t>in obtaining the learning objective.</a:t>
            </a:r>
          </a:p>
          <a:p>
            <a:pPr lvl="0"/>
            <a:endParaRPr lang="en-AU" dirty="0"/>
          </a:p>
        </p:txBody>
      </p:sp>
      <p:sp>
        <p:nvSpPr>
          <p:cNvPr id="10" name="Text Placeholder 2">
            <a:extLst>
              <a:ext uri="{FF2B5EF4-FFF2-40B4-BE49-F238E27FC236}">
                <a16:creationId xmlns:a16="http://schemas.microsoft.com/office/drawing/2014/main" id="{C2A00B02-7DD1-4010-8743-E8E43F8620E6}"/>
              </a:ext>
            </a:extLst>
          </p:cNvPr>
          <p:cNvSpPr>
            <a:spLocks noGrp="1"/>
          </p:cNvSpPr>
          <p:nvPr>
            <p:ph type="body" sz="quarter" idx="18" hasCustomPrompt="1"/>
          </p:nvPr>
        </p:nvSpPr>
        <p:spPr>
          <a:xfrm>
            <a:off x="432958" y="602344"/>
            <a:ext cx="10745582" cy="2651940"/>
          </a:xfrm>
          <a:prstGeom prst="round2DiagRect">
            <a:avLst/>
          </a:prstGeom>
          <a:ln w="38100">
            <a:solidFill>
              <a:srgbClr val="154983"/>
            </a:solidFill>
          </a:ln>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ea typeface="Verdana" panose="020B0604030504040204" pitchFamily="34" charset="0"/>
              </a:defRPr>
            </a:lvl1pPr>
          </a:lstStyle>
          <a:p>
            <a:pPr lvl="0"/>
            <a:r>
              <a:rPr lang="en-AU" dirty="0"/>
              <a:t>A statement describing what the students</a:t>
            </a:r>
            <a:br>
              <a:rPr lang="en-AU" dirty="0"/>
            </a:br>
            <a:r>
              <a:rPr lang="en-AU" dirty="0"/>
              <a:t>will be able to do by the end of the lesson.</a:t>
            </a:r>
            <a:br>
              <a:rPr lang="en-AU" dirty="0"/>
            </a:br>
            <a:br>
              <a:rPr lang="en-AU" dirty="0"/>
            </a:br>
            <a:r>
              <a:rPr lang="en-AU" dirty="0"/>
              <a:t>E.g. ‘Write direct speech using</a:t>
            </a:r>
            <a:br>
              <a:rPr lang="en-AU" dirty="0"/>
            </a:br>
            <a:r>
              <a:rPr lang="en-AU" dirty="0"/>
              <a:t>correct punctuation and grammar.’</a:t>
            </a:r>
          </a:p>
        </p:txBody>
      </p:sp>
      <p:sp>
        <p:nvSpPr>
          <p:cNvPr id="6" name="TextBox 5">
            <a:extLst>
              <a:ext uri="{FF2B5EF4-FFF2-40B4-BE49-F238E27FC236}">
                <a16:creationId xmlns:a16="http://schemas.microsoft.com/office/drawing/2014/main" id="{AB21FC50-7983-4BBE-87BD-F3ED203B330F}"/>
              </a:ext>
            </a:extLst>
          </p:cNvPr>
          <p:cNvSpPr txBox="1"/>
          <p:nvPr userDrawn="1"/>
        </p:nvSpPr>
        <p:spPr>
          <a:xfrm>
            <a:off x="9146009" y="3677498"/>
            <a:ext cx="2034234" cy="358796"/>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Success Criteria</a:t>
            </a:r>
          </a:p>
        </p:txBody>
      </p:sp>
    </p:spTree>
    <p:extLst>
      <p:ext uri="{BB962C8B-B14F-4D97-AF65-F5344CB8AC3E}">
        <p14:creationId xmlns:p14="http://schemas.microsoft.com/office/powerpoint/2010/main" val="385708788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28356521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348388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image" Target="../media/image1.png"/><Relationship Id="rId2" Type="http://schemas.openxmlformats.org/officeDocument/2006/relationships/slideLayout" Target="../slideLayouts/slideLayout23.xml"/><Relationship Id="rId16" Type="http://schemas.openxmlformats.org/officeDocument/2006/relationships/theme" Target="../theme/theme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image" Target="../media/image1.png"/><Relationship Id="rId5" Type="http://schemas.openxmlformats.org/officeDocument/2006/relationships/slideLayout" Target="../slideLayouts/slideLayout41.xml"/><Relationship Id="rId10" Type="http://schemas.openxmlformats.org/officeDocument/2006/relationships/theme" Target="../theme/theme3.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pn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5" Type="http://schemas.openxmlformats.org/officeDocument/2006/relationships/theme" Target="../theme/theme5.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3B8C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E91DF72-2A8F-445D-BC0A-815E681E321D}"/>
              </a:ext>
            </a:extLst>
          </p:cNvPr>
          <p:cNvPicPr>
            <a:picLocks noChangeAspect="1"/>
          </p:cNvPicPr>
          <p:nvPr/>
        </p:nvPicPr>
        <p:blipFill>
          <a:blip r:embed="rId23"/>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2709256914"/>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A149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7B421F1-3EFD-4EB1-8757-68976493B334}"/>
              </a:ext>
            </a:extLst>
          </p:cNvPr>
          <p:cNvPicPr>
            <a:picLocks noChangeAspect="1"/>
          </p:cNvPicPr>
          <p:nvPr/>
        </p:nvPicPr>
        <p:blipFill>
          <a:blip r:embed="rId17"/>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47349183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71"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p:nvSpPr>
        <p:spPr>
          <a:xfrm>
            <a:off x="0" y="0"/>
            <a:ext cx="12192000" cy="6858000"/>
          </a:xfrm>
          <a:prstGeom prst="rect">
            <a:avLst/>
          </a:prstGeom>
          <a:solidFill>
            <a:srgbClr val="479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DBB0268-634F-494F-A534-6D6283C91351}"/>
              </a:ext>
            </a:extLst>
          </p:cNvPr>
          <p:cNvPicPr>
            <a:picLocks noChangeAspect="1"/>
          </p:cNvPicPr>
          <p:nvPr/>
        </p:nvPicPr>
        <p:blipFill>
          <a:blip r:embed="rId11"/>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594667570"/>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72"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p:nvSpPr>
        <p:spPr>
          <a:xfrm>
            <a:off x="0" y="0"/>
            <a:ext cx="12192000" cy="6858000"/>
          </a:xfrm>
          <a:prstGeom prst="rect">
            <a:avLst/>
          </a:prstGeom>
          <a:solidFill>
            <a:srgbClr val="683F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p:nvSpPr>
        <p:spPr>
          <a:xfrm>
            <a:off x="297833" y="221673"/>
            <a:ext cx="11575512"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3C87905-546B-40B8-A77F-8173C6D81708}"/>
              </a:ext>
            </a:extLst>
          </p:cNvPr>
          <p:cNvPicPr>
            <a:picLocks noChangeAspect="1"/>
          </p:cNvPicPr>
          <p:nvPr/>
        </p:nvPicPr>
        <p:blipFill>
          <a:blip r:embed="rId16"/>
          <a:stretch>
            <a:fillRect/>
          </a:stretch>
        </p:blipFill>
        <p:spPr>
          <a:xfrm>
            <a:off x="10475654" y="5974038"/>
            <a:ext cx="1392168" cy="659015"/>
          </a:xfrm>
          <a:prstGeom prst="rect">
            <a:avLst/>
          </a:prstGeom>
        </p:spPr>
      </p:pic>
    </p:spTree>
    <p:extLst>
      <p:ext uri="{BB962C8B-B14F-4D97-AF65-F5344CB8AC3E}">
        <p14:creationId xmlns:p14="http://schemas.microsoft.com/office/powerpoint/2010/main" val="70881739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D52C70-79E0-3F4E-8C86-21588BE79E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891E8F-80E7-D045-B781-B6A164C41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06AA54-5ABB-EF4D-9916-637244CB4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2/25/22</a:t>
            </a:fld>
            <a:endParaRPr lang="en-US" dirty="0"/>
          </a:p>
        </p:txBody>
      </p:sp>
      <p:sp>
        <p:nvSpPr>
          <p:cNvPr id="5" name="Footer Placeholder 4">
            <a:extLst>
              <a:ext uri="{FF2B5EF4-FFF2-40B4-BE49-F238E27FC236}">
                <a16:creationId xmlns:a16="http://schemas.microsoft.com/office/drawing/2014/main" id="{6AEFBE9C-E714-8C48-86AA-5BC9832FD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14D2459-E8D0-E049-BE1B-B4AFAA05B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38166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93" r:id="rId12"/>
    <p:sldLayoutId id="2147483795" r:id="rId13"/>
    <p:sldLayoutId id="214748380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1575465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58ACDE-97EB-4DDB-8D0A-A13BB4F2EDD2}"/>
              </a:ext>
            </a:extLst>
          </p:cNvPr>
          <p:cNvSpPr>
            <a:spLocks noGrp="1"/>
          </p:cNvSpPr>
          <p:nvPr>
            <p:ph type="body" sz="quarter" idx="16"/>
          </p:nvPr>
        </p:nvSpPr>
        <p:spPr>
          <a:xfrm>
            <a:off x="432958" y="3673869"/>
            <a:ext cx="11194266" cy="2651940"/>
          </a:xfrm>
        </p:spPr>
        <p:txBody>
          <a:bodyPr>
            <a:normAutofit/>
          </a:bodyPr>
          <a:lstStyle/>
          <a:p>
            <a:pPr lvl="0" algn="l"/>
            <a:endParaRPr lang="en-AU" sz="100" dirty="0"/>
          </a:p>
          <a:p>
            <a:pPr algn="l"/>
            <a:endParaRPr lang="en-AU" sz="3000" dirty="0"/>
          </a:p>
        </p:txBody>
      </p:sp>
      <p:sp>
        <p:nvSpPr>
          <p:cNvPr id="7" name="Text Placeholder 6">
            <a:extLst>
              <a:ext uri="{FF2B5EF4-FFF2-40B4-BE49-F238E27FC236}">
                <a16:creationId xmlns:a16="http://schemas.microsoft.com/office/drawing/2014/main" id="{5DB1A190-F6F8-4F27-BBED-92C0B43629F1}"/>
              </a:ext>
            </a:extLst>
          </p:cNvPr>
          <p:cNvSpPr>
            <a:spLocks noGrp="1"/>
          </p:cNvSpPr>
          <p:nvPr>
            <p:ph type="body" sz="quarter" idx="18"/>
          </p:nvPr>
        </p:nvSpPr>
        <p:spPr>
          <a:xfrm>
            <a:off x="432958" y="602511"/>
            <a:ext cx="11194266" cy="2651940"/>
          </a:xfrm>
        </p:spPr>
        <p:txBody>
          <a:bodyPr>
            <a:normAutofit/>
          </a:bodyPr>
          <a:lstStyle/>
          <a:p>
            <a:pPr algn="l"/>
            <a:r>
              <a:rPr lang="en-AU" sz="3200" dirty="0"/>
              <a:t>Students will be able to:</a:t>
            </a:r>
            <a:endParaRPr lang="en-AU" sz="3000" dirty="0">
              <a:solidFill>
                <a:srgbClr val="C00000"/>
              </a:solidFill>
            </a:endParaRPr>
          </a:p>
          <a:p>
            <a:pPr algn="l"/>
            <a:endParaRPr lang="en-AU" dirty="0"/>
          </a:p>
        </p:txBody>
      </p:sp>
    </p:spTree>
    <p:extLst>
      <p:ext uri="{BB962C8B-B14F-4D97-AF65-F5344CB8AC3E}">
        <p14:creationId xmlns:p14="http://schemas.microsoft.com/office/powerpoint/2010/main" val="3376853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600" dirty="0"/>
              <a:t>Reflexes</a:t>
            </a:r>
          </a:p>
          <a:p>
            <a:endParaRPr lang="en-AU" sz="3400" dirty="0"/>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0" y="1416634"/>
            <a:ext cx="10541819" cy="5393007"/>
          </a:xfrm>
        </p:spPr>
        <p:txBody>
          <a:bodyPr>
            <a:normAutofit/>
          </a:bodyPr>
          <a:lstStyle/>
          <a:p>
            <a:r>
              <a:rPr lang="en-AU" sz="2400" b="1" dirty="0">
                <a:latin typeface="Avenir Book" panose="02000503020000020003" pitchFamily="2" charset="0"/>
              </a:rPr>
              <a:t>Reflexes</a:t>
            </a:r>
            <a:r>
              <a:rPr lang="en-AU" sz="2400" dirty="0">
                <a:latin typeface="Avenir Book" panose="02000503020000020003" pitchFamily="2" charset="0"/>
              </a:rPr>
              <a:t> occur as a response to a sudden change in the environment. All reflexes share four properties:</a:t>
            </a:r>
          </a:p>
          <a:p>
            <a:r>
              <a:rPr lang="en-AU" sz="2400" dirty="0">
                <a:latin typeface="Avenir Book" panose="02000503020000020003" pitchFamily="2" charset="0"/>
              </a:rPr>
              <a:t> </a:t>
            </a:r>
          </a:p>
          <a:p>
            <a:pPr marL="285750" indent="-285750">
              <a:buFont typeface="Arial" panose="020B0604020202020204" pitchFamily="34" charset="0"/>
              <a:buChar char="•"/>
            </a:pPr>
            <a:r>
              <a:rPr lang="en-AU" sz="2400" dirty="0">
                <a:latin typeface="Avenir Book" panose="02000503020000020003" pitchFamily="2" charset="0"/>
              </a:rPr>
              <a:t>A </a:t>
            </a:r>
            <a:r>
              <a:rPr lang="en-AU" sz="2400" b="1" dirty="0">
                <a:latin typeface="Avenir Book" panose="02000503020000020003" pitchFamily="2" charset="0"/>
              </a:rPr>
              <a:t>stimulus</a:t>
            </a:r>
            <a:r>
              <a:rPr lang="en-AU" sz="2400" dirty="0">
                <a:latin typeface="Avenir Book" panose="02000503020000020003" pitchFamily="2" charset="0"/>
              </a:rPr>
              <a:t> is required for a reflex to occur.</a:t>
            </a:r>
          </a:p>
          <a:p>
            <a:pPr marL="285750" indent="-285750">
              <a:buFont typeface="Arial" panose="020B0604020202020204" pitchFamily="34" charset="0"/>
              <a:buChar char="•"/>
            </a:pPr>
            <a:r>
              <a:rPr lang="en-AU" sz="2400" dirty="0">
                <a:latin typeface="Avenir Book" panose="02000503020000020003" pitchFamily="2" charset="0"/>
              </a:rPr>
              <a:t>All reflexes are </a:t>
            </a:r>
            <a:r>
              <a:rPr lang="en-AU" sz="2400" b="1" dirty="0">
                <a:latin typeface="Avenir Book" panose="02000503020000020003" pitchFamily="2" charset="0"/>
              </a:rPr>
              <a:t>involuntary</a:t>
            </a:r>
            <a:r>
              <a:rPr lang="en-AU" sz="2400" dirty="0">
                <a:latin typeface="Avenir Book" panose="02000503020000020003" pitchFamily="2" charset="0"/>
              </a:rPr>
              <a:t>. </a:t>
            </a:r>
          </a:p>
          <a:p>
            <a:pPr marL="285750" indent="-285750">
              <a:buFont typeface="Arial" panose="020B0604020202020204" pitchFamily="34" charset="0"/>
              <a:buChar char="•"/>
            </a:pPr>
            <a:r>
              <a:rPr lang="en-AU" sz="2400" dirty="0">
                <a:latin typeface="Avenir Book" panose="02000503020000020003" pitchFamily="2" charset="0"/>
              </a:rPr>
              <a:t>Responses are </a:t>
            </a:r>
            <a:r>
              <a:rPr lang="en-AU" sz="2400" b="1" dirty="0">
                <a:latin typeface="Avenir Book" panose="02000503020000020003" pitchFamily="2" charset="0"/>
              </a:rPr>
              <a:t>rapid</a:t>
            </a:r>
            <a:r>
              <a:rPr lang="en-AU" sz="2400" dirty="0">
                <a:latin typeface="Avenir Book" panose="02000503020000020003" pitchFamily="2" charset="0"/>
              </a:rPr>
              <a:t>. </a:t>
            </a:r>
          </a:p>
          <a:p>
            <a:pPr marL="285750" indent="-285750">
              <a:buFont typeface="Arial" panose="020B0604020202020204" pitchFamily="34" charset="0"/>
              <a:buChar char="•"/>
            </a:pPr>
            <a:r>
              <a:rPr lang="en-AU" sz="2400" dirty="0">
                <a:latin typeface="Avenir Book" panose="02000503020000020003" pitchFamily="2" charset="0"/>
              </a:rPr>
              <a:t>Responses are the </a:t>
            </a:r>
            <a:r>
              <a:rPr lang="en-AU" sz="2400" b="1" dirty="0">
                <a:latin typeface="Avenir Book" panose="02000503020000020003" pitchFamily="2" charset="0"/>
              </a:rPr>
              <a:t>same</a:t>
            </a:r>
            <a:r>
              <a:rPr lang="en-AU" sz="2400" dirty="0">
                <a:latin typeface="Avenir Book" panose="02000503020000020003" pitchFamily="2" charset="0"/>
              </a:rPr>
              <a:t> for the same stimulus. </a:t>
            </a:r>
          </a:p>
        </p:txBody>
      </p:sp>
    </p:spTree>
    <p:extLst>
      <p:ext uri="{BB962C8B-B14F-4D97-AF65-F5344CB8AC3E}">
        <p14:creationId xmlns:p14="http://schemas.microsoft.com/office/powerpoint/2010/main" val="3130382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linds(horizont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linds(horizontal)">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200" dirty="0">
                <a:solidFill>
                  <a:srgbClr val="004D95"/>
                </a:solidFill>
              </a:rPr>
              <a:t>Reflexes</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280557" y="1448023"/>
            <a:ext cx="11481952" cy="4756305"/>
          </a:xfrm>
        </p:spPr>
        <p:txBody>
          <a:bodyPr>
            <a:normAutofit/>
          </a:bodyPr>
          <a:lstStyle/>
          <a:p>
            <a:r>
              <a:rPr lang="en-AU" sz="2000" dirty="0">
                <a:latin typeface="Avenir Book" panose="02000503020000020003" pitchFamily="2" charset="0"/>
              </a:rPr>
              <a:t>While some reflexes are integrated by the brain, most go directly to the spinal cord-these are called </a:t>
            </a:r>
            <a:r>
              <a:rPr lang="en-AU" sz="2000" b="1" dirty="0">
                <a:latin typeface="Avenir Book" panose="02000503020000020003" pitchFamily="2" charset="0"/>
              </a:rPr>
              <a:t>spinal reflexes</a:t>
            </a:r>
            <a:r>
              <a:rPr lang="en-AU" sz="2000" dirty="0">
                <a:latin typeface="Avenir Book" panose="02000503020000020003" pitchFamily="2" charset="0"/>
              </a:rPr>
              <a:t>. The sensory information from the receptor is relayed either to an interneuron and then to a motor neuron, or it passes directly to a motor neuron somewhere along the spinal cord. </a:t>
            </a:r>
          </a:p>
          <a:p>
            <a:endParaRPr lang="en-AU" sz="2000" dirty="0">
              <a:latin typeface="Avenir Book" panose="02000503020000020003" pitchFamily="2" charset="0"/>
            </a:endParaRPr>
          </a:p>
          <a:p>
            <a:r>
              <a:rPr lang="en-AU" sz="2000" dirty="0">
                <a:latin typeface="Avenir Book" panose="02000503020000020003" pitchFamily="2" charset="0"/>
              </a:rPr>
              <a:t>While the brain is not involved in the reflex itself, it does become aware of the change in the environment after the reflex has begun. </a:t>
            </a:r>
            <a:r>
              <a:rPr lang="en-AU" sz="2800" dirty="0">
                <a:latin typeface="Avenir Book" panose="02000503020000020003" pitchFamily="2" charset="0"/>
              </a:rPr>
              <a:t> </a:t>
            </a:r>
          </a:p>
          <a:p>
            <a:r>
              <a:rPr lang="en-AU" sz="2400" dirty="0"/>
              <a:t> </a:t>
            </a:r>
          </a:p>
          <a:p>
            <a:endParaRPr lang="en-AU" dirty="0"/>
          </a:p>
        </p:txBody>
      </p:sp>
      <p:pic>
        <p:nvPicPr>
          <p:cNvPr id="6" name="Picture 5" descr="Diagram&#10;&#10;Description automatically generated">
            <a:extLst>
              <a:ext uri="{FF2B5EF4-FFF2-40B4-BE49-F238E27FC236}">
                <a16:creationId xmlns:a16="http://schemas.microsoft.com/office/drawing/2014/main" id="{749B7675-2A9C-8442-BF29-807BFF1224ED}"/>
              </a:ext>
            </a:extLst>
          </p:cNvPr>
          <p:cNvPicPr>
            <a:picLocks noChangeAspect="1"/>
          </p:cNvPicPr>
          <p:nvPr/>
        </p:nvPicPr>
        <p:blipFill>
          <a:blip r:embed="rId3"/>
          <a:stretch>
            <a:fillRect/>
          </a:stretch>
        </p:blipFill>
        <p:spPr>
          <a:xfrm>
            <a:off x="5184139" y="3152140"/>
            <a:ext cx="5910441" cy="3705860"/>
          </a:xfrm>
          <a:prstGeom prst="rect">
            <a:avLst/>
          </a:prstGeom>
        </p:spPr>
      </p:pic>
    </p:spTree>
    <p:extLst>
      <p:ext uri="{BB962C8B-B14F-4D97-AF65-F5344CB8AC3E}">
        <p14:creationId xmlns:p14="http://schemas.microsoft.com/office/powerpoint/2010/main" val="27711238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A41703-5F59-0245-BC4C-593191BE4F2E}"/>
              </a:ext>
            </a:extLst>
          </p:cNvPr>
          <p:cNvSpPr>
            <a:spLocks noGrp="1"/>
          </p:cNvSpPr>
          <p:nvPr>
            <p:ph type="body" sz="quarter" idx="13"/>
          </p:nvPr>
        </p:nvSpPr>
        <p:spPr/>
        <p:txBody>
          <a:bodyPr/>
          <a:lstStyle/>
          <a:p>
            <a:r>
              <a:rPr lang="en-US" dirty="0"/>
              <a:t>Reflexes </a:t>
            </a:r>
          </a:p>
        </p:txBody>
      </p:sp>
      <p:sp>
        <p:nvSpPr>
          <p:cNvPr id="3" name="Text Placeholder 2">
            <a:extLst>
              <a:ext uri="{FF2B5EF4-FFF2-40B4-BE49-F238E27FC236}">
                <a16:creationId xmlns:a16="http://schemas.microsoft.com/office/drawing/2014/main" id="{E7EBB9B9-F33D-CE4C-B636-43286A6E0476}"/>
              </a:ext>
            </a:extLst>
          </p:cNvPr>
          <p:cNvSpPr>
            <a:spLocks noGrp="1"/>
          </p:cNvSpPr>
          <p:nvPr>
            <p:ph type="body" sz="quarter" idx="15"/>
          </p:nvPr>
        </p:nvSpPr>
        <p:spPr>
          <a:xfrm>
            <a:off x="280557" y="1330036"/>
            <a:ext cx="9240633" cy="5066923"/>
          </a:xfrm>
        </p:spPr>
        <p:txBody>
          <a:bodyPr>
            <a:normAutofit/>
          </a:bodyPr>
          <a:lstStyle/>
          <a:p>
            <a:r>
              <a:rPr lang="en-AU" sz="2000" dirty="0">
                <a:latin typeface="Avenir Book" panose="02000503020000020003" pitchFamily="2" charset="0"/>
              </a:rPr>
              <a:t>The reflex occurs through the steps along a pathway called a reflex arc (or a spinal reflex arc) and these steps are as follows: </a:t>
            </a:r>
          </a:p>
          <a:p>
            <a:endParaRPr lang="en-AU" sz="2000" dirty="0">
              <a:latin typeface="Avenir Book" panose="02000503020000020003" pitchFamily="2" charset="0"/>
            </a:endParaRPr>
          </a:p>
          <a:p>
            <a:r>
              <a:rPr lang="en-AU" sz="2000" dirty="0">
                <a:latin typeface="Avenir Book" panose="02000503020000020003" pitchFamily="2" charset="0"/>
              </a:rPr>
              <a:t>1. </a:t>
            </a:r>
            <a:r>
              <a:rPr lang="en-AU" sz="2000" b="1" dirty="0">
                <a:latin typeface="Avenir Book" panose="02000503020000020003" pitchFamily="2" charset="0"/>
              </a:rPr>
              <a:t>Receptor: </a:t>
            </a:r>
            <a:r>
              <a:rPr lang="en-AU" sz="2000" dirty="0">
                <a:latin typeface="Avenir Book" panose="02000503020000020003" pitchFamily="2" charset="0"/>
              </a:rPr>
              <a:t>a receptor (which is closely associated with a sensory neuron) detects a change in the environment and the sensory neuron initiates a nervous impulse. </a:t>
            </a:r>
          </a:p>
          <a:p>
            <a:r>
              <a:rPr lang="en-AU" sz="2000" dirty="0">
                <a:latin typeface="Avenir Book" panose="02000503020000020003" pitchFamily="2" charset="0"/>
              </a:rPr>
              <a:t>2. </a:t>
            </a:r>
            <a:r>
              <a:rPr lang="en-AU" sz="2000" b="1" dirty="0">
                <a:latin typeface="Avenir Book" panose="02000503020000020003" pitchFamily="2" charset="0"/>
              </a:rPr>
              <a:t>Relay to CNS: </a:t>
            </a:r>
            <a:r>
              <a:rPr lang="en-AU" sz="2000" dirty="0">
                <a:latin typeface="Avenir Book" panose="02000503020000020003" pitchFamily="2" charset="0"/>
              </a:rPr>
              <a:t>the impulse is carried towards the spinal cord. </a:t>
            </a:r>
          </a:p>
          <a:p>
            <a:r>
              <a:rPr lang="en-AU" sz="2000" dirty="0">
                <a:latin typeface="Avenir Book" panose="02000503020000020003" pitchFamily="2" charset="0"/>
              </a:rPr>
              <a:t>3. </a:t>
            </a:r>
            <a:r>
              <a:rPr lang="en-AU" sz="2000" b="1" dirty="0">
                <a:latin typeface="Avenir Book" panose="02000503020000020003" pitchFamily="2" charset="0"/>
              </a:rPr>
              <a:t>Integration: </a:t>
            </a:r>
            <a:r>
              <a:rPr lang="en-AU" sz="2000" dirty="0">
                <a:latin typeface="Avenir Book" panose="02000503020000020003" pitchFamily="2" charset="0"/>
              </a:rPr>
              <a:t>at least one synapse is involved as the impulse reaches the spinal cord and is passed an interneuron (which then relays the impulse to a motor neuron) or directly to the motor to either neuron.</a:t>
            </a:r>
          </a:p>
          <a:p>
            <a:r>
              <a:rPr lang="en-AU" sz="2000" dirty="0">
                <a:latin typeface="Avenir Book" panose="02000503020000020003" pitchFamily="2" charset="0"/>
              </a:rPr>
              <a:t>4. </a:t>
            </a:r>
            <a:r>
              <a:rPr lang="en-AU" sz="2000" b="1" dirty="0">
                <a:latin typeface="Avenir Book" panose="02000503020000020003" pitchFamily="2" charset="0"/>
              </a:rPr>
              <a:t>Relay effector: </a:t>
            </a:r>
            <a:r>
              <a:rPr lang="en-AU" sz="2000" dirty="0">
                <a:latin typeface="Avenir Book" panose="02000503020000020003" pitchFamily="2" charset="0"/>
              </a:rPr>
              <a:t>the motor neuron carries the impulse to an effector.</a:t>
            </a:r>
          </a:p>
          <a:p>
            <a:r>
              <a:rPr lang="en-AU" sz="2000" dirty="0">
                <a:latin typeface="Avenir Book" panose="02000503020000020003" pitchFamily="2" charset="0"/>
              </a:rPr>
              <a:t>5. </a:t>
            </a:r>
            <a:r>
              <a:rPr lang="en-AU" sz="2000" b="1" dirty="0">
                <a:latin typeface="Avenir Book" panose="02000503020000020003" pitchFamily="2" charset="0"/>
              </a:rPr>
              <a:t>Response: </a:t>
            </a:r>
            <a:r>
              <a:rPr lang="en-AU" sz="2000" dirty="0">
                <a:latin typeface="Avenir Book" panose="02000503020000020003" pitchFamily="2" charset="0"/>
              </a:rPr>
              <a:t>the effector carries out the appropriate response. </a:t>
            </a:r>
          </a:p>
          <a:p>
            <a:endParaRPr lang="en-US" dirty="0"/>
          </a:p>
        </p:txBody>
      </p:sp>
    </p:spTree>
    <p:extLst>
      <p:ext uri="{BB962C8B-B14F-4D97-AF65-F5344CB8AC3E}">
        <p14:creationId xmlns:p14="http://schemas.microsoft.com/office/powerpoint/2010/main" val="561050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014179-C588-7E45-AC7B-EA3151FA2F35}"/>
              </a:ext>
            </a:extLst>
          </p:cNvPr>
          <p:cNvSpPr>
            <a:spLocks noGrp="1"/>
          </p:cNvSpPr>
          <p:nvPr>
            <p:ph type="body" sz="quarter" idx="13"/>
          </p:nvPr>
        </p:nvSpPr>
        <p:spPr/>
        <p:txBody>
          <a:bodyPr/>
          <a:lstStyle/>
          <a:p>
            <a:r>
              <a:rPr lang="en-US" dirty="0"/>
              <a:t>Reflexes </a:t>
            </a:r>
          </a:p>
        </p:txBody>
      </p:sp>
      <p:sp>
        <p:nvSpPr>
          <p:cNvPr id="3" name="Text Placeholder 2">
            <a:extLst>
              <a:ext uri="{FF2B5EF4-FFF2-40B4-BE49-F238E27FC236}">
                <a16:creationId xmlns:a16="http://schemas.microsoft.com/office/drawing/2014/main" id="{E163FDE9-520F-724F-8755-CFA30F9D4CCD}"/>
              </a:ext>
            </a:extLst>
          </p:cNvPr>
          <p:cNvSpPr>
            <a:spLocks noGrp="1"/>
          </p:cNvSpPr>
          <p:nvPr>
            <p:ph type="body" sz="quarter" idx="15"/>
          </p:nvPr>
        </p:nvSpPr>
        <p:spPr/>
        <p:txBody>
          <a:bodyPr/>
          <a:lstStyle/>
          <a:p>
            <a:r>
              <a:rPr lang="en-AU" sz="2400" dirty="0">
                <a:latin typeface="Avenir Book" panose="02000503020000020003" pitchFamily="2" charset="0"/>
              </a:rPr>
              <a:t>It is interesting to note that while many reflexes are acquired through development, many are innate and determined genetically from birth.</a:t>
            </a:r>
          </a:p>
          <a:p>
            <a:endParaRPr lang="en-US" dirty="0"/>
          </a:p>
        </p:txBody>
      </p:sp>
      <p:pic>
        <p:nvPicPr>
          <p:cNvPr id="5" name="Picture 4" descr="Diagram&#10;&#10;Description automatically generated">
            <a:extLst>
              <a:ext uri="{FF2B5EF4-FFF2-40B4-BE49-F238E27FC236}">
                <a16:creationId xmlns:a16="http://schemas.microsoft.com/office/drawing/2014/main" id="{D6D8B87A-2B7A-1547-B38E-C7B931F0BB24}"/>
              </a:ext>
            </a:extLst>
          </p:cNvPr>
          <p:cNvPicPr>
            <a:picLocks noChangeAspect="1"/>
          </p:cNvPicPr>
          <p:nvPr/>
        </p:nvPicPr>
        <p:blipFill>
          <a:blip r:embed="rId2"/>
          <a:stretch>
            <a:fillRect/>
          </a:stretch>
        </p:blipFill>
        <p:spPr>
          <a:xfrm>
            <a:off x="2566105" y="2368371"/>
            <a:ext cx="7059790" cy="4426504"/>
          </a:xfrm>
          <a:prstGeom prst="rect">
            <a:avLst/>
          </a:prstGeom>
        </p:spPr>
      </p:pic>
    </p:spTree>
    <p:extLst>
      <p:ext uri="{BB962C8B-B14F-4D97-AF65-F5344CB8AC3E}">
        <p14:creationId xmlns:p14="http://schemas.microsoft.com/office/powerpoint/2010/main" val="154422535"/>
      </p:ext>
    </p:extLst>
  </p:cSld>
  <p:clrMapOvr>
    <a:masterClrMapping/>
  </p:clrMapOvr>
</p:sld>
</file>

<file path=ppt/theme/theme1.xml><?xml version="1.0" encoding="utf-8"?>
<a:theme xmlns:a="http://schemas.openxmlformats.org/drawingml/2006/main" name="Explicit Instruct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583381A7-9936-5D44-AF96-977A58C393EF}"/>
    </a:ext>
  </a:extLst>
</a:theme>
</file>

<file path=ppt/theme/theme2.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44E26B83-00B7-BB4D-A2EC-ADFFD194B2BC}"/>
    </a:ext>
  </a:extLst>
</a:theme>
</file>

<file path=ppt/theme/theme3.xml><?xml version="1.0" encoding="utf-8"?>
<a:theme xmlns:a="http://schemas.openxmlformats.org/drawingml/2006/main" name="Vocabulary &amp; Spell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821F2746-48D5-5843-A7D5-EF5B105A2CD3}"/>
    </a:ext>
  </a:extLst>
</a:theme>
</file>

<file path=ppt/theme/theme4.xml><?xml version="1.0" encoding="utf-8"?>
<a:theme xmlns:a="http://schemas.openxmlformats.org/drawingml/2006/main" name="Reading Comprehensi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Presentation7" id="{A0887C6E-96BD-534A-8CBE-9AAF12871CE8}" vid="{2E2F26A4-DEB2-AF4B-9600-F3299094F0D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A0887C6E-96BD-534A-8CBE-9AAF12871CE8}" vid="{32E83A20-4629-CD4A-B190-FC50DD96DD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Explicit Instruction</Template>
  <TotalTime>6629</TotalTime>
  <Words>443</Words>
  <Application>Microsoft Macintosh PowerPoint</Application>
  <PresentationFormat>Widescreen</PresentationFormat>
  <Paragraphs>31</Paragraphs>
  <Slides>6</Slides>
  <Notes>4</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6</vt:i4>
      </vt:variant>
    </vt:vector>
  </HeadingPairs>
  <TitlesOfParts>
    <vt:vector size="19" baseType="lpstr">
      <vt:lpstr>Arial</vt:lpstr>
      <vt:lpstr>Arial Rounded MT Bold</vt:lpstr>
      <vt:lpstr>Avenir Book</vt:lpstr>
      <vt:lpstr>Calibri</vt:lpstr>
      <vt:lpstr>Calibri Light</vt:lpstr>
      <vt:lpstr>Century Gothic</vt:lpstr>
      <vt:lpstr>Futura Medium</vt:lpstr>
      <vt:lpstr>Verdana</vt:lpstr>
      <vt:lpstr>Explicit Instruction</vt:lpstr>
      <vt:lpstr>Daily Review</vt:lpstr>
      <vt:lpstr>Vocabulary &amp; Spelling</vt:lpstr>
      <vt:lpstr>Reading Comprehension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YATES Hayden [Safety Bay Senior High School]</dc:creator>
  <cp:lastModifiedBy>YATES Hayden [Safety Bay Senior High School]</cp:lastModifiedBy>
  <cp:revision>2</cp:revision>
  <cp:lastPrinted>2022-03-01T00:53:27Z</cp:lastPrinted>
  <dcterms:created xsi:type="dcterms:W3CDTF">2022-02-23T14:59:01Z</dcterms:created>
  <dcterms:modified xsi:type="dcterms:W3CDTF">2022-03-01T00:53:38Z</dcterms:modified>
</cp:coreProperties>
</file>
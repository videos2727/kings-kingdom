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20"/>
  </p:notesMasterIdLst>
  <p:sldIdLst>
    <p:sldId id="562" r:id="rId6"/>
    <p:sldId id="313" r:id="rId7"/>
    <p:sldId id="275" r:id="rId8"/>
    <p:sldId id="301" r:id="rId9"/>
    <p:sldId id="566" r:id="rId10"/>
    <p:sldId id="568" r:id="rId11"/>
    <p:sldId id="569" r:id="rId12"/>
    <p:sldId id="570" r:id="rId13"/>
    <p:sldId id="571" r:id="rId14"/>
    <p:sldId id="572" r:id="rId15"/>
    <p:sldId id="573" r:id="rId16"/>
    <p:sldId id="574" r:id="rId17"/>
    <p:sldId id="575" r:id="rId18"/>
    <p:sldId id="5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245"/>
    <p:restoredTop sz="86391"/>
  </p:normalViewPr>
  <p:slideViewPr>
    <p:cSldViewPr snapToGrid="0" snapToObjects="1">
      <p:cViewPr varScale="1">
        <p:scale>
          <a:sx n="112" d="100"/>
          <a:sy n="112" d="100"/>
        </p:scale>
        <p:origin x="200" y="30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2/14/22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2</a:t>
            </a:fld>
            <a:endParaRPr lang="en-US"/>
          </a:p>
        </p:txBody>
      </p:sp>
    </p:spTree>
    <p:extLst>
      <p:ext uri="{BB962C8B-B14F-4D97-AF65-F5344CB8AC3E}">
        <p14:creationId xmlns:p14="http://schemas.microsoft.com/office/powerpoint/2010/main" val="374534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3</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15108502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2/14/22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2/14/22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2/14/22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2/14/22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2/14/22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2/14/22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2/14/22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2/14/22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2/14/22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2/14/22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2/14/22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2/14/22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2/14/22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2/14/22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4838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heme" Target="../theme/theme5.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2/14/22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3" r:id="rId12"/>
    <p:sldLayoutId id="2147483795" r:id="rId13"/>
    <p:sldLayoutId id="214748380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26B8E5-21DB-B140-8EDE-3C1FC6F1B004}"/>
              </a:ext>
            </a:extLst>
          </p:cNvPr>
          <p:cNvPicPr>
            <a:picLocks noChangeAspect="1"/>
          </p:cNvPicPr>
          <p:nvPr/>
        </p:nvPicPr>
        <p:blipFill>
          <a:blip r:embed="rId2"/>
          <a:stretch>
            <a:fillRect/>
          </a:stretch>
        </p:blipFill>
        <p:spPr>
          <a:xfrm>
            <a:off x="0" y="13573"/>
            <a:ext cx="12192000" cy="6844427"/>
          </a:xfrm>
          <a:prstGeom prst="rect">
            <a:avLst/>
          </a:prstGeom>
        </p:spPr>
      </p:pic>
      <p:sp>
        <p:nvSpPr>
          <p:cNvPr id="4" name="Rectangle 3">
            <a:extLst>
              <a:ext uri="{FF2B5EF4-FFF2-40B4-BE49-F238E27FC236}">
                <a16:creationId xmlns:a16="http://schemas.microsoft.com/office/drawing/2014/main" id="{A60D4650-DFC0-894C-A02B-4614C16E5F72}"/>
              </a:ext>
            </a:extLst>
          </p:cNvPr>
          <p:cNvSpPr/>
          <p:nvPr/>
        </p:nvSpPr>
        <p:spPr>
          <a:xfrm>
            <a:off x="0" y="4524314"/>
            <a:ext cx="5358903" cy="1754326"/>
          </a:xfrm>
          <a:prstGeom prst="rect">
            <a:avLst/>
          </a:prstGeom>
        </p:spPr>
        <p:txBody>
          <a:bodyPr wrap="none">
            <a:spAutoFit/>
          </a:bodyPr>
          <a:lstStyle/>
          <a:p>
            <a:pPr algn="ctr"/>
            <a:r>
              <a:rPr lang="en-US" sz="3600" dirty="0">
                <a:solidFill>
                  <a:schemeClr val="bg1"/>
                </a:solidFill>
                <a:latin typeface="Arial Rounded MT Bold" panose="020F0704030504030204" pitchFamily="34" charset="77"/>
              </a:rPr>
              <a:t>Year 12 Human Biology</a:t>
            </a:r>
          </a:p>
          <a:p>
            <a:pPr algn="ctr"/>
            <a:r>
              <a:rPr lang="en-US" sz="3600" dirty="0">
                <a:solidFill>
                  <a:schemeClr val="bg1"/>
                </a:solidFill>
                <a:latin typeface="Arial Rounded MT Bold" panose="020F0704030504030204" pitchFamily="34" charset="77"/>
              </a:rPr>
              <a:t>Mr. Yates</a:t>
            </a:r>
          </a:p>
          <a:p>
            <a:pPr algn="ctr"/>
            <a:r>
              <a:rPr lang="en-US" sz="3600" dirty="0">
                <a:solidFill>
                  <a:schemeClr val="bg1"/>
                </a:solidFill>
                <a:latin typeface="Arial Rounded MT Bold" panose="020F0704030504030204" pitchFamily="34" charset="77"/>
              </a:rPr>
              <a:t>2022</a:t>
            </a:r>
            <a:endParaRPr lang="en-US" sz="3600" dirty="0">
              <a:solidFill>
                <a:schemeClr val="bg1"/>
              </a:solidFill>
            </a:endParaRPr>
          </a:p>
        </p:txBody>
      </p:sp>
      <p:pic>
        <p:nvPicPr>
          <p:cNvPr id="6" name="Picture 5">
            <a:extLst>
              <a:ext uri="{FF2B5EF4-FFF2-40B4-BE49-F238E27FC236}">
                <a16:creationId xmlns:a16="http://schemas.microsoft.com/office/drawing/2014/main" id="{03BD1640-8EF7-9544-985A-5CB2691DF17C}"/>
              </a:ext>
            </a:extLst>
          </p:cNvPr>
          <p:cNvPicPr/>
          <p:nvPr/>
        </p:nvPicPr>
        <p:blipFill>
          <a:blip r:embed="rId3">
            <a:alphaModFix/>
            <a:extLst>
              <a:ext uri="{28A0092B-C50C-407E-A947-70E740481C1C}">
                <a14:useLocalDpi xmlns:a14="http://schemas.microsoft.com/office/drawing/2010/main" val="0"/>
              </a:ext>
            </a:extLst>
          </a:blip>
          <a:stretch>
            <a:fillRect/>
          </a:stretch>
        </p:blipFill>
        <p:spPr bwMode="auto">
          <a:xfrm>
            <a:off x="10525538" y="352364"/>
            <a:ext cx="1331711" cy="1511683"/>
          </a:xfrm>
          <a:prstGeom prst="rect">
            <a:avLst/>
          </a:prstGeom>
          <a:noFill/>
        </p:spPr>
      </p:pic>
    </p:spTree>
    <p:extLst>
      <p:ext uri="{BB962C8B-B14F-4D97-AF65-F5344CB8AC3E}">
        <p14:creationId xmlns:p14="http://schemas.microsoft.com/office/powerpoint/2010/main" val="362828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75465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algn="l"/>
            <a:endParaRPr lang="en-AU" sz="3000" dirty="0"/>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endParaRPr lang="en-AU" sz="3000" dirty="0">
              <a:solidFill>
                <a:srgbClr val="C00000"/>
              </a:solidFill>
            </a:endParaRPr>
          </a:p>
          <a:p>
            <a:pPr algn="l"/>
            <a:endParaRPr lang="en-AU" dirty="0"/>
          </a:p>
        </p:txBody>
      </p:sp>
    </p:spTree>
    <p:extLst>
      <p:ext uri="{BB962C8B-B14F-4D97-AF65-F5344CB8AC3E}">
        <p14:creationId xmlns:p14="http://schemas.microsoft.com/office/powerpoint/2010/main" val="3376853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Nervous Impulses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0" y="1416634"/>
            <a:ext cx="11481952" cy="5393007"/>
          </a:xfrm>
        </p:spPr>
        <p:txBody>
          <a:bodyPr>
            <a:normAutofit/>
          </a:bodyPr>
          <a:lstStyle/>
          <a:p>
            <a:r>
              <a:rPr lang="en-AU" sz="2400" dirty="0">
                <a:latin typeface="Avenir Book" panose="02000503020000020003" pitchFamily="2" charset="0"/>
              </a:rPr>
              <a:t>Nervous impulses are the messages' sent from one part of the nervous system to another due to electrochemical change along the membrane of a nerve fibre. It is called an electrochemical change because a change in concentration of the ions inside and outside of the membrane induces a change the electrical voltage of the neuron.</a:t>
            </a:r>
          </a:p>
          <a:p>
            <a:br>
              <a:rPr lang="en-AU" dirty="0"/>
            </a:br>
            <a:endParaRPr lang="en-AU" dirty="0"/>
          </a:p>
        </p:txBody>
      </p:sp>
      <p:pic>
        <p:nvPicPr>
          <p:cNvPr id="5" name="Picture 4" descr="Diagram&#10;&#10;Description automatically generated">
            <a:extLst>
              <a:ext uri="{FF2B5EF4-FFF2-40B4-BE49-F238E27FC236}">
                <a16:creationId xmlns:a16="http://schemas.microsoft.com/office/drawing/2014/main" id="{9908B833-45AE-FA41-916B-30A88E6A8026}"/>
              </a:ext>
            </a:extLst>
          </p:cNvPr>
          <p:cNvPicPr>
            <a:picLocks noChangeAspect="1"/>
          </p:cNvPicPr>
          <p:nvPr/>
        </p:nvPicPr>
        <p:blipFill rotWithShape="1">
          <a:blip r:embed="rId3"/>
          <a:srcRect t="8265"/>
          <a:stretch/>
        </p:blipFill>
        <p:spPr>
          <a:xfrm>
            <a:off x="2437292" y="2869870"/>
            <a:ext cx="7168482" cy="3683330"/>
          </a:xfrm>
          <a:prstGeom prst="rect">
            <a:avLst/>
          </a:prstGeom>
        </p:spPr>
      </p:pic>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88B363-C390-E344-989F-05298214596B}"/>
              </a:ext>
            </a:extLst>
          </p:cNvPr>
          <p:cNvSpPr>
            <a:spLocks noGrp="1"/>
          </p:cNvSpPr>
          <p:nvPr>
            <p:ph type="body" sz="quarter" idx="13"/>
          </p:nvPr>
        </p:nvSpPr>
        <p:spPr/>
        <p:txBody>
          <a:bodyPr/>
          <a:lstStyle/>
          <a:p>
            <a:r>
              <a:rPr lang="en-AU" dirty="0"/>
              <a:t>Nervous Impulses </a:t>
            </a:r>
          </a:p>
        </p:txBody>
      </p:sp>
      <p:sp>
        <p:nvSpPr>
          <p:cNvPr id="3" name="Text Placeholder 2">
            <a:extLst>
              <a:ext uri="{FF2B5EF4-FFF2-40B4-BE49-F238E27FC236}">
                <a16:creationId xmlns:a16="http://schemas.microsoft.com/office/drawing/2014/main" id="{8EB2593F-A3C0-274D-A11A-16A981FD277E}"/>
              </a:ext>
            </a:extLst>
          </p:cNvPr>
          <p:cNvSpPr>
            <a:spLocks noGrp="1"/>
          </p:cNvSpPr>
          <p:nvPr>
            <p:ph type="body" sz="quarter" idx="15"/>
          </p:nvPr>
        </p:nvSpPr>
        <p:spPr>
          <a:xfrm>
            <a:off x="280558" y="1330036"/>
            <a:ext cx="3285602" cy="5265881"/>
          </a:xfrm>
        </p:spPr>
        <p:txBody>
          <a:bodyPr>
            <a:normAutofit lnSpcReduction="10000"/>
          </a:bodyPr>
          <a:lstStyle/>
          <a:p>
            <a:r>
              <a:rPr lang="en-AU" sz="2000" dirty="0">
                <a:latin typeface="Avenir Book" panose="02000503020000020003" pitchFamily="2" charset="0"/>
              </a:rPr>
              <a:t>Every neuron has what is called a </a:t>
            </a:r>
            <a:r>
              <a:rPr lang="en-AU" sz="2000" b="1" dirty="0">
                <a:latin typeface="Avenir Book" panose="02000503020000020003" pitchFamily="2" charset="0"/>
              </a:rPr>
              <a:t>resting membrane potential </a:t>
            </a:r>
            <a:r>
              <a:rPr lang="en-AU" sz="2000" dirty="0">
                <a:latin typeface="Avenir Book" panose="02000503020000020003" pitchFamily="2" charset="0"/>
              </a:rPr>
              <a:t>(= -70 mV) caused mainly by the differing concentrations of sodium and potassium ions inside and outside the membrane.</a:t>
            </a:r>
          </a:p>
          <a:p>
            <a:endParaRPr lang="en-AU" sz="2000" dirty="0">
              <a:latin typeface="Avenir Book" panose="02000503020000020003" pitchFamily="2" charset="0"/>
            </a:endParaRPr>
          </a:p>
          <a:p>
            <a:pPr marL="342900" indent="-342900">
              <a:buFont typeface="Arial" panose="020B0604020202020204" pitchFamily="34" charset="0"/>
              <a:buChar char="•"/>
            </a:pPr>
            <a:r>
              <a:rPr lang="en-AU" sz="2000" b="1" dirty="0">
                <a:latin typeface="Avenir Book" panose="02000503020000020003" pitchFamily="2" charset="0"/>
              </a:rPr>
              <a:t>Extracellular fluid </a:t>
            </a:r>
            <a:r>
              <a:rPr lang="en-AU" sz="2000" dirty="0">
                <a:latin typeface="Avenir Book" panose="02000503020000020003" pitchFamily="2" charset="0"/>
              </a:rPr>
              <a:t>has a high concentration of Na</a:t>
            </a:r>
            <a:r>
              <a:rPr lang="en-AU" sz="2000" baseline="30000" dirty="0">
                <a:latin typeface="Avenir Book" panose="02000503020000020003" pitchFamily="2" charset="0"/>
              </a:rPr>
              <a:t>+</a:t>
            </a:r>
            <a:r>
              <a:rPr lang="en-AU" sz="2000" dirty="0">
                <a:latin typeface="Avenir Book" panose="02000503020000020003" pitchFamily="2" charset="0"/>
              </a:rPr>
              <a:t> and Cl</a:t>
            </a:r>
            <a:r>
              <a:rPr lang="en-AU" sz="2000" baseline="30000" dirty="0">
                <a:latin typeface="Avenir Book" panose="02000503020000020003" pitchFamily="2" charset="0"/>
              </a:rPr>
              <a:t>-</a:t>
            </a:r>
            <a:r>
              <a:rPr lang="en-AU" sz="2000" dirty="0">
                <a:latin typeface="Avenir Book" panose="02000503020000020003" pitchFamily="2" charset="0"/>
              </a:rPr>
              <a:t>, and a low concentration of K</a:t>
            </a:r>
            <a:r>
              <a:rPr lang="en-AU" sz="2000" baseline="30000" dirty="0">
                <a:latin typeface="Avenir Book" panose="02000503020000020003" pitchFamily="2" charset="0"/>
              </a:rPr>
              <a:t>+</a:t>
            </a:r>
            <a:r>
              <a:rPr lang="en-AU" sz="2000" dirty="0">
                <a:latin typeface="Avenir Book" panose="02000503020000020003" pitchFamily="2" charset="0"/>
              </a:rPr>
              <a:t>.  </a:t>
            </a:r>
          </a:p>
          <a:p>
            <a:pPr marL="342900" indent="-342900">
              <a:buFont typeface="Arial" panose="020B0604020202020204" pitchFamily="34" charset="0"/>
              <a:buChar char="•"/>
            </a:pPr>
            <a:r>
              <a:rPr lang="en-AU" sz="2000" b="1" dirty="0">
                <a:latin typeface="Avenir Book" panose="02000503020000020003" pitchFamily="2" charset="0"/>
              </a:rPr>
              <a:t>Intracellular fluid </a:t>
            </a:r>
            <a:r>
              <a:rPr lang="en-AU" sz="2000" dirty="0">
                <a:latin typeface="Avenir Book" panose="02000503020000020003" pitchFamily="2" charset="0"/>
              </a:rPr>
              <a:t>has a high concentration of K</a:t>
            </a:r>
            <a:r>
              <a:rPr lang="en-AU" sz="2000" baseline="30000" dirty="0">
                <a:latin typeface="Avenir Book" panose="02000503020000020003" pitchFamily="2" charset="0"/>
              </a:rPr>
              <a:t>+</a:t>
            </a:r>
            <a:r>
              <a:rPr lang="en-AU" sz="2000" dirty="0">
                <a:latin typeface="Avenir Book" panose="02000503020000020003" pitchFamily="2" charset="0"/>
              </a:rPr>
              <a:t> and negatively charged organic ions, but low concentrations of Na</a:t>
            </a:r>
            <a:r>
              <a:rPr lang="en-AU" sz="2000" baseline="30000" dirty="0">
                <a:latin typeface="Avenir Book" panose="02000503020000020003" pitchFamily="2" charset="0"/>
              </a:rPr>
              <a:t>+</a:t>
            </a:r>
            <a:r>
              <a:rPr lang="en-AU" sz="2000" dirty="0">
                <a:latin typeface="Avenir Book" panose="02000503020000020003" pitchFamily="2" charset="0"/>
              </a:rPr>
              <a:t>.</a:t>
            </a:r>
            <a:endParaRPr lang="en-US" sz="2000" dirty="0">
              <a:latin typeface="Avenir Book" panose="02000503020000020003" pitchFamily="2" charset="0"/>
            </a:endParaRPr>
          </a:p>
          <a:p>
            <a:endParaRPr lang="en-US" sz="2000" dirty="0">
              <a:latin typeface="Avenir Book" panose="02000503020000020003" pitchFamily="2" charset="0"/>
            </a:endParaRPr>
          </a:p>
        </p:txBody>
      </p:sp>
      <p:pic>
        <p:nvPicPr>
          <p:cNvPr id="4" name="Picture 3" descr="Chart&#10;&#10;Description automatically generated">
            <a:extLst>
              <a:ext uri="{FF2B5EF4-FFF2-40B4-BE49-F238E27FC236}">
                <a16:creationId xmlns:a16="http://schemas.microsoft.com/office/drawing/2014/main" id="{FE4C83CB-9AB0-5F46-ACDD-819416FBF11E}"/>
              </a:ext>
            </a:extLst>
          </p:cNvPr>
          <p:cNvPicPr>
            <a:picLocks noChangeAspect="1"/>
          </p:cNvPicPr>
          <p:nvPr/>
        </p:nvPicPr>
        <p:blipFill>
          <a:blip r:embed="rId2"/>
          <a:stretch>
            <a:fillRect/>
          </a:stretch>
        </p:blipFill>
        <p:spPr>
          <a:xfrm>
            <a:off x="3811524" y="1814744"/>
            <a:ext cx="8266176" cy="3874770"/>
          </a:xfrm>
          <a:prstGeom prst="rect">
            <a:avLst/>
          </a:prstGeom>
        </p:spPr>
      </p:pic>
    </p:spTree>
    <p:extLst>
      <p:ext uri="{BB962C8B-B14F-4D97-AF65-F5344CB8AC3E}">
        <p14:creationId xmlns:p14="http://schemas.microsoft.com/office/powerpoint/2010/main" val="2302391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B37722-2D75-EE49-8762-CFEBCF995AFA}"/>
              </a:ext>
            </a:extLst>
          </p:cNvPr>
          <p:cNvSpPr>
            <a:spLocks noGrp="1"/>
          </p:cNvSpPr>
          <p:nvPr>
            <p:ph type="body" sz="quarter" idx="13"/>
          </p:nvPr>
        </p:nvSpPr>
        <p:spPr/>
        <p:txBody>
          <a:bodyPr/>
          <a:lstStyle/>
          <a:p>
            <a:r>
              <a:rPr lang="en-AU" dirty="0"/>
              <a:t>Nervous Impulses </a:t>
            </a:r>
          </a:p>
          <a:p>
            <a:endParaRPr lang="en-US" dirty="0"/>
          </a:p>
        </p:txBody>
      </p:sp>
      <p:sp>
        <p:nvSpPr>
          <p:cNvPr id="3" name="Text Placeholder 2">
            <a:extLst>
              <a:ext uri="{FF2B5EF4-FFF2-40B4-BE49-F238E27FC236}">
                <a16:creationId xmlns:a16="http://schemas.microsoft.com/office/drawing/2014/main" id="{78B766FA-B604-B84C-B587-2B676EC8B66A}"/>
              </a:ext>
            </a:extLst>
          </p:cNvPr>
          <p:cNvSpPr>
            <a:spLocks noGrp="1"/>
          </p:cNvSpPr>
          <p:nvPr>
            <p:ph type="body" sz="quarter" idx="15"/>
          </p:nvPr>
        </p:nvSpPr>
        <p:spPr>
          <a:xfrm>
            <a:off x="280557" y="1330036"/>
            <a:ext cx="11506476" cy="5066923"/>
          </a:xfrm>
        </p:spPr>
        <p:txBody>
          <a:bodyPr>
            <a:normAutofit/>
          </a:bodyPr>
          <a:lstStyle/>
          <a:p>
            <a:r>
              <a:rPr lang="en-AU" sz="2000" dirty="0">
                <a:latin typeface="Avenir Book" panose="02000503020000020003" pitchFamily="2" charset="0"/>
              </a:rPr>
              <a:t>Because of the high levels of organic anions in the intracellular fluid, the positive charge of the potassium ions is insufficient to balance the negative charge and make the cell neutral, and hence the inside of the membrane is negative relative to the outside and can be classified as being </a:t>
            </a:r>
            <a:r>
              <a:rPr lang="en-AU" sz="2000" b="1" dirty="0">
                <a:latin typeface="Avenir Book" panose="02000503020000020003" pitchFamily="2" charset="0"/>
              </a:rPr>
              <a:t>polarised</a:t>
            </a:r>
            <a:r>
              <a:rPr lang="en-AU" sz="2000" dirty="0">
                <a:latin typeface="Avenir Book" panose="02000503020000020003" pitchFamily="2" charset="0"/>
              </a:rPr>
              <a:t>.</a:t>
            </a:r>
            <a:endParaRPr lang="en-US" sz="2000" dirty="0">
              <a:latin typeface="Avenir Book" panose="02000503020000020003" pitchFamily="2" charset="0"/>
            </a:endParaRPr>
          </a:p>
        </p:txBody>
      </p:sp>
      <p:pic>
        <p:nvPicPr>
          <p:cNvPr id="5" name="Picture 4" descr="Chart&#10;&#10;Description automatically generated">
            <a:extLst>
              <a:ext uri="{FF2B5EF4-FFF2-40B4-BE49-F238E27FC236}">
                <a16:creationId xmlns:a16="http://schemas.microsoft.com/office/drawing/2014/main" id="{041816B4-CB7B-4740-9882-C1B424FC4A93}"/>
              </a:ext>
            </a:extLst>
          </p:cNvPr>
          <p:cNvPicPr>
            <a:picLocks noChangeAspect="1"/>
          </p:cNvPicPr>
          <p:nvPr/>
        </p:nvPicPr>
        <p:blipFill>
          <a:blip r:embed="rId2"/>
          <a:stretch>
            <a:fillRect/>
          </a:stretch>
        </p:blipFill>
        <p:spPr>
          <a:xfrm>
            <a:off x="2025193" y="2563179"/>
            <a:ext cx="9027617" cy="4231696"/>
          </a:xfrm>
          <a:prstGeom prst="rect">
            <a:avLst/>
          </a:prstGeom>
        </p:spPr>
      </p:pic>
    </p:spTree>
    <p:extLst>
      <p:ext uri="{BB962C8B-B14F-4D97-AF65-F5344CB8AC3E}">
        <p14:creationId xmlns:p14="http://schemas.microsoft.com/office/powerpoint/2010/main" val="2018642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1AD784-0BFB-204B-804D-901875DC599F}"/>
              </a:ext>
            </a:extLst>
          </p:cNvPr>
          <p:cNvSpPr>
            <a:spLocks noGrp="1"/>
          </p:cNvSpPr>
          <p:nvPr>
            <p:ph type="body" sz="quarter" idx="13"/>
          </p:nvPr>
        </p:nvSpPr>
        <p:spPr/>
        <p:txBody>
          <a:bodyPr/>
          <a:lstStyle/>
          <a:p>
            <a:r>
              <a:rPr lang="en-AU" dirty="0"/>
              <a:t>Transmission of impulses</a:t>
            </a:r>
            <a:endParaRPr lang="en-US" dirty="0"/>
          </a:p>
        </p:txBody>
      </p:sp>
      <p:sp>
        <p:nvSpPr>
          <p:cNvPr id="3" name="Text Placeholder 2">
            <a:extLst>
              <a:ext uri="{FF2B5EF4-FFF2-40B4-BE49-F238E27FC236}">
                <a16:creationId xmlns:a16="http://schemas.microsoft.com/office/drawing/2014/main" id="{BB9822A9-E79D-E04F-8426-1A3219247607}"/>
              </a:ext>
            </a:extLst>
          </p:cNvPr>
          <p:cNvSpPr>
            <a:spLocks noGrp="1"/>
          </p:cNvSpPr>
          <p:nvPr>
            <p:ph type="body" sz="quarter" idx="15"/>
          </p:nvPr>
        </p:nvSpPr>
        <p:spPr>
          <a:xfrm>
            <a:off x="342762" y="1330036"/>
            <a:ext cx="11506476" cy="5066923"/>
          </a:xfrm>
        </p:spPr>
        <p:txBody>
          <a:bodyPr/>
          <a:lstStyle/>
          <a:p>
            <a:r>
              <a:rPr lang="en-AU" dirty="0">
                <a:latin typeface="Avenir Book" panose="02000503020000020003" pitchFamily="2" charset="0"/>
              </a:rPr>
              <a:t>The transmission of a nervous impulse along the length of a nerve fibre can be broken down into five steps: </a:t>
            </a:r>
          </a:p>
          <a:p>
            <a:r>
              <a:rPr lang="en-AU" sz="2000" b="1" dirty="0">
                <a:latin typeface="Avenir Book" panose="02000503020000020003" pitchFamily="2" charset="0"/>
              </a:rPr>
              <a:t>1. Polarisation: </a:t>
            </a:r>
            <a:r>
              <a:rPr lang="en-AU" dirty="0">
                <a:latin typeface="Avenir Book" panose="02000503020000020003" pitchFamily="2" charset="0"/>
              </a:rPr>
              <a:t>at the resting potential, the membrane is polarised. As mentioned before, the inside of the cell contains mostly K</a:t>
            </a:r>
            <a:r>
              <a:rPr lang="en-AU" baseline="30000" dirty="0">
                <a:latin typeface="Avenir Book" panose="02000503020000020003" pitchFamily="2" charset="0"/>
              </a:rPr>
              <a:t>+</a:t>
            </a:r>
            <a:r>
              <a:rPr lang="en-AU" dirty="0">
                <a:latin typeface="Avenir Book" panose="02000503020000020003" pitchFamily="2" charset="0"/>
              </a:rPr>
              <a:t> ions and negatively charged organic molecules (net negative charge), while the outside is mostly made up of Na+ (net positive charge). A </a:t>
            </a:r>
            <a:r>
              <a:rPr lang="en-AU" b="1" dirty="0">
                <a:latin typeface="Avenir Book" panose="02000503020000020003" pitchFamily="2" charset="0"/>
              </a:rPr>
              <a:t>Na</a:t>
            </a:r>
            <a:r>
              <a:rPr lang="en-AU" b="1" baseline="30000" dirty="0">
                <a:latin typeface="Avenir Book" panose="02000503020000020003" pitchFamily="2" charset="0"/>
              </a:rPr>
              <a:t>+</a:t>
            </a:r>
            <a:r>
              <a:rPr lang="en-AU" b="1" dirty="0">
                <a:latin typeface="Avenir Book" panose="02000503020000020003" pitchFamily="2" charset="0"/>
              </a:rPr>
              <a:t>/K</a:t>
            </a:r>
            <a:r>
              <a:rPr lang="en-AU" b="1" baseline="30000" dirty="0">
                <a:latin typeface="Avenir Book" panose="02000503020000020003" pitchFamily="2" charset="0"/>
              </a:rPr>
              <a:t>+</a:t>
            </a:r>
            <a:r>
              <a:rPr lang="en-AU" b="1" dirty="0">
                <a:latin typeface="Avenir Book" panose="02000503020000020003" pitchFamily="2" charset="0"/>
              </a:rPr>
              <a:t> pump </a:t>
            </a:r>
            <a:r>
              <a:rPr lang="en-AU" dirty="0">
                <a:latin typeface="Avenir Book" panose="02000503020000020003" pitchFamily="2" charset="0"/>
              </a:rPr>
              <a:t>(sodium/potassium pump) allows these ions to move across the membrane; sodium into the cell, and potassium out.</a:t>
            </a:r>
          </a:p>
          <a:p>
            <a:br>
              <a:rPr lang="en-AU" dirty="0"/>
            </a:br>
            <a:endParaRPr lang="en-US" dirty="0"/>
          </a:p>
        </p:txBody>
      </p:sp>
      <p:pic>
        <p:nvPicPr>
          <p:cNvPr id="4" name="Picture 3" descr="Diagram&#10;&#10;Description automatically generated with medium confidence">
            <a:extLst>
              <a:ext uri="{FF2B5EF4-FFF2-40B4-BE49-F238E27FC236}">
                <a16:creationId xmlns:a16="http://schemas.microsoft.com/office/drawing/2014/main" id="{A7489F5E-0AE0-3945-AE5D-DD1DE0E88F50}"/>
              </a:ext>
            </a:extLst>
          </p:cNvPr>
          <p:cNvPicPr>
            <a:picLocks noChangeAspect="1"/>
          </p:cNvPicPr>
          <p:nvPr/>
        </p:nvPicPr>
        <p:blipFill>
          <a:blip r:embed="rId2"/>
          <a:stretch>
            <a:fillRect/>
          </a:stretch>
        </p:blipFill>
        <p:spPr>
          <a:xfrm>
            <a:off x="1412627" y="2764601"/>
            <a:ext cx="9366746" cy="4093399"/>
          </a:xfrm>
          <a:prstGeom prst="rect">
            <a:avLst/>
          </a:prstGeom>
        </p:spPr>
      </p:pic>
    </p:spTree>
    <p:extLst>
      <p:ext uri="{BB962C8B-B14F-4D97-AF65-F5344CB8AC3E}">
        <p14:creationId xmlns:p14="http://schemas.microsoft.com/office/powerpoint/2010/main" val="2307037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FC3AE8-90B2-8741-825D-FD9CFF85AE0A}"/>
              </a:ext>
            </a:extLst>
          </p:cNvPr>
          <p:cNvSpPr>
            <a:spLocks noGrp="1"/>
          </p:cNvSpPr>
          <p:nvPr>
            <p:ph type="body" sz="quarter" idx="13"/>
          </p:nvPr>
        </p:nvSpPr>
        <p:spPr/>
        <p:txBody>
          <a:bodyPr/>
          <a:lstStyle/>
          <a:p>
            <a:r>
              <a:rPr lang="en-AU" dirty="0"/>
              <a:t>Transmission of impulses</a:t>
            </a:r>
            <a:endParaRPr lang="en-US" dirty="0"/>
          </a:p>
          <a:p>
            <a:endParaRPr lang="en-US" dirty="0"/>
          </a:p>
        </p:txBody>
      </p:sp>
      <p:sp>
        <p:nvSpPr>
          <p:cNvPr id="3" name="Text Placeholder 2">
            <a:extLst>
              <a:ext uri="{FF2B5EF4-FFF2-40B4-BE49-F238E27FC236}">
                <a16:creationId xmlns:a16="http://schemas.microsoft.com/office/drawing/2014/main" id="{72DE70B3-F09D-D446-981C-AD978292DDCD}"/>
              </a:ext>
            </a:extLst>
          </p:cNvPr>
          <p:cNvSpPr>
            <a:spLocks noGrp="1"/>
          </p:cNvSpPr>
          <p:nvPr>
            <p:ph type="body" sz="quarter" idx="15"/>
          </p:nvPr>
        </p:nvSpPr>
        <p:spPr>
          <a:xfrm>
            <a:off x="280557" y="1330036"/>
            <a:ext cx="12040982" cy="5066923"/>
          </a:xfrm>
        </p:spPr>
        <p:txBody>
          <a:bodyPr>
            <a:normAutofit/>
          </a:bodyPr>
          <a:lstStyle/>
          <a:p>
            <a:r>
              <a:rPr lang="en-AU" sz="2000" b="1" dirty="0">
                <a:latin typeface="Avenir Book" panose="02000503020000020003" pitchFamily="2" charset="0"/>
              </a:rPr>
              <a:t>2. Depolarisation: </a:t>
            </a:r>
            <a:r>
              <a:rPr lang="en-AU" sz="2000" dirty="0">
                <a:latin typeface="Avenir Book" panose="02000503020000020003" pitchFamily="2" charset="0"/>
              </a:rPr>
              <a:t>when a stimulus reaches the neuron, gated ion channels embedded in the membrane open, allowing sodium ions to quickly rush into the cell. This influx of positive charges rapidly depolarises the membrane.</a:t>
            </a:r>
            <a:endParaRPr lang="en-AU" dirty="0"/>
          </a:p>
          <a:p>
            <a:r>
              <a:rPr lang="en-AU" sz="2000" b="1" dirty="0">
                <a:latin typeface="Avenir Book" panose="02000503020000020003" pitchFamily="2" charset="0"/>
              </a:rPr>
              <a:t>KEY POINT: </a:t>
            </a:r>
            <a:r>
              <a:rPr lang="en-AU" sz="2000" dirty="0">
                <a:latin typeface="Avenir Book" panose="02000503020000020003" pitchFamily="2" charset="0"/>
              </a:rPr>
              <a:t>Depolarisation requires the stimulus to surpass a </a:t>
            </a:r>
            <a:r>
              <a:rPr lang="en-AU" sz="2000" b="1" dirty="0">
                <a:latin typeface="Avenir Book" panose="02000503020000020003" pitchFamily="2" charset="0"/>
              </a:rPr>
              <a:t>threshold level</a:t>
            </a:r>
            <a:r>
              <a:rPr lang="en-AU" sz="2000" dirty="0">
                <a:latin typeface="Avenir Book" panose="02000503020000020003" pitchFamily="2" charset="0"/>
              </a:rPr>
              <a:t>. If the stimulus exceeds the threshold, the channel will open, and sodium will rush into the cell (it does not matter how large to stimulus is; the same number of channels will open). If the stimulus does not exceed this threshold, nothing happens, and no impulse is transmitted.</a:t>
            </a:r>
          </a:p>
          <a:p>
            <a:endParaRPr lang="en-US" dirty="0"/>
          </a:p>
        </p:txBody>
      </p:sp>
      <p:pic>
        <p:nvPicPr>
          <p:cNvPr id="4" name="Picture 3" descr="Diagram&#10;&#10;Description automatically generated with medium confidence">
            <a:extLst>
              <a:ext uri="{FF2B5EF4-FFF2-40B4-BE49-F238E27FC236}">
                <a16:creationId xmlns:a16="http://schemas.microsoft.com/office/drawing/2014/main" id="{E6297B9A-CF44-7B41-B4B3-B6B6ECD6375C}"/>
              </a:ext>
            </a:extLst>
          </p:cNvPr>
          <p:cNvPicPr>
            <a:picLocks noChangeAspect="1"/>
          </p:cNvPicPr>
          <p:nvPr/>
        </p:nvPicPr>
        <p:blipFill>
          <a:blip r:embed="rId2"/>
          <a:stretch>
            <a:fillRect/>
          </a:stretch>
        </p:blipFill>
        <p:spPr>
          <a:xfrm>
            <a:off x="4286250" y="3403076"/>
            <a:ext cx="7905750" cy="3454923"/>
          </a:xfrm>
          <a:prstGeom prst="rect">
            <a:avLst/>
          </a:prstGeom>
        </p:spPr>
      </p:pic>
    </p:spTree>
    <p:extLst>
      <p:ext uri="{BB962C8B-B14F-4D97-AF65-F5344CB8AC3E}">
        <p14:creationId xmlns:p14="http://schemas.microsoft.com/office/powerpoint/2010/main" val="401703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0128ED-88F4-AD46-AD93-BE9969D59261}"/>
              </a:ext>
            </a:extLst>
          </p:cNvPr>
          <p:cNvSpPr>
            <a:spLocks noGrp="1"/>
          </p:cNvSpPr>
          <p:nvPr>
            <p:ph type="body" sz="quarter" idx="13"/>
          </p:nvPr>
        </p:nvSpPr>
        <p:spPr/>
        <p:txBody>
          <a:bodyPr/>
          <a:lstStyle/>
          <a:p>
            <a:r>
              <a:rPr lang="en-AU" dirty="0"/>
              <a:t>Transmission of impulses</a:t>
            </a:r>
            <a:endParaRPr lang="en-US" dirty="0"/>
          </a:p>
          <a:p>
            <a:endParaRPr lang="en-US" dirty="0"/>
          </a:p>
        </p:txBody>
      </p:sp>
      <p:sp>
        <p:nvSpPr>
          <p:cNvPr id="3" name="Text Placeholder 2">
            <a:extLst>
              <a:ext uri="{FF2B5EF4-FFF2-40B4-BE49-F238E27FC236}">
                <a16:creationId xmlns:a16="http://schemas.microsoft.com/office/drawing/2014/main" id="{AEC0EFEF-C1AA-C846-B2B2-B6C855C00CA8}"/>
              </a:ext>
            </a:extLst>
          </p:cNvPr>
          <p:cNvSpPr>
            <a:spLocks noGrp="1"/>
          </p:cNvSpPr>
          <p:nvPr>
            <p:ph type="body" sz="quarter" idx="15"/>
          </p:nvPr>
        </p:nvSpPr>
        <p:spPr/>
        <p:txBody>
          <a:bodyPr>
            <a:normAutofit/>
          </a:bodyPr>
          <a:lstStyle/>
          <a:p>
            <a:r>
              <a:rPr lang="en-AU" sz="2000" b="1" dirty="0">
                <a:latin typeface="Avenir Book" panose="02000503020000020003" pitchFamily="2" charset="0"/>
              </a:rPr>
              <a:t>3. Repolarisation: </a:t>
            </a:r>
            <a:r>
              <a:rPr lang="en-AU" sz="2000" dirty="0">
                <a:latin typeface="Avenir Book" panose="02000503020000020003" pitchFamily="2" charset="0"/>
              </a:rPr>
              <a:t>when sodium ions flow into the cell, more gated ion channels open that allow potassium ions to flow out. The sodium channels close, and the membrane potential is restored as positive charge is able to leave the inside of the cell. This rapid depolarisation and repolarisation is called an </a:t>
            </a:r>
            <a:r>
              <a:rPr lang="en-AU" sz="2000" b="1" dirty="0">
                <a:latin typeface="Avenir Book" panose="02000503020000020003" pitchFamily="2" charset="0"/>
              </a:rPr>
              <a:t>action potential</a:t>
            </a:r>
            <a:r>
              <a:rPr lang="en-AU" sz="2000" dirty="0">
                <a:latin typeface="Avenir Book" panose="02000503020000020003" pitchFamily="2" charset="0"/>
              </a:rPr>
              <a:t>, and the movement of the action potential along the nerve fibre is the </a:t>
            </a:r>
            <a:r>
              <a:rPr lang="en-AU" sz="2000" b="1" dirty="0">
                <a:latin typeface="Avenir Book" panose="02000503020000020003" pitchFamily="2" charset="0"/>
              </a:rPr>
              <a:t>nervous impulse</a:t>
            </a:r>
            <a:r>
              <a:rPr lang="en-AU" sz="2000" dirty="0">
                <a:latin typeface="Avenir Book" panose="02000503020000020003" pitchFamily="2" charset="0"/>
              </a:rPr>
              <a:t>.</a:t>
            </a:r>
            <a:endParaRPr lang="en-US" sz="2000" dirty="0">
              <a:latin typeface="Avenir Book" panose="02000503020000020003" pitchFamily="2" charset="0"/>
            </a:endParaRPr>
          </a:p>
        </p:txBody>
      </p:sp>
      <p:pic>
        <p:nvPicPr>
          <p:cNvPr id="4" name="Picture 3" descr="Diagram&#10;&#10;Description automatically generated with medium confidence">
            <a:extLst>
              <a:ext uri="{FF2B5EF4-FFF2-40B4-BE49-F238E27FC236}">
                <a16:creationId xmlns:a16="http://schemas.microsoft.com/office/drawing/2014/main" id="{00FE9A00-3789-3444-B107-507052748599}"/>
              </a:ext>
            </a:extLst>
          </p:cNvPr>
          <p:cNvPicPr>
            <a:picLocks noChangeAspect="1"/>
          </p:cNvPicPr>
          <p:nvPr/>
        </p:nvPicPr>
        <p:blipFill>
          <a:blip r:embed="rId2"/>
          <a:stretch>
            <a:fillRect/>
          </a:stretch>
        </p:blipFill>
        <p:spPr>
          <a:xfrm>
            <a:off x="1938482" y="2919867"/>
            <a:ext cx="9011458" cy="3938133"/>
          </a:xfrm>
          <a:prstGeom prst="rect">
            <a:avLst/>
          </a:prstGeom>
        </p:spPr>
      </p:pic>
    </p:spTree>
    <p:extLst>
      <p:ext uri="{BB962C8B-B14F-4D97-AF65-F5344CB8AC3E}">
        <p14:creationId xmlns:p14="http://schemas.microsoft.com/office/powerpoint/2010/main" val="2367433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118CBB-425A-BF4C-8182-A8F2C1A094B5}"/>
              </a:ext>
            </a:extLst>
          </p:cNvPr>
          <p:cNvSpPr>
            <a:spLocks noGrp="1"/>
          </p:cNvSpPr>
          <p:nvPr>
            <p:ph type="body" sz="quarter" idx="13"/>
          </p:nvPr>
        </p:nvSpPr>
        <p:spPr/>
        <p:txBody>
          <a:bodyPr/>
          <a:lstStyle/>
          <a:p>
            <a:r>
              <a:rPr lang="en-AU" dirty="0"/>
              <a:t>Transmission of impulses</a:t>
            </a:r>
            <a:endParaRPr lang="en-US" dirty="0"/>
          </a:p>
          <a:p>
            <a:endParaRPr lang="en-US" dirty="0"/>
          </a:p>
        </p:txBody>
      </p:sp>
      <p:sp>
        <p:nvSpPr>
          <p:cNvPr id="3" name="Text Placeholder 2">
            <a:extLst>
              <a:ext uri="{FF2B5EF4-FFF2-40B4-BE49-F238E27FC236}">
                <a16:creationId xmlns:a16="http://schemas.microsoft.com/office/drawing/2014/main" id="{B7164861-797E-504E-88FE-C7B0E65DEDD2}"/>
              </a:ext>
            </a:extLst>
          </p:cNvPr>
          <p:cNvSpPr>
            <a:spLocks noGrp="1"/>
          </p:cNvSpPr>
          <p:nvPr>
            <p:ph type="body" sz="quarter" idx="15"/>
          </p:nvPr>
        </p:nvSpPr>
        <p:spPr>
          <a:xfrm>
            <a:off x="280557" y="1330036"/>
            <a:ext cx="11506476" cy="5066923"/>
          </a:xfrm>
        </p:spPr>
        <p:txBody>
          <a:bodyPr/>
          <a:lstStyle/>
          <a:p>
            <a:r>
              <a:rPr lang="en-AU" sz="2000" b="1" dirty="0">
                <a:latin typeface="Avenir Book" panose="02000503020000020003" pitchFamily="2" charset="0"/>
              </a:rPr>
              <a:t>4. Hyperpolarisation: </a:t>
            </a:r>
            <a:r>
              <a:rPr lang="en-AU" sz="2000" dirty="0">
                <a:latin typeface="Avenir Book" panose="02000503020000020003" pitchFamily="2" charset="0"/>
              </a:rPr>
              <a:t>when the potassium channels close, the cell has slightly more potassium ions on the outside of the membrane, than sodium ions inside the membrane, so the membrane potential is slightly more negative than the resting potential and the cell is said to be hyperpolarised.</a:t>
            </a:r>
          </a:p>
          <a:p>
            <a:br>
              <a:rPr lang="en-AU" dirty="0"/>
            </a:br>
            <a:endParaRPr lang="en-US" dirty="0"/>
          </a:p>
        </p:txBody>
      </p:sp>
      <p:pic>
        <p:nvPicPr>
          <p:cNvPr id="4" name="Picture 3" descr="Diagram&#10;&#10;Description automatically generated with medium confidence">
            <a:extLst>
              <a:ext uri="{FF2B5EF4-FFF2-40B4-BE49-F238E27FC236}">
                <a16:creationId xmlns:a16="http://schemas.microsoft.com/office/drawing/2014/main" id="{C6193AB9-7AFA-4B42-B287-4CBB6022B7F8}"/>
              </a:ext>
            </a:extLst>
          </p:cNvPr>
          <p:cNvPicPr>
            <a:picLocks noChangeAspect="1"/>
          </p:cNvPicPr>
          <p:nvPr/>
        </p:nvPicPr>
        <p:blipFill>
          <a:blip r:embed="rId2"/>
          <a:stretch>
            <a:fillRect/>
          </a:stretch>
        </p:blipFill>
        <p:spPr>
          <a:xfrm>
            <a:off x="1287472" y="2534938"/>
            <a:ext cx="9617055" cy="4202788"/>
          </a:xfrm>
          <a:prstGeom prst="rect">
            <a:avLst/>
          </a:prstGeom>
        </p:spPr>
      </p:pic>
    </p:spTree>
    <p:extLst>
      <p:ext uri="{BB962C8B-B14F-4D97-AF65-F5344CB8AC3E}">
        <p14:creationId xmlns:p14="http://schemas.microsoft.com/office/powerpoint/2010/main" val="2918919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81DA2A-172F-6D4E-B4C1-E6C16A3AFD4F}"/>
              </a:ext>
            </a:extLst>
          </p:cNvPr>
          <p:cNvSpPr>
            <a:spLocks noGrp="1"/>
          </p:cNvSpPr>
          <p:nvPr>
            <p:ph type="body" sz="quarter" idx="13"/>
          </p:nvPr>
        </p:nvSpPr>
        <p:spPr/>
        <p:txBody>
          <a:bodyPr/>
          <a:lstStyle/>
          <a:p>
            <a:r>
              <a:rPr lang="en-AU" dirty="0"/>
              <a:t>Transmission of impulses</a:t>
            </a:r>
            <a:endParaRPr lang="en-US" dirty="0"/>
          </a:p>
          <a:p>
            <a:endParaRPr lang="en-US" dirty="0"/>
          </a:p>
        </p:txBody>
      </p:sp>
      <p:sp>
        <p:nvSpPr>
          <p:cNvPr id="3" name="Text Placeholder 2">
            <a:extLst>
              <a:ext uri="{FF2B5EF4-FFF2-40B4-BE49-F238E27FC236}">
                <a16:creationId xmlns:a16="http://schemas.microsoft.com/office/drawing/2014/main" id="{E040D81A-D11A-344B-98F0-D83B6EE45414}"/>
              </a:ext>
            </a:extLst>
          </p:cNvPr>
          <p:cNvSpPr>
            <a:spLocks noGrp="1"/>
          </p:cNvSpPr>
          <p:nvPr>
            <p:ph type="body" sz="quarter" idx="15"/>
          </p:nvPr>
        </p:nvSpPr>
        <p:spPr>
          <a:xfrm>
            <a:off x="280557" y="1330036"/>
            <a:ext cx="11506476" cy="5066923"/>
          </a:xfrm>
        </p:spPr>
        <p:txBody>
          <a:bodyPr/>
          <a:lstStyle/>
          <a:p>
            <a:r>
              <a:rPr lang="en-AU" sz="2000" b="1" dirty="0">
                <a:latin typeface="Avenir Book" panose="02000503020000020003" pitchFamily="2" charset="0"/>
              </a:rPr>
              <a:t>5. Refractory period: </a:t>
            </a:r>
            <a:r>
              <a:rPr lang="en-AU" sz="2000" dirty="0">
                <a:latin typeface="Avenir Book" panose="02000503020000020003" pitchFamily="2" charset="0"/>
              </a:rPr>
              <a:t>sodium and potassium are returned to their original positions by the Na</a:t>
            </a:r>
            <a:r>
              <a:rPr lang="en-AU" sz="2000" baseline="30000" dirty="0">
                <a:latin typeface="Avenir Book" panose="02000503020000020003" pitchFamily="2" charset="0"/>
              </a:rPr>
              <a:t>+</a:t>
            </a:r>
            <a:r>
              <a:rPr lang="en-AU" sz="2000" dirty="0">
                <a:latin typeface="Avenir Book" panose="02000503020000020003" pitchFamily="2" charset="0"/>
              </a:rPr>
              <a:t>/K</a:t>
            </a:r>
            <a:r>
              <a:rPr lang="en-AU" sz="2000" baseline="30000" dirty="0">
                <a:latin typeface="Avenir Book" panose="02000503020000020003" pitchFamily="2" charset="0"/>
              </a:rPr>
              <a:t>+</a:t>
            </a:r>
            <a:r>
              <a:rPr lang="en-AU" sz="2000" dirty="0">
                <a:latin typeface="Avenir Book" panose="02000503020000020003" pitchFamily="2" charset="0"/>
              </a:rPr>
              <a:t> pump. While the neuron is busy restoring the ions to their original positions, it doesn't respond to any incoming stimuli and hence no nervous impulse is transmitted along that part of the fibre. The refractory period actually begins during the transmission of the action potential the fibre cannot respond to a stimulus while it is already responding to a different one.</a:t>
            </a:r>
          </a:p>
          <a:p>
            <a:endParaRPr lang="en-US" dirty="0"/>
          </a:p>
        </p:txBody>
      </p:sp>
      <p:pic>
        <p:nvPicPr>
          <p:cNvPr id="5" name="Picture 4" descr="Diagram&#10;&#10;Description automatically generated with medium confidence">
            <a:extLst>
              <a:ext uri="{FF2B5EF4-FFF2-40B4-BE49-F238E27FC236}">
                <a16:creationId xmlns:a16="http://schemas.microsoft.com/office/drawing/2014/main" id="{84F85F11-7863-8B49-9A58-88F4925B844C}"/>
              </a:ext>
            </a:extLst>
          </p:cNvPr>
          <p:cNvPicPr>
            <a:picLocks noChangeAspect="1"/>
          </p:cNvPicPr>
          <p:nvPr/>
        </p:nvPicPr>
        <p:blipFill>
          <a:blip r:embed="rId2"/>
          <a:stretch>
            <a:fillRect/>
          </a:stretch>
        </p:blipFill>
        <p:spPr>
          <a:xfrm>
            <a:off x="1659053" y="2894000"/>
            <a:ext cx="8873894" cy="3878016"/>
          </a:xfrm>
          <a:prstGeom prst="rect">
            <a:avLst/>
          </a:prstGeom>
        </p:spPr>
      </p:pic>
    </p:spTree>
    <p:extLst>
      <p:ext uri="{BB962C8B-B14F-4D97-AF65-F5344CB8AC3E}">
        <p14:creationId xmlns:p14="http://schemas.microsoft.com/office/powerpoint/2010/main" val="4264143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7592C1-AD44-794D-A30B-0530C94B4F08}"/>
              </a:ext>
            </a:extLst>
          </p:cNvPr>
          <p:cNvSpPr>
            <a:spLocks noGrp="1"/>
          </p:cNvSpPr>
          <p:nvPr>
            <p:ph type="body" sz="quarter" idx="13"/>
          </p:nvPr>
        </p:nvSpPr>
        <p:spPr>
          <a:xfrm>
            <a:off x="280557" y="805337"/>
            <a:ext cx="11481952" cy="723657"/>
          </a:xfrm>
        </p:spPr>
        <p:txBody>
          <a:bodyPr>
            <a:normAutofit lnSpcReduction="10000"/>
          </a:bodyPr>
          <a:lstStyle/>
          <a:p>
            <a:r>
              <a:rPr lang="en-AU" dirty="0"/>
              <a:t>The transmission of nervous impulses is different for unmyelinated and myelinated fibres.  </a:t>
            </a:r>
          </a:p>
          <a:p>
            <a:endParaRPr lang="en-US" dirty="0"/>
          </a:p>
        </p:txBody>
      </p:sp>
      <p:sp>
        <p:nvSpPr>
          <p:cNvPr id="3" name="Text Placeholder 2">
            <a:extLst>
              <a:ext uri="{FF2B5EF4-FFF2-40B4-BE49-F238E27FC236}">
                <a16:creationId xmlns:a16="http://schemas.microsoft.com/office/drawing/2014/main" id="{3D7D1951-5833-584B-B068-F243820064FC}"/>
              </a:ext>
            </a:extLst>
          </p:cNvPr>
          <p:cNvSpPr>
            <a:spLocks noGrp="1"/>
          </p:cNvSpPr>
          <p:nvPr>
            <p:ph type="body" sz="quarter" idx="15"/>
          </p:nvPr>
        </p:nvSpPr>
        <p:spPr>
          <a:xfrm>
            <a:off x="280557" y="1791077"/>
            <a:ext cx="11506476" cy="4381123"/>
          </a:xfrm>
        </p:spPr>
        <p:txBody>
          <a:bodyPr/>
          <a:lstStyle/>
          <a:p>
            <a:r>
              <a:rPr lang="en-AU" sz="2400" b="1" dirty="0">
                <a:latin typeface="Avenir Book" panose="02000503020000020003" pitchFamily="2" charset="0"/>
              </a:rPr>
              <a:t>Unmyelinated: </a:t>
            </a:r>
            <a:r>
              <a:rPr lang="en-AU" sz="2400" dirty="0">
                <a:latin typeface="Avenir Book" panose="02000503020000020003" pitchFamily="2" charset="0"/>
              </a:rPr>
              <a:t>Depolarisation of one area of the membrane causes the area adjacent to also depolarise, creating a 'domino effect that propagates the action potential along the fibre. </a:t>
            </a:r>
          </a:p>
          <a:p>
            <a:endParaRPr lang="en-AU" sz="2400" dirty="0">
              <a:latin typeface="Avenir Book" panose="02000503020000020003" pitchFamily="2" charset="0"/>
            </a:endParaRPr>
          </a:p>
          <a:p>
            <a:r>
              <a:rPr lang="en-AU" sz="2400" b="1" dirty="0">
                <a:latin typeface="Avenir Book" panose="02000503020000020003" pitchFamily="2" charset="0"/>
              </a:rPr>
              <a:t>Myelinated: </a:t>
            </a:r>
            <a:r>
              <a:rPr lang="en-AU" sz="2400" dirty="0">
                <a:latin typeface="Avenir Book" panose="02000503020000020003" pitchFamily="2" charset="0"/>
              </a:rPr>
              <a:t>The myelin sheath insulates most of the membrane, separating it from the extracellular fluid. Hence, depolarisation can only occur at the Nodes of Ranvier (the gaps in the sheath) as they are the only areas that allow for ion exchanges between the intracellular and extracellular fluid, The action potential, therefore, jumps from one node to the next. A motion referred to as </a:t>
            </a:r>
            <a:r>
              <a:rPr lang="en-AU" sz="2400" b="1" dirty="0">
                <a:latin typeface="Avenir Book" panose="02000503020000020003" pitchFamily="2" charset="0"/>
              </a:rPr>
              <a:t>saltatory conduction</a:t>
            </a:r>
            <a:r>
              <a:rPr lang="en-AU" sz="2400" dirty="0">
                <a:latin typeface="Avenir Book" panose="02000503020000020003" pitchFamily="2" charset="0"/>
              </a:rPr>
              <a:t>. This means that impulses travel faster along myelinated fibres than unmyelinated. </a:t>
            </a:r>
          </a:p>
          <a:p>
            <a:endParaRPr lang="en-AU" dirty="0"/>
          </a:p>
          <a:p>
            <a:endParaRPr lang="en-US" dirty="0"/>
          </a:p>
        </p:txBody>
      </p:sp>
    </p:spTree>
    <p:extLst>
      <p:ext uri="{BB962C8B-B14F-4D97-AF65-F5344CB8AC3E}">
        <p14:creationId xmlns:p14="http://schemas.microsoft.com/office/powerpoint/2010/main" val="80623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E7ACD4-853B-E846-9DE3-07EE8FC1204C}"/>
              </a:ext>
            </a:extLst>
          </p:cNvPr>
          <p:cNvSpPr>
            <a:spLocks noGrp="1"/>
          </p:cNvSpPr>
          <p:nvPr>
            <p:ph type="body" sz="quarter" idx="13"/>
          </p:nvPr>
        </p:nvSpPr>
        <p:spPr/>
        <p:txBody>
          <a:bodyPr/>
          <a:lstStyle/>
          <a:p>
            <a:r>
              <a:rPr lang="en-US" dirty="0"/>
              <a:t>Nerve Impulse </a:t>
            </a:r>
          </a:p>
        </p:txBody>
      </p:sp>
      <p:sp>
        <p:nvSpPr>
          <p:cNvPr id="3" name="Text Placeholder 2">
            <a:extLst>
              <a:ext uri="{FF2B5EF4-FFF2-40B4-BE49-F238E27FC236}">
                <a16:creationId xmlns:a16="http://schemas.microsoft.com/office/drawing/2014/main" id="{8ABD1252-F65C-7543-9A11-6ABD58BD874E}"/>
              </a:ext>
            </a:extLst>
          </p:cNvPr>
          <p:cNvSpPr>
            <a:spLocks noGrp="1"/>
          </p:cNvSpPr>
          <p:nvPr>
            <p:ph type="body" sz="quarter" idx="15"/>
          </p:nvPr>
        </p:nvSpPr>
        <p:spPr/>
        <p:txBody>
          <a:bodyPr/>
          <a:lstStyle/>
          <a:p>
            <a:r>
              <a:rPr lang="en-AU" sz="2000" dirty="0">
                <a:latin typeface="Avenir Book" panose="02000503020000020003" pitchFamily="2" charset="0"/>
              </a:rPr>
              <a:t>The impulse always travels away from the point of stimulus and is prevented from travelling backwards by the refractory periods of previous areas of the membrane. It is also important to note that the size of a nervous impulse along a fibre is always the same, as an identical action potential is generated when the threshold is crossed. It is possible to distinguish between a strong stimulus and a weak stimulus because: </a:t>
            </a:r>
          </a:p>
          <a:p>
            <a:endParaRPr lang="en-AU" sz="2000" dirty="0">
              <a:latin typeface="Avenir Book" panose="02000503020000020003" pitchFamily="2" charset="0"/>
            </a:endParaRPr>
          </a:p>
          <a:p>
            <a:pPr marL="285750" indent="-285750">
              <a:buFont typeface="Arial" panose="020B0604020202020204" pitchFamily="34" charset="0"/>
              <a:buChar char="•"/>
            </a:pPr>
            <a:r>
              <a:rPr lang="en-AU" sz="2000" dirty="0">
                <a:latin typeface="Avenir Book" panose="02000503020000020003" pitchFamily="2" charset="0"/>
              </a:rPr>
              <a:t>A stronger stimulus will cause a greater number of nerve fibres to depolarise than a weak stimulus.</a:t>
            </a:r>
          </a:p>
          <a:p>
            <a:pPr marL="285750" indent="-285750">
              <a:buFont typeface="Arial" panose="020B0604020202020204" pitchFamily="34" charset="0"/>
              <a:buChar char="•"/>
            </a:pPr>
            <a:r>
              <a:rPr lang="en-AU" sz="2000" dirty="0">
                <a:latin typeface="Avenir Book" panose="02000503020000020003" pitchFamily="2" charset="0"/>
              </a:rPr>
              <a:t>The number of nervous impulses generated in a given time will be greater for a stronger stimulus.</a:t>
            </a:r>
          </a:p>
          <a:p>
            <a:endParaRPr lang="en-US" dirty="0"/>
          </a:p>
        </p:txBody>
      </p:sp>
    </p:spTree>
    <p:extLst>
      <p:ext uri="{BB962C8B-B14F-4D97-AF65-F5344CB8AC3E}">
        <p14:creationId xmlns:p14="http://schemas.microsoft.com/office/powerpoint/2010/main" val="72149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FB42CF-9784-AE46-BEBE-AA3CB6CE5F56}"/>
              </a:ext>
            </a:extLst>
          </p:cNvPr>
          <p:cNvSpPr>
            <a:spLocks noGrp="1"/>
          </p:cNvSpPr>
          <p:nvPr>
            <p:ph type="body" sz="quarter" idx="13"/>
          </p:nvPr>
        </p:nvSpPr>
        <p:spPr/>
        <p:txBody>
          <a:bodyPr/>
          <a:lstStyle/>
          <a:p>
            <a:r>
              <a:rPr lang="en-US" dirty="0"/>
              <a:t>Nerve Impulse </a:t>
            </a:r>
          </a:p>
          <a:p>
            <a:endParaRPr lang="en-US" dirty="0"/>
          </a:p>
        </p:txBody>
      </p:sp>
      <p:sp>
        <p:nvSpPr>
          <p:cNvPr id="3" name="Text Placeholder 2">
            <a:extLst>
              <a:ext uri="{FF2B5EF4-FFF2-40B4-BE49-F238E27FC236}">
                <a16:creationId xmlns:a16="http://schemas.microsoft.com/office/drawing/2014/main" id="{FBD43CB6-2D63-BF40-A618-B37EE8A9CA6B}"/>
              </a:ext>
            </a:extLst>
          </p:cNvPr>
          <p:cNvSpPr>
            <a:spLocks noGrp="1"/>
          </p:cNvSpPr>
          <p:nvPr>
            <p:ph type="body" sz="quarter" idx="15"/>
          </p:nvPr>
        </p:nvSpPr>
        <p:spPr/>
        <p:txBody>
          <a:bodyPr/>
          <a:lstStyle/>
          <a:p>
            <a:r>
              <a:rPr lang="en-AU" sz="2400" b="1" dirty="0">
                <a:latin typeface="Avenir Book" panose="02000503020000020003" pitchFamily="2" charset="0"/>
              </a:rPr>
              <a:t>KEY POINT: </a:t>
            </a:r>
            <a:r>
              <a:rPr lang="en-AU" sz="2400" dirty="0">
                <a:latin typeface="Avenir Book" panose="02000503020000020003" pitchFamily="2" charset="0"/>
              </a:rPr>
              <a:t>The diameter of a fibre changes the rate at which it transmits an impulse; the thicker the fibre, the faster the impulse. </a:t>
            </a:r>
          </a:p>
          <a:p>
            <a:endParaRPr lang="en-US" dirty="0"/>
          </a:p>
        </p:txBody>
      </p:sp>
    </p:spTree>
    <p:extLst>
      <p:ext uri="{BB962C8B-B14F-4D97-AF65-F5344CB8AC3E}">
        <p14:creationId xmlns:p14="http://schemas.microsoft.com/office/powerpoint/2010/main" val="2547716277"/>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1342</TotalTime>
  <Words>1007</Words>
  <Application>Microsoft Macintosh PowerPoint</Application>
  <PresentationFormat>Widescreen</PresentationFormat>
  <Paragraphs>45</Paragraphs>
  <Slides>14</Slides>
  <Notes>3</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14</vt:i4>
      </vt:variant>
    </vt:vector>
  </HeadingPairs>
  <TitlesOfParts>
    <vt:vector size="27"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1</cp:revision>
  <cp:lastPrinted>2020-06-12T23:59:38Z</cp:lastPrinted>
  <dcterms:created xsi:type="dcterms:W3CDTF">2022-02-14T15:02:41Z</dcterms:created>
  <dcterms:modified xsi:type="dcterms:W3CDTF">2022-02-15T13:25:22Z</dcterms:modified>
</cp:coreProperties>
</file>
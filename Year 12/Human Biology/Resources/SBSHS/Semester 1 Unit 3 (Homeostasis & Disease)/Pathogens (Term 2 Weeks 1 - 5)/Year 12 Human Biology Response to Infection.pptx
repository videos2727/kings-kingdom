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33"/>
  </p:notesMasterIdLst>
  <p:sldIdLst>
    <p:sldId id="275" r:id="rId6"/>
    <p:sldId id="301" r:id="rId7"/>
    <p:sldId id="566" r:id="rId8"/>
    <p:sldId id="567" r:id="rId9"/>
    <p:sldId id="568" r:id="rId10"/>
    <p:sldId id="569" r:id="rId11"/>
    <p:sldId id="571" r:id="rId12"/>
    <p:sldId id="572" r:id="rId13"/>
    <p:sldId id="573" r:id="rId14"/>
    <p:sldId id="574" r:id="rId15"/>
    <p:sldId id="575" r:id="rId16"/>
    <p:sldId id="577" r:id="rId17"/>
    <p:sldId id="578" r:id="rId18"/>
    <p:sldId id="576" r:id="rId19"/>
    <p:sldId id="584" r:id="rId20"/>
    <p:sldId id="579" r:id="rId21"/>
    <p:sldId id="588" r:id="rId22"/>
    <p:sldId id="587" r:id="rId23"/>
    <p:sldId id="586" r:id="rId24"/>
    <p:sldId id="585" r:id="rId25"/>
    <p:sldId id="580" r:id="rId26"/>
    <p:sldId id="581" r:id="rId27"/>
    <p:sldId id="582" r:id="rId28"/>
    <p:sldId id="589" r:id="rId29"/>
    <p:sldId id="590" r:id="rId30"/>
    <p:sldId id="591" r:id="rId31"/>
    <p:sldId id="59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509"/>
    <p:restoredTop sz="86391"/>
  </p:normalViewPr>
  <p:slideViewPr>
    <p:cSldViewPr snapToGrid="0" snapToObjects="1">
      <p:cViewPr varScale="1">
        <p:scale>
          <a:sx n="95" d="100"/>
          <a:sy n="95" d="100"/>
        </p:scale>
        <p:origin x="184" y="25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5/10/22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a:t>
            </a:fld>
            <a:endParaRPr lang="en-AU"/>
          </a:p>
        </p:txBody>
      </p:sp>
    </p:spTree>
    <p:extLst>
      <p:ext uri="{BB962C8B-B14F-4D97-AF65-F5344CB8AC3E}">
        <p14:creationId xmlns:p14="http://schemas.microsoft.com/office/powerpoint/2010/main" val="527230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15108502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5/10/22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5/10/22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5/10/22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5/10/22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5/10/22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5/10/22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D0F5F-0DBB-47A9-9535-5081A996AADA}"/>
              </a:ext>
            </a:extLst>
          </p:cNvPr>
          <p:cNvSpPr txBox="1"/>
          <p:nvPr userDrawn="1"/>
        </p:nvSpPr>
        <p:spPr>
          <a:xfrm>
            <a:off x="9146009" y="602344"/>
            <a:ext cx="2034232" cy="358796"/>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Learning Objective</a:t>
            </a:r>
          </a:p>
        </p:txBody>
      </p:sp>
      <p:sp>
        <p:nvSpPr>
          <p:cNvPr id="13" name="TextBox 12">
            <a:extLst>
              <a:ext uri="{FF2B5EF4-FFF2-40B4-BE49-F238E27FC236}">
                <a16:creationId xmlns:a16="http://schemas.microsoft.com/office/drawing/2014/main" id="{B727232C-B92E-457E-B352-F618EC28E4D8}"/>
              </a:ext>
            </a:extLst>
          </p:cNvPr>
          <p:cNvSpPr txBox="1"/>
          <p:nvPr userDrawn="1"/>
        </p:nvSpPr>
        <p:spPr>
          <a:xfrm>
            <a:off x="8926325" y="2926415"/>
            <a:ext cx="2260256" cy="358796"/>
          </a:xfrm>
          <a:custGeom>
            <a:avLst/>
            <a:gdLst>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955971 w 2017486"/>
              <a:gd name="connsiteY5" fmla="*/ 369085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1896905 w 2017486"/>
              <a:gd name="connsiteY4" fmla="*/ 197039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07437"/>
              <a:gd name="connsiteY0" fmla="*/ 68942 h 376512"/>
              <a:gd name="connsiteX1" fmla="*/ 61515 w 2007437"/>
              <a:gd name="connsiteY1" fmla="*/ 7427 h 376512"/>
              <a:gd name="connsiteX2" fmla="*/ 1955971 w 2007437"/>
              <a:gd name="connsiteY2" fmla="*/ 7427 h 376512"/>
              <a:gd name="connsiteX3" fmla="*/ 2007437 w 2007437"/>
              <a:gd name="connsiteY3" fmla="*/ 18700 h 376512"/>
              <a:gd name="connsiteX4" fmla="*/ 1896905 w 2007437"/>
              <a:gd name="connsiteY4" fmla="*/ 204466 h 376512"/>
              <a:gd name="connsiteX5" fmla="*/ 1674617 w 2007437"/>
              <a:gd name="connsiteY5" fmla="*/ 356415 h 376512"/>
              <a:gd name="connsiteX6" fmla="*/ 61515 w 2007437"/>
              <a:gd name="connsiteY6" fmla="*/ 376512 h 376512"/>
              <a:gd name="connsiteX7" fmla="*/ 0 w 2007437"/>
              <a:gd name="connsiteY7" fmla="*/ 314997 h 376512"/>
              <a:gd name="connsiteX8" fmla="*/ 0 w 2007437"/>
              <a:gd name="connsiteY8" fmla="*/ 68942 h 37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437" h="376512">
                <a:moveTo>
                  <a:pt x="0" y="68942"/>
                </a:moveTo>
                <a:cubicBezTo>
                  <a:pt x="0" y="34968"/>
                  <a:pt x="27541" y="7427"/>
                  <a:pt x="61515" y="7427"/>
                </a:cubicBezTo>
                <a:lnTo>
                  <a:pt x="1955971" y="7427"/>
                </a:lnTo>
                <a:cubicBezTo>
                  <a:pt x="1989945" y="7427"/>
                  <a:pt x="2007437" y="-15274"/>
                  <a:pt x="2007437" y="18700"/>
                </a:cubicBezTo>
                <a:lnTo>
                  <a:pt x="1896905" y="204466"/>
                </a:lnTo>
                <a:cubicBezTo>
                  <a:pt x="1896905" y="238440"/>
                  <a:pt x="1708591" y="356415"/>
                  <a:pt x="1674617" y="356415"/>
                </a:cubicBezTo>
                <a:cubicBezTo>
                  <a:pt x="1043132" y="356415"/>
                  <a:pt x="693000" y="376512"/>
                  <a:pt x="61515" y="376512"/>
                </a:cubicBezTo>
                <a:cubicBezTo>
                  <a:pt x="27541" y="376512"/>
                  <a:pt x="0" y="348971"/>
                  <a:pt x="0" y="314997"/>
                </a:cubicBezTo>
                <a:lnTo>
                  <a:pt x="0" y="68942"/>
                </a:lnTo>
                <a:close/>
              </a:path>
            </a:pathLst>
          </a:cu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US" sz="1400" b="0" i="0" dirty="0">
                <a:solidFill>
                  <a:schemeClr val="bg1"/>
                </a:solidFill>
                <a:latin typeface="Arial Rounded MT Bold" panose="020F0704030504030204" pitchFamily="34" charset="0"/>
                <a:cs typeface="Futura Medium" panose="020B0602020204020303" pitchFamily="34" charset="-79"/>
              </a:rPr>
              <a:t>Think - Pair - Share</a:t>
            </a:r>
          </a:p>
        </p:txBody>
      </p:sp>
      <p:sp>
        <p:nvSpPr>
          <p:cNvPr id="15" name="Text Placeholder 2">
            <a:extLst>
              <a:ext uri="{FF2B5EF4-FFF2-40B4-BE49-F238E27FC236}">
                <a16:creationId xmlns:a16="http://schemas.microsoft.com/office/drawing/2014/main" id="{D8D8F44C-757A-43E7-8713-76A89DF6C4D9}"/>
              </a:ext>
            </a:extLst>
          </p:cNvPr>
          <p:cNvSpPr>
            <a:spLocks noGrp="1"/>
          </p:cNvSpPr>
          <p:nvPr>
            <p:ph type="body" sz="quarter" idx="16" hasCustomPrompt="1"/>
          </p:nvPr>
        </p:nvSpPr>
        <p:spPr>
          <a:xfrm>
            <a:off x="432958" y="3689575"/>
            <a:ext cx="10745582" cy="2651940"/>
          </a:xfrm>
          <a:prstGeom prst="round2DiagRect">
            <a:avLst/>
          </a:prstGeom>
          <a:noFill/>
          <a:ln w="38100">
            <a:solidFill>
              <a:srgbClr val="1891AC"/>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br>
              <a:rPr lang="en-AU" dirty="0"/>
            </a:br>
            <a:r>
              <a:rPr lang="en-AU" dirty="0"/>
              <a:t>State a specific task you will be setting at the end of the lesson,</a:t>
            </a:r>
            <a:br>
              <a:rPr lang="en-AU" dirty="0"/>
            </a:br>
            <a:r>
              <a:rPr lang="en-AU" dirty="0"/>
              <a:t>to assess whether students have been successful</a:t>
            </a:r>
            <a:br>
              <a:rPr lang="en-AU" dirty="0"/>
            </a:br>
            <a:r>
              <a:rPr lang="en-AU" dirty="0"/>
              <a:t>in obtaining the learning objective.</a:t>
            </a:r>
          </a:p>
          <a:p>
            <a:pPr lvl="0"/>
            <a:endParaRPr lang="en-AU" dirty="0"/>
          </a:p>
        </p:txBody>
      </p:sp>
      <p:sp>
        <p:nvSpPr>
          <p:cNvPr id="10" name="Text Placeholder 2">
            <a:extLst>
              <a:ext uri="{FF2B5EF4-FFF2-40B4-BE49-F238E27FC236}">
                <a16:creationId xmlns:a16="http://schemas.microsoft.com/office/drawing/2014/main" id="{C2A00B02-7DD1-4010-8743-E8E43F8620E6}"/>
              </a:ext>
            </a:extLst>
          </p:cNvPr>
          <p:cNvSpPr>
            <a:spLocks noGrp="1"/>
          </p:cNvSpPr>
          <p:nvPr>
            <p:ph type="body" sz="quarter" idx="18" hasCustomPrompt="1"/>
          </p:nvPr>
        </p:nvSpPr>
        <p:spPr>
          <a:xfrm>
            <a:off x="432958" y="602344"/>
            <a:ext cx="10745582" cy="2651940"/>
          </a:xfrm>
          <a:prstGeom prst="round2DiagRect">
            <a:avLst/>
          </a:prstGeom>
          <a:ln w="38100">
            <a:solidFill>
              <a:srgbClr val="154983"/>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r>
              <a:rPr lang="en-AU" dirty="0"/>
              <a:t>A statement describing what the students</a:t>
            </a:r>
            <a:br>
              <a:rPr lang="en-AU" dirty="0"/>
            </a:br>
            <a:r>
              <a:rPr lang="en-AU" dirty="0"/>
              <a:t>will be able to do by the end of the lesson.</a:t>
            </a:r>
            <a:br>
              <a:rPr lang="en-AU" dirty="0"/>
            </a:br>
            <a:br>
              <a:rPr lang="en-AU" dirty="0"/>
            </a:br>
            <a:r>
              <a:rPr lang="en-AU" dirty="0"/>
              <a:t>E.g. ‘Write direct speech using</a:t>
            </a:r>
            <a:br>
              <a:rPr lang="en-AU" dirty="0"/>
            </a:br>
            <a:r>
              <a:rPr lang="en-AU" dirty="0"/>
              <a:t>correct punctuation and grammar.’</a:t>
            </a:r>
          </a:p>
        </p:txBody>
      </p:sp>
      <p:sp>
        <p:nvSpPr>
          <p:cNvPr id="6" name="TextBox 5">
            <a:extLst>
              <a:ext uri="{FF2B5EF4-FFF2-40B4-BE49-F238E27FC236}">
                <a16:creationId xmlns:a16="http://schemas.microsoft.com/office/drawing/2014/main" id="{AB21FC50-7983-4BBE-87BD-F3ED203B330F}"/>
              </a:ext>
            </a:extLst>
          </p:cNvPr>
          <p:cNvSpPr txBox="1"/>
          <p:nvPr userDrawn="1"/>
        </p:nvSpPr>
        <p:spPr>
          <a:xfrm>
            <a:off x="9146009" y="3677498"/>
            <a:ext cx="2034234" cy="358796"/>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Success Criteria</a:t>
            </a:r>
          </a:p>
        </p:txBody>
      </p:sp>
    </p:spTree>
    <p:extLst>
      <p:ext uri="{BB962C8B-B14F-4D97-AF65-F5344CB8AC3E}">
        <p14:creationId xmlns:p14="http://schemas.microsoft.com/office/powerpoint/2010/main" val="38570878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3" r:id="rId12"/>
    <p:sldLayoutId id="21474837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A58ACDE-97EB-4DDB-8D0A-A13BB4F2EDD2}"/>
              </a:ext>
            </a:extLst>
          </p:cNvPr>
          <p:cNvSpPr>
            <a:spLocks noGrp="1"/>
          </p:cNvSpPr>
          <p:nvPr>
            <p:ph type="body" sz="quarter" idx="16"/>
          </p:nvPr>
        </p:nvSpPr>
        <p:spPr>
          <a:xfrm>
            <a:off x="432958" y="3673869"/>
            <a:ext cx="11194266" cy="2651940"/>
          </a:xfrm>
        </p:spPr>
        <p:txBody>
          <a:bodyPr>
            <a:normAutofit/>
          </a:bodyPr>
          <a:lstStyle/>
          <a:p>
            <a:pPr lvl="0" algn="l"/>
            <a:endParaRPr lang="en-AU" sz="100" dirty="0"/>
          </a:p>
          <a:p>
            <a:pPr algn="l"/>
            <a:r>
              <a:rPr lang="en-AU" sz="3200" dirty="0"/>
              <a:t>I understand that infectious diseases caused by invasion of pathogens in the form of </a:t>
            </a:r>
            <a:r>
              <a:rPr lang="en-AU" sz="3200" dirty="0" err="1"/>
              <a:t>visues</a:t>
            </a:r>
            <a:r>
              <a:rPr lang="en-AU" sz="3200" dirty="0"/>
              <a:t> and bacteria can be transmitted from one host to another. </a:t>
            </a:r>
          </a:p>
          <a:p>
            <a:pPr algn="l"/>
            <a:endParaRPr lang="en-AU" sz="3000" dirty="0"/>
          </a:p>
        </p:txBody>
      </p:sp>
      <p:sp>
        <p:nvSpPr>
          <p:cNvPr id="7" name="Text Placeholder 6">
            <a:extLst>
              <a:ext uri="{FF2B5EF4-FFF2-40B4-BE49-F238E27FC236}">
                <a16:creationId xmlns:a16="http://schemas.microsoft.com/office/drawing/2014/main" id="{5DB1A190-F6F8-4F27-BBED-92C0B43629F1}"/>
              </a:ext>
            </a:extLst>
          </p:cNvPr>
          <p:cNvSpPr>
            <a:spLocks noGrp="1"/>
          </p:cNvSpPr>
          <p:nvPr>
            <p:ph type="body" sz="quarter" idx="18"/>
          </p:nvPr>
        </p:nvSpPr>
        <p:spPr>
          <a:xfrm>
            <a:off x="432958" y="602511"/>
            <a:ext cx="11194266" cy="2651940"/>
          </a:xfrm>
        </p:spPr>
        <p:txBody>
          <a:bodyPr>
            <a:normAutofit/>
          </a:bodyPr>
          <a:lstStyle/>
          <a:p>
            <a:pPr algn="l"/>
            <a:r>
              <a:rPr lang="en-AU" sz="3200" dirty="0"/>
              <a:t>Students will be able to:</a:t>
            </a:r>
          </a:p>
          <a:p>
            <a:pPr algn="l"/>
            <a:r>
              <a:rPr lang="en-AU" sz="3200" dirty="0">
                <a:solidFill>
                  <a:srgbClr val="C00000"/>
                </a:solidFill>
              </a:rPr>
              <a:t>Learn about the bodies response to infection. </a:t>
            </a:r>
            <a:endParaRPr lang="en-AU" sz="3000" dirty="0">
              <a:solidFill>
                <a:srgbClr val="C00000"/>
              </a:solidFill>
            </a:endParaRPr>
          </a:p>
        </p:txBody>
      </p:sp>
    </p:spTree>
    <p:extLst>
      <p:ext uri="{BB962C8B-B14F-4D97-AF65-F5344CB8AC3E}">
        <p14:creationId xmlns:p14="http://schemas.microsoft.com/office/powerpoint/2010/main" val="3376853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The body can protect itself from infection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862683"/>
            <a:ext cx="6552749" cy="3623717"/>
          </a:xfrm>
        </p:spPr>
        <p:txBody>
          <a:bodyPr>
            <a:normAutofit/>
          </a:bodyPr>
          <a:lstStyle/>
          <a:p>
            <a:pPr marL="342900" indent="-342900">
              <a:buFont typeface="Arial" panose="020B0604020202020204" pitchFamily="34" charset="0"/>
              <a:buChar char="•"/>
            </a:pPr>
            <a:r>
              <a:rPr lang="en-AU" sz="2000" dirty="0">
                <a:latin typeface="Avenir Book" panose="02000503020000020003" pitchFamily="2" charset="0"/>
              </a:rPr>
              <a:t>The human body has a number of mechanisms to protect it from invading organisms. If the body's defences are overcome, the invaders may cause disease. </a:t>
            </a:r>
          </a:p>
          <a:p>
            <a:pPr marL="342900" indent="-342900">
              <a:buFont typeface="Arial" panose="020B0604020202020204" pitchFamily="34" charset="0"/>
              <a:buChar char="•"/>
            </a:pPr>
            <a:r>
              <a:rPr lang="en-AU" sz="2000" dirty="0">
                <a:latin typeface="Avenir Book" panose="02000503020000020003" pitchFamily="2" charset="0"/>
              </a:rPr>
              <a:t>Such disease-causing organisms are called pathogens. Some diseases are spread from one person to another. </a:t>
            </a:r>
          </a:p>
          <a:p>
            <a:pPr marL="342900" indent="-342900">
              <a:buFont typeface="Arial" panose="020B0604020202020204" pitchFamily="34" charset="0"/>
              <a:buChar char="•"/>
            </a:pPr>
            <a:r>
              <a:rPr lang="en-AU" sz="2000" dirty="0">
                <a:latin typeface="Avenir Book" panose="02000503020000020003" pitchFamily="2" charset="0"/>
              </a:rPr>
              <a:t>These diseases are communicable, or infectious, diseases and are also called transmissible diseases. We are often exposed to pathogens without realising it. </a:t>
            </a:r>
          </a:p>
        </p:txBody>
      </p:sp>
      <p:sp>
        <p:nvSpPr>
          <p:cNvPr id="4" name="AutoShape 2" descr="Here's What Happens When You Culture the Bacteria on an Eight-Year-Old's  Hand | Smart News| Smithsonian Magazine">
            <a:extLst>
              <a:ext uri="{FF2B5EF4-FFF2-40B4-BE49-F238E27FC236}">
                <a16:creationId xmlns:a16="http://schemas.microsoft.com/office/drawing/2014/main" id="{1BCF86C9-9A29-ABBD-4F7E-22D8F29F3F0D}"/>
              </a:ext>
            </a:extLst>
          </p:cNvPr>
          <p:cNvSpPr>
            <a:spLocks noChangeAspect="1" noChangeArrowheads="1"/>
          </p:cNvSpPr>
          <p:nvPr/>
        </p:nvSpPr>
        <p:spPr bwMode="auto">
          <a:xfrm>
            <a:off x="5943599" y="459059"/>
            <a:ext cx="3122341" cy="312234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Here's how to make your own bacteria handprint - Vox">
            <a:extLst>
              <a:ext uri="{FF2B5EF4-FFF2-40B4-BE49-F238E27FC236}">
                <a16:creationId xmlns:a16="http://schemas.microsoft.com/office/drawing/2014/main" id="{03838DA6-83BA-DEB0-F443-F754C09B6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9361" y="1745719"/>
            <a:ext cx="4204010" cy="4204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A5A0DA-C8E7-4402-05E6-44230D25F131}"/>
              </a:ext>
            </a:extLst>
          </p:cNvPr>
          <p:cNvSpPr>
            <a:spLocks noGrp="1"/>
          </p:cNvSpPr>
          <p:nvPr>
            <p:ph type="body" sz="quarter" idx="13"/>
          </p:nvPr>
        </p:nvSpPr>
        <p:spPr/>
        <p:txBody>
          <a:bodyPr/>
          <a:lstStyle/>
          <a:p>
            <a:r>
              <a:rPr lang="en-AU" dirty="0"/>
              <a:t>The body can protect itself from infection </a:t>
            </a:r>
          </a:p>
          <a:p>
            <a:endParaRPr lang="en-US" dirty="0"/>
          </a:p>
        </p:txBody>
      </p:sp>
      <p:sp>
        <p:nvSpPr>
          <p:cNvPr id="3" name="Text Placeholder 2">
            <a:extLst>
              <a:ext uri="{FF2B5EF4-FFF2-40B4-BE49-F238E27FC236}">
                <a16:creationId xmlns:a16="http://schemas.microsoft.com/office/drawing/2014/main" id="{85289040-1E92-3604-D07E-D28F9FC9F595}"/>
              </a:ext>
            </a:extLst>
          </p:cNvPr>
          <p:cNvSpPr>
            <a:spLocks noGrp="1"/>
          </p:cNvSpPr>
          <p:nvPr>
            <p:ph type="body" sz="quarter" idx="15"/>
          </p:nvPr>
        </p:nvSpPr>
        <p:spPr>
          <a:xfrm>
            <a:off x="280558" y="1528994"/>
            <a:ext cx="6209452" cy="5066923"/>
          </a:xfrm>
        </p:spPr>
        <p:txBody>
          <a:bodyPr/>
          <a:lstStyle/>
          <a:p>
            <a:pPr marL="285750" indent="-285750">
              <a:buFont typeface="Arial" panose="020B0604020202020204" pitchFamily="34" charset="0"/>
              <a:buChar char="•"/>
            </a:pPr>
            <a:r>
              <a:rPr lang="en-AU" sz="2400" dirty="0">
                <a:latin typeface="Avenir Book" panose="02000503020000020003" pitchFamily="2" charset="0"/>
              </a:rPr>
              <a:t>Luckily, our bodies have a number of defences that protect us from them. </a:t>
            </a:r>
          </a:p>
          <a:p>
            <a:pPr marL="285750" indent="-285750">
              <a:buFont typeface="Arial" panose="020B0604020202020204" pitchFamily="34" charset="0"/>
              <a:buChar char="•"/>
            </a:pPr>
            <a:r>
              <a:rPr lang="en-AU" sz="2400" dirty="0">
                <a:latin typeface="Avenir Book" panose="02000503020000020003" pitchFamily="2" charset="0"/>
              </a:rPr>
              <a:t>Many pathogens are prevented from entering the body or, if they do enter, are dealt with before they can cause symptoms of disease. </a:t>
            </a:r>
          </a:p>
          <a:p>
            <a:pPr marL="285750" indent="-285750">
              <a:buFont typeface="Arial" panose="020B0604020202020204" pitchFamily="34" charset="0"/>
              <a:buChar char="•"/>
            </a:pPr>
            <a:r>
              <a:rPr lang="en-AU" sz="2400" dirty="0">
                <a:latin typeface="Avenir Book" panose="02000503020000020003" pitchFamily="2" charset="0"/>
              </a:rPr>
              <a:t>Even if we do become the body's defence system often enables recovery without any medical intervention.</a:t>
            </a:r>
          </a:p>
          <a:p>
            <a:endParaRPr lang="en-US" dirty="0"/>
          </a:p>
        </p:txBody>
      </p:sp>
      <p:pic>
        <p:nvPicPr>
          <p:cNvPr id="2050" name="Picture 2" descr="Premium Vector | Immune system concept with woman and shield">
            <a:extLst>
              <a:ext uri="{FF2B5EF4-FFF2-40B4-BE49-F238E27FC236}">
                <a16:creationId xmlns:a16="http://schemas.microsoft.com/office/drawing/2014/main" id="{460A140B-7D9C-5D30-C88E-013DF91C02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9975" y="1528993"/>
            <a:ext cx="5321467" cy="3544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077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12AAC59-5454-57E6-1CD5-5C94852248DC}"/>
              </a:ext>
            </a:extLst>
          </p:cNvPr>
          <p:cNvSpPr>
            <a:spLocks noGrp="1"/>
          </p:cNvSpPr>
          <p:nvPr>
            <p:ph type="body" sz="quarter" idx="13"/>
          </p:nvPr>
        </p:nvSpPr>
        <p:spPr/>
        <p:txBody>
          <a:bodyPr/>
          <a:lstStyle/>
          <a:p>
            <a:r>
              <a:rPr lang="en-AU" dirty="0"/>
              <a:t>Pathogens</a:t>
            </a:r>
            <a:endParaRPr lang="en-US" dirty="0"/>
          </a:p>
        </p:txBody>
      </p:sp>
      <p:sp>
        <p:nvSpPr>
          <p:cNvPr id="3" name="Text Placeholder 2">
            <a:extLst>
              <a:ext uri="{FF2B5EF4-FFF2-40B4-BE49-F238E27FC236}">
                <a16:creationId xmlns:a16="http://schemas.microsoft.com/office/drawing/2014/main" id="{9451D137-C022-93C1-7CCD-634FD468B79D}"/>
              </a:ext>
            </a:extLst>
          </p:cNvPr>
          <p:cNvSpPr>
            <a:spLocks noGrp="1"/>
          </p:cNvSpPr>
          <p:nvPr>
            <p:ph type="body" sz="quarter" idx="15"/>
          </p:nvPr>
        </p:nvSpPr>
        <p:spPr>
          <a:xfrm>
            <a:off x="280558" y="1330036"/>
            <a:ext cx="11506476" cy="5265881"/>
          </a:xfrm>
        </p:spPr>
        <p:txBody>
          <a:bodyPr>
            <a:normAutofit/>
          </a:bodyPr>
          <a:lstStyle/>
          <a:p>
            <a:r>
              <a:rPr lang="en-AU" sz="2400" dirty="0">
                <a:latin typeface="Avenir Book" panose="02000503020000020003" pitchFamily="2" charset="0"/>
              </a:rPr>
              <a:t>The most common pathogens that affect the human body are bacteria and viruses, although fungi and animal parasites can also be involved. We will be focusing on bacteria and viruses.</a:t>
            </a:r>
            <a:endParaRPr lang="en-US" sz="2400" dirty="0">
              <a:latin typeface="Avenir Book" panose="02000503020000020003" pitchFamily="2" charset="0"/>
            </a:endParaRPr>
          </a:p>
        </p:txBody>
      </p:sp>
      <p:pic>
        <p:nvPicPr>
          <p:cNvPr id="3074" name="Picture 2" descr="What is a Pathogen? 4 Types and How They Spread Disease">
            <a:extLst>
              <a:ext uri="{FF2B5EF4-FFF2-40B4-BE49-F238E27FC236}">
                <a16:creationId xmlns:a16="http://schemas.microsoft.com/office/drawing/2014/main" id="{8521DB30-D490-16DF-BC70-26FDD98EEC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966" y="2452306"/>
            <a:ext cx="5084956" cy="381371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hy COVID-19 patients have more pathogenic bacteria in their noses">
            <a:extLst>
              <a:ext uri="{FF2B5EF4-FFF2-40B4-BE49-F238E27FC236}">
                <a16:creationId xmlns:a16="http://schemas.microsoft.com/office/drawing/2014/main" id="{849EC18F-A807-392B-568E-5FE2445309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4330" y="2452306"/>
            <a:ext cx="6109892" cy="3813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222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F22526-0E13-985F-A180-1F2DD90B2E70}"/>
              </a:ext>
            </a:extLst>
          </p:cNvPr>
          <p:cNvSpPr>
            <a:spLocks noGrp="1"/>
          </p:cNvSpPr>
          <p:nvPr>
            <p:ph type="body" sz="quarter" idx="13"/>
          </p:nvPr>
        </p:nvSpPr>
        <p:spPr/>
        <p:txBody>
          <a:bodyPr/>
          <a:lstStyle/>
          <a:p>
            <a:r>
              <a:rPr lang="en-AU" dirty="0"/>
              <a:t>Bacteria</a:t>
            </a:r>
            <a:endParaRPr lang="en-US" dirty="0"/>
          </a:p>
        </p:txBody>
      </p:sp>
      <p:sp>
        <p:nvSpPr>
          <p:cNvPr id="3" name="Text Placeholder 2">
            <a:extLst>
              <a:ext uri="{FF2B5EF4-FFF2-40B4-BE49-F238E27FC236}">
                <a16:creationId xmlns:a16="http://schemas.microsoft.com/office/drawing/2014/main" id="{630566C3-2AF1-3986-C116-E668F0540B59}"/>
              </a:ext>
            </a:extLst>
          </p:cNvPr>
          <p:cNvSpPr>
            <a:spLocks noGrp="1"/>
          </p:cNvSpPr>
          <p:nvPr>
            <p:ph type="body" sz="quarter" idx="15"/>
          </p:nvPr>
        </p:nvSpPr>
        <p:spPr>
          <a:xfrm>
            <a:off x="280558" y="1330036"/>
            <a:ext cx="11506476" cy="5265881"/>
          </a:xfrm>
        </p:spPr>
        <p:txBody>
          <a:bodyPr/>
          <a:lstStyle/>
          <a:p>
            <a:r>
              <a:rPr lang="en-AU" sz="2000" dirty="0">
                <a:latin typeface="Avenir Book" panose="02000503020000020003" pitchFamily="2" charset="0"/>
              </a:rPr>
              <a:t>Bacteria are prokaryote, unicellular organisms with a simple internal structure. They lack a nucleus their DNA either floats freely in the cytoplasm or is in the form of circular plasmids</a:t>
            </a:r>
            <a:r>
              <a:rPr lang="en-AU" sz="2400" dirty="0">
                <a:latin typeface="Avenir Book" panose="02000503020000020003" pitchFamily="2" charset="0"/>
              </a:rPr>
              <a:t>.</a:t>
            </a:r>
          </a:p>
          <a:p>
            <a:endParaRPr lang="en-US" dirty="0"/>
          </a:p>
        </p:txBody>
      </p:sp>
      <p:pic>
        <p:nvPicPr>
          <p:cNvPr id="5" name="Picture 4" descr="Diagram&#10;&#10;Description automatically generated">
            <a:extLst>
              <a:ext uri="{FF2B5EF4-FFF2-40B4-BE49-F238E27FC236}">
                <a16:creationId xmlns:a16="http://schemas.microsoft.com/office/drawing/2014/main" id="{F9695721-EA16-B7B9-13F4-C0AB9BB83E56}"/>
              </a:ext>
            </a:extLst>
          </p:cNvPr>
          <p:cNvPicPr>
            <a:picLocks noChangeAspect="1"/>
          </p:cNvPicPr>
          <p:nvPr/>
        </p:nvPicPr>
        <p:blipFill>
          <a:blip r:embed="rId2"/>
          <a:stretch>
            <a:fillRect/>
          </a:stretch>
        </p:blipFill>
        <p:spPr>
          <a:xfrm>
            <a:off x="1853849" y="1983124"/>
            <a:ext cx="8484302" cy="4727730"/>
          </a:xfrm>
          <a:prstGeom prst="rect">
            <a:avLst/>
          </a:prstGeom>
        </p:spPr>
      </p:pic>
    </p:spTree>
    <p:extLst>
      <p:ext uri="{BB962C8B-B14F-4D97-AF65-F5344CB8AC3E}">
        <p14:creationId xmlns:p14="http://schemas.microsoft.com/office/powerpoint/2010/main" val="767823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62DD00-6BDA-D5B3-BDDE-EC6824EB60F6}"/>
              </a:ext>
            </a:extLst>
          </p:cNvPr>
          <p:cNvSpPr>
            <a:spLocks noGrp="1"/>
          </p:cNvSpPr>
          <p:nvPr>
            <p:ph type="body" sz="quarter" idx="13"/>
          </p:nvPr>
        </p:nvSpPr>
        <p:spPr/>
        <p:txBody>
          <a:bodyPr/>
          <a:lstStyle/>
          <a:p>
            <a:r>
              <a:rPr lang="en-US" dirty="0"/>
              <a:t>Bacteria</a:t>
            </a:r>
          </a:p>
        </p:txBody>
      </p:sp>
      <p:sp>
        <p:nvSpPr>
          <p:cNvPr id="3" name="Text Placeholder 2">
            <a:extLst>
              <a:ext uri="{FF2B5EF4-FFF2-40B4-BE49-F238E27FC236}">
                <a16:creationId xmlns:a16="http://schemas.microsoft.com/office/drawing/2014/main" id="{20D8D12E-9909-F849-4FCC-A9CF812106FB}"/>
              </a:ext>
            </a:extLst>
          </p:cNvPr>
          <p:cNvSpPr>
            <a:spLocks noGrp="1"/>
          </p:cNvSpPr>
          <p:nvPr>
            <p:ph type="body" sz="quarter" idx="15"/>
          </p:nvPr>
        </p:nvSpPr>
        <p:spPr>
          <a:xfrm>
            <a:off x="149956" y="1528994"/>
            <a:ext cx="5441794" cy="5066923"/>
          </a:xfrm>
        </p:spPr>
        <p:txBody>
          <a:bodyPr>
            <a:normAutofit/>
          </a:bodyPr>
          <a:lstStyle/>
          <a:p>
            <a:pPr marL="285750" indent="-285750">
              <a:buFont typeface="Arial" panose="020B0604020202020204" pitchFamily="34" charset="0"/>
              <a:buChar char="•"/>
            </a:pPr>
            <a:r>
              <a:rPr lang="en-AU" sz="2000" dirty="0">
                <a:latin typeface="Avenir Book" panose="02000503020000020003" pitchFamily="2" charset="0"/>
              </a:rPr>
              <a:t>The great majority of bacteria are harmless to humans; they are non-pathogenic. </a:t>
            </a:r>
          </a:p>
          <a:p>
            <a:pPr marL="285750" indent="-285750">
              <a:buFont typeface="Arial" panose="020B0604020202020204" pitchFamily="34" charset="0"/>
              <a:buChar char="•"/>
            </a:pPr>
            <a:r>
              <a:rPr lang="en-AU" sz="2000" dirty="0">
                <a:latin typeface="Avenir Book" panose="02000503020000020003" pitchFamily="2" charset="0"/>
              </a:rPr>
              <a:t>Indeed, many bacteria are essential to life on Earth, through their role in the decomposition of organic material and the cycling of the elements. </a:t>
            </a:r>
          </a:p>
          <a:p>
            <a:pPr marL="285750" indent="-285750">
              <a:buFont typeface="Arial" panose="020B0604020202020204" pitchFamily="34" charset="0"/>
              <a:buChar char="•"/>
            </a:pPr>
            <a:r>
              <a:rPr lang="en-AU" sz="2000" dirty="0">
                <a:latin typeface="Avenir Book" panose="02000503020000020003" pitchFamily="2" charset="0"/>
              </a:rPr>
              <a:t>Some bacteria are used in industrial processes. </a:t>
            </a:r>
          </a:p>
          <a:p>
            <a:pPr marL="285750" indent="-285750">
              <a:buFont typeface="Arial" panose="020B0604020202020204" pitchFamily="34" charset="0"/>
              <a:buChar char="•"/>
            </a:pPr>
            <a:r>
              <a:rPr lang="en-AU" sz="2000" dirty="0">
                <a:latin typeface="Avenir Book" panose="02000503020000020003" pitchFamily="2" charset="0"/>
              </a:rPr>
              <a:t>For example, Lactobacilli are used to make yoghurt and sauerkraut; and the flavour of cheeses depends on the types of bacteria used in their production.</a:t>
            </a:r>
            <a:endParaRPr lang="en-US" sz="2000" dirty="0">
              <a:latin typeface="Avenir Book" panose="02000503020000020003" pitchFamily="2" charset="0"/>
            </a:endParaRPr>
          </a:p>
        </p:txBody>
      </p:sp>
      <p:pic>
        <p:nvPicPr>
          <p:cNvPr id="4" name="Picture 3" descr="Diagram&#10;&#10;Description automatically generated">
            <a:extLst>
              <a:ext uri="{FF2B5EF4-FFF2-40B4-BE49-F238E27FC236}">
                <a16:creationId xmlns:a16="http://schemas.microsoft.com/office/drawing/2014/main" id="{03045063-4C03-C577-A409-59A5D2F20851}"/>
              </a:ext>
            </a:extLst>
          </p:cNvPr>
          <p:cNvPicPr>
            <a:picLocks noChangeAspect="1"/>
          </p:cNvPicPr>
          <p:nvPr/>
        </p:nvPicPr>
        <p:blipFill>
          <a:blip r:embed="rId2"/>
          <a:stretch>
            <a:fillRect/>
          </a:stretch>
        </p:blipFill>
        <p:spPr>
          <a:xfrm>
            <a:off x="5502290" y="1601281"/>
            <a:ext cx="6689710" cy="3727725"/>
          </a:xfrm>
          <a:prstGeom prst="rect">
            <a:avLst/>
          </a:prstGeom>
        </p:spPr>
      </p:pic>
    </p:spTree>
    <p:extLst>
      <p:ext uri="{BB962C8B-B14F-4D97-AF65-F5344CB8AC3E}">
        <p14:creationId xmlns:p14="http://schemas.microsoft.com/office/powerpoint/2010/main" val="2221271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BF5625D-792A-39E6-8ACA-0363BB348204}"/>
              </a:ext>
            </a:extLst>
          </p:cNvPr>
          <p:cNvSpPr>
            <a:spLocks noGrp="1"/>
          </p:cNvSpPr>
          <p:nvPr>
            <p:ph type="body" sz="quarter" idx="13"/>
          </p:nvPr>
        </p:nvSpPr>
        <p:spPr/>
        <p:txBody>
          <a:bodyPr/>
          <a:lstStyle/>
          <a:p>
            <a:r>
              <a:rPr lang="en-US" dirty="0"/>
              <a:t>Bacteria </a:t>
            </a:r>
          </a:p>
        </p:txBody>
      </p:sp>
      <p:sp>
        <p:nvSpPr>
          <p:cNvPr id="3" name="Text Placeholder 2">
            <a:extLst>
              <a:ext uri="{FF2B5EF4-FFF2-40B4-BE49-F238E27FC236}">
                <a16:creationId xmlns:a16="http://schemas.microsoft.com/office/drawing/2014/main" id="{A558AE49-DD08-6664-2627-CFF3AE43A108}"/>
              </a:ext>
            </a:extLst>
          </p:cNvPr>
          <p:cNvSpPr>
            <a:spLocks noGrp="1"/>
          </p:cNvSpPr>
          <p:nvPr>
            <p:ph type="body" sz="quarter" idx="15"/>
          </p:nvPr>
        </p:nvSpPr>
        <p:spPr>
          <a:xfrm>
            <a:off x="280558" y="1266170"/>
            <a:ext cx="8685023" cy="5335352"/>
          </a:xfrm>
        </p:spPr>
        <p:txBody>
          <a:bodyPr>
            <a:normAutofit/>
          </a:bodyPr>
          <a:lstStyle/>
          <a:p>
            <a:pPr marL="342900" indent="-342900">
              <a:buFont typeface="Arial" panose="020B0604020202020204" pitchFamily="34" charset="0"/>
              <a:buChar char="•"/>
            </a:pPr>
            <a:r>
              <a:rPr lang="en-AU" sz="2400" dirty="0">
                <a:latin typeface="Avenir Book" panose="02000503020000020003" pitchFamily="2" charset="0"/>
              </a:rPr>
              <a:t>Huge numbers of bacteria live on our skin, in our alimentary canal and in other parts of the body. </a:t>
            </a:r>
          </a:p>
          <a:p>
            <a:pPr marL="342900" indent="-342900">
              <a:buFont typeface="Arial" panose="020B0604020202020204" pitchFamily="34" charset="0"/>
              <a:buChar char="•"/>
            </a:pPr>
            <a:r>
              <a:rPr lang="en-AU" sz="2400" dirty="0">
                <a:latin typeface="Avenir Book" panose="02000503020000020003" pitchFamily="2" charset="0"/>
              </a:rPr>
              <a:t>In the armpit of an adult male, there are more than two million bacteria per square centimetre skin surface, and in the intestines, bacteria are so numerous that they form a major part of the digestion process. </a:t>
            </a:r>
          </a:p>
          <a:p>
            <a:pPr marL="342900" indent="-342900">
              <a:buFont typeface="Arial" panose="020B0604020202020204" pitchFamily="34" charset="0"/>
              <a:buChar char="•"/>
            </a:pPr>
            <a:r>
              <a:rPr lang="en-AU" sz="2400" dirty="0">
                <a:latin typeface="Avenir Book" panose="02000503020000020003" pitchFamily="2" charset="0"/>
              </a:rPr>
              <a:t>These bacteria have no ill effect on our health, yet there are others that may cause illness or death when present in relatively small numbers. </a:t>
            </a:r>
          </a:p>
          <a:p>
            <a:pPr marL="342900" indent="-342900">
              <a:buFont typeface="Arial" panose="020B0604020202020204" pitchFamily="34" charset="0"/>
              <a:buChar char="•"/>
            </a:pPr>
            <a:r>
              <a:rPr lang="en-AU" sz="2400" dirty="0">
                <a:latin typeface="Avenir Book" panose="02000503020000020003" pitchFamily="2" charset="0"/>
              </a:rPr>
              <a:t>Bacteria affect the body differently, depending on the species. Effects may include producing toxins or inducing an allergic response.</a:t>
            </a:r>
            <a:endParaRPr lang="en-US" sz="2400" dirty="0">
              <a:latin typeface="Avenir Book" panose="02000503020000020003" pitchFamily="2" charset="0"/>
            </a:endParaRPr>
          </a:p>
        </p:txBody>
      </p:sp>
      <p:pic>
        <p:nvPicPr>
          <p:cNvPr id="4098" name="Picture 2" descr="Good bacteria and bad bacteria in human intestines">
            <a:extLst>
              <a:ext uri="{FF2B5EF4-FFF2-40B4-BE49-F238E27FC236}">
                <a16:creationId xmlns:a16="http://schemas.microsoft.com/office/drawing/2014/main" id="{F72DEEE9-6A7F-A169-691D-5B73B0397F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683"/>
          <a:stretch/>
        </p:blipFill>
        <p:spPr bwMode="auto">
          <a:xfrm>
            <a:off x="8720253" y="1790869"/>
            <a:ext cx="3471747" cy="3461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7245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C3E536-231E-6245-7FDE-8868A69707BB}"/>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684E4406-2E25-C13D-6ACF-9469D746368E}"/>
              </a:ext>
            </a:extLst>
          </p:cNvPr>
          <p:cNvSpPr>
            <a:spLocks noGrp="1"/>
          </p:cNvSpPr>
          <p:nvPr>
            <p:ph type="body" sz="quarter" idx="15"/>
          </p:nvPr>
        </p:nvSpPr>
        <p:spPr>
          <a:xfrm>
            <a:off x="280557" y="4401017"/>
            <a:ext cx="11506476" cy="2356622"/>
          </a:xfrm>
        </p:spPr>
        <p:txBody>
          <a:bodyPr>
            <a:normAutofit fontScale="77500" lnSpcReduction="20000"/>
          </a:bodyPr>
          <a:lstStyle/>
          <a:p>
            <a:pPr marL="342900" indent="-342900">
              <a:lnSpc>
                <a:spcPct val="120000"/>
              </a:lnSpc>
              <a:buFont typeface="Arial" panose="020B0604020202020204" pitchFamily="34" charset="0"/>
              <a:buChar char="•"/>
            </a:pPr>
            <a:r>
              <a:rPr lang="en-AU" sz="2400" dirty="0">
                <a:latin typeface="Avenir Book" panose="02000503020000020003" pitchFamily="2" charset="0"/>
              </a:rPr>
              <a:t>Bacteria are very small, with the average diameter ranging from 0.5 to 2.0 um (micrometres: 1 pm-1x 10 ml and length ranging from 1 to 10 um. This means that bacteria can be seen only with microscope Under the light microscope, about all that can be seen of bacteria is the shape of their cells, which is used to classify them. </a:t>
            </a:r>
          </a:p>
          <a:p>
            <a:pPr marL="342900" indent="-342900">
              <a:lnSpc>
                <a:spcPct val="120000"/>
              </a:lnSpc>
              <a:buFont typeface="Arial" panose="020B0604020202020204" pitchFamily="34" charset="0"/>
              <a:buChar char="•"/>
            </a:pPr>
            <a:r>
              <a:rPr lang="en-AU" sz="2400" dirty="0">
                <a:latin typeface="Avenir Book" panose="02000503020000020003" pitchFamily="2" charset="0"/>
              </a:rPr>
              <a:t>To identify a bacterium, it is first grown on an agar plate or growth medium in specific conditions. </a:t>
            </a:r>
          </a:p>
          <a:p>
            <a:pPr marL="342900" indent="-342900">
              <a:lnSpc>
                <a:spcPct val="120000"/>
              </a:lnSpc>
              <a:buFont typeface="Arial" panose="020B0604020202020204" pitchFamily="34" charset="0"/>
              <a:buChar char="•"/>
            </a:pPr>
            <a:r>
              <a:rPr lang="en-AU" sz="2400" dirty="0">
                <a:latin typeface="Avenir Book" panose="02000503020000020003" pitchFamily="2" charset="0"/>
              </a:rPr>
              <a:t>Then it can be stained and viewed under a microscope.</a:t>
            </a:r>
            <a:br>
              <a:rPr lang="en-AU" dirty="0"/>
            </a:br>
            <a:endParaRPr lang="en-US" dirty="0"/>
          </a:p>
        </p:txBody>
      </p:sp>
      <p:pic>
        <p:nvPicPr>
          <p:cNvPr id="5" name="Picture 4" descr="Text&#10;&#10;Description automatically generated">
            <a:extLst>
              <a:ext uri="{FF2B5EF4-FFF2-40B4-BE49-F238E27FC236}">
                <a16:creationId xmlns:a16="http://schemas.microsoft.com/office/drawing/2014/main" id="{E5BF2A20-BE0F-4FC2-B379-9F7E750EB0AD}"/>
              </a:ext>
            </a:extLst>
          </p:cNvPr>
          <p:cNvPicPr>
            <a:picLocks noChangeAspect="1"/>
          </p:cNvPicPr>
          <p:nvPr/>
        </p:nvPicPr>
        <p:blipFill>
          <a:blip r:embed="rId2"/>
          <a:stretch>
            <a:fillRect/>
          </a:stretch>
        </p:blipFill>
        <p:spPr>
          <a:xfrm>
            <a:off x="280557" y="593463"/>
            <a:ext cx="11630886" cy="3807554"/>
          </a:xfrm>
          <a:prstGeom prst="rect">
            <a:avLst/>
          </a:prstGeom>
        </p:spPr>
      </p:pic>
    </p:spTree>
    <p:extLst>
      <p:ext uri="{BB962C8B-B14F-4D97-AF65-F5344CB8AC3E}">
        <p14:creationId xmlns:p14="http://schemas.microsoft.com/office/powerpoint/2010/main" val="4032407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CCBA65-D2D6-67E5-418B-26DF3E25299F}"/>
              </a:ext>
            </a:extLst>
          </p:cNvPr>
          <p:cNvSpPr>
            <a:spLocks noGrp="1"/>
          </p:cNvSpPr>
          <p:nvPr>
            <p:ph type="body" sz="quarter" idx="13"/>
          </p:nvPr>
        </p:nvSpPr>
        <p:spPr/>
        <p:txBody>
          <a:bodyPr/>
          <a:lstStyle/>
          <a:p>
            <a:endParaRPr lang="en-US"/>
          </a:p>
        </p:txBody>
      </p:sp>
      <p:pic>
        <p:nvPicPr>
          <p:cNvPr id="5" name="Picture 4" descr="Text&#10;&#10;Description automatically generated">
            <a:extLst>
              <a:ext uri="{FF2B5EF4-FFF2-40B4-BE49-F238E27FC236}">
                <a16:creationId xmlns:a16="http://schemas.microsoft.com/office/drawing/2014/main" id="{FE990139-EF7E-74FF-A847-8026E40EA3E2}"/>
              </a:ext>
            </a:extLst>
          </p:cNvPr>
          <p:cNvPicPr>
            <a:picLocks noChangeAspect="1"/>
          </p:cNvPicPr>
          <p:nvPr/>
        </p:nvPicPr>
        <p:blipFill>
          <a:blip r:embed="rId2"/>
          <a:stretch>
            <a:fillRect/>
          </a:stretch>
        </p:blipFill>
        <p:spPr>
          <a:xfrm>
            <a:off x="280557" y="805337"/>
            <a:ext cx="11630885" cy="5768544"/>
          </a:xfrm>
          <a:prstGeom prst="rect">
            <a:avLst/>
          </a:prstGeom>
        </p:spPr>
      </p:pic>
    </p:spTree>
    <p:extLst>
      <p:ext uri="{BB962C8B-B14F-4D97-AF65-F5344CB8AC3E}">
        <p14:creationId xmlns:p14="http://schemas.microsoft.com/office/powerpoint/2010/main" val="720174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1F024E-DBB3-CF67-69F5-84541C39DB97}"/>
              </a:ext>
            </a:extLst>
          </p:cNvPr>
          <p:cNvSpPr>
            <a:spLocks noGrp="1"/>
          </p:cNvSpPr>
          <p:nvPr>
            <p:ph type="body" sz="quarter" idx="13"/>
          </p:nvPr>
        </p:nvSpPr>
        <p:spPr/>
        <p:txBody>
          <a:bodyPr/>
          <a:lstStyle/>
          <a:p>
            <a:r>
              <a:rPr lang="en-US" dirty="0"/>
              <a:t>Viruses</a:t>
            </a:r>
          </a:p>
        </p:txBody>
      </p:sp>
      <p:sp>
        <p:nvSpPr>
          <p:cNvPr id="3" name="Text Placeholder 2">
            <a:extLst>
              <a:ext uri="{FF2B5EF4-FFF2-40B4-BE49-F238E27FC236}">
                <a16:creationId xmlns:a16="http://schemas.microsoft.com/office/drawing/2014/main" id="{DA7D5638-0DDB-07D4-BEAA-81E70A161F8C}"/>
              </a:ext>
            </a:extLst>
          </p:cNvPr>
          <p:cNvSpPr>
            <a:spLocks noGrp="1"/>
          </p:cNvSpPr>
          <p:nvPr>
            <p:ph type="body" sz="quarter" idx="15"/>
          </p:nvPr>
        </p:nvSpPr>
        <p:spPr>
          <a:xfrm>
            <a:off x="280558" y="1330036"/>
            <a:ext cx="11506476" cy="5066923"/>
          </a:xfrm>
        </p:spPr>
        <p:txBody>
          <a:bodyPr>
            <a:normAutofit/>
          </a:bodyPr>
          <a:lstStyle/>
          <a:p>
            <a:r>
              <a:rPr lang="en-AU" sz="2000" dirty="0">
                <a:latin typeface="Avenir Book" panose="02000503020000020003" pitchFamily="2" charset="0"/>
              </a:rPr>
              <a:t>The discovery, by scientists such as Pasteur and Koch in the late 19th century, that some diseases were caused by bacteria was a great step forward for medical science. There were, however, certain diseases for which no bacterial cause could be found. </a:t>
            </a:r>
          </a:p>
          <a:p>
            <a:r>
              <a:rPr lang="en-AU" sz="2000" dirty="0">
                <a:latin typeface="Avenir Book" panose="02000503020000020003" pitchFamily="2" charset="0"/>
              </a:rPr>
              <a:t>For example, Pasteur tried in vain to find a bacterium that caused the disease rabies. We now know that the causes of these diseases are viruses.</a:t>
            </a:r>
            <a:endParaRPr lang="en-US" sz="2000" dirty="0">
              <a:latin typeface="Avenir Book" panose="02000503020000020003" pitchFamily="2" charset="0"/>
            </a:endParaRPr>
          </a:p>
        </p:txBody>
      </p:sp>
      <p:pic>
        <p:nvPicPr>
          <p:cNvPr id="5122" name="Picture 2" descr="A Virus Is Not a Thing, Part 1: The case for a process view of viruses |  Philosophy, Logic and Scientific Method">
            <a:extLst>
              <a:ext uri="{FF2B5EF4-FFF2-40B4-BE49-F238E27FC236}">
                <a16:creationId xmlns:a16="http://schemas.microsoft.com/office/drawing/2014/main" id="{823ADDF2-FA9F-AD89-20E9-1F552558DE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5838" y="3207274"/>
            <a:ext cx="6689182" cy="3344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4710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688965-CD0E-1918-46ED-F6A68F5B38C0}"/>
              </a:ext>
            </a:extLst>
          </p:cNvPr>
          <p:cNvSpPr>
            <a:spLocks noGrp="1"/>
          </p:cNvSpPr>
          <p:nvPr>
            <p:ph type="body" sz="quarter" idx="13"/>
          </p:nvPr>
        </p:nvSpPr>
        <p:spPr/>
        <p:txBody>
          <a:bodyPr/>
          <a:lstStyle/>
          <a:p>
            <a:r>
              <a:rPr lang="en-US" dirty="0"/>
              <a:t>Viruses </a:t>
            </a:r>
          </a:p>
        </p:txBody>
      </p:sp>
      <p:sp>
        <p:nvSpPr>
          <p:cNvPr id="3" name="Text Placeholder 2">
            <a:extLst>
              <a:ext uri="{FF2B5EF4-FFF2-40B4-BE49-F238E27FC236}">
                <a16:creationId xmlns:a16="http://schemas.microsoft.com/office/drawing/2014/main" id="{E6FFE0D8-99B0-CFBE-232D-B1F25D325C93}"/>
              </a:ext>
            </a:extLst>
          </p:cNvPr>
          <p:cNvSpPr>
            <a:spLocks noGrp="1"/>
          </p:cNvSpPr>
          <p:nvPr>
            <p:ph type="body" sz="quarter" idx="15"/>
          </p:nvPr>
        </p:nvSpPr>
        <p:spPr>
          <a:xfrm>
            <a:off x="280558" y="1528994"/>
            <a:ext cx="7461419" cy="5066923"/>
          </a:xfrm>
        </p:spPr>
        <p:txBody>
          <a:bodyPr>
            <a:normAutofit fontScale="85000" lnSpcReduction="20000"/>
          </a:bodyPr>
          <a:lstStyle/>
          <a:p>
            <a:pPr marL="342900" indent="-342900">
              <a:lnSpc>
                <a:spcPct val="120000"/>
              </a:lnSpc>
              <a:buFont typeface="Arial" panose="020B0604020202020204" pitchFamily="34" charset="0"/>
              <a:buChar char="•"/>
            </a:pPr>
            <a:r>
              <a:rPr lang="en-AU" sz="2400" dirty="0">
                <a:latin typeface="Avenir Book" panose="02000503020000020003" pitchFamily="2" charset="0"/>
              </a:rPr>
              <a:t>Viruses are from 20 to 750nm (nanometres, 1 nm = 1 x 103 m) in size, which is too small to be seen with an ordinary light microscope. It wasn't until 1938 that scientists used an electron microscope to first see viruses. </a:t>
            </a:r>
          </a:p>
          <a:p>
            <a:pPr marL="342900" indent="-342900">
              <a:lnSpc>
                <a:spcPct val="120000"/>
              </a:lnSpc>
              <a:buFont typeface="Arial" panose="020B0604020202020204" pitchFamily="34" charset="0"/>
              <a:buChar char="•"/>
            </a:pPr>
            <a:endParaRPr lang="en-AU" sz="2400" dirty="0">
              <a:latin typeface="Avenir Book" panose="02000503020000020003" pitchFamily="2" charset="0"/>
            </a:endParaRPr>
          </a:p>
          <a:p>
            <a:pPr marL="342900" indent="-342900">
              <a:lnSpc>
                <a:spcPct val="120000"/>
              </a:lnSpc>
              <a:buFont typeface="Arial" panose="020B0604020202020204" pitchFamily="34" charset="0"/>
              <a:buChar char="•"/>
            </a:pPr>
            <a:r>
              <a:rPr lang="en-AU" sz="2400" dirty="0">
                <a:latin typeface="Avenir Book" panose="02000503020000020003" pitchFamily="2" charset="0"/>
              </a:rPr>
              <a:t>Subsequent studies showed that viruses had distinctive structures and differing sizes. All were found to contain genetic material in the form of a molecule of either DNA (deoxyribonucleic acid) or RNA (ribonucleic acid), but they never contained both. </a:t>
            </a:r>
          </a:p>
          <a:p>
            <a:pPr marL="342900" indent="-342900">
              <a:lnSpc>
                <a:spcPct val="120000"/>
              </a:lnSpc>
              <a:buFont typeface="Arial" panose="020B0604020202020204" pitchFamily="34" charset="0"/>
              <a:buChar char="•"/>
            </a:pPr>
            <a:endParaRPr lang="en-AU" sz="2400" dirty="0">
              <a:latin typeface="Avenir Book" panose="02000503020000020003" pitchFamily="2" charset="0"/>
            </a:endParaRPr>
          </a:p>
          <a:p>
            <a:pPr marL="342900" indent="-342900">
              <a:lnSpc>
                <a:spcPct val="120000"/>
              </a:lnSpc>
              <a:buFont typeface="Arial" panose="020B0604020202020204" pitchFamily="34" charset="0"/>
              <a:buChar char="•"/>
            </a:pPr>
            <a:r>
              <a:rPr lang="en-AU" sz="2400" dirty="0">
                <a:latin typeface="Avenir Book" panose="02000503020000020003" pitchFamily="2" charset="0"/>
              </a:rPr>
              <a:t>The molecule of DNA or RNA is surrounded by a coat of protein. Some viruses also have an external lipid envelope.</a:t>
            </a:r>
          </a:p>
          <a:p>
            <a:br>
              <a:rPr lang="en-AU" dirty="0"/>
            </a:br>
            <a:endParaRPr lang="en-US" dirty="0"/>
          </a:p>
        </p:txBody>
      </p:sp>
      <p:pic>
        <p:nvPicPr>
          <p:cNvPr id="4" name="Picture 3" descr="Diagram&#10;&#10;Description automatically generated">
            <a:extLst>
              <a:ext uri="{FF2B5EF4-FFF2-40B4-BE49-F238E27FC236}">
                <a16:creationId xmlns:a16="http://schemas.microsoft.com/office/drawing/2014/main" id="{66508866-7A4C-BBC7-C382-362C26804A5D}"/>
              </a:ext>
            </a:extLst>
          </p:cNvPr>
          <p:cNvPicPr>
            <a:picLocks noChangeAspect="1"/>
          </p:cNvPicPr>
          <p:nvPr/>
        </p:nvPicPr>
        <p:blipFill>
          <a:blip r:embed="rId2"/>
          <a:stretch>
            <a:fillRect/>
          </a:stretch>
        </p:blipFill>
        <p:spPr>
          <a:xfrm>
            <a:off x="7842338" y="1330036"/>
            <a:ext cx="3920171" cy="4428342"/>
          </a:xfrm>
          <a:prstGeom prst="rect">
            <a:avLst/>
          </a:prstGeom>
        </p:spPr>
      </p:pic>
    </p:spTree>
    <p:extLst>
      <p:ext uri="{BB962C8B-B14F-4D97-AF65-F5344CB8AC3E}">
        <p14:creationId xmlns:p14="http://schemas.microsoft.com/office/powerpoint/2010/main" val="2903970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591419FE-2005-6F51-C211-D0588786195D}"/>
              </a:ext>
            </a:extLst>
          </p:cNvPr>
          <p:cNvPicPr>
            <a:picLocks noChangeAspect="1"/>
          </p:cNvPicPr>
          <p:nvPr/>
        </p:nvPicPr>
        <p:blipFill>
          <a:blip r:embed="rId2"/>
          <a:stretch>
            <a:fillRect/>
          </a:stretch>
        </p:blipFill>
        <p:spPr>
          <a:xfrm>
            <a:off x="3060492" y="0"/>
            <a:ext cx="6071016" cy="6858000"/>
          </a:xfrm>
          <a:prstGeom prst="rect">
            <a:avLst/>
          </a:prstGeom>
        </p:spPr>
      </p:pic>
    </p:spTree>
    <p:extLst>
      <p:ext uri="{BB962C8B-B14F-4D97-AF65-F5344CB8AC3E}">
        <p14:creationId xmlns:p14="http://schemas.microsoft.com/office/powerpoint/2010/main" val="482489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570F28-8EBB-C0A9-6B45-9EA8DD146E1B}"/>
              </a:ext>
            </a:extLst>
          </p:cNvPr>
          <p:cNvSpPr>
            <a:spLocks noGrp="1"/>
          </p:cNvSpPr>
          <p:nvPr>
            <p:ph type="body" sz="quarter" idx="13"/>
          </p:nvPr>
        </p:nvSpPr>
        <p:spPr/>
        <p:txBody>
          <a:bodyPr/>
          <a:lstStyle/>
          <a:p>
            <a:r>
              <a:rPr lang="en-US" dirty="0"/>
              <a:t>Viruses</a:t>
            </a:r>
          </a:p>
        </p:txBody>
      </p:sp>
      <p:sp>
        <p:nvSpPr>
          <p:cNvPr id="3" name="Text Placeholder 2">
            <a:extLst>
              <a:ext uri="{FF2B5EF4-FFF2-40B4-BE49-F238E27FC236}">
                <a16:creationId xmlns:a16="http://schemas.microsoft.com/office/drawing/2014/main" id="{2ADE2596-000B-8AFE-81EB-87C269917B06}"/>
              </a:ext>
            </a:extLst>
          </p:cNvPr>
          <p:cNvSpPr>
            <a:spLocks noGrp="1"/>
          </p:cNvSpPr>
          <p:nvPr>
            <p:ph type="body" sz="quarter" idx="15"/>
          </p:nvPr>
        </p:nvSpPr>
        <p:spPr>
          <a:xfrm>
            <a:off x="280559" y="1528994"/>
            <a:ext cx="6640942" cy="5066923"/>
          </a:xfrm>
        </p:spPr>
        <p:txBody>
          <a:bodyPr>
            <a:normAutofit lnSpcReduction="10000"/>
          </a:bodyPr>
          <a:lstStyle/>
          <a:p>
            <a:pPr marL="285750" indent="-285750">
              <a:buFont typeface="Arial" panose="020B0604020202020204" pitchFamily="34" charset="0"/>
              <a:buChar char="•"/>
            </a:pPr>
            <a:r>
              <a:rPr lang="en-AU" sz="2400" dirty="0">
                <a:latin typeface="Avenir Book" panose="02000503020000020003" pitchFamily="2" charset="0"/>
              </a:rPr>
              <a:t>Viruses are not living things, as they cannot reproduce by themselves. Instead, they infect a living cell and its DNA or RNA induces the cell to manufacture more virus particles. </a:t>
            </a:r>
          </a:p>
          <a:p>
            <a:pPr marL="285750" indent="-285750">
              <a:buFont typeface="Arial" panose="020B0604020202020204" pitchFamily="34" charset="0"/>
              <a:buChar char="•"/>
            </a:pPr>
            <a:r>
              <a:rPr lang="en-AU" sz="2400" dirty="0">
                <a:latin typeface="Avenir Book" panose="02000503020000020003" pitchFamily="2" charset="0"/>
              </a:rPr>
              <a:t>The new virus particles are then able to leave the host cell to infect others. During this process the cells become damaged or changed, or die. </a:t>
            </a:r>
          </a:p>
          <a:p>
            <a:pPr marL="285750" indent="-285750">
              <a:buFont typeface="Arial" panose="020B0604020202020204" pitchFamily="34" charset="0"/>
              <a:buChar char="•"/>
            </a:pPr>
            <a:r>
              <a:rPr lang="en-AU" sz="2400" dirty="0">
                <a:latin typeface="Avenir Book" panose="02000503020000020003" pitchFamily="2" charset="0"/>
              </a:rPr>
              <a:t>Viruses differ in the type of cell they invade; therefore, the symptoms shown relate to the tissue that is affected. </a:t>
            </a:r>
          </a:p>
          <a:p>
            <a:pPr marL="285750" indent="-285750">
              <a:buFont typeface="Arial" panose="020B0604020202020204" pitchFamily="34" charset="0"/>
              <a:buChar char="•"/>
            </a:pPr>
            <a:r>
              <a:rPr lang="en-AU" sz="2400" dirty="0">
                <a:latin typeface="Avenir Book" panose="02000503020000020003" pitchFamily="2" charset="0"/>
              </a:rPr>
              <a:t>Some viruses multiply in bacterial cells, causing the death of the bacterium. Such viruses are known as bacteriophages.</a:t>
            </a:r>
            <a:endParaRPr lang="en-US" sz="2400" dirty="0">
              <a:latin typeface="Avenir Book" panose="02000503020000020003" pitchFamily="2" charset="0"/>
            </a:endParaRPr>
          </a:p>
        </p:txBody>
      </p:sp>
      <p:pic>
        <p:nvPicPr>
          <p:cNvPr id="4" name="Picture 3" descr="Diagram&#10;&#10;Description automatically generated">
            <a:extLst>
              <a:ext uri="{FF2B5EF4-FFF2-40B4-BE49-F238E27FC236}">
                <a16:creationId xmlns:a16="http://schemas.microsoft.com/office/drawing/2014/main" id="{42872B42-3CEC-44B7-A5C6-A0B0DB7F62E6}"/>
              </a:ext>
            </a:extLst>
          </p:cNvPr>
          <p:cNvPicPr>
            <a:picLocks noChangeAspect="1"/>
          </p:cNvPicPr>
          <p:nvPr/>
        </p:nvPicPr>
        <p:blipFill>
          <a:blip r:embed="rId2"/>
          <a:stretch>
            <a:fillRect/>
          </a:stretch>
        </p:blipFill>
        <p:spPr>
          <a:xfrm>
            <a:off x="6921500" y="1607663"/>
            <a:ext cx="5270500" cy="4445000"/>
          </a:xfrm>
          <a:prstGeom prst="rect">
            <a:avLst/>
          </a:prstGeom>
          <a:noFill/>
        </p:spPr>
      </p:pic>
    </p:spTree>
    <p:extLst>
      <p:ext uri="{BB962C8B-B14F-4D97-AF65-F5344CB8AC3E}">
        <p14:creationId xmlns:p14="http://schemas.microsoft.com/office/powerpoint/2010/main" val="1147191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10A7F3BF-3463-487B-B66F-23DF2AE17ED3}"/>
              </a:ext>
            </a:extLst>
          </p:cNvPr>
          <p:cNvPicPr>
            <a:picLocks noChangeAspect="1"/>
          </p:cNvPicPr>
          <p:nvPr/>
        </p:nvPicPr>
        <p:blipFill>
          <a:blip r:embed="rId2"/>
          <a:stretch>
            <a:fillRect/>
          </a:stretch>
        </p:blipFill>
        <p:spPr>
          <a:xfrm>
            <a:off x="1752600" y="29378"/>
            <a:ext cx="8061960" cy="6799244"/>
          </a:xfrm>
          <a:prstGeom prst="rect">
            <a:avLst/>
          </a:prstGeom>
          <a:noFill/>
        </p:spPr>
      </p:pic>
    </p:spTree>
    <p:extLst>
      <p:ext uri="{BB962C8B-B14F-4D97-AF65-F5344CB8AC3E}">
        <p14:creationId xmlns:p14="http://schemas.microsoft.com/office/powerpoint/2010/main" val="3217657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able&#10;&#10;Description automatically generated">
            <a:extLst>
              <a:ext uri="{FF2B5EF4-FFF2-40B4-BE49-F238E27FC236}">
                <a16:creationId xmlns:a16="http://schemas.microsoft.com/office/drawing/2014/main" id="{3BB23697-AD0B-2E5B-00A3-3BCCC43D1A0B}"/>
              </a:ext>
            </a:extLst>
          </p:cNvPr>
          <p:cNvPicPr>
            <a:picLocks noChangeAspect="1"/>
          </p:cNvPicPr>
          <p:nvPr/>
        </p:nvPicPr>
        <p:blipFill>
          <a:blip r:embed="rId2"/>
          <a:stretch>
            <a:fillRect/>
          </a:stretch>
        </p:blipFill>
        <p:spPr>
          <a:xfrm>
            <a:off x="2622550" y="0"/>
            <a:ext cx="7910945" cy="6858000"/>
          </a:xfrm>
          <a:prstGeom prst="rect">
            <a:avLst/>
          </a:prstGeom>
        </p:spPr>
      </p:pic>
    </p:spTree>
    <p:extLst>
      <p:ext uri="{BB962C8B-B14F-4D97-AF65-F5344CB8AC3E}">
        <p14:creationId xmlns:p14="http://schemas.microsoft.com/office/powerpoint/2010/main" val="3345843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6177CE-25BA-6149-73AA-91AFF6A94ECE}"/>
              </a:ext>
            </a:extLst>
          </p:cNvPr>
          <p:cNvSpPr>
            <a:spLocks noGrp="1"/>
          </p:cNvSpPr>
          <p:nvPr>
            <p:ph type="body" sz="quarter" idx="13"/>
          </p:nvPr>
        </p:nvSpPr>
        <p:spPr/>
        <p:txBody>
          <a:bodyPr/>
          <a:lstStyle/>
          <a:p>
            <a:r>
              <a:rPr lang="en-AU" dirty="0"/>
              <a:t>Transmission of pathogens</a:t>
            </a:r>
            <a:endParaRPr lang="en-US" dirty="0"/>
          </a:p>
        </p:txBody>
      </p:sp>
      <p:sp>
        <p:nvSpPr>
          <p:cNvPr id="3" name="Text Placeholder 2">
            <a:extLst>
              <a:ext uri="{FF2B5EF4-FFF2-40B4-BE49-F238E27FC236}">
                <a16:creationId xmlns:a16="http://schemas.microsoft.com/office/drawing/2014/main" id="{92458CEC-5BA9-C3FA-61DE-6F947047D238}"/>
              </a:ext>
            </a:extLst>
          </p:cNvPr>
          <p:cNvSpPr>
            <a:spLocks noGrp="1"/>
          </p:cNvSpPr>
          <p:nvPr>
            <p:ph type="body" sz="quarter" idx="15"/>
          </p:nvPr>
        </p:nvSpPr>
        <p:spPr>
          <a:xfrm>
            <a:off x="280558" y="1330036"/>
            <a:ext cx="11506476" cy="5265881"/>
          </a:xfrm>
        </p:spPr>
        <p:txBody>
          <a:bodyPr>
            <a:normAutofit/>
          </a:bodyPr>
          <a:lstStyle/>
          <a:p>
            <a:pPr marL="342900" indent="-342900">
              <a:buFont typeface="Arial" panose="020B0604020202020204" pitchFamily="34" charset="0"/>
              <a:buChar char="•"/>
            </a:pPr>
            <a:r>
              <a:rPr lang="en-AU" sz="2000" dirty="0">
                <a:latin typeface="Avenir Book" panose="02000503020000020003" pitchFamily="2" charset="0"/>
              </a:rPr>
              <a:t>Communicable disease may be spread by the transmission of the pathogenic organism from one person to another. Some communicable diseases are said to be contagious; this means they are passed directly from one person to another. </a:t>
            </a:r>
          </a:p>
          <a:p>
            <a:pPr marL="342900" indent="-342900">
              <a:buFont typeface="Arial" panose="020B0604020202020204" pitchFamily="34" charset="0"/>
              <a:buChar char="•"/>
            </a:pPr>
            <a:r>
              <a:rPr lang="en-AU" sz="2000" dirty="0">
                <a:latin typeface="Avenir Book" panose="02000503020000020003" pitchFamily="2" charset="0"/>
              </a:rPr>
              <a:t>Other communicable diseases may be spread from person to person by vectors: Intermediate hosts of the pathogen, such as mosquitoes or fleas. </a:t>
            </a:r>
          </a:p>
          <a:p>
            <a:endParaRPr lang="en-AU" sz="2000" dirty="0">
              <a:latin typeface="Avenir Book" panose="02000503020000020003" pitchFamily="2" charset="0"/>
            </a:endParaRPr>
          </a:p>
          <a:p>
            <a:r>
              <a:rPr lang="en-AU" sz="2000" dirty="0">
                <a:latin typeface="Avenir Book" panose="02000503020000020003" pitchFamily="2" charset="0"/>
              </a:rPr>
              <a:t>Transfer can occur in a number of ways: </a:t>
            </a:r>
          </a:p>
          <a:p>
            <a:pPr marL="285750" indent="-285750">
              <a:buFont typeface="Arial" panose="020B0604020202020204" pitchFamily="34" charset="0"/>
              <a:buChar char="•"/>
            </a:pPr>
            <a:r>
              <a:rPr lang="en-AU" sz="2000" dirty="0">
                <a:latin typeface="Avenir Book" panose="02000503020000020003" pitchFamily="2" charset="0"/>
              </a:rPr>
              <a:t>Infection by droplets</a:t>
            </a:r>
          </a:p>
          <a:p>
            <a:pPr marL="285750" indent="-285750">
              <a:buFont typeface="Arial" panose="020B0604020202020204" pitchFamily="34" charset="0"/>
              <a:buChar char="•"/>
            </a:pPr>
            <a:r>
              <a:rPr lang="en-AU" sz="2000" dirty="0">
                <a:latin typeface="Avenir Book" panose="02000503020000020003" pitchFamily="2" charset="0"/>
              </a:rPr>
              <a:t>Ingestion of food </a:t>
            </a:r>
          </a:p>
          <a:p>
            <a:pPr marL="285750" indent="-285750">
              <a:buFont typeface="Arial" panose="020B0604020202020204" pitchFamily="34" charset="0"/>
              <a:buChar char="•"/>
            </a:pPr>
            <a:r>
              <a:rPr lang="en-AU" sz="2000" dirty="0">
                <a:latin typeface="Avenir Book" panose="02000503020000020003" pitchFamily="2" charset="0"/>
              </a:rPr>
              <a:t>Transfer of body fluids </a:t>
            </a:r>
          </a:p>
          <a:p>
            <a:pPr marL="285750" indent="-285750">
              <a:buFont typeface="Arial" panose="020B0604020202020204" pitchFamily="34" charset="0"/>
              <a:buChar char="•"/>
            </a:pPr>
            <a:r>
              <a:rPr lang="en-AU" sz="2000" dirty="0">
                <a:latin typeface="Avenir Book" panose="02000503020000020003" pitchFamily="2" charset="0"/>
              </a:rPr>
              <a:t>Infection by droplets</a:t>
            </a:r>
          </a:p>
          <a:p>
            <a:endParaRPr lang="en-AU" dirty="0"/>
          </a:p>
          <a:p>
            <a:br>
              <a:rPr lang="en-AU" dirty="0"/>
            </a:br>
            <a:endParaRPr lang="en-US" dirty="0"/>
          </a:p>
        </p:txBody>
      </p:sp>
    </p:spTree>
    <p:extLst>
      <p:ext uri="{BB962C8B-B14F-4D97-AF65-F5344CB8AC3E}">
        <p14:creationId xmlns:p14="http://schemas.microsoft.com/office/powerpoint/2010/main" val="1624007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8DCFE4-9619-15D2-19E1-0D3755A0E7FB}"/>
              </a:ext>
            </a:extLst>
          </p:cNvPr>
          <p:cNvSpPr>
            <a:spLocks noGrp="1"/>
          </p:cNvSpPr>
          <p:nvPr>
            <p:ph type="body" sz="quarter" idx="13"/>
          </p:nvPr>
        </p:nvSpPr>
        <p:spPr/>
        <p:txBody>
          <a:bodyPr/>
          <a:lstStyle/>
          <a:p>
            <a:r>
              <a:rPr lang="en-AU" dirty="0"/>
              <a:t>Infection by droplets</a:t>
            </a:r>
            <a:endParaRPr lang="en-US" dirty="0"/>
          </a:p>
        </p:txBody>
      </p:sp>
      <p:sp>
        <p:nvSpPr>
          <p:cNvPr id="3" name="Text Placeholder 2">
            <a:extLst>
              <a:ext uri="{FF2B5EF4-FFF2-40B4-BE49-F238E27FC236}">
                <a16:creationId xmlns:a16="http://schemas.microsoft.com/office/drawing/2014/main" id="{E1A8A83E-1FFA-240A-EAA0-BBB5ECFA8EEA}"/>
              </a:ext>
            </a:extLst>
          </p:cNvPr>
          <p:cNvSpPr>
            <a:spLocks noGrp="1"/>
          </p:cNvSpPr>
          <p:nvPr>
            <p:ph type="body" sz="quarter" idx="15"/>
          </p:nvPr>
        </p:nvSpPr>
        <p:spPr>
          <a:xfrm>
            <a:off x="280558" y="1330036"/>
            <a:ext cx="11506476" cy="5066923"/>
          </a:xfrm>
        </p:spPr>
        <p:txBody>
          <a:bodyPr/>
          <a:lstStyle/>
          <a:p>
            <a:pPr marL="342900" indent="-342900">
              <a:buFont typeface="Arial" panose="020B0604020202020204" pitchFamily="34" charset="0"/>
              <a:buChar char="•"/>
            </a:pPr>
            <a:r>
              <a:rPr lang="en-AU" sz="2000" dirty="0">
                <a:latin typeface="Avenir Book" panose="02000503020000020003" pitchFamily="2" charset="0"/>
              </a:rPr>
              <a:t>Infection by droplets may occur when tiny droplets of moisture containing pathogenic organisms are emitted when breathing, talking, sneezing or coughing. </a:t>
            </a:r>
          </a:p>
          <a:p>
            <a:pPr marL="342900" indent="-342900">
              <a:buFont typeface="Arial" panose="020B0604020202020204" pitchFamily="34" charset="0"/>
              <a:buChar char="•"/>
            </a:pPr>
            <a:r>
              <a:rPr lang="en-AU" sz="2000" dirty="0">
                <a:latin typeface="Avenir Book" panose="02000503020000020003" pitchFamily="2" charset="0"/>
              </a:rPr>
              <a:t>The droplets may be breathed in by others, or may settle on food or utensils to be later ingested with food. </a:t>
            </a:r>
          </a:p>
          <a:p>
            <a:pPr marL="342900" indent="-342900">
              <a:buFont typeface="Arial" panose="020B0604020202020204" pitchFamily="34" charset="0"/>
              <a:buChar char="•"/>
            </a:pPr>
            <a:r>
              <a:rPr lang="en-AU" sz="2000" dirty="0">
                <a:latin typeface="Avenir Book" panose="02000503020000020003" pitchFamily="2" charset="0"/>
              </a:rPr>
              <a:t>Many viral infections, such as those causing Ebola, COVID-19, mumps, colds and influenza, can be spread by droplets.</a:t>
            </a:r>
          </a:p>
          <a:p>
            <a:pPr marL="342900" indent="-342900">
              <a:buFont typeface="Arial" panose="020B0604020202020204" pitchFamily="34" charset="0"/>
              <a:buChar char="•"/>
            </a:pPr>
            <a:endParaRPr lang="en-AU" sz="2000" dirty="0">
              <a:latin typeface="Avenir Book" panose="02000503020000020003" pitchFamily="2" charset="0"/>
            </a:endParaRPr>
          </a:p>
          <a:p>
            <a:endParaRPr lang="en-AU" sz="2000" dirty="0">
              <a:latin typeface="Avenir Book" panose="02000503020000020003" pitchFamily="2" charset="0"/>
            </a:endParaRPr>
          </a:p>
          <a:p>
            <a:br>
              <a:rPr lang="en-AU" dirty="0"/>
            </a:br>
            <a:endParaRPr lang="en-US" dirty="0"/>
          </a:p>
          <a:p>
            <a:endParaRPr lang="en-US" dirty="0"/>
          </a:p>
        </p:txBody>
      </p:sp>
      <p:pic>
        <p:nvPicPr>
          <p:cNvPr id="1026" name="Picture 2" descr="Droplet infection Images, Stock Photos &amp; Vectors | Shutterstock">
            <a:extLst>
              <a:ext uri="{FF2B5EF4-FFF2-40B4-BE49-F238E27FC236}">
                <a16:creationId xmlns:a16="http://schemas.microsoft.com/office/drawing/2014/main" id="{22180745-E758-29FF-4158-99D60D701B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364"/>
          <a:stretch/>
        </p:blipFill>
        <p:spPr bwMode="auto">
          <a:xfrm>
            <a:off x="2529033" y="3325447"/>
            <a:ext cx="6985000" cy="3365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3098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7489C9-8710-4957-0EBB-F8389CF723FD}"/>
              </a:ext>
            </a:extLst>
          </p:cNvPr>
          <p:cNvSpPr>
            <a:spLocks noGrp="1"/>
          </p:cNvSpPr>
          <p:nvPr>
            <p:ph type="body" sz="quarter" idx="13"/>
          </p:nvPr>
        </p:nvSpPr>
        <p:spPr/>
        <p:txBody>
          <a:bodyPr/>
          <a:lstStyle/>
          <a:p>
            <a:r>
              <a:rPr lang="en-US" dirty="0"/>
              <a:t>Transfer of body fluids </a:t>
            </a:r>
          </a:p>
        </p:txBody>
      </p:sp>
      <p:sp>
        <p:nvSpPr>
          <p:cNvPr id="3" name="Text Placeholder 2">
            <a:extLst>
              <a:ext uri="{FF2B5EF4-FFF2-40B4-BE49-F238E27FC236}">
                <a16:creationId xmlns:a16="http://schemas.microsoft.com/office/drawing/2014/main" id="{3A073C36-1023-5BAB-1BCC-1C0C4722679A}"/>
              </a:ext>
            </a:extLst>
          </p:cNvPr>
          <p:cNvSpPr>
            <a:spLocks noGrp="1"/>
          </p:cNvSpPr>
          <p:nvPr>
            <p:ph type="body" sz="quarter" idx="15"/>
          </p:nvPr>
        </p:nvSpPr>
        <p:spPr/>
        <p:txBody>
          <a:bodyPr/>
          <a:lstStyle/>
          <a:p>
            <a:pPr marL="285750" indent="-285750">
              <a:buFont typeface="Arial" panose="020B0604020202020204" pitchFamily="34" charset="0"/>
              <a:buChar char="•"/>
            </a:pPr>
            <a:r>
              <a:rPr lang="en-AU" sz="2000" dirty="0">
                <a:latin typeface="Avenir Book" panose="02000503020000020003" pitchFamily="2" charset="0"/>
              </a:rPr>
              <a:t>Transfer of body fluids from one person to another can result in the transmission of a number of infections. </a:t>
            </a:r>
          </a:p>
          <a:p>
            <a:pPr marL="285750" indent="-285750">
              <a:buFont typeface="Arial" panose="020B0604020202020204" pitchFamily="34" charset="0"/>
              <a:buChar char="•"/>
            </a:pPr>
            <a:r>
              <a:rPr lang="en-AU" sz="2000" dirty="0">
                <a:latin typeface="Avenir Book" panose="02000503020000020003" pitchFamily="2" charset="0"/>
              </a:rPr>
              <a:t>When blood or other body fluids from an infected person comes into contact with the mucous membranes, such as in the nose, mouth, throat and genitals, or the bloodstream of an uninfected person, such as through a needle stick or a break in the skin, then pathogens may enter the body of that person.</a:t>
            </a:r>
          </a:p>
          <a:p>
            <a:pPr marL="285750" indent="-285750">
              <a:buFont typeface="Arial" panose="020B0604020202020204" pitchFamily="34" charset="0"/>
              <a:buChar char="•"/>
            </a:pPr>
            <a:r>
              <a:rPr lang="en-AU" sz="2000" dirty="0">
                <a:latin typeface="Avenir Book" panose="02000503020000020003" pitchFamily="2" charset="0"/>
              </a:rPr>
              <a:t>The human immunodeficiency virus, and hepatitis B and C, are spread in this way. </a:t>
            </a:r>
          </a:p>
          <a:p>
            <a:endParaRPr lang="en-US" dirty="0"/>
          </a:p>
        </p:txBody>
      </p:sp>
    </p:spTree>
    <p:extLst>
      <p:ext uri="{BB962C8B-B14F-4D97-AF65-F5344CB8AC3E}">
        <p14:creationId xmlns:p14="http://schemas.microsoft.com/office/powerpoint/2010/main" val="1888800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CDDE32-6876-DA19-3158-AE0FDAC3B247}"/>
              </a:ext>
            </a:extLst>
          </p:cNvPr>
          <p:cNvSpPr>
            <a:spLocks noGrp="1"/>
          </p:cNvSpPr>
          <p:nvPr>
            <p:ph type="body" sz="quarter" idx="13"/>
          </p:nvPr>
        </p:nvSpPr>
        <p:spPr/>
        <p:txBody>
          <a:bodyPr/>
          <a:lstStyle/>
          <a:p>
            <a:r>
              <a:rPr lang="en-US" dirty="0"/>
              <a:t>Ingestion of food or drink</a:t>
            </a:r>
          </a:p>
        </p:txBody>
      </p:sp>
      <p:sp>
        <p:nvSpPr>
          <p:cNvPr id="3" name="Text Placeholder 2">
            <a:extLst>
              <a:ext uri="{FF2B5EF4-FFF2-40B4-BE49-F238E27FC236}">
                <a16:creationId xmlns:a16="http://schemas.microsoft.com/office/drawing/2014/main" id="{09ED2126-45A4-496C-B452-8253098DD39A}"/>
              </a:ext>
            </a:extLst>
          </p:cNvPr>
          <p:cNvSpPr>
            <a:spLocks noGrp="1"/>
          </p:cNvSpPr>
          <p:nvPr>
            <p:ph type="body" sz="quarter" idx="15"/>
          </p:nvPr>
        </p:nvSpPr>
        <p:spPr/>
        <p:txBody>
          <a:bodyPr>
            <a:normAutofit/>
          </a:bodyPr>
          <a:lstStyle/>
          <a:p>
            <a:pPr marL="285750" indent="-285750">
              <a:buFont typeface="Arial" panose="020B0604020202020204" pitchFamily="34" charset="0"/>
              <a:buChar char="•"/>
            </a:pPr>
            <a:r>
              <a:rPr lang="en-AU" sz="2400" dirty="0">
                <a:latin typeface="Avenir Book" panose="02000503020000020003" pitchFamily="2" charset="0"/>
              </a:rPr>
              <a:t>Ingestion of food or drink contaminated with pathogens may result in disease. Dysentery, typhoid fever and Salmonella food poisoning are transmitted in this way. </a:t>
            </a:r>
            <a:endParaRPr lang="en-US" sz="2400" dirty="0">
              <a:latin typeface="Avenir Book" panose="02000503020000020003" pitchFamily="2" charset="0"/>
            </a:endParaRPr>
          </a:p>
        </p:txBody>
      </p:sp>
    </p:spTree>
    <p:extLst>
      <p:ext uri="{BB962C8B-B14F-4D97-AF65-F5344CB8AC3E}">
        <p14:creationId xmlns:p14="http://schemas.microsoft.com/office/powerpoint/2010/main" val="2246563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AF00D9-AEAB-027F-1312-9C6395DBA3A0}"/>
              </a:ext>
            </a:extLst>
          </p:cNvPr>
          <p:cNvSpPr>
            <a:spLocks noGrp="1"/>
          </p:cNvSpPr>
          <p:nvPr>
            <p:ph type="body" sz="quarter" idx="13"/>
          </p:nvPr>
        </p:nvSpPr>
        <p:spPr/>
        <p:txBody>
          <a:bodyPr/>
          <a:lstStyle/>
          <a:p>
            <a:r>
              <a:rPr lang="en-US" dirty="0"/>
              <a:t>Transmission by contact </a:t>
            </a:r>
          </a:p>
        </p:txBody>
      </p:sp>
      <p:sp>
        <p:nvSpPr>
          <p:cNvPr id="3" name="Text Placeholder 2">
            <a:extLst>
              <a:ext uri="{FF2B5EF4-FFF2-40B4-BE49-F238E27FC236}">
                <a16:creationId xmlns:a16="http://schemas.microsoft.com/office/drawing/2014/main" id="{57FF6DE7-73A3-0500-886C-8E236E03B71E}"/>
              </a:ext>
            </a:extLst>
          </p:cNvPr>
          <p:cNvSpPr>
            <a:spLocks noGrp="1"/>
          </p:cNvSpPr>
          <p:nvPr>
            <p:ph type="body" sz="quarter" idx="15"/>
          </p:nvPr>
        </p:nvSpPr>
        <p:spPr/>
        <p:txBody>
          <a:bodyPr/>
          <a:lstStyle/>
          <a:p>
            <a:pPr marL="285750" indent="-285750">
              <a:buFont typeface="Arial" panose="020B0604020202020204" pitchFamily="34" charset="0"/>
              <a:buChar char="•"/>
            </a:pPr>
            <a:r>
              <a:rPr lang="en-AU" sz="2000" dirty="0">
                <a:latin typeface="Avenir Book" panose="02000503020000020003" pitchFamily="2" charset="0"/>
              </a:rPr>
              <a:t>Transmission by contact involves the spread of the pathogen by actual physical contact. </a:t>
            </a:r>
          </a:p>
          <a:p>
            <a:pPr marL="285750" indent="-285750">
              <a:buFont typeface="Arial" panose="020B0604020202020204" pitchFamily="34" charset="0"/>
              <a:buChar char="•"/>
            </a:pPr>
            <a:r>
              <a:rPr lang="en-AU" sz="2000" dirty="0">
                <a:latin typeface="Avenir Book" panose="02000503020000020003" pitchFamily="2" charset="0"/>
              </a:rPr>
              <a:t>The contact may be direct, actually touching an infected person; or indirect, touching an object that has been touched by an infected individual. </a:t>
            </a:r>
          </a:p>
          <a:p>
            <a:pPr marL="285750" indent="-285750">
              <a:buFont typeface="Arial" panose="020B0604020202020204" pitchFamily="34" charset="0"/>
              <a:buChar char="•"/>
            </a:pPr>
            <a:r>
              <a:rPr lang="en-AU" sz="2000" dirty="0">
                <a:latin typeface="Avenir Book" panose="02000503020000020003" pitchFamily="2" charset="0"/>
              </a:rPr>
              <a:t>Skin infections and sexually transmissible infections are spread contact.</a:t>
            </a:r>
          </a:p>
          <a:p>
            <a:endParaRPr lang="en-US" dirty="0"/>
          </a:p>
        </p:txBody>
      </p:sp>
    </p:spTree>
    <p:extLst>
      <p:ext uri="{BB962C8B-B14F-4D97-AF65-F5344CB8AC3E}">
        <p14:creationId xmlns:p14="http://schemas.microsoft.com/office/powerpoint/2010/main" val="2303013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441F1C-828F-A455-1A8E-39F6EFC1678D}"/>
              </a:ext>
            </a:extLst>
          </p:cNvPr>
          <p:cNvSpPr>
            <a:spLocks noGrp="1"/>
          </p:cNvSpPr>
          <p:nvPr>
            <p:ph type="body" sz="quarter" idx="13"/>
          </p:nvPr>
        </p:nvSpPr>
        <p:spPr/>
        <p:txBody>
          <a:bodyPr/>
          <a:lstStyle/>
          <a:p>
            <a:r>
              <a:rPr lang="en-AU" dirty="0"/>
              <a:t>Airborne transmission</a:t>
            </a:r>
            <a:endParaRPr lang="en-US" dirty="0"/>
          </a:p>
        </p:txBody>
      </p:sp>
      <p:sp>
        <p:nvSpPr>
          <p:cNvPr id="3" name="Text Placeholder 2">
            <a:extLst>
              <a:ext uri="{FF2B5EF4-FFF2-40B4-BE49-F238E27FC236}">
                <a16:creationId xmlns:a16="http://schemas.microsoft.com/office/drawing/2014/main" id="{642BA585-9216-6B90-62B4-2B6466E7D202}"/>
              </a:ext>
            </a:extLst>
          </p:cNvPr>
          <p:cNvSpPr>
            <a:spLocks noGrp="1"/>
          </p:cNvSpPr>
          <p:nvPr>
            <p:ph type="body" sz="quarter" idx="15"/>
          </p:nvPr>
        </p:nvSpPr>
        <p:spPr>
          <a:xfrm>
            <a:off x="280558" y="1330036"/>
            <a:ext cx="11506476" cy="5265881"/>
          </a:xfrm>
        </p:spPr>
        <p:txBody>
          <a:bodyPr>
            <a:normAutofit/>
          </a:bodyPr>
          <a:lstStyle/>
          <a:p>
            <a:r>
              <a:rPr lang="en-AU" sz="2000" dirty="0">
                <a:latin typeface="Avenir Book" panose="02000503020000020003" pitchFamily="2" charset="0"/>
              </a:rPr>
              <a:t>Airborne transmission of some diseases may occur. When the moisture in exhaled droplets evaporates, many bacteria are killed, but viruses and some bacteria remain viable and can cause infection when inhaled. </a:t>
            </a:r>
          </a:p>
          <a:p>
            <a:r>
              <a:rPr lang="en-AU" sz="2000" dirty="0">
                <a:latin typeface="Avenir Book" panose="02000503020000020003" pitchFamily="2" charset="0"/>
              </a:rPr>
              <a:t>As these particles are lighter, they remain viable for a greater distance than those transmitted by droplets. Measles and chickenpox are spread by this method.</a:t>
            </a:r>
            <a:endParaRPr lang="en-US" sz="2000" dirty="0">
              <a:latin typeface="Avenir Book" panose="02000503020000020003" pitchFamily="2" charset="0"/>
            </a:endParaRPr>
          </a:p>
        </p:txBody>
      </p:sp>
      <p:pic>
        <p:nvPicPr>
          <p:cNvPr id="5" name="Picture 4" descr="A picture containing chart&#10;&#10;Description automatically generated">
            <a:extLst>
              <a:ext uri="{FF2B5EF4-FFF2-40B4-BE49-F238E27FC236}">
                <a16:creationId xmlns:a16="http://schemas.microsoft.com/office/drawing/2014/main" id="{25DC0EA1-A106-62DB-1D91-811478F6CA06}"/>
              </a:ext>
            </a:extLst>
          </p:cNvPr>
          <p:cNvPicPr>
            <a:picLocks noChangeAspect="1"/>
          </p:cNvPicPr>
          <p:nvPr/>
        </p:nvPicPr>
        <p:blipFill>
          <a:blip r:embed="rId2"/>
          <a:stretch>
            <a:fillRect/>
          </a:stretch>
        </p:blipFill>
        <p:spPr>
          <a:xfrm>
            <a:off x="2597028" y="2932571"/>
            <a:ext cx="6849009" cy="3925429"/>
          </a:xfrm>
          <a:prstGeom prst="rect">
            <a:avLst/>
          </a:prstGeom>
        </p:spPr>
      </p:pic>
    </p:spTree>
    <p:extLst>
      <p:ext uri="{BB962C8B-B14F-4D97-AF65-F5344CB8AC3E}">
        <p14:creationId xmlns:p14="http://schemas.microsoft.com/office/powerpoint/2010/main" val="3496112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0623A4-9B3E-0960-9710-975E4B253BB4}"/>
              </a:ext>
            </a:extLst>
          </p:cNvPr>
          <p:cNvSpPr>
            <a:spLocks noGrp="1"/>
          </p:cNvSpPr>
          <p:nvPr>
            <p:ph type="body" sz="quarter" idx="13"/>
          </p:nvPr>
        </p:nvSpPr>
        <p:spPr/>
        <p:txBody>
          <a:bodyPr/>
          <a:lstStyle/>
          <a:p>
            <a:r>
              <a:rPr lang="en-US" dirty="0"/>
              <a:t>Transmission by vectors </a:t>
            </a:r>
          </a:p>
        </p:txBody>
      </p:sp>
      <p:sp>
        <p:nvSpPr>
          <p:cNvPr id="3" name="Text Placeholder 2">
            <a:extLst>
              <a:ext uri="{FF2B5EF4-FFF2-40B4-BE49-F238E27FC236}">
                <a16:creationId xmlns:a16="http://schemas.microsoft.com/office/drawing/2014/main" id="{EFCEDA5D-65B2-EE8E-AA15-76C7C22A7211}"/>
              </a:ext>
            </a:extLst>
          </p:cNvPr>
          <p:cNvSpPr>
            <a:spLocks noGrp="1"/>
          </p:cNvSpPr>
          <p:nvPr>
            <p:ph type="body" sz="quarter" idx="15"/>
          </p:nvPr>
        </p:nvSpPr>
        <p:spPr>
          <a:xfrm>
            <a:off x="280558" y="1528994"/>
            <a:ext cx="5373482" cy="5066923"/>
          </a:xfrm>
        </p:spPr>
        <p:txBody>
          <a:bodyPr>
            <a:normAutofit/>
          </a:bodyPr>
          <a:lstStyle/>
          <a:p>
            <a:pPr marL="285750" indent="-285750">
              <a:buFont typeface="Arial" panose="020B0604020202020204" pitchFamily="34" charset="0"/>
              <a:buChar char="•"/>
            </a:pPr>
            <a:r>
              <a:rPr lang="en-AU" sz="2000" dirty="0">
                <a:latin typeface="Avenir Book" panose="02000503020000020003" pitchFamily="2" charset="0"/>
              </a:rPr>
              <a:t>Transmission by vectors is the transfer of pathogens by other animals, such as insects, ticks or mites. </a:t>
            </a:r>
          </a:p>
          <a:p>
            <a:pPr marL="285750" indent="-285750">
              <a:buFont typeface="Arial" panose="020B0604020202020204" pitchFamily="34" charset="0"/>
              <a:buChar char="•"/>
            </a:pPr>
            <a:r>
              <a:rPr lang="en-AU" sz="2000" dirty="0">
                <a:latin typeface="Avenir Book" panose="02000503020000020003" pitchFamily="2" charset="0"/>
              </a:rPr>
              <a:t>Some vectors transfer the pathogen directly; others, such as house flies, may spread the pathogen to food or water, which is then ingested. Many vector-borne diseases are spread by a specific vector. </a:t>
            </a:r>
          </a:p>
          <a:p>
            <a:pPr marL="285750" indent="-285750">
              <a:buFont typeface="Arial" panose="020B0604020202020204" pitchFamily="34" charset="0"/>
              <a:buChar char="•"/>
            </a:pPr>
            <a:r>
              <a:rPr lang="en-AU" sz="2000" dirty="0">
                <a:latin typeface="Avenir Book" panose="02000503020000020003" pitchFamily="2" charset="0"/>
              </a:rPr>
              <a:t>For example, malaria and dengue fever are spread by mosquitoes, trypanosomiasis (African sleeping sickness) is spread by the tsetse fly. Lyme disease is spread by ticks, and bubonic plague is spread by fleas from rats and mice.</a:t>
            </a:r>
            <a:endParaRPr lang="en-US" sz="2000" dirty="0">
              <a:latin typeface="Avenir Book" panose="02000503020000020003" pitchFamily="2" charset="0"/>
            </a:endParaRPr>
          </a:p>
        </p:txBody>
      </p:sp>
      <p:pic>
        <p:nvPicPr>
          <p:cNvPr id="4" name="Picture 3" descr="Diagram&#10;&#10;Description automatically generated">
            <a:extLst>
              <a:ext uri="{FF2B5EF4-FFF2-40B4-BE49-F238E27FC236}">
                <a16:creationId xmlns:a16="http://schemas.microsoft.com/office/drawing/2014/main" id="{63BB1DC3-28CE-6087-48C2-31B24653BE02}"/>
              </a:ext>
            </a:extLst>
          </p:cNvPr>
          <p:cNvPicPr>
            <a:picLocks noChangeAspect="1"/>
          </p:cNvPicPr>
          <p:nvPr/>
        </p:nvPicPr>
        <p:blipFill>
          <a:blip r:embed="rId2"/>
          <a:stretch>
            <a:fillRect/>
          </a:stretch>
        </p:blipFill>
        <p:spPr>
          <a:xfrm>
            <a:off x="5596561" y="1330036"/>
            <a:ext cx="6595439" cy="4572838"/>
          </a:xfrm>
          <a:prstGeom prst="rect">
            <a:avLst/>
          </a:prstGeom>
        </p:spPr>
      </p:pic>
    </p:spTree>
    <p:extLst>
      <p:ext uri="{BB962C8B-B14F-4D97-AF65-F5344CB8AC3E}">
        <p14:creationId xmlns:p14="http://schemas.microsoft.com/office/powerpoint/2010/main" val="118899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84B8C3-473C-64FD-09F5-0B0B94B3562E}"/>
              </a:ext>
            </a:extLst>
          </p:cNvPr>
          <p:cNvSpPr>
            <a:spLocks noGrp="1"/>
          </p:cNvSpPr>
          <p:nvPr>
            <p:ph type="body" sz="quarter" idx="13"/>
          </p:nvPr>
        </p:nvSpPr>
        <p:spPr/>
        <p:txBody>
          <a:bodyPr/>
          <a:lstStyle/>
          <a:p>
            <a:r>
              <a:rPr lang="en-US" dirty="0"/>
              <a:t>Summary </a:t>
            </a:r>
          </a:p>
        </p:txBody>
      </p:sp>
      <p:sp>
        <p:nvSpPr>
          <p:cNvPr id="3" name="Text Placeholder 2">
            <a:extLst>
              <a:ext uri="{FF2B5EF4-FFF2-40B4-BE49-F238E27FC236}">
                <a16:creationId xmlns:a16="http://schemas.microsoft.com/office/drawing/2014/main" id="{4AA86F3B-F38D-B208-0E1E-664E918926DF}"/>
              </a:ext>
            </a:extLst>
          </p:cNvPr>
          <p:cNvSpPr>
            <a:spLocks noGrp="1"/>
          </p:cNvSpPr>
          <p:nvPr>
            <p:ph type="body" sz="quarter" idx="15"/>
          </p:nvPr>
        </p:nvSpPr>
        <p:spPr/>
        <p:txBody>
          <a:bodyPr>
            <a:normAutofit/>
          </a:bodyPr>
          <a:lstStyle/>
          <a:p>
            <a:r>
              <a:rPr lang="en-AU" sz="2800" dirty="0">
                <a:latin typeface="Avenir Book" panose="02000503020000020003" pitchFamily="2" charset="0"/>
              </a:rPr>
              <a:t>Communicable diseases are caused by pathogens such as bacteria and viruses and are spread from person to person, either directly or indirectly.</a:t>
            </a:r>
            <a:endParaRPr lang="en-US" sz="2800" dirty="0">
              <a:latin typeface="Avenir Book" panose="02000503020000020003" pitchFamily="2" charset="0"/>
            </a:endParaRPr>
          </a:p>
        </p:txBody>
      </p:sp>
    </p:spTree>
    <p:extLst>
      <p:ext uri="{BB962C8B-B14F-4D97-AF65-F5344CB8AC3E}">
        <p14:creationId xmlns:p14="http://schemas.microsoft.com/office/powerpoint/2010/main" val="748981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text, application, Word, website&#10;&#10;Description automatically generated">
            <a:extLst>
              <a:ext uri="{FF2B5EF4-FFF2-40B4-BE49-F238E27FC236}">
                <a16:creationId xmlns:a16="http://schemas.microsoft.com/office/drawing/2014/main" id="{80C51DB1-BADD-1952-973E-18EBB2B16FBA}"/>
              </a:ext>
            </a:extLst>
          </p:cNvPr>
          <p:cNvPicPr>
            <a:picLocks noChangeAspect="1"/>
          </p:cNvPicPr>
          <p:nvPr/>
        </p:nvPicPr>
        <p:blipFill>
          <a:blip r:embed="rId2"/>
          <a:stretch>
            <a:fillRect/>
          </a:stretch>
        </p:blipFill>
        <p:spPr>
          <a:xfrm>
            <a:off x="2711677" y="0"/>
            <a:ext cx="6768645" cy="6858000"/>
          </a:xfrm>
          <a:prstGeom prst="rect">
            <a:avLst/>
          </a:prstGeom>
        </p:spPr>
      </p:pic>
    </p:spTree>
    <p:extLst>
      <p:ext uri="{BB962C8B-B14F-4D97-AF65-F5344CB8AC3E}">
        <p14:creationId xmlns:p14="http://schemas.microsoft.com/office/powerpoint/2010/main" val="7294331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F7C50AB-C300-4CF2-6AB8-3C14D54F6729}"/>
              </a:ext>
            </a:extLst>
          </p:cNvPr>
          <p:cNvSpPr>
            <a:spLocks noChangeArrowheads="1"/>
          </p:cNvSpPr>
          <p:nvPr/>
        </p:nvSpPr>
        <p:spPr bwMode="auto">
          <a:xfrm>
            <a:off x="221871" y="658773"/>
            <a:ext cx="1174825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 </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Define ‘pathogen’.</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Answer</a:t>
            </a: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 disease causing organism.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 </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List the ways that a pathogen can pass from an infected person to someone else.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Answer</a:t>
            </a: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Transfer by contact, ingestion, transfer of body fluids, infection by droplets, airborne transmission, transmission by vectors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 </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diagram below is of the zika virus. Label the nucleic acid, protein capsule and lipid envelope.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Answer</a:t>
            </a: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145" name="Picture 4">
            <a:extLst>
              <a:ext uri="{FF2B5EF4-FFF2-40B4-BE49-F238E27FC236}">
                <a16:creationId xmlns:a16="http://schemas.microsoft.com/office/drawing/2014/main" id="{8C5BE7C9-C0A8-63B5-20B0-FDD10967DE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8543" y="3195705"/>
            <a:ext cx="4644493" cy="2993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5207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FBC8A92-6AE4-9A74-A212-4921CF8D1668}"/>
              </a:ext>
            </a:extLst>
          </p:cNvPr>
          <p:cNvSpPr>
            <a:spLocks noGrp="1" noChangeArrowheads="1"/>
          </p:cNvSpPr>
          <p:nvPr>
            <p:ph type="body" sz="quarter" idx="15"/>
          </p:nvPr>
        </p:nvSpPr>
        <p:spPr bwMode="auto">
          <a:xfrm>
            <a:off x="208012" y="612499"/>
            <a:ext cx="1177597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 </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Describe the structure of a typical bacterium.</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Answer</a:t>
            </a: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Bacterium are unicellular and lack a nucleus, their DNA is either free floating in the cytoplasm or in circular plasmids. Bacteria are microscopic and can be classified according to shape.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 </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List the different shapes of bacteria.</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Answer</a:t>
            </a: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Cocci – round, Bacilli – rod, Spirilla – spiral, Vibrio – curved rod/comma shape.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 </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List three vectors of pathogens and the diseases that they transmit.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Answer</a:t>
            </a: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Mosquito – malaria or dengue fever, Tsetse fly – trypanosomiasis (African sleeping sickness), Ticks – Lyme disease, Fleas from rats and mice – bubonic plague. </a:t>
            </a: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46201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96B44B-8C36-25B0-0A21-4B670D1F1EC8}"/>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BC35881F-2778-EA61-5964-E4198E6CB98D}"/>
              </a:ext>
            </a:extLst>
          </p:cNvPr>
          <p:cNvSpPr>
            <a:spLocks noGrp="1"/>
          </p:cNvSpPr>
          <p:nvPr>
            <p:ph type="body" sz="quarter" idx="15"/>
          </p:nvPr>
        </p:nvSpPr>
        <p:spPr/>
        <p:txBody>
          <a:bodyPr>
            <a:normAutofit/>
          </a:bodyPr>
          <a:lstStyle/>
          <a:p>
            <a:pPr lvl="0" eaLnBrk="0" fontAlgn="base" hangingPunct="0">
              <a:lnSpc>
                <a:spcPct val="100000"/>
              </a:lnSpc>
              <a:spcBef>
                <a:spcPct val="0"/>
              </a:spcBef>
              <a:spcAft>
                <a:spcPct val="0"/>
              </a:spcAft>
            </a:pPr>
            <a:r>
              <a:rPr lang="en-US" altLang="en-US" dirty="0">
                <a:solidFill>
                  <a:srgbClr val="00B050"/>
                </a:solidFill>
                <a:ea typeface="Calibri" panose="020F0502020204030204" pitchFamily="34" charset="0"/>
                <a:cs typeface="Times New Roman" panose="02020603050405020304" pitchFamily="18" charset="0"/>
              </a:rPr>
              <a:t>APPLY KNOWLEDGE</a:t>
            </a:r>
            <a:endParaRPr lang="en-US" altLang="en-US" sz="1400" dirty="0"/>
          </a:p>
          <a:p>
            <a:pPr lvl="0" eaLnBrk="0" fontAlgn="base" hangingPunct="0">
              <a:lnSpc>
                <a:spcPct val="100000"/>
              </a:lnSpc>
              <a:spcBef>
                <a:spcPct val="0"/>
              </a:spcBef>
              <a:spcAft>
                <a:spcPct val="0"/>
              </a:spcAft>
            </a:pPr>
            <a:r>
              <a:rPr lang="en-US" altLang="en-US" b="1" dirty="0">
                <a:latin typeface="Calibri" panose="020F0502020204030204" pitchFamily="34" charset="0"/>
                <a:ea typeface="Calibri" panose="020F0502020204030204" pitchFamily="34" charset="0"/>
                <a:cs typeface="Times New Roman" panose="02020603050405020304" pitchFamily="18" charset="0"/>
              </a:rPr>
              <a:t>7 </a:t>
            </a:r>
            <a:r>
              <a:rPr lang="en-US" altLang="en-US" dirty="0">
                <a:latin typeface="Calibri" panose="020F0502020204030204" pitchFamily="34" charset="0"/>
                <a:ea typeface="Calibri" panose="020F0502020204030204" pitchFamily="34" charset="0"/>
                <a:cs typeface="Times New Roman" panose="02020603050405020304" pitchFamily="18" charset="0"/>
              </a:rPr>
              <a:t>During the COVID-19 pandemic, people were advised to wash their hands with soap to break down the coronavirus’s protein coat. Explain how this would be effective in preventing the transmission of the virus.</a:t>
            </a:r>
            <a:endParaRPr lang="en-US" altLang="en-US" i="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lvl="0" eaLnBrk="0" fontAlgn="base" hangingPunct="0">
              <a:lnSpc>
                <a:spcPct val="100000"/>
              </a:lnSpc>
              <a:spcBef>
                <a:spcPct val="0"/>
              </a:spcBef>
              <a:spcAft>
                <a:spcPct val="0"/>
              </a:spcAft>
            </a:pPr>
            <a:r>
              <a:rPr lang="en-US" altLang="en-US" i="1" dirty="0">
                <a:solidFill>
                  <a:srgbClr val="FF0000"/>
                </a:solidFill>
                <a:latin typeface="Calibri" panose="020F0502020204030204" pitchFamily="34" charset="0"/>
                <a:ea typeface="Calibri" panose="020F0502020204030204" pitchFamily="34" charset="0"/>
                <a:cs typeface="Times New Roman" panose="02020603050405020304" pitchFamily="18" charset="0"/>
              </a:rPr>
              <a:t>Answer</a:t>
            </a:r>
            <a:r>
              <a:rPr lang="en-US" altLang="en-US" i="1" dirty="0">
                <a:latin typeface="Calibri" panose="020F0502020204030204" pitchFamily="34" charset="0"/>
                <a:ea typeface="Calibri" panose="020F0502020204030204" pitchFamily="34" charset="0"/>
                <a:cs typeface="Times New Roman" panose="02020603050405020304" pitchFamily="18" charset="0"/>
              </a:rPr>
              <a:t>:</a:t>
            </a:r>
            <a:r>
              <a:rPr lang="en-US" altLang="en-US" dirty="0">
                <a:latin typeface="Calibri" panose="020F0502020204030204" pitchFamily="34" charset="0"/>
                <a:ea typeface="Calibri" panose="020F0502020204030204" pitchFamily="34" charset="0"/>
                <a:cs typeface="Times New Roman" panose="02020603050405020304" pitchFamily="18" charset="0"/>
              </a:rPr>
              <a:t> The soap dissolves the oily surface membrane/fatty membrane, so the virus is destroyed. If the virus is unable to reproduce it cannot be transmitted. </a:t>
            </a:r>
            <a:endParaRPr lang="en-US" altLang="en-US" sz="1400" dirty="0"/>
          </a:p>
          <a:p>
            <a:pPr lvl="0" eaLnBrk="0" fontAlgn="base" hangingPunct="0">
              <a:lnSpc>
                <a:spcPct val="100000"/>
              </a:lnSpc>
              <a:spcBef>
                <a:spcPct val="0"/>
              </a:spcBef>
              <a:spcAft>
                <a:spcPct val="0"/>
              </a:spcAft>
            </a:pPr>
            <a:endParaRPr lang="en-US" altLang="en-US" b="1" dirty="0">
              <a:latin typeface="Calibri" panose="020F0502020204030204" pitchFamily="34" charset="0"/>
              <a:ea typeface="Calibri" panose="020F0502020204030204" pitchFamily="34" charset="0"/>
              <a:cs typeface="Times New Roman" panose="02020603050405020304" pitchFamily="18" charset="0"/>
            </a:endParaRPr>
          </a:p>
          <a:p>
            <a:pPr lvl="0" eaLnBrk="0" fontAlgn="base" hangingPunct="0">
              <a:lnSpc>
                <a:spcPct val="100000"/>
              </a:lnSpc>
              <a:spcBef>
                <a:spcPct val="0"/>
              </a:spcBef>
              <a:spcAft>
                <a:spcPct val="0"/>
              </a:spcAft>
            </a:pPr>
            <a:r>
              <a:rPr lang="en-US" altLang="en-US" b="1" dirty="0">
                <a:latin typeface="Calibri" panose="020F0502020204030204" pitchFamily="34" charset="0"/>
                <a:ea typeface="Calibri" panose="020F0502020204030204" pitchFamily="34" charset="0"/>
                <a:cs typeface="Times New Roman" panose="02020603050405020304" pitchFamily="18" charset="0"/>
              </a:rPr>
              <a:t>8 </a:t>
            </a:r>
            <a:r>
              <a:rPr lang="en-US" altLang="en-US" dirty="0">
                <a:latin typeface="Calibri" panose="020F0502020204030204" pitchFamily="34" charset="0"/>
                <a:ea typeface="Calibri" panose="020F0502020204030204" pitchFamily="34" charset="0"/>
                <a:cs typeface="Times New Roman" panose="02020603050405020304" pitchFamily="18" charset="0"/>
              </a:rPr>
              <a:t>There is some debate as to whether viruses are living things. Discuss your views on this idea.</a:t>
            </a:r>
            <a:endParaRPr lang="en-US" altLang="en-US" i="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lvl="0" eaLnBrk="0" fontAlgn="base" hangingPunct="0">
              <a:lnSpc>
                <a:spcPct val="100000"/>
              </a:lnSpc>
              <a:spcBef>
                <a:spcPct val="0"/>
              </a:spcBef>
              <a:spcAft>
                <a:spcPct val="0"/>
              </a:spcAft>
            </a:pPr>
            <a:r>
              <a:rPr lang="en-US" altLang="en-US" i="1" dirty="0">
                <a:solidFill>
                  <a:srgbClr val="FF0000"/>
                </a:solidFill>
                <a:latin typeface="Calibri" panose="020F0502020204030204" pitchFamily="34" charset="0"/>
                <a:ea typeface="Calibri" panose="020F0502020204030204" pitchFamily="34" charset="0"/>
                <a:cs typeface="Times New Roman" panose="02020603050405020304" pitchFamily="18" charset="0"/>
              </a:rPr>
              <a:t>Answer</a:t>
            </a:r>
            <a:r>
              <a:rPr lang="en-US" altLang="en-US" i="1" dirty="0">
                <a:latin typeface="Calibri" panose="020F0502020204030204" pitchFamily="34" charset="0"/>
                <a:ea typeface="Calibri" panose="020F0502020204030204" pitchFamily="34" charset="0"/>
                <a:cs typeface="Times New Roman" panose="02020603050405020304" pitchFamily="18" charset="0"/>
              </a:rPr>
              <a:t>:</a:t>
            </a:r>
            <a:r>
              <a:rPr lang="en-US" altLang="en-US" dirty="0">
                <a:latin typeface="Calibri" panose="020F0502020204030204" pitchFamily="34" charset="0"/>
                <a:ea typeface="Calibri" panose="020F0502020204030204" pitchFamily="34" charset="0"/>
                <a:cs typeface="Times New Roman" panose="02020603050405020304" pitchFamily="18" charset="0"/>
              </a:rPr>
              <a:t> Student responses will vary as this is an opinion question. To be determined living, many scientists believe that all eight characteristics of life must be fulfilled. Viruses are not able to reproduce without the use of a host cell, nor are they made of cells which are two characteristics of life. </a:t>
            </a:r>
            <a:endParaRPr lang="en-US" altLang="en-US" sz="1400" dirty="0"/>
          </a:p>
          <a:p>
            <a:pPr lvl="0" eaLnBrk="0" fontAlgn="base" hangingPunct="0">
              <a:lnSpc>
                <a:spcPct val="100000"/>
              </a:lnSpc>
              <a:spcBef>
                <a:spcPct val="0"/>
              </a:spcBef>
              <a:spcAft>
                <a:spcPct val="0"/>
              </a:spcAft>
            </a:pPr>
            <a:endParaRPr lang="en-US" altLang="en-US" b="1" dirty="0">
              <a:latin typeface="Calibri" panose="020F0502020204030204" pitchFamily="34" charset="0"/>
              <a:ea typeface="Calibri" panose="020F0502020204030204" pitchFamily="34" charset="0"/>
              <a:cs typeface="Times New Roman" panose="02020603050405020304" pitchFamily="18" charset="0"/>
            </a:endParaRPr>
          </a:p>
          <a:p>
            <a:pPr lvl="0" eaLnBrk="0" fontAlgn="base" hangingPunct="0">
              <a:lnSpc>
                <a:spcPct val="100000"/>
              </a:lnSpc>
              <a:spcBef>
                <a:spcPct val="0"/>
              </a:spcBef>
              <a:spcAft>
                <a:spcPct val="0"/>
              </a:spcAft>
            </a:pPr>
            <a:r>
              <a:rPr lang="en-US" altLang="en-US" b="1" dirty="0">
                <a:latin typeface="Calibri" panose="020F0502020204030204" pitchFamily="34" charset="0"/>
                <a:ea typeface="Calibri" panose="020F0502020204030204" pitchFamily="34" charset="0"/>
                <a:cs typeface="Times New Roman" panose="02020603050405020304" pitchFamily="18" charset="0"/>
              </a:rPr>
              <a:t>9 </a:t>
            </a:r>
            <a:r>
              <a:rPr lang="en-US" altLang="en-US" dirty="0">
                <a:latin typeface="Calibri" panose="020F0502020204030204" pitchFamily="34" charset="0"/>
                <a:ea typeface="Calibri" panose="020F0502020204030204" pitchFamily="34" charset="0"/>
                <a:cs typeface="Times New Roman" panose="02020603050405020304" pitchFamily="18" charset="0"/>
              </a:rPr>
              <a:t>It is easier to stop the transmission of pathogens that are transferred by body fluids than those that are transferred by moisture. Explain the reason for this observation.</a:t>
            </a:r>
            <a:endParaRPr lang="en-US" altLang="en-US" i="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lvl="0" eaLnBrk="0" fontAlgn="base" hangingPunct="0">
              <a:lnSpc>
                <a:spcPct val="100000"/>
              </a:lnSpc>
              <a:spcBef>
                <a:spcPct val="0"/>
              </a:spcBef>
              <a:spcAft>
                <a:spcPct val="0"/>
              </a:spcAft>
            </a:pPr>
            <a:r>
              <a:rPr lang="en-US" altLang="en-US" i="1" dirty="0">
                <a:solidFill>
                  <a:srgbClr val="FF0000"/>
                </a:solidFill>
                <a:latin typeface="Calibri" panose="020F0502020204030204" pitchFamily="34" charset="0"/>
                <a:ea typeface="Calibri" panose="020F0502020204030204" pitchFamily="34" charset="0"/>
                <a:cs typeface="Times New Roman" panose="02020603050405020304" pitchFamily="18" charset="0"/>
              </a:rPr>
              <a:t>Answer</a:t>
            </a:r>
            <a:r>
              <a:rPr lang="en-US" altLang="en-US" i="1" dirty="0">
                <a:latin typeface="Calibri" panose="020F0502020204030204" pitchFamily="34" charset="0"/>
                <a:ea typeface="Calibri" panose="020F0502020204030204" pitchFamily="34" charset="0"/>
                <a:cs typeface="Times New Roman" panose="02020603050405020304" pitchFamily="18" charset="0"/>
              </a:rPr>
              <a:t>:</a:t>
            </a:r>
            <a:r>
              <a:rPr lang="en-US" altLang="en-US" dirty="0">
                <a:latin typeface="Calibri" panose="020F0502020204030204" pitchFamily="34" charset="0"/>
                <a:ea typeface="Calibri" panose="020F0502020204030204" pitchFamily="34" charset="0"/>
                <a:cs typeface="Times New Roman" panose="02020603050405020304" pitchFamily="18" charset="0"/>
              </a:rPr>
              <a:t> Transmission by body fluids can be prevented using a condom or dental dam during sexual intercourse. Not sharing needles with anyone will prevent the spreading of pathogens from the bloodstream. Transmission by moisture is harder to prevent as droplets containing the pathogenic organism may be inhaled or may settle on food or utensils to later be ingested with food. </a:t>
            </a:r>
            <a:endParaRPr lang="en-US" altLang="en-US" sz="3200" dirty="0">
              <a:latin typeface="Arial" panose="020B0604020202020204" pitchFamily="34" charset="0"/>
            </a:endParaRPr>
          </a:p>
          <a:p>
            <a:endParaRPr lang="en-US" dirty="0"/>
          </a:p>
        </p:txBody>
      </p:sp>
    </p:spTree>
    <p:extLst>
      <p:ext uri="{BB962C8B-B14F-4D97-AF65-F5344CB8AC3E}">
        <p14:creationId xmlns:p14="http://schemas.microsoft.com/office/powerpoint/2010/main" val="304324654"/>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1894</TotalTime>
  <Words>1912</Words>
  <Application>Microsoft Macintosh PowerPoint</Application>
  <PresentationFormat>Widescreen</PresentationFormat>
  <Paragraphs>109</Paragraphs>
  <Slides>27</Slides>
  <Notes>2</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27</vt:i4>
      </vt:variant>
    </vt:vector>
  </HeadingPairs>
  <TitlesOfParts>
    <vt:vector size="40"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4</cp:revision>
  <cp:lastPrinted>2020-06-12T23:59:38Z</cp:lastPrinted>
  <dcterms:created xsi:type="dcterms:W3CDTF">2022-05-02T15:27:52Z</dcterms:created>
  <dcterms:modified xsi:type="dcterms:W3CDTF">2022-05-10T03:46:42Z</dcterms:modified>
</cp:coreProperties>
</file>
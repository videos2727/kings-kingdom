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4.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0" r:id="rId1"/>
    <p:sldMasterId id="2147483733" r:id="rId2"/>
    <p:sldMasterId id="2147483748" r:id="rId3"/>
    <p:sldMasterId id="2147483757" r:id="rId4"/>
    <p:sldMasterId id="2147483774" r:id="rId5"/>
  </p:sldMasterIdLst>
  <p:notesMasterIdLst>
    <p:notesMasterId r:id="rId16"/>
  </p:notesMasterIdLst>
  <p:sldIdLst>
    <p:sldId id="301" r:id="rId6"/>
    <p:sldId id="555" r:id="rId7"/>
    <p:sldId id="566" r:id="rId8"/>
    <p:sldId id="567" r:id="rId9"/>
    <p:sldId id="568" r:id="rId10"/>
    <p:sldId id="569" r:id="rId11"/>
    <p:sldId id="570" r:id="rId12"/>
    <p:sldId id="556" r:id="rId13"/>
    <p:sldId id="571" r:id="rId14"/>
    <p:sldId id="57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oran Groznica" initials="ZG" lastIdx="2" clrIdx="0">
    <p:extLst>
      <p:ext uri="{19B8F6BF-5375-455C-9EA6-DF929625EA0E}">
        <p15:presenceInfo xmlns:p15="http://schemas.microsoft.com/office/powerpoint/2012/main" userId="3fde8f81ab5e8c4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4D95"/>
    <a:srgbClr val="1991AC"/>
    <a:srgbClr val="00C0B4"/>
    <a:srgbClr val="00DC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00"/>
    <p:restoredTop sz="86391"/>
  </p:normalViewPr>
  <p:slideViewPr>
    <p:cSldViewPr snapToGrid="0" snapToObjects="1">
      <p:cViewPr varScale="1">
        <p:scale>
          <a:sx n="115" d="100"/>
          <a:sy n="115" d="100"/>
        </p:scale>
        <p:origin x="224" y="240"/>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97670B-01DE-304A-B5E0-CEAA57CA1308}" type="datetimeFigureOut">
              <a:rPr lang="en-US" smtClean="0"/>
              <a:t>5/10/22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6D6F03-C114-7440-A578-13B07E7D8E06}" type="slidenum">
              <a:rPr lang="en-US" smtClean="0"/>
              <a:t>‹#›</a:t>
            </a:fld>
            <a:endParaRPr lang="en-US"/>
          </a:p>
        </p:txBody>
      </p:sp>
    </p:spTree>
    <p:extLst>
      <p:ext uri="{BB962C8B-B14F-4D97-AF65-F5344CB8AC3E}">
        <p14:creationId xmlns:p14="http://schemas.microsoft.com/office/powerpoint/2010/main" val="2321234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Teacher Cue – refer to the vocabulary box as you read through and</a:t>
            </a:r>
            <a:r>
              <a:rPr lang="en-AU" baseline="0" dirty="0"/>
              <a:t> “unpack” the definition provided. Use hand gestures to emphasise the ”2 or more”, “mixed” and “separated” parts of the definition. </a:t>
            </a:r>
          </a:p>
          <a:p>
            <a:r>
              <a:rPr lang="en-AU" baseline="0" dirty="0"/>
              <a:t>Have students complete CFU 1 as a pair-share, then record these definitions &amp; examples as notes (with diagrams) if desired. </a:t>
            </a:r>
            <a:endParaRPr lang="en-AU" dirty="0"/>
          </a:p>
          <a:p>
            <a:r>
              <a:rPr lang="en-AU" dirty="0"/>
              <a:t>CFU 2 –</a:t>
            </a:r>
            <a:r>
              <a:rPr lang="en-AU" baseline="0" dirty="0"/>
              <a:t> pair-share, then whiteboards for answers – call on non-volunteers.</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1</a:t>
            </a:fld>
            <a:endParaRPr lang="en-AU"/>
          </a:p>
        </p:txBody>
      </p:sp>
    </p:spTree>
    <p:extLst>
      <p:ext uri="{BB962C8B-B14F-4D97-AF65-F5344CB8AC3E}">
        <p14:creationId xmlns:p14="http://schemas.microsoft.com/office/powerpoint/2010/main" val="15108502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CFU –</a:t>
            </a:r>
            <a:r>
              <a:rPr lang="en-AU" baseline="0" dirty="0"/>
              <a:t> read through the slide, have students look closely at the diagram, then allow think time, before asking them to explain it to their partner using the key terms </a:t>
            </a:r>
            <a:r>
              <a:rPr lang="en-AU" b="1" baseline="0" dirty="0"/>
              <a:t>pure substance</a:t>
            </a:r>
            <a:r>
              <a:rPr lang="en-AU" b="0" baseline="0" dirty="0"/>
              <a:t> and </a:t>
            </a:r>
            <a:r>
              <a:rPr lang="en-AU" b="1" baseline="0" dirty="0"/>
              <a:t>mixture. </a:t>
            </a:r>
            <a:r>
              <a:rPr lang="en-AU" b="0" baseline="0" dirty="0"/>
              <a:t>Call on non-volunteers and provide feedback, encouraging detailed responses in full sentence form.</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2</a:t>
            </a:fld>
            <a:endParaRPr lang="en-AU"/>
          </a:p>
        </p:txBody>
      </p:sp>
    </p:spTree>
    <p:extLst>
      <p:ext uri="{BB962C8B-B14F-4D97-AF65-F5344CB8AC3E}">
        <p14:creationId xmlns:p14="http://schemas.microsoft.com/office/powerpoint/2010/main" val="21982062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CFU –</a:t>
            </a:r>
            <a:r>
              <a:rPr lang="en-AU" baseline="0" dirty="0"/>
              <a:t> read through the slide, have students look closely at the diagram, then allow think time, before asking them to explain it to their partner using the key terms </a:t>
            </a:r>
            <a:r>
              <a:rPr lang="en-AU" b="1" baseline="0" dirty="0"/>
              <a:t>pure substance</a:t>
            </a:r>
            <a:r>
              <a:rPr lang="en-AU" b="0" baseline="0" dirty="0"/>
              <a:t> and </a:t>
            </a:r>
            <a:r>
              <a:rPr lang="en-AU" b="1" baseline="0" dirty="0"/>
              <a:t>mixture. </a:t>
            </a:r>
            <a:r>
              <a:rPr lang="en-AU" b="0" baseline="0" dirty="0"/>
              <a:t>Call on non-volunteers and provide feedback, encouraging detailed responses in full sentence form.</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8</a:t>
            </a:fld>
            <a:endParaRPr lang="en-AU"/>
          </a:p>
        </p:txBody>
      </p:sp>
    </p:spTree>
    <p:extLst>
      <p:ext uri="{BB962C8B-B14F-4D97-AF65-F5344CB8AC3E}">
        <p14:creationId xmlns:p14="http://schemas.microsoft.com/office/powerpoint/2010/main" val="19147534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4.xml"/><Relationship Id="rId4" Type="http://schemas.openxmlformats.org/officeDocument/2006/relationships/image" Target="../media/image4.jp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4.xml"/><Relationship Id="rId4" Type="http://schemas.openxmlformats.org/officeDocument/2006/relationships/image" Target="../media/image4.jp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EI)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6" y="1011383"/>
            <a:ext cx="3011715" cy="538446"/>
          </a:xfrm>
          <a:prstGeom prst="rect">
            <a:avLst/>
          </a:prstGeom>
          <a:solidFill>
            <a:srgbClr val="23566C"/>
          </a:solidFill>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Objective</a:t>
            </a:r>
          </a:p>
        </p:txBody>
      </p:sp>
      <p:sp>
        <p:nvSpPr>
          <p:cNvPr id="9" name="TextBox 8">
            <a:extLst>
              <a:ext uri="{FF2B5EF4-FFF2-40B4-BE49-F238E27FC236}">
                <a16:creationId xmlns:a16="http://schemas.microsoft.com/office/drawing/2014/main" id="{DF9C2B4A-0943-CC42-BE38-4F715F7CAA2B}"/>
              </a:ext>
            </a:extLst>
          </p:cNvPr>
          <p:cNvSpPr txBox="1"/>
          <p:nvPr/>
        </p:nvSpPr>
        <p:spPr>
          <a:xfrm>
            <a:off x="517951" y="4565193"/>
            <a:ext cx="2734700" cy="1947917"/>
          </a:xfrm>
          <a:prstGeom prst="rect">
            <a:avLst/>
          </a:prstGeom>
          <a:noFill/>
        </p:spPr>
        <p:txBody>
          <a:bodyPr wrap="square" tIns="180000" rtlCol="0" anchor="t">
            <a:normAutofit/>
          </a:bodyPr>
          <a:lstStyle/>
          <a:p>
            <a:r>
              <a:rPr lang="en-US" sz="3600" b="1" i="0" dirty="0">
                <a:solidFill>
                  <a:srgbClr val="23566C"/>
                </a:solidFill>
                <a:latin typeface="Calibri" panose="020F0502020204030204" pitchFamily="34" charset="0"/>
                <a:cs typeface="Calibri" panose="020F0502020204030204" pitchFamily="34" charset="0"/>
              </a:rPr>
              <a:t>Think </a:t>
            </a:r>
          </a:p>
          <a:p>
            <a:r>
              <a:rPr lang="en-US" sz="3600" b="1" i="0" dirty="0">
                <a:solidFill>
                  <a:srgbClr val="23566C"/>
                </a:solidFill>
                <a:latin typeface="Calibri" panose="020F0502020204030204" pitchFamily="34" charset="0"/>
                <a:cs typeface="Calibri" panose="020F0502020204030204" pitchFamily="34" charset="0"/>
              </a:rPr>
              <a:t>Pair</a:t>
            </a:r>
          </a:p>
          <a:p>
            <a:r>
              <a:rPr lang="en-US" sz="3600" b="1" i="0" dirty="0">
                <a:solidFill>
                  <a:srgbClr val="23566C"/>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3149365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I) Learning Objectiv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4372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Objective</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728213"/>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1218404"/>
            <a:ext cx="11577177" cy="5430940"/>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learning objective</a:t>
            </a:r>
          </a:p>
        </p:txBody>
      </p:sp>
    </p:spTree>
    <p:extLst>
      <p:ext uri="{BB962C8B-B14F-4D97-AF65-F5344CB8AC3E}">
        <p14:creationId xmlns:p14="http://schemas.microsoft.com/office/powerpoint/2010/main" val="2839666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I)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4372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1873045"/>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145445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I)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16018"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p:nvSpPr>
        <p:spPr>
          <a:xfrm>
            <a:off x="295218" y="1873045"/>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8551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EI)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7143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9" y="1873045"/>
            <a:ext cx="1990782"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279372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2053497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EI)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Concept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1923569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I)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p:nvSpPr>
        <p:spPr>
          <a:xfrm>
            <a:off x="295275" y="590550"/>
            <a:ext cx="4199996" cy="352425"/>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56394389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I)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56878865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EI)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82320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EI)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9" y="1053881"/>
            <a:ext cx="2350999" cy="495947"/>
          </a:xfrm>
          <a:prstGeom prst="rect">
            <a:avLst/>
          </a:prstGeom>
          <a:solidFill>
            <a:srgbClr val="23566C"/>
          </a:solidFill>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0725565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EI)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9071090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EI)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9" y="208656"/>
            <a:ext cx="1347844" cy="515262"/>
          </a:xfrm>
          <a:prstGeom prst="rect">
            <a:avLst/>
          </a:prstGeom>
          <a:solidFill>
            <a:srgbClr val="002060"/>
          </a:solidFill>
          <a:ln>
            <a:noFill/>
          </a:ln>
        </p:spPr>
        <p:txBody>
          <a:bodyPr wrap="square" rtlCol="0" anchor="ctr">
            <a:noAutofit/>
          </a:bodyPr>
          <a:lstStyle/>
          <a:p>
            <a:r>
              <a:rPr lang="en-US" sz="2400" b="1" i="0" dirty="0">
                <a:solidFill>
                  <a:schemeClr val="accent5">
                    <a:lumMod val="40000"/>
                    <a:lumOff val="60000"/>
                  </a:schemeClr>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723918"/>
            <a:ext cx="11577177" cy="1204895"/>
          </a:xfrm>
          <a:prstGeom prst="rect">
            <a:avLst/>
          </a:prstGeom>
          <a:solidFill>
            <a:schemeClr val="accent5">
              <a:lumMod val="40000"/>
              <a:lumOff val="60000"/>
            </a:schemeClr>
          </a:solidFill>
          <a:ln>
            <a:noFill/>
          </a:ln>
        </p:spPr>
        <p:txBody>
          <a:bodyPr wrap="square" rtlCol="0" anchor="ctr">
            <a:normAutofit/>
          </a:bodyPr>
          <a:lstStyle/>
          <a:p>
            <a:r>
              <a:rPr lang="en-US" sz="6000" b="1" i="0" dirty="0">
                <a:solidFill>
                  <a:srgbClr val="002060"/>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002060"/>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5241364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I)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55156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59" name="Text Placeholder 5">
            <a:extLst>
              <a:ext uri="{FF2B5EF4-FFF2-40B4-BE49-F238E27FC236}">
                <a16:creationId xmlns:a16="http://schemas.microsoft.com/office/drawing/2014/main" id="{D065E96F-34B9-6940-8CF5-B5BC1E923DCB}"/>
              </a:ext>
            </a:extLst>
          </p:cNvPr>
          <p:cNvSpPr>
            <a:spLocks noGrp="1"/>
          </p:cNvSpPr>
          <p:nvPr>
            <p:ph type="body" sz="quarter" idx="21" hasCustomPrompt="1"/>
          </p:nvPr>
        </p:nvSpPr>
        <p:spPr>
          <a:xfrm>
            <a:off x="9644135" y="287950"/>
            <a:ext cx="2162572" cy="288424"/>
          </a:xfrm>
          <a:prstGeom prst="rect">
            <a:avLst/>
          </a:prstGeom>
          <a:solidFill>
            <a:schemeClr val="accent6">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Make the connection</a:t>
            </a:r>
            <a:endParaRPr lang="en-US" dirty="0"/>
          </a:p>
        </p:txBody>
      </p:sp>
      <p:sp>
        <p:nvSpPr>
          <p:cNvPr id="60" name="Text Placeholder 48">
            <a:extLst>
              <a:ext uri="{FF2B5EF4-FFF2-40B4-BE49-F238E27FC236}">
                <a16:creationId xmlns:a16="http://schemas.microsoft.com/office/drawing/2014/main" id="{74718A69-45DC-3349-AC14-1CB203717716}"/>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61" name="Text Placeholder 5">
            <a:extLst>
              <a:ext uri="{FF2B5EF4-FFF2-40B4-BE49-F238E27FC236}">
                <a16:creationId xmlns:a16="http://schemas.microsoft.com/office/drawing/2014/main" id="{E8F06128-C65E-E74D-8888-C3B0265B87E5}"/>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62" name="Text Placeholder 48">
            <a:extLst>
              <a:ext uri="{FF2B5EF4-FFF2-40B4-BE49-F238E27FC236}">
                <a16:creationId xmlns:a16="http://schemas.microsoft.com/office/drawing/2014/main" id="{9CC4C70C-1C88-8242-822E-8EB858DBE3EF}"/>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63" name="Text Placeholder 5">
            <a:extLst>
              <a:ext uri="{FF2B5EF4-FFF2-40B4-BE49-F238E27FC236}">
                <a16:creationId xmlns:a16="http://schemas.microsoft.com/office/drawing/2014/main" id="{DB394B8D-09B6-2D4C-A89A-411FA179F6B4}"/>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64" name="Text Placeholder 48">
            <a:extLst>
              <a:ext uri="{FF2B5EF4-FFF2-40B4-BE49-F238E27FC236}">
                <a16:creationId xmlns:a16="http://schemas.microsoft.com/office/drawing/2014/main" id="{9E7179FB-4670-E449-82E2-2342DFBACF6F}"/>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678402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Content Development</a:t>
            </a:r>
          </a:p>
        </p:txBody>
      </p:sp>
      <p:sp>
        <p:nvSpPr>
          <p:cNvPr id="21" name="Text Placeholder 5">
            <a:extLst>
              <a:ext uri="{FF2B5EF4-FFF2-40B4-BE49-F238E27FC236}">
                <a16:creationId xmlns:a16="http://schemas.microsoft.com/office/drawing/2014/main" id="{578A17B0-D745-3C43-93AB-662F15D9C14B}"/>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2" name="Text Placeholder 48">
            <a:extLst>
              <a:ext uri="{FF2B5EF4-FFF2-40B4-BE49-F238E27FC236}">
                <a16:creationId xmlns:a16="http://schemas.microsoft.com/office/drawing/2014/main" id="{C5AFB84F-2B6E-D646-B782-34B1A586BAEE}"/>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3" name="Text Placeholder 5">
            <a:extLst>
              <a:ext uri="{FF2B5EF4-FFF2-40B4-BE49-F238E27FC236}">
                <a16:creationId xmlns:a16="http://schemas.microsoft.com/office/drawing/2014/main" id="{8579A7DA-1AA6-6348-9480-0ABDE8E7E869}"/>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4" name="Text Placeholder 48">
            <a:extLst>
              <a:ext uri="{FF2B5EF4-FFF2-40B4-BE49-F238E27FC236}">
                <a16:creationId xmlns:a16="http://schemas.microsoft.com/office/drawing/2014/main" id="{3DC620B8-B5B6-A546-998D-BB0D780266B1}"/>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5" name="Text Placeholder 5">
            <a:extLst>
              <a:ext uri="{FF2B5EF4-FFF2-40B4-BE49-F238E27FC236}">
                <a16:creationId xmlns:a16="http://schemas.microsoft.com/office/drawing/2014/main" id="{33D9DD79-4FA4-9441-9CD5-FD3E0E184E36}"/>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6" name="Text Placeholder 48">
            <a:extLst>
              <a:ext uri="{FF2B5EF4-FFF2-40B4-BE49-F238E27FC236}">
                <a16:creationId xmlns:a16="http://schemas.microsoft.com/office/drawing/2014/main" id="{40DC7D38-E5DA-C74E-92F3-A6FCC9CC0E70}"/>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5904603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kill Steps /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Skill Steps / Guided Practice</a:t>
            </a:r>
          </a:p>
        </p:txBody>
      </p:sp>
      <p:sp>
        <p:nvSpPr>
          <p:cNvPr id="22" name="Text Placeholder 5">
            <a:extLst>
              <a:ext uri="{FF2B5EF4-FFF2-40B4-BE49-F238E27FC236}">
                <a16:creationId xmlns:a16="http://schemas.microsoft.com/office/drawing/2014/main" id="{6FCF9CE4-B167-C647-830E-926D9BC11CD7}"/>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3" name="Text Placeholder 48">
            <a:extLst>
              <a:ext uri="{FF2B5EF4-FFF2-40B4-BE49-F238E27FC236}">
                <a16:creationId xmlns:a16="http://schemas.microsoft.com/office/drawing/2014/main" id="{0749FB8D-5908-B440-BF2C-3B703391AAE5}"/>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4" name="Text Placeholder 5">
            <a:extLst>
              <a:ext uri="{FF2B5EF4-FFF2-40B4-BE49-F238E27FC236}">
                <a16:creationId xmlns:a16="http://schemas.microsoft.com/office/drawing/2014/main" id="{B5210779-8122-F342-AF13-26D8416493B0}"/>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5" name="Text Placeholder 48">
            <a:extLst>
              <a:ext uri="{FF2B5EF4-FFF2-40B4-BE49-F238E27FC236}">
                <a16:creationId xmlns:a16="http://schemas.microsoft.com/office/drawing/2014/main" id="{2564DDFE-656D-C84E-991A-DC05015CC956}"/>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6" name="Text Placeholder 5">
            <a:extLst>
              <a:ext uri="{FF2B5EF4-FFF2-40B4-BE49-F238E27FC236}">
                <a16:creationId xmlns:a16="http://schemas.microsoft.com/office/drawing/2014/main" id="{842EB6E0-B7AD-6C40-89B8-5521B528F9C5}"/>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7" name="Text Placeholder 48">
            <a:extLst>
              <a:ext uri="{FF2B5EF4-FFF2-40B4-BE49-F238E27FC236}">
                <a16:creationId xmlns:a16="http://schemas.microsoft.com/office/drawing/2014/main" id="{A21C2D16-2A8E-4B4B-8D58-4B389AAA67A7}"/>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35781763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kills Check">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Skills Check</a:t>
            </a:r>
          </a:p>
        </p:txBody>
      </p:sp>
      <p:sp>
        <p:nvSpPr>
          <p:cNvPr id="24" name="Text Placeholder 5">
            <a:extLst>
              <a:ext uri="{FF2B5EF4-FFF2-40B4-BE49-F238E27FC236}">
                <a16:creationId xmlns:a16="http://schemas.microsoft.com/office/drawing/2014/main" id="{2D6AD4E2-8B86-1A42-B6B1-9794F63D2421}"/>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5" name="Text Placeholder 48">
            <a:extLst>
              <a:ext uri="{FF2B5EF4-FFF2-40B4-BE49-F238E27FC236}">
                <a16:creationId xmlns:a16="http://schemas.microsoft.com/office/drawing/2014/main" id="{3824608F-B525-2D45-9CFD-FDDDDC6F3A6B}"/>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6" name="Text Placeholder 5">
            <a:extLst>
              <a:ext uri="{FF2B5EF4-FFF2-40B4-BE49-F238E27FC236}">
                <a16:creationId xmlns:a16="http://schemas.microsoft.com/office/drawing/2014/main" id="{78FBBDF4-8B54-6D40-BB00-9DB79EE3BD87}"/>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7" name="Text Placeholder 48">
            <a:extLst>
              <a:ext uri="{FF2B5EF4-FFF2-40B4-BE49-F238E27FC236}">
                <a16:creationId xmlns:a16="http://schemas.microsoft.com/office/drawing/2014/main" id="{CF892DE4-0989-9F4F-B9B9-0D50497971BE}"/>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8" name="Text Placeholder 5">
            <a:extLst>
              <a:ext uri="{FF2B5EF4-FFF2-40B4-BE49-F238E27FC236}">
                <a16:creationId xmlns:a16="http://schemas.microsoft.com/office/drawing/2014/main" id="{504DAC59-2F1B-D344-B5E4-3DD118198D9F}"/>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9" name="Text Placeholder 48">
            <a:extLst>
              <a:ext uri="{FF2B5EF4-FFF2-40B4-BE49-F238E27FC236}">
                <a16:creationId xmlns:a16="http://schemas.microsoft.com/office/drawing/2014/main" id="{EA6CD3E8-8EA8-D643-BBB5-EB619A565567}"/>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135128304"/>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28" name="Text Placeholder 5">
            <a:extLst>
              <a:ext uri="{FF2B5EF4-FFF2-40B4-BE49-F238E27FC236}">
                <a16:creationId xmlns:a16="http://schemas.microsoft.com/office/drawing/2014/main" id="{476A4E78-E152-CE41-A402-F83EB570A417}"/>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9" name="Text Placeholder 48">
            <a:extLst>
              <a:ext uri="{FF2B5EF4-FFF2-40B4-BE49-F238E27FC236}">
                <a16:creationId xmlns:a16="http://schemas.microsoft.com/office/drawing/2014/main" id="{BB7D38D9-00D0-E94F-A56B-68FEB60A7FFF}"/>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30" name="Text Placeholder 5">
            <a:extLst>
              <a:ext uri="{FF2B5EF4-FFF2-40B4-BE49-F238E27FC236}">
                <a16:creationId xmlns:a16="http://schemas.microsoft.com/office/drawing/2014/main" id="{75A649CF-6F35-6240-8694-7D985FF77DF1}"/>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31" name="Text Placeholder 48">
            <a:extLst>
              <a:ext uri="{FF2B5EF4-FFF2-40B4-BE49-F238E27FC236}">
                <a16:creationId xmlns:a16="http://schemas.microsoft.com/office/drawing/2014/main" id="{73A7D846-854A-F34B-A7E6-331D90F8028C}"/>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32" name="Text Placeholder 5">
            <a:extLst>
              <a:ext uri="{FF2B5EF4-FFF2-40B4-BE49-F238E27FC236}">
                <a16:creationId xmlns:a16="http://schemas.microsoft.com/office/drawing/2014/main" id="{B421E4A7-84CE-D441-9E4B-33DE3CF3ACE2}"/>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33" name="Text Placeholder 48">
            <a:extLst>
              <a:ext uri="{FF2B5EF4-FFF2-40B4-BE49-F238E27FC236}">
                <a16:creationId xmlns:a16="http://schemas.microsoft.com/office/drawing/2014/main" id="{DC7FFA7A-C37D-F846-868C-88068206D29C}"/>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2055765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8" y="1053881"/>
            <a:ext cx="2572719" cy="495947"/>
          </a:xfrm>
          <a:prstGeom prst="rect">
            <a:avLst/>
          </a:prstGeom>
          <a:solidFill>
            <a:srgbClr val="23566C"/>
          </a:solidFill>
        </p:spPr>
        <p:txBody>
          <a:bodyPr wrap="square" rtlCol="0" anchor="ctr">
            <a:noAutofit/>
          </a:bodyPr>
          <a:lstStyle/>
          <a:p>
            <a:r>
              <a:rPr lang="en-US" sz="2400" b="1" dirty="0">
                <a:solidFill>
                  <a:srgbClr val="B3FFFF"/>
                </a:solidFill>
                <a:latin typeface="Futura Medium" panose="020B0602020204020303" pitchFamily="34" charset="-79"/>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p:spPr>
        <p:txBody>
          <a:bodyPr tIns="144000" bIns="0"/>
          <a:lstStyle>
            <a:lvl1pPr marL="0" indent="0">
              <a:buNone/>
              <a:defRPr sz="6000" b="1">
                <a:solidFill>
                  <a:schemeClr val="bg1"/>
                </a:solidFill>
                <a:latin typeface="Futura Medium" panose="020B0602020204020303" pitchFamily="34" charset="-79"/>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14430495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Independent Practice</a:t>
            </a:r>
          </a:p>
        </p:txBody>
      </p:sp>
      <p:sp>
        <p:nvSpPr>
          <p:cNvPr id="20" name="Text Placeholder 5">
            <a:extLst>
              <a:ext uri="{FF2B5EF4-FFF2-40B4-BE49-F238E27FC236}">
                <a16:creationId xmlns:a16="http://schemas.microsoft.com/office/drawing/2014/main" id="{2A7343F6-8A3F-024A-BAB1-A40A1A630C10}"/>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1" name="Text Placeholder 48">
            <a:extLst>
              <a:ext uri="{FF2B5EF4-FFF2-40B4-BE49-F238E27FC236}">
                <a16:creationId xmlns:a16="http://schemas.microsoft.com/office/drawing/2014/main" id="{81597401-FB89-084B-955C-A0C7FAB02436}"/>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2" name="Text Placeholder 5">
            <a:extLst>
              <a:ext uri="{FF2B5EF4-FFF2-40B4-BE49-F238E27FC236}">
                <a16:creationId xmlns:a16="http://schemas.microsoft.com/office/drawing/2014/main" id="{A82891C2-3E9D-4241-85E7-747B1595FB99}"/>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3" name="Text Placeholder 48">
            <a:extLst>
              <a:ext uri="{FF2B5EF4-FFF2-40B4-BE49-F238E27FC236}">
                <a16:creationId xmlns:a16="http://schemas.microsoft.com/office/drawing/2014/main" id="{8A690C59-B342-0648-BCE5-1C98B5A89AD7}"/>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4" name="Text Placeholder 5">
            <a:extLst>
              <a:ext uri="{FF2B5EF4-FFF2-40B4-BE49-F238E27FC236}">
                <a16:creationId xmlns:a16="http://schemas.microsoft.com/office/drawing/2014/main" id="{17B4E049-9FD5-E24B-B3BE-5C09B449C3F6}"/>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5" name="Text Placeholder 48">
            <a:extLst>
              <a:ext uri="{FF2B5EF4-FFF2-40B4-BE49-F238E27FC236}">
                <a16:creationId xmlns:a16="http://schemas.microsoft.com/office/drawing/2014/main" id="{5E376940-61D8-D142-9880-9EE380DE8579}"/>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22323396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R) Daily Edi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Daily Starter</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7611429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R) Icebreake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Icebreaker</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Before we begin the lesson…</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7767689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DR) Icebreake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Wrap-up</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Before we go…</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105318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R) Daily Edit 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1549400"/>
            <a:ext cx="11578126" cy="2929609"/>
          </a:xfrm>
          <a:prstGeom prst="rect">
            <a:avLst/>
          </a:prstGeom>
          <a:solidFill>
            <a:srgbClr val="A14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7200" b="1" i="0" dirty="0">
                <a:latin typeface="Century Gothic" panose="020B0502020202020204" pitchFamily="34" charset="0"/>
              </a:rPr>
              <a:t>Reviewing what we know</a:t>
            </a: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95218" y="1011383"/>
            <a:ext cx="2106787" cy="538446"/>
          </a:xfrm>
          <a:prstGeom prst="rect">
            <a:avLst/>
          </a:prstGeom>
          <a:solidFill>
            <a:srgbClr val="4C223F"/>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Daily Review</a:t>
            </a:r>
          </a:p>
        </p:txBody>
      </p:sp>
    </p:spTree>
    <p:extLst>
      <p:ext uri="{BB962C8B-B14F-4D97-AF65-F5344CB8AC3E}">
        <p14:creationId xmlns:p14="http://schemas.microsoft.com/office/powerpoint/2010/main" val="34650356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R)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3746334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R)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3960112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R)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008595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R)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4C223F"/>
          </a:solidFill>
          <a:ln>
            <a:noFill/>
          </a:ln>
        </p:spPr>
        <p:txBody>
          <a:bodyPr wrap="square" rtlCol="0" anchor="ctr">
            <a:noAutofit/>
          </a:bodyPr>
          <a:lstStyle/>
          <a:p>
            <a:r>
              <a:rPr lang="en-US" sz="2400" b="1" i="0" dirty="0">
                <a:solidFill>
                  <a:schemeClr val="accent5">
                    <a:lumMod val="40000"/>
                    <a:lumOff val="60000"/>
                  </a:schemeClr>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FFB6F2"/>
          </a:solidFill>
          <a:ln>
            <a:noFill/>
          </a:ln>
        </p:spPr>
        <p:txBody>
          <a:bodyPr wrap="square" rtlCol="0" anchor="ctr">
            <a:normAutofit/>
          </a:bodyPr>
          <a:lstStyle/>
          <a:p>
            <a:pPr marL="0" indent="0">
              <a:tabLst>
                <a:tab pos="3597275" algn="l"/>
              </a:tabLst>
            </a:pPr>
            <a:r>
              <a:rPr lang="en-US" sz="6000" b="1" i="0" dirty="0">
                <a:solidFill>
                  <a:srgbClr val="4C223F"/>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27007319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R) Hyper-speed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A14986"/>
          </a:solidFill>
        </p:spPr>
        <p:txBody>
          <a:bodyPr wrap="square" rtlCol="0" anchor="ctr">
            <a:noAutofit/>
          </a:bodyPr>
          <a:lstStyle/>
          <a:p>
            <a:pPr algn="ctr"/>
            <a:r>
              <a:rPr lang="en-US" sz="2000" b="1" i="0" dirty="0">
                <a:solidFill>
                  <a:srgbClr val="FFB6F2"/>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square" rtlCol="0" anchor="ctr">
            <a:normAutofit fontScale="25000" lnSpcReduction="20000"/>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25002" y="629514"/>
            <a:ext cx="5504743"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25002" y="1772516"/>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25002" y="2922543"/>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25002" y="4072570"/>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25002" y="5201522"/>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36436836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R)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A14986"/>
          </a:solidFill>
        </p:spPr>
        <p:txBody>
          <a:bodyPr wrap="square" rtlCol="0" anchor="ctr">
            <a:noAutofit/>
          </a:bodyPr>
          <a:lstStyle/>
          <a:p>
            <a:pPr algn="ctr"/>
            <a:r>
              <a:rPr lang="en-US" sz="2000" b="1" i="0" dirty="0">
                <a:solidFill>
                  <a:srgbClr val="FFB6F2"/>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rgbClr val="A14986"/>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solidFill>
                <a:srgbClr val="A14986"/>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63638" y="629514"/>
            <a:ext cx="5466107"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63638" y="1772516"/>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63638" y="2915518"/>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63638" y="4058520"/>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63638" y="5201522"/>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2307647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R)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06066"/>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Recite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58432"/>
            <a:ext cx="8954305" cy="1914525"/>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Go over the steps they already know from this unit, or from relevant prior knowledge.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6808063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R)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Recall</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4190"/>
            <a:ext cx="8954305" cy="1900238"/>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Practicing the steps they already know together. This should be guided practice.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8205587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R) Apply">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Apply</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5599"/>
            <a:ext cx="8954305" cy="1985962"/>
          </a:xfrm>
          <a:prstGeom prst="rect">
            <a:avLst/>
          </a:prstGeo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Quickly check that all students can still complete the previous steps learnt.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7772155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R)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812306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5/10/22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4272889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S) Word List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208446"/>
            <a:ext cx="11578126" cy="1322388"/>
          </a:xfrm>
          <a:prstGeom prst="rect">
            <a:avLst/>
          </a:prstGeom>
          <a:solidFill>
            <a:srgbClr val="479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sz="7200" b="1" i="0" dirty="0">
                <a:latin typeface="Century Gothic" panose="020B0502020202020204" pitchFamily="34" charset="0"/>
              </a:rPr>
              <a:t>   Vocabulary &amp; Spelling</a:t>
            </a:r>
          </a:p>
        </p:txBody>
      </p:sp>
      <p:cxnSp>
        <p:nvCxnSpPr>
          <p:cNvPr id="3" name="Straight Connector 2">
            <a:extLst>
              <a:ext uri="{FF2B5EF4-FFF2-40B4-BE49-F238E27FC236}">
                <a16:creationId xmlns:a16="http://schemas.microsoft.com/office/drawing/2014/main" id="{5AD15892-5882-3341-B706-D64E5ABBDC96}"/>
              </a:ext>
            </a:extLst>
          </p:cNvPr>
          <p:cNvCxnSpPr/>
          <p:nvPr userDrawn="1"/>
        </p:nvCxnSpPr>
        <p:spPr>
          <a:xfrm>
            <a:off x="6084282" y="1771650"/>
            <a:ext cx="0" cy="4572000"/>
          </a:xfrm>
          <a:prstGeom prst="line">
            <a:avLst/>
          </a:prstGeom>
          <a:ln w="28575">
            <a:solidFill>
              <a:srgbClr val="47998B"/>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EAD6347-1222-7C40-97CD-5685C7FBB93B}"/>
              </a:ext>
            </a:extLst>
          </p:cNvPr>
          <p:cNvSpPr txBox="1"/>
          <p:nvPr userDrawn="1"/>
        </p:nvSpPr>
        <p:spPr>
          <a:xfrm>
            <a:off x="295219" y="1564481"/>
            <a:ext cx="5789063" cy="523220"/>
          </a:xfrm>
          <a:prstGeom prst="rect">
            <a:avLst/>
          </a:prstGeom>
          <a:noFill/>
        </p:spPr>
        <p:txBody>
          <a:bodyPr wrap="square" rtlCol="0">
            <a:spAutoFit/>
          </a:bodyPr>
          <a:lstStyle/>
          <a:p>
            <a:pPr algn="ctr"/>
            <a:r>
              <a:rPr lang="en-US" sz="2800" b="1" dirty="0">
                <a:solidFill>
                  <a:srgbClr val="1F443E"/>
                </a:solidFill>
              </a:rPr>
              <a:t>Practice Words</a:t>
            </a:r>
          </a:p>
        </p:txBody>
      </p:sp>
      <p:sp>
        <p:nvSpPr>
          <p:cNvPr id="8" name="TextBox 7">
            <a:extLst>
              <a:ext uri="{FF2B5EF4-FFF2-40B4-BE49-F238E27FC236}">
                <a16:creationId xmlns:a16="http://schemas.microsoft.com/office/drawing/2014/main" id="{DFC75BB7-22FA-3044-BE33-24527B15C19C}"/>
              </a:ext>
            </a:extLst>
          </p:cNvPr>
          <p:cNvSpPr txBox="1"/>
          <p:nvPr userDrawn="1"/>
        </p:nvSpPr>
        <p:spPr>
          <a:xfrm>
            <a:off x="6084282" y="1573349"/>
            <a:ext cx="5789063" cy="523220"/>
          </a:xfrm>
          <a:prstGeom prst="rect">
            <a:avLst/>
          </a:prstGeom>
          <a:noFill/>
        </p:spPr>
        <p:txBody>
          <a:bodyPr wrap="square" rtlCol="0">
            <a:spAutoFit/>
          </a:bodyPr>
          <a:lstStyle/>
          <a:p>
            <a:pPr algn="ctr"/>
            <a:r>
              <a:rPr lang="en-US" sz="2800" b="1" dirty="0">
                <a:solidFill>
                  <a:srgbClr val="1F443E"/>
                </a:solidFill>
              </a:rPr>
              <a:t>New Words</a:t>
            </a:r>
          </a:p>
        </p:txBody>
      </p:sp>
      <p:sp>
        <p:nvSpPr>
          <p:cNvPr id="10" name="Text Placeholder 9">
            <a:extLst>
              <a:ext uri="{FF2B5EF4-FFF2-40B4-BE49-F238E27FC236}">
                <a16:creationId xmlns:a16="http://schemas.microsoft.com/office/drawing/2014/main" id="{67D1519D-3B3A-A443-9C33-32137A836131}"/>
              </a:ext>
            </a:extLst>
          </p:cNvPr>
          <p:cNvSpPr>
            <a:spLocks noGrp="1"/>
          </p:cNvSpPr>
          <p:nvPr>
            <p:ph type="body" sz="quarter" idx="10" hasCustomPrompt="1"/>
          </p:nvPr>
        </p:nvSpPr>
        <p:spPr>
          <a:xfrm>
            <a:off x="295275" y="2457450"/>
            <a:ext cx="5789613" cy="4171950"/>
          </a:xfrm>
          <a:prstGeom prst="rect">
            <a:avLst/>
          </a:prstGeom>
        </p:spPr>
        <p:txBody>
          <a:bodyPr/>
          <a:lstStyle>
            <a:lvl1pPr marL="457200" indent="-457200">
              <a:buFont typeface="Arial" panose="020B0604020202020204" pitchFamily="34" charset="0"/>
              <a:buChar char="•"/>
              <a:defRPr b="1"/>
            </a:lvl1pPr>
            <a:lvl2pPr>
              <a:defRPr b="1"/>
            </a:lvl2pPr>
            <a:lvl3pPr>
              <a:defRPr b="1"/>
            </a:lvl3pPr>
            <a:lvl4pPr>
              <a:defRPr b="1"/>
            </a:lvl4pPr>
            <a:lvl5pPr>
              <a:defRPr b="1"/>
            </a:lvl5pPr>
          </a:lstStyle>
          <a:p>
            <a:pPr lvl="0"/>
            <a:r>
              <a:rPr lang="en-US" dirty="0"/>
              <a:t>Add known words for hyper-speed practice</a:t>
            </a:r>
          </a:p>
        </p:txBody>
      </p:sp>
      <p:sp>
        <p:nvSpPr>
          <p:cNvPr id="11" name="Text Placeholder 9">
            <a:extLst>
              <a:ext uri="{FF2B5EF4-FFF2-40B4-BE49-F238E27FC236}">
                <a16:creationId xmlns:a16="http://schemas.microsoft.com/office/drawing/2014/main" id="{3843A533-E319-DD4D-BFA7-5A1FB929CA5C}"/>
              </a:ext>
            </a:extLst>
          </p:cNvPr>
          <p:cNvSpPr>
            <a:spLocks noGrp="1"/>
          </p:cNvSpPr>
          <p:nvPr>
            <p:ph type="body" sz="quarter" idx="11" hasCustomPrompt="1"/>
          </p:nvPr>
        </p:nvSpPr>
        <p:spPr>
          <a:xfrm>
            <a:off x="6083732" y="2466318"/>
            <a:ext cx="5789613" cy="4171950"/>
          </a:xfrm>
          <a:prstGeom prst="rect">
            <a:avLst/>
          </a:prstGeom>
        </p:spPr>
        <p:txBody>
          <a:bodyPr/>
          <a:lstStyle>
            <a:lvl1pPr marL="457200" indent="-457200">
              <a:buFont typeface="Arial" panose="020B0604020202020204" pitchFamily="34" charset="0"/>
              <a:buChar char="•"/>
              <a:defRPr b="1"/>
            </a:lvl1pPr>
            <a:lvl2pPr>
              <a:defRPr b="1"/>
            </a:lvl2pPr>
            <a:lvl3pPr>
              <a:defRPr b="1"/>
            </a:lvl3pPr>
            <a:lvl4pPr>
              <a:defRPr b="1"/>
            </a:lvl4pPr>
            <a:lvl5pPr>
              <a:defRPr b="1"/>
            </a:lvl5pPr>
          </a:lstStyle>
          <a:p>
            <a:pPr lvl="0"/>
            <a:r>
              <a:rPr lang="en-US" dirty="0"/>
              <a:t>Add new words for learning definitions and spelling</a:t>
            </a:r>
          </a:p>
        </p:txBody>
      </p:sp>
    </p:spTree>
    <p:extLst>
      <p:ext uri="{BB962C8B-B14F-4D97-AF65-F5344CB8AC3E}">
        <p14:creationId xmlns:p14="http://schemas.microsoft.com/office/powerpoint/2010/main" val="242144716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S)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34089652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S)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35105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S)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045112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VS) Hyper-speed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1F443E"/>
          </a:solidFill>
        </p:spPr>
        <p:txBody>
          <a:bodyPr wrap="square" rtlCol="0" anchor="ctr">
            <a:noAutofit/>
          </a:bodyPr>
          <a:lstStyle/>
          <a:p>
            <a:pPr algn="ctr"/>
            <a:r>
              <a:rPr lang="en-US" sz="2000" b="1" i="0" dirty="0">
                <a:solidFill>
                  <a:srgbClr val="C1FFE1"/>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37882" y="629514"/>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37882" y="1772516"/>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37882" y="2915518"/>
            <a:ext cx="549403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37882" y="4058520"/>
            <a:ext cx="549403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37882" y="5201522"/>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331218264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VS)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1F443E"/>
          </a:solidFill>
        </p:spPr>
        <p:txBody>
          <a:bodyPr wrap="square" rtlCol="0" anchor="ctr">
            <a:noAutofit/>
          </a:bodyPr>
          <a:lstStyle/>
          <a:p>
            <a:pPr algn="ctr"/>
            <a:r>
              <a:rPr lang="en-US" sz="2000" b="1" i="0" dirty="0">
                <a:solidFill>
                  <a:srgbClr val="C1FFE1"/>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89396" y="629514"/>
            <a:ext cx="5440349"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89396" y="1772516"/>
            <a:ext cx="544035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89396" y="2915518"/>
            <a:ext cx="5442516"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89396" y="4058520"/>
            <a:ext cx="5442516"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89396" y="5201522"/>
            <a:ext cx="544035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2086947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VS)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182155"/>
          </a:xfrm>
          <a:prstGeom prst="rect">
            <a:avLst/>
          </a:prstGeom>
          <a:solidFill>
            <a:srgbClr val="C1FFE1"/>
          </a:solidFill>
          <a:ln>
            <a:noFill/>
          </a:ln>
        </p:spPr>
        <p:txBody>
          <a:bodyPr wrap="square" rtlCol="0" anchor="ctr">
            <a:normAutofit/>
          </a:bodyPr>
          <a:lstStyle/>
          <a:p>
            <a:r>
              <a:rPr lang="en-US" sz="6000" b="1" i="0" dirty="0">
                <a:solidFill>
                  <a:srgbClr val="1F443E"/>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3460232"/>
          </a:xfrm>
          <a:prstGeom prst="rect">
            <a:avLst/>
          </a:prstGeom>
          <a:noFill/>
        </p:spPr>
        <p:txBody>
          <a:bodyPr tIns="144000" bIns="0" anchor="ctr"/>
          <a:lstStyle>
            <a:lvl1pPr marL="0" indent="0" algn="ctr">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the word apart</a:t>
            </a:r>
          </a:p>
        </p:txBody>
      </p:sp>
    </p:spTree>
    <p:extLst>
      <p:ext uri="{BB962C8B-B14F-4D97-AF65-F5344CB8AC3E}">
        <p14:creationId xmlns:p14="http://schemas.microsoft.com/office/powerpoint/2010/main" val="18098056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VS)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69727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5/10/22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1031468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C)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382248"/>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Learning Goal</a:t>
            </a:r>
          </a:p>
        </p:txBody>
      </p:sp>
      <p:sp>
        <p:nvSpPr>
          <p:cNvPr id="9" name="TextBox 8">
            <a:extLst>
              <a:ext uri="{FF2B5EF4-FFF2-40B4-BE49-F238E27FC236}">
                <a16:creationId xmlns:a16="http://schemas.microsoft.com/office/drawing/2014/main" id="{DF9C2B4A-0943-CC42-BE38-4F715F7CAA2B}"/>
              </a:ext>
            </a:extLst>
          </p:cNvPr>
          <p:cNvSpPr txBox="1"/>
          <p:nvPr userDrawn="1"/>
        </p:nvSpPr>
        <p:spPr>
          <a:xfrm>
            <a:off x="517951" y="4565193"/>
            <a:ext cx="2734700" cy="1947917"/>
          </a:xfrm>
          <a:prstGeom prst="rect">
            <a:avLst/>
          </a:prstGeom>
          <a:noFill/>
        </p:spPr>
        <p:txBody>
          <a:bodyPr wrap="square" tIns="180000" rtlCol="0" anchor="t">
            <a:normAutofit/>
          </a:bodyPr>
          <a:lstStyle/>
          <a:p>
            <a:r>
              <a:rPr lang="en-US" sz="3600" b="1" i="0" dirty="0">
                <a:solidFill>
                  <a:srgbClr val="683F84"/>
                </a:solidFill>
                <a:latin typeface="Calibri" panose="020F0502020204030204" pitchFamily="34" charset="0"/>
                <a:cs typeface="Calibri" panose="020F0502020204030204" pitchFamily="34" charset="0"/>
              </a:rPr>
              <a:t>Think </a:t>
            </a:r>
          </a:p>
          <a:p>
            <a:r>
              <a:rPr lang="en-US" sz="3600" b="1" i="0" dirty="0">
                <a:solidFill>
                  <a:srgbClr val="683F84"/>
                </a:solidFill>
                <a:latin typeface="Calibri" panose="020F0502020204030204" pitchFamily="34" charset="0"/>
                <a:cs typeface="Calibri" panose="020F0502020204030204" pitchFamily="34" charset="0"/>
              </a:rPr>
              <a:t>Pair</a:t>
            </a:r>
          </a:p>
          <a:p>
            <a:r>
              <a:rPr lang="en-US" sz="3600" b="1" i="0" dirty="0">
                <a:solidFill>
                  <a:srgbClr val="683F84"/>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683F84"/>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28544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RC)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7644547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RC)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683F84"/>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2952543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RC)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27957053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RC)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142032246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RC)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Content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29468767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RC)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userDrawn="1"/>
        </p:nvSpPr>
        <p:spPr>
          <a:xfrm>
            <a:off x="295275" y="590550"/>
            <a:ext cx="4199996" cy="352425"/>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884283185"/>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RC)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874969655"/>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RC)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20989078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RC)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9" y="1053881"/>
            <a:ext cx="2350999" cy="495947"/>
          </a:xfrm>
          <a:prstGeom prst="rect">
            <a:avLst/>
          </a:prstGeom>
          <a:solidFill>
            <a:srgbClr val="382248"/>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0541793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RC)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67937546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RC)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FFB6F2"/>
          </a:solidFill>
          <a:ln>
            <a:noFill/>
          </a:ln>
        </p:spPr>
        <p:txBody>
          <a:bodyPr wrap="square" rtlCol="0" anchor="ctr">
            <a:normAutofit/>
          </a:bodyPr>
          <a:lstStyle/>
          <a:p>
            <a:r>
              <a:rPr lang="en-US" sz="6000" b="1" i="0" dirty="0">
                <a:solidFill>
                  <a:srgbClr val="382248"/>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67233742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RC)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725218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5/10/22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6129672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2585C-8B69-B043-B753-1A3000E352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5CEF58-0EF9-D840-9A8F-AD0FF1E4BE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086F59C-3B87-1C41-BD96-7DDB60283D1F}"/>
              </a:ext>
            </a:extLst>
          </p:cNvPr>
          <p:cNvSpPr>
            <a:spLocks noGrp="1"/>
          </p:cNvSpPr>
          <p:nvPr>
            <p:ph type="dt" sz="half" idx="10"/>
          </p:nvPr>
        </p:nvSpPr>
        <p:spPr/>
        <p:txBody>
          <a:bodyPr/>
          <a:lstStyle/>
          <a:p>
            <a:fld id="{B61BEF0D-F0BB-DE4B-95CE-6DB70DBA9567}" type="datetimeFigureOut">
              <a:rPr lang="en-US" smtClean="0"/>
              <a:pPr/>
              <a:t>5/10/22</a:t>
            </a:fld>
            <a:endParaRPr lang="en-US" dirty="0"/>
          </a:p>
        </p:txBody>
      </p:sp>
      <p:sp>
        <p:nvSpPr>
          <p:cNvPr id="5" name="Footer Placeholder 4">
            <a:extLst>
              <a:ext uri="{FF2B5EF4-FFF2-40B4-BE49-F238E27FC236}">
                <a16:creationId xmlns:a16="http://schemas.microsoft.com/office/drawing/2014/main" id="{977998FC-6D47-6449-A1F6-30E23BA727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AC17CDF-FC7F-5A44-9C47-53EAA5ED781D}"/>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992569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43433-A2CE-6244-9F12-597922B28A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97E04B-808C-9F42-BF20-9FB1B64025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301CBA-4616-FD45-8717-85954893BE41}"/>
              </a:ext>
            </a:extLst>
          </p:cNvPr>
          <p:cNvSpPr>
            <a:spLocks noGrp="1"/>
          </p:cNvSpPr>
          <p:nvPr>
            <p:ph type="dt" sz="half" idx="10"/>
          </p:nvPr>
        </p:nvSpPr>
        <p:spPr/>
        <p:txBody>
          <a:bodyPr/>
          <a:lstStyle/>
          <a:p>
            <a:fld id="{B61BEF0D-F0BB-DE4B-95CE-6DB70DBA9567}" type="datetimeFigureOut">
              <a:rPr lang="en-US" smtClean="0"/>
              <a:pPr/>
              <a:t>5/10/22</a:t>
            </a:fld>
            <a:endParaRPr lang="en-US" dirty="0"/>
          </a:p>
        </p:txBody>
      </p:sp>
      <p:sp>
        <p:nvSpPr>
          <p:cNvPr id="5" name="Footer Placeholder 4">
            <a:extLst>
              <a:ext uri="{FF2B5EF4-FFF2-40B4-BE49-F238E27FC236}">
                <a16:creationId xmlns:a16="http://schemas.microsoft.com/office/drawing/2014/main" id="{16C6EC38-1217-AF4A-BF4A-8C98EFBF38B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262114F-C2DD-B544-97F6-A6869EB0D8A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2605198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C308E-C0FD-7847-BDAC-288A4A818C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7F8788-D236-534A-8446-06EADB8B0C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CE6483-F658-9B42-B6E2-2273E7B5CD5E}"/>
              </a:ext>
            </a:extLst>
          </p:cNvPr>
          <p:cNvSpPr>
            <a:spLocks noGrp="1"/>
          </p:cNvSpPr>
          <p:nvPr>
            <p:ph type="dt" sz="half" idx="10"/>
          </p:nvPr>
        </p:nvSpPr>
        <p:spPr/>
        <p:txBody>
          <a:bodyPr/>
          <a:lstStyle/>
          <a:p>
            <a:fld id="{B61BEF0D-F0BB-DE4B-95CE-6DB70DBA9567}" type="datetimeFigureOut">
              <a:rPr lang="en-US" smtClean="0"/>
              <a:pPr/>
              <a:t>5/10/22</a:t>
            </a:fld>
            <a:endParaRPr lang="en-US" dirty="0"/>
          </a:p>
        </p:txBody>
      </p:sp>
      <p:sp>
        <p:nvSpPr>
          <p:cNvPr id="5" name="Footer Placeholder 4">
            <a:extLst>
              <a:ext uri="{FF2B5EF4-FFF2-40B4-BE49-F238E27FC236}">
                <a16:creationId xmlns:a16="http://schemas.microsoft.com/office/drawing/2014/main" id="{B75ED8CC-1F14-0247-B5EB-CD3E00E47E4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371B541-9920-E24C-9758-7B00FE373004}"/>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367008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940DF-6BE1-F045-A153-2BC1B9F209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096841-0F00-E44A-BA16-50308628B1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4D93E6-96AC-AC4B-AFB4-BD2249EF5C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978163F-327D-C546-8B65-F3E9D26F31AD}"/>
              </a:ext>
            </a:extLst>
          </p:cNvPr>
          <p:cNvSpPr>
            <a:spLocks noGrp="1"/>
          </p:cNvSpPr>
          <p:nvPr>
            <p:ph type="dt" sz="half" idx="10"/>
          </p:nvPr>
        </p:nvSpPr>
        <p:spPr/>
        <p:txBody>
          <a:bodyPr/>
          <a:lstStyle/>
          <a:p>
            <a:fld id="{EB712588-04B1-427B-82EE-E8DB90309F08}" type="datetimeFigureOut">
              <a:rPr lang="en-US" smtClean="0"/>
              <a:t>5/10/22</a:t>
            </a:fld>
            <a:endParaRPr lang="en-US" dirty="0"/>
          </a:p>
        </p:txBody>
      </p:sp>
      <p:sp>
        <p:nvSpPr>
          <p:cNvPr id="6" name="Footer Placeholder 5">
            <a:extLst>
              <a:ext uri="{FF2B5EF4-FFF2-40B4-BE49-F238E27FC236}">
                <a16:creationId xmlns:a16="http://schemas.microsoft.com/office/drawing/2014/main" id="{3AE0AD71-D318-4242-BA74-69358F17244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1320061-E089-FE42-B800-B7A6FB7BC80E}"/>
              </a:ext>
            </a:extLst>
          </p:cNvPr>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52326457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B5FB7-2215-4149-A411-95C19165DE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28ADC7A-69C4-3449-A284-61F53D5946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49C283-6034-8D45-BB1B-552F39A25F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2989C7E-762D-DF4F-A602-A1BF218571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9E0002-87D6-C24A-A91D-B990D374A8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6668C5-B842-794E-B9EA-875D34A8FB78}"/>
              </a:ext>
            </a:extLst>
          </p:cNvPr>
          <p:cNvSpPr>
            <a:spLocks noGrp="1"/>
          </p:cNvSpPr>
          <p:nvPr>
            <p:ph type="dt" sz="half" idx="10"/>
          </p:nvPr>
        </p:nvSpPr>
        <p:spPr/>
        <p:txBody>
          <a:bodyPr/>
          <a:lstStyle/>
          <a:p>
            <a:fld id="{B61BEF0D-F0BB-DE4B-95CE-6DB70DBA9567}" type="datetimeFigureOut">
              <a:rPr lang="en-US" smtClean="0"/>
              <a:pPr/>
              <a:t>5/10/22</a:t>
            </a:fld>
            <a:endParaRPr lang="en-US" dirty="0"/>
          </a:p>
        </p:txBody>
      </p:sp>
      <p:sp>
        <p:nvSpPr>
          <p:cNvPr id="8" name="Footer Placeholder 7">
            <a:extLst>
              <a:ext uri="{FF2B5EF4-FFF2-40B4-BE49-F238E27FC236}">
                <a16:creationId xmlns:a16="http://schemas.microsoft.com/office/drawing/2014/main" id="{5A28C667-CE46-ED48-8821-9DB111E86181}"/>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A72B333B-9FFF-2A4D-AC87-7E27A855E7E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933529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690E-17E1-DE4E-B5A2-5BA6EBD0165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42D7D25-037D-964F-A4AF-09A211E2C271}"/>
              </a:ext>
            </a:extLst>
          </p:cNvPr>
          <p:cNvSpPr>
            <a:spLocks noGrp="1"/>
          </p:cNvSpPr>
          <p:nvPr>
            <p:ph type="dt" sz="half" idx="10"/>
          </p:nvPr>
        </p:nvSpPr>
        <p:spPr/>
        <p:txBody>
          <a:bodyPr/>
          <a:lstStyle/>
          <a:p>
            <a:fld id="{B61BEF0D-F0BB-DE4B-95CE-6DB70DBA9567}" type="datetimeFigureOut">
              <a:rPr lang="en-US" smtClean="0"/>
              <a:pPr/>
              <a:t>5/10/22</a:t>
            </a:fld>
            <a:endParaRPr lang="en-US" dirty="0"/>
          </a:p>
        </p:txBody>
      </p:sp>
      <p:sp>
        <p:nvSpPr>
          <p:cNvPr id="4" name="Footer Placeholder 3">
            <a:extLst>
              <a:ext uri="{FF2B5EF4-FFF2-40B4-BE49-F238E27FC236}">
                <a16:creationId xmlns:a16="http://schemas.microsoft.com/office/drawing/2014/main" id="{43E9663C-8167-6847-8432-42DEF7FF283D}"/>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317A0131-4841-D843-9AC9-055AC2F2CC40}"/>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4941961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2A51B5-09FC-864D-98FE-16F163363C6C}"/>
              </a:ext>
            </a:extLst>
          </p:cNvPr>
          <p:cNvSpPr>
            <a:spLocks noGrp="1"/>
          </p:cNvSpPr>
          <p:nvPr>
            <p:ph type="dt" sz="half" idx="10"/>
          </p:nvPr>
        </p:nvSpPr>
        <p:spPr/>
        <p:txBody>
          <a:bodyPr/>
          <a:lstStyle/>
          <a:p>
            <a:fld id="{B61BEF0D-F0BB-DE4B-95CE-6DB70DBA9567}" type="datetimeFigureOut">
              <a:rPr lang="en-US" smtClean="0"/>
              <a:pPr/>
              <a:t>5/10/22</a:t>
            </a:fld>
            <a:endParaRPr lang="en-US" dirty="0"/>
          </a:p>
        </p:txBody>
      </p:sp>
      <p:sp>
        <p:nvSpPr>
          <p:cNvPr id="3" name="Footer Placeholder 2">
            <a:extLst>
              <a:ext uri="{FF2B5EF4-FFF2-40B4-BE49-F238E27FC236}">
                <a16:creationId xmlns:a16="http://schemas.microsoft.com/office/drawing/2014/main" id="{9A9FE577-AF6A-204B-8987-548A9FD823E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DEA56DD6-090D-EE44-86E5-9EFB21599417}"/>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4517925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D02F1-BD0C-1C49-A3BA-25D110E62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0B73BB6-219E-004E-9277-DBD25B22A5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96C13EE-ADDA-1745-A0D2-E1055F03E4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94BDD4-3C99-5F44-923E-0DF1F92E92E7}"/>
              </a:ext>
            </a:extLst>
          </p:cNvPr>
          <p:cNvSpPr>
            <a:spLocks noGrp="1"/>
          </p:cNvSpPr>
          <p:nvPr>
            <p:ph type="dt" sz="half" idx="10"/>
          </p:nvPr>
        </p:nvSpPr>
        <p:spPr/>
        <p:txBody>
          <a:bodyPr/>
          <a:lstStyle/>
          <a:p>
            <a:fld id="{42A54C80-263E-416B-A8E0-580EDEADCBDC}" type="datetimeFigureOut">
              <a:rPr lang="en-US" smtClean="0"/>
              <a:t>5/10/22</a:t>
            </a:fld>
            <a:endParaRPr lang="en-US" dirty="0"/>
          </a:p>
        </p:txBody>
      </p:sp>
      <p:sp>
        <p:nvSpPr>
          <p:cNvPr id="6" name="Footer Placeholder 5">
            <a:extLst>
              <a:ext uri="{FF2B5EF4-FFF2-40B4-BE49-F238E27FC236}">
                <a16:creationId xmlns:a16="http://schemas.microsoft.com/office/drawing/2014/main" id="{E8C8318F-B631-4E46-8340-D22F039FA87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7748A4C-A384-AF47-A837-C46A99AA163B}"/>
              </a:ext>
            </a:extLst>
          </p:cNvPr>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54284322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9456D-8FD1-A343-BC21-599F10E4CE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8D8699-A379-934C-9848-BD600A5D0C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AA82C27-0E15-8840-96CE-D0F006334B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1ED90E-797F-5C43-AD81-B1B3F85ECEED}"/>
              </a:ext>
            </a:extLst>
          </p:cNvPr>
          <p:cNvSpPr>
            <a:spLocks noGrp="1"/>
          </p:cNvSpPr>
          <p:nvPr>
            <p:ph type="dt" sz="half" idx="10"/>
          </p:nvPr>
        </p:nvSpPr>
        <p:spPr/>
        <p:txBody>
          <a:bodyPr/>
          <a:lstStyle/>
          <a:p>
            <a:fld id="{B61BEF0D-F0BB-DE4B-95CE-6DB70DBA9567}" type="datetimeFigureOut">
              <a:rPr lang="en-US" smtClean="0"/>
              <a:pPr/>
              <a:t>5/10/22</a:t>
            </a:fld>
            <a:endParaRPr lang="en-US" dirty="0"/>
          </a:p>
        </p:txBody>
      </p:sp>
      <p:sp>
        <p:nvSpPr>
          <p:cNvPr id="6" name="Footer Placeholder 5">
            <a:extLst>
              <a:ext uri="{FF2B5EF4-FFF2-40B4-BE49-F238E27FC236}">
                <a16:creationId xmlns:a16="http://schemas.microsoft.com/office/drawing/2014/main" id="{711EDEC2-1761-E34F-87C9-7E697178CBD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043B737-D7BA-5E4C-AF00-66D590E0D37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1202873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6AFF8-63E3-0A40-8D7C-457B91F6B56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D20475-B697-E541-A6DF-92AF025383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F4675E-25C2-DB4B-B732-E675B20FD120}"/>
              </a:ext>
            </a:extLst>
          </p:cNvPr>
          <p:cNvSpPr>
            <a:spLocks noGrp="1"/>
          </p:cNvSpPr>
          <p:nvPr>
            <p:ph type="dt" sz="half" idx="10"/>
          </p:nvPr>
        </p:nvSpPr>
        <p:spPr/>
        <p:txBody>
          <a:bodyPr/>
          <a:lstStyle/>
          <a:p>
            <a:fld id="{55C6B4A9-1611-4792-9094-5F34BCA07E0B}" type="datetimeFigureOut">
              <a:rPr lang="en-US" smtClean="0"/>
              <a:t>5/10/22</a:t>
            </a:fld>
            <a:endParaRPr lang="en-US" dirty="0"/>
          </a:p>
        </p:txBody>
      </p:sp>
      <p:sp>
        <p:nvSpPr>
          <p:cNvPr id="5" name="Footer Placeholder 4">
            <a:extLst>
              <a:ext uri="{FF2B5EF4-FFF2-40B4-BE49-F238E27FC236}">
                <a16:creationId xmlns:a16="http://schemas.microsoft.com/office/drawing/2014/main" id="{C89AA116-B5A0-BA4A-927E-F785DA39214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E934329-E529-1C4A-B234-47CEB980DC90}"/>
              </a:ext>
            </a:extLst>
          </p:cNvPr>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175295150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E039D1-DA12-DF4C-B907-75F31632F80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0DE494C-36A5-2747-BF3C-397154210C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D58C0A-6161-4F4D-A944-A3BF9791D897}"/>
              </a:ext>
            </a:extLst>
          </p:cNvPr>
          <p:cNvSpPr>
            <a:spLocks noGrp="1"/>
          </p:cNvSpPr>
          <p:nvPr>
            <p:ph type="dt" sz="half" idx="10"/>
          </p:nvPr>
        </p:nvSpPr>
        <p:spPr/>
        <p:txBody>
          <a:bodyPr/>
          <a:lstStyle/>
          <a:p>
            <a:fld id="{B61BEF0D-F0BB-DE4B-95CE-6DB70DBA9567}" type="datetimeFigureOut">
              <a:rPr lang="en-US" smtClean="0"/>
              <a:pPr/>
              <a:t>5/10/22</a:t>
            </a:fld>
            <a:endParaRPr lang="en-US" dirty="0"/>
          </a:p>
        </p:txBody>
      </p:sp>
      <p:sp>
        <p:nvSpPr>
          <p:cNvPr id="5" name="Footer Placeholder 4">
            <a:extLst>
              <a:ext uri="{FF2B5EF4-FFF2-40B4-BE49-F238E27FC236}">
                <a16:creationId xmlns:a16="http://schemas.microsoft.com/office/drawing/2014/main" id="{B5F5B78C-A430-9642-82D9-6A2FCFBA582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296C11C-7346-FA48-B12E-8225F91ED1C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875876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EI) Content Development">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04E1E29-E5E1-4CA6-AE28-873DC4095433}"/>
              </a:ext>
            </a:extLst>
          </p:cNvPr>
          <p:cNvSpPr txBox="1"/>
          <p:nvPr userDrawn="1"/>
        </p:nvSpPr>
        <p:spPr>
          <a:xfrm>
            <a:off x="280557" y="237294"/>
            <a:ext cx="2206171" cy="369085"/>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defPPr>
              <a:defRPr lang="en-US"/>
            </a:defPPr>
            <a:lvl1pPr algn="ctr">
              <a:defRPr sz="1400" b="0" i="0">
                <a:solidFill>
                  <a:schemeClr val="bg1"/>
                </a:solidFill>
                <a:latin typeface="Arial Rounded MT Bold" panose="020F0704030504030204" pitchFamily="34" charset="0"/>
                <a:cs typeface="Futura Medium" panose="020B0602020204020303" pitchFamily="34" charset="-79"/>
              </a:defRPr>
            </a:lvl1pPr>
          </a:lstStyle>
          <a:p>
            <a:pPr lvl="0"/>
            <a:r>
              <a:rPr lang="en-US" dirty="0"/>
              <a:t>Concept Development</a:t>
            </a:r>
          </a:p>
        </p:txBody>
      </p:sp>
      <p:sp>
        <p:nvSpPr>
          <p:cNvPr id="11" name="Text Placeholder 6">
            <a:extLst>
              <a:ext uri="{FF2B5EF4-FFF2-40B4-BE49-F238E27FC236}">
                <a16:creationId xmlns:a16="http://schemas.microsoft.com/office/drawing/2014/main" id="{492D3A20-F902-4F74-96C6-B8576FA0A5F9}"/>
              </a:ext>
            </a:extLst>
          </p:cNvPr>
          <p:cNvSpPr>
            <a:spLocks noGrp="1"/>
          </p:cNvSpPr>
          <p:nvPr>
            <p:ph type="body" sz="quarter" idx="13" hasCustomPrompt="1"/>
          </p:nvPr>
        </p:nvSpPr>
        <p:spPr>
          <a:xfrm>
            <a:off x="280557" y="805337"/>
            <a:ext cx="11481952" cy="524699"/>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defRPr>
            </a:lvl1pPr>
          </a:lstStyle>
          <a:p>
            <a:pPr lvl="0"/>
            <a:r>
              <a:rPr lang="en-AU" dirty="0"/>
              <a:t>Click to add text.</a:t>
            </a:r>
            <a:br>
              <a:rPr lang="en-AU" dirty="0"/>
            </a:br>
            <a:endParaRPr lang="en-AU" dirty="0"/>
          </a:p>
        </p:txBody>
      </p:sp>
      <p:sp>
        <p:nvSpPr>
          <p:cNvPr id="12" name="Text Placeholder 2">
            <a:extLst>
              <a:ext uri="{FF2B5EF4-FFF2-40B4-BE49-F238E27FC236}">
                <a16:creationId xmlns:a16="http://schemas.microsoft.com/office/drawing/2014/main" id="{F940C2C1-B592-48FA-B23E-0B742216BD9C}"/>
              </a:ext>
            </a:extLst>
          </p:cNvPr>
          <p:cNvSpPr>
            <a:spLocks noGrp="1"/>
          </p:cNvSpPr>
          <p:nvPr>
            <p:ph type="body" sz="quarter" idx="15" hasCustomPrompt="1"/>
          </p:nvPr>
        </p:nvSpPr>
        <p:spPr>
          <a:xfrm>
            <a:off x="280558" y="1528994"/>
            <a:ext cx="11506476" cy="506692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latin typeface="Verdana" panose="020B0604030504040204" pitchFamily="34" charset="0"/>
                <a:ea typeface="Verdana" panose="020B0604030504040204" pitchFamily="34" charset="0"/>
              </a:defRPr>
            </a:lvl1pPr>
          </a:lstStyle>
          <a:p>
            <a:pPr lvl="0"/>
            <a:r>
              <a:rPr lang="en-AU" dirty="0"/>
              <a:t>The teacher explains the concepts and steps that lead to the learning objective.</a:t>
            </a:r>
            <a:br>
              <a:rPr lang="en-AU" dirty="0"/>
            </a:br>
            <a:br>
              <a:rPr lang="en-AU" dirty="0"/>
            </a:br>
            <a:r>
              <a:rPr lang="en-AU" dirty="0"/>
              <a:t>Click to add text. Delete textbox if unneeded.</a:t>
            </a:r>
          </a:p>
        </p:txBody>
      </p:sp>
    </p:spTree>
    <p:extLst>
      <p:ext uri="{BB962C8B-B14F-4D97-AF65-F5344CB8AC3E}">
        <p14:creationId xmlns:p14="http://schemas.microsoft.com/office/powerpoint/2010/main" val="2835652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image" Target="../media/image1.png"/><Relationship Id="rId2" Type="http://schemas.openxmlformats.org/officeDocument/2006/relationships/slideLayout" Target="../slideLayouts/slideLayout23.xml"/><Relationship Id="rId16" Type="http://schemas.openxmlformats.org/officeDocument/2006/relationships/theme" Target="../theme/theme2.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image" Target="../media/image1.png"/><Relationship Id="rId5" Type="http://schemas.openxmlformats.org/officeDocument/2006/relationships/slideLayout" Target="../slideLayouts/slideLayout41.xml"/><Relationship Id="rId10" Type="http://schemas.openxmlformats.org/officeDocument/2006/relationships/theme" Target="../theme/theme3.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6" Type="http://schemas.openxmlformats.org/officeDocument/2006/relationships/image" Target="../media/image1.png"/><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theme" Target="../theme/theme4.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theme" Target="../theme/theme5.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p:nvSpPr>
        <p:spPr>
          <a:xfrm>
            <a:off x="0" y="0"/>
            <a:ext cx="12192000" cy="6858000"/>
          </a:xfrm>
          <a:prstGeom prst="rect">
            <a:avLst/>
          </a:prstGeom>
          <a:solidFill>
            <a:srgbClr val="3B8C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E91DF72-2A8F-445D-BC0A-815E681E321D}"/>
              </a:ext>
            </a:extLst>
          </p:cNvPr>
          <p:cNvPicPr>
            <a:picLocks noChangeAspect="1"/>
          </p:cNvPicPr>
          <p:nvPr/>
        </p:nvPicPr>
        <p:blipFill>
          <a:blip r:embed="rId23"/>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2709256914"/>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p:nvSpPr>
        <p:spPr>
          <a:xfrm>
            <a:off x="0" y="0"/>
            <a:ext cx="12192000" cy="6858000"/>
          </a:xfrm>
          <a:prstGeom prst="rect">
            <a:avLst/>
          </a:prstGeom>
          <a:solidFill>
            <a:srgbClr val="A14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97B421F1-3EFD-4EB1-8757-68976493B334}"/>
              </a:ext>
            </a:extLst>
          </p:cNvPr>
          <p:cNvPicPr>
            <a:picLocks noChangeAspect="1"/>
          </p:cNvPicPr>
          <p:nvPr/>
        </p:nvPicPr>
        <p:blipFill>
          <a:blip r:embed="rId17"/>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473491833"/>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71"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p:nvSpPr>
        <p:spPr>
          <a:xfrm>
            <a:off x="0" y="0"/>
            <a:ext cx="12192000" cy="6858000"/>
          </a:xfrm>
          <a:prstGeom prst="rect">
            <a:avLst/>
          </a:prstGeom>
          <a:solidFill>
            <a:srgbClr val="479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6DBB0268-634F-494F-A534-6D6283C91351}"/>
              </a:ext>
            </a:extLst>
          </p:cNvPr>
          <p:cNvPicPr>
            <a:picLocks noChangeAspect="1"/>
          </p:cNvPicPr>
          <p:nvPr/>
        </p:nvPicPr>
        <p:blipFill>
          <a:blip r:embed="rId11"/>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594667570"/>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72"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p:nvSpPr>
        <p:spPr>
          <a:xfrm>
            <a:off x="0" y="0"/>
            <a:ext cx="12192000" cy="6858000"/>
          </a:xfrm>
          <a:prstGeom prst="rect">
            <a:avLst/>
          </a:prstGeom>
          <a:solidFill>
            <a:srgbClr val="683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3C87905-546B-40B8-A77F-8173C6D81708}"/>
              </a:ext>
            </a:extLst>
          </p:cNvPr>
          <p:cNvPicPr>
            <a:picLocks noChangeAspect="1"/>
          </p:cNvPicPr>
          <p:nvPr/>
        </p:nvPicPr>
        <p:blipFill>
          <a:blip r:embed="rId16"/>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708817399"/>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D52C70-79E0-3F4E-8C86-21588BE79E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B891E8F-80E7-D045-B781-B6A164C414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06AA54-5ABB-EF4D-9916-637244CB4A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5/10/22</a:t>
            </a:fld>
            <a:endParaRPr lang="en-US" dirty="0"/>
          </a:p>
        </p:txBody>
      </p:sp>
      <p:sp>
        <p:nvSpPr>
          <p:cNvPr id="5" name="Footer Placeholder 4">
            <a:extLst>
              <a:ext uri="{FF2B5EF4-FFF2-40B4-BE49-F238E27FC236}">
                <a16:creationId xmlns:a16="http://schemas.microsoft.com/office/drawing/2014/main" id="{6AEFBE9C-E714-8C48-86AA-5BC9832FD9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B14D2459-E8D0-E049-BE1B-B4AFAA05B2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381662"/>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9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400" dirty="0"/>
              <a:t>Protective Reflexes </a:t>
            </a: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305251" y="1416634"/>
            <a:ext cx="11457258" cy="5393007"/>
          </a:xfrm>
        </p:spPr>
        <p:txBody>
          <a:bodyPr>
            <a:normAutofit/>
          </a:bodyPr>
          <a:lstStyle/>
          <a:p>
            <a:r>
              <a:rPr lang="en-AU" sz="2400" dirty="0">
                <a:latin typeface="Avenir Book" panose="02000503020000020003" pitchFamily="2" charset="0"/>
              </a:rPr>
              <a:t>A reflex is an automatic, involuntary response to a stimulus. Whilst these are not external mechanisms of protection in the same way as those described above, they do prevent infection by carrying out actions aimed at preventing infection from developing in the body.</a:t>
            </a:r>
          </a:p>
          <a:p>
            <a:endParaRPr lang="en-AU" dirty="0"/>
          </a:p>
        </p:txBody>
      </p:sp>
    </p:spTree>
    <p:extLst>
      <p:ext uri="{BB962C8B-B14F-4D97-AF65-F5344CB8AC3E}">
        <p14:creationId xmlns:p14="http://schemas.microsoft.com/office/powerpoint/2010/main" val="3130382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200" dirty="0"/>
              <a:t>Sneezing</a:t>
            </a:r>
          </a:p>
          <a:p>
            <a:endParaRPr lang="en-AU" sz="3200" dirty="0">
              <a:solidFill>
                <a:srgbClr val="004D95"/>
              </a:solidFill>
            </a:endParaRP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280557" y="1448023"/>
            <a:ext cx="11481952" cy="4756305"/>
          </a:xfrm>
        </p:spPr>
        <p:txBody>
          <a:bodyPr>
            <a:normAutofit/>
          </a:bodyPr>
          <a:lstStyle/>
          <a:p>
            <a:pPr marL="285750" indent="-285750">
              <a:buFont typeface="Arial" panose="020B0604020202020204" pitchFamily="34" charset="0"/>
              <a:buChar char="•"/>
            </a:pPr>
            <a:r>
              <a:rPr lang="en-AU" sz="2400" dirty="0">
                <a:latin typeface="Avenir Book" panose="02000503020000020003" pitchFamily="2" charset="0"/>
              </a:rPr>
              <a:t>Stimulus: Irritation of the walls of the nasal cavity. </a:t>
            </a:r>
          </a:p>
          <a:p>
            <a:pPr marL="285750" indent="-285750">
              <a:buFont typeface="Arial" panose="020B0604020202020204" pitchFamily="34" charset="0"/>
              <a:buChar char="•"/>
            </a:pPr>
            <a:r>
              <a:rPr lang="en-AU" sz="2400" dirty="0">
                <a:latin typeface="Avenir Book" panose="02000503020000020003" pitchFamily="2" charset="0"/>
              </a:rPr>
              <a:t>Forceful explosion of air from the lungs results in the release of mucus, foreign particles and gases out through the nose and mouth. </a:t>
            </a:r>
          </a:p>
          <a:p>
            <a:r>
              <a:rPr lang="en-AU" dirty="0"/>
              <a:t> </a:t>
            </a:r>
          </a:p>
          <a:p>
            <a:endParaRPr lang="en-AU" sz="2400" dirty="0"/>
          </a:p>
          <a:p>
            <a:r>
              <a:rPr lang="en-AU" sz="2400" dirty="0"/>
              <a:t> </a:t>
            </a:r>
          </a:p>
          <a:p>
            <a:endParaRPr lang="en-AU" dirty="0"/>
          </a:p>
        </p:txBody>
      </p:sp>
    </p:spTree>
    <p:extLst>
      <p:ext uri="{BB962C8B-B14F-4D97-AF65-F5344CB8AC3E}">
        <p14:creationId xmlns:p14="http://schemas.microsoft.com/office/powerpoint/2010/main" val="2771123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DBF1014-761D-97E9-A0E1-A504DE87D141}"/>
              </a:ext>
            </a:extLst>
          </p:cNvPr>
          <p:cNvSpPr>
            <a:spLocks noGrp="1"/>
          </p:cNvSpPr>
          <p:nvPr>
            <p:ph type="body" sz="quarter" idx="13"/>
          </p:nvPr>
        </p:nvSpPr>
        <p:spPr/>
        <p:txBody>
          <a:bodyPr/>
          <a:lstStyle/>
          <a:p>
            <a:r>
              <a:rPr lang="en-AU" dirty="0"/>
              <a:t>Coughing</a:t>
            </a:r>
          </a:p>
          <a:p>
            <a:endParaRPr lang="en-US" dirty="0"/>
          </a:p>
        </p:txBody>
      </p:sp>
      <p:sp>
        <p:nvSpPr>
          <p:cNvPr id="3" name="Text Placeholder 2">
            <a:extLst>
              <a:ext uri="{FF2B5EF4-FFF2-40B4-BE49-F238E27FC236}">
                <a16:creationId xmlns:a16="http://schemas.microsoft.com/office/drawing/2014/main" id="{4A33954E-4AA0-913E-6DE8-A102CC3CE948}"/>
              </a:ext>
            </a:extLst>
          </p:cNvPr>
          <p:cNvSpPr>
            <a:spLocks noGrp="1"/>
          </p:cNvSpPr>
          <p:nvPr>
            <p:ph type="body" sz="quarter" idx="15"/>
          </p:nvPr>
        </p:nvSpPr>
        <p:spPr/>
        <p:txBody>
          <a:bodyPr/>
          <a:lstStyle/>
          <a:p>
            <a:r>
              <a:rPr lang="en-AU" sz="2400" dirty="0">
                <a:latin typeface="Avenir Book" panose="02000503020000020003" pitchFamily="2" charset="0"/>
              </a:rPr>
              <a:t>Stimulus: Irritation in the lower respiratory tract.</a:t>
            </a:r>
          </a:p>
          <a:p>
            <a:r>
              <a:rPr lang="en-AU" sz="2400" dirty="0">
                <a:latin typeface="Avenir Book" panose="02000503020000020003" pitchFamily="2" charset="0"/>
              </a:rPr>
              <a:t>Air is forced from the lungs to try and release or remove the irritant. </a:t>
            </a:r>
          </a:p>
          <a:p>
            <a:r>
              <a:rPr lang="en-AU" sz="2400" dirty="0">
                <a:latin typeface="Avenir Book" panose="02000503020000020003" pitchFamily="2" charset="0"/>
              </a:rPr>
              <a:t>Coughing often releases mucus and foreign particles out of the trachea and into the throat and mouth. </a:t>
            </a:r>
          </a:p>
          <a:p>
            <a:endParaRPr lang="en-US" dirty="0"/>
          </a:p>
        </p:txBody>
      </p:sp>
    </p:spTree>
    <p:extLst>
      <p:ext uri="{BB962C8B-B14F-4D97-AF65-F5344CB8AC3E}">
        <p14:creationId xmlns:p14="http://schemas.microsoft.com/office/powerpoint/2010/main" val="40132885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D2F1620-184D-DD8D-93D7-2667B1C6F1B6}"/>
              </a:ext>
            </a:extLst>
          </p:cNvPr>
          <p:cNvSpPr>
            <a:spLocks noGrp="1"/>
          </p:cNvSpPr>
          <p:nvPr>
            <p:ph type="body" sz="quarter" idx="13"/>
          </p:nvPr>
        </p:nvSpPr>
        <p:spPr/>
        <p:txBody>
          <a:bodyPr/>
          <a:lstStyle/>
          <a:p>
            <a:r>
              <a:rPr lang="en-AU" dirty="0"/>
              <a:t>Vomiting</a:t>
            </a:r>
          </a:p>
          <a:p>
            <a:endParaRPr lang="en-US" dirty="0"/>
          </a:p>
        </p:txBody>
      </p:sp>
      <p:sp>
        <p:nvSpPr>
          <p:cNvPr id="3" name="Text Placeholder 2">
            <a:extLst>
              <a:ext uri="{FF2B5EF4-FFF2-40B4-BE49-F238E27FC236}">
                <a16:creationId xmlns:a16="http://schemas.microsoft.com/office/drawing/2014/main" id="{6572A4AD-C6FF-7D8E-DE1E-5D6BC5A546BE}"/>
              </a:ext>
            </a:extLst>
          </p:cNvPr>
          <p:cNvSpPr>
            <a:spLocks noGrp="1"/>
          </p:cNvSpPr>
          <p:nvPr>
            <p:ph type="body" sz="quarter" idx="15"/>
          </p:nvPr>
        </p:nvSpPr>
        <p:spPr/>
        <p:txBody>
          <a:bodyPr/>
          <a:lstStyle/>
          <a:p>
            <a:r>
              <a:rPr lang="en-AU" sz="2400" dirty="0">
                <a:latin typeface="Avenir Book" panose="02000503020000020003" pitchFamily="2" charset="0"/>
              </a:rPr>
              <a:t>Stimulus: Can be psychological, as a result of eating something that contains bacterial toxins, or due to overstretching the muscles of the stomach, e.g. due to over-eating. </a:t>
            </a:r>
          </a:p>
          <a:p>
            <a:r>
              <a:rPr lang="en-AU" sz="2400" dirty="0">
                <a:latin typeface="Avenir Book" panose="02000503020000020003" pitchFamily="2" charset="0"/>
              </a:rPr>
              <a:t>It is the involuntary, forceful expulsion of the contents of one's stomach, usually through the mouth, but sometimes through the nose. It is caused by the contraction of the abdomen and diaphragm, not the stomach.</a:t>
            </a:r>
          </a:p>
          <a:p>
            <a:endParaRPr lang="en-US" dirty="0"/>
          </a:p>
        </p:txBody>
      </p:sp>
    </p:spTree>
    <p:extLst>
      <p:ext uri="{BB962C8B-B14F-4D97-AF65-F5344CB8AC3E}">
        <p14:creationId xmlns:p14="http://schemas.microsoft.com/office/powerpoint/2010/main" val="1280364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D2D5DAF-DD12-EC47-D967-FEEDBE2EA1A2}"/>
              </a:ext>
            </a:extLst>
          </p:cNvPr>
          <p:cNvSpPr>
            <a:spLocks noGrp="1"/>
          </p:cNvSpPr>
          <p:nvPr>
            <p:ph type="body" sz="quarter" idx="13"/>
          </p:nvPr>
        </p:nvSpPr>
        <p:spPr/>
        <p:txBody>
          <a:bodyPr/>
          <a:lstStyle/>
          <a:p>
            <a:r>
              <a:rPr lang="en-AU" dirty="0"/>
              <a:t>Diarrhoea</a:t>
            </a:r>
          </a:p>
          <a:p>
            <a:endParaRPr lang="en-US" dirty="0"/>
          </a:p>
        </p:txBody>
      </p:sp>
      <p:sp>
        <p:nvSpPr>
          <p:cNvPr id="3" name="Text Placeholder 2">
            <a:extLst>
              <a:ext uri="{FF2B5EF4-FFF2-40B4-BE49-F238E27FC236}">
                <a16:creationId xmlns:a16="http://schemas.microsoft.com/office/drawing/2014/main" id="{E6CFD45B-921A-DB51-FD76-564D2A162E0A}"/>
              </a:ext>
            </a:extLst>
          </p:cNvPr>
          <p:cNvSpPr>
            <a:spLocks noGrp="1"/>
          </p:cNvSpPr>
          <p:nvPr>
            <p:ph type="body" sz="quarter" idx="15"/>
          </p:nvPr>
        </p:nvSpPr>
        <p:spPr/>
        <p:txBody>
          <a:bodyPr/>
          <a:lstStyle/>
          <a:p>
            <a:r>
              <a:rPr lang="en-AU" sz="2400" dirty="0">
                <a:latin typeface="Avenir Book" panose="02000503020000020003" pitchFamily="2" charset="0"/>
              </a:rPr>
              <a:t>Stimulation: Irritation of the walls of the small intestine and colon (large intestine)</a:t>
            </a:r>
          </a:p>
          <a:p>
            <a:r>
              <a:rPr lang="en-AU" sz="2400" dirty="0">
                <a:latin typeface="Avenir Book" panose="02000503020000020003" pitchFamily="2" charset="0"/>
              </a:rPr>
              <a:t>Water is usually absorbed in the colon, but the walls are inflamed and contract more readily, allowing less water to be absorbed. This is caused by the presence of foreign bacteria, viruses or protozoan. The faeces is more watery, leading to faster expulsion from the anus.</a:t>
            </a:r>
          </a:p>
          <a:p>
            <a:r>
              <a:rPr lang="en-AU" dirty="0"/>
              <a:t> </a:t>
            </a:r>
          </a:p>
          <a:p>
            <a:endParaRPr lang="en-US" dirty="0"/>
          </a:p>
        </p:txBody>
      </p:sp>
    </p:spTree>
    <p:extLst>
      <p:ext uri="{BB962C8B-B14F-4D97-AF65-F5344CB8AC3E}">
        <p14:creationId xmlns:p14="http://schemas.microsoft.com/office/powerpoint/2010/main" val="6793259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1F9F4E7-1CF6-D76F-FFAB-F5858A06EE7B}"/>
              </a:ext>
            </a:extLst>
          </p:cNvPr>
          <p:cNvSpPr>
            <a:spLocks noGrp="1"/>
          </p:cNvSpPr>
          <p:nvPr>
            <p:ph type="body" sz="quarter" idx="13"/>
          </p:nvPr>
        </p:nvSpPr>
        <p:spPr/>
        <p:txBody>
          <a:bodyPr/>
          <a:lstStyle/>
          <a:p>
            <a:r>
              <a:rPr lang="en-AU" dirty="0"/>
              <a:t>Types of white blood cells (leucocytes) and internal non-specific defences</a:t>
            </a:r>
          </a:p>
          <a:p>
            <a:endParaRPr lang="en-US" dirty="0"/>
          </a:p>
        </p:txBody>
      </p:sp>
      <p:sp>
        <p:nvSpPr>
          <p:cNvPr id="3" name="Text Placeholder 2">
            <a:extLst>
              <a:ext uri="{FF2B5EF4-FFF2-40B4-BE49-F238E27FC236}">
                <a16:creationId xmlns:a16="http://schemas.microsoft.com/office/drawing/2014/main" id="{0BAEC2F6-F6F6-D825-A83F-CF597B2AB2A9}"/>
              </a:ext>
            </a:extLst>
          </p:cNvPr>
          <p:cNvSpPr>
            <a:spLocks noGrp="1"/>
          </p:cNvSpPr>
          <p:nvPr>
            <p:ph type="body" sz="quarter" idx="15"/>
          </p:nvPr>
        </p:nvSpPr>
        <p:spPr/>
        <p:txBody>
          <a:bodyPr/>
          <a:lstStyle/>
          <a:p>
            <a:r>
              <a:rPr lang="en-AU" sz="2400" dirty="0">
                <a:latin typeface="Avenir Book" panose="02000503020000020003" pitchFamily="2" charset="0"/>
              </a:rPr>
              <a:t>There are three main types of white blood cells, all of which are involved in the defence against disease; granulocytes, monocytes and lymphocytes.</a:t>
            </a:r>
          </a:p>
          <a:p>
            <a:r>
              <a:rPr lang="en-AU" sz="2400" dirty="0">
                <a:latin typeface="Avenir Book" panose="02000503020000020003" pitchFamily="2" charset="0"/>
              </a:rPr>
              <a:t>The focus of this course is on the sub-class of monocytes, macrophages, and the two types of lymphocytes; B-cells and T-cells; these cells are emboldened in the table, as are processes which are covered later in the notes.</a:t>
            </a:r>
          </a:p>
          <a:p>
            <a:endParaRPr lang="en-US" dirty="0"/>
          </a:p>
        </p:txBody>
      </p:sp>
    </p:spTree>
    <p:extLst>
      <p:ext uri="{BB962C8B-B14F-4D97-AF65-F5344CB8AC3E}">
        <p14:creationId xmlns:p14="http://schemas.microsoft.com/office/powerpoint/2010/main" val="16672456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F922DAE-31EB-3406-BE47-6555D545117D}"/>
              </a:ext>
            </a:extLst>
          </p:cNvPr>
          <p:cNvSpPr>
            <a:spLocks noGrp="1"/>
          </p:cNvSpPr>
          <p:nvPr>
            <p:ph type="body" sz="quarter" idx="13"/>
          </p:nvPr>
        </p:nvSpPr>
        <p:spPr/>
        <p:txBody>
          <a:bodyPr/>
          <a:lstStyle/>
          <a:p>
            <a:r>
              <a:rPr lang="en-US" dirty="0">
                <a:latin typeface="Avenir Book" panose="02000503020000020003" pitchFamily="2" charset="0"/>
              </a:rPr>
              <a:t>Types of White Blood Cell </a:t>
            </a:r>
          </a:p>
          <a:p>
            <a:endParaRPr lang="en-US" dirty="0"/>
          </a:p>
        </p:txBody>
      </p:sp>
      <p:graphicFrame>
        <p:nvGraphicFramePr>
          <p:cNvPr id="4" name="Table 4">
            <a:extLst>
              <a:ext uri="{FF2B5EF4-FFF2-40B4-BE49-F238E27FC236}">
                <a16:creationId xmlns:a16="http://schemas.microsoft.com/office/drawing/2014/main" id="{1929B5CA-B83C-4908-C216-97C8CF5D5316}"/>
              </a:ext>
            </a:extLst>
          </p:cNvPr>
          <p:cNvGraphicFramePr>
            <a:graphicFrameLocks noGrp="1"/>
          </p:cNvGraphicFramePr>
          <p:nvPr>
            <p:extLst>
              <p:ext uri="{D42A27DB-BD31-4B8C-83A1-F6EECF244321}">
                <p14:modId xmlns:p14="http://schemas.microsoft.com/office/powerpoint/2010/main" val="1566651135"/>
              </p:ext>
            </p:extLst>
          </p:nvPr>
        </p:nvGraphicFramePr>
        <p:xfrm>
          <a:off x="280558" y="1460499"/>
          <a:ext cx="7465467" cy="5242560"/>
        </p:xfrm>
        <a:graphic>
          <a:graphicData uri="http://schemas.openxmlformats.org/drawingml/2006/table">
            <a:tbl>
              <a:tblPr firstRow="1" bandRow="1">
                <a:tableStyleId>{5C22544A-7EE6-4342-B048-85BDC9FD1C3A}</a:tableStyleId>
              </a:tblPr>
              <a:tblGrid>
                <a:gridCol w="2488489">
                  <a:extLst>
                    <a:ext uri="{9D8B030D-6E8A-4147-A177-3AD203B41FA5}">
                      <a16:colId xmlns:a16="http://schemas.microsoft.com/office/drawing/2014/main" val="3541838226"/>
                    </a:ext>
                  </a:extLst>
                </a:gridCol>
                <a:gridCol w="2488489">
                  <a:extLst>
                    <a:ext uri="{9D8B030D-6E8A-4147-A177-3AD203B41FA5}">
                      <a16:colId xmlns:a16="http://schemas.microsoft.com/office/drawing/2014/main" val="406115836"/>
                    </a:ext>
                  </a:extLst>
                </a:gridCol>
                <a:gridCol w="2488489">
                  <a:extLst>
                    <a:ext uri="{9D8B030D-6E8A-4147-A177-3AD203B41FA5}">
                      <a16:colId xmlns:a16="http://schemas.microsoft.com/office/drawing/2014/main" val="2475633692"/>
                    </a:ext>
                  </a:extLst>
                </a:gridCol>
              </a:tblGrid>
              <a:tr h="406544">
                <a:tc>
                  <a:txBody>
                    <a:bodyPr/>
                    <a:lstStyle/>
                    <a:p>
                      <a:r>
                        <a:rPr lang="en-US" sz="2000" dirty="0">
                          <a:latin typeface="Avenir Book" panose="02000503020000020003" pitchFamily="2" charset="0"/>
                        </a:rPr>
                        <a:t>Types of White Blood Cell </a:t>
                      </a:r>
                    </a:p>
                  </a:txBody>
                  <a:tcPr/>
                </a:tc>
                <a:tc>
                  <a:txBody>
                    <a:bodyPr/>
                    <a:lstStyle/>
                    <a:p>
                      <a:r>
                        <a:rPr lang="en-US" sz="2000" dirty="0">
                          <a:latin typeface="Avenir Book" panose="02000503020000020003" pitchFamily="2" charset="0"/>
                        </a:rPr>
                        <a:t>Sub-Class</a:t>
                      </a:r>
                    </a:p>
                  </a:txBody>
                  <a:tcPr/>
                </a:tc>
                <a:tc>
                  <a:txBody>
                    <a:bodyPr/>
                    <a:lstStyle/>
                    <a:p>
                      <a:r>
                        <a:rPr lang="en-US" sz="2000" dirty="0">
                          <a:latin typeface="Avenir Book" panose="02000503020000020003" pitchFamily="2" charset="0"/>
                        </a:rPr>
                        <a:t>Overview of function</a:t>
                      </a:r>
                    </a:p>
                  </a:txBody>
                  <a:tcPr/>
                </a:tc>
                <a:extLst>
                  <a:ext uri="{0D108BD9-81ED-4DB2-BD59-A6C34878D82A}">
                    <a16:rowId xmlns:a16="http://schemas.microsoft.com/office/drawing/2014/main" val="1270524446"/>
                  </a:ext>
                </a:extLst>
              </a:tr>
              <a:tr h="701705">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000" dirty="0">
                          <a:latin typeface="Avenir Book" panose="02000503020000020003" pitchFamily="2" charset="0"/>
                        </a:rPr>
                        <a:t>Granulocytes: Phagocytes that engulf and ingest foreign cells.</a:t>
                      </a:r>
                    </a:p>
                    <a:p>
                      <a:endParaRPr lang="en-US" sz="2000" dirty="0">
                        <a:latin typeface="Avenir Book" panose="02000503020000020003" pitchFamily="2" charset="0"/>
                      </a:endParaRPr>
                    </a:p>
                  </a:txBody>
                  <a:tcPr/>
                </a:tc>
                <a:tc>
                  <a:txBody>
                    <a:bodyPr/>
                    <a:lstStyle/>
                    <a:p>
                      <a:r>
                        <a:rPr lang="en-US" sz="2000" dirty="0">
                          <a:latin typeface="Avenir Book" panose="02000503020000020003" pitchFamily="2" charset="0"/>
                        </a:rPr>
                        <a:t>Neutrophils</a:t>
                      </a:r>
                    </a:p>
                  </a:txBody>
                  <a:tcPr/>
                </a:tc>
                <a:tc>
                  <a:txBody>
                    <a:bodyPr/>
                    <a:lstStyle/>
                    <a:p>
                      <a:r>
                        <a:rPr lang="en-US" sz="2000" dirty="0">
                          <a:latin typeface="Avenir Book" panose="02000503020000020003" pitchFamily="2" charset="0"/>
                        </a:rPr>
                        <a:t>Most common and ingest up to 5 and 20 bacteria.</a:t>
                      </a:r>
                    </a:p>
                  </a:txBody>
                  <a:tcPr/>
                </a:tc>
                <a:extLst>
                  <a:ext uri="{0D108BD9-81ED-4DB2-BD59-A6C34878D82A}">
                    <a16:rowId xmlns:a16="http://schemas.microsoft.com/office/drawing/2014/main" val="2544027132"/>
                  </a:ext>
                </a:extLst>
              </a:tr>
              <a:tr h="1002437">
                <a:tc vMerge="1">
                  <a:txBody>
                    <a:bodyPr/>
                    <a:lstStyle/>
                    <a:p>
                      <a:endParaRPr lang="en-US"/>
                    </a:p>
                  </a:txBody>
                  <a:tcPr/>
                </a:tc>
                <a:tc>
                  <a:txBody>
                    <a:bodyPr/>
                    <a:lstStyle/>
                    <a:p>
                      <a:r>
                        <a:rPr lang="en-US" sz="2000" dirty="0">
                          <a:latin typeface="Avenir Book" panose="02000503020000020003" pitchFamily="2" charset="0"/>
                        </a:rPr>
                        <a:t>Eosinophils</a:t>
                      </a:r>
                    </a:p>
                  </a:txBody>
                  <a:tcPr/>
                </a:tc>
                <a:tc>
                  <a:txBody>
                    <a:bodyPr/>
                    <a:lstStyle/>
                    <a:p>
                      <a:r>
                        <a:rPr lang="en-AU" sz="2000" dirty="0">
                          <a:latin typeface="Avenir Book" panose="02000503020000020003" pitchFamily="2" charset="0"/>
                        </a:rPr>
                        <a:t>Involved in allergic reactions. Can attack multicellular parasites.</a:t>
                      </a:r>
                    </a:p>
                  </a:txBody>
                  <a:tcPr/>
                </a:tc>
                <a:extLst>
                  <a:ext uri="{0D108BD9-81ED-4DB2-BD59-A6C34878D82A}">
                    <a16:rowId xmlns:a16="http://schemas.microsoft.com/office/drawing/2014/main" val="1491010740"/>
                  </a:ext>
                </a:extLst>
              </a:tr>
              <a:tr h="2205361">
                <a:tc vMerge="1">
                  <a:txBody>
                    <a:bodyPr/>
                    <a:lstStyle/>
                    <a:p>
                      <a:endParaRPr lang="en-US"/>
                    </a:p>
                  </a:txBody>
                  <a:tcPr/>
                </a:tc>
                <a:tc>
                  <a:txBody>
                    <a:bodyPr/>
                    <a:lstStyle/>
                    <a:p>
                      <a:r>
                        <a:rPr lang="en-US" sz="2000" dirty="0">
                          <a:latin typeface="Avenir Book" panose="02000503020000020003" pitchFamily="2" charset="0"/>
                        </a:rPr>
                        <a:t>Basophils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Avenir Book" panose="02000503020000020003" pitchFamily="2" charset="0"/>
                        </a:rPr>
                        <a:t>Involved in allergic reactions and can release histamines, to trigger inflammations, and heparin, to prevent blood clotting. </a:t>
                      </a:r>
                    </a:p>
                  </a:txBody>
                  <a:tcPr/>
                </a:tc>
                <a:extLst>
                  <a:ext uri="{0D108BD9-81ED-4DB2-BD59-A6C34878D82A}">
                    <a16:rowId xmlns:a16="http://schemas.microsoft.com/office/drawing/2014/main" val="271194416"/>
                  </a:ext>
                </a:extLst>
              </a:tr>
            </a:tbl>
          </a:graphicData>
        </a:graphic>
      </p:graphicFrame>
      <p:pic>
        <p:nvPicPr>
          <p:cNvPr id="7" name="Picture 6">
            <a:extLst>
              <a:ext uri="{FF2B5EF4-FFF2-40B4-BE49-F238E27FC236}">
                <a16:creationId xmlns:a16="http://schemas.microsoft.com/office/drawing/2014/main" id="{E369DC06-7E1B-F8E3-92D1-BCE3BE1A37A7}"/>
              </a:ext>
            </a:extLst>
          </p:cNvPr>
          <p:cNvPicPr>
            <a:picLocks noChangeAspect="1"/>
          </p:cNvPicPr>
          <p:nvPr/>
        </p:nvPicPr>
        <p:blipFill>
          <a:blip r:embed="rId2"/>
          <a:stretch>
            <a:fillRect/>
          </a:stretch>
        </p:blipFill>
        <p:spPr>
          <a:xfrm>
            <a:off x="7827108" y="1460499"/>
            <a:ext cx="3935402" cy="1290296"/>
          </a:xfrm>
          <a:prstGeom prst="rect">
            <a:avLst/>
          </a:prstGeom>
        </p:spPr>
      </p:pic>
    </p:spTree>
    <p:extLst>
      <p:ext uri="{BB962C8B-B14F-4D97-AF65-F5344CB8AC3E}">
        <p14:creationId xmlns:p14="http://schemas.microsoft.com/office/powerpoint/2010/main" val="16548505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US" sz="3200" dirty="0">
                <a:latin typeface="Avenir Book" panose="02000503020000020003" pitchFamily="2" charset="0"/>
              </a:rPr>
              <a:t>Types of White Blood Cell </a:t>
            </a:r>
          </a:p>
          <a:p>
            <a:endParaRPr lang="en-AU" sz="3200" dirty="0">
              <a:solidFill>
                <a:srgbClr val="004D95"/>
              </a:solidFill>
            </a:endParaRP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363822" y="1538832"/>
            <a:ext cx="9246617" cy="4756305"/>
          </a:xfrm>
        </p:spPr>
        <p:txBody>
          <a:bodyPr>
            <a:normAutofit/>
          </a:bodyPr>
          <a:lstStyle/>
          <a:p>
            <a:r>
              <a:rPr lang="en-AU" dirty="0"/>
              <a:t> </a:t>
            </a:r>
          </a:p>
          <a:p>
            <a:r>
              <a:rPr lang="en-AU" dirty="0"/>
              <a:t> </a:t>
            </a:r>
          </a:p>
          <a:p>
            <a:r>
              <a:rPr lang="en-AU" dirty="0"/>
              <a:t> </a:t>
            </a:r>
          </a:p>
          <a:p>
            <a:endParaRPr lang="en-AU" sz="2000" dirty="0"/>
          </a:p>
          <a:p>
            <a:endParaRPr lang="en-AU" dirty="0"/>
          </a:p>
        </p:txBody>
      </p:sp>
      <p:graphicFrame>
        <p:nvGraphicFramePr>
          <p:cNvPr id="7" name="Table 4">
            <a:extLst>
              <a:ext uri="{FF2B5EF4-FFF2-40B4-BE49-F238E27FC236}">
                <a16:creationId xmlns:a16="http://schemas.microsoft.com/office/drawing/2014/main" id="{95ED1932-C803-A500-325A-400332F3C964}"/>
              </a:ext>
            </a:extLst>
          </p:cNvPr>
          <p:cNvGraphicFramePr>
            <a:graphicFrameLocks noGrp="1"/>
          </p:cNvGraphicFramePr>
          <p:nvPr>
            <p:extLst>
              <p:ext uri="{D42A27DB-BD31-4B8C-83A1-F6EECF244321}">
                <p14:modId xmlns:p14="http://schemas.microsoft.com/office/powerpoint/2010/main" val="1855565367"/>
              </p:ext>
            </p:extLst>
          </p:nvPr>
        </p:nvGraphicFramePr>
        <p:xfrm>
          <a:off x="280557" y="1493491"/>
          <a:ext cx="7465467" cy="5151120"/>
        </p:xfrm>
        <a:graphic>
          <a:graphicData uri="http://schemas.openxmlformats.org/drawingml/2006/table">
            <a:tbl>
              <a:tblPr firstRow="1" bandRow="1">
                <a:tableStyleId>{5C22544A-7EE6-4342-B048-85BDC9FD1C3A}</a:tableStyleId>
              </a:tblPr>
              <a:tblGrid>
                <a:gridCol w="2488489">
                  <a:extLst>
                    <a:ext uri="{9D8B030D-6E8A-4147-A177-3AD203B41FA5}">
                      <a16:colId xmlns:a16="http://schemas.microsoft.com/office/drawing/2014/main" val="3541838226"/>
                    </a:ext>
                  </a:extLst>
                </a:gridCol>
                <a:gridCol w="2488489">
                  <a:extLst>
                    <a:ext uri="{9D8B030D-6E8A-4147-A177-3AD203B41FA5}">
                      <a16:colId xmlns:a16="http://schemas.microsoft.com/office/drawing/2014/main" val="406115836"/>
                    </a:ext>
                  </a:extLst>
                </a:gridCol>
                <a:gridCol w="2488489">
                  <a:extLst>
                    <a:ext uri="{9D8B030D-6E8A-4147-A177-3AD203B41FA5}">
                      <a16:colId xmlns:a16="http://schemas.microsoft.com/office/drawing/2014/main" val="2475633692"/>
                    </a:ext>
                  </a:extLst>
                </a:gridCol>
              </a:tblGrid>
              <a:tr h="378981">
                <a:tc>
                  <a:txBody>
                    <a:bodyPr/>
                    <a:lstStyle/>
                    <a:p>
                      <a:r>
                        <a:rPr lang="en-US" sz="2000" dirty="0">
                          <a:latin typeface="Avenir Book" panose="02000503020000020003" pitchFamily="2" charset="0"/>
                        </a:rPr>
                        <a:t>Types of White Blood Cell </a:t>
                      </a:r>
                    </a:p>
                  </a:txBody>
                  <a:tcPr/>
                </a:tc>
                <a:tc>
                  <a:txBody>
                    <a:bodyPr/>
                    <a:lstStyle/>
                    <a:p>
                      <a:r>
                        <a:rPr lang="en-US" sz="2000" dirty="0">
                          <a:latin typeface="Avenir Book" panose="02000503020000020003" pitchFamily="2" charset="0"/>
                        </a:rPr>
                        <a:t>Sub-Class</a:t>
                      </a:r>
                    </a:p>
                  </a:txBody>
                  <a:tcPr/>
                </a:tc>
                <a:tc>
                  <a:txBody>
                    <a:bodyPr/>
                    <a:lstStyle/>
                    <a:p>
                      <a:r>
                        <a:rPr lang="en-US" sz="2000" dirty="0">
                          <a:latin typeface="Avenir Book" panose="02000503020000020003" pitchFamily="2" charset="0"/>
                        </a:rPr>
                        <a:t>Overview of function</a:t>
                      </a:r>
                    </a:p>
                  </a:txBody>
                  <a:tcPr/>
                </a:tc>
                <a:extLst>
                  <a:ext uri="{0D108BD9-81ED-4DB2-BD59-A6C34878D82A}">
                    <a16:rowId xmlns:a16="http://schemas.microsoft.com/office/drawing/2014/main" val="1270524446"/>
                  </a:ext>
                </a:extLst>
              </a:tr>
              <a:tr h="701705">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000" dirty="0">
                          <a:latin typeface="Avenir Book" panose="02000503020000020003" pitchFamily="2" charset="0"/>
                        </a:rPr>
                        <a:t>Monocytes</a:t>
                      </a:r>
                    </a:p>
                    <a:p>
                      <a:endParaRPr lang="en-US" sz="2000" dirty="0">
                        <a:latin typeface="Avenir Book" panose="02000503020000020003"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000" dirty="0">
                          <a:latin typeface="Avenir Book" panose="02000503020000020003" pitchFamily="2" charset="0"/>
                        </a:rPr>
                        <a:t>Dendritic cells</a:t>
                      </a:r>
                    </a:p>
                    <a:p>
                      <a:endParaRPr lang="en-US" sz="2000" dirty="0">
                        <a:latin typeface="Avenir Book" panose="02000503020000020003"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000" dirty="0">
                          <a:effectLst/>
                          <a:latin typeface="Avenir Book" panose="02000503020000020003" pitchFamily="2" charset="0"/>
                          <a:ea typeface="Times New Roman" panose="02020603050405020304" pitchFamily="18" charset="0"/>
                        </a:rPr>
                        <a:t>Antigen-presenting cells.</a:t>
                      </a:r>
                      <a:endParaRPr lang="en-AU" sz="2000" dirty="0">
                        <a:effectLst/>
                        <a:latin typeface="Avenir Book" panose="02000503020000020003" pitchFamily="2" charset="0"/>
                        <a:ea typeface="Calibri" panose="020F0502020204030204" pitchFamily="34" charset="0"/>
                      </a:endParaRPr>
                    </a:p>
                    <a:p>
                      <a:endParaRPr lang="en-US" sz="2000" dirty="0">
                        <a:latin typeface="Avenir Book" panose="02000503020000020003" pitchFamily="2" charset="0"/>
                      </a:endParaRPr>
                    </a:p>
                  </a:txBody>
                  <a:tcPr/>
                </a:tc>
                <a:extLst>
                  <a:ext uri="{0D108BD9-81ED-4DB2-BD59-A6C34878D82A}">
                    <a16:rowId xmlns:a16="http://schemas.microsoft.com/office/drawing/2014/main" val="2544027132"/>
                  </a:ext>
                </a:extLst>
              </a:tr>
              <a:tr h="1002437">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000" dirty="0">
                          <a:latin typeface="Avenir Book" panose="02000503020000020003" pitchFamily="2" charset="0"/>
                        </a:rPr>
                        <a:t>Macrophages -Develop from some leucocytes. Some wander through the blood looking for pathogens; others are fixed in one place dealing with pathogens that come to them.</a:t>
                      </a:r>
                    </a:p>
                    <a:p>
                      <a:endParaRPr lang="en-US" sz="2000" dirty="0">
                        <a:latin typeface="Avenir Book" panose="02000503020000020003"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000" dirty="0">
                          <a:effectLst/>
                          <a:latin typeface="Avenir Book" panose="02000503020000020003" pitchFamily="2" charset="0"/>
                          <a:ea typeface="Times New Roman" panose="02020603050405020304" pitchFamily="18" charset="0"/>
                        </a:rPr>
                        <a:t>Phagocytic cells which are larger and survive longer than neutrophils.</a:t>
                      </a:r>
                      <a:endParaRPr lang="en-AU" sz="2000" dirty="0">
                        <a:effectLst/>
                        <a:latin typeface="Avenir Book" panose="02000503020000020003" pitchFamily="2" charset="0"/>
                        <a:ea typeface="Calibri" panose="020F0502020204030204" pitchFamily="34" charset="0"/>
                      </a:endParaRPr>
                    </a:p>
                    <a:p>
                      <a:endParaRPr lang="en-AU" sz="2000" dirty="0">
                        <a:latin typeface="Avenir Book" panose="02000503020000020003" pitchFamily="2" charset="0"/>
                      </a:endParaRPr>
                    </a:p>
                  </a:txBody>
                  <a:tcPr/>
                </a:tc>
                <a:extLst>
                  <a:ext uri="{0D108BD9-81ED-4DB2-BD59-A6C34878D82A}">
                    <a16:rowId xmlns:a16="http://schemas.microsoft.com/office/drawing/2014/main" val="1491010740"/>
                  </a:ext>
                </a:extLst>
              </a:tr>
            </a:tbl>
          </a:graphicData>
        </a:graphic>
      </p:graphicFrame>
    </p:spTree>
    <p:extLst>
      <p:ext uri="{BB962C8B-B14F-4D97-AF65-F5344CB8AC3E}">
        <p14:creationId xmlns:p14="http://schemas.microsoft.com/office/powerpoint/2010/main" val="2034426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C6755A5F-C3C5-4A30-1111-A02603EEA697}"/>
              </a:ext>
            </a:extLst>
          </p:cNvPr>
          <p:cNvGraphicFramePr>
            <a:graphicFrameLocks noGrp="1"/>
          </p:cNvGraphicFramePr>
          <p:nvPr>
            <p:extLst>
              <p:ext uri="{D42A27DB-BD31-4B8C-83A1-F6EECF244321}">
                <p14:modId xmlns:p14="http://schemas.microsoft.com/office/powerpoint/2010/main" val="1439423209"/>
              </p:ext>
            </p:extLst>
          </p:nvPr>
        </p:nvGraphicFramePr>
        <p:xfrm>
          <a:off x="3259147" y="126748"/>
          <a:ext cx="7876614" cy="6143165"/>
        </p:xfrm>
        <a:graphic>
          <a:graphicData uri="http://schemas.openxmlformats.org/drawingml/2006/table">
            <a:tbl>
              <a:tblPr firstRow="1" bandRow="1">
                <a:tableStyleId>{5C22544A-7EE6-4342-B048-85BDC9FD1C3A}</a:tableStyleId>
              </a:tblPr>
              <a:tblGrid>
                <a:gridCol w="2625538">
                  <a:extLst>
                    <a:ext uri="{9D8B030D-6E8A-4147-A177-3AD203B41FA5}">
                      <a16:colId xmlns:a16="http://schemas.microsoft.com/office/drawing/2014/main" val="3541838226"/>
                    </a:ext>
                  </a:extLst>
                </a:gridCol>
                <a:gridCol w="2625538">
                  <a:extLst>
                    <a:ext uri="{9D8B030D-6E8A-4147-A177-3AD203B41FA5}">
                      <a16:colId xmlns:a16="http://schemas.microsoft.com/office/drawing/2014/main" val="406115836"/>
                    </a:ext>
                  </a:extLst>
                </a:gridCol>
                <a:gridCol w="2625538">
                  <a:extLst>
                    <a:ext uri="{9D8B030D-6E8A-4147-A177-3AD203B41FA5}">
                      <a16:colId xmlns:a16="http://schemas.microsoft.com/office/drawing/2014/main" val="2475633692"/>
                    </a:ext>
                  </a:extLst>
                </a:gridCol>
              </a:tblGrid>
              <a:tr h="658564">
                <a:tc>
                  <a:txBody>
                    <a:bodyPr/>
                    <a:lstStyle/>
                    <a:p>
                      <a:r>
                        <a:rPr lang="en-US" sz="2000" dirty="0">
                          <a:latin typeface="Avenir Book" panose="02000503020000020003" pitchFamily="2" charset="0"/>
                        </a:rPr>
                        <a:t>Types of White Blood Cell </a:t>
                      </a:r>
                    </a:p>
                  </a:txBody>
                  <a:tcPr/>
                </a:tc>
                <a:tc>
                  <a:txBody>
                    <a:bodyPr/>
                    <a:lstStyle/>
                    <a:p>
                      <a:r>
                        <a:rPr lang="en-US" sz="2000" dirty="0">
                          <a:latin typeface="Avenir Book" panose="02000503020000020003" pitchFamily="2" charset="0"/>
                        </a:rPr>
                        <a:t>Sub-Class</a:t>
                      </a:r>
                    </a:p>
                  </a:txBody>
                  <a:tcPr/>
                </a:tc>
                <a:tc>
                  <a:txBody>
                    <a:bodyPr/>
                    <a:lstStyle/>
                    <a:p>
                      <a:r>
                        <a:rPr lang="en-US" sz="2000" dirty="0">
                          <a:latin typeface="Avenir Book" panose="02000503020000020003" pitchFamily="2" charset="0"/>
                        </a:rPr>
                        <a:t>Overview of function</a:t>
                      </a:r>
                    </a:p>
                  </a:txBody>
                  <a:tcPr/>
                </a:tc>
                <a:extLst>
                  <a:ext uri="{0D108BD9-81ED-4DB2-BD59-A6C34878D82A}">
                    <a16:rowId xmlns:a16="http://schemas.microsoft.com/office/drawing/2014/main" val="1270524446"/>
                  </a:ext>
                </a:extLst>
              </a:tr>
              <a:tr h="3521885">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000" dirty="0"/>
                        <a:t>Lymphocytes</a:t>
                      </a:r>
                    </a:p>
                    <a:p>
                      <a:endParaRPr lang="en-US" sz="2000" dirty="0">
                        <a:latin typeface="Avenir Book" panose="02000503020000020003"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000" dirty="0"/>
                        <a:t>B cells</a:t>
                      </a:r>
                    </a:p>
                    <a:p>
                      <a:endParaRPr lang="en-US" sz="2000" dirty="0">
                        <a:latin typeface="Avenir Book" panose="02000503020000020003" pitchFamily="2" charset="0"/>
                      </a:endParaRPr>
                    </a:p>
                  </a:txBody>
                  <a:tcPr/>
                </a:tc>
                <a:tc>
                  <a:txBody>
                    <a:bodyPr/>
                    <a:lstStyle/>
                    <a:p>
                      <a:r>
                        <a:rPr lang="en-AU" sz="2000" dirty="0"/>
                        <a:t>Involved in humoral/antibody mediated specific immune response, providing resistance to viruses, bacteria and bacterial toxins before these: micro-organisms or substances enter the body's cells.</a:t>
                      </a:r>
                    </a:p>
                    <a:p>
                      <a:endParaRPr lang="en-US" sz="2000" dirty="0">
                        <a:latin typeface="Avenir Book" panose="02000503020000020003" pitchFamily="2" charset="0"/>
                      </a:endParaRPr>
                    </a:p>
                  </a:txBody>
                  <a:tcPr/>
                </a:tc>
                <a:extLst>
                  <a:ext uri="{0D108BD9-81ED-4DB2-BD59-A6C34878D82A}">
                    <a16:rowId xmlns:a16="http://schemas.microsoft.com/office/drawing/2014/main" val="2544027132"/>
                  </a:ext>
                </a:extLst>
              </a:tr>
              <a:tr h="1803892">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000" dirty="0"/>
                        <a:t>T cells</a:t>
                      </a:r>
                    </a:p>
                    <a:p>
                      <a:endParaRPr lang="en-US" sz="2000" dirty="0">
                        <a:latin typeface="Avenir Book" panose="02000503020000020003" pitchFamily="2" charset="0"/>
                      </a:endParaRPr>
                    </a:p>
                  </a:txBody>
                  <a:tcPr/>
                </a:tc>
                <a:tc>
                  <a:txBody>
                    <a:bodyPr/>
                    <a:lstStyle/>
                    <a:p>
                      <a:r>
                        <a:rPr lang="en-AU" sz="2000" dirty="0"/>
                        <a:t>Involved in cell-mediated immunity, providing defence once the bacteria or viruses have invaded the body's cells.</a:t>
                      </a:r>
                    </a:p>
                  </a:txBody>
                  <a:tcPr/>
                </a:tc>
                <a:extLst>
                  <a:ext uri="{0D108BD9-81ED-4DB2-BD59-A6C34878D82A}">
                    <a16:rowId xmlns:a16="http://schemas.microsoft.com/office/drawing/2014/main" val="1491010740"/>
                  </a:ext>
                </a:extLst>
              </a:tr>
            </a:tbl>
          </a:graphicData>
        </a:graphic>
      </p:graphicFrame>
    </p:spTree>
    <p:extLst>
      <p:ext uri="{BB962C8B-B14F-4D97-AF65-F5344CB8AC3E}">
        <p14:creationId xmlns:p14="http://schemas.microsoft.com/office/powerpoint/2010/main" val="7415992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404129D-8739-28AF-8EB9-49FF173E6497}"/>
              </a:ext>
            </a:extLst>
          </p:cNvPr>
          <p:cNvSpPr>
            <a:spLocks noGrp="1"/>
          </p:cNvSpPr>
          <p:nvPr>
            <p:ph type="body" sz="quarter" idx="13"/>
          </p:nvPr>
        </p:nvSpPr>
        <p:spPr/>
        <p:txBody>
          <a:bodyPr/>
          <a:lstStyle/>
          <a:p>
            <a:r>
              <a:rPr lang="en-AU" dirty="0"/>
              <a:t>How phagocytosis occurs</a:t>
            </a:r>
          </a:p>
          <a:p>
            <a:endParaRPr lang="en-US" dirty="0"/>
          </a:p>
        </p:txBody>
      </p:sp>
      <p:sp>
        <p:nvSpPr>
          <p:cNvPr id="3" name="Text Placeholder 2">
            <a:extLst>
              <a:ext uri="{FF2B5EF4-FFF2-40B4-BE49-F238E27FC236}">
                <a16:creationId xmlns:a16="http://schemas.microsoft.com/office/drawing/2014/main" id="{C363901D-7F30-8091-8BF3-31593B7B7BB6}"/>
              </a:ext>
            </a:extLst>
          </p:cNvPr>
          <p:cNvSpPr>
            <a:spLocks noGrp="1"/>
          </p:cNvSpPr>
          <p:nvPr>
            <p:ph type="body" sz="quarter" idx="15"/>
          </p:nvPr>
        </p:nvSpPr>
        <p:spPr/>
        <p:txBody>
          <a:bodyPr/>
          <a:lstStyle/>
          <a:p>
            <a:pPr>
              <a:lnSpc>
                <a:spcPct val="100000"/>
              </a:lnSpc>
            </a:pPr>
            <a:r>
              <a:rPr lang="en-AU" dirty="0"/>
              <a:t> </a:t>
            </a:r>
            <a:r>
              <a:rPr lang="en-AU" dirty="0">
                <a:latin typeface="Avenir Book" panose="02000503020000020003" pitchFamily="2" charset="0"/>
              </a:rPr>
              <a:t>1. The phagocyte is attracted to the foreign antigen/micro-organism (e.g. chemotaxis or by </a:t>
            </a:r>
            <a:r>
              <a:rPr lang="en-AU" dirty="0" err="1">
                <a:latin typeface="Avenir Book" panose="02000503020000020003" pitchFamily="2" charset="0"/>
              </a:rPr>
              <a:t>opsinization</a:t>
            </a:r>
            <a:r>
              <a:rPr lang="en-AU" dirty="0">
                <a:latin typeface="Avenir Book" panose="02000503020000020003" pitchFamily="2" charset="0"/>
              </a:rPr>
              <a:t>). In this example, the antigen is on the surface of a bacterium. Ingestion by the phagocyte/monocyte/macrophage/neutrophil, or endocytosis occurs. </a:t>
            </a:r>
          </a:p>
          <a:p>
            <a:pPr>
              <a:lnSpc>
                <a:spcPct val="100000"/>
              </a:lnSpc>
            </a:pPr>
            <a:r>
              <a:rPr lang="en-AU" dirty="0">
                <a:latin typeface="Avenir Book" panose="02000503020000020003" pitchFamily="2" charset="0"/>
              </a:rPr>
              <a:t>2. A vacuole forms inside the phagocytic cell. A lysosome binds to the vacuole and releases digestive enzymes. When the lysosome is bound to the phagosome it is called a phagolysosome.</a:t>
            </a:r>
          </a:p>
          <a:p>
            <a:pPr>
              <a:lnSpc>
                <a:spcPct val="100000"/>
              </a:lnSpc>
            </a:pPr>
            <a:r>
              <a:rPr lang="en-AU" dirty="0">
                <a:latin typeface="Avenir Book" panose="02000503020000020003" pitchFamily="2" charset="0"/>
              </a:rPr>
              <a:t>3. The digestive enzymes break down the microbe, leaving only soluble debris, which can be used by the body.</a:t>
            </a:r>
          </a:p>
          <a:p>
            <a:pPr>
              <a:lnSpc>
                <a:spcPct val="100000"/>
              </a:lnSpc>
            </a:pPr>
            <a:r>
              <a:rPr lang="en-AU" dirty="0">
                <a:latin typeface="Avenir Book" panose="02000503020000020003" pitchFamily="2" charset="0"/>
              </a:rPr>
              <a:t> </a:t>
            </a:r>
            <a:r>
              <a:rPr lang="en-US" dirty="0">
                <a:latin typeface="Avenir Book" panose="02000503020000020003" pitchFamily="2" charset="0"/>
              </a:rPr>
              <a:t>4. This leaves the phagocyte by exocytosis. </a:t>
            </a:r>
            <a:endParaRPr lang="en-AU" dirty="0">
              <a:latin typeface="Avenir Book" panose="02000503020000020003" pitchFamily="2" charset="0"/>
            </a:endParaRPr>
          </a:p>
        </p:txBody>
      </p:sp>
      <p:pic>
        <p:nvPicPr>
          <p:cNvPr id="4" name="Picture 3">
            <a:extLst>
              <a:ext uri="{FF2B5EF4-FFF2-40B4-BE49-F238E27FC236}">
                <a16:creationId xmlns:a16="http://schemas.microsoft.com/office/drawing/2014/main" id="{392157CB-ABE6-54A1-177F-F2608742AC34}"/>
              </a:ext>
            </a:extLst>
          </p:cNvPr>
          <p:cNvPicPr>
            <a:picLocks noChangeAspect="1"/>
          </p:cNvPicPr>
          <p:nvPr/>
        </p:nvPicPr>
        <p:blipFill>
          <a:blip r:embed="rId2"/>
          <a:stretch>
            <a:fillRect/>
          </a:stretch>
        </p:blipFill>
        <p:spPr>
          <a:xfrm>
            <a:off x="6546575" y="3567109"/>
            <a:ext cx="4691270" cy="3290891"/>
          </a:xfrm>
          <a:prstGeom prst="rect">
            <a:avLst/>
          </a:prstGeom>
        </p:spPr>
      </p:pic>
    </p:spTree>
    <p:extLst>
      <p:ext uri="{BB962C8B-B14F-4D97-AF65-F5344CB8AC3E}">
        <p14:creationId xmlns:p14="http://schemas.microsoft.com/office/powerpoint/2010/main" val="3344013778"/>
      </p:ext>
    </p:extLst>
  </p:cSld>
  <p:clrMapOvr>
    <a:masterClrMapping/>
  </p:clrMapOvr>
</p:sld>
</file>

<file path=ppt/theme/theme1.xml><?xml version="1.0" encoding="utf-8"?>
<a:theme xmlns:a="http://schemas.openxmlformats.org/drawingml/2006/main" name="Explicit Instructio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Presentation7" id="{A0887C6E-96BD-534A-8CBE-9AAF12871CE8}" vid="{583381A7-9936-5D44-AF96-977A58C393EF}"/>
    </a:ext>
  </a:extLst>
</a:theme>
</file>

<file path=ppt/theme/theme2.xml><?xml version="1.0" encoding="utf-8"?>
<a:theme xmlns:a="http://schemas.openxmlformats.org/drawingml/2006/main" name="Daily Revie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44E26B83-00B7-BB4D-A2EC-ADFFD194B2BC}"/>
    </a:ext>
  </a:extLst>
</a:theme>
</file>

<file path=ppt/theme/theme3.xml><?xml version="1.0" encoding="utf-8"?>
<a:theme xmlns:a="http://schemas.openxmlformats.org/drawingml/2006/main" name="Vocabulary &amp; Spelli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821F2746-48D5-5843-A7D5-EF5B105A2CD3}"/>
    </a:ext>
  </a:extLst>
</a:theme>
</file>

<file path=ppt/theme/theme4.xml><?xml version="1.0" encoding="utf-8"?>
<a:theme xmlns:a="http://schemas.openxmlformats.org/drawingml/2006/main" name="Reading Comprehensio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Presentation7" id="{A0887C6E-96BD-534A-8CBE-9AAF12871CE8}" vid="{2E2F26A4-DEB2-AF4B-9600-F3299094F0DC}"/>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32E83A20-4629-CD4A-B190-FC50DD96DD5C}"/>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Explicit Instruction</Template>
  <TotalTime>4392</TotalTime>
  <Words>870</Words>
  <Application>Microsoft Macintosh PowerPoint</Application>
  <PresentationFormat>Widescreen</PresentationFormat>
  <Paragraphs>66</Paragraphs>
  <Slides>10</Slides>
  <Notes>3</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10</vt:i4>
      </vt:variant>
    </vt:vector>
  </HeadingPairs>
  <TitlesOfParts>
    <vt:vector size="23" baseType="lpstr">
      <vt:lpstr>Arial</vt:lpstr>
      <vt:lpstr>Arial Rounded MT Bold</vt:lpstr>
      <vt:lpstr>Avenir Book</vt:lpstr>
      <vt:lpstr>Calibri</vt:lpstr>
      <vt:lpstr>Calibri Light</vt:lpstr>
      <vt:lpstr>Century Gothic</vt:lpstr>
      <vt:lpstr>Futura Medium</vt:lpstr>
      <vt:lpstr>Verdana</vt:lpstr>
      <vt:lpstr>Explicit Instruction</vt:lpstr>
      <vt:lpstr>Daily Review</vt:lpstr>
      <vt:lpstr>Vocabulary &amp; Spelling</vt:lpstr>
      <vt:lpstr>Reading Comprehension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YATES Hayden [Safety Bay Senior High School]</dc:creator>
  <cp:lastModifiedBy>YATES Hayden [Safety Bay Senior High School]</cp:lastModifiedBy>
  <cp:revision>2</cp:revision>
  <cp:lastPrinted>2020-06-12T23:59:38Z</cp:lastPrinted>
  <dcterms:created xsi:type="dcterms:W3CDTF">2022-05-05T14:28:09Z</dcterms:created>
  <dcterms:modified xsi:type="dcterms:W3CDTF">2022-05-10T03:46:09Z</dcterms:modified>
</cp:coreProperties>
</file>
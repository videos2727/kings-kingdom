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4.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0" r:id="rId1"/>
    <p:sldMasterId id="2147483733" r:id="rId2"/>
    <p:sldMasterId id="2147483748" r:id="rId3"/>
    <p:sldMasterId id="2147483757" r:id="rId4"/>
    <p:sldMasterId id="2147483774" r:id="rId5"/>
  </p:sldMasterIdLst>
  <p:notesMasterIdLst>
    <p:notesMasterId r:id="rId18"/>
  </p:notesMasterIdLst>
  <p:sldIdLst>
    <p:sldId id="313" r:id="rId6"/>
    <p:sldId id="275" r:id="rId7"/>
    <p:sldId id="301" r:id="rId8"/>
    <p:sldId id="555" r:id="rId9"/>
    <p:sldId id="566" r:id="rId10"/>
    <p:sldId id="567" r:id="rId11"/>
    <p:sldId id="568" r:id="rId12"/>
    <p:sldId id="569" r:id="rId13"/>
    <p:sldId id="570" r:id="rId14"/>
    <p:sldId id="556" r:id="rId15"/>
    <p:sldId id="571" r:id="rId16"/>
    <p:sldId id="5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oran Groznica" initials="ZG" lastIdx="2" clrIdx="0">
    <p:extLst>
      <p:ext uri="{19B8F6BF-5375-455C-9EA6-DF929625EA0E}">
        <p15:presenceInfo xmlns:p15="http://schemas.microsoft.com/office/powerpoint/2012/main" userId="3fde8f81ab5e8c4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4D95"/>
    <a:srgbClr val="1991AC"/>
    <a:srgbClr val="00C0B4"/>
    <a:srgbClr val="00DC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4"/>
    <p:restoredTop sz="86391"/>
  </p:normalViewPr>
  <p:slideViewPr>
    <p:cSldViewPr snapToGrid="0" snapToObjects="1">
      <p:cViewPr varScale="1">
        <p:scale>
          <a:sx n="115" d="100"/>
          <a:sy n="115" d="100"/>
        </p:scale>
        <p:origin x="224" y="240"/>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commentAuthors" Target="commentAuthor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97670B-01DE-304A-B5E0-CEAA57CA1308}" type="datetimeFigureOut">
              <a:rPr lang="en-US" smtClean="0"/>
              <a:t>5/9/22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6D6F03-C114-7440-A578-13B07E7D8E06}" type="slidenum">
              <a:rPr lang="en-US" smtClean="0"/>
              <a:t>‹#›</a:t>
            </a:fld>
            <a:endParaRPr lang="en-US"/>
          </a:p>
        </p:txBody>
      </p:sp>
    </p:spTree>
    <p:extLst>
      <p:ext uri="{BB962C8B-B14F-4D97-AF65-F5344CB8AC3E}">
        <p14:creationId xmlns:p14="http://schemas.microsoft.com/office/powerpoint/2010/main" val="2321234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6D6F03-C114-7440-A578-13B07E7D8E06}" type="slidenum">
              <a:rPr lang="en-US" smtClean="0"/>
              <a:t>1</a:t>
            </a:fld>
            <a:endParaRPr lang="en-US"/>
          </a:p>
        </p:txBody>
      </p:sp>
    </p:spTree>
    <p:extLst>
      <p:ext uri="{BB962C8B-B14F-4D97-AF65-F5344CB8AC3E}">
        <p14:creationId xmlns:p14="http://schemas.microsoft.com/office/powerpoint/2010/main" val="3745347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2</a:t>
            </a:fld>
            <a:endParaRPr lang="en-AU"/>
          </a:p>
        </p:txBody>
      </p:sp>
    </p:spTree>
    <p:extLst>
      <p:ext uri="{BB962C8B-B14F-4D97-AF65-F5344CB8AC3E}">
        <p14:creationId xmlns:p14="http://schemas.microsoft.com/office/powerpoint/2010/main" val="5272308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Teacher Cue – refer to the vocabulary box as you read through and</a:t>
            </a:r>
            <a:r>
              <a:rPr lang="en-AU" baseline="0" dirty="0"/>
              <a:t> “unpack” the definition provided. Use hand gestures to emphasise the ”2 or more”, “mixed” and “separated” parts of the definition. </a:t>
            </a:r>
          </a:p>
          <a:p>
            <a:r>
              <a:rPr lang="en-AU" baseline="0" dirty="0"/>
              <a:t>Have students complete CFU 1 as a pair-share, then record these definitions &amp; examples as notes (with diagrams) if desired. </a:t>
            </a:r>
            <a:endParaRPr lang="en-AU" dirty="0"/>
          </a:p>
          <a:p>
            <a:r>
              <a:rPr lang="en-AU" dirty="0"/>
              <a:t>CFU 2 –</a:t>
            </a:r>
            <a:r>
              <a:rPr lang="en-AU" baseline="0" dirty="0"/>
              <a:t> pair-share, then whiteboards for answers – call on non-volunteers.</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3</a:t>
            </a:fld>
            <a:endParaRPr lang="en-AU"/>
          </a:p>
        </p:txBody>
      </p:sp>
    </p:spTree>
    <p:extLst>
      <p:ext uri="{BB962C8B-B14F-4D97-AF65-F5344CB8AC3E}">
        <p14:creationId xmlns:p14="http://schemas.microsoft.com/office/powerpoint/2010/main" val="15108502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CFU –</a:t>
            </a:r>
            <a:r>
              <a:rPr lang="en-AU" baseline="0" dirty="0"/>
              <a:t> read through the slide, have students look closely at the diagram, then allow think time, before asking them to explain it to their partner using the key terms </a:t>
            </a:r>
            <a:r>
              <a:rPr lang="en-AU" b="1" baseline="0" dirty="0"/>
              <a:t>pure substance</a:t>
            </a:r>
            <a:r>
              <a:rPr lang="en-AU" b="0" baseline="0" dirty="0"/>
              <a:t> and </a:t>
            </a:r>
            <a:r>
              <a:rPr lang="en-AU" b="1" baseline="0" dirty="0"/>
              <a:t>mixture. </a:t>
            </a:r>
            <a:r>
              <a:rPr lang="en-AU" b="0" baseline="0" dirty="0"/>
              <a:t>Call on non-volunteers and provide feedback, encouraging detailed responses in full sentence form.</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4</a:t>
            </a:fld>
            <a:endParaRPr lang="en-AU"/>
          </a:p>
        </p:txBody>
      </p:sp>
    </p:spTree>
    <p:extLst>
      <p:ext uri="{BB962C8B-B14F-4D97-AF65-F5344CB8AC3E}">
        <p14:creationId xmlns:p14="http://schemas.microsoft.com/office/powerpoint/2010/main" val="2198206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CFU –</a:t>
            </a:r>
            <a:r>
              <a:rPr lang="en-AU" baseline="0" dirty="0"/>
              <a:t> read through the slide, have students look closely at the diagram, then allow think time, before asking them to explain it to their partner using the key terms </a:t>
            </a:r>
            <a:r>
              <a:rPr lang="en-AU" b="1" baseline="0" dirty="0"/>
              <a:t>pure substance</a:t>
            </a:r>
            <a:r>
              <a:rPr lang="en-AU" b="0" baseline="0" dirty="0"/>
              <a:t> and </a:t>
            </a:r>
            <a:r>
              <a:rPr lang="en-AU" b="1" baseline="0" dirty="0"/>
              <a:t>mixture. </a:t>
            </a:r>
            <a:r>
              <a:rPr lang="en-AU" b="0" baseline="0" dirty="0"/>
              <a:t>Call on non-volunteers and provide feedback, encouraging detailed responses in full sentence form.</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5</a:t>
            </a:fld>
            <a:endParaRPr lang="en-AU"/>
          </a:p>
        </p:txBody>
      </p:sp>
    </p:spTree>
    <p:extLst>
      <p:ext uri="{BB962C8B-B14F-4D97-AF65-F5344CB8AC3E}">
        <p14:creationId xmlns:p14="http://schemas.microsoft.com/office/powerpoint/2010/main" val="18032113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CFU –</a:t>
            </a:r>
            <a:r>
              <a:rPr lang="en-AU" baseline="0" dirty="0"/>
              <a:t> read through the slide, have students look closely at the diagram, then allow think time, before asking them to explain it to their partner using the key terms </a:t>
            </a:r>
            <a:r>
              <a:rPr lang="en-AU" b="1" baseline="0" dirty="0"/>
              <a:t>pure substance</a:t>
            </a:r>
            <a:r>
              <a:rPr lang="en-AU" b="0" baseline="0" dirty="0"/>
              <a:t> and </a:t>
            </a:r>
            <a:r>
              <a:rPr lang="en-AU" b="1" baseline="0" dirty="0"/>
              <a:t>mixture. </a:t>
            </a:r>
            <a:r>
              <a:rPr lang="en-AU" b="0" baseline="0" dirty="0"/>
              <a:t>Call on non-volunteers and provide feedback, encouraging detailed responses in full sentence form.</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6</a:t>
            </a:fld>
            <a:endParaRPr lang="en-AU"/>
          </a:p>
        </p:txBody>
      </p:sp>
    </p:spTree>
    <p:extLst>
      <p:ext uri="{BB962C8B-B14F-4D97-AF65-F5344CB8AC3E}">
        <p14:creationId xmlns:p14="http://schemas.microsoft.com/office/powerpoint/2010/main" val="12280692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CFU –</a:t>
            </a:r>
            <a:r>
              <a:rPr lang="en-AU" baseline="0" dirty="0"/>
              <a:t> read through the slide, have students look closely at the diagram, then allow think time, before asking them to explain it to their partner using the key terms </a:t>
            </a:r>
            <a:r>
              <a:rPr lang="en-AU" b="1" baseline="0" dirty="0"/>
              <a:t>pure substance</a:t>
            </a:r>
            <a:r>
              <a:rPr lang="en-AU" b="0" baseline="0" dirty="0"/>
              <a:t> and </a:t>
            </a:r>
            <a:r>
              <a:rPr lang="en-AU" b="1" baseline="0" dirty="0"/>
              <a:t>mixture. </a:t>
            </a:r>
            <a:r>
              <a:rPr lang="en-AU" b="0" baseline="0" dirty="0"/>
              <a:t>Call on non-volunteers and provide feedback, encouraging detailed responses in full sentence form.</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7</a:t>
            </a:fld>
            <a:endParaRPr lang="en-AU"/>
          </a:p>
        </p:txBody>
      </p:sp>
    </p:spTree>
    <p:extLst>
      <p:ext uri="{BB962C8B-B14F-4D97-AF65-F5344CB8AC3E}">
        <p14:creationId xmlns:p14="http://schemas.microsoft.com/office/powerpoint/2010/main" val="34091692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CFU –</a:t>
            </a:r>
            <a:r>
              <a:rPr lang="en-AU" baseline="0" dirty="0"/>
              <a:t> read through the slide, have students look closely at the diagram, then allow think time, before asking them to explain it to their partner using the key terms </a:t>
            </a:r>
            <a:r>
              <a:rPr lang="en-AU" b="1" baseline="0" dirty="0"/>
              <a:t>pure substance</a:t>
            </a:r>
            <a:r>
              <a:rPr lang="en-AU" b="0" baseline="0" dirty="0"/>
              <a:t> and </a:t>
            </a:r>
            <a:r>
              <a:rPr lang="en-AU" b="1" baseline="0" dirty="0"/>
              <a:t>mixture. </a:t>
            </a:r>
            <a:r>
              <a:rPr lang="en-AU" b="0" baseline="0" dirty="0"/>
              <a:t>Call on non-volunteers and provide feedback, encouraging detailed responses in full sentence form.</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8</a:t>
            </a:fld>
            <a:endParaRPr lang="en-AU"/>
          </a:p>
        </p:txBody>
      </p:sp>
    </p:spTree>
    <p:extLst>
      <p:ext uri="{BB962C8B-B14F-4D97-AF65-F5344CB8AC3E}">
        <p14:creationId xmlns:p14="http://schemas.microsoft.com/office/powerpoint/2010/main" val="18967380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CFU –</a:t>
            </a:r>
            <a:r>
              <a:rPr lang="en-AU" baseline="0" dirty="0"/>
              <a:t> read through the slide, have students look closely at the diagram, then allow think time, before asking them to explain it to their partner using the key terms </a:t>
            </a:r>
            <a:r>
              <a:rPr lang="en-AU" b="1" baseline="0" dirty="0"/>
              <a:t>pure substance</a:t>
            </a:r>
            <a:r>
              <a:rPr lang="en-AU" b="0" baseline="0" dirty="0"/>
              <a:t> and </a:t>
            </a:r>
            <a:r>
              <a:rPr lang="en-AU" b="1" baseline="0" dirty="0"/>
              <a:t>mixture. </a:t>
            </a:r>
            <a:r>
              <a:rPr lang="en-AU" b="0" baseline="0" dirty="0"/>
              <a:t>Call on non-volunteers and provide feedback, encouraging detailed responses in full sentence form.</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9</a:t>
            </a:fld>
            <a:endParaRPr lang="en-AU"/>
          </a:p>
        </p:txBody>
      </p:sp>
    </p:spTree>
    <p:extLst>
      <p:ext uri="{BB962C8B-B14F-4D97-AF65-F5344CB8AC3E}">
        <p14:creationId xmlns:p14="http://schemas.microsoft.com/office/powerpoint/2010/main" val="36136310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CFU –</a:t>
            </a:r>
            <a:r>
              <a:rPr lang="en-AU" baseline="0" dirty="0"/>
              <a:t> read through the slide, have students look closely at the diagram, then allow think time, before asking them to explain it to their partner using the key terms </a:t>
            </a:r>
            <a:r>
              <a:rPr lang="en-AU" b="1" baseline="0" dirty="0"/>
              <a:t>pure substance</a:t>
            </a:r>
            <a:r>
              <a:rPr lang="en-AU" b="0" baseline="0" dirty="0"/>
              <a:t> and </a:t>
            </a:r>
            <a:r>
              <a:rPr lang="en-AU" b="1" baseline="0" dirty="0"/>
              <a:t>mixture. </a:t>
            </a:r>
            <a:r>
              <a:rPr lang="en-AU" b="0" baseline="0" dirty="0"/>
              <a:t>Call on non-volunteers and provide feedback, encouraging detailed responses in full sentence form.</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10</a:t>
            </a:fld>
            <a:endParaRPr lang="en-AU"/>
          </a:p>
        </p:txBody>
      </p:sp>
    </p:spTree>
    <p:extLst>
      <p:ext uri="{BB962C8B-B14F-4D97-AF65-F5344CB8AC3E}">
        <p14:creationId xmlns:p14="http://schemas.microsoft.com/office/powerpoint/2010/main" val="19147534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4.xml"/><Relationship Id="rId4" Type="http://schemas.openxmlformats.org/officeDocument/2006/relationships/image" Target="../media/image4.jp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4.xml"/><Relationship Id="rId4" Type="http://schemas.openxmlformats.org/officeDocument/2006/relationships/image" Target="../media/image4.jp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EI)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6" y="1011383"/>
            <a:ext cx="3011715" cy="538446"/>
          </a:xfrm>
          <a:prstGeom prst="rect">
            <a:avLst/>
          </a:prstGeom>
          <a:solidFill>
            <a:srgbClr val="23566C"/>
          </a:solidFill>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Objective</a:t>
            </a:r>
          </a:p>
        </p:txBody>
      </p:sp>
      <p:sp>
        <p:nvSpPr>
          <p:cNvPr id="9" name="TextBox 8">
            <a:extLst>
              <a:ext uri="{FF2B5EF4-FFF2-40B4-BE49-F238E27FC236}">
                <a16:creationId xmlns:a16="http://schemas.microsoft.com/office/drawing/2014/main" id="{DF9C2B4A-0943-CC42-BE38-4F715F7CAA2B}"/>
              </a:ext>
            </a:extLst>
          </p:cNvPr>
          <p:cNvSpPr txBox="1"/>
          <p:nvPr/>
        </p:nvSpPr>
        <p:spPr>
          <a:xfrm>
            <a:off x="517951" y="4565193"/>
            <a:ext cx="2734700" cy="1947917"/>
          </a:xfrm>
          <a:prstGeom prst="rect">
            <a:avLst/>
          </a:prstGeom>
          <a:noFill/>
        </p:spPr>
        <p:txBody>
          <a:bodyPr wrap="square" tIns="180000" rtlCol="0" anchor="t">
            <a:normAutofit/>
          </a:bodyPr>
          <a:lstStyle/>
          <a:p>
            <a:r>
              <a:rPr lang="en-US" sz="3600" b="1" i="0" dirty="0">
                <a:solidFill>
                  <a:srgbClr val="23566C"/>
                </a:solidFill>
                <a:latin typeface="Calibri" panose="020F0502020204030204" pitchFamily="34" charset="0"/>
                <a:cs typeface="Calibri" panose="020F0502020204030204" pitchFamily="34" charset="0"/>
              </a:rPr>
              <a:t>Think </a:t>
            </a:r>
          </a:p>
          <a:p>
            <a:r>
              <a:rPr lang="en-US" sz="3600" b="1" i="0" dirty="0">
                <a:solidFill>
                  <a:srgbClr val="23566C"/>
                </a:solidFill>
                <a:latin typeface="Calibri" panose="020F0502020204030204" pitchFamily="34" charset="0"/>
                <a:cs typeface="Calibri" panose="020F0502020204030204" pitchFamily="34" charset="0"/>
              </a:rPr>
              <a:t>Pair</a:t>
            </a:r>
          </a:p>
          <a:p>
            <a:r>
              <a:rPr lang="en-US" sz="3600" b="1" i="0" dirty="0">
                <a:solidFill>
                  <a:srgbClr val="23566C"/>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3149365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I) Learning Objectiv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4372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Objective</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728213"/>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1218404"/>
            <a:ext cx="11577177" cy="5430940"/>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learning objective</a:t>
            </a:r>
          </a:p>
        </p:txBody>
      </p:sp>
    </p:spTree>
    <p:extLst>
      <p:ext uri="{BB962C8B-B14F-4D97-AF65-F5344CB8AC3E}">
        <p14:creationId xmlns:p14="http://schemas.microsoft.com/office/powerpoint/2010/main" val="2839666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I)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4372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1873045"/>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145445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I)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16018"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p:nvSpPr>
        <p:spPr>
          <a:xfrm>
            <a:off x="295218" y="1873045"/>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8551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EI)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7143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9" y="1873045"/>
            <a:ext cx="1990782"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279372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2053497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EI)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Concept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1923569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I)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p:nvSpPr>
        <p:spPr>
          <a:xfrm>
            <a:off x="295275" y="590550"/>
            <a:ext cx="4199996" cy="352425"/>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56394389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I)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56878865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EI)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82320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EI)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9" y="1053881"/>
            <a:ext cx="2350999" cy="495947"/>
          </a:xfrm>
          <a:prstGeom prst="rect">
            <a:avLst/>
          </a:prstGeom>
          <a:solidFill>
            <a:srgbClr val="23566C"/>
          </a:solidFill>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0725565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EI)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9071090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EI)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9" y="208656"/>
            <a:ext cx="1347844" cy="515262"/>
          </a:xfrm>
          <a:prstGeom prst="rect">
            <a:avLst/>
          </a:prstGeom>
          <a:solidFill>
            <a:srgbClr val="002060"/>
          </a:solidFill>
          <a:ln>
            <a:noFill/>
          </a:ln>
        </p:spPr>
        <p:txBody>
          <a:bodyPr wrap="square" rtlCol="0" anchor="ctr">
            <a:noAutofit/>
          </a:bodyPr>
          <a:lstStyle/>
          <a:p>
            <a:r>
              <a:rPr lang="en-US" sz="2400" b="1" i="0" dirty="0">
                <a:solidFill>
                  <a:schemeClr val="accent5">
                    <a:lumMod val="40000"/>
                    <a:lumOff val="60000"/>
                  </a:schemeClr>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723918"/>
            <a:ext cx="11577177" cy="1204895"/>
          </a:xfrm>
          <a:prstGeom prst="rect">
            <a:avLst/>
          </a:prstGeom>
          <a:solidFill>
            <a:schemeClr val="accent5">
              <a:lumMod val="40000"/>
              <a:lumOff val="60000"/>
            </a:schemeClr>
          </a:solidFill>
          <a:ln>
            <a:noFill/>
          </a:ln>
        </p:spPr>
        <p:txBody>
          <a:bodyPr wrap="square" rtlCol="0" anchor="ctr">
            <a:normAutofit/>
          </a:bodyPr>
          <a:lstStyle/>
          <a:p>
            <a:r>
              <a:rPr lang="en-US" sz="6000" b="1" i="0" dirty="0">
                <a:solidFill>
                  <a:srgbClr val="002060"/>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002060"/>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5241364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I)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55156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59" name="Text Placeholder 5">
            <a:extLst>
              <a:ext uri="{FF2B5EF4-FFF2-40B4-BE49-F238E27FC236}">
                <a16:creationId xmlns:a16="http://schemas.microsoft.com/office/drawing/2014/main" id="{D065E96F-34B9-6940-8CF5-B5BC1E923DCB}"/>
              </a:ext>
            </a:extLst>
          </p:cNvPr>
          <p:cNvSpPr>
            <a:spLocks noGrp="1"/>
          </p:cNvSpPr>
          <p:nvPr>
            <p:ph type="body" sz="quarter" idx="21" hasCustomPrompt="1"/>
          </p:nvPr>
        </p:nvSpPr>
        <p:spPr>
          <a:xfrm>
            <a:off x="9644135" y="287950"/>
            <a:ext cx="2162572" cy="288424"/>
          </a:xfrm>
          <a:prstGeom prst="rect">
            <a:avLst/>
          </a:prstGeom>
          <a:solidFill>
            <a:schemeClr val="accent6">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Make the connection</a:t>
            </a:r>
            <a:endParaRPr lang="en-US" dirty="0"/>
          </a:p>
        </p:txBody>
      </p:sp>
      <p:sp>
        <p:nvSpPr>
          <p:cNvPr id="60" name="Text Placeholder 48">
            <a:extLst>
              <a:ext uri="{FF2B5EF4-FFF2-40B4-BE49-F238E27FC236}">
                <a16:creationId xmlns:a16="http://schemas.microsoft.com/office/drawing/2014/main" id="{74718A69-45DC-3349-AC14-1CB203717716}"/>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61" name="Text Placeholder 5">
            <a:extLst>
              <a:ext uri="{FF2B5EF4-FFF2-40B4-BE49-F238E27FC236}">
                <a16:creationId xmlns:a16="http://schemas.microsoft.com/office/drawing/2014/main" id="{E8F06128-C65E-E74D-8888-C3B0265B87E5}"/>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62" name="Text Placeholder 48">
            <a:extLst>
              <a:ext uri="{FF2B5EF4-FFF2-40B4-BE49-F238E27FC236}">
                <a16:creationId xmlns:a16="http://schemas.microsoft.com/office/drawing/2014/main" id="{9CC4C70C-1C88-8242-822E-8EB858DBE3EF}"/>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63" name="Text Placeholder 5">
            <a:extLst>
              <a:ext uri="{FF2B5EF4-FFF2-40B4-BE49-F238E27FC236}">
                <a16:creationId xmlns:a16="http://schemas.microsoft.com/office/drawing/2014/main" id="{DB394B8D-09B6-2D4C-A89A-411FA179F6B4}"/>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64" name="Text Placeholder 48">
            <a:extLst>
              <a:ext uri="{FF2B5EF4-FFF2-40B4-BE49-F238E27FC236}">
                <a16:creationId xmlns:a16="http://schemas.microsoft.com/office/drawing/2014/main" id="{9E7179FB-4670-E449-82E2-2342DFBACF6F}"/>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678402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Content Development</a:t>
            </a:r>
          </a:p>
        </p:txBody>
      </p:sp>
      <p:sp>
        <p:nvSpPr>
          <p:cNvPr id="21" name="Text Placeholder 5">
            <a:extLst>
              <a:ext uri="{FF2B5EF4-FFF2-40B4-BE49-F238E27FC236}">
                <a16:creationId xmlns:a16="http://schemas.microsoft.com/office/drawing/2014/main" id="{578A17B0-D745-3C43-93AB-662F15D9C14B}"/>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2" name="Text Placeholder 48">
            <a:extLst>
              <a:ext uri="{FF2B5EF4-FFF2-40B4-BE49-F238E27FC236}">
                <a16:creationId xmlns:a16="http://schemas.microsoft.com/office/drawing/2014/main" id="{C5AFB84F-2B6E-D646-B782-34B1A586BAEE}"/>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3" name="Text Placeholder 5">
            <a:extLst>
              <a:ext uri="{FF2B5EF4-FFF2-40B4-BE49-F238E27FC236}">
                <a16:creationId xmlns:a16="http://schemas.microsoft.com/office/drawing/2014/main" id="{8579A7DA-1AA6-6348-9480-0ABDE8E7E869}"/>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4" name="Text Placeholder 48">
            <a:extLst>
              <a:ext uri="{FF2B5EF4-FFF2-40B4-BE49-F238E27FC236}">
                <a16:creationId xmlns:a16="http://schemas.microsoft.com/office/drawing/2014/main" id="{3DC620B8-B5B6-A546-998D-BB0D780266B1}"/>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5" name="Text Placeholder 5">
            <a:extLst>
              <a:ext uri="{FF2B5EF4-FFF2-40B4-BE49-F238E27FC236}">
                <a16:creationId xmlns:a16="http://schemas.microsoft.com/office/drawing/2014/main" id="{33D9DD79-4FA4-9441-9CD5-FD3E0E184E36}"/>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6" name="Text Placeholder 48">
            <a:extLst>
              <a:ext uri="{FF2B5EF4-FFF2-40B4-BE49-F238E27FC236}">
                <a16:creationId xmlns:a16="http://schemas.microsoft.com/office/drawing/2014/main" id="{40DC7D38-E5DA-C74E-92F3-A6FCC9CC0E70}"/>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5904603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kill Steps /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Skill Steps / Guided Practice</a:t>
            </a:r>
          </a:p>
        </p:txBody>
      </p:sp>
      <p:sp>
        <p:nvSpPr>
          <p:cNvPr id="22" name="Text Placeholder 5">
            <a:extLst>
              <a:ext uri="{FF2B5EF4-FFF2-40B4-BE49-F238E27FC236}">
                <a16:creationId xmlns:a16="http://schemas.microsoft.com/office/drawing/2014/main" id="{6FCF9CE4-B167-C647-830E-926D9BC11CD7}"/>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3" name="Text Placeholder 48">
            <a:extLst>
              <a:ext uri="{FF2B5EF4-FFF2-40B4-BE49-F238E27FC236}">
                <a16:creationId xmlns:a16="http://schemas.microsoft.com/office/drawing/2014/main" id="{0749FB8D-5908-B440-BF2C-3B703391AAE5}"/>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4" name="Text Placeholder 5">
            <a:extLst>
              <a:ext uri="{FF2B5EF4-FFF2-40B4-BE49-F238E27FC236}">
                <a16:creationId xmlns:a16="http://schemas.microsoft.com/office/drawing/2014/main" id="{B5210779-8122-F342-AF13-26D8416493B0}"/>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5" name="Text Placeholder 48">
            <a:extLst>
              <a:ext uri="{FF2B5EF4-FFF2-40B4-BE49-F238E27FC236}">
                <a16:creationId xmlns:a16="http://schemas.microsoft.com/office/drawing/2014/main" id="{2564DDFE-656D-C84E-991A-DC05015CC956}"/>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6" name="Text Placeholder 5">
            <a:extLst>
              <a:ext uri="{FF2B5EF4-FFF2-40B4-BE49-F238E27FC236}">
                <a16:creationId xmlns:a16="http://schemas.microsoft.com/office/drawing/2014/main" id="{842EB6E0-B7AD-6C40-89B8-5521B528F9C5}"/>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7" name="Text Placeholder 48">
            <a:extLst>
              <a:ext uri="{FF2B5EF4-FFF2-40B4-BE49-F238E27FC236}">
                <a16:creationId xmlns:a16="http://schemas.microsoft.com/office/drawing/2014/main" id="{A21C2D16-2A8E-4B4B-8D58-4B389AAA67A7}"/>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35781763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kills Check">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Skills Check</a:t>
            </a:r>
          </a:p>
        </p:txBody>
      </p:sp>
      <p:sp>
        <p:nvSpPr>
          <p:cNvPr id="24" name="Text Placeholder 5">
            <a:extLst>
              <a:ext uri="{FF2B5EF4-FFF2-40B4-BE49-F238E27FC236}">
                <a16:creationId xmlns:a16="http://schemas.microsoft.com/office/drawing/2014/main" id="{2D6AD4E2-8B86-1A42-B6B1-9794F63D2421}"/>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5" name="Text Placeholder 48">
            <a:extLst>
              <a:ext uri="{FF2B5EF4-FFF2-40B4-BE49-F238E27FC236}">
                <a16:creationId xmlns:a16="http://schemas.microsoft.com/office/drawing/2014/main" id="{3824608F-B525-2D45-9CFD-FDDDDC6F3A6B}"/>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6" name="Text Placeholder 5">
            <a:extLst>
              <a:ext uri="{FF2B5EF4-FFF2-40B4-BE49-F238E27FC236}">
                <a16:creationId xmlns:a16="http://schemas.microsoft.com/office/drawing/2014/main" id="{78FBBDF4-8B54-6D40-BB00-9DB79EE3BD87}"/>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7" name="Text Placeholder 48">
            <a:extLst>
              <a:ext uri="{FF2B5EF4-FFF2-40B4-BE49-F238E27FC236}">
                <a16:creationId xmlns:a16="http://schemas.microsoft.com/office/drawing/2014/main" id="{CF892DE4-0989-9F4F-B9B9-0D50497971BE}"/>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8" name="Text Placeholder 5">
            <a:extLst>
              <a:ext uri="{FF2B5EF4-FFF2-40B4-BE49-F238E27FC236}">
                <a16:creationId xmlns:a16="http://schemas.microsoft.com/office/drawing/2014/main" id="{504DAC59-2F1B-D344-B5E4-3DD118198D9F}"/>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9" name="Text Placeholder 48">
            <a:extLst>
              <a:ext uri="{FF2B5EF4-FFF2-40B4-BE49-F238E27FC236}">
                <a16:creationId xmlns:a16="http://schemas.microsoft.com/office/drawing/2014/main" id="{EA6CD3E8-8EA8-D643-BBB5-EB619A565567}"/>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135128304"/>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28" name="Text Placeholder 5">
            <a:extLst>
              <a:ext uri="{FF2B5EF4-FFF2-40B4-BE49-F238E27FC236}">
                <a16:creationId xmlns:a16="http://schemas.microsoft.com/office/drawing/2014/main" id="{476A4E78-E152-CE41-A402-F83EB570A417}"/>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9" name="Text Placeholder 48">
            <a:extLst>
              <a:ext uri="{FF2B5EF4-FFF2-40B4-BE49-F238E27FC236}">
                <a16:creationId xmlns:a16="http://schemas.microsoft.com/office/drawing/2014/main" id="{BB7D38D9-00D0-E94F-A56B-68FEB60A7FFF}"/>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30" name="Text Placeholder 5">
            <a:extLst>
              <a:ext uri="{FF2B5EF4-FFF2-40B4-BE49-F238E27FC236}">
                <a16:creationId xmlns:a16="http://schemas.microsoft.com/office/drawing/2014/main" id="{75A649CF-6F35-6240-8694-7D985FF77DF1}"/>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31" name="Text Placeholder 48">
            <a:extLst>
              <a:ext uri="{FF2B5EF4-FFF2-40B4-BE49-F238E27FC236}">
                <a16:creationId xmlns:a16="http://schemas.microsoft.com/office/drawing/2014/main" id="{73A7D846-854A-F34B-A7E6-331D90F8028C}"/>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32" name="Text Placeholder 5">
            <a:extLst>
              <a:ext uri="{FF2B5EF4-FFF2-40B4-BE49-F238E27FC236}">
                <a16:creationId xmlns:a16="http://schemas.microsoft.com/office/drawing/2014/main" id="{B421E4A7-84CE-D441-9E4B-33DE3CF3ACE2}"/>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33" name="Text Placeholder 48">
            <a:extLst>
              <a:ext uri="{FF2B5EF4-FFF2-40B4-BE49-F238E27FC236}">
                <a16:creationId xmlns:a16="http://schemas.microsoft.com/office/drawing/2014/main" id="{DC7FFA7A-C37D-F846-868C-88068206D29C}"/>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2055765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8" y="1053881"/>
            <a:ext cx="2572719" cy="495947"/>
          </a:xfrm>
          <a:prstGeom prst="rect">
            <a:avLst/>
          </a:prstGeom>
          <a:solidFill>
            <a:srgbClr val="23566C"/>
          </a:solidFill>
        </p:spPr>
        <p:txBody>
          <a:bodyPr wrap="square" rtlCol="0" anchor="ctr">
            <a:noAutofit/>
          </a:bodyPr>
          <a:lstStyle/>
          <a:p>
            <a:r>
              <a:rPr lang="en-US" sz="2400" b="1" dirty="0">
                <a:solidFill>
                  <a:srgbClr val="B3FFFF"/>
                </a:solidFill>
                <a:latin typeface="Futura Medium" panose="020B0602020204020303" pitchFamily="34" charset="-79"/>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p:spPr>
        <p:txBody>
          <a:bodyPr tIns="144000" bIns="0"/>
          <a:lstStyle>
            <a:lvl1pPr marL="0" indent="0">
              <a:buNone/>
              <a:defRPr sz="6000" b="1">
                <a:solidFill>
                  <a:schemeClr val="bg1"/>
                </a:solidFill>
                <a:latin typeface="Futura Medium" panose="020B0602020204020303" pitchFamily="34" charset="-79"/>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14430495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Independent Practice</a:t>
            </a:r>
          </a:p>
        </p:txBody>
      </p:sp>
      <p:sp>
        <p:nvSpPr>
          <p:cNvPr id="20" name="Text Placeholder 5">
            <a:extLst>
              <a:ext uri="{FF2B5EF4-FFF2-40B4-BE49-F238E27FC236}">
                <a16:creationId xmlns:a16="http://schemas.microsoft.com/office/drawing/2014/main" id="{2A7343F6-8A3F-024A-BAB1-A40A1A630C10}"/>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1" name="Text Placeholder 48">
            <a:extLst>
              <a:ext uri="{FF2B5EF4-FFF2-40B4-BE49-F238E27FC236}">
                <a16:creationId xmlns:a16="http://schemas.microsoft.com/office/drawing/2014/main" id="{81597401-FB89-084B-955C-A0C7FAB02436}"/>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2" name="Text Placeholder 5">
            <a:extLst>
              <a:ext uri="{FF2B5EF4-FFF2-40B4-BE49-F238E27FC236}">
                <a16:creationId xmlns:a16="http://schemas.microsoft.com/office/drawing/2014/main" id="{A82891C2-3E9D-4241-85E7-747B1595FB99}"/>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3" name="Text Placeholder 48">
            <a:extLst>
              <a:ext uri="{FF2B5EF4-FFF2-40B4-BE49-F238E27FC236}">
                <a16:creationId xmlns:a16="http://schemas.microsoft.com/office/drawing/2014/main" id="{8A690C59-B342-0648-BCE5-1C98B5A89AD7}"/>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4" name="Text Placeholder 5">
            <a:extLst>
              <a:ext uri="{FF2B5EF4-FFF2-40B4-BE49-F238E27FC236}">
                <a16:creationId xmlns:a16="http://schemas.microsoft.com/office/drawing/2014/main" id="{17B4E049-9FD5-E24B-B3BE-5C09B449C3F6}"/>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5" name="Text Placeholder 48">
            <a:extLst>
              <a:ext uri="{FF2B5EF4-FFF2-40B4-BE49-F238E27FC236}">
                <a16:creationId xmlns:a16="http://schemas.microsoft.com/office/drawing/2014/main" id="{5E376940-61D8-D142-9880-9EE380DE8579}"/>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22323396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R) Daily Edi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Daily Starter</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7611429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R) Icebreake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Icebreaker</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Before we begin the lesson…</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7767689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DR) Icebreake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Wrap-up</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Before we go…</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105318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R) Daily Edit 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1549400"/>
            <a:ext cx="11578126" cy="2929609"/>
          </a:xfrm>
          <a:prstGeom prst="rect">
            <a:avLst/>
          </a:prstGeom>
          <a:solidFill>
            <a:srgbClr val="A14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7200" b="1" i="0" dirty="0">
                <a:latin typeface="Century Gothic" panose="020B0502020202020204" pitchFamily="34" charset="0"/>
              </a:rPr>
              <a:t>Reviewing what we know</a:t>
            </a: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95218" y="1011383"/>
            <a:ext cx="2106787" cy="538446"/>
          </a:xfrm>
          <a:prstGeom prst="rect">
            <a:avLst/>
          </a:prstGeom>
          <a:solidFill>
            <a:srgbClr val="4C223F"/>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Daily Review</a:t>
            </a:r>
          </a:p>
        </p:txBody>
      </p:sp>
    </p:spTree>
    <p:extLst>
      <p:ext uri="{BB962C8B-B14F-4D97-AF65-F5344CB8AC3E}">
        <p14:creationId xmlns:p14="http://schemas.microsoft.com/office/powerpoint/2010/main" val="34650356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R)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3746334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R)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3960112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R)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008595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R)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4C223F"/>
          </a:solidFill>
          <a:ln>
            <a:noFill/>
          </a:ln>
        </p:spPr>
        <p:txBody>
          <a:bodyPr wrap="square" rtlCol="0" anchor="ctr">
            <a:noAutofit/>
          </a:bodyPr>
          <a:lstStyle/>
          <a:p>
            <a:r>
              <a:rPr lang="en-US" sz="2400" b="1" i="0" dirty="0">
                <a:solidFill>
                  <a:schemeClr val="accent5">
                    <a:lumMod val="40000"/>
                    <a:lumOff val="60000"/>
                  </a:schemeClr>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FFB6F2"/>
          </a:solidFill>
          <a:ln>
            <a:noFill/>
          </a:ln>
        </p:spPr>
        <p:txBody>
          <a:bodyPr wrap="square" rtlCol="0" anchor="ctr">
            <a:normAutofit/>
          </a:bodyPr>
          <a:lstStyle/>
          <a:p>
            <a:pPr marL="0" indent="0">
              <a:tabLst>
                <a:tab pos="3597275" algn="l"/>
              </a:tabLst>
            </a:pPr>
            <a:r>
              <a:rPr lang="en-US" sz="6000" b="1" i="0" dirty="0">
                <a:solidFill>
                  <a:srgbClr val="4C223F"/>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27007319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R) Hyper-speed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A14986"/>
          </a:solidFill>
        </p:spPr>
        <p:txBody>
          <a:bodyPr wrap="square" rtlCol="0" anchor="ctr">
            <a:noAutofit/>
          </a:bodyPr>
          <a:lstStyle/>
          <a:p>
            <a:pPr algn="ctr"/>
            <a:r>
              <a:rPr lang="en-US" sz="2000" b="1" i="0" dirty="0">
                <a:solidFill>
                  <a:srgbClr val="FFB6F2"/>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square" rtlCol="0" anchor="ctr">
            <a:normAutofit fontScale="25000" lnSpcReduction="20000"/>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25002" y="629514"/>
            <a:ext cx="5504743"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25002" y="1772516"/>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25002" y="2922543"/>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25002" y="4072570"/>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25002" y="5201522"/>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36436836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R)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A14986"/>
          </a:solidFill>
        </p:spPr>
        <p:txBody>
          <a:bodyPr wrap="square" rtlCol="0" anchor="ctr">
            <a:noAutofit/>
          </a:bodyPr>
          <a:lstStyle/>
          <a:p>
            <a:pPr algn="ctr"/>
            <a:r>
              <a:rPr lang="en-US" sz="2000" b="1" i="0" dirty="0">
                <a:solidFill>
                  <a:srgbClr val="FFB6F2"/>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rgbClr val="A14986"/>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solidFill>
                <a:srgbClr val="A14986"/>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63638" y="629514"/>
            <a:ext cx="5466107"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63638" y="1772516"/>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63638" y="2915518"/>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63638" y="4058520"/>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63638" y="5201522"/>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2307647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R)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06066"/>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Recite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58432"/>
            <a:ext cx="8954305" cy="1914525"/>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Go over the steps they already know from this unit, or from relevant prior knowledge.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6808063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R)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Recall</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4190"/>
            <a:ext cx="8954305" cy="1900238"/>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Practicing the steps they already know together. This should be guided practice.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8205587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R) Apply">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Apply</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5599"/>
            <a:ext cx="8954305" cy="1985962"/>
          </a:xfrm>
          <a:prstGeom prst="rect">
            <a:avLst/>
          </a:prstGeo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Quickly check that all students can still complete the previous steps learnt.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7772155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R)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812306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5/9/22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4272889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S) Word List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208446"/>
            <a:ext cx="11578126" cy="1322388"/>
          </a:xfrm>
          <a:prstGeom prst="rect">
            <a:avLst/>
          </a:prstGeom>
          <a:solidFill>
            <a:srgbClr val="479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sz="7200" b="1" i="0" dirty="0">
                <a:latin typeface="Century Gothic" panose="020B0502020202020204" pitchFamily="34" charset="0"/>
              </a:rPr>
              <a:t>   Vocabulary &amp; Spelling</a:t>
            </a:r>
          </a:p>
        </p:txBody>
      </p:sp>
      <p:cxnSp>
        <p:nvCxnSpPr>
          <p:cNvPr id="3" name="Straight Connector 2">
            <a:extLst>
              <a:ext uri="{FF2B5EF4-FFF2-40B4-BE49-F238E27FC236}">
                <a16:creationId xmlns:a16="http://schemas.microsoft.com/office/drawing/2014/main" id="{5AD15892-5882-3341-B706-D64E5ABBDC96}"/>
              </a:ext>
            </a:extLst>
          </p:cNvPr>
          <p:cNvCxnSpPr/>
          <p:nvPr userDrawn="1"/>
        </p:nvCxnSpPr>
        <p:spPr>
          <a:xfrm>
            <a:off x="6084282" y="1771650"/>
            <a:ext cx="0" cy="4572000"/>
          </a:xfrm>
          <a:prstGeom prst="line">
            <a:avLst/>
          </a:prstGeom>
          <a:ln w="28575">
            <a:solidFill>
              <a:srgbClr val="47998B"/>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EAD6347-1222-7C40-97CD-5685C7FBB93B}"/>
              </a:ext>
            </a:extLst>
          </p:cNvPr>
          <p:cNvSpPr txBox="1"/>
          <p:nvPr userDrawn="1"/>
        </p:nvSpPr>
        <p:spPr>
          <a:xfrm>
            <a:off x="295219" y="1564481"/>
            <a:ext cx="5789063" cy="523220"/>
          </a:xfrm>
          <a:prstGeom prst="rect">
            <a:avLst/>
          </a:prstGeom>
          <a:noFill/>
        </p:spPr>
        <p:txBody>
          <a:bodyPr wrap="square" rtlCol="0">
            <a:spAutoFit/>
          </a:bodyPr>
          <a:lstStyle/>
          <a:p>
            <a:pPr algn="ctr"/>
            <a:r>
              <a:rPr lang="en-US" sz="2800" b="1" dirty="0">
                <a:solidFill>
                  <a:srgbClr val="1F443E"/>
                </a:solidFill>
              </a:rPr>
              <a:t>Practice Words</a:t>
            </a:r>
          </a:p>
        </p:txBody>
      </p:sp>
      <p:sp>
        <p:nvSpPr>
          <p:cNvPr id="8" name="TextBox 7">
            <a:extLst>
              <a:ext uri="{FF2B5EF4-FFF2-40B4-BE49-F238E27FC236}">
                <a16:creationId xmlns:a16="http://schemas.microsoft.com/office/drawing/2014/main" id="{DFC75BB7-22FA-3044-BE33-24527B15C19C}"/>
              </a:ext>
            </a:extLst>
          </p:cNvPr>
          <p:cNvSpPr txBox="1"/>
          <p:nvPr userDrawn="1"/>
        </p:nvSpPr>
        <p:spPr>
          <a:xfrm>
            <a:off x="6084282" y="1573349"/>
            <a:ext cx="5789063" cy="523220"/>
          </a:xfrm>
          <a:prstGeom prst="rect">
            <a:avLst/>
          </a:prstGeom>
          <a:noFill/>
        </p:spPr>
        <p:txBody>
          <a:bodyPr wrap="square" rtlCol="0">
            <a:spAutoFit/>
          </a:bodyPr>
          <a:lstStyle/>
          <a:p>
            <a:pPr algn="ctr"/>
            <a:r>
              <a:rPr lang="en-US" sz="2800" b="1" dirty="0">
                <a:solidFill>
                  <a:srgbClr val="1F443E"/>
                </a:solidFill>
              </a:rPr>
              <a:t>New Words</a:t>
            </a:r>
          </a:p>
        </p:txBody>
      </p:sp>
      <p:sp>
        <p:nvSpPr>
          <p:cNvPr id="10" name="Text Placeholder 9">
            <a:extLst>
              <a:ext uri="{FF2B5EF4-FFF2-40B4-BE49-F238E27FC236}">
                <a16:creationId xmlns:a16="http://schemas.microsoft.com/office/drawing/2014/main" id="{67D1519D-3B3A-A443-9C33-32137A836131}"/>
              </a:ext>
            </a:extLst>
          </p:cNvPr>
          <p:cNvSpPr>
            <a:spLocks noGrp="1"/>
          </p:cNvSpPr>
          <p:nvPr>
            <p:ph type="body" sz="quarter" idx="10" hasCustomPrompt="1"/>
          </p:nvPr>
        </p:nvSpPr>
        <p:spPr>
          <a:xfrm>
            <a:off x="295275" y="2457450"/>
            <a:ext cx="5789613" cy="4171950"/>
          </a:xfrm>
          <a:prstGeom prst="rect">
            <a:avLst/>
          </a:prstGeom>
        </p:spPr>
        <p:txBody>
          <a:bodyPr/>
          <a:lstStyle>
            <a:lvl1pPr marL="457200" indent="-457200">
              <a:buFont typeface="Arial" panose="020B0604020202020204" pitchFamily="34" charset="0"/>
              <a:buChar char="•"/>
              <a:defRPr b="1"/>
            </a:lvl1pPr>
            <a:lvl2pPr>
              <a:defRPr b="1"/>
            </a:lvl2pPr>
            <a:lvl3pPr>
              <a:defRPr b="1"/>
            </a:lvl3pPr>
            <a:lvl4pPr>
              <a:defRPr b="1"/>
            </a:lvl4pPr>
            <a:lvl5pPr>
              <a:defRPr b="1"/>
            </a:lvl5pPr>
          </a:lstStyle>
          <a:p>
            <a:pPr lvl="0"/>
            <a:r>
              <a:rPr lang="en-US" dirty="0"/>
              <a:t>Add known words for hyper-speed practice</a:t>
            </a:r>
          </a:p>
        </p:txBody>
      </p:sp>
      <p:sp>
        <p:nvSpPr>
          <p:cNvPr id="11" name="Text Placeholder 9">
            <a:extLst>
              <a:ext uri="{FF2B5EF4-FFF2-40B4-BE49-F238E27FC236}">
                <a16:creationId xmlns:a16="http://schemas.microsoft.com/office/drawing/2014/main" id="{3843A533-E319-DD4D-BFA7-5A1FB929CA5C}"/>
              </a:ext>
            </a:extLst>
          </p:cNvPr>
          <p:cNvSpPr>
            <a:spLocks noGrp="1"/>
          </p:cNvSpPr>
          <p:nvPr>
            <p:ph type="body" sz="quarter" idx="11" hasCustomPrompt="1"/>
          </p:nvPr>
        </p:nvSpPr>
        <p:spPr>
          <a:xfrm>
            <a:off x="6083732" y="2466318"/>
            <a:ext cx="5789613" cy="4171950"/>
          </a:xfrm>
          <a:prstGeom prst="rect">
            <a:avLst/>
          </a:prstGeom>
        </p:spPr>
        <p:txBody>
          <a:bodyPr/>
          <a:lstStyle>
            <a:lvl1pPr marL="457200" indent="-457200">
              <a:buFont typeface="Arial" panose="020B0604020202020204" pitchFamily="34" charset="0"/>
              <a:buChar char="•"/>
              <a:defRPr b="1"/>
            </a:lvl1pPr>
            <a:lvl2pPr>
              <a:defRPr b="1"/>
            </a:lvl2pPr>
            <a:lvl3pPr>
              <a:defRPr b="1"/>
            </a:lvl3pPr>
            <a:lvl4pPr>
              <a:defRPr b="1"/>
            </a:lvl4pPr>
            <a:lvl5pPr>
              <a:defRPr b="1"/>
            </a:lvl5pPr>
          </a:lstStyle>
          <a:p>
            <a:pPr lvl="0"/>
            <a:r>
              <a:rPr lang="en-US" dirty="0"/>
              <a:t>Add new words for learning definitions and spelling</a:t>
            </a:r>
          </a:p>
        </p:txBody>
      </p:sp>
    </p:spTree>
    <p:extLst>
      <p:ext uri="{BB962C8B-B14F-4D97-AF65-F5344CB8AC3E}">
        <p14:creationId xmlns:p14="http://schemas.microsoft.com/office/powerpoint/2010/main" val="242144716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S)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34089652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S)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35105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S)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045112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VS) Hyper-speed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1F443E"/>
          </a:solidFill>
        </p:spPr>
        <p:txBody>
          <a:bodyPr wrap="square" rtlCol="0" anchor="ctr">
            <a:noAutofit/>
          </a:bodyPr>
          <a:lstStyle/>
          <a:p>
            <a:pPr algn="ctr"/>
            <a:r>
              <a:rPr lang="en-US" sz="2000" b="1" i="0" dirty="0">
                <a:solidFill>
                  <a:srgbClr val="C1FFE1"/>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37882" y="629514"/>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37882" y="1772516"/>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37882" y="2915518"/>
            <a:ext cx="549403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37882" y="4058520"/>
            <a:ext cx="549403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37882" y="5201522"/>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331218264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VS)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1F443E"/>
          </a:solidFill>
        </p:spPr>
        <p:txBody>
          <a:bodyPr wrap="square" rtlCol="0" anchor="ctr">
            <a:noAutofit/>
          </a:bodyPr>
          <a:lstStyle/>
          <a:p>
            <a:pPr algn="ctr"/>
            <a:r>
              <a:rPr lang="en-US" sz="2000" b="1" i="0" dirty="0">
                <a:solidFill>
                  <a:srgbClr val="C1FFE1"/>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89396" y="629514"/>
            <a:ext cx="5440349"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89396" y="1772516"/>
            <a:ext cx="544035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89396" y="2915518"/>
            <a:ext cx="5442516"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89396" y="4058520"/>
            <a:ext cx="5442516"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89396" y="5201522"/>
            <a:ext cx="544035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2086947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VS)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182155"/>
          </a:xfrm>
          <a:prstGeom prst="rect">
            <a:avLst/>
          </a:prstGeom>
          <a:solidFill>
            <a:srgbClr val="C1FFE1"/>
          </a:solidFill>
          <a:ln>
            <a:noFill/>
          </a:ln>
        </p:spPr>
        <p:txBody>
          <a:bodyPr wrap="square" rtlCol="0" anchor="ctr">
            <a:normAutofit/>
          </a:bodyPr>
          <a:lstStyle/>
          <a:p>
            <a:r>
              <a:rPr lang="en-US" sz="6000" b="1" i="0" dirty="0">
                <a:solidFill>
                  <a:srgbClr val="1F443E"/>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3460232"/>
          </a:xfrm>
          <a:prstGeom prst="rect">
            <a:avLst/>
          </a:prstGeom>
          <a:noFill/>
        </p:spPr>
        <p:txBody>
          <a:bodyPr tIns="144000" bIns="0" anchor="ctr"/>
          <a:lstStyle>
            <a:lvl1pPr marL="0" indent="0" algn="ctr">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the word apart</a:t>
            </a:r>
          </a:p>
        </p:txBody>
      </p:sp>
    </p:spTree>
    <p:extLst>
      <p:ext uri="{BB962C8B-B14F-4D97-AF65-F5344CB8AC3E}">
        <p14:creationId xmlns:p14="http://schemas.microsoft.com/office/powerpoint/2010/main" val="18098056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VS)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69727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5/9/22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1031468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C)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382248"/>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Learning Goal</a:t>
            </a:r>
          </a:p>
        </p:txBody>
      </p:sp>
      <p:sp>
        <p:nvSpPr>
          <p:cNvPr id="9" name="TextBox 8">
            <a:extLst>
              <a:ext uri="{FF2B5EF4-FFF2-40B4-BE49-F238E27FC236}">
                <a16:creationId xmlns:a16="http://schemas.microsoft.com/office/drawing/2014/main" id="{DF9C2B4A-0943-CC42-BE38-4F715F7CAA2B}"/>
              </a:ext>
            </a:extLst>
          </p:cNvPr>
          <p:cNvSpPr txBox="1"/>
          <p:nvPr userDrawn="1"/>
        </p:nvSpPr>
        <p:spPr>
          <a:xfrm>
            <a:off x="517951" y="4565193"/>
            <a:ext cx="2734700" cy="1947917"/>
          </a:xfrm>
          <a:prstGeom prst="rect">
            <a:avLst/>
          </a:prstGeom>
          <a:noFill/>
        </p:spPr>
        <p:txBody>
          <a:bodyPr wrap="square" tIns="180000" rtlCol="0" anchor="t">
            <a:normAutofit/>
          </a:bodyPr>
          <a:lstStyle/>
          <a:p>
            <a:r>
              <a:rPr lang="en-US" sz="3600" b="1" i="0" dirty="0">
                <a:solidFill>
                  <a:srgbClr val="683F84"/>
                </a:solidFill>
                <a:latin typeface="Calibri" panose="020F0502020204030204" pitchFamily="34" charset="0"/>
                <a:cs typeface="Calibri" panose="020F0502020204030204" pitchFamily="34" charset="0"/>
              </a:rPr>
              <a:t>Think </a:t>
            </a:r>
          </a:p>
          <a:p>
            <a:r>
              <a:rPr lang="en-US" sz="3600" b="1" i="0" dirty="0">
                <a:solidFill>
                  <a:srgbClr val="683F84"/>
                </a:solidFill>
                <a:latin typeface="Calibri" panose="020F0502020204030204" pitchFamily="34" charset="0"/>
                <a:cs typeface="Calibri" panose="020F0502020204030204" pitchFamily="34" charset="0"/>
              </a:rPr>
              <a:t>Pair</a:t>
            </a:r>
          </a:p>
          <a:p>
            <a:r>
              <a:rPr lang="en-US" sz="3600" b="1" i="0" dirty="0">
                <a:solidFill>
                  <a:srgbClr val="683F84"/>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683F84"/>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28544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RC)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7644547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RC)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683F84"/>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2952543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RC)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27957053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RC)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142032246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RC)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Content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29468767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RC)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userDrawn="1"/>
        </p:nvSpPr>
        <p:spPr>
          <a:xfrm>
            <a:off x="295275" y="590550"/>
            <a:ext cx="4199996" cy="352425"/>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884283185"/>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RC)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874969655"/>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RC)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20989078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RC)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9" y="1053881"/>
            <a:ext cx="2350999" cy="495947"/>
          </a:xfrm>
          <a:prstGeom prst="rect">
            <a:avLst/>
          </a:prstGeom>
          <a:solidFill>
            <a:srgbClr val="382248"/>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0541793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RC)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67937546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RC)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FFB6F2"/>
          </a:solidFill>
          <a:ln>
            <a:noFill/>
          </a:ln>
        </p:spPr>
        <p:txBody>
          <a:bodyPr wrap="square" rtlCol="0" anchor="ctr">
            <a:normAutofit/>
          </a:bodyPr>
          <a:lstStyle/>
          <a:p>
            <a:r>
              <a:rPr lang="en-US" sz="6000" b="1" i="0" dirty="0">
                <a:solidFill>
                  <a:srgbClr val="382248"/>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67233742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RC)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725218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5/9/22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6129672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2585C-8B69-B043-B753-1A3000E352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5CEF58-0EF9-D840-9A8F-AD0FF1E4BE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086F59C-3B87-1C41-BD96-7DDB60283D1F}"/>
              </a:ext>
            </a:extLst>
          </p:cNvPr>
          <p:cNvSpPr>
            <a:spLocks noGrp="1"/>
          </p:cNvSpPr>
          <p:nvPr>
            <p:ph type="dt" sz="half" idx="10"/>
          </p:nvPr>
        </p:nvSpPr>
        <p:spPr/>
        <p:txBody>
          <a:bodyPr/>
          <a:lstStyle/>
          <a:p>
            <a:fld id="{B61BEF0D-F0BB-DE4B-95CE-6DB70DBA9567}" type="datetimeFigureOut">
              <a:rPr lang="en-US" smtClean="0"/>
              <a:pPr/>
              <a:t>5/9/22</a:t>
            </a:fld>
            <a:endParaRPr lang="en-US" dirty="0"/>
          </a:p>
        </p:txBody>
      </p:sp>
      <p:sp>
        <p:nvSpPr>
          <p:cNvPr id="5" name="Footer Placeholder 4">
            <a:extLst>
              <a:ext uri="{FF2B5EF4-FFF2-40B4-BE49-F238E27FC236}">
                <a16:creationId xmlns:a16="http://schemas.microsoft.com/office/drawing/2014/main" id="{977998FC-6D47-6449-A1F6-30E23BA727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AC17CDF-FC7F-5A44-9C47-53EAA5ED781D}"/>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992569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43433-A2CE-6244-9F12-597922B28A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97E04B-808C-9F42-BF20-9FB1B64025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301CBA-4616-FD45-8717-85954893BE41}"/>
              </a:ext>
            </a:extLst>
          </p:cNvPr>
          <p:cNvSpPr>
            <a:spLocks noGrp="1"/>
          </p:cNvSpPr>
          <p:nvPr>
            <p:ph type="dt" sz="half" idx="10"/>
          </p:nvPr>
        </p:nvSpPr>
        <p:spPr/>
        <p:txBody>
          <a:bodyPr/>
          <a:lstStyle/>
          <a:p>
            <a:fld id="{B61BEF0D-F0BB-DE4B-95CE-6DB70DBA9567}" type="datetimeFigureOut">
              <a:rPr lang="en-US" smtClean="0"/>
              <a:pPr/>
              <a:t>5/9/22</a:t>
            </a:fld>
            <a:endParaRPr lang="en-US" dirty="0"/>
          </a:p>
        </p:txBody>
      </p:sp>
      <p:sp>
        <p:nvSpPr>
          <p:cNvPr id="5" name="Footer Placeholder 4">
            <a:extLst>
              <a:ext uri="{FF2B5EF4-FFF2-40B4-BE49-F238E27FC236}">
                <a16:creationId xmlns:a16="http://schemas.microsoft.com/office/drawing/2014/main" id="{16C6EC38-1217-AF4A-BF4A-8C98EFBF38B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262114F-C2DD-B544-97F6-A6869EB0D8A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2605198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C308E-C0FD-7847-BDAC-288A4A818C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7F8788-D236-534A-8446-06EADB8B0C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CE6483-F658-9B42-B6E2-2273E7B5CD5E}"/>
              </a:ext>
            </a:extLst>
          </p:cNvPr>
          <p:cNvSpPr>
            <a:spLocks noGrp="1"/>
          </p:cNvSpPr>
          <p:nvPr>
            <p:ph type="dt" sz="half" idx="10"/>
          </p:nvPr>
        </p:nvSpPr>
        <p:spPr/>
        <p:txBody>
          <a:bodyPr/>
          <a:lstStyle/>
          <a:p>
            <a:fld id="{B61BEF0D-F0BB-DE4B-95CE-6DB70DBA9567}" type="datetimeFigureOut">
              <a:rPr lang="en-US" smtClean="0"/>
              <a:pPr/>
              <a:t>5/9/22</a:t>
            </a:fld>
            <a:endParaRPr lang="en-US" dirty="0"/>
          </a:p>
        </p:txBody>
      </p:sp>
      <p:sp>
        <p:nvSpPr>
          <p:cNvPr id="5" name="Footer Placeholder 4">
            <a:extLst>
              <a:ext uri="{FF2B5EF4-FFF2-40B4-BE49-F238E27FC236}">
                <a16:creationId xmlns:a16="http://schemas.microsoft.com/office/drawing/2014/main" id="{B75ED8CC-1F14-0247-B5EB-CD3E00E47E4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371B541-9920-E24C-9758-7B00FE373004}"/>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367008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940DF-6BE1-F045-A153-2BC1B9F209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096841-0F00-E44A-BA16-50308628B1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4D93E6-96AC-AC4B-AFB4-BD2249EF5C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978163F-327D-C546-8B65-F3E9D26F31AD}"/>
              </a:ext>
            </a:extLst>
          </p:cNvPr>
          <p:cNvSpPr>
            <a:spLocks noGrp="1"/>
          </p:cNvSpPr>
          <p:nvPr>
            <p:ph type="dt" sz="half" idx="10"/>
          </p:nvPr>
        </p:nvSpPr>
        <p:spPr/>
        <p:txBody>
          <a:bodyPr/>
          <a:lstStyle/>
          <a:p>
            <a:fld id="{EB712588-04B1-427B-82EE-E8DB90309F08}" type="datetimeFigureOut">
              <a:rPr lang="en-US" smtClean="0"/>
              <a:t>5/9/22</a:t>
            </a:fld>
            <a:endParaRPr lang="en-US" dirty="0"/>
          </a:p>
        </p:txBody>
      </p:sp>
      <p:sp>
        <p:nvSpPr>
          <p:cNvPr id="6" name="Footer Placeholder 5">
            <a:extLst>
              <a:ext uri="{FF2B5EF4-FFF2-40B4-BE49-F238E27FC236}">
                <a16:creationId xmlns:a16="http://schemas.microsoft.com/office/drawing/2014/main" id="{3AE0AD71-D318-4242-BA74-69358F17244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1320061-E089-FE42-B800-B7A6FB7BC80E}"/>
              </a:ext>
            </a:extLst>
          </p:cNvPr>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52326457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B5FB7-2215-4149-A411-95C19165DE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28ADC7A-69C4-3449-A284-61F53D5946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49C283-6034-8D45-BB1B-552F39A25F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2989C7E-762D-DF4F-A602-A1BF218571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9E0002-87D6-C24A-A91D-B990D374A8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6668C5-B842-794E-B9EA-875D34A8FB78}"/>
              </a:ext>
            </a:extLst>
          </p:cNvPr>
          <p:cNvSpPr>
            <a:spLocks noGrp="1"/>
          </p:cNvSpPr>
          <p:nvPr>
            <p:ph type="dt" sz="half" idx="10"/>
          </p:nvPr>
        </p:nvSpPr>
        <p:spPr/>
        <p:txBody>
          <a:bodyPr/>
          <a:lstStyle/>
          <a:p>
            <a:fld id="{B61BEF0D-F0BB-DE4B-95CE-6DB70DBA9567}" type="datetimeFigureOut">
              <a:rPr lang="en-US" smtClean="0"/>
              <a:pPr/>
              <a:t>5/9/22</a:t>
            </a:fld>
            <a:endParaRPr lang="en-US" dirty="0"/>
          </a:p>
        </p:txBody>
      </p:sp>
      <p:sp>
        <p:nvSpPr>
          <p:cNvPr id="8" name="Footer Placeholder 7">
            <a:extLst>
              <a:ext uri="{FF2B5EF4-FFF2-40B4-BE49-F238E27FC236}">
                <a16:creationId xmlns:a16="http://schemas.microsoft.com/office/drawing/2014/main" id="{5A28C667-CE46-ED48-8821-9DB111E86181}"/>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A72B333B-9FFF-2A4D-AC87-7E27A855E7E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933529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690E-17E1-DE4E-B5A2-5BA6EBD0165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42D7D25-037D-964F-A4AF-09A211E2C271}"/>
              </a:ext>
            </a:extLst>
          </p:cNvPr>
          <p:cNvSpPr>
            <a:spLocks noGrp="1"/>
          </p:cNvSpPr>
          <p:nvPr>
            <p:ph type="dt" sz="half" idx="10"/>
          </p:nvPr>
        </p:nvSpPr>
        <p:spPr/>
        <p:txBody>
          <a:bodyPr/>
          <a:lstStyle/>
          <a:p>
            <a:fld id="{B61BEF0D-F0BB-DE4B-95CE-6DB70DBA9567}" type="datetimeFigureOut">
              <a:rPr lang="en-US" smtClean="0"/>
              <a:pPr/>
              <a:t>5/9/22</a:t>
            </a:fld>
            <a:endParaRPr lang="en-US" dirty="0"/>
          </a:p>
        </p:txBody>
      </p:sp>
      <p:sp>
        <p:nvSpPr>
          <p:cNvPr id="4" name="Footer Placeholder 3">
            <a:extLst>
              <a:ext uri="{FF2B5EF4-FFF2-40B4-BE49-F238E27FC236}">
                <a16:creationId xmlns:a16="http://schemas.microsoft.com/office/drawing/2014/main" id="{43E9663C-8167-6847-8432-42DEF7FF283D}"/>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317A0131-4841-D843-9AC9-055AC2F2CC40}"/>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4941961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2A51B5-09FC-864D-98FE-16F163363C6C}"/>
              </a:ext>
            </a:extLst>
          </p:cNvPr>
          <p:cNvSpPr>
            <a:spLocks noGrp="1"/>
          </p:cNvSpPr>
          <p:nvPr>
            <p:ph type="dt" sz="half" idx="10"/>
          </p:nvPr>
        </p:nvSpPr>
        <p:spPr/>
        <p:txBody>
          <a:bodyPr/>
          <a:lstStyle/>
          <a:p>
            <a:fld id="{B61BEF0D-F0BB-DE4B-95CE-6DB70DBA9567}" type="datetimeFigureOut">
              <a:rPr lang="en-US" smtClean="0"/>
              <a:pPr/>
              <a:t>5/9/22</a:t>
            </a:fld>
            <a:endParaRPr lang="en-US" dirty="0"/>
          </a:p>
        </p:txBody>
      </p:sp>
      <p:sp>
        <p:nvSpPr>
          <p:cNvPr id="3" name="Footer Placeholder 2">
            <a:extLst>
              <a:ext uri="{FF2B5EF4-FFF2-40B4-BE49-F238E27FC236}">
                <a16:creationId xmlns:a16="http://schemas.microsoft.com/office/drawing/2014/main" id="{9A9FE577-AF6A-204B-8987-548A9FD823E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DEA56DD6-090D-EE44-86E5-9EFB21599417}"/>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4517925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D02F1-BD0C-1C49-A3BA-25D110E62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0B73BB6-219E-004E-9277-DBD25B22A5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96C13EE-ADDA-1745-A0D2-E1055F03E4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94BDD4-3C99-5F44-923E-0DF1F92E92E7}"/>
              </a:ext>
            </a:extLst>
          </p:cNvPr>
          <p:cNvSpPr>
            <a:spLocks noGrp="1"/>
          </p:cNvSpPr>
          <p:nvPr>
            <p:ph type="dt" sz="half" idx="10"/>
          </p:nvPr>
        </p:nvSpPr>
        <p:spPr/>
        <p:txBody>
          <a:bodyPr/>
          <a:lstStyle/>
          <a:p>
            <a:fld id="{42A54C80-263E-416B-A8E0-580EDEADCBDC}" type="datetimeFigureOut">
              <a:rPr lang="en-US" smtClean="0"/>
              <a:t>5/9/22</a:t>
            </a:fld>
            <a:endParaRPr lang="en-US" dirty="0"/>
          </a:p>
        </p:txBody>
      </p:sp>
      <p:sp>
        <p:nvSpPr>
          <p:cNvPr id="6" name="Footer Placeholder 5">
            <a:extLst>
              <a:ext uri="{FF2B5EF4-FFF2-40B4-BE49-F238E27FC236}">
                <a16:creationId xmlns:a16="http://schemas.microsoft.com/office/drawing/2014/main" id="{E8C8318F-B631-4E46-8340-D22F039FA87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7748A4C-A384-AF47-A837-C46A99AA163B}"/>
              </a:ext>
            </a:extLst>
          </p:cNvPr>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54284322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9456D-8FD1-A343-BC21-599F10E4CE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8D8699-A379-934C-9848-BD600A5D0C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AA82C27-0E15-8840-96CE-D0F006334B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1ED90E-797F-5C43-AD81-B1B3F85ECEED}"/>
              </a:ext>
            </a:extLst>
          </p:cNvPr>
          <p:cNvSpPr>
            <a:spLocks noGrp="1"/>
          </p:cNvSpPr>
          <p:nvPr>
            <p:ph type="dt" sz="half" idx="10"/>
          </p:nvPr>
        </p:nvSpPr>
        <p:spPr/>
        <p:txBody>
          <a:bodyPr/>
          <a:lstStyle/>
          <a:p>
            <a:fld id="{B61BEF0D-F0BB-DE4B-95CE-6DB70DBA9567}" type="datetimeFigureOut">
              <a:rPr lang="en-US" smtClean="0"/>
              <a:pPr/>
              <a:t>5/9/22</a:t>
            </a:fld>
            <a:endParaRPr lang="en-US" dirty="0"/>
          </a:p>
        </p:txBody>
      </p:sp>
      <p:sp>
        <p:nvSpPr>
          <p:cNvPr id="6" name="Footer Placeholder 5">
            <a:extLst>
              <a:ext uri="{FF2B5EF4-FFF2-40B4-BE49-F238E27FC236}">
                <a16:creationId xmlns:a16="http://schemas.microsoft.com/office/drawing/2014/main" id="{711EDEC2-1761-E34F-87C9-7E697178CBD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043B737-D7BA-5E4C-AF00-66D590E0D37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1202873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6AFF8-63E3-0A40-8D7C-457B91F6B56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D20475-B697-E541-A6DF-92AF025383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F4675E-25C2-DB4B-B732-E675B20FD120}"/>
              </a:ext>
            </a:extLst>
          </p:cNvPr>
          <p:cNvSpPr>
            <a:spLocks noGrp="1"/>
          </p:cNvSpPr>
          <p:nvPr>
            <p:ph type="dt" sz="half" idx="10"/>
          </p:nvPr>
        </p:nvSpPr>
        <p:spPr/>
        <p:txBody>
          <a:bodyPr/>
          <a:lstStyle/>
          <a:p>
            <a:fld id="{55C6B4A9-1611-4792-9094-5F34BCA07E0B}" type="datetimeFigureOut">
              <a:rPr lang="en-US" smtClean="0"/>
              <a:t>5/9/22</a:t>
            </a:fld>
            <a:endParaRPr lang="en-US" dirty="0"/>
          </a:p>
        </p:txBody>
      </p:sp>
      <p:sp>
        <p:nvSpPr>
          <p:cNvPr id="5" name="Footer Placeholder 4">
            <a:extLst>
              <a:ext uri="{FF2B5EF4-FFF2-40B4-BE49-F238E27FC236}">
                <a16:creationId xmlns:a16="http://schemas.microsoft.com/office/drawing/2014/main" id="{C89AA116-B5A0-BA4A-927E-F785DA39214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E934329-E529-1C4A-B234-47CEB980DC90}"/>
              </a:ext>
            </a:extLst>
          </p:cNvPr>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175295150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E039D1-DA12-DF4C-B907-75F31632F80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0DE494C-36A5-2747-BF3C-397154210C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D58C0A-6161-4F4D-A944-A3BF9791D897}"/>
              </a:ext>
            </a:extLst>
          </p:cNvPr>
          <p:cNvSpPr>
            <a:spLocks noGrp="1"/>
          </p:cNvSpPr>
          <p:nvPr>
            <p:ph type="dt" sz="half" idx="10"/>
          </p:nvPr>
        </p:nvSpPr>
        <p:spPr/>
        <p:txBody>
          <a:bodyPr/>
          <a:lstStyle/>
          <a:p>
            <a:fld id="{B61BEF0D-F0BB-DE4B-95CE-6DB70DBA9567}" type="datetimeFigureOut">
              <a:rPr lang="en-US" smtClean="0"/>
              <a:pPr/>
              <a:t>5/9/22</a:t>
            </a:fld>
            <a:endParaRPr lang="en-US" dirty="0"/>
          </a:p>
        </p:txBody>
      </p:sp>
      <p:sp>
        <p:nvSpPr>
          <p:cNvPr id="5" name="Footer Placeholder 4">
            <a:extLst>
              <a:ext uri="{FF2B5EF4-FFF2-40B4-BE49-F238E27FC236}">
                <a16:creationId xmlns:a16="http://schemas.microsoft.com/office/drawing/2014/main" id="{B5F5B78C-A430-9642-82D9-6A2FCFBA582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296C11C-7346-FA48-B12E-8225F91ED1C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875876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EI) Learning Goal Setup">
    <p:bg>
      <p:bgPr>
        <a:solidFill>
          <a:schemeClr val="bg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B2D0F5F-0DBB-47A9-9535-5081A996AADA}"/>
              </a:ext>
            </a:extLst>
          </p:cNvPr>
          <p:cNvSpPr txBox="1"/>
          <p:nvPr userDrawn="1"/>
        </p:nvSpPr>
        <p:spPr>
          <a:xfrm>
            <a:off x="9146009" y="602344"/>
            <a:ext cx="2034232" cy="358796"/>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1400" b="0" i="0" dirty="0">
                <a:solidFill>
                  <a:schemeClr val="bg1"/>
                </a:solidFill>
                <a:latin typeface="Arial Rounded MT Bold" panose="020F0704030504030204" pitchFamily="34" charset="0"/>
                <a:cs typeface="Futura Medium" panose="020B0602020204020303" pitchFamily="34" charset="-79"/>
              </a:rPr>
              <a:t>Learning Objective</a:t>
            </a:r>
          </a:p>
        </p:txBody>
      </p:sp>
      <p:sp>
        <p:nvSpPr>
          <p:cNvPr id="13" name="TextBox 12">
            <a:extLst>
              <a:ext uri="{FF2B5EF4-FFF2-40B4-BE49-F238E27FC236}">
                <a16:creationId xmlns:a16="http://schemas.microsoft.com/office/drawing/2014/main" id="{B727232C-B92E-457E-B352-F618EC28E4D8}"/>
              </a:ext>
            </a:extLst>
          </p:cNvPr>
          <p:cNvSpPr txBox="1"/>
          <p:nvPr userDrawn="1"/>
        </p:nvSpPr>
        <p:spPr>
          <a:xfrm>
            <a:off x="8926325" y="2926415"/>
            <a:ext cx="2260256" cy="358796"/>
          </a:xfrm>
          <a:custGeom>
            <a:avLst/>
            <a:gdLst>
              <a:gd name="connsiteX0" fmla="*/ 0 w 2017486"/>
              <a:gd name="connsiteY0" fmla="*/ 61515 h 369085"/>
              <a:gd name="connsiteX1" fmla="*/ 61515 w 2017486"/>
              <a:gd name="connsiteY1" fmla="*/ 0 h 369085"/>
              <a:gd name="connsiteX2" fmla="*/ 1955971 w 2017486"/>
              <a:gd name="connsiteY2" fmla="*/ 0 h 369085"/>
              <a:gd name="connsiteX3" fmla="*/ 2017486 w 2017486"/>
              <a:gd name="connsiteY3" fmla="*/ 61515 h 369085"/>
              <a:gd name="connsiteX4" fmla="*/ 2017486 w 2017486"/>
              <a:gd name="connsiteY4" fmla="*/ 307570 h 369085"/>
              <a:gd name="connsiteX5" fmla="*/ 1955971 w 2017486"/>
              <a:gd name="connsiteY5" fmla="*/ 369085 h 369085"/>
              <a:gd name="connsiteX6" fmla="*/ 61515 w 2017486"/>
              <a:gd name="connsiteY6" fmla="*/ 369085 h 369085"/>
              <a:gd name="connsiteX7" fmla="*/ 0 w 2017486"/>
              <a:gd name="connsiteY7" fmla="*/ 307570 h 369085"/>
              <a:gd name="connsiteX8" fmla="*/ 0 w 2017486"/>
              <a:gd name="connsiteY8" fmla="*/ 61515 h 369085"/>
              <a:gd name="connsiteX0" fmla="*/ 0 w 2017486"/>
              <a:gd name="connsiteY0" fmla="*/ 61515 h 369085"/>
              <a:gd name="connsiteX1" fmla="*/ 61515 w 2017486"/>
              <a:gd name="connsiteY1" fmla="*/ 0 h 369085"/>
              <a:gd name="connsiteX2" fmla="*/ 1955971 w 2017486"/>
              <a:gd name="connsiteY2" fmla="*/ 0 h 369085"/>
              <a:gd name="connsiteX3" fmla="*/ 2017486 w 2017486"/>
              <a:gd name="connsiteY3" fmla="*/ 61515 h 369085"/>
              <a:gd name="connsiteX4" fmla="*/ 2017486 w 2017486"/>
              <a:gd name="connsiteY4" fmla="*/ 307570 h 369085"/>
              <a:gd name="connsiteX5" fmla="*/ 1674617 w 2017486"/>
              <a:gd name="connsiteY5" fmla="*/ 348988 h 369085"/>
              <a:gd name="connsiteX6" fmla="*/ 61515 w 2017486"/>
              <a:gd name="connsiteY6" fmla="*/ 369085 h 369085"/>
              <a:gd name="connsiteX7" fmla="*/ 0 w 2017486"/>
              <a:gd name="connsiteY7" fmla="*/ 307570 h 369085"/>
              <a:gd name="connsiteX8" fmla="*/ 0 w 2017486"/>
              <a:gd name="connsiteY8" fmla="*/ 61515 h 369085"/>
              <a:gd name="connsiteX0" fmla="*/ 0 w 2017486"/>
              <a:gd name="connsiteY0" fmla="*/ 61515 h 369085"/>
              <a:gd name="connsiteX1" fmla="*/ 61515 w 2017486"/>
              <a:gd name="connsiteY1" fmla="*/ 0 h 369085"/>
              <a:gd name="connsiteX2" fmla="*/ 1955971 w 2017486"/>
              <a:gd name="connsiteY2" fmla="*/ 0 h 369085"/>
              <a:gd name="connsiteX3" fmla="*/ 2017486 w 2017486"/>
              <a:gd name="connsiteY3" fmla="*/ 61515 h 369085"/>
              <a:gd name="connsiteX4" fmla="*/ 1896905 w 2017486"/>
              <a:gd name="connsiteY4" fmla="*/ 197039 h 369085"/>
              <a:gd name="connsiteX5" fmla="*/ 1674617 w 2017486"/>
              <a:gd name="connsiteY5" fmla="*/ 348988 h 369085"/>
              <a:gd name="connsiteX6" fmla="*/ 61515 w 2017486"/>
              <a:gd name="connsiteY6" fmla="*/ 369085 h 369085"/>
              <a:gd name="connsiteX7" fmla="*/ 0 w 2017486"/>
              <a:gd name="connsiteY7" fmla="*/ 307570 h 369085"/>
              <a:gd name="connsiteX8" fmla="*/ 0 w 2017486"/>
              <a:gd name="connsiteY8" fmla="*/ 61515 h 369085"/>
              <a:gd name="connsiteX0" fmla="*/ 0 w 2007437"/>
              <a:gd name="connsiteY0" fmla="*/ 68942 h 376512"/>
              <a:gd name="connsiteX1" fmla="*/ 61515 w 2007437"/>
              <a:gd name="connsiteY1" fmla="*/ 7427 h 376512"/>
              <a:gd name="connsiteX2" fmla="*/ 1955971 w 2007437"/>
              <a:gd name="connsiteY2" fmla="*/ 7427 h 376512"/>
              <a:gd name="connsiteX3" fmla="*/ 2007437 w 2007437"/>
              <a:gd name="connsiteY3" fmla="*/ 18700 h 376512"/>
              <a:gd name="connsiteX4" fmla="*/ 1896905 w 2007437"/>
              <a:gd name="connsiteY4" fmla="*/ 204466 h 376512"/>
              <a:gd name="connsiteX5" fmla="*/ 1674617 w 2007437"/>
              <a:gd name="connsiteY5" fmla="*/ 356415 h 376512"/>
              <a:gd name="connsiteX6" fmla="*/ 61515 w 2007437"/>
              <a:gd name="connsiteY6" fmla="*/ 376512 h 376512"/>
              <a:gd name="connsiteX7" fmla="*/ 0 w 2007437"/>
              <a:gd name="connsiteY7" fmla="*/ 314997 h 376512"/>
              <a:gd name="connsiteX8" fmla="*/ 0 w 2007437"/>
              <a:gd name="connsiteY8" fmla="*/ 68942 h 376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07437" h="376512">
                <a:moveTo>
                  <a:pt x="0" y="68942"/>
                </a:moveTo>
                <a:cubicBezTo>
                  <a:pt x="0" y="34968"/>
                  <a:pt x="27541" y="7427"/>
                  <a:pt x="61515" y="7427"/>
                </a:cubicBezTo>
                <a:lnTo>
                  <a:pt x="1955971" y="7427"/>
                </a:lnTo>
                <a:cubicBezTo>
                  <a:pt x="1989945" y="7427"/>
                  <a:pt x="2007437" y="-15274"/>
                  <a:pt x="2007437" y="18700"/>
                </a:cubicBezTo>
                <a:lnTo>
                  <a:pt x="1896905" y="204466"/>
                </a:lnTo>
                <a:cubicBezTo>
                  <a:pt x="1896905" y="238440"/>
                  <a:pt x="1708591" y="356415"/>
                  <a:pt x="1674617" y="356415"/>
                </a:cubicBezTo>
                <a:cubicBezTo>
                  <a:pt x="1043132" y="356415"/>
                  <a:pt x="693000" y="376512"/>
                  <a:pt x="61515" y="376512"/>
                </a:cubicBezTo>
                <a:cubicBezTo>
                  <a:pt x="27541" y="376512"/>
                  <a:pt x="0" y="348971"/>
                  <a:pt x="0" y="314997"/>
                </a:cubicBezTo>
                <a:lnTo>
                  <a:pt x="0" y="68942"/>
                </a:lnTo>
                <a:close/>
              </a:path>
            </a:pathLst>
          </a:cu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lvl="0" algn="ctr"/>
            <a:r>
              <a:rPr lang="en-US" sz="1400" b="0" i="0" dirty="0">
                <a:solidFill>
                  <a:schemeClr val="bg1"/>
                </a:solidFill>
                <a:latin typeface="Arial Rounded MT Bold" panose="020F0704030504030204" pitchFamily="34" charset="0"/>
                <a:cs typeface="Futura Medium" panose="020B0602020204020303" pitchFamily="34" charset="-79"/>
              </a:rPr>
              <a:t>Think - Pair - Share</a:t>
            </a:r>
          </a:p>
        </p:txBody>
      </p:sp>
      <p:sp>
        <p:nvSpPr>
          <p:cNvPr id="15" name="Text Placeholder 2">
            <a:extLst>
              <a:ext uri="{FF2B5EF4-FFF2-40B4-BE49-F238E27FC236}">
                <a16:creationId xmlns:a16="http://schemas.microsoft.com/office/drawing/2014/main" id="{D8D8F44C-757A-43E7-8713-76A89DF6C4D9}"/>
              </a:ext>
            </a:extLst>
          </p:cNvPr>
          <p:cNvSpPr>
            <a:spLocks noGrp="1"/>
          </p:cNvSpPr>
          <p:nvPr>
            <p:ph type="body" sz="quarter" idx="16" hasCustomPrompt="1"/>
          </p:nvPr>
        </p:nvSpPr>
        <p:spPr>
          <a:xfrm>
            <a:off x="432958" y="3689575"/>
            <a:ext cx="10745582" cy="2651940"/>
          </a:xfrm>
          <a:prstGeom prst="round2DiagRect">
            <a:avLst/>
          </a:prstGeom>
          <a:noFill/>
          <a:ln w="38100">
            <a:solidFill>
              <a:srgbClr val="1891AC"/>
            </a:solidFill>
          </a:ln>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ea typeface="Verdana" panose="020B0604030504040204" pitchFamily="34" charset="0"/>
              </a:defRPr>
            </a:lvl1pPr>
          </a:lstStyle>
          <a:p>
            <a:pPr lvl="0"/>
            <a:br>
              <a:rPr lang="en-AU" dirty="0"/>
            </a:br>
            <a:r>
              <a:rPr lang="en-AU" dirty="0"/>
              <a:t>State a specific task you will be setting at the end of the lesson,</a:t>
            </a:r>
            <a:br>
              <a:rPr lang="en-AU" dirty="0"/>
            </a:br>
            <a:r>
              <a:rPr lang="en-AU" dirty="0"/>
              <a:t>to assess whether students have been successful</a:t>
            </a:r>
            <a:br>
              <a:rPr lang="en-AU" dirty="0"/>
            </a:br>
            <a:r>
              <a:rPr lang="en-AU" dirty="0"/>
              <a:t>in obtaining the learning objective.</a:t>
            </a:r>
          </a:p>
          <a:p>
            <a:pPr lvl="0"/>
            <a:endParaRPr lang="en-AU" dirty="0"/>
          </a:p>
        </p:txBody>
      </p:sp>
      <p:sp>
        <p:nvSpPr>
          <p:cNvPr id="10" name="Text Placeholder 2">
            <a:extLst>
              <a:ext uri="{FF2B5EF4-FFF2-40B4-BE49-F238E27FC236}">
                <a16:creationId xmlns:a16="http://schemas.microsoft.com/office/drawing/2014/main" id="{C2A00B02-7DD1-4010-8743-E8E43F8620E6}"/>
              </a:ext>
            </a:extLst>
          </p:cNvPr>
          <p:cNvSpPr>
            <a:spLocks noGrp="1"/>
          </p:cNvSpPr>
          <p:nvPr>
            <p:ph type="body" sz="quarter" idx="18" hasCustomPrompt="1"/>
          </p:nvPr>
        </p:nvSpPr>
        <p:spPr>
          <a:xfrm>
            <a:off x="432958" y="602344"/>
            <a:ext cx="10745582" cy="2651940"/>
          </a:xfrm>
          <a:prstGeom prst="round2DiagRect">
            <a:avLst/>
          </a:prstGeom>
          <a:ln w="38100">
            <a:solidFill>
              <a:srgbClr val="154983"/>
            </a:solidFill>
          </a:ln>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ea typeface="Verdana" panose="020B0604030504040204" pitchFamily="34" charset="0"/>
              </a:defRPr>
            </a:lvl1pPr>
          </a:lstStyle>
          <a:p>
            <a:pPr lvl="0"/>
            <a:r>
              <a:rPr lang="en-AU" dirty="0"/>
              <a:t>A statement describing what the students</a:t>
            </a:r>
            <a:br>
              <a:rPr lang="en-AU" dirty="0"/>
            </a:br>
            <a:r>
              <a:rPr lang="en-AU" dirty="0"/>
              <a:t>will be able to do by the end of the lesson.</a:t>
            </a:r>
            <a:br>
              <a:rPr lang="en-AU" dirty="0"/>
            </a:br>
            <a:br>
              <a:rPr lang="en-AU" dirty="0"/>
            </a:br>
            <a:r>
              <a:rPr lang="en-AU" dirty="0"/>
              <a:t>E.g. ‘Write direct speech using</a:t>
            </a:r>
            <a:br>
              <a:rPr lang="en-AU" dirty="0"/>
            </a:br>
            <a:r>
              <a:rPr lang="en-AU" dirty="0"/>
              <a:t>correct punctuation and grammar.’</a:t>
            </a:r>
          </a:p>
        </p:txBody>
      </p:sp>
      <p:sp>
        <p:nvSpPr>
          <p:cNvPr id="6" name="TextBox 5">
            <a:extLst>
              <a:ext uri="{FF2B5EF4-FFF2-40B4-BE49-F238E27FC236}">
                <a16:creationId xmlns:a16="http://schemas.microsoft.com/office/drawing/2014/main" id="{AB21FC50-7983-4BBE-87BD-F3ED203B330F}"/>
              </a:ext>
            </a:extLst>
          </p:cNvPr>
          <p:cNvSpPr txBox="1"/>
          <p:nvPr userDrawn="1"/>
        </p:nvSpPr>
        <p:spPr>
          <a:xfrm>
            <a:off x="9146009" y="3677498"/>
            <a:ext cx="2034234" cy="358796"/>
          </a:xfrm>
          <a:prstGeom prst="round2DiagRect">
            <a:avLst/>
          </a:prstGeom>
          <a:solidFill>
            <a:srgbClr val="1891AC"/>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1400" b="0" i="0" dirty="0">
                <a:solidFill>
                  <a:schemeClr val="bg1"/>
                </a:solidFill>
                <a:latin typeface="Arial Rounded MT Bold" panose="020F0704030504030204" pitchFamily="34" charset="0"/>
                <a:cs typeface="Futura Medium" panose="020B0602020204020303" pitchFamily="34" charset="-79"/>
              </a:rPr>
              <a:t>Success Criteria</a:t>
            </a:r>
          </a:p>
        </p:txBody>
      </p:sp>
    </p:spTree>
    <p:extLst>
      <p:ext uri="{BB962C8B-B14F-4D97-AF65-F5344CB8AC3E}">
        <p14:creationId xmlns:p14="http://schemas.microsoft.com/office/powerpoint/2010/main" val="385708788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EI) Content Development">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04E1E29-E5E1-4CA6-AE28-873DC4095433}"/>
              </a:ext>
            </a:extLst>
          </p:cNvPr>
          <p:cNvSpPr txBox="1"/>
          <p:nvPr userDrawn="1"/>
        </p:nvSpPr>
        <p:spPr>
          <a:xfrm>
            <a:off x="280557" y="237294"/>
            <a:ext cx="2206171" cy="369085"/>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defPPr>
              <a:defRPr lang="en-US"/>
            </a:defPPr>
            <a:lvl1pPr algn="ctr">
              <a:defRPr sz="1400" b="0" i="0">
                <a:solidFill>
                  <a:schemeClr val="bg1"/>
                </a:solidFill>
                <a:latin typeface="Arial Rounded MT Bold" panose="020F0704030504030204" pitchFamily="34" charset="0"/>
                <a:cs typeface="Futura Medium" panose="020B0602020204020303" pitchFamily="34" charset="-79"/>
              </a:defRPr>
            </a:lvl1pPr>
          </a:lstStyle>
          <a:p>
            <a:pPr lvl="0"/>
            <a:r>
              <a:rPr lang="en-US" dirty="0"/>
              <a:t>Concept Development</a:t>
            </a:r>
          </a:p>
        </p:txBody>
      </p:sp>
      <p:sp>
        <p:nvSpPr>
          <p:cNvPr id="11" name="Text Placeholder 6">
            <a:extLst>
              <a:ext uri="{FF2B5EF4-FFF2-40B4-BE49-F238E27FC236}">
                <a16:creationId xmlns:a16="http://schemas.microsoft.com/office/drawing/2014/main" id="{492D3A20-F902-4F74-96C6-B8576FA0A5F9}"/>
              </a:ext>
            </a:extLst>
          </p:cNvPr>
          <p:cNvSpPr>
            <a:spLocks noGrp="1"/>
          </p:cNvSpPr>
          <p:nvPr>
            <p:ph type="body" sz="quarter" idx="13" hasCustomPrompt="1"/>
          </p:nvPr>
        </p:nvSpPr>
        <p:spPr>
          <a:xfrm>
            <a:off x="280557" y="805337"/>
            <a:ext cx="11481952" cy="524699"/>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defRPr>
            </a:lvl1pPr>
          </a:lstStyle>
          <a:p>
            <a:pPr lvl="0"/>
            <a:r>
              <a:rPr lang="en-AU" dirty="0"/>
              <a:t>Click to add text.</a:t>
            </a:r>
            <a:br>
              <a:rPr lang="en-AU" dirty="0"/>
            </a:br>
            <a:endParaRPr lang="en-AU" dirty="0"/>
          </a:p>
        </p:txBody>
      </p:sp>
      <p:sp>
        <p:nvSpPr>
          <p:cNvPr id="12" name="Text Placeholder 2">
            <a:extLst>
              <a:ext uri="{FF2B5EF4-FFF2-40B4-BE49-F238E27FC236}">
                <a16:creationId xmlns:a16="http://schemas.microsoft.com/office/drawing/2014/main" id="{F940C2C1-B592-48FA-B23E-0B742216BD9C}"/>
              </a:ext>
            </a:extLst>
          </p:cNvPr>
          <p:cNvSpPr>
            <a:spLocks noGrp="1"/>
          </p:cNvSpPr>
          <p:nvPr>
            <p:ph type="body" sz="quarter" idx="15" hasCustomPrompt="1"/>
          </p:nvPr>
        </p:nvSpPr>
        <p:spPr>
          <a:xfrm>
            <a:off x="280558" y="1528994"/>
            <a:ext cx="11506476" cy="506692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latin typeface="Verdana" panose="020B0604030504040204" pitchFamily="34" charset="0"/>
                <a:ea typeface="Verdana" panose="020B0604030504040204" pitchFamily="34" charset="0"/>
              </a:defRPr>
            </a:lvl1pPr>
          </a:lstStyle>
          <a:p>
            <a:pPr lvl="0"/>
            <a:r>
              <a:rPr lang="en-AU" dirty="0"/>
              <a:t>The teacher explains the concepts and steps that lead to the learning objective.</a:t>
            </a:r>
            <a:br>
              <a:rPr lang="en-AU" dirty="0"/>
            </a:br>
            <a:br>
              <a:rPr lang="en-AU" dirty="0"/>
            </a:br>
            <a:r>
              <a:rPr lang="en-AU" dirty="0"/>
              <a:t>Click to add text. Delete textbox if unneeded.</a:t>
            </a:r>
          </a:p>
        </p:txBody>
      </p:sp>
    </p:spTree>
    <p:extLst>
      <p:ext uri="{BB962C8B-B14F-4D97-AF65-F5344CB8AC3E}">
        <p14:creationId xmlns:p14="http://schemas.microsoft.com/office/powerpoint/2010/main" val="283565217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DR) New Topi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297625" y="2268252"/>
            <a:ext cx="8660516" cy="28268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7200" b="0" i="0" spc="300" baseline="0" dirty="0">
                <a:solidFill>
                  <a:srgbClr val="154983"/>
                </a:solidFill>
                <a:latin typeface="Arial Rounded MT Bold" panose="020F0704030504030204" pitchFamily="34" charset="0"/>
              </a:rPr>
              <a:t>What we are learning today</a:t>
            </a:r>
            <a:endParaRPr lang="en-US" sz="7200" b="0" i="0" dirty="0">
              <a:solidFill>
                <a:srgbClr val="154983"/>
              </a:solidFill>
              <a:latin typeface="Arial Rounded MT Bold" panose="020F0704030504030204" pitchFamily="34" charset="0"/>
            </a:endParaRP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447768" y="1699225"/>
            <a:ext cx="2797472" cy="789710"/>
          </a:xfrm>
          <a:prstGeom prst="round2DiagRect">
            <a:avLst/>
          </a:prstGeom>
          <a:solidFill>
            <a:srgbClr val="1891AC"/>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3600" b="0" i="0" dirty="0">
                <a:solidFill>
                  <a:schemeClr val="bg1"/>
                </a:solidFill>
                <a:latin typeface="Arial Rounded MT Bold" panose="020F0704030504030204" pitchFamily="34" charset="0"/>
                <a:cs typeface="Futura Medium" panose="020B0602020204020303" pitchFamily="34" charset="-79"/>
              </a:rPr>
              <a:t>New Topic</a:t>
            </a:r>
          </a:p>
        </p:txBody>
      </p:sp>
    </p:spTree>
    <p:extLst>
      <p:ext uri="{BB962C8B-B14F-4D97-AF65-F5344CB8AC3E}">
        <p14:creationId xmlns:p14="http://schemas.microsoft.com/office/powerpoint/2010/main" val="348388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image" Target="../media/image1.png"/><Relationship Id="rId2" Type="http://schemas.openxmlformats.org/officeDocument/2006/relationships/slideLayout" Target="../slideLayouts/slideLayout23.xml"/><Relationship Id="rId16" Type="http://schemas.openxmlformats.org/officeDocument/2006/relationships/theme" Target="../theme/theme2.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image" Target="../media/image1.png"/><Relationship Id="rId5" Type="http://schemas.openxmlformats.org/officeDocument/2006/relationships/slideLayout" Target="../slideLayouts/slideLayout41.xml"/><Relationship Id="rId10" Type="http://schemas.openxmlformats.org/officeDocument/2006/relationships/theme" Target="../theme/theme3.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6" Type="http://schemas.openxmlformats.org/officeDocument/2006/relationships/image" Target="../media/image1.png"/><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theme" Target="../theme/theme4.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5" Type="http://schemas.openxmlformats.org/officeDocument/2006/relationships/theme" Target="../theme/theme5.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p:nvSpPr>
        <p:spPr>
          <a:xfrm>
            <a:off x="0" y="0"/>
            <a:ext cx="12192000" cy="6858000"/>
          </a:xfrm>
          <a:prstGeom prst="rect">
            <a:avLst/>
          </a:prstGeom>
          <a:solidFill>
            <a:srgbClr val="3B8C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E91DF72-2A8F-445D-BC0A-815E681E321D}"/>
              </a:ext>
            </a:extLst>
          </p:cNvPr>
          <p:cNvPicPr>
            <a:picLocks noChangeAspect="1"/>
          </p:cNvPicPr>
          <p:nvPr/>
        </p:nvPicPr>
        <p:blipFill>
          <a:blip r:embed="rId23"/>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2709256914"/>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p:nvSpPr>
        <p:spPr>
          <a:xfrm>
            <a:off x="0" y="0"/>
            <a:ext cx="12192000" cy="6858000"/>
          </a:xfrm>
          <a:prstGeom prst="rect">
            <a:avLst/>
          </a:prstGeom>
          <a:solidFill>
            <a:srgbClr val="A14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97B421F1-3EFD-4EB1-8757-68976493B334}"/>
              </a:ext>
            </a:extLst>
          </p:cNvPr>
          <p:cNvPicPr>
            <a:picLocks noChangeAspect="1"/>
          </p:cNvPicPr>
          <p:nvPr/>
        </p:nvPicPr>
        <p:blipFill>
          <a:blip r:embed="rId17"/>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473491833"/>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71"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p:nvSpPr>
        <p:spPr>
          <a:xfrm>
            <a:off x="0" y="0"/>
            <a:ext cx="12192000" cy="6858000"/>
          </a:xfrm>
          <a:prstGeom prst="rect">
            <a:avLst/>
          </a:prstGeom>
          <a:solidFill>
            <a:srgbClr val="479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6DBB0268-634F-494F-A534-6D6283C91351}"/>
              </a:ext>
            </a:extLst>
          </p:cNvPr>
          <p:cNvPicPr>
            <a:picLocks noChangeAspect="1"/>
          </p:cNvPicPr>
          <p:nvPr/>
        </p:nvPicPr>
        <p:blipFill>
          <a:blip r:embed="rId11"/>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594667570"/>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72"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p:nvSpPr>
        <p:spPr>
          <a:xfrm>
            <a:off x="0" y="0"/>
            <a:ext cx="12192000" cy="6858000"/>
          </a:xfrm>
          <a:prstGeom prst="rect">
            <a:avLst/>
          </a:prstGeom>
          <a:solidFill>
            <a:srgbClr val="683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3C87905-546B-40B8-A77F-8173C6D81708}"/>
              </a:ext>
            </a:extLst>
          </p:cNvPr>
          <p:cNvPicPr>
            <a:picLocks noChangeAspect="1"/>
          </p:cNvPicPr>
          <p:nvPr/>
        </p:nvPicPr>
        <p:blipFill>
          <a:blip r:embed="rId16"/>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708817399"/>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D52C70-79E0-3F4E-8C86-21588BE79E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B891E8F-80E7-D045-B781-B6A164C414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06AA54-5ABB-EF4D-9916-637244CB4A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5/9/22</a:t>
            </a:fld>
            <a:endParaRPr lang="en-US" dirty="0"/>
          </a:p>
        </p:txBody>
      </p:sp>
      <p:sp>
        <p:nvSpPr>
          <p:cNvPr id="5" name="Footer Placeholder 4">
            <a:extLst>
              <a:ext uri="{FF2B5EF4-FFF2-40B4-BE49-F238E27FC236}">
                <a16:creationId xmlns:a16="http://schemas.microsoft.com/office/drawing/2014/main" id="{6AEFBE9C-E714-8C48-86AA-5BC9832FD9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B14D2459-E8D0-E049-BE1B-B4AFAA05B2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381662"/>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93" r:id="rId12"/>
    <p:sldLayoutId id="2147483795" r:id="rId13"/>
    <p:sldLayoutId id="214748380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7A12DD-5827-464C-8E6F-1D81221E4EB2}"/>
              </a:ext>
            </a:extLst>
          </p:cNvPr>
          <p:cNvSpPr txBox="1"/>
          <p:nvPr/>
        </p:nvSpPr>
        <p:spPr>
          <a:xfrm>
            <a:off x="6974541" y="4793517"/>
            <a:ext cx="3872753" cy="484094"/>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1575465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1A58ACDE-97EB-4DDB-8D0A-A13BB4F2EDD2}"/>
              </a:ext>
            </a:extLst>
          </p:cNvPr>
          <p:cNvSpPr>
            <a:spLocks noGrp="1"/>
          </p:cNvSpPr>
          <p:nvPr>
            <p:ph type="body" sz="quarter" idx="16"/>
          </p:nvPr>
        </p:nvSpPr>
        <p:spPr>
          <a:xfrm>
            <a:off x="432958" y="3673869"/>
            <a:ext cx="11194266" cy="2651940"/>
          </a:xfrm>
        </p:spPr>
        <p:txBody>
          <a:bodyPr>
            <a:normAutofit/>
          </a:bodyPr>
          <a:lstStyle/>
          <a:p>
            <a:pPr lvl="0" algn="l"/>
            <a:endParaRPr lang="en-AU" sz="100" dirty="0"/>
          </a:p>
          <a:p>
            <a:pPr algn="l"/>
            <a:endParaRPr lang="en-AU" sz="3000" dirty="0"/>
          </a:p>
        </p:txBody>
      </p:sp>
      <p:sp>
        <p:nvSpPr>
          <p:cNvPr id="7" name="Text Placeholder 6">
            <a:extLst>
              <a:ext uri="{FF2B5EF4-FFF2-40B4-BE49-F238E27FC236}">
                <a16:creationId xmlns:a16="http://schemas.microsoft.com/office/drawing/2014/main" id="{5DB1A190-F6F8-4F27-BBED-92C0B43629F1}"/>
              </a:ext>
            </a:extLst>
          </p:cNvPr>
          <p:cNvSpPr>
            <a:spLocks noGrp="1"/>
          </p:cNvSpPr>
          <p:nvPr>
            <p:ph type="body" sz="quarter" idx="18"/>
          </p:nvPr>
        </p:nvSpPr>
        <p:spPr>
          <a:xfrm>
            <a:off x="432958" y="602511"/>
            <a:ext cx="11194266" cy="2651940"/>
          </a:xfrm>
        </p:spPr>
        <p:txBody>
          <a:bodyPr>
            <a:normAutofit/>
          </a:bodyPr>
          <a:lstStyle/>
          <a:p>
            <a:pPr algn="l"/>
            <a:r>
              <a:rPr lang="en-AU" sz="3200" dirty="0"/>
              <a:t>Students will be able to:</a:t>
            </a:r>
            <a:endParaRPr lang="en-AU" sz="3000" dirty="0">
              <a:solidFill>
                <a:srgbClr val="C00000"/>
              </a:solidFill>
            </a:endParaRPr>
          </a:p>
          <a:p>
            <a:pPr algn="l"/>
            <a:endParaRPr lang="en-AU" dirty="0"/>
          </a:p>
        </p:txBody>
      </p:sp>
    </p:spTree>
    <p:extLst>
      <p:ext uri="{BB962C8B-B14F-4D97-AF65-F5344CB8AC3E}">
        <p14:creationId xmlns:p14="http://schemas.microsoft.com/office/powerpoint/2010/main" val="3376853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400" dirty="0"/>
              <a:t>Inflammation</a:t>
            </a: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280557" y="1427357"/>
            <a:ext cx="11481951" cy="5430644"/>
          </a:xfrm>
        </p:spPr>
        <p:txBody>
          <a:bodyPr>
            <a:normAutofit/>
          </a:bodyPr>
          <a:lstStyle/>
          <a:p>
            <a:r>
              <a:rPr lang="en-AU" sz="2000" dirty="0">
                <a:latin typeface="Avenir Book" panose="02000503020000020003" pitchFamily="2" charset="0"/>
              </a:rPr>
              <a:t>Inflammation involves signs of swelling, pain, redness, and heat. It is made up of seven steps: </a:t>
            </a:r>
          </a:p>
          <a:p>
            <a:r>
              <a:rPr lang="en-AU" sz="2000" dirty="0">
                <a:latin typeface="Avenir Book" panose="02000503020000020003" pitchFamily="2" charset="0"/>
              </a:rPr>
              <a:t>1. </a:t>
            </a:r>
            <a:r>
              <a:rPr lang="en-AU" sz="2000" b="1" dirty="0">
                <a:latin typeface="Avenir Book" panose="02000503020000020003" pitchFamily="2" charset="0"/>
              </a:rPr>
              <a:t>Mast cells </a:t>
            </a:r>
            <a:r>
              <a:rPr lang="en-AU" sz="2000" dirty="0">
                <a:latin typeface="Avenir Book" panose="02000503020000020003" pitchFamily="2" charset="0"/>
              </a:rPr>
              <a:t>(regulate the immune response) are stimulated by the damaged tissues to secrete substances including complement proteins, histamine and heparin. </a:t>
            </a:r>
          </a:p>
        </p:txBody>
      </p:sp>
      <p:pic>
        <p:nvPicPr>
          <p:cNvPr id="5" name="Picture 4" descr="Diagram&#10;&#10;Description automatically generated">
            <a:extLst>
              <a:ext uri="{FF2B5EF4-FFF2-40B4-BE49-F238E27FC236}">
                <a16:creationId xmlns:a16="http://schemas.microsoft.com/office/drawing/2014/main" id="{B7C42245-0D54-2617-C1A4-F7A4E99F136F}"/>
              </a:ext>
            </a:extLst>
          </p:cNvPr>
          <p:cNvPicPr>
            <a:picLocks noChangeAspect="1"/>
          </p:cNvPicPr>
          <p:nvPr/>
        </p:nvPicPr>
        <p:blipFill>
          <a:blip r:embed="rId3"/>
          <a:stretch>
            <a:fillRect/>
          </a:stretch>
        </p:blipFill>
        <p:spPr>
          <a:xfrm>
            <a:off x="6311590" y="2427132"/>
            <a:ext cx="5880410" cy="4430868"/>
          </a:xfrm>
          <a:prstGeom prst="rect">
            <a:avLst/>
          </a:prstGeom>
        </p:spPr>
      </p:pic>
    </p:spTree>
    <p:extLst>
      <p:ext uri="{BB962C8B-B14F-4D97-AF65-F5344CB8AC3E}">
        <p14:creationId xmlns:p14="http://schemas.microsoft.com/office/powerpoint/2010/main" val="3130382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200" dirty="0">
                <a:solidFill>
                  <a:srgbClr val="004D95"/>
                </a:solidFill>
              </a:rPr>
              <a:t>Inflammation</a:t>
            </a: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280557" y="1448023"/>
            <a:ext cx="9246617" cy="4756305"/>
          </a:xfrm>
        </p:spPr>
        <p:txBody>
          <a:bodyPr>
            <a:normAutofit/>
          </a:bodyPr>
          <a:lstStyle/>
          <a:p>
            <a:r>
              <a:rPr lang="en-AU" sz="2400" dirty="0">
                <a:latin typeface="Avenir Book" panose="02000503020000020003" pitchFamily="2" charset="0"/>
              </a:rPr>
              <a:t>2. Heat, redness, and swelling are caused by the increased blood flow, and fluid movement from capillaries into the area. This is stimulated by the histamine secreted. </a:t>
            </a:r>
            <a:endParaRPr lang="en-AU" sz="3200" dirty="0">
              <a:latin typeface="Avenir Book" panose="02000503020000020003" pitchFamily="2" charset="0"/>
            </a:endParaRPr>
          </a:p>
          <a:p>
            <a:r>
              <a:rPr lang="en-AU" sz="2400" dirty="0"/>
              <a:t> </a:t>
            </a:r>
          </a:p>
          <a:p>
            <a:endParaRPr lang="en-AU" dirty="0"/>
          </a:p>
        </p:txBody>
      </p:sp>
      <p:pic>
        <p:nvPicPr>
          <p:cNvPr id="7" name="Picture 6" descr="Diagram&#10;&#10;Description automatically generated">
            <a:extLst>
              <a:ext uri="{FF2B5EF4-FFF2-40B4-BE49-F238E27FC236}">
                <a16:creationId xmlns:a16="http://schemas.microsoft.com/office/drawing/2014/main" id="{7D10A931-4AA1-F8C7-E059-7B744193C461}"/>
              </a:ext>
            </a:extLst>
          </p:cNvPr>
          <p:cNvPicPr>
            <a:picLocks noChangeAspect="1"/>
          </p:cNvPicPr>
          <p:nvPr/>
        </p:nvPicPr>
        <p:blipFill>
          <a:blip r:embed="rId3"/>
          <a:stretch>
            <a:fillRect/>
          </a:stretch>
        </p:blipFill>
        <p:spPr>
          <a:xfrm>
            <a:off x="6311590" y="2427132"/>
            <a:ext cx="5880410" cy="4430868"/>
          </a:xfrm>
          <a:prstGeom prst="rect">
            <a:avLst/>
          </a:prstGeom>
        </p:spPr>
      </p:pic>
    </p:spTree>
    <p:extLst>
      <p:ext uri="{BB962C8B-B14F-4D97-AF65-F5344CB8AC3E}">
        <p14:creationId xmlns:p14="http://schemas.microsoft.com/office/powerpoint/2010/main" val="2771123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200" dirty="0">
                <a:solidFill>
                  <a:srgbClr val="004D95"/>
                </a:solidFill>
              </a:rPr>
              <a:t>Inflammation</a:t>
            </a: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280557" y="1448023"/>
            <a:ext cx="9246617" cy="4756305"/>
          </a:xfrm>
        </p:spPr>
        <p:txBody>
          <a:bodyPr>
            <a:normAutofit/>
          </a:bodyPr>
          <a:lstStyle/>
          <a:p>
            <a:r>
              <a:rPr lang="en-AU" sz="2400" dirty="0">
                <a:latin typeface="Avenir Book" panose="02000503020000020003" pitchFamily="2" charset="0"/>
              </a:rPr>
              <a:t>3. Heparin is an anticoagulant (i.e. it prevents the blood from clotting). A fluid clot forms of injury to prevent entry of pathogens.</a:t>
            </a:r>
          </a:p>
          <a:p>
            <a:endParaRPr lang="en-AU" sz="2400" dirty="0"/>
          </a:p>
          <a:p>
            <a:endParaRPr lang="en-AU" dirty="0"/>
          </a:p>
        </p:txBody>
      </p:sp>
      <p:pic>
        <p:nvPicPr>
          <p:cNvPr id="7" name="Picture 6" descr="Diagram&#10;&#10;Description automatically generated">
            <a:extLst>
              <a:ext uri="{FF2B5EF4-FFF2-40B4-BE49-F238E27FC236}">
                <a16:creationId xmlns:a16="http://schemas.microsoft.com/office/drawing/2014/main" id="{7D10A931-4AA1-F8C7-E059-7B744193C461}"/>
              </a:ext>
            </a:extLst>
          </p:cNvPr>
          <p:cNvPicPr>
            <a:picLocks noChangeAspect="1"/>
          </p:cNvPicPr>
          <p:nvPr/>
        </p:nvPicPr>
        <p:blipFill>
          <a:blip r:embed="rId3"/>
          <a:stretch>
            <a:fillRect/>
          </a:stretch>
        </p:blipFill>
        <p:spPr>
          <a:xfrm>
            <a:off x="6311590" y="2427132"/>
            <a:ext cx="5880410" cy="4430868"/>
          </a:xfrm>
          <a:prstGeom prst="rect">
            <a:avLst/>
          </a:prstGeom>
        </p:spPr>
      </p:pic>
    </p:spTree>
    <p:extLst>
      <p:ext uri="{BB962C8B-B14F-4D97-AF65-F5344CB8AC3E}">
        <p14:creationId xmlns:p14="http://schemas.microsoft.com/office/powerpoint/2010/main" val="3805616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200" dirty="0">
                <a:solidFill>
                  <a:srgbClr val="004D95"/>
                </a:solidFill>
              </a:rPr>
              <a:t>Inflammation</a:t>
            </a: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280557" y="1448023"/>
            <a:ext cx="9246617" cy="4756305"/>
          </a:xfrm>
        </p:spPr>
        <p:txBody>
          <a:bodyPr>
            <a:normAutofit/>
          </a:bodyPr>
          <a:lstStyle/>
          <a:p>
            <a:r>
              <a:rPr lang="en-AU" sz="2400" dirty="0">
                <a:latin typeface="Avenir Book" panose="02000503020000020003" pitchFamily="2" charset="0"/>
              </a:rPr>
              <a:t>4. The complement proteins attract phagocytes which consume any cell debris and micro-organisms. </a:t>
            </a:r>
            <a:endParaRPr lang="en-AU" sz="3200" dirty="0">
              <a:latin typeface="Avenir Book" panose="02000503020000020003" pitchFamily="2" charset="0"/>
            </a:endParaRPr>
          </a:p>
          <a:p>
            <a:endParaRPr lang="en-AU" dirty="0"/>
          </a:p>
        </p:txBody>
      </p:sp>
      <p:pic>
        <p:nvPicPr>
          <p:cNvPr id="7" name="Picture 6" descr="Diagram&#10;&#10;Description automatically generated">
            <a:extLst>
              <a:ext uri="{FF2B5EF4-FFF2-40B4-BE49-F238E27FC236}">
                <a16:creationId xmlns:a16="http://schemas.microsoft.com/office/drawing/2014/main" id="{7D10A931-4AA1-F8C7-E059-7B744193C461}"/>
              </a:ext>
            </a:extLst>
          </p:cNvPr>
          <p:cNvPicPr>
            <a:picLocks noChangeAspect="1"/>
          </p:cNvPicPr>
          <p:nvPr/>
        </p:nvPicPr>
        <p:blipFill>
          <a:blip r:embed="rId3"/>
          <a:stretch>
            <a:fillRect/>
          </a:stretch>
        </p:blipFill>
        <p:spPr>
          <a:xfrm>
            <a:off x="6311590" y="2427132"/>
            <a:ext cx="5880410" cy="4430868"/>
          </a:xfrm>
          <a:prstGeom prst="rect">
            <a:avLst/>
          </a:prstGeom>
        </p:spPr>
      </p:pic>
    </p:spTree>
    <p:extLst>
      <p:ext uri="{BB962C8B-B14F-4D97-AF65-F5344CB8AC3E}">
        <p14:creationId xmlns:p14="http://schemas.microsoft.com/office/powerpoint/2010/main" val="611931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200" dirty="0">
                <a:solidFill>
                  <a:srgbClr val="004D95"/>
                </a:solidFill>
              </a:rPr>
              <a:t>Inflammation</a:t>
            </a: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280557" y="1448023"/>
            <a:ext cx="9246617" cy="4756305"/>
          </a:xfrm>
        </p:spPr>
        <p:txBody>
          <a:bodyPr>
            <a:normAutofit/>
          </a:bodyPr>
          <a:lstStyle/>
          <a:p>
            <a:r>
              <a:rPr lang="en-AU" sz="2400" dirty="0">
                <a:latin typeface="Avenir Book" panose="02000503020000020003" pitchFamily="2" charset="0"/>
              </a:rPr>
              <a:t>5. The tissue damage stimulates nociceptors causing pain.</a:t>
            </a:r>
            <a:endParaRPr lang="en-AU" sz="2400" dirty="0"/>
          </a:p>
          <a:p>
            <a:r>
              <a:rPr lang="en-AU" sz="2400" dirty="0"/>
              <a:t> </a:t>
            </a:r>
          </a:p>
          <a:p>
            <a:endParaRPr lang="en-AU" dirty="0"/>
          </a:p>
        </p:txBody>
      </p:sp>
      <p:pic>
        <p:nvPicPr>
          <p:cNvPr id="7" name="Picture 6" descr="Diagram&#10;&#10;Description automatically generated">
            <a:extLst>
              <a:ext uri="{FF2B5EF4-FFF2-40B4-BE49-F238E27FC236}">
                <a16:creationId xmlns:a16="http://schemas.microsoft.com/office/drawing/2014/main" id="{7D10A931-4AA1-F8C7-E059-7B744193C461}"/>
              </a:ext>
            </a:extLst>
          </p:cNvPr>
          <p:cNvPicPr>
            <a:picLocks noChangeAspect="1"/>
          </p:cNvPicPr>
          <p:nvPr/>
        </p:nvPicPr>
        <p:blipFill>
          <a:blip r:embed="rId3"/>
          <a:stretch>
            <a:fillRect/>
          </a:stretch>
        </p:blipFill>
        <p:spPr>
          <a:xfrm>
            <a:off x="6311590" y="2427132"/>
            <a:ext cx="5880410" cy="4430868"/>
          </a:xfrm>
          <a:prstGeom prst="rect">
            <a:avLst/>
          </a:prstGeom>
        </p:spPr>
      </p:pic>
    </p:spTree>
    <p:extLst>
      <p:ext uri="{BB962C8B-B14F-4D97-AF65-F5344CB8AC3E}">
        <p14:creationId xmlns:p14="http://schemas.microsoft.com/office/powerpoint/2010/main" val="25654987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200" dirty="0">
                <a:solidFill>
                  <a:srgbClr val="004D95"/>
                </a:solidFill>
              </a:rPr>
              <a:t>Inflammation</a:t>
            </a: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280557" y="1448023"/>
            <a:ext cx="9246617" cy="4756305"/>
          </a:xfrm>
        </p:spPr>
        <p:txBody>
          <a:bodyPr>
            <a:normAutofit/>
          </a:bodyPr>
          <a:lstStyle/>
          <a:p>
            <a:r>
              <a:rPr lang="en-AU" dirty="0">
                <a:latin typeface="Avenir Book" panose="02000503020000020003" pitchFamily="2" charset="0"/>
              </a:rPr>
              <a:t>6. Pus is formed from dead phagocytes and their contents, and tissue fluid. </a:t>
            </a:r>
            <a:endParaRPr lang="en-AU" sz="2400" dirty="0">
              <a:latin typeface="Avenir Book" panose="02000503020000020003" pitchFamily="2" charset="0"/>
            </a:endParaRPr>
          </a:p>
          <a:p>
            <a:endParaRPr lang="en-AU" dirty="0"/>
          </a:p>
        </p:txBody>
      </p:sp>
      <p:pic>
        <p:nvPicPr>
          <p:cNvPr id="7" name="Picture 6" descr="Diagram&#10;&#10;Description automatically generated">
            <a:extLst>
              <a:ext uri="{FF2B5EF4-FFF2-40B4-BE49-F238E27FC236}">
                <a16:creationId xmlns:a16="http://schemas.microsoft.com/office/drawing/2014/main" id="{7D10A931-4AA1-F8C7-E059-7B744193C461}"/>
              </a:ext>
            </a:extLst>
          </p:cNvPr>
          <p:cNvPicPr>
            <a:picLocks noChangeAspect="1"/>
          </p:cNvPicPr>
          <p:nvPr/>
        </p:nvPicPr>
        <p:blipFill>
          <a:blip r:embed="rId3"/>
          <a:stretch>
            <a:fillRect/>
          </a:stretch>
        </p:blipFill>
        <p:spPr>
          <a:xfrm>
            <a:off x="6311590" y="2427132"/>
            <a:ext cx="5880410" cy="4430868"/>
          </a:xfrm>
          <a:prstGeom prst="rect">
            <a:avLst/>
          </a:prstGeom>
        </p:spPr>
      </p:pic>
    </p:spTree>
    <p:extLst>
      <p:ext uri="{BB962C8B-B14F-4D97-AF65-F5344CB8AC3E}">
        <p14:creationId xmlns:p14="http://schemas.microsoft.com/office/powerpoint/2010/main" val="2592978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200" dirty="0">
                <a:solidFill>
                  <a:srgbClr val="004D95"/>
                </a:solidFill>
              </a:rPr>
              <a:t>Inflammation</a:t>
            </a: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280557" y="1448023"/>
            <a:ext cx="9246617" cy="4756305"/>
          </a:xfrm>
        </p:spPr>
        <p:txBody>
          <a:bodyPr>
            <a:normAutofit/>
          </a:bodyPr>
          <a:lstStyle/>
          <a:p>
            <a:r>
              <a:rPr lang="en-AU" sz="2400" dirty="0">
                <a:latin typeface="Avenir Book" panose="02000503020000020003" pitchFamily="2" charset="0"/>
              </a:rPr>
              <a:t>7. Mitosis produces new cells, repairing the damaged tissues</a:t>
            </a:r>
            <a:r>
              <a:rPr lang="en-AU" dirty="0"/>
              <a:t>.</a:t>
            </a:r>
          </a:p>
          <a:p>
            <a:endParaRPr lang="en-AU" sz="2400" dirty="0"/>
          </a:p>
          <a:p>
            <a:endParaRPr lang="en-AU" dirty="0"/>
          </a:p>
        </p:txBody>
      </p:sp>
      <p:pic>
        <p:nvPicPr>
          <p:cNvPr id="7" name="Picture 6" descr="Diagram&#10;&#10;Description automatically generated">
            <a:extLst>
              <a:ext uri="{FF2B5EF4-FFF2-40B4-BE49-F238E27FC236}">
                <a16:creationId xmlns:a16="http://schemas.microsoft.com/office/drawing/2014/main" id="{7D10A931-4AA1-F8C7-E059-7B744193C461}"/>
              </a:ext>
            </a:extLst>
          </p:cNvPr>
          <p:cNvPicPr>
            <a:picLocks noChangeAspect="1"/>
          </p:cNvPicPr>
          <p:nvPr/>
        </p:nvPicPr>
        <p:blipFill>
          <a:blip r:embed="rId3"/>
          <a:stretch>
            <a:fillRect/>
          </a:stretch>
        </p:blipFill>
        <p:spPr>
          <a:xfrm>
            <a:off x="6311590" y="2427132"/>
            <a:ext cx="5880410" cy="4430868"/>
          </a:xfrm>
          <a:prstGeom prst="rect">
            <a:avLst/>
          </a:prstGeom>
        </p:spPr>
      </p:pic>
    </p:spTree>
    <p:extLst>
      <p:ext uri="{BB962C8B-B14F-4D97-AF65-F5344CB8AC3E}">
        <p14:creationId xmlns:p14="http://schemas.microsoft.com/office/powerpoint/2010/main" val="22755912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200" dirty="0">
                <a:solidFill>
                  <a:srgbClr val="004D95"/>
                </a:solidFill>
              </a:rPr>
              <a:t>Fever </a:t>
            </a: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322189" y="1427319"/>
            <a:ext cx="11398687" cy="4756305"/>
          </a:xfrm>
        </p:spPr>
        <p:txBody>
          <a:bodyPr>
            <a:normAutofit/>
          </a:bodyPr>
          <a:lstStyle/>
          <a:p>
            <a:r>
              <a:rPr lang="en-AU" sz="2400" dirty="0">
                <a:latin typeface="Avenir Book" panose="02000503020000020003" pitchFamily="2" charset="0"/>
              </a:rPr>
              <a:t>Infection can also cause fever, which is an elevation of the body temperature. It is believed that this is caused by substances called pyrogens, which are secreted by white blood cells during the inflammatory response, and act on the hypothalamus. </a:t>
            </a:r>
            <a:endParaRPr lang="en-AU" sz="2800" dirty="0">
              <a:latin typeface="Avenir Book" panose="02000503020000020003" pitchFamily="2" charset="0"/>
            </a:endParaRPr>
          </a:p>
          <a:p>
            <a:endParaRPr lang="en-AU" dirty="0"/>
          </a:p>
        </p:txBody>
      </p:sp>
      <p:pic>
        <p:nvPicPr>
          <p:cNvPr id="5" name="Picture 4" descr="Diagram&#10;&#10;Description automatically generated">
            <a:extLst>
              <a:ext uri="{FF2B5EF4-FFF2-40B4-BE49-F238E27FC236}">
                <a16:creationId xmlns:a16="http://schemas.microsoft.com/office/drawing/2014/main" id="{59E0D179-514C-1725-EEBD-B0CE15C141B2}"/>
              </a:ext>
            </a:extLst>
          </p:cNvPr>
          <p:cNvPicPr>
            <a:picLocks noChangeAspect="1"/>
          </p:cNvPicPr>
          <p:nvPr/>
        </p:nvPicPr>
        <p:blipFill>
          <a:blip r:embed="rId3"/>
          <a:stretch>
            <a:fillRect/>
          </a:stretch>
        </p:blipFill>
        <p:spPr>
          <a:xfrm>
            <a:off x="2159620" y="2760392"/>
            <a:ext cx="7315200" cy="3924300"/>
          </a:xfrm>
          <a:prstGeom prst="rect">
            <a:avLst/>
          </a:prstGeom>
        </p:spPr>
      </p:pic>
    </p:spTree>
    <p:extLst>
      <p:ext uri="{BB962C8B-B14F-4D97-AF65-F5344CB8AC3E}">
        <p14:creationId xmlns:p14="http://schemas.microsoft.com/office/powerpoint/2010/main" val="2034426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6128C4E-D085-DD97-F10D-7290B8A0328E}"/>
              </a:ext>
            </a:extLst>
          </p:cNvPr>
          <p:cNvSpPr>
            <a:spLocks noGrp="1"/>
          </p:cNvSpPr>
          <p:nvPr>
            <p:ph type="body" sz="quarter" idx="13"/>
          </p:nvPr>
        </p:nvSpPr>
        <p:spPr/>
        <p:txBody>
          <a:bodyPr/>
          <a:lstStyle/>
          <a:p>
            <a:r>
              <a:rPr lang="en-US" dirty="0"/>
              <a:t>Fever </a:t>
            </a:r>
          </a:p>
        </p:txBody>
      </p:sp>
      <p:sp>
        <p:nvSpPr>
          <p:cNvPr id="3" name="Text Placeholder 2">
            <a:extLst>
              <a:ext uri="{FF2B5EF4-FFF2-40B4-BE49-F238E27FC236}">
                <a16:creationId xmlns:a16="http://schemas.microsoft.com/office/drawing/2014/main" id="{63893606-B39F-7560-780D-6E0931B7B159}"/>
              </a:ext>
            </a:extLst>
          </p:cNvPr>
          <p:cNvSpPr>
            <a:spLocks noGrp="1"/>
          </p:cNvSpPr>
          <p:nvPr>
            <p:ph type="body" sz="quarter" idx="15"/>
          </p:nvPr>
        </p:nvSpPr>
        <p:spPr/>
        <p:txBody>
          <a:bodyPr/>
          <a:lstStyle/>
          <a:p>
            <a:pPr marL="285750" indent="-285750">
              <a:buFont typeface="Arial" panose="020B0604020202020204" pitchFamily="34" charset="0"/>
              <a:buChar char="•"/>
            </a:pPr>
            <a:r>
              <a:rPr lang="en-AU" sz="2000" dirty="0">
                <a:latin typeface="Avenir Book" panose="02000503020000020003" pitchFamily="2" charset="0"/>
              </a:rPr>
              <a:t>The hypothalamus then raises the temperature level of the body (homeostatic mechanisms are still in place, but they work to bring the body temperature to one that is higher than the normal 37°C).</a:t>
            </a:r>
          </a:p>
          <a:p>
            <a:pPr marL="285750" indent="-285750">
              <a:buFont typeface="Arial" panose="020B0604020202020204" pitchFamily="34" charset="0"/>
              <a:buChar char="•"/>
            </a:pPr>
            <a:r>
              <a:rPr lang="en-AU" sz="2000" dirty="0">
                <a:latin typeface="Avenir Book" panose="02000503020000020003" pitchFamily="2" charset="0"/>
              </a:rPr>
              <a:t>When the fever breaks, homeostatic mechanisms work to bring the body temperature down by reducing the amount of heat produced and promoting heat loss.</a:t>
            </a:r>
          </a:p>
          <a:p>
            <a:pPr marL="285750" indent="-285750">
              <a:buFont typeface="Arial" panose="020B0604020202020204" pitchFamily="34" charset="0"/>
              <a:buChar char="•"/>
            </a:pPr>
            <a:r>
              <a:rPr lang="en-AU" sz="2000" dirty="0">
                <a:latin typeface="Avenir Book" panose="02000503020000020003" pitchFamily="2" charset="0"/>
              </a:rPr>
              <a:t>Fever is thought to inhibit growth of micro-organisms, and accelerate the rate of chemical reactions, hence accelerating the healing process.</a:t>
            </a:r>
          </a:p>
          <a:p>
            <a:endParaRPr lang="en-US" dirty="0"/>
          </a:p>
        </p:txBody>
      </p:sp>
      <p:pic>
        <p:nvPicPr>
          <p:cNvPr id="4" name="Picture 3" descr="Diagram&#10;&#10;Description automatically generated">
            <a:extLst>
              <a:ext uri="{FF2B5EF4-FFF2-40B4-BE49-F238E27FC236}">
                <a16:creationId xmlns:a16="http://schemas.microsoft.com/office/drawing/2014/main" id="{990ABF0D-897D-F9F2-FF7A-27C62D7A4A72}"/>
              </a:ext>
            </a:extLst>
          </p:cNvPr>
          <p:cNvPicPr>
            <a:picLocks noChangeAspect="1"/>
          </p:cNvPicPr>
          <p:nvPr/>
        </p:nvPicPr>
        <p:blipFill>
          <a:blip r:embed="rId2"/>
          <a:stretch>
            <a:fillRect/>
          </a:stretch>
        </p:blipFill>
        <p:spPr>
          <a:xfrm>
            <a:off x="3542372" y="3791415"/>
            <a:ext cx="5598681" cy="3003459"/>
          </a:xfrm>
          <a:prstGeom prst="rect">
            <a:avLst/>
          </a:prstGeom>
        </p:spPr>
      </p:pic>
    </p:spTree>
    <p:extLst>
      <p:ext uri="{BB962C8B-B14F-4D97-AF65-F5344CB8AC3E}">
        <p14:creationId xmlns:p14="http://schemas.microsoft.com/office/powerpoint/2010/main" val="20158972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A551EEE-7DA0-2104-BEF1-36A9683BC09B}"/>
              </a:ext>
            </a:extLst>
          </p:cNvPr>
          <p:cNvSpPr>
            <a:spLocks noGrp="1"/>
          </p:cNvSpPr>
          <p:nvPr>
            <p:ph type="body" sz="quarter" idx="13"/>
          </p:nvPr>
        </p:nvSpPr>
        <p:spPr/>
        <p:txBody>
          <a:bodyPr/>
          <a:lstStyle/>
          <a:p>
            <a:r>
              <a:rPr lang="en-US" dirty="0"/>
              <a:t>Lymphatic System </a:t>
            </a:r>
          </a:p>
        </p:txBody>
      </p:sp>
      <p:sp>
        <p:nvSpPr>
          <p:cNvPr id="3" name="Text Placeholder 2">
            <a:extLst>
              <a:ext uri="{FF2B5EF4-FFF2-40B4-BE49-F238E27FC236}">
                <a16:creationId xmlns:a16="http://schemas.microsoft.com/office/drawing/2014/main" id="{86309916-6EA9-B477-E4FD-DB80E53342B3}"/>
              </a:ext>
            </a:extLst>
          </p:cNvPr>
          <p:cNvSpPr>
            <a:spLocks noGrp="1"/>
          </p:cNvSpPr>
          <p:nvPr>
            <p:ph type="body" sz="quarter" idx="15"/>
          </p:nvPr>
        </p:nvSpPr>
        <p:spPr>
          <a:xfrm>
            <a:off x="280558" y="1528994"/>
            <a:ext cx="6592682" cy="5066923"/>
          </a:xfrm>
        </p:spPr>
        <p:txBody>
          <a:bodyPr/>
          <a:lstStyle/>
          <a:p>
            <a:r>
              <a:rPr lang="en-AU" sz="2000" dirty="0">
                <a:latin typeface="Avenir Book" panose="02000503020000020003" pitchFamily="2" charset="0"/>
              </a:rPr>
              <a:t>Also involved in non-specific internal defence is the lymphatic system. The lymph nodes that occur along the length of lymph vessels consist of masses of lymphatic tissue, which also contains a network of fibres. </a:t>
            </a:r>
          </a:p>
          <a:p>
            <a:endParaRPr lang="en-AU" sz="2000" dirty="0">
              <a:latin typeface="Avenir Book" panose="02000503020000020003" pitchFamily="2" charset="0"/>
            </a:endParaRPr>
          </a:p>
          <a:p>
            <a:r>
              <a:rPr lang="en-AU" sz="2000" dirty="0">
                <a:latin typeface="Avenir Book" panose="02000503020000020003" pitchFamily="2" charset="0"/>
              </a:rPr>
              <a:t>When the lymph (fluid pushed out of the circulatory system) moves through the lymph nodes as it travels through a vessel, and foreign particles become trapped in the fibres, where they can then be digested by the enzymatic action of phagocytes.</a:t>
            </a:r>
          </a:p>
          <a:p>
            <a:endParaRPr lang="en-US" dirty="0"/>
          </a:p>
        </p:txBody>
      </p:sp>
      <p:pic>
        <p:nvPicPr>
          <p:cNvPr id="1026" name="Picture 2" descr="Lymph nodes | healthdirect">
            <a:extLst>
              <a:ext uri="{FF2B5EF4-FFF2-40B4-BE49-F238E27FC236}">
                <a16:creationId xmlns:a16="http://schemas.microsoft.com/office/drawing/2014/main" id="{7D8C8DC7-9007-208F-BC71-908728B1EF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9937" y="0"/>
            <a:ext cx="507206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3398627"/>
      </p:ext>
    </p:extLst>
  </p:cSld>
  <p:clrMapOvr>
    <a:masterClrMapping/>
  </p:clrMapOvr>
</p:sld>
</file>

<file path=ppt/theme/theme1.xml><?xml version="1.0" encoding="utf-8"?>
<a:theme xmlns:a="http://schemas.openxmlformats.org/drawingml/2006/main" name="Explicit Instructio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Presentation7" id="{A0887C6E-96BD-534A-8CBE-9AAF12871CE8}" vid="{583381A7-9936-5D44-AF96-977A58C393EF}"/>
    </a:ext>
  </a:extLst>
</a:theme>
</file>

<file path=ppt/theme/theme2.xml><?xml version="1.0" encoding="utf-8"?>
<a:theme xmlns:a="http://schemas.openxmlformats.org/drawingml/2006/main" name="Daily Revie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44E26B83-00B7-BB4D-A2EC-ADFFD194B2BC}"/>
    </a:ext>
  </a:extLst>
</a:theme>
</file>

<file path=ppt/theme/theme3.xml><?xml version="1.0" encoding="utf-8"?>
<a:theme xmlns:a="http://schemas.openxmlformats.org/drawingml/2006/main" name="Vocabulary &amp; Spelli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821F2746-48D5-5843-A7D5-EF5B105A2CD3}"/>
    </a:ext>
  </a:extLst>
</a:theme>
</file>

<file path=ppt/theme/theme4.xml><?xml version="1.0" encoding="utf-8"?>
<a:theme xmlns:a="http://schemas.openxmlformats.org/drawingml/2006/main" name="Reading Comprehensio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Presentation7" id="{A0887C6E-96BD-534A-8CBE-9AAF12871CE8}" vid="{2E2F26A4-DEB2-AF4B-9600-F3299094F0DC}"/>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32E83A20-4629-CD4A-B190-FC50DD96DD5C}"/>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Explicit Instruction</Template>
  <TotalTime>12933</TotalTime>
  <Words>860</Words>
  <Application>Microsoft Macintosh PowerPoint</Application>
  <PresentationFormat>Widescreen</PresentationFormat>
  <Paragraphs>48</Paragraphs>
  <Slides>12</Slides>
  <Notes>10</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12</vt:i4>
      </vt:variant>
    </vt:vector>
  </HeadingPairs>
  <TitlesOfParts>
    <vt:vector size="25" baseType="lpstr">
      <vt:lpstr>Arial</vt:lpstr>
      <vt:lpstr>Arial Rounded MT Bold</vt:lpstr>
      <vt:lpstr>Avenir Book</vt:lpstr>
      <vt:lpstr>Calibri</vt:lpstr>
      <vt:lpstr>Calibri Light</vt:lpstr>
      <vt:lpstr>Century Gothic</vt:lpstr>
      <vt:lpstr>Futura Medium</vt:lpstr>
      <vt:lpstr>Verdana</vt:lpstr>
      <vt:lpstr>Explicit Instruction</vt:lpstr>
      <vt:lpstr>Daily Review</vt:lpstr>
      <vt:lpstr>Vocabulary &amp; Spelling</vt:lpstr>
      <vt:lpstr>Reading Comprehension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YATES Hayden [Safety Bay Senior High School]</dc:creator>
  <cp:lastModifiedBy>YATES Hayden [Safety Bay Senior High School]</cp:lastModifiedBy>
  <cp:revision>1</cp:revision>
  <cp:lastPrinted>2020-06-12T23:59:38Z</cp:lastPrinted>
  <dcterms:created xsi:type="dcterms:W3CDTF">2022-05-08T16:15:49Z</dcterms:created>
  <dcterms:modified xsi:type="dcterms:W3CDTF">2022-05-17T15:49:24Z</dcterms:modified>
</cp:coreProperties>
</file>
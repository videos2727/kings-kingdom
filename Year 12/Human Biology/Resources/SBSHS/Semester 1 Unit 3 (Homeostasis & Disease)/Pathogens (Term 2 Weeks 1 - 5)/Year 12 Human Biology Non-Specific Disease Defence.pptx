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25"/>
  </p:notesMasterIdLst>
  <p:sldIdLst>
    <p:sldId id="556" r:id="rId6"/>
    <p:sldId id="566" r:id="rId7"/>
    <p:sldId id="579" r:id="rId8"/>
    <p:sldId id="580" r:id="rId9"/>
    <p:sldId id="581" r:id="rId10"/>
    <p:sldId id="583" r:id="rId11"/>
    <p:sldId id="585" r:id="rId12"/>
    <p:sldId id="313" r:id="rId13"/>
    <p:sldId id="567" r:id="rId14"/>
    <p:sldId id="568" r:id="rId15"/>
    <p:sldId id="569" r:id="rId16"/>
    <p:sldId id="572" r:id="rId17"/>
    <p:sldId id="573" r:id="rId18"/>
    <p:sldId id="586" r:id="rId19"/>
    <p:sldId id="574" r:id="rId20"/>
    <p:sldId id="575" r:id="rId21"/>
    <p:sldId id="576" r:id="rId22"/>
    <p:sldId id="577" r:id="rId23"/>
    <p:sldId id="5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p:restoredTop sz="86391"/>
  </p:normalViewPr>
  <p:slideViewPr>
    <p:cSldViewPr snapToGrid="0" snapToObjects="1">
      <p:cViewPr varScale="1">
        <p:scale>
          <a:sx n="115" d="100"/>
          <a:sy n="115" d="100"/>
        </p:scale>
        <p:origin x="224" y="24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5/10/22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a:t>
            </a:fld>
            <a:endParaRPr lang="en-AU"/>
          </a:p>
        </p:txBody>
      </p:sp>
    </p:spTree>
    <p:extLst>
      <p:ext uri="{BB962C8B-B14F-4D97-AF65-F5344CB8AC3E}">
        <p14:creationId xmlns:p14="http://schemas.microsoft.com/office/powerpoint/2010/main" val="1914753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8</a:t>
            </a:fld>
            <a:endParaRPr lang="en-US"/>
          </a:p>
        </p:txBody>
      </p:sp>
    </p:spTree>
    <p:extLst>
      <p:ext uri="{BB962C8B-B14F-4D97-AF65-F5344CB8AC3E}">
        <p14:creationId xmlns:p14="http://schemas.microsoft.com/office/powerpoint/2010/main" val="37453477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5/10/22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5/10/22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5/10/22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5/10/22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5/10/22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5/10/22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DR) New Top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297625" y="2268252"/>
            <a:ext cx="8660516" cy="2826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0" i="0" spc="300" baseline="0" dirty="0">
                <a:solidFill>
                  <a:srgbClr val="154983"/>
                </a:solidFill>
                <a:latin typeface="Arial Rounded MT Bold" panose="020F0704030504030204" pitchFamily="34" charset="0"/>
              </a:rPr>
              <a:t>What we are learning today</a:t>
            </a:r>
            <a:endParaRPr lang="en-US" sz="7200" b="0" i="0" dirty="0">
              <a:solidFill>
                <a:srgbClr val="154983"/>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447768" y="1699225"/>
            <a:ext cx="2797472" cy="789710"/>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3600" b="0" i="0" dirty="0">
                <a:solidFill>
                  <a:schemeClr val="bg1"/>
                </a:solidFill>
                <a:latin typeface="Arial Rounded MT Bold" panose="020F0704030504030204" pitchFamily="34" charset="0"/>
                <a:cs typeface="Futura Medium" panose="020B0602020204020303" pitchFamily="34" charset="-79"/>
              </a:rPr>
              <a:t>New Topic</a:t>
            </a:r>
          </a:p>
        </p:txBody>
      </p:sp>
    </p:spTree>
    <p:extLst>
      <p:ext uri="{BB962C8B-B14F-4D97-AF65-F5344CB8AC3E}">
        <p14:creationId xmlns:p14="http://schemas.microsoft.com/office/powerpoint/2010/main" val="348388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5/10/22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5" r:id="rId12"/>
    <p:sldLayoutId id="214748380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solidFill>
                  <a:srgbClr val="004D95"/>
                </a:solidFill>
              </a:rPr>
              <a:t>Bacteria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63822" y="1538832"/>
            <a:ext cx="9246617" cy="4756305"/>
          </a:xfrm>
        </p:spPr>
        <p:txBody>
          <a:bodyPr>
            <a:normAutofit/>
          </a:bodyPr>
          <a:lstStyle/>
          <a:p>
            <a:r>
              <a:rPr lang="en-AU" sz="2000" dirty="0"/>
              <a:t> </a:t>
            </a:r>
          </a:p>
          <a:p>
            <a:endParaRPr lang="en-AU" dirty="0"/>
          </a:p>
        </p:txBody>
      </p:sp>
      <p:pic>
        <p:nvPicPr>
          <p:cNvPr id="1026" name="Picture 2" descr="What Is Bacteria? Good vs. Bad, Benefits, and Common Types">
            <a:extLst>
              <a:ext uri="{FF2B5EF4-FFF2-40B4-BE49-F238E27FC236}">
                <a16:creationId xmlns:a16="http://schemas.microsoft.com/office/drawing/2014/main" id="{D466E8A1-39D3-EBEF-B549-217D4962E6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557" y="1488932"/>
            <a:ext cx="5178961" cy="44435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AC4A7DB-7FAB-2142-25AF-B0A4317E90DC}"/>
              </a:ext>
            </a:extLst>
          </p:cNvPr>
          <p:cNvSpPr txBox="1"/>
          <p:nvPr/>
        </p:nvSpPr>
        <p:spPr>
          <a:xfrm>
            <a:off x="5594821" y="1488931"/>
            <a:ext cx="6167687" cy="4524315"/>
          </a:xfrm>
          <a:prstGeom prst="rect">
            <a:avLst/>
          </a:prstGeom>
          <a:noFill/>
        </p:spPr>
        <p:txBody>
          <a:bodyPr wrap="square" rtlCol="0">
            <a:spAutoFit/>
          </a:bodyPr>
          <a:lstStyle/>
          <a:p>
            <a:r>
              <a:rPr lang="en-US" sz="2400" b="1" dirty="0">
                <a:latin typeface="Avenir Book" panose="02000503020000020003" pitchFamily="2" charset="0"/>
              </a:rPr>
              <a:t>How it spreads disease:</a:t>
            </a:r>
          </a:p>
          <a:p>
            <a:r>
              <a:rPr lang="en-US" sz="2400" dirty="0">
                <a:latin typeface="Avenir Book" panose="02000503020000020003" pitchFamily="2" charset="0"/>
              </a:rPr>
              <a:t>Can be spread by person-to-person contact, in water droplets breathed in from the air, through infected food and through touching infected surfaces. </a:t>
            </a:r>
          </a:p>
          <a:p>
            <a:endParaRPr lang="en-US" sz="2400" dirty="0">
              <a:latin typeface="Avenir Book" panose="02000503020000020003" pitchFamily="2" charset="0"/>
            </a:endParaRPr>
          </a:p>
          <a:p>
            <a:r>
              <a:rPr lang="en-US" sz="2400" dirty="0">
                <a:latin typeface="Avenir Book" panose="02000503020000020003" pitchFamily="2" charset="0"/>
              </a:rPr>
              <a:t>Examples: </a:t>
            </a:r>
          </a:p>
          <a:p>
            <a:pPr marL="285750" indent="-285750">
              <a:buFontTx/>
              <a:buChar char="-"/>
            </a:pPr>
            <a:r>
              <a:rPr lang="en-US" sz="2400" dirty="0">
                <a:latin typeface="Avenir Book" panose="02000503020000020003" pitchFamily="2" charset="0"/>
              </a:rPr>
              <a:t>Bacterial meningitis </a:t>
            </a:r>
          </a:p>
          <a:p>
            <a:pPr marL="285750" indent="-285750">
              <a:buFontTx/>
              <a:buChar char="-"/>
            </a:pPr>
            <a:r>
              <a:rPr lang="en-US" sz="2400" dirty="0">
                <a:latin typeface="Avenir Book" panose="02000503020000020003" pitchFamily="2" charset="0"/>
              </a:rPr>
              <a:t>Cholera </a:t>
            </a:r>
          </a:p>
          <a:p>
            <a:pPr marL="285750" indent="-285750">
              <a:buFontTx/>
              <a:buChar char="-"/>
            </a:pPr>
            <a:r>
              <a:rPr lang="en-US" sz="2400" dirty="0">
                <a:latin typeface="Avenir Book" panose="02000503020000020003" pitchFamily="2" charset="0"/>
              </a:rPr>
              <a:t>Diphtheria </a:t>
            </a:r>
          </a:p>
          <a:p>
            <a:pPr marL="285750" indent="-285750">
              <a:buFontTx/>
              <a:buChar char="-"/>
            </a:pPr>
            <a:r>
              <a:rPr lang="en-US" sz="2400" dirty="0">
                <a:latin typeface="Avenir Book" panose="02000503020000020003" pitchFamily="2" charset="0"/>
              </a:rPr>
              <a:t>Tuberculosis </a:t>
            </a:r>
          </a:p>
          <a:p>
            <a:pPr marL="285750" indent="-285750">
              <a:buFontTx/>
              <a:buChar char="-"/>
            </a:pPr>
            <a:r>
              <a:rPr lang="en-US" sz="2400" dirty="0">
                <a:latin typeface="Avenir Book" panose="02000503020000020003" pitchFamily="2" charset="0"/>
              </a:rPr>
              <a:t>Typhoid  </a:t>
            </a:r>
          </a:p>
        </p:txBody>
      </p:sp>
    </p:spTree>
    <p:extLst>
      <p:ext uri="{BB962C8B-B14F-4D97-AF65-F5344CB8AC3E}">
        <p14:creationId xmlns:p14="http://schemas.microsoft.com/office/powerpoint/2010/main" val="2034426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D77AEC-CB06-145B-C8C8-50940738EB3A}"/>
              </a:ext>
            </a:extLst>
          </p:cNvPr>
          <p:cNvSpPr>
            <a:spLocks noGrp="1"/>
          </p:cNvSpPr>
          <p:nvPr>
            <p:ph type="body" sz="quarter" idx="13"/>
          </p:nvPr>
        </p:nvSpPr>
        <p:spPr/>
        <p:txBody>
          <a:bodyPr/>
          <a:lstStyle/>
          <a:p>
            <a:r>
              <a:rPr lang="en-US" dirty="0"/>
              <a:t>Virus </a:t>
            </a:r>
          </a:p>
        </p:txBody>
      </p:sp>
      <p:sp>
        <p:nvSpPr>
          <p:cNvPr id="3" name="Text Placeholder 2">
            <a:extLst>
              <a:ext uri="{FF2B5EF4-FFF2-40B4-BE49-F238E27FC236}">
                <a16:creationId xmlns:a16="http://schemas.microsoft.com/office/drawing/2014/main" id="{DD97E4AB-A6FD-33C2-3780-6805E4606EBD}"/>
              </a:ext>
            </a:extLst>
          </p:cNvPr>
          <p:cNvSpPr>
            <a:spLocks noGrp="1"/>
          </p:cNvSpPr>
          <p:nvPr>
            <p:ph type="body" sz="quarter" idx="15"/>
          </p:nvPr>
        </p:nvSpPr>
        <p:spPr>
          <a:xfrm>
            <a:off x="4694662" y="211874"/>
            <a:ext cx="7092371" cy="6384044"/>
          </a:xfrm>
        </p:spPr>
        <p:txBody>
          <a:bodyPr>
            <a:normAutofit/>
          </a:bodyPr>
          <a:lstStyle/>
          <a:p>
            <a:r>
              <a:rPr lang="en-US" sz="2000" b="1" dirty="0">
                <a:latin typeface="Avenir Book" panose="02000503020000020003" pitchFamily="2" charset="0"/>
              </a:rPr>
              <a:t>How it spreads disease? </a:t>
            </a:r>
          </a:p>
          <a:p>
            <a:endParaRPr lang="en-US" sz="2000" dirty="0">
              <a:latin typeface="Avenir Book" panose="02000503020000020003" pitchFamily="2" charset="0"/>
            </a:endParaRPr>
          </a:p>
          <a:p>
            <a:r>
              <a:rPr lang="en-US" sz="2000" dirty="0">
                <a:latin typeface="Avenir Book" panose="02000503020000020003" pitchFamily="2" charset="0"/>
              </a:rPr>
              <a:t>3 main ways: </a:t>
            </a:r>
          </a:p>
          <a:p>
            <a:r>
              <a:rPr lang="en-US" sz="2000" dirty="0">
                <a:latin typeface="Avenir Book" panose="02000503020000020003" pitchFamily="2" charset="0"/>
              </a:rPr>
              <a:t>1. </a:t>
            </a:r>
            <a:r>
              <a:rPr lang="en-US" sz="2000" b="1" dirty="0">
                <a:latin typeface="Avenir Book" panose="02000503020000020003" pitchFamily="2" charset="0"/>
              </a:rPr>
              <a:t>Person to person: </a:t>
            </a:r>
          </a:p>
          <a:p>
            <a:r>
              <a:rPr lang="en-US" sz="2000" dirty="0">
                <a:latin typeface="Avenir Book" panose="02000503020000020003" pitchFamily="2" charset="0"/>
              </a:rPr>
              <a:t>Viruses that cannot survive for long outside of the host. Travel in body fluids E.g., HIV </a:t>
            </a:r>
          </a:p>
          <a:p>
            <a:r>
              <a:rPr lang="en-US" sz="2000" b="1" dirty="0">
                <a:latin typeface="Avenir Book" panose="02000503020000020003" pitchFamily="2" charset="0"/>
              </a:rPr>
              <a:t>2. Environment to person: </a:t>
            </a:r>
            <a:r>
              <a:rPr lang="en-US" sz="2000" dirty="0">
                <a:latin typeface="Avenir Book" panose="02000503020000020003" pitchFamily="2" charset="0"/>
              </a:rPr>
              <a:t>Viruses that can survive outside of body. E.g., Rhinovirus (the common cold) Can survive for about two days on some surfaces. </a:t>
            </a:r>
          </a:p>
          <a:p>
            <a:r>
              <a:rPr lang="en-US" sz="2000" b="1" dirty="0">
                <a:latin typeface="Avenir Book" panose="02000503020000020003" pitchFamily="2" charset="0"/>
              </a:rPr>
              <a:t>3. Animal to person: </a:t>
            </a:r>
            <a:r>
              <a:rPr lang="en-US" sz="2000" dirty="0">
                <a:latin typeface="Avenir Book" panose="02000503020000020003" pitchFamily="2" charset="0"/>
              </a:rPr>
              <a:t>the least common by far. </a:t>
            </a:r>
          </a:p>
          <a:p>
            <a:pPr marL="285750" indent="-285750">
              <a:buFontTx/>
              <a:buChar char="-"/>
            </a:pPr>
            <a:r>
              <a:rPr lang="en-US" sz="2000" dirty="0">
                <a:latin typeface="Avenir Book" panose="02000503020000020003" pitchFamily="2" charset="0"/>
              </a:rPr>
              <a:t>Example of viral pathogens include: </a:t>
            </a:r>
          </a:p>
          <a:p>
            <a:pPr marL="285750" indent="-285750">
              <a:buFontTx/>
              <a:buChar char="-"/>
            </a:pPr>
            <a:r>
              <a:rPr lang="en-US" sz="2000" dirty="0">
                <a:latin typeface="Avenir Book" panose="02000503020000020003" pitchFamily="2" charset="0"/>
              </a:rPr>
              <a:t>Avian Flu Chicken pox </a:t>
            </a:r>
          </a:p>
          <a:p>
            <a:pPr marL="285750" indent="-285750">
              <a:buFontTx/>
              <a:buChar char="-"/>
            </a:pPr>
            <a:r>
              <a:rPr lang="en-US" sz="2000" dirty="0">
                <a:latin typeface="Avenir Book" panose="02000503020000020003" pitchFamily="2" charset="0"/>
              </a:rPr>
              <a:t>Colds </a:t>
            </a:r>
          </a:p>
          <a:p>
            <a:pPr marL="285750" indent="-285750">
              <a:buFontTx/>
              <a:buChar char="-"/>
            </a:pPr>
            <a:r>
              <a:rPr lang="en-US" sz="2000" dirty="0">
                <a:latin typeface="Avenir Book" panose="02000503020000020003" pitchFamily="2" charset="0"/>
              </a:rPr>
              <a:t>Ross River Virus </a:t>
            </a:r>
          </a:p>
          <a:p>
            <a:pPr marL="285750" indent="-285750">
              <a:buFontTx/>
              <a:buChar char="-"/>
            </a:pPr>
            <a:r>
              <a:rPr lang="en-US" sz="2000" dirty="0">
                <a:latin typeface="Avenir Book" panose="02000503020000020003" pitchFamily="2" charset="0"/>
              </a:rPr>
              <a:t>Rubella </a:t>
            </a:r>
          </a:p>
        </p:txBody>
      </p:sp>
      <p:pic>
        <p:nvPicPr>
          <p:cNvPr id="4" name="Picture 3">
            <a:extLst>
              <a:ext uri="{FF2B5EF4-FFF2-40B4-BE49-F238E27FC236}">
                <a16:creationId xmlns:a16="http://schemas.microsoft.com/office/drawing/2014/main" id="{DF1EF41A-8907-70C4-D8BB-DC777E5EAF95}"/>
              </a:ext>
            </a:extLst>
          </p:cNvPr>
          <p:cNvPicPr>
            <a:picLocks noChangeAspect="1"/>
          </p:cNvPicPr>
          <p:nvPr/>
        </p:nvPicPr>
        <p:blipFill>
          <a:blip r:embed="rId2"/>
          <a:stretch>
            <a:fillRect/>
          </a:stretch>
        </p:blipFill>
        <p:spPr>
          <a:xfrm>
            <a:off x="280557" y="1528993"/>
            <a:ext cx="4239604" cy="4314245"/>
          </a:xfrm>
          <a:prstGeom prst="rect">
            <a:avLst/>
          </a:prstGeom>
        </p:spPr>
      </p:pic>
    </p:spTree>
    <p:extLst>
      <p:ext uri="{BB962C8B-B14F-4D97-AF65-F5344CB8AC3E}">
        <p14:creationId xmlns:p14="http://schemas.microsoft.com/office/powerpoint/2010/main" val="2212957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70E86C-A108-A69C-9CFB-CA4B4261EAD4}"/>
              </a:ext>
            </a:extLst>
          </p:cNvPr>
          <p:cNvSpPr>
            <a:spLocks noGrp="1"/>
          </p:cNvSpPr>
          <p:nvPr>
            <p:ph type="body" sz="quarter" idx="13"/>
          </p:nvPr>
        </p:nvSpPr>
        <p:spPr/>
        <p:txBody>
          <a:bodyPr/>
          <a:lstStyle/>
          <a:p>
            <a:r>
              <a:rPr lang="en-AU" dirty="0"/>
              <a:t>Mode of transmission: Contact: Direct and indirect </a:t>
            </a:r>
            <a:endParaRPr lang="en-US" dirty="0"/>
          </a:p>
        </p:txBody>
      </p:sp>
      <p:sp>
        <p:nvSpPr>
          <p:cNvPr id="3" name="Text Placeholder 2">
            <a:extLst>
              <a:ext uri="{FF2B5EF4-FFF2-40B4-BE49-F238E27FC236}">
                <a16:creationId xmlns:a16="http://schemas.microsoft.com/office/drawing/2014/main" id="{F12EF13E-7815-8974-AC5E-01CA91C8F6A3}"/>
              </a:ext>
            </a:extLst>
          </p:cNvPr>
          <p:cNvSpPr>
            <a:spLocks noGrp="1"/>
          </p:cNvSpPr>
          <p:nvPr>
            <p:ph type="body" sz="quarter" idx="15"/>
          </p:nvPr>
        </p:nvSpPr>
        <p:spPr>
          <a:xfrm>
            <a:off x="280557" y="1696262"/>
            <a:ext cx="11506476" cy="5066923"/>
          </a:xfrm>
        </p:spPr>
        <p:txBody>
          <a:bodyPr/>
          <a:lstStyle/>
          <a:p>
            <a:pPr marL="285750" indent="-285750">
              <a:buFont typeface="Arial" panose="020B0604020202020204" pitchFamily="34" charset="0"/>
              <a:buChar char="•"/>
            </a:pPr>
            <a:r>
              <a:rPr lang="en-AU" sz="2400" dirty="0">
                <a:latin typeface="Avenir Book" panose="02000503020000020003" pitchFamily="2" charset="0"/>
              </a:rPr>
              <a:t>Touching an infected person and then putting your fingers in your mouth. (</a:t>
            </a:r>
            <a:r>
              <a:rPr lang="en-AU" sz="2400" b="1" dirty="0">
                <a:latin typeface="Avenir Book" panose="02000503020000020003" pitchFamily="2" charset="0"/>
              </a:rPr>
              <a:t>Direct</a:t>
            </a:r>
            <a:r>
              <a:rPr lang="en-AU" sz="2400" dirty="0">
                <a:latin typeface="Avenir Book" panose="02000503020000020003" pitchFamily="2" charset="0"/>
              </a:rPr>
              <a:t>).</a:t>
            </a:r>
          </a:p>
          <a:p>
            <a:pPr marL="285750" indent="-285750">
              <a:buFont typeface="Arial" panose="020B0604020202020204" pitchFamily="34" charset="0"/>
              <a:buChar char="•"/>
            </a:pPr>
            <a:r>
              <a:rPr lang="en-AU" sz="2400" dirty="0">
                <a:latin typeface="Avenir Book" panose="02000503020000020003" pitchFamily="2" charset="0"/>
              </a:rPr>
              <a:t>Touching an item that an infected person has touched and then putting mouth. (before washing your hands). (</a:t>
            </a:r>
            <a:r>
              <a:rPr lang="en-AU" sz="2400" b="1" dirty="0">
                <a:latin typeface="Avenir Book" panose="02000503020000020003" pitchFamily="2" charset="0"/>
              </a:rPr>
              <a:t>Indirect</a:t>
            </a:r>
            <a:r>
              <a:rPr lang="en-AU" sz="2400" dirty="0">
                <a:latin typeface="Avenir Book" panose="02000503020000020003" pitchFamily="2" charset="0"/>
              </a:rPr>
              <a:t>), from using unwashed plates. </a:t>
            </a:r>
          </a:p>
          <a:p>
            <a:pPr marL="285750" indent="-285750">
              <a:buFont typeface="Arial" panose="020B0604020202020204" pitchFamily="34" charset="0"/>
              <a:buChar char="•"/>
            </a:pPr>
            <a:r>
              <a:rPr lang="en-AU" sz="2400" dirty="0">
                <a:latin typeface="Avenir Book" panose="02000503020000020003" pitchFamily="2" charset="0"/>
              </a:rPr>
              <a:t>Examples: skin infections like plantar warts, conjunctivitis.</a:t>
            </a:r>
          </a:p>
          <a:p>
            <a:endParaRPr lang="en-US" dirty="0"/>
          </a:p>
        </p:txBody>
      </p:sp>
    </p:spTree>
    <p:extLst>
      <p:ext uri="{BB962C8B-B14F-4D97-AF65-F5344CB8AC3E}">
        <p14:creationId xmlns:p14="http://schemas.microsoft.com/office/powerpoint/2010/main" val="3239122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1AE3DC-8131-6ACC-112B-29D67484CE56}"/>
              </a:ext>
            </a:extLst>
          </p:cNvPr>
          <p:cNvSpPr>
            <a:spLocks noGrp="1"/>
          </p:cNvSpPr>
          <p:nvPr>
            <p:ph type="body" sz="quarter" idx="13"/>
          </p:nvPr>
        </p:nvSpPr>
        <p:spPr/>
        <p:txBody>
          <a:bodyPr/>
          <a:lstStyle/>
          <a:p>
            <a:r>
              <a:rPr lang="en-AU" dirty="0"/>
              <a:t>Mode of transmission: Transfer of body fluids </a:t>
            </a:r>
            <a:endParaRPr lang="en-US" dirty="0"/>
          </a:p>
        </p:txBody>
      </p:sp>
      <p:sp>
        <p:nvSpPr>
          <p:cNvPr id="3" name="Text Placeholder 2">
            <a:extLst>
              <a:ext uri="{FF2B5EF4-FFF2-40B4-BE49-F238E27FC236}">
                <a16:creationId xmlns:a16="http://schemas.microsoft.com/office/drawing/2014/main" id="{4D12B9E7-B962-79C4-F173-ED47BD377FE0}"/>
              </a:ext>
            </a:extLst>
          </p:cNvPr>
          <p:cNvSpPr>
            <a:spLocks noGrp="1"/>
          </p:cNvSpPr>
          <p:nvPr>
            <p:ph type="body" sz="quarter" idx="15"/>
          </p:nvPr>
        </p:nvSpPr>
        <p:spPr/>
        <p:txBody>
          <a:bodyPr/>
          <a:lstStyle/>
          <a:p>
            <a:pPr marL="285750" indent="-285750">
              <a:buFont typeface="Arial" panose="020B0604020202020204" pitchFamily="34" charset="0"/>
              <a:buChar char="•"/>
            </a:pPr>
            <a:r>
              <a:rPr lang="en-AU" sz="2400" dirty="0">
                <a:latin typeface="Avenir Book" panose="02000503020000020003" pitchFamily="2" charset="0"/>
              </a:rPr>
              <a:t>This could be the transfer of infected blood or fluids, like semen or substances produced by mucous membranes, e.g. saliva.</a:t>
            </a:r>
          </a:p>
          <a:p>
            <a:pPr marL="285750" indent="-285750">
              <a:buFont typeface="Arial" panose="020B0604020202020204" pitchFamily="34" charset="0"/>
              <a:buChar char="•"/>
            </a:pPr>
            <a:r>
              <a:rPr lang="en-AU" sz="2400" dirty="0">
                <a:latin typeface="Avenir Book" panose="02000503020000020003" pitchFamily="2" charset="0"/>
              </a:rPr>
              <a:t>Examples: HIV, glandular fever, hepatitis B and C.</a:t>
            </a:r>
          </a:p>
          <a:p>
            <a:endParaRPr lang="en-US" dirty="0"/>
          </a:p>
        </p:txBody>
      </p:sp>
    </p:spTree>
    <p:extLst>
      <p:ext uri="{BB962C8B-B14F-4D97-AF65-F5344CB8AC3E}">
        <p14:creationId xmlns:p14="http://schemas.microsoft.com/office/powerpoint/2010/main" val="3269408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E2FFB5-3C49-3872-A978-B3EC551F3207}"/>
              </a:ext>
            </a:extLst>
          </p:cNvPr>
          <p:cNvSpPr>
            <a:spLocks noGrp="1"/>
          </p:cNvSpPr>
          <p:nvPr>
            <p:ph type="body" sz="quarter" idx="13"/>
          </p:nvPr>
        </p:nvSpPr>
        <p:spPr/>
        <p:txBody>
          <a:bodyPr/>
          <a:lstStyle/>
          <a:p>
            <a:r>
              <a:rPr lang="en-AU" dirty="0"/>
              <a:t>Mode of transmission: Infection by droplets</a:t>
            </a:r>
            <a:endParaRPr lang="en-US" dirty="0"/>
          </a:p>
        </p:txBody>
      </p:sp>
      <p:sp>
        <p:nvSpPr>
          <p:cNvPr id="3" name="Text Placeholder 2">
            <a:extLst>
              <a:ext uri="{FF2B5EF4-FFF2-40B4-BE49-F238E27FC236}">
                <a16:creationId xmlns:a16="http://schemas.microsoft.com/office/drawing/2014/main" id="{CF802DDA-9413-0BD0-B3E1-5AB2AE96A99F}"/>
              </a:ext>
            </a:extLst>
          </p:cNvPr>
          <p:cNvSpPr>
            <a:spLocks noGrp="1"/>
          </p:cNvSpPr>
          <p:nvPr>
            <p:ph type="body" sz="quarter" idx="15"/>
          </p:nvPr>
        </p:nvSpPr>
        <p:spPr/>
        <p:txBody>
          <a:bodyPr/>
          <a:lstStyle/>
          <a:p>
            <a:pPr marL="285750" indent="-285750">
              <a:buFont typeface="Arial" panose="020B0604020202020204" pitchFamily="34" charset="0"/>
              <a:buChar char="•"/>
            </a:pPr>
            <a:r>
              <a:rPr lang="en-AU" sz="2800" dirty="0">
                <a:latin typeface="Avenir Book" panose="02000503020000020003" pitchFamily="2" charset="0"/>
              </a:rPr>
              <a:t>This is when pathogens are expelled in tiny droplets of moisture from an infected person. This is usually into the air through coughing, breathing, sneezing, but droplets may settle on non-living items, like plates or utensils, which are then placed into food which is ingested. </a:t>
            </a:r>
          </a:p>
          <a:p>
            <a:pPr marL="285750" indent="-285750">
              <a:buFont typeface="Arial" panose="020B0604020202020204" pitchFamily="34" charset="0"/>
              <a:buChar char="•"/>
            </a:pPr>
            <a:r>
              <a:rPr lang="en-AU" sz="2800" dirty="0">
                <a:latin typeface="Avenir Book" panose="02000503020000020003" pitchFamily="2" charset="0"/>
              </a:rPr>
              <a:t>Examples: Measles, mumps, colds and influenza.</a:t>
            </a:r>
          </a:p>
          <a:p>
            <a:endParaRPr lang="en-US" dirty="0"/>
          </a:p>
        </p:txBody>
      </p:sp>
    </p:spTree>
    <p:extLst>
      <p:ext uri="{BB962C8B-B14F-4D97-AF65-F5344CB8AC3E}">
        <p14:creationId xmlns:p14="http://schemas.microsoft.com/office/powerpoint/2010/main" val="3271061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36ADD5-48E2-EC7A-0971-391637ABE9EE}"/>
              </a:ext>
            </a:extLst>
          </p:cNvPr>
          <p:cNvSpPr>
            <a:spLocks noGrp="1"/>
          </p:cNvSpPr>
          <p:nvPr>
            <p:ph type="body" sz="quarter" idx="13"/>
          </p:nvPr>
        </p:nvSpPr>
        <p:spPr/>
        <p:txBody>
          <a:bodyPr/>
          <a:lstStyle/>
          <a:p>
            <a:r>
              <a:rPr lang="en-AU" dirty="0"/>
              <a:t>Mode of transmission: Disease-specific vectors</a:t>
            </a:r>
            <a:endParaRPr lang="en-US" dirty="0"/>
          </a:p>
        </p:txBody>
      </p:sp>
      <p:sp>
        <p:nvSpPr>
          <p:cNvPr id="3" name="Text Placeholder 2">
            <a:extLst>
              <a:ext uri="{FF2B5EF4-FFF2-40B4-BE49-F238E27FC236}">
                <a16:creationId xmlns:a16="http://schemas.microsoft.com/office/drawing/2014/main" id="{E6223EB7-7EAA-D7E1-37DE-45768407EA04}"/>
              </a:ext>
            </a:extLst>
          </p:cNvPr>
          <p:cNvSpPr>
            <a:spLocks noGrp="1"/>
          </p:cNvSpPr>
          <p:nvPr>
            <p:ph type="body" sz="quarter" idx="15"/>
          </p:nvPr>
        </p:nvSpPr>
        <p:spPr/>
        <p:txBody>
          <a:bodyPr/>
          <a:lstStyle/>
          <a:p>
            <a:pPr marL="285750" indent="-285750">
              <a:buFont typeface="Arial" panose="020B0604020202020204" pitchFamily="34" charset="0"/>
              <a:buChar char="•"/>
            </a:pPr>
            <a:r>
              <a:rPr lang="en-AU" sz="2400" dirty="0">
                <a:latin typeface="Avenir Book" panose="02000503020000020003" pitchFamily="2" charset="0"/>
              </a:rPr>
              <a:t>Some pathogens are transmitted from one organism to another by using another animal.</a:t>
            </a:r>
          </a:p>
          <a:p>
            <a:pPr marL="285750" indent="-285750">
              <a:buFont typeface="Arial" panose="020B0604020202020204" pitchFamily="34" charset="0"/>
              <a:buChar char="•"/>
            </a:pPr>
            <a:r>
              <a:rPr lang="en-AU" sz="2400" dirty="0">
                <a:latin typeface="Avenir Book" panose="02000503020000020003" pitchFamily="2" charset="0"/>
              </a:rPr>
              <a:t>Examples: Malaria, Lyme disease, Ross river virus.</a:t>
            </a:r>
          </a:p>
          <a:p>
            <a:endParaRPr lang="en-US" dirty="0"/>
          </a:p>
        </p:txBody>
      </p:sp>
    </p:spTree>
    <p:extLst>
      <p:ext uri="{BB962C8B-B14F-4D97-AF65-F5344CB8AC3E}">
        <p14:creationId xmlns:p14="http://schemas.microsoft.com/office/powerpoint/2010/main" val="163779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62D7E9F-8B26-8333-3A10-1DEB8B2E9933}"/>
              </a:ext>
            </a:extLst>
          </p:cNvPr>
          <p:cNvSpPr>
            <a:spLocks noGrp="1"/>
          </p:cNvSpPr>
          <p:nvPr>
            <p:ph type="body" sz="quarter" idx="13"/>
          </p:nvPr>
        </p:nvSpPr>
        <p:spPr/>
        <p:txBody>
          <a:bodyPr>
            <a:normAutofit lnSpcReduction="10000"/>
          </a:bodyPr>
          <a:lstStyle/>
          <a:p>
            <a:r>
              <a:rPr lang="en-AU" sz="3200" dirty="0"/>
              <a:t>Mode of transmission: Ingestion</a:t>
            </a:r>
            <a:endParaRPr lang="en-US" sz="3200" dirty="0"/>
          </a:p>
        </p:txBody>
      </p:sp>
      <p:sp>
        <p:nvSpPr>
          <p:cNvPr id="3" name="Text Placeholder 2">
            <a:extLst>
              <a:ext uri="{FF2B5EF4-FFF2-40B4-BE49-F238E27FC236}">
                <a16:creationId xmlns:a16="http://schemas.microsoft.com/office/drawing/2014/main" id="{AA28598B-5F03-3EE3-9BAF-C464CEAD32B1}"/>
              </a:ext>
            </a:extLst>
          </p:cNvPr>
          <p:cNvSpPr>
            <a:spLocks noGrp="1"/>
          </p:cNvSpPr>
          <p:nvPr>
            <p:ph type="body" sz="quarter" idx="15"/>
          </p:nvPr>
        </p:nvSpPr>
        <p:spPr/>
        <p:txBody>
          <a:bodyPr/>
          <a:lstStyle/>
          <a:p>
            <a:pPr marL="285750" indent="-285750">
              <a:buFont typeface="Arial" panose="020B0604020202020204" pitchFamily="34" charset="0"/>
              <a:buChar char="•"/>
            </a:pPr>
            <a:r>
              <a:rPr lang="en-AU" sz="2400" dirty="0">
                <a:latin typeface="Avenir Book" panose="02000503020000020003" pitchFamily="2" charset="0"/>
              </a:rPr>
              <a:t>Food that is contaminated may not be cooked properly. Therefore, the pathogen has been given ideal conditions to grow and multiply. </a:t>
            </a:r>
          </a:p>
          <a:p>
            <a:pPr marL="285750" indent="-285750">
              <a:buFont typeface="Arial" panose="020B0604020202020204" pitchFamily="34" charset="0"/>
              <a:buChar char="•"/>
            </a:pPr>
            <a:r>
              <a:rPr lang="en-AU" sz="2400" dirty="0">
                <a:latin typeface="Avenir Book" panose="02000503020000020003" pitchFamily="2" charset="0"/>
              </a:rPr>
              <a:t>Also, some foods are left for too long and this gives time for bacteria in the air to settle in the food and grow. </a:t>
            </a:r>
          </a:p>
          <a:p>
            <a:pPr marL="285750" indent="-285750">
              <a:buFont typeface="Arial" panose="020B0604020202020204" pitchFamily="34" charset="0"/>
              <a:buChar char="•"/>
            </a:pPr>
            <a:r>
              <a:rPr lang="en-AU" sz="2400" dirty="0">
                <a:latin typeface="Avenir Book" panose="02000503020000020003" pitchFamily="2" charset="0"/>
              </a:rPr>
              <a:t>Examples: Dysentery, Salmonella and typhoid.</a:t>
            </a:r>
          </a:p>
          <a:p>
            <a:endParaRPr lang="en-US" dirty="0"/>
          </a:p>
        </p:txBody>
      </p:sp>
    </p:spTree>
    <p:extLst>
      <p:ext uri="{BB962C8B-B14F-4D97-AF65-F5344CB8AC3E}">
        <p14:creationId xmlns:p14="http://schemas.microsoft.com/office/powerpoint/2010/main" val="4288138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A12DD-5827-464C-8E6F-1D81221E4EB2}"/>
              </a:ext>
            </a:extLst>
          </p:cNvPr>
          <p:cNvSpPr txBox="1"/>
          <p:nvPr/>
        </p:nvSpPr>
        <p:spPr>
          <a:xfrm>
            <a:off x="6974541" y="4793517"/>
            <a:ext cx="3872753" cy="4840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575465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C69815-F04D-64D6-4913-DFDFB89E8BAB}"/>
              </a:ext>
            </a:extLst>
          </p:cNvPr>
          <p:cNvSpPr>
            <a:spLocks noGrp="1"/>
          </p:cNvSpPr>
          <p:nvPr>
            <p:ph type="body" sz="quarter" idx="13"/>
          </p:nvPr>
        </p:nvSpPr>
        <p:spPr/>
        <p:txBody>
          <a:bodyPr/>
          <a:lstStyle/>
          <a:p>
            <a:r>
              <a:rPr lang="en-US" altLang="en-US" b="1" dirty="0">
                <a:solidFill>
                  <a:srgbClr val="004D95"/>
                </a:solidFill>
                <a:cs typeface="Arial" panose="020B0604020202020204" pitchFamily="34" charset="0"/>
              </a:rPr>
              <a:t>Non-specific defenses against disease</a:t>
            </a:r>
            <a:endParaRPr lang="en-US" dirty="0">
              <a:solidFill>
                <a:srgbClr val="004D95"/>
              </a:solidFill>
            </a:endParaRPr>
          </a:p>
        </p:txBody>
      </p:sp>
      <p:sp>
        <p:nvSpPr>
          <p:cNvPr id="3" name="Text Placeholder 2">
            <a:extLst>
              <a:ext uri="{FF2B5EF4-FFF2-40B4-BE49-F238E27FC236}">
                <a16:creationId xmlns:a16="http://schemas.microsoft.com/office/drawing/2014/main" id="{03B75DC4-531A-6AFF-23F3-71EA77231F08}"/>
              </a:ext>
            </a:extLst>
          </p:cNvPr>
          <p:cNvSpPr>
            <a:spLocks noGrp="1"/>
          </p:cNvSpPr>
          <p:nvPr>
            <p:ph type="body" sz="quarter" idx="15"/>
          </p:nvPr>
        </p:nvSpPr>
        <p:spPr/>
        <p:txBody>
          <a:bodyPr/>
          <a:lstStyle/>
          <a:p>
            <a:r>
              <a:rPr lang="en-AU" altLang="en-US" sz="2400" dirty="0">
                <a:latin typeface="Avenir Book" panose="02000503020000020003" pitchFamily="2" charset="0"/>
              </a:rPr>
              <a:t>Our bodies have several defences that protect us against invasion by pathogenic micro-organisms. </a:t>
            </a:r>
          </a:p>
          <a:p>
            <a:pPr marL="342900" indent="-342900">
              <a:buFont typeface="Arial" panose="020B0604020202020204" pitchFamily="34" charset="0"/>
              <a:buChar char="•"/>
            </a:pPr>
            <a:r>
              <a:rPr lang="en-AU" altLang="en-US" sz="2400" b="1" dirty="0">
                <a:latin typeface="Avenir Book" panose="02000503020000020003" pitchFamily="2" charset="0"/>
              </a:rPr>
              <a:t>Non-specific defences </a:t>
            </a:r>
            <a:r>
              <a:rPr lang="en-AU" altLang="en-US" sz="2400" dirty="0">
                <a:latin typeface="Avenir Book" panose="02000503020000020003" pitchFamily="2" charset="0"/>
              </a:rPr>
              <a:t>work against all pathogens. They are the body’s first line of defence. </a:t>
            </a:r>
          </a:p>
          <a:p>
            <a:pPr marL="342900" indent="-342900">
              <a:buFont typeface="Arial" panose="020B0604020202020204" pitchFamily="34" charset="0"/>
              <a:buChar char="•"/>
            </a:pPr>
            <a:r>
              <a:rPr lang="en-AU" altLang="en-US" sz="2400" b="1" dirty="0">
                <a:latin typeface="Avenir Book" panose="02000503020000020003" pitchFamily="2" charset="0"/>
              </a:rPr>
              <a:t>Specific defences </a:t>
            </a:r>
            <a:r>
              <a:rPr lang="en-AU" altLang="en-US" sz="2400" dirty="0">
                <a:latin typeface="Avenir Book" panose="02000503020000020003" pitchFamily="2" charset="0"/>
              </a:rPr>
              <a:t>are directed at a particular pathogen.</a:t>
            </a:r>
          </a:p>
          <a:p>
            <a:endParaRPr lang="en-US" dirty="0"/>
          </a:p>
        </p:txBody>
      </p:sp>
    </p:spTree>
    <p:extLst>
      <p:ext uri="{BB962C8B-B14F-4D97-AF65-F5344CB8AC3E}">
        <p14:creationId xmlns:p14="http://schemas.microsoft.com/office/powerpoint/2010/main" val="1337731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757A3C-B46F-60BB-69F0-BA56C91E5393}"/>
              </a:ext>
            </a:extLst>
          </p:cNvPr>
          <p:cNvSpPr>
            <a:spLocks noGrp="1"/>
          </p:cNvSpPr>
          <p:nvPr>
            <p:ph type="body" sz="quarter" idx="13"/>
          </p:nvPr>
        </p:nvSpPr>
        <p:spPr/>
        <p:txBody>
          <a:bodyPr/>
          <a:lstStyle/>
          <a:p>
            <a:endParaRPr lang="en-US" dirty="0"/>
          </a:p>
        </p:txBody>
      </p:sp>
      <p:sp>
        <p:nvSpPr>
          <p:cNvPr id="3" name="Text Placeholder 2">
            <a:extLst>
              <a:ext uri="{FF2B5EF4-FFF2-40B4-BE49-F238E27FC236}">
                <a16:creationId xmlns:a16="http://schemas.microsoft.com/office/drawing/2014/main" id="{77675AF5-B70C-BF82-CAA2-CC84CBE38C43}"/>
              </a:ext>
            </a:extLst>
          </p:cNvPr>
          <p:cNvSpPr>
            <a:spLocks noGrp="1"/>
          </p:cNvSpPr>
          <p:nvPr>
            <p:ph type="body" sz="quarter" idx="15"/>
          </p:nvPr>
        </p:nvSpPr>
        <p:spPr/>
        <p:txBody>
          <a:bodyPr/>
          <a:lstStyle/>
          <a:p>
            <a:r>
              <a:rPr lang="en-AU" altLang="en-US" sz="2400" b="1" dirty="0">
                <a:solidFill>
                  <a:srgbClr val="0A5384"/>
                </a:solidFill>
                <a:latin typeface="Avenir Book" panose="02000503020000020003" pitchFamily="2" charset="0"/>
              </a:rPr>
              <a:t>External defences</a:t>
            </a:r>
            <a:endParaRPr lang="en-AU" altLang="en-US" sz="2400" dirty="0">
              <a:latin typeface="Avenir Book" panose="02000503020000020003" pitchFamily="2" charset="0"/>
            </a:endParaRPr>
          </a:p>
          <a:p>
            <a:r>
              <a:rPr lang="en-AU" altLang="en-US" sz="2400" dirty="0">
                <a:latin typeface="Avenir Book" panose="02000503020000020003" pitchFamily="2" charset="0"/>
              </a:rPr>
              <a:t>The body’s external defences include:</a:t>
            </a:r>
          </a:p>
          <a:p>
            <a:pPr>
              <a:buFontTx/>
              <a:buChar char="•"/>
            </a:pPr>
            <a:r>
              <a:rPr lang="en-AU" altLang="en-US" sz="2400" dirty="0">
                <a:latin typeface="Avenir Book" panose="02000503020000020003" pitchFamily="2" charset="0"/>
              </a:rPr>
              <a:t>Skin</a:t>
            </a:r>
          </a:p>
          <a:p>
            <a:pPr>
              <a:buFontTx/>
              <a:buChar char="•"/>
            </a:pPr>
            <a:r>
              <a:rPr lang="en-AU" altLang="en-US" sz="2400" dirty="0">
                <a:latin typeface="Avenir Book" panose="02000503020000020003" pitchFamily="2" charset="0"/>
              </a:rPr>
              <a:t>Mucus</a:t>
            </a:r>
          </a:p>
          <a:p>
            <a:pPr>
              <a:buFontTx/>
              <a:buChar char="•"/>
            </a:pPr>
            <a:r>
              <a:rPr lang="en-AU" altLang="en-US" sz="2400" dirty="0">
                <a:latin typeface="Avenir Book" panose="02000503020000020003" pitchFamily="2" charset="0"/>
              </a:rPr>
              <a:t>Hairs</a:t>
            </a:r>
          </a:p>
          <a:p>
            <a:pPr>
              <a:buFontTx/>
              <a:buChar char="•"/>
            </a:pPr>
            <a:r>
              <a:rPr lang="en-AU" altLang="en-US" sz="2400" dirty="0">
                <a:latin typeface="Avenir Book" panose="02000503020000020003" pitchFamily="2" charset="0"/>
              </a:rPr>
              <a:t>Cilia</a:t>
            </a:r>
          </a:p>
          <a:p>
            <a:pPr>
              <a:buFontTx/>
              <a:buChar char="•"/>
            </a:pPr>
            <a:r>
              <a:rPr lang="en-AU" altLang="en-US" sz="2400" dirty="0">
                <a:latin typeface="Avenir Book" panose="02000503020000020003" pitchFamily="2" charset="0"/>
              </a:rPr>
              <a:t>Acids</a:t>
            </a:r>
          </a:p>
          <a:p>
            <a:pPr>
              <a:buFontTx/>
              <a:buChar char="•"/>
            </a:pPr>
            <a:r>
              <a:rPr lang="en-AU" altLang="en-US" sz="2400" dirty="0">
                <a:latin typeface="Avenir Book" panose="02000503020000020003" pitchFamily="2" charset="0"/>
              </a:rPr>
              <a:t>Lysozyme</a:t>
            </a:r>
          </a:p>
          <a:p>
            <a:pPr>
              <a:buFontTx/>
              <a:buChar char="•"/>
            </a:pPr>
            <a:r>
              <a:rPr lang="en-AU" altLang="en-US" sz="2400" dirty="0">
                <a:latin typeface="Avenir Book" panose="02000503020000020003" pitchFamily="2" charset="0"/>
              </a:rPr>
              <a:t>Cerumen</a:t>
            </a:r>
          </a:p>
          <a:p>
            <a:pPr>
              <a:buFontTx/>
              <a:buChar char="•"/>
            </a:pPr>
            <a:r>
              <a:rPr lang="en-AU" altLang="en-US" sz="2400" dirty="0">
                <a:latin typeface="Avenir Book" panose="02000503020000020003" pitchFamily="2" charset="0"/>
              </a:rPr>
              <a:t>Movement of fluid </a:t>
            </a:r>
          </a:p>
          <a:p>
            <a:endParaRPr lang="en-US" dirty="0"/>
          </a:p>
        </p:txBody>
      </p:sp>
    </p:spTree>
    <p:extLst>
      <p:ext uri="{BB962C8B-B14F-4D97-AF65-F5344CB8AC3E}">
        <p14:creationId xmlns:p14="http://schemas.microsoft.com/office/powerpoint/2010/main" val="3655662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0D722184-826C-48CD-70D2-43D3BE6A13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9697" y="411480"/>
            <a:ext cx="9079383" cy="6035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9470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E3241A-8C29-A3B7-2479-FC36A1ACE1FA}"/>
              </a:ext>
            </a:extLst>
          </p:cNvPr>
          <p:cNvSpPr>
            <a:spLocks noGrp="1"/>
          </p:cNvSpPr>
          <p:nvPr>
            <p:ph type="body" sz="quarter" idx="13"/>
          </p:nvPr>
        </p:nvSpPr>
        <p:spPr/>
        <p:txBody>
          <a:bodyPr/>
          <a:lstStyle/>
          <a:p>
            <a:r>
              <a:rPr lang="en-AU" dirty="0"/>
              <a:t>Skin</a:t>
            </a:r>
            <a:endParaRPr lang="en-US" dirty="0"/>
          </a:p>
        </p:txBody>
      </p:sp>
      <p:sp>
        <p:nvSpPr>
          <p:cNvPr id="3" name="Text Placeholder 2">
            <a:extLst>
              <a:ext uri="{FF2B5EF4-FFF2-40B4-BE49-F238E27FC236}">
                <a16:creationId xmlns:a16="http://schemas.microsoft.com/office/drawing/2014/main" id="{9A7BB633-F011-A9F9-4139-C6BBBFF0EED3}"/>
              </a:ext>
            </a:extLst>
          </p:cNvPr>
          <p:cNvSpPr>
            <a:spLocks noGrp="1"/>
          </p:cNvSpPr>
          <p:nvPr>
            <p:ph type="body" sz="quarter" idx="15"/>
          </p:nvPr>
        </p:nvSpPr>
        <p:spPr>
          <a:xfrm>
            <a:off x="280558" y="1528994"/>
            <a:ext cx="7235364" cy="5066923"/>
          </a:xfrm>
        </p:spPr>
        <p:txBody>
          <a:bodyPr>
            <a:normAutofit fontScale="92500"/>
          </a:bodyPr>
          <a:lstStyle/>
          <a:p>
            <a:r>
              <a:rPr lang="en-AU" sz="2400" dirty="0">
                <a:latin typeface="Avenir Book" panose="02000503020000020003" pitchFamily="2" charset="0"/>
              </a:rPr>
              <a:t>The skin is an effective barrier covering the outside of the body. It is very good at stopping the entry of micro-organisms, provided it is not broken by cuts and abrasions. </a:t>
            </a:r>
          </a:p>
          <a:p>
            <a:r>
              <a:rPr lang="en-AU" sz="2400" dirty="0">
                <a:latin typeface="Avenir Book" panose="02000503020000020003" pitchFamily="2" charset="0"/>
              </a:rPr>
              <a:t>At openings in the skin, such as the mouth, eyes and anus, special protection is provided by other defences. </a:t>
            </a:r>
          </a:p>
          <a:p>
            <a:r>
              <a:rPr lang="en-AU" sz="2400" dirty="0">
                <a:latin typeface="Avenir Book" panose="02000503020000020003" pitchFamily="2" charset="0"/>
              </a:rPr>
              <a:t>Huge numbers of bacteria live on the skin all the time.  These normal bacteria occupy the area. and so potential pathogens find it difficult to become established. </a:t>
            </a:r>
          </a:p>
          <a:p>
            <a:r>
              <a:rPr lang="en-AU" sz="2400" dirty="0">
                <a:latin typeface="Avenir Book" panose="02000503020000020003" pitchFamily="2" charset="0"/>
              </a:rPr>
              <a:t>In addition, the skin has other protective mechanisms. An oily secretion called </a:t>
            </a:r>
            <a:r>
              <a:rPr lang="en-AU" sz="2400" b="1" dirty="0">
                <a:latin typeface="Avenir Book" panose="02000503020000020003" pitchFamily="2" charset="0"/>
              </a:rPr>
              <a:t>sebum</a:t>
            </a:r>
            <a:r>
              <a:rPr lang="en-AU" sz="2400" dirty="0">
                <a:latin typeface="Avenir Book" panose="02000503020000020003" pitchFamily="2" charset="0"/>
              </a:rPr>
              <a:t> is produced by oil glands in the skin. It contains substances that kill some pathogenic bacteria. </a:t>
            </a:r>
            <a:r>
              <a:rPr lang="en-AU" sz="2400" b="1" dirty="0">
                <a:latin typeface="Avenir Book" panose="02000503020000020003" pitchFamily="2" charset="0"/>
              </a:rPr>
              <a:t>Sweat</a:t>
            </a:r>
            <a:r>
              <a:rPr lang="en-AU" sz="2400" dirty="0">
                <a:latin typeface="Avenir Book" panose="02000503020000020003" pitchFamily="2" charset="0"/>
              </a:rPr>
              <a:t> secreted on to the skin contains salts and fatty acids that prevent the growth of many micro-organisms.</a:t>
            </a:r>
          </a:p>
          <a:p>
            <a:endParaRPr lang="en-AU" dirty="0"/>
          </a:p>
          <a:p>
            <a:endParaRPr lang="en-US" dirty="0"/>
          </a:p>
        </p:txBody>
      </p:sp>
      <p:pic>
        <p:nvPicPr>
          <p:cNvPr id="4" name="Picture 2">
            <a:extLst>
              <a:ext uri="{FF2B5EF4-FFF2-40B4-BE49-F238E27FC236}">
                <a16:creationId xmlns:a16="http://schemas.microsoft.com/office/drawing/2014/main" id="{6D6D606E-DE22-2CBD-217F-608152B6EA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5922" y="2265766"/>
            <a:ext cx="4608475" cy="3063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2653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039D60-C857-3729-4FDD-E5DDFE1DCD9D}"/>
              </a:ext>
            </a:extLst>
          </p:cNvPr>
          <p:cNvSpPr>
            <a:spLocks noGrp="1"/>
          </p:cNvSpPr>
          <p:nvPr>
            <p:ph type="body" sz="quarter" idx="13"/>
          </p:nvPr>
        </p:nvSpPr>
        <p:spPr/>
        <p:txBody>
          <a:bodyPr/>
          <a:lstStyle/>
          <a:p>
            <a:r>
              <a:rPr lang="en-AU" dirty="0"/>
              <a:t>Mucus </a:t>
            </a:r>
            <a:endParaRPr lang="en-US" dirty="0"/>
          </a:p>
        </p:txBody>
      </p:sp>
      <p:sp>
        <p:nvSpPr>
          <p:cNvPr id="3" name="Text Placeholder 2">
            <a:extLst>
              <a:ext uri="{FF2B5EF4-FFF2-40B4-BE49-F238E27FC236}">
                <a16:creationId xmlns:a16="http://schemas.microsoft.com/office/drawing/2014/main" id="{50952CC6-1FE2-17B9-6833-CF019740C52F}"/>
              </a:ext>
            </a:extLst>
          </p:cNvPr>
          <p:cNvSpPr>
            <a:spLocks noGrp="1"/>
          </p:cNvSpPr>
          <p:nvPr>
            <p:ph type="body" sz="quarter" idx="15"/>
          </p:nvPr>
        </p:nvSpPr>
        <p:spPr>
          <a:xfrm>
            <a:off x="280558" y="1528994"/>
            <a:ext cx="6109091" cy="5066923"/>
          </a:xfrm>
        </p:spPr>
        <p:txBody>
          <a:bodyPr>
            <a:normAutofit/>
          </a:bodyPr>
          <a:lstStyle/>
          <a:p>
            <a:r>
              <a:rPr lang="en-AU" sz="2400" b="1" dirty="0">
                <a:latin typeface="Avenir Book" panose="02000503020000020003" pitchFamily="2" charset="0"/>
              </a:rPr>
              <a:t>Mucous membranes </a:t>
            </a:r>
            <a:r>
              <a:rPr lang="en-AU" sz="2400" dirty="0">
                <a:latin typeface="Avenir Book" panose="02000503020000020003" pitchFamily="2" charset="0"/>
              </a:rPr>
              <a:t>line body cavities that open to the exterior. </a:t>
            </a:r>
          </a:p>
          <a:p>
            <a:r>
              <a:rPr lang="en-AU" sz="2400" dirty="0">
                <a:latin typeface="Avenir Book" panose="02000503020000020003" pitchFamily="2" charset="0"/>
              </a:rPr>
              <a:t>They secrete mucus. which traps particles and, therefore, inhibits the entry of micro-organisms to the organs of the body. </a:t>
            </a:r>
          </a:p>
          <a:p>
            <a:r>
              <a:rPr lang="en-AU" sz="2400" dirty="0">
                <a:latin typeface="Avenir Book" panose="02000503020000020003" pitchFamily="2" charset="0"/>
              </a:rPr>
              <a:t>The digestive, urinary and reproductive tracts are all protected in this way. </a:t>
            </a:r>
            <a:endParaRPr lang="en-US" sz="2400" dirty="0">
              <a:latin typeface="Avenir Book" panose="02000503020000020003" pitchFamily="2" charset="0"/>
            </a:endParaRPr>
          </a:p>
        </p:txBody>
      </p:sp>
      <p:pic>
        <p:nvPicPr>
          <p:cNvPr id="4" name="Picture 2">
            <a:extLst>
              <a:ext uri="{FF2B5EF4-FFF2-40B4-BE49-F238E27FC236}">
                <a16:creationId xmlns:a16="http://schemas.microsoft.com/office/drawing/2014/main" id="{FF0CF2E3-54EF-87DA-6AF2-1F8800D464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6203" y="1874520"/>
            <a:ext cx="5296306" cy="352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8895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03CF50-A0C6-CB2B-C242-525396CD97D5}"/>
              </a:ext>
            </a:extLst>
          </p:cNvPr>
          <p:cNvSpPr>
            <a:spLocks noGrp="1"/>
          </p:cNvSpPr>
          <p:nvPr>
            <p:ph type="body" sz="quarter" idx="13"/>
          </p:nvPr>
        </p:nvSpPr>
        <p:spPr/>
        <p:txBody>
          <a:bodyPr/>
          <a:lstStyle/>
          <a:p>
            <a:r>
              <a:rPr lang="en-AU" dirty="0">
                <a:latin typeface="Avenir Book" panose="02000503020000020003" pitchFamily="2" charset="0"/>
              </a:rPr>
              <a:t>Hairs:</a:t>
            </a:r>
            <a:endParaRPr lang="en-US" dirty="0"/>
          </a:p>
        </p:txBody>
      </p:sp>
      <p:sp>
        <p:nvSpPr>
          <p:cNvPr id="3" name="Text Placeholder 2">
            <a:extLst>
              <a:ext uri="{FF2B5EF4-FFF2-40B4-BE49-F238E27FC236}">
                <a16:creationId xmlns:a16="http://schemas.microsoft.com/office/drawing/2014/main" id="{107739FD-2C45-5CC4-F16B-8E5FB200E9AD}"/>
              </a:ext>
            </a:extLst>
          </p:cNvPr>
          <p:cNvSpPr>
            <a:spLocks noGrp="1"/>
          </p:cNvSpPr>
          <p:nvPr>
            <p:ph type="body" sz="quarter" idx="15"/>
          </p:nvPr>
        </p:nvSpPr>
        <p:spPr/>
        <p:txBody>
          <a:bodyPr>
            <a:normAutofit/>
          </a:bodyPr>
          <a:lstStyle/>
          <a:p>
            <a:pPr marL="285750" indent="-285750">
              <a:buFont typeface="Arial" panose="020B0604020202020204" pitchFamily="34" charset="0"/>
              <a:buChar char="•"/>
            </a:pPr>
            <a:r>
              <a:rPr lang="en-AU" sz="2400" dirty="0">
                <a:latin typeface="Avenir Book" panose="02000503020000020003" pitchFamily="2" charset="0"/>
              </a:rPr>
              <a:t>Hairs are found in the nasal cavity in the nose, and in the ears. In the nose, the hairs and a layer of mucus trap up to 90% of particles inhaled when breathing.</a:t>
            </a:r>
            <a:endParaRPr lang="en-US" sz="2400" dirty="0"/>
          </a:p>
        </p:txBody>
      </p:sp>
    </p:spTree>
    <p:extLst>
      <p:ext uri="{BB962C8B-B14F-4D97-AF65-F5344CB8AC3E}">
        <p14:creationId xmlns:p14="http://schemas.microsoft.com/office/powerpoint/2010/main" val="1694069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FED2CE4-F1F4-D781-A163-B9FD48C02B06}"/>
              </a:ext>
            </a:extLst>
          </p:cNvPr>
          <p:cNvSpPr>
            <a:spLocks noGrp="1"/>
          </p:cNvSpPr>
          <p:nvPr>
            <p:ph type="body" sz="quarter" idx="13"/>
          </p:nvPr>
        </p:nvSpPr>
        <p:spPr/>
        <p:txBody>
          <a:bodyPr/>
          <a:lstStyle/>
          <a:p>
            <a:r>
              <a:rPr lang="en-AU" dirty="0"/>
              <a:t>Cilia:</a:t>
            </a:r>
            <a:endParaRPr lang="en-US" dirty="0"/>
          </a:p>
        </p:txBody>
      </p:sp>
      <p:sp>
        <p:nvSpPr>
          <p:cNvPr id="3" name="Text Placeholder 2">
            <a:extLst>
              <a:ext uri="{FF2B5EF4-FFF2-40B4-BE49-F238E27FC236}">
                <a16:creationId xmlns:a16="http://schemas.microsoft.com/office/drawing/2014/main" id="{DF49D4A4-CC7C-9DCA-61DD-8CECF8EDDA64}"/>
              </a:ext>
            </a:extLst>
          </p:cNvPr>
          <p:cNvSpPr>
            <a:spLocks noGrp="1"/>
          </p:cNvSpPr>
          <p:nvPr>
            <p:ph type="body" sz="quarter" idx="15"/>
          </p:nvPr>
        </p:nvSpPr>
        <p:spPr>
          <a:xfrm>
            <a:off x="280558" y="1528994"/>
            <a:ext cx="6185645" cy="5066923"/>
          </a:xfrm>
        </p:spPr>
        <p:txBody>
          <a:bodyPr/>
          <a:lstStyle/>
          <a:p>
            <a:pPr marL="342900" indent="-342900">
              <a:buFont typeface="Arial" panose="020B0604020202020204" pitchFamily="34" charset="0"/>
              <a:buChar char="•"/>
            </a:pPr>
            <a:r>
              <a:rPr lang="en-AU" sz="2400" dirty="0">
                <a:latin typeface="Avenir Book" panose="02000503020000020003" pitchFamily="2" charset="0"/>
              </a:rPr>
              <a:t>Cilia are tiny hair-like projections from cells that are capable of a beating motion. </a:t>
            </a:r>
          </a:p>
          <a:p>
            <a:pPr marL="342900" indent="-342900">
              <a:buFont typeface="Arial" panose="020B0604020202020204" pitchFamily="34" charset="0"/>
              <a:buChar char="•"/>
            </a:pPr>
            <a:r>
              <a:rPr lang="en-AU" sz="2400" dirty="0">
                <a:latin typeface="Avenir Book" panose="02000503020000020003" pitchFamily="2" charset="0"/>
              </a:rPr>
              <a:t>The mucous membranes lining the nasal cavity, the trachea and other air passages have cilia. </a:t>
            </a:r>
          </a:p>
          <a:p>
            <a:pPr marL="342900" indent="-342900">
              <a:buFont typeface="Arial" panose="020B0604020202020204" pitchFamily="34" charset="0"/>
              <a:buChar char="•"/>
            </a:pPr>
            <a:r>
              <a:rPr lang="en-AU" sz="2400" dirty="0">
                <a:latin typeface="Avenir Book" panose="02000503020000020003" pitchFamily="2" charset="0"/>
              </a:rPr>
              <a:t>The beating of the cilia moves mucus, containing trapped particles and micro-organisms, towards the throat, where it may be coughed up or swallowed.</a:t>
            </a:r>
          </a:p>
          <a:p>
            <a:endParaRPr lang="en-US" dirty="0"/>
          </a:p>
        </p:txBody>
      </p:sp>
      <p:pic>
        <p:nvPicPr>
          <p:cNvPr id="4" name="Picture 2">
            <a:extLst>
              <a:ext uri="{FF2B5EF4-FFF2-40B4-BE49-F238E27FC236}">
                <a16:creationId xmlns:a16="http://schemas.microsoft.com/office/drawing/2014/main" id="{D553C421-F4D6-F50C-06B4-88D56E5E47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6203" y="1680556"/>
            <a:ext cx="5679825" cy="3775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6826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E75B96-DD99-F847-9146-BC88D99E0A35}"/>
              </a:ext>
            </a:extLst>
          </p:cNvPr>
          <p:cNvSpPr>
            <a:spLocks noGrp="1"/>
          </p:cNvSpPr>
          <p:nvPr>
            <p:ph type="body" sz="quarter" idx="13"/>
          </p:nvPr>
        </p:nvSpPr>
        <p:spPr/>
        <p:txBody>
          <a:bodyPr/>
          <a:lstStyle/>
          <a:p>
            <a:r>
              <a:rPr lang="en-AU" dirty="0"/>
              <a:t>Acids</a:t>
            </a:r>
            <a:endParaRPr lang="en-US" dirty="0"/>
          </a:p>
        </p:txBody>
      </p:sp>
      <p:sp>
        <p:nvSpPr>
          <p:cNvPr id="3" name="Text Placeholder 2">
            <a:extLst>
              <a:ext uri="{FF2B5EF4-FFF2-40B4-BE49-F238E27FC236}">
                <a16:creationId xmlns:a16="http://schemas.microsoft.com/office/drawing/2014/main" id="{CCB45182-13C5-0BF6-E970-9CED71BE9211}"/>
              </a:ext>
            </a:extLst>
          </p:cNvPr>
          <p:cNvSpPr>
            <a:spLocks noGrp="1"/>
          </p:cNvSpPr>
          <p:nvPr>
            <p:ph type="body" sz="quarter" idx="15"/>
          </p:nvPr>
        </p:nvSpPr>
        <p:spPr>
          <a:xfrm>
            <a:off x="280558" y="1528994"/>
            <a:ext cx="5815442" cy="5066923"/>
          </a:xfrm>
        </p:spPr>
        <p:txBody>
          <a:bodyPr>
            <a:normAutofit/>
          </a:bodyPr>
          <a:lstStyle/>
          <a:p>
            <a:pPr marL="342900" indent="-342900">
              <a:buFont typeface="Arial" panose="020B0604020202020204" pitchFamily="34" charset="0"/>
              <a:buChar char="•"/>
            </a:pPr>
            <a:r>
              <a:rPr lang="en-AU" sz="2400" dirty="0">
                <a:latin typeface="Avenir Book" panose="02000503020000020003" pitchFamily="2" charset="0"/>
              </a:rPr>
              <a:t>Stomach juices are strongly acidic. </a:t>
            </a:r>
          </a:p>
          <a:p>
            <a:pPr marL="342900" indent="-342900">
              <a:buFont typeface="Arial" panose="020B0604020202020204" pitchFamily="34" charset="0"/>
              <a:buChar char="•"/>
            </a:pPr>
            <a:r>
              <a:rPr lang="en-AU" sz="2400" dirty="0">
                <a:latin typeface="Avenir Book" panose="02000503020000020003" pitchFamily="2" charset="0"/>
              </a:rPr>
              <a:t>The acid kills many of the bacteria taken in with food or those contained in mucus swallowed from the nose and windpipe. </a:t>
            </a:r>
          </a:p>
          <a:p>
            <a:pPr marL="342900" indent="-342900">
              <a:buFont typeface="Arial" panose="020B0604020202020204" pitchFamily="34" charset="0"/>
              <a:buChar char="•"/>
            </a:pPr>
            <a:r>
              <a:rPr lang="en-AU" sz="2400" dirty="0">
                <a:latin typeface="Avenir Book" panose="02000503020000020003" pitchFamily="2" charset="0"/>
              </a:rPr>
              <a:t>The vagina also has acid secretions that reduce the growth of micro-organisms. </a:t>
            </a:r>
          </a:p>
          <a:p>
            <a:pPr marL="342900" indent="-342900">
              <a:buFont typeface="Arial" panose="020B0604020202020204" pitchFamily="34" charset="0"/>
              <a:buChar char="•"/>
            </a:pPr>
            <a:r>
              <a:rPr lang="en-AU" sz="2400" dirty="0">
                <a:latin typeface="Avenir Book" panose="02000503020000020003" pitchFamily="2" charset="0"/>
              </a:rPr>
              <a:t>Urine and the sweat on the skin are also slightly acidic. </a:t>
            </a:r>
            <a:endParaRPr lang="en-US" sz="2400" dirty="0">
              <a:latin typeface="Avenir Book" panose="02000503020000020003" pitchFamily="2" charset="0"/>
            </a:endParaRPr>
          </a:p>
        </p:txBody>
      </p:sp>
      <p:pic>
        <p:nvPicPr>
          <p:cNvPr id="4" name="Picture 2">
            <a:extLst>
              <a:ext uri="{FF2B5EF4-FFF2-40B4-BE49-F238E27FC236}">
                <a16:creationId xmlns:a16="http://schemas.microsoft.com/office/drawing/2014/main" id="{A69272FF-94DC-431A-BC0E-386ECE9BE0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3470" y="1668780"/>
            <a:ext cx="601853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5218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76026D9-DE63-6795-229D-3639DBC5C48D}"/>
              </a:ext>
            </a:extLst>
          </p:cNvPr>
          <p:cNvSpPr>
            <a:spLocks noGrp="1"/>
          </p:cNvSpPr>
          <p:nvPr>
            <p:ph type="body" sz="quarter" idx="13"/>
          </p:nvPr>
        </p:nvSpPr>
        <p:spPr/>
        <p:txBody>
          <a:bodyPr/>
          <a:lstStyle/>
          <a:p>
            <a:r>
              <a:rPr lang="en-US" dirty="0"/>
              <a:t>Lysozyme</a:t>
            </a:r>
          </a:p>
        </p:txBody>
      </p:sp>
      <p:sp>
        <p:nvSpPr>
          <p:cNvPr id="3" name="Text Placeholder 2">
            <a:extLst>
              <a:ext uri="{FF2B5EF4-FFF2-40B4-BE49-F238E27FC236}">
                <a16:creationId xmlns:a16="http://schemas.microsoft.com/office/drawing/2014/main" id="{CFAAA1A0-9616-7C7D-5433-99252F4FE221}"/>
              </a:ext>
            </a:extLst>
          </p:cNvPr>
          <p:cNvSpPr>
            <a:spLocks noGrp="1"/>
          </p:cNvSpPr>
          <p:nvPr>
            <p:ph type="body" sz="quarter" idx="15"/>
          </p:nvPr>
        </p:nvSpPr>
        <p:spPr>
          <a:xfrm>
            <a:off x="280558" y="1528994"/>
            <a:ext cx="6075637" cy="5066923"/>
          </a:xfrm>
        </p:spPr>
        <p:txBody>
          <a:bodyPr>
            <a:normAutofit/>
          </a:bodyPr>
          <a:lstStyle/>
          <a:p>
            <a:pPr marL="342900" indent="-342900">
              <a:buFont typeface="Arial" panose="020B0604020202020204" pitchFamily="34" charset="0"/>
              <a:buChar char="•"/>
            </a:pPr>
            <a:r>
              <a:rPr lang="en-AU" sz="2400" dirty="0">
                <a:latin typeface="Avenir Book" panose="02000503020000020003" pitchFamily="2" charset="0"/>
              </a:rPr>
              <a:t>Lysozyme is an enzyme that kills bacteria. </a:t>
            </a:r>
          </a:p>
          <a:p>
            <a:pPr marL="342900" indent="-342900">
              <a:buFont typeface="Arial" panose="020B0604020202020204" pitchFamily="34" charset="0"/>
              <a:buChar char="•"/>
            </a:pPr>
            <a:r>
              <a:rPr lang="en-AU" sz="2400" dirty="0">
                <a:latin typeface="Avenir Book" panose="02000503020000020003" pitchFamily="2" charset="0"/>
              </a:rPr>
              <a:t>The eyes are protected by the flushing action of tears, which contain this enzyme. </a:t>
            </a:r>
          </a:p>
          <a:p>
            <a:pPr marL="342900" indent="-342900">
              <a:buFont typeface="Arial" panose="020B0604020202020204" pitchFamily="34" charset="0"/>
              <a:buChar char="•"/>
            </a:pPr>
            <a:r>
              <a:rPr lang="en-AU" sz="2400" dirty="0">
                <a:latin typeface="Avenir Book" panose="02000503020000020003" pitchFamily="2" charset="0"/>
              </a:rPr>
              <a:t>Lysozyme is also found in saliva, sweat, secretions of the nose and tissue fluid.  </a:t>
            </a:r>
            <a:endParaRPr lang="en-US" sz="2400" dirty="0">
              <a:latin typeface="Avenir Book" panose="02000503020000020003" pitchFamily="2" charset="0"/>
            </a:endParaRPr>
          </a:p>
        </p:txBody>
      </p:sp>
      <p:pic>
        <p:nvPicPr>
          <p:cNvPr id="4" name="Picture 2">
            <a:extLst>
              <a:ext uri="{FF2B5EF4-FFF2-40B4-BE49-F238E27FC236}">
                <a16:creationId xmlns:a16="http://schemas.microsoft.com/office/drawing/2014/main" id="{7F975746-A040-E044-8430-7B3847EC13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3470" y="1328506"/>
            <a:ext cx="601853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9819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5A106D6-721D-5592-5B64-25DC2529E980}"/>
              </a:ext>
            </a:extLst>
          </p:cNvPr>
          <p:cNvSpPr>
            <a:spLocks noGrp="1"/>
          </p:cNvSpPr>
          <p:nvPr>
            <p:ph type="body" sz="quarter" idx="13"/>
          </p:nvPr>
        </p:nvSpPr>
        <p:spPr/>
        <p:txBody>
          <a:bodyPr/>
          <a:lstStyle/>
          <a:p>
            <a:r>
              <a:rPr lang="en-AU" dirty="0"/>
              <a:t>Cerumen</a:t>
            </a:r>
            <a:endParaRPr lang="en-US" dirty="0"/>
          </a:p>
        </p:txBody>
      </p:sp>
      <p:sp>
        <p:nvSpPr>
          <p:cNvPr id="3" name="Text Placeholder 2">
            <a:extLst>
              <a:ext uri="{FF2B5EF4-FFF2-40B4-BE49-F238E27FC236}">
                <a16:creationId xmlns:a16="http://schemas.microsoft.com/office/drawing/2014/main" id="{6668694F-E4E0-5FA3-253C-CB80833228FF}"/>
              </a:ext>
            </a:extLst>
          </p:cNvPr>
          <p:cNvSpPr>
            <a:spLocks noGrp="1"/>
          </p:cNvSpPr>
          <p:nvPr>
            <p:ph type="body" sz="quarter" idx="15"/>
          </p:nvPr>
        </p:nvSpPr>
        <p:spPr>
          <a:xfrm>
            <a:off x="280558" y="1528994"/>
            <a:ext cx="5737973" cy="5066923"/>
          </a:xfrm>
        </p:spPr>
        <p:txBody>
          <a:bodyPr>
            <a:normAutofit/>
          </a:bodyPr>
          <a:lstStyle/>
          <a:p>
            <a:pPr marL="285750" indent="-285750">
              <a:buFont typeface="Arial" panose="020B0604020202020204" pitchFamily="34" charset="0"/>
              <a:buChar char="•"/>
            </a:pPr>
            <a:r>
              <a:rPr lang="en-AU" sz="2400" dirty="0">
                <a:latin typeface="Avenir Book" panose="02000503020000020003" pitchFamily="2" charset="0"/>
              </a:rPr>
              <a:t>Cerumen or ear wax, protects the outer ear against infection by some bacteria. </a:t>
            </a:r>
          </a:p>
          <a:p>
            <a:pPr marL="285750" indent="-285750">
              <a:buFont typeface="Arial" panose="020B0604020202020204" pitchFamily="34" charset="0"/>
              <a:buChar char="•"/>
            </a:pPr>
            <a:r>
              <a:rPr lang="en-AU" sz="2400" dirty="0">
                <a:latin typeface="Avenir Book" panose="02000503020000020003" pitchFamily="2" charset="0"/>
              </a:rPr>
              <a:t>It is slightly acidic and contains lysozyme. </a:t>
            </a:r>
            <a:endParaRPr lang="en-US" sz="2400" dirty="0">
              <a:latin typeface="Avenir Book" panose="02000503020000020003" pitchFamily="2" charset="0"/>
            </a:endParaRPr>
          </a:p>
        </p:txBody>
      </p:sp>
      <p:pic>
        <p:nvPicPr>
          <p:cNvPr id="4" name="Picture 2">
            <a:extLst>
              <a:ext uri="{FF2B5EF4-FFF2-40B4-BE49-F238E27FC236}">
                <a16:creationId xmlns:a16="http://schemas.microsoft.com/office/drawing/2014/main" id="{9059F6B6-418D-2629-54D2-AE07A740A4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3470" y="1528994"/>
            <a:ext cx="601853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3180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67B53B-FA42-952F-2026-B4E1D35B37C5}"/>
              </a:ext>
            </a:extLst>
          </p:cNvPr>
          <p:cNvSpPr>
            <a:spLocks noGrp="1"/>
          </p:cNvSpPr>
          <p:nvPr>
            <p:ph type="body" sz="quarter" idx="13"/>
          </p:nvPr>
        </p:nvSpPr>
        <p:spPr/>
        <p:txBody>
          <a:bodyPr/>
          <a:lstStyle/>
          <a:p>
            <a:r>
              <a:rPr lang="en-AU" dirty="0"/>
              <a:t>Movement of fluid</a:t>
            </a:r>
            <a:endParaRPr lang="en-US" dirty="0"/>
          </a:p>
        </p:txBody>
      </p:sp>
      <p:sp>
        <p:nvSpPr>
          <p:cNvPr id="3" name="Text Placeholder 2">
            <a:extLst>
              <a:ext uri="{FF2B5EF4-FFF2-40B4-BE49-F238E27FC236}">
                <a16:creationId xmlns:a16="http://schemas.microsoft.com/office/drawing/2014/main" id="{A7DE4ADA-1B0F-3D7B-BEF8-BAAFB944B564}"/>
              </a:ext>
            </a:extLst>
          </p:cNvPr>
          <p:cNvSpPr>
            <a:spLocks noGrp="1"/>
          </p:cNvSpPr>
          <p:nvPr>
            <p:ph type="body" sz="quarter" idx="15"/>
          </p:nvPr>
        </p:nvSpPr>
        <p:spPr>
          <a:xfrm>
            <a:off x="280558" y="1528994"/>
            <a:ext cx="5908369" cy="5066923"/>
          </a:xfrm>
        </p:spPr>
        <p:txBody>
          <a:bodyPr>
            <a:normAutofit/>
          </a:bodyPr>
          <a:lstStyle/>
          <a:p>
            <a:pPr marL="342900" indent="-342900">
              <a:buFont typeface="Arial" panose="020B0604020202020204" pitchFamily="34" charset="0"/>
              <a:buChar char="•"/>
            </a:pPr>
            <a:r>
              <a:rPr lang="en-AU" sz="2400" dirty="0">
                <a:latin typeface="Avenir Book" panose="02000503020000020003" pitchFamily="2" charset="0"/>
              </a:rPr>
              <a:t>The flushing action of body fluids helps to keep some areas relatively free of pathogens. </a:t>
            </a:r>
          </a:p>
          <a:p>
            <a:pPr marL="342900" indent="-342900">
              <a:buFont typeface="Arial" panose="020B0604020202020204" pitchFamily="34" charset="0"/>
              <a:buChar char="•"/>
            </a:pPr>
            <a:r>
              <a:rPr lang="en-AU" sz="2400" dirty="0">
                <a:latin typeface="Avenir Book" panose="02000503020000020003" pitchFamily="2" charset="0"/>
              </a:rPr>
              <a:t>Urine flowing through the urethra has a cleansing action. </a:t>
            </a:r>
          </a:p>
          <a:p>
            <a:pPr marL="342900" indent="-342900">
              <a:buFont typeface="Arial" panose="020B0604020202020204" pitchFamily="34" charset="0"/>
              <a:buChar char="•"/>
            </a:pPr>
            <a:r>
              <a:rPr lang="en-AU" sz="2400" dirty="0">
                <a:latin typeface="Avenir Book" panose="02000503020000020003" pitchFamily="2" charset="0"/>
              </a:rPr>
              <a:t>This prevents bacterial growth and helps to stop bacteria reaching the bladder and kidneys. </a:t>
            </a:r>
          </a:p>
          <a:p>
            <a:pPr marL="342900" indent="-342900">
              <a:buFont typeface="Arial" panose="020B0604020202020204" pitchFamily="34" charset="0"/>
              <a:buChar char="•"/>
            </a:pPr>
            <a:r>
              <a:rPr lang="en-AU" sz="2400" dirty="0">
                <a:latin typeface="Avenir Book" panose="02000503020000020003" pitchFamily="2" charset="0"/>
              </a:rPr>
              <a:t>Women have a shorter urethra than men and so they tend to suffer more bladder infections. Tears, sweat and saliva are also involved in flushing and cleansing. </a:t>
            </a:r>
            <a:endParaRPr lang="en-US" sz="2400" dirty="0">
              <a:latin typeface="Avenir Book" panose="02000503020000020003" pitchFamily="2" charset="0"/>
            </a:endParaRPr>
          </a:p>
        </p:txBody>
      </p:sp>
      <p:pic>
        <p:nvPicPr>
          <p:cNvPr id="4" name="Picture 2">
            <a:extLst>
              <a:ext uri="{FF2B5EF4-FFF2-40B4-BE49-F238E27FC236}">
                <a16:creationId xmlns:a16="http://schemas.microsoft.com/office/drawing/2014/main" id="{64AAEF86-D692-C1CF-44C4-612C4D98E9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3470" y="1528994"/>
            <a:ext cx="601853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3294046"/>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5776</TotalTime>
  <Words>1010</Words>
  <Application>Microsoft Macintosh PowerPoint</Application>
  <PresentationFormat>Widescreen</PresentationFormat>
  <Paragraphs>90</Paragraphs>
  <Slides>19</Slides>
  <Notes>2</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19</vt:i4>
      </vt:variant>
    </vt:vector>
  </HeadingPairs>
  <TitlesOfParts>
    <vt:vector size="32"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2</cp:revision>
  <cp:lastPrinted>2020-06-12T23:59:38Z</cp:lastPrinted>
  <dcterms:created xsi:type="dcterms:W3CDTF">2022-05-04T15:24:25Z</dcterms:created>
  <dcterms:modified xsi:type="dcterms:W3CDTF">2022-05-10T03:45:25Z</dcterms:modified>
</cp:coreProperties>
</file>
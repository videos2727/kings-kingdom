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11"/>
  </p:notesMasterIdLst>
  <p:sldIdLst>
    <p:sldId id="301" r:id="rId6"/>
    <p:sldId id="555" r:id="rId7"/>
    <p:sldId id="564" r:id="rId8"/>
    <p:sldId id="565" r:id="rId9"/>
    <p:sldId id="55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p:restoredTop sz="86391"/>
  </p:normalViewPr>
  <p:slideViewPr>
    <p:cSldViewPr snapToGrid="0" snapToObjects="1">
      <p:cViewPr varScale="1">
        <p:scale>
          <a:sx n="115" d="100"/>
          <a:sy n="115" d="100"/>
        </p:scale>
        <p:origin x="224" y="25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5/16/22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2198206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5</a:t>
            </a:fld>
            <a:endParaRPr lang="en-AU"/>
          </a:p>
        </p:txBody>
      </p:sp>
    </p:spTree>
    <p:extLst>
      <p:ext uri="{BB962C8B-B14F-4D97-AF65-F5344CB8AC3E}">
        <p14:creationId xmlns:p14="http://schemas.microsoft.com/office/powerpoint/2010/main" val="19147534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5/16/22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5/16/22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5/16/22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5/16/22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5/16/22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5/16/22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5/16/22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5/16/22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5/16/22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5/16/22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5/16/22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5/16/22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5/16/22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5/16/22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5.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5/16/22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dirty="0"/>
              <a:t>Antibody-mediated immunity</a:t>
            </a:r>
          </a:p>
          <a:p>
            <a:endParaRPr lang="en-AU" sz="3400" dirty="0"/>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1457258" cy="5393007"/>
          </a:xfrm>
        </p:spPr>
        <p:txBody>
          <a:bodyPr>
            <a:normAutofit/>
          </a:bodyPr>
          <a:lstStyle/>
          <a:p>
            <a:r>
              <a:rPr lang="en-AU" sz="2400" b="1" dirty="0">
                <a:latin typeface="Avenir Book" panose="02000503020000020003" pitchFamily="2" charset="0"/>
              </a:rPr>
              <a:t>Antibody-mediated immunity: </a:t>
            </a:r>
            <a:r>
              <a:rPr lang="en-AU" sz="2400" dirty="0">
                <a:latin typeface="Avenir Book" panose="02000503020000020003" pitchFamily="2" charset="0"/>
              </a:rPr>
              <a:t>refers to the production and release of antibodies into the body fluids. This occurs before the pathogen can enter the body cells, and involves the following process:</a:t>
            </a:r>
          </a:p>
          <a:p>
            <a:pPr marL="457200" indent="-457200">
              <a:buAutoNum type="arabicPeriod"/>
            </a:pPr>
            <a:r>
              <a:rPr lang="en-AU" sz="2400" dirty="0">
                <a:latin typeface="Avenir Book" panose="02000503020000020003" pitchFamily="2" charset="0"/>
              </a:rPr>
              <a:t>The antigen activates a specific type of B-cell in the lymphoid tissue (a different B-cell exists for each antigen). </a:t>
            </a:r>
          </a:p>
          <a:p>
            <a:r>
              <a:rPr lang="en-AU" sz="2400" dirty="0">
                <a:latin typeface="Avenir Book" panose="02000503020000020003" pitchFamily="2" charset="0"/>
              </a:rPr>
              <a:t>2. This triggers to B-cell to divide into a group of cells called a </a:t>
            </a:r>
            <a:r>
              <a:rPr lang="en-AU" sz="2400" b="1" dirty="0">
                <a:latin typeface="Avenir Book" panose="02000503020000020003" pitchFamily="2" charset="0"/>
              </a:rPr>
              <a:t>clone</a:t>
            </a:r>
            <a:r>
              <a:rPr lang="en-AU" sz="2400" dirty="0">
                <a:latin typeface="Avenir Book" panose="02000503020000020003" pitchFamily="2" charset="0"/>
              </a:rPr>
              <a:t>. </a:t>
            </a:r>
          </a:p>
          <a:p>
            <a:pPr marL="285750" indent="-285750">
              <a:buFont typeface="Arial" panose="020B0604020202020204" pitchFamily="34" charset="0"/>
              <a:buChar char="•"/>
            </a:pPr>
            <a:r>
              <a:rPr lang="en-AU" sz="2400" dirty="0">
                <a:latin typeface="Avenir Book" panose="02000503020000020003" pitchFamily="2" charset="0"/>
              </a:rPr>
              <a:t>Some of the cells are now referred to as </a:t>
            </a:r>
            <a:r>
              <a:rPr lang="en-AU" sz="2400" b="1" dirty="0">
                <a:latin typeface="Avenir Book" panose="02000503020000020003" pitchFamily="2" charset="0"/>
              </a:rPr>
              <a:t>plasma cells</a:t>
            </a:r>
            <a:r>
              <a:rPr lang="en-AU" sz="2400" dirty="0">
                <a:latin typeface="Avenir Book" panose="02000503020000020003" pitchFamily="2" charset="0"/>
              </a:rPr>
              <a:t>. </a:t>
            </a:r>
          </a:p>
          <a:p>
            <a:pPr marL="285750" indent="-285750">
              <a:buFont typeface="Arial" panose="020B0604020202020204" pitchFamily="34" charset="0"/>
              <a:buChar char="•"/>
            </a:pPr>
            <a:r>
              <a:rPr lang="en-AU" sz="2400" dirty="0">
                <a:latin typeface="Avenir Book" panose="02000503020000020003" pitchFamily="2" charset="0"/>
              </a:rPr>
              <a:t>Some of the cells are called </a:t>
            </a:r>
            <a:r>
              <a:rPr lang="en-AU" sz="2400" b="1" dirty="0">
                <a:latin typeface="Avenir Book" panose="02000503020000020003" pitchFamily="2" charset="0"/>
              </a:rPr>
              <a:t>memory cells </a:t>
            </a:r>
            <a:r>
              <a:rPr lang="en-AU" sz="2400" dirty="0">
                <a:latin typeface="Avenir Book" panose="02000503020000020003" pitchFamily="2" charset="0"/>
              </a:rPr>
              <a:t>- these cells remain in the body after the response and allow a faster, stronger response to the antigen if it ever enters the body again.</a:t>
            </a:r>
          </a:p>
          <a:p>
            <a:r>
              <a:rPr lang="en-AU" sz="2400" dirty="0">
                <a:latin typeface="Avenir Book" panose="02000503020000020003" pitchFamily="2" charset="0"/>
              </a:rPr>
              <a:t>3. The plasma cells secrete the antibody that can combine with the antigen, which then circulates through the body fluids until reaching a point of interest.</a:t>
            </a:r>
          </a:p>
          <a:p>
            <a:r>
              <a:rPr lang="en-AU" sz="2400" dirty="0">
                <a:latin typeface="Avenir Book" panose="02000503020000020003" pitchFamily="2" charset="0"/>
              </a:rPr>
              <a:t>4. The antibody combines with the antigen to form the antigen-antibody complex.</a:t>
            </a:r>
          </a:p>
          <a:p>
            <a:endParaRPr lang="en-AU" dirty="0"/>
          </a:p>
        </p:txBody>
      </p:sp>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linds(horizontal)">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dirty="0"/>
              <a:t>4.5.2 Cell-mediated immunity </a:t>
            </a:r>
            <a:endParaRPr lang="en-AU" sz="3200" dirty="0">
              <a:solidFill>
                <a:srgbClr val="004D95"/>
              </a:solidFill>
            </a:endParaRP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11584341" cy="4756305"/>
          </a:xfrm>
        </p:spPr>
        <p:txBody>
          <a:bodyPr>
            <a:normAutofit/>
          </a:bodyPr>
          <a:lstStyle/>
          <a:p>
            <a:r>
              <a:rPr lang="en-AU" sz="2200" b="1" dirty="0">
                <a:latin typeface="Avenir Book" panose="02000503020000020003" pitchFamily="2" charset="0"/>
              </a:rPr>
              <a:t>Cell-mediated immunity: </a:t>
            </a:r>
            <a:r>
              <a:rPr lang="en-AU" sz="2200" dirty="0">
                <a:latin typeface="Avenir Book" panose="02000503020000020003" pitchFamily="2" charset="0"/>
              </a:rPr>
              <a:t>refers to the production and release of three different kinds of cells. This occurs in the intracellular stage of infection:</a:t>
            </a:r>
          </a:p>
          <a:p>
            <a:r>
              <a:rPr lang="en-AU" sz="2200" dirty="0">
                <a:latin typeface="Avenir Book" panose="02000503020000020003" pitchFamily="2" charset="0"/>
              </a:rPr>
              <a:t>1. The antigen is presented to a specific T-cell (again, different antigens have a specific macrophage or B-cells.</a:t>
            </a:r>
          </a:p>
          <a:p>
            <a:r>
              <a:rPr lang="en-AU" sz="2200" dirty="0">
                <a:latin typeface="Avenir Book" panose="02000503020000020003" pitchFamily="2" charset="0"/>
              </a:rPr>
              <a:t>2. The T-cell is </a:t>
            </a:r>
            <a:r>
              <a:rPr lang="en-AU" sz="2200" b="1" dirty="0">
                <a:latin typeface="Avenir Book" panose="02000503020000020003" pitchFamily="2" charset="0"/>
              </a:rPr>
              <a:t>sensitised</a:t>
            </a:r>
            <a:r>
              <a:rPr lang="en-AU" sz="2200" dirty="0">
                <a:latin typeface="Avenir Book" panose="02000503020000020003" pitchFamily="2" charset="0"/>
              </a:rPr>
              <a:t> and hence divides into a clone.</a:t>
            </a:r>
          </a:p>
          <a:p>
            <a:pPr marL="342900" indent="-342900">
              <a:buFont typeface="Arial" panose="020B0604020202020204" pitchFamily="34" charset="0"/>
              <a:buChar char="•"/>
            </a:pPr>
            <a:r>
              <a:rPr lang="en-AU" sz="2200" dirty="0">
                <a:latin typeface="Avenir Book" panose="02000503020000020003" pitchFamily="2" charset="0"/>
              </a:rPr>
              <a:t>Some of the cells of the clone are memory cells.</a:t>
            </a:r>
          </a:p>
          <a:p>
            <a:pPr marL="342900" indent="-342900">
              <a:buFont typeface="Arial" panose="020B0604020202020204" pitchFamily="34" charset="0"/>
              <a:buChar char="•"/>
            </a:pPr>
            <a:r>
              <a:rPr lang="en-AU" sz="2200" dirty="0">
                <a:latin typeface="Avenir Book" panose="02000503020000020003" pitchFamily="2" charset="0"/>
              </a:rPr>
              <a:t>The rest of the cells are further developed T-cells with specialised functions: </a:t>
            </a:r>
          </a:p>
          <a:p>
            <a:pPr marL="457200" lvl="1" indent="0">
              <a:buNone/>
            </a:pPr>
            <a:r>
              <a:rPr lang="en-AU" sz="2200" dirty="0">
                <a:latin typeface="Avenir Book" panose="02000503020000020003" pitchFamily="2" charset="0"/>
              </a:rPr>
              <a:t>- </a:t>
            </a:r>
            <a:r>
              <a:rPr lang="en-AU" sz="2200" b="1" dirty="0">
                <a:latin typeface="Avenir Book" panose="02000503020000020003" pitchFamily="2" charset="0"/>
              </a:rPr>
              <a:t>Killer T-cells: </a:t>
            </a:r>
            <a:r>
              <a:rPr lang="en-AU" sz="2200" dirty="0">
                <a:latin typeface="Avenir Book" panose="02000503020000020003" pitchFamily="2" charset="0"/>
              </a:rPr>
              <a:t>destroy the invading antigen by attaching to the antigen, and secreting substances that kill it.</a:t>
            </a:r>
          </a:p>
          <a:p>
            <a:pPr marL="457200" lvl="1" indent="0">
              <a:buNone/>
            </a:pPr>
            <a:r>
              <a:rPr lang="en-AU" sz="2200" dirty="0">
                <a:latin typeface="Avenir Book" panose="02000503020000020003" pitchFamily="2" charset="0"/>
              </a:rPr>
              <a:t>- </a:t>
            </a:r>
            <a:r>
              <a:rPr lang="en-AU" sz="2200" b="1" dirty="0">
                <a:latin typeface="Avenir Book" panose="02000503020000020003" pitchFamily="2" charset="0"/>
              </a:rPr>
              <a:t>Helper T-cells: </a:t>
            </a:r>
            <a:r>
              <a:rPr lang="en-AU" sz="2200" dirty="0">
                <a:latin typeface="Avenir Book" panose="02000503020000020003" pitchFamily="2" charset="0"/>
              </a:rPr>
              <a:t>secrete substances that further sensitise T-cells; attract macrophages to the point of infection and increase their phagocytic activity.</a:t>
            </a:r>
          </a:p>
          <a:p>
            <a:pPr marL="457200" lvl="1" indent="0">
              <a:buNone/>
            </a:pPr>
            <a:r>
              <a:rPr lang="en-AU" sz="2200" dirty="0">
                <a:latin typeface="Avenir Book" panose="02000503020000020003" pitchFamily="2" charset="0"/>
              </a:rPr>
              <a:t>- </a:t>
            </a:r>
            <a:r>
              <a:rPr lang="en-AU" sz="2200" b="1" dirty="0">
                <a:latin typeface="Avenir Book" panose="02000503020000020003" pitchFamily="2" charset="0"/>
              </a:rPr>
              <a:t>Suppressor T-cells: </a:t>
            </a:r>
            <a:r>
              <a:rPr lang="en-AU" sz="2200" dirty="0">
                <a:latin typeface="Avenir Book" panose="02000503020000020003" pitchFamily="2" charset="0"/>
              </a:rPr>
              <a:t>secrete substances that inhibit the actions of the T-cells once the infection has been dealt with.</a:t>
            </a:r>
            <a:endParaRPr lang="en-AU" sz="2400" dirty="0"/>
          </a:p>
          <a:p>
            <a:endParaRPr lang="en-AU" sz="2400" dirty="0"/>
          </a:p>
        </p:txBody>
      </p:sp>
    </p:spTree>
    <p:extLst>
      <p:ext uri="{BB962C8B-B14F-4D97-AF65-F5344CB8AC3E}">
        <p14:creationId xmlns:p14="http://schemas.microsoft.com/office/powerpoint/2010/main" val="2771123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527494-FE42-13C4-03E7-EFB7DAC9CA0D}"/>
              </a:ext>
            </a:extLst>
          </p:cNvPr>
          <p:cNvSpPr>
            <a:spLocks noGrp="1"/>
          </p:cNvSpPr>
          <p:nvPr>
            <p:ph type="body" sz="quarter" idx="13"/>
          </p:nvPr>
        </p:nvSpPr>
        <p:spPr/>
        <p:txBody>
          <a:bodyPr/>
          <a:lstStyle/>
          <a:p>
            <a:r>
              <a:rPr lang="en-US" b="1" dirty="0" err="1"/>
              <a:t>Immunisation</a:t>
            </a:r>
            <a:r>
              <a:rPr lang="en-US" b="1" dirty="0"/>
              <a:t> and Vaccination</a:t>
            </a:r>
          </a:p>
        </p:txBody>
      </p:sp>
      <p:sp>
        <p:nvSpPr>
          <p:cNvPr id="3" name="Text Placeholder 2">
            <a:extLst>
              <a:ext uri="{FF2B5EF4-FFF2-40B4-BE49-F238E27FC236}">
                <a16:creationId xmlns:a16="http://schemas.microsoft.com/office/drawing/2014/main" id="{6AA6B105-830F-E0F1-02DF-2D5E7396F7AD}"/>
              </a:ext>
            </a:extLst>
          </p:cNvPr>
          <p:cNvSpPr>
            <a:spLocks noGrp="1"/>
          </p:cNvSpPr>
          <p:nvPr>
            <p:ph type="body" sz="quarter" idx="15"/>
          </p:nvPr>
        </p:nvSpPr>
        <p:spPr/>
        <p:txBody>
          <a:bodyPr>
            <a:normAutofit/>
          </a:bodyPr>
          <a:lstStyle/>
          <a:p>
            <a:r>
              <a:rPr lang="en-AU" sz="2400" dirty="0">
                <a:latin typeface="Avenir Book" panose="02000503020000020003" pitchFamily="2" charset="0"/>
              </a:rPr>
              <a:t>Immunisation is the process by which the immune system can be programmed to respond rapidly to infection. Vaccination is the means through which immunisation occurs artificially. There are four main types of vaccines:</a:t>
            </a:r>
          </a:p>
          <a:p>
            <a:pPr marL="285750" indent="-285750">
              <a:buFont typeface="Arial" panose="020B0604020202020204" pitchFamily="34" charset="0"/>
              <a:buChar char="•"/>
            </a:pPr>
            <a:r>
              <a:rPr lang="en-AU" sz="2400" b="1" dirty="0">
                <a:latin typeface="Avenir Book" panose="02000503020000020003" pitchFamily="2" charset="0"/>
              </a:rPr>
              <a:t>Attenuated micro-organisms: </a:t>
            </a:r>
            <a:r>
              <a:rPr lang="en-AU" sz="2400" dirty="0">
                <a:latin typeface="Avenir Book" panose="02000503020000020003" pitchFamily="2" charset="0"/>
              </a:rPr>
              <a:t>antigen is modified to be of reduced virulence (this means they are less potent, and hence less able to produce symptoms of disease).</a:t>
            </a:r>
          </a:p>
          <a:p>
            <a:pPr marL="285750" indent="-285750">
              <a:buFont typeface="Arial" panose="020B0604020202020204" pitchFamily="34" charset="0"/>
              <a:buChar char="•"/>
            </a:pPr>
            <a:r>
              <a:rPr lang="en-AU" sz="2400" b="1" dirty="0">
                <a:latin typeface="Avenir Book" panose="02000503020000020003" pitchFamily="2" charset="0"/>
              </a:rPr>
              <a:t>Dead micro-organisms</a:t>
            </a:r>
            <a:r>
              <a:rPr lang="en-AU" sz="2400" dirty="0">
                <a:latin typeface="Avenir Book" panose="02000503020000020003" pitchFamily="2" charset="0"/>
              </a:rPr>
              <a:t>. </a:t>
            </a:r>
          </a:p>
          <a:p>
            <a:pPr marL="285750" indent="-285750">
              <a:buFont typeface="Arial" panose="020B0604020202020204" pitchFamily="34" charset="0"/>
              <a:buChar char="•"/>
            </a:pPr>
            <a:r>
              <a:rPr lang="en-AU" sz="2400" b="1" dirty="0">
                <a:latin typeface="Avenir Book" panose="02000503020000020003" pitchFamily="2" charset="0"/>
              </a:rPr>
              <a:t>Toxoids: </a:t>
            </a:r>
            <a:r>
              <a:rPr lang="en-AU" sz="2400" dirty="0">
                <a:latin typeface="Avenir Book" panose="02000503020000020003" pitchFamily="2" charset="0"/>
              </a:rPr>
              <a:t>inactivated toxins produced by bacteria.</a:t>
            </a:r>
          </a:p>
          <a:p>
            <a:pPr marL="285750" indent="-285750">
              <a:buFont typeface="Arial" panose="020B0604020202020204" pitchFamily="34" charset="0"/>
              <a:buChar char="•"/>
            </a:pPr>
            <a:r>
              <a:rPr lang="en-AU" sz="2400" b="1" dirty="0">
                <a:latin typeface="Avenir Book" panose="02000503020000020003" pitchFamily="2" charset="0"/>
              </a:rPr>
              <a:t>Subunit: </a:t>
            </a:r>
            <a:r>
              <a:rPr lang="en-AU" sz="2400" dirty="0">
                <a:latin typeface="Avenir Book" panose="02000503020000020003" pitchFamily="2" charset="0"/>
              </a:rPr>
              <a:t>contains fragments of the micro-organism.</a:t>
            </a:r>
            <a:endParaRPr lang="en-US" sz="2400" dirty="0">
              <a:latin typeface="Avenir Book" panose="02000503020000020003" pitchFamily="2" charset="0"/>
            </a:endParaRPr>
          </a:p>
        </p:txBody>
      </p:sp>
    </p:spTree>
    <p:extLst>
      <p:ext uri="{BB962C8B-B14F-4D97-AF65-F5344CB8AC3E}">
        <p14:creationId xmlns:p14="http://schemas.microsoft.com/office/powerpoint/2010/main" val="2305760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FFAC5B-59A0-9209-C926-8F6EE9BCB8F0}"/>
              </a:ext>
            </a:extLst>
          </p:cNvPr>
          <p:cNvSpPr>
            <a:spLocks noGrp="1"/>
          </p:cNvSpPr>
          <p:nvPr>
            <p:ph type="body" sz="quarter" idx="13"/>
          </p:nvPr>
        </p:nvSpPr>
        <p:spPr/>
        <p:txBody>
          <a:bodyPr/>
          <a:lstStyle/>
          <a:p>
            <a:r>
              <a:rPr lang="en-AU" dirty="0"/>
              <a:t>Antibiotics and antivirals </a:t>
            </a:r>
            <a:endParaRPr lang="en-US" dirty="0"/>
          </a:p>
        </p:txBody>
      </p:sp>
      <p:sp>
        <p:nvSpPr>
          <p:cNvPr id="3" name="Text Placeholder 2">
            <a:extLst>
              <a:ext uri="{FF2B5EF4-FFF2-40B4-BE49-F238E27FC236}">
                <a16:creationId xmlns:a16="http://schemas.microsoft.com/office/drawing/2014/main" id="{0C5FA08C-DF6B-905D-AB38-7F01037EE23D}"/>
              </a:ext>
            </a:extLst>
          </p:cNvPr>
          <p:cNvSpPr>
            <a:spLocks noGrp="1"/>
          </p:cNvSpPr>
          <p:nvPr>
            <p:ph type="body" sz="quarter" idx="15"/>
          </p:nvPr>
        </p:nvSpPr>
        <p:spPr/>
        <p:txBody>
          <a:bodyPr/>
          <a:lstStyle/>
          <a:p>
            <a:r>
              <a:rPr lang="en-AU" sz="2400" dirty="0">
                <a:latin typeface="Avenir Book" panose="02000503020000020003" pitchFamily="2" charset="0"/>
              </a:rPr>
              <a:t>Antibiotics are used to eliminate infection produced by bacterial cells invading the body. </a:t>
            </a:r>
          </a:p>
          <a:p>
            <a:r>
              <a:rPr lang="en-AU" sz="2400" dirty="0">
                <a:latin typeface="Avenir Book" panose="02000503020000020003" pitchFamily="2" charset="0"/>
              </a:rPr>
              <a:t>There are two main kinds of antibiotic: </a:t>
            </a:r>
          </a:p>
          <a:p>
            <a:r>
              <a:rPr lang="en-AU" sz="2400" b="1" dirty="0">
                <a:latin typeface="Avenir Book" panose="02000503020000020003" pitchFamily="2" charset="0"/>
              </a:rPr>
              <a:t>Bactericidal: </a:t>
            </a:r>
            <a:r>
              <a:rPr lang="en-AU" sz="2400" dirty="0">
                <a:latin typeface="Avenir Book" panose="02000503020000020003" pitchFamily="2" charset="0"/>
              </a:rPr>
              <a:t>change cell wall or plasma membrane structure; prevent actions of enzymes</a:t>
            </a:r>
          </a:p>
          <a:p>
            <a:r>
              <a:rPr lang="en-AU" sz="2400" b="1" dirty="0">
                <a:latin typeface="Avenir Book" panose="02000503020000020003" pitchFamily="2" charset="0"/>
              </a:rPr>
              <a:t>Bacteriostatic: </a:t>
            </a:r>
            <a:r>
              <a:rPr lang="en-AU" sz="2400" dirty="0">
                <a:latin typeface="Avenir Book" panose="02000503020000020003" pitchFamily="2" charset="0"/>
              </a:rPr>
              <a:t>stop reproduction; disrupt protein synthesis</a:t>
            </a:r>
          </a:p>
          <a:p>
            <a:endParaRPr lang="en-AU" sz="2400" dirty="0">
              <a:latin typeface="Avenir Book" panose="02000503020000020003" pitchFamily="2" charset="0"/>
            </a:endParaRPr>
          </a:p>
          <a:p>
            <a:r>
              <a:rPr lang="en-AU" sz="2400" dirty="0">
                <a:latin typeface="Avenir Book" panose="02000503020000020003" pitchFamily="2" charset="0"/>
              </a:rPr>
              <a:t>They can also be categorised by the number of types of bacteria they attack:</a:t>
            </a:r>
            <a:endParaRPr lang="en-AU" sz="2400" b="1" dirty="0">
              <a:latin typeface="Avenir Book" panose="02000503020000020003" pitchFamily="2" charset="0"/>
            </a:endParaRPr>
          </a:p>
          <a:p>
            <a:r>
              <a:rPr lang="en-AU" sz="2400" b="1" dirty="0">
                <a:latin typeface="Avenir Book" panose="02000503020000020003" pitchFamily="2" charset="0"/>
              </a:rPr>
              <a:t>Broad spectrum: </a:t>
            </a:r>
            <a:r>
              <a:rPr lang="en-AU" sz="2400" dirty="0">
                <a:latin typeface="Avenir Book" panose="02000503020000020003" pitchFamily="2" charset="0"/>
              </a:rPr>
              <a:t>fight against a wide range of bacterial cells</a:t>
            </a:r>
          </a:p>
          <a:p>
            <a:r>
              <a:rPr lang="en-AU" sz="2400" b="1" dirty="0">
                <a:latin typeface="Avenir Book" panose="02000503020000020003" pitchFamily="2" charset="0"/>
              </a:rPr>
              <a:t>Narrow spectrum: </a:t>
            </a:r>
            <a:r>
              <a:rPr lang="en-AU" sz="2400" dirty="0">
                <a:latin typeface="Avenir Book" panose="02000503020000020003" pitchFamily="2" charset="0"/>
              </a:rPr>
              <a:t>fight against specific types of bacterial cells</a:t>
            </a:r>
          </a:p>
          <a:p>
            <a:endParaRPr lang="en-US" dirty="0"/>
          </a:p>
        </p:txBody>
      </p:sp>
    </p:spTree>
    <p:extLst>
      <p:ext uri="{BB962C8B-B14F-4D97-AF65-F5344CB8AC3E}">
        <p14:creationId xmlns:p14="http://schemas.microsoft.com/office/powerpoint/2010/main" val="349456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Antivirals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63822" y="1538832"/>
            <a:ext cx="11398687" cy="4756305"/>
          </a:xfrm>
        </p:spPr>
        <p:txBody>
          <a:bodyPr>
            <a:normAutofit/>
          </a:bodyPr>
          <a:lstStyle/>
          <a:p>
            <a:r>
              <a:rPr lang="en-AU" sz="2400" dirty="0">
                <a:latin typeface="Avenir Book" panose="02000503020000020003" pitchFamily="2" charset="0"/>
              </a:rPr>
              <a:t>Antiviral drugs are used to fight against viral infections. These work by preventing the virus from developing further within the body, rather than destroying it completely. This occurs because viruses occupy host cells to replicate within the body, hence any substance that destroys viral particles will likely destroy the body cells as well.</a:t>
            </a:r>
          </a:p>
          <a:p>
            <a:endParaRPr lang="en-AU" sz="2000" dirty="0"/>
          </a:p>
          <a:p>
            <a:endParaRPr lang="en-AU" dirty="0"/>
          </a:p>
        </p:txBody>
      </p:sp>
    </p:spTree>
    <p:extLst>
      <p:ext uri="{BB962C8B-B14F-4D97-AF65-F5344CB8AC3E}">
        <p14:creationId xmlns:p14="http://schemas.microsoft.com/office/powerpoint/2010/main" val="203442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1544</TotalTime>
  <Words>736</Words>
  <Application>Microsoft Macintosh PowerPoint</Application>
  <PresentationFormat>Widescreen</PresentationFormat>
  <Paragraphs>42</Paragraphs>
  <Slides>5</Slides>
  <Notes>3</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5</vt:i4>
      </vt:variant>
    </vt:vector>
  </HeadingPairs>
  <TitlesOfParts>
    <vt:vector size="18"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1</cp:revision>
  <cp:lastPrinted>2020-06-12T23:59:38Z</cp:lastPrinted>
  <dcterms:created xsi:type="dcterms:W3CDTF">2022-05-16T14:07:18Z</dcterms:created>
  <dcterms:modified xsi:type="dcterms:W3CDTF">2022-05-17T15:51:35Z</dcterms:modified>
</cp:coreProperties>
</file>
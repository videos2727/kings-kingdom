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0" r:id="rId1"/>
    <p:sldMasterId id="2147483733" r:id="rId2"/>
    <p:sldMasterId id="2147483748" r:id="rId3"/>
    <p:sldMasterId id="2147483757" r:id="rId4"/>
    <p:sldMasterId id="2147483774" r:id="rId5"/>
  </p:sldMasterIdLst>
  <p:notesMasterIdLst>
    <p:notesMasterId r:id="rId17"/>
  </p:notesMasterIdLst>
  <p:sldIdLst>
    <p:sldId id="313" r:id="rId6"/>
    <p:sldId id="275" r:id="rId7"/>
    <p:sldId id="301" r:id="rId8"/>
    <p:sldId id="564" r:id="rId9"/>
    <p:sldId id="566" r:id="rId10"/>
    <p:sldId id="567" r:id="rId11"/>
    <p:sldId id="568" r:id="rId12"/>
    <p:sldId id="569" r:id="rId13"/>
    <p:sldId id="570" r:id="rId14"/>
    <p:sldId id="565" r:id="rId15"/>
    <p:sldId id="55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oran Groznica" initials="ZG" lastIdx="2" clrIdx="0">
    <p:extLst>
      <p:ext uri="{19B8F6BF-5375-455C-9EA6-DF929625EA0E}">
        <p15:presenceInfo xmlns:p15="http://schemas.microsoft.com/office/powerpoint/2012/main" userId="3fde8f81ab5e8c4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4D95"/>
    <a:srgbClr val="1991AC"/>
    <a:srgbClr val="00C0B4"/>
    <a:srgbClr val="00DC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532"/>
    <p:restoredTop sz="86391"/>
  </p:normalViewPr>
  <p:slideViewPr>
    <p:cSldViewPr snapToGrid="0" snapToObjects="1">
      <p:cViewPr>
        <p:scale>
          <a:sx n="97" d="100"/>
          <a:sy n="97" d="100"/>
        </p:scale>
        <p:origin x="912" y="62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commentAuthors" Target="commentAuthors.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97670B-01DE-304A-B5E0-CEAA57CA1308}" type="datetimeFigureOut">
              <a:rPr lang="en-US" smtClean="0"/>
              <a:t>5/13/22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6D6F03-C114-7440-A578-13B07E7D8E06}" type="slidenum">
              <a:rPr lang="en-US" smtClean="0"/>
              <a:t>‹#›</a:t>
            </a:fld>
            <a:endParaRPr lang="en-US"/>
          </a:p>
        </p:txBody>
      </p:sp>
    </p:spTree>
    <p:extLst>
      <p:ext uri="{BB962C8B-B14F-4D97-AF65-F5344CB8AC3E}">
        <p14:creationId xmlns:p14="http://schemas.microsoft.com/office/powerpoint/2010/main" val="2321234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6D6F03-C114-7440-A578-13B07E7D8E06}" type="slidenum">
              <a:rPr lang="en-US" smtClean="0"/>
              <a:t>1</a:t>
            </a:fld>
            <a:endParaRPr lang="en-US"/>
          </a:p>
        </p:txBody>
      </p:sp>
    </p:spTree>
    <p:extLst>
      <p:ext uri="{BB962C8B-B14F-4D97-AF65-F5344CB8AC3E}">
        <p14:creationId xmlns:p14="http://schemas.microsoft.com/office/powerpoint/2010/main" val="3745347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2</a:t>
            </a:fld>
            <a:endParaRPr lang="en-AU"/>
          </a:p>
        </p:txBody>
      </p:sp>
    </p:spTree>
    <p:extLst>
      <p:ext uri="{BB962C8B-B14F-4D97-AF65-F5344CB8AC3E}">
        <p14:creationId xmlns:p14="http://schemas.microsoft.com/office/powerpoint/2010/main" val="527230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3</a:t>
            </a:fld>
            <a:endParaRPr lang="en-AU"/>
          </a:p>
        </p:txBody>
      </p:sp>
    </p:spTree>
    <p:extLst>
      <p:ext uri="{BB962C8B-B14F-4D97-AF65-F5344CB8AC3E}">
        <p14:creationId xmlns:p14="http://schemas.microsoft.com/office/powerpoint/2010/main" val="15108502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CFU –</a:t>
            </a:r>
            <a:r>
              <a:rPr lang="en-AU" baseline="0" dirty="0"/>
              <a:t> read through the slide, have students look closely at the diagram, then allow think time, before asking them to explain it to their partner using the key terms </a:t>
            </a:r>
            <a:r>
              <a:rPr lang="en-AU" b="1" baseline="0" dirty="0"/>
              <a:t>pure substance</a:t>
            </a:r>
            <a:r>
              <a:rPr lang="en-AU" b="0" baseline="0" dirty="0"/>
              <a:t> and </a:t>
            </a:r>
            <a:r>
              <a:rPr lang="en-AU" b="1" baseline="0" dirty="0"/>
              <a:t>mixture. </a:t>
            </a:r>
            <a:r>
              <a:rPr lang="en-AU" b="0" baseline="0" dirty="0"/>
              <a:t>Call on non-volunteers and provide feedback, encouraging detailed responses in full sentence form.</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11</a:t>
            </a:fld>
            <a:endParaRPr lang="en-AU"/>
          </a:p>
        </p:txBody>
      </p:sp>
    </p:spTree>
    <p:extLst>
      <p:ext uri="{BB962C8B-B14F-4D97-AF65-F5344CB8AC3E}">
        <p14:creationId xmlns:p14="http://schemas.microsoft.com/office/powerpoint/2010/main" val="21982062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6" y="1011383"/>
            <a:ext cx="3011715" cy="538446"/>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DF9C2B4A-0943-CC42-BE38-4F715F7CAA2B}"/>
              </a:ext>
            </a:extLst>
          </p:cNvPr>
          <p:cNvSpPr txBox="1"/>
          <p:nvPr/>
        </p:nvSpPr>
        <p:spPr>
          <a:xfrm>
            <a:off x="517951" y="4565193"/>
            <a:ext cx="2734700" cy="1947917"/>
          </a:xfrm>
          <a:prstGeom prst="rect">
            <a:avLst/>
          </a:prstGeom>
          <a:noFill/>
        </p:spPr>
        <p:txBody>
          <a:bodyPr wrap="square" tIns="180000" rtlCol="0" anchor="t">
            <a:normAutofit/>
          </a:bodyPr>
          <a:lstStyle/>
          <a:p>
            <a:r>
              <a:rPr lang="en-US" sz="3600" b="1" i="0" dirty="0">
                <a:solidFill>
                  <a:srgbClr val="23566C"/>
                </a:solidFill>
                <a:latin typeface="Calibri" panose="020F0502020204030204" pitchFamily="34" charset="0"/>
                <a:cs typeface="Calibri" panose="020F0502020204030204" pitchFamily="34" charset="0"/>
              </a:rPr>
              <a:t>Think </a:t>
            </a:r>
          </a:p>
          <a:p>
            <a:r>
              <a:rPr lang="en-US" sz="3600" b="1" i="0" dirty="0">
                <a:solidFill>
                  <a:srgbClr val="23566C"/>
                </a:solidFill>
                <a:latin typeface="Calibri" panose="020F0502020204030204" pitchFamily="34" charset="0"/>
                <a:cs typeface="Calibri" panose="020F0502020204030204" pitchFamily="34" charset="0"/>
              </a:rPr>
              <a:t>Pair</a:t>
            </a:r>
          </a:p>
          <a:p>
            <a:r>
              <a:rPr lang="en-US" sz="3600" b="1" i="0" dirty="0">
                <a:solidFill>
                  <a:srgbClr val="23566C"/>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149365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I) Learning Objectiv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8213"/>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1218404"/>
            <a:ext cx="11577177" cy="5430940"/>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objective</a:t>
            </a:r>
          </a:p>
        </p:txBody>
      </p:sp>
    </p:spTree>
    <p:extLst>
      <p:ext uri="{BB962C8B-B14F-4D97-AF65-F5344CB8AC3E}">
        <p14:creationId xmlns:p14="http://schemas.microsoft.com/office/powerpoint/2010/main" val="2839666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145445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16018"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8551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7143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9" y="1873045"/>
            <a:ext cx="1990782"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372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053497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Concept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923569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4199996" cy="352425"/>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56394389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56878865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2320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9" y="1053881"/>
            <a:ext cx="2350999" cy="495947"/>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72556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907109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EI)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9" y="208656"/>
            <a:ext cx="1347844" cy="515262"/>
          </a:xfrm>
          <a:prstGeom prst="rect">
            <a:avLst/>
          </a:prstGeom>
          <a:solidFill>
            <a:srgbClr val="002060"/>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3918"/>
            <a:ext cx="11577177" cy="1204895"/>
          </a:xfrm>
          <a:prstGeom prst="rect">
            <a:avLst/>
          </a:prstGeom>
          <a:solidFill>
            <a:schemeClr val="accent5">
              <a:lumMod val="40000"/>
              <a:lumOff val="60000"/>
            </a:schemeClr>
          </a:solidFill>
          <a:ln>
            <a:noFill/>
          </a:ln>
        </p:spPr>
        <p:txBody>
          <a:bodyPr wrap="square" rtlCol="0" anchor="ctr">
            <a:normAutofit/>
          </a:bodyPr>
          <a:lstStyle/>
          <a:p>
            <a:r>
              <a:rPr lang="en-US" sz="6000" b="1" i="0" dirty="0">
                <a:solidFill>
                  <a:srgbClr val="002060"/>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002060"/>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5241364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I)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5515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59" name="Text Placeholder 5">
            <a:extLst>
              <a:ext uri="{FF2B5EF4-FFF2-40B4-BE49-F238E27FC236}">
                <a16:creationId xmlns:a16="http://schemas.microsoft.com/office/drawing/2014/main" id="{D065E96F-34B9-6940-8CF5-B5BC1E923DCB}"/>
              </a:ext>
            </a:extLst>
          </p:cNvPr>
          <p:cNvSpPr>
            <a:spLocks noGrp="1"/>
          </p:cNvSpPr>
          <p:nvPr>
            <p:ph type="body" sz="quarter" idx="21" hasCustomPrompt="1"/>
          </p:nvPr>
        </p:nvSpPr>
        <p:spPr>
          <a:xfrm>
            <a:off x="9644135" y="287950"/>
            <a:ext cx="2162572" cy="288424"/>
          </a:xfrm>
          <a:prstGeom prst="rect">
            <a:avLst/>
          </a:prstGeom>
          <a:solidFill>
            <a:schemeClr val="accent6">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Make the connection</a:t>
            </a:r>
            <a:endParaRPr lang="en-US" dirty="0"/>
          </a:p>
        </p:txBody>
      </p:sp>
      <p:sp>
        <p:nvSpPr>
          <p:cNvPr id="60" name="Text Placeholder 48">
            <a:extLst>
              <a:ext uri="{FF2B5EF4-FFF2-40B4-BE49-F238E27FC236}">
                <a16:creationId xmlns:a16="http://schemas.microsoft.com/office/drawing/2014/main" id="{74718A69-45DC-3349-AC14-1CB20371771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61" name="Text Placeholder 5">
            <a:extLst>
              <a:ext uri="{FF2B5EF4-FFF2-40B4-BE49-F238E27FC236}">
                <a16:creationId xmlns:a16="http://schemas.microsoft.com/office/drawing/2014/main" id="{E8F06128-C65E-E74D-8888-C3B0265B87E5}"/>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62" name="Text Placeholder 48">
            <a:extLst>
              <a:ext uri="{FF2B5EF4-FFF2-40B4-BE49-F238E27FC236}">
                <a16:creationId xmlns:a16="http://schemas.microsoft.com/office/drawing/2014/main" id="{9CC4C70C-1C88-8242-822E-8EB858DBE3EF}"/>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63" name="Text Placeholder 5">
            <a:extLst>
              <a:ext uri="{FF2B5EF4-FFF2-40B4-BE49-F238E27FC236}">
                <a16:creationId xmlns:a16="http://schemas.microsoft.com/office/drawing/2014/main" id="{DB394B8D-09B6-2D4C-A89A-411FA179F6B4}"/>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64" name="Text Placeholder 48">
            <a:extLst>
              <a:ext uri="{FF2B5EF4-FFF2-40B4-BE49-F238E27FC236}">
                <a16:creationId xmlns:a16="http://schemas.microsoft.com/office/drawing/2014/main" id="{9E7179FB-4670-E449-82E2-2342DFBACF6F}"/>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678402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Content Development</a:t>
            </a:r>
          </a:p>
        </p:txBody>
      </p:sp>
      <p:sp>
        <p:nvSpPr>
          <p:cNvPr id="21" name="Text Placeholder 5">
            <a:extLst>
              <a:ext uri="{FF2B5EF4-FFF2-40B4-BE49-F238E27FC236}">
                <a16:creationId xmlns:a16="http://schemas.microsoft.com/office/drawing/2014/main" id="{578A17B0-D745-3C43-93AB-662F15D9C14B}"/>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2" name="Text Placeholder 48">
            <a:extLst>
              <a:ext uri="{FF2B5EF4-FFF2-40B4-BE49-F238E27FC236}">
                <a16:creationId xmlns:a16="http://schemas.microsoft.com/office/drawing/2014/main" id="{C5AFB84F-2B6E-D646-B782-34B1A586BAEE}"/>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3" name="Text Placeholder 5">
            <a:extLst>
              <a:ext uri="{FF2B5EF4-FFF2-40B4-BE49-F238E27FC236}">
                <a16:creationId xmlns:a16="http://schemas.microsoft.com/office/drawing/2014/main" id="{8579A7DA-1AA6-6348-9480-0ABDE8E7E86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4" name="Text Placeholder 48">
            <a:extLst>
              <a:ext uri="{FF2B5EF4-FFF2-40B4-BE49-F238E27FC236}">
                <a16:creationId xmlns:a16="http://schemas.microsoft.com/office/drawing/2014/main" id="{3DC620B8-B5B6-A546-998D-BB0D780266B1}"/>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5" name="Text Placeholder 5">
            <a:extLst>
              <a:ext uri="{FF2B5EF4-FFF2-40B4-BE49-F238E27FC236}">
                <a16:creationId xmlns:a16="http://schemas.microsoft.com/office/drawing/2014/main" id="{33D9DD79-4FA4-9441-9CD5-FD3E0E184E3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6" name="Text Placeholder 48">
            <a:extLst>
              <a:ext uri="{FF2B5EF4-FFF2-40B4-BE49-F238E27FC236}">
                <a16:creationId xmlns:a16="http://schemas.microsoft.com/office/drawing/2014/main" id="{40DC7D38-E5DA-C74E-92F3-A6FCC9CC0E70}"/>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590460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kill Steps /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 Steps / Guided Practice</a:t>
            </a:r>
          </a:p>
        </p:txBody>
      </p:sp>
      <p:sp>
        <p:nvSpPr>
          <p:cNvPr id="22" name="Text Placeholder 5">
            <a:extLst>
              <a:ext uri="{FF2B5EF4-FFF2-40B4-BE49-F238E27FC236}">
                <a16:creationId xmlns:a16="http://schemas.microsoft.com/office/drawing/2014/main" id="{6FCF9CE4-B167-C647-830E-926D9BC11CD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3" name="Text Placeholder 48">
            <a:extLst>
              <a:ext uri="{FF2B5EF4-FFF2-40B4-BE49-F238E27FC236}">
                <a16:creationId xmlns:a16="http://schemas.microsoft.com/office/drawing/2014/main" id="{0749FB8D-5908-B440-BF2C-3B703391AAE5}"/>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4" name="Text Placeholder 5">
            <a:extLst>
              <a:ext uri="{FF2B5EF4-FFF2-40B4-BE49-F238E27FC236}">
                <a16:creationId xmlns:a16="http://schemas.microsoft.com/office/drawing/2014/main" id="{B5210779-8122-F342-AF13-26D8416493B0}"/>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5" name="Text Placeholder 48">
            <a:extLst>
              <a:ext uri="{FF2B5EF4-FFF2-40B4-BE49-F238E27FC236}">
                <a16:creationId xmlns:a16="http://schemas.microsoft.com/office/drawing/2014/main" id="{2564DDFE-656D-C84E-991A-DC05015CC956}"/>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6" name="Text Placeholder 5">
            <a:extLst>
              <a:ext uri="{FF2B5EF4-FFF2-40B4-BE49-F238E27FC236}">
                <a16:creationId xmlns:a16="http://schemas.microsoft.com/office/drawing/2014/main" id="{842EB6E0-B7AD-6C40-89B8-5521B528F9C5}"/>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7" name="Text Placeholder 48">
            <a:extLst>
              <a:ext uri="{FF2B5EF4-FFF2-40B4-BE49-F238E27FC236}">
                <a16:creationId xmlns:a16="http://schemas.microsoft.com/office/drawing/2014/main" id="{A21C2D16-2A8E-4B4B-8D58-4B389AAA67A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35781763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kills Check">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Skills Check</a:t>
            </a:r>
          </a:p>
        </p:txBody>
      </p:sp>
      <p:sp>
        <p:nvSpPr>
          <p:cNvPr id="24" name="Text Placeholder 5">
            <a:extLst>
              <a:ext uri="{FF2B5EF4-FFF2-40B4-BE49-F238E27FC236}">
                <a16:creationId xmlns:a16="http://schemas.microsoft.com/office/drawing/2014/main" id="{2D6AD4E2-8B86-1A42-B6B1-9794F63D2421}"/>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5" name="Text Placeholder 48">
            <a:extLst>
              <a:ext uri="{FF2B5EF4-FFF2-40B4-BE49-F238E27FC236}">
                <a16:creationId xmlns:a16="http://schemas.microsoft.com/office/drawing/2014/main" id="{3824608F-B525-2D45-9CFD-FDDDDC6F3A6B}"/>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6" name="Text Placeholder 5">
            <a:extLst>
              <a:ext uri="{FF2B5EF4-FFF2-40B4-BE49-F238E27FC236}">
                <a16:creationId xmlns:a16="http://schemas.microsoft.com/office/drawing/2014/main" id="{78FBBDF4-8B54-6D40-BB00-9DB79EE3BD87}"/>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7" name="Text Placeholder 48">
            <a:extLst>
              <a:ext uri="{FF2B5EF4-FFF2-40B4-BE49-F238E27FC236}">
                <a16:creationId xmlns:a16="http://schemas.microsoft.com/office/drawing/2014/main" id="{CF892DE4-0989-9F4F-B9B9-0D50497971BE}"/>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8" name="Text Placeholder 5">
            <a:extLst>
              <a:ext uri="{FF2B5EF4-FFF2-40B4-BE49-F238E27FC236}">
                <a16:creationId xmlns:a16="http://schemas.microsoft.com/office/drawing/2014/main" id="{504DAC59-2F1B-D344-B5E4-3DD118198D9F}"/>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9" name="Text Placeholder 48">
            <a:extLst>
              <a:ext uri="{FF2B5EF4-FFF2-40B4-BE49-F238E27FC236}">
                <a16:creationId xmlns:a16="http://schemas.microsoft.com/office/drawing/2014/main" id="{EA6CD3E8-8EA8-D643-BBB5-EB619A56556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135128304"/>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28" name="Text Placeholder 5">
            <a:extLst>
              <a:ext uri="{FF2B5EF4-FFF2-40B4-BE49-F238E27FC236}">
                <a16:creationId xmlns:a16="http://schemas.microsoft.com/office/drawing/2014/main" id="{476A4E78-E152-CE41-A402-F83EB570A41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9" name="Text Placeholder 48">
            <a:extLst>
              <a:ext uri="{FF2B5EF4-FFF2-40B4-BE49-F238E27FC236}">
                <a16:creationId xmlns:a16="http://schemas.microsoft.com/office/drawing/2014/main" id="{BB7D38D9-00D0-E94F-A56B-68FEB60A7FFF}"/>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30" name="Text Placeholder 5">
            <a:extLst>
              <a:ext uri="{FF2B5EF4-FFF2-40B4-BE49-F238E27FC236}">
                <a16:creationId xmlns:a16="http://schemas.microsoft.com/office/drawing/2014/main" id="{75A649CF-6F35-6240-8694-7D985FF77DF1}"/>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31" name="Text Placeholder 48">
            <a:extLst>
              <a:ext uri="{FF2B5EF4-FFF2-40B4-BE49-F238E27FC236}">
                <a16:creationId xmlns:a16="http://schemas.microsoft.com/office/drawing/2014/main" id="{73A7D846-854A-F34B-A7E6-331D90F8028C}"/>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32" name="Text Placeholder 5">
            <a:extLst>
              <a:ext uri="{FF2B5EF4-FFF2-40B4-BE49-F238E27FC236}">
                <a16:creationId xmlns:a16="http://schemas.microsoft.com/office/drawing/2014/main" id="{B421E4A7-84CE-D441-9E4B-33DE3CF3ACE2}"/>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33" name="Text Placeholder 48">
            <a:extLst>
              <a:ext uri="{FF2B5EF4-FFF2-40B4-BE49-F238E27FC236}">
                <a16:creationId xmlns:a16="http://schemas.microsoft.com/office/drawing/2014/main" id="{DC7FFA7A-C37D-F846-868C-88068206D29C}"/>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05576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8" y="1053881"/>
            <a:ext cx="2572719" cy="495947"/>
          </a:xfrm>
          <a:prstGeom prst="rect">
            <a:avLst/>
          </a:prstGeom>
          <a:solidFill>
            <a:srgbClr val="23566C"/>
          </a:solidFill>
        </p:spPr>
        <p:txBody>
          <a:bodyPr wrap="square" rtlCol="0" anchor="ctr">
            <a:noAutofit/>
          </a:bodyPr>
          <a:lstStyle/>
          <a:p>
            <a:r>
              <a:rPr lang="en-US" sz="2400" b="1" dirty="0">
                <a:solidFill>
                  <a:srgbClr val="B3FFFF"/>
                </a:solidFill>
                <a:latin typeface="Futura Medium" panose="020B0602020204020303" pitchFamily="34" charset="-79"/>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a:solidFill>
                  <a:schemeClr val="bg1"/>
                </a:solidFill>
                <a:latin typeface="Futura Medium" panose="020B0602020204020303" pitchFamily="34" charset="-79"/>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1443049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Independent Practice</a:t>
            </a:r>
          </a:p>
        </p:txBody>
      </p:sp>
      <p:sp>
        <p:nvSpPr>
          <p:cNvPr id="20" name="Text Placeholder 5">
            <a:extLst>
              <a:ext uri="{FF2B5EF4-FFF2-40B4-BE49-F238E27FC236}">
                <a16:creationId xmlns:a16="http://schemas.microsoft.com/office/drawing/2014/main" id="{2A7343F6-8A3F-024A-BAB1-A40A1A630C10}"/>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1" name="Text Placeholder 48">
            <a:extLst>
              <a:ext uri="{FF2B5EF4-FFF2-40B4-BE49-F238E27FC236}">
                <a16:creationId xmlns:a16="http://schemas.microsoft.com/office/drawing/2014/main" id="{81597401-FB89-084B-955C-A0C7FAB0243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2" name="Text Placeholder 5">
            <a:extLst>
              <a:ext uri="{FF2B5EF4-FFF2-40B4-BE49-F238E27FC236}">
                <a16:creationId xmlns:a16="http://schemas.microsoft.com/office/drawing/2014/main" id="{A82891C2-3E9D-4241-85E7-747B1595FB9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3" name="Text Placeholder 48">
            <a:extLst>
              <a:ext uri="{FF2B5EF4-FFF2-40B4-BE49-F238E27FC236}">
                <a16:creationId xmlns:a16="http://schemas.microsoft.com/office/drawing/2014/main" id="{8A690C59-B342-0648-BCE5-1C98B5A89AD7}"/>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4" name="Text Placeholder 5">
            <a:extLst>
              <a:ext uri="{FF2B5EF4-FFF2-40B4-BE49-F238E27FC236}">
                <a16:creationId xmlns:a16="http://schemas.microsoft.com/office/drawing/2014/main" id="{17B4E049-9FD5-E24B-B3BE-5C09B449C3F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5" name="Text Placeholder 48">
            <a:extLst>
              <a:ext uri="{FF2B5EF4-FFF2-40B4-BE49-F238E27FC236}">
                <a16:creationId xmlns:a16="http://schemas.microsoft.com/office/drawing/2014/main" id="{5E376940-61D8-D142-9880-9EE380DE8579}"/>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232339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Starter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611429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Icebreaker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begin the lesson…</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767689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Wrap-up</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go…</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105318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1" i="0" dirty="0">
                <a:latin typeface="Century Gothic" panose="020B0502020202020204" pitchFamily="34" charset="0"/>
              </a:rPr>
              <a:t>Reviewing what we know</a:t>
            </a: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4C223F"/>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34650356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746334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396011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08595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4C223F"/>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pPr marL="0" indent="0">
              <a:tabLst>
                <a:tab pos="3597275" algn="l"/>
              </a:tabLst>
            </a:pPr>
            <a:r>
              <a:rPr lang="en-US" sz="6000" b="1" i="0" dirty="0">
                <a:solidFill>
                  <a:srgbClr val="4C223F"/>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27007319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R)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square" rtlCol="0" anchor="ctr">
            <a:normAutofit fontScale="25000" lnSpcReduction="20000"/>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25002" y="629514"/>
            <a:ext cx="5504743"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25002" y="1772516"/>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25002" y="2922543"/>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25002" y="4072570"/>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25002" y="5201522"/>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6436836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307647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808063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8205587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7772155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12306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5/13/22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27288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S) Word List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208446"/>
            <a:ext cx="11578126" cy="1322388"/>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sz="7200" b="1" i="0" dirty="0">
                <a:latin typeface="Century Gothic" panose="020B0502020202020204" pitchFamily="34" charset="0"/>
              </a:rPr>
              <a:t>   Vocabulary &amp; Spelling</a:t>
            </a:r>
          </a:p>
        </p:txBody>
      </p:sp>
      <p:cxnSp>
        <p:nvCxnSpPr>
          <p:cNvPr id="3" name="Straight Connector 2">
            <a:extLst>
              <a:ext uri="{FF2B5EF4-FFF2-40B4-BE49-F238E27FC236}">
                <a16:creationId xmlns:a16="http://schemas.microsoft.com/office/drawing/2014/main" id="{5AD15892-5882-3341-B706-D64E5ABBDC96}"/>
              </a:ext>
            </a:extLst>
          </p:cNvPr>
          <p:cNvCxnSpPr/>
          <p:nvPr userDrawn="1"/>
        </p:nvCxnSpPr>
        <p:spPr>
          <a:xfrm>
            <a:off x="6084282" y="1771650"/>
            <a:ext cx="0" cy="4572000"/>
          </a:xfrm>
          <a:prstGeom prst="line">
            <a:avLst/>
          </a:prstGeom>
          <a:ln w="28575">
            <a:solidFill>
              <a:srgbClr val="47998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EAD6347-1222-7C40-97CD-5685C7FBB93B}"/>
              </a:ext>
            </a:extLst>
          </p:cNvPr>
          <p:cNvSpPr txBox="1"/>
          <p:nvPr userDrawn="1"/>
        </p:nvSpPr>
        <p:spPr>
          <a:xfrm>
            <a:off x="295219" y="1564481"/>
            <a:ext cx="5789063" cy="523220"/>
          </a:xfrm>
          <a:prstGeom prst="rect">
            <a:avLst/>
          </a:prstGeom>
          <a:noFill/>
        </p:spPr>
        <p:txBody>
          <a:bodyPr wrap="square" rtlCol="0">
            <a:spAutoFit/>
          </a:bodyPr>
          <a:lstStyle/>
          <a:p>
            <a:pPr algn="ctr"/>
            <a:r>
              <a:rPr lang="en-US" sz="2800" b="1" dirty="0">
                <a:solidFill>
                  <a:srgbClr val="1F443E"/>
                </a:solidFill>
              </a:rPr>
              <a:t>Practice Words</a:t>
            </a:r>
          </a:p>
        </p:txBody>
      </p:sp>
      <p:sp>
        <p:nvSpPr>
          <p:cNvPr id="8" name="TextBox 7">
            <a:extLst>
              <a:ext uri="{FF2B5EF4-FFF2-40B4-BE49-F238E27FC236}">
                <a16:creationId xmlns:a16="http://schemas.microsoft.com/office/drawing/2014/main" id="{DFC75BB7-22FA-3044-BE33-24527B15C19C}"/>
              </a:ext>
            </a:extLst>
          </p:cNvPr>
          <p:cNvSpPr txBox="1"/>
          <p:nvPr userDrawn="1"/>
        </p:nvSpPr>
        <p:spPr>
          <a:xfrm>
            <a:off x="6084282" y="1573349"/>
            <a:ext cx="5789063" cy="523220"/>
          </a:xfrm>
          <a:prstGeom prst="rect">
            <a:avLst/>
          </a:prstGeom>
          <a:noFill/>
        </p:spPr>
        <p:txBody>
          <a:bodyPr wrap="square" rtlCol="0">
            <a:spAutoFit/>
          </a:bodyPr>
          <a:lstStyle/>
          <a:p>
            <a:pPr algn="ctr"/>
            <a:r>
              <a:rPr lang="en-US" sz="2800" b="1" dirty="0">
                <a:solidFill>
                  <a:srgbClr val="1F443E"/>
                </a:solidFill>
              </a:rPr>
              <a:t>New Words</a:t>
            </a:r>
          </a:p>
        </p:txBody>
      </p:sp>
      <p:sp>
        <p:nvSpPr>
          <p:cNvPr id="10" name="Text Placeholder 9">
            <a:extLst>
              <a:ext uri="{FF2B5EF4-FFF2-40B4-BE49-F238E27FC236}">
                <a16:creationId xmlns:a16="http://schemas.microsoft.com/office/drawing/2014/main" id="{67D1519D-3B3A-A443-9C33-32137A836131}"/>
              </a:ext>
            </a:extLst>
          </p:cNvPr>
          <p:cNvSpPr>
            <a:spLocks noGrp="1"/>
          </p:cNvSpPr>
          <p:nvPr>
            <p:ph type="body" sz="quarter" idx="10" hasCustomPrompt="1"/>
          </p:nvPr>
        </p:nvSpPr>
        <p:spPr>
          <a:xfrm>
            <a:off x="295275" y="2457450"/>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known words for hyper-speed practice</a:t>
            </a:r>
          </a:p>
        </p:txBody>
      </p:sp>
      <p:sp>
        <p:nvSpPr>
          <p:cNvPr id="11" name="Text Placeholder 9">
            <a:extLst>
              <a:ext uri="{FF2B5EF4-FFF2-40B4-BE49-F238E27FC236}">
                <a16:creationId xmlns:a16="http://schemas.microsoft.com/office/drawing/2014/main" id="{3843A533-E319-DD4D-BFA7-5A1FB929CA5C}"/>
              </a:ext>
            </a:extLst>
          </p:cNvPr>
          <p:cNvSpPr>
            <a:spLocks noGrp="1"/>
          </p:cNvSpPr>
          <p:nvPr>
            <p:ph type="body" sz="quarter" idx="11" hasCustomPrompt="1"/>
          </p:nvPr>
        </p:nvSpPr>
        <p:spPr>
          <a:xfrm>
            <a:off x="6083732" y="2466318"/>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new words for learning definitions and spelling</a:t>
            </a:r>
          </a:p>
        </p:txBody>
      </p:sp>
    </p:spTree>
    <p:extLst>
      <p:ext uri="{BB962C8B-B14F-4D97-AF65-F5344CB8AC3E}">
        <p14:creationId xmlns:p14="http://schemas.microsoft.com/office/powerpoint/2010/main" val="24214471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S)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408965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S)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35105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S)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45112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S)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37882" y="629514"/>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37882" y="1772516"/>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37882" y="2915518"/>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37882" y="4058520"/>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37882" y="5201522"/>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3121826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S)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89396" y="629514"/>
            <a:ext cx="5440349"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89396" y="1772516"/>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89396" y="2915518"/>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89396" y="4058520"/>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89396" y="5201522"/>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08694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VS)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182155"/>
          </a:xfrm>
          <a:prstGeom prst="rect">
            <a:avLst/>
          </a:prstGeom>
          <a:solidFill>
            <a:srgbClr val="C1FFE1"/>
          </a:solidFill>
          <a:ln>
            <a:noFill/>
          </a:ln>
        </p:spPr>
        <p:txBody>
          <a:bodyPr wrap="square" rtlCol="0" anchor="ctr">
            <a:normAutofit/>
          </a:bodyPr>
          <a:lstStyle/>
          <a:p>
            <a:r>
              <a:rPr lang="en-US" sz="6000" b="1" i="0" dirty="0">
                <a:solidFill>
                  <a:srgbClr val="1F443E"/>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3460232"/>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the word apart</a:t>
            </a:r>
          </a:p>
        </p:txBody>
      </p:sp>
    </p:spTree>
    <p:extLst>
      <p:ext uri="{BB962C8B-B14F-4D97-AF65-F5344CB8AC3E}">
        <p14:creationId xmlns:p14="http://schemas.microsoft.com/office/powerpoint/2010/main" val="18098056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S)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972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5/13/22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103146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C)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683F84"/>
                </a:solidFill>
                <a:latin typeface="Calibri" panose="020F0502020204030204" pitchFamily="34" charset="0"/>
                <a:cs typeface="Calibri" panose="020F0502020204030204" pitchFamily="34" charset="0"/>
              </a:rPr>
              <a:t>Think </a:t>
            </a:r>
          </a:p>
          <a:p>
            <a:r>
              <a:rPr lang="en-US" sz="3600" b="1" i="0" dirty="0">
                <a:solidFill>
                  <a:srgbClr val="683F84"/>
                </a:solidFill>
                <a:latin typeface="Calibri" panose="020F0502020204030204" pitchFamily="34" charset="0"/>
                <a:cs typeface="Calibri" panose="020F0502020204030204" pitchFamily="34" charset="0"/>
              </a:rPr>
              <a:t>Pair</a:t>
            </a:r>
          </a:p>
          <a:p>
            <a:r>
              <a:rPr lang="en-US" sz="3600" b="1" i="0" dirty="0">
                <a:solidFill>
                  <a:srgbClr val="683F84"/>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2854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C)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7644547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C)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683F84"/>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952543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C)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5705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RC)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14203224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C)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946876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RC)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84283185"/>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RC)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874969655"/>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RC)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098907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RC)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54179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RC)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6793754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RC)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r>
              <a:rPr lang="en-US" sz="6000" b="1" i="0" dirty="0">
                <a:solidFill>
                  <a:srgbClr val="382248"/>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6723374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RC)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2521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5/13/22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612967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2585C-8B69-B043-B753-1A3000E352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5CEF58-0EF9-D840-9A8F-AD0FF1E4BE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86F59C-3B87-1C41-BD96-7DDB60283D1F}"/>
              </a:ext>
            </a:extLst>
          </p:cNvPr>
          <p:cNvSpPr>
            <a:spLocks noGrp="1"/>
          </p:cNvSpPr>
          <p:nvPr>
            <p:ph type="dt" sz="half" idx="10"/>
          </p:nvPr>
        </p:nvSpPr>
        <p:spPr/>
        <p:txBody>
          <a:bodyPr/>
          <a:lstStyle/>
          <a:p>
            <a:fld id="{B61BEF0D-F0BB-DE4B-95CE-6DB70DBA9567}" type="datetimeFigureOut">
              <a:rPr lang="en-US" smtClean="0"/>
              <a:pPr/>
              <a:t>5/13/22</a:t>
            </a:fld>
            <a:endParaRPr lang="en-US" dirty="0"/>
          </a:p>
        </p:txBody>
      </p:sp>
      <p:sp>
        <p:nvSpPr>
          <p:cNvPr id="5" name="Footer Placeholder 4">
            <a:extLst>
              <a:ext uri="{FF2B5EF4-FFF2-40B4-BE49-F238E27FC236}">
                <a16:creationId xmlns:a16="http://schemas.microsoft.com/office/drawing/2014/main" id="{977998FC-6D47-6449-A1F6-30E23BA727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AC17CDF-FC7F-5A44-9C47-53EAA5ED781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992569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3433-A2CE-6244-9F12-597922B28A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97E04B-808C-9F42-BF20-9FB1B64025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301CBA-4616-FD45-8717-85954893BE41}"/>
              </a:ext>
            </a:extLst>
          </p:cNvPr>
          <p:cNvSpPr>
            <a:spLocks noGrp="1"/>
          </p:cNvSpPr>
          <p:nvPr>
            <p:ph type="dt" sz="half" idx="10"/>
          </p:nvPr>
        </p:nvSpPr>
        <p:spPr/>
        <p:txBody>
          <a:bodyPr/>
          <a:lstStyle/>
          <a:p>
            <a:fld id="{B61BEF0D-F0BB-DE4B-95CE-6DB70DBA9567}" type="datetimeFigureOut">
              <a:rPr lang="en-US" smtClean="0"/>
              <a:pPr/>
              <a:t>5/13/22</a:t>
            </a:fld>
            <a:endParaRPr lang="en-US" dirty="0"/>
          </a:p>
        </p:txBody>
      </p:sp>
      <p:sp>
        <p:nvSpPr>
          <p:cNvPr id="5" name="Footer Placeholder 4">
            <a:extLst>
              <a:ext uri="{FF2B5EF4-FFF2-40B4-BE49-F238E27FC236}">
                <a16:creationId xmlns:a16="http://schemas.microsoft.com/office/drawing/2014/main" id="{16C6EC38-1217-AF4A-BF4A-8C98EFBF38B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62114F-C2DD-B544-97F6-A6869EB0D8A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260519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C308E-C0FD-7847-BDAC-288A4A818C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7F8788-D236-534A-8446-06EADB8B0C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CE6483-F658-9B42-B6E2-2273E7B5CD5E}"/>
              </a:ext>
            </a:extLst>
          </p:cNvPr>
          <p:cNvSpPr>
            <a:spLocks noGrp="1"/>
          </p:cNvSpPr>
          <p:nvPr>
            <p:ph type="dt" sz="half" idx="10"/>
          </p:nvPr>
        </p:nvSpPr>
        <p:spPr/>
        <p:txBody>
          <a:bodyPr/>
          <a:lstStyle/>
          <a:p>
            <a:fld id="{B61BEF0D-F0BB-DE4B-95CE-6DB70DBA9567}" type="datetimeFigureOut">
              <a:rPr lang="en-US" smtClean="0"/>
              <a:pPr/>
              <a:t>5/13/22</a:t>
            </a:fld>
            <a:endParaRPr lang="en-US" dirty="0"/>
          </a:p>
        </p:txBody>
      </p:sp>
      <p:sp>
        <p:nvSpPr>
          <p:cNvPr id="5" name="Footer Placeholder 4">
            <a:extLst>
              <a:ext uri="{FF2B5EF4-FFF2-40B4-BE49-F238E27FC236}">
                <a16:creationId xmlns:a16="http://schemas.microsoft.com/office/drawing/2014/main" id="{B75ED8CC-1F14-0247-B5EB-CD3E00E47E4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371B541-9920-E24C-9758-7B00FE37300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6700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40DF-6BE1-F045-A153-2BC1B9F209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096841-0F00-E44A-BA16-50308628B1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4D93E6-96AC-AC4B-AFB4-BD2249EF5C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78163F-327D-C546-8B65-F3E9D26F31AD}"/>
              </a:ext>
            </a:extLst>
          </p:cNvPr>
          <p:cNvSpPr>
            <a:spLocks noGrp="1"/>
          </p:cNvSpPr>
          <p:nvPr>
            <p:ph type="dt" sz="half" idx="10"/>
          </p:nvPr>
        </p:nvSpPr>
        <p:spPr/>
        <p:txBody>
          <a:bodyPr/>
          <a:lstStyle/>
          <a:p>
            <a:fld id="{EB712588-04B1-427B-82EE-E8DB90309F08}" type="datetimeFigureOut">
              <a:rPr lang="en-US" smtClean="0"/>
              <a:t>5/13/22</a:t>
            </a:fld>
            <a:endParaRPr lang="en-US" dirty="0"/>
          </a:p>
        </p:txBody>
      </p:sp>
      <p:sp>
        <p:nvSpPr>
          <p:cNvPr id="6" name="Footer Placeholder 5">
            <a:extLst>
              <a:ext uri="{FF2B5EF4-FFF2-40B4-BE49-F238E27FC236}">
                <a16:creationId xmlns:a16="http://schemas.microsoft.com/office/drawing/2014/main" id="{3AE0AD71-D318-4242-BA74-69358F17244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1320061-E089-FE42-B800-B7A6FB7BC80E}"/>
              </a:ext>
            </a:extLst>
          </p:cNvPr>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52326457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B5FB7-2215-4149-A411-95C19165DE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8ADC7A-69C4-3449-A284-61F53D5946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49C283-6034-8D45-BB1B-552F39A25F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989C7E-762D-DF4F-A602-A1BF218571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9E0002-87D6-C24A-A91D-B990D374A8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6668C5-B842-794E-B9EA-875D34A8FB78}"/>
              </a:ext>
            </a:extLst>
          </p:cNvPr>
          <p:cNvSpPr>
            <a:spLocks noGrp="1"/>
          </p:cNvSpPr>
          <p:nvPr>
            <p:ph type="dt" sz="half" idx="10"/>
          </p:nvPr>
        </p:nvSpPr>
        <p:spPr/>
        <p:txBody>
          <a:bodyPr/>
          <a:lstStyle/>
          <a:p>
            <a:fld id="{B61BEF0D-F0BB-DE4B-95CE-6DB70DBA9567}" type="datetimeFigureOut">
              <a:rPr lang="en-US" smtClean="0"/>
              <a:pPr/>
              <a:t>5/13/22</a:t>
            </a:fld>
            <a:endParaRPr lang="en-US" dirty="0"/>
          </a:p>
        </p:txBody>
      </p:sp>
      <p:sp>
        <p:nvSpPr>
          <p:cNvPr id="8" name="Footer Placeholder 7">
            <a:extLst>
              <a:ext uri="{FF2B5EF4-FFF2-40B4-BE49-F238E27FC236}">
                <a16:creationId xmlns:a16="http://schemas.microsoft.com/office/drawing/2014/main" id="{5A28C667-CE46-ED48-8821-9DB111E8618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72B333B-9FFF-2A4D-AC87-7E27A855E7E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3352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690E-17E1-DE4E-B5A2-5BA6EBD016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2D7D25-037D-964F-A4AF-09A211E2C271}"/>
              </a:ext>
            </a:extLst>
          </p:cNvPr>
          <p:cNvSpPr>
            <a:spLocks noGrp="1"/>
          </p:cNvSpPr>
          <p:nvPr>
            <p:ph type="dt" sz="half" idx="10"/>
          </p:nvPr>
        </p:nvSpPr>
        <p:spPr/>
        <p:txBody>
          <a:bodyPr/>
          <a:lstStyle/>
          <a:p>
            <a:fld id="{B61BEF0D-F0BB-DE4B-95CE-6DB70DBA9567}" type="datetimeFigureOut">
              <a:rPr lang="en-US" smtClean="0"/>
              <a:pPr/>
              <a:t>5/13/22</a:t>
            </a:fld>
            <a:endParaRPr lang="en-US" dirty="0"/>
          </a:p>
        </p:txBody>
      </p:sp>
      <p:sp>
        <p:nvSpPr>
          <p:cNvPr id="4" name="Footer Placeholder 3">
            <a:extLst>
              <a:ext uri="{FF2B5EF4-FFF2-40B4-BE49-F238E27FC236}">
                <a16:creationId xmlns:a16="http://schemas.microsoft.com/office/drawing/2014/main" id="{43E9663C-8167-6847-8432-42DEF7FF283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17A0131-4841-D843-9AC9-055AC2F2CC4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94196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2A51B5-09FC-864D-98FE-16F163363C6C}"/>
              </a:ext>
            </a:extLst>
          </p:cNvPr>
          <p:cNvSpPr>
            <a:spLocks noGrp="1"/>
          </p:cNvSpPr>
          <p:nvPr>
            <p:ph type="dt" sz="half" idx="10"/>
          </p:nvPr>
        </p:nvSpPr>
        <p:spPr/>
        <p:txBody>
          <a:bodyPr/>
          <a:lstStyle/>
          <a:p>
            <a:fld id="{B61BEF0D-F0BB-DE4B-95CE-6DB70DBA9567}" type="datetimeFigureOut">
              <a:rPr lang="en-US" smtClean="0"/>
              <a:pPr/>
              <a:t>5/13/22</a:t>
            </a:fld>
            <a:endParaRPr lang="en-US" dirty="0"/>
          </a:p>
        </p:txBody>
      </p:sp>
      <p:sp>
        <p:nvSpPr>
          <p:cNvPr id="3" name="Footer Placeholder 2">
            <a:extLst>
              <a:ext uri="{FF2B5EF4-FFF2-40B4-BE49-F238E27FC236}">
                <a16:creationId xmlns:a16="http://schemas.microsoft.com/office/drawing/2014/main" id="{9A9FE577-AF6A-204B-8987-548A9FD823E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EA56DD6-090D-EE44-86E5-9EFB2159941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517925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D02F1-BD0C-1C49-A3BA-25D110E62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B73BB6-219E-004E-9277-DBD25B22A5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6C13EE-ADDA-1745-A0D2-E1055F03E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4BDD4-3C99-5F44-923E-0DF1F92E92E7}"/>
              </a:ext>
            </a:extLst>
          </p:cNvPr>
          <p:cNvSpPr>
            <a:spLocks noGrp="1"/>
          </p:cNvSpPr>
          <p:nvPr>
            <p:ph type="dt" sz="half" idx="10"/>
          </p:nvPr>
        </p:nvSpPr>
        <p:spPr/>
        <p:txBody>
          <a:bodyPr/>
          <a:lstStyle/>
          <a:p>
            <a:fld id="{42A54C80-263E-416B-A8E0-580EDEADCBDC}" type="datetimeFigureOut">
              <a:rPr lang="en-US" smtClean="0"/>
              <a:t>5/13/22</a:t>
            </a:fld>
            <a:endParaRPr lang="en-US" dirty="0"/>
          </a:p>
        </p:txBody>
      </p:sp>
      <p:sp>
        <p:nvSpPr>
          <p:cNvPr id="6" name="Footer Placeholder 5">
            <a:extLst>
              <a:ext uri="{FF2B5EF4-FFF2-40B4-BE49-F238E27FC236}">
                <a16:creationId xmlns:a16="http://schemas.microsoft.com/office/drawing/2014/main" id="{E8C8318F-B631-4E46-8340-D22F039FA87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7748A4C-A384-AF47-A837-C46A99AA163B}"/>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54284322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9456D-8FD1-A343-BC21-599F10E4CE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8D8699-A379-934C-9848-BD600A5D0C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A82C27-0E15-8840-96CE-D0F006334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1ED90E-797F-5C43-AD81-B1B3F85ECEED}"/>
              </a:ext>
            </a:extLst>
          </p:cNvPr>
          <p:cNvSpPr>
            <a:spLocks noGrp="1"/>
          </p:cNvSpPr>
          <p:nvPr>
            <p:ph type="dt" sz="half" idx="10"/>
          </p:nvPr>
        </p:nvSpPr>
        <p:spPr/>
        <p:txBody>
          <a:bodyPr/>
          <a:lstStyle/>
          <a:p>
            <a:fld id="{B61BEF0D-F0BB-DE4B-95CE-6DB70DBA9567}" type="datetimeFigureOut">
              <a:rPr lang="en-US" smtClean="0"/>
              <a:pPr/>
              <a:t>5/13/22</a:t>
            </a:fld>
            <a:endParaRPr lang="en-US" dirty="0"/>
          </a:p>
        </p:txBody>
      </p:sp>
      <p:sp>
        <p:nvSpPr>
          <p:cNvPr id="6" name="Footer Placeholder 5">
            <a:extLst>
              <a:ext uri="{FF2B5EF4-FFF2-40B4-BE49-F238E27FC236}">
                <a16:creationId xmlns:a16="http://schemas.microsoft.com/office/drawing/2014/main" id="{711EDEC2-1761-E34F-87C9-7E697178CBD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043B737-D7BA-5E4C-AF00-66D590E0D37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202873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6AFF8-63E3-0A40-8D7C-457B91F6B5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D20475-B697-E541-A6DF-92AF025383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F4675E-25C2-DB4B-B732-E675B20FD120}"/>
              </a:ext>
            </a:extLst>
          </p:cNvPr>
          <p:cNvSpPr>
            <a:spLocks noGrp="1"/>
          </p:cNvSpPr>
          <p:nvPr>
            <p:ph type="dt" sz="half" idx="10"/>
          </p:nvPr>
        </p:nvSpPr>
        <p:spPr/>
        <p:txBody>
          <a:bodyPr/>
          <a:lstStyle/>
          <a:p>
            <a:fld id="{55C6B4A9-1611-4792-9094-5F34BCA07E0B}" type="datetimeFigureOut">
              <a:rPr lang="en-US" smtClean="0"/>
              <a:t>5/13/22</a:t>
            </a:fld>
            <a:endParaRPr lang="en-US" dirty="0"/>
          </a:p>
        </p:txBody>
      </p:sp>
      <p:sp>
        <p:nvSpPr>
          <p:cNvPr id="5" name="Footer Placeholder 4">
            <a:extLst>
              <a:ext uri="{FF2B5EF4-FFF2-40B4-BE49-F238E27FC236}">
                <a16:creationId xmlns:a16="http://schemas.microsoft.com/office/drawing/2014/main" id="{C89AA116-B5A0-BA4A-927E-F785DA39214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E934329-E529-1C4A-B234-47CEB980DC90}"/>
              </a:ext>
            </a:extLst>
          </p:cNvPr>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75295150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E039D1-DA12-DF4C-B907-75F31632F8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DE494C-36A5-2747-BF3C-397154210C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D58C0A-6161-4F4D-A944-A3BF9791D897}"/>
              </a:ext>
            </a:extLst>
          </p:cNvPr>
          <p:cNvSpPr>
            <a:spLocks noGrp="1"/>
          </p:cNvSpPr>
          <p:nvPr>
            <p:ph type="dt" sz="half" idx="10"/>
          </p:nvPr>
        </p:nvSpPr>
        <p:spPr/>
        <p:txBody>
          <a:bodyPr/>
          <a:lstStyle/>
          <a:p>
            <a:fld id="{B61BEF0D-F0BB-DE4B-95CE-6DB70DBA9567}" type="datetimeFigureOut">
              <a:rPr lang="en-US" smtClean="0"/>
              <a:pPr/>
              <a:t>5/13/22</a:t>
            </a:fld>
            <a:endParaRPr lang="en-US" dirty="0"/>
          </a:p>
        </p:txBody>
      </p:sp>
      <p:sp>
        <p:nvSpPr>
          <p:cNvPr id="5" name="Footer Placeholder 4">
            <a:extLst>
              <a:ext uri="{FF2B5EF4-FFF2-40B4-BE49-F238E27FC236}">
                <a16:creationId xmlns:a16="http://schemas.microsoft.com/office/drawing/2014/main" id="{B5F5B78C-A430-9642-82D9-6A2FCFBA582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296C11C-7346-FA48-B12E-8225F91ED1C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875876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2D0F5F-0DBB-47A9-9535-5081A996AADA}"/>
              </a:ext>
            </a:extLst>
          </p:cNvPr>
          <p:cNvSpPr txBox="1"/>
          <p:nvPr userDrawn="1"/>
        </p:nvSpPr>
        <p:spPr>
          <a:xfrm>
            <a:off x="9146009" y="602344"/>
            <a:ext cx="2034232" cy="358796"/>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Learning Objective</a:t>
            </a:r>
          </a:p>
        </p:txBody>
      </p:sp>
      <p:sp>
        <p:nvSpPr>
          <p:cNvPr id="13" name="TextBox 12">
            <a:extLst>
              <a:ext uri="{FF2B5EF4-FFF2-40B4-BE49-F238E27FC236}">
                <a16:creationId xmlns:a16="http://schemas.microsoft.com/office/drawing/2014/main" id="{B727232C-B92E-457E-B352-F618EC28E4D8}"/>
              </a:ext>
            </a:extLst>
          </p:cNvPr>
          <p:cNvSpPr txBox="1"/>
          <p:nvPr userDrawn="1"/>
        </p:nvSpPr>
        <p:spPr>
          <a:xfrm>
            <a:off x="8926325" y="2926415"/>
            <a:ext cx="2260256" cy="358796"/>
          </a:xfrm>
          <a:custGeom>
            <a:avLst/>
            <a:gdLst>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2017486 w 2017486"/>
              <a:gd name="connsiteY4" fmla="*/ 307570 h 369085"/>
              <a:gd name="connsiteX5" fmla="*/ 1955971 w 2017486"/>
              <a:gd name="connsiteY5" fmla="*/ 369085 h 369085"/>
              <a:gd name="connsiteX6" fmla="*/ 61515 w 2017486"/>
              <a:gd name="connsiteY6" fmla="*/ 369085 h 369085"/>
              <a:gd name="connsiteX7" fmla="*/ 0 w 2017486"/>
              <a:gd name="connsiteY7" fmla="*/ 307570 h 369085"/>
              <a:gd name="connsiteX8" fmla="*/ 0 w 2017486"/>
              <a:gd name="connsiteY8" fmla="*/ 61515 h 369085"/>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2017486 w 2017486"/>
              <a:gd name="connsiteY4" fmla="*/ 307570 h 369085"/>
              <a:gd name="connsiteX5" fmla="*/ 1674617 w 2017486"/>
              <a:gd name="connsiteY5" fmla="*/ 348988 h 369085"/>
              <a:gd name="connsiteX6" fmla="*/ 61515 w 2017486"/>
              <a:gd name="connsiteY6" fmla="*/ 369085 h 369085"/>
              <a:gd name="connsiteX7" fmla="*/ 0 w 2017486"/>
              <a:gd name="connsiteY7" fmla="*/ 307570 h 369085"/>
              <a:gd name="connsiteX8" fmla="*/ 0 w 2017486"/>
              <a:gd name="connsiteY8" fmla="*/ 61515 h 369085"/>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1896905 w 2017486"/>
              <a:gd name="connsiteY4" fmla="*/ 197039 h 369085"/>
              <a:gd name="connsiteX5" fmla="*/ 1674617 w 2017486"/>
              <a:gd name="connsiteY5" fmla="*/ 348988 h 369085"/>
              <a:gd name="connsiteX6" fmla="*/ 61515 w 2017486"/>
              <a:gd name="connsiteY6" fmla="*/ 369085 h 369085"/>
              <a:gd name="connsiteX7" fmla="*/ 0 w 2017486"/>
              <a:gd name="connsiteY7" fmla="*/ 307570 h 369085"/>
              <a:gd name="connsiteX8" fmla="*/ 0 w 2017486"/>
              <a:gd name="connsiteY8" fmla="*/ 61515 h 369085"/>
              <a:gd name="connsiteX0" fmla="*/ 0 w 2007437"/>
              <a:gd name="connsiteY0" fmla="*/ 68942 h 376512"/>
              <a:gd name="connsiteX1" fmla="*/ 61515 w 2007437"/>
              <a:gd name="connsiteY1" fmla="*/ 7427 h 376512"/>
              <a:gd name="connsiteX2" fmla="*/ 1955971 w 2007437"/>
              <a:gd name="connsiteY2" fmla="*/ 7427 h 376512"/>
              <a:gd name="connsiteX3" fmla="*/ 2007437 w 2007437"/>
              <a:gd name="connsiteY3" fmla="*/ 18700 h 376512"/>
              <a:gd name="connsiteX4" fmla="*/ 1896905 w 2007437"/>
              <a:gd name="connsiteY4" fmla="*/ 204466 h 376512"/>
              <a:gd name="connsiteX5" fmla="*/ 1674617 w 2007437"/>
              <a:gd name="connsiteY5" fmla="*/ 356415 h 376512"/>
              <a:gd name="connsiteX6" fmla="*/ 61515 w 2007437"/>
              <a:gd name="connsiteY6" fmla="*/ 376512 h 376512"/>
              <a:gd name="connsiteX7" fmla="*/ 0 w 2007437"/>
              <a:gd name="connsiteY7" fmla="*/ 314997 h 376512"/>
              <a:gd name="connsiteX8" fmla="*/ 0 w 2007437"/>
              <a:gd name="connsiteY8" fmla="*/ 68942 h 37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7437" h="376512">
                <a:moveTo>
                  <a:pt x="0" y="68942"/>
                </a:moveTo>
                <a:cubicBezTo>
                  <a:pt x="0" y="34968"/>
                  <a:pt x="27541" y="7427"/>
                  <a:pt x="61515" y="7427"/>
                </a:cubicBezTo>
                <a:lnTo>
                  <a:pt x="1955971" y="7427"/>
                </a:lnTo>
                <a:cubicBezTo>
                  <a:pt x="1989945" y="7427"/>
                  <a:pt x="2007437" y="-15274"/>
                  <a:pt x="2007437" y="18700"/>
                </a:cubicBezTo>
                <a:lnTo>
                  <a:pt x="1896905" y="204466"/>
                </a:lnTo>
                <a:cubicBezTo>
                  <a:pt x="1896905" y="238440"/>
                  <a:pt x="1708591" y="356415"/>
                  <a:pt x="1674617" y="356415"/>
                </a:cubicBezTo>
                <a:cubicBezTo>
                  <a:pt x="1043132" y="356415"/>
                  <a:pt x="693000" y="376512"/>
                  <a:pt x="61515" y="376512"/>
                </a:cubicBezTo>
                <a:cubicBezTo>
                  <a:pt x="27541" y="376512"/>
                  <a:pt x="0" y="348971"/>
                  <a:pt x="0" y="314997"/>
                </a:cubicBezTo>
                <a:lnTo>
                  <a:pt x="0" y="68942"/>
                </a:lnTo>
                <a:close/>
              </a:path>
            </a:pathLst>
          </a:cu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lvl="0" algn="ctr"/>
            <a:r>
              <a:rPr lang="en-US" sz="1400" b="0" i="0" dirty="0">
                <a:solidFill>
                  <a:schemeClr val="bg1"/>
                </a:solidFill>
                <a:latin typeface="Arial Rounded MT Bold" panose="020F0704030504030204" pitchFamily="34" charset="0"/>
                <a:cs typeface="Futura Medium" panose="020B0602020204020303" pitchFamily="34" charset="-79"/>
              </a:rPr>
              <a:t>Think - Pair - Share</a:t>
            </a:r>
          </a:p>
        </p:txBody>
      </p:sp>
      <p:sp>
        <p:nvSpPr>
          <p:cNvPr id="15" name="Text Placeholder 2">
            <a:extLst>
              <a:ext uri="{FF2B5EF4-FFF2-40B4-BE49-F238E27FC236}">
                <a16:creationId xmlns:a16="http://schemas.microsoft.com/office/drawing/2014/main" id="{D8D8F44C-757A-43E7-8713-76A89DF6C4D9}"/>
              </a:ext>
            </a:extLst>
          </p:cNvPr>
          <p:cNvSpPr>
            <a:spLocks noGrp="1"/>
          </p:cNvSpPr>
          <p:nvPr>
            <p:ph type="body" sz="quarter" idx="16" hasCustomPrompt="1"/>
          </p:nvPr>
        </p:nvSpPr>
        <p:spPr>
          <a:xfrm>
            <a:off x="432958" y="3689575"/>
            <a:ext cx="10745582" cy="2651940"/>
          </a:xfrm>
          <a:prstGeom prst="round2DiagRect">
            <a:avLst/>
          </a:prstGeom>
          <a:noFill/>
          <a:ln w="38100">
            <a:solidFill>
              <a:srgbClr val="1891AC"/>
            </a:solidFill>
          </a:ln>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ea typeface="Verdana" panose="020B0604030504040204" pitchFamily="34" charset="0"/>
              </a:defRPr>
            </a:lvl1pPr>
          </a:lstStyle>
          <a:p>
            <a:pPr lvl="0"/>
            <a:br>
              <a:rPr lang="en-AU" dirty="0"/>
            </a:br>
            <a:r>
              <a:rPr lang="en-AU" dirty="0"/>
              <a:t>State a specific task you will be setting at the end of the lesson,</a:t>
            </a:r>
            <a:br>
              <a:rPr lang="en-AU" dirty="0"/>
            </a:br>
            <a:r>
              <a:rPr lang="en-AU" dirty="0"/>
              <a:t>to assess whether students have been successful</a:t>
            </a:r>
            <a:br>
              <a:rPr lang="en-AU" dirty="0"/>
            </a:br>
            <a:r>
              <a:rPr lang="en-AU" dirty="0"/>
              <a:t>in obtaining the learning objective.</a:t>
            </a:r>
          </a:p>
          <a:p>
            <a:pPr lvl="0"/>
            <a:endParaRPr lang="en-AU" dirty="0"/>
          </a:p>
        </p:txBody>
      </p:sp>
      <p:sp>
        <p:nvSpPr>
          <p:cNvPr id="10" name="Text Placeholder 2">
            <a:extLst>
              <a:ext uri="{FF2B5EF4-FFF2-40B4-BE49-F238E27FC236}">
                <a16:creationId xmlns:a16="http://schemas.microsoft.com/office/drawing/2014/main" id="{C2A00B02-7DD1-4010-8743-E8E43F8620E6}"/>
              </a:ext>
            </a:extLst>
          </p:cNvPr>
          <p:cNvSpPr>
            <a:spLocks noGrp="1"/>
          </p:cNvSpPr>
          <p:nvPr>
            <p:ph type="body" sz="quarter" idx="18" hasCustomPrompt="1"/>
          </p:nvPr>
        </p:nvSpPr>
        <p:spPr>
          <a:xfrm>
            <a:off x="432958" y="602344"/>
            <a:ext cx="10745582" cy="2651940"/>
          </a:xfrm>
          <a:prstGeom prst="round2DiagRect">
            <a:avLst/>
          </a:prstGeom>
          <a:ln w="38100">
            <a:solidFill>
              <a:srgbClr val="154983"/>
            </a:solidFill>
          </a:ln>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ea typeface="Verdana" panose="020B0604030504040204" pitchFamily="34" charset="0"/>
              </a:defRPr>
            </a:lvl1pPr>
          </a:lstStyle>
          <a:p>
            <a:pPr lvl="0"/>
            <a:r>
              <a:rPr lang="en-AU" dirty="0"/>
              <a:t>A statement describing what the students</a:t>
            </a:r>
            <a:br>
              <a:rPr lang="en-AU" dirty="0"/>
            </a:br>
            <a:r>
              <a:rPr lang="en-AU" dirty="0"/>
              <a:t>will be able to do by the end of the lesson.</a:t>
            </a:r>
            <a:br>
              <a:rPr lang="en-AU" dirty="0"/>
            </a:br>
            <a:br>
              <a:rPr lang="en-AU" dirty="0"/>
            </a:br>
            <a:r>
              <a:rPr lang="en-AU" dirty="0"/>
              <a:t>E.g. ‘Write direct speech using</a:t>
            </a:r>
            <a:br>
              <a:rPr lang="en-AU" dirty="0"/>
            </a:br>
            <a:r>
              <a:rPr lang="en-AU" dirty="0"/>
              <a:t>correct punctuation and grammar.’</a:t>
            </a:r>
          </a:p>
        </p:txBody>
      </p:sp>
      <p:sp>
        <p:nvSpPr>
          <p:cNvPr id="6" name="TextBox 5">
            <a:extLst>
              <a:ext uri="{FF2B5EF4-FFF2-40B4-BE49-F238E27FC236}">
                <a16:creationId xmlns:a16="http://schemas.microsoft.com/office/drawing/2014/main" id="{AB21FC50-7983-4BBE-87BD-F3ED203B330F}"/>
              </a:ext>
            </a:extLst>
          </p:cNvPr>
          <p:cNvSpPr txBox="1"/>
          <p:nvPr userDrawn="1"/>
        </p:nvSpPr>
        <p:spPr>
          <a:xfrm>
            <a:off x="9146009" y="3677498"/>
            <a:ext cx="2034234" cy="358796"/>
          </a:xfrm>
          <a:prstGeom prst="round2DiagRect">
            <a:avLst/>
          </a:prstGeom>
          <a:solidFill>
            <a:srgbClr val="1891AC"/>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Success Criteria</a:t>
            </a:r>
          </a:p>
        </p:txBody>
      </p:sp>
    </p:spTree>
    <p:extLst>
      <p:ext uri="{BB962C8B-B14F-4D97-AF65-F5344CB8AC3E}">
        <p14:creationId xmlns:p14="http://schemas.microsoft.com/office/powerpoint/2010/main" val="385708788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EI) Content Developmen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04E1E29-E5E1-4CA6-AE28-873DC4095433}"/>
              </a:ext>
            </a:extLst>
          </p:cNvPr>
          <p:cNvSpPr txBox="1"/>
          <p:nvPr userDrawn="1"/>
        </p:nvSpPr>
        <p:spPr>
          <a:xfrm>
            <a:off x="280557" y="237294"/>
            <a:ext cx="2206171"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defPPr>
              <a:defRPr lang="en-US"/>
            </a:defPPr>
            <a:lvl1pPr algn="ctr">
              <a:defRPr sz="1400" b="0" i="0">
                <a:solidFill>
                  <a:schemeClr val="bg1"/>
                </a:solidFill>
                <a:latin typeface="Arial Rounded MT Bold" panose="020F0704030504030204" pitchFamily="34" charset="0"/>
                <a:cs typeface="Futura Medium" panose="020B0602020204020303" pitchFamily="34" charset="-79"/>
              </a:defRPr>
            </a:lvl1pPr>
          </a:lstStyle>
          <a:p>
            <a:pPr lvl="0"/>
            <a:r>
              <a:rPr lang="en-US" dirty="0"/>
              <a:t>Concept Development</a:t>
            </a:r>
          </a:p>
        </p:txBody>
      </p:sp>
      <p:sp>
        <p:nvSpPr>
          <p:cNvPr id="11" name="Text Placeholder 6">
            <a:extLst>
              <a:ext uri="{FF2B5EF4-FFF2-40B4-BE49-F238E27FC236}">
                <a16:creationId xmlns:a16="http://schemas.microsoft.com/office/drawing/2014/main" id="{492D3A20-F902-4F74-96C6-B8576FA0A5F9}"/>
              </a:ext>
            </a:extLst>
          </p:cNvPr>
          <p:cNvSpPr>
            <a:spLocks noGrp="1"/>
          </p:cNvSpPr>
          <p:nvPr>
            <p:ph type="body" sz="quarter" idx="13" hasCustomPrompt="1"/>
          </p:nvPr>
        </p:nvSpPr>
        <p:spPr>
          <a:xfrm>
            <a:off x="280557" y="805337"/>
            <a:ext cx="11481952" cy="524699"/>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F940C2C1-B592-48FA-B23E-0B742216BD9C}"/>
              </a:ext>
            </a:extLst>
          </p:cNvPr>
          <p:cNvSpPr>
            <a:spLocks noGrp="1"/>
          </p:cNvSpPr>
          <p:nvPr>
            <p:ph type="body" sz="quarter" idx="15" hasCustomPrompt="1"/>
          </p:nvPr>
        </p:nvSpPr>
        <p:spPr>
          <a:xfrm>
            <a:off x="280558" y="1528994"/>
            <a:ext cx="11506476" cy="506692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AU" dirty="0"/>
              <a:t>The teacher explains the concepts and steps that lead to the learning objective.</a:t>
            </a:r>
            <a:br>
              <a:rPr lang="en-AU" dirty="0"/>
            </a:br>
            <a:br>
              <a:rPr lang="en-AU" dirty="0"/>
            </a:br>
            <a:r>
              <a:rPr lang="en-AU" dirty="0"/>
              <a:t>Click to add text. Delete textbox if unneeded.</a:t>
            </a:r>
          </a:p>
        </p:txBody>
      </p:sp>
    </p:spTree>
    <p:extLst>
      <p:ext uri="{BB962C8B-B14F-4D97-AF65-F5344CB8AC3E}">
        <p14:creationId xmlns:p14="http://schemas.microsoft.com/office/powerpoint/2010/main" val="283565217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DR) New Top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297625" y="2268252"/>
            <a:ext cx="8660516" cy="28268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0" i="0" spc="300" baseline="0" dirty="0">
                <a:solidFill>
                  <a:srgbClr val="154983"/>
                </a:solidFill>
                <a:latin typeface="Arial Rounded MT Bold" panose="020F0704030504030204" pitchFamily="34" charset="0"/>
              </a:rPr>
              <a:t>What we are learning today</a:t>
            </a:r>
            <a:endParaRPr lang="en-US" sz="7200" b="0" i="0" dirty="0">
              <a:solidFill>
                <a:srgbClr val="154983"/>
              </a:solidFill>
              <a:latin typeface="Arial Rounded MT Bold" panose="020F070403050403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447768" y="1699225"/>
            <a:ext cx="2797472" cy="789710"/>
          </a:xfrm>
          <a:prstGeom prst="round2DiagRect">
            <a:avLst/>
          </a:prstGeom>
          <a:solidFill>
            <a:srgbClr val="1891AC"/>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3600" b="0" i="0" dirty="0">
                <a:solidFill>
                  <a:schemeClr val="bg1"/>
                </a:solidFill>
                <a:latin typeface="Arial Rounded MT Bold" panose="020F0704030504030204" pitchFamily="34" charset="0"/>
                <a:cs typeface="Futura Medium" panose="020B0602020204020303" pitchFamily="34" charset="-79"/>
              </a:rPr>
              <a:t>New Topic</a:t>
            </a:r>
          </a:p>
        </p:txBody>
      </p:sp>
    </p:spTree>
    <p:extLst>
      <p:ext uri="{BB962C8B-B14F-4D97-AF65-F5344CB8AC3E}">
        <p14:creationId xmlns:p14="http://schemas.microsoft.com/office/powerpoint/2010/main" val="348388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image" Target="../media/image1.png"/><Relationship Id="rId2" Type="http://schemas.openxmlformats.org/officeDocument/2006/relationships/slideLayout" Target="../slideLayouts/slideLayout23.xml"/><Relationship Id="rId16" Type="http://schemas.openxmlformats.org/officeDocument/2006/relationships/theme" Target="../theme/theme2.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image" Target="../media/image1.png"/><Relationship Id="rId5" Type="http://schemas.openxmlformats.org/officeDocument/2006/relationships/slideLayout" Target="../slideLayouts/slideLayout41.xml"/><Relationship Id="rId10" Type="http://schemas.openxmlformats.org/officeDocument/2006/relationships/theme" Target="../theme/theme3.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6" Type="http://schemas.openxmlformats.org/officeDocument/2006/relationships/image" Target="../media/image1.png"/><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theme" Target="../theme/theme4.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5" Type="http://schemas.openxmlformats.org/officeDocument/2006/relationships/theme" Target="../theme/theme5.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3B8C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E91DF72-2A8F-445D-BC0A-815E681E321D}"/>
              </a:ext>
            </a:extLst>
          </p:cNvPr>
          <p:cNvPicPr>
            <a:picLocks noChangeAspect="1"/>
          </p:cNvPicPr>
          <p:nvPr/>
        </p:nvPicPr>
        <p:blipFill>
          <a:blip r:embed="rId23"/>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270925691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97B421F1-3EFD-4EB1-8757-68976493B334}"/>
              </a:ext>
            </a:extLst>
          </p:cNvPr>
          <p:cNvPicPr>
            <a:picLocks noChangeAspect="1"/>
          </p:cNvPicPr>
          <p:nvPr/>
        </p:nvPicPr>
        <p:blipFill>
          <a:blip r:embed="rId17"/>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47349183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71"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6DBB0268-634F-494F-A534-6D6283C91351}"/>
              </a:ext>
            </a:extLst>
          </p:cNvPr>
          <p:cNvPicPr>
            <a:picLocks noChangeAspect="1"/>
          </p:cNvPicPr>
          <p:nvPr/>
        </p:nvPicPr>
        <p:blipFill>
          <a:blip r:embed="rId11"/>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594667570"/>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72"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683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3C87905-546B-40B8-A77F-8173C6D81708}"/>
              </a:ext>
            </a:extLst>
          </p:cNvPr>
          <p:cNvPicPr>
            <a:picLocks noChangeAspect="1"/>
          </p:cNvPicPr>
          <p:nvPr/>
        </p:nvPicPr>
        <p:blipFill>
          <a:blip r:embed="rId16"/>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70881739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D52C70-79E0-3F4E-8C86-21588BE79E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891E8F-80E7-D045-B781-B6A164C414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06AA54-5ABB-EF4D-9916-637244CB4A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5/13/22</a:t>
            </a:fld>
            <a:endParaRPr lang="en-US" dirty="0"/>
          </a:p>
        </p:txBody>
      </p:sp>
      <p:sp>
        <p:nvSpPr>
          <p:cNvPr id="5" name="Footer Placeholder 4">
            <a:extLst>
              <a:ext uri="{FF2B5EF4-FFF2-40B4-BE49-F238E27FC236}">
                <a16:creationId xmlns:a16="http://schemas.microsoft.com/office/drawing/2014/main" id="{6AEFBE9C-E714-8C48-86AA-5BC9832FD9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14D2459-E8D0-E049-BE1B-B4AFAA05B2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381662"/>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93" r:id="rId12"/>
    <p:sldLayoutId id="2147483795" r:id="rId13"/>
    <p:sldLayoutId id="214748380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1.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7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7A12DD-5827-464C-8E6F-1D81221E4EB2}"/>
              </a:ext>
            </a:extLst>
          </p:cNvPr>
          <p:cNvSpPr txBox="1"/>
          <p:nvPr/>
        </p:nvSpPr>
        <p:spPr>
          <a:xfrm>
            <a:off x="6974541" y="4793517"/>
            <a:ext cx="3872753" cy="484094"/>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1575465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1A58ACDE-97EB-4DDB-8D0A-A13BB4F2EDD2}"/>
              </a:ext>
            </a:extLst>
          </p:cNvPr>
          <p:cNvSpPr>
            <a:spLocks noGrp="1"/>
          </p:cNvSpPr>
          <p:nvPr>
            <p:ph type="body" sz="quarter" idx="16"/>
          </p:nvPr>
        </p:nvSpPr>
        <p:spPr>
          <a:xfrm>
            <a:off x="432958" y="3673869"/>
            <a:ext cx="11194266" cy="2651940"/>
          </a:xfrm>
        </p:spPr>
        <p:txBody>
          <a:bodyPr>
            <a:normAutofit/>
          </a:bodyPr>
          <a:lstStyle/>
          <a:p>
            <a:pPr lvl="0" algn="l"/>
            <a:endParaRPr lang="en-AU" sz="100" dirty="0"/>
          </a:p>
          <a:p>
            <a:pPr algn="l"/>
            <a:endParaRPr lang="en-AU" sz="3000" dirty="0"/>
          </a:p>
        </p:txBody>
      </p:sp>
      <p:sp>
        <p:nvSpPr>
          <p:cNvPr id="7" name="Text Placeholder 6">
            <a:extLst>
              <a:ext uri="{FF2B5EF4-FFF2-40B4-BE49-F238E27FC236}">
                <a16:creationId xmlns:a16="http://schemas.microsoft.com/office/drawing/2014/main" id="{5DB1A190-F6F8-4F27-BBED-92C0B43629F1}"/>
              </a:ext>
            </a:extLst>
          </p:cNvPr>
          <p:cNvSpPr>
            <a:spLocks noGrp="1"/>
          </p:cNvSpPr>
          <p:nvPr>
            <p:ph type="body" sz="quarter" idx="18"/>
          </p:nvPr>
        </p:nvSpPr>
        <p:spPr>
          <a:xfrm>
            <a:off x="432958" y="602511"/>
            <a:ext cx="11194266" cy="2651940"/>
          </a:xfrm>
        </p:spPr>
        <p:txBody>
          <a:bodyPr>
            <a:normAutofit/>
          </a:bodyPr>
          <a:lstStyle/>
          <a:p>
            <a:pPr algn="l"/>
            <a:r>
              <a:rPr lang="en-AU" sz="3200" dirty="0"/>
              <a:t>Students will be able to:</a:t>
            </a:r>
            <a:endParaRPr lang="en-AU" sz="3000" dirty="0">
              <a:solidFill>
                <a:srgbClr val="C00000"/>
              </a:solidFill>
            </a:endParaRPr>
          </a:p>
          <a:p>
            <a:pPr algn="l"/>
            <a:endParaRPr lang="en-AU" dirty="0"/>
          </a:p>
        </p:txBody>
      </p:sp>
    </p:spTree>
    <p:extLst>
      <p:ext uri="{BB962C8B-B14F-4D97-AF65-F5344CB8AC3E}">
        <p14:creationId xmlns:p14="http://schemas.microsoft.com/office/powerpoint/2010/main" val="3376853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a:xfrm>
            <a:off x="262259" y="805336"/>
            <a:ext cx="11481952" cy="524699"/>
          </a:xfrm>
        </p:spPr>
        <p:txBody>
          <a:bodyPr>
            <a:noAutofit/>
          </a:bodyPr>
          <a:lstStyle/>
          <a:p>
            <a:r>
              <a:rPr lang="en-AU" dirty="0"/>
              <a:t>The Immune Response</a:t>
            </a:r>
            <a:r>
              <a:rPr lang="en-AU" sz="3600" dirty="0"/>
              <a:t> </a:t>
            </a:r>
            <a:endParaRPr lang="en-AU" sz="3400" dirty="0"/>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0" y="1506831"/>
            <a:ext cx="5697985" cy="1551852"/>
          </a:xfrm>
        </p:spPr>
        <p:txBody>
          <a:bodyPr>
            <a:normAutofit/>
          </a:bodyPr>
          <a:lstStyle/>
          <a:p>
            <a:pPr marL="342900" indent="-342900">
              <a:buFont typeface="Arial" panose="020B0604020202020204" pitchFamily="34" charset="0"/>
              <a:buChar char="•"/>
            </a:pPr>
            <a:r>
              <a:rPr lang="en-AU" sz="2000" dirty="0">
                <a:latin typeface="Avenir Book" panose="02000503020000020003" pitchFamily="2" charset="0"/>
              </a:rPr>
              <a:t>Once the first line of defence is breached and the second line of defence is activated, antigen presentation occurs in the lymph system, which results in a specific immune response. </a:t>
            </a:r>
          </a:p>
        </p:txBody>
      </p:sp>
      <p:pic>
        <p:nvPicPr>
          <p:cNvPr id="1026" name="Picture 2" descr="23.2. Adaptive Immune Response – Concepts of Biology – 1st Canadian Edition">
            <a:extLst>
              <a:ext uri="{FF2B5EF4-FFF2-40B4-BE49-F238E27FC236}">
                <a16:creationId xmlns:a16="http://schemas.microsoft.com/office/drawing/2014/main" id="{CE0D3708-056D-72A2-5C84-A7C88187FF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2343" y="1067686"/>
            <a:ext cx="4934407" cy="3981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0382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FC75E6A-3312-A1E6-2FEC-091DA143000B}"/>
              </a:ext>
            </a:extLst>
          </p:cNvPr>
          <p:cNvSpPr>
            <a:spLocks noGrp="1"/>
          </p:cNvSpPr>
          <p:nvPr>
            <p:ph type="body" sz="quarter" idx="13"/>
          </p:nvPr>
        </p:nvSpPr>
        <p:spPr/>
        <p:txBody>
          <a:bodyPr>
            <a:normAutofit fontScale="92500" lnSpcReduction="10000"/>
          </a:bodyPr>
          <a:lstStyle/>
          <a:p>
            <a:r>
              <a:rPr lang="en-AU" dirty="0"/>
              <a:t>The Immune Response</a:t>
            </a:r>
            <a:r>
              <a:rPr lang="en-AU" sz="3600" dirty="0"/>
              <a:t> </a:t>
            </a:r>
            <a:endParaRPr lang="en-AU" sz="3400" dirty="0"/>
          </a:p>
          <a:p>
            <a:endParaRPr lang="en-US" dirty="0"/>
          </a:p>
        </p:txBody>
      </p:sp>
      <p:sp>
        <p:nvSpPr>
          <p:cNvPr id="3" name="Text Placeholder 2">
            <a:extLst>
              <a:ext uri="{FF2B5EF4-FFF2-40B4-BE49-F238E27FC236}">
                <a16:creationId xmlns:a16="http://schemas.microsoft.com/office/drawing/2014/main" id="{EA3CA6A4-B935-155B-0FFC-A2DC292609B3}"/>
              </a:ext>
            </a:extLst>
          </p:cNvPr>
          <p:cNvSpPr>
            <a:spLocks noGrp="1"/>
          </p:cNvSpPr>
          <p:nvPr>
            <p:ph type="body" sz="quarter" idx="15"/>
          </p:nvPr>
        </p:nvSpPr>
        <p:spPr>
          <a:xfrm>
            <a:off x="280559" y="1528994"/>
            <a:ext cx="5961216" cy="1253963"/>
          </a:xfrm>
        </p:spPr>
        <p:txBody>
          <a:bodyPr>
            <a:noAutofit/>
          </a:bodyPr>
          <a:lstStyle/>
          <a:p>
            <a:pPr marL="342900" indent="-342900">
              <a:buFont typeface="Arial" panose="020B0604020202020204" pitchFamily="34" charset="0"/>
              <a:buChar char="•"/>
            </a:pPr>
            <a:r>
              <a:rPr lang="en-AU" sz="2000" dirty="0">
                <a:latin typeface="Avenir Book" panose="02000503020000020003" pitchFamily="2" charset="0"/>
              </a:rPr>
              <a:t>Macrophages are involved in both non-specific and specific immunity. </a:t>
            </a:r>
          </a:p>
          <a:p>
            <a:pPr marL="342900" indent="-342900">
              <a:buFont typeface="Arial" panose="020B0604020202020204" pitchFamily="34" charset="0"/>
              <a:buChar char="•"/>
            </a:pPr>
            <a:r>
              <a:rPr lang="en-AU" sz="2000" dirty="0">
                <a:latin typeface="Avenir Book" panose="02000503020000020003" pitchFamily="2" charset="0"/>
              </a:rPr>
              <a:t>T-lymphocytes and B-lymphocytes are involved in the specific immune response. </a:t>
            </a:r>
            <a:endParaRPr lang="en-US" sz="2000" dirty="0">
              <a:latin typeface="Avenir Book" panose="02000503020000020003" pitchFamily="2" charset="0"/>
            </a:endParaRPr>
          </a:p>
        </p:txBody>
      </p:sp>
      <p:pic>
        <p:nvPicPr>
          <p:cNvPr id="4" name="Picture 2" descr="23.2. Adaptive Immune Response – Concepts of Biology – 1st Canadian Edition">
            <a:extLst>
              <a:ext uri="{FF2B5EF4-FFF2-40B4-BE49-F238E27FC236}">
                <a16:creationId xmlns:a16="http://schemas.microsoft.com/office/drawing/2014/main" id="{5BDC5993-DA61-49F4-F911-60669BDDA4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7035" y="1438003"/>
            <a:ext cx="4934407" cy="3981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9615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9A7663-2F0F-3189-E421-93F6CC9233DE}"/>
              </a:ext>
            </a:extLst>
          </p:cNvPr>
          <p:cNvSpPr>
            <a:spLocks noGrp="1"/>
          </p:cNvSpPr>
          <p:nvPr>
            <p:ph type="body" sz="quarter" idx="13"/>
          </p:nvPr>
        </p:nvSpPr>
        <p:spPr/>
        <p:txBody>
          <a:bodyPr>
            <a:normAutofit fontScale="92500" lnSpcReduction="10000"/>
          </a:bodyPr>
          <a:lstStyle/>
          <a:p>
            <a:r>
              <a:rPr lang="en-AU" dirty="0"/>
              <a:t>The Immune Response</a:t>
            </a:r>
            <a:r>
              <a:rPr lang="en-AU" sz="3600" dirty="0"/>
              <a:t> </a:t>
            </a:r>
            <a:endParaRPr lang="en-AU" sz="3400" dirty="0"/>
          </a:p>
          <a:p>
            <a:endParaRPr lang="en-US" dirty="0"/>
          </a:p>
        </p:txBody>
      </p:sp>
      <p:sp>
        <p:nvSpPr>
          <p:cNvPr id="3" name="Text Placeholder 2">
            <a:extLst>
              <a:ext uri="{FF2B5EF4-FFF2-40B4-BE49-F238E27FC236}">
                <a16:creationId xmlns:a16="http://schemas.microsoft.com/office/drawing/2014/main" id="{9340ED3C-2273-F24F-BC93-C74351E9EB37}"/>
              </a:ext>
            </a:extLst>
          </p:cNvPr>
          <p:cNvSpPr>
            <a:spLocks noGrp="1"/>
          </p:cNvSpPr>
          <p:nvPr>
            <p:ph type="body" sz="quarter" idx="15"/>
          </p:nvPr>
        </p:nvSpPr>
        <p:spPr>
          <a:xfrm>
            <a:off x="280558" y="1528994"/>
            <a:ext cx="6213007" cy="5066923"/>
          </a:xfrm>
        </p:spPr>
        <p:txBody>
          <a:bodyPr>
            <a:normAutofit/>
          </a:bodyPr>
          <a:lstStyle/>
          <a:p>
            <a:pPr marL="285750" indent="-285750">
              <a:buFont typeface="Arial" panose="020B0604020202020204" pitchFamily="34" charset="0"/>
              <a:buChar char="•"/>
            </a:pPr>
            <a:r>
              <a:rPr lang="en-AU" sz="2000" dirty="0">
                <a:latin typeface="Avenir Book" panose="02000503020000020003" pitchFamily="2" charset="0"/>
              </a:rPr>
              <a:t>An antigen is any substance capable of producing a specific immune response. </a:t>
            </a:r>
          </a:p>
          <a:p>
            <a:pPr marL="285750" indent="-285750">
              <a:buFont typeface="Arial" panose="020B0604020202020204" pitchFamily="34" charset="0"/>
              <a:buChar char="•"/>
            </a:pPr>
            <a:r>
              <a:rPr lang="en-AU" sz="2000" dirty="0">
                <a:latin typeface="Avenir Book" panose="02000503020000020003" pitchFamily="2" charset="0"/>
              </a:rPr>
              <a:t>Antigens are substances on the surface of cell membranes. So, often they are proteins, but they can be carbohydrates or lipids. </a:t>
            </a:r>
            <a:endParaRPr lang="en-US" sz="2000" dirty="0">
              <a:latin typeface="Avenir Book" panose="02000503020000020003" pitchFamily="2" charset="0"/>
            </a:endParaRPr>
          </a:p>
        </p:txBody>
      </p:sp>
      <p:pic>
        <p:nvPicPr>
          <p:cNvPr id="4" name="Picture 2" descr="23.2. Adaptive Immune Response – Concepts of Biology – 1st Canadian Edition">
            <a:extLst>
              <a:ext uri="{FF2B5EF4-FFF2-40B4-BE49-F238E27FC236}">
                <a16:creationId xmlns:a16="http://schemas.microsoft.com/office/drawing/2014/main" id="{106F5B27-F46B-86FD-FDC9-65489CC5A6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7035" y="1438003"/>
            <a:ext cx="4934407" cy="3981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662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874305E-4BE1-385E-38B0-A7ABF60145FA}"/>
              </a:ext>
            </a:extLst>
          </p:cNvPr>
          <p:cNvSpPr>
            <a:spLocks noGrp="1"/>
          </p:cNvSpPr>
          <p:nvPr>
            <p:ph type="body" sz="quarter" idx="13"/>
          </p:nvPr>
        </p:nvSpPr>
        <p:spPr/>
        <p:txBody>
          <a:bodyPr>
            <a:normAutofit fontScale="92500" lnSpcReduction="10000"/>
          </a:bodyPr>
          <a:lstStyle/>
          <a:p>
            <a:r>
              <a:rPr lang="en-AU" dirty="0"/>
              <a:t>The Immune Response</a:t>
            </a:r>
            <a:r>
              <a:rPr lang="en-AU" sz="3600" dirty="0"/>
              <a:t> </a:t>
            </a:r>
            <a:endParaRPr lang="en-AU" sz="3400" dirty="0"/>
          </a:p>
          <a:p>
            <a:endParaRPr lang="en-US" dirty="0"/>
          </a:p>
        </p:txBody>
      </p:sp>
      <p:sp>
        <p:nvSpPr>
          <p:cNvPr id="3" name="Text Placeholder 2">
            <a:extLst>
              <a:ext uri="{FF2B5EF4-FFF2-40B4-BE49-F238E27FC236}">
                <a16:creationId xmlns:a16="http://schemas.microsoft.com/office/drawing/2014/main" id="{B522A6BB-C8F6-851C-4F4D-66CD43A94262}"/>
              </a:ext>
            </a:extLst>
          </p:cNvPr>
          <p:cNvSpPr>
            <a:spLocks noGrp="1"/>
          </p:cNvSpPr>
          <p:nvPr>
            <p:ph type="body" sz="quarter" idx="15"/>
          </p:nvPr>
        </p:nvSpPr>
        <p:spPr>
          <a:xfrm>
            <a:off x="280558" y="1528994"/>
            <a:ext cx="6557564" cy="5066923"/>
          </a:xfrm>
        </p:spPr>
        <p:txBody>
          <a:bodyPr/>
          <a:lstStyle/>
          <a:p>
            <a:pPr marL="285750" indent="-285750">
              <a:buFont typeface="Arial" panose="020B0604020202020204" pitchFamily="34" charset="0"/>
              <a:buChar char="•"/>
            </a:pPr>
            <a:r>
              <a:rPr lang="en-AU" sz="2000" dirty="0">
                <a:latin typeface="Avenir Book" panose="02000503020000020003" pitchFamily="2" charset="0"/>
              </a:rPr>
              <a:t>Antigens are found on the surface of all cells, including those produced by the individual. Those belonging to the individual are self- or non-foreign antigens. </a:t>
            </a:r>
          </a:p>
          <a:p>
            <a:pPr marL="285750" indent="-285750">
              <a:buFont typeface="Arial" panose="020B0604020202020204" pitchFamily="34" charset="0"/>
              <a:buChar char="•"/>
            </a:pPr>
            <a:r>
              <a:rPr lang="en-AU" sz="2000" dirty="0">
                <a:latin typeface="Avenir Book" panose="02000503020000020003" pitchFamily="2" charset="0"/>
              </a:rPr>
              <a:t>The body is programmed to recognise these and not attack them. Those not belonging to the body e.g., on the surface of pathogens, are called non-self or foreign antigens. </a:t>
            </a:r>
          </a:p>
          <a:p>
            <a:endParaRPr lang="en-US" dirty="0"/>
          </a:p>
        </p:txBody>
      </p:sp>
      <p:pic>
        <p:nvPicPr>
          <p:cNvPr id="4" name="Picture 2" descr="23.2. Adaptive Immune Response – Concepts of Biology – 1st Canadian Edition">
            <a:extLst>
              <a:ext uri="{FF2B5EF4-FFF2-40B4-BE49-F238E27FC236}">
                <a16:creationId xmlns:a16="http://schemas.microsoft.com/office/drawing/2014/main" id="{E7EDA843-8A1F-58DF-EBEE-074FCF33E8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7035" y="1330036"/>
            <a:ext cx="4934407" cy="3981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3374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51BE4B3-7260-85B4-DF5B-9E722063CE9A}"/>
              </a:ext>
            </a:extLst>
          </p:cNvPr>
          <p:cNvSpPr>
            <a:spLocks noGrp="1"/>
          </p:cNvSpPr>
          <p:nvPr>
            <p:ph type="body" sz="quarter" idx="13"/>
          </p:nvPr>
        </p:nvSpPr>
        <p:spPr/>
        <p:txBody>
          <a:bodyPr>
            <a:normAutofit fontScale="92500" lnSpcReduction="10000"/>
          </a:bodyPr>
          <a:lstStyle/>
          <a:p>
            <a:r>
              <a:rPr lang="en-AU" dirty="0"/>
              <a:t>The Immune Response</a:t>
            </a:r>
            <a:r>
              <a:rPr lang="en-AU" sz="3600" dirty="0"/>
              <a:t> </a:t>
            </a:r>
            <a:endParaRPr lang="en-AU" sz="3400" dirty="0"/>
          </a:p>
          <a:p>
            <a:endParaRPr lang="en-US" dirty="0"/>
          </a:p>
        </p:txBody>
      </p:sp>
      <p:sp>
        <p:nvSpPr>
          <p:cNvPr id="3" name="Text Placeholder 2">
            <a:extLst>
              <a:ext uri="{FF2B5EF4-FFF2-40B4-BE49-F238E27FC236}">
                <a16:creationId xmlns:a16="http://schemas.microsoft.com/office/drawing/2014/main" id="{DD5D3C7D-07AE-F8AC-0D04-ACB96EA7CF2A}"/>
              </a:ext>
            </a:extLst>
          </p:cNvPr>
          <p:cNvSpPr>
            <a:spLocks noGrp="1"/>
          </p:cNvSpPr>
          <p:nvPr>
            <p:ph type="body" sz="quarter" idx="15"/>
          </p:nvPr>
        </p:nvSpPr>
        <p:spPr>
          <a:xfrm>
            <a:off x="280558" y="1528994"/>
            <a:ext cx="6040729" cy="5066923"/>
          </a:xfrm>
        </p:spPr>
        <p:txBody>
          <a:bodyPr>
            <a:normAutofit/>
          </a:bodyPr>
          <a:lstStyle/>
          <a:p>
            <a:r>
              <a:rPr lang="en-AU" sz="2000" dirty="0">
                <a:latin typeface="Avenir Book" panose="02000503020000020003" pitchFamily="2" charset="0"/>
              </a:rPr>
              <a:t>An autoimmune disorder is caused by the body not recognising self-antigens and attacking its own tissues. </a:t>
            </a:r>
            <a:endParaRPr lang="en-US" sz="2000" dirty="0">
              <a:latin typeface="Avenir Book" panose="02000503020000020003" pitchFamily="2" charset="0"/>
            </a:endParaRPr>
          </a:p>
        </p:txBody>
      </p:sp>
      <p:pic>
        <p:nvPicPr>
          <p:cNvPr id="4" name="Picture 2" descr="23.2. Adaptive Immune Response – Concepts of Biology – 1st Canadian Edition">
            <a:extLst>
              <a:ext uri="{FF2B5EF4-FFF2-40B4-BE49-F238E27FC236}">
                <a16:creationId xmlns:a16="http://schemas.microsoft.com/office/drawing/2014/main" id="{954D7B3A-4467-1C48-9D20-A1D1E03690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7035" y="1438003"/>
            <a:ext cx="4934407" cy="3981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8891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83B854F-0D8D-A2FE-1D57-FA962D8B575E}"/>
              </a:ext>
            </a:extLst>
          </p:cNvPr>
          <p:cNvSpPr>
            <a:spLocks noGrp="1"/>
          </p:cNvSpPr>
          <p:nvPr>
            <p:ph type="body" sz="quarter" idx="13"/>
          </p:nvPr>
        </p:nvSpPr>
        <p:spPr/>
        <p:txBody>
          <a:bodyPr/>
          <a:lstStyle/>
          <a:p>
            <a:r>
              <a:rPr lang="en-AU" dirty="0"/>
              <a:t>Humoral (cell-mediated) response</a:t>
            </a:r>
          </a:p>
          <a:p>
            <a:endParaRPr lang="en-US" dirty="0"/>
          </a:p>
        </p:txBody>
      </p:sp>
      <p:sp>
        <p:nvSpPr>
          <p:cNvPr id="3" name="Text Placeholder 2">
            <a:extLst>
              <a:ext uri="{FF2B5EF4-FFF2-40B4-BE49-F238E27FC236}">
                <a16:creationId xmlns:a16="http://schemas.microsoft.com/office/drawing/2014/main" id="{E1602DC6-C893-C799-3D79-8F70D8F8C461}"/>
              </a:ext>
            </a:extLst>
          </p:cNvPr>
          <p:cNvSpPr>
            <a:spLocks noGrp="1"/>
          </p:cNvSpPr>
          <p:nvPr>
            <p:ph type="body" sz="quarter" idx="15"/>
          </p:nvPr>
        </p:nvSpPr>
        <p:spPr>
          <a:xfrm>
            <a:off x="280558" y="1330036"/>
            <a:ext cx="7273181" cy="5403221"/>
          </a:xfrm>
        </p:spPr>
        <p:txBody>
          <a:bodyPr>
            <a:normAutofit fontScale="92500" lnSpcReduction="10000"/>
          </a:bodyPr>
          <a:lstStyle/>
          <a:p>
            <a:r>
              <a:rPr lang="en-AU" sz="1600" dirty="0">
                <a:latin typeface="Avenir Book" panose="02000503020000020003" pitchFamily="2" charset="0"/>
              </a:rPr>
              <a:t>There are two types of specific immune response:</a:t>
            </a:r>
          </a:p>
          <a:p>
            <a:r>
              <a:rPr lang="en-AU" sz="1600" dirty="0">
                <a:latin typeface="Avenir Book" panose="02000503020000020003" pitchFamily="2" charset="0"/>
              </a:rPr>
              <a:t>1. Humoral (cell-mediated) response</a:t>
            </a:r>
          </a:p>
          <a:p>
            <a:pPr marL="285750" indent="-285750">
              <a:buFont typeface="Arial" panose="020B0604020202020204" pitchFamily="34" charset="0"/>
              <a:buChar char="•"/>
            </a:pPr>
            <a:r>
              <a:rPr lang="en-AU" sz="1600" dirty="0">
                <a:latin typeface="Avenir Book" panose="02000503020000020003" pitchFamily="2" charset="0"/>
              </a:rPr>
              <a:t>B cells are stimulated by a foreign substance (antigen (capable of producing an immune response)) which reaches </a:t>
            </a:r>
            <a:r>
              <a:rPr lang="en-AU" sz="1600" b="1" dirty="0">
                <a:latin typeface="Avenir Book" panose="02000503020000020003" pitchFamily="2" charset="0"/>
              </a:rPr>
              <a:t>lymphoid tissue</a:t>
            </a:r>
            <a:r>
              <a:rPr lang="en-AU" sz="1600" dirty="0">
                <a:latin typeface="Avenir Book" panose="02000503020000020003" pitchFamily="2" charset="0"/>
              </a:rPr>
              <a:t>. This is called </a:t>
            </a:r>
            <a:r>
              <a:rPr lang="en-AU" sz="1600" b="1" dirty="0">
                <a:latin typeface="Avenir Book" panose="02000503020000020003" pitchFamily="2" charset="0"/>
              </a:rPr>
              <a:t>antigen presentation</a:t>
            </a:r>
            <a:r>
              <a:rPr lang="en-AU" sz="1600" dirty="0">
                <a:latin typeface="Avenir Book" panose="02000503020000020003" pitchFamily="2" charset="0"/>
              </a:rPr>
              <a:t>.</a:t>
            </a:r>
          </a:p>
          <a:p>
            <a:pPr marL="285750" indent="-285750">
              <a:buFont typeface="Arial" panose="020B0604020202020204" pitchFamily="34" charset="0"/>
              <a:buChar char="•"/>
            </a:pPr>
            <a:r>
              <a:rPr lang="en-AU" sz="1600" dirty="0">
                <a:latin typeface="Avenir Book" panose="02000503020000020003" pitchFamily="2" charset="0"/>
              </a:rPr>
              <a:t>Sensitised B (lymphocyte) cells are produced and mature in bone marrow. </a:t>
            </a:r>
          </a:p>
          <a:p>
            <a:pPr marL="285750" indent="-285750">
              <a:buFont typeface="Arial" panose="020B0604020202020204" pitchFamily="34" charset="0"/>
              <a:buChar char="•"/>
            </a:pPr>
            <a:r>
              <a:rPr lang="en-AU" sz="1600" dirty="0">
                <a:latin typeface="Avenir Book" panose="02000503020000020003" pitchFamily="2" charset="0"/>
              </a:rPr>
              <a:t>B cells are stimulated and rapidly divide by mitosis to produce plasma cells and some memory cells. </a:t>
            </a:r>
          </a:p>
          <a:p>
            <a:pPr marL="285750" indent="-285750">
              <a:buFont typeface="Arial" panose="020B0604020202020204" pitchFamily="34" charset="0"/>
              <a:buChar char="•"/>
            </a:pPr>
            <a:r>
              <a:rPr lang="en-AU" sz="1600" dirty="0">
                <a:latin typeface="Avenir Book" panose="02000503020000020003" pitchFamily="2" charset="0"/>
              </a:rPr>
              <a:t>Plasma cells produce antibodies (specialised proteins produced in response to a non-self antigen) which are released into the bloodstream.</a:t>
            </a:r>
          </a:p>
          <a:p>
            <a:r>
              <a:rPr lang="en-AU" sz="1600" dirty="0">
                <a:latin typeface="Avenir Book" panose="02000503020000020003" pitchFamily="2" charset="0"/>
              </a:rPr>
              <a:t>Antibodies inactivate or destroy non-self antigens by:</a:t>
            </a:r>
          </a:p>
          <a:p>
            <a:pPr marL="971550" lvl="1" indent="-285750"/>
            <a:r>
              <a:rPr lang="en-AU" sz="1600" dirty="0">
                <a:latin typeface="Avenir Book" panose="02000503020000020003" pitchFamily="2" charset="0"/>
              </a:rPr>
              <a:t>Binding to viral binding sites or to bacterial antigens.</a:t>
            </a:r>
          </a:p>
          <a:p>
            <a:pPr marL="971550" lvl="1" indent="-285750"/>
            <a:r>
              <a:rPr lang="en-AU" sz="1600" b="1" dirty="0">
                <a:latin typeface="Avenir Book" panose="02000503020000020003" pitchFamily="2" charset="0"/>
              </a:rPr>
              <a:t>Agglutination: </a:t>
            </a:r>
            <a:r>
              <a:rPr lang="en-AU" sz="1600" dirty="0">
                <a:latin typeface="Avenir Book" panose="02000503020000020003" pitchFamily="2" charset="0"/>
              </a:rPr>
              <a:t>clumping non-self particles together. Reacting with soluble antigens and making them insoluble.</a:t>
            </a:r>
          </a:p>
          <a:p>
            <a:pPr marL="971550" lvl="1" indent="-285750"/>
            <a:r>
              <a:rPr lang="en-AU" sz="1600" dirty="0">
                <a:latin typeface="Avenir Book" panose="02000503020000020003" pitchFamily="2" charset="0"/>
              </a:rPr>
              <a:t>Coat bacteria enhancing phagocytosis. (1st three points also enhance phagocytosis). </a:t>
            </a:r>
          </a:p>
          <a:p>
            <a:pPr marL="971550" lvl="1" indent="-285750"/>
            <a:r>
              <a:rPr lang="en-AU" sz="1600" dirty="0">
                <a:latin typeface="Avenir Book" panose="02000503020000020003" pitchFamily="2" charset="0"/>
              </a:rPr>
              <a:t>Inhibiting reactions with other cells or compounds by breakdown of non-self.</a:t>
            </a:r>
          </a:p>
          <a:p>
            <a:pPr marL="285750" indent="-285750">
              <a:buFont typeface="Arial" panose="020B0604020202020204" pitchFamily="34" charset="0"/>
              <a:buChar char="•"/>
            </a:pPr>
            <a:r>
              <a:rPr lang="en-AU" sz="1600" dirty="0">
                <a:latin typeface="Avenir Book" panose="02000503020000020003" pitchFamily="2" charset="0"/>
              </a:rPr>
              <a:t>This is a primary response. It takes time to develop the antibodies and so the</a:t>
            </a:r>
          </a:p>
          <a:p>
            <a:pPr marL="285750" indent="-285750">
              <a:buFont typeface="Arial" panose="020B0604020202020204" pitchFamily="34" charset="0"/>
              <a:buChar char="•"/>
            </a:pPr>
            <a:r>
              <a:rPr lang="en-AU" sz="1600" dirty="0">
                <a:latin typeface="Avenir Book" panose="02000503020000020003" pitchFamily="2" charset="0"/>
              </a:rPr>
              <a:t>Memory cells result in a much faster response should the same non-self antigen invade the body again.</a:t>
            </a:r>
          </a:p>
        </p:txBody>
      </p:sp>
      <p:pic>
        <p:nvPicPr>
          <p:cNvPr id="5" name="Picture 4" descr="Diagram&#10;&#10;Description automatically generated">
            <a:extLst>
              <a:ext uri="{FF2B5EF4-FFF2-40B4-BE49-F238E27FC236}">
                <a16:creationId xmlns:a16="http://schemas.microsoft.com/office/drawing/2014/main" id="{C8C50AC9-7B5C-A0F6-8C47-EE7C3D0AEAA7}"/>
              </a:ext>
            </a:extLst>
          </p:cNvPr>
          <p:cNvPicPr>
            <a:picLocks noChangeAspect="1"/>
          </p:cNvPicPr>
          <p:nvPr/>
        </p:nvPicPr>
        <p:blipFill>
          <a:blip r:embed="rId2"/>
          <a:stretch>
            <a:fillRect/>
          </a:stretch>
        </p:blipFill>
        <p:spPr>
          <a:xfrm>
            <a:off x="7553739" y="0"/>
            <a:ext cx="4638261" cy="6858000"/>
          </a:xfrm>
          <a:prstGeom prst="rect">
            <a:avLst/>
          </a:prstGeom>
        </p:spPr>
      </p:pic>
    </p:spTree>
    <p:extLst>
      <p:ext uri="{BB962C8B-B14F-4D97-AF65-F5344CB8AC3E}">
        <p14:creationId xmlns:p14="http://schemas.microsoft.com/office/powerpoint/2010/main" val="277035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583060B-F0D5-D391-8F78-F1911DF23099}"/>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8D223517-EAF6-1AF4-000E-ECD996F99174}"/>
              </a:ext>
            </a:extLst>
          </p:cNvPr>
          <p:cNvSpPr>
            <a:spLocks noGrp="1"/>
          </p:cNvSpPr>
          <p:nvPr>
            <p:ph type="body" sz="quarter" idx="15"/>
          </p:nvPr>
        </p:nvSpPr>
        <p:spPr>
          <a:xfrm>
            <a:off x="280558" y="1528994"/>
            <a:ext cx="7200675" cy="5066923"/>
          </a:xfrm>
        </p:spPr>
        <p:txBody>
          <a:bodyPr>
            <a:normAutofit fontScale="92500" lnSpcReduction="10000"/>
          </a:bodyPr>
          <a:lstStyle/>
          <a:p>
            <a:r>
              <a:rPr lang="en-AU" dirty="0"/>
              <a:t>2</a:t>
            </a:r>
            <a:r>
              <a:rPr lang="en-AU" sz="2400" dirty="0">
                <a:latin typeface="Avenir Book" panose="02000503020000020003" pitchFamily="2" charset="0"/>
              </a:rPr>
              <a:t>. </a:t>
            </a:r>
            <a:r>
              <a:rPr lang="en-AU" sz="2400" b="1" dirty="0">
                <a:latin typeface="Avenir Book" panose="02000503020000020003" pitchFamily="2" charset="0"/>
              </a:rPr>
              <a:t>Cell mediated response:</a:t>
            </a:r>
            <a:endParaRPr lang="en-AU" sz="2400" dirty="0">
              <a:latin typeface="Avenir Book" panose="02000503020000020003" pitchFamily="2" charset="0"/>
            </a:endParaRPr>
          </a:p>
          <a:p>
            <a:pPr marL="285750" indent="-285750">
              <a:buFont typeface="Arial" panose="020B0604020202020204" pitchFamily="34" charset="0"/>
              <a:buChar char="•"/>
            </a:pPr>
            <a:r>
              <a:rPr lang="en-AU" sz="2400" dirty="0">
                <a:latin typeface="Avenir Book" panose="02000503020000020003" pitchFamily="2" charset="0"/>
              </a:rPr>
              <a:t>This provides resistance to the intra-cellular phase of bacterial and viral infections.</a:t>
            </a:r>
          </a:p>
          <a:p>
            <a:pPr marL="285750" indent="-285750">
              <a:buFont typeface="Arial" panose="020B0604020202020204" pitchFamily="34" charset="0"/>
              <a:buChar char="•"/>
            </a:pPr>
            <a:r>
              <a:rPr lang="en-AU" sz="2400" dirty="0">
                <a:latin typeface="Avenir Book" panose="02000503020000020003" pitchFamily="2" charset="0"/>
              </a:rPr>
              <a:t>Foreign antigens reach lymphoid tissue.</a:t>
            </a:r>
          </a:p>
          <a:p>
            <a:pPr marL="285750" indent="-285750">
              <a:buFont typeface="Arial" panose="020B0604020202020204" pitchFamily="34" charset="0"/>
              <a:buChar char="•"/>
            </a:pPr>
            <a:r>
              <a:rPr lang="en-AU" sz="2400" dirty="0">
                <a:latin typeface="Avenir Book" panose="02000503020000020003" pitchFamily="2" charset="0"/>
              </a:rPr>
              <a:t>T cells are sensitised and undergo rapid cell division. Most of the cells produced are </a:t>
            </a:r>
            <a:r>
              <a:rPr lang="en-AU" sz="2400" b="1" dirty="0">
                <a:latin typeface="Avenir Book" panose="02000503020000020003" pitchFamily="2" charset="0"/>
              </a:rPr>
              <a:t>killer T cells</a:t>
            </a:r>
            <a:r>
              <a:rPr lang="en-AU" sz="2400" dirty="0">
                <a:latin typeface="Avenir Book" panose="02000503020000020003" pitchFamily="2" charset="0"/>
              </a:rPr>
              <a:t>, which destroy the antigen. Other T cells become </a:t>
            </a:r>
            <a:r>
              <a:rPr lang="en-AU" sz="2400" b="1" dirty="0">
                <a:latin typeface="Avenir Book" panose="02000503020000020003" pitchFamily="2" charset="0"/>
              </a:rPr>
              <a:t>helper T cells</a:t>
            </a:r>
            <a:r>
              <a:rPr lang="en-AU" sz="2400" dirty="0">
                <a:latin typeface="Avenir Book" panose="02000503020000020003" pitchFamily="2" charset="0"/>
              </a:rPr>
              <a:t>, which sensitise lymphocytes, intensify response and promote phagocytosis, and </a:t>
            </a:r>
            <a:r>
              <a:rPr lang="en-AU" sz="2400" b="1" dirty="0">
                <a:latin typeface="Avenir Book" panose="02000503020000020003" pitchFamily="2" charset="0"/>
              </a:rPr>
              <a:t>suppressor T cells</a:t>
            </a:r>
            <a:r>
              <a:rPr lang="en-AU" sz="2400" dirty="0">
                <a:latin typeface="Avenir Book" panose="02000503020000020003" pitchFamily="2" charset="0"/>
              </a:rPr>
              <a:t>, which inhibit B and T cells to slow down the immune response once the infection has been dealt with effectively.</a:t>
            </a:r>
          </a:p>
          <a:p>
            <a:pPr marL="285750" indent="-285750">
              <a:buFont typeface="Arial" panose="020B0604020202020204" pitchFamily="34" charset="0"/>
              <a:buChar char="•"/>
            </a:pPr>
            <a:r>
              <a:rPr lang="en-AU" sz="2400" dirty="0">
                <a:latin typeface="Avenir Book" panose="02000503020000020003" pitchFamily="2" charset="0"/>
              </a:rPr>
              <a:t>Some T cells form memory cells which initiate a faster </a:t>
            </a:r>
            <a:r>
              <a:rPr lang="en-AU" sz="2400" b="1" dirty="0">
                <a:latin typeface="Avenir Book" panose="02000503020000020003" pitchFamily="2" charset="0"/>
              </a:rPr>
              <a:t>secondary response </a:t>
            </a:r>
            <a:r>
              <a:rPr lang="en-AU" sz="2400" dirty="0">
                <a:latin typeface="Avenir Book" panose="02000503020000020003" pitchFamily="2" charset="0"/>
              </a:rPr>
              <a:t>should the same antigen re-enter the body.</a:t>
            </a:r>
          </a:p>
          <a:p>
            <a:endParaRPr lang="en-US" dirty="0"/>
          </a:p>
        </p:txBody>
      </p:sp>
      <p:pic>
        <p:nvPicPr>
          <p:cNvPr id="5" name="Picture 4" descr="Diagram&#10;&#10;Description automatically generated">
            <a:extLst>
              <a:ext uri="{FF2B5EF4-FFF2-40B4-BE49-F238E27FC236}">
                <a16:creationId xmlns:a16="http://schemas.microsoft.com/office/drawing/2014/main" id="{A766BF35-7495-AA7B-F5BD-F2FADCFBD3B1}"/>
              </a:ext>
            </a:extLst>
          </p:cNvPr>
          <p:cNvPicPr>
            <a:picLocks noChangeAspect="1"/>
          </p:cNvPicPr>
          <p:nvPr/>
        </p:nvPicPr>
        <p:blipFill>
          <a:blip r:embed="rId2"/>
          <a:stretch>
            <a:fillRect/>
          </a:stretch>
        </p:blipFill>
        <p:spPr>
          <a:xfrm>
            <a:off x="7481233" y="0"/>
            <a:ext cx="4710767" cy="6858000"/>
          </a:xfrm>
          <a:prstGeom prst="rect">
            <a:avLst/>
          </a:prstGeom>
        </p:spPr>
      </p:pic>
    </p:spTree>
    <p:extLst>
      <p:ext uri="{BB962C8B-B14F-4D97-AF65-F5344CB8AC3E}">
        <p14:creationId xmlns:p14="http://schemas.microsoft.com/office/powerpoint/2010/main" val="1644772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B90C556-D229-34C8-9316-7BC98684FE2B}"/>
              </a:ext>
            </a:extLst>
          </p:cNvPr>
          <p:cNvSpPr>
            <a:spLocks noGrp="1"/>
          </p:cNvSpPr>
          <p:nvPr>
            <p:ph type="body" sz="quarter" idx="13"/>
          </p:nvPr>
        </p:nvSpPr>
        <p:spPr/>
        <p:txBody>
          <a:bodyPr/>
          <a:lstStyle/>
          <a:p>
            <a:r>
              <a:rPr lang="en-US" dirty="0"/>
              <a:t>Types of Immunity </a:t>
            </a:r>
          </a:p>
        </p:txBody>
      </p:sp>
      <p:sp>
        <p:nvSpPr>
          <p:cNvPr id="3" name="Text Placeholder 2">
            <a:extLst>
              <a:ext uri="{FF2B5EF4-FFF2-40B4-BE49-F238E27FC236}">
                <a16:creationId xmlns:a16="http://schemas.microsoft.com/office/drawing/2014/main" id="{35872475-79DD-05BB-D562-59BCB6A6555A}"/>
              </a:ext>
            </a:extLst>
          </p:cNvPr>
          <p:cNvSpPr>
            <a:spLocks noGrp="1"/>
          </p:cNvSpPr>
          <p:nvPr>
            <p:ph type="body" sz="quarter" idx="15"/>
          </p:nvPr>
        </p:nvSpPr>
        <p:spPr/>
        <p:txBody>
          <a:bodyPr/>
          <a:lstStyle/>
          <a:p>
            <a:pPr marL="285750" indent="-285750">
              <a:buFont typeface="Arial" panose="020B0604020202020204" pitchFamily="34" charset="0"/>
              <a:buChar char="•"/>
            </a:pPr>
            <a:r>
              <a:rPr lang="en-AU" dirty="0">
                <a:latin typeface="Avenir Book" panose="02000503020000020003" pitchFamily="2" charset="0"/>
              </a:rPr>
              <a:t>Immunity is the resistance to infection by invading micro-organism.</a:t>
            </a:r>
          </a:p>
          <a:p>
            <a:pPr marL="285750" indent="-285750">
              <a:buFont typeface="Arial" panose="020B0604020202020204" pitchFamily="34" charset="0"/>
              <a:buChar char="•"/>
            </a:pPr>
            <a:r>
              <a:rPr lang="en-AU" dirty="0">
                <a:latin typeface="Avenir Book" panose="02000503020000020003" pitchFamily="2" charset="0"/>
              </a:rPr>
              <a:t>Immunity can be </a:t>
            </a:r>
            <a:r>
              <a:rPr lang="en-AU" b="1" dirty="0">
                <a:latin typeface="Avenir Book" panose="02000503020000020003" pitchFamily="2" charset="0"/>
              </a:rPr>
              <a:t>natural</a:t>
            </a:r>
            <a:r>
              <a:rPr lang="en-AU" dirty="0">
                <a:latin typeface="Avenir Book" panose="02000503020000020003" pitchFamily="2" charset="0"/>
              </a:rPr>
              <a:t>, i.e., there is no human intervention, or </a:t>
            </a:r>
            <a:r>
              <a:rPr lang="en-AU" b="1" dirty="0">
                <a:latin typeface="Avenir Book" panose="02000503020000020003" pitchFamily="2" charset="0"/>
              </a:rPr>
              <a:t>artificial</a:t>
            </a:r>
            <a:r>
              <a:rPr lang="en-AU" dirty="0">
                <a:latin typeface="Avenir Book" panose="02000503020000020003" pitchFamily="2" charset="0"/>
              </a:rPr>
              <a:t>, i.e., as a result of being given an antibody or antigen. </a:t>
            </a:r>
          </a:p>
          <a:p>
            <a:pPr marL="285750" indent="-285750">
              <a:buFont typeface="Arial" panose="020B0604020202020204" pitchFamily="34" charset="0"/>
              <a:buChar char="•"/>
            </a:pPr>
            <a:r>
              <a:rPr lang="en-AU" b="1" dirty="0">
                <a:latin typeface="Avenir Book" panose="02000503020000020003" pitchFamily="2" charset="0"/>
              </a:rPr>
              <a:t>Passive</a:t>
            </a:r>
            <a:r>
              <a:rPr lang="en-AU" dirty="0">
                <a:latin typeface="Avenir Book" panose="02000503020000020003" pitchFamily="2" charset="0"/>
              </a:rPr>
              <a:t> immunity is when the body receives antibodies from another source. Active immunity is when the body produces its own antibodies in response to a non-self antigen.</a:t>
            </a:r>
          </a:p>
          <a:p>
            <a:endParaRPr lang="en-US" dirty="0"/>
          </a:p>
        </p:txBody>
      </p:sp>
    </p:spTree>
    <p:extLst>
      <p:ext uri="{BB962C8B-B14F-4D97-AF65-F5344CB8AC3E}">
        <p14:creationId xmlns:p14="http://schemas.microsoft.com/office/powerpoint/2010/main" val="1607712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a:xfrm>
            <a:off x="280557" y="653672"/>
            <a:ext cx="11481952" cy="524699"/>
          </a:xfrm>
        </p:spPr>
        <p:txBody>
          <a:bodyPr>
            <a:noAutofit/>
          </a:bodyPr>
          <a:lstStyle/>
          <a:p>
            <a:r>
              <a:rPr lang="en-AU" sz="3200" dirty="0">
                <a:solidFill>
                  <a:srgbClr val="004D95"/>
                </a:solidFill>
              </a:rPr>
              <a:t>Types of Immunity </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280557" y="1448023"/>
            <a:ext cx="9246617" cy="4756305"/>
          </a:xfrm>
        </p:spPr>
        <p:txBody>
          <a:bodyPr>
            <a:normAutofit/>
          </a:bodyPr>
          <a:lstStyle/>
          <a:p>
            <a:endParaRPr lang="en-AU" sz="2400" dirty="0"/>
          </a:p>
          <a:p>
            <a:r>
              <a:rPr lang="en-AU" sz="2400" dirty="0"/>
              <a:t> </a:t>
            </a:r>
          </a:p>
          <a:p>
            <a:endParaRPr lang="en-AU" dirty="0"/>
          </a:p>
        </p:txBody>
      </p:sp>
      <p:graphicFrame>
        <p:nvGraphicFramePr>
          <p:cNvPr id="4" name="Table 4">
            <a:extLst>
              <a:ext uri="{FF2B5EF4-FFF2-40B4-BE49-F238E27FC236}">
                <a16:creationId xmlns:a16="http://schemas.microsoft.com/office/drawing/2014/main" id="{5385A1CE-289B-6265-906A-B5373A993E26}"/>
              </a:ext>
            </a:extLst>
          </p:cNvPr>
          <p:cNvGraphicFramePr>
            <a:graphicFrameLocks noGrp="1"/>
          </p:cNvGraphicFramePr>
          <p:nvPr>
            <p:extLst>
              <p:ext uri="{D42A27DB-BD31-4B8C-83A1-F6EECF244321}">
                <p14:modId xmlns:p14="http://schemas.microsoft.com/office/powerpoint/2010/main" val="1277940560"/>
              </p:ext>
            </p:extLst>
          </p:nvPr>
        </p:nvGraphicFramePr>
        <p:xfrm>
          <a:off x="280557" y="1178372"/>
          <a:ext cx="11911443" cy="5580237"/>
        </p:xfrm>
        <a:graphic>
          <a:graphicData uri="http://schemas.openxmlformats.org/drawingml/2006/table">
            <a:tbl>
              <a:tblPr firstRow="1" bandRow="1">
                <a:tableStyleId>{5C22544A-7EE6-4342-B048-85BDC9FD1C3A}</a:tableStyleId>
              </a:tblPr>
              <a:tblGrid>
                <a:gridCol w="1071165">
                  <a:extLst>
                    <a:ext uri="{9D8B030D-6E8A-4147-A177-3AD203B41FA5}">
                      <a16:colId xmlns:a16="http://schemas.microsoft.com/office/drawing/2014/main" val="2464352337"/>
                    </a:ext>
                  </a:extLst>
                </a:gridCol>
                <a:gridCol w="5340626">
                  <a:extLst>
                    <a:ext uri="{9D8B030D-6E8A-4147-A177-3AD203B41FA5}">
                      <a16:colId xmlns:a16="http://schemas.microsoft.com/office/drawing/2014/main" val="1148265014"/>
                    </a:ext>
                  </a:extLst>
                </a:gridCol>
                <a:gridCol w="5499652">
                  <a:extLst>
                    <a:ext uri="{9D8B030D-6E8A-4147-A177-3AD203B41FA5}">
                      <a16:colId xmlns:a16="http://schemas.microsoft.com/office/drawing/2014/main" val="3128420995"/>
                    </a:ext>
                  </a:extLst>
                </a:gridCol>
              </a:tblGrid>
              <a:tr h="522071">
                <a:tc>
                  <a:txBody>
                    <a:bodyPr/>
                    <a:lstStyle/>
                    <a:p>
                      <a:endParaRPr lang="en-US" sz="2000">
                        <a:latin typeface="Avenir Book" panose="02000503020000020003" pitchFamily="2" charset="0"/>
                      </a:endParaRPr>
                    </a:p>
                  </a:txBody>
                  <a:tcPr/>
                </a:tc>
                <a:tc>
                  <a:txBody>
                    <a:bodyPr/>
                    <a:lstStyle/>
                    <a:p>
                      <a:r>
                        <a:rPr lang="en-US" sz="2000" dirty="0">
                          <a:latin typeface="Avenir Book" panose="02000503020000020003" pitchFamily="2" charset="0"/>
                        </a:rPr>
                        <a:t>Natural </a:t>
                      </a:r>
                    </a:p>
                  </a:txBody>
                  <a:tcPr/>
                </a:tc>
                <a:tc>
                  <a:txBody>
                    <a:bodyPr/>
                    <a:lstStyle/>
                    <a:p>
                      <a:r>
                        <a:rPr lang="en-US" sz="2000" dirty="0">
                          <a:latin typeface="Avenir Book" panose="02000503020000020003" pitchFamily="2" charset="0"/>
                        </a:rPr>
                        <a:t>Artificial </a:t>
                      </a:r>
                    </a:p>
                  </a:txBody>
                  <a:tcPr/>
                </a:tc>
                <a:extLst>
                  <a:ext uri="{0D108BD9-81ED-4DB2-BD59-A6C34878D82A}">
                    <a16:rowId xmlns:a16="http://schemas.microsoft.com/office/drawing/2014/main" val="1007186326"/>
                  </a:ext>
                </a:extLst>
              </a:tr>
              <a:tr h="2385385">
                <a:tc>
                  <a:txBody>
                    <a:bodyPr/>
                    <a:lstStyle/>
                    <a:p>
                      <a:r>
                        <a:rPr lang="en-US" sz="2000" dirty="0">
                          <a:latin typeface="Avenir Book" panose="02000503020000020003" pitchFamily="2" charset="0"/>
                        </a:rPr>
                        <a:t>Passive</a:t>
                      </a:r>
                    </a:p>
                  </a:txBody>
                  <a:tcPr/>
                </a:tc>
                <a:tc>
                  <a:txBody>
                    <a:bodyPr/>
                    <a:lstStyle/>
                    <a:p>
                      <a:pPr marL="285750" indent="-285750">
                        <a:buFont typeface="Arial" panose="020B0604020202020204" pitchFamily="34" charset="0"/>
                        <a:buChar char="•"/>
                      </a:pPr>
                      <a:r>
                        <a:rPr lang="en-AU" sz="2000" kern="1200" dirty="0">
                          <a:solidFill>
                            <a:schemeClr val="dk1"/>
                          </a:solidFill>
                          <a:effectLst/>
                          <a:latin typeface="Avenir Book" panose="02000503020000020003" pitchFamily="2" charset="0"/>
                          <a:ea typeface="+mn-ea"/>
                          <a:cs typeface="+mn-cs"/>
                        </a:rPr>
                        <a:t>Occurs without human intervention. </a:t>
                      </a:r>
                    </a:p>
                    <a:p>
                      <a:pPr marL="285750" indent="-285750">
                        <a:buFont typeface="Arial" panose="020B0604020202020204" pitchFamily="34" charset="0"/>
                        <a:buChar char="•"/>
                      </a:pPr>
                      <a:r>
                        <a:rPr lang="en-AU" sz="2000" kern="1200" dirty="0">
                          <a:solidFill>
                            <a:schemeClr val="dk1"/>
                          </a:solidFill>
                          <a:effectLst/>
                          <a:latin typeface="Avenir Book" panose="02000503020000020003" pitchFamily="2" charset="0"/>
                          <a:ea typeface="+mn-ea"/>
                          <a:cs typeface="+mn-cs"/>
                        </a:rPr>
                        <a:t>Body gets antibodies produced by someone else. </a:t>
                      </a:r>
                    </a:p>
                    <a:p>
                      <a:pPr marL="285750" indent="-285750">
                        <a:buFont typeface="Arial" panose="020B0604020202020204" pitchFamily="34" charset="0"/>
                        <a:buChar char="•"/>
                      </a:pPr>
                      <a:r>
                        <a:rPr lang="en-AU" sz="2000" kern="1200" dirty="0">
                          <a:solidFill>
                            <a:schemeClr val="dk1"/>
                          </a:solidFill>
                          <a:effectLst/>
                          <a:latin typeface="Avenir Book" panose="02000503020000020003" pitchFamily="2" charset="0"/>
                          <a:ea typeface="+mn-ea"/>
                          <a:cs typeface="+mn-cs"/>
                        </a:rPr>
                        <a:t>Not long lasting.</a:t>
                      </a:r>
                    </a:p>
                    <a:p>
                      <a:pPr marL="285750" indent="-285750">
                        <a:buFont typeface="Arial" panose="020B0604020202020204" pitchFamily="34" charset="0"/>
                        <a:buChar char="•"/>
                      </a:pPr>
                      <a:r>
                        <a:rPr lang="en-AU" sz="2000" kern="1200" dirty="0">
                          <a:solidFill>
                            <a:schemeClr val="dk1"/>
                          </a:solidFill>
                          <a:effectLst/>
                          <a:latin typeface="Avenir Book" panose="02000503020000020003" pitchFamily="2" charset="0"/>
                          <a:ea typeface="+mn-ea"/>
                          <a:cs typeface="+mn-cs"/>
                        </a:rPr>
                        <a:t>Example: antibodies enter the bloodstream across the placenta or in breast milk.</a:t>
                      </a:r>
                    </a:p>
                  </a:txBody>
                  <a:tcPr/>
                </a:tc>
                <a:tc>
                  <a:txBody>
                    <a:bodyPr/>
                    <a:lstStyle/>
                    <a:p>
                      <a:pPr marL="285750" indent="-285750">
                        <a:buFont typeface="Arial" panose="020B0604020202020204" pitchFamily="34" charset="0"/>
                        <a:buChar char="•"/>
                      </a:pPr>
                      <a:r>
                        <a:rPr lang="en-AU" sz="2000" kern="1200" dirty="0">
                          <a:solidFill>
                            <a:schemeClr val="dk1"/>
                          </a:solidFill>
                          <a:effectLst/>
                          <a:latin typeface="Avenir Book" panose="02000503020000020003" pitchFamily="2" charset="0"/>
                          <a:ea typeface="+mn-ea"/>
                          <a:cs typeface="+mn-cs"/>
                        </a:rPr>
                        <a:t>Occurs when someone is given antibodies </a:t>
                      </a:r>
                    </a:p>
                    <a:p>
                      <a:pPr marL="285750" indent="-285750">
                        <a:buFont typeface="Arial" panose="020B0604020202020204" pitchFamily="34" charset="0"/>
                        <a:buChar char="•"/>
                      </a:pPr>
                      <a:r>
                        <a:rPr lang="en-AU" sz="2000" kern="1200" dirty="0">
                          <a:solidFill>
                            <a:schemeClr val="dk1"/>
                          </a:solidFill>
                          <a:effectLst/>
                          <a:latin typeface="Avenir Book" panose="02000503020000020003" pitchFamily="2" charset="0"/>
                          <a:ea typeface="+mn-ea"/>
                          <a:cs typeface="+mn-cs"/>
                        </a:rPr>
                        <a:t>Body gets antibodies produced by someone else.</a:t>
                      </a:r>
                    </a:p>
                    <a:p>
                      <a:pPr marL="285750" indent="-285750">
                        <a:buFont typeface="Arial" panose="020B0604020202020204" pitchFamily="34" charset="0"/>
                        <a:buChar char="•"/>
                      </a:pPr>
                      <a:r>
                        <a:rPr lang="en-AU" sz="2000" kern="1200" dirty="0">
                          <a:solidFill>
                            <a:schemeClr val="dk1"/>
                          </a:solidFill>
                          <a:effectLst/>
                          <a:latin typeface="Avenir Book" panose="02000503020000020003" pitchFamily="2" charset="0"/>
                          <a:ea typeface="+mn-ea"/>
                          <a:cs typeface="+mn-cs"/>
                        </a:rPr>
                        <a:t>Not long lasting.</a:t>
                      </a:r>
                    </a:p>
                    <a:p>
                      <a:pPr marL="285750" indent="-285750">
                        <a:buFont typeface="Arial" panose="020B0604020202020204" pitchFamily="34" charset="0"/>
                        <a:buChar char="•"/>
                      </a:pPr>
                      <a:r>
                        <a:rPr lang="en-AU" sz="2000" kern="1200" dirty="0">
                          <a:solidFill>
                            <a:schemeClr val="dk1"/>
                          </a:solidFill>
                          <a:effectLst/>
                          <a:latin typeface="Avenir Book" panose="02000503020000020003" pitchFamily="2" charset="0"/>
                          <a:ea typeface="+mn-ea"/>
                          <a:cs typeface="+mn-cs"/>
                        </a:rPr>
                        <a:t>Example: influenza antibodies injected into bloodstream.</a:t>
                      </a:r>
                    </a:p>
                    <a:p>
                      <a:endParaRPr lang="en-US" sz="2000" dirty="0">
                        <a:latin typeface="Avenir Book" panose="02000503020000020003" pitchFamily="2" charset="0"/>
                      </a:endParaRPr>
                    </a:p>
                  </a:txBody>
                  <a:tcPr/>
                </a:tc>
                <a:extLst>
                  <a:ext uri="{0D108BD9-81ED-4DB2-BD59-A6C34878D82A}">
                    <a16:rowId xmlns:a16="http://schemas.microsoft.com/office/drawing/2014/main" val="3360431229"/>
                  </a:ext>
                </a:extLst>
              </a:tr>
              <a:tr h="2672781">
                <a:tc>
                  <a:txBody>
                    <a:bodyPr/>
                    <a:lstStyle/>
                    <a:p>
                      <a:r>
                        <a:rPr lang="en-US" sz="2000" dirty="0">
                          <a:latin typeface="Avenir Book" panose="02000503020000020003" pitchFamily="2" charset="0"/>
                        </a:rPr>
                        <a:t>Active</a:t>
                      </a:r>
                    </a:p>
                  </a:txBody>
                  <a:tcPr/>
                </a:tc>
                <a:tc>
                  <a:txBody>
                    <a:bodyPr/>
                    <a:lstStyle/>
                    <a:p>
                      <a:pPr marL="285750" indent="-285750">
                        <a:buFont typeface="Arial" panose="020B0604020202020204" pitchFamily="34" charset="0"/>
                        <a:buChar char="•"/>
                      </a:pPr>
                      <a:r>
                        <a:rPr lang="en-AU" sz="2000" kern="1200" dirty="0">
                          <a:solidFill>
                            <a:schemeClr val="dk1"/>
                          </a:solidFill>
                          <a:effectLst/>
                          <a:latin typeface="Avenir Book" panose="02000503020000020003" pitchFamily="2" charset="0"/>
                          <a:ea typeface="+mn-ea"/>
                          <a:cs typeface="+mn-cs"/>
                        </a:rPr>
                        <a:t>Occurs without human intervention. Body makes its own antibodies in response to a non-self antigen.</a:t>
                      </a:r>
                    </a:p>
                    <a:p>
                      <a:pPr marL="285750" indent="-285750">
                        <a:buFont typeface="Arial" panose="020B0604020202020204" pitchFamily="34" charset="0"/>
                        <a:buChar char="•"/>
                      </a:pPr>
                      <a:r>
                        <a:rPr lang="en-AU" sz="2000" kern="1200" dirty="0">
                          <a:solidFill>
                            <a:schemeClr val="dk1"/>
                          </a:solidFill>
                          <a:effectLst/>
                          <a:latin typeface="Avenir Book" panose="02000503020000020003" pitchFamily="2" charset="0"/>
                          <a:ea typeface="+mn-ea"/>
                          <a:cs typeface="+mn-cs"/>
                        </a:rPr>
                        <a:t>Long lasting immunity because of memory cells.</a:t>
                      </a:r>
                    </a:p>
                    <a:p>
                      <a:pPr marL="285750" indent="-285750">
                        <a:buFont typeface="Arial" panose="020B0604020202020204" pitchFamily="34" charset="0"/>
                        <a:buChar char="•"/>
                      </a:pPr>
                      <a:r>
                        <a:rPr lang="en-AU" sz="2000" kern="1200" dirty="0">
                          <a:solidFill>
                            <a:schemeClr val="dk1"/>
                          </a:solidFill>
                          <a:effectLst/>
                          <a:latin typeface="Avenir Book" panose="02000503020000020003" pitchFamily="2" charset="0"/>
                          <a:ea typeface="+mn-ea"/>
                          <a:cs typeface="+mn-cs"/>
                        </a:rPr>
                        <a:t>Example: Contracting chickenpox and producing antibodies to it.</a:t>
                      </a:r>
                    </a:p>
                    <a:p>
                      <a:endParaRPr lang="en-US" sz="2000" dirty="0">
                        <a:latin typeface="Avenir Book" panose="02000503020000020003" pitchFamily="2" charset="0"/>
                      </a:endParaRPr>
                    </a:p>
                  </a:txBody>
                  <a:tcPr/>
                </a:tc>
                <a:tc>
                  <a:txBody>
                    <a:bodyPr/>
                    <a:lstStyle/>
                    <a:p>
                      <a:r>
                        <a:rPr lang="en-AU" sz="2000" kern="1200" dirty="0">
                          <a:solidFill>
                            <a:schemeClr val="dk1"/>
                          </a:solidFill>
                          <a:effectLst/>
                          <a:latin typeface="Avenir Book" panose="02000503020000020003" pitchFamily="2" charset="0"/>
                          <a:ea typeface="+mn-ea"/>
                          <a:cs typeface="+mn-cs"/>
                        </a:rPr>
                        <a:t>Occurs when someone is given antigens.</a:t>
                      </a:r>
                    </a:p>
                    <a:p>
                      <a:r>
                        <a:rPr lang="en-AU" sz="2000" kern="1200" dirty="0">
                          <a:solidFill>
                            <a:schemeClr val="dk1"/>
                          </a:solidFill>
                          <a:effectLst/>
                          <a:latin typeface="Avenir Book" panose="02000503020000020003" pitchFamily="2" charset="0"/>
                          <a:ea typeface="+mn-ea"/>
                          <a:cs typeface="+mn-cs"/>
                        </a:rPr>
                        <a:t>Body makes its own antibodies in response to a non-self antigen.</a:t>
                      </a:r>
                    </a:p>
                    <a:p>
                      <a:r>
                        <a:rPr lang="en-AU" sz="2000" kern="1200" dirty="0">
                          <a:solidFill>
                            <a:schemeClr val="dk1"/>
                          </a:solidFill>
                          <a:effectLst/>
                          <a:latin typeface="Avenir Book" panose="02000503020000020003" pitchFamily="2" charset="0"/>
                          <a:ea typeface="+mn-ea"/>
                          <a:cs typeface="+mn-cs"/>
                        </a:rPr>
                        <a:t>Long lasting immunity because of memory cells.</a:t>
                      </a:r>
                    </a:p>
                    <a:p>
                      <a:r>
                        <a:rPr lang="en-AU" sz="2000" kern="1200" dirty="0">
                          <a:solidFill>
                            <a:schemeClr val="dk1"/>
                          </a:solidFill>
                          <a:effectLst/>
                          <a:latin typeface="Avenir Book" panose="02000503020000020003" pitchFamily="2" charset="0"/>
                          <a:ea typeface="+mn-ea"/>
                          <a:cs typeface="+mn-cs"/>
                        </a:rPr>
                        <a:t>Example: Antigens given by vaccination, e.g.</a:t>
                      </a:r>
                    </a:p>
                    <a:p>
                      <a:r>
                        <a:rPr lang="en-AU" sz="2000" kern="1200" dirty="0">
                          <a:solidFill>
                            <a:schemeClr val="dk1"/>
                          </a:solidFill>
                          <a:effectLst/>
                          <a:latin typeface="Avenir Book" panose="02000503020000020003" pitchFamily="2" charset="0"/>
                          <a:ea typeface="+mn-ea"/>
                          <a:cs typeface="+mn-cs"/>
                        </a:rPr>
                        <a:t>living attenuated MMR antigens injected into bloodstream. </a:t>
                      </a:r>
                      <a:endParaRPr lang="en-US" sz="2000" dirty="0">
                        <a:latin typeface="Avenir Book" panose="02000503020000020003" pitchFamily="2" charset="0"/>
                      </a:endParaRPr>
                    </a:p>
                  </a:txBody>
                  <a:tcPr/>
                </a:tc>
                <a:extLst>
                  <a:ext uri="{0D108BD9-81ED-4DB2-BD59-A6C34878D82A}">
                    <a16:rowId xmlns:a16="http://schemas.microsoft.com/office/drawing/2014/main" val="3876252475"/>
                  </a:ext>
                </a:extLst>
              </a:tr>
            </a:tbl>
          </a:graphicData>
        </a:graphic>
      </p:graphicFrame>
    </p:spTree>
    <p:extLst>
      <p:ext uri="{BB962C8B-B14F-4D97-AF65-F5344CB8AC3E}">
        <p14:creationId xmlns:p14="http://schemas.microsoft.com/office/powerpoint/2010/main" val="2771123877"/>
      </p:ext>
    </p:extLst>
  </p:cSld>
  <p:clrMapOvr>
    <a:masterClrMapping/>
  </p:clrMapOvr>
</p:sld>
</file>

<file path=ppt/theme/theme1.xml><?xml version="1.0" encoding="utf-8"?>
<a:theme xmlns:a="http://schemas.openxmlformats.org/drawingml/2006/main" name="Explicit Instruct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583381A7-9936-5D44-AF96-977A58C393EF}"/>
    </a:ext>
  </a:extLst>
</a:theme>
</file>

<file path=ppt/theme/theme2.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44E26B83-00B7-BB4D-A2EC-ADFFD194B2BC}"/>
    </a:ext>
  </a:extLst>
</a:theme>
</file>

<file path=ppt/theme/theme3.xml><?xml version="1.0" encoding="utf-8"?>
<a:theme xmlns:a="http://schemas.openxmlformats.org/drawingml/2006/main" name="Vocabulary &amp; Spell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821F2746-48D5-5843-A7D5-EF5B105A2CD3}"/>
    </a:ext>
  </a:extLst>
</a:theme>
</file>

<file path=ppt/theme/theme4.xml><?xml version="1.0" encoding="utf-8"?>
<a:theme xmlns:a="http://schemas.openxmlformats.org/drawingml/2006/main" name="Reading Comprehens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2E2F26A4-DEB2-AF4B-9600-F3299094F0D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32E83A20-4629-CD4A-B190-FC50DD96DD5C}"/>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Explicit Instruction</Template>
  <TotalTime>7173</TotalTime>
  <Words>863</Words>
  <Application>Microsoft Macintosh PowerPoint</Application>
  <PresentationFormat>Widescreen</PresentationFormat>
  <Paragraphs>68</Paragraphs>
  <Slides>11</Slides>
  <Notes>4</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11</vt:i4>
      </vt:variant>
    </vt:vector>
  </HeadingPairs>
  <TitlesOfParts>
    <vt:vector size="24" baseType="lpstr">
      <vt:lpstr>Arial</vt:lpstr>
      <vt:lpstr>Arial Rounded MT Bold</vt:lpstr>
      <vt:lpstr>Avenir Book</vt:lpstr>
      <vt:lpstr>Calibri</vt:lpstr>
      <vt:lpstr>Calibri Light</vt:lpstr>
      <vt:lpstr>Century Gothic</vt:lpstr>
      <vt:lpstr>Futura Medium</vt:lpstr>
      <vt:lpstr>Verdana</vt:lpstr>
      <vt:lpstr>Explicit Instruction</vt:lpstr>
      <vt:lpstr>Daily Review</vt:lpstr>
      <vt:lpstr>Vocabulary &amp; Spelling</vt:lpstr>
      <vt:lpstr>Reading Comprehension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YATES Hayden [Safety Bay Senior High School]</dc:creator>
  <cp:lastModifiedBy>YATES Hayden [Safety Bay Senior High School]</cp:lastModifiedBy>
  <cp:revision>1</cp:revision>
  <cp:lastPrinted>2020-06-12T23:59:38Z</cp:lastPrinted>
  <dcterms:created xsi:type="dcterms:W3CDTF">2022-05-12T16:16:25Z</dcterms:created>
  <dcterms:modified xsi:type="dcterms:W3CDTF">2022-05-17T15:50:11Z</dcterms:modified>
</cp:coreProperties>
</file>
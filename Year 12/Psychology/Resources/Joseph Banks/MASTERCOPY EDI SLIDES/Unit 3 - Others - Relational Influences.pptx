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57"/>
  </p:handout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84" r:id="rId21"/>
    <p:sldId id="294" r:id="rId22"/>
    <p:sldId id="295" r:id="rId23"/>
    <p:sldId id="296" r:id="rId24"/>
    <p:sldId id="297" r:id="rId25"/>
    <p:sldId id="298" r:id="rId26"/>
    <p:sldId id="299" r:id="rId27"/>
    <p:sldId id="279" r:id="rId28"/>
    <p:sldId id="280" r:id="rId29"/>
    <p:sldId id="278" r:id="rId30"/>
    <p:sldId id="281" r:id="rId31"/>
    <p:sldId id="282" r:id="rId32"/>
    <p:sldId id="283" r:id="rId33"/>
    <p:sldId id="285" r:id="rId34"/>
    <p:sldId id="286" r:id="rId35"/>
    <p:sldId id="287" r:id="rId36"/>
    <p:sldId id="288" r:id="rId37"/>
    <p:sldId id="289" r:id="rId38"/>
    <p:sldId id="305" r:id="rId39"/>
    <p:sldId id="290" r:id="rId40"/>
    <p:sldId id="304" r:id="rId41"/>
    <p:sldId id="300" r:id="rId42"/>
    <p:sldId id="301" r:id="rId43"/>
    <p:sldId id="292" r:id="rId44"/>
    <p:sldId id="303" r:id="rId45"/>
    <p:sldId id="306" r:id="rId46"/>
    <p:sldId id="307" r:id="rId47"/>
    <p:sldId id="308" r:id="rId48"/>
    <p:sldId id="311" r:id="rId49"/>
    <p:sldId id="312" r:id="rId50"/>
    <p:sldId id="313" r:id="rId51"/>
    <p:sldId id="314" r:id="rId52"/>
    <p:sldId id="315" r:id="rId53"/>
    <p:sldId id="316" r:id="rId54"/>
    <p:sldId id="309" r:id="rId55"/>
    <p:sldId id="310" r:id="rId56"/>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58" autoAdjust="0"/>
    <p:restoredTop sz="94660"/>
  </p:normalViewPr>
  <p:slideViewPr>
    <p:cSldViewPr snapToGrid="0">
      <p:cViewPr varScale="1">
        <p:scale>
          <a:sx n="62" d="100"/>
          <a:sy n="62" d="100"/>
        </p:scale>
        <p:origin x="114" y="19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F377E8-272C-3D43-8DCC-B1CE128BEF49}" type="doc">
      <dgm:prSet loTypeId="urn:microsoft.com/office/officeart/2005/8/layout/process1" loCatId="" qsTypeId="urn:microsoft.com/office/officeart/2005/8/quickstyle/simple1" qsCatId="simple" csTypeId="urn:microsoft.com/office/officeart/2005/8/colors/accent1_2" csCatId="accent1" phldr="1"/>
      <dgm:spPr/>
    </dgm:pt>
    <dgm:pt modelId="{E33AD7F2-F2E2-634C-905F-5FAE4CFFD7C0}">
      <dgm:prSet phldrT="[Text]" custT="1"/>
      <dgm:spPr/>
      <dgm:t>
        <a:bodyPr/>
        <a:lstStyle/>
        <a:p>
          <a:r>
            <a:rPr lang="en-US" sz="1800" dirty="0"/>
            <a:t>Pre-attachment</a:t>
          </a:r>
        </a:p>
      </dgm:t>
    </dgm:pt>
    <dgm:pt modelId="{4ECFE6C5-D698-2A45-AA7D-0F340AB4A824}" type="parTrans" cxnId="{028DB481-0D0B-7445-BC4B-60376CE4A40E}">
      <dgm:prSet/>
      <dgm:spPr/>
      <dgm:t>
        <a:bodyPr/>
        <a:lstStyle/>
        <a:p>
          <a:endParaRPr lang="en-US" sz="1600"/>
        </a:p>
      </dgm:t>
    </dgm:pt>
    <dgm:pt modelId="{B10B972A-2868-9244-9484-B1865405C172}" type="sibTrans" cxnId="{028DB481-0D0B-7445-BC4B-60376CE4A40E}">
      <dgm:prSet custT="1"/>
      <dgm:spPr/>
      <dgm:t>
        <a:bodyPr/>
        <a:lstStyle/>
        <a:p>
          <a:endParaRPr lang="en-US" sz="1400"/>
        </a:p>
      </dgm:t>
    </dgm:pt>
    <dgm:pt modelId="{78345151-AD80-BE47-927E-8A34F188DCA5}">
      <dgm:prSet phldrT="[Text]" custT="1"/>
      <dgm:spPr/>
      <dgm:t>
        <a:bodyPr/>
        <a:lstStyle/>
        <a:p>
          <a:r>
            <a:rPr lang="en-US" sz="1800" dirty="0"/>
            <a:t>Preliminary attachment</a:t>
          </a:r>
        </a:p>
      </dgm:t>
    </dgm:pt>
    <dgm:pt modelId="{962F728C-949B-704F-8907-A6F71F664CF9}" type="parTrans" cxnId="{437BE14D-42BB-9049-9789-87126A973BF4}">
      <dgm:prSet/>
      <dgm:spPr/>
      <dgm:t>
        <a:bodyPr/>
        <a:lstStyle/>
        <a:p>
          <a:endParaRPr lang="en-US" sz="1600"/>
        </a:p>
      </dgm:t>
    </dgm:pt>
    <dgm:pt modelId="{05AA07D9-C93B-164B-A1B9-F4EA4A57B917}" type="sibTrans" cxnId="{437BE14D-42BB-9049-9789-87126A973BF4}">
      <dgm:prSet custT="1"/>
      <dgm:spPr/>
      <dgm:t>
        <a:bodyPr/>
        <a:lstStyle/>
        <a:p>
          <a:endParaRPr lang="en-US" sz="1400"/>
        </a:p>
      </dgm:t>
    </dgm:pt>
    <dgm:pt modelId="{26712A62-4768-F645-B3FB-79CA0287713B}">
      <dgm:prSet phldrT="[Text]" custT="1"/>
      <dgm:spPr/>
      <dgm:t>
        <a:bodyPr/>
        <a:lstStyle/>
        <a:p>
          <a:r>
            <a:rPr lang="en-US" sz="1800" dirty="0"/>
            <a:t>Clear-cut attachment</a:t>
          </a:r>
        </a:p>
      </dgm:t>
    </dgm:pt>
    <dgm:pt modelId="{3A398DEB-98AE-624C-BDD2-B6AC1F16BA23}" type="parTrans" cxnId="{D2CA4695-986A-1C4D-9000-429A0D2EB7DD}">
      <dgm:prSet/>
      <dgm:spPr/>
      <dgm:t>
        <a:bodyPr/>
        <a:lstStyle/>
        <a:p>
          <a:endParaRPr lang="en-US" sz="1600"/>
        </a:p>
      </dgm:t>
    </dgm:pt>
    <dgm:pt modelId="{99FF6E3C-AD83-5C48-B278-466AABC0DF87}" type="sibTrans" cxnId="{D2CA4695-986A-1C4D-9000-429A0D2EB7DD}">
      <dgm:prSet custT="1"/>
      <dgm:spPr/>
      <dgm:t>
        <a:bodyPr/>
        <a:lstStyle/>
        <a:p>
          <a:endParaRPr lang="en-US" sz="1400"/>
        </a:p>
      </dgm:t>
    </dgm:pt>
    <dgm:pt modelId="{E31A6F7F-E39F-914C-A8F6-746D41804EFD}">
      <dgm:prSet custT="1"/>
      <dgm:spPr/>
      <dgm:t>
        <a:bodyPr/>
        <a:lstStyle/>
        <a:p>
          <a:r>
            <a:rPr lang="en-US" sz="1800" dirty="0"/>
            <a:t>Goal directed partnership</a:t>
          </a:r>
        </a:p>
      </dgm:t>
    </dgm:pt>
    <dgm:pt modelId="{C4FC6464-02AF-7941-BE93-EDE7D1FE332F}" type="parTrans" cxnId="{BF019575-2237-ED4C-BCB9-8715F9CB30E8}">
      <dgm:prSet/>
      <dgm:spPr/>
      <dgm:t>
        <a:bodyPr/>
        <a:lstStyle/>
        <a:p>
          <a:endParaRPr lang="en-US" sz="1600"/>
        </a:p>
      </dgm:t>
    </dgm:pt>
    <dgm:pt modelId="{AF9C6254-FDFE-8843-A7B4-51B1FEE9233B}" type="sibTrans" cxnId="{BF019575-2237-ED4C-BCB9-8715F9CB30E8}">
      <dgm:prSet/>
      <dgm:spPr/>
      <dgm:t>
        <a:bodyPr/>
        <a:lstStyle/>
        <a:p>
          <a:endParaRPr lang="en-US" sz="1600"/>
        </a:p>
      </dgm:t>
    </dgm:pt>
    <dgm:pt modelId="{C72696F3-8849-6249-BC5D-46F35810C8C0}" type="pres">
      <dgm:prSet presAssocID="{D6F377E8-272C-3D43-8DCC-B1CE128BEF49}" presName="Name0" presStyleCnt="0">
        <dgm:presLayoutVars>
          <dgm:dir/>
          <dgm:resizeHandles val="exact"/>
        </dgm:presLayoutVars>
      </dgm:prSet>
      <dgm:spPr/>
    </dgm:pt>
    <dgm:pt modelId="{82C89169-E76F-EB40-A415-B066976F55E4}" type="pres">
      <dgm:prSet presAssocID="{E33AD7F2-F2E2-634C-905F-5FAE4CFFD7C0}" presName="node" presStyleLbl="node1" presStyleIdx="0" presStyleCnt="4">
        <dgm:presLayoutVars>
          <dgm:bulletEnabled val="1"/>
        </dgm:presLayoutVars>
      </dgm:prSet>
      <dgm:spPr/>
      <dgm:t>
        <a:bodyPr/>
        <a:lstStyle/>
        <a:p>
          <a:endParaRPr lang="en-US"/>
        </a:p>
      </dgm:t>
    </dgm:pt>
    <dgm:pt modelId="{24234157-9486-7A48-85FE-AEBFD390D705}" type="pres">
      <dgm:prSet presAssocID="{B10B972A-2868-9244-9484-B1865405C172}" presName="sibTrans" presStyleLbl="sibTrans2D1" presStyleIdx="0" presStyleCnt="3"/>
      <dgm:spPr/>
      <dgm:t>
        <a:bodyPr/>
        <a:lstStyle/>
        <a:p>
          <a:endParaRPr lang="en-US"/>
        </a:p>
      </dgm:t>
    </dgm:pt>
    <dgm:pt modelId="{46597045-6D30-D048-929F-5F57FCFCAE74}" type="pres">
      <dgm:prSet presAssocID="{B10B972A-2868-9244-9484-B1865405C172}" presName="connectorText" presStyleLbl="sibTrans2D1" presStyleIdx="0" presStyleCnt="3"/>
      <dgm:spPr/>
      <dgm:t>
        <a:bodyPr/>
        <a:lstStyle/>
        <a:p>
          <a:endParaRPr lang="en-US"/>
        </a:p>
      </dgm:t>
    </dgm:pt>
    <dgm:pt modelId="{7C38A03C-5CCA-924B-818E-9853471297EB}" type="pres">
      <dgm:prSet presAssocID="{78345151-AD80-BE47-927E-8A34F188DCA5}" presName="node" presStyleLbl="node1" presStyleIdx="1" presStyleCnt="4">
        <dgm:presLayoutVars>
          <dgm:bulletEnabled val="1"/>
        </dgm:presLayoutVars>
      </dgm:prSet>
      <dgm:spPr/>
      <dgm:t>
        <a:bodyPr/>
        <a:lstStyle/>
        <a:p>
          <a:endParaRPr lang="en-US"/>
        </a:p>
      </dgm:t>
    </dgm:pt>
    <dgm:pt modelId="{3F291CC0-A962-2245-8AFE-B934FA1F6722}" type="pres">
      <dgm:prSet presAssocID="{05AA07D9-C93B-164B-A1B9-F4EA4A57B917}" presName="sibTrans" presStyleLbl="sibTrans2D1" presStyleIdx="1" presStyleCnt="3"/>
      <dgm:spPr/>
      <dgm:t>
        <a:bodyPr/>
        <a:lstStyle/>
        <a:p>
          <a:endParaRPr lang="en-US"/>
        </a:p>
      </dgm:t>
    </dgm:pt>
    <dgm:pt modelId="{72780FA3-A2F6-D142-AE27-487C4890E912}" type="pres">
      <dgm:prSet presAssocID="{05AA07D9-C93B-164B-A1B9-F4EA4A57B917}" presName="connectorText" presStyleLbl="sibTrans2D1" presStyleIdx="1" presStyleCnt="3"/>
      <dgm:spPr/>
      <dgm:t>
        <a:bodyPr/>
        <a:lstStyle/>
        <a:p>
          <a:endParaRPr lang="en-US"/>
        </a:p>
      </dgm:t>
    </dgm:pt>
    <dgm:pt modelId="{5FEB84B3-6840-4D4F-82E5-EEAC27E9C2DA}" type="pres">
      <dgm:prSet presAssocID="{26712A62-4768-F645-B3FB-79CA0287713B}" presName="node" presStyleLbl="node1" presStyleIdx="2" presStyleCnt="4">
        <dgm:presLayoutVars>
          <dgm:bulletEnabled val="1"/>
        </dgm:presLayoutVars>
      </dgm:prSet>
      <dgm:spPr/>
      <dgm:t>
        <a:bodyPr/>
        <a:lstStyle/>
        <a:p>
          <a:endParaRPr lang="en-US"/>
        </a:p>
      </dgm:t>
    </dgm:pt>
    <dgm:pt modelId="{8E6FE7CC-B641-2B41-84CE-F69DFDE28B96}" type="pres">
      <dgm:prSet presAssocID="{99FF6E3C-AD83-5C48-B278-466AABC0DF87}" presName="sibTrans" presStyleLbl="sibTrans2D1" presStyleIdx="2" presStyleCnt="3"/>
      <dgm:spPr/>
      <dgm:t>
        <a:bodyPr/>
        <a:lstStyle/>
        <a:p>
          <a:endParaRPr lang="en-US"/>
        </a:p>
      </dgm:t>
    </dgm:pt>
    <dgm:pt modelId="{5894A32D-B30D-F04B-A191-039F54EB5945}" type="pres">
      <dgm:prSet presAssocID="{99FF6E3C-AD83-5C48-B278-466AABC0DF87}" presName="connectorText" presStyleLbl="sibTrans2D1" presStyleIdx="2" presStyleCnt="3"/>
      <dgm:spPr/>
      <dgm:t>
        <a:bodyPr/>
        <a:lstStyle/>
        <a:p>
          <a:endParaRPr lang="en-US"/>
        </a:p>
      </dgm:t>
    </dgm:pt>
    <dgm:pt modelId="{37821B20-4E84-D244-BFD8-A15B392B1D99}" type="pres">
      <dgm:prSet presAssocID="{E31A6F7F-E39F-914C-A8F6-746D41804EFD}" presName="node" presStyleLbl="node1" presStyleIdx="3" presStyleCnt="4">
        <dgm:presLayoutVars>
          <dgm:bulletEnabled val="1"/>
        </dgm:presLayoutVars>
      </dgm:prSet>
      <dgm:spPr/>
      <dgm:t>
        <a:bodyPr/>
        <a:lstStyle/>
        <a:p>
          <a:endParaRPr lang="en-US"/>
        </a:p>
      </dgm:t>
    </dgm:pt>
  </dgm:ptLst>
  <dgm:cxnLst>
    <dgm:cxn modelId="{F03D2373-4784-394C-8271-EEA689124C2B}" type="presOf" srcId="{99FF6E3C-AD83-5C48-B278-466AABC0DF87}" destId="{5894A32D-B30D-F04B-A191-039F54EB5945}" srcOrd="1" destOrd="0" presId="urn:microsoft.com/office/officeart/2005/8/layout/process1"/>
    <dgm:cxn modelId="{6C459CAD-8E85-3440-B7CC-87475091EB50}" type="presOf" srcId="{E31A6F7F-E39F-914C-A8F6-746D41804EFD}" destId="{37821B20-4E84-D244-BFD8-A15B392B1D99}" srcOrd="0" destOrd="0" presId="urn:microsoft.com/office/officeart/2005/8/layout/process1"/>
    <dgm:cxn modelId="{9F7AE606-15EC-4940-AE38-B48DA9DC5627}" type="presOf" srcId="{05AA07D9-C93B-164B-A1B9-F4EA4A57B917}" destId="{72780FA3-A2F6-D142-AE27-487C4890E912}" srcOrd="1" destOrd="0" presId="urn:microsoft.com/office/officeart/2005/8/layout/process1"/>
    <dgm:cxn modelId="{437BE14D-42BB-9049-9789-87126A973BF4}" srcId="{D6F377E8-272C-3D43-8DCC-B1CE128BEF49}" destId="{78345151-AD80-BE47-927E-8A34F188DCA5}" srcOrd="1" destOrd="0" parTransId="{962F728C-949B-704F-8907-A6F71F664CF9}" sibTransId="{05AA07D9-C93B-164B-A1B9-F4EA4A57B917}"/>
    <dgm:cxn modelId="{BF019575-2237-ED4C-BCB9-8715F9CB30E8}" srcId="{D6F377E8-272C-3D43-8DCC-B1CE128BEF49}" destId="{E31A6F7F-E39F-914C-A8F6-746D41804EFD}" srcOrd="3" destOrd="0" parTransId="{C4FC6464-02AF-7941-BE93-EDE7D1FE332F}" sibTransId="{AF9C6254-FDFE-8843-A7B4-51B1FEE9233B}"/>
    <dgm:cxn modelId="{028DB481-0D0B-7445-BC4B-60376CE4A40E}" srcId="{D6F377E8-272C-3D43-8DCC-B1CE128BEF49}" destId="{E33AD7F2-F2E2-634C-905F-5FAE4CFFD7C0}" srcOrd="0" destOrd="0" parTransId="{4ECFE6C5-D698-2A45-AA7D-0F340AB4A824}" sibTransId="{B10B972A-2868-9244-9484-B1865405C172}"/>
    <dgm:cxn modelId="{FE7788D4-A7FC-3540-8BD7-0A26EAF27015}" type="presOf" srcId="{B10B972A-2868-9244-9484-B1865405C172}" destId="{24234157-9486-7A48-85FE-AEBFD390D705}" srcOrd="0" destOrd="0" presId="urn:microsoft.com/office/officeart/2005/8/layout/process1"/>
    <dgm:cxn modelId="{BB70A79F-F9EC-FD49-8ABB-900A4664FEBD}" type="presOf" srcId="{E33AD7F2-F2E2-634C-905F-5FAE4CFFD7C0}" destId="{82C89169-E76F-EB40-A415-B066976F55E4}" srcOrd="0" destOrd="0" presId="urn:microsoft.com/office/officeart/2005/8/layout/process1"/>
    <dgm:cxn modelId="{74B6028F-3B2D-CD4F-AE8B-ECE964C437A1}" type="presOf" srcId="{78345151-AD80-BE47-927E-8A34F188DCA5}" destId="{7C38A03C-5CCA-924B-818E-9853471297EB}" srcOrd="0" destOrd="0" presId="urn:microsoft.com/office/officeart/2005/8/layout/process1"/>
    <dgm:cxn modelId="{D3150CEC-4F0E-6C45-BAAC-978818E5EF02}" type="presOf" srcId="{99FF6E3C-AD83-5C48-B278-466AABC0DF87}" destId="{8E6FE7CC-B641-2B41-84CE-F69DFDE28B96}" srcOrd="0" destOrd="0" presId="urn:microsoft.com/office/officeart/2005/8/layout/process1"/>
    <dgm:cxn modelId="{2C0C6844-889B-0549-BED0-14B3E3781C99}" type="presOf" srcId="{D6F377E8-272C-3D43-8DCC-B1CE128BEF49}" destId="{C72696F3-8849-6249-BC5D-46F35810C8C0}" srcOrd="0" destOrd="0" presId="urn:microsoft.com/office/officeart/2005/8/layout/process1"/>
    <dgm:cxn modelId="{4E5327E4-11A4-9E42-BBE2-7F1B876C2546}" type="presOf" srcId="{05AA07D9-C93B-164B-A1B9-F4EA4A57B917}" destId="{3F291CC0-A962-2245-8AFE-B934FA1F6722}" srcOrd="0" destOrd="0" presId="urn:microsoft.com/office/officeart/2005/8/layout/process1"/>
    <dgm:cxn modelId="{6C384E8B-B8DB-6941-8B31-CB9C70CF5EAE}" type="presOf" srcId="{B10B972A-2868-9244-9484-B1865405C172}" destId="{46597045-6D30-D048-929F-5F57FCFCAE74}" srcOrd="1" destOrd="0" presId="urn:microsoft.com/office/officeart/2005/8/layout/process1"/>
    <dgm:cxn modelId="{BF56AF92-7966-084E-9D17-398E86B58609}" type="presOf" srcId="{26712A62-4768-F645-B3FB-79CA0287713B}" destId="{5FEB84B3-6840-4D4F-82E5-EEAC27E9C2DA}" srcOrd="0" destOrd="0" presId="urn:microsoft.com/office/officeart/2005/8/layout/process1"/>
    <dgm:cxn modelId="{D2CA4695-986A-1C4D-9000-429A0D2EB7DD}" srcId="{D6F377E8-272C-3D43-8DCC-B1CE128BEF49}" destId="{26712A62-4768-F645-B3FB-79CA0287713B}" srcOrd="2" destOrd="0" parTransId="{3A398DEB-98AE-624C-BDD2-B6AC1F16BA23}" sibTransId="{99FF6E3C-AD83-5C48-B278-466AABC0DF87}"/>
    <dgm:cxn modelId="{CF990C5B-1758-1C45-971F-FFB384B8A8AF}" type="presParOf" srcId="{C72696F3-8849-6249-BC5D-46F35810C8C0}" destId="{82C89169-E76F-EB40-A415-B066976F55E4}" srcOrd="0" destOrd="0" presId="urn:microsoft.com/office/officeart/2005/8/layout/process1"/>
    <dgm:cxn modelId="{4BB97294-EA82-354F-A9E0-062405CD0077}" type="presParOf" srcId="{C72696F3-8849-6249-BC5D-46F35810C8C0}" destId="{24234157-9486-7A48-85FE-AEBFD390D705}" srcOrd="1" destOrd="0" presId="urn:microsoft.com/office/officeart/2005/8/layout/process1"/>
    <dgm:cxn modelId="{9272334C-C4C2-2240-A838-C2A1DD9EADB5}" type="presParOf" srcId="{24234157-9486-7A48-85FE-AEBFD390D705}" destId="{46597045-6D30-D048-929F-5F57FCFCAE74}" srcOrd="0" destOrd="0" presId="urn:microsoft.com/office/officeart/2005/8/layout/process1"/>
    <dgm:cxn modelId="{1F9270CB-986D-A348-849D-3F4C0192CB23}" type="presParOf" srcId="{C72696F3-8849-6249-BC5D-46F35810C8C0}" destId="{7C38A03C-5CCA-924B-818E-9853471297EB}" srcOrd="2" destOrd="0" presId="urn:microsoft.com/office/officeart/2005/8/layout/process1"/>
    <dgm:cxn modelId="{6112F375-30F1-2C4C-9CFC-56688526CED3}" type="presParOf" srcId="{C72696F3-8849-6249-BC5D-46F35810C8C0}" destId="{3F291CC0-A962-2245-8AFE-B934FA1F6722}" srcOrd="3" destOrd="0" presId="urn:microsoft.com/office/officeart/2005/8/layout/process1"/>
    <dgm:cxn modelId="{665A13B3-5AD8-9E4F-8DE6-5F5DEF2D5DBF}" type="presParOf" srcId="{3F291CC0-A962-2245-8AFE-B934FA1F6722}" destId="{72780FA3-A2F6-D142-AE27-487C4890E912}" srcOrd="0" destOrd="0" presId="urn:microsoft.com/office/officeart/2005/8/layout/process1"/>
    <dgm:cxn modelId="{CDE92B32-E7C6-6E4A-8ACC-1B4BE3B4F9CE}" type="presParOf" srcId="{C72696F3-8849-6249-BC5D-46F35810C8C0}" destId="{5FEB84B3-6840-4D4F-82E5-EEAC27E9C2DA}" srcOrd="4" destOrd="0" presId="urn:microsoft.com/office/officeart/2005/8/layout/process1"/>
    <dgm:cxn modelId="{92A512E8-4351-E643-BB7E-3BE11031CBCB}" type="presParOf" srcId="{C72696F3-8849-6249-BC5D-46F35810C8C0}" destId="{8E6FE7CC-B641-2B41-84CE-F69DFDE28B96}" srcOrd="5" destOrd="0" presId="urn:microsoft.com/office/officeart/2005/8/layout/process1"/>
    <dgm:cxn modelId="{EBD60B95-869E-C841-BAED-64F44DCA47D2}" type="presParOf" srcId="{8E6FE7CC-B641-2B41-84CE-F69DFDE28B96}" destId="{5894A32D-B30D-F04B-A191-039F54EB5945}" srcOrd="0" destOrd="0" presId="urn:microsoft.com/office/officeart/2005/8/layout/process1"/>
    <dgm:cxn modelId="{E3D672D9-2350-C249-8C5F-E7EB7C93F88B}" type="presParOf" srcId="{C72696F3-8849-6249-BC5D-46F35810C8C0}" destId="{37821B20-4E84-D244-BFD8-A15B392B1D99}"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C89169-E76F-EB40-A415-B066976F55E4}">
      <dsp:nvSpPr>
        <dsp:cNvPr id="0" name=""/>
        <dsp:cNvSpPr/>
      </dsp:nvSpPr>
      <dsp:spPr>
        <a:xfrm>
          <a:off x="3147" y="2219093"/>
          <a:ext cx="1376111" cy="9804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Pre-attachment</a:t>
          </a:r>
        </a:p>
      </dsp:txBody>
      <dsp:txXfrm>
        <a:off x="31864" y="2247810"/>
        <a:ext cx="1318677" cy="923045"/>
      </dsp:txXfrm>
    </dsp:sp>
    <dsp:sp modelId="{24234157-9486-7A48-85FE-AEBFD390D705}">
      <dsp:nvSpPr>
        <dsp:cNvPr id="0" name=""/>
        <dsp:cNvSpPr/>
      </dsp:nvSpPr>
      <dsp:spPr>
        <a:xfrm>
          <a:off x="1516870" y="2538695"/>
          <a:ext cx="291735" cy="34127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a:off x="1516870" y="2606950"/>
        <a:ext cx="204215" cy="204765"/>
      </dsp:txXfrm>
    </dsp:sp>
    <dsp:sp modelId="{7C38A03C-5CCA-924B-818E-9853471297EB}">
      <dsp:nvSpPr>
        <dsp:cNvPr id="0" name=""/>
        <dsp:cNvSpPr/>
      </dsp:nvSpPr>
      <dsp:spPr>
        <a:xfrm>
          <a:off x="1929703" y="2219093"/>
          <a:ext cx="1376111" cy="9804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Preliminary attachment</a:t>
          </a:r>
        </a:p>
      </dsp:txBody>
      <dsp:txXfrm>
        <a:off x="1958420" y="2247810"/>
        <a:ext cx="1318677" cy="923045"/>
      </dsp:txXfrm>
    </dsp:sp>
    <dsp:sp modelId="{3F291CC0-A962-2245-8AFE-B934FA1F6722}">
      <dsp:nvSpPr>
        <dsp:cNvPr id="0" name=""/>
        <dsp:cNvSpPr/>
      </dsp:nvSpPr>
      <dsp:spPr>
        <a:xfrm>
          <a:off x="3443426" y="2538695"/>
          <a:ext cx="291735" cy="34127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a:off x="3443426" y="2606950"/>
        <a:ext cx="204215" cy="204765"/>
      </dsp:txXfrm>
    </dsp:sp>
    <dsp:sp modelId="{5FEB84B3-6840-4D4F-82E5-EEAC27E9C2DA}">
      <dsp:nvSpPr>
        <dsp:cNvPr id="0" name=""/>
        <dsp:cNvSpPr/>
      </dsp:nvSpPr>
      <dsp:spPr>
        <a:xfrm>
          <a:off x="3856260" y="2219093"/>
          <a:ext cx="1376111" cy="9804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Clear-cut attachment</a:t>
          </a:r>
        </a:p>
      </dsp:txBody>
      <dsp:txXfrm>
        <a:off x="3884977" y="2247810"/>
        <a:ext cx="1318677" cy="923045"/>
      </dsp:txXfrm>
    </dsp:sp>
    <dsp:sp modelId="{8E6FE7CC-B641-2B41-84CE-F69DFDE28B96}">
      <dsp:nvSpPr>
        <dsp:cNvPr id="0" name=""/>
        <dsp:cNvSpPr/>
      </dsp:nvSpPr>
      <dsp:spPr>
        <a:xfrm>
          <a:off x="5369983" y="2538695"/>
          <a:ext cx="291735" cy="34127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a:off x="5369983" y="2606950"/>
        <a:ext cx="204215" cy="204765"/>
      </dsp:txXfrm>
    </dsp:sp>
    <dsp:sp modelId="{37821B20-4E84-D244-BFD8-A15B392B1D99}">
      <dsp:nvSpPr>
        <dsp:cNvPr id="0" name=""/>
        <dsp:cNvSpPr/>
      </dsp:nvSpPr>
      <dsp:spPr>
        <a:xfrm>
          <a:off x="5782816" y="2219093"/>
          <a:ext cx="1376111" cy="9804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Goal directed partnership</a:t>
          </a:r>
        </a:p>
      </dsp:txBody>
      <dsp:txXfrm>
        <a:off x="5811533" y="2247810"/>
        <a:ext cx="1318677" cy="92304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55838" y="0"/>
            <a:ext cx="2949787" cy="498693"/>
          </a:xfrm>
          <a:prstGeom prst="rect">
            <a:avLst/>
          </a:prstGeom>
        </p:spPr>
        <p:txBody>
          <a:bodyPr vert="horz" lIns="91440" tIns="45720" rIns="91440" bIns="45720" rtlCol="0"/>
          <a:lstStyle>
            <a:lvl1pPr algn="r">
              <a:defRPr sz="1200"/>
            </a:lvl1pPr>
          </a:lstStyle>
          <a:p>
            <a:fld id="{2A9D9149-03EC-46FD-9B04-D2E1D32AF187}" type="datetimeFigureOut">
              <a:rPr lang="en-AU" smtClean="0"/>
              <a:t>28/06/2019</a:t>
            </a:fld>
            <a:endParaRPr lang="en-AU"/>
          </a:p>
        </p:txBody>
      </p:sp>
      <p:sp>
        <p:nvSpPr>
          <p:cNvPr id="4" name="Footer Placeholder 3"/>
          <p:cNvSpPr>
            <a:spLocks noGrp="1"/>
          </p:cNvSpPr>
          <p:nvPr>
            <p:ph type="ftr" sz="quarter" idx="2"/>
          </p:nvPr>
        </p:nvSpPr>
        <p:spPr>
          <a:xfrm>
            <a:off x="0" y="9440647"/>
            <a:ext cx="2949787" cy="498692"/>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55838" y="9440647"/>
            <a:ext cx="2949787" cy="498692"/>
          </a:xfrm>
          <a:prstGeom prst="rect">
            <a:avLst/>
          </a:prstGeom>
        </p:spPr>
        <p:txBody>
          <a:bodyPr vert="horz" lIns="91440" tIns="45720" rIns="91440" bIns="45720" rtlCol="0" anchor="b"/>
          <a:lstStyle>
            <a:lvl1pPr algn="r">
              <a:defRPr sz="1200"/>
            </a:lvl1pPr>
          </a:lstStyle>
          <a:p>
            <a:fld id="{0402366B-11C1-4964-93EE-43C3827EE4F8}" type="slidenum">
              <a:rPr lang="en-AU" smtClean="0"/>
              <a:t>‹#›</a:t>
            </a:fld>
            <a:endParaRPr lang="en-AU"/>
          </a:p>
        </p:txBody>
      </p:sp>
    </p:spTree>
    <p:extLst>
      <p:ext uri="{BB962C8B-B14F-4D97-AF65-F5344CB8AC3E}">
        <p14:creationId xmlns:p14="http://schemas.microsoft.com/office/powerpoint/2010/main" val="420943697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1E9A606B-76D0-44CC-B796-F622ABF380CF}" type="datetimeFigureOut">
              <a:rPr lang="en-AU" smtClean="0"/>
              <a:t>28/06/2019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C9DE0C-79A1-4A02-BA58-A5EF6CB5BFE4}" type="slidenum">
              <a:rPr lang="en-AU" smtClean="0"/>
              <a:t>‹#›</a:t>
            </a:fld>
            <a:endParaRPr lang="en-AU"/>
          </a:p>
        </p:txBody>
      </p:sp>
    </p:spTree>
    <p:extLst>
      <p:ext uri="{BB962C8B-B14F-4D97-AF65-F5344CB8AC3E}">
        <p14:creationId xmlns:p14="http://schemas.microsoft.com/office/powerpoint/2010/main" val="4172904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1E9A606B-76D0-44CC-B796-F622ABF380CF}" type="datetimeFigureOut">
              <a:rPr lang="en-AU" smtClean="0"/>
              <a:t>28/06/2019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C9DE0C-79A1-4A02-BA58-A5EF6CB5BFE4}" type="slidenum">
              <a:rPr lang="en-AU" smtClean="0"/>
              <a:t>‹#›</a:t>
            </a:fld>
            <a:endParaRPr lang="en-AU"/>
          </a:p>
        </p:txBody>
      </p:sp>
    </p:spTree>
    <p:extLst>
      <p:ext uri="{BB962C8B-B14F-4D97-AF65-F5344CB8AC3E}">
        <p14:creationId xmlns:p14="http://schemas.microsoft.com/office/powerpoint/2010/main" val="4276750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E9A606B-76D0-44CC-B796-F622ABF380CF}" type="datetimeFigureOut">
              <a:rPr lang="en-AU" smtClean="0"/>
              <a:t>28/06/2019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C9DE0C-79A1-4A02-BA58-A5EF6CB5BFE4}" type="slidenum">
              <a:rPr lang="en-AU" smtClean="0"/>
              <a:t>‹#›</a:t>
            </a:fld>
            <a:endParaRPr lang="en-AU"/>
          </a:p>
        </p:txBody>
      </p:sp>
    </p:spTree>
    <p:extLst>
      <p:ext uri="{BB962C8B-B14F-4D97-AF65-F5344CB8AC3E}">
        <p14:creationId xmlns:p14="http://schemas.microsoft.com/office/powerpoint/2010/main" val="445440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1E9A606B-76D0-44CC-B796-F622ABF380CF}" type="datetimeFigureOut">
              <a:rPr lang="en-AU" smtClean="0"/>
              <a:t>28/06/2019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8C9DE0C-79A1-4A02-BA58-A5EF6CB5BFE4}" type="slidenum">
              <a:rPr lang="en-AU" smtClean="0"/>
              <a:t>‹#›</a:t>
            </a:fld>
            <a:endParaRPr lang="en-AU"/>
          </a:p>
        </p:txBody>
      </p:sp>
    </p:spTree>
    <p:extLst>
      <p:ext uri="{BB962C8B-B14F-4D97-AF65-F5344CB8AC3E}">
        <p14:creationId xmlns:p14="http://schemas.microsoft.com/office/powerpoint/2010/main" val="1155215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1E9A606B-76D0-44CC-B796-F622ABF380CF}" type="datetimeFigureOut">
              <a:rPr lang="en-AU" smtClean="0"/>
              <a:t>28/06/2019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8C9DE0C-79A1-4A02-BA58-A5EF6CB5BFE4}" type="slidenum">
              <a:rPr lang="en-AU" smtClean="0"/>
              <a:t>‹#›</a:t>
            </a:fld>
            <a:endParaRPr lang="en-AU"/>
          </a:p>
        </p:txBody>
      </p:sp>
    </p:spTree>
    <p:extLst>
      <p:ext uri="{BB962C8B-B14F-4D97-AF65-F5344CB8AC3E}">
        <p14:creationId xmlns:p14="http://schemas.microsoft.com/office/powerpoint/2010/main" val="1872320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1E9A606B-76D0-44CC-B796-F622ABF380CF}" type="datetimeFigureOut">
              <a:rPr lang="en-AU" smtClean="0"/>
              <a:t>28/06/2019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8C9DE0C-79A1-4A02-BA58-A5EF6CB5BFE4}" type="slidenum">
              <a:rPr lang="en-AU" smtClean="0"/>
              <a:t>‹#›</a:t>
            </a:fld>
            <a:endParaRPr lang="en-AU"/>
          </a:p>
        </p:txBody>
      </p:sp>
    </p:spTree>
    <p:extLst>
      <p:ext uri="{BB962C8B-B14F-4D97-AF65-F5344CB8AC3E}">
        <p14:creationId xmlns:p14="http://schemas.microsoft.com/office/powerpoint/2010/main" val="342607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9A606B-76D0-44CC-B796-F622ABF380CF}" type="datetimeFigureOut">
              <a:rPr lang="en-AU" smtClean="0"/>
              <a:t>28/06/2019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8C9DE0C-79A1-4A02-BA58-A5EF6CB5BFE4}" type="slidenum">
              <a:rPr lang="en-AU" smtClean="0"/>
              <a:t>‹#›</a:t>
            </a:fld>
            <a:endParaRPr lang="en-AU"/>
          </a:p>
        </p:txBody>
      </p:sp>
    </p:spTree>
    <p:extLst>
      <p:ext uri="{BB962C8B-B14F-4D97-AF65-F5344CB8AC3E}">
        <p14:creationId xmlns:p14="http://schemas.microsoft.com/office/powerpoint/2010/main" val="1257496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E9A606B-76D0-44CC-B796-F622ABF380CF}" type="datetimeFigureOut">
              <a:rPr lang="en-AU" smtClean="0"/>
              <a:t>28/06/2019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8C9DE0C-79A1-4A02-BA58-A5EF6CB5BFE4}" type="slidenum">
              <a:rPr lang="en-AU" smtClean="0"/>
              <a:t>‹#›</a:t>
            </a:fld>
            <a:endParaRPr lang="en-AU"/>
          </a:p>
        </p:txBody>
      </p:sp>
    </p:spTree>
    <p:extLst>
      <p:ext uri="{BB962C8B-B14F-4D97-AF65-F5344CB8AC3E}">
        <p14:creationId xmlns:p14="http://schemas.microsoft.com/office/powerpoint/2010/main" val="3528281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E9A606B-76D0-44CC-B796-F622ABF380CF}" type="datetimeFigureOut">
              <a:rPr lang="en-AU" smtClean="0"/>
              <a:t>28/06/2019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8C9DE0C-79A1-4A02-BA58-A5EF6CB5BFE4}" type="slidenum">
              <a:rPr lang="en-AU" smtClean="0"/>
              <a:t>‹#›</a:t>
            </a:fld>
            <a:endParaRPr lang="en-AU"/>
          </a:p>
        </p:txBody>
      </p:sp>
    </p:spTree>
    <p:extLst>
      <p:ext uri="{BB962C8B-B14F-4D97-AF65-F5344CB8AC3E}">
        <p14:creationId xmlns:p14="http://schemas.microsoft.com/office/powerpoint/2010/main" val="2638307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1E9A606B-76D0-44CC-B796-F622ABF380CF}" type="datetimeFigureOut">
              <a:rPr lang="en-AU" smtClean="0"/>
              <a:t>28/06/2019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C9DE0C-79A1-4A02-BA58-A5EF6CB5BFE4}" type="slidenum">
              <a:rPr lang="en-AU" smtClean="0"/>
              <a:t>‹#›</a:t>
            </a:fld>
            <a:endParaRPr lang="en-AU"/>
          </a:p>
        </p:txBody>
      </p:sp>
    </p:spTree>
    <p:extLst>
      <p:ext uri="{BB962C8B-B14F-4D97-AF65-F5344CB8AC3E}">
        <p14:creationId xmlns:p14="http://schemas.microsoft.com/office/powerpoint/2010/main" val="3982037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1E9A606B-76D0-44CC-B796-F622ABF380CF}" type="datetimeFigureOut">
              <a:rPr lang="en-AU" smtClean="0"/>
              <a:t>28/06/2019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C9DE0C-79A1-4A02-BA58-A5EF6CB5BFE4}" type="slidenum">
              <a:rPr lang="en-AU" smtClean="0"/>
              <a:t>‹#›</a:t>
            </a:fld>
            <a:endParaRPr lang="en-AU"/>
          </a:p>
        </p:txBody>
      </p:sp>
    </p:spTree>
    <p:extLst>
      <p:ext uri="{BB962C8B-B14F-4D97-AF65-F5344CB8AC3E}">
        <p14:creationId xmlns:p14="http://schemas.microsoft.com/office/powerpoint/2010/main" val="3223389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9A606B-76D0-44CC-B796-F622ABF380CF}" type="datetimeFigureOut">
              <a:rPr lang="en-AU" smtClean="0"/>
              <a:t>28/06/2019</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C9DE0C-79A1-4A02-BA58-A5EF6CB5BFE4}" type="slidenum">
              <a:rPr lang="en-AU" smtClean="0"/>
              <a:t>‹#›</a:t>
            </a:fld>
            <a:endParaRPr lang="en-AU"/>
          </a:p>
        </p:txBody>
      </p:sp>
    </p:spTree>
    <p:extLst>
      <p:ext uri="{BB962C8B-B14F-4D97-AF65-F5344CB8AC3E}">
        <p14:creationId xmlns:p14="http://schemas.microsoft.com/office/powerpoint/2010/main" val="1020394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7.xml"/><Relationship Id="rId1" Type="http://schemas.openxmlformats.org/officeDocument/2006/relationships/video" Target="https://www.youtube.com/embed/gYvrNQbwVwI"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7.xml"/><Relationship Id="rId1" Type="http://schemas.openxmlformats.org/officeDocument/2006/relationships/video" Target="https://www.youtube.com/embed/9dY5U2xwSXY"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7.xml"/><Relationship Id="rId1" Type="http://schemas.openxmlformats.org/officeDocument/2006/relationships/video" Target="https://www.youtube.com/embed/MuJyDRgONl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image" Target="../media/image16.tif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image" Target="../media/image16.tif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image" Target="../media/image18.tiff"/><Relationship Id="rId1" Type="http://schemas.openxmlformats.org/officeDocument/2006/relationships/slideLayout" Target="../slideLayouts/slideLayout7.xml"/><Relationship Id="rId4" Type="http://schemas.openxmlformats.org/officeDocument/2006/relationships/image" Target="../media/image20.tiff"/></Relationships>
</file>

<file path=ppt/slides/_rels/slide39.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image" Target="../media/image21.tif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3.tif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7.xml"/><Relationship Id="rId1" Type="http://schemas.openxmlformats.org/officeDocument/2006/relationships/video" Target="https://www.youtube.com/embed/_O60TYAIgC4?feature=oembed"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8.tif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9.tiff"/><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slideLayout" Target="../slideLayouts/slideLayout7.xml"/><Relationship Id="rId1" Type="http://schemas.openxmlformats.org/officeDocument/2006/relationships/video" Target="https://www.youtube.com/embed/PnFKaaOSPmk"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conflict resolu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527964" cy="337820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562B990-4171-CF46-A9E3-5E84B693F34B}"/>
              </a:ext>
            </a:extLst>
          </p:cNvPr>
          <p:cNvSpPr txBox="1"/>
          <p:nvPr/>
        </p:nvSpPr>
        <p:spPr>
          <a:xfrm>
            <a:off x="5617029" y="193629"/>
            <a:ext cx="6574666" cy="1644592"/>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1" dirty="0">
                <a:solidFill>
                  <a:schemeClr val="accent1">
                    <a:lumMod val="50000"/>
                  </a:schemeClr>
                </a:solidFill>
                <a:latin typeface="+mj-lt"/>
                <a:ea typeface="+mj-ea"/>
                <a:cs typeface="+mj-cs"/>
              </a:rPr>
              <a:t>Unit 3 – Others Relational Influences</a:t>
            </a:r>
            <a:r>
              <a:rPr lang="en-US" sz="3200" b="1" dirty="0">
                <a:solidFill>
                  <a:schemeClr val="accent1">
                    <a:lumMod val="50000"/>
                  </a:schemeClr>
                </a:solidFill>
                <a:latin typeface="+mj-lt"/>
                <a:ea typeface="+mj-ea"/>
                <a:cs typeface="+mj-cs"/>
              </a:rPr>
              <a:t>, Weeks 6-8</a:t>
            </a:r>
          </a:p>
        </p:txBody>
      </p:sp>
      <p:sp>
        <p:nvSpPr>
          <p:cNvPr id="16" name="TextBox 15">
            <a:extLst>
              <a:ext uri="{FF2B5EF4-FFF2-40B4-BE49-F238E27FC236}">
                <a16:creationId xmlns:a16="http://schemas.microsoft.com/office/drawing/2014/main" id="{434D96A8-1C0F-074E-B72B-C18472DDE9BF}"/>
              </a:ext>
            </a:extLst>
          </p:cNvPr>
          <p:cNvSpPr txBox="1"/>
          <p:nvPr/>
        </p:nvSpPr>
        <p:spPr>
          <a:xfrm>
            <a:off x="6264945" y="1652839"/>
            <a:ext cx="5634130" cy="1938992"/>
          </a:xfrm>
          <a:prstGeom prst="rect">
            <a:avLst/>
          </a:prstGeom>
          <a:noFill/>
          <a:ln>
            <a:solidFill>
              <a:schemeClr val="tx1"/>
            </a:solidFill>
          </a:ln>
        </p:spPr>
        <p:txBody>
          <a:bodyPr wrap="square" rtlCol="0">
            <a:spAutoFit/>
          </a:bodyPr>
          <a:lstStyle/>
          <a:p>
            <a:pPr algn="ctr"/>
            <a:r>
              <a:rPr lang="en-AU" sz="2000" b="1" dirty="0"/>
              <a:t>LEARNING OBJECTIVES:</a:t>
            </a:r>
          </a:p>
          <a:p>
            <a:pPr marL="342900" indent="-342900">
              <a:buFont typeface="Arial" panose="020B0604020202020204" pitchFamily="34" charset="0"/>
              <a:buChar char="•"/>
            </a:pPr>
            <a:r>
              <a:rPr lang="en-AU" sz="2000" dirty="0"/>
              <a:t>3.18 Distinguish types of solutions to conflict</a:t>
            </a:r>
          </a:p>
          <a:p>
            <a:pPr marL="342900" indent="-342900">
              <a:buFont typeface="Arial" panose="020B0604020202020204" pitchFamily="34" charset="0"/>
              <a:buChar char="•"/>
            </a:pPr>
            <a:r>
              <a:rPr lang="en-AU" sz="2000" dirty="0"/>
              <a:t>3.19 Identify and explain techniques (mediation, negotiation, counselling) for resolving conflict</a:t>
            </a:r>
          </a:p>
          <a:p>
            <a:pPr marL="342900" indent="-342900">
              <a:buFont typeface="Arial" panose="020B0604020202020204" pitchFamily="34" charset="0"/>
              <a:buChar char="•"/>
            </a:pPr>
            <a:r>
              <a:rPr lang="en-AU" sz="2000" dirty="0"/>
              <a:t>3.20 Explain the contributions of Harlow, Bowlby and Ainsworth to attachment theory</a:t>
            </a:r>
          </a:p>
        </p:txBody>
      </p:sp>
      <p:sp>
        <p:nvSpPr>
          <p:cNvPr id="17" name="TextBox 16">
            <a:extLst>
              <a:ext uri="{FF2B5EF4-FFF2-40B4-BE49-F238E27FC236}">
                <a16:creationId xmlns:a16="http://schemas.microsoft.com/office/drawing/2014/main" id="{3D929E95-8A4C-564F-B63C-5E6CAA45389B}"/>
              </a:ext>
            </a:extLst>
          </p:cNvPr>
          <p:cNvSpPr txBox="1"/>
          <p:nvPr/>
        </p:nvSpPr>
        <p:spPr>
          <a:xfrm>
            <a:off x="244928" y="3331676"/>
            <a:ext cx="6412675" cy="923330"/>
          </a:xfrm>
          <a:prstGeom prst="rect">
            <a:avLst/>
          </a:prstGeom>
          <a:noFill/>
        </p:spPr>
        <p:txBody>
          <a:bodyPr wrap="square" rtlCol="0">
            <a:spAutoFit/>
          </a:bodyPr>
          <a:lstStyle/>
          <a:p>
            <a:r>
              <a:rPr lang="en-AU" b="1" u="sng" dirty="0">
                <a:solidFill>
                  <a:schemeClr val="accent1">
                    <a:lumMod val="50000"/>
                  </a:schemeClr>
                </a:solidFill>
              </a:rPr>
              <a:t>Assessments:</a:t>
            </a:r>
          </a:p>
          <a:p>
            <a:pPr marL="285750" indent="-285750">
              <a:buFont typeface="Courier New" panose="02070309020205020404" pitchFamily="49" charset="0"/>
              <a:buChar char="o"/>
            </a:pPr>
            <a:r>
              <a:rPr lang="en-AU" b="1" dirty="0">
                <a:solidFill>
                  <a:schemeClr val="accent1">
                    <a:lumMod val="50000"/>
                  </a:schemeClr>
                </a:solidFill>
              </a:rPr>
              <a:t>Task 7: </a:t>
            </a:r>
            <a:r>
              <a:rPr lang="en-AU" dirty="0">
                <a:solidFill>
                  <a:schemeClr val="accent1">
                    <a:lumMod val="50000"/>
                  </a:schemeClr>
                </a:solidFill>
              </a:rPr>
              <a:t>Response – Topic Test 3 (Relational Influences; Communication) (5%) – </a:t>
            </a:r>
            <a:r>
              <a:rPr lang="en-AU" b="1" dirty="0">
                <a:solidFill>
                  <a:schemeClr val="accent1">
                    <a:lumMod val="50000"/>
                  </a:schemeClr>
                </a:solidFill>
              </a:rPr>
              <a:t>Week 8, Friday 21 June, Period 5</a:t>
            </a:r>
          </a:p>
        </p:txBody>
      </p:sp>
    </p:spTree>
    <p:extLst>
      <p:ext uri="{BB962C8B-B14F-4D97-AF65-F5344CB8AC3E}">
        <p14:creationId xmlns:p14="http://schemas.microsoft.com/office/powerpoint/2010/main" val="69405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C974FC-FEC2-C242-B238-F6D42E0E0610}"/>
              </a:ext>
            </a:extLst>
          </p:cNvPr>
          <p:cNvSpPr txBox="1"/>
          <p:nvPr/>
        </p:nvSpPr>
        <p:spPr>
          <a:xfrm>
            <a:off x="194882" y="199525"/>
            <a:ext cx="11997117" cy="1641976"/>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5400" dirty="0">
                <a:solidFill>
                  <a:srgbClr val="305289"/>
                </a:solidFill>
                <a:latin typeface="+mj-lt"/>
                <a:ea typeface="+mj-ea"/>
                <a:cs typeface="+mj-cs"/>
              </a:rPr>
              <a:t>Learning objective 3.18: </a:t>
            </a:r>
            <a:r>
              <a:rPr lang="en-US" sz="5400" b="1" dirty="0">
                <a:solidFill>
                  <a:srgbClr val="305289"/>
                </a:solidFill>
                <a:latin typeface="+mj-lt"/>
                <a:ea typeface="+mj-ea"/>
                <a:cs typeface="+mj-cs"/>
              </a:rPr>
              <a:t>Distinguish solutions to conflict</a:t>
            </a:r>
          </a:p>
        </p:txBody>
      </p:sp>
      <p:pic>
        <p:nvPicPr>
          <p:cNvPr id="6" name="Picture 2" descr="Image result for conflict resolu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2200" y="2184400"/>
            <a:ext cx="5527964" cy="337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8949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1" y="908462"/>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Activate Prior Knowledge</a:t>
            </a:r>
          </a:p>
        </p:txBody>
      </p:sp>
      <p:sp>
        <p:nvSpPr>
          <p:cNvPr id="6" name="TextBox 5">
            <a:extLst>
              <a:ext uri="{FF2B5EF4-FFF2-40B4-BE49-F238E27FC236}">
                <a16:creationId xmlns:a16="http://schemas.microsoft.com/office/drawing/2014/main" id="{4C74A751-A7D2-FC49-AE50-FF323C50B58A}"/>
              </a:ext>
            </a:extLst>
          </p:cNvPr>
          <p:cNvSpPr txBox="1"/>
          <p:nvPr/>
        </p:nvSpPr>
        <p:spPr>
          <a:xfrm>
            <a:off x="693059" y="829409"/>
            <a:ext cx="6164941" cy="5078313"/>
          </a:xfrm>
          <a:prstGeom prst="rect">
            <a:avLst/>
          </a:prstGeom>
          <a:noFill/>
        </p:spPr>
        <p:txBody>
          <a:bodyPr wrap="square" rtlCol="0">
            <a:spAutoFit/>
          </a:bodyPr>
          <a:lstStyle/>
          <a:p>
            <a:pPr marL="742950" indent="-742950">
              <a:buFont typeface="+mj-lt"/>
              <a:buAutoNum type="arabicPeriod"/>
            </a:pPr>
            <a:r>
              <a:rPr lang="en-AU" sz="3600" b="1" dirty="0">
                <a:solidFill>
                  <a:schemeClr val="accent1">
                    <a:lumMod val="50000"/>
                  </a:schemeClr>
                </a:solidFill>
              </a:rPr>
              <a:t>Define ‘effective communication’.</a:t>
            </a:r>
          </a:p>
          <a:p>
            <a:pPr marL="742950" indent="-742950">
              <a:buFont typeface="+mj-lt"/>
              <a:buAutoNum type="arabicPeriod"/>
            </a:pPr>
            <a:r>
              <a:rPr lang="en-AU" sz="3600" b="1" dirty="0">
                <a:solidFill>
                  <a:schemeClr val="accent1">
                    <a:lumMod val="50000"/>
                  </a:schemeClr>
                </a:solidFill>
              </a:rPr>
              <a:t>Identify factors that influence ‘effective communication’</a:t>
            </a:r>
          </a:p>
          <a:p>
            <a:pPr marL="742950" indent="-742950">
              <a:buFont typeface="+mj-lt"/>
              <a:buAutoNum type="arabicPeriod"/>
            </a:pPr>
            <a:r>
              <a:rPr lang="en-AU" sz="3600" b="1" dirty="0">
                <a:solidFill>
                  <a:schemeClr val="accent1">
                    <a:lumMod val="50000"/>
                  </a:schemeClr>
                </a:solidFill>
              </a:rPr>
              <a:t>Identify some of the consequences that may arise if communication is not effective</a:t>
            </a:r>
          </a:p>
        </p:txBody>
      </p:sp>
      <p:sp>
        <p:nvSpPr>
          <p:cNvPr id="5" name="TextBox 4">
            <a:extLst>
              <a:ext uri="{FF2B5EF4-FFF2-40B4-BE49-F238E27FC236}">
                <a16:creationId xmlns:a16="http://schemas.microsoft.com/office/drawing/2014/main" id="{4C74A751-A7D2-FC49-AE50-FF323C50B58A}"/>
              </a:ext>
            </a:extLst>
          </p:cNvPr>
          <p:cNvSpPr txBox="1"/>
          <p:nvPr/>
        </p:nvSpPr>
        <p:spPr>
          <a:xfrm>
            <a:off x="794659" y="183078"/>
            <a:ext cx="4425041" cy="646331"/>
          </a:xfrm>
          <a:prstGeom prst="rect">
            <a:avLst/>
          </a:prstGeom>
          <a:noFill/>
        </p:spPr>
        <p:txBody>
          <a:bodyPr wrap="square" rtlCol="0">
            <a:spAutoFit/>
          </a:bodyPr>
          <a:lstStyle/>
          <a:p>
            <a:pPr algn="ctr"/>
            <a:r>
              <a:rPr lang="en-AU" sz="3600" b="1" u="sng" dirty="0">
                <a:solidFill>
                  <a:schemeClr val="accent1">
                    <a:lumMod val="50000"/>
                  </a:schemeClr>
                </a:solidFill>
              </a:rPr>
              <a:t>PAIR-SHARE</a:t>
            </a:r>
          </a:p>
        </p:txBody>
      </p:sp>
      <p:pic>
        <p:nvPicPr>
          <p:cNvPr id="8" name="Picture 7">
            <a:extLst>
              <a:ext uri="{FF2B5EF4-FFF2-40B4-BE49-F238E27FC236}">
                <a16:creationId xmlns:a16="http://schemas.microsoft.com/office/drawing/2014/main" id="{8160BAC9-B648-7B4B-A0A4-81D21783EE2F}"/>
              </a:ext>
            </a:extLst>
          </p:cNvPr>
          <p:cNvPicPr>
            <a:picLocks noChangeAspect="1"/>
          </p:cNvPicPr>
          <p:nvPr/>
        </p:nvPicPr>
        <p:blipFill rotWithShape="1">
          <a:blip r:embed="rId2">
            <a:alphaModFix/>
            <a:extLst/>
          </a:blip>
          <a:srcRect l="9898" r="14940" b="-2"/>
          <a:stretch/>
        </p:blipFill>
        <p:spPr>
          <a:xfrm>
            <a:off x="7036105" y="506243"/>
            <a:ext cx="5155895" cy="5505036"/>
          </a:xfrm>
          <a:prstGeom prst="rect">
            <a:avLst/>
          </a:prstGeom>
        </p:spPr>
      </p:pic>
    </p:spTree>
    <p:extLst>
      <p:ext uri="{BB962C8B-B14F-4D97-AF65-F5344CB8AC3E}">
        <p14:creationId xmlns:p14="http://schemas.microsoft.com/office/powerpoint/2010/main" val="824868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3152899" y="0"/>
            <a:ext cx="3431968" cy="596571"/>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1" dirty="0">
                <a:solidFill>
                  <a:srgbClr val="305289"/>
                </a:solidFill>
                <a:latin typeface="+mj-lt"/>
                <a:ea typeface="+mj-ea"/>
                <a:cs typeface="+mj-cs"/>
              </a:rPr>
              <a:t>Conflict</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ext uri="{D42A27DB-BD31-4B8C-83A1-F6EECF244321}">
                <p14:modId xmlns:p14="http://schemas.microsoft.com/office/powerpoint/2010/main" val="3593549847"/>
              </p:ext>
            </p:extLst>
          </p:nvPr>
        </p:nvGraphicFramePr>
        <p:xfrm>
          <a:off x="8860312" y="225731"/>
          <a:ext cx="3331688" cy="9499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incompatible:</a:t>
                      </a:r>
                      <a:r>
                        <a:rPr lang="en-AU" sz="1600" b="0" dirty="0"/>
                        <a:t> not consistent</a:t>
                      </a:r>
                      <a:r>
                        <a:rPr lang="en-AU" sz="1600" b="0" baseline="0" dirty="0"/>
                        <a:t> or incapable of coexisting</a:t>
                      </a:r>
                      <a:endParaRPr lang="en-AU" sz="1600" b="1"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1615447377"/>
              </p:ext>
            </p:extLst>
          </p:nvPr>
        </p:nvGraphicFramePr>
        <p:xfrm>
          <a:off x="8840154" y="4389767"/>
          <a:ext cx="3351846" cy="210820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dirty="0"/>
                        <a:t>Define</a:t>
                      </a:r>
                      <a:r>
                        <a:rPr lang="en-AU" b="0" baseline="0" dirty="0"/>
                        <a:t> conflict. </a:t>
                      </a:r>
                    </a:p>
                    <a:p>
                      <a:pPr marL="342900" indent="-342900">
                        <a:buFont typeface="+mj-lt"/>
                        <a:buAutoNum type="arabicPeriod"/>
                      </a:pPr>
                      <a:r>
                        <a:rPr lang="en-AU" b="0" baseline="0" dirty="0"/>
                        <a:t>Does conflict between two or more parties mean there is a real incompatibility between their situations?</a:t>
                      </a:r>
                    </a:p>
                    <a:p>
                      <a:pPr marL="342900" indent="-342900">
                        <a:buFont typeface="+mj-lt"/>
                        <a:buAutoNum type="arabicPeriod"/>
                      </a:pPr>
                      <a:r>
                        <a:rPr lang="en-AU" b="0" baseline="0" dirty="0"/>
                        <a:t>Explain two causes of conflict.</a:t>
                      </a:r>
                      <a:endParaRPr lang="en-AU" b="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5" name="Rectangle 4"/>
          <p:cNvSpPr/>
          <p:nvPr/>
        </p:nvSpPr>
        <p:spPr>
          <a:xfrm>
            <a:off x="488867" y="2337427"/>
            <a:ext cx="6096000" cy="3416320"/>
          </a:xfrm>
          <a:prstGeom prst="rect">
            <a:avLst/>
          </a:prstGeom>
        </p:spPr>
        <p:txBody>
          <a:bodyPr>
            <a:spAutoFit/>
          </a:bodyPr>
          <a:lstStyle/>
          <a:p>
            <a:r>
              <a:rPr lang="en-US" sz="2400" dirty="0"/>
              <a:t>Possible causes?</a:t>
            </a:r>
          </a:p>
          <a:p>
            <a:pPr lvl="1"/>
            <a:r>
              <a:rPr lang="en-AU" sz="2400" dirty="0"/>
              <a:t>Poor communication or miscommunication</a:t>
            </a:r>
          </a:p>
          <a:p>
            <a:pPr lvl="1"/>
            <a:r>
              <a:rPr lang="en-AU" sz="2400" dirty="0"/>
              <a:t>Finances</a:t>
            </a:r>
          </a:p>
          <a:p>
            <a:pPr lvl="1"/>
            <a:r>
              <a:rPr lang="en-AU" sz="2400" dirty="0"/>
              <a:t>Roles and responsibilities</a:t>
            </a:r>
          </a:p>
          <a:p>
            <a:pPr lvl="1"/>
            <a:r>
              <a:rPr lang="en-AU" sz="2400" dirty="0"/>
              <a:t>Inequality</a:t>
            </a:r>
          </a:p>
          <a:p>
            <a:pPr lvl="1"/>
            <a:r>
              <a:rPr lang="en-AU" sz="2400" dirty="0"/>
              <a:t>Misunderstandings</a:t>
            </a:r>
          </a:p>
          <a:p>
            <a:pPr lvl="1"/>
            <a:r>
              <a:rPr lang="en-AU" sz="2400" dirty="0"/>
              <a:t>Time spent apart</a:t>
            </a:r>
          </a:p>
          <a:p>
            <a:pPr lvl="1"/>
            <a:r>
              <a:rPr lang="en-AU" sz="2400" dirty="0"/>
              <a:t>Jealousy</a:t>
            </a:r>
          </a:p>
          <a:p>
            <a:pPr lvl="1"/>
            <a:r>
              <a:rPr lang="en-AU" sz="2400" dirty="0"/>
              <a:t>Incompatible goals or beliefs</a:t>
            </a:r>
          </a:p>
        </p:txBody>
      </p:sp>
      <p:sp>
        <p:nvSpPr>
          <p:cNvPr id="6" name="Rectangle 5"/>
          <p:cNvSpPr/>
          <p:nvPr/>
        </p:nvSpPr>
        <p:spPr>
          <a:xfrm>
            <a:off x="488866" y="690222"/>
            <a:ext cx="8236033" cy="1200329"/>
          </a:xfrm>
          <a:prstGeom prst="rect">
            <a:avLst/>
          </a:prstGeom>
          <a:solidFill>
            <a:schemeClr val="accent4">
              <a:lumMod val="40000"/>
              <a:lumOff val="60000"/>
            </a:schemeClr>
          </a:solidFill>
        </p:spPr>
        <p:txBody>
          <a:bodyPr wrap="square">
            <a:spAutoFit/>
          </a:bodyPr>
          <a:lstStyle/>
          <a:p>
            <a:r>
              <a:rPr lang="en-AU" sz="2400" dirty="0"/>
              <a:t>Conflict occurs when there is a perception that two parties (individuals or groups) have incompatible goals, ideas or behaviours.</a:t>
            </a:r>
          </a:p>
        </p:txBody>
      </p:sp>
    </p:spTree>
    <p:extLst>
      <p:ext uri="{BB962C8B-B14F-4D97-AF65-F5344CB8AC3E}">
        <p14:creationId xmlns:p14="http://schemas.microsoft.com/office/powerpoint/2010/main" val="68429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3152899" y="0"/>
            <a:ext cx="3431968" cy="596571"/>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1" dirty="0">
                <a:solidFill>
                  <a:srgbClr val="305289"/>
                </a:solidFill>
                <a:latin typeface="+mj-lt"/>
                <a:ea typeface="+mj-ea"/>
                <a:cs typeface="+mj-cs"/>
              </a:rPr>
              <a:t>Conflict</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225731"/>
          <a:ext cx="3331688" cy="9499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incompatible:</a:t>
                      </a:r>
                      <a:r>
                        <a:rPr lang="en-AU" sz="1600" b="0" dirty="0"/>
                        <a:t> not consistent</a:t>
                      </a:r>
                      <a:r>
                        <a:rPr lang="en-AU" sz="1600" b="0" baseline="0" dirty="0"/>
                        <a:t> or incapable of coexisting</a:t>
                      </a:r>
                      <a:endParaRPr lang="en-AU" sz="1600" b="1"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1593533899"/>
              </p:ext>
            </p:extLst>
          </p:nvPr>
        </p:nvGraphicFramePr>
        <p:xfrm>
          <a:off x="8840154" y="4389767"/>
          <a:ext cx="3351846" cy="101092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dirty="0"/>
                        <a:t>How can conflict</a:t>
                      </a:r>
                      <a:r>
                        <a:rPr lang="en-AU" b="0" baseline="0" dirty="0"/>
                        <a:t> be beneficial?</a:t>
                      </a:r>
                      <a:endParaRPr lang="en-AU" b="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6" name="Rectangle 5"/>
          <p:cNvSpPr/>
          <p:nvPr/>
        </p:nvSpPr>
        <p:spPr>
          <a:xfrm>
            <a:off x="488866" y="690222"/>
            <a:ext cx="8236033" cy="1200329"/>
          </a:xfrm>
          <a:prstGeom prst="rect">
            <a:avLst/>
          </a:prstGeom>
          <a:solidFill>
            <a:schemeClr val="accent4">
              <a:lumMod val="40000"/>
              <a:lumOff val="60000"/>
            </a:schemeClr>
          </a:solidFill>
        </p:spPr>
        <p:txBody>
          <a:bodyPr wrap="square">
            <a:spAutoFit/>
          </a:bodyPr>
          <a:lstStyle/>
          <a:p>
            <a:r>
              <a:rPr lang="en-AU" sz="2400" dirty="0"/>
              <a:t>Conflict occurs when there is a perception that two parties (individuals or groups) have incompatible goals, ideas or behaviours.</a:t>
            </a:r>
          </a:p>
        </p:txBody>
      </p:sp>
      <p:sp>
        <p:nvSpPr>
          <p:cNvPr id="9" name="Content Placeholder 2"/>
          <p:cNvSpPr txBox="1">
            <a:spLocks/>
          </p:cNvSpPr>
          <p:nvPr/>
        </p:nvSpPr>
        <p:spPr>
          <a:xfrm>
            <a:off x="488866" y="2103767"/>
            <a:ext cx="7772400" cy="25952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u="sng" dirty="0"/>
              <a:t>Benefits of conflict</a:t>
            </a:r>
          </a:p>
          <a:p>
            <a:pPr marL="0" indent="0">
              <a:buNone/>
            </a:pPr>
            <a:r>
              <a:rPr lang="en-AU" dirty="0"/>
              <a:t>Small amounts of conflict can be beneficial in a relationship</a:t>
            </a:r>
          </a:p>
          <a:p>
            <a:pPr lvl="1"/>
            <a:r>
              <a:rPr lang="en-AU" dirty="0"/>
              <a:t>Changes can be made</a:t>
            </a:r>
          </a:p>
          <a:p>
            <a:pPr lvl="1"/>
            <a:r>
              <a:rPr lang="en-AU" dirty="0"/>
              <a:t>Greater loyalty </a:t>
            </a:r>
          </a:p>
          <a:p>
            <a:pPr lvl="1"/>
            <a:r>
              <a:rPr lang="en-AU" dirty="0"/>
              <a:t>Greater depth of understanding</a:t>
            </a:r>
          </a:p>
          <a:p>
            <a:endParaRPr lang="en-AU" dirty="0"/>
          </a:p>
        </p:txBody>
      </p:sp>
    </p:spTree>
    <p:extLst>
      <p:ext uri="{BB962C8B-B14F-4D97-AF65-F5344CB8AC3E}">
        <p14:creationId xmlns:p14="http://schemas.microsoft.com/office/powerpoint/2010/main" val="2207809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3152899" y="0"/>
            <a:ext cx="3431968" cy="596571"/>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1" dirty="0">
                <a:solidFill>
                  <a:srgbClr val="305289"/>
                </a:solidFill>
                <a:latin typeface="+mj-lt"/>
                <a:ea typeface="+mj-ea"/>
                <a:cs typeface="+mj-cs"/>
              </a:rPr>
              <a:t>Conflict</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225731"/>
          <a:ext cx="3331688" cy="9499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incompatible:</a:t>
                      </a:r>
                      <a:r>
                        <a:rPr lang="en-AU" sz="1600" b="0" dirty="0"/>
                        <a:t> not consistent</a:t>
                      </a:r>
                      <a:r>
                        <a:rPr lang="en-AU" sz="1600" b="0" baseline="0" dirty="0"/>
                        <a:t> or incapable of coexisting</a:t>
                      </a:r>
                      <a:endParaRPr lang="en-AU" sz="1600" b="1"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1749467176"/>
              </p:ext>
            </p:extLst>
          </p:nvPr>
        </p:nvGraphicFramePr>
        <p:xfrm>
          <a:off x="8840154" y="4389767"/>
          <a:ext cx="3351846" cy="101092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dirty="0"/>
                        <a:t>How can conflict</a:t>
                      </a:r>
                      <a:r>
                        <a:rPr lang="en-AU" b="0" baseline="0" dirty="0"/>
                        <a:t> be dangerous?</a:t>
                      </a:r>
                      <a:endParaRPr lang="en-AU" b="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6" name="Rectangle 5"/>
          <p:cNvSpPr/>
          <p:nvPr/>
        </p:nvSpPr>
        <p:spPr>
          <a:xfrm>
            <a:off x="488866" y="690222"/>
            <a:ext cx="8236033" cy="1200329"/>
          </a:xfrm>
          <a:prstGeom prst="rect">
            <a:avLst/>
          </a:prstGeom>
          <a:solidFill>
            <a:schemeClr val="accent4">
              <a:lumMod val="40000"/>
              <a:lumOff val="60000"/>
            </a:schemeClr>
          </a:solidFill>
        </p:spPr>
        <p:txBody>
          <a:bodyPr wrap="square">
            <a:spAutoFit/>
          </a:bodyPr>
          <a:lstStyle/>
          <a:p>
            <a:r>
              <a:rPr lang="en-AU" sz="2400" dirty="0"/>
              <a:t>Conflict occurs when there is a perception that two parties (individuals or groups) have incompatible goals, ideas or behaviours.</a:t>
            </a:r>
          </a:p>
        </p:txBody>
      </p:sp>
      <p:sp>
        <p:nvSpPr>
          <p:cNvPr id="10" name="Content Placeholder 2"/>
          <p:cNvSpPr txBox="1">
            <a:spLocks/>
          </p:cNvSpPr>
          <p:nvPr/>
        </p:nvSpPr>
        <p:spPr>
          <a:xfrm>
            <a:off x="488866" y="2286000"/>
            <a:ext cx="7442200" cy="4572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u="sng" dirty="0"/>
              <a:t>Dangers of conflict</a:t>
            </a:r>
          </a:p>
          <a:p>
            <a:r>
              <a:rPr lang="en-AU" dirty="0"/>
              <a:t>With individuals, ongoing conflicts can lead to relationship breakdown</a:t>
            </a:r>
          </a:p>
          <a:p>
            <a:r>
              <a:rPr lang="en-AU" dirty="0"/>
              <a:t>Within society, ongoing conflicts can lead to violence</a:t>
            </a:r>
          </a:p>
          <a:p>
            <a:r>
              <a:rPr lang="en-AU" dirty="0"/>
              <a:t>On an international scale, conflict can lead to war</a:t>
            </a:r>
            <a:endParaRPr lang="en-US" dirty="0"/>
          </a:p>
        </p:txBody>
      </p:sp>
    </p:spTree>
    <p:extLst>
      <p:ext uri="{BB962C8B-B14F-4D97-AF65-F5344CB8AC3E}">
        <p14:creationId xmlns:p14="http://schemas.microsoft.com/office/powerpoint/2010/main" val="3684939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3152899" y="0"/>
            <a:ext cx="3431968" cy="596571"/>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1" dirty="0">
                <a:solidFill>
                  <a:srgbClr val="305289"/>
                </a:solidFill>
                <a:latin typeface="+mj-lt"/>
                <a:ea typeface="+mj-ea"/>
                <a:cs typeface="+mj-cs"/>
              </a:rPr>
              <a:t>Conflict</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225731"/>
          <a:ext cx="3331688" cy="9499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incompatible:</a:t>
                      </a:r>
                      <a:r>
                        <a:rPr lang="en-AU" sz="1600" b="0" dirty="0"/>
                        <a:t> not consistent</a:t>
                      </a:r>
                      <a:r>
                        <a:rPr lang="en-AU" sz="1600" b="0" baseline="0" dirty="0"/>
                        <a:t> or incapable of coexisting</a:t>
                      </a:r>
                      <a:endParaRPr lang="en-AU" sz="1600" b="1"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1963275502"/>
              </p:ext>
            </p:extLst>
          </p:nvPr>
        </p:nvGraphicFramePr>
        <p:xfrm>
          <a:off x="8840154" y="4389767"/>
          <a:ext cx="3351846" cy="101092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dirty="0"/>
                        <a:t>Explain the phenomena</a:t>
                      </a:r>
                      <a:r>
                        <a:rPr lang="en-AU" b="0" baseline="0" dirty="0"/>
                        <a:t> of mirror-image perceptions.</a:t>
                      </a:r>
                      <a:endParaRPr lang="en-AU" b="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6" name="Rectangle 5"/>
          <p:cNvSpPr/>
          <p:nvPr/>
        </p:nvSpPr>
        <p:spPr>
          <a:xfrm>
            <a:off x="488866" y="690222"/>
            <a:ext cx="8236033" cy="1200329"/>
          </a:xfrm>
          <a:prstGeom prst="rect">
            <a:avLst/>
          </a:prstGeom>
          <a:solidFill>
            <a:schemeClr val="accent4">
              <a:lumMod val="40000"/>
              <a:lumOff val="60000"/>
            </a:schemeClr>
          </a:solidFill>
        </p:spPr>
        <p:txBody>
          <a:bodyPr wrap="square">
            <a:spAutoFit/>
          </a:bodyPr>
          <a:lstStyle/>
          <a:p>
            <a:r>
              <a:rPr lang="en-AU" sz="2400" dirty="0"/>
              <a:t>Conflict occurs when there is a perception that two parties (individuals or groups) have incompatible goals, ideas or behaviours.</a:t>
            </a:r>
          </a:p>
        </p:txBody>
      </p:sp>
      <p:sp>
        <p:nvSpPr>
          <p:cNvPr id="9" name="Content Placeholder 2"/>
          <p:cNvSpPr txBox="1">
            <a:spLocks/>
          </p:cNvSpPr>
          <p:nvPr/>
        </p:nvSpPr>
        <p:spPr>
          <a:xfrm>
            <a:off x="622300" y="2286000"/>
            <a:ext cx="6680200" cy="4572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u="sng" dirty="0"/>
              <a:t>Mirror-image perceptions</a:t>
            </a:r>
          </a:p>
          <a:p>
            <a:r>
              <a:rPr lang="en-AU" dirty="0"/>
              <a:t>Both parties can form distorted perceptions of the other that are remarkably alike</a:t>
            </a:r>
          </a:p>
          <a:p>
            <a:r>
              <a:rPr lang="en-AU" dirty="0"/>
              <a:t>Biased attributions are made</a:t>
            </a:r>
          </a:p>
          <a:p>
            <a:r>
              <a:rPr lang="en-AU" dirty="0"/>
              <a:t>Each side thinks: we are great, you are awful!</a:t>
            </a:r>
          </a:p>
        </p:txBody>
      </p:sp>
    </p:spTree>
    <p:extLst>
      <p:ext uri="{BB962C8B-B14F-4D97-AF65-F5344CB8AC3E}">
        <p14:creationId xmlns:p14="http://schemas.microsoft.com/office/powerpoint/2010/main" val="1148863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3152899" y="0"/>
            <a:ext cx="3431968" cy="596571"/>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1" dirty="0">
                <a:solidFill>
                  <a:srgbClr val="305289"/>
                </a:solidFill>
                <a:latin typeface="+mj-lt"/>
                <a:ea typeface="+mj-ea"/>
                <a:cs typeface="+mj-cs"/>
              </a:rPr>
              <a:t>Conflict</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225731"/>
          <a:ext cx="3331688" cy="9499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incompatible:</a:t>
                      </a:r>
                      <a:r>
                        <a:rPr lang="en-AU" sz="1600" b="0" dirty="0"/>
                        <a:t> not consistent</a:t>
                      </a:r>
                      <a:r>
                        <a:rPr lang="en-AU" sz="1600" b="0" baseline="0" dirty="0"/>
                        <a:t> or incapable of coexisting</a:t>
                      </a:r>
                      <a:endParaRPr lang="en-AU" sz="1600" b="1"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nvPr>
        </p:nvGraphicFramePr>
        <p:xfrm>
          <a:off x="8840154" y="4389767"/>
          <a:ext cx="3351846" cy="101092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dirty="0"/>
                        <a:t>Explain the phenomena</a:t>
                      </a:r>
                      <a:r>
                        <a:rPr lang="en-AU" b="0" baseline="0" dirty="0"/>
                        <a:t> of mirror-image perceptions.</a:t>
                      </a:r>
                      <a:endParaRPr lang="en-AU" b="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6" name="Rectangle 5"/>
          <p:cNvSpPr/>
          <p:nvPr/>
        </p:nvSpPr>
        <p:spPr>
          <a:xfrm>
            <a:off x="488866" y="690222"/>
            <a:ext cx="8236033" cy="830997"/>
          </a:xfrm>
          <a:prstGeom prst="rect">
            <a:avLst/>
          </a:prstGeom>
          <a:solidFill>
            <a:schemeClr val="accent4">
              <a:lumMod val="40000"/>
              <a:lumOff val="60000"/>
            </a:schemeClr>
          </a:solidFill>
        </p:spPr>
        <p:txBody>
          <a:bodyPr wrap="square">
            <a:spAutoFit/>
          </a:bodyPr>
          <a:lstStyle/>
          <a:p>
            <a:r>
              <a:rPr lang="en-AU" sz="2400" b="1" dirty="0"/>
              <a:t>Conflict resolution </a:t>
            </a:r>
            <a:r>
              <a:rPr lang="en-AU" sz="2400" dirty="0"/>
              <a:t>is a way for two or more parties to find a peaceful solution to a disagreement among them</a:t>
            </a:r>
          </a:p>
        </p:txBody>
      </p:sp>
      <p:sp>
        <p:nvSpPr>
          <p:cNvPr id="10" name="Content Placeholder 2"/>
          <p:cNvSpPr txBox="1">
            <a:spLocks/>
          </p:cNvSpPr>
          <p:nvPr/>
        </p:nvSpPr>
        <p:spPr>
          <a:xfrm>
            <a:off x="914400" y="1783560"/>
            <a:ext cx="7772400" cy="4572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u="sng" dirty="0"/>
              <a:t>Types of solution to resolve conflict</a:t>
            </a:r>
          </a:p>
          <a:p>
            <a:endParaRPr lang="en-AU" dirty="0"/>
          </a:p>
          <a:p>
            <a:r>
              <a:rPr lang="en-AU" dirty="0"/>
              <a:t>Imposed solutions</a:t>
            </a:r>
          </a:p>
          <a:p>
            <a:endParaRPr lang="en-AU" dirty="0"/>
          </a:p>
          <a:p>
            <a:r>
              <a:rPr lang="en-AU" dirty="0"/>
              <a:t>Distributive solutions</a:t>
            </a:r>
          </a:p>
          <a:p>
            <a:endParaRPr lang="en-AU" dirty="0"/>
          </a:p>
          <a:p>
            <a:r>
              <a:rPr lang="en-AU" dirty="0"/>
              <a:t>Integrative solutions</a:t>
            </a:r>
            <a:endParaRPr lang="en-US" dirty="0"/>
          </a:p>
        </p:txBody>
      </p:sp>
    </p:spTree>
    <p:extLst>
      <p:ext uri="{BB962C8B-B14F-4D97-AF65-F5344CB8AC3E}">
        <p14:creationId xmlns:p14="http://schemas.microsoft.com/office/powerpoint/2010/main" val="2875659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3152899" y="0"/>
            <a:ext cx="3431968" cy="596571"/>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1" dirty="0">
                <a:solidFill>
                  <a:srgbClr val="305289"/>
                </a:solidFill>
                <a:latin typeface="+mj-lt"/>
                <a:ea typeface="+mj-ea"/>
                <a:cs typeface="+mj-cs"/>
              </a:rPr>
              <a:t>Conflict</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225731"/>
          <a:ext cx="3331688" cy="9499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incompatible:</a:t>
                      </a:r>
                      <a:r>
                        <a:rPr lang="en-AU" sz="1600" b="0" dirty="0"/>
                        <a:t> not consistent</a:t>
                      </a:r>
                      <a:r>
                        <a:rPr lang="en-AU" sz="1600" b="0" baseline="0" dirty="0"/>
                        <a:t> or incapable of coexisting</a:t>
                      </a:r>
                      <a:endParaRPr lang="en-AU" sz="1600" b="1"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1090829173"/>
              </p:ext>
            </p:extLst>
          </p:nvPr>
        </p:nvGraphicFramePr>
        <p:xfrm>
          <a:off x="8840154" y="4389767"/>
          <a:ext cx="3351846" cy="128524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dirty="0"/>
                        <a:t>Explain</a:t>
                      </a:r>
                      <a:r>
                        <a:rPr lang="en-AU" b="0" baseline="0" dirty="0"/>
                        <a:t> what imposed solutions are and provide an example.</a:t>
                      </a:r>
                      <a:endParaRPr lang="en-AU" b="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6" name="Rectangle 5"/>
          <p:cNvSpPr/>
          <p:nvPr/>
        </p:nvSpPr>
        <p:spPr>
          <a:xfrm>
            <a:off x="488866" y="690222"/>
            <a:ext cx="8236033" cy="830997"/>
          </a:xfrm>
          <a:prstGeom prst="rect">
            <a:avLst/>
          </a:prstGeom>
          <a:solidFill>
            <a:schemeClr val="accent4">
              <a:lumMod val="40000"/>
              <a:lumOff val="60000"/>
            </a:schemeClr>
          </a:solidFill>
        </p:spPr>
        <p:txBody>
          <a:bodyPr wrap="square">
            <a:spAutoFit/>
          </a:bodyPr>
          <a:lstStyle/>
          <a:p>
            <a:r>
              <a:rPr lang="en-AU" sz="2400" b="1" dirty="0"/>
              <a:t>Conflict resolution </a:t>
            </a:r>
            <a:r>
              <a:rPr lang="en-AU" sz="2400" dirty="0"/>
              <a:t>is a way for two or more parties to find a peaceful solution to a disagreement among them</a:t>
            </a:r>
          </a:p>
        </p:txBody>
      </p:sp>
      <p:sp>
        <p:nvSpPr>
          <p:cNvPr id="9" name="Content Placeholder 2"/>
          <p:cNvSpPr txBox="1">
            <a:spLocks/>
          </p:cNvSpPr>
          <p:nvPr/>
        </p:nvSpPr>
        <p:spPr>
          <a:xfrm>
            <a:off x="488866" y="1778001"/>
            <a:ext cx="7906072" cy="42037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u="sng" dirty="0"/>
              <a:t>Imposed solutions</a:t>
            </a:r>
          </a:p>
          <a:p>
            <a:r>
              <a:rPr lang="en-AU" dirty="0"/>
              <a:t>One party is stronger and imposes a solution</a:t>
            </a:r>
          </a:p>
          <a:p>
            <a:endParaRPr lang="en-AU" dirty="0"/>
          </a:p>
          <a:p>
            <a:r>
              <a:rPr lang="en-AU" dirty="0"/>
              <a:t>Or a third party intervenes and imposes a solution.</a:t>
            </a:r>
          </a:p>
          <a:p>
            <a:endParaRPr lang="en-AU" dirty="0"/>
          </a:p>
          <a:p>
            <a:r>
              <a:rPr lang="en-AU" dirty="0"/>
              <a:t>Example: a judge decides on custody or divorce proceedings</a:t>
            </a:r>
          </a:p>
        </p:txBody>
      </p:sp>
    </p:spTree>
    <p:extLst>
      <p:ext uri="{BB962C8B-B14F-4D97-AF65-F5344CB8AC3E}">
        <p14:creationId xmlns:p14="http://schemas.microsoft.com/office/powerpoint/2010/main" val="3873904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3152899" y="0"/>
            <a:ext cx="3431968" cy="596571"/>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1" dirty="0">
                <a:solidFill>
                  <a:srgbClr val="305289"/>
                </a:solidFill>
                <a:latin typeface="+mj-lt"/>
                <a:ea typeface="+mj-ea"/>
                <a:cs typeface="+mj-cs"/>
              </a:rPr>
              <a:t>Conflict</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225731"/>
          <a:ext cx="3331688" cy="9499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incompatible:</a:t>
                      </a:r>
                      <a:r>
                        <a:rPr lang="en-AU" sz="1600" b="0" dirty="0"/>
                        <a:t> not consistent</a:t>
                      </a:r>
                      <a:r>
                        <a:rPr lang="en-AU" sz="1600" b="0" baseline="0" dirty="0"/>
                        <a:t> or incapable of coexisting</a:t>
                      </a:r>
                      <a:endParaRPr lang="en-AU" sz="1600" b="1"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372609629"/>
              </p:ext>
            </p:extLst>
          </p:nvPr>
        </p:nvGraphicFramePr>
        <p:xfrm>
          <a:off x="8840154" y="4389767"/>
          <a:ext cx="3351846" cy="128524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dirty="0"/>
                        <a:t>Explain</a:t>
                      </a:r>
                      <a:r>
                        <a:rPr lang="en-AU" b="0" baseline="0" dirty="0"/>
                        <a:t> the difference between imposed solutions and distributive solutions.</a:t>
                      </a:r>
                      <a:endParaRPr lang="en-AU" b="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6" name="Rectangle 5"/>
          <p:cNvSpPr/>
          <p:nvPr/>
        </p:nvSpPr>
        <p:spPr>
          <a:xfrm>
            <a:off x="488866" y="690222"/>
            <a:ext cx="8236033" cy="830997"/>
          </a:xfrm>
          <a:prstGeom prst="rect">
            <a:avLst/>
          </a:prstGeom>
          <a:solidFill>
            <a:schemeClr val="accent4">
              <a:lumMod val="40000"/>
              <a:lumOff val="60000"/>
            </a:schemeClr>
          </a:solidFill>
        </p:spPr>
        <p:txBody>
          <a:bodyPr wrap="square">
            <a:spAutoFit/>
          </a:bodyPr>
          <a:lstStyle/>
          <a:p>
            <a:r>
              <a:rPr lang="en-AU" sz="2400" b="1" dirty="0"/>
              <a:t>Conflict resolution </a:t>
            </a:r>
            <a:r>
              <a:rPr lang="en-AU" sz="2400" dirty="0"/>
              <a:t>is a way for two or more parties to find a peaceful solution to a disagreement among them</a:t>
            </a:r>
          </a:p>
        </p:txBody>
      </p:sp>
      <p:sp>
        <p:nvSpPr>
          <p:cNvPr id="9" name="Content Placeholder 2"/>
          <p:cNvSpPr txBox="1">
            <a:spLocks/>
          </p:cNvSpPr>
          <p:nvPr/>
        </p:nvSpPr>
        <p:spPr>
          <a:xfrm>
            <a:off x="488866" y="1778001"/>
            <a:ext cx="7906072" cy="42037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u="sng" dirty="0"/>
              <a:t>Distributive solutions</a:t>
            </a:r>
          </a:p>
        </p:txBody>
      </p:sp>
      <p:sp>
        <p:nvSpPr>
          <p:cNvPr id="10" name="Content Placeholder 2"/>
          <p:cNvSpPr txBox="1">
            <a:spLocks/>
          </p:cNvSpPr>
          <p:nvPr/>
        </p:nvSpPr>
        <p:spPr>
          <a:xfrm>
            <a:off x="706474" y="2431260"/>
            <a:ext cx="7124700" cy="4572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a:t>Involve compromise from both parties</a:t>
            </a:r>
          </a:p>
          <a:p>
            <a:endParaRPr lang="en-AU"/>
          </a:p>
          <a:p>
            <a:r>
              <a:rPr lang="en-AU"/>
              <a:t>Example: joint custody agreements following divorce</a:t>
            </a:r>
            <a:endParaRPr lang="en-US" dirty="0"/>
          </a:p>
        </p:txBody>
      </p:sp>
    </p:spTree>
    <p:extLst>
      <p:ext uri="{BB962C8B-B14F-4D97-AF65-F5344CB8AC3E}">
        <p14:creationId xmlns:p14="http://schemas.microsoft.com/office/powerpoint/2010/main" val="568937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3152899" y="0"/>
            <a:ext cx="3431968" cy="596571"/>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1" dirty="0">
                <a:solidFill>
                  <a:srgbClr val="305289"/>
                </a:solidFill>
                <a:latin typeface="+mj-lt"/>
                <a:ea typeface="+mj-ea"/>
                <a:cs typeface="+mj-cs"/>
              </a:rPr>
              <a:t>Conflict</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225731"/>
          <a:ext cx="3331688" cy="9499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incompatible:</a:t>
                      </a:r>
                      <a:r>
                        <a:rPr lang="en-AU" sz="1600" b="0" dirty="0"/>
                        <a:t> not consistent</a:t>
                      </a:r>
                      <a:r>
                        <a:rPr lang="en-AU" sz="1600" b="0" baseline="0" dirty="0"/>
                        <a:t> or incapable of coexisting</a:t>
                      </a:r>
                      <a:endParaRPr lang="en-AU" sz="1600" b="1"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3977727071"/>
              </p:ext>
            </p:extLst>
          </p:nvPr>
        </p:nvGraphicFramePr>
        <p:xfrm>
          <a:off x="8840154" y="4389767"/>
          <a:ext cx="3351846" cy="128524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dirty="0"/>
                        <a:t>Explain</a:t>
                      </a:r>
                      <a:r>
                        <a:rPr lang="en-AU" b="0" baseline="0" dirty="0"/>
                        <a:t> the difference between distributive and integrative solutions.</a:t>
                      </a:r>
                      <a:endParaRPr lang="en-AU" b="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6" name="Rectangle 5"/>
          <p:cNvSpPr/>
          <p:nvPr/>
        </p:nvSpPr>
        <p:spPr>
          <a:xfrm>
            <a:off x="488866" y="690222"/>
            <a:ext cx="8236033" cy="830997"/>
          </a:xfrm>
          <a:prstGeom prst="rect">
            <a:avLst/>
          </a:prstGeom>
          <a:solidFill>
            <a:schemeClr val="accent4">
              <a:lumMod val="40000"/>
              <a:lumOff val="60000"/>
            </a:schemeClr>
          </a:solidFill>
        </p:spPr>
        <p:txBody>
          <a:bodyPr wrap="square">
            <a:spAutoFit/>
          </a:bodyPr>
          <a:lstStyle/>
          <a:p>
            <a:r>
              <a:rPr lang="en-AU" sz="2400" b="1" dirty="0"/>
              <a:t>Conflict resolution </a:t>
            </a:r>
            <a:r>
              <a:rPr lang="en-AU" sz="2400" dirty="0"/>
              <a:t>is a way for two or more parties to find a peaceful solution to a disagreement among them</a:t>
            </a:r>
          </a:p>
        </p:txBody>
      </p:sp>
      <p:sp>
        <p:nvSpPr>
          <p:cNvPr id="9" name="Content Placeholder 2"/>
          <p:cNvSpPr txBox="1">
            <a:spLocks/>
          </p:cNvSpPr>
          <p:nvPr/>
        </p:nvSpPr>
        <p:spPr>
          <a:xfrm>
            <a:off x="488866" y="1778001"/>
            <a:ext cx="7906072" cy="42037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u="sng" dirty="0"/>
              <a:t>Integrative solutions</a:t>
            </a:r>
          </a:p>
        </p:txBody>
      </p:sp>
      <p:sp>
        <p:nvSpPr>
          <p:cNvPr id="12" name="Content Placeholder 2"/>
          <p:cNvSpPr txBox="1">
            <a:spLocks/>
          </p:cNvSpPr>
          <p:nvPr/>
        </p:nvSpPr>
        <p:spPr>
          <a:xfrm>
            <a:off x="488866" y="2609227"/>
            <a:ext cx="4521696" cy="4572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Win-win solution (Both sides benefit from the decision)</a:t>
            </a:r>
          </a:p>
          <a:p>
            <a:endParaRPr lang="en-AU" dirty="0"/>
          </a:p>
          <a:p>
            <a:r>
              <a:rPr lang="en-AU" dirty="0"/>
              <a:t>Ensure that the motives of each party are addressed rather than focusing on explicit demands</a:t>
            </a:r>
            <a:endParaRPr lang="en-US" dirty="0"/>
          </a:p>
        </p:txBody>
      </p:sp>
    </p:spTree>
    <p:extLst>
      <p:ext uri="{BB962C8B-B14F-4D97-AF65-F5344CB8AC3E}">
        <p14:creationId xmlns:p14="http://schemas.microsoft.com/office/powerpoint/2010/main" val="507807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mage result for media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624" y="3623467"/>
            <a:ext cx="4525024" cy="259990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4C974FC-FEC2-C242-B238-F6D42E0E0610}"/>
              </a:ext>
            </a:extLst>
          </p:cNvPr>
          <p:cNvSpPr txBox="1"/>
          <p:nvPr/>
        </p:nvSpPr>
        <p:spPr>
          <a:xfrm>
            <a:off x="194882" y="199525"/>
            <a:ext cx="11997117" cy="1641976"/>
          </a:xfrm>
          <a:prstGeom prst="rect">
            <a:avLst/>
          </a:prstGeom>
        </p:spPr>
        <p:txBody>
          <a:bodyPr vert="horz" lIns="91440" tIns="45720" rIns="91440" bIns="45720" rtlCol="0" anchor="t">
            <a:normAutofit fontScale="85000" lnSpcReduction="20000"/>
          </a:bodyPr>
          <a:lstStyle/>
          <a:p>
            <a:pPr>
              <a:lnSpc>
                <a:spcPct val="90000"/>
              </a:lnSpc>
              <a:spcBef>
                <a:spcPct val="0"/>
              </a:spcBef>
              <a:spcAft>
                <a:spcPts val="600"/>
              </a:spcAft>
            </a:pPr>
            <a:r>
              <a:rPr lang="en-US" sz="5400" dirty="0">
                <a:solidFill>
                  <a:srgbClr val="305289"/>
                </a:solidFill>
                <a:latin typeface="+mj-lt"/>
                <a:ea typeface="+mj-ea"/>
                <a:cs typeface="+mj-cs"/>
              </a:rPr>
              <a:t>Learning objective 3.19: </a:t>
            </a:r>
            <a:r>
              <a:rPr lang="en-US" sz="5400" b="1" dirty="0">
                <a:solidFill>
                  <a:srgbClr val="305289"/>
                </a:solidFill>
                <a:latin typeface="+mj-lt"/>
                <a:ea typeface="+mj-ea"/>
                <a:cs typeface="+mj-cs"/>
              </a:rPr>
              <a:t>Identify and explain techniques (mediation, negotiation, and counselling) for resolving conflicts</a:t>
            </a:r>
          </a:p>
        </p:txBody>
      </p:sp>
      <p:pic>
        <p:nvPicPr>
          <p:cNvPr id="3" name="Picture 2">
            <a:extLst>
              <a:ext uri="{FF2B5EF4-FFF2-40B4-BE49-F238E27FC236}">
                <a16:creationId xmlns:a16="http://schemas.microsoft.com/office/drawing/2014/main" id="{E26E8FBF-E041-DA47-AFFB-AE181C00051F}"/>
              </a:ext>
            </a:extLst>
          </p:cNvPr>
          <p:cNvPicPr>
            <a:picLocks noChangeAspect="1"/>
          </p:cNvPicPr>
          <p:nvPr/>
        </p:nvPicPr>
        <p:blipFill>
          <a:blip r:embed="rId3"/>
          <a:stretch>
            <a:fillRect/>
          </a:stretch>
        </p:blipFill>
        <p:spPr>
          <a:xfrm>
            <a:off x="8104232" y="3625416"/>
            <a:ext cx="3787144" cy="2599904"/>
          </a:xfrm>
          <a:prstGeom prst="rect">
            <a:avLst/>
          </a:prstGeom>
        </p:spPr>
      </p:pic>
      <p:pic>
        <p:nvPicPr>
          <p:cNvPr id="5" name="Picture 2" descr="Image result for negoti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2858" y="2054577"/>
            <a:ext cx="5156472" cy="2081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142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1" y="908462"/>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Activate Prior Knowledge</a:t>
            </a:r>
          </a:p>
        </p:txBody>
      </p:sp>
      <p:sp>
        <p:nvSpPr>
          <p:cNvPr id="5" name="TextBox 4">
            <a:extLst>
              <a:ext uri="{FF2B5EF4-FFF2-40B4-BE49-F238E27FC236}">
                <a16:creationId xmlns:a16="http://schemas.microsoft.com/office/drawing/2014/main" id="{4C74A751-A7D2-FC49-AE50-FF323C50B58A}"/>
              </a:ext>
            </a:extLst>
          </p:cNvPr>
          <p:cNvSpPr txBox="1"/>
          <p:nvPr/>
        </p:nvSpPr>
        <p:spPr>
          <a:xfrm>
            <a:off x="794659" y="183078"/>
            <a:ext cx="5758541" cy="6186309"/>
          </a:xfrm>
          <a:prstGeom prst="rect">
            <a:avLst/>
          </a:prstGeom>
          <a:noFill/>
        </p:spPr>
        <p:txBody>
          <a:bodyPr wrap="square" rtlCol="0">
            <a:spAutoFit/>
          </a:bodyPr>
          <a:lstStyle/>
          <a:p>
            <a:pPr algn="ctr"/>
            <a:r>
              <a:rPr lang="en-AU" sz="3600" b="1" u="sng" dirty="0">
                <a:solidFill>
                  <a:schemeClr val="accent1">
                    <a:lumMod val="50000"/>
                  </a:schemeClr>
                </a:solidFill>
              </a:rPr>
              <a:t>PAIR-SHARE</a:t>
            </a:r>
            <a:endParaRPr lang="en-AU" sz="3600" b="1" dirty="0">
              <a:solidFill>
                <a:schemeClr val="accent1">
                  <a:lumMod val="50000"/>
                </a:schemeClr>
              </a:solidFill>
            </a:endParaRPr>
          </a:p>
          <a:p>
            <a:r>
              <a:rPr lang="en-AU" sz="4000" b="1" dirty="0">
                <a:solidFill>
                  <a:schemeClr val="accent1">
                    <a:lumMod val="50000"/>
                  </a:schemeClr>
                </a:solidFill>
              </a:rPr>
              <a:t>Distinguish the following  types of conflict resolution (identify similarities and differences between them):</a:t>
            </a:r>
          </a:p>
          <a:p>
            <a:pPr marL="571500" indent="-571500">
              <a:buFont typeface="Arial" panose="020B0604020202020204" pitchFamily="34" charset="0"/>
              <a:buChar char="•"/>
            </a:pPr>
            <a:r>
              <a:rPr lang="en-AU" sz="4000" b="1" dirty="0">
                <a:solidFill>
                  <a:schemeClr val="accent1">
                    <a:lumMod val="50000"/>
                  </a:schemeClr>
                </a:solidFill>
              </a:rPr>
              <a:t>Imposed solutions</a:t>
            </a:r>
          </a:p>
          <a:p>
            <a:pPr marL="571500" indent="-571500">
              <a:buFont typeface="Arial" panose="020B0604020202020204" pitchFamily="34" charset="0"/>
              <a:buChar char="•"/>
            </a:pPr>
            <a:r>
              <a:rPr lang="en-AU" sz="4000" b="1" dirty="0">
                <a:solidFill>
                  <a:schemeClr val="accent1">
                    <a:lumMod val="50000"/>
                  </a:schemeClr>
                </a:solidFill>
              </a:rPr>
              <a:t>Distributive solutions</a:t>
            </a:r>
          </a:p>
          <a:p>
            <a:pPr marL="571500" indent="-571500">
              <a:buFont typeface="Arial" panose="020B0604020202020204" pitchFamily="34" charset="0"/>
              <a:buChar char="•"/>
            </a:pPr>
            <a:r>
              <a:rPr lang="en-AU" sz="4000" b="1" dirty="0">
                <a:solidFill>
                  <a:schemeClr val="accent1">
                    <a:lumMod val="50000"/>
                  </a:schemeClr>
                </a:solidFill>
              </a:rPr>
              <a:t>Integrative solutions</a:t>
            </a:r>
          </a:p>
        </p:txBody>
      </p:sp>
      <p:pic>
        <p:nvPicPr>
          <p:cNvPr id="7" name="Picture 2" descr="Image result for conflict resolu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4036" y="-1"/>
            <a:ext cx="5527964" cy="337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051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4" descr="Image result for medi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3995086"/>
            <a:ext cx="4982782" cy="2862914"/>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3152899" y="0"/>
            <a:ext cx="2231901" cy="596571"/>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1" dirty="0">
                <a:solidFill>
                  <a:srgbClr val="305289"/>
                </a:solidFill>
                <a:latin typeface="+mj-lt"/>
                <a:ea typeface="+mj-ea"/>
                <a:cs typeface="+mj-cs"/>
              </a:rPr>
              <a:t>Mediation</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ext uri="{D42A27DB-BD31-4B8C-83A1-F6EECF244321}">
                <p14:modId xmlns:p14="http://schemas.microsoft.com/office/powerpoint/2010/main" val="336904719"/>
              </p:ext>
            </p:extLst>
          </p:nvPr>
        </p:nvGraphicFramePr>
        <p:xfrm>
          <a:off x="8860312" y="225731"/>
          <a:ext cx="3331688" cy="33883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conflict </a:t>
                      </a:r>
                      <a:r>
                        <a:rPr lang="en-AU" sz="1600" dirty="0"/>
                        <a:t>occurs when there is a perception that two parties (individuals or groups) have incompatible goals, ideas or behaviours.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Integrative</a:t>
                      </a:r>
                      <a:r>
                        <a:rPr lang="en-AU" sz="1600" b="1" baseline="0" dirty="0"/>
                        <a:t> solutions: </a:t>
                      </a:r>
                      <a:r>
                        <a:rPr lang="en-AU" sz="1600" b="0" baseline="0" dirty="0"/>
                        <a:t>Win-win solutions where both parties are satisfied with the solution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Distributive solutions: </a:t>
                      </a:r>
                      <a:r>
                        <a:rPr lang="en-AU" sz="1600" b="0" baseline="0" dirty="0"/>
                        <a:t>involves compromise from each party</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Imposed solutions</a:t>
                      </a:r>
                      <a:r>
                        <a:rPr lang="en-AU" sz="1600" b="0" baseline="0" dirty="0"/>
                        <a:t>:</a:t>
                      </a:r>
                      <a:r>
                        <a:rPr lang="en-AU" sz="1600" b="1" baseline="0" dirty="0"/>
                        <a:t> </a:t>
                      </a:r>
                      <a:r>
                        <a:rPr lang="en-AU" sz="1600" b="0" baseline="0" dirty="0"/>
                        <a:t>the stronger party or the</a:t>
                      </a:r>
                      <a:endParaRPr lang="en-AU" sz="16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4121179063"/>
              </p:ext>
            </p:extLst>
          </p:nvPr>
        </p:nvGraphicFramePr>
        <p:xfrm>
          <a:off x="8840154" y="4389767"/>
          <a:ext cx="3351846" cy="128524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dirty="0"/>
                        <a:t>What</a:t>
                      </a:r>
                      <a:r>
                        <a:rPr lang="en-AU" b="0" baseline="0" dirty="0"/>
                        <a:t> types of solutions to conflict result from the process of mediation?</a:t>
                      </a:r>
                      <a:endParaRPr lang="en-AU" b="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6" name="Rectangle 5"/>
          <p:cNvSpPr/>
          <p:nvPr/>
        </p:nvSpPr>
        <p:spPr>
          <a:xfrm>
            <a:off x="488866" y="690222"/>
            <a:ext cx="8236033" cy="1569660"/>
          </a:xfrm>
          <a:prstGeom prst="rect">
            <a:avLst/>
          </a:prstGeom>
          <a:solidFill>
            <a:schemeClr val="accent4">
              <a:lumMod val="40000"/>
              <a:lumOff val="60000"/>
            </a:schemeClr>
          </a:solidFill>
        </p:spPr>
        <p:txBody>
          <a:bodyPr wrap="square">
            <a:spAutoFit/>
          </a:bodyPr>
          <a:lstStyle/>
          <a:p>
            <a:r>
              <a:rPr lang="en-AU" sz="2400" b="1" dirty="0"/>
              <a:t>Mediation</a:t>
            </a:r>
            <a:r>
              <a:rPr lang="en-AU" sz="2400" dirty="0"/>
              <a:t>: A third party is brought in to help resolve the conflict. The mediator helps the parties to the dispute focus on the issues and reach a </a:t>
            </a:r>
            <a:r>
              <a:rPr lang="en-AU" sz="2400" b="1" dirty="0"/>
              <a:t>voluntary </a:t>
            </a:r>
            <a:r>
              <a:rPr lang="en-AU" sz="2400" dirty="0"/>
              <a:t>solution (either integrative or distributive).</a:t>
            </a:r>
            <a:endParaRPr lang="en-AU" sz="2400" b="1" dirty="0"/>
          </a:p>
        </p:txBody>
      </p:sp>
      <p:sp>
        <p:nvSpPr>
          <p:cNvPr id="9" name="Rectangle 8"/>
          <p:cNvSpPr/>
          <p:nvPr/>
        </p:nvSpPr>
        <p:spPr>
          <a:xfrm>
            <a:off x="488866" y="2633322"/>
            <a:ext cx="8236033" cy="1200329"/>
          </a:xfrm>
          <a:prstGeom prst="rect">
            <a:avLst/>
          </a:prstGeom>
          <a:solidFill>
            <a:schemeClr val="accent6">
              <a:lumMod val="40000"/>
              <a:lumOff val="60000"/>
            </a:schemeClr>
          </a:solidFill>
        </p:spPr>
        <p:txBody>
          <a:bodyPr wrap="square">
            <a:spAutoFit/>
          </a:bodyPr>
          <a:lstStyle/>
          <a:p>
            <a:r>
              <a:rPr lang="en-AU" sz="2400" b="1" dirty="0"/>
              <a:t>Arbitration</a:t>
            </a:r>
            <a:r>
              <a:rPr lang="en-AU" sz="2400" dirty="0"/>
              <a:t>: A form of mediation in which the third party has the right to hand down a decision after listening to both sides present their arguments (leading to an imposed solution).</a:t>
            </a:r>
            <a:endParaRPr lang="en-AU" sz="2400" b="1" dirty="0"/>
          </a:p>
        </p:txBody>
      </p:sp>
    </p:spTree>
    <p:extLst>
      <p:ext uri="{BB962C8B-B14F-4D97-AF65-F5344CB8AC3E}">
        <p14:creationId xmlns:p14="http://schemas.microsoft.com/office/powerpoint/2010/main" val="596657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4" descr="Image result for medi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3995086"/>
            <a:ext cx="4982782" cy="2862914"/>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3152899" y="0"/>
            <a:ext cx="2231901" cy="596571"/>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1" dirty="0">
                <a:solidFill>
                  <a:srgbClr val="305289"/>
                </a:solidFill>
                <a:latin typeface="+mj-lt"/>
                <a:ea typeface="+mj-ea"/>
                <a:cs typeface="+mj-cs"/>
              </a:rPr>
              <a:t>Mediation</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225731"/>
          <a:ext cx="3331688" cy="33883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conflict </a:t>
                      </a:r>
                      <a:r>
                        <a:rPr lang="en-AU" sz="1600" dirty="0"/>
                        <a:t>occurs when there is a perception that two parties (individuals or groups) have incompatible goals, ideas or behaviours.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Integrative</a:t>
                      </a:r>
                      <a:r>
                        <a:rPr lang="en-AU" sz="1600" b="1" baseline="0" dirty="0"/>
                        <a:t> solutions: </a:t>
                      </a:r>
                      <a:r>
                        <a:rPr lang="en-AU" sz="1600" b="0" baseline="0" dirty="0"/>
                        <a:t>Win-win solutions where both parties are satisfied with the solution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Distributive solutions: </a:t>
                      </a:r>
                      <a:r>
                        <a:rPr lang="en-AU" sz="1600" b="0" baseline="0" dirty="0"/>
                        <a:t>involves compromise from each party</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Imposed solutions</a:t>
                      </a:r>
                      <a:r>
                        <a:rPr lang="en-AU" sz="1600" b="0" baseline="0" dirty="0"/>
                        <a:t>:</a:t>
                      </a:r>
                      <a:r>
                        <a:rPr lang="en-AU" sz="1600" b="1" baseline="0" dirty="0"/>
                        <a:t> </a:t>
                      </a:r>
                      <a:r>
                        <a:rPr lang="en-AU" sz="1600" b="0" baseline="0" dirty="0"/>
                        <a:t>the stronger party or the</a:t>
                      </a:r>
                      <a:endParaRPr lang="en-AU" sz="16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3107404243"/>
              </p:ext>
            </p:extLst>
          </p:nvPr>
        </p:nvGraphicFramePr>
        <p:xfrm>
          <a:off x="8840154" y="4389767"/>
          <a:ext cx="3351846" cy="210820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dirty="0"/>
                        <a:t>What are the steps in mediation you</a:t>
                      </a:r>
                      <a:r>
                        <a:rPr lang="en-AU" b="0" baseline="0" dirty="0"/>
                        <a:t> can identify in this definition?</a:t>
                      </a:r>
                    </a:p>
                    <a:p>
                      <a:pPr marL="342900" indent="-342900">
                        <a:buFont typeface="+mj-lt"/>
                        <a:buAutoNum type="arabicPeriod"/>
                      </a:pPr>
                      <a:r>
                        <a:rPr lang="en-AU" b="0" baseline="0" dirty="0"/>
                        <a:t>How does the ANMAS describe the role of the mediator?</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6" name="Rectangle 5"/>
          <p:cNvSpPr/>
          <p:nvPr/>
        </p:nvSpPr>
        <p:spPr>
          <a:xfrm>
            <a:off x="488866" y="690222"/>
            <a:ext cx="8236033" cy="3046988"/>
          </a:xfrm>
          <a:prstGeom prst="rect">
            <a:avLst/>
          </a:prstGeom>
          <a:noFill/>
        </p:spPr>
        <p:txBody>
          <a:bodyPr wrap="square">
            <a:spAutoFit/>
          </a:bodyPr>
          <a:lstStyle/>
          <a:p>
            <a:r>
              <a:rPr lang="en-AU" sz="2400" dirty="0"/>
              <a:t>The Australian National Mediator Approval Standards defines mediation as:</a:t>
            </a:r>
          </a:p>
          <a:p>
            <a:endParaRPr lang="en-AU" sz="2400" dirty="0"/>
          </a:p>
          <a:p>
            <a:r>
              <a:rPr lang="en-AU" sz="2400" i="1" dirty="0"/>
              <a:t>A process in which the participants, with the support of a mediator, identify issues, develop options, consider alternatives and makes decisions about future actions and outcomes. The mediator acts as a third party to support participants to reach their own decisions. </a:t>
            </a:r>
          </a:p>
        </p:txBody>
      </p:sp>
    </p:spTree>
    <p:extLst>
      <p:ext uri="{BB962C8B-B14F-4D97-AF65-F5344CB8AC3E}">
        <p14:creationId xmlns:p14="http://schemas.microsoft.com/office/powerpoint/2010/main" val="1999943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4" descr="Image result for media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3437" y="4024775"/>
            <a:ext cx="4141462" cy="2379524"/>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1816101" y="0"/>
            <a:ext cx="4724400" cy="596571"/>
          </a:xfrm>
          <a:prstGeom prst="rect">
            <a:avLst/>
          </a:prstGeom>
        </p:spPr>
        <p:txBody>
          <a:bodyPr vert="horz" lIns="91440" tIns="45720" rIns="91440" bIns="45720" rtlCol="0" anchor="t">
            <a:noAutofit/>
          </a:bodyPr>
          <a:lstStyle/>
          <a:p>
            <a:pPr>
              <a:lnSpc>
                <a:spcPct val="90000"/>
              </a:lnSpc>
              <a:spcBef>
                <a:spcPct val="0"/>
              </a:spcBef>
              <a:spcAft>
                <a:spcPts val="600"/>
              </a:spcAft>
            </a:pPr>
            <a:r>
              <a:rPr lang="en-US" sz="3600" b="1" dirty="0">
                <a:solidFill>
                  <a:srgbClr val="305289"/>
                </a:solidFill>
                <a:latin typeface="+mj-lt"/>
                <a:ea typeface="+mj-ea"/>
                <a:cs typeface="+mj-cs"/>
              </a:rPr>
              <a:t>The role of the mediator</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225731"/>
          <a:ext cx="3331688" cy="33883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conflict </a:t>
                      </a:r>
                      <a:r>
                        <a:rPr lang="en-AU" sz="1600" dirty="0"/>
                        <a:t>occurs when there is a perception that two parties (individuals or groups) have incompatible goals, ideas or behaviours.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Integrative</a:t>
                      </a:r>
                      <a:r>
                        <a:rPr lang="en-AU" sz="1600" b="1" baseline="0" dirty="0"/>
                        <a:t> solutions: </a:t>
                      </a:r>
                      <a:r>
                        <a:rPr lang="en-AU" sz="1600" b="0" baseline="0" dirty="0"/>
                        <a:t>Win-win solutions where both parties are satisfied with the solution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Distributive solutions: </a:t>
                      </a:r>
                      <a:r>
                        <a:rPr lang="en-AU" sz="1600" b="0" baseline="0" dirty="0"/>
                        <a:t>involves compromise from each party</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Imposed solutions</a:t>
                      </a:r>
                      <a:r>
                        <a:rPr lang="en-AU" sz="1600" b="0" baseline="0" dirty="0"/>
                        <a:t>:</a:t>
                      </a:r>
                      <a:r>
                        <a:rPr lang="en-AU" sz="1600" b="1" baseline="0" dirty="0"/>
                        <a:t> </a:t>
                      </a:r>
                      <a:r>
                        <a:rPr lang="en-AU" sz="1600" b="0" baseline="0" dirty="0"/>
                        <a:t>the stronger party or the</a:t>
                      </a:r>
                      <a:endParaRPr lang="en-AU" sz="16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2766651856"/>
              </p:ext>
            </p:extLst>
          </p:nvPr>
        </p:nvGraphicFramePr>
        <p:xfrm>
          <a:off x="8840154" y="4389767"/>
          <a:ext cx="3351846" cy="128524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dirty="0"/>
                        <a:t>Describe</a:t>
                      </a:r>
                      <a:r>
                        <a:rPr lang="en-AU" b="0" baseline="0" dirty="0"/>
                        <a:t> the role of the mediator in the mediation process.</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6" name="Rectangle 5"/>
          <p:cNvSpPr/>
          <p:nvPr/>
        </p:nvSpPr>
        <p:spPr>
          <a:xfrm>
            <a:off x="488866" y="690222"/>
            <a:ext cx="8236033" cy="4524315"/>
          </a:xfrm>
          <a:prstGeom prst="rect">
            <a:avLst/>
          </a:prstGeom>
          <a:noFill/>
        </p:spPr>
        <p:txBody>
          <a:bodyPr wrap="square">
            <a:spAutoFit/>
          </a:bodyPr>
          <a:lstStyle/>
          <a:p>
            <a:r>
              <a:rPr lang="en-AU" sz="2400" dirty="0"/>
              <a:t>Mediators:</a:t>
            </a:r>
          </a:p>
          <a:p>
            <a:pPr marL="342900" indent="-342900">
              <a:buFont typeface="Arial" panose="020B0604020202020204" pitchFamily="34" charset="0"/>
              <a:buChar char="•"/>
            </a:pPr>
            <a:r>
              <a:rPr lang="en-AU" sz="2400" dirty="0"/>
              <a:t>Are impartial</a:t>
            </a:r>
          </a:p>
          <a:p>
            <a:pPr marL="342900" indent="-342900">
              <a:buFont typeface="Arial" panose="020B0604020202020204" pitchFamily="34" charset="0"/>
              <a:buChar char="•"/>
            </a:pPr>
            <a:r>
              <a:rPr lang="en-AU" sz="2400" dirty="0"/>
              <a:t>Manage the process</a:t>
            </a:r>
          </a:p>
          <a:p>
            <a:pPr marL="342900" indent="-342900">
              <a:buFont typeface="Arial" panose="020B0604020202020204" pitchFamily="34" charset="0"/>
              <a:buChar char="•"/>
            </a:pPr>
            <a:r>
              <a:rPr lang="en-AU" sz="2400" dirty="0"/>
              <a:t>Facilitate communication</a:t>
            </a:r>
          </a:p>
          <a:p>
            <a:pPr marL="342900" indent="-342900">
              <a:buFont typeface="Arial" panose="020B0604020202020204" pitchFamily="34" charset="0"/>
              <a:buChar char="•"/>
            </a:pPr>
            <a:r>
              <a:rPr lang="en-AU" sz="2400" dirty="0"/>
              <a:t>Help the parties to hear and understand each other</a:t>
            </a:r>
          </a:p>
          <a:p>
            <a:pPr marL="342900" indent="-342900">
              <a:buFont typeface="Arial" panose="020B0604020202020204" pitchFamily="34" charset="0"/>
              <a:buChar char="•"/>
            </a:pPr>
            <a:r>
              <a:rPr lang="en-AU" sz="2400" dirty="0"/>
              <a:t>Assist parties to evaluate alternatives and options</a:t>
            </a:r>
          </a:p>
          <a:p>
            <a:pPr marL="342900" indent="-342900">
              <a:buFont typeface="Arial" panose="020B0604020202020204" pitchFamily="34" charset="0"/>
              <a:buChar char="•"/>
            </a:pPr>
            <a:endParaRPr lang="en-AU" sz="2400" dirty="0"/>
          </a:p>
          <a:p>
            <a:pPr marL="342900" indent="-342900">
              <a:buFont typeface="Arial" panose="020B0604020202020204" pitchFamily="34" charset="0"/>
              <a:buChar char="•"/>
            </a:pPr>
            <a:endParaRPr lang="en-AU" sz="2400" dirty="0"/>
          </a:p>
          <a:p>
            <a:r>
              <a:rPr lang="en-AU" sz="2400" dirty="0"/>
              <a:t>Mediators do not:</a:t>
            </a:r>
          </a:p>
          <a:p>
            <a:pPr marL="342900" indent="-342900">
              <a:buFont typeface="Arial" panose="020B0604020202020204" pitchFamily="34" charset="0"/>
              <a:buChar char="•"/>
            </a:pPr>
            <a:r>
              <a:rPr lang="en-AU" sz="2400" dirty="0"/>
              <a:t>Give advice</a:t>
            </a:r>
          </a:p>
          <a:p>
            <a:pPr marL="342900" indent="-342900">
              <a:buFont typeface="Arial" panose="020B0604020202020204" pitchFamily="34" charset="0"/>
              <a:buChar char="•"/>
            </a:pPr>
            <a:r>
              <a:rPr lang="en-AU" sz="2400" dirty="0"/>
              <a:t>Determine the solution</a:t>
            </a:r>
          </a:p>
          <a:p>
            <a:endParaRPr lang="en-AU" sz="2400" i="1" dirty="0"/>
          </a:p>
        </p:txBody>
      </p:sp>
    </p:spTree>
    <p:extLst>
      <p:ext uri="{BB962C8B-B14F-4D97-AF65-F5344CB8AC3E}">
        <p14:creationId xmlns:p14="http://schemas.microsoft.com/office/powerpoint/2010/main" val="210421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1816101" y="0"/>
            <a:ext cx="4724400" cy="596571"/>
          </a:xfrm>
          <a:prstGeom prst="rect">
            <a:avLst/>
          </a:prstGeom>
        </p:spPr>
        <p:txBody>
          <a:bodyPr vert="horz" lIns="91440" tIns="45720" rIns="91440" bIns="45720" rtlCol="0" anchor="t">
            <a:noAutofit/>
          </a:bodyPr>
          <a:lstStyle/>
          <a:p>
            <a:pPr>
              <a:lnSpc>
                <a:spcPct val="90000"/>
              </a:lnSpc>
              <a:spcBef>
                <a:spcPct val="0"/>
              </a:spcBef>
              <a:spcAft>
                <a:spcPts val="600"/>
              </a:spcAft>
            </a:pPr>
            <a:r>
              <a:rPr lang="en-US" sz="3600" b="1" dirty="0">
                <a:solidFill>
                  <a:srgbClr val="305289"/>
                </a:solidFill>
                <a:latin typeface="+mj-lt"/>
                <a:ea typeface="+mj-ea"/>
                <a:cs typeface="+mj-cs"/>
              </a:rPr>
              <a:t>The mediation process</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225731"/>
          <a:ext cx="3331688" cy="33883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conflict </a:t>
                      </a:r>
                      <a:r>
                        <a:rPr lang="en-AU" sz="1600" dirty="0"/>
                        <a:t>occurs when there is a perception that two parties (individuals or groups) have incompatible goals, ideas or behaviours.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Integrative</a:t>
                      </a:r>
                      <a:r>
                        <a:rPr lang="en-AU" sz="1600" b="1" baseline="0" dirty="0"/>
                        <a:t> solutions: </a:t>
                      </a:r>
                      <a:r>
                        <a:rPr lang="en-AU" sz="1600" b="0" baseline="0" dirty="0"/>
                        <a:t>Win-win solutions where both parties are satisfied with the solution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Distributive solutions: </a:t>
                      </a:r>
                      <a:r>
                        <a:rPr lang="en-AU" sz="1600" b="0" baseline="0" dirty="0"/>
                        <a:t>involves compromise from each party</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Imposed solutions</a:t>
                      </a:r>
                      <a:r>
                        <a:rPr lang="en-AU" sz="1600" b="0" baseline="0" dirty="0"/>
                        <a:t>:</a:t>
                      </a:r>
                      <a:r>
                        <a:rPr lang="en-AU" sz="1600" b="1" baseline="0" dirty="0"/>
                        <a:t> </a:t>
                      </a:r>
                      <a:r>
                        <a:rPr lang="en-AU" sz="1600" b="0" baseline="0" dirty="0"/>
                        <a:t>the stronger party or the</a:t>
                      </a:r>
                      <a:endParaRPr lang="en-AU" sz="16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330806619"/>
              </p:ext>
            </p:extLst>
          </p:nvPr>
        </p:nvGraphicFramePr>
        <p:xfrm>
          <a:off x="8840154" y="4389767"/>
          <a:ext cx="3351846" cy="101092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baseline="0" dirty="0"/>
                        <a:t>Describe the mediation process. </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pic>
        <p:nvPicPr>
          <p:cNvPr id="4" name="Picture 3"/>
          <p:cNvPicPr>
            <a:picLocks noChangeAspect="1"/>
          </p:cNvPicPr>
          <p:nvPr/>
        </p:nvPicPr>
        <p:blipFill>
          <a:blip r:embed="rId2"/>
          <a:stretch>
            <a:fillRect/>
          </a:stretch>
        </p:blipFill>
        <p:spPr>
          <a:xfrm>
            <a:off x="445157" y="857780"/>
            <a:ext cx="5295967" cy="5512621"/>
          </a:xfrm>
          <a:prstGeom prst="rect">
            <a:avLst/>
          </a:prstGeom>
        </p:spPr>
      </p:pic>
      <p:pic>
        <p:nvPicPr>
          <p:cNvPr id="5" name="Picture 4"/>
          <p:cNvPicPr>
            <a:picLocks noChangeAspect="1"/>
          </p:cNvPicPr>
          <p:nvPr/>
        </p:nvPicPr>
        <p:blipFill>
          <a:blip r:embed="rId3"/>
          <a:stretch>
            <a:fillRect/>
          </a:stretch>
        </p:blipFill>
        <p:spPr>
          <a:xfrm>
            <a:off x="5925024" y="936297"/>
            <a:ext cx="2619376" cy="2296793"/>
          </a:xfrm>
          <a:prstGeom prst="rect">
            <a:avLst/>
          </a:prstGeom>
        </p:spPr>
      </p:pic>
    </p:spTree>
    <p:extLst>
      <p:ext uri="{BB962C8B-B14F-4D97-AF65-F5344CB8AC3E}">
        <p14:creationId xmlns:p14="http://schemas.microsoft.com/office/powerpoint/2010/main" val="3034389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1816101" y="0"/>
            <a:ext cx="4724400" cy="596571"/>
          </a:xfrm>
          <a:prstGeom prst="rect">
            <a:avLst/>
          </a:prstGeom>
        </p:spPr>
        <p:txBody>
          <a:bodyPr vert="horz" lIns="91440" tIns="45720" rIns="91440" bIns="45720" rtlCol="0" anchor="t">
            <a:noAutofit/>
          </a:bodyPr>
          <a:lstStyle/>
          <a:p>
            <a:pPr>
              <a:lnSpc>
                <a:spcPct val="90000"/>
              </a:lnSpc>
              <a:spcBef>
                <a:spcPct val="0"/>
              </a:spcBef>
              <a:spcAft>
                <a:spcPts val="600"/>
              </a:spcAft>
            </a:pPr>
            <a:r>
              <a:rPr lang="en-US" sz="3600" b="1" dirty="0">
                <a:solidFill>
                  <a:srgbClr val="305289"/>
                </a:solidFill>
                <a:latin typeface="+mj-lt"/>
                <a:ea typeface="+mj-ea"/>
                <a:cs typeface="+mj-cs"/>
              </a:rPr>
              <a:t>The mediation process</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225731"/>
          <a:ext cx="3331688" cy="33883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conflict </a:t>
                      </a:r>
                      <a:r>
                        <a:rPr lang="en-AU" sz="1600" dirty="0"/>
                        <a:t>occurs when there is a perception that two parties (individuals or groups) have incompatible goals, ideas or behaviours.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Integrative</a:t>
                      </a:r>
                      <a:r>
                        <a:rPr lang="en-AU" sz="1600" b="1" baseline="0" dirty="0"/>
                        <a:t> solutions: </a:t>
                      </a:r>
                      <a:r>
                        <a:rPr lang="en-AU" sz="1600" b="0" baseline="0" dirty="0"/>
                        <a:t>Win-win solutions where both parties are satisfied with the solution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Distributive solutions: </a:t>
                      </a:r>
                      <a:r>
                        <a:rPr lang="en-AU" sz="1600" b="0" baseline="0" dirty="0"/>
                        <a:t>involves compromise from each party</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Imposed solutions</a:t>
                      </a:r>
                      <a:r>
                        <a:rPr lang="en-AU" sz="1600" b="0" baseline="0" dirty="0"/>
                        <a:t>:</a:t>
                      </a:r>
                      <a:r>
                        <a:rPr lang="en-AU" sz="1600" b="1" baseline="0" dirty="0"/>
                        <a:t> </a:t>
                      </a:r>
                      <a:r>
                        <a:rPr lang="en-AU" sz="1600" b="0" baseline="0" dirty="0"/>
                        <a:t>the stronger party or the</a:t>
                      </a:r>
                      <a:endParaRPr lang="en-AU" sz="16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nvPr>
        </p:nvGraphicFramePr>
        <p:xfrm>
          <a:off x="8840154" y="4389767"/>
          <a:ext cx="3351846" cy="101092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baseline="0" dirty="0"/>
                        <a:t>Describe the mediation process. </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pic>
        <p:nvPicPr>
          <p:cNvPr id="4" name="Picture 3"/>
          <p:cNvPicPr>
            <a:picLocks noChangeAspect="1"/>
          </p:cNvPicPr>
          <p:nvPr/>
        </p:nvPicPr>
        <p:blipFill>
          <a:blip r:embed="rId2"/>
          <a:stretch>
            <a:fillRect/>
          </a:stretch>
        </p:blipFill>
        <p:spPr>
          <a:xfrm>
            <a:off x="5999220" y="3721100"/>
            <a:ext cx="2545180" cy="2649301"/>
          </a:xfrm>
          <a:prstGeom prst="rect">
            <a:avLst/>
          </a:prstGeom>
        </p:spPr>
      </p:pic>
      <p:pic>
        <p:nvPicPr>
          <p:cNvPr id="5" name="Picture 4"/>
          <p:cNvPicPr>
            <a:picLocks noChangeAspect="1"/>
          </p:cNvPicPr>
          <p:nvPr/>
        </p:nvPicPr>
        <p:blipFill>
          <a:blip r:embed="rId3"/>
          <a:stretch>
            <a:fillRect/>
          </a:stretch>
        </p:blipFill>
        <p:spPr>
          <a:xfrm>
            <a:off x="5925024" y="936297"/>
            <a:ext cx="2619376" cy="2296793"/>
          </a:xfrm>
          <a:prstGeom prst="rect">
            <a:avLst/>
          </a:prstGeom>
        </p:spPr>
      </p:pic>
      <p:sp>
        <p:nvSpPr>
          <p:cNvPr id="9" name="Rectangle 8"/>
          <p:cNvSpPr/>
          <p:nvPr/>
        </p:nvSpPr>
        <p:spPr>
          <a:xfrm>
            <a:off x="488866" y="690222"/>
            <a:ext cx="5214599" cy="5632311"/>
          </a:xfrm>
          <a:prstGeom prst="rect">
            <a:avLst/>
          </a:prstGeom>
          <a:noFill/>
        </p:spPr>
        <p:txBody>
          <a:bodyPr wrap="square">
            <a:spAutoFit/>
          </a:bodyPr>
          <a:lstStyle/>
          <a:p>
            <a:r>
              <a:rPr lang="en-AU" sz="2000" dirty="0"/>
              <a:t>Steps to conducting a mediation session:</a:t>
            </a:r>
          </a:p>
          <a:p>
            <a:pPr marL="457200" indent="-457200">
              <a:buAutoNum type="arabicPeriod"/>
            </a:pPr>
            <a:r>
              <a:rPr lang="en-AU" sz="2000" dirty="0"/>
              <a:t>Mediator opens (introduces sessions, establishes rapport; sets guidelines/rules; discusses confidentiality and role of the mediator)</a:t>
            </a:r>
          </a:p>
          <a:p>
            <a:pPr marL="457200" indent="-457200">
              <a:buAutoNum type="arabicPeriod"/>
            </a:pPr>
            <a:r>
              <a:rPr lang="en-AU" sz="2000" dirty="0"/>
              <a:t>Parties’ opening statements (Explain what has brought them here today; Mediator listens does not interrupt)</a:t>
            </a:r>
          </a:p>
          <a:p>
            <a:pPr marL="457200" indent="-457200">
              <a:buAutoNum type="arabicPeriod"/>
            </a:pPr>
            <a:r>
              <a:rPr lang="en-AU" sz="2000" dirty="0"/>
              <a:t>Mediator reflection and summary (make sure parties have heard each other)</a:t>
            </a:r>
          </a:p>
          <a:p>
            <a:pPr marL="457200" indent="-457200">
              <a:buAutoNum type="arabicPeriod"/>
            </a:pPr>
            <a:r>
              <a:rPr lang="en-AU" sz="2000" dirty="0"/>
              <a:t>Agenda setting (mediator identifies issues to discuss)</a:t>
            </a:r>
          </a:p>
          <a:p>
            <a:pPr marL="457200" indent="-457200">
              <a:buAutoNum type="arabicPeriod"/>
            </a:pPr>
            <a:r>
              <a:rPr lang="en-AU" sz="2000" dirty="0"/>
              <a:t>Issue exploration </a:t>
            </a:r>
          </a:p>
          <a:p>
            <a:pPr marL="457200" indent="-457200">
              <a:buAutoNum type="arabicPeriod"/>
            </a:pPr>
            <a:r>
              <a:rPr lang="en-AU" sz="2000" dirty="0"/>
              <a:t>Private sessions (discuss options and alternatives)</a:t>
            </a:r>
          </a:p>
          <a:p>
            <a:pPr marL="457200" indent="-457200">
              <a:buAutoNum type="arabicPeriod"/>
            </a:pPr>
            <a:r>
              <a:rPr lang="en-AU" sz="2000" dirty="0"/>
              <a:t>Negotiation</a:t>
            </a:r>
          </a:p>
          <a:p>
            <a:pPr marL="457200" indent="-457200">
              <a:buAutoNum type="arabicPeriod"/>
            </a:pPr>
            <a:r>
              <a:rPr lang="en-AU" sz="2000" dirty="0"/>
              <a:t>Agreement and closure</a:t>
            </a:r>
          </a:p>
          <a:p>
            <a:endParaRPr lang="en-AU" sz="2000" i="1" dirty="0"/>
          </a:p>
        </p:txBody>
      </p:sp>
      <p:sp>
        <p:nvSpPr>
          <p:cNvPr id="10" name="Rounded Rectangle 9">
            <a:extLst>
              <a:ext uri="{FF2B5EF4-FFF2-40B4-BE49-F238E27FC236}">
                <a16:creationId xmlns:a16="http://schemas.microsoft.com/office/drawing/2014/main" id="{91B81EA3-0C52-424E-B342-37EE26E471E5}"/>
              </a:ext>
            </a:extLst>
          </p:cNvPr>
          <p:cNvSpPr/>
          <p:nvPr/>
        </p:nvSpPr>
        <p:spPr>
          <a:xfrm rot="16200000">
            <a:off x="-756062" y="17837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Tree>
    <p:extLst>
      <p:ext uri="{BB962C8B-B14F-4D97-AF65-F5344CB8AC3E}">
        <p14:creationId xmlns:p14="http://schemas.microsoft.com/office/powerpoint/2010/main" val="582523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3962401" y="12700"/>
            <a:ext cx="4724400" cy="596571"/>
          </a:xfrm>
          <a:prstGeom prst="rect">
            <a:avLst/>
          </a:prstGeom>
        </p:spPr>
        <p:txBody>
          <a:bodyPr vert="horz" lIns="91440" tIns="45720" rIns="91440" bIns="45720" rtlCol="0" anchor="t">
            <a:noAutofit/>
          </a:bodyPr>
          <a:lstStyle/>
          <a:p>
            <a:pPr>
              <a:lnSpc>
                <a:spcPct val="90000"/>
              </a:lnSpc>
              <a:spcBef>
                <a:spcPct val="0"/>
              </a:spcBef>
              <a:spcAft>
                <a:spcPts val="600"/>
              </a:spcAft>
            </a:pPr>
            <a:r>
              <a:rPr lang="en-US" sz="3600" b="1" dirty="0">
                <a:solidFill>
                  <a:srgbClr val="305289"/>
                </a:solidFill>
                <a:latin typeface="+mj-lt"/>
                <a:ea typeface="+mj-ea"/>
                <a:cs typeface="+mj-cs"/>
              </a:rPr>
              <a:t>The mediation process</a:t>
            </a:r>
            <a:endParaRPr lang="en-US" sz="3200" b="1" dirty="0">
              <a:solidFill>
                <a:srgbClr val="305289"/>
              </a:solidFill>
              <a:latin typeface="+mj-lt"/>
              <a:ea typeface="+mj-ea"/>
              <a:cs typeface="+mj-cs"/>
            </a:endParaRPr>
          </a:p>
        </p:txBody>
      </p:sp>
      <p:pic>
        <p:nvPicPr>
          <p:cNvPr id="2" name="gYvrNQbwVwI"/>
          <p:cNvPicPr>
            <a:picLocks noRot="1" noChangeAspect="1"/>
          </p:cNvPicPr>
          <p:nvPr>
            <a:videoFile r:link="rId1"/>
          </p:nvPr>
        </p:nvPicPr>
        <p:blipFill>
          <a:blip r:embed="rId3"/>
          <a:stretch>
            <a:fillRect/>
          </a:stretch>
        </p:blipFill>
        <p:spPr>
          <a:xfrm>
            <a:off x="863600" y="596571"/>
            <a:ext cx="10604500" cy="5965031"/>
          </a:xfrm>
          <a:prstGeom prst="rect">
            <a:avLst/>
          </a:prstGeom>
        </p:spPr>
      </p:pic>
    </p:spTree>
    <p:extLst>
      <p:ext uri="{BB962C8B-B14F-4D97-AF65-F5344CB8AC3E}">
        <p14:creationId xmlns:p14="http://schemas.microsoft.com/office/powerpoint/2010/main" val="2724378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449323" y="0"/>
            <a:ext cx="5724567" cy="596571"/>
          </a:xfrm>
          <a:prstGeom prst="rect">
            <a:avLst/>
          </a:prstGeom>
        </p:spPr>
        <p:txBody>
          <a:bodyPr vert="horz" lIns="91440" tIns="45720" rIns="91440" bIns="45720" rtlCol="0" anchor="t">
            <a:noAutofit/>
          </a:bodyPr>
          <a:lstStyle/>
          <a:p>
            <a:pPr>
              <a:lnSpc>
                <a:spcPct val="90000"/>
              </a:lnSpc>
              <a:spcBef>
                <a:spcPct val="0"/>
              </a:spcBef>
              <a:spcAft>
                <a:spcPts val="600"/>
              </a:spcAft>
            </a:pPr>
            <a:r>
              <a:rPr lang="en-US" sz="2800" b="1" dirty="0">
                <a:solidFill>
                  <a:srgbClr val="305289"/>
                </a:solidFill>
                <a:latin typeface="+mj-lt"/>
                <a:ea typeface="+mj-ea"/>
                <a:cs typeface="+mj-cs"/>
              </a:rPr>
              <a:t>Effectiveness of mediation</a:t>
            </a:r>
            <a:endParaRPr lang="en-US" sz="24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ext uri="{D42A27DB-BD31-4B8C-83A1-F6EECF244321}">
                <p14:modId xmlns:p14="http://schemas.microsoft.com/office/powerpoint/2010/main" val="3329751297"/>
              </p:ext>
            </p:extLst>
          </p:nvPr>
        </p:nvGraphicFramePr>
        <p:xfrm>
          <a:off x="6563463" y="0"/>
          <a:ext cx="5628537" cy="1742440"/>
        </p:xfrm>
        <a:graphic>
          <a:graphicData uri="http://schemas.openxmlformats.org/drawingml/2006/table">
            <a:tbl>
              <a:tblPr firstRow="1" bandRow="1">
                <a:tableStyleId>{5C22544A-7EE6-4342-B048-85BDC9FD1C3A}</a:tableStyleId>
              </a:tblPr>
              <a:tblGrid>
                <a:gridCol w="5628537">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dirty="0"/>
                        <a:t>conflict </a:t>
                      </a:r>
                      <a:r>
                        <a:rPr lang="en-AU" sz="1400" dirty="0"/>
                        <a:t>occurs when there is a perception that two parties (individuals or groups) have incompatible goals, ideas or behaviours.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b="1" dirty="0"/>
                        <a:t>longitudinal research: </a:t>
                      </a:r>
                      <a:r>
                        <a:rPr lang="en-AU" sz="1400" b="0" i="0" kern="1200" dirty="0">
                          <a:solidFill>
                            <a:schemeClr val="dk1"/>
                          </a:solidFill>
                          <a:effectLst/>
                          <a:latin typeface="+mn-lt"/>
                          <a:ea typeface="+mn-ea"/>
                          <a:cs typeface="+mn-cs"/>
                        </a:rPr>
                        <a:t>an observational </a:t>
                      </a:r>
                      <a:r>
                        <a:rPr lang="en-AU" sz="1400" b="1" i="0" kern="1200" dirty="0">
                          <a:solidFill>
                            <a:schemeClr val="dk1"/>
                          </a:solidFill>
                          <a:effectLst/>
                          <a:latin typeface="+mn-lt"/>
                          <a:ea typeface="+mn-ea"/>
                          <a:cs typeface="+mn-cs"/>
                        </a:rPr>
                        <a:t>research </a:t>
                      </a:r>
                      <a:r>
                        <a:rPr lang="en-AU" sz="1400" b="0" i="0" kern="1200" dirty="0">
                          <a:solidFill>
                            <a:schemeClr val="dk1"/>
                          </a:solidFill>
                          <a:effectLst/>
                          <a:latin typeface="+mn-lt"/>
                          <a:ea typeface="+mn-ea"/>
                          <a:cs typeface="+mn-cs"/>
                        </a:rPr>
                        <a:t>method in which data is gathered for the same subjects repeatedly over a period of time</a:t>
                      </a:r>
                      <a:endParaRPr lang="en-AU" sz="14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b="1" baseline="0" dirty="0"/>
                        <a:t>adversarial: </a:t>
                      </a:r>
                      <a:r>
                        <a:rPr lang="en-AU" sz="1400" b="0" baseline="0" dirty="0"/>
                        <a:t> parties to a dispute find and present evidence to support their case  to a decision maker</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697189554"/>
              </p:ext>
            </p:extLst>
          </p:nvPr>
        </p:nvGraphicFramePr>
        <p:xfrm>
          <a:off x="6563464" y="5413344"/>
          <a:ext cx="5628536" cy="1315720"/>
        </p:xfrm>
        <a:graphic>
          <a:graphicData uri="http://schemas.openxmlformats.org/drawingml/2006/table">
            <a:tbl>
              <a:tblPr firstRow="1" bandRow="1">
                <a:tableStyleId>{5C22544A-7EE6-4342-B048-85BDC9FD1C3A}</a:tableStyleId>
              </a:tblPr>
              <a:tblGrid>
                <a:gridCol w="5628536">
                  <a:extLst>
                    <a:ext uri="{9D8B030D-6E8A-4147-A177-3AD203B41FA5}">
                      <a16:colId xmlns:a16="http://schemas.microsoft.com/office/drawing/2014/main" val="1858754453"/>
                    </a:ext>
                  </a:extLst>
                </a:gridCol>
              </a:tblGrid>
              <a:tr h="370840">
                <a:tc>
                  <a:txBody>
                    <a:bodyPr/>
                    <a:lstStyle/>
                    <a:p>
                      <a:pPr algn="ctr"/>
                      <a:r>
                        <a:rPr lang="en-AU" sz="14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400" b="0" dirty="0"/>
                        <a:t>Identify the IV and the DV in this research study.</a:t>
                      </a:r>
                      <a:endParaRPr lang="en-AU" sz="1400" b="0" baseline="0" dirty="0"/>
                    </a:p>
                    <a:p>
                      <a:pPr marL="342900" indent="-342900">
                        <a:buFont typeface="+mj-lt"/>
                        <a:buAutoNum type="arabicPeriod"/>
                      </a:pPr>
                      <a:r>
                        <a:rPr lang="en-AU" sz="1400" b="0" baseline="0" dirty="0"/>
                        <a:t>What ethical considerations should have been addressed in this study?</a:t>
                      </a:r>
                    </a:p>
                    <a:p>
                      <a:pPr marL="342900" indent="-342900">
                        <a:buFont typeface="+mj-lt"/>
                        <a:buAutoNum type="arabicPeriod"/>
                      </a:pPr>
                      <a:r>
                        <a:rPr lang="en-AU" sz="1400" b="0" baseline="0" dirty="0"/>
                        <a:t>Describe the findings of this study (refer to the diagram). </a:t>
                      </a:r>
                      <a:endParaRPr lang="en-AU" sz="1400" b="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6" name="Rectangle 5"/>
          <p:cNvSpPr/>
          <p:nvPr/>
        </p:nvSpPr>
        <p:spPr>
          <a:xfrm>
            <a:off x="462744" y="414650"/>
            <a:ext cx="6087298" cy="6555641"/>
          </a:xfrm>
          <a:prstGeom prst="rect">
            <a:avLst/>
          </a:prstGeom>
          <a:noFill/>
        </p:spPr>
        <p:txBody>
          <a:bodyPr wrap="square">
            <a:spAutoFit/>
          </a:bodyPr>
          <a:lstStyle/>
          <a:p>
            <a:r>
              <a:rPr lang="en-AU" sz="2000" b="1" dirty="0"/>
              <a:t>Emery, </a:t>
            </a:r>
            <a:r>
              <a:rPr lang="en-AU" sz="2000" b="1" dirty="0" err="1"/>
              <a:t>Sbarra</a:t>
            </a:r>
            <a:r>
              <a:rPr lang="en-AU" sz="2000" b="1" dirty="0"/>
              <a:t>, &amp; Grover, 2005:</a:t>
            </a:r>
          </a:p>
          <a:p>
            <a:pPr marL="342900" indent="-342900">
              <a:buFontTx/>
              <a:buChar char="-"/>
            </a:pPr>
            <a:r>
              <a:rPr lang="en-AU" sz="2000" dirty="0"/>
              <a:t>Longitudinal research study (12 years)</a:t>
            </a:r>
          </a:p>
          <a:p>
            <a:pPr marL="342900" indent="-342900">
              <a:buFontTx/>
              <a:buChar char="-"/>
            </a:pPr>
            <a:r>
              <a:rPr lang="en-AU" sz="2000" dirty="0"/>
              <a:t>Evaluated the effectiveness of mediation as opposed to adversarial settlement in court for separating parents</a:t>
            </a:r>
            <a:endParaRPr lang="en-AU" sz="2000" i="1" dirty="0"/>
          </a:p>
          <a:p>
            <a:pPr marL="342900" indent="-342900">
              <a:buFontTx/>
              <a:buChar char="-"/>
            </a:pPr>
            <a:r>
              <a:rPr lang="en-AU" sz="2000" dirty="0"/>
              <a:t>Over 12 years, they followed the progress of parting couples who had been randomly allocated to either a mediation or a court settlement group</a:t>
            </a:r>
          </a:p>
          <a:p>
            <a:pPr marL="342900" indent="-342900">
              <a:buFontTx/>
              <a:buChar char="-"/>
            </a:pPr>
            <a:r>
              <a:rPr lang="en-AU" sz="2000" dirty="0"/>
              <a:t>They found that mediation can:</a:t>
            </a:r>
          </a:p>
          <a:p>
            <a:pPr marL="800100" lvl="1" indent="-342900">
              <a:buFont typeface="Arial" panose="020B0604020202020204" pitchFamily="34" charset="0"/>
              <a:buChar char="•"/>
            </a:pPr>
            <a:r>
              <a:rPr lang="en-AU" sz="2000" dirty="0"/>
              <a:t>Settle a larger % of cases otherwise headed to court</a:t>
            </a:r>
          </a:p>
          <a:p>
            <a:pPr marL="800100" lvl="1" indent="-342900">
              <a:buFont typeface="Arial" panose="020B0604020202020204" pitchFamily="34" charset="0"/>
              <a:buChar char="•"/>
            </a:pPr>
            <a:r>
              <a:rPr lang="en-AU" sz="2000" dirty="0"/>
              <a:t>Possibly gets to settlement quicker, saves money, and increases compliance with agreements</a:t>
            </a:r>
          </a:p>
          <a:p>
            <a:pPr marL="800100" lvl="1" indent="-342900">
              <a:buFont typeface="Arial" panose="020B0604020202020204" pitchFamily="34" charset="0"/>
              <a:buChar char="•"/>
            </a:pPr>
            <a:r>
              <a:rPr lang="en-AU" sz="2000" dirty="0"/>
              <a:t>Increase party satisfaction</a:t>
            </a:r>
          </a:p>
          <a:p>
            <a:pPr marL="800100" lvl="1" indent="-342900">
              <a:buFont typeface="Arial" panose="020B0604020202020204" pitchFamily="34" charset="0"/>
              <a:buChar char="•"/>
            </a:pPr>
            <a:r>
              <a:rPr lang="en-AU" sz="2000" dirty="0"/>
              <a:t>Lead to improved relationships (between non-residential parents and children, and between separated parents)</a:t>
            </a:r>
          </a:p>
          <a:p>
            <a:pPr marL="342900" indent="-342900">
              <a:buFontTx/>
              <a:buChar char="-"/>
            </a:pPr>
            <a:r>
              <a:rPr lang="en-AU" sz="2000" dirty="0"/>
              <a:t>Emery et al. attributed these findings to mediation allowing parents the opportunity to address underlying emotional issues and establish sustainable businesslike relationships</a:t>
            </a:r>
          </a:p>
        </p:txBody>
      </p:sp>
      <p:pic>
        <p:nvPicPr>
          <p:cNvPr id="7" name="Picture 6" descr="A screenshot of a cell phone&#10;&#10;Description automatically generated">
            <a:extLst>
              <a:ext uri="{FF2B5EF4-FFF2-40B4-BE49-F238E27FC236}">
                <a16:creationId xmlns:a16="http://schemas.microsoft.com/office/drawing/2014/main" id="{643239D1-8364-0D45-B639-4533C8E15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1355" y="1803380"/>
            <a:ext cx="4152752" cy="3549023"/>
          </a:xfrm>
          <a:prstGeom prst="rect">
            <a:avLst/>
          </a:prstGeom>
        </p:spPr>
      </p:pic>
    </p:spTree>
    <p:extLst>
      <p:ext uri="{BB962C8B-B14F-4D97-AF65-F5344CB8AC3E}">
        <p14:creationId xmlns:p14="http://schemas.microsoft.com/office/powerpoint/2010/main" val="11311279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descr="Image result for media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20837" y="1875885"/>
            <a:ext cx="8671163" cy="4982115"/>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a:extLst>
              <a:ext uri="{FF2B5EF4-FFF2-40B4-BE49-F238E27FC236}">
                <a16:creationId xmlns:a16="http://schemas.microsoft.com/office/drawing/2014/main" id="{91B81EA3-0C52-424E-B342-37EE26E471E5}"/>
              </a:ext>
            </a:extLst>
          </p:cNvPr>
          <p:cNvSpPr/>
          <p:nvPr/>
        </p:nvSpPr>
        <p:spPr>
          <a:xfrm rot="16200000">
            <a:off x="-908461" y="908462"/>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Activate Prior Knowledge</a:t>
            </a:r>
          </a:p>
        </p:txBody>
      </p:sp>
      <p:sp>
        <p:nvSpPr>
          <p:cNvPr id="5" name="TextBox 4">
            <a:extLst>
              <a:ext uri="{FF2B5EF4-FFF2-40B4-BE49-F238E27FC236}">
                <a16:creationId xmlns:a16="http://schemas.microsoft.com/office/drawing/2014/main" id="{4C74A751-A7D2-FC49-AE50-FF323C50B58A}"/>
              </a:ext>
            </a:extLst>
          </p:cNvPr>
          <p:cNvSpPr txBox="1"/>
          <p:nvPr/>
        </p:nvSpPr>
        <p:spPr>
          <a:xfrm>
            <a:off x="794659" y="183078"/>
            <a:ext cx="5758541" cy="3108543"/>
          </a:xfrm>
          <a:prstGeom prst="rect">
            <a:avLst/>
          </a:prstGeom>
          <a:noFill/>
        </p:spPr>
        <p:txBody>
          <a:bodyPr wrap="square" rtlCol="0">
            <a:spAutoFit/>
          </a:bodyPr>
          <a:lstStyle/>
          <a:p>
            <a:pPr algn="ctr"/>
            <a:r>
              <a:rPr lang="en-AU" sz="3600" b="1" u="sng" dirty="0">
                <a:solidFill>
                  <a:schemeClr val="accent1">
                    <a:lumMod val="50000"/>
                  </a:schemeClr>
                </a:solidFill>
              </a:rPr>
              <a:t>PAIR-SHARE</a:t>
            </a:r>
            <a:endParaRPr lang="en-AU" sz="3600" b="1" dirty="0">
              <a:solidFill>
                <a:schemeClr val="accent1">
                  <a:lumMod val="50000"/>
                </a:schemeClr>
              </a:solidFill>
            </a:endParaRPr>
          </a:p>
          <a:p>
            <a:r>
              <a:rPr lang="en-AU" sz="4000" b="1" dirty="0">
                <a:solidFill>
                  <a:schemeClr val="accent1">
                    <a:lumMod val="50000"/>
                  </a:schemeClr>
                </a:solidFill>
              </a:rPr>
              <a:t>Describe the technique of mediation for resolving conflicts (make at least three points).</a:t>
            </a:r>
          </a:p>
        </p:txBody>
      </p:sp>
    </p:spTree>
    <p:extLst>
      <p:ext uri="{BB962C8B-B14F-4D97-AF65-F5344CB8AC3E}">
        <p14:creationId xmlns:p14="http://schemas.microsoft.com/office/powerpoint/2010/main" val="2194848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3152899" y="0"/>
            <a:ext cx="2231901" cy="596571"/>
          </a:xfrm>
          <a:prstGeom prst="rect">
            <a:avLst/>
          </a:prstGeom>
        </p:spPr>
        <p:txBody>
          <a:bodyPr vert="horz" lIns="91440" tIns="45720" rIns="91440" bIns="45720" rtlCol="0" anchor="t">
            <a:normAutofit fontScale="92500"/>
          </a:bodyPr>
          <a:lstStyle/>
          <a:p>
            <a:pPr>
              <a:lnSpc>
                <a:spcPct val="90000"/>
              </a:lnSpc>
              <a:spcBef>
                <a:spcPct val="0"/>
              </a:spcBef>
              <a:spcAft>
                <a:spcPts val="600"/>
              </a:spcAft>
            </a:pPr>
            <a:r>
              <a:rPr lang="en-US" sz="3600" b="1" dirty="0">
                <a:solidFill>
                  <a:srgbClr val="305289"/>
                </a:solidFill>
                <a:latin typeface="+mj-lt"/>
                <a:ea typeface="+mj-ea"/>
                <a:cs typeface="+mj-cs"/>
              </a:rPr>
              <a:t>Negotiation</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225731"/>
          <a:ext cx="3331688" cy="421132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conflict </a:t>
                      </a:r>
                      <a:r>
                        <a:rPr lang="en-AU" sz="1600" dirty="0"/>
                        <a:t>occurs when there is a perception that two parties (individuals or groups) have incompatible goals, ideas or behaviours.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Integrative</a:t>
                      </a:r>
                      <a:r>
                        <a:rPr lang="en-AU" sz="1600" b="1" baseline="0" dirty="0"/>
                        <a:t> solutions: </a:t>
                      </a:r>
                      <a:r>
                        <a:rPr lang="en-AU" sz="1600" b="0" baseline="0" dirty="0"/>
                        <a:t>Win-win solutions where both parties are satisfied with the solution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Distributive solutions: </a:t>
                      </a:r>
                      <a:r>
                        <a:rPr lang="en-AU" sz="1600" b="0" baseline="0" dirty="0"/>
                        <a:t>involves compromise from each party</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Imposed solutions</a:t>
                      </a:r>
                      <a:r>
                        <a:rPr lang="en-AU" sz="1600" b="0" baseline="0" dirty="0"/>
                        <a:t>:</a:t>
                      </a:r>
                      <a:r>
                        <a:rPr lang="en-AU" sz="1600" b="1" baseline="0" dirty="0"/>
                        <a:t> </a:t>
                      </a:r>
                      <a:r>
                        <a:rPr lang="en-AU" sz="1600" b="0" baseline="0" dirty="0"/>
                        <a:t>the stronger party or the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mutual:</a:t>
                      </a:r>
                      <a:r>
                        <a:rPr lang="en-AU" sz="1600" b="0" baseline="0" dirty="0"/>
                        <a:t> </a:t>
                      </a:r>
                      <a:r>
                        <a:rPr lang="en-AU" sz="1800" b="0" i="0" kern="1200" dirty="0">
                          <a:solidFill>
                            <a:schemeClr val="dk1"/>
                          </a:solidFill>
                          <a:effectLst/>
                          <a:latin typeface="+mn-lt"/>
                          <a:ea typeface="+mn-ea"/>
                          <a:cs typeface="+mn-cs"/>
                        </a:rPr>
                        <a:t>combining in such a way as to meet the interests of each other</a:t>
                      </a:r>
                      <a:endParaRPr lang="en-AU" sz="16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nvPr>
        </p:nvGraphicFramePr>
        <p:xfrm>
          <a:off x="8850233" y="4607035"/>
          <a:ext cx="3351846" cy="210820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dirty="0"/>
                        <a:t>What is meant by the term ‘mutual agreement’?</a:t>
                      </a:r>
                    </a:p>
                    <a:p>
                      <a:pPr marL="342900" indent="-342900">
                        <a:buFont typeface="+mj-lt"/>
                        <a:buAutoNum type="arabicPeriod"/>
                      </a:pPr>
                      <a:r>
                        <a:rPr lang="en-AU" b="0" dirty="0"/>
                        <a:t>What type</a:t>
                      </a:r>
                      <a:r>
                        <a:rPr lang="en-AU" b="0" baseline="0" dirty="0"/>
                        <a:t> of solution results from successful negotiation?</a:t>
                      </a:r>
                    </a:p>
                    <a:p>
                      <a:pPr marL="342900" indent="-342900">
                        <a:buFont typeface="+mj-lt"/>
                        <a:buAutoNum type="arabicPeriod"/>
                      </a:pPr>
                      <a:r>
                        <a:rPr lang="en-AU" b="0" baseline="0" dirty="0"/>
                        <a:t>Why do negotiations sometimes fail?</a:t>
                      </a:r>
                      <a:endParaRPr lang="en-AU" b="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6" name="Rectangle 5"/>
          <p:cNvSpPr/>
          <p:nvPr/>
        </p:nvSpPr>
        <p:spPr>
          <a:xfrm>
            <a:off x="442768" y="488193"/>
            <a:ext cx="8236033" cy="707886"/>
          </a:xfrm>
          <a:prstGeom prst="rect">
            <a:avLst/>
          </a:prstGeom>
          <a:solidFill>
            <a:schemeClr val="accent4">
              <a:lumMod val="40000"/>
              <a:lumOff val="60000"/>
            </a:schemeClr>
          </a:solidFill>
        </p:spPr>
        <p:txBody>
          <a:bodyPr wrap="square">
            <a:spAutoFit/>
          </a:bodyPr>
          <a:lstStyle/>
          <a:p>
            <a:r>
              <a:rPr lang="en-AU" sz="2000" b="1" dirty="0"/>
              <a:t>Negotiation</a:t>
            </a:r>
            <a:r>
              <a:rPr lang="en-AU" sz="2000" dirty="0"/>
              <a:t>: Parties who have some shared and some opposing interests coming together to try and reach mutual agreement</a:t>
            </a:r>
            <a:endParaRPr lang="en-AU" sz="2000" b="1" dirty="0"/>
          </a:p>
        </p:txBody>
      </p:sp>
      <p:sp>
        <p:nvSpPr>
          <p:cNvPr id="9" name="Rectangle 8"/>
          <p:cNvSpPr/>
          <p:nvPr/>
        </p:nvSpPr>
        <p:spPr>
          <a:xfrm>
            <a:off x="523444" y="1329321"/>
            <a:ext cx="8236033" cy="1015663"/>
          </a:xfrm>
          <a:prstGeom prst="rect">
            <a:avLst/>
          </a:prstGeom>
          <a:noFill/>
        </p:spPr>
        <p:txBody>
          <a:bodyPr wrap="square">
            <a:spAutoFit/>
          </a:bodyPr>
          <a:lstStyle/>
          <a:p>
            <a:pPr marL="342900" indent="-342900">
              <a:buFont typeface="Arial" panose="020B0604020202020204" pitchFamily="34" charset="0"/>
              <a:buChar char="•"/>
            </a:pPr>
            <a:r>
              <a:rPr lang="en-AU" sz="2000" dirty="0"/>
              <a:t>Successful negotiation results in integrative solutions</a:t>
            </a:r>
          </a:p>
          <a:p>
            <a:pPr marL="342900" indent="-342900">
              <a:buFont typeface="Arial" panose="020B0604020202020204" pitchFamily="34" charset="0"/>
              <a:buChar char="•"/>
            </a:pPr>
            <a:r>
              <a:rPr lang="en-AU" sz="2000" dirty="0"/>
              <a:t>Sometimes the process fails because parties fail to understand each others interests. </a:t>
            </a:r>
            <a:endParaRPr lang="en-AU" sz="1600" dirty="0"/>
          </a:p>
        </p:txBody>
      </p:sp>
      <p:pic>
        <p:nvPicPr>
          <p:cNvPr id="2052" name="Picture 4" descr="Image result for negotia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54990" y="2372784"/>
            <a:ext cx="4455052" cy="195546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27693" y="2344984"/>
            <a:ext cx="3787107" cy="4308872"/>
          </a:xfrm>
          <a:prstGeom prst="rect">
            <a:avLst/>
          </a:prstGeom>
          <a:solidFill>
            <a:schemeClr val="accent1">
              <a:lumMod val="20000"/>
              <a:lumOff val="80000"/>
            </a:schemeClr>
          </a:solidFill>
        </p:spPr>
        <p:txBody>
          <a:bodyPr wrap="square">
            <a:spAutoFit/>
          </a:bodyPr>
          <a:lstStyle/>
          <a:p>
            <a:r>
              <a:rPr lang="en-AU" b="1" dirty="0"/>
              <a:t>Thompson and Hattie (1990):</a:t>
            </a:r>
          </a:p>
          <a:p>
            <a:pPr marL="342900" indent="-342900">
              <a:buFont typeface="Arial" panose="020B0604020202020204" pitchFamily="34" charset="0"/>
              <a:buChar char="•"/>
            </a:pPr>
            <a:r>
              <a:rPr lang="en-AU" sz="1600" dirty="0"/>
              <a:t>Investigated negotiation in the context of buyers and sellers of cars</a:t>
            </a:r>
          </a:p>
          <a:p>
            <a:pPr marL="342900" indent="-342900">
              <a:buFont typeface="Arial" panose="020B0604020202020204" pitchFamily="34" charset="0"/>
              <a:buChar char="•"/>
            </a:pPr>
            <a:r>
              <a:rPr lang="en-AU" sz="1600" dirty="0"/>
              <a:t>Most negotiators entered into negotiations expecting the other party’s interest to be completely opposed to their own</a:t>
            </a:r>
          </a:p>
          <a:p>
            <a:pPr marL="342900" indent="-342900">
              <a:buFont typeface="Arial" panose="020B0604020202020204" pitchFamily="34" charset="0"/>
              <a:buChar char="•"/>
            </a:pPr>
            <a:r>
              <a:rPr lang="en-AU" sz="1600" dirty="0"/>
              <a:t>The earlier negotiators learned about the potential for joint gain during negotiations (identified each others’ interests and goals), the better the outcome was for both parties. </a:t>
            </a:r>
          </a:p>
          <a:p>
            <a:pPr marL="342900" indent="-342900">
              <a:buFont typeface="Arial" panose="020B0604020202020204" pitchFamily="34" charset="0"/>
              <a:buChar char="•"/>
            </a:pPr>
            <a:r>
              <a:rPr lang="en-AU" sz="1600" dirty="0"/>
              <a:t>Negotiators who failed to realise that they had interest that were complete in common with the other party ended up settling for solutions that were less than ideal.</a:t>
            </a:r>
          </a:p>
        </p:txBody>
      </p:sp>
      <p:pic>
        <p:nvPicPr>
          <p:cNvPr id="16" name="Picture 2" descr="Image result for negoti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8850" y="4712655"/>
            <a:ext cx="4409952" cy="1780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571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5116531" y="-42926"/>
            <a:ext cx="2231901" cy="596571"/>
          </a:xfrm>
          <a:prstGeom prst="rect">
            <a:avLst/>
          </a:prstGeom>
        </p:spPr>
        <p:txBody>
          <a:bodyPr vert="horz" lIns="91440" tIns="45720" rIns="91440" bIns="45720" rtlCol="0" anchor="t">
            <a:normAutofit fontScale="92500"/>
          </a:bodyPr>
          <a:lstStyle/>
          <a:p>
            <a:pPr>
              <a:lnSpc>
                <a:spcPct val="90000"/>
              </a:lnSpc>
              <a:spcBef>
                <a:spcPct val="0"/>
              </a:spcBef>
              <a:spcAft>
                <a:spcPts val="600"/>
              </a:spcAft>
            </a:pPr>
            <a:r>
              <a:rPr lang="en-US" sz="3600" b="1" dirty="0">
                <a:solidFill>
                  <a:srgbClr val="305289"/>
                </a:solidFill>
                <a:latin typeface="+mj-lt"/>
                <a:ea typeface="+mj-ea"/>
                <a:cs typeface="+mj-cs"/>
              </a:rPr>
              <a:t>Negotiation</a:t>
            </a:r>
            <a:endParaRPr lang="en-US" sz="3200" b="1" dirty="0">
              <a:solidFill>
                <a:srgbClr val="305289"/>
              </a:solidFill>
              <a:latin typeface="+mj-lt"/>
              <a:ea typeface="+mj-ea"/>
              <a:cs typeface="+mj-cs"/>
            </a:endParaRPr>
          </a:p>
        </p:txBody>
      </p:sp>
      <p:sp>
        <p:nvSpPr>
          <p:cNvPr id="6" name="Rectangle 5"/>
          <p:cNvSpPr/>
          <p:nvPr/>
        </p:nvSpPr>
        <p:spPr>
          <a:xfrm>
            <a:off x="488865" y="553645"/>
            <a:ext cx="11487234" cy="338554"/>
          </a:xfrm>
          <a:prstGeom prst="rect">
            <a:avLst/>
          </a:prstGeom>
          <a:solidFill>
            <a:schemeClr val="accent4">
              <a:lumMod val="40000"/>
              <a:lumOff val="60000"/>
            </a:schemeClr>
          </a:solidFill>
        </p:spPr>
        <p:txBody>
          <a:bodyPr wrap="square">
            <a:spAutoFit/>
          </a:bodyPr>
          <a:lstStyle/>
          <a:p>
            <a:r>
              <a:rPr lang="en-AU" sz="1600" b="1" dirty="0"/>
              <a:t>Negotiation</a:t>
            </a:r>
            <a:r>
              <a:rPr lang="en-AU" sz="1600" dirty="0"/>
              <a:t>: Parties who have some shared and some opposing interests coming together to try and reach mutual agreement</a:t>
            </a:r>
            <a:endParaRPr lang="en-AU" sz="1600" b="1" dirty="0"/>
          </a:p>
        </p:txBody>
      </p:sp>
      <p:sp>
        <p:nvSpPr>
          <p:cNvPr id="10" name="Rectangle 9"/>
          <p:cNvSpPr/>
          <p:nvPr/>
        </p:nvSpPr>
        <p:spPr>
          <a:xfrm>
            <a:off x="488865" y="1974535"/>
            <a:ext cx="5246897" cy="4524315"/>
          </a:xfrm>
          <a:prstGeom prst="rect">
            <a:avLst/>
          </a:prstGeom>
          <a:noFill/>
        </p:spPr>
        <p:txBody>
          <a:bodyPr wrap="square">
            <a:spAutoFit/>
          </a:bodyPr>
          <a:lstStyle/>
          <a:p>
            <a:r>
              <a:rPr lang="en-AU" b="1" dirty="0"/>
              <a:t>Interests-based negotiation </a:t>
            </a:r>
          </a:p>
          <a:p>
            <a:pPr marL="342900" indent="-342900">
              <a:buFont typeface="Courier New" panose="02070309020205020404" pitchFamily="49" charset="0"/>
              <a:buChar char="o"/>
            </a:pPr>
            <a:r>
              <a:rPr lang="en-AU" dirty="0"/>
              <a:t>Begins with an exploration of the problem. Parties educate each other about their </a:t>
            </a:r>
            <a:r>
              <a:rPr lang="en-AU" b="1" dirty="0"/>
              <a:t>interests</a:t>
            </a:r>
            <a:r>
              <a:rPr lang="en-AU" dirty="0"/>
              <a:t> and then jointly problem solve on how to meet those</a:t>
            </a:r>
          </a:p>
          <a:p>
            <a:pPr marL="342900" indent="-342900">
              <a:buFont typeface="Courier New" panose="02070309020205020404" pitchFamily="49" charset="0"/>
              <a:buChar char="o"/>
            </a:pPr>
            <a:r>
              <a:rPr lang="en-AU" dirty="0"/>
              <a:t>Risks: </a:t>
            </a:r>
          </a:p>
          <a:p>
            <a:pPr marL="800100" lvl="1" indent="-342900">
              <a:buFont typeface="Arial" panose="020B0604020202020204" pitchFamily="34" charset="0"/>
              <a:buChar char="•"/>
            </a:pPr>
            <a:r>
              <a:rPr lang="en-AU" dirty="0"/>
              <a:t>Needs commitment from all negotiators</a:t>
            </a:r>
          </a:p>
          <a:p>
            <a:pPr marL="800100" lvl="1" indent="-342900">
              <a:buFont typeface="Arial" panose="020B0604020202020204" pitchFamily="34" charset="0"/>
              <a:buChar char="•"/>
            </a:pPr>
            <a:r>
              <a:rPr lang="en-AU" dirty="0"/>
              <a:t>Open to exploitation where there are power imbalances</a:t>
            </a:r>
          </a:p>
          <a:p>
            <a:pPr marL="800100" lvl="1" indent="-342900">
              <a:buFont typeface="Arial" panose="020B0604020202020204" pitchFamily="34" charset="0"/>
              <a:buChar char="•"/>
            </a:pPr>
            <a:r>
              <a:rPr lang="en-AU" dirty="0"/>
              <a:t>Time consuming</a:t>
            </a:r>
          </a:p>
          <a:p>
            <a:pPr marL="800100" lvl="1" indent="-342900">
              <a:buFont typeface="Arial" panose="020B0604020202020204" pitchFamily="34" charset="0"/>
              <a:buChar char="•"/>
            </a:pPr>
            <a:r>
              <a:rPr lang="en-AU" dirty="0"/>
              <a:t>Difficult in situations of conflict and distrust</a:t>
            </a:r>
          </a:p>
          <a:p>
            <a:pPr marL="342900" indent="-342900">
              <a:buFont typeface="Courier New" panose="02070309020205020404" pitchFamily="49" charset="0"/>
              <a:buChar char="o"/>
            </a:pPr>
            <a:r>
              <a:rPr lang="en-AU" dirty="0"/>
              <a:t>Opportunities:</a:t>
            </a:r>
          </a:p>
          <a:p>
            <a:pPr marL="800100" lvl="1" indent="-342900">
              <a:buFont typeface="Arial" panose="020B0604020202020204" pitchFamily="34" charset="0"/>
              <a:buChar char="•"/>
            </a:pPr>
            <a:r>
              <a:rPr lang="en-AU" dirty="0"/>
              <a:t>Creative and flexible solutions</a:t>
            </a:r>
          </a:p>
          <a:p>
            <a:pPr marL="800100" lvl="1" indent="-342900">
              <a:buFont typeface="Arial" panose="020B0604020202020204" pitchFamily="34" charset="0"/>
              <a:buChar char="•"/>
            </a:pPr>
            <a:r>
              <a:rPr lang="en-AU" dirty="0"/>
              <a:t>Builds better relationships (establishes trust)</a:t>
            </a:r>
          </a:p>
          <a:p>
            <a:pPr marL="800100" lvl="1" indent="-342900">
              <a:buFont typeface="Arial" panose="020B0604020202020204" pitchFamily="34" charset="0"/>
              <a:buChar char="•"/>
            </a:pPr>
            <a:r>
              <a:rPr lang="en-AU" dirty="0"/>
              <a:t>Potentially satisfies all interests</a:t>
            </a:r>
          </a:p>
          <a:p>
            <a:pPr marL="800100" lvl="1" indent="-342900">
              <a:buFont typeface="Arial" panose="020B0604020202020204" pitchFamily="34" charset="0"/>
              <a:buChar char="•"/>
            </a:pPr>
            <a:r>
              <a:rPr lang="en-AU" dirty="0"/>
              <a:t>Fair, satisfying and sustainable agreements</a:t>
            </a:r>
          </a:p>
          <a:p>
            <a:pPr marL="800100" lvl="1" indent="-342900">
              <a:buFont typeface="Arial" panose="020B0604020202020204" pitchFamily="34" charset="0"/>
              <a:buChar char="•"/>
            </a:pPr>
            <a:r>
              <a:rPr lang="en-AU" dirty="0"/>
              <a:t>Focuses on productivity rather than fighting</a:t>
            </a:r>
          </a:p>
        </p:txBody>
      </p:sp>
      <p:sp>
        <p:nvSpPr>
          <p:cNvPr id="12" name="Rectangle 11"/>
          <p:cNvSpPr/>
          <p:nvPr/>
        </p:nvSpPr>
        <p:spPr>
          <a:xfrm>
            <a:off x="404603" y="1085879"/>
            <a:ext cx="11571496" cy="707886"/>
          </a:xfrm>
          <a:prstGeom prst="rect">
            <a:avLst/>
          </a:prstGeom>
          <a:noFill/>
        </p:spPr>
        <p:txBody>
          <a:bodyPr wrap="square">
            <a:spAutoFit/>
          </a:bodyPr>
          <a:lstStyle/>
          <a:p>
            <a:r>
              <a:rPr lang="en-AU" sz="2000" b="1" dirty="0"/>
              <a:t>INTERESTS: </a:t>
            </a:r>
            <a:r>
              <a:rPr lang="en-AU" sz="2000" dirty="0"/>
              <a:t>Needs, concerns, fears, and aspirations that motivate the parties</a:t>
            </a:r>
          </a:p>
          <a:p>
            <a:r>
              <a:rPr lang="en-AU" sz="2000" b="1" dirty="0"/>
              <a:t>POSITIONS:</a:t>
            </a:r>
            <a:r>
              <a:rPr lang="en-AU" sz="2000" dirty="0"/>
              <a:t> Demands, things the parties say they want or say they will/will not do</a:t>
            </a:r>
            <a:endParaRPr lang="en-AU" sz="2000" b="1" dirty="0"/>
          </a:p>
        </p:txBody>
      </p:sp>
      <p:sp>
        <p:nvSpPr>
          <p:cNvPr id="13" name="Rectangle 12"/>
          <p:cNvSpPr/>
          <p:nvPr/>
        </p:nvSpPr>
        <p:spPr>
          <a:xfrm>
            <a:off x="6232481" y="2006390"/>
            <a:ext cx="5246897" cy="4524315"/>
          </a:xfrm>
          <a:prstGeom prst="rect">
            <a:avLst/>
          </a:prstGeom>
          <a:noFill/>
        </p:spPr>
        <p:txBody>
          <a:bodyPr wrap="square">
            <a:spAutoFit/>
          </a:bodyPr>
          <a:lstStyle/>
          <a:p>
            <a:r>
              <a:rPr lang="en-AU" b="1" dirty="0"/>
              <a:t>Positional negotiation </a:t>
            </a:r>
          </a:p>
          <a:p>
            <a:pPr marL="342900" indent="-342900">
              <a:buFont typeface="Courier New" panose="02070309020205020404" pitchFamily="49" charset="0"/>
              <a:buChar char="o"/>
            </a:pPr>
            <a:r>
              <a:rPr lang="en-AU" dirty="0"/>
              <a:t>Begins with the possible solutions. Parties trade offers and counter offers until they hit upon a solution which falls within their bargaining power</a:t>
            </a:r>
          </a:p>
          <a:p>
            <a:pPr marL="342900" indent="-342900">
              <a:buFont typeface="Courier New" panose="02070309020205020404" pitchFamily="49" charset="0"/>
              <a:buChar char="o"/>
            </a:pPr>
            <a:r>
              <a:rPr lang="en-AU" dirty="0"/>
              <a:t>Risks: </a:t>
            </a:r>
          </a:p>
          <a:p>
            <a:pPr marL="800100" lvl="1" indent="-342900">
              <a:buFont typeface="Arial" panose="020B0604020202020204" pitchFamily="34" charset="0"/>
              <a:buChar char="•"/>
            </a:pPr>
            <a:r>
              <a:rPr lang="en-AU" dirty="0"/>
              <a:t>Inhibits flexibility</a:t>
            </a:r>
          </a:p>
          <a:p>
            <a:pPr marL="800100" lvl="1" indent="-342900">
              <a:buFont typeface="Arial" panose="020B0604020202020204" pitchFamily="34" charset="0"/>
              <a:buChar char="•"/>
            </a:pPr>
            <a:r>
              <a:rPr lang="en-AU" dirty="0"/>
              <a:t>Relationships are not central</a:t>
            </a:r>
          </a:p>
          <a:p>
            <a:pPr marL="800100" lvl="1" indent="-342900">
              <a:buFont typeface="Arial" panose="020B0604020202020204" pitchFamily="34" charset="0"/>
              <a:buChar char="•"/>
            </a:pPr>
            <a:r>
              <a:rPr lang="en-AU" dirty="0"/>
              <a:t>Involves compromise</a:t>
            </a:r>
          </a:p>
          <a:p>
            <a:pPr marL="800100" lvl="1" indent="-342900">
              <a:buFont typeface="Arial" panose="020B0604020202020204" pitchFamily="34" charset="0"/>
              <a:buChar char="•"/>
            </a:pPr>
            <a:r>
              <a:rPr lang="en-AU" dirty="0"/>
              <a:t>Short term solutions</a:t>
            </a:r>
          </a:p>
          <a:p>
            <a:pPr marL="800100" lvl="1" indent="-342900">
              <a:buFont typeface="Arial" panose="020B0604020202020204" pitchFamily="34" charset="0"/>
              <a:buChar char="•"/>
            </a:pPr>
            <a:r>
              <a:rPr lang="en-AU" dirty="0"/>
              <a:t>Unbalanced and unfulfilling agreements</a:t>
            </a:r>
          </a:p>
          <a:p>
            <a:pPr marL="342900" indent="-342900">
              <a:buFont typeface="Courier New" panose="02070309020205020404" pitchFamily="49" charset="0"/>
              <a:buChar char="o"/>
            </a:pPr>
            <a:r>
              <a:rPr lang="en-AU" dirty="0"/>
              <a:t>Opportunities:</a:t>
            </a:r>
          </a:p>
          <a:p>
            <a:pPr marL="800100" lvl="1" indent="-342900">
              <a:buFont typeface="Arial" panose="020B0604020202020204" pitchFamily="34" charset="0"/>
              <a:buChar char="•"/>
            </a:pPr>
            <a:r>
              <a:rPr lang="en-AU" dirty="0"/>
              <a:t>Less time consuming and less preparation required</a:t>
            </a:r>
          </a:p>
          <a:p>
            <a:pPr marL="800100" lvl="1" indent="-342900">
              <a:buFont typeface="Arial" panose="020B0604020202020204" pitchFamily="34" charset="0"/>
              <a:buChar char="•"/>
            </a:pPr>
            <a:r>
              <a:rPr lang="en-AU" dirty="0"/>
              <a:t>Useful in one-off situations</a:t>
            </a:r>
          </a:p>
          <a:p>
            <a:pPr marL="800100" lvl="1" indent="-342900">
              <a:buFont typeface="Arial" panose="020B0604020202020204" pitchFamily="34" charset="0"/>
              <a:buChar char="•"/>
            </a:pPr>
            <a:r>
              <a:rPr lang="en-AU" dirty="0"/>
              <a:t>Good in situations of difficult communications, high conflict or distrust</a:t>
            </a:r>
          </a:p>
        </p:txBody>
      </p:sp>
    </p:spTree>
    <p:extLst>
      <p:ext uri="{BB962C8B-B14F-4D97-AF65-F5344CB8AC3E}">
        <p14:creationId xmlns:p14="http://schemas.microsoft.com/office/powerpoint/2010/main" val="120848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3">
                                            <p:txEl>
                                              <p:pRg st="9" end="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3">
                                            <p:txEl>
                                              <p:pRg st="10" end="1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5116531" y="-42926"/>
            <a:ext cx="2231901" cy="596571"/>
          </a:xfrm>
          <a:prstGeom prst="rect">
            <a:avLst/>
          </a:prstGeom>
        </p:spPr>
        <p:txBody>
          <a:bodyPr vert="horz" lIns="91440" tIns="45720" rIns="91440" bIns="45720" rtlCol="0" anchor="t">
            <a:normAutofit fontScale="92500"/>
          </a:bodyPr>
          <a:lstStyle/>
          <a:p>
            <a:pPr>
              <a:lnSpc>
                <a:spcPct val="90000"/>
              </a:lnSpc>
              <a:spcBef>
                <a:spcPct val="0"/>
              </a:spcBef>
              <a:spcAft>
                <a:spcPts val="600"/>
              </a:spcAft>
            </a:pPr>
            <a:r>
              <a:rPr lang="en-US" sz="3600" b="1" dirty="0">
                <a:solidFill>
                  <a:srgbClr val="305289"/>
                </a:solidFill>
                <a:latin typeface="+mj-lt"/>
                <a:ea typeface="+mj-ea"/>
                <a:cs typeface="+mj-cs"/>
              </a:rPr>
              <a:t>Negotiation</a:t>
            </a:r>
            <a:endParaRPr lang="en-US" sz="3200" b="1" dirty="0">
              <a:solidFill>
                <a:srgbClr val="305289"/>
              </a:solidFill>
              <a:latin typeface="+mj-lt"/>
              <a:ea typeface="+mj-ea"/>
              <a:cs typeface="+mj-cs"/>
            </a:endParaRPr>
          </a:p>
        </p:txBody>
      </p:sp>
      <p:sp>
        <p:nvSpPr>
          <p:cNvPr id="6" name="Rectangle 5"/>
          <p:cNvSpPr/>
          <p:nvPr/>
        </p:nvSpPr>
        <p:spPr>
          <a:xfrm>
            <a:off x="488865" y="553645"/>
            <a:ext cx="11487234" cy="338554"/>
          </a:xfrm>
          <a:prstGeom prst="rect">
            <a:avLst/>
          </a:prstGeom>
          <a:solidFill>
            <a:schemeClr val="accent4">
              <a:lumMod val="40000"/>
              <a:lumOff val="60000"/>
            </a:schemeClr>
          </a:solidFill>
        </p:spPr>
        <p:txBody>
          <a:bodyPr wrap="square">
            <a:spAutoFit/>
          </a:bodyPr>
          <a:lstStyle/>
          <a:p>
            <a:r>
              <a:rPr lang="en-AU" sz="1600" b="1" dirty="0"/>
              <a:t>Negotiation</a:t>
            </a:r>
            <a:r>
              <a:rPr lang="en-AU" sz="1600" dirty="0"/>
              <a:t>: Parties who have some shared and some opposing interests coming together to try and reach mutual agreement</a:t>
            </a:r>
            <a:endParaRPr lang="en-AU" sz="1600" b="1" dirty="0"/>
          </a:p>
        </p:txBody>
      </p:sp>
      <p:pic>
        <p:nvPicPr>
          <p:cNvPr id="2" name="9dY5U2xwSXY"/>
          <p:cNvPicPr>
            <a:picLocks noRot="1" noChangeAspect="1"/>
          </p:cNvPicPr>
          <p:nvPr>
            <a:videoFile r:link="rId1"/>
          </p:nvPr>
        </p:nvPicPr>
        <p:blipFill>
          <a:blip r:embed="rId3"/>
          <a:stretch>
            <a:fillRect/>
          </a:stretch>
        </p:blipFill>
        <p:spPr>
          <a:xfrm>
            <a:off x="544531" y="1075005"/>
            <a:ext cx="9626124" cy="5414695"/>
          </a:xfrm>
          <a:prstGeom prst="rect">
            <a:avLst/>
          </a:prstGeom>
        </p:spPr>
      </p:pic>
    </p:spTree>
    <p:extLst>
      <p:ext uri="{BB962C8B-B14F-4D97-AF65-F5344CB8AC3E}">
        <p14:creationId xmlns:p14="http://schemas.microsoft.com/office/powerpoint/2010/main" val="482416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5116531" y="-42926"/>
            <a:ext cx="2231901" cy="596571"/>
          </a:xfrm>
          <a:prstGeom prst="rect">
            <a:avLst/>
          </a:prstGeom>
        </p:spPr>
        <p:txBody>
          <a:bodyPr vert="horz" lIns="91440" tIns="45720" rIns="91440" bIns="45720" rtlCol="0" anchor="t">
            <a:normAutofit fontScale="92500"/>
          </a:bodyPr>
          <a:lstStyle/>
          <a:p>
            <a:pPr>
              <a:lnSpc>
                <a:spcPct val="90000"/>
              </a:lnSpc>
              <a:spcBef>
                <a:spcPct val="0"/>
              </a:spcBef>
              <a:spcAft>
                <a:spcPts val="600"/>
              </a:spcAft>
            </a:pPr>
            <a:r>
              <a:rPr lang="en-US" sz="3600" b="1" dirty="0">
                <a:solidFill>
                  <a:srgbClr val="305289"/>
                </a:solidFill>
                <a:latin typeface="+mj-lt"/>
                <a:ea typeface="+mj-ea"/>
                <a:cs typeface="+mj-cs"/>
              </a:rPr>
              <a:t>Negotiation</a:t>
            </a:r>
            <a:endParaRPr lang="en-US" sz="3200" b="1" dirty="0">
              <a:solidFill>
                <a:srgbClr val="305289"/>
              </a:solidFill>
              <a:latin typeface="+mj-lt"/>
              <a:ea typeface="+mj-ea"/>
              <a:cs typeface="+mj-cs"/>
            </a:endParaRPr>
          </a:p>
        </p:txBody>
      </p:sp>
      <p:sp>
        <p:nvSpPr>
          <p:cNvPr id="6" name="Rectangle 5"/>
          <p:cNvSpPr/>
          <p:nvPr/>
        </p:nvSpPr>
        <p:spPr>
          <a:xfrm>
            <a:off x="488865" y="553645"/>
            <a:ext cx="11487234" cy="338554"/>
          </a:xfrm>
          <a:prstGeom prst="rect">
            <a:avLst/>
          </a:prstGeom>
          <a:solidFill>
            <a:schemeClr val="accent4">
              <a:lumMod val="40000"/>
              <a:lumOff val="60000"/>
            </a:schemeClr>
          </a:solidFill>
        </p:spPr>
        <p:txBody>
          <a:bodyPr wrap="square">
            <a:spAutoFit/>
          </a:bodyPr>
          <a:lstStyle/>
          <a:p>
            <a:r>
              <a:rPr lang="en-AU" sz="1600" b="1" dirty="0"/>
              <a:t>Negotiation</a:t>
            </a:r>
            <a:r>
              <a:rPr lang="en-AU" sz="1600" dirty="0"/>
              <a:t>: Parties who have some shared and some opposing interests coming together to try and reach mutual agreement</a:t>
            </a:r>
            <a:endParaRPr lang="en-AU" sz="1600" b="1" dirty="0"/>
          </a:p>
        </p:txBody>
      </p:sp>
      <p:pic>
        <p:nvPicPr>
          <p:cNvPr id="4" name="MuJyDRgONls"/>
          <p:cNvPicPr>
            <a:picLocks noRot="1" noChangeAspect="1"/>
          </p:cNvPicPr>
          <p:nvPr>
            <a:videoFile r:link="rId1"/>
          </p:nvPr>
        </p:nvPicPr>
        <p:blipFill>
          <a:blip r:embed="rId3"/>
          <a:stretch>
            <a:fillRect/>
          </a:stretch>
        </p:blipFill>
        <p:spPr>
          <a:xfrm>
            <a:off x="488865" y="1190625"/>
            <a:ext cx="9623778" cy="5413375"/>
          </a:xfrm>
          <a:prstGeom prst="rect">
            <a:avLst/>
          </a:prstGeom>
        </p:spPr>
      </p:pic>
    </p:spTree>
    <p:extLst>
      <p:ext uri="{BB962C8B-B14F-4D97-AF65-F5344CB8AC3E}">
        <p14:creationId xmlns:p14="http://schemas.microsoft.com/office/powerpoint/2010/main" val="2305602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2" y="1631385"/>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8" name="TextBox 7">
            <a:extLst>
              <a:ext uri="{FF2B5EF4-FFF2-40B4-BE49-F238E27FC236}">
                <a16:creationId xmlns:a16="http://schemas.microsoft.com/office/drawing/2014/main" id="{43473BDB-BC5F-364D-BFB8-0992948BF2B1}"/>
              </a:ext>
            </a:extLst>
          </p:cNvPr>
          <p:cNvSpPr txBox="1"/>
          <p:nvPr/>
        </p:nvSpPr>
        <p:spPr>
          <a:xfrm>
            <a:off x="5116531" y="-42926"/>
            <a:ext cx="2231901" cy="596571"/>
          </a:xfrm>
          <a:prstGeom prst="rect">
            <a:avLst/>
          </a:prstGeom>
        </p:spPr>
        <p:txBody>
          <a:bodyPr vert="horz" lIns="91440" tIns="45720" rIns="91440" bIns="45720" rtlCol="0" anchor="t">
            <a:normAutofit fontScale="92500"/>
          </a:bodyPr>
          <a:lstStyle/>
          <a:p>
            <a:pPr>
              <a:lnSpc>
                <a:spcPct val="90000"/>
              </a:lnSpc>
              <a:spcBef>
                <a:spcPct val="0"/>
              </a:spcBef>
              <a:spcAft>
                <a:spcPts val="600"/>
              </a:spcAft>
            </a:pPr>
            <a:r>
              <a:rPr lang="en-US" sz="3600" b="1" dirty="0">
                <a:solidFill>
                  <a:srgbClr val="305289"/>
                </a:solidFill>
                <a:latin typeface="+mj-lt"/>
                <a:ea typeface="+mj-ea"/>
                <a:cs typeface="+mj-cs"/>
              </a:rPr>
              <a:t>Negotiation</a:t>
            </a:r>
            <a:endParaRPr lang="en-US" sz="3200" b="1" dirty="0">
              <a:solidFill>
                <a:srgbClr val="305289"/>
              </a:solidFill>
              <a:latin typeface="+mj-lt"/>
              <a:ea typeface="+mj-ea"/>
              <a:cs typeface="+mj-cs"/>
            </a:endParaRPr>
          </a:p>
        </p:txBody>
      </p:sp>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nvPr>
        </p:nvGraphicFramePr>
        <p:xfrm>
          <a:off x="2273300" y="2117560"/>
          <a:ext cx="7569200" cy="1833880"/>
        </p:xfrm>
        <a:graphic>
          <a:graphicData uri="http://schemas.openxmlformats.org/drawingml/2006/table">
            <a:tbl>
              <a:tblPr firstRow="1" bandRow="1">
                <a:tableStyleId>{5C22544A-7EE6-4342-B048-85BDC9FD1C3A}</a:tableStyleId>
              </a:tblPr>
              <a:tblGrid>
                <a:gridCol w="7569200">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dirty="0"/>
                        <a:t>What is the</a:t>
                      </a:r>
                      <a:r>
                        <a:rPr lang="en-AU" b="0" baseline="0" dirty="0"/>
                        <a:t> difference between ‘interests’ and ‘positions’?</a:t>
                      </a:r>
                    </a:p>
                    <a:p>
                      <a:pPr marL="342900" indent="-342900">
                        <a:buFont typeface="+mj-lt"/>
                        <a:buAutoNum type="arabicPeriod"/>
                      </a:pPr>
                      <a:r>
                        <a:rPr lang="en-AU" b="0" baseline="0" dirty="0"/>
                        <a:t>Explain the difference between interest based negotiation and positional negotiation. </a:t>
                      </a:r>
                    </a:p>
                    <a:p>
                      <a:pPr marL="342900" indent="-342900">
                        <a:buFont typeface="+mj-lt"/>
                        <a:buAutoNum type="arabicPeriod"/>
                      </a:pPr>
                      <a:r>
                        <a:rPr lang="en-AU" b="0" baseline="0" dirty="0"/>
                        <a:t>Evaluate interest-based and positional negotiation (which one is better and why?).</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6" name="Rectangle 5"/>
          <p:cNvSpPr/>
          <p:nvPr/>
        </p:nvSpPr>
        <p:spPr>
          <a:xfrm>
            <a:off x="488865" y="553645"/>
            <a:ext cx="11487234" cy="338554"/>
          </a:xfrm>
          <a:prstGeom prst="rect">
            <a:avLst/>
          </a:prstGeom>
          <a:solidFill>
            <a:schemeClr val="accent4">
              <a:lumMod val="40000"/>
              <a:lumOff val="60000"/>
            </a:schemeClr>
          </a:solidFill>
        </p:spPr>
        <p:txBody>
          <a:bodyPr wrap="square">
            <a:spAutoFit/>
          </a:bodyPr>
          <a:lstStyle/>
          <a:p>
            <a:r>
              <a:rPr lang="en-AU" sz="1600" b="1" dirty="0"/>
              <a:t>Negotiation</a:t>
            </a:r>
            <a:r>
              <a:rPr lang="en-AU" sz="1600" dirty="0"/>
              <a:t>: Parties who have some shared and some opposing interests coming together to try and reach mutual agreement</a:t>
            </a:r>
            <a:endParaRPr lang="en-AU" sz="1600" b="1" dirty="0"/>
          </a:p>
        </p:txBody>
      </p:sp>
    </p:spTree>
    <p:extLst>
      <p:ext uri="{BB962C8B-B14F-4D97-AF65-F5344CB8AC3E}">
        <p14:creationId xmlns:p14="http://schemas.microsoft.com/office/powerpoint/2010/main" val="11154214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1816101" y="0"/>
            <a:ext cx="4724400" cy="596571"/>
          </a:xfrm>
          <a:prstGeom prst="rect">
            <a:avLst/>
          </a:prstGeom>
        </p:spPr>
        <p:txBody>
          <a:bodyPr vert="horz" lIns="91440" tIns="45720" rIns="91440" bIns="45720" rtlCol="0" anchor="t">
            <a:noAutofit/>
          </a:bodyPr>
          <a:lstStyle/>
          <a:p>
            <a:pPr>
              <a:lnSpc>
                <a:spcPct val="90000"/>
              </a:lnSpc>
              <a:spcBef>
                <a:spcPct val="0"/>
              </a:spcBef>
              <a:spcAft>
                <a:spcPts val="600"/>
              </a:spcAft>
            </a:pPr>
            <a:r>
              <a:rPr lang="en-US" sz="3600" b="1" dirty="0">
                <a:solidFill>
                  <a:srgbClr val="305289"/>
                </a:solidFill>
                <a:latin typeface="+mj-lt"/>
                <a:ea typeface="+mj-ea"/>
                <a:cs typeface="+mj-cs"/>
              </a:rPr>
              <a:t>Negotiation</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225731"/>
          <a:ext cx="3331688" cy="33883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conflict </a:t>
                      </a:r>
                      <a:r>
                        <a:rPr lang="en-AU" sz="1600" dirty="0"/>
                        <a:t>occurs when there is a perception that two parties (individuals or groups) have incompatible goals, ideas or behaviours.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Integrative</a:t>
                      </a:r>
                      <a:r>
                        <a:rPr lang="en-AU" sz="1600" b="1" baseline="0" dirty="0"/>
                        <a:t> solutions: </a:t>
                      </a:r>
                      <a:r>
                        <a:rPr lang="en-AU" sz="1600" b="0" baseline="0" dirty="0"/>
                        <a:t>Win-win solutions where both parties are satisfied with the solution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Distributive solutions: </a:t>
                      </a:r>
                      <a:r>
                        <a:rPr lang="en-AU" sz="1600" b="0" baseline="0" dirty="0"/>
                        <a:t>involves compromise from each party</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Imposed solutions</a:t>
                      </a:r>
                      <a:r>
                        <a:rPr lang="en-AU" sz="1600" b="0" baseline="0" dirty="0"/>
                        <a:t>:</a:t>
                      </a:r>
                      <a:r>
                        <a:rPr lang="en-AU" sz="1600" b="1" baseline="0" dirty="0"/>
                        <a:t> </a:t>
                      </a:r>
                      <a:r>
                        <a:rPr lang="en-AU" sz="1600" b="0" baseline="0" dirty="0"/>
                        <a:t>the stronger party or the</a:t>
                      </a:r>
                      <a:endParaRPr lang="en-AU" sz="16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nvPr>
        </p:nvGraphicFramePr>
        <p:xfrm>
          <a:off x="8840154" y="4389767"/>
          <a:ext cx="3351846" cy="101092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b="0" baseline="0" dirty="0"/>
                        <a:t>Describe the mediation process. </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18900"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Tree>
    <p:extLst>
      <p:ext uri="{BB962C8B-B14F-4D97-AF65-F5344CB8AC3E}">
        <p14:creationId xmlns:p14="http://schemas.microsoft.com/office/powerpoint/2010/main" val="3955918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1816101" y="0"/>
            <a:ext cx="4724400"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3600" b="1" dirty="0">
                <a:solidFill>
                  <a:srgbClr val="305289"/>
                </a:solidFill>
                <a:latin typeface="+mj-lt"/>
                <a:ea typeface="+mj-ea"/>
                <a:cs typeface="+mj-cs"/>
              </a:rPr>
              <a:t>Counselling</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ext uri="{D42A27DB-BD31-4B8C-83A1-F6EECF244321}">
                <p14:modId xmlns:p14="http://schemas.microsoft.com/office/powerpoint/2010/main" val="1679511761"/>
              </p:ext>
            </p:extLst>
          </p:nvPr>
        </p:nvGraphicFramePr>
        <p:xfrm>
          <a:off x="8860312" y="113463"/>
          <a:ext cx="3331688" cy="344932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dirty="0"/>
                        <a:t>conflict </a:t>
                      </a:r>
                      <a:r>
                        <a:rPr lang="en-AU" sz="1400" dirty="0"/>
                        <a:t>occurs when there is a perception that two parties (individuals or groups) have incompatible goals, ideas or behaviours.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b="1" dirty="0"/>
                        <a:t>Integrative</a:t>
                      </a:r>
                      <a:r>
                        <a:rPr lang="en-AU" sz="1400" b="1" baseline="0" dirty="0"/>
                        <a:t> solutions: </a:t>
                      </a:r>
                      <a:r>
                        <a:rPr lang="en-AU" sz="1400" b="0" baseline="0" dirty="0"/>
                        <a:t>Win-win solutions where both parties are satisfied with the solution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b="1" baseline="0" dirty="0"/>
                        <a:t>Distributive solutions: </a:t>
                      </a:r>
                      <a:r>
                        <a:rPr lang="en-AU" sz="1400" b="0" baseline="0" dirty="0"/>
                        <a:t>involves compromise from each party</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b="1" baseline="0" dirty="0"/>
                        <a:t>Imposed solutions</a:t>
                      </a:r>
                      <a:r>
                        <a:rPr lang="en-AU" sz="1400" b="0" baseline="0" dirty="0"/>
                        <a:t>:</a:t>
                      </a:r>
                      <a:r>
                        <a:rPr lang="en-AU" sz="1400" b="1" baseline="0" dirty="0"/>
                        <a:t> </a:t>
                      </a:r>
                      <a:r>
                        <a:rPr lang="en-AU" sz="1400" b="0" baseline="0" dirty="0"/>
                        <a:t>the stronger party or the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b="1" baseline="0" dirty="0"/>
                        <a:t>assertiveness</a:t>
                      </a:r>
                      <a:r>
                        <a:rPr lang="en-AU" sz="1400" b="0" baseline="0" dirty="0"/>
                        <a:t>: ability to communicate in a direct and honest way without becoming aggressive/hurting another’s feelings</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2762299289"/>
              </p:ext>
            </p:extLst>
          </p:nvPr>
        </p:nvGraphicFramePr>
        <p:xfrm>
          <a:off x="8840154" y="3865579"/>
          <a:ext cx="3351846" cy="265684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sz="18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800" b="0" baseline="0" dirty="0"/>
                        <a:t>What type of solution to conflict should arise from counselling?</a:t>
                      </a:r>
                    </a:p>
                    <a:p>
                      <a:pPr marL="342900" indent="-342900">
                        <a:buFont typeface="+mj-lt"/>
                        <a:buAutoNum type="arabicPeriod"/>
                      </a:pPr>
                      <a:r>
                        <a:rPr lang="en-AU" sz="1800" b="0" baseline="0" dirty="0"/>
                        <a:t>Explain the role of the counsellor?</a:t>
                      </a:r>
                    </a:p>
                    <a:p>
                      <a:pPr marL="342900" indent="-342900">
                        <a:buFont typeface="+mj-lt"/>
                        <a:buAutoNum type="arabicPeriod"/>
                      </a:pPr>
                      <a:r>
                        <a:rPr lang="en-AU" sz="1800" b="0" baseline="0" dirty="0"/>
                        <a:t>How is counselling different to a) mediation and b) negotiation?</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pic>
        <p:nvPicPr>
          <p:cNvPr id="6" name="Picture 5">
            <a:extLst>
              <a:ext uri="{FF2B5EF4-FFF2-40B4-BE49-F238E27FC236}">
                <a16:creationId xmlns:a16="http://schemas.microsoft.com/office/drawing/2014/main" id="{4BCD9810-69E2-3347-B556-495D786C2B38}"/>
              </a:ext>
            </a:extLst>
          </p:cNvPr>
          <p:cNvPicPr>
            <a:picLocks noChangeAspect="1"/>
          </p:cNvPicPr>
          <p:nvPr/>
        </p:nvPicPr>
        <p:blipFill>
          <a:blip r:embed="rId2"/>
          <a:stretch>
            <a:fillRect/>
          </a:stretch>
        </p:blipFill>
        <p:spPr>
          <a:xfrm>
            <a:off x="341175" y="3291089"/>
            <a:ext cx="3787144" cy="2599904"/>
          </a:xfrm>
          <a:prstGeom prst="rect">
            <a:avLst/>
          </a:prstGeom>
        </p:spPr>
      </p:pic>
      <p:sp>
        <p:nvSpPr>
          <p:cNvPr id="4" name="TextBox 3">
            <a:extLst>
              <a:ext uri="{FF2B5EF4-FFF2-40B4-BE49-F238E27FC236}">
                <a16:creationId xmlns:a16="http://schemas.microsoft.com/office/drawing/2014/main" id="{FFA15FF7-DAB8-E745-85CE-A1BCD46227A3}"/>
              </a:ext>
            </a:extLst>
          </p:cNvPr>
          <p:cNvSpPr txBox="1"/>
          <p:nvPr/>
        </p:nvSpPr>
        <p:spPr>
          <a:xfrm>
            <a:off x="370359" y="635744"/>
            <a:ext cx="8084709" cy="1631216"/>
          </a:xfrm>
          <a:prstGeom prst="rect">
            <a:avLst/>
          </a:prstGeom>
          <a:noFill/>
        </p:spPr>
        <p:txBody>
          <a:bodyPr wrap="square" rtlCol="0">
            <a:spAutoFit/>
          </a:bodyPr>
          <a:lstStyle/>
          <a:p>
            <a:pPr marL="285750" indent="-285750">
              <a:buFontTx/>
              <a:buChar char="-"/>
            </a:pPr>
            <a:r>
              <a:rPr lang="en-AU" sz="2000" dirty="0"/>
              <a:t>Suitable for addressing conflict within families</a:t>
            </a:r>
          </a:p>
          <a:p>
            <a:pPr marL="285750" indent="-285750">
              <a:buFontTx/>
              <a:buChar char="-"/>
            </a:pPr>
            <a:r>
              <a:rPr lang="en-AU" sz="2000" dirty="0"/>
              <a:t>One or both parties in the conflict may work with a counsellor to acquire skills to help them deal with/solve the conflict</a:t>
            </a:r>
          </a:p>
          <a:p>
            <a:pPr marL="285750" indent="-285750">
              <a:buFontTx/>
              <a:buChar char="-"/>
            </a:pPr>
            <a:r>
              <a:rPr lang="en-AU" sz="2000" dirty="0"/>
              <a:t>Through counselling parties learn the skills to settle their conflict and to avoid/better deal with future conflicts</a:t>
            </a:r>
          </a:p>
        </p:txBody>
      </p:sp>
      <p:sp>
        <p:nvSpPr>
          <p:cNvPr id="5" name="Rectangle 4">
            <a:extLst>
              <a:ext uri="{FF2B5EF4-FFF2-40B4-BE49-F238E27FC236}">
                <a16:creationId xmlns:a16="http://schemas.microsoft.com/office/drawing/2014/main" id="{F93692DF-B381-9449-9F9D-73DBB3E4DD9F}"/>
              </a:ext>
            </a:extLst>
          </p:cNvPr>
          <p:cNvSpPr/>
          <p:nvPr/>
        </p:nvSpPr>
        <p:spPr>
          <a:xfrm>
            <a:off x="4206148" y="2266960"/>
            <a:ext cx="4654164" cy="4093428"/>
          </a:xfrm>
          <a:prstGeom prst="rect">
            <a:avLst/>
          </a:prstGeom>
        </p:spPr>
        <p:txBody>
          <a:bodyPr wrap="square">
            <a:spAutoFit/>
          </a:bodyPr>
          <a:lstStyle/>
          <a:p>
            <a:r>
              <a:rPr lang="en-AU" sz="2000" b="1" dirty="0"/>
              <a:t>Counsellors:</a:t>
            </a:r>
          </a:p>
          <a:p>
            <a:pPr marL="285750" indent="-285750">
              <a:buFontTx/>
              <a:buChar char="-"/>
            </a:pPr>
            <a:r>
              <a:rPr lang="en-AU" sz="2000" dirty="0"/>
              <a:t>Should be professionally trained</a:t>
            </a:r>
          </a:p>
          <a:p>
            <a:pPr marL="285750" indent="-285750">
              <a:buFontTx/>
              <a:buChar char="-"/>
            </a:pPr>
            <a:r>
              <a:rPr lang="en-AU" sz="2000" dirty="0"/>
              <a:t>Recognise people’s strengths and resources to improve psychological functioning</a:t>
            </a:r>
          </a:p>
          <a:p>
            <a:pPr marL="285750" indent="-285750">
              <a:buFontTx/>
              <a:buChar char="-"/>
            </a:pPr>
            <a:r>
              <a:rPr lang="en-AU" sz="2000" dirty="0"/>
              <a:t>Help clients solve their own problems rather than provide solutions</a:t>
            </a:r>
          </a:p>
          <a:p>
            <a:pPr marL="285750" indent="-285750">
              <a:buFontTx/>
              <a:buChar char="-"/>
            </a:pPr>
            <a:r>
              <a:rPr lang="en-AU" sz="2000" dirty="0"/>
              <a:t>Help clients improve their listening/communication skills so that they can communicate more effectively (understand what each other actually intends)</a:t>
            </a:r>
          </a:p>
          <a:p>
            <a:pPr marL="285750" indent="-285750">
              <a:buFontTx/>
              <a:buChar char="-"/>
            </a:pPr>
            <a:r>
              <a:rPr lang="en-AU" sz="2000" dirty="0"/>
              <a:t>Help clients develop assertiveness</a:t>
            </a:r>
          </a:p>
        </p:txBody>
      </p:sp>
    </p:spTree>
    <p:extLst>
      <p:ext uri="{BB962C8B-B14F-4D97-AF65-F5344CB8AC3E}">
        <p14:creationId xmlns:p14="http://schemas.microsoft.com/office/powerpoint/2010/main" val="25885036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100208" y="0"/>
            <a:ext cx="8918531" cy="596571"/>
          </a:xfrm>
          <a:prstGeom prst="rect">
            <a:avLst/>
          </a:prstGeom>
        </p:spPr>
        <p:txBody>
          <a:bodyPr vert="horz" lIns="91440" tIns="45720" rIns="91440" bIns="45720" rtlCol="0" anchor="t">
            <a:noAutofit/>
          </a:bodyPr>
          <a:lstStyle/>
          <a:p>
            <a:pPr>
              <a:lnSpc>
                <a:spcPct val="90000"/>
              </a:lnSpc>
              <a:spcBef>
                <a:spcPct val="0"/>
              </a:spcBef>
              <a:spcAft>
                <a:spcPts val="600"/>
              </a:spcAft>
            </a:pPr>
            <a:r>
              <a:rPr lang="en-US" sz="3600" b="1" dirty="0">
                <a:solidFill>
                  <a:srgbClr val="305289"/>
                </a:solidFill>
                <a:latin typeface="+mj-lt"/>
                <a:ea typeface="+mj-ea"/>
                <a:cs typeface="+mj-cs"/>
              </a:rPr>
              <a:t>Steps to </a:t>
            </a:r>
            <a:r>
              <a:rPr lang="en-US" sz="3600" b="1" i="1" dirty="0">
                <a:solidFill>
                  <a:srgbClr val="305289"/>
                </a:solidFill>
                <a:latin typeface="+mj-lt"/>
                <a:ea typeface="+mj-ea"/>
                <a:cs typeface="+mj-cs"/>
              </a:rPr>
              <a:t>identify and explain appropriate techniques for resolving a conflict</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225731"/>
          <a:ext cx="3331688" cy="33883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600" b="1" dirty="0"/>
                        <a:t>conflict </a:t>
                      </a:r>
                      <a:r>
                        <a:rPr lang="en-AU" sz="1600" dirty="0"/>
                        <a:t>occurs when there is a perception that two parties (individuals or groups) have incompatible goals, ideas or behaviours.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Integrative</a:t>
                      </a:r>
                      <a:r>
                        <a:rPr lang="en-AU" sz="1600" b="1" baseline="0" dirty="0"/>
                        <a:t> solutions: </a:t>
                      </a:r>
                      <a:r>
                        <a:rPr lang="en-AU" sz="1600" b="0" baseline="0" dirty="0"/>
                        <a:t>Win-win solutions where both parties are satisfied with the solution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Distributive solutions: </a:t>
                      </a:r>
                      <a:r>
                        <a:rPr lang="en-AU" sz="1600" b="0" baseline="0" dirty="0"/>
                        <a:t>involves compromise from each party</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Imposed solutions</a:t>
                      </a:r>
                      <a:r>
                        <a:rPr lang="en-AU" sz="1600" b="0" baseline="0" dirty="0"/>
                        <a:t>:</a:t>
                      </a:r>
                      <a:r>
                        <a:rPr lang="en-AU" sz="1600" b="1" baseline="0" dirty="0"/>
                        <a:t> </a:t>
                      </a:r>
                      <a:r>
                        <a:rPr lang="en-AU" sz="1600" b="0" baseline="0" dirty="0"/>
                        <a:t>the stronger party or the</a:t>
                      </a:r>
                      <a:endParaRPr lang="en-AU" sz="16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sp>
        <p:nvSpPr>
          <p:cNvPr id="9" name="Rectangle 8"/>
          <p:cNvSpPr/>
          <p:nvPr/>
        </p:nvSpPr>
        <p:spPr>
          <a:xfrm>
            <a:off x="414671" y="1116106"/>
            <a:ext cx="8353548" cy="5632311"/>
          </a:xfrm>
          <a:prstGeom prst="rect">
            <a:avLst/>
          </a:prstGeom>
          <a:noFill/>
        </p:spPr>
        <p:txBody>
          <a:bodyPr wrap="square">
            <a:spAutoFit/>
          </a:bodyPr>
          <a:lstStyle/>
          <a:p>
            <a:pPr marL="457200" indent="-457200">
              <a:buAutoNum type="arabicPeriod"/>
            </a:pPr>
            <a:r>
              <a:rPr lang="en-AU" sz="2000" dirty="0"/>
              <a:t>Read the </a:t>
            </a:r>
            <a:r>
              <a:rPr lang="en-AU" sz="2000" b="1" dirty="0"/>
              <a:t>question</a:t>
            </a:r>
            <a:r>
              <a:rPr lang="en-AU" sz="2000" dirty="0"/>
              <a:t> and scenario carefully. </a:t>
            </a:r>
          </a:p>
          <a:p>
            <a:pPr marL="457200" indent="-457200">
              <a:buAutoNum type="arabicPeriod"/>
            </a:pPr>
            <a:r>
              <a:rPr lang="en-AU" sz="2000" dirty="0"/>
              <a:t>Define conflict</a:t>
            </a:r>
          </a:p>
          <a:p>
            <a:pPr marL="457200" indent="-457200">
              <a:buAutoNum type="arabicPeriod"/>
            </a:pPr>
            <a:r>
              <a:rPr lang="en-AU" sz="2000" dirty="0"/>
              <a:t>Identify:</a:t>
            </a:r>
          </a:p>
          <a:p>
            <a:pPr marL="914400" lvl="1" indent="-457200">
              <a:buFont typeface="Arial" panose="020B0604020202020204" pitchFamily="34" charset="0"/>
              <a:buChar char="•"/>
            </a:pPr>
            <a:r>
              <a:rPr lang="en-AU" sz="2000" dirty="0"/>
              <a:t>the conflicting parties</a:t>
            </a:r>
          </a:p>
          <a:p>
            <a:pPr marL="914400" lvl="1" indent="-457200">
              <a:buFont typeface="Arial" panose="020B0604020202020204" pitchFamily="34" charset="0"/>
              <a:buChar char="•"/>
            </a:pPr>
            <a:r>
              <a:rPr lang="en-AU" sz="2000" dirty="0"/>
              <a:t>the conflict (incompatible goals/ideas/behaviours)</a:t>
            </a:r>
          </a:p>
          <a:p>
            <a:pPr marL="914400" lvl="1" indent="-457200">
              <a:buFont typeface="Arial" panose="020B0604020202020204" pitchFamily="34" charset="0"/>
              <a:buChar char="•"/>
            </a:pPr>
            <a:r>
              <a:rPr lang="en-AU" sz="2000" dirty="0"/>
              <a:t>common interests between the parties (if any)</a:t>
            </a:r>
          </a:p>
          <a:p>
            <a:pPr marL="457200" indent="-457200">
              <a:buFont typeface="+mj-lt"/>
              <a:buAutoNum type="arabicPeriod"/>
            </a:pPr>
            <a:r>
              <a:rPr lang="en-AU" sz="2000" dirty="0"/>
              <a:t>Identify suitable techniques for resolving the conflict (mediation/negotiation/counselling)</a:t>
            </a:r>
          </a:p>
          <a:p>
            <a:pPr marL="457200" indent="-457200">
              <a:buFont typeface="+mj-lt"/>
              <a:buAutoNum type="arabicPeriod"/>
            </a:pPr>
            <a:r>
              <a:rPr lang="en-AU" sz="2000" dirty="0"/>
              <a:t>Explain each technique, how it is applied in real life and why it is applicable to the scenario</a:t>
            </a:r>
          </a:p>
          <a:p>
            <a:pPr marL="457200" indent="-457200">
              <a:buFont typeface="+mj-lt"/>
              <a:buAutoNum type="arabicPeriod"/>
            </a:pPr>
            <a:r>
              <a:rPr lang="en-AU" sz="2000" dirty="0"/>
              <a:t>Identify and define the types of solutions that may arise from the conflict-resolution techniques (imposed/distributive/integrative)</a:t>
            </a:r>
          </a:p>
          <a:p>
            <a:pPr marL="457200" indent="-457200">
              <a:buFont typeface="+mj-lt"/>
              <a:buAutoNum type="arabicPeriod"/>
            </a:pPr>
            <a:r>
              <a:rPr lang="en-AU" sz="2000" dirty="0"/>
              <a:t>Identify any references to include (*</a:t>
            </a:r>
            <a:r>
              <a:rPr lang="en-AU" sz="2000" b="1" dirty="0"/>
              <a:t>quantity</a:t>
            </a:r>
            <a:r>
              <a:rPr lang="en-AU" sz="2000" dirty="0"/>
              <a:t>)</a:t>
            </a:r>
          </a:p>
          <a:p>
            <a:pPr marL="914400" lvl="1" indent="-457200">
              <a:buFont typeface="Arial" panose="020B0604020202020204" pitchFamily="34" charset="0"/>
              <a:buChar char="•"/>
            </a:pPr>
            <a:r>
              <a:rPr lang="en-AU" sz="2000" dirty="0"/>
              <a:t>Follett, 1940: Distributive v Integrative solutions (orange analogy)</a:t>
            </a:r>
          </a:p>
          <a:p>
            <a:pPr marL="914400" lvl="1" indent="-457200">
              <a:buFont typeface="Arial" panose="020B0604020202020204" pitchFamily="34" charset="0"/>
              <a:buChar char="•"/>
            </a:pPr>
            <a:r>
              <a:rPr lang="en-AU" sz="2000" dirty="0"/>
              <a:t>Thompson and Hastie, 1990: Interest-based negotiation</a:t>
            </a:r>
          </a:p>
          <a:p>
            <a:pPr marL="914400" lvl="1" indent="-457200">
              <a:buFont typeface="Arial" panose="020B0604020202020204" pitchFamily="34" charset="0"/>
              <a:buChar char="•"/>
            </a:pPr>
            <a:r>
              <a:rPr lang="en-AU" sz="2000" dirty="0"/>
              <a:t>Emery et al., 2005: Effectiveness of mediation</a:t>
            </a:r>
          </a:p>
          <a:p>
            <a:pPr marL="457200" indent="-457200">
              <a:buFont typeface="+mj-lt"/>
              <a:buAutoNum type="arabicPeriod"/>
            </a:pPr>
            <a:r>
              <a:rPr lang="en-AU" sz="2000" dirty="0"/>
              <a:t>Describe the research method and findings of (at least one) references (*</a:t>
            </a:r>
            <a:r>
              <a:rPr lang="en-AU" sz="2000" b="1" dirty="0"/>
              <a:t>quality</a:t>
            </a:r>
            <a:r>
              <a:rPr lang="en-AU" sz="2000" dirty="0"/>
              <a:t>)</a:t>
            </a:r>
          </a:p>
        </p:txBody>
      </p:sp>
      <p:sp>
        <p:nvSpPr>
          <p:cNvPr id="10" name="Rounded Rectangle 9">
            <a:extLst>
              <a:ext uri="{FF2B5EF4-FFF2-40B4-BE49-F238E27FC236}">
                <a16:creationId xmlns:a16="http://schemas.microsoft.com/office/drawing/2014/main" id="{91B81EA3-0C52-424E-B342-37EE26E471E5}"/>
              </a:ext>
            </a:extLst>
          </p:cNvPr>
          <p:cNvSpPr/>
          <p:nvPr/>
        </p:nvSpPr>
        <p:spPr>
          <a:xfrm rot="16200000">
            <a:off x="-704315" y="3923605"/>
            <a:ext cx="1662138" cy="281108"/>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Skill Development</a:t>
            </a:r>
          </a:p>
        </p:txBody>
      </p:sp>
    </p:spTree>
    <p:extLst>
      <p:ext uri="{BB962C8B-B14F-4D97-AF65-F5344CB8AC3E}">
        <p14:creationId xmlns:p14="http://schemas.microsoft.com/office/powerpoint/2010/main" val="12170405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social media post&#10;&#10;Description automatically generated">
            <a:extLst>
              <a:ext uri="{FF2B5EF4-FFF2-40B4-BE49-F238E27FC236}">
                <a16:creationId xmlns:a16="http://schemas.microsoft.com/office/drawing/2014/main" id="{F384645D-489A-2042-9DB4-0094942C26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9844" y="756971"/>
            <a:ext cx="9137875" cy="3210393"/>
          </a:xfrm>
          <a:prstGeom prst="rect">
            <a:avLst/>
          </a:prstGeom>
        </p:spPr>
      </p:pic>
      <p:sp>
        <p:nvSpPr>
          <p:cNvPr id="8" name="TextBox 7">
            <a:extLst>
              <a:ext uri="{FF2B5EF4-FFF2-40B4-BE49-F238E27FC236}">
                <a16:creationId xmlns:a16="http://schemas.microsoft.com/office/drawing/2014/main" id="{43473BDB-BC5F-364D-BFB8-0992948BF2B1}"/>
              </a:ext>
            </a:extLst>
          </p:cNvPr>
          <p:cNvSpPr txBox="1"/>
          <p:nvPr/>
        </p:nvSpPr>
        <p:spPr>
          <a:xfrm>
            <a:off x="100208" y="0"/>
            <a:ext cx="8918531" cy="596571"/>
          </a:xfrm>
          <a:prstGeom prst="rect">
            <a:avLst/>
          </a:prstGeom>
        </p:spPr>
        <p:txBody>
          <a:bodyPr vert="horz" lIns="91440" tIns="45720" rIns="91440" bIns="45720" rtlCol="0" anchor="t">
            <a:noAutofit/>
          </a:bodyPr>
          <a:lstStyle/>
          <a:p>
            <a:pPr>
              <a:lnSpc>
                <a:spcPct val="90000"/>
              </a:lnSpc>
              <a:spcBef>
                <a:spcPct val="0"/>
              </a:spcBef>
              <a:spcAft>
                <a:spcPts val="600"/>
              </a:spcAft>
            </a:pPr>
            <a:r>
              <a:rPr lang="en-US" sz="2000" b="1" i="1" dirty="0">
                <a:solidFill>
                  <a:srgbClr val="305289"/>
                </a:solidFill>
                <a:latin typeface="+mj-lt"/>
                <a:ea typeface="+mj-ea"/>
                <a:cs typeface="+mj-cs"/>
              </a:rPr>
              <a:t>Identify and explain appropriate techniques for resolving a conflict</a:t>
            </a:r>
            <a:endParaRPr lang="en-US" b="1" i="1" dirty="0">
              <a:solidFill>
                <a:srgbClr val="305289"/>
              </a:solidFill>
              <a:latin typeface="+mj-lt"/>
              <a:ea typeface="+mj-ea"/>
              <a:cs typeface="+mj-cs"/>
            </a:endParaRPr>
          </a:p>
        </p:txBody>
      </p:sp>
      <p:sp>
        <p:nvSpPr>
          <p:cNvPr id="9" name="Rectangle 8"/>
          <p:cNvSpPr/>
          <p:nvPr/>
        </p:nvSpPr>
        <p:spPr>
          <a:xfrm>
            <a:off x="303486" y="402123"/>
            <a:ext cx="2818356" cy="6370975"/>
          </a:xfrm>
          <a:prstGeom prst="rect">
            <a:avLst/>
          </a:prstGeom>
          <a:solidFill>
            <a:schemeClr val="accent5">
              <a:lumMod val="20000"/>
              <a:lumOff val="80000"/>
            </a:schemeClr>
          </a:solidFill>
        </p:spPr>
        <p:txBody>
          <a:bodyPr wrap="square">
            <a:spAutoFit/>
          </a:bodyPr>
          <a:lstStyle/>
          <a:p>
            <a:pPr marL="457200" indent="-457200">
              <a:buAutoNum type="arabicPeriod"/>
            </a:pPr>
            <a:r>
              <a:rPr lang="en-AU" sz="1200" dirty="0"/>
              <a:t>Read the </a:t>
            </a:r>
            <a:r>
              <a:rPr lang="en-AU" sz="1200" b="1" dirty="0"/>
              <a:t>question</a:t>
            </a:r>
            <a:r>
              <a:rPr lang="en-AU" sz="1200" dirty="0"/>
              <a:t> and the scenario carefully. </a:t>
            </a:r>
          </a:p>
          <a:p>
            <a:pPr marL="457200" indent="-457200">
              <a:buAutoNum type="arabicPeriod"/>
            </a:pPr>
            <a:r>
              <a:rPr lang="en-AU" sz="1200" dirty="0"/>
              <a:t>Define conflict</a:t>
            </a:r>
          </a:p>
          <a:p>
            <a:pPr marL="457200" indent="-457200">
              <a:buAutoNum type="arabicPeriod"/>
            </a:pPr>
            <a:r>
              <a:rPr lang="en-AU" sz="1200" dirty="0"/>
              <a:t>Identify:</a:t>
            </a:r>
          </a:p>
          <a:p>
            <a:pPr marL="914400" lvl="1" indent="-457200">
              <a:buFont typeface="Arial" panose="020B0604020202020204" pitchFamily="34" charset="0"/>
              <a:buChar char="•"/>
            </a:pPr>
            <a:r>
              <a:rPr lang="en-AU" sz="1200" dirty="0"/>
              <a:t>the conflicting parties</a:t>
            </a:r>
          </a:p>
          <a:p>
            <a:pPr marL="914400" lvl="1" indent="-457200">
              <a:buFont typeface="Arial" panose="020B0604020202020204" pitchFamily="34" charset="0"/>
              <a:buChar char="•"/>
            </a:pPr>
            <a:r>
              <a:rPr lang="en-AU" sz="1200" dirty="0"/>
              <a:t>the conflict (incompatible goals/ideas/behaviours)</a:t>
            </a:r>
          </a:p>
          <a:p>
            <a:pPr marL="914400" lvl="1" indent="-457200">
              <a:buFont typeface="Arial" panose="020B0604020202020204" pitchFamily="34" charset="0"/>
              <a:buChar char="•"/>
            </a:pPr>
            <a:r>
              <a:rPr lang="en-AU" sz="1200" dirty="0"/>
              <a:t>common interests between the parties (if any)</a:t>
            </a:r>
          </a:p>
          <a:p>
            <a:pPr marL="457200" indent="-457200">
              <a:buFont typeface="+mj-lt"/>
              <a:buAutoNum type="arabicPeriod"/>
            </a:pPr>
            <a:r>
              <a:rPr lang="en-AU" sz="1200" dirty="0"/>
              <a:t>Identify suitable techniques for resolving the conflict (mediation/negotiation/counselling)</a:t>
            </a:r>
          </a:p>
          <a:p>
            <a:pPr marL="457200" indent="-457200">
              <a:buFont typeface="+mj-lt"/>
              <a:buAutoNum type="arabicPeriod"/>
            </a:pPr>
            <a:r>
              <a:rPr lang="en-AU" sz="1200" dirty="0"/>
              <a:t>Explain each technique, how it is applied in real life and why it is applicable to the scenario</a:t>
            </a:r>
          </a:p>
          <a:p>
            <a:pPr marL="457200" indent="-457200">
              <a:buFont typeface="+mj-lt"/>
              <a:buAutoNum type="arabicPeriod"/>
            </a:pPr>
            <a:r>
              <a:rPr lang="en-AU" sz="1200" dirty="0"/>
              <a:t>Identify and define the types of solutions that may arise from the conflict-resolution techniques (imposed/distributive/integrative)</a:t>
            </a:r>
          </a:p>
          <a:p>
            <a:pPr marL="457200" indent="-457200">
              <a:buFont typeface="+mj-lt"/>
              <a:buAutoNum type="arabicPeriod"/>
            </a:pPr>
            <a:r>
              <a:rPr lang="en-AU" sz="1200" dirty="0"/>
              <a:t>Identify any references to include (*</a:t>
            </a:r>
            <a:r>
              <a:rPr lang="en-AU" sz="1200" b="1" dirty="0"/>
              <a:t>quantity</a:t>
            </a:r>
            <a:r>
              <a:rPr lang="en-AU" sz="1200" dirty="0"/>
              <a:t>)</a:t>
            </a:r>
          </a:p>
          <a:p>
            <a:pPr marL="914400" lvl="1" indent="-457200">
              <a:buFont typeface="Arial" panose="020B0604020202020204" pitchFamily="34" charset="0"/>
              <a:buChar char="•"/>
            </a:pPr>
            <a:r>
              <a:rPr lang="en-AU" sz="1200" dirty="0"/>
              <a:t>Follett, 1940: Distributive v Integrative solutions (orange analogy)</a:t>
            </a:r>
          </a:p>
          <a:p>
            <a:pPr marL="914400" lvl="1" indent="-457200">
              <a:buFont typeface="Arial" panose="020B0604020202020204" pitchFamily="34" charset="0"/>
              <a:buChar char="•"/>
            </a:pPr>
            <a:r>
              <a:rPr lang="en-AU" sz="1200" dirty="0"/>
              <a:t>Thompson and Hastie, 1990: Interest-based negotiation</a:t>
            </a:r>
          </a:p>
          <a:p>
            <a:pPr marL="914400" lvl="1" indent="-457200">
              <a:buFont typeface="Arial" panose="020B0604020202020204" pitchFamily="34" charset="0"/>
              <a:buChar char="•"/>
            </a:pPr>
            <a:r>
              <a:rPr lang="en-AU" sz="1200" dirty="0"/>
              <a:t>Emery et al., 2005: Effectiveness of mediation</a:t>
            </a:r>
          </a:p>
          <a:p>
            <a:pPr marL="457200" indent="-457200">
              <a:buFont typeface="+mj-lt"/>
              <a:buAutoNum type="arabicPeriod"/>
            </a:pPr>
            <a:r>
              <a:rPr lang="en-AU" sz="1200" dirty="0"/>
              <a:t>Describe the research method and findings of (at least one) references (*</a:t>
            </a:r>
            <a:r>
              <a:rPr lang="en-AU" sz="1200" b="1" dirty="0"/>
              <a:t>quality</a:t>
            </a:r>
            <a:r>
              <a:rPr lang="en-AU" sz="1200" dirty="0"/>
              <a:t>)</a:t>
            </a:r>
          </a:p>
        </p:txBody>
      </p:sp>
      <p:sp>
        <p:nvSpPr>
          <p:cNvPr id="10" name="Rounded Rectangle 9">
            <a:extLst>
              <a:ext uri="{FF2B5EF4-FFF2-40B4-BE49-F238E27FC236}">
                <a16:creationId xmlns:a16="http://schemas.microsoft.com/office/drawing/2014/main" id="{91B81EA3-0C52-424E-B342-37EE26E471E5}"/>
              </a:ext>
            </a:extLst>
          </p:cNvPr>
          <p:cNvSpPr/>
          <p:nvPr/>
        </p:nvSpPr>
        <p:spPr>
          <a:xfrm rot="16200000">
            <a:off x="-1238059" y="4017564"/>
            <a:ext cx="2765803" cy="317285"/>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Skill Development/Guided Practice</a:t>
            </a:r>
          </a:p>
        </p:txBody>
      </p:sp>
      <p:sp>
        <p:nvSpPr>
          <p:cNvPr id="4" name="TextBox 3">
            <a:extLst>
              <a:ext uri="{FF2B5EF4-FFF2-40B4-BE49-F238E27FC236}">
                <a16:creationId xmlns:a16="http://schemas.microsoft.com/office/drawing/2014/main" id="{A68012C2-C721-E744-AE58-BA2B08DCF4BF}"/>
              </a:ext>
            </a:extLst>
          </p:cNvPr>
          <p:cNvSpPr txBox="1"/>
          <p:nvPr/>
        </p:nvSpPr>
        <p:spPr>
          <a:xfrm>
            <a:off x="3121842" y="411905"/>
            <a:ext cx="2046394" cy="369332"/>
          </a:xfrm>
          <a:prstGeom prst="rect">
            <a:avLst/>
          </a:prstGeom>
          <a:noFill/>
        </p:spPr>
        <p:txBody>
          <a:bodyPr wrap="none" rtlCol="0">
            <a:spAutoFit/>
          </a:bodyPr>
          <a:lstStyle/>
          <a:p>
            <a:r>
              <a:rPr lang="en-AU" b="1" dirty="0"/>
              <a:t>Sample Question 1:</a:t>
            </a:r>
          </a:p>
        </p:txBody>
      </p:sp>
      <p:sp>
        <p:nvSpPr>
          <p:cNvPr id="5" name="Rectangle 4">
            <a:extLst>
              <a:ext uri="{FF2B5EF4-FFF2-40B4-BE49-F238E27FC236}">
                <a16:creationId xmlns:a16="http://schemas.microsoft.com/office/drawing/2014/main" id="{DDA8010F-2CF9-6D4F-B549-DEA247C7E876}"/>
              </a:ext>
            </a:extLst>
          </p:cNvPr>
          <p:cNvSpPr/>
          <p:nvPr/>
        </p:nvSpPr>
        <p:spPr>
          <a:xfrm>
            <a:off x="3096155" y="3939358"/>
            <a:ext cx="9041563" cy="1754326"/>
          </a:xfrm>
          <a:prstGeom prst="rect">
            <a:avLst/>
          </a:prstGeom>
          <a:solidFill>
            <a:schemeClr val="accent5">
              <a:lumMod val="20000"/>
              <a:lumOff val="80000"/>
            </a:schemeClr>
          </a:solidFill>
        </p:spPr>
        <p:txBody>
          <a:bodyPr wrap="square">
            <a:spAutoFit/>
          </a:bodyPr>
          <a:lstStyle/>
          <a:p>
            <a:r>
              <a:rPr lang="en-AU" b="1" dirty="0"/>
              <a:t>Explain how conflicts can be resolved by applying your knowledge to the scenario above and referring to psychological evidence and understandings. </a:t>
            </a:r>
          </a:p>
          <a:p>
            <a:r>
              <a:rPr lang="en-AU" b="1" dirty="0"/>
              <a:t>In your answer, you should discuss:  </a:t>
            </a:r>
          </a:p>
          <a:p>
            <a:pPr marL="285750" indent="-285750">
              <a:buFont typeface="Arial" panose="020B0604020202020204" pitchFamily="34" charset="0"/>
              <a:buChar char="•"/>
            </a:pPr>
            <a:r>
              <a:rPr lang="en-AU" b="1" dirty="0"/>
              <a:t>two conflict-resolution techniques the group members could use to resolve the conflict they experience </a:t>
            </a:r>
          </a:p>
          <a:p>
            <a:pPr marL="285750" indent="-285750">
              <a:buFont typeface="Arial" panose="020B0604020202020204" pitchFamily="34" charset="0"/>
              <a:buChar char="•"/>
            </a:pPr>
            <a:r>
              <a:rPr lang="en-AU" b="1" dirty="0"/>
              <a:t>two types of solutions that could resolve the conflict in this group. </a:t>
            </a:r>
            <a:endParaRPr lang="en-AU" b="1" dirty="0">
              <a:effectLst/>
            </a:endParaRPr>
          </a:p>
        </p:txBody>
      </p:sp>
    </p:spTree>
    <p:extLst>
      <p:ext uri="{BB962C8B-B14F-4D97-AF65-F5344CB8AC3E}">
        <p14:creationId xmlns:p14="http://schemas.microsoft.com/office/powerpoint/2010/main" val="2891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100208" y="0"/>
            <a:ext cx="8918531" cy="596571"/>
          </a:xfrm>
          <a:prstGeom prst="rect">
            <a:avLst/>
          </a:prstGeom>
        </p:spPr>
        <p:txBody>
          <a:bodyPr vert="horz" lIns="91440" tIns="45720" rIns="91440" bIns="45720" rtlCol="0" anchor="t">
            <a:noAutofit/>
          </a:bodyPr>
          <a:lstStyle/>
          <a:p>
            <a:pPr>
              <a:lnSpc>
                <a:spcPct val="90000"/>
              </a:lnSpc>
              <a:spcBef>
                <a:spcPct val="0"/>
              </a:spcBef>
              <a:spcAft>
                <a:spcPts val="600"/>
              </a:spcAft>
            </a:pPr>
            <a:r>
              <a:rPr lang="en-US" sz="2000" b="1" i="1" dirty="0">
                <a:solidFill>
                  <a:srgbClr val="305289"/>
                </a:solidFill>
                <a:latin typeface="+mj-lt"/>
                <a:ea typeface="+mj-ea"/>
                <a:cs typeface="+mj-cs"/>
              </a:rPr>
              <a:t>Identify and explain appropriate techniques for resolving a conflict</a:t>
            </a:r>
            <a:endParaRPr lang="en-US" b="1" i="1" dirty="0">
              <a:solidFill>
                <a:srgbClr val="305289"/>
              </a:solidFill>
              <a:latin typeface="+mj-lt"/>
              <a:ea typeface="+mj-ea"/>
              <a:cs typeface="+mj-cs"/>
            </a:endParaRPr>
          </a:p>
        </p:txBody>
      </p:sp>
      <p:sp>
        <p:nvSpPr>
          <p:cNvPr id="9" name="Rectangle 8"/>
          <p:cNvSpPr/>
          <p:nvPr/>
        </p:nvSpPr>
        <p:spPr>
          <a:xfrm>
            <a:off x="303486" y="402123"/>
            <a:ext cx="2818356" cy="6370975"/>
          </a:xfrm>
          <a:prstGeom prst="rect">
            <a:avLst/>
          </a:prstGeom>
          <a:solidFill>
            <a:schemeClr val="accent5">
              <a:lumMod val="20000"/>
              <a:lumOff val="80000"/>
            </a:schemeClr>
          </a:solidFill>
        </p:spPr>
        <p:txBody>
          <a:bodyPr wrap="square">
            <a:spAutoFit/>
          </a:bodyPr>
          <a:lstStyle/>
          <a:p>
            <a:pPr marL="457200" indent="-457200">
              <a:buAutoNum type="arabicPeriod"/>
            </a:pPr>
            <a:r>
              <a:rPr lang="en-AU" sz="1200" dirty="0"/>
              <a:t>Read the </a:t>
            </a:r>
            <a:r>
              <a:rPr lang="en-AU" sz="1200" b="1" dirty="0"/>
              <a:t>question</a:t>
            </a:r>
            <a:r>
              <a:rPr lang="en-AU" sz="1200" dirty="0"/>
              <a:t> and the scenario carefully. </a:t>
            </a:r>
          </a:p>
          <a:p>
            <a:pPr marL="457200" indent="-457200">
              <a:buAutoNum type="arabicPeriod"/>
            </a:pPr>
            <a:r>
              <a:rPr lang="en-AU" sz="1200" dirty="0"/>
              <a:t>Define conflict</a:t>
            </a:r>
          </a:p>
          <a:p>
            <a:pPr marL="457200" indent="-457200">
              <a:buAutoNum type="arabicPeriod"/>
            </a:pPr>
            <a:r>
              <a:rPr lang="en-AU" sz="1200" dirty="0"/>
              <a:t>Identify:</a:t>
            </a:r>
          </a:p>
          <a:p>
            <a:pPr marL="914400" lvl="1" indent="-457200">
              <a:buFont typeface="Arial" panose="020B0604020202020204" pitchFamily="34" charset="0"/>
              <a:buChar char="•"/>
            </a:pPr>
            <a:r>
              <a:rPr lang="en-AU" sz="1200" dirty="0"/>
              <a:t>the conflicting parties</a:t>
            </a:r>
          </a:p>
          <a:p>
            <a:pPr marL="914400" lvl="1" indent="-457200">
              <a:buFont typeface="Arial" panose="020B0604020202020204" pitchFamily="34" charset="0"/>
              <a:buChar char="•"/>
            </a:pPr>
            <a:r>
              <a:rPr lang="en-AU" sz="1200" dirty="0"/>
              <a:t>the conflict (incompatible goals/ideas/behaviours)</a:t>
            </a:r>
          </a:p>
          <a:p>
            <a:pPr marL="914400" lvl="1" indent="-457200">
              <a:buFont typeface="Arial" panose="020B0604020202020204" pitchFamily="34" charset="0"/>
              <a:buChar char="•"/>
            </a:pPr>
            <a:r>
              <a:rPr lang="en-AU" sz="1200" dirty="0"/>
              <a:t>common interests between the parties (if any)</a:t>
            </a:r>
          </a:p>
          <a:p>
            <a:pPr marL="457200" indent="-457200">
              <a:buFont typeface="+mj-lt"/>
              <a:buAutoNum type="arabicPeriod"/>
            </a:pPr>
            <a:r>
              <a:rPr lang="en-AU" sz="1200" dirty="0"/>
              <a:t>Identify suitable techniques for resolving the conflict (mediation/negotiation/counselling)</a:t>
            </a:r>
          </a:p>
          <a:p>
            <a:pPr marL="457200" indent="-457200">
              <a:buFont typeface="+mj-lt"/>
              <a:buAutoNum type="arabicPeriod"/>
            </a:pPr>
            <a:r>
              <a:rPr lang="en-AU" sz="1200" dirty="0"/>
              <a:t>Explain each technique, how it is applied in real life and why it is applicable to the scenario</a:t>
            </a:r>
          </a:p>
          <a:p>
            <a:pPr marL="457200" indent="-457200">
              <a:buFont typeface="+mj-lt"/>
              <a:buAutoNum type="arabicPeriod"/>
            </a:pPr>
            <a:r>
              <a:rPr lang="en-AU" sz="1200" dirty="0"/>
              <a:t>Identify and define the types of solutions that may arise from the conflict-resolution techniques (imposed/distributive/integrative)</a:t>
            </a:r>
          </a:p>
          <a:p>
            <a:pPr marL="457200" indent="-457200">
              <a:buFont typeface="+mj-lt"/>
              <a:buAutoNum type="arabicPeriod"/>
            </a:pPr>
            <a:r>
              <a:rPr lang="en-AU" sz="1200" dirty="0"/>
              <a:t>Identify any references to include (*</a:t>
            </a:r>
            <a:r>
              <a:rPr lang="en-AU" sz="1200" b="1" dirty="0"/>
              <a:t>quantity</a:t>
            </a:r>
            <a:r>
              <a:rPr lang="en-AU" sz="1200" dirty="0"/>
              <a:t>)</a:t>
            </a:r>
          </a:p>
          <a:p>
            <a:pPr marL="914400" lvl="1" indent="-457200">
              <a:buFont typeface="Arial" panose="020B0604020202020204" pitchFamily="34" charset="0"/>
              <a:buChar char="•"/>
            </a:pPr>
            <a:r>
              <a:rPr lang="en-AU" sz="1200" dirty="0"/>
              <a:t>Follett, 1940: Distributive v Integrative solutions (orange analogy)</a:t>
            </a:r>
          </a:p>
          <a:p>
            <a:pPr marL="914400" lvl="1" indent="-457200">
              <a:buFont typeface="Arial" panose="020B0604020202020204" pitchFamily="34" charset="0"/>
              <a:buChar char="•"/>
            </a:pPr>
            <a:r>
              <a:rPr lang="en-AU" sz="1200" dirty="0"/>
              <a:t>Thompson and Hastie, 1990: Interest-based negotiation</a:t>
            </a:r>
          </a:p>
          <a:p>
            <a:pPr marL="914400" lvl="1" indent="-457200">
              <a:buFont typeface="Arial" panose="020B0604020202020204" pitchFamily="34" charset="0"/>
              <a:buChar char="•"/>
            </a:pPr>
            <a:r>
              <a:rPr lang="en-AU" sz="1200" dirty="0"/>
              <a:t>Emery et al., 2005: Effectiveness of mediation</a:t>
            </a:r>
          </a:p>
          <a:p>
            <a:pPr marL="457200" indent="-457200">
              <a:buFont typeface="+mj-lt"/>
              <a:buAutoNum type="arabicPeriod"/>
            </a:pPr>
            <a:r>
              <a:rPr lang="en-AU" sz="1200" dirty="0"/>
              <a:t>Describe the research method and findings of (at least one) references (*</a:t>
            </a:r>
            <a:r>
              <a:rPr lang="en-AU" sz="1200" b="1" dirty="0"/>
              <a:t>quality</a:t>
            </a:r>
            <a:r>
              <a:rPr lang="en-AU" sz="1200" dirty="0"/>
              <a:t>)</a:t>
            </a:r>
          </a:p>
        </p:txBody>
      </p:sp>
      <p:sp>
        <p:nvSpPr>
          <p:cNvPr id="10" name="Rounded Rectangle 9">
            <a:extLst>
              <a:ext uri="{FF2B5EF4-FFF2-40B4-BE49-F238E27FC236}">
                <a16:creationId xmlns:a16="http://schemas.microsoft.com/office/drawing/2014/main" id="{91B81EA3-0C52-424E-B342-37EE26E471E5}"/>
              </a:ext>
            </a:extLst>
          </p:cNvPr>
          <p:cNvSpPr/>
          <p:nvPr/>
        </p:nvSpPr>
        <p:spPr>
          <a:xfrm rot="16200000">
            <a:off x="-1238059" y="4017564"/>
            <a:ext cx="2765803" cy="317285"/>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Skill Development/Guided Practice</a:t>
            </a:r>
          </a:p>
        </p:txBody>
      </p:sp>
      <p:sp>
        <p:nvSpPr>
          <p:cNvPr id="4" name="TextBox 3">
            <a:extLst>
              <a:ext uri="{FF2B5EF4-FFF2-40B4-BE49-F238E27FC236}">
                <a16:creationId xmlns:a16="http://schemas.microsoft.com/office/drawing/2014/main" id="{A68012C2-C721-E744-AE58-BA2B08DCF4BF}"/>
              </a:ext>
            </a:extLst>
          </p:cNvPr>
          <p:cNvSpPr txBox="1"/>
          <p:nvPr/>
        </p:nvSpPr>
        <p:spPr>
          <a:xfrm>
            <a:off x="3121842" y="411905"/>
            <a:ext cx="2046394" cy="369332"/>
          </a:xfrm>
          <a:prstGeom prst="rect">
            <a:avLst/>
          </a:prstGeom>
          <a:noFill/>
        </p:spPr>
        <p:txBody>
          <a:bodyPr wrap="none" rtlCol="0">
            <a:spAutoFit/>
          </a:bodyPr>
          <a:lstStyle/>
          <a:p>
            <a:r>
              <a:rPr lang="en-AU" b="1" dirty="0"/>
              <a:t>Sample Question 1:</a:t>
            </a:r>
          </a:p>
        </p:txBody>
      </p:sp>
    </p:spTree>
    <p:extLst>
      <p:ext uri="{BB962C8B-B14F-4D97-AF65-F5344CB8AC3E}">
        <p14:creationId xmlns:p14="http://schemas.microsoft.com/office/powerpoint/2010/main" val="9788639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497D07A-67C1-E942-9EB1-373896EFA259}"/>
              </a:ext>
            </a:extLst>
          </p:cNvPr>
          <p:cNvSpPr/>
          <p:nvPr/>
        </p:nvSpPr>
        <p:spPr>
          <a:xfrm>
            <a:off x="184668" y="19897"/>
            <a:ext cx="11750032" cy="954107"/>
          </a:xfrm>
          <a:prstGeom prst="rect">
            <a:avLst/>
          </a:prstGeom>
        </p:spPr>
        <p:txBody>
          <a:bodyPr wrap="square">
            <a:spAutoFit/>
          </a:bodyPr>
          <a:lstStyle/>
          <a:p>
            <a:r>
              <a:rPr lang="en-AU" sz="2800" b="1" dirty="0">
                <a:solidFill>
                  <a:srgbClr val="0E344D"/>
                </a:solidFill>
              </a:rPr>
              <a:t>Why is it relevant to be able to identify and explain techniques for resolving conflicts?</a:t>
            </a:r>
            <a:endParaRPr lang="en-AU" sz="2800" dirty="0"/>
          </a:p>
        </p:txBody>
      </p:sp>
      <p:graphicFrame>
        <p:nvGraphicFramePr>
          <p:cNvPr id="6" name="Table 5">
            <a:extLst>
              <a:ext uri="{FF2B5EF4-FFF2-40B4-BE49-F238E27FC236}">
                <a16:creationId xmlns:a16="http://schemas.microsoft.com/office/drawing/2014/main" id="{032C08CC-E714-C443-81C2-A2099C6030DF}"/>
              </a:ext>
            </a:extLst>
          </p:cNvPr>
          <p:cNvGraphicFramePr>
            <a:graphicFrameLocks noGrp="1"/>
          </p:cNvGraphicFramePr>
          <p:nvPr>
            <p:extLst>
              <p:ext uri="{D42A27DB-BD31-4B8C-83A1-F6EECF244321}">
                <p14:modId xmlns:p14="http://schemas.microsoft.com/office/powerpoint/2010/main" val="1045604022"/>
              </p:ext>
            </p:extLst>
          </p:nvPr>
        </p:nvGraphicFramePr>
        <p:xfrm>
          <a:off x="8636000" y="806849"/>
          <a:ext cx="3371331" cy="2900680"/>
        </p:xfrm>
        <a:graphic>
          <a:graphicData uri="http://schemas.openxmlformats.org/drawingml/2006/table">
            <a:tbl>
              <a:tblPr firstRow="1" bandRow="1">
                <a:tableStyleId>{5C22544A-7EE6-4342-B048-85BDC9FD1C3A}</a:tableStyleId>
              </a:tblPr>
              <a:tblGrid>
                <a:gridCol w="3371331">
                  <a:extLst>
                    <a:ext uri="{9D8B030D-6E8A-4147-A177-3AD203B41FA5}">
                      <a16:colId xmlns:a16="http://schemas.microsoft.com/office/drawing/2014/main" val="1063897167"/>
                    </a:ext>
                  </a:extLst>
                </a:gridCol>
              </a:tblGrid>
              <a:tr h="370840">
                <a:tc>
                  <a:txBody>
                    <a:bodyPr/>
                    <a:lstStyle/>
                    <a:p>
                      <a:pPr algn="ctr"/>
                      <a:r>
                        <a:rPr lang="en-AU" sz="1600" dirty="0"/>
                        <a:t>Curriculum links:</a:t>
                      </a:r>
                    </a:p>
                  </a:txBody>
                  <a:tcPr>
                    <a:solidFill>
                      <a:srgbClr val="7030A0"/>
                    </a:solidFill>
                  </a:tcPr>
                </a:tc>
                <a:extLst>
                  <a:ext uri="{0D108BD9-81ED-4DB2-BD59-A6C34878D82A}">
                    <a16:rowId xmlns:a16="http://schemas.microsoft.com/office/drawing/2014/main" val="3185038259"/>
                  </a:ext>
                </a:extLst>
              </a:tr>
              <a:tr h="370840">
                <a:tc>
                  <a:txBody>
                    <a:bodyPr/>
                    <a:lstStyle/>
                    <a:p>
                      <a:pPr lvl="0"/>
                      <a:r>
                        <a:rPr lang="en-AU" sz="1600" b="1" kern="1200" dirty="0">
                          <a:solidFill>
                            <a:schemeClr val="dk1"/>
                          </a:solidFill>
                          <a:effectLst/>
                          <a:latin typeface="+mn-lt"/>
                          <a:ea typeface="+mn-ea"/>
                          <a:cs typeface="+mn-cs"/>
                        </a:rPr>
                        <a:t>Relational influences:</a:t>
                      </a:r>
                    </a:p>
                    <a:p>
                      <a:pPr marL="285750" lvl="0" indent="-285750">
                        <a:buFont typeface="Arial" panose="020B0604020202020204" pitchFamily="34" charset="0"/>
                        <a:buChar char="•"/>
                      </a:pPr>
                      <a:r>
                        <a:rPr lang="en-AU" sz="1600" b="0" kern="1200" dirty="0">
                          <a:solidFill>
                            <a:schemeClr val="dk1"/>
                          </a:solidFill>
                          <a:effectLst/>
                          <a:latin typeface="+mn-lt"/>
                          <a:ea typeface="+mn-ea"/>
                          <a:cs typeface="+mn-cs"/>
                        </a:rPr>
                        <a:t>Types of solutions to resolve conflict</a:t>
                      </a:r>
                    </a:p>
                    <a:p>
                      <a:pPr marL="742950" lvl="1" indent="-285750">
                        <a:buFont typeface="Courier New" panose="02070309020205020404" pitchFamily="49" charset="0"/>
                        <a:buChar char="o"/>
                      </a:pPr>
                      <a:r>
                        <a:rPr lang="en-AU" sz="1600" b="0" kern="1200" dirty="0">
                          <a:solidFill>
                            <a:schemeClr val="dk1"/>
                          </a:solidFill>
                          <a:effectLst/>
                          <a:latin typeface="+mn-lt"/>
                          <a:ea typeface="+mn-ea"/>
                          <a:cs typeface="+mn-cs"/>
                        </a:rPr>
                        <a:t>Imposed </a:t>
                      </a:r>
                    </a:p>
                    <a:p>
                      <a:pPr marL="742950" lvl="1" indent="-285750">
                        <a:buFont typeface="Courier New" panose="02070309020205020404" pitchFamily="49" charset="0"/>
                        <a:buChar char="o"/>
                      </a:pPr>
                      <a:r>
                        <a:rPr lang="en-AU" sz="1600" b="0" kern="1200" dirty="0">
                          <a:solidFill>
                            <a:schemeClr val="dk1"/>
                          </a:solidFill>
                          <a:effectLst/>
                          <a:latin typeface="+mn-lt"/>
                          <a:ea typeface="+mn-ea"/>
                          <a:cs typeface="+mn-cs"/>
                        </a:rPr>
                        <a:t>Distributive</a:t>
                      </a:r>
                    </a:p>
                    <a:p>
                      <a:pPr marL="742950" lvl="1" indent="-285750">
                        <a:buFont typeface="Courier New" panose="02070309020205020404" pitchFamily="49" charset="0"/>
                        <a:buChar char="o"/>
                      </a:pPr>
                      <a:r>
                        <a:rPr lang="en-AU" sz="1600" b="0" kern="1200" dirty="0">
                          <a:solidFill>
                            <a:schemeClr val="dk1"/>
                          </a:solidFill>
                          <a:effectLst/>
                          <a:latin typeface="+mn-lt"/>
                          <a:ea typeface="+mn-ea"/>
                          <a:cs typeface="+mn-cs"/>
                        </a:rPr>
                        <a:t>Integrative</a:t>
                      </a:r>
                    </a:p>
                    <a:p>
                      <a:pPr marL="285750" lvl="0" indent="-285750">
                        <a:buFont typeface="Arial" panose="020B0604020202020204" pitchFamily="34" charset="0"/>
                        <a:buChar char="•"/>
                      </a:pPr>
                      <a:r>
                        <a:rPr lang="en-AU" sz="1600" b="0" kern="1200" dirty="0">
                          <a:solidFill>
                            <a:schemeClr val="dk1"/>
                          </a:solidFill>
                          <a:effectLst/>
                          <a:latin typeface="+mn-lt"/>
                          <a:ea typeface="+mn-ea"/>
                          <a:cs typeface="+mn-cs"/>
                        </a:rPr>
                        <a:t>Techniques for resolving conflict</a:t>
                      </a:r>
                    </a:p>
                    <a:p>
                      <a:pPr marL="742950" lvl="1" indent="-285750">
                        <a:buFont typeface="Courier New" panose="02070309020205020404" pitchFamily="49" charset="0"/>
                        <a:buChar char="o"/>
                      </a:pPr>
                      <a:r>
                        <a:rPr lang="en-AU" sz="1600" kern="1200" dirty="0">
                          <a:solidFill>
                            <a:schemeClr val="dk1"/>
                          </a:solidFill>
                          <a:effectLst/>
                          <a:latin typeface="+mn-lt"/>
                          <a:ea typeface="+mn-ea"/>
                          <a:cs typeface="+mn-cs"/>
                        </a:rPr>
                        <a:t>Mediation</a:t>
                      </a:r>
                    </a:p>
                    <a:p>
                      <a:pPr marL="742950" lvl="1" indent="-285750">
                        <a:buFont typeface="Courier New" panose="02070309020205020404" pitchFamily="49" charset="0"/>
                        <a:buChar char="o"/>
                      </a:pPr>
                      <a:r>
                        <a:rPr lang="en-AU" sz="1600" kern="1200" dirty="0">
                          <a:solidFill>
                            <a:schemeClr val="dk1"/>
                          </a:solidFill>
                          <a:effectLst/>
                          <a:latin typeface="+mn-lt"/>
                          <a:ea typeface="+mn-ea"/>
                          <a:cs typeface="+mn-cs"/>
                        </a:rPr>
                        <a:t>Negotiation</a:t>
                      </a:r>
                    </a:p>
                    <a:p>
                      <a:pPr marL="742950" lvl="1" indent="-285750">
                        <a:buFont typeface="Courier New" panose="02070309020205020404" pitchFamily="49" charset="0"/>
                        <a:buChar char="o"/>
                      </a:pPr>
                      <a:r>
                        <a:rPr lang="en-AU" sz="1600" kern="1200" dirty="0">
                          <a:solidFill>
                            <a:schemeClr val="dk1"/>
                          </a:solidFill>
                          <a:effectLst/>
                          <a:latin typeface="+mn-lt"/>
                          <a:ea typeface="+mn-ea"/>
                          <a:cs typeface="+mn-cs"/>
                        </a:rPr>
                        <a:t>Counselling</a:t>
                      </a:r>
                    </a:p>
                  </a:txBody>
                  <a:tcPr/>
                </a:tc>
                <a:extLst>
                  <a:ext uri="{0D108BD9-81ED-4DB2-BD59-A6C34878D82A}">
                    <a16:rowId xmlns:a16="http://schemas.microsoft.com/office/drawing/2014/main" val="3350360335"/>
                  </a:ext>
                </a:extLst>
              </a:tr>
            </a:tbl>
          </a:graphicData>
        </a:graphic>
      </p:graphicFrame>
      <p:sp>
        <p:nvSpPr>
          <p:cNvPr id="8" name="TextBox 7">
            <a:extLst>
              <a:ext uri="{FF2B5EF4-FFF2-40B4-BE49-F238E27FC236}">
                <a16:creationId xmlns:a16="http://schemas.microsoft.com/office/drawing/2014/main" id="{62454629-A5E9-A045-9541-68D992880CE2}"/>
              </a:ext>
            </a:extLst>
          </p:cNvPr>
          <p:cNvSpPr txBox="1"/>
          <p:nvPr/>
        </p:nvSpPr>
        <p:spPr>
          <a:xfrm>
            <a:off x="184669" y="922412"/>
            <a:ext cx="7723197" cy="1569660"/>
          </a:xfrm>
          <a:prstGeom prst="rect">
            <a:avLst/>
          </a:prstGeom>
          <a:noFill/>
        </p:spPr>
        <p:txBody>
          <a:bodyPr wrap="square" rtlCol="0">
            <a:spAutoFit/>
          </a:bodyPr>
          <a:lstStyle/>
          <a:p>
            <a:pPr marL="342900" indent="-342900">
              <a:buAutoNum type="arabicPeriod"/>
            </a:pPr>
            <a:r>
              <a:rPr lang="en-AU" sz="2400" dirty="0"/>
              <a:t>It is part of the Year 12 ATAR Syllabus and will help us do well our assessments and exams.</a:t>
            </a:r>
          </a:p>
          <a:p>
            <a:pPr marL="800100" lvl="1" indent="-342900">
              <a:buFont typeface="Arial" panose="020B0604020202020204" pitchFamily="34" charset="0"/>
              <a:buChar char="•"/>
            </a:pPr>
            <a:r>
              <a:rPr lang="en-AU" sz="2400" dirty="0"/>
              <a:t>Short answer questions</a:t>
            </a:r>
          </a:p>
          <a:p>
            <a:pPr marL="800100" lvl="1" indent="-342900">
              <a:buFont typeface="Arial" panose="020B0604020202020204" pitchFamily="34" charset="0"/>
              <a:buChar char="•"/>
            </a:pPr>
            <a:r>
              <a:rPr lang="en-AU" sz="2400" dirty="0"/>
              <a:t>Extended answer questions</a:t>
            </a:r>
          </a:p>
        </p:txBody>
      </p:sp>
      <p:sp>
        <p:nvSpPr>
          <p:cNvPr id="10" name="TextBox 9">
            <a:extLst>
              <a:ext uri="{FF2B5EF4-FFF2-40B4-BE49-F238E27FC236}">
                <a16:creationId xmlns:a16="http://schemas.microsoft.com/office/drawing/2014/main" id="{75D82CEC-B92F-5847-975F-EDCDF838D5E9}"/>
              </a:ext>
            </a:extLst>
          </p:cNvPr>
          <p:cNvSpPr txBox="1"/>
          <p:nvPr/>
        </p:nvSpPr>
        <p:spPr>
          <a:xfrm>
            <a:off x="338554" y="4365929"/>
            <a:ext cx="7723197" cy="2308324"/>
          </a:xfrm>
          <a:prstGeom prst="rect">
            <a:avLst/>
          </a:prstGeom>
          <a:noFill/>
        </p:spPr>
        <p:txBody>
          <a:bodyPr wrap="square" rtlCol="0">
            <a:spAutoFit/>
          </a:bodyPr>
          <a:lstStyle/>
          <a:p>
            <a:pPr marL="342900" indent="-342900">
              <a:buFont typeface="+mj-lt"/>
              <a:buAutoNum type="arabicPeriod" startAt="2"/>
            </a:pPr>
            <a:r>
              <a:rPr lang="en-AU" sz="2400" dirty="0"/>
              <a:t>Conflicts are a realistic part of life (you’ve all been and will be involved in conflicts with friends, peers, colleagues, superiors at some point in your lives). Understanding techniques for resolving conflicts and the types of solutions will give you the knowledge and the skills to be able to more effectively address conflict situations. </a:t>
            </a:r>
          </a:p>
        </p:txBody>
      </p:sp>
      <p:sp>
        <p:nvSpPr>
          <p:cNvPr id="13" name="Explosion 1 12">
            <a:extLst>
              <a:ext uri="{FF2B5EF4-FFF2-40B4-BE49-F238E27FC236}">
                <a16:creationId xmlns:a16="http://schemas.microsoft.com/office/drawing/2014/main" id="{515089BE-0D1F-3646-9C40-2B249DDD3EDE}"/>
              </a:ext>
            </a:extLst>
          </p:cNvPr>
          <p:cNvSpPr/>
          <p:nvPr/>
        </p:nvSpPr>
        <p:spPr>
          <a:xfrm>
            <a:off x="8237517" y="4698655"/>
            <a:ext cx="3954483" cy="1747340"/>
          </a:xfrm>
          <a:prstGeom prst="irregularSeal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Why is it relevant to you?</a:t>
            </a:r>
          </a:p>
        </p:txBody>
      </p:sp>
      <p:sp>
        <p:nvSpPr>
          <p:cNvPr id="11" name="Rounded Rectangle 10">
            <a:extLst>
              <a:ext uri="{FF2B5EF4-FFF2-40B4-BE49-F238E27FC236}">
                <a16:creationId xmlns:a16="http://schemas.microsoft.com/office/drawing/2014/main" id="{DA0C740F-A7BA-304F-A0DD-1D1A7ED413F0}"/>
              </a:ext>
            </a:extLst>
          </p:cNvPr>
          <p:cNvSpPr/>
          <p:nvPr/>
        </p:nvSpPr>
        <p:spPr>
          <a:xfrm rot="16200000">
            <a:off x="-368343" y="5245814"/>
            <a:ext cx="1062264" cy="317285"/>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Relevance</a:t>
            </a:r>
          </a:p>
        </p:txBody>
      </p:sp>
    </p:spTree>
    <p:extLst>
      <p:ext uri="{BB962C8B-B14F-4D97-AF65-F5344CB8AC3E}">
        <p14:creationId xmlns:p14="http://schemas.microsoft.com/office/powerpoint/2010/main" val="3341269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2CEF755D-AE66-4249-9E8E-76F9E2076EBE}"/>
              </a:ext>
            </a:extLst>
          </p:cNvPr>
          <p:cNvSpPr/>
          <p:nvPr/>
        </p:nvSpPr>
        <p:spPr>
          <a:xfrm rot="16200000">
            <a:off x="-222526" y="5733979"/>
            <a:ext cx="787393" cy="317285"/>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Closure</a:t>
            </a:r>
          </a:p>
        </p:txBody>
      </p:sp>
      <p:sp>
        <p:nvSpPr>
          <p:cNvPr id="2" name="TextBox 1">
            <a:extLst>
              <a:ext uri="{FF2B5EF4-FFF2-40B4-BE49-F238E27FC236}">
                <a16:creationId xmlns:a16="http://schemas.microsoft.com/office/drawing/2014/main" id="{582885EF-524A-A04B-9681-7B4799F4BF3D}"/>
              </a:ext>
            </a:extLst>
          </p:cNvPr>
          <p:cNvSpPr txBox="1"/>
          <p:nvPr/>
        </p:nvSpPr>
        <p:spPr>
          <a:xfrm>
            <a:off x="329813" y="110017"/>
            <a:ext cx="7869975" cy="461665"/>
          </a:xfrm>
          <a:prstGeom prst="rect">
            <a:avLst/>
          </a:prstGeom>
          <a:noFill/>
        </p:spPr>
        <p:txBody>
          <a:bodyPr wrap="none" rtlCol="0">
            <a:spAutoFit/>
          </a:bodyPr>
          <a:lstStyle/>
          <a:p>
            <a:pPr algn="ctr"/>
            <a:r>
              <a:rPr lang="en-AU" sz="2400" b="1" dirty="0"/>
              <a:t>Match the techniques/solutions with the correct description</a:t>
            </a:r>
          </a:p>
        </p:txBody>
      </p:sp>
      <p:sp>
        <p:nvSpPr>
          <p:cNvPr id="4" name="TextBox 3">
            <a:extLst>
              <a:ext uri="{FF2B5EF4-FFF2-40B4-BE49-F238E27FC236}">
                <a16:creationId xmlns:a16="http://schemas.microsoft.com/office/drawing/2014/main" id="{6766A0D8-624C-8147-B26F-5B252404CE78}"/>
              </a:ext>
            </a:extLst>
          </p:cNvPr>
          <p:cNvSpPr txBox="1"/>
          <p:nvPr/>
        </p:nvSpPr>
        <p:spPr>
          <a:xfrm>
            <a:off x="1303349" y="4002515"/>
            <a:ext cx="1566519" cy="461665"/>
          </a:xfrm>
          <a:prstGeom prst="rect">
            <a:avLst/>
          </a:prstGeom>
          <a:solidFill>
            <a:schemeClr val="accent2">
              <a:lumMod val="40000"/>
              <a:lumOff val="60000"/>
            </a:schemeClr>
          </a:solidFill>
        </p:spPr>
        <p:txBody>
          <a:bodyPr wrap="none" rtlCol="0">
            <a:spAutoFit/>
          </a:bodyPr>
          <a:lstStyle/>
          <a:p>
            <a:pPr algn="ctr"/>
            <a:r>
              <a:rPr lang="en-AU" sz="2400" b="1" dirty="0"/>
              <a:t>Integrative</a:t>
            </a:r>
          </a:p>
        </p:txBody>
      </p:sp>
      <p:sp>
        <p:nvSpPr>
          <p:cNvPr id="11" name="TextBox 10">
            <a:extLst>
              <a:ext uri="{FF2B5EF4-FFF2-40B4-BE49-F238E27FC236}">
                <a16:creationId xmlns:a16="http://schemas.microsoft.com/office/drawing/2014/main" id="{3EFC3AA7-3BF1-DA49-80E6-693F4A5C0CCB}"/>
              </a:ext>
            </a:extLst>
          </p:cNvPr>
          <p:cNvSpPr txBox="1"/>
          <p:nvPr/>
        </p:nvSpPr>
        <p:spPr>
          <a:xfrm>
            <a:off x="9747338" y="709349"/>
            <a:ext cx="1677126" cy="461665"/>
          </a:xfrm>
          <a:prstGeom prst="rect">
            <a:avLst/>
          </a:prstGeom>
          <a:solidFill>
            <a:schemeClr val="accent2">
              <a:lumMod val="40000"/>
              <a:lumOff val="60000"/>
            </a:schemeClr>
          </a:solidFill>
        </p:spPr>
        <p:txBody>
          <a:bodyPr wrap="none" rtlCol="0">
            <a:spAutoFit/>
          </a:bodyPr>
          <a:lstStyle/>
          <a:p>
            <a:pPr algn="ctr"/>
            <a:r>
              <a:rPr lang="en-AU" sz="2400" b="1" dirty="0"/>
              <a:t>Distributive</a:t>
            </a:r>
          </a:p>
        </p:txBody>
      </p:sp>
      <p:sp>
        <p:nvSpPr>
          <p:cNvPr id="12" name="TextBox 11">
            <a:extLst>
              <a:ext uri="{FF2B5EF4-FFF2-40B4-BE49-F238E27FC236}">
                <a16:creationId xmlns:a16="http://schemas.microsoft.com/office/drawing/2014/main" id="{9B3764DE-90A6-BA46-8562-DA0B7F2C7C5B}"/>
              </a:ext>
            </a:extLst>
          </p:cNvPr>
          <p:cNvSpPr txBox="1"/>
          <p:nvPr/>
        </p:nvSpPr>
        <p:spPr>
          <a:xfrm>
            <a:off x="5392074" y="5082803"/>
            <a:ext cx="1290738" cy="461665"/>
          </a:xfrm>
          <a:prstGeom prst="rect">
            <a:avLst/>
          </a:prstGeom>
          <a:solidFill>
            <a:schemeClr val="accent2">
              <a:lumMod val="40000"/>
              <a:lumOff val="60000"/>
            </a:schemeClr>
          </a:solidFill>
        </p:spPr>
        <p:txBody>
          <a:bodyPr wrap="none" rtlCol="0">
            <a:spAutoFit/>
          </a:bodyPr>
          <a:lstStyle/>
          <a:p>
            <a:pPr algn="ctr"/>
            <a:r>
              <a:rPr lang="en-AU" sz="2400" b="1" dirty="0"/>
              <a:t>Imposed</a:t>
            </a:r>
          </a:p>
        </p:txBody>
      </p:sp>
      <p:sp>
        <p:nvSpPr>
          <p:cNvPr id="14" name="TextBox 13">
            <a:extLst>
              <a:ext uri="{FF2B5EF4-FFF2-40B4-BE49-F238E27FC236}">
                <a16:creationId xmlns:a16="http://schemas.microsoft.com/office/drawing/2014/main" id="{258D2745-5AB9-6F49-BC7D-B104B6E255E2}"/>
              </a:ext>
            </a:extLst>
          </p:cNvPr>
          <p:cNvSpPr txBox="1"/>
          <p:nvPr/>
        </p:nvSpPr>
        <p:spPr>
          <a:xfrm>
            <a:off x="4611553" y="2375786"/>
            <a:ext cx="1695208" cy="461665"/>
          </a:xfrm>
          <a:prstGeom prst="rect">
            <a:avLst/>
          </a:prstGeom>
          <a:solidFill>
            <a:schemeClr val="accent2">
              <a:lumMod val="40000"/>
              <a:lumOff val="60000"/>
            </a:schemeClr>
          </a:solidFill>
        </p:spPr>
        <p:txBody>
          <a:bodyPr wrap="none" rtlCol="0">
            <a:spAutoFit/>
          </a:bodyPr>
          <a:lstStyle/>
          <a:p>
            <a:pPr algn="ctr"/>
            <a:r>
              <a:rPr lang="en-AU" sz="2400" b="1" dirty="0"/>
              <a:t>Negotiation</a:t>
            </a:r>
          </a:p>
        </p:txBody>
      </p:sp>
      <p:sp>
        <p:nvSpPr>
          <p:cNvPr id="15" name="TextBox 14">
            <a:extLst>
              <a:ext uri="{FF2B5EF4-FFF2-40B4-BE49-F238E27FC236}">
                <a16:creationId xmlns:a16="http://schemas.microsoft.com/office/drawing/2014/main" id="{A49DD0FA-C0A7-3E42-B483-A2EE884EDABE}"/>
              </a:ext>
            </a:extLst>
          </p:cNvPr>
          <p:cNvSpPr txBox="1"/>
          <p:nvPr/>
        </p:nvSpPr>
        <p:spPr>
          <a:xfrm>
            <a:off x="6993299" y="1785990"/>
            <a:ext cx="1512273" cy="461665"/>
          </a:xfrm>
          <a:prstGeom prst="rect">
            <a:avLst/>
          </a:prstGeom>
          <a:solidFill>
            <a:schemeClr val="accent2">
              <a:lumMod val="40000"/>
              <a:lumOff val="60000"/>
            </a:schemeClr>
          </a:solidFill>
        </p:spPr>
        <p:txBody>
          <a:bodyPr wrap="none" rtlCol="0">
            <a:spAutoFit/>
          </a:bodyPr>
          <a:lstStyle/>
          <a:p>
            <a:pPr algn="ctr"/>
            <a:r>
              <a:rPr lang="en-AU" sz="2400" b="1" dirty="0"/>
              <a:t>Mediation</a:t>
            </a:r>
          </a:p>
        </p:txBody>
      </p:sp>
      <p:sp>
        <p:nvSpPr>
          <p:cNvPr id="16" name="TextBox 15">
            <a:extLst>
              <a:ext uri="{FF2B5EF4-FFF2-40B4-BE49-F238E27FC236}">
                <a16:creationId xmlns:a16="http://schemas.microsoft.com/office/drawing/2014/main" id="{D4A67859-E55D-8D46-AA25-4D919C59C0F9}"/>
              </a:ext>
            </a:extLst>
          </p:cNvPr>
          <p:cNvSpPr txBox="1"/>
          <p:nvPr/>
        </p:nvSpPr>
        <p:spPr>
          <a:xfrm>
            <a:off x="329813" y="963146"/>
            <a:ext cx="1659429" cy="461665"/>
          </a:xfrm>
          <a:prstGeom prst="rect">
            <a:avLst/>
          </a:prstGeom>
          <a:solidFill>
            <a:schemeClr val="accent2">
              <a:lumMod val="40000"/>
              <a:lumOff val="60000"/>
            </a:schemeClr>
          </a:solidFill>
        </p:spPr>
        <p:txBody>
          <a:bodyPr wrap="none" rtlCol="0">
            <a:spAutoFit/>
          </a:bodyPr>
          <a:lstStyle/>
          <a:p>
            <a:pPr algn="ctr"/>
            <a:r>
              <a:rPr lang="en-AU" sz="2400" b="1" dirty="0"/>
              <a:t>Counselling</a:t>
            </a:r>
          </a:p>
        </p:txBody>
      </p:sp>
      <p:sp>
        <p:nvSpPr>
          <p:cNvPr id="7" name="TextBox 6">
            <a:extLst>
              <a:ext uri="{FF2B5EF4-FFF2-40B4-BE49-F238E27FC236}">
                <a16:creationId xmlns:a16="http://schemas.microsoft.com/office/drawing/2014/main" id="{7A208CB1-0C1C-0F45-B9B9-D74C4E5DBC3F}"/>
              </a:ext>
            </a:extLst>
          </p:cNvPr>
          <p:cNvSpPr txBox="1"/>
          <p:nvPr/>
        </p:nvSpPr>
        <p:spPr>
          <a:xfrm>
            <a:off x="2756623" y="1013495"/>
            <a:ext cx="5405069" cy="461665"/>
          </a:xfrm>
          <a:prstGeom prst="rect">
            <a:avLst/>
          </a:prstGeom>
          <a:solidFill>
            <a:schemeClr val="accent4">
              <a:lumMod val="40000"/>
              <a:lumOff val="60000"/>
            </a:schemeClr>
          </a:solidFill>
        </p:spPr>
        <p:txBody>
          <a:bodyPr wrap="none" rtlCol="0">
            <a:spAutoFit/>
          </a:bodyPr>
          <a:lstStyle/>
          <a:p>
            <a:pPr algn="ctr"/>
            <a:r>
              <a:rPr lang="en-AU" sz="2400" b="1" dirty="0"/>
              <a:t>One party’s position is forced on another</a:t>
            </a:r>
          </a:p>
        </p:txBody>
      </p:sp>
      <p:sp>
        <p:nvSpPr>
          <p:cNvPr id="17" name="TextBox 16">
            <a:extLst>
              <a:ext uri="{FF2B5EF4-FFF2-40B4-BE49-F238E27FC236}">
                <a16:creationId xmlns:a16="http://schemas.microsoft.com/office/drawing/2014/main" id="{59BAA304-702A-4A4A-9988-C01D3111EA80}"/>
              </a:ext>
            </a:extLst>
          </p:cNvPr>
          <p:cNvSpPr txBox="1"/>
          <p:nvPr/>
        </p:nvSpPr>
        <p:spPr>
          <a:xfrm>
            <a:off x="3271635" y="3665229"/>
            <a:ext cx="4890057" cy="461665"/>
          </a:xfrm>
          <a:prstGeom prst="rect">
            <a:avLst/>
          </a:prstGeom>
          <a:solidFill>
            <a:schemeClr val="accent4">
              <a:lumMod val="40000"/>
              <a:lumOff val="60000"/>
            </a:schemeClr>
          </a:solidFill>
        </p:spPr>
        <p:txBody>
          <a:bodyPr wrap="none" rtlCol="0">
            <a:spAutoFit/>
          </a:bodyPr>
          <a:lstStyle/>
          <a:p>
            <a:pPr algn="ctr"/>
            <a:r>
              <a:rPr lang="en-AU" sz="2400" b="1" dirty="0"/>
              <a:t>Involves compromise by both parties</a:t>
            </a:r>
          </a:p>
        </p:txBody>
      </p:sp>
      <p:sp>
        <p:nvSpPr>
          <p:cNvPr id="18" name="TextBox 17">
            <a:extLst>
              <a:ext uri="{FF2B5EF4-FFF2-40B4-BE49-F238E27FC236}">
                <a16:creationId xmlns:a16="http://schemas.microsoft.com/office/drawing/2014/main" id="{C90A8518-B475-754B-BCDC-335F586CF726}"/>
              </a:ext>
            </a:extLst>
          </p:cNvPr>
          <p:cNvSpPr txBox="1"/>
          <p:nvPr/>
        </p:nvSpPr>
        <p:spPr>
          <a:xfrm>
            <a:off x="646607" y="4946422"/>
            <a:ext cx="3943700" cy="1200329"/>
          </a:xfrm>
          <a:prstGeom prst="rect">
            <a:avLst/>
          </a:prstGeom>
          <a:solidFill>
            <a:schemeClr val="accent4">
              <a:lumMod val="40000"/>
              <a:lumOff val="60000"/>
            </a:schemeClr>
          </a:solidFill>
        </p:spPr>
        <p:txBody>
          <a:bodyPr wrap="square" rtlCol="0">
            <a:spAutoFit/>
          </a:bodyPr>
          <a:lstStyle/>
          <a:p>
            <a:pPr algn="ctr"/>
            <a:r>
              <a:rPr lang="en-AU" sz="2400" b="1" dirty="0"/>
              <a:t>Win-win solutions where both parties’ interests are satisfied</a:t>
            </a:r>
          </a:p>
        </p:txBody>
      </p:sp>
      <p:sp>
        <p:nvSpPr>
          <p:cNvPr id="19" name="TextBox 18">
            <a:extLst>
              <a:ext uri="{FF2B5EF4-FFF2-40B4-BE49-F238E27FC236}">
                <a16:creationId xmlns:a16="http://schemas.microsoft.com/office/drawing/2014/main" id="{8A82E56F-34A6-3544-9F04-1CF727341E98}"/>
              </a:ext>
            </a:extLst>
          </p:cNvPr>
          <p:cNvSpPr txBox="1"/>
          <p:nvPr/>
        </p:nvSpPr>
        <p:spPr>
          <a:xfrm>
            <a:off x="9427013" y="1564478"/>
            <a:ext cx="2018729" cy="1938992"/>
          </a:xfrm>
          <a:prstGeom prst="rect">
            <a:avLst/>
          </a:prstGeom>
          <a:solidFill>
            <a:schemeClr val="accent4">
              <a:lumMod val="40000"/>
              <a:lumOff val="60000"/>
            </a:schemeClr>
          </a:solidFill>
        </p:spPr>
        <p:txBody>
          <a:bodyPr wrap="square" rtlCol="0">
            <a:spAutoFit/>
          </a:bodyPr>
          <a:lstStyle/>
          <a:p>
            <a:pPr algn="ctr"/>
            <a:r>
              <a:rPr lang="en-AU" sz="2400" b="1" dirty="0"/>
              <a:t>Opposing parties try to reach a mutual agreement</a:t>
            </a:r>
          </a:p>
        </p:txBody>
      </p:sp>
      <p:sp>
        <p:nvSpPr>
          <p:cNvPr id="20" name="TextBox 19">
            <a:extLst>
              <a:ext uri="{FF2B5EF4-FFF2-40B4-BE49-F238E27FC236}">
                <a16:creationId xmlns:a16="http://schemas.microsoft.com/office/drawing/2014/main" id="{BD0000D9-6EB6-704D-9C88-C778077F70E0}"/>
              </a:ext>
            </a:extLst>
          </p:cNvPr>
          <p:cNvSpPr txBox="1"/>
          <p:nvPr/>
        </p:nvSpPr>
        <p:spPr>
          <a:xfrm>
            <a:off x="535474" y="2016822"/>
            <a:ext cx="3522960" cy="1200329"/>
          </a:xfrm>
          <a:prstGeom prst="rect">
            <a:avLst/>
          </a:prstGeom>
          <a:solidFill>
            <a:schemeClr val="accent4">
              <a:lumMod val="40000"/>
              <a:lumOff val="60000"/>
            </a:schemeClr>
          </a:solidFill>
        </p:spPr>
        <p:txBody>
          <a:bodyPr wrap="square" rtlCol="0">
            <a:spAutoFit/>
          </a:bodyPr>
          <a:lstStyle/>
          <a:p>
            <a:pPr algn="ctr"/>
            <a:r>
              <a:rPr lang="en-AU" sz="2400" b="1" dirty="0"/>
              <a:t>A counsellor tries to help parties come to their own resolution</a:t>
            </a:r>
          </a:p>
        </p:txBody>
      </p:sp>
      <p:sp>
        <p:nvSpPr>
          <p:cNvPr id="21" name="TextBox 20">
            <a:extLst>
              <a:ext uri="{FF2B5EF4-FFF2-40B4-BE49-F238E27FC236}">
                <a16:creationId xmlns:a16="http://schemas.microsoft.com/office/drawing/2014/main" id="{4D05CCCE-F106-464A-9149-9BDA83C9884A}"/>
              </a:ext>
            </a:extLst>
          </p:cNvPr>
          <p:cNvSpPr txBox="1"/>
          <p:nvPr/>
        </p:nvSpPr>
        <p:spPr>
          <a:xfrm>
            <a:off x="7484579" y="4331248"/>
            <a:ext cx="4267771" cy="2308324"/>
          </a:xfrm>
          <a:prstGeom prst="rect">
            <a:avLst/>
          </a:prstGeom>
          <a:solidFill>
            <a:schemeClr val="accent4">
              <a:lumMod val="40000"/>
              <a:lumOff val="60000"/>
            </a:schemeClr>
          </a:solidFill>
        </p:spPr>
        <p:txBody>
          <a:bodyPr wrap="square" rtlCol="0">
            <a:spAutoFit/>
          </a:bodyPr>
          <a:lstStyle/>
          <a:p>
            <a:pPr algn="ctr"/>
            <a:r>
              <a:rPr lang="en-AU" sz="2400" b="1" dirty="0"/>
              <a:t>A third party is brought in to try and resolve the conflict; arbitration is a form of this conflict resolution in which the third party has the right to hand down a decision </a:t>
            </a:r>
          </a:p>
        </p:txBody>
      </p:sp>
    </p:spTree>
    <p:extLst>
      <p:ext uri="{BB962C8B-B14F-4D97-AF65-F5344CB8AC3E}">
        <p14:creationId xmlns:p14="http://schemas.microsoft.com/office/powerpoint/2010/main" val="18617424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100208" y="0"/>
            <a:ext cx="8918531" cy="596571"/>
          </a:xfrm>
          <a:prstGeom prst="rect">
            <a:avLst/>
          </a:prstGeom>
        </p:spPr>
        <p:txBody>
          <a:bodyPr vert="horz" lIns="91440" tIns="45720" rIns="91440" bIns="45720" rtlCol="0" anchor="t">
            <a:noAutofit/>
          </a:bodyPr>
          <a:lstStyle/>
          <a:p>
            <a:pPr>
              <a:lnSpc>
                <a:spcPct val="90000"/>
              </a:lnSpc>
              <a:spcBef>
                <a:spcPct val="0"/>
              </a:spcBef>
              <a:spcAft>
                <a:spcPts val="600"/>
              </a:spcAft>
            </a:pPr>
            <a:r>
              <a:rPr lang="en-US" sz="2000" b="1" i="1" dirty="0">
                <a:solidFill>
                  <a:srgbClr val="305289"/>
                </a:solidFill>
                <a:latin typeface="+mj-lt"/>
                <a:ea typeface="+mj-ea"/>
                <a:cs typeface="+mj-cs"/>
              </a:rPr>
              <a:t>Identify and explain appropriate techniques for resolving a conflict</a:t>
            </a:r>
            <a:endParaRPr lang="en-US" b="1" i="1" dirty="0">
              <a:solidFill>
                <a:srgbClr val="305289"/>
              </a:solidFill>
              <a:latin typeface="+mj-lt"/>
              <a:ea typeface="+mj-ea"/>
              <a:cs typeface="+mj-cs"/>
            </a:endParaRPr>
          </a:p>
        </p:txBody>
      </p:sp>
      <p:sp>
        <p:nvSpPr>
          <p:cNvPr id="9" name="Rectangle 8"/>
          <p:cNvSpPr/>
          <p:nvPr/>
        </p:nvSpPr>
        <p:spPr>
          <a:xfrm>
            <a:off x="506764" y="411905"/>
            <a:ext cx="2818356" cy="6370975"/>
          </a:xfrm>
          <a:prstGeom prst="rect">
            <a:avLst/>
          </a:prstGeom>
          <a:solidFill>
            <a:schemeClr val="accent5">
              <a:lumMod val="20000"/>
              <a:lumOff val="80000"/>
            </a:schemeClr>
          </a:solidFill>
        </p:spPr>
        <p:txBody>
          <a:bodyPr wrap="square">
            <a:spAutoFit/>
          </a:bodyPr>
          <a:lstStyle/>
          <a:p>
            <a:pPr marL="457200" indent="-457200">
              <a:buAutoNum type="arabicPeriod"/>
            </a:pPr>
            <a:r>
              <a:rPr lang="en-AU" sz="1200" dirty="0"/>
              <a:t>Read the </a:t>
            </a:r>
            <a:r>
              <a:rPr lang="en-AU" sz="1200" b="1" dirty="0"/>
              <a:t>question</a:t>
            </a:r>
            <a:r>
              <a:rPr lang="en-AU" sz="1200" dirty="0"/>
              <a:t> and the scenario carefully. </a:t>
            </a:r>
          </a:p>
          <a:p>
            <a:pPr marL="457200" indent="-457200">
              <a:buAutoNum type="arabicPeriod"/>
            </a:pPr>
            <a:r>
              <a:rPr lang="en-AU" sz="1200" dirty="0"/>
              <a:t>Define conflict</a:t>
            </a:r>
          </a:p>
          <a:p>
            <a:pPr marL="457200" indent="-457200">
              <a:buAutoNum type="arabicPeriod"/>
            </a:pPr>
            <a:r>
              <a:rPr lang="en-AU" sz="1200" dirty="0"/>
              <a:t>Identify:</a:t>
            </a:r>
          </a:p>
          <a:p>
            <a:pPr marL="914400" lvl="1" indent="-457200">
              <a:buFont typeface="Arial" panose="020B0604020202020204" pitchFamily="34" charset="0"/>
              <a:buChar char="•"/>
            </a:pPr>
            <a:r>
              <a:rPr lang="en-AU" sz="1200" dirty="0"/>
              <a:t>the conflicting parties</a:t>
            </a:r>
          </a:p>
          <a:p>
            <a:pPr marL="914400" lvl="1" indent="-457200">
              <a:buFont typeface="Arial" panose="020B0604020202020204" pitchFamily="34" charset="0"/>
              <a:buChar char="•"/>
            </a:pPr>
            <a:r>
              <a:rPr lang="en-AU" sz="1200" dirty="0"/>
              <a:t>the conflict (incompatible goals/ideas/behaviours)</a:t>
            </a:r>
          </a:p>
          <a:p>
            <a:pPr marL="914400" lvl="1" indent="-457200">
              <a:buFont typeface="Arial" panose="020B0604020202020204" pitchFamily="34" charset="0"/>
              <a:buChar char="•"/>
            </a:pPr>
            <a:r>
              <a:rPr lang="en-AU" sz="1200" dirty="0"/>
              <a:t>common interests between the parties (if any)</a:t>
            </a:r>
          </a:p>
          <a:p>
            <a:pPr marL="457200" indent="-457200">
              <a:buFont typeface="+mj-lt"/>
              <a:buAutoNum type="arabicPeriod"/>
            </a:pPr>
            <a:r>
              <a:rPr lang="en-AU" sz="1200" dirty="0"/>
              <a:t>Identify suitable techniques for resolving the conflict (mediation/negotiation/counselling)</a:t>
            </a:r>
          </a:p>
          <a:p>
            <a:pPr marL="457200" indent="-457200">
              <a:buFont typeface="+mj-lt"/>
              <a:buAutoNum type="arabicPeriod"/>
            </a:pPr>
            <a:r>
              <a:rPr lang="en-AU" sz="1200" dirty="0"/>
              <a:t>Explain each technique, how it is applied in real life and why it is applicable to the scenario</a:t>
            </a:r>
          </a:p>
          <a:p>
            <a:pPr marL="457200" indent="-457200">
              <a:buFont typeface="+mj-lt"/>
              <a:buAutoNum type="arabicPeriod"/>
            </a:pPr>
            <a:r>
              <a:rPr lang="en-AU" sz="1200" dirty="0"/>
              <a:t>Identify and define the types of solutions that may arise from the conflict-resolution techniques (imposed/distributive/integrative)</a:t>
            </a:r>
          </a:p>
          <a:p>
            <a:pPr marL="457200" indent="-457200">
              <a:buFont typeface="+mj-lt"/>
              <a:buAutoNum type="arabicPeriod"/>
            </a:pPr>
            <a:r>
              <a:rPr lang="en-AU" sz="1200" dirty="0"/>
              <a:t>Identify any references to include (*</a:t>
            </a:r>
            <a:r>
              <a:rPr lang="en-AU" sz="1200" b="1" dirty="0"/>
              <a:t>quantity</a:t>
            </a:r>
            <a:r>
              <a:rPr lang="en-AU" sz="1200" dirty="0"/>
              <a:t>)</a:t>
            </a:r>
          </a:p>
          <a:p>
            <a:pPr marL="914400" lvl="1" indent="-457200">
              <a:buFont typeface="Arial" panose="020B0604020202020204" pitchFamily="34" charset="0"/>
              <a:buChar char="•"/>
            </a:pPr>
            <a:r>
              <a:rPr lang="en-AU" sz="1200" dirty="0"/>
              <a:t>Follett, 1940: Distributive v Integrative solutions (orange analogy)</a:t>
            </a:r>
          </a:p>
          <a:p>
            <a:pPr marL="914400" lvl="1" indent="-457200">
              <a:buFont typeface="Arial" panose="020B0604020202020204" pitchFamily="34" charset="0"/>
              <a:buChar char="•"/>
            </a:pPr>
            <a:r>
              <a:rPr lang="en-AU" sz="1200" dirty="0"/>
              <a:t>Thompson and Hastie, 1990: Interest-based negotiation</a:t>
            </a:r>
          </a:p>
          <a:p>
            <a:pPr marL="914400" lvl="1" indent="-457200">
              <a:buFont typeface="Arial" panose="020B0604020202020204" pitchFamily="34" charset="0"/>
              <a:buChar char="•"/>
            </a:pPr>
            <a:r>
              <a:rPr lang="en-AU" sz="1200" dirty="0"/>
              <a:t>Emery et al., 2005: Effectiveness of mediation</a:t>
            </a:r>
          </a:p>
          <a:p>
            <a:pPr marL="457200" indent="-457200">
              <a:buFont typeface="+mj-lt"/>
              <a:buAutoNum type="arabicPeriod"/>
            </a:pPr>
            <a:r>
              <a:rPr lang="en-AU" sz="1200" dirty="0"/>
              <a:t>Describe the research method and findings of (at least one) references (*</a:t>
            </a:r>
            <a:r>
              <a:rPr lang="en-AU" sz="1200" b="1" dirty="0"/>
              <a:t>quality</a:t>
            </a:r>
            <a:r>
              <a:rPr lang="en-AU" sz="1200" dirty="0"/>
              <a:t>)</a:t>
            </a:r>
          </a:p>
        </p:txBody>
      </p:sp>
      <p:sp>
        <p:nvSpPr>
          <p:cNvPr id="10" name="Rounded Rectangle 9">
            <a:extLst>
              <a:ext uri="{FF2B5EF4-FFF2-40B4-BE49-F238E27FC236}">
                <a16:creationId xmlns:a16="http://schemas.microsoft.com/office/drawing/2014/main" id="{91B81EA3-0C52-424E-B342-37EE26E471E5}"/>
              </a:ext>
            </a:extLst>
          </p:cNvPr>
          <p:cNvSpPr/>
          <p:nvPr/>
        </p:nvSpPr>
        <p:spPr>
          <a:xfrm rot="16200000">
            <a:off x="-762069" y="5608370"/>
            <a:ext cx="1813826" cy="317285"/>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Independent  Practice</a:t>
            </a:r>
          </a:p>
        </p:txBody>
      </p:sp>
      <p:sp>
        <p:nvSpPr>
          <p:cNvPr id="2" name="Rectangle 1">
            <a:extLst>
              <a:ext uri="{FF2B5EF4-FFF2-40B4-BE49-F238E27FC236}">
                <a16:creationId xmlns:a16="http://schemas.microsoft.com/office/drawing/2014/main" id="{F20C5DFB-9406-3545-9E5D-55B9112FC61E}"/>
              </a:ext>
            </a:extLst>
          </p:cNvPr>
          <p:cNvSpPr/>
          <p:nvPr/>
        </p:nvSpPr>
        <p:spPr>
          <a:xfrm>
            <a:off x="3528396" y="411905"/>
            <a:ext cx="8258595" cy="5351850"/>
          </a:xfrm>
          <a:prstGeom prst="rect">
            <a:avLst/>
          </a:prstGeom>
        </p:spPr>
        <p:txBody>
          <a:bodyPr wrap="square">
            <a:spAutoFit/>
          </a:bodyPr>
          <a:lstStyle/>
          <a:p>
            <a:pPr algn="just">
              <a:lnSpc>
                <a:spcPct val="150000"/>
              </a:lnSpc>
              <a:spcAft>
                <a:spcPts val="0"/>
              </a:spcAft>
            </a:pPr>
            <a:r>
              <a:rPr lang="en-AU" dirty="0">
                <a:latin typeface="Century Gothic" panose="020B0502020202020204" pitchFamily="34" charset="0"/>
                <a:ea typeface="Times New Roman" panose="02020603050405020304" pitchFamily="18" charset="0"/>
              </a:rPr>
              <a:t>Jarred and his younger brother Aaron share a car.  On Friday night, Jarred has a date with Celia at the local cinema for the 9pm session.  Aaron was hoping to go and pick up a new pair of shoes at late-night shopping in the city after he finishes work at 6pm.  </a:t>
            </a:r>
          </a:p>
          <a:p>
            <a:pPr algn="just">
              <a:lnSpc>
                <a:spcPct val="150000"/>
              </a:lnSpc>
              <a:spcAft>
                <a:spcPts val="0"/>
              </a:spcAft>
            </a:pPr>
            <a:endParaRPr lang="en-AU" dirty="0">
              <a:latin typeface="Century Gothic" panose="020B0502020202020204" pitchFamily="34" charset="0"/>
              <a:ea typeface="Times New Roman" panose="02020603050405020304" pitchFamily="18" charset="0"/>
            </a:endParaRPr>
          </a:p>
          <a:p>
            <a:pPr algn="just">
              <a:lnSpc>
                <a:spcPct val="150000"/>
              </a:lnSpc>
              <a:spcAft>
                <a:spcPts val="0"/>
              </a:spcAft>
            </a:pPr>
            <a:r>
              <a:rPr lang="en-AU" b="1" dirty="0">
                <a:latin typeface="Century Gothic" panose="020B0502020202020204" pitchFamily="34" charset="0"/>
                <a:ea typeface="Times New Roman" panose="02020603050405020304" pitchFamily="18" charset="0"/>
              </a:rPr>
              <a:t>Discuss the three types of conflict resolution available to the brothers and the different types of solutions they could result in.</a:t>
            </a:r>
            <a:endParaRPr lang="en-AU" b="1" dirty="0">
              <a:latin typeface="Times New Roman" panose="02020603050405020304" pitchFamily="18" charset="0"/>
              <a:ea typeface="Times New Roman" panose="02020603050405020304" pitchFamily="18" charset="0"/>
            </a:endParaRPr>
          </a:p>
          <a:p>
            <a:pPr marL="457200" algn="just">
              <a:lnSpc>
                <a:spcPct val="115000"/>
              </a:lnSpc>
              <a:spcAft>
                <a:spcPts val="0"/>
              </a:spcAft>
            </a:pPr>
            <a:r>
              <a:rPr lang="en-AU" dirty="0">
                <a:latin typeface="Century Gothic" panose="020B0502020202020204" pitchFamily="34" charset="0"/>
                <a:ea typeface="Times New Roman" panose="02020603050405020304" pitchFamily="18" charset="0"/>
              </a:rPr>
              <a:t> </a:t>
            </a:r>
            <a:endParaRPr lang="en-AU" dirty="0">
              <a:latin typeface="Times New Roman" panose="02020603050405020304" pitchFamily="18" charset="0"/>
              <a:ea typeface="Times New Roman" panose="02020603050405020304" pitchFamily="18" charset="0"/>
            </a:endParaRPr>
          </a:p>
          <a:p>
            <a:pPr marL="457200">
              <a:lnSpc>
                <a:spcPct val="150000"/>
              </a:lnSpc>
              <a:spcAft>
                <a:spcPts val="0"/>
              </a:spcAft>
            </a:pPr>
            <a:r>
              <a:rPr lang="en-AU" dirty="0">
                <a:latin typeface="Century Gothic" panose="020B0502020202020204" pitchFamily="34" charset="0"/>
                <a:ea typeface="Times New Roman" panose="02020603050405020304" pitchFamily="18" charset="0"/>
              </a:rPr>
              <a:t>In your answer you should:</a:t>
            </a:r>
            <a:endParaRPr lang="en-AU" dirty="0">
              <a:latin typeface="Times New Roman" panose="02020603050405020304" pitchFamily="18" charset="0"/>
              <a:ea typeface="Times New Roman" panose="02020603050405020304" pitchFamily="18" charset="0"/>
            </a:endParaRPr>
          </a:p>
          <a:p>
            <a:pPr marL="342900" lvl="0" indent="-342900">
              <a:lnSpc>
                <a:spcPct val="150000"/>
              </a:lnSpc>
              <a:spcAft>
                <a:spcPts val="0"/>
              </a:spcAft>
              <a:buFont typeface="Symbol" pitchFamily="2" charset="2"/>
              <a:buChar char=""/>
            </a:pPr>
            <a:r>
              <a:rPr lang="en-AU" dirty="0">
                <a:latin typeface="Century Gothic" panose="020B0502020202020204" pitchFamily="34" charset="0"/>
                <a:ea typeface="Times New Roman" panose="02020603050405020304" pitchFamily="18" charset="0"/>
              </a:rPr>
              <a:t>Define conflict</a:t>
            </a:r>
            <a:endParaRPr lang="en-AU" dirty="0">
              <a:latin typeface="Times New Roman" panose="02020603050405020304" pitchFamily="18" charset="0"/>
              <a:ea typeface="Times New Roman" panose="02020603050405020304" pitchFamily="18" charset="0"/>
            </a:endParaRPr>
          </a:p>
          <a:p>
            <a:pPr marL="342900" lvl="0" indent="-342900">
              <a:lnSpc>
                <a:spcPct val="150000"/>
              </a:lnSpc>
              <a:spcAft>
                <a:spcPts val="0"/>
              </a:spcAft>
              <a:buFont typeface="Symbol" pitchFamily="2" charset="2"/>
              <a:buChar char=""/>
            </a:pPr>
            <a:r>
              <a:rPr lang="en-AU" dirty="0">
                <a:latin typeface="Century Gothic" panose="020B0502020202020204" pitchFamily="34" charset="0"/>
                <a:ea typeface="Times New Roman" panose="02020603050405020304" pitchFamily="18" charset="0"/>
              </a:rPr>
              <a:t>Discuss three techniques for resolving conflict</a:t>
            </a:r>
            <a:endParaRPr lang="en-AU" dirty="0">
              <a:latin typeface="Times New Roman" panose="02020603050405020304" pitchFamily="18" charset="0"/>
              <a:ea typeface="Times New Roman" panose="02020603050405020304" pitchFamily="18" charset="0"/>
            </a:endParaRPr>
          </a:p>
          <a:p>
            <a:pPr marL="342900" lvl="0" indent="-342900">
              <a:lnSpc>
                <a:spcPct val="150000"/>
              </a:lnSpc>
              <a:spcAft>
                <a:spcPts val="0"/>
              </a:spcAft>
              <a:buFont typeface="Symbol" pitchFamily="2" charset="2"/>
              <a:buChar char=""/>
            </a:pPr>
            <a:r>
              <a:rPr lang="en-AU" dirty="0">
                <a:latin typeface="Century Gothic" panose="020B0502020202020204" pitchFamily="34" charset="0"/>
                <a:ea typeface="Times New Roman" panose="02020603050405020304" pitchFamily="18" charset="0"/>
              </a:rPr>
              <a:t>Discuss three types of solutions to solve conflicts</a:t>
            </a:r>
            <a:endParaRPr lang="en-AU" dirty="0">
              <a:latin typeface="Times New Roman" panose="02020603050405020304" pitchFamily="18" charset="0"/>
              <a:ea typeface="Times New Roman" panose="02020603050405020304" pitchFamily="18" charset="0"/>
            </a:endParaRPr>
          </a:p>
          <a:p>
            <a:pPr marL="342900" lvl="0" indent="-342900">
              <a:lnSpc>
                <a:spcPct val="150000"/>
              </a:lnSpc>
              <a:spcAft>
                <a:spcPts val="0"/>
              </a:spcAft>
              <a:buFont typeface="Symbol" pitchFamily="2" charset="2"/>
              <a:buChar char=""/>
            </a:pPr>
            <a:r>
              <a:rPr lang="en-AU" dirty="0">
                <a:latin typeface="Century Gothic" panose="020B0502020202020204" pitchFamily="34" charset="0"/>
                <a:ea typeface="Times New Roman" panose="02020603050405020304" pitchFamily="18" charset="0"/>
                <a:cs typeface="Times New Roman" panose="02020603050405020304" pitchFamily="18" charset="0"/>
              </a:rPr>
              <a:t>Apply these to the given scenario</a:t>
            </a:r>
            <a:r>
              <a:rPr lang="en-AU" dirty="0"/>
              <a:t> </a:t>
            </a:r>
          </a:p>
        </p:txBody>
      </p:sp>
      <p:sp>
        <p:nvSpPr>
          <p:cNvPr id="3" name="TextBox 2">
            <a:extLst>
              <a:ext uri="{FF2B5EF4-FFF2-40B4-BE49-F238E27FC236}">
                <a16:creationId xmlns:a16="http://schemas.microsoft.com/office/drawing/2014/main" id="{E3F0A1F6-59F5-604F-BFA1-68C8C29C852A}"/>
              </a:ext>
            </a:extLst>
          </p:cNvPr>
          <p:cNvSpPr txBox="1"/>
          <p:nvPr/>
        </p:nvSpPr>
        <p:spPr>
          <a:xfrm>
            <a:off x="3528396" y="5852494"/>
            <a:ext cx="8439867" cy="646331"/>
          </a:xfrm>
          <a:prstGeom prst="rect">
            <a:avLst/>
          </a:prstGeom>
          <a:solidFill>
            <a:schemeClr val="accent2">
              <a:lumMod val="40000"/>
              <a:lumOff val="60000"/>
            </a:schemeClr>
          </a:solidFill>
        </p:spPr>
        <p:txBody>
          <a:bodyPr wrap="square" rtlCol="0">
            <a:spAutoFit/>
          </a:bodyPr>
          <a:lstStyle/>
          <a:p>
            <a:pPr algn="ctr"/>
            <a:r>
              <a:rPr lang="en-AU" b="1" dirty="0"/>
              <a:t>You are expected to complete this task in-class and submit it to your teacher as a formative assessment</a:t>
            </a:r>
          </a:p>
        </p:txBody>
      </p:sp>
    </p:spTree>
    <p:extLst>
      <p:ext uri="{BB962C8B-B14F-4D97-AF65-F5344CB8AC3E}">
        <p14:creationId xmlns:p14="http://schemas.microsoft.com/office/powerpoint/2010/main" val="17702580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C974FC-FEC2-C242-B238-F6D42E0E0610}"/>
              </a:ext>
            </a:extLst>
          </p:cNvPr>
          <p:cNvSpPr txBox="1"/>
          <p:nvPr/>
        </p:nvSpPr>
        <p:spPr>
          <a:xfrm>
            <a:off x="194882" y="199525"/>
            <a:ext cx="11997117" cy="1641976"/>
          </a:xfrm>
          <a:prstGeom prst="rect">
            <a:avLst/>
          </a:prstGeom>
        </p:spPr>
        <p:txBody>
          <a:bodyPr vert="horz" lIns="91440" tIns="45720" rIns="91440" bIns="45720" rtlCol="0" anchor="t">
            <a:normAutofit fontScale="85000" lnSpcReduction="20000"/>
          </a:bodyPr>
          <a:lstStyle/>
          <a:p>
            <a:pPr>
              <a:lnSpc>
                <a:spcPct val="90000"/>
              </a:lnSpc>
              <a:spcBef>
                <a:spcPct val="0"/>
              </a:spcBef>
              <a:spcAft>
                <a:spcPts val="600"/>
              </a:spcAft>
            </a:pPr>
            <a:r>
              <a:rPr lang="en-US" sz="5400" dirty="0">
                <a:solidFill>
                  <a:srgbClr val="305289"/>
                </a:solidFill>
                <a:latin typeface="+mj-lt"/>
                <a:ea typeface="+mj-ea"/>
                <a:cs typeface="+mj-cs"/>
              </a:rPr>
              <a:t>Learning objective 3.20: </a:t>
            </a:r>
            <a:r>
              <a:rPr lang="en-US" sz="5400" b="1" dirty="0">
                <a:solidFill>
                  <a:srgbClr val="305289"/>
                </a:solidFill>
                <a:latin typeface="+mj-lt"/>
                <a:ea typeface="+mj-ea"/>
                <a:cs typeface="+mj-cs"/>
              </a:rPr>
              <a:t>Explain Harlow, Bowlby, and Ainsworth’s contributions to attachment theory.</a:t>
            </a:r>
          </a:p>
        </p:txBody>
      </p:sp>
      <p:pic>
        <p:nvPicPr>
          <p:cNvPr id="4" name="Picture 3">
            <a:extLst>
              <a:ext uri="{FF2B5EF4-FFF2-40B4-BE49-F238E27FC236}">
                <a16:creationId xmlns:a16="http://schemas.microsoft.com/office/drawing/2014/main" id="{C49A40C2-33E2-0841-A623-614261FE6667}"/>
              </a:ext>
            </a:extLst>
          </p:cNvPr>
          <p:cNvPicPr>
            <a:picLocks noChangeAspect="1"/>
          </p:cNvPicPr>
          <p:nvPr/>
        </p:nvPicPr>
        <p:blipFill>
          <a:blip r:embed="rId2"/>
          <a:stretch>
            <a:fillRect/>
          </a:stretch>
        </p:blipFill>
        <p:spPr>
          <a:xfrm>
            <a:off x="5597074" y="2174570"/>
            <a:ext cx="6329444" cy="4213703"/>
          </a:xfrm>
          <a:prstGeom prst="rect">
            <a:avLst/>
          </a:prstGeom>
        </p:spPr>
      </p:pic>
      <p:pic>
        <p:nvPicPr>
          <p:cNvPr id="5" name="Picture 4">
            <a:extLst>
              <a:ext uri="{FF2B5EF4-FFF2-40B4-BE49-F238E27FC236}">
                <a16:creationId xmlns:a16="http://schemas.microsoft.com/office/drawing/2014/main" id="{200C7076-E52A-D649-95BF-1266C774FFFD}"/>
              </a:ext>
            </a:extLst>
          </p:cNvPr>
          <p:cNvPicPr>
            <a:picLocks noChangeAspect="1"/>
          </p:cNvPicPr>
          <p:nvPr/>
        </p:nvPicPr>
        <p:blipFill>
          <a:blip r:embed="rId3"/>
          <a:stretch>
            <a:fillRect/>
          </a:stretch>
        </p:blipFill>
        <p:spPr>
          <a:xfrm>
            <a:off x="194881" y="2174569"/>
            <a:ext cx="6327999" cy="4213703"/>
          </a:xfrm>
          <a:prstGeom prst="rect">
            <a:avLst/>
          </a:prstGeom>
        </p:spPr>
      </p:pic>
    </p:spTree>
    <p:extLst>
      <p:ext uri="{BB962C8B-B14F-4D97-AF65-F5344CB8AC3E}">
        <p14:creationId xmlns:p14="http://schemas.microsoft.com/office/powerpoint/2010/main" val="404887384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1B81EA3-0C52-424E-B342-37EE26E471E5}"/>
              </a:ext>
            </a:extLst>
          </p:cNvPr>
          <p:cNvSpPr/>
          <p:nvPr/>
        </p:nvSpPr>
        <p:spPr>
          <a:xfrm rot="16200000">
            <a:off x="-908461" y="908462"/>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Activate Prior Knowledge</a:t>
            </a:r>
          </a:p>
        </p:txBody>
      </p:sp>
      <p:sp>
        <p:nvSpPr>
          <p:cNvPr id="5" name="TextBox 4">
            <a:extLst>
              <a:ext uri="{FF2B5EF4-FFF2-40B4-BE49-F238E27FC236}">
                <a16:creationId xmlns:a16="http://schemas.microsoft.com/office/drawing/2014/main" id="{4C74A751-A7D2-FC49-AE50-FF323C50B58A}"/>
              </a:ext>
            </a:extLst>
          </p:cNvPr>
          <p:cNvSpPr txBox="1"/>
          <p:nvPr/>
        </p:nvSpPr>
        <p:spPr>
          <a:xfrm>
            <a:off x="681926" y="220656"/>
            <a:ext cx="11230326" cy="6124754"/>
          </a:xfrm>
          <a:prstGeom prst="rect">
            <a:avLst/>
          </a:prstGeom>
          <a:noFill/>
        </p:spPr>
        <p:txBody>
          <a:bodyPr wrap="square" rtlCol="0">
            <a:spAutoFit/>
          </a:bodyPr>
          <a:lstStyle/>
          <a:p>
            <a:pPr algn="ctr"/>
            <a:r>
              <a:rPr lang="en-AU" sz="3600" u="sng" dirty="0">
                <a:solidFill>
                  <a:schemeClr val="accent1">
                    <a:lumMod val="50000"/>
                  </a:schemeClr>
                </a:solidFill>
              </a:rPr>
              <a:t>PAIR-SHARE</a:t>
            </a:r>
          </a:p>
          <a:p>
            <a:pPr algn="ctr"/>
            <a:endParaRPr lang="en-AU" sz="3600" dirty="0">
              <a:solidFill>
                <a:schemeClr val="accent1">
                  <a:lumMod val="50000"/>
                </a:schemeClr>
              </a:solidFill>
            </a:endParaRPr>
          </a:p>
          <a:p>
            <a:pPr marL="742950" indent="-742950">
              <a:buFont typeface="+mj-lt"/>
              <a:buAutoNum type="arabicPeriod"/>
            </a:pPr>
            <a:r>
              <a:rPr lang="en-AU" sz="4000" dirty="0">
                <a:solidFill>
                  <a:schemeClr val="accent1">
                    <a:lumMod val="50000"/>
                  </a:schemeClr>
                </a:solidFill>
              </a:rPr>
              <a:t>Identify the theories (and theorists) we have covered so far that offer explanations for how infants:</a:t>
            </a:r>
          </a:p>
          <a:p>
            <a:pPr marL="1943100" lvl="3" indent="-571500">
              <a:buFont typeface="Arial" panose="020B0604020202020204" pitchFamily="34" charset="0"/>
              <a:buChar char="•"/>
            </a:pPr>
            <a:r>
              <a:rPr lang="en-AU" sz="4000" dirty="0">
                <a:solidFill>
                  <a:schemeClr val="accent1">
                    <a:lumMod val="50000"/>
                  </a:schemeClr>
                </a:solidFill>
              </a:rPr>
              <a:t>Learn (generally)</a:t>
            </a:r>
          </a:p>
          <a:p>
            <a:pPr marL="1943100" lvl="3" indent="-571500">
              <a:buFont typeface="Arial" panose="020B0604020202020204" pitchFamily="34" charset="0"/>
              <a:buChar char="•"/>
            </a:pPr>
            <a:r>
              <a:rPr lang="en-AU" sz="4000" dirty="0">
                <a:solidFill>
                  <a:schemeClr val="accent1">
                    <a:lumMod val="50000"/>
                  </a:schemeClr>
                </a:solidFill>
              </a:rPr>
              <a:t>Acquire language</a:t>
            </a:r>
          </a:p>
          <a:p>
            <a:pPr marL="1943100" lvl="3" indent="-571500">
              <a:buFont typeface="Arial" panose="020B0604020202020204" pitchFamily="34" charset="0"/>
              <a:buChar char="•"/>
            </a:pPr>
            <a:endParaRPr lang="en-AU" sz="4000" dirty="0">
              <a:solidFill>
                <a:schemeClr val="accent1">
                  <a:lumMod val="50000"/>
                </a:schemeClr>
              </a:solidFill>
            </a:endParaRPr>
          </a:p>
          <a:p>
            <a:pPr marL="742950" indent="-742950">
              <a:buFont typeface="+mj-lt"/>
              <a:buAutoNum type="arabicPeriod"/>
            </a:pPr>
            <a:r>
              <a:rPr lang="en-AU" sz="4000" dirty="0">
                <a:solidFill>
                  <a:schemeClr val="accent1">
                    <a:lumMod val="50000"/>
                  </a:schemeClr>
                </a:solidFill>
              </a:rPr>
              <a:t>Who has the most influential role during a child’s first years?</a:t>
            </a:r>
          </a:p>
        </p:txBody>
      </p:sp>
    </p:spTree>
    <p:extLst>
      <p:ext uri="{BB962C8B-B14F-4D97-AF65-F5344CB8AC3E}">
        <p14:creationId xmlns:p14="http://schemas.microsoft.com/office/powerpoint/2010/main" val="20518266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1816101" y="0"/>
            <a:ext cx="4724400"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3600" b="1" dirty="0">
                <a:solidFill>
                  <a:srgbClr val="305289"/>
                </a:solidFill>
                <a:latin typeface="+mj-lt"/>
                <a:ea typeface="+mj-ea"/>
                <a:cs typeface="+mj-cs"/>
              </a:rPr>
              <a:t>Attachment Theory</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ext uri="{D42A27DB-BD31-4B8C-83A1-F6EECF244321}">
                <p14:modId xmlns:p14="http://schemas.microsoft.com/office/powerpoint/2010/main" val="2100743511"/>
              </p:ext>
            </p:extLst>
          </p:nvPr>
        </p:nvGraphicFramePr>
        <p:xfrm>
          <a:off x="8860312" y="178150"/>
          <a:ext cx="3331688" cy="74168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infancy</a:t>
                      </a:r>
                      <a:r>
                        <a:rPr lang="en-AU" sz="1400" b="0" baseline="0" dirty="0"/>
                        <a:t>: roughly the first year of life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1928293657"/>
              </p:ext>
            </p:extLst>
          </p:nvPr>
        </p:nvGraphicFramePr>
        <p:xfrm>
          <a:off x="8860312" y="5099030"/>
          <a:ext cx="3351846" cy="1681480"/>
        </p:xfrm>
        <a:graphic>
          <a:graphicData uri="http://schemas.openxmlformats.org/drawingml/2006/table">
            <a:tbl>
              <a:tblPr firstRow="1" bandRow="1">
                <a:tableStyleId>{5C22544A-7EE6-4342-B048-85BDC9FD1C3A}</a:tableStyleId>
              </a:tblPr>
              <a:tblGrid>
                <a:gridCol w="3351846">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a:t>Define attachment.</a:t>
                      </a:r>
                    </a:p>
                    <a:p>
                      <a:pPr marL="342900" indent="-342900">
                        <a:buFont typeface="+mj-lt"/>
                        <a:buAutoNum type="arabicPeriod"/>
                      </a:pPr>
                      <a:r>
                        <a:rPr lang="en-AU" sz="1600" b="0" baseline="0" dirty="0"/>
                        <a:t>Explain why, according to attachment theory, ‘attachment’ is considered ‘universal’ and ‘biological’.</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2" name="TextBox 1">
            <a:extLst>
              <a:ext uri="{FF2B5EF4-FFF2-40B4-BE49-F238E27FC236}">
                <a16:creationId xmlns:a16="http://schemas.microsoft.com/office/drawing/2014/main" id="{88805E46-B589-2944-AAEF-58457BCB6E31}"/>
              </a:ext>
            </a:extLst>
          </p:cNvPr>
          <p:cNvSpPr txBox="1"/>
          <p:nvPr/>
        </p:nvSpPr>
        <p:spPr>
          <a:xfrm>
            <a:off x="396010" y="596571"/>
            <a:ext cx="8324244" cy="830997"/>
          </a:xfrm>
          <a:prstGeom prst="rect">
            <a:avLst/>
          </a:prstGeom>
          <a:solidFill>
            <a:schemeClr val="accent4">
              <a:lumMod val="60000"/>
              <a:lumOff val="40000"/>
            </a:schemeClr>
          </a:solidFill>
        </p:spPr>
        <p:txBody>
          <a:bodyPr wrap="square" rtlCol="0">
            <a:spAutoFit/>
          </a:bodyPr>
          <a:lstStyle/>
          <a:p>
            <a:r>
              <a:rPr lang="en-AU" sz="2400" b="1" dirty="0"/>
              <a:t>Attachment</a:t>
            </a:r>
            <a:r>
              <a:rPr lang="en-AU" sz="2400" dirty="0"/>
              <a:t> refers to the close emotional bond or relationship between an infant and the mother (or primary caregiver). </a:t>
            </a:r>
          </a:p>
        </p:txBody>
      </p:sp>
      <p:sp>
        <p:nvSpPr>
          <p:cNvPr id="3" name="TextBox 2">
            <a:extLst>
              <a:ext uri="{FF2B5EF4-FFF2-40B4-BE49-F238E27FC236}">
                <a16:creationId xmlns:a16="http://schemas.microsoft.com/office/drawing/2014/main" id="{3B899DED-3A15-EC4A-A866-BEB05CC69280}"/>
              </a:ext>
            </a:extLst>
          </p:cNvPr>
          <p:cNvSpPr txBox="1"/>
          <p:nvPr/>
        </p:nvSpPr>
        <p:spPr>
          <a:xfrm>
            <a:off x="338302" y="2265505"/>
            <a:ext cx="8501168" cy="4154984"/>
          </a:xfrm>
          <a:prstGeom prst="rect">
            <a:avLst/>
          </a:prstGeom>
          <a:noFill/>
        </p:spPr>
        <p:txBody>
          <a:bodyPr wrap="square" rtlCol="0">
            <a:spAutoFit/>
          </a:bodyPr>
          <a:lstStyle/>
          <a:p>
            <a:r>
              <a:rPr lang="en-AU" sz="2400" u="sng" dirty="0"/>
              <a:t>Attachment Theory suggests that:</a:t>
            </a:r>
          </a:p>
          <a:p>
            <a:pPr marL="285750" indent="-285750">
              <a:buFont typeface="Courier New" panose="02070309020205020404" pitchFamily="49" charset="0"/>
              <a:buChar char="o"/>
            </a:pPr>
            <a:r>
              <a:rPr lang="en-AU" sz="2400" dirty="0"/>
              <a:t>Attachment is universal to all humans: it appears in all cultures and across all races of people.</a:t>
            </a:r>
          </a:p>
          <a:p>
            <a:pPr marL="285750" indent="-285750">
              <a:buFont typeface="Courier New" panose="02070309020205020404" pitchFamily="49" charset="0"/>
              <a:buChar char="o"/>
            </a:pPr>
            <a:r>
              <a:rPr lang="en-AU" sz="2400" dirty="0"/>
              <a:t>Attachment has a biological basis: it is innate or inborn behaviour; it is instinctive not learned; its main function is to increase changes of survival by helping the child seek proximity to someone who will take care of their physical and emotional needs so that they feel secure.</a:t>
            </a:r>
          </a:p>
          <a:p>
            <a:pPr marL="285750" indent="-285750">
              <a:buFont typeface="Courier New" panose="02070309020205020404" pitchFamily="49" charset="0"/>
              <a:buChar char="o"/>
            </a:pPr>
            <a:r>
              <a:rPr lang="en-AU" sz="2400" dirty="0"/>
              <a:t>Multiple attachments can occur (e.g. with a father/siblings/friends) however the mother-infant relationship is the strongest</a:t>
            </a:r>
          </a:p>
        </p:txBody>
      </p:sp>
      <p:sp>
        <p:nvSpPr>
          <p:cNvPr id="7" name="TextBox 6">
            <a:extLst>
              <a:ext uri="{FF2B5EF4-FFF2-40B4-BE49-F238E27FC236}">
                <a16:creationId xmlns:a16="http://schemas.microsoft.com/office/drawing/2014/main" id="{8B4D07DD-8354-2247-892E-BE279A2782FC}"/>
              </a:ext>
            </a:extLst>
          </p:cNvPr>
          <p:cNvSpPr txBox="1"/>
          <p:nvPr/>
        </p:nvSpPr>
        <p:spPr>
          <a:xfrm>
            <a:off x="396010" y="1456822"/>
            <a:ext cx="8636478" cy="707886"/>
          </a:xfrm>
          <a:prstGeom prst="rect">
            <a:avLst/>
          </a:prstGeom>
          <a:noFill/>
        </p:spPr>
        <p:txBody>
          <a:bodyPr wrap="square" rtlCol="0">
            <a:spAutoFit/>
          </a:bodyPr>
          <a:lstStyle/>
          <a:p>
            <a:r>
              <a:rPr lang="en-AU" sz="2000" b="1" dirty="0"/>
              <a:t>Attachment Theory </a:t>
            </a:r>
            <a:r>
              <a:rPr lang="en-AU" sz="2000" dirty="0"/>
              <a:t>refers to the studies and models attempting to explain this relationship (Harlow; Bowlby</a:t>
            </a:r>
            <a:r>
              <a:rPr lang="en-AU" sz="2000"/>
              <a:t>; Ainsworth)</a:t>
            </a:r>
            <a:endParaRPr lang="en-AU" sz="2000" b="1" dirty="0"/>
          </a:p>
        </p:txBody>
      </p:sp>
      <p:pic>
        <p:nvPicPr>
          <p:cNvPr id="12" name="Picture 11">
            <a:extLst>
              <a:ext uri="{FF2B5EF4-FFF2-40B4-BE49-F238E27FC236}">
                <a16:creationId xmlns:a16="http://schemas.microsoft.com/office/drawing/2014/main" id="{4A5A9AA8-4EF3-4E43-832A-341DC2E1E64E}"/>
              </a:ext>
            </a:extLst>
          </p:cNvPr>
          <p:cNvPicPr>
            <a:picLocks noChangeAspect="1"/>
          </p:cNvPicPr>
          <p:nvPr/>
        </p:nvPicPr>
        <p:blipFill>
          <a:blip r:embed="rId2"/>
          <a:stretch>
            <a:fillRect/>
          </a:stretch>
        </p:blipFill>
        <p:spPr>
          <a:xfrm>
            <a:off x="9122799" y="1027880"/>
            <a:ext cx="2996246" cy="1994692"/>
          </a:xfrm>
          <a:prstGeom prst="rect">
            <a:avLst/>
          </a:prstGeom>
        </p:spPr>
      </p:pic>
      <p:pic>
        <p:nvPicPr>
          <p:cNvPr id="13" name="Picture 12">
            <a:extLst>
              <a:ext uri="{FF2B5EF4-FFF2-40B4-BE49-F238E27FC236}">
                <a16:creationId xmlns:a16="http://schemas.microsoft.com/office/drawing/2014/main" id="{14C654E1-4E15-9F48-9179-DC51A72B1866}"/>
              </a:ext>
            </a:extLst>
          </p:cNvPr>
          <p:cNvPicPr>
            <a:picLocks noChangeAspect="1"/>
          </p:cNvPicPr>
          <p:nvPr/>
        </p:nvPicPr>
        <p:blipFill>
          <a:blip r:embed="rId3"/>
          <a:stretch>
            <a:fillRect/>
          </a:stretch>
        </p:blipFill>
        <p:spPr>
          <a:xfrm>
            <a:off x="9122799" y="3022572"/>
            <a:ext cx="2995562" cy="1994692"/>
          </a:xfrm>
          <a:prstGeom prst="rect">
            <a:avLst/>
          </a:prstGeom>
        </p:spPr>
      </p:pic>
    </p:spTree>
    <p:extLst>
      <p:ext uri="{BB962C8B-B14F-4D97-AF65-F5344CB8AC3E}">
        <p14:creationId xmlns:p14="http://schemas.microsoft.com/office/powerpoint/2010/main" val="758994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1816101" y="0"/>
            <a:ext cx="4724400"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3600" b="1" dirty="0">
                <a:solidFill>
                  <a:srgbClr val="305289"/>
                </a:solidFill>
                <a:latin typeface="+mj-lt"/>
                <a:ea typeface="+mj-ea"/>
                <a:cs typeface="+mj-cs"/>
              </a:rPr>
              <a:t>Attachment Theory</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178150"/>
          <a:ext cx="3331688" cy="74168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infancy</a:t>
                      </a:r>
                      <a:r>
                        <a:rPr lang="en-AU" sz="1400" b="0" baseline="0" dirty="0"/>
                        <a:t>: roughly the first year of life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2" name="TextBox 1">
            <a:extLst>
              <a:ext uri="{FF2B5EF4-FFF2-40B4-BE49-F238E27FC236}">
                <a16:creationId xmlns:a16="http://schemas.microsoft.com/office/drawing/2014/main" id="{88805E46-B589-2944-AAEF-58457BCB6E31}"/>
              </a:ext>
            </a:extLst>
          </p:cNvPr>
          <p:cNvSpPr txBox="1"/>
          <p:nvPr/>
        </p:nvSpPr>
        <p:spPr>
          <a:xfrm>
            <a:off x="396010" y="596571"/>
            <a:ext cx="8324244" cy="830997"/>
          </a:xfrm>
          <a:prstGeom prst="rect">
            <a:avLst/>
          </a:prstGeom>
          <a:solidFill>
            <a:schemeClr val="accent4">
              <a:lumMod val="60000"/>
              <a:lumOff val="40000"/>
            </a:schemeClr>
          </a:solidFill>
        </p:spPr>
        <p:txBody>
          <a:bodyPr wrap="square" rtlCol="0">
            <a:spAutoFit/>
          </a:bodyPr>
          <a:lstStyle/>
          <a:p>
            <a:r>
              <a:rPr lang="en-AU" sz="2400" b="1" dirty="0"/>
              <a:t>Attachment</a:t>
            </a:r>
            <a:r>
              <a:rPr lang="en-AU" sz="2400" dirty="0"/>
              <a:t> refers to the close emotional bond or relationship between an infant and the mother (or primary caregiver). </a:t>
            </a:r>
          </a:p>
        </p:txBody>
      </p:sp>
      <p:sp>
        <p:nvSpPr>
          <p:cNvPr id="7" name="TextBox 6">
            <a:extLst>
              <a:ext uri="{FF2B5EF4-FFF2-40B4-BE49-F238E27FC236}">
                <a16:creationId xmlns:a16="http://schemas.microsoft.com/office/drawing/2014/main" id="{8B4D07DD-8354-2247-892E-BE279A2782FC}"/>
              </a:ext>
            </a:extLst>
          </p:cNvPr>
          <p:cNvSpPr txBox="1"/>
          <p:nvPr/>
        </p:nvSpPr>
        <p:spPr>
          <a:xfrm>
            <a:off x="396010" y="1456822"/>
            <a:ext cx="8636478" cy="707886"/>
          </a:xfrm>
          <a:prstGeom prst="rect">
            <a:avLst/>
          </a:prstGeom>
          <a:noFill/>
        </p:spPr>
        <p:txBody>
          <a:bodyPr wrap="square" rtlCol="0">
            <a:spAutoFit/>
          </a:bodyPr>
          <a:lstStyle/>
          <a:p>
            <a:r>
              <a:rPr lang="en-AU" sz="2000" b="1" dirty="0"/>
              <a:t>Attachment Theory </a:t>
            </a:r>
            <a:r>
              <a:rPr lang="en-AU" sz="2000" dirty="0"/>
              <a:t>refers to the studies and models attempting to explain this relationship (Harlow; Bowlby</a:t>
            </a:r>
            <a:r>
              <a:rPr lang="en-AU" sz="2000"/>
              <a:t>; Ainsworth)</a:t>
            </a:r>
            <a:endParaRPr lang="en-AU" sz="2000" b="1" dirty="0"/>
          </a:p>
        </p:txBody>
      </p:sp>
      <p:pic>
        <p:nvPicPr>
          <p:cNvPr id="4" name="Picture 3">
            <a:extLst>
              <a:ext uri="{FF2B5EF4-FFF2-40B4-BE49-F238E27FC236}">
                <a16:creationId xmlns:a16="http://schemas.microsoft.com/office/drawing/2014/main" id="{7096D235-CF8E-6D45-8B62-6D7897413E37}"/>
              </a:ext>
            </a:extLst>
          </p:cNvPr>
          <p:cNvPicPr>
            <a:picLocks noChangeAspect="1"/>
          </p:cNvPicPr>
          <p:nvPr/>
        </p:nvPicPr>
        <p:blipFill>
          <a:blip r:embed="rId2"/>
          <a:stretch>
            <a:fillRect/>
          </a:stretch>
        </p:blipFill>
        <p:spPr>
          <a:xfrm>
            <a:off x="430095" y="2294464"/>
            <a:ext cx="3748206" cy="2089266"/>
          </a:xfrm>
          <a:prstGeom prst="rect">
            <a:avLst/>
          </a:prstGeom>
        </p:spPr>
      </p:pic>
      <p:pic>
        <p:nvPicPr>
          <p:cNvPr id="5" name="Picture 4">
            <a:extLst>
              <a:ext uri="{FF2B5EF4-FFF2-40B4-BE49-F238E27FC236}">
                <a16:creationId xmlns:a16="http://schemas.microsoft.com/office/drawing/2014/main" id="{5328E669-6DC4-404B-BCA4-0224D1B735AB}"/>
              </a:ext>
            </a:extLst>
          </p:cNvPr>
          <p:cNvPicPr>
            <a:picLocks noChangeAspect="1"/>
          </p:cNvPicPr>
          <p:nvPr/>
        </p:nvPicPr>
        <p:blipFill>
          <a:blip r:embed="rId3"/>
          <a:stretch>
            <a:fillRect/>
          </a:stretch>
        </p:blipFill>
        <p:spPr>
          <a:xfrm>
            <a:off x="4326526" y="2294464"/>
            <a:ext cx="4354818" cy="2728098"/>
          </a:xfrm>
          <a:prstGeom prst="rect">
            <a:avLst/>
          </a:prstGeom>
        </p:spPr>
      </p:pic>
      <p:pic>
        <p:nvPicPr>
          <p:cNvPr id="6" name="Picture 5">
            <a:extLst>
              <a:ext uri="{FF2B5EF4-FFF2-40B4-BE49-F238E27FC236}">
                <a16:creationId xmlns:a16="http://schemas.microsoft.com/office/drawing/2014/main" id="{7B85764C-76A4-0A46-9F5D-0B13AEB746D6}"/>
              </a:ext>
            </a:extLst>
          </p:cNvPr>
          <p:cNvPicPr>
            <a:picLocks noChangeAspect="1"/>
          </p:cNvPicPr>
          <p:nvPr/>
        </p:nvPicPr>
        <p:blipFill>
          <a:blip r:embed="rId4"/>
          <a:stretch>
            <a:fillRect/>
          </a:stretch>
        </p:blipFill>
        <p:spPr>
          <a:xfrm>
            <a:off x="8860312" y="2209939"/>
            <a:ext cx="2932336" cy="2897148"/>
          </a:xfrm>
          <a:prstGeom prst="rect">
            <a:avLst/>
          </a:prstGeom>
        </p:spPr>
      </p:pic>
    </p:spTree>
    <p:extLst>
      <p:ext uri="{BB962C8B-B14F-4D97-AF65-F5344CB8AC3E}">
        <p14:creationId xmlns:p14="http://schemas.microsoft.com/office/powerpoint/2010/main" val="77786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1816101" y="0"/>
            <a:ext cx="4724400"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3600" b="1" dirty="0">
                <a:solidFill>
                  <a:srgbClr val="305289"/>
                </a:solidFill>
                <a:latin typeface="+mj-lt"/>
                <a:ea typeface="+mj-ea"/>
                <a:cs typeface="+mj-cs"/>
              </a:rPr>
              <a:t>Attachment Theory</a:t>
            </a:r>
            <a:endParaRPr lang="en-US" sz="32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113463"/>
          <a:ext cx="3331688" cy="74168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infancy</a:t>
                      </a:r>
                      <a:r>
                        <a:rPr lang="en-AU" sz="1400" b="0" baseline="0" dirty="0"/>
                        <a:t>: roughly the first year of life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3072541256"/>
              </p:ext>
            </p:extLst>
          </p:nvPr>
        </p:nvGraphicFramePr>
        <p:xfrm>
          <a:off x="9958040" y="3903059"/>
          <a:ext cx="2233960" cy="2621280"/>
        </p:xfrm>
        <a:graphic>
          <a:graphicData uri="http://schemas.openxmlformats.org/drawingml/2006/table">
            <a:tbl>
              <a:tblPr firstRow="1" bandRow="1">
                <a:tableStyleId>{5C22544A-7EE6-4342-B048-85BDC9FD1C3A}</a:tableStyleId>
              </a:tblPr>
              <a:tblGrid>
                <a:gridCol w="2233960">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a:t>According to Freud, why do infants become attached to their mothers?</a:t>
                      </a:r>
                    </a:p>
                    <a:p>
                      <a:pPr marL="342900" indent="-342900">
                        <a:buFont typeface="+mj-lt"/>
                        <a:buAutoNum type="arabicPeriod"/>
                      </a:pPr>
                      <a:r>
                        <a:rPr lang="en-AU" sz="1600" b="0" baseline="0" dirty="0"/>
                        <a:t>Why did Harlow suggest that Freud’s theory was incorrect?</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4" name="TextBox 3">
            <a:extLst>
              <a:ext uri="{FF2B5EF4-FFF2-40B4-BE49-F238E27FC236}">
                <a16:creationId xmlns:a16="http://schemas.microsoft.com/office/drawing/2014/main" id="{FFA15FF7-DAB8-E745-85CE-A1BCD46227A3}"/>
              </a:ext>
            </a:extLst>
          </p:cNvPr>
          <p:cNvSpPr txBox="1"/>
          <p:nvPr/>
        </p:nvSpPr>
        <p:spPr>
          <a:xfrm>
            <a:off x="396010" y="1311034"/>
            <a:ext cx="5926731" cy="5324535"/>
          </a:xfrm>
          <a:prstGeom prst="rect">
            <a:avLst/>
          </a:prstGeom>
          <a:noFill/>
        </p:spPr>
        <p:txBody>
          <a:bodyPr wrap="square" rtlCol="0">
            <a:spAutoFit/>
          </a:bodyPr>
          <a:lstStyle/>
          <a:p>
            <a:pPr marL="342900" indent="-342900">
              <a:buFont typeface="Courier New" panose="02070309020205020404" pitchFamily="49" charset="0"/>
              <a:buChar char="o"/>
            </a:pPr>
            <a:r>
              <a:rPr lang="en-AU" sz="2000" dirty="0"/>
              <a:t>Sigmund Freud suggested that love and stable relationships result from skills that begin to be learned in infancy (rather than from trial-and-error learning). He suggested that an infant’s tie to their mother is the first and the longest relationship, which will in turn act as a basis for future relationships. </a:t>
            </a:r>
            <a:r>
              <a:rPr lang="en-AU" sz="2000" b="1" dirty="0"/>
              <a:t>Freud believed that infants become attached to their mothers because they are providers of oral satisfaction (feeding) and the mother is the person most likely to feed the infant</a:t>
            </a:r>
            <a:r>
              <a:rPr lang="en-AU" sz="2000" dirty="0"/>
              <a:t>. </a:t>
            </a:r>
          </a:p>
          <a:p>
            <a:pPr marL="342900" indent="-342900">
              <a:buFont typeface="Courier New" panose="02070309020205020404" pitchFamily="49" charset="0"/>
              <a:buChar char="o"/>
            </a:pPr>
            <a:endParaRPr lang="en-AU" sz="2000" dirty="0"/>
          </a:p>
          <a:p>
            <a:pPr marL="342900" indent="-342900">
              <a:buFont typeface="Courier New" panose="02070309020205020404" pitchFamily="49" charset="0"/>
              <a:buChar char="o"/>
            </a:pPr>
            <a:r>
              <a:rPr lang="en-AU" sz="2000" dirty="0"/>
              <a:t>Harry Harlow (1958-9) explored the infant monkeys to their mothers. He concluded that Freud’s initial theory that infants formed attachment for oral pleasure was incorrect, and suggested that monkeys formed attachment more for </a:t>
            </a:r>
            <a:r>
              <a:rPr lang="en-AU" sz="2000" b="1" dirty="0"/>
              <a:t>contact comfort </a:t>
            </a:r>
            <a:r>
              <a:rPr lang="en-AU" sz="2000" dirty="0"/>
              <a:t>than for food.</a:t>
            </a:r>
          </a:p>
        </p:txBody>
      </p:sp>
      <p:sp>
        <p:nvSpPr>
          <p:cNvPr id="2" name="TextBox 1">
            <a:extLst>
              <a:ext uri="{FF2B5EF4-FFF2-40B4-BE49-F238E27FC236}">
                <a16:creationId xmlns:a16="http://schemas.microsoft.com/office/drawing/2014/main" id="{88805E46-B589-2944-AAEF-58457BCB6E31}"/>
              </a:ext>
            </a:extLst>
          </p:cNvPr>
          <p:cNvSpPr txBox="1"/>
          <p:nvPr/>
        </p:nvSpPr>
        <p:spPr>
          <a:xfrm>
            <a:off x="396010" y="596571"/>
            <a:ext cx="8324244" cy="646331"/>
          </a:xfrm>
          <a:prstGeom prst="rect">
            <a:avLst/>
          </a:prstGeom>
          <a:solidFill>
            <a:schemeClr val="accent4">
              <a:lumMod val="60000"/>
              <a:lumOff val="40000"/>
            </a:schemeClr>
          </a:solidFill>
        </p:spPr>
        <p:txBody>
          <a:bodyPr wrap="square" rtlCol="0">
            <a:spAutoFit/>
          </a:bodyPr>
          <a:lstStyle/>
          <a:p>
            <a:r>
              <a:rPr lang="en-AU" b="1" dirty="0"/>
              <a:t>Attachment</a:t>
            </a:r>
            <a:r>
              <a:rPr lang="en-AU" dirty="0"/>
              <a:t> refers to the close emotional bond or relationship between an infant and the mother (or primary caregiver). </a:t>
            </a:r>
          </a:p>
        </p:txBody>
      </p:sp>
      <p:pic>
        <p:nvPicPr>
          <p:cNvPr id="5" name="Picture 4">
            <a:extLst>
              <a:ext uri="{FF2B5EF4-FFF2-40B4-BE49-F238E27FC236}">
                <a16:creationId xmlns:a16="http://schemas.microsoft.com/office/drawing/2014/main" id="{ACAF0BFC-DEBF-F44B-8057-0F5C338DD5D9}"/>
              </a:ext>
            </a:extLst>
          </p:cNvPr>
          <p:cNvPicPr>
            <a:picLocks noChangeAspect="1"/>
          </p:cNvPicPr>
          <p:nvPr/>
        </p:nvPicPr>
        <p:blipFill>
          <a:blip r:embed="rId2"/>
          <a:stretch>
            <a:fillRect/>
          </a:stretch>
        </p:blipFill>
        <p:spPr>
          <a:xfrm>
            <a:off x="6322740" y="1451714"/>
            <a:ext cx="3352187" cy="2236106"/>
          </a:xfrm>
          <a:prstGeom prst="rect">
            <a:avLst/>
          </a:prstGeom>
        </p:spPr>
      </p:pic>
      <p:pic>
        <p:nvPicPr>
          <p:cNvPr id="6" name="Picture 5">
            <a:extLst>
              <a:ext uri="{FF2B5EF4-FFF2-40B4-BE49-F238E27FC236}">
                <a16:creationId xmlns:a16="http://schemas.microsoft.com/office/drawing/2014/main" id="{8E9649F4-73E9-DC4D-889C-3C0502D876A4}"/>
              </a:ext>
            </a:extLst>
          </p:cNvPr>
          <p:cNvPicPr>
            <a:picLocks noChangeAspect="1"/>
          </p:cNvPicPr>
          <p:nvPr/>
        </p:nvPicPr>
        <p:blipFill>
          <a:blip r:embed="rId3"/>
          <a:stretch>
            <a:fillRect/>
          </a:stretch>
        </p:blipFill>
        <p:spPr>
          <a:xfrm>
            <a:off x="6322741" y="4288232"/>
            <a:ext cx="3351846" cy="2236107"/>
          </a:xfrm>
          <a:prstGeom prst="rect">
            <a:avLst/>
          </a:prstGeom>
        </p:spPr>
      </p:pic>
    </p:spTree>
    <p:extLst>
      <p:ext uri="{BB962C8B-B14F-4D97-AF65-F5344CB8AC3E}">
        <p14:creationId xmlns:p14="http://schemas.microsoft.com/office/powerpoint/2010/main" val="4288647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074742"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2800" b="1" dirty="0">
                <a:solidFill>
                  <a:srgbClr val="305289"/>
                </a:solidFill>
                <a:latin typeface="+mj-lt"/>
                <a:ea typeface="+mj-ea"/>
                <a:cs typeface="+mj-cs"/>
              </a:rPr>
              <a:t>Attachment Theory – Harlow and his monkeys (1958)</a:t>
            </a:r>
            <a:endParaRPr lang="en-US" sz="24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nvPr>
        </p:nvGraphicFramePr>
        <p:xfrm>
          <a:off x="9047781" y="4853335"/>
          <a:ext cx="3144219" cy="1925320"/>
        </p:xfrm>
        <a:graphic>
          <a:graphicData uri="http://schemas.openxmlformats.org/drawingml/2006/table">
            <a:tbl>
              <a:tblPr firstRow="1" bandRow="1">
                <a:tableStyleId>{5C22544A-7EE6-4342-B048-85BDC9FD1C3A}</a:tableStyleId>
              </a:tblPr>
              <a:tblGrid>
                <a:gridCol w="3144219">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a:t>What was the aim of Harlow’s experiment?</a:t>
                      </a:r>
                    </a:p>
                    <a:p>
                      <a:pPr marL="342900" indent="-342900">
                        <a:buFont typeface="+mj-lt"/>
                        <a:buAutoNum type="arabicPeriod"/>
                      </a:pPr>
                      <a:r>
                        <a:rPr lang="en-AU" sz="1600" b="0" baseline="0" dirty="0"/>
                        <a:t>Identify the IV and the DV. </a:t>
                      </a:r>
                    </a:p>
                    <a:p>
                      <a:pPr marL="342900" indent="-342900">
                        <a:buFont typeface="+mj-lt"/>
                        <a:buAutoNum type="arabicPeriod"/>
                      </a:pPr>
                      <a:r>
                        <a:rPr lang="en-AU" sz="1600" b="0" baseline="0" dirty="0"/>
                        <a:t>Outline the procedure Harlow followed to test the effect of the IV on the DV.</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4" name="TextBox 3">
            <a:extLst>
              <a:ext uri="{FF2B5EF4-FFF2-40B4-BE49-F238E27FC236}">
                <a16:creationId xmlns:a16="http://schemas.microsoft.com/office/drawing/2014/main" id="{FFA15FF7-DAB8-E745-85CE-A1BCD46227A3}"/>
              </a:ext>
            </a:extLst>
          </p:cNvPr>
          <p:cNvSpPr txBox="1"/>
          <p:nvPr/>
        </p:nvSpPr>
        <p:spPr>
          <a:xfrm>
            <a:off x="397061" y="592346"/>
            <a:ext cx="8329536" cy="6186309"/>
          </a:xfrm>
          <a:prstGeom prst="rect">
            <a:avLst/>
          </a:prstGeom>
          <a:noFill/>
        </p:spPr>
        <p:txBody>
          <a:bodyPr wrap="square" rtlCol="0">
            <a:spAutoFit/>
          </a:bodyPr>
          <a:lstStyle/>
          <a:p>
            <a:pPr marL="342900" indent="-342900">
              <a:buFont typeface="Courier New" panose="02070309020205020404" pitchFamily="49" charset="0"/>
              <a:buChar char="o"/>
            </a:pPr>
            <a:r>
              <a:rPr lang="en-AU" dirty="0"/>
              <a:t>Psychologist Harry Harlow investigated the factors influencing the development of attachments (emotional bonds) of infant rhesus monkeys to their mothers. In 1958, using 8 infant rhesus monkeys that had been separated from their mother at birth, he studied the role of feeding in infant-mother attachment.</a:t>
            </a:r>
          </a:p>
          <a:p>
            <a:pPr marL="342900" indent="-342900">
              <a:buFont typeface="Courier New" panose="02070309020205020404" pitchFamily="49" charset="0"/>
              <a:buChar char="o"/>
            </a:pPr>
            <a:r>
              <a:rPr lang="en-AU" dirty="0"/>
              <a:t>Method:</a:t>
            </a:r>
          </a:p>
          <a:p>
            <a:pPr marL="800100" lvl="1" indent="-342900">
              <a:buFont typeface="Wingdings" pitchFamily="2" charset="2"/>
              <a:buChar char="§"/>
            </a:pPr>
            <a:r>
              <a:rPr lang="en-AU" dirty="0"/>
              <a:t>8 monkeys were taken from their mothers at birth and kept in cages containing two surrogate mothers</a:t>
            </a:r>
          </a:p>
          <a:p>
            <a:pPr marL="800100" lvl="1" indent="-342900">
              <a:buFont typeface="Wingdings" pitchFamily="2" charset="2"/>
              <a:buChar char="§"/>
            </a:pPr>
            <a:r>
              <a:rPr lang="en-AU" dirty="0"/>
              <a:t>The two surrogate mothers were roughly the same size and shape as the real monkey mothers and made of wire mesh. </a:t>
            </a:r>
            <a:r>
              <a:rPr lang="en-AU" b="1" dirty="0"/>
              <a:t>One of the surrogate mothers was covered in towelling fabric and the other was left uncovered</a:t>
            </a:r>
            <a:r>
              <a:rPr lang="en-AU" dirty="0"/>
              <a:t>. </a:t>
            </a:r>
          </a:p>
          <a:p>
            <a:pPr marL="800100" lvl="1" indent="-342900">
              <a:buFont typeface="Wingdings" pitchFamily="2" charset="2"/>
              <a:buChar char="§"/>
            </a:pPr>
            <a:r>
              <a:rPr lang="en-AU" dirty="0"/>
              <a:t>A feeding bottle was attached to each surrogate in the same area where the breast would be on a real mother. </a:t>
            </a:r>
          </a:p>
          <a:p>
            <a:pPr marL="800100" lvl="1" indent="-342900">
              <a:buFont typeface="Wingdings" pitchFamily="2" charset="2"/>
              <a:buChar char="§"/>
            </a:pPr>
            <a:r>
              <a:rPr lang="en-AU" dirty="0"/>
              <a:t>4 of the monkeys were placed in cages with the feeding bottle on the cloth surrogate and the other 4 in cages with the feeding bottle on the wire surrogate. </a:t>
            </a:r>
          </a:p>
          <a:p>
            <a:pPr marL="800100" lvl="1" indent="-342900">
              <a:buFont typeface="Wingdings" pitchFamily="2" charset="2"/>
              <a:buChar char="§"/>
            </a:pPr>
            <a:r>
              <a:rPr lang="en-AU" dirty="0"/>
              <a:t>The monkeys were not placed in cages with other infants, as they may have preferred to comfort each other. </a:t>
            </a:r>
          </a:p>
          <a:p>
            <a:pPr marL="800100" lvl="1" indent="-342900">
              <a:buFont typeface="Wingdings" pitchFamily="2" charset="2"/>
              <a:buChar char="§"/>
            </a:pPr>
            <a:endParaRPr lang="en-AU" dirty="0"/>
          </a:p>
          <a:p>
            <a:pPr marL="342900" indent="-342900">
              <a:buFont typeface="Courier New" panose="02070309020205020404" pitchFamily="49" charset="0"/>
              <a:buChar char="o"/>
            </a:pPr>
            <a:r>
              <a:rPr lang="en-AU" dirty="0"/>
              <a:t>If an infant’s attachment to its mother was based primarily on feeding (Freud), the infant monkeys should have preferred and become attached to whichever surrogate mother had the bottle</a:t>
            </a:r>
          </a:p>
          <a:p>
            <a:pPr marL="800100" lvl="1" indent="-342900">
              <a:buFont typeface="Wingdings" pitchFamily="2" charset="2"/>
              <a:buChar char="§"/>
            </a:pPr>
            <a:endParaRPr lang="en-AU" dirty="0"/>
          </a:p>
        </p:txBody>
      </p:sp>
      <p:pic>
        <p:nvPicPr>
          <p:cNvPr id="3" name="Picture 2">
            <a:extLst>
              <a:ext uri="{FF2B5EF4-FFF2-40B4-BE49-F238E27FC236}">
                <a16:creationId xmlns:a16="http://schemas.microsoft.com/office/drawing/2014/main" id="{AABD4B19-665A-1048-8044-1D85D54D28E3}"/>
              </a:ext>
            </a:extLst>
          </p:cNvPr>
          <p:cNvPicPr>
            <a:picLocks noChangeAspect="1"/>
          </p:cNvPicPr>
          <p:nvPr/>
        </p:nvPicPr>
        <p:blipFill>
          <a:blip r:embed="rId2"/>
          <a:stretch>
            <a:fillRect/>
          </a:stretch>
        </p:blipFill>
        <p:spPr>
          <a:xfrm>
            <a:off x="9234738" y="2306309"/>
            <a:ext cx="2770304" cy="2547026"/>
          </a:xfrm>
          <a:prstGeom prst="rect">
            <a:avLst/>
          </a:prstGeom>
        </p:spPr>
      </p:pic>
    </p:spTree>
    <p:extLst>
      <p:ext uri="{BB962C8B-B14F-4D97-AF65-F5344CB8AC3E}">
        <p14:creationId xmlns:p14="http://schemas.microsoft.com/office/powerpoint/2010/main" val="2271760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182A0C8-0290-A841-A067-720B081611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3710" y="2874968"/>
            <a:ext cx="5149724" cy="3983032"/>
          </a:xfrm>
          <a:prstGeom prst="rect">
            <a:avLst/>
          </a:prstGeom>
        </p:spPr>
      </p:pic>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074742"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2400" b="1" dirty="0">
                <a:solidFill>
                  <a:srgbClr val="305289"/>
                </a:solidFill>
                <a:latin typeface="+mj-lt"/>
                <a:ea typeface="+mj-ea"/>
                <a:cs typeface="+mj-cs"/>
              </a:rPr>
              <a:t>Attachment Theory – Harlow and his monkeys (1958)</a:t>
            </a:r>
            <a:endParaRPr lang="en-US" sz="20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1651048952"/>
              </p:ext>
            </p:extLst>
          </p:nvPr>
        </p:nvGraphicFramePr>
        <p:xfrm>
          <a:off x="9051835" y="5571482"/>
          <a:ext cx="3144219" cy="949960"/>
        </p:xfrm>
        <a:graphic>
          <a:graphicData uri="http://schemas.openxmlformats.org/drawingml/2006/table">
            <a:tbl>
              <a:tblPr firstRow="1" bandRow="1">
                <a:tableStyleId>{5C22544A-7EE6-4342-B048-85BDC9FD1C3A}</a:tableStyleId>
              </a:tblPr>
              <a:tblGrid>
                <a:gridCol w="3144219">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a:t>Explain Harlow’s findings from this first stage of his study.</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4" name="TextBox 3">
            <a:extLst>
              <a:ext uri="{FF2B5EF4-FFF2-40B4-BE49-F238E27FC236}">
                <a16:creationId xmlns:a16="http://schemas.microsoft.com/office/drawing/2014/main" id="{FFA15FF7-DAB8-E745-85CE-A1BCD46227A3}"/>
              </a:ext>
            </a:extLst>
          </p:cNvPr>
          <p:cNvSpPr txBox="1"/>
          <p:nvPr/>
        </p:nvSpPr>
        <p:spPr>
          <a:xfrm>
            <a:off x="294274" y="413308"/>
            <a:ext cx="8329536" cy="2554545"/>
          </a:xfrm>
          <a:prstGeom prst="rect">
            <a:avLst/>
          </a:prstGeom>
          <a:noFill/>
        </p:spPr>
        <p:txBody>
          <a:bodyPr wrap="square" rtlCol="0">
            <a:spAutoFit/>
          </a:bodyPr>
          <a:lstStyle/>
          <a:p>
            <a:r>
              <a:rPr lang="en-AU" sz="2000" b="1" u="sng" dirty="0"/>
              <a:t>Results:</a:t>
            </a:r>
          </a:p>
          <a:p>
            <a:pPr marL="342900" indent="-342900">
              <a:buFont typeface="Courier New" panose="02070309020205020404" pitchFamily="49" charset="0"/>
              <a:buChar char="o"/>
            </a:pPr>
            <a:r>
              <a:rPr lang="en-AU" sz="2000" dirty="0"/>
              <a:t>Regardless of which surrogate provided the nourishment, the cloth surrogate was preferred to the wire surrogate</a:t>
            </a:r>
          </a:p>
          <a:p>
            <a:pPr marL="742950" lvl="1" indent="-285750">
              <a:buFont typeface="Arial" panose="020B0604020202020204" pitchFamily="34" charset="0"/>
              <a:buChar char="•"/>
            </a:pPr>
            <a:r>
              <a:rPr lang="en-AU" sz="2000" dirty="0"/>
              <a:t>None of the monkeys would spend more than one or two hours in any 24-hour period on the wire surrogate</a:t>
            </a:r>
          </a:p>
          <a:p>
            <a:pPr marL="742950" lvl="1" indent="-285750">
              <a:buFont typeface="Arial" panose="020B0604020202020204" pitchFamily="34" charset="0"/>
              <a:buChar char="•"/>
            </a:pPr>
            <a:r>
              <a:rPr lang="en-AU" sz="2000" dirty="0"/>
              <a:t>The infants in the two groups drank the same amount of milk and gained weight at the same rate, all 8 monkeys were spending approximately 15 hours a day in contact with the cloth surrogate</a:t>
            </a:r>
          </a:p>
        </p:txBody>
      </p:sp>
      <p:pic>
        <p:nvPicPr>
          <p:cNvPr id="3" name="Picture 2">
            <a:extLst>
              <a:ext uri="{FF2B5EF4-FFF2-40B4-BE49-F238E27FC236}">
                <a16:creationId xmlns:a16="http://schemas.microsoft.com/office/drawing/2014/main" id="{AABD4B19-665A-1048-8044-1D85D54D28E3}"/>
              </a:ext>
            </a:extLst>
          </p:cNvPr>
          <p:cNvPicPr>
            <a:picLocks noChangeAspect="1"/>
          </p:cNvPicPr>
          <p:nvPr/>
        </p:nvPicPr>
        <p:blipFill>
          <a:blip r:embed="rId3"/>
          <a:stretch>
            <a:fillRect/>
          </a:stretch>
        </p:blipFill>
        <p:spPr>
          <a:xfrm>
            <a:off x="9234738" y="2306309"/>
            <a:ext cx="2770304" cy="2547026"/>
          </a:xfrm>
          <a:prstGeom prst="rect">
            <a:avLst/>
          </a:prstGeom>
        </p:spPr>
      </p:pic>
      <p:pic>
        <p:nvPicPr>
          <p:cNvPr id="7" name="Picture 6">
            <a:extLst>
              <a:ext uri="{FF2B5EF4-FFF2-40B4-BE49-F238E27FC236}">
                <a16:creationId xmlns:a16="http://schemas.microsoft.com/office/drawing/2014/main" id="{A9589568-7BE5-C948-9490-F692391A30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366" y="3025349"/>
            <a:ext cx="4645051" cy="3655971"/>
          </a:xfrm>
          <a:prstGeom prst="rect">
            <a:avLst/>
          </a:prstGeom>
        </p:spPr>
      </p:pic>
    </p:spTree>
    <p:extLst>
      <p:ext uri="{BB962C8B-B14F-4D97-AF65-F5344CB8AC3E}">
        <p14:creationId xmlns:p14="http://schemas.microsoft.com/office/powerpoint/2010/main" val="2023803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074742"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2800" b="1" dirty="0">
                <a:solidFill>
                  <a:srgbClr val="305289"/>
                </a:solidFill>
                <a:latin typeface="+mj-lt"/>
                <a:ea typeface="+mj-ea"/>
                <a:cs typeface="+mj-cs"/>
              </a:rPr>
              <a:t>Attachment Theory – Harlow and his monkeys (1958)</a:t>
            </a:r>
            <a:endParaRPr lang="en-US" sz="24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1868774650"/>
              </p:ext>
            </p:extLst>
          </p:nvPr>
        </p:nvGraphicFramePr>
        <p:xfrm>
          <a:off x="8860312" y="5260925"/>
          <a:ext cx="3383280" cy="143764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a:t>Why did Harlow introduce ‘stressors’ to the experiment?</a:t>
                      </a:r>
                    </a:p>
                    <a:p>
                      <a:pPr marL="342900" indent="-342900">
                        <a:buFont typeface="+mj-lt"/>
                        <a:buAutoNum type="arabicPeriod"/>
                      </a:pPr>
                      <a:r>
                        <a:rPr lang="en-AU" sz="1600" b="0" baseline="0" dirty="0"/>
                        <a:t>Explain his findings after he had introduced the stressors.</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4" name="TextBox 3">
            <a:extLst>
              <a:ext uri="{FF2B5EF4-FFF2-40B4-BE49-F238E27FC236}">
                <a16:creationId xmlns:a16="http://schemas.microsoft.com/office/drawing/2014/main" id="{FFA15FF7-DAB8-E745-85CE-A1BCD46227A3}"/>
              </a:ext>
            </a:extLst>
          </p:cNvPr>
          <p:cNvSpPr txBox="1"/>
          <p:nvPr/>
        </p:nvSpPr>
        <p:spPr>
          <a:xfrm>
            <a:off x="397061" y="592346"/>
            <a:ext cx="8329536" cy="1323439"/>
          </a:xfrm>
          <a:prstGeom prst="rect">
            <a:avLst/>
          </a:prstGeom>
          <a:noFill/>
        </p:spPr>
        <p:txBody>
          <a:bodyPr wrap="square" rtlCol="0">
            <a:spAutoFit/>
          </a:bodyPr>
          <a:lstStyle/>
          <a:p>
            <a:r>
              <a:rPr lang="en-AU" sz="2000" b="1" u="sng" dirty="0"/>
              <a:t>Adding ‘stressors’</a:t>
            </a:r>
            <a:endParaRPr lang="en-AU" sz="2000" dirty="0"/>
          </a:p>
          <a:p>
            <a:r>
              <a:rPr lang="en-AU" sz="2000" dirty="0"/>
              <a:t>To examine what would happen if the monkeys were scared or stressed, Harlow introduced a ‘stressor’ – a mechanical moving spider and a teddy bear that beat a drum in the cages with the monkey.</a:t>
            </a:r>
          </a:p>
        </p:txBody>
      </p:sp>
      <p:pic>
        <p:nvPicPr>
          <p:cNvPr id="5" name="Picture 4"/>
          <p:cNvPicPr>
            <a:picLocks noChangeAspect="1"/>
          </p:cNvPicPr>
          <p:nvPr/>
        </p:nvPicPr>
        <p:blipFill>
          <a:blip r:embed="rId2"/>
          <a:stretch>
            <a:fillRect/>
          </a:stretch>
        </p:blipFill>
        <p:spPr>
          <a:xfrm>
            <a:off x="4125890" y="2389693"/>
            <a:ext cx="4433887" cy="2966673"/>
          </a:xfrm>
          <a:prstGeom prst="rect">
            <a:avLst/>
          </a:prstGeom>
        </p:spPr>
      </p:pic>
      <p:sp>
        <p:nvSpPr>
          <p:cNvPr id="6" name="Rectangle 5"/>
          <p:cNvSpPr/>
          <p:nvPr/>
        </p:nvSpPr>
        <p:spPr>
          <a:xfrm>
            <a:off x="327718" y="1915785"/>
            <a:ext cx="3733800" cy="4708981"/>
          </a:xfrm>
          <a:prstGeom prst="rect">
            <a:avLst/>
          </a:prstGeom>
        </p:spPr>
        <p:txBody>
          <a:bodyPr wrap="square">
            <a:spAutoFit/>
          </a:bodyPr>
          <a:lstStyle/>
          <a:p>
            <a:r>
              <a:rPr lang="en-AU" sz="2000" b="1" u="sng" dirty="0"/>
              <a:t>Findings:</a:t>
            </a:r>
          </a:p>
          <a:p>
            <a:pPr marL="285750" indent="-285750">
              <a:buFont typeface="Courier New" panose="02070309020205020404" pitchFamily="49" charset="0"/>
              <a:buChar char="o"/>
            </a:pPr>
            <a:r>
              <a:rPr lang="en-AU" sz="2000" dirty="0"/>
              <a:t>The results were that the terrified monkey would seek comfort from the cloth surrogate, regardless of whether or not it had the feed bottle, by rubbing its body against the cloth surrogate. </a:t>
            </a:r>
          </a:p>
          <a:p>
            <a:pPr marL="285750" indent="-285750">
              <a:buFont typeface="Courier New" panose="02070309020205020404" pitchFamily="49" charset="0"/>
              <a:buChar char="o"/>
            </a:pPr>
            <a:r>
              <a:rPr lang="en-AU" sz="2000" dirty="0"/>
              <a:t>If by chance the monkey fled in terror to the wire surrogate, it would soon leave it for the cloth surrogate, even of the wire surrogate had the feed bottle.</a:t>
            </a:r>
          </a:p>
          <a:p>
            <a:pPr marL="742950" lvl="1" indent="-285750">
              <a:buFont typeface="Arial" panose="020B0604020202020204" pitchFamily="34" charset="0"/>
              <a:buChar char="•"/>
            </a:pPr>
            <a:endParaRPr lang="en-AU" sz="2000" dirty="0"/>
          </a:p>
        </p:txBody>
      </p:sp>
    </p:spTree>
    <p:extLst>
      <p:ext uri="{BB962C8B-B14F-4D97-AF65-F5344CB8AC3E}">
        <p14:creationId xmlns:p14="http://schemas.microsoft.com/office/powerpoint/2010/main" val="67355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074742"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2800" b="1" dirty="0">
                <a:solidFill>
                  <a:srgbClr val="305289"/>
                </a:solidFill>
                <a:latin typeface="+mj-lt"/>
                <a:ea typeface="+mj-ea"/>
                <a:cs typeface="+mj-cs"/>
              </a:rPr>
              <a:t>Attachment Theory – Harlow and his monkeys (1958)</a:t>
            </a:r>
            <a:endParaRPr lang="en-US" sz="24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pic>
        <p:nvPicPr>
          <p:cNvPr id="2" name="Harlow's Monkeys">
            <a:hlinkClick r:id="" action="ppaction://media"/>
            <a:extLst>
              <a:ext uri="{FF2B5EF4-FFF2-40B4-BE49-F238E27FC236}">
                <a16:creationId xmlns:a16="http://schemas.microsoft.com/office/drawing/2014/main" id="{E636176B-959E-CD44-9052-0863EB63003B}"/>
              </a:ext>
            </a:extLst>
          </p:cNvPr>
          <p:cNvPicPr>
            <a:picLocks noRot="1" noChangeAspect="1"/>
          </p:cNvPicPr>
          <p:nvPr>
            <a:videoFile r:link="rId1"/>
          </p:nvPr>
        </p:nvPicPr>
        <p:blipFill>
          <a:blip r:embed="rId3"/>
          <a:stretch>
            <a:fillRect/>
          </a:stretch>
        </p:blipFill>
        <p:spPr>
          <a:xfrm>
            <a:off x="583115" y="715009"/>
            <a:ext cx="7839509" cy="5875362"/>
          </a:xfrm>
          <a:prstGeom prst="rect">
            <a:avLst/>
          </a:prstGeom>
        </p:spPr>
      </p:pic>
    </p:spTree>
    <p:extLst>
      <p:ext uri="{BB962C8B-B14F-4D97-AF65-F5344CB8AC3E}">
        <p14:creationId xmlns:p14="http://schemas.microsoft.com/office/powerpoint/2010/main" val="268847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074742"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2800" b="1" dirty="0">
                <a:solidFill>
                  <a:srgbClr val="305289"/>
                </a:solidFill>
                <a:latin typeface="+mj-lt"/>
                <a:ea typeface="+mj-ea"/>
                <a:cs typeface="+mj-cs"/>
              </a:rPr>
              <a:t>Attachment Theory – Harlow and his monkeys (1958)</a:t>
            </a:r>
            <a:endParaRPr lang="en-US" sz="24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nvPr>
        </p:nvGraphicFramePr>
        <p:xfrm>
          <a:off x="8808720" y="4605605"/>
          <a:ext cx="3383280" cy="119380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a:t>Explain Harlow’s conclusion. </a:t>
                      </a:r>
                    </a:p>
                    <a:p>
                      <a:pPr marL="342900" indent="-342900">
                        <a:buFont typeface="+mj-lt"/>
                        <a:buAutoNum type="arabicPeriod"/>
                      </a:pPr>
                      <a:r>
                        <a:rPr lang="en-AU" sz="1600" b="0" baseline="0" dirty="0"/>
                        <a:t>How did Harlow relate his conclusion to human behaviour?</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4" name="TextBox 3">
            <a:extLst>
              <a:ext uri="{FF2B5EF4-FFF2-40B4-BE49-F238E27FC236}">
                <a16:creationId xmlns:a16="http://schemas.microsoft.com/office/drawing/2014/main" id="{FFA15FF7-DAB8-E745-85CE-A1BCD46227A3}"/>
              </a:ext>
            </a:extLst>
          </p:cNvPr>
          <p:cNvSpPr txBox="1"/>
          <p:nvPr/>
        </p:nvSpPr>
        <p:spPr>
          <a:xfrm>
            <a:off x="397061" y="592346"/>
            <a:ext cx="7040059" cy="5632311"/>
          </a:xfrm>
          <a:prstGeom prst="rect">
            <a:avLst/>
          </a:prstGeom>
          <a:noFill/>
        </p:spPr>
        <p:txBody>
          <a:bodyPr wrap="square" rtlCol="0">
            <a:spAutoFit/>
          </a:bodyPr>
          <a:lstStyle/>
          <a:p>
            <a:pPr algn="ctr"/>
            <a:r>
              <a:rPr lang="en-AU" sz="4000" b="1" u="sng"/>
              <a:t>Harlow’s conclusions</a:t>
            </a:r>
            <a:endParaRPr lang="en-AU" sz="4000" dirty="0"/>
          </a:p>
          <a:p>
            <a:pPr marL="457200" indent="-457200">
              <a:buFont typeface="Courier New" panose="02070309020205020404" pitchFamily="49" charset="0"/>
              <a:buChar char="o"/>
            </a:pPr>
            <a:r>
              <a:rPr lang="en-AU" sz="3200" dirty="0"/>
              <a:t>From his results, Harlow concluded that ‘contact comfort’, which was provided by the softness of the cloth covering was more important than feeding the formation of an infant’s attachment (bond) to its mother.</a:t>
            </a:r>
          </a:p>
          <a:p>
            <a:pPr marL="457200" indent="-457200">
              <a:buFont typeface="Courier New" panose="02070309020205020404" pitchFamily="49" charset="0"/>
              <a:buChar char="o"/>
            </a:pPr>
            <a:r>
              <a:rPr lang="en-AU" sz="3200" dirty="0"/>
              <a:t>Harlow generalised his finding to suggest that ‘contact comfort’ was most likely a crucial factor in human infant-parent attachment.</a:t>
            </a:r>
          </a:p>
        </p:txBody>
      </p:sp>
    </p:spTree>
    <p:extLst>
      <p:ext uri="{BB962C8B-B14F-4D97-AF65-F5344CB8AC3E}">
        <p14:creationId xmlns:p14="http://schemas.microsoft.com/office/powerpoint/2010/main" val="337814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074742"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2400" b="1" dirty="0">
                <a:solidFill>
                  <a:srgbClr val="305289"/>
                </a:solidFill>
                <a:latin typeface="+mj-lt"/>
                <a:ea typeface="+mj-ea"/>
                <a:cs typeface="+mj-cs"/>
              </a:rPr>
              <a:t>Attachment Theory – Bowlby’s </a:t>
            </a:r>
            <a:r>
              <a:rPr lang="en-US" sz="2400" b="1" i="1" dirty="0">
                <a:solidFill>
                  <a:srgbClr val="305289"/>
                </a:solidFill>
                <a:latin typeface="+mj-lt"/>
                <a:ea typeface="+mj-ea"/>
                <a:cs typeface="+mj-cs"/>
              </a:rPr>
              <a:t>Maternal Deprivation Hypothesis</a:t>
            </a:r>
            <a:endParaRPr lang="en-US" sz="20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ext uri="{D42A27DB-BD31-4B8C-83A1-F6EECF244321}">
                <p14:modId xmlns:p14="http://schemas.microsoft.com/office/powerpoint/2010/main" val="3203514709"/>
              </p:ext>
            </p:extLst>
          </p:nvPr>
        </p:nvGraphicFramePr>
        <p:xfrm>
          <a:off x="8860312" y="113463"/>
          <a:ext cx="3331688" cy="152908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2021340954"/>
              </p:ext>
            </p:extLst>
          </p:nvPr>
        </p:nvGraphicFramePr>
        <p:xfrm>
          <a:off x="8140389" y="5180747"/>
          <a:ext cx="4051611" cy="1742440"/>
        </p:xfrm>
        <a:graphic>
          <a:graphicData uri="http://schemas.openxmlformats.org/drawingml/2006/table">
            <a:tbl>
              <a:tblPr firstRow="1" bandRow="1">
                <a:tableStyleId>{5C22544A-7EE6-4342-B048-85BDC9FD1C3A}</a:tableStyleId>
              </a:tblPr>
              <a:tblGrid>
                <a:gridCol w="4051611">
                  <a:extLst>
                    <a:ext uri="{9D8B030D-6E8A-4147-A177-3AD203B41FA5}">
                      <a16:colId xmlns:a16="http://schemas.microsoft.com/office/drawing/2014/main" val="1858754453"/>
                    </a:ext>
                  </a:extLst>
                </a:gridCol>
              </a:tblGrid>
              <a:tr h="370840">
                <a:tc>
                  <a:txBody>
                    <a:bodyPr/>
                    <a:lstStyle/>
                    <a:p>
                      <a:pPr algn="ctr"/>
                      <a:r>
                        <a:rPr lang="en-AU" sz="14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400" b="0" baseline="0" dirty="0"/>
                        <a:t>Explain what the maternal deprivation hypothesis is.</a:t>
                      </a:r>
                    </a:p>
                    <a:p>
                      <a:pPr marL="342900" indent="-342900">
                        <a:buFont typeface="+mj-lt"/>
                        <a:buAutoNum type="arabicPeriod"/>
                      </a:pPr>
                      <a:r>
                        <a:rPr lang="en-AU" sz="1400" b="0" baseline="0" dirty="0"/>
                        <a:t>Does Rutter support or refute Bowlby’s MDH? Explain why/why not.</a:t>
                      </a:r>
                    </a:p>
                    <a:p>
                      <a:pPr marL="342900" indent="-342900">
                        <a:buFont typeface="+mj-lt"/>
                        <a:buAutoNum type="arabicPeriod"/>
                      </a:pPr>
                      <a:r>
                        <a:rPr lang="en-AU" sz="1400" b="0" baseline="0" dirty="0"/>
                        <a:t>Identify examples of evidence that would refute Bowlby’s MDH.</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4" name="TextBox 3">
            <a:extLst>
              <a:ext uri="{FF2B5EF4-FFF2-40B4-BE49-F238E27FC236}">
                <a16:creationId xmlns:a16="http://schemas.microsoft.com/office/drawing/2014/main" id="{FFA15FF7-DAB8-E745-85CE-A1BCD46227A3}"/>
              </a:ext>
            </a:extLst>
          </p:cNvPr>
          <p:cNvSpPr txBox="1"/>
          <p:nvPr/>
        </p:nvSpPr>
        <p:spPr>
          <a:xfrm>
            <a:off x="397061" y="556379"/>
            <a:ext cx="7941027" cy="5940088"/>
          </a:xfrm>
          <a:prstGeom prst="rect">
            <a:avLst/>
          </a:prstGeom>
          <a:noFill/>
        </p:spPr>
        <p:txBody>
          <a:bodyPr wrap="square" rtlCol="0">
            <a:spAutoFit/>
          </a:bodyPr>
          <a:lstStyle/>
          <a:p>
            <a:pPr marL="342900" indent="-342900">
              <a:buFont typeface="Courier New" panose="02070309020205020404" pitchFamily="49" charset="0"/>
              <a:buChar char="o"/>
            </a:pPr>
            <a:r>
              <a:rPr lang="en-AU" sz="2000" dirty="0"/>
              <a:t>British Psychiatrist John Bowlby observed children in orphanages at the end of WWII. He found that some institutions provided a higher level of care and nurturing than other. Some provided for basic needs such as shelter and food, but lacked human contact with children.</a:t>
            </a:r>
            <a:endParaRPr lang="en-AU" sz="2000" b="1" dirty="0"/>
          </a:p>
          <a:p>
            <a:pPr marL="342900" indent="-342900">
              <a:buFont typeface="Courier New" panose="02070309020205020404" pitchFamily="49" charset="0"/>
              <a:buChar char="o"/>
            </a:pPr>
            <a:r>
              <a:rPr lang="en-AU" sz="2000" dirty="0"/>
              <a:t>Bowlby believed that children who had suffered loss and failure in early relationships were left more open to adverse psychological consequences later in life, such as an inability to form close relationships. Consequently, Bowlby believed that </a:t>
            </a:r>
            <a:r>
              <a:rPr lang="en-AU" sz="2000" b="1" dirty="0"/>
              <a:t>mothers should not be separated from their infants for any period of time (MATERNAL DEPRIVATION HYPOTHESIS)</a:t>
            </a:r>
            <a:endParaRPr lang="en-AU" sz="2000" dirty="0"/>
          </a:p>
          <a:p>
            <a:pPr marL="342900" indent="-342900">
              <a:buFont typeface="Courier New" panose="02070309020205020404" pitchFamily="49" charset="0"/>
              <a:buChar char="o"/>
            </a:pPr>
            <a:r>
              <a:rPr lang="en-AU" sz="2000" dirty="0"/>
              <a:t>What does research say?</a:t>
            </a:r>
          </a:p>
          <a:p>
            <a:pPr marL="800100" lvl="1" indent="-342900">
              <a:buFont typeface="Arial" panose="020B0604020202020204" pitchFamily="34" charset="0"/>
              <a:buChar char="•"/>
            </a:pPr>
            <a:r>
              <a:rPr lang="en-AU" sz="2000" dirty="0"/>
              <a:t>Research into delinquent behaviour in adolescence show that delinquency is more likely to occur in children who have suffered some sort of separation experience in childhood (e.g. due to family breakdown/separation or divorce of parents). Bowlby suggests that this provides evidence to support his MDH.</a:t>
            </a:r>
          </a:p>
          <a:p>
            <a:pPr marL="800100" lvl="1" indent="-342900">
              <a:buFont typeface="Arial" panose="020B0604020202020204" pitchFamily="34" charset="0"/>
              <a:buChar char="•"/>
            </a:pPr>
            <a:r>
              <a:rPr lang="en-AU" sz="2000" dirty="0"/>
              <a:t>Rutter (1981) proposed that the delinquency could be due to the conflict, arguing and disagreement that is often a part of family breakdown, rather than the loss of attachment to the caregiver</a:t>
            </a:r>
          </a:p>
        </p:txBody>
      </p:sp>
      <p:pic>
        <p:nvPicPr>
          <p:cNvPr id="2" name="Picture 1">
            <a:extLst>
              <a:ext uri="{FF2B5EF4-FFF2-40B4-BE49-F238E27FC236}">
                <a16:creationId xmlns:a16="http://schemas.microsoft.com/office/drawing/2014/main" id="{47C42361-8089-C242-9348-31294A388D89}"/>
              </a:ext>
            </a:extLst>
          </p:cNvPr>
          <p:cNvPicPr>
            <a:picLocks noChangeAspect="1"/>
          </p:cNvPicPr>
          <p:nvPr/>
        </p:nvPicPr>
        <p:blipFill>
          <a:blip r:embed="rId2"/>
          <a:stretch>
            <a:fillRect/>
          </a:stretch>
        </p:blipFill>
        <p:spPr>
          <a:xfrm>
            <a:off x="9392794" y="1642543"/>
            <a:ext cx="2266724" cy="3401121"/>
          </a:xfrm>
          <a:prstGeom prst="rect">
            <a:avLst/>
          </a:prstGeom>
        </p:spPr>
      </p:pic>
    </p:spTree>
    <p:extLst>
      <p:ext uri="{BB962C8B-B14F-4D97-AF65-F5344CB8AC3E}">
        <p14:creationId xmlns:p14="http://schemas.microsoft.com/office/powerpoint/2010/main" val="4217254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074742"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2400" b="1" dirty="0">
                <a:solidFill>
                  <a:srgbClr val="305289"/>
                </a:solidFill>
                <a:latin typeface="+mj-lt"/>
                <a:ea typeface="+mj-ea"/>
                <a:cs typeface="+mj-cs"/>
              </a:rPr>
              <a:t>Attachment Theory – Bowlby (Phases in the development of attachment)</a:t>
            </a:r>
            <a:endParaRPr lang="en-US" sz="20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ext uri="{D42A27DB-BD31-4B8C-83A1-F6EECF244321}">
                <p14:modId xmlns:p14="http://schemas.microsoft.com/office/powerpoint/2010/main" val="1503023510"/>
              </p:ext>
            </p:extLst>
          </p:nvPr>
        </p:nvGraphicFramePr>
        <p:xfrm>
          <a:off x="8860312" y="113463"/>
          <a:ext cx="3331688" cy="174244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proximity:</a:t>
                      </a:r>
                      <a:r>
                        <a:rPr lang="en-AU" sz="1400" b="0" baseline="0" dirty="0"/>
                        <a:t> nearness</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1464626878"/>
              </p:ext>
            </p:extLst>
          </p:nvPr>
        </p:nvGraphicFramePr>
        <p:xfrm>
          <a:off x="8140389" y="5210482"/>
          <a:ext cx="4051611" cy="1529080"/>
        </p:xfrm>
        <a:graphic>
          <a:graphicData uri="http://schemas.openxmlformats.org/drawingml/2006/table">
            <a:tbl>
              <a:tblPr firstRow="1" bandRow="1">
                <a:tableStyleId>{5C22544A-7EE6-4342-B048-85BDC9FD1C3A}</a:tableStyleId>
              </a:tblPr>
              <a:tblGrid>
                <a:gridCol w="4051611">
                  <a:extLst>
                    <a:ext uri="{9D8B030D-6E8A-4147-A177-3AD203B41FA5}">
                      <a16:colId xmlns:a16="http://schemas.microsoft.com/office/drawing/2014/main" val="1858754453"/>
                    </a:ext>
                  </a:extLst>
                </a:gridCol>
              </a:tblGrid>
              <a:tr h="370840">
                <a:tc>
                  <a:txBody>
                    <a:bodyPr/>
                    <a:lstStyle/>
                    <a:p>
                      <a:pPr algn="ctr"/>
                      <a:r>
                        <a:rPr lang="en-AU" sz="14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400" b="0" baseline="0" dirty="0"/>
                        <a:t>Did Bowlby engage in experimental or non-experimental research? Explain.</a:t>
                      </a:r>
                    </a:p>
                    <a:p>
                      <a:pPr marL="342900" indent="-342900">
                        <a:buFont typeface="+mj-lt"/>
                        <a:buAutoNum type="arabicPeriod"/>
                      </a:pPr>
                      <a:r>
                        <a:rPr lang="en-AU" sz="1400" b="0" baseline="0" dirty="0"/>
                        <a:t>Explain the behaviours Bowlby observed from which he concluded that children try to maintain proximity to their mothers.</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4" name="TextBox 3">
            <a:extLst>
              <a:ext uri="{FF2B5EF4-FFF2-40B4-BE49-F238E27FC236}">
                <a16:creationId xmlns:a16="http://schemas.microsoft.com/office/drawing/2014/main" id="{FFA15FF7-DAB8-E745-85CE-A1BCD46227A3}"/>
              </a:ext>
            </a:extLst>
          </p:cNvPr>
          <p:cNvSpPr txBox="1"/>
          <p:nvPr/>
        </p:nvSpPr>
        <p:spPr>
          <a:xfrm>
            <a:off x="422535" y="839646"/>
            <a:ext cx="8278588" cy="3477875"/>
          </a:xfrm>
          <a:prstGeom prst="rect">
            <a:avLst/>
          </a:prstGeom>
          <a:noFill/>
        </p:spPr>
        <p:txBody>
          <a:bodyPr wrap="square" rtlCol="0">
            <a:spAutoFit/>
          </a:bodyPr>
          <a:lstStyle/>
          <a:p>
            <a:pPr marL="342900" indent="-342900">
              <a:buFont typeface="Courier New" panose="02070309020205020404" pitchFamily="49" charset="0"/>
              <a:buChar char="o"/>
            </a:pPr>
            <a:r>
              <a:rPr lang="en-AU" sz="2000" dirty="0"/>
              <a:t>In 1969, Bowlby (and his colleagues) continued to study attachment behaviour of infants to their mothers, noting that </a:t>
            </a:r>
            <a:r>
              <a:rPr lang="en-AU" sz="2000" b="1" dirty="0"/>
              <a:t>young children maintain physical proximity to their mothers. </a:t>
            </a:r>
          </a:p>
          <a:p>
            <a:pPr marL="342900" indent="-342900">
              <a:buFont typeface="Courier New" panose="02070309020205020404" pitchFamily="49" charset="0"/>
              <a:buChar char="o"/>
            </a:pPr>
            <a:r>
              <a:rPr lang="en-AU" sz="2000" dirty="0"/>
              <a:t>They observed that infants engaged in:</a:t>
            </a:r>
          </a:p>
          <a:p>
            <a:pPr marL="800100" lvl="1" indent="-342900">
              <a:buFont typeface="Arial" panose="020B0604020202020204" pitchFamily="34" charset="0"/>
              <a:buChar char="•"/>
            </a:pPr>
            <a:r>
              <a:rPr lang="en-AU" sz="2000" dirty="0"/>
              <a:t>signal behaviours (crying, smiling) to gain the attention of their mothers, and</a:t>
            </a:r>
          </a:p>
          <a:p>
            <a:pPr marL="800100" lvl="1" indent="-342900">
              <a:buFont typeface="Arial" panose="020B0604020202020204" pitchFamily="34" charset="0"/>
              <a:buChar char="•"/>
            </a:pPr>
            <a:r>
              <a:rPr lang="en-AU" sz="2000" dirty="0"/>
              <a:t>behaviours that physically maintained proximity, such as clinging or following a caregiver</a:t>
            </a:r>
          </a:p>
          <a:p>
            <a:pPr marL="1257300" lvl="2" indent="-342900">
              <a:buFont typeface="Arial" panose="020B0604020202020204" pitchFamily="34" charset="0"/>
              <a:buChar char="•"/>
            </a:pPr>
            <a:endParaRPr lang="en-AU" sz="2000" dirty="0"/>
          </a:p>
          <a:p>
            <a:pPr marL="342900" indent="-342900">
              <a:buFont typeface="Courier New" panose="02070309020205020404" pitchFamily="49" charset="0"/>
              <a:buChar char="o"/>
            </a:pPr>
            <a:r>
              <a:rPr lang="en-AU" sz="2000" dirty="0"/>
              <a:t>From these studies, Bowlby suggested that there are four phases in the development of attachment:</a:t>
            </a:r>
          </a:p>
        </p:txBody>
      </p:sp>
      <p:pic>
        <p:nvPicPr>
          <p:cNvPr id="6" name="Picture 5">
            <a:extLst>
              <a:ext uri="{FF2B5EF4-FFF2-40B4-BE49-F238E27FC236}">
                <a16:creationId xmlns:a16="http://schemas.microsoft.com/office/drawing/2014/main" id="{466505BA-63CF-AF4F-9172-DE8A9BC75229}"/>
              </a:ext>
            </a:extLst>
          </p:cNvPr>
          <p:cNvPicPr>
            <a:picLocks noChangeAspect="1"/>
          </p:cNvPicPr>
          <p:nvPr/>
        </p:nvPicPr>
        <p:blipFill>
          <a:blip r:embed="rId2"/>
          <a:stretch>
            <a:fillRect/>
          </a:stretch>
        </p:blipFill>
        <p:spPr>
          <a:xfrm>
            <a:off x="8515249" y="1980540"/>
            <a:ext cx="3674663" cy="2755997"/>
          </a:xfrm>
          <a:prstGeom prst="rect">
            <a:avLst/>
          </a:prstGeom>
        </p:spPr>
      </p:pic>
      <p:graphicFrame>
        <p:nvGraphicFramePr>
          <p:cNvPr id="7" name="Diagram 6">
            <a:extLst>
              <a:ext uri="{FF2B5EF4-FFF2-40B4-BE49-F238E27FC236}">
                <a16:creationId xmlns:a16="http://schemas.microsoft.com/office/drawing/2014/main" id="{2144A3DA-5314-F543-81CF-DD54E587B585}"/>
              </a:ext>
            </a:extLst>
          </p:cNvPr>
          <p:cNvGraphicFramePr/>
          <p:nvPr>
            <p:extLst>
              <p:ext uri="{D42A27DB-BD31-4B8C-83A1-F6EECF244321}">
                <p14:modId xmlns:p14="http://schemas.microsoft.com/office/powerpoint/2010/main" val="1100275993"/>
              </p:ext>
            </p:extLst>
          </p:nvPr>
        </p:nvGraphicFramePr>
        <p:xfrm>
          <a:off x="719679" y="2507189"/>
          <a:ext cx="7162076"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5281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113463"/>
          <a:ext cx="3331688" cy="174244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proximity:</a:t>
                      </a:r>
                      <a:r>
                        <a:rPr lang="en-AU" sz="1400" b="0" baseline="0" dirty="0"/>
                        <a:t> nearness</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473370040"/>
              </p:ext>
            </p:extLst>
          </p:nvPr>
        </p:nvGraphicFramePr>
        <p:xfrm>
          <a:off x="8124330" y="5916602"/>
          <a:ext cx="4051611" cy="822960"/>
        </p:xfrm>
        <a:graphic>
          <a:graphicData uri="http://schemas.openxmlformats.org/drawingml/2006/table">
            <a:tbl>
              <a:tblPr firstRow="1" bandRow="1">
                <a:tableStyleId>{5C22544A-7EE6-4342-B048-85BDC9FD1C3A}</a:tableStyleId>
              </a:tblPr>
              <a:tblGrid>
                <a:gridCol w="4051611">
                  <a:extLst>
                    <a:ext uri="{9D8B030D-6E8A-4147-A177-3AD203B41FA5}">
                      <a16:colId xmlns:a16="http://schemas.microsoft.com/office/drawing/2014/main" val="1858754453"/>
                    </a:ext>
                  </a:extLst>
                </a:gridCol>
              </a:tblGrid>
              <a:tr h="0">
                <a:tc>
                  <a:txBody>
                    <a:bodyPr/>
                    <a:lstStyle/>
                    <a:p>
                      <a:pPr algn="ctr"/>
                      <a:r>
                        <a:rPr lang="en-AU" sz="14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400" b="0" baseline="0" dirty="0"/>
                        <a:t>Identify the differences between each phase in the development of attachment.</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9" name="TextBox 8">
            <a:extLst>
              <a:ext uri="{FF2B5EF4-FFF2-40B4-BE49-F238E27FC236}">
                <a16:creationId xmlns:a16="http://schemas.microsoft.com/office/drawing/2014/main" id="{6D67D923-FFEF-234E-AF24-7886A6468569}"/>
              </a:ext>
            </a:extLst>
          </p:cNvPr>
          <p:cNvSpPr txBox="1"/>
          <p:nvPr/>
        </p:nvSpPr>
        <p:spPr>
          <a:xfrm>
            <a:off x="263346" y="118438"/>
            <a:ext cx="8074742"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2000" b="1" dirty="0">
                <a:solidFill>
                  <a:srgbClr val="305289"/>
                </a:solidFill>
                <a:latin typeface="+mj-lt"/>
                <a:ea typeface="+mj-ea"/>
                <a:cs typeface="+mj-cs"/>
              </a:rPr>
              <a:t>Attachment Theory – Bowlby (Phases in the development of attachment)</a:t>
            </a:r>
            <a:endParaRPr lang="en-US" b="1" dirty="0">
              <a:solidFill>
                <a:srgbClr val="305289"/>
              </a:solidFill>
              <a:latin typeface="+mj-lt"/>
              <a:ea typeface="+mj-ea"/>
              <a:cs typeface="+mj-cs"/>
            </a:endParaRPr>
          </a:p>
        </p:txBody>
      </p:sp>
      <p:pic>
        <p:nvPicPr>
          <p:cNvPr id="3" name="Picture 2" descr="A screenshot of a cell phone&#10;&#10;Description automatically generated">
            <a:extLst>
              <a:ext uri="{FF2B5EF4-FFF2-40B4-BE49-F238E27FC236}">
                <a16:creationId xmlns:a16="http://schemas.microsoft.com/office/drawing/2014/main" id="{FA3275E8-664B-9245-8112-61D100CA8C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8715" y="568712"/>
            <a:ext cx="5197911" cy="6289288"/>
          </a:xfrm>
          <a:prstGeom prst="rect">
            <a:avLst/>
          </a:prstGeom>
        </p:spPr>
      </p:pic>
    </p:spTree>
    <p:extLst>
      <p:ext uri="{BB962C8B-B14F-4D97-AF65-F5344CB8AC3E}">
        <p14:creationId xmlns:p14="http://schemas.microsoft.com/office/powerpoint/2010/main" val="325025911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545374"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2800" b="1" dirty="0">
                <a:solidFill>
                  <a:srgbClr val="305289"/>
                </a:solidFill>
                <a:latin typeface="+mj-lt"/>
                <a:ea typeface="+mj-ea"/>
                <a:cs typeface="+mj-cs"/>
              </a:rPr>
              <a:t>Attachment Theory </a:t>
            </a:r>
            <a:r>
              <a:rPr lang="en-US" sz="2800" b="1" dirty="0" smtClean="0">
                <a:solidFill>
                  <a:srgbClr val="305289"/>
                </a:solidFill>
                <a:latin typeface="+mj-lt"/>
                <a:ea typeface="+mj-ea"/>
                <a:cs typeface="+mj-cs"/>
              </a:rPr>
              <a:t>– Ainsworth’ </a:t>
            </a:r>
            <a:r>
              <a:rPr lang="en-US" sz="2800" b="1" i="1" dirty="0" smtClean="0">
                <a:solidFill>
                  <a:srgbClr val="305289"/>
                </a:solidFill>
                <a:latin typeface="+mj-lt"/>
                <a:ea typeface="+mj-ea"/>
                <a:cs typeface="+mj-cs"/>
              </a:rPr>
              <a:t>Strange Situation</a:t>
            </a:r>
            <a:r>
              <a:rPr lang="en-US" sz="2800" b="1" dirty="0" smtClean="0">
                <a:solidFill>
                  <a:srgbClr val="305289"/>
                </a:solidFill>
                <a:latin typeface="+mj-lt"/>
                <a:ea typeface="+mj-ea"/>
                <a:cs typeface="+mj-cs"/>
              </a:rPr>
              <a:t>(1978</a:t>
            </a:r>
            <a:r>
              <a:rPr lang="en-US" sz="2800" b="1" dirty="0">
                <a:solidFill>
                  <a:srgbClr val="305289"/>
                </a:solidFill>
                <a:latin typeface="+mj-lt"/>
                <a:ea typeface="+mj-ea"/>
                <a:cs typeface="+mj-cs"/>
              </a:rPr>
              <a:t>)</a:t>
            </a:r>
            <a:endParaRPr lang="en-US" sz="24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1569748501"/>
              </p:ext>
            </p:extLst>
          </p:nvPr>
        </p:nvGraphicFramePr>
        <p:xfrm>
          <a:off x="8757128" y="5824806"/>
          <a:ext cx="3383280" cy="94996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smtClean="0"/>
                        <a:t>Describe Ainsworth’s research method.</a:t>
                      </a:r>
                      <a:endParaRPr lang="en-AU" sz="1600" b="0" baseline="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4" name="TextBox 3">
            <a:extLst>
              <a:ext uri="{FF2B5EF4-FFF2-40B4-BE49-F238E27FC236}">
                <a16:creationId xmlns:a16="http://schemas.microsoft.com/office/drawing/2014/main" id="{FFA15FF7-DAB8-E745-85CE-A1BCD46227A3}"/>
              </a:ext>
            </a:extLst>
          </p:cNvPr>
          <p:cNvSpPr txBox="1"/>
          <p:nvPr/>
        </p:nvSpPr>
        <p:spPr>
          <a:xfrm>
            <a:off x="423486" y="880820"/>
            <a:ext cx="7028874" cy="5693866"/>
          </a:xfrm>
          <a:prstGeom prst="rect">
            <a:avLst/>
          </a:prstGeom>
          <a:noFill/>
        </p:spPr>
        <p:txBody>
          <a:bodyPr wrap="square" rtlCol="0">
            <a:spAutoFit/>
          </a:bodyPr>
          <a:lstStyle/>
          <a:p>
            <a:pPr marL="457200" indent="-457200">
              <a:buFont typeface="Courier New" panose="02070309020205020404" pitchFamily="49" charset="0"/>
              <a:buChar char="o"/>
            </a:pPr>
            <a:r>
              <a:rPr lang="en-AU" sz="2800" dirty="0" smtClean="0"/>
              <a:t>Designed an experiment to researched the differences in the </a:t>
            </a:r>
            <a:r>
              <a:rPr lang="en-AU" sz="2800" b="1" dirty="0" smtClean="0"/>
              <a:t>quality</a:t>
            </a:r>
            <a:r>
              <a:rPr lang="en-AU" sz="2800" dirty="0" smtClean="0"/>
              <a:t> of attachment</a:t>
            </a:r>
          </a:p>
          <a:p>
            <a:pPr marL="457200" indent="-457200">
              <a:buFont typeface="Courier New" panose="02070309020205020404" pitchFamily="49" charset="0"/>
              <a:buChar char="o"/>
            </a:pPr>
            <a:r>
              <a:rPr lang="en-AU" sz="2800" dirty="0" smtClean="0"/>
              <a:t>Experiment took place in a room and then a fixed sequence of events was orchestrated:</a:t>
            </a:r>
          </a:p>
          <a:p>
            <a:pPr marL="1428750" lvl="2" indent="-514350">
              <a:buFont typeface="+mj-lt"/>
              <a:buAutoNum type="arabicPeriod"/>
            </a:pPr>
            <a:r>
              <a:rPr lang="en-AU" sz="2800" dirty="0" smtClean="0"/>
              <a:t>The infant enters with the mother</a:t>
            </a:r>
          </a:p>
          <a:p>
            <a:pPr marL="1428750" lvl="2" indent="-514350">
              <a:buFont typeface="+mj-lt"/>
              <a:buAutoNum type="arabicPeriod"/>
            </a:pPr>
            <a:r>
              <a:rPr lang="en-AU" sz="2800" dirty="0" smtClean="0"/>
              <a:t>The infant plays with mother present</a:t>
            </a:r>
          </a:p>
          <a:p>
            <a:pPr marL="1428750" lvl="2" indent="-514350">
              <a:buFont typeface="+mj-lt"/>
              <a:buAutoNum type="arabicPeriod"/>
            </a:pPr>
            <a:r>
              <a:rPr lang="en-AU" sz="2800" dirty="0" smtClean="0"/>
              <a:t>A stranger enters</a:t>
            </a:r>
          </a:p>
          <a:p>
            <a:pPr marL="1428750" lvl="2" indent="-514350">
              <a:buFont typeface="+mj-lt"/>
              <a:buAutoNum type="arabicPeriod"/>
            </a:pPr>
            <a:r>
              <a:rPr lang="en-AU" sz="2800" dirty="0" smtClean="0"/>
              <a:t>The mother leaves infant alone in room with the stranger (separation)</a:t>
            </a:r>
          </a:p>
          <a:p>
            <a:pPr marL="1428750" lvl="2" indent="-514350">
              <a:buFont typeface="+mj-lt"/>
              <a:buAutoNum type="arabicPeriod"/>
            </a:pPr>
            <a:r>
              <a:rPr lang="en-AU" sz="2800" dirty="0" smtClean="0"/>
              <a:t>The mother returns (reunion)</a:t>
            </a:r>
            <a:endParaRPr lang="en-AU" sz="2800" dirty="0"/>
          </a:p>
          <a:p>
            <a:pPr marL="457200" indent="-457200">
              <a:buFont typeface="Courier New" panose="02070309020205020404" pitchFamily="49" charset="0"/>
              <a:buChar char="o"/>
            </a:pPr>
            <a:r>
              <a:rPr lang="en-AU" sz="2800" dirty="0" smtClean="0"/>
              <a:t>The infant’s reactions were observed and recorded</a:t>
            </a:r>
          </a:p>
          <a:p>
            <a:pPr marL="457200" indent="-457200">
              <a:buFont typeface="Courier New" panose="02070309020205020404" pitchFamily="49" charset="0"/>
              <a:buChar char="o"/>
            </a:pPr>
            <a:endParaRPr lang="en-AU" sz="2800" dirty="0"/>
          </a:p>
        </p:txBody>
      </p:sp>
      <p:pic>
        <p:nvPicPr>
          <p:cNvPr id="2" name="Picture 1"/>
          <p:cNvPicPr>
            <a:picLocks noChangeAspect="1"/>
          </p:cNvPicPr>
          <p:nvPr/>
        </p:nvPicPr>
        <p:blipFill>
          <a:blip r:embed="rId2"/>
          <a:stretch>
            <a:fillRect/>
          </a:stretch>
        </p:blipFill>
        <p:spPr>
          <a:xfrm>
            <a:off x="7612500" y="2310715"/>
            <a:ext cx="4438087" cy="3357822"/>
          </a:xfrm>
          <a:prstGeom prst="rect">
            <a:avLst/>
          </a:prstGeom>
        </p:spPr>
      </p:pic>
    </p:spTree>
    <p:extLst>
      <p:ext uri="{BB962C8B-B14F-4D97-AF65-F5344CB8AC3E}">
        <p14:creationId xmlns:p14="http://schemas.microsoft.com/office/powerpoint/2010/main" val="1881338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545374"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2800" b="1" dirty="0">
                <a:solidFill>
                  <a:srgbClr val="305289"/>
                </a:solidFill>
                <a:latin typeface="+mj-lt"/>
                <a:ea typeface="+mj-ea"/>
                <a:cs typeface="+mj-cs"/>
              </a:rPr>
              <a:t>Attachment Theory </a:t>
            </a:r>
            <a:r>
              <a:rPr lang="en-US" sz="2800" b="1" dirty="0" smtClean="0">
                <a:solidFill>
                  <a:srgbClr val="305289"/>
                </a:solidFill>
                <a:latin typeface="+mj-lt"/>
                <a:ea typeface="+mj-ea"/>
                <a:cs typeface="+mj-cs"/>
              </a:rPr>
              <a:t>– Ainsworth’ </a:t>
            </a:r>
            <a:r>
              <a:rPr lang="en-US" sz="2800" b="1" i="1" dirty="0" smtClean="0">
                <a:solidFill>
                  <a:srgbClr val="305289"/>
                </a:solidFill>
                <a:latin typeface="+mj-lt"/>
                <a:ea typeface="+mj-ea"/>
                <a:cs typeface="+mj-cs"/>
              </a:rPr>
              <a:t>Strange Situation</a:t>
            </a:r>
            <a:r>
              <a:rPr lang="en-US" sz="2800" b="1" dirty="0" smtClean="0">
                <a:solidFill>
                  <a:srgbClr val="305289"/>
                </a:solidFill>
                <a:latin typeface="+mj-lt"/>
                <a:ea typeface="+mj-ea"/>
                <a:cs typeface="+mj-cs"/>
              </a:rPr>
              <a:t>(1978</a:t>
            </a:r>
            <a:r>
              <a:rPr lang="en-US" sz="2800" b="1" dirty="0">
                <a:solidFill>
                  <a:srgbClr val="305289"/>
                </a:solidFill>
                <a:latin typeface="+mj-lt"/>
                <a:ea typeface="+mj-ea"/>
                <a:cs typeface="+mj-cs"/>
              </a:rPr>
              <a:t>)</a:t>
            </a:r>
            <a:endParaRPr lang="en-US" sz="24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2971616675"/>
              </p:ext>
            </p:extLst>
          </p:nvPr>
        </p:nvGraphicFramePr>
        <p:xfrm>
          <a:off x="8808720" y="4605605"/>
          <a:ext cx="3383280" cy="94996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smtClean="0"/>
                        <a:t>Record your own observations of the infants’ reactions.</a:t>
                      </a:r>
                      <a:endParaRPr lang="en-AU" sz="1600" b="0" baseline="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pic>
        <p:nvPicPr>
          <p:cNvPr id="3" name="PnFKaaOSPmk"/>
          <p:cNvPicPr>
            <a:picLocks noRot="1" noChangeAspect="1"/>
          </p:cNvPicPr>
          <p:nvPr>
            <a:videoFile r:link="rId1"/>
          </p:nvPr>
        </p:nvPicPr>
        <p:blipFill>
          <a:blip r:embed="rId3"/>
          <a:stretch>
            <a:fillRect/>
          </a:stretch>
        </p:blipFill>
        <p:spPr>
          <a:xfrm>
            <a:off x="503472" y="1286509"/>
            <a:ext cx="8116713" cy="4565651"/>
          </a:xfrm>
          <a:prstGeom prst="rect">
            <a:avLst/>
          </a:prstGeom>
        </p:spPr>
      </p:pic>
    </p:spTree>
    <p:extLst>
      <p:ext uri="{BB962C8B-B14F-4D97-AF65-F5344CB8AC3E}">
        <p14:creationId xmlns:p14="http://schemas.microsoft.com/office/powerpoint/2010/main" val="189311436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545374"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2800" b="1" dirty="0">
                <a:solidFill>
                  <a:srgbClr val="305289"/>
                </a:solidFill>
                <a:latin typeface="+mj-lt"/>
                <a:ea typeface="+mj-ea"/>
                <a:cs typeface="+mj-cs"/>
              </a:rPr>
              <a:t>Attachment Theory </a:t>
            </a:r>
            <a:r>
              <a:rPr lang="en-US" sz="2800" b="1" dirty="0" smtClean="0">
                <a:solidFill>
                  <a:srgbClr val="305289"/>
                </a:solidFill>
                <a:latin typeface="+mj-lt"/>
                <a:ea typeface="+mj-ea"/>
                <a:cs typeface="+mj-cs"/>
              </a:rPr>
              <a:t>– Ainsworth’ </a:t>
            </a:r>
            <a:r>
              <a:rPr lang="en-US" sz="2800" b="1" i="1" dirty="0" smtClean="0">
                <a:solidFill>
                  <a:srgbClr val="305289"/>
                </a:solidFill>
                <a:latin typeface="+mj-lt"/>
                <a:ea typeface="+mj-ea"/>
                <a:cs typeface="+mj-cs"/>
              </a:rPr>
              <a:t>Strange Situation</a:t>
            </a:r>
            <a:r>
              <a:rPr lang="en-US" sz="2800" b="1" dirty="0" smtClean="0">
                <a:solidFill>
                  <a:srgbClr val="305289"/>
                </a:solidFill>
                <a:latin typeface="+mj-lt"/>
                <a:ea typeface="+mj-ea"/>
                <a:cs typeface="+mj-cs"/>
              </a:rPr>
              <a:t>(1978</a:t>
            </a:r>
            <a:r>
              <a:rPr lang="en-US" sz="2800" b="1" dirty="0">
                <a:solidFill>
                  <a:srgbClr val="305289"/>
                </a:solidFill>
                <a:latin typeface="+mj-lt"/>
                <a:ea typeface="+mj-ea"/>
                <a:cs typeface="+mj-cs"/>
              </a:rPr>
              <a:t>)</a:t>
            </a:r>
            <a:endParaRPr lang="en-US" sz="24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3015071095"/>
              </p:ext>
            </p:extLst>
          </p:nvPr>
        </p:nvGraphicFramePr>
        <p:xfrm>
          <a:off x="8808720" y="5674988"/>
          <a:ext cx="3383280" cy="94996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smtClean="0"/>
                        <a:t>Distinguish Ainsworth’s categories of infant behaviour</a:t>
                      </a:r>
                      <a:endParaRPr lang="en-AU" sz="1600" b="0" baseline="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4" name="TextBox 3">
            <a:extLst>
              <a:ext uri="{FF2B5EF4-FFF2-40B4-BE49-F238E27FC236}">
                <a16:creationId xmlns:a16="http://schemas.microsoft.com/office/drawing/2014/main" id="{FFA15FF7-DAB8-E745-85CE-A1BCD46227A3}"/>
              </a:ext>
            </a:extLst>
          </p:cNvPr>
          <p:cNvSpPr txBox="1"/>
          <p:nvPr/>
        </p:nvSpPr>
        <p:spPr>
          <a:xfrm>
            <a:off x="211754" y="487025"/>
            <a:ext cx="8173502" cy="6001643"/>
          </a:xfrm>
          <a:prstGeom prst="rect">
            <a:avLst/>
          </a:prstGeom>
          <a:noFill/>
        </p:spPr>
        <p:txBody>
          <a:bodyPr wrap="square" rtlCol="0">
            <a:spAutoFit/>
          </a:bodyPr>
          <a:lstStyle/>
          <a:p>
            <a:pPr marL="457200" indent="-457200">
              <a:buFont typeface="Courier New" panose="02070309020205020404" pitchFamily="49" charset="0"/>
              <a:buChar char="o"/>
            </a:pPr>
            <a:r>
              <a:rPr lang="en-AU" sz="2400" dirty="0" smtClean="0"/>
              <a:t>From her observations, Ainsworth developed three categories of infant behaviour:</a:t>
            </a:r>
          </a:p>
          <a:p>
            <a:pPr marL="971550" lvl="1" indent="-514350">
              <a:buFont typeface="+mj-lt"/>
              <a:buAutoNum type="alphaUcPeriod"/>
            </a:pPr>
            <a:r>
              <a:rPr lang="en-AU" sz="2400" b="1" dirty="0" smtClean="0"/>
              <a:t>Avoidant attachment: </a:t>
            </a:r>
            <a:r>
              <a:rPr lang="en-AU" sz="2400" dirty="0" smtClean="0"/>
              <a:t>infants seemed relatively indifferent to their mothers; exploration of the room was not affected by the absence of their mother</a:t>
            </a:r>
          </a:p>
          <a:p>
            <a:pPr marL="971550" lvl="1" indent="-514350">
              <a:buFont typeface="+mj-lt"/>
              <a:buAutoNum type="alphaUcPeriod"/>
            </a:pPr>
            <a:r>
              <a:rPr lang="en-AU" sz="2400" b="1" dirty="0" smtClean="0"/>
              <a:t>Securely attached: </a:t>
            </a:r>
            <a:r>
              <a:rPr lang="en-AU" sz="2400" dirty="0" smtClean="0"/>
              <a:t>infants protested vigorously when their mother left the room; and anxiously looked for her during her absence; responded with pleasure and gave her a lively greeting when she returned; explored more when their mother was in the room</a:t>
            </a:r>
          </a:p>
          <a:p>
            <a:pPr marL="971550" lvl="1" indent="-514350">
              <a:buFont typeface="+mj-lt"/>
              <a:buAutoNum type="alphaUcPeriod"/>
            </a:pPr>
            <a:r>
              <a:rPr lang="en-AU" sz="2400" b="1" dirty="0" smtClean="0"/>
              <a:t>Anxiously attached: </a:t>
            </a:r>
            <a:r>
              <a:rPr lang="en-AU" sz="2400" dirty="0" smtClean="0"/>
              <a:t>showed great distress when their mothers left the room, and were not calmed easily when she returned; appeared to be more anxious than any of the other groups – before, during and after the separation from their mother; did not actively explore the room when their mother was in the room</a:t>
            </a:r>
          </a:p>
        </p:txBody>
      </p:sp>
    </p:spTree>
    <p:extLst>
      <p:ext uri="{BB962C8B-B14F-4D97-AF65-F5344CB8AC3E}">
        <p14:creationId xmlns:p14="http://schemas.microsoft.com/office/powerpoint/2010/main" val="3497197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545374"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2800" b="1" dirty="0">
                <a:solidFill>
                  <a:srgbClr val="305289"/>
                </a:solidFill>
                <a:latin typeface="+mj-lt"/>
                <a:ea typeface="+mj-ea"/>
                <a:cs typeface="+mj-cs"/>
              </a:rPr>
              <a:t>Attachment Theory </a:t>
            </a:r>
            <a:r>
              <a:rPr lang="en-US" sz="2800" b="1" dirty="0" smtClean="0">
                <a:solidFill>
                  <a:srgbClr val="305289"/>
                </a:solidFill>
                <a:latin typeface="+mj-lt"/>
                <a:ea typeface="+mj-ea"/>
                <a:cs typeface="+mj-cs"/>
              </a:rPr>
              <a:t>– Ainsworth’ </a:t>
            </a:r>
            <a:r>
              <a:rPr lang="en-US" sz="2800" b="1" i="1" dirty="0" smtClean="0">
                <a:solidFill>
                  <a:srgbClr val="305289"/>
                </a:solidFill>
                <a:latin typeface="+mj-lt"/>
                <a:ea typeface="+mj-ea"/>
                <a:cs typeface="+mj-cs"/>
              </a:rPr>
              <a:t>Strange Situation </a:t>
            </a:r>
            <a:r>
              <a:rPr lang="en-US" sz="2800" b="1" dirty="0" smtClean="0">
                <a:solidFill>
                  <a:srgbClr val="305289"/>
                </a:solidFill>
                <a:latin typeface="+mj-lt"/>
                <a:ea typeface="+mj-ea"/>
                <a:cs typeface="+mj-cs"/>
              </a:rPr>
              <a:t>(1978</a:t>
            </a:r>
            <a:r>
              <a:rPr lang="en-US" sz="2800" b="1" dirty="0">
                <a:solidFill>
                  <a:srgbClr val="305289"/>
                </a:solidFill>
                <a:latin typeface="+mj-lt"/>
                <a:ea typeface="+mj-ea"/>
                <a:cs typeface="+mj-cs"/>
              </a:rPr>
              <a:t>)</a:t>
            </a:r>
            <a:endParaRPr lang="en-US" sz="24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3489309688"/>
              </p:ext>
            </p:extLst>
          </p:nvPr>
        </p:nvGraphicFramePr>
        <p:xfrm>
          <a:off x="9857439" y="3071273"/>
          <a:ext cx="2334561" cy="2865120"/>
        </p:xfrm>
        <a:graphic>
          <a:graphicData uri="http://schemas.openxmlformats.org/drawingml/2006/table">
            <a:tbl>
              <a:tblPr firstRow="1" bandRow="1">
                <a:tableStyleId>{5C22544A-7EE6-4342-B048-85BDC9FD1C3A}</a:tableStyleId>
              </a:tblPr>
              <a:tblGrid>
                <a:gridCol w="2334561">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smtClean="0"/>
                        <a:t>Distinguish the behaviours of the mothers of each type of infant. </a:t>
                      </a:r>
                    </a:p>
                    <a:p>
                      <a:pPr marL="342900" indent="-342900">
                        <a:buFont typeface="+mj-lt"/>
                        <a:buAutoNum type="arabicPeriod"/>
                      </a:pPr>
                      <a:r>
                        <a:rPr lang="en-AU" sz="1600" b="0" baseline="0" dirty="0" smtClean="0"/>
                        <a:t>How, according to Ainsworth, do different responses of mothers affected attachment? </a:t>
                      </a:r>
                      <a:endParaRPr lang="en-AU" sz="1600" b="0" baseline="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4" name="TextBox 3">
            <a:extLst>
              <a:ext uri="{FF2B5EF4-FFF2-40B4-BE49-F238E27FC236}">
                <a16:creationId xmlns:a16="http://schemas.microsoft.com/office/drawing/2014/main" id="{FFA15FF7-DAB8-E745-85CE-A1BCD46227A3}"/>
              </a:ext>
            </a:extLst>
          </p:cNvPr>
          <p:cNvSpPr txBox="1"/>
          <p:nvPr/>
        </p:nvSpPr>
        <p:spPr>
          <a:xfrm>
            <a:off x="211754" y="487025"/>
            <a:ext cx="8482795" cy="6370975"/>
          </a:xfrm>
          <a:prstGeom prst="rect">
            <a:avLst/>
          </a:prstGeom>
          <a:noFill/>
        </p:spPr>
        <p:txBody>
          <a:bodyPr wrap="square" rtlCol="0">
            <a:spAutoFit/>
          </a:bodyPr>
          <a:lstStyle/>
          <a:p>
            <a:pPr marL="457200" indent="-457200">
              <a:buFont typeface="Courier New" panose="02070309020205020404" pitchFamily="49" charset="0"/>
              <a:buChar char="o"/>
            </a:pPr>
            <a:r>
              <a:rPr lang="en-AU" sz="2400" dirty="0" smtClean="0"/>
              <a:t>Group B types infants (securely attached) were not necessarily more strongly attached to their mothers, but just more confident in her and in the relationship. </a:t>
            </a:r>
          </a:p>
          <a:p>
            <a:pPr marL="457200" indent="-457200">
              <a:buFont typeface="Courier New" panose="02070309020205020404" pitchFamily="49" charset="0"/>
              <a:buChar char="o"/>
            </a:pPr>
            <a:r>
              <a:rPr lang="en-AU" sz="2400" dirty="0" smtClean="0"/>
              <a:t>Ainsworth believes that attachment security depends on how sensitive and response a caregiver is to an infant’s signals:</a:t>
            </a:r>
          </a:p>
          <a:p>
            <a:pPr marL="1371600" lvl="2" indent="-457200">
              <a:buFont typeface="Courier New" panose="02070309020205020404" pitchFamily="49" charset="0"/>
              <a:buChar char="o"/>
            </a:pPr>
            <a:r>
              <a:rPr lang="en-AU" sz="2400" dirty="0" smtClean="0"/>
              <a:t>Infants in Group B (securely attached) tend to have mothers who are more sensitive, accepting and expressive of affection towards them than the mothers of those who are insecurely attached (Group A or C type)</a:t>
            </a:r>
          </a:p>
          <a:p>
            <a:pPr marL="1371600" lvl="2" indent="-457200">
              <a:buFont typeface="Courier New" panose="02070309020205020404" pitchFamily="49" charset="0"/>
              <a:buChar char="o"/>
            </a:pPr>
            <a:r>
              <a:rPr lang="en-AU" sz="2400" dirty="0" smtClean="0"/>
              <a:t>Mothers of Group A types infants are insensitive to their signals, they do not often have close body contact with their infant, and instead of being affectionate, they are often irritable and behave in an angry manner. </a:t>
            </a:r>
          </a:p>
          <a:p>
            <a:pPr marL="1371600" lvl="2" indent="-457200">
              <a:buFont typeface="Courier New" panose="02070309020205020404" pitchFamily="49" charset="0"/>
              <a:buChar char="o"/>
            </a:pPr>
            <a:r>
              <a:rPr lang="en-AU" sz="2400" dirty="0" smtClean="0"/>
              <a:t>The mother of Group C type infants are insensitive and awkward with their infants and are not affectionate, but not as rejecting as the Group A mothers</a:t>
            </a:r>
          </a:p>
        </p:txBody>
      </p:sp>
    </p:spTree>
    <p:extLst>
      <p:ext uri="{BB962C8B-B14F-4D97-AF65-F5344CB8AC3E}">
        <p14:creationId xmlns:p14="http://schemas.microsoft.com/office/powerpoint/2010/main" val="469642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545374" cy="596571"/>
          </a:xfrm>
          <a:prstGeom prst="rect">
            <a:avLst/>
          </a:prstGeom>
        </p:spPr>
        <p:txBody>
          <a:bodyPr vert="horz" lIns="91440" tIns="45720" rIns="91440" bIns="45720" rtlCol="0" anchor="t">
            <a:noAutofit/>
          </a:bodyPr>
          <a:lstStyle/>
          <a:p>
            <a:pPr algn="ctr">
              <a:lnSpc>
                <a:spcPct val="90000"/>
              </a:lnSpc>
              <a:spcBef>
                <a:spcPct val="0"/>
              </a:spcBef>
              <a:spcAft>
                <a:spcPts val="600"/>
              </a:spcAft>
            </a:pPr>
            <a:r>
              <a:rPr lang="en-US" sz="2800" b="1" dirty="0" smtClean="0">
                <a:solidFill>
                  <a:srgbClr val="305289"/>
                </a:solidFill>
                <a:latin typeface="+mj-lt"/>
                <a:ea typeface="+mj-ea"/>
                <a:cs typeface="+mj-cs"/>
              </a:rPr>
              <a:t>The Importance of Attachment on Emotional Development </a:t>
            </a:r>
            <a:endParaRPr lang="en-US" sz="2400" b="1" dirty="0">
              <a:solidFill>
                <a:srgbClr val="305289"/>
              </a:solidFill>
              <a:latin typeface="+mj-lt"/>
              <a:ea typeface="+mj-ea"/>
              <a:cs typeface="+mj-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extLst/>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extLst>
              <p:ext uri="{D42A27DB-BD31-4B8C-83A1-F6EECF244321}">
                <p14:modId xmlns:p14="http://schemas.microsoft.com/office/powerpoint/2010/main" val="2858895005"/>
              </p:ext>
            </p:extLst>
          </p:nvPr>
        </p:nvGraphicFramePr>
        <p:xfrm>
          <a:off x="8860312" y="4993063"/>
          <a:ext cx="3331688" cy="168148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smtClean="0"/>
                        <a:t>Explain the effects of different types of attachment on emotional development. Refer to research to support your conclusion.</a:t>
                      </a:r>
                      <a:endParaRPr lang="en-AU" sz="1600" b="0" baseline="0" dirty="0"/>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Concept Development</a:t>
            </a:r>
          </a:p>
        </p:txBody>
      </p:sp>
      <p:sp>
        <p:nvSpPr>
          <p:cNvPr id="4" name="TextBox 3">
            <a:extLst>
              <a:ext uri="{FF2B5EF4-FFF2-40B4-BE49-F238E27FC236}">
                <a16:creationId xmlns:a16="http://schemas.microsoft.com/office/drawing/2014/main" id="{FFA15FF7-DAB8-E745-85CE-A1BCD46227A3}"/>
              </a:ext>
            </a:extLst>
          </p:cNvPr>
          <p:cNvSpPr txBox="1"/>
          <p:nvPr/>
        </p:nvSpPr>
        <p:spPr>
          <a:xfrm>
            <a:off x="377517" y="693836"/>
            <a:ext cx="7728097" cy="6986528"/>
          </a:xfrm>
          <a:prstGeom prst="rect">
            <a:avLst/>
          </a:prstGeom>
          <a:noFill/>
        </p:spPr>
        <p:txBody>
          <a:bodyPr wrap="square" rtlCol="0">
            <a:spAutoFit/>
          </a:bodyPr>
          <a:lstStyle/>
          <a:p>
            <a:pPr marL="457200" indent="-457200">
              <a:buFont typeface="Courier New" panose="02070309020205020404" pitchFamily="49" charset="0"/>
              <a:buChar char="o"/>
            </a:pPr>
            <a:r>
              <a:rPr lang="en-AU" sz="3200" b="1" dirty="0" smtClean="0"/>
              <a:t>Alan </a:t>
            </a:r>
            <a:r>
              <a:rPr lang="en-AU" sz="3200" b="1" dirty="0" err="1" smtClean="0"/>
              <a:t>Sroufe</a:t>
            </a:r>
            <a:r>
              <a:rPr lang="en-AU" sz="3200" b="1" dirty="0" smtClean="0"/>
              <a:t> (1985, 1990): </a:t>
            </a:r>
            <a:r>
              <a:rPr lang="en-AU" sz="3200" dirty="0" smtClean="0"/>
              <a:t>there is a link between attachment in early life and development in later years.</a:t>
            </a:r>
          </a:p>
          <a:p>
            <a:pPr marL="457200" indent="-457200">
              <a:buFont typeface="Courier New" panose="02070309020205020404" pitchFamily="49" charset="0"/>
              <a:buChar char="o"/>
            </a:pPr>
            <a:r>
              <a:rPr lang="en-AU" sz="3200" b="1" dirty="0" err="1" smtClean="0"/>
              <a:t>Matas</a:t>
            </a:r>
            <a:r>
              <a:rPr lang="en-AU" sz="3200" b="1" dirty="0" smtClean="0"/>
              <a:t>, </a:t>
            </a:r>
            <a:r>
              <a:rPr lang="en-AU" sz="3200" b="1" dirty="0" err="1" smtClean="0"/>
              <a:t>Arend</a:t>
            </a:r>
            <a:r>
              <a:rPr lang="en-AU" sz="3200" b="1" dirty="0" smtClean="0"/>
              <a:t>, &amp; </a:t>
            </a:r>
            <a:r>
              <a:rPr lang="en-AU" sz="3200" b="1" dirty="0" err="1" smtClean="0"/>
              <a:t>Sroufe</a:t>
            </a:r>
            <a:r>
              <a:rPr lang="en-AU" sz="3200" b="1" dirty="0" smtClean="0"/>
              <a:t> (1978): </a:t>
            </a:r>
            <a:r>
              <a:rPr lang="en-AU" sz="3200" dirty="0" smtClean="0"/>
              <a:t>Infants who were type B (securely attached to their mothers) in early infancy were less frustrated and happier at 2 years than were type A and C (insecurely attached infants)</a:t>
            </a:r>
          </a:p>
          <a:p>
            <a:pPr marL="457200" indent="-457200">
              <a:buFont typeface="Courier New" panose="02070309020205020404" pitchFamily="49" charset="0"/>
              <a:buChar char="o"/>
            </a:pPr>
            <a:r>
              <a:rPr lang="en-AU" sz="3200" b="1" dirty="0" err="1" smtClean="0"/>
              <a:t>Egeland</a:t>
            </a:r>
            <a:r>
              <a:rPr lang="en-AU" sz="3200" b="1" dirty="0"/>
              <a:t> </a:t>
            </a:r>
            <a:r>
              <a:rPr lang="en-AU" sz="3200" b="1" dirty="0" smtClean="0"/>
              <a:t>(1989): </a:t>
            </a:r>
            <a:r>
              <a:rPr lang="en-AU" sz="3200" dirty="0" smtClean="0"/>
              <a:t>Securely attached infants were more socially competent and had better academic results in Grade 3.</a:t>
            </a:r>
          </a:p>
          <a:p>
            <a:pPr marL="457200" indent="-457200">
              <a:buFont typeface="Courier New" panose="02070309020205020404" pitchFamily="49" charset="0"/>
              <a:buChar char="o"/>
            </a:pPr>
            <a:endParaRPr lang="en-AU" sz="3200" dirty="0" smtClean="0"/>
          </a:p>
          <a:p>
            <a:pPr marL="457200" indent="-457200">
              <a:buFont typeface="Courier New" panose="02070309020205020404" pitchFamily="49" charset="0"/>
              <a:buChar char="o"/>
            </a:pPr>
            <a:endParaRPr lang="en-AU" sz="3200" dirty="0" smtClean="0"/>
          </a:p>
        </p:txBody>
      </p:sp>
    </p:spTree>
    <p:extLst>
      <p:ext uri="{BB962C8B-B14F-4D97-AF65-F5344CB8AC3E}">
        <p14:creationId xmlns:p14="http://schemas.microsoft.com/office/powerpoint/2010/main" val="1130048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497D07A-67C1-E942-9EB1-373896EFA259}"/>
              </a:ext>
            </a:extLst>
          </p:cNvPr>
          <p:cNvSpPr/>
          <p:nvPr/>
        </p:nvSpPr>
        <p:spPr>
          <a:xfrm>
            <a:off x="184668" y="19897"/>
            <a:ext cx="11750032" cy="954107"/>
          </a:xfrm>
          <a:prstGeom prst="rect">
            <a:avLst/>
          </a:prstGeom>
        </p:spPr>
        <p:txBody>
          <a:bodyPr wrap="square">
            <a:spAutoFit/>
          </a:bodyPr>
          <a:lstStyle/>
          <a:p>
            <a:r>
              <a:rPr lang="en-AU" sz="2800" b="1" dirty="0">
                <a:solidFill>
                  <a:srgbClr val="0E344D"/>
                </a:solidFill>
              </a:rPr>
              <a:t>Why is it relevant to be able to identify and explain techniques for resolving conflicts?</a:t>
            </a:r>
            <a:endParaRPr lang="en-AU" sz="2800" dirty="0"/>
          </a:p>
        </p:txBody>
      </p:sp>
      <p:graphicFrame>
        <p:nvGraphicFramePr>
          <p:cNvPr id="6" name="Table 5">
            <a:extLst>
              <a:ext uri="{FF2B5EF4-FFF2-40B4-BE49-F238E27FC236}">
                <a16:creationId xmlns:a16="http://schemas.microsoft.com/office/drawing/2014/main" id="{032C08CC-E714-C443-81C2-A2099C6030DF}"/>
              </a:ext>
            </a:extLst>
          </p:cNvPr>
          <p:cNvGraphicFramePr>
            <a:graphicFrameLocks noGrp="1"/>
          </p:cNvGraphicFramePr>
          <p:nvPr>
            <p:extLst>
              <p:ext uri="{D42A27DB-BD31-4B8C-83A1-F6EECF244321}">
                <p14:modId xmlns:p14="http://schemas.microsoft.com/office/powerpoint/2010/main" val="4206247318"/>
              </p:ext>
            </p:extLst>
          </p:nvPr>
        </p:nvGraphicFramePr>
        <p:xfrm>
          <a:off x="8636000" y="806849"/>
          <a:ext cx="3371331" cy="1193800"/>
        </p:xfrm>
        <a:graphic>
          <a:graphicData uri="http://schemas.openxmlformats.org/drawingml/2006/table">
            <a:tbl>
              <a:tblPr firstRow="1" bandRow="1">
                <a:tableStyleId>{5C22544A-7EE6-4342-B048-85BDC9FD1C3A}</a:tableStyleId>
              </a:tblPr>
              <a:tblGrid>
                <a:gridCol w="3371331">
                  <a:extLst>
                    <a:ext uri="{9D8B030D-6E8A-4147-A177-3AD203B41FA5}">
                      <a16:colId xmlns:a16="http://schemas.microsoft.com/office/drawing/2014/main" val="1063897167"/>
                    </a:ext>
                  </a:extLst>
                </a:gridCol>
              </a:tblGrid>
              <a:tr h="370840">
                <a:tc>
                  <a:txBody>
                    <a:bodyPr/>
                    <a:lstStyle/>
                    <a:p>
                      <a:pPr algn="ctr"/>
                      <a:r>
                        <a:rPr lang="en-AU" sz="1600" dirty="0"/>
                        <a:t>Curriculum links:</a:t>
                      </a:r>
                    </a:p>
                  </a:txBody>
                  <a:tcPr>
                    <a:solidFill>
                      <a:srgbClr val="7030A0"/>
                    </a:solidFill>
                  </a:tcPr>
                </a:tc>
                <a:extLst>
                  <a:ext uri="{0D108BD9-81ED-4DB2-BD59-A6C34878D82A}">
                    <a16:rowId xmlns:a16="http://schemas.microsoft.com/office/drawing/2014/main" val="3185038259"/>
                  </a:ext>
                </a:extLst>
              </a:tr>
              <a:tr h="370840">
                <a:tc>
                  <a:txBody>
                    <a:bodyPr/>
                    <a:lstStyle/>
                    <a:p>
                      <a:pPr lvl="0"/>
                      <a:r>
                        <a:rPr lang="en-AU" sz="1600" b="1" kern="1200" dirty="0">
                          <a:solidFill>
                            <a:schemeClr val="dk1"/>
                          </a:solidFill>
                          <a:effectLst/>
                          <a:latin typeface="+mn-lt"/>
                          <a:ea typeface="+mn-ea"/>
                          <a:cs typeface="+mn-cs"/>
                        </a:rPr>
                        <a:t>Relational influences:</a:t>
                      </a:r>
                    </a:p>
                    <a:p>
                      <a:pPr marL="285750" lvl="0" indent="-285750">
                        <a:buFont typeface="Arial" panose="020B0604020202020204" pitchFamily="34" charset="0"/>
                        <a:buChar char="•"/>
                      </a:pPr>
                      <a:r>
                        <a:rPr lang="en-AU" sz="1600" b="0" kern="1200" dirty="0" smtClean="0">
                          <a:solidFill>
                            <a:schemeClr val="dk1"/>
                          </a:solidFill>
                          <a:effectLst/>
                          <a:latin typeface="+mn-lt"/>
                          <a:ea typeface="+mn-ea"/>
                          <a:cs typeface="+mn-cs"/>
                        </a:rPr>
                        <a:t>Attachment</a:t>
                      </a:r>
                      <a:r>
                        <a:rPr lang="en-AU" sz="1600" b="0" kern="1200" baseline="0" dirty="0" smtClean="0">
                          <a:solidFill>
                            <a:schemeClr val="dk1"/>
                          </a:solidFill>
                          <a:effectLst/>
                          <a:latin typeface="+mn-lt"/>
                          <a:ea typeface="+mn-ea"/>
                          <a:cs typeface="+mn-cs"/>
                        </a:rPr>
                        <a:t> theory (Harlow, Bowlby, Ainsworth)</a:t>
                      </a:r>
                      <a:endParaRPr lang="en-AU" sz="1600" kern="1200" dirty="0">
                        <a:solidFill>
                          <a:schemeClr val="dk1"/>
                        </a:solidFill>
                        <a:effectLst/>
                        <a:latin typeface="+mn-lt"/>
                        <a:ea typeface="+mn-ea"/>
                        <a:cs typeface="+mn-cs"/>
                      </a:endParaRPr>
                    </a:p>
                  </a:txBody>
                  <a:tcPr/>
                </a:tc>
                <a:extLst>
                  <a:ext uri="{0D108BD9-81ED-4DB2-BD59-A6C34878D82A}">
                    <a16:rowId xmlns:a16="http://schemas.microsoft.com/office/drawing/2014/main" val="3350360335"/>
                  </a:ext>
                </a:extLst>
              </a:tr>
            </a:tbl>
          </a:graphicData>
        </a:graphic>
      </p:graphicFrame>
      <p:sp>
        <p:nvSpPr>
          <p:cNvPr id="8" name="TextBox 7">
            <a:extLst>
              <a:ext uri="{FF2B5EF4-FFF2-40B4-BE49-F238E27FC236}">
                <a16:creationId xmlns:a16="http://schemas.microsoft.com/office/drawing/2014/main" id="{62454629-A5E9-A045-9541-68D992880CE2}"/>
              </a:ext>
            </a:extLst>
          </p:cNvPr>
          <p:cNvSpPr txBox="1"/>
          <p:nvPr/>
        </p:nvSpPr>
        <p:spPr>
          <a:xfrm>
            <a:off x="184669" y="922412"/>
            <a:ext cx="7723197" cy="1569660"/>
          </a:xfrm>
          <a:prstGeom prst="rect">
            <a:avLst/>
          </a:prstGeom>
          <a:noFill/>
        </p:spPr>
        <p:txBody>
          <a:bodyPr wrap="square" rtlCol="0">
            <a:spAutoFit/>
          </a:bodyPr>
          <a:lstStyle/>
          <a:p>
            <a:pPr marL="342900" indent="-342900">
              <a:buAutoNum type="arabicPeriod"/>
            </a:pPr>
            <a:r>
              <a:rPr lang="en-AU" sz="2400" dirty="0"/>
              <a:t>It is part of the Year 12 ATAR Syllabus and will help us do well our assessments and exams.</a:t>
            </a:r>
          </a:p>
          <a:p>
            <a:pPr marL="800100" lvl="1" indent="-342900">
              <a:buFont typeface="Arial" panose="020B0604020202020204" pitchFamily="34" charset="0"/>
              <a:buChar char="•"/>
            </a:pPr>
            <a:r>
              <a:rPr lang="en-AU" sz="2400" dirty="0"/>
              <a:t>Short answer questions</a:t>
            </a:r>
          </a:p>
          <a:p>
            <a:pPr marL="800100" lvl="1" indent="-342900">
              <a:buFont typeface="Arial" panose="020B0604020202020204" pitchFamily="34" charset="0"/>
              <a:buChar char="•"/>
            </a:pPr>
            <a:r>
              <a:rPr lang="en-AU" sz="2400" dirty="0"/>
              <a:t>Extended answer questions</a:t>
            </a:r>
          </a:p>
        </p:txBody>
      </p:sp>
      <p:sp>
        <p:nvSpPr>
          <p:cNvPr id="10" name="TextBox 9">
            <a:extLst>
              <a:ext uri="{FF2B5EF4-FFF2-40B4-BE49-F238E27FC236}">
                <a16:creationId xmlns:a16="http://schemas.microsoft.com/office/drawing/2014/main" id="{75D82CEC-B92F-5847-975F-EDCDF838D5E9}"/>
              </a:ext>
            </a:extLst>
          </p:cNvPr>
          <p:cNvSpPr txBox="1"/>
          <p:nvPr/>
        </p:nvSpPr>
        <p:spPr>
          <a:xfrm>
            <a:off x="162789" y="3996597"/>
            <a:ext cx="7723197" cy="1938992"/>
          </a:xfrm>
          <a:prstGeom prst="rect">
            <a:avLst/>
          </a:prstGeom>
          <a:noFill/>
        </p:spPr>
        <p:txBody>
          <a:bodyPr wrap="square" rtlCol="0">
            <a:spAutoFit/>
          </a:bodyPr>
          <a:lstStyle/>
          <a:p>
            <a:pPr marL="342900" indent="-342900">
              <a:buFont typeface="+mj-lt"/>
              <a:buAutoNum type="arabicPeriod" startAt="2"/>
            </a:pPr>
            <a:r>
              <a:rPr lang="en-AU" sz="2400" dirty="0" smtClean="0"/>
              <a:t>Attachment theory could provide explanations for relationship issues in your own lives, or in the lives of those you know well. It is also useful to know when making decisions about how to raise your own children or if you work in childcare services/education.</a:t>
            </a:r>
            <a:endParaRPr lang="en-AU" sz="2400" dirty="0"/>
          </a:p>
        </p:txBody>
      </p:sp>
      <p:sp>
        <p:nvSpPr>
          <p:cNvPr id="13" name="Explosion 1 12">
            <a:extLst>
              <a:ext uri="{FF2B5EF4-FFF2-40B4-BE49-F238E27FC236}">
                <a16:creationId xmlns:a16="http://schemas.microsoft.com/office/drawing/2014/main" id="{515089BE-0D1F-3646-9C40-2B249DDD3EDE}"/>
              </a:ext>
            </a:extLst>
          </p:cNvPr>
          <p:cNvSpPr/>
          <p:nvPr/>
        </p:nvSpPr>
        <p:spPr>
          <a:xfrm>
            <a:off x="8237517" y="4698655"/>
            <a:ext cx="3954483" cy="1747340"/>
          </a:xfrm>
          <a:prstGeom prst="irregularSeal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Why is it relevant to you?</a:t>
            </a:r>
          </a:p>
        </p:txBody>
      </p:sp>
      <p:sp>
        <p:nvSpPr>
          <p:cNvPr id="11" name="Rounded Rectangle 10">
            <a:extLst>
              <a:ext uri="{FF2B5EF4-FFF2-40B4-BE49-F238E27FC236}">
                <a16:creationId xmlns:a16="http://schemas.microsoft.com/office/drawing/2014/main" id="{DA0C740F-A7BA-304F-A0DD-1D1A7ED413F0}"/>
              </a:ext>
            </a:extLst>
          </p:cNvPr>
          <p:cNvSpPr/>
          <p:nvPr/>
        </p:nvSpPr>
        <p:spPr>
          <a:xfrm rot="16200000">
            <a:off x="-368343" y="5245814"/>
            <a:ext cx="1062264" cy="317285"/>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Relevance</a:t>
            </a:r>
          </a:p>
        </p:txBody>
      </p:sp>
    </p:spTree>
    <p:extLst>
      <p:ext uri="{BB962C8B-B14F-4D97-AF65-F5344CB8AC3E}">
        <p14:creationId xmlns:p14="http://schemas.microsoft.com/office/powerpoint/2010/main" val="329400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descr="Image result for lightning">
            <a:extLst>
              <a:ext uri="{FF2B5EF4-FFF2-40B4-BE49-F238E27FC236}">
                <a16:creationId xmlns:a16="http://schemas.microsoft.com/office/drawing/2014/main" id="{71CC06AA-8ACC-D741-BF6F-EBFBCC83BF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596947">
            <a:off x="323805" y="-224148"/>
            <a:ext cx="1058741" cy="1938820"/>
          </a:xfrm>
          <a:prstGeom prst="rect">
            <a:avLst/>
          </a:prstGeom>
          <a:noFill/>
          <a:extLst>
            <a:ext uri="{909E8E84-426E-40DD-AFC4-6F175D3DCCD1}">
              <a14:hiddenFill xmlns:a14="http://schemas.microsoft.com/office/drawing/2010/main">
                <a:solidFill>
                  <a:srgbClr val="FFFFFF"/>
                </a:solidFill>
              </a14:hiddenFill>
            </a:ext>
          </a:extLst>
        </p:spPr>
      </p:pic>
      <p:sp>
        <p:nvSpPr>
          <p:cNvPr id="9" name="Rounded Rectangle 8">
            <a:extLst>
              <a:ext uri="{FF2B5EF4-FFF2-40B4-BE49-F238E27FC236}">
                <a16:creationId xmlns:a16="http://schemas.microsoft.com/office/drawing/2014/main" id="{2CEF755D-AE66-4249-9E8E-76F9E2076EBE}"/>
              </a:ext>
            </a:extLst>
          </p:cNvPr>
          <p:cNvSpPr/>
          <p:nvPr/>
        </p:nvSpPr>
        <p:spPr>
          <a:xfrm rot="16200000">
            <a:off x="-222526" y="5733979"/>
            <a:ext cx="787393" cy="317285"/>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Closure</a:t>
            </a:r>
          </a:p>
        </p:txBody>
      </p:sp>
      <p:sp>
        <p:nvSpPr>
          <p:cNvPr id="2" name="TextBox 1">
            <a:extLst>
              <a:ext uri="{FF2B5EF4-FFF2-40B4-BE49-F238E27FC236}">
                <a16:creationId xmlns:a16="http://schemas.microsoft.com/office/drawing/2014/main" id="{582885EF-524A-A04B-9681-7B4799F4BF3D}"/>
              </a:ext>
            </a:extLst>
          </p:cNvPr>
          <p:cNvSpPr txBox="1"/>
          <p:nvPr/>
        </p:nvSpPr>
        <p:spPr>
          <a:xfrm>
            <a:off x="1420106" y="367990"/>
            <a:ext cx="1539204" cy="461665"/>
          </a:xfrm>
          <a:prstGeom prst="rect">
            <a:avLst/>
          </a:prstGeom>
          <a:noFill/>
        </p:spPr>
        <p:txBody>
          <a:bodyPr wrap="none" rtlCol="0">
            <a:spAutoFit/>
          </a:bodyPr>
          <a:lstStyle/>
          <a:p>
            <a:pPr algn="ctr"/>
            <a:r>
              <a:rPr lang="en-AU" sz="2400" b="1" dirty="0"/>
              <a:t>Flash quiz!</a:t>
            </a:r>
          </a:p>
        </p:txBody>
      </p:sp>
      <p:sp>
        <p:nvSpPr>
          <p:cNvPr id="3" name="TextBox 2">
            <a:extLst>
              <a:ext uri="{FF2B5EF4-FFF2-40B4-BE49-F238E27FC236}">
                <a16:creationId xmlns:a16="http://schemas.microsoft.com/office/drawing/2014/main" id="{77370A34-A163-B041-8CF0-1B44CE3D3BA3}"/>
              </a:ext>
            </a:extLst>
          </p:cNvPr>
          <p:cNvSpPr txBox="1"/>
          <p:nvPr/>
        </p:nvSpPr>
        <p:spPr>
          <a:xfrm>
            <a:off x="853175" y="1221675"/>
            <a:ext cx="11191614" cy="5940088"/>
          </a:xfrm>
          <a:prstGeom prst="rect">
            <a:avLst/>
          </a:prstGeom>
          <a:noFill/>
        </p:spPr>
        <p:txBody>
          <a:bodyPr wrap="square" rtlCol="0">
            <a:spAutoFit/>
          </a:bodyPr>
          <a:lstStyle/>
          <a:p>
            <a:pPr marL="342900" indent="-342900">
              <a:buFont typeface="+mj-lt"/>
              <a:buAutoNum type="arabicPeriod"/>
            </a:pPr>
            <a:r>
              <a:rPr lang="en-AU" sz="2000" b="1" dirty="0"/>
              <a:t>In Harlow’s experiments on infant-mother attachment, he used a clot surrogate and a wire surrogate mother. He found that infant monkeys:</a:t>
            </a:r>
          </a:p>
          <a:p>
            <a:pPr marL="800100" lvl="1" indent="-342900">
              <a:buFont typeface="+mj-lt"/>
              <a:buAutoNum type="alphaLcPeriod"/>
            </a:pPr>
            <a:r>
              <a:rPr lang="en-AU" sz="2000" dirty="0"/>
              <a:t>Spent more time on the wire surrogate</a:t>
            </a:r>
          </a:p>
          <a:p>
            <a:pPr marL="800100" lvl="1" indent="-342900">
              <a:buFont typeface="+mj-lt"/>
              <a:buAutoNum type="alphaLcPeriod"/>
            </a:pPr>
            <a:r>
              <a:rPr lang="en-AU" sz="2000" dirty="0"/>
              <a:t>Spent more time on the cloth surrogate</a:t>
            </a:r>
          </a:p>
          <a:p>
            <a:pPr marL="800100" lvl="1" indent="-342900">
              <a:buFont typeface="+mj-lt"/>
              <a:buAutoNum type="alphaLcPeriod"/>
            </a:pPr>
            <a:r>
              <a:rPr lang="en-AU" sz="2000" dirty="0"/>
              <a:t>Preferred the surrogate that had the food</a:t>
            </a:r>
          </a:p>
          <a:p>
            <a:pPr marL="800100" lvl="1" indent="-342900">
              <a:buFont typeface="+mj-lt"/>
              <a:buAutoNum type="alphaLcPeriod"/>
            </a:pPr>
            <a:r>
              <a:rPr lang="en-AU" sz="2000" dirty="0"/>
              <a:t>Spent an equal amount of time on both surrogates</a:t>
            </a:r>
          </a:p>
          <a:p>
            <a:pPr marL="342900" indent="-342900">
              <a:buFont typeface="+mj-lt"/>
              <a:buAutoNum type="arabicPeriod"/>
            </a:pPr>
            <a:r>
              <a:rPr lang="en-AU" sz="2000" b="1" dirty="0"/>
              <a:t>Bowlby found that the first year of life and the responsiveness of the caregiver were important elements to a child’s _________later in life. </a:t>
            </a:r>
          </a:p>
          <a:p>
            <a:pPr marL="800100" lvl="1" indent="-342900">
              <a:buFont typeface="+mj-lt"/>
              <a:buAutoNum type="alphaLcPeriod"/>
            </a:pPr>
            <a:r>
              <a:rPr lang="en-AU" sz="2000" dirty="0"/>
              <a:t>Cognitive behaviour</a:t>
            </a:r>
          </a:p>
          <a:p>
            <a:pPr marL="800100" lvl="1" indent="-342900">
              <a:buFont typeface="+mj-lt"/>
              <a:buAutoNum type="alphaLcPeriod"/>
            </a:pPr>
            <a:r>
              <a:rPr lang="en-AU" sz="2000" dirty="0"/>
              <a:t>Social behaviour</a:t>
            </a:r>
          </a:p>
          <a:p>
            <a:pPr marL="800100" lvl="1" indent="-342900">
              <a:buFont typeface="+mj-lt"/>
              <a:buAutoNum type="alphaLcPeriod"/>
            </a:pPr>
            <a:r>
              <a:rPr lang="en-AU" sz="2000" dirty="0"/>
              <a:t>Memory formation</a:t>
            </a:r>
          </a:p>
          <a:p>
            <a:pPr marL="800100" lvl="1" indent="-342900">
              <a:buFont typeface="+mj-lt"/>
              <a:buAutoNum type="alphaLcPeriod"/>
            </a:pPr>
            <a:r>
              <a:rPr lang="en-AU" sz="2000" dirty="0"/>
              <a:t>Sporting ability </a:t>
            </a:r>
          </a:p>
          <a:p>
            <a:pPr marL="342900" indent="-342900">
              <a:buFont typeface="+mj-lt"/>
              <a:buAutoNum type="arabicPeriod"/>
            </a:pPr>
            <a:r>
              <a:rPr lang="en-AU" sz="2000" b="1" dirty="0"/>
              <a:t>Signal behaviours such as crying and smiling are used by infants to:</a:t>
            </a:r>
          </a:p>
          <a:p>
            <a:pPr marL="800100" lvl="1" indent="-342900">
              <a:buFont typeface="+mj-lt"/>
              <a:buAutoNum type="alphaLcPeriod"/>
            </a:pPr>
            <a:r>
              <a:rPr lang="en-AU" sz="2000" dirty="0"/>
              <a:t>Attract attention from their caregiver</a:t>
            </a:r>
          </a:p>
          <a:p>
            <a:pPr marL="800100" lvl="1" indent="-342900">
              <a:buFont typeface="+mj-lt"/>
              <a:buAutoNum type="alphaLcPeriod"/>
            </a:pPr>
            <a:r>
              <a:rPr lang="en-AU" sz="2000" dirty="0"/>
              <a:t>Tell their caregiver that they are hungry</a:t>
            </a:r>
          </a:p>
          <a:p>
            <a:pPr marL="800100" lvl="1" indent="-342900">
              <a:buFont typeface="+mj-lt"/>
              <a:buAutoNum type="alphaLcPeriod"/>
            </a:pPr>
            <a:r>
              <a:rPr lang="en-AU" sz="2000" dirty="0"/>
              <a:t>Maintain physical proximity to the caregiver</a:t>
            </a:r>
          </a:p>
          <a:p>
            <a:pPr marL="800100" lvl="1" indent="-342900">
              <a:buFont typeface="+mj-lt"/>
              <a:buAutoNum type="alphaLcPeriod"/>
            </a:pPr>
            <a:r>
              <a:rPr lang="en-AU" sz="2000" dirty="0"/>
              <a:t>All of the above.</a:t>
            </a:r>
          </a:p>
          <a:p>
            <a:pPr marL="342900" indent="-342900">
              <a:buFont typeface="+mj-lt"/>
              <a:buAutoNum type="arabicPeriod"/>
            </a:pPr>
            <a:endParaRPr lang="en-AU" sz="2000" dirty="0"/>
          </a:p>
          <a:p>
            <a:pPr marL="342900" indent="-342900">
              <a:buFont typeface="+mj-lt"/>
              <a:buAutoNum type="arabicPeriod"/>
            </a:pPr>
            <a:endParaRPr lang="en-AU" sz="2000" dirty="0"/>
          </a:p>
        </p:txBody>
      </p:sp>
    </p:spTree>
    <p:extLst>
      <p:ext uri="{BB962C8B-B14F-4D97-AF65-F5344CB8AC3E}">
        <p14:creationId xmlns:p14="http://schemas.microsoft.com/office/powerpoint/2010/main" val="107865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descr="Image result for lightning">
            <a:extLst>
              <a:ext uri="{FF2B5EF4-FFF2-40B4-BE49-F238E27FC236}">
                <a16:creationId xmlns:a16="http://schemas.microsoft.com/office/drawing/2014/main" id="{71CC06AA-8ACC-D741-BF6F-EBFBCC83BF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596947">
            <a:off x="323805" y="-224148"/>
            <a:ext cx="1058741" cy="1938820"/>
          </a:xfrm>
          <a:prstGeom prst="rect">
            <a:avLst/>
          </a:prstGeom>
          <a:noFill/>
          <a:extLst>
            <a:ext uri="{909E8E84-426E-40DD-AFC4-6F175D3DCCD1}">
              <a14:hiddenFill xmlns:a14="http://schemas.microsoft.com/office/drawing/2010/main">
                <a:solidFill>
                  <a:srgbClr val="FFFFFF"/>
                </a:solidFill>
              </a14:hiddenFill>
            </a:ext>
          </a:extLst>
        </p:spPr>
      </p:pic>
      <p:sp>
        <p:nvSpPr>
          <p:cNvPr id="9" name="Rounded Rectangle 8">
            <a:extLst>
              <a:ext uri="{FF2B5EF4-FFF2-40B4-BE49-F238E27FC236}">
                <a16:creationId xmlns:a16="http://schemas.microsoft.com/office/drawing/2014/main" id="{2CEF755D-AE66-4249-9E8E-76F9E2076EBE}"/>
              </a:ext>
            </a:extLst>
          </p:cNvPr>
          <p:cNvSpPr/>
          <p:nvPr/>
        </p:nvSpPr>
        <p:spPr>
          <a:xfrm rot="16200000">
            <a:off x="-222526" y="5733979"/>
            <a:ext cx="787393" cy="317285"/>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305289"/>
                </a:solidFill>
              </a:rPr>
              <a:t>Closure</a:t>
            </a:r>
          </a:p>
        </p:txBody>
      </p:sp>
      <p:sp>
        <p:nvSpPr>
          <p:cNvPr id="2" name="TextBox 1">
            <a:extLst>
              <a:ext uri="{FF2B5EF4-FFF2-40B4-BE49-F238E27FC236}">
                <a16:creationId xmlns:a16="http://schemas.microsoft.com/office/drawing/2014/main" id="{582885EF-524A-A04B-9681-7B4799F4BF3D}"/>
              </a:ext>
            </a:extLst>
          </p:cNvPr>
          <p:cNvSpPr txBox="1"/>
          <p:nvPr/>
        </p:nvSpPr>
        <p:spPr>
          <a:xfrm>
            <a:off x="1420106" y="367990"/>
            <a:ext cx="1539204" cy="461665"/>
          </a:xfrm>
          <a:prstGeom prst="rect">
            <a:avLst/>
          </a:prstGeom>
          <a:noFill/>
        </p:spPr>
        <p:txBody>
          <a:bodyPr wrap="none" rtlCol="0">
            <a:spAutoFit/>
          </a:bodyPr>
          <a:lstStyle/>
          <a:p>
            <a:pPr algn="ctr"/>
            <a:r>
              <a:rPr lang="en-AU" sz="2400" b="1" dirty="0"/>
              <a:t>Flash quiz!</a:t>
            </a:r>
          </a:p>
        </p:txBody>
      </p:sp>
      <p:sp>
        <p:nvSpPr>
          <p:cNvPr id="3" name="TextBox 2">
            <a:extLst>
              <a:ext uri="{FF2B5EF4-FFF2-40B4-BE49-F238E27FC236}">
                <a16:creationId xmlns:a16="http://schemas.microsoft.com/office/drawing/2014/main" id="{77370A34-A163-B041-8CF0-1B44CE3D3BA3}"/>
              </a:ext>
            </a:extLst>
          </p:cNvPr>
          <p:cNvSpPr txBox="1"/>
          <p:nvPr/>
        </p:nvSpPr>
        <p:spPr>
          <a:xfrm>
            <a:off x="853175" y="1221675"/>
            <a:ext cx="11191614" cy="5324535"/>
          </a:xfrm>
          <a:prstGeom prst="rect">
            <a:avLst/>
          </a:prstGeom>
          <a:noFill/>
        </p:spPr>
        <p:txBody>
          <a:bodyPr wrap="square" rtlCol="0">
            <a:spAutoFit/>
          </a:bodyPr>
          <a:lstStyle/>
          <a:p>
            <a:pPr marL="457200" indent="-457200">
              <a:buFont typeface="+mj-lt"/>
              <a:buAutoNum type="arabicPeriod" startAt="4"/>
            </a:pPr>
            <a:r>
              <a:rPr lang="en-AU" sz="2000" b="1" dirty="0"/>
              <a:t>Ainsworth’s three categories of infant behaviour were:</a:t>
            </a:r>
          </a:p>
          <a:p>
            <a:pPr marL="800100" lvl="1" indent="-342900">
              <a:buFont typeface="+mj-lt"/>
              <a:buAutoNum type="alphaLcPeriod"/>
            </a:pPr>
            <a:r>
              <a:rPr lang="en-AU" sz="2000" dirty="0"/>
              <a:t>Avoidant attachment, secure attachment, independent attachment</a:t>
            </a:r>
          </a:p>
          <a:p>
            <a:pPr marL="800100" lvl="1" indent="-342900">
              <a:buFont typeface="+mj-lt"/>
              <a:buAutoNum type="alphaLcPeriod"/>
            </a:pPr>
            <a:r>
              <a:rPr lang="en-AU" sz="2000" dirty="0"/>
              <a:t>Secure attachment, dependent attachment, emotional attachment</a:t>
            </a:r>
          </a:p>
          <a:p>
            <a:pPr marL="800100" lvl="1" indent="-342900">
              <a:buFont typeface="+mj-lt"/>
              <a:buAutoNum type="alphaLcPeriod"/>
            </a:pPr>
            <a:r>
              <a:rPr lang="en-AU" sz="2000" dirty="0"/>
              <a:t>Autonomous attachment, secure attachment, anxious attachment</a:t>
            </a:r>
          </a:p>
          <a:p>
            <a:pPr marL="800100" lvl="1" indent="-342900">
              <a:buFont typeface="+mj-lt"/>
              <a:buAutoNum type="alphaLcPeriod"/>
            </a:pPr>
            <a:r>
              <a:rPr lang="en-AU" sz="2000" dirty="0"/>
              <a:t>Avoidant attachment, secure attachment, anxious attachment</a:t>
            </a:r>
          </a:p>
          <a:p>
            <a:pPr marL="342900" indent="-342900">
              <a:buFont typeface="+mj-lt"/>
              <a:buAutoNum type="arabicPeriod" startAt="4"/>
            </a:pPr>
            <a:r>
              <a:rPr lang="en-AU" sz="2000" b="1" dirty="0"/>
              <a:t>Attachment refers to:</a:t>
            </a:r>
          </a:p>
          <a:p>
            <a:pPr marL="800100" lvl="1" indent="-342900">
              <a:buFont typeface="+mj-lt"/>
              <a:buAutoNum type="alphaLcPeriod"/>
            </a:pPr>
            <a:r>
              <a:rPr lang="en-AU" sz="2000" dirty="0"/>
              <a:t>An </a:t>
            </a:r>
            <a:r>
              <a:rPr lang="en-AU" sz="2000"/>
              <a:t>infant’s ability </a:t>
            </a:r>
            <a:r>
              <a:rPr lang="en-AU" sz="2000" dirty="0"/>
              <a:t>to follow large objects with their eyes</a:t>
            </a:r>
          </a:p>
          <a:p>
            <a:pPr marL="800100" lvl="1" indent="-342900">
              <a:buFont typeface="+mj-lt"/>
              <a:buAutoNum type="alphaLcPeriod"/>
            </a:pPr>
            <a:r>
              <a:rPr lang="en-AU" sz="2000" dirty="0"/>
              <a:t>The grip an infant will develop on their caregiver</a:t>
            </a:r>
          </a:p>
          <a:p>
            <a:pPr marL="800100" lvl="1" indent="-342900">
              <a:buFont typeface="+mj-lt"/>
              <a:buAutoNum type="alphaLcPeriod"/>
            </a:pPr>
            <a:r>
              <a:rPr lang="en-AU" sz="2000" dirty="0"/>
              <a:t>The close emotional bond an infant develops with their caregiver</a:t>
            </a:r>
          </a:p>
          <a:p>
            <a:pPr marL="800100" lvl="1" indent="-342900">
              <a:buFont typeface="+mj-lt"/>
              <a:buAutoNum type="alphaLcPeriod"/>
            </a:pPr>
            <a:r>
              <a:rPr lang="en-AU" sz="2000" dirty="0"/>
              <a:t>None of the above</a:t>
            </a:r>
          </a:p>
          <a:p>
            <a:pPr marL="342900" indent="-342900">
              <a:buFont typeface="+mj-lt"/>
              <a:buAutoNum type="arabicPeriod" startAt="4"/>
            </a:pPr>
            <a:r>
              <a:rPr lang="en-AU" sz="2000" b="1" dirty="0"/>
              <a:t>When the mother went out of the room, leaving the infant in the room with the stranger during the Strange Situation experiment, an observer would record which three types of behaviours in the infant?</a:t>
            </a:r>
          </a:p>
          <a:p>
            <a:pPr marL="800100" lvl="1" indent="-342900">
              <a:buFont typeface="+mj-lt"/>
              <a:buAutoNum type="alphaLcPeriod"/>
            </a:pPr>
            <a:r>
              <a:rPr lang="en-AU" sz="2000" dirty="0"/>
              <a:t>Any orienting response, crying or distress and habituation</a:t>
            </a:r>
          </a:p>
          <a:p>
            <a:pPr marL="800100" lvl="1" indent="-342900">
              <a:buFont typeface="+mj-lt"/>
              <a:buAutoNum type="alphaLcPeriod"/>
            </a:pPr>
            <a:r>
              <a:rPr lang="en-AU" sz="2000" dirty="0"/>
              <a:t>Crying or distress, happiness and play, contact seeking</a:t>
            </a:r>
          </a:p>
          <a:p>
            <a:pPr marL="342900" indent="-342900">
              <a:buFont typeface="+mj-lt"/>
              <a:buAutoNum type="arabicPeriod" startAt="4"/>
            </a:pPr>
            <a:endParaRPr lang="en-AU" sz="2000" dirty="0"/>
          </a:p>
          <a:p>
            <a:pPr marL="342900" indent="-342900">
              <a:buFont typeface="+mj-lt"/>
              <a:buAutoNum type="arabicPeriod" startAt="4"/>
            </a:pPr>
            <a:endParaRPr lang="en-AU" sz="2000" dirty="0"/>
          </a:p>
        </p:txBody>
      </p:sp>
    </p:spTree>
    <p:extLst>
      <p:ext uri="{BB962C8B-B14F-4D97-AF65-F5344CB8AC3E}">
        <p14:creationId xmlns:p14="http://schemas.microsoft.com/office/powerpoint/2010/main" val="4277626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807</TotalTime>
  <Words>6362</Words>
  <Application>Microsoft Office PowerPoint</Application>
  <PresentationFormat>Widescreen</PresentationFormat>
  <Paragraphs>672</Paragraphs>
  <Slides>55</Slides>
  <Notes>0</Notes>
  <HiddenSlides>0</HiddenSlides>
  <MMClips>5</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55</vt:i4>
      </vt:variant>
    </vt:vector>
  </HeadingPairs>
  <TitlesOfParts>
    <vt:vector size="64" baseType="lpstr">
      <vt:lpstr>Arial</vt:lpstr>
      <vt:lpstr>Calibri</vt:lpstr>
      <vt:lpstr>Calibri Light</vt:lpstr>
      <vt:lpstr>Century Gothic</vt:lpstr>
      <vt:lpstr>Courier New</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GIOVANNINI Claudia [Bullsbrook College]</dc:creator>
  <cp:lastModifiedBy>GIOVANNINI Claudia [Bullsbrook College]</cp:lastModifiedBy>
  <cp:revision>57</cp:revision>
  <cp:lastPrinted>2019-06-17T00:44:23Z</cp:lastPrinted>
  <dcterms:created xsi:type="dcterms:W3CDTF">2019-06-10T00:17:31Z</dcterms:created>
  <dcterms:modified xsi:type="dcterms:W3CDTF">2019-06-28T01:13:33Z</dcterms:modified>
</cp:coreProperties>
</file>
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73" r:id="rId11"/>
    <p:sldId id="268" r:id="rId12"/>
    <p:sldId id="269" r:id="rId13"/>
    <p:sldId id="270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298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5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EFCD-BBA7-459A-A307-7C73304E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85E2A-D82E-4EAF-8DC3-EAB8C4DFF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D30AF-71E8-4E9F-81F3-77AA09AF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83B06-0357-42C8-AE1D-5E881FE059C0}" type="datetimeFigureOut">
              <a:rPr lang="en-AU" smtClean="0"/>
              <a:t>26/11/2020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D073-B671-4C10-9AD3-9A9EF95B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3C2BF-C6E9-41D1-B064-9CBBBC45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CF423-8F73-48F9-8A3D-BDBFC2BFF5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32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9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Biological bases of behaviour</a:t>
            </a:r>
          </a:p>
        </p:txBody>
      </p:sp>
      <p:pic>
        <p:nvPicPr>
          <p:cNvPr id="14" name="Graphic 13" descr="Brain in head">
            <a:extLst>
              <a:ext uri="{FF2B5EF4-FFF2-40B4-BE49-F238E27FC236}">
                <a16:creationId xmlns:a16="http://schemas.microsoft.com/office/drawing/2014/main" id="{F06C1833-0745-47D5-80E7-AFDCAF320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05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rgbClr val="E78129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461084" cy="5431376"/>
          </a:xfrm>
        </p:spPr>
        <p:txBody>
          <a:bodyPr>
            <a:normAutofit/>
          </a:bodyPr>
          <a:lstStyle/>
          <a:p>
            <a:r>
              <a:rPr lang="en-AU" i="0" dirty="0">
                <a:solidFill>
                  <a:srgbClr val="FFFFFF"/>
                </a:solidFill>
                <a:latin typeface="Impact" panose="020B0806030902050204" pitchFamily="34" charset="0"/>
              </a:rPr>
              <a:t>Divisions of the nervous system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6A11A3-6149-4678-8A02-A1330DA7E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1688" y="1064380"/>
            <a:ext cx="6177280" cy="47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6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4B04273-AE2A-4676-98D5-85D0D238C9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694A-7669-4E33-A4BD-3072B1A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625"/>
            <a:ext cx="10515600" cy="4163338"/>
          </a:xfrm>
        </p:spPr>
        <p:txBody>
          <a:bodyPr>
            <a:normAutofit/>
          </a:bodyPr>
          <a:lstStyle/>
          <a:p>
            <a:r>
              <a:rPr lang="en-AU" sz="3200" b="1" dirty="0"/>
              <a:t>Contralateral</a:t>
            </a:r>
            <a:r>
              <a:rPr lang="en-AU" sz="3200" dirty="0"/>
              <a:t> – affecting the opposite side of the body e.g. damage to the left side affects right motor movements</a:t>
            </a:r>
          </a:p>
          <a:p>
            <a:r>
              <a:rPr lang="en-AU" sz="3200" b="1" dirty="0"/>
              <a:t>Ipsilateral</a:t>
            </a:r>
            <a:r>
              <a:rPr lang="en-AU" sz="3200" dirty="0"/>
              <a:t> – affecting the same side of the body as hemisphere of the brain</a:t>
            </a:r>
          </a:p>
        </p:txBody>
      </p:sp>
    </p:spTree>
    <p:extLst>
      <p:ext uri="{BB962C8B-B14F-4D97-AF65-F5344CB8AC3E}">
        <p14:creationId xmlns:p14="http://schemas.microsoft.com/office/powerpoint/2010/main" val="236145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Spinal 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694A-7669-4E33-A4BD-3072B1A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13" y="2321207"/>
            <a:ext cx="3888528" cy="4185602"/>
          </a:xfrm>
        </p:spPr>
        <p:txBody>
          <a:bodyPr>
            <a:normAutofit fontScale="92500"/>
          </a:bodyPr>
          <a:lstStyle/>
          <a:p>
            <a:r>
              <a:rPr lang="en-AU" sz="2400" dirty="0"/>
              <a:t>Efferent = motor neuron (effects) – lead to ventral (front) side</a:t>
            </a:r>
          </a:p>
          <a:p>
            <a:r>
              <a:rPr lang="en-AU" sz="2400" dirty="0"/>
              <a:t>Afferent = sensory neuron (affective) – lead to dorsal (back) side</a:t>
            </a:r>
          </a:p>
          <a:p>
            <a:r>
              <a:rPr lang="en-AU" sz="2400" dirty="0"/>
              <a:t>Consists of 31 segments (each containing a pair of spinal nerves)</a:t>
            </a:r>
          </a:p>
          <a:p>
            <a:r>
              <a:rPr lang="en-AU" sz="2400" dirty="0"/>
              <a:t>NB: also the 12 cranial nerves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8B7C0-26C2-486E-964F-B24B7D1BD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785" y="1250337"/>
            <a:ext cx="5813127" cy="492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03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Spinal 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694A-7669-4E33-A4BD-3072B1A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13" y="2321207"/>
            <a:ext cx="3888528" cy="4185602"/>
          </a:xfrm>
        </p:spPr>
        <p:txBody>
          <a:bodyPr>
            <a:normAutofit fontScale="92500"/>
          </a:bodyPr>
          <a:lstStyle/>
          <a:p>
            <a:r>
              <a:rPr lang="en-AU" sz="2400" dirty="0"/>
              <a:t>Efferent = motor neuron (effects) – lead to ventral (front) side</a:t>
            </a:r>
          </a:p>
          <a:p>
            <a:r>
              <a:rPr lang="en-AU" sz="2400" dirty="0"/>
              <a:t>Afferent = sensory neuron (affective) – lead to dorsal (back) side</a:t>
            </a:r>
          </a:p>
          <a:p>
            <a:r>
              <a:rPr lang="en-AU" sz="2400" dirty="0"/>
              <a:t>Consists of 31 segments (each containing a pair of spinal nerves)</a:t>
            </a:r>
          </a:p>
          <a:p>
            <a:r>
              <a:rPr lang="en-AU" sz="2400" dirty="0"/>
              <a:t>NB: also the 12 cranial nerves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4CEB0-A3D0-47ED-9ACD-7F591E3E8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3"/>
          <a:stretch/>
        </p:blipFill>
        <p:spPr>
          <a:xfrm>
            <a:off x="6157292" y="0"/>
            <a:ext cx="5196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4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6370E-7A61-4B36-B4F3-773C589D8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24434" cy="68580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B88849-7381-4FEE-9BEF-3562328B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559" y="507999"/>
            <a:ext cx="3040167" cy="1082553"/>
          </a:xfrm>
        </p:spPr>
        <p:txBody>
          <a:bodyPr>
            <a:normAutofit fontScale="90000"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Cranial nerves</a:t>
            </a:r>
          </a:p>
        </p:txBody>
      </p:sp>
    </p:spTree>
    <p:extLst>
      <p:ext uri="{BB962C8B-B14F-4D97-AF65-F5344CB8AC3E}">
        <p14:creationId xmlns:p14="http://schemas.microsoft.com/office/powerpoint/2010/main" val="250986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4B04273-AE2A-4676-98D5-85D0D238C9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Types of neurons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694A-7669-4E33-A4BD-3072B1A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320" y="642926"/>
            <a:ext cx="10515600" cy="4163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-motor, sensory, relay/interneurons</a:t>
            </a:r>
            <a:endParaRPr lang="en-AU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4ABD7-68C2-4CCF-AAF7-16C3BD94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50" y="1573530"/>
            <a:ext cx="8437014" cy="49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49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4B04273-AE2A-4676-98D5-85D0D238C9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DCBD1-01EA-4407-B32D-68A4CBCA7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688" y="681037"/>
            <a:ext cx="8340352" cy="594471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92C9-180F-417F-B9BE-B768D7D96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Types of neurons</a:t>
            </a:r>
          </a:p>
        </p:txBody>
      </p:sp>
    </p:spTree>
    <p:extLst>
      <p:ext uri="{BB962C8B-B14F-4D97-AF65-F5344CB8AC3E}">
        <p14:creationId xmlns:p14="http://schemas.microsoft.com/office/powerpoint/2010/main" val="385608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4B04273-AE2A-4676-98D5-85D0D238C9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CC351029-4F3C-41FA-B0EE-794545407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45390"/>
              </p:ext>
            </p:extLst>
          </p:nvPr>
        </p:nvGraphicFramePr>
        <p:xfrm>
          <a:off x="838200" y="1825625"/>
          <a:ext cx="105156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676">
                  <a:extLst>
                    <a:ext uri="{9D8B030D-6E8A-4147-A177-3AD203B41FA5}">
                      <a16:colId xmlns:a16="http://schemas.microsoft.com/office/drawing/2014/main" val="4084855529"/>
                    </a:ext>
                  </a:extLst>
                </a:gridCol>
                <a:gridCol w="8322924">
                  <a:extLst>
                    <a:ext uri="{9D8B030D-6E8A-4147-A177-3AD203B41FA5}">
                      <a16:colId xmlns:a16="http://schemas.microsoft.com/office/drawing/2014/main" val="2290207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Neurotransmitter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6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Dopamine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Learning, attention and pleasurable sensations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Parkinson’s caused by degeneration of neurons that produce dopamine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1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Serotonin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Transmits impulses between/along nerves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Constricting smooth muscles (bodily processes)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Sleep and mood (low serotonin linked to depression)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46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Noradrenaline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Hormone AND neurotransmitter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Stress, danger, also memory retrieval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Physiological effects – increase heart rate and blood pressure by widening air passages and narrowing blood vessels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Dysfunction also associated with mental disorders esp. depression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521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Endorphins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Regulate feelings and perceptions of pain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Released when the body is stressed and in positive mood (e.g. runners 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44618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Common Neurotransmitters</a:t>
            </a:r>
          </a:p>
        </p:txBody>
      </p:sp>
    </p:spTree>
    <p:extLst>
      <p:ext uri="{BB962C8B-B14F-4D97-AF65-F5344CB8AC3E}">
        <p14:creationId xmlns:p14="http://schemas.microsoft.com/office/powerpoint/2010/main" val="28014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42524"/>
            <a:ext cx="9337450" cy="63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0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4" y="0"/>
            <a:ext cx="3964008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Frontal lobe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92C9-180F-417F-B9BE-B768D7D9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1530849"/>
            <a:ext cx="6557500" cy="4646113"/>
          </a:xfrm>
        </p:spPr>
        <p:txBody>
          <a:bodyPr>
            <a:normAutofit lnSpcReduction="10000"/>
          </a:bodyPr>
          <a:lstStyle/>
          <a:p>
            <a:r>
              <a:rPr lang="en-AU" sz="2000" b="1" dirty="0"/>
              <a:t>Primary motor cortex </a:t>
            </a:r>
          </a:p>
          <a:p>
            <a:r>
              <a:rPr lang="en-AU" sz="2000" dirty="0"/>
              <a:t>strip just before the central sulcus</a:t>
            </a:r>
          </a:p>
          <a:p>
            <a:r>
              <a:rPr lang="en-AU" sz="2000" dirty="0"/>
              <a:t>Controls voluntary movements on the opposite side</a:t>
            </a:r>
          </a:p>
          <a:p>
            <a:r>
              <a:rPr lang="en-AU" sz="2000" b="1" dirty="0" err="1"/>
              <a:t>Broca’s</a:t>
            </a:r>
            <a:r>
              <a:rPr lang="en-AU" sz="2000" b="1" dirty="0"/>
              <a:t> area</a:t>
            </a:r>
          </a:p>
          <a:p>
            <a:r>
              <a:rPr lang="en-AU" sz="2000" dirty="0"/>
              <a:t>Left frontal lobe</a:t>
            </a:r>
          </a:p>
          <a:p>
            <a:r>
              <a:rPr lang="en-AU" sz="2000" dirty="0"/>
              <a:t>Producing speech</a:t>
            </a:r>
          </a:p>
          <a:p>
            <a:r>
              <a:rPr lang="en-AU" sz="2000" dirty="0"/>
              <a:t>‘</a:t>
            </a:r>
            <a:r>
              <a:rPr lang="en-AU" sz="2000" dirty="0" err="1"/>
              <a:t>Broca’s</a:t>
            </a:r>
            <a:r>
              <a:rPr lang="en-AU" sz="2000" dirty="0"/>
              <a:t> aphasia’ = deficit in language production</a:t>
            </a:r>
          </a:p>
          <a:p>
            <a:r>
              <a:rPr lang="en-AU" sz="2000" b="1" dirty="0"/>
              <a:t>(Wernicke’s area)</a:t>
            </a:r>
          </a:p>
          <a:p>
            <a:r>
              <a:rPr lang="en-AU" sz="2000" dirty="0"/>
              <a:t>Left temporal lobe</a:t>
            </a:r>
          </a:p>
          <a:p>
            <a:r>
              <a:rPr lang="en-AU" sz="2000" dirty="0"/>
              <a:t>Understanding speech</a:t>
            </a:r>
          </a:p>
          <a:p>
            <a:endParaRPr lang="en-AU" sz="2000" dirty="0"/>
          </a:p>
        </p:txBody>
      </p:sp>
      <p:pic>
        <p:nvPicPr>
          <p:cNvPr id="1028" name="Picture 4" descr="Speaking without Broca's area – Research Digest">
            <a:extLst>
              <a:ext uri="{FF2B5EF4-FFF2-40B4-BE49-F238E27FC236}">
                <a16:creationId xmlns:a16="http://schemas.microsoft.com/office/drawing/2014/main" id="{3C1876D6-7796-445F-B2E4-9ABE815A7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8200" y="3870997"/>
            <a:ext cx="3741018" cy="254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BRAIN FROM TOP TO BOTTOM">
            <a:extLst>
              <a:ext uri="{FF2B5EF4-FFF2-40B4-BE49-F238E27FC236}">
                <a16:creationId xmlns:a16="http://schemas.microsoft.com/office/drawing/2014/main" id="{D593E4FA-CC58-46D1-AD77-7E313A4E4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1194" y="441998"/>
            <a:ext cx="3534913" cy="29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2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4" y="0"/>
            <a:ext cx="3964008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Parietal lobe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92C9-180F-417F-B9BE-B768D7D9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1530849"/>
            <a:ext cx="6557500" cy="4646113"/>
          </a:xfrm>
        </p:spPr>
        <p:txBody>
          <a:bodyPr>
            <a:normAutofit/>
          </a:bodyPr>
          <a:lstStyle/>
          <a:p>
            <a:r>
              <a:rPr lang="en-AU" sz="2000" dirty="0"/>
              <a:t>Bodily sensations – e.g. touch, temperature, pain</a:t>
            </a:r>
          </a:p>
          <a:p>
            <a:r>
              <a:rPr lang="en-AU" sz="2000" dirty="0"/>
              <a:t>Sensory input from right of body goes to left brain and vice versa</a:t>
            </a:r>
          </a:p>
          <a:p>
            <a:r>
              <a:rPr lang="en-AU" sz="2000" dirty="0"/>
              <a:t>Spatial awareness</a:t>
            </a:r>
          </a:p>
          <a:p>
            <a:r>
              <a:rPr lang="en-AU" sz="2000" dirty="0"/>
              <a:t>‘</a:t>
            </a:r>
            <a:r>
              <a:rPr lang="en-AU" sz="2000" b="1" dirty="0"/>
              <a:t>parietal – associated cortex</a:t>
            </a:r>
            <a:r>
              <a:rPr lang="en-AU" sz="2000" dirty="0"/>
              <a:t>’ enables reading, writing and solving maths problems</a:t>
            </a:r>
          </a:p>
          <a:p>
            <a:r>
              <a:rPr lang="en-AU" sz="2000" b="1" dirty="0"/>
              <a:t>Right hemisphere damage </a:t>
            </a:r>
            <a:r>
              <a:rPr lang="en-AU" sz="2000" dirty="0"/>
              <a:t>= loss of visualisation and spatial relationships</a:t>
            </a:r>
          </a:p>
          <a:p>
            <a:r>
              <a:rPr lang="en-AU" sz="2000" b="1" dirty="0"/>
              <a:t>Left hemisphere damage </a:t>
            </a:r>
            <a:r>
              <a:rPr lang="en-AU" sz="2000" dirty="0"/>
              <a:t>= problems in maths, reading and writing</a:t>
            </a:r>
          </a:p>
          <a:p>
            <a:endParaRPr lang="en-AU" sz="2000" dirty="0"/>
          </a:p>
          <a:p>
            <a:endParaRPr lang="en-AU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076" y="2327758"/>
            <a:ext cx="4678823" cy="269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95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4" y="0"/>
            <a:ext cx="3964008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Occipital lobe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92C9-180F-417F-B9BE-B768D7D9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1530849"/>
            <a:ext cx="6557500" cy="4646113"/>
          </a:xfrm>
        </p:spPr>
        <p:txBody>
          <a:bodyPr>
            <a:normAutofit/>
          </a:bodyPr>
          <a:lstStyle/>
          <a:p>
            <a:r>
              <a:rPr lang="en-AU" sz="2000" dirty="0"/>
              <a:t>Vision</a:t>
            </a:r>
          </a:p>
          <a:p>
            <a:r>
              <a:rPr lang="en-AU" sz="2000" dirty="0"/>
              <a:t>‘</a:t>
            </a:r>
            <a:r>
              <a:rPr lang="en-AU" sz="2000" b="1" dirty="0"/>
              <a:t>primary visual cortex’ </a:t>
            </a:r>
            <a:r>
              <a:rPr lang="en-AU" sz="2000" dirty="0"/>
              <a:t>– receives visual info from retinas</a:t>
            </a:r>
          </a:p>
          <a:p>
            <a:r>
              <a:rPr lang="en-AU" sz="2000" dirty="0"/>
              <a:t>Visual perception and colour recognition</a:t>
            </a:r>
          </a:p>
          <a:p>
            <a:r>
              <a:rPr lang="en-AU" sz="2000" dirty="0"/>
              <a:t>Damage = blindness, partial blindness or ‘word blindness’ (</a:t>
            </a:r>
            <a:r>
              <a:rPr lang="en-AU" sz="2000" b="1" dirty="0"/>
              <a:t>alexia</a:t>
            </a:r>
            <a:r>
              <a:rPr lang="en-AU" sz="2000" dirty="0"/>
              <a:t> or </a:t>
            </a:r>
            <a:r>
              <a:rPr lang="en-AU" sz="2000" b="1" dirty="0"/>
              <a:t>agraphia</a:t>
            </a:r>
            <a:r>
              <a:rPr lang="en-AU" sz="2000" dirty="0"/>
              <a:t>)</a:t>
            </a:r>
          </a:p>
          <a:p>
            <a:r>
              <a:rPr lang="en-AU" sz="2000" dirty="0"/>
              <a:t>Note: not prone to accidental damage due to location</a:t>
            </a:r>
          </a:p>
          <a:p>
            <a:endParaRPr lang="en-AU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398" y="3429000"/>
            <a:ext cx="3858554" cy="33846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307" y="372383"/>
            <a:ext cx="2647887" cy="2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0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4" y="0"/>
            <a:ext cx="3964008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Temporal lobe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92C9-180F-417F-B9BE-B768D7D9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1530849"/>
            <a:ext cx="6557500" cy="4646113"/>
          </a:xfrm>
        </p:spPr>
        <p:txBody>
          <a:bodyPr>
            <a:normAutofit/>
          </a:bodyPr>
          <a:lstStyle/>
          <a:p>
            <a:r>
              <a:rPr lang="en-AU" sz="2000" dirty="0"/>
              <a:t>Hearing</a:t>
            </a:r>
          </a:p>
          <a:p>
            <a:r>
              <a:rPr lang="en-AU" sz="2000" dirty="0"/>
              <a:t>Language and speech production and memory</a:t>
            </a:r>
          </a:p>
          <a:p>
            <a:r>
              <a:rPr lang="en-AU" sz="2000" dirty="0"/>
              <a:t>Limbic system, amygdala and hippocampus located inside</a:t>
            </a:r>
          </a:p>
          <a:p>
            <a:r>
              <a:rPr lang="en-AU" sz="2000" dirty="0"/>
              <a:t>Also Wernicke’s area</a:t>
            </a:r>
          </a:p>
          <a:p>
            <a:r>
              <a:rPr lang="en-AU" sz="2000" b="1" dirty="0" smtClean="0"/>
              <a:t>Auditory cortex</a:t>
            </a:r>
            <a:endParaRPr lang="en-AU" sz="2000" b="1" dirty="0"/>
          </a:p>
          <a:p>
            <a:endParaRPr lang="en-AU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432" y="263883"/>
            <a:ext cx="4752975" cy="2724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432" y="3470454"/>
            <a:ext cx="46386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6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4" y="0"/>
            <a:ext cx="3964008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Epigenetics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92C9-180F-417F-B9BE-B768D7D9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1530849"/>
            <a:ext cx="6557500" cy="4646113"/>
          </a:xfrm>
        </p:spPr>
        <p:txBody>
          <a:bodyPr>
            <a:normAutofit/>
          </a:bodyPr>
          <a:lstStyle/>
          <a:p>
            <a:r>
              <a:rPr lang="en-AU" sz="2000" dirty="0"/>
              <a:t>Transmission of information from one generation to the next that affects traits but does alter the DNA </a:t>
            </a:r>
            <a:r>
              <a:rPr lang="en-AU" sz="2000" dirty="0" smtClean="0"/>
              <a:t>sequence</a:t>
            </a:r>
          </a:p>
          <a:p>
            <a:r>
              <a:rPr lang="en-AU" sz="2000" dirty="0" smtClean="0"/>
              <a:t>‘environmental influences’ – BUT environment can also mean internal environment e.g. hormones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135035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7E2F1-8FF7-4BBC-8BE9-C3023A92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94" y="0"/>
            <a:ext cx="3964008" cy="1800526"/>
          </a:xfrm>
        </p:spPr>
        <p:txBody>
          <a:bodyPr>
            <a:normAutofit/>
          </a:bodyPr>
          <a:lstStyle/>
          <a:p>
            <a:r>
              <a:rPr lang="en-AU" i="0" dirty="0">
                <a:latin typeface="Impact" panose="020B0806030902050204" pitchFamily="34" charset="0"/>
              </a:rPr>
              <a:t>Epigenetics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7519"/>
            <a:ext cx="9910762" cy="594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69220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LeftStep">
      <a:dk1>
        <a:srgbClr val="000000"/>
      </a:dk1>
      <a:lt1>
        <a:srgbClr val="FFFFFF"/>
      </a:lt1>
      <a:dk2>
        <a:srgbClr val="301B2D"/>
      </a:dk2>
      <a:lt2>
        <a:srgbClr val="F0F2F3"/>
      </a:lt2>
      <a:accent1>
        <a:srgbClr val="E78129"/>
      </a:accent1>
      <a:accent2>
        <a:srgbClr val="D52117"/>
      </a:accent2>
      <a:accent3>
        <a:srgbClr val="E7296F"/>
      </a:accent3>
      <a:accent4>
        <a:srgbClr val="D517AC"/>
      </a:accent4>
      <a:accent5>
        <a:srgbClr val="C129E7"/>
      </a:accent5>
      <a:accent6>
        <a:srgbClr val="621BD6"/>
      </a:accent6>
      <a:hlink>
        <a:srgbClr val="3F83BF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471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Elephant</vt:lpstr>
      <vt:lpstr>Impact</vt:lpstr>
      <vt:lpstr>BrushVTI</vt:lpstr>
      <vt:lpstr>Biological bases of behaviour</vt:lpstr>
      <vt:lpstr>Divisions of the nervous system</vt:lpstr>
      <vt:lpstr>Terminology</vt:lpstr>
      <vt:lpstr>Spinal Cord</vt:lpstr>
      <vt:lpstr>Spinal Cord</vt:lpstr>
      <vt:lpstr>Cranial nerves</vt:lpstr>
      <vt:lpstr>Types of neurons</vt:lpstr>
      <vt:lpstr>Types of neurons</vt:lpstr>
      <vt:lpstr>Common Neurotransmitters</vt:lpstr>
      <vt:lpstr>PowerPoint Presentation</vt:lpstr>
      <vt:lpstr>Frontal lobe</vt:lpstr>
      <vt:lpstr>Parietal lobe</vt:lpstr>
      <vt:lpstr>Occipital lobe</vt:lpstr>
      <vt:lpstr>Temporal lobe</vt:lpstr>
      <vt:lpstr>Epigenetics</vt:lpstr>
      <vt:lpstr>Epigenetics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Biological bases of behaviour</dc:title>
  <dc:creator>Natalie Edwards</dc:creator>
  <cp:lastModifiedBy>EDWARDS Natalie [Narrogin Senior High School]</cp:lastModifiedBy>
  <cp:revision>5</cp:revision>
  <dcterms:created xsi:type="dcterms:W3CDTF">2020-11-16T11:42:59Z</dcterms:created>
  <dcterms:modified xsi:type="dcterms:W3CDTF">2020-11-26T03:24:25Z</dcterms:modified>
</cp:coreProperties>
</file>
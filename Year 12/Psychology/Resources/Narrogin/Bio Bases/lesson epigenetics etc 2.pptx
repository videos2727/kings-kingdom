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4" r:id="rId7"/>
    <p:sldId id="262" r:id="rId8"/>
    <p:sldId id="263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43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87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marL="0"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0" lang="en-US" sz="7200" b="1" i="0" u="none" strike="noStrike" kern="1200" cap="all" spc="0" normalizeH="0" baseline="0" dirty="0">
                <a:ln w="15875">
                  <a:solidFill>
                    <a:sysClr val="window" lastClr="FFFFFF"/>
                  </a:solidFill>
                </a:ln>
                <a:solidFill>
                  <a:srgbClr val="DF5327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Corbel" pitchFamily="34" charset="0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14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572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9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3102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869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35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542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127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5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B577AB2-39E1-4EC6-8006-07344B3DA706}" type="datetimeFigureOut">
              <a:rPr lang="en-AU" smtClean="0"/>
              <a:t>10/02/2021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6FB3A4B-9F2B-49EF-8127-29701D4767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4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1471354"/>
            <a:ext cx="8767860" cy="3786446"/>
          </a:xfrm>
        </p:spPr>
        <p:txBody>
          <a:bodyPr>
            <a:normAutofit/>
          </a:bodyPr>
          <a:lstStyle/>
          <a:p>
            <a:pPr algn="l" fontAlgn="base"/>
            <a:r>
              <a:rPr lang="en-GB" dirty="0"/>
              <a:t>Learning intention: to explore neuroplasticity, common neurotransmitters and the effects of epigenetics  </a:t>
            </a:r>
          </a:p>
          <a:p>
            <a:pPr algn="l" fontAlgn="base"/>
            <a:r>
              <a:rPr lang="en-GB" dirty="0"/>
              <a:t>Success criteria: </a:t>
            </a:r>
          </a:p>
          <a:p>
            <a:pPr algn="l" fontAlgn="base"/>
            <a:r>
              <a:rPr lang="en-GB" dirty="0"/>
              <a:t>Describe the effects of main neurotransmitters </a:t>
            </a:r>
          </a:p>
          <a:p>
            <a:pPr algn="l" fontAlgn="base"/>
            <a:r>
              <a:rPr lang="en-GB" dirty="0"/>
              <a:t>Describe how neuroplasticity changes over time </a:t>
            </a:r>
          </a:p>
          <a:p>
            <a:pPr algn="l" fontAlgn="base"/>
            <a:r>
              <a:rPr lang="en-GB" dirty="0"/>
              <a:t>Describe epigenetics as heritability passed down in the structure/tags on DNA rather than the sequence 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4154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9538" y="290094"/>
            <a:ext cx="9842958" cy="555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96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284" y="724015"/>
            <a:ext cx="8116634" cy="565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2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817" y="837126"/>
            <a:ext cx="9872871" cy="4898265"/>
          </a:xfrm>
        </p:spPr>
        <p:txBody>
          <a:bodyPr>
            <a:noAutofit/>
          </a:bodyPr>
          <a:lstStyle/>
          <a:p>
            <a:r>
              <a:rPr lang="en-AU" sz="2800" b="1" dirty="0" smtClean="0"/>
              <a:t>Glutamate</a:t>
            </a:r>
            <a:r>
              <a:rPr lang="en-AU" sz="2800" dirty="0" smtClean="0"/>
              <a:t> – excitatory</a:t>
            </a:r>
          </a:p>
          <a:p>
            <a:pPr marL="45720" indent="0">
              <a:buNone/>
            </a:pPr>
            <a:r>
              <a:rPr lang="en-AU" sz="2800" dirty="0" smtClean="0"/>
              <a:t>-enhanced </a:t>
            </a:r>
            <a:r>
              <a:rPr lang="en-AU" sz="2800" dirty="0"/>
              <a:t>learning and </a:t>
            </a:r>
            <a:r>
              <a:rPr lang="en-AU" sz="2800" dirty="0" smtClean="0"/>
              <a:t>memory</a:t>
            </a:r>
          </a:p>
          <a:p>
            <a:pPr marL="45720" indent="0">
              <a:buNone/>
            </a:pPr>
            <a:endParaRPr lang="en-AU" sz="2800" dirty="0"/>
          </a:p>
          <a:p>
            <a:pPr marL="45720" indent="0">
              <a:buNone/>
            </a:pPr>
            <a:r>
              <a:rPr lang="en-AU" sz="2800" b="1" dirty="0"/>
              <a:t>Gamma-amino butyric acid (GABA</a:t>
            </a:r>
            <a:r>
              <a:rPr lang="en-AU" sz="2800" b="1" dirty="0" smtClean="0"/>
              <a:t>) </a:t>
            </a:r>
          </a:p>
          <a:p>
            <a:pPr marL="45720" indent="0">
              <a:buNone/>
            </a:pPr>
            <a:r>
              <a:rPr lang="en-AU" sz="2800" dirty="0" smtClean="0"/>
              <a:t>-Without </a:t>
            </a:r>
            <a:r>
              <a:rPr lang="en-AU" sz="2800" dirty="0"/>
              <a:t>the inhibitory effect of GABA, activation of postsynaptic neurons might get out of control. </a:t>
            </a:r>
            <a:endParaRPr lang="en-AU" sz="2800" dirty="0" smtClean="0"/>
          </a:p>
          <a:p>
            <a:pPr marL="45720" indent="0">
              <a:buNone/>
            </a:pPr>
            <a:r>
              <a:rPr lang="en-AU" sz="2800" dirty="0" smtClean="0"/>
              <a:t>-e.g. causing </a:t>
            </a:r>
            <a:r>
              <a:rPr lang="en-AU" sz="2800" dirty="0"/>
              <a:t>seizures similar to those of epilepsy and other problems. </a:t>
            </a:r>
            <a:endParaRPr lang="en-AU" sz="2800" dirty="0" smtClean="0"/>
          </a:p>
          <a:p>
            <a:pPr marL="45720" indent="0">
              <a:buNone/>
            </a:pPr>
            <a:r>
              <a:rPr lang="en-AU" sz="2800" dirty="0"/>
              <a:t>-</a:t>
            </a:r>
            <a:r>
              <a:rPr lang="en-AU" sz="2800" dirty="0" smtClean="0"/>
              <a:t>Anxiety </a:t>
            </a:r>
            <a:r>
              <a:rPr lang="en-AU" sz="2800" dirty="0"/>
              <a:t>symptoms such as those experienced by people with phobias have been connected to a low level of GABA in the brain</a:t>
            </a:r>
          </a:p>
        </p:txBody>
      </p:sp>
    </p:spTree>
    <p:extLst>
      <p:ext uri="{BB962C8B-B14F-4D97-AF65-F5344CB8AC3E}">
        <p14:creationId xmlns:p14="http://schemas.microsoft.com/office/powerpoint/2010/main" val="310033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 smtClean="0"/>
              <a:t>Acetylcholine</a:t>
            </a:r>
            <a:r>
              <a:rPr lang="en-AU" dirty="0" smtClean="0"/>
              <a:t> - excitatory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488" y="1287780"/>
            <a:ext cx="6274694" cy="465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2952482" cy="4038600"/>
          </a:xfrm>
        </p:spPr>
        <p:txBody>
          <a:bodyPr/>
          <a:lstStyle/>
          <a:p>
            <a:r>
              <a:rPr lang="en-AU" b="1" dirty="0" smtClean="0"/>
              <a:t>Adrenaline</a:t>
            </a:r>
            <a:r>
              <a:rPr lang="en-AU" dirty="0" smtClean="0"/>
              <a:t> – consolidates memories of emotionally arousing experiences</a:t>
            </a:r>
          </a:p>
          <a:p>
            <a:r>
              <a:rPr lang="en-AU" dirty="0" smtClean="0"/>
              <a:t>Adrenaline = heart while noradrenaline = blood vessels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04" y="1862929"/>
            <a:ext cx="70104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911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Parkinson’s disease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1" y="2057400"/>
            <a:ext cx="5579772" cy="4038600"/>
          </a:xfrm>
        </p:spPr>
        <p:txBody>
          <a:bodyPr/>
          <a:lstStyle/>
          <a:p>
            <a:r>
              <a:rPr lang="en-AU" dirty="0"/>
              <a:t>substantia </a:t>
            </a:r>
            <a:r>
              <a:rPr lang="en-AU" dirty="0" err="1"/>
              <a:t>nigra</a:t>
            </a:r>
            <a:r>
              <a:rPr lang="en-AU" dirty="0"/>
              <a:t>, located in the midbrain – controls voluntary muscle </a:t>
            </a:r>
            <a:r>
              <a:rPr lang="en-AU" dirty="0" smtClean="0"/>
              <a:t>movements (e.g. for walking, talking, writing) and produces dopamine</a:t>
            </a:r>
          </a:p>
          <a:p>
            <a:r>
              <a:rPr lang="en-AU" dirty="0" smtClean="0"/>
              <a:t>-if damaged, less dopamine produced</a:t>
            </a:r>
          </a:p>
          <a:p>
            <a:r>
              <a:rPr lang="en-AU" dirty="0" smtClean="0"/>
              <a:t>-basal ganglia and motor cortex receive less messages</a:t>
            </a:r>
          </a:p>
          <a:p>
            <a:r>
              <a:rPr lang="en-AU" dirty="0" smtClean="0"/>
              <a:t>Only see symptoms after ~60% loss in the substantia </a:t>
            </a:r>
            <a:r>
              <a:rPr lang="en-AU" dirty="0" err="1" smtClean="0"/>
              <a:t>nigra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825" y="1556377"/>
            <a:ext cx="4863586" cy="435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1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454" y="1176271"/>
            <a:ext cx="9875520" cy="1356360"/>
          </a:xfrm>
        </p:spPr>
        <p:txBody>
          <a:bodyPr>
            <a:normAutofit fontScale="90000"/>
          </a:bodyPr>
          <a:lstStyle/>
          <a:p>
            <a:r>
              <a:rPr lang="en-AU" dirty="0"/>
              <a:t>Two types of medications can be used — those that can be </a:t>
            </a:r>
            <a:r>
              <a:rPr lang="en-AU" i="1" dirty="0"/>
              <a:t>converted into dopamine </a:t>
            </a:r>
            <a:r>
              <a:rPr lang="en-AU" dirty="0"/>
              <a:t>by neurons and those that </a:t>
            </a:r>
            <a:r>
              <a:rPr lang="en-AU" i="1" dirty="0"/>
              <a:t>mimic the role of dopamine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0823" y="3716829"/>
            <a:ext cx="654367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574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454" y="1176271"/>
            <a:ext cx="9875520" cy="1356360"/>
          </a:xfrm>
        </p:spPr>
        <p:txBody>
          <a:bodyPr>
            <a:normAutofit/>
          </a:bodyPr>
          <a:lstStyle/>
          <a:p>
            <a:r>
              <a:rPr lang="en-AU" dirty="0" err="1" smtClean="0"/>
              <a:t>Korsakoff’s</a:t>
            </a:r>
            <a:r>
              <a:rPr lang="en-AU" dirty="0" smtClean="0"/>
              <a:t> disease</a:t>
            </a:r>
            <a:endParaRPr lang="en-AU" i="1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Damage to middle of brain near thalamus and frontal lobes</a:t>
            </a:r>
          </a:p>
          <a:p>
            <a:r>
              <a:rPr lang="en-AU" dirty="0" smtClean="0"/>
              <a:t>Often in alcoholics</a:t>
            </a:r>
          </a:p>
          <a:p>
            <a:r>
              <a:rPr lang="en-AU" dirty="0" smtClean="0"/>
              <a:t>Linked to low levels of vitamin B1/thiamine</a:t>
            </a:r>
          </a:p>
          <a:p>
            <a:r>
              <a:rPr lang="en-AU" dirty="0" smtClean="0"/>
              <a:t>Anterograde amnesia – unable to store new memories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5792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99766"/>
            <a:ext cx="7988121" cy="611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0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DF5327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63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446C221D-F63F-4DD8-B509-CFE168687B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467</TotalTime>
  <Words>248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Corbel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Parkinson’s disease</vt:lpstr>
      <vt:lpstr>Two types of medications can be used — those that can be converted into dopamine by neurons and those that mimic the role of dopamine</vt:lpstr>
      <vt:lpstr>Korsakoff’s disease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EDWARDS Natalie [Narrogin Senior High School]</dc:creator>
  <cp:lastModifiedBy>EDWARDS Natalie [Narrogin Senior High School]</cp:lastModifiedBy>
  <cp:revision>6</cp:revision>
  <dcterms:created xsi:type="dcterms:W3CDTF">2021-02-10T00:15:49Z</dcterms:created>
  <dcterms:modified xsi:type="dcterms:W3CDTF">2021-02-10T08:18:36Z</dcterms:modified>
</cp:coreProperties>
</file>
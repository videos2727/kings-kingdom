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2" r:id="rId18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264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>
              <a:defRPr sz="1300"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>
              <a:defRPr sz="1300"/>
            </a:lvl1pPr>
          </a:lstStyle>
          <a:p>
            <a:fld id="{E3D064DF-214F-4399-97F5-2621B9DB5A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2836510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>
              <a:defRPr sz="1300"/>
            </a:lvl1pPr>
          </a:lstStyle>
          <a:p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9" tIns="49520" rIns="99039" bIns="495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3"/>
            <a:ext cx="5679440" cy="4605575"/>
          </a:xfrm>
          <a:prstGeom prst="rect">
            <a:avLst/>
          </a:prstGeom>
        </p:spPr>
        <p:txBody>
          <a:bodyPr vert="horz" lIns="99039" tIns="49520" rIns="99039" bIns="495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>
              <a:defRPr sz="1300"/>
            </a:lvl1pPr>
          </a:lstStyle>
          <a:p>
            <a:fld id="{9206AFA7-24F8-4F34-A18C-5B7A863E42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6762597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508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AD39ADA9-FCFE-4B91-9537-7D81612C6B5C}" type="slidenum">
              <a:rPr lang="en-AU" smtClean="0"/>
              <a:t>‹#›</a:t>
            </a:fld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solidFill>
                  <a:schemeClr val="tx1"/>
                </a:solidFill>
              </a:rPr>
              <a:t>FEATURES and LIMITATIONS of THEORIES of LANGUAGE DEVELOPMENT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ATPSY 2018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30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z="3200" dirty="0">
                <a:solidFill>
                  <a:schemeClr val="tx1"/>
                </a:solidFill>
              </a:rPr>
              <a:t>Features and limitations of theories of language </a:t>
            </a:r>
            <a:r>
              <a:rPr lang="en-AU" sz="3200" dirty="0" smtClean="0">
                <a:solidFill>
                  <a:schemeClr val="tx1"/>
                </a:solidFill>
              </a:rPr>
              <a:t>development</a:t>
            </a:r>
          </a:p>
          <a:p>
            <a:pPr lvl="0"/>
            <a:endParaRPr lang="en-AU" sz="3200" dirty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chemeClr val="tx1"/>
                </a:solidFill>
              </a:rPr>
              <a:t>Innate and learned behaviours – Chomsky, Bruner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252728"/>
          </a:xfrm>
        </p:spPr>
        <p:txBody>
          <a:bodyPr>
            <a:normAutofit fontScale="90000"/>
          </a:bodyPr>
          <a:lstStyle/>
          <a:p>
            <a:pPr lvl="0"/>
            <a:r>
              <a:rPr lang="en-AU" sz="3600" dirty="0">
                <a:solidFill>
                  <a:schemeClr val="tx1"/>
                </a:solidFill>
              </a:rPr>
              <a:t/>
            </a:r>
            <a:br>
              <a:rPr lang="en-AU" sz="3600" dirty="0">
                <a:solidFill>
                  <a:schemeClr val="tx1"/>
                </a:solidFill>
              </a:rPr>
            </a:br>
            <a:r>
              <a:rPr lang="en-AU" sz="3600" dirty="0" smtClean="0">
                <a:solidFill>
                  <a:schemeClr val="tx1"/>
                </a:solidFill>
              </a:rPr>
              <a:t>- From your syllabus </a:t>
            </a:r>
            <a:r>
              <a:rPr lang="en-AU" dirty="0">
                <a:solidFill>
                  <a:schemeClr val="tx1"/>
                </a:solidFill>
              </a:rPr>
              <a:t/>
            </a:r>
            <a:br>
              <a:rPr lang="en-AU" dirty="0">
                <a:solidFill>
                  <a:schemeClr val="tx1"/>
                </a:solidFill>
              </a:rPr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69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7584" y="2636912"/>
            <a:ext cx="7408333" cy="3450696"/>
          </a:xfrm>
        </p:spPr>
        <p:txBody>
          <a:bodyPr/>
          <a:lstStyle/>
          <a:p>
            <a:r>
              <a:rPr lang="en-AU" dirty="0" smtClean="0"/>
              <a:t>Knowledge about what to say – the </a:t>
            </a:r>
            <a:r>
              <a:rPr lang="en-AU" b="1" dirty="0" smtClean="0"/>
              <a:t>content</a:t>
            </a:r>
            <a:r>
              <a:rPr lang="en-AU" dirty="0" smtClean="0"/>
              <a:t> of language</a:t>
            </a:r>
          </a:p>
          <a:p>
            <a:r>
              <a:rPr lang="en-AU" dirty="0" smtClean="0"/>
              <a:t>Knowledge about how to say it – the </a:t>
            </a:r>
            <a:r>
              <a:rPr lang="en-AU" b="1" dirty="0" smtClean="0"/>
              <a:t>form</a:t>
            </a:r>
            <a:r>
              <a:rPr lang="en-AU" dirty="0" smtClean="0"/>
              <a:t> of language</a:t>
            </a:r>
          </a:p>
          <a:p>
            <a:r>
              <a:rPr lang="en-AU" dirty="0" smtClean="0"/>
              <a:t>Knowledge of the </a:t>
            </a:r>
            <a:r>
              <a:rPr lang="en-AU" b="1" dirty="0" smtClean="0"/>
              <a:t>use</a:t>
            </a:r>
            <a:r>
              <a:rPr lang="en-AU" dirty="0" smtClean="0"/>
              <a:t> of language</a:t>
            </a:r>
          </a:p>
          <a:p>
            <a:endParaRPr lang="en-AU" dirty="0"/>
          </a:p>
          <a:p>
            <a:r>
              <a:rPr lang="en-AU" dirty="0" smtClean="0"/>
              <a:t>A growing child should master these when learning the language in </a:t>
            </a:r>
            <a:r>
              <a:rPr lang="en-AU" smtClean="0"/>
              <a:t>their enviro. </a:t>
            </a:r>
            <a:endParaRPr lang="en-AU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3 Types of </a:t>
            </a:r>
            <a:r>
              <a:rPr lang="en-AU" dirty="0"/>
              <a:t>L</a:t>
            </a:r>
            <a:r>
              <a:rPr lang="en-AU" dirty="0" smtClean="0"/>
              <a:t>anguage Knowledge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0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The </a:t>
            </a:r>
            <a:r>
              <a:rPr lang="en-AU" sz="2800" b="1" dirty="0" smtClean="0"/>
              <a:t>sounds</a:t>
            </a:r>
            <a:r>
              <a:rPr lang="en-AU" sz="2800" dirty="0" smtClean="0"/>
              <a:t> of their language, </a:t>
            </a:r>
          </a:p>
          <a:p>
            <a:r>
              <a:rPr lang="en-AU" sz="2800" dirty="0" smtClean="0"/>
              <a:t>Or in case they are learning a signed language, the hand shapes and movement of </a:t>
            </a:r>
            <a:r>
              <a:rPr lang="en-AU" sz="2800" b="1" dirty="0" smtClean="0"/>
              <a:t>signs</a:t>
            </a:r>
            <a:r>
              <a:rPr lang="en-AU" sz="2800" dirty="0" smtClean="0"/>
              <a:t>. </a:t>
            </a:r>
            <a:endParaRPr lang="en-AU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As well… they should know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016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By the age of 1;</a:t>
            </a:r>
          </a:p>
          <a:p>
            <a:r>
              <a:rPr lang="en-AU" dirty="0" smtClean="0"/>
              <a:t>Single words, one words expressed differently or with gestures can have many meanings. Average 5 words</a:t>
            </a:r>
          </a:p>
          <a:p>
            <a:r>
              <a:rPr lang="en-AU" dirty="0" smtClean="0"/>
              <a:t>By the age of 2;</a:t>
            </a:r>
          </a:p>
          <a:p>
            <a:r>
              <a:rPr lang="en-AU" dirty="0" smtClean="0"/>
              <a:t>Combine two words Average 50 words </a:t>
            </a:r>
          </a:p>
          <a:p>
            <a:r>
              <a:rPr lang="en-AU" dirty="0" smtClean="0"/>
              <a:t>By the age of 3 </a:t>
            </a:r>
          </a:p>
          <a:p>
            <a:r>
              <a:rPr lang="en-AU" dirty="0" smtClean="0"/>
              <a:t>Small sentences and use average 200 words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Language Goals by age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311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Language is innate (</a:t>
            </a:r>
            <a:r>
              <a:rPr lang="en-AU" i="1" dirty="0" smtClean="0"/>
              <a:t>nature</a:t>
            </a:r>
            <a:r>
              <a:rPr lang="en-AU" dirty="0" smtClean="0"/>
              <a:t> of nature vs nurture)</a:t>
            </a:r>
          </a:p>
          <a:p>
            <a:r>
              <a:rPr lang="en-AU" dirty="0" smtClean="0"/>
              <a:t>A mysterious ‘black box’ – has input and output.</a:t>
            </a:r>
          </a:p>
          <a:p>
            <a:r>
              <a:rPr lang="en-AU" dirty="0"/>
              <a:t>Language acquisition device </a:t>
            </a:r>
            <a:r>
              <a:rPr lang="en-AU" b="1" dirty="0"/>
              <a:t>(LAD</a:t>
            </a:r>
            <a:r>
              <a:rPr lang="en-AU" b="1" dirty="0" smtClean="0"/>
              <a:t>)</a:t>
            </a:r>
          </a:p>
          <a:p>
            <a:pPr lvl="0"/>
            <a:r>
              <a:rPr lang="en-AU" dirty="0"/>
              <a:t>Children are innately predisposed to learn how to talk and understand </a:t>
            </a:r>
            <a:r>
              <a:rPr lang="en-AU" dirty="0" smtClean="0"/>
              <a:t>(the native) language</a:t>
            </a:r>
            <a:endParaRPr lang="en-AU" dirty="0"/>
          </a:p>
          <a:p>
            <a:r>
              <a:rPr lang="en-AU" dirty="0"/>
              <a:t>Children are born with a universal grammar – all grammatical information required to produce language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Chomsky (1978)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754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AU" dirty="0" smtClean="0"/>
              <a:t>Children </a:t>
            </a:r>
            <a:r>
              <a:rPr lang="en-AU" dirty="0"/>
              <a:t>master language skills faster than other abilities</a:t>
            </a:r>
          </a:p>
          <a:p>
            <a:pPr lvl="0"/>
            <a:r>
              <a:rPr lang="en-AU" dirty="0"/>
              <a:t>Children do not simply copy language or learn all phrases, but uncover rules and then create new unlimited phrases</a:t>
            </a:r>
          </a:p>
          <a:p>
            <a:r>
              <a:rPr lang="en-AU" dirty="0"/>
              <a:t>Deep structures (universal grammar – same meaning , but different words) is the same in all languages – therefore is genetically determined or surface structure (similar wording, but different meaning) 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Language is innate because: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611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Pays little attention to the social environment</a:t>
            </a:r>
          </a:p>
          <a:p>
            <a:r>
              <a:rPr lang="en-AU" dirty="0" smtClean="0"/>
              <a:t>Children are innately </a:t>
            </a:r>
            <a:r>
              <a:rPr lang="en-AU" dirty="0" err="1" smtClean="0"/>
              <a:t>predispositioned</a:t>
            </a:r>
            <a:r>
              <a:rPr lang="en-AU" dirty="0" smtClean="0"/>
              <a:t> to learn how to talk and how to understand language around them. </a:t>
            </a:r>
          </a:p>
          <a:p>
            <a:r>
              <a:rPr lang="en-AU" dirty="0" smtClean="0"/>
              <a:t>It does not account for the social component of communication that is the function of language.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Limitations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5259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Believed that language development occurs when caregivers talk to their children. </a:t>
            </a:r>
          </a:p>
          <a:p>
            <a:r>
              <a:rPr lang="en-AU" dirty="0" smtClean="0"/>
              <a:t>Involves shared activities where meanings and words develop routines and activities' regularly undertaken – bedtime, meal times, bath time, shopping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Bruner (1983)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561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7584" y="2708920"/>
            <a:ext cx="7408333" cy="3450696"/>
          </a:xfrm>
        </p:spPr>
        <p:txBody>
          <a:bodyPr/>
          <a:lstStyle/>
          <a:p>
            <a:r>
              <a:rPr lang="en-AU" dirty="0" smtClean="0"/>
              <a:t>A longitudinal study of two boys, from 3 months-24 months of age. </a:t>
            </a:r>
          </a:p>
          <a:p>
            <a:r>
              <a:rPr lang="en-AU" dirty="0" smtClean="0"/>
              <a:t>He observed (mainly mothers) guided support of their children’s emerging language though interaction. </a:t>
            </a:r>
          </a:p>
          <a:p>
            <a:r>
              <a:rPr lang="en-AU" dirty="0" smtClean="0"/>
              <a:t>They learned about the social, historical and cultural group they were growing up in.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Bruner’s Evidence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5125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Language acquisition support system </a:t>
            </a:r>
            <a:r>
              <a:rPr lang="en-AU" b="1" dirty="0"/>
              <a:t>(LASS</a:t>
            </a:r>
            <a:r>
              <a:rPr lang="en-AU" b="1" dirty="0" smtClean="0"/>
              <a:t>)</a:t>
            </a:r>
          </a:p>
          <a:p>
            <a:r>
              <a:rPr lang="en-AU" b="1" dirty="0" smtClean="0"/>
              <a:t>Bruner stated that Lass needs LAD </a:t>
            </a:r>
            <a:r>
              <a:rPr lang="en-AU" dirty="0"/>
              <a:t>– child component (innate predisposition) and the interaction with other that allows language to be </a:t>
            </a:r>
            <a:r>
              <a:rPr lang="en-AU" dirty="0" smtClean="0"/>
              <a:t>acquired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LASS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0367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600" b="1" dirty="0" smtClean="0"/>
              <a:t>Scaffolding </a:t>
            </a:r>
            <a:r>
              <a:rPr lang="en-AU" sz="2600" dirty="0"/>
              <a:t>–explains routines- increasing expectation from caregiver as time progresses</a:t>
            </a:r>
            <a:endParaRPr lang="en-AU" sz="3000" dirty="0"/>
          </a:p>
          <a:p>
            <a:r>
              <a:rPr lang="en-AU" sz="2600" b="1" dirty="0"/>
              <a:t>Reference</a:t>
            </a:r>
            <a:r>
              <a:rPr lang="en-AU" sz="2600" dirty="0"/>
              <a:t> – gestures together with words. Eventually words replace gestures</a:t>
            </a:r>
            <a:endParaRPr lang="en-AU" sz="3000" dirty="0"/>
          </a:p>
          <a:p>
            <a:r>
              <a:rPr lang="en-AU" sz="2600" b="1" dirty="0"/>
              <a:t>Joint attention </a:t>
            </a:r>
            <a:r>
              <a:rPr lang="en-AU" dirty="0"/>
              <a:t>– </a:t>
            </a:r>
            <a:r>
              <a:rPr lang="en-AU" dirty="0" smtClean="0"/>
              <a:t>is initially established through eye contact, where sounds are copied and repeated.  It then develops into book reading.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Interactional Frameworks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2367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Frameworks </a:t>
            </a:r>
            <a:r>
              <a:rPr lang="en-AU" dirty="0"/>
              <a:t>provided through mothers instructions and interactions with </a:t>
            </a:r>
            <a:r>
              <a:rPr lang="en-AU" dirty="0" smtClean="0"/>
              <a:t>child</a:t>
            </a:r>
          </a:p>
          <a:p>
            <a:r>
              <a:rPr lang="en-AU" dirty="0" smtClean="0"/>
              <a:t>Mother </a:t>
            </a:r>
            <a:r>
              <a:rPr lang="en-AU" dirty="0"/>
              <a:t>stays one step ahead of </a:t>
            </a:r>
            <a:r>
              <a:rPr lang="en-AU" dirty="0" smtClean="0"/>
              <a:t>child</a:t>
            </a:r>
          </a:p>
          <a:p>
            <a:r>
              <a:rPr lang="en-AU" dirty="0" smtClean="0"/>
              <a:t>Routines </a:t>
            </a:r>
            <a:r>
              <a:rPr lang="en-AU" dirty="0"/>
              <a:t>are well structured and provide setting for pushing child beyond capabilities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Bruner's 1st </a:t>
            </a:r>
            <a:r>
              <a:rPr lang="en-AU" dirty="0" smtClean="0"/>
              <a:t>Framework - Scaffolding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2653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The </a:t>
            </a:r>
            <a:r>
              <a:rPr lang="en-AU" dirty="0"/>
              <a:t>skill of how people use language to direct </a:t>
            </a:r>
            <a:r>
              <a:rPr lang="en-AU" dirty="0" smtClean="0"/>
              <a:t>attention</a:t>
            </a:r>
          </a:p>
          <a:p>
            <a:r>
              <a:rPr lang="en-AU" dirty="0" smtClean="0"/>
              <a:t>First </a:t>
            </a:r>
            <a:r>
              <a:rPr lang="en-AU" dirty="0"/>
              <a:t>joint attention is developed through eye </a:t>
            </a:r>
            <a:r>
              <a:rPr lang="en-AU" dirty="0" smtClean="0"/>
              <a:t>contact</a:t>
            </a:r>
          </a:p>
          <a:p>
            <a:r>
              <a:rPr lang="en-AU" dirty="0"/>
              <a:t>L</a:t>
            </a:r>
            <a:r>
              <a:rPr lang="en-AU" dirty="0" smtClean="0"/>
              <a:t>eads </a:t>
            </a:r>
            <a:r>
              <a:rPr lang="en-AU" dirty="0"/>
              <a:t>to vocal </a:t>
            </a:r>
            <a:r>
              <a:rPr lang="en-AU" dirty="0" smtClean="0"/>
              <a:t>turn-taking</a:t>
            </a:r>
          </a:p>
          <a:p>
            <a:r>
              <a:rPr lang="en-AU" dirty="0"/>
              <a:t>T</a:t>
            </a:r>
            <a:r>
              <a:rPr lang="en-AU" dirty="0" smtClean="0"/>
              <a:t>hen </a:t>
            </a:r>
            <a:r>
              <a:rPr lang="en-AU" dirty="0"/>
              <a:t>mum introduces object to look at holding them in infants eye </a:t>
            </a:r>
            <a:r>
              <a:rPr lang="en-AU" dirty="0" smtClean="0"/>
              <a:t>line</a:t>
            </a:r>
          </a:p>
          <a:p>
            <a:r>
              <a:rPr lang="en-AU" dirty="0" smtClean="0"/>
              <a:t>Look </a:t>
            </a:r>
            <a:r>
              <a:rPr lang="en-AU" dirty="0"/>
              <a:t>moves to pointing and names of objects as well as direction (e.g. 'here')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Bruner's 2nd </a:t>
            </a:r>
            <a:r>
              <a:rPr lang="en-AU" dirty="0" smtClean="0"/>
              <a:t>Framework - Reference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7228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 </a:t>
            </a:r>
            <a:r>
              <a:rPr lang="en-AU" dirty="0" smtClean="0"/>
              <a:t>Starts </a:t>
            </a:r>
            <a:r>
              <a:rPr lang="en-AU" dirty="0"/>
              <a:t>with mother reading to child and pointing at </a:t>
            </a:r>
            <a:r>
              <a:rPr lang="en-AU" dirty="0" smtClean="0"/>
              <a:t>objects</a:t>
            </a:r>
          </a:p>
          <a:p>
            <a:r>
              <a:rPr lang="en-AU" dirty="0"/>
              <a:t>C</a:t>
            </a:r>
            <a:r>
              <a:rPr lang="en-AU" dirty="0" smtClean="0"/>
              <a:t>hildren </a:t>
            </a:r>
            <a:r>
              <a:rPr lang="en-AU" dirty="0"/>
              <a:t>will read one line and mother read one </a:t>
            </a:r>
            <a:r>
              <a:rPr lang="en-AU" dirty="0" smtClean="0"/>
              <a:t>line</a:t>
            </a:r>
          </a:p>
          <a:p>
            <a:r>
              <a:rPr lang="en-AU" dirty="0"/>
              <a:t>C</a:t>
            </a:r>
            <a:r>
              <a:rPr lang="en-AU" dirty="0" smtClean="0"/>
              <a:t>hildren </a:t>
            </a:r>
            <a:r>
              <a:rPr lang="en-AU" dirty="0"/>
              <a:t>will then read pages on its own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Bruner's 3rd </a:t>
            </a:r>
            <a:r>
              <a:rPr lang="en-AU" dirty="0" smtClean="0"/>
              <a:t>Framework – </a:t>
            </a:r>
            <a:br>
              <a:rPr lang="en-AU" dirty="0" smtClean="0"/>
            </a:br>
            <a:r>
              <a:rPr lang="en-AU" dirty="0" smtClean="0"/>
              <a:t>Book reading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4720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Small sample size of his observations</a:t>
            </a:r>
          </a:p>
          <a:p>
            <a:r>
              <a:rPr lang="en-AU" dirty="0" smtClean="0"/>
              <a:t>The child is dependent on feedback given to develop their skills</a:t>
            </a:r>
          </a:p>
          <a:p>
            <a:r>
              <a:rPr lang="en-AU" dirty="0" smtClean="0"/>
              <a:t>LASS needs LAD – it is not a stand alone theory </a:t>
            </a:r>
          </a:p>
          <a:p>
            <a:r>
              <a:rPr lang="en-AU" dirty="0" smtClean="0"/>
              <a:t>Assumes routines </a:t>
            </a:r>
            <a:r>
              <a:rPr lang="en-AU" dirty="0"/>
              <a:t>are well structured and provide setting for pushing child beyond </a:t>
            </a:r>
            <a:r>
              <a:rPr lang="en-AU" dirty="0" smtClean="0"/>
              <a:t>capabilities</a:t>
            </a:r>
          </a:p>
          <a:p>
            <a:r>
              <a:rPr lang="en-AU" dirty="0" smtClean="0"/>
              <a:t>Does not account for any child with verbal delays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Limitations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279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err="1" smtClean="0"/>
              <a:t>deVilliers</a:t>
            </a:r>
            <a:r>
              <a:rPr lang="en-AU" dirty="0" smtClean="0"/>
              <a:t> </a:t>
            </a:r>
            <a:r>
              <a:rPr lang="en-AU" dirty="0"/>
              <a:t>&amp; </a:t>
            </a:r>
            <a:r>
              <a:rPr lang="en-AU" dirty="0" err="1"/>
              <a:t>deVilliers</a:t>
            </a:r>
            <a:r>
              <a:rPr lang="en-AU" dirty="0"/>
              <a:t> (1992) suggest that parents rarely offer their children direct feedback on the appropriateness of their grammar.</a:t>
            </a:r>
          </a:p>
          <a:p>
            <a:endParaRPr lang="en-AU" dirty="0"/>
          </a:p>
          <a:p>
            <a:r>
              <a:rPr lang="en-AU" dirty="0"/>
              <a:t>Linguistic &amp; social practices vary widely across cultures.  Some cultures do not use anything like the practices described above and yet, their children still learn language at a similar rate to Western children.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Other criticisms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612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139</TotalTime>
  <Words>738</Words>
  <Application>Microsoft Office PowerPoint</Application>
  <PresentationFormat>On-screen Show (4:3)</PresentationFormat>
  <Paragraphs>74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Candara</vt:lpstr>
      <vt:lpstr>Symbol</vt:lpstr>
      <vt:lpstr>Waveform</vt:lpstr>
      <vt:lpstr>FEATURES and LIMITATIONS of THEORIES of LANGUAGE DEVELOPMENT</vt:lpstr>
      <vt:lpstr> - From your syllabus  </vt:lpstr>
      <vt:lpstr>3 Types of Language Knowledge</vt:lpstr>
      <vt:lpstr>As well… they should know</vt:lpstr>
      <vt:lpstr>Language Goals by age</vt:lpstr>
      <vt:lpstr>Chomsky (1978)</vt:lpstr>
      <vt:lpstr>Language is innate because:</vt:lpstr>
      <vt:lpstr>Limitations</vt:lpstr>
      <vt:lpstr>Bruner (1983)</vt:lpstr>
      <vt:lpstr>Bruner’s Evidence</vt:lpstr>
      <vt:lpstr>LASS</vt:lpstr>
      <vt:lpstr>Interactional Frameworks</vt:lpstr>
      <vt:lpstr>Bruner's 1st Framework - Scaffolding</vt:lpstr>
      <vt:lpstr>Bruner's 2nd Framework - Reference</vt:lpstr>
      <vt:lpstr>Bruner's 3rd Framework –  Book reading</vt:lpstr>
      <vt:lpstr>Limitations</vt:lpstr>
      <vt:lpstr>Other criticisms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 and LIMITATIONS of THEORIES of LANGUAGE DEVELOPMENT</dc:title>
  <dc:creator>Kaye Hughes</dc:creator>
  <cp:lastModifiedBy>EDWARDS Natalie [Narrogin Senior High School]</cp:lastModifiedBy>
  <cp:revision>14</cp:revision>
  <cp:lastPrinted>2018-04-26T12:12:42Z</cp:lastPrinted>
  <dcterms:created xsi:type="dcterms:W3CDTF">2018-04-14T13:26:52Z</dcterms:created>
  <dcterms:modified xsi:type="dcterms:W3CDTF">2021-05-10T00:40:12Z</dcterms:modified>
</cp:coreProperties>
</file>
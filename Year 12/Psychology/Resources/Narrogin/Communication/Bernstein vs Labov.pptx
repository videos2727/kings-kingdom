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15"/>
  </p:notesMasterIdLst>
  <p:sldIdLst>
    <p:sldId id="256" r:id="rId2"/>
    <p:sldId id="257" r:id="rId3"/>
    <p:sldId id="259" r:id="rId4"/>
    <p:sldId id="258" r:id="rId5"/>
    <p:sldId id="265" r:id="rId6"/>
    <p:sldId id="262" r:id="rId7"/>
    <p:sldId id="263" r:id="rId8"/>
    <p:sldId id="264" r:id="rId9"/>
    <p:sldId id="266" r:id="rId10"/>
    <p:sldId id="260" r:id="rId11"/>
    <p:sldId id="267" r:id="rId12"/>
    <p:sldId id="261" r:id="rId13"/>
    <p:sldId id="26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varScale="1">
        <p:scale>
          <a:sx n="86" d="100"/>
          <a:sy n="86" d="100"/>
        </p:scale>
        <p:origin x="930" y="45"/>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C108A3-99C7-A34D-BECB-F5C3CC73D373}" type="datetimeFigureOut">
              <a:rPr lang="en-US" smtClean="0"/>
              <a:pPr/>
              <a:t>6/13/2018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2A30CB-BFBC-964A-A0C7-C2629521B5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82A30CB-BFBC-964A-A0C7-C2629521B522}" type="slidenum">
              <a:rPr lang="en-US" smtClean="0"/>
              <a:pPr/>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DF0F253A-9BB3-164B-ACC7-B03CF1E726B8}" type="datetimeFigureOut">
              <a:rPr lang="en-US" smtClean="0"/>
              <a:pPr/>
              <a:t>6/13/2018</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7AB0F2A7-DB91-3342-BD1C-3BCA8B74FEAD}" type="slidenum">
              <a:rPr lang="en-US" smtClean="0"/>
              <a:pPr/>
              <a:t>‹#›</a:t>
            </a:fld>
            <a:endParaRPr lang="en-US"/>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F0F253A-9BB3-164B-ACC7-B03CF1E726B8}" type="datetimeFigureOut">
              <a:rPr lang="en-US" smtClean="0"/>
              <a:pPr/>
              <a:t>6/13/2018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B0F2A7-DB91-3342-BD1C-3BCA8B74FEA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DF0F253A-9BB3-164B-ACC7-B03CF1E726B8}" type="datetimeFigureOut">
              <a:rPr lang="en-US" smtClean="0"/>
              <a:pPr/>
              <a:t>6/13/2018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924800" y="6416675"/>
            <a:ext cx="762000" cy="365125"/>
          </a:xfrm>
        </p:spPr>
        <p:txBody>
          <a:bodyPr/>
          <a:lstStyle/>
          <a:p>
            <a:fld id="{7AB0F2A7-DB91-3342-BD1C-3BCA8B74FEA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F0F253A-9BB3-164B-ACC7-B03CF1E726B8}" type="datetimeFigureOut">
              <a:rPr lang="en-US" smtClean="0"/>
              <a:pPr/>
              <a:t>6/13/2018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B0F2A7-DB91-3342-BD1C-3BCA8B74FEA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DF0F253A-9BB3-164B-ACC7-B03CF1E726B8}" type="datetimeFigureOut">
              <a:rPr lang="en-US" smtClean="0"/>
              <a:pPr/>
              <a:t>6/13/2018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B0F2A7-DB91-3342-BD1C-3BCA8B74FEA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DF0F253A-9BB3-164B-ACC7-B03CF1E726B8}" type="datetimeFigureOut">
              <a:rPr lang="en-US" smtClean="0"/>
              <a:pPr/>
              <a:t>6/13/2018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B0F2A7-DB91-3342-BD1C-3BCA8B74FEA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0F253A-9BB3-164B-ACC7-B03CF1E726B8}" type="datetimeFigureOut">
              <a:rPr lang="en-US" smtClean="0"/>
              <a:pPr/>
              <a:t>6/13/2018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B0F2A7-DB91-3342-BD1C-3BCA8B74FEA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F0F253A-9BB3-164B-ACC7-B03CF1E726B8}" type="datetimeFigureOut">
              <a:rPr lang="en-US" smtClean="0"/>
              <a:pPr/>
              <a:t>6/13/2018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B0F2A7-DB91-3342-BD1C-3BCA8B74FEA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DF0F253A-9BB3-164B-ACC7-B03CF1E726B8}" type="datetimeFigureOut">
              <a:rPr lang="en-US" smtClean="0"/>
              <a:pPr/>
              <a:t>6/13/2018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B0F2A7-DB91-3342-BD1C-3BCA8B74FEA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F0F253A-9BB3-164B-ACC7-B03CF1E726B8}" type="datetimeFigureOut">
              <a:rPr lang="en-US" smtClean="0"/>
              <a:pPr/>
              <a:t>6/13/2018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B0F2A7-DB91-3342-BD1C-3BCA8B74FEA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F0F253A-9BB3-164B-ACC7-B03CF1E726B8}" type="datetimeFigureOut">
              <a:rPr lang="en-US" smtClean="0"/>
              <a:pPr/>
              <a:t>6/13/2018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B0F2A7-DB91-3342-BD1C-3BCA8B74FEA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DF0F253A-9BB3-164B-ACC7-B03CF1E726B8}" type="datetimeFigureOut">
              <a:rPr lang="en-US" smtClean="0"/>
              <a:pPr/>
              <a:t>6/13/2018</a:t>
            </a:fld>
            <a:endParaRPr lang="en-US"/>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7AB0F2A7-DB91-3342-BD1C-3BCA8B74FEAD}"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9.xml"/><Relationship Id="rId5" Type="http://schemas.openxmlformats.org/officeDocument/2006/relationships/image" Target="../media/image8.jpeg"/><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0.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Session 7</a:t>
            </a:r>
            <a:endParaRPr lang="en-US" dirty="0"/>
          </a:p>
        </p:txBody>
      </p:sp>
      <p:sp>
        <p:nvSpPr>
          <p:cNvPr id="3" name="Subtitle 2"/>
          <p:cNvSpPr>
            <a:spLocks noGrp="1"/>
          </p:cNvSpPr>
          <p:nvPr>
            <p:ph type="subTitle" idx="1"/>
          </p:nvPr>
        </p:nvSpPr>
        <p:spPr/>
        <p:txBody>
          <a:bodyPr/>
          <a:lstStyle/>
          <a:p>
            <a:r>
              <a:rPr lang="en-US" dirty="0" smtClean="0"/>
              <a:t>Language, code, society</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Basil Bernstein (1924-2000)</a:t>
            </a:r>
            <a:endParaRPr lang="en-US" dirty="0"/>
          </a:p>
        </p:txBody>
      </p:sp>
      <p:pic>
        <p:nvPicPr>
          <p:cNvPr id="7" name="Content Placeholder 6" descr="images-1.jpeg"/>
          <p:cNvPicPr>
            <a:picLocks noGrp="1" noChangeAspect="1"/>
          </p:cNvPicPr>
          <p:nvPr>
            <p:ph sz="half" idx="1"/>
          </p:nvPr>
        </p:nvPicPr>
        <p:blipFill>
          <a:blip r:embed="rId2"/>
          <a:srcRect l="-15005" r="-15005"/>
          <a:stretch>
            <a:fillRect/>
          </a:stretch>
        </p:blipFill>
        <p:spPr>
          <a:xfrm>
            <a:off x="457200" y="1600201"/>
            <a:ext cx="3331738" cy="3733800"/>
          </a:xfrm>
        </p:spPr>
      </p:pic>
      <p:sp>
        <p:nvSpPr>
          <p:cNvPr id="6" name="Content Placeholder 5"/>
          <p:cNvSpPr>
            <a:spLocks noGrp="1"/>
          </p:cNvSpPr>
          <p:nvPr>
            <p:ph sz="half" idx="2"/>
          </p:nvPr>
        </p:nvSpPr>
        <p:spPr>
          <a:xfrm>
            <a:off x="3788938" y="1600201"/>
            <a:ext cx="4897862" cy="4525962"/>
          </a:xfrm>
        </p:spPr>
        <p:txBody>
          <a:bodyPr>
            <a:normAutofit lnSpcReduction="10000"/>
          </a:bodyPr>
          <a:lstStyle/>
          <a:p>
            <a:r>
              <a:rPr lang="en-US" dirty="0" smtClean="0"/>
              <a:t>Bernstein’s theory shows how the language (British) people use both reflects and shapes the assumptions of a certain social group</a:t>
            </a:r>
          </a:p>
          <a:p>
            <a:pPr lvl="1"/>
            <a:r>
              <a:rPr lang="en-US" dirty="0" smtClean="0"/>
              <a:t>working-class vs. middle-class</a:t>
            </a:r>
          </a:p>
          <a:p>
            <a:pPr lvl="1"/>
            <a:r>
              <a:rPr lang="en-US" dirty="0" smtClean="0"/>
              <a:t>The educational context</a:t>
            </a:r>
          </a:p>
          <a:p>
            <a:pPr lvl="1"/>
            <a:r>
              <a:rPr lang="en-US" dirty="0" smtClean="0"/>
              <a:t>relativistic model</a:t>
            </a:r>
          </a:p>
          <a:p>
            <a:r>
              <a:rPr lang="en-US" dirty="0" smtClean="0"/>
              <a:t>Restricted code / elaborated code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Elaborated and restricted codes</a:t>
            </a:r>
            <a:endParaRPr lang="en-US" dirty="0"/>
          </a:p>
        </p:txBody>
      </p:sp>
      <p:sp>
        <p:nvSpPr>
          <p:cNvPr id="3" name="Content Placeholder 2"/>
          <p:cNvSpPr>
            <a:spLocks noGrp="1"/>
          </p:cNvSpPr>
          <p:nvPr>
            <p:ph sz="half" idx="1"/>
          </p:nvPr>
        </p:nvSpPr>
        <p:spPr/>
        <p:txBody>
          <a:bodyPr>
            <a:normAutofit fontScale="62500" lnSpcReduction="20000"/>
          </a:bodyPr>
          <a:lstStyle/>
          <a:p>
            <a:pPr>
              <a:spcAft>
                <a:spcPts val="600"/>
              </a:spcAft>
            </a:pPr>
            <a:r>
              <a:rPr lang="en-US" u="sng" dirty="0" smtClean="0"/>
              <a:t>Restricted code:</a:t>
            </a:r>
          </a:p>
          <a:p>
            <a:pPr lvl="1">
              <a:spcAft>
                <a:spcPts val="600"/>
              </a:spcAft>
            </a:pPr>
            <a:r>
              <a:rPr lang="en-US" dirty="0" smtClean="0"/>
              <a:t>spoken in the family, amongst friends, in tightly knit communities</a:t>
            </a:r>
          </a:p>
          <a:p>
            <a:pPr lvl="1">
              <a:spcAft>
                <a:spcPts val="600"/>
              </a:spcAft>
            </a:pPr>
            <a:r>
              <a:rPr lang="en-US" dirty="0" err="1" smtClean="0"/>
              <a:t>characterised</a:t>
            </a:r>
            <a:r>
              <a:rPr lang="en-US" dirty="0" smtClean="0"/>
              <a:t> by economical use of language; doesn’t spell everything out; conveys a vast amount of meaning with few words; </a:t>
            </a:r>
          </a:p>
          <a:p>
            <a:pPr lvl="1">
              <a:spcAft>
                <a:spcPts val="600"/>
              </a:spcAft>
            </a:pPr>
            <a:r>
              <a:rPr lang="en-US" dirty="0" smtClean="0"/>
              <a:t>used in circumstances that allow speakers to ‘condense’; requires background information and prior knowledge</a:t>
            </a:r>
          </a:p>
          <a:p>
            <a:pPr lvl="1">
              <a:spcAft>
                <a:spcPts val="600"/>
              </a:spcAft>
            </a:pPr>
            <a:r>
              <a:rPr lang="en-US" dirty="0" smtClean="0"/>
              <a:t>unplanned discourse, context-dependent, relies on the language material and structures acquired during one’s early socialization phases</a:t>
            </a:r>
          </a:p>
          <a:p>
            <a:pPr lvl="1">
              <a:spcAft>
                <a:spcPts val="600"/>
              </a:spcAft>
            </a:pPr>
            <a:r>
              <a:rPr lang="en-US" dirty="0" smtClean="0"/>
              <a:t>this code sets the roles of the interlocutors</a:t>
            </a:r>
          </a:p>
          <a:p>
            <a:pPr lvl="1">
              <a:spcAft>
                <a:spcPts val="600"/>
              </a:spcAft>
            </a:pPr>
            <a:endParaRPr lang="en-US" dirty="0"/>
          </a:p>
        </p:txBody>
      </p:sp>
      <p:sp>
        <p:nvSpPr>
          <p:cNvPr id="4" name="Content Placeholder 3"/>
          <p:cNvSpPr>
            <a:spLocks noGrp="1"/>
          </p:cNvSpPr>
          <p:nvPr>
            <p:ph sz="half" idx="2"/>
          </p:nvPr>
        </p:nvSpPr>
        <p:spPr>
          <a:xfrm>
            <a:off x="4648200" y="1600200"/>
            <a:ext cx="4038600" cy="5257800"/>
          </a:xfrm>
        </p:spPr>
        <p:txBody>
          <a:bodyPr>
            <a:normAutofit fontScale="62500" lnSpcReduction="20000"/>
          </a:bodyPr>
          <a:lstStyle/>
          <a:p>
            <a:pPr>
              <a:spcAft>
                <a:spcPts val="1800"/>
              </a:spcAft>
            </a:pPr>
            <a:r>
              <a:rPr lang="en-US" u="sng" dirty="0" smtClean="0"/>
              <a:t>Elaborated code:</a:t>
            </a:r>
          </a:p>
          <a:p>
            <a:pPr lvl="1">
              <a:spcAft>
                <a:spcPts val="1800"/>
              </a:spcAft>
            </a:pPr>
            <a:r>
              <a:rPr lang="en-US" dirty="0" smtClean="0"/>
              <a:t>works well where more thorough explanation is required; </a:t>
            </a:r>
          </a:p>
          <a:p>
            <a:pPr lvl="1">
              <a:spcAft>
                <a:spcPts val="1800"/>
              </a:spcAft>
            </a:pPr>
            <a:r>
              <a:rPr lang="en-US" dirty="0" smtClean="0"/>
              <a:t>can ‘stand on its own’: complete and full of details</a:t>
            </a:r>
          </a:p>
          <a:p>
            <a:pPr lvl="1">
              <a:spcAft>
                <a:spcPts val="1800"/>
              </a:spcAft>
            </a:pPr>
            <a:r>
              <a:rPr lang="en-US" dirty="0" smtClean="0"/>
              <a:t>understandable for those overhearing a conversation</a:t>
            </a:r>
          </a:p>
          <a:p>
            <a:pPr lvl="1">
              <a:spcAft>
                <a:spcPts val="1800"/>
              </a:spcAft>
            </a:pPr>
            <a:r>
              <a:rPr lang="en-US" dirty="0" smtClean="0"/>
              <a:t>It has to be elaborate because the circumstances don’t allow the speakers to condense</a:t>
            </a:r>
          </a:p>
          <a:p>
            <a:pPr lvl="1">
              <a:spcAft>
                <a:spcPts val="1800"/>
              </a:spcAft>
            </a:pPr>
            <a:r>
              <a:rPr lang="en-US" dirty="0" smtClean="0"/>
              <a:t>planned discourse, rather context-free, draws on language material and structures acquired via literacy</a:t>
            </a:r>
          </a:p>
          <a:p>
            <a:pPr lvl="1">
              <a:spcAft>
                <a:spcPts val="1800"/>
              </a:spcAft>
            </a:pPr>
            <a:r>
              <a:rPr lang="en-US" dirty="0" smtClean="0"/>
              <a:t>roles of interlocutors are more open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28600"/>
            <a:ext cx="8229600" cy="1143000"/>
          </a:xfrm>
        </p:spPr>
        <p:txBody>
          <a:bodyPr>
            <a:normAutofit/>
          </a:bodyPr>
          <a:lstStyle/>
          <a:p>
            <a:r>
              <a:rPr lang="en-US" sz="2000" u="sng" dirty="0" smtClean="0"/>
              <a:t>Basil Bernstein vs. William </a:t>
            </a:r>
            <a:r>
              <a:rPr lang="en-US" sz="2000" u="sng" dirty="0" err="1" smtClean="0"/>
              <a:t>Labov</a:t>
            </a:r>
            <a:endParaRPr lang="en-US" sz="2000" u="sng" dirty="0"/>
          </a:p>
        </p:txBody>
      </p:sp>
      <p:pic>
        <p:nvPicPr>
          <p:cNvPr id="7" name="Content Placeholder 6" descr="images-3.jpeg"/>
          <p:cNvPicPr>
            <a:picLocks noGrp="1" noChangeAspect="1"/>
          </p:cNvPicPr>
          <p:nvPr>
            <p:ph sz="half" idx="1"/>
          </p:nvPr>
        </p:nvPicPr>
        <p:blipFill>
          <a:blip r:embed="rId3"/>
          <a:srcRect l="-12462" r="-12462"/>
          <a:stretch>
            <a:fillRect/>
          </a:stretch>
        </p:blipFill>
        <p:spPr>
          <a:xfrm>
            <a:off x="152400" y="4724400"/>
            <a:ext cx="1676400" cy="1878702"/>
          </a:xfrm>
        </p:spPr>
      </p:pic>
      <p:pic>
        <p:nvPicPr>
          <p:cNvPr id="5" name="Content Placeholder 4" descr="images-2.jpeg"/>
          <p:cNvPicPr>
            <a:picLocks noGrp="1" noChangeAspect="1"/>
          </p:cNvPicPr>
          <p:nvPr>
            <p:ph sz="half" idx="2"/>
          </p:nvPr>
        </p:nvPicPr>
        <p:blipFill>
          <a:blip r:embed="rId4"/>
          <a:srcRect l="-7098" r="-7098"/>
          <a:stretch>
            <a:fillRect/>
          </a:stretch>
        </p:blipFill>
        <p:spPr>
          <a:xfrm>
            <a:off x="5105400" y="2209800"/>
            <a:ext cx="4038600" cy="4525963"/>
          </a:xfrm>
        </p:spPr>
      </p:pic>
      <p:sp>
        <p:nvSpPr>
          <p:cNvPr id="6" name="Oval Callout 5"/>
          <p:cNvSpPr/>
          <p:nvPr/>
        </p:nvSpPr>
        <p:spPr>
          <a:xfrm>
            <a:off x="3200400" y="342900"/>
            <a:ext cx="6096000" cy="2514600"/>
          </a:xfrm>
          <a:prstGeom prst="wedgeEllipseCallout">
            <a:avLst>
              <a:gd name="adj1" fmla="val 8883"/>
              <a:gd name="adj2" fmla="val 82710"/>
            </a:avLst>
          </a:prstGeom>
          <a:ln/>
        </p:spPr>
        <p:style>
          <a:lnRef idx="2">
            <a:schemeClr val="accent1"/>
          </a:lnRef>
          <a:fillRef idx="1">
            <a:schemeClr val="lt1"/>
          </a:fillRef>
          <a:effectRef idx="0">
            <a:schemeClr val="accent1"/>
          </a:effectRef>
          <a:fontRef idx="minor">
            <a:schemeClr val="dk1"/>
          </a:fontRef>
        </p:style>
        <p:txBody>
          <a:bodyPr/>
          <a:lstStyle/>
          <a:p>
            <a:r>
              <a:rPr lang="en-US" sz="1000" dirty="0" smtClean="0">
                <a:latin typeface="Comic Sans MS"/>
                <a:cs typeface="Comic Sans MS"/>
              </a:rPr>
              <a:t>Why do working-class pupils perform poorly, compared to middle-class pupils, in language-based subjects (while doing well in mathematics-related subjects)? I believe that “forms </a:t>
            </a:r>
            <a:r>
              <a:rPr lang="en-US" sz="1000" dirty="0">
                <a:latin typeface="Comic Sans MS"/>
                <a:cs typeface="Comic Sans MS"/>
              </a:rPr>
              <a:t>of spoken language in the process of their learning initiate, generalize and reinforce special types of relationship with the environment and thus create for the individual particular forms of </a:t>
            </a:r>
            <a:r>
              <a:rPr lang="en-US" sz="1000" dirty="0" smtClean="0">
                <a:latin typeface="Comic Sans MS"/>
                <a:cs typeface="Comic Sans MS"/>
              </a:rPr>
              <a:t>significance” (1971: 76). The restricted and the elaborated codes are not only different ways of saying, but, crucially, also </a:t>
            </a:r>
            <a:r>
              <a:rPr lang="en-US" sz="1000" u="sng" dirty="0" smtClean="0">
                <a:latin typeface="Comic Sans MS"/>
                <a:cs typeface="Comic Sans MS"/>
              </a:rPr>
              <a:t>different ways of meaning</a:t>
            </a:r>
            <a:r>
              <a:rPr lang="en-US" sz="1000" dirty="0" smtClean="0">
                <a:latin typeface="Comic Sans MS"/>
                <a:cs typeface="Comic Sans MS"/>
              </a:rPr>
              <a:t>! Working-class children do not grow up in an environment conducive to the acquisition of the elaborated code - which is the only code in which educational knowledge can be expressed…</a:t>
            </a:r>
            <a:endParaRPr lang="en-US" sz="1000" dirty="0">
              <a:latin typeface="Comic Sans MS"/>
              <a:cs typeface="Comic Sans MS"/>
            </a:endParaRPr>
          </a:p>
        </p:txBody>
      </p:sp>
      <p:sp>
        <p:nvSpPr>
          <p:cNvPr id="8" name="Oval Callout 7"/>
          <p:cNvSpPr/>
          <p:nvPr/>
        </p:nvSpPr>
        <p:spPr>
          <a:xfrm>
            <a:off x="0" y="1265236"/>
            <a:ext cx="3810000" cy="2743200"/>
          </a:xfrm>
          <a:prstGeom prst="wedgeEllipseCallout">
            <a:avLst>
              <a:gd name="adj1" fmla="val -18754"/>
              <a:gd name="adj2" fmla="val 95104"/>
            </a:avLst>
          </a:prstGeom>
          <a:ln/>
        </p:spPr>
        <p:style>
          <a:lnRef idx="2">
            <a:schemeClr val="accent4"/>
          </a:lnRef>
          <a:fillRef idx="1">
            <a:schemeClr val="lt1"/>
          </a:fillRef>
          <a:effectRef idx="0">
            <a:schemeClr val="accent4"/>
          </a:effectRef>
          <a:fontRef idx="minor">
            <a:schemeClr val="dk1"/>
          </a:fontRef>
        </p:style>
        <p:txBody>
          <a:bodyPr/>
          <a:lstStyle/>
          <a:p>
            <a:r>
              <a:rPr lang="en-US" sz="1000" dirty="0" smtClean="0">
                <a:latin typeface="Comic Sans MS"/>
                <a:cs typeface="Comic Sans MS"/>
              </a:rPr>
              <a:t>I disagree. Language and social class are certainly related, but the correlation concerns </a:t>
            </a:r>
            <a:r>
              <a:rPr lang="en-US" sz="1000" u="sng" dirty="0" smtClean="0">
                <a:latin typeface="Comic Sans MS"/>
                <a:cs typeface="Comic Sans MS"/>
              </a:rPr>
              <a:t>form – not meaning</a:t>
            </a:r>
            <a:r>
              <a:rPr lang="en-US" sz="1000" dirty="0" smtClean="0">
                <a:latin typeface="Comic Sans MS"/>
                <a:cs typeface="Comic Sans MS"/>
              </a:rPr>
              <a:t>! We are dealing here with ‘</a:t>
            </a:r>
            <a:r>
              <a:rPr lang="en-US" sz="1000" u="sng" dirty="0" smtClean="0">
                <a:latin typeface="Comic Sans MS"/>
                <a:cs typeface="Comic Sans MS"/>
              </a:rPr>
              <a:t>alternative ways of saying the same thing</a:t>
            </a:r>
            <a:r>
              <a:rPr lang="en-US" sz="1000" dirty="0" smtClean="0">
                <a:latin typeface="Comic Sans MS"/>
                <a:cs typeface="Comic Sans MS"/>
              </a:rPr>
              <a:t>’! In BEV you say ‘the buses be coming late’, in SE you say ‘the buses are usually late’; it means the same, but there are two different grammars (codes) in use. For sure, the two structures are different </a:t>
            </a:r>
            <a:r>
              <a:rPr lang="en-US" sz="1000" dirty="0" err="1" smtClean="0">
                <a:latin typeface="Comic Sans MS"/>
                <a:cs typeface="Comic Sans MS"/>
              </a:rPr>
              <a:t>sociolinguistically</a:t>
            </a:r>
            <a:r>
              <a:rPr lang="en-US" sz="1000" dirty="0" smtClean="0">
                <a:latin typeface="Comic Sans MS"/>
                <a:cs typeface="Comic Sans MS"/>
              </a:rPr>
              <a:t> speaking but not on the semantic level. Which code you use has nothing to do with your cognitive abilities.</a:t>
            </a:r>
            <a:endParaRPr lang="en-US" sz="1000" dirty="0">
              <a:latin typeface="Comic Sans MS"/>
              <a:cs typeface="Comic Sans MS"/>
            </a:endParaRPr>
          </a:p>
        </p:txBody>
      </p:sp>
      <p:sp>
        <p:nvSpPr>
          <p:cNvPr id="10" name="Oval Callout 9"/>
          <p:cNvSpPr/>
          <p:nvPr/>
        </p:nvSpPr>
        <p:spPr>
          <a:xfrm>
            <a:off x="2133600" y="4008436"/>
            <a:ext cx="2819400" cy="1935164"/>
          </a:xfrm>
          <a:prstGeom prst="wedgeEllipseCallout">
            <a:avLst>
              <a:gd name="adj1" fmla="val -75596"/>
              <a:gd name="adj2" fmla="val 37823"/>
            </a:avLst>
          </a:prstGeom>
          <a:ln/>
        </p:spPr>
        <p:style>
          <a:lnRef idx="2">
            <a:schemeClr val="accent4"/>
          </a:lnRef>
          <a:fillRef idx="1">
            <a:schemeClr val="lt1"/>
          </a:fillRef>
          <a:effectRef idx="0">
            <a:schemeClr val="accent4"/>
          </a:effectRef>
          <a:fontRef idx="minor">
            <a:schemeClr val="dk1"/>
          </a:fontRef>
        </p:style>
        <p:txBody>
          <a:bodyPr/>
          <a:lstStyle/>
          <a:p>
            <a:r>
              <a:rPr lang="en-US" sz="1100" dirty="0" smtClean="0">
                <a:latin typeface="Comic Sans MS"/>
                <a:cs typeface="Comic Sans MS"/>
              </a:rPr>
              <a:t>What Bernstein treats as ‘code differences’ are actually merely stylistic preferences between speakers: class-related selections from the range of possible English sentences</a:t>
            </a:r>
            <a:endParaRPr lang="en-US" sz="1100" dirty="0">
              <a:latin typeface="Comic Sans MS"/>
              <a:cs typeface="Comic Sans MS"/>
            </a:endParaRPr>
          </a:p>
        </p:txBody>
      </p:sp>
      <p:sp>
        <p:nvSpPr>
          <p:cNvPr id="11" name="Oval Callout 10"/>
          <p:cNvSpPr/>
          <p:nvPr/>
        </p:nvSpPr>
        <p:spPr>
          <a:xfrm>
            <a:off x="3505200" y="5410200"/>
            <a:ext cx="3886200" cy="1447800"/>
          </a:xfrm>
          <a:prstGeom prst="wedgeEllipseCallout">
            <a:avLst>
              <a:gd name="adj1" fmla="val 38316"/>
              <a:gd name="adj2" fmla="val -88985"/>
            </a:avLst>
          </a:prstGeom>
          <a:ln/>
        </p:spPr>
        <p:style>
          <a:lnRef idx="2">
            <a:schemeClr val="accent3"/>
          </a:lnRef>
          <a:fillRef idx="1">
            <a:schemeClr val="lt1"/>
          </a:fillRef>
          <a:effectRef idx="0">
            <a:schemeClr val="accent3"/>
          </a:effectRef>
          <a:fontRef idx="minor">
            <a:schemeClr val="dk1"/>
          </a:fontRef>
        </p:style>
        <p:txBody>
          <a:bodyPr/>
          <a:lstStyle/>
          <a:p>
            <a:r>
              <a:rPr lang="en-US" sz="1000" dirty="0" smtClean="0">
                <a:latin typeface="Comic Sans MS"/>
                <a:cs typeface="Comic Sans MS"/>
              </a:rPr>
              <a:t>The studies on ‘Black English Vernacular’ by American sociolinguists are limited to </a:t>
            </a:r>
            <a:r>
              <a:rPr lang="en-US" sz="1000" i="1" dirty="0" smtClean="0">
                <a:latin typeface="Comic Sans MS"/>
                <a:cs typeface="Comic Sans MS"/>
              </a:rPr>
              <a:t>surface concepts </a:t>
            </a:r>
            <a:r>
              <a:rPr lang="en-US" sz="1000" dirty="0" smtClean="0">
                <a:latin typeface="Comic Sans MS"/>
                <a:cs typeface="Comic Sans MS"/>
              </a:rPr>
              <a:t>such as ‘context’ and ‘linguistic variety’. It neglects to </a:t>
            </a:r>
            <a:r>
              <a:rPr lang="en-US" sz="1000" dirty="0" err="1" smtClean="0">
                <a:latin typeface="Comic Sans MS"/>
                <a:cs typeface="Comic Sans MS"/>
              </a:rPr>
              <a:t>analyse</a:t>
            </a:r>
            <a:r>
              <a:rPr lang="en-US" sz="1000" dirty="0" smtClean="0">
                <a:latin typeface="Comic Sans MS"/>
                <a:cs typeface="Comic Sans MS"/>
              </a:rPr>
              <a:t> the deeper, underlying problems of how educational knowledge  is transmitted.</a:t>
            </a:r>
            <a:endParaRPr lang="en-US" sz="1000" dirty="0">
              <a:latin typeface="Comic Sans MS"/>
              <a:cs typeface="Comic Sans M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6" name="Vertical Text Placeholder 5"/>
          <p:cNvSpPr>
            <a:spLocks noGrp="1"/>
          </p:cNvSpPr>
          <p:nvPr>
            <p:ph type="body" orient="vert" idx="1"/>
          </p:nvPr>
        </p:nvSpPr>
        <p:spPr/>
        <p:txBody>
          <a:bodyPr/>
          <a:lstStyle/>
          <a:p>
            <a:endParaRPr lang="en-US" dirty="0"/>
          </a:p>
        </p:txBody>
      </p:sp>
      <p:pic>
        <p:nvPicPr>
          <p:cNvPr id="7" name="Picture 6" descr="images-1.jpeg"/>
          <p:cNvPicPr>
            <a:picLocks noChangeAspect="1"/>
          </p:cNvPicPr>
          <p:nvPr/>
        </p:nvPicPr>
        <p:blipFill>
          <a:blip r:embed="rId2"/>
          <a:stretch>
            <a:fillRect/>
          </a:stretch>
        </p:blipFill>
        <p:spPr>
          <a:xfrm>
            <a:off x="609600" y="1981200"/>
            <a:ext cx="1882787" cy="2743200"/>
          </a:xfrm>
          <a:prstGeom prst="rect">
            <a:avLst/>
          </a:prstGeom>
        </p:spPr>
      </p:pic>
      <p:sp>
        <p:nvSpPr>
          <p:cNvPr id="8" name="Oval Callout 7"/>
          <p:cNvSpPr/>
          <p:nvPr/>
        </p:nvSpPr>
        <p:spPr>
          <a:xfrm>
            <a:off x="2895600" y="685800"/>
            <a:ext cx="6019800" cy="5943600"/>
          </a:xfrm>
          <a:prstGeom prst="wedgeEllipseCallout">
            <a:avLst>
              <a:gd name="adj1" fmla="val -70535"/>
              <a:gd name="adj2" fmla="val 2121"/>
            </a:avLst>
          </a:prstGeom>
          <a:ln/>
        </p:spPr>
        <p:style>
          <a:lnRef idx="2">
            <a:schemeClr val="accent1"/>
          </a:lnRef>
          <a:fillRef idx="1">
            <a:schemeClr val="lt1"/>
          </a:fillRef>
          <a:effectRef idx="0">
            <a:schemeClr val="accent1"/>
          </a:effectRef>
          <a:fontRef idx="minor">
            <a:schemeClr val="dk1"/>
          </a:fontRef>
        </p:style>
        <p:txBody>
          <a:bodyPr/>
          <a:lstStyle/>
          <a:p>
            <a:r>
              <a:rPr lang="en-US" sz="1200" dirty="0" smtClean="0">
                <a:solidFill>
                  <a:srgbClr val="000000"/>
                </a:solidFill>
                <a:latin typeface="Comic Sans MS"/>
                <a:cs typeface="Comic Sans MS"/>
              </a:rPr>
              <a:t>What educational psychologists studied in the black communities of the US was not actually the ‘restricted code’ as I intended it, namely as a ‘condensed’ and ‘highly packed’ form of speech. They simply appropriated my term and applied it to situations in which African-American (</a:t>
            </a:r>
            <a:r>
              <a:rPr lang="en-US" sz="1200" dirty="0" err="1" smtClean="0">
                <a:solidFill>
                  <a:srgbClr val="000000"/>
                </a:solidFill>
                <a:latin typeface="Comic Sans MS"/>
                <a:cs typeface="Comic Sans MS"/>
              </a:rPr>
              <a:t>pre)school</a:t>
            </a:r>
            <a:r>
              <a:rPr lang="en-US" sz="1200" dirty="0" smtClean="0">
                <a:solidFill>
                  <a:srgbClr val="000000"/>
                </a:solidFill>
                <a:latin typeface="Comic Sans MS"/>
                <a:cs typeface="Comic Sans MS"/>
              </a:rPr>
              <a:t> children’s linguistic performances as part of test interviews were poor (e.g. they didn’t answer back in full sentences). Hence, for these psychologists, the question ‘Where is the squirrel?’, when asked in the schoolroom, requires the standard answer ‘The squirrel is in the tree’ – and not the vernacular (and illogical) answer ’In the tree’.  But answering ‘in the tree’ (instead of the full form) is not a representative example of ‘restricted code’, nor is the answer ‘The squirrel is in the tree’ an example of elaborated code. The restricted code is not the same as ‘speaking in monosyllables’ and being ‘reluctant to converse with others’! Not at all: in fact, the middle-class speakers in the UK equally make use of this code – the difference is that their environment encourages them to make use of the elaborated code in educational contexts…Switching between the two codes, in fact, is what </a:t>
            </a:r>
            <a:r>
              <a:rPr lang="en-US" sz="1200" i="1" dirty="0" smtClean="0">
                <a:solidFill>
                  <a:srgbClr val="000000"/>
                </a:solidFill>
                <a:latin typeface="Comic Sans MS"/>
                <a:cs typeface="Comic Sans MS"/>
              </a:rPr>
              <a:t>makes</a:t>
            </a:r>
            <a:r>
              <a:rPr lang="en-US" sz="1200" dirty="0" smtClean="0">
                <a:solidFill>
                  <a:srgbClr val="000000"/>
                </a:solidFill>
                <a:latin typeface="Comic Sans MS"/>
                <a:cs typeface="Comic Sans MS"/>
              </a:rPr>
              <a:t> a middle-class identity.</a:t>
            </a:r>
            <a:endParaRPr lang="en-US" sz="1200" dirty="0">
              <a:solidFill>
                <a:srgbClr val="000000"/>
              </a:solidFill>
              <a:latin typeface="Comic Sans MS"/>
              <a:cs typeface="Comic Sans M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t>‘The Logic of Nonstandard English’ (</a:t>
            </a:r>
            <a:r>
              <a:rPr lang="en-US" dirty="0" err="1" smtClean="0"/>
              <a:t>Labov</a:t>
            </a:r>
            <a:r>
              <a:rPr lang="en-US" dirty="0" smtClean="0"/>
              <a:t> 1969)</a:t>
            </a:r>
            <a:endParaRPr lang="en-US" dirty="0"/>
          </a:p>
        </p:txBody>
      </p:sp>
      <p:sp>
        <p:nvSpPr>
          <p:cNvPr id="6" name="Content Placeholder 5"/>
          <p:cNvSpPr>
            <a:spLocks noGrp="1"/>
          </p:cNvSpPr>
          <p:nvPr>
            <p:ph idx="1"/>
          </p:nvPr>
        </p:nvSpPr>
        <p:spPr>
          <a:xfrm>
            <a:off x="457200" y="1600200"/>
            <a:ext cx="8229600" cy="5029200"/>
          </a:xfrm>
        </p:spPr>
        <p:txBody>
          <a:bodyPr>
            <a:normAutofit fontScale="70000" lnSpcReduction="20000"/>
          </a:bodyPr>
          <a:lstStyle/>
          <a:p>
            <a:r>
              <a:rPr lang="en-US" dirty="0" smtClean="0"/>
              <a:t>“The social situation is the most powerful determinant of verbal </a:t>
            </a:r>
            <a:r>
              <a:rPr lang="en-US" dirty="0" err="1" smtClean="0"/>
              <a:t>behaviour</a:t>
            </a:r>
            <a:r>
              <a:rPr lang="en-US" dirty="0" smtClean="0"/>
              <a:t> […] an adult must enter into the right social relation with a child if he wants to find out what a child can do: this is just what many teachers cannot do.” (</a:t>
            </a:r>
            <a:r>
              <a:rPr lang="en-US" dirty="0" err="1" smtClean="0"/>
              <a:t>Labov</a:t>
            </a:r>
            <a:r>
              <a:rPr lang="en-US" dirty="0" smtClean="0"/>
              <a:t>, 1969, </a:t>
            </a:r>
            <a:r>
              <a:rPr lang="en-US" dirty="0" err="1" smtClean="0"/>
              <a:t>p</a:t>
            </a:r>
            <a:r>
              <a:rPr lang="en-US" dirty="0" smtClean="0"/>
              <a:t>. 191)</a:t>
            </a:r>
          </a:p>
          <a:p>
            <a:r>
              <a:rPr lang="en-US" dirty="0" smtClean="0"/>
              <a:t>“We see [the ghetto] child bathed in verbal stimulation from morning to night” (ibid.)</a:t>
            </a:r>
          </a:p>
          <a:p>
            <a:r>
              <a:rPr lang="en-US" dirty="0" smtClean="0"/>
              <a:t>“Is it true that all of the middle-class verbal habits are functional and desirable in the school situation? Before we impose middle-class verbal style upon children from other cultural groups, we should find out how much of this is useful for the main work of analyzing and generalizing, and how much is merely stylistic – or even dysfunctional. […] Is the ‘elaborated code’ of Bernstein really so ‘flexible, detailed and subtle’ as some psychologists believe? […] Isn’t it also turgid [pompous], redundant, and empty? Is it not simply an elaborated </a:t>
            </a:r>
            <a:r>
              <a:rPr lang="en-US" i="1" dirty="0" smtClean="0"/>
              <a:t>style</a:t>
            </a:r>
            <a:r>
              <a:rPr lang="en-US" dirty="0" smtClean="0"/>
              <a:t>, rather than a superior code or system? (</a:t>
            </a:r>
            <a:r>
              <a:rPr lang="en-US" dirty="0" err="1" smtClean="0"/>
              <a:t>p</a:t>
            </a:r>
            <a:r>
              <a:rPr lang="en-US" dirty="0" smtClean="0"/>
              <a:t>. 102) </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Logic of Nonstandard English (</a:t>
            </a:r>
            <a:r>
              <a:rPr lang="en-US" dirty="0" err="1" smtClean="0"/>
              <a:t>Labov</a:t>
            </a:r>
            <a:r>
              <a:rPr lang="en-US" dirty="0" smtClean="0"/>
              <a:t> 1969)</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In many ways working-class speakers are more effective narrators, </a:t>
            </a:r>
            <a:r>
              <a:rPr lang="en-US" dirty="0" err="1" smtClean="0"/>
              <a:t>reasoners</a:t>
            </a:r>
            <a:r>
              <a:rPr lang="en-US" dirty="0" smtClean="0"/>
              <a:t> and debaters than many middle-class speakers who temporize [delaying an answer, the purpose of a statement], qualify, and lose their argument in a mass of irrelevant detail. […] The average middle-class speaker […] is enmeshed in verbiage, the victim of sociolinguistic factors beyond his control. (</a:t>
            </a:r>
            <a:r>
              <a:rPr lang="en-US" dirty="0" err="1" smtClean="0"/>
              <a:t>p</a:t>
            </a:r>
            <a:r>
              <a:rPr lang="en-US" dirty="0" smtClean="0"/>
              <a:t>. 193)</a:t>
            </a:r>
          </a:p>
          <a:p>
            <a:r>
              <a:rPr lang="en-US" dirty="0" smtClean="0"/>
              <a:t>Larry </a:t>
            </a:r>
            <a:r>
              <a:rPr lang="en-US" dirty="0" err="1" smtClean="0"/>
              <a:t>vs</a:t>
            </a:r>
            <a:r>
              <a:rPr lang="en-US" dirty="0" smtClean="0"/>
              <a:t> Charles:</a:t>
            </a:r>
          </a:p>
          <a:p>
            <a:pPr lvl="1"/>
            <a:r>
              <a:rPr lang="en-US" dirty="0" smtClean="0"/>
              <a:t>The AAVE speaker’s rhetorical style: Larry can sum up a complex argument in a few words, the full force of his opinions comes through without qualification or reservation […] Larry is a skilled speaker with a great ‘verbal presence of mind’, who can use the English language expertly for many purposes. (</a:t>
            </a:r>
            <a:r>
              <a:rPr lang="en-US" dirty="0" err="1" smtClean="0"/>
              <a:t>p</a:t>
            </a:r>
            <a:r>
              <a:rPr lang="en-US" dirty="0" smtClean="0"/>
              <a:t>. 194/196)</a:t>
            </a:r>
          </a:p>
          <a:p>
            <a:pPr lvl="1"/>
            <a:r>
              <a:rPr lang="en-US" dirty="0" smtClean="0"/>
              <a:t>Without the extra verbiage and [….] words like </a:t>
            </a:r>
            <a:r>
              <a:rPr lang="en-US" i="1" dirty="0" smtClean="0"/>
              <a:t>science</a:t>
            </a:r>
            <a:r>
              <a:rPr lang="en-US" dirty="0" smtClean="0"/>
              <a:t>, </a:t>
            </a:r>
            <a:r>
              <a:rPr lang="en-US" i="1" dirty="0" smtClean="0"/>
              <a:t>culture</a:t>
            </a:r>
            <a:r>
              <a:rPr lang="en-US" dirty="0" smtClean="0"/>
              <a:t> and </a:t>
            </a:r>
            <a:r>
              <a:rPr lang="en-US" i="1" dirty="0" smtClean="0"/>
              <a:t>intoxicate</a:t>
            </a:r>
            <a:r>
              <a:rPr lang="en-US" dirty="0" smtClean="0"/>
              <a:t>, Charles M. appears as something less than a first-rate thinker. The initial impression of him as a good speaker is simply our long-conditioned reaction to middle-class verbosity: we know that people who use these stylistic devices are educated people, and we are inclined to credit them with saying something intelligent. […] Charles succeeds in letting us know that he is educated, but in the end we do not know what he is trying to say, and neither does he. (</a:t>
            </a:r>
            <a:r>
              <a:rPr lang="en-US" dirty="0" err="1" smtClean="0"/>
              <a:t>p</a:t>
            </a:r>
            <a:r>
              <a:rPr lang="en-US" dirty="0" smtClean="0"/>
              <a:t>. 199-200)</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images-3.jpeg"/>
          <p:cNvPicPr>
            <a:picLocks noGrp="1" noChangeAspect="1"/>
          </p:cNvPicPr>
          <p:nvPr>
            <p:ph idx="1"/>
          </p:nvPr>
        </p:nvPicPr>
        <p:blipFill>
          <a:blip r:embed="rId2"/>
          <a:srcRect l="-72347" r="-72347"/>
          <a:stretch>
            <a:fillRect/>
          </a:stretch>
        </p:blipFill>
        <p:spPr>
          <a:xfrm>
            <a:off x="457200" y="1600200"/>
            <a:ext cx="3595456" cy="2057400"/>
          </a:xfrm>
        </p:spPr>
      </p:pic>
      <p:sp>
        <p:nvSpPr>
          <p:cNvPr id="5" name="Oval Callout 4"/>
          <p:cNvSpPr/>
          <p:nvPr/>
        </p:nvSpPr>
        <p:spPr>
          <a:xfrm>
            <a:off x="4052656" y="274638"/>
            <a:ext cx="5243744" cy="3078162"/>
          </a:xfrm>
          <a:prstGeom prst="wedgeEllipseCallout">
            <a:avLst>
              <a:gd name="adj1" fmla="val -78993"/>
              <a:gd name="adj2" fmla="val 30783"/>
            </a:avLst>
          </a:prstGeom>
          <a:ln/>
        </p:spPr>
        <p:style>
          <a:lnRef idx="2">
            <a:schemeClr val="accent3"/>
          </a:lnRef>
          <a:fillRef idx="1">
            <a:schemeClr val="lt1"/>
          </a:fillRef>
          <a:effectRef idx="0">
            <a:schemeClr val="accent3"/>
          </a:effectRef>
          <a:fontRef idx="minor">
            <a:schemeClr val="dk1"/>
          </a:fontRef>
        </p:style>
        <p:txBody>
          <a:bodyPr/>
          <a:lstStyle/>
          <a:p>
            <a:r>
              <a:rPr lang="en-US" sz="1200" dirty="0" smtClean="0">
                <a:latin typeface="Comic Sans MS"/>
                <a:cs typeface="Comic Sans MS"/>
              </a:rPr>
              <a:t>The best we can do to understand the verbal capacities of children is to study them within the cultural context in which they were developed. … To ask a child from the ghetto an impersonal question in a formal and (what must appear as a) threatening situation, serves to validate the ‘verbal deprivation theory’. This kind of research does nothing to understand the true nature of other dialects of English, and, even worse, it nurtures the teachers’ bias that nonstandard speech can have no ‘elaborated codes’.</a:t>
            </a:r>
            <a:endParaRPr lang="en-US" sz="1200" dirty="0">
              <a:latin typeface="Comic Sans MS"/>
              <a:cs typeface="Comic Sans MS"/>
            </a:endParaRPr>
          </a:p>
        </p:txBody>
      </p:sp>
      <p:sp>
        <p:nvSpPr>
          <p:cNvPr id="6" name="Oval Callout 5"/>
          <p:cNvSpPr/>
          <p:nvPr/>
        </p:nvSpPr>
        <p:spPr>
          <a:xfrm>
            <a:off x="4052656" y="3200400"/>
            <a:ext cx="5396144" cy="2286000"/>
          </a:xfrm>
          <a:prstGeom prst="wedgeEllipseCallout">
            <a:avLst>
              <a:gd name="adj1" fmla="val -77844"/>
              <a:gd name="adj2" fmla="val -55319"/>
            </a:avLst>
          </a:prstGeom>
          <a:ln/>
        </p:spPr>
        <p:style>
          <a:lnRef idx="2">
            <a:schemeClr val="accent4"/>
          </a:lnRef>
          <a:fillRef idx="1">
            <a:schemeClr val="lt1"/>
          </a:fillRef>
          <a:effectRef idx="0">
            <a:schemeClr val="accent4"/>
          </a:effectRef>
          <a:fontRef idx="minor">
            <a:schemeClr val="dk1"/>
          </a:fontRef>
        </p:style>
        <p:txBody>
          <a:bodyPr/>
          <a:lstStyle/>
          <a:p>
            <a:r>
              <a:rPr lang="en-US" sz="1300" dirty="0" smtClean="0">
                <a:latin typeface="Comic Sans MS"/>
                <a:cs typeface="Comic Sans MS"/>
              </a:rPr>
              <a:t>All too often, ‘standard English’ is represented by a style that is simultaneously </a:t>
            </a:r>
            <a:r>
              <a:rPr lang="en-US" sz="1300" dirty="0" err="1" smtClean="0">
                <a:latin typeface="Comic Sans MS"/>
                <a:cs typeface="Comic Sans MS"/>
              </a:rPr>
              <a:t>overparticular</a:t>
            </a:r>
            <a:r>
              <a:rPr lang="en-US" sz="1300" dirty="0" smtClean="0">
                <a:latin typeface="Comic Sans MS"/>
                <a:cs typeface="Comic Sans MS"/>
              </a:rPr>
              <a:t> and vague. The accumulating flow of words buries rather than strikes the target. It is this verbosity which is most easily taught and most easily learned, so that words take the place of thought, and nothing can be found behind them. </a:t>
            </a:r>
            <a:endParaRPr lang="en-US" sz="1300" dirty="0">
              <a:latin typeface="Comic Sans MS"/>
              <a:cs typeface="Comic Sans MS"/>
            </a:endParaRPr>
          </a:p>
        </p:txBody>
      </p:sp>
      <p:sp>
        <p:nvSpPr>
          <p:cNvPr id="7" name="Oval Callout 6"/>
          <p:cNvSpPr/>
          <p:nvPr/>
        </p:nvSpPr>
        <p:spPr>
          <a:xfrm>
            <a:off x="0" y="5105400"/>
            <a:ext cx="6172200" cy="1752600"/>
          </a:xfrm>
          <a:prstGeom prst="wedgeEllipseCallout">
            <a:avLst>
              <a:gd name="adj1" fmla="val -12286"/>
              <a:gd name="adj2" fmla="val -149639"/>
            </a:avLst>
          </a:prstGeom>
          <a:ln/>
        </p:spPr>
        <p:style>
          <a:lnRef idx="2">
            <a:schemeClr val="accent4"/>
          </a:lnRef>
          <a:fillRef idx="1">
            <a:schemeClr val="lt1"/>
          </a:fillRef>
          <a:effectRef idx="0">
            <a:schemeClr val="accent4"/>
          </a:effectRef>
          <a:fontRef idx="minor">
            <a:schemeClr val="dk1"/>
          </a:fontRef>
        </p:style>
        <p:txBody>
          <a:bodyPr/>
          <a:lstStyle/>
          <a:p>
            <a:r>
              <a:rPr lang="en-US" sz="1200" dirty="0" smtClean="0">
                <a:latin typeface="Comic Sans MS"/>
                <a:cs typeface="Comic Sans MS"/>
              </a:rPr>
              <a:t>When Bernstein described his ‘elaborated code’ in general terms, it emerges as a subtle and sophisticated mode of planning utterances, achieving structural variety, taking the other person’s knowledge into account, and so on. … However, teaching lower-class children middle-class speech habits does not mean that one is teaching them to ‘think logically’.</a:t>
            </a:r>
            <a:endParaRPr lang="en-US" sz="1200" dirty="0">
              <a:latin typeface="Comic Sans MS"/>
              <a:cs typeface="Comic Sans M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descr="images-3.jpeg"/>
          <p:cNvPicPr>
            <a:picLocks noGrp="1" noChangeAspect="1"/>
          </p:cNvPicPr>
          <p:nvPr>
            <p:ph idx="1"/>
          </p:nvPr>
        </p:nvPicPr>
        <p:blipFill>
          <a:blip r:embed="rId2"/>
          <a:srcRect l="-72347" r="-72347"/>
          <a:stretch>
            <a:fillRect/>
          </a:stretch>
        </p:blipFill>
        <p:spPr>
          <a:xfrm>
            <a:off x="5638800" y="2514600"/>
            <a:ext cx="4394447" cy="2514600"/>
          </a:xfrm>
        </p:spPr>
      </p:pic>
      <p:pic>
        <p:nvPicPr>
          <p:cNvPr id="5" name="Picture 4" descr="images-2.jpeg"/>
          <p:cNvPicPr>
            <a:picLocks noChangeAspect="1"/>
          </p:cNvPicPr>
          <p:nvPr/>
        </p:nvPicPr>
        <p:blipFill>
          <a:blip r:embed="rId3"/>
          <a:stretch>
            <a:fillRect/>
          </a:stretch>
        </p:blipFill>
        <p:spPr>
          <a:xfrm>
            <a:off x="457200" y="274638"/>
            <a:ext cx="2133600" cy="2730500"/>
          </a:xfrm>
          <a:prstGeom prst="rect">
            <a:avLst/>
          </a:prstGeom>
        </p:spPr>
      </p:pic>
      <p:sp>
        <p:nvSpPr>
          <p:cNvPr id="6" name="Oval Callout 5"/>
          <p:cNvSpPr/>
          <p:nvPr/>
        </p:nvSpPr>
        <p:spPr>
          <a:xfrm>
            <a:off x="3962400" y="0"/>
            <a:ext cx="4876800" cy="2895600"/>
          </a:xfrm>
          <a:prstGeom prst="wedgeEllipseCallout">
            <a:avLst>
              <a:gd name="adj1" fmla="val -98541"/>
              <a:gd name="adj2" fmla="val 8434"/>
            </a:avLst>
          </a:prstGeom>
          <a:ln/>
        </p:spPr>
        <p:style>
          <a:lnRef idx="2">
            <a:schemeClr val="accent1"/>
          </a:lnRef>
          <a:fillRef idx="1">
            <a:schemeClr val="lt1"/>
          </a:fillRef>
          <a:effectRef idx="0">
            <a:schemeClr val="accent1"/>
          </a:effectRef>
          <a:fontRef idx="minor">
            <a:schemeClr val="dk1"/>
          </a:fontRef>
        </p:style>
        <p:txBody>
          <a:bodyPr/>
          <a:lstStyle/>
          <a:p>
            <a:r>
              <a:rPr lang="en-US" sz="1200" dirty="0" smtClean="0">
                <a:solidFill>
                  <a:srgbClr val="000000"/>
                </a:solidFill>
                <a:latin typeface="Comic Sans MS"/>
                <a:cs typeface="Comic Sans MS"/>
              </a:rPr>
              <a:t>Working-class people tend to cluster in  tightly-knit communities and groups, their social roles are less open – their lives are spent mostly within inner circles, amongst family, friends: hence it suffices for them to learn a restricted code. They don’t learn to elaborate a great deal, which is what the educational system requires us to do in order to succeed: </a:t>
            </a:r>
            <a:r>
              <a:rPr lang="en-US" sz="1200" b="1" dirty="0" smtClean="0">
                <a:solidFill>
                  <a:srgbClr val="000000"/>
                </a:solidFill>
                <a:latin typeface="Comic Sans MS"/>
                <a:cs typeface="Comic Sans MS"/>
              </a:rPr>
              <a:t>explain, elaborate, expand</a:t>
            </a:r>
            <a:r>
              <a:rPr lang="en-US" sz="1200" dirty="0" smtClean="0">
                <a:solidFill>
                  <a:srgbClr val="000000"/>
                </a:solidFill>
                <a:latin typeface="Comic Sans MS"/>
                <a:cs typeface="Comic Sans MS"/>
              </a:rPr>
              <a:t>. These are ‘skills’ you have to learn – whether you like it or not. </a:t>
            </a:r>
            <a:endParaRPr lang="en-US" sz="1200" dirty="0">
              <a:solidFill>
                <a:srgbClr val="000000"/>
              </a:solidFill>
              <a:latin typeface="Comic Sans MS"/>
              <a:cs typeface="Comic Sans MS"/>
            </a:endParaRPr>
          </a:p>
        </p:txBody>
      </p:sp>
      <p:sp>
        <p:nvSpPr>
          <p:cNvPr id="7" name="Oval Callout 6"/>
          <p:cNvSpPr/>
          <p:nvPr/>
        </p:nvSpPr>
        <p:spPr>
          <a:xfrm>
            <a:off x="1143000" y="2514600"/>
            <a:ext cx="5257800" cy="2819400"/>
          </a:xfrm>
          <a:prstGeom prst="wedgeEllipseCallout">
            <a:avLst>
              <a:gd name="adj1" fmla="val 67954"/>
              <a:gd name="adj2" fmla="val 2711"/>
            </a:avLst>
          </a:prstGeom>
          <a:ln/>
        </p:spPr>
        <p:style>
          <a:lnRef idx="2">
            <a:schemeClr val="accent1"/>
          </a:lnRef>
          <a:fillRef idx="1">
            <a:schemeClr val="lt1"/>
          </a:fillRef>
          <a:effectRef idx="0">
            <a:schemeClr val="accent1"/>
          </a:effectRef>
          <a:fontRef idx="minor">
            <a:schemeClr val="dk1"/>
          </a:fontRef>
        </p:style>
        <p:txBody>
          <a:bodyPr/>
          <a:lstStyle/>
          <a:p>
            <a:r>
              <a:rPr lang="en-US" sz="1200" dirty="0" smtClean="0">
                <a:solidFill>
                  <a:srgbClr val="000000"/>
                </a:solidFill>
                <a:latin typeface="Comic Sans MS"/>
                <a:cs typeface="Comic Sans MS"/>
              </a:rPr>
              <a:t>I don’t think working-class people should swallow middle-class ideology lock, stock and barrel via education. If you can express something succinctly, by avoiding redundancies: why not take this as a model? I don’t think middle-class speech </a:t>
            </a:r>
            <a:r>
              <a:rPr lang="en-US" sz="1200" dirty="0" err="1" smtClean="0">
                <a:solidFill>
                  <a:srgbClr val="000000"/>
                </a:solidFill>
                <a:latin typeface="Comic Sans MS"/>
                <a:cs typeface="Comic Sans MS"/>
              </a:rPr>
              <a:t>behaviour</a:t>
            </a:r>
            <a:r>
              <a:rPr lang="en-US" sz="1200" dirty="0" smtClean="0">
                <a:solidFill>
                  <a:srgbClr val="000000"/>
                </a:solidFill>
                <a:latin typeface="Comic Sans MS"/>
                <a:cs typeface="Comic Sans MS"/>
              </a:rPr>
              <a:t> should be imposed within the educational setting. We don’t need more pompous twits…! In fact, in the 1990s I supported the idea of African-Americans being taught at school in their own dialects. These ‘dialects’ are not at all deficient or illogical…!  </a:t>
            </a:r>
            <a:endParaRPr lang="en-US" sz="1200" dirty="0">
              <a:solidFill>
                <a:srgbClr val="000000"/>
              </a:solidFill>
              <a:latin typeface="Comic Sans MS"/>
              <a:cs typeface="Comic Sans MS"/>
            </a:endParaRPr>
          </a:p>
        </p:txBody>
      </p:sp>
      <p:sp>
        <p:nvSpPr>
          <p:cNvPr id="8" name="Rectangle 7"/>
          <p:cNvSpPr/>
          <p:nvPr/>
        </p:nvSpPr>
        <p:spPr>
          <a:xfrm>
            <a:off x="4572000" y="5181600"/>
            <a:ext cx="4572000" cy="1477328"/>
          </a:xfrm>
          <a:prstGeom prst="rect">
            <a:avLst/>
          </a:prstGeom>
        </p:spPr>
        <p:txBody>
          <a:bodyPr>
            <a:spAutoFit/>
          </a:bodyPr>
          <a:lstStyle/>
          <a:p>
            <a:r>
              <a:rPr lang="en-US" b="1" dirty="0" smtClean="0"/>
              <a:t>“The idea is widespread in the USA that </a:t>
            </a:r>
            <a:r>
              <a:rPr lang="en-US" b="1" dirty="0" err="1" smtClean="0"/>
              <a:t>Labov</a:t>
            </a:r>
            <a:r>
              <a:rPr lang="en-US" b="1" dirty="0" smtClean="0"/>
              <a:t> has discredited Bernstein, and the strong implication is made that if you don’t agree with that you’re a racist”.  (Stubbs 1983: 79)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p:cNvSpPr>
            <a:spLocks noGrp="1"/>
          </p:cNvSpPr>
          <p:nvPr>
            <p:ph type="title"/>
          </p:nvPr>
        </p:nvSpPr>
        <p:spPr/>
        <p:txBody>
          <a:bodyPr/>
          <a:lstStyle/>
          <a:p>
            <a:endParaRPr lang="en-US"/>
          </a:p>
        </p:txBody>
      </p:sp>
      <p:pic>
        <p:nvPicPr>
          <p:cNvPr id="8" name="Content Placeholder 7" descr="DownloadedFile-1.jpeg"/>
          <p:cNvPicPr>
            <a:picLocks noGrp="1" noChangeAspect="1"/>
          </p:cNvPicPr>
          <p:nvPr>
            <p:ph type="pic" idx="1"/>
          </p:nvPr>
        </p:nvPicPr>
        <p:blipFill>
          <a:blip r:embed="rId2"/>
          <a:srcRect l="-19231" r="-19231"/>
          <a:stretch>
            <a:fillRect/>
          </a:stretch>
        </p:blipFill>
        <p:spPr>
          <a:xfrm>
            <a:off x="457200" y="2133600"/>
            <a:ext cx="5486400" cy="3962400"/>
          </a:xfrm>
        </p:spPr>
      </p:pic>
      <p:sp>
        <p:nvSpPr>
          <p:cNvPr id="16" name="Text Placeholder 15"/>
          <p:cNvSpPr>
            <a:spLocks noGrp="1"/>
          </p:cNvSpPr>
          <p:nvPr>
            <p:ph type="body" sz="half" idx="2"/>
          </p:nvPr>
        </p:nvSpPr>
        <p:spPr/>
        <p:txBody>
          <a:bodyPr/>
          <a:lstStyle/>
          <a:p>
            <a:endParaRPr lang="en-US"/>
          </a:p>
        </p:txBody>
      </p:sp>
      <p:sp>
        <p:nvSpPr>
          <p:cNvPr id="9" name="Wave 8"/>
          <p:cNvSpPr/>
          <p:nvPr/>
        </p:nvSpPr>
        <p:spPr>
          <a:xfrm>
            <a:off x="2362200" y="-11113"/>
            <a:ext cx="3751634" cy="2601914"/>
          </a:xfrm>
          <a:prstGeom prst="wave">
            <a:avLst/>
          </a:prstGeom>
          <a:ln/>
        </p:spPr>
        <p:style>
          <a:lnRef idx="1">
            <a:schemeClr val="accent3"/>
          </a:lnRef>
          <a:fillRef idx="2">
            <a:schemeClr val="accent3"/>
          </a:fillRef>
          <a:effectRef idx="1">
            <a:schemeClr val="accent3"/>
          </a:effectRef>
          <a:fontRef idx="minor">
            <a:schemeClr val="dk1"/>
          </a:fontRef>
        </p:style>
        <p:txBody>
          <a:bodyPr/>
          <a:lstStyle/>
          <a:p>
            <a:r>
              <a:rPr lang="en-US" b="1" u="sng" dirty="0" smtClean="0"/>
              <a:t>The 1996 Ebonics controversy:</a:t>
            </a:r>
          </a:p>
          <a:p>
            <a:r>
              <a:rPr lang="en-US" dirty="0" smtClean="0"/>
              <a:t>Is AAVE an independent ‘language’, or a ‘dialect’ of English ? …</a:t>
            </a:r>
            <a:endParaRPr lang="en-US" dirty="0"/>
          </a:p>
        </p:txBody>
      </p:sp>
      <p:pic>
        <p:nvPicPr>
          <p:cNvPr id="10" name="Picture 9" descr="images-4.jpeg"/>
          <p:cNvPicPr>
            <a:picLocks noChangeAspect="1"/>
          </p:cNvPicPr>
          <p:nvPr/>
        </p:nvPicPr>
        <p:blipFill>
          <a:blip r:embed="rId3"/>
          <a:stretch>
            <a:fillRect/>
          </a:stretch>
        </p:blipFill>
        <p:spPr>
          <a:xfrm>
            <a:off x="6896100" y="2590801"/>
            <a:ext cx="64931" cy="45719"/>
          </a:xfrm>
          <a:prstGeom prst="rect">
            <a:avLst/>
          </a:prstGeom>
        </p:spPr>
      </p:pic>
      <p:pic>
        <p:nvPicPr>
          <p:cNvPr id="11" name="Picture 10" descr="images-6.jpeg"/>
          <p:cNvPicPr>
            <a:picLocks noChangeAspect="1"/>
          </p:cNvPicPr>
          <p:nvPr/>
        </p:nvPicPr>
        <p:blipFill>
          <a:blip r:embed="rId4"/>
          <a:stretch>
            <a:fillRect/>
          </a:stretch>
        </p:blipFill>
        <p:spPr>
          <a:xfrm>
            <a:off x="5334205" y="1981200"/>
            <a:ext cx="3123789" cy="4754337"/>
          </a:xfrm>
          <a:prstGeom prst="rect">
            <a:avLst/>
          </a:prstGeom>
        </p:spPr>
      </p:pic>
      <p:pic>
        <p:nvPicPr>
          <p:cNvPr id="12" name="Picture 11" descr="images-7.jpeg"/>
          <p:cNvPicPr>
            <a:picLocks noChangeAspect="1"/>
          </p:cNvPicPr>
          <p:nvPr/>
        </p:nvPicPr>
        <p:blipFill>
          <a:blip r:embed="rId5"/>
          <a:stretch>
            <a:fillRect/>
          </a:stretch>
        </p:blipFill>
        <p:spPr>
          <a:xfrm>
            <a:off x="7046912" y="3516432"/>
            <a:ext cx="74293" cy="45719"/>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457200" y="0"/>
            <a:ext cx="7086600" cy="609600"/>
          </a:xfrm>
        </p:spPr>
        <p:txBody>
          <a:bodyPr>
            <a:normAutofit fontScale="90000"/>
          </a:bodyPr>
          <a:lstStyle/>
          <a:p>
            <a:r>
              <a:rPr lang="en-US" dirty="0" smtClean="0"/>
              <a:t>The Ebonics controversy</a:t>
            </a:r>
            <a:endParaRPr lang="en-US" dirty="0"/>
          </a:p>
        </p:txBody>
      </p:sp>
      <p:sp>
        <p:nvSpPr>
          <p:cNvPr id="6" name="Vertical Text Placeholder 5"/>
          <p:cNvSpPr>
            <a:spLocks noGrp="1"/>
          </p:cNvSpPr>
          <p:nvPr>
            <p:ph type="body" orient="vert" idx="4294967295"/>
          </p:nvPr>
        </p:nvSpPr>
        <p:spPr>
          <a:xfrm>
            <a:off x="0" y="838200"/>
            <a:ext cx="8686800" cy="6019800"/>
          </a:xfrm>
        </p:spPr>
        <p:txBody>
          <a:bodyPr>
            <a:normAutofit lnSpcReduction="10000"/>
          </a:bodyPr>
          <a:lstStyle/>
          <a:p>
            <a:pPr marL="548640" lvl="2" indent="-411480">
              <a:buClr>
                <a:schemeClr val="tx1">
                  <a:shade val="95000"/>
                </a:schemeClr>
              </a:buClr>
              <a:buSzPct val="65000"/>
              <a:buFont typeface="Wingdings 2"/>
              <a:buChar char=""/>
            </a:pPr>
            <a:r>
              <a:rPr lang="en-US" sz="1600" dirty="0" smtClean="0"/>
              <a:t>The initial OSB Task Force resolution (Dec. 1996) argued that Ebonics was a separate language from English, genetically derived from West African and Niger-Congo languages (little support in the academic world) and that African-Americans should be given ‘bilingual education’ monies. In January 1997, after a flood of critical commentaries, the OSB modified the resolution, claiming that Ebonics was a variety of English, but one with significant historical influences from African languages (‘</a:t>
            </a:r>
            <a:r>
              <a:rPr lang="en-US" sz="1600" dirty="0" err="1" smtClean="0"/>
              <a:t>creole</a:t>
            </a:r>
            <a:r>
              <a:rPr lang="en-US" sz="1600" dirty="0" smtClean="0"/>
              <a:t>’ origins of AAVE, academic support). The original claim was not altered, namely that Ebonics should be recognized as a legitimate medium and that resources should be allocated for preparing teachers and materials to that end. In May 1997, the OSB Task Force submitted a final report, in which the term ‘Ebonics’ no longer figured. It only stated that special efforts and resources should be devoted in order to improve the “English language skills” of African-American students.</a:t>
            </a:r>
          </a:p>
          <a:p>
            <a:pPr>
              <a:lnSpc>
                <a:spcPct val="90000"/>
              </a:lnSpc>
              <a:spcAft>
                <a:spcPts val="600"/>
              </a:spcAft>
            </a:pPr>
            <a:endParaRPr lang="en-US" sz="1600" dirty="0" smtClean="0"/>
          </a:p>
          <a:p>
            <a:pPr>
              <a:lnSpc>
                <a:spcPct val="90000"/>
              </a:lnSpc>
              <a:spcAft>
                <a:spcPts val="600"/>
              </a:spcAft>
            </a:pPr>
            <a:r>
              <a:rPr lang="en-US" sz="1600" dirty="0" smtClean="0"/>
              <a:t>The OSB resolution aimed at obtaining </a:t>
            </a:r>
            <a:r>
              <a:rPr lang="en-US" sz="1600" i="1" dirty="0" smtClean="0"/>
              <a:t>valued symbolic status</a:t>
            </a:r>
            <a:r>
              <a:rPr lang="en-US" sz="1600" dirty="0" smtClean="0"/>
              <a:t> for a stigmatized variety of American English: change the definition of a ‘legitimate language’, add value to Ebonics by providing special training for teachers and credentials for those so trained and certified, provide money for special curricular materials. The effort to ‘upgrade’ Ebonics (e.g. by claiming status as a separate language) has to be seen in the light of a hierarchy of ‘school worthiness’:</a:t>
            </a:r>
          </a:p>
          <a:p>
            <a:pPr lvl="2">
              <a:lnSpc>
                <a:spcPct val="90000"/>
              </a:lnSpc>
            </a:pPr>
            <a:r>
              <a:rPr lang="en-US" sz="1600" dirty="0" smtClean="0"/>
              <a:t>Standard Language &gt; Other (foreign) Language &gt; Other (American) dialect</a:t>
            </a:r>
          </a:p>
          <a:p>
            <a:pPr marL="548640" lvl="2" indent="-411480">
              <a:buClr>
                <a:schemeClr val="tx1">
                  <a:shade val="95000"/>
                </a:schemeClr>
              </a:buClr>
              <a:buSzPct val="65000"/>
              <a:buFont typeface="Wingdings 2"/>
              <a:buChar char=""/>
            </a:pPr>
            <a:endParaRPr lang="en-US" sz="1600" dirty="0" smtClean="0"/>
          </a:p>
          <a:p>
            <a:pPr marL="548640" lvl="3" indent="-411480">
              <a:buClr>
                <a:schemeClr val="tx1">
                  <a:shade val="95000"/>
                </a:schemeClr>
              </a:buClr>
              <a:buSzPct val="65000"/>
              <a:buFont typeface="Wingdings 2"/>
              <a:buChar char=""/>
            </a:pPr>
            <a:r>
              <a:rPr lang="en-US" sz="1600" dirty="0" smtClean="0"/>
              <a:t>One idea behind the proposal is that by making African-Americans more linguistically confident (because their variety is officially </a:t>
            </a:r>
            <a:r>
              <a:rPr lang="en-US" sz="1600" dirty="0" err="1" smtClean="0"/>
              <a:t>recognised</a:t>
            </a:r>
            <a:r>
              <a:rPr lang="en-US" sz="1600" dirty="0" smtClean="0"/>
              <a:t>, because it has printed school materials) the inhibitions to speak and write in Standard English as part of the classroom experience would dissolve.</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t>Ebonics and </a:t>
            </a:r>
            <a:r>
              <a:rPr lang="en-US" dirty="0" err="1" smtClean="0"/>
              <a:t>Gramsci</a:t>
            </a:r>
            <a:r>
              <a:rPr lang="en-US" dirty="0" smtClean="0"/>
              <a:t> ‘reversed’</a:t>
            </a:r>
            <a:endParaRPr lang="en-US" dirty="0"/>
          </a:p>
        </p:txBody>
      </p:sp>
      <p:pic>
        <p:nvPicPr>
          <p:cNvPr id="8" name="Content Placeholder 7" descr="06b-HayesCartoon.jpg"/>
          <p:cNvPicPr>
            <a:picLocks noGrp="1" noChangeAspect="1"/>
          </p:cNvPicPr>
          <p:nvPr>
            <p:ph sz="half" idx="1"/>
          </p:nvPr>
        </p:nvPicPr>
        <p:blipFill>
          <a:blip r:embed="rId2"/>
          <a:srcRect t="-33184" b="-33184"/>
          <a:stretch>
            <a:fillRect/>
          </a:stretch>
        </p:blipFill>
        <p:spPr>
          <a:xfrm>
            <a:off x="457200" y="1600200"/>
            <a:ext cx="4549736" cy="5098781"/>
          </a:xfrm>
        </p:spPr>
      </p:pic>
      <p:sp>
        <p:nvSpPr>
          <p:cNvPr id="12" name="Content Placeholder 11"/>
          <p:cNvSpPr>
            <a:spLocks noGrp="1"/>
          </p:cNvSpPr>
          <p:nvPr>
            <p:ph sz="half" idx="2"/>
          </p:nvPr>
        </p:nvSpPr>
        <p:spPr>
          <a:xfrm>
            <a:off x="5006936" y="1600200"/>
            <a:ext cx="4038600" cy="4525963"/>
          </a:xfrm>
        </p:spPr>
        <p:txBody>
          <a:bodyPr>
            <a:normAutofit fontScale="55000" lnSpcReduction="20000"/>
          </a:bodyPr>
          <a:lstStyle/>
          <a:p>
            <a:r>
              <a:rPr lang="en-US" dirty="0" smtClean="0"/>
              <a:t>Basil Bernstein and the Oakland Board of Education reached comparable conclusions concerning working-class pupils’ / African-American pupils’ achievements in language-related tests and subjects: the reason for their educational failures is ‘linguistic’. However, they recommended diametrically opposed courses of action: while the former advocated the acquisition of an elaborated code for children from working-class families, the latter opted for imparting educational knowledge via the vernacular.</a:t>
            </a:r>
          </a:p>
          <a:p>
            <a:pPr lvl="1"/>
            <a:r>
              <a:rPr lang="en-US" b="1" dirty="0" smtClean="0"/>
              <a:t>Is Bernstein’s notion of ‘code’ comparable to the sociolinguistic concept of ‘dialect’ ?</a:t>
            </a:r>
          </a:p>
          <a:p>
            <a:pPr lvl="1"/>
            <a:r>
              <a:rPr lang="en-US" b="1" dirty="0" smtClean="0"/>
              <a:t>Does African-American English have an elaborated code ?</a:t>
            </a:r>
          </a:p>
          <a:p>
            <a:r>
              <a:rPr lang="en-US" dirty="0" smtClean="0"/>
              <a:t>In a ‘</a:t>
            </a:r>
            <a:r>
              <a:rPr lang="en-US" dirty="0" err="1" smtClean="0"/>
              <a:t>Gramscian</a:t>
            </a:r>
            <a:r>
              <a:rPr lang="en-US" dirty="0" smtClean="0"/>
              <a:t>’ fashion, some (African-Americans) saw the proposal to teach African Americans via their own dialect as a way of excluding them from education and from power. </a:t>
            </a:r>
          </a:p>
          <a:p>
            <a:pPr>
              <a:buNone/>
            </a:pP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Social network theory: Lesley and James Milroy</a:t>
            </a:r>
            <a:endParaRPr lang="en-US" dirty="0"/>
          </a:p>
        </p:txBody>
      </p:sp>
      <p:sp>
        <p:nvSpPr>
          <p:cNvPr id="3" name="Content Placeholder 2"/>
          <p:cNvSpPr>
            <a:spLocks noGrp="1"/>
          </p:cNvSpPr>
          <p:nvPr>
            <p:ph sz="half" idx="1"/>
          </p:nvPr>
        </p:nvSpPr>
        <p:spPr/>
        <p:txBody>
          <a:bodyPr/>
          <a:lstStyle/>
          <a:p>
            <a:endParaRPr lang="en-US" dirty="0"/>
          </a:p>
        </p:txBody>
      </p:sp>
      <p:pic>
        <p:nvPicPr>
          <p:cNvPr id="5" name="Content Placeholder 4" descr="Milroy_Ann_Lesley.jpg"/>
          <p:cNvPicPr>
            <a:picLocks noGrp="1" noChangeAspect="1"/>
          </p:cNvPicPr>
          <p:nvPr>
            <p:ph sz="half" idx="2"/>
          </p:nvPr>
        </p:nvPicPr>
        <p:blipFill>
          <a:blip r:embed="rId2"/>
          <a:srcRect t="-10906" b="-10906"/>
          <a:stretch>
            <a:fillRect/>
          </a:stretch>
        </p:blipFill>
        <p:spPr>
          <a:xfrm>
            <a:off x="4648200" y="1116762"/>
            <a:ext cx="2743200" cy="3074239"/>
          </a:xfrm>
        </p:spPr>
      </p:pic>
      <p:sp>
        <p:nvSpPr>
          <p:cNvPr id="6" name="Oval Callout 5"/>
          <p:cNvSpPr/>
          <p:nvPr/>
        </p:nvSpPr>
        <p:spPr>
          <a:xfrm>
            <a:off x="0" y="1417638"/>
            <a:ext cx="3886200" cy="4906962"/>
          </a:xfrm>
          <a:prstGeom prst="wedgeEllipseCallout">
            <a:avLst>
              <a:gd name="adj1" fmla="val 88427"/>
              <a:gd name="adj2" fmla="val -24341"/>
            </a:avLst>
          </a:prstGeom>
          <a:ln/>
        </p:spPr>
        <p:style>
          <a:lnRef idx="2">
            <a:schemeClr val="accent1"/>
          </a:lnRef>
          <a:fillRef idx="1">
            <a:schemeClr val="lt1"/>
          </a:fillRef>
          <a:effectRef idx="0">
            <a:schemeClr val="accent1"/>
          </a:effectRef>
          <a:fontRef idx="minor">
            <a:schemeClr val="dk1"/>
          </a:fontRef>
        </p:style>
        <p:txBody>
          <a:bodyPr/>
          <a:lstStyle/>
          <a:p>
            <a:r>
              <a:rPr lang="en-US" sz="1200" dirty="0" smtClean="0">
                <a:solidFill>
                  <a:srgbClr val="000000"/>
                </a:solidFill>
                <a:latin typeface="Comic Sans MS"/>
                <a:cs typeface="Comic Sans MS"/>
              </a:rPr>
              <a:t>In the 1970s we did sociolinguistic fieldwork in Belfast amongst working-class Protestants and Catholics. We found that the more a speaker was integrated in a close-knit network, the less he/she will produce middle-class forms of speech; they retain their vernacular speech and are more conservative. Speakers belonging to loose-knit networks, who are thus not central members of the group, and who contract a larger number of weak links with other groups, were found to be linguistic innovators: i.e. linguistic changes spread when interpersonal contacts are weak, involving strangers or mere acquaintances. </a:t>
            </a:r>
            <a:endParaRPr lang="en-US" sz="1200" dirty="0">
              <a:solidFill>
                <a:srgbClr val="000000"/>
              </a:solidFill>
              <a:latin typeface="Comic Sans MS"/>
              <a:cs typeface="Comic Sans MS"/>
            </a:endParaRPr>
          </a:p>
        </p:txBody>
      </p:sp>
      <p:pic>
        <p:nvPicPr>
          <p:cNvPr id="7" name="Picture 6" descr="images-2.jpeg"/>
          <p:cNvPicPr>
            <a:picLocks noChangeAspect="1"/>
          </p:cNvPicPr>
          <p:nvPr/>
        </p:nvPicPr>
        <p:blipFill>
          <a:blip r:embed="rId3"/>
          <a:stretch>
            <a:fillRect/>
          </a:stretch>
        </p:blipFill>
        <p:spPr>
          <a:xfrm>
            <a:off x="7696200" y="5181600"/>
            <a:ext cx="1218137" cy="1558925"/>
          </a:xfrm>
          <a:prstGeom prst="rect">
            <a:avLst/>
          </a:prstGeom>
        </p:spPr>
      </p:pic>
      <p:sp>
        <p:nvSpPr>
          <p:cNvPr id="8" name="Oval Callout 7"/>
          <p:cNvSpPr/>
          <p:nvPr/>
        </p:nvSpPr>
        <p:spPr>
          <a:xfrm>
            <a:off x="3733800" y="3840162"/>
            <a:ext cx="3429000" cy="3017838"/>
          </a:xfrm>
          <a:prstGeom prst="wedgeEllipseCallout">
            <a:avLst>
              <a:gd name="adj1" fmla="val 79336"/>
              <a:gd name="adj2" fmla="val 22770"/>
            </a:avLst>
          </a:prstGeom>
          <a:ln/>
        </p:spPr>
        <p:style>
          <a:lnRef idx="2">
            <a:schemeClr val="accent1"/>
          </a:lnRef>
          <a:fillRef idx="1">
            <a:schemeClr val="lt1"/>
          </a:fillRef>
          <a:effectRef idx="0">
            <a:schemeClr val="accent1"/>
          </a:effectRef>
          <a:fontRef idx="minor">
            <a:schemeClr val="dk1"/>
          </a:fontRef>
        </p:style>
        <p:txBody>
          <a:bodyPr/>
          <a:lstStyle/>
          <a:p>
            <a:r>
              <a:rPr lang="en-US" sz="1100" dirty="0" smtClean="0">
                <a:solidFill>
                  <a:srgbClr val="000000"/>
                </a:solidFill>
                <a:latin typeface="Comic Sans MS"/>
                <a:cs typeface="Comic Sans MS"/>
              </a:rPr>
              <a:t>Does the </a:t>
            </a:r>
            <a:r>
              <a:rPr lang="en-US" sz="1100" dirty="0" err="1" smtClean="0">
                <a:solidFill>
                  <a:srgbClr val="000000"/>
                </a:solidFill>
                <a:latin typeface="Comic Sans MS"/>
                <a:cs typeface="Comic Sans MS"/>
              </a:rPr>
              <a:t>Milroys</a:t>
            </a:r>
            <a:r>
              <a:rPr lang="en-US" sz="1100" dirty="0" smtClean="0">
                <a:solidFill>
                  <a:srgbClr val="000000"/>
                </a:solidFill>
                <a:latin typeface="Comic Sans MS"/>
                <a:cs typeface="Comic Sans MS"/>
              </a:rPr>
              <a:t>’ social network theory not lend support to my own code theory?! T</a:t>
            </a:r>
            <a:r>
              <a:rPr lang="en-US" sz="1100" smtClean="0">
                <a:solidFill>
                  <a:srgbClr val="000000"/>
                </a:solidFill>
                <a:latin typeface="Comic Sans MS"/>
                <a:cs typeface="Comic Sans MS"/>
              </a:rPr>
              <a:t>he </a:t>
            </a:r>
            <a:r>
              <a:rPr lang="en-US" sz="1100" dirty="0" smtClean="0">
                <a:solidFill>
                  <a:srgbClr val="000000"/>
                </a:solidFill>
                <a:latin typeface="Comic Sans MS"/>
                <a:cs typeface="Comic Sans MS"/>
              </a:rPr>
              <a:t>closer the network, the fewer the outward links, the more ‘working-class’ the speech habits. Thus, central members of working-class communities will hardly ever need to have recourse to ‘elaborated codes’, since the ‘restricted code’ does a perfect job for their day-to-day communicational purposes…</a:t>
            </a:r>
            <a:endParaRPr lang="en-US" sz="1100" dirty="0">
              <a:solidFill>
                <a:srgbClr val="000000"/>
              </a:solidFill>
              <a:latin typeface="Comic Sans MS"/>
              <a:cs typeface="Comic Sans MS"/>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ヒラギノ丸ゴ Pro W4"/>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ＭＳ 明朝"/>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Apex.thmx</Template>
  <TotalTime>747</TotalTime>
  <Words>2288</Words>
  <Application>Microsoft Office PowerPoint</Application>
  <PresentationFormat>On-screen Show (4:3)</PresentationFormat>
  <Paragraphs>61</Paragraphs>
  <Slides>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Book Antiqua</vt:lpstr>
      <vt:lpstr>Calibri</vt:lpstr>
      <vt:lpstr>Comic Sans MS</vt:lpstr>
      <vt:lpstr>Lucida Sans</vt:lpstr>
      <vt:lpstr>Wingdings</vt:lpstr>
      <vt:lpstr>Wingdings 2</vt:lpstr>
      <vt:lpstr>Wingdings 3</vt:lpstr>
      <vt:lpstr>Apex</vt:lpstr>
      <vt:lpstr>Session 7</vt:lpstr>
      <vt:lpstr>Basil Bernstein (1924-2000)</vt:lpstr>
      <vt:lpstr>Elaborated and restricted codes</vt:lpstr>
      <vt:lpstr>Basil Bernstein vs. William Labov</vt:lpstr>
      <vt:lpstr>PowerPoint Presentation</vt:lpstr>
      <vt:lpstr>‘The Logic of Nonstandard English’ (Labov 1969)</vt:lpstr>
      <vt:lpstr>The Logic of Nonstandard English (Labov 1969)</vt:lpstr>
      <vt:lpstr>PowerPoint Presentation</vt:lpstr>
      <vt:lpstr>PowerPoint Presentation</vt:lpstr>
      <vt:lpstr>PowerPoint Presentation</vt:lpstr>
      <vt:lpstr>The Ebonics controversy</vt:lpstr>
      <vt:lpstr>Ebonics and Gramsci ‘reversed’</vt:lpstr>
      <vt:lpstr>Social network theory: Lesley and James Milroy</vt:lpstr>
    </vt:vector>
  </TitlesOfParts>
  <Company>HKU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7</dc:title>
  <dc:creator>English School of</dc:creator>
  <cp:lastModifiedBy>Rory Mckenzie</cp:lastModifiedBy>
  <cp:revision>24</cp:revision>
  <dcterms:created xsi:type="dcterms:W3CDTF">2014-03-19T08:11:06Z</dcterms:created>
  <dcterms:modified xsi:type="dcterms:W3CDTF">2018-06-13T04:13:39Z</dcterms:modified>
</cp:coreProperties>
</file>
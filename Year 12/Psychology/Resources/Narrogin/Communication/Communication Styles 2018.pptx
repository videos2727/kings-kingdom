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930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0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0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r">
              <a:defRPr sz="1300"/>
            </a:lvl1pPr>
          </a:lstStyle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0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r">
              <a:defRPr sz="1300"/>
            </a:lvl1pPr>
          </a:lstStyle>
          <a:p>
            <a:fld id="{0CB37BEC-92F0-48D9-AD70-9C84AA270B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07673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0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0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r">
              <a:defRPr sz="1300"/>
            </a:lvl1pPr>
          </a:lstStyle>
          <a:p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9" tIns="49520" rIns="99039" bIns="495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3"/>
            <a:ext cx="5679440" cy="4605575"/>
          </a:xfrm>
          <a:prstGeom prst="rect">
            <a:avLst/>
          </a:prstGeom>
        </p:spPr>
        <p:txBody>
          <a:bodyPr vert="horz" lIns="99039" tIns="49520" rIns="99039" bIns="495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0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r">
              <a:defRPr sz="1300"/>
            </a:lvl1pPr>
          </a:lstStyle>
          <a:p>
            <a:fld id="{59684AF0-3CA1-49B2-A924-E9265FFB8C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42833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0125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mtClean="0"/>
              <a:t>https://www.digitaltrends.com/cool-tech/iconspeak-travel-signs-t-shirt/#ixzz46pyZAIbk</a:t>
            </a:r>
          </a:p>
          <a:p>
            <a:endParaRPr lang="en-AU" smtClean="0"/>
          </a:p>
        </p:txBody>
      </p:sp>
    </p:spTree>
    <p:extLst>
      <p:ext uri="{BB962C8B-B14F-4D97-AF65-F5344CB8AC3E}">
        <p14:creationId xmlns:p14="http://schemas.microsoft.com/office/powerpoint/2010/main" val="3814678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A20B-A98B-41A2-B525-290C00D013E9}" type="datetime1">
              <a:rPr lang="en-AU" smtClean="0"/>
              <a:t>13/06/2018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6C40B-31E0-4D87-80D6-C64E8DDAF94A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DEF9-46C4-4309-B08D-A2ABE8FE7087}" type="datetime1">
              <a:rPr lang="en-AU" smtClean="0"/>
              <a:t>13/06/2018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6C40B-31E0-4D87-80D6-C64E8DDAF94A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3577-5339-40F4-AE3F-98691B6BC9A8}" type="datetime1">
              <a:rPr lang="en-AU" smtClean="0"/>
              <a:t>13/06/2018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6C40B-31E0-4D87-80D6-C64E8DDAF94A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DE4F-B9E7-4A8D-B558-F11E74E585B9}" type="datetime1">
              <a:rPr lang="en-AU" smtClean="0"/>
              <a:t>13/06/2018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6C40B-31E0-4D87-80D6-C64E8DDAF94A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F1C93-B89E-42A4-929C-40F6C236C796}" type="datetime1">
              <a:rPr lang="en-AU" smtClean="0"/>
              <a:t>13/06/2018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6C40B-31E0-4D87-80D6-C64E8DDAF94A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B57D6-FA56-4B16-8A2D-004094CD065F}" type="datetime1">
              <a:rPr lang="en-AU" smtClean="0"/>
              <a:t>13/06/2018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6C40B-31E0-4D87-80D6-C64E8DDAF94A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4297-F759-4F90-94F8-29DA52531DE0}" type="datetime1">
              <a:rPr lang="en-AU" smtClean="0"/>
              <a:t>13/06/2018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6C40B-31E0-4D87-80D6-C64E8DDAF94A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4F81-5E0B-4526-93F8-DF7746AAE6EA}" type="datetime1">
              <a:rPr lang="en-AU" smtClean="0"/>
              <a:t>13/06/2018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6C40B-31E0-4D87-80D6-C64E8DDAF94A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0DA4A-2CCD-493C-A3EB-F5E9C262290C}" type="datetime1">
              <a:rPr lang="en-AU" smtClean="0"/>
              <a:t>13/06/2018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6C40B-31E0-4D87-80D6-C64E8DDAF94A}" type="slidenum">
              <a:rPr lang="en-AU" smtClean="0"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BCE3B-3B1A-4E02-A614-A5FAA5EF8977}" type="datetime1">
              <a:rPr lang="en-AU" smtClean="0"/>
              <a:t>13/06/2018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6C40B-31E0-4D87-80D6-C64E8DDAF94A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91DB5-A07D-4BA0-A716-8A2B6E25156E}" type="datetime1">
              <a:rPr lang="en-AU" smtClean="0"/>
              <a:t>13/06/2018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6C40B-31E0-4D87-80D6-C64E8DDAF94A}" type="slidenum">
              <a:rPr lang="en-AU" smtClean="0"/>
              <a:t>‹#›</a:t>
            </a:fld>
            <a:endParaRPr lang="en-A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0439588E-4A6D-48B0-88EE-99C90C1EABA0}" type="datetime1">
              <a:rPr lang="en-AU" smtClean="0"/>
              <a:t>13/06/2018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23A6C40B-31E0-4D87-80D6-C64E8DDAF94A}" type="slidenum">
              <a:rPr lang="en-AU" smtClean="0"/>
              <a:t>‹#›</a:t>
            </a:fld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COMMUNICATION STYLES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ATPSY 2018</a:t>
            </a:r>
            <a:endParaRPr lang="en-AU" dirty="0"/>
          </a:p>
        </p:txBody>
      </p:sp>
      <p:pic>
        <p:nvPicPr>
          <p:cNvPr id="1028" name="Picture 4" descr="Image result for communication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375"/>
                    </a14:imgEffect>
                    <a14:imgEffect>
                      <a14:saturation sat="26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620688"/>
            <a:ext cx="3624337" cy="2033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375"/>
                    </a14:imgEffect>
                    <a14:imgEffect>
                      <a14:saturation sat="1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149080"/>
            <a:ext cx="3024336" cy="2268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4744" y="4149080"/>
            <a:ext cx="4536504" cy="2268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3845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2204864"/>
            <a:ext cx="7704856" cy="4176464"/>
          </a:xfrm>
        </p:spPr>
        <p:txBody>
          <a:bodyPr>
            <a:normAutofit/>
          </a:bodyPr>
          <a:lstStyle/>
          <a:p>
            <a:pPr marL="0" lvl="0" indent="0"/>
            <a:r>
              <a:rPr lang="en-AU" sz="3600" dirty="0" smtClean="0">
                <a:solidFill>
                  <a:schemeClr val="tx1"/>
                </a:solidFill>
              </a:rPr>
              <a:t>Communication </a:t>
            </a:r>
            <a:r>
              <a:rPr lang="en-AU" sz="3600" dirty="0">
                <a:solidFill>
                  <a:schemeClr val="tx1"/>
                </a:solidFill>
              </a:rPr>
              <a:t>styles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schemeClr val="tx1"/>
                </a:solidFill>
              </a:rPr>
              <a:t>I</a:t>
            </a:r>
            <a:r>
              <a:rPr lang="en-AU" sz="3600" dirty="0" smtClean="0">
                <a:solidFill>
                  <a:schemeClr val="tx1"/>
                </a:solidFill>
              </a:rPr>
              <a:t>mpact </a:t>
            </a:r>
            <a:r>
              <a:rPr lang="en-AU" sz="3600" dirty="0">
                <a:solidFill>
                  <a:schemeClr val="tx1"/>
                </a:solidFill>
              </a:rPr>
              <a:t>of social background – Bernstein, </a:t>
            </a:r>
            <a:r>
              <a:rPr lang="en-AU" sz="3600" dirty="0" err="1">
                <a:solidFill>
                  <a:schemeClr val="tx1"/>
                </a:solidFill>
              </a:rPr>
              <a:t>Labov</a:t>
            </a:r>
            <a:endParaRPr lang="en-AU" sz="3600" dirty="0">
              <a:solidFill>
                <a:schemeClr val="tx1"/>
              </a:solidFill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schemeClr val="tx1"/>
                </a:solidFill>
              </a:rPr>
              <a:t>E</a:t>
            </a:r>
            <a:r>
              <a:rPr lang="en-AU" sz="3600" dirty="0" smtClean="0">
                <a:solidFill>
                  <a:schemeClr val="tx1"/>
                </a:solidFill>
              </a:rPr>
              <a:t>xamples </a:t>
            </a:r>
            <a:r>
              <a:rPr lang="en-AU" sz="3600" dirty="0">
                <a:solidFill>
                  <a:schemeClr val="tx1"/>
                </a:solidFill>
              </a:rPr>
              <a:t>of gender differences – </a:t>
            </a:r>
            <a:r>
              <a:rPr lang="en-AU" sz="3600" dirty="0" smtClean="0">
                <a:solidFill>
                  <a:schemeClr val="tx1"/>
                </a:solidFill>
              </a:rPr>
              <a:t>Tannen</a:t>
            </a:r>
            <a:endParaRPr lang="en-AU" sz="36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Communication Styles </a:t>
            </a:r>
            <a:br>
              <a:rPr lang="en-AU" dirty="0" smtClean="0"/>
            </a:br>
            <a:r>
              <a:rPr lang="en-AU" dirty="0" smtClean="0"/>
              <a:t> – from your Syllabus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56879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2492896"/>
            <a:ext cx="7408333" cy="3450696"/>
          </a:xfrm>
        </p:spPr>
        <p:txBody>
          <a:bodyPr>
            <a:noAutofit/>
          </a:bodyPr>
          <a:lstStyle/>
          <a:p>
            <a:r>
              <a:rPr lang="en-AU" dirty="0" smtClean="0"/>
              <a:t>Communication is the transmission of a message from one person to another . </a:t>
            </a:r>
          </a:p>
          <a:p>
            <a:endParaRPr lang="en-AU" dirty="0"/>
          </a:p>
          <a:p>
            <a:r>
              <a:rPr lang="en-AU" dirty="0" smtClean="0"/>
              <a:t>What is communicated depends on :</a:t>
            </a:r>
          </a:p>
          <a:p>
            <a:r>
              <a:rPr lang="en-AU" dirty="0" smtClean="0"/>
              <a:t>The content of the message, </a:t>
            </a:r>
          </a:p>
          <a:p>
            <a:r>
              <a:rPr lang="en-AU" dirty="0" smtClean="0"/>
              <a:t>How the message is conveyed</a:t>
            </a:r>
          </a:p>
          <a:p>
            <a:endParaRPr lang="en-AU" dirty="0" smtClean="0"/>
          </a:p>
          <a:p>
            <a:r>
              <a:rPr lang="en-AU" dirty="0" smtClean="0"/>
              <a:t>The use of different media (visual, spoken, written) can affect how effective the message is received. 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Define Communication? 	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239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2564904"/>
            <a:ext cx="7408333" cy="3450696"/>
          </a:xfrm>
        </p:spPr>
        <p:txBody>
          <a:bodyPr>
            <a:normAutofit fontScale="92500" lnSpcReduction="20000"/>
          </a:bodyPr>
          <a:lstStyle/>
          <a:p>
            <a:r>
              <a:rPr lang="en-AU" dirty="0" smtClean="0"/>
              <a:t>Communication styles involve cultural and social aspects of language. </a:t>
            </a:r>
          </a:p>
          <a:p>
            <a:r>
              <a:rPr lang="en-AU" dirty="0" smtClean="0"/>
              <a:t>Our communication style depends on: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dirty="0" smtClean="0"/>
              <a:t>Culture in which we were raised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dirty="0" smtClean="0"/>
              <a:t>Socioeconomic background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dirty="0" smtClean="0"/>
              <a:t>Gender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dirty="0" smtClean="0"/>
              <a:t>Accents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dirty="0" smtClean="0"/>
              <a:t>Vocabulary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dirty="0" smtClean="0"/>
              <a:t>Grammar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dirty="0" smtClean="0"/>
              <a:t>Types of ideas we wish to express </a:t>
            </a:r>
          </a:p>
          <a:p>
            <a:pPr marL="0" indent="0">
              <a:buNone/>
            </a:pPr>
            <a:r>
              <a:rPr lang="en-AU" dirty="0" smtClean="0"/>
              <a:t>*Our collective identity is largely made up of how we speak </a:t>
            </a:r>
          </a:p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Communication styles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29588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/>
              <a:t>Basil Bernstein (1971)</a:t>
            </a:r>
          </a:p>
          <a:p>
            <a:r>
              <a:rPr lang="en-AU" dirty="0" smtClean="0"/>
              <a:t>Researched the link between language style and social class. He claimed:</a:t>
            </a:r>
          </a:p>
          <a:p>
            <a:r>
              <a:rPr lang="en-AU" dirty="0" smtClean="0"/>
              <a:t>People from the working class conversations used restrictive code. Short and simple sentences, few descriptive words and informal language, limited context. </a:t>
            </a:r>
          </a:p>
          <a:p>
            <a:r>
              <a:rPr lang="en-AU" dirty="0" smtClean="0"/>
              <a:t>Middle class used elaborated code – formal language, context of conversation is used and abstract ideas. </a:t>
            </a:r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AU" sz="3200" dirty="0" smtClean="0"/>
              <a:t>Social Background and Language Style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53267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1458569"/>
              </p:ext>
            </p:extLst>
          </p:nvPr>
        </p:nvGraphicFramePr>
        <p:xfrm>
          <a:off x="467544" y="2060848"/>
          <a:ext cx="8280920" cy="421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0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Restricted Code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Elaborated Code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Short</a:t>
                      </a:r>
                      <a:r>
                        <a:rPr lang="en-AU" baseline="0" dirty="0" smtClean="0"/>
                        <a:t> and simple sentences are used, with much information conveyed non verbally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Complex, precise sentences are used. 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Much of the meaning only makes sense if the context is known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The meaning is clear from the sentence</a:t>
                      </a:r>
                      <a:r>
                        <a:rPr lang="en-AU" baseline="0" dirty="0" smtClean="0"/>
                        <a:t> alone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Few descriptive words</a:t>
                      </a:r>
                      <a:r>
                        <a:rPr lang="en-AU" baseline="0" dirty="0" smtClean="0"/>
                        <a:t> are used.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More use is</a:t>
                      </a:r>
                      <a:r>
                        <a:rPr lang="en-AU" baseline="0" dirty="0" smtClean="0"/>
                        <a:t> made of descriptive words.</a:t>
                      </a:r>
                      <a:endParaRPr lang="en-AU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Commands are frequently used to gain compliance.</a:t>
                      </a:r>
                      <a:endParaRPr lang="en-A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Explanations are usually used to gain compliance.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The ‘here</a:t>
                      </a:r>
                      <a:r>
                        <a:rPr lang="en-AU" baseline="0" dirty="0" smtClean="0"/>
                        <a:t> and now’ is stressed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Events in the past of future are referred to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Abstract ideas are rarely expressed 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Abstract ideas, future possibilities</a:t>
                      </a:r>
                      <a:r>
                        <a:rPr lang="en-AU" baseline="0" dirty="0" smtClean="0"/>
                        <a:t> and so on are expressed easily and often. 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Features of Restricted and Elaborated Codes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96423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3568" y="2492896"/>
            <a:ext cx="7452816" cy="3993307"/>
          </a:xfrm>
        </p:spPr>
        <p:txBody>
          <a:bodyPr>
            <a:normAutofit fontScale="92500" lnSpcReduction="20000"/>
          </a:bodyPr>
          <a:lstStyle/>
          <a:p>
            <a:r>
              <a:rPr lang="en-AU" dirty="0" smtClean="0"/>
              <a:t>He considered working-class families had a language deficit because they used their inferior, restricted code. </a:t>
            </a:r>
          </a:p>
          <a:p>
            <a:r>
              <a:rPr lang="en-AU" dirty="0" smtClean="0"/>
              <a:t>He influenced educational programs to help children address their disadvantage. </a:t>
            </a:r>
          </a:p>
          <a:p>
            <a:r>
              <a:rPr lang="en-AU" dirty="0" smtClean="0"/>
              <a:t>Bernstein </a:t>
            </a:r>
            <a:r>
              <a:rPr lang="en-AU" dirty="0"/>
              <a:t>suggested a correlation between social class and the use of either elaborated or restricted code. </a:t>
            </a:r>
            <a:endParaRPr lang="en-AU" dirty="0" smtClean="0"/>
          </a:p>
          <a:p>
            <a:r>
              <a:rPr lang="en-AU" dirty="0" smtClean="0"/>
              <a:t>Elaborated code does NOT mean better, more eloquent language.</a:t>
            </a:r>
          </a:p>
          <a:p>
            <a:r>
              <a:rPr lang="en-AU" dirty="0" smtClean="0"/>
              <a:t>Restricted code does NOT mean restricted </a:t>
            </a:r>
            <a:r>
              <a:rPr lang="en-AU" dirty="0"/>
              <a:t>vocabulary, simplified grammar </a:t>
            </a:r>
            <a:endParaRPr lang="en-AU" dirty="0" smtClean="0"/>
          </a:p>
          <a:p>
            <a:r>
              <a:rPr lang="en-AU" dirty="0" smtClean="0"/>
              <a:t>The </a:t>
            </a:r>
            <a:r>
              <a:rPr lang="en-AU" dirty="0"/>
              <a:t>difference is about explicitness and shared background knowledge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Bernstein Overview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89349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William </a:t>
            </a:r>
            <a:r>
              <a:rPr lang="en-AU" dirty="0" err="1" smtClean="0"/>
              <a:t>Labov</a:t>
            </a:r>
            <a:r>
              <a:rPr lang="en-AU" dirty="0" smtClean="0"/>
              <a:t> (1970) strongly contrasted </a:t>
            </a:r>
            <a:r>
              <a:rPr lang="en-AU" dirty="0" err="1" smtClean="0"/>
              <a:t>Bernstien</a:t>
            </a:r>
            <a:r>
              <a:rPr lang="en-AU" dirty="0" smtClean="0"/>
              <a:t>. </a:t>
            </a:r>
          </a:p>
          <a:p>
            <a:r>
              <a:rPr lang="en-AU" dirty="0" err="1" smtClean="0"/>
              <a:t>Labov</a:t>
            </a:r>
            <a:r>
              <a:rPr lang="en-AU" dirty="0" smtClean="0"/>
              <a:t> worked with Black children in New York who spoke Black English Vernacular (BEV).  </a:t>
            </a:r>
          </a:p>
          <a:p>
            <a:r>
              <a:rPr lang="en-AU" dirty="0" smtClean="0"/>
              <a:t>He stated BEV was just as complex and rule-governed as standard English. </a:t>
            </a:r>
          </a:p>
          <a:p>
            <a:r>
              <a:rPr lang="en-AU" dirty="0" smtClean="0"/>
              <a:t>BEV should be classified as different, not deficient. </a:t>
            </a:r>
          </a:p>
          <a:p>
            <a:r>
              <a:rPr lang="en-AU" dirty="0" smtClean="0"/>
              <a:t>BEV should be a different form of language in schools.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 smtClean="0"/>
              <a:t>Labov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95284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27584" y="2420888"/>
            <a:ext cx="7408333" cy="3450696"/>
          </a:xfrm>
        </p:spPr>
        <p:txBody>
          <a:bodyPr>
            <a:normAutofit fontScale="85000" lnSpcReduction="20000"/>
          </a:bodyPr>
          <a:lstStyle/>
          <a:p>
            <a:r>
              <a:rPr lang="en-AU" dirty="0" smtClean="0"/>
              <a:t>Deborah Tannen (1990) </a:t>
            </a:r>
          </a:p>
          <a:p>
            <a:r>
              <a:rPr lang="en-AU" dirty="0" smtClean="0"/>
              <a:t>Focus of the theory is interpersonal relationships. </a:t>
            </a:r>
          </a:p>
          <a:p>
            <a:r>
              <a:rPr lang="en-AU" dirty="0" err="1" smtClean="0"/>
              <a:t>Genderlect</a:t>
            </a:r>
            <a:r>
              <a:rPr lang="en-AU" dirty="0" smtClean="0"/>
              <a:t>: </a:t>
            </a:r>
            <a:r>
              <a:rPr lang="en-AU" dirty="0"/>
              <a:t>is a term suggesting that masculine and feminine styles of discourse are best viewed as two distinct cultural dialects. </a:t>
            </a:r>
            <a:endParaRPr lang="en-AU" dirty="0" smtClean="0"/>
          </a:p>
          <a:p>
            <a:r>
              <a:rPr lang="en-AU" dirty="0"/>
              <a:t>Tannen describes that conversation between men and women is much like a communication gap between </a:t>
            </a:r>
            <a:r>
              <a:rPr lang="en-AU" dirty="0" smtClean="0"/>
              <a:t>cultures.</a:t>
            </a:r>
          </a:p>
          <a:p>
            <a:r>
              <a:rPr lang="en-AU" dirty="0" smtClean="0"/>
              <a:t>Messages </a:t>
            </a:r>
            <a:r>
              <a:rPr lang="en-AU" dirty="0"/>
              <a:t>between men and women are seen as alien, threatening, “different words from different worlds”, and the same terms, but “tuned to different frequencies”. </a:t>
            </a:r>
          </a:p>
          <a:p>
            <a:r>
              <a:rPr lang="en-AU" dirty="0"/>
              <a:t>Women seek connection in conversation. Men are concerned primarily with status. </a:t>
            </a:r>
            <a:endParaRPr lang="en-AU" dirty="0" smtClean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Gender Differences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85266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27584" y="2420888"/>
            <a:ext cx="7408333" cy="3450696"/>
          </a:xfrm>
        </p:spPr>
        <p:txBody>
          <a:bodyPr>
            <a:normAutofit/>
          </a:bodyPr>
          <a:lstStyle/>
          <a:p>
            <a:r>
              <a:rPr lang="en-AU" dirty="0" smtClean="0"/>
              <a:t>Styles are typical of men and women</a:t>
            </a:r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Tannen - Gender Differences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762392"/>
              </p:ext>
            </p:extLst>
          </p:nvPr>
        </p:nvGraphicFramePr>
        <p:xfrm>
          <a:off x="755576" y="3429000"/>
          <a:ext cx="777686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816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Men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Women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Report talk – similar to public speaking .</a:t>
                      </a:r>
                      <a:r>
                        <a:rPr lang="en-AU" baseline="0" dirty="0" smtClean="0"/>
                        <a:t> When telling jokes and stories, or imparting information they </a:t>
                      </a:r>
                      <a:r>
                        <a:rPr lang="en-AU" dirty="0" smtClean="0"/>
                        <a:t>demand attention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Rapport talk – like to develop relationships and share experiences. Use hedges – these soften requests or statements. 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“Shut the door.”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“ (Do you mind) Please shut the door.” 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They use talk to demand attention,</a:t>
                      </a:r>
                      <a:r>
                        <a:rPr lang="en-AU" baseline="0" dirty="0" smtClean="0"/>
                        <a:t> negotiate and maintain status. 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They negotiate differences and enjoy private</a:t>
                      </a:r>
                      <a:r>
                        <a:rPr lang="en-AU" baseline="0" dirty="0" smtClean="0"/>
                        <a:t> conversation. 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0556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According to Tannen, men are comfortable with confrontation because this is their chance to win an argument.  </a:t>
            </a:r>
            <a:endParaRPr lang="en-AU" dirty="0" smtClean="0"/>
          </a:p>
          <a:p>
            <a:r>
              <a:rPr lang="en-AU" dirty="0" smtClean="0"/>
              <a:t>Women</a:t>
            </a:r>
            <a:r>
              <a:rPr lang="en-AU" dirty="0"/>
              <a:t>, however, avoid conflict because this is a chance of threatening her </a:t>
            </a:r>
            <a:r>
              <a:rPr lang="en-AU" dirty="0" smtClean="0"/>
              <a:t>connection </a:t>
            </a:r>
            <a:r>
              <a:rPr lang="en-AU" dirty="0"/>
              <a:t>with </a:t>
            </a:r>
            <a:r>
              <a:rPr lang="en-AU" dirty="0" smtClean="0"/>
              <a:t>someone.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Tannen - Conflict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2909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1124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112</TotalTime>
  <Words>676</Words>
  <Application>Microsoft Office PowerPoint</Application>
  <PresentationFormat>On-screen Show (4:3)</PresentationFormat>
  <Paragraphs>81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Candara</vt:lpstr>
      <vt:lpstr>Symbol</vt:lpstr>
      <vt:lpstr>Waveform</vt:lpstr>
      <vt:lpstr>COMMUNICATION STYLES</vt:lpstr>
      <vt:lpstr>Communication Styles   – from your Syllabus</vt:lpstr>
      <vt:lpstr>Define Communication?  </vt:lpstr>
      <vt:lpstr>Communication styles</vt:lpstr>
      <vt:lpstr>Social Background and Language Style</vt:lpstr>
      <vt:lpstr>Features of Restricted and Elaborated Codes</vt:lpstr>
      <vt:lpstr>Bernstein Overview </vt:lpstr>
      <vt:lpstr>Labov</vt:lpstr>
      <vt:lpstr>Gender Differences</vt:lpstr>
      <vt:lpstr>Tannen - Gender Differences</vt:lpstr>
      <vt:lpstr>Tannen - Conflict</vt:lpstr>
      <vt:lpstr>PowerPoint Presentation</vt:lpstr>
    </vt:vector>
  </TitlesOfParts>
  <Company>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COMMUNICAITON</dc:title>
  <dc:creator>HUGHES Kaye</dc:creator>
  <cp:lastModifiedBy>Rory Mckenzie</cp:lastModifiedBy>
  <cp:revision>15</cp:revision>
  <cp:lastPrinted>2018-04-26T12:07:23Z</cp:lastPrinted>
  <dcterms:created xsi:type="dcterms:W3CDTF">2018-04-13T01:20:22Z</dcterms:created>
  <dcterms:modified xsi:type="dcterms:W3CDTF">2018-06-13T04:13:06Z</dcterms:modified>
</cp:coreProperties>
</file>
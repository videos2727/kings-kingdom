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58"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74" d="100"/>
          <a:sy n="74" d="100"/>
        </p:scale>
        <p:origin x="26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423BF71-38B7-8642-BFCE-EDAE9BD0CBAF}" type="datetimeFigureOut">
              <a:rPr lang="en-US" dirty="0"/>
              <a:t>10/13/2021</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981CDE-9BE7-C544-8ACB-7077DFC4270F}" type="datetimeFigureOut">
              <a:rPr lang="en-US" dirty="0"/>
              <a:t>10/13/2021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55BA285-9698-1B45-8319-D90A8C63F150}" type="datetimeFigureOut">
              <a:rPr lang="en-US" dirty="0"/>
              <a:t>10/13/2021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A86CD42-43FF-B740-998F-DCC3802C4CE3}" type="datetimeFigureOut">
              <a:rPr lang="en-US" dirty="0"/>
              <a:t>10/13/2021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EA0FFBD-2EE4-8547-BBAE-A1AC91C8D77E}" type="datetimeFigureOut">
              <a:rPr lang="en-US" dirty="0"/>
              <a:t>10/13/2021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55A2352-D7AC-F242-9256-A4477BCBF354}" type="datetimeFigureOut">
              <a:rPr lang="en-US" dirty="0"/>
              <a:t>10/13/2021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FC6A-9AE6-404D-9FDD-168B477B9C90}" type="datetimeFigureOut">
              <a:rPr lang="en-US" dirty="0"/>
              <a:t>10/13/2021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1CFCDFD-B4CF-A241-8D71-E814B10BEAF4}" type="datetimeFigureOut">
              <a:rPr lang="en-US" dirty="0"/>
              <a:t>10/13/2021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6A7B589-FD4B-7E46-869A-CBADC5FC564E}" type="datetimeFigureOut">
              <a:rPr lang="en-US" dirty="0"/>
              <a:t>10/13/2021</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3B025CB-9D18-264E-A945-2D020344C9DA}" type="datetimeFigureOut">
              <a:rPr lang="en-US" dirty="0"/>
              <a:t>10/13/2021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07EFB6C-7E96-8F41-8872-189CA1C59F84}" type="datetimeFigureOut">
              <a:rPr lang="en-US" dirty="0"/>
              <a:t>10/13/2021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CD8A92E-5FF9-8143-81B3-CCB531513398}" type="datetimeFigureOut">
              <a:rPr lang="en-US" dirty="0"/>
              <a:t>10/13/2021</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18375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dirty="0"/>
              <a:t>covariation </a:t>
            </a:r>
            <a:r>
              <a:rPr lang="en-AU" b="1" dirty="0" smtClean="0"/>
              <a:t>principle - </a:t>
            </a:r>
            <a:r>
              <a:rPr lang="en-AU" i="1" dirty="0" smtClean="0"/>
              <a:t>a </a:t>
            </a:r>
            <a:r>
              <a:rPr lang="en-AU" i="1" dirty="0"/>
              <a:t>given </a:t>
            </a:r>
            <a:r>
              <a:rPr lang="en-AU" i="1" dirty="0" err="1"/>
              <a:t>behavior</a:t>
            </a:r>
            <a:r>
              <a:rPr lang="en-AU" i="1" dirty="0"/>
              <a:t> is more likely to have been caused by the situation if that </a:t>
            </a:r>
            <a:r>
              <a:rPr lang="en-AU" i="1" dirty="0" err="1"/>
              <a:t>behavior</a:t>
            </a:r>
            <a:r>
              <a:rPr lang="en-AU" i="1" dirty="0"/>
              <a:t> </a:t>
            </a:r>
            <a:r>
              <a:rPr lang="en-AU" i="1" dirty="0" err="1"/>
              <a:t>covaries</a:t>
            </a:r>
            <a:r>
              <a:rPr lang="en-AU" i="1" dirty="0"/>
              <a:t> (or changes) across situations</a:t>
            </a:r>
            <a:r>
              <a:rPr lang="en-AU" dirty="0"/>
              <a:t>.</a:t>
            </a:r>
            <a:endParaRPr lang="en-AU" dirty="0"/>
          </a:p>
        </p:txBody>
      </p:sp>
    </p:spTree>
    <p:extLst>
      <p:ext uri="{BB962C8B-B14F-4D97-AF65-F5344CB8AC3E}">
        <p14:creationId xmlns:p14="http://schemas.microsoft.com/office/powerpoint/2010/main" val="2664495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p:cNvPicPr>
            <a:picLocks noGrp="1" noChangeAspect="1"/>
          </p:cNvPicPr>
          <p:nvPr>
            <p:ph idx="1"/>
          </p:nvPr>
        </p:nvPicPr>
        <p:blipFill>
          <a:blip r:embed="rId2"/>
          <a:stretch>
            <a:fillRect/>
          </a:stretch>
        </p:blipFill>
        <p:spPr>
          <a:xfrm>
            <a:off x="0" y="592428"/>
            <a:ext cx="12138876" cy="4953220"/>
          </a:xfrm>
          <a:prstGeom prst="rect">
            <a:avLst/>
          </a:prstGeom>
        </p:spPr>
      </p:pic>
    </p:spTree>
    <p:extLst>
      <p:ext uri="{BB962C8B-B14F-4D97-AF65-F5344CB8AC3E}">
        <p14:creationId xmlns:p14="http://schemas.microsoft.com/office/powerpoint/2010/main" val="4272271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85000" lnSpcReduction="10000"/>
          </a:bodyPr>
          <a:lstStyle/>
          <a:p>
            <a:pPr fontAlgn="base"/>
            <a:r>
              <a:rPr lang="en-AU" b="1" dirty="0"/>
              <a:t>Consistency information</a:t>
            </a:r>
            <a:r>
              <a:rPr lang="en-AU" dirty="0"/>
              <a:t>. A situation seems to be the cause of a </a:t>
            </a:r>
            <a:r>
              <a:rPr lang="en-AU" dirty="0" err="1"/>
              <a:t>behavior</a:t>
            </a:r>
            <a:r>
              <a:rPr lang="en-AU" dirty="0"/>
              <a:t> if the situation </a:t>
            </a:r>
            <a:r>
              <a:rPr lang="en-AU" i="1" dirty="0"/>
              <a:t>always produces the </a:t>
            </a:r>
            <a:r>
              <a:rPr lang="en-AU" i="1" dirty="0" err="1"/>
              <a:t>behavior</a:t>
            </a:r>
            <a:r>
              <a:rPr lang="en-AU" i="1" dirty="0"/>
              <a:t> in the target</a:t>
            </a:r>
            <a:r>
              <a:rPr lang="en-AU" dirty="0"/>
              <a:t>. For instance, if I always start to cry at weddings, then it seems as if the wedding is the cause of my crying.</a:t>
            </a:r>
          </a:p>
          <a:p>
            <a:pPr fontAlgn="base"/>
            <a:r>
              <a:rPr lang="en-AU" b="1" dirty="0"/>
              <a:t>Distinctiveness information</a:t>
            </a:r>
            <a:r>
              <a:rPr lang="en-AU" dirty="0"/>
              <a:t>. A situation seems to be the cause of a </a:t>
            </a:r>
            <a:r>
              <a:rPr lang="en-AU" dirty="0" err="1"/>
              <a:t>behavior</a:t>
            </a:r>
            <a:r>
              <a:rPr lang="en-AU" dirty="0"/>
              <a:t> if the </a:t>
            </a:r>
            <a:r>
              <a:rPr lang="en-AU" dirty="0" err="1"/>
              <a:t>behavior</a:t>
            </a:r>
            <a:r>
              <a:rPr lang="en-AU" dirty="0"/>
              <a:t> </a:t>
            </a:r>
            <a:r>
              <a:rPr lang="en-AU" i="1" dirty="0"/>
              <a:t>occurs when the situation is present but not when it is not present</a:t>
            </a:r>
            <a:r>
              <a:rPr lang="en-AU" dirty="0"/>
              <a:t>. For instance, if I only cry at weddings but not at any other time, then it seems as if the wedding is the cause of my crying.</a:t>
            </a:r>
          </a:p>
          <a:p>
            <a:pPr fontAlgn="base"/>
            <a:r>
              <a:rPr lang="en-AU" b="1" dirty="0"/>
              <a:t>Consensus information</a:t>
            </a:r>
            <a:r>
              <a:rPr lang="en-AU" dirty="0"/>
              <a:t>. A situation seems to be the cause of a </a:t>
            </a:r>
            <a:r>
              <a:rPr lang="en-AU" dirty="0" err="1"/>
              <a:t>behavior</a:t>
            </a:r>
            <a:r>
              <a:rPr lang="en-AU" dirty="0"/>
              <a:t> if the situation </a:t>
            </a:r>
            <a:r>
              <a:rPr lang="en-AU" i="1" dirty="0"/>
              <a:t>creates the same </a:t>
            </a:r>
            <a:r>
              <a:rPr lang="en-AU" i="1" dirty="0" err="1"/>
              <a:t>behavior</a:t>
            </a:r>
            <a:r>
              <a:rPr lang="en-AU" i="1" dirty="0"/>
              <a:t> in most people</a:t>
            </a:r>
            <a:r>
              <a:rPr lang="en-AU" dirty="0"/>
              <a:t>. For instance, if many people cry at weddings, then it seems as if the wedding is the cause of my (and the other people’s) crying.</a:t>
            </a:r>
          </a:p>
          <a:p>
            <a:endParaRPr lang="en-AU" dirty="0"/>
          </a:p>
        </p:txBody>
      </p:sp>
    </p:spTree>
    <p:extLst>
      <p:ext uri="{BB962C8B-B14F-4D97-AF65-F5344CB8AC3E}">
        <p14:creationId xmlns:p14="http://schemas.microsoft.com/office/powerpoint/2010/main" val="1263253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334851" y="347730"/>
            <a:ext cx="10720003" cy="5118615"/>
          </a:xfrm>
        </p:spPr>
        <p:txBody>
          <a:bodyPr>
            <a:normAutofit fontScale="77500" lnSpcReduction="20000"/>
          </a:bodyPr>
          <a:lstStyle/>
          <a:p>
            <a:pPr fontAlgn="base"/>
            <a:r>
              <a:rPr lang="en-GB" b="1" dirty="0" smtClean="0"/>
              <a:t>Consensus</a:t>
            </a:r>
          </a:p>
          <a:p>
            <a:pPr fontAlgn="base"/>
            <a:r>
              <a:rPr lang="en-GB" dirty="0" smtClean="0"/>
              <a:t>Consensus </a:t>
            </a:r>
            <a:r>
              <a:rPr lang="en-GB" dirty="0"/>
              <a:t>is the co-variation of </a:t>
            </a:r>
            <a:r>
              <a:rPr lang="en-GB" dirty="0" err="1"/>
              <a:t>behavior</a:t>
            </a:r>
            <a:r>
              <a:rPr lang="en-GB" dirty="0"/>
              <a:t> across different people. If many people find Lisa attractive, consensus is high. If only Arnold finds Lisa attractive, consensus is low. High consensus is attributed to the stimulus (in the above example, to Lisa), while low consensus is attributed to the person (in this case, Arnold). </a:t>
            </a:r>
          </a:p>
          <a:p>
            <a:pPr fontAlgn="base"/>
            <a:r>
              <a:rPr lang="en-GB" b="1" dirty="0" smtClean="0"/>
              <a:t>Distinctiveness</a:t>
            </a:r>
          </a:p>
          <a:p>
            <a:pPr fontAlgn="base"/>
            <a:r>
              <a:rPr lang="en-GB" dirty="0" smtClean="0"/>
              <a:t>Distinctiveness </a:t>
            </a:r>
            <a:r>
              <a:rPr lang="en-GB" dirty="0"/>
              <a:t>refers to how unique the </a:t>
            </a:r>
            <a:r>
              <a:rPr lang="en-GB" dirty="0" err="1"/>
              <a:t>behavior</a:t>
            </a:r>
            <a:r>
              <a:rPr lang="en-GB" dirty="0"/>
              <a:t> is to the particular situation. There is a low distinctiveness if an individual behaves similarly in all situations, and there exists a high distinctiveness when the person only shows the behaviour in particular situations. If the distinctiveness is high, one will attribute this behaviour more to the circumstance instead of person (</a:t>
            </a:r>
            <a:r>
              <a:rPr lang="en-GB" dirty="0" err="1"/>
              <a:t>Gilovich</a:t>
            </a:r>
            <a:r>
              <a:rPr lang="en-GB" dirty="0"/>
              <a:t> et al., 2005). </a:t>
            </a:r>
          </a:p>
          <a:p>
            <a:pPr fontAlgn="base"/>
            <a:r>
              <a:rPr lang="en-GB" dirty="0"/>
              <a:t>Referring to the example of </a:t>
            </a:r>
            <a:r>
              <a:rPr lang="en-GB" dirty="0" err="1"/>
              <a:t>Dr.</a:t>
            </a:r>
            <a:r>
              <a:rPr lang="en-GB" dirty="0"/>
              <a:t> Stanton's complimenting Barry's work, if </a:t>
            </a:r>
            <a:r>
              <a:rPr lang="en-GB" dirty="0" err="1"/>
              <a:t>Dr.</a:t>
            </a:r>
            <a:r>
              <a:rPr lang="en-GB" dirty="0"/>
              <a:t> Stanton almost never compliments other people's work, he shows high distinctiveness. But if he compliments everybody's work, this is low distinctiveness, and one will attribute the behaviour to the person, in this case, </a:t>
            </a:r>
            <a:r>
              <a:rPr lang="en-GB" dirty="0" err="1"/>
              <a:t>Dr.</a:t>
            </a:r>
            <a:r>
              <a:rPr lang="en-GB" dirty="0"/>
              <a:t> Stanton (Orvis et al., 1975). </a:t>
            </a:r>
          </a:p>
          <a:p>
            <a:pPr fontAlgn="base"/>
            <a:r>
              <a:rPr lang="en-GB" b="1" dirty="0" smtClean="0"/>
              <a:t>Consistency</a:t>
            </a:r>
            <a:r>
              <a:rPr lang="en-GB" b="1" dirty="0"/>
              <a:t> </a:t>
            </a:r>
          </a:p>
          <a:p>
            <a:pPr fontAlgn="base"/>
            <a:r>
              <a:rPr lang="en-GB" dirty="0"/>
              <a:t>Consistency is the covariation of </a:t>
            </a:r>
            <a:r>
              <a:rPr lang="en-GB" dirty="0" err="1"/>
              <a:t>behavior</a:t>
            </a:r>
            <a:r>
              <a:rPr lang="en-GB" dirty="0"/>
              <a:t> across time. If Jane is generous all the time, she shows high consistency. If Jane is rarely generous or is generous only at specific times, perhaps around the holidays, she shows low consistency. High consistency is attributed to the person (Jane is a generous person), while low consistency is attributed to the circumstance (the holidays make people generous). </a:t>
            </a:r>
          </a:p>
          <a:p>
            <a:endParaRPr lang="en-AU" dirty="0"/>
          </a:p>
        </p:txBody>
      </p:sp>
    </p:spTree>
    <p:extLst>
      <p:ext uri="{BB962C8B-B14F-4D97-AF65-F5344CB8AC3E}">
        <p14:creationId xmlns:p14="http://schemas.microsoft.com/office/powerpoint/2010/main" val="3302911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850006" y="2015732"/>
            <a:ext cx="10204848" cy="3450613"/>
          </a:xfrm>
        </p:spPr>
        <p:txBody>
          <a:bodyPr/>
          <a:lstStyle/>
          <a:p>
            <a:r>
              <a:rPr lang="en-AU" dirty="0"/>
              <a:t>Low Consensus, Low Distinctiveness, High Consistency = Personal Attribution </a:t>
            </a:r>
            <a:br>
              <a:rPr lang="en-AU" dirty="0"/>
            </a:br>
            <a:r>
              <a:rPr lang="en-AU" dirty="0"/>
              <a:t>High Consensus, High Distinctiveness, High Consistency = Stimulus Attribution </a:t>
            </a:r>
            <a:br>
              <a:rPr lang="en-AU" dirty="0"/>
            </a:br>
            <a:r>
              <a:rPr lang="en-AU" dirty="0"/>
              <a:t>High Consensus, Low Distinctiveness, Low Consistency = Circumstance </a:t>
            </a:r>
            <a:r>
              <a:rPr lang="en-AU" dirty="0" smtClean="0"/>
              <a:t>Attribution</a:t>
            </a:r>
          </a:p>
          <a:p>
            <a:endParaRPr lang="en-AU" dirty="0"/>
          </a:p>
          <a:p>
            <a:r>
              <a:rPr lang="en-GB" dirty="0"/>
              <a:t>In reference to McArthur's study (1972), consider the following example: "John laughs at the comedian" This outcome could be caused by something in the person (John), the stimulus (the comedian) the circumstances (the comedy club on that night), or some combination of these factors (</a:t>
            </a:r>
            <a:r>
              <a:rPr lang="en-GB" dirty="0" err="1"/>
              <a:t>Hewstone</a:t>
            </a:r>
            <a:r>
              <a:rPr lang="en-GB"/>
              <a:t> et al., 1987). </a:t>
            </a:r>
          </a:p>
          <a:p>
            <a:endParaRPr lang="en-AU" dirty="0"/>
          </a:p>
        </p:txBody>
      </p:sp>
    </p:spTree>
    <p:extLst>
      <p:ext uri="{BB962C8B-B14F-4D97-AF65-F5344CB8AC3E}">
        <p14:creationId xmlns:p14="http://schemas.microsoft.com/office/powerpoint/2010/main" val="414827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85000" lnSpcReduction="10000"/>
          </a:bodyPr>
          <a:lstStyle/>
          <a:p>
            <a:pPr fontAlgn="base"/>
            <a:r>
              <a:rPr lang="en-GB" dirty="0" smtClean="0"/>
              <a:t>If </a:t>
            </a:r>
            <a:r>
              <a:rPr lang="en-GB" dirty="0"/>
              <a:t>John is the only person laughing at the comedian (low consensus), he laughs at the comedian at other comedy clubs (high consistency), and he laughs at other comedians (low distinctiveness), then the effect is seen as caused by something in the person (John). </a:t>
            </a:r>
          </a:p>
          <a:p>
            <a:pPr fontAlgn="base"/>
            <a:r>
              <a:rPr lang="en-GB" dirty="0"/>
              <a:t>If everyone is laughing at the comedian (high consensus), John laughs at the comedian at other comedy clubs (high consistency), and he does not laugh at other comedians (high distinctiveness), then the effect is seen as caused by something in the stimulus (the comedian). </a:t>
            </a:r>
          </a:p>
          <a:p>
            <a:pPr fontAlgn="base"/>
            <a:r>
              <a:rPr lang="en-GB" dirty="0"/>
              <a:t>If everyone is laughing at the comedian (high consensus), John doesn't laugh at the comedian at other comedy clubs (low consistency), and he laughs at other comedians at the club (low distinctiveness) then the effect is seen as caused by something in the circumstance (the comedy club on that night). </a:t>
            </a:r>
          </a:p>
          <a:p>
            <a:endParaRPr lang="en-AU" dirty="0"/>
          </a:p>
        </p:txBody>
      </p:sp>
    </p:spTree>
    <p:extLst>
      <p:ext uri="{BB962C8B-B14F-4D97-AF65-F5344CB8AC3E}">
        <p14:creationId xmlns:p14="http://schemas.microsoft.com/office/powerpoint/2010/main" val="173795999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TM10001114[[fn=Gallery]]</Template>
  <TotalTime>3</TotalTime>
  <Words>750</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Palatino Linotype</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 [Narrogin Senior High School]</dc:creator>
  <cp:lastModifiedBy>EDWARDS Natalie [Narrogin Senior High School]</cp:lastModifiedBy>
  <cp:revision>1</cp:revision>
  <dcterms:created xsi:type="dcterms:W3CDTF">2021-10-13T00:22:43Z</dcterms:created>
  <dcterms:modified xsi:type="dcterms:W3CDTF">2021-10-13T00:26:28Z</dcterms:modified>
</cp:coreProperties>
</file>
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12" r:id="rId1"/>
  </p:sldMasterIdLst>
  <p:notesMasterIdLst>
    <p:notesMasterId r:id="rId30"/>
  </p:notesMasterIdLst>
  <p:handoutMasterIdLst>
    <p:handoutMasterId r:id="rId31"/>
  </p:handoutMasterIdLst>
  <p:sldIdLst>
    <p:sldId id="256" r:id="rId2"/>
    <p:sldId id="370" r:id="rId3"/>
    <p:sldId id="429" r:id="rId4"/>
    <p:sldId id="434" r:id="rId5"/>
    <p:sldId id="450" r:id="rId6"/>
    <p:sldId id="430" r:id="rId7"/>
    <p:sldId id="431" r:id="rId8"/>
    <p:sldId id="401" r:id="rId9"/>
    <p:sldId id="402" r:id="rId10"/>
    <p:sldId id="403" r:id="rId11"/>
    <p:sldId id="451" r:id="rId12"/>
    <p:sldId id="452" r:id="rId13"/>
    <p:sldId id="435" r:id="rId14"/>
    <p:sldId id="404" r:id="rId15"/>
    <p:sldId id="405" r:id="rId16"/>
    <p:sldId id="391" r:id="rId17"/>
    <p:sldId id="436" r:id="rId18"/>
    <p:sldId id="446" r:id="rId19"/>
    <p:sldId id="447" r:id="rId20"/>
    <p:sldId id="406" r:id="rId21"/>
    <p:sldId id="437" r:id="rId22"/>
    <p:sldId id="410" r:id="rId23"/>
    <p:sldId id="449" r:id="rId24"/>
    <p:sldId id="413" r:id="rId25"/>
    <p:sldId id="432" r:id="rId26"/>
    <p:sldId id="438" r:id="rId27"/>
    <p:sldId id="414" r:id="rId28"/>
    <p:sldId id="443" r:id="rId2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CB255"/>
    <a:srgbClr val="E5D419"/>
    <a:srgbClr val="212F62"/>
    <a:srgbClr val="72A510"/>
    <a:srgbClr val="A4EC1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20" autoAdjust="0"/>
    <p:restoredTop sz="91916" autoAdjust="0"/>
  </p:normalViewPr>
  <p:slideViewPr>
    <p:cSldViewPr snapToGrid="0" snapToObjects="1">
      <p:cViewPr varScale="1">
        <p:scale>
          <a:sx n="106" d="100"/>
          <a:sy n="106" d="100"/>
        </p:scale>
        <p:origin x="1512" y="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4664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48D041A-73BB-E643-A8C7-50D88C2F22F5}" type="datetimeFigureOut">
              <a:rPr lang="en-US" smtClean="0"/>
              <a:t>7/28/2021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36EFEC5-3018-A548-B247-453C6EC1EC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005721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AC9FD50-6BC5-2548-B63F-1750C5C4C129}" type="datetimeFigureOut">
              <a:rPr lang="en-US" smtClean="0"/>
              <a:t>7/28/2021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4752052-4ED1-6444-B773-44FCEDEBEC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71044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41326"/>
            <a:ext cx="8062912" cy="659535"/>
          </a:xfrm>
        </p:spPr>
        <p:txBody>
          <a:bodyPr/>
          <a:lstStyle/>
          <a:p>
            <a:r>
              <a:rPr lang="en-US" dirty="0" smtClean="0"/>
              <a:t>Click to edit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B19C71-EC74-44AF-B27E-FC7DC3C3A61D}" type="datetime4">
              <a:rPr lang="en-US" smtClean="0"/>
              <a:pPr/>
              <a:t>July 28, 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8DF745-7D3F-47F4-83A3-874385CFAA6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Picture Placeholder 8"/>
          <p:cNvSpPr>
            <a:spLocks noGrp="1"/>
          </p:cNvSpPr>
          <p:nvPr>
            <p:ph type="pic" sz="quarter" idx="13"/>
          </p:nvPr>
        </p:nvSpPr>
        <p:spPr>
          <a:xfrm>
            <a:off x="457199" y="1107618"/>
            <a:ext cx="4031619" cy="4607689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4"/>
          </p:nvPr>
        </p:nvSpPr>
        <p:spPr>
          <a:xfrm>
            <a:off x="4606925" y="1107618"/>
            <a:ext cx="3913188" cy="4607382"/>
          </a:xfrm>
        </p:spPr>
        <p:txBody>
          <a:bodyPr/>
          <a:lstStyle>
            <a:lvl1pPr>
              <a:buClr>
                <a:srgbClr val="6CB255"/>
              </a:buClr>
              <a:defRPr>
                <a:solidFill>
                  <a:srgbClr val="212F62"/>
                </a:solidFill>
              </a:defRPr>
            </a:lvl1pPr>
            <a:lvl2pPr marL="731520" indent="-457200">
              <a:buClr>
                <a:srgbClr val="6CB255"/>
              </a:buClr>
              <a:buFont typeface="+mj-lt"/>
              <a:buAutoNum type="alphaLcParenR"/>
              <a:defRPr>
                <a:solidFill>
                  <a:schemeClr val="tx1"/>
                </a:solidFill>
              </a:defRPr>
            </a:lvl2pPr>
            <a:lvl3pPr marL="1257300" indent="-342900">
              <a:buClr>
                <a:srgbClr val="6CB255"/>
              </a:buClr>
              <a:buFont typeface="+mj-lt"/>
              <a:buAutoNum type="alphaLcParenR"/>
              <a:defRPr>
                <a:solidFill>
                  <a:schemeClr val="tx1"/>
                </a:solidFill>
              </a:defRPr>
            </a:lvl3pPr>
            <a:lvl4pPr marL="1714500" indent="-342900">
              <a:buClr>
                <a:srgbClr val="6CB255"/>
              </a:buClr>
              <a:buFont typeface="+mj-lt"/>
              <a:buAutoNum type="alphaLcParenR"/>
              <a:defRPr>
                <a:solidFill>
                  <a:schemeClr val="tx1"/>
                </a:solidFill>
              </a:defRPr>
            </a:lvl4pPr>
            <a:lvl5pPr marL="2171700" indent="-342900">
              <a:buClr>
                <a:srgbClr val="6CB255"/>
              </a:buClr>
              <a:buFont typeface="+mj-lt"/>
              <a:buAutoNum type="alphaLcParenR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33F43-3E86-47E4-BFBB-2476D384E1C6}" type="datetime4">
              <a:rPr lang="en-US" smtClean="0"/>
              <a:pPr/>
              <a:t>July 28, 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8DF745-7D3F-47F4-83A3-874385CFAA6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457200" y="241326"/>
            <a:ext cx="8062912" cy="659535"/>
          </a:xfrm>
        </p:spPr>
        <p:txBody>
          <a:bodyPr/>
          <a:lstStyle/>
          <a:p>
            <a:r>
              <a:rPr lang="en-US" dirty="0" smtClean="0"/>
              <a:t>Click to edit</a:t>
            </a:r>
            <a:endParaRPr lang="en-US" dirty="0"/>
          </a:p>
        </p:txBody>
      </p:sp>
      <p:sp>
        <p:nvSpPr>
          <p:cNvPr id="8" name="Picture Placeholder 8"/>
          <p:cNvSpPr>
            <a:spLocks noGrp="1"/>
          </p:cNvSpPr>
          <p:nvPr>
            <p:ph type="pic" sz="quarter" idx="13"/>
          </p:nvPr>
        </p:nvSpPr>
        <p:spPr>
          <a:xfrm>
            <a:off x="457199" y="1122386"/>
            <a:ext cx="8062913" cy="350007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Text Placeholder 10"/>
          <p:cNvSpPr>
            <a:spLocks noGrp="1"/>
          </p:cNvSpPr>
          <p:nvPr>
            <p:ph type="body" sz="quarter" idx="14"/>
          </p:nvPr>
        </p:nvSpPr>
        <p:spPr>
          <a:xfrm>
            <a:off x="457200" y="4843982"/>
            <a:ext cx="8062912" cy="1166382"/>
          </a:xfrm>
        </p:spPr>
        <p:txBody>
          <a:bodyPr/>
          <a:lstStyle>
            <a:lvl1pPr>
              <a:buClr>
                <a:srgbClr val="6CB255"/>
              </a:buClr>
              <a:defRPr>
                <a:solidFill>
                  <a:srgbClr val="000000"/>
                </a:solidFill>
              </a:defRPr>
            </a:lvl1pPr>
            <a:lvl2pPr marL="731520" indent="-457200">
              <a:buClr>
                <a:srgbClr val="6CB255"/>
              </a:buClr>
              <a:buFont typeface="+mj-lt"/>
              <a:buAutoNum type="alphaLcParenR"/>
              <a:defRPr>
                <a:solidFill>
                  <a:schemeClr val="tx1"/>
                </a:solidFill>
              </a:defRPr>
            </a:lvl2pPr>
            <a:lvl3pPr marL="1257300" indent="-342900">
              <a:buClr>
                <a:srgbClr val="6CB255"/>
              </a:buClr>
              <a:buFont typeface="+mj-lt"/>
              <a:buAutoNum type="alphaLcParenR"/>
              <a:defRPr>
                <a:solidFill>
                  <a:schemeClr val="tx1"/>
                </a:solidFill>
              </a:defRPr>
            </a:lvl3pPr>
            <a:lvl4pPr marL="1714500" indent="-342900">
              <a:buClr>
                <a:srgbClr val="6CB255"/>
              </a:buClr>
              <a:buFont typeface="+mj-lt"/>
              <a:buAutoNum type="alphaLcParenR"/>
              <a:defRPr>
                <a:solidFill>
                  <a:schemeClr val="tx1"/>
                </a:solidFill>
              </a:defRPr>
            </a:lvl4pPr>
            <a:lvl5pPr marL="2171700" indent="-342900">
              <a:buClr>
                <a:srgbClr val="6CB255"/>
              </a:buClr>
              <a:buFont typeface="+mj-lt"/>
              <a:buAutoNum type="alphaLcParenR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600200"/>
            <a:ext cx="5111750" cy="4480560"/>
          </a:xfrm>
        </p:spPr>
        <p:txBody>
          <a:bodyPr/>
          <a:lstStyle>
            <a:lvl1pPr>
              <a:defRPr sz="3200"/>
            </a:lvl1pPr>
            <a:lvl2pPr marL="788670" indent="-514350">
              <a:buFont typeface="+mj-lt"/>
              <a:buAutoNum type="alphaLcParenR"/>
              <a:defRPr sz="2800"/>
            </a:lvl2pPr>
            <a:lvl3pPr marL="1371600" indent="-457200">
              <a:buFont typeface="+mj-lt"/>
              <a:buAutoNum type="alphaLcParenR"/>
              <a:defRPr sz="2400"/>
            </a:lvl3pPr>
            <a:lvl4pPr marL="1828800" indent="-457200">
              <a:buFont typeface="+mj-lt"/>
              <a:buAutoNum type="alphaLcParenR"/>
              <a:defRPr sz="2000"/>
            </a:lvl4pPr>
            <a:lvl5pPr marL="2286000" indent="-457200">
              <a:buFont typeface="+mj-lt"/>
              <a:buAutoNum type="alphaLcParenR"/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600200"/>
            <a:ext cx="3008313" cy="448056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AD5615-7F4F-4584-84D5-CC95918C321F}" type="datetime4">
              <a:rPr lang="en-US" smtClean="0"/>
              <a:pPr/>
              <a:t>July 28, 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8DF745-7D3F-47F4-83A3-874385CFAA6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457200" y="241326"/>
            <a:ext cx="8062912" cy="659535"/>
          </a:xfrm>
        </p:spPr>
        <p:txBody>
          <a:bodyPr/>
          <a:lstStyle/>
          <a:p>
            <a:r>
              <a:rPr lang="en-US" dirty="0" smtClean="0"/>
              <a:t>Click to edit</a:t>
            </a:r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1DEABC-D766-4322-8E78-B830FAE35C72}" type="datetime4">
              <a:rPr lang="en-US" smtClean="0"/>
              <a:pPr/>
              <a:t>July 28, 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Title 1"/>
          <p:cNvSpPr txBox="1">
            <a:spLocks/>
          </p:cNvSpPr>
          <p:nvPr userDrawn="1"/>
        </p:nvSpPr>
        <p:spPr>
          <a:xfrm>
            <a:off x="0" y="789677"/>
            <a:ext cx="9144000" cy="709154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spcBef>
                <a:spcPct val="0"/>
              </a:spcBef>
              <a:buNone/>
              <a:defRPr sz="3600" kern="1200" cap="all" spc="-60" baseline="0">
                <a:solidFill>
                  <a:srgbClr val="6CB255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500" dirty="0" smtClean="0"/>
              <a:t>College Physics</a:t>
            </a:r>
          </a:p>
          <a:p>
            <a:pPr algn="ctr"/>
            <a:endParaRPr lang="en-US" sz="1800" cap="none" dirty="0" smtClean="0">
              <a:solidFill>
                <a:schemeClr val="accent3">
                  <a:lumMod val="20000"/>
                  <a:lumOff val="80000"/>
                </a:schemeClr>
              </a:solidFill>
              <a:latin typeface="+mn-lt"/>
            </a:endParaRPr>
          </a:p>
          <a:p>
            <a:pPr algn="ctr"/>
            <a:r>
              <a:rPr lang="en-US" sz="2000" b="1" cap="none" dirty="0" smtClean="0">
                <a:solidFill>
                  <a:srgbClr val="212F62"/>
                </a:solidFill>
                <a:latin typeface="+mn-lt"/>
              </a:rPr>
              <a:t>Chapter # Chapter Title</a:t>
            </a:r>
          </a:p>
          <a:p>
            <a:pPr algn="ctr"/>
            <a:r>
              <a:rPr lang="en-US" sz="1600" cap="none" dirty="0" smtClean="0">
                <a:solidFill>
                  <a:schemeClr val="tx1"/>
                </a:solidFill>
                <a:latin typeface="+mn-lt"/>
              </a:rPr>
              <a:t>PowerPoint Image Slideshow</a:t>
            </a:r>
            <a:endParaRPr lang="en-US" sz="1600" cap="none" dirty="0">
              <a:solidFill>
                <a:schemeClr val="tx1"/>
              </a:solidFill>
              <a:latin typeface="+mn-lt"/>
            </a:endParaRPr>
          </a:p>
        </p:txBody>
      </p:sp>
      <p:pic>
        <p:nvPicPr>
          <p:cNvPr id="9" name="Picture 8" descr="medium_covers_Page_2.pn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62758" y="2517424"/>
            <a:ext cx="2010682" cy="2603836"/>
          </a:xfrm>
          <a:prstGeom prst="rect">
            <a:avLst/>
          </a:prstGeom>
          <a:effectLst>
            <a:reflection blurRad="6350" stA="52000" endA="300" endPos="35000" dir="5400000" sy="-100000" algn="bl" rotWithShape="0"/>
          </a:effectLst>
          <a:scene3d>
            <a:camera prst="obliqueTopLeft"/>
            <a:lightRig rig="threePt" dir="t"/>
          </a:scene3d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jp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6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152718"/>
            <a:ext cx="5791200" cy="13716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752600"/>
            <a:ext cx="7620000" cy="4373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172201"/>
            <a:ext cx="3429000" cy="304800"/>
          </a:xfrm>
          <a:prstGeom prst="rect">
            <a:avLst/>
          </a:prstGeom>
        </p:spPr>
        <p:txBody>
          <a:bodyPr vert="horz" lIns="91440" tIns="45720" rIns="91440" bIns="0" rtlCol="0" anchor="b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fld id="{17D0EFEE-2756-4A20-BF2A-63F0A94F99AC}" type="datetime4">
              <a:rPr lang="en-US" smtClean="0"/>
              <a:pPr/>
              <a:t>July 28, 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7200" y="6492875"/>
            <a:ext cx="3429000" cy="28384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 rot="16200000">
            <a:off x="8044814" y="683895"/>
            <a:ext cx="131572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400" b="1">
                <a:solidFill>
                  <a:srgbClr val="FFFFFF"/>
                </a:solidFill>
              </a:defRPr>
            </a:lvl1pPr>
          </a:lstStyle>
          <a:p>
            <a:fld id="{F38DF745-7D3F-47F4-83A3-874385CFAA69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16" r:id="rId1"/>
    <p:sldLayoutId id="2147483914" r:id="rId2"/>
    <p:sldLayoutId id="2147483920" r:id="rId3"/>
    <p:sldLayoutId id="2147483913" r:id="rId4"/>
  </p:sldLayoutIdLst>
  <p:hf sldNum="0" hdr="0" ftr="0" dt="0"/>
  <p:txStyles>
    <p:titleStyle>
      <a:lvl1pPr algn="l" defTabSz="914400" rtl="0" eaLnBrk="1" latinLnBrk="0" hangingPunct="1">
        <a:spcBef>
          <a:spcPct val="0"/>
        </a:spcBef>
        <a:buNone/>
        <a:defRPr sz="2400" kern="1200" cap="all" spc="-60" baseline="0">
          <a:solidFill>
            <a:srgbClr val="6CB255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spcBef>
          <a:spcPct val="20000"/>
        </a:spcBef>
        <a:spcAft>
          <a:spcPts val="600"/>
        </a:spcAft>
        <a:buClr>
          <a:srgbClr val="6CB255"/>
        </a:buClr>
        <a:buFont typeface="Arial" pitchFamily="34" charset="0"/>
        <a:buNone/>
        <a:defRPr sz="2000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spcBef>
          <a:spcPct val="20000"/>
        </a:spcBef>
        <a:buClr>
          <a:srgbClr val="6CB255"/>
        </a:buClr>
        <a:buFont typeface="Arial" pitchFamily="34" charset="0"/>
        <a:buChar char="•"/>
        <a:defRPr sz="2000" kern="1200">
          <a:solidFill>
            <a:srgbClr val="000000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Clr>
          <a:srgbClr val="6CB255"/>
        </a:buClr>
        <a:buFont typeface="Arial" pitchFamily="34" charset="0"/>
        <a:buChar char="•"/>
        <a:defRPr sz="1800" kern="1200">
          <a:solidFill>
            <a:srgbClr val="000000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Clr>
          <a:srgbClr val="6CB255"/>
        </a:buClr>
        <a:buFont typeface="Arial" pitchFamily="34" charset="0"/>
        <a:buChar char="•"/>
        <a:defRPr sz="1800" kern="1200">
          <a:solidFill>
            <a:srgbClr val="000000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Clr>
          <a:srgbClr val="6CB255"/>
        </a:buClr>
        <a:buFont typeface="Arial" pitchFamily="34" charset="0"/>
        <a:buChar char="•"/>
        <a:defRPr sz="1800" kern="1200" baseline="0">
          <a:solidFill>
            <a:srgbClr val="000000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0" y="789677"/>
            <a:ext cx="9144000" cy="709154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spcBef>
                <a:spcPct val="0"/>
              </a:spcBef>
              <a:buNone/>
              <a:defRPr sz="3600" kern="1200" cap="all" spc="-60" baseline="0">
                <a:solidFill>
                  <a:srgbClr val="6CB255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 smtClean="0"/>
              <a:t>Psychology</a:t>
            </a:r>
          </a:p>
          <a:p>
            <a:pPr algn="ctr"/>
            <a:endParaRPr lang="en-US" sz="1800" cap="none" dirty="0" smtClean="0">
              <a:solidFill>
                <a:schemeClr val="accent3">
                  <a:lumMod val="20000"/>
                  <a:lumOff val="80000"/>
                </a:schemeClr>
              </a:solidFill>
              <a:latin typeface="+mn-lt"/>
            </a:endParaRPr>
          </a:p>
          <a:p>
            <a:pPr algn="ctr"/>
            <a:r>
              <a:rPr lang="en-US" sz="2000" b="1" cap="none" dirty="0" smtClean="0">
                <a:solidFill>
                  <a:srgbClr val="212F62"/>
                </a:solidFill>
                <a:latin typeface="+mn-lt"/>
              </a:rPr>
              <a:t>Year 12 SOCIAL PSYCHOLOGY</a:t>
            </a:r>
          </a:p>
          <a:p>
            <a:pPr algn="ctr"/>
            <a:r>
              <a:rPr lang="en-US" sz="1600" cap="none" dirty="0" smtClean="0">
                <a:solidFill>
                  <a:schemeClr val="tx1"/>
                </a:solidFill>
                <a:latin typeface="+mn-lt"/>
              </a:rPr>
              <a:t>PowerPoint Image Slideshow</a:t>
            </a:r>
            <a:endParaRPr lang="en-US" sz="1600" cap="none" dirty="0">
              <a:solidFill>
                <a:schemeClr val="tx1"/>
              </a:solidFill>
              <a:latin typeface="+mn-lt"/>
            </a:endParaRPr>
          </a:p>
        </p:txBody>
      </p:sp>
      <p:pic>
        <p:nvPicPr>
          <p:cNvPr id="3" name="Picture 2" descr="OSC-Stacked-TM-RGB-1.pn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17311" y="5507235"/>
            <a:ext cx="1507110" cy="1077181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62758" y="2518312"/>
            <a:ext cx="2010682" cy="2602059"/>
          </a:xfrm>
          <a:prstGeom prst="rect">
            <a:avLst/>
          </a:prstGeom>
          <a:effectLst>
            <a:reflection blurRad="6350" stA="52000" endA="300" endPos="35000" dir="5400000" sy="-100000" algn="bl" rotWithShape="0"/>
          </a:effectLst>
          <a:scene3d>
            <a:camera prst="obliqueTopLeft"/>
            <a:lightRig rig="threePt" dir="t"/>
          </a:scene3d>
        </p:spPr>
      </p:pic>
    </p:spTree>
    <p:extLst>
      <p:ext uri="{BB962C8B-B14F-4D97-AF65-F5344CB8AC3E}">
        <p14:creationId xmlns:p14="http://schemas.microsoft.com/office/powerpoint/2010/main" val="13224431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Social psychology</a:t>
            </a:r>
            <a:endParaRPr lang="en-US" dirty="0"/>
          </a:p>
        </p:txBody>
      </p:sp>
      <p:pic>
        <p:nvPicPr>
          <p:cNvPr id="8" name="Picture 7" descr="OSC-Stacked-TM-RGB-1.pn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72687" y="241326"/>
            <a:ext cx="1051734" cy="75170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199" y="1283313"/>
            <a:ext cx="8207116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700" i="1" dirty="0" smtClean="0"/>
              <a:t>How does the presence of other people influence the behavior of individuals, dyads, and groups?</a:t>
            </a:r>
            <a:endParaRPr lang="en-US" sz="1700" i="1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4"/>
          </p:nvPr>
        </p:nvSpPr>
        <p:spPr>
          <a:xfrm>
            <a:off x="457200" y="2572420"/>
            <a:ext cx="8062912" cy="1166382"/>
          </a:xfrm>
        </p:spPr>
        <p:txBody>
          <a:bodyPr>
            <a:normAutofit fontScale="70000" lnSpcReduction="20000"/>
          </a:bodyPr>
          <a:lstStyle/>
          <a:p>
            <a:r>
              <a:rPr lang="en-AU" dirty="0"/>
              <a:t>H</a:t>
            </a:r>
            <a:r>
              <a:rPr lang="en-AU" dirty="0" smtClean="0"/>
              <a:t>istory:</a:t>
            </a:r>
          </a:p>
          <a:p>
            <a:r>
              <a:rPr lang="en-AU" dirty="0" err="1" smtClean="0"/>
              <a:t>Allport’s</a:t>
            </a:r>
            <a:r>
              <a:rPr lang="en-AU" dirty="0" smtClean="0"/>
              <a:t> work on personality paved the way for understanding behaviour</a:t>
            </a:r>
          </a:p>
          <a:p>
            <a:endParaRPr lang="en-AU" dirty="0"/>
          </a:p>
          <a:p>
            <a:r>
              <a:rPr lang="en-AU" dirty="0" smtClean="0"/>
              <a:t>1950s – social psychology became more ‘popular’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7349582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 is social psychology?</a:t>
            </a:r>
            <a:endParaRPr lang="en-US" dirty="0"/>
          </a:p>
        </p:txBody>
      </p:sp>
      <p:pic>
        <p:nvPicPr>
          <p:cNvPr id="2" name="Picture Placeholder 1" descr="CNX_Psych_12_01_helping.jpg"/>
          <p:cNvPicPr>
            <a:picLocks noGrp="1" noChangeAspect="1"/>
          </p:cNvPicPr>
          <p:nvPr>
            <p:ph type="pic" sz="quarter" idx="13"/>
          </p:nvPr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6709" r="-26709"/>
          <a:stretch>
            <a:fillRect/>
          </a:stretch>
        </p:blipFill>
        <p:spPr>
          <a:xfrm>
            <a:off x="1128904" y="3635111"/>
            <a:ext cx="6321927" cy="2744317"/>
          </a:xfrm>
        </p:spPr>
      </p:pic>
      <p:sp>
        <p:nvSpPr>
          <p:cNvPr id="7" name="Text Placeholder 6"/>
          <p:cNvSpPr>
            <a:spLocks noGrp="1"/>
          </p:cNvSpPr>
          <p:nvPr>
            <p:ph type="body" sz="quarter" idx="14"/>
          </p:nvPr>
        </p:nvSpPr>
        <p:spPr>
          <a:xfrm>
            <a:off x="457199" y="1015091"/>
            <a:ext cx="8367221" cy="2620019"/>
          </a:xfrm>
        </p:spPr>
        <p:txBody>
          <a:bodyPr>
            <a:normAutofit/>
          </a:bodyPr>
          <a:lstStyle/>
          <a:p>
            <a:pPr>
              <a:spcBef>
                <a:spcPts val="480"/>
              </a:spcBef>
            </a:pPr>
            <a:r>
              <a:rPr lang="en-US" sz="1600" dirty="0"/>
              <a:t>Social psychology deals with all kinds of interactions between people, spanning a wide range of how we connect: from moments of confrontation to moments of working together and helping </a:t>
            </a:r>
            <a:r>
              <a:rPr lang="en-US" sz="1600" dirty="0" smtClean="0"/>
              <a:t>others</a:t>
            </a:r>
            <a:r>
              <a:rPr lang="en-US" sz="1600" dirty="0"/>
              <a:t>.</a:t>
            </a:r>
            <a:endParaRPr lang="en-US" sz="1600" dirty="0" smtClean="0"/>
          </a:p>
          <a:p>
            <a:pPr>
              <a:spcBef>
                <a:spcPts val="480"/>
              </a:spcBef>
            </a:pPr>
            <a:r>
              <a:rPr lang="en-US" sz="1600" dirty="0" smtClean="0"/>
              <a:t>Social psychologists believe that an individual’s thoughts, feelings, and behaviors are influenced by social situations.</a:t>
            </a:r>
          </a:p>
          <a:p>
            <a:pPr>
              <a:spcBef>
                <a:spcPts val="480"/>
              </a:spcBef>
            </a:pPr>
            <a:r>
              <a:rPr lang="en-US" sz="1600" b="1" dirty="0" smtClean="0"/>
              <a:t>Intrapersonal topics </a:t>
            </a:r>
            <a:r>
              <a:rPr lang="mr-IN" sz="1600" dirty="0" smtClean="0"/>
              <a:t>–</a:t>
            </a:r>
            <a:r>
              <a:rPr lang="en-US" sz="1600" dirty="0" smtClean="0"/>
              <a:t> emotions and attitudes, the self, and social cognition.</a:t>
            </a:r>
          </a:p>
          <a:p>
            <a:pPr>
              <a:spcBef>
                <a:spcPts val="480"/>
              </a:spcBef>
            </a:pPr>
            <a:r>
              <a:rPr lang="en-US" sz="1600" b="1" dirty="0" smtClean="0"/>
              <a:t>Interpersonal topics </a:t>
            </a:r>
            <a:r>
              <a:rPr lang="mr-IN" sz="1600" dirty="0" smtClean="0"/>
              <a:t>–</a:t>
            </a:r>
            <a:r>
              <a:rPr lang="en-US" sz="1600" dirty="0" smtClean="0"/>
              <a:t> helping behavior, aggression, prejudice and discrimination, attraction and close relationship, and group processes and intergroup relationships.</a:t>
            </a:r>
          </a:p>
        </p:txBody>
      </p:sp>
      <p:pic>
        <p:nvPicPr>
          <p:cNvPr id="8" name="Picture 7" descr="OSC-Stacked-TM-RGB-1.png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72687" y="241326"/>
            <a:ext cx="1051734" cy="75170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296177" y="6379428"/>
            <a:ext cx="3987383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 dirty="0"/>
              <a:t>Figure 12.2 (credit: Sgt. </a:t>
            </a:r>
            <a:r>
              <a:rPr lang="en-US" sz="1300" dirty="0" err="1"/>
              <a:t>Derec</a:t>
            </a:r>
            <a:r>
              <a:rPr lang="en-US" sz="1300" dirty="0"/>
              <a:t> Pierson, U.S. Army</a:t>
            </a:r>
            <a:r>
              <a:rPr lang="en-US" sz="1300" dirty="0" smtClean="0"/>
              <a:t>)</a:t>
            </a: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12465625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199" y="1548008"/>
            <a:ext cx="8062912" cy="751709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Situational &amp; Dispositional </a:t>
            </a:r>
            <a:br>
              <a:rPr lang="en-US" dirty="0" smtClean="0"/>
            </a:br>
            <a:r>
              <a:rPr lang="en-US" dirty="0" smtClean="0"/>
              <a:t>influences on behavior</a:t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err="1" smtClean="0"/>
              <a:t>Heider</a:t>
            </a:r>
            <a:r>
              <a:rPr lang="en-US" dirty="0" smtClean="0"/>
              <a:t> – attribution theory (motives/reasons behind behavior)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>
          <a:xfrm>
            <a:off x="457199" y="2669935"/>
            <a:ext cx="8367221" cy="3760372"/>
          </a:xfrm>
        </p:spPr>
        <p:txBody>
          <a:bodyPr>
            <a:normAutofit/>
          </a:bodyPr>
          <a:lstStyle/>
          <a:p>
            <a:pPr>
              <a:spcBef>
                <a:spcPts val="480"/>
              </a:spcBef>
            </a:pPr>
            <a:r>
              <a:rPr lang="en-US" sz="1600" b="1" dirty="0" smtClean="0"/>
              <a:t>Situational attribution</a:t>
            </a:r>
            <a:r>
              <a:rPr lang="en-US" sz="1600" dirty="0" smtClean="0"/>
              <a:t> </a:t>
            </a:r>
            <a:r>
              <a:rPr lang="mr-IN" sz="1600" dirty="0" smtClean="0"/>
              <a:t>–</a:t>
            </a:r>
            <a:r>
              <a:rPr lang="en-US" sz="1600" dirty="0" smtClean="0"/>
              <a:t> the view that our behavior and actions are determined by our immediate environment and surroundings.</a:t>
            </a:r>
          </a:p>
          <a:p>
            <a:pPr marL="285750" indent="-285750">
              <a:spcBef>
                <a:spcPts val="480"/>
              </a:spcBef>
              <a:buFont typeface="Arial" charset="0"/>
              <a:buChar char="•"/>
            </a:pPr>
            <a:r>
              <a:rPr lang="en-US" sz="1600" dirty="0" smtClean="0"/>
              <a:t>Used by social psychologists.</a:t>
            </a:r>
          </a:p>
          <a:p>
            <a:pPr>
              <a:spcBef>
                <a:spcPts val="480"/>
              </a:spcBef>
            </a:pPr>
            <a:r>
              <a:rPr lang="en-US" sz="1600" b="1" dirty="0" err="1" smtClean="0"/>
              <a:t>Dispositionisal</a:t>
            </a:r>
            <a:r>
              <a:rPr lang="en-US" sz="1600" b="1" dirty="0" smtClean="0"/>
              <a:t> attribution</a:t>
            </a:r>
            <a:r>
              <a:rPr lang="en-US" sz="1600" dirty="0" smtClean="0"/>
              <a:t> </a:t>
            </a:r>
            <a:r>
              <a:rPr lang="mr-IN" sz="1600" dirty="0" smtClean="0"/>
              <a:t>–</a:t>
            </a:r>
            <a:r>
              <a:rPr lang="en-US" sz="1600" dirty="0" smtClean="0"/>
              <a:t> the view that our behavior is determined by internal factors (attribute of a person such as personality traits and temperament).</a:t>
            </a:r>
          </a:p>
          <a:p>
            <a:pPr marL="285750" indent="-285750">
              <a:spcBef>
                <a:spcPts val="480"/>
              </a:spcBef>
              <a:buFont typeface="Arial" charset="0"/>
              <a:buChar char="•"/>
            </a:pPr>
            <a:r>
              <a:rPr lang="en-US" sz="1600" dirty="0" smtClean="0"/>
              <a:t>Favored in the U.S.</a:t>
            </a:r>
          </a:p>
          <a:p>
            <a:pPr marL="285750" indent="-285750">
              <a:spcBef>
                <a:spcPts val="480"/>
              </a:spcBef>
              <a:buFont typeface="Arial" charset="0"/>
              <a:buChar char="•"/>
            </a:pPr>
            <a:r>
              <a:rPr lang="en-US" sz="1600" dirty="0" smtClean="0"/>
              <a:t>Used by personality psychologists.</a:t>
            </a:r>
          </a:p>
          <a:p>
            <a:pPr>
              <a:spcBef>
                <a:spcPts val="480"/>
              </a:spcBef>
            </a:pPr>
            <a:r>
              <a:rPr lang="en-US" sz="1600" dirty="0" smtClean="0"/>
              <a:t>Modern social psychologists often consider both the situation and individual.</a:t>
            </a:r>
          </a:p>
          <a:p>
            <a:pPr>
              <a:spcBef>
                <a:spcPts val="480"/>
              </a:spcBef>
            </a:pPr>
            <a:endParaRPr lang="en-US" sz="1600" dirty="0" smtClean="0"/>
          </a:p>
        </p:txBody>
      </p:sp>
      <p:pic>
        <p:nvPicPr>
          <p:cNvPr id="5" name="Picture 4" descr="OSC-Stacked-TM-RGB-1.pn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72687" y="241326"/>
            <a:ext cx="1051734" cy="7517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3900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199" y="508479"/>
            <a:ext cx="8062912" cy="751709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/>
            </a:r>
            <a:br>
              <a:rPr lang="en-US" dirty="0" smtClean="0"/>
            </a:br>
            <a:r>
              <a:rPr lang="en-US" dirty="0" err="1" smtClean="0"/>
              <a:t>Heider</a:t>
            </a:r>
            <a:r>
              <a:rPr lang="en-US" dirty="0" smtClean="0"/>
              <a:t> – attribution theory cont.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>
          <a:xfrm>
            <a:off x="457199" y="2669935"/>
            <a:ext cx="8367221" cy="3760372"/>
          </a:xfrm>
        </p:spPr>
        <p:txBody>
          <a:bodyPr>
            <a:normAutofit/>
          </a:bodyPr>
          <a:lstStyle/>
          <a:p>
            <a:pPr>
              <a:spcBef>
                <a:spcPts val="480"/>
              </a:spcBef>
            </a:pPr>
            <a:r>
              <a:rPr lang="en-US" sz="1600" dirty="0" smtClean="0"/>
              <a:t>Other people are </a:t>
            </a:r>
            <a:r>
              <a:rPr lang="en-US" sz="1600" b="1" dirty="0" smtClean="0"/>
              <a:t>‘action </a:t>
            </a:r>
            <a:r>
              <a:rPr lang="en-US" sz="1600" b="1" dirty="0" err="1" smtClean="0"/>
              <a:t>centres’</a:t>
            </a:r>
            <a:r>
              <a:rPr lang="mr-IN" sz="1600" dirty="0" smtClean="0"/>
              <a:t>–</a:t>
            </a:r>
            <a:r>
              <a:rPr lang="en-US" sz="1600" dirty="0" smtClean="0"/>
              <a:t> others can harm or help us</a:t>
            </a:r>
          </a:p>
          <a:p>
            <a:pPr>
              <a:spcBef>
                <a:spcPts val="480"/>
              </a:spcBef>
            </a:pPr>
            <a:r>
              <a:rPr lang="en-US" sz="1600" dirty="0" smtClean="0"/>
              <a:t>Dispositional attribution tends to be more common – leading to </a:t>
            </a:r>
            <a:r>
              <a:rPr lang="en-US" sz="1600" b="1" dirty="0" smtClean="0"/>
              <a:t>‘fundamental attribution error’</a:t>
            </a:r>
          </a:p>
          <a:p>
            <a:pPr>
              <a:spcBef>
                <a:spcPts val="480"/>
              </a:spcBef>
            </a:pPr>
            <a:endParaRPr lang="en-US" sz="1600" dirty="0" smtClean="0"/>
          </a:p>
          <a:p>
            <a:pPr>
              <a:spcBef>
                <a:spcPts val="480"/>
              </a:spcBef>
            </a:pPr>
            <a:r>
              <a:rPr lang="en-US" sz="1600" dirty="0" smtClean="0"/>
              <a:t>-1967 study – student judged attitude held by another based on either essay or speech</a:t>
            </a:r>
          </a:p>
          <a:p>
            <a:pPr>
              <a:spcBef>
                <a:spcPts val="480"/>
              </a:spcBef>
            </a:pPr>
            <a:r>
              <a:rPr lang="en-US" sz="1600" dirty="0" smtClean="0"/>
              <a:t>-Even though they were assigned which side of debate, more often thought they took that stance</a:t>
            </a:r>
          </a:p>
          <a:p>
            <a:pPr>
              <a:spcBef>
                <a:spcPts val="480"/>
              </a:spcBef>
            </a:pPr>
            <a:endParaRPr lang="en-US" sz="1600" dirty="0"/>
          </a:p>
          <a:p>
            <a:pPr>
              <a:spcBef>
                <a:spcPts val="480"/>
              </a:spcBef>
            </a:pPr>
            <a:r>
              <a:rPr lang="en-US" sz="1600" dirty="0" smtClean="0"/>
              <a:t>Example: student behaving badly in class (swearing)</a:t>
            </a:r>
          </a:p>
        </p:txBody>
      </p:sp>
      <p:pic>
        <p:nvPicPr>
          <p:cNvPr id="5" name="Picture 4" descr="OSC-Stacked-TM-RGB-1.pn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72687" y="241326"/>
            <a:ext cx="1051734" cy="7517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43751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Fundamental attribution error</a:t>
            </a:r>
            <a:endParaRPr lang="en-US" dirty="0"/>
          </a:p>
        </p:txBody>
      </p:sp>
      <p:pic>
        <p:nvPicPr>
          <p:cNvPr id="2" name="Picture Placeholder 1" descr="CNX_Psych_12_01_quizshow.jpg"/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36121" r="-36121"/>
          <a:stretch>
            <a:fillRect/>
          </a:stretch>
        </p:blipFill>
        <p:spPr>
          <a:xfrm>
            <a:off x="3786036" y="3426262"/>
            <a:ext cx="6524376" cy="2832199"/>
          </a:xfrm>
        </p:spPr>
      </p:pic>
      <p:sp>
        <p:nvSpPr>
          <p:cNvPr id="7" name="Text Placeholder 6"/>
          <p:cNvSpPr>
            <a:spLocks noGrp="1"/>
          </p:cNvSpPr>
          <p:nvPr>
            <p:ph type="body" sz="quarter" idx="14"/>
          </p:nvPr>
        </p:nvSpPr>
        <p:spPr>
          <a:xfrm>
            <a:off x="5066674" y="6352880"/>
            <a:ext cx="3963101" cy="503110"/>
          </a:xfrm>
        </p:spPr>
        <p:txBody>
          <a:bodyPr>
            <a:normAutofit/>
          </a:bodyPr>
          <a:lstStyle/>
          <a:p>
            <a:r>
              <a:rPr lang="en-US" sz="1400" smtClean="0"/>
              <a:t>Figure </a:t>
            </a:r>
            <a:r>
              <a:rPr lang="en-US" sz="1400" dirty="0" smtClean="0"/>
              <a:t>12.3 (</a:t>
            </a:r>
            <a:r>
              <a:rPr lang="en-US" sz="1400" dirty="0"/>
              <a:t>credit: Steve </a:t>
            </a:r>
            <a:r>
              <a:rPr lang="en-US" sz="1400" dirty="0" err="1"/>
              <a:t>Jurvetson</a:t>
            </a:r>
            <a:r>
              <a:rPr lang="en-US" sz="1400" dirty="0"/>
              <a:t>)</a:t>
            </a:r>
          </a:p>
        </p:txBody>
      </p:sp>
      <p:pic>
        <p:nvPicPr>
          <p:cNvPr id="8" name="Picture 7" descr="OSC-Stacked-TM-RGB-1.png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72687" y="241326"/>
            <a:ext cx="1051734" cy="75170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6222" y="1087454"/>
            <a:ext cx="8064709" cy="28725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480"/>
              </a:spcBef>
              <a:spcAft>
                <a:spcPts val="600"/>
              </a:spcAft>
            </a:pPr>
            <a:r>
              <a:rPr lang="en-US" sz="1600" b="1" dirty="0" smtClean="0"/>
              <a:t>Fundamental attribution error </a:t>
            </a:r>
            <a:r>
              <a:rPr lang="mr-IN" sz="1600" dirty="0" smtClean="0"/>
              <a:t>–</a:t>
            </a:r>
            <a:r>
              <a:rPr lang="en-US" sz="1600" dirty="0" smtClean="0"/>
              <a:t> tendency to overemphasize internal factors as explanations/attributions for the behavior of other people and underestimate the power of the situation.</a:t>
            </a:r>
          </a:p>
          <a:p>
            <a:pPr marL="285750" indent="-285750">
              <a:spcBef>
                <a:spcPts val="480"/>
              </a:spcBef>
              <a:spcAft>
                <a:spcPts val="600"/>
              </a:spcAft>
              <a:buClr>
                <a:srgbClr val="6CB255"/>
              </a:buClr>
              <a:buFont typeface="Arial" charset="0"/>
              <a:buChar char="•"/>
            </a:pPr>
            <a:r>
              <a:rPr lang="en-US" sz="1600" dirty="0" smtClean="0"/>
              <a:t>People tend to fail to recognize when a person’s behavior is due to situational variables.</a:t>
            </a:r>
          </a:p>
          <a:p>
            <a:pPr>
              <a:spcBef>
                <a:spcPts val="480"/>
              </a:spcBef>
              <a:spcAft>
                <a:spcPts val="600"/>
              </a:spcAft>
            </a:pPr>
            <a:r>
              <a:rPr lang="en-US" sz="1600" b="1" dirty="0"/>
              <a:t>Quizmaster Study:</a:t>
            </a:r>
            <a:endParaRPr lang="en-US" sz="1600" dirty="0"/>
          </a:p>
          <a:p>
            <a:pPr marL="285750" indent="-285750">
              <a:spcBef>
                <a:spcPts val="480"/>
              </a:spcBef>
              <a:spcAft>
                <a:spcPts val="600"/>
              </a:spcAft>
              <a:buClr>
                <a:srgbClr val="6CB255"/>
              </a:buClr>
              <a:buFont typeface="Arial" charset="0"/>
              <a:buChar char="•"/>
            </a:pPr>
            <a:r>
              <a:rPr lang="en-US" sz="1600" dirty="0"/>
              <a:t>Participants were randomly assigned to play the role of either the questioner or participant.</a:t>
            </a:r>
          </a:p>
          <a:p>
            <a:pPr>
              <a:spcBef>
                <a:spcPts val="480"/>
              </a:spcBef>
              <a:spcAft>
                <a:spcPts val="600"/>
              </a:spcAft>
            </a:pPr>
            <a:endParaRPr lang="en-US" sz="1600" dirty="0" smtClean="0"/>
          </a:p>
        </p:txBody>
      </p:sp>
      <p:sp>
        <p:nvSpPr>
          <p:cNvPr id="6" name="TextBox 5"/>
          <p:cNvSpPr txBox="1"/>
          <p:nvPr/>
        </p:nvSpPr>
        <p:spPr>
          <a:xfrm>
            <a:off x="576222" y="3374158"/>
            <a:ext cx="4490452" cy="23442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480"/>
              </a:spcBef>
              <a:spcAft>
                <a:spcPts val="600"/>
              </a:spcAft>
              <a:buClr>
                <a:srgbClr val="6CB255"/>
              </a:buClr>
              <a:buFont typeface="Arial" charset="0"/>
              <a:buChar char="•"/>
            </a:pPr>
            <a:r>
              <a:rPr lang="en-US" sz="1600" dirty="0" smtClean="0"/>
              <a:t>Questioners developed difficult questions to which they knew the answers.</a:t>
            </a:r>
          </a:p>
          <a:p>
            <a:pPr marL="285750" indent="-285750">
              <a:spcBef>
                <a:spcPts val="480"/>
              </a:spcBef>
              <a:spcAft>
                <a:spcPts val="600"/>
              </a:spcAft>
              <a:buClr>
                <a:srgbClr val="6CB255"/>
              </a:buClr>
              <a:buFont typeface="Arial" charset="0"/>
              <a:buChar char="•"/>
            </a:pPr>
            <a:r>
              <a:rPr lang="en-US" sz="1600" dirty="0" smtClean="0"/>
              <a:t>Participants answered questions correctly 4/10 times.</a:t>
            </a:r>
          </a:p>
          <a:p>
            <a:pPr marL="285750" indent="-285750">
              <a:spcBef>
                <a:spcPts val="480"/>
              </a:spcBef>
              <a:spcAft>
                <a:spcPts val="600"/>
              </a:spcAft>
              <a:buClr>
                <a:srgbClr val="6CB255"/>
              </a:buClr>
              <a:buFont typeface="Arial" charset="0"/>
              <a:buChar char="•"/>
            </a:pPr>
            <a:r>
              <a:rPr lang="en-US" sz="1600" dirty="0" smtClean="0"/>
              <a:t>Participants </a:t>
            </a:r>
            <a:r>
              <a:rPr lang="en-US" sz="1600" dirty="0"/>
              <a:t>tended to disregard the influence of the situation and wrongly concluded that a questioner’s knowledge was greater than their own.</a:t>
            </a:r>
          </a:p>
        </p:txBody>
      </p:sp>
    </p:spTree>
    <p:extLst>
      <p:ext uri="{BB962C8B-B14F-4D97-AF65-F5344CB8AC3E}">
        <p14:creationId xmlns:p14="http://schemas.microsoft.com/office/powerpoint/2010/main" val="12779472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457200" y="241326"/>
            <a:ext cx="8062912" cy="751709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Is the fundamental attribution error</a:t>
            </a:r>
            <a:br>
              <a:rPr lang="en-US" dirty="0" smtClean="0"/>
            </a:br>
            <a:r>
              <a:rPr lang="en-US" smtClean="0"/>
              <a:t>a universal phenomenon?</a:t>
            </a:r>
            <a:endParaRPr lang="en-US" dirty="0"/>
          </a:p>
        </p:txBody>
      </p:sp>
      <p:pic>
        <p:nvPicPr>
          <p:cNvPr id="2" name="Picture Placeholder 1" descr="CNX_Psych_12_01_cultures.jpg"/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37177" b="-37177"/>
          <a:stretch>
            <a:fillRect/>
          </a:stretch>
        </p:blipFill>
        <p:spPr>
          <a:xfrm>
            <a:off x="457199" y="3058125"/>
            <a:ext cx="8062913" cy="3500071"/>
          </a:xfrm>
        </p:spPr>
      </p:pic>
      <p:sp>
        <p:nvSpPr>
          <p:cNvPr id="7" name="Text Placeholder 6"/>
          <p:cNvSpPr>
            <a:spLocks noGrp="1"/>
          </p:cNvSpPr>
          <p:nvPr>
            <p:ph type="body" sz="quarter" idx="14"/>
          </p:nvPr>
        </p:nvSpPr>
        <p:spPr>
          <a:xfrm>
            <a:off x="457199" y="1343910"/>
            <a:ext cx="8367222" cy="2328679"/>
          </a:xfrm>
        </p:spPr>
        <p:txBody>
          <a:bodyPr>
            <a:normAutofit/>
          </a:bodyPr>
          <a:lstStyle/>
          <a:p>
            <a:pPr>
              <a:spcBef>
                <a:spcPts val="480"/>
              </a:spcBef>
            </a:pPr>
            <a:r>
              <a:rPr lang="en-US" sz="1600" dirty="0" smtClean="0"/>
              <a:t>Research suggests that people from an individualistic culture have the greatest tendency to commit the fundamental attribution error.</a:t>
            </a:r>
          </a:p>
          <a:p>
            <a:pPr>
              <a:spcBef>
                <a:spcPts val="480"/>
              </a:spcBef>
            </a:pPr>
            <a:r>
              <a:rPr lang="en-US" sz="1600" dirty="0" smtClean="0"/>
              <a:t>People from collectivistic cultures, such as some Asian cultures, are more likely to emphasize relationships with others than to focus primarily on the individual. Focusing on others provides a broader perspective including both situation and cultural influences.</a:t>
            </a:r>
          </a:p>
          <a:p>
            <a:pPr>
              <a:spcBef>
                <a:spcPts val="480"/>
              </a:spcBef>
            </a:pPr>
            <a:r>
              <a:rPr lang="en-US" sz="1600" dirty="0" smtClean="0"/>
              <a:t>Activities such as </a:t>
            </a:r>
            <a:r>
              <a:rPr lang="en-US" sz="1600" dirty="0" smtClean="0">
                <a:solidFill>
                  <a:srgbClr val="6CB255"/>
                </a:solidFill>
              </a:rPr>
              <a:t>(a) </a:t>
            </a:r>
            <a:r>
              <a:rPr lang="en-US" sz="1600" dirty="0" smtClean="0"/>
              <a:t>preparing a meal, </a:t>
            </a:r>
            <a:r>
              <a:rPr lang="en-US" sz="1600" dirty="0" smtClean="0">
                <a:solidFill>
                  <a:srgbClr val="6CB255"/>
                </a:solidFill>
              </a:rPr>
              <a:t>(b) </a:t>
            </a:r>
            <a:r>
              <a:rPr lang="en-US" sz="1600" dirty="0" smtClean="0"/>
              <a:t>hanging out, and </a:t>
            </a:r>
            <a:r>
              <a:rPr lang="en-US" sz="1600" dirty="0" smtClean="0">
                <a:solidFill>
                  <a:srgbClr val="6CB255"/>
                </a:solidFill>
              </a:rPr>
              <a:t>(c) </a:t>
            </a:r>
            <a:r>
              <a:rPr lang="en-US" sz="1600" dirty="0" smtClean="0"/>
              <a:t>playing a game engage people in a group. </a:t>
            </a:r>
          </a:p>
        </p:txBody>
      </p:sp>
      <p:pic>
        <p:nvPicPr>
          <p:cNvPr id="8" name="Picture 7" descr="OSC-Stacked-TM-RGB-1.png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72687" y="241326"/>
            <a:ext cx="1051734" cy="75170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83066" y="6190246"/>
            <a:ext cx="7315488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 dirty="0"/>
              <a:t>Figure 12.4 (credit a: modification of work by Arian </a:t>
            </a:r>
            <a:r>
              <a:rPr lang="en-US" sz="1300" dirty="0" err="1"/>
              <a:t>Zwegers</a:t>
            </a:r>
            <a:r>
              <a:rPr lang="en-US" sz="1300" dirty="0"/>
              <a:t>; credit b: modification of work by "conbon33"/Flickr; credit c: modification of work by Anja </a:t>
            </a:r>
            <a:r>
              <a:rPr lang="en-US" sz="1300" dirty="0" err="1"/>
              <a:t>Disseldorp</a:t>
            </a:r>
            <a:r>
              <a:rPr lang="en-US" sz="1300" dirty="0" smtClean="0"/>
              <a:t>)</a:t>
            </a: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26260232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Actor-observer bias</a:t>
            </a:r>
            <a:endParaRPr lang="en-US" dirty="0"/>
          </a:p>
        </p:txBody>
      </p:sp>
      <p:pic>
        <p:nvPicPr>
          <p:cNvPr id="2" name="Picture Placeholder 1" descr="CNX_Psych_12_01_biasgraph.jpg"/>
          <p:cNvPicPr>
            <a:picLocks noGrp="1" noChangeAspect="1"/>
          </p:cNvPicPr>
          <p:nvPr>
            <p:ph type="pic" sz="quarter" idx="13"/>
          </p:nvPr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3708" r="-43708"/>
          <a:stretch>
            <a:fillRect/>
          </a:stretch>
        </p:blipFill>
        <p:spPr>
          <a:xfrm>
            <a:off x="2998033" y="3095956"/>
            <a:ext cx="7560742" cy="3282081"/>
          </a:xfrm>
        </p:spPr>
      </p:pic>
      <p:sp>
        <p:nvSpPr>
          <p:cNvPr id="7" name="Text Placeholder 6"/>
          <p:cNvSpPr>
            <a:spLocks noGrp="1"/>
          </p:cNvSpPr>
          <p:nvPr>
            <p:ph type="body" sz="quarter" idx="14"/>
          </p:nvPr>
        </p:nvSpPr>
        <p:spPr>
          <a:xfrm>
            <a:off x="457200" y="1188413"/>
            <a:ext cx="8367221" cy="1890723"/>
          </a:xfrm>
        </p:spPr>
        <p:txBody>
          <a:bodyPr>
            <a:normAutofit/>
          </a:bodyPr>
          <a:lstStyle/>
          <a:p>
            <a:pPr>
              <a:spcBef>
                <a:spcPts val="480"/>
              </a:spcBef>
            </a:pPr>
            <a:r>
              <a:rPr lang="en-US" sz="1600" b="1" dirty="0" smtClean="0"/>
              <a:t>Actor-observer bias </a:t>
            </a:r>
            <a:r>
              <a:rPr lang="mr-IN" sz="1600" dirty="0" smtClean="0"/>
              <a:t>–</a:t>
            </a:r>
            <a:r>
              <a:rPr lang="en-US" sz="1600" dirty="0" smtClean="0"/>
              <a:t> phenomenon of explaining other people’s behaviors are due to internal factors and our own behaviors are due to situational forces.</a:t>
            </a:r>
          </a:p>
          <a:p>
            <a:pPr marL="285750" indent="-285750">
              <a:spcBef>
                <a:spcPts val="480"/>
              </a:spcBef>
              <a:buFont typeface="Arial" charset="0"/>
              <a:buChar char="•"/>
            </a:pPr>
            <a:r>
              <a:rPr lang="en-US" sz="1600" dirty="0"/>
              <a:t>We often make the fundamental attribution error because we do not have enough information to make a situational explanation about the person’s behavior.</a:t>
            </a:r>
          </a:p>
          <a:p>
            <a:pPr marL="285750" indent="-285750">
              <a:spcBef>
                <a:spcPts val="480"/>
              </a:spcBef>
              <a:buFont typeface="Arial" charset="0"/>
              <a:buChar char="•"/>
            </a:pPr>
            <a:r>
              <a:rPr lang="en-US" sz="1600" dirty="0"/>
              <a:t>However, when we explain our own behaviors, we have more information available and are more likely to make situational explanations</a:t>
            </a:r>
            <a:r>
              <a:rPr lang="en-US" sz="1600" dirty="0" smtClean="0"/>
              <a:t>.</a:t>
            </a:r>
            <a:endParaRPr lang="en-US" sz="1600" dirty="0"/>
          </a:p>
        </p:txBody>
      </p:sp>
      <p:pic>
        <p:nvPicPr>
          <p:cNvPr id="8" name="Picture 7" descr="OSC-Stacked-TM-RGB-1.png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72687" y="241326"/>
            <a:ext cx="1051734" cy="75170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661782" y="6340839"/>
            <a:ext cx="1027113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 dirty="0"/>
              <a:t>Figure 12.5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102108"/>
            <a:ext cx="4204741" cy="21903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384"/>
              </a:spcBef>
              <a:spcAft>
                <a:spcPts val="600"/>
              </a:spcAft>
            </a:pPr>
            <a:r>
              <a:rPr lang="en-US" sz="1600" dirty="0" smtClean="0"/>
              <a:t>One study investigated reasons male participants gave for why they liked their girlfriend.</a:t>
            </a:r>
          </a:p>
          <a:p>
            <a:pPr>
              <a:spcBef>
                <a:spcPts val="384"/>
              </a:spcBef>
              <a:spcAft>
                <a:spcPts val="600"/>
              </a:spcAft>
            </a:pPr>
            <a:r>
              <a:rPr lang="en-US" sz="1600" dirty="0" smtClean="0"/>
              <a:t>Actor-observer </a:t>
            </a:r>
            <a:r>
              <a:rPr lang="en-US" sz="1600" dirty="0"/>
              <a:t>bias is evident when subjects explain their own reasons for liking a </a:t>
            </a:r>
            <a:r>
              <a:rPr lang="en-US" sz="1600" dirty="0" smtClean="0"/>
              <a:t>girlfriend (e.g., her personality) versus </a:t>
            </a:r>
            <a:r>
              <a:rPr lang="en-US" sz="1600" dirty="0"/>
              <a:t>their impressions of others’ reasons for liking a </a:t>
            </a:r>
            <a:r>
              <a:rPr lang="en-US" sz="1600" dirty="0" smtClean="0"/>
              <a:t>girlfriend.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48877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Self-serving bias – De Michele et. Al.</a:t>
            </a:r>
            <a:endParaRPr lang="en-US" dirty="0"/>
          </a:p>
        </p:txBody>
      </p:sp>
      <p:pic>
        <p:nvPicPr>
          <p:cNvPr id="2" name="Picture Placeholder 1" descr="CNX_Psych_12_01_winning.jpg"/>
          <p:cNvPicPr>
            <a:picLocks noGrp="1" noChangeAspect="1"/>
          </p:cNvPicPr>
          <p:nvPr>
            <p:ph type="pic" sz="quarter" idx="13"/>
          </p:nvPr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1900" r="-21900"/>
          <a:stretch>
            <a:fillRect/>
          </a:stretch>
        </p:blipFill>
        <p:spPr>
          <a:xfrm>
            <a:off x="4350844" y="2905939"/>
            <a:ext cx="5383109" cy="2486645"/>
          </a:xfrm>
        </p:spPr>
      </p:pic>
      <p:sp>
        <p:nvSpPr>
          <p:cNvPr id="7" name="Text Placeholder 6"/>
          <p:cNvSpPr>
            <a:spLocks noGrp="1"/>
          </p:cNvSpPr>
          <p:nvPr>
            <p:ph type="body" sz="quarter" idx="14"/>
          </p:nvPr>
        </p:nvSpPr>
        <p:spPr>
          <a:xfrm>
            <a:off x="465593" y="1044906"/>
            <a:ext cx="8358828" cy="2398292"/>
          </a:xfrm>
        </p:spPr>
        <p:txBody>
          <a:bodyPr>
            <a:normAutofit/>
          </a:bodyPr>
          <a:lstStyle/>
          <a:p>
            <a:pPr>
              <a:spcBef>
                <a:spcPts val="300"/>
              </a:spcBef>
              <a:spcAft>
                <a:spcPts val="500"/>
              </a:spcAft>
            </a:pPr>
            <a:r>
              <a:rPr lang="en-US" sz="1600" b="1" dirty="0" smtClean="0"/>
              <a:t>Self-serving bias </a:t>
            </a:r>
            <a:r>
              <a:rPr lang="mr-IN" sz="1600" dirty="0" smtClean="0"/>
              <a:t>–</a:t>
            </a:r>
            <a:r>
              <a:rPr lang="en-US" sz="1600" dirty="0" smtClean="0"/>
              <a:t> tendency of an individual to take credit by making dispositional or internal attributions for positive outcomes but situational or external attributions for negative outcomes.</a:t>
            </a:r>
          </a:p>
          <a:p>
            <a:pPr marL="285750" indent="-285750">
              <a:spcBef>
                <a:spcPts val="300"/>
              </a:spcBef>
              <a:spcAft>
                <a:spcPts val="500"/>
              </a:spcAft>
              <a:buFont typeface="Arial" charset="0"/>
              <a:buChar char="•"/>
            </a:pPr>
            <a:r>
              <a:rPr lang="en-US" sz="1600" dirty="0" smtClean="0"/>
              <a:t>Protects self-esteem - allows people to feel good about their accomplishments.</a:t>
            </a:r>
          </a:p>
          <a:p>
            <a:pPr>
              <a:spcBef>
                <a:spcPts val="300"/>
              </a:spcBef>
              <a:spcAft>
                <a:spcPts val="500"/>
              </a:spcAft>
            </a:pPr>
            <a:r>
              <a:rPr lang="en-US" sz="1600" b="1" dirty="0" smtClean="0"/>
              <a:t>Attribution</a:t>
            </a:r>
            <a:r>
              <a:rPr lang="en-US" sz="1600" dirty="0" smtClean="0"/>
              <a:t> </a:t>
            </a:r>
            <a:r>
              <a:rPr lang="mr-IN" sz="1600" dirty="0" smtClean="0"/>
              <a:t>–</a:t>
            </a:r>
            <a:r>
              <a:rPr lang="en-US" sz="1600" dirty="0" smtClean="0"/>
              <a:t> a belief about the cause of a result.</a:t>
            </a:r>
          </a:p>
          <a:p>
            <a:pPr>
              <a:spcBef>
                <a:spcPts val="300"/>
              </a:spcBef>
              <a:spcAft>
                <a:spcPts val="500"/>
              </a:spcAft>
            </a:pPr>
            <a:r>
              <a:rPr lang="en-US" sz="1600" dirty="0"/>
              <a:t>One model of attribution proposes three dimensions.</a:t>
            </a:r>
          </a:p>
          <a:p>
            <a:pPr>
              <a:spcBef>
                <a:spcPts val="300"/>
              </a:spcBef>
              <a:spcAft>
                <a:spcPts val="500"/>
              </a:spcAft>
            </a:pPr>
            <a:endParaRPr lang="en-US" sz="1600" dirty="0" smtClean="0"/>
          </a:p>
        </p:txBody>
      </p:sp>
      <p:pic>
        <p:nvPicPr>
          <p:cNvPr id="8" name="Picture 7" descr="OSC-Stacked-TM-RGB-1.png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72687" y="241326"/>
            <a:ext cx="1051734" cy="75170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72677" y="5529095"/>
            <a:ext cx="3261461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 dirty="0"/>
              <a:t>Figure 12.6 (</a:t>
            </a:r>
            <a:r>
              <a:rPr lang="en-US" sz="1300" dirty="0" err="1"/>
              <a:t>Roesch</a:t>
            </a:r>
            <a:r>
              <a:rPr lang="en-US" sz="1300" dirty="0"/>
              <a:t> &amp; </a:t>
            </a:r>
            <a:r>
              <a:rPr lang="en-US" sz="1300" dirty="0" err="1"/>
              <a:t>Amirkham</a:t>
            </a:r>
            <a:r>
              <a:rPr lang="en-US" sz="1300" dirty="0"/>
              <a:t>, 1997). (credit: "</a:t>
            </a:r>
            <a:r>
              <a:rPr lang="en-US" sz="1300" dirty="0" err="1"/>
              <a:t>TheAHL</a:t>
            </a:r>
            <a:r>
              <a:rPr lang="en-US" sz="1300" dirty="0"/>
              <a:t>"/Flickr</a:t>
            </a:r>
            <a:r>
              <a:rPr lang="en-US" sz="1300" dirty="0" smtClean="0"/>
              <a:t>)</a:t>
            </a:r>
            <a:endParaRPr lang="en-US" sz="1300" dirty="0"/>
          </a:p>
        </p:txBody>
      </p:sp>
      <p:sp>
        <p:nvSpPr>
          <p:cNvPr id="4" name="TextBox 3"/>
          <p:cNvSpPr txBox="1"/>
          <p:nvPr/>
        </p:nvSpPr>
        <p:spPr>
          <a:xfrm>
            <a:off x="457199" y="2986758"/>
            <a:ext cx="4834329" cy="47500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spcBef>
                <a:spcPts val="300"/>
              </a:spcBef>
              <a:spcAft>
                <a:spcPts val="500"/>
              </a:spcAft>
              <a:buClr>
                <a:srgbClr val="6CB255"/>
              </a:buClr>
              <a:buFont typeface="+mj-lt"/>
              <a:buAutoNum type="arabicPeriod"/>
            </a:pPr>
            <a:r>
              <a:rPr lang="en-US" sz="1600" b="1" dirty="0" smtClean="0"/>
              <a:t>Locus of control </a:t>
            </a:r>
            <a:r>
              <a:rPr lang="mr-IN" sz="1600" dirty="0" smtClean="0"/>
              <a:t>–</a:t>
            </a:r>
            <a:r>
              <a:rPr lang="en-US" sz="1600" dirty="0" smtClean="0"/>
              <a:t> internal vs external.</a:t>
            </a:r>
          </a:p>
          <a:p>
            <a:pPr marL="342900" indent="-342900">
              <a:spcBef>
                <a:spcPts val="300"/>
              </a:spcBef>
              <a:spcAft>
                <a:spcPts val="500"/>
              </a:spcAft>
              <a:buClr>
                <a:srgbClr val="6CB255"/>
              </a:buClr>
              <a:buFont typeface="+mj-lt"/>
              <a:buAutoNum type="arabicPeriod"/>
            </a:pPr>
            <a:r>
              <a:rPr lang="en-US" sz="1600" b="1" dirty="0" smtClean="0"/>
              <a:t>Stability</a:t>
            </a:r>
            <a:r>
              <a:rPr lang="en-US" sz="1600" dirty="0" smtClean="0"/>
              <a:t> </a:t>
            </a:r>
            <a:r>
              <a:rPr lang="mr-IN" sz="1600" dirty="0" smtClean="0"/>
              <a:t>–</a:t>
            </a:r>
            <a:r>
              <a:rPr lang="en-US" sz="1600" dirty="0" smtClean="0"/>
              <a:t>extent to which the circumstances are changeable.</a:t>
            </a:r>
          </a:p>
          <a:p>
            <a:pPr marL="342900" indent="-342900">
              <a:spcBef>
                <a:spcPts val="300"/>
              </a:spcBef>
              <a:spcAft>
                <a:spcPts val="500"/>
              </a:spcAft>
              <a:buClr>
                <a:srgbClr val="6CB255"/>
              </a:buClr>
              <a:buFont typeface="+mj-lt"/>
              <a:buAutoNum type="arabicPeriod"/>
            </a:pPr>
            <a:r>
              <a:rPr lang="en-US" sz="1600" b="1" dirty="0" smtClean="0"/>
              <a:t>Controllability</a:t>
            </a:r>
            <a:r>
              <a:rPr lang="en-US" sz="1600" dirty="0" smtClean="0"/>
              <a:t> </a:t>
            </a:r>
            <a:r>
              <a:rPr lang="mr-IN" sz="1600" dirty="0" smtClean="0"/>
              <a:t>–</a:t>
            </a:r>
            <a:r>
              <a:rPr lang="en-US" sz="1600" dirty="0" smtClean="0"/>
              <a:t> extent to which the circumstances can be controlled.</a:t>
            </a:r>
          </a:p>
          <a:p>
            <a:pPr marL="285750" indent="-285750">
              <a:spcBef>
                <a:spcPts val="300"/>
              </a:spcBef>
              <a:spcAft>
                <a:spcPts val="500"/>
              </a:spcAft>
              <a:buClr>
                <a:srgbClr val="6CB255"/>
              </a:buClr>
              <a:buFont typeface="Arial" charset="0"/>
              <a:buChar char="•"/>
            </a:pPr>
            <a:r>
              <a:rPr lang="en-US" sz="1600" dirty="0" smtClean="0"/>
              <a:t>When our team wins we make attributions such as it’s talented (internal), works hard (stable), and uses effective strategies (controllable).</a:t>
            </a:r>
          </a:p>
          <a:p>
            <a:pPr marL="285750" indent="-285750">
              <a:spcBef>
                <a:spcPts val="300"/>
              </a:spcBef>
              <a:spcAft>
                <a:spcPts val="500"/>
              </a:spcAft>
              <a:buClr>
                <a:srgbClr val="6CB255"/>
              </a:buClr>
              <a:buFont typeface="Arial" charset="0"/>
              <a:buChar char="•"/>
            </a:pPr>
            <a:r>
              <a:rPr lang="en-US" sz="1600" dirty="0" smtClean="0"/>
              <a:t>When our team loses we might say the other team has more experienced players (external), the other team played at home (unstable), and the weather affected our teams performance (uncontrollable).</a:t>
            </a:r>
          </a:p>
          <a:p>
            <a:pPr marL="285750" indent="-285750">
              <a:spcBef>
                <a:spcPts val="300"/>
              </a:spcBef>
              <a:spcAft>
                <a:spcPts val="500"/>
              </a:spcAft>
              <a:buClr>
                <a:srgbClr val="6CB255"/>
              </a:buClr>
              <a:buFont typeface="Arial" charset="0"/>
              <a:buChar char="•"/>
            </a:pPr>
            <a:endParaRPr lang="en-US" sz="1600" dirty="0" smtClean="0"/>
          </a:p>
          <a:p>
            <a:pPr marL="285750" indent="-285750">
              <a:spcBef>
                <a:spcPts val="300"/>
              </a:spcBef>
              <a:spcAft>
                <a:spcPts val="500"/>
              </a:spcAft>
              <a:buClr>
                <a:srgbClr val="6CB255"/>
              </a:buClr>
              <a:buFont typeface="Arial" charset="0"/>
              <a:buChar char="•"/>
            </a:pPr>
            <a:endParaRPr lang="en-US" sz="1600" dirty="0" smtClean="0"/>
          </a:p>
          <a:p>
            <a:pPr>
              <a:spcBef>
                <a:spcPts val="300"/>
              </a:spcBef>
              <a:spcAft>
                <a:spcPts val="500"/>
              </a:spcAft>
              <a:buClr>
                <a:srgbClr val="6CB255"/>
              </a:buClr>
            </a:pP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0952481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380198" y="617180"/>
            <a:ext cx="8062912" cy="659535"/>
          </a:xfrm>
        </p:spPr>
        <p:txBody>
          <a:bodyPr/>
          <a:lstStyle/>
          <a:p>
            <a:r>
              <a:rPr lang="en-US" dirty="0" smtClean="0"/>
              <a:t>Kelley’s ‘General model of attribution’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4"/>
          </p:nvPr>
        </p:nvSpPr>
        <p:spPr>
          <a:xfrm>
            <a:off x="457199" y="1647518"/>
            <a:ext cx="8367222" cy="3733004"/>
          </a:xfrm>
        </p:spPr>
        <p:txBody>
          <a:bodyPr>
            <a:normAutofit/>
          </a:bodyPr>
          <a:lstStyle/>
          <a:p>
            <a:pPr>
              <a:spcBef>
                <a:spcPts val="480"/>
              </a:spcBef>
            </a:pPr>
            <a:r>
              <a:rPr lang="en-US" sz="1600" dirty="0" smtClean="0"/>
              <a:t>Need to consider the things before AND after </a:t>
            </a:r>
            <a:r>
              <a:rPr lang="en-US" sz="1600" dirty="0" err="1" smtClean="0"/>
              <a:t>behaviour</a:t>
            </a:r>
            <a:endParaRPr lang="en-US" sz="1600" dirty="0" smtClean="0"/>
          </a:p>
          <a:p>
            <a:pPr>
              <a:spcBef>
                <a:spcPts val="480"/>
              </a:spcBef>
            </a:pPr>
            <a:r>
              <a:rPr lang="en-US" sz="1600" dirty="0" smtClean="0"/>
              <a:t>Antecedents</a:t>
            </a:r>
          </a:p>
          <a:p>
            <a:pPr>
              <a:spcBef>
                <a:spcPts val="480"/>
              </a:spcBef>
            </a:pPr>
            <a:r>
              <a:rPr lang="en-US" sz="1600" dirty="0" smtClean="0"/>
              <a:t>Attributions</a:t>
            </a:r>
          </a:p>
          <a:p>
            <a:pPr>
              <a:spcBef>
                <a:spcPts val="480"/>
              </a:spcBef>
            </a:pPr>
            <a:r>
              <a:rPr lang="en-US" sz="1600" dirty="0" smtClean="0"/>
              <a:t>Consequences</a:t>
            </a:r>
          </a:p>
          <a:p>
            <a:pPr>
              <a:spcBef>
                <a:spcPts val="480"/>
              </a:spcBef>
            </a:pPr>
            <a:endParaRPr lang="en-US" sz="1600" dirty="0"/>
          </a:p>
          <a:p>
            <a:pPr>
              <a:spcBef>
                <a:spcPts val="480"/>
              </a:spcBef>
            </a:pPr>
            <a:r>
              <a:rPr lang="en-US" sz="1600" dirty="0" smtClean="0"/>
              <a:t>Look at the personal, time and situation factors</a:t>
            </a:r>
          </a:p>
          <a:p>
            <a:pPr>
              <a:spcBef>
                <a:spcPts val="480"/>
              </a:spcBef>
            </a:pPr>
            <a:endParaRPr lang="en-US" sz="1600" dirty="0"/>
          </a:p>
          <a:p>
            <a:pPr>
              <a:spcBef>
                <a:spcPts val="480"/>
              </a:spcBef>
            </a:pPr>
            <a:r>
              <a:rPr lang="en-US" sz="1600" dirty="0" err="1" smtClean="0"/>
              <a:t>Maths</a:t>
            </a:r>
            <a:r>
              <a:rPr lang="en-US" sz="1600" dirty="0" smtClean="0"/>
              <a:t> test example</a:t>
            </a:r>
          </a:p>
        </p:txBody>
      </p:sp>
      <p:pic>
        <p:nvPicPr>
          <p:cNvPr id="8" name="Picture 7" descr="OSC-Stacked-TM-RGB-1.pn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72687" y="241326"/>
            <a:ext cx="1051734" cy="7517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60729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Just world hypothesis</a:t>
            </a:r>
            <a:endParaRPr lang="en-US" dirty="0"/>
          </a:p>
        </p:txBody>
      </p:sp>
      <p:pic>
        <p:nvPicPr>
          <p:cNvPr id="2" name="Picture Placeholder 1" descr="CNX_Psych_12_01_homeless.jpg"/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7969" r="-27969"/>
          <a:stretch>
            <a:fillRect/>
          </a:stretch>
        </p:blipFill>
        <p:spPr>
          <a:xfrm>
            <a:off x="1678948" y="4120843"/>
            <a:ext cx="5252204" cy="2279956"/>
          </a:xfrm>
        </p:spPr>
      </p:pic>
      <p:sp>
        <p:nvSpPr>
          <p:cNvPr id="7" name="Text Placeholder 6"/>
          <p:cNvSpPr>
            <a:spLocks noGrp="1"/>
          </p:cNvSpPr>
          <p:nvPr>
            <p:ph type="body" sz="quarter" idx="14"/>
          </p:nvPr>
        </p:nvSpPr>
        <p:spPr>
          <a:xfrm>
            <a:off x="457199" y="1169231"/>
            <a:ext cx="8367222" cy="3162925"/>
          </a:xfrm>
        </p:spPr>
        <p:txBody>
          <a:bodyPr>
            <a:normAutofit/>
          </a:bodyPr>
          <a:lstStyle/>
          <a:p>
            <a:pPr>
              <a:spcBef>
                <a:spcPts val="480"/>
              </a:spcBef>
            </a:pPr>
            <a:r>
              <a:rPr lang="en-US" sz="1600" dirty="0" smtClean="0"/>
              <a:t>A consequence of the tendency to provide dispositional explanations for behavior is victim blame.</a:t>
            </a:r>
          </a:p>
          <a:p>
            <a:pPr>
              <a:spcBef>
                <a:spcPts val="480"/>
              </a:spcBef>
            </a:pPr>
            <a:r>
              <a:rPr lang="en-US" sz="1600" b="1" dirty="0" smtClean="0"/>
              <a:t>Just-world hypothesis </a:t>
            </a:r>
            <a:r>
              <a:rPr lang="mr-IN" sz="1600" dirty="0" smtClean="0"/>
              <a:t>–</a:t>
            </a:r>
            <a:r>
              <a:rPr lang="en-US" sz="1600" dirty="0" smtClean="0"/>
              <a:t> belief that people get the outcomes they deserve.</a:t>
            </a:r>
          </a:p>
          <a:p>
            <a:pPr marL="285750" indent="-285750">
              <a:spcBef>
                <a:spcPts val="480"/>
              </a:spcBef>
              <a:buFont typeface="Arial" charset="0"/>
              <a:buChar char="•"/>
            </a:pPr>
            <a:r>
              <a:rPr lang="en-US" sz="1600" dirty="0" smtClean="0"/>
              <a:t>Based on the belief that the world is a fair place and therefore good people experience positive outcomes, and bad people experience negative outcomes.</a:t>
            </a:r>
          </a:p>
          <a:p>
            <a:pPr marL="285750" indent="-285750">
              <a:spcBef>
                <a:spcPts val="480"/>
              </a:spcBef>
              <a:buFont typeface="Arial" charset="0"/>
              <a:buChar char="•"/>
            </a:pPr>
            <a:r>
              <a:rPr lang="en-US" sz="1600" dirty="0" smtClean="0"/>
              <a:t>Allows people to feel that the world is predictable and we have some control over life outcomes.</a:t>
            </a:r>
          </a:p>
          <a:p>
            <a:pPr>
              <a:spcBef>
                <a:spcPts val="480"/>
              </a:spcBef>
            </a:pPr>
            <a:r>
              <a:rPr lang="en-US" sz="1600" dirty="0" smtClean="0"/>
              <a:t>People </a:t>
            </a:r>
            <a:r>
              <a:rPr lang="en-US" sz="1600" dirty="0"/>
              <a:t>who hold just-world beliefs tend to blame the people in poverty for their circumstances, </a:t>
            </a:r>
            <a:r>
              <a:rPr lang="en-US" sz="1600" dirty="0" smtClean="0"/>
              <a:t>ignoring situational </a:t>
            </a:r>
            <a:r>
              <a:rPr lang="en-US" sz="1600" dirty="0"/>
              <a:t>and cultural causes of poverty. </a:t>
            </a:r>
            <a:endParaRPr lang="en-US" sz="1600" dirty="0" smtClean="0"/>
          </a:p>
        </p:txBody>
      </p:sp>
      <p:pic>
        <p:nvPicPr>
          <p:cNvPr id="8" name="Picture 7" descr="OSC-Stacked-TM-RGB-1.png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72687" y="241326"/>
            <a:ext cx="1051734" cy="75170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848132" y="6400799"/>
            <a:ext cx="2728210" cy="2923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 dirty="0"/>
              <a:t>Figure 12.7 (credit: Adrian Miles</a:t>
            </a:r>
            <a:r>
              <a:rPr lang="en-US" sz="1300" dirty="0" smtClean="0"/>
              <a:t>)</a:t>
            </a: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27800455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380198" y="617180"/>
            <a:ext cx="8062912" cy="659535"/>
          </a:xfrm>
        </p:spPr>
        <p:txBody>
          <a:bodyPr/>
          <a:lstStyle/>
          <a:p>
            <a:r>
              <a:rPr lang="en-US" dirty="0" smtClean="0"/>
              <a:t>Attribution Theory - summary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4"/>
          </p:nvPr>
        </p:nvSpPr>
        <p:spPr>
          <a:xfrm>
            <a:off x="457199" y="1647518"/>
            <a:ext cx="8367222" cy="3733004"/>
          </a:xfrm>
        </p:spPr>
        <p:txBody>
          <a:bodyPr>
            <a:normAutofit/>
          </a:bodyPr>
          <a:lstStyle/>
          <a:p>
            <a:pPr>
              <a:spcBef>
                <a:spcPts val="480"/>
              </a:spcBef>
            </a:pPr>
            <a:r>
              <a:rPr lang="en-US" sz="1600" dirty="0" smtClean="0"/>
              <a:t>Limitations</a:t>
            </a:r>
          </a:p>
          <a:p>
            <a:pPr marL="285750" indent="-285750">
              <a:spcBef>
                <a:spcPts val="480"/>
              </a:spcBef>
              <a:buFont typeface="Arial" panose="020B0604020202020204" pitchFamily="34" charset="0"/>
              <a:buChar char="•"/>
            </a:pPr>
            <a:r>
              <a:rPr lang="en-US" sz="1600" dirty="0" smtClean="0"/>
              <a:t>Prior beliefs e.g. stereotypes not taken into account</a:t>
            </a:r>
          </a:p>
          <a:p>
            <a:pPr marL="285750" indent="-285750">
              <a:spcBef>
                <a:spcPts val="480"/>
              </a:spcBef>
              <a:buFont typeface="Arial" panose="020B0604020202020204" pitchFamily="34" charset="0"/>
              <a:buChar char="•"/>
            </a:pPr>
            <a:r>
              <a:rPr lang="en-US" sz="1600" dirty="0" smtClean="0"/>
              <a:t>Why some people consider more complex explanations than others?</a:t>
            </a:r>
          </a:p>
          <a:p>
            <a:pPr marL="285750" indent="-285750">
              <a:spcBef>
                <a:spcPts val="480"/>
              </a:spcBef>
              <a:buFont typeface="Arial" panose="020B0604020202020204" pitchFamily="34" charset="0"/>
              <a:buChar char="•"/>
            </a:pPr>
            <a:endParaRPr lang="en-US" sz="1600" dirty="0"/>
          </a:p>
          <a:p>
            <a:pPr>
              <a:spcBef>
                <a:spcPts val="480"/>
              </a:spcBef>
            </a:pPr>
            <a:r>
              <a:rPr lang="en-US" sz="1600" dirty="0" smtClean="0"/>
              <a:t>Applications</a:t>
            </a:r>
          </a:p>
          <a:p>
            <a:pPr marL="285750" indent="-285750">
              <a:spcBef>
                <a:spcPts val="480"/>
              </a:spcBef>
              <a:buFont typeface="Arial" panose="020B0604020202020204" pitchFamily="34" charset="0"/>
              <a:buChar char="•"/>
            </a:pPr>
            <a:r>
              <a:rPr lang="en-US" sz="1600" dirty="0" smtClean="0"/>
              <a:t>Negative self-serving bias in patients with depression</a:t>
            </a:r>
          </a:p>
          <a:p>
            <a:pPr marL="285750" indent="-285750">
              <a:spcBef>
                <a:spcPts val="480"/>
              </a:spcBef>
              <a:buFont typeface="Arial" panose="020B0604020202020204" pitchFamily="34" charset="0"/>
              <a:buChar char="•"/>
            </a:pPr>
            <a:r>
              <a:rPr lang="en-US" sz="1600" dirty="0" smtClean="0"/>
              <a:t>Attribution of grades to self-esteem and motivation</a:t>
            </a:r>
          </a:p>
          <a:p>
            <a:pPr marL="285750" indent="-285750">
              <a:spcBef>
                <a:spcPts val="480"/>
              </a:spcBef>
              <a:buFont typeface="Arial" panose="020B0604020202020204" pitchFamily="34" charset="0"/>
              <a:buChar char="•"/>
            </a:pPr>
            <a:r>
              <a:rPr lang="en-US" sz="1600" dirty="0" smtClean="0"/>
              <a:t>Sports psychology</a:t>
            </a:r>
          </a:p>
        </p:txBody>
      </p:sp>
      <p:pic>
        <p:nvPicPr>
          <p:cNvPr id="8" name="Picture 7" descr="OSC-Stacked-TM-RGB-1.pn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72687" y="241326"/>
            <a:ext cx="1051734" cy="7517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02592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>
          <a:xfrm>
            <a:off x="412229" y="1259174"/>
            <a:ext cx="8062912" cy="4586989"/>
          </a:xfrm>
          <a:ln w="76200">
            <a:solidFill>
              <a:srgbClr val="6CB255"/>
            </a:solidFill>
          </a:ln>
        </p:spPr>
        <p:txBody>
          <a:bodyPr>
            <a:normAutofit/>
          </a:bodyPr>
          <a:lstStyle/>
          <a:p>
            <a:pPr algn="ctr"/>
            <a:endParaRPr lang="en-US" sz="3600" b="1" dirty="0" smtClean="0">
              <a:solidFill>
                <a:srgbClr val="6CB255"/>
              </a:solidFill>
            </a:endParaRPr>
          </a:p>
          <a:p>
            <a:pPr algn="ctr"/>
            <a:r>
              <a:rPr lang="en-US" sz="3600" b="1" dirty="0" smtClean="0">
                <a:solidFill>
                  <a:srgbClr val="6CB255"/>
                </a:solidFill>
              </a:rPr>
              <a:t>SELF-PRESENTATION</a:t>
            </a:r>
          </a:p>
          <a:p>
            <a:pPr algn="ctr"/>
            <a:endParaRPr lang="en-US" dirty="0" smtClean="0">
              <a:solidFill>
                <a:srgbClr val="6CB255"/>
              </a:solidFill>
            </a:endParaRPr>
          </a:p>
          <a:p>
            <a:pPr algn="ctr"/>
            <a:r>
              <a:rPr lang="en-US" dirty="0" smtClean="0">
                <a:solidFill>
                  <a:srgbClr val="6CB255"/>
                </a:solidFill>
              </a:rPr>
              <a:t>SOCIAL ROLES</a:t>
            </a:r>
          </a:p>
          <a:p>
            <a:pPr algn="ctr"/>
            <a:r>
              <a:rPr lang="en-US" dirty="0" smtClean="0">
                <a:solidFill>
                  <a:srgbClr val="6CB255"/>
                </a:solidFill>
              </a:rPr>
              <a:t>SOCIAL NORMS</a:t>
            </a:r>
          </a:p>
          <a:p>
            <a:pPr algn="ctr"/>
            <a:r>
              <a:rPr lang="en-US" dirty="0" smtClean="0">
                <a:solidFill>
                  <a:srgbClr val="6CB255"/>
                </a:solidFill>
              </a:rPr>
              <a:t>SCRIPTS</a:t>
            </a:r>
          </a:p>
          <a:p>
            <a:pPr algn="ctr"/>
            <a:r>
              <a:rPr lang="en-US" dirty="0" smtClean="0">
                <a:solidFill>
                  <a:srgbClr val="6CB255"/>
                </a:solidFill>
              </a:rPr>
              <a:t>ZIMBARDO</a:t>
            </a:r>
          </a:p>
        </p:txBody>
      </p:sp>
      <p:pic>
        <p:nvPicPr>
          <p:cNvPr id="5" name="Picture 4" descr="OSC-Stacked-TM-RGB-1.pn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72687" y="241326"/>
            <a:ext cx="1051734" cy="7517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85103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SOCIAL ROLES</a:t>
            </a:r>
            <a:endParaRPr lang="en-US" dirty="0"/>
          </a:p>
        </p:txBody>
      </p:sp>
      <p:pic>
        <p:nvPicPr>
          <p:cNvPr id="2" name="Picture Placeholder 1" descr="CNX_Psych_12_02_classroom.jpg"/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36475" r="-36475"/>
          <a:stretch>
            <a:fillRect/>
          </a:stretch>
        </p:blipFill>
        <p:spPr>
          <a:xfrm>
            <a:off x="3237875" y="2715711"/>
            <a:ext cx="7245808" cy="3145370"/>
          </a:xfrm>
        </p:spPr>
      </p:pic>
      <p:sp>
        <p:nvSpPr>
          <p:cNvPr id="7" name="Text Placeholder 6"/>
          <p:cNvSpPr>
            <a:spLocks noGrp="1"/>
          </p:cNvSpPr>
          <p:nvPr>
            <p:ph type="body" sz="quarter" idx="14"/>
          </p:nvPr>
        </p:nvSpPr>
        <p:spPr>
          <a:xfrm>
            <a:off x="4691921" y="5953255"/>
            <a:ext cx="4132500" cy="717369"/>
          </a:xfrm>
        </p:spPr>
        <p:txBody>
          <a:bodyPr>
            <a:normAutofit fontScale="92500" lnSpcReduction="10000"/>
          </a:bodyPr>
          <a:lstStyle/>
          <a:p>
            <a:r>
              <a:rPr lang="en-US" sz="1300" dirty="0"/>
              <a:t>Being a student is just one of the many social roles you have. </a:t>
            </a:r>
            <a:endParaRPr lang="en-US" sz="1300" dirty="0" smtClean="0"/>
          </a:p>
          <a:p>
            <a:r>
              <a:rPr lang="en-US" sz="1300" dirty="0"/>
              <a:t>Figure </a:t>
            </a:r>
            <a:r>
              <a:rPr lang="en-US" sz="1300" dirty="0" smtClean="0"/>
              <a:t>12.8 (</a:t>
            </a:r>
            <a:r>
              <a:rPr lang="en-US" sz="1300" dirty="0"/>
              <a:t>credit: “University of </a:t>
            </a:r>
            <a:r>
              <a:rPr lang="en-US" sz="1300" dirty="0" smtClean="0"/>
              <a:t>Michigan </a:t>
            </a:r>
            <a:r>
              <a:rPr lang="cs-CZ" sz="1300" dirty="0" smtClean="0"/>
              <a:t>MSIS</a:t>
            </a:r>
            <a:r>
              <a:rPr lang="cs-CZ" sz="1300" dirty="0"/>
              <a:t>”/</a:t>
            </a:r>
            <a:r>
              <a:rPr lang="cs-CZ" sz="1300" dirty="0" err="1"/>
              <a:t>Flickr</a:t>
            </a:r>
            <a:r>
              <a:rPr lang="cs-CZ" sz="1300" dirty="0"/>
              <a:t>)</a:t>
            </a:r>
            <a:endParaRPr lang="en-US" sz="1300" dirty="0"/>
          </a:p>
        </p:txBody>
      </p:sp>
      <p:pic>
        <p:nvPicPr>
          <p:cNvPr id="8" name="Picture 7" descr="OSC-Stacked-TM-RGB-1.png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72687" y="241326"/>
            <a:ext cx="1051734" cy="75170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1254766"/>
            <a:ext cx="7907311" cy="1746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480"/>
              </a:spcBef>
              <a:spcAft>
                <a:spcPts val="600"/>
              </a:spcAft>
            </a:pPr>
            <a:r>
              <a:rPr lang="en-US" sz="1600" b="1" dirty="0" smtClean="0"/>
              <a:t>Social role </a:t>
            </a:r>
            <a:r>
              <a:rPr lang="mr-IN" sz="1600" dirty="0" smtClean="0"/>
              <a:t>–</a:t>
            </a:r>
            <a:r>
              <a:rPr lang="en-US" sz="1600" dirty="0" smtClean="0"/>
              <a:t> a pattern of behavior that is expected of a person in a given setting or group.</a:t>
            </a:r>
          </a:p>
          <a:p>
            <a:pPr marL="285750" indent="-285750">
              <a:spcBef>
                <a:spcPts val="480"/>
              </a:spcBef>
              <a:spcAft>
                <a:spcPts val="600"/>
              </a:spcAft>
              <a:buClr>
                <a:srgbClr val="6CB255"/>
              </a:buClr>
              <a:buFont typeface="Arial" charset="0"/>
              <a:buChar char="•"/>
            </a:pPr>
            <a:r>
              <a:rPr lang="en-US" sz="1600" dirty="0" smtClean="0"/>
              <a:t>E.g. being a student.</a:t>
            </a:r>
          </a:p>
          <a:p>
            <a:pPr marL="285750" indent="-285750">
              <a:spcBef>
                <a:spcPts val="480"/>
              </a:spcBef>
              <a:spcAft>
                <a:spcPts val="600"/>
              </a:spcAft>
              <a:buClr>
                <a:srgbClr val="6CB255"/>
              </a:buClr>
              <a:buFont typeface="Arial" charset="0"/>
              <a:buChar char="•"/>
            </a:pPr>
            <a:r>
              <a:rPr lang="en-US" sz="1600" dirty="0" smtClean="0"/>
              <a:t>We each have several social roles.</a:t>
            </a:r>
          </a:p>
          <a:p>
            <a:pPr marL="285750" indent="-285750">
              <a:spcBef>
                <a:spcPts val="480"/>
              </a:spcBef>
              <a:spcAft>
                <a:spcPts val="600"/>
              </a:spcAft>
              <a:buClr>
                <a:srgbClr val="6CB255"/>
              </a:buClr>
              <a:buFont typeface="Arial" charset="0"/>
              <a:buChar char="•"/>
            </a:pPr>
            <a:r>
              <a:rPr lang="en-US" sz="1600" dirty="0" smtClean="0"/>
              <a:t>Defined by culturally shared knowledge.</a:t>
            </a:r>
            <a:endParaRPr lang="en-US" sz="1600" dirty="0"/>
          </a:p>
        </p:txBody>
      </p:sp>
      <p:sp>
        <p:nvSpPr>
          <p:cNvPr id="4" name="TextBox 3"/>
          <p:cNvSpPr txBox="1"/>
          <p:nvPr/>
        </p:nvSpPr>
        <p:spPr>
          <a:xfrm>
            <a:off x="457200" y="3016749"/>
            <a:ext cx="409981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384"/>
              </a:spcBef>
              <a:spcAft>
                <a:spcPts val="600"/>
              </a:spcAft>
              <a:buClr>
                <a:srgbClr val="6CB255"/>
              </a:buClr>
              <a:buFont typeface="Arial" charset="0"/>
              <a:buChar char="•"/>
            </a:pPr>
            <a:r>
              <a:rPr lang="en-US" sz="1600" dirty="0" smtClean="0"/>
              <a:t>Behavior related to social roles varies across situations.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42525055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Social norms &amp; scripts</a:t>
            </a:r>
            <a:endParaRPr lang="en-US" dirty="0"/>
          </a:p>
        </p:txBody>
      </p:sp>
      <p:pic>
        <p:nvPicPr>
          <p:cNvPr id="2" name="Picture Placeholder 1" descr="CNX_Psych_12_02_preteens.jpg"/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36475" r="-36475"/>
          <a:stretch>
            <a:fillRect/>
          </a:stretch>
        </p:blipFill>
        <p:spPr>
          <a:xfrm>
            <a:off x="3987389" y="1850700"/>
            <a:ext cx="5973861" cy="2593224"/>
          </a:xfrm>
        </p:spPr>
      </p:pic>
      <p:sp>
        <p:nvSpPr>
          <p:cNvPr id="7" name="Text Placeholder 6"/>
          <p:cNvSpPr>
            <a:spLocks noGrp="1"/>
          </p:cNvSpPr>
          <p:nvPr>
            <p:ph type="body" sz="quarter" idx="14"/>
          </p:nvPr>
        </p:nvSpPr>
        <p:spPr>
          <a:xfrm>
            <a:off x="5185387" y="4629884"/>
            <a:ext cx="3639034" cy="1471113"/>
          </a:xfrm>
        </p:spPr>
        <p:txBody>
          <a:bodyPr>
            <a:normAutofit/>
          </a:bodyPr>
          <a:lstStyle/>
          <a:p>
            <a:r>
              <a:rPr lang="en-US" sz="1400" dirty="0"/>
              <a:t>Young people struggle to become independent at the same time they are desperately trying to </a:t>
            </a:r>
            <a:r>
              <a:rPr lang="en-US" sz="1400" dirty="0" smtClean="0"/>
              <a:t>fit in </a:t>
            </a:r>
            <a:r>
              <a:rPr lang="en-US" sz="1400" dirty="0"/>
              <a:t>with their peers. </a:t>
            </a:r>
            <a:endParaRPr lang="en-US" sz="1400" dirty="0" smtClean="0"/>
          </a:p>
          <a:p>
            <a:r>
              <a:rPr lang="en-US" sz="1300" dirty="0"/>
              <a:t>Figure </a:t>
            </a:r>
            <a:r>
              <a:rPr lang="en-US" sz="1300" dirty="0" smtClean="0"/>
              <a:t>12.9 (</a:t>
            </a:r>
            <a:r>
              <a:rPr lang="en-US" sz="1300" dirty="0"/>
              <a:t>credit: Monica Arellano-</a:t>
            </a:r>
            <a:r>
              <a:rPr lang="en-US" sz="1300" dirty="0" err="1"/>
              <a:t>Ongpin</a:t>
            </a:r>
            <a:r>
              <a:rPr lang="en-US" sz="1300" dirty="0"/>
              <a:t>)</a:t>
            </a:r>
          </a:p>
        </p:txBody>
      </p:sp>
      <p:pic>
        <p:nvPicPr>
          <p:cNvPr id="8" name="Picture 7" descr="OSC-Stacked-TM-RGB-1.png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72687" y="241326"/>
            <a:ext cx="1051734" cy="75170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199" y="1183231"/>
            <a:ext cx="8367222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380"/>
              </a:spcBef>
              <a:spcAft>
                <a:spcPts val="500"/>
              </a:spcAft>
            </a:pPr>
            <a:r>
              <a:rPr lang="en-US" sz="1600" b="1" dirty="0" smtClean="0"/>
              <a:t>Social norm </a:t>
            </a:r>
            <a:r>
              <a:rPr lang="mr-IN" sz="1600" dirty="0" smtClean="0"/>
              <a:t>–</a:t>
            </a:r>
            <a:r>
              <a:rPr lang="en-US" sz="1600" dirty="0" smtClean="0"/>
              <a:t> a group’s expectation of what is appropriate and acceptable behavior for its members.</a:t>
            </a:r>
          </a:p>
          <a:p>
            <a:pPr marL="285750" indent="-285750">
              <a:spcBef>
                <a:spcPts val="380"/>
              </a:spcBef>
              <a:spcAft>
                <a:spcPts val="500"/>
              </a:spcAft>
              <a:buClr>
                <a:srgbClr val="6CB255"/>
              </a:buClr>
              <a:buFont typeface="Arial" charset="0"/>
              <a:buChar char="•"/>
            </a:pPr>
            <a:r>
              <a:rPr lang="en-US" sz="1600" i="1" dirty="0" smtClean="0"/>
              <a:t>How are we supposed to behave and think?</a:t>
            </a:r>
          </a:p>
          <a:p>
            <a:pPr marL="285750" indent="-285750">
              <a:spcBef>
                <a:spcPts val="380"/>
              </a:spcBef>
              <a:spcAft>
                <a:spcPts val="500"/>
              </a:spcAft>
              <a:buClr>
                <a:srgbClr val="6CB255"/>
              </a:buClr>
              <a:buFont typeface="Arial" charset="0"/>
              <a:buChar char="•"/>
            </a:pPr>
            <a:r>
              <a:rPr lang="en-US" sz="1600" i="1" dirty="0" smtClean="0"/>
              <a:t>What are we expected to talk about?</a:t>
            </a:r>
          </a:p>
          <a:p>
            <a:pPr marL="285750" indent="-285750">
              <a:spcBef>
                <a:spcPts val="380"/>
              </a:spcBef>
              <a:spcAft>
                <a:spcPts val="500"/>
              </a:spcAft>
              <a:buClr>
                <a:srgbClr val="6CB255"/>
              </a:buClr>
              <a:buFont typeface="Arial" charset="0"/>
              <a:buChar char="•"/>
            </a:pPr>
            <a:r>
              <a:rPr lang="en-US" sz="1600" i="1" dirty="0" smtClean="0"/>
              <a:t>What are we expected to wear?</a:t>
            </a:r>
          </a:p>
          <a:p>
            <a:pPr>
              <a:spcBef>
                <a:spcPts val="380"/>
              </a:spcBef>
              <a:spcAft>
                <a:spcPts val="500"/>
              </a:spcAft>
            </a:pPr>
            <a:endParaRPr lang="en-US" dirty="0"/>
          </a:p>
        </p:txBody>
      </p:sp>
      <p:sp>
        <p:nvSpPr>
          <p:cNvPr id="9" name="Text Placeholder 3"/>
          <p:cNvSpPr txBox="1">
            <a:spLocks/>
          </p:cNvSpPr>
          <p:nvPr/>
        </p:nvSpPr>
        <p:spPr>
          <a:xfrm>
            <a:off x="457199" y="3144773"/>
            <a:ext cx="4671689" cy="25983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rgbClr val="6CB255"/>
              </a:buClr>
              <a:buFont typeface="Arial" pitchFamily="34" charset="0"/>
              <a:buNone/>
              <a:defRPr sz="2000" b="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731520" indent="-457200" algn="l" defTabSz="914400" rtl="0" eaLnBrk="1" latinLnBrk="0" hangingPunct="1">
              <a:spcBef>
                <a:spcPct val="20000"/>
              </a:spcBef>
              <a:buClr>
                <a:srgbClr val="6CB255"/>
              </a:buClr>
              <a:buFont typeface="+mj-lt"/>
              <a:buAutoNum type="alphaLcParenR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57300" indent="-342900" algn="l" defTabSz="914400" rtl="0" eaLnBrk="1" latinLnBrk="0" hangingPunct="1">
              <a:spcBef>
                <a:spcPct val="20000"/>
              </a:spcBef>
              <a:buClr>
                <a:srgbClr val="6CB255"/>
              </a:buClr>
              <a:buFont typeface="+mj-lt"/>
              <a:buAutoNum type="alphaLcParenR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14500" indent="-342900" algn="l" defTabSz="914400" rtl="0" eaLnBrk="1" latinLnBrk="0" hangingPunct="1">
              <a:spcBef>
                <a:spcPct val="20000"/>
              </a:spcBef>
              <a:buClr>
                <a:srgbClr val="6CB255"/>
              </a:buClr>
              <a:buFont typeface="+mj-lt"/>
              <a:buAutoNum type="alphaLcParenR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1700" indent="-342900" algn="l" defTabSz="914400" rtl="0" eaLnBrk="1" latinLnBrk="0" hangingPunct="1">
              <a:spcBef>
                <a:spcPct val="20000"/>
              </a:spcBef>
              <a:buClr>
                <a:srgbClr val="6CB255"/>
              </a:buClr>
              <a:buFont typeface="+mj-lt"/>
              <a:buAutoNum type="alphaLcParenR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380"/>
              </a:spcBef>
              <a:spcAft>
                <a:spcPts val="500"/>
              </a:spcAft>
            </a:pPr>
            <a:r>
              <a:rPr lang="en-US" sz="1600" b="1" dirty="0" smtClean="0"/>
              <a:t>Script</a:t>
            </a:r>
            <a:r>
              <a:rPr lang="en-US" sz="1600" dirty="0" smtClean="0"/>
              <a:t> </a:t>
            </a:r>
            <a:r>
              <a:rPr lang="mr-IN" sz="1600" dirty="0" smtClean="0"/>
              <a:t>–</a:t>
            </a:r>
            <a:r>
              <a:rPr lang="en-US" sz="1600" dirty="0" smtClean="0"/>
              <a:t> a person’s knowledge about the sequence of events expected in a specific setting.</a:t>
            </a:r>
          </a:p>
          <a:p>
            <a:pPr marL="285750" indent="-285750">
              <a:spcBef>
                <a:spcPts val="380"/>
              </a:spcBef>
              <a:spcAft>
                <a:spcPts val="500"/>
              </a:spcAft>
              <a:buFont typeface="Arial" charset="0"/>
              <a:buChar char="•"/>
            </a:pPr>
            <a:r>
              <a:rPr lang="en-US" sz="1600" i="1" dirty="0" smtClean="0"/>
              <a:t>How do you act when you walk into an elevator, on the first day of school, in a restaurant?</a:t>
            </a:r>
          </a:p>
          <a:p>
            <a:pPr marL="285750" indent="-285750">
              <a:spcBef>
                <a:spcPts val="380"/>
              </a:spcBef>
              <a:spcAft>
                <a:spcPts val="500"/>
              </a:spcAft>
              <a:buFont typeface="Arial" charset="0"/>
              <a:buChar char="•"/>
            </a:pPr>
            <a:r>
              <a:rPr lang="en-US" sz="1600" dirty="0" smtClean="0"/>
              <a:t>Scripts vary between cultures.</a:t>
            </a:r>
          </a:p>
          <a:p>
            <a:pPr marL="285750" indent="-285750">
              <a:spcBef>
                <a:spcPts val="380"/>
              </a:spcBef>
              <a:spcAft>
                <a:spcPts val="500"/>
              </a:spcAft>
              <a:buFont typeface="Arial" charset="0"/>
              <a:buChar char="•"/>
            </a:pPr>
            <a:r>
              <a:rPr lang="en-US" sz="1600" dirty="0" smtClean="0"/>
              <a:t>Important sources of information to guide behavior in situations.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00133912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P</a:t>
            </a:r>
            <a:r>
              <a:rPr lang="en-US" sz="2400" dirty="0" smtClean="0">
                <a:solidFill>
                  <a:srgbClr val="6CB255"/>
                </a:solidFill>
              </a:rPr>
              <a:t>hilip ZIMBARDO</a:t>
            </a:r>
            <a:endParaRPr lang="en-US" sz="2400" dirty="0">
              <a:solidFill>
                <a:srgbClr val="6CB255"/>
              </a:solidFill>
            </a:endParaRPr>
          </a:p>
        </p:txBody>
      </p:sp>
      <p:pic>
        <p:nvPicPr>
          <p:cNvPr id="2" name="Picture Placeholder 1"/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57200" y="1067986"/>
            <a:ext cx="3085358" cy="4077325"/>
          </a:xfrm>
        </p:spPr>
      </p:pic>
      <p:sp>
        <p:nvSpPr>
          <p:cNvPr id="14" name="Text Placeholder 13"/>
          <p:cNvSpPr>
            <a:spLocks noGrp="1"/>
          </p:cNvSpPr>
          <p:nvPr>
            <p:ph type="body" sz="quarter" idx="14"/>
          </p:nvPr>
        </p:nvSpPr>
        <p:spPr>
          <a:xfrm>
            <a:off x="3672590" y="1067986"/>
            <a:ext cx="5151831" cy="5598667"/>
          </a:xfrm>
        </p:spPr>
        <p:txBody>
          <a:bodyPr>
            <a:noAutofit/>
          </a:bodyPr>
          <a:lstStyle/>
          <a:p>
            <a:pPr>
              <a:spcBef>
                <a:spcPts val="380"/>
              </a:spcBef>
              <a:spcAft>
                <a:spcPts val="500"/>
              </a:spcAft>
            </a:pPr>
            <a:r>
              <a:rPr lang="en-US" sz="1600" b="1" u="sng" dirty="0" smtClean="0">
                <a:solidFill>
                  <a:srgbClr val="6CB255"/>
                </a:solidFill>
              </a:rPr>
              <a:t>The Stanford Prison Experiment (1971)</a:t>
            </a:r>
          </a:p>
          <a:p>
            <a:pPr marL="285750" indent="-285750">
              <a:spcBef>
                <a:spcPts val="380"/>
              </a:spcBef>
              <a:spcAft>
                <a:spcPts val="500"/>
              </a:spcAft>
              <a:buFont typeface="Arial" charset="0"/>
              <a:buChar char="•"/>
            </a:pPr>
            <a:r>
              <a:rPr lang="en-US" sz="1600" dirty="0" smtClean="0">
                <a:solidFill>
                  <a:schemeClr val="tx1"/>
                </a:solidFill>
              </a:rPr>
              <a:t>Demonstrated the power of social roles, social norms, and scripts.</a:t>
            </a:r>
          </a:p>
          <a:p>
            <a:pPr marL="285750" indent="-285750">
              <a:spcBef>
                <a:spcPts val="380"/>
              </a:spcBef>
              <a:spcAft>
                <a:spcPts val="500"/>
              </a:spcAft>
              <a:buFont typeface="Arial" charset="0"/>
              <a:buChar char="•"/>
            </a:pPr>
            <a:r>
              <a:rPr lang="en-US" sz="1600" dirty="0" smtClean="0">
                <a:solidFill>
                  <a:schemeClr val="tx1"/>
                </a:solidFill>
              </a:rPr>
              <a:t>A mock prison was constructed and participants (male college students), were randomly assigned to play the role of prisoners or guards.</a:t>
            </a:r>
          </a:p>
          <a:p>
            <a:pPr marL="285750" indent="-285750">
              <a:spcBef>
                <a:spcPts val="380"/>
              </a:spcBef>
              <a:spcAft>
                <a:spcPts val="500"/>
              </a:spcAft>
              <a:buFont typeface="Arial" charset="0"/>
              <a:buChar char="•"/>
            </a:pPr>
            <a:r>
              <a:rPr lang="en-US" sz="1600" dirty="0" smtClean="0">
                <a:solidFill>
                  <a:schemeClr val="tx1"/>
                </a:solidFill>
              </a:rPr>
              <a:t>In a very short amount of time, the guards started to harass the prisoner in an increasingly sadistic manner.</a:t>
            </a:r>
          </a:p>
          <a:p>
            <a:pPr marL="285750" indent="-285750">
              <a:spcBef>
                <a:spcPts val="380"/>
              </a:spcBef>
              <a:spcAft>
                <a:spcPts val="500"/>
              </a:spcAft>
              <a:buFont typeface="Arial" charset="0"/>
              <a:buChar char="•"/>
            </a:pPr>
            <a:r>
              <a:rPr lang="en-US" sz="1600" dirty="0" smtClean="0">
                <a:solidFill>
                  <a:schemeClr val="tx1"/>
                </a:solidFill>
              </a:rPr>
              <a:t>Prisoners began to show signs of severe anxiety and hopelessness.</a:t>
            </a:r>
          </a:p>
          <a:p>
            <a:pPr marL="285750" indent="-285750">
              <a:spcBef>
                <a:spcPts val="380"/>
              </a:spcBef>
              <a:spcAft>
                <a:spcPts val="500"/>
              </a:spcAft>
              <a:buFont typeface="Arial" charset="0"/>
              <a:buChar char="•"/>
            </a:pPr>
            <a:r>
              <a:rPr lang="en-US" sz="1600" dirty="0" smtClean="0">
                <a:solidFill>
                  <a:schemeClr val="tx1"/>
                </a:solidFill>
              </a:rPr>
              <a:t>The two week study had to be ended after six days.</a:t>
            </a:r>
          </a:p>
          <a:p>
            <a:pPr marL="285750" indent="-285750">
              <a:spcBef>
                <a:spcPts val="380"/>
              </a:spcBef>
              <a:spcAft>
                <a:spcPts val="500"/>
              </a:spcAft>
              <a:buFont typeface="Arial" charset="0"/>
              <a:buChar char="•"/>
            </a:pPr>
            <a:r>
              <a:rPr lang="en-US" sz="1600" u="sng" dirty="0" smtClean="0">
                <a:solidFill>
                  <a:schemeClr val="tx1"/>
                </a:solidFill>
              </a:rPr>
              <a:t>Social norms</a:t>
            </a:r>
            <a:r>
              <a:rPr lang="en-US" sz="1600" dirty="0" smtClean="0">
                <a:solidFill>
                  <a:schemeClr val="tx1"/>
                </a:solidFill>
              </a:rPr>
              <a:t> required guards to be authoritarian and prisoners to be submissive.</a:t>
            </a:r>
          </a:p>
          <a:p>
            <a:pPr marL="285750" indent="-285750">
              <a:spcBef>
                <a:spcPts val="380"/>
              </a:spcBef>
              <a:spcAft>
                <a:spcPts val="500"/>
              </a:spcAft>
              <a:buFont typeface="Arial" charset="0"/>
              <a:buChar char="•"/>
            </a:pPr>
            <a:r>
              <a:rPr lang="en-US" sz="1600" u="sng" dirty="0" smtClean="0">
                <a:solidFill>
                  <a:schemeClr val="tx1"/>
                </a:solidFill>
              </a:rPr>
              <a:t>Scripts</a:t>
            </a:r>
            <a:r>
              <a:rPr lang="en-US" sz="1600" dirty="0" smtClean="0">
                <a:solidFill>
                  <a:schemeClr val="tx1"/>
                </a:solidFill>
              </a:rPr>
              <a:t> influenced the way guards degraded the prisoners by making them do push-ups and removing privacy.</a:t>
            </a:r>
          </a:p>
          <a:p>
            <a:pPr marL="285750" indent="-285750">
              <a:spcBef>
                <a:spcPts val="380"/>
              </a:spcBef>
              <a:spcAft>
                <a:spcPts val="500"/>
              </a:spcAft>
              <a:buFont typeface="Arial" charset="0"/>
              <a:buChar char="•"/>
            </a:pPr>
            <a:r>
              <a:rPr lang="en-US" sz="1600" dirty="0" smtClean="0">
                <a:solidFill>
                  <a:schemeClr val="tx1"/>
                </a:solidFill>
              </a:rPr>
              <a:t>Parallels abuse used by guards in Abu Ghraib prison.</a:t>
            </a:r>
            <a:endParaRPr lang="en-US" sz="1600" dirty="0">
              <a:solidFill>
                <a:schemeClr val="tx1"/>
              </a:solidFill>
            </a:endParaRPr>
          </a:p>
        </p:txBody>
      </p:sp>
      <p:pic>
        <p:nvPicPr>
          <p:cNvPr id="11" name="Picture 10" descr="OSC-Stacked-TM-RGB-1.png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72687" y="241326"/>
            <a:ext cx="1051734" cy="75170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5312436"/>
            <a:ext cx="3085358" cy="1354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Iraqi prisoners of war were abused by their American captors in Abu Ghraib prison, during the second Iraq war. </a:t>
            </a:r>
            <a:endParaRPr lang="en-US" sz="1400" dirty="0" smtClean="0"/>
          </a:p>
          <a:p>
            <a:r>
              <a:rPr lang="en-US" sz="1300" dirty="0" smtClean="0"/>
              <a:t>Figure </a:t>
            </a:r>
            <a:r>
              <a:rPr lang="en-US" sz="1300" dirty="0"/>
              <a:t>12.10 (credit: United States Department of Defense</a:t>
            </a:r>
            <a:r>
              <a:rPr lang="en-US" sz="1300" dirty="0" smtClean="0"/>
              <a:t>)</a:t>
            </a: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20108327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>
          <a:xfrm>
            <a:off x="457200" y="1531155"/>
            <a:ext cx="8062912" cy="3745383"/>
          </a:xfrm>
          <a:ln w="76200">
            <a:solidFill>
              <a:srgbClr val="6CB255"/>
            </a:solidFill>
          </a:ln>
        </p:spPr>
        <p:txBody>
          <a:bodyPr>
            <a:normAutofit/>
          </a:bodyPr>
          <a:lstStyle/>
          <a:p>
            <a:pPr algn="ctr"/>
            <a:endParaRPr lang="en-US" sz="3600" b="1" dirty="0" smtClean="0">
              <a:solidFill>
                <a:srgbClr val="6CB255"/>
              </a:solidFill>
            </a:endParaRPr>
          </a:p>
          <a:p>
            <a:pPr algn="ctr"/>
            <a:r>
              <a:rPr lang="en-US" sz="3600" b="1" dirty="0" smtClean="0">
                <a:solidFill>
                  <a:srgbClr val="6CB255"/>
                </a:solidFill>
              </a:rPr>
              <a:t>ATTITUDES AND COGNITIVE DISSONANCE</a:t>
            </a:r>
            <a:endParaRPr lang="en-US" dirty="0" smtClean="0">
              <a:solidFill>
                <a:srgbClr val="6CB255"/>
              </a:solidFill>
            </a:endParaRPr>
          </a:p>
        </p:txBody>
      </p:sp>
      <p:pic>
        <p:nvPicPr>
          <p:cNvPr id="5" name="Picture 4" descr="OSC-Stacked-TM-RGB-1.pn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72687" y="241326"/>
            <a:ext cx="1051734" cy="7517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423522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attitude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>
          <a:xfrm>
            <a:off x="457199" y="1184223"/>
            <a:ext cx="8237095" cy="3087973"/>
          </a:xfrm>
        </p:spPr>
        <p:txBody>
          <a:bodyPr>
            <a:normAutofit/>
          </a:bodyPr>
          <a:lstStyle/>
          <a:p>
            <a:pPr>
              <a:spcBef>
                <a:spcPts val="380"/>
              </a:spcBef>
            </a:pPr>
            <a:r>
              <a:rPr lang="en-US" sz="1600" b="1" dirty="0" smtClean="0"/>
              <a:t>Attitude</a:t>
            </a:r>
            <a:r>
              <a:rPr lang="en-US" sz="1600" dirty="0" smtClean="0"/>
              <a:t> </a:t>
            </a:r>
            <a:r>
              <a:rPr lang="mr-IN" sz="1600" dirty="0" smtClean="0"/>
              <a:t>–</a:t>
            </a:r>
            <a:r>
              <a:rPr lang="en-US" sz="1600" dirty="0" smtClean="0"/>
              <a:t> our evaluation of a person, an idea, or an object.</a:t>
            </a:r>
          </a:p>
          <a:p>
            <a:pPr marL="285750" indent="-285750">
              <a:spcBef>
                <a:spcPts val="380"/>
              </a:spcBef>
              <a:buFont typeface="Arial" charset="0"/>
              <a:buChar char="•"/>
            </a:pPr>
            <a:r>
              <a:rPr lang="en-US" sz="1600" dirty="0" smtClean="0"/>
              <a:t>Can be positive or negative.</a:t>
            </a:r>
          </a:p>
          <a:p>
            <a:pPr marL="285750" indent="-285750">
              <a:spcBef>
                <a:spcPts val="380"/>
              </a:spcBef>
              <a:buFont typeface="Arial" charset="0"/>
              <a:buChar char="•"/>
            </a:pPr>
            <a:r>
              <a:rPr lang="en-US" sz="1600" dirty="0" smtClean="0"/>
              <a:t>Influenced by external forces and internal factors that we control.</a:t>
            </a:r>
          </a:p>
          <a:p>
            <a:pPr>
              <a:spcBef>
                <a:spcPts val="380"/>
              </a:spcBef>
            </a:pPr>
            <a:r>
              <a:rPr lang="en-US" sz="1600" dirty="0" smtClean="0"/>
              <a:t>3 components:</a:t>
            </a:r>
          </a:p>
          <a:p>
            <a:pPr marL="342900" indent="-342900">
              <a:spcBef>
                <a:spcPts val="380"/>
              </a:spcBef>
              <a:buFont typeface="+mj-lt"/>
              <a:buAutoNum type="arabicPeriod"/>
            </a:pPr>
            <a:r>
              <a:rPr lang="en-US" sz="1600" b="1" dirty="0" smtClean="0"/>
              <a:t>Affective component </a:t>
            </a:r>
            <a:r>
              <a:rPr lang="mr-IN" sz="1600" dirty="0" smtClean="0"/>
              <a:t>–</a:t>
            </a:r>
            <a:r>
              <a:rPr lang="en-US" sz="1600" dirty="0" smtClean="0"/>
              <a:t> feelings.</a:t>
            </a:r>
          </a:p>
          <a:p>
            <a:pPr marL="342900" indent="-342900">
              <a:spcBef>
                <a:spcPts val="380"/>
              </a:spcBef>
              <a:buFont typeface="+mj-lt"/>
              <a:buAutoNum type="arabicPeriod"/>
            </a:pPr>
            <a:r>
              <a:rPr lang="en-US" sz="1600" b="1" dirty="0" smtClean="0"/>
              <a:t>Behavioral component </a:t>
            </a:r>
            <a:r>
              <a:rPr lang="mr-IN" sz="1600" dirty="0" smtClean="0"/>
              <a:t>–</a:t>
            </a:r>
            <a:r>
              <a:rPr lang="en-US" sz="1600" dirty="0" smtClean="0"/>
              <a:t> the effect of the attitude on behavior.</a:t>
            </a:r>
          </a:p>
          <a:p>
            <a:pPr marL="342900" indent="-342900">
              <a:spcBef>
                <a:spcPts val="380"/>
              </a:spcBef>
              <a:buFont typeface="+mj-lt"/>
              <a:buAutoNum type="arabicPeriod"/>
            </a:pPr>
            <a:r>
              <a:rPr lang="en-US" sz="1600" b="1" dirty="0" smtClean="0"/>
              <a:t>Cognitive component </a:t>
            </a:r>
            <a:r>
              <a:rPr lang="mr-IN" sz="1600" dirty="0" smtClean="0"/>
              <a:t>–</a:t>
            </a:r>
            <a:r>
              <a:rPr lang="en-US" sz="1600" dirty="0" smtClean="0"/>
              <a:t> belief and knowledge.</a:t>
            </a:r>
            <a:endParaRPr lang="en-US" sz="1600" dirty="0"/>
          </a:p>
        </p:txBody>
      </p:sp>
      <p:pic>
        <p:nvPicPr>
          <p:cNvPr id="5" name="Picture 4" descr="OSC-Stacked-TM-RGB-1.pn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72687" y="241326"/>
            <a:ext cx="1051734" cy="7517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94456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41326"/>
            <a:ext cx="8062912" cy="613113"/>
          </a:xfrm>
        </p:spPr>
        <p:txBody>
          <a:bodyPr>
            <a:normAutofit/>
          </a:bodyPr>
          <a:lstStyle/>
          <a:p>
            <a:r>
              <a:rPr lang="en-US" dirty="0" smtClean="0"/>
              <a:t>Cognitive dissonance</a:t>
            </a:r>
            <a:endParaRPr lang="en-US" dirty="0">
              <a:latin typeface="+mn-lt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>
          <a:xfrm>
            <a:off x="457200" y="1034321"/>
            <a:ext cx="8312046" cy="5501390"/>
          </a:xfrm>
        </p:spPr>
        <p:txBody>
          <a:bodyPr>
            <a:normAutofit/>
          </a:bodyPr>
          <a:lstStyle/>
          <a:p>
            <a:r>
              <a:rPr lang="en-US" sz="1600" b="1" u="sng" dirty="0" smtClean="0">
                <a:solidFill>
                  <a:srgbClr val="6CB255"/>
                </a:solidFill>
              </a:rPr>
              <a:t>Leon </a:t>
            </a:r>
            <a:r>
              <a:rPr lang="en-US" sz="1600" b="1" u="sng" dirty="0" err="1" smtClean="0">
                <a:solidFill>
                  <a:srgbClr val="6CB255"/>
                </a:solidFill>
              </a:rPr>
              <a:t>Festinger’s</a:t>
            </a:r>
            <a:r>
              <a:rPr lang="en-US" sz="1600" b="1" u="sng" dirty="0" smtClean="0">
                <a:solidFill>
                  <a:srgbClr val="6CB255"/>
                </a:solidFill>
              </a:rPr>
              <a:t> Theory of Cognitive Dissonance</a:t>
            </a:r>
          </a:p>
          <a:p>
            <a:r>
              <a:rPr lang="en-US" sz="1600" b="1" dirty="0" smtClean="0"/>
              <a:t>Cognitive </a:t>
            </a:r>
            <a:r>
              <a:rPr lang="en-US" sz="1600" b="1" dirty="0"/>
              <a:t>dissonance </a:t>
            </a:r>
            <a:r>
              <a:rPr lang="mr-IN" sz="1600" dirty="0" smtClean="0"/>
              <a:t>–</a:t>
            </a:r>
            <a:r>
              <a:rPr lang="en-US" sz="1600" dirty="0" smtClean="0"/>
              <a:t> psychological discomfort arising from holding two or more inconsistent </a:t>
            </a:r>
            <a:r>
              <a:rPr lang="en-US" sz="1600" dirty="0" smtClean="0"/>
              <a:t>attitudes </a:t>
            </a:r>
            <a:r>
              <a:rPr lang="en-US" sz="1600" dirty="0" err="1" smtClean="0"/>
              <a:t>inc.</a:t>
            </a:r>
            <a:r>
              <a:rPr lang="en-US" sz="1600" dirty="0" smtClean="0"/>
              <a:t> feelings, </a:t>
            </a:r>
            <a:r>
              <a:rPr lang="en-US" sz="1600" dirty="0" smtClean="0"/>
              <a:t>behaviors, or cognitions.</a:t>
            </a:r>
          </a:p>
          <a:p>
            <a:pPr marL="285750" indent="-285750">
              <a:buFont typeface="Arial" charset="0"/>
              <a:buChar char="•"/>
            </a:pPr>
            <a:r>
              <a:rPr lang="en-US" sz="1600" dirty="0" smtClean="0"/>
              <a:t>Believing </a:t>
            </a:r>
            <a:r>
              <a:rPr lang="en-US" sz="1600" dirty="0"/>
              <a:t>cigarettes are bad for your health, but smoking cigarettes anyway, can cause cognitive dissonance. </a:t>
            </a:r>
            <a:endParaRPr lang="en-US" sz="1600" dirty="0" smtClean="0"/>
          </a:p>
          <a:p>
            <a:r>
              <a:rPr lang="en-US" sz="1600" dirty="0" smtClean="0"/>
              <a:t>To </a:t>
            </a:r>
            <a:r>
              <a:rPr lang="en-US" sz="1600" dirty="0"/>
              <a:t>reduce cognitive dissonance, individuals </a:t>
            </a:r>
            <a:r>
              <a:rPr lang="en-US" sz="1600" dirty="0" smtClean="0"/>
              <a:t>can:</a:t>
            </a:r>
          </a:p>
          <a:p>
            <a:pPr marL="285750" indent="-285750">
              <a:buFont typeface="Arial" charset="0"/>
              <a:buChar char="•"/>
            </a:pPr>
            <a:r>
              <a:rPr lang="en-US" sz="1600" b="1" dirty="0"/>
              <a:t>C</a:t>
            </a:r>
            <a:r>
              <a:rPr lang="en-US" sz="1600" b="1" dirty="0" smtClean="0"/>
              <a:t>hange </a:t>
            </a:r>
            <a:r>
              <a:rPr lang="en-US" sz="1600" b="1" dirty="0"/>
              <a:t>their </a:t>
            </a:r>
            <a:r>
              <a:rPr lang="en-US" sz="1600" b="1" dirty="0" smtClean="0"/>
              <a:t>behavior </a:t>
            </a:r>
            <a:r>
              <a:rPr lang="en-US" sz="1600" dirty="0" smtClean="0"/>
              <a:t>- quitting smoking.</a:t>
            </a:r>
          </a:p>
          <a:p>
            <a:pPr marL="285750" indent="-285750">
              <a:buFont typeface="Arial" charset="0"/>
              <a:buChar char="•"/>
            </a:pPr>
            <a:r>
              <a:rPr lang="en-US" sz="1600" b="1" dirty="0" smtClean="0"/>
              <a:t>Change </a:t>
            </a:r>
            <a:r>
              <a:rPr lang="en-US" sz="1600" b="1" dirty="0"/>
              <a:t>their </a:t>
            </a:r>
            <a:r>
              <a:rPr lang="en-US" sz="1600" b="1" dirty="0" smtClean="0"/>
              <a:t>belief through rationalization or denial </a:t>
            </a:r>
            <a:r>
              <a:rPr lang="en-US" sz="1600" dirty="0" smtClean="0"/>
              <a:t>- such </a:t>
            </a:r>
            <a:r>
              <a:rPr lang="en-US" sz="1600" dirty="0"/>
              <a:t>as discounting the evidence that smoking is harmful. </a:t>
            </a:r>
            <a:endParaRPr lang="en-US" sz="1600" dirty="0" smtClean="0"/>
          </a:p>
          <a:p>
            <a:pPr marL="285750" indent="-285750">
              <a:buFont typeface="Arial" charset="0"/>
              <a:buChar char="•"/>
            </a:pPr>
            <a:r>
              <a:rPr lang="en-US" sz="1600" b="1" dirty="0" smtClean="0"/>
              <a:t>Add a new cognition </a:t>
            </a:r>
            <a:r>
              <a:rPr lang="mr-IN" sz="1600" dirty="0" smtClean="0"/>
              <a:t>–</a:t>
            </a:r>
            <a:r>
              <a:rPr lang="en-US" sz="1600" dirty="0" smtClean="0"/>
              <a:t> “Smoking suppresses appetite so I don’t become overweight, which is good for my health”.</a:t>
            </a:r>
          </a:p>
          <a:p>
            <a:r>
              <a:rPr lang="en-US" sz="1600" b="1" dirty="0" smtClean="0"/>
              <a:t>Later research found:</a:t>
            </a:r>
          </a:p>
          <a:p>
            <a:pPr marL="285750" indent="-285750">
              <a:buFont typeface="Arial" charset="0"/>
              <a:buChar char="•"/>
            </a:pPr>
            <a:r>
              <a:rPr lang="en-US" sz="1600" dirty="0" smtClean="0"/>
              <a:t>Only conflicting cognitions that threaten positive self-image cause dissonance.</a:t>
            </a:r>
          </a:p>
          <a:p>
            <a:pPr marL="285750" indent="-285750">
              <a:buFont typeface="Arial" charset="0"/>
              <a:buChar char="•"/>
            </a:pPr>
            <a:r>
              <a:rPr lang="en-US" sz="1600" dirty="0" smtClean="0"/>
              <a:t>Dissonance can also cause physiological arousal and activate brain regions involved in emotions and cognitive functioning.</a:t>
            </a:r>
            <a:endParaRPr lang="en-US" sz="1600" dirty="0"/>
          </a:p>
          <a:p>
            <a:endParaRPr lang="en-US" dirty="0"/>
          </a:p>
        </p:txBody>
      </p:sp>
      <p:pic>
        <p:nvPicPr>
          <p:cNvPr id="5" name="Picture 4" descr="OSC-Stacked-TM-RGB-1.pn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72687" y="241326"/>
            <a:ext cx="1051734" cy="7517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35991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COGNITIVE DISSONANCE</a:t>
            </a:r>
            <a:endParaRPr lang="en-US" dirty="0"/>
          </a:p>
        </p:txBody>
      </p:sp>
      <p:pic>
        <p:nvPicPr>
          <p:cNvPr id="2" name="Picture Placeholder 1" descr="CNX_Psych_12_03_dissonance.jpg"/>
          <p:cNvPicPr>
            <a:picLocks noGrp="1" noChangeAspect="1"/>
          </p:cNvPicPr>
          <p:nvPr>
            <p:ph type="pic" sz="quarter" idx="13"/>
          </p:nvPr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53369" r="-53369"/>
          <a:stretch>
            <a:fillRect/>
          </a:stretch>
        </p:blipFill>
        <p:spPr>
          <a:xfrm>
            <a:off x="-1053093" y="1113617"/>
            <a:ext cx="11156463" cy="4842966"/>
          </a:xfrm>
        </p:spPr>
      </p:pic>
      <p:sp>
        <p:nvSpPr>
          <p:cNvPr id="7" name="Text Placeholder 6"/>
          <p:cNvSpPr>
            <a:spLocks noGrp="1"/>
          </p:cNvSpPr>
          <p:nvPr>
            <p:ph type="body" sz="quarter" idx="14"/>
          </p:nvPr>
        </p:nvSpPr>
        <p:spPr>
          <a:xfrm>
            <a:off x="457200" y="6160957"/>
            <a:ext cx="8062912" cy="539646"/>
          </a:xfrm>
        </p:spPr>
        <p:txBody>
          <a:bodyPr>
            <a:normAutofit/>
          </a:bodyPr>
          <a:lstStyle/>
          <a:p>
            <a:r>
              <a:rPr lang="en-US" sz="1300" dirty="0" smtClean="0"/>
              <a:t>Figure 12.11 (credit </a:t>
            </a:r>
            <a:r>
              <a:rPr lang="en-US" sz="1300" dirty="0"/>
              <a:t>“cigarettes”: modification of work by CDC/Debora Cartagena; “patch”: modification </a:t>
            </a:r>
            <a:r>
              <a:rPr lang="en-US" sz="1300" dirty="0" smtClean="0"/>
              <a:t>of "</a:t>
            </a:r>
            <a:r>
              <a:rPr lang="en-US" sz="1300" dirty="0" err="1"/>
              <a:t>RegBarc</a:t>
            </a:r>
            <a:r>
              <a:rPr lang="en-US" sz="1300" dirty="0"/>
              <a:t>"/Wikimedia Commons; “smoking”: modification of work by Tim Parkinson)</a:t>
            </a:r>
          </a:p>
        </p:txBody>
      </p:sp>
      <p:pic>
        <p:nvPicPr>
          <p:cNvPr id="8" name="Picture 7" descr="OSC-Stacked-TM-RGB-1.png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72687" y="241326"/>
            <a:ext cx="1051734" cy="7517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65874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>
          <a:xfrm>
            <a:off x="562132" y="1396243"/>
            <a:ext cx="8062912" cy="4989567"/>
          </a:xfrm>
          <a:ln w="76200">
            <a:solidFill>
              <a:srgbClr val="6CB255"/>
            </a:solidFill>
          </a:ln>
        </p:spPr>
        <p:txBody>
          <a:bodyPr>
            <a:noAutofit/>
          </a:bodyPr>
          <a:lstStyle/>
          <a:p>
            <a:pPr algn="ctr"/>
            <a:endParaRPr lang="en-US" sz="3600" b="1" dirty="0" smtClean="0">
              <a:solidFill>
                <a:srgbClr val="6CB255"/>
              </a:solidFill>
            </a:endParaRPr>
          </a:p>
          <a:p>
            <a:pPr algn="ctr"/>
            <a:r>
              <a:rPr lang="en-US" sz="3600" b="1" dirty="0" smtClean="0">
                <a:solidFill>
                  <a:srgbClr val="6CB255"/>
                </a:solidFill>
              </a:rPr>
              <a:t>CONFORMITY, COMPLIANCE &amp; OBEDIENCE</a:t>
            </a:r>
          </a:p>
          <a:p>
            <a:pPr algn="ctr"/>
            <a:endParaRPr lang="en-US" dirty="0">
              <a:solidFill>
                <a:srgbClr val="6CB255"/>
              </a:solidFill>
            </a:endParaRPr>
          </a:p>
          <a:p>
            <a:pPr algn="ctr"/>
            <a:r>
              <a:rPr lang="en-US" dirty="0" smtClean="0">
                <a:solidFill>
                  <a:srgbClr val="6CB255"/>
                </a:solidFill>
              </a:rPr>
              <a:t>SOLOMON ASCH</a:t>
            </a:r>
          </a:p>
          <a:p>
            <a:pPr algn="ctr"/>
            <a:r>
              <a:rPr lang="en-US" dirty="0" smtClean="0">
                <a:solidFill>
                  <a:srgbClr val="6CB255"/>
                </a:solidFill>
              </a:rPr>
              <a:t>STANLEY MILGRAM</a:t>
            </a:r>
          </a:p>
          <a:p>
            <a:pPr algn="ctr"/>
            <a:r>
              <a:rPr lang="en-US" dirty="0" smtClean="0">
                <a:solidFill>
                  <a:srgbClr val="6CB255"/>
                </a:solidFill>
              </a:rPr>
              <a:t>GROUPTHINK</a:t>
            </a:r>
          </a:p>
          <a:p>
            <a:pPr algn="ctr"/>
            <a:r>
              <a:rPr lang="en-US" dirty="0" smtClean="0">
                <a:solidFill>
                  <a:srgbClr val="6CB255"/>
                </a:solidFill>
              </a:rPr>
              <a:t>GROUP POLARIZATION</a:t>
            </a:r>
            <a:endParaRPr lang="en-US" dirty="0">
              <a:solidFill>
                <a:srgbClr val="6CB255"/>
              </a:solidFill>
            </a:endParaRPr>
          </a:p>
        </p:txBody>
      </p:sp>
      <p:pic>
        <p:nvPicPr>
          <p:cNvPr id="5" name="Picture 4" descr="OSC-Stacked-TM-RGB-1.pn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72687" y="241326"/>
            <a:ext cx="1051734" cy="7517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621080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457200" y="241326"/>
            <a:ext cx="8062912" cy="844201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CONFORMITY</a:t>
            </a:r>
            <a:r>
              <a:rPr lang="en-US" dirty="0"/>
              <a:t/>
            </a:r>
            <a:br>
              <a:rPr lang="en-US" dirty="0"/>
            </a:br>
            <a:r>
              <a:rPr lang="en-US" dirty="0" smtClean="0">
                <a:latin typeface="+mn-lt"/>
              </a:rPr>
              <a:t>SOLOMON ASCH</a:t>
            </a:r>
            <a:endParaRPr lang="en-US" dirty="0">
              <a:latin typeface="+mn-lt"/>
            </a:endParaRPr>
          </a:p>
        </p:txBody>
      </p:sp>
      <p:pic>
        <p:nvPicPr>
          <p:cNvPr id="2" name="Picture Placeholder 1" descr="CNX_Psych_12_04_Asch.jpg"/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7643" r="-17643"/>
          <a:stretch>
            <a:fillRect/>
          </a:stretch>
        </p:blipFill>
        <p:spPr>
          <a:xfrm>
            <a:off x="704538" y="3128363"/>
            <a:ext cx="7365867" cy="3197487"/>
          </a:xfrm>
        </p:spPr>
      </p:pic>
      <p:sp>
        <p:nvSpPr>
          <p:cNvPr id="7" name="Text Placeholder 6"/>
          <p:cNvSpPr>
            <a:spLocks noGrp="1"/>
          </p:cNvSpPr>
          <p:nvPr>
            <p:ph type="body" sz="quarter" idx="14"/>
          </p:nvPr>
        </p:nvSpPr>
        <p:spPr>
          <a:xfrm>
            <a:off x="457198" y="1151722"/>
            <a:ext cx="8367223" cy="1976641"/>
          </a:xfrm>
        </p:spPr>
        <p:txBody>
          <a:bodyPr>
            <a:normAutofit/>
          </a:bodyPr>
          <a:lstStyle/>
          <a:p>
            <a:r>
              <a:rPr lang="en-US" sz="1600" b="1" dirty="0"/>
              <a:t>Conformity</a:t>
            </a:r>
            <a:r>
              <a:rPr lang="en-US" sz="1600" dirty="0"/>
              <a:t> </a:t>
            </a:r>
            <a:r>
              <a:rPr lang="mr-IN" sz="1600" dirty="0"/>
              <a:t>–</a:t>
            </a:r>
            <a:r>
              <a:rPr lang="en-US" sz="1600" dirty="0"/>
              <a:t> the change in a person’s behavior to go along with the group, even if he does not agree with the group</a:t>
            </a:r>
            <a:r>
              <a:rPr lang="en-US" sz="1600" dirty="0" smtClean="0"/>
              <a:t>.</a:t>
            </a:r>
            <a:endParaRPr lang="en-US" sz="1600" b="1" u="sng" dirty="0" smtClean="0"/>
          </a:p>
          <a:p>
            <a:r>
              <a:rPr lang="en-US" sz="1600" b="1" u="sng" dirty="0" smtClean="0">
                <a:solidFill>
                  <a:srgbClr val="6CB255"/>
                </a:solidFill>
              </a:rPr>
              <a:t>Asch’s Experiment</a:t>
            </a:r>
          </a:p>
          <a:p>
            <a:r>
              <a:rPr lang="en-US" sz="1600" dirty="0" smtClean="0"/>
              <a:t>These </a:t>
            </a:r>
            <a:r>
              <a:rPr lang="en-US" sz="1600" dirty="0"/>
              <a:t>line segments illustrate the judgment task in Asch’s conformity study. </a:t>
            </a:r>
            <a:endParaRPr lang="en-US" sz="1600" dirty="0" smtClean="0"/>
          </a:p>
          <a:p>
            <a:r>
              <a:rPr lang="en-US" sz="1600" dirty="0" smtClean="0"/>
              <a:t>Which </a:t>
            </a:r>
            <a:r>
              <a:rPr lang="en-US" sz="1600" dirty="0"/>
              <a:t>line on the right—a</a:t>
            </a:r>
            <a:r>
              <a:rPr lang="en-US" sz="1600" dirty="0" smtClean="0"/>
              <a:t>, b</a:t>
            </a:r>
            <a:r>
              <a:rPr lang="en-US" sz="1600" dirty="0"/>
              <a:t>, or c—is the same length as line x on the left?</a:t>
            </a:r>
          </a:p>
        </p:txBody>
      </p:sp>
      <p:pic>
        <p:nvPicPr>
          <p:cNvPr id="8" name="Picture 7" descr="OSC-Stacked-TM-RGB-1.png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72687" y="241326"/>
            <a:ext cx="1051734" cy="75170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717561" y="6370820"/>
            <a:ext cx="1963711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 dirty="0"/>
              <a:t>Figure 12.17</a:t>
            </a:r>
          </a:p>
        </p:txBody>
      </p:sp>
    </p:spTree>
    <p:extLst>
      <p:ext uri="{BB962C8B-B14F-4D97-AF65-F5344CB8AC3E}">
        <p14:creationId xmlns:p14="http://schemas.microsoft.com/office/powerpoint/2010/main" val="205872531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41326"/>
            <a:ext cx="8062912" cy="807985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Conformity</a:t>
            </a:r>
            <a:br>
              <a:rPr lang="en-US" dirty="0" smtClean="0"/>
            </a:br>
            <a:r>
              <a:rPr lang="en-US" dirty="0">
                <a:latin typeface="+mn-lt"/>
              </a:rPr>
              <a:t>S</a:t>
            </a:r>
            <a:r>
              <a:rPr lang="en-US" dirty="0" smtClean="0">
                <a:latin typeface="+mn-lt"/>
              </a:rPr>
              <a:t>olomon Asch</a:t>
            </a:r>
            <a:endParaRPr lang="en-US" dirty="0">
              <a:latin typeface="+mn-lt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>
          <a:xfrm>
            <a:off x="457199" y="1169232"/>
            <a:ext cx="8367221" cy="2829813"/>
          </a:xfrm>
        </p:spPr>
        <p:txBody>
          <a:bodyPr>
            <a:normAutofit/>
          </a:bodyPr>
          <a:lstStyle/>
          <a:p>
            <a:r>
              <a:rPr lang="en-US" sz="1600" b="1" dirty="0" smtClean="0"/>
              <a:t>Asch effect </a:t>
            </a:r>
            <a:r>
              <a:rPr lang="mr-IN" sz="1600" dirty="0" smtClean="0"/>
              <a:t>–</a:t>
            </a:r>
            <a:r>
              <a:rPr lang="en-US" sz="1600" dirty="0" smtClean="0"/>
              <a:t> the influence of the group majority on an individual’s judgement.</a:t>
            </a:r>
          </a:p>
          <a:p>
            <a:r>
              <a:rPr lang="en-US" sz="1600" dirty="0" smtClean="0"/>
              <a:t>In Asch’s study there was one naive subject, the rest were confederates who purposely gave the wrong answer. 76% of participants conformed to group pressure at least once by also indicating the incorrect line.</a:t>
            </a:r>
            <a:endParaRPr lang="en-US" sz="1600" i="1" dirty="0"/>
          </a:p>
          <a:p>
            <a:r>
              <a:rPr lang="en-US" sz="1600" i="1" dirty="0" smtClean="0"/>
              <a:t>What </a:t>
            </a:r>
            <a:r>
              <a:rPr lang="en-US" sz="1600" i="1" dirty="0"/>
              <a:t>factors make a person more likely conform?</a:t>
            </a:r>
          </a:p>
          <a:p>
            <a:pPr marL="285750" indent="-285750">
              <a:buFont typeface="Arial" charset="0"/>
              <a:buChar char="•"/>
            </a:pPr>
            <a:r>
              <a:rPr lang="en-US" sz="1600" b="1" dirty="0"/>
              <a:t>The size of the majority </a:t>
            </a:r>
            <a:r>
              <a:rPr lang="mr-IN" sz="1600" dirty="0"/>
              <a:t>–</a:t>
            </a:r>
            <a:r>
              <a:rPr lang="en-US" sz="1600" dirty="0"/>
              <a:t> the greater the majority, the more likely an individual will conform.</a:t>
            </a:r>
          </a:p>
          <a:p>
            <a:endParaRPr lang="en-US" sz="1600" dirty="0"/>
          </a:p>
        </p:txBody>
      </p:sp>
      <p:pic>
        <p:nvPicPr>
          <p:cNvPr id="5" name="Picture 4" descr="OSC-Stacked-TM-RGB-1.pn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72687" y="241326"/>
            <a:ext cx="1051734" cy="751709"/>
          </a:xfrm>
          <a:prstGeom prst="rect">
            <a:avLst/>
          </a:prstGeom>
        </p:spPr>
      </p:pic>
      <p:pic>
        <p:nvPicPr>
          <p:cNvPr id="6" name="Picture Placeholder 1"/>
          <p:cNvPicPr>
            <a:picLocks noGrp="1" noChangeAspect="1"/>
          </p:cNvPicPr>
          <p:nvPr>
            <p:ph type="pic" sz="quarter" idx="13"/>
          </p:nvPr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792395" y="3451066"/>
            <a:ext cx="3727717" cy="2505516"/>
          </a:xfrm>
        </p:spPr>
      </p:pic>
      <p:sp>
        <p:nvSpPr>
          <p:cNvPr id="7" name="Text Placeholder 6"/>
          <p:cNvSpPr txBox="1">
            <a:spLocks/>
          </p:cNvSpPr>
          <p:nvPr/>
        </p:nvSpPr>
        <p:spPr>
          <a:xfrm>
            <a:off x="457199" y="3432748"/>
            <a:ext cx="4504545" cy="311424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rgbClr val="6CB255"/>
              </a:buClr>
              <a:buFont typeface="Arial" pitchFamily="34" charset="0"/>
              <a:buNone/>
              <a:defRPr sz="2000" b="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731520" indent="-457200" algn="l" defTabSz="914400" rtl="0" eaLnBrk="1" latinLnBrk="0" hangingPunct="1">
              <a:spcBef>
                <a:spcPct val="20000"/>
              </a:spcBef>
              <a:buClr>
                <a:srgbClr val="6CB255"/>
              </a:buClr>
              <a:buFont typeface="+mj-lt"/>
              <a:buAutoNum type="alphaLcParenR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57300" indent="-342900" algn="l" defTabSz="914400" rtl="0" eaLnBrk="1" latinLnBrk="0" hangingPunct="1">
              <a:spcBef>
                <a:spcPct val="20000"/>
              </a:spcBef>
              <a:buClr>
                <a:srgbClr val="6CB255"/>
              </a:buClr>
              <a:buFont typeface="+mj-lt"/>
              <a:buAutoNum type="alphaLcParenR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14500" indent="-342900" algn="l" defTabSz="914400" rtl="0" eaLnBrk="1" latinLnBrk="0" hangingPunct="1">
              <a:spcBef>
                <a:spcPct val="20000"/>
              </a:spcBef>
              <a:buClr>
                <a:srgbClr val="6CB255"/>
              </a:buClr>
              <a:buFont typeface="+mj-lt"/>
              <a:buAutoNum type="alphaLcParenR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1700" indent="-342900" algn="l" defTabSz="914400" rtl="0" eaLnBrk="1" latinLnBrk="0" hangingPunct="1">
              <a:spcBef>
                <a:spcPct val="20000"/>
              </a:spcBef>
              <a:buClr>
                <a:srgbClr val="6CB255"/>
              </a:buClr>
              <a:buFont typeface="+mj-lt"/>
              <a:buAutoNum type="alphaLcParenR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charset="0"/>
              <a:buChar char="•"/>
            </a:pPr>
            <a:r>
              <a:rPr lang="en-US" sz="1600" b="1" dirty="0" smtClean="0"/>
              <a:t>The </a:t>
            </a:r>
            <a:r>
              <a:rPr lang="en-US" sz="1600" b="1" dirty="0"/>
              <a:t>presence of another dissenter </a:t>
            </a:r>
            <a:r>
              <a:rPr lang="mr-IN" sz="1600" dirty="0"/>
              <a:t>–</a:t>
            </a:r>
            <a:r>
              <a:rPr lang="en-US" sz="1600" dirty="0"/>
              <a:t> causes conformity rates to drop to near zero.</a:t>
            </a:r>
          </a:p>
          <a:p>
            <a:pPr marL="285750" indent="-285750">
              <a:buFont typeface="Arial" charset="0"/>
              <a:buChar char="•"/>
            </a:pPr>
            <a:r>
              <a:rPr lang="en-US" sz="1600" b="1" dirty="0"/>
              <a:t>The public or private nature of the responses </a:t>
            </a:r>
            <a:r>
              <a:rPr lang="mr-IN" sz="1600" dirty="0"/>
              <a:t>–</a:t>
            </a:r>
            <a:r>
              <a:rPr lang="en-US" sz="1600" dirty="0"/>
              <a:t> public responses cause more conformity than private</a:t>
            </a:r>
            <a:r>
              <a:rPr lang="en-US" sz="1600" dirty="0" smtClean="0"/>
              <a:t>.</a:t>
            </a:r>
          </a:p>
          <a:p>
            <a:r>
              <a:rPr lang="en-US" sz="1600" dirty="0" smtClean="0"/>
              <a:t>Voting for government officials in the United States is private to reduce the pressure of conformity.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45867" y="5959400"/>
            <a:ext cx="3398133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 dirty="0"/>
              <a:t>Figure 12.18 </a:t>
            </a:r>
            <a:r>
              <a:rPr lang="fr-FR" sz="1300" dirty="0"/>
              <a:t>(</a:t>
            </a:r>
            <a:r>
              <a:rPr lang="fr-FR" sz="1300" dirty="0" err="1"/>
              <a:t>credit</a:t>
            </a:r>
            <a:r>
              <a:rPr lang="fr-FR" sz="1300" dirty="0"/>
              <a:t>: Nicole </a:t>
            </a:r>
            <a:r>
              <a:rPr lang="fr-FR" sz="1300" dirty="0" err="1"/>
              <a:t>Klauss</a:t>
            </a:r>
            <a:r>
              <a:rPr lang="fr-FR" sz="1300" dirty="0" smtClean="0"/>
              <a:t>)</a:t>
            </a: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195601033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569626" y="241326"/>
            <a:ext cx="7950486" cy="659535"/>
          </a:xfrm>
        </p:spPr>
        <p:txBody>
          <a:bodyPr/>
          <a:lstStyle/>
          <a:p>
            <a:r>
              <a:rPr lang="en-US" dirty="0" smtClean="0"/>
              <a:t>Motivation to CONFORM</a:t>
            </a:r>
            <a:endParaRPr lang="en-US" dirty="0"/>
          </a:p>
        </p:txBody>
      </p:sp>
      <p:pic>
        <p:nvPicPr>
          <p:cNvPr id="2" name="Picture Placeholder 1" descr="CNX_Psych_12_04_audience.jpg"/>
          <p:cNvPicPr>
            <a:picLocks noGrp="1" noChangeAspect="1"/>
          </p:cNvPicPr>
          <p:nvPr>
            <p:ph type="pic" sz="quarter" idx="13"/>
          </p:nvPr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356" r="-2356"/>
          <a:stretch>
            <a:fillRect/>
          </a:stretch>
        </p:blipFill>
        <p:spPr>
          <a:xfrm>
            <a:off x="1708878" y="2782744"/>
            <a:ext cx="5192295" cy="2253950"/>
          </a:xfrm>
        </p:spPr>
      </p:pic>
      <p:sp>
        <p:nvSpPr>
          <p:cNvPr id="7" name="Text Placeholder 6"/>
          <p:cNvSpPr>
            <a:spLocks noGrp="1"/>
          </p:cNvSpPr>
          <p:nvPr>
            <p:ph type="body" sz="quarter" idx="14"/>
          </p:nvPr>
        </p:nvSpPr>
        <p:spPr>
          <a:xfrm>
            <a:off x="457199" y="5036694"/>
            <a:ext cx="8367221" cy="1558977"/>
          </a:xfrm>
        </p:spPr>
        <p:txBody>
          <a:bodyPr>
            <a:normAutofit fontScale="92500" lnSpcReduction="20000"/>
          </a:bodyPr>
          <a:lstStyle/>
          <a:p>
            <a:r>
              <a:rPr lang="en-US" sz="1600" dirty="0"/>
              <a:t>People in crowds tend to take cues from others and act accordingly</a:t>
            </a:r>
            <a:r>
              <a:rPr lang="en-US" sz="1600" dirty="0" smtClean="0"/>
              <a:t>.</a:t>
            </a:r>
          </a:p>
          <a:p>
            <a:pPr marL="342900" indent="-342900">
              <a:buFontTx/>
              <a:buAutoNum type="alphaLcParenBoth"/>
            </a:pPr>
            <a:r>
              <a:rPr lang="en-US" sz="1600" dirty="0"/>
              <a:t>An audience is listening to </a:t>
            </a:r>
            <a:r>
              <a:rPr lang="en-US" sz="1600" dirty="0" smtClean="0"/>
              <a:t>a lecture </a:t>
            </a:r>
            <a:r>
              <a:rPr lang="en-US" sz="1600" dirty="0"/>
              <a:t>and people are relatively quiet, still, and attentive to the speaker on </a:t>
            </a:r>
            <a:r>
              <a:rPr lang="en-US" sz="1600" dirty="0" smtClean="0"/>
              <a:t>the stage</a:t>
            </a:r>
            <a:r>
              <a:rPr lang="en-US" sz="1600" dirty="0"/>
              <a:t>.</a:t>
            </a:r>
            <a:r>
              <a:rPr lang="en-US" sz="1600" dirty="0" smtClean="0"/>
              <a:t> </a:t>
            </a:r>
          </a:p>
          <a:p>
            <a:pPr marL="342900" indent="-342900">
              <a:buFontTx/>
              <a:buAutoNum type="alphaLcParenBoth"/>
            </a:pPr>
            <a:r>
              <a:rPr lang="en-US" sz="1600" dirty="0" smtClean="0"/>
              <a:t>An </a:t>
            </a:r>
            <a:r>
              <a:rPr lang="en-US" sz="1600" dirty="0"/>
              <a:t>audience is at a </a:t>
            </a:r>
            <a:r>
              <a:rPr lang="en-US" sz="1600" dirty="0" smtClean="0"/>
              <a:t>rock concert </a:t>
            </a:r>
            <a:r>
              <a:rPr lang="en-US" sz="1600" dirty="0"/>
              <a:t>where people are dancing, singing, and possibly engaging in activities like crowd surfing. </a:t>
            </a:r>
            <a:endParaRPr lang="en-US" sz="1600" dirty="0" smtClean="0"/>
          </a:p>
          <a:p>
            <a:r>
              <a:rPr lang="en-US" sz="1400" dirty="0"/>
              <a:t>Figure </a:t>
            </a:r>
            <a:r>
              <a:rPr lang="en-US" sz="1400" dirty="0" smtClean="0"/>
              <a:t>12.19 </a:t>
            </a:r>
            <a:r>
              <a:rPr lang="en-US" sz="1400" dirty="0"/>
              <a:t>(credit a: modification of work by Matt Brown; credit b: modification of work by Christian </a:t>
            </a:r>
            <a:r>
              <a:rPr lang="en-US" sz="1400" dirty="0" err="1"/>
              <a:t>Holmér</a:t>
            </a:r>
            <a:r>
              <a:rPr lang="en-US" sz="1400" dirty="0"/>
              <a:t>)</a:t>
            </a:r>
          </a:p>
        </p:txBody>
      </p:sp>
      <p:pic>
        <p:nvPicPr>
          <p:cNvPr id="8" name="Picture 7" descr="OSC-Stacked-TM-RGB-1.png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72687" y="241326"/>
            <a:ext cx="1051734" cy="751709"/>
          </a:xfrm>
          <a:prstGeom prst="rect">
            <a:avLst/>
          </a:prstGeom>
        </p:spPr>
      </p:pic>
      <p:sp>
        <p:nvSpPr>
          <p:cNvPr id="6" name="Text Placeholder 3"/>
          <p:cNvSpPr txBox="1">
            <a:spLocks/>
          </p:cNvSpPr>
          <p:nvPr/>
        </p:nvSpPr>
        <p:spPr>
          <a:xfrm>
            <a:off x="457199" y="1186381"/>
            <a:ext cx="8367221" cy="17966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rgbClr val="6CB255"/>
              </a:buClr>
              <a:buFont typeface="Arial" pitchFamily="34" charset="0"/>
              <a:buNone/>
              <a:defRPr sz="2000" b="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731520" indent="-457200" algn="l" defTabSz="914400" rtl="0" eaLnBrk="1" latinLnBrk="0" hangingPunct="1">
              <a:spcBef>
                <a:spcPct val="20000"/>
              </a:spcBef>
              <a:buClr>
                <a:srgbClr val="6CB255"/>
              </a:buClr>
              <a:buFont typeface="+mj-lt"/>
              <a:buAutoNum type="alphaLcParenR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57300" indent="-342900" algn="l" defTabSz="914400" rtl="0" eaLnBrk="1" latinLnBrk="0" hangingPunct="1">
              <a:spcBef>
                <a:spcPct val="20000"/>
              </a:spcBef>
              <a:buClr>
                <a:srgbClr val="6CB255"/>
              </a:buClr>
              <a:buFont typeface="+mj-lt"/>
              <a:buAutoNum type="alphaLcParenR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14500" indent="-342900" algn="l" defTabSz="914400" rtl="0" eaLnBrk="1" latinLnBrk="0" hangingPunct="1">
              <a:spcBef>
                <a:spcPct val="20000"/>
              </a:spcBef>
              <a:buClr>
                <a:srgbClr val="6CB255"/>
              </a:buClr>
              <a:buFont typeface="+mj-lt"/>
              <a:buAutoNum type="alphaLcParenR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1700" indent="-342900" algn="l" defTabSz="914400" rtl="0" eaLnBrk="1" latinLnBrk="0" hangingPunct="1">
              <a:spcBef>
                <a:spcPct val="20000"/>
              </a:spcBef>
              <a:buClr>
                <a:srgbClr val="6CB255"/>
              </a:buClr>
              <a:buFont typeface="+mj-lt"/>
              <a:buAutoNum type="alphaLcParenR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b="1" dirty="0" smtClean="0"/>
              <a:t>Normative social influence </a:t>
            </a:r>
            <a:r>
              <a:rPr lang="mr-IN" sz="1600" dirty="0" smtClean="0"/>
              <a:t>–</a:t>
            </a:r>
            <a:r>
              <a:rPr lang="en-US" sz="1600" dirty="0" smtClean="0"/>
              <a:t> people conform to the group norm to fit in, to feel good, and to be accepted by the group.</a:t>
            </a:r>
          </a:p>
          <a:p>
            <a:r>
              <a:rPr lang="en-US" sz="1600" b="1" dirty="0" smtClean="0"/>
              <a:t>Informational social influence </a:t>
            </a:r>
            <a:r>
              <a:rPr lang="mr-IN" sz="1600" dirty="0" smtClean="0"/>
              <a:t>–</a:t>
            </a:r>
            <a:r>
              <a:rPr lang="en-US" sz="1600" dirty="0" smtClean="0"/>
              <a:t> people conform because they believe the group is competent and has the correct information, particularly when the task or situation is ambiguous.</a:t>
            </a:r>
          </a:p>
        </p:txBody>
      </p:sp>
    </p:spTree>
    <p:extLst>
      <p:ext uri="{BB962C8B-B14F-4D97-AF65-F5344CB8AC3E}">
        <p14:creationId xmlns:p14="http://schemas.microsoft.com/office/powerpoint/2010/main" val="86415917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457200" y="241326"/>
            <a:ext cx="8062912" cy="751709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OBEDIENCE</a:t>
            </a:r>
            <a:br>
              <a:rPr lang="en-US" dirty="0" smtClean="0"/>
            </a:br>
            <a:r>
              <a:rPr lang="en-US" dirty="0" smtClean="0">
                <a:latin typeface="+mn-lt"/>
              </a:rPr>
              <a:t>STANLEY MILGRAM</a:t>
            </a:r>
            <a:endParaRPr lang="en-US" dirty="0">
              <a:latin typeface="+mn-lt"/>
            </a:endParaRPr>
          </a:p>
        </p:txBody>
      </p:sp>
      <p:pic>
        <p:nvPicPr>
          <p:cNvPr id="2" name="Picture Placeholder 1" descr="CNX_Psych_12_04_milgram.jpg"/>
          <p:cNvPicPr>
            <a:picLocks noGrp="1" noChangeAspect="1"/>
          </p:cNvPicPr>
          <p:nvPr>
            <p:ph type="pic" sz="quarter" idx="13"/>
          </p:nvPr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6705" r="-6705"/>
          <a:stretch>
            <a:fillRect/>
          </a:stretch>
        </p:blipFill>
        <p:spPr>
          <a:xfrm>
            <a:off x="1405328" y="3976713"/>
            <a:ext cx="6166656" cy="2676915"/>
          </a:xfrm>
        </p:spPr>
      </p:pic>
      <p:sp>
        <p:nvSpPr>
          <p:cNvPr id="7" name="Text Placeholder 6"/>
          <p:cNvSpPr>
            <a:spLocks noGrp="1"/>
          </p:cNvSpPr>
          <p:nvPr>
            <p:ph type="body" sz="quarter" idx="14"/>
          </p:nvPr>
        </p:nvSpPr>
        <p:spPr>
          <a:xfrm>
            <a:off x="457200" y="1208363"/>
            <a:ext cx="8367221" cy="2599139"/>
          </a:xfrm>
        </p:spPr>
        <p:txBody>
          <a:bodyPr>
            <a:normAutofit lnSpcReduction="10000"/>
          </a:bodyPr>
          <a:lstStyle/>
          <a:p>
            <a:r>
              <a:rPr lang="en-US" sz="1600" b="1" dirty="0" smtClean="0"/>
              <a:t>Obedience</a:t>
            </a:r>
            <a:r>
              <a:rPr lang="en-US" sz="1600" dirty="0" smtClean="0"/>
              <a:t> </a:t>
            </a:r>
            <a:r>
              <a:rPr lang="mr-IN" sz="1600" dirty="0" smtClean="0"/>
              <a:t>–</a:t>
            </a:r>
            <a:r>
              <a:rPr lang="en-US" sz="1600" dirty="0" smtClean="0"/>
              <a:t> the change of an individual’s behavior to comply with a demand by an authority figure.</a:t>
            </a:r>
          </a:p>
          <a:p>
            <a:r>
              <a:rPr lang="en-US" sz="1600" dirty="0" smtClean="0"/>
              <a:t>The </a:t>
            </a:r>
            <a:r>
              <a:rPr lang="en-US" sz="1600" dirty="0"/>
              <a:t>Milgram experiment showed the surprising degree to which people obey authority. </a:t>
            </a:r>
            <a:endParaRPr lang="en-US" sz="1600" dirty="0" smtClean="0"/>
          </a:p>
          <a:p>
            <a:pPr marL="285750" indent="-285750">
              <a:buFont typeface="Arial" charset="0"/>
              <a:buChar char="•"/>
            </a:pPr>
            <a:r>
              <a:rPr lang="en-US" sz="1600" dirty="0" smtClean="0"/>
              <a:t>Participants were told to shock “learners” (confederate) for giving a wrong answer to test items.</a:t>
            </a:r>
          </a:p>
          <a:p>
            <a:pPr marL="285750" indent="-285750">
              <a:buFont typeface="Arial" charset="0"/>
              <a:buChar char="•"/>
            </a:pPr>
            <a:r>
              <a:rPr lang="en-US" sz="1600" dirty="0" smtClean="0"/>
              <a:t>Participants believed they were giving the learners shocks, which increased all the way up to 450 volts.</a:t>
            </a:r>
            <a:endParaRPr lang="en-US" sz="1600" dirty="0"/>
          </a:p>
          <a:p>
            <a:pPr marL="285750" indent="-285750">
              <a:buFont typeface="Arial" charset="0"/>
              <a:buChar char="•"/>
            </a:pPr>
            <a:r>
              <a:rPr lang="en-US" sz="1600" dirty="0" smtClean="0"/>
              <a:t>Two </a:t>
            </a:r>
            <a:r>
              <a:rPr lang="en-US" sz="1600" dirty="0"/>
              <a:t>out of three (65%) participants continued to administer shocks to an unresponsive learner.</a:t>
            </a:r>
          </a:p>
        </p:txBody>
      </p:sp>
      <p:pic>
        <p:nvPicPr>
          <p:cNvPr id="8" name="Picture 7" descr="OSC-Stacked-TM-RGB-1.png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72687" y="241326"/>
            <a:ext cx="1051734" cy="75170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0414" y="6361932"/>
            <a:ext cx="1514007" cy="2916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 dirty="0"/>
              <a:t>Figure 12.20</a:t>
            </a:r>
          </a:p>
        </p:txBody>
      </p:sp>
    </p:spTree>
    <p:extLst>
      <p:ext uri="{BB962C8B-B14F-4D97-AF65-F5344CB8AC3E}">
        <p14:creationId xmlns:p14="http://schemas.microsoft.com/office/powerpoint/2010/main" val="348279747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41327"/>
            <a:ext cx="8062912" cy="643094"/>
          </a:xfrm>
        </p:spPr>
        <p:txBody>
          <a:bodyPr>
            <a:normAutofit/>
          </a:bodyPr>
          <a:lstStyle/>
          <a:p>
            <a:r>
              <a:rPr lang="en-US" dirty="0" smtClean="0"/>
              <a:t>GROUPTHINK &amp; group polarization</a:t>
            </a:r>
            <a:endParaRPr lang="en-US" dirty="0">
              <a:latin typeface="+mn-lt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>
          <a:xfrm>
            <a:off x="457198" y="1161610"/>
            <a:ext cx="8367221" cy="2442979"/>
          </a:xfrm>
        </p:spPr>
        <p:txBody>
          <a:bodyPr>
            <a:normAutofit/>
          </a:bodyPr>
          <a:lstStyle/>
          <a:p>
            <a:pPr>
              <a:spcBef>
                <a:spcPts val="384"/>
              </a:spcBef>
            </a:pPr>
            <a:r>
              <a:rPr lang="en-US" sz="1600" b="1" u="sng" dirty="0" smtClean="0">
                <a:solidFill>
                  <a:srgbClr val="6CB255"/>
                </a:solidFill>
              </a:rPr>
              <a:t>Groupthink</a:t>
            </a:r>
          </a:p>
          <a:p>
            <a:pPr>
              <a:spcBef>
                <a:spcPts val="384"/>
              </a:spcBef>
            </a:pPr>
            <a:r>
              <a:rPr lang="en-US" sz="1600" dirty="0" smtClean="0"/>
              <a:t>he modification of the opinions of members of a group to align with what they believe is the group consensus.</a:t>
            </a:r>
          </a:p>
          <a:p>
            <a:pPr marL="285750" indent="-285750">
              <a:spcBef>
                <a:spcPts val="384"/>
              </a:spcBef>
              <a:buFont typeface="Arial" charset="0"/>
              <a:buChar char="•"/>
            </a:pPr>
            <a:r>
              <a:rPr lang="en-US" sz="1600" dirty="0" smtClean="0"/>
              <a:t>Groups often take action that individuals would not perform outside the group setting because groups make more extreme decisions that individuals do.</a:t>
            </a:r>
          </a:p>
          <a:p>
            <a:pPr marL="285750" indent="-285750">
              <a:spcBef>
                <a:spcPts val="384"/>
              </a:spcBef>
              <a:buFont typeface="Arial" charset="0"/>
              <a:buChar char="•"/>
            </a:pPr>
            <a:r>
              <a:rPr lang="en-US" sz="1600" dirty="0" smtClean="0"/>
              <a:t>Members are less likely to express diverse opinions which can lead to faulty decision making.</a:t>
            </a:r>
          </a:p>
        </p:txBody>
      </p:sp>
      <p:pic>
        <p:nvPicPr>
          <p:cNvPr id="5" name="Picture 4" descr="OSC-Stacked-TM-RGB-1.pn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72687" y="241326"/>
            <a:ext cx="1051734" cy="751709"/>
          </a:xfrm>
          <a:prstGeom prst="rect">
            <a:avLst/>
          </a:prstGeom>
        </p:spPr>
      </p:pic>
      <p:sp>
        <p:nvSpPr>
          <p:cNvPr id="6" name="Text Placeholder 3"/>
          <p:cNvSpPr txBox="1">
            <a:spLocks/>
          </p:cNvSpPr>
          <p:nvPr/>
        </p:nvSpPr>
        <p:spPr>
          <a:xfrm>
            <a:off x="457198" y="3604589"/>
            <a:ext cx="8367221" cy="116638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rgbClr val="6CB255"/>
              </a:buClr>
              <a:buFont typeface="Arial" pitchFamily="34" charset="0"/>
              <a:buNone/>
              <a:defRPr sz="2000" b="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731520" indent="-457200" algn="l" defTabSz="914400" rtl="0" eaLnBrk="1" latinLnBrk="0" hangingPunct="1">
              <a:spcBef>
                <a:spcPct val="20000"/>
              </a:spcBef>
              <a:buClr>
                <a:srgbClr val="6CB255"/>
              </a:buClr>
              <a:buFont typeface="+mj-lt"/>
              <a:buAutoNum type="alphaLcParenR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57300" indent="-342900" algn="l" defTabSz="914400" rtl="0" eaLnBrk="1" latinLnBrk="0" hangingPunct="1">
              <a:spcBef>
                <a:spcPct val="20000"/>
              </a:spcBef>
              <a:buClr>
                <a:srgbClr val="6CB255"/>
              </a:buClr>
              <a:buFont typeface="+mj-lt"/>
              <a:buAutoNum type="alphaLcParenR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14500" indent="-342900" algn="l" defTabSz="914400" rtl="0" eaLnBrk="1" latinLnBrk="0" hangingPunct="1">
              <a:spcBef>
                <a:spcPct val="20000"/>
              </a:spcBef>
              <a:buClr>
                <a:srgbClr val="6CB255"/>
              </a:buClr>
              <a:buFont typeface="+mj-lt"/>
              <a:buAutoNum type="alphaLcParenR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1700" indent="-342900" algn="l" defTabSz="914400" rtl="0" eaLnBrk="1" latinLnBrk="0" hangingPunct="1">
              <a:spcBef>
                <a:spcPct val="20000"/>
              </a:spcBef>
              <a:buClr>
                <a:srgbClr val="6CB255"/>
              </a:buClr>
              <a:buFont typeface="+mj-lt"/>
              <a:buAutoNum type="alphaLcParenR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b="1" u="sng" dirty="0" smtClean="0">
                <a:solidFill>
                  <a:srgbClr val="6CB255"/>
                </a:solidFill>
              </a:rPr>
              <a:t>Group Polarization</a:t>
            </a:r>
          </a:p>
          <a:p>
            <a:r>
              <a:rPr lang="en-US" sz="1600" dirty="0" smtClean="0"/>
              <a:t>The strengthening of an original group attitude after the discussion of views within a group.</a:t>
            </a:r>
          </a:p>
          <a:p>
            <a:pPr marL="285750" indent="-285750">
              <a:buFont typeface="Arial" charset="0"/>
              <a:buChar char="•"/>
            </a:pPr>
            <a:r>
              <a:rPr lang="en-US" sz="1600" i="1" dirty="0" smtClean="0"/>
              <a:t>Does your opinion change if you find someone attractive, but you friends do not agree?</a:t>
            </a:r>
            <a:endParaRPr lang="en-US" sz="1600" i="1" dirty="0"/>
          </a:p>
        </p:txBody>
      </p:sp>
    </p:spTree>
    <p:extLst>
      <p:ext uri="{BB962C8B-B14F-4D97-AF65-F5344CB8AC3E}">
        <p14:creationId xmlns:p14="http://schemas.microsoft.com/office/powerpoint/2010/main" val="131940276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SOCIAL </a:t>
            </a:r>
            <a:r>
              <a:rPr lang="en-US" dirty="0" err="1" smtClean="0"/>
              <a:t>FACILITation</a:t>
            </a:r>
            <a:r>
              <a:rPr lang="en-US" dirty="0" smtClean="0"/>
              <a:t> &amp; Social loafing</a:t>
            </a:r>
            <a:endParaRPr lang="en-US" dirty="0"/>
          </a:p>
        </p:txBody>
      </p:sp>
      <p:pic>
        <p:nvPicPr>
          <p:cNvPr id="2" name="Picture Placeholder 1" descr="CNX_Psych_12_04_freethrow.jpg"/>
          <p:cNvPicPr>
            <a:picLocks noGrp="1" noChangeAspect="1"/>
          </p:cNvPicPr>
          <p:nvPr>
            <p:ph type="pic" sz="quarter" idx="13"/>
          </p:nvPr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2051" r="-42051"/>
          <a:stretch>
            <a:fillRect/>
          </a:stretch>
        </p:blipFill>
        <p:spPr>
          <a:xfrm>
            <a:off x="3947577" y="2670483"/>
            <a:ext cx="6390850" cy="2774236"/>
          </a:xfrm>
        </p:spPr>
      </p:pic>
      <p:sp>
        <p:nvSpPr>
          <p:cNvPr id="7" name="Text Placeholder 6"/>
          <p:cNvSpPr>
            <a:spLocks noGrp="1"/>
          </p:cNvSpPr>
          <p:nvPr>
            <p:ph type="body" sz="quarter" idx="14"/>
          </p:nvPr>
        </p:nvSpPr>
        <p:spPr>
          <a:xfrm>
            <a:off x="5255850" y="5610969"/>
            <a:ext cx="3568570" cy="792320"/>
          </a:xfrm>
        </p:spPr>
        <p:txBody>
          <a:bodyPr>
            <a:normAutofit lnSpcReduction="10000"/>
          </a:bodyPr>
          <a:lstStyle/>
          <a:p>
            <a:r>
              <a:rPr lang="en-US" sz="1300" dirty="0"/>
              <a:t>The attention of the crowd can motivate a skilled athlete. </a:t>
            </a:r>
            <a:endParaRPr lang="en-US" sz="1300" dirty="0" smtClean="0"/>
          </a:p>
          <a:p>
            <a:r>
              <a:rPr lang="en-US" sz="1300" dirty="0"/>
              <a:t>Figure </a:t>
            </a:r>
            <a:r>
              <a:rPr lang="en-US" sz="1300" dirty="0" smtClean="0"/>
              <a:t>12.21 (</a:t>
            </a:r>
            <a:r>
              <a:rPr lang="en-US" sz="1300" dirty="0"/>
              <a:t>credit: Tommy </a:t>
            </a:r>
            <a:r>
              <a:rPr lang="en-US" sz="1300" dirty="0" smtClean="0"/>
              <a:t>Gilligan/USMA</a:t>
            </a:r>
            <a:r>
              <a:rPr lang="en-US" sz="1300" dirty="0"/>
              <a:t>)</a:t>
            </a:r>
          </a:p>
        </p:txBody>
      </p:sp>
      <p:pic>
        <p:nvPicPr>
          <p:cNvPr id="8" name="Picture 7" descr="OSC-Stacked-TM-RGB-1.png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72687" y="241326"/>
            <a:ext cx="1051734" cy="75170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198" y="993035"/>
            <a:ext cx="8367221" cy="19928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480"/>
              </a:spcBef>
              <a:spcAft>
                <a:spcPts val="600"/>
              </a:spcAft>
              <a:buClr>
                <a:srgbClr val="6CB255"/>
              </a:buClr>
            </a:pPr>
            <a:r>
              <a:rPr lang="en-US" sz="1600" b="1" u="sng" dirty="0" smtClean="0">
                <a:solidFill>
                  <a:srgbClr val="6CB255"/>
                </a:solidFill>
              </a:rPr>
              <a:t>Social Facilitation </a:t>
            </a:r>
            <a:r>
              <a:rPr lang="en-US" sz="1600" dirty="0" smtClean="0"/>
              <a:t> </a:t>
            </a:r>
          </a:p>
          <a:p>
            <a:pPr>
              <a:spcBef>
                <a:spcPts val="480"/>
              </a:spcBef>
              <a:spcAft>
                <a:spcPts val="600"/>
              </a:spcAft>
              <a:buClr>
                <a:srgbClr val="6CB255"/>
              </a:buClr>
            </a:pPr>
            <a:r>
              <a:rPr lang="en-US" sz="1600" dirty="0"/>
              <a:t>O</a:t>
            </a:r>
            <a:r>
              <a:rPr lang="en-US" sz="1600" dirty="0" smtClean="0"/>
              <a:t>ccurs when an individual performs better when an audience is watching than when the individual performs the behavior alone.</a:t>
            </a:r>
          </a:p>
          <a:p>
            <a:pPr marL="285750" indent="-285750">
              <a:spcBef>
                <a:spcPts val="480"/>
              </a:spcBef>
              <a:spcAft>
                <a:spcPts val="600"/>
              </a:spcAft>
              <a:buClr>
                <a:srgbClr val="6CB255"/>
              </a:buClr>
              <a:buFont typeface="Arial" charset="0"/>
              <a:buChar char="•"/>
            </a:pPr>
            <a:r>
              <a:rPr lang="en-US" sz="1600" dirty="0"/>
              <a:t>Usually occurs when people are performing a task for which they are skilled or an easy task</a:t>
            </a:r>
            <a:r>
              <a:rPr lang="en-US" sz="1600" dirty="0" smtClean="0"/>
              <a:t>.</a:t>
            </a:r>
          </a:p>
          <a:p>
            <a:pPr>
              <a:spcBef>
                <a:spcPts val="480"/>
              </a:spcBef>
              <a:spcAft>
                <a:spcPts val="600"/>
              </a:spcAft>
              <a:buClr>
                <a:srgbClr val="6CB255"/>
              </a:buClr>
            </a:pPr>
            <a:endParaRPr lang="en-US" sz="1600" dirty="0"/>
          </a:p>
        </p:txBody>
      </p:sp>
      <p:sp>
        <p:nvSpPr>
          <p:cNvPr id="4" name="TextBox 3"/>
          <p:cNvSpPr txBox="1"/>
          <p:nvPr/>
        </p:nvSpPr>
        <p:spPr>
          <a:xfrm>
            <a:off x="457196" y="3270432"/>
            <a:ext cx="4798654" cy="35702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384"/>
              </a:spcBef>
              <a:spcAft>
                <a:spcPts val="600"/>
              </a:spcAft>
              <a:buClr>
                <a:srgbClr val="6CB255"/>
              </a:buClr>
            </a:pPr>
            <a:r>
              <a:rPr lang="en-US" sz="1600" dirty="0" smtClean="0"/>
              <a:t>However, when people are nervous or less skilled, an audience may hinder rather than help - </a:t>
            </a:r>
          </a:p>
          <a:p>
            <a:pPr>
              <a:spcBef>
                <a:spcPts val="384"/>
              </a:spcBef>
              <a:spcAft>
                <a:spcPts val="600"/>
              </a:spcAft>
              <a:buClr>
                <a:srgbClr val="6CB255"/>
              </a:buClr>
            </a:pPr>
            <a:r>
              <a:rPr lang="en-US" sz="1600" b="1" u="sng" dirty="0"/>
              <a:t>Social </a:t>
            </a:r>
            <a:r>
              <a:rPr lang="en-US" sz="1600" b="1" u="sng" dirty="0" smtClean="0"/>
              <a:t>Inhibition</a:t>
            </a:r>
            <a:endParaRPr lang="en-US" sz="1600" u="sng" dirty="0" smtClean="0"/>
          </a:p>
          <a:p>
            <a:pPr>
              <a:spcBef>
                <a:spcPts val="384"/>
              </a:spcBef>
              <a:spcAft>
                <a:spcPts val="600"/>
              </a:spcAft>
              <a:buClr>
                <a:srgbClr val="6CB255"/>
              </a:buClr>
            </a:pPr>
            <a:r>
              <a:rPr lang="en-US" sz="1600" dirty="0" smtClean="0"/>
              <a:t>Presence of others leads to worse performance when completing more complex tasks</a:t>
            </a:r>
          </a:p>
          <a:p>
            <a:pPr>
              <a:spcBef>
                <a:spcPts val="384"/>
              </a:spcBef>
              <a:spcAft>
                <a:spcPts val="600"/>
              </a:spcAft>
              <a:buClr>
                <a:srgbClr val="6CB255"/>
              </a:buClr>
            </a:pPr>
            <a:endParaRPr lang="en-US" sz="1600" dirty="0"/>
          </a:p>
          <a:p>
            <a:pPr marL="285750" indent="-285750">
              <a:spcBef>
                <a:spcPts val="384"/>
              </a:spcBef>
              <a:spcAft>
                <a:spcPts val="600"/>
              </a:spcAft>
              <a:buClr>
                <a:srgbClr val="6CB255"/>
              </a:buClr>
              <a:buFont typeface="Arial" panose="020B0604020202020204" pitchFamily="34" charset="0"/>
              <a:buChar char="•"/>
            </a:pPr>
            <a:r>
              <a:rPr lang="en-US" sz="1600" dirty="0" smtClean="0"/>
              <a:t>Due to complex tasks reaching peak performance at lower arousal compared to simple tasks</a:t>
            </a:r>
          </a:p>
          <a:p>
            <a:pPr marL="285750" indent="-285750">
              <a:spcBef>
                <a:spcPts val="384"/>
              </a:spcBef>
              <a:spcAft>
                <a:spcPts val="600"/>
              </a:spcAft>
              <a:buClr>
                <a:srgbClr val="6CB255"/>
              </a:buClr>
              <a:buFont typeface="Arial" panose="020B0604020202020204" pitchFamily="34" charset="0"/>
              <a:buChar char="•"/>
            </a:pPr>
            <a:r>
              <a:rPr lang="en-US" sz="1600" dirty="0" smtClean="0"/>
              <a:t>E.g. cleaning?</a:t>
            </a:r>
            <a:endParaRPr lang="en-US" sz="1600" dirty="0"/>
          </a:p>
          <a:p>
            <a:pPr>
              <a:spcBef>
                <a:spcPts val="384"/>
              </a:spcBef>
              <a:spcAft>
                <a:spcPts val="600"/>
              </a:spcAft>
              <a:buClr>
                <a:srgbClr val="6CB255"/>
              </a:buClr>
            </a:pP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78005455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41326"/>
            <a:ext cx="8062912" cy="568143"/>
          </a:xfrm>
        </p:spPr>
        <p:txBody>
          <a:bodyPr>
            <a:normAutofit/>
          </a:bodyPr>
          <a:lstStyle/>
          <a:p>
            <a:r>
              <a:rPr lang="en-US" dirty="0" smtClean="0"/>
              <a:t>THE </a:t>
            </a:r>
            <a:r>
              <a:rPr lang="en-US" smtClean="0"/>
              <a:t>BYSTANDER EFFECT</a:t>
            </a:r>
            <a:endParaRPr lang="en-US" dirty="0">
              <a:latin typeface="+mn-lt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>
          <a:xfrm>
            <a:off x="457199" y="1199213"/>
            <a:ext cx="8367221" cy="3417757"/>
          </a:xfrm>
        </p:spPr>
        <p:txBody>
          <a:bodyPr>
            <a:normAutofit/>
          </a:bodyPr>
          <a:lstStyle/>
          <a:p>
            <a:r>
              <a:rPr lang="en-US" sz="1600" b="1" u="sng" dirty="0" smtClean="0">
                <a:solidFill>
                  <a:srgbClr val="6CB255"/>
                </a:solidFill>
              </a:rPr>
              <a:t>Kitty Genovese (1964)</a:t>
            </a:r>
          </a:p>
          <a:p>
            <a:pPr marL="285750" indent="-285750">
              <a:buFont typeface="Arial" charset="0"/>
              <a:buChar char="•"/>
            </a:pPr>
            <a:r>
              <a:rPr lang="en-US" sz="1600" dirty="0" smtClean="0"/>
              <a:t>Attacked and killed with a knife outside her apartment building.</a:t>
            </a:r>
          </a:p>
          <a:p>
            <a:pPr marL="285750" indent="-285750">
              <a:buFont typeface="Arial" charset="0"/>
              <a:buChar char="•"/>
            </a:pPr>
            <a:r>
              <a:rPr lang="en-US" sz="1600" dirty="0" smtClean="0"/>
              <a:t>Residents in the apartment building heard her scream for help numerous times but did nothing.</a:t>
            </a:r>
          </a:p>
          <a:p>
            <a:r>
              <a:rPr lang="en-US" sz="1600" b="1" u="sng" dirty="0" err="1">
                <a:solidFill>
                  <a:srgbClr val="6CB255"/>
                </a:solidFill>
              </a:rPr>
              <a:t>Latane</a:t>
            </a:r>
            <a:r>
              <a:rPr lang="en-US" sz="1600" b="1" u="sng" dirty="0">
                <a:solidFill>
                  <a:srgbClr val="6CB255"/>
                </a:solidFill>
              </a:rPr>
              <a:t> &amp; Darley</a:t>
            </a:r>
            <a:endParaRPr lang="en-US" sz="1600" b="1" u="sng" dirty="0" smtClean="0">
              <a:solidFill>
                <a:srgbClr val="6CB255"/>
              </a:solidFill>
            </a:endParaRPr>
          </a:p>
          <a:p>
            <a:r>
              <a:rPr lang="en-US" sz="1600" b="1" dirty="0" smtClean="0"/>
              <a:t>Bystander Effect </a:t>
            </a:r>
            <a:r>
              <a:rPr lang="mr-IN" sz="1600" dirty="0" smtClean="0"/>
              <a:t>–</a:t>
            </a:r>
            <a:r>
              <a:rPr lang="en-US" sz="1600" dirty="0" smtClean="0"/>
              <a:t> phenomenon in which a witness/bystander does not volunteer to help a victim or person in distress.</a:t>
            </a:r>
          </a:p>
          <a:p>
            <a:pPr marL="285750" indent="-285750">
              <a:buFont typeface="Arial" charset="0"/>
              <a:buChar char="•"/>
            </a:pPr>
            <a:r>
              <a:rPr lang="en-US" sz="1600" dirty="0" smtClean="0"/>
              <a:t>Based on the social situation, not personality variables.</a:t>
            </a:r>
          </a:p>
          <a:p>
            <a:pPr marL="285750" indent="-285750">
              <a:buFont typeface="Arial" charset="0"/>
              <a:buChar char="•"/>
            </a:pPr>
            <a:r>
              <a:rPr lang="en-US" sz="1600" b="1" dirty="0" smtClean="0"/>
              <a:t>Diffusion of responsibility </a:t>
            </a:r>
            <a:r>
              <a:rPr lang="mr-IN" sz="1600" dirty="0" smtClean="0"/>
              <a:t>–</a:t>
            </a:r>
            <a:r>
              <a:rPr lang="en-US" sz="1600" dirty="0" smtClean="0"/>
              <a:t> tendency for no one in a group to help because the responsibility to help is spread throughout the group.</a:t>
            </a:r>
            <a:endParaRPr lang="en-US" sz="1600" dirty="0"/>
          </a:p>
        </p:txBody>
      </p:sp>
      <p:pic>
        <p:nvPicPr>
          <p:cNvPr id="5" name="Picture 4" descr="OSC-Stacked-TM-RGB-1.pn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72687" y="241326"/>
            <a:ext cx="1051734" cy="7517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443446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Essential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sential">
      <a:majorFont>
        <a:latin typeface="Arial Black"/>
        <a:ea typeface=""/>
        <a:cs typeface=""/>
        <a:font script="Jpan" typeface="ＭＳ Ｐゴシック"/>
        <a:font script="Hang" typeface="HY견고딕"/>
        <a:font script="Hans" typeface="微软雅黑"/>
        <a:font script="Hant" typeface="微軟正黑體"/>
        <a:font script="Arab" typeface="Tahoma"/>
        <a:font script="Hebr" typeface="Tahoma"/>
        <a:font script="Thai" typeface="Tahoma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sential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250000"/>
              </a:schemeClr>
            </a:gs>
            <a:gs pos="35000">
              <a:schemeClr val="phClr">
                <a:tint val="47000"/>
                <a:satMod val="275000"/>
              </a:schemeClr>
            </a:gs>
            <a:gs pos="100000">
              <a:schemeClr val="phClr">
                <a:tint val="25000"/>
                <a:satMod val="300000"/>
              </a:schemeClr>
            </a:gs>
          </a:gsLst>
          <a:lin ang="16200000" scaled="1"/>
        </a:gradFill>
        <a:solidFill>
          <a:schemeClr val="phClr">
            <a:satMod val="110000"/>
          </a:schemeClr>
        </a:soli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  <a:ln w="4127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9999" dist="23000" algn="bl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38100" dist="19050" algn="bl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l"/>
          </a:scene3d>
          <a:sp3d prstMaterial="plastic">
            <a:bevelT w="38100" h="31750"/>
          </a:sp3d>
        </a:effectStyle>
      </a:effectStyleLst>
      <a:bg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96000"/>
              </a:schemeClr>
              <a:schemeClr val="phClr">
                <a:shade val="94000"/>
              </a:schemeClr>
            </a:duotone>
          </a:blip>
          <a:tile tx="0" ty="0" sx="100000" sy="100000" flip="none" algn="tl"/>
        </a:blipFill>
        <a:gradFill rotWithShape="1">
          <a:gsLst>
            <a:gs pos="0">
              <a:schemeClr val="phClr">
                <a:tint val="84000"/>
                <a:satMod val="110000"/>
              </a:schemeClr>
            </a:gs>
            <a:gs pos="44000">
              <a:schemeClr val="phClr">
                <a:tint val="93000"/>
                <a:satMod val="115000"/>
              </a:schemeClr>
            </a:gs>
            <a:gs pos="100000">
              <a:schemeClr val="phClr">
                <a:tint val="100000"/>
                <a:shade val="59000"/>
                <a:satMod val="120000"/>
              </a:schemeClr>
            </a:gs>
          </a:gsLst>
          <a:path path="circle">
            <a:fillToRect l="40000" t="60000" r="60000" b="4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11622</TotalTime>
  <Words>2409</Words>
  <Application>Microsoft Office PowerPoint</Application>
  <PresentationFormat>On-screen Show (4:3)</PresentationFormat>
  <Paragraphs>214</Paragraphs>
  <Slides>28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3" baseType="lpstr">
      <vt:lpstr>Arial</vt:lpstr>
      <vt:lpstr>Arial Black</vt:lpstr>
      <vt:lpstr>Calibri</vt:lpstr>
      <vt:lpstr>Mangal</vt:lpstr>
      <vt:lpstr>Essential</vt:lpstr>
      <vt:lpstr>PowerPoint Presentation</vt:lpstr>
      <vt:lpstr>Social psychology</vt:lpstr>
      <vt:lpstr>What is social psychology?</vt:lpstr>
      <vt:lpstr>Situational &amp; Dispositional  influences on behavior  Heider – attribution theory (motives/reasons behind behavior)</vt:lpstr>
      <vt:lpstr> Heider – attribution theory cont.</vt:lpstr>
      <vt:lpstr>Fundamental attribution error</vt:lpstr>
      <vt:lpstr>Is the fundamental attribution error a universal phenomenon?</vt:lpstr>
      <vt:lpstr>Actor-observer bias</vt:lpstr>
      <vt:lpstr>Self-serving bias – De Michele et. Al.</vt:lpstr>
      <vt:lpstr>Kelley’s ‘General model of attribution’</vt:lpstr>
      <vt:lpstr>Just world hypothesis</vt:lpstr>
      <vt:lpstr>Attribution Theory - summary</vt:lpstr>
      <vt:lpstr>PowerPoint Presentation</vt:lpstr>
      <vt:lpstr>SOCIAL ROLES</vt:lpstr>
      <vt:lpstr>Social norms &amp; scripts</vt:lpstr>
      <vt:lpstr>Philip ZIMBARDO</vt:lpstr>
      <vt:lpstr>PowerPoint Presentation</vt:lpstr>
      <vt:lpstr>attitude</vt:lpstr>
      <vt:lpstr>Cognitive dissonance</vt:lpstr>
      <vt:lpstr>COGNITIVE DISSONANCE</vt:lpstr>
      <vt:lpstr>PowerPoint Presentation</vt:lpstr>
      <vt:lpstr> CONFORMITY SOLOMON ASCH</vt:lpstr>
      <vt:lpstr>Conformity Solomon Asch</vt:lpstr>
      <vt:lpstr>Motivation to CONFORM</vt:lpstr>
      <vt:lpstr>OBEDIENCE STANLEY MILGRAM</vt:lpstr>
      <vt:lpstr>GROUPTHINK &amp; group polarization</vt:lpstr>
      <vt:lpstr>SOCIAL FACILITation &amp; Social loafing</vt:lpstr>
      <vt:lpstr>THE BYSTANDER EFFECT</vt:lpstr>
    </vt:vector>
  </TitlesOfParts>
  <Company>WNI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Physics</dc:title>
  <dc:creator>Spuddy McSpare</dc:creator>
  <cp:lastModifiedBy>EDWARDS Natalie [Narrogin Senior High School]</cp:lastModifiedBy>
  <cp:revision>168</cp:revision>
  <dcterms:created xsi:type="dcterms:W3CDTF">2012-06-04T02:13:36Z</dcterms:created>
  <dcterms:modified xsi:type="dcterms:W3CDTF">2021-07-28T01:15:14Z</dcterms:modified>
</cp:coreProperties>
</file>
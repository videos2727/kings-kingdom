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247" r:id="rId1"/>
  </p:sldMasterIdLst>
  <p:notesMasterIdLst>
    <p:notesMasterId r:id="rId17"/>
  </p:notesMasterIdLst>
  <p:sldIdLst>
    <p:sldId id="256" r:id="rId2"/>
    <p:sldId id="257" r:id="rId3"/>
    <p:sldId id="268" r:id="rId4"/>
    <p:sldId id="258" r:id="rId5"/>
    <p:sldId id="272" r:id="rId6"/>
    <p:sldId id="273" r:id="rId7"/>
    <p:sldId id="262" r:id="rId8"/>
    <p:sldId id="271" r:id="rId9"/>
    <p:sldId id="264" r:id="rId10"/>
    <p:sldId id="274" r:id="rId11"/>
    <p:sldId id="266" r:id="rId12"/>
    <p:sldId id="275" r:id="rId13"/>
    <p:sldId id="276" r:id="rId14"/>
    <p:sldId id="277" r:id="rId15"/>
    <p:sldId id="278" r:id="rId16"/>
  </p:sldIdLst>
  <p:sldSz cx="9144000" cy="6858000" type="screen4x3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Objects="1">
      <p:cViewPr varScale="1">
        <p:scale>
          <a:sx n="70" d="100"/>
          <a:sy n="70" d="100"/>
        </p:scale>
        <p:origin x="-109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F2CCF3-CBCA-4704-928A-6158E1C29BE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124943-9479-493D-AEA2-0D04B6BE1C6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7EF3B51-7A1D-4476-A474-8DEE44DD2AE5}" type="datetimeFigureOut">
              <a:rPr lang="en-US"/>
              <a:pPr>
                <a:defRPr/>
              </a:pPr>
              <a:t>12/7/2020</a:t>
            </a:fld>
            <a:endParaRPr lang="en-AU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940E9DA1-93B4-4FB0-992E-89F353731D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AU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CF6C94B0-439E-49AA-A5E0-80E4DDDA72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8FDBF6-03BB-4452-92DE-AF20B9C8752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1DB6A4-7494-4B83-9C30-62F61F0B67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9462135B-A180-4C68-B337-D47665069CC0}" type="slidenum">
              <a:rPr lang="en-AU" altLang="en-US"/>
              <a:pPr/>
              <a:t>‹#›</a:t>
            </a:fld>
            <a:endParaRPr lang="en-AU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>
            <a:extLst>
              <a:ext uri="{FF2B5EF4-FFF2-40B4-BE49-F238E27FC236}">
                <a16:creationId xmlns:a16="http://schemas.microsoft.com/office/drawing/2014/main" id="{A9998374-054B-47FE-AD71-0B2116F14EE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Notes Placeholder 2">
            <a:extLst>
              <a:ext uri="{FF2B5EF4-FFF2-40B4-BE49-F238E27FC236}">
                <a16:creationId xmlns:a16="http://schemas.microsoft.com/office/drawing/2014/main" id="{C674B827-CD50-4973-AF58-6B827701F1A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en-US"/>
              <a:t>Insert image</a:t>
            </a:r>
            <a:endParaRPr lang="en-AU" altLang="en-US"/>
          </a:p>
        </p:txBody>
      </p:sp>
      <p:sp>
        <p:nvSpPr>
          <p:cNvPr id="21508" name="Slide Number Placeholder 3">
            <a:extLst>
              <a:ext uri="{FF2B5EF4-FFF2-40B4-BE49-F238E27FC236}">
                <a16:creationId xmlns:a16="http://schemas.microsoft.com/office/drawing/2014/main" id="{D8F36B56-51F6-4702-81B6-8A06CC30B1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874000C-A0E6-4FA2-869B-0AE8437EF945}" type="slidenum">
              <a:rPr lang="en-AU" altLang="en-US">
                <a:latin typeface="Calibri" panose="020F0502020204030204" pitchFamily="34" charset="0"/>
              </a:rPr>
              <a:pPr eaLnBrk="1" hangingPunct="1"/>
              <a:t>3</a:t>
            </a:fld>
            <a:endParaRPr lang="en-AU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>
            <a:extLst>
              <a:ext uri="{FF2B5EF4-FFF2-40B4-BE49-F238E27FC236}">
                <a16:creationId xmlns:a16="http://schemas.microsoft.com/office/drawing/2014/main" id="{0AB7D51F-0C21-46E6-BF9B-883769D90F6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>
            <a:extLst>
              <a:ext uri="{FF2B5EF4-FFF2-40B4-BE49-F238E27FC236}">
                <a16:creationId xmlns:a16="http://schemas.microsoft.com/office/drawing/2014/main" id="{0B2DC9F8-A4F4-4656-9129-07C0B25E709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  <a:buFontTx/>
              <a:buChar char="•"/>
            </a:pPr>
            <a:endParaRPr lang="en-US" altLang="en-US"/>
          </a:p>
        </p:txBody>
      </p:sp>
      <p:sp>
        <p:nvSpPr>
          <p:cNvPr id="22532" name="Slide Number Placeholder 3">
            <a:extLst>
              <a:ext uri="{FF2B5EF4-FFF2-40B4-BE49-F238E27FC236}">
                <a16:creationId xmlns:a16="http://schemas.microsoft.com/office/drawing/2014/main" id="{1B1B3C04-FE72-42A5-B2BE-B11634826C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9892059-4428-411E-9703-5D2C45B08A87}" type="slidenum">
              <a:rPr lang="en-AU" altLang="en-US">
                <a:latin typeface="Calibri" panose="020F0502020204030204" pitchFamily="34" charset="0"/>
              </a:rPr>
              <a:pPr eaLnBrk="1" hangingPunct="1"/>
              <a:t>5</a:t>
            </a:fld>
            <a:endParaRPr lang="en-AU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107AFA0-F0A9-4B54-B882-C1B13265FE97}"/>
              </a:ext>
            </a:extLst>
          </p:cNvPr>
          <p:cNvCxnSpPr/>
          <p:nvPr/>
        </p:nvCxnSpPr>
        <p:spPr>
          <a:xfrm>
            <a:off x="1463675" y="3549650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CF47400-DC0E-483A-BC95-D5A16F026B21}"/>
              </a:ext>
            </a:extLst>
          </p:cNvPr>
          <p:cNvCxnSpPr/>
          <p:nvPr/>
        </p:nvCxnSpPr>
        <p:spPr>
          <a:xfrm>
            <a:off x="4708525" y="3549650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07DF59BC-7339-428C-9E74-940767E74A35}"/>
              </a:ext>
            </a:extLst>
          </p:cNvPr>
          <p:cNvSpPr/>
          <p:nvPr/>
        </p:nvSpPr>
        <p:spPr>
          <a:xfrm>
            <a:off x="4540250" y="3525838"/>
            <a:ext cx="46038" cy="46037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8" name="Title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14">
            <a:extLst>
              <a:ext uri="{FF2B5EF4-FFF2-40B4-BE49-F238E27FC236}">
                <a16:creationId xmlns:a16="http://schemas.microsoft.com/office/drawing/2014/main" id="{B126C3A0-EE15-4F48-A5E9-D66B5D484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03BA29-3876-4824-8B58-5A2F898DE4D2}" type="datetimeFigureOut">
              <a:rPr lang="en-US"/>
              <a:pPr>
                <a:defRPr/>
              </a:pPr>
              <a:t>12/7/2020</a:t>
            </a:fld>
            <a:endParaRPr lang="en-US"/>
          </a:p>
        </p:txBody>
      </p:sp>
      <p:sp>
        <p:nvSpPr>
          <p:cNvPr id="8" name="Slide Number Placeholder 15">
            <a:extLst>
              <a:ext uri="{FF2B5EF4-FFF2-40B4-BE49-F238E27FC236}">
                <a16:creationId xmlns:a16="http://schemas.microsoft.com/office/drawing/2014/main" id="{DB07C396-A948-4A75-9E7B-D80467AE157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F34DEE2-E8BC-4A41-92D1-9CDE6F631E7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" name="Footer Placeholder 16">
            <a:extLst>
              <a:ext uri="{FF2B5EF4-FFF2-40B4-BE49-F238E27FC236}">
                <a16:creationId xmlns:a16="http://schemas.microsoft.com/office/drawing/2014/main" id="{9AF5AC44-7F2C-4C3E-8CE1-3D7B40823CC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8660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23">
            <a:extLst>
              <a:ext uri="{FF2B5EF4-FFF2-40B4-BE49-F238E27FC236}">
                <a16:creationId xmlns:a16="http://schemas.microsoft.com/office/drawing/2014/main" id="{AC87C4B4-21DA-411D-A00B-0106D01A5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95A296-05B6-4BDA-84B1-D3CCE9B25B6B}" type="datetimeFigureOut">
              <a:rPr lang="en-US"/>
              <a:pPr>
                <a:defRPr/>
              </a:pPr>
              <a:t>12/7/2020</a:t>
            </a:fld>
            <a:endParaRPr lang="en-US"/>
          </a:p>
        </p:txBody>
      </p:sp>
      <p:sp>
        <p:nvSpPr>
          <p:cNvPr id="5" name="Footer Placeholder 9">
            <a:extLst>
              <a:ext uri="{FF2B5EF4-FFF2-40B4-BE49-F238E27FC236}">
                <a16:creationId xmlns:a16="http://schemas.microsoft.com/office/drawing/2014/main" id="{B6CB1D82-763C-461B-A4B2-FD21CA0F4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1">
            <a:extLst>
              <a:ext uri="{FF2B5EF4-FFF2-40B4-BE49-F238E27FC236}">
                <a16:creationId xmlns:a16="http://schemas.microsoft.com/office/drawing/2014/main" id="{1991AF83-03D5-4303-9150-EDAF69946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8D5F8D-A350-4E24-9188-8A6CD56A3B6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81117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330CCC-AF98-4374-9EA8-F7A9B7A86840}"/>
              </a:ext>
            </a:extLst>
          </p:cNvPr>
          <p:cNvCxnSpPr/>
          <p:nvPr/>
        </p:nvCxnSpPr>
        <p:spPr>
          <a:xfrm>
            <a:off x="685800" y="4916488"/>
            <a:ext cx="7924800" cy="4762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2C340D5-B429-4669-8C30-76F52DD91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789147-FEAD-470A-BF22-40308F79BE83}" type="datetimeFigureOut">
              <a:rPr lang="en-US"/>
              <a:pPr>
                <a:defRPr/>
              </a:pPr>
              <a:t>12/7/2020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758F55-B08A-4B68-B897-01FE51137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B7BF253-E107-45E2-93FF-5563927FE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051A4C4-E1B3-4AD8-8078-1E3212BDC8F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76240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23">
            <a:extLst>
              <a:ext uri="{FF2B5EF4-FFF2-40B4-BE49-F238E27FC236}">
                <a16:creationId xmlns:a16="http://schemas.microsoft.com/office/drawing/2014/main" id="{EB66119B-4733-4556-8511-A2CF10D3C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240793-265B-4036-9B6C-4794BC68121A}" type="datetimeFigureOut">
              <a:rPr lang="en-US"/>
              <a:pPr>
                <a:defRPr/>
              </a:pPr>
              <a:t>12/7/2020</a:t>
            </a:fld>
            <a:endParaRPr lang="en-US"/>
          </a:p>
        </p:txBody>
      </p:sp>
      <p:sp>
        <p:nvSpPr>
          <p:cNvPr id="6" name="Footer Placeholder 9">
            <a:extLst>
              <a:ext uri="{FF2B5EF4-FFF2-40B4-BE49-F238E27FC236}">
                <a16:creationId xmlns:a16="http://schemas.microsoft.com/office/drawing/2014/main" id="{E13FF982-6B6D-4F7D-93E2-C38347AF3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1">
            <a:extLst>
              <a:ext uri="{FF2B5EF4-FFF2-40B4-BE49-F238E27FC236}">
                <a16:creationId xmlns:a16="http://schemas.microsoft.com/office/drawing/2014/main" id="{619267FF-3A6F-47F6-AC9E-19B4B2E67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D58B78-6A46-42CF-9891-79AE0812785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86756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B00C2B8-3614-4865-80E1-D706899B2BBD}"/>
              </a:ext>
            </a:extLst>
          </p:cNvPr>
          <p:cNvCxnSpPr/>
          <p:nvPr/>
        </p:nvCxnSpPr>
        <p:spPr>
          <a:xfrm>
            <a:off x="563563" y="2179638"/>
            <a:ext cx="3748087" cy="1587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FEB9DD1-9642-40D3-9719-820F88F2DA49}"/>
              </a:ext>
            </a:extLst>
          </p:cNvPr>
          <p:cNvCxnSpPr/>
          <p:nvPr/>
        </p:nvCxnSpPr>
        <p:spPr>
          <a:xfrm>
            <a:off x="4754563" y="2179638"/>
            <a:ext cx="3749675" cy="1587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Content Placeholder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4" name="Content Placeholder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439E4F-2E0A-495E-BB9B-0D160F3984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103288A-6E21-4264-96CA-9DF84120A52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A557CC2C-4E91-475D-8C17-5B6D3FA45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Date Placeholder 6">
            <a:extLst>
              <a:ext uri="{FF2B5EF4-FFF2-40B4-BE49-F238E27FC236}">
                <a16:creationId xmlns:a16="http://schemas.microsoft.com/office/drawing/2014/main" id="{39D4BD27-0178-457D-886D-10AF6337A3B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B280DA-17EE-4D14-A796-994ECE6C9075}" type="datetimeFigureOut">
              <a:rPr lang="en-US"/>
              <a:pPr>
                <a:defRPr/>
              </a:pPr>
              <a:t>12/7/2020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182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3">
            <a:extLst>
              <a:ext uri="{FF2B5EF4-FFF2-40B4-BE49-F238E27FC236}">
                <a16:creationId xmlns:a16="http://schemas.microsoft.com/office/drawing/2014/main" id="{49D1DFCA-51FC-4851-8197-0DB7ADE8F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EAE3D8-7A54-4522-98C4-063A19AB5AC4}" type="datetimeFigureOut">
              <a:rPr lang="en-US"/>
              <a:pPr>
                <a:defRPr/>
              </a:pPr>
              <a:t>12/7/2020</a:t>
            </a:fld>
            <a:endParaRPr lang="en-US"/>
          </a:p>
        </p:txBody>
      </p:sp>
      <p:sp>
        <p:nvSpPr>
          <p:cNvPr id="4" name="Footer Placeholder 9">
            <a:extLst>
              <a:ext uri="{FF2B5EF4-FFF2-40B4-BE49-F238E27FC236}">
                <a16:creationId xmlns:a16="http://schemas.microsoft.com/office/drawing/2014/main" id="{CC7ECCF1-5F1A-4247-AA96-45EED3DAD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21">
            <a:extLst>
              <a:ext uri="{FF2B5EF4-FFF2-40B4-BE49-F238E27FC236}">
                <a16:creationId xmlns:a16="http://schemas.microsoft.com/office/drawing/2014/main" id="{AF669810-943B-4617-A9D3-5E6CB872B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0AD43E-2642-424B-AA8C-4E1164C7391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21201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23">
            <a:extLst>
              <a:ext uri="{FF2B5EF4-FFF2-40B4-BE49-F238E27FC236}">
                <a16:creationId xmlns:a16="http://schemas.microsoft.com/office/drawing/2014/main" id="{BBFA60B7-A0B8-4395-993A-890AED550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00A860-4C41-4B1B-A64A-8EDCCAD02CED}" type="datetimeFigureOut">
              <a:rPr lang="en-US"/>
              <a:pPr>
                <a:defRPr/>
              </a:pPr>
              <a:t>12/7/2020</a:t>
            </a:fld>
            <a:endParaRPr lang="en-US"/>
          </a:p>
        </p:txBody>
      </p:sp>
      <p:sp>
        <p:nvSpPr>
          <p:cNvPr id="3" name="Footer Placeholder 9">
            <a:extLst>
              <a:ext uri="{FF2B5EF4-FFF2-40B4-BE49-F238E27FC236}">
                <a16:creationId xmlns:a16="http://schemas.microsoft.com/office/drawing/2014/main" id="{594E07C9-095A-4668-A57D-4B96890A0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21">
            <a:extLst>
              <a:ext uri="{FF2B5EF4-FFF2-40B4-BE49-F238E27FC236}">
                <a16:creationId xmlns:a16="http://schemas.microsoft.com/office/drawing/2014/main" id="{B2FD2DFD-7DB7-4114-8E50-D3490005A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83965E-DB41-482D-B232-D91804DAF6C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51002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itle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23">
            <a:extLst>
              <a:ext uri="{FF2B5EF4-FFF2-40B4-BE49-F238E27FC236}">
                <a16:creationId xmlns:a16="http://schemas.microsoft.com/office/drawing/2014/main" id="{C97B5923-5FBA-426B-B860-CA7CD30AC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ED73F5-B2EC-4CEC-AF0A-7F5D3C3E4EEB}" type="datetimeFigureOut">
              <a:rPr lang="en-US"/>
              <a:pPr>
                <a:defRPr/>
              </a:pPr>
              <a:t>12/7/2020</a:t>
            </a:fld>
            <a:endParaRPr lang="en-US"/>
          </a:p>
        </p:txBody>
      </p:sp>
      <p:sp>
        <p:nvSpPr>
          <p:cNvPr id="6" name="Footer Placeholder 9">
            <a:extLst>
              <a:ext uri="{FF2B5EF4-FFF2-40B4-BE49-F238E27FC236}">
                <a16:creationId xmlns:a16="http://schemas.microsoft.com/office/drawing/2014/main" id="{76BF2F30-E9B4-4ECA-8858-319E32020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1">
            <a:extLst>
              <a:ext uri="{FF2B5EF4-FFF2-40B4-BE49-F238E27FC236}">
                <a16:creationId xmlns:a16="http://schemas.microsoft.com/office/drawing/2014/main" id="{00693316-CED0-40B8-9383-DE7DA9BFC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0F55584-DF3D-428E-855F-E3D5808304D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77778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23">
            <a:extLst>
              <a:ext uri="{FF2B5EF4-FFF2-40B4-BE49-F238E27FC236}">
                <a16:creationId xmlns:a16="http://schemas.microsoft.com/office/drawing/2014/main" id="{1290C608-3405-4398-8155-12795D7C8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DF4BC2-730E-4A6A-9BDD-94E6EB23BE80}" type="datetimeFigureOut">
              <a:rPr lang="en-US"/>
              <a:pPr>
                <a:defRPr/>
              </a:pPr>
              <a:t>12/7/2020</a:t>
            </a:fld>
            <a:endParaRPr lang="en-US"/>
          </a:p>
        </p:txBody>
      </p:sp>
      <p:sp>
        <p:nvSpPr>
          <p:cNvPr id="6" name="Footer Placeholder 9">
            <a:extLst>
              <a:ext uri="{FF2B5EF4-FFF2-40B4-BE49-F238E27FC236}">
                <a16:creationId xmlns:a16="http://schemas.microsoft.com/office/drawing/2014/main" id="{554B1704-0981-45C2-8D0C-A70C8B05B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1">
            <a:extLst>
              <a:ext uri="{FF2B5EF4-FFF2-40B4-BE49-F238E27FC236}">
                <a16:creationId xmlns:a16="http://schemas.microsoft.com/office/drawing/2014/main" id="{BE6FD26E-FA0C-4393-8AB4-9112361F8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336B238-88A9-4789-8359-1CB9564148D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8643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23">
            <a:extLst>
              <a:ext uri="{FF2B5EF4-FFF2-40B4-BE49-F238E27FC236}">
                <a16:creationId xmlns:a16="http://schemas.microsoft.com/office/drawing/2014/main" id="{FDEBC46D-C7F3-4DBF-A4EB-230621ABF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BCF9AA-35BC-4480-8E89-4F66C07DEF75}" type="datetimeFigureOut">
              <a:rPr lang="en-US"/>
              <a:pPr>
                <a:defRPr/>
              </a:pPr>
              <a:t>12/7/2020</a:t>
            </a:fld>
            <a:endParaRPr lang="en-US"/>
          </a:p>
        </p:txBody>
      </p:sp>
      <p:sp>
        <p:nvSpPr>
          <p:cNvPr id="5" name="Footer Placeholder 9">
            <a:extLst>
              <a:ext uri="{FF2B5EF4-FFF2-40B4-BE49-F238E27FC236}">
                <a16:creationId xmlns:a16="http://schemas.microsoft.com/office/drawing/2014/main" id="{6010E01C-6BBA-40B3-B5F0-65D543063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1">
            <a:extLst>
              <a:ext uri="{FF2B5EF4-FFF2-40B4-BE49-F238E27FC236}">
                <a16:creationId xmlns:a16="http://schemas.microsoft.com/office/drawing/2014/main" id="{2069B244-C4CD-412C-8A53-A15127589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410ECE8-8B66-4D28-AE0A-8A04CDA94F0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06349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23">
            <a:extLst>
              <a:ext uri="{FF2B5EF4-FFF2-40B4-BE49-F238E27FC236}">
                <a16:creationId xmlns:a16="http://schemas.microsoft.com/office/drawing/2014/main" id="{D6444C10-AD57-4788-8D81-A50F4B479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D59BDD-30EB-4E9A-BE9A-8A2C6B50D8BB}" type="datetimeFigureOut">
              <a:rPr lang="en-US"/>
              <a:pPr>
                <a:defRPr/>
              </a:pPr>
              <a:t>12/7/2020</a:t>
            </a:fld>
            <a:endParaRPr lang="en-US"/>
          </a:p>
        </p:txBody>
      </p:sp>
      <p:sp>
        <p:nvSpPr>
          <p:cNvPr id="5" name="Footer Placeholder 9">
            <a:extLst>
              <a:ext uri="{FF2B5EF4-FFF2-40B4-BE49-F238E27FC236}">
                <a16:creationId xmlns:a16="http://schemas.microsoft.com/office/drawing/2014/main" id="{A945C6FD-39EF-451D-A429-4197BA0F1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1">
            <a:extLst>
              <a:ext uri="{FF2B5EF4-FFF2-40B4-BE49-F238E27FC236}">
                <a16:creationId xmlns:a16="http://schemas.microsoft.com/office/drawing/2014/main" id="{DA188EA4-5FCE-4D60-8052-716318374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67A3003-7F40-41A0-836C-77011D4F6A8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49267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Placeholder 8">
            <a:extLst>
              <a:ext uri="{FF2B5EF4-FFF2-40B4-BE49-F238E27FC236}">
                <a16:creationId xmlns:a16="http://schemas.microsoft.com/office/drawing/2014/main" id="{B72B00A6-C1B4-4537-8601-B414CB7CCBE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447800"/>
            <a:ext cx="8229600" cy="4678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4" name="Date Placeholder 23">
            <a:extLst>
              <a:ext uri="{FF2B5EF4-FFF2-40B4-BE49-F238E27FC236}">
                <a16:creationId xmlns:a16="http://schemas.microsoft.com/office/drawing/2014/main" id="{05B6E82A-9423-4BBB-B883-5E618FD591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791200" y="6203950"/>
            <a:ext cx="2590800" cy="384175"/>
          </a:xfrm>
          <a:prstGeom prst="rect">
            <a:avLst/>
          </a:prstGeom>
        </p:spPr>
        <p:txBody>
          <a:bodyPr vert="horz" anchor="ctr" anchorCtr="0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defRPr/>
            </a:pPr>
            <a:fld id="{573B78CF-5039-4FA6-B020-8994C28E6A00}" type="datetimeFigureOut">
              <a:rPr lang="en-US"/>
              <a:pPr>
                <a:defRPr/>
              </a:pPr>
              <a:t>12/7/2020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F00014C-7E9E-4C2F-8C17-B2110A2CB1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33600" y="6203950"/>
            <a:ext cx="3581400" cy="384175"/>
          </a:xfrm>
          <a:prstGeom prst="rect">
            <a:avLst/>
          </a:prstGeom>
        </p:spPr>
        <p:txBody>
          <a:bodyPr vert="horz" anchor="ctr" anchorCtr="0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7FB6EAB7-15B0-4199-8CE0-86BB84BC18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10575" y="6181725"/>
            <a:ext cx="609600" cy="457200"/>
          </a:xfrm>
          <a:prstGeom prst="rect">
            <a:avLst/>
          </a:prstGeom>
          <a:noFill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algn="ctr">
              <a:defRPr sz="1600">
                <a:solidFill>
                  <a:schemeClr val="tx2"/>
                </a:solidFill>
                <a:latin typeface="Constantia" panose="02030602050306030303" pitchFamily="18" charset="0"/>
              </a:defRPr>
            </a:lvl1pPr>
          </a:lstStyle>
          <a:p>
            <a:fld id="{0B9C9EB3-321E-42D3-8FEC-3966474660D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3B8DA4F3-EFC7-4B36-A880-2E74F0E8D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4300" r:id="rId1"/>
    <p:sldLayoutId id="2147484292" r:id="rId2"/>
    <p:sldLayoutId id="2147484301" r:id="rId3"/>
    <p:sldLayoutId id="2147484293" r:id="rId4"/>
    <p:sldLayoutId id="2147484302" r:id="rId5"/>
    <p:sldLayoutId id="2147484294" r:id="rId6"/>
    <p:sldLayoutId id="2147484295" r:id="rId7"/>
    <p:sldLayoutId id="2147484296" r:id="rId8"/>
    <p:sldLayoutId id="2147484297" r:id="rId9"/>
    <p:sldLayoutId id="2147484298" r:id="rId10"/>
    <p:sldLayoutId id="214748429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lang="en-US" sz="4200" kern="1200" spc="-10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rgbClr val="F9F9F9"/>
          </a:solidFill>
          <a:latin typeface="Constantia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rgbClr val="F9F9F9"/>
          </a:solidFill>
          <a:latin typeface="Constantia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rgbClr val="F9F9F9"/>
          </a:solidFill>
          <a:latin typeface="Constantia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rgbClr val="F9F9F9"/>
          </a:solidFill>
          <a:latin typeface="Constantia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rgbClr val="F9F9F9"/>
          </a:solidFill>
          <a:latin typeface="Constantia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rgbClr val="F9F9F9"/>
          </a:solidFill>
          <a:latin typeface="Constantia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rgbClr val="F9F9F9"/>
          </a:solidFill>
          <a:latin typeface="Constantia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rgbClr val="F9F9F9"/>
          </a:solidFill>
          <a:latin typeface="Constantia" pitchFamily="18" charset="0"/>
        </a:defRPr>
      </a:lvl9pPr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73050" algn="l" rtl="0" eaLnBrk="0" fontAlgn="base" hangingPunct="0">
        <a:spcBef>
          <a:spcPts val="300"/>
        </a:spcBef>
        <a:spcAft>
          <a:spcPct val="0"/>
        </a:spcAft>
        <a:buClr>
          <a:srgbClr val="D6903D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4888" indent="-228600" algn="l" rtl="0" eaLnBrk="0" fontAlgn="base" hangingPunct="0">
        <a:spcBef>
          <a:spcPts val="300"/>
        </a:spcBef>
        <a:spcAft>
          <a:spcPct val="0"/>
        </a:spcAft>
        <a:buClr>
          <a:srgbClr val="B37732"/>
        </a:buClr>
        <a:buSzPct val="85000"/>
        <a:buFont typeface="Wingdings 2" panose="05020102010507070707" pitchFamily="18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79525" indent="-228600" algn="l" rtl="0" eaLnBrk="0" fontAlgn="base" hangingPunct="0">
        <a:spcBef>
          <a:spcPts val="300"/>
        </a:spcBef>
        <a:spcAft>
          <a:spcPct val="0"/>
        </a:spcAft>
        <a:buClr>
          <a:srgbClr val="D6903D"/>
        </a:buClr>
        <a:buSzPct val="85000"/>
        <a:buFont typeface="Wingdings 2" panose="05020102010507070707" pitchFamily="18" charset="2"/>
        <a:buChar char="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163" indent="-228600" algn="l" rtl="0" eaLnBrk="0" fontAlgn="base" hangingPunct="0">
        <a:spcBef>
          <a:spcPts val="338"/>
        </a:spcBef>
        <a:spcAft>
          <a:spcPct val="0"/>
        </a:spcAft>
        <a:buClr>
          <a:srgbClr val="D6903D"/>
        </a:buClr>
        <a:buSzPct val="85000"/>
        <a:buFont typeface="Wingdings 2" panose="05020102010507070707" pitchFamily="18" charset="2"/>
        <a:buChar char="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A4D8F-1EDC-4A54-9BCD-F23161FD12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t>Harlow’s experiments </a:t>
            </a:r>
            <a:br>
              <a:rPr/>
            </a:br>
            <a:r>
              <a:t>on attachment in monkeys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Content Placeholder 5">
            <a:extLst>
              <a:ext uri="{FF2B5EF4-FFF2-40B4-BE49-F238E27FC236}">
                <a16:creationId xmlns:a16="http://schemas.microsoft.com/office/drawing/2014/main" id="{2E47F2A7-1A1A-4DEF-8356-E7B7BCA4FF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4191000" cy="4572000"/>
          </a:xfrm>
        </p:spPr>
        <p:txBody>
          <a:bodyPr/>
          <a:lstStyle/>
          <a:p>
            <a:pPr eaLnBrk="1" hangingPunct="1"/>
            <a:r>
              <a:rPr lang="en-US" altLang="en-US"/>
              <a:t>American psychologist Harry Harlow conducted many experiments on attachment using </a:t>
            </a:r>
            <a:br>
              <a:rPr lang="en-US" altLang="en-US"/>
            </a:br>
            <a:r>
              <a:rPr lang="en-US" altLang="en-US"/>
              <a:t>rhesus monkeys</a:t>
            </a:r>
          </a:p>
        </p:txBody>
      </p:sp>
      <p:pic>
        <p:nvPicPr>
          <p:cNvPr id="7" name="Picture 6" descr="Picture 1.png">
            <a:extLst>
              <a:ext uri="{FF2B5EF4-FFF2-40B4-BE49-F238E27FC236}">
                <a16:creationId xmlns:a16="http://schemas.microsoft.com/office/drawing/2014/main" id="{532CFF20-B1C8-4CE6-AFA0-9084916B4A9A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2">
            <a:lum bright="10000"/>
          </a:blip>
          <a:stretch>
            <a:fillRect/>
          </a:stretch>
        </p:blipFill>
        <p:spPr>
          <a:xfrm rot="690963">
            <a:off x="4588302" y="713283"/>
            <a:ext cx="3805601" cy="5430054"/>
          </a:xfrm>
          <a:prstGeom prst="rect">
            <a:avLst/>
          </a:prstGeom>
          <a:solidFill>
            <a:srgbClr val="FFFFFF">
              <a:shade val="85000"/>
            </a:srgbClr>
          </a:solidFill>
          <a:ln w="762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Content Placeholder 7">
            <a:extLst>
              <a:ext uri="{FF2B5EF4-FFF2-40B4-BE49-F238E27FC236}">
                <a16:creationId xmlns:a16="http://schemas.microsoft.com/office/drawing/2014/main" id="{B9E0C65A-0CCB-484D-B1C5-D1B9472006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4114800" cy="4572000"/>
          </a:xfrm>
        </p:spPr>
        <p:txBody>
          <a:bodyPr/>
          <a:lstStyle/>
          <a:p>
            <a:pPr eaLnBrk="1" hangingPunct="1"/>
            <a:r>
              <a:rPr lang="en-US" altLang="en-US"/>
              <a:t>In one experiment, Harlow (1958) investigated the role played by breastfeeding in human infant–mother attachment.</a:t>
            </a:r>
          </a:p>
        </p:txBody>
      </p:sp>
      <p:pic>
        <p:nvPicPr>
          <p:cNvPr id="9" name="Picture 8" descr="Picture 1.png">
            <a:extLst>
              <a:ext uri="{FF2B5EF4-FFF2-40B4-BE49-F238E27FC236}">
                <a16:creationId xmlns:a16="http://schemas.microsoft.com/office/drawing/2014/main" id="{F5AD4EB4-A962-4238-99A8-9F1C3DAC6597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lum contrast="10000"/>
          </a:blip>
          <a:stretch>
            <a:fillRect/>
          </a:stretch>
        </p:blipFill>
        <p:spPr>
          <a:xfrm>
            <a:off x="4949131" y="762000"/>
            <a:ext cx="3663331" cy="5494997"/>
          </a:xfrm>
          <a:prstGeom prst="rect">
            <a:avLst/>
          </a:prstGeom>
          <a:solidFill>
            <a:srgbClr val="FFFFFF">
              <a:shade val="85000"/>
            </a:srgbClr>
          </a:solidFill>
          <a:ln w="762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155110EF-EDAC-4DCB-81CF-9A9036C2C9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3700463"/>
            <a:ext cx="83058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i="1" dirty="0"/>
              <a:t>American Psychologist</a:t>
            </a:r>
            <a:r>
              <a:rPr lang="en-US" dirty="0"/>
              <a:t>, 13, 673–685.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C230C-3AFB-49B2-BDF1-9EDDA4D44C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t>Harlow, H.F. (1958).</a:t>
            </a:r>
            <a:br>
              <a:rPr/>
            </a:br>
            <a:r>
              <a:t>The nature of love.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Content Placeholder 15">
            <a:extLst>
              <a:ext uri="{FF2B5EF4-FFF2-40B4-BE49-F238E27FC236}">
                <a16:creationId xmlns:a16="http://schemas.microsoft.com/office/drawing/2014/main" id="{CBA6DE0D-DEED-4310-AD1B-B6B61D398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4114800" cy="4572000"/>
          </a:xfrm>
        </p:spPr>
        <p:txBody>
          <a:bodyPr/>
          <a:lstStyle/>
          <a:p>
            <a:pPr eaLnBrk="1" hangingPunct="1"/>
            <a:r>
              <a:rPr lang="en-US" altLang="en-US"/>
              <a:t>8 infant rhesus monkeys were separated from </a:t>
            </a:r>
            <a:br>
              <a:rPr lang="en-US" altLang="en-US"/>
            </a:br>
            <a:r>
              <a:rPr lang="en-US" altLang="en-US"/>
              <a:t>their mothers at birth.</a:t>
            </a:r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AE6844-6831-4CE6-B3B3-475A79922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t>Participants</a:t>
            </a:r>
            <a:endParaRPr lang="en-AU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E70273B-E776-412A-8693-5D6A961CC681}"/>
              </a:ext>
            </a:extLst>
          </p:cNvPr>
          <p:cNvSpPr txBox="1">
            <a:spLocks/>
          </p:cNvSpPr>
          <p:nvPr/>
        </p:nvSpPr>
        <p:spPr>
          <a:xfrm>
            <a:off x="914400" y="2324100"/>
            <a:ext cx="3657600" cy="4038600"/>
          </a:xfrm>
          <a:prstGeom prst="rect">
            <a:avLst/>
          </a:prstGeom>
        </p:spPr>
        <p:txBody>
          <a:bodyPr anchor="ctr"/>
          <a:lstStyle/>
          <a:p>
            <a:pPr defTabSz="914400" fontAlgn="auto">
              <a:spcAft>
                <a:spcPts val="0"/>
              </a:spcAft>
              <a:defRPr/>
            </a:pPr>
            <a:endParaRPr lang="en-US" sz="3200" b="1" u="sng" dirty="0">
              <a:solidFill>
                <a:srgbClr val="000000"/>
              </a:solidFill>
              <a:latin typeface="Times New Roman"/>
              <a:ea typeface="+mj-ea"/>
              <a:cs typeface="Times New Roman"/>
            </a:endParaRPr>
          </a:p>
        </p:txBody>
      </p:sp>
      <p:pic>
        <p:nvPicPr>
          <p:cNvPr id="17" name="Picture 16" descr="Picture 1.png">
            <a:extLst>
              <a:ext uri="{FF2B5EF4-FFF2-40B4-BE49-F238E27FC236}">
                <a16:creationId xmlns:a16="http://schemas.microsoft.com/office/drawing/2014/main" id="{CCA6DFC2-AE9D-4E1F-9B01-A4A71D2AE091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179065">
            <a:off x="4089389" y="2579458"/>
            <a:ext cx="4398060" cy="3533925"/>
          </a:xfrm>
          <a:prstGeom prst="rect">
            <a:avLst/>
          </a:prstGeom>
          <a:solidFill>
            <a:srgbClr val="FFFFFF">
              <a:shade val="85000"/>
            </a:srgbClr>
          </a:solidFill>
          <a:ln w="762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216ED8A3-2B17-41E7-B34C-54EAC10BB7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4572000" cy="4572000"/>
          </a:xfrm>
        </p:spPr>
        <p:txBody>
          <a:bodyPr/>
          <a:lstStyle/>
          <a:p>
            <a:pPr eaLnBrk="1" hangingPunct="1"/>
            <a:r>
              <a:rPr lang="en-US" altLang="en-US"/>
              <a:t>Each monkey was then individually reared in a cage.</a:t>
            </a:r>
          </a:p>
          <a:p>
            <a:pPr eaLnBrk="1" hangingPunct="1"/>
            <a:r>
              <a:rPr lang="en-US" altLang="en-US"/>
              <a:t>Each cage contained </a:t>
            </a:r>
            <a:br>
              <a:rPr lang="en-US" altLang="en-US"/>
            </a:br>
            <a:r>
              <a:rPr lang="en-US" altLang="en-US"/>
              <a:t>two surrogate mothers. </a:t>
            </a:r>
          </a:p>
          <a:p>
            <a:pPr lvl="1" eaLnBrk="1" hangingPunct="1"/>
            <a:r>
              <a:rPr lang="en-US" altLang="en-US"/>
              <a:t>One surrogate was made entirely of wire mesh </a:t>
            </a:r>
          </a:p>
          <a:p>
            <a:pPr lvl="1" eaLnBrk="1" hangingPunct="1"/>
            <a:r>
              <a:rPr lang="en-US" altLang="en-US"/>
              <a:t>One surrogate was wire mesh, but with a soft, </a:t>
            </a:r>
            <a:br>
              <a:rPr lang="en-US" altLang="en-US"/>
            </a:br>
            <a:r>
              <a:rPr lang="en-US" altLang="en-US"/>
              <a:t>cloth covering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065B33-408E-4197-AB3F-FF9DB15E8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t>Procedure</a:t>
            </a:r>
            <a:endParaRPr lang="en-AU"/>
          </a:p>
        </p:txBody>
      </p:sp>
      <p:pic>
        <p:nvPicPr>
          <p:cNvPr id="10" name="Picture 9" descr="Picture 1.png">
            <a:extLst>
              <a:ext uri="{FF2B5EF4-FFF2-40B4-BE49-F238E27FC236}">
                <a16:creationId xmlns:a16="http://schemas.microsoft.com/office/drawing/2014/main" id="{0FB74917-432A-40F7-98BE-2DE284635412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690963">
            <a:off x="4791820" y="2860768"/>
            <a:ext cx="3805601" cy="3349238"/>
          </a:xfrm>
          <a:prstGeom prst="rect">
            <a:avLst/>
          </a:prstGeom>
          <a:solidFill>
            <a:srgbClr val="FFFFFF">
              <a:shade val="85000"/>
            </a:srgbClr>
          </a:solidFill>
          <a:ln w="762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Content Placeholder 6">
            <a:extLst>
              <a:ext uri="{FF2B5EF4-FFF2-40B4-BE49-F238E27FC236}">
                <a16:creationId xmlns:a16="http://schemas.microsoft.com/office/drawing/2014/main" id="{D5756B4D-81D0-4511-B48B-B0DA193D2B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Group 1: </a:t>
            </a:r>
            <a:br>
              <a:rPr lang="en-US" altLang="en-US"/>
            </a:br>
            <a:r>
              <a:rPr lang="en-US" altLang="en-US"/>
              <a:t>4 monkeys are each placed in a separate cage </a:t>
            </a:r>
            <a:br>
              <a:rPr lang="en-US" altLang="en-US"/>
            </a:br>
            <a:r>
              <a:rPr lang="en-US" altLang="en-US"/>
              <a:t>in which the </a:t>
            </a:r>
            <a:r>
              <a:rPr lang="en-US" altLang="en-US" u="sng"/>
              <a:t>cloth surrogate provides food </a:t>
            </a:r>
            <a:br>
              <a:rPr lang="en-US" altLang="en-US" u="sng"/>
            </a:br>
            <a:r>
              <a:rPr lang="en-US" altLang="en-US"/>
              <a:t>and the </a:t>
            </a:r>
            <a:r>
              <a:rPr lang="en-US" altLang="en-US" u="sng"/>
              <a:t>wire surrogate does not</a:t>
            </a:r>
            <a:br>
              <a:rPr lang="en-US" altLang="en-US" u="sng"/>
            </a:br>
            <a:endParaRPr lang="en-US" altLang="en-US"/>
          </a:p>
          <a:p>
            <a:pPr eaLnBrk="1" hangingPunct="1"/>
            <a:r>
              <a:rPr lang="en-US" altLang="en-US"/>
              <a:t>Group 2: </a:t>
            </a:r>
            <a:br>
              <a:rPr lang="en-US" altLang="en-US"/>
            </a:br>
            <a:r>
              <a:rPr lang="en-US" altLang="en-US"/>
              <a:t>4 monkeys are each placed in a separate cage </a:t>
            </a:r>
            <a:br>
              <a:rPr lang="en-US" altLang="en-US"/>
            </a:br>
            <a:r>
              <a:rPr lang="en-US" altLang="en-US"/>
              <a:t>in which the </a:t>
            </a:r>
            <a:r>
              <a:rPr lang="en-US" altLang="en-US" u="sng"/>
              <a:t>wire surrogate provides food </a:t>
            </a:r>
            <a:r>
              <a:rPr lang="en-US" altLang="en-US"/>
              <a:t>and </a:t>
            </a:r>
            <a:br>
              <a:rPr lang="en-US" altLang="en-US"/>
            </a:br>
            <a:r>
              <a:rPr lang="en-US" altLang="en-US" u="sng"/>
              <a:t>cloth surrogate does not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E7ABC2-F990-413E-A12E-F86744775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t>Procedure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Content Placeholder 2">
            <a:extLst>
              <a:ext uri="{FF2B5EF4-FFF2-40B4-BE49-F238E27FC236}">
                <a16:creationId xmlns:a16="http://schemas.microsoft.com/office/drawing/2014/main" id="{B85FFBB0-D4D1-4996-8DEB-49CA04B1A2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Observe each monkey’s preference for feeding </a:t>
            </a:r>
            <a:br>
              <a:rPr lang="en-US" altLang="en-US"/>
            </a:br>
            <a:r>
              <a:rPr lang="en-US" altLang="en-US"/>
              <a:t>from either the cloth or wire surrogate mother </a:t>
            </a:r>
          </a:p>
          <a:p>
            <a:pPr eaLnBrk="1" hangingPunct="1"/>
            <a:r>
              <a:rPr lang="en-US" altLang="en-US"/>
              <a:t>Record the time spent each mother type</a:t>
            </a:r>
          </a:p>
          <a:p>
            <a:pPr eaLnBrk="1" hangingPunct="1"/>
            <a:endParaRPr lang="en-US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E1F298-0F74-477C-B4BA-B6059F4CA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t>Procedure</a:t>
            </a:r>
            <a:endParaRPr lang="en-A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ubtitle 3">
            <a:extLst>
              <a:ext uri="{FF2B5EF4-FFF2-40B4-BE49-F238E27FC236}">
                <a16:creationId xmlns:a16="http://schemas.microsoft.com/office/drawing/2014/main" id="{11D400B6-EE9A-4232-B620-AC1ADFBAB8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Infants spent more time with the </a:t>
            </a:r>
            <a:r>
              <a:rPr lang="en-US" altLang="en-US" u="sng"/>
              <a:t>cloth</a:t>
            </a:r>
            <a:r>
              <a:rPr lang="en-US" altLang="en-US"/>
              <a:t> mother, regardless of which surrogate provided the nourishment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1F2208-5487-40ED-B42B-1568E3EE5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t>Results</a:t>
            </a:r>
          </a:p>
        </p:txBody>
      </p:sp>
      <p:pic>
        <p:nvPicPr>
          <p:cNvPr id="4" name="Picture 3" descr="Picture 1.png">
            <a:extLst>
              <a:ext uri="{FF2B5EF4-FFF2-40B4-BE49-F238E27FC236}">
                <a16:creationId xmlns:a16="http://schemas.microsoft.com/office/drawing/2014/main" id="{0AB23016-E319-4757-889B-51F8F5E9EB23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2">
            <a:lum bright="10000" contrast="-10000"/>
          </a:blip>
          <a:stretch>
            <a:fillRect/>
          </a:stretch>
        </p:blipFill>
        <p:spPr>
          <a:xfrm rot="21392278">
            <a:off x="4746352" y="2651420"/>
            <a:ext cx="3258921" cy="3349238"/>
          </a:xfrm>
          <a:prstGeom prst="rect">
            <a:avLst/>
          </a:prstGeom>
          <a:solidFill>
            <a:srgbClr val="FFFFFF">
              <a:shade val="85000"/>
            </a:srgbClr>
          </a:solidFill>
          <a:ln w="762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Content Placeholder 2">
            <a:extLst>
              <a:ext uri="{FF2B5EF4-FFF2-40B4-BE49-F238E27FC236}">
                <a16:creationId xmlns:a16="http://schemas.microsoft.com/office/drawing/2014/main" id="{03A3FDE0-7BA2-43BF-89B3-C4B4899B9D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This preference is stronger when distressed </a:t>
            </a:r>
            <a:br>
              <a:rPr lang="en-US" altLang="en-US"/>
            </a:br>
            <a:r>
              <a:rPr lang="en-US" altLang="en-US"/>
              <a:t>eg. frightened by a mechanical object (toy spider)</a:t>
            </a:r>
          </a:p>
        </p:txBody>
      </p:sp>
      <p:pic>
        <p:nvPicPr>
          <p:cNvPr id="8" name="Picture 7" descr="Picture 1.png">
            <a:extLst>
              <a:ext uri="{FF2B5EF4-FFF2-40B4-BE49-F238E27FC236}">
                <a16:creationId xmlns:a16="http://schemas.microsoft.com/office/drawing/2014/main" id="{EC8EDD15-3B7D-41D7-A95D-74BB4ED1BCE9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63283">
            <a:off x="2240608" y="2819400"/>
            <a:ext cx="6321744" cy="3495255"/>
          </a:xfrm>
          <a:prstGeom prst="rect">
            <a:avLst/>
          </a:prstGeom>
          <a:solidFill>
            <a:srgbClr val="FFFFFF">
              <a:shade val="85000"/>
            </a:srgbClr>
          </a:solidFill>
          <a:ln w="762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Content Placeholder 5">
            <a:extLst>
              <a:ext uri="{FF2B5EF4-FFF2-40B4-BE49-F238E27FC236}">
                <a16:creationId xmlns:a16="http://schemas.microsoft.com/office/drawing/2014/main" id="{F99687BA-147D-4C3C-A5A8-3AE98E6CBA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Contact comfort’ (provided by the softness of </a:t>
            </a:r>
            <a:br>
              <a:rPr lang="en-US" altLang="en-US"/>
            </a:br>
            <a:r>
              <a:rPr lang="en-US" altLang="en-US"/>
              <a:t>the cloth covering) is more important than feeding </a:t>
            </a:r>
            <a:br>
              <a:rPr lang="en-US" altLang="en-US"/>
            </a:br>
            <a:r>
              <a:rPr lang="en-US" altLang="en-US"/>
              <a:t>in the formation of an infant rhesus monkey’s attachment to its mother. </a:t>
            </a:r>
            <a:br>
              <a:rPr lang="en-US" altLang="en-US"/>
            </a:br>
            <a:br>
              <a:rPr lang="en-US" altLang="en-US"/>
            </a:br>
            <a:endParaRPr lang="en-US" alt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600CC14-3538-4C77-93C6-06FA17F63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t>Conclusion</a:t>
            </a:r>
          </a:p>
        </p:txBody>
      </p:sp>
      <p:pic>
        <p:nvPicPr>
          <p:cNvPr id="8" name="Picture 7" descr="Picture 1.png">
            <a:extLst>
              <a:ext uri="{FF2B5EF4-FFF2-40B4-BE49-F238E27FC236}">
                <a16:creationId xmlns:a16="http://schemas.microsoft.com/office/drawing/2014/main" id="{31482DA2-C6D4-421D-B3F1-7484FBA3CDC1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2">
            <a:lum bright="10000" contrast="-10000"/>
          </a:blip>
          <a:stretch>
            <a:fillRect/>
          </a:stretch>
        </p:blipFill>
        <p:spPr>
          <a:xfrm rot="21392278">
            <a:off x="5253527" y="3032419"/>
            <a:ext cx="3258921" cy="3349238"/>
          </a:xfrm>
          <a:prstGeom prst="rect">
            <a:avLst/>
          </a:prstGeom>
          <a:solidFill>
            <a:srgbClr val="FFFFFF">
              <a:shade val="85000"/>
            </a:srgbClr>
          </a:solidFill>
          <a:ln w="762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Content Placeholder 2">
            <a:extLst>
              <a:ext uri="{FF2B5EF4-FFF2-40B4-BE49-F238E27FC236}">
                <a16:creationId xmlns:a16="http://schemas.microsoft.com/office/drawing/2014/main" id="{2E105196-8206-4936-B564-7DBCBACD46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4492625" cy="4572000"/>
          </a:xfrm>
        </p:spPr>
        <p:txBody>
          <a:bodyPr/>
          <a:lstStyle/>
          <a:p>
            <a:pPr eaLnBrk="1" hangingPunct="1"/>
            <a:r>
              <a:rPr lang="en-US" altLang="en-US"/>
              <a:t>Contact comfort is likely </a:t>
            </a:r>
            <a:br>
              <a:rPr lang="en-US" altLang="en-US"/>
            </a:br>
            <a:r>
              <a:rPr lang="en-US" altLang="en-US"/>
              <a:t>to be a crucial factor  in </a:t>
            </a:r>
            <a:r>
              <a:rPr lang="en-US" altLang="en-US" u="sng"/>
              <a:t>human</a:t>
            </a:r>
            <a:r>
              <a:rPr lang="en-US" altLang="en-US"/>
              <a:t> infant–parent attachment.</a:t>
            </a:r>
            <a:endParaRPr lang="en-AU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D5581F-ECC4-4965-A700-9255DACA4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t>Generalisation</a:t>
            </a:r>
            <a:endParaRPr lang="en-AU"/>
          </a:p>
        </p:txBody>
      </p:sp>
      <p:pic>
        <p:nvPicPr>
          <p:cNvPr id="6" name="Picture 5" descr="Picture 1.png">
            <a:extLst>
              <a:ext uri="{FF2B5EF4-FFF2-40B4-BE49-F238E27FC236}">
                <a16:creationId xmlns:a16="http://schemas.microsoft.com/office/drawing/2014/main" id="{B9216387-468C-468D-87C5-7218B17C1CDE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lum contrast="10000"/>
          </a:blip>
          <a:stretch>
            <a:fillRect/>
          </a:stretch>
        </p:blipFill>
        <p:spPr>
          <a:xfrm>
            <a:off x="4949131" y="762000"/>
            <a:ext cx="3663331" cy="5494997"/>
          </a:xfrm>
          <a:prstGeom prst="rect">
            <a:avLst/>
          </a:prstGeom>
          <a:solidFill>
            <a:srgbClr val="FFFFFF">
              <a:shade val="85000"/>
            </a:srgbClr>
          </a:solidFill>
          <a:ln w="762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>
            <a:extLst>
              <a:ext uri="{FF2B5EF4-FFF2-40B4-BE49-F238E27FC236}">
                <a16:creationId xmlns:a16="http://schemas.microsoft.com/office/drawing/2014/main" id="{67D2C79E-9CF6-4B1D-98D8-5805C70EA6B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5899"/>
          <a:stretch>
            <a:fillRect/>
          </a:stretch>
        </p:blipFill>
        <p:spPr>
          <a:xfrm>
            <a:off x="990600" y="2209800"/>
            <a:ext cx="7086600" cy="3276600"/>
          </a:xfr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179AE501-CBEB-4F8F-A0CC-D83766D25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t>Aims and Participants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3094D8-A5C5-4C36-92A0-E2E8F644D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Procedure</a:t>
            </a:r>
          </a:p>
        </p:txBody>
      </p:sp>
      <p:pic>
        <p:nvPicPr>
          <p:cNvPr id="18435" name="Picture 2">
            <a:extLst>
              <a:ext uri="{FF2B5EF4-FFF2-40B4-BE49-F238E27FC236}">
                <a16:creationId xmlns:a16="http://schemas.microsoft.com/office/drawing/2014/main" id="{17157485-5E46-4745-9DF7-0170B5BCC3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298" b="34984"/>
          <a:stretch>
            <a:fillRect/>
          </a:stretch>
        </p:blipFill>
        <p:spPr bwMode="auto">
          <a:xfrm>
            <a:off x="1447800" y="1285875"/>
            <a:ext cx="6370638" cy="534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EE0E23-35A6-4B26-B7A6-5CD83B5EB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AU"/>
              <a:t>Results, Conclusion &amp; Generalisation</a:t>
            </a:r>
          </a:p>
        </p:txBody>
      </p:sp>
      <p:pic>
        <p:nvPicPr>
          <p:cNvPr id="19459" name="Picture 2">
            <a:extLst>
              <a:ext uri="{FF2B5EF4-FFF2-40B4-BE49-F238E27FC236}">
                <a16:creationId xmlns:a16="http://schemas.microsoft.com/office/drawing/2014/main" id="{0BE16F1E-6481-4A05-9CF3-7DE32CCD32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018"/>
          <a:stretch>
            <a:fillRect/>
          </a:stretch>
        </p:blipFill>
        <p:spPr bwMode="auto">
          <a:xfrm>
            <a:off x="990600" y="1431925"/>
            <a:ext cx="7086600" cy="475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per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Paper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Paper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2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Paper</Template>
  <TotalTime>218</TotalTime>
  <Words>129</Words>
  <Application>Microsoft Office PowerPoint</Application>
  <PresentationFormat>On-screen Show (4:3)</PresentationFormat>
  <Paragraphs>31</Paragraphs>
  <Slides>15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Paper</vt:lpstr>
      <vt:lpstr>Harlow’s experiments  on attachment in monkeys</vt:lpstr>
      <vt:lpstr>PowerPoint Presentation</vt:lpstr>
      <vt:lpstr>PowerPoint Presentation</vt:lpstr>
      <vt:lpstr>Harlow, H.F. (1958). The nature of love. </vt:lpstr>
      <vt:lpstr>Participants</vt:lpstr>
      <vt:lpstr>Procedure</vt:lpstr>
      <vt:lpstr>Procedure</vt:lpstr>
      <vt:lpstr>Procedure</vt:lpstr>
      <vt:lpstr>Results</vt:lpstr>
      <vt:lpstr>PowerPoint Presentation</vt:lpstr>
      <vt:lpstr>Conclusion</vt:lpstr>
      <vt:lpstr>Generalisation</vt:lpstr>
      <vt:lpstr>Aims and Participants</vt:lpstr>
      <vt:lpstr>Procedure</vt:lpstr>
      <vt:lpstr>Results, Conclusion &amp; Generalisation</vt:lpstr>
    </vt:vector>
  </TitlesOfParts>
  <Company>DEECD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Harlow’s experiments  on attachment in monkeys</dc:title>
  <dc:creator>Prue Steventon</dc:creator>
  <cp:lastModifiedBy>End User</cp:lastModifiedBy>
  <cp:revision>26</cp:revision>
  <dcterms:created xsi:type="dcterms:W3CDTF">2010-01-05T04:29:32Z</dcterms:created>
  <dcterms:modified xsi:type="dcterms:W3CDTF">2020-12-08T04:30:47Z</dcterms:modified>
</cp:coreProperties>
</file>
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0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11/11/2021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8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5DA1D8-E874-4205-B6D5-557E0C0722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91EF9-FF42-46BA-B179-B07A69C7F5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30" b="21620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712609" y="3740816"/>
                </a:moveTo>
                <a:cubicBezTo>
                  <a:pt x="5738974" y="3758821"/>
                  <a:pt x="5765337" y="3776826"/>
                  <a:pt x="5791702" y="3794831"/>
                </a:cubicBezTo>
                <a:cubicBezTo>
                  <a:pt x="5776911" y="3790330"/>
                  <a:pt x="5760836" y="3785829"/>
                  <a:pt x="5745403" y="3781327"/>
                </a:cubicBezTo>
                <a:cubicBezTo>
                  <a:pt x="5732542" y="3770394"/>
                  <a:pt x="5719038" y="3760108"/>
                  <a:pt x="5706178" y="3748531"/>
                </a:cubicBezTo>
                <a:cubicBezTo>
                  <a:pt x="5708106" y="3745959"/>
                  <a:pt x="5710678" y="3743389"/>
                  <a:pt x="5712609" y="3740816"/>
                </a:cubicBezTo>
                <a:close/>
                <a:moveTo>
                  <a:pt x="6185882" y="2838635"/>
                </a:moveTo>
                <a:cubicBezTo>
                  <a:pt x="6344070" y="2946665"/>
                  <a:pt x="6502257" y="3055338"/>
                  <a:pt x="6660444" y="3163369"/>
                </a:cubicBezTo>
                <a:cubicBezTo>
                  <a:pt x="6657871" y="3165941"/>
                  <a:pt x="6655942" y="3168513"/>
                  <a:pt x="6653370" y="3171086"/>
                </a:cubicBezTo>
                <a:cubicBezTo>
                  <a:pt x="6479751" y="3079774"/>
                  <a:pt x="6315776" y="2978175"/>
                  <a:pt x="6185882" y="2838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164490"/>
                </a:lnTo>
                <a:lnTo>
                  <a:pt x="11988395" y="3196744"/>
                </a:lnTo>
                <a:cubicBezTo>
                  <a:pt x="11473771" y="3266864"/>
                  <a:pt x="10861963" y="3302908"/>
                  <a:pt x="10185568" y="3253395"/>
                </a:cubicBezTo>
                <a:cubicBezTo>
                  <a:pt x="10116120" y="3248250"/>
                  <a:pt x="10050531" y="3245034"/>
                  <a:pt x="9983655" y="3242463"/>
                </a:cubicBezTo>
                <a:cubicBezTo>
                  <a:pt x="9392061" y="3216097"/>
                  <a:pt x="8811401" y="3203236"/>
                  <a:pt x="8566404" y="3171728"/>
                </a:cubicBezTo>
                <a:cubicBezTo>
                  <a:pt x="8374779" y="3146650"/>
                  <a:pt x="7394792" y="2934448"/>
                  <a:pt x="7107354" y="2755040"/>
                </a:cubicBezTo>
                <a:cubicBezTo>
                  <a:pt x="6813486" y="2571132"/>
                  <a:pt x="6536339" y="2367932"/>
                  <a:pt x="6260475" y="2164090"/>
                </a:cubicBezTo>
                <a:cubicBezTo>
                  <a:pt x="6140870" y="2075993"/>
                  <a:pt x="6013549" y="1995614"/>
                  <a:pt x="5905518" y="1894658"/>
                </a:cubicBezTo>
                <a:cubicBezTo>
                  <a:pt x="5797490" y="1793059"/>
                  <a:pt x="5694605" y="1687600"/>
                  <a:pt x="5577572" y="1593717"/>
                </a:cubicBezTo>
                <a:cubicBezTo>
                  <a:pt x="5544133" y="1566709"/>
                  <a:pt x="5510696" y="1537773"/>
                  <a:pt x="5461824" y="1533271"/>
                </a:cubicBezTo>
                <a:cubicBezTo>
                  <a:pt x="5450893" y="1531985"/>
                  <a:pt x="5439318" y="1532628"/>
                  <a:pt x="5428386" y="1533913"/>
                </a:cubicBezTo>
                <a:cubicBezTo>
                  <a:pt x="5416169" y="1535200"/>
                  <a:pt x="5406523" y="1541630"/>
                  <a:pt x="5402021" y="1552562"/>
                </a:cubicBezTo>
                <a:cubicBezTo>
                  <a:pt x="5397521" y="1564781"/>
                  <a:pt x="5405238" y="1571853"/>
                  <a:pt x="5414239" y="1578283"/>
                </a:cubicBezTo>
                <a:cubicBezTo>
                  <a:pt x="5420670" y="1582785"/>
                  <a:pt x="5427099" y="1589859"/>
                  <a:pt x="5435459" y="1591144"/>
                </a:cubicBezTo>
                <a:cubicBezTo>
                  <a:pt x="5488833" y="1598861"/>
                  <a:pt x="5508766" y="1638086"/>
                  <a:pt x="5533844" y="1672809"/>
                </a:cubicBezTo>
                <a:cubicBezTo>
                  <a:pt x="5544776" y="1687600"/>
                  <a:pt x="5556350" y="1699175"/>
                  <a:pt x="5536417" y="1720394"/>
                </a:cubicBezTo>
                <a:cubicBezTo>
                  <a:pt x="5519055" y="1739042"/>
                  <a:pt x="5537059" y="1748689"/>
                  <a:pt x="5555063" y="1753834"/>
                </a:cubicBezTo>
                <a:cubicBezTo>
                  <a:pt x="5580142" y="1760906"/>
                  <a:pt x="5609722" y="1759621"/>
                  <a:pt x="5638015" y="1782770"/>
                </a:cubicBezTo>
                <a:cubicBezTo>
                  <a:pt x="5531915" y="1784699"/>
                  <a:pt x="5486902" y="1723611"/>
                  <a:pt x="5438676" y="1667022"/>
                </a:cubicBezTo>
                <a:cubicBezTo>
                  <a:pt x="5420670" y="1646446"/>
                  <a:pt x="5408453" y="1622010"/>
                  <a:pt x="5393019" y="1598861"/>
                </a:cubicBezTo>
                <a:cubicBezTo>
                  <a:pt x="5373728" y="1570568"/>
                  <a:pt x="5351221" y="1569281"/>
                  <a:pt x="5322928" y="1594359"/>
                </a:cubicBezTo>
                <a:cubicBezTo>
                  <a:pt x="5297850" y="1616865"/>
                  <a:pt x="5285633" y="1614937"/>
                  <a:pt x="5277274" y="1584070"/>
                </a:cubicBezTo>
                <a:cubicBezTo>
                  <a:pt x="5264412" y="1535843"/>
                  <a:pt x="5234831" y="1501763"/>
                  <a:pt x="5184674" y="1484401"/>
                </a:cubicBezTo>
                <a:cubicBezTo>
                  <a:pt x="5179209" y="1482471"/>
                  <a:pt x="5173101" y="1479417"/>
                  <a:pt x="5167072" y="1478372"/>
                </a:cubicBezTo>
                <a:cubicBezTo>
                  <a:pt x="5161044" y="1477327"/>
                  <a:pt x="5155097" y="1478292"/>
                  <a:pt x="5149951" y="1484401"/>
                </a:cubicBezTo>
                <a:cubicBezTo>
                  <a:pt x="5140950" y="1494688"/>
                  <a:pt x="5148664" y="1506907"/>
                  <a:pt x="5155097" y="1515909"/>
                </a:cubicBezTo>
                <a:cubicBezTo>
                  <a:pt x="5166670" y="1531985"/>
                  <a:pt x="5176959" y="1547417"/>
                  <a:pt x="5181461" y="1566709"/>
                </a:cubicBezTo>
                <a:cubicBezTo>
                  <a:pt x="5184674" y="1579570"/>
                  <a:pt x="5187891" y="1593717"/>
                  <a:pt x="5178887" y="1603361"/>
                </a:cubicBezTo>
                <a:cubicBezTo>
                  <a:pt x="5141592" y="1644516"/>
                  <a:pt x="5168600" y="1663807"/>
                  <a:pt x="5200752" y="1685671"/>
                </a:cubicBezTo>
                <a:cubicBezTo>
                  <a:pt x="5245120" y="1715251"/>
                  <a:pt x="5262482" y="1758976"/>
                  <a:pt x="5252195" y="1811063"/>
                </a:cubicBezTo>
                <a:cubicBezTo>
                  <a:pt x="5248335" y="1832284"/>
                  <a:pt x="5250909" y="1845143"/>
                  <a:pt x="5277274" y="1844501"/>
                </a:cubicBezTo>
                <a:cubicBezTo>
                  <a:pt x="5287560" y="1844501"/>
                  <a:pt x="5290133" y="1851575"/>
                  <a:pt x="5293993" y="1859290"/>
                </a:cubicBezTo>
                <a:cubicBezTo>
                  <a:pt x="5376299" y="2041270"/>
                  <a:pt x="5495262" y="2200743"/>
                  <a:pt x="5634802" y="2347356"/>
                </a:cubicBezTo>
                <a:cubicBezTo>
                  <a:pt x="5747976" y="2466318"/>
                  <a:pt x="5872725" y="2573704"/>
                  <a:pt x="6001975" y="2677877"/>
                </a:cubicBezTo>
                <a:cubicBezTo>
                  <a:pt x="6005832" y="2681092"/>
                  <a:pt x="6009691" y="2684949"/>
                  <a:pt x="6011621" y="2691379"/>
                </a:cubicBezTo>
                <a:cubicBezTo>
                  <a:pt x="5950533" y="2678520"/>
                  <a:pt x="5897804" y="2652154"/>
                  <a:pt x="5847002" y="2622575"/>
                </a:cubicBezTo>
                <a:cubicBezTo>
                  <a:pt x="5711965" y="2544125"/>
                  <a:pt x="5598147" y="2442525"/>
                  <a:pt x="5483045" y="2342854"/>
                </a:cubicBezTo>
                <a:cubicBezTo>
                  <a:pt x="5412953" y="2281765"/>
                  <a:pt x="5340933" y="2222606"/>
                  <a:pt x="5263769" y="2168592"/>
                </a:cubicBezTo>
                <a:cubicBezTo>
                  <a:pt x="5250909" y="2159588"/>
                  <a:pt x="5241905" y="2148014"/>
                  <a:pt x="5232904" y="2136439"/>
                </a:cubicBezTo>
                <a:cubicBezTo>
                  <a:pt x="5227759" y="2130010"/>
                  <a:pt x="5221329" y="2124222"/>
                  <a:pt x="5211040" y="2126795"/>
                </a:cubicBezTo>
                <a:cubicBezTo>
                  <a:pt x="5198180" y="2130010"/>
                  <a:pt x="5196893" y="2139654"/>
                  <a:pt x="5195606" y="2149301"/>
                </a:cubicBezTo>
                <a:cubicBezTo>
                  <a:pt x="5191749" y="2180166"/>
                  <a:pt x="5200108" y="2207817"/>
                  <a:pt x="5216185" y="2234181"/>
                </a:cubicBezTo>
                <a:cubicBezTo>
                  <a:pt x="5257983" y="2301699"/>
                  <a:pt x="5319713" y="2353786"/>
                  <a:pt x="5383373" y="2403300"/>
                </a:cubicBezTo>
                <a:cubicBezTo>
                  <a:pt x="5465682" y="2466961"/>
                  <a:pt x="5545418" y="2533193"/>
                  <a:pt x="5618083" y="2605857"/>
                </a:cubicBezTo>
                <a:cubicBezTo>
                  <a:pt x="5623226" y="2611001"/>
                  <a:pt x="5632871" y="2614216"/>
                  <a:pt x="5629656" y="2629005"/>
                </a:cubicBezTo>
                <a:cubicBezTo>
                  <a:pt x="5584001" y="2594925"/>
                  <a:pt x="5540917" y="2561487"/>
                  <a:pt x="5497192" y="2529334"/>
                </a:cubicBezTo>
                <a:cubicBezTo>
                  <a:pt x="5454108" y="2497183"/>
                  <a:pt x="5410380" y="2465031"/>
                  <a:pt x="5367298" y="2433523"/>
                </a:cubicBezTo>
                <a:cubicBezTo>
                  <a:pt x="5357008" y="2425806"/>
                  <a:pt x="5346076" y="2414874"/>
                  <a:pt x="5331288" y="2424520"/>
                </a:cubicBezTo>
                <a:cubicBezTo>
                  <a:pt x="5315856" y="2434165"/>
                  <a:pt x="5317785" y="2450242"/>
                  <a:pt x="5321643" y="2463101"/>
                </a:cubicBezTo>
                <a:cubicBezTo>
                  <a:pt x="5333859" y="2501041"/>
                  <a:pt x="5355081" y="2534479"/>
                  <a:pt x="5383373" y="2564059"/>
                </a:cubicBezTo>
                <a:cubicBezTo>
                  <a:pt x="5479829" y="2661801"/>
                  <a:pt x="5591073" y="2746038"/>
                  <a:pt x="5694605" y="2837349"/>
                </a:cubicBezTo>
                <a:cubicBezTo>
                  <a:pt x="5750548" y="2886864"/>
                  <a:pt x="5801990" y="2939593"/>
                  <a:pt x="5850861" y="2994249"/>
                </a:cubicBezTo>
                <a:cubicBezTo>
                  <a:pt x="5861793" y="3006469"/>
                  <a:pt x="5861149" y="3018043"/>
                  <a:pt x="5857934" y="3032189"/>
                </a:cubicBezTo>
                <a:cubicBezTo>
                  <a:pt x="5845076" y="3089421"/>
                  <a:pt x="5865008" y="3108711"/>
                  <a:pt x="5929311" y="3097780"/>
                </a:cubicBezTo>
                <a:cubicBezTo>
                  <a:pt x="5949246" y="3094563"/>
                  <a:pt x="5962750" y="3097780"/>
                  <a:pt x="5974966" y="3111282"/>
                </a:cubicBezTo>
                <a:cubicBezTo>
                  <a:pt x="6122866" y="3278472"/>
                  <a:pt x="6297771" y="3419297"/>
                  <a:pt x="6488753" y="3544689"/>
                </a:cubicBezTo>
                <a:cubicBezTo>
                  <a:pt x="6566560" y="3595488"/>
                  <a:pt x="6646940" y="3643718"/>
                  <a:pt x="6728605" y="3688730"/>
                </a:cubicBezTo>
                <a:cubicBezTo>
                  <a:pt x="6728605" y="3691945"/>
                  <a:pt x="6728605" y="3695804"/>
                  <a:pt x="6728605" y="3699019"/>
                </a:cubicBezTo>
                <a:cubicBezTo>
                  <a:pt x="6727962" y="3703519"/>
                  <a:pt x="6727320" y="3706091"/>
                  <a:pt x="6726677" y="3709950"/>
                </a:cubicBezTo>
                <a:cubicBezTo>
                  <a:pt x="6611573" y="3640502"/>
                  <a:pt x="6497754" y="3569125"/>
                  <a:pt x="6386510" y="3493890"/>
                </a:cubicBezTo>
                <a:cubicBezTo>
                  <a:pt x="6084927" y="3290048"/>
                  <a:pt x="5796845" y="3071415"/>
                  <a:pt x="5504264" y="2857926"/>
                </a:cubicBezTo>
                <a:cubicBezTo>
                  <a:pt x="5405879" y="2785906"/>
                  <a:pt x="5328073" y="2693952"/>
                  <a:pt x="5239333" y="2612929"/>
                </a:cubicBezTo>
                <a:cubicBezTo>
                  <a:pt x="5180174" y="2558915"/>
                  <a:pt x="5123586" y="2502328"/>
                  <a:pt x="5054783" y="2457958"/>
                </a:cubicBezTo>
                <a:cubicBezTo>
                  <a:pt x="5026489" y="2439952"/>
                  <a:pt x="4996909" y="2423876"/>
                  <a:pt x="4958969" y="2428378"/>
                </a:cubicBezTo>
                <a:cubicBezTo>
                  <a:pt x="4944180" y="2430308"/>
                  <a:pt x="4927460" y="2434165"/>
                  <a:pt x="4922316" y="2450884"/>
                </a:cubicBezTo>
                <a:cubicBezTo>
                  <a:pt x="4917814" y="2467603"/>
                  <a:pt x="4931318" y="2475320"/>
                  <a:pt x="4943538" y="2482393"/>
                </a:cubicBezTo>
                <a:cubicBezTo>
                  <a:pt x="4946752" y="2484322"/>
                  <a:pt x="4949967" y="2486895"/>
                  <a:pt x="4953183" y="2486895"/>
                </a:cubicBezTo>
                <a:cubicBezTo>
                  <a:pt x="5014271" y="2490752"/>
                  <a:pt x="5028418" y="2539623"/>
                  <a:pt x="5057355" y="2574991"/>
                </a:cubicBezTo>
                <a:cubicBezTo>
                  <a:pt x="5066357" y="2585923"/>
                  <a:pt x="5066999" y="2596854"/>
                  <a:pt x="5057355" y="2609714"/>
                </a:cubicBezTo>
                <a:cubicBezTo>
                  <a:pt x="5039991" y="2632863"/>
                  <a:pt x="5052210" y="2643152"/>
                  <a:pt x="5075359" y="2649582"/>
                </a:cubicBezTo>
                <a:cubicBezTo>
                  <a:pt x="5098507" y="2656013"/>
                  <a:pt x="5123586" y="2657941"/>
                  <a:pt x="5148664" y="2672732"/>
                </a:cubicBezTo>
                <a:cubicBezTo>
                  <a:pt x="5108797" y="2684949"/>
                  <a:pt x="5081147" y="2672090"/>
                  <a:pt x="5055425" y="2656013"/>
                </a:cubicBezTo>
                <a:cubicBezTo>
                  <a:pt x="4997552" y="2620646"/>
                  <a:pt x="4960257" y="2568559"/>
                  <a:pt x="4924888" y="2515188"/>
                </a:cubicBezTo>
                <a:cubicBezTo>
                  <a:pt x="4917814" y="2504899"/>
                  <a:pt x="4912027" y="2493324"/>
                  <a:pt x="4902382" y="2484965"/>
                </a:cubicBezTo>
                <a:cubicBezTo>
                  <a:pt x="4884376" y="2468246"/>
                  <a:pt x="4865085" y="2466318"/>
                  <a:pt x="4843224" y="2486895"/>
                </a:cubicBezTo>
                <a:cubicBezTo>
                  <a:pt x="4814285" y="2513902"/>
                  <a:pt x="4803998" y="2511973"/>
                  <a:pt x="4794352" y="2477250"/>
                </a:cubicBezTo>
                <a:cubicBezTo>
                  <a:pt x="4781490" y="2430308"/>
                  <a:pt x="4752554" y="2397512"/>
                  <a:pt x="4703040" y="2380151"/>
                </a:cubicBezTo>
                <a:cubicBezTo>
                  <a:pt x="4692753" y="2376292"/>
                  <a:pt x="4681821" y="2371147"/>
                  <a:pt x="4670890" y="2379507"/>
                </a:cubicBezTo>
                <a:cubicBezTo>
                  <a:pt x="4659315" y="2389153"/>
                  <a:pt x="4667030" y="2398798"/>
                  <a:pt x="4671532" y="2407802"/>
                </a:cubicBezTo>
                <a:cubicBezTo>
                  <a:pt x="4677962" y="2421948"/>
                  <a:pt x="4685679" y="2436095"/>
                  <a:pt x="4691466" y="2450884"/>
                </a:cubicBezTo>
                <a:cubicBezTo>
                  <a:pt x="4701755" y="2474677"/>
                  <a:pt x="4703685" y="2499756"/>
                  <a:pt x="4684393" y="2522904"/>
                </a:cubicBezTo>
                <a:cubicBezTo>
                  <a:pt x="4670245" y="2539623"/>
                  <a:pt x="4671532" y="2550555"/>
                  <a:pt x="4690181" y="2562130"/>
                </a:cubicBezTo>
                <a:cubicBezTo>
                  <a:pt x="4749983" y="2598140"/>
                  <a:pt x="4787922" y="2645081"/>
                  <a:pt x="4767344" y="2718387"/>
                </a:cubicBezTo>
                <a:cubicBezTo>
                  <a:pt x="4764130" y="2728676"/>
                  <a:pt x="4767988" y="2738965"/>
                  <a:pt x="4780205" y="2738321"/>
                </a:cubicBezTo>
                <a:cubicBezTo>
                  <a:pt x="4807214" y="2736393"/>
                  <a:pt x="4811713" y="2753112"/>
                  <a:pt x="4819430" y="2770474"/>
                </a:cubicBezTo>
                <a:cubicBezTo>
                  <a:pt x="4894666" y="2937020"/>
                  <a:pt x="5003339" y="3082346"/>
                  <a:pt x="5128730" y="3218670"/>
                </a:cubicBezTo>
                <a:cubicBezTo>
                  <a:pt x="5252837" y="3353709"/>
                  <a:pt x="5392376" y="3474599"/>
                  <a:pt x="5540917" y="3590345"/>
                </a:cubicBezTo>
                <a:cubicBezTo>
                  <a:pt x="5499119" y="3586487"/>
                  <a:pt x="5445104" y="3562695"/>
                  <a:pt x="5393019" y="3535044"/>
                </a:cubicBezTo>
                <a:cubicBezTo>
                  <a:pt x="5255410" y="3461095"/>
                  <a:pt x="5142235" y="3360781"/>
                  <a:pt x="5027131" y="3262397"/>
                </a:cubicBezTo>
                <a:cubicBezTo>
                  <a:pt x="4946752" y="3193592"/>
                  <a:pt x="4868302" y="3122858"/>
                  <a:pt x="4778275" y="3063697"/>
                </a:cubicBezTo>
                <a:cubicBezTo>
                  <a:pt x="4767988" y="3057268"/>
                  <a:pt x="4760914" y="3048908"/>
                  <a:pt x="4755127" y="3038619"/>
                </a:cubicBezTo>
                <a:cubicBezTo>
                  <a:pt x="4749983" y="3029617"/>
                  <a:pt x="4742265" y="3021258"/>
                  <a:pt x="4728763" y="3025115"/>
                </a:cubicBezTo>
                <a:cubicBezTo>
                  <a:pt x="4715259" y="3029617"/>
                  <a:pt x="4713973" y="3041192"/>
                  <a:pt x="4713973" y="3051481"/>
                </a:cubicBezTo>
                <a:cubicBezTo>
                  <a:pt x="4715902" y="3090063"/>
                  <a:pt x="4726833" y="3124786"/>
                  <a:pt x="4750625" y="3155652"/>
                </a:cubicBezTo>
                <a:cubicBezTo>
                  <a:pt x="4796924" y="3217385"/>
                  <a:pt x="4858656" y="3265612"/>
                  <a:pt x="4920386" y="3313839"/>
                </a:cubicBezTo>
                <a:cubicBezTo>
                  <a:pt x="5005911" y="3380072"/>
                  <a:pt x="5085005" y="3452092"/>
                  <a:pt x="5156382" y="3532472"/>
                </a:cubicBezTo>
                <a:cubicBezTo>
                  <a:pt x="5104940" y="3493247"/>
                  <a:pt x="5053495" y="3453378"/>
                  <a:pt x="5001409" y="3414153"/>
                </a:cubicBezTo>
                <a:cubicBezTo>
                  <a:pt x="4962184" y="3384574"/>
                  <a:pt x="4921673" y="3356279"/>
                  <a:pt x="4881806" y="3327343"/>
                </a:cubicBezTo>
                <a:cubicBezTo>
                  <a:pt x="4872159" y="3320270"/>
                  <a:pt x="4861870" y="3312554"/>
                  <a:pt x="4848368" y="3322198"/>
                </a:cubicBezTo>
                <a:cubicBezTo>
                  <a:pt x="4836149" y="3330558"/>
                  <a:pt x="4838079" y="3342777"/>
                  <a:pt x="4840652" y="3354351"/>
                </a:cubicBezTo>
                <a:cubicBezTo>
                  <a:pt x="4850297" y="3400006"/>
                  <a:pt x="4877304" y="3436659"/>
                  <a:pt x="4910742" y="3469454"/>
                </a:cubicBezTo>
                <a:cubicBezTo>
                  <a:pt x="4951252" y="3508679"/>
                  <a:pt x="4993695" y="3545976"/>
                  <a:pt x="5037419" y="3583272"/>
                </a:cubicBezTo>
                <a:cubicBezTo>
                  <a:pt x="4990479" y="3572983"/>
                  <a:pt x="4943538" y="3562695"/>
                  <a:pt x="4896595" y="3554336"/>
                </a:cubicBezTo>
                <a:cubicBezTo>
                  <a:pt x="4917814" y="3628927"/>
                  <a:pt x="4967328" y="3643718"/>
                  <a:pt x="5011699" y="3655292"/>
                </a:cubicBezTo>
                <a:cubicBezTo>
                  <a:pt x="5071502" y="3670081"/>
                  <a:pt x="5128730" y="3688730"/>
                  <a:pt x="5185319" y="3709950"/>
                </a:cubicBezTo>
                <a:cubicBezTo>
                  <a:pt x="5209111" y="3731170"/>
                  <a:pt x="5232904" y="3751748"/>
                  <a:pt x="5256052" y="3773610"/>
                </a:cubicBezTo>
                <a:cubicBezTo>
                  <a:pt x="5279845" y="3796118"/>
                  <a:pt x="5302352" y="3818624"/>
                  <a:pt x="5324859" y="3842415"/>
                </a:cubicBezTo>
                <a:cubicBezTo>
                  <a:pt x="5340933" y="3859776"/>
                  <a:pt x="5360224" y="3874568"/>
                  <a:pt x="5341576" y="3904146"/>
                </a:cubicBezTo>
                <a:cubicBezTo>
                  <a:pt x="5333217" y="3917650"/>
                  <a:pt x="5387873" y="3990958"/>
                  <a:pt x="5405238" y="3995458"/>
                </a:cubicBezTo>
                <a:cubicBezTo>
                  <a:pt x="5407809" y="3996100"/>
                  <a:pt x="5410380" y="3996745"/>
                  <a:pt x="5412310" y="3996745"/>
                </a:cubicBezTo>
                <a:cubicBezTo>
                  <a:pt x="5449607" y="3994173"/>
                  <a:pt x="5457967" y="4016036"/>
                  <a:pt x="5458608" y="4043687"/>
                </a:cubicBezTo>
                <a:cubicBezTo>
                  <a:pt x="5459252" y="4070693"/>
                  <a:pt x="5452823" y="4104131"/>
                  <a:pt x="5503621" y="4090627"/>
                </a:cubicBezTo>
                <a:cubicBezTo>
                  <a:pt x="5509408" y="4089342"/>
                  <a:pt x="5510696" y="4093199"/>
                  <a:pt x="5513266" y="4097701"/>
                </a:cubicBezTo>
                <a:cubicBezTo>
                  <a:pt x="5568568" y="4212804"/>
                  <a:pt x="5661808" y="4301543"/>
                  <a:pt x="5753762" y="4390282"/>
                </a:cubicBezTo>
                <a:cubicBezTo>
                  <a:pt x="5758907" y="4394784"/>
                  <a:pt x="5764052" y="4399285"/>
                  <a:pt x="5769195" y="4403786"/>
                </a:cubicBezTo>
                <a:cubicBezTo>
                  <a:pt x="5672741" y="4381280"/>
                  <a:pt x="5354436" y="4352342"/>
                  <a:pt x="5261196" y="4361989"/>
                </a:cubicBezTo>
                <a:cubicBezTo>
                  <a:pt x="5178245" y="4370349"/>
                  <a:pt x="4709472" y="4230167"/>
                  <a:pt x="4612374" y="4147215"/>
                </a:cubicBezTo>
                <a:cubicBezTo>
                  <a:pt x="4598869" y="4212161"/>
                  <a:pt x="4627806" y="4237882"/>
                  <a:pt x="4650956" y="4267463"/>
                </a:cubicBezTo>
                <a:cubicBezTo>
                  <a:pt x="4683749" y="4309260"/>
                  <a:pt x="4688895" y="4338840"/>
                  <a:pt x="4627162" y="4372278"/>
                </a:cubicBezTo>
                <a:cubicBezTo>
                  <a:pt x="4450327" y="4467447"/>
                  <a:pt x="4452257" y="4470662"/>
                  <a:pt x="4618160" y="4599911"/>
                </a:cubicBezTo>
                <a:cubicBezTo>
                  <a:pt x="4625877" y="4605700"/>
                  <a:pt x="4622019" y="4624347"/>
                  <a:pt x="4623948" y="4637209"/>
                </a:cubicBezTo>
                <a:cubicBezTo>
                  <a:pt x="4580863" y="4656500"/>
                  <a:pt x="4530064" y="4606343"/>
                  <a:pt x="4478622" y="4660357"/>
                </a:cubicBezTo>
                <a:cubicBezTo>
                  <a:pt x="4700468" y="4897637"/>
                  <a:pt x="5038064" y="5123344"/>
                  <a:pt x="5344150" y="5301466"/>
                </a:cubicBezTo>
                <a:cubicBezTo>
                  <a:pt x="5096581" y="5359982"/>
                  <a:pt x="4948037" y="5154210"/>
                  <a:pt x="4766058" y="5180574"/>
                </a:cubicBezTo>
                <a:cubicBezTo>
                  <a:pt x="4675390" y="5244877"/>
                  <a:pt x="4945465" y="5349050"/>
                  <a:pt x="4687609" y="5379273"/>
                </a:cubicBezTo>
                <a:cubicBezTo>
                  <a:pt x="4799496" y="5435860"/>
                  <a:pt x="4882449" y="5491161"/>
                  <a:pt x="4959611" y="5556107"/>
                </a:cubicBezTo>
                <a:cubicBezTo>
                  <a:pt x="5096581" y="5672497"/>
                  <a:pt x="5123586" y="5749662"/>
                  <a:pt x="5060571" y="5905920"/>
                </a:cubicBezTo>
                <a:cubicBezTo>
                  <a:pt x="5018773" y="6008805"/>
                  <a:pt x="4958326" y="6103332"/>
                  <a:pt x="5011699" y="6226152"/>
                </a:cubicBezTo>
                <a:cubicBezTo>
                  <a:pt x="5048351" y="6310389"/>
                  <a:pt x="5034204" y="6365690"/>
                  <a:pt x="4895308" y="6327750"/>
                </a:cubicBezTo>
                <a:cubicBezTo>
                  <a:pt x="4745482" y="6287240"/>
                  <a:pt x="4688895" y="6363118"/>
                  <a:pt x="4726833" y="6510373"/>
                </a:cubicBezTo>
                <a:cubicBezTo>
                  <a:pt x="4751269" y="6604900"/>
                  <a:pt x="4725546" y="6634480"/>
                  <a:pt x="4622661" y="6623548"/>
                </a:cubicBezTo>
                <a:cubicBezTo>
                  <a:pt x="4508843" y="6611330"/>
                  <a:pt x="4400814" y="6549598"/>
                  <a:pt x="4259989" y="6579179"/>
                </a:cubicBezTo>
                <a:cubicBezTo>
                  <a:pt x="4358453" y="6729972"/>
                  <a:pt x="4554892" y="6711403"/>
                  <a:pt x="4690343" y="6814255"/>
                </a:cubicBezTo>
                <a:lnTo>
                  <a:pt x="4735334" y="6858000"/>
                </a:lnTo>
                <a:lnTo>
                  <a:pt x="4496011" y="6858000"/>
                </a:lnTo>
                <a:lnTo>
                  <a:pt x="4440632" y="6851514"/>
                </a:lnTo>
                <a:cubicBezTo>
                  <a:pt x="4410700" y="6846400"/>
                  <a:pt x="4381522" y="6839608"/>
                  <a:pt x="4352585" y="6830605"/>
                </a:cubicBezTo>
                <a:cubicBezTo>
                  <a:pt x="4304358" y="6815816"/>
                  <a:pt x="4251629" y="6801027"/>
                  <a:pt x="4224621" y="6850539"/>
                </a:cubicBezTo>
                <a:lnTo>
                  <a:pt x="422311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2F6F56-3FEB-4182-AB56-D9D63F961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anchor="b">
            <a:normAutofit fontScale="90000"/>
          </a:bodyPr>
          <a:lstStyle/>
          <a:p>
            <a:r>
              <a:rPr lang="en-AU" sz="4400" dirty="0"/>
              <a:t>Planning and conducting psychological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787A1-76D0-4DB0-BF37-2B67E5BC0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>
            <a:normAutofit/>
          </a:bodyPr>
          <a:lstStyle/>
          <a:p>
            <a:r>
              <a:rPr lang="en-AU" sz="2000" dirty="0"/>
              <a:t>Year 12 </a:t>
            </a:r>
            <a:r>
              <a:rPr lang="en-AU" sz="2000" dirty="0" err="1"/>
              <a:t>atar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49617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1159"/>
            <a:ext cx="9144000" cy="1287798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000" dirty="0"/>
              <a:t>Goals of Psychological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6555"/>
            <a:ext cx="9144000" cy="355500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b="1" dirty="0"/>
              <a:t>Description</a:t>
            </a:r>
            <a:r>
              <a:rPr lang="en-AU" dirty="0"/>
              <a:t> – defining, differentiating, recording, describing relationships</a:t>
            </a:r>
          </a:p>
          <a:p>
            <a:pPr marL="457200" indent="-457200">
              <a:buAutoNum type="arabicPeriod"/>
            </a:pPr>
            <a:r>
              <a:rPr lang="en-AU" b="1" dirty="0"/>
              <a:t>Understanding</a:t>
            </a:r>
            <a:r>
              <a:rPr lang="en-AU" dirty="0"/>
              <a:t> – hypotheses, determining causation</a:t>
            </a:r>
          </a:p>
          <a:p>
            <a:pPr marL="457200" indent="-457200">
              <a:buAutoNum type="arabicPeriod"/>
            </a:pPr>
            <a:r>
              <a:rPr lang="en-AU" b="1" dirty="0"/>
              <a:t>Prediction </a:t>
            </a:r>
          </a:p>
          <a:p>
            <a:pPr marL="457200" indent="-457200">
              <a:buAutoNum type="arabicPeriod"/>
            </a:pPr>
            <a:r>
              <a:rPr lang="en-AU" b="1" dirty="0"/>
              <a:t>Control</a:t>
            </a:r>
            <a:r>
              <a:rPr lang="en-AU" dirty="0"/>
              <a:t> – influence (e.g. advertising)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82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Establishing causation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9302"/>
            <a:ext cx="9144000" cy="355500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b="1" dirty="0"/>
              <a:t>Cause of the phenomenon is consistently related to the effect</a:t>
            </a:r>
            <a:endParaRPr lang="en-AU" dirty="0"/>
          </a:p>
          <a:p>
            <a:pPr marL="457200" indent="-457200">
              <a:buAutoNum type="arabicPeriod"/>
            </a:pPr>
            <a:r>
              <a:rPr lang="en-AU" b="1" dirty="0"/>
              <a:t>Cause must come before the effect</a:t>
            </a:r>
            <a:endParaRPr lang="en-AU" dirty="0"/>
          </a:p>
          <a:p>
            <a:pPr marL="457200" indent="-457200">
              <a:buAutoNum type="arabicPeriod"/>
            </a:pPr>
            <a:r>
              <a:rPr lang="en-AU" b="1" dirty="0"/>
              <a:t>No other plausible alternative explanation for the effect</a:t>
            </a:r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40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000" dirty="0"/>
              <a:t>Influence of experimenter expectations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9302"/>
            <a:ext cx="9144000" cy="355500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b="1" dirty="0"/>
              <a:t>Treating experimental and control groups differently</a:t>
            </a:r>
          </a:p>
          <a:p>
            <a:pPr marL="457200" indent="-457200">
              <a:buAutoNum type="arabicPeriod"/>
            </a:pPr>
            <a:r>
              <a:rPr lang="en-AU" b="1" dirty="0"/>
              <a:t>Giving non-verbal feedback e.g. smile or grimace to right or wrong answers</a:t>
            </a:r>
          </a:p>
          <a:p>
            <a:pPr marL="457200" indent="-457200">
              <a:buAutoNum type="arabicPeriod"/>
            </a:pPr>
            <a:r>
              <a:rPr lang="en-AU" b="1" dirty="0"/>
              <a:t>Giving verbal feedback to correct responses e.g. ‘okay’, ‘good’ (sometimes inadvertently)</a:t>
            </a:r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09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Reducing bias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9302"/>
            <a:ext cx="9144000" cy="355500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b="1" dirty="0"/>
              <a:t>Double-blind procedure</a:t>
            </a:r>
          </a:p>
          <a:p>
            <a:pPr marL="457200" indent="-457200">
              <a:buAutoNum type="arabicPeriod"/>
            </a:pPr>
            <a:r>
              <a:rPr lang="en-AU" b="1" dirty="0"/>
              <a:t>Physical and emotional distance from the study</a:t>
            </a:r>
          </a:p>
          <a:p>
            <a:pPr marL="457200" indent="-457200">
              <a:buAutoNum type="arabicPeriod"/>
            </a:pPr>
            <a:r>
              <a:rPr lang="en-AU" b="1" dirty="0"/>
              <a:t>Scripts for the experimenter</a:t>
            </a:r>
          </a:p>
          <a:p>
            <a:pPr marL="457200" indent="-457200">
              <a:buAutoNum type="arabicPeriod"/>
            </a:pPr>
            <a:r>
              <a:rPr lang="en-AU" b="1" dirty="0"/>
              <a:t>Minimise experimenter role or minimise contact</a:t>
            </a:r>
          </a:p>
          <a:p>
            <a:pPr marL="457200" indent="-457200">
              <a:buAutoNum type="arabicPeriod"/>
            </a:pPr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68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Safeguarding rights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9302"/>
            <a:ext cx="9144000" cy="355500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b="1" dirty="0"/>
              <a:t>Privacy – right of protection from unwanted intrusion by government or other people into one’s affairs</a:t>
            </a:r>
          </a:p>
          <a:p>
            <a:pPr marL="457200" indent="-457200">
              <a:buAutoNum type="arabicPeriod"/>
            </a:pPr>
            <a:r>
              <a:rPr lang="en-AU" b="1" dirty="0"/>
              <a:t>Anonymity – protection of identity when you do not disclose your name</a:t>
            </a:r>
          </a:p>
          <a:p>
            <a:pPr marL="457200" indent="-457200">
              <a:buAutoNum type="arabicPeriod"/>
            </a:pPr>
            <a:r>
              <a:rPr lang="en-AU" b="1" dirty="0"/>
              <a:t>Confidentiality – degree of secrecy of information disclosed in a relationship</a:t>
            </a:r>
          </a:p>
          <a:p>
            <a:pPr marL="457200" indent="-457200">
              <a:buAutoNum type="arabicPeriod"/>
            </a:pPr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792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Informed consent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9302"/>
            <a:ext cx="9144000" cy="3555005"/>
          </a:xfrm>
        </p:spPr>
        <p:txBody>
          <a:bodyPr>
            <a:normAutofit/>
          </a:bodyPr>
          <a:lstStyle/>
          <a:p>
            <a:r>
              <a:rPr lang="en-AU" dirty="0"/>
              <a:t>Q: What is the protocol with young children?</a:t>
            </a:r>
          </a:p>
          <a:p>
            <a:endParaRPr lang="en-AU" dirty="0"/>
          </a:p>
          <a:p>
            <a:r>
              <a:rPr lang="en-AU" dirty="0"/>
              <a:t>A: even if parents consent, children still need to have the procedures explained to them clearly and need to assent themselves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99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Informed consent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9302"/>
            <a:ext cx="9144000" cy="3555005"/>
          </a:xfrm>
        </p:spPr>
        <p:txBody>
          <a:bodyPr>
            <a:normAutofit/>
          </a:bodyPr>
          <a:lstStyle/>
          <a:p>
            <a:r>
              <a:rPr lang="en-AU" dirty="0"/>
              <a:t>Q: What is the age for consent to participate in research and to receive professional counselling?</a:t>
            </a:r>
          </a:p>
          <a:p>
            <a:endParaRPr lang="en-AU" dirty="0"/>
          </a:p>
          <a:p>
            <a:r>
              <a:rPr lang="en-AU" dirty="0"/>
              <a:t>A: 18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83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Opinions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099302"/>
            <a:ext cx="9379789" cy="355500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dirty="0"/>
              <a:t>Should capacity to give consent be linked to age?</a:t>
            </a:r>
          </a:p>
          <a:p>
            <a:pPr marL="457200" indent="-457200">
              <a:buAutoNum type="arabicPeriod"/>
            </a:pPr>
            <a:r>
              <a:rPr lang="en-AU" dirty="0"/>
              <a:t>Do you think you are mature enough to make up your own mind?</a:t>
            </a:r>
          </a:p>
          <a:p>
            <a:pPr marL="457200" indent="-457200">
              <a:buAutoNum type="arabicPeriod"/>
            </a:pPr>
            <a:r>
              <a:rPr lang="en-AU" dirty="0"/>
              <a:t>What are your rights?</a:t>
            </a:r>
          </a:p>
          <a:p>
            <a:pPr marL="457200" indent="-457200">
              <a:buAutoNum type="arabicPeriod"/>
            </a:pPr>
            <a:r>
              <a:rPr lang="en-AU" dirty="0"/>
              <a:t>What are the rights of your parents or guardians?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39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000" dirty="0"/>
              <a:t>Checklist for informed consent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97" y="1811548"/>
            <a:ext cx="10217892" cy="484276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AU" dirty="0"/>
              <a:t>Explain nature and purpose</a:t>
            </a:r>
          </a:p>
          <a:p>
            <a:pPr marL="457200" indent="-457200">
              <a:buAutoNum type="arabicPeriod"/>
            </a:pPr>
            <a:r>
              <a:rPr lang="en-AU" dirty="0"/>
              <a:t>Clarify foreseeable risks and possible disadvantages</a:t>
            </a:r>
          </a:p>
          <a:p>
            <a:pPr marL="457200" indent="-457200">
              <a:buAutoNum type="arabicPeriod"/>
            </a:pPr>
            <a:r>
              <a:rPr lang="en-AU" dirty="0"/>
              <a:t>Explain how much info is collected and recorded</a:t>
            </a:r>
          </a:p>
          <a:p>
            <a:pPr marL="457200" indent="-457200">
              <a:buAutoNum type="arabicPeriod"/>
            </a:pPr>
            <a:r>
              <a:rPr lang="en-AU" dirty="0"/>
              <a:t>Explain how, where, when and for how long info will be stored – and who has access</a:t>
            </a:r>
          </a:p>
          <a:p>
            <a:pPr marL="457200" indent="-457200">
              <a:buAutoNum type="arabicPeriod"/>
            </a:pPr>
            <a:r>
              <a:rPr lang="en-AU" dirty="0"/>
              <a:t>Advising participants they may or may not participate, and withdraw</a:t>
            </a:r>
          </a:p>
          <a:p>
            <a:pPr marL="457200" indent="-457200">
              <a:buAutoNum type="arabicPeriod"/>
            </a:pPr>
            <a:r>
              <a:rPr lang="en-AU" dirty="0"/>
              <a:t>Reinforcing nothing will happen if they refuse</a:t>
            </a:r>
          </a:p>
          <a:p>
            <a:pPr marL="457200" indent="-457200">
              <a:buAutoNum type="arabicPeriod"/>
            </a:pPr>
            <a:r>
              <a:rPr lang="en-AU" dirty="0"/>
              <a:t>Clarify duration of research</a:t>
            </a:r>
          </a:p>
          <a:p>
            <a:pPr marL="457200" indent="-457200">
              <a:buAutoNum type="arabicPeriod"/>
            </a:pPr>
            <a:r>
              <a:rPr lang="en-AU" dirty="0"/>
              <a:t>Explain confidentiality and limits of confidentiality</a:t>
            </a:r>
          </a:p>
          <a:p>
            <a:pPr marL="457200" indent="-457200">
              <a:buAutoNum type="arabicPeriod"/>
            </a:pPr>
            <a:r>
              <a:rPr lang="en-AU" dirty="0"/>
              <a:t>Notify conditions under which research may be terminated</a:t>
            </a:r>
          </a:p>
          <a:p>
            <a:pPr marL="457200" indent="-457200">
              <a:buAutoNum type="arabicPeriod"/>
            </a:pPr>
            <a:r>
              <a:rPr lang="en-AU" dirty="0"/>
              <a:t>Other relevant info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71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D517D21-289D-4850-929A-9D0A854EA1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mask">
            <a:extLst>
              <a:ext uri="{FF2B5EF4-FFF2-40B4-BE49-F238E27FC236}">
                <a16:creationId xmlns:a16="http://schemas.microsoft.com/office/drawing/2014/main" id="{69F2D923-FC6D-402C-AF7F-48E07A8979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-1"/>
            <a:ext cx="12188952" cy="6858000"/>
          </a:xfrm>
          <a:custGeom>
            <a:avLst/>
            <a:gdLst>
              <a:gd name="connsiteX0" fmla="*/ 10360682 w 12188952"/>
              <a:gd name="connsiteY0" fmla="*/ 1582951 h 6858000"/>
              <a:gd name="connsiteX1" fmla="*/ 9965970 w 12188952"/>
              <a:gd name="connsiteY1" fmla="*/ 1755290 h 6858000"/>
              <a:gd name="connsiteX2" fmla="*/ 9601833 w 12188952"/>
              <a:gd name="connsiteY2" fmla="*/ 1855358 h 6858000"/>
              <a:gd name="connsiteX3" fmla="*/ 9032001 w 12188952"/>
              <a:gd name="connsiteY3" fmla="*/ 1899833 h 6858000"/>
              <a:gd name="connsiteX4" fmla="*/ 8453831 w 12188952"/>
              <a:gd name="connsiteY4" fmla="*/ 1933189 h 6858000"/>
              <a:gd name="connsiteX5" fmla="*/ 7883999 w 12188952"/>
              <a:gd name="connsiteY5" fmla="*/ 1944308 h 6858000"/>
              <a:gd name="connsiteX6" fmla="*/ 7311387 w 12188952"/>
              <a:gd name="connsiteY6" fmla="*/ 1941528 h 6858000"/>
              <a:gd name="connsiteX7" fmla="*/ 7047319 w 12188952"/>
              <a:gd name="connsiteY7" fmla="*/ 1938749 h 6858000"/>
              <a:gd name="connsiteX8" fmla="*/ 6335724 w 12188952"/>
              <a:gd name="connsiteY8" fmla="*/ 1913732 h 6858000"/>
              <a:gd name="connsiteX9" fmla="*/ 6332945 w 12188952"/>
              <a:gd name="connsiteY9" fmla="*/ 1913732 h 6858000"/>
              <a:gd name="connsiteX10" fmla="*/ 6168943 w 12188952"/>
              <a:gd name="connsiteY10" fmla="*/ 1908172 h 6858000"/>
              <a:gd name="connsiteX11" fmla="*/ 5596332 w 12188952"/>
              <a:gd name="connsiteY11" fmla="*/ 1908172 h 6858000"/>
              <a:gd name="connsiteX12" fmla="*/ 5023720 w 12188952"/>
              <a:gd name="connsiteY12" fmla="*/ 1977664 h 6858000"/>
              <a:gd name="connsiteX13" fmla="*/ 4453890 w 12188952"/>
              <a:gd name="connsiteY13" fmla="*/ 2058275 h 6858000"/>
              <a:gd name="connsiteX14" fmla="*/ 4028600 w 12188952"/>
              <a:gd name="connsiteY14" fmla="*/ 2113868 h 6858000"/>
              <a:gd name="connsiteX15" fmla="*/ 3956328 w 12188952"/>
              <a:gd name="connsiteY15" fmla="*/ 2347360 h 6858000"/>
              <a:gd name="connsiteX16" fmla="*/ 4209278 w 12188952"/>
              <a:gd name="connsiteY16" fmla="*/ 2525259 h 6858000"/>
              <a:gd name="connsiteX17" fmla="*/ 4053617 w 12188952"/>
              <a:gd name="connsiteY17" fmla="*/ 2644784 h 6858000"/>
              <a:gd name="connsiteX18" fmla="*/ 4278770 w 12188952"/>
              <a:gd name="connsiteY18" fmla="*/ 2789327 h 6858000"/>
              <a:gd name="connsiteX19" fmla="*/ 4412194 w 12188952"/>
              <a:gd name="connsiteY19" fmla="*/ 2914412 h 6858000"/>
              <a:gd name="connsiteX20" fmla="*/ 4920873 w 12188952"/>
              <a:gd name="connsiteY20" fmla="*/ 2970006 h 6858000"/>
              <a:gd name="connsiteX21" fmla="*/ 5051518 w 12188952"/>
              <a:gd name="connsiteY21" fmla="*/ 3045057 h 6858000"/>
              <a:gd name="connsiteX22" fmla="*/ 4920873 w 12188952"/>
              <a:gd name="connsiteY22" fmla="*/ 3092311 h 6858000"/>
              <a:gd name="connsiteX23" fmla="*/ 4137007 w 12188952"/>
              <a:gd name="connsiteY23" fmla="*/ 3075633 h 6858000"/>
              <a:gd name="connsiteX24" fmla="*/ 4034159 w 12188952"/>
              <a:gd name="connsiteY24" fmla="*/ 3136786 h 6858000"/>
              <a:gd name="connsiteX25" fmla="*/ 5296129 w 12188952"/>
              <a:gd name="connsiteY25" fmla="*/ 3286888 h 6858000"/>
              <a:gd name="connsiteX26" fmla="*/ 4517821 w 12188952"/>
              <a:gd name="connsiteY26" fmla="*/ 3589872 h 6858000"/>
              <a:gd name="connsiteX27" fmla="*/ 4754094 w 12188952"/>
              <a:gd name="connsiteY27" fmla="*/ 3648245 h 6858000"/>
              <a:gd name="connsiteX28" fmla="*/ 5218298 w 12188952"/>
              <a:gd name="connsiteY28" fmla="*/ 3890077 h 6858000"/>
              <a:gd name="connsiteX29" fmla="*/ 4806907 w 12188952"/>
              <a:gd name="connsiteY29" fmla="*/ 4067975 h 6858000"/>
              <a:gd name="connsiteX30" fmla="*/ 5137687 w 12188952"/>
              <a:gd name="connsiteY30" fmla="*/ 4173602 h 6858000"/>
              <a:gd name="connsiteX31" fmla="*/ 5218298 w 12188952"/>
              <a:gd name="connsiteY31" fmla="*/ 4240314 h 6858000"/>
              <a:gd name="connsiteX32" fmla="*/ 5176602 w 12188952"/>
              <a:gd name="connsiteY32" fmla="*/ 4256992 h 6858000"/>
              <a:gd name="connsiteX33" fmla="*/ 5913214 w 12188952"/>
              <a:gd name="connsiteY33" fmla="*/ 4384858 h 6858000"/>
              <a:gd name="connsiteX34" fmla="*/ 5607451 w 12188952"/>
              <a:gd name="connsiteY34" fmla="*/ 4443230 h 6858000"/>
              <a:gd name="connsiteX35" fmla="*/ 7586575 w 12188952"/>
              <a:gd name="connsiteY35" fmla="*/ 4924113 h 6858000"/>
              <a:gd name="connsiteX36" fmla="*/ 10471869 w 12188952"/>
              <a:gd name="connsiteY36" fmla="*/ 4985265 h 6858000"/>
              <a:gd name="connsiteX37" fmla="*/ 10916616 w 12188952"/>
              <a:gd name="connsiteY37" fmla="*/ 4687841 h 6858000"/>
              <a:gd name="connsiteX38" fmla="*/ 11333566 w 12188952"/>
              <a:gd name="connsiteY38" fmla="*/ 3392515 h 6858000"/>
              <a:gd name="connsiteX39" fmla="*/ 11289091 w 12188952"/>
              <a:gd name="connsiteY39" fmla="*/ 2300106 h 6858000"/>
              <a:gd name="connsiteX40" fmla="*/ 10747056 w 12188952"/>
              <a:gd name="connsiteY40" fmla="*/ 1816443 h 6858000"/>
              <a:gd name="connsiteX41" fmla="*/ 10360682 w 12188952"/>
              <a:gd name="connsiteY41" fmla="*/ 1582951 h 6858000"/>
              <a:gd name="connsiteX42" fmla="*/ 0 w 12188952"/>
              <a:gd name="connsiteY42" fmla="*/ 0 h 6858000"/>
              <a:gd name="connsiteX43" fmla="*/ 12188952 w 12188952"/>
              <a:gd name="connsiteY43" fmla="*/ 0 h 6858000"/>
              <a:gd name="connsiteX44" fmla="*/ 12188952 w 12188952"/>
              <a:gd name="connsiteY44" fmla="*/ 6858000 h 6858000"/>
              <a:gd name="connsiteX45" fmla="*/ 0 w 12188952"/>
              <a:gd name="connsiteY4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88952" h="6858000">
                <a:moveTo>
                  <a:pt x="10360682" y="1582951"/>
                </a:moveTo>
                <a:cubicBezTo>
                  <a:pt x="10227259" y="1638544"/>
                  <a:pt x="10118852" y="1796986"/>
                  <a:pt x="9965970" y="1755290"/>
                </a:cubicBezTo>
                <a:cubicBezTo>
                  <a:pt x="9813089" y="1716375"/>
                  <a:pt x="9743597" y="1916511"/>
                  <a:pt x="9601833" y="1855358"/>
                </a:cubicBezTo>
                <a:cubicBezTo>
                  <a:pt x="9415596" y="1910952"/>
                  <a:pt x="9223799" y="1910952"/>
                  <a:pt x="9032001" y="1899833"/>
                </a:cubicBezTo>
                <a:cubicBezTo>
                  <a:pt x="8840205" y="1924850"/>
                  <a:pt x="8648407" y="1952647"/>
                  <a:pt x="8453831" y="1933189"/>
                </a:cubicBezTo>
                <a:cubicBezTo>
                  <a:pt x="8262034" y="1949868"/>
                  <a:pt x="8075796" y="1960986"/>
                  <a:pt x="7883999" y="1944308"/>
                </a:cubicBezTo>
                <a:cubicBezTo>
                  <a:pt x="7692202" y="1963765"/>
                  <a:pt x="7500405" y="1955426"/>
                  <a:pt x="7311387" y="1941528"/>
                </a:cubicBezTo>
                <a:cubicBezTo>
                  <a:pt x="7222438" y="1941528"/>
                  <a:pt x="7136268" y="1938749"/>
                  <a:pt x="7047319" y="1938749"/>
                </a:cubicBezTo>
                <a:cubicBezTo>
                  <a:pt x="6811047" y="1927630"/>
                  <a:pt x="6574776" y="1922071"/>
                  <a:pt x="6335724" y="1913732"/>
                </a:cubicBezTo>
                <a:cubicBezTo>
                  <a:pt x="6335724" y="1913732"/>
                  <a:pt x="6332945" y="1913732"/>
                  <a:pt x="6332945" y="1913732"/>
                </a:cubicBezTo>
                <a:cubicBezTo>
                  <a:pt x="6277350" y="1910952"/>
                  <a:pt x="6224538" y="1910952"/>
                  <a:pt x="6168943" y="1908172"/>
                </a:cubicBezTo>
                <a:cubicBezTo>
                  <a:pt x="5977147" y="1908172"/>
                  <a:pt x="5785350" y="1908172"/>
                  <a:pt x="5596332" y="1908172"/>
                </a:cubicBezTo>
                <a:cubicBezTo>
                  <a:pt x="5410094" y="1983223"/>
                  <a:pt x="5207180" y="1919291"/>
                  <a:pt x="5023720" y="1977664"/>
                </a:cubicBezTo>
                <a:cubicBezTo>
                  <a:pt x="4829144" y="1974885"/>
                  <a:pt x="4645687" y="2033257"/>
                  <a:pt x="4453890" y="2058275"/>
                </a:cubicBezTo>
                <a:cubicBezTo>
                  <a:pt x="4309346" y="2069393"/>
                  <a:pt x="4162024" y="2055495"/>
                  <a:pt x="4028600" y="2113868"/>
                </a:cubicBezTo>
                <a:cubicBezTo>
                  <a:pt x="3925752" y="2161122"/>
                  <a:pt x="3845142" y="2222275"/>
                  <a:pt x="3956328" y="2347360"/>
                </a:cubicBezTo>
                <a:cubicBezTo>
                  <a:pt x="4089753" y="2344581"/>
                  <a:pt x="4075854" y="2555835"/>
                  <a:pt x="4209278" y="2525259"/>
                </a:cubicBezTo>
                <a:cubicBezTo>
                  <a:pt x="4181482" y="2622548"/>
                  <a:pt x="4086973" y="2572513"/>
                  <a:pt x="4053617" y="2644784"/>
                </a:cubicBezTo>
                <a:cubicBezTo>
                  <a:pt x="4123109" y="2705937"/>
                  <a:pt x="4256532" y="2661463"/>
                  <a:pt x="4278770" y="2789327"/>
                </a:cubicBezTo>
                <a:cubicBezTo>
                  <a:pt x="4250974" y="2922751"/>
                  <a:pt x="4339924" y="2906073"/>
                  <a:pt x="4412194" y="2914412"/>
                </a:cubicBezTo>
                <a:cubicBezTo>
                  <a:pt x="4584534" y="2931091"/>
                  <a:pt x="4751314" y="2942209"/>
                  <a:pt x="4920873" y="2970006"/>
                </a:cubicBezTo>
                <a:cubicBezTo>
                  <a:pt x="4962568" y="2978345"/>
                  <a:pt x="5059857" y="2958887"/>
                  <a:pt x="5051518" y="3045057"/>
                </a:cubicBezTo>
                <a:cubicBezTo>
                  <a:pt x="5043179" y="3114548"/>
                  <a:pt x="4968127" y="3089532"/>
                  <a:pt x="4920873" y="3092311"/>
                </a:cubicBezTo>
                <a:cubicBezTo>
                  <a:pt x="4659584" y="3125668"/>
                  <a:pt x="4395517" y="3072854"/>
                  <a:pt x="4137007" y="3075633"/>
                </a:cubicBezTo>
                <a:cubicBezTo>
                  <a:pt x="4106431" y="3075633"/>
                  <a:pt x="4100871" y="3167362"/>
                  <a:pt x="4034159" y="3136786"/>
                </a:cubicBezTo>
                <a:cubicBezTo>
                  <a:pt x="4209278" y="3220176"/>
                  <a:pt x="5023720" y="3242414"/>
                  <a:pt x="5296129" y="3286888"/>
                </a:cubicBezTo>
                <a:cubicBezTo>
                  <a:pt x="5012602" y="3603771"/>
                  <a:pt x="4742974" y="3411974"/>
                  <a:pt x="4517821" y="3589872"/>
                </a:cubicBezTo>
                <a:cubicBezTo>
                  <a:pt x="4517821" y="3589872"/>
                  <a:pt x="4562296" y="3589872"/>
                  <a:pt x="4754094" y="3648245"/>
                </a:cubicBezTo>
                <a:cubicBezTo>
                  <a:pt x="4906975" y="3695499"/>
                  <a:pt x="4831925" y="3762211"/>
                  <a:pt x="5218298" y="3890077"/>
                </a:cubicBezTo>
                <a:cubicBezTo>
                  <a:pt x="5070976" y="3931771"/>
                  <a:pt x="4879178" y="3851161"/>
                  <a:pt x="4806907" y="4067975"/>
                </a:cubicBezTo>
                <a:cubicBezTo>
                  <a:pt x="4920873" y="4106891"/>
                  <a:pt x="5057077" y="4070755"/>
                  <a:pt x="5137687" y="4173602"/>
                </a:cubicBezTo>
                <a:cubicBezTo>
                  <a:pt x="5162704" y="4204179"/>
                  <a:pt x="5187722" y="4223637"/>
                  <a:pt x="5218298" y="4240314"/>
                </a:cubicBezTo>
                <a:cubicBezTo>
                  <a:pt x="5204400" y="4245874"/>
                  <a:pt x="5187722" y="4251433"/>
                  <a:pt x="5176602" y="4256992"/>
                </a:cubicBezTo>
                <a:cubicBezTo>
                  <a:pt x="5198840" y="4276451"/>
                  <a:pt x="5768673" y="4382077"/>
                  <a:pt x="5913214" y="4384858"/>
                </a:cubicBezTo>
                <a:cubicBezTo>
                  <a:pt x="5813146" y="4418213"/>
                  <a:pt x="5607451" y="4443230"/>
                  <a:pt x="5607451" y="4443230"/>
                </a:cubicBezTo>
                <a:cubicBezTo>
                  <a:pt x="5607451" y="4443230"/>
                  <a:pt x="5651926" y="4571095"/>
                  <a:pt x="7586575" y="4924113"/>
                </a:cubicBezTo>
                <a:cubicBezTo>
                  <a:pt x="7942372" y="4988046"/>
                  <a:pt x="10310649" y="4996385"/>
                  <a:pt x="10471869" y="4985265"/>
                </a:cubicBezTo>
                <a:cubicBezTo>
                  <a:pt x="10624751" y="4974147"/>
                  <a:pt x="10827667" y="4668383"/>
                  <a:pt x="10916616" y="4687841"/>
                </a:cubicBezTo>
                <a:cubicBezTo>
                  <a:pt x="10944413" y="4660044"/>
                  <a:pt x="11250176" y="3981806"/>
                  <a:pt x="11333566" y="3392515"/>
                </a:cubicBezTo>
                <a:cubicBezTo>
                  <a:pt x="11355803" y="3156244"/>
                  <a:pt x="11378041" y="2483564"/>
                  <a:pt x="11289091" y="2300106"/>
                </a:cubicBezTo>
                <a:cubicBezTo>
                  <a:pt x="11239057" y="2194478"/>
                  <a:pt x="10874921" y="1872037"/>
                  <a:pt x="10747056" y="1816443"/>
                </a:cubicBezTo>
                <a:cubicBezTo>
                  <a:pt x="10616412" y="1744172"/>
                  <a:pt x="10463531" y="1708036"/>
                  <a:pt x="10360682" y="1582951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3158"/>
            <a:ext cx="4614334" cy="2806704"/>
          </a:xfrm>
        </p:spPr>
        <p:txBody>
          <a:bodyPr anchor="b">
            <a:normAutofit fontScale="90000"/>
          </a:bodyPr>
          <a:lstStyle/>
          <a:p>
            <a:r>
              <a:rPr lang="en-AU" dirty="0"/>
              <a:t>Values for research with Aboriginal and Torres Strait Islander people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AC3C24C-5FDD-4474-B96D-25EE382EB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986940"/>
            <a:ext cx="4614334" cy="2500124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National health and medical research council (NHMRC)</a:t>
            </a:r>
          </a:p>
          <a:p>
            <a:endParaRPr lang="en-AU" dirty="0"/>
          </a:p>
          <a:p>
            <a:r>
              <a:rPr lang="en-AU" dirty="0"/>
              <a:t>-also make considerations for certain other groups e.g. </a:t>
            </a:r>
            <a:r>
              <a:rPr lang="en-AU" dirty="0" err="1"/>
              <a:t>preganant</a:t>
            </a:r>
            <a:r>
              <a:rPr lang="en-AU" dirty="0"/>
              <a:t>, disabled or involved in illegal activities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CDE24715-CB69-4258-88F7-F900F0E26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0" y="1034542"/>
            <a:ext cx="5482167" cy="476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59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000" dirty="0"/>
              <a:t>Australian Psychological Society code of ethics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96" y="3287422"/>
            <a:ext cx="10217892" cy="4842760"/>
          </a:xfrm>
        </p:spPr>
        <p:txBody>
          <a:bodyPr>
            <a:normAutofit/>
          </a:bodyPr>
          <a:lstStyle/>
          <a:p>
            <a:r>
              <a:rPr lang="en-AU" dirty="0"/>
              <a:t>After research is published, the data must be made publicly available to other professionals, provided that:</a:t>
            </a:r>
          </a:p>
          <a:p>
            <a:pPr marL="457200" indent="-457200">
              <a:buAutoNum type="arabicPeriod"/>
            </a:pPr>
            <a:r>
              <a:rPr lang="en-AU" dirty="0"/>
              <a:t>Data is deidentified</a:t>
            </a:r>
          </a:p>
          <a:p>
            <a:pPr marL="457200" indent="-457200">
              <a:buAutoNum type="arabicPeriod"/>
            </a:pPr>
            <a:r>
              <a:rPr lang="en-AU" dirty="0"/>
              <a:t>Only used for purpose originally stated in research proposal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84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4620584" cy="1702918"/>
          </a:xfrm>
        </p:spPr>
        <p:txBody>
          <a:bodyPr>
            <a:normAutofit/>
          </a:bodyPr>
          <a:lstStyle/>
          <a:p>
            <a:r>
              <a:rPr lang="en-AU" dirty="0"/>
              <a:t>Null Hypothesis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29215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4D8065-3B29-47BB-9B8F-1EF2F325E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605" y="643467"/>
            <a:ext cx="2980520" cy="5571066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C950FE4A-F0C6-494B-8248-6A0922FE1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2491506"/>
            <a:ext cx="5705856" cy="996696"/>
          </a:xfrm>
        </p:spPr>
        <p:txBody>
          <a:bodyPr>
            <a:normAutofit fontScale="92500"/>
          </a:bodyPr>
          <a:lstStyle/>
          <a:p>
            <a:r>
              <a:rPr lang="en-AU" dirty="0"/>
              <a:t>Predicts there will be no change in the DV by manipulation of the IV</a:t>
            </a:r>
          </a:p>
        </p:txBody>
      </p:sp>
    </p:spTree>
    <p:extLst>
      <p:ext uri="{BB962C8B-B14F-4D97-AF65-F5344CB8AC3E}">
        <p14:creationId xmlns:p14="http://schemas.microsoft.com/office/powerpoint/2010/main" val="4266907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76" y="673480"/>
            <a:ext cx="9144000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Other terminology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96" y="3429000"/>
            <a:ext cx="10217892" cy="2609491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Uncontrolled variable – allowed to stay random as it would not affect the results e.g. eye colour</a:t>
            </a:r>
          </a:p>
          <a:p>
            <a:r>
              <a:rPr lang="en-AU" dirty="0"/>
              <a:t>Repeated measures design – the same group of people are both the control and experimental groups (before and after)</a:t>
            </a:r>
          </a:p>
          <a:p>
            <a:r>
              <a:rPr lang="en-AU" dirty="0"/>
              <a:t>Cohort – a group of people of the same age who have experienced the same cultural conditions and environmental effects</a:t>
            </a:r>
          </a:p>
          <a:p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094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D517D21-289D-4850-929A-9D0A854EA1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mask">
            <a:extLst>
              <a:ext uri="{FF2B5EF4-FFF2-40B4-BE49-F238E27FC236}">
                <a16:creationId xmlns:a16="http://schemas.microsoft.com/office/drawing/2014/main" id="{69F2D923-FC6D-402C-AF7F-48E07A8979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-1"/>
            <a:ext cx="12188952" cy="6858000"/>
          </a:xfrm>
          <a:custGeom>
            <a:avLst/>
            <a:gdLst>
              <a:gd name="connsiteX0" fmla="*/ 10360682 w 12188952"/>
              <a:gd name="connsiteY0" fmla="*/ 1582951 h 6858000"/>
              <a:gd name="connsiteX1" fmla="*/ 9965970 w 12188952"/>
              <a:gd name="connsiteY1" fmla="*/ 1755290 h 6858000"/>
              <a:gd name="connsiteX2" fmla="*/ 9601833 w 12188952"/>
              <a:gd name="connsiteY2" fmla="*/ 1855358 h 6858000"/>
              <a:gd name="connsiteX3" fmla="*/ 9032001 w 12188952"/>
              <a:gd name="connsiteY3" fmla="*/ 1899833 h 6858000"/>
              <a:gd name="connsiteX4" fmla="*/ 8453831 w 12188952"/>
              <a:gd name="connsiteY4" fmla="*/ 1933189 h 6858000"/>
              <a:gd name="connsiteX5" fmla="*/ 7883999 w 12188952"/>
              <a:gd name="connsiteY5" fmla="*/ 1944308 h 6858000"/>
              <a:gd name="connsiteX6" fmla="*/ 7311387 w 12188952"/>
              <a:gd name="connsiteY6" fmla="*/ 1941528 h 6858000"/>
              <a:gd name="connsiteX7" fmla="*/ 7047319 w 12188952"/>
              <a:gd name="connsiteY7" fmla="*/ 1938749 h 6858000"/>
              <a:gd name="connsiteX8" fmla="*/ 6335724 w 12188952"/>
              <a:gd name="connsiteY8" fmla="*/ 1913732 h 6858000"/>
              <a:gd name="connsiteX9" fmla="*/ 6332945 w 12188952"/>
              <a:gd name="connsiteY9" fmla="*/ 1913732 h 6858000"/>
              <a:gd name="connsiteX10" fmla="*/ 6168943 w 12188952"/>
              <a:gd name="connsiteY10" fmla="*/ 1908172 h 6858000"/>
              <a:gd name="connsiteX11" fmla="*/ 5596332 w 12188952"/>
              <a:gd name="connsiteY11" fmla="*/ 1908172 h 6858000"/>
              <a:gd name="connsiteX12" fmla="*/ 5023720 w 12188952"/>
              <a:gd name="connsiteY12" fmla="*/ 1977664 h 6858000"/>
              <a:gd name="connsiteX13" fmla="*/ 4453890 w 12188952"/>
              <a:gd name="connsiteY13" fmla="*/ 2058275 h 6858000"/>
              <a:gd name="connsiteX14" fmla="*/ 4028600 w 12188952"/>
              <a:gd name="connsiteY14" fmla="*/ 2113868 h 6858000"/>
              <a:gd name="connsiteX15" fmla="*/ 3956328 w 12188952"/>
              <a:gd name="connsiteY15" fmla="*/ 2347360 h 6858000"/>
              <a:gd name="connsiteX16" fmla="*/ 4209278 w 12188952"/>
              <a:gd name="connsiteY16" fmla="*/ 2525259 h 6858000"/>
              <a:gd name="connsiteX17" fmla="*/ 4053617 w 12188952"/>
              <a:gd name="connsiteY17" fmla="*/ 2644784 h 6858000"/>
              <a:gd name="connsiteX18" fmla="*/ 4278770 w 12188952"/>
              <a:gd name="connsiteY18" fmla="*/ 2789327 h 6858000"/>
              <a:gd name="connsiteX19" fmla="*/ 4412194 w 12188952"/>
              <a:gd name="connsiteY19" fmla="*/ 2914412 h 6858000"/>
              <a:gd name="connsiteX20" fmla="*/ 4920873 w 12188952"/>
              <a:gd name="connsiteY20" fmla="*/ 2970006 h 6858000"/>
              <a:gd name="connsiteX21" fmla="*/ 5051518 w 12188952"/>
              <a:gd name="connsiteY21" fmla="*/ 3045057 h 6858000"/>
              <a:gd name="connsiteX22" fmla="*/ 4920873 w 12188952"/>
              <a:gd name="connsiteY22" fmla="*/ 3092311 h 6858000"/>
              <a:gd name="connsiteX23" fmla="*/ 4137007 w 12188952"/>
              <a:gd name="connsiteY23" fmla="*/ 3075633 h 6858000"/>
              <a:gd name="connsiteX24" fmla="*/ 4034159 w 12188952"/>
              <a:gd name="connsiteY24" fmla="*/ 3136786 h 6858000"/>
              <a:gd name="connsiteX25" fmla="*/ 5296129 w 12188952"/>
              <a:gd name="connsiteY25" fmla="*/ 3286888 h 6858000"/>
              <a:gd name="connsiteX26" fmla="*/ 4517821 w 12188952"/>
              <a:gd name="connsiteY26" fmla="*/ 3589872 h 6858000"/>
              <a:gd name="connsiteX27" fmla="*/ 4754094 w 12188952"/>
              <a:gd name="connsiteY27" fmla="*/ 3648245 h 6858000"/>
              <a:gd name="connsiteX28" fmla="*/ 5218298 w 12188952"/>
              <a:gd name="connsiteY28" fmla="*/ 3890077 h 6858000"/>
              <a:gd name="connsiteX29" fmla="*/ 4806907 w 12188952"/>
              <a:gd name="connsiteY29" fmla="*/ 4067975 h 6858000"/>
              <a:gd name="connsiteX30" fmla="*/ 5137687 w 12188952"/>
              <a:gd name="connsiteY30" fmla="*/ 4173602 h 6858000"/>
              <a:gd name="connsiteX31" fmla="*/ 5218298 w 12188952"/>
              <a:gd name="connsiteY31" fmla="*/ 4240314 h 6858000"/>
              <a:gd name="connsiteX32" fmla="*/ 5176602 w 12188952"/>
              <a:gd name="connsiteY32" fmla="*/ 4256992 h 6858000"/>
              <a:gd name="connsiteX33" fmla="*/ 5913214 w 12188952"/>
              <a:gd name="connsiteY33" fmla="*/ 4384858 h 6858000"/>
              <a:gd name="connsiteX34" fmla="*/ 5607451 w 12188952"/>
              <a:gd name="connsiteY34" fmla="*/ 4443230 h 6858000"/>
              <a:gd name="connsiteX35" fmla="*/ 7586575 w 12188952"/>
              <a:gd name="connsiteY35" fmla="*/ 4924113 h 6858000"/>
              <a:gd name="connsiteX36" fmla="*/ 10471869 w 12188952"/>
              <a:gd name="connsiteY36" fmla="*/ 4985265 h 6858000"/>
              <a:gd name="connsiteX37" fmla="*/ 10916616 w 12188952"/>
              <a:gd name="connsiteY37" fmla="*/ 4687841 h 6858000"/>
              <a:gd name="connsiteX38" fmla="*/ 11333566 w 12188952"/>
              <a:gd name="connsiteY38" fmla="*/ 3392515 h 6858000"/>
              <a:gd name="connsiteX39" fmla="*/ 11289091 w 12188952"/>
              <a:gd name="connsiteY39" fmla="*/ 2300106 h 6858000"/>
              <a:gd name="connsiteX40" fmla="*/ 10747056 w 12188952"/>
              <a:gd name="connsiteY40" fmla="*/ 1816443 h 6858000"/>
              <a:gd name="connsiteX41" fmla="*/ 10360682 w 12188952"/>
              <a:gd name="connsiteY41" fmla="*/ 1582951 h 6858000"/>
              <a:gd name="connsiteX42" fmla="*/ 0 w 12188952"/>
              <a:gd name="connsiteY42" fmla="*/ 0 h 6858000"/>
              <a:gd name="connsiteX43" fmla="*/ 12188952 w 12188952"/>
              <a:gd name="connsiteY43" fmla="*/ 0 h 6858000"/>
              <a:gd name="connsiteX44" fmla="*/ 12188952 w 12188952"/>
              <a:gd name="connsiteY44" fmla="*/ 6858000 h 6858000"/>
              <a:gd name="connsiteX45" fmla="*/ 0 w 12188952"/>
              <a:gd name="connsiteY4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88952" h="6858000">
                <a:moveTo>
                  <a:pt x="10360682" y="1582951"/>
                </a:moveTo>
                <a:cubicBezTo>
                  <a:pt x="10227259" y="1638544"/>
                  <a:pt x="10118852" y="1796986"/>
                  <a:pt x="9965970" y="1755290"/>
                </a:cubicBezTo>
                <a:cubicBezTo>
                  <a:pt x="9813089" y="1716375"/>
                  <a:pt x="9743597" y="1916511"/>
                  <a:pt x="9601833" y="1855358"/>
                </a:cubicBezTo>
                <a:cubicBezTo>
                  <a:pt x="9415596" y="1910952"/>
                  <a:pt x="9223799" y="1910952"/>
                  <a:pt x="9032001" y="1899833"/>
                </a:cubicBezTo>
                <a:cubicBezTo>
                  <a:pt x="8840205" y="1924850"/>
                  <a:pt x="8648407" y="1952647"/>
                  <a:pt x="8453831" y="1933189"/>
                </a:cubicBezTo>
                <a:cubicBezTo>
                  <a:pt x="8262034" y="1949868"/>
                  <a:pt x="8075796" y="1960986"/>
                  <a:pt x="7883999" y="1944308"/>
                </a:cubicBezTo>
                <a:cubicBezTo>
                  <a:pt x="7692202" y="1963765"/>
                  <a:pt x="7500405" y="1955426"/>
                  <a:pt x="7311387" y="1941528"/>
                </a:cubicBezTo>
                <a:cubicBezTo>
                  <a:pt x="7222438" y="1941528"/>
                  <a:pt x="7136268" y="1938749"/>
                  <a:pt x="7047319" y="1938749"/>
                </a:cubicBezTo>
                <a:cubicBezTo>
                  <a:pt x="6811047" y="1927630"/>
                  <a:pt x="6574776" y="1922071"/>
                  <a:pt x="6335724" y="1913732"/>
                </a:cubicBezTo>
                <a:cubicBezTo>
                  <a:pt x="6335724" y="1913732"/>
                  <a:pt x="6332945" y="1913732"/>
                  <a:pt x="6332945" y="1913732"/>
                </a:cubicBezTo>
                <a:cubicBezTo>
                  <a:pt x="6277350" y="1910952"/>
                  <a:pt x="6224538" y="1910952"/>
                  <a:pt x="6168943" y="1908172"/>
                </a:cubicBezTo>
                <a:cubicBezTo>
                  <a:pt x="5977147" y="1908172"/>
                  <a:pt x="5785350" y="1908172"/>
                  <a:pt x="5596332" y="1908172"/>
                </a:cubicBezTo>
                <a:cubicBezTo>
                  <a:pt x="5410094" y="1983223"/>
                  <a:pt x="5207180" y="1919291"/>
                  <a:pt x="5023720" y="1977664"/>
                </a:cubicBezTo>
                <a:cubicBezTo>
                  <a:pt x="4829144" y="1974885"/>
                  <a:pt x="4645687" y="2033257"/>
                  <a:pt x="4453890" y="2058275"/>
                </a:cubicBezTo>
                <a:cubicBezTo>
                  <a:pt x="4309346" y="2069393"/>
                  <a:pt x="4162024" y="2055495"/>
                  <a:pt x="4028600" y="2113868"/>
                </a:cubicBezTo>
                <a:cubicBezTo>
                  <a:pt x="3925752" y="2161122"/>
                  <a:pt x="3845142" y="2222275"/>
                  <a:pt x="3956328" y="2347360"/>
                </a:cubicBezTo>
                <a:cubicBezTo>
                  <a:pt x="4089753" y="2344581"/>
                  <a:pt x="4075854" y="2555835"/>
                  <a:pt x="4209278" y="2525259"/>
                </a:cubicBezTo>
                <a:cubicBezTo>
                  <a:pt x="4181482" y="2622548"/>
                  <a:pt x="4086973" y="2572513"/>
                  <a:pt x="4053617" y="2644784"/>
                </a:cubicBezTo>
                <a:cubicBezTo>
                  <a:pt x="4123109" y="2705937"/>
                  <a:pt x="4256532" y="2661463"/>
                  <a:pt x="4278770" y="2789327"/>
                </a:cubicBezTo>
                <a:cubicBezTo>
                  <a:pt x="4250974" y="2922751"/>
                  <a:pt x="4339924" y="2906073"/>
                  <a:pt x="4412194" y="2914412"/>
                </a:cubicBezTo>
                <a:cubicBezTo>
                  <a:pt x="4584534" y="2931091"/>
                  <a:pt x="4751314" y="2942209"/>
                  <a:pt x="4920873" y="2970006"/>
                </a:cubicBezTo>
                <a:cubicBezTo>
                  <a:pt x="4962568" y="2978345"/>
                  <a:pt x="5059857" y="2958887"/>
                  <a:pt x="5051518" y="3045057"/>
                </a:cubicBezTo>
                <a:cubicBezTo>
                  <a:pt x="5043179" y="3114548"/>
                  <a:pt x="4968127" y="3089532"/>
                  <a:pt x="4920873" y="3092311"/>
                </a:cubicBezTo>
                <a:cubicBezTo>
                  <a:pt x="4659584" y="3125668"/>
                  <a:pt x="4395517" y="3072854"/>
                  <a:pt x="4137007" y="3075633"/>
                </a:cubicBezTo>
                <a:cubicBezTo>
                  <a:pt x="4106431" y="3075633"/>
                  <a:pt x="4100871" y="3167362"/>
                  <a:pt x="4034159" y="3136786"/>
                </a:cubicBezTo>
                <a:cubicBezTo>
                  <a:pt x="4209278" y="3220176"/>
                  <a:pt x="5023720" y="3242414"/>
                  <a:pt x="5296129" y="3286888"/>
                </a:cubicBezTo>
                <a:cubicBezTo>
                  <a:pt x="5012602" y="3603771"/>
                  <a:pt x="4742974" y="3411974"/>
                  <a:pt x="4517821" y="3589872"/>
                </a:cubicBezTo>
                <a:cubicBezTo>
                  <a:pt x="4517821" y="3589872"/>
                  <a:pt x="4562296" y="3589872"/>
                  <a:pt x="4754094" y="3648245"/>
                </a:cubicBezTo>
                <a:cubicBezTo>
                  <a:pt x="4906975" y="3695499"/>
                  <a:pt x="4831925" y="3762211"/>
                  <a:pt x="5218298" y="3890077"/>
                </a:cubicBezTo>
                <a:cubicBezTo>
                  <a:pt x="5070976" y="3931771"/>
                  <a:pt x="4879178" y="3851161"/>
                  <a:pt x="4806907" y="4067975"/>
                </a:cubicBezTo>
                <a:cubicBezTo>
                  <a:pt x="4920873" y="4106891"/>
                  <a:pt x="5057077" y="4070755"/>
                  <a:pt x="5137687" y="4173602"/>
                </a:cubicBezTo>
                <a:cubicBezTo>
                  <a:pt x="5162704" y="4204179"/>
                  <a:pt x="5187722" y="4223637"/>
                  <a:pt x="5218298" y="4240314"/>
                </a:cubicBezTo>
                <a:cubicBezTo>
                  <a:pt x="5204400" y="4245874"/>
                  <a:pt x="5187722" y="4251433"/>
                  <a:pt x="5176602" y="4256992"/>
                </a:cubicBezTo>
                <a:cubicBezTo>
                  <a:pt x="5198840" y="4276451"/>
                  <a:pt x="5768673" y="4382077"/>
                  <a:pt x="5913214" y="4384858"/>
                </a:cubicBezTo>
                <a:cubicBezTo>
                  <a:pt x="5813146" y="4418213"/>
                  <a:pt x="5607451" y="4443230"/>
                  <a:pt x="5607451" y="4443230"/>
                </a:cubicBezTo>
                <a:cubicBezTo>
                  <a:pt x="5607451" y="4443230"/>
                  <a:pt x="5651926" y="4571095"/>
                  <a:pt x="7586575" y="4924113"/>
                </a:cubicBezTo>
                <a:cubicBezTo>
                  <a:pt x="7942372" y="4988046"/>
                  <a:pt x="10310649" y="4996385"/>
                  <a:pt x="10471869" y="4985265"/>
                </a:cubicBezTo>
                <a:cubicBezTo>
                  <a:pt x="10624751" y="4974147"/>
                  <a:pt x="10827667" y="4668383"/>
                  <a:pt x="10916616" y="4687841"/>
                </a:cubicBezTo>
                <a:cubicBezTo>
                  <a:pt x="10944413" y="4660044"/>
                  <a:pt x="11250176" y="3981806"/>
                  <a:pt x="11333566" y="3392515"/>
                </a:cubicBezTo>
                <a:cubicBezTo>
                  <a:pt x="11355803" y="3156244"/>
                  <a:pt x="11378041" y="2483564"/>
                  <a:pt x="11289091" y="2300106"/>
                </a:cubicBezTo>
                <a:cubicBezTo>
                  <a:pt x="11239057" y="2194478"/>
                  <a:pt x="10874921" y="1872037"/>
                  <a:pt x="10747056" y="1816443"/>
                </a:cubicBezTo>
                <a:cubicBezTo>
                  <a:pt x="10616412" y="1744172"/>
                  <a:pt x="10463531" y="1708036"/>
                  <a:pt x="10360682" y="1582951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3158"/>
            <a:ext cx="4458420" cy="2806704"/>
          </a:xfrm>
        </p:spPr>
        <p:txBody>
          <a:bodyPr anchor="b">
            <a:normAutofit/>
          </a:bodyPr>
          <a:lstStyle/>
          <a:p>
            <a:r>
              <a:rPr lang="en-AU" dirty="0"/>
              <a:t>Longitudinal – sequential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34E1D5-8F89-421B-9FD9-CD74C97D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364" y="1691013"/>
            <a:ext cx="67913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1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048" y="1321693"/>
            <a:ext cx="11040855" cy="1287798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000" dirty="0"/>
              <a:t>Reasons to use non-experimental (descriptive) research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96" y="3429000"/>
            <a:ext cx="10217892" cy="260949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dirty="0"/>
              <a:t>Variables not possible to be modified (e.g. gender, age)</a:t>
            </a:r>
          </a:p>
          <a:p>
            <a:pPr marL="457200" indent="-457200">
              <a:buAutoNum type="arabicPeriod"/>
            </a:pPr>
            <a:r>
              <a:rPr lang="en-AU" dirty="0"/>
              <a:t>Can’t modify variables due to ethical reasons (e.g. smoking or alcohol)</a:t>
            </a:r>
          </a:p>
          <a:p>
            <a:pPr marL="457200" indent="-457200">
              <a:buAutoNum type="arabicPeriod"/>
            </a:pPr>
            <a:r>
              <a:rPr lang="en-AU" dirty="0"/>
              <a:t>Not feasible to alter variables (e.g. at school)</a:t>
            </a:r>
          </a:p>
          <a:p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393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D517D21-289D-4850-929A-9D0A854EA1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mask">
            <a:extLst>
              <a:ext uri="{FF2B5EF4-FFF2-40B4-BE49-F238E27FC236}">
                <a16:creationId xmlns:a16="http://schemas.microsoft.com/office/drawing/2014/main" id="{69F2D923-FC6D-402C-AF7F-48E07A8979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-1"/>
            <a:ext cx="12188952" cy="6858000"/>
          </a:xfrm>
          <a:custGeom>
            <a:avLst/>
            <a:gdLst>
              <a:gd name="connsiteX0" fmla="*/ 10360682 w 12188952"/>
              <a:gd name="connsiteY0" fmla="*/ 1582951 h 6858000"/>
              <a:gd name="connsiteX1" fmla="*/ 9965970 w 12188952"/>
              <a:gd name="connsiteY1" fmla="*/ 1755290 h 6858000"/>
              <a:gd name="connsiteX2" fmla="*/ 9601833 w 12188952"/>
              <a:gd name="connsiteY2" fmla="*/ 1855358 h 6858000"/>
              <a:gd name="connsiteX3" fmla="*/ 9032001 w 12188952"/>
              <a:gd name="connsiteY3" fmla="*/ 1899833 h 6858000"/>
              <a:gd name="connsiteX4" fmla="*/ 8453831 w 12188952"/>
              <a:gd name="connsiteY4" fmla="*/ 1933189 h 6858000"/>
              <a:gd name="connsiteX5" fmla="*/ 7883999 w 12188952"/>
              <a:gd name="connsiteY5" fmla="*/ 1944308 h 6858000"/>
              <a:gd name="connsiteX6" fmla="*/ 7311387 w 12188952"/>
              <a:gd name="connsiteY6" fmla="*/ 1941528 h 6858000"/>
              <a:gd name="connsiteX7" fmla="*/ 7047319 w 12188952"/>
              <a:gd name="connsiteY7" fmla="*/ 1938749 h 6858000"/>
              <a:gd name="connsiteX8" fmla="*/ 6335724 w 12188952"/>
              <a:gd name="connsiteY8" fmla="*/ 1913732 h 6858000"/>
              <a:gd name="connsiteX9" fmla="*/ 6332945 w 12188952"/>
              <a:gd name="connsiteY9" fmla="*/ 1913732 h 6858000"/>
              <a:gd name="connsiteX10" fmla="*/ 6168943 w 12188952"/>
              <a:gd name="connsiteY10" fmla="*/ 1908172 h 6858000"/>
              <a:gd name="connsiteX11" fmla="*/ 5596332 w 12188952"/>
              <a:gd name="connsiteY11" fmla="*/ 1908172 h 6858000"/>
              <a:gd name="connsiteX12" fmla="*/ 5023720 w 12188952"/>
              <a:gd name="connsiteY12" fmla="*/ 1977664 h 6858000"/>
              <a:gd name="connsiteX13" fmla="*/ 4453890 w 12188952"/>
              <a:gd name="connsiteY13" fmla="*/ 2058275 h 6858000"/>
              <a:gd name="connsiteX14" fmla="*/ 4028600 w 12188952"/>
              <a:gd name="connsiteY14" fmla="*/ 2113868 h 6858000"/>
              <a:gd name="connsiteX15" fmla="*/ 3956328 w 12188952"/>
              <a:gd name="connsiteY15" fmla="*/ 2347360 h 6858000"/>
              <a:gd name="connsiteX16" fmla="*/ 4209278 w 12188952"/>
              <a:gd name="connsiteY16" fmla="*/ 2525259 h 6858000"/>
              <a:gd name="connsiteX17" fmla="*/ 4053617 w 12188952"/>
              <a:gd name="connsiteY17" fmla="*/ 2644784 h 6858000"/>
              <a:gd name="connsiteX18" fmla="*/ 4278770 w 12188952"/>
              <a:gd name="connsiteY18" fmla="*/ 2789327 h 6858000"/>
              <a:gd name="connsiteX19" fmla="*/ 4412194 w 12188952"/>
              <a:gd name="connsiteY19" fmla="*/ 2914412 h 6858000"/>
              <a:gd name="connsiteX20" fmla="*/ 4920873 w 12188952"/>
              <a:gd name="connsiteY20" fmla="*/ 2970006 h 6858000"/>
              <a:gd name="connsiteX21" fmla="*/ 5051518 w 12188952"/>
              <a:gd name="connsiteY21" fmla="*/ 3045057 h 6858000"/>
              <a:gd name="connsiteX22" fmla="*/ 4920873 w 12188952"/>
              <a:gd name="connsiteY22" fmla="*/ 3092311 h 6858000"/>
              <a:gd name="connsiteX23" fmla="*/ 4137007 w 12188952"/>
              <a:gd name="connsiteY23" fmla="*/ 3075633 h 6858000"/>
              <a:gd name="connsiteX24" fmla="*/ 4034159 w 12188952"/>
              <a:gd name="connsiteY24" fmla="*/ 3136786 h 6858000"/>
              <a:gd name="connsiteX25" fmla="*/ 5296129 w 12188952"/>
              <a:gd name="connsiteY25" fmla="*/ 3286888 h 6858000"/>
              <a:gd name="connsiteX26" fmla="*/ 4517821 w 12188952"/>
              <a:gd name="connsiteY26" fmla="*/ 3589872 h 6858000"/>
              <a:gd name="connsiteX27" fmla="*/ 4754094 w 12188952"/>
              <a:gd name="connsiteY27" fmla="*/ 3648245 h 6858000"/>
              <a:gd name="connsiteX28" fmla="*/ 5218298 w 12188952"/>
              <a:gd name="connsiteY28" fmla="*/ 3890077 h 6858000"/>
              <a:gd name="connsiteX29" fmla="*/ 4806907 w 12188952"/>
              <a:gd name="connsiteY29" fmla="*/ 4067975 h 6858000"/>
              <a:gd name="connsiteX30" fmla="*/ 5137687 w 12188952"/>
              <a:gd name="connsiteY30" fmla="*/ 4173602 h 6858000"/>
              <a:gd name="connsiteX31" fmla="*/ 5218298 w 12188952"/>
              <a:gd name="connsiteY31" fmla="*/ 4240314 h 6858000"/>
              <a:gd name="connsiteX32" fmla="*/ 5176602 w 12188952"/>
              <a:gd name="connsiteY32" fmla="*/ 4256992 h 6858000"/>
              <a:gd name="connsiteX33" fmla="*/ 5913214 w 12188952"/>
              <a:gd name="connsiteY33" fmla="*/ 4384858 h 6858000"/>
              <a:gd name="connsiteX34" fmla="*/ 5607451 w 12188952"/>
              <a:gd name="connsiteY34" fmla="*/ 4443230 h 6858000"/>
              <a:gd name="connsiteX35" fmla="*/ 7586575 w 12188952"/>
              <a:gd name="connsiteY35" fmla="*/ 4924113 h 6858000"/>
              <a:gd name="connsiteX36" fmla="*/ 10471869 w 12188952"/>
              <a:gd name="connsiteY36" fmla="*/ 4985265 h 6858000"/>
              <a:gd name="connsiteX37" fmla="*/ 10916616 w 12188952"/>
              <a:gd name="connsiteY37" fmla="*/ 4687841 h 6858000"/>
              <a:gd name="connsiteX38" fmla="*/ 11333566 w 12188952"/>
              <a:gd name="connsiteY38" fmla="*/ 3392515 h 6858000"/>
              <a:gd name="connsiteX39" fmla="*/ 11289091 w 12188952"/>
              <a:gd name="connsiteY39" fmla="*/ 2300106 h 6858000"/>
              <a:gd name="connsiteX40" fmla="*/ 10747056 w 12188952"/>
              <a:gd name="connsiteY40" fmla="*/ 1816443 h 6858000"/>
              <a:gd name="connsiteX41" fmla="*/ 10360682 w 12188952"/>
              <a:gd name="connsiteY41" fmla="*/ 1582951 h 6858000"/>
              <a:gd name="connsiteX42" fmla="*/ 0 w 12188952"/>
              <a:gd name="connsiteY42" fmla="*/ 0 h 6858000"/>
              <a:gd name="connsiteX43" fmla="*/ 12188952 w 12188952"/>
              <a:gd name="connsiteY43" fmla="*/ 0 h 6858000"/>
              <a:gd name="connsiteX44" fmla="*/ 12188952 w 12188952"/>
              <a:gd name="connsiteY44" fmla="*/ 6858000 h 6858000"/>
              <a:gd name="connsiteX45" fmla="*/ 0 w 12188952"/>
              <a:gd name="connsiteY4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88952" h="6858000">
                <a:moveTo>
                  <a:pt x="10360682" y="1582951"/>
                </a:moveTo>
                <a:cubicBezTo>
                  <a:pt x="10227259" y="1638544"/>
                  <a:pt x="10118852" y="1796986"/>
                  <a:pt x="9965970" y="1755290"/>
                </a:cubicBezTo>
                <a:cubicBezTo>
                  <a:pt x="9813089" y="1716375"/>
                  <a:pt x="9743597" y="1916511"/>
                  <a:pt x="9601833" y="1855358"/>
                </a:cubicBezTo>
                <a:cubicBezTo>
                  <a:pt x="9415596" y="1910952"/>
                  <a:pt x="9223799" y="1910952"/>
                  <a:pt x="9032001" y="1899833"/>
                </a:cubicBezTo>
                <a:cubicBezTo>
                  <a:pt x="8840205" y="1924850"/>
                  <a:pt x="8648407" y="1952647"/>
                  <a:pt x="8453831" y="1933189"/>
                </a:cubicBezTo>
                <a:cubicBezTo>
                  <a:pt x="8262034" y="1949868"/>
                  <a:pt x="8075796" y="1960986"/>
                  <a:pt x="7883999" y="1944308"/>
                </a:cubicBezTo>
                <a:cubicBezTo>
                  <a:pt x="7692202" y="1963765"/>
                  <a:pt x="7500405" y="1955426"/>
                  <a:pt x="7311387" y="1941528"/>
                </a:cubicBezTo>
                <a:cubicBezTo>
                  <a:pt x="7222438" y="1941528"/>
                  <a:pt x="7136268" y="1938749"/>
                  <a:pt x="7047319" y="1938749"/>
                </a:cubicBezTo>
                <a:cubicBezTo>
                  <a:pt x="6811047" y="1927630"/>
                  <a:pt x="6574776" y="1922071"/>
                  <a:pt x="6335724" y="1913732"/>
                </a:cubicBezTo>
                <a:cubicBezTo>
                  <a:pt x="6335724" y="1913732"/>
                  <a:pt x="6332945" y="1913732"/>
                  <a:pt x="6332945" y="1913732"/>
                </a:cubicBezTo>
                <a:cubicBezTo>
                  <a:pt x="6277350" y="1910952"/>
                  <a:pt x="6224538" y="1910952"/>
                  <a:pt x="6168943" y="1908172"/>
                </a:cubicBezTo>
                <a:cubicBezTo>
                  <a:pt x="5977147" y="1908172"/>
                  <a:pt x="5785350" y="1908172"/>
                  <a:pt x="5596332" y="1908172"/>
                </a:cubicBezTo>
                <a:cubicBezTo>
                  <a:pt x="5410094" y="1983223"/>
                  <a:pt x="5207180" y="1919291"/>
                  <a:pt x="5023720" y="1977664"/>
                </a:cubicBezTo>
                <a:cubicBezTo>
                  <a:pt x="4829144" y="1974885"/>
                  <a:pt x="4645687" y="2033257"/>
                  <a:pt x="4453890" y="2058275"/>
                </a:cubicBezTo>
                <a:cubicBezTo>
                  <a:pt x="4309346" y="2069393"/>
                  <a:pt x="4162024" y="2055495"/>
                  <a:pt x="4028600" y="2113868"/>
                </a:cubicBezTo>
                <a:cubicBezTo>
                  <a:pt x="3925752" y="2161122"/>
                  <a:pt x="3845142" y="2222275"/>
                  <a:pt x="3956328" y="2347360"/>
                </a:cubicBezTo>
                <a:cubicBezTo>
                  <a:pt x="4089753" y="2344581"/>
                  <a:pt x="4075854" y="2555835"/>
                  <a:pt x="4209278" y="2525259"/>
                </a:cubicBezTo>
                <a:cubicBezTo>
                  <a:pt x="4181482" y="2622548"/>
                  <a:pt x="4086973" y="2572513"/>
                  <a:pt x="4053617" y="2644784"/>
                </a:cubicBezTo>
                <a:cubicBezTo>
                  <a:pt x="4123109" y="2705937"/>
                  <a:pt x="4256532" y="2661463"/>
                  <a:pt x="4278770" y="2789327"/>
                </a:cubicBezTo>
                <a:cubicBezTo>
                  <a:pt x="4250974" y="2922751"/>
                  <a:pt x="4339924" y="2906073"/>
                  <a:pt x="4412194" y="2914412"/>
                </a:cubicBezTo>
                <a:cubicBezTo>
                  <a:pt x="4584534" y="2931091"/>
                  <a:pt x="4751314" y="2942209"/>
                  <a:pt x="4920873" y="2970006"/>
                </a:cubicBezTo>
                <a:cubicBezTo>
                  <a:pt x="4962568" y="2978345"/>
                  <a:pt x="5059857" y="2958887"/>
                  <a:pt x="5051518" y="3045057"/>
                </a:cubicBezTo>
                <a:cubicBezTo>
                  <a:pt x="5043179" y="3114548"/>
                  <a:pt x="4968127" y="3089532"/>
                  <a:pt x="4920873" y="3092311"/>
                </a:cubicBezTo>
                <a:cubicBezTo>
                  <a:pt x="4659584" y="3125668"/>
                  <a:pt x="4395517" y="3072854"/>
                  <a:pt x="4137007" y="3075633"/>
                </a:cubicBezTo>
                <a:cubicBezTo>
                  <a:pt x="4106431" y="3075633"/>
                  <a:pt x="4100871" y="3167362"/>
                  <a:pt x="4034159" y="3136786"/>
                </a:cubicBezTo>
                <a:cubicBezTo>
                  <a:pt x="4209278" y="3220176"/>
                  <a:pt x="5023720" y="3242414"/>
                  <a:pt x="5296129" y="3286888"/>
                </a:cubicBezTo>
                <a:cubicBezTo>
                  <a:pt x="5012602" y="3603771"/>
                  <a:pt x="4742974" y="3411974"/>
                  <a:pt x="4517821" y="3589872"/>
                </a:cubicBezTo>
                <a:cubicBezTo>
                  <a:pt x="4517821" y="3589872"/>
                  <a:pt x="4562296" y="3589872"/>
                  <a:pt x="4754094" y="3648245"/>
                </a:cubicBezTo>
                <a:cubicBezTo>
                  <a:pt x="4906975" y="3695499"/>
                  <a:pt x="4831925" y="3762211"/>
                  <a:pt x="5218298" y="3890077"/>
                </a:cubicBezTo>
                <a:cubicBezTo>
                  <a:pt x="5070976" y="3931771"/>
                  <a:pt x="4879178" y="3851161"/>
                  <a:pt x="4806907" y="4067975"/>
                </a:cubicBezTo>
                <a:cubicBezTo>
                  <a:pt x="4920873" y="4106891"/>
                  <a:pt x="5057077" y="4070755"/>
                  <a:pt x="5137687" y="4173602"/>
                </a:cubicBezTo>
                <a:cubicBezTo>
                  <a:pt x="5162704" y="4204179"/>
                  <a:pt x="5187722" y="4223637"/>
                  <a:pt x="5218298" y="4240314"/>
                </a:cubicBezTo>
                <a:cubicBezTo>
                  <a:pt x="5204400" y="4245874"/>
                  <a:pt x="5187722" y="4251433"/>
                  <a:pt x="5176602" y="4256992"/>
                </a:cubicBezTo>
                <a:cubicBezTo>
                  <a:pt x="5198840" y="4276451"/>
                  <a:pt x="5768673" y="4382077"/>
                  <a:pt x="5913214" y="4384858"/>
                </a:cubicBezTo>
                <a:cubicBezTo>
                  <a:pt x="5813146" y="4418213"/>
                  <a:pt x="5607451" y="4443230"/>
                  <a:pt x="5607451" y="4443230"/>
                </a:cubicBezTo>
                <a:cubicBezTo>
                  <a:pt x="5607451" y="4443230"/>
                  <a:pt x="5651926" y="4571095"/>
                  <a:pt x="7586575" y="4924113"/>
                </a:cubicBezTo>
                <a:cubicBezTo>
                  <a:pt x="7942372" y="4988046"/>
                  <a:pt x="10310649" y="4996385"/>
                  <a:pt x="10471869" y="4985265"/>
                </a:cubicBezTo>
                <a:cubicBezTo>
                  <a:pt x="10624751" y="4974147"/>
                  <a:pt x="10827667" y="4668383"/>
                  <a:pt x="10916616" y="4687841"/>
                </a:cubicBezTo>
                <a:cubicBezTo>
                  <a:pt x="10944413" y="4660044"/>
                  <a:pt x="11250176" y="3981806"/>
                  <a:pt x="11333566" y="3392515"/>
                </a:cubicBezTo>
                <a:cubicBezTo>
                  <a:pt x="11355803" y="3156244"/>
                  <a:pt x="11378041" y="2483564"/>
                  <a:pt x="11289091" y="2300106"/>
                </a:cubicBezTo>
                <a:cubicBezTo>
                  <a:pt x="11239057" y="2194478"/>
                  <a:pt x="10874921" y="1872037"/>
                  <a:pt x="10747056" y="1816443"/>
                </a:cubicBezTo>
                <a:cubicBezTo>
                  <a:pt x="10616412" y="1744172"/>
                  <a:pt x="10463531" y="1708036"/>
                  <a:pt x="10360682" y="1582951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Text, table&#10;&#10;Description automatically generated">
            <a:extLst>
              <a:ext uri="{FF2B5EF4-FFF2-40B4-BE49-F238E27FC236}">
                <a16:creationId xmlns:a16="http://schemas.microsoft.com/office/drawing/2014/main" id="{A39E44C5-2413-4794-B207-F9F54E50D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2" y="261635"/>
            <a:ext cx="8095500" cy="63347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D17CF5-F63C-4F62-AC42-25F0B6101961}"/>
              </a:ext>
            </a:extLst>
          </p:cNvPr>
          <p:cNvSpPr/>
          <p:nvPr/>
        </p:nvSpPr>
        <p:spPr>
          <a:xfrm>
            <a:off x="5732172" y="3962400"/>
            <a:ext cx="2834312" cy="24865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78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D517D21-289D-4850-929A-9D0A854EA1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mask">
            <a:extLst>
              <a:ext uri="{FF2B5EF4-FFF2-40B4-BE49-F238E27FC236}">
                <a16:creationId xmlns:a16="http://schemas.microsoft.com/office/drawing/2014/main" id="{69F2D923-FC6D-402C-AF7F-48E07A8979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-1"/>
            <a:ext cx="12188952" cy="6858000"/>
          </a:xfrm>
          <a:custGeom>
            <a:avLst/>
            <a:gdLst>
              <a:gd name="connsiteX0" fmla="*/ 10360682 w 12188952"/>
              <a:gd name="connsiteY0" fmla="*/ 1582951 h 6858000"/>
              <a:gd name="connsiteX1" fmla="*/ 9965970 w 12188952"/>
              <a:gd name="connsiteY1" fmla="*/ 1755290 h 6858000"/>
              <a:gd name="connsiteX2" fmla="*/ 9601833 w 12188952"/>
              <a:gd name="connsiteY2" fmla="*/ 1855358 h 6858000"/>
              <a:gd name="connsiteX3" fmla="*/ 9032001 w 12188952"/>
              <a:gd name="connsiteY3" fmla="*/ 1899833 h 6858000"/>
              <a:gd name="connsiteX4" fmla="*/ 8453831 w 12188952"/>
              <a:gd name="connsiteY4" fmla="*/ 1933189 h 6858000"/>
              <a:gd name="connsiteX5" fmla="*/ 7883999 w 12188952"/>
              <a:gd name="connsiteY5" fmla="*/ 1944308 h 6858000"/>
              <a:gd name="connsiteX6" fmla="*/ 7311387 w 12188952"/>
              <a:gd name="connsiteY6" fmla="*/ 1941528 h 6858000"/>
              <a:gd name="connsiteX7" fmla="*/ 7047319 w 12188952"/>
              <a:gd name="connsiteY7" fmla="*/ 1938749 h 6858000"/>
              <a:gd name="connsiteX8" fmla="*/ 6335724 w 12188952"/>
              <a:gd name="connsiteY8" fmla="*/ 1913732 h 6858000"/>
              <a:gd name="connsiteX9" fmla="*/ 6332945 w 12188952"/>
              <a:gd name="connsiteY9" fmla="*/ 1913732 h 6858000"/>
              <a:gd name="connsiteX10" fmla="*/ 6168943 w 12188952"/>
              <a:gd name="connsiteY10" fmla="*/ 1908172 h 6858000"/>
              <a:gd name="connsiteX11" fmla="*/ 5596332 w 12188952"/>
              <a:gd name="connsiteY11" fmla="*/ 1908172 h 6858000"/>
              <a:gd name="connsiteX12" fmla="*/ 5023720 w 12188952"/>
              <a:gd name="connsiteY12" fmla="*/ 1977664 h 6858000"/>
              <a:gd name="connsiteX13" fmla="*/ 4453890 w 12188952"/>
              <a:gd name="connsiteY13" fmla="*/ 2058275 h 6858000"/>
              <a:gd name="connsiteX14" fmla="*/ 4028600 w 12188952"/>
              <a:gd name="connsiteY14" fmla="*/ 2113868 h 6858000"/>
              <a:gd name="connsiteX15" fmla="*/ 3956328 w 12188952"/>
              <a:gd name="connsiteY15" fmla="*/ 2347360 h 6858000"/>
              <a:gd name="connsiteX16" fmla="*/ 4209278 w 12188952"/>
              <a:gd name="connsiteY16" fmla="*/ 2525259 h 6858000"/>
              <a:gd name="connsiteX17" fmla="*/ 4053617 w 12188952"/>
              <a:gd name="connsiteY17" fmla="*/ 2644784 h 6858000"/>
              <a:gd name="connsiteX18" fmla="*/ 4278770 w 12188952"/>
              <a:gd name="connsiteY18" fmla="*/ 2789327 h 6858000"/>
              <a:gd name="connsiteX19" fmla="*/ 4412194 w 12188952"/>
              <a:gd name="connsiteY19" fmla="*/ 2914412 h 6858000"/>
              <a:gd name="connsiteX20" fmla="*/ 4920873 w 12188952"/>
              <a:gd name="connsiteY20" fmla="*/ 2970006 h 6858000"/>
              <a:gd name="connsiteX21" fmla="*/ 5051518 w 12188952"/>
              <a:gd name="connsiteY21" fmla="*/ 3045057 h 6858000"/>
              <a:gd name="connsiteX22" fmla="*/ 4920873 w 12188952"/>
              <a:gd name="connsiteY22" fmla="*/ 3092311 h 6858000"/>
              <a:gd name="connsiteX23" fmla="*/ 4137007 w 12188952"/>
              <a:gd name="connsiteY23" fmla="*/ 3075633 h 6858000"/>
              <a:gd name="connsiteX24" fmla="*/ 4034159 w 12188952"/>
              <a:gd name="connsiteY24" fmla="*/ 3136786 h 6858000"/>
              <a:gd name="connsiteX25" fmla="*/ 5296129 w 12188952"/>
              <a:gd name="connsiteY25" fmla="*/ 3286888 h 6858000"/>
              <a:gd name="connsiteX26" fmla="*/ 4517821 w 12188952"/>
              <a:gd name="connsiteY26" fmla="*/ 3589872 h 6858000"/>
              <a:gd name="connsiteX27" fmla="*/ 4754094 w 12188952"/>
              <a:gd name="connsiteY27" fmla="*/ 3648245 h 6858000"/>
              <a:gd name="connsiteX28" fmla="*/ 5218298 w 12188952"/>
              <a:gd name="connsiteY28" fmla="*/ 3890077 h 6858000"/>
              <a:gd name="connsiteX29" fmla="*/ 4806907 w 12188952"/>
              <a:gd name="connsiteY29" fmla="*/ 4067975 h 6858000"/>
              <a:gd name="connsiteX30" fmla="*/ 5137687 w 12188952"/>
              <a:gd name="connsiteY30" fmla="*/ 4173602 h 6858000"/>
              <a:gd name="connsiteX31" fmla="*/ 5218298 w 12188952"/>
              <a:gd name="connsiteY31" fmla="*/ 4240314 h 6858000"/>
              <a:gd name="connsiteX32" fmla="*/ 5176602 w 12188952"/>
              <a:gd name="connsiteY32" fmla="*/ 4256992 h 6858000"/>
              <a:gd name="connsiteX33" fmla="*/ 5913214 w 12188952"/>
              <a:gd name="connsiteY33" fmla="*/ 4384858 h 6858000"/>
              <a:gd name="connsiteX34" fmla="*/ 5607451 w 12188952"/>
              <a:gd name="connsiteY34" fmla="*/ 4443230 h 6858000"/>
              <a:gd name="connsiteX35" fmla="*/ 7586575 w 12188952"/>
              <a:gd name="connsiteY35" fmla="*/ 4924113 h 6858000"/>
              <a:gd name="connsiteX36" fmla="*/ 10471869 w 12188952"/>
              <a:gd name="connsiteY36" fmla="*/ 4985265 h 6858000"/>
              <a:gd name="connsiteX37" fmla="*/ 10916616 w 12188952"/>
              <a:gd name="connsiteY37" fmla="*/ 4687841 h 6858000"/>
              <a:gd name="connsiteX38" fmla="*/ 11333566 w 12188952"/>
              <a:gd name="connsiteY38" fmla="*/ 3392515 h 6858000"/>
              <a:gd name="connsiteX39" fmla="*/ 11289091 w 12188952"/>
              <a:gd name="connsiteY39" fmla="*/ 2300106 h 6858000"/>
              <a:gd name="connsiteX40" fmla="*/ 10747056 w 12188952"/>
              <a:gd name="connsiteY40" fmla="*/ 1816443 h 6858000"/>
              <a:gd name="connsiteX41" fmla="*/ 10360682 w 12188952"/>
              <a:gd name="connsiteY41" fmla="*/ 1582951 h 6858000"/>
              <a:gd name="connsiteX42" fmla="*/ 0 w 12188952"/>
              <a:gd name="connsiteY42" fmla="*/ 0 h 6858000"/>
              <a:gd name="connsiteX43" fmla="*/ 12188952 w 12188952"/>
              <a:gd name="connsiteY43" fmla="*/ 0 h 6858000"/>
              <a:gd name="connsiteX44" fmla="*/ 12188952 w 12188952"/>
              <a:gd name="connsiteY44" fmla="*/ 6858000 h 6858000"/>
              <a:gd name="connsiteX45" fmla="*/ 0 w 12188952"/>
              <a:gd name="connsiteY4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88952" h="6858000">
                <a:moveTo>
                  <a:pt x="10360682" y="1582951"/>
                </a:moveTo>
                <a:cubicBezTo>
                  <a:pt x="10227259" y="1638544"/>
                  <a:pt x="10118852" y="1796986"/>
                  <a:pt x="9965970" y="1755290"/>
                </a:cubicBezTo>
                <a:cubicBezTo>
                  <a:pt x="9813089" y="1716375"/>
                  <a:pt x="9743597" y="1916511"/>
                  <a:pt x="9601833" y="1855358"/>
                </a:cubicBezTo>
                <a:cubicBezTo>
                  <a:pt x="9415596" y="1910952"/>
                  <a:pt x="9223799" y="1910952"/>
                  <a:pt x="9032001" y="1899833"/>
                </a:cubicBezTo>
                <a:cubicBezTo>
                  <a:pt x="8840205" y="1924850"/>
                  <a:pt x="8648407" y="1952647"/>
                  <a:pt x="8453831" y="1933189"/>
                </a:cubicBezTo>
                <a:cubicBezTo>
                  <a:pt x="8262034" y="1949868"/>
                  <a:pt x="8075796" y="1960986"/>
                  <a:pt x="7883999" y="1944308"/>
                </a:cubicBezTo>
                <a:cubicBezTo>
                  <a:pt x="7692202" y="1963765"/>
                  <a:pt x="7500405" y="1955426"/>
                  <a:pt x="7311387" y="1941528"/>
                </a:cubicBezTo>
                <a:cubicBezTo>
                  <a:pt x="7222438" y="1941528"/>
                  <a:pt x="7136268" y="1938749"/>
                  <a:pt x="7047319" y="1938749"/>
                </a:cubicBezTo>
                <a:cubicBezTo>
                  <a:pt x="6811047" y="1927630"/>
                  <a:pt x="6574776" y="1922071"/>
                  <a:pt x="6335724" y="1913732"/>
                </a:cubicBezTo>
                <a:cubicBezTo>
                  <a:pt x="6335724" y="1913732"/>
                  <a:pt x="6332945" y="1913732"/>
                  <a:pt x="6332945" y="1913732"/>
                </a:cubicBezTo>
                <a:cubicBezTo>
                  <a:pt x="6277350" y="1910952"/>
                  <a:pt x="6224538" y="1910952"/>
                  <a:pt x="6168943" y="1908172"/>
                </a:cubicBezTo>
                <a:cubicBezTo>
                  <a:pt x="5977147" y="1908172"/>
                  <a:pt x="5785350" y="1908172"/>
                  <a:pt x="5596332" y="1908172"/>
                </a:cubicBezTo>
                <a:cubicBezTo>
                  <a:pt x="5410094" y="1983223"/>
                  <a:pt x="5207180" y="1919291"/>
                  <a:pt x="5023720" y="1977664"/>
                </a:cubicBezTo>
                <a:cubicBezTo>
                  <a:pt x="4829144" y="1974885"/>
                  <a:pt x="4645687" y="2033257"/>
                  <a:pt x="4453890" y="2058275"/>
                </a:cubicBezTo>
                <a:cubicBezTo>
                  <a:pt x="4309346" y="2069393"/>
                  <a:pt x="4162024" y="2055495"/>
                  <a:pt x="4028600" y="2113868"/>
                </a:cubicBezTo>
                <a:cubicBezTo>
                  <a:pt x="3925752" y="2161122"/>
                  <a:pt x="3845142" y="2222275"/>
                  <a:pt x="3956328" y="2347360"/>
                </a:cubicBezTo>
                <a:cubicBezTo>
                  <a:pt x="4089753" y="2344581"/>
                  <a:pt x="4075854" y="2555835"/>
                  <a:pt x="4209278" y="2525259"/>
                </a:cubicBezTo>
                <a:cubicBezTo>
                  <a:pt x="4181482" y="2622548"/>
                  <a:pt x="4086973" y="2572513"/>
                  <a:pt x="4053617" y="2644784"/>
                </a:cubicBezTo>
                <a:cubicBezTo>
                  <a:pt x="4123109" y="2705937"/>
                  <a:pt x="4256532" y="2661463"/>
                  <a:pt x="4278770" y="2789327"/>
                </a:cubicBezTo>
                <a:cubicBezTo>
                  <a:pt x="4250974" y="2922751"/>
                  <a:pt x="4339924" y="2906073"/>
                  <a:pt x="4412194" y="2914412"/>
                </a:cubicBezTo>
                <a:cubicBezTo>
                  <a:pt x="4584534" y="2931091"/>
                  <a:pt x="4751314" y="2942209"/>
                  <a:pt x="4920873" y="2970006"/>
                </a:cubicBezTo>
                <a:cubicBezTo>
                  <a:pt x="4962568" y="2978345"/>
                  <a:pt x="5059857" y="2958887"/>
                  <a:pt x="5051518" y="3045057"/>
                </a:cubicBezTo>
                <a:cubicBezTo>
                  <a:pt x="5043179" y="3114548"/>
                  <a:pt x="4968127" y="3089532"/>
                  <a:pt x="4920873" y="3092311"/>
                </a:cubicBezTo>
                <a:cubicBezTo>
                  <a:pt x="4659584" y="3125668"/>
                  <a:pt x="4395517" y="3072854"/>
                  <a:pt x="4137007" y="3075633"/>
                </a:cubicBezTo>
                <a:cubicBezTo>
                  <a:pt x="4106431" y="3075633"/>
                  <a:pt x="4100871" y="3167362"/>
                  <a:pt x="4034159" y="3136786"/>
                </a:cubicBezTo>
                <a:cubicBezTo>
                  <a:pt x="4209278" y="3220176"/>
                  <a:pt x="5023720" y="3242414"/>
                  <a:pt x="5296129" y="3286888"/>
                </a:cubicBezTo>
                <a:cubicBezTo>
                  <a:pt x="5012602" y="3603771"/>
                  <a:pt x="4742974" y="3411974"/>
                  <a:pt x="4517821" y="3589872"/>
                </a:cubicBezTo>
                <a:cubicBezTo>
                  <a:pt x="4517821" y="3589872"/>
                  <a:pt x="4562296" y="3589872"/>
                  <a:pt x="4754094" y="3648245"/>
                </a:cubicBezTo>
                <a:cubicBezTo>
                  <a:pt x="4906975" y="3695499"/>
                  <a:pt x="4831925" y="3762211"/>
                  <a:pt x="5218298" y="3890077"/>
                </a:cubicBezTo>
                <a:cubicBezTo>
                  <a:pt x="5070976" y="3931771"/>
                  <a:pt x="4879178" y="3851161"/>
                  <a:pt x="4806907" y="4067975"/>
                </a:cubicBezTo>
                <a:cubicBezTo>
                  <a:pt x="4920873" y="4106891"/>
                  <a:pt x="5057077" y="4070755"/>
                  <a:pt x="5137687" y="4173602"/>
                </a:cubicBezTo>
                <a:cubicBezTo>
                  <a:pt x="5162704" y="4204179"/>
                  <a:pt x="5187722" y="4223637"/>
                  <a:pt x="5218298" y="4240314"/>
                </a:cubicBezTo>
                <a:cubicBezTo>
                  <a:pt x="5204400" y="4245874"/>
                  <a:pt x="5187722" y="4251433"/>
                  <a:pt x="5176602" y="4256992"/>
                </a:cubicBezTo>
                <a:cubicBezTo>
                  <a:pt x="5198840" y="4276451"/>
                  <a:pt x="5768673" y="4382077"/>
                  <a:pt x="5913214" y="4384858"/>
                </a:cubicBezTo>
                <a:cubicBezTo>
                  <a:pt x="5813146" y="4418213"/>
                  <a:pt x="5607451" y="4443230"/>
                  <a:pt x="5607451" y="4443230"/>
                </a:cubicBezTo>
                <a:cubicBezTo>
                  <a:pt x="5607451" y="4443230"/>
                  <a:pt x="5651926" y="4571095"/>
                  <a:pt x="7586575" y="4924113"/>
                </a:cubicBezTo>
                <a:cubicBezTo>
                  <a:pt x="7942372" y="4988046"/>
                  <a:pt x="10310649" y="4996385"/>
                  <a:pt x="10471869" y="4985265"/>
                </a:cubicBezTo>
                <a:cubicBezTo>
                  <a:pt x="10624751" y="4974147"/>
                  <a:pt x="10827667" y="4668383"/>
                  <a:pt x="10916616" y="4687841"/>
                </a:cubicBezTo>
                <a:cubicBezTo>
                  <a:pt x="10944413" y="4660044"/>
                  <a:pt x="11250176" y="3981806"/>
                  <a:pt x="11333566" y="3392515"/>
                </a:cubicBezTo>
                <a:cubicBezTo>
                  <a:pt x="11355803" y="3156244"/>
                  <a:pt x="11378041" y="2483564"/>
                  <a:pt x="11289091" y="2300106"/>
                </a:cubicBezTo>
                <a:cubicBezTo>
                  <a:pt x="11239057" y="2194478"/>
                  <a:pt x="10874921" y="1872037"/>
                  <a:pt x="10747056" y="1816443"/>
                </a:cubicBezTo>
                <a:cubicBezTo>
                  <a:pt x="10616412" y="1744172"/>
                  <a:pt x="10463531" y="1708036"/>
                  <a:pt x="10360682" y="1582951"/>
                </a:cubicBez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96A170-44AB-42D6-BAD2-8A29B9A58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964" y="787442"/>
            <a:ext cx="9362072" cy="52831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D17CF5-F63C-4F62-AC42-25F0B6101961}"/>
              </a:ext>
            </a:extLst>
          </p:cNvPr>
          <p:cNvSpPr/>
          <p:nvPr/>
        </p:nvSpPr>
        <p:spPr>
          <a:xfrm>
            <a:off x="6182991" y="1844842"/>
            <a:ext cx="4260420" cy="34169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63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048" y="1321693"/>
            <a:ext cx="11040855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Archives -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96" y="3429000"/>
            <a:ext cx="10217892" cy="260949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dirty="0"/>
              <a:t>Statistical (e.g. census data)</a:t>
            </a:r>
          </a:p>
          <a:p>
            <a:pPr marL="457200" indent="-457200">
              <a:buAutoNum type="arabicPeriod"/>
            </a:pPr>
            <a:r>
              <a:rPr lang="en-AU" dirty="0"/>
              <a:t>Written and electronic (e.g. PM speeches)</a:t>
            </a:r>
          </a:p>
          <a:p>
            <a:pPr marL="457200" indent="-457200">
              <a:buAutoNum type="arabicPeriod"/>
            </a:pPr>
            <a:r>
              <a:rPr lang="en-AU" dirty="0"/>
              <a:t>Responses to national surveys</a:t>
            </a:r>
          </a:p>
          <a:p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825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39A9B9-F246-4779-A2BA-7AD3DAB541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3D8-AD23-4D14-BFDD-1A032D8C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048" y="1321693"/>
            <a:ext cx="11040855" cy="1287798"/>
          </a:xfrm>
        </p:spPr>
        <p:txBody>
          <a:bodyPr>
            <a:normAutofit/>
          </a:bodyPr>
          <a:lstStyle/>
          <a:p>
            <a:pPr algn="ctr"/>
            <a:r>
              <a:rPr lang="en-AU" sz="6000" dirty="0"/>
              <a:t>Behavioural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BB758-4ECD-4883-8B46-8C9C3C77E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96" y="3429000"/>
            <a:ext cx="10217892" cy="260949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dirty="0"/>
              <a:t>Pre-exist and can not be varied as an IV</a:t>
            </a:r>
          </a:p>
          <a:p>
            <a:r>
              <a:rPr lang="en-AU" dirty="0"/>
              <a:t>e.g. amount of lead used in a pencil over a certain time writing – behavioural variable would be the pressure applied by the writer</a:t>
            </a:r>
          </a:p>
          <a:p>
            <a:endParaRPr lang="en-A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9FF3C7-B796-4C63-BF20-B2EE5688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96" y="1"/>
            <a:ext cx="11282409" cy="2930115"/>
          </a:xfrm>
          <a:custGeom>
            <a:avLst/>
            <a:gdLst>
              <a:gd name="connsiteX0" fmla="*/ 1277174 w 11282409"/>
              <a:gd name="connsiteY0" fmla="*/ 0 h 2930115"/>
              <a:gd name="connsiteX1" fmla="*/ 11077320 w 11282409"/>
              <a:gd name="connsiteY1" fmla="*/ 0 h 2930115"/>
              <a:gd name="connsiteX2" fmla="*/ 10933044 w 11282409"/>
              <a:gd name="connsiteY2" fmla="*/ 93916 h 2930115"/>
              <a:gd name="connsiteX3" fmla="*/ 11087630 w 11282409"/>
              <a:gd name="connsiteY3" fmla="*/ 165214 h 2930115"/>
              <a:gd name="connsiteX4" fmla="*/ 10401271 w 11282409"/>
              <a:gd name="connsiteY4" fmla="*/ 582307 h 2930115"/>
              <a:gd name="connsiteX5" fmla="*/ 11038163 w 11282409"/>
              <a:gd name="connsiteY5" fmla="*/ 511009 h 2930115"/>
              <a:gd name="connsiteX6" fmla="*/ 11004154 w 11282409"/>
              <a:gd name="connsiteY6" fmla="*/ 568047 h 2930115"/>
              <a:gd name="connsiteX7" fmla="*/ 10970146 w 11282409"/>
              <a:gd name="connsiteY7" fmla="*/ 625085 h 2930115"/>
              <a:gd name="connsiteX8" fmla="*/ 11270042 w 11282409"/>
              <a:gd name="connsiteY8" fmla="*/ 589437 h 2930115"/>
              <a:gd name="connsiteX9" fmla="*/ 11270042 w 11282409"/>
              <a:gd name="connsiteY9" fmla="*/ 650039 h 2930115"/>
              <a:gd name="connsiteX10" fmla="*/ 11177291 w 11282409"/>
              <a:gd name="connsiteY10" fmla="*/ 721337 h 2930115"/>
              <a:gd name="connsiteX11" fmla="*/ 11270042 w 11282409"/>
              <a:gd name="connsiteY11" fmla="*/ 703512 h 2930115"/>
              <a:gd name="connsiteX12" fmla="*/ 11282409 w 11282409"/>
              <a:gd name="connsiteY12" fmla="*/ 703512 h 2930115"/>
              <a:gd name="connsiteX13" fmla="*/ 11282409 w 11282409"/>
              <a:gd name="connsiteY13" fmla="*/ 981574 h 2930115"/>
              <a:gd name="connsiteX14" fmla="*/ 4053985 w 11282409"/>
              <a:gd name="connsiteY14" fmla="*/ 2928005 h 2930115"/>
              <a:gd name="connsiteX15" fmla="*/ 3386175 w 11282409"/>
              <a:gd name="connsiteY15" fmla="*/ 2892355 h 2930115"/>
              <a:gd name="connsiteX16" fmla="*/ 3228499 w 11282409"/>
              <a:gd name="connsiteY16" fmla="*/ 2774714 h 2930115"/>
              <a:gd name="connsiteX17" fmla="*/ 3389267 w 11282409"/>
              <a:gd name="connsiteY17" fmla="*/ 2717676 h 2930115"/>
              <a:gd name="connsiteX18" fmla="*/ 3883942 w 11282409"/>
              <a:gd name="connsiteY18" fmla="*/ 2535866 h 2930115"/>
              <a:gd name="connsiteX19" fmla="*/ 3401634 w 11282409"/>
              <a:gd name="connsiteY19" fmla="*/ 2564386 h 2930115"/>
              <a:gd name="connsiteX20" fmla="*/ 4087994 w 11282409"/>
              <a:gd name="connsiteY20" fmla="*/ 2414660 h 2930115"/>
              <a:gd name="connsiteX21" fmla="*/ 4285864 w 11282409"/>
              <a:gd name="connsiteY21" fmla="*/ 2336233 h 2930115"/>
              <a:gd name="connsiteX22" fmla="*/ 4091088 w 11282409"/>
              <a:gd name="connsiteY22" fmla="*/ 2304149 h 2930115"/>
              <a:gd name="connsiteX23" fmla="*/ 3148114 w 11282409"/>
              <a:gd name="connsiteY23" fmla="*/ 2400401 h 2930115"/>
              <a:gd name="connsiteX24" fmla="*/ 3058455 w 11282409"/>
              <a:gd name="connsiteY24" fmla="*/ 2411095 h 2930115"/>
              <a:gd name="connsiteX25" fmla="*/ 2443203 w 11282409"/>
              <a:gd name="connsiteY25" fmla="*/ 2336233 h 2930115"/>
              <a:gd name="connsiteX26" fmla="*/ 2786383 w 11282409"/>
              <a:gd name="connsiteY26" fmla="*/ 2257805 h 2930115"/>
              <a:gd name="connsiteX27" fmla="*/ 2390644 w 11282409"/>
              <a:gd name="connsiteY27" fmla="*/ 2211461 h 2930115"/>
              <a:gd name="connsiteX28" fmla="*/ 1911429 w 11282409"/>
              <a:gd name="connsiteY28" fmla="*/ 2168683 h 2930115"/>
              <a:gd name="connsiteX29" fmla="*/ 1416755 w 11282409"/>
              <a:gd name="connsiteY29" fmla="*/ 2026087 h 2930115"/>
              <a:gd name="connsiteX30" fmla="*/ 1070483 w 11282409"/>
              <a:gd name="connsiteY30" fmla="*/ 1979743 h 2930115"/>
              <a:gd name="connsiteX31" fmla="*/ 1104491 w 11282409"/>
              <a:gd name="connsiteY31" fmla="*/ 1854972 h 2930115"/>
              <a:gd name="connsiteX32" fmla="*/ 1039566 w 11282409"/>
              <a:gd name="connsiteY32" fmla="*/ 1748026 h 2930115"/>
              <a:gd name="connsiteX33" fmla="*/ 1623900 w 11282409"/>
              <a:gd name="connsiteY33" fmla="*/ 1694553 h 2930115"/>
              <a:gd name="connsiteX34" fmla="*/ 1401296 w 11282409"/>
              <a:gd name="connsiteY34" fmla="*/ 1676728 h 2930115"/>
              <a:gd name="connsiteX35" fmla="*/ 1302362 w 11282409"/>
              <a:gd name="connsiteY35" fmla="*/ 1623255 h 2930115"/>
              <a:gd name="connsiteX36" fmla="*/ 1385838 w 11282409"/>
              <a:gd name="connsiteY36" fmla="*/ 1566216 h 2930115"/>
              <a:gd name="connsiteX37" fmla="*/ 1756843 w 11282409"/>
              <a:gd name="connsiteY37" fmla="*/ 1377277 h 2930115"/>
              <a:gd name="connsiteX38" fmla="*/ 721120 w 11282409"/>
              <a:gd name="connsiteY38" fmla="*/ 1387972 h 2930115"/>
              <a:gd name="connsiteX39" fmla="*/ 857154 w 11282409"/>
              <a:gd name="connsiteY39" fmla="*/ 1323803 h 2930115"/>
              <a:gd name="connsiteX40" fmla="*/ 2285525 w 11282409"/>
              <a:gd name="connsiteY40" fmla="*/ 924536 h 2930115"/>
              <a:gd name="connsiteX41" fmla="*/ 2569963 w 11282409"/>
              <a:gd name="connsiteY41" fmla="*/ 874628 h 2930115"/>
              <a:gd name="connsiteX42" fmla="*/ 1803218 w 11282409"/>
              <a:gd name="connsiteY42" fmla="*/ 856803 h 2930115"/>
              <a:gd name="connsiteX43" fmla="*/ 625276 w 11282409"/>
              <a:gd name="connsiteY43" fmla="*/ 682124 h 2930115"/>
              <a:gd name="connsiteX44" fmla="*/ 736578 w 11282409"/>
              <a:gd name="connsiteY44" fmla="*/ 521703 h 2930115"/>
              <a:gd name="connsiteX45" fmla="*/ 155336 w 11282409"/>
              <a:gd name="connsiteY45" fmla="*/ 550222 h 2930115"/>
              <a:gd name="connsiteX46" fmla="*/ 421223 w 11282409"/>
              <a:gd name="connsiteY46" fmla="*/ 425451 h 2930115"/>
              <a:gd name="connsiteX47" fmla="*/ 201712 w 11282409"/>
              <a:gd name="connsiteY47" fmla="*/ 404062 h 2930115"/>
              <a:gd name="connsiteX48" fmla="*/ 3843 w 11282409"/>
              <a:gd name="connsiteY48" fmla="*/ 314939 h 2930115"/>
              <a:gd name="connsiteX49" fmla="*/ 829329 w 11282409"/>
              <a:gd name="connsiteY49" fmla="*/ 175909 h 2930115"/>
              <a:gd name="connsiteX50" fmla="*/ 1045749 w 11282409"/>
              <a:gd name="connsiteY50" fmla="*/ 47572 h 2930115"/>
              <a:gd name="connsiteX51" fmla="*/ 1172509 w 11282409"/>
              <a:gd name="connsiteY51" fmla="*/ 11924 h 2930115"/>
              <a:gd name="connsiteX52" fmla="*/ 1257531 w 11282409"/>
              <a:gd name="connsiteY52" fmla="*/ 7914 h 293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1282409" h="2930115">
                <a:moveTo>
                  <a:pt x="1277174" y="0"/>
                </a:moveTo>
                <a:lnTo>
                  <a:pt x="11077320" y="0"/>
                </a:lnTo>
                <a:lnTo>
                  <a:pt x="10933044" y="93916"/>
                </a:lnTo>
                <a:cubicBezTo>
                  <a:pt x="10973237" y="147389"/>
                  <a:pt x="11059805" y="83222"/>
                  <a:pt x="11087630" y="165214"/>
                </a:cubicBezTo>
                <a:cubicBezTo>
                  <a:pt x="10865028" y="304245"/>
                  <a:pt x="10660974" y="478924"/>
                  <a:pt x="10401271" y="582307"/>
                </a:cubicBezTo>
                <a:cubicBezTo>
                  <a:pt x="10614599" y="507443"/>
                  <a:pt x="10827927" y="543093"/>
                  <a:pt x="11038163" y="511009"/>
                </a:cubicBezTo>
                <a:cubicBezTo>
                  <a:pt x="11065988" y="553787"/>
                  <a:pt x="11019613" y="553787"/>
                  <a:pt x="11004154" y="568047"/>
                </a:cubicBezTo>
                <a:cubicBezTo>
                  <a:pt x="10988696" y="582307"/>
                  <a:pt x="10967053" y="593001"/>
                  <a:pt x="10970146" y="625085"/>
                </a:cubicBezTo>
                <a:cubicBezTo>
                  <a:pt x="11065988" y="639345"/>
                  <a:pt x="11171107" y="589437"/>
                  <a:pt x="11270042" y="589437"/>
                </a:cubicBezTo>
                <a:lnTo>
                  <a:pt x="11270042" y="650039"/>
                </a:lnTo>
                <a:cubicBezTo>
                  <a:pt x="11236032" y="671428"/>
                  <a:pt x="11192750" y="678558"/>
                  <a:pt x="11177291" y="721337"/>
                </a:cubicBezTo>
                <a:cubicBezTo>
                  <a:pt x="11208207" y="714208"/>
                  <a:pt x="11239125" y="710643"/>
                  <a:pt x="11270042" y="703512"/>
                </a:cubicBezTo>
                <a:lnTo>
                  <a:pt x="11282409" y="703512"/>
                </a:lnTo>
                <a:lnTo>
                  <a:pt x="11282409" y="981574"/>
                </a:lnTo>
                <a:cubicBezTo>
                  <a:pt x="9254245" y="2952959"/>
                  <a:pt x="4397165" y="2906615"/>
                  <a:pt x="4053985" y="2928005"/>
                </a:cubicBezTo>
                <a:cubicBezTo>
                  <a:pt x="3945776" y="2935134"/>
                  <a:pt x="3491294" y="2924439"/>
                  <a:pt x="3386175" y="2892355"/>
                </a:cubicBezTo>
                <a:cubicBezTo>
                  <a:pt x="3243956" y="2853141"/>
                  <a:pt x="3228499" y="2774714"/>
                  <a:pt x="3228499" y="2774714"/>
                </a:cubicBezTo>
                <a:cubicBezTo>
                  <a:pt x="3228499" y="2774714"/>
                  <a:pt x="3299608" y="2742630"/>
                  <a:pt x="3389267" y="2717676"/>
                </a:cubicBezTo>
                <a:cubicBezTo>
                  <a:pt x="3562404" y="2667768"/>
                  <a:pt x="3704623" y="2575080"/>
                  <a:pt x="3883942" y="2535866"/>
                </a:cubicBezTo>
                <a:cubicBezTo>
                  <a:pt x="3723173" y="2546561"/>
                  <a:pt x="3562404" y="2553691"/>
                  <a:pt x="3401634" y="2564386"/>
                </a:cubicBezTo>
                <a:cubicBezTo>
                  <a:pt x="3624237" y="2468133"/>
                  <a:pt x="3859208" y="2453874"/>
                  <a:pt x="4087994" y="2414660"/>
                </a:cubicBezTo>
                <a:cubicBezTo>
                  <a:pt x="4162197" y="2403966"/>
                  <a:pt x="4285864" y="2436049"/>
                  <a:pt x="4285864" y="2336233"/>
                </a:cubicBezTo>
                <a:cubicBezTo>
                  <a:pt x="4282774" y="2272064"/>
                  <a:pt x="4162197" y="2300584"/>
                  <a:pt x="4091088" y="2304149"/>
                </a:cubicBezTo>
                <a:cubicBezTo>
                  <a:pt x="3775732" y="2314843"/>
                  <a:pt x="3463469" y="2361187"/>
                  <a:pt x="3148114" y="2400401"/>
                </a:cubicBezTo>
                <a:cubicBezTo>
                  <a:pt x="3117196" y="2403966"/>
                  <a:pt x="3080097" y="2421790"/>
                  <a:pt x="3058455" y="2411095"/>
                </a:cubicBezTo>
                <a:cubicBezTo>
                  <a:pt x="2879135" y="2339797"/>
                  <a:pt x="2675082" y="2357622"/>
                  <a:pt x="2443203" y="2336233"/>
                </a:cubicBezTo>
                <a:cubicBezTo>
                  <a:pt x="2569963" y="2254241"/>
                  <a:pt x="2678173" y="2311278"/>
                  <a:pt x="2786383" y="2257805"/>
                </a:cubicBezTo>
                <a:cubicBezTo>
                  <a:pt x="2653440" y="2200766"/>
                  <a:pt x="2517405" y="2225722"/>
                  <a:pt x="2390644" y="2211461"/>
                </a:cubicBezTo>
                <a:cubicBezTo>
                  <a:pt x="2297893" y="2200766"/>
                  <a:pt x="1963988" y="2186507"/>
                  <a:pt x="1911429" y="2168683"/>
                </a:cubicBezTo>
                <a:cubicBezTo>
                  <a:pt x="1750660" y="2115209"/>
                  <a:pt x="1558974" y="2122339"/>
                  <a:pt x="1416755" y="2026087"/>
                </a:cubicBezTo>
                <a:cubicBezTo>
                  <a:pt x="1314728" y="1958354"/>
                  <a:pt x="1178693" y="2015393"/>
                  <a:pt x="1070483" y="1979743"/>
                </a:cubicBezTo>
                <a:cubicBezTo>
                  <a:pt x="1024107" y="1929835"/>
                  <a:pt x="1089033" y="1894186"/>
                  <a:pt x="1104491" y="1854972"/>
                </a:cubicBezTo>
                <a:cubicBezTo>
                  <a:pt x="1126133" y="1805064"/>
                  <a:pt x="1067391" y="1794370"/>
                  <a:pt x="1039566" y="1748026"/>
                </a:cubicBezTo>
                <a:cubicBezTo>
                  <a:pt x="1231252" y="1751591"/>
                  <a:pt x="1413663" y="1737331"/>
                  <a:pt x="1623900" y="1694553"/>
                </a:cubicBezTo>
                <a:cubicBezTo>
                  <a:pt x="1537332" y="1630384"/>
                  <a:pt x="1463130" y="1690987"/>
                  <a:pt x="1401296" y="1676728"/>
                </a:cubicBezTo>
                <a:cubicBezTo>
                  <a:pt x="1358012" y="1666033"/>
                  <a:pt x="1302362" y="1676728"/>
                  <a:pt x="1302362" y="1623255"/>
                </a:cubicBezTo>
                <a:cubicBezTo>
                  <a:pt x="1302362" y="1580476"/>
                  <a:pt x="1351829" y="1573345"/>
                  <a:pt x="1385838" y="1566216"/>
                </a:cubicBezTo>
                <a:cubicBezTo>
                  <a:pt x="1518781" y="1541262"/>
                  <a:pt x="1648633" y="1509178"/>
                  <a:pt x="1756843" y="1377277"/>
                </a:cubicBezTo>
                <a:cubicBezTo>
                  <a:pt x="1407480" y="1334499"/>
                  <a:pt x="1048840" y="1502049"/>
                  <a:pt x="721120" y="1387972"/>
                </a:cubicBezTo>
                <a:cubicBezTo>
                  <a:pt x="748945" y="1313109"/>
                  <a:pt x="813871" y="1327368"/>
                  <a:pt x="857154" y="1323803"/>
                </a:cubicBezTo>
                <a:cubicBezTo>
                  <a:pt x="1147775" y="1291720"/>
                  <a:pt x="2127849" y="903147"/>
                  <a:pt x="2285525" y="924536"/>
                </a:cubicBezTo>
                <a:cubicBezTo>
                  <a:pt x="2381369" y="935231"/>
                  <a:pt x="2480304" y="928101"/>
                  <a:pt x="2569963" y="874628"/>
                </a:cubicBezTo>
                <a:cubicBezTo>
                  <a:pt x="2678173" y="810460"/>
                  <a:pt x="1988721" y="945926"/>
                  <a:pt x="1803218" y="856803"/>
                </a:cubicBezTo>
                <a:cubicBezTo>
                  <a:pt x="1713559" y="814024"/>
                  <a:pt x="956090" y="689253"/>
                  <a:pt x="625276" y="682124"/>
                </a:cubicBezTo>
                <a:cubicBezTo>
                  <a:pt x="656194" y="614390"/>
                  <a:pt x="770587" y="617955"/>
                  <a:pt x="736578" y="521703"/>
                </a:cubicBezTo>
                <a:cubicBezTo>
                  <a:pt x="557259" y="514574"/>
                  <a:pt x="365573" y="575176"/>
                  <a:pt x="155336" y="550222"/>
                </a:cubicBezTo>
                <a:cubicBezTo>
                  <a:pt x="229537" y="464666"/>
                  <a:pt x="337746" y="471795"/>
                  <a:pt x="421223" y="425451"/>
                </a:cubicBezTo>
                <a:cubicBezTo>
                  <a:pt x="356297" y="361283"/>
                  <a:pt x="275913" y="400497"/>
                  <a:pt x="201712" y="404062"/>
                </a:cubicBezTo>
                <a:cubicBezTo>
                  <a:pt x="136786" y="407627"/>
                  <a:pt x="-27075" y="318505"/>
                  <a:pt x="3843" y="314939"/>
                </a:cubicBezTo>
                <a:cubicBezTo>
                  <a:pt x="282096" y="293551"/>
                  <a:pt x="551076" y="197299"/>
                  <a:pt x="829329" y="175909"/>
                </a:cubicBezTo>
                <a:cubicBezTo>
                  <a:pt x="922080" y="168779"/>
                  <a:pt x="1027200" y="175909"/>
                  <a:pt x="1045749" y="47572"/>
                </a:cubicBezTo>
                <a:cubicBezTo>
                  <a:pt x="1048840" y="11924"/>
                  <a:pt x="1039566" y="4795"/>
                  <a:pt x="1172509" y="11924"/>
                </a:cubicBezTo>
                <a:cubicBezTo>
                  <a:pt x="1198789" y="13707"/>
                  <a:pt x="1228933" y="14598"/>
                  <a:pt x="1257531" y="7914"/>
                </a:cubicBezTo>
                <a:close/>
              </a:path>
            </a:pathLst>
          </a:custGeom>
          <a:solidFill>
            <a:srgbClr val="E78129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89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269BDC9-F5DC-4A16-9583-2F8CE41846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EE8FA-DE4B-4875-BC9A-882B986EB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43" y="1095765"/>
            <a:ext cx="10427866" cy="466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9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269BDC9-F5DC-4A16-9583-2F8CE41846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72C0DB-7B40-4DAD-B0A2-659858DE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619250"/>
            <a:ext cx="110109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3387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RegularSeedLeftStep">
      <a:dk1>
        <a:srgbClr val="000000"/>
      </a:dk1>
      <a:lt1>
        <a:srgbClr val="FFFFFF"/>
      </a:lt1>
      <a:dk2>
        <a:srgbClr val="301B2D"/>
      </a:dk2>
      <a:lt2>
        <a:srgbClr val="F0F2F3"/>
      </a:lt2>
      <a:accent1>
        <a:srgbClr val="E78129"/>
      </a:accent1>
      <a:accent2>
        <a:srgbClr val="D52117"/>
      </a:accent2>
      <a:accent3>
        <a:srgbClr val="E7296F"/>
      </a:accent3>
      <a:accent4>
        <a:srgbClr val="D517AC"/>
      </a:accent4>
      <a:accent5>
        <a:srgbClr val="C129E7"/>
      </a:accent5>
      <a:accent6>
        <a:srgbClr val="621BD6"/>
      </a:accent6>
      <a:hlink>
        <a:srgbClr val="3F83BF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605</Words>
  <Application>Microsoft Office PowerPoint</Application>
  <PresentationFormat>Widescreen</PresentationFormat>
  <Paragraphs>74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Elephant</vt:lpstr>
      <vt:lpstr>BrushVTI</vt:lpstr>
      <vt:lpstr>Planning and conducting psychological research</vt:lpstr>
      <vt:lpstr>Goals of Psychological Research</vt:lpstr>
      <vt:lpstr>Establishing causation</vt:lpstr>
      <vt:lpstr>Influence of experimenter expectations</vt:lpstr>
      <vt:lpstr>Reducing bias</vt:lpstr>
      <vt:lpstr>Safeguarding rights</vt:lpstr>
      <vt:lpstr>Informed consent</vt:lpstr>
      <vt:lpstr>Informed consent</vt:lpstr>
      <vt:lpstr>Opinions</vt:lpstr>
      <vt:lpstr>Checklist for informed consent</vt:lpstr>
      <vt:lpstr>Values for research with Aboriginal and Torres Strait Islander people</vt:lpstr>
      <vt:lpstr>Australian Psychological Society code of ethics</vt:lpstr>
      <vt:lpstr>Null Hypothesis</vt:lpstr>
      <vt:lpstr>Other terminology</vt:lpstr>
      <vt:lpstr>Longitudinal – sequential design</vt:lpstr>
      <vt:lpstr>Reasons to use non-experimental (descriptive) research methods</vt:lpstr>
      <vt:lpstr>PowerPoint Presentation</vt:lpstr>
      <vt:lpstr>PowerPoint Presentation</vt:lpstr>
      <vt:lpstr>Archives - types</vt:lpstr>
      <vt:lpstr>Behavioural Variables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and conducting psychological research</dc:title>
  <dc:creator>Natalie Edwards</dc:creator>
  <cp:lastModifiedBy>EDWARDS Natalie [Narrogin Senior High School]</cp:lastModifiedBy>
  <cp:revision>3</cp:revision>
  <dcterms:created xsi:type="dcterms:W3CDTF">2020-11-07T07:44:02Z</dcterms:created>
  <dcterms:modified xsi:type="dcterms:W3CDTF">2021-11-11T03:44:47Z</dcterms:modified>
</cp:coreProperties>
</file>
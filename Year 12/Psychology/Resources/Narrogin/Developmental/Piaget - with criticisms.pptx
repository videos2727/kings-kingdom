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 id="273"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76" d="100"/>
          <a:sy n="76" d="100"/>
        </p:scale>
        <p:origin x="126" y="7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AFB887-C8E3-4CBA-A12B-10546A92B3DD}" type="datetimeFigureOut">
              <a:rPr lang="en-AU" smtClean="0"/>
              <a:t>26/05/2021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BF31F5-F20D-4F99-9424-49D99B486EC2}" type="slidenum">
              <a:rPr lang="en-AU" smtClean="0"/>
              <a:t>‹#›</a:t>
            </a:fld>
            <a:endParaRPr lang="en-AU"/>
          </a:p>
        </p:txBody>
      </p:sp>
    </p:spTree>
    <p:extLst>
      <p:ext uri="{BB962C8B-B14F-4D97-AF65-F5344CB8AC3E}">
        <p14:creationId xmlns:p14="http://schemas.microsoft.com/office/powerpoint/2010/main" val="1172390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ＭＳ Ｐゴシック" panose="020B0600070205080204" pitchFamily="34" charset="-128"/>
              </a:defRPr>
            </a:lvl1pPr>
            <a:lvl2pPr marL="37931725" indent="-37474525">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fld id="{79B90BC9-4EB6-40E5-90B9-EDEC57591951}" type="slidenum">
              <a:rPr lang="en-US" altLang="en-US" sz="1200" smtClean="0"/>
              <a:pPr/>
              <a:t>2</a:t>
            </a:fld>
            <a:endParaRPr lang="en-US" altLang="en-US" sz="1200" smtClean="0"/>
          </a:p>
        </p:txBody>
      </p:sp>
      <p:sp>
        <p:nvSpPr>
          <p:cNvPr id="35843" name="Rectangle 2"/>
          <p:cNvSpPr>
            <a:spLocks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en-US" sz="1600" smtClean="0">
              <a:solidFill>
                <a:srgbClr val="000000"/>
              </a:solidFill>
              <a:latin typeface="Stone Sans ITC TT-Semi" pitchFamily="1" charset="0"/>
              <a:ea typeface="ＭＳ Ｐゴシック" panose="020B0600070205080204" pitchFamily="34" charset="-128"/>
            </a:endParaRPr>
          </a:p>
        </p:txBody>
      </p:sp>
    </p:spTree>
    <p:extLst>
      <p:ext uri="{BB962C8B-B14F-4D97-AF65-F5344CB8AC3E}">
        <p14:creationId xmlns:p14="http://schemas.microsoft.com/office/powerpoint/2010/main" val="2101592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332EC235-7020-4661-A740-8AE0477AB238}" type="datetimeFigureOut">
              <a:rPr lang="en-AU" smtClean="0"/>
              <a:t>26/05/2021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4D6F30D-E62C-4DD1-A041-9D3DAFBC173D}" type="slidenum">
              <a:rPr lang="en-AU" smtClean="0"/>
              <a:t>‹#›</a:t>
            </a:fld>
            <a:endParaRPr lang="en-AU"/>
          </a:p>
        </p:txBody>
      </p:sp>
    </p:spTree>
    <p:extLst>
      <p:ext uri="{BB962C8B-B14F-4D97-AF65-F5344CB8AC3E}">
        <p14:creationId xmlns:p14="http://schemas.microsoft.com/office/powerpoint/2010/main" val="1839658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32EC235-7020-4661-A740-8AE0477AB238}" type="datetimeFigureOut">
              <a:rPr lang="en-AU" smtClean="0"/>
              <a:t>26/05/2021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4D6F30D-E62C-4DD1-A041-9D3DAFBC173D}" type="slidenum">
              <a:rPr lang="en-AU" smtClean="0"/>
              <a:t>‹#›</a:t>
            </a:fld>
            <a:endParaRPr lang="en-AU"/>
          </a:p>
        </p:txBody>
      </p:sp>
    </p:spTree>
    <p:extLst>
      <p:ext uri="{BB962C8B-B14F-4D97-AF65-F5344CB8AC3E}">
        <p14:creationId xmlns:p14="http://schemas.microsoft.com/office/powerpoint/2010/main" val="3164171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32EC235-7020-4661-A740-8AE0477AB238}" type="datetimeFigureOut">
              <a:rPr lang="en-AU" smtClean="0"/>
              <a:t>26/05/2021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4D6F30D-E62C-4DD1-A041-9D3DAFBC173D}" type="slidenum">
              <a:rPr lang="en-AU" smtClean="0"/>
              <a:t>‹#›</a:t>
            </a:fld>
            <a:endParaRPr lang="en-AU"/>
          </a:p>
        </p:txBody>
      </p:sp>
    </p:spTree>
    <p:extLst>
      <p:ext uri="{BB962C8B-B14F-4D97-AF65-F5344CB8AC3E}">
        <p14:creationId xmlns:p14="http://schemas.microsoft.com/office/powerpoint/2010/main" val="587940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332EC235-7020-4661-A740-8AE0477AB238}" type="datetimeFigureOut">
              <a:rPr lang="en-AU" smtClean="0"/>
              <a:t>26/05/2021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4D6F30D-E62C-4DD1-A041-9D3DAFBC173D}" type="slidenum">
              <a:rPr lang="en-AU" smtClean="0"/>
              <a:t>‹#›</a:t>
            </a:fld>
            <a:endParaRPr lang="en-AU"/>
          </a:p>
        </p:txBody>
      </p:sp>
    </p:spTree>
    <p:extLst>
      <p:ext uri="{BB962C8B-B14F-4D97-AF65-F5344CB8AC3E}">
        <p14:creationId xmlns:p14="http://schemas.microsoft.com/office/powerpoint/2010/main" val="4029004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332EC235-7020-4661-A740-8AE0477AB238}" type="datetimeFigureOut">
              <a:rPr lang="en-AU" smtClean="0"/>
              <a:t>26/05/2021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4D6F30D-E62C-4DD1-A041-9D3DAFBC173D}" type="slidenum">
              <a:rPr lang="en-AU" smtClean="0"/>
              <a:t>‹#›</a:t>
            </a:fld>
            <a:endParaRPr lang="en-AU"/>
          </a:p>
        </p:txBody>
      </p:sp>
    </p:spTree>
    <p:extLst>
      <p:ext uri="{BB962C8B-B14F-4D97-AF65-F5344CB8AC3E}">
        <p14:creationId xmlns:p14="http://schemas.microsoft.com/office/powerpoint/2010/main" val="683938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332EC235-7020-4661-A740-8AE0477AB238}" type="datetimeFigureOut">
              <a:rPr lang="en-AU" smtClean="0"/>
              <a:t>26/05/2021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4D6F30D-E62C-4DD1-A041-9D3DAFBC173D}" type="slidenum">
              <a:rPr lang="en-AU" smtClean="0"/>
              <a:t>‹#›</a:t>
            </a:fld>
            <a:endParaRPr lang="en-AU"/>
          </a:p>
        </p:txBody>
      </p:sp>
    </p:spTree>
    <p:extLst>
      <p:ext uri="{BB962C8B-B14F-4D97-AF65-F5344CB8AC3E}">
        <p14:creationId xmlns:p14="http://schemas.microsoft.com/office/powerpoint/2010/main" val="1223828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2EC235-7020-4661-A740-8AE0477AB238}" type="datetimeFigureOut">
              <a:rPr lang="en-AU" smtClean="0"/>
              <a:t>26/05/2021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4D6F30D-E62C-4DD1-A041-9D3DAFBC173D}" type="slidenum">
              <a:rPr lang="en-AU" smtClean="0"/>
              <a:t>‹#›</a:t>
            </a:fld>
            <a:endParaRPr lang="en-AU"/>
          </a:p>
        </p:txBody>
      </p:sp>
    </p:spTree>
    <p:extLst>
      <p:ext uri="{BB962C8B-B14F-4D97-AF65-F5344CB8AC3E}">
        <p14:creationId xmlns:p14="http://schemas.microsoft.com/office/powerpoint/2010/main" val="4177583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32EC235-7020-4661-A740-8AE0477AB238}" type="datetimeFigureOut">
              <a:rPr lang="en-AU" smtClean="0"/>
              <a:t>26/05/2021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4D6F30D-E62C-4DD1-A041-9D3DAFBC173D}" type="slidenum">
              <a:rPr lang="en-AU" smtClean="0"/>
              <a:t>‹#›</a:t>
            </a:fld>
            <a:endParaRPr lang="en-AU"/>
          </a:p>
        </p:txBody>
      </p:sp>
    </p:spTree>
    <p:extLst>
      <p:ext uri="{BB962C8B-B14F-4D97-AF65-F5344CB8AC3E}">
        <p14:creationId xmlns:p14="http://schemas.microsoft.com/office/powerpoint/2010/main" val="3350592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32EC235-7020-4661-A740-8AE0477AB238}" type="datetimeFigureOut">
              <a:rPr lang="en-AU" smtClean="0"/>
              <a:t>26/05/2021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4D6F30D-E62C-4DD1-A041-9D3DAFBC173D}" type="slidenum">
              <a:rPr lang="en-AU" smtClean="0"/>
              <a:t>‹#›</a:t>
            </a:fld>
            <a:endParaRPr lang="en-AU"/>
          </a:p>
        </p:txBody>
      </p:sp>
    </p:spTree>
    <p:extLst>
      <p:ext uri="{BB962C8B-B14F-4D97-AF65-F5344CB8AC3E}">
        <p14:creationId xmlns:p14="http://schemas.microsoft.com/office/powerpoint/2010/main" val="2883030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32EC235-7020-4661-A740-8AE0477AB238}" type="datetimeFigureOut">
              <a:rPr lang="en-AU" smtClean="0"/>
              <a:t>26/05/2021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4D6F30D-E62C-4DD1-A041-9D3DAFBC173D}" type="slidenum">
              <a:rPr lang="en-AU" smtClean="0"/>
              <a:t>‹#›</a:t>
            </a:fld>
            <a:endParaRPr lang="en-AU"/>
          </a:p>
        </p:txBody>
      </p:sp>
    </p:spTree>
    <p:extLst>
      <p:ext uri="{BB962C8B-B14F-4D97-AF65-F5344CB8AC3E}">
        <p14:creationId xmlns:p14="http://schemas.microsoft.com/office/powerpoint/2010/main" val="2458749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32EC235-7020-4661-A740-8AE0477AB238}" type="datetimeFigureOut">
              <a:rPr lang="en-AU" smtClean="0"/>
              <a:t>26/05/2021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4D6F30D-E62C-4DD1-A041-9D3DAFBC173D}" type="slidenum">
              <a:rPr lang="en-AU" smtClean="0"/>
              <a:t>‹#›</a:t>
            </a:fld>
            <a:endParaRPr lang="en-AU"/>
          </a:p>
        </p:txBody>
      </p:sp>
    </p:spTree>
    <p:extLst>
      <p:ext uri="{BB962C8B-B14F-4D97-AF65-F5344CB8AC3E}">
        <p14:creationId xmlns:p14="http://schemas.microsoft.com/office/powerpoint/2010/main" val="4007968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0"/>
            <a:ext cx="109728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981200"/>
            <a:ext cx="53848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197600" y="1981200"/>
            <a:ext cx="53848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3"/>
          <p:cNvSpPr>
            <a:spLocks noGrp="1" noChangeArrowheads="1"/>
          </p:cNvSpPr>
          <p:nvPr>
            <p:ph type="sldNum" sz="quarter" idx="11"/>
          </p:nvPr>
        </p:nvSpPr>
        <p:spPr>
          <a:ln/>
        </p:spPr>
        <p:txBody>
          <a:bodyPr/>
          <a:lstStyle>
            <a:lvl1pPr>
              <a:defRPr/>
            </a:lvl1pPr>
          </a:lstStyle>
          <a:p>
            <a:pPr>
              <a:defRPr/>
            </a:pPr>
            <a:fld id="{95C304FF-B710-4BF3-B43E-9BC8D905090B}" type="slidenum">
              <a:rPr lang="en-US" altLang="en-US"/>
              <a:pPr>
                <a:defRPr/>
              </a:pPr>
              <a:t>‹#›</a:t>
            </a:fld>
            <a:endParaRPr lang="en-US" alt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1852016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2EC235-7020-4661-A740-8AE0477AB238}" type="datetimeFigureOut">
              <a:rPr lang="en-AU" smtClean="0"/>
              <a:t>26/05/2021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D6F30D-E62C-4DD1-A041-9D3DAFBC173D}" type="slidenum">
              <a:rPr lang="en-AU" smtClean="0"/>
              <a:t>‹#›</a:t>
            </a:fld>
            <a:endParaRPr lang="en-AU"/>
          </a:p>
        </p:txBody>
      </p:sp>
    </p:spTree>
    <p:extLst>
      <p:ext uri="{BB962C8B-B14F-4D97-AF65-F5344CB8AC3E}">
        <p14:creationId xmlns:p14="http://schemas.microsoft.com/office/powerpoint/2010/main" val="14592038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Stage Theories of Psychology - Piaget</a:t>
            </a:r>
            <a:endParaRPr lang="en-AU" dirty="0"/>
          </a:p>
        </p:txBody>
      </p:sp>
      <p:sp>
        <p:nvSpPr>
          <p:cNvPr id="3" name="Subtitle 2"/>
          <p:cNvSpPr>
            <a:spLocks noGrp="1"/>
          </p:cNvSpPr>
          <p:nvPr>
            <p:ph type="subTitle" idx="1"/>
          </p:nvPr>
        </p:nvSpPr>
        <p:spPr/>
        <p:txBody>
          <a:bodyPr/>
          <a:lstStyle/>
          <a:p>
            <a:pPr algn="l"/>
            <a:endParaRPr lang="en-AU" dirty="0"/>
          </a:p>
        </p:txBody>
      </p:sp>
    </p:spTree>
    <p:extLst>
      <p:ext uri="{BB962C8B-B14F-4D97-AF65-F5344CB8AC3E}">
        <p14:creationId xmlns:p14="http://schemas.microsoft.com/office/powerpoint/2010/main" val="2244071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en-US" smtClean="0">
                <a:ea typeface="ＭＳ Ｐゴシック" panose="020B0600070205080204" pitchFamily="34" charset="-128"/>
              </a:rPr>
              <a:t>Jean Piaget</a:t>
            </a:r>
          </a:p>
        </p:txBody>
      </p:sp>
      <p:sp>
        <p:nvSpPr>
          <p:cNvPr id="34819" name="Rectangle 4"/>
          <p:cNvSpPr>
            <a:spLocks noGrp="1" noChangeArrowheads="1"/>
          </p:cNvSpPr>
          <p:nvPr>
            <p:ph type="body" sz="half" idx="2"/>
          </p:nvPr>
        </p:nvSpPr>
        <p:spPr>
          <a:xfrm>
            <a:off x="5410200" y="609600"/>
            <a:ext cx="5257800" cy="5638800"/>
          </a:xfrm>
        </p:spPr>
        <p:txBody>
          <a:bodyPr/>
          <a:lstStyle/>
          <a:p>
            <a:pPr algn="ctr" eaLnBrk="1" hangingPunct="1">
              <a:lnSpc>
                <a:spcPct val="90000"/>
              </a:lnSpc>
              <a:buFont typeface="Wingdings" panose="05000000000000000000" pitchFamily="2" charset="2"/>
              <a:buNone/>
            </a:pPr>
            <a:r>
              <a:rPr lang="en-US" altLang="en-US" sz="3400" b="1">
                <a:solidFill>
                  <a:srgbClr val="000000"/>
                </a:solidFill>
                <a:latin typeface="Stone Sans ITC TT-Semi" pitchFamily="1" charset="0"/>
                <a:ea typeface="ＭＳ Ｐゴシック" panose="020B0600070205080204" pitchFamily="34" charset="-128"/>
              </a:rPr>
              <a:t>Cognitive development theory</a:t>
            </a:r>
            <a:endParaRPr lang="en-US" altLang="en-US" sz="2600">
              <a:solidFill>
                <a:srgbClr val="000000"/>
              </a:solidFill>
              <a:latin typeface="Stone Sans ITC TT-Semi" pitchFamily="1" charset="0"/>
              <a:ea typeface="ＭＳ Ｐゴシック" panose="020B0600070205080204" pitchFamily="34" charset="-128"/>
            </a:endParaRPr>
          </a:p>
          <a:p>
            <a:pPr eaLnBrk="1" hangingPunct="1">
              <a:lnSpc>
                <a:spcPct val="90000"/>
              </a:lnSpc>
            </a:pPr>
            <a:r>
              <a:rPr lang="en-US" altLang="en-US" sz="2400">
                <a:solidFill>
                  <a:srgbClr val="000000"/>
                </a:solidFill>
                <a:latin typeface="Stone Sans ITC TT-Semi" pitchFamily="1" charset="0"/>
                <a:ea typeface="ＭＳ Ｐゴシック" panose="020B0600070205080204" pitchFamily="34" charset="-128"/>
              </a:rPr>
              <a:t>Children "construct" their understanding of the world </a:t>
            </a:r>
            <a:r>
              <a:rPr lang="en-US" altLang="en-US" sz="2400">
                <a:latin typeface="Stone Sans ITC TT-Semi" pitchFamily="1" charset="0"/>
                <a:ea typeface="ＭＳ Ｐゴシック" panose="020B0600070205080204" pitchFamily="34" charset="-128"/>
              </a:rPr>
              <a:t>through their active involvement and interactions.</a:t>
            </a:r>
          </a:p>
          <a:p>
            <a:pPr eaLnBrk="1" hangingPunct="1">
              <a:lnSpc>
                <a:spcPct val="90000"/>
              </a:lnSpc>
            </a:pPr>
            <a:r>
              <a:rPr lang="en-US" altLang="en-US" sz="2400">
                <a:solidFill>
                  <a:srgbClr val="000000"/>
                </a:solidFill>
                <a:latin typeface="Stone Sans ITC TT-Semi" pitchFamily="1" charset="0"/>
                <a:ea typeface="ＭＳ Ｐゴシック" panose="020B0600070205080204" pitchFamily="34" charset="-128"/>
              </a:rPr>
              <a:t>Studied his 3 children to focus not on what they knew but how they knew it.</a:t>
            </a:r>
          </a:p>
          <a:p>
            <a:pPr eaLnBrk="1" hangingPunct="1">
              <a:lnSpc>
                <a:spcPct val="90000"/>
              </a:lnSpc>
            </a:pPr>
            <a:r>
              <a:rPr lang="en-US" altLang="en-US" sz="2400">
                <a:solidFill>
                  <a:srgbClr val="000000"/>
                </a:solidFill>
                <a:latin typeface="Stone Sans ITC TT-Semi" pitchFamily="1" charset="0"/>
                <a:ea typeface="ＭＳ Ｐゴシック" panose="020B0600070205080204" pitchFamily="34" charset="-128"/>
              </a:rPr>
              <a:t>Described children's understanding as their "schemas” and how they use:</a:t>
            </a:r>
          </a:p>
          <a:p>
            <a:pPr lvl="1" eaLnBrk="1" hangingPunct="1">
              <a:lnSpc>
                <a:spcPct val="90000"/>
              </a:lnSpc>
            </a:pPr>
            <a:r>
              <a:rPr lang="en-US" altLang="en-US">
                <a:solidFill>
                  <a:srgbClr val="000000"/>
                </a:solidFill>
                <a:latin typeface="Stone Sans ITC TT-Semi" pitchFamily="1" charset="0"/>
                <a:ea typeface="ＭＳ Ｐゴシック" panose="020B0600070205080204" pitchFamily="34" charset="-128"/>
              </a:rPr>
              <a:t>assimilation </a:t>
            </a:r>
          </a:p>
          <a:p>
            <a:pPr lvl="1" eaLnBrk="1" hangingPunct="1">
              <a:lnSpc>
                <a:spcPct val="90000"/>
              </a:lnSpc>
            </a:pPr>
            <a:r>
              <a:rPr lang="en-US" altLang="en-US">
                <a:solidFill>
                  <a:srgbClr val="000000"/>
                </a:solidFill>
                <a:latin typeface="Stone Sans ITC TT-Semi" pitchFamily="1" charset="0"/>
                <a:ea typeface="ＭＳ Ｐゴシック" panose="020B0600070205080204" pitchFamily="34" charset="-128"/>
              </a:rPr>
              <a:t>accommodation.</a:t>
            </a:r>
            <a:endParaRPr lang="en-US" altLang="en-US" sz="1500">
              <a:solidFill>
                <a:srgbClr val="000000"/>
              </a:solidFill>
              <a:latin typeface="Stone Sans ITC TT-Semi" pitchFamily="1" charset="0"/>
              <a:ea typeface="ＭＳ Ｐゴシック" panose="020B0600070205080204" pitchFamily="34" charset="-128"/>
            </a:endParaRPr>
          </a:p>
          <a:p>
            <a:pPr lvl="1" eaLnBrk="1" hangingPunct="1">
              <a:lnSpc>
                <a:spcPct val="90000"/>
              </a:lnSpc>
            </a:pPr>
            <a:endParaRPr lang="en-US" altLang="en-US" sz="1800">
              <a:solidFill>
                <a:srgbClr val="000000"/>
              </a:solidFill>
              <a:latin typeface="Stone Sans ITC TT-Semi" pitchFamily="1" charset="0"/>
              <a:ea typeface="ＭＳ Ｐゴシック" panose="020B0600070205080204" pitchFamily="34" charset="-128"/>
            </a:endParaRPr>
          </a:p>
        </p:txBody>
      </p:sp>
      <p:pic>
        <p:nvPicPr>
          <p:cNvPr id="34820" name="Picture 9"/>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2362201" y="1905000"/>
            <a:ext cx="2892425" cy="3886200"/>
          </a:xfrm>
        </p:spPr>
      </p:pic>
    </p:spTree>
    <p:extLst>
      <p:ext uri="{BB962C8B-B14F-4D97-AF65-F5344CB8AC3E}">
        <p14:creationId xmlns:p14="http://schemas.microsoft.com/office/powerpoint/2010/main" val="301005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en-US" smtClean="0">
                <a:ea typeface="ＭＳ Ｐゴシック" panose="020B0600070205080204" pitchFamily="34" charset="-128"/>
              </a:rPr>
              <a:t>Piaget’s Theory of </a:t>
            </a:r>
            <a:br>
              <a:rPr lang="en-US" altLang="en-US" smtClean="0">
                <a:ea typeface="ＭＳ Ｐゴシック" panose="020B0600070205080204" pitchFamily="34" charset="-128"/>
              </a:rPr>
            </a:br>
            <a:r>
              <a:rPr lang="en-US" altLang="en-US" smtClean="0">
                <a:ea typeface="ＭＳ Ｐゴシック" panose="020B0600070205080204" pitchFamily="34" charset="-128"/>
              </a:rPr>
              <a:t>Cognitive Development </a:t>
            </a:r>
          </a:p>
        </p:txBody>
      </p:sp>
      <p:sp>
        <p:nvSpPr>
          <p:cNvPr id="36867" name="Rectangle 3"/>
          <p:cNvSpPr>
            <a:spLocks noGrp="1" noChangeArrowheads="1"/>
          </p:cNvSpPr>
          <p:nvPr>
            <p:ph type="body" idx="1"/>
          </p:nvPr>
        </p:nvSpPr>
        <p:spPr>
          <a:xfrm>
            <a:off x="2117725" y="1947864"/>
            <a:ext cx="8305800" cy="3538537"/>
          </a:xfrm>
        </p:spPr>
        <p:txBody>
          <a:bodyPr/>
          <a:lstStyle/>
          <a:p>
            <a:pPr eaLnBrk="1" hangingPunct="1"/>
            <a:r>
              <a:rPr lang="en-US" altLang="en-US">
                <a:ea typeface="ＭＳ Ｐゴシック" panose="020B0600070205080204" pitchFamily="34" charset="-128"/>
              </a:rPr>
              <a:t>Piaget did not conduct formal experiments, but rather loosely structured interviews in which he posed problems for children to solve, observed their actions carefully, and questioned them about their solutions</a:t>
            </a:r>
          </a:p>
          <a:p>
            <a:pPr lvl="1" eaLnBrk="1" hangingPunct="1"/>
            <a:r>
              <a:rPr lang="en-US" altLang="en-US" sz="2500">
                <a:ea typeface="ＭＳ Ｐゴシック" panose="020B0600070205080204" pitchFamily="34" charset="-128"/>
              </a:rPr>
              <a:t>Was particularly interested in children’s error, which would provide insights into children’s thought processes</a:t>
            </a:r>
          </a:p>
          <a:p>
            <a:pPr lvl="1" eaLnBrk="1" hangingPunct="1"/>
            <a:r>
              <a:rPr lang="en-US" altLang="en-US" sz="2500">
                <a:ea typeface="ＭＳ Ｐゴシック" panose="020B0600070205080204" pitchFamily="34" charset="-128"/>
              </a:rPr>
              <a:t>Assumed that a child is an active </a:t>
            </a:r>
            <a:br>
              <a:rPr lang="en-US" altLang="en-US" sz="2500">
                <a:ea typeface="ＭＳ Ｐゴシック" panose="020B0600070205080204" pitchFamily="34" charset="-128"/>
              </a:rPr>
            </a:br>
            <a:r>
              <a:rPr lang="en-US" altLang="en-US" sz="2500">
                <a:ea typeface="ＭＳ Ｐゴシック" panose="020B0600070205080204" pitchFamily="34" charset="-128"/>
              </a:rPr>
              <a:t>seeker of knowledge and gains an understanding of the world by operating on it </a:t>
            </a:r>
          </a:p>
        </p:txBody>
      </p:sp>
    </p:spTree>
    <p:extLst>
      <p:ext uri="{BB962C8B-B14F-4D97-AF65-F5344CB8AC3E}">
        <p14:creationId xmlns:p14="http://schemas.microsoft.com/office/powerpoint/2010/main" val="5823132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981200" y="457200"/>
            <a:ext cx="7543800" cy="808038"/>
          </a:xfrm>
        </p:spPr>
        <p:txBody>
          <a:bodyPr/>
          <a:lstStyle/>
          <a:p>
            <a:pPr eaLnBrk="1" hangingPunct="1"/>
            <a:r>
              <a:rPr lang="en-US" altLang="en-US" smtClean="0">
                <a:ea typeface="ＭＳ Ｐゴシック" panose="020B0600070205080204" pitchFamily="34" charset="-128"/>
              </a:rPr>
              <a:t>Schemas</a:t>
            </a:r>
          </a:p>
        </p:txBody>
      </p:sp>
      <p:sp>
        <p:nvSpPr>
          <p:cNvPr id="37891" name="Rectangle 3"/>
          <p:cNvSpPr>
            <a:spLocks noGrp="1" noChangeArrowheads="1"/>
          </p:cNvSpPr>
          <p:nvPr>
            <p:ph type="body" idx="1"/>
          </p:nvPr>
        </p:nvSpPr>
        <p:spPr>
          <a:xfrm>
            <a:off x="2127251" y="1476375"/>
            <a:ext cx="7229475" cy="3995738"/>
          </a:xfrm>
        </p:spPr>
        <p:txBody>
          <a:bodyPr>
            <a:normAutofit fontScale="92500" lnSpcReduction="20000"/>
          </a:bodyPr>
          <a:lstStyle/>
          <a:p>
            <a:pPr defTabSz="1208088"/>
            <a:r>
              <a:rPr lang="en-US" altLang="en-US">
                <a:ea typeface="ＭＳ Ｐゴシック" panose="020B0600070205080204" pitchFamily="34" charset="-128"/>
              </a:rPr>
              <a:t>Organized units of knowledge about objects, events, and actions</a:t>
            </a:r>
          </a:p>
          <a:p>
            <a:pPr defTabSz="1208088"/>
            <a:r>
              <a:rPr lang="en-US" altLang="en-US">
                <a:ea typeface="ＭＳ Ｐゴシック" panose="020B0600070205080204" pitchFamily="34" charset="-128"/>
              </a:rPr>
              <a:t>Cognitive adaptation </a:t>
            </a:r>
          </a:p>
          <a:p>
            <a:pPr defTabSz="1208088"/>
            <a:r>
              <a:rPr lang="en-US" altLang="en-US">
                <a:ea typeface="ＭＳ Ｐゴシック" panose="020B0600070205080204" pitchFamily="34" charset="-128"/>
              </a:rPr>
              <a:t>involves two processes</a:t>
            </a:r>
          </a:p>
          <a:p>
            <a:pPr marL="804863" lvl="1" defTabSz="1208088"/>
            <a:r>
              <a:rPr lang="en-US" altLang="en-US" b="1">
                <a:solidFill>
                  <a:schemeClr val="accent2"/>
                </a:solidFill>
                <a:ea typeface="ＭＳ Ｐゴシック" panose="020B0600070205080204" pitchFamily="34" charset="-128"/>
              </a:rPr>
              <a:t>Assimilation</a:t>
            </a:r>
            <a:r>
              <a:rPr lang="en-US" altLang="en-US">
                <a:ea typeface="ＭＳ Ｐゴシック" panose="020B0600070205080204" pitchFamily="34" charset="-128"/>
              </a:rPr>
              <a:t> is the </a:t>
            </a:r>
            <a:br>
              <a:rPr lang="en-US" altLang="en-US">
                <a:ea typeface="ＭＳ Ｐゴシック" panose="020B0600070205080204" pitchFamily="34" charset="-128"/>
              </a:rPr>
            </a:br>
            <a:r>
              <a:rPr lang="en-US" altLang="en-US">
                <a:ea typeface="ＭＳ Ｐゴシック" panose="020B0600070205080204" pitchFamily="34" charset="-128"/>
              </a:rPr>
              <a:t>interpretation of new </a:t>
            </a:r>
          </a:p>
          <a:p>
            <a:pPr marL="804863" lvl="1" defTabSz="1208088"/>
            <a:r>
              <a:rPr lang="en-US" altLang="en-US">
                <a:ea typeface="ＭＳ Ｐゴシック" panose="020B0600070205080204" pitchFamily="34" charset="-128"/>
              </a:rPr>
              <a:t>experiences in terms of </a:t>
            </a:r>
            <a:br>
              <a:rPr lang="en-US" altLang="en-US">
                <a:ea typeface="ＭＳ Ｐゴシック" panose="020B0600070205080204" pitchFamily="34" charset="-128"/>
              </a:rPr>
            </a:br>
            <a:r>
              <a:rPr lang="en-US" altLang="en-US">
                <a:ea typeface="ＭＳ Ｐゴシック" panose="020B0600070205080204" pitchFamily="34" charset="-128"/>
              </a:rPr>
              <a:t>present schemes</a:t>
            </a:r>
          </a:p>
          <a:p>
            <a:pPr marL="804863" lvl="1" defTabSz="1208088"/>
            <a:r>
              <a:rPr lang="en-US" altLang="en-US" b="1">
                <a:solidFill>
                  <a:schemeClr val="accent2"/>
                </a:solidFill>
                <a:ea typeface="ＭＳ Ｐゴシック" panose="020B0600070205080204" pitchFamily="34" charset="-128"/>
              </a:rPr>
              <a:t>Accommodation</a:t>
            </a:r>
            <a:r>
              <a:rPr lang="en-US" altLang="en-US">
                <a:ea typeface="ＭＳ Ｐゴシック" panose="020B0600070205080204" pitchFamily="34" charset="-128"/>
              </a:rPr>
              <a:t> is the </a:t>
            </a:r>
          </a:p>
          <a:p>
            <a:pPr marL="804863" lvl="1" defTabSz="1208088"/>
            <a:r>
              <a:rPr lang="en-US" altLang="en-US">
                <a:ea typeface="ＭＳ Ｐゴシック" panose="020B0600070205080204" pitchFamily="34" charset="-128"/>
              </a:rPr>
              <a:t>modification of present </a:t>
            </a:r>
            <a:br>
              <a:rPr lang="en-US" altLang="en-US">
                <a:ea typeface="ＭＳ Ｐゴシック" panose="020B0600070205080204" pitchFamily="34" charset="-128"/>
              </a:rPr>
            </a:br>
            <a:r>
              <a:rPr lang="en-US" altLang="en-US">
                <a:ea typeface="ＭＳ Ｐゴシック" panose="020B0600070205080204" pitchFamily="34" charset="-128"/>
              </a:rPr>
              <a:t>schemes to fit with new </a:t>
            </a:r>
            <a:br>
              <a:rPr lang="en-US" altLang="en-US">
                <a:ea typeface="ＭＳ Ｐゴシック" panose="020B0600070205080204" pitchFamily="34" charset="-128"/>
              </a:rPr>
            </a:br>
            <a:r>
              <a:rPr lang="en-US" altLang="en-US">
                <a:ea typeface="ＭＳ Ｐゴシック" panose="020B0600070205080204" pitchFamily="34" charset="-128"/>
              </a:rPr>
              <a:t>experiences</a:t>
            </a:r>
          </a:p>
        </p:txBody>
      </p:sp>
      <p:pic>
        <p:nvPicPr>
          <p:cNvPr id="37892" name="Picture 5" descr="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3048000"/>
            <a:ext cx="3378200" cy="351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66093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en-US" smtClean="0">
                <a:ea typeface="ＭＳ Ｐゴシック" panose="020B0600070205080204" pitchFamily="34" charset="-128"/>
              </a:rPr>
              <a:t>Schemas</a:t>
            </a:r>
          </a:p>
        </p:txBody>
      </p:sp>
      <p:sp>
        <p:nvSpPr>
          <p:cNvPr id="38915" name="Rectangle 3"/>
          <p:cNvSpPr>
            <a:spLocks noGrp="1" noChangeArrowheads="1"/>
          </p:cNvSpPr>
          <p:nvPr>
            <p:ph type="body" idx="1"/>
          </p:nvPr>
        </p:nvSpPr>
        <p:spPr>
          <a:xfrm>
            <a:off x="3124200" y="1719264"/>
            <a:ext cx="7315200" cy="5138737"/>
          </a:xfrm>
        </p:spPr>
        <p:txBody>
          <a:bodyPr/>
          <a:lstStyle/>
          <a:p>
            <a:pPr eaLnBrk="1" hangingPunct="1"/>
            <a:r>
              <a:rPr lang="en-US" altLang="en-US">
                <a:ea typeface="ＭＳ Ｐゴシック" panose="020B0600070205080204" pitchFamily="34" charset="-128"/>
              </a:rPr>
              <a:t>For example, a child may call all four-legged creatures “doggie”</a:t>
            </a:r>
          </a:p>
          <a:p>
            <a:pPr lvl="1" eaLnBrk="1" hangingPunct="1"/>
            <a:r>
              <a:rPr lang="en-US" altLang="en-US">
                <a:ea typeface="ＭＳ Ｐゴシック" panose="020B0600070205080204" pitchFamily="34" charset="-128"/>
              </a:rPr>
              <a:t>The child learns he needs to accommodate (i.e., change) his schemes, as only one type of four-legged creature is “dog”</a:t>
            </a:r>
          </a:p>
          <a:p>
            <a:pPr lvl="1" eaLnBrk="1" hangingPunct="1"/>
            <a:r>
              <a:rPr lang="en-US" altLang="en-US">
                <a:ea typeface="ＭＳ Ｐゴシック" panose="020B0600070205080204" pitchFamily="34" charset="-128"/>
              </a:rPr>
              <a:t>It is through accommodation that the number and complexity of a child’s schemes increase and learning </a:t>
            </a:r>
            <a:br>
              <a:rPr lang="en-US" altLang="en-US">
                <a:ea typeface="ＭＳ Ｐゴシック" panose="020B0600070205080204" pitchFamily="34" charset="-128"/>
              </a:rPr>
            </a:br>
            <a:r>
              <a:rPr lang="en-US" altLang="en-US">
                <a:ea typeface="ＭＳ Ｐゴシック" panose="020B0600070205080204" pitchFamily="34" charset="-128"/>
              </a:rPr>
              <a:t>occurs </a:t>
            </a:r>
          </a:p>
        </p:txBody>
      </p:sp>
      <p:pic>
        <p:nvPicPr>
          <p:cNvPr id="38916" name="Picture 6" descr="Cocker spani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1" y="2743200"/>
            <a:ext cx="1628775"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7" name="Picture 7" descr="Gray ca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3676" y="4800600"/>
            <a:ext cx="374332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05061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en-US" smtClean="0">
                <a:ea typeface="ＭＳ Ｐゴシック" panose="020B0600070205080204" pitchFamily="34" charset="-128"/>
              </a:rPr>
              <a:t>Piaget’s Stages of </a:t>
            </a:r>
            <a:br>
              <a:rPr lang="en-US" altLang="en-US" smtClean="0">
                <a:ea typeface="ＭＳ Ｐゴシック" panose="020B0600070205080204" pitchFamily="34" charset="-128"/>
              </a:rPr>
            </a:br>
            <a:r>
              <a:rPr lang="en-US" altLang="en-US" smtClean="0">
                <a:ea typeface="ＭＳ Ｐゴシック" panose="020B0600070205080204" pitchFamily="34" charset="-128"/>
              </a:rPr>
              <a:t>Cognitive Development</a:t>
            </a:r>
          </a:p>
        </p:txBody>
      </p:sp>
      <p:graphicFrame>
        <p:nvGraphicFramePr>
          <p:cNvPr id="613443" name="Group 67"/>
          <p:cNvGraphicFramePr>
            <a:graphicFrameLocks noGrp="1"/>
          </p:cNvGraphicFramePr>
          <p:nvPr>
            <p:ph idx="1"/>
          </p:nvPr>
        </p:nvGraphicFramePr>
        <p:xfrm>
          <a:off x="1828800" y="1905000"/>
          <a:ext cx="8534400" cy="4572000"/>
        </p:xfrm>
        <a:graphic>
          <a:graphicData uri="http://schemas.openxmlformats.org/drawingml/2006/table">
            <a:tbl>
              <a:tblPr/>
              <a:tblGrid>
                <a:gridCol w="4953000">
                  <a:extLst>
                    <a:ext uri="{9D8B030D-6E8A-4147-A177-3AD203B41FA5}">
                      <a16:colId xmlns:a16="http://schemas.microsoft.com/office/drawing/2014/main" val="2388921035"/>
                    </a:ext>
                  </a:extLst>
                </a:gridCol>
                <a:gridCol w="3581400">
                  <a:extLst>
                    <a:ext uri="{9D8B030D-6E8A-4147-A177-3AD203B41FA5}">
                      <a16:colId xmlns:a16="http://schemas.microsoft.com/office/drawing/2014/main" val="3858000015"/>
                    </a:ext>
                  </a:extLst>
                </a:gridCol>
              </a:tblGrid>
              <a:tr h="1143000">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3600" b="1" i="0" u="none" strike="noStrike" cap="none" normalizeH="0" baseline="0" smtClean="0">
                          <a:ln>
                            <a:noFill/>
                          </a:ln>
                          <a:solidFill>
                            <a:schemeClr val="tx2"/>
                          </a:solidFill>
                          <a:effectLst/>
                          <a:latin typeface="Arial" panose="020B0604020202020204" pitchFamily="34" charset="0"/>
                        </a:rPr>
                        <a:t>Sensorimotor</a:t>
                      </a:r>
                    </a:p>
                  </a:txBody>
                  <a:tcPr marL="228600" anchor="ctr" horzOverflow="overflow">
                    <a:lnL w="76200" cap="flat" cmpd="sng" algn="ctr">
                      <a:solidFill>
                        <a:schemeClr val="tx2"/>
                      </a:solidFill>
                      <a:prstDash val="solid"/>
                      <a:round/>
                      <a:headEnd type="none" w="med" len="med"/>
                      <a:tailEnd type="none" w="med" len="med"/>
                    </a:lnL>
                    <a:lnR>
                      <a:noFill/>
                    </a:lnR>
                    <a:lnT w="762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lnTlToBr>
                      <a:noFill/>
                    </a:lnTlToBr>
                    <a:lnBlToTr>
                      <a:noFill/>
                    </a:lnBlToTr>
                    <a:gradFill rotWithShape="1">
                      <a:gsLst>
                        <a:gs pos="0">
                          <a:schemeClr val="hlink"/>
                        </a:gs>
                        <a:gs pos="50000">
                          <a:schemeClr val="hlink">
                            <a:gamma/>
                            <a:tint val="34118"/>
                            <a:invGamma/>
                          </a:schemeClr>
                        </a:gs>
                        <a:gs pos="100000">
                          <a:schemeClr val="hlink"/>
                        </a:gs>
                      </a:gsLst>
                      <a:lin ang="5400000" scaled="1"/>
                    </a:grad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3600" b="0" i="0" u="none" strike="noStrike" cap="none" normalizeH="0" baseline="0" smtClean="0">
                          <a:ln>
                            <a:noFill/>
                          </a:ln>
                          <a:solidFill>
                            <a:schemeClr val="tx2"/>
                          </a:solidFill>
                          <a:effectLst/>
                          <a:latin typeface="Arial" panose="020B0604020202020204" pitchFamily="34" charset="0"/>
                        </a:rPr>
                        <a:t>Birth to 2 years</a:t>
                      </a:r>
                    </a:p>
                  </a:txBody>
                  <a:tcPr marL="228600" anchor="ctr" horzOverflow="overflow">
                    <a:lnL>
                      <a:noFill/>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lnTlToBr>
                      <a:noFill/>
                    </a:lnTlToBr>
                    <a:lnBlToTr>
                      <a:noFill/>
                    </a:lnBlToTr>
                    <a:gradFill rotWithShape="1">
                      <a:gsLst>
                        <a:gs pos="0">
                          <a:schemeClr val="hlink"/>
                        </a:gs>
                        <a:gs pos="50000">
                          <a:schemeClr val="hlink">
                            <a:gamma/>
                            <a:tint val="34118"/>
                            <a:invGamma/>
                          </a:schemeClr>
                        </a:gs>
                        <a:gs pos="100000">
                          <a:schemeClr val="hlink"/>
                        </a:gs>
                      </a:gsLst>
                      <a:lin ang="5400000" scaled="1"/>
                    </a:gradFill>
                  </a:tcPr>
                </a:tc>
                <a:extLst>
                  <a:ext uri="{0D108BD9-81ED-4DB2-BD59-A6C34878D82A}">
                    <a16:rowId xmlns:a16="http://schemas.microsoft.com/office/drawing/2014/main" val="1851869362"/>
                  </a:ext>
                </a:extLst>
              </a:tr>
              <a:tr h="1143000">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3600" b="1" i="0" u="none" strike="noStrike" cap="none" normalizeH="0" baseline="0" smtClean="0">
                          <a:ln>
                            <a:noFill/>
                          </a:ln>
                          <a:solidFill>
                            <a:schemeClr val="tx2"/>
                          </a:solidFill>
                          <a:effectLst/>
                          <a:latin typeface="Arial" panose="020B0604020202020204" pitchFamily="34" charset="0"/>
                        </a:rPr>
                        <a:t>Preoperational</a:t>
                      </a:r>
                    </a:p>
                  </a:txBody>
                  <a:tcPr marL="228600" anchor="ctr" horzOverflow="overflow">
                    <a:lnL w="76200" cap="flat" cmpd="sng" algn="ctr">
                      <a:solidFill>
                        <a:schemeClr val="tx2"/>
                      </a:solidFill>
                      <a:prstDash val="solid"/>
                      <a:round/>
                      <a:headEnd type="none" w="med" len="med"/>
                      <a:tailEnd type="none" w="med" len="med"/>
                    </a:lnL>
                    <a:lnR>
                      <a:noFill/>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lnTlToBr>
                      <a:noFill/>
                    </a:lnTlToBr>
                    <a:lnBlToTr>
                      <a:noFill/>
                    </a:lnBlToTr>
                    <a:gradFill rotWithShape="1">
                      <a:gsLst>
                        <a:gs pos="0">
                          <a:schemeClr val="hlink"/>
                        </a:gs>
                        <a:gs pos="50000">
                          <a:schemeClr val="hlink">
                            <a:gamma/>
                            <a:tint val="34118"/>
                            <a:invGamma/>
                          </a:schemeClr>
                        </a:gs>
                        <a:gs pos="100000">
                          <a:schemeClr val="hlink"/>
                        </a:gs>
                      </a:gsLst>
                      <a:lin ang="5400000" scaled="1"/>
                    </a:grad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3600" b="0" i="0" u="none" strike="noStrike" cap="none" normalizeH="0" baseline="0" smtClean="0">
                          <a:ln>
                            <a:noFill/>
                          </a:ln>
                          <a:solidFill>
                            <a:schemeClr val="tx2"/>
                          </a:solidFill>
                          <a:effectLst/>
                          <a:latin typeface="Arial" panose="020B0604020202020204" pitchFamily="34" charset="0"/>
                        </a:rPr>
                        <a:t>2 to 6 years</a:t>
                      </a:r>
                    </a:p>
                  </a:txBody>
                  <a:tcPr marL="228600" anchor="ctr" horzOverflow="overflow">
                    <a:lnL>
                      <a:noFill/>
                    </a:lnL>
                    <a:lnR w="762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lnTlToBr>
                      <a:noFill/>
                    </a:lnTlToBr>
                    <a:lnBlToTr>
                      <a:noFill/>
                    </a:lnBlToTr>
                    <a:gradFill rotWithShape="1">
                      <a:gsLst>
                        <a:gs pos="0">
                          <a:schemeClr val="hlink"/>
                        </a:gs>
                        <a:gs pos="50000">
                          <a:schemeClr val="hlink">
                            <a:gamma/>
                            <a:tint val="34118"/>
                            <a:invGamma/>
                          </a:schemeClr>
                        </a:gs>
                        <a:gs pos="100000">
                          <a:schemeClr val="hlink"/>
                        </a:gs>
                      </a:gsLst>
                      <a:lin ang="5400000" scaled="1"/>
                    </a:gradFill>
                  </a:tcPr>
                </a:tc>
                <a:extLst>
                  <a:ext uri="{0D108BD9-81ED-4DB2-BD59-A6C34878D82A}">
                    <a16:rowId xmlns:a16="http://schemas.microsoft.com/office/drawing/2014/main" val="571532959"/>
                  </a:ext>
                </a:extLst>
              </a:tr>
              <a:tr h="1143000">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3600" b="1" i="0" u="none" strike="noStrike" cap="none" normalizeH="0" baseline="0" smtClean="0">
                          <a:ln>
                            <a:noFill/>
                          </a:ln>
                          <a:solidFill>
                            <a:schemeClr val="tx2"/>
                          </a:solidFill>
                          <a:effectLst/>
                          <a:latin typeface="Arial" panose="020B0604020202020204" pitchFamily="34" charset="0"/>
                        </a:rPr>
                        <a:t>Concrete operational</a:t>
                      </a:r>
                    </a:p>
                  </a:txBody>
                  <a:tcPr marL="228600" anchor="ctr" horzOverflow="overflow">
                    <a:lnL w="76200" cap="flat" cmpd="sng" algn="ctr">
                      <a:solidFill>
                        <a:schemeClr val="tx2"/>
                      </a:solidFill>
                      <a:prstDash val="solid"/>
                      <a:round/>
                      <a:headEnd type="none" w="med" len="med"/>
                      <a:tailEnd type="none" w="med" len="med"/>
                    </a:lnL>
                    <a:lnR>
                      <a:noFill/>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lnTlToBr>
                      <a:noFill/>
                    </a:lnTlToBr>
                    <a:lnBlToTr>
                      <a:noFill/>
                    </a:lnBlToTr>
                    <a:gradFill rotWithShape="1">
                      <a:gsLst>
                        <a:gs pos="0">
                          <a:schemeClr val="hlink"/>
                        </a:gs>
                        <a:gs pos="50000">
                          <a:schemeClr val="hlink">
                            <a:gamma/>
                            <a:tint val="34118"/>
                            <a:invGamma/>
                          </a:schemeClr>
                        </a:gs>
                        <a:gs pos="100000">
                          <a:schemeClr val="hlink"/>
                        </a:gs>
                      </a:gsLst>
                      <a:lin ang="5400000" scaled="1"/>
                    </a:grad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3600" b="0" i="0" u="none" strike="noStrike" cap="none" normalizeH="0" baseline="0" smtClean="0">
                          <a:ln>
                            <a:noFill/>
                          </a:ln>
                          <a:solidFill>
                            <a:schemeClr val="tx2"/>
                          </a:solidFill>
                          <a:effectLst/>
                          <a:latin typeface="Arial" panose="020B0604020202020204" pitchFamily="34" charset="0"/>
                        </a:rPr>
                        <a:t>6 to 12 years</a:t>
                      </a:r>
                    </a:p>
                  </a:txBody>
                  <a:tcPr marL="228600" anchor="ctr" horzOverflow="overflow">
                    <a:lnL>
                      <a:noFill/>
                    </a:lnL>
                    <a:lnR w="762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lnTlToBr>
                      <a:noFill/>
                    </a:lnTlToBr>
                    <a:lnBlToTr>
                      <a:noFill/>
                    </a:lnBlToTr>
                    <a:gradFill rotWithShape="1">
                      <a:gsLst>
                        <a:gs pos="0">
                          <a:schemeClr val="hlink"/>
                        </a:gs>
                        <a:gs pos="50000">
                          <a:schemeClr val="hlink">
                            <a:gamma/>
                            <a:tint val="34118"/>
                            <a:invGamma/>
                          </a:schemeClr>
                        </a:gs>
                        <a:gs pos="100000">
                          <a:schemeClr val="hlink"/>
                        </a:gs>
                      </a:gsLst>
                      <a:lin ang="5400000" scaled="1"/>
                    </a:gradFill>
                  </a:tcPr>
                </a:tc>
                <a:extLst>
                  <a:ext uri="{0D108BD9-81ED-4DB2-BD59-A6C34878D82A}">
                    <a16:rowId xmlns:a16="http://schemas.microsoft.com/office/drawing/2014/main" val="44088018"/>
                  </a:ext>
                </a:extLst>
              </a:tr>
              <a:tr h="1143000">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3600" b="1" i="0" u="none" strike="noStrike" cap="none" normalizeH="0" baseline="0" smtClean="0">
                          <a:ln>
                            <a:noFill/>
                          </a:ln>
                          <a:solidFill>
                            <a:schemeClr val="tx2"/>
                          </a:solidFill>
                          <a:effectLst/>
                          <a:latin typeface="Arial" panose="020B0604020202020204" pitchFamily="34" charset="0"/>
                        </a:rPr>
                        <a:t>Formal operational</a:t>
                      </a:r>
                    </a:p>
                  </a:txBody>
                  <a:tcPr marL="228600" anchor="ctr" horzOverflow="overflow">
                    <a:lnL w="76200" cap="flat" cmpd="sng" algn="ctr">
                      <a:solidFill>
                        <a:schemeClr val="tx2"/>
                      </a:solidFill>
                      <a:prstDash val="solid"/>
                      <a:round/>
                      <a:headEnd type="none" w="med" len="med"/>
                      <a:tailEnd type="none" w="med" len="med"/>
                    </a:lnL>
                    <a:lnR>
                      <a:noFill/>
                    </a:lnR>
                    <a:lnT w="381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lnTlToBr>
                      <a:noFill/>
                    </a:lnTlToBr>
                    <a:lnBlToTr>
                      <a:noFill/>
                    </a:lnBlToTr>
                    <a:gradFill rotWithShape="1">
                      <a:gsLst>
                        <a:gs pos="0">
                          <a:schemeClr val="hlink"/>
                        </a:gs>
                        <a:gs pos="50000">
                          <a:schemeClr val="hlink">
                            <a:gamma/>
                            <a:tint val="34118"/>
                            <a:invGamma/>
                          </a:schemeClr>
                        </a:gs>
                        <a:gs pos="100000">
                          <a:schemeClr val="hlink"/>
                        </a:gs>
                      </a:gsLst>
                      <a:lin ang="5400000" scaled="1"/>
                    </a:grad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3600" b="0" i="0" u="none" strike="noStrike" cap="none" normalizeH="0" baseline="0" smtClean="0">
                          <a:ln>
                            <a:noFill/>
                          </a:ln>
                          <a:solidFill>
                            <a:schemeClr val="tx2"/>
                          </a:solidFill>
                          <a:effectLst/>
                          <a:latin typeface="Arial" panose="020B0604020202020204" pitchFamily="34" charset="0"/>
                        </a:rPr>
                        <a:t>12+ years</a:t>
                      </a:r>
                    </a:p>
                  </a:txBody>
                  <a:tcPr marL="228600" anchor="ctr" horzOverflow="overflow">
                    <a:lnL>
                      <a:noFill/>
                    </a:lnL>
                    <a:lnR w="762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lnTlToBr>
                      <a:noFill/>
                    </a:lnTlToBr>
                    <a:lnBlToTr>
                      <a:noFill/>
                    </a:lnBlToTr>
                    <a:gradFill rotWithShape="1">
                      <a:gsLst>
                        <a:gs pos="0">
                          <a:schemeClr val="hlink"/>
                        </a:gs>
                        <a:gs pos="50000">
                          <a:schemeClr val="hlink">
                            <a:gamma/>
                            <a:tint val="34118"/>
                            <a:invGamma/>
                          </a:schemeClr>
                        </a:gs>
                        <a:gs pos="100000">
                          <a:schemeClr val="hlink"/>
                        </a:gs>
                      </a:gsLst>
                      <a:lin ang="5400000" scaled="1"/>
                    </a:gradFill>
                  </a:tcPr>
                </a:tc>
                <a:extLst>
                  <a:ext uri="{0D108BD9-81ED-4DB2-BD59-A6C34878D82A}">
                    <a16:rowId xmlns:a16="http://schemas.microsoft.com/office/drawing/2014/main" val="2380579250"/>
                  </a:ext>
                </a:extLst>
              </a:tr>
            </a:tbl>
          </a:graphicData>
        </a:graphic>
      </p:graphicFrame>
    </p:spTree>
    <p:extLst>
      <p:ext uri="{BB962C8B-B14F-4D97-AF65-F5344CB8AC3E}">
        <p14:creationId xmlns:p14="http://schemas.microsoft.com/office/powerpoint/2010/main" val="10171921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2"/>
          <p:cNvSpPr>
            <a:spLocks noChangeArrowheads="1"/>
          </p:cNvSpPr>
          <p:nvPr/>
        </p:nvSpPr>
        <p:spPr bwMode="auto">
          <a:xfrm>
            <a:off x="1905000" y="1752600"/>
            <a:ext cx="8586788" cy="4929188"/>
          </a:xfrm>
          <a:prstGeom prst="rect">
            <a:avLst/>
          </a:prstGeom>
          <a:solidFill>
            <a:srgbClr val="5F5F5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75000"/>
              <a:buFont typeface="Wingdings" panose="05000000000000000000" pitchFamily="2" charset="2"/>
              <a:buChar char="n"/>
              <a:defRPr sz="30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accent2"/>
              </a:buClr>
              <a:buSzPct val="80000"/>
              <a:buFont typeface="Wingdings" panose="05000000000000000000" pitchFamily="2" charset="2"/>
              <a:buChar char="¨"/>
              <a:defRPr sz="2000">
                <a:solidFill>
                  <a:schemeClr val="tx1"/>
                </a:solidFill>
                <a:latin typeface="Arial Black" panose="020B0A040201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Black" panose="020B0A04020102020204" pitchFamily="34" charset="0"/>
                <a:ea typeface="ＭＳ Ｐゴシック" panose="020B0600070205080204" pitchFamily="34" charset="-128"/>
              </a:defRPr>
            </a:lvl4pPr>
            <a:lvl5pPr marL="2057400" indent="-228600">
              <a:spcBef>
                <a:spcPct val="20000"/>
              </a:spcBef>
              <a:buClr>
                <a:schemeClr val="accent1"/>
              </a:buClr>
              <a:buFont typeface="Wingdings" panose="05000000000000000000" pitchFamily="2" charset="2"/>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ClrTx/>
              <a:buSzTx/>
              <a:buFontTx/>
              <a:buNone/>
            </a:pPr>
            <a:endParaRPr lang="en-AU" altLang="en-US" sz="2400">
              <a:latin typeface="Arial" panose="020B0604020202020204" pitchFamily="34" charset="0"/>
            </a:endParaRPr>
          </a:p>
        </p:txBody>
      </p:sp>
      <p:sp>
        <p:nvSpPr>
          <p:cNvPr id="40963" name="Rectangle 21"/>
          <p:cNvSpPr>
            <a:spLocks noChangeArrowheads="1"/>
          </p:cNvSpPr>
          <p:nvPr/>
        </p:nvSpPr>
        <p:spPr bwMode="auto">
          <a:xfrm>
            <a:off x="1905000" y="2246313"/>
            <a:ext cx="8586788" cy="4395788"/>
          </a:xfrm>
          <a:prstGeom prst="rect">
            <a:avLst/>
          </a:prstGeom>
          <a:solidFill>
            <a:schemeClr val="bg1">
              <a:lumMod val="95000"/>
            </a:schemeClr>
          </a:solidFill>
          <a:ln>
            <a:noFill/>
          </a:ln>
          <a:effectLst/>
        </p:spPr>
        <p:txBody>
          <a:bodyPr wrap="none" anchor="ctr"/>
          <a:lstStyle>
            <a:lvl1pPr>
              <a:spcBef>
                <a:spcPct val="20000"/>
              </a:spcBef>
              <a:buClr>
                <a:schemeClr val="accent1"/>
              </a:buClr>
              <a:buSzPct val="75000"/>
              <a:buFont typeface="Wingdings" panose="05000000000000000000" pitchFamily="2" charset="2"/>
              <a:buChar char="n"/>
              <a:defRPr sz="30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lr>
                <a:schemeClr val="accent2"/>
              </a:buClr>
              <a:buSzPct val="80000"/>
              <a:buFont typeface="Wingdings" panose="05000000000000000000" pitchFamily="2" charset="2"/>
              <a:buChar char="¨"/>
              <a:defRPr sz="2000">
                <a:solidFill>
                  <a:schemeClr val="tx1"/>
                </a:solidFill>
                <a:latin typeface="Arial Black" panose="020B0A0402010202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Black" panose="020B0A04020102020204" pitchFamily="34" charset="0"/>
                <a:ea typeface="ＭＳ Ｐゴシック" panose="020B0600070205080204" pitchFamily="34" charset="-128"/>
              </a:defRPr>
            </a:lvl4pPr>
            <a:lvl5pPr marL="2057400" indent="-228600">
              <a:spcBef>
                <a:spcPct val="20000"/>
              </a:spcBef>
              <a:buClr>
                <a:schemeClr val="accent1"/>
              </a:buClr>
              <a:buFont typeface="Wingdings" panose="05000000000000000000" pitchFamily="2" charset="2"/>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ClrTx/>
              <a:buSzTx/>
              <a:buFontTx/>
              <a:buNone/>
            </a:pPr>
            <a:endParaRPr lang="en-AU" altLang="en-US" sz="2400">
              <a:latin typeface="Arial" panose="020B0604020202020204" pitchFamily="34" charset="0"/>
            </a:endParaRPr>
          </a:p>
        </p:txBody>
      </p:sp>
      <p:sp>
        <p:nvSpPr>
          <p:cNvPr id="40964" name="Rectangle 2"/>
          <p:cNvSpPr>
            <a:spLocks noGrp="1" noChangeArrowheads="1"/>
          </p:cNvSpPr>
          <p:nvPr>
            <p:ph type="title"/>
          </p:nvPr>
        </p:nvSpPr>
        <p:spPr/>
        <p:txBody>
          <a:bodyPr/>
          <a:lstStyle/>
          <a:p>
            <a:pPr eaLnBrk="1" hangingPunct="1"/>
            <a:r>
              <a:rPr lang="en-US" altLang="en-US" smtClean="0">
                <a:ea typeface="ＭＳ Ｐゴシック" panose="020B0600070205080204" pitchFamily="34" charset="-128"/>
              </a:rPr>
              <a:t>Piaget’s Stages of </a:t>
            </a:r>
            <a:br>
              <a:rPr lang="en-US" altLang="en-US" smtClean="0">
                <a:ea typeface="ＭＳ Ｐゴシック" panose="020B0600070205080204" pitchFamily="34" charset="-128"/>
              </a:rPr>
            </a:br>
            <a:r>
              <a:rPr lang="en-US" altLang="en-US" smtClean="0">
                <a:ea typeface="ＭＳ Ｐゴシック" panose="020B0600070205080204" pitchFamily="34" charset="-128"/>
              </a:rPr>
              <a:t>Cognitive Development</a:t>
            </a:r>
          </a:p>
        </p:txBody>
      </p:sp>
      <p:sp>
        <p:nvSpPr>
          <p:cNvPr id="647191" name="Rectangle 23"/>
          <p:cNvSpPr>
            <a:spLocks noChangeArrowheads="1"/>
          </p:cNvSpPr>
          <p:nvPr/>
        </p:nvSpPr>
        <p:spPr bwMode="auto">
          <a:xfrm>
            <a:off x="1828800" y="1676401"/>
            <a:ext cx="8586788" cy="530225"/>
          </a:xfrm>
          <a:prstGeom prst="rect">
            <a:avLst/>
          </a:prstGeom>
          <a:gradFill rotWithShape="1">
            <a:gsLst>
              <a:gs pos="0">
                <a:schemeClr val="hlink"/>
              </a:gs>
              <a:gs pos="50000">
                <a:schemeClr val="hlink">
                  <a:gamma/>
                  <a:tint val="0"/>
                  <a:invGamma/>
                </a:schemeClr>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AU"/>
          </a:p>
        </p:txBody>
      </p:sp>
      <p:pic>
        <p:nvPicPr>
          <p:cNvPr id="40966" name="Picture 20" descr="table_7"/>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951" t="10110" b="4362"/>
          <a:stretch>
            <a:fillRect/>
          </a:stretch>
        </p:blipFill>
        <p:spPr bwMode="auto">
          <a:xfrm>
            <a:off x="1963738" y="1690688"/>
            <a:ext cx="860425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104717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en-US" smtClean="0">
                <a:ea typeface="ＭＳ Ｐゴシック" panose="020B0600070205080204" pitchFamily="34" charset="-128"/>
              </a:rPr>
              <a:t>Sensorimotor Stage</a:t>
            </a:r>
          </a:p>
        </p:txBody>
      </p:sp>
      <p:sp>
        <p:nvSpPr>
          <p:cNvPr id="41987" name="Rectangle 3"/>
          <p:cNvSpPr>
            <a:spLocks noGrp="1" noChangeArrowheads="1"/>
          </p:cNvSpPr>
          <p:nvPr>
            <p:ph type="body" idx="1"/>
          </p:nvPr>
        </p:nvSpPr>
        <p:spPr>
          <a:xfrm>
            <a:off x="2133600" y="1871664"/>
            <a:ext cx="8229600" cy="4757737"/>
          </a:xfrm>
        </p:spPr>
        <p:txBody>
          <a:bodyPr/>
          <a:lstStyle/>
          <a:p>
            <a:pPr eaLnBrk="1" hangingPunct="1"/>
            <a:r>
              <a:rPr lang="en-US" altLang="en-US">
                <a:ea typeface="ＭＳ Ｐゴシック" panose="020B0600070205080204" pitchFamily="34" charset="-128"/>
              </a:rPr>
              <a:t>Infant learns about the world through their sensory and motor interactions (including reflexes)</a:t>
            </a:r>
          </a:p>
          <a:p>
            <a:pPr eaLnBrk="1" hangingPunct="1"/>
            <a:r>
              <a:rPr lang="en-US" altLang="en-US">
                <a:ea typeface="ＭＳ Ｐゴシック" panose="020B0600070205080204" pitchFamily="34" charset="-128"/>
              </a:rPr>
              <a:t>Lack </a:t>
            </a:r>
            <a:r>
              <a:rPr lang="en-US" altLang="en-US" b="1">
                <a:solidFill>
                  <a:schemeClr val="accent1"/>
                </a:solidFill>
                <a:ea typeface="ＭＳ Ｐゴシック" panose="020B0600070205080204" pitchFamily="34" charset="-128"/>
              </a:rPr>
              <a:t>object permanence</a:t>
            </a:r>
            <a:r>
              <a:rPr lang="en-US" altLang="en-US">
                <a:ea typeface="ＭＳ Ｐゴシック" panose="020B0600070205080204" pitchFamily="34" charset="-128"/>
              </a:rPr>
              <a:t>, the knowledge than an object exists independent of perceptual contact</a:t>
            </a:r>
          </a:p>
          <a:p>
            <a:pPr eaLnBrk="1" hangingPunct="1"/>
            <a:r>
              <a:rPr lang="en-US" altLang="en-US" b="1">
                <a:solidFill>
                  <a:schemeClr val="hlink"/>
                </a:solidFill>
                <a:ea typeface="ＭＳ Ｐゴシック" panose="020B0600070205080204" pitchFamily="34" charset="-128"/>
              </a:rPr>
              <a:t>Symbolic representation</a:t>
            </a:r>
            <a:r>
              <a:rPr lang="en-US" altLang="en-US">
                <a:ea typeface="ＭＳ Ｐゴシック" panose="020B0600070205080204" pitchFamily="34" charset="-128"/>
              </a:rPr>
              <a:t> of objects and events starts to develop during the latter part of the sensorimotor stage (e.g., use of telegraphic speech) </a:t>
            </a:r>
          </a:p>
        </p:txBody>
      </p:sp>
    </p:spTree>
    <p:extLst>
      <p:ext uri="{BB962C8B-B14F-4D97-AF65-F5344CB8AC3E}">
        <p14:creationId xmlns:p14="http://schemas.microsoft.com/office/powerpoint/2010/main" val="30863292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smtClean="0">
                <a:ea typeface="ＭＳ Ｐゴシック" panose="020B0600070205080204" pitchFamily="34" charset="-128"/>
              </a:rPr>
              <a:t>Preoperational Stage</a:t>
            </a:r>
          </a:p>
        </p:txBody>
      </p:sp>
      <p:sp>
        <p:nvSpPr>
          <p:cNvPr id="43011" name="Rectangle 3"/>
          <p:cNvSpPr>
            <a:spLocks noGrp="1" noChangeArrowheads="1"/>
          </p:cNvSpPr>
          <p:nvPr>
            <p:ph type="body" idx="1"/>
          </p:nvPr>
        </p:nvSpPr>
        <p:spPr>
          <a:xfrm>
            <a:off x="2143126" y="1752600"/>
            <a:ext cx="7972425" cy="3309938"/>
          </a:xfrm>
        </p:spPr>
        <p:txBody>
          <a:bodyPr>
            <a:normAutofit fontScale="92500" lnSpcReduction="10000"/>
          </a:bodyPr>
          <a:lstStyle/>
          <a:p>
            <a:pPr eaLnBrk="1" hangingPunct="1"/>
            <a:r>
              <a:rPr lang="en-US" altLang="en-US">
                <a:ea typeface="ＭＳ Ｐゴシック" panose="020B0600070205080204" pitchFamily="34" charset="-128"/>
              </a:rPr>
              <a:t>The child’s thinking becomes more symbolic and language-based, but remains egocentric and lacks the mental operations that allow logical thinking</a:t>
            </a:r>
          </a:p>
          <a:p>
            <a:pPr eaLnBrk="1" hangingPunct="1"/>
            <a:r>
              <a:rPr lang="en-US" altLang="en-US" b="1">
                <a:solidFill>
                  <a:schemeClr val="accent1"/>
                </a:solidFill>
                <a:ea typeface="ＭＳ Ｐゴシック" panose="020B0600070205080204" pitchFamily="34" charset="-128"/>
              </a:rPr>
              <a:t>Egocentrism</a:t>
            </a:r>
            <a:r>
              <a:rPr lang="en-US" altLang="en-US">
                <a:ea typeface="ＭＳ Ｐゴシック" panose="020B0600070205080204" pitchFamily="34" charset="-128"/>
              </a:rPr>
              <a:t> is the inability to distinguish one’s own perceptions, thoughts, and feelings from those of others</a:t>
            </a:r>
          </a:p>
          <a:p>
            <a:pPr lvl="1" eaLnBrk="1" hangingPunct="1"/>
            <a:r>
              <a:rPr lang="en-US" altLang="en-US" sz="2500">
                <a:ea typeface="ＭＳ Ｐゴシック" panose="020B0600070205080204" pitchFamily="34" charset="-128"/>
              </a:rPr>
              <a:t>Cannot perceive the world from another person’s perspective</a:t>
            </a:r>
            <a:endParaRPr lang="en-US" altLang="en-US" sz="2800">
              <a:ea typeface="ＭＳ Ｐゴシック" panose="020B0600070205080204" pitchFamily="34" charset="-128"/>
            </a:endParaRPr>
          </a:p>
          <a:p>
            <a:pPr eaLnBrk="1" hangingPunct="1"/>
            <a:r>
              <a:rPr lang="en-US" altLang="en-US">
                <a:ea typeface="ＭＳ Ｐゴシック" panose="020B0600070205080204" pitchFamily="34" charset="-128"/>
              </a:rPr>
              <a:t>The child, however, can pretend, imagine, and engage in make-believe play</a:t>
            </a:r>
          </a:p>
        </p:txBody>
      </p:sp>
    </p:spTree>
    <p:extLst>
      <p:ext uri="{BB962C8B-B14F-4D97-AF65-F5344CB8AC3E}">
        <p14:creationId xmlns:p14="http://schemas.microsoft.com/office/powerpoint/2010/main" val="19627994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ltLang="en-US" smtClean="0">
                <a:ea typeface="ＭＳ Ｐゴシック" panose="020B0600070205080204" pitchFamily="34" charset="-128"/>
              </a:rPr>
              <a:t>Preoperational Stage</a:t>
            </a:r>
          </a:p>
        </p:txBody>
      </p:sp>
      <p:sp>
        <p:nvSpPr>
          <p:cNvPr id="44035" name="Rectangle 3"/>
          <p:cNvSpPr>
            <a:spLocks noGrp="1" noChangeArrowheads="1"/>
          </p:cNvSpPr>
          <p:nvPr>
            <p:ph type="body" idx="1"/>
          </p:nvPr>
        </p:nvSpPr>
        <p:spPr/>
        <p:txBody>
          <a:bodyPr/>
          <a:lstStyle/>
          <a:p>
            <a:pPr eaLnBrk="1" hangingPunct="1"/>
            <a:r>
              <a:rPr lang="en-US" altLang="en-US" sz="2600" b="1">
                <a:solidFill>
                  <a:schemeClr val="accent1"/>
                </a:solidFill>
                <a:ea typeface="ＭＳ Ｐゴシック" panose="020B0600070205080204" pitchFamily="34" charset="-128"/>
              </a:rPr>
              <a:t>Conservation</a:t>
            </a:r>
            <a:r>
              <a:rPr lang="en-US" altLang="en-US" sz="2600">
                <a:ea typeface="ＭＳ Ｐゴシック" panose="020B0600070205080204" pitchFamily="34" charset="-128"/>
              </a:rPr>
              <a:t> is the knowledge that the quantitative properties of an object (such as mass, volume, and number) remain the same despite changes in </a:t>
            </a:r>
            <a:br>
              <a:rPr lang="en-US" altLang="en-US" sz="2600">
                <a:ea typeface="ＭＳ Ｐゴシック" panose="020B0600070205080204" pitchFamily="34" charset="-128"/>
              </a:rPr>
            </a:br>
            <a:r>
              <a:rPr lang="en-US" altLang="en-US" sz="2600">
                <a:ea typeface="ＭＳ Ｐゴシック" panose="020B0600070205080204" pitchFamily="34" charset="-128"/>
              </a:rPr>
              <a:t>appearance</a:t>
            </a:r>
          </a:p>
          <a:p>
            <a:pPr lvl="1" eaLnBrk="1" hangingPunct="1"/>
            <a:r>
              <a:rPr lang="en-US" altLang="en-US" sz="2300">
                <a:ea typeface="ＭＳ Ｐゴシック" panose="020B0600070205080204" pitchFamily="34" charset="-128"/>
              </a:rPr>
              <a:t>Some grasp of conservation </a:t>
            </a:r>
            <a:br>
              <a:rPr lang="en-US" altLang="en-US" sz="2300">
                <a:ea typeface="ＭＳ Ｐゴシック" panose="020B0600070205080204" pitchFamily="34" charset="-128"/>
              </a:rPr>
            </a:br>
            <a:r>
              <a:rPr lang="en-US" altLang="en-US" sz="2300">
                <a:ea typeface="ＭＳ Ｐゴシック" panose="020B0600070205080204" pitchFamily="34" charset="-128"/>
              </a:rPr>
              <a:t>marks the end of the </a:t>
            </a:r>
            <a:br>
              <a:rPr lang="en-US" altLang="en-US" sz="2300">
                <a:ea typeface="ＭＳ Ｐゴシック" panose="020B0600070205080204" pitchFamily="34" charset="-128"/>
              </a:rPr>
            </a:br>
            <a:r>
              <a:rPr lang="en-US" altLang="en-US" sz="2300">
                <a:ea typeface="ＭＳ Ｐゴシック" panose="020B0600070205080204" pitchFamily="34" charset="-128"/>
              </a:rPr>
              <a:t>preoperational stage and </a:t>
            </a:r>
            <a:br>
              <a:rPr lang="en-US" altLang="en-US" sz="2300">
                <a:ea typeface="ＭＳ Ｐゴシック" panose="020B0600070205080204" pitchFamily="34" charset="-128"/>
              </a:rPr>
            </a:br>
            <a:r>
              <a:rPr lang="en-US" altLang="en-US" sz="2300">
                <a:ea typeface="ＭＳ Ｐゴシック" panose="020B0600070205080204" pitchFamily="34" charset="-128"/>
              </a:rPr>
              <a:t>the beginning of the </a:t>
            </a:r>
            <a:br>
              <a:rPr lang="en-US" altLang="en-US" sz="2300">
                <a:ea typeface="ＭＳ Ｐゴシック" panose="020B0600070205080204" pitchFamily="34" charset="-128"/>
              </a:rPr>
            </a:br>
            <a:r>
              <a:rPr lang="en-US" altLang="en-US" sz="2300">
                <a:ea typeface="ＭＳ Ｐゴシック" panose="020B0600070205080204" pitchFamily="34" charset="-128"/>
              </a:rPr>
              <a:t>concrete-operational stage</a:t>
            </a:r>
          </a:p>
          <a:p>
            <a:pPr lvl="1" eaLnBrk="1" hangingPunct="1"/>
            <a:r>
              <a:rPr lang="en-US" altLang="en-US" sz="2300">
                <a:ea typeface="ＭＳ Ｐゴシック" panose="020B0600070205080204" pitchFamily="34" charset="-128"/>
              </a:rPr>
              <a:t>The liquid/beakers problem </a:t>
            </a:r>
            <a:br>
              <a:rPr lang="en-US" altLang="en-US" sz="2300">
                <a:ea typeface="ＭＳ Ｐゴシック" panose="020B0600070205080204" pitchFamily="34" charset="-128"/>
              </a:rPr>
            </a:br>
            <a:r>
              <a:rPr lang="en-US" altLang="en-US" sz="2300">
                <a:ea typeface="ＭＳ Ｐゴシック" panose="020B0600070205080204" pitchFamily="34" charset="-128"/>
              </a:rPr>
              <a:t>is a common test of </a:t>
            </a:r>
            <a:br>
              <a:rPr lang="en-US" altLang="en-US" sz="2300">
                <a:ea typeface="ＭＳ Ｐゴシック" panose="020B0600070205080204" pitchFamily="34" charset="-128"/>
              </a:rPr>
            </a:br>
            <a:r>
              <a:rPr lang="en-US" altLang="en-US" sz="2300">
                <a:ea typeface="ＭＳ Ｐゴシック" panose="020B0600070205080204" pitchFamily="34" charset="-128"/>
              </a:rPr>
              <a:t>conservation ability</a:t>
            </a:r>
          </a:p>
        </p:txBody>
      </p:sp>
      <p:pic>
        <p:nvPicPr>
          <p:cNvPr id="44036" name="Picture 4" descr="test tub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601" y="4133850"/>
            <a:ext cx="2505075"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7" name="Picture 5" descr="glass testing contain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1" y="3314700"/>
            <a:ext cx="962025"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04278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ltLang="en-US" smtClean="0">
                <a:ea typeface="ＭＳ Ｐゴシック" panose="020B0600070205080204" pitchFamily="34" charset="-128"/>
              </a:rPr>
              <a:t>Preoperational Stage</a:t>
            </a:r>
          </a:p>
        </p:txBody>
      </p:sp>
      <p:sp>
        <p:nvSpPr>
          <p:cNvPr id="45059" name="Rectangle 3"/>
          <p:cNvSpPr>
            <a:spLocks noGrp="1" noChangeArrowheads="1"/>
          </p:cNvSpPr>
          <p:nvPr>
            <p:ph type="body" idx="1"/>
          </p:nvPr>
        </p:nvSpPr>
        <p:spPr>
          <a:xfrm>
            <a:off x="2117725" y="2100264"/>
            <a:ext cx="8305800" cy="3767137"/>
          </a:xfrm>
        </p:spPr>
        <p:txBody>
          <a:bodyPr/>
          <a:lstStyle/>
          <a:p>
            <a:pPr eaLnBrk="1" hangingPunct="1"/>
            <a:r>
              <a:rPr lang="en-US" altLang="en-US" smtClean="0">
                <a:ea typeface="ＭＳ Ｐゴシック" panose="020B0600070205080204" pitchFamily="34" charset="-128"/>
              </a:rPr>
              <a:t>A major reason why a preoperational child does not understand conservation is that the child lacks an understanding of </a:t>
            </a:r>
            <a:r>
              <a:rPr lang="en-US" altLang="en-US" b="1" smtClean="0">
                <a:solidFill>
                  <a:schemeClr val="accent1"/>
                </a:solidFill>
                <a:ea typeface="ＭＳ Ｐゴシック" panose="020B0600070205080204" pitchFamily="34" charset="-128"/>
              </a:rPr>
              <a:t>reversibility</a:t>
            </a:r>
            <a:r>
              <a:rPr lang="en-US" altLang="en-US" smtClean="0">
                <a:ea typeface="ＭＳ Ｐゴシック" panose="020B0600070205080204" pitchFamily="34" charset="-128"/>
              </a:rPr>
              <a:t>, the knowledge that reversing a transformation brings about the conditions that existed before the transformation</a:t>
            </a:r>
          </a:p>
          <a:p>
            <a:pPr eaLnBrk="1" hangingPunct="1"/>
            <a:r>
              <a:rPr lang="en-US" altLang="en-US" smtClean="0">
                <a:ea typeface="ＭＳ Ｐゴシック" panose="020B0600070205080204" pitchFamily="34" charset="-128"/>
              </a:rPr>
              <a:t>Child’s thinking also reflects </a:t>
            </a:r>
            <a:r>
              <a:rPr lang="en-US" altLang="en-US" b="1" smtClean="0">
                <a:solidFill>
                  <a:schemeClr val="hlink"/>
                </a:solidFill>
                <a:ea typeface="ＭＳ Ｐゴシック" panose="020B0600070205080204" pitchFamily="34" charset="-128"/>
              </a:rPr>
              <a:t>centration</a:t>
            </a:r>
            <a:r>
              <a:rPr lang="en-US" altLang="en-US" smtClean="0">
                <a:ea typeface="ＭＳ Ｐゴシック" panose="020B0600070205080204" pitchFamily="34" charset="-128"/>
              </a:rPr>
              <a:t>, the tendency to focus on only one aspect of a problem at a time </a:t>
            </a:r>
          </a:p>
        </p:txBody>
      </p:sp>
    </p:spTree>
    <p:extLst>
      <p:ext uri="{BB962C8B-B14F-4D97-AF65-F5344CB8AC3E}">
        <p14:creationId xmlns:p14="http://schemas.microsoft.com/office/powerpoint/2010/main" val="25936652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ltLang="en-US" smtClean="0">
                <a:ea typeface="ＭＳ Ｐゴシック" panose="020B0600070205080204" pitchFamily="34" charset="-128"/>
              </a:rPr>
              <a:t>Tests of Conservation</a:t>
            </a:r>
          </a:p>
        </p:txBody>
      </p:sp>
      <p:pic>
        <p:nvPicPr>
          <p:cNvPr id="46083" name="Picture 4" descr="fig_7"/>
          <p:cNvPicPr>
            <a:picLocks noChangeAspect="1" noChangeArrowheads="1"/>
          </p:cNvPicPr>
          <p:nvPr/>
        </p:nvPicPr>
        <p:blipFill>
          <a:blip r:embed="rId2">
            <a:extLst>
              <a:ext uri="{28A0092B-C50C-407E-A947-70E740481C1C}">
                <a14:useLocalDpi xmlns:a14="http://schemas.microsoft.com/office/drawing/2010/main" val="0"/>
              </a:ext>
            </a:extLst>
          </a:blip>
          <a:srcRect t="3336"/>
          <a:stretch>
            <a:fillRect/>
          </a:stretch>
        </p:blipFill>
        <p:spPr bwMode="auto">
          <a:xfrm>
            <a:off x="1752600" y="1524000"/>
            <a:ext cx="86868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36729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2057400" y="207963"/>
            <a:ext cx="8229600" cy="1143000"/>
          </a:xfrm>
        </p:spPr>
        <p:txBody>
          <a:bodyPr/>
          <a:lstStyle/>
          <a:p>
            <a:pPr eaLnBrk="1" hangingPunct="1"/>
            <a:r>
              <a:rPr lang="en-US" altLang="en-US" smtClean="0">
                <a:ea typeface="ＭＳ Ｐゴシック" panose="020B0600070205080204" pitchFamily="34" charset="-128"/>
              </a:rPr>
              <a:t>Concrete Operational Stage</a:t>
            </a:r>
          </a:p>
        </p:txBody>
      </p:sp>
      <p:sp>
        <p:nvSpPr>
          <p:cNvPr id="47107" name="Rectangle 3"/>
          <p:cNvSpPr>
            <a:spLocks noGrp="1" noChangeArrowheads="1"/>
          </p:cNvSpPr>
          <p:nvPr>
            <p:ph type="body" idx="1"/>
          </p:nvPr>
        </p:nvSpPr>
        <p:spPr>
          <a:xfrm>
            <a:off x="4038600" y="1066800"/>
            <a:ext cx="6248400" cy="4605338"/>
          </a:xfrm>
        </p:spPr>
        <p:txBody>
          <a:bodyPr>
            <a:normAutofit fontScale="92500" lnSpcReduction="10000"/>
          </a:bodyPr>
          <a:lstStyle/>
          <a:p>
            <a:pPr eaLnBrk="1" hangingPunct="1">
              <a:lnSpc>
                <a:spcPct val="95000"/>
              </a:lnSpc>
            </a:pPr>
            <a:r>
              <a:rPr lang="en-US" altLang="en-US" sz="2200">
                <a:ea typeface="ＭＳ Ｐゴシック" panose="020B0600070205080204" pitchFamily="34" charset="-128"/>
              </a:rPr>
              <a:t>Children gain a fuller understanding of conservation and other mental operations that allow them to think logically, but only about concrete events</a:t>
            </a:r>
          </a:p>
          <a:p>
            <a:pPr lvl="1" eaLnBrk="1" hangingPunct="1">
              <a:lnSpc>
                <a:spcPct val="95000"/>
              </a:lnSpc>
            </a:pPr>
            <a:r>
              <a:rPr lang="en-US" altLang="en-US" b="1" smtClean="0">
                <a:solidFill>
                  <a:schemeClr val="accent2"/>
                </a:solidFill>
                <a:ea typeface="ＭＳ Ｐゴシック" panose="020B0600070205080204" pitchFamily="34" charset="-128"/>
              </a:rPr>
              <a:t>Conservation </a:t>
            </a:r>
            <a:r>
              <a:rPr lang="en-US" altLang="en-US" smtClean="0">
                <a:ea typeface="ＭＳ Ｐゴシック" panose="020B0600070205080204" pitchFamily="34" charset="-128"/>
              </a:rPr>
              <a:t>for liquids, numbers, and matter acquired early, but conservation of length acquired later in the stage</a:t>
            </a:r>
          </a:p>
          <a:p>
            <a:pPr lvl="1" eaLnBrk="1" hangingPunct="1">
              <a:lnSpc>
                <a:spcPct val="95000"/>
              </a:lnSpc>
            </a:pPr>
            <a:r>
              <a:rPr lang="en-US" altLang="en-US" smtClean="0">
                <a:ea typeface="ＭＳ Ｐゴシック" panose="020B0600070205080204" pitchFamily="34" charset="-128"/>
              </a:rPr>
              <a:t>Develops </a:t>
            </a:r>
            <a:r>
              <a:rPr lang="en-US" altLang="en-US" b="1" smtClean="0">
                <a:solidFill>
                  <a:schemeClr val="accent2"/>
                </a:solidFill>
                <a:ea typeface="ＭＳ Ｐゴシック" panose="020B0600070205080204" pitchFamily="34" charset="-128"/>
              </a:rPr>
              <a:t>transitivity</a:t>
            </a:r>
            <a:r>
              <a:rPr lang="en-US" altLang="en-US" smtClean="0">
                <a:ea typeface="ＭＳ Ｐゴシック" panose="020B0600070205080204" pitchFamily="34" charset="-128"/>
              </a:rPr>
              <a:t> (e.g., if A &gt; B, and B &gt; C, then A &gt; C)</a:t>
            </a:r>
          </a:p>
          <a:p>
            <a:pPr lvl="1" eaLnBrk="1" hangingPunct="1">
              <a:lnSpc>
                <a:spcPct val="95000"/>
              </a:lnSpc>
            </a:pPr>
            <a:r>
              <a:rPr lang="en-US" altLang="en-US" smtClean="0">
                <a:ea typeface="ＭＳ Ｐゴシック" panose="020B0600070205080204" pitchFamily="34" charset="-128"/>
              </a:rPr>
              <a:t>Develops </a:t>
            </a:r>
            <a:r>
              <a:rPr lang="en-US" altLang="en-US" b="1" smtClean="0">
                <a:solidFill>
                  <a:schemeClr val="accent2"/>
                </a:solidFill>
                <a:ea typeface="ＭＳ Ｐゴシック" panose="020B0600070205080204" pitchFamily="34" charset="-128"/>
              </a:rPr>
              <a:t>seriation</a:t>
            </a:r>
            <a:r>
              <a:rPr lang="en-US" altLang="en-US" smtClean="0">
                <a:ea typeface="ＭＳ Ｐゴシック" panose="020B0600070205080204" pitchFamily="34" charset="-128"/>
              </a:rPr>
              <a:t>, the ability to order stimuli along a quantitative dimension (e.g., a set of pencils by their length)</a:t>
            </a:r>
          </a:p>
          <a:p>
            <a:pPr eaLnBrk="1" hangingPunct="1">
              <a:lnSpc>
                <a:spcPct val="95000"/>
              </a:lnSpc>
            </a:pPr>
            <a:r>
              <a:rPr lang="en-US" altLang="en-US" sz="2200">
                <a:ea typeface="ＭＳ Ｐゴシック" panose="020B0600070205080204" pitchFamily="34" charset="-128"/>
              </a:rPr>
              <a:t>The reasoning of concrete operational children is tied to immediate reality (i.e., what is in front of them and tangible) and not with the hypothetical world of possibility </a:t>
            </a:r>
          </a:p>
        </p:txBody>
      </p:sp>
      <p:pic>
        <p:nvPicPr>
          <p:cNvPr id="47108" name="Picture 6" descr="baby toy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1814" y="2057401"/>
            <a:ext cx="2160587" cy="326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34060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ltLang="en-US" smtClean="0">
                <a:ea typeface="ＭＳ Ｐゴシック" panose="020B0600070205080204" pitchFamily="34" charset="-128"/>
              </a:rPr>
              <a:t>Formal Operational Stage</a:t>
            </a:r>
          </a:p>
        </p:txBody>
      </p:sp>
      <p:sp>
        <p:nvSpPr>
          <p:cNvPr id="48131" name="Rectangle 3"/>
          <p:cNvSpPr>
            <a:spLocks noGrp="1" noChangeArrowheads="1"/>
          </p:cNvSpPr>
          <p:nvPr>
            <p:ph type="body" idx="1"/>
          </p:nvPr>
        </p:nvSpPr>
        <p:spPr>
          <a:xfrm>
            <a:off x="2152650" y="2024064"/>
            <a:ext cx="7315200" cy="3690937"/>
          </a:xfrm>
        </p:spPr>
        <p:txBody>
          <a:bodyPr/>
          <a:lstStyle/>
          <a:p>
            <a:pPr eaLnBrk="1" hangingPunct="1"/>
            <a:r>
              <a:rPr lang="en-US" altLang="en-US" smtClean="0">
                <a:ea typeface="ＭＳ Ｐゴシック" panose="020B0600070205080204" pitchFamily="34" charset="-128"/>
              </a:rPr>
              <a:t>The child gains the capacity for hypothetical-deductive thought</a:t>
            </a:r>
          </a:p>
          <a:p>
            <a:pPr lvl="1" eaLnBrk="1" hangingPunct="1"/>
            <a:r>
              <a:rPr lang="en-US" altLang="en-US" smtClean="0">
                <a:ea typeface="ＭＳ Ｐゴシック" panose="020B0600070205080204" pitchFamily="34" charset="-128"/>
              </a:rPr>
              <a:t>Can engage in hypothetical </a:t>
            </a:r>
            <a:br>
              <a:rPr lang="en-US" altLang="en-US" smtClean="0">
                <a:ea typeface="ＭＳ Ｐゴシック" panose="020B0600070205080204" pitchFamily="34" charset="-128"/>
              </a:rPr>
            </a:br>
            <a:r>
              <a:rPr lang="en-US" altLang="en-US" smtClean="0">
                <a:ea typeface="ＭＳ Ｐゴシック" panose="020B0600070205080204" pitchFamily="34" charset="-128"/>
              </a:rPr>
              <a:t>thought and in systematic </a:t>
            </a:r>
            <a:br>
              <a:rPr lang="en-US" altLang="en-US" smtClean="0">
                <a:ea typeface="ＭＳ Ｐゴシック" panose="020B0600070205080204" pitchFamily="34" charset="-128"/>
              </a:rPr>
            </a:br>
            <a:r>
              <a:rPr lang="en-US" altLang="en-US" smtClean="0">
                <a:ea typeface="ＭＳ Ｐゴシック" panose="020B0600070205080204" pitchFamily="34" charset="-128"/>
              </a:rPr>
              <a:t>deduction and testing of </a:t>
            </a:r>
            <a:br>
              <a:rPr lang="en-US" altLang="en-US" smtClean="0">
                <a:ea typeface="ＭＳ Ｐゴシック" panose="020B0600070205080204" pitchFamily="34" charset="-128"/>
              </a:rPr>
            </a:br>
            <a:r>
              <a:rPr lang="en-US" altLang="en-US" smtClean="0">
                <a:ea typeface="ＭＳ Ｐゴシック" panose="020B0600070205080204" pitchFamily="34" charset="-128"/>
              </a:rPr>
              <a:t>hypotheses</a:t>
            </a:r>
          </a:p>
        </p:txBody>
      </p:sp>
      <p:pic>
        <p:nvPicPr>
          <p:cNvPr id="48132" name="Picture 7" descr="Black microscope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0" y="2971800"/>
            <a:ext cx="2286000" cy="321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29085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2063750" y="331788"/>
            <a:ext cx="8229600" cy="1143000"/>
          </a:xfrm>
        </p:spPr>
        <p:txBody>
          <a:bodyPr/>
          <a:lstStyle/>
          <a:p>
            <a:pPr eaLnBrk="1" hangingPunct="1"/>
            <a:r>
              <a:rPr lang="en-US" altLang="en-US" smtClean="0">
                <a:ea typeface="ＭＳ Ｐゴシック" panose="020B0600070205080204" pitchFamily="34" charset="-128"/>
              </a:rPr>
              <a:t>Formal Operational Stage</a:t>
            </a:r>
          </a:p>
        </p:txBody>
      </p:sp>
      <p:sp>
        <p:nvSpPr>
          <p:cNvPr id="49155" name="Rectangle 3"/>
          <p:cNvSpPr>
            <a:spLocks noGrp="1" noChangeArrowheads="1"/>
          </p:cNvSpPr>
          <p:nvPr>
            <p:ph type="body" idx="1"/>
          </p:nvPr>
        </p:nvSpPr>
        <p:spPr>
          <a:xfrm>
            <a:off x="2063750" y="1446214"/>
            <a:ext cx="8382000" cy="4529137"/>
          </a:xfrm>
        </p:spPr>
        <p:txBody>
          <a:bodyPr>
            <a:normAutofit fontScale="92500"/>
          </a:bodyPr>
          <a:lstStyle/>
          <a:p>
            <a:pPr eaLnBrk="1" hangingPunct="1"/>
            <a:r>
              <a:rPr lang="en-US" altLang="en-US" sz="2200">
                <a:ea typeface="ＭＳ Ｐゴシック" panose="020B0600070205080204" pitchFamily="34" charset="-128"/>
              </a:rPr>
              <a:t>In one scientific thinking task, the child is shown several flasks of what appear to be the same clear liquid and is told one combination of two of these liquids would produce a clear liquid</a:t>
            </a:r>
          </a:p>
          <a:p>
            <a:pPr marL="3262313" lvl="1"/>
            <a:r>
              <a:rPr lang="en-US" altLang="en-US" smtClean="0">
                <a:ea typeface="ＭＳ Ｐゴシック" panose="020B0600070205080204" pitchFamily="34" charset="-128"/>
              </a:rPr>
              <a:t>The task is to determine which combination would produce the blue liquid</a:t>
            </a:r>
          </a:p>
          <a:p>
            <a:pPr marL="3262313" lvl="1"/>
            <a:r>
              <a:rPr lang="en-US" altLang="en-US" smtClean="0">
                <a:ea typeface="ＭＳ Ｐゴシック" panose="020B0600070205080204" pitchFamily="34" charset="-128"/>
              </a:rPr>
              <a:t>The </a:t>
            </a:r>
            <a:r>
              <a:rPr lang="en-US" altLang="en-US" b="1" smtClean="0">
                <a:solidFill>
                  <a:schemeClr val="accent2"/>
                </a:solidFill>
                <a:ea typeface="ＭＳ Ｐゴシック" panose="020B0600070205080204" pitchFamily="34" charset="-128"/>
              </a:rPr>
              <a:t>concrete operational child</a:t>
            </a:r>
            <a:r>
              <a:rPr lang="en-US" altLang="en-US" smtClean="0">
                <a:ea typeface="ＭＳ Ｐゴシック" panose="020B0600070205080204" pitchFamily="34" charset="-128"/>
              </a:rPr>
              <a:t> just starts mixing different clear liquids together haphazardly</a:t>
            </a:r>
          </a:p>
          <a:p>
            <a:pPr marL="3262313" lvl="1"/>
            <a:r>
              <a:rPr lang="en-US" altLang="en-US" smtClean="0">
                <a:ea typeface="ＭＳ Ｐゴシック" panose="020B0600070205080204" pitchFamily="34" charset="-128"/>
              </a:rPr>
              <a:t>The </a:t>
            </a:r>
            <a:r>
              <a:rPr lang="en-US" altLang="en-US" b="1" smtClean="0">
                <a:solidFill>
                  <a:schemeClr val="accent2"/>
                </a:solidFill>
                <a:ea typeface="ＭＳ Ｐゴシック" panose="020B0600070205080204" pitchFamily="34" charset="-128"/>
              </a:rPr>
              <a:t>formal operational child</a:t>
            </a:r>
            <a:r>
              <a:rPr lang="en-US" altLang="en-US" smtClean="0">
                <a:ea typeface="ＭＳ Ｐゴシック" panose="020B0600070205080204" pitchFamily="34" charset="-128"/>
              </a:rPr>
              <a:t> develops a systematic plan for deducing what the correct combination must be by determining all of the possible combinations and then systematically testing each one</a:t>
            </a:r>
          </a:p>
        </p:txBody>
      </p:sp>
      <p:pic>
        <p:nvPicPr>
          <p:cNvPr id="49156" name="Picture 4" descr="test tube and flas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4267201"/>
            <a:ext cx="3219450"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91223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ltLang="en-US" smtClean="0">
                <a:ea typeface="ＭＳ Ｐゴシック" panose="020B0600070205080204" pitchFamily="34" charset="-128"/>
              </a:rPr>
              <a:t>Formal Operational Stage</a:t>
            </a:r>
          </a:p>
        </p:txBody>
      </p:sp>
      <p:sp>
        <p:nvSpPr>
          <p:cNvPr id="50179" name="Rectangle 3"/>
          <p:cNvSpPr>
            <a:spLocks noGrp="1" noChangeArrowheads="1"/>
          </p:cNvSpPr>
          <p:nvPr>
            <p:ph type="body" idx="1"/>
          </p:nvPr>
        </p:nvSpPr>
        <p:spPr>
          <a:xfrm>
            <a:off x="1981200" y="1719264"/>
            <a:ext cx="8229600" cy="5138737"/>
          </a:xfrm>
        </p:spPr>
        <p:txBody>
          <a:bodyPr/>
          <a:lstStyle/>
          <a:p>
            <a:pPr eaLnBrk="1" hangingPunct="1">
              <a:lnSpc>
                <a:spcPct val="95000"/>
              </a:lnSpc>
            </a:pPr>
            <a:r>
              <a:rPr lang="en-US" altLang="en-US" smtClean="0">
                <a:ea typeface="ＭＳ Ｐゴシック" panose="020B0600070205080204" pitchFamily="34" charset="-128"/>
              </a:rPr>
              <a:t>The formal operational child can evaluate the logic of verbal statements without referring to concrete situations</a:t>
            </a:r>
          </a:p>
          <a:p>
            <a:pPr marL="3943350" lvl="1" indent="-514350">
              <a:lnSpc>
                <a:spcPct val="95000"/>
              </a:lnSpc>
            </a:pPr>
            <a:r>
              <a:rPr lang="en-US" altLang="en-US" smtClean="0">
                <a:ea typeface="ＭＳ Ｐゴシック" panose="020B0600070205080204" pitchFamily="34" charset="-128"/>
              </a:rPr>
              <a:t>For example, the formal operational child would judge the statement “If mice are bigger than horses, and horses are bigger than cats, then mice are bigger than cats” to be true, even though in “real life” mice are not bigger than cats </a:t>
            </a:r>
          </a:p>
        </p:txBody>
      </p:sp>
      <p:pic>
        <p:nvPicPr>
          <p:cNvPr id="50180" name="Picture 9" descr="stuffed mou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1" y="3124200"/>
            <a:ext cx="2333625" cy="321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1" name="Picture 10" descr="stuffed hor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1" y="4114801"/>
            <a:ext cx="21431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2" name="Picture 13" descr="stuffed animal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1" y="5257800"/>
            <a:ext cx="1419225"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198548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en-US" smtClean="0">
                <a:ea typeface="ＭＳ Ｐゴシック" panose="020B0600070205080204" pitchFamily="34" charset="-128"/>
              </a:rPr>
              <a:t>Evaluation of Piaget’s Theory</a:t>
            </a:r>
          </a:p>
        </p:txBody>
      </p:sp>
      <p:sp>
        <p:nvSpPr>
          <p:cNvPr id="51203" name="Rectangle 3"/>
          <p:cNvSpPr>
            <a:spLocks noGrp="1" noChangeArrowheads="1"/>
          </p:cNvSpPr>
          <p:nvPr>
            <p:ph type="body" idx="1"/>
          </p:nvPr>
        </p:nvSpPr>
        <p:spPr>
          <a:xfrm>
            <a:off x="1204914" y="1511300"/>
            <a:ext cx="9196386" cy="4902200"/>
          </a:xfrm>
        </p:spPr>
        <p:txBody>
          <a:bodyPr>
            <a:normAutofit/>
          </a:bodyPr>
          <a:lstStyle/>
          <a:p>
            <a:pPr eaLnBrk="1" hangingPunct="1"/>
            <a:r>
              <a:rPr lang="en-US" altLang="en-US" dirty="0" smtClean="0">
                <a:ea typeface="ＭＳ Ｐゴシック" panose="020B0600070205080204" pitchFamily="34" charset="-128"/>
              </a:rPr>
              <a:t>Recent research has shown that rudiments of many of Piaget’s key concepts (e.g., object permanence) may begin to appear at earlier stages than Piaget proposed</a:t>
            </a:r>
          </a:p>
          <a:p>
            <a:pPr marL="804863" lvl="1"/>
            <a:r>
              <a:rPr lang="en-US" altLang="en-US" dirty="0" smtClean="0">
                <a:ea typeface="ＭＳ Ｐゴシック" panose="020B0600070205080204" pitchFamily="34" charset="-128"/>
              </a:rPr>
              <a:t>For example, research that involved tracking infants’ eye movements has found that infants as young as 3 months continue to stare at the place where the object disappeared from sight, indicating some degree of object permanence </a:t>
            </a:r>
            <a:endParaRPr lang="en-US" altLang="en-US" dirty="0" smtClean="0">
              <a:ea typeface="ＭＳ Ｐゴシック" panose="020B0600070205080204" pitchFamily="34" charset="-128"/>
            </a:endParaRPr>
          </a:p>
          <a:p>
            <a:pPr marL="804863" lvl="1"/>
            <a:endParaRPr lang="en-US" altLang="en-US" dirty="0" smtClean="0">
              <a:ea typeface="ＭＳ Ｐゴシック" panose="020B0600070205080204" pitchFamily="34" charset="-128"/>
            </a:endParaRPr>
          </a:p>
          <a:p>
            <a:pPr marL="1033463" lvl="1" indent="-457200"/>
            <a:r>
              <a:rPr lang="en-US" altLang="en-US" sz="2800" dirty="0" smtClean="0">
                <a:ea typeface="ＭＳ Ｐゴシック" panose="020B0600070205080204" pitchFamily="34" charset="-128"/>
              </a:rPr>
              <a:t>Piaget did not include the influence of others. It was later suggested that interaction with others can influence the RATE of development</a:t>
            </a:r>
          </a:p>
        </p:txBody>
      </p:sp>
    </p:spTree>
    <p:extLst>
      <p:ext uri="{BB962C8B-B14F-4D97-AF65-F5344CB8AC3E}">
        <p14:creationId xmlns:p14="http://schemas.microsoft.com/office/powerpoint/2010/main" val="272069526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en-US" altLang="en-US" smtClean="0">
                <a:ea typeface="ＭＳ Ｐゴシック" panose="020B0600070205080204" pitchFamily="34" charset="-128"/>
              </a:rPr>
              <a:t>Evaluation of Piaget’s Theory</a:t>
            </a:r>
          </a:p>
        </p:txBody>
      </p:sp>
      <p:sp>
        <p:nvSpPr>
          <p:cNvPr id="52227" name="Rectangle 3"/>
          <p:cNvSpPr>
            <a:spLocks noGrp="1" noChangeArrowheads="1"/>
          </p:cNvSpPr>
          <p:nvPr>
            <p:ph type="body" idx="1"/>
          </p:nvPr>
        </p:nvSpPr>
        <p:spPr>
          <a:xfrm>
            <a:off x="3048000" y="1824039"/>
            <a:ext cx="7162800" cy="4300537"/>
          </a:xfrm>
        </p:spPr>
        <p:txBody>
          <a:bodyPr>
            <a:normAutofit fontScale="92500" lnSpcReduction="20000"/>
          </a:bodyPr>
          <a:lstStyle/>
          <a:p>
            <a:pPr>
              <a:lnSpc>
                <a:spcPct val="95000"/>
              </a:lnSpc>
            </a:pPr>
            <a:r>
              <a:rPr lang="en-US" altLang="en-US" dirty="0" smtClean="0">
                <a:ea typeface="ＭＳ Ｐゴシック" panose="020B0600070205080204" pitchFamily="34" charset="-128"/>
              </a:rPr>
              <a:t>Not </a:t>
            </a:r>
            <a:r>
              <a:rPr lang="en-US" altLang="en-US" dirty="0">
                <a:ea typeface="ＭＳ Ｐゴシック" panose="020B0600070205080204" pitchFamily="34" charset="-128"/>
              </a:rPr>
              <a:t>all people reach formal operational </a:t>
            </a:r>
            <a:r>
              <a:rPr lang="en-US" altLang="en-US" dirty="0" smtClean="0">
                <a:ea typeface="ＭＳ Ｐゴシック" panose="020B0600070205080204" pitchFamily="34" charset="-128"/>
              </a:rPr>
              <a:t>thought</a:t>
            </a:r>
          </a:p>
          <a:p>
            <a:pPr>
              <a:lnSpc>
                <a:spcPct val="95000"/>
              </a:lnSpc>
            </a:pPr>
            <a:r>
              <a:rPr lang="en-US" altLang="en-US" dirty="0" smtClean="0">
                <a:ea typeface="ＭＳ Ｐゴシック" panose="020B0600070205080204" pitchFamily="34" charset="-128"/>
              </a:rPr>
              <a:t>The </a:t>
            </a:r>
            <a:r>
              <a:rPr lang="en-US" altLang="en-US" dirty="0">
                <a:ea typeface="ＭＳ Ｐゴシック" panose="020B0600070205080204" pitchFamily="34" charset="-128"/>
              </a:rPr>
              <a:t>theory may be biased in favor of Western </a:t>
            </a:r>
            <a:r>
              <a:rPr lang="en-US" altLang="en-US" dirty="0" smtClean="0">
                <a:ea typeface="ＭＳ Ｐゴシック" panose="020B0600070205080204" pitchFamily="34" charset="-128"/>
              </a:rPr>
              <a:t>culture</a:t>
            </a:r>
          </a:p>
          <a:p>
            <a:pPr>
              <a:lnSpc>
                <a:spcPct val="95000"/>
              </a:lnSpc>
            </a:pPr>
            <a:r>
              <a:rPr lang="en-US" altLang="en-US" dirty="0" smtClean="0">
                <a:ea typeface="ＭＳ Ｐゴシック" panose="020B0600070205080204" pitchFamily="34" charset="-128"/>
              </a:rPr>
              <a:t>There </a:t>
            </a:r>
            <a:r>
              <a:rPr lang="en-US" altLang="en-US" dirty="0">
                <a:ea typeface="ＭＳ Ｐゴシック" panose="020B0600070205080204" pitchFamily="34" charset="-128"/>
              </a:rPr>
              <a:t>is no real theory of what occurs after the onset of </a:t>
            </a:r>
            <a:r>
              <a:rPr lang="en-US" altLang="en-US" dirty="0" smtClean="0">
                <a:ea typeface="ＭＳ Ｐゴシック" panose="020B0600070205080204" pitchFamily="34" charset="-128"/>
              </a:rPr>
              <a:t>adolescence </a:t>
            </a:r>
          </a:p>
          <a:p>
            <a:pPr marL="0" indent="0">
              <a:lnSpc>
                <a:spcPct val="95000"/>
              </a:lnSpc>
              <a:buNone/>
            </a:pPr>
            <a:endParaRPr lang="en-US" altLang="en-US" dirty="0" smtClean="0">
              <a:ea typeface="ＭＳ Ｐゴシック" panose="020B0600070205080204" pitchFamily="34" charset="-128"/>
            </a:endParaRPr>
          </a:p>
          <a:p>
            <a:pPr marL="0" indent="0">
              <a:lnSpc>
                <a:spcPct val="95000"/>
              </a:lnSpc>
              <a:buNone/>
            </a:pPr>
            <a:r>
              <a:rPr lang="en-US" altLang="en-US" dirty="0" smtClean="0">
                <a:ea typeface="ＭＳ Ｐゴシック" panose="020B0600070205080204" pitchFamily="34" charset="-128"/>
              </a:rPr>
              <a:t>Overall - Despite </a:t>
            </a:r>
            <a:r>
              <a:rPr lang="en-US" altLang="en-US" dirty="0">
                <a:ea typeface="ＭＳ Ｐゴシック" panose="020B0600070205080204" pitchFamily="34" charset="-128"/>
              </a:rPr>
              <a:t>refinements, recent research has indeed shown that cognitive development seems to proceed in the general sequence of stages that Piaget proposed </a:t>
            </a:r>
            <a:endParaRPr lang="en-US" altLang="en-US" dirty="0" smtClean="0">
              <a:ea typeface="ＭＳ Ｐゴシック" panose="020B0600070205080204" pitchFamily="34" charset="-128"/>
            </a:endParaRPr>
          </a:p>
          <a:p>
            <a:pPr marL="0" indent="0">
              <a:lnSpc>
                <a:spcPct val="95000"/>
              </a:lnSpc>
              <a:buNone/>
            </a:pPr>
            <a:r>
              <a:rPr lang="en-US" altLang="en-US" dirty="0" smtClean="0">
                <a:ea typeface="ＭＳ Ｐゴシック" panose="020B0600070205080204" pitchFamily="34" charset="-128"/>
              </a:rPr>
              <a:t>i.e. </a:t>
            </a:r>
            <a:r>
              <a:rPr lang="en-AU" b="1" dirty="0" smtClean="0"/>
              <a:t>sequence</a:t>
            </a:r>
            <a:r>
              <a:rPr lang="en-AU" dirty="0" smtClean="0"/>
              <a:t> of milestones agreed upon but not necessarily the age. </a:t>
            </a:r>
          </a:p>
          <a:p>
            <a:pPr marL="0" indent="0">
              <a:lnSpc>
                <a:spcPct val="95000"/>
              </a:lnSpc>
              <a:buNone/>
            </a:pPr>
            <a:endParaRPr lang="en-US" altLang="en-US" dirty="0">
              <a:ea typeface="ＭＳ Ｐゴシック" panose="020B0600070205080204" pitchFamily="34" charset="-128"/>
            </a:endParaRPr>
          </a:p>
        </p:txBody>
      </p:sp>
      <p:sp>
        <p:nvSpPr>
          <p:cNvPr id="618500" name="AutoShape 4"/>
          <p:cNvSpPr>
            <a:spLocks noChangeArrowheads="1"/>
          </p:cNvSpPr>
          <p:nvPr/>
        </p:nvSpPr>
        <p:spPr bwMode="auto">
          <a:xfrm>
            <a:off x="2133600" y="1828800"/>
            <a:ext cx="457200" cy="4648200"/>
          </a:xfrm>
          <a:prstGeom prst="roundRect">
            <a:avLst>
              <a:gd name="adj" fmla="val 16667"/>
            </a:avLst>
          </a:prstGeom>
          <a:gradFill rotWithShape="1">
            <a:gsLst>
              <a:gs pos="0">
                <a:schemeClr val="accent1"/>
              </a:gs>
              <a:gs pos="50000">
                <a:schemeClr val="accent1">
                  <a:gamma/>
                  <a:tint val="20000"/>
                  <a:invGamma/>
                </a:schemeClr>
              </a:gs>
              <a:gs pos="100000">
                <a:schemeClr val="accent1"/>
              </a:gs>
            </a:gsLst>
            <a:lin ang="0" scaled="1"/>
          </a:gra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eaLnBrk="1" hangingPunct="1">
              <a:defRPr/>
            </a:pPr>
            <a:endParaRPr lang="en-AU"/>
          </a:p>
        </p:txBody>
      </p:sp>
    </p:spTree>
    <p:extLst>
      <p:ext uri="{BB962C8B-B14F-4D97-AF65-F5344CB8AC3E}">
        <p14:creationId xmlns:p14="http://schemas.microsoft.com/office/powerpoint/2010/main" val="27387104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Criticisms of validity</a:t>
            </a:r>
            <a:endParaRPr lang="en-AU" dirty="0"/>
          </a:p>
        </p:txBody>
      </p:sp>
      <p:sp>
        <p:nvSpPr>
          <p:cNvPr id="3" name="Content Placeholder 2"/>
          <p:cNvSpPr>
            <a:spLocks noGrp="1"/>
          </p:cNvSpPr>
          <p:nvPr>
            <p:ph idx="1"/>
          </p:nvPr>
        </p:nvSpPr>
        <p:spPr>
          <a:xfrm>
            <a:off x="838200" y="1482724"/>
            <a:ext cx="10515600" cy="5070475"/>
          </a:xfrm>
        </p:spPr>
        <p:txBody>
          <a:bodyPr>
            <a:normAutofit lnSpcReduction="10000"/>
          </a:bodyPr>
          <a:lstStyle/>
          <a:p>
            <a:r>
              <a:rPr lang="en-AU" dirty="0" smtClean="0"/>
              <a:t>Unfamiliar materials and situations</a:t>
            </a:r>
          </a:p>
          <a:p>
            <a:pPr lvl="1"/>
            <a:r>
              <a:rPr lang="en-AU" dirty="0" smtClean="0"/>
              <a:t>Hughes’ policeman task – children showed ability to take other’s point of view in a mare familiar situation. Suggested that the mountains were too abstract</a:t>
            </a:r>
          </a:p>
          <a:p>
            <a:r>
              <a:rPr lang="en-AU" dirty="0" smtClean="0"/>
              <a:t>Language used is not conversational</a:t>
            </a:r>
          </a:p>
          <a:p>
            <a:pPr lvl="1"/>
            <a:r>
              <a:rPr lang="en-AU" dirty="0" err="1" smtClean="0"/>
              <a:t>Siegal</a:t>
            </a:r>
            <a:r>
              <a:rPr lang="en-AU" dirty="0" smtClean="0"/>
              <a:t> suggested the questions posed broke normal rules of conversation e.g. asking questions when the answers are ‘obvious’. Also suggested they could change answers to please the experimenter</a:t>
            </a:r>
          </a:p>
          <a:p>
            <a:r>
              <a:rPr lang="en-AU" dirty="0" smtClean="0"/>
              <a:t>Competence vs Performance</a:t>
            </a:r>
          </a:p>
          <a:p>
            <a:pPr lvl="1"/>
            <a:r>
              <a:rPr lang="en-AU" dirty="0" smtClean="0"/>
              <a:t>Suggested children can do the reasoning but not explain to the experimenter well enough</a:t>
            </a:r>
          </a:p>
          <a:p>
            <a:r>
              <a:rPr lang="en-AU" dirty="0" smtClean="0"/>
              <a:t>Education vs development</a:t>
            </a:r>
          </a:p>
          <a:p>
            <a:pPr lvl="1"/>
            <a:r>
              <a:rPr lang="en-AU" dirty="0" err="1" smtClean="0"/>
              <a:t>Seagrim</a:t>
            </a:r>
            <a:r>
              <a:rPr lang="en-AU" dirty="0" smtClean="0"/>
              <a:t> – experimented with Aboriginal children – those raised in western schooling did better – cultural effects?</a:t>
            </a:r>
          </a:p>
        </p:txBody>
      </p:sp>
    </p:spTree>
    <p:extLst>
      <p:ext uri="{BB962C8B-B14F-4D97-AF65-F5344CB8AC3E}">
        <p14:creationId xmlns:p14="http://schemas.microsoft.com/office/powerpoint/2010/main" val="1376658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1101</Words>
  <Application>Microsoft Office PowerPoint</Application>
  <PresentationFormat>Widescreen</PresentationFormat>
  <Paragraphs>90</Paragraphs>
  <Slides>19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ＭＳ Ｐゴシック</vt:lpstr>
      <vt:lpstr>Arial</vt:lpstr>
      <vt:lpstr>Calibri</vt:lpstr>
      <vt:lpstr>Calibri Light</vt:lpstr>
      <vt:lpstr>Stone Sans ITC TT-Semi</vt:lpstr>
      <vt:lpstr>Times</vt:lpstr>
      <vt:lpstr>Wingdings</vt:lpstr>
      <vt:lpstr>Office Theme</vt:lpstr>
      <vt:lpstr>Stage Theories of Psychology - Piaget</vt:lpstr>
      <vt:lpstr>Jean Piaget</vt:lpstr>
      <vt:lpstr>Piaget’s Theory of  Cognitive Development </vt:lpstr>
      <vt:lpstr>Schemas</vt:lpstr>
      <vt:lpstr>Schemas</vt:lpstr>
      <vt:lpstr>Piaget’s Stages of  Cognitive Development</vt:lpstr>
      <vt:lpstr>Piaget’s Stages of  Cognitive Development</vt:lpstr>
      <vt:lpstr>Sensorimotor Stage</vt:lpstr>
      <vt:lpstr>Preoperational Stage</vt:lpstr>
      <vt:lpstr>Preoperational Stage</vt:lpstr>
      <vt:lpstr>Preoperational Stage</vt:lpstr>
      <vt:lpstr>Tests of Conservation</vt:lpstr>
      <vt:lpstr>Concrete Operational Stage</vt:lpstr>
      <vt:lpstr>Formal Operational Stage</vt:lpstr>
      <vt:lpstr>Formal Operational Stage</vt:lpstr>
      <vt:lpstr>Formal Operational Stage</vt:lpstr>
      <vt:lpstr>Evaluation of Piaget’s Theory</vt:lpstr>
      <vt:lpstr>Evaluation of Piaget’s Theory</vt:lpstr>
      <vt:lpstr>Criticisms of validity</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EDWARDS Natalie [Narrogin Senior High School]</dc:creator>
  <cp:lastModifiedBy>EDWARDS Natalie [Narrogin Senior High School]</cp:lastModifiedBy>
  <cp:revision>5</cp:revision>
  <dcterms:created xsi:type="dcterms:W3CDTF">2021-05-26T07:48:01Z</dcterms:created>
  <dcterms:modified xsi:type="dcterms:W3CDTF">2021-05-26T08:45:12Z</dcterms:modified>
</cp:coreProperties>
</file>
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68" r:id="rId4"/>
    <p:sldId id="258" r:id="rId5"/>
    <p:sldId id="257" r:id="rId6"/>
    <p:sldId id="260" r:id="rId7"/>
    <p:sldId id="261" r:id="rId8"/>
    <p:sldId id="262" r:id="rId9"/>
    <p:sldId id="263" r:id="rId10"/>
    <p:sldId id="265" r:id="rId11"/>
    <p:sldId id="266" r:id="rId12"/>
    <p:sldId id="269" r:id="rId13"/>
    <p:sldId id="267" r:id="rId14"/>
    <p:sldId id="272" r:id="rId15"/>
    <p:sldId id="270" r:id="rId16"/>
    <p:sldId id="271" r:id="rId17"/>
    <p:sldId id="273" r:id="rId1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C35D4CCC-9C5A-4F73-9EBF-223008728512}" type="slidenum">
              <a:rPr lang="en-GB"/>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041CBE3E-1AAE-4B2C-85B7-D858D908B802}"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1E0AE013-57D1-4DBE-81EC-87778A49458E}"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A6CCC481-2739-4799-877E-BCB53DC46AAF}"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
        <p:nvSpPr>
          <p:cNvPr id="9" name="Slide Number Placeholder 8"/>
          <p:cNvSpPr>
            <a:spLocks noGrp="1"/>
          </p:cNvSpPr>
          <p:nvPr>
            <p:ph type="sldNum" sz="quarter" idx="12"/>
          </p:nvPr>
        </p:nvSpPr>
        <p:spPr/>
        <p:txBody>
          <a:bodyPr/>
          <a:lstStyle>
            <a:lvl1pPr>
              <a:defRPr/>
            </a:lvl1pPr>
          </a:lstStyle>
          <a:p>
            <a:fld id="{263166EC-C323-4E2F-8326-117ED55959C0}"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
        <p:nvSpPr>
          <p:cNvPr id="5" name="Slide Number Placeholder 4"/>
          <p:cNvSpPr>
            <a:spLocks noGrp="1"/>
          </p:cNvSpPr>
          <p:nvPr>
            <p:ph type="sldNum" sz="quarter" idx="12"/>
          </p:nvPr>
        </p:nvSpPr>
        <p:spPr/>
        <p:txBody>
          <a:bodyPr/>
          <a:lstStyle>
            <a:lvl1pPr>
              <a:defRPr/>
            </a:lvl1pPr>
          </a:lstStyle>
          <a:p>
            <a:fld id="{95B3FC5C-76A9-4701-A1B4-3FB0E795EC62}"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
        <p:nvSpPr>
          <p:cNvPr id="4" name="Slide Number Placeholder 3"/>
          <p:cNvSpPr>
            <a:spLocks noGrp="1"/>
          </p:cNvSpPr>
          <p:nvPr>
            <p:ph type="sldNum" sz="quarter" idx="12"/>
          </p:nvPr>
        </p:nvSpPr>
        <p:spPr/>
        <p:txBody>
          <a:bodyPr/>
          <a:lstStyle>
            <a:lvl1pPr>
              <a:defRPr/>
            </a:lvl1pPr>
          </a:lstStyle>
          <a:p>
            <a:fld id="{EF8F10C7-2A1A-4A8E-AF03-6349A2FF2C5E}"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CE8E7005-409A-4029-A176-E7B949B8DD92}"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FFCFB592-A3DC-4333-B708-6BE5E2DE6A1D}"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DD91E654-3081-4DF6-9FDA-5576B15FA341}"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4662E0BC-25D7-4281-90CC-270957347843}"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GB"/>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GB"/>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117E42B-8769-4A52-BB51-A1F14B6DCF8A}"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2052" name="Text Box 4"/>
          <p:cNvSpPr txBox="1">
            <a:spLocks noChangeArrowheads="1"/>
          </p:cNvSpPr>
          <p:nvPr/>
        </p:nvSpPr>
        <p:spPr bwMode="auto">
          <a:xfrm>
            <a:off x="827088" y="1484313"/>
            <a:ext cx="5832475" cy="413702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Kohlberg’s stages of moral development:</a:t>
            </a:r>
          </a:p>
          <a:p>
            <a:endParaRPr lang="en-GB" sz="2400" b="1">
              <a:latin typeface="Garamond" pitchFamily="18" charset="0"/>
            </a:endParaRPr>
          </a:p>
          <a:p>
            <a:pPr>
              <a:buFontTx/>
              <a:buChar char="•"/>
            </a:pPr>
            <a:r>
              <a:rPr lang="en-GB" sz="2400">
                <a:latin typeface="Garamond" pitchFamily="18" charset="0"/>
              </a:rPr>
              <a:t> Theory inspired by Jean Piaget </a:t>
            </a:r>
          </a:p>
          <a:p>
            <a:pPr>
              <a:buFontTx/>
              <a:buChar char="•"/>
            </a:pPr>
            <a:endParaRPr lang="en-GB" sz="2400">
              <a:latin typeface="Garamond" pitchFamily="18" charset="0"/>
            </a:endParaRPr>
          </a:p>
          <a:p>
            <a:pPr>
              <a:buFontTx/>
              <a:buChar char="•"/>
            </a:pPr>
            <a:r>
              <a:rPr lang="en-GB" sz="2400">
                <a:latin typeface="Garamond" pitchFamily="18" charset="0"/>
              </a:rPr>
              <a:t> Method - moral dilemmas (Heinz) to investigate children’s reasoning.</a:t>
            </a:r>
          </a:p>
          <a:p>
            <a:endParaRPr lang="en-GB" sz="2400">
              <a:latin typeface="Garamond" pitchFamily="18" charset="0"/>
            </a:endParaRPr>
          </a:p>
          <a:p>
            <a:pPr>
              <a:buFontTx/>
              <a:buChar char="•"/>
            </a:pPr>
            <a:r>
              <a:rPr lang="en-GB" sz="2400">
                <a:latin typeface="Garamond" pitchFamily="18" charset="0"/>
              </a:rPr>
              <a:t> Six stages - concerned with justice.</a:t>
            </a:r>
          </a:p>
          <a:p>
            <a:pPr>
              <a:buFontTx/>
              <a:buChar char="•"/>
            </a:pPr>
            <a:endParaRPr lang="en-GB" sz="2400">
              <a:latin typeface="Garamond" pitchFamily="18" charset="0"/>
            </a:endParaRPr>
          </a:p>
          <a:p>
            <a:pPr>
              <a:buFontTx/>
              <a:buChar char="•"/>
            </a:pPr>
            <a:r>
              <a:rPr lang="en-GB" sz="2400">
                <a:latin typeface="Garamond" pitchFamily="18" charset="0"/>
              </a:rPr>
              <a:t> Not what should be done but reasoning used to justify the response.</a:t>
            </a:r>
          </a:p>
        </p:txBody>
      </p:sp>
      <p:pic>
        <p:nvPicPr>
          <p:cNvPr id="2054" name="Picture 6" descr="kohlberg_1975_2"/>
          <p:cNvPicPr>
            <a:picLocks noChangeAspect="1" noChangeArrowheads="1"/>
          </p:cNvPicPr>
          <p:nvPr/>
        </p:nvPicPr>
        <p:blipFill>
          <a:blip r:embed="rId2" cstate="print"/>
          <a:srcRect l="2831" t="1942" r="5849" b="21675"/>
          <a:stretch>
            <a:fillRect/>
          </a:stretch>
        </p:blipFill>
        <p:spPr bwMode="auto">
          <a:xfrm>
            <a:off x="6443663" y="1844675"/>
            <a:ext cx="2424112" cy="2952750"/>
          </a:xfrm>
          <a:prstGeom prst="rect">
            <a:avLst/>
          </a:prstGeom>
          <a:noFill/>
          <a:ln w="28575">
            <a:solidFill>
              <a:srgbClr val="3399FF"/>
            </a:solidFill>
            <a:miter lim="800000"/>
            <a:headEnd/>
            <a:tailEnd/>
          </a:ln>
        </p:spPr>
      </p:pic>
      <p:sp>
        <p:nvSpPr>
          <p:cNvPr id="2055" name="Text Box 7"/>
          <p:cNvSpPr txBox="1">
            <a:spLocks noChangeArrowheads="1"/>
          </p:cNvSpPr>
          <p:nvPr/>
        </p:nvSpPr>
        <p:spPr bwMode="auto">
          <a:xfrm>
            <a:off x="6804025" y="4941888"/>
            <a:ext cx="2089150" cy="669925"/>
          </a:xfrm>
          <a:prstGeom prst="rect">
            <a:avLst/>
          </a:prstGeom>
          <a:noFill/>
          <a:ln w="28575">
            <a:solidFill>
              <a:srgbClr val="3399FF"/>
            </a:solidFill>
            <a:miter lim="800000"/>
            <a:headEnd/>
            <a:tailEnd/>
          </a:ln>
          <a:effectLst/>
        </p:spPr>
        <p:txBody>
          <a:bodyPr>
            <a:spAutoFit/>
          </a:bodyPr>
          <a:lstStyle/>
          <a:p>
            <a:pPr algn="ctr">
              <a:spcBef>
                <a:spcPct val="50000"/>
              </a:spcBef>
            </a:pPr>
            <a:r>
              <a:rPr lang="en-GB">
                <a:latin typeface="Garamond" pitchFamily="18" charset="0"/>
              </a:rPr>
              <a:t>Lawrence Kohlberg (1927-1987)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8435" name="Text Box 3"/>
          <p:cNvSpPr txBox="1">
            <a:spLocks noChangeArrowheads="1"/>
          </p:cNvSpPr>
          <p:nvPr/>
        </p:nvSpPr>
        <p:spPr bwMode="auto">
          <a:xfrm>
            <a:off x="827088" y="1196975"/>
            <a:ext cx="5473700" cy="3785652"/>
          </a:xfrm>
          <a:prstGeom prst="rect">
            <a:avLst/>
          </a:prstGeom>
          <a:noFill/>
          <a:ln w="28575">
            <a:solidFill>
              <a:srgbClr val="3399FF"/>
            </a:solidFill>
            <a:miter lim="800000"/>
            <a:headEnd/>
            <a:tailEnd/>
          </a:ln>
          <a:effectLst/>
        </p:spPr>
        <p:txBody>
          <a:bodyPr>
            <a:spAutoFit/>
          </a:bodyPr>
          <a:lstStyle/>
          <a:p>
            <a:r>
              <a:rPr lang="en-GB" sz="2400" b="1" dirty="0" smtClean="0">
                <a:latin typeface="Garamond" pitchFamily="18" charset="0"/>
              </a:rPr>
              <a:t>Study</a:t>
            </a:r>
          </a:p>
          <a:p>
            <a:endParaRPr lang="en-GB" sz="2400" b="1" dirty="0">
              <a:latin typeface="Garamond" pitchFamily="18" charset="0"/>
            </a:endParaRPr>
          </a:p>
          <a:p>
            <a:r>
              <a:rPr lang="en-GB" sz="2400" b="1" dirty="0" smtClean="0">
                <a:latin typeface="Garamond" pitchFamily="18" charset="0"/>
              </a:rPr>
              <a:t>10, 13 and 16 year old boys</a:t>
            </a:r>
          </a:p>
          <a:p>
            <a:r>
              <a:rPr lang="en-GB" sz="2400" b="1" dirty="0" smtClean="0">
                <a:latin typeface="Garamond" pitchFamily="18" charset="0"/>
              </a:rPr>
              <a:t>Different facets of morality examined:</a:t>
            </a:r>
          </a:p>
          <a:p>
            <a:endParaRPr lang="en-GB" sz="2400" b="1" dirty="0">
              <a:latin typeface="Garamond" pitchFamily="18" charset="0"/>
            </a:endParaRPr>
          </a:p>
          <a:p>
            <a:pPr marL="342900" indent="-342900">
              <a:buFont typeface="Arial" panose="020B0604020202020204" pitchFamily="34" charset="0"/>
              <a:buChar char="•"/>
            </a:pPr>
            <a:r>
              <a:rPr lang="en-GB" sz="2400" b="1" dirty="0" smtClean="0">
                <a:latin typeface="Garamond" pitchFamily="18" charset="0"/>
              </a:rPr>
              <a:t>Value of life and property</a:t>
            </a:r>
          </a:p>
          <a:p>
            <a:pPr marL="342900" indent="-342900">
              <a:buFont typeface="Arial" panose="020B0604020202020204" pitchFamily="34" charset="0"/>
              <a:buChar char="•"/>
            </a:pPr>
            <a:r>
              <a:rPr lang="en-GB" sz="2400" b="1" dirty="0" smtClean="0">
                <a:latin typeface="Garamond" pitchFamily="18" charset="0"/>
              </a:rPr>
              <a:t>Meaning of rules and laws</a:t>
            </a:r>
          </a:p>
          <a:p>
            <a:pPr marL="342900" indent="-342900">
              <a:buFont typeface="Arial" panose="020B0604020202020204" pitchFamily="34" charset="0"/>
              <a:buChar char="•"/>
            </a:pPr>
            <a:r>
              <a:rPr lang="en-GB" sz="2400" b="1" dirty="0" smtClean="0">
                <a:latin typeface="Garamond" pitchFamily="18" charset="0"/>
              </a:rPr>
              <a:t>Value of honesty</a:t>
            </a:r>
          </a:p>
          <a:p>
            <a:pPr marL="342900" indent="-342900">
              <a:buFont typeface="Arial" panose="020B0604020202020204" pitchFamily="34" charset="0"/>
              <a:buChar char="•"/>
            </a:pPr>
            <a:r>
              <a:rPr lang="en-GB" sz="2400" b="1" smtClean="0">
                <a:latin typeface="Garamond" pitchFamily="18" charset="0"/>
              </a:rPr>
              <a:t>Upholding agreements</a:t>
            </a:r>
          </a:p>
          <a:p>
            <a:pPr marL="342900" indent="-342900">
              <a:buFont typeface="Arial" panose="020B0604020202020204" pitchFamily="34" charset="0"/>
              <a:buChar char="•"/>
            </a:pPr>
            <a:endParaRPr lang="en-GB" sz="2400" dirty="0">
              <a:latin typeface="Garamond" pitchFamily="18" charset="0"/>
            </a:endParaRPr>
          </a:p>
        </p:txBody>
      </p:sp>
    </p:spTree>
    <p:extLst>
      <p:ext uri="{BB962C8B-B14F-4D97-AF65-F5344CB8AC3E}">
        <p14:creationId xmlns:p14="http://schemas.microsoft.com/office/powerpoint/2010/main" val="726396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pic>
        <p:nvPicPr>
          <p:cNvPr id="14340" name="Picture 4"/>
          <p:cNvPicPr>
            <a:picLocks noChangeAspect="1" noChangeArrowheads="1"/>
          </p:cNvPicPr>
          <p:nvPr/>
        </p:nvPicPr>
        <p:blipFill>
          <a:blip r:embed="rId2" cstate="print"/>
          <a:srcRect l="31837" t="39964" r="29878" b="27870"/>
          <a:stretch>
            <a:fillRect/>
          </a:stretch>
        </p:blipFill>
        <p:spPr bwMode="auto">
          <a:xfrm>
            <a:off x="755650" y="1223963"/>
            <a:ext cx="7704138" cy="4852987"/>
          </a:xfrm>
          <a:prstGeom prst="rect">
            <a:avLst/>
          </a:prstGeom>
          <a:noFill/>
          <a:ln w="28575">
            <a:solidFill>
              <a:srgbClr val="3399FF"/>
            </a:solid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4099" name="Text Box 3"/>
          <p:cNvSpPr txBox="1">
            <a:spLocks noChangeArrowheads="1"/>
          </p:cNvSpPr>
          <p:nvPr/>
        </p:nvSpPr>
        <p:spPr bwMode="auto">
          <a:xfrm>
            <a:off x="827088" y="1484313"/>
            <a:ext cx="7416800" cy="4692650"/>
          </a:xfrm>
          <a:prstGeom prst="rect">
            <a:avLst/>
          </a:prstGeom>
          <a:noFill/>
          <a:ln w="28575">
            <a:solidFill>
              <a:srgbClr val="3399FF"/>
            </a:solidFill>
            <a:miter lim="800000"/>
            <a:headEnd/>
            <a:tailEnd/>
          </a:ln>
          <a:effectLst/>
        </p:spPr>
        <p:txBody>
          <a:bodyPr>
            <a:spAutoFit/>
          </a:bodyPr>
          <a:lstStyle/>
          <a:p>
            <a:r>
              <a:rPr lang="en-GB" sz="2000" b="1">
                <a:latin typeface="Garamond" pitchFamily="18" charset="0"/>
              </a:rPr>
              <a:t>The Heinz dilemma:</a:t>
            </a:r>
          </a:p>
          <a:p>
            <a:r>
              <a:rPr lang="en-GB" sz="2000">
                <a:latin typeface="Garamond" pitchFamily="18" charset="0"/>
              </a:rPr>
              <a:t>A woman was near death from a special kind of cancer. There was one drug that the doctors thought might save her. It was a form of radium that a druggist in the same town had recently discovered. The drug was expensive to make, but the druggist was charging ten times what the drug cost him to produce. He paid $200 for the radium and charged $2,000 for a small dose of the drug. The sick woman's husband, Heinz, went to everyone he knew to borrow the money, but he could only get together about $1,000 which is half of what it cost. He told the druggist that his wife was dying and asked him to sell it cheaper or let him pay later. But the druggist said: "No, I discovered the drug and I'm going to make money from it." So Heinz got desperate and broke into the man's store to steal the drug for his wife.</a:t>
            </a:r>
          </a:p>
          <a:p>
            <a:pPr lvl="1"/>
            <a:r>
              <a:rPr lang="en-GB" sz="2000">
                <a:latin typeface="Garamond" pitchFamily="18" charset="0"/>
              </a:rPr>
              <a:t>Should Heinz have broken into the store to steal the drug for his wife? Why or why not?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3075" name="Text Box 3"/>
          <p:cNvSpPr txBox="1">
            <a:spLocks noChangeArrowheads="1"/>
          </p:cNvSpPr>
          <p:nvPr/>
        </p:nvSpPr>
        <p:spPr bwMode="auto">
          <a:xfrm>
            <a:off x="827088" y="1484313"/>
            <a:ext cx="6553200" cy="4502150"/>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one (</a:t>
            </a:r>
            <a:r>
              <a:rPr lang="en-GB" sz="2400" b="1" i="1">
                <a:latin typeface="Garamond" pitchFamily="18" charset="0"/>
              </a:rPr>
              <a:t>punishment </a:t>
            </a:r>
            <a:r>
              <a:rPr lang="en-GB" sz="2400" b="1">
                <a:latin typeface="Garamond" pitchFamily="18" charset="0"/>
              </a:rPr>
              <a:t>&amp; </a:t>
            </a:r>
            <a:r>
              <a:rPr lang="en-GB" sz="2400" b="1" i="1">
                <a:latin typeface="Garamond" pitchFamily="18" charset="0"/>
              </a:rPr>
              <a:t>obedience</a:t>
            </a:r>
            <a:r>
              <a:rPr lang="en-GB" sz="2400" b="1">
                <a:latin typeface="Garamond" pitchFamily="18" charset="0"/>
              </a:rPr>
              <a:t>):</a:t>
            </a:r>
            <a:r>
              <a:rPr lang="en-GB" sz="2400">
                <a:latin typeface="Garamond" pitchFamily="18" charset="0"/>
              </a:rPr>
              <a:t> </a:t>
            </a: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pPr>
              <a:buFontTx/>
              <a:buChar char="•"/>
            </a:pPr>
            <a:r>
              <a:rPr lang="en-GB" sz="2400">
                <a:latin typeface="Garamond" pitchFamily="18" charset="0"/>
              </a:rPr>
              <a:t> He will be put in prison</a:t>
            </a:r>
          </a:p>
          <a:p>
            <a:pPr>
              <a:buFontTx/>
              <a:buChar char="•"/>
            </a:pPr>
            <a:endParaRPr lang="en-GB" sz="2400">
              <a:latin typeface="Garamond" pitchFamily="18" charset="0"/>
            </a:endParaRPr>
          </a:p>
          <a:p>
            <a:pPr>
              <a:buFontTx/>
              <a:buChar char="•"/>
            </a:pPr>
            <a:r>
              <a:rPr lang="en-GB" sz="2400">
                <a:latin typeface="Garamond" pitchFamily="18" charset="0"/>
              </a:rPr>
              <a:t> Which means he’s a mean bad person. </a:t>
            </a:r>
          </a:p>
          <a:p>
            <a:endParaRPr lang="en-GB" sz="2400">
              <a:latin typeface="Garamond" pitchFamily="18" charset="0"/>
            </a:endParaRPr>
          </a:p>
          <a:p>
            <a:r>
              <a:rPr lang="en-GB" sz="2400">
                <a:latin typeface="Garamond" pitchFamily="18" charset="0"/>
              </a:rPr>
              <a:t>Or: </a:t>
            </a:r>
          </a:p>
          <a:p>
            <a:r>
              <a:rPr lang="en-GB" sz="2400">
                <a:latin typeface="Garamond" pitchFamily="18" charset="0"/>
              </a:rPr>
              <a:t>Heinz </a:t>
            </a:r>
            <a:r>
              <a:rPr lang="en-GB" sz="2400" u="sng">
                <a:latin typeface="Garamond" pitchFamily="18" charset="0"/>
              </a:rPr>
              <a:t>should</a:t>
            </a:r>
            <a:r>
              <a:rPr lang="en-GB" sz="2400">
                <a:latin typeface="Garamond" pitchFamily="18" charset="0"/>
              </a:rPr>
              <a:t> steal the drug </a:t>
            </a:r>
          </a:p>
          <a:p>
            <a:pPr>
              <a:buFontTx/>
              <a:buChar char="•"/>
            </a:pPr>
            <a:r>
              <a:rPr lang="en-GB" sz="2400">
                <a:latin typeface="Garamond" pitchFamily="18" charset="0"/>
              </a:rPr>
              <a:t> it is only worth $200 </a:t>
            </a:r>
          </a:p>
          <a:p>
            <a:pPr>
              <a:buFontTx/>
              <a:buChar char="•"/>
            </a:pPr>
            <a:endParaRPr lang="en-GB" sz="2400">
              <a:latin typeface="Garamond" pitchFamily="18" charset="0"/>
            </a:endParaRPr>
          </a:p>
          <a:p>
            <a:pPr>
              <a:buFontTx/>
              <a:buChar char="•"/>
            </a:pPr>
            <a:r>
              <a:rPr lang="en-GB" sz="2400">
                <a:latin typeface="Garamond" pitchFamily="18" charset="0"/>
              </a:rPr>
              <a:t> Heinz had even offered to pay &amp; wouldn’t steal anything else.</a:t>
            </a:r>
          </a:p>
        </p:txBody>
      </p:sp>
      <p:pic>
        <p:nvPicPr>
          <p:cNvPr id="3077" name="Picture 5" descr="obedience"/>
          <p:cNvPicPr>
            <a:picLocks noChangeAspect="1" noChangeArrowheads="1"/>
          </p:cNvPicPr>
          <p:nvPr/>
        </p:nvPicPr>
        <p:blipFill>
          <a:blip r:embed="rId2" cstate="print"/>
          <a:srcRect/>
          <a:stretch>
            <a:fillRect/>
          </a:stretch>
        </p:blipFill>
        <p:spPr bwMode="auto">
          <a:xfrm>
            <a:off x="6011863" y="1341438"/>
            <a:ext cx="2509837" cy="381635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6147" name="Text Box 3"/>
          <p:cNvSpPr txBox="1">
            <a:spLocks noChangeArrowheads="1"/>
          </p:cNvSpPr>
          <p:nvPr/>
        </p:nvSpPr>
        <p:spPr bwMode="auto">
          <a:xfrm>
            <a:off x="827088" y="1484313"/>
            <a:ext cx="4895850" cy="413702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two (</a:t>
            </a:r>
            <a:r>
              <a:rPr lang="en-GB" sz="2400" b="1" i="1">
                <a:latin typeface="Garamond" pitchFamily="18" charset="0"/>
              </a:rPr>
              <a:t>reward</a:t>
            </a:r>
            <a:r>
              <a:rPr lang="en-GB" sz="2400" b="1">
                <a:latin typeface="Garamond" pitchFamily="18" charset="0"/>
              </a:rPr>
              <a:t> &amp; </a:t>
            </a:r>
            <a:r>
              <a:rPr lang="en-GB" sz="2400" b="1" i="1">
                <a:latin typeface="Garamond" pitchFamily="18" charset="0"/>
              </a:rPr>
              <a:t>self-interest</a:t>
            </a:r>
            <a:r>
              <a:rPr lang="en-GB" sz="2400" b="1">
                <a:latin typeface="Garamond" pitchFamily="18" charset="0"/>
              </a:rPr>
              <a:t>):</a:t>
            </a:r>
            <a:r>
              <a:rPr lang="en-GB" sz="2400">
                <a:latin typeface="Garamond" pitchFamily="18" charset="0"/>
              </a:rPr>
              <a:t> </a:t>
            </a:r>
          </a:p>
          <a:p>
            <a:endParaRPr lang="en-GB" sz="2400">
              <a:latin typeface="Garamond" pitchFamily="18" charset="0"/>
            </a:endParaRP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pPr>
              <a:buFontTx/>
              <a:buChar char="•"/>
            </a:pPr>
            <a:r>
              <a:rPr lang="en-GB" sz="2400">
                <a:latin typeface="Garamond" pitchFamily="18" charset="0"/>
              </a:rPr>
              <a:t> Prison is awful a jail cell is worse than his wife's death.</a:t>
            </a:r>
          </a:p>
          <a:p>
            <a:endParaRPr lang="en-GB" sz="2400">
              <a:latin typeface="Garamond" pitchFamily="18" charset="0"/>
            </a:endParaRPr>
          </a:p>
          <a:p>
            <a:r>
              <a:rPr lang="en-GB" sz="2400">
                <a:latin typeface="Garamond" pitchFamily="18" charset="0"/>
              </a:rPr>
              <a:t>Or: </a:t>
            </a:r>
          </a:p>
          <a:p>
            <a:endParaRPr lang="en-GB" sz="2400">
              <a:latin typeface="Garamond" pitchFamily="18" charset="0"/>
            </a:endParaRPr>
          </a:p>
          <a:p>
            <a:r>
              <a:rPr lang="en-GB" sz="2400">
                <a:latin typeface="Garamond" pitchFamily="18" charset="0"/>
              </a:rPr>
              <a:t>Heinz </a:t>
            </a:r>
            <a:r>
              <a:rPr lang="en-GB" sz="2400" u="sng">
                <a:latin typeface="Garamond" pitchFamily="18" charset="0"/>
              </a:rPr>
              <a:t>should</a:t>
            </a:r>
            <a:r>
              <a:rPr lang="en-GB" sz="2400">
                <a:latin typeface="Garamond" pitchFamily="18" charset="0"/>
              </a:rPr>
              <a:t> steal the drug</a:t>
            </a:r>
          </a:p>
          <a:p>
            <a:pPr>
              <a:buFontTx/>
              <a:buChar char="•"/>
            </a:pPr>
            <a:r>
              <a:rPr lang="en-GB" sz="2400">
                <a:latin typeface="Garamond" pitchFamily="18" charset="0"/>
              </a:rPr>
              <a:t> he will be much happier if he saves his wife</a:t>
            </a:r>
          </a:p>
        </p:txBody>
      </p:sp>
      <p:pic>
        <p:nvPicPr>
          <p:cNvPr id="6149" name="Picture 5" descr="selfinterest"/>
          <p:cNvPicPr>
            <a:picLocks noChangeAspect="1" noChangeArrowheads="1"/>
          </p:cNvPicPr>
          <p:nvPr/>
        </p:nvPicPr>
        <p:blipFill>
          <a:blip r:embed="rId2" cstate="print"/>
          <a:srcRect/>
          <a:stretch>
            <a:fillRect/>
          </a:stretch>
        </p:blipFill>
        <p:spPr bwMode="auto">
          <a:xfrm>
            <a:off x="5580063" y="1341438"/>
            <a:ext cx="3024187" cy="2703512"/>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7171" name="Text Box 3"/>
          <p:cNvSpPr txBox="1">
            <a:spLocks noChangeArrowheads="1"/>
          </p:cNvSpPr>
          <p:nvPr/>
        </p:nvSpPr>
        <p:spPr bwMode="auto">
          <a:xfrm>
            <a:off x="827088" y="1341438"/>
            <a:ext cx="7705725"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three (</a:t>
            </a:r>
            <a:r>
              <a:rPr lang="en-GB" sz="2400" b="1" i="1">
                <a:latin typeface="Garamond" pitchFamily="18" charset="0"/>
              </a:rPr>
              <a:t>conformity – good-boy/nice girl </a:t>
            </a:r>
            <a:r>
              <a:rPr lang="en-GB" sz="2400" b="1">
                <a:latin typeface="Garamond" pitchFamily="18" charset="0"/>
              </a:rPr>
              <a:t>):</a:t>
            </a:r>
            <a:r>
              <a:rPr lang="en-GB" sz="2400">
                <a:latin typeface="Garamond" pitchFamily="18" charset="0"/>
              </a:rPr>
              <a:t> </a:t>
            </a:r>
          </a:p>
          <a:p>
            <a:endParaRPr lang="en-GB" sz="2400">
              <a:latin typeface="Garamond" pitchFamily="18" charset="0"/>
            </a:endParaRP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pPr>
              <a:buFontTx/>
              <a:buChar char="•"/>
            </a:pPr>
            <a:r>
              <a:rPr lang="en-GB" sz="2400">
                <a:latin typeface="Garamond" pitchFamily="18" charset="0"/>
              </a:rPr>
              <a:t> Stealing is bad &amp; he’s not a criminal</a:t>
            </a:r>
          </a:p>
          <a:p>
            <a:pPr>
              <a:buFontTx/>
              <a:buChar char="•"/>
            </a:pPr>
            <a:endParaRPr lang="en-GB" sz="2400">
              <a:latin typeface="Garamond" pitchFamily="18" charset="0"/>
            </a:endParaRPr>
          </a:p>
          <a:p>
            <a:pPr>
              <a:buFontTx/>
              <a:buChar char="•"/>
            </a:pPr>
            <a:r>
              <a:rPr lang="en-GB" sz="2400">
                <a:latin typeface="Garamond" pitchFamily="18" charset="0"/>
              </a:rPr>
              <a:t> He tried without breaking the law, you can’t blame him.</a:t>
            </a:r>
          </a:p>
          <a:p>
            <a:pPr>
              <a:buFontTx/>
              <a:buChar char="•"/>
            </a:pPr>
            <a:endParaRPr lang="en-GB" sz="2400">
              <a:latin typeface="Garamond" pitchFamily="18" charset="0"/>
            </a:endParaRPr>
          </a:p>
          <a:p>
            <a:r>
              <a:rPr lang="en-GB" sz="2400">
                <a:latin typeface="Garamond" pitchFamily="18" charset="0"/>
              </a:rPr>
              <a:t>Or: </a:t>
            </a:r>
          </a:p>
          <a:p>
            <a:r>
              <a:rPr lang="en-GB" sz="2400">
                <a:latin typeface="Garamond" pitchFamily="18" charset="0"/>
              </a:rPr>
              <a:t>Heinz </a:t>
            </a:r>
            <a:r>
              <a:rPr lang="en-GB" sz="2400" u="sng">
                <a:latin typeface="Garamond" pitchFamily="18" charset="0"/>
              </a:rPr>
              <a:t>should</a:t>
            </a:r>
            <a:r>
              <a:rPr lang="en-GB" sz="2400">
                <a:latin typeface="Garamond" pitchFamily="18" charset="0"/>
              </a:rPr>
              <a:t> steal the drug</a:t>
            </a:r>
          </a:p>
          <a:p>
            <a:endParaRPr lang="en-GB" sz="2400">
              <a:latin typeface="Garamond" pitchFamily="18" charset="0"/>
            </a:endParaRPr>
          </a:p>
          <a:p>
            <a:pPr>
              <a:buFontTx/>
              <a:buChar char="•"/>
            </a:pPr>
            <a:r>
              <a:rPr lang="en-GB" sz="2400">
                <a:latin typeface="Garamond" pitchFamily="18" charset="0"/>
              </a:rPr>
              <a:t> His wife expects it;</a:t>
            </a:r>
          </a:p>
          <a:p>
            <a:pPr>
              <a:buFontTx/>
              <a:buChar char="•"/>
            </a:pPr>
            <a:endParaRPr lang="en-GB" sz="2400">
              <a:latin typeface="Garamond" pitchFamily="18" charset="0"/>
            </a:endParaRPr>
          </a:p>
          <a:p>
            <a:pPr>
              <a:buFontTx/>
              <a:buChar char="•"/>
            </a:pPr>
            <a:r>
              <a:rPr lang="en-GB" sz="2400">
                <a:latin typeface="Garamond" pitchFamily="18" charset="0"/>
              </a:rPr>
              <a:t> He wants to be a good husband. </a:t>
            </a:r>
          </a:p>
        </p:txBody>
      </p:sp>
      <p:pic>
        <p:nvPicPr>
          <p:cNvPr id="7173" name="Picture 5" descr="conformity"/>
          <p:cNvPicPr>
            <a:picLocks noChangeAspect="1" noChangeArrowheads="1"/>
          </p:cNvPicPr>
          <p:nvPr/>
        </p:nvPicPr>
        <p:blipFill>
          <a:blip r:embed="rId2" cstate="print"/>
          <a:srcRect l="10237" t="9444" r="11732" b="26007"/>
          <a:stretch>
            <a:fillRect/>
          </a:stretch>
        </p:blipFill>
        <p:spPr bwMode="auto">
          <a:xfrm>
            <a:off x="5292725" y="4149725"/>
            <a:ext cx="3600450" cy="241935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8195" name="Text Box 3"/>
          <p:cNvSpPr txBox="1">
            <a:spLocks noChangeArrowheads="1"/>
          </p:cNvSpPr>
          <p:nvPr/>
        </p:nvSpPr>
        <p:spPr bwMode="auto">
          <a:xfrm>
            <a:off x="827088" y="1484313"/>
            <a:ext cx="4895850" cy="413702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four (</a:t>
            </a:r>
            <a:r>
              <a:rPr lang="en-GB" sz="2400" b="1" i="1">
                <a:latin typeface="Garamond" pitchFamily="18" charset="0"/>
              </a:rPr>
              <a:t>law-and-order</a:t>
            </a:r>
            <a:r>
              <a:rPr lang="en-GB" sz="2400" b="1">
                <a:latin typeface="Garamond" pitchFamily="18" charset="0"/>
              </a:rPr>
              <a:t>):</a:t>
            </a:r>
            <a:r>
              <a:rPr lang="en-GB" sz="2400">
                <a:latin typeface="Garamond" pitchFamily="18" charset="0"/>
              </a:rPr>
              <a:t> </a:t>
            </a:r>
          </a:p>
          <a:p>
            <a:endParaRPr lang="en-GB" sz="2400">
              <a:latin typeface="Garamond" pitchFamily="18" charset="0"/>
            </a:endParaRP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pPr>
              <a:buFontTx/>
              <a:buChar char="•"/>
            </a:pPr>
            <a:r>
              <a:rPr lang="en-GB" sz="2400">
                <a:latin typeface="Garamond" pitchFamily="18" charset="0"/>
              </a:rPr>
              <a:t> the law prohibits stealing it’s  illegal. </a:t>
            </a:r>
          </a:p>
          <a:p>
            <a:endParaRPr lang="en-GB" sz="2400">
              <a:latin typeface="Garamond" pitchFamily="18" charset="0"/>
            </a:endParaRPr>
          </a:p>
          <a:p>
            <a:r>
              <a:rPr lang="en-GB" sz="2400">
                <a:latin typeface="Garamond" pitchFamily="18" charset="0"/>
              </a:rPr>
              <a:t>Or: Heinz should steal the drug </a:t>
            </a:r>
          </a:p>
          <a:p>
            <a:endParaRPr lang="en-GB" sz="2400">
              <a:latin typeface="Garamond" pitchFamily="18" charset="0"/>
            </a:endParaRPr>
          </a:p>
          <a:p>
            <a:pPr>
              <a:buFontTx/>
              <a:buChar char="•"/>
            </a:pPr>
            <a:r>
              <a:rPr lang="en-GB" sz="2400">
                <a:latin typeface="Garamond" pitchFamily="18" charset="0"/>
              </a:rPr>
              <a:t> He </a:t>
            </a:r>
            <a:r>
              <a:rPr lang="en-GB" sz="2400" u="sng">
                <a:latin typeface="Garamond" pitchFamily="18" charset="0"/>
              </a:rPr>
              <a:t>should</a:t>
            </a:r>
            <a:r>
              <a:rPr lang="en-GB" sz="2400">
                <a:latin typeface="Garamond" pitchFamily="18" charset="0"/>
              </a:rPr>
              <a:t> take the punishment for the crime &amp; pay the druggist </a:t>
            </a:r>
          </a:p>
          <a:p>
            <a:pPr>
              <a:buFontTx/>
              <a:buChar char="•"/>
            </a:pPr>
            <a:endParaRPr lang="en-GB" sz="2400">
              <a:latin typeface="Garamond" pitchFamily="18" charset="0"/>
            </a:endParaRPr>
          </a:p>
          <a:p>
            <a:pPr>
              <a:buFontTx/>
              <a:buChar char="•"/>
            </a:pPr>
            <a:r>
              <a:rPr lang="en-GB" sz="2400">
                <a:latin typeface="Garamond" pitchFamily="18" charset="0"/>
              </a:rPr>
              <a:t> Actions have their consequences.</a:t>
            </a:r>
          </a:p>
        </p:txBody>
      </p:sp>
      <p:pic>
        <p:nvPicPr>
          <p:cNvPr id="8197" name="Picture 5" descr="Law%20&amp;%20Order"/>
          <p:cNvPicPr>
            <a:picLocks noChangeAspect="1" noChangeArrowheads="1"/>
          </p:cNvPicPr>
          <p:nvPr/>
        </p:nvPicPr>
        <p:blipFill>
          <a:blip r:embed="rId2" cstate="print"/>
          <a:srcRect/>
          <a:stretch>
            <a:fillRect/>
          </a:stretch>
        </p:blipFill>
        <p:spPr bwMode="auto">
          <a:xfrm>
            <a:off x="5580063" y="3389313"/>
            <a:ext cx="2952750" cy="295275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9219" name="Text Box 3"/>
          <p:cNvSpPr txBox="1">
            <a:spLocks noChangeArrowheads="1"/>
          </p:cNvSpPr>
          <p:nvPr/>
        </p:nvSpPr>
        <p:spPr bwMode="auto">
          <a:xfrm>
            <a:off x="827088" y="1484313"/>
            <a:ext cx="4895850"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five (</a:t>
            </a:r>
            <a:r>
              <a:rPr lang="en-GB" sz="2400" b="1" i="1">
                <a:latin typeface="Garamond" pitchFamily="18" charset="0"/>
              </a:rPr>
              <a:t>human rights</a:t>
            </a:r>
            <a:r>
              <a:rPr lang="en-GB" sz="2400" b="1">
                <a:latin typeface="Garamond" pitchFamily="18" charset="0"/>
              </a:rPr>
              <a:t>):</a:t>
            </a:r>
            <a:r>
              <a:rPr lang="en-GB" sz="2400">
                <a:latin typeface="Garamond" pitchFamily="18" charset="0"/>
              </a:rPr>
              <a:t> </a:t>
            </a: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endParaRPr lang="en-GB" sz="2400">
              <a:latin typeface="Garamond" pitchFamily="18" charset="0"/>
            </a:endParaRPr>
          </a:p>
          <a:p>
            <a:pPr>
              <a:buFontTx/>
              <a:buChar char="•"/>
            </a:pPr>
            <a:r>
              <a:rPr lang="en-GB" sz="2400">
                <a:latin typeface="Garamond" pitchFamily="18" charset="0"/>
              </a:rPr>
              <a:t> The scientist has a right to fair compensation.</a:t>
            </a:r>
          </a:p>
          <a:p>
            <a:pPr>
              <a:buFontTx/>
              <a:buChar char="•"/>
            </a:pPr>
            <a:endParaRPr lang="en-GB" sz="2400">
              <a:latin typeface="Garamond" pitchFamily="18" charset="0"/>
            </a:endParaRPr>
          </a:p>
          <a:p>
            <a:pPr>
              <a:buFontTx/>
              <a:buChar char="•"/>
            </a:pPr>
            <a:r>
              <a:rPr lang="en-GB" sz="2400">
                <a:latin typeface="Garamond" pitchFamily="18" charset="0"/>
              </a:rPr>
              <a:t> His wife’s illness it does not make his actions right.</a:t>
            </a:r>
          </a:p>
          <a:p>
            <a:r>
              <a:rPr lang="en-GB" sz="2400">
                <a:latin typeface="Garamond" pitchFamily="18" charset="0"/>
              </a:rPr>
              <a:t>Or: </a:t>
            </a:r>
          </a:p>
          <a:p>
            <a:r>
              <a:rPr lang="en-GB" sz="2400">
                <a:latin typeface="Garamond" pitchFamily="18" charset="0"/>
              </a:rPr>
              <a:t>Heinz </a:t>
            </a:r>
            <a:r>
              <a:rPr lang="en-GB" sz="2400" u="sng">
                <a:latin typeface="Garamond" pitchFamily="18" charset="0"/>
              </a:rPr>
              <a:t>should</a:t>
            </a:r>
            <a:r>
              <a:rPr lang="en-GB" sz="2400">
                <a:latin typeface="Garamond" pitchFamily="18" charset="0"/>
              </a:rPr>
              <a:t> steal the drug</a:t>
            </a:r>
          </a:p>
          <a:p>
            <a:endParaRPr lang="en-GB" sz="2400">
              <a:latin typeface="Garamond" pitchFamily="18" charset="0"/>
            </a:endParaRPr>
          </a:p>
          <a:p>
            <a:pPr>
              <a:buFontTx/>
              <a:buChar char="•"/>
            </a:pPr>
            <a:r>
              <a:rPr lang="en-GB" sz="2400">
                <a:latin typeface="Garamond" pitchFamily="18" charset="0"/>
              </a:rPr>
              <a:t> Everyone has a right to choose life, regardless of the law. </a:t>
            </a:r>
          </a:p>
        </p:txBody>
      </p:sp>
      <p:pic>
        <p:nvPicPr>
          <p:cNvPr id="9221" name="Picture 5" descr="logo_colour"/>
          <p:cNvPicPr>
            <a:picLocks noChangeAspect="1" noChangeArrowheads="1"/>
          </p:cNvPicPr>
          <p:nvPr/>
        </p:nvPicPr>
        <p:blipFill>
          <a:blip r:embed="rId2" cstate="print"/>
          <a:srcRect l="2176" t="716" b="6731"/>
          <a:stretch>
            <a:fillRect/>
          </a:stretch>
        </p:blipFill>
        <p:spPr bwMode="auto">
          <a:xfrm>
            <a:off x="5364163" y="1123950"/>
            <a:ext cx="3168650" cy="2536825"/>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1267" name="Text Box 3"/>
          <p:cNvSpPr txBox="1">
            <a:spLocks noChangeArrowheads="1"/>
          </p:cNvSpPr>
          <p:nvPr/>
        </p:nvSpPr>
        <p:spPr bwMode="auto">
          <a:xfrm>
            <a:off x="827088" y="1484313"/>
            <a:ext cx="4895850"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Stage six (</a:t>
            </a:r>
            <a:r>
              <a:rPr lang="en-GB" sz="2400" b="1" i="1">
                <a:latin typeface="Garamond" pitchFamily="18" charset="0"/>
              </a:rPr>
              <a:t>universal human ethics</a:t>
            </a:r>
            <a:r>
              <a:rPr lang="en-GB" sz="2400" b="1">
                <a:latin typeface="Garamond" pitchFamily="18" charset="0"/>
              </a:rPr>
              <a:t>):</a:t>
            </a:r>
            <a:r>
              <a:rPr lang="en-GB" sz="2400">
                <a:latin typeface="Garamond" pitchFamily="18" charset="0"/>
              </a:rPr>
              <a:t> </a:t>
            </a:r>
          </a:p>
          <a:p>
            <a:r>
              <a:rPr lang="en-GB" sz="2400">
                <a:latin typeface="Garamond" pitchFamily="18" charset="0"/>
              </a:rPr>
              <a:t>Heinz </a:t>
            </a:r>
            <a:r>
              <a:rPr lang="en-GB" sz="2400" u="sng">
                <a:latin typeface="Garamond" pitchFamily="18" charset="0"/>
              </a:rPr>
              <a:t>should not</a:t>
            </a:r>
            <a:r>
              <a:rPr lang="en-GB" sz="2400">
                <a:latin typeface="Garamond" pitchFamily="18" charset="0"/>
              </a:rPr>
              <a:t> steal the drug</a:t>
            </a:r>
          </a:p>
          <a:p>
            <a:endParaRPr lang="en-GB" sz="2400">
              <a:latin typeface="Garamond" pitchFamily="18" charset="0"/>
            </a:endParaRPr>
          </a:p>
          <a:p>
            <a:pPr>
              <a:buFontTx/>
              <a:buChar char="•"/>
            </a:pPr>
            <a:r>
              <a:rPr lang="en-GB" sz="2400">
                <a:latin typeface="Garamond" pitchFamily="18" charset="0"/>
              </a:rPr>
              <a:t> Others may need the drug just as badly &amp; their lives are equally significant.</a:t>
            </a:r>
          </a:p>
          <a:p>
            <a:endParaRPr lang="en-GB" sz="2400">
              <a:latin typeface="Garamond" pitchFamily="18" charset="0"/>
            </a:endParaRPr>
          </a:p>
          <a:p>
            <a:r>
              <a:rPr lang="en-GB" sz="2400">
                <a:latin typeface="Garamond" pitchFamily="18" charset="0"/>
              </a:rPr>
              <a:t>Or: </a:t>
            </a:r>
          </a:p>
          <a:p>
            <a:r>
              <a:rPr lang="en-GB" sz="2400">
                <a:latin typeface="Garamond" pitchFamily="18" charset="0"/>
              </a:rPr>
              <a:t>Heinz </a:t>
            </a:r>
            <a:r>
              <a:rPr lang="en-GB" sz="2400" u="sng">
                <a:latin typeface="Garamond" pitchFamily="18" charset="0"/>
              </a:rPr>
              <a:t>should</a:t>
            </a:r>
            <a:r>
              <a:rPr lang="en-GB" sz="2400">
                <a:latin typeface="Garamond" pitchFamily="18" charset="0"/>
              </a:rPr>
              <a:t> steal the drug</a:t>
            </a:r>
          </a:p>
          <a:p>
            <a:endParaRPr lang="en-GB" sz="2400">
              <a:latin typeface="Garamond" pitchFamily="18" charset="0"/>
            </a:endParaRPr>
          </a:p>
          <a:p>
            <a:pPr>
              <a:buFontTx/>
              <a:buChar char="•"/>
            </a:pPr>
            <a:r>
              <a:rPr lang="en-GB" sz="2400">
                <a:latin typeface="Garamond" pitchFamily="18" charset="0"/>
              </a:rPr>
              <a:t> Saving a human life is a more fundamental value than the property rights of another person. </a:t>
            </a:r>
          </a:p>
        </p:txBody>
      </p:sp>
      <p:pic>
        <p:nvPicPr>
          <p:cNvPr id="11270" name="Picture 6" descr="human-rights-logo"/>
          <p:cNvPicPr>
            <a:picLocks noChangeAspect="1" noChangeArrowheads="1"/>
          </p:cNvPicPr>
          <p:nvPr/>
        </p:nvPicPr>
        <p:blipFill>
          <a:blip r:embed="rId2" cstate="print"/>
          <a:srcRect/>
          <a:stretch>
            <a:fillRect/>
          </a:stretch>
        </p:blipFill>
        <p:spPr bwMode="auto">
          <a:xfrm>
            <a:off x="5364163" y="2060575"/>
            <a:ext cx="3384550" cy="338455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2291" name="Text Box 3"/>
          <p:cNvSpPr txBox="1">
            <a:spLocks noChangeArrowheads="1"/>
          </p:cNvSpPr>
          <p:nvPr/>
        </p:nvSpPr>
        <p:spPr bwMode="auto">
          <a:xfrm>
            <a:off x="827088" y="1484313"/>
            <a:ext cx="7777162" cy="4502150"/>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Discussion:</a:t>
            </a:r>
            <a:r>
              <a:rPr lang="en-GB" sz="2400">
                <a:latin typeface="Garamond" pitchFamily="18" charset="0"/>
              </a:rPr>
              <a:t> </a:t>
            </a:r>
          </a:p>
          <a:p>
            <a:pPr>
              <a:buFontTx/>
              <a:buChar char="•"/>
            </a:pPr>
            <a:r>
              <a:rPr lang="en-GB" sz="2400">
                <a:latin typeface="Garamond" pitchFamily="18" charset="0"/>
              </a:rPr>
              <a:t> Cognitive development influences moral reasoning.</a:t>
            </a:r>
          </a:p>
          <a:p>
            <a:pPr>
              <a:buFontTx/>
              <a:buChar char="•"/>
            </a:pPr>
            <a:endParaRPr lang="en-GB" sz="2400">
              <a:latin typeface="Garamond" pitchFamily="18" charset="0"/>
            </a:endParaRPr>
          </a:p>
          <a:p>
            <a:pPr>
              <a:buFontTx/>
              <a:buChar char="•"/>
            </a:pPr>
            <a:r>
              <a:rPr lang="en-GB" sz="2400">
                <a:latin typeface="Garamond" pitchFamily="18" charset="0"/>
              </a:rPr>
              <a:t> From self-centred to other centred – compliment’s Piaget.</a:t>
            </a:r>
          </a:p>
          <a:p>
            <a:pPr>
              <a:buFontTx/>
              <a:buChar char="•"/>
            </a:pPr>
            <a:endParaRPr lang="en-GB" sz="2400">
              <a:latin typeface="Garamond" pitchFamily="18" charset="0"/>
            </a:endParaRPr>
          </a:p>
          <a:p>
            <a:pPr>
              <a:buFontTx/>
              <a:buChar char="•"/>
            </a:pPr>
            <a:r>
              <a:rPr lang="en-GB" sz="2400">
                <a:latin typeface="Garamond" pitchFamily="18" charset="0"/>
              </a:rPr>
              <a:t> From social compliance to universal principles demanded by individual conscience</a:t>
            </a:r>
          </a:p>
          <a:p>
            <a:pPr>
              <a:buFontTx/>
              <a:buChar char="•"/>
            </a:pPr>
            <a:endParaRPr lang="en-GB" sz="2400">
              <a:latin typeface="Garamond" pitchFamily="18" charset="0"/>
            </a:endParaRPr>
          </a:p>
          <a:p>
            <a:pPr>
              <a:buFontTx/>
              <a:buChar char="•"/>
            </a:pPr>
            <a:r>
              <a:rPr lang="en-GB" sz="2400">
                <a:latin typeface="Garamond" pitchFamily="18" charset="0"/>
              </a:rPr>
              <a:t> Do all achieve this? </a:t>
            </a:r>
          </a:p>
          <a:p>
            <a:endParaRPr lang="en-GB" sz="2400">
              <a:latin typeface="Garamond" pitchFamily="18" charset="0"/>
            </a:endParaRPr>
          </a:p>
          <a:p>
            <a:pPr>
              <a:buFontTx/>
              <a:buChar char="•"/>
            </a:pPr>
            <a:r>
              <a:rPr lang="en-GB" sz="2400">
                <a:latin typeface="Garamond" pitchFamily="18" charset="0"/>
              </a:rPr>
              <a:t> A cultural ideal based in a </a:t>
            </a:r>
          </a:p>
          <a:p>
            <a:r>
              <a:rPr lang="en-GB" sz="2400">
                <a:latin typeface="Garamond" pitchFamily="18" charset="0"/>
              </a:rPr>
              <a:t>western philosophical tradition?</a:t>
            </a:r>
          </a:p>
        </p:txBody>
      </p:sp>
      <p:pic>
        <p:nvPicPr>
          <p:cNvPr id="12296" name="Picture 8" descr="home_nurse_04"/>
          <p:cNvPicPr>
            <a:picLocks noChangeAspect="1" noChangeArrowheads="1"/>
          </p:cNvPicPr>
          <p:nvPr/>
        </p:nvPicPr>
        <p:blipFill>
          <a:blip r:embed="rId2" cstate="print"/>
          <a:srcRect b="4424"/>
          <a:stretch>
            <a:fillRect/>
          </a:stretch>
        </p:blipFill>
        <p:spPr bwMode="auto">
          <a:xfrm>
            <a:off x="5292725" y="4149725"/>
            <a:ext cx="3600450" cy="2405063"/>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5363" name="Text Box 3"/>
          <p:cNvSpPr txBox="1">
            <a:spLocks noChangeArrowheads="1"/>
          </p:cNvSpPr>
          <p:nvPr/>
        </p:nvSpPr>
        <p:spPr bwMode="auto">
          <a:xfrm>
            <a:off x="684213" y="1268413"/>
            <a:ext cx="7775575" cy="413702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Evaluation:</a:t>
            </a:r>
          </a:p>
          <a:p>
            <a:endParaRPr lang="en-GB" sz="2400">
              <a:latin typeface="Garamond" pitchFamily="18" charset="0"/>
            </a:endParaRPr>
          </a:p>
          <a:p>
            <a:pPr>
              <a:buFontTx/>
              <a:buChar char="•"/>
            </a:pPr>
            <a:r>
              <a:rPr lang="en-GB" sz="2400">
                <a:latin typeface="Garamond" pitchFamily="18" charset="0"/>
              </a:rPr>
              <a:t> </a:t>
            </a:r>
            <a:r>
              <a:rPr lang="en-GB" sz="2400" b="1">
                <a:latin typeface="Garamond" pitchFamily="18" charset="0"/>
              </a:rPr>
              <a:t>Colby </a:t>
            </a:r>
            <a:r>
              <a:rPr lang="en-GB" sz="2400" b="1" i="1">
                <a:latin typeface="Garamond" pitchFamily="18" charset="0"/>
              </a:rPr>
              <a:t>et al</a:t>
            </a:r>
            <a:r>
              <a:rPr lang="en-GB" sz="2400" b="1">
                <a:latin typeface="Garamond" pitchFamily="18" charset="0"/>
              </a:rPr>
              <a:t> (1983)</a:t>
            </a:r>
            <a:r>
              <a:rPr lang="en-GB" sz="2400">
                <a:latin typeface="Garamond" pitchFamily="18" charset="0"/>
              </a:rPr>
              <a:t> 20 year longitudinal study of 58 American males who progressed as predicted through levels 1 – 4.</a:t>
            </a:r>
          </a:p>
          <a:p>
            <a:pPr>
              <a:buFontTx/>
              <a:buChar char="•"/>
            </a:pPr>
            <a:endParaRPr lang="en-GB" sz="2400">
              <a:latin typeface="Garamond" pitchFamily="18" charset="0"/>
            </a:endParaRPr>
          </a:p>
          <a:p>
            <a:pPr>
              <a:buFontTx/>
              <a:buChar char="•"/>
            </a:pPr>
            <a:r>
              <a:rPr lang="en-GB" sz="2400">
                <a:latin typeface="Garamond" pitchFamily="18" charset="0"/>
              </a:rPr>
              <a:t> 10-16 yrs</a:t>
            </a:r>
            <a:r>
              <a:rPr lang="en-GB"/>
              <a:t> </a:t>
            </a:r>
            <a:r>
              <a:rPr lang="en-GB" sz="2400">
                <a:latin typeface="Garamond" pitchFamily="18" charset="0"/>
              </a:rPr>
              <a:t>stages 1 &amp; 2 decreased &amp; stage 3 &amp; 4 increased.</a:t>
            </a:r>
          </a:p>
          <a:p>
            <a:pPr>
              <a:buFontTx/>
              <a:buChar char="•"/>
            </a:pPr>
            <a:endParaRPr lang="en-GB" sz="2400">
              <a:latin typeface="Garamond" pitchFamily="18" charset="0"/>
            </a:endParaRPr>
          </a:p>
          <a:p>
            <a:pPr>
              <a:buFontTx/>
              <a:buChar char="•"/>
            </a:pPr>
            <a:r>
              <a:rPr lang="en-GB" sz="2400">
                <a:latin typeface="Garamond" pitchFamily="18" charset="0"/>
              </a:rPr>
              <a:t> But only 10% at stage 5 </a:t>
            </a:r>
          </a:p>
          <a:p>
            <a:r>
              <a:rPr lang="en-GB" sz="2400">
                <a:latin typeface="Garamond" pitchFamily="18" charset="0"/>
              </a:rPr>
              <a:t>in their 30’s.</a:t>
            </a:r>
          </a:p>
          <a:p>
            <a:pPr>
              <a:buFontTx/>
              <a:buChar char="•"/>
            </a:pPr>
            <a:endParaRPr lang="en-GB" sz="2400">
              <a:latin typeface="Garamond" pitchFamily="18" charset="0"/>
            </a:endParaRPr>
          </a:p>
          <a:p>
            <a:pPr>
              <a:buFontTx/>
              <a:buChar char="•"/>
            </a:pPr>
            <a:r>
              <a:rPr lang="en-GB" sz="2400">
                <a:latin typeface="Garamond" pitchFamily="18" charset="0"/>
              </a:rPr>
              <a:t> No evidence of stage 6.</a:t>
            </a:r>
          </a:p>
        </p:txBody>
      </p:sp>
      <p:pic>
        <p:nvPicPr>
          <p:cNvPr id="15364" name="Picture 4"/>
          <p:cNvPicPr>
            <a:picLocks noChangeAspect="1" noChangeArrowheads="1"/>
          </p:cNvPicPr>
          <p:nvPr/>
        </p:nvPicPr>
        <p:blipFill>
          <a:blip r:embed="rId2" cstate="print"/>
          <a:srcRect l="59047" t="58769" r="8838" b="10489"/>
          <a:stretch>
            <a:fillRect/>
          </a:stretch>
        </p:blipFill>
        <p:spPr bwMode="auto">
          <a:xfrm>
            <a:off x="4643438" y="3573463"/>
            <a:ext cx="4321175" cy="3103562"/>
          </a:xfrm>
          <a:prstGeom prst="rect">
            <a:avLst/>
          </a:prstGeom>
          <a:noFill/>
          <a:ln w="28575">
            <a:solidFill>
              <a:srgbClr val="3399FF"/>
            </a:solid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3315" name="Text Box 3"/>
          <p:cNvSpPr txBox="1">
            <a:spLocks noChangeArrowheads="1"/>
          </p:cNvSpPr>
          <p:nvPr/>
        </p:nvSpPr>
        <p:spPr bwMode="auto">
          <a:xfrm>
            <a:off x="827088" y="1196975"/>
            <a:ext cx="5473700" cy="4502150"/>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Snarey (1985)</a:t>
            </a:r>
            <a:r>
              <a:rPr lang="en-GB" sz="2400">
                <a:latin typeface="Garamond" pitchFamily="18" charset="0"/>
              </a:rPr>
              <a:t> meta-analysis of 44 studies from 27 cultures.</a:t>
            </a:r>
          </a:p>
          <a:p>
            <a:pPr>
              <a:buFontTx/>
              <a:buChar char="•"/>
            </a:pPr>
            <a:endParaRPr lang="en-GB" sz="2400">
              <a:latin typeface="Garamond" pitchFamily="18" charset="0"/>
            </a:endParaRPr>
          </a:p>
          <a:p>
            <a:pPr>
              <a:buFontTx/>
              <a:buChar char="•"/>
            </a:pPr>
            <a:r>
              <a:rPr lang="en-GB" sz="2400">
                <a:latin typeface="Garamond" pitchFamily="18" charset="0"/>
              </a:rPr>
              <a:t> Supports Kohlberg prediction through levels 1 – 4.</a:t>
            </a:r>
          </a:p>
          <a:p>
            <a:pPr>
              <a:buFontTx/>
              <a:buChar char="•"/>
            </a:pPr>
            <a:endParaRPr lang="en-GB" sz="2400">
              <a:latin typeface="Garamond" pitchFamily="18" charset="0"/>
            </a:endParaRPr>
          </a:p>
          <a:p>
            <a:pPr>
              <a:buFontTx/>
              <a:buChar char="•"/>
            </a:pPr>
            <a:r>
              <a:rPr lang="en-GB" sz="2400">
                <a:latin typeface="Garamond" pitchFamily="18" charset="0"/>
              </a:rPr>
              <a:t> Same order &amp; time.</a:t>
            </a:r>
          </a:p>
          <a:p>
            <a:pPr>
              <a:buFontTx/>
              <a:buChar char="•"/>
            </a:pPr>
            <a:endParaRPr lang="en-GB" sz="2400">
              <a:latin typeface="Garamond" pitchFamily="18" charset="0"/>
            </a:endParaRPr>
          </a:p>
          <a:p>
            <a:pPr>
              <a:buFontTx/>
              <a:buChar char="•"/>
            </a:pPr>
            <a:r>
              <a:rPr lang="en-GB" sz="2400">
                <a:latin typeface="Garamond" pitchFamily="18" charset="0"/>
              </a:rPr>
              <a:t> Stage 5 more in western cultures than rural or village cultures.</a:t>
            </a:r>
          </a:p>
          <a:p>
            <a:pPr>
              <a:buFontTx/>
              <a:buChar char="•"/>
            </a:pPr>
            <a:endParaRPr lang="en-GB" sz="2400">
              <a:latin typeface="Garamond" pitchFamily="18" charset="0"/>
            </a:endParaRPr>
          </a:p>
          <a:p>
            <a:pPr>
              <a:buFontTx/>
              <a:buChar char="•"/>
            </a:pPr>
            <a:r>
              <a:rPr lang="en-GB" sz="2400">
                <a:latin typeface="Garamond" pitchFamily="18" charset="0"/>
              </a:rPr>
              <a:t> Reflection of western individualism.</a:t>
            </a:r>
          </a:p>
        </p:txBody>
      </p:sp>
      <p:pic>
        <p:nvPicPr>
          <p:cNvPr id="13320" name="Picture 8" descr="individualism"/>
          <p:cNvPicPr>
            <a:picLocks noChangeAspect="1" noChangeArrowheads="1"/>
          </p:cNvPicPr>
          <p:nvPr/>
        </p:nvPicPr>
        <p:blipFill>
          <a:blip r:embed="rId2" cstate="print"/>
          <a:srcRect/>
          <a:stretch>
            <a:fillRect/>
          </a:stretch>
        </p:blipFill>
        <p:spPr bwMode="auto">
          <a:xfrm>
            <a:off x="5867400" y="4724400"/>
            <a:ext cx="2881313" cy="189865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8435" name="Text Box 3"/>
          <p:cNvSpPr txBox="1">
            <a:spLocks noChangeArrowheads="1"/>
          </p:cNvSpPr>
          <p:nvPr/>
        </p:nvSpPr>
        <p:spPr bwMode="auto">
          <a:xfrm>
            <a:off x="827088" y="1196975"/>
            <a:ext cx="5473700"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Isawa (1992)</a:t>
            </a:r>
            <a:r>
              <a:rPr lang="en-GB" sz="2400">
                <a:latin typeface="Garamond" pitchFamily="18" charset="0"/>
              </a:rPr>
              <a:t> </a:t>
            </a:r>
          </a:p>
          <a:p>
            <a:endParaRPr lang="en-GB" sz="2400">
              <a:latin typeface="Garamond" pitchFamily="18" charset="0"/>
            </a:endParaRPr>
          </a:p>
          <a:p>
            <a:pPr>
              <a:buFontTx/>
              <a:buChar char="•"/>
            </a:pPr>
            <a:r>
              <a:rPr lang="en-GB" sz="2400">
                <a:latin typeface="Garamond" pitchFamily="18" charset="0"/>
              </a:rPr>
              <a:t> Cross cultural analysis Japan &amp; USA</a:t>
            </a:r>
          </a:p>
          <a:p>
            <a:pPr>
              <a:buFontTx/>
              <a:buChar char="•"/>
            </a:pPr>
            <a:endParaRPr lang="en-GB" sz="2400">
              <a:latin typeface="Garamond" pitchFamily="18" charset="0"/>
            </a:endParaRPr>
          </a:p>
          <a:p>
            <a:pPr>
              <a:buFontTx/>
              <a:buChar char="•"/>
            </a:pPr>
            <a:r>
              <a:rPr lang="en-GB" sz="2400">
                <a:latin typeface="Garamond" pitchFamily="18" charset="0"/>
              </a:rPr>
              <a:t> Similar stages of moral reasoning</a:t>
            </a:r>
          </a:p>
          <a:p>
            <a:pPr>
              <a:buFontTx/>
              <a:buChar char="•"/>
            </a:pPr>
            <a:endParaRPr lang="en-GB" sz="2400">
              <a:latin typeface="Garamond" pitchFamily="18" charset="0"/>
            </a:endParaRPr>
          </a:p>
          <a:p>
            <a:pPr>
              <a:buFontTx/>
              <a:buChar char="•"/>
            </a:pPr>
            <a:r>
              <a:rPr lang="en-GB" sz="2400">
                <a:latin typeface="Garamond" pitchFamily="18" charset="0"/>
              </a:rPr>
              <a:t> But cultural differences</a:t>
            </a:r>
          </a:p>
          <a:p>
            <a:pPr>
              <a:buFontTx/>
              <a:buChar char="•"/>
            </a:pPr>
            <a:endParaRPr lang="en-GB" sz="2400">
              <a:latin typeface="Garamond" pitchFamily="18" charset="0"/>
            </a:endParaRPr>
          </a:p>
          <a:p>
            <a:pPr>
              <a:buFontTx/>
              <a:buChar char="•"/>
            </a:pPr>
            <a:r>
              <a:rPr lang="en-GB" sz="2400">
                <a:latin typeface="Garamond" pitchFamily="18" charset="0"/>
              </a:rPr>
              <a:t> USA participants favoured Heinz stealing to preserve his wife’s life.</a:t>
            </a:r>
          </a:p>
          <a:p>
            <a:pPr>
              <a:buFontTx/>
              <a:buChar char="•"/>
            </a:pPr>
            <a:endParaRPr lang="en-GB" sz="2400">
              <a:latin typeface="Garamond" pitchFamily="18" charset="0"/>
            </a:endParaRPr>
          </a:p>
          <a:p>
            <a:pPr>
              <a:buFontTx/>
              <a:buChar char="•"/>
            </a:pPr>
            <a:r>
              <a:rPr lang="en-GB" sz="2400">
                <a:latin typeface="Garamond" pitchFamily="18" charset="0"/>
              </a:rPr>
              <a:t> Japanese participants thought he should not to preserve a clean &amp; pure life.</a:t>
            </a:r>
          </a:p>
        </p:txBody>
      </p:sp>
      <p:pic>
        <p:nvPicPr>
          <p:cNvPr id="18438" name="Picture 6" descr="zen_garden_kyoto"/>
          <p:cNvPicPr>
            <a:picLocks noChangeAspect="1" noChangeArrowheads="1"/>
          </p:cNvPicPr>
          <p:nvPr/>
        </p:nvPicPr>
        <p:blipFill>
          <a:blip r:embed="rId2" cstate="print"/>
          <a:srcRect/>
          <a:stretch>
            <a:fillRect/>
          </a:stretch>
        </p:blipFill>
        <p:spPr bwMode="auto">
          <a:xfrm>
            <a:off x="6084888" y="1052513"/>
            <a:ext cx="2398712" cy="3097212"/>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6387" name="Text Box 3"/>
          <p:cNvSpPr txBox="1">
            <a:spLocks noChangeArrowheads="1"/>
          </p:cNvSpPr>
          <p:nvPr/>
        </p:nvSpPr>
        <p:spPr bwMode="auto">
          <a:xfrm>
            <a:off x="827088" y="1196975"/>
            <a:ext cx="5905500"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Tomlinson-Keasey &amp; Keasey (1974)</a:t>
            </a:r>
            <a:r>
              <a:rPr lang="en-GB" sz="2400">
                <a:latin typeface="Garamond" pitchFamily="18" charset="0"/>
              </a:rPr>
              <a:t> investigated links between cognitive &amp; moral development.</a:t>
            </a:r>
          </a:p>
          <a:p>
            <a:endParaRPr lang="en-GB" sz="2400">
              <a:latin typeface="Garamond" pitchFamily="18" charset="0"/>
            </a:endParaRPr>
          </a:p>
          <a:p>
            <a:pPr>
              <a:buFontTx/>
              <a:buChar char="•"/>
            </a:pPr>
            <a:r>
              <a:rPr lang="en-GB" sz="2400">
                <a:latin typeface="Garamond" pitchFamily="18" charset="0"/>
              </a:rPr>
              <a:t> Girls of 11 – 12 years at Stage 5 scored well on tests of abstract reasoning – as predicted.</a:t>
            </a:r>
          </a:p>
          <a:p>
            <a:pPr>
              <a:buFontTx/>
              <a:buChar char="•"/>
            </a:pPr>
            <a:endParaRPr lang="en-GB" sz="2400">
              <a:latin typeface="Garamond" pitchFamily="18" charset="0"/>
            </a:endParaRPr>
          </a:p>
          <a:p>
            <a:pPr>
              <a:buFontTx/>
              <a:buChar char="•"/>
            </a:pPr>
            <a:r>
              <a:rPr lang="en-GB" sz="2400">
                <a:latin typeface="Garamond" pitchFamily="18" charset="0"/>
              </a:rPr>
              <a:t> But some failed to show stage 5 moral reasoning.</a:t>
            </a:r>
          </a:p>
          <a:p>
            <a:pPr>
              <a:buFontTx/>
              <a:buChar char="•"/>
            </a:pPr>
            <a:endParaRPr lang="en-GB" sz="2400">
              <a:latin typeface="Garamond" pitchFamily="18" charset="0"/>
            </a:endParaRPr>
          </a:p>
          <a:p>
            <a:pPr>
              <a:buFontTx/>
              <a:buChar char="•"/>
            </a:pPr>
            <a:r>
              <a:rPr lang="en-GB" sz="2400">
                <a:latin typeface="Garamond" pitchFamily="18" charset="0"/>
              </a:rPr>
              <a:t> Abstract reasoning may be a necessary precondition but is not a sufficient explanation of Post – Conventional moral reasoning.</a:t>
            </a:r>
          </a:p>
        </p:txBody>
      </p:sp>
      <p:pic>
        <p:nvPicPr>
          <p:cNvPr id="16391" name="Picture 7" descr="moralsign3490"/>
          <p:cNvPicPr>
            <a:picLocks noChangeAspect="1" noChangeArrowheads="1"/>
          </p:cNvPicPr>
          <p:nvPr/>
        </p:nvPicPr>
        <p:blipFill>
          <a:blip r:embed="rId2" cstate="print"/>
          <a:srcRect/>
          <a:stretch>
            <a:fillRect/>
          </a:stretch>
        </p:blipFill>
        <p:spPr bwMode="auto">
          <a:xfrm>
            <a:off x="6588125" y="2205038"/>
            <a:ext cx="2343150" cy="3238500"/>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7413" name="Text Box 5"/>
          <p:cNvSpPr txBox="1">
            <a:spLocks noChangeArrowheads="1"/>
          </p:cNvSpPr>
          <p:nvPr/>
        </p:nvSpPr>
        <p:spPr bwMode="auto">
          <a:xfrm>
            <a:off x="827088" y="1196975"/>
            <a:ext cx="6337300" cy="5141913"/>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Carol Gilligan (1982)</a:t>
            </a:r>
            <a:r>
              <a:rPr lang="en-GB" sz="2400">
                <a:latin typeface="Garamond" pitchFamily="18" charset="0"/>
              </a:rPr>
              <a:t> Kohlberg is sex-biased - </a:t>
            </a:r>
            <a:r>
              <a:rPr lang="en-GB" sz="2400" i="1">
                <a:latin typeface="Garamond" pitchFamily="18" charset="0"/>
              </a:rPr>
              <a:t>androcentrism </a:t>
            </a:r>
            <a:r>
              <a:rPr lang="en-GB">
                <a:latin typeface="Garamond" pitchFamily="18" charset="0"/>
              </a:rPr>
              <a:t>(GK. </a:t>
            </a:r>
            <a:r>
              <a:rPr lang="en-GB" i="1">
                <a:latin typeface="Garamond" pitchFamily="18" charset="0"/>
              </a:rPr>
              <a:t>Andro</a:t>
            </a:r>
            <a:r>
              <a:rPr lang="en-GB">
                <a:latin typeface="Garamond" pitchFamily="18" charset="0"/>
              </a:rPr>
              <a:t> = man / male)</a:t>
            </a:r>
          </a:p>
          <a:p>
            <a:endParaRPr lang="en-GB">
              <a:latin typeface="Garamond" pitchFamily="18" charset="0"/>
            </a:endParaRPr>
          </a:p>
          <a:p>
            <a:pPr>
              <a:buFontTx/>
              <a:buChar char="•"/>
            </a:pPr>
            <a:r>
              <a:rPr lang="en-GB" sz="2400">
                <a:latin typeface="Garamond" pitchFamily="18" charset="0"/>
              </a:rPr>
              <a:t> Kohlberg only interviewed males</a:t>
            </a:r>
          </a:p>
          <a:p>
            <a:pPr>
              <a:buFontTx/>
              <a:buChar char="•"/>
            </a:pPr>
            <a:endParaRPr lang="en-GB" sz="2400">
              <a:latin typeface="Garamond" pitchFamily="18" charset="0"/>
            </a:endParaRPr>
          </a:p>
          <a:p>
            <a:pPr>
              <a:buFontTx/>
              <a:buChar char="•"/>
            </a:pPr>
            <a:r>
              <a:rPr lang="en-GB" sz="2400">
                <a:latin typeface="Garamond" pitchFamily="18" charset="0"/>
              </a:rPr>
              <a:t> Females - stage 3 (interpersonal feelings)</a:t>
            </a:r>
          </a:p>
          <a:p>
            <a:pPr>
              <a:buFontTx/>
              <a:buChar char="•"/>
            </a:pPr>
            <a:endParaRPr lang="en-GB" sz="2400">
              <a:latin typeface="Garamond" pitchFamily="18" charset="0"/>
            </a:endParaRPr>
          </a:p>
          <a:p>
            <a:pPr>
              <a:buFontTx/>
              <a:buChar char="•"/>
            </a:pPr>
            <a:r>
              <a:rPr lang="en-GB" sz="2400">
                <a:latin typeface="Garamond" pitchFamily="18" charset="0"/>
              </a:rPr>
              <a:t> Males - stages 4 and 5 (principles)</a:t>
            </a:r>
          </a:p>
          <a:p>
            <a:endParaRPr lang="en-GB" sz="2400">
              <a:latin typeface="Garamond" pitchFamily="18" charset="0"/>
            </a:endParaRPr>
          </a:p>
          <a:p>
            <a:pPr>
              <a:buFontTx/>
              <a:buChar char="•"/>
            </a:pPr>
            <a:r>
              <a:rPr lang="en-GB" sz="2400">
                <a:latin typeface="Garamond" pitchFamily="18" charset="0"/>
              </a:rPr>
              <a:t> Males - rules, rights, &amp; abstract principles - ideal = formal justice. </a:t>
            </a:r>
          </a:p>
          <a:p>
            <a:pPr>
              <a:buFontTx/>
              <a:buChar char="•"/>
            </a:pPr>
            <a:endParaRPr lang="en-GB" sz="2400">
              <a:latin typeface="Garamond" pitchFamily="18" charset="0"/>
            </a:endParaRPr>
          </a:p>
          <a:p>
            <a:pPr>
              <a:buFontTx/>
              <a:buChar char="•"/>
            </a:pPr>
            <a:r>
              <a:rPr lang="en-GB" sz="2400">
                <a:latin typeface="Garamond" pitchFamily="18" charset="0"/>
              </a:rPr>
              <a:t> Females - relationships &amp; compassion - ideal = affiliation not abstract hypothetical dilemmas.</a:t>
            </a:r>
          </a:p>
        </p:txBody>
      </p:sp>
      <p:pic>
        <p:nvPicPr>
          <p:cNvPr id="17417" name="Picture 9" descr="carol"/>
          <p:cNvPicPr>
            <a:picLocks noChangeAspect="1" noChangeArrowheads="1"/>
          </p:cNvPicPr>
          <p:nvPr/>
        </p:nvPicPr>
        <p:blipFill>
          <a:blip r:embed="rId2" cstate="print"/>
          <a:srcRect/>
          <a:stretch>
            <a:fillRect/>
          </a:stretch>
        </p:blipFill>
        <p:spPr bwMode="auto">
          <a:xfrm>
            <a:off x="6877050" y="1125538"/>
            <a:ext cx="2052638" cy="3024187"/>
          </a:xfrm>
          <a:prstGeom prst="rect">
            <a:avLst/>
          </a:prstGeom>
          <a:noFill/>
          <a:ln w="28575">
            <a:solidFill>
              <a:srgbClr val="3399FF"/>
            </a:solidFill>
            <a:miter lim="800000"/>
            <a:headEnd/>
            <a:tailEnd/>
          </a:ln>
        </p:spPr>
      </p:pic>
      <p:sp>
        <p:nvSpPr>
          <p:cNvPr id="17418" name="Text Box 10"/>
          <p:cNvSpPr txBox="1">
            <a:spLocks noChangeArrowheads="1"/>
          </p:cNvSpPr>
          <p:nvPr/>
        </p:nvSpPr>
        <p:spPr bwMode="auto">
          <a:xfrm>
            <a:off x="6877050" y="4221163"/>
            <a:ext cx="2087563" cy="365125"/>
          </a:xfrm>
          <a:prstGeom prst="rect">
            <a:avLst/>
          </a:prstGeom>
          <a:solidFill>
            <a:schemeClr val="bg1"/>
          </a:solidFill>
          <a:ln w="28575">
            <a:solidFill>
              <a:srgbClr val="3399FF"/>
            </a:solidFill>
            <a:miter lim="800000"/>
            <a:headEnd/>
            <a:tailEnd/>
          </a:ln>
          <a:effectLst/>
        </p:spPr>
        <p:txBody>
          <a:bodyPr>
            <a:spAutoFit/>
          </a:bodyPr>
          <a:lstStyle/>
          <a:p>
            <a:pPr>
              <a:spcBef>
                <a:spcPct val="50000"/>
              </a:spcBef>
            </a:pPr>
            <a:r>
              <a:rPr lang="en-GB" sz="1600">
                <a:latin typeface="Garamond" pitchFamily="18" charset="0"/>
              </a:rPr>
              <a:t>Carol Gilligan (b. 1936)</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755650" y="188913"/>
            <a:ext cx="7772400" cy="719137"/>
          </a:xfrm>
          <a:solidFill>
            <a:srgbClr val="3399FF"/>
          </a:solidFill>
        </p:spPr>
        <p:txBody>
          <a:bodyPr/>
          <a:lstStyle/>
          <a:p>
            <a:r>
              <a:rPr lang="en-GB" sz="3200">
                <a:latin typeface="Garamond" pitchFamily="18" charset="0"/>
              </a:rPr>
              <a:t>Lawrence Kohlberg – Moral Development</a:t>
            </a:r>
          </a:p>
        </p:txBody>
      </p:sp>
      <p:sp>
        <p:nvSpPr>
          <p:cNvPr id="19459" name="Text Box 3"/>
          <p:cNvSpPr txBox="1">
            <a:spLocks noChangeArrowheads="1"/>
          </p:cNvSpPr>
          <p:nvPr/>
        </p:nvSpPr>
        <p:spPr bwMode="auto">
          <a:xfrm>
            <a:off x="827088" y="1196975"/>
            <a:ext cx="7705725" cy="4867275"/>
          </a:xfrm>
          <a:prstGeom prst="rect">
            <a:avLst/>
          </a:prstGeom>
          <a:noFill/>
          <a:ln w="28575">
            <a:solidFill>
              <a:srgbClr val="3399FF"/>
            </a:solidFill>
            <a:miter lim="800000"/>
            <a:headEnd/>
            <a:tailEnd/>
          </a:ln>
          <a:effectLst/>
        </p:spPr>
        <p:txBody>
          <a:bodyPr>
            <a:spAutoFit/>
          </a:bodyPr>
          <a:lstStyle/>
          <a:p>
            <a:r>
              <a:rPr lang="en-GB" sz="2400" b="1">
                <a:latin typeface="Garamond" pitchFamily="18" charset="0"/>
              </a:rPr>
              <a:t>Conclusions:</a:t>
            </a:r>
          </a:p>
          <a:p>
            <a:pPr>
              <a:buFontTx/>
              <a:buChar char="•"/>
            </a:pPr>
            <a:r>
              <a:rPr lang="en-GB" sz="2400">
                <a:latin typeface="Garamond" pitchFamily="18" charset="0"/>
              </a:rPr>
              <a:t> Strong evidence for children progressing through Kohlberg’s stages as predicted – across cultures</a:t>
            </a:r>
          </a:p>
          <a:p>
            <a:pPr>
              <a:buFontTx/>
              <a:buChar char="•"/>
            </a:pPr>
            <a:endParaRPr lang="en-GB" sz="2400">
              <a:latin typeface="Garamond" pitchFamily="18" charset="0"/>
            </a:endParaRPr>
          </a:p>
          <a:p>
            <a:pPr>
              <a:buFontTx/>
              <a:buChar char="•"/>
            </a:pPr>
            <a:r>
              <a:rPr lang="en-GB" sz="2400">
                <a:latin typeface="Garamond" pitchFamily="18" charset="0"/>
              </a:rPr>
              <a:t> Most people do not go beyond Stage 4.</a:t>
            </a:r>
          </a:p>
          <a:p>
            <a:pPr>
              <a:buFontTx/>
              <a:buChar char="•"/>
            </a:pPr>
            <a:endParaRPr lang="en-GB" sz="2400">
              <a:latin typeface="Garamond" pitchFamily="18" charset="0"/>
            </a:endParaRPr>
          </a:p>
          <a:p>
            <a:pPr>
              <a:buFontTx/>
              <a:buChar char="•"/>
            </a:pPr>
            <a:r>
              <a:rPr lang="en-GB" sz="2400">
                <a:latin typeface="Garamond" pitchFamily="18" charset="0"/>
              </a:rPr>
              <a:t> Difficult to distinguish between stages 5 &amp; 6.</a:t>
            </a:r>
          </a:p>
          <a:p>
            <a:pPr>
              <a:buFontTx/>
              <a:buChar char="•"/>
            </a:pPr>
            <a:endParaRPr lang="en-GB" sz="2400">
              <a:latin typeface="Garamond" pitchFamily="18" charset="0"/>
            </a:endParaRPr>
          </a:p>
          <a:p>
            <a:pPr>
              <a:buFontTx/>
              <a:buChar char="•"/>
            </a:pPr>
            <a:r>
              <a:rPr lang="en-GB" sz="2400">
                <a:latin typeface="Garamond" pitchFamily="18" charset="0"/>
              </a:rPr>
              <a:t> Cultural variations not accounted for.</a:t>
            </a:r>
          </a:p>
          <a:p>
            <a:pPr>
              <a:buFontTx/>
              <a:buChar char="•"/>
            </a:pPr>
            <a:endParaRPr lang="en-GB" sz="2400">
              <a:latin typeface="Garamond" pitchFamily="18" charset="0"/>
            </a:endParaRPr>
          </a:p>
          <a:p>
            <a:pPr>
              <a:buFontTx/>
              <a:buChar char="•"/>
            </a:pPr>
            <a:r>
              <a:rPr lang="en-GB" sz="2400">
                <a:latin typeface="Garamond" pitchFamily="18" charset="0"/>
              </a:rPr>
              <a:t> Gender bias.</a:t>
            </a:r>
          </a:p>
          <a:p>
            <a:pPr>
              <a:buFontTx/>
              <a:buChar char="•"/>
            </a:pPr>
            <a:endParaRPr lang="en-GB" sz="2400">
              <a:latin typeface="Garamond" pitchFamily="18" charset="0"/>
            </a:endParaRPr>
          </a:p>
          <a:p>
            <a:pPr>
              <a:buFontTx/>
              <a:buChar char="•"/>
            </a:pPr>
            <a:r>
              <a:rPr lang="en-GB" sz="2400">
                <a:latin typeface="Garamond" pitchFamily="18" charset="0"/>
              </a:rPr>
              <a:t> Complex &amp; artificial dilemma story.</a:t>
            </a:r>
          </a:p>
        </p:txBody>
      </p:sp>
      <p:pic>
        <p:nvPicPr>
          <p:cNvPr id="19462" name="Picture 6" descr="kohlberg_1969"/>
          <p:cNvPicPr>
            <a:picLocks noChangeAspect="1" noChangeArrowheads="1"/>
          </p:cNvPicPr>
          <p:nvPr/>
        </p:nvPicPr>
        <p:blipFill>
          <a:blip r:embed="rId2" cstate="print"/>
          <a:srcRect/>
          <a:stretch>
            <a:fillRect/>
          </a:stretch>
        </p:blipFill>
        <p:spPr bwMode="auto">
          <a:xfrm>
            <a:off x="6659563" y="3860800"/>
            <a:ext cx="2095500" cy="2735263"/>
          </a:xfrm>
          <a:prstGeom prst="rect">
            <a:avLst/>
          </a:prstGeom>
          <a:noFill/>
          <a:ln w="28575">
            <a:solidFill>
              <a:srgbClr val="3399FF"/>
            </a:solid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245</TotalTime>
  <Words>1086</Words>
  <Application>Microsoft Office PowerPoint</Application>
  <PresentationFormat>On-screen Show (4:3)</PresentationFormat>
  <Paragraphs>173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Garamond</vt:lpstr>
      <vt:lpstr>Default Design</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lpstr>Lawrence Kohlberg – Moral Development</vt:lpstr>
    </vt:vector>
  </TitlesOfParts>
  <Company>Pates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Lawrence Kohlberg – Moral Development</dc:title>
  <dc:creator>A User</dc:creator>
  <cp:lastModifiedBy>EDWARDS Natalie [Narrogin Senior High School]</cp:lastModifiedBy>
  <cp:revision>7</cp:revision>
  <dcterms:created xsi:type="dcterms:W3CDTF">2009-11-12T14:10:51Z</dcterms:created>
  <dcterms:modified xsi:type="dcterms:W3CDTF">2021-05-26T08:56:13Z</dcterms:modified>
</cp:coreProperties>
</file>
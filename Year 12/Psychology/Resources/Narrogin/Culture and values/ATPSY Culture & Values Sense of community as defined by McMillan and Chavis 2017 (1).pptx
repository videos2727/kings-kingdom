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78" r:id="rId3"/>
    <p:sldId id="257" r:id="rId4"/>
    <p:sldId id="258" r:id="rId5"/>
    <p:sldId id="259" r:id="rId6"/>
    <p:sldId id="261" r:id="rId7"/>
    <p:sldId id="262" r:id="rId8"/>
    <p:sldId id="268" r:id="rId9"/>
    <p:sldId id="277" r:id="rId10"/>
    <p:sldId id="263" r:id="rId11"/>
    <p:sldId id="269" r:id="rId12"/>
    <p:sldId id="264" r:id="rId13"/>
    <p:sldId id="270" r:id="rId14"/>
    <p:sldId id="265" r:id="rId15"/>
    <p:sldId id="266" r:id="rId16"/>
    <p:sldId id="267" r:id="rId17"/>
    <p:sldId id="271" r:id="rId18"/>
    <p:sldId id="274" r:id="rId19"/>
    <p:sldId id="272" r:id="rId20"/>
    <p:sldId id="273" r:id="rId21"/>
    <p:sldId id="275" r:id="rId22"/>
    <p:sldId id="276" r:id="rId23"/>
    <p:sldId id="279" r:id="rId24"/>
    <p:sldId id="280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930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05784F7-E4EB-4331-AD1C-BCA25D79FD47}" type="datetimeFigureOut">
              <a:rPr lang="en-AU" smtClean="0"/>
              <a:t>29/08/2018</a:t>
            </a:fld>
            <a:endParaRPr lang="en-A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AU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F43214B-0E9A-4A3D-9359-9F06B1959D1E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05784F7-E4EB-4331-AD1C-BCA25D79FD47}" type="datetimeFigureOut">
              <a:rPr lang="en-AU" smtClean="0"/>
              <a:t>29/08/2018</a:t>
            </a:fld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F43214B-0E9A-4A3D-9359-9F06B1959D1E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05784F7-E4EB-4331-AD1C-BCA25D79FD47}" type="datetimeFigureOut">
              <a:rPr lang="en-AU" smtClean="0"/>
              <a:t>29/08/2018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AU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F43214B-0E9A-4A3D-9359-9F06B1959D1E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784F7-E4EB-4331-AD1C-BCA25D79FD47}" type="datetimeFigureOut">
              <a:rPr lang="en-AU" smtClean="0"/>
              <a:t>29/08/2018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214B-0E9A-4A3D-9359-9F06B1959D1E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784F7-E4EB-4331-AD1C-BCA25D79FD47}" type="datetimeFigureOut">
              <a:rPr lang="en-AU" smtClean="0"/>
              <a:t>29/08/2018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214B-0E9A-4A3D-9359-9F06B1959D1E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05784F7-E4EB-4331-AD1C-BCA25D79FD47}" type="datetimeFigureOut">
              <a:rPr lang="en-AU" smtClean="0"/>
              <a:t>29/08/2018</a:t>
            </a:fld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F43214B-0E9A-4A3D-9359-9F06B1959D1E}" type="slidenum">
              <a:rPr lang="en-AU" smtClean="0"/>
              <a:t>‹#›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784F7-E4EB-4331-AD1C-BCA25D79FD47}" type="datetimeFigureOut">
              <a:rPr lang="en-AU" smtClean="0"/>
              <a:t>29/08/2018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214B-0E9A-4A3D-9359-9F06B1959D1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05784F7-E4EB-4331-AD1C-BCA25D79FD47}" type="datetimeFigureOut">
              <a:rPr lang="en-AU" smtClean="0"/>
              <a:t>29/08/2018</a:t>
            </a:fld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F43214B-0E9A-4A3D-9359-9F06B1959D1E}" type="slidenum">
              <a:rPr lang="en-AU" smtClean="0"/>
              <a:t>‹#›</a:t>
            </a:fld>
            <a:endParaRPr lang="en-AU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05784F7-E4EB-4331-AD1C-BCA25D79FD47}" type="datetimeFigureOut">
              <a:rPr lang="en-AU" smtClean="0"/>
              <a:t>29/08/2018</a:t>
            </a:fld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F43214B-0E9A-4A3D-9359-9F06B1959D1E}" type="slidenum">
              <a:rPr lang="en-AU" smtClean="0"/>
              <a:t>‹#›</a:t>
            </a:fld>
            <a:endParaRPr lang="en-A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784F7-E4EB-4331-AD1C-BCA25D79FD47}" type="datetimeFigureOut">
              <a:rPr lang="en-AU" smtClean="0"/>
              <a:t>29/08/2018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214B-0E9A-4A3D-9359-9F06B1959D1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784F7-E4EB-4331-AD1C-BCA25D79FD47}" type="datetimeFigureOut">
              <a:rPr lang="en-AU" smtClean="0"/>
              <a:t>29/08/2018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214B-0E9A-4A3D-9359-9F06B1959D1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05784F7-E4EB-4331-AD1C-BCA25D79FD47}" type="datetimeFigureOut">
              <a:rPr lang="en-AU" smtClean="0"/>
              <a:t>29/08/2018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F43214B-0E9A-4A3D-9359-9F06B1959D1E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right-house.com/psychology/sense-of-community.html" TargetMode="External"/><Relationship Id="rId2" Type="http://schemas.openxmlformats.org/officeDocument/2006/relationships/hyperlink" Target="http://www.communityscience.com/pubs/Sense%20of%20Community%20Index.pdf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umansofnewyork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5400" dirty="0" smtClean="0"/>
              <a:t>Culture &amp; Values</a:t>
            </a:r>
            <a:endParaRPr lang="en-AU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lvl="0"/>
            <a:r>
              <a:rPr lang="en-AU" sz="2800" dirty="0"/>
              <a:t>S</a:t>
            </a:r>
            <a:r>
              <a:rPr lang="en-AU" sz="2800" dirty="0" smtClean="0"/>
              <a:t>ense </a:t>
            </a:r>
            <a:r>
              <a:rPr lang="en-AU" sz="2800" dirty="0"/>
              <a:t>of </a:t>
            </a:r>
            <a:r>
              <a:rPr lang="en-AU" sz="2800" dirty="0" smtClean="0"/>
              <a:t>Community </a:t>
            </a:r>
            <a:r>
              <a:rPr lang="en-AU" sz="2800" dirty="0"/>
              <a:t>as defined by McMillan and </a:t>
            </a:r>
            <a:r>
              <a:rPr lang="en-AU" sz="2800" dirty="0" err="1"/>
              <a:t>Chavis</a:t>
            </a:r>
            <a:r>
              <a:rPr lang="en-AU" sz="2800" dirty="0"/>
              <a:t>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06"/>
          <a:stretch/>
        </p:blipFill>
        <p:spPr bwMode="auto">
          <a:xfrm>
            <a:off x="5652120" y="404665"/>
            <a:ext cx="2752725" cy="255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528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From your Syllabus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AU" sz="2800" dirty="0"/>
              <a:t>S</a:t>
            </a:r>
            <a:r>
              <a:rPr lang="en-AU" sz="2800" dirty="0" smtClean="0"/>
              <a:t>ense </a:t>
            </a:r>
            <a:r>
              <a:rPr lang="en-AU" sz="2800" dirty="0"/>
              <a:t>of community as defined by </a:t>
            </a:r>
            <a:endParaRPr lang="en-AU" sz="2800" dirty="0" smtClean="0"/>
          </a:p>
          <a:p>
            <a:pPr marL="0" lvl="0" indent="0">
              <a:buNone/>
            </a:pPr>
            <a:r>
              <a:rPr lang="en-AU" sz="2800" dirty="0"/>
              <a:t>	</a:t>
            </a:r>
            <a:r>
              <a:rPr lang="en-AU" sz="2800" dirty="0" smtClean="0"/>
              <a:t>McMillan </a:t>
            </a:r>
            <a:r>
              <a:rPr lang="en-AU" sz="2800" dirty="0"/>
              <a:t>and </a:t>
            </a:r>
            <a:r>
              <a:rPr lang="en-AU" sz="2800" dirty="0" err="1"/>
              <a:t>Chavis</a:t>
            </a:r>
            <a:r>
              <a:rPr lang="en-AU" sz="2800" dirty="0"/>
              <a:t> </a:t>
            </a:r>
          </a:p>
          <a:p>
            <a:pPr lvl="1"/>
            <a:r>
              <a:rPr lang="en-AU" sz="2800" dirty="0"/>
              <a:t>M</a:t>
            </a:r>
            <a:r>
              <a:rPr lang="en-AU" sz="2800" dirty="0" smtClean="0"/>
              <a:t>embership</a:t>
            </a:r>
            <a:endParaRPr lang="en-AU" sz="2800" dirty="0"/>
          </a:p>
          <a:p>
            <a:pPr lvl="1"/>
            <a:r>
              <a:rPr lang="en-AU" sz="2800" dirty="0"/>
              <a:t>I</a:t>
            </a:r>
            <a:r>
              <a:rPr lang="en-AU" sz="2800" dirty="0" smtClean="0"/>
              <a:t>nfluence</a:t>
            </a:r>
            <a:endParaRPr lang="en-AU" sz="2800" dirty="0"/>
          </a:p>
          <a:p>
            <a:pPr lvl="1"/>
            <a:r>
              <a:rPr lang="en-AU" sz="2800" dirty="0"/>
              <a:t>I</a:t>
            </a:r>
            <a:r>
              <a:rPr lang="en-AU" sz="2800" dirty="0" smtClean="0"/>
              <a:t>ntegration </a:t>
            </a:r>
            <a:r>
              <a:rPr lang="en-AU" sz="2800" dirty="0"/>
              <a:t>and the fulfilment of needs</a:t>
            </a:r>
          </a:p>
          <a:p>
            <a:pPr lvl="1"/>
            <a:r>
              <a:rPr lang="en-AU" sz="2800" dirty="0" smtClean="0"/>
              <a:t>Shared </a:t>
            </a:r>
            <a:r>
              <a:rPr lang="en-AU" sz="2800" dirty="0"/>
              <a:t>emotional connection</a:t>
            </a:r>
          </a:p>
        </p:txBody>
      </p:sp>
    </p:spTree>
    <p:extLst>
      <p:ext uri="{BB962C8B-B14F-4D97-AF65-F5344CB8AC3E}">
        <p14:creationId xmlns:p14="http://schemas.microsoft.com/office/powerpoint/2010/main" val="1307332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>
                <a:latin typeface="Trebuchet MS" pitchFamily="34" charset="0"/>
              </a:rPr>
              <a:t>Distinguish between </a:t>
            </a:r>
            <a:r>
              <a:rPr lang="en-AU" dirty="0" smtClean="0">
                <a:latin typeface="Trebuchet MS" pitchFamily="34" charset="0"/>
              </a:rPr>
              <a:t>two </a:t>
            </a:r>
            <a:r>
              <a:rPr lang="en-AU" dirty="0">
                <a:latin typeface="Trebuchet MS" pitchFamily="34" charset="0"/>
              </a:rPr>
              <a:t>major uses of the term 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  <a:latin typeface="Trebuchet MS" pitchFamily="34" charset="0"/>
              </a:rPr>
              <a:t>community</a:t>
            </a:r>
            <a:r>
              <a:rPr lang="en-AU" dirty="0" smtClean="0">
                <a:latin typeface="Trebuchet MS" pitchFamily="34" charset="0"/>
              </a:rPr>
              <a:t>: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endParaRPr lang="en-AU" sz="2400" dirty="0" smtClean="0">
              <a:latin typeface="Trebuchet MS" pitchFamily="34" charset="0"/>
            </a:endParaRPr>
          </a:p>
          <a:p>
            <a:pPr lvl="1"/>
            <a:r>
              <a:rPr lang="en-AU" sz="2400" b="1" dirty="0" smtClean="0">
                <a:latin typeface="Trebuchet MS" pitchFamily="34" charset="0"/>
              </a:rPr>
              <a:t>Geographical</a:t>
            </a:r>
          </a:p>
          <a:p>
            <a:pPr lvl="1"/>
            <a:r>
              <a:rPr lang="en-AU" sz="2400" dirty="0" smtClean="0">
                <a:latin typeface="Trebuchet MS" pitchFamily="34" charset="0"/>
              </a:rPr>
              <a:t>Territorial </a:t>
            </a:r>
            <a:r>
              <a:rPr lang="en-AU" sz="2400" dirty="0">
                <a:latin typeface="Trebuchet MS" pitchFamily="34" charset="0"/>
              </a:rPr>
              <a:t>and geographical notion of community – neighbourhood, town, </a:t>
            </a:r>
            <a:r>
              <a:rPr lang="en-AU" sz="2400" dirty="0" smtClean="0">
                <a:latin typeface="Trebuchet MS" pitchFamily="34" charset="0"/>
              </a:rPr>
              <a:t>city.</a:t>
            </a:r>
          </a:p>
          <a:p>
            <a:pPr lvl="1"/>
            <a:endParaRPr lang="en-AU" sz="2400" dirty="0" smtClean="0">
              <a:latin typeface="Trebuchet MS" pitchFamily="34" charset="0"/>
            </a:endParaRPr>
          </a:p>
          <a:p>
            <a:pPr lvl="1"/>
            <a:r>
              <a:rPr lang="en-AU" sz="2400" b="1" dirty="0" smtClean="0">
                <a:latin typeface="Trebuchet MS" pitchFamily="34" charset="0"/>
              </a:rPr>
              <a:t>Quality of relationships without location </a:t>
            </a:r>
            <a:endParaRPr lang="en-AU" sz="2400" b="1" dirty="0">
              <a:latin typeface="Trebuchet MS" pitchFamily="34" charset="0"/>
            </a:endParaRPr>
          </a:p>
          <a:p>
            <a:pPr lvl="1"/>
            <a:r>
              <a:rPr lang="en-AU" sz="2400" dirty="0">
                <a:latin typeface="Trebuchet MS" pitchFamily="34" charset="0"/>
              </a:rPr>
              <a:t>Relational – quality of character of human relationships, without reference to location</a:t>
            </a:r>
            <a:r>
              <a:rPr lang="en-AU" sz="2400" dirty="0" smtClean="0">
                <a:latin typeface="Trebuchet MS" pitchFamily="34" charset="0"/>
              </a:rPr>
              <a:t>.</a:t>
            </a:r>
          </a:p>
          <a:p>
            <a:pPr lvl="1"/>
            <a:r>
              <a:rPr lang="en-AU" sz="2400" dirty="0" smtClean="0">
                <a:latin typeface="Trebuchet MS" pitchFamily="34" charset="0"/>
              </a:rPr>
              <a:t>Think – sporting club, a professional group, an interest group, MSC…</a:t>
            </a:r>
            <a:endParaRPr lang="en-AU" sz="2400" dirty="0">
              <a:latin typeface="Trebuchet MS" pitchFamily="34" charset="0"/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421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2800" dirty="0">
                <a:latin typeface="Trebuchet MS" pitchFamily="34" charset="0"/>
              </a:rPr>
              <a:t>Definition of Sense of </a:t>
            </a:r>
            <a:r>
              <a:rPr lang="en-AU" sz="2800" dirty="0" smtClean="0">
                <a:latin typeface="Trebuchet MS" pitchFamily="34" charset="0"/>
              </a:rPr>
              <a:t>Community: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2420888"/>
            <a:ext cx="7467600" cy="2908920"/>
          </a:xfrm>
        </p:spPr>
        <p:txBody>
          <a:bodyPr/>
          <a:lstStyle/>
          <a:p>
            <a:r>
              <a:rPr lang="en-AU" sz="2800" i="1" dirty="0">
                <a:latin typeface="Trebuchet MS" pitchFamily="34" charset="0"/>
              </a:rPr>
              <a:t>Sense of community is a feeling that members have of belonging, that members matter to one another and to the group, and a shared faith that members needs will be met through their commitment to be together (MacMillan, 1976).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5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467600" cy="1143000"/>
          </a:xfrm>
        </p:spPr>
        <p:txBody>
          <a:bodyPr/>
          <a:lstStyle/>
          <a:p>
            <a:r>
              <a:rPr lang="en-AU" sz="2800" b="1" dirty="0" smtClean="0">
                <a:latin typeface="Trebuchet MS" pitchFamily="34" charset="0"/>
              </a:rPr>
              <a:t>The </a:t>
            </a:r>
            <a:r>
              <a:rPr lang="en-AU" sz="2800" b="1" dirty="0">
                <a:latin typeface="Trebuchet MS" pitchFamily="34" charset="0"/>
              </a:rPr>
              <a:t>definition has 4 </a:t>
            </a:r>
            <a:r>
              <a:rPr lang="en-AU" sz="2800" b="1" dirty="0" smtClean="0">
                <a:latin typeface="Trebuchet MS" pitchFamily="34" charset="0"/>
              </a:rPr>
              <a:t>elements: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03232" cy="4873752"/>
          </a:xfrm>
        </p:spPr>
        <p:txBody>
          <a:bodyPr/>
          <a:lstStyle/>
          <a:p>
            <a:r>
              <a:rPr lang="en-AU" sz="4000" dirty="0" smtClean="0">
                <a:latin typeface="Trebuchet MS" panose="020B0603020202020204" pitchFamily="34" charset="0"/>
              </a:rPr>
              <a:t>Membership</a:t>
            </a:r>
          </a:p>
          <a:p>
            <a:pPr marL="0" indent="0">
              <a:buNone/>
            </a:pPr>
            <a:endParaRPr lang="en-AU" sz="2000" dirty="0" smtClean="0">
              <a:latin typeface="Trebuchet MS" panose="020B0603020202020204" pitchFamily="34" charset="0"/>
            </a:endParaRPr>
          </a:p>
          <a:p>
            <a:r>
              <a:rPr lang="en-AU" sz="4000" dirty="0" smtClean="0">
                <a:latin typeface="Trebuchet MS" panose="020B0603020202020204" pitchFamily="34" charset="0"/>
              </a:rPr>
              <a:t>Influence</a:t>
            </a:r>
          </a:p>
          <a:p>
            <a:pPr marL="0" indent="0">
              <a:buNone/>
            </a:pPr>
            <a:endParaRPr lang="en-AU" sz="2000" dirty="0" smtClean="0">
              <a:latin typeface="Trebuchet MS" panose="020B0603020202020204" pitchFamily="34" charset="0"/>
            </a:endParaRPr>
          </a:p>
          <a:p>
            <a:pPr lvl="0"/>
            <a:r>
              <a:rPr lang="en-AU" sz="4000" dirty="0" smtClean="0">
                <a:latin typeface="Trebuchet MS" panose="020B0603020202020204" pitchFamily="34" charset="0"/>
              </a:rPr>
              <a:t>Integration </a:t>
            </a:r>
            <a:r>
              <a:rPr lang="en-AU" sz="2800" dirty="0">
                <a:latin typeface="Trebuchet MS" panose="020B0603020202020204" pitchFamily="34" charset="0"/>
              </a:rPr>
              <a:t>and</a:t>
            </a:r>
            <a:r>
              <a:rPr lang="en-AU" sz="4000" dirty="0">
                <a:latin typeface="Trebuchet MS" panose="020B0603020202020204" pitchFamily="34" charset="0"/>
              </a:rPr>
              <a:t> </a:t>
            </a:r>
            <a:r>
              <a:rPr lang="en-AU" sz="4000" dirty="0" smtClean="0">
                <a:latin typeface="Trebuchet MS" panose="020B0603020202020204" pitchFamily="34" charset="0"/>
              </a:rPr>
              <a:t>Fulfilment </a:t>
            </a:r>
            <a:r>
              <a:rPr lang="en-AU" sz="2800" dirty="0">
                <a:latin typeface="Trebuchet MS" panose="020B0603020202020204" pitchFamily="34" charset="0"/>
              </a:rPr>
              <a:t>of </a:t>
            </a:r>
            <a:r>
              <a:rPr lang="en-AU" sz="4000" dirty="0" smtClean="0">
                <a:latin typeface="Trebuchet MS" panose="020B0603020202020204" pitchFamily="34" charset="0"/>
              </a:rPr>
              <a:t>Needs</a:t>
            </a:r>
          </a:p>
          <a:p>
            <a:pPr marL="0" lvl="0" indent="0">
              <a:buNone/>
            </a:pPr>
            <a:endParaRPr lang="en-AU" sz="2000" dirty="0" smtClean="0">
              <a:latin typeface="Trebuchet MS" panose="020B0603020202020204" pitchFamily="34" charset="0"/>
            </a:endParaRPr>
          </a:p>
          <a:p>
            <a:pPr lvl="0"/>
            <a:r>
              <a:rPr lang="en-AU" sz="4000" dirty="0" smtClean="0">
                <a:latin typeface="Trebuchet MS" panose="020B0603020202020204" pitchFamily="34" charset="0"/>
              </a:rPr>
              <a:t>Shared Emotional Connection</a:t>
            </a:r>
          </a:p>
          <a:p>
            <a:pPr lvl="0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877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200" dirty="0">
                <a:latin typeface="Trebuchet MS" pitchFamily="34" charset="0"/>
              </a:rPr>
              <a:t/>
            </a:r>
            <a:br>
              <a:rPr lang="en-AU" sz="3200" dirty="0">
                <a:latin typeface="Trebuchet MS" pitchFamily="34" charset="0"/>
              </a:rPr>
            </a:br>
            <a:r>
              <a:rPr lang="en-AU" sz="3200" b="1" dirty="0">
                <a:latin typeface="Trebuchet MS" pitchFamily="34" charset="0"/>
              </a:rPr>
              <a:t>The definition has 4 elements: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43192" cy="4421088"/>
          </a:xfrm>
        </p:spPr>
        <p:txBody>
          <a:bodyPr>
            <a:normAutofit fontScale="92500"/>
          </a:bodyPr>
          <a:lstStyle/>
          <a:p>
            <a:r>
              <a:rPr lang="en-AU" b="1" i="1" dirty="0">
                <a:latin typeface="Trebuchet MS" pitchFamily="34" charset="0"/>
              </a:rPr>
              <a:t>Membership</a:t>
            </a:r>
            <a:r>
              <a:rPr lang="en-AU" dirty="0">
                <a:latin typeface="Trebuchet MS" pitchFamily="34" charset="0"/>
              </a:rPr>
              <a:t>:  Feeling of belonging or of sharing a sense of personal relatedness</a:t>
            </a:r>
            <a:r>
              <a:rPr lang="en-AU" dirty="0" smtClean="0">
                <a:latin typeface="Trebuchet MS" pitchFamily="34" charset="0"/>
              </a:rPr>
              <a:t>. Feeling a part of the group.</a:t>
            </a:r>
            <a:endParaRPr lang="en-AU" b="1" i="1" dirty="0">
              <a:latin typeface="Trebuchet MS" pitchFamily="34" charset="0"/>
            </a:endParaRPr>
          </a:p>
          <a:p>
            <a:r>
              <a:rPr lang="en-AU" b="1" i="1" dirty="0">
                <a:latin typeface="Trebuchet MS" pitchFamily="34" charset="0"/>
              </a:rPr>
              <a:t>Influence</a:t>
            </a:r>
            <a:r>
              <a:rPr lang="en-AU" dirty="0">
                <a:latin typeface="Trebuchet MS" pitchFamily="34" charset="0"/>
              </a:rPr>
              <a:t>:  A sense of mattering, of making a difference to a group and of the group mattering to its members</a:t>
            </a:r>
            <a:r>
              <a:rPr lang="en-AU" dirty="0" smtClean="0">
                <a:latin typeface="Trebuchet MS" pitchFamily="34" charset="0"/>
              </a:rPr>
              <a:t>. </a:t>
            </a:r>
            <a:endParaRPr lang="en-AU" b="1" i="1" dirty="0">
              <a:latin typeface="Trebuchet MS" pitchFamily="34" charset="0"/>
            </a:endParaRPr>
          </a:p>
          <a:p>
            <a:r>
              <a:rPr lang="en-AU" b="1" i="1" dirty="0">
                <a:latin typeface="Trebuchet MS" pitchFamily="34" charset="0"/>
              </a:rPr>
              <a:t>Integration and fulfilment of needs</a:t>
            </a:r>
            <a:r>
              <a:rPr lang="en-AU" dirty="0">
                <a:latin typeface="Trebuchet MS" pitchFamily="34" charset="0"/>
              </a:rPr>
              <a:t>:  Feelings that member’s needs will be met by the resources received through their membership in the group.</a:t>
            </a:r>
            <a:endParaRPr lang="en-AU" b="1" i="1" dirty="0">
              <a:latin typeface="Trebuchet MS" pitchFamily="34" charset="0"/>
            </a:endParaRPr>
          </a:p>
          <a:p>
            <a:r>
              <a:rPr lang="en-AU" b="1" i="1" dirty="0">
                <a:latin typeface="Trebuchet MS" pitchFamily="34" charset="0"/>
              </a:rPr>
              <a:t>Shared emotional connection</a:t>
            </a:r>
            <a:r>
              <a:rPr lang="en-AU" dirty="0">
                <a:latin typeface="Trebuchet MS" pitchFamily="34" charset="0"/>
              </a:rPr>
              <a:t>:  The commitment and belief that members have shared and will share history, common places, time together, and similar experiences</a:t>
            </a:r>
            <a:r>
              <a:rPr lang="en-AU" dirty="0" smtClean="0">
                <a:latin typeface="Trebuchet MS" pitchFamily="34" charset="0"/>
              </a:rPr>
              <a:t>.</a:t>
            </a:r>
            <a:endParaRPr lang="en-AU" b="1" i="1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78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7467600" cy="724942"/>
          </a:xfrm>
        </p:spPr>
        <p:txBody>
          <a:bodyPr/>
          <a:lstStyle/>
          <a:p>
            <a:r>
              <a:rPr lang="en-AU" sz="3200" dirty="0">
                <a:latin typeface="Trebuchet MS" pitchFamily="34" charset="0"/>
              </a:rPr>
              <a:t>Membership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340768"/>
            <a:ext cx="7787208" cy="5133184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AU" dirty="0"/>
              <a:t>Individual’s </a:t>
            </a:r>
            <a:r>
              <a:rPr lang="en-AU" b="1" dirty="0">
                <a:solidFill>
                  <a:srgbClr val="0070C0"/>
                </a:solidFill>
              </a:rPr>
              <a:t>sense of belonging</a:t>
            </a:r>
            <a:r>
              <a:rPr lang="en-AU" dirty="0">
                <a:solidFill>
                  <a:srgbClr val="0070C0"/>
                </a:solidFill>
              </a:rPr>
              <a:t> </a:t>
            </a:r>
            <a:r>
              <a:rPr lang="en-AU" dirty="0"/>
              <a:t>to a particular group.  </a:t>
            </a:r>
          </a:p>
          <a:p>
            <a:pPr>
              <a:lnSpc>
                <a:spcPct val="80000"/>
              </a:lnSpc>
            </a:pPr>
            <a:r>
              <a:rPr lang="en-AU" dirty="0"/>
              <a:t>The feeling that one has invested part of oneself to become a member and therefore has a right to </a:t>
            </a:r>
            <a:r>
              <a:rPr lang="en-AU" dirty="0" smtClean="0"/>
              <a:t>belong. This </a:t>
            </a:r>
            <a:r>
              <a:rPr lang="en-AU" dirty="0"/>
              <a:t>includes :</a:t>
            </a:r>
          </a:p>
          <a:p>
            <a:pPr>
              <a:lnSpc>
                <a:spcPct val="80000"/>
              </a:lnSpc>
            </a:pPr>
            <a:r>
              <a:rPr lang="en-AU" dirty="0" smtClean="0">
                <a:solidFill>
                  <a:srgbClr val="0070C0"/>
                </a:solidFill>
              </a:rPr>
              <a:t>Boundaries</a:t>
            </a:r>
            <a:r>
              <a:rPr lang="en-AU" dirty="0" smtClean="0"/>
              <a:t> </a:t>
            </a:r>
            <a:r>
              <a:rPr lang="en-AU" dirty="0"/>
              <a:t>(the difference between in-group and out-group); </a:t>
            </a:r>
          </a:p>
          <a:p>
            <a:pPr>
              <a:lnSpc>
                <a:spcPct val="80000"/>
              </a:lnSpc>
            </a:pPr>
            <a:r>
              <a:rPr lang="en-AU" dirty="0" smtClean="0">
                <a:solidFill>
                  <a:srgbClr val="0070C0"/>
                </a:solidFill>
              </a:rPr>
              <a:t>Emotional </a:t>
            </a:r>
            <a:r>
              <a:rPr lang="en-AU" dirty="0">
                <a:solidFill>
                  <a:srgbClr val="0070C0"/>
                </a:solidFill>
              </a:rPr>
              <a:t>safety </a:t>
            </a:r>
            <a:r>
              <a:rPr lang="en-AU" dirty="0"/>
              <a:t>(protection of group intimacy, part of the broader motion of security);</a:t>
            </a:r>
          </a:p>
          <a:p>
            <a:pPr>
              <a:lnSpc>
                <a:spcPct val="80000"/>
              </a:lnSpc>
            </a:pPr>
            <a:r>
              <a:rPr lang="en-AU" dirty="0" smtClean="0">
                <a:solidFill>
                  <a:srgbClr val="0070C0"/>
                </a:solidFill>
              </a:rPr>
              <a:t>Sense </a:t>
            </a:r>
            <a:r>
              <a:rPr lang="en-AU" dirty="0">
                <a:solidFill>
                  <a:srgbClr val="0070C0"/>
                </a:solidFill>
              </a:rPr>
              <a:t>of belonging and identification </a:t>
            </a:r>
            <a:r>
              <a:rPr lang="en-AU" dirty="0"/>
              <a:t>(feeling that one belongs in the community and is willing to make sacrifices for that community; role of identification: It is my group);</a:t>
            </a:r>
          </a:p>
          <a:p>
            <a:pPr>
              <a:lnSpc>
                <a:spcPct val="80000"/>
              </a:lnSpc>
            </a:pPr>
            <a:r>
              <a:rPr lang="en-AU" dirty="0" smtClean="0">
                <a:solidFill>
                  <a:srgbClr val="0070C0"/>
                </a:solidFill>
              </a:rPr>
              <a:t>Personal </a:t>
            </a:r>
            <a:r>
              <a:rPr lang="en-AU" dirty="0">
                <a:solidFill>
                  <a:srgbClr val="0070C0"/>
                </a:solidFill>
              </a:rPr>
              <a:t>investment </a:t>
            </a:r>
            <a:r>
              <a:rPr lang="en-AU" dirty="0"/>
              <a:t>(working for the community leads to feelings that they have earned membership which is valuable and meaningful);</a:t>
            </a:r>
          </a:p>
          <a:p>
            <a:pPr>
              <a:lnSpc>
                <a:spcPct val="80000"/>
              </a:lnSpc>
            </a:pPr>
            <a:r>
              <a:rPr lang="en-AU" dirty="0" smtClean="0">
                <a:solidFill>
                  <a:srgbClr val="0070C0"/>
                </a:solidFill>
              </a:rPr>
              <a:t>Common </a:t>
            </a:r>
            <a:r>
              <a:rPr lang="en-AU" dirty="0">
                <a:solidFill>
                  <a:srgbClr val="0070C0"/>
                </a:solidFill>
              </a:rPr>
              <a:t>symbol system </a:t>
            </a:r>
            <a:r>
              <a:rPr lang="en-AU" dirty="0"/>
              <a:t>(means of identifying who belongs to a community).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49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2800" dirty="0" smtClean="0">
                <a:latin typeface="Trebuchet MS" pitchFamily="34" charset="0"/>
              </a:rPr>
              <a:t>Membership Examples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Boundaries </a:t>
            </a:r>
            <a:endParaRPr lang="en-AU" dirty="0" smtClean="0"/>
          </a:p>
          <a:p>
            <a:pPr lvl="1"/>
            <a:r>
              <a:rPr lang="en-AU" dirty="0" smtClean="0"/>
              <a:t>Have </a:t>
            </a:r>
            <a:r>
              <a:rPr lang="en-AU" dirty="0"/>
              <a:t>a way of identifying who is in the group, e.g., badge, t-shirt </a:t>
            </a:r>
            <a:endParaRPr lang="en-AU" dirty="0" smtClean="0"/>
          </a:p>
          <a:p>
            <a:pPr lvl="1"/>
            <a:r>
              <a:rPr lang="en-AU" dirty="0" smtClean="0"/>
              <a:t>Only people of X group (who </a:t>
            </a:r>
            <a:r>
              <a:rPr lang="en-AU" dirty="0"/>
              <a:t>are not members of the other group) are allowed to belong to the </a:t>
            </a:r>
            <a:r>
              <a:rPr lang="en-AU" dirty="0" smtClean="0"/>
              <a:t>group</a:t>
            </a:r>
          </a:p>
          <a:p>
            <a:pPr lvl="1"/>
            <a:r>
              <a:rPr lang="en-AU" dirty="0" smtClean="0"/>
              <a:t>Decide </a:t>
            </a:r>
            <a:r>
              <a:rPr lang="en-AU" dirty="0"/>
              <a:t>on a place where they will meet and use this for all meetings </a:t>
            </a:r>
            <a:endParaRPr lang="en-AU" dirty="0" smtClean="0"/>
          </a:p>
          <a:p>
            <a:r>
              <a:rPr lang="en-AU" dirty="0" smtClean="0"/>
              <a:t>Common </a:t>
            </a:r>
            <a:r>
              <a:rPr lang="en-AU" dirty="0"/>
              <a:t>symbol system </a:t>
            </a:r>
            <a:endParaRPr lang="en-AU" dirty="0" smtClean="0"/>
          </a:p>
          <a:p>
            <a:pPr lvl="1"/>
            <a:r>
              <a:rPr lang="en-AU" dirty="0" smtClean="0"/>
              <a:t>Have </a:t>
            </a:r>
            <a:r>
              <a:rPr lang="en-AU" dirty="0"/>
              <a:t>a group name (selected by group members) </a:t>
            </a:r>
            <a:endParaRPr lang="en-AU" dirty="0" smtClean="0"/>
          </a:p>
          <a:p>
            <a:pPr lvl="1"/>
            <a:r>
              <a:rPr lang="en-AU" dirty="0" smtClean="0"/>
              <a:t>Have </a:t>
            </a:r>
            <a:r>
              <a:rPr lang="en-AU" dirty="0"/>
              <a:t>other group symbols (e.g. logo, </a:t>
            </a:r>
            <a:r>
              <a:rPr lang="en-AU" dirty="0" smtClean="0"/>
              <a:t>colours,) </a:t>
            </a:r>
          </a:p>
          <a:p>
            <a:r>
              <a:rPr lang="en-AU" dirty="0" smtClean="0"/>
              <a:t>Emotional </a:t>
            </a:r>
            <a:r>
              <a:rPr lang="en-AU" dirty="0"/>
              <a:t>safety </a:t>
            </a:r>
            <a:endParaRPr lang="en-AU" dirty="0" smtClean="0"/>
          </a:p>
          <a:p>
            <a:pPr lvl="1"/>
            <a:r>
              <a:rPr lang="en-AU" dirty="0" smtClean="0"/>
              <a:t>Develop </a:t>
            </a:r>
            <a:r>
              <a:rPr lang="en-AU" dirty="0"/>
              <a:t>a ‘code of conduct’ or ‘etiquette’ for how people who are in the group are expected to behave </a:t>
            </a:r>
            <a:endParaRPr lang="en-AU" dirty="0" smtClean="0"/>
          </a:p>
          <a:p>
            <a:r>
              <a:rPr lang="en-AU" dirty="0" smtClean="0"/>
              <a:t>Personal </a:t>
            </a:r>
            <a:r>
              <a:rPr lang="en-AU" dirty="0"/>
              <a:t>investment </a:t>
            </a:r>
            <a:endParaRPr lang="en-AU" dirty="0" smtClean="0"/>
          </a:p>
          <a:p>
            <a:pPr lvl="1"/>
            <a:r>
              <a:rPr lang="en-AU" dirty="0"/>
              <a:t>I</a:t>
            </a:r>
            <a:r>
              <a:rPr lang="en-AU" dirty="0" smtClean="0"/>
              <a:t>ndividuals </a:t>
            </a:r>
            <a:r>
              <a:rPr lang="en-AU" dirty="0"/>
              <a:t>to go through some kind of application or selection process to be a member of the group so they feel that they have earned their membership. </a:t>
            </a:r>
          </a:p>
        </p:txBody>
      </p:sp>
    </p:spTree>
    <p:extLst>
      <p:ext uri="{BB962C8B-B14F-4D97-AF65-F5344CB8AC3E}">
        <p14:creationId xmlns:p14="http://schemas.microsoft.com/office/powerpoint/2010/main" val="40854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Group examples as applied to Membership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MENSA – High IQ Society</a:t>
            </a:r>
          </a:p>
          <a:p>
            <a:r>
              <a:rPr lang="en-AU" dirty="0" smtClean="0"/>
              <a:t>Lions or Rotary Club</a:t>
            </a:r>
          </a:p>
          <a:p>
            <a:r>
              <a:rPr lang="en-AU" dirty="0" smtClean="0"/>
              <a:t>Ku Klux Klan </a:t>
            </a:r>
          </a:p>
          <a:p>
            <a:r>
              <a:rPr lang="en-AU" dirty="0" smtClean="0"/>
              <a:t>ISIS</a:t>
            </a:r>
          </a:p>
          <a:p>
            <a:r>
              <a:rPr lang="en-AU" dirty="0"/>
              <a:t>The Order of the Skull and Bones</a:t>
            </a:r>
          </a:p>
          <a:p>
            <a:r>
              <a:rPr lang="en-AU" dirty="0" smtClean="0"/>
              <a:t>Outlaw Motorcycle gangs</a:t>
            </a:r>
          </a:p>
          <a:p>
            <a:r>
              <a:rPr lang="en-AU" dirty="0" smtClean="0"/>
              <a:t>Australian Psychological Society</a:t>
            </a:r>
          </a:p>
          <a:p>
            <a:r>
              <a:rPr lang="en-AU" dirty="0" smtClean="0"/>
              <a:t>Australian Multiple Birth Association</a:t>
            </a:r>
          </a:p>
          <a:p>
            <a:r>
              <a:rPr lang="en-AU" dirty="0" smtClean="0"/>
              <a:t>Curtin Student Guild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49053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200" dirty="0">
                <a:latin typeface="Trebuchet MS" pitchFamily="34" charset="0"/>
              </a:rPr>
              <a:t>Influence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AU" sz="2800" b="1" i="1" dirty="0">
                <a:latin typeface="Trebuchet MS" pitchFamily="34" charset="0"/>
              </a:rPr>
              <a:t>Influence</a:t>
            </a:r>
            <a:r>
              <a:rPr lang="en-AU" sz="2800" dirty="0">
                <a:latin typeface="Trebuchet MS" pitchFamily="34" charset="0"/>
              </a:rPr>
              <a:t>:  A sense of mattering, of making a difference to a group and of the group mattering to its members. </a:t>
            </a:r>
            <a:endParaRPr lang="en-AU" sz="2800" dirty="0" smtClean="0">
              <a:latin typeface="Trebuchet MS" pitchFamily="34" charset="0"/>
            </a:endParaRPr>
          </a:p>
          <a:p>
            <a:r>
              <a:rPr lang="en-AU" sz="2800" dirty="0" smtClean="0">
                <a:latin typeface="Trebuchet MS" pitchFamily="34" charset="0"/>
              </a:rPr>
              <a:t>Two </a:t>
            </a:r>
            <a:r>
              <a:rPr lang="en-AU" sz="2800" dirty="0">
                <a:latin typeface="Trebuchet MS" pitchFamily="34" charset="0"/>
              </a:rPr>
              <a:t>way relationship between the community and its members.</a:t>
            </a:r>
          </a:p>
          <a:p>
            <a:r>
              <a:rPr lang="en-AU" sz="2800" dirty="0">
                <a:latin typeface="Trebuchet MS" pitchFamily="34" charset="0"/>
              </a:rPr>
              <a:t>Members are more attracted to a community in which they feel that they are influential.</a:t>
            </a:r>
          </a:p>
          <a:p>
            <a:r>
              <a:rPr lang="en-AU" sz="2800" dirty="0" smtClean="0">
                <a:latin typeface="Trebuchet MS" pitchFamily="34" charset="0"/>
              </a:rPr>
              <a:t>Influence </a:t>
            </a:r>
            <a:r>
              <a:rPr lang="en-AU" sz="2800" dirty="0">
                <a:latin typeface="Trebuchet MS" pitchFamily="34" charset="0"/>
              </a:rPr>
              <a:t>on the community and influence of the community on a member happens at the same time</a:t>
            </a:r>
            <a:r>
              <a:rPr lang="en-AU" sz="2800" dirty="0" smtClean="0">
                <a:latin typeface="Trebuchet MS" pitchFamily="34" charset="0"/>
              </a:rPr>
              <a:t>.</a:t>
            </a:r>
            <a:endParaRPr lang="en-AU" sz="28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47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200" dirty="0" smtClean="0">
                <a:latin typeface="Trebuchet MS" pitchFamily="34" charset="0"/>
              </a:rPr>
              <a:t>Influence Examples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sz="2800" dirty="0" smtClean="0">
                <a:latin typeface="Trebuchet MS" pitchFamily="34" charset="0"/>
              </a:rPr>
              <a:t>Group </a:t>
            </a:r>
            <a:r>
              <a:rPr lang="en-AU" sz="2800" dirty="0">
                <a:latin typeface="Trebuchet MS" pitchFamily="34" charset="0"/>
              </a:rPr>
              <a:t>members taking it in turn to lead the meeting </a:t>
            </a:r>
            <a:endParaRPr lang="en-AU" sz="2800" dirty="0" smtClean="0">
              <a:latin typeface="Trebuchet MS" pitchFamily="34" charset="0"/>
            </a:endParaRPr>
          </a:p>
          <a:p>
            <a:r>
              <a:rPr lang="en-AU" sz="2800" dirty="0" smtClean="0">
                <a:latin typeface="Trebuchet MS" pitchFamily="34" charset="0"/>
              </a:rPr>
              <a:t>President </a:t>
            </a:r>
            <a:r>
              <a:rPr lang="en-AU" sz="2800" dirty="0">
                <a:latin typeface="Trebuchet MS" pitchFamily="34" charset="0"/>
              </a:rPr>
              <a:t>of the group being selected by the members </a:t>
            </a:r>
            <a:endParaRPr lang="en-AU" sz="2800" dirty="0" smtClean="0">
              <a:latin typeface="Trebuchet MS" pitchFamily="34" charset="0"/>
            </a:endParaRPr>
          </a:p>
          <a:p>
            <a:r>
              <a:rPr lang="en-AU" sz="2800" dirty="0">
                <a:latin typeface="Trebuchet MS" pitchFamily="34" charset="0"/>
              </a:rPr>
              <a:t>G</a:t>
            </a:r>
            <a:r>
              <a:rPr lang="en-AU" sz="2800" dirty="0" smtClean="0">
                <a:latin typeface="Trebuchet MS" pitchFamily="34" charset="0"/>
              </a:rPr>
              <a:t>roup </a:t>
            </a:r>
            <a:r>
              <a:rPr lang="en-AU" sz="2800" dirty="0">
                <a:latin typeface="Trebuchet MS" pitchFamily="34" charset="0"/>
              </a:rPr>
              <a:t>members having a say in who else is permitted to become part of the group. </a:t>
            </a:r>
          </a:p>
        </p:txBody>
      </p:sp>
    </p:spTree>
    <p:extLst>
      <p:ext uri="{BB962C8B-B14F-4D97-AF65-F5344CB8AC3E}">
        <p14:creationId xmlns:p14="http://schemas.microsoft.com/office/powerpoint/2010/main" val="33203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200" dirty="0">
                <a:latin typeface="Trebuchet MS" pitchFamily="34" charset="0"/>
              </a:rPr>
              <a:t>Integration and fulfilment of needs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AU" sz="2800" b="1" i="1" dirty="0">
                <a:latin typeface="Trebuchet MS" pitchFamily="34" charset="0"/>
              </a:rPr>
              <a:t>Integration and fulfilment of needs</a:t>
            </a:r>
            <a:r>
              <a:rPr lang="en-AU" sz="2800" dirty="0">
                <a:latin typeface="Trebuchet MS" pitchFamily="34" charset="0"/>
              </a:rPr>
              <a:t>:  Feelings that member’s needs will be met by the resources received through their membership in the group</a:t>
            </a:r>
            <a:r>
              <a:rPr lang="en-AU" sz="2800" dirty="0" smtClean="0">
                <a:latin typeface="Trebuchet MS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AU" sz="2800" dirty="0" smtClean="0">
                <a:latin typeface="Trebuchet MS" pitchFamily="34" charset="0"/>
              </a:rPr>
              <a:t>Positive </a:t>
            </a:r>
            <a:r>
              <a:rPr lang="en-AU" sz="2800" dirty="0">
                <a:latin typeface="Trebuchet MS" pitchFamily="34" charset="0"/>
              </a:rPr>
              <a:t>continual reinforcement members receive from the community.  </a:t>
            </a:r>
          </a:p>
          <a:p>
            <a:pPr>
              <a:lnSpc>
                <a:spcPct val="90000"/>
              </a:lnSpc>
            </a:pPr>
            <a:r>
              <a:rPr lang="en-AU" sz="2800" dirty="0">
                <a:latin typeface="Trebuchet MS" pitchFamily="34" charset="0"/>
              </a:rPr>
              <a:t>People do what serves their needs.  </a:t>
            </a:r>
          </a:p>
          <a:p>
            <a:pPr>
              <a:lnSpc>
                <a:spcPct val="90000"/>
              </a:lnSpc>
            </a:pPr>
            <a:r>
              <a:rPr lang="en-AU" sz="2800" dirty="0">
                <a:latin typeface="Trebuchet MS" pitchFamily="34" charset="0"/>
              </a:rPr>
              <a:t>Dependent on culture and families.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7383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200" dirty="0">
                <a:latin typeface="Trebuchet MS" pitchFamily="34" charset="0"/>
              </a:rPr>
              <a:t>Integration and fulfilment of </a:t>
            </a:r>
            <a:r>
              <a:rPr lang="en-AU" sz="3200" dirty="0" smtClean="0">
                <a:latin typeface="Trebuchet MS" pitchFamily="34" charset="0"/>
              </a:rPr>
              <a:t>needs Examples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Members </a:t>
            </a:r>
            <a:r>
              <a:rPr lang="en-AU" dirty="0"/>
              <a:t>to be involved in deciding what the group’s activities are, to ensure that the group serves members’ needs </a:t>
            </a:r>
            <a:endParaRPr lang="en-AU" dirty="0" smtClean="0"/>
          </a:p>
          <a:p>
            <a:r>
              <a:rPr lang="en-AU" dirty="0" smtClean="0"/>
              <a:t>Focus </a:t>
            </a:r>
            <a:r>
              <a:rPr lang="en-AU" dirty="0"/>
              <a:t>on the benefits for </a:t>
            </a:r>
            <a:r>
              <a:rPr lang="en-AU" dirty="0" smtClean="0"/>
              <a:t>persons </a:t>
            </a:r>
            <a:r>
              <a:rPr lang="en-AU" dirty="0"/>
              <a:t>of </a:t>
            </a:r>
            <a:r>
              <a:rPr lang="en-AU" dirty="0" smtClean="0"/>
              <a:t>being </a:t>
            </a:r>
            <a:r>
              <a:rPr lang="en-AU" dirty="0"/>
              <a:t>part of the group, e.g. </a:t>
            </a:r>
            <a:r>
              <a:rPr lang="en-AU" dirty="0" smtClean="0"/>
              <a:t>social, advocacy, support, friendship, advice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2445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200" dirty="0">
                <a:latin typeface="Trebuchet MS" pitchFamily="34" charset="0"/>
              </a:rPr>
              <a:t>Shared emotional connections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b="1" i="1" dirty="0">
                <a:latin typeface="Trebuchet MS" pitchFamily="34" charset="0"/>
              </a:rPr>
              <a:t>Shared emotional connection</a:t>
            </a:r>
            <a:r>
              <a:rPr lang="en-AU" dirty="0">
                <a:latin typeface="Trebuchet MS" pitchFamily="34" charset="0"/>
              </a:rPr>
              <a:t>:  The commitment and belief that members have shared and will share history, common places, time together, and similar experiences.</a:t>
            </a:r>
            <a:endParaRPr lang="en-AU" b="1" i="1" dirty="0">
              <a:latin typeface="Trebuchet MS" pitchFamily="34" charset="0"/>
            </a:endParaRPr>
          </a:p>
          <a:p>
            <a:r>
              <a:rPr lang="en-AU" dirty="0" smtClean="0">
                <a:latin typeface="Trebuchet MS" pitchFamily="34" charset="0"/>
              </a:rPr>
              <a:t>Contact </a:t>
            </a:r>
            <a:r>
              <a:rPr lang="en-AU" dirty="0">
                <a:latin typeface="Trebuchet MS" pitchFamily="34" charset="0"/>
              </a:rPr>
              <a:t>hypothesis (the more people interact, the more likely they are to become close).</a:t>
            </a:r>
          </a:p>
          <a:p>
            <a:r>
              <a:rPr lang="en-AU" dirty="0">
                <a:latin typeface="Trebuchet MS" pitchFamily="34" charset="0"/>
              </a:rPr>
              <a:t>Quality of interaction (there needs to be positive interaction between members).</a:t>
            </a:r>
          </a:p>
          <a:p>
            <a:r>
              <a:rPr lang="en-AU" dirty="0">
                <a:latin typeface="Trebuchet MS" pitchFamily="34" charset="0"/>
              </a:rPr>
              <a:t>Investment (the more one invests), effect of honour and humiliation on members.</a:t>
            </a:r>
          </a:p>
          <a:p>
            <a:r>
              <a:rPr lang="en-AU" dirty="0">
                <a:latin typeface="Trebuchet MS" pitchFamily="34" charset="0"/>
              </a:rPr>
              <a:t>Spiritual bond (intangible connection between members).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949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</a:t>
            </a:r>
            <a:r>
              <a:rPr lang="en-AU" dirty="0" smtClean="0"/>
              <a:t>7 </a:t>
            </a:r>
            <a:r>
              <a:rPr lang="en-AU" dirty="0"/>
              <a:t>attributes of shared emotional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AU" dirty="0"/>
              <a:t>Contact hypothesis. </a:t>
            </a:r>
            <a:endParaRPr lang="en-AU" dirty="0" smtClean="0"/>
          </a:p>
          <a:p>
            <a:pPr lvl="1"/>
            <a:r>
              <a:rPr lang="en-AU" dirty="0" smtClean="0"/>
              <a:t>Greater </a:t>
            </a:r>
            <a:r>
              <a:rPr lang="en-AU" dirty="0"/>
              <a:t>personal interaction increases the likelihood that people will become close. </a:t>
            </a:r>
          </a:p>
          <a:p>
            <a:pPr lvl="0"/>
            <a:r>
              <a:rPr lang="en-AU" dirty="0"/>
              <a:t>Quality of interaction. </a:t>
            </a:r>
          </a:p>
          <a:p>
            <a:pPr lvl="0"/>
            <a:r>
              <a:rPr lang="en-AU" dirty="0"/>
              <a:t>Closure to events. </a:t>
            </a:r>
            <a:endParaRPr lang="en-AU" dirty="0" smtClean="0"/>
          </a:p>
          <a:p>
            <a:pPr lvl="1"/>
            <a:r>
              <a:rPr lang="en-AU" dirty="0" smtClean="0"/>
              <a:t>Ambiguous </a:t>
            </a:r>
            <a:r>
              <a:rPr lang="en-AU" dirty="0"/>
              <a:t>interaction and unresolved tasks inhibit group cohesiveness.</a:t>
            </a:r>
          </a:p>
          <a:p>
            <a:pPr lvl="0"/>
            <a:r>
              <a:rPr lang="en-AU" dirty="0"/>
              <a:t>Shared valent event hypothesis </a:t>
            </a:r>
            <a:endParaRPr lang="en-AU" dirty="0" smtClean="0"/>
          </a:p>
          <a:p>
            <a:pPr lvl="1"/>
            <a:r>
              <a:rPr lang="en-AU" dirty="0" smtClean="0"/>
              <a:t>Increased </a:t>
            </a:r>
            <a:r>
              <a:rPr lang="en-AU" dirty="0"/>
              <a:t>importance of a shared event </a:t>
            </a:r>
            <a:r>
              <a:rPr lang="en-AU" dirty="0" smtClean="0"/>
              <a:t>(A crisis</a:t>
            </a:r>
            <a:r>
              <a:rPr lang="en-AU" dirty="0"/>
              <a:t>) facilitates a group bond. </a:t>
            </a:r>
          </a:p>
          <a:p>
            <a:pPr lvl="0"/>
            <a:r>
              <a:rPr lang="en-AU" dirty="0" smtClean="0"/>
              <a:t>Investment</a:t>
            </a:r>
          </a:p>
          <a:p>
            <a:pPr lvl="1"/>
            <a:r>
              <a:rPr lang="en-AU" dirty="0"/>
              <a:t>Beyond boundary maintenance and cognitive dissonance, the community becomes more important to someone who has given more time and energy to it. </a:t>
            </a:r>
          </a:p>
          <a:p>
            <a:pPr lvl="0"/>
            <a:r>
              <a:rPr lang="en-AU" dirty="0"/>
              <a:t>Effect of honour and humiliation on community members</a:t>
            </a:r>
          </a:p>
          <a:p>
            <a:pPr lvl="0"/>
            <a:r>
              <a:rPr lang="en-AU" dirty="0"/>
              <a:t>Spiritual </a:t>
            </a:r>
            <a:r>
              <a:rPr lang="en-AU" dirty="0" smtClean="0"/>
              <a:t>bond</a:t>
            </a:r>
          </a:p>
          <a:p>
            <a:pPr lvl="1"/>
            <a:r>
              <a:rPr lang="en-AU" dirty="0" smtClean="0"/>
              <a:t>****Very difficult to determine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466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2800" dirty="0">
                <a:latin typeface="Trebuchet MS" pitchFamily="34" charset="0"/>
              </a:rPr>
              <a:t>Shared emotional </a:t>
            </a:r>
            <a:r>
              <a:rPr lang="en-AU" sz="2800" dirty="0" smtClean="0">
                <a:latin typeface="Trebuchet MS" pitchFamily="34" charset="0"/>
              </a:rPr>
              <a:t>connections Examples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Meet </a:t>
            </a:r>
            <a:r>
              <a:rPr lang="en-AU" dirty="0"/>
              <a:t>regularly so people spend time together and get to know each other </a:t>
            </a:r>
            <a:endParaRPr lang="en-AU" dirty="0" smtClean="0"/>
          </a:p>
          <a:p>
            <a:r>
              <a:rPr lang="en-AU" dirty="0" smtClean="0"/>
              <a:t>Participate </a:t>
            </a:r>
            <a:r>
              <a:rPr lang="en-AU" dirty="0"/>
              <a:t>in some ‘getting to know you’ activities or social activities </a:t>
            </a:r>
            <a:endParaRPr lang="en-AU" dirty="0" smtClean="0"/>
          </a:p>
          <a:p>
            <a:r>
              <a:rPr lang="en-AU" dirty="0"/>
              <a:t>H</a:t>
            </a:r>
            <a:r>
              <a:rPr lang="en-AU" dirty="0" smtClean="0"/>
              <a:t>ave </a:t>
            </a:r>
            <a:r>
              <a:rPr lang="en-AU" dirty="0"/>
              <a:t>regular ‘awards’ for group members for their achievements, as being rewarded in front of a community makes a person more attracted to that community </a:t>
            </a:r>
          </a:p>
          <a:p>
            <a:r>
              <a:rPr lang="en-AU" dirty="0" smtClean="0"/>
              <a:t>Work </a:t>
            </a:r>
            <a:r>
              <a:rPr lang="en-AU" dirty="0"/>
              <a:t>on a project or participate in a meaningful activity together (shared event) to create a bond between members </a:t>
            </a:r>
            <a:endParaRPr lang="en-AU" dirty="0" smtClean="0"/>
          </a:p>
          <a:p>
            <a:r>
              <a:rPr lang="en-AU" dirty="0" smtClean="0"/>
              <a:t>Celebrate achievements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384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2800" b="1" dirty="0">
                <a:latin typeface="Trebuchet MS" pitchFamily="34" charset="0"/>
              </a:rPr>
              <a:t>Measurement of Sense of Community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AU" b="1" dirty="0">
                <a:latin typeface="Trebuchet MS" pitchFamily="34" charset="0"/>
              </a:rPr>
              <a:t>Sense of Community Index (SCI)  developed by Perkins, Florin, Rich, and </a:t>
            </a:r>
            <a:r>
              <a:rPr lang="en-AU" b="1" dirty="0" err="1">
                <a:latin typeface="Trebuchet MS" pitchFamily="34" charset="0"/>
              </a:rPr>
              <a:t>Wandersman</a:t>
            </a:r>
            <a:r>
              <a:rPr lang="en-AU" b="1" dirty="0">
                <a:latin typeface="Trebuchet MS" pitchFamily="34" charset="0"/>
              </a:rPr>
              <a:t>  (1990).</a:t>
            </a:r>
            <a:r>
              <a:rPr lang="en-AU" dirty="0">
                <a:latin typeface="Trebuchet MS" pitchFamily="34" charset="0"/>
              </a:rPr>
              <a:t> </a:t>
            </a:r>
          </a:p>
          <a:p>
            <a:pPr>
              <a:buFontTx/>
              <a:buNone/>
            </a:pPr>
            <a:r>
              <a:rPr lang="en-AU" dirty="0">
                <a:latin typeface="Trebuchet MS" pitchFamily="34" charset="0"/>
              </a:rPr>
              <a:t>The SCI consisted of 12 items</a:t>
            </a:r>
          </a:p>
          <a:p>
            <a:r>
              <a:rPr lang="en-AU" dirty="0" smtClean="0">
                <a:latin typeface="Trebuchet MS" pitchFamily="34" charset="0"/>
              </a:rPr>
              <a:t>‘True’  </a:t>
            </a:r>
            <a:r>
              <a:rPr lang="en-AU" dirty="0">
                <a:latin typeface="Trebuchet MS" pitchFamily="34" charset="0"/>
              </a:rPr>
              <a:t>or </a:t>
            </a:r>
            <a:r>
              <a:rPr lang="en-AU" dirty="0" smtClean="0">
                <a:latin typeface="Trebuchet MS" pitchFamily="34" charset="0"/>
              </a:rPr>
              <a:t>‘false’ </a:t>
            </a:r>
            <a:r>
              <a:rPr lang="en-AU" dirty="0">
                <a:latin typeface="Trebuchet MS" pitchFamily="34" charset="0"/>
              </a:rPr>
              <a:t>response format;</a:t>
            </a:r>
          </a:p>
          <a:p>
            <a:r>
              <a:rPr lang="en-AU" dirty="0">
                <a:latin typeface="Trebuchet MS" pitchFamily="34" charset="0"/>
              </a:rPr>
              <a:t>These 12 items are divided evenly between the four sub-scales identified above. </a:t>
            </a:r>
          </a:p>
          <a:p>
            <a:r>
              <a:rPr lang="en-AU" dirty="0">
                <a:latin typeface="Trebuchet MS" pitchFamily="34" charset="0"/>
              </a:rPr>
              <a:t>The scale was modified to utilise a 5 point Likert scale (strongly disagree, disagree, unsure, agree, strongly agree) with a possible score range of 12 –60.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0437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David M. </a:t>
            </a:r>
            <a:r>
              <a:rPr lang="en-AU" dirty="0" err="1"/>
              <a:t>Chavis</a:t>
            </a:r>
            <a:r>
              <a:rPr lang="en-AU" dirty="0"/>
              <a:t>, Ph.D.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Association </a:t>
            </a:r>
            <a:r>
              <a:rPr lang="en-AU" dirty="0"/>
              <a:t>for Study and Development of Community SENSE OF COMMUNITY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AU" dirty="0" smtClean="0"/>
              <a:t>I </a:t>
            </a:r>
            <a:r>
              <a:rPr lang="en-AU" dirty="0"/>
              <a:t>am going to read some statements that people might make about their [block]. Each time I read one of these statements, please tell me if it is mostly true or mostly false about your [block] simply by saying "true" or "false" True = 1 False =0 </a:t>
            </a:r>
            <a:endParaRPr lang="en-AU" dirty="0" smtClean="0"/>
          </a:p>
          <a:p>
            <a:r>
              <a:rPr lang="en-AU" dirty="0" smtClean="0"/>
              <a:t>Q1</a:t>
            </a:r>
            <a:r>
              <a:rPr lang="en-AU" dirty="0"/>
              <a:t>. I think my [block] is a good place for me to live. </a:t>
            </a:r>
            <a:endParaRPr lang="en-AU" dirty="0" smtClean="0"/>
          </a:p>
          <a:p>
            <a:r>
              <a:rPr lang="en-AU" dirty="0" smtClean="0"/>
              <a:t>Q2</a:t>
            </a:r>
            <a:r>
              <a:rPr lang="en-AU" dirty="0"/>
              <a:t>. People on this [block] do not share the same values. </a:t>
            </a:r>
            <a:endParaRPr lang="en-AU" dirty="0" smtClean="0"/>
          </a:p>
          <a:p>
            <a:r>
              <a:rPr lang="en-AU" dirty="0" smtClean="0"/>
              <a:t>Q3</a:t>
            </a:r>
            <a:r>
              <a:rPr lang="en-AU" dirty="0"/>
              <a:t>. My </a:t>
            </a:r>
            <a:r>
              <a:rPr lang="en-AU" dirty="0" smtClean="0"/>
              <a:t>[neighbours] </a:t>
            </a:r>
            <a:r>
              <a:rPr lang="en-AU" dirty="0"/>
              <a:t>and I want the same things from the [block]. </a:t>
            </a:r>
            <a:endParaRPr lang="en-AU" dirty="0" smtClean="0"/>
          </a:p>
          <a:p>
            <a:r>
              <a:rPr lang="en-AU" dirty="0" smtClean="0"/>
              <a:t>Q4</a:t>
            </a:r>
            <a:r>
              <a:rPr lang="en-AU" dirty="0"/>
              <a:t>. I can recognize most of the people who live on my [block]. </a:t>
            </a:r>
            <a:endParaRPr lang="en-AU" dirty="0" smtClean="0"/>
          </a:p>
          <a:p>
            <a:r>
              <a:rPr lang="en-AU" dirty="0" smtClean="0"/>
              <a:t>Q5</a:t>
            </a:r>
            <a:r>
              <a:rPr lang="en-AU" dirty="0"/>
              <a:t>. I feel at home on this [block]. </a:t>
            </a:r>
            <a:endParaRPr lang="en-AU" dirty="0" smtClean="0"/>
          </a:p>
          <a:p>
            <a:r>
              <a:rPr lang="en-AU" dirty="0" smtClean="0"/>
              <a:t>Q6</a:t>
            </a:r>
            <a:r>
              <a:rPr lang="en-AU" dirty="0"/>
              <a:t>. Very few of my </a:t>
            </a:r>
            <a:r>
              <a:rPr lang="en-AU" dirty="0" smtClean="0"/>
              <a:t>[neighbours] </a:t>
            </a:r>
            <a:r>
              <a:rPr lang="en-AU" dirty="0"/>
              <a:t>know me. </a:t>
            </a:r>
            <a:endParaRPr lang="en-AU" dirty="0" smtClean="0"/>
          </a:p>
          <a:p>
            <a:r>
              <a:rPr lang="en-AU" dirty="0" smtClean="0"/>
              <a:t>Q7</a:t>
            </a:r>
            <a:r>
              <a:rPr lang="en-AU" dirty="0"/>
              <a:t>. I care about what my </a:t>
            </a:r>
            <a:r>
              <a:rPr lang="en-AU" dirty="0" smtClean="0"/>
              <a:t>[neighbours] </a:t>
            </a:r>
            <a:r>
              <a:rPr lang="en-AU" dirty="0"/>
              <a:t>think of my actions. </a:t>
            </a:r>
            <a:endParaRPr lang="en-AU" dirty="0" smtClean="0"/>
          </a:p>
          <a:p>
            <a:r>
              <a:rPr lang="en-AU" dirty="0" smtClean="0"/>
              <a:t>Q8</a:t>
            </a:r>
            <a:r>
              <a:rPr lang="en-AU" dirty="0"/>
              <a:t>. I have no influence over what this [block] is like. </a:t>
            </a:r>
            <a:endParaRPr lang="en-AU" dirty="0" smtClean="0"/>
          </a:p>
          <a:p>
            <a:r>
              <a:rPr lang="en-AU" dirty="0" smtClean="0"/>
              <a:t>Q9</a:t>
            </a:r>
            <a:r>
              <a:rPr lang="en-AU" dirty="0"/>
              <a:t>. If there is a problem on this [block] people who live here can get it solved. </a:t>
            </a:r>
            <a:endParaRPr lang="en-AU" dirty="0" smtClean="0"/>
          </a:p>
          <a:p>
            <a:r>
              <a:rPr lang="en-AU" dirty="0" smtClean="0"/>
              <a:t>Q 10</a:t>
            </a:r>
            <a:r>
              <a:rPr lang="en-AU" dirty="0"/>
              <a:t>. It is very important to me to live on this particular [block]. </a:t>
            </a:r>
            <a:endParaRPr lang="en-AU" dirty="0" smtClean="0"/>
          </a:p>
          <a:p>
            <a:r>
              <a:rPr lang="en-AU" dirty="0" smtClean="0"/>
              <a:t>Q 11 </a:t>
            </a:r>
            <a:r>
              <a:rPr lang="en-AU" dirty="0"/>
              <a:t>. People on this [block] generally don't get along with each other. </a:t>
            </a:r>
            <a:endParaRPr lang="en-AU" dirty="0" smtClean="0"/>
          </a:p>
          <a:p>
            <a:r>
              <a:rPr lang="en-AU" dirty="0" smtClean="0"/>
              <a:t>Q12</a:t>
            </a:r>
            <a:r>
              <a:rPr lang="en-AU" dirty="0"/>
              <a:t>. I expect to live on this [block] for a long time. </a:t>
            </a:r>
            <a:endParaRPr lang="en-AU" dirty="0" smtClean="0"/>
          </a:p>
          <a:p>
            <a:pPr lvl="1"/>
            <a:r>
              <a:rPr lang="en-AU" dirty="0" smtClean="0"/>
              <a:t>Total </a:t>
            </a:r>
            <a:r>
              <a:rPr lang="en-AU" dirty="0"/>
              <a:t>Sense of Community Index = Total Q1 through Q12 </a:t>
            </a:r>
            <a:endParaRPr lang="en-AU" dirty="0" smtClean="0"/>
          </a:p>
          <a:p>
            <a:pPr lvl="2"/>
            <a:r>
              <a:rPr lang="en-AU" dirty="0" smtClean="0"/>
              <a:t>Subscales</a:t>
            </a:r>
            <a:r>
              <a:rPr lang="en-AU" dirty="0"/>
              <a:t>: Membership = Q4 + Q5 + Q6 </a:t>
            </a:r>
            <a:endParaRPr lang="en-AU" dirty="0" smtClean="0"/>
          </a:p>
          <a:p>
            <a:pPr lvl="2"/>
            <a:r>
              <a:rPr lang="en-AU" dirty="0" smtClean="0"/>
              <a:t>Influence </a:t>
            </a:r>
            <a:r>
              <a:rPr lang="en-AU" dirty="0"/>
              <a:t>= Q7 + Q8 + Q9 </a:t>
            </a:r>
            <a:endParaRPr lang="en-AU" dirty="0" smtClean="0"/>
          </a:p>
          <a:p>
            <a:pPr lvl="2"/>
            <a:r>
              <a:rPr lang="en-AU" dirty="0" smtClean="0"/>
              <a:t>Reinforcement </a:t>
            </a:r>
            <a:r>
              <a:rPr lang="en-AU" dirty="0"/>
              <a:t>of Needs = Q1 + Q2 + Q3 </a:t>
            </a:r>
            <a:endParaRPr lang="en-AU" dirty="0" smtClean="0"/>
          </a:p>
          <a:p>
            <a:pPr lvl="2"/>
            <a:r>
              <a:rPr lang="en-AU" dirty="0" smtClean="0"/>
              <a:t>Shared </a:t>
            </a:r>
            <a:r>
              <a:rPr lang="en-AU" dirty="0"/>
              <a:t>Emotional Connection = Q10 + Q11 + Q12 </a:t>
            </a:r>
            <a:endParaRPr lang="en-AU" dirty="0" smtClean="0"/>
          </a:p>
          <a:p>
            <a:pPr lvl="2"/>
            <a:r>
              <a:rPr lang="en-AU" dirty="0" smtClean="0"/>
              <a:t>*</a:t>
            </a:r>
            <a:r>
              <a:rPr lang="en-AU" dirty="0"/>
              <a:t>Scores for Q2, Q6, Q8, Q11 need to be reversed before scoring.</a:t>
            </a:r>
          </a:p>
        </p:txBody>
      </p:sp>
    </p:spTree>
    <p:extLst>
      <p:ext uri="{BB962C8B-B14F-4D97-AF65-F5344CB8AC3E}">
        <p14:creationId xmlns:p14="http://schemas.microsoft.com/office/powerpoint/2010/main" val="379182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2800" dirty="0">
                <a:latin typeface="Trebuchet MS" pitchFamily="34" charset="0"/>
              </a:rPr>
              <a:t>Issues with Sense of Community Concept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>
                <a:latin typeface="Trebuchet MS" pitchFamily="34" charset="0"/>
              </a:rPr>
              <a:t>SCI=aggregate </a:t>
            </a:r>
            <a:r>
              <a:rPr lang="en-AU" dirty="0">
                <a:latin typeface="Trebuchet MS" pitchFamily="34" charset="0"/>
              </a:rPr>
              <a:t>score of components=SOC.</a:t>
            </a:r>
          </a:p>
          <a:p>
            <a:r>
              <a:rPr lang="en-AU" dirty="0">
                <a:latin typeface="Trebuchet MS" pitchFamily="34" charset="0"/>
              </a:rPr>
              <a:t>SOC=feeling that one experiences, then by breaking this into components, the quality of the experience is lost.</a:t>
            </a:r>
          </a:p>
          <a:p>
            <a:r>
              <a:rPr lang="en-AU" dirty="0" smtClean="0">
                <a:latin typeface="Trebuchet MS" pitchFamily="34" charset="0"/>
              </a:rPr>
              <a:t>SOC </a:t>
            </a:r>
            <a:r>
              <a:rPr lang="en-AU" dirty="0">
                <a:latin typeface="Trebuchet MS" pitchFamily="34" charset="0"/>
              </a:rPr>
              <a:t>measured at individual or community level.</a:t>
            </a:r>
          </a:p>
          <a:p>
            <a:r>
              <a:rPr lang="en-AU" dirty="0">
                <a:latin typeface="Trebuchet MS" pitchFamily="34" charset="0"/>
              </a:rPr>
              <a:t> Saracen (1986) examined how SOC emerges from the relationship between the individual and the community as both are essential and necessary to building community health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424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200" dirty="0" smtClean="0">
                <a:latin typeface="Trebuchet MS" pitchFamily="34" charset="0"/>
              </a:rPr>
              <a:t>CONCLUSIONS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AU" dirty="0">
                <a:latin typeface="Trebuchet MS" pitchFamily="34" charset="0"/>
              </a:rPr>
              <a:t>SOC allows us to understand the individual’s connection to the community, which is central to the concept of SOC.</a:t>
            </a:r>
          </a:p>
          <a:p>
            <a:pPr>
              <a:lnSpc>
                <a:spcPct val="90000"/>
              </a:lnSpc>
            </a:pPr>
            <a:r>
              <a:rPr lang="en-AU" dirty="0">
                <a:latin typeface="Trebuchet MS" pitchFamily="34" charset="0"/>
              </a:rPr>
              <a:t>Components of SOC are identifiable and assessable.  </a:t>
            </a:r>
          </a:p>
          <a:p>
            <a:pPr>
              <a:lnSpc>
                <a:spcPct val="90000"/>
              </a:lnSpc>
            </a:pPr>
            <a:r>
              <a:rPr lang="en-AU" dirty="0">
                <a:latin typeface="Trebuchet MS" pitchFamily="34" charset="0"/>
              </a:rPr>
              <a:t>Key elements seem to hold regardless of age, gender or location.  </a:t>
            </a:r>
          </a:p>
          <a:p>
            <a:pPr>
              <a:lnSpc>
                <a:spcPct val="90000"/>
              </a:lnSpc>
            </a:pPr>
            <a:r>
              <a:rPr lang="en-AU" dirty="0">
                <a:latin typeface="Trebuchet MS" pitchFamily="34" charset="0"/>
              </a:rPr>
              <a:t>SOC a useful construct as we can readily identify its components. </a:t>
            </a:r>
          </a:p>
          <a:p>
            <a:pPr>
              <a:lnSpc>
                <a:spcPct val="90000"/>
              </a:lnSpc>
            </a:pPr>
            <a:r>
              <a:rPr lang="en-AU" dirty="0">
                <a:latin typeface="Trebuchet MS" pitchFamily="34" charset="0"/>
              </a:rPr>
              <a:t>Well-developed instrument to measure the construct. </a:t>
            </a:r>
          </a:p>
          <a:p>
            <a:pPr>
              <a:lnSpc>
                <a:spcPct val="90000"/>
              </a:lnSpc>
            </a:pPr>
            <a:r>
              <a:rPr lang="en-AU" dirty="0">
                <a:latin typeface="Trebuchet MS" pitchFamily="34" charset="0"/>
              </a:rPr>
              <a:t>Community psychology can offer is a process focus to develop and enhance our</a:t>
            </a:r>
            <a:r>
              <a:rPr lang="en-AU" b="1" i="1" dirty="0">
                <a:latin typeface="Trebuchet MS" pitchFamily="34" charset="0"/>
              </a:rPr>
              <a:t> </a:t>
            </a:r>
            <a:r>
              <a:rPr lang="en-AU" dirty="0">
                <a:latin typeface="Trebuchet MS" pitchFamily="34" charset="0"/>
              </a:rPr>
              <a:t>understanding of SOC in communities</a:t>
            </a:r>
            <a:r>
              <a:rPr lang="en-AU" dirty="0" smtClean="0">
                <a:latin typeface="Trebuchet MS" pitchFamily="34" charset="0"/>
              </a:rPr>
              <a:t>.</a:t>
            </a:r>
            <a:endParaRPr lang="en-AU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3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Further Resources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SOC Survey</a:t>
            </a:r>
          </a:p>
          <a:p>
            <a:r>
              <a:rPr lang="en-AU" dirty="0" smtClean="0">
                <a:hlinkClick r:id="rId2"/>
              </a:rPr>
              <a:t>http</a:t>
            </a:r>
            <a:r>
              <a:rPr lang="en-AU" dirty="0">
                <a:hlinkClick r:id="rId2"/>
              </a:rPr>
              <a:t>://</a:t>
            </a:r>
            <a:r>
              <a:rPr lang="en-AU" dirty="0" smtClean="0">
                <a:hlinkClick r:id="rId2"/>
              </a:rPr>
              <a:t>www.communityscience.com/pubs/Sense%20of%20Community%20Index.pdf</a:t>
            </a:r>
            <a:endParaRPr lang="en-AU" dirty="0" smtClean="0"/>
          </a:p>
          <a:p>
            <a:endParaRPr lang="en-AU" dirty="0" smtClean="0"/>
          </a:p>
          <a:p>
            <a:pPr marL="0" indent="0">
              <a:buNone/>
            </a:pPr>
            <a:r>
              <a:rPr lang="en-AU" dirty="0"/>
              <a:t>COMMUNITY PSYCHOLOGY </a:t>
            </a:r>
            <a:r>
              <a:rPr lang="en-AU" dirty="0" smtClean="0"/>
              <a:t> - Psychological </a:t>
            </a:r>
            <a:r>
              <a:rPr lang="en-AU" dirty="0"/>
              <a:t>Sense of Community: </a:t>
            </a:r>
            <a:r>
              <a:rPr lang="en-AU" dirty="0" smtClean="0"/>
              <a:t> Theory </a:t>
            </a:r>
            <a:r>
              <a:rPr lang="en-AU" dirty="0"/>
              <a:t>of McMillan &amp; </a:t>
            </a:r>
            <a:r>
              <a:rPr lang="en-AU" dirty="0" err="1"/>
              <a:t>Chavis</a:t>
            </a:r>
            <a:r>
              <a:rPr lang="en-AU" dirty="0"/>
              <a:t> (1986) </a:t>
            </a:r>
            <a:r>
              <a:rPr lang="en-AU" dirty="0" smtClean="0"/>
              <a:t>Overview</a:t>
            </a:r>
            <a:endParaRPr lang="en-AU" dirty="0"/>
          </a:p>
          <a:p>
            <a:endParaRPr lang="en-AU" dirty="0"/>
          </a:p>
          <a:p>
            <a:r>
              <a:rPr lang="en-AU" dirty="0">
                <a:hlinkClick r:id="rId3"/>
              </a:rPr>
              <a:t>http://</a:t>
            </a:r>
            <a:r>
              <a:rPr lang="en-AU" dirty="0" smtClean="0">
                <a:hlinkClick r:id="rId3"/>
              </a:rPr>
              <a:t>www.wright-house.com/psychology/sense-of-community.html</a:t>
            </a:r>
            <a:endParaRPr lang="en-AU" dirty="0" smtClean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894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005064"/>
            <a:ext cx="2304256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 txBox="1">
            <a:spLocks/>
          </p:cNvSpPr>
          <p:nvPr/>
        </p:nvSpPr>
        <p:spPr>
          <a:xfrm>
            <a:off x="477905" y="260648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</a:pPr>
            <a:endParaRPr lang="en-AU" dirty="0" smtClean="0"/>
          </a:p>
          <a:p>
            <a:pPr marL="0" indent="0">
              <a:buFont typeface="Wingdings"/>
              <a:buNone/>
            </a:pPr>
            <a:endParaRPr lang="en-AU" dirty="0"/>
          </a:p>
        </p:txBody>
      </p:sp>
      <p:sp>
        <p:nvSpPr>
          <p:cNvPr id="2" name="Rectangle 1"/>
          <p:cNvSpPr/>
          <p:nvPr/>
        </p:nvSpPr>
        <p:spPr>
          <a:xfrm>
            <a:off x="611560" y="1543362"/>
            <a:ext cx="668587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Humans of : New York, Perth, Melbourne, Western Australia (Facebook pages</a:t>
            </a:r>
            <a:r>
              <a:rPr lang="en-AU" dirty="0" smtClean="0"/>
              <a:t>) OR  </a:t>
            </a:r>
            <a:r>
              <a:rPr lang="en-AU" dirty="0">
                <a:hlinkClick r:id="rId3"/>
              </a:rPr>
              <a:t>http://www.humansofnewyork.com</a:t>
            </a:r>
            <a:r>
              <a:rPr lang="en-AU" dirty="0" smtClean="0">
                <a:hlinkClick r:id="rId3"/>
              </a:rPr>
              <a:t>/</a:t>
            </a:r>
            <a:endParaRPr lang="en-AU" dirty="0" smtClean="0"/>
          </a:p>
          <a:p>
            <a:r>
              <a:rPr lang="en-AU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James’ story </a:t>
            </a:r>
          </a:p>
          <a:p>
            <a:r>
              <a:rPr lang="en-AU" dirty="0"/>
              <a:t>***http://</a:t>
            </a:r>
            <a:r>
              <a:rPr lang="en-AU" dirty="0" smtClean="0"/>
              <a:t>www.humansofnewyork.com/post/147006666106/the-korean-american-community-is-very-tight-knit</a:t>
            </a:r>
          </a:p>
          <a:p>
            <a:endParaRPr lang="en-AU" dirty="0" smtClean="0"/>
          </a:p>
          <a:p>
            <a:endParaRPr lang="en-AU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AU" dirty="0" smtClean="0"/>
              <a:t>Stories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766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2015 ATAR Extended Response question</a:t>
            </a:r>
            <a:endParaRPr lang="en-A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00808"/>
            <a:ext cx="7705939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8507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2016 WACE Short Answer Question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/>
              <a:t>Members of the Free Wheelers cycling club all wear the club T-shirt and meet at the same </a:t>
            </a:r>
            <a:r>
              <a:rPr lang="en-AU" sz="2000" dirty="0" smtClean="0"/>
              <a:t>café every </a:t>
            </a:r>
            <a:r>
              <a:rPr lang="en-AU" sz="2000" dirty="0"/>
              <a:t>Saturday morning. As well as cycling together, club members often arrange social outings</a:t>
            </a:r>
          </a:p>
          <a:p>
            <a:pPr marL="0" indent="0">
              <a:buNone/>
            </a:pPr>
            <a:r>
              <a:rPr lang="en-AU" sz="2000" dirty="0"/>
              <a:t>and participate in fundraising for charity. All club members are able to contribute to </a:t>
            </a:r>
            <a:r>
              <a:rPr lang="en-AU" sz="2000" dirty="0" smtClean="0"/>
              <a:t>decisions about </a:t>
            </a:r>
            <a:r>
              <a:rPr lang="en-AU" sz="2000" dirty="0"/>
              <a:t>social activities and the charities the club will support.</a:t>
            </a:r>
            <a:endParaRPr lang="en-AU" sz="2000" dirty="0" smtClean="0"/>
          </a:p>
          <a:p>
            <a:endParaRPr lang="en-AU" dirty="0"/>
          </a:p>
          <a:p>
            <a:r>
              <a:rPr lang="en-AU" dirty="0" smtClean="0"/>
              <a:t>Name </a:t>
            </a:r>
            <a:r>
              <a:rPr lang="en-AU" dirty="0"/>
              <a:t>and outline </a:t>
            </a:r>
            <a:r>
              <a:rPr lang="en-AU" b="1" dirty="0"/>
              <a:t>two </a:t>
            </a:r>
            <a:r>
              <a:rPr lang="en-AU" dirty="0"/>
              <a:t>factors that contribute to a sense of community according to McMillan and </a:t>
            </a:r>
            <a:r>
              <a:rPr lang="en-AU" dirty="0" err="1"/>
              <a:t>Chavis</a:t>
            </a:r>
            <a:r>
              <a:rPr lang="en-AU" dirty="0"/>
              <a:t>. Illustrate each factor with an example from the scenario. </a:t>
            </a:r>
            <a:r>
              <a:rPr lang="en-AU" dirty="0" smtClean="0"/>
              <a:t>				(</a:t>
            </a:r>
            <a:r>
              <a:rPr lang="en-AU" dirty="0"/>
              <a:t>6 marks) </a:t>
            </a:r>
          </a:p>
        </p:txBody>
      </p:sp>
    </p:spTree>
    <p:extLst>
      <p:ext uri="{BB962C8B-B14F-4D97-AF65-F5344CB8AC3E}">
        <p14:creationId xmlns:p14="http://schemas.microsoft.com/office/powerpoint/2010/main" val="2358576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887</TotalTime>
  <Words>1714</Words>
  <Application>Microsoft Office PowerPoint</Application>
  <PresentationFormat>On-screen Show (4:3)</PresentationFormat>
  <Paragraphs>160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Century Schoolbook</vt:lpstr>
      <vt:lpstr>Trebuchet MS</vt:lpstr>
      <vt:lpstr>Wingdings</vt:lpstr>
      <vt:lpstr>Wingdings 2</vt:lpstr>
      <vt:lpstr>Oriel</vt:lpstr>
      <vt:lpstr>Culture &amp; Values</vt:lpstr>
      <vt:lpstr>From your Syllabus</vt:lpstr>
      <vt:lpstr>Distinguish between two major uses of the term community:</vt:lpstr>
      <vt:lpstr>Definition of Sense of Community:</vt:lpstr>
      <vt:lpstr>The definition has 4 elements:</vt:lpstr>
      <vt:lpstr> The definition has 4 elements:</vt:lpstr>
      <vt:lpstr>Membership</vt:lpstr>
      <vt:lpstr>Membership Examples</vt:lpstr>
      <vt:lpstr>Group examples as applied to Membership</vt:lpstr>
      <vt:lpstr>Influence</vt:lpstr>
      <vt:lpstr>Influence Examples</vt:lpstr>
      <vt:lpstr>Integration and fulfilment of needs</vt:lpstr>
      <vt:lpstr>Integration and fulfilment of needs Examples</vt:lpstr>
      <vt:lpstr>Shared emotional connections</vt:lpstr>
      <vt:lpstr>the 7 attributes of shared emotional connection</vt:lpstr>
      <vt:lpstr>Shared emotional connections Examples</vt:lpstr>
      <vt:lpstr>Measurement of Sense of Community</vt:lpstr>
      <vt:lpstr>David M. Chavis, Ph.D.  Association for Study and Development of Community SENSE OF COMMUNITY INDEX</vt:lpstr>
      <vt:lpstr>Issues with Sense of Community Concept</vt:lpstr>
      <vt:lpstr>CONCLUSIONS</vt:lpstr>
      <vt:lpstr>Further Resources</vt:lpstr>
      <vt:lpstr>Stories</vt:lpstr>
      <vt:lpstr>2015 ATAR Extended Response question</vt:lpstr>
      <vt:lpstr>2016 WACE Short Answer Question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Culture &amp; Values</dc:title>
  <dc:creator>Kaye Hughes</dc:creator>
  <cp:lastModifiedBy>Rory Mckenzie</cp:lastModifiedBy>
  <cp:revision>12</cp:revision>
  <dcterms:created xsi:type="dcterms:W3CDTF">2016-08-27T05:36:53Z</dcterms:created>
  <dcterms:modified xsi:type="dcterms:W3CDTF">2018-08-29T03:30:57Z</dcterms:modified>
</cp:coreProperties>
</file>
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83" r:id="rId5"/>
    <p:sldId id="284" r:id="rId6"/>
    <p:sldId id="287" r:id="rId7"/>
    <p:sldId id="288" r:id="rId8"/>
    <p:sldId id="289" r:id="rId9"/>
    <p:sldId id="259" r:id="rId10"/>
    <p:sldId id="272" r:id="rId11"/>
    <p:sldId id="260" r:id="rId12"/>
    <p:sldId id="261" r:id="rId13"/>
    <p:sldId id="262" r:id="rId14"/>
    <p:sldId id="263" r:id="rId15"/>
    <p:sldId id="264" r:id="rId16"/>
    <p:sldId id="265" r:id="rId17"/>
    <p:sldId id="276" r:id="rId18"/>
    <p:sldId id="278" r:id="rId19"/>
    <p:sldId id="277" r:id="rId20"/>
    <p:sldId id="274" r:id="rId21"/>
    <p:sldId id="279" r:id="rId22"/>
    <p:sldId id="275" r:id="rId23"/>
    <p:sldId id="280" r:id="rId24"/>
    <p:sldId id="281" r:id="rId25"/>
    <p:sldId id="282" r:id="rId26"/>
    <p:sldId id="285" r:id="rId27"/>
    <p:sldId id="266" r:id="rId28"/>
    <p:sldId id="268" r:id="rId29"/>
    <p:sldId id="267" r:id="rId30"/>
    <p:sldId id="269" r:id="rId31"/>
    <p:sldId id="286" r:id="rId32"/>
    <p:sldId id="273" r:id="rId33"/>
    <p:sldId id="270" r:id="rId34"/>
    <p:sldId id="271" r:id="rId35"/>
    <p:sldId id="290" r:id="rId36"/>
    <p:sldId id="291"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78"/>
      </p:cViewPr>
      <p:guideLst>
        <p:guide orient="horz" pos="2160"/>
        <p:guide pos="2880"/>
      </p:guideLst>
    </p:cSldViewPr>
  </p:slideViewPr>
  <p:notesTextViewPr>
    <p:cViewPr>
      <p:scale>
        <a:sx n="1" d="1"/>
        <a:sy n="1" d="1"/>
      </p:scale>
      <p:origin x="0" y="0"/>
    </p:cViewPr>
  </p:notesTextViewPr>
  <p:sorterViewPr>
    <p:cViewPr>
      <p:scale>
        <a:sx n="100" d="100"/>
        <a:sy n="100" d="100"/>
      </p:scale>
      <p:origin x="0" y="-8307"/>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n-US" smtClean="0"/>
              <a:t>Click to edit Master title style</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8AF53792-A5F8-4AC3-93C8-56C3D28F1F3F}" type="datetimeFigureOut">
              <a:rPr lang="en-AU" smtClean="0"/>
              <a:t>12/08/2021</a:t>
            </a:fld>
            <a:endParaRPr lang="en-AU"/>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en-AU"/>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12F7C0C2-944C-4A95-B6F6-1DC53454F49D}" type="slidenum">
              <a:rPr lang="en-AU" smtClean="0"/>
              <a:t>‹#›</a:t>
            </a:fld>
            <a:endParaRPr lang="en-AU"/>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AF53792-A5F8-4AC3-93C8-56C3D28F1F3F}" type="datetimeFigureOut">
              <a:rPr lang="en-AU" smtClean="0"/>
              <a:t>12/08/2021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2F7C0C2-944C-4A95-B6F6-1DC53454F49D}" type="slidenum">
              <a:rPr lang="en-AU" smtClean="0"/>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AF53792-A5F8-4AC3-93C8-56C3D28F1F3F}" type="datetimeFigureOut">
              <a:rPr lang="en-AU" smtClean="0"/>
              <a:t>12/08/2021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2F7C0C2-944C-4A95-B6F6-1DC53454F49D}" type="slidenum">
              <a:rPr lang="en-AU" smtClean="0"/>
              <a:t>‹#›</a:t>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8AF53792-A5F8-4AC3-93C8-56C3D28F1F3F}" type="datetimeFigureOut">
              <a:rPr lang="en-AU" smtClean="0"/>
              <a:t>12/08/2021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2F7C0C2-944C-4A95-B6F6-1DC53454F49D}" type="slidenum">
              <a:rPr lang="en-AU" smtClean="0"/>
              <a:t>‹#›</a:t>
            </a:fld>
            <a:endParaRPr lang="en-AU"/>
          </a:p>
        </p:txBody>
      </p:sp>
      <p:sp>
        <p:nvSpPr>
          <p:cNvPr id="9" name="Content Placeholder 8"/>
          <p:cNvSpPr>
            <a:spLocks noGrp="1"/>
          </p:cNvSpPr>
          <p:nvPr>
            <p:ph sz="quarter" idx="13"/>
          </p:nvPr>
        </p:nvSpPr>
        <p:spPr>
          <a:xfrm>
            <a:off x="1042416" y="2313432"/>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AF53792-A5F8-4AC3-93C8-56C3D28F1F3F}" type="datetimeFigureOut">
              <a:rPr lang="en-AU" smtClean="0"/>
              <a:t>12/08/2021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12F7C0C2-944C-4A95-B6F6-1DC53454F49D}" type="slidenum">
              <a:rPr lang="en-AU" smtClean="0"/>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AF53792-A5F8-4AC3-93C8-56C3D28F1F3F}" type="datetimeFigureOut">
              <a:rPr lang="en-AU" smtClean="0"/>
              <a:t>12/08/2021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12F7C0C2-944C-4A95-B6F6-1DC53454F49D}" type="slidenum">
              <a:rPr lang="en-AU" smtClean="0"/>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F53792-A5F8-4AC3-93C8-56C3D28F1F3F}" type="datetimeFigureOut">
              <a:rPr lang="en-AU" smtClean="0"/>
              <a:t>12/08/2021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12F7C0C2-944C-4A95-B6F6-1DC53454F49D}" type="slidenum">
              <a:rPr lang="en-AU" smtClean="0"/>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8AF53792-A5F8-4AC3-93C8-56C3D28F1F3F}" type="datetimeFigureOut">
              <a:rPr lang="en-AU" smtClean="0"/>
              <a:t>12/08/2021</a:t>
            </a:fld>
            <a:endParaRPr lang="en-AU"/>
          </a:p>
        </p:txBody>
      </p:sp>
      <p:sp>
        <p:nvSpPr>
          <p:cNvPr id="7" name="Slide Number Placeholder 6"/>
          <p:cNvSpPr>
            <a:spLocks noGrp="1"/>
          </p:cNvSpPr>
          <p:nvPr>
            <p:ph type="sldNum" sz="quarter" idx="12"/>
          </p:nvPr>
        </p:nvSpPr>
        <p:spPr/>
        <p:txBody>
          <a:bodyPr/>
          <a:lstStyle/>
          <a:p>
            <a:fld id="{12F7C0C2-944C-4A95-B6F6-1DC53454F49D}" type="slidenum">
              <a:rPr lang="en-AU" smtClean="0"/>
              <a:t>‹#›</a:t>
            </a:fld>
            <a:endParaRPr lang="en-AU"/>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AU"/>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n-US" smtClean="0"/>
              <a:t>Click to edit Master title style</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n-US" smtClean="0"/>
              <a:t>Click to edit Master title style</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AF53792-A5F8-4AC3-93C8-56C3D28F1F3F}" type="datetimeFigureOut">
              <a:rPr lang="en-AU" smtClean="0"/>
              <a:t>12/08/2021</a:t>
            </a:fld>
            <a:endParaRPr lang="en-AU"/>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AU"/>
          </a:p>
        </p:txBody>
      </p:sp>
      <p:sp>
        <p:nvSpPr>
          <p:cNvPr id="7" name="Slide Number Placeholder 6"/>
          <p:cNvSpPr>
            <a:spLocks noGrp="1"/>
          </p:cNvSpPr>
          <p:nvPr>
            <p:ph type="sldNum" sz="quarter" idx="12"/>
          </p:nvPr>
        </p:nvSpPr>
        <p:spPr/>
        <p:txBody>
          <a:bodyPr/>
          <a:lstStyle/>
          <a:p>
            <a:fld id="{12F7C0C2-944C-4A95-B6F6-1DC53454F49D}" type="slidenum">
              <a:rPr lang="en-AU" smtClean="0"/>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AF53792-A5F8-4AC3-93C8-56C3D28F1F3F}" type="datetimeFigureOut">
              <a:rPr lang="en-AU" smtClean="0"/>
              <a:t>12/08/2021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2F7C0C2-944C-4A95-B6F6-1DC53454F49D}"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n-US" smtClean="0"/>
              <a:t>Click to edit Master title style</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AF53792-A5F8-4AC3-93C8-56C3D28F1F3F}" type="datetimeFigureOut">
              <a:rPr lang="en-AU" smtClean="0"/>
              <a:t>12/08/2021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2F7C0C2-944C-4A95-B6F6-1DC53454F49D}"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8AF53792-A5F8-4AC3-93C8-56C3D28F1F3F}" type="datetimeFigureOut">
              <a:rPr lang="en-AU" smtClean="0"/>
              <a:t>12/08/2021</a:t>
            </a:fld>
            <a:endParaRPr lang="en-AU"/>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en-AU"/>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12F7C0C2-944C-4A95-B6F6-1DC53454F49D}" type="slidenum">
              <a:rPr lang="en-AU" smtClean="0"/>
              <a:t>‹#›</a:t>
            </a:fld>
            <a:endParaRPr lang="en-AU"/>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2" Type="http://schemas.openxmlformats.org/officeDocument/2006/relationships/hyperlink" Target="http://www.getheadstrong.org/"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www.abc.net.au/news/2016-08-09/what-it's-like-to-experience-trauma-and-ptsd/7710696" TargetMode="External"/><Relationship Id="rId2" Type="http://schemas.openxmlformats.org/officeDocument/2006/relationships/hyperlink" Target="http://skidrowstories.com/category/people-of-skid-row/" TargetMode="External"/><Relationship Id="rId1" Type="http://schemas.openxmlformats.org/officeDocument/2006/relationships/slideLayout" Target="../slideLayouts/slideLayout2.xml"/><Relationship Id="rId4" Type="http://schemas.openxmlformats.org/officeDocument/2006/relationships/hyperlink" Target="https://ourworld.unu.edu/en/deep-roots-of-community-resilienc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88024" y="2348880"/>
            <a:ext cx="3168352" cy="3240360"/>
          </a:xfrm>
        </p:spPr>
        <p:txBody>
          <a:bodyPr>
            <a:normAutofit fontScale="90000"/>
          </a:bodyPr>
          <a:lstStyle/>
          <a:p>
            <a:pPr algn="ctr"/>
            <a:r>
              <a:rPr lang="en-AU" dirty="0" smtClean="0"/>
              <a:t>Impact of Significant Events</a:t>
            </a:r>
            <a:br>
              <a:rPr lang="en-AU" dirty="0" smtClean="0"/>
            </a:br>
            <a:r>
              <a:rPr lang="en-AU" dirty="0" smtClean="0"/>
              <a:t>on Individuals &amp; Communities </a:t>
            </a:r>
            <a:endParaRPr lang="en-AU" dirty="0"/>
          </a:p>
        </p:txBody>
      </p:sp>
    </p:spTree>
    <p:extLst>
      <p:ext uri="{BB962C8B-B14F-4D97-AF65-F5344CB8AC3E}">
        <p14:creationId xmlns:p14="http://schemas.microsoft.com/office/powerpoint/2010/main" val="1627311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From your syllabus </a:t>
            </a:r>
            <a:endParaRPr lang="en-AU" dirty="0"/>
          </a:p>
        </p:txBody>
      </p:sp>
      <p:sp>
        <p:nvSpPr>
          <p:cNvPr id="3" name="Content Placeholder 2"/>
          <p:cNvSpPr>
            <a:spLocks noGrp="1"/>
          </p:cNvSpPr>
          <p:nvPr>
            <p:ph idx="1"/>
          </p:nvPr>
        </p:nvSpPr>
        <p:spPr>
          <a:xfrm>
            <a:off x="395536" y="2348880"/>
            <a:ext cx="8496944" cy="3744416"/>
          </a:xfrm>
        </p:spPr>
        <p:txBody>
          <a:bodyPr>
            <a:normAutofit/>
          </a:bodyPr>
          <a:lstStyle/>
          <a:p>
            <a:pPr lvl="0"/>
            <a:r>
              <a:rPr lang="en-AU" sz="2800" dirty="0" smtClean="0"/>
              <a:t>	Positive </a:t>
            </a:r>
            <a:r>
              <a:rPr lang="en-AU" sz="2800" dirty="0"/>
              <a:t>responses – </a:t>
            </a:r>
            <a:endParaRPr lang="en-AU" sz="2800" dirty="0" smtClean="0"/>
          </a:p>
          <a:p>
            <a:pPr marL="68580" lvl="0" indent="0">
              <a:buNone/>
            </a:pPr>
            <a:r>
              <a:rPr lang="en-AU" sz="2800" dirty="0" smtClean="0"/>
              <a:t>	Resilience </a:t>
            </a:r>
            <a:r>
              <a:rPr lang="en-AU" sz="2800" dirty="0"/>
              <a:t>and </a:t>
            </a:r>
            <a:r>
              <a:rPr lang="en-AU" sz="2800" dirty="0" smtClean="0"/>
              <a:t>Post Traumatic </a:t>
            </a:r>
            <a:r>
              <a:rPr lang="en-AU" sz="2800" dirty="0"/>
              <a:t>G</a:t>
            </a:r>
            <a:r>
              <a:rPr lang="en-AU" sz="2800" dirty="0" smtClean="0"/>
              <a:t>rowth </a:t>
            </a:r>
            <a:endParaRPr lang="en-AU" sz="2800" dirty="0" smtClean="0">
              <a:effectLst/>
            </a:endParaRPr>
          </a:p>
          <a:p>
            <a:pPr lvl="0"/>
            <a:r>
              <a:rPr lang="en-AU" sz="2800" dirty="0" smtClean="0"/>
              <a:t>	Negative </a:t>
            </a:r>
            <a:r>
              <a:rPr lang="en-AU" sz="2800" dirty="0"/>
              <a:t>responses – </a:t>
            </a:r>
            <a:endParaRPr lang="en-AU" sz="2800" dirty="0" smtClean="0"/>
          </a:p>
          <a:p>
            <a:pPr marL="68580" lvl="0" indent="0">
              <a:buNone/>
            </a:pPr>
            <a:r>
              <a:rPr lang="en-AU" sz="2800" dirty="0"/>
              <a:t>	</a:t>
            </a:r>
            <a:r>
              <a:rPr lang="en-AU" sz="2800" dirty="0" smtClean="0"/>
              <a:t>Post Traumatic </a:t>
            </a:r>
            <a:r>
              <a:rPr lang="en-AU" sz="2800" dirty="0"/>
              <a:t>S</a:t>
            </a:r>
            <a:r>
              <a:rPr lang="en-AU" sz="2800" dirty="0" smtClean="0"/>
              <a:t>tress Disorder </a:t>
            </a:r>
            <a:endParaRPr lang="en-AU" sz="2800" dirty="0" smtClean="0">
              <a:effectLst/>
            </a:endParaRPr>
          </a:p>
          <a:p>
            <a:r>
              <a:rPr lang="en-AU" sz="2800" dirty="0" smtClean="0"/>
              <a:t>	Event </a:t>
            </a:r>
            <a:r>
              <a:rPr lang="en-AU" sz="2800" dirty="0"/>
              <a:t>characteristics contributing to stress </a:t>
            </a:r>
            <a:r>
              <a:rPr lang="en-AU" sz="2800" dirty="0" smtClean="0"/>
              <a:t>	predictability</a:t>
            </a:r>
            <a:r>
              <a:rPr lang="en-AU" sz="2800" dirty="0"/>
              <a:t>; controllability; </a:t>
            </a:r>
            <a:r>
              <a:rPr lang="en-AU" sz="2800" dirty="0" smtClean="0"/>
              <a:t>	experience </a:t>
            </a:r>
            <a:r>
              <a:rPr lang="en-AU" sz="2800" dirty="0"/>
              <a:t>of threat or loss</a:t>
            </a:r>
          </a:p>
        </p:txBody>
      </p:sp>
    </p:spTree>
    <p:extLst>
      <p:ext uri="{BB962C8B-B14F-4D97-AF65-F5344CB8AC3E}">
        <p14:creationId xmlns:p14="http://schemas.microsoft.com/office/powerpoint/2010/main" val="289210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260648"/>
            <a:ext cx="7024744" cy="1143000"/>
          </a:xfrm>
        </p:spPr>
        <p:txBody>
          <a:bodyPr/>
          <a:lstStyle/>
          <a:p>
            <a:r>
              <a:rPr lang="en-AU" dirty="0" smtClean="0"/>
              <a:t>Significant Events</a:t>
            </a:r>
            <a:endParaRPr lang="en-AU" dirty="0"/>
          </a:p>
        </p:txBody>
      </p:sp>
      <p:sp>
        <p:nvSpPr>
          <p:cNvPr id="3" name="Content Placeholder 2"/>
          <p:cNvSpPr>
            <a:spLocks noGrp="1"/>
          </p:cNvSpPr>
          <p:nvPr>
            <p:ph idx="1"/>
          </p:nvPr>
        </p:nvSpPr>
        <p:spPr>
          <a:xfrm>
            <a:off x="683568" y="1556792"/>
            <a:ext cx="7637472" cy="4488612"/>
          </a:xfrm>
        </p:spPr>
        <p:txBody>
          <a:bodyPr>
            <a:normAutofit fontScale="92500"/>
          </a:bodyPr>
          <a:lstStyle/>
          <a:p>
            <a:pPr marL="0" indent="0">
              <a:buNone/>
            </a:pPr>
            <a:r>
              <a:rPr lang="en-AU" dirty="0" smtClean="0"/>
              <a:t>Large </a:t>
            </a:r>
            <a:r>
              <a:rPr lang="en-AU" dirty="0"/>
              <a:t>s</a:t>
            </a:r>
            <a:r>
              <a:rPr lang="en-AU" dirty="0" smtClean="0"/>
              <a:t>cale events that affect more than an individual </a:t>
            </a:r>
          </a:p>
          <a:p>
            <a:r>
              <a:rPr lang="en-AU" dirty="0" smtClean="0"/>
              <a:t>September 11 United States Terrorist Attacks</a:t>
            </a:r>
          </a:p>
          <a:p>
            <a:r>
              <a:rPr lang="en-AU" dirty="0" smtClean="0"/>
              <a:t>The Great Depression</a:t>
            </a:r>
          </a:p>
          <a:p>
            <a:r>
              <a:rPr lang="en-AU" dirty="0" smtClean="0"/>
              <a:t>The Yarloop Bushfire</a:t>
            </a:r>
          </a:p>
          <a:p>
            <a:r>
              <a:rPr lang="en-AU" dirty="0" smtClean="0"/>
              <a:t>Women in the Workforce</a:t>
            </a:r>
          </a:p>
          <a:p>
            <a:r>
              <a:rPr lang="en-AU" dirty="0" smtClean="0"/>
              <a:t>Homosexual Marriage</a:t>
            </a:r>
          </a:p>
          <a:p>
            <a:r>
              <a:rPr lang="en-AU" dirty="0" smtClean="0"/>
              <a:t>Trauma</a:t>
            </a:r>
          </a:p>
          <a:p>
            <a:r>
              <a:rPr lang="en-AU" dirty="0" smtClean="0"/>
              <a:t>Natural Disasters – Earthquakes, Tsunami </a:t>
            </a:r>
          </a:p>
          <a:p>
            <a:r>
              <a:rPr lang="en-AU" dirty="0" smtClean="0"/>
              <a:t>Olympic Games</a:t>
            </a:r>
          </a:p>
          <a:p>
            <a:r>
              <a:rPr lang="en-AU" dirty="0" smtClean="0"/>
              <a:t>Vaccination creation</a:t>
            </a:r>
          </a:p>
          <a:p>
            <a:r>
              <a:rPr lang="en-AU" dirty="0" smtClean="0"/>
              <a:t>New medical treatments </a:t>
            </a:r>
          </a:p>
        </p:txBody>
      </p:sp>
    </p:spTree>
    <p:extLst>
      <p:ext uri="{BB962C8B-B14F-4D97-AF65-F5344CB8AC3E}">
        <p14:creationId xmlns:p14="http://schemas.microsoft.com/office/powerpoint/2010/main" val="14128766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71600" y="1484784"/>
            <a:ext cx="7128792" cy="3240360"/>
          </a:xfrm>
        </p:spPr>
        <p:txBody>
          <a:bodyPr/>
          <a:lstStyle/>
          <a:p>
            <a:pPr marL="0" indent="0">
              <a:buNone/>
            </a:pPr>
            <a:r>
              <a:rPr lang="en-AU" sz="3600" dirty="0"/>
              <a:t>Event characteristics contributing to </a:t>
            </a:r>
            <a:r>
              <a:rPr lang="en-AU" sz="3600" dirty="0" smtClean="0"/>
              <a:t>stress</a:t>
            </a:r>
          </a:p>
          <a:p>
            <a:r>
              <a:rPr lang="en-AU" sz="3600" dirty="0"/>
              <a:t>P</a:t>
            </a:r>
            <a:r>
              <a:rPr lang="en-AU" sz="3600" dirty="0" smtClean="0"/>
              <a:t>redictability;</a:t>
            </a:r>
          </a:p>
          <a:p>
            <a:r>
              <a:rPr lang="en-AU" sz="3600" dirty="0"/>
              <a:t>C</a:t>
            </a:r>
            <a:r>
              <a:rPr lang="en-AU" sz="3600" dirty="0" smtClean="0"/>
              <a:t>ontrollability</a:t>
            </a:r>
            <a:r>
              <a:rPr lang="en-AU" sz="3600" dirty="0"/>
              <a:t>; </a:t>
            </a:r>
            <a:endParaRPr lang="en-AU" sz="3600" dirty="0" smtClean="0"/>
          </a:p>
          <a:p>
            <a:r>
              <a:rPr lang="en-AU" sz="3600" dirty="0"/>
              <a:t>E</a:t>
            </a:r>
            <a:r>
              <a:rPr lang="en-AU" sz="3600" dirty="0" smtClean="0"/>
              <a:t>xperience </a:t>
            </a:r>
            <a:r>
              <a:rPr lang="en-AU" sz="3600" dirty="0"/>
              <a:t>of threat or loss</a:t>
            </a:r>
          </a:p>
          <a:p>
            <a:pPr marL="0" indent="0">
              <a:buNone/>
            </a:pPr>
            <a:endParaRPr lang="en-AU" dirty="0"/>
          </a:p>
        </p:txBody>
      </p:sp>
    </p:spTree>
    <p:extLst>
      <p:ext uri="{BB962C8B-B14F-4D97-AF65-F5344CB8AC3E}">
        <p14:creationId xmlns:p14="http://schemas.microsoft.com/office/powerpoint/2010/main" val="40164026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1052736"/>
            <a:ext cx="7024744" cy="1143000"/>
          </a:xfrm>
        </p:spPr>
        <p:txBody>
          <a:bodyPr/>
          <a:lstStyle/>
          <a:p>
            <a:r>
              <a:rPr lang="en-AU" dirty="0" smtClean="0"/>
              <a:t>Predictability</a:t>
            </a:r>
            <a:endParaRPr lang="en-AU" dirty="0"/>
          </a:p>
        </p:txBody>
      </p:sp>
      <p:sp>
        <p:nvSpPr>
          <p:cNvPr id="3" name="Content Placeholder 2"/>
          <p:cNvSpPr>
            <a:spLocks noGrp="1"/>
          </p:cNvSpPr>
          <p:nvPr>
            <p:ph idx="1"/>
          </p:nvPr>
        </p:nvSpPr>
        <p:spPr>
          <a:xfrm>
            <a:off x="1043492" y="2323653"/>
            <a:ext cx="6912884" cy="3193580"/>
          </a:xfrm>
        </p:spPr>
        <p:txBody>
          <a:bodyPr>
            <a:normAutofit/>
          </a:bodyPr>
          <a:lstStyle/>
          <a:p>
            <a:r>
              <a:rPr lang="en-AU" sz="2800" dirty="0" smtClean="0"/>
              <a:t>Whilst some events are stressful, even if they are </a:t>
            </a:r>
            <a:r>
              <a:rPr lang="en-AU" sz="2800" dirty="0" smtClean="0"/>
              <a:t>predictable</a:t>
            </a:r>
            <a:r>
              <a:rPr lang="en-AU" sz="2800" dirty="0" smtClean="0"/>
              <a:t>, it is usually the case that unpredictable events are more stressful and have a longer lasting impact. </a:t>
            </a:r>
            <a:endParaRPr lang="en-AU" sz="2800" dirty="0"/>
          </a:p>
        </p:txBody>
      </p:sp>
    </p:spTree>
    <p:extLst>
      <p:ext uri="{BB962C8B-B14F-4D97-AF65-F5344CB8AC3E}">
        <p14:creationId xmlns:p14="http://schemas.microsoft.com/office/powerpoint/2010/main" val="36415970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Controllability</a:t>
            </a:r>
            <a:endParaRPr lang="en-AU" dirty="0"/>
          </a:p>
        </p:txBody>
      </p:sp>
      <p:sp>
        <p:nvSpPr>
          <p:cNvPr id="3" name="Content Placeholder 2"/>
          <p:cNvSpPr>
            <a:spLocks noGrp="1"/>
          </p:cNvSpPr>
          <p:nvPr>
            <p:ph idx="1"/>
          </p:nvPr>
        </p:nvSpPr>
        <p:spPr/>
        <p:txBody>
          <a:bodyPr/>
          <a:lstStyle/>
          <a:p>
            <a:r>
              <a:rPr lang="en-AU" sz="3200" dirty="0" smtClean="0"/>
              <a:t>Having no control over events is a major source of stress reported from victims of terrorist attacks and long term residents of refugee camps.</a:t>
            </a:r>
          </a:p>
          <a:p>
            <a:endParaRPr lang="en-AU" dirty="0"/>
          </a:p>
        </p:txBody>
      </p:sp>
    </p:spTree>
    <p:extLst>
      <p:ext uri="{BB962C8B-B14F-4D97-AF65-F5344CB8AC3E}">
        <p14:creationId xmlns:p14="http://schemas.microsoft.com/office/powerpoint/2010/main" val="31313025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smtClean="0"/>
              <a:t>Experience of Threat or Loss</a:t>
            </a:r>
            <a:endParaRPr lang="en-AU" dirty="0"/>
          </a:p>
        </p:txBody>
      </p:sp>
      <p:sp>
        <p:nvSpPr>
          <p:cNvPr id="3" name="Content Placeholder 2"/>
          <p:cNvSpPr>
            <a:spLocks noGrp="1"/>
          </p:cNvSpPr>
          <p:nvPr>
            <p:ph idx="1"/>
          </p:nvPr>
        </p:nvSpPr>
        <p:spPr/>
        <p:txBody>
          <a:bodyPr>
            <a:noAutofit/>
          </a:bodyPr>
          <a:lstStyle/>
          <a:p>
            <a:r>
              <a:rPr lang="en-AU" sz="2800" dirty="0" smtClean="0"/>
              <a:t>Whether we experience threat or loss also contributes to the stress of the situation.</a:t>
            </a:r>
          </a:p>
          <a:p>
            <a:endParaRPr lang="en-AU" sz="2800" dirty="0" smtClean="0"/>
          </a:p>
          <a:p>
            <a:r>
              <a:rPr lang="en-AU" sz="2800" dirty="0" smtClean="0"/>
              <a:t>Media inclusive of social media can make some events appear more personal than they are, and can exacerbate this experience. </a:t>
            </a:r>
            <a:endParaRPr lang="en-AU" sz="2800" dirty="0"/>
          </a:p>
        </p:txBody>
      </p:sp>
    </p:spTree>
    <p:extLst>
      <p:ext uri="{BB962C8B-B14F-4D97-AF65-F5344CB8AC3E}">
        <p14:creationId xmlns:p14="http://schemas.microsoft.com/office/powerpoint/2010/main" val="225632579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Empirical Research</a:t>
            </a:r>
            <a:endParaRPr lang="en-AU" dirty="0"/>
          </a:p>
        </p:txBody>
      </p:sp>
      <p:sp>
        <p:nvSpPr>
          <p:cNvPr id="3" name="Content Placeholder 2"/>
          <p:cNvSpPr>
            <a:spLocks noGrp="1"/>
          </p:cNvSpPr>
          <p:nvPr>
            <p:ph idx="1"/>
          </p:nvPr>
        </p:nvSpPr>
        <p:spPr/>
        <p:txBody>
          <a:bodyPr>
            <a:normAutofit fontScale="92500"/>
          </a:bodyPr>
          <a:lstStyle/>
          <a:p>
            <a:r>
              <a:rPr lang="en-AU" dirty="0"/>
              <a:t>The psychological difference between temporally predictable and unpredictable stressful events: Evidence for information control theories. </a:t>
            </a:r>
            <a:r>
              <a:rPr lang="en-AU" dirty="0" smtClean="0"/>
              <a:t> Katz &amp;</a:t>
            </a:r>
            <a:r>
              <a:rPr lang="en-AU" dirty="0" err="1" smtClean="0"/>
              <a:t>Wykes</a:t>
            </a:r>
            <a:r>
              <a:rPr lang="en-AU" dirty="0" smtClean="0"/>
              <a:t> </a:t>
            </a:r>
          </a:p>
          <a:p>
            <a:r>
              <a:rPr lang="en-AU" dirty="0"/>
              <a:t>Lack of Control &amp; Physiological </a:t>
            </a:r>
            <a:r>
              <a:rPr lang="en-AU" dirty="0" smtClean="0"/>
              <a:t>Measures Geer </a:t>
            </a:r>
            <a:r>
              <a:rPr lang="en-AU" dirty="0"/>
              <a:t>and Maisel (1972</a:t>
            </a:r>
            <a:r>
              <a:rPr lang="en-AU" dirty="0" smtClean="0"/>
              <a:t>)</a:t>
            </a:r>
          </a:p>
          <a:p>
            <a:r>
              <a:rPr lang="en-AU" dirty="0" smtClean="0"/>
              <a:t>The Relationship of Hardiness, Gender, and Stress to Health Outcomes in Adolescents. </a:t>
            </a:r>
            <a:r>
              <a:rPr lang="en-AU" dirty="0" err="1" smtClean="0"/>
              <a:t>Kobasa</a:t>
            </a:r>
            <a:r>
              <a:rPr lang="en-AU" dirty="0" smtClean="0"/>
              <a:t> 1977</a:t>
            </a:r>
            <a:endParaRPr lang="en-AU" dirty="0"/>
          </a:p>
          <a:p>
            <a:endParaRPr lang="en-AU" dirty="0"/>
          </a:p>
          <a:p>
            <a:endParaRPr lang="en-AU" dirty="0" smtClean="0"/>
          </a:p>
        </p:txBody>
      </p:sp>
    </p:spTree>
    <p:extLst>
      <p:ext uri="{BB962C8B-B14F-4D97-AF65-F5344CB8AC3E}">
        <p14:creationId xmlns:p14="http://schemas.microsoft.com/office/powerpoint/2010/main" val="13558076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Resilience</a:t>
            </a:r>
            <a:endParaRPr lang="en-AU" dirty="0"/>
          </a:p>
        </p:txBody>
      </p:sp>
      <p:sp>
        <p:nvSpPr>
          <p:cNvPr id="3" name="Content Placeholder 2"/>
          <p:cNvSpPr>
            <a:spLocks noGrp="1"/>
          </p:cNvSpPr>
          <p:nvPr>
            <p:ph idx="1"/>
          </p:nvPr>
        </p:nvSpPr>
        <p:spPr/>
        <p:txBody>
          <a:bodyPr>
            <a:normAutofit/>
          </a:bodyPr>
          <a:lstStyle/>
          <a:p>
            <a:r>
              <a:rPr lang="en-AU" sz="3600" dirty="0" smtClean="0"/>
              <a:t>	Most commonly, the term resilience has come to mean an individual’s ability to overcome adversity and continue his or her normal development.</a:t>
            </a:r>
          </a:p>
          <a:p>
            <a:endParaRPr lang="en-AU" dirty="0"/>
          </a:p>
        </p:txBody>
      </p:sp>
    </p:spTree>
    <p:extLst>
      <p:ext uri="{BB962C8B-B14F-4D97-AF65-F5344CB8AC3E}">
        <p14:creationId xmlns:p14="http://schemas.microsoft.com/office/powerpoint/2010/main" val="26984134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1" y="677390"/>
            <a:ext cx="7024744" cy="1143000"/>
          </a:xfrm>
        </p:spPr>
        <p:txBody>
          <a:bodyPr/>
          <a:lstStyle/>
          <a:p>
            <a:r>
              <a:rPr lang="en-AU" dirty="0" smtClean="0"/>
              <a:t>Examples</a:t>
            </a:r>
            <a:endParaRPr lang="en-AU" dirty="0"/>
          </a:p>
        </p:txBody>
      </p:sp>
      <p:pic>
        <p:nvPicPr>
          <p:cNvPr id="102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043608" y="4423065"/>
            <a:ext cx="2319371" cy="16912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5936" y="4182128"/>
            <a:ext cx="1800200" cy="19322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07550" y="1248890"/>
            <a:ext cx="1825000" cy="2445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21065779">
            <a:off x="2629042" y="1517315"/>
            <a:ext cx="2619375" cy="1743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5767429" y="4825069"/>
            <a:ext cx="1910668" cy="646331"/>
          </a:xfrm>
          <a:prstGeom prst="rect">
            <a:avLst/>
          </a:prstGeom>
          <a:noFill/>
        </p:spPr>
        <p:txBody>
          <a:bodyPr wrap="square" rtlCol="0">
            <a:spAutoFit/>
          </a:bodyPr>
          <a:lstStyle/>
          <a:p>
            <a:r>
              <a:rPr lang="en-AU" dirty="0" smtClean="0"/>
              <a:t>Malala Yousafzai</a:t>
            </a:r>
          </a:p>
        </p:txBody>
      </p:sp>
      <p:pic>
        <p:nvPicPr>
          <p:cNvPr id="3" name="Picture 2" descr="Image result for kurt fearnley"/>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21065779">
            <a:off x="1076551" y="2173990"/>
            <a:ext cx="1905000" cy="132397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216969" y="3390080"/>
            <a:ext cx="1624163" cy="369332"/>
          </a:xfrm>
          <a:prstGeom prst="rect">
            <a:avLst/>
          </a:prstGeom>
        </p:spPr>
        <p:txBody>
          <a:bodyPr wrap="none">
            <a:spAutoFit/>
          </a:bodyPr>
          <a:lstStyle/>
          <a:p>
            <a:r>
              <a:rPr lang="en-AU" dirty="0"/>
              <a:t>Kurt </a:t>
            </a:r>
            <a:r>
              <a:rPr lang="en-AU" dirty="0" err="1"/>
              <a:t>Fearnley</a:t>
            </a:r>
            <a:endParaRPr lang="en-AU" dirty="0"/>
          </a:p>
        </p:txBody>
      </p:sp>
      <p:sp>
        <p:nvSpPr>
          <p:cNvPr id="6" name="Rectangle 5"/>
          <p:cNvSpPr/>
          <p:nvPr/>
        </p:nvSpPr>
        <p:spPr>
          <a:xfrm>
            <a:off x="6384111" y="3769181"/>
            <a:ext cx="1471878" cy="369332"/>
          </a:xfrm>
          <a:prstGeom prst="rect">
            <a:avLst/>
          </a:prstGeom>
        </p:spPr>
        <p:txBody>
          <a:bodyPr wrap="none">
            <a:spAutoFit/>
          </a:bodyPr>
          <a:lstStyle/>
          <a:p>
            <a:r>
              <a:rPr lang="en-AU" dirty="0"/>
              <a:t>Nick </a:t>
            </a:r>
            <a:r>
              <a:rPr lang="en-AU" dirty="0" err="1"/>
              <a:t>Vujicic</a:t>
            </a:r>
            <a:endParaRPr lang="en-AU" dirty="0"/>
          </a:p>
        </p:txBody>
      </p:sp>
    </p:spTree>
    <p:extLst>
      <p:ext uri="{BB962C8B-B14F-4D97-AF65-F5344CB8AC3E}">
        <p14:creationId xmlns:p14="http://schemas.microsoft.com/office/powerpoint/2010/main" val="8232889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Resilience is </a:t>
            </a:r>
            <a:endParaRPr lang="en-AU" dirty="0"/>
          </a:p>
        </p:txBody>
      </p:sp>
      <p:sp>
        <p:nvSpPr>
          <p:cNvPr id="3" name="Content Placeholder 2"/>
          <p:cNvSpPr>
            <a:spLocks noGrp="1"/>
          </p:cNvSpPr>
          <p:nvPr>
            <p:ph idx="1"/>
          </p:nvPr>
        </p:nvSpPr>
        <p:spPr/>
        <p:txBody>
          <a:bodyPr>
            <a:normAutofit lnSpcReduction="10000"/>
          </a:bodyPr>
          <a:lstStyle/>
          <a:p>
            <a:r>
              <a:rPr lang="en-AU" sz="2400" i="1" dirty="0" smtClean="0"/>
              <a:t>	“In the context of exposure to significant adversity, resilience is both the capacity of individuals to </a:t>
            </a:r>
            <a:r>
              <a:rPr lang="en-AU" sz="2400" b="1" i="1" dirty="0" smtClean="0"/>
              <a:t>navigate</a:t>
            </a:r>
            <a:r>
              <a:rPr lang="en-AU" sz="2400" i="1" dirty="0" smtClean="0"/>
              <a:t> their way to the psychological, social, cultural, and physical resources that sustain their well-being, and their capacity individually and collectively to </a:t>
            </a:r>
            <a:r>
              <a:rPr lang="en-AU" sz="2400" b="1" i="1" dirty="0" smtClean="0"/>
              <a:t>negotiate </a:t>
            </a:r>
            <a:r>
              <a:rPr lang="en-AU" sz="2400" i="1" dirty="0" smtClean="0"/>
              <a:t>for these resources to be provided in culturally meaningful ways.”</a:t>
            </a:r>
            <a:endParaRPr lang="en-AU" sz="2400" dirty="0"/>
          </a:p>
          <a:p>
            <a:pPr marL="0" indent="0">
              <a:buNone/>
            </a:pPr>
            <a:r>
              <a:rPr lang="en-AU" sz="2400" b="1" dirty="0" smtClean="0"/>
              <a:t>				 </a:t>
            </a:r>
            <a:r>
              <a:rPr lang="en-AU" sz="2400" dirty="0" err="1" smtClean="0"/>
              <a:t>Dr.</a:t>
            </a:r>
            <a:r>
              <a:rPr lang="en-AU" sz="2400" dirty="0" smtClean="0"/>
              <a:t> Michael Unger</a:t>
            </a:r>
          </a:p>
          <a:p>
            <a:endParaRPr lang="en-AU" dirty="0"/>
          </a:p>
        </p:txBody>
      </p:sp>
    </p:spTree>
    <p:extLst>
      <p:ext uri="{BB962C8B-B14F-4D97-AF65-F5344CB8AC3E}">
        <p14:creationId xmlns:p14="http://schemas.microsoft.com/office/powerpoint/2010/main" val="393309160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692696"/>
            <a:ext cx="7024744" cy="541864"/>
          </a:xfrm>
        </p:spPr>
        <p:txBody>
          <a:bodyPr>
            <a:normAutofit/>
          </a:bodyPr>
          <a:lstStyle/>
          <a:p>
            <a:r>
              <a:rPr lang="en-AU" sz="2800" b="1" dirty="0" smtClean="0"/>
              <a:t>A Multidimensional Model of Resilience</a:t>
            </a:r>
            <a:endParaRPr lang="en-AU" sz="2800" dirty="0"/>
          </a:p>
        </p:txBody>
      </p:sp>
      <p:sp>
        <p:nvSpPr>
          <p:cNvPr id="3" name="Content Placeholder 2"/>
          <p:cNvSpPr>
            <a:spLocks noGrp="1"/>
          </p:cNvSpPr>
          <p:nvPr>
            <p:ph idx="1"/>
          </p:nvPr>
        </p:nvSpPr>
        <p:spPr>
          <a:xfrm>
            <a:off x="1043608" y="1340768"/>
            <a:ext cx="7488832" cy="3508977"/>
          </a:xfrm>
        </p:spPr>
        <p:txBody>
          <a:bodyPr>
            <a:noAutofit/>
          </a:bodyPr>
          <a:lstStyle/>
          <a:p>
            <a:r>
              <a:rPr lang="en-AU" sz="3600" dirty="0" smtClean="0"/>
              <a:t>General Factors </a:t>
            </a:r>
          </a:p>
          <a:p>
            <a:pPr lvl="1"/>
            <a:r>
              <a:rPr lang="en-AU" sz="1800" dirty="0" smtClean="0">
                <a:effectLst/>
              </a:rPr>
              <a:t>assertiveness</a:t>
            </a:r>
          </a:p>
          <a:p>
            <a:pPr lvl="1"/>
            <a:r>
              <a:rPr lang="en-AU" sz="1800" dirty="0" smtClean="0">
                <a:effectLst/>
              </a:rPr>
              <a:t>ability to solve problems</a:t>
            </a:r>
          </a:p>
          <a:p>
            <a:pPr lvl="1"/>
            <a:r>
              <a:rPr lang="en-AU" sz="1800" dirty="0" smtClean="0">
                <a:effectLst/>
              </a:rPr>
              <a:t>self-efficacy</a:t>
            </a:r>
          </a:p>
          <a:p>
            <a:pPr lvl="1"/>
            <a:r>
              <a:rPr lang="en-AU" sz="1800" dirty="0" smtClean="0">
                <a:effectLst/>
              </a:rPr>
              <a:t>ability to live with uncertainty</a:t>
            </a:r>
          </a:p>
          <a:p>
            <a:pPr lvl="1"/>
            <a:r>
              <a:rPr lang="en-AU" sz="1800" dirty="0" smtClean="0">
                <a:effectLst/>
              </a:rPr>
              <a:t>self-awareness</a:t>
            </a:r>
          </a:p>
          <a:p>
            <a:pPr lvl="1"/>
            <a:r>
              <a:rPr lang="en-AU" sz="1800" dirty="0" smtClean="0">
                <a:effectLst/>
              </a:rPr>
              <a:t>a positive outlook</a:t>
            </a:r>
          </a:p>
          <a:p>
            <a:pPr lvl="1"/>
            <a:r>
              <a:rPr lang="en-AU" sz="1800" dirty="0" smtClean="0">
                <a:effectLst/>
              </a:rPr>
              <a:t>empathy for others</a:t>
            </a:r>
          </a:p>
          <a:p>
            <a:pPr lvl="1"/>
            <a:r>
              <a:rPr lang="en-AU" sz="1800" dirty="0" smtClean="0">
                <a:effectLst/>
              </a:rPr>
              <a:t>having goals and aspirations</a:t>
            </a:r>
          </a:p>
          <a:p>
            <a:pPr lvl="1"/>
            <a:r>
              <a:rPr lang="en-AU" sz="1800" dirty="0" smtClean="0">
                <a:effectLst/>
              </a:rPr>
              <a:t>ability to maintain a balance between independence and dependence on others</a:t>
            </a:r>
          </a:p>
          <a:p>
            <a:pPr lvl="1"/>
            <a:r>
              <a:rPr lang="en-AU" sz="1800" dirty="0" smtClean="0">
                <a:effectLst/>
              </a:rPr>
              <a:t>appropriate use of or abstinence from substances like alcohol and drugs</a:t>
            </a:r>
          </a:p>
          <a:p>
            <a:pPr lvl="1"/>
            <a:r>
              <a:rPr lang="en-AU" sz="1800" dirty="0" smtClean="0">
                <a:effectLst/>
              </a:rPr>
              <a:t>a sense of humour</a:t>
            </a:r>
          </a:p>
          <a:p>
            <a:pPr lvl="1"/>
            <a:r>
              <a:rPr lang="en-AU" sz="1800" dirty="0" smtClean="0">
                <a:effectLst/>
              </a:rPr>
              <a:t>a sense of duty (to others or self, depending on the culture)</a:t>
            </a:r>
          </a:p>
        </p:txBody>
      </p:sp>
    </p:spTree>
    <p:extLst>
      <p:ext uri="{BB962C8B-B14F-4D97-AF65-F5344CB8AC3E}">
        <p14:creationId xmlns:p14="http://schemas.microsoft.com/office/powerpoint/2010/main" val="19964237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b="1" dirty="0"/>
              <a:t>Relationship </a:t>
            </a:r>
            <a:r>
              <a:rPr lang="en-AU" b="1" dirty="0" smtClean="0"/>
              <a:t>Factors</a:t>
            </a:r>
            <a:endParaRPr lang="en-AU" dirty="0"/>
          </a:p>
        </p:txBody>
      </p:sp>
      <p:sp>
        <p:nvSpPr>
          <p:cNvPr id="3" name="Content Placeholder 2"/>
          <p:cNvSpPr>
            <a:spLocks noGrp="1"/>
          </p:cNvSpPr>
          <p:nvPr>
            <p:ph idx="1"/>
          </p:nvPr>
        </p:nvSpPr>
        <p:spPr/>
        <p:txBody>
          <a:bodyPr>
            <a:normAutofit fontScale="92500"/>
          </a:bodyPr>
          <a:lstStyle/>
          <a:p>
            <a:r>
              <a:rPr lang="en-AU" dirty="0"/>
              <a:t>P</a:t>
            </a:r>
            <a:r>
              <a:rPr lang="en-AU" dirty="0" smtClean="0">
                <a:effectLst/>
              </a:rPr>
              <a:t>arenting that meets the child’s needs</a:t>
            </a:r>
          </a:p>
          <a:p>
            <a:r>
              <a:rPr lang="en-AU" dirty="0"/>
              <a:t>A</a:t>
            </a:r>
            <a:r>
              <a:rPr lang="en-AU" dirty="0" smtClean="0">
                <a:effectLst/>
              </a:rPr>
              <a:t>ppropriate emotional expression and parental monitoring within the family</a:t>
            </a:r>
          </a:p>
          <a:p>
            <a:r>
              <a:rPr lang="en-AU" dirty="0"/>
              <a:t>S</a:t>
            </a:r>
            <a:r>
              <a:rPr lang="en-AU" dirty="0" smtClean="0">
                <a:effectLst/>
              </a:rPr>
              <a:t>ocial competence</a:t>
            </a:r>
          </a:p>
          <a:p>
            <a:r>
              <a:rPr lang="en-AU" dirty="0"/>
              <a:t>T</a:t>
            </a:r>
            <a:r>
              <a:rPr lang="en-AU" dirty="0" smtClean="0">
                <a:effectLst/>
              </a:rPr>
              <a:t>he presence of a positive mentor and role models</a:t>
            </a:r>
          </a:p>
          <a:p>
            <a:r>
              <a:rPr lang="en-AU" dirty="0" smtClean="0">
                <a:effectLst/>
              </a:rPr>
              <a:t>Meaningful relationships with others at school, home, and perceived social support</a:t>
            </a:r>
          </a:p>
          <a:p>
            <a:r>
              <a:rPr lang="en-AU" dirty="0"/>
              <a:t>P</a:t>
            </a:r>
            <a:r>
              <a:rPr lang="en-AU" dirty="0" smtClean="0">
                <a:effectLst/>
              </a:rPr>
              <a:t>eer group acceptance</a:t>
            </a:r>
          </a:p>
          <a:p>
            <a:endParaRPr lang="en-AU" dirty="0"/>
          </a:p>
        </p:txBody>
      </p:sp>
    </p:spTree>
    <p:extLst>
      <p:ext uri="{BB962C8B-B14F-4D97-AF65-F5344CB8AC3E}">
        <p14:creationId xmlns:p14="http://schemas.microsoft.com/office/powerpoint/2010/main" val="194376307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404664"/>
            <a:ext cx="7024744" cy="1143000"/>
          </a:xfrm>
        </p:spPr>
        <p:txBody>
          <a:bodyPr>
            <a:normAutofit/>
          </a:bodyPr>
          <a:lstStyle/>
          <a:p>
            <a:r>
              <a:rPr lang="en-AU" dirty="0"/>
              <a:t>Community </a:t>
            </a:r>
            <a:r>
              <a:rPr lang="en-AU" dirty="0" smtClean="0"/>
              <a:t>Factors</a:t>
            </a:r>
            <a:endParaRPr lang="en-AU" dirty="0"/>
          </a:p>
        </p:txBody>
      </p:sp>
      <p:sp>
        <p:nvSpPr>
          <p:cNvPr id="3" name="Content Placeholder 2"/>
          <p:cNvSpPr>
            <a:spLocks noGrp="1"/>
          </p:cNvSpPr>
          <p:nvPr>
            <p:ph idx="1"/>
          </p:nvPr>
        </p:nvSpPr>
        <p:spPr>
          <a:xfrm>
            <a:off x="971600" y="1628800"/>
            <a:ext cx="7056784" cy="4176464"/>
          </a:xfrm>
        </p:spPr>
        <p:txBody>
          <a:bodyPr>
            <a:normAutofit fontScale="92500" lnSpcReduction="20000"/>
          </a:bodyPr>
          <a:lstStyle/>
          <a:p>
            <a:r>
              <a:rPr lang="en-AU" dirty="0"/>
              <a:t>O</a:t>
            </a:r>
            <a:r>
              <a:rPr lang="en-AU" dirty="0" smtClean="0">
                <a:effectLst/>
              </a:rPr>
              <a:t>pportunities for age-appropriate work</a:t>
            </a:r>
          </a:p>
          <a:p>
            <a:r>
              <a:rPr lang="en-AU" dirty="0"/>
              <a:t>A</a:t>
            </a:r>
            <a:r>
              <a:rPr lang="en-AU" dirty="0" smtClean="0">
                <a:effectLst/>
              </a:rPr>
              <a:t>voidance of exposure to violence in one’s family, community, and with peers</a:t>
            </a:r>
          </a:p>
          <a:p>
            <a:r>
              <a:rPr lang="en-AU" dirty="0"/>
              <a:t>G</a:t>
            </a:r>
            <a:r>
              <a:rPr lang="en-AU" dirty="0" smtClean="0">
                <a:effectLst/>
              </a:rPr>
              <a:t>overnment provision for children’s safety, recreation, housing, and jobs when they are at the appropriate age to work</a:t>
            </a:r>
          </a:p>
          <a:p>
            <a:r>
              <a:rPr lang="en-AU" dirty="0"/>
              <a:t>M</a:t>
            </a:r>
            <a:r>
              <a:rPr lang="en-AU" dirty="0" smtClean="0">
                <a:effectLst/>
              </a:rPr>
              <a:t>eaningful rites of passage with an appropriate amount of risk</a:t>
            </a:r>
          </a:p>
          <a:p>
            <a:r>
              <a:rPr lang="en-AU" dirty="0"/>
              <a:t>T</a:t>
            </a:r>
            <a:r>
              <a:rPr lang="en-AU" dirty="0" smtClean="0">
                <a:effectLst/>
              </a:rPr>
              <a:t>olerance of high-risk and problem behaviour</a:t>
            </a:r>
          </a:p>
          <a:p>
            <a:r>
              <a:rPr lang="en-AU" dirty="0"/>
              <a:t>S</a:t>
            </a:r>
            <a:r>
              <a:rPr lang="en-AU" dirty="0" smtClean="0">
                <a:effectLst/>
              </a:rPr>
              <a:t>afety and security</a:t>
            </a:r>
          </a:p>
          <a:p>
            <a:r>
              <a:rPr lang="en-AU" dirty="0"/>
              <a:t>P</a:t>
            </a:r>
            <a:r>
              <a:rPr lang="en-AU" dirty="0" smtClean="0">
                <a:effectLst/>
              </a:rPr>
              <a:t>erceived social equity</a:t>
            </a:r>
          </a:p>
          <a:p>
            <a:r>
              <a:rPr lang="en-AU" dirty="0"/>
              <a:t>A</a:t>
            </a:r>
            <a:r>
              <a:rPr lang="en-AU" dirty="0" smtClean="0">
                <a:effectLst/>
              </a:rPr>
              <a:t>ccess to school and education, i</a:t>
            </a:r>
            <a:r>
              <a:rPr lang="en-AU" dirty="0" smtClean="0"/>
              <a:t>nformation and learning resources</a:t>
            </a:r>
            <a:endParaRPr lang="en-AU" dirty="0" smtClean="0">
              <a:effectLst/>
            </a:endParaRPr>
          </a:p>
        </p:txBody>
      </p:sp>
    </p:spTree>
    <p:extLst>
      <p:ext uri="{BB962C8B-B14F-4D97-AF65-F5344CB8AC3E}">
        <p14:creationId xmlns:p14="http://schemas.microsoft.com/office/powerpoint/2010/main" val="32575487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332656"/>
            <a:ext cx="7024744" cy="1143000"/>
          </a:xfrm>
        </p:spPr>
        <p:txBody>
          <a:bodyPr>
            <a:normAutofit/>
          </a:bodyPr>
          <a:lstStyle/>
          <a:p>
            <a:r>
              <a:rPr lang="en-AU" b="1" dirty="0"/>
              <a:t>Cultural </a:t>
            </a:r>
            <a:r>
              <a:rPr lang="en-AU" b="1" dirty="0" smtClean="0"/>
              <a:t>Factors</a:t>
            </a:r>
            <a:endParaRPr lang="en-AU" dirty="0"/>
          </a:p>
        </p:txBody>
      </p:sp>
      <p:sp>
        <p:nvSpPr>
          <p:cNvPr id="3" name="Content Placeholder 2"/>
          <p:cNvSpPr>
            <a:spLocks noGrp="1"/>
          </p:cNvSpPr>
          <p:nvPr>
            <p:ph idx="1"/>
          </p:nvPr>
        </p:nvSpPr>
        <p:spPr>
          <a:xfrm>
            <a:off x="899592" y="1556792"/>
            <a:ext cx="7056784" cy="4536504"/>
          </a:xfrm>
        </p:spPr>
        <p:txBody>
          <a:bodyPr>
            <a:normAutofit lnSpcReduction="10000"/>
          </a:bodyPr>
          <a:lstStyle/>
          <a:p>
            <a:r>
              <a:rPr lang="en-AU" dirty="0"/>
              <a:t>A</a:t>
            </a:r>
            <a:r>
              <a:rPr lang="en-AU" dirty="0" smtClean="0">
                <a:effectLst/>
              </a:rPr>
              <a:t>ffiliation with a religious organisation</a:t>
            </a:r>
          </a:p>
          <a:p>
            <a:r>
              <a:rPr lang="en-AU" dirty="0" smtClean="0">
                <a:effectLst/>
              </a:rPr>
              <a:t>Tolerance for different ideologies and beliefs</a:t>
            </a:r>
          </a:p>
          <a:p>
            <a:r>
              <a:rPr lang="en-AU" dirty="0"/>
              <a:t>A</a:t>
            </a:r>
            <a:r>
              <a:rPr lang="en-AU" dirty="0" smtClean="0">
                <a:effectLst/>
              </a:rPr>
              <a:t>dequate management of cultural dislocation and a change or shift in values</a:t>
            </a:r>
          </a:p>
          <a:p>
            <a:r>
              <a:rPr lang="en-AU" dirty="0"/>
              <a:t>S</a:t>
            </a:r>
            <a:r>
              <a:rPr lang="en-AU" dirty="0" smtClean="0">
                <a:effectLst/>
              </a:rPr>
              <a:t>elf-betterment</a:t>
            </a:r>
          </a:p>
          <a:p>
            <a:r>
              <a:rPr lang="en-AU" dirty="0"/>
              <a:t>H</a:t>
            </a:r>
            <a:r>
              <a:rPr lang="en-AU" dirty="0" smtClean="0">
                <a:effectLst/>
              </a:rPr>
              <a:t>aving a life philosophy</a:t>
            </a:r>
          </a:p>
          <a:p>
            <a:r>
              <a:rPr lang="en-AU" dirty="0"/>
              <a:t>C</a:t>
            </a:r>
            <a:r>
              <a:rPr lang="en-AU" dirty="0" smtClean="0">
                <a:effectLst/>
              </a:rPr>
              <a:t>ultural and/or spiritual identification</a:t>
            </a:r>
          </a:p>
          <a:p>
            <a:r>
              <a:rPr lang="en-AU" dirty="0"/>
              <a:t>B</a:t>
            </a:r>
            <a:r>
              <a:rPr lang="en-AU" dirty="0" smtClean="0">
                <a:effectLst/>
              </a:rPr>
              <a:t>eing culturally grounded by knowing where you come from and being part of a cultural tradition that is expressed through daily activities</a:t>
            </a:r>
            <a:endParaRPr lang="en-AU" dirty="0">
              <a:effectLst/>
            </a:endParaRPr>
          </a:p>
        </p:txBody>
      </p:sp>
    </p:spTree>
    <p:extLst>
      <p:ext uri="{BB962C8B-B14F-4D97-AF65-F5344CB8AC3E}">
        <p14:creationId xmlns:p14="http://schemas.microsoft.com/office/powerpoint/2010/main" val="257579047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b="1" dirty="0"/>
              <a:t>Physical Ecology </a:t>
            </a:r>
            <a:r>
              <a:rPr lang="en-AU" b="1" dirty="0" smtClean="0"/>
              <a:t>Factors</a:t>
            </a:r>
            <a:endParaRPr lang="en-AU" dirty="0"/>
          </a:p>
        </p:txBody>
      </p:sp>
      <p:sp>
        <p:nvSpPr>
          <p:cNvPr id="3" name="Content Placeholder 2"/>
          <p:cNvSpPr>
            <a:spLocks noGrp="1"/>
          </p:cNvSpPr>
          <p:nvPr>
            <p:ph idx="1"/>
          </p:nvPr>
        </p:nvSpPr>
        <p:spPr>
          <a:xfrm>
            <a:off x="1043492" y="2323652"/>
            <a:ext cx="6984892" cy="3841652"/>
          </a:xfrm>
        </p:spPr>
        <p:txBody>
          <a:bodyPr/>
          <a:lstStyle/>
          <a:p>
            <a:r>
              <a:rPr lang="en-AU" dirty="0"/>
              <a:t>A</a:t>
            </a:r>
            <a:r>
              <a:rPr lang="en-AU" dirty="0" smtClean="0">
                <a:effectLst/>
              </a:rPr>
              <a:t>ccess to a healthy environment</a:t>
            </a:r>
          </a:p>
          <a:p>
            <a:r>
              <a:rPr lang="en-AU" dirty="0"/>
              <a:t>S</a:t>
            </a:r>
            <a:r>
              <a:rPr lang="en-AU" dirty="0" smtClean="0">
                <a:effectLst/>
              </a:rPr>
              <a:t>ecurity in one’s community</a:t>
            </a:r>
          </a:p>
          <a:p>
            <a:r>
              <a:rPr lang="en-AU" dirty="0"/>
              <a:t>A</a:t>
            </a:r>
            <a:r>
              <a:rPr lang="en-AU" dirty="0" smtClean="0">
                <a:effectLst/>
              </a:rPr>
              <a:t>ccess to recreational spaces</a:t>
            </a:r>
          </a:p>
          <a:p>
            <a:r>
              <a:rPr lang="en-AU" dirty="0"/>
              <a:t>S</a:t>
            </a:r>
            <a:r>
              <a:rPr lang="en-AU" dirty="0" smtClean="0">
                <a:effectLst/>
              </a:rPr>
              <a:t>ustainable resources</a:t>
            </a:r>
          </a:p>
          <a:p>
            <a:r>
              <a:rPr lang="en-AU" dirty="0" smtClean="0"/>
              <a:t>E</a:t>
            </a:r>
            <a:r>
              <a:rPr lang="en-AU" dirty="0" smtClean="0">
                <a:effectLst/>
              </a:rPr>
              <a:t>cological diversity </a:t>
            </a:r>
          </a:p>
          <a:p>
            <a:endParaRPr lang="en-AU" dirty="0"/>
          </a:p>
        </p:txBody>
      </p:sp>
    </p:spTree>
    <p:extLst>
      <p:ext uri="{BB962C8B-B14F-4D97-AF65-F5344CB8AC3E}">
        <p14:creationId xmlns:p14="http://schemas.microsoft.com/office/powerpoint/2010/main" val="283091963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260648"/>
            <a:ext cx="7024744" cy="1143000"/>
          </a:xfrm>
        </p:spPr>
        <p:txBody>
          <a:bodyPr/>
          <a:lstStyle/>
          <a:p>
            <a:r>
              <a:rPr lang="en-AU" dirty="0" smtClean="0"/>
              <a:t>Stress</a:t>
            </a:r>
            <a:endParaRPr lang="en-AU" dirty="0"/>
          </a:p>
        </p:txBody>
      </p:sp>
      <p:sp>
        <p:nvSpPr>
          <p:cNvPr id="3" name="Content Placeholder 2"/>
          <p:cNvSpPr>
            <a:spLocks noGrp="1"/>
          </p:cNvSpPr>
          <p:nvPr>
            <p:ph idx="1"/>
          </p:nvPr>
        </p:nvSpPr>
        <p:spPr>
          <a:xfrm>
            <a:off x="899592" y="1556792"/>
            <a:ext cx="6921217" cy="4275837"/>
          </a:xfrm>
        </p:spPr>
        <p:txBody>
          <a:bodyPr/>
          <a:lstStyle/>
          <a:p>
            <a:r>
              <a:rPr lang="en-US" altLang="en-US" sz="2800" i="1" dirty="0">
                <a:ea typeface="ＭＳ Ｐゴシック" pitchFamily="34" charset="-128"/>
              </a:rPr>
              <a:t>Stress</a:t>
            </a:r>
            <a:r>
              <a:rPr lang="en-US" altLang="en-US" sz="2800" dirty="0">
                <a:ea typeface="ＭＳ Ｐゴシック" pitchFamily="34" charset="-128"/>
              </a:rPr>
              <a:t> refers to a challenge to a person’s capacity to adapt to inner and outer demands.</a:t>
            </a:r>
          </a:p>
          <a:p>
            <a:r>
              <a:rPr lang="en-US" altLang="en-US" sz="2800" dirty="0">
                <a:ea typeface="ＭＳ Ｐゴシック" pitchFamily="34" charset="-128"/>
              </a:rPr>
              <a:t>Stressful experiences typically produce physiological and emotional arousal.</a:t>
            </a:r>
          </a:p>
          <a:p>
            <a:r>
              <a:rPr lang="en-US" altLang="en-US" sz="2800" dirty="0">
                <a:ea typeface="ＭＳ Ｐゴシック" pitchFamily="34" charset="-128"/>
              </a:rPr>
              <a:t>Stressful experiences typically elicit cognitive and </a:t>
            </a:r>
            <a:r>
              <a:rPr lang="en-US" altLang="en-US" sz="2800" dirty="0" err="1">
                <a:ea typeface="ＭＳ Ｐゴシック" pitchFamily="34" charset="-128"/>
              </a:rPr>
              <a:t>behavioural</a:t>
            </a:r>
            <a:r>
              <a:rPr lang="en-US" altLang="en-US" sz="2800" dirty="0">
                <a:ea typeface="ＭＳ Ｐゴシック" pitchFamily="34" charset="-128"/>
              </a:rPr>
              <a:t> efforts to cope with the stress.</a:t>
            </a:r>
          </a:p>
          <a:p>
            <a:endParaRPr lang="en-AU" dirty="0"/>
          </a:p>
        </p:txBody>
      </p:sp>
    </p:spTree>
    <p:extLst>
      <p:ext uri="{BB962C8B-B14F-4D97-AF65-F5344CB8AC3E}">
        <p14:creationId xmlns:p14="http://schemas.microsoft.com/office/powerpoint/2010/main" val="117054671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404664"/>
            <a:ext cx="7024744" cy="1143000"/>
          </a:xfrm>
        </p:spPr>
        <p:txBody>
          <a:bodyPr>
            <a:normAutofit/>
          </a:bodyPr>
          <a:lstStyle/>
          <a:p>
            <a:r>
              <a:rPr lang="en-AU" altLang="en-US" dirty="0">
                <a:ea typeface="ＭＳ Ｐゴシック" pitchFamily="34" charset="-128"/>
              </a:rPr>
              <a:t>3 </a:t>
            </a:r>
            <a:r>
              <a:rPr lang="en-AU" altLang="en-US" dirty="0" smtClean="0">
                <a:ea typeface="ＭＳ Ｐゴシック" pitchFamily="34" charset="-128"/>
              </a:rPr>
              <a:t>Types </a:t>
            </a:r>
            <a:r>
              <a:rPr lang="en-AU" altLang="en-US" dirty="0">
                <a:ea typeface="ＭＳ Ｐゴシック" pitchFamily="34" charset="-128"/>
              </a:rPr>
              <a:t>of </a:t>
            </a:r>
            <a:r>
              <a:rPr lang="en-AU" altLang="en-US" dirty="0" smtClean="0">
                <a:ea typeface="ＭＳ Ｐゴシック" pitchFamily="34" charset="-128"/>
              </a:rPr>
              <a:t>Stress</a:t>
            </a:r>
            <a:r>
              <a:rPr lang="en-AU" altLang="en-US" dirty="0">
                <a:ea typeface="ＭＳ Ｐゴシック" pitchFamily="34" charset="-128"/>
              </a:rPr>
              <a:t>: </a:t>
            </a:r>
            <a:endParaRPr lang="en-AU" dirty="0"/>
          </a:p>
        </p:txBody>
      </p:sp>
      <p:sp>
        <p:nvSpPr>
          <p:cNvPr id="3" name="Content Placeholder 2"/>
          <p:cNvSpPr>
            <a:spLocks noGrp="1"/>
          </p:cNvSpPr>
          <p:nvPr>
            <p:ph idx="1"/>
          </p:nvPr>
        </p:nvSpPr>
        <p:spPr>
          <a:xfrm>
            <a:off x="1043608" y="1700808"/>
            <a:ext cx="7128792" cy="4131821"/>
          </a:xfrm>
        </p:spPr>
        <p:txBody>
          <a:bodyPr>
            <a:normAutofit/>
          </a:bodyPr>
          <a:lstStyle/>
          <a:p>
            <a:pPr lvl="1">
              <a:lnSpc>
                <a:spcPct val="90000"/>
              </a:lnSpc>
            </a:pPr>
            <a:r>
              <a:rPr lang="en-US" altLang="en-US" sz="2400" i="1" dirty="0" smtClean="0">
                <a:ea typeface="ＭＳ Ｐゴシック" pitchFamily="34" charset="-128"/>
              </a:rPr>
              <a:t>Harm </a:t>
            </a:r>
            <a:r>
              <a:rPr lang="en-US" altLang="en-US" sz="2400" i="1" dirty="0">
                <a:ea typeface="ＭＳ Ｐゴシック" pitchFamily="34" charset="-128"/>
              </a:rPr>
              <a:t>or loss - </a:t>
            </a:r>
            <a:r>
              <a:rPr lang="en-US" altLang="en-US" sz="2400" dirty="0">
                <a:ea typeface="ＭＳ Ｐゴシック" pitchFamily="34" charset="-128"/>
              </a:rPr>
              <a:t>when a person loses a loved one or something of value </a:t>
            </a:r>
            <a:r>
              <a:rPr lang="en-US" altLang="en-US" sz="2400" dirty="0" smtClean="0">
                <a:ea typeface="ＭＳ Ｐゴシック" pitchFamily="34" charset="-128"/>
              </a:rPr>
              <a:t>(e.g., job)</a:t>
            </a:r>
          </a:p>
          <a:p>
            <a:pPr lvl="1">
              <a:lnSpc>
                <a:spcPct val="90000"/>
              </a:lnSpc>
            </a:pPr>
            <a:r>
              <a:rPr lang="en-US" altLang="en-US" sz="2400" i="1" dirty="0" smtClean="0">
                <a:ea typeface="ＭＳ Ｐゴシック" pitchFamily="34" charset="-128"/>
              </a:rPr>
              <a:t>Threat - </a:t>
            </a:r>
            <a:r>
              <a:rPr lang="en-US" altLang="en-US" sz="2400" dirty="0" smtClean="0">
                <a:ea typeface="ＭＳ Ｐゴシック" pitchFamily="34" charset="-128"/>
              </a:rPr>
              <a:t>perceived anticipated harm (e.g., expecting to lose your job)</a:t>
            </a:r>
          </a:p>
          <a:p>
            <a:pPr lvl="1">
              <a:lnSpc>
                <a:spcPct val="90000"/>
              </a:lnSpc>
            </a:pPr>
            <a:r>
              <a:rPr lang="en-US" altLang="en-US" sz="2400" i="1" dirty="0" smtClean="0">
                <a:ea typeface="ＭＳ Ｐゴシック" pitchFamily="34" charset="-128"/>
                <a:sym typeface="Wingdings" pitchFamily="2" charset="2"/>
              </a:rPr>
              <a:t>Challenge </a:t>
            </a:r>
            <a:r>
              <a:rPr lang="en-US" altLang="en-US" sz="2400" i="1" dirty="0">
                <a:ea typeface="ＭＳ Ｐゴシック" pitchFamily="34" charset="-128"/>
                <a:sym typeface="Wingdings" pitchFamily="2" charset="2"/>
              </a:rPr>
              <a:t>- </a:t>
            </a:r>
            <a:r>
              <a:rPr lang="en-US" altLang="en-US" sz="2400" dirty="0">
                <a:ea typeface="ＭＳ Ｐゴシック" pitchFamily="34" charset="-128"/>
                <a:sym typeface="Wingdings" pitchFamily="2" charset="2"/>
              </a:rPr>
              <a:t>opportunities for growth that may nonetheless be fraught with disruption and uncertainty (</a:t>
            </a:r>
            <a:r>
              <a:rPr lang="en-US" altLang="en-US" sz="2400" dirty="0">
                <a:ea typeface="ＭＳ Ｐゴシック" pitchFamily="34" charset="-128"/>
              </a:rPr>
              <a:t>e.g., getting married, starting </a:t>
            </a:r>
            <a:r>
              <a:rPr lang="en-US" altLang="en-US" sz="2400" dirty="0" smtClean="0">
                <a:ea typeface="ＭＳ Ｐゴシック" pitchFamily="34" charset="-128"/>
              </a:rPr>
              <a:t>university, </a:t>
            </a:r>
            <a:r>
              <a:rPr lang="en-US" altLang="en-US" sz="2400" dirty="0">
                <a:ea typeface="ＭＳ Ｐゴシック" pitchFamily="34" charset="-128"/>
              </a:rPr>
              <a:t>starting a new job). These are positive events but are still perceived as stressful as they involve change and adjustment</a:t>
            </a:r>
            <a:r>
              <a:rPr lang="en-US" altLang="en-US" sz="2400" dirty="0" smtClean="0">
                <a:ea typeface="ＭＳ Ｐゴシック" pitchFamily="34" charset="-128"/>
              </a:rPr>
              <a:t>.</a:t>
            </a:r>
            <a:endParaRPr lang="en-US" altLang="en-US" sz="2400" dirty="0">
              <a:ea typeface="ＭＳ Ｐゴシック" pitchFamily="34" charset="-128"/>
            </a:endParaRPr>
          </a:p>
        </p:txBody>
      </p:sp>
    </p:spTree>
    <p:extLst>
      <p:ext uri="{BB962C8B-B14F-4D97-AF65-F5344CB8AC3E}">
        <p14:creationId xmlns:p14="http://schemas.microsoft.com/office/powerpoint/2010/main" val="6773138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836712"/>
            <a:ext cx="7272926" cy="541864"/>
          </a:xfrm>
        </p:spPr>
        <p:txBody>
          <a:bodyPr>
            <a:normAutofit/>
          </a:bodyPr>
          <a:lstStyle/>
          <a:p>
            <a:r>
              <a:rPr lang="en-AU" sz="2800" dirty="0"/>
              <a:t>What is a potentially traumatic event</a:t>
            </a:r>
            <a:r>
              <a:rPr lang="en-AU" sz="2800" dirty="0" smtClean="0"/>
              <a:t>?</a:t>
            </a:r>
            <a:endParaRPr lang="en-AU" sz="2800" dirty="0"/>
          </a:p>
        </p:txBody>
      </p:sp>
      <p:sp>
        <p:nvSpPr>
          <p:cNvPr id="3" name="Content Placeholder 2"/>
          <p:cNvSpPr>
            <a:spLocks noGrp="1"/>
          </p:cNvSpPr>
          <p:nvPr>
            <p:ph idx="1"/>
          </p:nvPr>
        </p:nvSpPr>
        <p:spPr>
          <a:xfrm>
            <a:off x="827584" y="1340768"/>
            <a:ext cx="7416824" cy="5040560"/>
          </a:xfrm>
        </p:spPr>
        <p:txBody>
          <a:bodyPr>
            <a:normAutofit fontScale="77500" lnSpcReduction="20000"/>
          </a:bodyPr>
          <a:lstStyle/>
          <a:p>
            <a:r>
              <a:rPr lang="en-AU" dirty="0"/>
              <a:t>Potentially traumatic events are powerful and upsetting incidents that intrude into daily life. They are usually defined as experiences which are life threatening, or where there is a significant threat to one's physical or psychological wellbeing.</a:t>
            </a:r>
          </a:p>
          <a:p>
            <a:r>
              <a:rPr lang="en-AU" dirty="0"/>
              <a:t>The same event may have little impact on one person but cause severe distress in another individual. The impact that an event has may be related to the person's mental and physical health, level of available support at the time of the event, and past experience and coping skills</a:t>
            </a:r>
            <a:r>
              <a:rPr lang="en-AU" dirty="0" smtClean="0"/>
              <a:t>.</a:t>
            </a:r>
          </a:p>
          <a:p>
            <a:r>
              <a:rPr lang="en-AU" dirty="0" smtClean="0"/>
              <a:t>Situations </a:t>
            </a:r>
            <a:r>
              <a:rPr lang="en-AU" dirty="0"/>
              <a:t>and events that can lead a person to experience psychological trauma include:</a:t>
            </a:r>
          </a:p>
          <a:p>
            <a:pPr lvl="1"/>
            <a:r>
              <a:rPr lang="en-AU" dirty="0"/>
              <a:t>Acts of violence such as an armed robbery, war or terrorism</a:t>
            </a:r>
          </a:p>
          <a:p>
            <a:pPr lvl="1"/>
            <a:r>
              <a:rPr lang="en-AU" dirty="0"/>
              <a:t>Natural disasters such as bushfire, earthquake or floods</a:t>
            </a:r>
          </a:p>
          <a:p>
            <a:pPr lvl="1"/>
            <a:r>
              <a:rPr lang="en-AU" dirty="0"/>
              <a:t>Interpersonal violence such as rape, </a:t>
            </a:r>
            <a:r>
              <a:rPr lang="en-AU" dirty="0" smtClean="0"/>
              <a:t>abuse</a:t>
            </a:r>
            <a:r>
              <a:rPr lang="en-AU" dirty="0"/>
              <a:t>, or </a:t>
            </a:r>
            <a:r>
              <a:rPr lang="en-AU" dirty="0" smtClean="0"/>
              <a:t>loss </a:t>
            </a:r>
            <a:r>
              <a:rPr lang="en-AU" dirty="0"/>
              <a:t>of a family </a:t>
            </a:r>
            <a:r>
              <a:rPr lang="en-AU" dirty="0" smtClean="0"/>
              <a:t>member/friend</a:t>
            </a:r>
            <a:endParaRPr lang="en-AU" dirty="0"/>
          </a:p>
          <a:p>
            <a:pPr lvl="1"/>
            <a:r>
              <a:rPr lang="en-AU" dirty="0"/>
              <a:t>Involvement in a serious motor vehicle or workplace </a:t>
            </a:r>
            <a:r>
              <a:rPr lang="en-AU" dirty="0" smtClean="0"/>
              <a:t>accident</a:t>
            </a:r>
          </a:p>
          <a:p>
            <a:pPr lvl="1"/>
            <a:r>
              <a:rPr lang="en-AU" dirty="0" smtClean="0"/>
              <a:t>Bullying </a:t>
            </a:r>
            <a:endParaRPr lang="en-AU" dirty="0"/>
          </a:p>
          <a:p>
            <a:pPr lvl="1"/>
            <a:r>
              <a:rPr lang="en-AU" dirty="0"/>
              <a:t>Other less severe but still stressful situations can also trigger traumatic reactions in some people</a:t>
            </a:r>
            <a:r>
              <a:rPr lang="en-AU" dirty="0" smtClean="0"/>
              <a:t>.</a:t>
            </a:r>
            <a:endParaRPr lang="en-AU" dirty="0"/>
          </a:p>
        </p:txBody>
      </p:sp>
    </p:spTree>
    <p:extLst>
      <p:ext uri="{BB962C8B-B14F-4D97-AF65-F5344CB8AC3E}">
        <p14:creationId xmlns:p14="http://schemas.microsoft.com/office/powerpoint/2010/main" val="184331209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Post Traumatic Stress Disorder (PTSD)</a:t>
            </a:r>
            <a:endParaRPr lang="en-AU" dirty="0"/>
          </a:p>
        </p:txBody>
      </p:sp>
      <p:sp>
        <p:nvSpPr>
          <p:cNvPr id="3" name="Content Placeholder 2"/>
          <p:cNvSpPr>
            <a:spLocks noGrp="1"/>
          </p:cNvSpPr>
          <p:nvPr>
            <p:ph idx="1"/>
          </p:nvPr>
        </p:nvSpPr>
        <p:spPr/>
        <p:txBody>
          <a:bodyPr/>
          <a:lstStyle/>
          <a:p>
            <a:r>
              <a:rPr lang="en-AU" b="1" dirty="0" smtClean="0"/>
              <a:t>Post-traumatic </a:t>
            </a:r>
            <a:r>
              <a:rPr lang="en-AU" b="1" dirty="0"/>
              <a:t>stress disorder (PTSD), </a:t>
            </a:r>
            <a:r>
              <a:rPr lang="en-AU" dirty="0"/>
              <a:t>also called post-traumatic stress syndrome, emotional condition that sometimes follows a traumatic event, particularly an event that involves actual or threatened death or serious bodily injury to oneself or others and that creates intense feelings of fear, helplessness, or </a:t>
            </a:r>
            <a:r>
              <a:rPr lang="en-AU" dirty="0" smtClean="0"/>
              <a:t>horror.</a:t>
            </a:r>
            <a:endParaRPr lang="en-AU" dirty="0"/>
          </a:p>
        </p:txBody>
      </p:sp>
    </p:spTree>
    <p:extLst>
      <p:ext uri="{BB962C8B-B14F-4D97-AF65-F5344CB8AC3E}">
        <p14:creationId xmlns:p14="http://schemas.microsoft.com/office/powerpoint/2010/main" val="286762225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04664"/>
            <a:ext cx="8229600" cy="1143000"/>
          </a:xfrm>
        </p:spPr>
        <p:txBody>
          <a:bodyPr>
            <a:normAutofit/>
          </a:bodyPr>
          <a:lstStyle/>
          <a:p>
            <a:r>
              <a:rPr lang="en-AU" sz="3100" dirty="0"/>
              <a:t>What are the symptoms of psychological trauma?</a:t>
            </a:r>
            <a:endParaRPr lang="en-AU"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4067300159"/>
              </p:ext>
            </p:extLst>
          </p:nvPr>
        </p:nvGraphicFramePr>
        <p:xfrm>
          <a:off x="611560" y="1600984"/>
          <a:ext cx="7776864" cy="4846320"/>
        </p:xfrm>
        <a:graphic>
          <a:graphicData uri="http://schemas.openxmlformats.org/drawingml/2006/table">
            <a:tbl>
              <a:tblPr firstRow="1" bandRow="1">
                <a:tableStyleId>{69CF1AB2-1976-4502-BF36-3FF5EA218861}</a:tableStyleId>
              </a:tblPr>
              <a:tblGrid>
                <a:gridCol w="2073830">
                  <a:extLst>
                    <a:ext uri="{9D8B030D-6E8A-4147-A177-3AD203B41FA5}">
                      <a16:colId xmlns:a16="http://schemas.microsoft.com/office/drawing/2014/main" val="20000"/>
                    </a:ext>
                  </a:extLst>
                </a:gridCol>
                <a:gridCol w="5703034">
                  <a:extLst>
                    <a:ext uri="{9D8B030D-6E8A-4147-A177-3AD203B41FA5}">
                      <a16:colId xmlns:a16="http://schemas.microsoft.com/office/drawing/2014/main" val="20001"/>
                    </a:ext>
                  </a:extLst>
                </a:gridCol>
              </a:tblGrid>
              <a:tr h="1087015">
                <a:tc>
                  <a:txBody>
                    <a:bodyPr/>
                    <a:lstStyle/>
                    <a:p>
                      <a:pPr algn="ctr"/>
                      <a:endParaRPr lang="en-AU" sz="1600" b="0" dirty="0" smtClean="0"/>
                    </a:p>
                    <a:p>
                      <a:pPr algn="ctr"/>
                      <a:endParaRPr lang="en-AU" sz="1600" b="0" dirty="0" smtClean="0"/>
                    </a:p>
                    <a:p>
                      <a:pPr algn="ctr"/>
                      <a:r>
                        <a:rPr lang="en-AU" sz="1600" b="0" dirty="0" smtClean="0"/>
                        <a:t>Physical</a:t>
                      </a:r>
                      <a:endParaRPr lang="en-AU" sz="1600" b="0" dirty="0"/>
                    </a:p>
                  </a:txBody>
                  <a:tcPr/>
                </a:tc>
                <a:tc>
                  <a:txBody>
                    <a:bodyPr/>
                    <a:lstStyle/>
                    <a:p>
                      <a:r>
                        <a:rPr lang="en-AU" sz="1400" b="0" dirty="0" smtClean="0"/>
                        <a:t>Excessive alertness, on the look-out for signs of danger</a:t>
                      </a:r>
                    </a:p>
                    <a:p>
                      <a:r>
                        <a:rPr lang="en-AU" sz="1400" b="0" dirty="0" smtClean="0"/>
                        <a:t>Easily startled</a:t>
                      </a:r>
                    </a:p>
                    <a:p>
                      <a:r>
                        <a:rPr lang="en-AU" sz="1400" b="0" dirty="0" smtClean="0"/>
                        <a:t>Fatigue/exhaustion</a:t>
                      </a:r>
                    </a:p>
                    <a:p>
                      <a:r>
                        <a:rPr lang="en-AU" sz="1400" b="0" dirty="0" smtClean="0"/>
                        <a:t>Disturbed sleep</a:t>
                      </a:r>
                    </a:p>
                    <a:p>
                      <a:r>
                        <a:rPr lang="en-AU" sz="1400" b="0" dirty="0" smtClean="0"/>
                        <a:t>General aches and pains </a:t>
                      </a:r>
                    </a:p>
                  </a:txBody>
                  <a:tcPr/>
                </a:tc>
                <a:extLst>
                  <a:ext uri="{0D108BD9-81ED-4DB2-BD59-A6C34878D82A}">
                    <a16:rowId xmlns:a16="http://schemas.microsoft.com/office/drawing/2014/main" val="10000"/>
                  </a:ext>
                </a:extLst>
              </a:tr>
              <a:tr h="1289251">
                <a:tc>
                  <a:txBody>
                    <a:bodyPr/>
                    <a:lstStyle/>
                    <a:p>
                      <a:pPr algn="ctr"/>
                      <a:endParaRPr lang="en-AU" sz="1600" dirty="0" smtClean="0"/>
                    </a:p>
                    <a:p>
                      <a:pPr algn="ctr"/>
                      <a:endParaRPr lang="en-AU" sz="1600" dirty="0" smtClean="0"/>
                    </a:p>
                    <a:p>
                      <a:pPr algn="ctr"/>
                      <a:endParaRPr lang="en-AU" sz="1600" dirty="0" smtClean="0"/>
                    </a:p>
                    <a:p>
                      <a:pPr algn="ctr"/>
                      <a:r>
                        <a:rPr lang="en-AU" sz="1600" dirty="0" smtClean="0"/>
                        <a:t>Cognitive</a:t>
                      </a:r>
                      <a:endParaRPr lang="en-AU" sz="1600" b="1" dirty="0"/>
                    </a:p>
                  </a:txBody>
                  <a:tcPr/>
                </a:tc>
                <a:tc>
                  <a:txBody>
                    <a:bodyPr/>
                    <a:lstStyle/>
                    <a:p>
                      <a:r>
                        <a:rPr lang="en-AU" sz="1400" dirty="0" smtClean="0"/>
                        <a:t>Intrusive thoughts and memories of the event</a:t>
                      </a:r>
                    </a:p>
                    <a:p>
                      <a:r>
                        <a:rPr lang="en-AU" sz="1400" dirty="0" smtClean="0"/>
                        <a:t>Visual images of the event</a:t>
                      </a:r>
                    </a:p>
                    <a:p>
                      <a:r>
                        <a:rPr lang="en-AU" sz="1400" dirty="0" smtClean="0"/>
                        <a:t>Nightmares</a:t>
                      </a:r>
                    </a:p>
                    <a:p>
                      <a:r>
                        <a:rPr lang="en-AU" sz="1400" dirty="0" smtClean="0"/>
                        <a:t>Poor concentration and memory</a:t>
                      </a:r>
                    </a:p>
                    <a:p>
                      <a:r>
                        <a:rPr lang="en-AU" sz="1400" dirty="0" smtClean="0"/>
                        <a:t>Disorientation</a:t>
                      </a:r>
                    </a:p>
                    <a:p>
                      <a:r>
                        <a:rPr lang="en-AU" sz="1400" dirty="0" smtClean="0"/>
                        <a:t>Confusion </a:t>
                      </a:r>
                      <a:endParaRPr lang="en-AU" sz="1400" dirty="0"/>
                    </a:p>
                  </a:txBody>
                  <a:tcPr/>
                </a:tc>
                <a:extLst>
                  <a:ext uri="{0D108BD9-81ED-4DB2-BD59-A6C34878D82A}">
                    <a16:rowId xmlns:a16="http://schemas.microsoft.com/office/drawing/2014/main" val="10001"/>
                  </a:ext>
                </a:extLst>
              </a:tr>
              <a:tr h="884780">
                <a:tc>
                  <a:txBody>
                    <a:bodyPr/>
                    <a:lstStyle/>
                    <a:p>
                      <a:pPr algn="ctr"/>
                      <a:endParaRPr lang="en-AU" sz="1600" dirty="0" smtClean="0"/>
                    </a:p>
                    <a:p>
                      <a:pPr algn="ctr"/>
                      <a:r>
                        <a:rPr lang="en-AU" sz="1600" dirty="0" smtClean="0"/>
                        <a:t>Behavioural</a:t>
                      </a:r>
                      <a:endParaRPr lang="en-AU" sz="1600" b="1" dirty="0"/>
                    </a:p>
                  </a:txBody>
                  <a:tcPr/>
                </a:tc>
                <a:tc>
                  <a:txBody>
                    <a:bodyPr/>
                    <a:lstStyle/>
                    <a:p>
                      <a:r>
                        <a:rPr lang="en-AU" sz="1400" dirty="0" smtClean="0"/>
                        <a:t>Avoidance of places or activities that are reminders of the event</a:t>
                      </a:r>
                    </a:p>
                    <a:p>
                      <a:r>
                        <a:rPr lang="en-AU" sz="1400" dirty="0" smtClean="0"/>
                        <a:t>Social withdrawal and isolation</a:t>
                      </a:r>
                    </a:p>
                    <a:p>
                      <a:r>
                        <a:rPr lang="en-AU" sz="1400" dirty="0" smtClean="0"/>
                        <a:t>Loss of interest in normal activities </a:t>
                      </a:r>
                      <a:endParaRPr lang="en-AU" sz="1400" dirty="0"/>
                    </a:p>
                  </a:txBody>
                  <a:tcPr/>
                </a:tc>
                <a:extLst>
                  <a:ext uri="{0D108BD9-81ED-4DB2-BD59-A6C34878D82A}">
                    <a16:rowId xmlns:a16="http://schemas.microsoft.com/office/drawing/2014/main" val="10002"/>
                  </a:ext>
                </a:extLst>
              </a:tr>
              <a:tr h="1289251">
                <a:tc>
                  <a:txBody>
                    <a:bodyPr/>
                    <a:lstStyle/>
                    <a:p>
                      <a:pPr algn="ctr"/>
                      <a:endParaRPr lang="en-AU" sz="1600" dirty="0" smtClean="0"/>
                    </a:p>
                    <a:p>
                      <a:pPr algn="ctr"/>
                      <a:endParaRPr lang="en-AU" sz="1600" dirty="0" smtClean="0"/>
                    </a:p>
                    <a:p>
                      <a:pPr algn="ctr"/>
                      <a:endParaRPr lang="en-AU" sz="1600" dirty="0" smtClean="0"/>
                    </a:p>
                    <a:p>
                      <a:pPr algn="ctr"/>
                      <a:r>
                        <a:rPr lang="en-AU" sz="1600" dirty="0" smtClean="0"/>
                        <a:t>Emotional</a:t>
                      </a:r>
                      <a:endParaRPr lang="en-AU" sz="1600" b="1" dirty="0"/>
                    </a:p>
                  </a:txBody>
                  <a:tcPr/>
                </a:tc>
                <a:tc>
                  <a:txBody>
                    <a:bodyPr/>
                    <a:lstStyle/>
                    <a:p>
                      <a:r>
                        <a:rPr lang="en-AU" sz="1400" dirty="0" smtClean="0"/>
                        <a:t>Fear</a:t>
                      </a:r>
                    </a:p>
                    <a:p>
                      <a:r>
                        <a:rPr lang="en-AU" sz="1400" dirty="0" smtClean="0"/>
                        <a:t>Numbness and detachment</a:t>
                      </a:r>
                    </a:p>
                    <a:p>
                      <a:r>
                        <a:rPr lang="en-AU" sz="1400" dirty="0" smtClean="0"/>
                        <a:t>Depression</a:t>
                      </a:r>
                    </a:p>
                    <a:p>
                      <a:r>
                        <a:rPr lang="en-AU" sz="1400" dirty="0" smtClean="0"/>
                        <a:t>Guilt</a:t>
                      </a:r>
                    </a:p>
                    <a:p>
                      <a:r>
                        <a:rPr lang="en-AU" sz="1400" dirty="0" smtClean="0"/>
                        <a:t>Anger and irritability</a:t>
                      </a:r>
                    </a:p>
                    <a:p>
                      <a:r>
                        <a:rPr lang="en-AU" sz="1400" dirty="0" smtClean="0"/>
                        <a:t>Anxiety and panic  </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6942819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764704"/>
            <a:ext cx="7024744" cy="613872"/>
          </a:xfrm>
        </p:spPr>
        <p:txBody>
          <a:bodyPr>
            <a:normAutofit fontScale="90000"/>
          </a:bodyPr>
          <a:lstStyle/>
          <a:p>
            <a:r>
              <a:rPr lang="en-AU" dirty="0" smtClean="0"/>
              <a:t>Symptoms of PTSD</a:t>
            </a:r>
            <a:endParaRPr lang="en-AU" dirty="0"/>
          </a:p>
        </p:txBody>
      </p:sp>
      <p:sp>
        <p:nvSpPr>
          <p:cNvPr id="3" name="Content Placeholder 2"/>
          <p:cNvSpPr>
            <a:spLocks noGrp="1"/>
          </p:cNvSpPr>
          <p:nvPr>
            <p:ph idx="1"/>
          </p:nvPr>
        </p:nvSpPr>
        <p:spPr>
          <a:xfrm>
            <a:off x="755576" y="1484784"/>
            <a:ext cx="7941568" cy="4453955"/>
          </a:xfrm>
        </p:spPr>
        <p:txBody>
          <a:bodyPr>
            <a:noAutofit/>
          </a:bodyPr>
          <a:lstStyle/>
          <a:p>
            <a:r>
              <a:rPr lang="en-AU" sz="2000" dirty="0" smtClean="0"/>
              <a:t>Symptoms </a:t>
            </a:r>
            <a:r>
              <a:rPr lang="en-AU" sz="2000" dirty="0"/>
              <a:t>of </a:t>
            </a:r>
            <a:r>
              <a:rPr lang="en-AU" sz="2000" dirty="0" smtClean="0"/>
              <a:t>PTSD include </a:t>
            </a:r>
            <a:r>
              <a:rPr lang="en-AU" sz="2000" dirty="0"/>
              <a:t>the </a:t>
            </a:r>
            <a:r>
              <a:rPr lang="en-AU" sz="2000" dirty="0" smtClean="0"/>
              <a:t>re-experiencing </a:t>
            </a:r>
            <a:r>
              <a:rPr lang="en-AU" sz="2000" dirty="0"/>
              <a:t>of the trauma either through upsetting thoughts or memories or, in extreme cases, through a flashback in which the trauma is relived at full emotional intensity. </a:t>
            </a:r>
            <a:endParaRPr lang="en-AU" sz="2000" dirty="0" smtClean="0"/>
          </a:p>
          <a:p>
            <a:r>
              <a:rPr lang="en-AU" sz="2000" dirty="0" smtClean="0"/>
              <a:t>People </a:t>
            </a:r>
            <a:r>
              <a:rPr lang="en-AU" sz="2000" dirty="0"/>
              <a:t>with PTSD often report a general feeling of emotional numbness, experience increased anxiety and vigilance, and avoid reminders of the trauma, such as specific situations, thoughts, and feelings. </a:t>
            </a:r>
            <a:endParaRPr lang="en-AU" sz="2000" dirty="0" smtClean="0"/>
          </a:p>
          <a:p>
            <a:r>
              <a:rPr lang="en-AU" sz="2000" dirty="0" smtClean="0"/>
              <a:t>It </a:t>
            </a:r>
            <a:r>
              <a:rPr lang="en-AU" sz="2000" dirty="0"/>
              <a:t>is normal to experience such reactions to some extent following trauma, and they are not considered symptoms of PTSD unless they last for at least one month or have a delayed onset. </a:t>
            </a:r>
            <a:endParaRPr lang="en-AU" sz="2000" dirty="0" smtClean="0"/>
          </a:p>
          <a:p>
            <a:r>
              <a:rPr lang="en-AU" sz="2000" dirty="0" smtClean="0"/>
              <a:t>People </a:t>
            </a:r>
            <a:r>
              <a:rPr lang="en-AU" sz="2000" dirty="0"/>
              <a:t>with PTSD can also suffer from other psychological problems, particularly depression, anxiety, and drug abuse.</a:t>
            </a:r>
          </a:p>
        </p:txBody>
      </p:sp>
    </p:spTree>
    <p:extLst>
      <p:ext uri="{BB962C8B-B14F-4D97-AF65-F5344CB8AC3E}">
        <p14:creationId xmlns:p14="http://schemas.microsoft.com/office/powerpoint/2010/main" val="429026589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764704"/>
            <a:ext cx="7024744" cy="685880"/>
          </a:xfrm>
        </p:spPr>
        <p:txBody>
          <a:bodyPr>
            <a:normAutofit fontScale="90000"/>
          </a:bodyPr>
          <a:lstStyle/>
          <a:p>
            <a:r>
              <a:rPr lang="en-AU" dirty="0" smtClean="0"/>
              <a:t>PTSD Specifics</a:t>
            </a:r>
            <a:endParaRPr lang="en-AU" dirty="0"/>
          </a:p>
        </p:txBody>
      </p:sp>
      <p:sp>
        <p:nvSpPr>
          <p:cNvPr id="3" name="Content Placeholder 2"/>
          <p:cNvSpPr>
            <a:spLocks noGrp="1"/>
          </p:cNvSpPr>
          <p:nvPr>
            <p:ph idx="1"/>
          </p:nvPr>
        </p:nvSpPr>
        <p:spPr>
          <a:xfrm>
            <a:off x="971600" y="1556792"/>
            <a:ext cx="7344816" cy="4536504"/>
          </a:xfrm>
        </p:spPr>
        <p:txBody>
          <a:bodyPr>
            <a:normAutofit fontScale="85000" lnSpcReduction="20000"/>
          </a:bodyPr>
          <a:lstStyle/>
          <a:p>
            <a:r>
              <a:rPr lang="en-AU" dirty="0"/>
              <a:t>Re-experiencing the trauma in the form of intrusive memories, nightmares or flashbacks</a:t>
            </a:r>
          </a:p>
          <a:p>
            <a:r>
              <a:rPr lang="en-AU" dirty="0"/>
              <a:t>Avoidance of reminders and numbing of emotional responsiveness</a:t>
            </a:r>
          </a:p>
          <a:p>
            <a:r>
              <a:rPr lang="en-AU" dirty="0"/>
              <a:t>Hyperarousal - feeling </a:t>
            </a:r>
            <a:r>
              <a:rPr lang="en-AU" dirty="0" smtClean="0"/>
              <a:t>ju</a:t>
            </a:r>
            <a:r>
              <a:rPr lang="en-AU" dirty="0"/>
              <a:t>mpy and on edge.</a:t>
            </a:r>
          </a:p>
          <a:p>
            <a:pPr marL="0" indent="0">
              <a:buNone/>
            </a:pPr>
            <a:endParaRPr lang="en-AU" dirty="0" smtClean="0"/>
          </a:p>
          <a:p>
            <a:r>
              <a:rPr lang="en-AU" dirty="0"/>
              <a:t>PTSD is very distressing and can lead to serious ongoing problems with social relationships and the ability to work or carry out normal daily activities. PTSD usually requires professional assistance as these problems tend not to resolve by themselves with the passage of time.</a:t>
            </a:r>
          </a:p>
          <a:p>
            <a:r>
              <a:rPr lang="en-AU" dirty="0"/>
              <a:t>Depression, anxiety disorders (such as panic, phobias, and general anxiety) and alcohol or drug disorders may also develop following trauma in some people. These conditions may occur with, or in the absence of, PTSD</a:t>
            </a:r>
            <a:r>
              <a:rPr lang="en-AU" dirty="0" smtClean="0"/>
              <a:t>.</a:t>
            </a:r>
            <a:endParaRPr lang="en-AU" dirty="0"/>
          </a:p>
        </p:txBody>
      </p:sp>
    </p:spTree>
    <p:extLst>
      <p:ext uri="{BB962C8B-B14F-4D97-AF65-F5344CB8AC3E}">
        <p14:creationId xmlns:p14="http://schemas.microsoft.com/office/powerpoint/2010/main" val="33412241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a:t>Risk Factors and Resilience Factors for </a:t>
            </a:r>
            <a:r>
              <a:rPr lang="en-AU" dirty="0" smtClean="0"/>
              <a:t>PTSD</a:t>
            </a:r>
            <a:endParaRPr lang="en-AU" dirty="0"/>
          </a:p>
        </p:txBody>
      </p:sp>
      <p:sp>
        <p:nvSpPr>
          <p:cNvPr id="3" name="Content Placeholder 2"/>
          <p:cNvSpPr>
            <a:spLocks noGrp="1"/>
          </p:cNvSpPr>
          <p:nvPr>
            <p:ph idx="1"/>
          </p:nvPr>
        </p:nvSpPr>
        <p:spPr>
          <a:xfrm>
            <a:off x="1043492" y="2323652"/>
            <a:ext cx="7056900" cy="3985668"/>
          </a:xfrm>
        </p:spPr>
        <p:txBody>
          <a:bodyPr>
            <a:normAutofit fontScale="85000" lnSpcReduction="10000"/>
          </a:bodyPr>
          <a:lstStyle/>
          <a:p>
            <a:pPr marL="68580" indent="0">
              <a:buNone/>
            </a:pPr>
            <a:r>
              <a:rPr lang="en-AU" dirty="0" smtClean="0"/>
              <a:t>Some </a:t>
            </a:r>
            <a:r>
              <a:rPr lang="en-AU" dirty="0"/>
              <a:t>factors that increase risk for PTSD include:</a:t>
            </a:r>
          </a:p>
          <a:p>
            <a:r>
              <a:rPr lang="en-AU" dirty="0"/>
              <a:t>Living through dangerous events and traumas</a:t>
            </a:r>
          </a:p>
          <a:p>
            <a:r>
              <a:rPr lang="en-AU" dirty="0"/>
              <a:t>Getting hurt</a:t>
            </a:r>
          </a:p>
          <a:p>
            <a:r>
              <a:rPr lang="en-AU" dirty="0"/>
              <a:t>Seeing another person hurt, or seeing a dead body</a:t>
            </a:r>
          </a:p>
          <a:p>
            <a:r>
              <a:rPr lang="en-AU" dirty="0"/>
              <a:t>Childhood trauma</a:t>
            </a:r>
          </a:p>
          <a:p>
            <a:r>
              <a:rPr lang="en-AU" dirty="0"/>
              <a:t>Feeling horror, helplessness, or extreme fear</a:t>
            </a:r>
          </a:p>
          <a:p>
            <a:r>
              <a:rPr lang="en-AU" dirty="0"/>
              <a:t>Having little or no social support after the event</a:t>
            </a:r>
          </a:p>
          <a:p>
            <a:r>
              <a:rPr lang="en-AU" dirty="0"/>
              <a:t>Dealing with extra stress after the event, such as loss of a loved one, pain and injury, or loss of a job or home</a:t>
            </a:r>
          </a:p>
          <a:p>
            <a:r>
              <a:rPr lang="en-AU" dirty="0"/>
              <a:t>Having a history of mental illness or substance abuse</a:t>
            </a:r>
          </a:p>
          <a:p>
            <a:endParaRPr lang="en-AU" dirty="0"/>
          </a:p>
        </p:txBody>
      </p:sp>
    </p:spTree>
    <p:extLst>
      <p:ext uri="{BB962C8B-B14F-4D97-AF65-F5344CB8AC3E}">
        <p14:creationId xmlns:p14="http://schemas.microsoft.com/office/powerpoint/2010/main" val="23671833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Treatment of PTSD</a:t>
            </a:r>
            <a:endParaRPr lang="en-AU" dirty="0"/>
          </a:p>
        </p:txBody>
      </p:sp>
      <p:sp>
        <p:nvSpPr>
          <p:cNvPr id="3" name="Content Placeholder 2"/>
          <p:cNvSpPr>
            <a:spLocks noGrp="1"/>
          </p:cNvSpPr>
          <p:nvPr>
            <p:ph idx="1"/>
          </p:nvPr>
        </p:nvSpPr>
        <p:spPr/>
        <p:txBody>
          <a:bodyPr/>
          <a:lstStyle/>
          <a:p>
            <a:r>
              <a:rPr lang="en-AU" dirty="0" smtClean="0"/>
              <a:t>Medications</a:t>
            </a:r>
          </a:p>
          <a:p>
            <a:r>
              <a:rPr lang="en-AU" dirty="0" smtClean="0"/>
              <a:t>Psychotherapy</a:t>
            </a:r>
          </a:p>
          <a:p>
            <a:r>
              <a:rPr lang="en-AU" dirty="0" smtClean="0"/>
              <a:t>Cognitive Behaviour Therapy</a:t>
            </a:r>
          </a:p>
          <a:p>
            <a:r>
              <a:rPr lang="en-AU" dirty="0" smtClean="0"/>
              <a:t>Exercise and sleep therapy</a:t>
            </a:r>
          </a:p>
          <a:p>
            <a:endParaRPr lang="en-AU" dirty="0"/>
          </a:p>
        </p:txBody>
      </p:sp>
    </p:spTree>
    <p:extLst>
      <p:ext uri="{BB962C8B-B14F-4D97-AF65-F5344CB8AC3E}">
        <p14:creationId xmlns:p14="http://schemas.microsoft.com/office/powerpoint/2010/main" val="7033995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5616" y="3501008"/>
            <a:ext cx="7024744" cy="1143000"/>
          </a:xfrm>
        </p:spPr>
        <p:txBody>
          <a:bodyPr>
            <a:noAutofit/>
          </a:bodyPr>
          <a:lstStyle/>
          <a:p>
            <a:pPr algn="ctr"/>
            <a:r>
              <a:rPr lang="en-AU" sz="6600" dirty="0" smtClean="0"/>
              <a:t>POST TRAUMATIC GROWTH (PTG)</a:t>
            </a:r>
            <a:endParaRPr lang="en-AU" sz="6600" dirty="0"/>
          </a:p>
        </p:txBody>
      </p:sp>
    </p:spTree>
    <p:extLst>
      <p:ext uri="{BB962C8B-B14F-4D97-AF65-F5344CB8AC3E}">
        <p14:creationId xmlns:p14="http://schemas.microsoft.com/office/powerpoint/2010/main" val="21055791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5616" y="404664"/>
            <a:ext cx="7024744" cy="1143000"/>
          </a:xfrm>
        </p:spPr>
        <p:txBody>
          <a:bodyPr>
            <a:normAutofit fontScale="90000"/>
          </a:bodyPr>
          <a:lstStyle/>
          <a:p>
            <a:r>
              <a:rPr lang="en-AU" dirty="0" smtClean="0"/>
              <a:t>Post </a:t>
            </a:r>
            <a:r>
              <a:rPr lang="en-AU" dirty="0"/>
              <a:t>T</a:t>
            </a:r>
            <a:r>
              <a:rPr lang="en-AU" dirty="0" smtClean="0"/>
              <a:t>raumatic Growth (PTG)</a:t>
            </a:r>
            <a:endParaRPr lang="en-AU" dirty="0"/>
          </a:p>
        </p:txBody>
      </p:sp>
      <p:sp>
        <p:nvSpPr>
          <p:cNvPr id="3" name="Content Placeholder 2"/>
          <p:cNvSpPr>
            <a:spLocks noGrp="1"/>
          </p:cNvSpPr>
          <p:nvPr>
            <p:ph idx="1"/>
          </p:nvPr>
        </p:nvSpPr>
        <p:spPr>
          <a:xfrm>
            <a:off x="1043608" y="1700808"/>
            <a:ext cx="7056784" cy="4464496"/>
          </a:xfrm>
        </p:spPr>
        <p:txBody>
          <a:bodyPr>
            <a:normAutofit fontScale="92500" lnSpcReduction="10000"/>
          </a:bodyPr>
          <a:lstStyle/>
          <a:p>
            <a:r>
              <a:rPr lang="en-AU" dirty="0" smtClean="0"/>
              <a:t>Traumatic </a:t>
            </a:r>
            <a:r>
              <a:rPr lang="en-AU" dirty="0"/>
              <a:t>experiences can also provide a catalyst for significant positive life changes, most commonly referred to as post-traumatic growth (PTG). </a:t>
            </a:r>
          </a:p>
          <a:p>
            <a:r>
              <a:rPr lang="en-AU" dirty="0" smtClean="0"/>
              <a:t>PTG</a:t>
            </a:r>
            <a:r>
              <a:rPr lang="en-AU" dirty="0"/>
              <a:t>, coined by </a:t>
            </a:r>
            <a:r>
              <a:rPr lang="en-AU" dirty="0" err="1" smtClean="0"/>
              <a:t>Tedeschi</a:t>
            </a:r>
            <a:r>
              <a:rPr lang="en-AU" dirty="0" smtClean="0"/>
              <a:t> &amp; Calhoun </a:t>
            </a:r>
            <a:r>
              <a:rPr lang="en-AU" dirty="0"/>
              <a:t>in 1995, refers to positive changes in a person’s life that can occur because of a traumatic response to an experience. </a:t>
            </a:r>
          </a:p>
          <a:p>
            <a:r>
              <a:rPr lang="en-AU" dirty="0" smtClean="0"/>
              <a:t>PTG </a:t>
            </a:r>
            <a:r>
              <a:rPr lang="en-AU" dirty="0"/>
              <a:t>is not seen as the opposite end of a mental health outcome continuum; ongoing distress can co-occur with growth. </a:t>
            </a:r>
          </a:p>
          <a:p>
            <a:r>
              <a:rPr lang="en-AU" dirty="0" smtClean="0"/>
              <a:t>Neither </a:t>
            </a:r>
            <a:r>
              <a:rPr lang="en-AU" dirty="0"/>
              <a:t>is PTG an automatic by-product of experiencing trauma or an inevitable outcome. </a:t>
            </a:r>
          </a:p>
        </p:txBody>
      </p:sp>
    </p:spTree>
    <p:extLst>
      <p:ext uri="{BB962C8B-B14F-4D97-AF65-F5344CB8AC3E}">
        <p14:creationId xmlns:p14="http://schemas.microsoft.com/office/powerpoint/2010/main" val="12933749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5616" y="7142"/>
            <a:ext cx="7024744" cy="1143000"/>
          </a:xfrm>
        </p:spPr>
        <p:txBody>
          <a:bodyPr/>
          <a:lstStyle/>
          <a:p>
            <a:r>
              <a:rPr lang="en-AU" dirty="0" smtClean="0"/>
              <a:t>PTG Continued</a:t>
            </a:r>
            <a:endParaRPr lang="en-AU" dirty="0"/>
          </a:p>
        </p:txBody>
      </p:sp>
      <p:sp>
        <p:nvSpPr>
          <p:cNvPr id="3" name="Content Placeholder 2"/>
          <p:cNvSpPr>
            <a:spLocks noGrp="1"/>
          </p:cNvSpPr>
          <p:nvPr>
            <p:ph idx="1"/>
          </p:nvPr>
        </p:nvSpPr>
        <p:spPr>
          <a:xfrm>
            <a:off x="827584" y="1268760"/>
            <a:ext cx="7704856" cy="5256584"/>
          </a:xfrm>
        </p:spPr>
        <p:txBody>
          <a:bodyPr>
            <a:noAutofit/>
          </a:bodyPr>
          <a:lstStyle/>
          <a:p>
            <a:pPr marL="0" indent="0">
              <a:buNone/>
            </a:pPr>
            <a:r>
              <a:rPr lang="en-AU" sz="2000" dirty="0" smtClean="0"/>
              <a:t>Experiencing </a:t>
            </a:r>
            <a:r>
              <a:rPr lang="en-AU" sz="2000" dirty="0"/>
              <a:t>a traumatic event, people often report three ways in which their psychological functioning increases: </a:t>
            </a:r>
          </a:p>
          <a:p>
            <a:r>
              <a:rPr lang="en-AU" sz="2000" dirty="0"/>
              <a:t>1.      Relationships are enhanced in some way. For example, people describe that they come to value their friends and family more, feel an increased sense of compassion for others and a longing for more intimate relationships. </a:t>
            </a:r>
          </a:p>
          <a:p>
            <a:r>
              <a:rPr lang="en-AU" sz="2000" dirty="0"/>
              <a:t>2.      People change their views of themselves in some way. For example, developing in wisdom, personal strength and gratitude, perhaps coupled with a greater acceptance of their vulnerabilities and limitations. </a:t>
            </a:r>
          </a:p>
          <a:p>
            <a:r>
              <a:rPr lang="en-AU" sz="2000" dirty="0"/>
              <a:t>3.      People describe changes in their life philosophy. For example, finding a fresh appreciation for each new day and re-evaluating their understanding of what really matters in life, becoming less materialistic and more able to live in the </a:t>
            </a:r>
            <a:r>
              <a:rPr lang="en-AU" sz="2000" dirty="0" smtClean="0"/>
              <a:t>present</a:t>
            </a:r>
            <a:r>
              <a:rPr lang="en-AU" sz="2000" dirty="0"/>
              <a:t>.</a:t>
            </a:r>
          </a:p>
        </p:txBody>
      </p:sp>
    </p:spTree>
    <p:extLst>
      <p:ext uri="{BB962C8B-B14F-4D97-AF65-F5344CB8AC3E}">
        <p14:creationId xmlns:p14="http://schemas.microsoft.com/office/powerpoint/2010/main" val="33297111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332656"/>
            <a:ext cx="7024744" cy="1143000"/>
          </a:xfrm>
        </p:spPr>
        <p:txBody>
          <a:bodyPr>
            <a:normAutofit fontScale="90000"/>
          </a:bodyPr>
          <a:lstStyle/>
          <a:p>
            <a:r>
              <a:rPr lang="en-AU" dirty="0" smtClean="0"/>
              <a:t>Post </a:t>
            </a:r>
            <a:r>
              <a:rPr lang="en-AU" dirty="0"/>
              <a:t>T</a:t>
            </a:r>
            <a:r>
              <a:rPr lang="en-AU" dirty="0" smtClean="0"/>
              <a:t>raumatic Growth (PTG)</a:t>
            </a:r>
            <a:endParaRPr lang="en-AU" dirty="0"/>
          </a:p>
        </p:txBody>
      </p:sp>
      <p:sp>
        <p:nvSpPr>
          <p:cNvPr id="3" name="Content Placeholder 2"/>
          <p:cNvSpPr>
            <a:spLocks noGrp="1"/>
          </p:cNvSpPr>
          <p:nvPr>
            <p:ph idx="1"/>
          </p:nvPr>
        </p:nvSpPr>
        <p:spPr>
          <a:xfrm>
            <a:off x="467544" y="1772816"/>
            <a:ext cx="8280920" cy="4392488"/>
          </a:xfrm>
        </p:spPr>
        <p:txBody>
          <a:bodyPr>
            <a:noAutofit/>
          </a:bodyPr>
          <a:lstStyle/>
          <a:p>
            <a:r>
              <a:rPr lang="en-AU" dirty="0" smtClean="0"/>
              <a:t>PTG </a:t>
            </a:r>
            <a:r>
              <a:rPr lang="en-AU" dirty="0"/>
              <a:t>can occur as a result of cognitively engaging in the traumatic material, </a:t>
            </a:r>
            <a:r>
              <a:rPr lang="en-AU" dirty="0" smtClean="0"/>
              <a:t>that </a:t>
            </a:r>
            <a:r>
              <a:rPr lang="en-AU" dirty="0"/>
              <a:t>aim to change the way a person sees the impact of the experience, through disclosing about the experience by sharing (for example, talking, creating art and playing music), and having appropriate support where expression of difficulties is accepted and validated. </a:t>
            </a:r>
            <a:r>
              <a:rPr lang="en-AU" dirty="0" smtClean="0"/>
              <a:t> PTG </a:t>
            </a:r>
            <a:r>
              <a:rPr lang="en-AU" dirty="0"/>
              <a:t>involves the creation of a new narrative and in doing so creates new neural pathways.</a:t>
            </a:r>
          </a:p>
          <a:p>
            <a:pPr marL="68580" indent="0">
              <a:buNone/>
            </a:pPr>
            <a:endParaRPr lang="en-AU" sz="2000" dirty="0"/>
          </a:p>
        </p:txBody>
      </p:sp>
    </p:spTree>
    <p:extLst>
      <p:ext uri="{BB962C8B-B14F-4D97-AF65-F5344CB8AC3E}">
        <p14:creationId xmlns:p14="http://schemas.microsoft.com/office/powerpoint/2010/main" val="29522004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196752"/>
            <a:ext cx="8229600" cy="1143000"/>
          </a:xfrm>
        </p:spPr>
        <p:txBody>
          <a:bodyPr>
            <a:normAutofit fontScale="90000"/>
          </a:bodyPr>
          <a:lstStyle/>
          <a:p>
            <a:r>
              <a:rPr lang="en-AU" dirty="0" smtClean="0"/>
              <a:t>Post Traumatic Growth </a:t>
            </a:r>
            <a:r>
              <a:rPr lang="en-AU" dirty="0"/>
              <a:t>tends to occur in five general </a:t>
            </a:r>
            <a:r>
              <a:rPr lang="en-AU" dirty="0" smtClean="0"/>
              <a:t>areas</a:t>
            </a:r>
            <a:r>
              <a:rPr lang="en-AU" dirty="0"/>
              <a:t/>
            </a:r>
            <a:br>
              <a:rPr lang="en-AU" dirty="0"/>
            </a:br>
            <a:endParaRPr lang="en-AU" dirty="0"/>
          </a:p>
        </p:txBody>
      </p:sp>
      <p:sp>
        <p:nvSpPr>
          <p:cNvPr id="3" name="Content Placeholder 2"/>
          <p:cNvSpPr>
            <a:spLocks noGrp="1"/>
          </p:cNvSpPr>
          <p:nvPr>
            <p:ph idx="1"/>
          </p:nvPr>
        </p:nvSpPr>
        <p:spPr>
          <a:xfrm>
            <a:off x="827584" y="1988840"/>
            <a:ext cx="7488832" cy="4032448"/>
          </a:xfrm>
        </p:spPr>
        <p:txBody>
          <a:bodyPr>
            <a:noAutofit/>
          </a:bodyPr>
          <a:lstStyle/>
          <a:p>
            <a:pPr marL="0" indent="0">
              <a:buNone/>
            </a:pPr>
            <a:r>
              <a:rPr lang="en-AU" sz="1800" dirty="0" smtClean="0"/>
              <a:t>1</a:t>
            </a:r>
            <a:r>
              <a:rPr lang="en-AU" sz="1800" dirty="0"/>
              <a:t>.     Sometimes people who must face major life crises develop a sense that new opportunities have emerged from the struggle, opening up possibilities that were not present before. </a:t>
            </a:r>
          </a:p>
          <a:p>
            <a:pPr marL="0" indent="0">
              <a:buNone/>
            </a:pPr>
            <a:r>
              <a:rPr lang="en-AU" sz="1800" dirty="0"/>
              <a:t>2.     A second area is a change in relationships with others. Some people experience closer relationships with some specific people, and they can also experience an increased sense of connection to others who suffer. </a:t>
            </a:r>
          </a:p>
          <a:p>
            <a:pPr marL="0" indent="0">
              <a:buNone/>
            </a:pPr>
            <a:r>
              <a:rPr lang="en-AU" sz="1800" dirty="0"/>
              <a:t>3.     A third area of possible change is an increased sense of one’s own strength – “</a:t>
            </a:r>
            <a:r>
              <a:rPr lang="en-AU" sz="1800" i="1" dirty="0"/>
              <a:t>if I lived through that, I can face anything</a:t>
            </a:r>
            <a:r>
              <a:rPr lang="en-AU" sz="1800" dirty="0"/>
              <a:t>”. </a:t>
            </a:r>
          </a:p>
          <a:p>
            <a:pPr marL="0" indent="0">
              <a:buNone/>
            </a:pPr>
            <a:r>
              <a:rPr lang="en-AU" sz="1800" dirty="0"/>
              <a:t>4.     A fourth aspect of posttraumatic growth experienced by some people is a greater appreciation for life in general. </a:t>
            </a:r>
          </a:p>
          <a:p>
            <a:pPr marL="0" indent="0">
              <a:buNone/>
            </a:pPr>
            <a:r>
              <a:rPr lang="en-AU" sz="1800" dirty="0"/>
              <a:t>5.     The fifth area involves the spiritual or religious domain. Some individuals experience a deepening of their spiritual lives, </a:t>
            </a:r>
            <a:r>
              <a:rPr lang="en-AU" sz="1800" u="sng" dirty="0"/>
              <a:t>however</a:t>
            </a:r>
            <a:r>
              <a:rPr lang="en-AU" sz="1800" dirty="0"/>
              <a:t>, this deepening can also involve a significant change in one’s belief system</a:t>
            </a:r>
            <a:r>
              <a:rPr lang="en-AU" sz="1800" dirty="0" smtClean="0"/>
              <a:t>.</a:t>
            </a:r>
            <a:endParaRPr lang="en-AU" sz="1800" dirty="0"/>
          </a:p>
        </p:txBody>
      </p:sp>
    </p:spTree>
    <p:extLst>
      <p:ext uri="{BB962C8B-B14F-4D97-AF65-F5344CB8AC3E}">
        <p14:creationId xmlns:p14="http://schemas.microsoft.com/office/powerpoint/2010/main" val="256767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5616" y="404664"/>
            <a:ext cx="7024744" cy="1143000"/>
          </a:xfrm>
        </p:spPr>
        <p:txBody>
          <a:bodyPr/>
          <a:lstStyle/>
          <a:p>
            <a:r>
              <a:rPr lang="en-AU" dirty="0" smtClean="0"/>
              <a:t>Empirical Evidence</a:t>
            </a:r>
            <a:endParaRPr lang="en-AU" dirty="0"/>
          </a:p>
        </p:txBody>
      </p:sp>
      <p:sp>
        <p:nvSpPr>
          <p:cNvPr id="3" name="Content Placeholder 2"/>
          <p:cNvSpPr>
            <a:spLocks noGrp="1"/>
          </p:cNvSpPr>
          <p:nvPr>
            <p:ph idx="1"/>
          </p:nvPr>
        </p:nvSpPr>
        <p:spPr>
          <a:xfrm>
            <a:off x="899592" y="1628800"/>
            <a:ext cx="7704856" cy="4608512"/>
          </a:xfrm>
        </p:spPr>
        <p:txBody>
          <a:bodyPr>
            <a:normAutofit fontScale="92500"/>
          </a:bodyPr>
          <a:lstStyle/>
          <a:p>
            <a:r>
              <a:rPr lang="en-AU" dirty="0"/>
              <a:t>There are many examples that attest to this phenomenon in recent research and literature. For example, PTG has been reported by sexual assault survivors (Shakespeare-Finch &amp; de Dassel, 2009), combat veterans (</a:t>
            </a:r>
            <a:r>
              <a:rPr lang="en-AU" dirty="0" err="1"/>
              <a:t>Tedeschi</a:t>
            </a:r>
            <a:r>
              <a:rPr lang="en-AU" dirty="0"/>
              <a:t> &amp; McNally, 2011), students (</a:t>
            </a:r>
            <a:r>
              <a:rPr lang="en-AU" dirty="0" err="1"/>
              <a:t>Tedeschi</a:t>
            </a:r>
            <a:r>
              <a:rPr lang="en-AU" dirty="0"/>
              <a:t> &amp; Calhoun, 1996), emergency service workers (Shakespeare-Finch, </a:t>
            </a:r>
            <a:r>
              <a:rPr lang="en-AU" dirty="0" err="1"/>
              <a:t>Gow</a:t>
            </a:r>
            <a:r>
              <a:rPr lang="en-AU" dirty="0"/>
              <a:t>, &amp; Smith, 2005) and cancer survivors (</a:t>
            </a:r>
            <a:r>
              <a:rPr lang="en-AU" dirty="0" err="1"/>
              <a:t>Sliva</a:t>
            </a:r>
            <a:r>
              <a:rPr lang="en-AU" dirty="0"/>
              <a:t>, Moreira, &amp; </a:t>
            </a:r>
            <a:r>
              <a:rPr lang="en-AU" dirty="0" err="1"/>
              <a:t>Canavarro</a:t>
            </a:r>
            <a:r>
              <a:rPr lang="en-AU" dirty="0"/>
              <a:t>, 2012)</a:t>
            </a:r>
            <a:r>
              <a:rPr lang="en-AU" sz="2800" dirty="0"/>
              <a:t>. </a:t>
            </a:r>
          </a:p>
          <a:p>
            <a:r>
              <a:rPr lang="en-AU" dirty="0"/>
              <a:t>Scientific evidence of PTG has been found across many cultures (Weiss &amp; Berger, 2010) and is a more common post-trauma outcome than ongoing psychopathology</a:t>
            </a:r>
          </a:p>
        </p:txBody>
      </p:sp>
    </p:spTree>
    <p:extLst>
      <p:ext uri="{BB962C8B-B14F-4D97-AF65-F5344CB8AC3E}">
        <p14:creationId xmlns:p14="http://schemas.microsoft.com/office/powerpoint/2010/main" val="29550140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059" t="1624" b="3131"/>
          <a:stretch/>
        </p:blipFill>
        <p:spPr bwMode="auto">
          <a:xfrm>
            <a:off x="1331639" y="1052736"/>
            <a:ext cx="6609509" cy="48965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246864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584" y="476672"/>
            <a:ext cx="7560840" cy="1143000"/>
          </a:xfrm>
        </p:spPr>
        <p:txBody>
          <a:bodyPr>
            <a:normAutofit fontScale="90000"/>
          </a:bodyPr>
          <a:lstStyle/>
          <a:p>
            <a:r>
              <a:rPr lang="en-AU" dirty="0" smtClean="0"/>
              <a:t>Post Traumatic </a:t>
            </a:r>
            <a:r>
              <a:rPr lang="en-AU" dirty="0"/>
              <a:t>Growth </a:t>
            </a:r>
            <a:r>
              <a:rPr lang="en-AU" dirty="0" smtClean="0"/>
              <a:t>Inventory</a:t>
            </a:r>
            <a:endParaRPr lang="en-AU" dirty="0"/>
          </a:p>
        </p:txBody>
      </p:sp>
      <p:sp>
        <p:nvSpPr>
          <p:cNvPr id="3" name="Content Placeholder 2"/>
          <p:cNvSpPr>
            <a:spLocks noGrp="1"/>
          </p:cNvSpPr>
          <p:nvPr>
            <p:ph idx="1"/>
          </p:nvPr>
        </p:nvSpPr>
        <p:spPr>
          <a:xfrm>
            <a:off x="827584" y="1844824"/>
            <a:ext cx="7272808" cy="4464496"/>
          </a:xfrm>
        </p:spPr>
        <p:txBody>
          <a:bodyPr>
            <a:normAutofit fontScale="40000" lnSpcReduction="20000"/>
          </a:bodyPr>
          <a:lstStyle/>
          <a:p>
            <a:r>
              <a:rPr lang="en-AU" sz="4900" dirty="0" smtClean="0"/>
              <a:t>The </a:t>
            </a:r>
            <a:r>
              <a:rPr lang="en-AU" sz="4900" dirty="0"/>
              <a:t>development of the </a:t>
            </a:r>
            <a:r>
              <a:rPr lang="en-AU" sz="4900" b="1" dirty="0" smtClean="0"/>
              <a:t>Post traumatic </a:t>
            </a:r>
            <a:r>
              <a:rPr lang="en-AU" sz="4900" b="1" dirty="0"/>
              <a:t>Growth Inventory</a:t>
            </a:r>
            <a:r>
              <a:rPr lang="en-AU" sz="4900" dirty="0"/>
              <a:t>, an instrument for assessing positive outcomes reported by persons who have experienced traumatic events, is described. </a:t>
            </a:r>
          </a:p>
          <a:p>
            <a:r>
              <a:rPr lang="en-AU" sz="4900" dirty="0" smtClean="0"/>
              <a:t>This </a:t>
            </a:r>
            <a:r>
              <a:rPr lang="en-AU" sz="4900" dirty="0"/>
              <a:t>21-item scale includes factors of New Possibilities, Relating to Others, Personal Strength, Spiritual Change, and Appreciation of Life. </a:t>
            </a:r>
          </a:p>
          <a:p>
            <a:r>
              <a:rPr lang="en-AU" sz="4900" dirty="0" smtClean="0"/>
              <a:t>Women </a:t>
            </a:r>
            <a:r>
              <a:rPr lang="en-AU" sz="4900" dirty="0"/>
              <a:t>tend to report more benefits than do men, and persons who have experienced traumatic events report more positive change than do persons who have not experienced extraordinary events. </a:t>
            </a:r>
          </a:p>
          <a:p>
            <a:r>
              <a:rPr lang="en-AU" sz="4900" dirty="0" smtClean="0"/>
              <a:t>The </a:t>
            </a:r>
            <a:r>
              <a:rPr lang="en-AU" sz="4900" dirty="0"/>
              <a:t>Posttraumatic Growth Inventory is modestly related to optimism and extraversion. The scale appears to have utility in determining how successful individuals, coping with the aftermath of trauma, are in reconstructing or strengthening their perceptions of self, others, and the meaning of events.</a:t>
            </a:r>
          </a:p>
          <a:p>
            <a:endParaRPr lang="en-AU" dirty="0"/>
          </a:p>
        </p:txBody>
      </p:sp>
    </p:spTree>
    <p:extLst>
      <p:ext uri="{BB962C8B-B14F-4D97-AF65-F5344CB8AC3E}">
        <p14:creationId xmlns:p14="http://schemas.microsoft.com/office/powerpoint/2010/main" val="30022089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Examples</a:t>
            </a:r>
            <a:endParaRPr lang="en-AU"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3568" y="619720"/>
            <a:ext cx="3238500" cy="2162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8491" y="1716083"/>
            <a:ext cx="3912096" cy="22005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632" y="4077072"/>
            <a:ext cx="2232248" cy="2232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5652120" y="4149080"/>
            <a:ext cx="3456384" cy="369332"/>
          </a:xfrm>
          <a:prstGeom prst="rect">
            <a:avLst/>
          </a:prstGeom>
          <a:noFill/>
        </p:spPr>
        <p:txBody>
          <a:bodyPr wrap="square" rtlCol="0">
            <a:spAutoFit/>
          </a:bodyPr>
          <a:lstStyle/>
          <a:p>
            <a:r>
              <a:rPr lang="en-AU" dirty="0" smtClean="0"/>
              <a:t>Sophie </a:t>
            </a:r>
            <a:r>
              <a:rPr lang="en-AU" dirty="0" err="1" smtClean="0"/>
              <a:t>Delezio</a:t>
            </a:r>
            <a:endParaRPr lang="en-AU" dirty="0" smtClean="0"/>
          </a:p>
        </p:txBody>
      </p:sp>
      <p:sp>
        <p:nvSpPr>
          <p:cNvPr id="3" name="Rectangle 2"/>
          <p:cNvSpPr/>
          <p:nvPr/>
        </p:nvSpPr>
        <p:spPr>
          <a:xfrm>
            <a:off x="1907704" y="2781895"/>
            <a:ext cx="1099981" cy="369332"/>
          </a:xfrm>
          <a:prstGeom prst="rect">
            <a:avLst/>
          </a:prstGeom>
        </p:spPr>
        <p:txBody>
          <a:bodyPr wrap="none">
            <a:spAutoFit/>
          </a:bodyPr>
          <a:lstStyle/>
          <a:p>
            <a:r>
              <a:rPr lang="en-AU" dirty="0" err="1"/>
              <a:t>Turia</a:t>
            </a:r>
            <a:r>
              <a:rPr lang="en-AU" dirty="0"/>
              <a:t> Pitt</a:t>
            </a:r>
          </a:p>
        </p:txBody>
      </p:sp>
      <p:sp>
        <p:nvSpPr>
          <p:cNvPr id="5" name="Rectangle 4"/>
          <p:cNvSpPr/>
          <p:nvPr/>
        </p:nvSpPr>
        <p:spPr>
          <a:xfrm>
            <a:off x="3487738" y="4086841"/>
            <a:ext cx="1088760" cy="369332"/>
          </a:xfrm>
          <a:prstGeom prst="rect">
            <a:avLst/>
          </a:prstGeom>
        </p:spPr>
        <p:txBody>
          <a:bodyPr wrap="none">
            <a:spAutoFit/>
          </a:bodyPr>
          <a:lstStyle/>
          <a:p>
            <a:r>
              <a:rPr lang="en-AU" dirty="0" err="1"/>
              <a:t>Ahn</a:t>
            </a:r>
            <a:r>
              <a:rPr lang="en-AU" dirty="0"/>
              <a:t> Do </a:t>
            </a:r>
          </a:p>
        </p:txBody>
      </p:sp>
    </p:spTree>
    <p:extLst>
      <p:ext uri="{BB962C8B-B14F-4D97-AF65-F5344CB8AC3E}">
        <p14:creationId xmlns:p14="http://schemas.microsoft.com/office/powerpoint/2010/main" val="23888170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Research	</a:t>
            </a:r>
            <a:endParaRPr lang="en-AU" dirty="0"/>
          </a:p>
        </p:txBody>
      </p:sp>
      <p:sp>
        <p:nvSpPr>
          <p:cNvPr id="3" name="Content Placeholder 2"/>
          <p:cNvSpPr>
            <a:spLocks noGrp="1"/>
          </p:cNvSpPr>
          <p:nvPr>
            <p:ph idx="1"/>
          </p:nvPr>
        </p:nvSpPr>
        <p:spPr/>
        <p:txBody>
          <a:bodyPr>
            <a:normAutofit/>
          </a:bodyPr>
          <a:lstStyle/>
          <a:p>
            <a:r>
              <a:rPr lang="en-AU" dirty="0" smtClean="0"/>
              <a:t>Headstrong </a:t>
            </a:r>
            <a:r>
              <a:rPr lang="en-AU" dirty="0"/>
              <a:t>Project </a:t>
            </a:r>
            <a:r>
              <a:rPr lang="en-AU" dirty="0" smtClean="0">
                <a:hlinkClick r:id="rId2"/>
              </a:rPr>
              <a:t>www.getheadstrong.org</a:t>
            </a:r>
            <a:endParaRPr lang="en-AU" dirty="0" smtClean="0"/>
          </a:p>
          <a:p>
            <a:r>
              <a:rPr lang="en-AU" dirty="0" smtClean="0"/>
              <a:t>Australian Veterans on Insight</a:t>
            </a:r>
          </a:p>
          <a:p>
            <a:r>
              <a:rPr lang="en-AU" dirty="0" smtClean="0"/>
              <a:t>Why is Vanuatu the most vulnerable place in the world? </a:t>
            </a:r>
            <a:endParaRPr lang="en-AU" dirty="0"/>
          </a:p>
          <a:p>
            <a:endParaRPr lang="en-AU" dirty="0" smtClean="0"/>
          </a:p>
        </p:txBody>
      </p:sp>
    </p:spTree>
    <p:extLst>
      <p:ext uri="{BB962C8B-B14F-4D97-AF65-F5344CB8AC3E}">
        <p14:creationId xmlns:p14="http://schemas.microsoft.com/office/powerpoint/2010/main" val="27623305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More Links…</a:t>
            </a:r>
            <a:endParaRPr lang="en-AU" dirty="0"/>
          </a:p>
        </p:txBody>
      </p:sp>
      <p:sp>
        <p:nvSpPr>
          <p:cNvPr id="3" name="Content Placeholder 2"/>
          <p:cNvSpPr>
            <a:spLocks noGrp="1"/>
          </p:cNvSpPr>
          <p:nvPr>
            <p:ph idx="1"/>
          </p:nvPr>
        </p:nvSpPr>
        <p:spPr/>
        <p:txBody>
          <a:bodyPr>
            <a:normAutofit fontScale="92500" lnSpcReduction="10000"/>
          </a:bodyPr>
          <a:lstStyle/>
          <a:p>
            <a:r>
              <a:rPr lang="en-AU" dirty="0" smtClean="0"/>
              <a:t>Skidrow Stories</a:t>
            </a:r>
            <a:endParaRPr lang="en-AU" dirty="0" smtClean="0">
              <a:hlinkClick r:id="rId2"/>
            </a:endParaRPr>
          </a:p>
          <a:p>
            <a:pPr marL="68580" indent="0">
              <a:buNone/>
            </a:pPr>
            <a:r>
              <a:rPr lang="en-AU" dirty="0" smtClean="0">
                <a:hlinkClick r:id="rId2"/>
              </a:rPr>
              <a:t>http</a:t>
            </a:r>
            <a:r>
              <a:rPr lang="en-AU" dirty="0">
                <a:hlinkClick r:id="rId2"/>
              </a:rPr>
              <a:t>://skidrowstories.com/category/people-of-skid-row</a:t>
            </a:r>
            <a:r>
              <a:rPr lang="en-AU" dirty="0" smtClean="0">
                <a:hlinkClick r:id="rId2"/>
              </a:rPr>
              <a:t>/</a:t>
            </a:r>
            <a:endParaRPr lang="en-AU" dirty="0" smtClean="0"/>
          </a:p>
          <a:p>
            <a:r>
              <a:rPr lang="en-AU" dirty="0" smtClean="0"/>
              <a:t>ABC Story – What it is like to witness a shooting and live with memories of traumatic events</a:t>
            </a:r>
          </a:p>
          <a:p>
            <a:pPr marL="68580" indent="0">
              <a:buNone/>
            </a:pPr>
            <a:r>
              <a:rPr lang="en-AU" dirty="0">
                <a:hlinkClick r:id="rId3"/>
              </a:rPr>
              <a:t>http://</a:t>
            </a:r>
            <a:r>
              <a:rPr lang="en-AU" dirty="0" smtClean="0">
                <a:hlinkClick r:id="rId3"/>
              </a:rPr>
              <a:t>www.abc.net.au/news/2016-08-09/what-it's-like-to-experience-trauma-and-ptsd/7710696</a:t>
            </a:r>
            <a:endParaRPr lang="en-AU" dirty="0" smtClean="0"/>
          </a:p>
          <a:p>
            <a:pPr marL="68580" indent="0">
              <a:buNone/>
            </a:pPr>
            <a:r>
              <a:rPr lang="en-AU" dirty="0" smtClean="0"/>
              <a:t>Community Resilience</a:t>
            </a:r>
          </a:p>
          <a:p>
            <a:pPr marL="68580" indent="0">
              <a:buNone/>
            </a:pPr>
            <a:r>
              <a:rPr lang="en-AU" dirty="0">
                <a:hlinkClick r:id="rId4"/>
              </a:rPr>
              <a:t>https://</a:t>
            </a:r>
            <a:r>
              <a:rPr lang="en-AU" dirty="0" smtClean="0">
                <a:hlinkClick r:id="rId4"/>
              </a:rPr>
              <a:t>ourworld.unu.edu/en/deep-roots-of-community-resilience</a:t>
            </a:r>
            <a:endParaRPr lang="en-AU" dirty="0" smtClean="0"/>
          </a:p>
          <a:p>
            <a:pPr marL="68580" indent="0">
              <a:buNone/>
            </a:pPr>
            <a:endParaRPr lang="en-AU" dirty="0" smtClean="0"/>
          </a:p>
          <a:p>
            <a:endParaRPr lang="en-AU" dirty="0"/>
          </a:p>
        </p:txBody>
      </p:sp>
    </p:spTree>
    <p:extLst>
      <p:ext uri="{BB962C8B-B14F-4D97-AF65-F5344CB8AC3E}">
        <p14:creationId xmlns:p14="http://schemas.microsoft.com/office/powerpoint/2010/main" val="38213245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ustin">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6781</TotalTime>
  <Words>2251</Words>
  <Application>Microsoft Office PowerPoint</Application>
  <PresentationFormat>On-screen Show (4:3)</PresentationFormat>
  <Paragraphs>211</Paragraphs>
  <Slides>36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MS PGothic</vt:lpstr>
      <vt:lpstr>Century Gothic</vt:lpstr>
      <vt:lpstr>Wingdings</vt:lpstr>
      <vt:lpstr>Wingdings 2</vt:lpstr>
      <vt:lpstr>Austin</vt:lpstr>
      <vt:lpstr>Impact of Significant Events on Individuals &amp; Communities </vt:lpstr>
      <vt:lpstr>From your syllabus </vt:lpstr>
      <vt:lpstr>Significant Events</vt:lpstr>
      <vt:lpstr>PowerPoint Presentation</vt:lpstr>
      <vt:lpstr>Predictability</vt:lpstr>
      <vt:lpstr>Controllability</vt:lpstr>
      <vt:lpstr>Experience of Threat or Loss</vt:lpstr>
      <vt:lpstr>Empirical Research</vt:lpstr>
      <vt:lpstr>Resilience</vt:lpstr>
      <vt:lpstr>Examples</vt:lpstr>
      <vt:lpstr>Resilience is </vt:lpstr>
      <vt:lpstr>A Multidimensional Model of Resilience</vt:lpstr>
      <vt:lpstr>Relationship Factors</vt:lpstr>
      <vt:lpstr>Community Factors</vt:lpstr>
      <vt:lpstr>Cultural Factors</vt:lpstr>
      <vt:lpstr>Physical Ecology Factors</vt:lpstr>
      <vt:lpstr>Stress</vt:lpstr>
      <vt:lpstr>3 Types of Stress: </vt:lpstr>
      <vt:lpstr>What is a potentially traumatic event?</vt:lpstr>
      <vt:lpstr>Post Traumatic Stress Disorder (PTSD)</vt:lpstr>
      <vt:lpstr>What are the symptoms of psychological trauma?</vt:lpstr>
      <vt:lpstr>Symptoms of PTSD</vt:lpstr>
      <vt:lpstr>PTSD Specifics</vt:lpstr>
      <vt:lpstr>Risk Factors and Resilience Factors for PTSD</vt:lpstr>
      <vt:lpstr>Treatment of PTSD</vt:lpstr>
      <vt:lpstr>POST TRAUMATIC GROWTH (PTG)</vt:lpstr>
      <vt:lpstr>Post Traumatic Growth (PTG)</vt:lpstr>
      <vt:lpstr>PTG Continued</vt:lpstr>
      <vt:lpstr>Post Traumatic Growth (PTG)</vt:lpstr>
      <vt:lpstr>Post Traumatic Growth tends to occur in five general areas </vt:lpstr>
      <vt:lpstr>Empirical Evidence</vt:lpstr>
      <vt:lpstr>PowerPoint Presentation</vt:lpstr>
      <vt:lpstr>Post Traumatic Growth Inventory</vt:lpstr>
      <vt:lpstr>Examples</vt:lpstr>
      <vt:lpstr>Research </vt:lpstr>
      <vt:lpstr>More Links…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Impact of Significant Events on Individuals &amp; Communities</dc:title>
  <dc:creator>Kaye Hughes</dc:creator>
  <cp:lastModifiedBy>EDWARDS Natalie [Narrogin Senior High School]</cp:lastModifiedBy>
  <cp:revision>31</cp:revision>
  <dcterms:created xsi:type="dcterms:W3CDTF">2016-08-28T05:10:08Z</dcterms:created>
  <dcterms:modified xsi:type="dcterms:W3CDTF">2021-08-16T02:13:23Z</dcterms:modified>
</cp:coreProperties>
</file>
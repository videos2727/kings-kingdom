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A9F702D-F07E-4CFA-8805-66250B4CEAEE}" type="datetimeFigureOut">
              <a:rPr lang="en-AU" smtClean="0"/>
              <a:t>3/12/2015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2024073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A9F702D-F07E-4CFA-8805-66250B4CEAEE}" type="datetimeFigureOut">
              <a:rPr lang="en-AU" smtClean="0"/>
              <a:t>3/12/2015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4260123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9F702D-F07E-4CFA-8805-66250B4CEAEE}" type="datetimeFigureOut">
              <a:rPr lang="en-AU" smtClean="0"/>
              <a:t>3/12/2015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1717587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A9F702D-F07E-4CFA-8805-66250B4CEAEE}" type="datetimeFigureOut">
              <a:rPr lang="en-AU" smtClean="0"/>
              <a:t>3/12/2015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3794563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A9F702D-F07E-4CFA-8805-66250B4CEAEE}" type="datetimeFigureOut">
              <a:rPr lang="en-AU" smtClean="0"/>
              <a:t>3/12/2015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244001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A9F702D-F07E-4CFA-8805-66250B4CEAEE}" type="datetimeFigureOut">
              <a:rPr lang="en-AU" smtClean="0"/>
              <a:t>3/12/2015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220078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9F702D-F07E-4CFA-8805-66250B4CEAEE}" type="datetimeFigureOut">
              <a:rPr lang="en-AU" smtClean="0"/>
              <a:t>3/12/2015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3276226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9F702D-F07E-4CFA-8805-66250B4CEAEE}" type="datetimeFigureOut">
              <a:rPr lang="en-AU" smtClean="0"/>
              <a:t>3/12/2015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2666137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9F702D-F07E-4CFA-8805-66250B4CEAEE}" type="datetimeFigureOut">
              <a:rPr lang="en-AU" smtClean="0"/>
              <a:t>3/12/2015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1823882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A9F702D-F07E-4CFA-8805-66250B4CEAEE}" type="datetimeFigureOut">
              <a:rPr lang="en-AU" smtClean="0"/>
              <a:t>3/12/2015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3276417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A9F702D-F07E-4CFA-8805-66250B4CEAEE}" type="datetimeFigureOut">
              <a:rPr lang="en-AU" smtClean="0"/>
              <a:t>3/12/2015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3107000-5767-4C6B-B367-FD611D6F7DB4}" type="slidenum">
              <a:rPr lang="en-AU" smtClean="0"/>
              <a:t>‹#›</a:t>
            </a:fld>
            <a:endParaRPr lang="en-AU"/>
          </a:p>
        </p:txBody>
      </p:sp>
    </p:spTree>
    <p:extLst>
      <p:ext uri="{BB962C8B-B14F-4D97-AF65-F5344CB8AC3E}">
        <p14:creationId xmlns:p14="http://schemas.microsoft.com/office/powerpoint/2010/main" val="797402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9F702D-F07E-4CFA-8805-66250B4CEAEE}" type="datetimeFigureOut">
              <a:rPr lang="en-AU" smtClean="0"/>
              <a:t>3/12/2015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107000-5767-4C6B-B367-FD611D6F7DB4}" type="slidenum">
              <a:rPr lang="en-AU" smtClean="0"/>
              <a:t>‹#›</a:t>
            </a:fld>
            <a:endParaRPr lang="en-AU"/>
          </a:p>
        </p:txBody>
      </p:sp>
    </p:spTree>
    <p:extLst>
      <p:ext uri="{BB962C8B-B14F-4D97-AF65-F5344CB8AC3E}">
        <p14:creationId xmlns:p14="http://schemas.microsoft.com/office/powerpoint/2010/main" val="1349240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99392"/>
            <a:ext cx="8064896" cy="2088232"/>
            <a:chOff x="0" y="0"/>
            <a:chExt cx="7248525" cy="1628775"/>
          </a:xfrm>
        </p:grpSpPr>
        <p:pic>
          <p:nvPicPr>
            <p:cNvPr id="3" name="Picture 2" descr="http://img.lapseshot.com/images/wallstics.com/media/catalog/product/cache/1/thumbnail/9df78eab33525d08d6e5fb8d27136e95/w/s/ws035-skyline_new_york-sv.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1850" y="381000"/>
              <a:ext cx="3876675" cy="1247775"/>
            </a:xfrm>
            <a:prstGeom prst="rect">
              <a:avLst/>
            </a:prstGeom>
            <a:noFill/>
            <a:ln>
              <a:noFill/>
            </a:ln>
          </p:spPr>
        </p:pic>
        <p:pic>
          <p:nvPicPr>
            <p:cNvPr id="4" name="Picture 3" descr="http://www.wandtattoo.de/images/product_images/original_images/2362_4-skyline-wandtattoo-berlin.png"/>
            <p:cNvPicPr>
              <a:picLocks noChangeAspect="1"/>
            </p:cNvPicPr>
            <p:nvPr/>
          </p:nvPicPr>
          <p:blipFill rotWithShape="1">
            <a:blip r:embed="rId3">
              <a:extLst>
                <a:ext uri="{28A0092B-C50C-407E-A947-70E740481C1C}">
                  <a14:useLocalDpi xmlns:a14="http://schemas.microsoft.com/office/drawing/2010/main" val="0"/>
                </a:ext>
              </a:extLst>
            </a:blip>
            <a:srcRect t="22000" r="2525" b="23000"/>
            <a:stretch/>
          </p:blipFill>
          <p:spPr bwMode="auto">
            <a:xfrm>
              <a:off x="0" y="0"/>
              <a:ext cx="3848100" cy="1628775"/>
            </a:xfrm>
            <a:prstGeom prst="rect">
              <a:avLst/>
            </a:prstGeom>
            <a:noFill/>
            <a:ln>
              <a:noFill/>
            </a:ln>
            <a:extLst>
              <a:ext uri="{53640926-AAD7-44D8-BBD7-CCE9431645EC}">
                <a14:shadowObscured xmlns:a14="http://schemas.microsoft.com/office/drawing/2010/main"/>
              </a:ext>
            </a:extLst>
          </p:spPr>
        </p:pic>
      </p:grpSp>
      <p:sp>
        <p:nvSpPr>
          <p:cNvPr id="5" name="Rectangle 4"/>
          <p:cNvSpPr/>
          <p:nvPr/>
        </p:nvSpPr>
        <p:spPr>
          <a:xfrm>
            <a:off x="2286000" y="2551837"/>
            <a:ext cx="4572000" cy="2308324"/>
          </a:xfrm>
          <a:prstGeom prst="rect">
            <a:avLst/>
          </a:prstGeom>
        </p:spPr>
        <p:txBody>
          <a:bodyPr>
            <a:spAutoFit/>
          </a:bodyPr>
          <a:lstStyle/>
          <a:p>
            <a:pPr algn="ctr"/>
            <a:r>
              <a:rPr lang="en-AU" sz="2400" b="1" dirty="0"/>
              <a:t>Pack your bags</a:t>
            </a:r>
            <a:endParaRPr lang="en-AU" sz="2400" dirty="0"/>
          </a:p>
          <a:p>
            <a:pPr lvl="0" algn="ctr"/>
            <a:r>
              <a:rPr lang="en-AU" sz="2400" dirty="0"/>
              <a:t>Read the scenario. It gives you information about who you are and the question to answer.</a:t>
            </a:r>
          </a:p>
          <a:p>
            <a:pPr lvl="0" algn="ctr"/>
            <a:r>
              <a:rPr lang="en-AU" sz="2400" dirty="0"/>
              <a:t>Use the geographical inquiry process to complete steps 2-4.</a:t>
            </a:r>
          </a:p>
        </p:txBody>
      </p:sp>
    </p:spTree>
    <p:extLst>
      <p:ext uri="{BB962C8B-B14F-4D97-AF65-F5344CB8AC3E}">
        <p14:creationId xmlns:p14="http://schemas.microsoft.com/office/powerpoint/2010/main" val="2362206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99392"/>
            <a:ext cx="8064896" cy="2088232"/>
            <a:chOff x="0" y="0"/>
            <a:chExt cx="7248525" cy="1628775"/>
          </a:xfrm>
        </p:grpSpPr>
        <p:pic>
          <p:nvPicPr>
            <p:cNvPr id="3" name="Picture 2" descr="http://img.lapseshot.com/images/wallstics.com/media/catalog/product/cache/1/thumbnail/9df78eab33525d08d6e5fb8d27136e95/w/s/ws035-skyline_new_york-sv.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1850" y="381000"/>
              <a:ext cx="3876675" cy="1247775"/>
            </a:xfrm>
            <a:prstGeom prst="rect">
              <a:avLst/>
            </a:prstGeom>
            <a:noFill/>
            <a:ln>
              <a:noFill/>
            </a:ln>
          </p:spPr>
        </p:pic>
        <p:pic>
          <p:nvPicPr>
            <p:cNvPr id="4" name="Picture 3" descr="http://www.wandtattoo.de/images/product_images/original_images/2362_4-skyline-wandtattoo-berlin.png"/>
            <p:cNvPicPr>
              <a:picLocks noChangeAspect="1"/>
            </p:cNvPicPr>
            <p:nvPr/>
          </p:nvPicPr>
          <p:blipFill rotWithShape="1">
            <a:blip r:embed="rId3">
              <a:extLst>
                <a:ext uri="{28A0092B-C50C-407E-A947-70E740481C1C}">
                  <a14:useLocalDpi xmlns:a14="http://schemas.microsoft.com/office/drawing/2010/main" val="0"/>
                </a:ext>
              </a:extLst>
            </a:blip>
            <a:srcRect t="22000" r="2525" b="23000"/>
            <a:stretch/>
          </p:blipFill>
          <p:spPr bwMode="auto">
            <a:xfrm>
              <a:off x="0" y="0"/>
              <a:ext cx="3848100" cy="1628775"/>
            </a:xfrm>
            <a:prstGeom prst="rect">
              <a:avLst/>
            </a:prstGeom>
            <a:noFill/>
            <a:ln>
              <a:noFill/>
            </a:ln>
            <a:extLst>
              <a:ext uri="{53640926-AAD7-44D8-BBD7-CCE9431645EC}">
                <a14:shadowObscured xmlns:a14="http://schemas.microsoft.com/office/drawing/2010/main"/>
              </a:ext>
            </a:extLst>
          </p:spPr>
        </p:pic>
      </p:grpSp>
      <p:sp>
        <p:nvSpPr>
          <p:cNvPr id="6" name="Rectangle 5"/>
          <p:cNvSpPr/>
          <p:nvPr/>
        </p:nvSpPr>
        <p:spPr>
          <a:xfrm>
            <a:off x="1187624" y="2551837"/>
            <a:ext cx="6768752" cy="2308324"/>
          </a:xfrm>
          <a:prstGeom prst="rect">
            <a:avLst/>
          </a:prstGeom>
        </p:spPr>
        <p:txBody>
          <a:bodyPr wrap="square">
            <a:spAutoFit/>
          </a:bodyPr>
          <a:lstStyle/>
          <a:p>
            <a:r>
              <a:rPr lang="en-AU" sz="2400" b="1" dirty="0"/>
              <a:t>Scenario:</a:t>
            </a:r>
            <a:endParaRPr lang="en-AU" sz="2400" dirty="0"/>
          </a:p>
          <a:p>
            <a:r>
              <a:rPr lang="en-AU" sz="2400" dirty="0"/>
              <a:t>You cannot believe your luck. You work for a company with overseas branches in New York and Berlin. They are offering you a two-year contract overseas. You get to choose which of these cities you want to live in.</a:t>
            </a:r>
          </a:p>
        </p:txBody>
      </p:sp>
    </p:spTree>
    <p:extLst>
      <p:ext uri="{BB962C8B-B14F-4D97-AF65-F5344CB8AC3E}">
        <p14:creationId xmlns:p14="http://schemas.microsoft.com/office/powerpoint/2010/main" val="2534619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99392"/>
            <a:ext cx="8064896" cy="2088232"/>
            <a:chOff x="0" y="0"/>
            <a:chExt cx="7248525" cy="1628775"/>
          </a:xfrm>
        </p:grpSpPr>
        <p:pic>
          <p:nvPicPr>
            <p:cNvPr id="3" name="Picture 2" descr="http://img.lapseshot.com/images/wallstics.com/media/catalog/product/cache/1/thumbnail/9df78eab33525d08d6e5fb8d27136e95/w/s/ws035-skyline_new_york-sv.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1850" y="381000"/>
              <a:ext cx="3876675" cy="1247775"/>
            </a:xfrm>
            <a:prstGeom prst="rect">
              <a:avLst/>
            </a:prstGeom>
            <a:noFill/>
            <a:ln>
              <a:noFill/>
            </a:ln>
          </p:spPr>
        </p:pic>
        <p:pic>
          <p:nvPicPr>
            <p:cNvPr id="4" name="Picture 3" descr="http://www.wandtattoo.de/images/product_images/original_images/2362_4-skyline-wandtattoo-berlin.png"/>
            <p:cNvPicPr>
              <a:picLocks noChangeAspect="1"/>
            </p:cNvPicPr>
            <p:nvPr/>
          </p:nvPicPr>
          <p:blipFill rotWithShape="1">
            <a:blip r:embed="rId3">
              <a:extLst>
                <a:ext uri="{28A0092B-C50C-407E-A947-70E740481C1C}">
                  <a14:useLocalDpi xmlns:a14="http://schemas.microsoft.com/office/drawing/2010/main" val="0"/>
                </a:ext>
              </a:extLst>
            </a:blip>
            <a:srcRect t="22000" r="2525" b="23000"/>
            <a:stretch/>
          </p:blipFill>
          <p:spPr bwMode="auto">
            <a:xfrm>
              <a:off x="0" y="0"/>
              <a:ext cx="3848100" cy="1628775"/>
            </a:xfrm>
            <a:prstGeom prst="rect">
              <a:avLst/>
            </a:prstGeom>
            <a:noFill/>
            <a:ln>
              <a:noFill/>
            </a:ln>
            <a:extLst>
              <a:ext uri="{53640926-AAD7-44D8-BBD7-CCE9431645EC}">
                <a14:shadowObscured xmlns:a14="http://schemas.microsoft.com/office/drawing/2010/main"/>
              </a:ext>
            </a:extLst>
          </p:spPr>
        </p:pic>
      </p:grpSp>
      <p:sp>
        <p:nvSpPr>
          <p:cNvPr id="6" name="Rectangle 5"/>
          <p:cNvSpPr/>
          <p:nvPr/>
        </p:nvSpPr>
        <p:spPr>
          <a:xfrm>
            <a:off x="66008" y="1844824"/>
            <a:ext cx="9064603" cy="4524315"/>
          </a:xfrm>
          <a:prstGeom prst="rect">
            <a:avLst/>
          </a:prstGeom>
        </p:spPr>
        <p:txBody>
          <a:bodyPr wrap="square">
            <a:spAutoFit/>
          </a:bodyPr>
          <a:lstStyle/>
          <a:p>
            <a:r>
              <a:rPr lang="en-AU" sz="2400" b="1" dirty="0"/>
              <a:t>About you:</a:t>
            </a:r>
            <a:endParaRPr lang="en-AU" sz="2400" dirty="0"/>
          </a:p>
          <a:p>
            <a:r>
              <a:rPr lang="en-AU" sz="2400" i="1" dirty="0"/>
              <a:t>Single and 25 years old, you have never travelled overseas. You like open spaces, outdoor activities and sport. In Australia you do a lot of water sports, soccer and cycling. You have always wanted to visit the “Big Apple” but love the idea of skiing in Europe, and you like cold climates. You want to do a lot of travelling to visit as many countries as you can. The company pays you well for your age but you will have to be careful with your spending. You love history and geography, so visiting museums, historical sites and interesting places is important to you. You only speak English but learnt a bit of German at school. The company will fly you to your destination and home again at the end of your contract. You have seven days to make a decision.</a:t>
            </a:r>
            <a:endParaRPr lang="en-AU" sz="2400" dirty="0"/>
          </a:p>
        </p:txBody>
      </p:sp>
    </p:spTree>
    <p:extLst>
      <p:ext uri="{BB962C8B-B14F-4D97-AF65-F5344CB8AC3E}">
        <p14:creationId xmlns:p14="http://schemas.microsoft.com/office/powerpoint/2010/main" val="4010706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99392"/>
            <a:ext cx="8064896" cy="2088232"/>
            <a:chOff x="0" y="0"/>
            <a:chExt cx="7248525" cy="1628775"/>
          </a:xfrm>
        </p:grpSpPr>
        <p:pic>
          <p:nvPicPr>
            <p:cNvPr id="3" name="Picture 2" descr="http://img.lapseshot.com/images/wallstics.com/media/catalog/product/cache/1/thumbnail/9df78eab33525d08d6e5fb8d27136e95/w/s/ws035-skyline_new_york-sv.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1850" y="381000"/>
              <a:ext cx="3876675" cy="1247775"/>
            </a:xfrm>
            <a:prstGeom prst="rect">
              <a:avLst/>
            </a:prstGeom>
            <a:noFill/>
            <a:ln>
              <a:noFill/>
            </a:ln>
          </p:spPr>
        </p:pic>
        <p:pic>
          <p:nvPicPr>
            <p:cNvPr id="4" name="Picture 3" descr="http://www.wandtattoo.de/images/product_images/original_images/2362_4-skyline-wandtattoo-berlin.png"/>
            <p:cNvPicPr>
              <a:picLocks noChangeAspect="1"/>
            </p:cNvPicPr>
            <p:nvPr/>
          </p:nvPicPr>
          <p:blipFill rotWithShape="1">
            <a:blip r:embed="rId3">
              <a:extLst>
                <a:ext uri="{28A0092B-C50C-407E-A947-70E740481C1C}">
                  <a14:useLocalDpi xmlns:a14="http://schemas.microsoft.com/office/drawing/2010/main" val="0"/>
                </a:ext>
              </a:extLst>
            </a:blip>
            <a:srcRect t="22000" r="2525" b="23000"/>
            <a:stretch/>
          </p:blipFill>
          <p:spPr bwMode="auto">
            <a:xfrm>
              <a:off x="0" y="0"/>
              <a:ext cx="3848100" cy="1628775"/>
            </a:xfrm>
            <a:prstGeom prst="rect">
              <a:avLst/>
            </a:prstGeom>
            <a:noFill/>
            <a:ln>
              <a:noFill/>
            </a:ln>
            <a:extLst>
              <a:ext uri="{53640926-AAD7-44D8-BBD7-CCE9431645EC}">
                <a14:shadowObscured xmlns:a14="http://schemas.microsoft.com/office/drawing/2010/main"/>
              </a:ext>
            </a:extLst>
          </p:spPr>
        </p:pic>
      </p:grpSp>
      <p:sp>
        <p:nvSpPr>
          <p:cNvPr id="6" name="Rectangle 5"/>
          <p:cNvSpPr/>
          <p:nvPr/>
        </p:nvSpPr>
        <p:spPr>
          <a:xfrm>
            <a:off x="251520" y="2204864"/>
            <a:ext cx="8466432" cy="3888432"/>
          </a:xfrm>
          <a:prstGeom prst="rect">
            <a:avLst/>
          </a:prstGeom>
        </p:spPr>
        <p:txBody>
          <a:bodyPr wrap="square">
            <a:spAutoFit/>
          </a:bodyPr>
          <a:lstStyle/>
          <a:p>
            <a:r>
              <a:rPr lang="en-AU" sz="2400" b="1" dirty="0"/>
              <a:t>Step 2 – Collecting, recording, evaluating and representing data.</a:t>
            </a:r>
            <a:endParaRPr lang="en-AU" sz="2400" dirty="0"/>
          </a:p>
          <a:p>
            <a:r>
              <a:rPr lang="en-AU" sz="2400" dirty="0"/>
              <a:t>Investigate New York and Berlin using the information provided and research on the internet. You could look up official tourist sites, info graphics and blogs from Australians living there. You need information on </a:t>
            </a:r>
            <a:r>
              <a:rPr lang="en-AU" sz="2400" b="1" dirty="0"/>
              <a:t>location (including neighbouring countries and distance from Australia), climate, transportation, cost of living (affordability), language, entertainment, recreation, places of interest to visit (cultural and natural environments).</a:t>
            </a:r>
            <a:endParaRPr lang="en-AU" sz="2400" dirty="0"/>
          </a:p>
          <a:p>
            <a:r>
              <a:rPr lang="en-AU" sz="2400" dirty="0"/>
              <a:t>Put your information into a table as you collect it. Think about which liveability criteria are most important to you.</a:t>
            </a:r>
          </a:p>
        </p:txBody>
      </p:sp>
    </p:spTree>
    <p:extLst>
      <p:ext uri="{BB962C8B-B14F-4D97-AF65-F5344CB8AC3E}">
        <p14:creationId xmlns:p14="http://schemas.microsoft.com/office/powerpoint/2010/main" val="1867512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99392"/>
            <a:ext cx="8064896" cy="2088232"/>
            <a:chOff x="0" y="0"/>
            <a:chExt cx="7248525" cy="1628775"/>
          </a:xfrm>
        </p:grpSpPr>
        <p:pic>
          <p:nvPicPr>
            <p:cNvPr id="3" name="Picture 2" descr="http://img.lapseshot.com/images/wallstics.com/media/catalog/product/cache/1/thumbnail/9df78eab33525d08d6e5fb8d27136e95/w/s/ws035-skyline_new_york-sv.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1850" y="381000"/>
              <a:ext cx="3876675" cy="1247775"/>
            </a:xfrm>
            <a:prstGeom prst="rect">
              <a:avLst/>
            </a:prstGeom>
            <a:noFill/>
            <a:ln>
              <a:noFill/>
            </a:ln>
          </p:spPr>
        </p:pic>
        <p:pic>
          <p:nvPicPr>
            <p:cNvPr id="4" name="Picture 3" descr="http://www.wandtattoo.de/images/product_images/original_images/2362_4-skyline-wandtattoo-berlin.png"/>
            <p:cNvPicPr>
              <a:picLocks noChangeAspect="1"/>
            </p:cNvPicPr>
            <p:nvPr/>
          </p:nvPicPr>
          <p:blipFill rotWithShape="1">
            <a:blip r:embed="rId3">
              <a:extLst>
                <a:ext uri="{28A0092B-C50C-407E-A947-70E740481C1C}">
                  <a14:useLocalDpi xmlns:a14="http://schemas.microsoft.com/office/drawing/2010/main" val="0"/>
                </a:ext>
              </a:extLst>
            </a:blip>
            <a:srcRect t="22000" r="2525" b="23000"/>
            <a:stretch/>
          </p:blipFill>
          <p:spPr bwMode="auto">
            <a:xfrm>
              <a:off x="0" y="0"/>
              <a:ext cx="3848100" cy="1628775"/>
            </a:xfrm>
            <a:prstGeom prst="rect">
              <a:avLst/>
            </a:prstGeom>
            <a:noFill/>
            <a:ln>
              <a:noFill/>
            </a:ln>
            <a:extLst>
              <a:ext uri="{53640926-AAD7-44D8-BBD7-CCE9431645EC}">
                <a14:shadowObscured xmlns:a14="http://schemas.microsoft.com/office/drawing/2010/main"/>
              </a:ext>
            </a:extLst>
          </p:spPr>
        </p:pic>
      </p:grpSp>
      <p:sp>
        <p:nvSpPr>
          <p:cNvPr id="6" name="Rectangle 5"/>
          <p:cNvSpPr/>
          <p:nvPr/>
        </p:nvSpPr>
        <p:spPr>
          <a:xfrm>
            <a:off x="251520" y="2204864"/>
            <a:ext cx="8466432" cy="2677656"/>
          </a:xfrm>
          <a:prstGeom prst="rect">
            <a:avLst/>
          </a:prstGeom>
        </p:spPr>
        <p:txBody>
          <a:bodyPr wrap="square">
            <a:spAutoFit/>
          </a:bodyPr>
          <a:lstStyle/>
          <a:p>
            <a:r>
              <a:rPr lang="en-AU" sz="2400" b="1" dirty="0"/>
              <a:t>Step 3 – Analyse</a:t>
            </a:r>
            <a:endParaRPr lang="en-AU" sz="2400" dirty="0"/>
          </a:p>
          <a:p>
            <a:r>
              <a:rPr lang="en-AU" sz="2400" dirty="0"/>
              <a:t>You should do a SWOT analysis for each location before making your decision. Divide a page into four sections. Label them Strengths, Weaknesses, Opportunities, and Threats.</a:t>
            </a:r>
          </a:p>
          <a:p>
            <a:r>
              <a:rPr lang="en-AU" sz="2400" dirty="0"/>
              <a:t>Draw a conclusion about which place best suits your needs. Which place is most liveable for you? Make your decision.</a:t>
            </a:r>
          </a:p>
          <a:p>
            <a:endParaRPr lang="en-AU" sz="2400" dirty="0"/>
          </a:p>
        </p:txBody>
      </p:sp>
    </p:spTree>
    <p:extLst>
      <p:ext uri="{BB962C8B-B14F-4D97-AF65-F5344CB8AC3E}">
        <p14:creationId xmlns:p14="http://schemas.microsoft.com/office/powerpoint/2010/main" val="168569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99392"/>
            <a:ext cx="8064896" cy="2088232"/>
            <a:chOff x="0" y="0"/>
            <a:chExt cx="7248525" cy="1628775"/>
          </a:xfrm>
        </p:grpSpPr>
        <p:pic>
          <p:nvPicPr>
            <p:cNvPr id="3" name="Picture 2" descr="http://img.lapseshot.com/images/wallstics.com/media/catalog/product/cache/1/thumbnail/9df78eab33525d08d6e5fb8d27136e95/w/s/ws035-skyline_new_york-sv.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1850" y="381000"/>
              <a:ext cx="3876675" cy="1247775"/>
            </a:xfrm>
            <a:prstGeom prst="rect">
              <a:avLst/>
            </a:prstGeom>
            <a:noFill/>
            <a:ln>
              <a:noFill/>
            </a:ln>
          </p:spPr>
        </p:pic>
        <p:pic>
          <p:nvPicPr>
            <p:cNvPr id="4" name="Picture 3" descr="http://www.wandtattoo.de/images/product_images/original_images/2362_4-skyline-wandtattoo-berlin.png"/>
            <p:cNvPicPr>
              <a:picLocks noChangeAspect="1"/>
            </p:cNvPicPr>
            <p:nvPr/>
          </p:nvPicPr>
          <p:blipFill rotWithShape="1">
            <a:blip r:embed="rId3">
              <a:extLst>
                <a:ext uri="{28A0092B-C50C-407E-A947-70E740481C1C}">
                  <a14:useLocalDpi xmlns:a14="http://schemas.microsoft.com/office/drawing/2010/main" val="0"/>
                </a:ext>
              </a:extLst>
            </a:blip>
            <a:srcRect t="22000" r="2525" b="23000"/>
            <a:stretch/>
          </p:blipFill>
          <p:spPr bwMode="auto">
            <a:xfrm>
              <a:off x="0" y="0"/>
              <a:ext cx="3848100" cy="1628775"/>
            </a:xfrm>
            <a:prstGeom prst="rect">
              <a:avLst/>
            </a:prstGeom>
            <a:noFill/>
            <a:ln>
              <a:noFill/>
            </a:ln>
            <a:extLst>
              <a:ext uri="{53640926-AAD7-44D8-BBD7-CCE9431645EC}">
                <a14:shadowObscured xmlns:a14="http://schemas.microsoft.com/office/drawing/2010/main"/>
              </a:ext>
            </a:extLst>
          </p:spPr>
        </p:pic>
      </p:grpSp>
      <p:sp>
        <p:nvSpPr>
          <p:cNvPr id="6" name="Rectangle 5"/>
          <p:cNvSpPr/>
          <p:nvPr/>
        </p:nvSpPr>
        <p:spPr>
          <a:xfrm>
            <a:off x="251520" y="2204864"/>
            <a:ext cx="8466432" cy="3785652"/>
          </a:xfrm>
          <a:prstGeom prst="rect">
            <a:avLst/>
          </a:prstGeom>
        </p:spPr>
        <p:txBody>
          <a:bodyPr wrap="square">
            <a:spAutoFit/>
          </a:bodyPr>
          <a:lstStyle/>
          <a:p>
            <a:r>
              <a:rPr lang="en-AU" sz="2400" b="1" dirty="0"/>
              <a:t>Step 4 – Communicate</a:t>
            </a:r>
            <a:endParaRPr lang="en-AU" sz="2400" dirty="0"/>
          </a:p>
          <a:p>
            <a:r>
              <a:rPr lang="en-AU" sz="2400" dirty="0"/>
              <a:t>To help the next person from your company facing the same choice, present your judgement about the liveability of New York and Berlin using ICT tools such as;</a:t>
            </a:r>
          </a:p>
          <a:p>
            <a:pPr lvl="0"/>
            <a:r>
              <a:rPr lang="en-AU" sz="2400" dirty="0"/>
              <a:t>PowerPoint</a:t>
            </a:r>
          </a:p>
          <a:p>
            <a:pPr lvl="0"/>
            <a:r>
              <a:rPr lang="en-AU" sz="2400" dirty="0"/>
              <a:t>Poster</a:t>
            </a:r>
          </a:p>
          <a:p>
            <a:pPr lvl="0"/>
            <a:r>
              <a:rPr lang="en-AU" sz="2400" dirty="0"/>
              <a:t>Info graphic</a:t>
            </a:r>
          </a:p>
          <a:p>
            <a:pPr lvl="0"/>
            <a:r>
              <a:rPr lang="en-AU" sz="2400" dirty="0"/>
              <a:t>A report for a travel magazine with text, graphics, pictures and using a publishing template. </a:t>
            </a:r>
          </a:p>
          <a:p>
            <a:endParaRPr lang="en-AU" sz="2400" dirty="0"/>
          </a:p>
        </p:txBody>
      </p:sp>
    </p:spTree>
    <p:extLst>
      <p:ext uri="{BB962C8B-B14F-4D97-AF65-F5344CB8AC3E}">
        <p14:creationId xmlns:p14="http://schemas.microsoft.com/office/powerpoint/2010/main" val="3954315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http://www.telegraph.co.uk/travel/destination/article128328.ece/ALTERNATES/w620/berlin.jpg"/>
          <p:cNvPicPr/>
          <p:nvPr/>
        </p:nvPicPr>
        <p:blipFill>
          <a:blip r:embed="rId2">
            <a:extLst>
              <a:ext uri="{28A0092B-C50C-407E-A947-70E740481C1C}">
                <a14:useLocalDpi xmlns:a14="http://schemas.microsoft.com/office/drawing/2010/main" val="0"/>
              </a:ext>
            </a:extLst>
          </a:blip>
          <a:srcRect/>
          <a:stretch>
            <a:fillRect/>
          </a:stretch>
        </p:blipFill>
        <p:spPr bwMode="auto">
          <a:xfrm>
            <a:off x="611560" y="692696"/>
            <a:ext cx="7963758" cy="4464496"/>
          </a:xfrm>
          <a:prstGeom prst="rect">
            <a:avLst/>
          </a:prstGeom>
          <a:noFill/>
          <a:ln>
            <a:noFill/>
          </a:ln>
        </p:spPr>
      </p:pic>
    </p:spTree>
    <p:extLst>
      <p:ext uri="{BB962C8B-B14F-4D97-AF65-F5344CB8AC3E}">
        <p14:creationId xmlns:p14="http://schemas.microsoft.com/office/powerpoint/2010/main" val="2281017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cdn1.getyourguide.com/niwziy2l9cvz/3Nl5nGC5fq2CQ0O42awIwq/0cff0ba6cc53c2e0f9c153e820fcc8d0/berlin-Brandenburg-Gate-1112x630.jpg"/>
          <p:cNvPicPr/>
          <p:nvPr/>
        </p:nvPicPr>
        <p:blipFill>
          <a:blip r:embed="rId2">
            <a:extLst>
              <a:ext uri="{28A0092B-C50C-407E-A947-70E740481C1C}">
                <a14:useLocalDpi xmlns:a14="http://schemas.microsoft.com/office/drawing/2010/main" val="0"/>
              </a:ext>
            </a:extLst>
          </a:blip>
          <a:srcRect/>
          <a:stretch>
            <a:fillRect/>
          </a:stretch>
        </p:blipFill>
        <p:spPr bwMode="auto">
          <a:xfrm>
            <a:off x="395536" y="764704"/>
            <a:ext cx="8064896" cy="5040560"/>
          </a:xfrm>
          <a:prstGeom prst="rect">
            <a:avLst/>
          </a:prstGeom>
          <a:noFill/>
          <a:ln>
            <a:noFill/>
          </a:ln>
        </p:spPr>
      </p:pic>
    </p:spTree>
    <p:extLst>
      <p:ext uri="{BB962C8B-B14F-4D97-AF65-F5344CB8AC3E}">
        <p14:creationId xmlns:p14="http://schemas.microsoft.com/office/powerpoint/2010/main" val="4015343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www.placetobe.info/wp-content/uploads/2013/10/friedrichstrasse1.jpg"/>
          <p:cNvPicPr/>
          <p:nvPr/>
        </p:nvPicPr>
        <p:blipFill>
          <a:blip r:embed="rId2">
            <a:extLst>
              <a:ext uri="{28A0092B-C50C-407E-A947-70E740481C1C}">
                <a14:useLocalDpi xmlns:a14="http://schemas.microsoft.com/office/drawing/2010/main" val="0"/>
              </a:ext>
            </a:extLst>
          </a:blip>
          <a:srcRect/>
          <a:stretch>
            <a:fillRect/>
          </a:stretch>
        </p:blipFill>
        <p:spPr bwMode="auto">
          <a:xfrm>
            <a:off x="395536" y="620688"/>
            <a:ext cx="8208912" cy="5472607"/>
          </a:xfrm>
          <a:prstGeom prst="rect">
            <a:avLst/>
          </a:prstGeom>
          <a:noFill/>
          <a:ln>
            <a:noFill/>
          </a:ln>
        </p:spPr>
      </p:pic>
    </p:spTree>
    <p:extLst>
      <p:ext uri="{BB962C8B-B14F-4D97-AF65-F5344CB8AC3E}">
        <p14:creationId xmlns:p14="http://schemas.microsoft.com/office/powerpoint/2010/main" val="4257330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www.tropical-islands.de/fileadmin/_processed_/csm_TI_LAGOON6_RGB_198983df54.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476672"/>
            <a:ext cx="8208912" cy="5328592"/>
          </a:xfrm>
          <a:prstGeom prst="rect">
            <a:avLst/>
          </a:prstGeom>
          <a:noFill/>
          <a:ln>
            <a:noFill/>
          </a:ln>
        </p:spPr>
      </p:pic>
      <p:sp>
        <p:nvSpPr>
          <p:cNvPr id="3" name="TextBox 2"/>
          <p:cNvSpPr txBox="1"/>
          <p:nvPr/>
        </p:nvSpPr>
        <p:spPr>
          <a:xfrm>
            <a:off x="431540" y="5805264"/>
            <a:ext cx="8136904" cy="923330"/>
          </a:xfrm>
          <a:prstGeom prst="rect">
            <a:avLst/>
          </a:prstGeom>
          <a:noFill/>
        </p:spPr>
        <p:txBody>
          <a:bodyPr wrap="square" rtlCol="0">
            <a:spAutoFit/>
          </a:bodyPr>
          <a:lstStyle/>
          <a:p>
            <a:r>
              <a:rPr lang="en-AU" dirty="0" smtClean="0"/>
              <a:t>Tropical Islands, the largest indoor water park in the world, is located in a gigantic dome near Berlin. Here you’ll find the world’s biggest indoor rainforest, Europe’s largest tropical spa and sauna complex and a tropical sea with 200m of sandy beach. </a:t>
            </a:r>
            <a:endParaRPr lang="en-AU" dirty="0"/>
          </a:p>
        </p:txBody>
      </p:sp>
    </p:spTree>
    <p:extLst>
      <p:ext uri="{BB962C8B-B14F-4D97-AF65-F5344CB8AC3E}">
        <p14:creationId xmlns:p14="http://schemas.microsoft.com/office/powerpoint/2010/main" val="2564749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media-cdn.tripadvisor.com/media/photo-s/03/9b/2d/f2/new-york-city.jpg"/>
          <p:cNvPicPr/>
          <p:nvPr/>
        </p:nvPicPr>
        <p:blipFill>
          <a:blip r:embed="rId2">
            <a:extLst>
              <a:ext uri="{28A0092B-C50C-407E-A947-70E740481C1C}">
                <a14:useLocalDpi xmlns:a14="http://schemas.microsoft.com/office/drawing/2010/main" val="0"/>
              </a:ext>
            </a:extLst>
          </a:blip>
          <a:srcRect/>
          <a:stretch>
            <a:fillRect/>
          </a:stretch>
        </p:blipFill>
        <p:spPr bwMode="auto">
          <a:xfrm>
            <a:off x="395536" y="404664"/>
            <a:ext cx="8352928" cy="5544616"/>
          </a:xfrm>
          <a:prstGeom prst="rect">
            <a:avLst/>
          </a:prstGeom>
          <a:noFill/>
          <a:ln>
            <a:noFill/>
          </a:ln>
        </p:spPr>
      </p:pic>
    </p:spTree>
    <p:extLst>
      <p:ext uri="{BB962C8B-B14F-4D97-AF65-F5344CB8AC3E}">
        <p14:creationId xmlns:p14="http://schemas.microsoft.com/office/powerpoint/2010/main" val="3818057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www.alux.com/wp-content/uploads/2014/08/Expensive-Things-To-Do-In-New-York-City.jpg"/>
          <p:cNvPicPr/>
          <p:nvPr/>
        </p:nvPicPr>
        <p:blipFill>
          <a:blip r:embed="rId2">
            <a:extLst>
              <a:ext uri="{28A0092B-C50C-407E-A947-70E740481C1C}">
                <a14:useLocalDpi xmlns:a14="http://schemas.microsoft.com/office/drawing/2010/main" val="0"/>
              </a:ext>
            </a:extLst>
          </a:blip>
          <a:srcRect/>
          <a:stretch>
            <a:fillRect/>
          </a:stretch>
        </p:blipFill>
        <p:spPr bwMode="auto">
          <a:xfrm>
            <a:off x="467544" y="404664"/>
            <a:ext cx="8136904" cy="5760640"/>
          </a:xfrm>
          <a:prstGeom prst="rect">
            <a:avLst/>
          </a:prstGeom>
          <a:noFill/>
          <a:ln>
            <a:noFill/>
          </a:ln>
        </p:spPr>
      </p:pic>
    </p:spTree>
    <p:extLst>
      <p:ext uri="{BB962C8B-B14F-4D97-AF65-F5344CB8AC3E}">
        <p14:creationId xmlns:p14="http://schemas.microsoft.com/office/powerpoint/2010/main" val="1824671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data.hdwallpapers.im/a_new_york_street.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548680"/>
            <a:ext cx="8208912" cy="5400600"/>
          </a:xfrm>
          <a:prstGeom prst="rect">
            <a:avLst/>
          </a:prstGeom>
          <a:noFill/>
          <a:ln>
            <a:noFill/>
          </a:ln>
        </p:spPr>
      </p:pic>
    </p:spTree>
    <p:extLst>
      <p:ext uri="{BB962C8B-B14F-4D97-AF65-F5344CB8AC3E}">
        <p14:creationId xmlns:p14="http://schemas.microsoft.com/office/powerpoint/2010/main" val="3041980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thingstodo.viator.com/new-york-city/files/nyc-photo_1347216-770tall.jpg"/>
          <p:cNvPicPr/>
          <p:nvPr/>
        </p:nvPicPr>
        <p:blipFill>
          <a:blip r:embed="rId2">
            <a:extLst>
              <a:ext uri="{28A0092B-C50C-407E-A947-70E740481C1C}">
                <a14:useLocalDpi xmlns:a14="http://schemas.microsoft.com/office/drawing/2010/main" val="0"/>
              </a:ext>
            </a:extLst>
          </a:blip>
          <a:srcRect/>
          <a:stretch>
            <a:fillRect/>
          </a:stretch>
        </p:blipFill>
        <p:spPr bwMode="auto">
          <a:xfrm>
            <a:off x="683568" y="404664"/>
            <a:ext cx="7920880" cy="5256584"/>
          </a:xfrm>
          <a:prstGeom prst="rect">
            <a:avLst/>
          </a:prstGeom>
          <a:noFill/>
          <a:ln>
            <a:noFill/>
          </a:ln>
        </p:spPr>
      </p:pic>
      <p:sp>
        <p:nvSpPr>
          <p:cNvPr id="3" name="TextBox 2"/>
          <p:cNvSpPr txBox="1"/>
          <p:nvPr/>
        </p:nvSpPr>
        <p:spPr>
          <a:xfrm>
            <a:off x="431540" y="5805264"/>
            <a:ext cx="8136904" cy="646331"/>
          </a:xfrm>
          <a:prstGeom prst="rect">
            <a:avLst/>
          </a:prstGeom>
          <a:noFill/>
        </p:spPr>
        <p:txBody>
          <a:bodyPr wrap="square" rtlCol="0">
            <a:spAutoFit/>
          </a:bodyPr>
          <a:lstStyle/>
          <a:p>
            <a:r>
              <a:rPr lang="en-AU" dirty="0" smtClean="0"/>
              <a:t>There is always something to do in Central Park – everything from fun family activities and free public programming to hobbies and sport. </a:t>
            </a:r>
            <a:endParaRPr lang="en-AU" dirty="0"/>
          </a:p>
        </p:txBody>
      </p:sp>
    </p:spTree>
    <p:extLst>
      <p:ext uri="{BB962C8B-B14F-4D97-AF65-F5344CB8AC3E}">
        <p14:creationId xmlns:p14="http://schemas.microsoft.com/office/powerpoint/2010/main" val="1764785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264484"/>
            <a:ext cx="7200800" cy="6194766"/>
          </a:xfrm>
          <a:prstGeom prst="rect">
            <a:avLst/>
          </a:prstGeom>
        </p:spPr>
      </p:pic>
    </p:spTree>
    <p:extLst>
      <p:ext uri="{BB962C8B-B14F-4D97-AF65-F5344CB8AC3E}">
        <p14:creationId xmlns:p14="http://schemas.microsoft.com/office/powerpoint/2010/main" val="1320260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3608" y="836712"/>
            <a:ext cx="5760640" cy="1077218"/>
          </a:xfrm>
          <a:prstGeom prst="rect">
            <a:avLst/>
          </a:prstGeom>
          <a:noFill/>
        </p:spPr>
        <p:txBody>
          <a:bodyPr wrap="square" rtlCol="0">
            <a:spAutoFit/>
          </a:bodyPr>
          <a:lstStyle/>
          <a:p>
            <a:r>
              <a:rPr lang="en-AU" sz="3200" dirty="0" smtClean="0"/>
              <a:t>Get started by doing a Brainstorm</a:t>
            </a:r>
          </a:p>
          <a:p>
            <a:r>
              <a:rPr lang="en-AU" sz="3200" dirty="0" smtClean="0"/>
              <a:t>Completing the KWL chart </a:t>
            </a:r>
          </a:p>
        </p:txBody>
      </p:sp>
    </p:spTree>
    <p:extLst>
      <p:ext uri="{BB962C8B-B14F-4D97-AF65-F5344CB8AC3E}">
        <p14:creationId xmlns:p14="http://schemas.microsoft.com/office/powerpoint/2010/main" val="79006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540</Words>
  <Application>Microsoft Office PowerPoint</Application>
  <PresentationFormat>On-screen Show (4:3)</PresentationFormat>
  <Paragraphs>23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DONAVON Rebecca</dc:creator>
  <cp:lastModifiedBy>DONAVON Rebecca</cp:lastModifiedBy>
  <cp:revision>4</cp:revision>
  <dcterms:created xsi:type="dcterms:W3CDTF">2015-12-03T02:22:08Z</dcterms:created>
  <dcterms:modified xsi:type="dcterms:W3CDTF">2015-12-03T02:48:15Z</dcterms:modified>
</cp:coreProperties>
</file>
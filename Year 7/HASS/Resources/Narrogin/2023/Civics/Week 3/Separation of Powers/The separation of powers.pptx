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6" r:id="rId2"/>
    <p:sldId id="257" r:id="rId3"/>
    <p:sldId id="258" r:id="rId4"/>
    <p:sldId id="260" r:id="rId5"/>
    <p:sldId id="261" r:id="rId6"/>
    <p:sldId id="262" r:id="rId7"/>
    <p:sldId id="270" r:id="rId8"/>
    <p:sldId id="268" r:id="rId9"/>
    <p:sldId id="269" r:id="rId10"/>
    <p:sldId id="263" r:id="rId11"/>
    <p:sldId id="264" r:id="rId12"/>
    <p:sldId id="265" r:id="rId13"/>
    <p:sldId id="266" r:id="rId14"/>
    <p:sldId id="267" r:id="rId15"/>
  </p:sldIdLst>
  <p:sldSz cx="12192000" cy="6858000"/>
  <p:notesSz cx="9931400" cy="6794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946F9-F195-42DB-9D99-8DDA0F8AA429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C52E-C25B-45BB-B830-446D653904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513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46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79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26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9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8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72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54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276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97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88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98B-3803-43BA-A2AF-C4209DB68860}" type="datetimeFigureOut">
              <a:rPr lang="en-AU" smtClean="0"/>
              <a:t>23/10/2019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C52A3-4BB2-4C4E-8291-E1528D5EFD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65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XXv3QrH4q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FzYnLI9xxw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separation of powers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algn="l"/>
            <a:r>
              <a:rPr lang="en-AU" u="sng" dirty="0" smtClean="0"/>
              <a:t>Learning intentions: </a:t>
            </a:r>
          </a:p>
          <a:p>
            <a:pPr algn="l"/>
            <a:r>
              <a:rPr lang="en-AU" dirty="0" smtClean="0"/>
              <a:t>Identify the role and composition of each branch of government.</a:t>
            </a:r>
          </a:p>
          <a:p>
            <a:pPr algn="l"/>
            <a:endParaRPr lang="en-AU" dirty="0" smtClean="0"/>
          </a:p>
          <a:p>
            <a:pPr algn="l"/>
            <a:r>
              <a:rPr lang="en-AU" u="sng" dirty="0" smtClean="0"/>
              <a:t>Success criteria:</a:t>
            </a:r>
          </a:p>
          <a:p>
            <a:pPr algn="l"/>
            <a:r>
              <a:rPr lang="en-AU" dirty="0" smtClean="0"/>
              <a:t>State the 3 branches of government, including their role and composition.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1595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three branches of government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There are 3 main branches of the Australian government: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parliament/legislature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executive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000" dirty="0" smtClean="0"/>
              <a:t>The judiciary </a:t>
            </a:r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375011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eparation of powers austral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52" y="0"/>
            <a:ext cx="99420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31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45496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Parliament/Legislative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parliament, which has the power to make new laws and to change or repeal existing laws.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It </a:t>
            </a:r>
            <a:r>
              <a:rPr lang="en-AU" sz="3000" dirty="0"/>
              <a:t>consists of two separate ‘houses’ – the House of Representatives and the Senate – together with the Governor-General as the representative of the Queen.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" t="66024" r="48534"/>
          <a:stretch/>
        </p:blipFill>
        <p:spPr bwMode="auto">
          <a:xfrm>
            <a:off x="8292029" y="0"/>
            <a:ext cx="3899971" cy="184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6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72278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Executive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73924"/>
            <a:ext cx="10515600" cy="323111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This </a:t>
            </a:r>
            <a:r>
              <a:rPr lang="en-AU" sz="3000" dirty="0"/>
              <a:t>is the </a:t>
            </a:r>
            <a:r>
              <a:rPr lang="en-AU" sz="3000" dirty="0" smtClean="0"/>
              <a:t>branch </a:t>
            </a:r>
            <a:r>
              <a:rPr lang="en-AU" sz="3000" dirty="0"/>
              <a:t>of government with the responsibility of putting laws into action.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Executive </a:t>
            </a:r>
            <a:r>
              <a:rPr lang="en-AU" sz="3000" dirty="0"/>
              <a:t>power officially lies with the Governor-General, but is usually exercised by government ministers.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8" t="36305" b="4096"/>
          <a:stretch/>
        </p:blipFill>
        <p:spPr bwMode="auto">
          <a:xfrm>
            <a:off x="9382853" y="0"/>
            <a:ext cx="2809147" cy="26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22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55753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The Judiciary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300"/>
            <a:ext cx="10515600" cy="4351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3000" dirty="0"/>
              <a:t>This includes the judiciary and the </a:t>
            </a:r>
            <a:r>
              <a:rPr lang="en-AU" sz="3000" dirty="0" smtClean="0"/>
              <a:t>courts.</a:t>
            </a:r>
          </a:p>
          <a:p>
            <a:pPr>
              <a:lnSpc>
                <a:spcPct val="150000"/>
              </a:lnSpc>
            </a:pPr>
            <a:r>
              <a:rPr lang="en-AU" sz="3000" dirty="0" smtClean="0"/>
              <a:t>These are </a:t>
            </a:r>
            <a:r>
              <a:rPr lang="en-AU" sz="3000" dirty="0"/>
              <a:t>responsible for enforcing the law and settling disputes that might arise under the law. </a:t>
            </a:r>
            <a:endParaRPr lang="en-AU" sz="3000" dirty="0" smtClean="0"/>
          </a:p>
          <a:p>
            <a:pPr>
              <a:lnSpc>
                <a:spcPct val="150000"/>
              </a:lnSpc>
            </a:pPr>
            <a:r>
              <a:rPr lang="en-AU" sz="3000" dirty="0" smtClean="0"/>
              <a:t>The </a:t>
            </a:r>
            <a:r>
              <a:rPr lang="en-AU" sz="3000" dirty="0"/>
              <a:t>High Court of Australia has the power to interpret and enforce the Constitution. </a:t>
            </a:r>
          </a:p>
        </p:txBody>
      </p:sp>
      <p:pic>
        <p:nvPicPr>
          <p:cNvPr id="4" name="Picture 2" descr="Image result for separation of powers australi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6" t="15261" r="38118" b="46827"/>
          <a:stretch/>
        </p:blipFill>
        <p:spPr bwMode="auto">
          <a:xfrm>
            <a:off x="8159825" y="0"/>
            <a:ext cx="4032175" cy="259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1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>
                <a:hlinkClick r:id="rId2"/>
              </a:rPr>
              <a:t>https://</a:t>
            </a:r>
            <a:r>
              <a:rPr lang="en-AU" smtClean="0">
                <a:hlinkClick r:id="rId2"/>
              </a:rPr>
              <a:t>www.youtube.com/watch?v=BXXv3QrH4qs</a:t>
            </a:r>
            <a:r>
              <a:rPr lang="en-AU" smtClean="0"/>
              <a:t>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22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4951" y="4683737"/>
            <a:ext cx="3249058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Worksheet!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087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2862"/>
            <a:ext cx="102108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0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5000" b="1" dirty="0" smtClean="0"/>
              <a:t>State and federal roles</a:t>
            </a:r>
            <a:endParaRPr lang="en-AU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035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The Australian Constitution lists those areas of government that come under </a:t>
            </a:r>
            <a:r>
              <a:rPr lang="en-AU" sz="3000" b="1" dirty="0" smtClean="0"/>
              <a:t>federal</a:t>
            </a:r>
            <a:r>
              <a:rPr lang="en-AU" sz="3000" dirty="0" smtClean="0"/>
              <a:t> and </a:t>
            </a:r>
            <a:r>
              <a:rPr lang="en-AU" sz="3000" b="1" dirty="0" smtClean="0"/>
              <a:t>state</a:t>
            </a:r>
            <a:r>
              <a:rPr lang="en-AU" sz="3000" dirty="0" smtClean="0"/>
              <a:t> </a:t>
            </a:r>
            <a:r>
              <a:rPr lang="en-AU" sz="3000" b="1" dirty="0" smtClean="0"/>
              <a:t>responsibilities.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3000" dirty="0" smtClean="0"/>
              <a:t>That means that the federal government and state governments have different roles.</a:t>
            </a:r>
            <a:endParaRPr lang="en-AU" sz="3000" dirty="0"/>
          </a:p>
        </p:txBody>
      </p:sp>
      <p:pic>
        <p:nvPicPr>
          <p:cNvPr id="1026" name="Picture 2" descr="Image result for wa state gover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029" y="4466749"/>
            <a:ext cx="3099942" cy="232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federal government austral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308" y="4595261"/>
            <a:ext cx="2582369" cy="20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32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09728"/>
            <a:ext cx="7793736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Refer to this table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15568" y="1305352"/>
          <a:ext cx="9957816" cy="5552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21748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5110688">
                <a:tc>
                  <a:txBody>
                    <a:bodyPr/>
                    <a:lstStyle/>
                    <a:p>
                      <a:pPr lvl="0" algn="ctr"/>
                      <a:endParaRPr lang="en-US" sz="2300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30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00863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Guessing game!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Sort out the responsibilities you are given into whether they are Federal or State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endParaRPr lang="en-AU" sz="4000" dirty="0"/>
          </a:p>
        </p:txBody>
      </p:sp>
      <p:pic>
        <p:nvPicPr>
          <p:cNvPr id="2050" name="Picture 2" descr="Image result for guess clip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939" y="4584032"/>
            <a:ext cx="1745250" cy="184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119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307592" y="493775"/>
          <a:ext cx="9957816" cy="5877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8908">
                  <a:extLst>
                    <a:ext uri="{9D8B030D-6E8A-4147-A177-3AD203B41FA5}">
                      <a16:colId xmlns:a16="http://schemas.microsoft.com/office/drawing/2014/main" val="1744316593"/>
                    </a:ext>
                  </a:extLst>
                </a:gridCol>
                <a:gridCol w="4978908">
                  <a:extLst>
                    <a:ext uri="{9D8B030D-6E8A-4147-A177-3AD203B41FA5}">
                      <a16:colId xmlns:a16="http://schemas.microsoft.com/office/drawing/2014/main" val="3019572021"/>
                    </a:ext>
                  </a:extLst>
                </a:gridCol>
              </a:tblGrid>
              <a:tr h="448057"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FEDERAL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b="1" dirty="0" smtClean="0"/>
                        <a:t>STATE</a:t>
                      </a:r>
                      <a:endParaRPr lang="en-AU" sz="23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75673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Foreign policy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Schools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3337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Currency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Hospitals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0551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Immigration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Roads and railways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33516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Defence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Police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80459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Weights and measures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Mining</a:t>
                      </a:r>
                      <a:r>
                        <a:rPr lang="en-AU" sz="2300" baseline="0" dirty="0" smtClean="0"/>
                        <a:t> and agriculture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3457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Social security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Prisons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339200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lvl="0" algn="ctr"/>
                      <a:r>
                        <a:rPr lang="en-US" sz="2300" dirty="0" smtClean="0"/>
                        <a:t>Trade and commerce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Public transport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633"/>
                  </a:ext>
                </a:extLst>
              </a:tr>
              <a:tr h="6786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 dirty="0" smtClean="0"/>
                        <a:t>Postal and communication services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00" dirty="0" smtClean="0"/>
                        <a:t>Utilities such as electricity and water</a:t>
                      </a:r>
                      <a:endParaRPr lang="en-AU" sz="23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9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52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793" y="4120308"/>
            <a:ext cx="11457541" cy="251735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Should </a:t>
            </a:r>
            <a:r>
              <a:rPr lang="en-AU" dirty="0"/>
              <a:t>disposable products (such as plastic cups, plates, and cutlery) that contain less than 50% of biodegradable material be banned</a:t>
            </a:r>
            <a:r>
              <a:rPr lang="en-AU" dirty="0" smtClean="0"/>
              <a:t>?</a:t>
            </a:r>
            <a:endParaRPr lang="en-AU" dirty="0"/>
          </a:p>
        </p:txBody>
      </p:sp>
      <p:pic>
        <p:nvPicPr>
          <p:cNvPr id="1026" name="Picture 2" descr="Image result for environmental issu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9131" cy="401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692308" y="6499162"/>
            <a:ext cx="3499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u="sng" dirty="0">
                <a:hlinkClick r:id="rId3"/>
              </a:rPr>
              <a:t>https://www.youtube.com/watch?v=PFzYnLI9xxw</a:t>
            </a:r>
            <a:r>
              <a:rPr lang="en-AU" sz="1200" dirty="0"/>
              <a:t> 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93033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308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The separation of powers</vt:lpstr>
      <vt:lpstr>The three branches of government</vt:lpstr>
      <vt:lpstr>PowerPoint Presentation</vt:lpstr>
      <vt:lpstr>The Parliament/Legislative</vt:lpstr>
      <vt:lpstr>The Executive</vt:lpstr>
      <vt:lpstr>The Judiciary</vt:lpstr>
      <vt:lpstr>PowerPoint Presentation</vt:lpstr>
      <vt:lpstr>Worksheet!</vt:lpstr>
      <vt:lpstr>PowerPoint Presentation</vt:lpstr>
      <vt:lpstr>State and federal roles</vt:lpstr>
      <vt:lpstr>Refer to this table</vt:lpstr>
      <vt:lpstr>Guessing game!</vt:lpstr>
      <vt:lpstr>PowerPoint Presentation</vt:lpstr>
      <vt:lpstr>Should disposable products (such as plastic cups, plates, and cutlery) that contain less than 50% of biodegradable material be banned?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separation of powers</dc:title>
  <dc:creator>HAWKES Natasha [Narrogin Senior High School]</dc:creator>
  <cp:lastModifiedBy>DONAVON Rebecca [Narrogin Senior High School]</cp:lastModifiedBy>
  <cp:revision>15</cp:revision>
  <cp:lastPrinted>2018-10-16T07:49:09Z</cp:lastPrinted>
  <dcterms:created xsi:type="dcterms:W3CDTF">2018-10-15T04:41:27Z</dcterms:created>
  <dcterms:modified xsi:type="dcterms:W3CDTF">2019-10-23T03:14:08Z</dcterms:modified>
</cp:coreProperties>
</file>
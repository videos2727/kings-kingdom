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Impact" panose="020B0806030902050204" pitchFamily="34" charset="0"/>
      <p:regular r:id="rId15"/>
    </p:embeddedFont>
    <p:embeddedFont>
      <p:font typeface="Rockwell" panose="02060603020205020403" pitchFamily="18" charset="0"/>
      <p:regular r:id="rId16"/>
      <p:bold r:id="rId17"/>
      <p:italic r:id="rId18"/>
      <p:boldItalic r:id="rId19"/>
    </p:embeddedFont>
    <p:embeddedFont>
      <p:font typeface="Sorts Mill Goudy" panose="020B0604020202020204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-108" y="-7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82843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09800" y="3124200"/>
            <a:ext cx="6477000" cy="1914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/>
          <a:lstStyle>
            <a:lvl1pPr marR="0" lv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09800" y="5056632"/>
            <a:ext cx="6477000" cy="117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/>
          <a:lstStyle>
            <a:lvl1pPr marR="0"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00216"/>
            <a:ext cx="19842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959352" y="6300216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275320" y="6300216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576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543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Watermark">
  <p:cSld name="Title Slide with Waterm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122215" y="3200400"/>
            <a:ext cx="8021782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914400" marR="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1371600" marR="0" lvl="2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1828800" marR="0" lvl="3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2286000" marR="0" lvl="4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ctrTitle"/>
          </p:nvPr>
        </p:nvSpPr>
        <p:spPr>
          <a:xfrm>
            <a:off x="3960813" y="3833095"/>
            <a:ext cx="4724400" cy="1209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/>
          <a:lstStyle>
            <a:lvl1pPr marR="0" lv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2"/>
          </p:nvPr>
        </p:nvSpPr>
        <p:spPr>
          <a:xfrm>
            <a:off x="3960813" y="5056909"/>
            <a:ext cx="4724400" cy="1156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/>
          <a:lstStyle>
            <a:lvl1pPr marR="0"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457200" y="6298744"/>
            <a:ext cx="19812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962400" y="6298744"/>
            <a:ext cx="38100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264856" y="6312392"/>
            <a:ext cx="6858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219456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/>
          <a:lstStyle>
            <a:lvl1pPr marR="0" lv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3557016"/>
            <a:ext cx="777240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40"/>
              <a:buFont typeface="Sorts Mill Goudy"/>
              <a:buNone/>
              <a:defRPr sz="16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with Watermark">
  <p:cSld name="Section with Waterm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712693" y="1689847"/>
            <a:ext cx="843130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80"/>
              <a:buFont typeface="Impact"/>
              <a:buNone/>
              <a:defRPr sz="12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1" y="2196353"/>
            <a:ext cx="53340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/>
          <a:lstStyle>
            <a:lvl1pPr marR="0" lv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3560618"/>
            <a:ext cx="5334000" cy="98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20"/>
              <a:buFont typeface="Sorts Mill Goudy"/>
              <a:buNone/>
              <a:defRPr sz="18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40"/>
              <a:buFont typeface="Sorts Mill Goudy"/>
              <a:buNone/>
              <a:defRPr sz="16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260"/>
              <a:buFont typeface="Sorts Mill Goudy"/>
              <a:buNone/>
              <a:defRPr sz="1400" b="0" i="0" u="none" strike="noStrike" cap="none">
                <a:solidFill>
                  <a:srgbClr val="888888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with Picture">
  <p:cSld name="Section with Pictur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3152775" y="4069804"/>
            <a:ext cx="5538788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45" name="Google Shape;45;p7"/>
          <p:cNvGrpSpPr/>
          <p:nvPr/>
        </p:nvGrpSpPr>
        <p:grpSpPr>
          <a:xfrm rot="-360000">
            <a:off x="654352" y="445180"/>
            <a:ext cx="5416247" cy="3630168"/>
            <a:chOff x="1524000" y="381000"/>
            <a:chExt cx="3657600" cy="4737978"/>
          </a:xfrm>
        </p:grpSpPr>
        <p:sp>
          <p:nvSpPr>
            <p:cNvPr id="46" name="Google Shape;46;p7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 rot="-360000">
            <a:off x="857677" y="632632"/>
            <a:ext cx="5009597" cy="325526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3158117" y="5230906"/>
            <a:ext cx="5532958" cy="86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914400" y="1735139"/>
            <a:ext cx="3566160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4648200" y="1735139"/>
            <a:ext cx="3566160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971326" y="1419366"/>
            <a:ext cx="3200400" cy="5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A069"/>
              </a:buClr>
              <a:buSzPts val="1980"/>
              <a:buFont typeface="Impact"/>
              <a:buNone/>
              <a:defRPr sz="2200" b="0" i="0" u="none" strike="noStrike" cap="none">
                <a:solidFill>
                  <a:srgbClr val="B1A06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None/>
              <a:defRPr sz="18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97367" y="2174875"/>
            <a:ext cx="3566160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200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200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2004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2004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3"/>
          </p:nvPr>
        </p:nvSpPr>
        <p:spPr>
          <a:xfrm>
            <a:off x="4930247" y="1419366"/>
            <a:ext cx="3200400" cy="5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A069"/>
              </a:buClr>
              <a:buSzPts val="1980"/>
              <a:buFont typeface="Impact"/>
              <a:buNone/>
              <a:defRPr sz="2200" b="0" i="0" u="none" strike="noStrike" cap="none">
                <a:solidFill>
                  <a:srgbClr val="B1A06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None/>
              <a:defRPr sz="18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None/>
              <a:defRPr sz="1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4"/>
          </p:nvPr>
        </p:nvSpPr>
        <p:spPr>
          <a:xfrm>
            <a:off x="4646514" y="2174875"/>
            <a:ext cx="3566160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200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200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2004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2004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Sorts Mill Goudy"/>
              <a:buChar char="•"/>
              <a:defRPr sz="1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p9" descr="Comparison-Under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039" y="1897040"/>
            <a:ext cx="3228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9" descr="Comparison-Under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5960" y="1897040"/>
            <a:ext cx="3228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" descr="Comparison-Under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7039" y="1897040"/>
            <a:ext cx="3228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 descr="Comparison-Under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5960" y="1897040"/>
            <a:ext cx="32289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, Top and Bottom">
  <p:cSld name="2 Content, Top and Bot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52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2"/>
          </p:nvPr>
        </p:nvSpPr>
        <p:spPr>
          <a:xfrm>
            <a:off x="914400" y="3870960"/>
            <a:ext cx="73152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ntent">
  <p:cSld name="3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4645152" y="1735138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2"/>
          </p:nvPr>
        </p:nvSpPr>
        <p:spPr>
          <a:xfrm>
            <a:off x="4645152" y="387096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3"/>
          </p:nvPr>
        </p:nvSpPr>
        <p:spPr>
          <a:xfrm>
            <a:off x="914400" y="1735139"/>
            <a:ext cx="3566160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ntent">
  <p:cSld name="4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2"/>
          </p:nvPr>
        </p:nvSpPr>
        <p:spPr>
          <a:xfrm>
            <a:off x="914400" y="387096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3"/>
          </p:nvPr>
        </p:nvSpPr>
        <p:spPr>
          <a:xfrm>
            <a:off x="4645152" y="1735138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4"/>
          </p:nvPr>
        </p:nvSpPr>
        <p:spPr>
          <a:xfrm>
            <a:off x="4645152" y="387096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914400" y="1690048"/>
            <a:ext cx="3563938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orts Mill Goudy"/>
              <a:buNone/>
              <a:defRPr sz="42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4667250" y="368490"/>
            <a:ext cx="3566160" cy="562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433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2"/>
          </p:nvPr>
        </p:nvSpPr>
        <p:spPr>
          <a:xfrm>
            <a:off x="914398" y="2866030"/>
            <a:ext cx="3563938" cy="216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5017546" y="1524000"/>
            <a:ext cx="356616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orts Mill Goudy"/>
              <a:buNone/>
              <a:defRPr sz="42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5017544" y="2699982"/>
            <a:ext cx="3566160" cy="216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9" name="Google Shape;119;p16"/>
          <p:cNvGrpSpPr/>
          <p:nvPr/>
        </p:nvGrpSpPr>
        <p:grpSpPr>
          <a:xfrm rot="-178369">
            <a:off x="629028" y="505650"/>
            <a:ext cx="3850925" cy="5516274"/>
            <a:chOff x="1524000" y="381000"/>
            <a:chExt cx="3657600" cy="4737978"/>
          </a:xfrm>
        </p:grpSpPr>
        <p:sp>
          <p:nvSpPr>
            <p:cNvPr id="120" name="Google Shape;120;p16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22" name="Google Shape;122;p16"/>
          <p:cNvSpPr>
            <a:spLocks noGrp="1"/>
          </p:cNvSpPr>
          <p:nvPr>
            <p:ph type="pic" idx="2"/>
          </p:nvPr>
        </p:nvSpPr>
        <p:spPr>
          <a:xfrm rot="-178369">
            <a:off x="808793" y="667560"/>
            <a:ext cx="3468664" cy="512472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ictures with Caption">
  <p:cSld name="2 Pictures with Ca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 rot="-385649">
            <a:off x="313409" y="3520798"/>
            <a:ext cx="4088024" cy="3026020"/>
            <a:chOff x="1524000" y="381000"/>
            <a:chExt cx="3657600" cy="4737978"/>
          </a:xfrm>
        </p:grpSpPr>
        <p:sp>
          <p:nvSpPr>
            <p:cNvPr id="125" name="Google Shape;125;p17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27" name="Google Shape;127;p17"/>
          <p:cNvSpPr>
            <a:spLocks noGrp="1"/>
          </p:cNvSpPr>
          <p:nvPr>
            <p:ph type="pic" idx="2"/>
          </p:nvPr>
        </p:nvSpPr>
        <p:spPr>
          <a:xfrm rot="-385649">
            <a:off x="491057" y="3682579"/>
            <a:ext cx="3704109" cy="269708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grpSp>
        <p:nvGrpSpPr>
          <p:cNvPr id="128" name="Google Shape;128;p17"/>
          <p:cNvGrpSpPr/>
          <p:nvPr/>
        </p:nvGrpSpPr>
        <p:grpSpPr>
          <a:xfrm rot="232774">
            <a:off x="169481" y="241256"/>
            <a:ext cx="4088024" cy="3026020"/>
            <a:chOff x="1524000" y="381000"/>
            <a:chExt cx="3657600" cy="4737978"/>
          </a:xfrm>
        </p:grpSpPr>
        <p:sp>
          <p:nvSpPr>
            <p:cNvPr id="129" name="Google Shape;129;p17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31" name="Google Shape;131;p17"/>
          <p:cNvSpPr>
            <a:spLocks noGrp="1"/>
          </p:cNvSpPr>
          <p:nvPr>
            <p:ph type="pic" idx="3"/>
          </p:nvPr>
        </p:nvSpPr>
        <p:spPr>
          <a:xfrm rot="232774">
            <a:off x="347129" y="403037"/>
            <a:ext cx="3704109" cy="269708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5013434" y="1524000"/>
            <a:ext cx="356616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Sorts Mill Goudy"/>
              <a:buNone/>
              <a:defRPr sz="42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5013432" y="2699982"/>
            <a:ext cx="3566160" cy="216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bove Caption">
  <p:cSld name="Picture above Caption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39" name="Google Shape;139;p18"/>
          <p:cNvGrpSpPr/>
          <p:nvPr/>
        </p:nvGrpSpPr>
        <p:grpSpPr>
          <a:xfrm rot="232774">
            <a:off x="2059282" y="379100"/>
            <a:ext cx="5031327" cy="3443312"/>
            <a:chOff x="1524000" y="381000"/>
            <a:chExt cx="3657600" cy="4737978"/>
          </a:xfrm>
        </p:grpSpPr>
        <p:sp>
          <p:nvSpPr>
            <p:cNvPr id="140" name="Google Shape;140;p18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914400" y="4928736"/>
            <a:ext cx="7315200" cy="98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18"/>
          <p:cNvSpPr>
            <a:spLocks noGrp="1"/>
          </p:cNvSpPr>
          <p:nvPr>
            <p:ph type="pic" idx="2"/>
          </p:nvPr>
        </p:nvSpPr>
        <p:spPr>
          <a:xfrm rot="232774">
            <a:off x="2248157" y="564564"/>
            <a:ext cx="4653577" cy="307238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ictures above Caption">
  <p:cSld name="2 Pictures above Ca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/>
          <a:lstStyle>
            <a:lvl1pPr marR="0" lv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9" name="Google Shape;149;p19"/>
          <p:cNvGrpSpPr/>
          <p:nvPr/>
        </p:nvGrpSpPr>
        <p:grpSpPr>
          <a:xfrm rot="-180000">
            <a:off x="113687" y="116368"/>
            <a:ext cx="3969060" cy="3705360"/>
            <a:chOff x="1524000" y="381000"/>
            <a:chExt cx="3657600" cy="4737978"/>
          </a:xfrm>
        </p:grpSpPr>
        <p:sp>
          <p:nvSpPr>
            <p:cNvPr id="150" name="Google Shape;150;p19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52" name="Google Shape;152;p19"/>
          <p:cNvSpPr>
            <a:spLocks noGrp="1"/>
          </p:cNvSpPr>
          <p:nvPr>
            <p:ph type="pic" idx="2"/>
          </p:nvPr>
        </p:nvSpPr>
        <p:spPr>
          <a:xfrm rot="-180000">
            <a:off x="299151" y="304998"/>
            <a:ext cx="3598455" cy="33342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grpSp>
        <p:nvGrpSpPr>
          <p:cNvPr id="153" name="Google Shape;153;p19"/>
          <p:cNvGrpSpPr/>
          <p:nvPr/>
        </p:nvGrpSpPr>
        <p:grpSpPr>
          <a:xfrm rot="360000">
            <a:off x="4165479" y="323141"/>
            <a:ext cx="4792693" cy="3443312"/>
            <a:chOff x="1524000" y="381000"/>
            <a:chExt cx="3657600" cy="4737978"/>
          </a:xfrm>
        </p:grpSpPr>
        <p:sp>
          <p:nvSpPr>
            <p:cNvPr id="154" name="Google Shape;154;p19"/>
            <p:cNvSpPr/>
            <p:nvPr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>
              <a:gsLst>
                <a:gs pos="0">
                  <a:srgbClr val="D8D8D8"/>
                </a:gs>
                <a:gs pos="15000">
                  <a:srgbClr val="FFFFFF">
                    <a:alpha val="74509"/>
                  </a:srgbClr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endParaRPr>
            </a:p>
          </p:txBody>
        </p:sp>
      </p:grpSp>
      <p:sp>
        <p:nvSpPr>
          <p:cNvPr id="156" name="Google Shape;156;p19"/>
          <p:cNvSpPr>
            <a:spLocks noGrp="1"/>
          </p:cNvSpPr>
          <p:nvPr>
            <p:ph type="pic" idx="3"/>
          </p:nvPr>
        </p:nvSpPr>
        <p:spPr>
          <a:xfrm rot="360000">
            <a:off x="4336486" y="507668"/>
            <a:ext cx="4432860" cy="307238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1"/>
          </p:nvPr>
        </p:nvSpPr>
        <p:spPr>
          <a:xfrm>
            <a:off x="914400" y="4926106"/>
            <a:ext cx="731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None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Sorts Mill Goudy"/>
              <a:buNone/>
              <a:defRPr sz="1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ts Mill Goudy"/>
              <a:buNone/>
              <a:defRPr sz="1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810"/>
              <a:buFont typeface="Sorts Mill Goudy"/>
              <a:buNone/>
              <a:defRPr sz="9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1"/>
          </p:nvPr>
        </p:nvSpPr>
        <p:spPr>
          <a:xfrm rot="5400000">
            <a:off x="2543176" y="106363"/>
            <a:ext cx="4056062" cy="731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576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543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title"/>
          </p:nvPr>
        </p:nvSpPr>
        <p:spPr>
          <a:xfrm rot="5400000">
            <a:off x="5295817" y="2706715"/>
            <a:ext cx="5357812" cy="846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1"/>
          </p:nvPr>
        </p:nvSpPr>
        <p:spPr>
          <a:xfrm rot="5400000">
            <a:off x="1207294" y="157957"/>
            <a:ext cx="5357812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576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5433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  <a:defRPr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576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  <a:defRPr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marL="914400" marR="0" lvl="1" indent="-3543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Char char="•"/>
              <a:defRPr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rts Mill Goudy"/>
              <a:buChar char="•"/>
              <a:defRPr sz="20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L="1828800" marR="0" lvl="3" indent="-3314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L="2286000" marR="0" lvl="4" indent="-3314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L="2743200" marR="0" lvl="5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L="3200400" marR="0" lvl="6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L="3657600" marR="0" lvl="7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L="4114800" marR="0" lvl="8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Sorts Mill Goudy"/>
              <a:buChar char="•"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ctrTitle"/>
          </p:nvPr>
        </p:nvSpPr>
        <p:spPr>
          <a:xfrm>
            <a:off x="2209800" y="3124200"/>
            <a:ext cx="6477000" cy="1914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b" anchorCtr="0">
            <a:noAutofit/>
          </a:bodyPr>
          <a:lstStyle/>
          <a:p>
            <a:pPr marL="0" marR="0" lvl="0" indent="0" algn="l" rtl="0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Separation Of Powers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1"/>
          </p:nvPr>
        </p:nvSpPr>
        <p:spPr>
          <a:xfrm>
            <a:off x="2209800" y="5056632"/>
            <a:ext cx="6477000" cy="117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45700" bIns="0" anchor="t" anchorCtr="0">
            <a:noAutofit/>
          </a:bodyPr>
          <a:lstStyle/>
          <a:p>
            <a:pPr marL="0" marR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Sorts Mill Goudy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Legislature, Executive and Judiciary</a:t>
            </a:r>
            <a:endParaRPr sz="22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Activities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Outline the role of each of the following arms of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government, and provide an example of each: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a. legislative arm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b. executive arm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c. judicial arm.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is the separation of powers important?</a:t>
            </a:r>
            <a:endParaRPr sz="2400" b="1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32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300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‘The separation of powers is an important safeguard of our rights and freedoms in Australia.’ Do you agree or disagree with this statement? Give reasons for your answer</a:t>
            </a:r>
            <a:endParaRPr sz="18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478" y="636096"/>
            <a:ext cx="7769598" cy="5517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separation of powers </a:t>
            </a:r>
            <a:b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</a:b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At both the federal and state levels, the functions of government are not all concentrated in the parliament. 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Australian Constitution supports the idea of the separation of powers to allow for three arms of government: 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Executive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Legislature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Judiciary</a:t>
            </a: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32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32639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57" y="814006"/>
            <a:ext cx="8808198" cy="469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Legislative Arm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This is the parliament, which has the power to make new laws and to change or repeal existing laws. </a:t>
            </a:r>
            <a:endParaRPr/>
          </a:p>
          <a:p>
            <a:pPr marL="463550" marR="0" lvl="0" indent="-46355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It consists of two separate ‘houses’ — the House of Representatives and the Senate — together with the Governor-General as the representative of the Queen. </a:t>
            </a:r>
            <a:endParaRPr/>
          </a:p>
          <a:p>
            <a:pPr marL="463550" marR="0" lvl="0" indent="-46355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 become law, a Bill must be debated and voted on by both houses of parliament, and then approved by the Governor-General. </a:t>
            </a:r>
            <a:endParaRPr sz="2220" b="1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46355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Extension: What is a republic? Should Australia become one?</a:t>
            </a:r>
            <a:endParaRPr/>
          </a:p>
          <a:p>
            <a:pPr marL="463550" marR="0" lvl="0" indent="-336676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None/>
            </a:pPr>
            <a:endParaRPr sz="222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Executive Arm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74676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arm of the government responsible for developing laws</a:t>
            </a:r>
            <a:r>
              <a:rPr lang="en-US" sz="222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These are members of parliament who have special responsibility for particular areas of government. 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For example, the minister for defence is responsible for administering all laws that relate to the defence forces; Public servants and other government employees are part of the executive arm of government. </a:t>
            </a:r>
            <a:endParaRPr sz="222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Extension: What minister would you like to be and why?</a:t>
            </a:r>
            <a:endParaRPr sz="2220" b="1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336676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None/>
            </a:pPr>
            <a:endParaRPr sz="222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Judicial Arm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"/>
          </p:nvPr>
        </p:nvSpPr>
        <p:spPr>
          <a:xfrm>
            <a:off x="341812" y="1330190"/>
            <a:ext cx="8351520" cy="497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This includes the judiciary and the courts, which are responsible for enforcing the law and settling disputes that might arise under the law</a:t>
            </a:r>
            <a:r>
              <a:rPr lang="en-US" sz="2220" b="0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. </a:t>
            </a:r>
            <a:endParaRPr dirty="0"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0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courts can also ensure that the law is applied fairly and equally to everyone, so they are a safeguard for our rights and freedoms. </a:t>
            </a:r>
            <a:endParaRPr dirty="0"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High Court of Australia has the power to interpret and enforce the Constitution. It can make sure that neither the legislative arm nor the executive arm acts in a way that is outside the constitutional powers of that arm. </a:t>
            </a:r>
            <a:endParaRPr sz="2220" b="1" i="0" u="none" strike="noStrike" cap="none" dirty="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http://www.scootle.edu.au/ec/viewing/R10292/index.html</a:t>
            </a:r>
            <a:endParaRPr sz="2220" b="1" i="0" u="none" strike="noStrike" cap="none" dirty="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Char char="•"/>
            </a:pPr>
            <a:r>
              <a:rPr lang="en-US" sz="2220" b="1" i="0" u="none" strike="noStrike" cap="none" dirty="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Extension: How much power do you think a high court judge has? </a:t>
            </a:r>
            <a:endParaRPr sz="2220" b="1" i="0" u="none" strike="noStrike" cap="none" dirty="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  <a:p>
            <a:pPr marL="463550" marR="0" lvl="0" indent="-336676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998"/>
              <a:buFont typeface="Sorts Mill Goudy"/>
              <a:buNone/>
            </a:pPr>
            <a:endParaRPr sz="2220" b="0" i="0" u="none" strike="noStrike" cap="none" dirty="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do we have the separation of powers?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9" name="Google Shape;229;p30"/>
          <p:cNvSpPr txBox="1">
            <a:spLocks noGrp="1"/>
          </p:cNvSpPr>
          <p:nvPr>
            <p:ph type="body" idx="1"/>
          </p:nvPr>
        </p:nvSpPr>
        <p:spPr>
          <a:xfrm>
            <a:off x="472440" y="1735138"/>
            <a:ext cx="8214360" cy="492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Write down the think extension. As you finish your notes, write your answer.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separation of powers provides a system of checks and balances on the power of government. This works in the following ways 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Members of parliament can make laws but have to face elections on a regular basis. If laws prove to be unpopular or unfair, the people can vote for new and different members to replace them. </a:t>
            </a:r>
            <a:endParaRPr/>
          </a:p>
          <a:p>
            <a:pPr marL="463550" marR="0" lvl="0" indent="-32639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do we have the separation of powers?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5" name="Google Shape;235;p31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 independent judiciary has the power to ensure that parliament and the executive are acting within the limits of the Constitution. </a:t>
            </a: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This is a way of protecting individual freedoms. The High Court can declare any law invalid if it is contrary to the Constitution. </a:t>
            </a:r>
            <a:endParaRPr/>
          </a:p>
          <a:p>
            <a:pPr marL="463550" marR="0" lvl="0" indent="-46355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Government ministers are all members of parliament, and are individually accountable to parliament. </a:t>
            </a: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They are required to answer questions in parliament about actions they take as part of their executive role. </a:t>
            </a:r>
            <a:endParaRPr/>
          </a:p>
          <a:p>
            <a:pPr marL="463550" marR="0" lvl="0" indent="-32639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Why do we have the separation of powers?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1" name="Google Shape;241;p32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Government ministers have to gain the approval of a majority of both houses of parliament if they want to bring in any new laws. If they cannot convince enough members, the law will not be passed. </a:t>
            </a:r>
            <a:endParaRPr/>
          </a:p>
          <a:p>
            <a:pPr marL="463550" marR="0" lvl="0" indent="-32639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Sorts Mill Goudy"/>
              <a:buNone/>
            </a:pPr>
            <a:r>
              <a:rPr lang="en-US" sz="46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Think</a:t>
            </a:r>
            <a:endParaRPr sz="46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marR="0" lvl="0" indent="-463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‘The separation of powers is an important safeguard of our rights and freedoms in Australia.’ Do you agree or disagree with this statement? Give reasons for your answer </a:t>
            </a:r>
            <a:endParaRPr/>
          </a:p>
          <a:p>
            <a:pPr marL="463550" marR="0" lvl="0" indent="-32639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Sorts Mill Goudy"/>
              <a:buNone/>
            </a:pPr>
            <a:endParaRPr sz="2400" b="0" i="0" u="none" strike="noStrike" cap="none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well">
  <a:themeElements>
    <a:clrScheme name="Inkwell">
      <a:dk1>
        <a:srgbClr val="000000"/>
      </a:dk1>
      <a:lt1>
        <a:srgbClr val="FFFFFF"/>
      </a:lt1>
      <a:dk2>
        <a:srgbClr val="584D2E"/>
      </a:dk2>
      <a:lt2>
        <a:srgbClr val="EFE7C3"/>
      </a:lt2>
      <a:accent1>
        <a:srgbClr val="860908"/>
      </a:accent1>
      <a:accent2>
        <a:srgbClr val="4A0505"/>
      </a:accent2>
      <a:accent3>
        <a:srgbClr val="7A500A"/>
      </a:accent3>
      <a:accent4>
        <a:srgbClr val="C47810"/>
      </a:accent4>
      <a:accent5>
        <a:srgbClr val="827752"/>
      </a:accent5>
      <a:accent6>
        <a:srgbClr val="B5BB83"/>
      </a:accent6>
      <a:hlink>
        <a:srgbClr val="C47810"/>
      </a:hlink>
      <a:folHlink>
        <a:srgbClr val="F0A4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On-screen Show (4:3)</PresentationFormat>
  <Paragraphs>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Impact</vt:lpstr>
      <vt:lpstr>Rockwell</vt:lpstr>
      <vt:lpstr>Sorts Mill Goudy</vt:lpstr>
      <vt:lpstr>Inkwell</vt:lpstr>
      <vt:lpstr>The Separation Of Powers</vt:lpstr>
      <vt:lpstr>Activities</vt:lpstr>
      <vt:lpstr>PowerPoint Presentation</vt:lpstr>
      <vt:lpstr>The separation of powers  </vt:lpstr>
      <vt:lpstr>PowerPoint Presentation</vt:lpstr>
      <vt:lpstr>The Legislative Arm</vt:lpstr>
      <vt:lpstr>The Executive Arm</vt:lpstr>
      <vt:lpstr>The Judicial Arm</vt:lpstr>
      <vt:lpstr>Why do we have the separation of powers?</vt:lpstr>
      <vt:lpstr>Why do we have the separation of powers?</vt:lpstr>
      <vt:lpstr>Why do we have the separation of powers?</vt:lpstr>
      <vt:lpstr>Think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Separation Of Powers</dc:title>
  <dc:creator>FAZIOLI Carly</dc:creator>
  <cp:lastModifiedBy>FAZIOLI Carly</cp:lastModifiedBy>
  <cp:revision>1</cp:revision>
  <dcterms:modified xsi:type="dcterms:W3CDTF">2019-05-13T02:28:23Z</dcterms:modified>
</cp:coreProperties>
</file>
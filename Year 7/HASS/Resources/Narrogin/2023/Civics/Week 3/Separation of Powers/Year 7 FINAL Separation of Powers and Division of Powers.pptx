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2"/>
  </p:handoutMasterIdLst>
  <p:sldIdLst>
    <p:sldId id="272" r:id="rId2"/>
    <p:sldId id="274" r:id="rId3"/>
    <p:sldId id="271" r:id="rId4"/>
    <p:sldId id="266" r:id="rId5"/>
    <p:sldId id="257" r:id="rId6"/>
    <p:sldId id="258" r:id="rId7"/>
    <p:sldId id="260" r:id="rId8"/>
    <p:sldId id="261" r:id="rId9"/>
    <p:sldId id="262" r:id="rId10"/>
    <p:sldId id="277" r:id="rId11"/>
  </p:sldIdLst>
  <p:sldSz cx="12192000" cy="6858000"/>
  <p:notesSz cx="9931400" cy="6794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6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BBDA9E-2837-4B16-9885-FFE831B350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FF6B23-85C1-427F-9067-375A51FB06F2}">
      <dgm:prSet/>
      <dgm:spPr/>
      <dgm:t>
        <a:bodyPr/>
        <a:lstStyle/>
        <a:p>
          <a:r>
            <a:rPr lang="en-AU" dirty="0">
              <a:highlight>
                <a:srgbClr val="FFFF00"/>
              </a:highlight>
            </a:rPr>
            <a:t>List</a:t>
          </a:r>
          <a:r>
            <a:rPr lang="en-AU" dirty="0"/>
            <a:t> the three levels of government in Australia.</a:t>
          </a:r>
          <a:endParaRPr lang="en-US" dirty="0"/>
        </a:p>
      </dgm:t>
    </dgm:pt>
    <dgm:pt modelId="{3EA3774E-154E-488F-9564-130A3C6EDF6A}" type="parTrans" cxnId="{D6A6ACAD-7544-40A4-BB16-BE2DCD907385}">
      <dgm:prSet/>
      <dgm:spPr/>
      <dgm:t>
        <a:bodyPr/>
        <a:lstStyle/>
        <a:p>
          <a:endParaRPr lang="en-US"/>
        </a:p>
      </dgm:t>
    </dgm:pt>
    <dgm:pt modelId="{D9B45BC0-2F0E-413C-9CEF-2F5AFA55969C}" type="sibTrans" cxnId="{D6A6ACAD-7544-40A4-BB16-BE2DCD907385}">
      <dgm:prSet/>
      <dgm:spPr/>
      <dgm:t>
        <a:bodyPr/>
        <a:lstStyle/>
        <a:p>
          <a:endParaRPr lang="en-US"/>
        </a:p>
      </dgm:t>
    </dgm:pt>
    <dgm:pt modelId="{AC85E448-D0B2-4EE5-97E9-3DEB9237967F}">
      <dgm:prSet/>
      <dgm:spPr/>
      <dgm:t>
        <a:bodyPr/>
        <a:lstStyle/>
        <a:p>
          <a:r>
            <a:rPr lang="en-AU" dirty="0">
              <a:highlight>
                <a:srgbClr val="FFFF00"/>
              </a:highlight>
            </a:rPr>
            <a:t>State</a:t>
          </a:r>
          <a:r>
            <a:rPr lang="en-AU" dirty="0"/>
            <a:t> three key responsibilities of each level of government.</a:t>
          </a:r>
          <a:endParaRPr lang="en-US" dirty="0"/>
        </a:p>
      </dgm:t>
    </dgm:pt>
    <dgm:pt modelId="{BD055D67-21E7-4FC4-BC90-88DC531A32CE}" type="parTrans" cxnId="{756AA77C-D1AA-4F98-AB9D-8613EEE23F33}">
      <dgm:prSet/>
      <dgm:spPr/>
      <dgm:t>
        <a:bodyPr/>
        <a:lstStyle/>
        <a:p>
          <a:endParaRPr lang="en-US"/>
        </a:p>
      </dgm:t>
    </dgm:pt>
    <dgm:pt modelId="{4DC19B75-E541-4C2E-B0AD-D28C1F5C8144}" type="sibTrans" cxnId="{756AA77C-D1AA-4F98-AB9D-8613EEE23F33}">
      <dgm:prSet/>
      <dgm:spPr/>
      <dgm:t>
        <a:bodyPr/>
        <a:lstStyle/>
        <a:p>
          <a:endParaRPr lang="en-US"/>
        </a:p>
      </dgm:t>
    </dgm:pt>
    <dgm:pt modelId="{CC815DD2-91F7-43DE-ADBA-4927F22052F5}">
      <dgm:prSet/>
      <dgm:spPr/>
      <dgm:t>
        <a:bodyPr/>
        <a:lstStyle/>
        <a:p>
          <a:r>
            <a:rPr lang="en-AU" dirty="0">
              <a:highlight>
                <a:srgbClr val="FFFF00"/>
              </a:highlight>
            </a:rPr>
            <a:t>Outline</a:t>
          </a:r>
          <a:r>
            <a:rPr lang="en-AU" dirty="0"/>
            <a:t> what is meant by the concept </a:t>
          </a:r>
          <a:r>
            <a:rPr lang="en-AU" i="1" dirty="0"/>
            <a:t>separation of powers</a:t>
          </a:r>
          <a:r>
            <a:rPr lang="en-AU" dirty="0"/>
            <a:t>.</a:t>
          </a:r>
          <a:endParaRPr lang="en-US" dirty="0"/>
        </a:p>
      </dgm:t>
    </dgm:pt>
    <dgm:pt modelId="{65175DFC-0A18-4AB9-B644-5C5CA6FB7581}" type="parTrans" cxnId="{706D24C2-4549-4830-A010-9CC599316BCB}">
      <dgm:prSet/>
      <dgm:spPr/>
      <dgm:t>
        <a:bodyPr/>
        <a:lstStyle/>
        <a:p>
          <a:endParaRPr lang="en-US"/>
        </a:p>
      </dgm:t>
    </dgm:pt>
    <dgm:pt modelId="{E6B763B0-4A11-4B2B-8F8E-B218198E23A0}" type="sibTrans" cxnId="{706D24C2-4549-4830-A010-9CC599316BCB}">
      <dgm:prSet/>
      <dgm:spPr/>
      <dgm:t>
        <a:bodyPr/>
        <a:lstStyle/>
        <a:p>
          <a:endParaRPr lang="en-US"/>
        </a:p>
      </dgm:t>
    </dgm:pt>
    <dgm:pt modelId="{BBDF5C09-0197-4EEA-B601-CC298B40E86E}" type="pres">
      <dgm:prSet presAssocID="{99BBDA9E-2837-4B16-9885-FFE831B35004}" presName="root" presStyleCnt="0">
        <dgm:presLayoutVars>
          <dgm:dir/>
          <dgm:resizeHandles val="exact"/>
        </dgm:presLayoutVars>
      </dgm:prSet>
      <dgm:spPr/>
    </dgm:pt>
    <dgm:pt modelId="{02E1AD54-0179-46FB-BD1F-D2101C1C9231}" type="pres">
      <dgm:prSet presAssocID="{42FF6B23-85C1-427F-9067-375A51FB06F2}" presName="compNode" presStyleCnt="0"/>
      <dgm:spPr/>
    </dgm:pt>
    <dgm:pt modelId="{D1F9A770-7615-4990-8B65-179E6761B0BA}" type="pres">
      <dgm:prSet presAssocID="{42FF6B23-85C1-427F-9067-375A51FB06F2}" presName="bgRect" presStyleLbl="bgShp" presStyleIdx="0" presStyleCnt="3"/>
      <dgm:spPr/>
    </dgm:pt>
    <dgm:pt modelId="{5CC5DDFC-C197-4491-957F-43A6C20AF012}" type="pres">
      <dgm:prSet presAssocID="{42FF6B23-85C1-427F-9067-375A51FB06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363C0529-BD74-4D74-86E6-14AA4640AD4B}" type="pres">
      <dgm:prSet presAssocID="{42FF6B23-85C1-427F-9067-375A51FB06F2}" presName="spaceRect" presStyleCnt="0"/>
      <dgm:spPr/>
    </dgm:pt>
    <dgm:pt modelId="{21792A1B-EE67-4A25-8DC1-74D5637A3304}" type="pres">
      <dgm:prSet presAssocID="{42FF6B23-85C1-427F-9067-375A51FB06F2}" presName="parTx" presStyleLbl="revTx" presStyleIdx="0" presStyleCnt="3">
        <dgm:presLayoutVars>
          <dgm:chMax val="0"/>
          <dgm:chPref val="0"/>
        </dgm:presLayoutVars>
      </dgm:prSet>
      <dgm:spPr/>
    </dgm:pt>
    <dgm:pt modelId="{29A7E529-C0C6-4739-8F24-AD4BEDDFB1CB}" type="pres">
      <dgm:prSet presAssocID="{D9B45BC0-2F0E-413C-9CEF-2F5AFA55969C}" presName="sibTrans" presStyleCnt="0"/>
      <dgm:spPr/>
    </dgm:pt>
    <dgm:pt modelId="{670456F0-3D7C-4E5B-9592-5371D7F8181C}" type="pres">
      <dgm:prSet presAssocID="{AC85E448-D0B2-4EE5-97E9-3DEB9237967F}" presName="compNode" presStyleCnt="0"/>
      <dgm:spPr/>
    </dgm:pt>
    <dgm:pt modelId="{91F0AACD-D5E9-4647-BF68-8223D3D2AED3}" type="pres">
      <dgm:prSet presAssocID="{AC85E448-D0B2-4EE5-97E9-3DEB9237967F}" presName="bgRect" presStyleLbl="bgShp" presStyleIdx="1" presStyleCnt="3"/>
      <dgm:spPr/>
    </dgm:pt>
    <dgm:pt modelId="{843281D2-EBBA-4AA7-87F2-9986DB317D2A}" type="pres">
      <dgm:prSet presAssocID="{AC85E448-D0B2-4EE5-97E9-3DEB9237967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404EFEDC-D809-4978-B687-80A5516456A3}" type="pres">
      <dgm:prSet presAssocID="{AC85E448-D0B2-4EE5-97E9-3DEB9237967F}" presName="spaceRect" presStyleCnt="0"/>
      <dgm:spPr/>
    </dgm:pt>
    <dgm:pt modelId="{BC7FB120-9A83-4BA1-B7C0-5438606827C6}" type="pres">
      <dgm:prSet presAssocID="{AC85E448-D0B2-4EE5-97E9-3DEB9237967F}" presName="parTx" presStyleLbl="revTx" presStyleIdx="1" presStyleCnt="3">
        <dgm:presLayoutVars>
          <dgm:chMax val="0"/>
          <dgm:chPref val="0"/>
        </dgm:presLayoutVars>
      </dgm:prSet>
      <dgm:spPr/>
    </dgm:pt>
    <dgm:pt modelId="{4F261373-9AEF-4A1A-9A86-0CEDFCA4E563}" type="pres">
      <dgm:prSet presAssocID="{4DC19B75-E541-4C2E-B0AD-D28C1F5C8144}" presName="sibTrans" presStyleCnt="0"/>
      <dgm:spPr/>
    </dgm:pt>
    <dgm:pt modelId="{F53D72AD-8A32-46FD-9975-EF06A46E9BA2}" type="pres">
      <dgm:prSet presAssocID="{CC815DD2-91F7-43DE-ADBA-4927F22052F5}" presName="compNode" presStyleCnt="0"/>
      <dgm:spPr/>
    </dgm:pt>
    <dgm:pt modelId="{A7135F80-2125-4F7E-9AAF-71C9B27744C1}" type="pres">
      <dgm:prSet presAssocID="{CC815DD2-91F7-43DE-ADBA-4927F22052F5}" presName="bgRect" presStyleLbl="bgShp" presStyleIdx="2" presStyleCnt="3"/>
      <dgm:spPr/>
    </dgm:pt>
    <dgm:pt modelId="{17F76E7F-C08F-47CD-A534-CAA60ADD0178}" type="pres">
      <dgm:prSet presAssocID="{CC815DD2-91F7-43DE-ADBA-4927F22052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0F6542A-9965-4831-A54F-5FDF7449ED25}" type="pres">
      <dgm:prSet presAssocID="{CC815DD2-91F7-43DE-ADBA-4927F22052F5}" presName="spaceRect" presStyleCnt="0"/>
      <dgm:spPr/>
    </dgm:pt>
    <dgm:pt modelId="{402D74FE-E7D8-4BDB-9B87-5C043D02062F}" type="pres">
      <dgm:prSet presAssocID="{CC815DD2-91F7-43DE-ADBA-4927F22052F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559C728-CD5E-4F4B-AD7B-609CF5418E01}" type="presOf" srcId="{AC85E448-D0B2-4EE5-97E9-3DEB9237967F}" destId="{BC7FB120-9A83-4BA1-B7C0-5438606827C6}" srcOrd="0" destOrd="0" presId="urn:microsoft.com/office/officeart/2018/2/layout/IconVerticalSolidList"/>
    <dgm:cxn modelId="{14073632-1479-4DEE-B32B-F61D10A1BACA}" type="presOf" srcId="{CC815DD2-91F7-43DE-ADBA-4927F22052F5}" destId="{402D74FE-E7D8-4BDB-9B87-5C043D02062F}" srcOrd="0" destOrd="0" presId="urn:microsoft.com/office/officeart/2018/2/layout/IconVerticalSolidList"/>
    <dgm:cxn modelId="{9705A05D-A7D1-4AF2-ADAD-72947E5C80BC}" type="presOf" srcId="{42FF6B23-85C1-427F-9067-375A51FB06F2}" destId="{21792A1B-EE67-4A25-8DC1-74D5637A3304}" srcOrd="0" destOrd="0" presId="urn:microsoft.com/office/officeart/2018/2/layout/IconVerticalSolidList"/>
    <dgm:cxn modelId="{756AA77C-D1AA-4F98-AB9D-8613EEE23F33}" srcId="{99BBDA9E-2837-4B16-9885-FFE831B35004}" destId="{AC85E448-D0B2-4EE5-97E9-3DEB9237967F}" srcOrd="1" destOrd="0" parTransId="{BD055D67-21E7-4FC4-BC90-88DC531A32CE}" sibTransId="{4DC19B75-E541-4C2E-B0AD-D28C1F5C8144}"/>
    <dgm:cxn modelId="{B2202DA6-F377-4AE2-8A14-BF44717507A8}" type="presOf" srcId="{99BBDA9E-2837-4B16-9885-FFE831B35004}" destId="{BBDF5C09-0197-4EEA-B601-CC298B40E86E}" srcOrd="0" destOrd="0" presId="urn:microsoft.com/office/officeart/2018/2/layout/IconVerticalSolidList"/>
    <dgm:cxn modelId="{D6A6ACAD-7544-40A4-BB16-BE2DCD907385}" srcId="{99BBDA9E-2837-4B16-9885-FFE831B35004}" destId="{42FF6B23-85C1-427F-9067-375A51FB06F2}" srcOrd="0" destOrd="0" parTransId="{3EA3774E-154E-488F-9564-130A3C6EDF6A}" sibTransId="{D9B45BC0-2F0E-413C-9CEF-2F5AFA55969C}"/>
    <dgm:cxn modelId="{706D24C2-4549-4830-A010-9CC599316BCB}" srcId="{99BBDA9E-2837-4B16-9885-FFE831B35004}" destId="{CC815DD2-91F7-43DE-ADBA-4927F22052F5}" srcOrd="2" destOrd="0" parTransId="{65175DFC-0A18-4AB9-B644-5C5CA6FB7581}" sibTransId="{E6B763B0-4A11-4B2B-8F8E-B218198E23A0}"/>
    <dgm:cxn modelId="{448B184D-AD0E-4E5B-9F2C-74EDBC13A37C}" type="presParOf" srcId="{BBDF5C09-0197-4EEA-B601-CC298B40E86E}" destId="{02E1AD54-0179-46FB-BD1F-D2101C1C9231}" srcOrd="0" destOrd="0" presId="urn:microsoft.com/office/officeart/2018/2/layout/IconVerticalSolidList"/>
    <dgm:cxn modelId="{5FAEE51B-3B83-46A1-A632-1A7EC38FFFED}" type="presParOf" srcId="{02E1AD54-0179-46FB-BD1F-D2101C1C9231}" destId="{D1F9A770-7615-4990-8B65-179E6761B0BA}" srcOrd="0" destOrd="0" presId="urn:microsoft.com/office/officeart/2018/2/layout/IconVerticalSolidList"/>
    <dgm:cxn modelId="{8185979D-B136-46C3-9809-BAAFD6DD758D}" type="presParOf" srcId="{02E1AD54-0179-46FB-BD1F-D2101C1C9231}" destId="{5CC5DDFC-C197-4491-957F-43A6C20AF012}" srcOrd="1" destOrd="0" presId="urn:microsoft.com/office/officeart/2018/2/layout/IconVerticalSolidList"/>
    <dgm:cxn modelId="{C71982CF-96FA-4B86-8F78-2CCA04AF7EF0}" type="presParOf" srcId="{02E1AD54-0179-46FB-BD1F-D2101C1C9231}" destId="{363C0529-BD74-4D74-86E6-14AA4640AD4B}" srcOrd="2" destOrd="0" presId="urn:microsoft.com/office/officeart/2018/2/layout/IconVerticalSolidList"/>
    <dgm:cxn modelId="{2BF30751-82E0-440E-B89D-BCF882713AFD}" type="presParOf" srcId="{02E1AD54-0179-46FB-BD1F-D2101C1C9231}" destId="{21792A1B-EE67-4A25-8DC1-74D5637A3304}" srcOrd="3" destOrd="0" presId="urn:microsoft.com/office/officeart/2018/2/layout/IconVerticalSolidList"/>
    <dgm:cxn modelId="{1DE57C33-3CDE-4A0E-B4CF-C453A689AD9A}" type="presParOf" srcId="{BBDF5C09-0197-4EEA-B601-CC298B40E86E}" destId="{29A7E529-C0C6-4739-8F24-AD4BEDDFB1CB}" srcOrd="1" destOrd="0" presId="urn:microsoft.com/office/officeart/2018/2/layout/IconVerticalSolidList"/>
    <dgm:cxn modelId="{5EEFFF97-CC6E-4B93-9288-ECA27951403B}" type="presParOf" srcId="{BBDF5C09-0197-4EEA-B601-CC298B40E86E}" destId="{670456F0-3D7C-4E5B-9592-5371D7F8181C}" srcOrd="2" destOrd="0" presId="urn:microsoft.com/office/officeart/2018/2/layout/IconVerticalSolidList"/>
    <dgm:cxn modelId="{2A24BD5E-901E-4151-9E95-C55CD5CBEF71}" type="presParOf" srcId="{670456F0-3D7C-4E5B-9592-5371D7F8181C}" destId="{91F0AACD-D5E9-4647-BF68-8223D3D2AED3}" srcOrd="0" destOrd="0" presId="urn:microsoft.com/office/officeart/2018/2/layout/IconVerticalSolidList"/>
    <dgm:cxn modelId="{ED4A001C-908D-4FD9-AC31-90FC9833A92D}" type="presParOf" srcId="{670456F0-3D7C-4E5B-9592-5371D7F8181C}" destId="{843281D2-EBBA-4AA7-87F2-9986DB317D2A}" srcOrd="1" destOrd="0" presId="urn:microsoft.com/office/officeart/2018/2/layout/IconVerticalSolidList"/>
    <dgm:cxn modelId="{89BA8C21-3750-4FED-8EFC-E5E79018ADFB}" type="presParOf" srcId="{670456F0-3D7C-4E5B-9592-5371D7F8181C}" destId="{404EFEDC-D809-4978-B687-80A5516456A3}" srcOrd="2" destOrd="0" presId="urn:microsoft.com/office/officeart/2018/2/layout/IconVerticalSolidList"/>
    <dgm:cxn modelId="{8F9D5EE2-A670-4E5B-A20F-CA25C8C1C5DE}" type="presParOf" srcId="{670456F0-3D7C-4E5B-9592-5371D7F8181C}" destId="{BC7FB120-9A83-4BA1-B7C0-5438606827C6}" srcOrd="3" destOrd="0" presId="urn:microsoft.com/office/officeart/2018/2/layout/IconVerticalSolidList"/>
    <dgm:cxn modelId="{0D815155-7446-4C95-AD3F-E93A005427DD}" type="presParOf" srcId="{BBDF5C09-0197-4EEA-B601-CC298B40E86E}" destId="{4F261373-9AEF-4A1A-9A86-0CEDFCA4E563}" srcOrd="3" destOrd="0" presId="urn:microsoft.com/office/officeart/2018/2/layout/IconVerticalSolidList"/>
    <dgm:cxn modelId="{581ADE52-ADA4-411E-AC3F-C0F12005F25A}" type="presParOf" srcId="{BBDF5C09-0197-4EEA-B601-CC298B40E86E}" destId="{F53D72AD-8A32-46FD-9975-EF06A46E9BA2}" srcOrd="4" destOrd="0" presId="urn:microsoft.com/office/officeart/2018/2/layout/IconVerticalSolidList"/>
    <dgm:cxn modelId="{DD17951A-E4CF-45D0-B7A1-44F3D006C197}" type="presParOf" srcId="{F53D72AD-8A32-46FD-9975-EF06A46E9BA2}" destId="{A7135F80-2125-4F7E-9AAF-71C9B27744C1}" srcOrd="0" destOrd="0" presId="urn:microsoft.com/office/officeart/2018/2/layout/IconVerticalSolidList"/>
    <dgm:cxn modelId="{EA8F9C39-A9AD-4BA2-9BFF-E38B45A5C1A7}" type="presParOf" srcId="{F53D72AD-8A32-46FD-9975-EF06A46E9BA2}" destId="{17F76E7F-C08F-47CD-A534-CAA60ADD0178}" srcOrd="1" destOrd="0" presId="urn:microsoft.com/office/officeart/2018/2/layout/IconVerticalSolidList"/>
    <dgm:cxn modelId="{D30AA046-6959-40F3-8E37-0B86915BAB2F}" type="presParOf" srcId="{F53D72AD-8A32-46FD-9975-EF06A46E9BA2}" destId="{60F6542A-9965-4831-A54F-5FDF7449ED25}" srcOrd="2" destOrd="0" presId="urn:microsoft.com/office/officeart/2018/2/layout/IconVerticalSolidList"/>
    <dgm:cxn modelId="{D3CFA6D1-1819-4481-9824-9611AA790D93}" type="presParOf" srcId="{F53D72AD-8A32-46FD-9975-EF06A46E9BA2}" destId="{402D74FE-E7D8-4BDB-9B87-5C043D0206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BBDA9E-2837-4B16-9885-FFE831B350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3_2" csCatId="accent3" phldr="1"/>
      <dgm:spPr/>
      <dgm:t>
        <a:bodyPr/>
        <a:lstStyle/>
        <a:p>
          <a:endParaRPr lang="en-US"/>
        </a:p>
      </dgm:t>
    </dgm:pt>
    <dgm:pt modelId="{42FF6B23-85C1-427F-9067-375A51FB06F2}">
      <dgm:prSet/>
      <dgm:spPr/>
      <dgm:t>
        <a:bodyPr/>
        <a:lstStyle/>
        <a:p>
          <a:r>
            <a:rPr lang="en-AU" dirty="0">
              <a:solidFill>
                <a:srgbClr val="002060"/>
              </a:solidFill>
              <a:highlight>
                <a:srgbClr val="FFFF00"/>
              </a:highlight>
            </a:rPr>
            <a:t>List</a:t>
          </a:r>
          <a:r>
            <a:rPr lang="en-AU" dirty="0"/>
            <a:t> the three levels of government in Australia.</a:t>
          </a:r>
          <a:endParaRPr lang="en-US" dirty="0"/>
        </a:p>
      </dgm:t>
    </dgm:pt>
    <dgm:pt modelId="{3EA3774E-154E-488F-9564-130A3C6EDF6A}" type="parTrans" cxnId="{D6A6ACAD-7544-40A4-BB16-BE2DCD907385}">
      <dgm:prSet/>
      <dgm:spPr/>
      <dgm:t>
        <a:bodyPr/>
        <a:lstStyle/>
        <a:p>
          <a:endParaRPr lang="en-US"/>
        </a:p>
      </dgm:t>
    </dgm:pt>
    <dgm:pt modelId="{D9B45BC0-2F0E-413C-9CEF-2F5AFA55969C}" type="sibTrans" cxnId="{D6A6ACAD-7544-40A4-BB16-BE2DCD907385}">
      <dgm:prSet/>
      <dgm:spPr/>
      <dgm:t>
        <a:bodyPr/>
        <a:lstStyle/>
        <a:p>
          <a:endParaRPr lang="en-US"/>
        </a:p>
      </dgm:t>
    </dgm:pt>
    <dgm:pt modelId="{AC85E448-D0B2-4EE5-97E9-3DEB9237967F}">
      <dgm:prSet/>
      <dgm:spPr/>
      <dgm:t>
        <a:bodyPr/>
        <a:lstStyle/>
        <a:p>
          <a:r>
            <a:rPr lang="en-AU" dirty="0">
              <a:solidFill>
                <a:srgbClr val="002060"/>
              </a:solidFill>
              <a:highlight>
                <a:srgbClr val="FFFF00"/>
              </a:highlight>
            </a:rPr>
            <a:t>State</a:t>
          </a:r>
          <a:r>
            <a:rPr lang="en-AU" dirty="0"/>
            <a:t> three key responsibilities of each level of government.</a:t>
          </a:r>
          <a:endParaRPr lang="en-US" dirty="0"/>
        </a:p>
      </dgm:t>
    </dgm:pt>
    <dgm:pt modelId="{BD055D67-21E7-4FC4-BC90-88DC531A32CE}" type="parTrans" cxnId="{756AA77C-D1AA-4F98-AB9D-8613EEE23F33}">
      <dgm:prSet/>
      <dgm:spPr/>
      <dgm:t>
        <a:bodyPr/>
        <a:lstStyle/>
        <a:p>
          <a:endParaRPr lang="en-US"/>
        </a:p>
      </dgm:t>
    </dgm:pt>
    <dgm:pt modelId="{4DC19B75-E541-4C2E-B0AD-D28C1F5C8144}" type="sibTrans" cxnId="{756AA77C-D1AA-4F98-AB9D-8613EEE23F33}">
      <dgm:prSet/>
      <dgm:spPr/>
      <dgm:t>
        <a:bodyPr/>
        <a:lstStyle/>
        <a:p>
          <a:endParaRPr lang="en-US"/>
        </a:p>
      </dgm:t>
    </dgm:pt>
    <dgm:pt modelId="{CC815DD2-91F7-43DE-ADBA-4927F22052F5}">
      <dgm:prSet/>
      <dgm:spPr/>
      <dgm:t>
        <a:bodyPr/>
        <a:lstStyle/>
        <a:p>
          <a:r>
            <a:rPr lang="en-AU" dirty="0">
              <a:solidFill>
                <a:srgbClr val="002060"/>
              </a:solidFill>
              <a:highlight>
                <a:srgbClr val="FFFF00"/>
              </a:highlight>
            </a:rPr>
            <a:t>Outline</a:t>
          </a:r>
          <a:r>
            <a:rPr lang="en-AU" dirty="0"/>
            <a:t> what is meant by the concept </a:t>
          </a:r>
          <a:r>
            <a:rPr lang="en-AU" i="1" dirty="0"/>
            <a:t>separation of powers</a:t>
          </a:r>
          <a:r>
            <a:rPr lang="en-AU" dirty="0"/>
            <a:t>.</a:t>
          </a:r>
          <a:endParaRPr lang="en-US" dirty="0"/>
        </a:p>
      </dgm:t>
    </dgm:pt>
    <dgm:pt modelId="{65175DFC-0A18-4AB9-B644-5C5CA6FB7581}" type="parTrans" cxnId="{706D24C2-4549-4830-A010-9CC599316BCB}">
      <dgm:prSet/>
      <dgm:spPr/>
      <dgm:t>
        <a:bodyPr/>
        <a:lstStyle/>
        <a:p>
          <a:endParaRPr lang="en-US"/>
        </a:p>
      </dgm:t>
    </dgm:pt>
    <dgm:pt modelId="{E6B763B0-4A11-4B2B-8F8E-B218198E23A0}" type="sibTrans" cxnId="{706D24C2-4549-4830-A010-9CC599316BCB}">
      <dgm:prSet/>
      <dgm:spPr/>
      <dgm:t>
        <a:bodyPr/>
        <a:lstStyle/>
        <a:p>
          <a:endParaRPr lang="en-US"/>
        </a:p>
      </dgm:t>
    </dgm:pt>
    <dgm:pt modelId="{BBDF5C09-0197-4EEA-B601-CC298B40E86E}" type="pres">
      <dgm:prSet presAssocID="{99BBDA9E-2837-4B16-9885-FFE831B35004}" presName="root" presStyleCnt="0">
        <dgm:presLayoutVars>
          <dgm:dir/>
          <dgm:resizeHandles val="exact"/>
        </dgm:presLayoutVars>
      </dgm:prSet>
      <dgm:spPr/>
    </dgm:pt>
    <dgm:pt modelId="{02E1AD54-0179-46FB-BD1F-D2101C1C9231}" type="pres">
      <dgm:prSet presAssocID="{42FF6B23-85C1-427F-9067-375A51FB06F2}" presName="compNode" presStyleCnt="0"/>
      <dgm:spPr/>
    </dgm:pt>
    <dgm:pt modelId="{D1F9A770-7615-4990-8B65-179E6761B0BA}" type="pres">
      <dgm:prSet presAssocID="{42FF6B23-85C1-427F-9067-375A51FB06F2}" presName="bgRect" presStyleLbl="bgShp" presStyleIdx="0" presStyleCnt="3"/>
      <dgm:spPr/>
    </dgm:pt>
    <dgm:pt modelId="{5CC5DDFC-C197-4491-957F-43A6C20AF012}" type="pres">
      <dgm:prSet presAssocID="{42FF6B23-85C1-427F-9067-375A51FB06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363C0529-BD74-4D74-86E6-14AA4640AD4B}" type="pres">
      <dgm:prSet presAssocID="{42FF6B23-85C1-427F-9067-375A51FB06F2}" presName="spaceRect" presStyleCnt="0"/>
      <dgm:spPr/>
    </dgm:pt>
    <dgm:pt modelId="{21792A1B-EE67-4A25-8DC1-74D5637A3304}" type="pres">
      <dgm:prSet presAssocID="{42FF6B23-85C1-427F-9067-375A51FB06F2}" presName="parTx" presStyleLbl="revTx" presStyleIdx="0" presStyleCnt="3">
        <dgm:presLayoutVars>
          <dgm:chMax val="0"/>
          <dgm:chPref val="0"/>
        </dgm:presLayoutVars>
      </dgm:prSet>
      <dgm:spPr/>
    </dgm:pt>
    <dgm:pt modelId="{29A7E529-C0C6-4739-8F24-AD4BEDDFB1CB}" type="pres">
      <dgm:prSet presAssocID="{D9B45BC0-2F0E-413C-9CEF-2F5AFA55969C}" presName="sibTrans" presStyleCnt="0"/>
      <dgm:spPr/>
    </dgm:pt>
    <dgm:pt modelId="{670456F0-3D7C-4E5B-9592-5371D7F8181C}" type="pres">
      <dgm:prSet presAssocID="{AC85E448-D0B2-4EE5-97E9-3DEB9237967F}" presName="compNode" presStyleCnt="0"/>
      <dgm:spPr/>
    </dgm:pt>
    <dgm:pt modelId="{91F0AACD-D5E9-4647-BF68-8223D3D2AED3}" type="pres">
      <dgm:prSet presAssocID="{AC85E448-D0B2-4EE5-97E9-3DEB9237967F}" presName="bgRect" presStyleLbl="bgShp" presStyleIdx="1" presStyleCnt="3"/>
      <dgm:spPr/>
    </dgm:pt>
    <dgm:pt modelId="{843281D2-EBBA-4AA7-87F2-9986DB317D2A}" type="pres">
      <dgm:prSet presAssocID="{AC85E448-D0B2-4EE5-97E9-3DEB9237967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404EFEDC-D809-4978-B687-80A5516456A3}" type="pres">
      <dgm:prSet presAssocID="{AC85E448-D0B2-4EE5-97E9-3DEB9237967F}" presName="spaceRect" presStyleCnt="0"/>
      <dgm:spPr/>
    </dgm:pt>
    <dgm:pt modelId="{BC7FB120-9A83-4BA1-B7C0-5438606827C6}" type="pres">
      <dgm:prSet presAssocID="{AC85E448-D0B2-4EE5-97E9-3DEB9237967F}" presName="parTx" presStyleLbl="revTx" presStyleIdx="1" presStyleCnt="3">
        <dgm:presLayoutVars>
          <dgm:chMax val="0"/>
          <dgm:chPref val="0"/>
        </dgm:presLayoutVars>
      </dgm:prSet>
      <dgm:spPr/>
    </dgm:pt>
    <dgm:pt modelId="{4F261373-9AEF-4A1A-9A86-0CEDFCA4E563}" type="pres">
      <dgm:prSet presAssocID="{4DC19B75-E541-4C2E-B0AD-D28C1F5C8144}" presName="sibTrans" presStyleCnt="0"/>
      <dgm:spPr/>
    </dgm:pt>
    <dgm:pt modelId="{F53D72AD-8A32-46FD-9975-EF06A46E9BA2}" type="pres">
      <dgm:prSet presAssocID="{CC815DD2-91F7-43DE-ADBA-4927F22052F5}" presName="compNode" presStyleCnt="0"/>
      <dgm:spPr/>
    </dgm:pt>
    <dgm:pt modelId="{A7135F80-2125-4F7E-9AAF-71C9B27744C1}" type="pres">
      <dgm:prSet presAssocID="{CC815DD2-91F7-43DE-ADBA-4927F22052F5}" presName="bgRect" presStyleLbl="bgShp" presStyleIdx="2" presStyleCnt="3"/>
      <dgm:spPr/>
    </dgm:pt>
    <dgm:pt modelId="{17F76E7F-C08F-47CD-A534-CAA60ADD0178}" type="pres">
      <dgm:prSet presAssocID="{CC815DD2-91F7-43DE-ADBA-4927F22052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0F6542A-9965-4831-A54F-5FDF7449ED25}" type="pres">
      <dgm:prSet presAssocID="{CC815DD2-91F7-43DE-ADBA-4927F22052F5}" presName="spaceRect" presStyleCnt="0"/>
      <dgm:spPr/>
    </dgm:pt>
    <dgm:pt modelId="{402D74FE-E7D8-4BDB-9B87-5C043D02062F}" type="pres">
      <dgm:prSet presAssocID="{CC815DD2-91F7-43DE-ADBA-4927F22052F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559C728-CD5E-4F4B-AD7B-609CF5418E01}" type="presOf" srcId="{AC85E448-D0B2-4EE5-97E9-3DEB9237967F}" destId="{BC7FB120-9A83-4BA1-B7C0-5438606827C6}" srcOrd="0" destOrd="0" presId="urn:microsoft.com/office/officeart/2018/2/layout/IconVerticalSolidList"/>
    <dgm:cxn modelId="{14073632-1479-4DEE-B32B-F61D10A1BACA}" type="presOf" srcId="{CC815DD2-91F7-43DE-ADBA-4927F22052F5}" destId="{402D74FE-E7D8-4BDB-9B87-5C043D02062F}" srcOrd="0" destOrd="0" presId="urn:microsoft.com/office/officeart/2018/2/layout/IconVerticalSolidList"/>
    <dgm:cxn modelId="{9705A05D-A7D1-4AF2-ADAD-72947E5C80BC}" type="presOf" srcId="{42FF6B23-85C1-427F-9067-375A51FB06F2}" destId="{21792A1B-EE67-4A25-8DC1-74D5637A3304}" srcOrd="0" destOrd="0" presId="urn:microsoft.com/office/officeart/2018/2/layout/IconVerticalSolidList"/>
    <dgm:cxn modelId="{756AA77C-D1AA-4F98-AB9D-8613EEE23F33}" srcId="{99BBDA9E-2837-4B16-9885-FFE831B35004}" destId="{AC85E448-D0B2-4EE5-97E9-3DEB9237967F}" srcOrd="1" destOrd="0" parTransId="{BD055D67-21E7-4FC4-BC90-88DC531A32CE}" sibTransId="{4DC19B75-E541-4C2E-B0AD-D28C1F5C8144}"/>
    <dgm:cxn modelId="{B2202DA6-F377-4AE2-8A14-BF44717507A8}" type="presOf" srcId="{99BBDA9E-2837-4B16-9885-FFE831B35004}" destId="{BBDF5C09-0197-4EEA-B601-CC298B40E86E}" srcOrd="0" destOrd="0" presId="urn:microsoft.com/office/officeart/2018/2/layout/IconVerticalSolidList"/>
    <dgm:cxn modelId="{D6A6ACAD-7544-40A4-BB16-BE2DCD907385}" srcId="{99BBDA9E-2837-4B16-9885-FFE831B35004}" destId="{42FF6B23-85C1-427F-9067-375A51FB06F2}" srcOrd="0" destOrd="0" parTransId="{3EA3774E-154E-488F-9564-130A3C6EDF6A}" sibTransId="{D9B45BC0-2F0E-413C-9CEF-2F5AFA55969C}"/>
    <dgm:cxn modelId="{706D24C2-4549-4830-A010-9CC599316BCB}" srcId="{99BBDA9E-2837-4B16-9885-FFE831B35004}" destId="{CC815DD2-91F7-43DE-ADBA-4927F22052F5}" srcOrd="2" destOrd="0" parTransId="{65175DFC-0A18-4AB9-B644-5C5CA6FB7581}" sibTransId="{E6B763B0-4A11-4B2B-8F8E-B218198E23A0}"/>
    <dgm:cxn modelId="{448B184D-AD0E-4E5B-9F2C-74EDBC13A37C}" type="presParOf" srcId="{BBDF5C09-0197-4EEA-B601-CC298B40E86E}" destId="{02E1AD54-0179-46FB-BD1F-D2101C1C9231}" srcOrd="0" destOrd="0" presId="urn:microsoft.com/office/officeart/2018/2/layout/IconVerticalSolidList"/>
    <dgm:cxn modelId="{5FAEE51B-3B83-46A1-A632-1A7EC38FFFED}" type="presParOf" srcId="{02E1AD54-0179-46FB-BD1F-D2101C1C9231}" destId="{D1F9A770-7615-4990-8B65-179E6761B0BA}" srcOrd="0" destOrd="0" presId="urn:microsoft.com/office/officeart/2018/2/layout/IconVerticalSolidList"/>
    <dgm:cxn modelId="{8185979D-B136-46C3-9809-BAAFD6DD758D}" type="presParOf" srcId="{02E1AD54-0179-46FB-BD1F-D2101C1C9231}" destId="{5CC5DDFC-C197-4491-957F-43A6C20AF012}" srcOrd="1" destOrd="0" presId="urn:microsoft.com/office/officeart/2018/2/layout/IconVerticalSolidList"/>
    <dgm:cxn modelId="{C71982CF-96FA-4B86-8F78-2CCA04AF7EF0}" type="presParOf" srcId="{02E1AD54-0179-46FB-BD1F-D2101C1C9231}" destId="{363C0529-BD74-4D74-86E6-14AA4640AD4B}" srcOrd="2" destOrd="0" presId="urn:microsoft.com/office/officeart/2018/2/layout/IconVerticalSolidList"/>
    <dgm:cxn modelId="{2BF30751-82E0-440E-B89D-BCF882713AFD}" type="presParOf" srcId="{02E1AD54-0179-46FB-BD1F-D2101C1C9231}" destId="{21792A1B-EE67-4A25-8DC1-74D5637A3304}" srcOrd="3" destOrd="0" presId="urn:microsoft.com/office/officeart/2018/2/layout/IconVerticalSolidList"/>
    <dgm:cxn modelId="{1DE57C33-3CDE-4A0E-B4CF-C453A689AD9A}" type="presParOf" srcId="{BBDF5C09-0197-4EEA-B601-CC298B40E86E}" destId="{29A7E529-C0C6-4739-8F24-AD4BEDDFB1CB}" srcOrd="1" destOrd="0" presId="urn:microsoft.com/office/officeart/2018/2/layout/IconVerticalSolidList"/>
    <dgm:cxn modelId="{5EEFFF97-CC6E-4B93-9288-ECA27951403B}" type="presParOf" srcId="{BBDF5C09-0197-4EEA-B601-CC298B40E86E}" destId="{670456F0-3D7C-4E5B-9592-5371D7F8181C}" srcOrd="2" destOrd="0" presId="urn:microsoft.com/office/officeart/2018/2/layout/IconVerticalSolidList"/>
    <dgm:cxn modelId="{2A24BD5E-901E-4151-9E95-C55CD5CBEF71}" type="presParOf" srcId="{670456F0-3D7C-4E5B-9592-5371D7F8181C}" destId="{91F0AACD-D5E9-4647-BF68-8223D3D2AED3}" srcOrd="0" destOrd="0" presId="urn:microsoft.com/office/officeart/2018/2/layout/IconVerticalSolidList"/>
    <dgm:cxn modelId="{ED4A001C-908D-4FD9-AC31-90FC9833A92D}" type="presParOf" srcId="{670456F0-3D7C-4E5B-9592-5371D7F8181C}" destId="{843281D2-EBBA-4AA7-87F2-9986DB317D2A}" srcOrd="1" destOrd="0" presId="urn:microsoft.com/office/officeart/2018/2/layout/IconVerticalSolidList"/>
    <dgm:cxn modelId="{89BA8C21-3750-4FED-8EFC-E5E79018ADFB}" type="presParOf" srcId="{670456F0-3D7C-4E5B-9592-5371D7F8181C}" destId="{404EFEDC-D809-4978-B687-80A5516456A3}" srcOrd="2" destOrd="0" presId="urn:microsoft.com/office/officeart/2018/2/layout/IconVerticalSolidList"/>
    <dgm:cxn modelId="{8F9D5EE2-A670-4E5B-A20F-CA25C8C1C5DE}" type="presParOf" srcId="{670456F0-3D7C-4E5B-9592-5371D7F8181C}" destId="{BC7FB120-9A83-4BA1-B7C0-5438606827C6}" srcOrd="3" destOrd="0" presId="urn:microsoft.com/office/officeart/2018/2/layout/IconVerticalSolidList"/>
    <dgm:cxn modelId="{0D815155-7446-4C95-AD3F-E93A005427DD}" type="presParOf" srcId="{BBDF5C09-0197-4EEA-B601-CC298B40E86E}" destId="{4F261373-9AEF-4A1A-9A86-0CEDFCA4E563}" srcOrd="3" destOrd="0" presId="urn:microsoft.com/office/officeart/2018/2/layout/IconVerticalSolidList"/>
    <dgm:cxn modelId="{581ADE52-ADA4-411E-AC3F-C0F12005F25A}" type="presParOf" srcId="{BBDF5C09-0197-4EEA-B601-CC298B40E86E}" destId="{F53D72AD-8A32-46FD-9975-EF06A46E9BA2}" srcOrd="4" destOrd="0" presId="urn:microsoft.com/office/officeart/2018/2/layout/IconVerticalSolidList"/>
    <dgm:cxn modelId="{DD17951A-E4CF-45D0-B7A1-44F3D006C197}" type="presParOf" srcId="{F53D72AD-8A32-46FD-9975-EF06A46E9BA2}" destId="{A7135F80-2125-4F7E-9AAF-71C9B27744C1}" srcOrd="0" destOrd="0" presId="urn:microsoft.com/office/officeart/2018/2/layout/IconVerticalSolidList"/>
    <dgm:cxn modelId="{EA8F9C39-A9AD-4BA2-9BFF-E38B45A5C1A7}" type="presParOf" srcId="{F53D72AD-8A32-46FD-9975-EF06A46E9BA2}" destId="{17F76E7F-C08F-47CD-A534-CAA60ADD0178}" srcOrd="1" destOrd="0" presId="urn:microsoft.com/office/officeart/2018/2/layout/IconVerticalSolidList"/>
    <dgm:cxn modelId="{D30AA046-6959-40F3-8E37-0B86915BAB2F}" type="presParOf" srcId="{F53D72AD-8A32-46FD-9975-EF06A46E9BA2}" destId="{60F6542A-9965-4831-A54F-5FDF7449ED25}" srcOrd="2" destOrd="0" presId="urn:microsoft.com/office/officeart/2018/2/layout/IconVerticalSolidList"/>
    <dgm:cxn modelId="{D3CFA6D1-1819-4481-9824-9611AA790D93}" type="presParOf" srcId="{F53D72AD-8A32-46FD-9975-EF06A46E9BA2}" destId="{402D74FE-E7D8-4BDB-9B87-5C043D0206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9A770-7615-4990-8B65-179E6761B0BA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C5DDFC-C197-4491-957F-43A6C20AF012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92A1B-EE67-4A25-8DC1-74D5637A3304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>
              <a:highlight>
                <a:srgbClr val="FFFF00"/>
              </a:highlight>
            </a:rPr>
            <a:t>List</a:t>
          </a:r>
          <a:r>
            <a:rPr lang="en-AU" sz="2500" kern="1200" dirty="0"/>
            <a:t> the three levels of government in Australia.</a:t>
          </a:r>
          <a:endParaRPr lang="en-US" sz="2500" kern="1200" dirty="0"/>
        </a:p>
      </dsp:txBody>
      <dsp:txXfrm>
        <a:off x="1939533" y="717"/>
        <a:ext cx="4362067" cy="1679249"/>
      </dsp:txXfrm>
    </dsp:sp>
    <dsp:sp modelId="{91F0AACD-D5E9-4647-BF68-8223D3D2AED3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281D2-EBBA-4AA7-87F2-9986DB317D2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FB120-9A83-4BA1-B7C0-5438606827C6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>
              <a:highlight>
                <a:srgbClr val="FFFF00"/>
              </a:highlight>
            </a:rPr>
            <a:t>State</a:t>
          </a:r>
          <a:r>
            <a:rPr lang="en-AU" sz="2500" kern="1200" dirty="0"/>
            <a:t> three key responsibilities of each level of government.</a:t>
          </a:r>
          <a:endParaRPr lang="en-US" sz="2500" kern="1200" dirty="0"/>
        </a:p>
      </dsp:txBody>
      <dsp:txXfrm>
        <a:off x="1939533" y="2099779"/>
        <a:ext cx="4362067" cy="1679249"/>
      </dsp:txXfrm>
    </dsp:sp>
    <dsp:sp modelId="{A7135F80-2125-4F7E-9AAF-71C9B27744C1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76E7F-C08F-47CD-A534-CAA60ADD0178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2D74FE-E7D8-4BDB-9B87-5C043D02062F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>
              <a:highlight>
                <a:srgbClr val="FFFF00"/>
              </a:highlight>
            </a:rPr>
            <a:t>Outline</a:t>
          </a:r>
          <a:r>
            <a:rPr lang="en-AU" sz="2500" kern="1200" dirty="0"/>
            <a:t> what is meant by the concept </a:t>
          </a:r>
          <a:r>
            <a:rPr lang="en-AU" sz="2500" i="1" kern="1200" dirty="0"/>
            <a:t>separation of powers</a:t>
          </a:r>
          <a:r>
            <a:rPr lang="en-AU" sz="2500" kern="1200" dirty="0"/>
            <a:t>.</a:t>
          </a:r>
          <a:endParaRPr lang="en-US" sz="2500" kern="1200" dirty="0"/>
        </a:p>
      </dsp:txBody>
      <dsp:txXfrm>
        <a:off x="1939533" y="4198841"/>
        <a:ext cx="4362067" cy="1679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9A770-7615-4990-8B65-179E6761B0BA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C5DDFC-C197-4491-957F-43A6C20AF012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92A1B-EE67-4A25-8DC1-74D5637A3304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>
              <a:solidFill>
                <a:srgbClr val="002060"/>
              </a:solidFill>
              <a:highlight>
                <a:srgbClr val="FFFF00"/>
              </a:highlight>
            </a:rPr>
            <a:t>List</a:t>
          </a:r>
          <a:r>
            <a:rPr lang="en-AU" sz="2500" kern="1200" dirty="0"/>
            <a:t> the three levels of government in Australia.</a:t>
          </a:r>
          <a:endParaRPr lang="en-US" sz="2500" kern="1200" dirty="0"/>
        </a:p>
      </dsp:txBody>
      <dsp:txXfrm>
        <a:off x="1816103" y="671"/>
        <a:ext cx="4447536" cy="1572384"/>
      </dsp:txXfrm>
    </dsp:sp>
    <dsp:sp modelId="{91F0AACD-D5E9-4647-BF68-8223D3D2AED3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281D2-EBBA-4AA7-87F2-9986DB317D2A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FB120-9A83-4BA1-B7C0-5438606827C6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>
              <a:solidFill>
                <a:srgbClr val="002060"/>
              </a:solidFill>
              <a:highlight>
                <a:srgbClr val="FFFF00"/>
              </a:highlight>
            </a:rPr>
            <a:t>State</a:t>
          </a:r>
          <a:r>
            <a:rPr lang="en-AU" sz="2500" kern="1200" dirty="0"/>
            <a:t> three key responsibilities of each level of government.</a:t>
          </a:r>
          <a:endParaRPr lang="en-US" sz="2500" kern="1200" dirty="0"/>
        </a:p>
      </dsp:txBody>
      <dsp:txXfrm>
        <a:off x="1816103" y="1966151"/>
        <a:ext cx="4447536" cy="1572384"/>
      </dsp:txXfrm>
    </dsp:sp>
    <dsp:sp modelId="{A7135F80-2125-4F7E-9AAF-71C9B27744C1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76E7F-C08F-47CD-A534-CAA60ADD0178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2D74FE-E7D8-4BDB-9B87-5C043D02062F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>
              <a:solidFill>
                <a:srgbClr val="002060"/>
              </a:solidFill>
              <a:highlight>
                <a:srgbClr val="FFFF00"/>
              </a:highlight>
            </a:rPr>
            <a:t>Outline</a:t>
          </a:r>
          <a:r>
            <a:rPr lang="en-AU" sz="2500" kern="1200" dirty="0"/>
            <a:t> what is meant by the concept </a:t>
          </a:r>
          <a:r>
            <a:rPr lang="en-AU" sz="2500" i="1" kern="1200" dirty="0"/>
            <a:t>separation of powers</a:t>
          </a:r>
          <a:r>
            <a:rPr lang="en-AU" sz="2500" kern="1200" dirty="0"/>
            <a:t>.</a:t>
          </a:r>
          <a:endParaRPr lang="en-US" sz="2500" kern="1200" dirty="0"/>
        </a:p>
      </dsp:txBody>
      <dsp:txXfrm>
        <a:off x="1816103" y="3931632"/>
        <a:ext cx="4447536" cy="1572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4700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946F9-F195-42DB-9D99-8DDA0F8AA429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4700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2C52E-C25B-45BB-B830-446D653904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51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246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79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26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9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48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723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54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276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97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394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888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AF98B-3803-43BA-A2AF-C4209DB68860}" type="datetimeFigureOut">
              <a:rPr lang="en-AU" smtClean="0"/>
              <a:t>10/05/2023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657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0CF8F-36B0-4230-AA1E-F973E265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655" y="347748"/>
            <a:ext cx="9833548" cy="1325563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AU" sz="8000" dirty="0">
                <a:solidFill>
                  <a:srgbClr val="002060"/>
                </a:solidFill>
              </a:rPr>
              <a:t>Learning Intentions (LI) </a:t>
            </a:r>
            <a:r>
              <a:rPr lang="en-AU" sz="8000" dirty="0">
                <a:solidFill>
                  <a:srgbClr val="002060"/>
                </a:solidFill>
                <a:sym typeface="Wingdings" panose="05000000000000000000" pitchFamily="2" charset="2"/>
              </a:rPr>
              <a:t></a:t>
            </a:r>
            <a:endParaRPr lang="en-AU" sz="8000" dirty="0">
              <a:solidFill>
                <a:srgbClr val="00206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37560-56BB-4C23-8247-15194C2F0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092" y="202105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800" dirty="0">
                <a:solidFill>
                  <a:schemeClr val="accent5"/>
                </a:solidFill>
              </a:rPr>
              <a:t>Date: 11/5/23</a:t>
            </a:r>
          </a:p>
          <a:p>
            <a:r>
              <a:rPr lang="en-AU" sz="4800" dirty="0"/>
              <a:t>Review what is meant by ‘division of powers’, including responsibilities.</a:t>
            </a:r>
          </a:p>
          <a:p>
            <a:r>
              <a:rPr lang="en-AU" sz="4800" dirty="0"/>
              <a:t>Investigate the concept ‘separation of powers’.</a:t>
            </a:r>
          </a:p>
        </p:txBody>
      </p:sp>
    </p:spTree>
    <p:extLst>
      <p:ext uri="{BB962C8B-B14F-4D97-AF65-F5344CB8AC3E}">
        <p14:creationId xmlns:p14="http://schemas.microsoft.com/office/powerpoint/2010/main" val="410021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0CF8F-36B0-4230-AA1E-F973E265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51" y="1195697"/>
            <a:ext cx="3632349" cy="4238118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chemeClr val="bg1"/>
                </a:solidFill>
                <a:sym typeface="Wingdings" panose="05000000000000000000" pitchFamily="2" charset="2"/>
              </a:rPr>
              <a:t>Success Criteria (SC) </a:t>
            </a:r>
            <a:endParaRPr lang="en-AU" dirty="0">
              <a:solidFill>
                <a:schemeClr val="bg1"/>
              </a:solidFill>
            </a:endParaRPr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7E492FF-F445-001E-E299-AB2F38AD5A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52012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3050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6602C1-E4DC-4DAA-8325-D0774C582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639431"/>
            <a:ext cx="5760846" cy="1445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Review – </a:t>
            </a:r>
            <a:r>
              <a:rPr lang="en-US" sz="52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RIQ -321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2B900-ABC6-46F7-AF74-454851051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4368" y="2004070"/>
            <a:ext cx="6848856" cy="373836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Please write the following in your book.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3 Recalls (Remember)</a:t>
            </a:r>
          </a:p>
          <a:p>
            <a:pPr marL="342900" indent="-342900">
              <a:buFontTx/>
              <a:buChar char="-"/>
            </a:pP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2 Insights (Interesting)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tx2"/>
                </a:solidFill>
              </a:rPr>
              <a:t>1 Question</a:t>
            </a:r>
          </a:p>
          <a:p>
            <a:pPr marL="342900" indent="-342900">
              <a:buFontTx/>
              <a:buChar char="-"/>
            </a:pPr>
            <a:endParaRPr lang="en-US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tx2"/>
                </a:solidFill>
              </a:rPr>
              <a:t>You must focus on the topic – </a:t>
            </a:r>
            <a:r>
              <a:rPr lang="en-US" b="1" dirty="0">
                <a:solidFill>
                  <a:schemeClr val="tx2"/>
                </a:solidFill>
                <a:highlight>
                  <a:srgbClr val="FFFF00"/>
                </a:highlight>
              </a:rPr>
              <a:t>‘Division of Powers’</a:t>
            </a:r>
            <a:endParaRPr lang="en-US" sz="2400" b="1" kern="1200" dirty="0">
              <a:solidFill>
                <a:schemeClr val="tx2"/>
              </a:solidFill>
              <a:highlight>
                <a:srgbClr val="FFFF00"/>
              </a:highlight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245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735147"/>
              </p:ext>
            </p:extLst>
          </p:nvPr>
        </p:nvGraphicFramePr>
        <p:xfrm>
          <a:off x="643467" y="1070741"/>
          <a:ext cx="10905066" cy="47165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2533">
                  <a:extLst>
                    <a:ext uri="{9D8B030D-6E8A-4147-A177-3AD203B41FA5}">
                      <a16:colId xmlns:a16="http://schemas.microsoft.com/office/drawing/2014/main" val="1744316593"/>
                    </a:ext>
                  </a:extLst>
                </a:gridCol>
                <a:gridCol w="5452533">
                  <a:extLst>
                    <a:ext uri="{9D8B030D-6E8A-4147-A177-3AD203B41FA5}">
                      <a16:colId xmlns:a16="http://schemas.microsoft.com/office/drawing/2014/main" val="3019572021"/>
                    </a:ext>
                  </a:extLst>
                </a:gridCol>
              </a:tblGrid>
              <a:tr h="524058">
                <a:tc>
                  <a:txBody>
                    <a:bodyPr/>
                    <a:lstStyle/>
                    <a:p>
                      <a:pPr algn="ctr"/>
                      <a:r>
                        <a:rPr lang="en-AU" sz="2500" b="1"/>
                        <a:t>FEDERAL</a:t>
                      </a:r>
                    </a:p>
                  </a:txBody>
                  <a:tcPr marL="100138" marR="100138" marT="50069" marB="5006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 b="1"/>
                        <a:t>STATE</a:t>
                      </a:r>
                    </a:p>
                  </a:txBody>
                  <a:tcPr marL="100138" marR="100138" marT="50069" marB="50069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756736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lvl="0" algn="ctr"/>
                      <a:r>
                        <a:rPr lang="en-US" sz="2500"/>
                        <a:t>Foreign policy</a:t>
                      </a:r>
                    </a:p>
                  </a:txBody>
                  <a:tcPr marL="100138" marR="100138" marT="50069" marB="50069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Schools</a:t>
                      </a:r>
                    </a:p>
                  </a:txBody>
                  <a:tcPr marL="100138" marR="100138" marT="50069" marB="50069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33377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lvl="0" algn="ctr"/>
                      <a:r>
                        <a:rPr lang="en-US" sz="2500"/>
                        <a:t>Currency</a:t>
                      </a:r>
                    </a:p>
                  </a:txBody>
                  <a:tcPr marL="100138" marR="100138" marT="50069" marB="50069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Hospitals</a:t>
                      </a:r>
                    </a:p>
                  </a:txBody>
                  <a:tcPr marL="100138" marR="100138" marT="50069" marB="50069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05513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lvl="0" algn="ctr"/>
                      <a:r>
                        <a:rPr lang="en-US" sz="2500"/>
                        <a:t>Immigration</a:t>
                      </a:r>
                    </a:p>
                  </a:txBody>
                  <a:tcPr marL="100138" marR="100138" marT="50069" marB="50069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Roads and railways</a:t>
                      </a:r>
                    </a:p>
                  </a:txBody>
                  <a:tcPr marL="100138" marR="100138" marT="50069" marB="50069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33516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lvl="0" algn="ctr"/>
                      <a:r>
                        <a:rPr lang="en-US" sz="2500"/>
                        <a:t>Defence</a:t>
                      </a:r>
                    </a:p>
                  </a:txBody>
                  <a:tcPr marL="100138" marR="100138" marT="50069" marB="50069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Police</a:t>
                      </a:r>
                    </a:p>
                  </a:txBody>
                  <a:tcPr marL="100138" marR="100138" marT="50069" marB="50069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80459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lvl="0" algn="ctr"/>
                      <a:r>
                        <a:rPr lang="en-US" sz="2500"/>
                        <a:t>Weights and measures</a:t>
                      </a:r>
                    </a:p>
                  </a:txBody>
                  <a:tcPr marL="100138" marR="100138" marT="50069" marB="50069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Mining</a:t>
                      </a:r>
                      <a:r>
                        <a:rPr lang="en-AU" sz="2500" baseline="0"/>
                        <a:t> and agriculture</a:t>
                      </a:r>
                      <a:endParaRPr lang="en-AU" sz="2500"/>
                    </a:p>
                  </a:txBody>
                  <a:tcPr marL="100138" marR="100138" marT="50069" marB="50069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3457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lvl="0" algn="ctr"/>
                      <a:r>
                        <a:rPr lang="en-US" sz="2500"/>
                        <a:t>Social security</a:t>
                      </a:r>
                    </a:p>
                  </a:txBody>
                  <a:tcPr marL="100138" marR="100138" marT="50069" marB="50069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Prisons</a:t>
                      </a:r>
                    </a:p>
                  </a:txBody>
                  <a:tcPr marL="100138" marR="100138" marT="50069" marB="50069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339200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lvl="0" algn="ctr"/>
                      <a:r>
                        <a:rPr lang="en-US" sz="2500"/>
                        <a:t>Trade and commerce</a:t>
                      </a:r>
                    </a:p>
                  </a:txBody>
                  <a:tcPr marL="100138" marR="100138" marT="50069" marB="50069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Public transport</a:t>
                      </a:r>
                    </a:p>
                  </a:txBody>
                  <a:tcPr marL="100138" marR="100138" marT="50069" marB="50069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8633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/>
                        <a:t>Postal and communication services</a:t>
                      </a:r>
                    </a:p>
                  </a:txBody>
                  <a:tcPr marL="100138" marR="100138" marT="50069" marB="50069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Utilities such as electricity and water</a:t>
                      </a:r>
                    </a:p>
                  </a:txBody>
                  <a:tcPr marL="100138" marR="100138" marT="50069" marB="50069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89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524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420" y="1153572"/>
            <a:ext cx="3708814" cy="4461163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The three branches/arms of government    </a:t>
            </a:r>
            <a:r>
              <a:rPr lang="en-AU" dirty="0">
                <a:solidFill>
                  <a:srgbClr val="FFFFFF"/>
                </a:solidFill>
                <a:sym typeface="Wingdings" panose="05000000000000000000" pitchFamily="2" charset="2"/>
              </a:rPr>
              <a:t></a:t>
            </a:r>
            <a:endParaRPr lang="en-AU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dirty="0"/>
              <a:t>There are 3 main branches/arms of the Australian government:</a:t>
            </a:r>
          </a:p>
          <a:p>
            <a:pPr marL="514350" indent="-514350">
              <a:buAutoNum type="arabicPeriod"/>
            </a:pPr>
            <a:r>
              <a:rPr lang="en-AU" dirty="0"/>
              <a:t>The parliament/legislature</a:t>
            </a:r>
          </a:p>
          <a:p>
            <a:pPr marL="514350" indent="-514350">
              <a:buAutoNum type="arabicPeriod"/>
            </a:pPr>
            <a:r>
              <a:rPr lang="en-AU" dirty="0"/>
              <a:t>The executive</a:t>
            </a:r>
          </a:p>
          <a:p>
            <a:pPr marL="514350" indent="-514350">
              <a:buAutoNum type="arabicPeriod"/>
            </a:pPr>
            <a:r>
              <a:rPr lang="en-AU" dirty="0"/>
              <a:t>The judiciary </a:t>
            </a:r>
          </a:p>
        </p:txBody>
      </p:sp>
    </p:spTree>
    <p:extLst>
      <p:ext uri="{BB962C8B-B14F-4D97-AF65-F5344CB8AC3E}">
        <p14:creationId xmlns:p14="http://schemas.microsoft.com/office/powerpoint/2010/main" val="3750111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eparation of powers austral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52" y="0"/>
            <a:ext cx="99420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311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9363" y="243145"/>
            <a:ext cx="8603166" cy="1899912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The Parliament/Legislative </a:t>
            </a:r>
            <a:r>
              <a:rPr lang="en-AU" sz="4000" b="1" dirty="0">
                <a:sym typeface="Wingdings" panose="05000000000000000000" pitchFamily="2" charset="2"/>
              </a:rPr>
              <a:t></a:t>
            </a:r>
            <a:r>
              <a:rPr lang="en-AU" sz="4000" b="1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234" y="1922137"/>
            <a:ext cx="10441110" cy="3742762"/>
          </a:xfrm>
        </p:spPr>
        <p:txBody>
          <a:bodyPr>
            <a:noAutofit/>
          </a:bodyPr>
          <a:lstStyle/>
          <a:p>
            <a:r>
              <a:rPr lang="en-AU" sz="4400" dirty="0"/>
              <a:t>This is the parliament, which has the power to make new laws and to change or repeal existing laws. </a:t>
            </a:r>
          </a:p>
          <a:p>
            <a:r>
              <a:rPr lang="en-AU" sz="4400" dirty="0"/>
              <a:t>It consists of two separate ‘houses’ – the House of Representatives and the Senate – together with the Governor-General as the representative of the King. </a:t>
            </a:r>
          </a:p>
        </p:txBody>
      </p:sp>
    </p:spTree>
    <p:extLst>
      <p:ext uri="{BB962C8B-B14F-4D97-AF65-F5344CB8AC3E}">
        <p14:creationId xmlns:p14="http://schemas.microsoft.com/office/powerpoint/2010/main" val="147768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3344" y="333247"/>
            <a:ext cx="6989064" cy="1899912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rgbClr val="0070C0"/>
                </a:solidFill>
              </a:rPr>
              <a:t>The Executive  </a:t>
            </a:r>
            <a:r>
              <a:rPr lang="en-AU" sz="5400" b="1" dirty="0">
                <a:sym typeface="Wingdings" panose="05000000000000000000" pitchFamily="2" charset="2"/>
              </a:rPr>
              <a:t></a:t>
            </a:r>
            <a:endParaRPr lang="en-AU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737" y="1832035"/>
            <a:ext cx="10363063" cy="3742762"/>
          </a:xfrm>
        </p:spPr>
        <p:txBody>
          <a:bodyPr>
            <a:noAutofit/>
          </a:bodyPr>
          <a:lstStyle/>
          <a:p>
            <a:r>
              <a:rPr lang="en-AU" sz="4800" dirty="0"/>
              <a:t>This is the branch of government with the responsibility of putting laws into action. </a:t>
            </a:r>
          </a:p>
          <a:p>
            <a:r>
              <a:rPr lang="en-AU" sz="4800" dirty="0"/>
              <a:t>Executive power officially lies with the Governor-General, but is usually exercised by government ministers. </a:t>
            </a:r>
          </a:p>
        </p:txBody>
      </p:sp>
    </p:spTree>
    <p:extLst>
      <p:ext uri="{BB962C8B-B14F-4D97-AF65-F5344CB8AC3E}">
        <p14:creationId xmlns:p14="http://schemas.microsoft.com/office/powerpoint/2010/main" val="3516224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1" y="374269"/>
            <a:ext cx="4749170" cy="1899912"/>
          </a:xfrm>
        </p:spPr>
        <p:txBody>
          <a:bodyPr>
            <a:normAutofit/>
          </a:bodyPr>
          <a:lstStyle/>
          <a:p>
            <a:pPr algn="ctr"/>
            <a:r>
              <a:rPr lang="en-AU" b="1" dirty="0">
                <a:solidFill>
                  <a:srgbClr val="0070C0"/>
                </a:solidFill>
              </a:rPr>
              <a:t>The Judiciary  </a:t>
            </a:r>
            <a:r>
              <a:rPr lang="en-AU" dirty="0">
                <a:sym typeface="Wingdings" panose="05000000000000000000" pitchFamily="2" charset="2"/>
              </a:rPr>
              <a:t>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943" y="2010455"/>
            <a:ext cx="10938641" cy="3742762"/>
          </a:xfrm>
        </p:spPr>
        <p:txBody>
          <a:bodyPr>
            <a:noAutofit/>
          </a:bodyPr>
          <a:lstStyle/>
          <a:p>
            <a:r>
              <a:rPr lang="en-AU" sz="5400" dirty="0"/>
              <a:t>This includes the judiciary and the courts.</a:t>
            </a:r>
          </a:p>
          <a:p>
            <a:r>
              <a:rPr lang="en-AU" sz="5400" dirty="0"/>
              <a:t>These are responsible for enforcing the law and settling disputes that might arise under the law. </a:t>
            </a:r>
          </a:p>
        </p:txBody>
      </p:sp>
    </p:spTree>
    <p:extLst>
      <p:ext uri="{BB962C8B-B14F-4D97-AF65-F5344CB8AC3E}">
        <p14:creationId xmlns:p14="http://schemas.microsoft.com/office/powerpoint/2010/main" val="158914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0CF8F-36B0-4230-AA1E-F973E265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557189"/>
            <a:ext cx="3864864" cy="5567891"/>
          </a:xfrm>
        </p:spPr>
        <p:txBody>
          <a:bodyPr>
            <a:normAutofit/>
          </a:bodyPr>
          <a:lstStyle/>
          <a:p>
            <a:r>
              <a:rPr lang="en-AU" sz="5200" dirty="0">
                <a:sym typeface="Wingdings" panose="05000000000000000000" pitchFamily="2" charset="2"/>
              </a:rPr>
              <a:t>Success Criteria (SC) </a:t>
            </a:r>
            <a:endParaRPr lang="en-AU" sz="5200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7E492FF-F445-001E-E299-AB2F38AD5A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692802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810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319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Learning Intentions (LI) </vt:lpstr>
      <vt:lpstr>Success Criteria (SC) </vt:lpstr>
      <vt:lpstr>Review – RIQ -321</vt:lpstr>
      <vt:lpstr>PowerPoint Presentation</vt:lpstr>
      <vt:lpstr>The three branches/arms of government    </vt:lpstr>
      <vt:lpstr>PowerPoint Presentation</vt:lpstr>
      <vt:lpstr>The Parliament/Legislative   </vt:lpstr>
      <vt:lpstr>The Executive  </vt:lpstr>
      <vt:lpstr>The Judiciary  </vt:lpstr>
      <vt:lpstr>Success Criteria (SC)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separation of powers</dc:title>
  <dc:creator>HAWKES Natasha [Narrogin Senior High School]</dc:creator>
  <cp:lastModifiedBy>RINTOUL Brooke [Narrogin Senior High School]</cp:lastModifiedBy>
  <cp:revision>19</cp:revision>
  <cp:lastPrinted>2018-10-16T07:49:09Z</cp:lastPrinted>
  <dcterms:created xsi:type="dcterms:W3CDTF">2018-10-15T04:41:27Z</dcterms:created>
  <dcterms:modified xsi:type="dcterms:W3CDTF">2023-05-10T11:18:16Z</dcterms:modified>
</cp:coreProperties>
</file>
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87" r:id="rId3"/>
    <p:sldId id="271" r:id="rId4"/>
    <p:sldId id="264" r:id="rId5"/>
    <p:sldId id="288" r:id="rId6"/>
    <p:sldId id="289" r:id="rId7"/>
    <p:sldId id="290" r:id="rId8"/>
    <p:sldId id="262" r:id="rId9"/>
    <p:sldId id="291" r:id="rId10"/>
    <p:sldId id="292" r:id="rId11"/>
    <p:sldId id="274" r:id="rId12"/>
    <p:sldId id="293" r:id="rId13"/>
    <p:sldId id="294" r:id="rId14"/>
    <p:sldId id="285" r:id="rId15"/>
    <p:sldId id="295" r:id="rId16"/>
    <p:sldId id="286" r:id="rId17"/>
    <p:sldId id="296" r:id="rId18"/>
    <p:sldId id="2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6456" autoAdjust="0"/>
  </p:normalViewPr>
  <p:slideViewPr>
    <p:cSldViewPr snapToGrid="0">
      <p:cViewPr>
        <p:scale>
          <a:sx n="62" d="100"/>
          <a:sy n="62"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A429A-26A7-4390-BD56-A9B48BC29F65}" type="datetimeFigureOut">
              <a:rPr lang="en-AU" smtClean="0"/>
              <a:t>16/10/2020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E3443-0DB8-4028-BAC9-09724F917887}" type="slidenum">
              <a:rPr lang="en-AU" smtClean="0"/>
              <a:t>‹#›</a:t>
            </a:fld>
            <a:endParaRPr lang="en-AU"/>
          </a:p>
        </p:txBody>
      </p:sp>
    </p:spTree>
    <p:extLst>
      <p:ext uri="{BB962C8B-B14F-4D97-AF65-F5344CB8AC3E}">
        <p14:creationId xmlns:p14="http://schemas.microsoft.com/office/powerpoint/2010/main" val="3364325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https://callanmorse.wordpress.com/2015/03/06/week-two-blog-civics-citizenship/</a:t>
            </a:r>
          </a:p>
        </p:txBody>
      </p:sp>
      <p:sp>
        <p:nvSpPr>
          <p:cNvPr id="4" name="Slide Number Placeholder 3"/>
          <p:cNvSpPr>
            <a:spLocks noGrp="1"/>
          </p:cNvSpPr>
          <p:nvPr>
            <p:ph type="sldNum" sz="quarter" idx="5"/>
          </p:nvPr>
        </p:nvSpPr>
        <p:spPr/>
        <p:txBody>
          <a:bodyPr/>
          <a:lstStyle/>
          <a:p>
            <a:fld id="{A16E3443-0DB8-4028-BAC9-09724F917887}" type="slidenum">
              <a:rPr lang="en-AU" smtClean="0"/>
              <a:t>2</a:t>
            </a:fld>
            <a:endParaRPr lang="en-AU"/>
          </a:p>
        </p:txBody>
      </p:sp>
    </p:spTree>
    <p:extLst>
      <p:ext uri="{BB962C8B-B14F-4D97-AF65-F5344CB8AC3E}">
        <p14:creationId xmlns:p14="http://schemas.microsoft.com/office/powerpoint/2010/main" val="2742175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i="0" dirty="0">
                <a:solidFill>
                  <a:srgbClr val="000000"/>
                </a:solidFill>
                <a:effectLst/>
                <a:latin typeface="Helvetica Neue Custom"/>
              </a:rPr>
              <a:t>Democracy - A short introduction</a:t>
            </a:r>
          </a:p>
          <a:p>
            <a:r>
              <a:rPr lang="en-AU" dirty="0"/>
              <a:t>https://youtu.be/u6jgWxkbR7A?t=179</a:t>
            </a:r>
          </a:p>
          <a:p>
            <a:r>
              <a:rPr lang="en-AU" dirty="0"/>
              <a:t>3 mins</a:t>
            </a:r>
          </a:p>
          <a:p>
            <a:endParaRPr lang="en-AU" dirty="0"/>
          </a:p>
          <a:p>
            <a:r>
              <a:rPr lang="en-AU" dirty="0"/>
              <a:t>Supplementary video – What is democracy – Australian Human Right Commission</a:t>
            </a:r>
          </a:p>
          <a:p>
            <a:endParaRPr lang="en-AU" dirty="0"/>
          </a:p>
          <a:p>
            <a:r>
              <a:rPr lang="en-AU" dirty="0"/>
              <a:t>https://www.youtube.com/watch?v=8Eu6G5YrBt4&amp;feature=emb_logo</a:t>
            </a:r>
          </a:p>
          <a:p>
            <a:endParaRPr lang="en-AU" dirty="0"/>
          </a:p>
        </p:txBody>
      </p:sp>
      <p:sp>
        <p:nvSpPr>
          <p:cNvPr id="4" name="Slide Number Placeholder 3"/>
          <p:cNvSpPr>
            <a:spLocks noGrp="1"/>
          </p:cNvSpPr>
          <p:nvPr>
            <p:ph type="sldNum" sz="quarter" idx="10"/>
          </p:nvPr>
        </p:nvSpPr>
        <p:spPr/>
        <p:txBody>
          <a:bodyPr/>
          <a:lstStyle/>
          <a:p>
            <a:fld id="{A16E3443-0DB8-4028-BAC9-09724F917887}" type="slidenum">
              <a:rPr lang="en-AU" smtClean="0"/>
              <a:t>3</a:t>
            </a:fld>
            <a:endParaRPr lang="en-AU"/>
          </a:p>
        </p:txBody>
      </p:sp>
    </p:spTree>
    <p:extLst>
      <p:ext uri="{BB962C8B-B14F-4D97-AF65-F5344CB8AC3E}">
        <p14:creationId xmlns:p14="http://schemas.microsoft.com/office/powerpoint/2010/main" val="2789019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https://www.youtube.com/watch?v=DTT86MSn-pQ&amp;feature=emb_logo</a:t>
            </a:r>
          </a:p>
          <a:p>
            <a:r>
              <a:rPr lang="en-AU" dirty="0"/>
              <a:t>The Australian Way – 5.40 minutes</a:t>
            </a:r>
          </a:p>
        </p:txBody>
      </p:sp>
      <p:sp>
        <p:nvSpPr>
          <p:cNvPr id="4" name="Slide Number Placeholder 3"/>
          <p:cNvSpPr>
            <a:spLocks noGrp="1"/>
          </p:cNvSpPr>
          <p:nvPr>
            <p:ph type="sldNum" sz="quarter" idx="10"/>
          </p:nvPr>
        </p:nvSpPr>
        <p:spPr/>
        <p:txBody>
          <a:bodyPr/>
          <a:lstStyle/>
          <a:p>
            <a:fld id="{A16E3443-0DB8-4028-BAC9-09724F917887}" type="slidenum">
              <a:rPr lang="en-AU" smtClean="0"/>
              <a:t>4</a:t>
            </a:fld>
            <a:endParaRPr lang="en-AU"/>
          </a:p>
        </p:txBody>
      </p:sp>
    </p:spTree>
    <p:extLst>
      <p:ext uri="{BB962C8B-B14F-4D97-AF65-F5344CB8AC3E}">
        <p14:creationId xmlns:p14="http://schemas.microsoft.com/office/powerpoint/2010/main" val="3384123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6E3443-0DB8-4028-BAC9-09724F917887}" type="slidenum">
              <a:rPr lang="en-AU" smtClean="0"/>
              <a:t>6</a:t>
            </a:fld>
            <a:endParaRPr lang="en-AU"/>
          </a:p>
        </p:txBody>
      </p:sp>
    </p:spTree>
    <p:extLst>
      <p:ext uri="{BB962C8B-B14F-4D97-AF65-F5344CB8AC3E}">
        <p14:creationId xmlns:p14="http://schemas.microsoft.com/office/powerpoint/2010/main" val="1737888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https://education.abc.net.au/web/splash#!/media/2717810/the-westminster-system-and-borrowed-traditions</a:t>
            </a:r>
          </a:p>
          <a:p>
            <a:r>
              <a:rPr lang="en-AU" dirty="0"/>
              <a:t>5 </a:t>
            </a:r>
            <a:r>
              <a:rPr lang="en-AU" dirty="0" err="1"/>
              <a:t>mins</a:t>
            </a:r>
            <a:r>
              <a:rPr lang="en-AU" dirty="0"/>
              <a:t> 28 secs</a:t>
            </a:r>
          </a:p>
          <a:p>
            <a:r>
              <a:rPr lang="en-AU" dirty="0"/>
              <a:t>Annabel </a:t>
            </a:r>
            <a:r>
              <a:rPr lang="en-AU" dirty="0" err="1"/>
              <a:t>Crabb</a:t>
            </a:r>
            <a:r>
              <a:rPr lang="en-AU" dirty="0"/>
              <a:t> explains the interesting traditions that the Parliament of Australia has borrowed from the parliament of Westminster in the United Kingdom. Who is Black Rod, and what is a sergeant-at-arms? What is the Mace, and why is a hood placed over it when entering the presence of the Governor-General? And why would representatives of Australia's armed forces aim artillery at Parliament House?</a:t>
            </a:r>
          </a:p>
        </p:txBody>
      </p:sp>
      <p:sp>
        <p:nvSpPr>
          <p:cNvPr id="4" name="Slide Number Placeholder 3"/>
          <p:cNvSpPr>
            <a:spLocks noGrp="1"/>
          </p:cNvSpPr>
          <p:nvPr>
            <p:ph type="sldNum" sz="quarter" idx="10"/>
          </p:nvPr>
        </p:nvSpPr>
        <p:spPr/>
        <p:txBody>
          <a:bodyPr/>
          <a:lstStyle/>
          <a:p>
            <a:fld id="{A16E3443-0DB8-4028-BAC9-09724F917887}" type="slidenum">
              <a:rPr lang="en-AU" smtClean="0"/>
              <a:t>8</a:t>
            </a:fld>
            <a:endParaRPr lang="en-AU"/>
          </a:p>
        </p:txBody>
      </p:sp>
    </p:spTree>
    <p:extLst>
      <p:ext uri="{BB962C8B-B14F-4D97-AF65-F5344CB8AC3E}">
        <p14:creationId xmlns:p14="http://schemas.microsoft.com/office/powerpoint/2010/main" val="272522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 encourage students to recall the key words, the words used in this activity will only appear </a:t>
            </a:r>
            <a:r>
              <a:rPr lang="en-AU" dirty="0" err="1"/>
              <a:t>afer</a:t>
            </a:r>
            <a:r>
              <a:rPr lang="en-AU" dirty="0"/>
              <a:t> the teacher makes a mouse click.</a:t>
            </a:r>
          </a:p>
        </p:txBody>
      </p:sp>
      <p:sp>
        <p:nvSpPr>
          <p:cNvPr id="4" name="Slide Number Placeholder 3"/>
          <p:cNvSpPr>
            <a:spLocks noGrp="1"/>
          </p:cNvSpPr>
          <p:nvPr>
            <p:ph type="sldNum" sz="quarter" idx="5"/>
          </p:nvPr>
        </p:nvSpPr>
        <p:spPr/>
        <p:txBody>
          <a:bodyPr/>
          <a:lstStyle/>
          <a:p>
            <a:fld id="{A16E3443-0DB8-4028-BAC9-09724F917887}" type="slidenum">
              <a:rPr lang="en-AU" smtClean="0"/>
              <a:t>9</a:t>
            </a:fld>
            <a:endParaRPr lang="en-AU"/>
          </a:p>
        </p:txBody>
      </p:sp>
    </p:spTree>
    <p:extLst>
      <p:ext uri="{BB962C8B-B14F-4D97-AF65-F5344CB8AC3E}">
        <p14:creationId xmlns:p14="http://schemas.microsoft.com/office/powerpoint/2010/main" val="3752269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https://www.youtube.com/watch?v=H0CTHVCkm90</a:t>
            </a:r>
          </a:p>
          <a:p>
            <a:r>
              <a:rPr lang="en-AU" dirty="0"/>
              <a:t>10.14 minutes</a:t>
            </a:r>
          </a:p>
          <a:p>
            <a:r>
              <a:rPr lang="en-AU" dirty="0"/>
              <a:t>In today’s episode, Hank asks you to consider all the ways people talk about justice and what we really mean when we use that word. We’ll explain various theories of justice, just distribution, and different approaches to punishment.</a:t>
            </a:r>
          </a:p>
          <a:p>
            <a:endParaRPr lang="en-AU" dirty="0"/>
          </a:p>
        </p:txBody>
      </p:sp>
      <p:sp>
        <p:nvSpPr>
          <p:cNvPr id="4" name="Slide Number Placeholder 3"/>
          <p:cNvSpPr>
            <a:spLocks noGrp="1"/>
          </p:cNvSpPr>
          <p:nvPr>
            <p:ph type="sldNum" sz="quarter" idx="10"/>
          </p:nvPr>
        </p:nvSpPr>
        <p:spPr/>
        <p:txBody>
          <a:bodyPr/>
          <a:lstStyle/>
          <a:p>
            <a:fld id="{A16E3443-0DB8-4028-BAC9-09724F917887}" type="slidenum">
              <a:rPr lang="en-AU" smtClean="0"/>
              <a:t>11</a:t>
            </a:fld>
            <a:endParaRPr lang="en-AU"/>
          </a:p>
        </p:txBody>
      </p:sp>
    </p:spTree>
    <p:extLst>
      <p:ext uri="{BB962C8B-B14F-4D97-AF65-F5344CB8AC3E}">
        <p14:creationId xmlns:p14="http://schemas.microsoft.com/office/powerpoint/2010/main" val="2238362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example, people can participate in the Australian government by voting.</a:t>
            </a:r>
          </a:p>
          <a:p>
            <a:r>
              <a:rPr lang="en-AU" dirty="0"/>
              <a:t>Behind The News - </a:t>
            </a:r>
            <a:r>
              <a:rPr lang="en-AU" b="0" i="0" dirty="0">
                <a:solidFill>
                  <a:srgbClr val="3B3B3C"/>
                </a:solidFill>
                <a:effectLst/>
                <a:latin typeface="ABCSans"/>
              </a:rPr>
              <a:t>Broadcast: </a:t>
            </a:r>
            <a:r>
              <a:rPr lang="en-AU" dirty="0"/>
              <a:t>Tue 24 May 2016, 10:00 am</a:t>
            </a:r>
          </a:p>
          <a:p>
            <a:r>
              <a:rPr lang="en-AU" dirty="0"/>
              <a:t>4.36 minutes</a:t>
            </a:r>
          </a:p>
          <a:p>
            <a:r>
              <a:rPr lang="en-AU" dirty="0"/>
              <a:t>http://www.abc.net.au/btn/story/s4464749.htm </a:t>
            </a:r>
          </a:p>
        </p:txBody>
      </p:sp>
      <p:sp>
        <p:nvSpPr>
          <p:cNvPr id="4" name="Slide Number Placeholder 3"/>
          <p:cNvSpPr>
            <a:spLocks noGrp="1"/>
          </p:cNvSpPr>
          <p:nvPr>
            <p:ph type="sldNum" sz="quarter" idx="10"/>
          </p:nvPr>
        </p:nvSpPr>
        <p:spPr/>
        <p:txBody>
          <a:bodyPr/>
          <a:lstStyle/>
          <a:p>
            <a:fld id="{A16E3443-0DB8-4028-BAC9-09724F917887}" type="slidenum">
              <a:rPr lang="en-AU" smtClean="0"/>
              <a:t>14</a:t>
            </a:fld>
            <a:endParaRPr lang="en-AU"/>
          </a:p>
        </p:txBody>
      </p:sp>
    </p:spTree>
    <p:extLst>
      <p:ext uri="{BB962C8B-B14F-4D97-AF65-F5344CB8AC3E}">
        <p14:creationId xmlns:p14="http://schemas.microsoft.com/office/powerpoint/2010/main" val="2139112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These slide steps the students through the process of a Think Pair Share.</a:t>
            </a:r>
          </a:p>
          <a:p>
            <a:endParaRPr lang="en-AU" dirty="0"/>
          </a:p>
          <a:p>
            <a:r>
              <a:rPr lang="en-AU" dirty="0"/>
              <a:t>Suggestions:</a:t>
            </a:r>
          </a:p>
          <a:p>
            <a:endParaRPr lang="en-AU" dirty="0"/>
          </a:p>
          <a:p>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Volunteer with an NGO (non-government organisation) that supports your beliefs and values, volunteer on your shire Council’s YAC (Youth Advisory Council, join the youth arm of a political party (</a:t>
            </a:r>
            <a:r>
              <a:rPr lang="en-AU" sz="1800" dirty="0" err="1">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ie</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Young Liberals or Young </a:t>
            </a:r>
            <a:r>
              <a:rPr lang="en-AU" sz="1800" dirty="0" err="1">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Labor</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go and see your local member of parliament, use lobby groups, sign petitions, protest …</a:t>
            </a:r>
            <a:endParaRPr lang="en-AU" dirty="0"/>
          </a:p>
        </p:txBody>
      </p:sp>
      <p:sp>
        <p:nvSpPr>
          <p:cNvPr id="4" name="Slide Number Placeholder 3"/>
          <p:cNvSpPr>
            <a:spLocks noGrp="1"/>
          </p:cNvSpPr>
          <p:nvPr>
            <p:ph type="sldNum" sz="quarter" idx="5"/>
          </p:nvPr>
        </p:nvSpPr>
        <p:spPr/>
        <p:txBody>
          <a:bodyPr/>
          <a:lstStyle/>
          <a:p>
            <a:fld id="{A16E3443-0DB8-4028-BAC9-09724F917887}" type="slidenum">
              <a:rPr lang="en-AU" smtClean="0"/>
              <a:t>15</a:t>
            </a:fld>
            <a:endParaRPr lang="en-AU"/>
          </a:p>
        </p:txBody>
      </p:sp>
    </p:spTree>
    <p:extLst>
      <p:ext uri="{BB962C8B-B14F-4D97-AF65-F5344CB8AC3E}">
        <p14:creationId xmlns:p14="http://schemas.microsoft.com/office/powerpoint/2010/main" val="1470135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example, human rights are basic entitlements that belong to every one of us.</a:t>
            </a:r>
          </a:p>
          <a:p>
            <a:endParaRPr lang="en-AU" dirty="0"/>
          </a:p>
          <a:p>
            <a:r>
              <a:rPr lang="en-AU" dirty="0"/>
              <a:t>The Australian Human Rights Commission - </a:t>
            </a:r>
            <a:r>
              <a:rPr lang="en-AU" b="0" i="0" dirty="0">
                <a:solidFill>
                  <a:srgbClr val="030303"/>
                </a:solidFill>
                <a:effectLst/>
                <a:latin typeface="Roboto"/>
              </a:rPr>
              <a:t>This animated video introduces viewers to children's rights.</a:t>
            </a:r>
            <a:endParaRPr lang="en-AU" dirty="0"/>
          </a:p>
          <a:p>
            <a:r>
              <a:rPr lang="en-AU" dirty="0"/>
              <a:t>https://www.youtube.com/watch?v=HHNfaPuoZHM&amp;feature=emb_logo</a:t>
            </a:r>
          </a:p>
          <a:p>
            <a:r>
              <a:rPr lang="en-AU" dirty="0"/>
              <a:t>2 minutes</a:t>
            </a:r>
          </a:p>
        </p:txBody>
      </p:sp>
      <p:sp>
        <p:nvSpPr>
          <p:cNvPr id="4" name="Slide Number Placeholder 3"/>
          <p:cNvSpPr>
            <a:spLocks noGrp="1"/>
          </p:cNvSpPr>
          <p:nvPr>
            <p:ph type="sldNum" sz="quarter" idx="10"/>
          </p:nvPr>
        </p:nvSpPr>
        <p:spPr/>
        <p:txBody>
          <a:bodyPr/>
          <a:lstStyle/>
          <a:p>
            <a:fld id="{A16E3443-0DB8-4028-BAC9-09724F917887}" type="slidenum">
              <a:rPr lang="en-AU" smtClean="0"/>
              <a:t>16</a:t>
            </a:fld>
            <a:endParaRPr lang="en-AU"/>
          </a:p>
        </p:txBody>
      </p:sp>
    </p:spTree>
    <p:extLst>
      <p:ext uri="{BB962C8B-B14F-4D97-AF65-F5344CB8AC3E}">
        <p14:creationId xmlns:p14="http://schemas.microsoft.com/office/powerpoint/2010/main" val="20902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task forms the basis of a teacher lead classroom discussion.</a:t>
            </a:r>
          </a:p>
        </p:txBody>
      </p:sp>
      <p:sp>
        <p:nvSpPr>
          <p:cNvPr id="4" name="Slide Number Placeholder 3"/>
          <p:cNvSpPr>
            <a:spLocks noGrp="1"/>
          </p:cNvSpPr>
          <p:nvPr>
            <p:ph type="sldNum" sz="quarter" idx="5"/>
          </p:nvPr>
        </p:nvSpPr>
        <p:spPr/>
        <p:txBody>
          <a:bodyPr/>
          <a:lstStyle/>
          <a:p>
            <a:fld id="{A16E3443-0DB8-4028-BAC9-09724F917887}" type="slidenum">
              <a:rPr lang="en-AU" smtClean="0"/>
              <a:t>17</a:t>
            </a:fld>
            <a:endParaRPr lang="en-AU"/>
          </a:p>
        </p:txBody>
      </p:sp>
    </p:spTree>
    <p:extLst>
      <p:ext uri="{BB962C8B-B14F-4D97-AF65-F5344CB8AC3E}">
        <p14:creationId xmlns:p14="http://schemas.microsoft.com/office/powerpoint/2010/main" val="2083647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https://callanmorse.wordpress.com/2015/03/06/week-two-blog-civics-citizenship/</a:t>
            </a:r>
          </a:p>
        </p:txBody>
      </p:sp>
      <p:sp>
        <p:nvSpPr>
          <p:cNvPr id="4" name="Slide Number Placeholder 3"/>
          <p:cNvSpPr>
            <a:spLocks noGrp="1"/>
          </p:cNvSpPr>
          <p:nvPr>
            <p:ph type="sldNum" sz="quarter" idx="5"/>
          </p:nvPr>
        </p:nvSpPr>
        <p:spPr/>
        <p:txBody>
          <a:bodyPr/>
          <a:lstStyle/>
          <a:p>
            <a:fld id="{A16E3443-0DB8-4028-BAC9-09724F917887}" type="slidenum">
              <a:rPr lang="en-AU" smtClean="0"/>
              <a:t>18</a:t>
            </a:fld>
            <a:endParaRPr lang="en-AU"/>
          </a:p>
        </p:txBody>
      </p:sp>
    </p:spTree>
    <p:extLst>
      <p:ext uri="{BB962C8B-B14F-4D97-AF65-F5344CB8AC3E}">
        <p14:creationId xmlns:p14="http://schemas.microsoft.com/office/powerpoint/2010/main" val="180996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8726-BE8E-47DA-AC40-0FC87DB24F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46E8EA1-FD7B-4033-A159-5D01CD405F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0FF67DF-9F5D-4970-9EE9-5B75A291A3A8}"/>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5" name="Footer Placeholder 4">
            <a:extLst>
              <a:ext uri="{FF2B5EF4-FFF2-40B4-BE49-F238E27FC236}">
                <a16:creationId xmlns:a16="http://schemas.microsoft.com/office/drawing/2014/main" id="{4F17EA62-E2FD-4FD4-AA88-F4A0B92CE51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50F9080-8A7B-4FC8-89B0-F61926DA0383}"/>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1058387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37E0-93A8-40B0-A623-38DF6F33189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3559148-3C23-45DB-BD3C-9510DE7524C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3F22CED-C553-4B85-B823-937618359E86}"/>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5" name="Footer Placeholder 4">
            <a:extLst>
              <a:ext uri="{FF2B5EF4-FFF2-40B4-BE49-F238E27FC236}">
                <a16:creationId xmlns:a16="http://schemas.microsoft.com/office/drawing/2014/main" id="{8A5A8FC6-6C25-47FA-B8BA-DECC50DBF2C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A8090FE-AC0C-491A-B742-39D6153D58D2}"/>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189038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DB89D-41EA-42A2-A410-09FC8CE56F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373F6F7-3FFC-42A5-870A-61E9FD44EE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DA75715-9247-4223-9C5A-95BC6DF835F7}"/>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5" name="Footer Placeholder 4">
            <a:extLst>
              <a:ext uri="{FF2B5EF4-FFF2-40B4-BE49-F238E27FC236}">
                <a16:creationId xmlns:a16="http://schemas.microsoft.com/office/drawing/2014/main" id="{65E94650-45C7-4766-A9B0-2F6C8E0B72A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42BE317-997A-4B13-A7E4-230D48ABBA5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5758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6C29B-8F3E-4A2A-AAAC-3E089E215AC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0A7D744-201D-44F2-99C7-ECE7A6131FD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75CA6EF-B80E-45AA-9A67-D8E7CDBE94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BC9627ED-DA83-4231-9286-FDEE88A6A513}"/>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6" name="Footer Placeholder 5">
            <a:extLst>
              <a:ext uri="{FF2B5EF4-FFF2-40B4-BE49-F238E27FC236}">
                <a16:creationId xmlns:a16="http://schemas.microsoft.com/office/drawing/2014/main" id="{1B6F9607-D210-459D-88FC-69C18E0DE3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1A643E3-4981-4E18-9ADC-49B39D02E82B}"/>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12381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EA6C-8136-4FF9-AD8B-028AA1A5701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6ACB9EC-0809-43F1-8045-D3FBFF3401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421B7AF-C3B6-4206-914D-D0B94A870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F3E09FA-5A68-4614-AA31-1DF4775D9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4CC3BB7-EB90-491B-8EED-C041EB3C0FE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78C0F62-8B60-4E1F-BE41-C29EB90D4158}"/>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8" name="Footer Placeholder 7">
            <a:extLst>
              <a:ext uri="{FF2B5EF4-FFF2-40B4-BE49-F238E27FC236}">
                <a16:creationId xmlns:a16="http://schemas.microsoft.com/office/drawing/2014/main" id="{1FA8064E-4842-4AF8-BFBB-0233CDB7B3C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CB4720B-0717-4B01-8802-B66AD27E4D9A}"/>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55372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E9F6A-5B35-448C-AE96-B4DDB96B8C8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5242C8A-31BD-4CCD-95A2-C3C4D2799C17}"/>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4" name="Footer Placeholder 3">
            <a:extLst>
              <a:ext uri="{FF2B5EF4-FFF2-40B4-BE49-F238E27FC236}">
                <a16:creationId xmlns:a16="http://schemas.microsoft.com/office/drawing/2014/main" id="{B8F235CE-9F7F-4959-A4B1-8BE96DC92C0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FB6533C-242C-48EB-9309-F034AD842CA4}"/>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92555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8F2E1F-709A-4E82-95FE-E0FD87CBDED7}"/>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3" name="Footer Placeholder 2">
            <a:extLst>
              <a:ext uri="{FF2B5EF4-FFF2-40B4-BE49-F238E27FC236}">
                <a16:creationId xmlns:a16="http://schemas.microsoft.com/office/drawing/2014/main" id="{3A64C7BA-348D-4B8F-BEBB-CC12BD909B0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1FA84A8-54B5-4D06-B807-DBE4F813081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59381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11DBF-A723-47FA-9F5C-69F8063FA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03F54D-EBB8-425A-9E0F-D4D8C0CD0C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4CC53B-AC11-4940-89CA-C4300B7D00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E6CAE3-EFE1-45A1-8B0D-B8E87BB8BB4A}"/>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6" name="Footer Placeholder 5">
            <a:extLst>
              <a:ext uri="{FF2B5EF4-FFF2-40B4-BE49-F238E27FC236}">
                <a16:creationId xmlns:a16="http://schemas.microsoft.com/office/drawing/2014/main" id="{378644A7-51CA-401C-9EEB-E99FCC037B4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43378B-BABB-4143-91A8-C830FF9B6C80}"/>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945231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D99A-3B3A-4692-B19F-5C654B706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6C741D2-94B1-4A0F-89F2-1686293639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08650B-466E-498A-B812-81AD306CA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8F304A-9661-4C75-A8EE-CE797A34DA6F}"/>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6" name="Footer Placeholder 5">
            <a:extLst>
              <a:ext uri="{FF2B5EF4-FFF2-40B4-BE49-F238E27FC236}">
                <a16:creationId xmlns:a16="http://schemas.microsoft.com/office/drawing/2014/main" id="{88728A01-C032-491A-ADF3-68A82C48843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04C83A0-728D-4573-AD00-E46D8D8EE73D}"/>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670819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744A-D3BA-4611-A66B-26BB2AD46A2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63F2C2A-8C3E-4A87-8A54-92A8DE77AC8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D7221B-C93B-4E30-8173-15D7592E83F2}"/>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5" name="Footer Placeholder 4">
            <a:extLst>
              <a:ext uri="{FF2B5EF4-FFF2-40B4-BE49-F238E27FC236}">
                <a16:creationId xmlns:a16="http://schemas.microsoft.com/office/drawing/2014/main" id="{EF82B6F4-57FA-4BF7-A014-FFDDA08493A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4E4C2C0-148B-43B2-B99A-587A5CCBD4F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569391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44AAC8-2ABC-4DB1-A722-6BDA703F3C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0FF72ED-0F6D-4A93-8CE9-214C932973F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CD3DDB1-9DBC-458F-88E0-4A83990A0023}"/>
              </a:ext>
            </a:extLst>
          </p:cNvPr>
          <p:cNvSpPr>
            <a:spLocks noGrp="1"/>
          </p:cNvSpPr>
          <p:nvPr>
            <p:ph type="dt" sz="half" idx="10"/>
          </p:nvPr>
        </p:nvSpPr>
        <p:spPr/>
        <p:txBody>
          <a:bodyPr/>
          <a:lstStyle/>
          <a:p>
            <a:fld id="{4D600124-4BF0-4C04-AA45-090C6FE4A313}" type="datetimeFigureOut">
              <a:rPr lang="en-AU" smtClean="0"/>
              <a:t>16/10/2020</a:t>
            </a:fld>
            <a:endParaRPr lang="en-AU"/>
          </a:p>
        </p:txBody>
      </p:sp>
      <p:sp>
        <p:nvSpPr>
          <p:cNvPr id="5" name="Footer Placeholder 4">
            <a:extLst>
              <a:ext uri="{FF2B5EF4-FFF2-40B4-BE49-F238E27FC236}">
                <a16:creationId xmlns:a16="http://schemas.microsoft.com/office/drawing/2014/main" id="{6D18837D-CA39-4383-80FA-D7737F0319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4119D7-27A9-4DB9-9CDC-C65A1E7F25DC}"/>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296468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AC8D2CFC-7FBC-4F2C-9DC1-147E5996F45C}" type="datetimeFigureOut">
              <a:rPr lang="en-AU" smtClean="0"/>
              <a:t>16/10/2020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C039191-7186-41D5-875C-93DC919074DA}" type="slidenum">
              <a:rPr lang="en-AU" smtClean="0"/>
              <a:t>‹#›</a:t>
            </a:fld>
            <a:endParaRPr lang="en-AU"/>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0880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B29660-DA82-42BA-9E23-4BF83D2FF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FBCBF15-330A-44E4-A449-C49C87D6F0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A05F993-2418-4074-863E-F7738F8FC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600124-4BF0-4C04-AA45-090C6FE4A313}" type="datetimeFigureOut">
              <a:rPr lang="en-AU" smtClean="0"/>
              <a:t>16/10/2020</a:t>
            </a:fld>
            <a:endParaRPr lang="en-AU"/>
          </a:p>
        </p:txBody>
      </p:sp>
      <p:sp>
        <p:nvSpPr>
          <p:cNvPr id="5" name="Footer Placeholder 4">
            <a:extLst>
              <a:ext uri="{FF2B5EF4-FFF2-40B4-BE49-F238E27FC236}">
                <a16:creationId xmlns:a16="http://schemas.microsoft.com/office/drawing/2014/main" id="{D7F350BB-C7B8-4E89-8ABF-FDFAFF34E8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EEAA76C4-2516-41B2-B355-65F2B5FD9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DF75A-8AEB-4EFA-B0C3-6863A9845A52}" type="slidenum">
              <a:rPr lang="en-AU" smtClean="0"/>
              <a:t>‹#›</a:t>
            </a:fld>
            <a:endParaRPr lang="en-AU"/>
          </a:p>
        </p:txBody>
      </p:sp>
    </p:spTree>
    <p:extLst>
      <p:ext uri="{BB962C8B-B14F-4D97-AF65-F5344CB8AC3E}">
        <p14:creationId xmlns:p14="http://schemas.microsoft.com/office/powerpoint/2010/main" val="657760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hyperlink" Target="https://youtu.be/u6jgWxkbR7A?t=179"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DTT86MSn-pQ&amp;feature=emb_logo"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hyperlink" Target="https://education.abc.net.au/web/splash#!/media/2717810/the-westminster-system-and-borrowed-traditio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H0CTHVCkm90" TargetMode="Externa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hyperlink" Target="http://www.abc.net.au/btn/story/s4464749.ht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0.sv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HHNfaPuoZHM&amp;feature=emb_logo" TargetMode="Externa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8207AE-D657-49B7-833B-71AE26E391AE}"/>
              </a:ext>
            </a:extLst>
          </p:cNvPr>
          <p:cNvPicPr>
            <a:picLocks noChangeAspect="1"/>
          </p:cNvPicPr>
          <p:nvPr/>
        </p:nvPicPr>
        <p:blipFill rotWithShape="1">
          <a:blip r:embed="rId2"/>
          <a:srcRect l="25615" t="17622" r="26730" b="1016"/>
          <a:stretch/>
        </p:blipFill>
        <p:spPr>
          <a:xfrm>
            <a:off x="2190750" y="-124467"/>
            <a:ext cx="7772400" cy="7072265"/>
          </a:xfrm>
          <a:prstGeom prst="rect">
            <a:avLst/>
          </a:prstGeom>
        </p:spPr>
      </p:pic>
      <p:sp>
        <p:nvSpPr>
          <p:cNvPr id="6" name="Oval 5">
            <a:extLst>
              <a:ext uri="{FF2B5EF4-FFF2-40B4-BE49-F238E27FC236}">
                <a16:creationId xmlns:a16="http://schemas.microsoft.com/office/drawing/2014/main" id="{82676CA2-83B8-4106-B0F5-C04BCDE5EAED}"/>
              </a:ext>
            </a:extLst>
          </p:cNvPr>
          <p:cNvSpPr/>
          <p:nvPr/>
        </p:nvSpPr>
        <p:spPr>
          <a:xfrm>
            <a:off x="2598822" y="288757"/>
            <a:ext cx="2807368" cy="2871538"/>
          </a:xfrm>
          <a:prstGeom prst="ellipse">
            <a:avLst/>
          </a:prstGeom>
          <a:noFill/>
          <a:ln w="76200">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0678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1" nodeType="afterEffect">
                                  <p:stCondLst>
                                    <p:cond delay="250"/>
                                  </p:stCondLst>
                                  <p:childTnLst>
                                    <p:animEffect transition="out" filter="fade">
                                      <p:cBhvr>
                                        <p:cTn id="9" dur="750" tmFilter="0, 0; .2, .5; .8, .5; 1, 0"/>
                                        <p:tgtEl>
                                          <p:spTgt spid="6"/>
                                        </p:tgtEl>
                                      </p:cBhvr>
                                    </p:animEffect>
                                    <p:animScale>
                                      <p:cBhvr>
                                        <p:cTn id="10" dur="375"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CFAF92-7766-491F-AA7F-ADDFEE9889D4}"/>
              </a:ext>
            </a:extLst>
          </p:cNvPr>
          <p:cNvSpPr>
            <a:spLocks noGrp="1"/>
          </p:cNvSpPr>
          <p:nvPr>
            <p:ph type="body" idx="1"/>
          </p:nvPr>
        </p:nvSpPr>
        <p:spPr>
          <a:xfrm>
            <a:off x="763588" y="750720"/>
            <a:ext cx="5157787" cy="564733"/>
          </a:xfrm>
        </p:spPr>
        <p:txBody>
          <a:bodyPr/>
          <a:lstStyle/>
          <a:p>
            <a:r>
              <a:rPr lang="en-AU" dirty="0"/>
              <a:t>Learning Intentions</a:t>
            </a:r>
          </a:p>
        </p:txBody>
      </p:sp>
      <p:sp>
        <p:nvSpPr>
          <p:cNvPr id="4" name="Content Placeholder 3">
            <a:extLst>
              <a:ext uri="{FF2B5EF4-FFF2-40B4-BE49-F238E27FC236}">
                <a16:creationId xmlns:a16="http://schemas.microsoft.com/office/drawing/2014/main" id="{291E1B73-9F52-4FE7-B40A-AD814A3021CC}"/>
              </a:ext>
            </a:extLst>
          </p:cNvPr>
          <p:cNvSpPr>
            <a:spLocks noGrp="1"/>
          </p:cNvSpPr>
          <p:nvPr>
            <p:ph sz="half" idx="2"/>
          </p:nvPr>
        </p:nvSpPr>
        <p:spPr>
          <a:xfrm>
            <a:off x="763588" y="1574633"/>
            <a:ext cx="5157787" cy="4745956"/>
          </a:xfrm>
        </p:spPr>
        <p:txBody>
          <a:bodyPr>
            <a:normAutofit lnSpcReduction="10000"/>
          </a:bodyPr>
          <a:lstStyle/>
          <a:p>
            <a:pPr marL="0" indent="0">
              <a:buNone/>
            </a:pPr>
            <a:r>
              <a:rPr lang="en-AU" dirty="0"/>
              <a:t>To investigate the key concepts of Civics and Citizenship</a:t>
            </a:r>
          </a:p>
        </p:txBody>
      </p:sp>
      <p:sp>
        <p:nvSpPr>
          <p:cNvPr id="5" name="Text Placeholder 4">
            <a:extLst>
              <a:ext uri="{FF2B5EF4-FFF2-40B4-BE49-F238E27FC236}">
                <a16:creationId xmlns:a16="http://schemas.microsoft.com/office/drawing/2014/main" id="{B1801F65-B4DE-4D30-A47F-34BEE4866B5A}"/>
              </a:ext>
            </a:extLst>
          </p:cNvPr>
          <p:cNvSpPr>
            <a:spLocks noGrp="1"/>
          </p:cNvSpPr>
          <p:nvPr>
            <p:ph type="body" sz="quarter" idx="3"/>
          </p:nvPr>
        </p:nvSpPr>
        <p:spPr>
          <a:xfrm>
            <a:off x="6096000" y="750720"/>
            <a:ext cx="5183188" cy="564733"/>
          </a:xfrm>
        </p:spPr>
        <p:txBody>
          <a:bodyPr/>
          <a:lstStyle/>
          <a:p>
            <a:r>
              <a:rPr lang="en-AU" dirty="0"/>
              <a:t>Success Criteria</a:t>
            </a:r>
          </a:p>
        </p:txBody>
      </p:sp>
      <p:sp>
        <p:nvSpPr>
          <p:cNvPr id="6" name="Content Placeholder 5">
            <a:extLst>
              <a:ext uri="{FF2B5EF4-FFF2-40B4-BE49-F238E27FC236}">
                <a16:creationId xmlns:a16="http://schemas.microsoft.com/office/drawing/2014/main" id="{24D14F1D-F624-4335-9402-EC21B8776348}"/>
              </a:ext>
            </a:extLst>
          </p:cNvPr>
          <p:cNvSpPr>
            <a:spLocks noGrp="1"/>
          </p:cNvSpPr>
          <p:nvPr>
            <p:ph sz="quarter" idx="4"/>
          </p:nvPr>
        </p:nvSpPr>
        <p:spPr>
          <a:xfrm>
            <a:off x="6096000" y="1574633"/>
            <a:ext cx="5183188" cy="4745956"/>
          </a:xfrm>
        </p:spPr>
        <p:txBody>
          <a:bodyPr>
            <a:normAutofit lnSpcReduction="10000"/>
          </a:bodyPr>
          <a:lstStyle/>
          <a:p>
            <a:pPr marL="0" indent="0">
              <a:buNone/>
            </a:pPr>
            <a:r>
              <a:rPr lang="en-AU" dirty="0"/>
              <a:t>I can …</a:t>
            </a:r>
          </a:p>
          <a:p>
            <a:r>
              <a:rPr lang="en-AU" dirty="0"/>
              <a:t>Explain the term democracy</a:t>
            </a:r>
          </a:p>
          <a:p>
            <a:r>
              <a:rPr lang="en-AU" dirty="0"/>
              <a:t>Identify two democratic values</a:t>
            </a:r>
          </a:p>
          <a:p>
            <a:r>
              <a:rPr lang="en-AU" dirty="0"/>
              <a:t>Name the key components of Australia’s parliament</a:t>
            </a:r>
          </a:p>
          <a:p>
            <a:r>
              <a:rPr lang="en-AU" dirty="0"/>
              <a:t>Describe the meaning of justice</a:t>
            </a:r>
          </a:p>
          <a:p>
            <a:r>
              <a:rPr lang="en-AU" dirty="0"/>
              <a:t>Give examples of how young people can participate in society</a:t>
            </a:r>
          </a:p>
          <a:p>
            <a:r>
              <a:rPr lang="en-AU" dirty="0"/>
              <a:t>Discuss the rights and responsibilities of Australian citizens</a:t>
            </a:r>
          </a:p>
          <a:p>
            <a:endParaRPr lang="en-AU" dirty="0"/>
          </a:p>
          <a:p>
            <a:endParaRPr lang="en-AU" dirty="0"/>
          </a:p>
          <a:p>
            <a:endParaRPr lang="en-AU" dirty="0"/>
          </a:p>
        </p:txBody>
      </p:sp>
      <p:pic>
        <p:nvPicPr>
          <p:cNvPr id="1026" name="Picture 2" descr="Week Two Blog (Civics &amp; Citizenship) – My ESH360 blog">
            <a:extLst>
              <a:ext uri="{FF2B5EF4-FFF2-40B4-BE49-F238E27FC236}">
                <a16:creationId xmlns:a16="http://schemas.microsoft.com/office/drawing/2014/main" id="{68DAD3D0-2353-45BC-90AC-C3DF834FB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6363" y="3147679"/>
            <a:ext cx="3581984" cy="3581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19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3.95833E-6 1.11111E-6 L 0.42304 -0.02315 " pathEditMode="relative" rAng="0" ptsTypes="AA">
                                      <p:cBhvr>
                                        <p:cTn id="6" dur="1000" fill="hold"/>
                                        <p:tgtEl>
                                          <p:spTgt spid="1026"/>
                                        </p:tgtEl>
                                        <p:attrNameLst>
                                          <p:attrName>ppt_x</p:attrName>
                                          <p:attrName>ppt_y</p:attrName>
                                        </p:attrNameLst>
                                      </p:cBhvr>
                                      <p:rCtr x="21146" y="-1157"/>
                                    </p:animMotion>
                                  </p:childTnLst>
                                </p:cTn>
                              </p:par>
                              <p:par>
                                <p:cTn id="7" presetID="49" presetClass="entr" presetSubtype="0" decel="10000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anim calcmode="lin" valueType="num">
                                      <p:cBhvr>
                                        <p:cTn id="9" dur="1250" fill="hold"/>
                                        <p:tgtEl>
                                          <p:spTgt spid="1026"/>
                                        </p:tgtEl>
                                        <p:attrNameLst>
                                          <p:attrName>ppt_w</p:attrName>
                                        </p:attrNameLst>
                                      </p:cBhvr>
                                      <p:tavLst>
                                        <p:tav tm="0">
                                          <p:val>
                                            <p:fltVal val="0"/>
                                          </p:val>
                                        </p:tav>
                                        <p:tav tm="100000">
                                          <p:val>
                                            <p:strVal val="#ppt_w"/>
                                          </p:val>
                                        </p:tav>
                                      </p:tavLst>
                                    </p:anim>
                                    <p:anim calcmode="lin" valueType="num">
                                      <p:cBhvr>
                                        <p:cTn id="10" dur="1250" fill="hold"/>
                                        <p:tgtEl>
                                          <p:spTgt spid="1026"/>
                                        </p:tgtEl>
                                        <p:attrNameLst>
                                          <p:attrName>ppt_h</p:attrName>
                                        </p:attrNameLst>
                                      </p:cBhvr>
                                      <p:tavLst>
                                        <p:tav tm="0">
                                          <p:val>
                                            <p:fltVal val="0"/>
                                          </p:val>
                                        </p:tav>
                                        <p:tav tm="100000">
                                          <p:val>
                                            <p:strVal val="#ppt_h"/>
                                          </p:val>
                                        </p:tav>
                                      </p:tavLst>
                                    </p:anim>
                                    <p:anim calcmode="lin" valueType="num">
                                      <p:cBhvr>
                                        <p:cTn id="11" dur="1250" fill="hold"/>
                                        <p:tgtEl>
                                          <p:spTgt spid="1026"/>
                                        </p:tgtEl>
                                        <p:attrNameLst>
                                          <p:attrName>style.rotation</p:attrName>
                                        </p:attrNameLst>
                                      </p:cBhvr>
                                      <p:tavLst>
                                        <p:tav tm="0">
                                          <p:val>
                                            <p:fltVal val="360"/>
                                          </p:val>
                                        </p:tav>
                                        <p:tav tm="100000">
                                          <p:val>
                                            <p:fltVal val="0"/>
                                          </p:val>
                                        </p:tav>
                                      </p:tavLst>
                                    </p:anim>
                                    <p:animEffect transition="in" filter="fade">
                                      <p:cBhvr>
                                        <p:cTn id="12" dur="125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Image result for democracy">
            <a:extLst>
              <a:ext uri="{FF2B5EF4-FFF2-40B4-BE49-F238E27FC236}">
                <a16:creationId xmlns:a16="http://schemas.microsoft.com/office/drawing/2014/main" id="{3B5ADE3F-2815-486A-9FA6-CE314035EF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370" b="12073"/>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9" name="Oval 138">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3"/>
          </p:nvPr>
        </p:nvSpPr>
        <p:spPr>
          <a:xfrm>
            <a:off x="5219114" y="4569355"/>
            <a:ext cx="6852793" cy="1990440"/>
          </a:xfrm>
        </p:spPr>
        <p:txBody>
          <a:bodyPr anchor="ctr">
            <a:normAutofit/>
          </a:bodyPr>
          <a:lstStyle/>
          <a:p>
            <a:pPr marL="0" indent="0">
              <a:buNone/>
            </a:pPr>
            <a:r>
              <a:rPr lang="en-AU" sz="4000" dirty="0">
                <a:solidFill>
                  <a:srgbClr val="000000"/>
                </a:solidFill>
              </a:rPr>
              <a:t>A system of government in which people choose their rulers by voting in elections.</a:t>
            </a:r>
          </a:p>
          <a:p>
            <a:pPr marL="0" indent="0">
              <a:buNone/>
            </a:pPr>
            <a:endParaRPr lang="en-AU" sz="1800" dirty="0">
              <a:solidFill>
                <a:srgbClr val="000000"/>
              </a:solidFill>
            </a:endParaRPr>
          </a:p>
        </p:txBody>
      </p:sp>
      <p:sp>
        <p:nvSpPr>
          <p:cNvPr id="9" name="Title 1">
            <a:extLst>
              <a:ext uri="{FF2B5EF4-FFF2-40B4-BE49-F238E27FC236}">
                <a16:creationId xmlns:a16="http://schemas.microsoft.com/office/drawing/2014/main" id="{A986F43D-EAC1-47B8-9CF9-37840DB7ED34}"/>
              </a:ext>
            </a:extLst>
          </p:cNvPr>
          <p:cNvSpPr txBox="1">
            <a:spLocks/>
          </p:cNvSpPr>
          <p:nvPr/>
        </p:nvSpPr>
        <p:spPr>
          <a:xfrm>
            <a:off x="537957" y="4485426"/>
            <a:ext cx="5021782" cy="1509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6000" b="1" dirty="0">
                <a:solidFill>
                  <a:srgbClr val="000000"/>
                </a:solidFill>
              </a:rPr>
              <a:t>1. Democracy</a:t>
            </a:r>
          </a:p>
        </p:txBody>
      </p:sp>
      <p:sp>
        <p:nvSpPr>
          <p:cNvPr id="5" name="TextBox 4">
            <a:extLst>
              <a:ext uri="{FF2B5EF4-FFF2-40B4-BE49-F238E27FC236}">
                <a16:creationId xmlns:a16="http://schemas.microsoft.com/office/drawing/2014/main" id="{9BAFD4D8-7F9E-4C73-900E-7E67801ACB96}"/>
              </a:ext>
            </a:extLst>
          </p:cNvPr>
          <p:cNvSpPr txBox="1"/>
          <p:nvPr/>
        </p:nvSpPr>
        <p:spPr>
          <a:xfrm>
            <a:off x="0" y="2262498"/>
            <a:ext cx="12192000" cy="1569660"/>
          </a:xfrm>
          <a:prstGeom prst="rect">
            <a:avLst/>
          </a:prstGeom>
          <a:solidFill>
            <a:srgbClr val="FFFF00"/>
          </a:solidFill>
        </p:spPr>
        <p:txBody>
          <a:bodyPr wrap="square" rtlCol="0">
            <a:spAutoFit/>
          </a:bodyPr>
          <a:lstStyle/>
          <a:p>
            <a:pPr algn="ctr"/>
            <a:endParaRPr lang="en-AU" dirty="0"/>
          </a:p>
          <a:p>
            <a:pPr algn="ctr"/>
            <a:r>
              <a:rPr lang="en-AU" sz="2800" dirty="0"/>
              <a:t>Watch the video and be ready to answer questions about the meaning of democracy and an individual’s democratic rights</a:t>
            </a:r>
          </a:p>
          <a:p>
            <a:pPr algn="ctr"/>
            <a:endParaRPr lang="en-AU" sz="2200" dirty="0"/>
          </a:p>
        </p:txBody>
      </p:sp>
      <p:sp>
        <p:nvSpPr>
          <p:cNvPr id="2" name="Title 1"/>
          <p:cNvSpPr>
            <a:spLocks noGrp="1"/>
          </p:cNvSpPr>
          <p:nvPr>
            <p:ph type="title"/>
          </p:nvPr>
        </p:nvSpPr>
        <p:spPr>
          <a:xfrm>
            <a:off x="537957" y="3588328"/>
            <a:ext cx="5021782" cy="1509931"/>
          </a:xfrm>
        </p:spPr>
        <p:txBody>
          <a:bodyPr>
            <a:normAutofit/>
          </a:bodyPr>
          <a:lstStyle/>
          <a:p>
            <a:r>
              <a:rPr lang="en-AU" sz="6000" b="1" dirty="0">
                <a:solidFill>
                  <a:srgbClr val="000000"/>
                </a:solidFill>
              </a:rPr>
              <a:t>1. Democracy</a:t>
            </a:r>
          </a:p>
        </p:txBody>
      </p:sp>
      <p:pic>
        <p:nvPicPr>
          <p:cNvPr id="4" name="Picture 3">
            <a:hlinkClick r:id="rId5"/>
          </p:cNvPr>
          <p:cNvPicPr>
            <a:picLocks noChangeAspect="1"/>
          </p:cNvPicPr>
          <p:nvPr/>
        </p:nvPicPr>
        <p:blipFill>
          <a:blip r:embed="rId6">
            <a:extLst>
              <a:ext uri="{BEBA8EAE-BF5A-486C-A8C5-ECC9F3942E4B}">
                <a14:imgProps xmlns:a14="http://schemas.microsoft.com/office/drawing/2010/main">
                  <a14:imgLayer r:embed="rId7">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1761525" y="4699402"/>
            <a:ext cx="2143125" cy="2143125"/>
          </a:xfrm>
          <a:prstGeom prst="rect">
            <a:avLst/>
          </a:prstGeom>
        </p:spPr>
      </p:pic>
    </p:spTree>
    <p:extLst>
      <p:ext uri="{BB962C8B-B14F-4D97-AF65-F5344CB8AC3E}">
        <p14:creationId xmlns:p14="http://schemas.microsoft.com/office/powerpoint/2010/main" val="36868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xit"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2" presetClass="entr" presetSubtype="4"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206646" y="180205"/>
            <a:ext cx="4977976" cy="1454051"/>
          </a:xfrm>
        </p:spPr>
        <p:txBody>
          <a:bodyPr>
            <a:normAutofit/>
          </a:bodyPr>
          <a:lstStyle/>
          <a:p>
            <a:r>
              <a:rPr lang="en-AU" b="1" dirty="0">
                <a:solidFill>
                  <a:srgbClr val="000000"/>
                </a:solidFill>
              </a:rPr>
              <a:t>2. Democratic values</a:t>
            </a:r>
          </a:p>
        </p:txBody>
      </p:sp>
      <p:sp>
        <p:nvSpPr>
          <p:cNvPr id="76"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5" name="Picture 3"/>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15214" r="18967" b="-1"/>
          <a:stretch/>
        </p:blipFill>
        <p:spPr bwMode="auto">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sz="quarter" idx="13"/>
          </p:nvPr>
        </p:nvSpPr>
        <p:spPr>
          <a:xfrm>
            <a:off x="5800211" y="1394740"/>
            <a:ext cx="6241734" cy="5283055"/>
          </a:xfrm>
        </p:spPr>
        <p:txBody>
          <a:bodyPr anchor="ctr">
            <a:normAutofit fontScale="92500" lnSpcReduction="20000"/>
          </a:bodyPr>
          <a:lstStyle/>
          <a:p>
            <a:pPr marL="0" indent="0">
              <a:buNone/>
            </a:pPr>
            <a:r>
              <a:rPr lang="en-AU" sz="3000" dirty="0">
                <a:solidFill>
                  <a:srgbClr val="000000"/>
                </a:solidFill>
              </a:rPr>
              <a:t>They are the ideas or beliefs that make a society fair.</a:t>
            </a:r>
          </a:p>
          <a:p>
            <a:pPr marL="0" indent="0">
              <a:buNone/>
            </a:pPr>
            <a:r>
              <a:rPr lang="en-AU" sz="3000" dirty="0">
                <a:solidFill>
                  <a:srgbClr val="000000"/>
                </a:solidFill>
              </a:rPr>
              <a:t>The Australian democracy has at its heart, the following core values:</a:t>
            </a:r>
          </a:p>
          <a:p>
            <a:pPr marL="0" indent="0">
              <a:buNone/>
            </a:pPr>
            <a:endParaRPr lang="en-AU" sz="3000" dirty="0">
              <a:solidFill>
                <a:srgbClr val="000000"/>
              </a:solidFill>
            </a:endParaRPr>
          </a:p>
          <a:p>
            <a:pPr marL="361950" indent="-361950">
              <a:buFont typeface="+mj-lt"/>
              <a:buAutoNum type="arabicPeriod"/>
            </a:pPr>
            <a:r>
              <a:rPr lang="en-AU" sz="3000" dirty="0">
                <a:solidFill>
                  <a:srgbClr val="000000"/>
                </a:solidFill>
              </a:rPr>
              <a:t>Freedom of election and being elected- Democratic decision-making</a:t>
            </a:r>
          </a:p>
          <a:p>
            <a:pPr marL="361950" indent="-361950">
              <a:buFont typeface="+mj-lt"/>
              <a:buAutoNum type="arabicPeriod"/>
            </a:pPr>
            <a:r>
              <a:rPr lang="en-AU" sz="3000" dirty="0">
                <a:solidFill>
                  <a:srgbClr val="000000"/>
                </a:solidFill>
              </a:rPr>
              <a:t>Freedom of assembly and political participation</a:t>
            </a:r>
          </a:p>
          <a:p>
            <a:pPr marL="361950" indent="-361950">
              <a:buFont typeface="+mj-lt"/>
              <a:buAutoNum type="arabicPeriod"/>
            </a:pPr>
            <a:r>
              <a:rPr lang="en-AU" sz="3000" dirty="0">
                <a:solidFill>
                  <a:srgbClr val="000000"/>
                </a:solidFill>
              </a:rPr>
              <a:t>Freedom of speech, expression and religious belief</a:t>
            </a:r>
          </a:p>
          <a:p>
            <a:pPr marL="361950" indent="-361950">
              <a:buFont typeface="+mj-lt"/>
              <a:buAutoNum type="arabicPeriod"/>
            </a:pPr>
            <a:r>
              <a:rPr lang="en-AU" sz="3000" dirty="0">
                <a:solidFill>
                  <a:srgbClr val="000000"/>
                </a:solidFill>
              </a:rPr>
              <a:t>Equality before Law-Rule of law</a:t>
            </a:r>
          </a:p>
          <a:p>
            <a:pPr marL="361950" indent="-361950">
              <a:buFont typeface="+mj-lt"/>
              <a:buAutoNum type="arabicPeriod"/>
            </a:pPr>
            <a:r>
              <a:rPr lang="en-AU" sz="3000" dirty="0">
                <a:solidFill>
                  <a:srgbClr val="000000"/>
                </a:solidFill>
              </a:rPr>
              <a:t>Human rights and equality</a:t>
            </a:r>
          </a:p>
          <a:p>
            <a:endParaRPr lang="en-AU" sz="2000" dirty="0">
              <a:solidFill>
                <a:srgbClr val="000000"/>
              </a:solidFill>
            </a:endParaRPr>
          </a:p>
        </p:txBody>
      </p:sp>
      <p:pic>
        <p:nvPicPr>
          <p:cNvPr id="4" name="Picture 3">
            <a:hlinkClick r:id="rId5"/>
          </p:cNvPr>
          <p:cNvPicPr>
            <a:picLocks noChangeAspect="1"/>
          </p:cNvPicPr>
          <p:nvPr/>
        </p:nvPicPr>
        <p:blipFill>
          <a:blip r:embed="rId6"/>
          <a:stretch>
            <a:fillRect/>
          </a:stretch>
        </p:blipFill>
        <p:spPr>
          <a:xfrm>
            <a:off x="3403721" y="0"/>
            <a:ext cx="2143125" cy="2143125"/>
          </a:xfrm>
          <a:prstGeom prst="rect">
            <a:avLst/>
          </a:prstGeom>
        </p:spPr>
      </p:pic>
    </p:spTree>
    <p:extLst>
      <p:ext uri="{BB962C8B-B14F-4D97-AF65-F5344CB8AC3E}">
        <p14:creationId xmlns:p14="http://schemas.microsoft.com/office/powerpoint/2010/main" val="399400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700" dirty="0"/>
              <a:t>Connect the ‘value’ to its ‘definition’</a:t>
            </a:r>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916564465"/>
              </p:ext>
            </p:extLst>
          </p:nvPr>
        </p:nvGraphicFramePr>
        <p:xfrm>
          <a:off x="812800" y="1723361"/>
          <a:ext cx="10566400" cy="4860001"/>
        </p:xfrm>
        <a:graphic>
          <a:graphicData uri="http://schemas.openxmlformats.org/drawingml/2006/table">
            <a:tbl>
              <a:tblPr firstRow="1" firstCol="1" bandRow="1">
                <a:tableStyleId>{5C22544A-7EE6-4342-B048-85BDC9FD1C3A}</a:tableStyleId>
              </a:tblPr>
              <a:tblGrid>
                <a:gridCol w="1425074">
                  <a:extLst>
                    <a:ext uri="{9D8B030D-6E8A-4147-A177-3AD203B41FA5}">
                      <a16:colId xmlns:a16="http://schemas.microsoft.com/office/drawing/2014/main" val="1218345911"/>
                    </a:ext>
                  </a:extLst>
                </a:gridCol>
                <a:gridCol w="1949115">
                  <a:extLst>
                    <a:ext uri="{9D8B030D-6E8A-4147-A177-3AD203B41FA5}">
                      <a16:colId xmlns:a16="http://schemas.microsoft.com/office/drawing/2014/main" val="2621850246"/>
                    </a:ext>
                  </a:extLst>
                </a:gridCol>
                <a:gridCol w="7192211">
                  <a:extLst>
                    <a:ext uri="{9D8B030D-6E8A-4147-A177-3AD203B41FA5}">
                      <a16:colId xmlns:a16="http://schemas.microsoft.com/office/drawing/2014/main" val="55753772"/>
                    </a:ext>
                  </a:extLst>
                </a:gridCol>
              </a:tblGrid>
              <a:tr h="861498">
                <a:tc>
                  <a:txBody>
                    <a:bodyPr/>
                    <a:lstStyle/>
                    <a:p>
                      <a:pPr>
                        <a:lnSpc>
                          <a:spcPct val="107000"/>
                        </a:lnSpc>
                        <a:spcAft>
                          <a:spcPts val="800"/>
                        </a:spcAft>
                      </a:pPr>
                      <a:r>
                        <a:rPr lang="en-AU" sz="2200" dirty="0">
                          <a:effectLst/>
                        </a:rPr>
                        <a:t>Australian Values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Definition</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886327">
                <a:tc>
                  <a:txBody>
                    <a:bodyPr/>
                    <a:lstStyle/>
                    <a:p>
                      <a:pPr>
                        <a:lnSpc>
                          <a:spcPct val="107000"/>
                        </a:lnSpc>
                        <a:spcAft>
                          <a:spcPts val="800"/>
                        </a:spcAft>
                      </a:pPr>
                      <a:r>
                        <a:rPr lang="en-AU" sz="2200" dirty="0">
                          <a:solidFill>
                            <a:schemeClr val="tx1"/>
                          </a:solidFill>
                          <a:effectLst/>
                        </a:rPr>
                        <a:t>Respect</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All people are treated fairly, or without in justice, and are given equal opportunity. Also known as a ‘fair go’ in Australia.</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339522">
                <a:tc>
                  <a:txBody>
                    <a:bodyPr/>
                    <a:lstStyle/>
                    <a:p>
                      <a:pPr>
                        <a:lnSpc>
                          <a:spcPct val="107000"/>
                        </a:lnSpc>
                        <a:spcAft>
                          <a:spcPts val="800"/>
                        </a:spcAft>
                      </a:pPr>
                      <a:r>
                        <a:rPr lang="en-AU" sz="2200" dirty="0">
                          <a:solidFill>
                            <a:schemeClr val="tx1"/>
                          </a:solidFill>
                          <a:effectLst/>
                        </a:rPr>
                        <a:t>Equality</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Rights and privileges for all, without discrimination based on gender, race, religion, age, sexual orientation or level of educations.  All citizens have the right to same opportunities.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886327">
                <a:tc>
                  <a:txBody>
                    <a:bodyPr/>
                    <a:lstStyle/>
                    <a:p>
                      <a:pPr>
                        <a:lnSpc>
                          <a:spcPct val="107000"/>
                        </a:lnSpc>
                        <a:spcAft>
                          <a:spcPts val="800"/>
                        </a:spcAft>
                      </a:pPr>
                      <a:r>
                        <a:rPr lang="en-AU" sz="2200" dirty="0">
                          <a:solidFill>
                            <a:schemeClr val="tx1"/>
                          </a:solidFill>
                          <a:effectLst/>
                        </a:rPr>
                        <a:t>Fairness</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Rights, privileges and responsibilities for all without interference, or control from other citizens or government.</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r h="886327">
                <a:tc>
                  <a:txBody>
                    <a:bodyPr/>
                    <a:lstStyle/>
                    <a:p>
                      <a:pPr>
                        <a:lnSpc>
                          <a:spcPct val="107000"/>
                        </a:lnSpc>
                        <a:spcAft>
                          <a:spcPts val="800"/>
                        </a:spcAft>
                      </a:pPr>
                      <a:r>
                        <a:rPr lang="en-AU" sz="2200" dirty="0">
                          <a:solidFill>
                            <a:schemeClr val="tx1"/>
                          </a:solidFill>
                          <a:effectLst/>
                        </a:rPr>
                        <a:t>Freedom</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Treating others with consideration and valuing their view, beliefs and rights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7992657"/>
                  </a:ext>
                </a:extLst>
              </a:tr>
            </a:tbl>
          </a:graphicData>
        </a:graphic>
      </p:graphicFrame>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Tree>
    <p:extLst>
      <p:ext uri="{BB962C8B-B14F-4D97-AF65-F5344CB8AC3E}">
        <p14:creationId xmlns:p14="http://schemas.microsoft.com/office/powerpoint/2010/main" val="401280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10" presetClass="entr" presetSubtype="0" fill="hold" nodeType="withEffect">
                                  <p:stCondLst>
                                    <p:cond delay="3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Ready with your answers?</a:t>
            </a:r>
            <a:endParaRPr lang="en-AU" sz="2700" dirty="0"/>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605505000"/>
              </p:ext>
            </p:extLst>
          </p:nvPr>
        </p:nvGraphicFramePr>
        <p:xfrm>
          <a:off x="812800" y="1723361"/>
          <a:ext cx="10566400" cy="4860001"/>
        </p:xfrm>
        <a:graphic>
          <a:graphicData uri="http://schemas.openxmlformats.org/drawingml/2006/table">
            <a:tbl>
              <a:tblPr firstRow="1" firstCol="1" bandRow="1">
                <a:tableStyleId>{5C22544A-7EE6-4342-B048-85BDC9FD1C3A}</a:tableStyleId>
              </a:tblPr>
              <a:tblGrid>
                <a:gridCol w="1425074">
                  <a:extLst>
                    <a:ext uri="{9D8B030D-6E8A-4147-A177-3AD203B41FA5}">
                      <a16:colId xmlns:a16="http://schemas.microsoft.com/office/drawing/2014/main" val="1218345911"/>
                    </a:ext>
                  </a:extLst>
                </a:gridCol>
                <a:gridCol w="1949115">
                  <a:extLst>
                    <a:ext uri="{9D8B030D-6E8A-4147-A177-3AD203B41FA5}">
                      <a16:colId xmlns:a16="http://schemas.microsoft.com/office/drawing/2014/main" val="2621850246"/>
                    </a:ext>
                  </a:extLst>
                </a:gridCol>
                <a:gridCol w="7192211">
                  <a:extLst>
                    <a:ext uri="{9D8B030D-6E8A-4147-A177-3AD203B41FA5}">
                      <a16:colId xmlns:a16="http://schemas.microsoft.com/office/drawing/2014/main" val="55753772"/>
                    </a:ext>
                  </a:extLst>
                </a:gridCol>
              </a:tblGrid>
              <a:tr h="861498">
                <a:tc>
                  <a:txBody>
                    <a:bodyPr/>
                    <a:lstStyle/>
                    <a:p>
                      <a:pPr>
                        <a:lnSpc>
                          <a:spcPct val="107000"/>
                        </a:lnSpc>
                        <a:spcAft>
                          <a:spcPts val="800"/>
                        </a:spcAft>
                      </a:pPr>
                      <a:r>
                        <a:rPr lang="en-AU" sz="2200" dirty="0">
                          <a:effectLst/>
                        </a:rPr>
                        <a:t>Australian Values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Definition</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886327">
                <a:tc>
                  <a:txBody>
                    <a:bodyPr/>
                    <a:lstStyle/>
                    <a:p>
                      <a:pPr>
                        <a:lnSpc>
                          <a:spcPct val="107000"/>
                        </a:lnSpc>
                        <a:spcAft>
                          <a:spcPts val="800"/>
                        </a:spcAft>
                      </a:pPr>
                      <a:r>
                        <a:rPr lang="en-AU" sz="2200" dirty="0">
                          <a:solidFill>
                            <a:schemeClr val="tx1"/>
                          </a:solidFill>
                          <a:effectLst/>
                        </a:rPr>
                        <a:t>Respect</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All people are treated fairly, or without in justice, and are given equal opportunity. Also known as a ‘fair go’ in Australia.</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339522">
                <a:tc>
                  <a:txBody>
                    <a:bodyPr/>
                    <a:lstStyle/>
                    <a:p>
                      <a:pPr>
                        <a:lnSpc>
                          <a:spcPct val="107000"/>
                        </a:lnSpc>
                        <a:spcAft>
                          <a:spcPts val="800"/>
                        </a:spcAft>
                      </a:pPr>
                      <a:r>
                        <a:rPr lang="en-AU" sz="2200" dirty="0">
                          <a:solidFill>
                            <a:schemeClr val="tx1"/>
                          </a:solidFill>
                          <a:effectLst/>
                        </a:rPr>
                        <a:t>Equality</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Rights and privileges for all, without discrimination based on gender, race, religion, age, sexual orientation or level of educations.  All citizens have the right to same opportunities.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886327">
                <a:tc>
                  <a:txBody>
                    <a:bodyPr/>
                    <a:lstStyle/>
                    <a:p>
                      <a:pPr>
                        <a:lnSpc>
                          <a:spcPct val="107000"/>
                        </a:lnSpc>
                        <a:spcAft>
                          <a:spcPts val="800"/>
                        </a:spcAft>
                      </a:pPr>
                      <a:r>
                        <a:rPr lang="en-AU" sz="2200" dirty="0">
                          <a:solidFill>
                            <a:schemeClr val="tx1"/>
                          </a:solidFill>
                          <a:effectLst/>
                        </a:rPr>
                        <a:t>Fairness</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Rights, privileges and responsibilities for all without interference, or control from other citizens or government.</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r h="886327">
                <a:tc>
                  <a:txBody>
                    <a:bodyPr/>
                    <a:lstStyle/>
                    <a:p>
                      <a:pPr>
                        <a:lnSpc>
                          <a:spcPct val="107000"/>
                        </a:lnSpc>
                        <a:spcAft>
                          <a:spcPts val="800"/>
                        </a:spcAft>
                      </a:pPr>
                      <a:r>
                        <a:rPr lang="en-AU" sz="2200" dirty="0">
                          <a:solidFill>
                            <a:schemeClr val="tx1"/>
                          </a:solidFill>
                          <a:effectLst/>
                        </a:rPr>
                        <a:t>Freedom</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Treating others with consideration and valuing their view, beliefs and rights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7992657"/>
                  </a:ext>
                </a:extLst>
              </a:tr>
            </a:tbl>
          </a:graphicData>
        </a:graphic>
      </p:graphicFrame>
      <p:cxnSp>
        <p:nvCxnSpPr>
          <p:cNvPr id="4" name="Straight Connector 3">
            <a:extLst>
              <a:ext uri="{FF2B5EF4-FFF2-40B4-BE49-F238E27FC236}">
                <a16:creationId xmlns:a16="http://schemas.microsoft.com/office/drawing/2014/main" id="{16C61627-AE3C-4A8F-B20E-42859C036E7D}"/>
              </a:ext>
            </a:extLst>
          </p:cNvPr>
          <p:cNvCxnSpPr>
            <a:cxnSpLocks/>
          </p:cNvCxnSpPr>
          <p:nvPr/>
        </p:nvCxnSpPr>
        <p:spPr>
          <a:xfrm>
            <a:off x="1978332" y="3181457"/>
            <a:ext cx="2268204" cy="2862882"/>
          </a:xfrm>
          <a:prstGeom prst="line">
            <a:avLst/>
          </a:prstGeom>
          <a:ln w="76200"/>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CA0A7CD-B96E-41E6-99AA-057F80570C8F}"/>
              </a:ext>
            </a:extLst>
          </p:cNvPr>
          <p:cNvCxnSpPr>
            <a:cxnSpLocks/>
          </p:cNvCxnSpPr>
          <p:nvPr/>
        </p:nvCxnSpPr>
        <p:spPr>
          <a:xfrm>
            <a:off x="1978332" y="4191895"/>
            <a:ext cx="2268204" cy="0"/>
          </a:xfrm>
          <a:prstGeom prst="line">
            <a:avLst/>
          </a:prstGeom>
          <a:ln w="7620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004EAB51-AFFC-425E-818F-2832AC1E842E}"/>
              </a:ext>
            </a:extLst>
          </p:cNvPr>
          <p:cNvCxnSpPr>
            <a:cxnSpLocks/>
          </p:cNvCxnSpPr>
          <p:nvPr/>
        </p:nvCxnSpPr>
        <p:spPr>
          <a:xfrm flipV="1">
            <a:off x="1978332" y="3068664"/>
            <a:ext cx="2268204" cy="2133671"/>
          </a:xfrm>
          <a:prstGeom prst="line">
            <a:avLst/>
          </a:prstGeom>
          <a:ln w="76200"/>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D02C026-0E56-4CD2-A2BF-03EB4DFD9086}"/>
              </a:ext>
            </a:extLst>
          </p:cNvPr>
          <p:cNvCxnSpPr>
            <a:cxnSpLocks/>
          </p:cNvCxnSpPr>
          <p:nvPr/>
        </p:nvCxnSpPr>
        <p:spPr>
          <a:xfrm flipV="1">
            <a:off x="2092271" y="5202335"/>
            <a:ext cx="2154265" cy="954797"/>
          </a:xfrm>
          <a:prstGeom prst="line">
            <a:avLst/>
          </a:prstGeom>
          <a:ln w="762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5569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28881-FE1D-415C-B2C7-9C84FD3C2185}"/>
              </a:ext>
            </a:extLst>
          </p:cNvPr>
          <p:cNvSpPr>
            <a:spLocks noGrp="1"/>
          </p:cNvSpPr>
          <p:nvPr>
            <p:ph type="title"/>
          </p:nvPr>
        </p:nvSpPr>
        <p:spPr>
          <a:solidFill>
            <a:srgbClr val="FFFF00"/>
          </a:solidFill>
        </p:spPr>
        <p:txBody>
          <a:bodyPr/>
          <a:lstStyle/>
          <a:p>
            <a:r>
              <a:rPr lang="en-AU" dirty="0"/>
              <a:t>What are our school values?</a:t>
            </a:r>
          </a:p>
        </p:txBody>
      </p:sp>
      <p:pic>
        <p:nvPicPr>
          <p:cNvPr id="3074" name="Picture 2" descr="Alumni">
            <a:extLst>
              <a:ext uri="{FF2B5EF4-FFF2-40B4-BE49-F238E27FC236}">
                <a16:creationId xmlns:a16="http://schemas.microsoft.com/office/drawing/2014/main" id="{9E445250-C76D-4656-B51A-4EB170E8F814}"/>
              </a:ext>
            </a:extLst>
          </p:cNvPr>
          <p:cNvPicPr>
            <a:picLocks noGrp="1" noChangeAspect="1" noChangeArrowheads="1"/>
          </p:cNvPicPr>
          <p:nvPr>
            <p:ph sz="quarter" idx="13"/>
          </p:nvPr>
        </p:nvPicPr>
        <p:blipFill rotWithShape="1">
          <a:blip r:embed="rId2">
            <a:extLst>
              <a:ext uri="{28A0092B-C50C-407E-A947-70E740481C1C}">
                <a14:useLocalDpi xmlns:a14="http://schemas.microsoft.com/office/drawing/2010/main" val="0"/>
              </a:ext>
            </a:extLst>
          </a:blip>
          <a:srcRect r="58842"/>
          <a:stretch/>
        </p:blipFill>
        <p:spPr bwMode="auto">
          <a:xfrm>
            <a:off x="2478890" y="2677651"/>
            <a:ext cx="2015619" cy="1967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8F0FD7-2D3A-4A4D-8B80-900A58CCB543}"/>
              </a:ext>
            </a:extLst>
          </p:cNvPr>
          <p:cNvSpPr txBox="1"/>
          <p:nvPr/>
        </p:nvSpPr>
        <p:spPr>
          <a:xfrm>
            <a:off x="6096000" y="2076971"/>
            <a:ext cx="5443349" cy="3323987"/>
          </a:xfrm>
          <a:prstGeom prst="rect">
            <a:avLst/>
          </a:prstGeom>
          <a:noFill/>
        </p:spPr>
        <p:txBody>
          <a:bodyPr wrap="square" rtlCol="0">
            <a:spAutoFit/>
          </a:bodyPr>
          <a:lstStyle/>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Responsibility </a:t>
            </a:r>
          </a:p>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Respect</a:t>
            </a:r>
          </a:p>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Tolerance</a:t>
            </a:r>
          </a:p>
          <a:p>
            <a:pPr marL="285750" indent="-285750">
              <a:buFont typeface="Arial" panose="020B0604020202020204" pitchFamily="34" charset="0"/>
              <a:buChar char="•"/>
            </a:pPr>
            <a:endParaRPr lang="en-AU" sz="3000" dirty="0"/>
          </a:p>
        </p:txBody>
      </p:sp>
    </p:spTree>
    <p:extLst>
      <p:ext uri="{BB962C8B-B14F-4D97-AF65-F5344CB8AC3E}">
        <p14:creationId xmlns:p14="http://schemas.microsoft.com/office/powerpoint/2010/main" val="191575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1000"/>
                                  </p:stCondLst>
                                  <p:childTnLst>
                                    <p:set>
                                      <p:cBhvr>
                                        <p:cTn id="8" dur="1" fill="hold">
                                          <p:stCondLst>
                                            <p:cond delay="9"/>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2000"/>
                                  </p:stCondLst>
                                  <p:childTnLst>
                                    <p:set>
                                      <p:cBhvr>
                                        <p:cTn id="10" dur="1" fill="hold">
                                          <p:stCondLst>
                                            <p:cond delay="9"/>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Image result for westminster">
            <a:extLst>
              <a:ext uri="{FF2B5EF4-FFF2-40B4-BE49-F238E27FC236}">
                <a16:creationId xmlns:a16="http://schemas.microsoft.com/office/drawing/2014/main" id="{4AF371F2-2974-4B1C-8B1B-45F3E1C7C1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6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803" y="321176"/>
            <a:ext cx="6619811" cy="902713"/>
          </a:xfrm>
        </p:spPr>
        <p:txBody>
          <a:bodyPr>
            <a:normAutofit/>
          </a:bodyPr>
          <a:lstStyle/>
          <a:p>
            <a:r>
              <a:rPr lang="en-AU" sz="3500" b="1" dirty="0"/>
              <a:t>3. The Westminster System</a:t>
            </a:r>
          </a:p>
        </p:txBody>
      </p:sp>
      <p:sp>
        <p:nvSpPr>
          <p:cNvPr id="3" name="Content Placeholder 2"/>
          <p:cNvSpPr>
            <a:spLocks noGrp="1"/>
          </p:cNvSpPr>
          <p:nvPr>
            <p:ph sz="quarter" idx="13"/>
          </p:nvPr>
        </p:nvSpPr>
        <p:spPr>
          <a:xfrm>
            <a:off x="625517" y="1114865"/>
            <a:ext cx="6620505" cy="4948310"/>
          </a:xfrm>
        </p:spPr>
        <p:txBody>
          <a:bodyPr>
            <a:noAutofit/>
          </a:bodyPr>
          <a:lstStyle/>
          <a:p>
            <a:pPr marL="0" indent="0">
              <a:buNone/>
            </a:pPr>
            <a:r>
              <a:rPr lang="en-AU" sz="2700" dirty="0"/>
              <a:t>A democratic system of government modelled from the United Kingdom (Palace of Westminster of British Parliament). </a:t>
            </a:r>
          </a:p>
          <a:p>
            <a:pPr marL="0" indent="0">
              <a:buNone/>
            </a:pPr>
            <a:endParaRPr lang="en-AU" sz="600" dirty="0"/>
          </a:p>
          <a:p>
            <a:pPr marL="0" indent="0">
              <a:buNone/>
            </a:pPr>
            <a:r>
              <a:rPr lang="en-AU" b="1" i="1" dirty="0"/>
              <a:t>Features of the Westminster system:</a:t>
            </a:r>
          </a:p>
          <a:p>
            <a:pPr marL="0" indent="0">
              <a:buNone/>
            </a:pPr>
            <a:endParaRPr lang="en-AU" sz="600" dirty="0"/>
          </a:p>
          <a:p>
            <a:r>
              <a:rPr lang="en-AU" sz="2600" dirty="0"/>
              <a:t>Executive branch – made up of members of the legislature and Prime Minister</a:t>
            </a:r>
          </a:p>
          <a:p>
            <a:r>
              <a:rPr lang="en-AU" sz="2600" dirty="0"/>
              <a:t>Opposition parties</a:t>
            </a:r>
          </a:p>
          <a:p>
            <a:r>
              <a:rPr lang="en-AU" sz="2600" dirty="0"/>
              <a:t>Bicameral or Unicameral legislature </a:t>
            </a:r>
          </a:p>
          <a:p>
            <a:r>
              <a:rPr lang="en-AU" sz="2600" dirty="0"/>
              <a:t>Ceremonial head of state (Queen Elizabeth II)</a:t>
            </a:r>
          </a:p>
        </p:txBody>
      </p:sp>
      <p:pic>
        <p:nvPicPr>
          <p:cNvPr id="5" name="Picture 4">
            <a:hlinkClick r:id="rId4"/>
            <a:extLst>
              <a:ext uri="{FF2B5EF4-FFF2-40B4-BE49-F238E27FC236}">
                <a16:creationId xmlns:a16="http://schemas.microsoft.com/office/drawing/2014/main" id="{8CD83152-FB30-471D-897D-58144DD1F3A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7966196" y="321176"/>
            <a:ext cx="2143125" cy="2143125"/>
          </a:xfrm>
          <a:prstGeom prst="rect">
            <a:avLst/>
          </a:prstGeom>
        </p:spPr>
      </p:pic>
    </p:spTree>
    <p:extLst>
      <p:ext uri="{BB962C8B-B14F-4D97-AF65-F5344CB8AC3E}">
        <p14:creationId xmlns:p14="http://schemas.microsoft.com/office/powerpoint/2010/main" val="361367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xfrm>
            <a:off x="868046" y="273922"/>
            <a:ext cx="10511153" cy="1143000"/>
          </a:xfrm>
          <a:solidFill>
            <a:srgbClr val="FFFF00"/>
          </a:solidFill>
        </p:spPr>
        <p:txBody>
          <a:bodyPr>
            <a:normAutofit/>
          </a:bodyPr>
          <a:lstStyle/>
          <a:p>
            <a:r>
              <a:rPr lang="en-AU" dirty="0"/>
              <a:t>Activity Sheet – Fill in the blanks.</a:t>
            </a:r>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
        <p:nvSpPr>
          <p:cNvPr id="30" name="Text Box 8">
            <a:extLst>
              <a:ext uri="{FF2B5EF4-FFF2-40B4-BE49-F238E27FC236}">
                <a16:creationId xmlns:a16="http://schemas.microsoft.com/office/drawing/2014/main" id="{EE82183D-0721-4E92-8518-865882707222}"/>
              </a:ext>
            </a:extLst>
          </p:cNvPr>
          <p:cNvSpPr txBox="1">
            <a:spLocks noChangeArrowheads="1"/>
          </p:cNvSpPr>
          <p:nvPr/>
        </p:nvSpPr>
        <p:spPr bwMode="auto">
          <a:xfrm>
            <a:off x="9305028" y="2408207"/>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Sovereign</a:t>
            </a:r>
            <a:endParaRPr kumimoji="0" lang="en-US" altLang="en-US" sz="2400" b="0" i="0" u="none" strike="noStrike" cap="none" normalizeH="0" baseline="0" dirty="0">
              <a:ln>
                <a:noFill/>
              </a:ln>
              <a:solidFill>
                <a:schemeClr val="tx1"/>
              </a:solidFill>
              <a:effectLst/>
            </a:endParaRPr>
          </a:p>
        </p:txBody>
      </p:sp>
      <p:sp>
        <p:nvSpPr>
          <p:cNvPr id="31" name="Text Box 10">
            <a:extLst>
              <a:ext uri="{FF2B5EF4-FFF2-40B4-BE49-F238E27FC236}">
                <a16:creationId xmlns:a16="http://schemas.microsoft.com/office/drawing/2014/main" id="{3097AD7E-4110-4FE6-9CC1-C861FF978669}"/>
              </a:ext>
            </a:extLst>
          </p:cNvPr>
          <p:cNvSpPr txBox="1">
            <a:spLocks noChangeArrowheads="1"/>
          </p:cNvSpPr>
          <p:nvPr/>
        </p:nvSpPr>
        <p:spPr bwMode="auto">
          <a:xfrm>
            <a:off x="7493300" y="241873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Senate</a:t>
            </a:r>
            <a:endParaRPr kumimoji="0" lang="en-US" altLang="en-US" sz="2400" b="0" i="0" u="none" strike="noStrike" cap="none" normalizeH="0" baseline="0" dirty="0">
              <a:ln>
                <a:noFill/>
              </a:ln>
              <a:solidFill>
                <a:schemeClr val="tx1"/>
              </a:solidFill>
              <a:effectLst/>
            </a:endParaRPr>
          </a:p>
        </p:txBody>
      </p:sp>
      <p:sp>
        <p:nvSpPr>
          <p:cNvPr id="4096" name="Text Box 12">
            <a:extLst>
              <a:ext uri="{FF2B5EF4-FFF2-40B4-BE49-F238E27FC236}">
                <a16:creationId xmlns:a16="http://schemas.microsoft.com/office/drawing/2014/main" id="{D8BF8F5A-CAA2-4A06-B951-8CF9B638C399}"/>
              </a:ext>
            </a:extLst>
          </p:cNvPr>
          <p:cNvSpPr txBox="1">
            <a:spLocks noChangeArrowheads="1"/>
          </p:cNvSpPr>
          <p:nvPr/>
        </p:nvSpPr>
        <p:spPr bwMode="auto">
          <a:xfrm>
            <a:off x="5242601" y="2448115"/>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Parliament</a:t>
            </a:r>
            <a:endParaRPr kumimoji="0" lang="en-US" altLang="en-US" sz="2400" b="0" i="0" u="none" strike="noStrike" cap="none" normalizeH="0" baseline="0" dirty="0">
              <a:ln>
                <a:noFill/>
              </a:ln>
              <a:solidFill>
                <a:schemeClr val="tx1"/>
              </a:solidFill>
              <a:effectLst/>
            </a:endParaRPr>
          </a:p>
        </p:txBody>
      </p:sp>
      <p:sp>
        <p:nvSpPr>
          <p:cNvPr id="4097" name="Text Box 9">
            <a:extLst>
              <a:ext uri="{FF2B5EF4-FFF2-40B4-BE49-F238E27FC236}">
                <a16:creationId xmlns:a16="http://schemas.microsoft.com/office/drawing/2014/main" id="{6B2D420A-474D-40EC-B07B-FAB361E113E0}"/>
              </a:ext>
            </a:extLst>
          </p:cNvPr>
          <p:cNvSpPr txBox="1">
            <a:spLocks noChangeArrowheads="1"/>
          </p:cNvSpPr>
          <p:nvPr/>
        </p:nvSpPr>
        <p:spPr bwMode="auto">
          <a:xfrm>
            <a:off x="510931" y="231359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Governor General</a:t>
            </a:r>
            <a:endParaRPr kumimoji="0" lang="en-US" altLang="en-US" sz="2400" b="0" i="0" u="none" strike="noStrike" cap="none" normalizeH="0" baseline="0" dirty="0">
              <a:ln>
                <a:noFill/>
              </a:ln>
              <a:solidFill>
                <a:schemeClr val="tx1"/>
              </a:solidFill>
              <a:effectLst/>
            </a:endParaRPr>
          </a:p>
        </p:txBody>
      </p:sp>
      <p:sp>
        <p:nvSpPr>
          <p:cNvPr id="4098" name="Text Box 11">
            <a:extLst>
              <a:ext uri="{FF2B5EF4-FFF2-40B4-BE49-F238E27FC236}">
                <a16:creationId xmlns:a16="http://schemas.microsoft.com/office/drawing/2014/main" id="{108E79C5-464F-4FEE-AB98-562F9C5EA31C}"/>
              </a:ext>
            </a:extLst>
          </p:cNvPr>
          <p:cNvSpPr txBox="1">
            <a:spLocks noChangeArrowheads="1"/>
          </p:cNvSpPr>
          <p:nvPr/>
        </p:nvSpPr>
        <p:spPr bwMode="auto">
          <a:xfrm>
            <a:off x="2823868" y="230841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House of Representatives</a:t>
            </a:r>
            <a:endParaRPr kumimoji="0" lang="en-US" altLang="en-US" sz="2400" b="0" i="0" u="none" strike="noStrike" cap="none" normalizeH="0" baseline="0" dirty="0">
              <a:ln>
                <a:noFill/>
              </a:ln>
              <a:solidFill>
                <a:schemeClr val="tx1"/>
              </a:solidFill>
              <a:effectLst/>
            </a:endParaRPr>
          </a:p>
        </p:txBody>
      </p:sp>
      <p:pic>
        <p:nvPicPr>
          <p:cNvPr id="4121" name="Picture 7" descr="Your questions on notice - Question details">
            <a:extLst>
              <a:ext uri="{FF2B5EF4-FFF2-40B4-BE49-F238E27FC236}">
                <a16:creationId xmlns:a16="http://schemas.microsoft.com/office/drawing/2014/main" id="{1074D0A1-8B66-4E24-8101-ED5182D7CD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9559" b="25558"/>
          <a:stretch>
            <a:fillRect/>
          </a:stretch>
        </p:blipFill>
        <p:spPr bwMode="auto">
          <a:xfrm>
            <a:off x="510931" y="3858564"/>
            <a:ext cx="11170138" cy="1718105"/>
          </a:xfrm>
          <a:prstGeom prst="rect">
            <a:avLst/>
          </a:prstGeom>
          <a:noFill/>
          <a:extLst>
            <a:ext uri="{909E8E84-426E-40DD-AFC4-6F175D3DCCD1}">
              <a14:hiddenFill xmlns:a14="http://schemas.microsoft.com/office/drawing/2010/main">
                <a:solidFill>
                  <a:srgbClr val="FFFFFF"/>
                </a:solidFill>
              </a14:hiddenFill>
            </a:ext>
          </a:extLst>
        </p:spPr>
      </p:pic>
      <p:sp>
        <p:nvSpPr>
          <p:cNvPr id="4100" name="Rectangle 33">
            <a:extLst>
              <a:ext uri="{FF2B5EF4-FFF2-40B4-BE49-F238E27FC236}">
                <a16:creationId xmlns:a16="http://schemas.microsoft.com/office/drawing/2014/main" id="{F08A784C-36EF-4DCC-A80C-6EF6AB5727EB}"/>
              </a:ext>
            </a:extLst>
          </p:cNvPr>
          <p:cNvSpPr>
            <a:spLocks noChangeArrowheads="1"/>
          </p:cNvSpPr>
          <p:nvPr/>
        </p:nvSpPr>
        <p:spPr bwMode="auto">
          <a:xfrm>
            <a:off x="812801" y="1281331"/>
            <a:ext cx="10566400" cy="100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30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Identify the components of the Westminster System in Australia:</a:t>
            </a:r>
            <a:endParaRPr kumimoji="0" lang="en-AU"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83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2000"/>
                                  </p:stCondLst>
                                  <p:childTnLst>
                                    <p:set>
                                      <p:cBhvr>
                                        <p:cTn id="10" dur="1" fill="hold">
                                          <p:stCondLst>
                                            <p:cond delay="999"/>
                                          </p:stCondLst>
                                        </p:cTn>
                                        <p:tgtEl>
                                          <p:spTgt spid="9"/>
                                        </p:tgtEl>
                                        <p:attrNameLst>
                                          <p:attrName>style.visibility</p:attrName>
                                        </p:attrNameLst>
                                      </p:cBhvr>
                                      <p:to>
                                        <p:strVal val="visible"/>
                                      </p:to>
                                    </p:set>
                                  </p:childTnLst>
                                </p:cTn>
                              </p:par>
                              <p:par>
                                <p:cTn id="11" presetID="1" presetClass="entr" presetSubtype="0" fill="hold" grpId="0" nodeType="withEffect">
                                  <p:stCondLst>
                                    <p:cond delay="4000"/>
                                  </p:stCondLst>
                                  <p:childTnLst>
                                    <p:set>
                                      <p:cBhvr>
                                        <p:cTn id="12" dur="1" fill="hold">
                                          <p:stCondLst>
                                            <p:cond delay="9"/>
                                          </p:stCondLst>
                                        </p:cTn>
                                        <p:tgtEl>
                                          <p:spTgt spid="4100"/>
                                        </p:tgtEl>
                                        <p:attrNameLst>
                                          <p:attrName>style.visibility</p:attrName>
                                        </p:attrNameLst>
                                      </p:cBhvr>
                                      <p:to>
                                        <p:strVal val="visible"/>
                                      </p:to>
                                    </p:set>
                                  </p:childTnLst>
                                </p:cTn>
                              </p:par>
                              <p:par>
                                <p:cTn id="13" presetID="1" presetClass="entr" presetSubtype="0" fill="hold" nodeType="withEffect">
                                  <p:stCondLst>
                                    <p:cond delay="5000"/>
                                  </p:stCondLst>
                                  <p:childTnLst>
                                    <p:set>
                                      <p:cBhvr>
                                        <p:cTn id="14" dur="1" fill="hold">
                                          <p:stCondLst>
                                            <p:cond delay="0"/>
                                          </p:stCondLst>
                                        </p:cTn>
                                        <p:tgtEl>
                                          <p:spTgt spid="4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1" grpId="0" animBg="1"/>
      <p:bldP spid="4096" grpId="0" animBg="1"/>
      <p:bldP spid="4097" grpId="0" animBg="1"/>
      <p:bldP spid="4098" grpId="0" animBg="1"/>
      <p:bldP spid="41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21" name="Picture 7" descr="Your questions on notice - Question details">
            <a:extLst>
              <a:ext uri="{FF2B5EF4-FFF2-40B4-BE49-F238E27FC236}">
                <a16:creationId xmlns:a16="http://schemas.microsoft.com/office/drawing/2014/main" id="{1074D0A1-8B66-4E24-8101-ED5182D7C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559" b="25558"/>
          <a:stretch>
            <a:fillRect/>
          </a:stretch>
        </p:blipFill>
        <p:spPr bwMode="auto">
          <a:xfrm>
            <a:off x="510931" y="3858564"/>
            <a:ext cx="11170138" cy="17181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xfrm>
            <a:off x="868046" y="273922"/>
            <a:ext cx="10566400" cy="1143000"/>
          </a:xfrm>
          <a:solidFill>
            <a:srgbClr val="FFFF00"/>
          </a:solidFill>
        </p:spPr>
        <p:txBody>
          <a:bodyPr>
            <a:normAutofit/>
          </a:bodyPr>
          <a:lstStyle/>
          <a:p>
            <a:r>
              <a:rPr lang="en-AU" dirty="0"/>
              <a:t>Ready with your answers?</a:t>
            </a:r>
          </a:p>
        </p:txBody>
      </p:sp>
      <p:sp>
        <p:nvSpPr>
          <p:cNvPr id="4100" name="Rectangle 33">
            <a:extLst>
              <a:ext uri="{FF2B5EF4-FFF2-40B4-BE49-F238E27FC236}">
                <a16:creationId xmlns:a16="http://schemas.microsoft.com/office/drawing/2014/main" id="{F08A784C-36EF-4DCC-A80C-6EF6AB5727EB}"/>
              </a:ext>
            </a:extLst>
          </p:cNvPr>
          <p:cNvSpPr>
            <a:spLocks noChangeArrowheads="1"/>
          </p:cNvSpPr>
          <p:nvPr/>
        </p:nvSpPr>
        <p:spPr bwMode="auto">
          <a:xfrm>
            <a:off x="812801" y="1281331"/>
            <a:ext cx="10566400" cy="100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30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Identify the components of the Westminster System in Australia:</a:t>
            </a:r>
            <a:endParaRPr kumimoji="0" lang="en-AU"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4097" name="Text Box 9">
            <a:extLst>
              <a:ext uri="{FF2B5EF4-FFF2-40B4-BE49-F238E27FC236}">
                <a16:creationId xmlns:a16="http://schemas.microsoft.com/office/drawing/2014/main" id="{6B2D420A-474D-40EC-B07B-FAB361E113E0}"/>
              </a:ext>
            </a:extLst>
          </p:cNvPr>
          <p:cNvSpPr txBox="1">
            <a:spLocks noChangeArrowheads="1"/>
          </p:cNvSpPr>
          <p:nvPr/>
        </p:nvSpPr>
        <p:spPr bwMode="auto">
          <a:xfrm>
            <a:off x="510931" y="231359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Governor General</a:t>
            </a:r>
            <a:endParaRPr kumimoji="0" lang="en-US" altLang="en-US" sz="2400" b="0" i="0" u="none" strike="noStrike" cap="none" normalizeH="0" baseline="0" dirty="0">
              <a:ln>
                <a:noFill/>
              </a:ln>
              <a:solidFill>
                <a:schemeClr val="tx1"/>
              </a:solidFill>
              <a:effectLst/>
            </a:endParaRPr>
          </a:p>
        </p:txBody>
      </p:sp>
      <p:sp>
        <p:nvSpPr>
          <p:cNvPr id="4098" name="Text Box 11">
            <a:extLst>
              <a:ext uri="{FF2B5EF4-FFF2-40B4-BE49-F238E27FC236}">
                <a16:creationId xmlns:a16="http://schemas.microsoft.com/office/drawing/2014/main" id="{108E79C5-464F-4FEE-AB98-562F9C5EA31C}"/>
              </a:ext>
            </a:extLst>
          </p:cNvPr>
          <p:cNvSpPr txBox="1">
            <a:spLocks noChangeArrowheads="1"/>
          </p:cNvSpPr>
          <p:nvPr/>
        </p:nvSpPr>
        <p:spPr bwMode="auto">
          <a:xfrm>
            <a:off x="2823868" y="230841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House of Representatives</a:t>
            </a:r>
            <a:endParaRPr kumimoji="0" lang="en-US" altLang="en-US" sz="2400" b="0" i="0" u="none" strike="noStrike" cap="none" normalizeH="0" baseline="0" dirty="0">
              <a:ln>
                <a:noFill/>
              </a:ln>
              <a:solidFill>
                <a:schemeClr val="tx1"/>
              </a:solidFill>
              <a:effectLst/>
            </a:endParaRPr>
          </a:p>
        </p:txBody>
      </p:sp>
      <p:sp>
        <p:nvSpPr>
          <p:cNvPr id="4096" name="Text Box 12">
            <a:extLst>
              <a:ext uri="{FF2B5EF4-FFF2-40B4-BE49-F238E27FC236}">
                <a16:creationId xmlns:a16="http://schemas.microsoft.com/office/drawing/2014/main" id="{D8BF8F5A-CAA2-4A06-B951-8CF9B638C399}"/>
              </a:ext>
            </a:extLst>
          </p:cNvPr>
          <p:cNvSpPr txBox="1">
            <a:spLocks noChangeArrowheads="1"/>
          </p:cNvSpPr>
          <p:nvPr/>
        </p:nvSpPr>
        <p:spPr bwMode="auto">
          <a:xfrm>
            <a:off x="5242601" y="2448115"/>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Parliament</a:t>
            </a:r>
            <a:endParaRPr kumimoji="0" lang="en-US" altLang="en-US" sz="2400" b="0" i="0" u="none" strike="noStrike" cap="none" normalizeH="0" baseline="0" dirty="0">
              <a:ln>
                <a:noFill/>
              </a:ln>
              <a:solidFill>
                <a:schemeClr val="tx1"/>
              </a:solidFill>
              <a:effectLst/>
            </a:endParaRPr>
          </a:p>
        </p:txBody>
      </p:sp>
      <p:sp>
        <p:nvSpPr>
          <p:cNvPr id="31" name="Text Box 10">
            <a:extLst>
              <a:ext uri="{FF2B5EF4-FFF2-40B4-BE49-F238E27FC236}">
                <a16:creationId xmlns:a16="http://schemas.microsoft.com/office/drawing/2014/main" id="{3097AD7E-4110-4FE6-9CC1-C861FF978669}"/>
              </a:ext>
            </a:extLst>
          </p:cNvPr>
          <p:cNvSpPr txBox="1">
            <a:spLocks noChangeArrowheads="1"/>
          </p:cNvSpPr>
          <p:nvPr/>
        </p:nvSpPr>
        <p:spPr bwMode="auto">
          <a:xfrm>
            <a:off x="7493300" y="241873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Senate</a:t>
            </a:r>
            <a:endParaRPr kumimoji="0" lang="en-US" altLang="en-US" sz="2400" b="0" i="0" u="none" strike="noStrike" cap="none" normalizeH="0" baseline="0" dirty="0">
              <a:ln>
                <a:noFill/>
              </a:ln>
              <a:solidFill>
                <a:schemeClr val="tx1"/>
              </a:solidFill>
              <a:effectLst/>
            </a:endParaRPr>
          </a:p>
        </p:txBody>
      </p:sp>
      <p:sp>
        <p:nvSpPr>
          <p:cNvPr id="30" name="Text Box 8">
            <a:extLst>
              <a:ext uri="{FF2B5EF4-FFF2-40B4-BE49-F238E27FC236}">
                <a16:creationId xmlns:a16="http://schemas.microsoft.com/office/drawing/2014/main" id="{EE82183D-0721-4E92-8518-865882707222}"/>
              </a:ext>
            </a:extLst>
          </p:cNvPr>
          <p:cNvSpPr txBox="1">
            <a:spLocks noChangeArrowheads="1"/>
          </p:cNvSpPr>
          <p:nvPr/>
        </p:nvSpPr>
        <p:spPr bwMode="auto">
          <a:xfrm>
            <a:off x="9305028" y="2408207"/>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Sovereign</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6463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1" nodeType="clickEffect">
                                  <p:stCondLst>
                                    <p:cond delay="0"/>
                                  </p:stCondLst>
                                  <p:childTnLst>
                                    <p:animMotion origin="layout" path="M 2.5E-6 3.7037E-6 L -0.73008 0.46574 " pathEditMode="relative" rAng="0" ptsTypes="AA">
                                      <p:cBhvr>
                                        <p:cTn id="6" dur="2000" fill="hold"/>
                                        <p:tgtEl>
                                          <p:spTgt spid="30"/>
                                        </p:tgtEl>
                                        <p:attrNameLst>
                                          <p:attrName>ppt_x</p:attrName>
                                          <p:attrName>ppt_y</p:attrName>
                                        </p:attrNameLst>
                                      </p:cBhvr>
                                      <p:rCtr x="-36510" y="23287"/>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1" nodeType="clickEffect">
                                  <p:stCondLst>
                                    <p:cond delay="0"/>
                                  </p:stCondLst>
                                  <p:childTnLst>
                                    <p:animMotion origin="layout" path="M -3.54167E-6 2.59259E-6 L 0.13217 0.50903 " pathEditMode="relative" rAng="0" ptsTypes="AA">
                                      <p:cBhvr>
                                        <p:cTn id="10" dur="2000" fill="hold"/>
                                        <p:tgtEl>
                                          <p:spTgt spid="4097"/>
                                        </p:tgtEl>
                                        <p:attrNameLst>
                                          <p:attrName>ppt_x</p:attrName>
                                          <p:attrName>ppt_y</p:attrName>
                                        </p:attrNameLst>
                                      </p:cBhvr>
                                      <p:rCtr x="6602" y="2544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2.08333E-7 3.33333E-6 L -0.26497 0.48217 " pathEditMode="relative" rAng="0" ptsTypes="AA">
                                      <p:cBhvr>
                                        <p:cTn id="14" dur="2000" fill="hold"/>
                                        <p:tgtEl>
                                          <p:spTgt spid="31"/>
                                        </p:tgtEl>
                                        <p:attrNameLst>
                                          <p:attrName>ppt_x</p:attrName>
                                          <p:attrName>ppt_y</p:attrName>
                                        </p:attrNameLst>
                                      </p:cBhvr>
                                      <p:rCtr x="-13255" y="24097"/>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91667E-6 -2.96296E-6 L 0.2914 0.50741 " pathEditMode="relative" rAng="0" ptsTypes="AA">
                                      <p:cBhvr>
                                        <p:cTn id="18" dur="2000" fill="hold"/>
                                        <p:tgtEl>
                                          <p:spTgt spid="4098"/>
                                        </p:tgtEl>
                                        <p:attrNameLst>
                                          <p:attrName>ppt_x</p:attrName>
                                          <p:attrName>ppt_y</p:attrName>
                                        </p:attrNameLst>
                                      </p:cBhvr>
                                      <p:rCtr x="14570" y="25370"/>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0" nodeType="clickEffect">
                                  <p:stCondLst>
                                    <p:cond delay="0"/>
                                  </p:stCondLst>
                                  <p:childTnLst>
                                    <p:animMotion origin="layout" path="M -4.375E-6 -3.33333E-6 L 0.31745 0.4713 " pathEditMode="relative" rAng="0" ptsTypes="AA">
                                      <p:cBhvr>
                                        <p:cTn id="22" dur="2000" fill="hold"/>
                                        <p:tgtEl>
                                          <p:spTgt spid="4096"/>
                                        </p:tgtEl>
                                        <p:attrNameLst>
                                          <p:attrName>ppt_x</p:attrName>
                                          <p:attrName>ppt_y</p:attrName>
                                        </p:attrNameLst>
                                      </p:cBhvr>
                                      <p:rCtr x="15872" y="2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 grpId="1"/>
      <p:bldP spid="4098" grpId="0" animBg="1"/>
      <p:bldP spid="4096" grpId="0"/>
      <p:bldP spid="31" grpId="0"/>
      <p:bldP spid="3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Image result for lady justice">
            <a:extLst>
              <a:ext uri="{FF2B5EF4-FFF2-40B4-BE49-F238E27FC236}">
                <a16:creationId xmlns:a16="http://schemas.microsoft.com/office/drawing/2014/main" id="{722A45B4-3ECB-4BC1-8946-6FD8453370F7}"/>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16596" r="21402"/>
          <a:stretch/>
        </p:blipFill>
        <p:spPr bwMode="auto">
          <a:xfrm>
            <a:off x="5797848" y="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p:cNvSpPr>
            <a:spLocks noGrp="1"/>
          </p:cNvSpPr>
          <p:nvPr>
            <p:ph type="title"/>
          </p:nvPr>
        </p:nvSpPr>
        <p:spPr>
          <a:xfrm>
            <a:off x="721451" y="311427"/>
            <a:ext cx="4803636" cy="1311664"/>
          </a:xfrm>
        </p:spPr>
        <p:txBody>
          <a:bodyPr>
            <a:normAutofit/>
          </a:bodyPr>
          <a:lstStyle/>
          <a:p>
            <a:r>
              <a:rPr lang="en-AU" sz="6000" b="1" dirty="0">
                <a:solidFill>
                  <a:srgbClr val="000000"/>
                </a:solidFill>
              </a:rPr>
              <a:t>4. Justice</a:t>
            </a:r>
          </a:p>
        </p:txBody>
      </p:sp>
      <p:sp>
        <p:nvSpPr>
          <p:cNvPr id="3" name="Content Placeholder 2"/>
          <p:cNvSpPr>
            <a:spLocks noGrp="1"/>
          </p:cNvSpPr>
          <p:nvPr>
            <p:ph sz="quarter" idx="13"/>
          </p:nvPr>
        </p:nvSpPr>
        <p:spPr>
          <a:xfrm>
            <a:off x="818284" y="1929363"/>
            <a:ext cx="4706803" cy="4719500"/>
          </a:xfrm>
        </p:spPr>
        <p:txBody>
          <a:bodyPr anchor="ctr">
            <a:normAutofit/>
          </a:bodyPr>
          <a:lstStyle/>
          <a:p>
            <a:pPr marL="0" indent="0">
              <a:buNone/>
            </a:pPr>
            <a:r>
              <a:rPr lang="en-AU" sz="3500" dirty="0">
                <a:solidFill>
                  <a:srgbClr val="000000"/>
                </a:solidFill>
              </a:rPr>
              <a:t>Fairness in the way people are treated.</a:t>
            </a:r>
          </a:p>
          <a:p>
            <a:pPr marL="0" indent="0">
              <a:buNone/>
            </a:pPr>
            <a:endParaRPr lang="en-AU" sz="3500" dirty="0">
              <a:solidFill>
                <a:srgbClr val="000000"/>
              </a:solidFill>
            </a:endParaRPr>
          </a:p>
          <a:p>
            <a:r>
              <a:rPr lang="en-AU" sz="3500" dirty="0">
                <a:solidFill>
                  <a:srgbClr val="000000"/>
                </a:solidFill>
              </a:rPr>
              <a:t>Equality before the law</a:t>
            </a:r>
          </a:p>
          <a:p>
            <a:r>
              <a:rPr lang="en-AU" sz="3500" dirty="0">
                <a:solidFill>
                  <a:srgbClr val="000000"/>
                </a:solidFill>
              </a:rPr>
              <a:t>No one is above the law  </a:t>
            </a:r>
          </a:p>
        </p:txBody>
      </p:sp>
      <p:pic>
        <p:nvPicPr>
          <p:cNvPr id="4" name="Picture 3">
            <a:hlinkClick r:id="rId5"/>
          </p:cNvPr>
          <p:cNvPicPr>
            <a:picLocks noChangeAspect="1"/>
          </p:cNvPicPr>
          <p:nvPr/>
        </p:nvPicPr>
        <p:blipFill>
          <a:blip r:embed="rId6"/>
          <a:stretch>
            <a:fillRect/>
          </a:stretch>
        </p:blipFill>
        <p:spPr>
          <a:xfrm>
            <a:off x="4008750" y="0"/>
            <a:ext cx="2143125" cy="2143125"/>
          </a:xfrm>
          <a:prstGeom prst="rect">
            <a:avLst/>
          </a:prstGeom>
        </p:spPr>
      </p:pic>
    </p:spTree>
    <p:extLst>
      <p:ext uri="{BB962C8B-B14F-4D97-AF65-F5344CB8AC3E}">
        <p14:creationId xmlns:p14="http://schemas.microsoft.com/office/powerpoint/2010/main" val="3888136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700" dirty="0"/>
              <a:t>Use these words to complete the paragraph.</a:t>
            </a:r>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
        <p:nvSpPr>
          <p:cNvPr id="11" name="TextBox 10">
            <a:extLst>
              <a:ext uri="{FF2B5EF4-FFF2-40B4-BE49-F238E27FC236}">
                <a16:creationId xmlns:a16="http://schemas.microsoft.com/office/drawing/2014/main" id="{2F67481A-645F-4CC8-BF3C-079961B235C7}"/>
              </a:ext>
            </a:extLst>
          </p:cNvPr>
          <p:cNvSpPr txBox="1"/>
          <p:nvPr/>
        </p:nvSpPr>
        <p:spPr>
          <a:xfrm>
            <a:off x="8727483" y="2355219"/>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societies</a:t>
            </a:r>
            <a:endParaRPr lang="en-AU" sz="3600" dirty="0"/>
          </a:p>
        </p:txBody>
      </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cultures</a:t>
            </a:r>
            <a:endParaRPr lang="en-AU" sz="3600" dirty="0"/>
          </a:p>
        </p:txBody>
      </p:sp>
      <p:sp>
        <p:nvSpPr>
          <p:cNvPr id="14" name="TextBox 13">
            <a:extLst>
              <a:ext uri="{FF2B5EF4-FFF2-40B4-BE49-F238E27FC236}">
                <a16:creationId xmlns:a16="http://schemas.microsoft.com/office/drawing/2014/main" id="{DFBAE635-34A2-4399-87F9-FF60A5B7926F}"/>
              </a:ext>
            </a:extLst>
          </p:cNvPr>
          <p:cNvSpPr txBox="1"/>
          <p:nvPr/>
        </p:nvSpPr>
        <p:spPr>
          <a:xfrm>
            <a:off x="4025685"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fairness</a:t>
            </a:r>
            <a:endParaRPr lang="en-AU" sz="3600" dirty="0"/>
          </a:p>
        </p:txBody>
      </p:sp>
      <p:sp>
        <p:nvSpPr>
          <p:cNvPr id="16" name="TextBox 15">
            <a:extLst>
              <a:ext uri="{FF2B5EF4-FFF2-40B4-BE49-F238E27FC236}">
                <a16:creationId xmlns:a16="http://schemas.microsoft.com/office/drawing/2014/main" id="{3DA9AA38-BE8E-43D7-802A-80CF09B78C48}"/>
              </a:ext>
            </a:extLst>
          </p:cNvPr>
          <p:cNvSpPr txBox="1"/>
          <p:nvPr/>
        </p:nvSpPr>
        <p:spPr>
          <a:xfrm>
            <a:off x="6210947"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payback</a:t>
            </a:r>
            <a:endParaRPr lang="en-AU" sz="3600" dirty="0"/>
          </a:p>
        </p:txBody>
      </p:sp>
      <p:sp>
        <p:nvSpPr>
          <p:cNvPr id="18" name="TextBox 17">
            <a:extLst>
              <a:ext uri="{FF2B5EF4-FFF2-40B4-BE49-F238E27FC236}">
                <a16:creationId xmlns:a16="http://schemas.microsoft.com/office/drawing/2014/main" id="{2AFD48A9-87F8-48FF-B576-854E86015C7D}"/>
              </a:ext>
            </a:extLst>
          </p:cNvPr>
          <p:cNvSpPr txBox="1"/>
          <p:nvPr/>
        </p:nvSpPr>
        <p:spPr>
          <a:xfrm>
            <a:off x="542484" y="3563854"/>
            <a:ext cx="10836715" cy="2468368"/>
          </a:xfrm>
          <a:prstGeom prst="rect">
            <a:avLst/>
          </a:prstGeom>
          <a:noFill/>
        </p:spPr>
        <p:txBody>
          <a:bodyPr wrap="square">
            <a:spAutoFit/>
          </a:bodyPr>
          <a:lstStyle/>
          <a:p>
            <a:pPr marL="231140">
              <a:lnSpc>
                <a:spcPct val="200000"/>
              </a:lnSpc>
              <a:spcAft>
                <a:spcPts val="800"/>
              </a:spcAft>
            </a:pPr>
            <a:r>
              <a:rPr lang="en-AU" sz="2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The idea of justice can mean different things to people from different __ __ __ __ __ __ __ __ __ and __ __ __ __ __ __ __ __ ; for some it might mean __ __ __ __ __ __ __ , while for others it might mean __ __ __ __ __ __ __ __ . However, the concept of justice in Australia ultimately means that people should treat each other in a way that is fair and balanced. </a:t>
            </a:r>
          </a:p>
        </p:txBody>
      </p:sp>
    </p:spTree>
    <p:extLst>
      <p:ext uri="{BB962C8B-B14F-4D97-AF65-F5344CB8AC3E}">
        <p14:creationId xmlns:p14="http://schemas.microsoft.com/office/powerpoint/2010/main" val="353467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2" presetClass="entr" presetSubtype="2" fill="hold" grpId="0" nodeType="withEffect">
                                  <p:stCondLst>
                                    <p:cond delay="300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300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1+#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300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1+#ppt_w/2"/>
                                          </p:val>
                                        </p:tav>
                                        <p:tav tm="100000">
                                          <p:val>
                                            <p:strVal val="#ppt_x"/>
                                          </p:val>
                                        </p:tav>
                                      </p:tavLst>
                                    </p:anim>
                                    <p:anim calcmode="lin" valueType="num">
                                      <p:cBhvr additive="base">
                                        <p:cTn id="22" dur="500" fill="hold"/>
                                        <p:tgtEl>
                                          <p:spTgt spid="16"/>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300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40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2" grpId="0"/>
      <p:bldP spid="14" grpId="0"/>
      <p:bldP spid="16"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Ready with your answers?</a:t>
            </a:r>
            <a:endParaRPr lang="en-AU" sz="2700" dirty="0"/>
          </a:p>
        </p:txBody>
      </p:sp>
      <p:sp>
        <p:nvSpPr>
          <p:cNvPr id="11" name="TextBox 10">
            <a:extLst>
              <a:ext uri="{FF2B5EF4-FFF2-40B4-BE49-F238E27FC236}">
                <a16:creationId xmlns:a16="http://schemas.microsoft.com/office/drawing/2014/main" id="{2F67481A-645F-4CC8-BF3C-079961B235C7}"/>
              </a:ext>
            </a:extLst>
          </p:cNvPr>
          <p:cNvSpPr txBox="1"/>
          <p:nvPr/>
        </p:nvSpPr>
        <p:spPr>
          <a:xfrm>
            <a:off x="8727483" y="2355219"/>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societies</a:t>
            </a:r>
            <a:endParaRPr lang="en-AU" sz="3600" dirty="0"/>
          </a:p>
        </p:txBody>
      </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cultures</a:t>
            </a:r>
            <a:endParaRPr lang="en-AU" sz="3600" dirty="0"/>
          </a:p>
        </p:txBody>
      </p:sp>
      <p:sp>
        <p:nvSpPr>
          <p:cNvPr id="14" name="TextBox 13">
            <a:extLst>
              <a:ext uri="{FF2B5EF4-FFF2-40B4-BE49-F238E27FC236}">
                <a16:creationId xmlns:a16="http://schemas.microsoft.com/office/drawing/2014/main" id="{DFBAE635-34A2-4399-87F9-FF60A5B7926F}"/>
              </a:ext>
            </a:extLst>
          </p:cNvPr>
          <p:cNvSpPr txBox="1"/>
          <p:nvPr/>
        </p:nvSpPr>
        <p:spPr>
          <a:xfrm>
            <a:off x="4025685"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fairness</a:t>
            </a:r>
            <a:endParaRPr lang="en-AU" sz="3600" dirty="0"/>
          </a:p>
        </p:txBody>
      </p:sp>
      <p:sp>
        <p:nvSpPr>
          <p:cNvPr id="16" name="TextBox 15">
            <a:extLst>
              <a:ext uri="{FF2B5EF4-FFF2-40B4-BE49-F238E27FC236}">
                <a16:creationId xmlns:a16="http://schemas.microsoft.com/office/drawing/2014/main" id="{3DA9AA38-BE8E-43D7-802A-80CF09B78C48}"/>
              </a:ext>
            </a:extLst>
          </p:cNvPr>
          <p:cNvSpPr txBox="1"/>
          <p:nvPr/>
        </p:nvSpPr>
        <p:spPr>
          <a:xfrm>
            <a:off x="6210947"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payback</a:t>
            </a:r>
            <a:endParaRPr lang="en-AU" sz="3600" dirty="0"/>
          </a:p>
        </p:txBody>
      </p:sp>
      <p:sp>
        <p:nvSpPr>
          <p:cNvPr id="18" name="TextBox 17">
            <a:extLst>
              <a:ext uri="{FF2B5EF4-FFF2-40B4-BE49-F238E27FC236}">
                <a16:creationId xmlns:a16="http://schemas.microsoft.com/office/drawing/2014/main" id="{2AFD48A9-87F8-48FF-B576-854E86015C7D}"/>
              </a:ext>
            </a:extLst>
          </p:cNvPr>
          <p:cNvSpPr txBox="1"/>
          <p:nvPr/>
        </p:nvSpPr>
        <p:spPr>
          <a:xfrm>
            <a:off x="542484" y="3563854"/>
            <a:ext cx="10836715" cy="2468368"/>
          </a:xfrm>
          <a:prstGeom prst="rect">
            <a:avLst/>
          </a:prstGeom>
          <a:noFill/>
        </p:spPr>
        <p:txBody>
          <a:bodyPr wrap="square">
            <a:spAutoFit/>
          </a:bodyPr>
          <a:lstStyle/>
          <a:p>
            <a:pPr marL="231140">
              <a:lnSpc>
                <a:spcPct val="200000"/>
              </a:lnSpc>
              <a:spcAft>
                <a:spcPts val="800"/>
              </a:spcAft>
            </a:pPr>
            <a:r>
              <a:rPr lang="en-AU" sz="2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The idea of justice can mean different things to people from different __ __ __ __ __ __ __ __ __ and __ __ __ __ __ __ __ __ ; for some it might mean __ __ __ __ __ __ __ , while for others it might mean __ __ __ __ __ __ __ __ . However, the concept of justice in Australia ultimately means that people should treat each other in a way that is fair and balanced. </a:t>
            </a:r>
          </a:p>
        </p:txBody>
      </p:sp>
    </p:spTree>
    <p:extLst>
      <p:ext uri="{BB962C8B-B14F-4D97-AF65-F5344CB8AC3E}">
        <p14:creationId xmlns:p14="http://schemas.microsoft.com/office/powerpoint/2010/main" val="2393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2.96296E-6 L 0.00105 0.16365 " pathEditMode="relative" rAng="0" ptsTypes="AA">
                                      <p:cBhvr>
                                        <p:cTn id="6" dur="2000" fill="hold"/>
                                        <p:tgtEl>
                                          <p:spTgt spid="11"/>
                                        </p:tgtEl>
                                        <p:attrNameLst>
                                          <p:attrName>ppt_x</p:attrName>
                                          <p:attrName>ppt_y</p:attrName>
                                        </p:attrNameLst>
                                      </p:cBhvr>
                                      <p:rCtr x="52" y="8171"/>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2.08333E-6 -3.7037E-6 L -0.05209 0.25973 " pathEditMode="relative" rAng="0" ptsTypes="AA">
                                      <p:cBhvr>
                                        <p:cTn id="10" dur="2000" fill="hold"/>
                                        <p:tgtEl>
                                          <p:spTgt spid="12">
                                            <p:txEl>
                                              <p:pRg st="0" end="0"/>
                                            </p:txEl>
                                          </p:spTgt>
                                        </p:tgtEl>
                                        <p:attrNameLst>
                                          <p:attrName>ppt_x</p:attrName>
                                          <p:attrName>ppt_y</p:attrName>
                                        </p:attrNameLst>
                                      </p:cBhvr>
                                      <p:rCtr x="-2604" y="12986"/>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125E-6 -4.44444E-6 L -0.00221 0.25649 " pathEditMode="relative" rAng="0" ptsTypes="AA">
                                      <p:cBhvr>
                                        <p:cTn id="14" dur="2000" fill="hold"/>
                                        <p:tgtEl>
                                          <p:spTgt spid="16"/>
                                        </p:tgtEl>
                                        <p:attrNameLst>
                                          <p:attrName>ppt_x</p:attrName>
                                          <p:attrName>ppt_y</p:attrName>
                                        </p:attrNameLst>
                                      </p:cBhvr>
                                      <p:rCtr x="-117" y="12824"/>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3.54167E-6 -4.44444E-6 L -0.17774 0.35139 " pathEditMode="relative" rAng="0" ptsTypes="AA">
                                      <p:cBhvr>
                                        <p:cTn id="18" dur="2000" fill="hold"/>
                                        <p:tgtEl>
                                          <p:spTgt spid="14"/>
                                        </p:tgtEl>
                                        <p:attrNameLst>
                                          <p:attrName>ppt_x</p:attrName>
                                          <p:attrName>ppt_y</p:attrName>
                                        </p:attrNameLst>
                                      </p:cBhvr>
                                      <p:rCtr x="-8893" y="17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3795" y="82419"/>
            <a:ext cx="3651467" cy="1676603"/>
          </a:xfrm>
        </p:spPr>
        <p:txBody>
          <a:bodyPr>
            <a:normAutofit/>
          </a:bodyPr>
          <a:lstStyle/>
          <a:p>
            <a:r>
              <a:rPr lang="en-AU" b="1" dirty="0"/>
              <a:t>5. Participation</a:t>
            </a:r>
          </a:p>
        </p:txBody>
      </p:sp>
      <p:sp>
        <p:nvSpPr>
          <p:cNvPr id="3" name="Content Placeholder 2"/>
          <p:cNvSpPr>
            <a:spLocks noGrp="1"/>
          </p:cNvSpPr>
          <p:nvPr>
            <p:ph sz="quarter" idx="13"/>
          </p:nvPr>
        </p:nvSpPr>
        <p:spPr>
          <a:xfrm>
            <a:off x="352210" y="1363399"/>
            <a:ext cx="3934637" cy="4131212"/>
          </a:xfrm>
        </p:spPr>
        <p:txBody>
          <a:bodyPr>
            <a:normAutofit/>
          </a:bodyPr>
          <a:lstStyle/>
          <a:p>
            <a:pPr marL="0" indent="0">
              <a:buNone/>
            </a:pPr>
            <a:r>
              <a:rPr lang="en-AU" sz="3000" dirty="0"/>
              <a:t>How an individual can be involved in the political and legal system. </a:t>
            </a:r>
          </a:p>
          <a:p>
            <a:pPr marL="0" indent="0">
              <a:buNone/>
            </a:pPr>
            <a:endParaRPr lang="en-AU" sz="3000" dirty="0"/>
          </a:p>
          <a:p>
            <a:r>
              <a:rPr lang="en-AU" sz="3000" dirty="0"/>
              <a:t>As both a decision maker </a:t>
            </a:r>
          </a:p>
          <a:p>
            <a:r>
              <a:rPr lang="en-AU" sz="3000" dirty="0"/>
              <a:t>As an agent of change</a:t>
            </a:r>
          </a:p>
        </p:txBody>
      </p:sp>
      <p:pic>
        <p:nvPicPr>
          <p:cNvPr id="5122" name="Picture 2" descr="Image result for australian government">
            <a:extLst>
              <a:ext uri="{FF2B5EF4-FFF2-40B4-BE49-F238E27FC236}">
                <a16:creationId xmlns:a16="http://schemas.microsoft.com/office/drawing/2014/main" id="{952A057E-9C63-4A0F-958D-21186D2899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21" r="9927" b="2"/>
          <a:stretch/>
        </p:blipFill>
        <p:spPr bwMode="auto">
          <a:xfrm>
            <a:off x="4639056" y="10"/>
            <a:ext cx="7552944" cy="6857990"/>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4" name="Picture 3">
            <a:hlinkClick r:id="rId4"/>
            <a:extLst>
              <a:ext uri="{FF2B5EF4-FFF2-40B4-BE49-F238E27FC236}">
                <a16:creationId xmlns:a16="http://schemas.microsoft.com/office/drawing/2014/main" id="{706FD996-663E-4A58-8EE3-4C7F0F0737F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4368024" y="82419"/>
            <a:ext cx="2143125" cy="2143125"/>
          </a:xfrm>
          <a:prstGeom prst="rect">
            <a:avLst/>
          </a:prstGeom>
        </p:spPr>
      </p:pic>
    </p:spTree>
    <p:extLst>
      <p:ext uri="{BB962C8B-B14F-4D97-AF65-F5344CB8AC3E}">
        <p14:creationId xmlns:p14="http://schemas.microsoft.com/office/powerpoint/2010/main" val="3101103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a:t>
            </a:r>
            <a:endParaRPr lang="en-AU" sz="2700" dirty="0"/>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5 mins</a:t>
              </a:r>
            </a:p>
          </p:txBody>
        </p:sp>
      </p:gr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8651930" cy="1754326"/>
          </a:xfrm>
          <a:prstGeom prst="rect">
            <a:avLst/>
          </a:prstGeom>
          <a:noFill/>
        </p:spPr>
        <p:txBody>
          <a:bodyPr wrap="square">
            <a:spAutoFit/>
          </a:bodyPr>
          <a:lstStyle/>
          <a:p>
            <a:pPr lvl="0"/>
            <a:r>
              <a:rPr lang="en-AU" sz="3600" dirty="0"/>
              <a:t>As you are not yet old enough to vote, </a:t>
            </a:r>
            <a:r>
              <a:rPr lang="en-AU" sz="3600" b="1" dirty="0"/>
              <a:t>think </a:t>
            </a:r>
            <a:r>
              <a:rPr lang="en-AU" sz="3600" dirty="0"/>
              <a:t>of some other ways can you participate in Australia’s democratic society?</a:t>
            </a:r>
          </a:p>
        </p:txBody>
      </p:sp>
      <p:sp>
        <p:nvSpPr>
          <p:cNvPr id="18" name="TextBox 17">
            <a:extLst>
              <a:ext uri="{FF2B5EF4-FFF2-40B4-BE49-F238E27FC236}">
                <a16:creationId xmlns:a16="http://schemas.microsoft.com/office/drawing/2014/main" id="{2AFD48A9-87F8-48FF-B576-854E86015C7D}"/>
              </a:ext>
            </a:extLst>
          </p:cNvPr>
          <p:cNvSpPr txBox="1"/>
          <p:nvPr/>
        </p:nvSpPr>
        <p:spPr>
          <a:xfrm>
            <a:off x="1587715" y="4117851"/>
            <a:ext cx="10485464" cy="1045223"/>
          </a:xfrm>
          <a:prstGeom prst="rect">
            <a:avLst/>
          </a:prstGeom>
          <a:noFill/>
        </p:spPr>
        <p:txBody>
          <a:bodyPr wrap="square">
            <a:spAutoFit/>
          </a:bodyPr>
          <a:lstStyle/>
          <a:p>
            <a:pPr marL="231140">
              <a:lnSpc>
                <a:spcPct val="200000"/>
              </a:lnSpc>
              <a:spcAft>
                <a:spcPts val="800"/>
              </a:spcAft>
            </a:pPr>
            <a:r>
              <a:rPr lang="en-AU" sz="3600" dirty="0"/>
              <a:t>Discuss your ideas with a neighbour</a:t>
            </a:r>
          </a:p>
        </p:txBody>
      </p:sp>
      <p:pic>
        <p:nvPicPr>
          <p:cNvPr id="4" name="Graphic 3" descr="Chat">
            <a:extLst>
              <a:ext uri="{FF2B5EF4-FFF2-40B4-BE49-F238E27FC236}">
                <a16:creationId xmlns:a16="http://schemas.microsoft.com/office/drawing/2014/main" id="{63AA898A-7D56-47BD-8F3A-785F6FE20A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8386" y="3683996"/>
            <a:ext cx="1537282" cy="1537282"/>
          </a:xfrm>
          <a:prstGeom prst="rect">
            <a:avLst/>
          </a:prstGeom>
        </p:spPr>
      </p:pic>
      <p:pic>
        <p:nvPicPr>
          <p:cNvPr id="6" name="Graphic 5" descr="Users">
            <a:extLst>
              <a:ext uri="{FF2B5EF4-FFF2-40B4-BE49-F238E27FC236}">
                <a16:creationId xmlns:a16="http://schemas.microsoft.com/office/drawing/2014/main" id="{71C05C60-1340-43C0-B2B1-B2116FDA6E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2556" y="5046080"/>
            <a:ext cx="1537282" cy="1537282"/>
          </a:xfrm>
          <a:prstGeom prst="rect">
            <a:avLst/>
          </a:prstGeom>
        </p:spPr>
      </p:pic>
      <p:pic>
        <p:nvPicPr>
          <p:cNvPr id="13" name="Graphic 12" descr="Thought bubble">
            <a:extLst>
              <a:ext uri="{FF2B5EF4-FFF2-40B4-BE49-F238E27FC236}">
                <a16:creationId xmlns:a16="http://schemas.microsoft.com/office/drawing/2014/main" id="{45B86218-E0EB-4C24-9AFC-5DC2CB7EB0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76475" y="974861"/>
            <a:ext cx="1707763" cy="1707763"/>
          </a:xfrm>
          <a:prstGeom prst="rect">
            <a:avLst/>
          </a:prstGeom>
        </p:spPr>
      </p:pic>
      <p:sp>
        <p:nvSpPr>
          <p:cNvPr id="19" name="TextBox 18">
            <a:extLst>
              <a:ext uri="{FF2B5EF4-FFF2-40B4-BE49-F238E27FC236}">
                <a16:creationId xmlns:a16="http://schemas.microsoft.com/office/drawing/2014/main" id="{B1F34DEF-E262-4F46-A254-3B4D755BD401}"/>
              </a:ext>
            </a:extLst>
          </p:cNvPr>
          <p:cNvSpPr txBox="1"/>
          <p:nvPr/>
        </p:nvSpPr>
        <p:spPr>
          <a:xfrm>
            <a:off x="1587715" y="5143168"/>
            <a:ext cx="7044841" cy="1045223"/>
          </a:xfrm>
          <a:prstGeom prst="rect">
            <a:avLst/>
          </a:prstGeom>
          <a:noFill/>
        </p:spPr>
        <p:txBody>
          <a:bodyPr wrap="square">
            <a:spAutoFit/>
          </a:bodyPr>
          <a:lstStyle/>
          <a:p>
            <a:pPr marL="231140">
              <a:lnSpc>
                <a:spcPct val="200000"/>
              </a:lnSpc>
              <a:spcAft>
                <a:spcPts val="800"/>
              </a:spcAft>
            </a:pPr>
            <a:r>
              <a:rPr lang="en-AU" sz="3600" dirty="0"/>
              <a:t>Get ready to share your discussions</a:t>
            </a:r>
          </a:p>
        </p:txBody>
      </p:sp>
    </p:spTree>
    <p:extLst>
      <p:ext uri="{BB962C8B-B14F-4D97-AF65-F5344CB8AC3E}">
        <p14:creationId xmlns:p14="http://schemas.microsoft.com/office/powerpoint/2010/main" val="268982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2" presetClass="entr" presetSubtype="4" fill="hold" grpId="0" nodeType="withEffect">
                                  <p:stCondLst>
                                    <p:cond delay="300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10" presetClass="entr" presetSubtype="0" fill="hold" nodeType="withEffect">
                                  <p:stCondLst>
                                    <p:cond delay="40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1000" fill="hold"/>
                                        <p:tgtEl>
                                          <p:spTgt spid="18"/>
                                        </p:tgtEl>
                                        <p:attrNameLst>
                                          <p:attrName>ppt_x</p:attrName>
                                        </p:attrNameLst>
                                      </p:cBhvr>
                                      <p:tavLst>
                                        <p:tav tm="0">
                                          <p:val>
                                            <p:strVal val="#ppt_x"/>
                                          </p:val>
                                        </p:tav>
                                        <p:tav tm="100000">
                                          <p:val>
                                            <p:strVal val="#ppt_x"/>
                                          </p:val>
                                        </p:tav>
                                      </p:tavLst>
                                    </p:anim>
                                    <p:anim calcmode="lin" valueType="num">
                                      <p:cBhvr additive="base">
                                        <p:cTn id="23" dur="1000" fill="hold"/>
                                        <p:tgtEl>
                                          <p:spTgt spid="18"/>
                                        </p:tgtEl>
                                        <p:attrNameLst>
                                          <p:attrName>ppt_y</p:attrName>
                                        </p:attrNameLst>
                                      </p:cBhvr>
                                      <p:tavLst>
                                        <p:tav tm="0">
                                          <p:val>
                                            <p:strVal val="1+#ppt_h/2"/>
                                          </p:val>
                                        </p:tav>
                                        <p:tav tm="100000">
                                          <p:val>
                                            <p:strVal val="#ppt_y"/>
                                          </p:val>
                                        </p:tav>
                                      </p:tavLst>
                                    </p:anim>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1000" fill="hold"/>
                                        <p:tgtEl>
                                          <p:spTgt spid="19"/>
                                        </p:tgtEl>
                                        <p:attrNameLst>
                                          <p:attrName>ppt_x</p:attrName>
                                        </p:attrNameLst>
                                      </p:cBhvr>
                                      <p:tavLst>
                                        <p:tav tm="0">
                                          <p:val>
                                            <p:strVal val="#ppt_x"/>
                                          </p:val>
                                        </p:tav>
                                        <p:tav tm="100000">
                                          <p:val>
                                            <p:strVal val="#ppt_x"/>
                                          </p:val>
                                        </p:tav>
                                      </p:tavLst>
                                    </p:anim>
                                    <p:anim calcmode="lin" valueType="num">
                                      <p:cBhvr additive="base">
                                        <p:cTn id="32" dur="1000" fill="hold"/>
                                        <p:tgtEl>
                                          <p:spTgt spid="19"/>
                                        </p:tgtEl>
                                        <p:attrNameLst>
                                          <p:attrName>ppt_y</p:attrName>
                                        </p:attrNameLst>
                                      </p:cBhvr>
                                      <p:tavLst>
                                        <p:tav tm="0">
                                          <p:val>
                                            <p:strVal val="1+#ppt_h/2"/>
                                          </p:val>
                                        </p:tav>
                                        <p:tav tm="100000">
                                          <p:val>
                                            <p:strVal val="#ppt_y"/>
                                          </p:val>
                                        </p:tav>
                                      </p:tavLst>
                                    </p:anim>
                                  </p:childTnLst>
                                </p:cTn>
                              </p:par>
                              <p:par>
                                <p:cTn id="33" presetID="10" presetClass="entr" presetSubtype="0" fill="hold" nodeType="withEffect">
                                  <p:stCondLst>
                                    <p:cond delay="20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human rights">
            <a:extLst>
              <a:ext uri="{FF2B5EF4-FFF2-40B4-BE49-F238E27FC236}">
                <a16:creationId xmlns:a16="http://schemas.microsoft.com/office/drawing/2014/main" id="{20EEDDEF-661F-4395-9943-974D4AF177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0" r="679" b="-1"/>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3" name="Oval 72">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06235" y="4496419"/>
            <a:ext cx="5021782" cy="1509931"/>
          </a:xfrm>
        </p:spPr>
        <p:txBody>
          <a:bodyPr>
            <a:normAutofit/>
          </a:bodyPr>
          <a:lstStyle/>
          <a:p>
            <a:pPr marL="533400" indent="-533400"/>
            <a:r>
              <a:rPr lang="en-AU" sz="4000" b="1" dirty="0">
                <a:solidFill>
                  <a:srgbClr val="000000"/>
                </a:solidFill>
              </a:rPr>
              <a:t>6. Rights and responsibilities</a:t>
            </a:r>
          </a:p>
        </p:txBody>
      </p:sp>
      <p:sp>
        <p:nvSpPr>
          <p:cNvPr id="3" name="Content Placeholder 2"/>
          <p:cNvSpPr>
            <a:spLocks noGrp="1"/>
          </p:cNvSpPr>
          <p:nvPr>
            <p:ph sz="quarter" idx="13"/>
          </p:nvPr>
        </p:nvSpPr>
        <p:spPr>
          <a:xfrm>
            <a:off x="6252396" y="4388303"/>
            <a:ext cx="5633369" cy="2303630"/>
          </a:xfrm>
        </p:spPr>
        <p:txBody>
          <a:bodyPr anchor="ctr">
            <a:normAutofit/>
          </a:bodyPr>
          <a:lstStyle/>
          <a:p>
            <a:pPr marL="0" indent="0">
              <a:buNone/>
            </a:pPr>
            <a:r>
              <a:rPr lang="en-AU" sz="3000" dirty="0">
                <a:solidFill>
                  <a:srgbClr val="000000"/>
                </a:solidFill>
              </a:rPr>
              <a:t>A right is a freedom that is protected, </a:t>
            </a:r>
            <a:r>
              <a:rPr lang="en-AU" sz="3000" dirty="0" err="1">
                <a:solidFill>
                  <a:srgbClr val="000000"/>
                </a:solidFill>
              </a:rPr>
              <a:t>ie</a:t>
            </a:r>
            <a:r>
              <a:rPr lang="en-AU" sz="3000" dirty="0">
                <a:solidFill>
                  <a:srgbClr val="000000"/>
                </a:solidFill>
              </a:rPr>
              <a:t> our human rights.</a:t>
            </a:r>
          </a:p>
          <a:p>
            <a:pPr marL="0" indent="0">
              <a:buNone/>
            </a:pPr>
            <a:r>
              <a:rPr lang="en-AU" sz="3000" dirty="0">
                <a:solidFill>
                  <a:srgbClr val="000000"/>
                </a:solidFill>
              </a:rPr>
              <a:t>A responsibility is a duty of something you should do, for example voting.</a:t>
            </a:r>
          </a:p>
        </p:txBody>
      </p:sp>
      <p:pic>
        <p:nvPicPr>
          <p:cNvPr id="4" name="Picture 3">
            <a:hlinkClick r:id="rId5"/>
          </p:cNvPr>
          <p:cNvPicPr>
            <a:picLocks noChangeAspect="1"/>
          </p:cNvPicPr>
          <p:nvPr/>
        </p:nvPicPr>
        <p:blipFill>
          <a:blip r:embed="rId6"/>
          <a:stretch>
            <a:fillRect/>
          </a:stretch>
        </p:blipFill>
        <p:spPr>
          <a:xfrm>
            <a:off x="4099349" y="4388303"/>
            <a:ext cx="2143125" cy="2143125"/>
          </a:xfrm>
          <a:prstGeom prst="rect">
            <a:avLst/>
          </a:prstGeom>
        </p:spPr>
      </p:pic>
    </p:spTree>
    <p:extLst>
      <p:ext uri="{BB962C8B-B14F-4D97-AF65-F5344CB8AC3E}">
        <p14:creationId xmlns:p14="http://schemas.microsoft.com/office/powerpoint/2010/main" val="854063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900" dirty="0"/>
              <a:t>Write in your responsibilities in the table</a:t>
            </a:r>
            <a:endParaRPr lang="en-AU" sz="2700" dirty="0"/>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748395113"/>
              </p:ext>
            </p:extLst>
          </p:nvPr>
        </p:nvGraphicFramePr>
        <p:xfrm>
          <a:off x="812800" y="2169763"/>
          <a:ext cx="10566400" cy="3631532"/>
        </p:xfrm>
        <a:graphic>
          <a:graphicData uri="http://schemas.openxmlformats.org/drawingml/2006/table">
            <a:tbl>
              <a:tblPr firstRow="1" firstCol="1" bandRow="1">
                <a:tableStyleId>{5C22544A-7EE6-4342-B048-85BDC9FD1C3A}</a:tableStyleId>
              </a:tblPr>
              <a:tblGrid>
                <a:gridCol w="4363634">
                  <a:extLst>
                    <a:ext uri="{9D8B030D-6E8A-4147-A177-3AD203B41FA5}">
                      <a16:colId xmlns:a16="http://schemas.microsoft.com/office/drawing/2014/main" val="1218345911"/>
                    </a:ext>
                  </a:extLst>
                </a:gridCol>
                <a:gridCol w="6202766">
                  <a:extLst>
                    <a:ext uri="{9D8B030D-6E8A-4147-A177-3AD203B41FA5}">
                      <a16:colId xmlns:a16="http://schemas.microsoft.com/office/drawing/2014/main" val="55753772"/>
                    </a:ext>
                  </a:extLst>
                </a:gridCol>
              </a:tblGrid>
              <a:tr h="552621">
                <a:tc>
                  <a:txBody>
                    <a:bodyPr/>
                    <a:lstStyle/>
                    <a:p>
                      <a:pPr>
                        <a:lnSpc>
                          <a:spcPct val="107000"/>
                        </a:lnSpc>
                        <a:spcAft>
                          <a:spcPts val="800"/>
                        </a:spcAft>
                      </a:pPr>
                      <a:r>
                        <a:rPr lang="en-AU" sz="2600" dirty="0">
                          <a:solidFill>
                            <a:schemeClr val="bg1"/>
                          </a:solidFill>
                          <a:effectLst/>
                        </a:rPr>
                        <a:t>Rights</a:t>
                      </a:r>
                      <a:endParaRPr lang="en-AU" sz="2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Responsibilities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102781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elect representatives to the school’s student council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02327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education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102781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health services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bl>
          </a:graphicData>
        </a:graphic>
      </p:graphicFrame>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3 mins</a:t>
              </a:r>
            </a:p>
          </p:txBody>
        </p:sp>
      </p:grpSp>
      <p:sp>
        <p:nvSpPr>
          <p:cNvPr id="10" name="TextBox 9">
            <a:extLst>
              <a:ext uri="{FF2B5EF4-FFF2-40B4-BE49-F238E27FC236}">
                <a16:creationId xmlns:a16="http://schemas.microsoft.com/office/drawing/2014/main" id="{EB3EC113-A84A-45ED-8C99-FA2901ED6FAB}"/>
              </a:ext>
            </a:extLst>
          </p:cNvPr>
          <p:cNvSpPr txBox="1"/>
          <p:nvPr/>
        </p:nvSpPr>
        <p:spPr>
          <a:xfrm>
            <a:off x="5218624" y="2997676"/>
            <a:ext cx="5257800" cy="523220"/>
          </a:xfrm>
          <a:prstGeom prst="rect">
            <a:avLst/>
          </a:prstGeom>
          <a:noFill/>
        </p:spPr>
        <p:txBody>
          <a:bodyPr wrap="square">
            <a:spAutoFit/>
          </a:bodyPr>
          <a:lstStyle/>
          <a:p>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vote in student councillor elections</a:t>
            </a:r>
            <a:endParaRPr lang="en-AU" sz="2800" dirty="0"/>
          </a:p>
        </p:txBody>
      </p:sp>
      <p:sp>
        <p:nvSpPr>
          <p:cNvPr id="11" name="TextBox 10">
            <a:extLst>
              <a:ext uri="{FF2B5EF4-FFF2-40B4-BE49-F238E27FC236}">
                <a16:creationId xmlns:a16="http://schemas.microsoft.com/office/drawing/2014/main" id="{297CC90B-4931-4831-BE67-8F8F9E9C3212}"/>
              </a:ext>
            </a:extLst>
          </p:cNvPr>
          <p:cNvSpPr txBox="1"/>
          <p:nvPr/>
        </p:nvSpPr>
        <p:spPr>
          <a:xfrm>
            <a:off x="5218623" y="4060951"/>
            <a:ext cx="6160577" cy="523220"/>
          </a:xfrm>
          <a:prstGeom prst="rect">
            <a:avLst/>
          </a:prstGeom>
          <a:noFill/>
        </p:spPr>
        <p:txBody>
          <a:bodyPr wrap="square">
            <a:spAutoFit/>
          </a:bodyPr>
          <a:lstStyle/>
          <a:p>
            <a:r>
              <a:rPr lang="en-AU" sz="2800" dirty="0">
                <a:solidFill>
                  <a:srgbClr val="0D0D0D"/>
                </a:solidFill>
                <a:latin typeface="Calibri" panose="020F0502020204030204" pitchFamily="34" charset="0"/>
                <a:cs typeface="Times New Roman" panose="02020603050405020304" pitchFamily="18" charset="0"/>
              </a:rPr>
              <a:t>attend</a:t>
            </a:r>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school</a:t>
            </a:r>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and participate in learning</a:t>
            </a:r>
          </a:p>
        </p:txBody>
      </p:sp>
      <p:sp>
        <p:nvSpPr>
          <p:cNvPr id="14" name="TextBox 13">
            <a:extLst>
              <a:ext uri="{FF2B5EF4-FFF2-40B4-BE49-F238E27FC236}">
                <a16:creationId xmlns:a16="http://schemas.microsoft.com/office/drawing/2014/main" id="{CF78D245-843B-4B79-BCB4-C92CC447704D}"/>
              </a:ext>
            </a:extLst>
          </p:cNvPr>
          <p:cNvSpPr txBox="1"/>
          <p:nvPr/>
        </p:nvSpPr>
        <p:spPr>
          <a:xfrm>
            <a:off x="5218624" y="5074686"/>
            <a:ext cx="3707970" cy="523220"/>
          </a:xfrm>
          <a:prstGeom prst="rect">
            <a:avLst/>
          </a:prstGeom>
          <a:noFill/>
        </p:spPr>
        <p:txBody>
          <a:bodyPr wrap="square">
            <a:spAutoFit/>
          </a:bodyPr>
          <a:lstStyle/>
          <a:p>
            <a:r>
              <a:rPr lang="en-AU" sz="2800" dirty="0">
                <a:solidFill>
                  <a:srgbClr val="0D0D0D"/>
                </a:solidFill>
                <a:latin typeface="Calibri" panose="020F0502020204030204" pitchFamily="34" charset="0"/>
                <a:cs typeface="Times New Roman" panose="02020603050405020304" pitchFamily="18" charset="0"/>
              </a:rPr>
              <a:t>take</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care of own health</a:t>
            </a:r>
          </a:p>
        </p:txBody>
      </p:sp>
    </p:spTree>
    <p:extLst>
      <p:ext uri="{BB962C8B-B14F-4D97-AF65-F5344CB8AC3E}">
        <p14:creationId xmlns:p14="http://schemas.microsoft.com/office/powerpoint/2010/main" val="265932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10" presetClass="entr" presetSubtype="0" fill="hold" nodeType="withEffect">
                                  <p:stCondLst>
                                    <p:cond delay="3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fade">
                                      <p:cBhvr>
                                        <p:cTn id="23" dur="500"/>
                                        <p:tgtEl>
                                          <p:spTgt spid="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1801F65-B4DE-4D30-A47F-34BEE4866B5A}"/>
              </a:ext>
            </a:extLst>
          </p:cNvPr>
          <p:cNvSpPr>
            <a:spLocks noGrp="1"/>
          </p:cNvSpPr>
          <p:nvPr>
            <p:ph type="body" sz="quarter" idx="3"/>
          </p:nvPr>
        </p:nvSpPr>
        <p:spPr>
          <a:xfrm>
            <a:off x="3662766" y="261844"/>
            <a:ext cx="5183188" cy="564733"/>
          </a:xfrm>
        </p:spPr>
        <p:txBody>
          <a:bodyPr>
            <a:normAutofit/>
          </a:bodyPr>
          <a:lstStyle/>
          <a:p>
            <a:r>
              <a:rPr lang="en-AU" sz="3000" dirty="0"/>
              <a:t>Success Criteria</a:t>
            </a:r>
          </a:p>
        </p:txBody>
      </p:sp>
      <p:sp>
        <p:nvSpPr>
          <p:cNvPr id="6" name="Content Placeholder 5">
            <a:extLst>
              <a:ext uri="{FF2B5EF4-FFF2-40B4-BE49-F238E27FC236}">
                <a16:creationId xmlns:a16="http://schemas.microsoft.com/office/drawing/2014/main" id="{24D14F1D-F624-4335-9402-EC21B8776348}"/>
              </a:ext>
            </a:extLst>
          </p:cNvPr>
          <p:cNvSpPr>
            <a:spLocks noGrp="1"/>
          </p:cNvSpPr>
          <p:nvPr>
            <p:ph sz="quarter" idx="4"/>
          </p:nvPr>
        </p:nvSpPr>
        <p:spPr>
          <a:xfrm>
            <a:off x="3662766" y="1007390"/>
            <a:ext cx="6690102" cy="5850609"/>
          </a:xfrm>
        </p:spPr>
        <p:txBody>
          <a:bodyPr>
            <a:normAutofit lnSpcReduction="10000"/>
          </a:bodyPr>
          <a:lstStyle/>
          <a:p>
            <a:pPr marL="0" indent="0">
              <a:buNone/>
            </a:pPr>
            <a:r>
              <a:rPr lang="en-AU" dirty="0"/>
              <a:t>I can …</a:t>
            </a:r>
          </a:p>
          <a:p>
            <a:pPr>
              <a:lnSpc>
                <a:spcPct val="100000"/>
              </a:lnSpc>
              <a:spcAft>
                <a:spcPts val="1200"/>
              </a:spcAft>
            </a:pPr>
            <a:r>
              <a:rPr lang="en-AU" dirty="0"/>
              <a:t>Explain the term democracy</a:t>
            </a:r>
          </a:p>
          <a:p>
            <a:pPr>
              <a:lnSpc>
                <a:spcPct val="100000"/>
              </a:lnSpc>
              <a:spcAft>
                <a:spcPts val="1200"/>
              </a:spcAft>
            </a:pPr>
            <a:r>
              <a:rPr lang="en-AU" dirty="0"/>
              <a:t>Identify two democratic values</a:t>
            </a:r>
          </a:p>
          <a:p>
            <a:pPr>
              <a:lnSpc>
                <a:spcPct val="100000"/>
              </a:lnSpc>
              <a:spcAft>
                <a:spcPts val="1200"/>
              </a:spcAft>
            </a:pPr>
            <a:r>
              <a:rPr lang="en-AU" dirty="0"/>
              <a:t>Name the key components of Australia’s parliament</a:t>
            </a:r>
          </a:p>
          <a:p>
            <a:pPr>
              <a:lnSpc>
                <a:spcPct val="100000"/>
              </a:lnSpc>
              <a:spcAft>
                <a:spcPts val="1200"/>
              </a:spcAft>
            </a:pPr>
            <a:r>
              <a:rPr lang="en-AU" dirty="0"/>
              <a:t>Describe the meaning of justice</a:t>
            </a:r>
          </a:p>
          <a:p>
            <a:pPr>
              <a:lnSpc>
                <a:spcPct val="100000"/>
              </a:lnSpc>
              <a:spcAft>
                <a:spcPts val="1200"/>
              </a:spcAft>
            </a:pPr>
            <a:r>
              <a:rPr lang="en-AU" dirty="0"/>
              <a:t>Give examples of how young people can participate in society</a:t>
            </a:r>
          </a:p>
          <a:p>
            <a:pPr>
              <a:lnSpc>
                <a:spcPct val="100000"/>
              </a:lnSpc>
              <a:spcAft>
                <a:spcPts val="1200"/>
              </a:spcAft>
            </a:pPr>
            <a:r>
              <a:rPr lang="en-AU" dirty="0"/>
              <a:t>Discuss the rights and responsibilities of Australian citizens</a:t>
            </a:r>
          </a:p>
          <a:p>
            <a:endParaRPr lang="en-AU" dirty="0"/>
          </a:p>
          <a:p>
            <a:endParaRPr lang="en-AU" dirty="0"/>
          </a:p>
          <a:p>
            <a:endParaRPr lang="en-AU" dirty="0"/>
          </a:p>
        </p:txBody>
      </p:sp>
      <p:pic>
        <p:nvPicPr>
          <p:cNvPr id="11" name="Picture 2" descr="Week Two Blog (Civics &amp; Citizenship) – My ESH360 blog">
            <a:extLst>
              <a:ext uri="{FF2B5EF4-FFF2-40B4-BE49-F238E27FC236}">
                <a16:creationId xmlns:a16="http://schemas.microsoft.com/office/drawing/2014/main" id="{80F724E1-4E48-45FE-BD72-8D0C01D80A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545"/>
          <a:stretch/>
        </p:blipFill>
        <p:spPr bwMode="auto">
          <a:xfrm>
            <a:off x="0" y="785248"/>
            <a:ext cx="2985066" cy="5287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169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1331</TotalTime>
  <Words>1375</Words>
  <Application>Microsoft Office PowerPoint</Application>
  <PresentationFormat>Widescreen</PresentationFormat>
  <Paragraphs>183</Paragraphs>
  <Slides>18</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ABCSans</vt:lpstr>
      <vt:lpstr>Arial</vt:lpstr>
      <vt:lpstr>Calibri</vt:lpstr>
      <vt:lpstr>Calibri Light</vt:lpstr>
      <vt:lpstr>Helvetica Neue Custom</vt:lpstr>
      <vt:lpstr>Roboto</vt:lpstr>
      <vt:lpstr>Office Theme</vt:lpstr>
      <vt:lpstr>PowerPoint Presentation</vt:lpstr>
      <vt:lpstr>PowerPoint Presentation</vt:lpstr>
      <vt:lpstr>1. Democracy</vt:lpstr>
      <vt:lpstr>2. Democratic values</vt:lpstr>
      <vt:lpstr>Activity Sheet - Connect the ‘value’ to its ‘definition’</vt:lpstr>
      <vt:lpstr>Ready with your answers?</vt:lpstr>
      <vt:lpstr>What are our school values?</vt:lpstr>
      <vt:lpstr>3. The Westminster System</vt:lpstr>
      <vt:lpstr>Activity Sheet – Fill in the blanks.</vt:lpstr>
      <vt:lpstr>Ready with your answers?</vt:lpstr>
      <vt:lpstr>4. Justice</vt:lpstr>
      <vt:lpstr>Activity Sheet – Use these words to complete the paragraph.</vt:lpstr>
      <vt:lpstr>Ready with your answers?</vt:lpstr>
      <vt:lpstr>5. Participation</vt:lpstr>
      <vt:lpstr>Activity Sheet</vt:lpstr>
      <vt:lpstr>6. Rights and responsibilities</vt:lpstr>
      <vt:lpstr>Activity Sheet - Write in your responsibilities in the table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Classroom expectations</dc:title>
  <dc:creator>Natasha Hawkes</dc:creator>
  <cp:lastModifiedBy>SARGEANTSON Wendy [Narrogin Senior High School]</cp:lastModifiedBy>
  <cp:revision>68</cp:revision>
  <dcterms:created xsi:type="dcterms:W3CDTF">2018-09-16T05:46:59Z</dcterms:created>
  <dcterms:modified xsi:type="dcterms:W3CDTF">2020-10-17T10:10:06Z</dcterms:modified>
</cp:coreProperties>
</file>
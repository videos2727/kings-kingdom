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20"/>
  </p:notesMasterIdLst>
  <p:sldIdLst>
    <p:sldId id="260" r:id="rId2"/>
    <p:sldId id="268" r:id="rId3"/>
    <p:sldId id="263" r:id="rId4"/>
    <p:sldId id="264" r:id="rId5"/>
    <p:sldId id="256" r:id="rId6"/>
    <p:sldId id="257" r:id="rId7"/>
    <p:sldId id="265" r:id="rId8"/>
    <p:sldId id="266" r:id="rId9"/>
    <p:sldId id="267" r:id="rId10"/>
    <p:sldId id="269" r:id="rId11"/>
    <p:sldId id="270" r:id="rId12"/>
    <p:sldId id="271" r:id="rId13"/>
    <p:sldId id="258" r:id="rId14"/>
    <p:sldId id="272" r:id="rId15"/>
    <p:sldId id="261" r:id="rId16"/>
    <p:sldId id="273" r:id="rId17"/>
    <p:sldId id="259" r:id="rId18"/>
    <p:sldId id="26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4" autoAdjust="0"/>
    <p:restoredTop sz="90047" autoAdjust="0"/>
  </p:normalViewPr>
  <p:slideViewPr>
    <p:cSldViewPr snapToGrid="0">
      <p:cViewPr varScale="1">
        <p:scale>
          <a:sx n="103" d="100"/>
          <a:sy n="103" d="100"/>
        </p:scale>
        <p:origin x="624" y="10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0543DE-D89F-465B-918D-72C76843498E}" type="datetimeFigureOut">
              <a:rPr lang="en-AU" smtClean="0"/>
              <a:t>29/04/2020</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F9AA3-9841-494B-9CDD-4862253C25BA}" type="slidenum">
              <a:rPr lang="en-AU" smtClean="0"/>
              <a:t>‹#›</a:t>
            </a:fld>
            <a:endParaRPr lang="en-AU"/>
          </a:p>
        </p:txBody>
      </p:sp>
    </p:spTree>
    <p:extLst>
      <p:ext uri="{BB962C8B-B14F-4D97-AF65-F5344CB8AC3E}">
        <p14:creationId xmlns:p14="http://schemas.microsoft.com/office/powerpoint/2010/main" val="3097949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to sit at back of room with a notepad and write down observations about how decisions are made. Although it may be tempting to intervene if things get loud/raucous, it’s important that you let the scene play out without teacher intervention (within reason). Keep time (3 minutes). Observations might include things like: • Students sat in silence for the first 20 seconds • Student X leapt up in front of the class to take charge immediately • Student y shouted constantly • Students A, B, C started talking as a group and didn’t listen to others • Some students said nothing and their input was not considered • Some students dominated the discussion and shouted their ideas over the top • Some students became uninterested and started doing something else When the time is up, give some constructive feedback to the class about what you observed. Ask students to think about whether they thought this was a very fair group decision‑making process.</a:t>
            </a:r>
            <a:endParaRPr lang="en-AU" dirty="0"/>
          </a:p>
        </p:txBody>
      </p:sp>
      <p:sp>
        <p:nvSpPr>
          <p:cNvPr id="4" name="Slide Number Placeholder 3"/>
          <p:cNvSpPr>
            <a:spLocks noGrp="1"/>
          </p:cNvSpPr>
          <p:nvPr>
            <p:ph type="sldNum" sz="quarter" idx="10"/>
          </p:nvPr>
        </p:nvSpPr>
        <p:spPr/>
        <p:txBody>
          <a:bodyPr/>
          <a:lstStyle/>
          <a:p>
            <a:fld id="{EFBF9AA3-9841-494B-9CDD-4862253C25BA}" type="slidenum">
              <a:rPr lang="en-AU" smtClean="0"/>
              <a:t>3</a:t>
            </a:fld>
            <a:endParaRPr lang="en-AU"/>
          </a:p>
        </p:txBody>
      </p:sp>
    </p:spTree>
    <p:extLst>
      <p:ext uri="{BB962C8B-B14F-4D97-AF65-F5344CB8AC3E}">
        <p14:creationId xmlns:p14="http://schemas.microsoft.com/office/powerpoint/2010/main" val="601378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FBF9AA3-9841-494B-9CDD-4862253C25BA}" type="slidenum">
              <a:rPr lang="en-AU" smtClean="0"/>
              <a:t>8</a:t>
            </a:fld>
            <a:endParaRPr lang="en-AU"/>
          </a:p>
        </p:txBody>
      </p:sp>
    </p:spTree>
    <p:extLst>
      <p:ext uri="{BB962C8B-B14F-4D97-AF65-F5344CB8AC3E}">
        <p14:creationId xmlns:p14="http://schemas.microsoft.com/office/powerpoint/2010/main" val="765700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responses: </a:t>
            </a:r>
          </a:p>
          <a:p>
            <a:r>
              <a:rPr lang="en-US" dirty="0"/>
              <a:t>What are some of the advantages of the open vote? – Fast – Efficient – Gives a quick snapshot of a group’s main opinion • What are some of the disadvantages of the open vote? – People may be influenced by others – People may feel pressure to follow other people’s opinions – It requires accurate counting and record‑keeping – If there were lots more people, it would take too long • What are some of the advantages of the secret ballot? – It gives people confidence to vote without pressure – Relatively fast – Gives a good overview of a group’s main opinion • What are some of the disadvantages of the secret ballot? – It takes longer than an open vote – People could perhaps tamper with the votes behind the scenes (this happens in many parts of the world – good to discuss) – If there were more people, it would take a long time to add up/tally all the responses. </a:t>
            </a:r>
            <a:endParaRPr lang="en-AU" dirty="0"/>
          </a:p>
        </p:txBody>
      </p:sp>
      <p:sp>
        <p:nvSpPr>
          <p:cNvPr id="4" name="Slide Number Placeholder 3"/>
          <p:cNvSpPr>
            <a:spLocks noGrp="1"/>
          </p:cNvSpPr>
          <p:nvPr>
            <p:ph type="sldNum" sz="quarter" idx="10"/>
          </p:nvPr>
        </p:nvSpPr>
        <p:spPr/>
        <p:txBody>
          <a:bodyPr/>
          <a:lstStyle/>
          <a:p>
            <a:fld id="{EFBF9AA3-9841-494B-9CDD-4862253C25BA}" type="slidenum">
              <a:rPr lang="en-AU" smtClean="0"/>
              <a:t>10</a:t>
            </a:fld>
            <a:endParaRPr lang="en-AU"/>
          </a:p>
        </p:txBody>
      </p:sp>
    </p:spTree>
    <p:extLst>
      <p:ext uri="{BB962C8B-B14F-4D97-AF65-F5344CB8AC3E}">
        <p14:creationId xmlns:p14="http://schemas.microsoft.com/office/powerpoint/2010/main" val="294155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FBF9AA3-9841-494B-9CDD-4862253C25BA}" type="slidenum">
              <a:rPr lang="en-AU" smtClean="0"/>
              <a:t>16</a:t>
            </a:fld>
            <a:endParaRPr lang="en-AU"/>
          </a:p>
        </p:txBody>
      </p:sp>
    </p:spTree>
    <p:extLst>
      <p:ext uri="{BB962C8B-B14F-4D97-AF65-F5344CB8AC3E}">
        <p14:creationId xmlns:p14="http://schemas.microsoft.com/office/powerpoint/2010/main" val="569853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939F-4581-45FF-9E29-0C94DDC129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A4263318-9007-4155-B029-0A18CB176D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C0C2590-3734-46D3-9FFB-1641EC37D174}"/>
              </a:ext>
            </a:extLst>
          </p:cNvPr>
          <p:cNvSpPr>
            <a:spLocks noGrp="1"/>
          </p:cNvSpPr>
          <p:nvPr>
            <p:ph type="dt" sz="half" idx="10"/>
          </p:nvPr>
        </p:nvSpPr>
        <p:spPr/>
        <p:txBody>
          <a:bodyPr/>
          <a:lstStyle/>
          <a:p>
            <a:fld id="{48A87A34-81AB-432B-8DAE-1953F412C126}" type="datetimeFigureOut">
              <a:rPr lang="en-US" smtClean="0"/>
              <a:pPr/>
              <a:t>4/29/2020</a:t>
            </a:fld>
            <a:endParaRPr lang="en-US" dirty="0"/>
          </a:p>
        </p:txBody>
      </p:sp>
      <p:sp>
        <p:nvSpPr>
          <p:cNvPr id="5" name="Footer Placeholder 4">
            <a:extLst>
              <a:ext uri="{FF2B5EF4-FFF2-40B4-BE49-F238E27FC236}">
                <a16:creationId xmlns:a16="http://schemas.microsoft.com/office/drawing/2014/main" id="{9B2A3244-EF77-42D2-B7C1-92393A0C695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138975-9ADF-4CA1-82EB-3D2C091799FD}"/>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40217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7B59-A83C-449E-A412-5BCEF36FC1A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E4E3B11-F9DE-4FC5-B4CD-59EA71D320E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825F411-F732-45B2-8E69-894A801FEB0B}"/>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5" name="Footer Placeholder 4">
            <a:extLst>
              <a:ext uri="{FF2B5EF4-FFF2-40B4-BE49-F238E27FC236}">
                <a16:creationId xmlns:a16="http://schemas.microsoft.com/office/drawing/2014/main" id="{23E70A5A-74F3-4D2B-BE38-1B147F0DD9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F03A0E-D0EC-49A0-B757-7B443EDB603D}"/>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66091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EEA40-40A2-4E8D-8153-A68A3889A6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7BFE5AE-2A46-4FCA-B6C1-09206100BB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A689E87-6EF4-419A-831F-E1BFC75E974C}"/>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5" name="Footer Placeholder 4">
            <a:extLst>
              <a:ext uri="{FF2B5EF4-FFF2-40B4-BE49-F238E27FC236}">
                <a16:creationId xmlns:a16="http://schemas.microsoft.com/office/drawing/2014/main" id="{0F0D807A-64DA-42B5-9FEB-8F01D2AF420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255C9B-7F7A-45D0-9CB2-FB64E7583D93}"/>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44163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7A4B5-7750-4CD5-9C95-E349039387E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1418A5D-FF7D-4B66-8152-1CCAC1C6CC7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EBDBFE9-D86F-4EAB-86BE-0869154BD0B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85C3E26-85E8-46DF-AE6D-7BAA83980C17}"/>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6" name="Footer Placeholder 5">
            <a:extLst>
              <a:ext uri="{FF2B5EF4-FFF2-40B4-BE49-F238E27FC236}">
                <a16:creationId xmlns:a16="http://schemas.microsoft.com/office/drawing/2014/main" id="{22F84C98-1BD6-4CCF-B051-0D15ADAE974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B3B408A-2A6D-49C0-B823-6627D180812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08412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59B6D-3EBB-4D05-93BB-F4140C3CDFC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82AF3B9-6E5A-476A-8D57-DFE73F9CD5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31B2A2E-35FD-4489-AE6D-DF06FF75AD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EC33307-4D4B-4014-A385-7BEAA2FD3E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AF14B80-D911-45FB-8250-351C98898F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DBA5B6E-57A4-4730-BB1E-0CFA8CA52C11}"/>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8" name="Footer Placeholder 7">
            <a:extLst>
              <a:ext uri="{FF2B5EF4-FFF2-40B4-BE49-F238E27FC236}">
                <a16:creationId xmlns:a16="http://schemas.microsoft.com/office/drawing/2014/main" id="{ABD5F013-DDB5-4722-8AC8-00722B0BEB9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F6F1437-8715-45F2-851B-59519A672605}"/>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42233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A7D40-8694-4A92-A796-A470F6D011D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6250D6F-39B7-4366-8087-16A24585CA93}"/>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4" name="Footer Placeholder 3">
            <a:extLst>
              <a:ext uri="{FF2B5EF4-FFF2-40B4-BE49-F238E27FC236}">
                <a16:creationId xmlns:a16="http://schemas.microsoft.com/office/drawing/2014/main" id="{0FCC5BFD-A754-4A2D-ABC2-FB1F13E74C1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12BD14-E0AB-4D94-B374-A59FE030D29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4878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33BBC3-3729-453E-B42B-63A9DCC33134}"/>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3" name="Footer Placeholder 2">
            <a:extLst>
              <a:ext uri="{FF2B5EF4-FFF2-40B4-BE49-F238E27FC236}">
                <a16:creationId xmlns:a16="http://schemas.microsoft.com/office/drawing/2014/main" id="{8A867144-ECC3-4B12-8B80-2A1FCFEC4F1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1E0F7BE-4253-4DF7-995E-E312ED7B5140}"/>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70220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49133-4491-4B29-B31F-3CAD0F2C9D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7FADA01-9807-4B82-B59D-6E8EABAD98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0100B621-35D2-445B-A275-ABB6399722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4253802-F423-48DB-A3FA-9494EAE6169C}"/>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6" name="Footer Placeholder 5">
            <a:extLst>
              <a:ext uri="{FF2B5EF4-FFF2-40B4-BE49-F238E27FC236}">
                <a16:creationId xmlns:a16="http://schemas.microsoft.com/office/drawing/2014/main" id="{7F4FED8C-DFB3-4601-BD04-EFFD2E6119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B769BB1-A354-43B6-8F25-2254C43AE7F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94656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E9C91-ECAD-41D5-B369-A9779820C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CFEF93D-61ED-4604-8ED2-FF31A9C9CC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A9615C1-0E96-4DF6-94B4-A34EFD7B9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7F30E26-83A6-4861-8AAD-DB15968187AB}"/>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6" name="Footer Placeholder 5">
            <a:extLst>
              <a:ext uri="{FF2B5EF4-FFF2-40B4-BE49-F238E27FC236}">
                <a16:creationId xmlns:a16="http://schemas.microsoft.com/office/drawing/2014/main" id="{5FD24BE9-166F-486C-9A27-0D9BC5E319B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9744C0-17B2-4F90-9A64-18775BDFB5EB}"/>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82218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71C3-51C3-43DA-AB78-620F99E3CDB5}"/>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80BF4C8-A252-4354-ABB6-1AEE16A8C4E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1F71D93-217C-4EA8-A0AA-C48EE8CC4AA5}"/>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5" name="Footer Placeholder 4">
            <a:extLst>
              <a:ext uri="{FF2B5EF4-FFF2-40B4-BE49-F238E27FC236}">
                <a16:creationId xmlns:a16="http://schemas.microsoft.com/office/drawing/2014/main" id="{05CD3C5E-9679-44F9-B254-27B849E8AB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13325C8-AD60-4B82-9055-E6BD7962499D}"/>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80747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23A10B-BB3F-4F6A-A5E9-A90237BC07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269948A-D4D8-4928-966C-9330F3D0147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DEE8719-791C-4164-B039-35386823E411}"/>
              </a:ext>
            </a:extLst>
          </p:cNvPr>
          <p:cNvSpPr>
            <a:spLocks noGrp="1"/>
          </p:cNvSpPr>
          <p:nvPr>
            <p:ph type="dt" sz="half" idx="10"/>
          </p:nvPr>
        </p:nvSpPr>
        <p:spPr/>
        <p:txBody>
          <a:bodyPr/>
          <a:lstStyle/>
          <a:p>
            <a:fld id="{48A87A34-81AB-432B-8DAE-1953F412C126}" type="datetimeFigureOut">
              <a:rPr lang="en-US" smtClean="0"/>
              <a:t>4/29/2020</a:t>
            </a:fld>
            <a:endParaRPr lang="en-US" dirty="0"/>
          </a:p>
        </p:txBody>
      </p:sp>
      <p:sp>
        <p:nvSpPr>
          <p:cNvPr id="5" name="Footer Placeholder 4">
            <a:extLst>
              <a:ext uri="{FF2B5EF4-FFF2-40B4-BE49-F238E27FC236}">
                <a16:creationId xmlns:a16="http://schemas.microsoft.com/office/drawing/2014/main" id="{2965757D-8D34-4B7F-8E94-F1DDFCCD8F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227BEAF-F81A-467A-AFD7-E5FD380EA5C5}"/>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34768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43EDB5-84CE-4E52-A228-D005CD31E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B3D29E0-911F-44D6-BE3D-F7DA7D40C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4AB90B8-61A1-4903-80E7-DE1ABC8A1A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4/29/2020</a:t>
            </a:fld>
            <a:endParaRPr lang="en-US" dirty="0"/>
          </a:p>
        </p:txBody>
      </p:sp>
      <p:sp>
        <p:nvSpPr>
          <p:cNvPr id="5" name="Footer Placeholder 4">
            <a:extLst>
              <a:ext uri="{FF2B5EF4-FFF2-40B4-BE49-F238E27FC236}">
                <a16:creationId xmlns:a16="http://schemas.microsoft.com/office/drawing/2014/main" id="{6AAF346D-CCE9-4249-AD35-E19E474BBD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2743005-6106-45EF-8B2B-E0F577CD29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94059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abc.net.au/btn/classroom/what-is-democracy/10524786"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332911-4217-4172-AA0E-CB9151ECD357}"/>
              </a:ext>
            </a:extLst>
          </p:cNvPr>
          <p:cNvSpPr>
            <a:spLocks noGrp="1"/>
          </p:cNvSpPr>
          <p:nvPr>
            <p:ph type="ctrTitle"/>
          </p:nvPr>
        </p:nvSpPr>
        <p:spPr/>
        <p:txBody>
          <a:bodyPr/>
          <a:lstStyle/>
          <a:p>
            <a:r>
              <a:rPr lang="en-US" dirty="0"/>
              <a:t>Democracy</a:t>
            </a:r>
            <a:endParaRPr lang="en-AU" dirty="0"/>
          </a:p>
        </p:txBody>
      </p:sp>
      <p:pic>
        <p:nvPicPr>
          <p:cNvPr id="6" name="Picture 5">
            <a:extLst>
              <a:ext uri="{FF2B5EF4-FFF2-40B4-BE49-F238E27FC236}">
                <a16:creationId xmlns:a16="http://schemas.microsoft.com/office/drawing/2014/main" id="{71737C39-30B6-431A-877A-51A22A4A60A5}"/>
              </a:ext>
            </a:extLst>
          </p:cNvPr>
          <p:cNvPicPr>
            <a:picLocks noChangeAspect="1"/>
          </p:cNvPicPr>
          <p:nvPr/>
        </p:nvPicPr>
        <p:blipFill>
          <a:blip r:embed="rId2"/>
          <a:stretch>
            <a:fillRect/>
          </a:stretch>
        </p:blipFill>
        <p:spPr>
          <a:xfrm>
            <a:off x="0" y="0"/>
            <a:ext cx="12192000" cy="6858000"/>
          </a:xfrm>
          <a:prstGeom prst="rect">
            <a:avLst/>
          </a:prstGeom>
        </p:spPr>
      </p:pic>
      <p:sp>
        <p:nvSpPr>
          <p:cNvPr id="5" name="Subtitle 4">
            <a:extLst>
              <a:ext uri="{FF2B5EF4-FFF2-40B4-BE49-F238E27FC236}">
                <a16:creationId xmlns:a16="http://schemas.microsoft.com/office/drawing/2014/main" id="{67B6E02B-2B3D-4CF2-AB3E-A5A88AC60F04}"/>
              </a:ext>
            </a:extLst>
          </p:cNvPr>
          <p:cNvSpPr>
            <a:spLocks noGrp="1"/>
          </p:cNvSpPr>
          <p:nvPr>
            <p:ph type="subTitle" idx="1"/>
          </p:nvPr>
        </p:nvSpPr>
        <p:spPr>
          <a:xfrm>
            <a:off x="1971869" y="2134588"/>
            <a:ext cx="9144000" cy="1655762"/>
          </a:xfrm>
        </p:spPr>
        <p:txBody>
          <a:bodyPr>
            <a:normAutofit/>
          </a:bodyPr>
          <a:lstStyle/>
          <a:p>
            <a:r>
              <a:rPr lang="en-US" sz="4800" dirty="0"/>
              <a:t>Yr 7 Civics and Citizenship </a:t>
            </a:r>
            <a:endParaRPr lang="en-AU" sz="4800" dirty="0"/>
          </a:p>
        </p:txBody>
      </p:sp>
    </p:spTree>
    <p:extLst>
      <p:ext uri="{BB962C8B-B14F-4D97-AF65-F5344CB8AC3E}">
        <p14:creationId xmlns:p14="http://schemas.microsoft.com/office/powerpoint/2010/main" val="1786340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188F1-D8E3-4BB1-9806-F9AF488B9C1E}"/>
              </a:ext>
            </a:extLst>
          </p:cNvPr>
          <p:cNvSpPr>
            <a:spLocks noGrp="1"/>
          </p:cNvSpPr>
          <p:nvPr>
            <p:ph type="title"/>
          </p:nvPr>
        </p:nvSpPr>
        <p:spPr/>
        <p:txBody>
          <a:bodyPr/>
          <a:lstStyle/>
          <a:p>
            <a:r>
              <a:rPr lang="en-US" dirty="0"/>
              <a:t>Lesson Aims</a:t>
            </a:r>
            <a:endParaRPr lang="en-AU" dirty="0"/>
          </a:p>
        </p:txBody>
      </p:sp>
      <p:sp>
        <p:nvSpPr>
          <p:cNvPr id="3" name="Content Placeholder 2">
            <a:extLst>
              <a:ext uri="{FF2B5EF4-FFF2-40B4-BE49-F238E27FC236}">
                <a16:creationId xmlns:a16="http://schemas.microsoft.com/office/drawing/2014/main" id="{050D0A48-7FF9-413A-80C1-3B1CB1A2DB02}"/>
              </a:ext>
            </a:extLst>
          </p:cNvPr>
          <p:cNvSpPr>
            <a:spLocks noGrp="1"/>
          </p:cNvSpPr>
          <p:nvPr>
            <p:ph idx="1"/>
          </p:nvPr>
        </p:nvSpPr>
        <p:spPr/>
        <p:txBody>
          <a:bodyPr/>
          <a:lstStyle/>
          <a:p>
            <a:r>
              <a:rPr lang="en-US" dirty="0"/>
              <a:t>To understand the concept of democracy</a:t>
            </a:r>
          </a:p>
          <a:p>
            <a:r>
              <a:rPr lang="en-US" dirty="0"/>
              <a:t>Identify some democratic values</a:t>
            </a:r>
          </a:p>
          <a:p>
            <a:r>
              <a:rPr lang="en-US" dirty="0"/>
              <a:t>Describe two examples of democratic values- voting and representative government</a:t>
            </a:r>
          </a:p>
          <a:p>
            <a:r>
              <a:rPr lang="en-US" dirty="0"/>
              <a:t>Conduct a fair and democratic voting process </a:t>
            </a:r>
          </a:p>
          <a:p>
            <a:r>
              <a:rPr lang="en-US" dirty="0"/>
              <a:t>Demonstrate how representative government works </a:t>
            </a:r>
          </a:p>
          <a:p>
            <a:pPr marL="0" indent="0">
              <a:buNone/>
            </a:pPr>
            <a:endParaRPr lang="en-AU" dirty="0"/>
          </a:p>
        </p:txBody>
      </p:sp>
    </p:spTree>
    <p:extLst>
      <p:ext uri="{BB962C8B-B14F-4D97-AF65-F5344CB8AC3E}">
        <p14:creationId xmlns:p14="http://schemas.microsoft.com/office/powerpoint/2010/main" val="690504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AF4ACC-05C9-43A2-ACB0-68A571812666}"/>
              </a:ext>
            </a:extLst>
          </p:cNvPr>
          <p:cNvSpPr>
            <a:spLocks noGrp="1"/>
          </p:cNvSpPr>
          <p:nvPr>
            <p:ph type="title"/>
          </p:nvPr>
        </p:nvSpPr>
        <p:spPr>
          <a:xfrm>
            <a:off x="589560" y="856180"/>
            <a:ext cx="4560584" cy="1128068"/>
          </a:xfrm>
        </p:spPr>
        <p:txBody>
          <a:bodyPr anchor="ctr">
            <a:normAutofit/>
          </a:bodyPr>
          <a:lstStyle/>
          <a:p>
            <a:r>
              <a:rPr lang="en-US" sz="3700"/>
              <a:t>Group Activity – groups of 6-8</a:t>
            </a:r>
            <a:endParaRPr lang="en-AU" sz="3700"/>
          </a:p>
        </p:txBody>
      </p:sp>
      <p:grpSp>
        <p:nvGrpSpPr>
          <p:cNvPr id="11" name="Group 10">
            <a:extLst>
              <a:ext uri="{FF2B5EF4-FFF2-40B4-BE49-F238E27FC236}">
                <a16:creationId xmlns:a16="http://schemas.microsoft.com/office/drawing/2014/main" id="{1DE889C7-FAD6-4397-98E2-05D503484459}"/>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6BA21DE-FA10-4D91-9F80-8ABF4DA36F41}"/>
              </a:ext>
            </a:extLst>
          </p:cNvPr>
          <p:cNvSpPr>
            <a:spLocks noGrp="1"/>
          </p:cNvSpPr>
          <p:nvPr>
            <p:ph idx="1"/>
          </p:nvPr>
        </p:nvSpPr>
        <p:spPr>
          <a:xfrm>
            <a:off x="590719" y="2330505"/>
            <a:ext cx="5095090" cy="3979585"/>
          </a:xfrm>
        </p:spPr>
        <p:txBody>
          <a:bodyPr anchor="ctr">
            <a:normAutofit/>
          </a:bodyPr>
          <a:lstStyle/>
          <a:p>
            <a:r>
              <a:rPr lang="en-US" sz="1700" dirty="0"/>
              <a:t>The school has decided to take you on a special camp (once COVID-19 restrictions are over). You are able to choose where the camp will be held and all of the activities that you do. </a:t>
            </a:r>
          </a:p>
          <a:p>
            <a:r>
              <a:rPr lang="en-US" sz="1700" dirty="0"/>
              <a:t>Rules:</a:t>
            </a:r>
          </a:p>
          <a:p>
            <a:pPr lvl="1"/>
            <a:r>
              <a:rPr lang="en-US" sz="1700" dirty="0"/>
              <a:t>The camp can be anywhere in Australia (the school has just received a lot of money for flights!). </a:t>
            </a:r>
          </a:p>
          <a:p>
            <a:pPr lvl="1"/>
            <a:r>
              <a:rPr lang="en-US" sz="1700" dirty="0"/>
              <a:t>It has to be 5 days</a:t>
            </a:r>
          </a:p>
          <a:p>
            <a:pPr lvl="1"/>
            <a:r>
              <a:rPr lang="en-US" sz="1700" dirty="0"/>
              <a:t>You can plan any activities that are safe and fit within the school rules </a:t>
            </a:r>
          </a:p>
          <a:p>
            <a:pPr lvl="1"/>
            <a:r>
              <a:rPr lang="en-US" sz="1700" dirty="0"/>
              <a:t>You only have three minutes to reach a decision. Your teacher will NOT help you with your decisions. </a:t>
            </a:r>
            <a:endParaRPr lang="en-AU" sz="1700" dirty="0"/>
          </a:p>
        </p:txBody>
      </p:sp>
      <p:sp>
        <p:nvSpPr>
          <p:cNvPr id="17" name="Rectangle 16">
            <a:extLst>
              <a:ext uri="{FF2B5EF4-FFF2-40B4-BE49-F238E27FC236}">
                <a16:creationId xmlns:a16="http://schemas.microsoft.com/office/drawing/2014/main" id="{C13237C8-E62C-4F0D-A318-BD6FB6C2D1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622B038-D780-4B5C-AD77-795B9139D4AA}"/>
              </a:ext>
            </a:extLst>
          </p:cNvPr>
          <p:cNvPicPr>
            <a:picLocks noChangeAspect="1"/>
          </p:cNvPicPr>
          <p:nvPr/>
        </p:nvPicPr>
        <p:blipFill rotWithShape="1">
          <a:blip r:embed="rId3"/>
          <a:srcRect t="3062"/>
          <a:stretch/>
        </p:blipFill>
        <p:spPr>
          <a:xfrm>
            <a:off x="6427622" y="799352"/>
            <a:ext cx="4975576" cy="4823235"/>
          </a:xfrm>
          <a:prstGeom prst="rect">
            <a:avLst/>
          </a:prstGeom>
        </p:spPr>
      </p:pic>
    </p:spTree>
    <p:extLst>
      <p:ext uri="{BB962C8B-B14F-4D97-AF65-F5344CB8AC3E}">
        <p14:creationId xmlns:p14="http://schemas.microsoft.com/office/powerpoint/2010/main" val="858838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7D4867-5BA7-4462-B2F6-A23F4A622AA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DE5B0F-EA63-414F-92A8-4E4EEF731F39}"/>
              </a:ext>
            </a:extLst>
          </p:cNvPr>
          <p:cNvSpPr>
            <a:spLocks noGrp="1"/>
          </p:cNvSpPr>
          <p:nvPr>
            <p:ph type="title"/>
          </p:nvPr>
        </p:nvSpPr>
        <p:spPr>
          <a:xfrm>
            <a:off x="643468" y="623392"/>
            <a:ext cx="3363974" cy="1364028"/>
          </a:xfrm>
          <a:noFill/>
          <a:ln w="19050">
            <a:solidFill>
              <a:schemeClr val="tx1"/>
            </a:solidFill>
          </a:ln>
        </p:spPr>
        <p:txBody>
          <a:bodyPr wrap="square" anchor="ctr">
            <a:normAutofit/>
          </a:bodyPr>
          <a:lstStyle/>
          <a:p>
            <a:pPr algn="ctr"/>
            <a:r>
              <a:rPr lang="en-US" sz="2800" dirty="0"/>
              <a:t>Fairness</a:t>
            </a:r>
            <a:endParaRPr lang="en-AU" sz="2800" dirty="0"/>
          </a:p>
        </p:txBody>
      </p:sp>
      <p:sp>
        <p:nvSpPr>
          <p:cNvPr id="3" name="Content Placeholder 2">
            <a:extLst>
              <a:ext uri="{FF2B5EF4-FFF2-40B4-BE49-F238E27FC236}">
                <a16:creationId xmlns:a16="http://schemas.microsoft.com/office/drawing/2014/main" id="{322508A0-DB94-45FC-B822-DE51BBCB3175}"/>
              </a:ext>
            </a:extLst>
          </p:cNvPr>
          <p:cNvSpPr>
            <a:spLocks noGrp="1"/>
          </p:cNvSpPr>
          <p:nvPr>
            <p:ph idx="1"/>
          </p:nvPr>
        </p:nvSpPr>
        <p:spPr>
          <a:xfrm>
            <a:off x="361189" y="2264818"/>
            <a:ext cx="3928532" cy="3415623"/>
          </a:xfrm>
        </p:spPr>
        <p:txBody>
          <a:bodyPr>
            <a:normAutofit fontScale="85000" lnSpcReduction="10000"/>
          </a:bodyPr>
          <a:lstStyle/>
          <a:p>
            <a:pPr marL="457200" indent="-457200">
              <a:buAutoNum type="arabicPeriod"/>
            </a:pPr>
            <a:r>
              <a:rPr lang="en-US" sz="2400" dirty="0"/>
              <a:t>Feedback- what I observed </a:t>
            </a:r>
          </a:p>
          <a:p>
            <a:pPr marL="457200" indent="-457200">
              <a:buAutoNum type="arabicPeriod"/>
            </a:pPr>
            <a:r>
              <a:rPr lang="en-US" sz="2400" dirty="0"/>
              <a:t>Complete the checklist- share with a partner. Were there any similarities/differences in your answers? </a:t>
            </a:r>
          </a:p>
          <a:p>
            <a:r>
              <a:rPr lang="en-US" sz="2400" dirty="0"/>
              <a:t>Do you think your group was fair with the decision making process? Why/why not?</a:t>
            </a:r>
          </a:p>
          <a:p>
            <a:r>
              <a:rPr lang="en-US" sz="2400" dirty="0"/>
              <a:t>What would happen if there were 50 people making this decision? What about 100? Or 23 million?  </a:t>
            </a:r>
            <a:endParaRPr lang="en-AU" sz="2400" dirty="0"/>
          </a:p>
        </p:txBody>
      </p:sp>
      <p:pic>
        <p:nvPicPr>
          <p:cNvPr id="5" name="Picture 4">
            <a:extLst>
              <a:ext uri="{FF2B5EF4-FFF2-40B4-BE49-F238E27FC236}">
                <a16:creationId xmlns:a16="http://schemas.microsoft.com/office/drawing/2014/main" id="{798EC116-B246-4F5F-B36F-EE3E13125A6D}"/>
              </a:ext>
            </a:extLst>
          </p:cNvPr>
          <p:cNvPicPr>
            <a:picLocks noChangeAspect="1"/>
          </p:cNvPicPr>
          <p:nvPr/>
        </p:nvPicPr>
        <p:blipFill>
          <a:blip r:embed="rId2"/>
          <a:stretch>
            <a:fillRect/>
          </a:stretch>
        </p:blipFill>
        <p:spPr>
          <a:xfrm>
            <a:off x="5698496" y="0"/>
            <a:ext cx="5496246" cy="6858000"/>
          </a:xfrm>
          <a:prstGeom prst="rect">
            <a:avLst/>
          </a:prstGeom>
        </p:spPr>
      </p:pic>
    </p:spTree>
    <p:extLst>
      <p:ext uri="{BB962C8B-B14F-4D97-AF65-F5344CB8AC3E}">
        <p14:creationId xmlns:p14="http://schemas.microsoft.com/office/powerpoint/2010/main" val="115247565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Freeform: Shape 70">
            <a:extLst>
              <a:ext uri="{FF2B5EF4-FFF2-40B4-BE49-F238E27FC236}">
                <a16:creationId xmlns:a16="http://schemas.microsoft.com/office/drawing/2014/main" id="{F60FCA6E-0894-46CD-BD49-5955A51E008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955" y="5346696"/>
            <a:ext cx="5360045" cy="1511304"/>
          </a:xfrm>
          <a:custGeom>
            <a:avLst/>
            <a:gdLst>
              <a:gd name="connsiteX0" fmla="*/ 4545473 w 5360045"/>
              <a:gd name="connsiteY0" fmla="*/ 0 h 1511304"/>
              <a:gd name="connsiteX1" fmla="*/ 5360045 w 5360045"/>
              <a:gd name="connsiteY1" fmla="*/ 0 h 1511304"/>
              <a:gd name="connsiteX2" fmla="*/ 5360045 w 5360045"/>
              <a:gd name="connsiteY2" fmla="*/ 1046730 h 1511304"/>
              <a:gd name="connsiteX3" fmla="*/ 5360045 w 5360045"/>
              <a:gd name="connsiteY3" fmla="*/ 1508760 h 1511304"/>
              <a:gd name="connsiteX4" fmla="*/ 5360045 w 5360045"/>
              <a:gd name="connsiteY4" fmla="*/ 1511304 h 1511304"/>
              <a:gd name="connsiteX5" fmla="*/ 4545474 w 5360045"/>
              <a:gd name="connsiteY5" fmla="*/ 1511304 h 1511304"/>
              <a:gd name="connsiteX6" fmla="*/ 2525897 w 5360045"/>
              <a:gd name="connsiteY6" fmla="*/ 1511304 h 1511304"/>
              <a:gd name="connsiteX7" fmla="*/ 0 w 5360045"/>
              <a:gd name="connsiteY7" fmla="*/ 1511304 h 1511304"/>
              <a:gd name="connsiteX8" fmla="*/ 697617 w 5360045"/>
              <a:gd name="connsiteY8" fmla="*/ 3 h 1511304"/>
              <a:gd name="connsiteX9" fmla="*/ 4545473 w 5360045"/>
              <a:gd name="connsiteY9"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0045" h="1511304">
                <a:moveTo>
                  <a:pt x="4545473" y="0"/>
                </a:moveTo>
                <a:lnTo>
                  <a:pt x="5360045" y="0"/>
                </a:lnTo>
                <a:lnTo>
                  <a:pt x="5360045" y="1046730"/>
                </a:lnTo>
                <a:lnTo>
                  <a:pt x="5360045" y="1508760"/>
                </a:lnTo>
                <a:lnTo>
                  <a:pt x="5360045" y="1511304"/>
                </a:lnTo>
                <a:lnTo>
                  <a:pt x="4545474" y="1511304"/>
                </a:lnTo>
                <a:lnTo>
                  <a:pt x="2525897" y="1511304"/>
                </a:lnTo>
                <a:lnTo>
                  <a:pt x="0" y="1511304"/>
                </a:lnTo>
                <a:lnTo>
                  <a:pt x="697617" y="3"/>
                </a:lnTo>
                <a:lnTo>
                  <a:pt x="4545473" y="3"/>
                </a:lnTo>
                <a:close/>
              </a:path>
            </a:pathLst>
          </a:custGeom>
          <a:solidFill>
            <a:srgbClr val="404040">
              <a:alpha val="8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Shape 72">
            <a:extLst>
              <a:ext uri="{FF2B5EF4-FFF2-40B4-BE49-F238E27FC236}">
                <a16:creationId xmlns:a16="http://schemas.microsoft.com/office/drawing/2014/main" id="{E78C6E4B-A1F1-4B6C-97EC-BE997495D6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694"/>
            <a:ext cx="7346605" cy="1511306"/>
          </a:xfrm>
          <a:custGeom>
            <a:avLst/>
            <a:gdLst>
              <a:gd name="connsiteX0" fmla="*/ 0 w 7346605"/>
              <a:gd name="connsiteY0" fmla="*/ 0 h 1511306"/>
              <a:gd name="connsiteX1" fmla="*/ 239486 w 7346605"/>
              <a:gd name="connsiteY1" fmla="*/ 0 h 1511306"/>
              <a:gd name="connsiteX2" fmla="*/ 1209568 w 7346605"/>
              <a:gd name="connsiteY2" fmla="*/ 0 h 1511306"/>
              <a:gd name="connsiteX3" fmla="*/ 2405743 w 7346605"/>
              <a:gd name="connsiteY3" fmla="*/ 0 h 1511306"/>
              <a:gd name="connsiteX4" fmla="*/ 2405743 w 7346605"/>
              <a:gd name="connsiteY4" fmla="*/ 2544 h 1511306"/>
              <a:gd name="connsiteX5" fmla="*/ 2801131 w 7346605"/>
              <a:gd name="connsiteY5" fmla="*/ 2544 h 1511306"/>
              <a:gd name="connsiteX6" fmla="*/ 2801131 w 7346605"/>
              <a:gd name="connsiteY6" fmla="*/ 0 h 1511306"/>
              <a:gd name="connsiteX7" fmla="*/ 7346605 w 7346605"/>
              <a:gd name="connsiteY7" fmla="*/ 0 h 1511306"/>
              <a:gd name="connsiteX8" fmla="*/ 6648988 w 7346605"/>
              <a:gd name="connsiteY8" fmla="*/ 1511301 h 1511306"/>
              <a:gd name="connsiteX9" fmla="*/ 2801132 w 7346605"/>
              <a:gd name="connsiteY9" fmla="*/ 1511301 h 1511306"/>
              <a:gd name="connsiteX10" fmla="*/ 2801132 w 7346605"/>
              <a:gd name="connsiteY10" fmla="*/ 1511304 h 1511306"/>
              <a:gd name="connsiteX11" fmla="*/ 2405743 w 7346605"/>
              <a:gd name="connsiteY11" fmla="*/ 1511304 h 1511306"/>
              <a:gd name="connsiteX12" fmla="*/ 2405743 w 7346605"/>
              <a:gd name="connsiteY12" fmla="*/ 1511306 h 1511306"/>
              <a:gd name="connsiteX13" fmla="*/ 1333411 w 7346605"/>
              <a:gd name="connsiteY13" fmla="*/ 1511306 h 1511306"/>
              <a:gd name="connsiteX14" fmla="*/ 1219208 w 7346605"/>
              <a:gd name="connsiteY14" fmla="*/ 1511306 h 1511306"/>
              <a:gd name="connsiteX15" fmla="*/ 1209568 w 7346605"/>
              <a:gd name="connsiteY15" fmla="*/ 1511306 h 1511306"/>
              <a:gd name="connsiteX16" fmla="*/ 239486 w 7346605"/>
              <a:gd name="connsiteY16" fmla="*/ 1511306 h 1511306"/>
              <a:gd name="connsiteX17" fmla="*/ 0 w 7346605"/>
              <a:gd name="connsiteY17" fmla="*/ 1511306 h 151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46605" h="1511306">
                <a:moveTo>
                  <a:pt x="0" y="0"/>
                </a:moveTo>
                <a:lnTo>
                  <a:pt x="239486" y="0"/>
                </a:lnTo>
                <a:lnTo>
                  <a:pt x="1209568" y="0"/>
                </a:lnTo>
                <a:lnTo>
                  <a:pt x="2405743" y="0"/>
                </a:lnTo>
                <a:lnTo>
                  <a:pt x="2405743" y="2544"/>
                </a:lnTo>
                <a:lnTo>
                  <a:pt x="2801131" y="2544"/>
                </a:lnTo>
                <a:lnTo>
                  <a:pt x="2801131" y="0"/>
                </a:lnTo>
                <a:lnTo>
                  <a:pt x="7346605" y="0"/>
                </a:lnTo>
                <a:lnTo>
                  <a:pt x="6648988" y="1511301"/>
                </a:lnTo>
                <a:lnTo>
                  <a:pt x="2801132" y="1511301"/>
                </a:lnTo>
                <a:lnTo>
                  <a:pt x="2801132" y="1511304"/>
                </a:lnTo>
                <a:lnTo>
                  <a:pt x="2405743" y="1511304"/>
                </a:lnTo>
                <a:lnTo>
                  <a:pt x="2405743" y="1511306"/>
                </a:lnTo>
                <a:lnTo>
                  <a:pt x="1333411" y="1511306"/>
                </a:lnTo>
                <a:lnTo>
                  <a:pt x="1219208" y="1511306"/>
                </a:lnTo>
                <a:lnTo>
                  <a:pt x="1209568" y="1511306"/>
                </a:lnTo>
                <a:lnTo>
                  <a:pt x="239486" y="1511306"/>
                </a:lnTo>
                <a:lnTo>
                  <a:pt x="0" y="1511306"/>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6" name="Title 5"/>
          <p:cNvSpPr>
            <a:spLocks noGrp="1"/>
          </p:cNvSpPr>
          <p:nvPr>
            <p:ph type="title"/>
          </p:nvPr>
        </p:nvSpPr>
        <p:spPr>
          <a:xfrm>
            <a:off x="841247" y="5529884"/>
            <a:ext cx="5806440" cy="1096331"/>
          </a:xfrm>
        </p:spPr>
        <p:txBody>
          <a:bodyPr vert="horz" lIns="91440" tIns="45720" rIns="91440" bIns="45720" rtlCol="0" anchor="ctr">
            <a:normAutofit/>
          </a:bodyPr>
          <a:lstStyle/>
          <a:p>
            <a:r>
              <a:rPr lang="en-US" sz="4000" b="1" kern="1200">
                <a:solidFill>
                  <a:srgbClr val="303030"/>
                </a:solidFill>
                <a:latin typeface="+mj-lt"/>
                <a:ea typeface="+mj-ea"/>
                <a:cs typeface="+mj-cs"/>
              </a:rPr>
              <a:t>Key Concept: Democracy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6633" y="1123703"/>
            <a:ext cx="5740861" cy="302830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6769438" y="577537"/>
            <a:ext cx="5091847" cy="443365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dirty="0"/>
              <a:t>Definition: A </a:t>
            </a:r>
            <a:r>
              <a:rPr lang="en-US" sz="2000" u="sng" dirty="0"/>
              <a:t>system of government</a:t>
            </a:r>
            <a:r>
              <a:rPr lang="en-US" sz="2000" dirty="0"/>
              <a:t> where </a:t>
            </a:r>
            <a:r>
              <a:rPr lang="en-US" sz="2000" u="sng" dirty="0"/>
              <a:t>the people have the power</a:t>
            </a:r>
            <a:r>
              <a:rPr lang="en-US" sz="2000" dirty="0"/>
              <a:t> to determine how they will be ruled, and elect their government to </a:t>
            </a:r>
            <a:r>
              <a:rPr lang="en-US" sz="2000" u="sng" dirty="0"/>
              <a:t>make and implement laws</a:t>
            </a:r>
            <a:r>
              <a:rPr lang="en-US" sz="2000" dirty="0"/>
              <a:t> on their behalf.</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It helps society make decisions that are </a:t>
            </a:r>
            <a:r>
              <a:rPr lang="en-US" sz="2000" b="1" dirty="0"/>
              <a:t>fair. </a:t>
            </a:r>
            <a:br>
              <a:rPr lang="en-US" sz="2000" dirty="0"/>
            </a:br>
            <a:endParaRPr lang="en-US" sz="2000" dirty="0"/>
          </a:p>
          <a:p>
            <a:pPr indent="-228600">
              <a:lnSpc>
                <a:spcPct val="90000"/>
              </a:lnSpc>
              <a:spcAft>
                <a:spcPts val="600"/>
              </a:spcAft>
              <a:buFont typeface="Arial" panose="020B0604020202020204" pitchFamily="34" charset="0"/>
              <a:buChar char="•"/>
            </a:pPr>
            <a:r>
              <a:rPr lang="en-US" sz="2000" dirty="0">
                <a:hlinkClick r:id="rId3"/>
              </a:rPr>
              <a:t>http://www.abc.net.au/btn/classroom/what-is-democracy/10524786</a:t>
            </a:r>
            <a:endParaRPr lang="en-US" sz="2000" dirty="0"/>
          </a:p>
          <a:p>
            <a:pPr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3401580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01CC55D-ED54-4C5C-95E6-10947BD1103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anchor="ctr">
            <a:normAutofit/>
          </a:bodyPr>
          <a:lstStyle/>
          <a:p>
            <a:r>
              <a:rPr lang="en-AU" sz="3400" b="1"/>
              <a:t>Where does Democracy come from?</a:t>
            </a:r>
          </a:p>
        </p:txBody>
      </p:sp>
      <p:grpSp>
        <p:nvGrpSpPr>
          <p:cNvPr id="73" name="Group 72">
            <a:extLst>
              <a:ext uri="{FF2B5EF4-FFF2-40B4-BE49-F238E27FC236}">
                <a16:creationId xmlns:a16="http://schemas.microsoft.com/office/drawing/2014/main" id="{1DE889C7-FAD6-4397-98E2-05D503484459}"/>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4" name="Rectangle 73">
              <a:extLst>
                <a:ext uri="{FF2B5EF4-FFF2-40B4-BE49-F238E27FC236}">
                  <a16:creationId xmlns:a16="http://schemas.microsoft.com/office/drawing/2014/main" id="{F399A70F-F8CD-4992-9EF5-6CF15472E73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48F4FEDC-6D80-458C-A665-075D9B9500F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a:extLst>
              <a:ext uri="{FF2B5EF4-FFF2-40B4-BE49-F238E27FC236}">
                <a16:creationId xmlns:a16="http://schemas.microsoft.com/office/drawing/2014/main" id="{3873B707-463F-40B0-8227-E8CC6C67EB2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590719" y="2330505"/>
            <a:ext cx="4559425" cy="3979585"/>
          </a:xfrm>
        </p:spPr>
        <p:txBody>
          <a:bodyPr anchor="ctr">
            <a:normAutofit/>
          </a:bodyPr>
          <a:lstStyle/>
          <a:p>
            <a:pPr marL="571500" indent="-342900">
              <a:buFont typeface="Arial" panose="020B0604020202020204" pitchFamily="34" charset="0"/>
              <a:buChar char="•"/>
            </a:pPr>
            <a:r>
              <a:rPr lang="en-AU" sz="2000" dirty="0"/>
              <a:t>Ancient Greece </a:t>
            </a:r>
          </a:p>
          <a:p>
            <a:pPr marL="571500" indent="-342900">
              <a:buFont typeface="Arial" panose="020B0604020202020204" pitchFamily="34" charset="0"/>
              <a:buChar char="•"/>
            </a:pPr>
            <a:r>
              <a:rPr lang="en-AU" sz="2000" dirty="0"/>
              <a:t>It comes from two Greek words: </a:t>
            </a:r>
            <a:r>
              <a:rPr lang="en-AU" sz="2000" b="1" i="1" dirty="0"/>
              <a:t>Demos</a:t>
            </a:r>
            <a:r>
              <a:rPr lang="en-AU" sz="2000" b="1" dirty="0"/>
              <a:t> </a:t>
            </a:r>
            <a:r>
              <a:rPr lang="en-AU" sz="2000" dirty="0"/>
              <a:t>(all citizens living within a particular state) and </a:t>
            </a:r>
            <a:r>
              <a:rPr lang="en-AU" sz="2000" b="1" i="1" dirty="0" err="1"/>
              <a:t>Kratos</a:t>
            </a:r>
            <a:r>
              <a:rPr lang="en-AU" sz="2000" b="1" i="1" dirty="0"/>
              <a:t> </a:t>
            </a:r>
            <a:r>
              <a:rPr lang="en-AU" sz="2000" dirty="0"/>
              <a:t>(power). It means </a:t>
            </a:r>
            <a:r>
              <a:rPr lang="en-AU" sz="2000" b="1" dirty="0"/>
              <a:t>‘people power’. </a:t>
            </a:r>
          </a:p>
          <a:p>
            <a:pPr marL="571500" indent="-342900">
              <a:buFont typeface="Arial" panose="020B0604020202020204" pitchFamily="34" charset="0"/>
              <a:buChar char="•"/>
            </a:pPr>
            <a:r>
              <a:rPr lang="en-AU" sz="2000" dirty="0"/>
              <a:t>Citizens would meet at the market place to discuss important issues and vote on matters, such as going to war. </a:t>
            </a:r>
          </a:p>
          <a:p>
            <a:pPr marL="571500" indent="-342900">
              <a:buFont typeface="Arial" panose="020B0604020202020204" pitchFamily="34" charset="0"/>
              <a:buChar char="•"/>
            </a:pPr>
            <a:r>
              <a:rPr lang="en-AU" sz="2000" dirty="0"/>
              <a:t>Each citizen had an equal right to participate (although only free men could become citizens. </a:t>
            </a:r>
          </a:p>
        </p:txBody>
      </p:sp>
      <p:sp>
        <p:nvSpPr>
          <p:cNvPr id="79" name="Rectangle 78">
            <a:extLst>
              <a:ext uri="{FF2B5EF4-FFF2-40B4-BE49-F238E27FC236}">
                <a16:creationId xmlns:a16="http://schemas.microsoft.com/office/drawing/2014/main" id="{C13237C8-E62C-4F0D-A318-BD6FB6C2D1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9C9EAEA-39D0-4B0E-A0EB-51E7B26740B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9192" r="8799" b="2"/>
          <a:stretch/>
        </p:blipFill>
        <p:spPr bwMode="auto">
          <a:xfrm>
            <a:off x="5977788" y="799352"/>
            <a:ext cx="5425410" cy="52592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1889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FE1706-4E07-4DE9-9004-653EB01BB0F5}"/>
              </a:ext>
            </a:extLst>
          </p:cNvPr>
          <p:cNvSpPr>
            <a:spLocks noGrp="1"/>
          </p:cNvSpPr>
          <p:nvPr>
            <p:ph type="title"/>
          </p:nvPr>
        </p:nvSpPr>
        <p:spPr>
          <a:xfrm>
            <a:off x="808638" y="386930"/>
            <a:ext cx="9236700" cy="1188950"/>
          </a:xfrm>
        </p:spPr>
        <p:txBody>
          <a:bodyPr anchor="b">
            <a:normAutofit/>
          </a:bodyPr>
          <a:lstStyle/>
          <a:p>
            <a:r>
              <a:rPr lang="en-US" sz="5400"/>
              <a:t>Voting </a:t>
            </a:r>
            <a:endParaRPr lang="en-AU"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61F0B5-CDF3-472A-88B0-1C01311EFF38}"/>
              </a:ext>
            </a:extLst>
          </p:cNvPr>
          <p:cNvSpPr>
            <a:spLocks noGrp="1"/>
          </p:cNvSpPr>
          <p:nvPr>
            <p:ph idx="1"/>
          </p:nvPr>
        </p:nvSpPr>
        <p:spPr>
          <a:xfrm>
            <a:off x="808638" y="2098911"/>
            <a:ext cx="10143668" cy="2659542"/>
          </a:xfrm>
        </p:spPr>
        <p:txBody>
          <a:bodyPr anchor="ctr">
            <a:normAutofit/>
          </a:bodyPr>
          <a:lstStyle/>
          <a:p>
            <a:r>
              <a:rPr lang="en-US" sz="2400" dirty="0"/>
              <a:t>In order to make sure that group decisions are made fairly, we vote. </a:t>
            </a:r>
            <a:endParaRPr lang="en-AU" sz="2400" dirty="0"/>
          </a:p>
          <a:p>
            <a:r>
              <a:rPr lang="en-AU" sz="2400" dirty="0"/>
              <a:t>Have you had the chance to vote for something in the past? What was it? </a:t>
            </a:r>
          </a:p>
        </p:txBody>
      </p:sp>
    </p:spTree>
    <p:extLst>
      <p:ext uri="{BB962C8B-B14F-4D97-AF65-F5344CB8AC3E}">
        <p14:creationId xmlns:p14="http://schemas.microsoft.com/office/powerpoint/2010/main" val="2746410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79F7551-E956-43CB-8F36-268A5DA443B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CFFF0275-505B-46E2-954C-0F9BBCC0696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3805"/>
            <a:ext cx="7765937" cy="5696020"/>
          </a:xfrm>
          <a:custGeom>
            <a:avLst/>
            <a:gdLst>
              <a:gd name="connsiteX0" fmla="*/ 0 w 7765937"/>
              <a:gd name="connsiteY0" fmla="*/ 0 h 5696020"/>
              <a:gd name="connsiteX1" fmla="*/ 7765937 w 7765937"/>
              <a:gd name="connsiteY1" fmla="*/ 0 h 5696020"/>
              <a:gd name="connsiteX2" fmla="*/ 5002657 w 7765937"/>
              <a:gd name="connsiteY2" fmla="*/ 5696020 h 5696020"/>
              <a:gd name="connsiteX3" fmla="*/ 0 w 7765937"/>
              <a:gd name="connsiteY3" fmla="*/ 5696020 h 5696020"/>
            </a:gdLst>
            <a:ahLst/>
            <a:cxnLst>
              <a:cxn ang="0">
                <a:pos x="connsiteX0" y="connsiteY0"/>
              </a:cxn>
              <a:cxn ang="0">
                <a:pos x="connsiteX1" y="connsiteY1"/>
              </a:cxn>
              <a:cxn ang="0">
                <a:pos x="connsiteX2" y="connsiteY2"/>
              </a:cxn>
              <a:cxn ang="0">
                <a:pos x="connsiteX3" y="connsiteY3"/>
              </a:cxn>
            </a:cxnLst>
            <a:rect l="l" t="t" r="r" b="b"/>
            <a:pathLst>
              <a:path w="7765937" h="5696020">
                <a:moveTo>
                  <a:pt x="0" y="0"/>
                </a:moveTo>
                <a:lnTo>
                  <a:pt x="7765937" y="0"/>
                </a:lnTo>
                <a:lnTo>
                  <a:pt x="5002657" y="5696020"/>
                </a:lnTo>
                <a:lnTo>
                  <a:pt x="0" y="5696020"/>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57273EDA-0B9E-454F-8374-27F276E9597D}"/>
              </a:ext>
            </a:extLst>
          </p:cNvPr>
          <p:cNvSpPr>
            <a:spLocks noGrp="1"/>
          </p:cNvSpPr>
          <p:nvPr>
            <p:ph type="title"/>
          </p:nvPr>
        </p:nvSpPr>
        <p:spPr>
          <a:xfrm>
            <a:off x="838200" y="914400"/>
            <a:ext cx="5111496" cy="1097280"/>
          </a:xfrm>
        </p:spPr>
        <p:txBody>
          <a:bodyPr>
            <a:normAutofit/>
          </a:bodyPr>
          <a:lstStyle/>
          <a:p>
            <a:r>
              <a:rPr lang="en-US">
                <a:solidFill>
                  <a:srgbClr val="FFFFFF"/>
                </a:solidFill>
              </a:rPr>
              <a:t>Let’s take a vote: </a:t>
            </a:r>
            <a:endParaRPr lang="en-AU">
              <a:solidFill>
                <a:srgbClr val="FFFFFF"/>
              </a:solidFill>
            </a:endParaRPr>
          </a:p>
        </p:txBody>
      </p:sp>
      <p:sp>
        <p:nvSpPr>
          <p:cNvPr id="3" name="Content Placeholder 2">
            <a:extLst>
              <a:ext uri="{FF2B5EF4-FFF2-40B4-BE49-F238E27FC236}">
                <a16:creationId xmlns:a16="http://schemas.microsoft.com/office/drawing/2014/main" id="{21296566-3D43-4540-8645-7F1A939DAEBE}"/>
              </a:ext>
            </a:extLst>
          </p:cNvPr>
          <p:cNvSpPr>
            <a:spLocks noGrp="1"/>
          </p:cNvSpPr>
          <p:nvPr>
            <p:ph idx="1"/>
          </p:nvPr>
        </p:nvSpPr>
        <p:spPr>
          <a:xfrm>
            <a:off x="838199" y="2331720"/>
            <a:ext cx="4379976" cy="3547872"/>
          </a:xfrm>
        </p:spPr>
        <p:txBody>
          <a:bodyPr anchor="t">
            <a:normAutofit/>
          </a:bodyPr>
          <a:lstStyle/>
          <a:p>
            <a:pPr marL="0" indent="0">
              <a:buNone/>
            </a:pPr>
            <a:endParaRPr lang="en-US" sz="2000"/>
          </a:p>
          <a:p>
            <a:pPr marL="0" indent="0">
              <a:buNone/>
            </a:pPr>
            <a:r>
              <a:rPr lang="en-US" sz="2000"/>
              <a:t>Put your hand up if you agree: </a:t>
            </a:r>
          </a:p>
          <a:p>
            <a:pPr marL="0" indent="0">
              <a:buNone/>
            </a:pPr>
            <a:endParaRPr lang="en-US" sz="2000"/>
          </a:p>
          <a:p>
            <a:pPr marL="514350" indent="-514350">
              <a:buAutoNum type="arabicPeriod"/>
            </a:pPr>
            <a:r>
              <a:rPr lang="en-US" sz="2000"/>
              <a:t>Cats are better than dogs</a:t>
            </a:r>
          </a:p>
          <a:p>
            <a:pPr marL="514350" indent="-514350">
              <a:buAutoNum type="arabicPeriod"/>
            </a:pPr>
            <a:r>
              <a:rPr lang="en-US" sz="2000"/>
              <a:t>Sweet food is better than savoury food </a:t>
            </a:r>
          </a:p>
          <a:p>
            <a:pPr marL="514350" indent="-514350">
              <a:buAutoNum type="arabicPeriod"/>
            </a:pPr>
            <a:r>
              <a:rPr lang="en-US" sz="2000"/>
              <a:t>Football is better than soccer </a:t>
            </a:r>
          </a:p>
          <a:p>
            <a:pPr marL="514350" indent="-514350">
              <a:buAutoNum type="arabicPeriod"/>
            </a:pPr>
            <a:r>
              <a:rPr lang="en-US" sz="2000"/>
              <a:t>Going to school is important</a:t>
            </a:r>
          </a:p>
          <a:p>
            <a:pPr marL="514350" indent="-514350">
              <a:buAutoNum type="arabicPeriod"/>
            </a:pPr>
            <a:r>
              <a:rPr lang="en-US" sz="2000"/>
              <a:t>Eagles are better than the Dockers </a:t>
            </a:r>
          </a:p>
          <a:p>
            <a:pPr marL="514350" indent="-514350">
              <a:buAutoNum type="arabicPeriod"/>
            </a:pPr>
            <a:endParaRPr lang="en-AU" sz="2000"/>
          </a:p>
        </p:txBody>
      </p:sp>
      <p:pic>
        <p:nvPicPr>
          <p:cNvPr id="1026" name="Picture 2" descr="Woman Hand Showing The Five Fingers Stock Photo - Image of danger ...">
            <a:extLst>
              <a:ext uri="{FF2B5EF4-FFF2-40B4-BE49-F238E27FC236}">
                <a16:creationId xmlns:a16="http://schemas.microsoft.com/office/drawing/2014/main" id="{F78A1470-0D4D-4D46-B0CC-9FDFE86DF91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42799" y="1639019"/>
            <a:ext cx="2821908" cy="4240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81179"/>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C3DEBB2-D54E-470C-86B3-631BDDF6CCA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845820"/>
            <a:ext cx="6087194" cy="5166360"/>
          </a:xfrm>
          <a:custGeom>
            <a:avLst/>
            <a:gdLst>
              <a:gd name="connsiteX0" fmla="*/ 0 w 6087194"/>
              <a:gd name="connsiteY0" fmla="*/ 0 h 5166360"/>
              <a:gd name="connsiteX1" fmla="*/ 155740 w 6087194"/>
              <a:gd name="connsiteY1" fmla="*/ 0 h 5166360"/>
              <a:gd name="connsiteX2" fmla="*/ 5867656 w 6087194"/>
              <a:gd name="connsiteY2" fmla="*/ 0 h 5166360"/>
              <a:gd name="connsiteX3" fmla="*/ 6087194 w 6087194"/>
              <a:gd name="connsiteY3" fmla="*/ 0 h 5166360"/>
              <a:gd name="connsiteX4" fmla="*/ 3693315 w 6087194"/>
              <a:gd name="connsiteY4" fmla="*/ 5166360 h 5166360"/>
              <a:gd name="connsiteX5" fmla="*/ 3473777 w 6087194"/>
              <a:gd name="connsiteY5" fmla="*/ 5166360 h 5166360"/>
              <a:gd name="connsiteX6" fmla="*/ 155740 w 6087194"/>
              <a:gd name="connsiteY6" fmla="*/ 5166360 h 5166360"/>
              <a:gd name="connsiteX7" fmla="*/ 0 w 6087194"/>
              <a:gd name="connsiteY7" fmla="*/ 5166360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87194" h="5166360">
                <a:moveTo>
                  <a:pt x="0" y="0"/>
                </a:moveTo>
                <a:lnTo>
                  <a:pt x="155740" y="0"/>
                </a:lnTo>
                <a:lnTo>
                  <a:pt x="5867656" y="0"/>
                </a:lnTo>
                <a:lnTo>
                  <a:pt x="6087194" y="0"/>
                </a:lnTo>
                <a:lnTo>
                  <a:pt x="3693315" y="5166360"/>
                </a:lnTo>
                <a:lnTo>
                  <a:pt x="3473777" y="5166360"/>
                </a:lnTo>
                <a:lnTo>
                  <a:pt x="155740" y="5166360"/>
                </a:lnTo>
                <a:lnTo>
                  <a:pt x="0" y="5166360"/>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847C7588-8C18-44D9-8469-ABB9865FE1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726915" y="844868"/>
            <a:ext cx="8465085" cy="5167312"/>
          </a:xfrm>
          <a:custGeom>
            <a:avLst/>
            <a:gdLst>
              <a:gd name="connsiteX0" fmla="*/ 0 w 8465085"/>
              <a:gd name="connsiteY0" fmla="*/ 952 h 5167312"/>
              <a:gd name="connsiteX1" fmla="*/ 1898594 w 8465085"/>
              <a:gd name="connsiteY1" fmla="*/ 952 h 5167312"/>
              <a:gd name="connsiteX2" fmla="*/ 1898594 w 8465085"/>
              <a:gd name="connsiteY2" fmla="*/ 0 h 5167312"/>
              <a:gd name="connsiteX3" fmla="*/ 0 w 8465085"/>
              <a:gd name="connsiteY3" fmla="*/ 0 h 5167312"/>
              <a:gd name="connsiteX4" fmla="*/ 221324 w 8465085"/>
              <a:gd name="connsiteY4" fmla="*/ 5167312 h 5167312"/>
              <a:gd name="connsiteX5" fmla="*/ 7243482 w 8465085"/>
              <a:gd name="connsiteY5" fmla="*/ 5167312 h 5167312"/>
              <a:gd name="connsiteX6" fmla="*/ 8465085 w 8465085"/>
              <a:gd name="connsiteY6" fmla="*/ 5167312 h 5167312"/>
              <a:gd name="connsiteX7" fmla="*/ 8465085 w 8465085"/>
              <a:gd name="connsiteY7" fmla="*/ 0 h 5167312"/>
              <a:gd name="connsiteX8" fmla="*/ 7243482 w 8465085"/>
              <a:gd name="connsiteY8" fmla="*/ 0 h 5167312"/>
              <a:gd name="connsiteX9" fmla="*/ 2610976 w 8465085"/>
              <a:gd name="connsiteY9" fmla="*/ 0 h 5167312"/>
              <a:gd name="connsiteX10" fmla="*/ 2610976 w 8465085"/>
              <a:gd name="connsiteY10" fmla="*/ 952 h 5167312"/>
              <a:gd name="connsiteX11" fmla="*/ 2615203 w 8465085"/>
              <a:gd name="connsiteY11"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5085" h="5167312">
                <a:moveTo>
                  <a:pt x="0" y="952"/>
                </a:moveTo>
                <a:lnTo>
                  <a:pt x="1898594" y="952"/>
                </a:lnTo>
                <a:lnTo>
                  <a:pt x="1898594" y="0"/>
                </a:lnTo>
                <a:lnTo>
                  <a:pt x="0" y="0"/>
                </a:lnTo>
                <a:close/>
                <a:moveTo>
                  <a:pt x="221324" y="5167312"/>
                </a:moveTo>
                <a:lnTo>
                  <a:pt x="7243482" y="5167312"/>
                </a:lnTo>
                <a:lnTo>
                  <a:pt x="8465085" y="5167312"/>
                </a:lnTo>
                <a:lnTo>
                  <a:pt x="8465085" y="0"/>
                </a:lnTo>
                <a:lnTo>
                  <a:pt x="7243482" y="0"/>
                </a:lnTo>
                <a:lnTo>
                  <a:pt x="2610976" y="0"/>
                </a:lnTo>
                <a:lnTo>
                  <a:pt x="2610976" y="952"/>
                </a:lnTo>
                <a:lnTo>
                  <a:pt x="2615203" y="952"/>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673C045-48C3-4A18-BBDD-8BD413277168}"/>
              </a:ext>
            </a:extLst>
          </p:cNvPr>
          <p:cNvSpPr>
            <a:spLocks noGrp="1"/>
          </p:cNvSpPr>
          <p:nvPr>
            <p:ph type="title"/>
          </p:nvPr>
        </p:nvSpPr>
        <p:spPr>
          <a:xfrm>
            <a:off x="838199" y="1841614"/>
            <a:ext cx="3409508" cy="3173819"/>
          </a:xfrm>
        </p:spPr>
        <p:txBody>
          <a:bodyPr>
            <a:normAutofit/>
          </a:bodyPr>
          <a:lstStyle/>
          <a:p>
            <a:r>
              <a:rPr lang="en-US">
                <a:solidFill>
                  <a:schemeClr val="bg1"/>
                </a:solidFill>
              </a:rPr>
              <a:t>Now let’s take a vote, but in secret: </a:t>
            </a:r>
            <a:endParaRPr lang="en-AU">
              <a:solidFill>
                <a:schemeClr val="bg1"/>
              </a:solidFill>
            </a:endParaRPr>
          </a:p>
        </p:txBody>
      </p:sp>
      <p:sp>
        <p:nvSpPr>
          <p:cNvPr id="3" name="Content Placeholder 2">
            <a:extLst>
              <a:ext uri="{FF2B5EF4-FFF2-40B4-BE49-F238E27FC236}">
                <a16:creationId xmlns:a16="http://schemas.microsoft.com/office/drawing/2014/main" id="{7F550D01-12EA-457F-B514-582892FD6CB2}"/>
              </a:ext>
            </a:extLst>
          </p:cNvPr>
          <p:cNvSpPr>
            <a:spLocks noGrp="1"/>
          </p:cNvSpPr>
          <p:nvPr>
            <p:ph idx="1"/>
          </p:nvPr>
        </p:nvSpPr>
        <p:spPr>
          <a:xfrm>
            <a:off x="6096000" y="1137208"/>
            <a:ext cx="5257800" cy="4582632"/>
          </a:xfrm>
        </p:spPr>
        <p:txBody>
          <a:bodyPr anchor="ctr">
            <a:normAutofit/>
          </a:bodyPr>
          <a:lstStyle/>
          <a:p>
            <a:r>
              <a:rPr lang="en-US" sz="2000" dirty="0"/>
              <a:t>After you have read the statement, write YES or NO on your piece of paper. You CANNOT tell anyone your response. </a:t>
            </a:r>
          </a:p>
          <a:p>
            <a:r>
              <a:rPr lang="en-US" sz="2000" dirty="0"/>
              <a:t>We will then count the results and put them on the board. </a:t>
            </a:r>
          </a:p>
          <a:p>
            <a:endParaRPr lang="en-US" sz="2000" dirty="0"/>
          </a:p>
          <a:p>
            <a:pPr marL="0" indent="0">
              <a:buNone/>
            </a:pPr>
            <a:r>
              <a:rPr lang="en-US" sz="2000" b="1" dirty="0"/>
              <a:t>Statements: </a:t>
            </a:r>
          </a:p>
          <a:p>
            <a:pPr marL="0" indent="0">
              <a:buNone/>
            </a:pPr>
            <a:r>
              <a:rPr lang="en-US" sz="2000" dirty="0"/>
              <a:t>-This school is one of the best schools in Western Australia</a:t>
            </a:r>
          </a:p>
          <a:p>
            <a:pPr marL="0" indent="0">
              <a:buNone/>
            </a:pPr>
            <a:r>
              <a:rPr lang="en-US" sz="2000" dirty="0"/>
              <a:t>-Coming to school makes me feel happy</a:t>
            </a:r>
          </a:p>
          <a:p>
            <a:pPr marL="0" indent="0">
              <a:buNone/>
            </a:pPr>
            <a:r>
              <a:rPr lang="en-US" sz="2000" dirty="0"/>
              <a:t>-</a:t>
            </a:r>
          </a:p>
        </p:txBody>
      </p:sp>
    </p:spTree>
    <p:extLst>
      <p:ext uri="{BB962C8B-B14F-4D97-AF65-F5344CB8AC3E}">
        <p14:creationId xmlns:p14="http://schemas.microsoft.com/office/powerpoint/2010/main" val="2136386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1B24-B295-4E21-A12C-717133C00D77}"/>
              </a:ext>
            </a:extLst>
          </p:cNvPr>
          <p:cNvSpPr>
            <a:spLocks noGrp="1"/>
          </p:cNvSpPr>
          <p:nvPr>
            <p:ph type="title"/>
          </p:nvPr>
        </p:nvSpPr>
        <p:spPr/>
        <p:txBody>
          <a:bodyPr/>
          <a:lstStyle/>
          <a:p>
            <a:r>
              <a:rPr lang="en-US" dirty="0"/>
              <a:t>Let’s compare the two types of voting:  </a:t>
            </a:r>
            <a:endParaRPr lang="en-AU" dirty="0"/>
          </a:p>
        </p:txBody>
      </p:sp>
      <p:sp>
        <p:nvSpPr>
          <p:cNvPr id="3" name="Content Placeholder 2">
            <a:extLst>
              <a:ext uri="{FF2B5EF4-FFF2-40B4-BE49-F238E27FC236}">
                <a16:creationId xmlns:a16="http://schemas.microsoft.com/office/drawing/2014/main" id="{7F800F91-99E8-4CC6-B0AD-DCF78B85C205}"/>
              </a:ext>
            </a:extLst>
          </p:cNvPr>
          <p:cNvSpPr>
            <a:spLocks noGrp="1"/>
          </p:cNvSpPr>
          <p:nvPr>
            <p:ph idx="1"/>
          </p:nvPr>
        </p:nvSpPr>
        <p:spPr/>
        <p:txBody>
          <a:bodyPr>
            <a:normAutofit fontScale="92500" lnSpcReduction="20000"/>
          </a:bodyPr>
          <a:lstStyle/>
          <a:p>
            <a:pPr marL="0" indent="0">
              <a:buNone/>
            </a:pPr>
            <a:r>
              <a:rPr lang="en-US" b="1" dirty="0"/>
              <a:t>Open Vote </a:t>
            </a:r>
          </a:p>
          <a:p>
            <a:r>
              <a:rPr lang="en-US" dirty="0"/>
              <a:t>What are some advantages of the open vote? </a:t>
            </a:r>
          </a:p>
          <a:p>
            <a:r>
              <a:rPr lang="en-US" dirty="0"/>
              <a:t>What are some disadvantages of the open vote? </a:t>
            </a:r>
          </a:p>
          <a:p>
            <a:pPr marL="0" indent="0">
              <a:buNone/>
            </a:pPr>
            <a:endParaRPr lang="en-US" dirty="0"/>
          </a:p>
          <a:p>
            <a:pPr marL="0" indent="0">
              <a:buNone/>
            </a:pPr>
            <a:r>
              <a:rPr lang="en-US" b="1" dirty="0"/>
              <a:t>Secret Ballot </a:t>
            </a:r>
          </a:p>
          <a:p>
            <a:r>
              <a:rPr lang="en-US" dirty="0"/>
              <a:t>What are some advantages of the secret ballot?</a:t>
            </a:r>
          </a:p>
          <a:p>
            <a:r>
              <a:rPr lang="en-US" dirty="0"/>
              <a:t>What are some disadvantages of the open ballot? </a:t>
            </a:r>
          </a:p>
          <a:p>
            <a:pPr marL="0" indent="0">
              <a:buNone/>
            </a:pPr>
            <a:endParaRPr lang="en-US" dirty="0"/>
          </a:p>
          <a:p>
            <a:pPr marL="0" indent="0">
              <a:buNone/>
            </a:pPr>
            <a:r>
              <a:rPr lang="en-US" dirty="0"/>
              <a:t>How was voting a more democratic process than the group decision-making at the start of the class? Do you think that it’s practical to ask EVERYONE to take a vote every time a decision needs to be made in Australia? </a:t>
            </a:r>
          </a:p>
        </p:txBody>
      </p:sp>
    </p:spTree>
    <p:extLst>
      <p:ext uri="{BB962C8B-B14F-4D97-AF65-F5344CB8AC3E}">
        <p14:creationId xmlns:p14="http://schemas.microsoft.com/office/powerpoint/2010/main" val="458074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5EF2E7E-9854-442C-887F-A17804D8F31E}"/>
              </a:ext>
            </a:extLst>
          </p:cNvPr>
          <p:cNvSpPr>
            <a:spLocks noGrp="1"/>
          </p:cNvSpPr>
          <p:nvPr>
            <p:ph type="title"/>
          </p:nvPr>
        </p:nvSpPr>
        <p:spPr>
          <a:xfrm>
            <a:off x="524256" y="4767072"/>
            <a:ext cx="6594189" cy="1625210"/>
          </a:xfrm>
        </p:spPr>
        <p:txBody>
          <a:bodyPr>
            <a:normAutofit/>
          </a:bodyPr>
          <a:lstStyle/>
          <a:p>
            <a:pPr algn="r"/>
            <a:r>
              <a:rPr lang="en-US">
                <a:solidFill>
                  <a:srgbClr val="FFFFFF"/>
                </a:solidFill>
              </a:rPr>
              <a:t>Group Activity- Representative Democracy </a:t>
            </a:r>
            <a:endParaRPr lang="en-AU">
              <a:solidFill>
                <a:srgbClr val="FFFFFF"/>
              </a:solidFill>
            </a:endParaRPr>
          </a:p>
        </p:txBody>
      </p:sp>
      <p:pic>
        <p:nvPicPr>
          <p:cNvPr id="4" name="Picture 3">
            <a:extLst>
              <a:ext uri="{FF2B5EF4-FFF2-40B4-BE49-F238E27FC236}">
                <a16:creationId xmlns:a16="http://schemas.microsoft.com/office/drawing/2014/main" id="{43A1E3E9-10F4-4DB4-86A5-154C65045158}"/>
              </a:ext>
            </a:extLst>
          </p:cNvPr>
          <p:cNvPicPr>
            <a:picLocks noChangeAspect="1"/>
          </p:cNvPicPr>
          <p:nvPr/>
        </p:nvPicPr>
        <p:blipFill rotWithShape="1">
          <a:blip r:embed="rId2"/>
          <a:srcRect t="8616" r="1" b="3878"/>
          <a:stretch/>
        </p:blipFill>
        <p:spPr>
          <a:xfrm>
            <a:off x="327547" y="321733"/>
            <a:ext cx="7058306" cy="4107392"/>
          </a:xfrm>
          <a:prstGeom prst="rect">
            <a:avLst/>
          </a:prstGeom>
        </p:spPr>
      </p:pic>
      <p:sp>
        <p:nvSpPr>
          <p:cNvPr id="11" name="Rectangle 10">
            <a:extLst>
              <a:ext uri="{FF2B5EF4-FFF2-40B4-BE49-F238E27FC236}">
                <a16:creationId xmlns:a16="http://schemas.microsoft.com/office/drawing/2014/main" id="{73ED6512-6858-4552-B699-9A97FE9A4EA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5B8F735-0C20-4C5B-B29A-395F1577B42D}"/>
              </a:ext>
            </a:extLst>
          </p:cNvPr>
          <p:cNvSpPr>
            <a:spLocks noGrp="1"/>
          </p:cNvSpPr>
          <p:nvPr>
            <p:ph idx="1"/>
          </p:nvPr>
        </p:nvSpPr>
        <p:spPr>
          <a:xfrm>
            <a:off x="8029319" y="917725"/>
            <a:ext cx="3424739" cy="4852362"/>
          </a:xfrm>
        </p:spPr>
        <p:txBody>
          <a:bodyPr anchor="ctr">
            <a:normAutofit/>
          </a:bodyPr>
          <a:lstStyle/>
          <a:p>
            <a:r>
              <a:rPr lang="en-US" sz="2000" dirty="0">
                <a:solidFill>
                  <a:srgbClr val="FFFFFF"/>
                </a:solidFill>
              </a:rPr>
              <a:t>Groups of 3 or 5 </a:t>
            </a:r>
          </a:p>
          <a:p>
            <a:pPr marL="0" indent="0">
              <a:buNone/>
            </a:pPr>
            <a:endParaRPr lang="en-US" sz="2000" dirty="0">
              <a:solidFill>
                <a:srgbClr val="FFFFFF"/>
              </a:solidFill>
            </a:endParaRPr>
          </a:p>
          <a:p>
            <a:r>
              <a:rPr lang="en-US" sz="2000" dirty="0">
                <a:solidFill>
                  <a:srgbClr val="FFFFFF"/>
                </a:solidFill>
              </a:rPr>
              <a:t>You need to have a discussion (making sure everyone in the group is heard) about the following issues: </a:t>
            </a:r>
          </a:p>
          <a:p>
            <a:pPr lvl="1"/>
            <a:r>
              <a:rPr lang="en-US" sz="2000" dirty="0">
                <a:solidFill>
                  <a:srgbClr val="FFFFFF"/>
                </a:solidFill>
              </a:rPr>
              <a:t>What is more important: </a:t>
            </a:r>
            <a:r>
              <a:rPr lang="en-US" sz="2000" b="1" dirty="0">
                <a:solidFill>
                  <a:srgbClr val="FFFFFF"/>
                </a:solidFill>
              </a:rPr>
              <a:t>hospitals or the police</a:t>
            </a:r>
            <a:r>
              <a:rPr lang="en-US" sz="2000" dirty="0">
                <a:solidFill>
                  <a:srgbClr val="FFFFFF"/>
                </a:solidFill>
              </a:rPr>
              <a:t>? </a:t>
            </a:r>
          </a:p>
          <a:p>
            <a:pPr lvl="1"/>
            <a:r>
              <a:rPr lang="en-US" sz="2000" dirty="0">
                <a:solidFill>
                  <a:srgbClr val="FFFFFF"/>
                </a:solidFill>
              </a:rPr>
              <a:t>What is more important: </a:t>
            </a:r>
            <a:r>
              <a:rPr lang="en-US" sz="2000" b="1" dirty="0" err="1">
                <a:solidFill>
                  <a:srgbClr val="FFFFFF"/>
                </a:solidFill>
              </a:rPr>
              <a:t>Maths</a:t>
            </a:r>
            <a:r>
              <a:rPr lang="en-US" sz="2000" b="1" dirty="0">
                <a:solidFill>
                  <a:srgbClr val="FFFFFF"/>
                </a:solidFill>
              </a:rPr>
              <a:t> or English</a:t>
            </a:r>
            <a:r>
              <a:rPr lang="en-US" sz="2000" dirty="0">
                <a:solidFill>
                  <a:srgbClr val="FFFFFF"/>
                </a:solidFill>
              </a:rPr>
              <a:t>? </a:t>
            </a:r>
          </a:p>
        </p:txBody>
      </p:sp>
    </p:spTree>
    <p:extLst>
      <p:ext uri="{BB962C8B-B14F-4D97-AF65-F5344CB8AC3E}">
        <p14:creationId xmlns:p14="http://schemas.microsoft.com/office/powerpoint/2010/main" val="1200885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5EF2E7E-9854-442C-887F-A17804D8F31E}"/>
              </a:ext>
            </a:extLst>
          </p:cNvPr>
          <p:cNvSpPr>
            <a:spLocks noGrp="1"/>
          </p:cNvSpPr>
          <p:nvPr>
            <p:ph type="title"/>
          </p:nvPr>
        </p:nvSpPr>
        <p:spPr>
          <a:xfrm>
            <a:off x="524256" y="4767072"/>
            <a:ext cx="6594189" cy="1625210"/>
          </a:xfrm>
        </p:spPr>
        <p:txBody>
          <a:bodyPr>
            <a:normAutofit/>
          </a:bodyPr>
          <a:lstStyle/>
          <a:p>
            <a:pPr algn="r"/>
            <a:r>
              <a:rPr lang="en-US">
                <a:solidFill>
                  <a:srgbClr val="FFFFFF"/>
                </a:solidFill>
              </a:rPr>
              <a:t>Group Activity- Representative Democracy </a:t>
            </a:r>
            <a:endParaRPr lang="en-AU">
              <a:solidFill>
                <a:srgbClr val="FFFFFF"/>
              </a:solidFill>
            </a:endParaRPr>
          </a:p>
        </p:txBody>
      </p:sp>
      <p:pic>
        <p:nvPicPr>
          <p:cNvPr id="4" name="Picture 3">
            <a:extLst>
              <a:ext uri="{FF2B5EF4-FFF2-40B4-BE49-F238E27FC236}">
                <a16:creationId xmlns:a16="http://schemas.microsoft.com/office/drawing/2014/main" id="{43A1E3E9-10F4-4DB4-86A5-154C65045158}"/>
              </a:ext>
            </a:extLst>
          </p:cNvPr>
          <p:cNvPicPr>
            <a:picLocks noChangeAspect="1"/>
          </p:cNvPicPr>
          <p:nvPr/>
        </p:nvPicPr>
        <p:blipFill rotWithShape="1">
          <a:blip r:embed="rId2"/>
          <a:srcRect t="8616" r="1" b="3878"/>
          <a:stretch/>
        </p:blipFill>
        <p:spPr>
          <a:xfrm>
            <a:off x="327547" y="321733"/>
            <a:ext cx="7058306" cy="4107392"/>
          </a:xfrm>
          <a:prstGeom prst="rect">
            <a:avLst/>
          </a:prstGeom>
        </p:spPr>
      </p:pic>
      <p:sp>
        <p:nvSpPr>
          <p:cNvPr id="11" name="Rectangle 10">
            <a:extLst>
              <a:ext uri="{FF2B5EF4-FFF2-40B4-BE49-F238E27FC236}">
                <a16:creationId xmlns:a16="http://schemas.microsoft.com/office/drawing/2014/main" id="{73ED6512-6858-4552-B699-9A97FE9A4EA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5B8F735-0C20-4C5B-B29A-395F1577B42D}"/>
              </a:ext>
            </a:extLst>
          </p:cNvPr>
          <p:cNvSpPr>
            <a:spLocks noGrp="1"/>
          </p:cNvSpPr>
          <p:nvPr>
            <p:ph idx="1"/>
          </p:nvPr>
        </p:nvSpPr>
        <p:spPr>
          <a:xfrm>
            <a:off x="8029319" y="917725"/>
            <a:ext cx="3424739" cy="4852362"/>
          </a:xfrm>
        </p:spPr>
        <p:txBody>
          <a:bodyPr anchor="ctr">
            <a:normAutofit/>
          </a:bodyPr>
          <a:lstStyle/>
          <a:p>
            <a:pPr marL="0" indent="0">
              <a:buNone/>
            </a:pPr>
            <a:r>
              <a:rPr lang="en-US" sz="2000" dirty="0">
                <a:solidFill>
                  <a:srgbClr val="FFFFFF"/>
                </a:solidFill>
              </a:rPr>
              <a:t>Select one person to ‘represent’ your group. </a:t>
            </a:r>
          </a:p>
          <a:p>
            <a:pPr marL="0" indent="0">
              <a:buNone/>
            </a:pPr>
            <a:endParaRPr lang="en-US" sz="2000" dirty="0">
              <a:solidFill>
                <a:srgbClr val="FFFFFF"/>
              </a:solidFill>
            </a:endParaRPr>
          </a:p>
          <a:p>
            <a:pPr marL="0" indent="0">
              <a:buNone/>
            </a:pPr>
            <a:r>
              <a:rPr lang="en-US" sz="2000" dirty="0">
                <a:solidFill>
                  <a:srgbClr val="FFFFFF"/>
                </a:solidFill>
              </a:rPr>
              <a:t>Vote on the statements from the previous slide. Record the results on the board. </a:t>
            </a:r>
          </a:p>
          <a:p>
            <a:pPr marL="0" indent="0">
              <a:buNone/>
            </a:pPr>
            <a:endParaRPr lang="en-US" sz="2000" dirty="0">
              <a:solidFill>
                <a:srgbClr val="FFFFFF"/>
              </a:solidFill>
            </a:endParaRPr>
          </a:p>
          <a:p>
            <a:pPr marL="0" indent="0">
              <a:buNone/>
            </a:pPr>
            <a:r>
              <a:rPr lang="en-US" sz="2000" dirty="0">
                <a:solidFill>
                  <a:srgbClr val="FFFFFF"/>
                </a:solidFill>
              </a:rPr>
              <a:t>Was this a fair process? How well did the representatives represent their group’s feelings? </a:t>
            </a:r>
          </a:p>
        </p:txBody>
      </p:sp>
    </p:spTree>
    <p:extLst>
      <p:ext uri="{BB962C8B-B14F-4D97-AF65-F5344CB8AC3E}">
        <p14:creationId xmlns:p14="http://schemas.microsoft.com/office/powerpoint/2010/main" val="2910214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01CC55D-ED54-4C5C-95E6-10947BD1103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anchor="ctr">
            <a:normAutofit/>
          </a:bodyPr>
          <a:lstStyle/>
          <a:p>
            <a:r>
              <a:rPr lang="en-AU" sz="3100" b="1"/>
              <a:t>Direct Democracy vs Representative Democracy</a:t>
            </a:r>
          </a:p>
        </p:txBody>
      </p:sp>
      <p:grpSp>
        <p:nvGrpSpPr>
          <p:cNvPr id="73" name="Group 72">
            <a:extLst>
              <a:ext uri="{FF2B5EF4-FFF2-40B4-BE49-F238E27FC236}">
                <a16:creationId xmlns:a16="http://schemas.microsoft.com/office/drawing/2014/main" id="{1DE889C7-FAD6-4397-98E2-05D503484459}"/>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4" name="Rectangle 73">
              <a:extLst>
                <a:ext uri="{FF2B5EF4-FFF2-40B4-BE49-F238E27FC236}">
                  <a16:creationId xmlns:a16="http://schemas.microsoft.com/office/drawing/2014/main" id="{F399A70F-F8CD-4992-9EF5-6CF15472E73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48F4FEDC-6D80-458C-A665-075D9B9500F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a:extLst>
              <a:ext uri="{FF2B5EF4-FFF2-40B4-BE49-F238E27FC236}">
                <a16:creationId xmlns:a16="http://schemas.microsoft.com/office/drawing/2014/main" id="{3873B707-463F-40B0-8227-E8CC6C67EB2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590719" y="2330505"/>
            <a:ext cx="4559425" cy="3979585"/>
          </a:xfrm>
        </p:spPr>
        <p:txBody>
          <a:bodyPr anchor="ctr">
            <a:normAutofit/>
          </a:bodyPr>
          <a:lstStyle/>
          <a:p>
            <a:pPr marL="571500" indent="-342900">
              <a:buFont typeface="Arial" panose="020B0604020202020204" pitchFamily="34" charset="0"/>
              <a:buChar char="•"/>
            </a:pPr>
            <a:r>
              <a:rPr lang="en-AU" sz="1900" b="1" u="sng"/>
              <a:t>Direct democracy</a:t>
            </a:r>
            <a:r>
              <a:rPr lang="en-AU" sz="1900" b="1"/>
              <a:t>: </a:t>
            </a:r>
          </a:p>
          <a:p>
            <a:pPr marL="1028700" lvl="1">
              <a:buFont typeface="Arial" panose="020B0604020202020204" pitchFamily="34" charset="0"/>
              <a:buChar char="•"/>
            </a:pPr>
            <a:r>
              <a:rPr lang="en-AU" sz="1900"/>
              <a:t>In Ancient Greece, every citizen could vote on rules and laws because the population was so small. </a:t>
            </a:r>
          </a:p>
          <a:p>
            <a:pPr marL="571500">
              <a:buFont typeface="Arial" panose="020B0604020202020204" pitchFamily="34" charset="0"/>
              <a:buChar char="•"/>
            </a:pPr>
            <a:r>
              <a:rPr lang="en-AU" sz="1900" b="1" u="sng"/>
              <a:t>Representative democracy:</a:t>
            </a:r>
          </a:p>
          <a:p>
            <a:pPr marL="1028700" lvl="1">
              <a:buFont typeface="Arial" panose="020B0604020202020204" pitchFamily="34" charset="0"/>
              <a:buChar char="•"/>
            </a:pPr>
            <a:r>
              <a:rPr lang="en-AU" sz="1900"/>
              <a:t>In modern countries, the population is too big for this to happen. We elect representatives to express our political views. </a:t>
            </a:r>
          </a:p>
          <a:p>
            <a:pPr marL="1028700" lvl="1">
              <a:buFont typeface="Arial" panose="020B0604020202020204" pitchFamily="34" charset="0"/>
              <a:buChar char="•"/>
            </a:pPr>
            <a:r>
              <a:rPr lang="en-AU" sz="1900"/>
              <a:t>These representatives go to parliament where they discuss and vote on key issues of the day</a:t>
            </a:r>
          </a:p>
          <a:p>
            <a:pPr marL="1028700" lvl="1">
              <a:buFont typeface="Arial" panose="020B0604020202020204" pitchFamily="34" charset="0"/>
              <a:buChar char="•"/>
            </a:pPr>
            <a:endParaRPr lang="en-AU" sz="1900"/>
          </a:p>
          <a:p>
            <a:pPr marL="685800" lvl="1" indent="0">
              <a:buNone/>
            </a:pPr>
            <a:endParaRPr lang="en-AU" sz="1900"/>
          </a:p>
        </p:txBody>
      </p:sp>
      <p:sp>
        <p:nvSpPr>
          <p:cNvPr id="79" name="Rectangle 78">
            <a:extLst>
              <a:ext uri="{FF2B5EF4-FFF2-40B4-BE49-F238E27FC236}">
                <a16:creationId xmlns:a16="http://schemas.microsoft.com/office/drawing/2014/main" id="{C13237C8-E62C-4F0D-A318-BD6FB6C2D1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9C9EAEA-39D0-4B0E-A0EB-51E7B26740B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2572" b="-1"/>
          <a:stretch/>
        </p:blipFill>
        <p:spPr bwMode="auto">
          <a:xfrm>
            <a:off x="5977788" y="799352"/>
            <a:ext cx="5425410" cy="525929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6509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01809-7A5B-4007-97B8-351C2BE8BB7C}"/>
              </a:ext>
            </a:extLst>
          </p:cNvPr>
          <p:cNvSpPr>
            <a:spLocks noGrp="1"/>
          </p:cNvSpPr>
          <p:nvPr>
            <p:ph type="title"/>
          </p:nvPr>
        </p:nvSpPr>
        <p:spPr>
          <a:xfrm>
            <a:off x="589560" y="856180"/>
            <a:ext cx="4560584" cy="1128068"/>
          </a:xfrm>
        </p:spPr>
        <p:txBody>
          <a:bodyPr anchor="ctr">
            <a:normAutofit/>
          </a:bodyPr>
          <a:lstStyle/>
          <a:p>
            <a:r>
              <a:rPr lang="en-US" sz="3700"/>
              <a:t>School Camp– Revisited </a:t>
            </a:r>
            <a:endParaRPr lang="en-AU" sz="3700"/>
          </a:p>
        </p:txBody>
      </p:sp>
      <p:grpSp>
        <p:nvGrpSpPr>
          <p:cNvPr id="11" name="Group 10">
            <a:extLst>
              <a:ext uri="{FF2B5EF4-FFF2-40B4-BE49-F238E27FC236}">
                <a16:creationId xmlns:a16="http://schemas.microsoft.com/office/drawing/2014/main" id="{1DE889C7-FAD6-4397-98E2-05D503484459}"/>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27F0332-DC7F-4357-BD07-638AB90D93C1}"/>
              </a:ext>
            </a:extLst>
          </p:cNvPr>
          <p:cNvSpPr>
            <a:spLocks noGrp="1"/>
          </p:cNvSpPr>
          <p:nvPr>
            <p:ph idx="1"/>
          </p:nvPr>
        </p:nvSpPr>
        <p:spPr>
          <a:xfrm>
            <a:off x="590719" y="2330505"/>
            <a:ext cx="4559425" cy="3979585"/>
          </a:xfrm>
        </p:spPr>
        <p:txBody>
          <a:bodyPr anchor="ctr">
            <a:normAutofit/>
          </a:bodyPr>
          <a:lstStyle/>
          <a:p>
            <a:r>
              <a:rPr lang="en-US" sz="2000" dirty="0"/>
              <a:t>How could you make your group decision making process from the beginning of the lesson more democratic? </a:t>
            </a:r>
          </a:p>
          <a:p>
            <a:endParaRPr lang="en-US" sz="2000" dirty="0"/>
          </a:p>
          <a:p>
            <a:pPr marL="0" indent="0">
              <a:buNone/>
            </a:pPr>
            <a:r>
              <a:rPr lang="en-US" sz="2000" dirty="0"/>
              <a:t>-Group discussion, everyone gets a turn </a:t>
            </a:r>
          </a:p>
          <a:p>
            <a:pPr marL="0" indent="0">
              <a:buNone/>
            </a:pPr>
            <a:r>
              <a:rPr lang="en-US" sz="2000" dirty="0"/>
              <a:t>-You may do an open or closed ballot vote (direct democracy) </a:t>
            </a:r>
          </a:p>
          <a:p>
            <a:pPr marL="0" indent="0">
              <a:buNone/>
            </a:pPr>
            <a:r>
              <a:rPr lang="en-US" sz="2000" dirty="0"/>
              <a:t>-You may elect a representative </a:t>
            </a:r>
            <a:endParaRPr lang="en-AU" sz="2000" dirty="0"/>
          </a:p>
        </p:txBody>
      </p:sp>
      <p:sp>
        <p:nvSpPr>
          <p:cNvPr id="17" name="Rectangle 16">
            <a:extLst>
              <a:ext uri="{FF2B5EF4-FFF2-40B4-BE49-F238E27FC236}">
                <a16:creationId xmlns:a16="http://schemas.microsoft.com/office/drawing/2014/main" id="{C13237C8-E62C-4F0D-A318-BD6FB6C2D1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7910EF3-698B-4DE0-A230-2C1AE107B4BC}"/>
              </a:ext>
            </a:extLst>
          </p:cNvPr>
          <p:cNvPicPr>
            <a:picLocks noChangeAspect="1"/>
          </p:cNvPicPr>
          <p:nvPr/>
        </p:nvPicPr>
        <p:blipFill rotWithShape="1">
          <a:blip r:embed="rId2"/>
          <a:srcRect l="194" r="1" b="1"/>
          <a:stretch/>
        </p:blipFill>
        <p:spPr>
          <a:xfrm>
            <a:off x="5977788" y="799352"/>
            <a:ext cx="5425410" cy="5259296"/>
          </a:xfrm>
          <a:prstGeom prst="rect">
            <a:avLst/>
          </a:prstGeom>
        </p:spPr>
      </p:pic>
    </p:spTree>
    <p:extLst>
      <p:ext uri="{BB962C8B-B14F-4D97-AF65-F5344CB8AC3E}">
        <p14:creationId xmlns:p14="http://schemas.microsoft.com/office/powerpoint/2010/main" val="3578171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Democracy – Key Features </a:t>
            </a:r>
          </a:p>
        </p:txBody>
      </p:sp>
      <p:sp>
        <p:nvSpPr>
          <p:cNvPr id="3" name="Content Placeholder 2"/>
          <p:cNvSpPr>
            <a:spLocks noGrp="1"/>
          </p:cNvSpPr>
          <p:nvPr>
            <p:ph idx="1"/>
          </p:nvPr>
        </p:nvSpPr>
        <p:spPr>
          <a:solidFill>
            <a:schemeClr val="accent1">
              <a:lumMod val="60000"/>
              <a:lumOff val="40000"/>
            </a:schemeClr>
          </a:solidFill>
          <a:ln>
            <a:solidFill>
              <a:srgbClr val="002060"/>
            </a:solidFill>
          </a:ln>
        </p:spPr>
        <p:txBody>
          <a:bodyPr>
            <a:normAutofit fontScale="92500" lnSpcReduction="20000"/>
          </a:bodyPr>
          <a:lstStyle/>
          <a:p>
            <a:pPr marL="0" indent="0">
              <a:buNone/>
            </a:pPr>
            <a:r>
              <a:rPr lang="en-AU" sz="3200" b="1" dirty="0"/>
              <a:t>Democracy </a:t>
            </a:r>
          </a:p>
          <a:p>
            <a:r>
              <a:rPr lang="en-AU" sz="3200" dirty="0"/>
              <a:t>Although there are many different types of democracies, the main features of a democracy include the following:</a:t>
            </a:r>
          </a:p>
          <a:p>
            <a:pPr>
              <a:buFont typeface="Calibri" panose="020F0502020204030204" pitchFamily="34" charset="0"/>
              <a:buChar char="*"/>
            </a:pPr>
            <a:r>
              <a:rPr lang="en-AU" sz="3200" dirty="0"/>
              <a:t>Free and fair elections. Each person who votes has the same power as any other.</a:t>
            </a:r>
          </a:p>
          <a:p>
            <a:pPr>
              <a:buFont typeface="Calibri" panose="020F0502020204030204" pitchFamily="34" charset="0"/>
              <a:buChar char="*"/>
            </a:pPr>
            <a:r>
              <a:rPr lang="en-AU" sz="3200" dirty="0"/>
              <a:t>Votes conducted by secret ballot.  </a:t>
            </a:r>
          </a:p>
          <a:p>
            <a:pPr>
              <a:buFont typeface="Calibri" panose="020F0502020204030204" pitchFamily="34" charset="0"/>
              <a:buChar char="*"/>
            </a:pPr>
            <a:r>
              <a:rPr lang="en-AU" sz="3200" dirty="0"/>
              <a:t>Decisions approved by a majority vote before they are put into place, though minority has the right to express their opinion.  </a:t>
            </a:r>
          </a:p>
          <a:p>
            <a:pPr>
              <a:buFont typeface="Calibri" panose="020F0502020204030204" pitchFamily="34" charset="0"/>
              <a:buChar char="*"/>
            </a:pPr>
            <a:r>
              <a:rPr lang="en-AU" sz="3200" dirty="0"/>
              <a:t>Many political parties to represent the varied interests and difference of opinion. </a:t>
            </a:r>
          </a:p>
          <a:p>
            <a:endParaRPr lang="en-AU" sz="3200" dirty="0">
              <a:solidFill>
                <a:schemeClr val="accent2">
                  <a:lumMod val="75000"/>
                </a:schemeClr>
              </a:solidFill>
            </a:endParaRPr>
          </a:p>
        </p:txBody>
      </p:sp>
      <p:sp>
        <p:nvSpPr>
          <p:cNvPr id="4" name="Date Placeholder 3"/>
          <p:cNvSpPr>
            <a:spLocks noGrp="1"/>
          </p:cNvSpPr>
          <p:nvPr>
            <p:ph type="dt" sz="half" idx="10"/>
          </p:nvPr>
        </p:nvSpPr>
        <p:spPr/>
        <p:txBody>
          <a:bodyPr/>
          <a:lstStyle/>
          <a:p>
            <a:fld id="{02BB05E8-148C-4C1E-BF1A-03B297E388C9}" type="datetime1">
              <a:rPr lang="en-AU" smtClean="0"/>
              <a:t>29/04/2020</a:t>
            </a:fld>
            <a:endParaRPr lang="en-US"/>
          </a:p>
        </p:txBody>
      </p:sp>
    </p:spTree>
    <p:extLst>
      <p:ext uri="{BB962C8B-B14F-4D97-AF65-F5344CB8AC3E}">
        <p14:creationId xmlns:p14="http://schemas.microsoft.com/office/powerpoint/2010/main" val="1308028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59672-A3A3-4806-8BA6-3C2AC9E2EE92}"/>
              </a:ext>
            </a:extLst>
          </p:cNvPr>
          <p:cNvSpPr>
            <a:spLocks noGrp="1"/>
          </p:cNvSpPr>
          <p:nvPr>
            <p:ph type="title"/>
          </p:nvPr>
        </p:nvSpPr>
        <p:spPr/>
        <p:txBody>
          <a:bodyPr/>
          <a:lstStyle/>
          <a:p>
            <a:r>
              <a:rPr lang="en-US" dirty="0"/>
              <a:t>Today’s lesson- reflection</a:t>
            </a:r>
            <a:endParaRPr lang="en-AU" dirty="0"/>
          </a:p>
        </p:txBody>
      </p:sp>
      <p:sp>
        <p:nvSpPr>
          <p:cNvPr id="3" name="Content Placeholder 2">
            <a:extLst>
              <a:ext uri="{FF2B5EF4-FFF2-40B4-BE49-F238E27FC236}">
                <a16:creationId xmlns:a16="http://schemas.microsoft.com/office/drawing/2014/main" id="{60E43BB8-4D66-4006-B99E-0D2524D17D26}"/>
              </a:ext>
            </a:extLst>
          </p:cNvPr>
          <p:cNvSpPr>
            <a:spLocks noGrp="1"/>
          </p:cNvSpPr>
          <p:nvPr>
            <p:ph idx="1"/>
          </p:nvPr>
        </p:nvSpPr>
        <p:spPr/>
        <p:txBody>
          <a:bodyPr/>
          <a:lstStyle/>
          <a:p>
            <a:r>
              <a:rPr lang="en-US" dirty="0"/>
              <a:t> What did you learn about group decision making today? </a:t>
            </a:r>
          </a:p>
          <a:p>
            <a:r>
              <a:rPr lang="en-US" dirty="0"/>
              <a:t> What did you learn about ‘democracy’ today? </a:t>
            </a:r>
          </a:p>
          <a:p>
            <a:r>
              <a:rPr lang="en-US" dirty="0"/>
              <a:t> What does ‘voting’ mean? What does ‘Representative government’ mean? What are some of the advantages of these processes?</a:t>
            </a:r>
            <a:endParaRPr lang="en-AU" dirty="0"/>
          </a:p>
        </p:txBody>
      </p:sp>
    </p:spTree>
    <p:extLst>
      <p:ext uri="{BB962C8B-B14F-4D97-AF65-F5344CB8AC3E}">
        <p14:creationId xmlns:p14="http://schemas.microsoft.com/office/powerpoint/2010/main" val="2616096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4820" y="850933"/>
            <a:ext cx="8965163" cy="5693866"/>
          </a:xfrm>
          <a:prstGeom prst="rect">
            <a:avLst/>
          </a:prstGeom>
          <a:noFill/>
        </p:spPr>
        <p:txBody>
          <a:bodyPr wrap="square" rtlCol="0">
            <a:spAutoFit/>
          </a:bodyPr>
          <a:lstStyle/>
          <a:p>
            <a:r>
              <a:rPr lang="en-US" sz="2800" u="sng" dirty="0"/>
              <a:t>Comprehension: </a:t>
            </a:r>
            <a:endParaRPr lang="en-AU" sz="2800" u="sng" dirty="0"/>
          </a:p>
          <a:p>
            <a:pPr marL="342900" indent="-342900">
              <a:buAutoNum type="arabicPeriod"/>
            </a:pPr>
            <a:r>
              <a:rPr lang="en-AU" sz="2800" dirty="0"/>
              <a:t>In your own words, what is democracy? Add this to your word-wall or glossary. </a:t>
            </a:r>
          </a:p>
          <a:p>
            <a:pPr marL="342900" indent="-342900">
              <a:buAutoNum type="arabicPeriod"/>
            </a:pPr>
            <a:r>
              <a:rPr lang="en-AU" sz="2800" dirty="0"/>
              <a:t>The word ‘democracy’ comes from which two words?</a:t>
            </a:r>
          </a:p>
          <a:p>
            <a:pPr marL="342900" indent="-342900">
              <a:buAutoNum type="arabicPeriod"/>
            </a:pPr>
            <a:r>
              <a:rPr lang="en-AU" sz="2800" dirty="0"/>
              <a:t>What do the representatives in parliament do? </a:t>
            </a:r>
          </a:p>
          <a:p>
            <a:pPr marL="342900" indent="-342900">
              <a:buAutoNum type="arabicPeriod"/>
            </a:pPr>
            <a:r>
              <a:rPr lang="en-AU" sz="2800" dirty="0"/>
              <a:t> In Australia, we have something called a _______ democracy. </a:t>
            </a:r>
          </a:p>
          <a:p>
            <a:r>
              <a:rPr lang="en-US" sz="2800" u="sng" dirty="0"/>
              <a:t>T</a:t>
            </a:r>
            <a:r>
              <a:rPr lang="en-AU" sz="2800" u="sng" dirty="0" err="1"/>
              <a:t>hinking</a:t>
            </a:r>
            <a:r>
              <a:rPr lang="en-AU" sz="2800" u="sng" dirty="0"/>
              <a:t> questions: </a:t>
            </a:r>
          </a:p>
          <a:p>
            <a:pPr marL="342900" indent="-342900">
              <a:buAutoNum type="arabicPeriod"/>
            </a:pPr>
            <a:r>
              <a:rPr lang="en-AU" sz="2800" dirty="0"/>
              <a:t>How is our current system of democracy different from the one in Ancient Greece?</a:t>
            </a:r>
          </a:p>
          <a:p>
            <a:pPr marL="342900" indent="-342900">
              <a:buAutoNum type="arabicPeriod"/>
            </a:pPr>
            <a:r>
              <a:rPr lang="en-AU" sz="2800" dirty="0"/>
              <a:t>What are some other forms of government? </a:t>
            </a:r>
          </a:p>
          <a:p>
            <a:pPr marL="342900" indent="-342900">
              <a:buAutoNum type="arabicPeriod"/>
            </a:pPr>
            <a:r>
              <a:rPr lang="en-US" sz="2800" dirty="0"/>
              <a:t>W</a:t>
            </a:r>
            <a:r>
              <a:rPr lang="en-AU" sz="2800" dirty="0" err="1"/>
              <a:t>hy</a:t>
            </a:r>
            <a:r>
              <a:rPr lang="en-AU" sz="2800" dirty="0"/>
              <a:t> is it important for citizens to participate in a democracy? </a:t>
            </a:r>
          </a:p>
        </p:txBody>
      </p:sp>
      <p:sp>
        <p:nvSpPr>
          <p:cNvPr id="4" name="Title 3">
            <a:extLst>
              <a:ext uri="{FF2B5EF4-FFF2-40B4-BE49-F238E27FC236}">
                <a16:creationId xmlns:a16="http://schemas.microsoft.com/office/drawing/2014/main" id="{684C6A25-3C09-48C8-992A-DBE1E4A004F4}"/>
              </a:ext>
            </a:extLst>
          </p:cNvPr>
          <p:cNvSpPr>
            <a:spLocks noGrp="1"/>
          </p:cNvSpPr>
          <p:nvPr>
            <p:ph type="title"/>
          </p:nvPr>
        </p:nvSpPr>
        <p:spPr>
          <a:xfrm>
            <a:off x="464976" y="-8100"/>
            <a:ext cx="10515600" cy="1325563"/>
          </a:xfrm>
        </p:spPr>
        <p:txBody>
          <a:bodyPr/>
          <a:lstStyle/>
          <a:p>
            <a:r>
              <a:rPr lang="en-US" b="1" dirty="0"/>
              <a:t>Questions</a:t>
            </a:r>
            <a:r>
              <a:rPr lang="en-US" dirty="0"/>
              <a:t> </a:t>
            </a:r>
            <a:endParaRPr lang="en-AU" dirty="0"/>
          </a:p>
        </p:txBody>
      </p:sp>
      <p:pic>
        <p:nvPicPr>
          <p:cNvPr id="6" name="Picture 5">
            <a:extLst>
              <a:ext uri="{FF2B5EF4-FFF2-40B4-BE49-F238E27FC236}">
                <a16:creationId xmlns:a16="http://schemas.microsoft.com/office/drawing/2014/main" id="{5FE13733-75D8-4969-B32D-7B437934EF8C}"/>
              </a:ext>
            </a:extLst>
          </p:cNvPr>
          <p:cNvPicPr>
            <a:picLocks noChangeAspect="1"/>
          </p:cNvPicPr>
          <p:nvPr/>
        </p:nvPicPr>
        <p:blipFill>
          <a:blip r:embed="rId2"/>
          <a:stretch>
            <a:fillRect/>
          </a:stretch>
        </p:blipFill>
        <p:spPr>
          <a:xfrm>
            <a:off x="9199983" y="1672026"/>
            <a:ext cx="2898082" cy="3756773"/>
          </a:xfrm>
          <a:prstGeom prst="rect">
            <a:avLst/>
          </a:prstGeom>
        </p:spPr>
      </p:pic>
    </p:spTree>
    <p:extLst>
      <p:ext uri="{BB962C8B-B14F-4D97-AF65-F5344CB8AC3E}">
        <p14:creationId xmlns:p14="http://schemas.microsoft.com/office/powerpoint/2010/main" val="505040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9901" y="508519"/>
            <a:ext cx="8229600" cy="4525963"/>
          </a:xfrm>
        </p:spPr>
        <p:txBody>
          <a:bodyPr/>
          <a:lstStyle/>
          <a:p>
            <a:pPr marL="0" indent="0">
              <a:buNone/>
            </a:pPr>
            <a:r>
              <a:rPr lang="en-AU" dirty="0"/>
              <a:t>Using the information from the previous slides complete the Star Diagram – Features of a Democracy </a:t>
            </a:r>
          </a:p>
          <a:p>
            <a:pPr marL="0" indent="0">
              <a:buNone/>
            </a:pPr>
            <a:endParaRPr lang="en-AU" dirty="0"/>
          </a:p>
          <a:p>
            <a:pPr marL="0" indent="0">
              <a:buNone/>
            </a:pPr>
            <a:endParaRPr lang="en-AU" dirty="0"/>
          </a:p>
          <a:p>
            <a:pPr marL="0" indent="0">
              <a:buNone/>
            </a:pPr>
            <a:endParaRPr lang="en-AU" dirty="0"/>
          </a:p>
          <a:p>
            <a:pPr marL="0" indent="0">
              <a:buNone/>
            </a:pPr>
            <a:endParaRPr lang="en-AU" dirty="0"/>
          </a:p>
          <a:p>
            <a:pPr marL="0" indent="0">
              <a:buNone/>
            </a:pPr>
            <a:endParaRPr lang="en-AU" dirty="0"/>
          </a:p>
        </p:txBody>
      </p:sp>
      <p:sp>
        <p:nvSpPr>
          <p:cNvPr id="4" name="Date Placeholder 3"/>
          <p:cNvSpPr>
            <a:spLocks noGrp="1"/>
          </p:cNvSpPr>
          <p:nvPr>
            <p:ph type="dt" sz="half" idx="10"/>
          </p:nvPr>
        </p:nvSpPr>
        <p:spPr/>
        <p:txBody>
          <a:bodyPr/>
          <a:lstStyle/>
          <a:p>
            <a:fld id="{02BB05E8-148C-4C1E-BF1A-03B297E388C9}" type="datetime1">
              <a:rPr lang="en-AU" smtClean="0"/>
              <a:t>29/04/2020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129" y="1524065"/>
            <a:ext cx="8363144" cy="4692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8895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TotalTime>
  <Words>1382</Words>
  <Application>Microsoft Office PowerPoint</Application>
  <PresentationFormat>Widescreen</PresentationFormat>
  <Paragraphs>118</Paragraphs>
  <Slides>18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Democracy</vt:lpstr>
      <vt:lpstr>Lesson Aims</vt:lpstr>
      <vt:lpstr>Group Activity – groups of 6-8</vt:lpstr>
      <vt:lpstr>Fairness</vt:lpstr>
      <vt:lpstr>Key Concept: Democracy </vt:lpstr>
      <vt:lpstr>Where does Democracy come from?</vt:lpstr>
      <vt:lpstr>Voting </vt:lpstr>
      <vt:lpstr>Let’s take a vote: </vt:lpstr>
      <vt:lpstr>Now let’s take a vote, but in secret: </vt:lpstr>
      <vt:lpstr>Let’s compare the two types of voting:  </vt:lpstr>
      <vt:lpstr>Group Activity- Representative Democracy </vt:lpstr>
      <vt:lpstr>Group Activity- Representative Democracy </vt:lpstr>
      <vt:lpstr>Direct Democracy vs Representative Democracy</vt:lpstr>
      <vt:lpstr>School Camp– Revisited </vt:lpstr>
      <vt:lpstr>Democracy – Key Features </vt:lpstr>
      <vt:lpstr>Today’s lesson- reflection</vt:lpstr>
      <vt:lpstr>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Democracy</dc:title>
  <dc:creator>FAZIOLI Carly [Hedland Senior High School]</dc:creator>
  <cp:lastModifiedBy>FAZIOLI Carly [Hedland Senior High School]</cp:lastModifiedBy>
  <cp:revision>10</cp:revision>
  <dcterms:created xsi:type="dcterms:W3CDTF">2020-04-28T02:09:14Z</dcterms:created>
  <dcterms:modified xsi:type="dcterms:W3CDTF">2020-04-29T08:05:24Z</dcterms:modified>
</cp:coreProperties>
</file>
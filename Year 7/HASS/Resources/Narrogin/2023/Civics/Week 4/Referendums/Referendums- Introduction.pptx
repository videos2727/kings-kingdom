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64" r:id="rId5"/>
    <p:sldId id="268" r:id="rId6"/>
    <p:sldId id="259" r:id="rId7"/>
    <p:sldId id="263" r:id="rId8"/>
    <p:sldId id="261" r:id="rId9"/>
    <p:sldId id="265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2" y="6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7ED1B2-ABC1-4448-806E-409E308C581B}" type="doc">
      <dgm:prSet loTypeId="urn:microsoft.com/office/officeart/2005/8/layout/hProcess9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AU"/>
        </a:p>
      </dgm:t>
    </dgm:pt>
    <dgm:pt modelId="{76E97005-9D36-44F0-8796-1338B2645CE7}">
      <dgm:prSet phldrT="[Text]" custT="1"/>
      <dgm:spPr/>
      <dgm:t>
        <a:bodyPr/>
        <a:lstStyle/>
        <a:p>
          <a:r>
            <a:rPr lang="en-US" sz="1400" dirty="0"/>
            <a:t>2. Members of the HOR and Senate form committees- either yes or no. </a:t>
          </a:r>
          <a:endParaRPr lang="en-AU" sz="1400" dirty="0"/>
        </a:p>
      </dgm:t>
    </dgm:pt>
    <dgm:pt modelId="{042FC67A-FA39-488C-B75B-0678A1262DF3}" type="parTrans" cxnId="{3E626F3C-F68D-469B-859F-80F7470748CA}">
      <dgm:prSet/>
      <dgm:spPr/>
      <dgm:t>
        <a:bodyPr/>
        <a:lstStyle/>
        <a:p>
          <a:endParaRPr lang="en-AU" sz="1400"/>
        </a:p>
      </dgm:t>
    </dgm:pt>
    <dgm:pt modelId="{9AB3E3AA-0542-4C50-BB65-D1C02044450F}" type="sibTrans" cxnId="{3E626F3C-F68D-469B-859F-80F7470748CA}">
      <dgm:prSet/>
      <dgm:spPr/>
      <dgm:t>
        <a:bodyPr/>
        <a:lstStyle/>
        <a:p>
          <a:endParaRPr lang="en-AU" sz="1400"/>
        </a:p>
      </dgm:t>
    </dgm:pt>
    <dgm:pt modelId="{AA1187B6-CAAF-4956-9BB0-A72A0DCD5791}">
      <dgm:prSet phldrT="[Text]" custT="1"/>
      <dgm:spPr/>
      <dgm:t>
        <a:bodyPr/>
        <a:lstStyle/>
        <a:p>
          <a:r>
            <a:rPr lang="en-US" sz="1400" dirty="0"/>
            <a:t>3. The Governor General issues a ‘writ’, a formal written order, to set the dates for the referendum (on a Saturday). </a:t>
          </a:r>
          <a:endParaRPr lang="en-AU" sz="1400" dirty="0"/>
        </a:p>
      </dgm:t>
    </dgm:pt>
    <dgm:pt modelId="{A4A4B2E7-D97A-425B-9461-52DEBA4B4729}" type="parTrans" cxnId="{1E879284-3439-4340-A7C8-3CB4AD8F8582}">
      <dgm:prSet/>
      <dgm:spPr/>
      <dgm:t>
        <a:bodyPr/>
        <a:lstStyle/>
        <a:p>
          <a:endParaRPr lang="en-AU" sz="1400"/>
        </a:p>
      </dgm:t>
    </dgm:pt>
    <dgm:pt modelId="{3ADCF098-3704-4F0E-90DE-A90FEF24C672}" type="sibTrans" cxnId="{1E879284-3439-4340-A7C8-3CB4AD8F8582}">
      <dgm:prSet/>
      <dgm:spPr/>
      <dgm:t>
        <a:bodyPr/>
        <a:lstStyle/>
        <a:p>
          <a:endParaRPr lang="en-AU" sz="1400"/>
        </a:p>
      </dgm:t>
    </dgm:pt>
    <dgm:pt modelId="{F9D4C1D4-0CBD-4911-9AC5-A3E257C2931F}">
      <dgm:prSet phldrT="[Text]" custT="1"/>
      <dgm:spPr/>
      <dgm:t>
        <a:bodyPr/>
        <a:lstStyle/>
        <a:p>
          <a:r>
            <a:rPr lang="en-US" sz="1400" dirty="0"/>
            <a:t>4. Case committees prepare a case for voting ‘yes’ or ‘no’. They send out a formal statement to every voter in Australia. </a:t>
          </a:r>
          <a:endParaRPr lang="en-AU" sz="1400" dirty="0"/>
        </a:p>
      </dgm:t>
    </dgm:pt>
    <dgm:pt modelId="{2374CB9A-0287-4EEE-998B-659DC738FFCD}" type="parTrans" cxnId="{5049ABAC-14BF-4D42-8261-443C55D4615B}">
      <dgm:prSet/>
      <dgm:spPr/>
      <dgm:t>
        <a:bodyPr/>
        <a:lstStyle/>
        <a:p>
          <a:endParaRPr lang="en-AU" sz="1400"/>
        </a:p>
      </dgm:t>
    </dgm:pt>
    <dgm:pt modelId="{38070675-408A-4F04-82A4-48ED4E3AE90C}" type="sibTrans" cxnId="{5049ABAC-14BF-4D42-8261-443C55D4615B}">
      <dgm:prSet/>
      <dgm:spPr/>
      <dgm:t>
        <a:bodyPr/>
        <a:lstStyle/>
        <a:p>
          <a:endParaRPr lang="en-AU" sz="1400"/>
        </a:p>
      </dgm:t>
    </dgm:pt>
    <dgm:pt modelId="{2B73C839-F284-4CC3-A935-2D79B9EF21FA}">
      <dgm:prSet custT="1"/>
      <dgm:spPr/>
      <dgm:t>
        <a:bodyPr/>
        <a:lstStyle/>
        <a:p>
          <a:r>
            <a:rPr lang="en-AU" sz="1400" dirty="0"/>
            <a:t>1. A </a:t>
          </a:r>
          <a:r>
            <a:rPr lang="en-AU" sz="1400" b="1" dirty="0"/>
            <a:t>bill </a:t>
          </a:r>
          <a:r>
            <a:rPr lang="en-AU" sz="1400" dirty="0"/>
            <a:t>must be passed by BOTH houses of Federal Parliament</a:t>
          </a:r>
        </a:p>
      </dgm:t>
    </dgm:pt>
    <dgm:pt modelId="{61112508-AF39-4C70-B924-F893FC9082D5}" type="parTrans" cxnId="{47A59336-8BCE-4948-AA29-4D35DA8BAF81}">
      <dgm:prSet/>
      <dgm:spPr/>
      <dgm:t>
        <a:bodyPr/>
        <a:lstStyle/>
        <a:p>
          <a:endParaRPr lang="en-AU" sz="1400"/>
        </a:p>
      </dgm:t>
    </dgm:pt>
    <dgm:pt modelId="{116F4899-FD19-4F15-A903-962A5D1A3A8F}" type="sibTrans" cxnId="{47A59336-8BCE-4948-AA29-4D35DA8BAF81}">
      <dgm:prSet/>
      <dgm:spPr/>
      <dgm:t>
        <a:bodyPr/>
        <a:lstStyle/>
        <a:p>
          <a:endParaRPr lang="en-AU" sz="1400"/>
        </a:p>
      </dgm:t>
    </dgm:pt>
    <dgm:pt modelId="{7308AB33-02D8-4F40-8C5B-F5554700BB77}">
      <dgm:prSet custT="1"/>
      <dgm:spPr/>
      <dgm:t>
        <a:bodyPr/>
        <a:lstStyle/>
        <a:p>
          <a:r>
            <a:rPr lang="en-US" sz="1400" dirty="0"/>
            <a:t>5. Voters must then vote either ‘yes’ or ‘no’ to the proposed changes. A double majority needs to be achieved for the change to be made. Then the Governor General must approve. </a:t>
          </a:r>
        </a:p>
      </dgm:t>
    </dgm:pt>
    <dgm:pt modelId="{40DDB254-6FF4-4604-9AAB-398A361ABD6F}" type="parTrans" cxnId="{449D20F5-7976-46E3-AE53-2A5CA0871A61}">
      <dgm:prSet/>
      <dgm:spPr/>
      <dgm:t>
        <a:bodyPr/>
        <a:lstStyle/>
        <a:p>
          <a:endParaRPr lang="en-AU" sz="1400"/>
        </a:p>
      </dgm:t>
    </dgm:pt>
    <dgm:pt modelId="{B38D45B7-07D2-4F4F-914F-CF870190A233}" type="sibTrans" cxnId="{449D20F5-7976-46E3-AE53-2A5CA0871A61}">
      <dgm:prSet/>
      <dgm:spPr/>
      <dgm:t>
        <a:bodyPr/>
        <a:lstStyle/>
        <a:p>
          <a:endParaRPr lang="en-AU" sz="1400"/>
        </a:p>
      </dgm:t>
    </dgm:pt>
    <dgm:pt modelId="{B4496FFE-5930-419C-8A39-766AE0836E99}" type="pres">
      <dgm:prSet presAssocID="{507ED1B2-ABC1-4448-806E-409E308C581B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153CAF9-D4CD-45BC-8618-F7426B194CA4}" type="pres">
      <dgm:prSet presAssocID="{507ED1B2-ABC1-4448-806E-409E308C581B}" presName="arrow" presStyleLbl="bgShp" presStyleIdx="0" presStyleCnt="1"/>
      <dgm:spPr/>
    </dgm:pt>
    <dgm:pt modelId="{233FEA8D-CEE0-4E9D-AC90-C1240280CE3E}" type="pres">
      <dgm:prSet presAssocID="{507ED1B2-ABC1-4448-806E-409E308C581B}" presName="linearProcess" presStyleCnt="0"/>
      <dgm:spPr/>
    </dgm:pt>
    <dgm:pt modelId="{9D0E1A5D-0F9F-4256-B729-1D9262C018EB}" type="pres">
      <dgm:prSet presAssocID="{76E97005-9D36-44F0-8796-1338B2645CE7}" presName="textNode" presStyleLbl="node1" presStyleIdx="0" presStyleCnt="5" custScaleX="116621" custScaleY="118142" custLinFactX="104102" custLinFactNeighborX="200000" custLinFactNeighborY="-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3B4154-3180-4C24-8324-E2931E537364}" type="pres">
      <dgm:prSet presAssocID="{9AB3E3AA-0542-4C50-BB65-D1C02044450F}" presName="sibTrans" presStyleCnt="0"/>
      <dgm:spPr/>
    </dgm:pt>
    <dgm:pt modelId="{745CAC25-8587-46F3-A963-42FAF78D5316}" type="pres">
      <dgm:prSet presAssocID="{2B73C839-F284-4CC3-A935-2D79B9EF21FA}" presName="textNode" presStyleLbl="node1" presStyleIdx="1" presStyleCnt="5" custScaleX="118553" custScaleY="115736" custLinFactX="-100000" custLinFactNeighborX="-157976" custLinFactNeighborY="-41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FD9592-2B08-4A2F-BE21-F824339BA3A2}" type="pres">
      <dgm:prSet presAssocID="{116F4899-FD19-4F15-A903-962A5D1A3A8F}" presName="sibTrans" presStyleCnt="0"/>
      <dgm:spPr/>
    </dgm:pt>
    <dgm:pt modelId="{0D74A12B-ACDB-450D-8B72-FF7E9B6C5E3E}" type="pres">
      <dgm:prSet presAssocID="{AA1187B6-CAAF-4956-9BB0-A72A0DCD5791}" presName="textNode" presStyleLbl="node1" presStyleIdx="2" presStyleCnt="5" custScaleX="115293" custScaleY="1329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9FBF70-3405-4367-922E-48FC759FD262}" type="pres">
      <dgm:prSet presAssocID="{3ADCF098-3704-4F0E-90DE-A90FEF24C672}" presName="sibTrans" presStyleCnt="0"/>
      <dgm:spPr/>
    </dgm:pt>
    <dgm:pt modelId="{AD2BDC78-D68F-4916-9E25-6BC46A52ED36}" type="pres">
      <dgm:prSet presAssocID="{F9D4C1D4-0CBD-4911-9AC5-A3E257C2931F}" presName="textNode" presStyleLbl="node1" presStyleIdx="3" presStyleCnt="5" custScaleX="104834" custScaleY="150546" custLinFactNeighborX="-27459" custLinFactNeighborY="-15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8C35A6-C8FF-405F-93C9-C3F80E787D0D}" type="pres">
      <dgm:prSet presAssocID="{38070675-408A-4F04-82A4-48ED4E3AE90C}" presName="sibTrans" presStyleCnt="0"/>
      <dgm:spPr/>
    </dgm:pt>
    <dgm:pt modelId="{F63A2041-8FCC-4AE0-AC4C-5474088F5BDA}" type="pres">
      <dgm:prSet presAssocID="{7308AB33-02D8-4F40-8C5B-F5554700BB77}" presName="textNode" presStyleLbl="node1" presStyleIdx="4" presStyleCnt="5" custScaleX="115671" custScaleY="163285" custLinFactNeighborX="-59830" custLinFactNeighborY="-16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651116-8050-474C-8257-C4F3B0C94C46}" type="presOf" srcId="{76E97005-9D36-44F0-8796-1338B2645CE7}" destId="{9D0E1A5D-0F9F-4256-B729-1D9262C018EB}" srcOrd="0" destOrd="0" presId="urn:microsoft.com/office/officeart/2005/8/layout/hProcess9"/>
    <dgm:cxn modelId="{E822E16C-32B4-4639-8FB1-6F2652B70CD5}" type="presOf" srcId="{507ED1B2-ABC1-4448-806E-409E308C581B}" destId="{B4496FFE-5930-419C-8A39-766AE0836E99}" srcOrd="0" destOrd="0" presId="urn:microsoft.com/office/officeart/2005/8/layout/hProcess9"/>
    <dgm:cxn modelId="{449D20F5-7976-46E3-AE53-2A5CA0871A61}" srcId="{507ED1B2-ABC1-4448-806E-409E308C581B}" destId="{7308AB33-02D8-4F40-8C5B-F5554700BB77}" srcOrd="4" destOrd="0" parTransId="{40DDB254-6FF4-4604-9AAB-398A361ABD6F}" sibTransId="{B38D45B7-07D2-4F4F-914F-CF870190A233}"/>
    <dgm:cxn modelId="{1E879284-3439-4340-A7C8-3CB4AD8F8582}" srcId="{507ED1B2-ABC1-4448-806E-409E308C581B}" destId="{AA1187B6-CAAF-4956-9BB0-A72A0DCD5791}" srcOrd="2" destOrd="0" parTransId="{A4A4B2E7-D97A-425B-9461-52DEBA4B4729}" sibTransId="{3ADCF098-3704-4F0E-90DE-A90FEF24C672}"/>
    <dgm:cxn modelId="{2D061840-8152-4004-BCF1-F552E6399A05}" type="presOf" srcId="{7308AB33-02D8-4F40-8C5B-F5554700BB77}" destId="{F63A2041-8FCC-4AE0-AC4C-5474088F5BDA}" srcOrd="0" destOrd="0" presId="urn:microsoft.com/office/officeart/2005/8/layout/hProcess9"/>
    <dgm:cxn modelId="{47A59336-8BCE-4948-AA29-4D35DA8BAF81}" srcId="{507ED1B2-ABC1-4448-806E-409E308C581B}" destId="{2B73C839-F284-4CC3-A935-2D79B9EF21FA}" srcOrd="1" destOrd="0" parTransId="{61112508-AF39-4C70-B924-F893FC9082D5}" sibTransId="{116F4899-FD19-4F15-A903-962A5D1A3A8F}"/>
    <dgm:cxn modelId="{29C9FFBD-1F01-46D0-ACEE-8F7B8AC3BF3A}" type="presOf" srcId="{2B73C839-F284-4CC3-A935-2D79B9EF21FA}" destId="{745CAC25-8587-46F3-A963-42FAF78D5316}" srcOrd="0" destOrd="0" presId="urn:microsoft.com/office/officeart/2005/8/layout/hProcess9"/>
    <dgm:cxn modelId="{3E626F3C-F68D-469B-859F-80F7470748CA}" srcId="{507ED1B2-ABC1-4448-806E-409E308C581B}" destId="{76E97005-9D36-44F0-8796-1338B2645CE7}" srcOrd="0" destOrd="0" parTransId="{042FC67A-FA39-488C-B75B-0678A1262DF3}" sibTransId="{9AB3E3AA-0542-4C50-BB65-D1C02044450F}"/>
    <dgm:cxn modelId="{0F17A68E-EAFF-47A9-873E-EA725096D7BC}" type="presOf" srcId="{AA1187B6-CAAF-4956-9BB0-A72A0DCD5791}" destId="{0D74A12B-ACDB-450D-8B72-FF7E9B6C5E3E}" srcOrd="0" destOrd="0" presId="urn:microsoft.com/office/officeart/2005/8/layout/hProcess9"/>
    <dgm:cxn modelId="{F04763C5-87D5-4926-B22F-C3AEF16B9767}" type="presOf" srcId="{F9D4C1D4-0CBD-4911-9AC5-A3E257C2931F}" destId="{AD2BDC78-D68F-4916-9E25-6BC46A52ED36}" srcOrd="0" destOrd="0" presId="urn:microsoft.com/office/officeart/2005/8/layout/hProcess9"/>
    <dgm:cxn modelId="{5049ABAC-14BF-4D42-8261-443C55D4615B}" srcId="{507ED1B2-ABC1-4448-806E-409E308C581B}" destId="{F9D4C1D4-0CBD-4911-9AC5-A3E257C2931F}" srcOrd="3" destOrd="0" parTransId="{2374CB9A-0287-4EEE-998B-659DC738FFCD}" sibTransId="{38070675-408A-4F04-82A4-48ED4E3AE90C}"/>
    <dgm:cxn modelId="{5372B9F8-C0A4-4B5F-9CD2-FC5F2F44EB50}" type="presParOf" srcId="{B4496FFE-5930-419C-8A39-766AE0836E99}" destId="{2153CAF9-D4CD-45BC-8618-F7426B194CA4}" srcOrd="0" destOrd="0" presId="urn:microsoft.com/office/officeart/2005/8/layout/hProcess9"/>
    <dgm:cxn modelId="{AA3ECF11-5542-457A-A195-94E8C86A4F04}" type="presParOf" srcId="{B4496FFE-5930-419C-8A39-766AE0836E99}" destId="{233FEA8D-CEE0-4E9D-AC90-C1240280CE3E}" srcOrd="1" destOrd="0" presId="urn:microsoft.com/office/officeart/2005/8/layout/hProcess9"/>
    <dgm:cxn modelId="{C585D4BC-CB02-4D38-AF27-C672B946E818}" type="presParOf" srcId="{233FEA8D-CEE0-4E9D-AC90-C1240280CE3E}" destId="{9D0E1A5D-0F9F-4256-B729-1D9262C018EB}" srcOrd="0" destOrd="0" presId="urn:microsoft.com/office/officeart/2005/8/layout/hProcess9"/>
    <dgm:cxn modelId="{7D00A7D9-76EE-40EF-B1D6-1DB6D8D553B6}" type="presParOf" srcId="{233FEA8D-CEE0-4E9D-AC90-C1240280CE3E}" destId="{043B4154-3180-4C24-8324-E2931E537364}" srcOrd="1" destOrd="0" presId="urn:microsoft.com/office/officeart/2005/8/layout/hProcess9"/>
    <dgm:cxn modelId="{6EFFC3CA-AE15-4019-8652-29D346D70CCE}" type="presParOf" srcId="{233FEA8D-CEE0-4E9D-AC90-C1240280CE3E}" destId="{745CAC25-8587-46F3-A963-42FAF78D5316}" srcOrd="2" destOrd="0" presId="urn:microsoft.com/office/officeart/2005/8/layout/hProcess9"/>
    <dgm:cxn modelId="{5CBF608A-61F4-4DE7-84FE-E6F058A91A6B}" type="presParOf" srcId="{233FEA8D-CEE0-4E9D-AC90-C1240280CE3E}" destId="{A7FD9592-2B08-4A2F-BE21-F824339BA3A2}" srcOrd="3" destOrd="0" presId="urn:microsoft.com/office/officeart/2005/8/layout/hProcess9"/>
    <dgm:cxn modelId="{76DCE84E-85C1-4FD7-BF35-7598A5E746C9}" type="presParOf" srcId="{233FEA8D-CEE0-4E9D-AC90-C1240280CE3E}" destId="{0D74A12B-ACDB-450D-8B72-FF7E9B6C5E3E}" srcOrd="4" destOrd="0" presId="urn:microsoft.com/office/officeart/2005/8/layout/hProcess9"/>
    <dgm:cxn modelId="{165CEE21-D39B-45F3-8DFE-6BC3C121AB5F}" type="presParOf" srcId="{233FEA8D-CEE0-4E9D-AC90-C1240280CE3E}" destId="{A09FBF70-3405-4367-922E-48FC759FD262}" srcOrd="5" destOrd="0" presId="urn:microsoft.com/office/officeart/2005/8/layout/hProcess9"/>
    <dgm:cxn modelId="{E5D8D950-7B34-4B4B-BDC8-CCF6571B093E}" type="presParOf" srcId="{233FEA8D-CEE0-4E9D-AC90-C1240280CE3E}" destId="{AD2BDC78-D68F-4916-9E25-6BC46A52ED36}" srcOrd="6" destOrd="0" presId="urn:microsoft.com/office/officeart/2005/8/layout/hProcess9"/>
    <dgm:cxn modelId="{963E4896-E0D2-4901-AAE4-9A1B47C08558}" type="presParOf" srcId="{233FEA8D-CEE0-4E9D-AC90-C1240280CE3E}" destId="{348C35A6-C8FF-405F-93C9-C3F80E787D0D}" srcOrd="7" destOrd="0" presId="urn:microsoft.com/office/officeart/2005/8/layout/hProcess9"/>
    <dgm:cxn modelId="{8FDB9836-807F-4BA5-B68F-EB6F21CEEF7A}" type="presParOf" srcId="{233FEA8D-CEE0-4E9D-AC90-C1240280CE3E}" destId="{F63A2041-8FCC-4AE0-AC4C-5474088F5BD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3CAF9-D4CD-45BC-8618-F7426B194CA4}">
      <dsp:nvSpPr>
        <dsp:cNvPr id="0" name=""/>
        <dsp:cNvSpPr/>
      </dsp:nvSpPr>
      <dsp:spPr>
        <a:xfrm>
          <a:off x="683840" y="0"/>
          <a:ext cx="7750192" cy="4132312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0E1A5D-0F9F-4256-B729-1D9262C018EB}">
      <dsp:nvSpPr>
        <dsp:cNvPr id="0" name=""/>
        <dsp:cNvSpPr/>
      </dsp:nvSpPr>
      <dsp:spPr>
        <a:xfrm>
          <a:off x="1966742" y="1088467"/>
          <a:ext cx="1666653" cy="19527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2. Members of the HOR and Senate form committees- either yes or no. </a:t>
          </a:r>
          <a:endParaRPr lang="en-AU" sz="1400" kern="1200" dirty="0"/>
        </a:p>
      </dsp:txBody>
      <dsp:txXfrm>
        <a:off x="2048101" y="1169826"/>
        <a:ext cx="1503935" cy="1790080"/>
      </dsp:txXfrm>
    </dsp:sp>
    <dsp:sp modelId="{745CAC25-8587-46F3-A963-42FAF78D5316}">
      <dsp:nvSpPr>
        <dsp:cNvPr id="0" name=""/>
        <dsp:cNvSpPr/>
      </dsp:nvSpPr>
      <dsp:spPr>
        <a:xfrm>
          <a:off x="102069" y="1041607"/>
          <a:ext cx="1694264" cy="19130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400" kern="1200" dirty="0"/>
            <a:t>1. A </a:t>
          </a:r>
          <a:r>
            <a:rPr lang="en-AU" sz="1400" b="1" kern="1200" dirty="0"/>
            <a:t>bill </a:t>
          </a:r>
          <a:r>
            <a:rPr lang="en-AU" sz="1400" kern="1200" dirty="0"/>
            <a:t>must be passed by BOTH houses of Federal Parliament</a:t>
          </a:r>
        </a:p>
      </dsp:txBody>
      <dsp:txXfrm>
        <a:off x="184776" y="1124314"/>
        <a:ext cx="1528850" cy="1747615"/>
      </dsp:txXfrm>
    </dsp:sp>
    <dsp:sp modelId="{0D74A12B-ACDB-450D-8B72-FF7E9B6C5E3E}">
      <dsp:nvSpPr>
        <dsp:cNvPr id="0" name=""/>
        <dsp:cNvSpPr/>
      </dsp:nvSpPr>
      <dsp:spPr>
        <a:xfrm>
          <a:off x="3839918" y="967374"/>
          <a:ext cx="1647675" cy="219756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3. The Governor General issues a ‘writ’, a formal written order, to set the dates for the referendum (on a Saturday). </a:t>
          </a:r>
          <a:endParaRPr lang="en-AU" sz="1400" kern="1200" dirty="0"/>
        </a:p>
      </dsp:txBody>
      <dsp:txXfrm>
        <a:off x="3920351" y="1047807"/>
        <a:ext cx="1486809" cy="2036697"/>
      </dsp:txXfrm>
    </dsp:sp>
    <dsp:sp modelId="{AD2BDC78-D68F-4916-9E25-6BC46A52ED36}">
      <dsp:nvSpPr>
        <dsp:cNvPr id="0" name=""/>
        <dsp:cNvSpPr/>
      </dsp:nvSpPr>
      <dsp:spPr>
        <a:xfrm>
          <a:off x="5660376" y="796279"/>
          <a:ext cx="1498203" cy="248841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4. Case committees prepare a case for voting ‘yes’ or ‘no’. They send out a formal statement to every voter in Australia. </a:t>
          </a:r>
          <a:endParaRPr lang="en-AU" sz="1400" kern="1200" dirty="0"/>
        </a:p>
      </dsp:txBody>
      <dsp:txXfrm>
        <a:off x="5733512" y="869415"/>
        <a:ext cx="1351931" cy="2342140"/>
      </dsp:txXfrm>
    </dsp:sp>
    <dsp:sp modelId="{F63A2041-8FCC-4AE0-AC4C-5474088F5BDA}">
      <dsp:nvSpPr>
        <dsp:cNvPr id="0" name=""/>
        <dsp:cNvSpPr/>
      </dsp:nvSpPr>
      <dsp:spPr>
        <a:xfrm>
          <a:off x="7319663" y="689591"/>
          <a:ext cx="1653077" cy="269897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5. Voters must then vote either ‘yes’ or ‘no’ to the proposed changes. A double majority needs to be achieved for the change to be made. Then the Governor General must approve. </a:t>
          </a:r>
        </a:p>
      </dsp:txBody>
      <dsp:txXfrm>
        <a:off x="7400360" y="770288"/>
        <a:ext cx="1491683" cy="2537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212A428-1DF1-4AAC-9D39-DCF873DFC115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618639B-7143-4A2E-B9A4-17F067890825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bc.net.au/btn/classroom/constitution/1052904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bc.net.au/btn/classroom/1967-referendum/10523010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eo.gov.au/teach-our-parliament/classroom-activities/democratic-ideas/hold-a-referendu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 anchor="ctr">
            <a:normAutofit/>
          </a:bodyPr>
          <a:lstStyle/>
          <a:p>
            <a:r>
              <a:rPr lang="en-AU" dirty="0"/>
              <a:t>Referendums </a:t>
            </a:r>
          </a:p>
        </p:txBody>
      </p:sp>
      <p:pic>
        <p:nvPicPr>
          <p:cNvPr id="5" name="Picture 4" descr="A picture containing box, brick, clock&#10;&#10;Description automatically generated">
            <a:extLst>
              <a:ext uri="{FF2B5EF4-FFF2-40B4-BE49-F238E27FC236}">
                <a16:creationId xmlns:a16="http://schemas.microsoft.com/office/drawing/2014/main" id="{39E13F2E-6B7A-42E4-AF83-1AB0FA906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600200"/>
            <a:ext cx="4876800" cy="487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862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Aim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understand the process of changing Australia’s constitution through a referendum. </a:t>
            </a:r>
          </a:p>
          <a:p>
            <a:r>
              <a:rPr lang="en-AU" dirty="0"/>
              <a:t>Explain the importance of the 1967 Referendum in Australia</a:t>
            </a:r>
          </a:p>
          <a:p>
            <a:r>
              <a:rPr lang="en-AU" dirty="0"/>
              <a:t>To define the terms ‘referendum’ and ‘discrimination’</a:t>
            </a:r>
          </a:p>
        </p:txBody>
      </p:sp>
    </p:spTree>
    <p:extLst>
      <p:ext uri="{BB962C8B-B14F-4D97-AF65-F5344CB8AC3E}">
        <p14:creationId xmlns:p14="http://schemas.microsoft.com/office/powerpoint/2010/main" val="120345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referendum?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>
                <a:hlinkClick r:id="rId2"/>
              </a:rPr>
              <a:t>https://www.abc.net.au/btn/classroom/constitution/10529046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Record </a:t>
            </a:r>
            <a:r>
              <a:rPr lang="en-AU" sz="2800" b="1" dirty="0"/>
              <a:t>3 words </a:t>
            </a:r>
            <a:r>
              <a:rPr lang="en-AU" sz="2800" dirty="0"/>
              <a:t>which could be used to describe ‘referendum’. </a:t>
            </a:r>
          </a:p>
          <a:p>
            <a:r>
              <a:rPr lang="en-AU" sz="2800" dirty="0"/>
              <a:t>Using these words, create your own definition of a referendum and write it in your book. </a:t>
            </a:r>
          </a:p>
        </p:txBody>
      </p:sp>
    </p:spTree>
    <p:extLst>
      <p:ext uri="{BB962C8B-B14F-4D97-AF65-F5344CB8AC3E}">
        <p14:creationId xmlns:p14="http://schemas.microsoft.com/office/powerpoint/2010/main" val="169355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EC29-115C-412E-AEB4-85BBABC3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Why is it important to be able to change the constitution?</a:t>
            </a:r>
            <a:endParaRPr lang="en-AU" sz="31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ED39E-2625-4677-B8B8-189391F97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993" y="1439832"/>
            <a:ext cx="1797000" cy="269213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7AC43-D574-4734-AEE5-D63AA0139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7790" y="1797562"/>
            <a:ext cx="5367515" cy="47183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How long ago was the Constitution written? 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Think of some major changes that have happened to society over the past 100 years. 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Since Australia became a federation in 1901, 19 referendums have proposed 44 changes to the constitution. 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Only </a:t>
            </a:r>
            <a:r>
              <a:rPr lang="en-US" sz="2200" b="1" dirty="0"/>
              <a:t>8 changes have been agreed to</a:t>
            </a:r>
            <a:r>
              <a:rPr lang="en-US" sz="2200" dirty="0"/>
              <a:t>! </a:t>
            </a:r>
            <a:endParaRPr lang="en-AU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9B315-6AE2-4630-8BC0-B39A97414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57" y="4623555"/>
            <a:ext cx="2941601" cy="186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3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854" y="296653"/>
            <a:ext cx="8229600" cy="1600200"/>
          </a:xfrm>
        </p:spPr>
        <p:txBody>
          <a:bodyPr/>
          <a:lstStyle/>
          <a:p>
            <a:r>
              <a:rPr lang="en-AU" dirty="0" smtClean="0">
                <a:latin typeface="+mj-lt"/>
              </a:rPr>
              <a:t>Referendums </a:t>
            </a:r>
            <a:endParaRPr lang="en-AU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525963"/>
          </a:xfrm>
        </p:spPr>
        <p:txBody>
          <a:bodyPr/>
          <a:lstStyle/>
          <a:p>
            <a:r>
              <a:rPr lang="en-AU" dirty="0" smtClean="0">
                <a:solidFill>
                  <a:schemeClr val="tx1"/>
                </a:solidFill>
              </a:rPr>
              <a:t>Times have changed since the Constitution was written in 1901</a:t>
            </a:r>
          </a:p>
          <a:p>
            <a:r>
              <a:rPr lang="en-AU" dirty="0" smtClean="0">
                <a:solidFill>
                  <a:schemeClr val="tx1"/>
                </a:solidFill>
              </a:rPr>
              <a:t>Therefore, it’s important that it can be changed through a referendum </a:t>
            </a:r>
          </a:p>
          <a:p>
            <a:r>
              <a:rPr lang="en-AU" dirty="0" smtClean="0">
                <a:solidFill>
                  <a:schemeClr val="tx1"/>
                </a:solidFill>
              </a:rPr>
              <a:t>It is important that all citizens have a say in the changes 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b="1" dirty="0" smtClean="0">
                <a:solidFill>
                  <a:schemeClr val="tx1"/>
                </a:solidFill>
              </a:rPr>
              <a:t>Why is it important for citizens to have a say?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04664"/>
            <a:ext cx="2064230" cy="1548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718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The steps to changing the Constitution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There is a section in the Constitution which outlines how a referendum should be carried out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0F75BB6-B90A-4D88-BF1D-A8DF1BF04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592405"/>
              </p:ext>
            </p:extLst>
          </p:nvPr>
        </p:nvGraphicFramePr>
        <p:xfrm>
          <a:off x="0" y="2344688"/>
          <a:ext cx="9117874" cy="4132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644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 up of a map&#10;&#10;Description automatically generated">
            <a:extLst>
              <a:ext uri="{FF2B5EF4-FFF2-40B4-BE49-F238E27FC236}">
                <a16:creationId xmlns:a16="http://schemas.microsoft.com/office/drawing/2014/main" id="{91316C89-5A47-47D1-B2F1-1C5692814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020" y="764705"/>
            <a:ext cx="5394102" cy="609329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5F0BE9-FAF2-4582-8CDA-46EF283AF02B}"/>
              </a:ext>
            </a:extLst>
          </p:cNvPr>
          <p:cNvSpPr txBox="1"/>
          <p:nvPr/>
        </p:nvSpPr>
        <p:spPr>
          <a:xfrm>
            <a:off x="3472917" y="395372"/>
            <a:ext cx="5649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“Double Majority” </a:t>
            </a:r>
          </a:p>
        </p:txBody>
      </p:sp>
    </p:spTree>
    <p:extLst>
      <p:ext uri="{BB962C8B-B14F-4D97-AF65-F5344CB8AC3E}">
        <p14:creationId xmlns:p14="http://schemas.microsoft.com/office/powerpoint/2010/main" val="253913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170" y="544286"/>
            <a:ext cx="8229600" cy="990600"/>
          </a:xfrm>
        </p:spPr>
        <p:txBody>
          <a:bodyPr/>
          <a:lstStyle/>
          <a:p>
            <a:r>
              <a:rPr lang="en-AU" dirty="0"/>
              <a:t>1967 Referendum- Australia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881" y="2231335"/>
            <a:ext cx="4673203" cy="2631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6449" y="1517734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linkClick r:id="rId3"/>
              </a:rPr>
              <a:t>https://www.abc.net.au/btn/classroom/1967-referendum/10523010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5CBF6-C40E-49CE-B610-5284BB1F819E}"/>
              </a:ext>
            </a:extLst>
          </p:cNvPr>
          <p:cNvSpPr txBox="1"/>
          <p:nvPr/>
        </p:nvSpPr>
        <p:spPr>
          <a:xfrm>
            <a:off x="251520" y="2508334"/>
            <a:ext cx="37620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Most successful referendum in Australia’s history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27</a:t>
            </a:r>
            <a:r>
              <a:rPr lang="en-US" sz="2000" baseline="30000" dirty="0"/>
              <a:t>th</a:t>
            </a:r>
            <a:r>
              <a:rPr lang="en-US" sz="2000" dirty="0"/>
              <a:t> of May now marks the start of Australia’s National Reconciliation Week, a time when Australia celebrates the relationship between Aboriginal and Torres Strait Islander peoples and other Australians.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57499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73E9-4678-48BB-9E3A-88AF84098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A14F4-2C23-496E-A590-21293CAFE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16" y="1562100"/>
            <a:ext cx="8856984" cy="4876800"/>
          </a:xfrm>
        </p:spPr>
        <p:txBody>
          <a:bodyPr/>
          <a:lstStyle/>
          <a:p>
            <a:r>
              <a:rPr lang="en-US" b="1" dirty="0"/>
              <a:t>Complete the statements below by matching the end of the sentence to its beginning and writing it in your book.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A referendum is the only way the Australian Constitution…</a:t>
            </a:r>
          </a:p>
          <a:p>
            <a:pPr marL="457200" indent="-457200">
              <a:buAutoNum type="alphaLcParenR"/>
            </a:pPr>
            <a:r>
              <a:rPr lang="en-US" dirty="0"/>
              <a:t>To change the Constitution, a proposal (Bill)….</a:t>
            </a:r>
          </a:p>
          <a:p>
            <a:pPr marL="457200" indent="-457200">
              <a:buAutoNum type="alphaLcParenR"/>
            </a:pPr>
            <a:r>
              <a:rPr lang="en-US" dirty="0"/>
              <a:t>During a referendum, all citizens are required to vote…</a:t>
            </a:r>
          </a:p>
          <a:p>
            <a:pPr marL="457200" indent="-457200">
              <a:buAutoNum type="alphaLcParenR"/>
            </a:pPr>
            <a:r>
              <a:rPr lang="en-US" dirty="0"/>
              <a:t>To be successful, a referendum needs….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DCBD6-56EB-40C5-B6BC-3888B647F06B}"/>
              </a:ext>
            </a:extLst>
          </p:cNvPr>
          <p:cNvSpPr/>
          <p:nvPr/>
        </p:nvSpPr>
        <p:spPr>
          <a:xfrm>
            <a:off x="611560" y="4797152"/>
            <a:ext cx="8075240" cy="1641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double majority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first be approved by parliament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‘yes’ or ‘no’ to the proposed change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9434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B064-44E8-4ABE-8B95-FBA303E4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Classroom Referendum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4F553-3518-4B1A-A9B0-CE1D6F073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https://peo.gov.au/teach-our-parliament/classroom-activities/democratic-ideas/hold-a-referendum/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98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/>
          <a:lstStyle/>
          <a:p>
            <a:r>
              <a:rPr lang="en-AU" dirty="0" smtClean="0">
                <a:latin typeface="+mj-lt"/>
              </a:rPr>
              <a:t>What changes do you propose? </a:t>
            </a:r>
            <a:endParaRPr lang="en-AU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132856"/>
            <a:ext cx="8229600" cy="4525963"/>
          </a:xfrm>
        </p:spPr>
        <p:txBody>
          <a:bodyPr/>
          <a:lstStyle/>
          <a:p>
            <a:r>
              <a:rPr lang="en-AU" sz="4000" dirty="0" smtClean="0">
                <a:solidFill>
                  <a:schemeClr val="tx1"/>
                </a:solidFill>
              </a:rPr>
              <a:t>Write down on your sticky note:</a:t>
            </a:r>
          </a:p>
          <a:p>
            <a:pPr lvl="1"/>
            <a:r>
              <a:rPr lang="en-AU" sz="2800" dirty="0" smtClean="0">
                <a:solidFill>
                  <a:schemeClr val="tx1"/>
                </a:solidFill>
              </a:rPr>
              <a:t> </a:t>
            </a:r>
            <a:r>
              <a:rPr lang="en-AU" sz="2800" b="1" u="sng" dirty="0">
                <a:solidFill>
                  <a:schemeClr val="tx1"/>
                </a:solidFill>
              </a:rPr>
              <a:t>O</a:t>
            </a:r>
            <a:r>
              <a:rPr lang="en-AU" sz="2800" b="1" u="sng" dirty="0" smtClean="0">
                <a:solidFill>
                  <a:schemeClr val="tx1"/>
                </a:solidFill>
              </a:rPr>
              <a:t>ne</a:t>
            </a:r>
            <a:r>
              <a:rPr lang="en-AU" sz="2800" dirty="0" smtClean="0">
                <a:solidFill>
                  <a:schemeClr val="tx1"/>
                </a:solidFill>
              </a:rPr>
              <a:t> change that you propose for this school</a:t>
            </a:r>
          </a:p>
          <a:p>
            <a:pPr lvl="1"/>
            <a:r>
              <a:rPr lang="en-AU" sz="2800" b="1" u="sng" dirty="0" smtClean="0">
                <a:solidFill>
                  <a:schemeClr val="tx1"/>
                </a:solidFill>
              </a:rPr>
              <a:t>One</a:t>
            </a:r>
            <a:r>
              <a:rPr lang="en-AU" sz="2800" dirty="0" smtClean="0">
                <a:solidFill>
                  <a:schemeClr val="tx1"/>
                </a:solidFill>
              </a:rPr>
              <a:t> change that you propose for Hedland (both Port &amp; South)</a:t>
            </a:r>
            <a:endParaRPr lang="en-AU" sz="2800" b="1" u="sng" dirty="0" smtClean="0">
              <a:solidFill>
                <a:schemeClr val="tx1"/>
              </a:solidFill>
            </a:endParaRPr>
          </a:p>
          <a:p>
            <a:endParaRPr lang="en-AU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2000" dirty="0" smtClean="0">
                <a:solidFill>
                  <a:schemeClr val="tx1"/>
                </a:solidFill>
              </a:rPr>
              <a:t>*Do not write anything inappropriate. It will be taken down. </a:t>
            </a:r>
            <a:endParaRPr lang="en-A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887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+mj-lt"/>
              </a:rPr>
              <a:t>Class Referendum </a:t>
            </a:r>
            <a:endParaRPr lang="en-AU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4525963"/>
          </a:xfrm>
        </p:spPr>
        <p:txBody>
          <a:bodyPr/>
          <a:lstStyle/>
          <a:p>
            <a:r>
              <a:rPr lang="en-AU" dirty="0" smtClean="0">
                <a:solidFill>
                  <a:schemeClr val="tx1"/>
                </a:solidFill>
              </a:rPr>
              <a:t>Proposed change: </a:t>
            </a:r>
          </a:p>
          <a:p>
            <a:pPr marL="0" indent="0">
              <a:buNone/>
            </a:pPr>
            <a:endParaRPr lang="en-A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dirty="0" smtClean="0">
                <a:solidFill>
                  <a:schemeClr val="tx1"/>
                </a:solidFill>
              </a:rPr>
              <a:t>We should make school days one hour longer. Students will not receive homework. 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803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600200"/>
          </a:xfrm>
        </p:spPr>
        <p:txBody>
          <a:bodyPr/>
          <a:lstStyle/>
          <a:p>
            <a:r>
              <a:rPr lang="en-AU" dirty="0" smtClean="0">
                <a:latin typeface="+mj-lt"/>
              </a:rPr>
              <a:t>Committees </a:t>
            </a:r>
            <a:endParaRPr lang="en-AU" dirty="0">
              <a:latin typeface="+mj-lt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tx1"/>
                </a:solidFill>
              </a:rPr>
              <a:t>Proposed change: </a:t>
            </a:r>
            <a:endParaRPr lang="en-A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dirty="0" smtClean="0">
                <a:solidFill>
                  <a:schemeClr val="tx1"/>
                </a:solidFill>
              </a:rPr>
              <a:t>We should make school days one hour longer. Students will not receive homework. </a:t>
            </a:r>
          </a:p>
          <a:p>
            <a:pPr marL="0" indent="0">
              <a:buNone/>
            </a:pPr>
            <a:endParaRPr lang="en-A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AU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dirty="0" smtClean="0">
                <a:solidFill>
                  <a:schemeClr val="tx1"/>
                </a:solidFill>
              </a:rPr>
              <a:t>Divide class in half. </a:t>
            </a:r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127216"/>
            <a:ext cx="3528392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363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600200"/>
          </a:xfrm>
        </p:spPr>
        <p:txBody>
          <a:bodyPr/>
          <a:lstStyle/>
          <a:p>
            <a:r>
              <a:rPr lang="en-AU" dirty="0" smtClean="0">
                <a:latin typeface="+mj-lt"/>
              </a:rPr>
              <a:t>Governor General </a:t>
            </a:r>
            <a:endParaRPr lang="en-AU" dirty="0">
              <a:latin typeface="+mj-lt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23528" y="1844824"/>
            <a:ext cx="5482952" cy="4525963"/>
          </a:xfrm>
        </p:spPr>
        <p:txBody>
          <a:bodyPr/>
          <a:lstStyle/>
          <a:p>
            <a:r>
              <a:rPr lang="en-AU" b="1" dirty="0" smtClean="0">
                <a:solidFill>
                  <a:schemeClr val="tx1"/>
                </a:solidFill>
              </a:rPr>
              <a:t>Proposed change: </a:t>
            </a:r>
            <a:endParaRPr lang="en-A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dirty="0" smtClean="0">
                <a:solidFill>
                  <a:schemeClr val="tx1"/>
                </a:solidFill>
              </a:rPr>
              <a:t>We should make school days one hour longer. Students will not receive homework. </a:t>
            </a:r>
          </a:p>
          <a:p>
            <a:pPr marL="0" indent="0">
              <a:buNone/>
            </a:pPr>
            <a:endParaRPr lang="en-A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dirty="0" smtClean="0">
                <a:solidFill>
                  <a:schemeClr val="tx1"/>
                </a:solidFill>
              </a:rPr>
              <a:t>Governor General- to write a formal ‘writ’ to set the dates of the referendum.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190" y="1922187"/>
            <a:ext cx="2592288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762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+mj-lt"/>
              </a:rPr>
              <a:t>Prepare your cases</a:t>
            </a:r>
            <a:endParaRPr lang="en-AU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tx1"/>
                </a:solidFill>
              </a:rPr>
              <a:t>Be ready to share your answers with the class. 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074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+mj-lt"/>
              </a:rPr>
              <a:t>Time to vote! </a:t>
            </a:r>
            <a:endParaRPr lang="en-AU" dirty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33" y="1926176"/>
            <a:ext cx="7402765" cy="4020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274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51B1-FC41-4021-A220-A625427C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Extension: Plebiscite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8275-9957-423D-8F0D-C48E68FD7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Plebiscite</a:t>
            </a:r>
          </a:p>
          <a:p>
            <a:r>
              <a:rPr lang="en-US" dirty="0"/>
              <a:t>In Australia, a plebiscite (also known as an advisory referendum) is used to decide a national question that does not affect the Constitution. It can be used to test whether the government has enough public support to go ahead with a proposed action. Unlike a referendum, the decision reached in a plebiscite does </a:t>
            </a:r>
            <a:r>
              <a:rPr lang="en-US" u="sng" dirty="0"/>
              <a:t>not have any legal force</a:t>
            </a:r>
            <a:r>
              <a:rPr lang="en-US" dirty="0"/>
              <a:t>.</a:t>
            </a:r>
          </a:p>
          <a:p>
            <a:r>
              <a:rPr lang="en-US" dirty="0"/>
              <a:t>Australia has held 4 national plebiscites, including the same-sex marriage plebiscite in 2017.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7675013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694</Words>
  <Application>Microsoft Office PowerPoint</Application>
  <PresentationFormat>On-screen Show (4:3)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Clarity</vt:lpstr>
      <vt:lpstr>Referendums </vt:lpstr>
      <vt:lpstr>Aim </vt:lpstr>
      <vt:lpstr>What is a referendum?</vt:lpstr>
      <vt:lpstr>Why is it important to be able to change the constitution?</vt:lpstr>
      <vt:lpstr>Referendums </vt:lpstr>
      <vt:lpstr>The steps to changing the Constitution </vt:lpstr>
      <vt:lpstr>PowerPoint Presentation</vt:lpstr>
      <vt:lpstr>1967 Referendum- Australia </vt:lpstr>
      <vt:lpstr>Activity </vt:lpstr>
      <vt:lpstr>Activity: Classroom Referendum</vt:lpstr>
      <vt:lpstr>What changes do you propose? </vt:lpstr>
      <vt:lpstr>Class Referendum </vt:lpstr>
      <vt:lpstr>Committees </vt:lpstr>
      <vt:lpstr>Governor General </vt:lpstr>
      <vt:lpstr>Prepare your cases</vt:lpstr>
      <vt:lpstr>Time to vote! </vt:lpstr>
      <vt:lpstr>Extension: Plebiscite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Referendums</dc:title>
  <dc:creator>FAZIOLI Carly [Hedland Senior High School]</dc:creator>
  <cp:lastModifiedBy>FAZIOLI Carly [Narrogin Senior High School]</cp:lastModifiedBy>
  <cp:revision>6</cp:revision>
  <dcterms:created xsi:type="dcterms:W3CDTF">2020-06-16T00:13:58Z</dcterms:created>
  <dcterms:modified xsi:type="dcterms:W3CDTF">2021-11-16T01:18:35Z</dcterms:modified>
</cp:coreProperties>
</file>
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96" r:id="rId3"/>
    <p:sldMasterId id="2147483708" r:id="rId4"/>
  </p:sldMasterIdLst>
  <p:sldIdLst>
    <p:sldId id="265" r:id="rId5"/>
    <p:sldId id="266" r:id="rId6"/>
    <p:sldId id="257" r:id="rId7"/>
    <p:sldId id="259" r:id="rId8"/>
    <p:sldId id="263" r:id="rId9"/>
    <p:sldId id="264" r:id="rId10"/>
    <p:sldId id="267" r:id="rId11"/>
    <p:sldId id="262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A9CE8B-C99B-E78A-ED7C-14B2CCE0D121}" v="194" dt="2021-11-14T12:51:19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RIDAN Ellie [Narrogin Senior High School]" userId="S::ellie.sheridan@education.wa.edu.au::27b99e1c-805c-4f4d-b76c-e84354564903" providerId="AD" clId="Web-{E1A9CE8B-C99B-E78A-ED7C-14B2CCE0D121}"/>
    <pc:docChg chg="modSld">
      <pc:chgData name="SHERIDAN Ellie [Narrogin Senior High School]" userId="S::ellie.sheridan@education.wa.edu.au::27b99e1c-805c-4f4d-b76c-e84354564903" providerId="AD" clId="Web-{E1A9CE8B-C99B-E78A-ED7C-14B2CCE0D121}" dt="2021-11-14T12:51:19.219" v="115" actId="20577"/>
      <pc:docMkLst>
        <pc:docMk/>
      </pc:docMkLst>
      <pc:sldChg chg="modSp">
        <pc:chgData name="SHERIDAN Ellie [Narrogin Senior High School]" userId="S::ellie.sheridan@education.wa.edu.au::27b99e1c-805c-4f4d-b76c-e84354564903" providerId="AD" clId="Web-{E1A9CE8B-C99B-E78A-ED7C-14B2CCE0D121}" dt="2021-11-14T12:47:44.083" v="5" actId="20577"/>
        <pc:sldMkLst>
          <pc:docMk/>
          <pc:sldMk cId="457533536" sldId="257"/>
        </pc:sldMkLst>
        <pc:spChg chg="mod">
          <ac:chgData name="SHERIDAN Ellie [Narrogin Senior High School]" userId="S::ellie.sheridan@education.wa.edu.au::27b99e1c-805c-4f4d-b76c-e84354564903" providerId="AD" clId="Web-{E1A9CE8B-C99B-E78A-ED7C-14B2CCE0D121}" dt="2021-11-14T12:47:44.083" v="5" actId="20577"/>
          <ac:spMkLst>
            <pc:docMk/>
            <pc:sldMk cId="457533536" sldId="257"/>
            <ac:spMk id="16386" creationId="{00000000-0000-0000-0000-000000000000}"/>
          </ac:spMkLst>
        </pc:spChg>
      </pc:sldChg>
      <pc:sldChg chg="modSp">
        <pc:chgData name="SHERIDAN Ellie [Narrogin Senior High School]" userId="S::ellie.sheridan@education.wa.edu.au::27b99e1c-805c-4f4d-b76c-e84354564903" providerId="AD" clId="Web-{E1A9CE8B-C99B-E78A-ED7C-14B2CCE0D121}" dt="2021-11-14T12:50:06.608" v="67" actId="20577"/>
        <pc:sldMkLst>
          <pc:docMk/>
          <pc:sldMk cId="1306369184" sldId="263"/>
        </pc:sldMkLst>
        <pc:spChg chg="mod">
          <ac:chgData name="SHERIDAN Ellie [Narrogin Senior High School]" userId="S::ellie.sheridan@education.wa.edu.au::27b99e1c-805c-4f4d-b76c-e84354564903" providerId="AD" clId="Web-{E1A9CE8B-C99B-E78A-ED7C-14B2CCE0D121}" dt="2021-11-14T12:50:06.608" v="67" actId="20577"/>
          <ac:spMkLst>
            <pc:docMk/>
            <pc:sldMk cId="1306369184" sldId="263"/>
            <ac:spMk id="2" creationId="{00000000-0000-0000-0000-000000000000}"/>
          </ac:spMkLst>
        </pc:spChg>
      </pc:sldChg>
      <pc:sldChg chg="addSp delSp modSp addAnim delAnim">
        <pc:chgData name="SHERIDAN Ellie [Narrogin Senior High School]" userId="S::ellie.sheridan@education.wa.edu.au::27b99e1c-805c-4f4d-b76c-e84354564903" providerId="AD" clId="Web-{E1A9CE8B-C99B-E78A-ED7C-14B2CCE0D121}" dt="2021-11-14T12:51:19.219" v="115" actId="20577"/>
        <pc:sldMkLst>
          <pc:docMk/>
          <pc:sldMk cId="1802487333" sldId="264"/>
        </pc:sldMkLst>
        <pc:spChg chg="add del mod">
          <ac:chgData name="SHERIDAN Ellie [Narrogin Senior High School]" userId="S::ellie.sheridan@education.wa.edu.au::27b99e1c-805c-4f4d-b76c-e84354564903" providerId="AD" clId="Web-{E1A9CE8B-C99B-E78A-ED7C-14B2CCE0D121}" dt="2021-11-14T12:51:19.219" v="115" actId="20577"/>
          <ac:spMkLst>
            <pc:docMk/>
            <pc:sldMk cId="1802487333" sldId="264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9219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9220" name="Freeform 4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9221" name="Freeform 5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9222" name="Freeform 6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9223" name="Freeform 7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9224" name="Freeform 8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9225" name="Freeform 9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9226" name="Freeform 10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sp>
        <p:nvSpPr>
          <p:cNvPr id="9227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9228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9229" name="Rectangle 13"/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230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231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D14339D-95DE-4ABB-95E1-5AC5B0E55C74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236026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FA16917-04E2-444C-983C-3A642FFBAF43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88194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D23F63F-7E85-481C-96DC-5B8373EED482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127285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40E6F1E-C8A1-4157-8E09-29F9F66CCED1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668749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5FA1DF8-08C0-4569-8A71-A463851644ED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615364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AE4FB77-1BCB-4382-8169-BA0108C51541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313293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B8E7AAE-B7C3-46CC-BB2B-5FD8A83D1675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083467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48EF84C-DF0A-4E1F-A0EF-BB98A84D6984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2031749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589CC35-04CE-460C-97CE-CA9741379E3A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597166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C602642-20A6-4739-97F3-7F9772730CF3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659089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934510A-E7AF-4750-96C4-4783A608B0BA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568082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9219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9220" name="Freeform 4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9221" name="Freeform 5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9222" name="Freeform 6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9223" name="Freeform 7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9224" name="Freeform 8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9225" name="Freeform 9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9226" name="Freeform 10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sp>
        <p:nvSpPr>
          <p:cNvPr id="9227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9228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9229" name="Rectangle 13"/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230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231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D14339D-95DE-4ABB-95E1-5AC5B0E55C74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6749508"/>
      </p:ext>
    </p:extLst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FA16917-04E2-444C-983C-3A642FFBAF43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234969"/>
      </p:ext>
    </p:extLst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D23F63F-7E85-481C-96DC-5B8373EED482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610683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40E6F1E-C8A1-4157-8E09-29F9F66CCED1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81940"/>
      </p:ext>
    </p:extLst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5FA1DF8-08C0-4569-8A71-A463851644ED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669949"/>
      </p:ext>
    </p:extLst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AE4FB77-1BCB-4382-8169-BA0108C51541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253149"/>
      </p:ext>
    </p:extLst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B8E7AAE-B7C3-46CC-BB2B-5FD8A83D1675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634373"/>
      </p:ext>
    </p:extLst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48EF84C-DF0A-4E1F-A0EF-BB98A84D6984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130053"/>
      </p:ext>
    </p:extLst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589CC35-04CE-460C-97CE-CA9741379E3A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759719"/>
      </p:ext>
    </p:extLst>
  </p:cSld>
  <p:clrMapOvr>
    <a:masterClrMapping/>
  </p:clrMapOvr>
  <p:transition spd="slow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C602642-20A6-4739-97F3-7F9772730CF3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157210"/>
      </p:ext>
    </p:extLst>
  </p:cSld>
  <p:clrMapOvr>
    <a:masterClrMapping/>
  </p:clrMapOvr>
  <p:transition spd="slow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934510A-E7AF-4750-96C4-4783A608B0BA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3563081"/>
      </p:ext>
    </p:extLst>
  </p:cSld>
  <p:clrMapOvr>
    <a:masterClrMapping/>
  </p:clrMapOvr>
  <p:transition spd="slow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9219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9220" name="Freeform 4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9221" name="Freeform 5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9222" name="Freeform 6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9223" name="Freeform 7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9224" name="Freeform 8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9225" name="Freeform 9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9226" name="Freeform 10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sp>
        <p:nvSpPr>
          <p:cNvPr id="9227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9228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9229" name="Rectangle 13"/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230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231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D14339D-95DE-4ABB-95E1-5AC5B0E55C74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272017"/>
      </p:ext>
    </p:extLst>
  </p:cSld>
  <p:clrMapOvr>
    <a:masterClrMapping/>
  </p:clrMapOvr>
  <p:transition spd="slow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FA16917-04E2-444C-983C-3A642FFBAF43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817824"/>
      </p:ext>
    </p:extLst>
  </p:cSld>
  <p:clrMapOvr>
    <a:masterClrMapping/>
  </p:clrMapOvr>
  <p:transition spd="slow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D23F63F-7E85-481C-96DC-5B8373EED482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7164779"/>
      </p:ext>
    </p:extLst>
  </p:cSld>
  <p:clrMapOvr>
    <a:masterClrMapping/>
  </p:clrMapOvr>
  <p:transition spd="slow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40E6F1E-C8A1-4157-8E09-29F9F66CCED1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030934"/>
      </p:ext>
    </p:extLst>
  </p:cSld>
  <p:clrMapOvr>
    <a:masterClrMapping/>
  </p:clrMapOvr>
  <p:transition spd="slow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5FA1DF8-08C0-4569-8A71-A463851644ED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458922"/>
      </p:ext>
    </p:extLst>
  </p:cSld>
  <p:clrMapOvr>
    <a:masterClrMapping/>
  </p:clrMapOvr>
  <p:transition spd="slow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AE4FB77-1BCB-4382-8169-BA0108C51541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501650"/>
      </p:ext>
    </p:extLst>
  </p:cSld>
  <p:clrMapOvr>
    <a:masterClrMapping/>
  </p:clrMapOvr>
  <p:transition spd="slow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B8E7AAE-B7C3-46CC-BB2B-5FD8A83D1675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382886"/>
      </p:ext>
    </p:extLst>
  </p:cSld>
  <p:clrMapOvr>
    <a:masterClrMapping/>
  </p:clrMapOvr>
  <p:transition spd="slow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48EF84C-DF0A-4E1F-A0EF-BB98A84D6984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586399"/>
      </p:ext>
    </p:extLst>
  </p:cSld>
  <p:clrMapOvr>
    <a:masterClrMapping/>
  </p:clrMapOvr>
  <p:transition spd="slow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589CC35-04CE-460C-97CE-CA9741379E3A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055187"/>
      </p:ext>
    </p:extLst>
  </p:cSld>
  <p:clrMapOvr>
    <a:masterClrMapping/>
  </p:clrMapOvr>
  <p:transition spd="slow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C602642-20A6-4739-97F3-7F9772730CF3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9987026"/>
      </p:ext>
    </p:extLst>
  </p:cSld>
  <p:clrMapOvr>
    <a:masterClrMapping/>
  </p:clrMapOvr>
  <p:transition spd="slow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934510A-E7AF-4750-96C4-4783A608B0BA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404068"/>
      </p:ext>
    </p:extLst>
  </p:cSld>
  <p:clrMapOvr>
    <a:masterClrMapping/>
  </p:clrMapOvr>
  <p:transition spd="slow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9219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9220" name="Freeform 4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9221" name="Freeform 5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9222" name="Freeform 6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9223" name="Freeform 7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9224" name="Freeform 8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9225" name="Freeform 9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9226" name="Freeform 10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sp>
        <p:nvSpPr>
          <p:cNvPr id="9227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9228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9229" name="Rectangle 13"/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230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231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D14339D-95DE-4ABB-95E1-5AC5B0E55C74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970070"/>
      </p:ext>
    </p:extLst>
  </p:cSld>
  <p:clrMapOvr>
    <a:masterClrMapping/>
  </p:clrMapOvr>
  <p:transition spd="slow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FA16917-04E2-444C-983C-3A642FFBAF43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665341"/>
      </p:ext>
    </p:extLst>
  </p:cSld>
  <p:clrMapOvr>
    <a:masterClrMapping/>
  </p:clrMapOvr>
  <p:transition spd="slow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D23F63F-7E85-481C-96DC-5B8373EED482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9977356"/>
      </p:ext>
    </p:extLst>
  </p:cSld>
  <p:clrMapOvr>
    <a:masterClrMapping/>
  </p:clrMapOvr>
  <p:transition spd="slow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40E6F1E-C8A1-4157-8E09-29F9F66CCED1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9525475"/>
      </p:ext>
    </p:extLst>
  </p:cSld>
  <p:clrMapOvr>
    <a:masterClrMapping/>
  </p:clrMapOvr>
  <p:transition spd="slow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5FA1DF8-08C0-4569-8A71-A463851644ED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986703"/>
      </p:ext>
    </p:extLst>
  </p:cSld>
  <p:clrMapOvr>
    <a:masterClrMapping/>
  </p:clrMapOvr>
  <p:transition spd="slow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AE4FB77-1BCB-4382-8169-BA0108C51541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560922"/>
      </p:ext>
    </p:extLst>
  </p:cSld>
  <p:clrMapOvr>
    <a:masterClrMapping/>
  </p:clrMapOvr>
  <p:transition spd="slow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B8E7AAE-B7C3-46CC-BB2B-5FD8A83D1675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566817"/>
      </p:ext>
    </p:extLst>
  </p:cSld>
  <p:clrMapOvr>
    <a:masterClrMapping/>
  </p:clrMapOvr>
  <p:transition spd="slow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48EF84C-DF0A-4E1F-A0EF-BB98A84D6984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687098"/>
      </p:ext>
    </p:extLst>
  </p:cSld>
  <p:clrMapOvr>
    <a:masterClrMapping/>
  </p:clrMapOvr>
  <p:transition spd="slow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589CC35-04CE-460C-97CE-CA9741379E3A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670268"/>
      </p:ext>
    </p:extLst>
  </p:cSld>
  <p:clrMapOvr>
    <a:masterClrMapping/>
  </p:clrMapOvr>
  <p:transition spd="slow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C602642-20A6-4739-97F3-7F9772730CF3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624284"/>
      </p:ext>
    </p:extLst>
  </p:cSld>
  <p:clrMapOvr>
    <a:masterClrMapping/>
  </p:clrMapOvr>
  <p:transition spd="slow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934510A-E7AF-4750-96C4-4783A608B0BA}" type="slidenum">
              <a:rPr lang="en-US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559968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E0AFC53-DE43-4A25-874A-7D232F9FC6DA}" type="slidenum">
              <a:rPr lang="en-US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8196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8197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8198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8199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8200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8201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8202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8203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8204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sp>
        <p:nvSpPr>
          <p:cNvPr id="8205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206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8207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56984081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fade/>
  </p:transition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E0AFC53-DE43-4A25-874A-7D232F9FC6DA}" type="slidenum">
              <a:rPr lang="en-US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8196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8197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8198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8199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8200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8201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8202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8203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8204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sp>
        <p:nvSpPr>
          <p:cNvPr id="8205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206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8207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2760089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fade/>
  </p:transition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E0AFC53-DE43-4A25-874A-7D232F9FC6DA}" type="slidenum">
              <a:rPr lang="en-US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8196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8197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8198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8199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8200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8201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8202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8203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8204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sp>
        <p:nvSpPr>
          <p:cNvPr id="8205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206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8207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1848482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 spd="slow">
    <p:fade/>
  </p:transition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E0AFC53-DE43-4A25-874A-7D232F9FC6DA}" type="slidenum">
              <a:rPr lang="en-US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8196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8197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8198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8199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8200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8201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  <p:sp>
            <p:nvSpPr>
              <p:cNvPr id="8202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8203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8204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FFFFFF"/>
                </a:solidFill>
              </a:endParaRPr>
            </a:p>
          </p:txBody>
        </p:sp>
      </p:grpSp>
      <p:sp>
        <p:nvSpPr>
          <p:cNvPr id="8205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206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8207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6556245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 spd="slow">
    <p:fade/>
  </p:transition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referendums carto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412776"/>
            <a:ext cx="4046537" cy="497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AutoShape 6"/>
          <p:cNvSpPr>
            <a:spLocks noChangeArrowheads="1"/>
          </p:cNvSpPr>
          <p:nvPr/>
        </p:nvSpPr>
        <p:spPr bwMode="auto">
          <a:xfrm>
            <a:off x="1150061" y="2420342"/>
            <a:ext cx="2338388" cy="1728787"/>
          </a:xfrm>
          <a:prstGeom prst="wedgeEllipseCallout">
            <a:avLst>
              <a:gd name="adj1" fmla="val 20333"/>
              <a:gd name="adj2" fmla="val 982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GB" sz="2400" dirty="0"/>
              <a:t>What is a referendum?</a:t>
            </a:r>
          </a:p>
        </p:txBody>
      </p:sp>
      <p:pic>
        <p:nvPicPr>
          <p:cNvPr id="6" name="Picture 7" descr="think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3411" y="5157192"/>
            <a:ext cx="9525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2021320" y="188640"/>
            <a:ext cx="521497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5400" dirty="0"/>
              <a:t>Referendums</a:t>
            </a:r>
            <a:endParaRPr lang="en-U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97457301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a direct vote in which an entire electorate is asked to either accept or reject a particular proposal.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2381360" y="404664"/>
            <a:ext cx="456690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GB" sz="5400" dirty="0"/>
              <a:t>Referendum</a:t>
            </a:r>
            <a:endParaRPr lang="en-U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026" name="Picture 2" descr="http://daphnecaruanagalizia.com/wp-content/uploads/2009/07/referendu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9141" y="3356992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5150310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Referendums in Australia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800"/>
              <a:t>1973, Northern Ireland – govt. did not agree to be bound by results</a:t>
            </a:r>
          </a:p>
          <a:p>
            <a:r>
              <a:rPr lang="en-GB" sz="2800"/>
              <a:t>1975, membership of EU –criticism over wording of question, debate favoured govt view</a:t>
            </a:r>
          </a:p>
          <a:p>
            <a:r>
              <a:rPr lang="en-GB" sz="2800"/>
              <a:t>1979, devolution Scotland &amp; Wales – 40%+ support of electorate</a:t>
            </a:r>
          </a:p>
          <a:p>
            <a:r>
              <a:rPr lang="en-GB" sz="2800"/>
              <a:t>1997, devolution for Scotland and Wales – Labour had a manifesto commitment to devolution, no threshold required, two different questions in Scot. &amp; Wales</a:t>
            </a:r>
          </a:p>
        </p:txBody>
      </p:sp>
    </p:spTree>
    <p:extLst>
      <p:ext uri="{BB962C8B-B14F-4D97-AF65-F5344CB8AC3E}">
        <p14:creationId xmlns:p14="http://schemas.microsoft.com/office/powerpoint/2010/main" val="457533536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UK referendums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1998, Northern Ireland – intended to gather support for Peace Process above the heads of troublesome political leaders in NI</a:t>
            </a:r>
          </a:p>
          <a:p>
            <a:pPr>
              <a:lnSpc>
                <a:spcPct val="90000"/>
              </a:lnSpc>
            </a:pPr>
            <a:r>
              <a:rPr lang="en-GB" dirty="0"/>
              <a:t>1998, London Mayor – positive result, low turnout (45%)</a:t>
            </a:r>
          </a:p>
          <a:p>
            <a:pPr>
              <a:lnSpc>
                <a:spcPct val="90000"/>
              </a:lnSpc>
            </a:pPr>
            <a:r>
              <a:rPr lang="en-GB" dirty="0"/>
              <a:t>2004, regional assembly, NE – decisive ‘No’ (78%)</a:t>
            </a:r>
          </a:p>
          <a:p>
            <a:pPr>
              <a:lnSpc>
                <a:spcPct val="90000"/>
              </a:lnSpc>
            </a:pPr>
            <a:r>
              <a:rPr lang="en-GB" dirty="0"/>
              <a:t>Single currency / EU constitution – promised referendums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 2011??? Electoral reform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610895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188641"/>
            <a:ext cx="8892480" cy="415498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4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Arguments put forward in favour of referendums are:</a:t>
            </a:r>
            <a:endParaRPr lang="en-GB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GB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1. They are a very real form of direct democracy</a:t>
            </a:r>
          </a:p>
          <a:p>
            <a:r>
              <a:rPr lang="en-GB" sz="2400" dirty="0">
                <a:latin typeface="Verdana"/>
                <a:ea typeface="Verdana"/>
                <a:cs typeface="Verdana" pitchFamily="34" charset="0"/>
              </a:rPr>
              <a:t>2. They increase  political participation</a:t>
            </a:r>
          </a:p>
          <a:p>
            <a:r>
              <a:rPr lang="en-GB" sz="2400" dirty="0">
                <a:latin typeface="Verdana"/>
                <a:ea typeface="Verdana"/>
                <a:cs typeface="Verdana" pitchFamily="34" charset="0"/>
              </a:rPr>
              <a:t>3. Referendums provide a clear answer to a question the government might be 'asking'.</a:t>
            </a:r>
          </a:p>
          <a:p>
            <a:r>
              <a:rPr lang="en-GB" sz="2400" dirty="0">
                <a:latin typeface="Verdana"/>
                <a:ea typeface="Verdana"/>
                <a:cs typeface="Verdana" pitchFamily="34" charset="0"/>
              </a:rPr>
              <a:t>4. Referendums allow voters to voice an opinion on a major issue. </a:t>
            </a:r>
          </a:p>
          <a:p>
            <a:r>
              <a:rPr lang="en-GB" sz="2400" dirty="0">
                <a:latin typeface="Verdana"/>
                <a:ea typeface="Verdana"/>
                <a:cs typeface="Verdana" pitchFamily="34" charset="0"/>
              </a:rPr>
              <a:t>5. Referendums can unite a divided party.</a:t>
            </a:r>
            <a:endParaRPr lang="en-GB"/>
          </a:p>
          <a:p>
            <a:endParaRPr lang="en-GB" sz="2400" dirty="0">
              <a:latin typeface="Verdana"/>
              <a:ea typeface="Verdana"/>
              <a:cs typeface="Verdana" pitchFamily="34" charset="0"/>
            </a:endParaRPr>
          </a:p>
          <a:p>
            <a:endParaRPr lang="en-GB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3691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0"/>
            <a:ext cx="8712968" cy="286232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000" b="1" i="0" dirty="0"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Arguments put forward against the use of referendums are:</a:t>
            </a:r>
            <a:endParaRPr lang="en-GB" sz="2000" b="0" i="0" dirty="0"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GB" sz="2000" b="0" i="0" dirty="0">
                <a:effectLst/>
                <a:latin typeface="Verdana"/>
                <a:ea typeface="Verdana"/>
                <a:cs typeface="Verdana" pitchFamily="34" charset="0"/>
              </a:rPr>
              <a:t>1. </a:t>
            </a:r>
            <a:r>
              <a:rPr lang="en-GB" sz="2000" dirty="0">
                <a:latin typeface="Verdana"/>
                <a:ea typeface="Verdana"/>
                <a:cs typeface="Verdana" pitchFamily="34" charset="0"/>
              </a:rPr>
              <a:t>Referendums</a:t>
            </a:r>
            <a:r>
              <a:rPr lang="en-GB" sz="2000" b="0" i="0" dirty="0">
                <a:effectLst/>
                <a:latin typeface="Verdana"/>
                <a:ea typeface="Verdana"/>
                <a:cs typeface="Verdana" pitchFamily="34" charset="0"/>
              </a:rPr>
              <a:t> are inconsistent with the belief in parliamentary sovereignty.</a:t>
            </a:r>
          </a:p>
          <a:p>
            <a:r>
              <a:rPr lang="en-GB" sz="2000" b="0" i="0" dirty="0">
                <a:effectLst/>
                <a:latin typeface="Verdana"/>
                <a:ea typeface="Verdana"/>
                <a:cs typeface="Verdana" pitchFamily="34" charset="0"/>
              </a:rPr>
              <a:t>2. Issues might be too complex for a mere yes/no vote or for the public to understand.</a:t>
            </a:r>
          </a:p>
          <a:p>
            <a:r>
              <a:rPr lang="en-GB" sz="2000" dirty="0">
                <a:latin typeface="Verdana"/>
                <a:ea typeface="Verdana"/>
                <a:cs typeface="Verdana" pitchFamily="34" charset="0"/>
              </a:rPr>
              <a:t>3</a:t>
            </a:r>
            <a:r>
              <a:rPr lang="en-GB" sz="2000" b="0" i="0" dirty="0">
                <a:effectLst/>
                <a:latin typeface="Verdana"/>
                <a:ea typeface="Verdana"/>
                <a:cs typeface="Verdana" pitchFamily="34" charset="0"/>
              </a:rPr>
              <a:t>. There are effective alternatives : opinion polls and by-elections.</a:t>
            </a:r>
          </a:p>
          <a:p>
            <a:r>
              <a:rPr lang="en-GB" sz="2000" dirty="0">
                <a:latin typeface="Verdana"/>
                <a:ea typeface="Verdana"/>
                <a:cs typeface="Verdana" pitchFamily="34" charset="0"/>
              </a:rPr>
              <a:t>4. Can be expensive to the tax payers.</a:t>
            </a:r>
            <a:endParaRPr lang="en-GB" sz="2000" b="0" i="0" dirty="0"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endParaRPr lang="en-GB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48733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5" name="Picture 5" descr="jud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164388" cy="685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7164388" y="0"/>
            <a:ext cx="1979612" cy="710406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GB">
              <a:solidFill>
                <a:srgbClr val="FFFFFF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GB">
              <a:solidFill>
                <a:srgbClr val="FFFFFF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GB">
              <a:solidFill>
                <a:srgbClr val="FFFFFF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GB">
              <a:solidFill>
                <a:srgbClr val="FFFFFF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GB">
                <a:solidFill>
                  <a:srgbClr val="000514"/>
                </a:solidFill>
                <a:latin typeface="Arial" charset="0"/>
              </a:rPr>
              <a:t>Referendums improve the quality of the relationship between government and people’. To what extent do you agree?</a:t>
            </a:r>
          </a:p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GB">
              <a:solidFill>
                <a:srgbClr val="000514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GB">
              <a:solidFill>
                <a:srgbClr val="FFFFFF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GB">
              <a:solidFill>
                <a:srgbClr val="FFFFFF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GB">
              <a:solidFill>
                <a:srgbClr val="FFFFFF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GB">
              <a:solidFill>
                <a:srgbClr val="FFFFFF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GB">
              <a:solidFill>
                <a:srgbClr val="FFFFFF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GB">
              <a:solidFill>
                <a:srgbClr val="FFFFFF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917684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ym typeface="Webdings" pitchFamily="18" charset="2"/>
              </a:rPr>
              <a:t> Plenary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Where did direct democracy begin?</a:t>
            </a:r>
          </a:p>
          <a:p>
            <a:pPr>
              <a:lnSpc>
                <a:spcPct val="90000"/>
              </a:lnSpc>
            </a:pPr>
            <a:r>
              <a:rPr lang="en-GB" dirty="0"/>
              <a:t>Name 2 key characteristics of direct and indirect democracy</a:t>
            </a:r>
          </a:p>
          <a:p>
            <a:pPr>
              <a:lnSpc>
                <a:spcPct val="90000"/>
              </a:lnSpc>
            </a:pPr>
            <a:r>
              <a:rPr lang="en-GB" dirty="0"/>
              <a:t>Give 3 examples of referendums held in the UK?</a:t>
            </a:r>
          </a:p>
          <a:p>
            <a:pPr>
              <a:lnSpc>
                <a:spcPct val="90000"/>
              </a:lnSpc>
            </a:pPr>
            <a:r>
              <a:rPr lang="en-GB" dirty="0"/>
              <a:t>Give 3 advantages &amp; 3 disadvantages of referenda</a:t>
            </a:r>
          </a:p>
        </p:txBody>
      </p:sp>
    </p:spTree>
    <p:extLst>
      <p:ext uri="{BB962C8B-B14F-4D97-AF65-F5344CB8AC3E}">
        <p14:creationId xmlns:p14="http://schemas.microsoft.com/office/powerpoint/2010/main" val="2231050008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432</Words>
  <Application>Microsoft Office PowerPoint</Application>
  <PresentationFormat>On-screen Show (4:3)</PresentationFormat>
  <Paragraphs>48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Stream</vt:lpstr>
      <vt:lpstr>1_Stream</vt:lpstr>
      <vt:lpstr>3_Stream</vt:lpstr>
      <vt:lpstr>4_Stream</vt:lpstr>
      <vt:lpstr>PowerPoint Presentation</vt:lpstr>
      <vt:lpstr>PowerPoint Presentation</vt:lpstr>
      <vt:lpstr>Referendums in Australia</vt:lpstr>
      <vt:lpstr>UK referendums</vt:lpstr>
      <vt:lpstr>PowerPoint Presentation</vt:lpstr>
      <vt:lpstr>PowerPoint Presentation</vt:lpstr>
      <vt:lpstr>PowerPoint Presentation</vt:lpstr>
      <vt:lpstr> Plenary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Referendums in UK</dc:title>
  <dc:creator>lee</dc:creator>
  <cp:lastModifiedBy>Aiden Herron</cp:lastModifiedBy>
  <cp:revision>28</cp:revision>
  <dcterms:created xsi:type="dcterms:W3CDTF">2010-09-13T19:28:33Z</dcterms:created>
  <dcterms:modified xsi:type="dcterms:W3CDTF">2021-11-14T12:51:20Z</dcterms:modified>
</cp:coreProperties>
</file>
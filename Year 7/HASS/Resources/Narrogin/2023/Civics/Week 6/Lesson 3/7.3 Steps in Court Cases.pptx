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8"/>
  </p:sldMasterIdLst>
  <p:sldIdLst>
    <p:sldId id="290" r:id="rId9"/>
    <p:sldId id="292" r:id="rId10"/>
    <p:sldId id="322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91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9" r:id="rId34"/>
    <p:sldId id="306" r:id="rId35"/>
    <p:sldId id="307" r:id="rId36"/>
    <p:sldId id="308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</p:sldIdLst>
  <p:sldSz cx="9144000" cy="6858000" type="screen4x3"/>
  <p:notesSz cx="6954838" cy="9240838"/>
  <p:custDataLst>
    <p:custData r:id="rId2"/>
  </p:custData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presProps" Target="presProp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tableStyles" Target="tableStyles.xml"/><Relationship Id="rId5" Type="http://schemas.openxmlformats.org/officeDocument/2006/relationships/customXml" Target="../customXml/item5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8" Type="http://schemas.openxmlformats.org/officeDocument/2006/relationships/slideMaster" Target="slideMasters/slideMaster1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381000" y="457200"/>
            <a:ext cx="8397875" cy="5562600"/>
            <a:chOff x="240" y="288"/>
            <a:chExt cx="5290" cy="3504"/>
          </a:xfrm>
        </p:grpSpPr>
        <p:sp>
          <p:nvSpPr>
            <p:cNvPr id="5123" name="Rectangle 3"/>
            <p:cNvSpPr>
              <a:spLocks noChangeArrowheads="1"/>
            </p:cNvSpPr>
            <p:nvPr/>
          </p:nvSpPr>
          <p:spPr bwMode="blackWhite">
            <a:xfrm>
              <a:off x="240" y="288"/>
              <a:ext cx="5290" cy="3504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5124" name="Rectangle 4"/>
            <p:cNvSpPr>
              <a:spLocks noChangeArrowheads="1"/>
            </p:cNvSpPr>
            <p:nvPr/>
          </p:nvSpPr>
          <p:spPr bwMode="auto">
            <a:xfrm>
              <a:off x="285" y="336"/>
              <a:ext cx="5184" cy="3408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5125" name="Line 5"/>
            <p:cNvSpPr>
              <a:spLocks noChangeShapeType="1"/>
            </p:cNvSpPr>
            <p:nvPr/>
          </p:nvSpPr>
          <p:spPr bwMode="auto">
            <a:xfrm>
              <a:off x="576" y="2256"/>
              <a:ext cx="460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6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219200" y="838200"/>
            <a:ext cx="6781800" cy="2559050"/>
          </a:xfrm>
        </p:spPr>
        <p:txBody>
          <a:bodyPr anchorCtr="1"/>
          <a:lstStyle>
            <a:lvl1pPr algn="ctr">
              <a:defRPr sz="6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187325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dt" sz="half" idx="2"/>
          </p:nvPr>
        </p:nvSpPr>
        <p:spPr>
          <a:xfrm>
            <a:off x="536575" y="6248400"/>
            <a:ext cx="2054225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ftr" sz="quarter" idx="3"/>
          </p:nvPr>
        </p:nvSpPr>
        <p:spPr>
          <a:xfrm>
            <a:off x="3251200" y="6248400"/>
            <a:ext cx="2887663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788150" y="625792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6DB0411E-495D-476D-B9E7-597F3B89214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/>
      <p:bldP spid="5127" grpId="0" build="p">
        <p:tmplLst>
          <p:tmpl lvl="1">
            <p:tnLst>
              <p:par>
                <p:cTn presetID="23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1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1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C7C77B-9498-441F-A67F-A11D97192C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EE887-DACE-4DC5-9B8A-1ACA3CF4409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828800"/>
            <a:ext cx="40005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005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584901-6E8B-45A7-8515-BED2FE3F46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F8BD97-713C-43CB-8D3C-66C4E004E67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61A02C-4FA9-4FFF-8448-0A34E43B41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DA2910-E191-4BCB-81A6-A085CDD5E4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2995CD-F5D9-4D17-AD07-05A10FAEE1B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0215BB-9D58-46AE-9B1A-E65CFABA9E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847B23-EF88-435D-A04E-3F63DCC3E6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8450" y="473075"/>
            <a:ext cx="2038350" cy="5394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473075"/>
            <a:ext cx="5962650" cy="53943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A04FBB-6AAB-460B-9159-B2F769FB67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73075"/>
            <a:ext cx="8153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828800"/>
            <a:ext cx="40005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005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33400" y="6248400"/>
            <a:ext cx="20574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385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7A23128-B297-40F4-908F-ABF5AC561C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73075"/>
            <a:ext cx="8153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828800"/>
            <a:ext cx="81534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400" y="3924300"/>
            <a:ext cx="81534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33400" y="6248400"/>
            <a:ext cx="20574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385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B4B95B4-C78F-480B-95F3-8B43FB94B0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228600" y="228600"/>
            <a:ext cx="8686800" cy="5943600"/>
            <a:chOff x="144" y="144"/>
            <a:chExt cx="5472" cy="3744"/>
          </a:xfrm>
        </p:grpSpPr>
        <p:sp>
          <p:nvSpPr>
            <p:cNvPr id="4099" name="Rectangle 3"/>
            <p:cNvSpPr>
              <a:spLocks noChangeArrowheads="1"/>
            </p:cNvSpPr>
            <p:nvPr/>
          </p:nvSpPr>
          <p:spPr bwMode="auto">
            <a:xfrm>
              <a:off x="144" y="144"/>
              <a:ext cx="5472" cy="3744"/>
            </a:xfrm>
            <a:prstGeom prst="rect">
              <a:avLst/>
            </a:prstGeom>
            <a:solidFill>
              <a:schemeClr val="bg1"/>
            </a:solidFill>
            <a:ln w="444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100" name="Rectangle 4"/>
            <p:cNvSpPr>
              <a:spLocks noChangeArrowheads="1"/>
            </p:cNvSpPr>
            <p:nvPr/>
          </p:nvSpPr>
          <p:spPr bwMode="blackWhite">
            <a:xfrm>
              <a:off x="193" y="193"/>
              <a:ext cx="5373" cy="36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101" name="Line 5"/>
            <p:cNvSpPr>
              <a:spLocks noChangeShapeType="1"/>
            </p:cNvSpPr>
            <p:nvPr/>
          </p:nvSpPr>
          <p:spPr bwMode="auto">
            <a:xfrm>
              <a:off x="336" y="1092"/>
              <a:ext cx="5136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0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473075"/>
            <a:ext cx="8153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828800"/>
            <a:ext cx="81534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334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385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endParaRPr lang="en-US"/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5A321C32-1DD3-448D-B1A7-271A496C89FE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" grpId="0"/>
      <p:bldP spid="4103" grpId="0" build="p">
        <p:tmplLst>
          <p:tmpl lvl="1">
            <p:tnLst>
              <p:par>
                <p:cTn presetID="23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0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0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0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0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0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0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0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0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0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0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txStyles>
    <p:titleStyle>
      <a:lvl1pPr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n"/>
        <a:defRPr sz="3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google.com/imgres?imgurl=http://www.ourbail.com/ad-our-bail-web.gif&amp;imgrefurl=http://www.ourbail.com/&amp;usg=___ppBowBUTmzxxaKMgaeDzmfvp9s=&amp;h=343&amp;w=900&amp;sz=50&amp;hl=en&amp;start=20&amp;zoom=1&amp;itbs=1&amp;tbnid=YUmmqkUBnxcc9M:&amp;tbnh=56&amp;tbnw=146&amp;prev=/images?q=bail&amp;hl=en&amp;safe=active&amp;gbv=2&amp;tbs=isch:1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Warm-Up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were the 4 influences on American law?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1E8DE-4CCF-4CD9-9C32-32EAE3200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</a:t>
            </a:r>
            <a:r>
              <a:rPr lang="en-US"/>
              <a:t>in Court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19498-6BB8-415F-B454-60F8D6943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 7, Part 3</a:t>
            </a:r>
          </a:p>
        </p:txBody>
      </p:sp>
    </p:spTree>
    <p:extLst>
      <p:ext uri="{BB962C8B-B14F-4D97-AF65-F5344CB8AC3E}">
        <p14:creationId xmlns:p14="http://schemas.microsoft.com/office/powerpoint/2010/main" val="346692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DA03D-E811-4CF2-8273-96648C7FA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9D14D-967C-4443-B001-E45C240D3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Learning Target </a:t>
            </a:r>
          </a:p>
          <a:p>
            <a:r>
              <a:rPr lang="en-US" dirty="0"/>
              <a:t>I can explain difference between a criminal case and a civil case</a:t>
            </a:r>
          </a:p>
          <a:p>
            <a:r>
              <a:rPr lang="en-US" sz="4000" dirty="0"/>
              <a:t>Essential Question</a:t>
            </a:r>
          </a:p>
          <a:p>
            <a:r>
              <a:rPr lang="en-US" dirty="0"/>
              <a:t>What are the differences between a civil and a criminal case?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73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Steps to a civil case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90550" indent="-59055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dirty="0"/>
              <a:t>Plaintiffs attorney files a complaint</a:t>
            </a:r>
          </a:p>
          <a:p>
            <a:pPr marL="590550" indent="-59055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dirty="0"/>
              <a:t>Court sends a summons to defendant</a:t>
            </a:r>
          </a:p>
          <a:p>
            <a:pPr marL="590550" indent="-59055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dirty="0"/>
              <a:t>Defendant’s attorney files a written answer</a:t>
            </a:r>
          </a:p>
          <a:p>
            <a:pPr marL="590550" indent="-59055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dirty="0"/>
              <a:t>Attorneys for both sides exchange plea documents</a:t>
            </a:r>
          </a:p>
          <a:p>
            <a:pPr marL="590550" indent="-59055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dirty="0"/>
              <a:t>Attorneys argue case in court</a:t>
            </a:r>
          </a:p>
          <a:p>
            <a:pPr marL="590550" indent="-59055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dirty="0"/>
              <a:t>Court gives verdict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Steps to a Criminal Case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90550" indent="-590550">
              <a:buFont typeface="Wingdings" pitchFamily="2" charset="2"/>
              <a:buAutoNum type="arabicPeriod"/>
            </a:pPr>
            <a:r>
              <a:rPr lang="en-US" dirty="0"/>
              <a:t>Arrest </a:t>
            </a:r>
            <a:endParaRPr lang="en-US" b="1" u="sng" dirty="0"/>
          </a:p>
          <a:p>
            <a:pPr marL="590550" indent="-590550">
              <a:buFont typeface="Wingdings" pitchFamily="2" charset="2"/>
              <a:buNone/>
            </a:pPr>
            <a:endParaRPr lang="en-US" dirty="0"/>
          </a:p>
        </p:txBody>
      </p:sp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86063" y="2630651"/>
            <a:ext cx="5519737" cy="310164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Preliminary Hearing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Suspect appears before judge and </a:t>
            </a:r>
            <a:r>
              <a:rPr lang="en-US" b="1" u="sng" dirty="0">
                <a:hlinkClick r:id="rId2"/>
              </a:rPr>
              <a:t>bail</a:t>
            </a:r>
            <a:r>
              <a:rPr lang="en-US" b="1" u="sng" dirty="0"/>
              <a:t> is set</a:t>
            </a:r>
          </a:p>
        </p:txBody>
      </p:sp>
      <p:pic>
        <p:nvPicPr>
          <p:cNvPr id="33797" name="Picture 5" descr="bai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2438400"/>
            <a:ext cx="5715000" cy="4038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Indictment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Grand Jury (or judge) hears evidence and formally charges</a:t>
            </a:r>
          </a:p>
        </p:txBody>
      </p:sp>
      <p:pic>
        <p:nvPicPr>
          <p:cNvPr id="34821" name="Picture 5" descr="2005GrandJur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200400"/>
            <a:ext cx="3857625" cy="2609850"/>
          </a:xfrm>
          <a:prstGeom prst="rect">
            <a:avLst/>
          </a:prstGeom>
          <a:noFill/>
        </p:spPr>
      </p:pic>
      <p:pic>
        <p:nvPicPr>
          <p:cNvPr id="34823" name="Picture 7" descr="indictment-thumb-400x50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2438400"/>
            <a:ext cx="3733800" cy="4114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Arraignment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700" b="1" u="sng" dirty="0"/>
              <a:t>Defendant pleads not guilty and trial date is set</a:t>
            </a:r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700" b="1" dirty="0"/>
              <a:t>Defendant pleads guilty and accepts </a:t>
            </a:r>
            <a:r>
              <a:rPr lang="en-US" sz="2700" b="1" i="1" dirty="0"/>
              <a:t>plea bargain – </a:t>
            </a:r>
            <a:r>
              <a:rPr lang="en-US" sz="2700" b="1" u="sng" dirty="0"/>
              <a:t>conviction of lesser charge for softer sentence</a:t>
            </a:r>
            <a:endParaRPr lang="en-US" sz="27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5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build="p"/>
      <p:bldP spid="3584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Trial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Prosecution and Defense present case</a:t>
            </a:r>
          </a:p>
          <a:p>
            <a:r>
              <a:rPr lang="en-US" b="1" u="sng" dirty="0"/>
              <a:t>Jury (or judge) reaches verdict</a:t>
            </a:r>
          </a:p>
        </p:txBody>
      </p:sp>
      <p:pic>
        <p:nvPicPr>
          <p:cNvPr id="37893" name="Picture 5" descr="VERDIC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3048000"/>
            <a:ext cx="5686425" cy="3657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Acquittal 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Defendant found not guilty</a:t>
            </a:r>
          </a:p>
        </p:txBody>
      </p:sp>
      <p:pic>
        <p:nvPicPr>
          <p:cNvPr id="38917" name="Picture 5" descr="Carmelita Durio O.J. Simpson (L) embraces his friend Tom Scotto (R) as his sister Carmelita Durio (R) looks on in court after a guilty verdict was reached during his trial at the Clark County Regional Justice Center on October 3, 2008 in Las Vegas, Nevada. Simpson and co-defendant Clarence &quot;C.J.&quot; Stewart were found guilty on all charges after standing trial for crimes including felony kidnapping, armed robbery and conspiracy related to a 2007 confrontation with sports memorabilia dealers in a Las Vegas hotel. The verdict comes 13 years to the day after Simpson was acquitted of murdering his ex-wife Nicole Brown Simpson and Ronald Goldman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590800"/>
            <a:ext cx="5657850" cy="38957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Sentencing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Defendant found guilty and judge sentences (punishes)</a:t>
            </a:r>
          </a:p>
        </p:txBody>
      </p:sp>
      <p:pic>
        <p:nvPicPr>
          <p:cNvPr id="39941" name="Picture 5" descr="Kansas_Slaying-8826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2438400"/>
            <a:ext cx="3067050" cy="3886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Watch an episode of Law &amp; Order (or any police show)  Include all the steps of either a criminal or a civil case in your writing.  DETAILS ARE IMPORTANT.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06553-BE03-4121-8A05-68F45F30C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461E0-6B94-4E0A-BC3E-C75EA9BBE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13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BCBEF-4BE4-4152-8CDB-449658684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1. A person who helps resolve disputes by leading the discussion between the two sides and keeping communications open is referred to 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5C968-6331-4E3A-97FC-28FCC94EE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an arbitrator</a:t>
            </a:r>
          </a:p>
          <a:p>
            <a:r>
              <a:rPr lang="en-US" dirty="0"/>
              <a:t>B. an attorney </a:t>
            </a:r>
          </a:p>
          <a:p>
            <a:r>
              <a:rPr lang="en-US" dirty="0"/>
              <a:t>C. a mediator</a:t>
            </a:r>
          </a:p>
          <a:p>
            <a:r>
              <a:rPr lang="en-US" dirty="0"/>
              <a:t>D. a plaintiff</a:t>
            </a:r>
          </a:p>
          <a:p>
            <a:endParaRPr lang="en-US" dirty="0"/>
          </a:p>
          <a:p>
            <a:r>
              <a:rPr lang="en-US" dirty="0"/>
              <a:t>C. a Mediator</a:t>
            </a:r>
          </a:p>
        </p:txBody>
      </p:sp>
    </p:spTree>
    <p:extLst>
      <p:ext uri="{BB962C8B-B14F-4D97-AF65-F5344CB8AC3E}">
        <p14:creationId xmlns:p14="http://schemas.microsoft.com/office/powerpoint/2010/main" val="1614923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D163-DC75-4443-B891-692544B0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2. After all the evidence has been presented and the arguments made, the judge or jury will consider the case and then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A5107-26FE-4E8E-9DDA-7CFA1ADE0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Decide on a verdict</a:t>
            </a:r>
          </a:p>
          <a:p>
            <a:r>
              <a:rPr lang="en-US" dirty="0"/>
              <a:t>B. Issue an injunction</a:t>
            </a:r>
          </a:p>
          <a:p>
            <a:r>
              <a:rPr lang="en-US" dirty="0"/>
              <a:t>C. Appeal the case</a:t>
            </a:r>
          </a:p>
          <a:p>
            <a:r>
              <a:rPr lang="en-US" dirty="0"/>
              <a:t>D. File a complaint</a:t>
            </a:r>
          </a:p>
          <a:p>
            <a:endParaRPr lang="en-US" dirty="0"/>
          </a:p>
          <a:p>
            <a:r>
              <a:rPr lang="en-US" dirty="0"/>
              <a:t>A. Decide on a Verdict </a:t>
            </a:r>
          </a:p>
        </p:txBody>
      </p:sp>
    </p:spTree>
    <p:extLst>
      <p:ext uri="{BB962C8B-B14F-4D97-AF65-F5344CB8AC3E}">
        <p14:creationId xmlns:p14="http://schemas.microsoft.com/office/powerpoint/2010/main" val="3277024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8E643-0AF4-41C6-B9BD-DF94CFA93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What type of suit is filed when a person has been injured or killed?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64A43-AF04-4B3C-83C1-687A32A5A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Equity suit</a:t>
            </a:r>
          </a:p>
          <a:p>
            <a:r>
              <a:rPr lang="en-US" dirty="0"/>
              <a:t>B. Negligence suit</a:t>
            </a:r>
          </a:p>
          <a:p>
            <a:r>
              <a:rPr lang="en-US" dirty="0"/>
              <a:t>C. Property dispute</a:t>
            </a:r>
          </a:p>
          <a:p>
            <a:r>
              <a:rPr lang="en-US" dirty="0"/>
              <a:t>D. Breach of contract</a:t>
            </a:r>
          </a:p>
          <a:p>
            <a:endParaRPr lang="en-US" dirty="0"/>
          </a:p>
          <a:p>
            <a:r>
              <a:rPr lang="en-US" dirty="0"/>
              <a:t>B. Negligence Suit</a:t>
            </a:r>
          </a:p>
        </p:txBody>
      </p:sp>
    </p:spTree>
    <p:extLst>
      <p:ext uri="{BB962C8B-B14F-4D97-AF65-F5344CB8AC3E}">
        <p14:creationId xmlns:p14="http://schemas.microsoft.com/office/powerpoint/2010/main" val="2019351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33459-0BA6-49B4-9BDC-D42575D5F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The complaint and the answer together referred to 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CE9F-4C92-4F38-BE92-FB0E7365E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Discovery</a:t>
            </a:r>
          </a:p>
          <a:p>
            <a:r>
              <a:rPr lang="en-US" dirty="0"/>
              <a:t>B. Pleadings</a:t>
            </a:r>
          </a:p>
          <a:p>
            <a:r>
              <a:rPr lang="en-US" dirty="0"/>
              <a:t>C. A summons</a:t>
            </a:r>
          </a:p>
          <a:p>
            <a:r>
              <a:rPr lang="en-US" dirty="0"/>
              <a:t>D. An injunction</a:t>
            </a:r>
          </a:p>
          <a:p>
            <a:endParaRPr lang="en-US" dirty="0"/>
          </a:p>
          <a:p>
            <a:r>
              <a:rPr lang="en-US" dirty="0"/>
              <a:t>B. Pleadings</a:t>
            </a:r>
          </a:p>
        </p:txBody>
      </p:sp>
    </p:spTree>
    <p:extLst>
      <p:ext uri="{BB962C8B-B14F-4D97-AF65-F5344CB8AC3E}">
        <p14:creationId xmlns:p14="http://schemas.microsoft.com/office/powerpoint/2010/main" val="3058844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4442C-7FF1-42F0-A252-E5598EAF8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5. What term refers to a document telling the defendant of the suit against him and ordering him to appear in court on a given fate and time?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19726-769B-4916-96FF-A7959B5CE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Injunction</a:t>
            </a:r>
          </a:p>
          <a:p>
            <a:r>
              <a:rPr lang="en-US" dirty="0"/>
              <a:t>B. Complaint</a:t>
            </a:r>
          </a:p>
          <a:p>
            <a:r>
              <a:rPr lang="en-US" dirty="0"/>
              <a:t>C. Summons</a:t>
            </a:r>
          </a:p>
          <a:p>
            <a:r>
              <a:rPr lang="en-US" dirty="0"/>
              <a:t>D. Charge</a:t>
            </a:r>
          </a:p>
          <a:p>
            <a:endParaRPr lang="en-US" dirty="0"/>
          </a:p>
          <a:p>
            <a:r>
              <a:rPr lang="en-US" dirty="0"/>
              <a:t>C. Summons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633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C616F-7BEB-4F27-B4FC-A40E12571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6. Which of the following is a court order that commands a person or group </a:t>
            </a:r>
            <a:r>
              <a:rPr lang="en-US" sz="3200"/>
              <a:t>to stop </a:t>
            </a:r>
            <a:r>
              <a:rPr lang="en-US" sz="3200" dirty="0"/>
              <a:t>a certain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BD701-927B-47DE-AD72-599DA09DD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Complaint</a:t>
            </a:r>
          </a:p>
          <a:p>
            <a:r>
              <a:rPr lang="en-US" dirty="0"/>
              <a:t>B. Injunction</a:t>
            </a:r>
          </a:p>
          <a:p>
            <a:r>
              <a:rPr lang="en-US" dirty="0"/>
              <a:t>C. Summons</a:t>
            </a:r>
          </a:p>
          <a:p>
            <a:r>
              <a:rPr lang="en-US" dirty="0"/>
              <a:t>D. Plaintiff</a:t>
            </a:r>
          </a:p>
          <a:p>
            <a:endParaRPr lang="en-US" dirty="0"/>
          </a:p>
          <a:p>
            <a:r>
              <a:rPr lang="en-US" dirty="0"/>
              <a:t>B. Injunction</a:t>
            </a:r>
          </a:p>
        </p:txBody>
      </p:sp>
    </p:spTree>
    <p:extLst>
      <p:ext uri="{BB962C8B-B14F-4D97-AF65-F5344CB8AC3E}">
        <p14:creationId xmlns:p14="http://schemas.microsoft.com/office/powerpoint/2010/main" val="1118299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C3968-71E2-4C7D-BCC6-E0FAEB2E9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7. A ___ is a formal statement naming the plaintiff and the defendant and describing the nature of the lawsuit.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75A5A-EC6D-4932-827D-E30AB73BD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Summons</a:t>
            </a:r>
          </a:p>
          <a:p>
            <a:r>
              <a:rPr lang="en-US" dirty="0"/>
              <a:t>B. Pleadings</a:t>
            </a:r>
          </a:p>
          <a:p>
            <a:r>
              <a:rPr lang="en-US" dirty="0"/>
              <a:t>C. Complaint</a:t>
            </a:r>
          </a:p>
          <a:p>
            <a:r>
              <a:rPr lang="en-US" dirty="0"/>
              <a:t>D. Discovery</a:t>
            </a:r>
          </a:p>
          <a:p>
            <a:endParaRPr lang="en-US" dirty="0"/>
          </a:p>
          <a:p>
            <a:r>
              <a:rPr lang="en-US" dirty="0"/>
              <a:t>C. Complaint</a:t>
            </a:r>
          </a:p>
        </p:txBody>
      </p:sp>
    </p:spTree>
    <p:extLst>
      <p:ext uri="{BB962C8B-B14F-4D97-AF65-F5344CB8AC3E}">
        <p14:creationId xmlns:p14="http://schemas.microsoft.com/office/powerpoint/2010/main" val="4187324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D0954-9A3F-4BE3-AD6C-A95F1E469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8. Which of the following is a process by which each side can check facts and gather evidence before going to trial?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B6710-22FF-4F86-9B65-13FBB5CA9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Summons</a:t>
            </a:r>
          </a:p>
          <a:p>
            <a:r>
              <a:rPr lang="en-US" dirty="0"/>
              <a:t>B. Pleadings</a:t>
            </a:r>
          </a:p>
          <a:p>
            <a:r>
              <a:rPr lang="en-US" dirty="0"/>
              <a:t>C. Complaint</a:t>
            </a:r>
          </a:p>
          <a:p>
            <a:r>
              <a:rPr lang="en-US" dirty="0"/>
              <a:t>D. Discovery</a:t>
            </a:r>
          </a:p>
          <a:p>
            <a:endParaRPr lang="en-US" dirty="0"/>
          </a:p>
          <a:p>
            <a:r>
              <a:rPr lang="en-US" dirty="0"/>
              <a:t>D. Discovery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832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018C0-C28B-4D37-819B-A6AE32CB7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9. ___ are people who act somewhat like a judges by reviewing cases and resolving the disputes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00180-98FA-42B8-8400-B927EE3D5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Mediators </a:t>
            </a:r>
          </a:p>
          <a:p>
            <a:r>
              <a:rPr lang="en-US" dirty="0"/>
              <a:t>B. Arbitrators</a:t>
            </a:r>
          </a:p>
          <a:p>
            <a:r>
              <a:rPr lang="en-US" dirty="0"/>
              <a:t>C. Juries</a:t>
            </a:r>
          </a:p>
          <a:p>
            <a:r>
              <a:rPr lang="en-US" dirty="0"/>
              <a:t>D. Lawyers</a:t>
            </a:r>
          </a:p>
          <a:p>
            <a:endParaRPr lang="en-US" dirty="0"/>
          </a:p>
          <a:p>
            <a:r>
              <a:rPr lang="en-US" dirty="0"/>
              <a:t>B. Arbitrators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214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95910-8034-44DE-B2D3-0B9113840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The ____ is the party bringing the lawsuit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CAAE3-72F3-4A5E-A99F-C9BE3AEAA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Lawyer </a:t>
            </a:r>
          </a:p>
          <a:p>
            <a:r>
              <a:rPr lang="en-US" dirty="0"/>
              <a:t>B. Defendant </a:t>
            </a:r>
          </a:p>
          <a:p>
            <a:r>
              <a:rPr lang="en-US" dirty="0"/>
              <a:t>C. Judge</a:t>
            </a:r>
          </a:p>
          <a:p>
            <a:r>
              <a:rPr lang="en-US" dirty="0"/>
              <a:t>D. Plaintiff</a:t>
            </a:r>
          </a:p>
          <a:p>
            <a:endParaRPr lang="en-US" dirty="0"/>
          </a:p>
          <a:p>
            <a:r>
              <a:rPr lang="en-US" dirty="0"/>
              <a:t>D. Plaintiff</a:t>
            </a:r>
          </a:p>
        </p:txBody>
      </p:sp>
    </p:spTree>
    <p:extLst>
      <p:ext uri="{BB962C8B-B14F-4D97-AF65-F5344CB8AC3E}">
        <p14:creationId xmlns:p14="http://schemas.microsoft.com/office/powerpoint/2010/main" val="2747439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7E20-8AF8-426D-BEAB-907661632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11. A ___ is a document that tells a person or group of a lawsuit against them and orders them to appear in court on a given date and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9A0CE-2A68-4493-9030-C89A834FF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Injunction</a:t>
            </a:r>
          </a:p>
          <a:p>
            <a:r>
              <a:rPr lang="en-US" dirty="0"/>
              <a:t>B. Subpoena</a:t>
            </a:r>
          </a:p>
          <a:p>
            <a:r>
              <a:rPr lang="en-US" dirty="0"/>
              <a:t>C. Summons</a:t>
            </a:r>
          </a:p>
          <a:p>
            <a:r>
              <a:rPr lang="en-US" dirty="0"/>
              <a:t>D. Complaint</a:t>
            </a:r>
          </a:p>
          <a:p>
            <a:endParaRPr lang="en-US" dirty="0"/>
          </a:p>
          <a:p>
            <a:r>
              <a:rPr lang="en-US" dirty="0"/>
              <a:t>C. Summons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436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C966E-AC1C-45FD-B3B2-27FC97F20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 What is the term for the party being sued?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9D50E-CD94-4894-8B0E-74D79B5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Defendant </a:t>
            </a:r>
          </a:p>
          <a:p>
            <a:r>
              <a:rPr lang="en-US" dirty="0"/>
              <a:t>B. Victim</a:t>
            </a:r>
          </a:p>
          <a:p>
            <a:r>
              <a:rPr lang="en-US" dirty="0"/>
              <a:t>C. Plaintiff</a:t>
            </a:r>
          </a:p>
          <a:p>
            <a:r>
              <a:rPr lang="en-US" dirty="0"/>
              <a:t>D. Accuser</a:t>
            </a:r>
          </a:p>
          <a:p>
            <a:endParaRPr lang="en-US" dirty="0"/>
          </a:p>
          <a:p>
            <a:r>
              <a:rPr lang="en-US" dirty="0"/>
              <a:t>A. Defendant</a:t>
            </a:r>
          </a:p>
        </p:txBody>
      </p:sp>
    </p:spTree>
    <p:extLst>
      <p:ext uri="{BB962C8B-B14F-4D97-AF65-F5344CB8AC3E}">
        <p14:creationId xmlns:p14="http://schemas.microsoft.com/office/powerpoint/2010/main" val="1196706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5A7D1-213E-4CA5-9138-CFBBA8BBC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13. What is the term for the complaint and the answer taken together?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654BC-2BDB-46B1-91E2-DC621C527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injunction</a:t>
            </a:r>
          </a:p>
          <a:p>
            <a:r>
              <a:rPr lang="en-US" dirty="0"/>
              <a:t>B. settlement</a:t>
            </a:r>
          </a:p>
          <a:p>
            <a:r>
              <a:rPr lang="en-US" dirty="0"/>
              <a:t>C. pleadings</a:t>
            </a:r>
          </a:p>
          <a:p>
            <a:r>
              <a:rPr lang="en-US" dirty="0"/>
              <a:t>D. arbitration</a:t>
            </a:r>
          </a:p>
          <a:p>
            <a:endParaRPr lang="en-US" dirty="0"/>
          </a:p>
          <a:p>
            <a:r>
              <a:rPr lang="en-US" dirty="0"/>
              <a:t>C. Pleadings</a:t>
            </a:r>
          </a:p>
        </p:txBody>
      </p:sp>
    </p:spTree>
    <p:extLst>
      <p:ext uri="{BB962C8B-B14F-4D97-AF65-F5344CB8AC3E}">
        <p14:creationId xmlns:p14="http://schemas.microsoft.com/office/powerpoint/2010/main" val="804565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27F6E-B5CA-4419-9916-FB16DA6AC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14. The defendant is formally presented with the charges  and asked to enter a plea at the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380EC-643A-49F7-ADA4-24D08A10B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Booking</a:t>
            </a:r>
          </a:p>
          <a:p>
            <a:r>
              <a:rPr lang="en-US" dirty="0"/>
              <a:t>B. Indictment</a:t>
            </a:r>
          </a:p>
          <a:p>
            <a:r>
              <a:rPr lang="en-US" dirty="0"/>
              <a:t>C. Hearing</a:t>
            </a:r>
          </a:p>
          <a:p>
            <a:r>
              <a:rPr lang="en-US" dirty="0"/>
              <a:t>D. Arraignment</a:t>
            </a:r>
          </a:p>
          <a:p>
            <a:endParaRPr lang="en-US" dirty="0"/>
          </a:p>
          <a:p>
            <a:r>
              <a:rPr lang="en-US" dirty="0"/>
              <a:t>D. Arraignment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3161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280B-641F-47C8-8544-D49E98569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15. Which of the following is NOT a right that police officers must inform citizens of when they are arrested?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225FA-13C4-4058-AE88-F09E04FDA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Right to a trial by jury</a:t>
            </a:r>
          </a:p>
          <a:p>
            <a:r>
              <a:rPr lang="en-US" dirty="0"/>
              <a:t>B. Right to have an attorney</a:t>
            </a:r>
          </a:p>
          <a:p>
            <a:r>
              <a:rPr lang="en-US" dirty="0"/>
              <a:t>C. Right to remain silent </a:t>
            </a:r>
          </a:p>
          <a:p>
            <a:r>
              <a:rPr lang="en-US" dirty="0"/>
              <a:t>D. Right to stop answering questions</a:t>
            </a:r>
          </a:p>
          <a:p>
            <a:endParaRPr lang="en-US" dirty="0"/>
          </a:p>
          <a:p>
            <a:r>
              <a:rPr lang="en-US" dirty="0"/>
              <a:t>A. Right to a Trial by Jury</a:t>
            </a:r>
          </a:p>
        </p:txBody>
      </p:sp>
    </p:spTree>
    <p:extLst>
      <p:ext uri="{BB962C8B-B14F-4D97-AF65-F5344CB8AC3E}">
        <p14:creationId xmlns:p14="http://schemas.microsoft.com/office/powerpoint/2010/main" val="24828521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8F564-9D0A-4133-B9CE-38EBB70B0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8153400" cy="1143000"/>
          </a:xfrm>
        </p:spPr>
        <p:txBody>
          <a:bodyPr/>
          <a:lstStyle/>
          <a:p>
            <a:r>
              <a:rPr lang="en-US" sz="4000" dirty="0"/>
              <a:t>16. What happens to a defendant when the jury votes for an acquittal?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654F5-A1BF-4579-8918-EEE495FE9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The verdict is appealed</a:t>
            </a:r>
          </a:p>
          <a:p>
            <a:r>
              <a:rPr lang="en-US" dirty="0"/>
              <a:t>B. The defendant is sentenced</a:t>
            </a:r>
          </a:p>
          <a:p>
            <a:r>
              <a:rPr lang="en-US" dirty="0"/>
              <a:t>C. The defendant is released</a:t>
            </a:r>
          </a:p>
          <a:p>
            <a:r>
              <a:rPr lang="en-US" dirty="0"/>
              <a:t>D. The judge rules a mistrial</a:t>
            </a:r>
          </a:p>
          <a:p>
            <a:endParaRPr lang="en-US" dirty="0"/>
          </a:p>
          <a:p>
            <a:r>
              <a:rPr lang="en-US" dirty="0"/>
              <a:t>C. The Defendant is Released </a:t>
            </a:r>
          </a:p>
        </p:txBody>
      </p:sp>
    </p:spTree>
    <p:extLst>
      <p:ext uri="{BB962C8B-B14F-4D97-AF65-F5344CB8AC3E}">
        <p14:creationId xmlns:p14="http://schemas.microsoft.com/office/powerpoint/2010/main" val="639058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260DA-567E-489E-B122-E883BAC0A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17. Judges must impose whatever sentence the law directs in states that have established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DF26A-4546-488B-812D-D45EE519C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Mandatory Sentencing</a:t>
            </a:r>
          </a:p>
          <a:p>
            <a:r>
              <a:rPr lang="en-US" dirty="0"/>
              <a:t>B. Parole Boards</a:t>
            </a:r>
          </a:p>
          <a:p>
            <a:r>
              <a:rPr lang="en-US" dirty="0"/>
              <a:t>C. Criminal Penalties</a:t>
            </a:r>
          </a:p>
          <a:p>
            <a:r>
              <a:rPr lang="en-US" dirty="0"/>
              <a:t>D. Indeterminate Sentencing</a:t>
            </a:r>
          </a:p>
          <a:p>
            <a:endParaRPr lang="en-US" dirty="0"/>
          </a:p>
          <a:p>
            <a:r>
              <a:rPr lang="en-US" dirty="0"/>
              <a:t>A. Mandatory Sentencing</a:t>
            </a:r>
          </a:p>
        </p:txBody>
      </p:sp>
    </p:spTree>
    <p:extLst>
      <p:ext uri="{BB962C8B-B14F-4D97-AF65-F5344CB8AC3E}">
        <p14:creationId xmlns:p14="http://schemas.microsoft.com/office/powerpoint/2010/main" val="27800073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588AE-BA30-4790-ADA1-B4079B1E2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18. Which of the following is considered a victimless crime?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3A591-55DD-4E61-BBE7-20A658F6D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Assault</a:t>
            </a:r>
          </a:p>
          <a:p>
            <a:r>
              <a:rPr lang="en-US" dirty="0"/>
              <a:t>B. Vandalism</a:t>
            </a:r>
          </a:p>
          <a:p>
            <a:r>
              <a:rPr lang="en-US" dirty="0"/>
              <a:t>C. Fraud </a:t>
            </a:r>
          </a:p>
          <a:p>
            <a:r>
              <a:rPr lang="en-US" dirty="0"/>
              <a:t>D. Gambling</a:t>
            </a:r>
          </a:p>
          <a:p>
            <a:endParaRPr lang="en-US" dirty="0"/>
          </a:p>
          <a:p>
            <a:r>
              <a:rPr lang="en-US" dirty="0"/>
              <a:t>D. Gambling</a:t>
            </a:r>
          </a:p>
        </p:txBody>
      </p:sp>
    </p:spTree>
    <p:extLst>
      <p:ext uri="{BB962C8B-B14F-4D97-AF65-F5344CB8AC3E}">
        <p14:creationId xmlns:p14="http://schemas.microsoft.com/office/powerpoint/2010/main" val="155097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C3A4-1EF1-4D31-A434-0D982982E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19. Crimes and the punishments for them are spelled out in each state’s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36F5B-498B-4A53-B4C2-BE73097B2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Arraignment </a:t>
            </a:r>
          </a:p>
          <a:p>
            <a:r>
              <a:rPr lang="en-US" dirty="0"/>
              <a:t>B. Pleading</a:t>
            </a:r>
          </a:p>
          <a:p>
            <a:r>
              <a:rPr lang="en-US" dirty="0"/>
              <a:t>C. Penal Code</a:t>
            </a:r>
          </a:p>
          <a:p>
            <a:r>
              <a:rPr lang="en-US" dirty="0"/>
              <a:t>D. Injunction</a:t>
            </a:r>
          </a:p>
          <a:p>
            <a:endParaRPr lang="en-US" dirty="0"/>
          </a:p>
          <a:p>
            <a:r>
              <a:rPr lang="en-US" dirty="0"/>
              <a:t>C. Penal Code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118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C7B8-CB64-4D19-AACB-DAD2BD123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20. ____ is given under an oath to tell “the truth, the whole truth, and nothing but the truth.”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E947A-953F-483D-8D32-A47190A6C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Testimony </a:t>
            </a:r>
          </a:p>
          <a:p>
            <a:r>
              <a:rPr lang="en-US" dirty="0"/>
              <a:t>B. Acquittal</a:t>
            </a:r>
          </a:p>
          <a:p>
            <a:r>
              <a:rPr lang="en-US" dirty="0"/>
              <a:t>C. Cross-Examination</a:t>
            </a:r>
          </a:p>
          <a:p>
            <a:r>
              <a:rPr lang="en-US" dirty="0"/>
              <a:t>D. Arraignment</a:t>
            </a:r>
          </a:p>
          <a:p>
            <a:endParaRPr lang="en-US" dirty="0"/>
          </a:p>
          <a:p>
            <a:r>
              <a:rPr lang="en-US" dirty="0"/>
              <a:t>A. Testimony </a:t>
            </a:r>
          </a:p>
        </p:txBody>
      </p:sp>
    </p:spTree>
    <p:extLst>
      <p:ext uri="{BB962C8B-B14F-4D97-AF65-F5344CB8AC3E}">
        <p14:creationId xmlns:p14="http://schemas.microsoft.com/office/powerpoint/2010/main" val="2673349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5E0C-DD30-4C8B-9CF8-5C5B1E30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21. ____ means that the defendant does not admit guilt but will not fight the prosecution’s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5FAFE-4AAE-44CE-AB2C-8686AE36C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Plea Bargain</a:t>
            </a:r>
          </a:p>
          <a:p>
            <a:r>
              <a:rPr lang="en-US" dirty="0"/>
              <a:t>B. No Contest</a:t>
            </a:r>
          </a:p>
          <a:p>
            <a:r>
              <a:rPr lang="en-US" dirty="0"/>
              <a:t>C. Hung Jury</a:t>
            </a:r>
          </a:p>
          <a:p>
            <a:r>
              <a:rPr lang="en-US" dirty="0"/>
              <a:t>D. Acquittal</a:t>
            </a:r>
          </a:p>
          <a:p>
            <a:endParaRPr lang="en-US" dirty="0"/>
          </a:p>
          <a:p>
            <a:r>
              <a:rPr lang="en-US" dirty="0"/>
              <a:t>B. No Contest</a:t>
            </a:r>
          </a:p>
        </p:txBody>
      </p:sp>
    </p:spTree>
    <p:extLst>
      <p:ext uri="{BB962C8B-B14F-4D97-AF65-F5344CB8AC3E}">
        <p14:creationId xmlns:p14="http://schemas.microsoft.com/office/powerpoint/2010/main" val="579071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4FADD-49CB-4312-BC20-01F603473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22. When the jury cannot reach a verdict, the judge declares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E83D7-8F75-4207-869A-314EFFC11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A Plea Bargain</a:t>
            </a:r>
          </a:p>
          <a:p>
            <a:r>
              <a:rPr lang="en-US" dirty="0"/>
              <a:t>B. An Acquittal</a:t>
            </a:r>
          </a:p>
          <a:p>
            <a:r>
              <a:rPr lang="en-US" dirty="0"/>
              <a:t>C. A hung Jury</a:t>
            </a:r>
          </a:p>
          <a:p>
            <a:r>
              <a:rPr lang="en-US" dirty="0"/>
              <a:t>D. A  Indictment</a:t>
            </a:r>
          </a:p>
          <a:p>
            <a:endParaRPr lang="en-US" dirty="0"/>
          </a:p>
          <a:p>
            <a:r>
              <a:rPr lang="en-US" dirty="0"/>
              <a:t>C. A Hung Jury </a:t>
            </a:r>
          </a:p>
        </p:txBody>
      </p:sp>
    </p:spTree>
    <p:extLst>
      <p:ext uri="{BB962C8B-B14F-4D97-AF65-F5344CB8AC3E}">
        <p14:creationId xmlns:p14="http://schemas.microsoft.com/office/powerpoint/2010/main" val="33763610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FD14-B23A-4B0F-8557-AECD003C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23. A ____ is an act that breaks a federal or state criminal law and causes harm to people or society in general.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B0688-6B9A-4EAE-AABE-80E7EC25B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Delinquent</a:t>
            </a:r>
          </a:p>
          <a:p>
            <a:r>
              <a:rPr lang="en-US" dirty="0"/>
              <a:t>B. Misdemeanor</a:t>
            </a:r>
          </a:p>
          <a:p>
            <a:r>
              <a:rPr lang="en-US" dirty="0"/>
              <a:t>C. Felony</a:t>
            </a:r>
          </a:p>
          <a:p>
            <a:r>
              <a:rPr lang="en-US" dirty="0"/>
              <a:t>D. Crime</a:t>
            </a:r>
          </a:p>
          <a:p>
            <a:endParaRPr lang="en-US" dirty="0"/>
          </a:p>
          <a:p>
            <a:r>
              <a:rPr lang="en-US" dirty="0"/>
              <a:t>D. Crime</a:t>
            </a:r>
          </a:p>
        </p:txBody>
      </p:sp>
    </p:spTree>
    <p:extLst>
      <p:ext uri="{BB962C8B-B14F-4D97-AF65-F5344CB8AC3E}">
        <p14:creationId xmlns:p14="http://schemas.microsoft.com/office/powerpoint/2010/main" val="34133526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1CCB-50AE-4846-88AF-A4EDAAE92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24. The ____ is when a defendant is presented with the charges and asked to enter a plea.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F5468-B8DE-45B7-AF29-8A88EA771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Arraignment</a:t>
            </a:r>
          </a:p>
          <a:p>
            <a:r>
              <a:rPr lang="en-US" dirty="0"/>
              <a:t>B. Trial</a:t>
            </a:r>
          </a:p>
          <a:p>
            <a:r>
              <a:rPr lang="en-US" dirty="0"/>
              <a:t>C. Indictment</a:t>
            </a:r>
          </a:p>
          <a:p>
            <a:r>
              <a:rPr lang="en-US" dirty="0"/>
              <a:t>D. Hearing</a:t>
            </a:r>
          </a:p>
          <a:p>
            <a:endParaRPr lang="en-US" dirty="0"/>
          </a:p>
          <a:p>
            <a:r>
              <a:rPr lang="en-US" dirty="0"/>
              <a:t>A. Arraignment</a:t>
            </a:r>
          </a:p>
        </p:txBody>
      </p:sp>
    </p:spTree>
    <p:extLst>
      <p:ext uri="{BB962C8B-B14F-4D97-AF65-F5344CB8AC3E}">
        <p14:creationId xmlns:p14="http://schemas.microsoft.com/office/powerpoint/2010/main" val="25682009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3617-18C6-4A6C-AB8B-9C8026978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25. After a witness testifies for one side, the other side is allowed to ____ him or her.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4F126-8C81-447E-806A-8CFB319C6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Indict</a:t>
            </a:r>
          </a:p>
          <a:p>
            <a:r>
              <a:rPr lang="en-US" dirty="0"/>
              <a:t>B. Cross-examine</a:t>
            </a:r>
          </a:p>
          <a:p>
            <a:r>
              <a:rPr lang="en-US" dirty="0"/>
              <a:t>C. Arraign</a:t>
            </a:r>
          </a:p>
          <a:p>
            <a:r>
              <a:rPr lang="en-US" dirty="0"/>
              <a:t>D. Contest</a:t>
            </a:r>
          </a:p>
          <a:p>
            <a:endParaRPr lang="en-US" dirty="0"/>
          </a:p>
          <a:p>
            <a:r>
              <a:rPr lang="en-US" dirty="0"/>
              <a:t>B. Cross-Examine</a:t>
            </a:r>
          </a:p>
        </p:txBody>
      </p:sp>
    </p:spTree>
    <p:extLst>
      <p:ext uri="{BB962C8B-B14F-4D97-AF65-F5344CB8AC3E}">
        <p14:creationId xmlns:p14="http://schemas.microsoft.com/office/powerpoint/2010/main" val="4686148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99E57-A556-4626-8A4B-DA81FB18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26. After a vote of ____, the defendant is immediately released.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80E29-F206-444C-867E-7F36CFECB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a hung jury</a:t>
            </a:r>
          </a:p>
          <a:p>
            <a:r>
              <a:rPr lang="en-US" dirty="0"/>
              <a:t>B. an arraignment</a:t>
            </a:r>
          </a:p>
          <a:p>
            <a:r>
              <a:rPr lang="en-US" dirty="0"/>
              <a:t>C. an indictment</a:t>
            </a:r>
          </a:p>
          <a:p>
            <a:r>
              <a:rPr lang="en-US" dirty="0"/>
              <a:t>D. an acquittal</a:t>
            </a:r>
          </a:p>
          <a:p>
            <a:endParaRPr lang="en-US" dirty="0"/>
          </a:p>
          <a:p>
            <a:r>
              <a:rPr lang="en-US" dirty="0"/>
              <a:t>D. An Acquittal</a:t>
            </a:r>
          </a:p>
        </p:txBody>
      </p:sp>
    </p:spTree>
    <p:extLst>
      <p:ext uri="{BB962C8B-B14F-4D97-AF65-F5344CB8AC3E}">
        <p14:creationId xmlns:p14="http://schemas.microsoft.com/office/powerpoint/2010/main" val="32911444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B61A-BB6B-4A76-B6E4-76A15CA0D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1B6E4-E250-4B4E-80BA-1300BD74E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27. a meeting called by a judge between both parties in a civil case to help clarify differences between the two sides </a:t>
            </a:r>
          </a:p>
          <a:p>
            <a:r>
              <a:rPr lang="en-US" sz="1800" dirty="0"/>
              <a:t>28. a court order commanding a person or group to stop a certain action </a:t>
            </a:r>
          </a:p>
          <a:p>
            <a:r>
              <a:rPr lang="en-US" sz="1800" dirty="0"/>
              <a:t>29. the party bringing a lawsuit </a:t>
            </a:r>
          </a:p>
          <a:p>
            <a:r>
              <a:rPr lang="en-US" sz="1800" dirty="0"/>
              <a:t>30. agreed amount of money the defendant will pay to the plaintiff </a:t>
            </a:r>
          </a:p>
          <a:p>
            <a:r>
              <a:rPr lang="en-US" sz="1800" dirty="0"/>
              <a:t>31. the party being sued</a:t>
            </a:r>
          </a:p>
          <a:p>
            <a:endParaRPr lang="en-US" sz="1800" dirty="0"/>
          </a:p>
          <a:p>
            <a:r>
              <a:rPr lang="en-US" sz="1800" dirty="0"/>
              <a:t>a. plaintiff </a:t>
            </a:r>
          </a:p>
          <a:p>
            <a:r>
              <a:rPr lang="en-US" sz="1800" dirty="0"/>
              <a:t>b. defendant </a:t>
            </a:r>
          </a:p>
          <a:p>
            <a:r>
              <a:rPr lang="en-US" sz="1800" dirty="0"/>
              <a:t>c. settlement</a:t>
            </a:r>
          </a:p>
          <a:p>
            <a:r>
              <a:rPr lang="en-US" sz="1800" dirty="0"/>
              <a:t>d. pretrial conference</a:t>
            </a:r>
          </a:p>
          <a:p>
            <a:r>
              <a:rPr lang="en-US" sz="1800" dirty="0"/>
              <a:t>e. injunction 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981B2-3D83-4213-A3FA-1C29EF509E3D}"/>
              </a:ext>
            </a:extLst>
          </p:cNvPr>
          <p:cNvSpPr txBox="1"/>
          <p:nvPr/>
        </p:nvSpPr>
        <p:spPr>
          <a:xfrm>
            <a:off x="4152900" y="4107766"/>
            <a:ext cx="914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27. D</a:t>
            </a:r>
          </a:p>
          <a:p>
            <a:r>
              <a:rPr lang="en-US" dirty="0"/>
              <a:t>28. E</a:t>
            </a:r>
          </a:p>
          <a:p>
            <a:r>
              <a:rPr lang="en-US" dirty="0"/>
              <a:t>29. A</a:t>
            </a:r>
          </a:p>
          <a:p>
            <a:r>
              <a:rPr lang="en-US" dirty="0"/>
              <a:t>30. C</a:t>
            </a:r>
          </a:p>
          <a:p>
            <a:r>
              <a:rPr lang="en-US" dirty="0"/>
              <a:t>31. B</a:t>
            </a:r>
          </a:p>
        </p:txBody>
      </p:sp>
    </p:spTree>
    <p:extLst>
      <p:ext uri="{BB962C8B-B14F-4D97-AF65-F5344CB8AC3E}">
        <p14:creationId xmlns:p14="http://schemas.microsoft.com/office/powerpoint/2010/main" val="135298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3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3CA3-B09C-42F6-A24C-59DB40C06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B9E8B-7B5A-4318-B669-BD0F5249F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32. answers witnesses give while under oath </a:t>
            </a:r>
          </a:p>
          <a:p>
            <a:r>
              <a:rPr lang="en-US" sz="1800" dirty="0"/>
              <a:t>33. formally charged with a crime </a:t>
            </a:r>
          </a:p>
          <a:p>
            <a:r>
              <a:rPr lang="en-US" sz="1800" dirty="0"/>
              <a:t>34. a state’s written criminal laws </a:t>
            </a:r>
          </a:p>
          <a:p>
            <a:r>
              <a:rPr lang="en-US" sz="1800" dirty="0"/>
              <a:t>35. an agreement in which an accused person agrees to plead guilty, but to a lesser charge </a:t>
            </a:r>
          </a:p>
          <a:p>
            <a:r>
              <a:rPr lang="en-US" sz="1800" dirty="0"/>
              <a:t>36. state and federal courts, judges, lawyers, police, and prisons that have the responsibility for enforcing criminal law</a:t>
            </a:r>
          </a:p>
          <a:p>
            <a:endParaRPr lang="en-US" sz="1800" dirty="0"/>
          </a:p>
          <a:p>
            <a:r>
              <a:rPr lang="en-US" sz="1800" dirty="0"/>
              <a:t>a. indicted </a:t>
            </a:r>
          </a:p>
          <a:p>
            <a:r>
              <a:rPr lang="en-US" sz="1800" dirty="0"/>
              <a:t>b. testimony </a:t>
            </a:r>
          </a:p>
          <a:p>
            <a:r>
              <a:rPr lang="en-US" sz="1800" dirty="0"/>
              <a:t>c. plea bargain</a:t>
            </a:r>
          </a:p>
          <a:p>
            <a:r>
              <a:rPr lang="en-US" sz="1800" dirty="0"/>
              <a:t>d. criminal justice system </a:t>
            </a:r>
          </a:p>
          <a:p>
            <a:r>
              <a:rPr lang="en-US" sz="1800" dirty="0"/>
              <a:t>e. penal code </a:t>
            </a:r>
          </a:p>
          <a:p>
            <a:pPr marL="0" indent="0">
              <a:buNone/>
            </a:pP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B88511-6C7E-4867-8D5A-D2621D0BDCC2}"/>
              </a:ext>
            </a:extLst>
          </p:cNvPr>
          <p:cNvSpPr txBox="1"/>
          <p:nvPr/>
        </p:nvSpPr>
        <p:spPr>
          <a:xfrm>
            <a:off x="4114800" y="4343400"/>
            <a:ext cx="914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32. B</a:t>
            </a:r>
          </a:p>
          <a:p>
            <a:r>
              <a:rPr lang="en-US" dirty="0"/>
              <a:t>33. A</a:t>
            </a:r>
          </a:p>
          <a:p>
            <a:r>
              <a:rPr lang="en-US" dirty="0"/>
              <a:t>34. E</a:t>
            </a:r>
          </a:p>
          <a:p>
            <a:r>
              <a:rPr lang="en-US" dirty="0"/>
              <a:t>35. C</a:t>
            </a:r>
          </a:p>
          <a:p>
            <a:r>
              <a:rPr lang="en-US" dirty="0"/>
              <a:t>36. D</a:t>
            </a:r>
          </a:p>
        </p:txBody>
      </p:sp>
    </p:spTree>
    <p:extLst>
      <p:ext uri="{BB962C8B-B14F-4D97-AF65-F5344CB8AC3E}">
        <p14:creationId xmlns:p14="http://schemas.microsoft.com/office/powerpoint/2010/main" val="352805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fined">
  <a:themeElements>
    <a:clrScheme name="Refined 1">
      <a:dk1>
        <a:srgbClr val="666633"/>
      </a:dk1>
      <a:lt1>
        <a:srgbClr val="FFFFFF"/>
      </a:lt1>
      <a:dk2>
        <a:srgbClr val="000000"/>
      </a:dk2>
      <a:lt2>
        <a:srgbClr val="FFFFFF"/>
      </a:lt2>
      <a:accent1>
        <a:srgbClr val="666699"/>
      </a:accent1>
      <a:accent2>
        <a:srgbClr val="990000"/>
      </a:accent2>
      <a:accent3>
        <a:srgbClr val="AAAAAA"/>
      </a:accent3>
      <a:accent4>
        <a:srgbClr val="DADADA"/>
      </a:accent4>
      <a:accent5>
        <a:srgbClr val="B8B8CA"/>
      </a:accent5>
      <a:accent6>
        <a:srgbClr val="8A0000"/>
      </a:accent6>
      <a:hlink>
        <a:srgbClr val="999900"/>
      </a:hlink>
      <a:folHlink>
        <a:srgbClr val="FFFFFF"/>
      </a:folHlink>
    </a:clrScheme>
    <a:fontScheme name="Refined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Refined 1">
        <a:dk1>
          <a:srgbClr val="666633"/>
        </a:dk1>
        <a:lt1>
          <a:srgbClr val="FFFFFF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990000"/>
        </a:accent2>
        <a:accent3>
          <a:srgbClr val="AAAAAA"/>
        </a:accent3>
        <a:accent4>
          <a:srgbClr val="DADADA"/>
        </a:accent4>
        <a:accent5>
          <a:srgbClr val="B8B8CA"/>
        </a:accent5>
        <a:accent6>
          <a:srgbClr val="8A0000"/>
        </a:accent6>
        <a:hlink>
          <a:srgbClr val="99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2">
        <a:dk1>
          <a:srgbClr val="4D4D4D"/>
        </a:dk1>
        <a:lt1>
          <a:srgbClr val="FFFFFF"/>
        </a:lt1>
        <a:dk2>
          <a:srgbClr val="4A1102"/>
        </a:dk2>
        <a:lt2>
          <a:srgbClr val="FFFFFF"/>
        </a:lt2>
        <a:accent1>
          <a:srgbClr val="CC3300"/>
        </a:accent1>
        <a:accent2>
          <a:srgbClr val="666699"/>
        </a:accent2>
        <a:accent3>
          <a:srgbClr val="B1AAAA"/>
        </a:accent3>
        <a:accent4>
          <a:srgbClr val="DADADA"/>
        </a:accent4>
        <a:accent5>
          <a:srgbClr val="E2ADAA"/>
        </a:accent5>
        <a:accent6>
          <a:srgbClr val="5C5C8A"/>
        </a:accent6>
        <a:hlink>
          <a:srgbClr val="FF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3">
        <a:dk1>
          <a:srgbClr val="666699"/>
        </a:dk1>
        <a:lt1>
          <a:srgbClr val="FFFFFF"/>
        </a:lt1>
        <a:dk2>
          <a:srgbClr val="400040"/>
        </a:dk2>
        <a:lt2>
          <a:srgbClr val="FFFFFF"/>
        </a:lt2>
        <a:accent1>
          <a:srgbClr val="FFCC00"/>
        </a:accent1>
        <a:accent2>
          <a:srgbClr val="FF3300"/>
        </a:accent2>
        <a:accent3>
          <a:srgbClr val="AFAAAF"/>
        </a:accent3>
        <a:accent4>
          <a:srgbClr val="DADADA"/>
        </a:accent4>
        <a:accent5>
          <a:srgbClr val="FFE2AA"/>
        </a:accent5>
        <a:accent6>
          <a:srgbClr val="E72D00"/>
        </a:accent6>
        <a:hlink>
          <a:srgbClr val="CC99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4">
        <a:dk1>
          <a:srgbClr val="4D4D4D"/>
        </a:dk1>
        <a:lt1>
          <a:srgbClr val="FFFFFF"/>
        </a:lt1>
        <a:dk2>
          <a:srgbClr val="006699"/>
        </a:dk2>
        <a:lt2>
          <a:srgbClr val="CCECFF"/>
        </a:lt2>
        <a:accent1>
          <a:srgbClr val="339966"/>
        </a:accent1>
        <a:accent2>
          <a:srgbClr val="3366FF"/>
        </a:accent2>
        <a:accent3>
          <a:srgbClr val="AAB8CA"/>
        </a:accent3>
        <a:accent4>
          <a:srgbClr val="DADADA"/>
        </a:accent4>
        <a:accent5>
          <a:srgbClr val="ADCAB8"/>
        </a:accent5>
        <a:accent6>
          <a:srgbClr val="2D5CE7"/>
        </a:accent6>
        <a:hlink>
          <a:srgbClr val="33CC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5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FF66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fined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3300"/>
        </a:accent1>
        <a:accent2>
          <a:srgbClr val="666699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5C5C8A"/>
        </a:accent6>
        <a:hlink>
          <a:srgbClr val="999900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fined 7">
        <a:dk1>
          <a:srgbClr val="000000"/>
        </a:dk1>
        <a:lt1>
          <a:srgbClr val="FFFFFF"/>
        </a:lt1>
        <a:dk2>
          <a:srgbClr val="000066"/>
        </a:dk2>
        <a:lt2>
          <a:srgbClr val="333399"/>
        </a:lt2>
        <a:accent1>
          <a:srgbClr val="3399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8AE7"/>
        </a:accent6>
        <a:hlink>
          <a:srgbClr val="00CCFF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instructor-paced_question>
  <question_data>
    <question m_QuestionType="7" m_sQuestionID="{e5ae2829-dffc-493a-91e7-0d4a41d17c89}" m_sQuestion="" m_sLikertMetaID="" m_bHasCorrectAnswer="0" m_bTrueFalse="0" m_bHasDontKnow="0" m_LabelType="0" m_nNumberOfResponses="0" m_bRandomize="0" m_bSimplify="0" m_nTimeout="0" m_bStoreInDatabase="0" m_Marked="0" m_DefaultReportType="0" m_sFollowOnQuestionID="" m_bFollowOnQuestion="0" m_Tolerance="0" m_allowMultipleResponse="0" m_maxResponseChars="0" m_textComparision="0" m_nQuestionLevel="0" m_nQuestionNumber="0" m_bReplaceDesign="0" m_sInstanceId="" m_nInstanceDateTimeUTC="1334068344">
      <options/>
      <text_answers/>
      <response_data/>
    </question>
  </question_data>
  <follow-on_question_data/>
</instructor-paced_question>
</file>

<file path=customXml/item2.xml><?xml version="1.0" encoding="utf-8"?>
<version>
  <revision id="1.1.46558.0"/>
  <revision id="1.0.37047.0"/>
</version>
</file>

<file path=customXml/item3.xml><?xml version="1.0" encoding="utf-8"?>
<instructor-paced_question>
  <question_data>
    <question m_QuestionType="7" m_sQuestionID="{97062424-40ac-4918-b5d6-13b10a164dcc}" m_sQuestion="" m_sLikertMetaID="" m_bHasCorrectAnswer="0" m_bTrueFalse="0" m_bHasDontKnow="0" m_LabelType="0" m_nNumberOfResponses="0" m_bRandomize="0" m_bSimplify="0" m_nTimeout="0" m_bStoreInDatabase="0" m_Marked="0" m_DefaultReportType="0" m_sFollowOnQuestionID="" m_bFollowOnQuestion="0" m_Tolerance="0" m_allowMultipleResponse="0" m_maxResponseChars="0" m_textComparision="0" m_nQuestionLevel="0" m_nQuestionNumber="0" m_bReplaceDesign="0" m_sInstanceId="" m_nInstanceDateTimeUTC="1334068267">
      <options/>
      <text_answers/>
      <response_data/>
    </question>
  </question_data>
  <follow-on_question_data/>
</instructor-paced_question>
</file>

<file path=customXml/item4.xml><?xml version="1.0" encoding="utf-8"?>
<instructor-paced_question>
  <question_data>
    <question m_QuestionType="7" m_sQuestionID="{b8f3cfab-e740-44d6-9128-ed1365c609cc}" m_sQuestion="" m_sLikertMetaID="" m_bHasCorrectAnswer="0" m_bTrueFalse="0" m_bHasDontKnow="0" m_LabelType="0" m_nNumberOfResponses="0" m_bRandomize="0" m_bSimplify="0" m_nTimeout="0" m_bStoreInDatabase="0" m_Marked="0" m_DefaultReportType="0" m_sFollowOnQuestionID="" m_bFollowOnQuestion="0" m_Tolerance="0" m_allowMultipleResponse="0" m_maxResponseChars="0" m_textComparision="0" m_nQuestionLevel="0" m_nQuestionNumber="0" m_bReplaceDesign="0" m_sInstanceId="" m_nInstanceDateTimeUTC="1334068392">
      <options/>
      <text_answers/>
      <response_data/>
    </question>
  </question_data>
  <follow-on_question_data/>
</instructor-paced_question>
</file>

<file path=customXml/item5.xml><?xml version="1.0" encoding="utf-8"?>
<instructor-paced_results>
  <question m_QuestionType="7" m_sQuestionID="{e5ae2829-dffc-493a-91e7-0d4a41d17c89}" m_sQuestion="" m_sLikertMetaID="" m_bHasCorrectAnswer="0" m_bTrueFalse="0" m_bHasDontKnow="0" m_LabelType="0" m_nNumberOfResponses="0" m_bRandomize="0" m_bSimplify="0" m_nTimeout="0" m_bStoreInDatabase="0" m_Marked="0" m_DefaultReportType="0" m_sFollowOnQuestionID="" m_bFollowOnQuestion="0" m_Tolerance="0" m_allowMultipleResponse="0" m_maxResponseChars="0" m_textComparision="0" m_nQuestionLevel="0" m_nQuestionNumber="0" m_bReplaceDesign="100" m_sInstanceId="{d23673af-ecc7-482f-959c-4702b9c1a316}" m_nInstanceDateTimeUTC="1334068379">
    <options/>
    <text_answers/>
    <response_data>
      <response value="" time="0" id="" name="" label="MAC2" start_time="85093736" end_time="85093944" response_correct="0" serial_number="201350005" index=""/>
      <response value="c doeeeee ." time="9219" id="" name="" label="MAC17" start_time="6225972" end_time="48" response_correct="0" serial_number="201329619" index=""/>
      <response value="" time="0" id="" name="" label="MAC9" start_time="0" end_time="0" response_correct="0" serial_number="201346680" index=""/>
      <response value="" time="0" id="" name="" label="MAC11" start_time="6225972" end_time="48" response_correct="0" serial_number="201344942" index=""/>
      <response value="c" time="20529" id="" name="" label="MAC31" start_time="6225972" end_time="48" response_correct="0" serial_number="201347643" index=""/>
      <response value="you better let me get my drivets license" time="22729" id="" name="" label="MAC13" start_time="0" end_time="0" response_correct="0" serial_number="201329847" index=""/>
      <response value="a" time="9219" id="" name="" label="MAC18" start_time="0" end_time="0" response_correct="0" serial_number="201353381" index=""/>
      <response value="a" time="29889" id="" name="" label="MAC0" start_time="0" end_time="0" response_correct="0" serial_number="201341542" index=""/>
      <response value="" time="0" id="" name="" label="MAC30" start_time="0" end_time="0" response_correct="0" serial_number="201350757" index=""/>
      <response value="b" time="18330" id="" name="" label="MAC10" start_time="6225972" end_time="48" response_correct="0" serial_number="201329409" index=""/>
      <response value="a" time="12168" id="" name="" label="MAC3" start_time="0" end_time="0" response_correct="0" serial_number="201329410" index=""/>
      <response value="c" time="7831" id="" name="" label="MAC12" start_time="6225972" end_time="48" response_correct="0" serial_number="201344358" index=""/>
      <response value="b" time="2839" id="" name="ÿÿÿÿÿÿÿÿÿÿÿÿÿÿ" label="ÿÿÿÿÿÿÿÿÿÿÿÿÿÿ" start_time="0" end_time="0" response_correct="0" serial_number="201350649" index=""/>
      <response value="" time="0" id="" name="" label="MAC21" start_time="0" end_time="0" response_correct="0" serial_number="201350427" index=""/>
      <response value="e" time="16271" id="" name="" label="MAC14" start_time="52" end_time="0" response_correct="0" serial_number="201339032" index=""/>
      <response value="b" time="9547" id="" name="" label="MAC29" start_time="0" end_time="0" response_correct="0" serial_number="201333926" index=""/>
      <response value="" time="0" id="" name="" label="MAC16" start_time="0" end_time="0" response_correct="0" serial_number="201333596" index=""/>
      <response value="" time="0" id="" name="" label="MAC27" start_time="6357040" end_time="4325464" response_correct="0" serial_number="201345103" index=""/>
      <response value="a" time="20186" id="" name="" label="MAC26" start_time="6488168" end_time="7077997" response_correct="0" serial_number="201347990" index=""/>
      <response value="" time="0" id="" name="" label="MAC4" start_time="0" end_time="0" response_correct="0" serial_number="201353319" index=""/>
      <response value="" time="0" id="" name="" label="MAC20" start_time="5046377" end_time="4784195" response_correct="0" serial_number="201353393" index=""/>
      <response value="" time="0" id="" name="" label="MAC23" start_time="5898346" end_time="5374037" response_correct="0" serial_number="201352617" index=""/>
      <response value="b" time="20015" id="" name="" label="MAC19" start_time="4784231" end_time="4259907" response_correct="0" serial_number="201350731" index=""/>
      <response value="b" time="4165" id="" name="" label="MAC25" start_time="0" end_time="0" response_correct="0" serial_number="201344774" index=""/>
      <response value="" time="0" id="" name="" label="MAC5" start_time="0" end_time="0" response_correct="0" serial_number="201345108" index=""/>
      <response value="" time="0" id="" name="" label="MAC24" start_time="0" end_time="0" response_correct="0" serial_number="201352619" index=""/>
      <response value="" time="0" id="" name="" label="MAC8" start_time="23" end_time="75" response_correct="0" serial_number="201352732" index=""/>
      <response value="" time="0" id="" name="26" label="26" start_time="86711432" end_time="86711504" response_correct="0" serial_number="201329423" index=""/>
      <response value="" time="0" id="" name="" label="MAC22" start_time="332752321" end_time="2147483715" response_correct="0" serial_number="201350735" index=""/>
      <response value="c" time="20483" id="" name="" label="MAC6" start_time="7143535" end_time="6357101" response_correct="0" serial_number="201349922" index=""/>
      <response value="" time="0" id="" name="" label="MAC7" start_time="0" end_time="0" response_correct="0" serial_number="201337639" index=""/>
      <response value="b NYJET24" time="22292" id="" name="" label="MAC28" start_time="332752359" end_time="2147516287" response_correct="0" serial_number="201344489" index=""/>
    </response_data>
  </question>
</instructor-paced_results>
</file>

<file path=customXml/item6.xml><?xml version="1.0" encoding="utf-8"?>
<instructor-paced_results>
  <question m_QuestionType="7" m_sQuestionID="{97062424-40ac-4918-b5d6-13b10a164dcc}" m_sQuestion="" m_sLikertMetaID="" m_bHasCorrectAnswer="0" m_bTrueFalse="0" m_bHasDontKnow="0" m_LabelType="0" m_nNumberOfResponses="0" m_bRandomize="0" m_bSimplify="0" m_nTimeout="0" m_bStoreInDatabase="0" m_Marked="0" m_DefaultReportType="0" m_sFollowOnQuestionID="" m_bFollowOnQuestion="0" m_Tolerance="0" m_allowMultipleResponse="0" m_maxResponseChars="0" m_textComparision="0" m_nQuestionLevel="0" m_nQuestionNumber="0" m_bReplaceDesign="52" m_sInstanceId="{533e9ef0-aa88-491e-84a0-eb6224904508}" m_nInstanceDateTimeUTC="1334068327">
    <options/>
    <text_answers/>
    <response_data>
      <response value="" time="0" id="" name="" label="MAC2" start_time="85093736" end_time="85093944" response_correct="0" serial_number="201350005" index=""/>
      <response value="b" time="13806" id="" name="" label="MAC17" start_time="6225972" end_time="48" response_correct="0" serial_number="201329619" index=""/>
      <response value="" time="0" id="" name="" label="MAC9" start_time="0" end_time="0" response_correct="0" serial_number="201346680" index=""/>
      <response value="c" time="20498" id="" name="" label="MAC11" start_time="7340129" end_time="6226032" response_correct="0" serial_number="201344942" index=""/>
      <response value="c" time="15350" id="" name="" label="MAC31" start_time="0" end_time="0" response_correct="0" serial_number="201347643" index=""/>
      <response value="statutory law " time="29172" id="" name="" label="MAC13" start_time="0" end_time="0" response_correct="0" serial_number="201329847" index=""/>
      <response value="c" time="22542" id="" name="" label="MAC18" start_time="0" end_time="0" response_correct="0" serial_number="201353381" index=""/>
      <response value="c" time="20872" id="" name="" label="MAC0" start_time="0" end_time="0" response_correct="0" serial_number="201341542" index=""/>
      <response value="" time="0" id="" name="" label="MAC30" start_time="0" end_time="0" response_correct="0" serial_number="201350757" index=""/>
      <response value="" time="0" id="" name="" label="MAC10" start_time="3145823" end_time="0" response_correct="0" serial_number="201329409" index=""/>
      <response value="c" time="28002" id="" name="" label="MAC3" start_time="0" end_time="0" response_correct="0" serial_number="201329410" index=""/>
      <response value="c" time="22370" id="" name="" label="MAC12" start_time="6225972" end_time="48" response_correct="0" serial_number="201344358" index=""/>
      <response value="A" time="23197" id="" name="ÿÿÿÿÿÿÿÿÿÿÿÿÿÿ" label="ÿÿÿÿÿÿÿÿÿÿÿÿÿÿ" start_time="0" end_time="0" response_correct="0" serial_number="201350649" index=""/>
      <response value="" time="0" id="" name="" label="MAC21" start_time="0" end_time="0" response_correct="0" serial_number="201350427" index=""/>
      <response value="a" time="14274" id="" name="" label="MAC14" start_time="52" end_time="48" response_correct="0" serial_number="201339032" index=""/>
      <response value="a" time="15444" id="" name="" label="MAC29" start_time="0" end_time="0" response_correct="0" serial_number="201333926" index=""/>
      <response value="" time="0" id="" name="" label="MAC16" start_time="0" end_time="0" response_correct="0" serial_number="201333596" index=""/>
      <response value="" time="0" id="" name="" label="MAC27" start_time="0" end_time="0" response_correct="0" serial_number="201345103" index=""/>
      <response value="c" time="20451" id="" name="" label="MAC26" start_time="4037008472" end_time="3834562125" response_correct="0" serial_number="201347990" index=""/>
      <response value="" time="0" id="" name="" label="MAC4" start_time="0" end_time="0" response_correct="0" serial_number="201353319" index=""/>
      <response value="" time="0" id="" name="" label="MAC20" start_time="0" end_time="0" response_correct="0" serial_number="201353393" index=""/>
      <response value="" time="0" id="" name="" label="MAC23" start_time="4273403238" end_time="4290246502" response_correct="0" serial_number="201352617" index=""/>
      <response value="it is c" time="27612" id="" name="" label="MAC19" start_time="4289195607" end_time="4289064534" response_correct="0" serial_number="201350731" index=""/>
      <response value="c" time="21902" id="" name="" label="MAC25" start_time="0" end_time="0" response_correct="0" serial_number="201344774" index=""/>
      <response value="" time="0" id="" name="" label="MAC5" start_time="0" end_time="0" response_correct="0" serial_number="201345108" index=""/>
      <response value="" time="0" id="" name="" label="MAC24" start_time="0" end_time="50331648" response_correct="0" serial_number="201352619" index=""/>
      <response value="" time="0" id="" name="" label="MAC8" start_time="4289390186" end_time="4292604612" response_correct="0" serial_number="201352732" index=""/>
      <response value="" time="0" id="" name="26" label="26" start_time="86695736" end_time="86695808" response_correct="0" serial_number="201329423" index=""/>
      <response value="" time="0" id="" name="" label="MAC22" start_time="4287814732" end_time="4287618882" response_correct="0" serial_number="201350735" index=""/>
      <response value="" time="0" id="" name="" label="MAC6" start_time="3126496557" end_time="4154319441" response_correct="0" serial_number="201349922" index=""/>
      <response value="" time="0" id="" name="" label="MAC7" start_time="4294967295" end_time="4294967295" response_correct="0" serial_number="201337639" index=""/>
      <response value="c" time="31793" id="" name="" label="MAC28" start_time="4286634037" end_time="4286437171" response_correct="0" serial_number="201344489" index=""/>
    </response_data>
  </question>
</instructor-paced_results>
</file>

<file path=customXml/item7.xml><?xml version="1.0" encoding="utf-8"?>
<instructor-paced_results>
  <question m_QuestionType="7" m_sQuestionID="{b8f3cfab-e740-44d6-9128-ed1365c609cc}" m_sQuestion="" m_sLikertMetaID="" m_bHasCorrectAnswer="0" m_bTrueFalse="0" m_bHasDontKnow="0" m_LabelType="0" m_nNumberOfResponses="0" m_bRandomize="0" m_bSimplify="0" m_nTimeout="0" m_bStoreInDatabase="0" m_Marked="0" m_DefaultReportType="0" m_sFollowOnQuestionID="" m_bFollowOnQuestion="0" m_Tolerance="0" m_allowMultipleResponse="0" m_maxResponseChars="0" m_textComparision="0" m_nQuestionLevel="0" m_nQuestionNumber="0" m_bReplaceDesign="97" m_sInstanceId="{0b01d163-d850-4126-ae7b-2985e6f51faf}" m_nInstanceDateTimeUTC="1334068425">
    <options/>
    <text_answers/>
    <response_data>
      <response value="" time="0" id="" name="" label="MAC2" start_time="85093736" end_time="85093944" response_correct="0" serial_number="201350005" index=""/>
      <response value="c doeeeee ." time="11716" id="" name="" label="MAC17" start_time="89815824" end_time="89815808" response_correct="0" serial_number="201329619" index=""/>
      <response value="" time="0" id="" name="" label="MAC9" start_time="0" end_time="0" response_correct="0" serial_number="201346680" index=""/>
      <response value="" time="0" id="" name="" label="MAC11" start_time="7340032" end_time="6226032" response_correct="0" serial_number="201344942" index=""/>
      <response value="a" time="15662" id="" name="" label="MAC31" start_time="52" end_time="6225920" response_correct="0" serial_number="201347643" index=""/>
      <response value="c........" time="11201" id="" name="" label="MAC13" start_time="0" end_time="0" response_correct="0" serial_number="201329847" index=""/>
      <response value="b" time="6583" id="" name="" label="MAC18" start_time="0" end_time="0" response_correct="0" serial_number="201353381" index=""/>
      <response value="b" time="6942" id="" name="" label="MAC0" start_time="0" end_time="0" response_correct="0" serial_number="201341542" index=""/>
      <response value="" time="0" id="" name="" label="MAC30" start_time="0" end_time="0" response_correct="0" serial_number="201350757" index=""/>
      <response value="a" time="4399" id="" name="" label="MAC10" start_time="3145728" end_time="2147483648" response_correct="0" serial_number="201329409" index=""/>
      <response value="b" time="4399" id="" name="" label="MAC3" start_time="0" end_time="0" response_correct="0" serial_number="201329410" index=""/>
      <response value="b" time="3713" id="" name="" label="MAC12" start_time="52" end_time="1761542144" response_correct="0" serial_number="201344358" index=""/>
      <response value="ccccccc" time="5054" id="" name="ÿÿÿÿÿÿÿÿÿÿÿÿÿÿ" label="ÿÿÿÿÿÿÿÿÿÿÿÿÿÿ" start_time="0" end_time="0" response_correct="0" serial_number="201350649" index=""/>
      <response value="" time="0" id="" name="" label="MAC21" start_time="0" end_time="0" response_correct="0" serial_number="201350427" index=""/>
      <response value="b" time="3962" id="" name="" label="MAC14" start_time="6225972" end_time="1996423168" response_correct="0" serial_number="201339032" index=""/>
      <response value="c" time="10093" id="" name="" label="MAC29" start_time="0" end_time="0" response_correct="0" serial_number="201333926" index=""/>
      <response value="" time="0" id="" name="" label="MAC16" start_time="0" end_time="0" response_correct="0" serial_number="201333596" index=""/>
      <response value="" time="0" id="" name="" label="MAC27" start_time="1884435299" end_time="724841058" response_correct="0" serial_number="201345103" index=""/>
      <response value="b" time="6240" id="" name="" label="MAC26" start_time="0" end_time="0" response_correct="0" serial_number="201347990" index=""/>
      <response value="" time="0" id="" name="" label="MAC4" start_time="0" end_time="0" response_correct="0" serial_number="201353319" index=""/>
      <response value="" time="0" id="" name="" label="MAC20" start_time="18" end_time="18" response_correct="0" serial_number="201353393" index=""/>
      <response value="" time="0" id="" name="" label="MAC23" start_time="2952790192" end_time="10613740" response_correct="0" serial_number="201352617" index=""/>
      <response value="a" time="15990" id="" name="" label="MAC19" start_time="1295011194" end_time="1295276356" response_correct="0" serial_number="201350731" index=""/>
      <response value="a" time="9578" id="" name="" label="MAC25" start_time="0" end_time="0" response_correct="0" serial_number="201344774" index=""/>
      <response value="" time="0" id="" name="" label="MAC5" start_time="0" end_time="0" response_correct="0" serial_number="201345108" index=""/>
      <response value="" time="0" id="" name="" label="MAC24" start_time="1668044376" end_time="1651528243" response_correct="0" serial_number="201352619" index=""/>
      <response value="" time="0" id="" name="" label="MAC8" start_time="90354072" end_time="90717880" response_correct="0" serial_number="201352732" index=""/>
      <response value="" time="0" id="" name="26" label="26" start_time="86708768" end_time="86708480" response_correct="0" serial_number="201329423" index=""/>
      <response value="" time="0" id="" name="" label="MAC22" start_time="4" end_time="1730136084" response_correct="0" serial_number="201350735" index=""/>
      <response value="a" time="14726" id="" name="" label="MAC6" start_time="4278190080" end_time="4278190080" response_correct="0" serial_number="201349922" index=""/>
      <response value="" time="0" id="" name="" label="MAC7" start_time="0" end_time="0" response_correct="0" serial_number="201337639" index=""/>
      <response value="a b cd" time="24274" id="" name="" label="MAC28" start_time="4278190080" end_time="4278190080" response_correct="0" serial_number="201344489" index=""/>
    </response_data>
  </question>
</instructor-paced_results>
</file>

<file path=customXml/itemProps1.xml><?xml version="1.0" encoding="utf-8"?>
<ds:datastoreItem xmlns:ds="http://schemas.openxmlformats.org/officeDocument/2006/customXml" ds:itemID="{698C5763-970E-4658-92E4-B1541FD1E7F9}">
  <ds:schemaRefs/>
</ds:datastoreItem>
</file>

<file path=customXml/itemProps2.xml><?xml version="1.0" encoding="utf-8"?>
<ds:datastoreItem xmlns:ds="http://schemas.openxmlformats.org/officeDocument/2006/customXml" ds:itemID="{BA91A2A7-A4BF-498C-BAD9-C88ACF1CABED}">
  <ds:schemaRefs/>
</ds:datastoreItem>
</file>

<file path=customXml/itemProps3.xml><?xml version="1.0" encoding="utf-8"?>
<ds:datastoreItem xmlns:ds="http://schemas.openxmlformats.org/officeDocument/2006/customXml" ds:itemID="{643D73EA-0278-4D56-BE84-7BF67268114A}">
  <ds:schemaRefs/>
</ds:datastoreItem>
</file>

<file path=customXml/itemProps4.xml><?xml version="1.0" encoding="utf-8"?>
<ds:datastoreItem xmlns:ds="http://schemas.openxmlformats.org/officeDocument/2006/customXml" ds:itemID="{589BFDED-B0A0-49A2-A0AD-52DE09D1ED59}">
  <ds:schemaRefs/>
</ds:datastoreItem>
</file>

<file path=customXml/itemProps5.xml><?xml version="1.0" encoding="utf-8"?>
<ds:datastoreItem xmlns:ds="http://schemas.openxmlformats.org/officeDocument/2006/customXml" ds:itemID="{119CF790-4D26-4F0E-83AB-473F153E76A2}">
  <ds:schemaRefs/>
</ds:datastoreItem>
</file>

<file path=customXml/itemProps6.xml><?xml version="1.0" encoding="utf-8"?>
<ds:datastoreItem xmlns:ds="http://schemas.openxmlformats.org/officeDocument/2006/customXml" ds:itemID="{A71BD05E-D06D-42FA-A75A-2C80BA06F694}">
  <ds:schemaRefs/>
</ds:datastoreItem>
</file>

<file path=customXml/itemProps7.xml><?xml version="1.0" encoding="utf-8"?>
<ds:datastoreItem xmlns:ds="http://schemas.openxmlformats.org/officeDocument/2006/customXml" ds:itemID="{E5280013-7E1D-4DA8-BA9E-B024264594E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Refined</Template>
  <TotalTime>1234</TotalTime>
  <Words>1362</Words>
  <Application>Microsoft Office PowerPoint</Application>
  <PresentationFormat>On-screen Show (4:3)</PresentationFormat>
  <Paragraphs>251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Times New Roman</vt:lpstr>
      <vt:lpstr>Wingdings</vt:lpstr>
      <vt:lpstr>Refined</vt:lpstr>
      <vt:lpstr>Warm-Up</vt:lpstr>
      <vt:lpstr>Steps in Court Cases</vt:lpstr>
      <vt:lpstr>PowerPoint Presentation</vt:lpstr>
      <vt:lpstr>Steps to a civil case</vt:lpstr>
      <vt:lpstr>Steps to a Criminal Case</vt:lpstr>
      <vt:lpstr>Preliminary Hearing</vt:lpstr>
      <vt:lpstr>Indictment</vt:lpstr>
      <vt:lpstr>Arraignment</vt:lpstr>
      <vt:lpstr>Trial</vt:lpstr>
      <vt:lpstr>Acquittal </vt:lpstr>
      <vt:lpstr>Sentencing</vt:lpstr>
      <vt:lpstr>Assignment</vt:lpstr>
      <vt:lpstr>Review Questions</vt:lpstr>
      <vt:lpstr>1. A person who helps resolve disputes by leading the discussion between the two sides and keeping communications open is referred to as</vt:lpstr>
      <vt:lpstr>2. After all the evidence has been presented and the arguments made, the judge or jury will consider the case and then</vt:lpstr>
      <vt:lpstr>3. What type of suit is filed when a person has been injured or killed?</vt:lpstr>
      <vt:lpstr>4. The complaint and the answer together referred to as</vt:lpstr>
      <vt:lpstr>5. What term refers to a document telling the defendant of the suit against him and ordering him to appear in court on a given fate and time?</vt:lpstr>
      <vt:lpstr>6. Which of the following is a court order that commands a person or group to stop a certain action</vt:lpstr>
      <vt:lpstr>7. A ___ is a formal statement naming the plaintiff and the defendant and describing the nature of the lawsuit.</vt:lpstr>
      <vt:lpstr>8. Which of the following is a process by which each side can check facts and gather evidence before going to trial?</vt:lpstr>
      <vt:lpstr>9. ___ are people who act somewhat like a judges by reviewing cases and resolving the disputes</vt:lpstr>
      <vt:lpstr>10. The ____ is the party bringing the lawsuit</vt:lpstr>
      <vt:lpstr>11. A ___ is a document that tells a person or group of a lawsuit against them and orders them to appear in court on a given date and time</vt:lpstr>
      <vt:lpstr>12. What is the term for the party being sued?</vt:lpstr>
      <vt:lpstr>13. What is the term for the complaint and the answer taken together?</vt:lpstr>
      <vt:lpstr>14. The defendant is formally presented with the charges  and asked to enter a plea at the</vt:lpstr>
      <vt:lpstr>15. Which of the following is NOT a right that police officers must inform citizens of when they are arrested?</vt:lpstr>
      <vt:lpstr>16. What happens to a defendant when the jury votes for an acquittal?</vt:lpstr>
      <vt:lpstr>17. Judges must impose whatever sentence the law directs in states that have established</vt:lpstr>
      <vt:lpstr>18. Which of the following is considered a victimless crime? </vt:lpstr>
      <vt:lpstr>19. Crimes and the punishments for them are spelled out in each state’s </vt:lpstr>
      <vt:lpstr>20. ____ is given under an oath to tell “the truth, the whole truth, and nothing but the truth.” </vt:lpstr>
      <vt:lpstr>21. ____ means that the defendant does not admit guilt but will not fight the prosecution’s case</vt:lpstr>
      <vt:lpstr>22. When the jury cannot reach a verdict, the judge declares </vt:lpstr>
      <vt:lpstr>23. A ____ is an act that breaks a federal or state criminal law and causes harm to people or society in general. </vt:lpstr>
      <vt:lpstr>24. The ____ is when a defendant is presented with the charges and asked to enter a plea. </vt:lpstr>
      <vt:lpstr>25. After a witness testifies for one side, the other side is allowed to ____ him or her. </vt:lpstr>
      <vt:lpstr>26. After a vote of ____, the defendant is immediately released.</vt:lpstr>
      <vt:lpstr>Matching</vt:lpstr>
      <vt:lpstr>Matching</vt:lpstr>
    </vt:vector>
  </TitlesOfParts>
  <Company>wsfcs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Law and the Individual</dc:title>
  <dc:creator>WSFCS Workstation</dc:creator>
  <cp:lastModifiedBy>Ronald Coren</cp:lastModifiedBy>
  <cp:revision>67</cp:revision>
  <dcterms:created xsi:type="dcterms:W3CDTF">2010-04-23T14:56:17Z</dcterms:created>
  <dcterms:modified xsi:type="dcterms:W3CDTF">2021-12-07T15:38:08Z</dcterms:modified>
</cp:coreProperties>
</file>
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4/29/2020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4/29/2020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4/29/2020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4/29/2020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4/29/2020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51" r:id="rId3"/>
    <p:sldLayoutId id="2147483666" r:id="rId4"/>
    <p:sldLayoutId id="2147483653" r:id="rId5"/>
    <p:sldLayoutId id="2147483654" r:id="rId6"/>
    <p:sldLayoutId id="2147483655" r:id="rId7"/>
    <p:sldLayoutId id="2147483667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8209D-D9C8-40EE-B470-AF5871AC4F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Civics and Citizenship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43B8B2-6FDE-484C-B858-E227B4C7A5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Rights and Responsibilities</a:t>
            </a:r>
            <a:endParaRPr lang="en-AU" sz="3600" dirty="0"/>
          </a:p>
        </p:txBody>
      </p:sp>
    </p:spTree>
    <p:extLst>
      <p:ext uri="{BB962C8B-B14F-4D97-AF65-F5344CB8AC3E}">
        <p14:creationId xmlns:p14="http://schemas.microsoft.com/office/powerpoint/2010/main" val="38589197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D04F1-CA99-45EB-AD35-56BD8BD07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 NOW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33FEA0-D4DF-44E3-A686-9BCA7D0EE0C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What is a right? </a:t>
            </a:r>
          </a:p>
          <a:p>
            <a:r>
              <a:rPr lang="en-US" dirty="0"/>
              <a:t>What is a responsibility? </a:t>
            </a:r>
          </a:p>
          <a:p>
            <a:r>
              <a:rPr lang="en-US" dirty="0"/>
              <a:t>Define and provide an example of each. </a:t>
            </a:r>
            <a:endParaRPr lang="en-AU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7A2E24A-F371-43F7-BD0F-2B00C38C55F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303431" y="1455575"/>
            <a:ext cx="6364808" cy="3564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9380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C4D74-164C-44A6-9A1A-A9EE09736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498" y="562947"/>
            <a:ext cx="8596668" cy="1320800"/>
          </a:xfrm>
        </p:spPr>
        <p:txBody>
          <a:bodyPr/>
          <a:lstStyle/>
          <a:p>
            <a:r>
              <a:rPr lang="en-US" dirty="0"/>
              <a:t>Human Rights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5276F6-97C9-477A-8A57-48DE8E32F0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00498" y="1564970"/>
            <a:ext cx="2902539" cy="5199724"/>
          </a:xfrm>
        </p:spPr>
        <p:txBody>
          <a:bodyPr/>
          <a:lstStyle/>
          <a:p>
            <a:r>
              <a:rPr lang="en-US" dirty="0"/>
              <a:t>In 1948, the United Nations created a Universal Declaration of Human Rights. </a:t>
            </a:r>
          </a:p>
          <a:p>
            <a:r>
              <a:rPr lang="en-US" dirty="0"/>
              <a:t>Some of these rights include: </a:t>
            </a:r>
          </a:p>
          <a:p>
            <a:pPr lvl="1"/>
            <a:r>
              <a:rPr lang="en-US" dirty="0"/>
              <a:t>Free Speech </a:t>
            </a:r>
          </a:p>
          <a:p>
            <a:pPr lvl="1"/>
            <a:r>
              <a:rPr lang="en-US" dirty="0"/>
              <a:t>Free education</a:t>
            </a:r>
          </a:p>
          <a:p>
            <a:pPr lvl="1"/>
            <a:r>
              <a:rPr lang="en-US" dirty="0"/>
              <a:t>Access to water </a:t>
            </a:r>
          </a:p>
        </p:txBody>
      </p:sp>
      <p:pic>
        <p:nvPicPr>
          <p:cNvPr id="1026" name="Picture 2" descr="Universal Declaration of Human Rights">
            <a:extLst>
              <a:ext uri="{FF2B5EF4-FFF2-40B4-BE49-F238E27FC236}">
                <a16:creationId xmlns:a16="http://schemas.microsoft.com/office/drawing/2014/main" id="{DBF87080-16C1-48B7-BD0C-323958ADAE5E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0824" y="90148"/>
            <a:ext cx="7935297" cy="6767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96615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36A42-CFD6-4CE9-BF3B-4C9103CDF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With our rights, comes great </a:t>
            </a:r>
            <a:r>
              <a:rPr lang="en-US" b="1" dirty="0"/>
              <a:t>responsibility </a:t>
            </a:r>
            <a:endParaRPr lang="en-AU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9F29E1-1842-4BA0-8F34-AEA89E6C5F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2160588"/>
            <a:ext cx="4188281" cy="4424769"/>
          </a:xfrm>
        </p:spPr>
        <p:txBody>
          <a:bodyPr/>
          <a:lstStyle/>
          <a:p>
            <a:r>
              <a:rPr lang="en-US" b="1" dirty="0"/>
              <a:t>Every right implies a responsibility not to use that right in a way which interferes with another person’s rights. </a:t>
            </a:r>
          </a:p>
          <a:p>
            <a:r>
              <a:rPr lang="en-US" dirty="0"/>
              <a:t>For example, the right to freedom of movement would not give you the right to drive the wrong way along a one-way street. Exercising that ‘right’ would be dangerous for other people and create social chaos.</a:t>
            </a:r>
            <a:endParaRPr lang="en-A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C64BA6-4DC2-4478-9859-86781B01DB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548980" cy="3880773"/>
          </a:xfrm>
        </p:spPr>
        <p:txBody>
          <a:bodyPr/>
          <a:lstStyle/>
          <a:p>
            <a:r>
              <a:rPr lang="en-US" dirty="0"/>
              <a:t>Discuss these with the person next to you: </a:t>
            </a:r>
          </a:p>
          <a:p>
            <a:r>
              <a:rPr lang="en-US" dirty="0"/>
              <a:t>We would all want the right to a free education. But where does that end? At primary level? At secondary level? At tertiary level? Never?</a:t>
            </a:r>
          </a:p>
          <a:p>
            <a:r>
              <a:rPr lang="en-US" dirty="0"/>
              <a:t>We all want the right to free speech. But where does that right end? Does it give us the right to discriminate against someone, or to tell lies about other people?</a:t>
            </a:r>
          </a:p>
          <a:p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B45818-B63A-46CA-8DBC-FC9EFD440C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8466" y="193610"/>
            <a:ext cx="4296358" cy="1849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8676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6F4B6-7D1D-4936-9553-5F6B37F12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Examples: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A4F928-2E79-47EA-B751-E7D9E15CC5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635853"/>
            <a:ext cx="8743503" cy="4405509"/>
          </a:xfrm>
        </p:spPr>
        <p:txBody>
          <a:bodyPr/>
          <a:lstStyle/>
          <a:p>
            <a:r>
              <a:rPr lang="en-US" dirty="0"/>
              <a:t>If we have a right to life, then we have the obligation to respect life.</a:t>
            </a:r>
          </a:p>
          <a:p>
            <a:r>
              <a:rPr lang="en-US" dirty="0"/>
              <a:t>If we have a right to liberty, then we have the obligation to respect other people’s liberty. </a:t>
            </a:r>
          </a:p>
          <a:p>
            <a:r>
              <a:rPr lang="en-US" dirty="0"/>
              <a:t>If we have a right to security, then we have the obligation to create the conditions for every human being to enjoy human security</a:t>
            </a:r>
            <a:r>
              <a:rPr lang="en-AU" dirty="0"/>
              <a:t>.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93092B-4F7E-4494-9FE0-17CBC0F5CB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0825" y="3460417"/>
            <a:ext cx="4735674" cy="3139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2304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2DA3B-BEFA-4A7C-AF35-EE3E3E7F7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Your turn! Complete the following sentences in your book. </a:t>
            </a:r>
            <a:endParaRPr lang="en-AU" dirty="0"/>
          </a:p>
        </p:txBody>
      </p:sp>
      <p:sp>
        <p:nvSpPr>
          <p:cNvPr id="4" name="AutoShape 2" descr="Chapter-1 Government and Society- Introduction - Dr. Merajuddin Ahmad">
            <a:extLst>
              <a:ext uri="{FF2B5EF4-FFF2-40B4-BE49-F238E27FC236}">
                <a16:creationId xmlns:a16="http://schemas.microsoft.com/office/drawing/2014/main" id="{ADA1A3AE-B8C9-4DCC-BB03-7E443D0E29BF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 bwMode="auto">
          <a:xfrm>
            <a:off x="677334" y="2160589"/>
            <a:ext cx="7636156" cy="4240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lnSpcReduction="10000"/>
          </a:bodyPr>
          <a:lstStyle/>
          <a:p>
            <a:pPr>
              <a:buFont typeface="+mj-lt"/>
              <a:buAutoNum type="arabicPeriod"/>
            </a:pPr>
            <a:r>
              <a:rPr lang="en-US" sz="2400" dirty="0"/>
              <a:t>If we have a right to take part in political processes, then we have a responsibility to ...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If we have a right to work in just conditions, then we have a responsibility to ... 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If we have a right to freedom of thought, conscience and religion, then we have a responsibility to ... 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If we have a right to be educated, then we have a responsibility to ... 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If we have a right to benefit from the Earth's resources, then we have a responsibility to ... </a:t>
            </a:r>
          </a:p>
        </p:txBody>
      </p:sp>
    </p:spTree>
    <p:extLst>
      <p:ext uri="{BB962C8B-B14F-4D97-AF65-F5344CB8AC3E}">
        <p14:creationId xmlns:p14="http://schemas.microsoft.com/office/powerpoint/2010/main" val="14603943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E66B8-8E22-4C83-A939-7D555A27F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544" y="241365"/>
            <a:ext cx="8596668" cy="3442283"/>
          </a:xfrm>
        </p:spPr>
        <p:txBody>
          <a:bodyPr>
            <a:normAutofit/>
          </a:bodyPr>
          <a:lstStyle/>
          <a:p>
            <a:r>
              <a:rPr lang="en-US" dirty="0"/>
              <a:t>Group Activity: </a:t>
            </a:r>
            <a:br>
              <a:rPr lang="en-US" dirty="0"/>
            </a:br>
            <a:r>
              <a:rPr lang="en-US" sz="3200" dirty="0">
                <a:solidFill>
                  <a:schemeClr val="accent1">
                    <a:lumMod val="50000"/>
                  </a:schemeClr>
                </a:solidFill>
              </a:rPr>
              <a:t>In groups of 3-4, design a declaration of rights and responsibilities for your chosen context to present to your peers. </a:t>
            </a:r>
            <a:br>
              <a:rPr lang="en-US" sz="32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sz="1800" dirty="0">
                <a:solidFill>
                  <a:schemeClr val="accent1">
                    <a:lumMod val="50000"/>
                  </a:schemeClr>
                </a:solidFill>
              </a:rPr>
              <a:t>For example: Home, School, Skate Park, Society, Australian Roads, Beach etc.</a:t>
            </a:r>
            <a:br>
              <a:rPr lang="en-US" sz="32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sz="1800" dirty="0">
                <a:solidFill>
                  <a:schemeClr val="accent1">
                    <a:lumMod val="50000"/>
                  </a:schemeClr>
                </a:solidFill>
              </a:rPr>
              <a:t>OR you can create one for COVID-19  </a:t>
            </a:r>
            <a:endParaRPr lang="en-AU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734EB8C-BE12-4C56-A7A8-7111C1ABAE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8304" y="3125546"/>
            <a:ext cx="2857871" cy="16004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45528DA-06CC-4959-B024-A8899F42D3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4627" y="3125546"/>
            <a:ext cx="2951691" cy="17167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F095101-491A-42BA-9CAC-7044FA8C66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2185" y="2598022"/>
            <a:ext cx="3526172" cy="19746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FF68DFD-3797-4A53-BD73-C020E86F7F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43090" y="4646678"/>
            <a:ext cx="2143125" cy="21431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EDEF8D0-F2B1-4864-80F1-413C85D2FA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8296" y="4725954"/>
            <a:ext cx="2466975" cy="18478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9427312-736A-4135-80EF-CFEFC270ED6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8768" y="4882819"/>
            <a:ext cx="2381250" cy="17811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3F39B25-1B7F-454A-A0D1-29E5FD8E822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37472" y="4907177"/>
            <a:ext cx="2390775" cy="191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39103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40</TotalTime>
  <Words>287</Words>
  <Application>Microsoft Office PowerPoint</Application>
  <PresentationFormat>Widescreen</PresentationFormat>
  <Paragraphs>29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Trebuchet MS</vt:lpstr>
      <vt:lpstr>Wingdings 3</vt:lpstr>
      <vt:lpstr>Facet</vt:lpstr>
      <vt:lpstr>Civics and Citizenship</vt:lpstr>
      <vt:lpstr>DO NOW</vt:lpstr>
      <vt:lpstr>Human Rights</vt:lpstr>
      <vt:lpstr>With our rights, comes great responsibility </vt:lpstr>
      <vt:lpstr>Examples:</vt:lpstr>
      <vt:lpstr>Your turn! Complete the following sentences in your book. </vt:lpstr>
      <vt:lpstr>Group Activity:  In groups of 3-4, design a declaration of rights and responsibilities for your chosen context to present to your peers.  For example: Home, School, Skate Park, Society, Australian Roads, Beach etc. OR you can create one for COVID-19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Civics and Citizenship</dc:title>
  <dc:creator>FELGATE Lisa [Hedland Senior High School]</dc:creator>
  <cp:lastModifiedBy>FELGATE Lisa [Hedland Senior High School]</cp:lastModifiedBy>
  <cp:revision>6</cp:revision>
  <dcterms:created xsi:type="dcterms:W3CDTF">2020-04-29T02:10:05Z</dcterms:created>
  <dcterms:modified xsi:type="dcterms:W3CDTF">2020-04-29T07:35:11Z</dcterms:modified>
</cp:coreProperties>
</file>
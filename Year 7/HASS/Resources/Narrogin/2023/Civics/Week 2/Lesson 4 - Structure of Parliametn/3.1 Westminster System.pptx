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5"/>
  </p:notesMasterIdLst>
  <p:sldIdLst>
    <p:sldId id="256" r:id="rId2"/>
    <p:sldId id="262" r:id="rId3"/>
    <p:sldId id="259" r:id="rId4"/>
    <p:sldId id="260" r:id="rId5"/>
    <p:sldId id="264" r:id="rId6"/>
    <p:sldId id="261" r:id="rId7"/>
    <p:sldId id="266" r:id="rId8"/>
    <p:sldId id="271" r:id="rId9"/>
    <p:sldId id="272" r:id="rId10"/>
    <p:sldId id="267" r:id="rId11"/>
    <p:sldId id="265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8" autoAdjust="0"/>
    <p:restoredTop sz="94660"/>
  </p:normalViewPr>
  <p:slideViewPr>
    <p:cSldViewPr>
      <p:cViewPr varScale="1">
        <p:scale>
          <a:sx n="72" d="100"/>
          <a:sy n="72" d="100"/>
        </p:scale>
        <p:origin x="134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A9541-FD5E-4F1F-AE6E-24C8A3A58D2E}" type="datetimeFigureOut">
              <a:rPr lang="en-US" smtClean="0"/>
              <a:t>5/5/2023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BDA3F-0ABE-4D05-8F47-71D7CE0A1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1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Put these terms on board – have</a:t>
            </a:r>
            <a:r>
              <a:rPr lang="en-AU" baseline="0" dirty="0"/>
              <a:t> students brainstorm what they know about them – put responses on the board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BDA3F-0ABE-4D05-8F47-71D7CE0A1C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94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BDA3F-0ABE-4D05-8F47-71D7CE0A1C1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8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78000"/>
              </a:schemeClr>
            </a:gs>
            <a:gs pos="0">
              <a:schemeClr val="bg1">
                <a:lumMod val="0"/>
              </a:schemeClr>
            </a:gs>
          </a:gsLst>
          <a:path path="circle">
            <a:fillToRect l="50000" t="100000" r="10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230BC2C-1205-42B8-9965-568B6FFB7C40}" type="datetimeFigureOut">
              <a:rPr lang="en-AU" smtClean="0"/>
              <a:t>5/05/2023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49731146-60DD-4BE6-8415-4E2B0CEDFF48}" type="slidenum">
              <a:rPr lang="en-AU" smtClean="0"/>
              <a:t>‹#›</a:t>
            </a:fld>
            <a:endParaRPr lang="en-A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youtube.com/watch?v=DtCelQW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www.youtube.com/watch?v=svMxNNBNisQ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476672"/>
            <a:ext cx="6984776" cy="443880"/>
          </a:xfrm>
        </p:spPr>
        <p:txBody>
          <a:bodyPr>
            <a:normAutofit fontScale="90000"/>
          </a:bodyPr>
          <a:lstStyle/>
          <a:p>
            <a:r>
              <a:rPr lang="en-AU" dirty="0"/>
              <a:t>The Westminster system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190701"/>
            <a:ext cx="4392488" cy="353255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AU" dirty="0">
                <a:solidFill>
                  <a:schemeClr val="tx1"/>
                </a:solidFill>
              </a:rPr>
              <a:t>L.G:  We will learn about  the origins and key features of the Westminster system in Australia. </a:t>
            </a:r>
          </a:p>
          <a:p>
            <a:pPr>
              <a:spcBef>
                <a:spcPts val="0"/>
              </a:spcBef>
            </a:pPr>
            <a:endParaRPr lang="en-A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A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AU" dirty="0">
                <a:solidFill>
                  <a:schemeClr val="tx1"/>
                </a:solidFill>
              </a:rPr>
              <a:t>C.S: 1- Glossary has all new key terminology neatly added. </a:t>
            </a:r>
          </a:p>
          <a:p>
            <a:pPr>
              <a:spcBef>
                <a:spcPts val="0"/>
              </a:spcBef>
            </a:pPr>
            <a:r>
              <a:rPr lang="en-AU" dirty="0">
                <a:solidFill>
                  <a:schemeClr val="tx1"/>
                </a:solidFill>
              </a:rPr>
              <a:t> 2-We will understand some of the key features of the Westminster System of Government. 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221" y="764704"/>
            <a:ext cx="3328574" cy="19442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797" y="2708920"/>
            <a:ext cx="3334998" cy="201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7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764704"/>
            <a:ext cx="7772400" cy="1362075"/>
          </a:xfrm>
        </p:spPr>
        <p:txBody>
          <a:bodyPr/>
          <a:lstStyle/>
          <a:p>
            <a:r>
              <a:rPr lang="en-AU" dirty="0"/>
              <a:t>PowerPoint expectations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2400" dirty="0"/>
              <a:t>If the text is in </a:t>
            </a:r>
            <a:r>
              <a:rPr lang="en-AU" sz="2400" dirty="0">
                <a:solidFill>
                  <a:srgbClr val="0070C0"/>
                </a:solidFill>
              </a:rPr>
              <a:t>BLUE</a:t>
            </a:r>
            <a:r>
              <a:rPr lang="en-AU" sz="2400" dirty="0">
                <a:solidFill>
                  <a:srgbClr val="002060"/>
                </a:solidFill>
              </a:rPr>
              <a:t> </a:t>
            </a:r>
            <a:r>
              <a:rPr lang="en-AU" sz="2400" dirty="0"/>
              <a:t>then you need to copy it down.</a:t>
            </a:r>
          </a:p>
          <a:p>
            <a:r>
              <a:rPr lang="en-AU" sz="2400" dirty="0"/>
              <a:t>If the text is in </a:t>
            </a:r>
            <a:r>
              <a:rPr lang="en-AU" sz="2400" dirty="0">
                <a:solidFill>
                  <a:srgbClr val="C00000"/>
                </a:solidFill>
              </a:rPr>
              <a:t>RED</a:t>
            </a:r>
            <a:r>
              <a:rPr lang="en-AU" sz="2400" dirty="0"/>
              <a:t> then it is a task to do.</a:t>
            </a:r>
          </a:p>
          <a:p>
            <a:r>
              <a:rPr lang="en-AU" sz="2400" dirty="0"/>
              <a:t>If the text is in </a:t>
            </a:r>
            <a:r>
              <a:rPr lang="en-AU" sz="2400" dirty="0">
                <a:solidFill>
                  <a:srgbClr val="00B050"/>
                </a:solidFill>
              </a:rPr>
              <a:t>GREEN</a:t>
            </a:r>
            <a:r>
              <a:rPr lang="en-AU" sz="2400" dirty="0"/>
              <a:t> then it is a discussion point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3881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928992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The Westminster system – key questions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412776"/>
            <a:ext cx="828092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AU" sz="3600" i="1" dirty="0"/>
              <a:t>Where did it originate? </a:t>
            </a:r>
          </a:p>
          <a:p>
            <a:pPr lvl="0"/>
            <a:endParaRPr lang="en-AU" sz="36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AU" sz="3600" i="1" dirty="0"/>
              <a:t>Why does Australia use it?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AU" sz="3600" i="1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AU" sz="3600" i="1" dirty="0"/>
              <a:t>What are some of the key features?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56323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-243408"/>
            <a:ext cx="7772400" cy="1143000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Glossary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076685"/>
              </p:ext>
            </p:extLst>
          </p:nvPr>
        </p:nvGraphicFramePr>
        <p:xfrm>
          <a:off x="0" y="764704"/>
          <a:ext cx="9144000" cy="414569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35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896">
                <a:tc>
                  <a:txBody>
                    <a:bodyPr/>
                    <a:lstStyle/>
                    <a:p>
                      <a:r>
                        <a:rPr lang="en-AU" sz="1800" dirty="0">
                          <a:solidFill>
                            <a:srgbClr val="0070C0"/>
                          </a:solidFill>
                        </a:rPr>
                        <a:t>Term</a:t>
                      </a:r>
                      <a:r>
                        <a:rPr lang="en-AU" sz="1800" baseline="0" dirty="0">
                          <a:solidFill>
                            <a:srgbClr val="0070C0"/>
                          </a:solidFill>
                        </a:rPr>
                        <a:t> </a:t>
                      </a:r>
                      <a:endParaRPr lang="en-AU" sz="18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49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 b="1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The</a:t>
                      </a:r>
                      <a:r>
                        <a:rPr lang="en-AU" sz="1800" b="1" baseline="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 Westminster System </a:t>
                      </a:r>
                      <a:endParaRPr lang="en-AU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The system</a:t>
                      </a:r>
                      <a:r>
                        <a:rPr lang="en-AU" b="1" baseline="0" dirty="0"/>
                        <a:t> of Parliament which is based off the system of government in Great Britain </a:t>
                      </a:r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9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 b="1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Responsible</a:t>
                      </a:r>
                      <a:r>
                        <a:rPr lang="en-AU" sz="1800" b="1" baseline="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 b="1" baseline="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Government </a:t>
                      </a:r>
                      <a:endParaRPr lang="en-AU" sz="1800" b="1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When</a:t>
                      </a:r>
                      <a:r>
                        <a:rPr lang="en-AU" b="1" baseline="0" dirty="0"/>
                        <a:t> a government is accountable for its actions to Parliament. </a:t>
                      </a:r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1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 b="1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Bicameral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AU" sz="1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92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800" b="1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Unicameral</a:t>
                      </a:r>
                      <a:r>
                        <a:rPr lang="en-AU" sz="1800" baseline="0" dirty="0">
                          <a:effectLst/>
                          <a:latin typeface="+mj-lt"/>
                          <a:ea typeface="Calibri"/>
                          <a:cs typeface="Times New Roman"/>
                        </a:rPr>
                        <a:t> </a:t>
                      </a:r>
                      <a:endParaRPr lang="en-AU" sz="1800" dirty="0">
                        <a:effectLst/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1" dirty="0">
                          <a:solidFill>
                            <a:schemeClr val="bg1"/>
                          </a:solidFill>
                        </a:rPr>
                        <a:t>When</a:t>
                      </a:r>
                      <a:r>
                        <a:rPr lang="en-AU" b="1" baseline="0" dirty="0">
                          <a:solidFill>
                            <a:schemeClr val="bg1"/>
                          </a:solidFill>
                        </a:rPr>
                        <a:t> there is only one house of Parliament such as in Queensland, the Northern Territory and the Australian Capital Territory. </a:t>
                      </a:r>
                      <a:endParaRPr lang="en-AU" b="1" dirty="0">
                        <a:solidFill>
                          <a:schemeClr val="bg1"/>
                        </a:solidFill>
                      </a:endParaRP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94628" y="3280274"/>
            <a:ext cx="738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 </a:t>
            </a:r>
            <a:endParaRPr lang="en-AU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35696" y="2812758"/>
            <a:ext cx="7380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 </a:t>
            </a:r>
          </a:p>
          <a:p>
            <a:r>
              <a:rPr lang="en-AU" b="1" dirty="0">
                <a:solidFill>
                  <a:schemeClr val="bg1"/>
                </a:solidFill>
              </a:rPr>
              <a:t>When there are two houses of Parliament such as the House of Representatives and The Senate.  </a:t>
            </a:r>
          </a:p>
        </p:txBody>
      </p:sp>
    </p:spTree>
    <p:extLst>
      <p:ext uri="{BB962C8B-B14F-4D97-AF65-F5344CB8AC3E}">
        <p14:creationId xmlns:p14="http://schemas.microsoft.com/office/powerpoint/2010/main" val="193898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B050"/>
                </a:solidFill>
              </a:rPr>
              <a:t>What do we know about the following ?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04715"/>
            <a:ext cx="8784976" cy="4277071"/>
          </a:xfrm>
        </p:spPr>
        <p:txBody>
          <a:bodyPr>
            <a:noAutofit/>
          </a:bodyPr>
          <a:lstStyle/>
          <a:p>
            <a:r>
              <a:rPr lang="en-AU" sz="2200" dirty="0">
                <a:solidFill>
                  <a:srgbClr val="00B050"/>
                </a:solidFill>
              </a:rPr>
              <a:t>Parliament</a:t>
            </a:r>
          </a:p>
          <a:p>
            <a:r>
              <a:rPr lang="en-AU" sz="2200" dirty="0">
                <a:solidFill>
                  <a:srgbClr val="00B050"/>
                </a:solidFill>
              </a:rPr>
              <a:t>Prime minister</a:t>
            </a:r>
          </a:p>
          <a:p>
            <a:r>
              <a:rPr lang="en-AU" sz="2200" dirty="0">
                <a:solidFill>
                  <a:srgbClr val="00B050"/>
                </a:solidFill>
              </a:rPr>
              <a:t>The Queen /King</a:t>
            </a:r>
          </a:p>
          <a:p>
            <a:r>
              <a:rPr lang="en-AU" sz="2200" dirty="0">
                <a:solidFill>
                  <a:srgbClr val="00B050"/>
                </a:solidFill>
              </a:rPr>
              <a:t>The Governor General </a:t>
            </a:r>
          </a:p>
          <a:p>
            <a:endParaRPr lang="en-AU" sz="2200" dirty="0">
              <a:solidFill>
                <a:srgbClr val="00B050"/>
              </a:solidFill>
            </a:endParaRPr>
          </a:p>
          <a:p>
            <a:r>
              <a:rPr lang="en-AU" sz="2200" dirty="0">
                <a:solidFill>
                  <a:srgbClr val="00B050"/>
                </a:solidFill>
              </a:rPr>
              <a:t>Write down each of these words and anything you know about them. Then share with the person next to you. Be prepared to share with the class. </a:t>
            </a:r>
            <a:endParaRPr lang="en-US" sz="2200" dirty="0">
              <a:solidFill>
                <a:srgbClr val="00B05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124744"/>
            <a:ext cx="2619375" cy="1743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295" y="162379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1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accent2"/>
                </a:solidFill>
              </a:rPr>
              <a:t>The origins of the Westminster system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5254352" cy="3733800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The Westminster System takes it name from the Palace of Westminster, in London, Britain where the Model Parliament of 1295 was held. </a:t>
            </a:r>
          </a:p>
          <a:p>
            <a:pPr marL="68580" indent="0">
              <a:buNone/>
            </a:pPr>
            <a:endParaRPr lang="en-US" sz="2400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England’s Houses of Parliament are still at the Palace of Westminster. </a:t>
            </a:r>
          </a:p>
          <a:p>
            <a:pPr marL="68580" indent="0">
              <a:buNone/>
            </a:pPr>
            <a:endParaRPr lang="en-US" sz="2400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endParaRPr lang="en-US" sz="2400" dirty="0"/>
          </a:p>
          <a:p>
            <a:pPr marL="68580" indent="0">
              <a:buNone/>
            </a:pP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844" y="1196752"/>
            <a:ext cx="337480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85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Why we have this system 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4"/>
            <a:ext cx="5400600" cy="3917031"/>
          </a:xfrm>
        </p:spPr>
        <p:txBody>
          <a:bodyPr>
            <a:normAutofit fontScale="85000" lnSpcReduction="10000"/>
          </a:bodyPr>
          <a:lstStyle/>
          <a:p>
            <a:r>
              <a:rPr lang="en-AU" sz="2200" dirty="0">
                <a:solidFill>
                  <a:schemeClr val="accent2"/>
                </a:solidFill>
              </a:rPr>
              <a:t>As a colony of Britain we have adopted the same system of Government that they use.</a:t>
            </a:r>
          </a:p>
          <a:p>
            <a:pPr marL="68580" indent="0">
              <a:buNone/>
            </a:pPr>
            <a:endParaRPr lang="en-AU" sz="2200" dirty="0">
              <a:solidFill>
                <a:schemeClr val="accent2"/>
              </a:solidFill>
            </a:endParaRPr>
          </a:p>
          <a:p>
            <a:r>
              <a:rPr lang="en-AU" sz="2200" dirty="0">
                <a:solidFill>
                  <a:schemeClr val="accent2"/>
                </a:solidFill>
              </a:rPr>
              <a:t>When Australia federated in 1901 they created the Commonwealth Parliament, made up of two houses (bi-cameral) the lower house follows the same structure as Britain’s House of Commons and then we have an upper house known as The Senate which is modelled on the American Senate. </a:t>
            </a:r>
          </a:p>
          <a:p>
            <a:pPr marL="68580" indent="0">
              <a:buNone/>
            </a:pPr>
            <a:endParaRPr lang="en-AU" sz="2200" dirty="0">
              <a:solidFill>
                <a:schemeClr val="accent2"/>
              </a:solidFill>
            </a:endParaRPr>
          </a:p>
          <a:p>
            <a:r>
              <a:rPr lang="en-AU" sz="2200" dirty="0">
                <a:solidFill>
                  <a:schemeClr val="accent2"/>
                </a:solidFill>
              </a:rPr>
              <a:t>We have the same head of state as Britain – this is the Monarch (Queen Elizabeth) except in Australia she is represented by the Governor General.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346075"/>
            <a:ext cx="2133600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321" y="2463304"/>
            <a:ext cx="2243681" cy="14930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398" y="4005064"/>
            <a:ext cx="2138164" cy="135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1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Australian parliament - 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Parliamentary Education Office – What is Australian Parliament? </a:t>
            </a: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https://www.youtube.com/watch?v=DtCelQW0</a:t>
            </a:r>
            <a:endParaRPr lang="en-US" dirty="0"/>
          </a:p>
          <a:p>
            <a:pPr marL="6858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9" y="2420888"/>
            <a:ext cx="4843134" cy="292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45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THE WESTMINISER SYSTEM?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377" y="1196752"/>
            <a:ext cx="7772400" cy="37338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https://www.youtube.com/watch?v=svMxNNBNisQ</a:t>
            </a:r>
            <a:endParaRPr lang="en-US" dirty="0"/>
          </a:p>
          <a:p>
            <a:pPr marL="68580" indent="0">
              <a:buNone/>
            </a:pPr>
            <a:r>
              <a:rPr lang="en-AU" dirty="0"/>
              <a:t>Listen to Dr Ray White’s introduction to the Westminster System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572" y="2138617"/>
            <a:ext cx="4865683" cy="272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53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FF0000"/>
                </a:solidFill>
              </a:rPr>
              <a:t>Questions during viewing </a:t>
            </a:r>
            <a:r>
              <a:rPr lang="en-AU" dirty="0"/>
              <a:t>– please leave space for your 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31640"/>
            <a:ext cx="7772400" cy="3733800"/>
          </a:xfrm>
        </p:spPr>
        <p:txBody>
          <a:bodyPr/>
          <a:lstStyle/>
          <a:p>
            <a:pPr marL="68580" indent="0">
              <a:buNone/>
            </a:pPr>
            <a:r>
              <a:rPr lang="en-AU" dirty="0">
                <a:solidFill>
                  <a:srgbClr val="FF0000"/>
                </a:solidFill>
              </a:rPr>
              <a:t>1. How does Dr Ray White describe the Westminster system? </a:t>
            </a:r>
          </a:p>
          <a:p>
            <a:pPr marL="6858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68580" indent="0">
              <a:buNone/>
            </a:pPr>
            <a:r>
              <a:rPr lang="en-AU" dirty="0">
                <a:solidFill>
                  <a:srgbClr val="FF0000"/>
                </a:solidFill>
              </a:rPr>
              <a:t>2.  Who is the head of state in the Westminster system? </a:t>
            </a:r>
          </a:p>
          <a:p>
            <a:pPr marL="6858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68580" indent="0">
              <a:buNone/>
            </a:pPr>
            <a:r>
              <a:rPr lang="en-AU" dirty="0">
                <a:solidFill>
                  <a:srgbClr val="FF0000"/>
                </a:solidFill>
              </a:rPr>
              <a:t>3.  Who does the Parliament comprise of?</a:t>
            </a:r>
          </a:p>
          <a:p>
            <a:pPr marL="68580" indent="0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68580" indent="0">
              <a:buNone/>
            </a:pPr>
            <a:r>
              <a:rPr lang="en-AU" dirty="0">
                <a:solidFill>
                  <a:srgbClr val="FF0000"/>
                </a:solidFill>
              </a:rPr>
              <a:t>4.  Where is the Executive branch drawn from?</a:t>
            </a:r>
          </a:p>
          <a:p>
            <a:pPr marL="525780" indent="-457200">
              <a:buAutoNum type="arabicPeriod" startAt="4"/>
            </a:pPr>
            <a:endParaRPr lang="en-AU" dirty="0">
              <a:solidFill>
                <a:srgbClr val="FF0000"/>
              </a:solidFill>
            </a:endParaRPr>
          </a:p>
          <a:p>
            <a:pPr marL="68580" indent="0">
              <a:buNone/>
            </a:pPr>
            <a:r>
              <a:rPr lang="en-AU" dirty="0">
                <a:solidFill>
                  <a:srgbClr val="FF0000"/>
                </a:solidFill>
              </a:rPr>
              <a:t>5.  Why is it called the Westminster system?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533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accent2"/>
                </a:solidFill>
              </a:rPr>
              <a:t>What are the key features of the Westminster system?  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7" y="1268760"/>
            <a:ext cx="4292277" cy="4032448"/>
          </a:xfrm>
        </p:spPr>
        <p:txBody>
          <a:bodyPr/>
          <a:lstStyle/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r>
              <a:rPr lang="en-AU" b="1" dirty="0">
                <a:solidFill>
                  <a:schemeClr val="accent2"/>
                </a:solidFill>
              </a:rPr>
              <a:t>1.  The Executive Branch: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Drawn from Parliament and answerable to Parliament.  Also called the Cabinet and made up of Ministers and the Prime Minister.  </a:t>
            </a:r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endParaRPr lang="en-US" dirty="0"/>
          </a:p>
          <a:p>
            <a:pPr marL="6858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2. Head of Government:  </a:t>
            </a:r>
            <a:r>
              <a:rPr lang="en-US" dirty="0">
                <a:solidFill>
                  <a:schemeClr val="accent2"/>
                </a:solidFill>
              </a:rPr>
              <a:t>The leader of the Government, the Prime Minister.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805" y="1556792"/>
            <a:ext cx="4400137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13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accent2"/>
                </a:solidFill>
              </a:rPr>
              <a:t>What are the key features of the Westminster system?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4822304" cy="3733800"/>
          </a:xfrm>
        </p:spPr>
        <p:txBody>
          <a:bodyPr/>
          <a:lstStyle/>
          <a:p>
            <a:pPr marL="525780" indent="-457200">
              <a:buAutoNum type="arabicPeriod" startAt="3"/>
            </a:pPr>
            <a:r>
              <a:rPr lang="en-AU" b="1" dirty="0">
                <a:solidFill>
                  <a:schemeClr val="accent2"/>
                </a:solidFill>
              </a:rPr>
              <a:t>Head of state: </a:t>
            </a:r>
            <a:r>
              <a:rPr lang="en-US" dirty="0">
                <a:solidFill>
                  <a:schemeClr val="accent2"/>
                </a:solidFill>
              </a:rPr>
              <a:t>Monarch who is ‘above politics’ and acts on advice from the Prime Minster. Can be represented by a Governor-General. </a:t>
            </a:r>
          </a:p>
          <a:p>
            <a:pPr marL="68580" indent="0">
              <a:buNone/>
            </a:pPr>
            <a:endParaRPr lang="en-AU" dirty="0">
              <a:solidFill>
                <a:schemeClr val="accent2"/>
              </a:solidFill>
            </a:endParaRPr>
          </a:p>
          <a:p>
            <a:pPr marL="525780" indent="-457200">
              <a:buAutoNum type="arabicPeriod" startAt="3"/>
            </a:pPr>
            <a:r>
              <a:rPr lang="en-AU" b="1" dirty="0">
                <a:solidFill>
                  <a:schemeClr val="accent2"/>
                </a:solidFill>
              </a:rPr>
              <a:t>Elected representatives:  </a:t>
            </a:r>
            <a:r>
              <a:rPr lang="en-AU" dirty="0">
                <a:solidFill>
                  <a:schemeClr val="accent2"/>
                </a:solidFill>
              </a:rPr>
              <a:t>People elected to represent the people. Often members of the lower house. 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980728"/>
            <a:ext cx="2466975" cy="1847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858" y="2847629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21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402" y="-15577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accent2"/>
                </a:solidFill>
              </a:rPr>
              <a:t>What are the key features of the Westminster system?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96752"/>
            <a:ext cx="5110336" cy="3733800"/>
          </a:xfrm>
        </p:spPr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en-AU" b="1" dirty="0">
                <a:solidFill>
                  <a:schemeClr val="accent2"/>
                </a:solidFill>
              </a:rPr>
              <a:t>5. Government: </a:t>
            </a:r>
            <a:r>
              <a:rPr lang="en-AU" dirty="0">
                <a:solidFill>
                  <a:schemeClr val="accent2"/>
                </a:solidFill>
              </a:rPr>
              <a:t>Made by the political party with the most seats in the lower house. </a:t>
            </a:r>
          </a:p>
          <a:p>
            <a:pPr marL="68580" indent="0">
              <a:buNone/>
            </a:pPr>
            <a:endParaRPr lang="en-AU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endParaRPr lang="en-AU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r>
              <a:rPr lang="en-AU" b="1" dirty="0">
                <a:solidFill>
                  <a:schemeClr val="accent2"/>
                </a:solidFill>
              </a:rPr>
              <a:t>6. Opposition: </a:t>
            </a:r>
            <a:r>
              <a:rPr lang="en-AU" dirty="0">
                <a:solidFill>
                  <a:schemeClr val="accent2"/>
                </a:solidFill>
              </a:rPr>
              <a:t>Made by the party with the second largest amount of seats in the lower house. </a:t>
            </a:r>
          </a:p>
          <a:p>
            <a:pPr marL="68580" indent="0">
              <a:buNone/>
            </a:pPr>
            <a:endParaRPr lang="en-AU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endParaRPr lang="en-AU" dirty="0">
              <a:solidFill>
                <a:schemeClr val="accent2"/>
              </a:solidFill>
            </a:endParaRPr>
          </a:p>
          <a:p>
            <a:pPr marL="68580" indent="0">
              <a:buNone/>
            </a:pPr>
            <a:r>
              <a:rPr lang="en-AU" b="1" dirty="0">
                <a:solidFill>
                  <a:schemeClr val="accent2"/>
                </a:solidFill>
              </a:rPr>
              <a:t>7.  Rule of law:  </a:t>
            </a:r>
            <a:r>
              <a:rPr lang="en-AU" dirty="0">
                <a:solidFill>
                  <a:schemeClr val="accent2"/>
                </a:solidFill>
              </a:rPr>
              <a:t>An independent court system to which the law applies to everyone. 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816" y="1007021"/>
            <a:ext cx="3051715" cy="19019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587" y="2908970"/>
            <a:ext cx="3134671" cy="189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89911"/>
      </p:ext>
    </p:extLst>
  </p:cSld>
  <p:clrMapOvr>
    <a:masterClrMapping/>
  </p:clrMapOvr>
</p:sld>
</file>

<file path=ppt/theme/theme1.xml><?xml version="1.0" encoding="utf-8"?>
<a:theme xmlns:a="http://schemas.openxmlformats.org/drawingml/2006/main" name="Urban Pop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TM01859862[[fn=Urban Pop]]</Template>
  <TotalTime>314</TotalTime>
  <Words>705</Words>
  <Application>Microsoft Office PowerPoint</Application>
  <PresentationFormat>On-screen Show (4:3)</PresentationFormat>
  <Paragraphs>85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Wingdings 3</vt:lpstr>
      <vt:lpstr>Urban Pop</vt:lpstr>
      <vt:lpstr>The Westminster system </vt:lpstr>
      <vt:lpstr>PowerPoint expectations</vt:lpstr>
      <vt:lpstr>The Westminster system – key questions </vt:lpstr>
      <vt:lpstr>Glossary</vt:lpstr>
      <vt:lpstr>What do we know about the following ? </vt:lpstr>
      <vt:lpstr>The origins of the Westminster system  </vt:lpstr>
      <vt:lpstr>Why we have this system </vt:lpstr>
      <vt:lpstr>Australian parliament - recap</vt:lpstr>
      <vt:lpstr>WHAT IS THE WESTMINISER SYSTEM?</vt:lpstr>
      <vt:lpstr>Questions during viewing – please leave space for your answers</vt:lpstr>
      <vt:lpstr>What are the key features of the Westminster system?  </vt:lpstr>
      <vt:lpstr>What are the key features of the Westminster system?</vt:lpstr>
      <vt:lpstr>What are the key features of the Westminster system?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Civics and citizenship</dc:title>
  <dc:creator>CASTALDINI Ruth</dc:creator>
  <cp:lastModifiedBy>WELLS Janette [Narrogin Senior High School]</cp:lastModifiedBy>
  <cp:revision>24</cp:revision>
  <dcterms:created xsi:type="dcterms:W3CDTF">2017-04-29T03:23:44Z</dcterms:created>
  <dcterms:modified xsi:type="dcterms:W3CDTF">2023-05-05T00:02:11Z</dcterms:modified>
</cp:coreProperties>
</file>
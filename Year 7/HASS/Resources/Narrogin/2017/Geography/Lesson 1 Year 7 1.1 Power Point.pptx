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75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42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80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013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39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70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124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10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706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84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9578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459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435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939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870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75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27AEC-A683-442E-BB44-2740B8CE7778}" type="datetimeFigureOut">
              <a:rPr lang="en-AU" smtClean="0"/>
              <a:t>17/07/2017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12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9627" y="1124374"/>
            <a:ext cx="7766936" cy="1646302"/>
          </a:xfrm>
        </p:spPr>
        <p:txBody>
          <a:bodyPr/>
          <a:lstStyle/>
          <a:p>
            <a:r>
              <a:rPr lang="en-AU" dirty="0" smtClean="0"/>
              <a:t>Year 7 - GEOGRAPHY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9627" y="2973873"/>
            <a:ext cx="7766936" cy="1659087"/>
          </a:xfrm>
        </p:spPr>
        <p:txBody>
          <a:bodyPr>
            <a:normAutofit/>
          </a:bodyPr>
          <a:lstStyle/>
          <a:p>
            <a:pPr algn="l"/>
            <a:r>
              <a:rPr lang="en-AU" b="1" dirty="0" smtClean="0"/>
              <a:t>Knowledge and Understanding:</a:t>
            </a:r>
          </a:p>
          <a:p>
            <a:pPr algn="l"/>
            <a:endParaRPr lang="en-A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 smtClean="0"/>
              <a:t>Water in the World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 smtClean="0"/>
              <a:t>Place and Liveability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260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87" y="587574"/>
            <a:ext cx="7958604" cy="5930065"/>
          </a:xfrm>
          <a:prstGeom prst="rect">
            <a:avLst/>
          </a:prstGeom>
        </p:spPr>
      </p:pic>
      <p:sp>
        <p:nvSpPr>
          <p:cNvPr id="3" name="Explosion 2 2"/>
          <p:cNvSpPr/>
          <p:nvPr/>
        </p:nvSpPr>
        <p:spPr>
          <a:xfrm>
            <a:off x="6522953" y="247213"/>
            <a:ext cx="3016404" cy="2658217"/>
          </a:xfrm>
          <a:prstGeom prst="irregularSeal2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/>
          <p:cNvSpPr txBox="1"/>
          <p:nvPr/>
        </p:nvSpPr>
        <p:spPr>
          <a:xfrm>
            <a:off x="7437822" y="1114656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Where in the world is this?</a:t>
            </a:r>
            <a:endParaRPr lang="en-AU" dirty="0"/>
          </a:p>
        </p:txBody>
      </p:sp>
      <p:sp>
        <p:nvSpPr>
          <p:cNvPr id="5" name="Explosion 2 4"/>
          <p:cNvSpPr/>
          <p:nvPr/>
        </p:nvSpPr>
        <p:spPr>
          <a:xfrm>
            <a:off x="8946024" y="1562752"/>
            <a:ext cx="3016404" cy="2658217"/>
          </a:xfrm>
          <a:prstGeom prst="irregularSeal2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9842158" y="2421938"/>
            <a:ext cx="1224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Would you want to live here?</a:t>
            </a:r>
            <a:endParaRPr lang="en-AU" dirty="0"/>
          </a:p>
        </p:txBody>
      </p:sp>
      <p:sp>
        <p:nvSpPr>
          <p:cNvPr id="7" name="Explosion 2 6"/>
          <p:cNvSpPr/>
          <p:nvPr/>
        </p:nvSpPr>
        <p:spPr>
          <a:xfrm>
            <a:off x="8803991" y="4223894"/>
            <a:ext cx="3016404" cy="2658217"/>
          </a:xfrm>
          <a:prstGeom prst="irregularSeal2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9700125" y="5080155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Could you access services and facilities at this place?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8882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87" y="587574"/>
            <a:ext cx="7958604" cy="5930065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9890975" y="313454"/>
            <a:ext cx="1841679" cy="940158"/>
          </a:xfrm>
          <a:prstGeom prst="wedgeRoundRectCallout">
            <a:avLst/>
          </a:prstGeom>
          <a:solidFill>
            <a:schemeClr val="bg1"/>
          </a:solidFill>
          <a:ln w="127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/>
          <p:cNvSpPr txBox="1"/>
          <p:nvPr/>
        </p:nvSpPr>
        <p:spPr>
          <a:xfrm>
            <a:off x="10040633" y="598867"/>
            <a:ext cx="200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HONG KONG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190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5865"/>
          </a:xfrm>
        </p:spPr>
        <p:txBody>
          <a:bodyPr/>
          <a:lstStyle/>
          <a:p>
            <a:pPr algn="ctr"/>
            <a:r>
              <a:rPr lang="en-AU" b="1" dirty="0" smtClean="0"/>
              <a:t>What is Geography?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1192"/>
            <a:ext cx="8596668" cy="3880773"/>
          </a:xfrm>
        </p:spPr>
        <p:txBody>
          <a:bodyPr>
            <a:normAutofit/>
          </a:bodyPr>
          <a:lstStyle/>
          <a:p>
            <a:r>
              <a:rPr lang="en-AU" sz="4000" dirty="0" smtClean="0"/>
              <a:t>Geography is the subject that helps us to find answers to questions about the world around us.</a:t>
            </a:r>
          </a:p>
        </p:txBody>
      </p:sp>
    </p:spTree>
    <p:extLst>
      <p:ext uri="{BB962C8B-B14F-4D97-AF65-F5344CB8AC3E}">
        <p14:creationId xmlns:p14="http://schemas.microsoft.com/office/powerpoint/2010/main" val="408767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word ‘geography’…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The word ‘geography’ can be divided into two parts, ‘geo’ and ‘</a:t>
            </a:r>
            <a:r>
              <a:rPr lang="en-AU" sz="3200" dirty="0" err="1" smtClean="0"/>
              <a:t>graphy</a:t>
            </a:r>
            <a:r>
              <a:rPr lang="en-AU" sz="3200" dirty="0" smtClean="0"/>
              <a:t>’.</a:t>
            </a:r>
            <a:endParaRPr lang="en-AU" sz="3200" dirty="0"/>
          </a:p>
          <a:p>
            <a:r>
              <a:rPr lang="en-AU" sz="3200" dirty="0" smtClean="0"/>
              <a:t>‘Geo’ comes from the Greek word ‘</a:t>
            </a:r>
            <a:r>
              <a:rPr lang="en-AU" sz="3200" dirty="0" err="1" smtClean="0"/>
              <a:t>ge</a:t>
            </a:r>
            <a:r>
              <a:rPr lang="en-AU" sz="3200" dirty="0" smtClean="0"/>
              <a:t>’, meaning ‘Earth’.</a:t>
            </a:r>
          </a:p>
          <a:p>
            <a:r>
              <a:rPr lang="en-AU" sz="3200" dirty="0" smtClean="0"/>
              <a:t>‘</a:t>
            </a:r>
            <a:r>
              <a:rPr lang="en-AU" sz="3200" dirty="0" err="1" smtClean="0"/>
              <a:t>Graphy</a:t>
            </a:r>
            <a:r>
              <a:rPr lang="en-AU" sz="3200" dirty="0" smtClean="0"/>
              <a:t>’ comes from ‘</a:t>
            </a:r>
            <a:r>
              <a:rPr lang="en-AU" sz="3200" dirty="0" err="1" smtClean="0"/>
              <a:t>graphein</a:t>
            </a:r>
            <a:r>
              <a:rPr lang="en-AU" sz="3200" dirty="0" smtClean="0"/>
              <a:t>’, which means ‘to describe’.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653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More about geography…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3200" dirty="0" smtClean="0"/>
              <a:t>Geography is essentially the temporal (relating to time) and spatial (relating to space) study of people and places in the world.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 smtClean="0"/>
              <a:t>Geography can be divided into two main branches:</a:t>
            </a:r>
          </a:p>
          <a:p>
            <a:pPr marL="0" indent="0">
              <a:buNone/>
            </a:pPr>
            <a:r>
              <a:rPr lang="en-AU" sz="3200" dirty="0"/>
              <a:t>	</a:t>
            </a:r>
            <a:r>
              <a:rPr lang="en-AU" sz="3200" dirty="0" smtClean="0"/>
              <a:t>* Physical geography </a:t>
            </a:r>
          </a:p>
          <a:p>
            <a:pPr marL="0" indent="0">
              <a:buNone/>
            </a:pPr>
            <a:r>
              <a:rPr lang="en-AU" sz="3200" dirty="0"/>
              <a:t>	</a:t>
            </a:r>
            <a:r>
              <a:rPr lang="en-AU" sz="3200" dirty="0" smtClean="0"/>
              <a:t>* Human (or cultural) geography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674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Physical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8313"/>
            <a:ext cx="8596668" cy="3880773"/>
          </a:xfrm>
        </p:spPr>
        <p:txBody>
          <a:bodyPr>
            <a:normAutofit/>
          </a:bodyPr>
          <a:lstStyle/>
          <a:p>
            <a:r>
              <a:rPr lang="en-AU" sz="3200" dirty="0" smtClean="0"/>
              <a:t>Generally classified as an Earth science.</a:t>
            </a:r>
          </a:p>
          <a:p>
            <a:r>
              <a:rPr lang="en-AU" sz="3200" dirty="0" smtClean="0"/>
              <a:t>Studies the physical features and environments of the Earth.</a:t>
            </a:r>
          </a:p>
          <a:p>
            <a:r>
              <a:rPr lang="en-AU" sz="3200" dirty="0" smtClean="0"/>
              <a:t>Examples: Rivers, volcanoes, _________________, _____________________.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8244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Human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5130"/>
            <a:ext cx="7835601" cy="3956875"/>
          </a:xfrm>
        </p:spPr>
        <p:txBody>
          <a:bodyPr>
            <a:normAutofit/>
          </a:bodyPr>
          <a:lstStyle/>
          <a:p>
            <a:r>
              <a:rPr lang="en-AU" sz="3200" dirty="0" smtClean="0"/>
              <a:t>Usually referred to as a social science.</a:t>
            </a:r>
          </a:p>
          <a:p>
            <a:r>
              <a:rPr lang="en-AU" sz="3200" dirty="0" smtClean="0"/>
              <a:t>Studies the way that humans interact with and have an impact on each other and the Earth. </a:t>
            </a:r>
          </a:p>
          <a:p>
            <a:r>
              <a:rPr lang="en-AU" sz="3200" dirty="0" smtClean="0"/>
              <a:t>Examples: Study of towns, farms, cities and megacities (a city with a population of over 10 million people).</a:t>
            </a:r>
            <a:endParaRPr lang="en-AU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77" y="4182413"/>
            <a:ext cx="3489758" cy="2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 smtClean="0"/>
              <a:t>Explanation – </a:t>
            </a:r>
            <a:br>
              <a:rPr lang="en-AU" b="1" dirty="0" smtClean="0"/>
            </a:br>
            <a:r>
              <a:rPr lang="en-AU" b="1" dirty="0" smtClean="0"/>
              <a:t>Why do we study Geography?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 smtClean="0"/>
              <a:t>Geography helps us to explain how the world looks the way it does, where things are (location/situation) and how they got there (reasons/account for).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35031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 smtClean="0"/>
              <a:t>Importance of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8465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AU" sz="3200" dirty="0" smtClean="0"/>
              <a:t>Geography is concerned with the processes that shape the earth’s surface and </a:t>
            </a:r>
          </a:p>
          <a:p>
            <a:pPr marL="0" indent="0">
              <a:buNone/>
            </a:pPr>
            <a:r>
              <a:rPr lang="en-AU" sz="3200" dirty="0" smtClean="0"/>
              <a:t>the way people interact with the environment. 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 smtClean="0"/>
              <a:t>The study of geography helps us to better understand the world in which we live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153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4501"/>
          </a:xfrm>
        </p:spPr>
        <p:txBody>
          <a:bodyPr/>
          <a:lstStyle/>
          <a:p>
            <a:pPr algn="ctr"/>
            <a:r>
              <a:rPr lang="en-AU" b="1" dirty="0" smtClean="0"/>
              <a:t>What do geographers do?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4101"/>
            <a:ext cx="8596668" cy="3880773"/>
          </a:xfrm>
        </p:spPr>
        <p:txBody>
          <a:bodyPr>
            <a:noAutofit/>
          </a:bodyPr>
          <a:lstStyle/>
          <a:p>
            <a:r>
              <a:rPr lang="en-AU" sz="2800" dirty="0" smtClean="0"/>
              <a:t>The role of a geographer is to ask questions about the people and places in the world, plus find answers to these questions.</a:t>
            </a:r>
          </a:p>
          <a:p>
            <a:r>
              <a:rPr lang="en-AU" sz="2800" dirty="0" smtClean="0"/>
              <a:t>Key questions:</a:t>
            </a:r>
          </a:p>
          <a:p>
            <a:pPr>
              <a:buFontTx/>
              <a:buChar char="-"/>
            </a:pPr>
            <a:r>
              <a:rPr lang="en-AU" sz="2800" dirty="0" smtClean="0"/>
              <a:t>Where is it?</a:t>
            </a:r>
          </a:p>
          <a:p>
            <a:pPr>
              <a:buFontTx/>
              <a:buChar char="-"/>
            </a:pPr>
            <a:r>
              <a:rPr lang="en-AU" sz="2800" dirty="0" smtClean="0"/>
              <a:t>How did it get there?</a:t>
            </a:r>
          </a:p>
          <a:p>
            <a:pPr>
              <a:buFontTx/>
              <a:buChar char="-"/>
            </a:pPr>
            <a:r>
              <a:rPr lang="en-AU" sz="2800" dirty="0" smtClean="0"/>
              <a:t>Why is it there?</a:t>
            </a:r>
          </a:p>
          <a:p>
            <a:pPr>
              <a:buFontTx/>
              <a:buChar char="-"/>
            </a:pPr>
            <a:r>
              <a:rPr lang="en-AU" sz="2800" dirty="0" smtClean="0"/>
              <a:t>Has it changed over time? </a:t>
            </a:r>
          </a:p>
          <a:p>
            <a:pPr>
              <a:buFontTx/>
              <a:buChar char="-"/>
            </a:pPr>
            <a:r>
              <a:rPr lang="en-AU" sz="2800" dirty="0" smtClean="0"/>
              <a:t>What is it affecting and how is it being affected?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836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How do geographers find answers?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2403"/>
            <a:ext cx="8596668" cy="3880773"/>
          </a:xfrm>
        </p:spPr>
        <p:txBody>
          <a:bodyPr>
            <a:noAutofit/>
          </a:bodyPr>
          <a:lstStyle/>
          <a:p>
            <a:r>
              <a:rPr lang="en-AU" sz="2800" dirty="0" smtClean="0"/>
              <a:t>Geographers find answers to their questions by collecting </a:t>
            </a:r>
            <a:r>
              <a:rPr lang="en-AU" sz="2800" dirty="0" err="1" smtClean="0"/>
              <a:t>i</a:t>
            </a:r>
            <a:r>
              <a:rPr lang="en-AU" sz="2800" dirty="0" smtClean="0"/>
              <a:t>________________ called d________. </a:t>
            </a:r>
          </a:p>
          <a:p>
            <a:endParaRPr lang="en-AU" sz="2800" dirty="0"/>
          </a:p>
          <a:p>
            <a:r>
              <a:rPr lang="en-AU" sz="2800" dirty="0" smtClean="0"/>
              <a:t>Data can be collected in a number of ways, including observation and questioning.</a:t>
            </a:r>
          </a:p>
          <a:p>
            <a:endParaRPr lang="en-AU" sz="2800" dirty="0"/>
          </a:p>
          <a:p>
            <a:r>
              <a:rPr lang="en-AU" sz="2800" dirty="0" smtClean="0"/>
              <a:t>Geographical data is often collected outdoors, in the natural or physical environment. This kind of study is known as </a:t>
            </a:r>
            <a:r>
              <a:rPr lang="en-AU" sz="2800" i="1" dirty="0" smtClean="0"/>
              <a:t>fieldwork.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26064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1623"/>
          </a:xfrm>
        </p:spPr>
        <p:txBody>
          <a:bodyPr/>
          <a:lstStyle/>
          <a:p>
            <a:r>
              <a:rPr lang="en-AU" b="1" dirty="0" smtClean="0"/>
              <a:t>Tools used in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1223"/>
            <a:ext cx="8596668" cy="3880773"/>
          </a:xfrm>
        </p:spPr>
        <p:txBody>
          <a:bodyPr>
            <a:normAutofit fontScale="32500" lnSpcReduction="20000"/>
          </a:bodyPr>
          <a:lstStyle/>
          <a:p>
            <a:r>
              <a:rPr lang="en-AU" sz="8000" dirty="0" smtClean="0"/>
              <a:t>The most common tools include:</a:t>
            </a:r>
          </a:p>
          <a:p>
            <a:pPr>
              <a:buFontTx/>
              <a:buChar char="-"/>
            </a:pPr>
            <a:r>
              <a:rPr lang="en-AU" sz="8000" dirty="0" smtClean="0"/>
              <a:t>Maps</a:t>
            </a:r>
          </a:p>
          <a:p>
            <a:pPr>
              <a:buFontTx/>
              <a:buChar char="-"/>
            </a:pPr>
            <a:r>
              <a:rPr lang="en-AU" sz="8000" dirty="0" smtClean="0"/>
              <a:t>Photographs</a:t>
            </a:r>
          </a:p>
          <a:p>
            <a:pPr>
              <a:buFontTx/>
              <a:buChar char="-"/>
            </a:pPr>
            <a:r>
              <a:rPr lang="en-AU" sz="8000" dirty="0" smtClean="0"/>
              <a:t>Tables</a:t>
            </a:r>
          </a:p>
          <a:p>
            <a:pPr>
              <a:buFontTx/>
              <a:buChar char="-"/>
            </a:pPr>
            <a:r>
              <a:rPr lang="en-AU" sz="8000" dirty="0" smtClean="0"/>
              <a:t>Charts</a:t>
            </a:r>
          </a:p>
          <a:p>
            <a:pPr>
              <a:buFontTx/>
              <a:buChar char="-"/>
            </a:pPr>
            <a:r>
              <a:rPr lang="en-AU" sz="8000" dirty="0" smtClean="0"/>
              <a:t>Graphs (Types: _____________, ___________________, _________________)</a:t>
            </a:r>
          </a:p>
          <a:p>
            <a:pPr>
              <a:buFontTx/>
              <a:buChar char="-"/>
            </a:pPr>
            <a:r>
              <a:rPr lang="en-AU" sz="8000" dirty="0" smtClean="0"/>
              <a:t>Models </a:t>
            </a:r>
          </a:p>
          <a:p>
            <a:pPr>
              <a:buFontTx/>
              <a:buChar char="-"/>
            </a:pPr>
            <a:r>
              <a:rPr lang="en-AU" sz="8000" dirty="0" smtClean="0"/>
              <a:t>Surveys and Questionnaires</a:t>
            </a:r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534908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4501"/>
          </a:xfrm>
        </p:spPr>
        <p:txBody>
          <a:bodyPr>
            <a:normAutofit fontScale="90000"/>
          </a:bodyPr>
          <a:lstStyle/>
          <a:p>
            <a:pPr algn="ctr"/>
            <a:r>
              <a:rPr lang="en-AU" b="1" dirty="0" smtClean="0"/>
              <a:t>SEVEN KEY CONCEPTS IN GEOGRAPHY - </a:t>
            </a:r>
            <a:r>
              <a:rPr lang="en-AU" b="1" u="sng" dirty="0" smtClean="0"/>
              <a:t>SPICESS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4101"/>
            <a:ext cx="8596668" cy="4906851"/>
          </a:xfrm>
        </p:spPr>
        <p:txBody>
          <a:bodyPr>
            <a:normAutofit/>
          </a:bodyPr>
          <a:lstStyle/>
          <a:p>
            <a:r>
              <a:rPr lang="en-AU" sz="3600" b="1" u="sng" dirty="0" smtClean="0"/>
              <a:t>S</a:t>
            </a:r>
            <a:r>
              <a:rPr lang="en-AU" sz="3600" dirty="0" smtClean="0"/>
              <a:t>PACE</a:t>
            </a:r>
          </a:p>
          <a:p>
            <a:r>
              <a:rPr lang="en-AU" sz="3600" b="1" u="sng" dirty="0" smtClean="0"/>
              <a:t>P</a:t>
            </a:r>
            <a:r>
              <a:rPr lang="en-AU" sz="3600" dirty="0" smtClean="0"/>
              <a:t>LACE</a:t>
            </a:r>
          </a:p>
          <a:p>
            <a:r>
              <a:rPr lang="en-AU" sz="3600" b="1" u="sng" dirty="0" smtClean="0"/>
              <a:t>I</a:t>
            </a:r>
            <a:r>
              <a:rPr lang="en-AU" sz="3600" dirty="0" smtClean="0"/>
              <a:t>NTERCONNECTION</a:t>
            </a:r>
          </a:p>
          <a:p>
            <a:r>
              <a:rPr lang="en-AU" sz="3600" b="1" u="sng" dirty="0" smtClean="0"/>
              <a:t>C</a:t>
            </a:r>
            <a:r>
              <a:rPr lang="en-AU" sz="3600" dirty="0" smtClean="0"/>
              <a:t>HANGE</a:t>
            </a:r>
          </a:p>
          <a:p>
            <a:r>
              <a:rPr lang="en-AU" sz="3600" b="1" u="sng" dirty="0" smtClean="0"/>
              <a:t>E</a:t>
            </a:r>
            <a:r>
              <a:rPr lang="en-AU" sz="3600" dirty="0" smtClean="0"/>
              <a:t>NVIRONMENT</a:t>
            </a:r>
          </a:p>
          <a:p>
            <a:r>
              <a:rPr lang="en-AU" sz="3600" b="1" u="sng" dirty="0" smtClean="0"/>
              <a:t>S</a:t>
            </a:r>
            <a:r>
              <a:rPr lang="en-AU" sz="3600" dirty="0" smtClean="0"/>
              <a:t>USTAINABILITY</a:t>
            </a:r>
          </a:p>
          <a:p>
            <a:r>
              <a:rPr lang="en-AU" sz="3600" b="1" u="sng" dirty="0" smtClean="0"/>
              <a:t>S</a:t>
            </a:r>
            <a:r>
              <a:rPr lang="en-AU" sz="3600" dirty="0" smtClean="0"/>
              <a:t>CALE</a:t>
            </a:r>
            <a:endParaRPr lang="en-AU" sz="3600" b="1" u="sng" dirty="0"/>
          </a:p>
        </p:txBody>
      </p:sp>
    </p:spTree>
    <p:extLst>
      <p:ext uri="{BB962C8B-B14F-4D97-AF65-F5344CB8AC3E}">
        <p14:creationId xmlns:p14="http://schemas.microsoft.com/office/powerpoint/2010/main" val="34704860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464</Words>
  <Application>Microsoft Office PowerPoint</Application>
  <PresentationFormat>Custom</PresentationFormat>
  <Paragraphs>67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Year 7 - GEOGRAPHY</vt:lpstr>
      <vt:lpstr>PowerPoint Presentation</vt:lpstr>
      <vt:lpstr>PowerPoint Presentation</vt:lpstr>
      <vt:lpstr>What is Geography?</vt:lpstr>
      <vt:lpstr>The word ‘geography’…</vt:lpstr>
      <vt:lpstr>More about geography… </vt:lpstr>
      <vt:lpstr>Physical Geography</vt:lpstr>
      <vt:lpstr>Human Geography</vt:lpstr>
      <vt:lpstr>Explanation –  Why do we study Geography?</vt:lpstr>
      <vt:lpstr>Importance of Geography</vt:lpstr>
      <vt:lpstr>What do geographers do?</vt:lpstr>
      <vt:lpstr>How do geographers find answers?</vt:lpstr>
      <vt:lpstr>Tools used in Geography</vt:lpstr>
      <vt:lpstr>SEVEN KEY CONCEPTS IN GEOGRAPHY - SPICESS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7 - GEOGRAPHY</dc:title>
  <dc:creator>Owner</dc:creator>
  <cp:lastModifiedBy>RINTOUL Brooke</cp:lastModifiedBy>
  <cp:revision>8</cp:revision>
  <dcterms:created xsi:type="dcterms:W3CDTF">2017-07-13T22:26:32Z</dcterms:created>
  <dcterms:modified xsi:type="dcterms:W3CDTF">2017-07-17T07:31:09Z</dcterms:modified>
</cp:coreProperties>
</file>
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-102" y="-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09A250-FF31-4206-8172-F9D3106AACB1}" type="datetimeFigureOut">
              <a:rPr lang="en-US" dirty="0"/>
              <a:t>7/17/2017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6623" y="417490"/>
            <a:ext cx="8825658" cy="3329581"/>
          </a:xfrm>
        </p:spPr>
        <p:txBody>
          <a:bodyPr/>
          <a:lstStyle/>
          <a:p>
            <a:pPr algn="ctr"/>
            <a:r>
              <a:rPr lang="en-AU" b="1" dirty="0" smtClean="0"/>
              <a:t>Key Concepts in Geography</a:t>
            </a:r>
            <a:endParaRPr lang="en-AU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2836" y="4725865"/>
            <a:ext cx="8825658" cy="861420"/>
          </a:xfrm>
        </p:spPr>
        <p:txBody>
          <a:bodyPr/>
          <a:lstStyle/>
          <a:p>
            <a:pPr algn="ctr"/>
            <a:r>
              <a:rPr lang="en-AU" b="1" dirty="0" smtClean="0"/>
              <a:t>CONCEPTS FOR DEVELOPING AN UNDERSTANDING OF GEOGRAPHY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279573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8800" b="1" dirty="0" smtClean="0"/>
              <a:t>SPICESS</a:t>
            </a:r>
            <a:endParaRPr lang="en-AU" sz="8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AU" sz="3200" b="1" u="sng" dirty="0" smtClean="0"/>
              <a:t>S</a:t>
            </a:r>
            <a:r>
              <a:rPr lang="en-AU" sz="3200" dirty="0" smtClean="0"/>
              <a:t>PACE</a:t>
            </a:r>
          </a:p>
          <a:p>
            <a:r>
              <a:rPr lang="en-AU" sz="3200" b="1" u="sng" dirty="0" smtClean="0"/>
              <a:t>P</a:t>
            </a:r>
            <a:r>
              <a:rPr lang="en-AU" sz="3200" dirty="0" smtClean="0"/>
              <a:t>LACE</a:t>
            </a:r>
          </a:p>
          <a:p>
            <a:r>
              <a:rPr lang="en-AU" sz="3200" b="1" u="sng" dirty="0" smtClean="0"/>
              <a:t>I</a:t>
            </a:r>
            <a:r>
              <a:rPr lang="en-AU" sz="3200" dirty="0" smtClean="0"/>
              <a:t>NTERCONNECTION</a:t>
            </a:r>
          </a:p>
          <a:p>
            <a:r>
              <a:rPr lang="en-AU" sz="3200" b="1" u="sng" dirty="0" smtClean="0"/>
              <a:t>C</a:t>
            </a:r>
            <a:r>
              <a:rPr lang="en-AU" sz="3200" dirty="0" smtClean="0"/>
              <a:t>HANGE</a:t>
            </a:r>
          </a:p>
          <a:p>
            <a:r>
              <a:rPr lang="en-AU" sz="3200" b="1" u="sng" dirty="0" smtClean="0"/>
              <a:t>E</a:t>
            </a:r>
            <a:r>
              <a:rPr lang="en-AU" sz="3200" dirty="0" smtClean="0"/>
              <a:t>NVIRONMENT</a:t>
            </a:r>
          </a:p>
          <a:p>
            <a:r>
              <a:rPr lang="en-AU" sz="3200" b="1" u="sng" dirty="0" smtClean="0"/>
              <a:t>S</a:t>
            </a:r>
            <a:r>
              <a:rPr lang="en-AU" sz="3200" dirty="0" smtClean="0"/>
              <a:t>CALE</a:t>
            </a:r>
          </a:p>
          <a:p>
            <a:r>
              <a:rPr lang="en-AU" sz="3200" b="1" u="sng" dirty="0" smtClean="0"/>
              <a:t>S</a:t>
            </a:r>
            <a:r>
              <a:rPr lang="en-AU" sz="3200" dirty="0" smtClean="0"/>
              <a:t>USTAINABILITY</a:t>
            </a:r>
          </a:p>
          <a:p>
            <a:pPr marL="0" indent="0">
              <a:buNone/>
            </a:pPr>
            <a:endParaRPr lang="en-AU" b="1" u="sng" dirty="0"/>
          </a:p>
        </p:txBody>
      </p:sp>
    </p:spTree>
    <p:extLst>
      <p:ext uri="{BB962C8B-B14F-4D97-AF65-F5344CB8AC3E}">
        <p14:creationId xmlns:p14="http://schemas.microsoft.com/office/powerpoint/2010/main" val="118502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8000" b="1" dirty="0" smtClean="0"/>
              <a:t>SPACE</a:t>
            </a:r>
            <a:endParaRPr lang="en-AU" sz="8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400" dirty="0" smtClean="0"/>
              <a:t>The concept of space is about the significance of spatial distribution and location and the ways people organise and manage the spaces that we live in.</a:t>
            </a:r>
          </a:p>
          <a:p>
            <a:endParaRPr lang="en-AU" sz="2400" dirty="0"/>
          </a:p>
          <a:p>
            <a:r>
              <a:rPr lang="en-AU" sz="2400" dirty="0" smtClean="0"/>
              <a:t>E.g. </a:t>
            </a:r>
          </a:p>
          <a:p>
            <a:pPr>
              <a:buFontTx/>
              <a:buChar char="-"/>
            </a:pPr>
            <a:r>
              <a:rPr lang="en-AU" sz="2400" dirty="0" smtClean="0"/>
              <a:t>How the environmental and human characteristics of places are influenced by their location.</a:t>
            </a:r>
          </a:p>
          <a:p>
            <a:pPr>
              <a:buFontTx/>
              <a:buChar char="-"/>
            </a:pPr>
            <a:r>
              <a:rPr lang="en-AU" sz="2400" dirty="0" smtClean="0"/>
              <a:t>How the individual characteristics of places form spatial distributions</a:t>
            </a:r>
            <a:r>
              <a:rPr lang="en-AU" dirty="0" smtClean="0"/>
              <a:t>.</a:t>
            </a:r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9441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8000" b="1" dirty="0" smtClean="0"/>
              <a:t>PLACE</a:t>
            </a:r>
            <a:endParaRPr lang="en-AU" sz="8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>
            <a:noAutofit/>
          </a:bodyPr>
          <a:lstStyle/>
          <a:p>
            <a:r>
              <a:rPr lang="en-AU" sz="2200" dirty="0" smtClean="0"/>
              <a:t>The concept of place is about the significance of places and what they are like. Places can range from a part of a room or garden to a major world biome, such as a rainforest.</a:t>
            </a:r>
          </a:p>
          <a:p>
            <a:endParaRPr lang="en-AU" sz="2200" dirty="0"/>
          </a:p>
          <a:p>
            <a:r>
              <a:rPr lang="en-AU" sz="2200" dirty="0" smtClean="0"/>
              <a:t>E.g.</a:t>
            </a:r>
          </a:p>
          <a:p>
            <a:pPr>
              <a:buFontTx/>
              <a:buChar char="-"/>
            </a:pPr>
            <a:r>
              <a:rPr lang="en-AU" sz="2200" dirty="0" smtClean="0"/>
              <a:t>The location, shape, boundaries, features and environmental and human characteristics.</a:t>
            </a:r>
          </a:p>
          <a:p>
            <a:pPr>
              <a:buFontTx/>
              <a:buChar char="-"/>
            </a:pPr>
            <a:r>
              <a:rPr lang="en-AU" sz="2200" dirty="0" smtClean="0"/>
              <a:t>How places are perceived, understood, valued differently and experienced.</a:t>
            </a:r>
          </a:p>
          <a:p>
            <a:pPr>
              <a:buFontTx/>
              <a:buChar char="-"/>
            </a:pPr>
            <a:r>
              <a:rPr lang="en-AU" sz="2200" dirty="0" smtClean="0"/>
              <a:t>Where people live can influence their opportunities and wellbeing.</a:t>
            </a:r>
            <a:endParaRPr lang="en-AU" sz="2200" dirty="0"/>
          </a:p>
        </p:txBody>
      </p:sp>
    </p:spTree>
    <p:extLst>
      <p:ext uri="{BB962C8B-B14F-4D97-AF65-F5344CB8AC3E}">
        <p14:creationId xmlns:p14="http://schemas.microsoft.com/office/powerpoint/2010/main" val="2306909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7500" b="1" dirty="0" smtClean="0"/>
              <a:t>INTERCONNECTION</a:t>
            </a:r>
            <a:endParaRPr lang="en-AU" sz="75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400" dirty="0" smtClean="0"/>
              <a:t>The concept od interconnection emphasises that no object of geographical study can be viewed in isolation. </a:t>
            </a:r>
          </a:p>
          <a:p>
            <a:endParaRPr lang="en-AU" sz="2400" dirty="0"/>
          </a:p>
          <a:p>
            <a:r>
              <a:rPr lang="en-AU" sz="2400" dirty="0" smtClean="0"/>
              <a:t>E.g.</a:t>
            </a:r>
          </a:p>
          <a:p>
            <a:pPr marL="0" indent="0">
              <a:buNone/>
            </a:pPr>
            <a:r>
              <a:rPr lang="en-AU" sz="2400" dirty="0" smtClean="0"/>
              <a:t>- How places, and the people and organisations in them, are interconnected with other places in a variety of ways and how theses interconnections have significant influences on the characteristics of places.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802787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8000" b="1" dirty="0" smtClean="0"/>
              <a:t>CHANGE</a:t>
            </a:r>
            <a:endParaRPr lang="en-AU" sz="8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>
            <a:noAutofit/>
          </a:bodyPr>
          <a:lstStyle/>
          <a:p>
            <a:r>
              <a:rPr lang="en-AU" sz="2400" dirty="0" smtClean="0"/>
              <a:t>The concept of change is about explaining geographical phenomena by investigating how they have developed over time. </a:t>
            </a:r>
          </a:p>
          <a:p>
            <a:endParaRPr lang="en-AU" sz="2400" dirty="0"/>
          </a:p>
          <a:p>
            <a:r>
              <a:rPr lang="en-AU" sz="2400" dirty="0" smtClean="0"/>
              <a:t>E.g. </a:t>
            </a:r>
          </a:p>
          <a:p>
            <a:pPr>
              <a:buFontTx/>
              <a:buChar char="-"/>
            </a:pPr>
            <a:r>
              <a:rPr lang="en-AU" sz="2400" dirty="0" smtClean="0"/>
              <a:t>How environmental change can occur over both short and long time frames, and both time scales have interrelationships with human activities.</a:t>
            </a:r>
          </a:p>
          <a:p>
            <a:pPr>
              <a:buFontTx/>
              <a:buChar char="-"/>
            </a:pPr>
            <a:r>
              <a:rPr lang="en-AU" sz="2400" dirty="0" smtClean="0"/>
              <a:t>How environmental, social, economic and technological change is spatially uneven, and affects places differently.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2077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8000" b="1" dirty="0" smtClean="0"/>
              <a:t>ENVIRONMENT</a:t>
            </a:r>
            <a:endParaRPr lang="en-AU" sz="8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>
            <a:noAutofit/>
          </a:bodyPr>
          <a:lstStyle/>
          <a:p>
            <a:r>
              <a:rPr lang="en-AU" sz="2100" dirty="0" smtClean="0"/>
              <a:t>The concept of the environment is about the significance of the environment in human life, and the important interrelationships between humans and the environment.</a:t>
            </a:r>
          </a:p>
          <a:p>
            <a:endParaRPr lang="en-AU" sz="2100" dirty="0"/>
          </a:p>
          <a:p>
            <a:r>
              <a:rPr lang="en-AU" sz="2100" dirty="0" smtClean="0"/>
              <a:t>E.g.</a:t>
            </a:r>
          </a:p>
          <a:p>
            <a:pPr>
              <a:buFontTx/>
              <a:buChar char="-"/>
            </a:pPr>
            <a:r>
              <a:rPr lang="en-AU" sz="2100" dirty="0" smtClean="0"/>
              <a:t>The environment is a product of geological, geomorphic, biotic, hydrological, atmospheric, edaphic (soil) and human processes.</a:t>
            </a:r>
          </a:p>
          <a:p>
            <a:pPr>
              <a:buFontTx/>
              <a:buChar char="-"/>
            </a:pPr>
            <a:r>
              <a:rPr lang="en-AU" sz="2100" dirty="0" smtClean="0"/>
              <a:t>How culture, population density, level of technology, type of economy, environmental worldviews and values influence the different ways in which people perceive, adapt to and use similar environments.</a:t>
            </a:r>
            <a:endParaRPr lang="en-AU" sz="2100" dirty="0"/>
          </a:p>
        </p:txBody>
      </p:sp>
    </p:spTree>
    <p:extLst>
      <p:ext uri="{BB962C8B-B14F-4D97-AF65-F5344CB8AC3E}">
        <p14:creationId xmlns:p14="http://schemas.microsoft.com/office/powerpoint/2010/main" val="3331340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8000" b="1" dirty="0" smtClean="0"/>
              <a:t>SCALE</a:t>
            </a:r>
            <a:endParaRPr lang="en-AU" sz="8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400" dirty="0" smtClean="0"/>
              <a:t>The concept of scale is about the way that geographical phenomena and problems can be examined at different spatial levels.</a:t>
            </a:r>
          </a:p>
          <a:p>
            <a:endParaRPr lang="en-AU" sz="2400" dirty="0"/>
          </a:p>
          <a:p>
            <a:r>
              <a:rPr lang="en-AU" sz="2400" dirty="0" smtClean="0"/>
              <a:t>E.g.</a:t>
            </a:r>
          </a:p>
          <a:p>
            <a:pPr marL="0" indent="0">
              <a:buNone/>
            </a:pPr>
            <a:r>
              <a:rPr lang="en-AU" sz="2400" dirty="0" smtClean="0"/>
              <a:t>- The cause and effect relationships across scales from the local to the global and from the global to the local.</a:t>
            </a:r>
          </a:p>
        </p:txBody>
      </p:sp>
    </p:spTree>
    <p:extLst>
      <p:ext uri="{BB962C8B-B14F-4D97-AF65-F5344CB8AC3E}">
        <p14:creationId xmlns:p14="http://schemas.microsoft.com/office/powerpoint/2010/main" val="3096081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sz="8000" b="1" dirty="0" smtClean="0"/>
              <a:t>SUSTAINABILITY</a:t>
            </a:r>
            <a:endParaRPr lang="en-AU" sz="8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sz="2400" dirty="0" smtClean="0"/>
              <a:t>The concept of sustainability is about the capacity of the environment to continue to support our lives and the lives of other living creatures into the future.</a:t>
            </a:r>
          </a:p>
          <a:p>
            <a:endParaRPr lang="en-AU" sz="2400" dirty="0"/>
          </a:p>
          <a:p>
            <a:r>
              <a:rPr lang="en-AU" sz="2400" dirty="0" smtClean="0"/>
              <a:t>E.g.</a:t>
            </a:r>
          </a:p>
          <a:p>
            <a:pPr>
              <a:buFontTx/>
              <a:buChar char="-"/>
            </a:pPr>
            <a:r>
              <a:rPr lang="en-AU" sz="2400" dirty="0" smtClean="0"/>
              <a:t>How sustainability is both a goal and a way of thinking about how to progress towards that goal.</a:t>
            </a:r>
          </a:p>
          <a:p>
            <a:pPr>
              <a:buFontTx/>
              <a:buChar char="-"/>
            </a:pPr>
            <a:r>
              <a:rPr lang="en-AU" sz="2400" dirty="0" smtClean="0"/>
              <a:t>The variety of contested views on how sustainability should be achieved.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1949784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56</TotalTime>
  <Words>462</Words>
  <Application>Microsoft Office PowerPoint</Application>
  <PresentationFormat>Custom</PresentationFormat>
  <Paragraphs>51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Ion</vt:lpstr>
      <vt:lpstr>Key Concepts in Geography</vt:lpstr>
      <vt:lpstr>SPICESS</vt:lpstr>
      <vt:lpstr>SPACE</vt:lpstr>
      <vt:lpstr>PLACE</vt:lpstr>
      <vt:lpstr>INTERCONNECTION</vt:lpstr>
      <vt:lpstr>CHANGE</vt:lpstr>
      <vt:lpstr>ENVIRONMENT</vt:lpstr>
      <vt:lpstr>SCALE</vt:lpstr>
      <vt:lpstr>SUSTAINABILITY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Concepts in Geography</dc:title>
  <dc:creator>Owner</dc:creator>
  <cp:lastModifiedBy>RINTOUL Brooke</cp:lastModifiedBy>
  <cp:revision>6</cp:revision>
  <dcterms:created xsi:type="dcterms:W3CDTF">2017-07-14T23:30:19Z</dcterms:created>
  <dcterms:modified xsi:type="dcterms:W3CDTF">2017-07-17T07:30:03Z</dcterms:modified>
</cp:coreProperties>
</file>